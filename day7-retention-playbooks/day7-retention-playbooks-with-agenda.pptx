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62" r:id="rId5"/>
    <p:sldMasterId id="2147483663"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Lst>
  <p:sldSz cy="5143500" cx="9144000"/>
  <p:notesSz cx="6858000" cy="9144000"/>
  <p:embeddedFontLst>
    <p:embeddedFont>
      <p:font typeface="Play"/>
      <p:regular r:id="rId39"/>
      <p:bold r:id="rId4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A8A873-F9CA-4D35-8812-A7EE7266C73B}">
  <a:tblStyle styleId="{5DA8A873-F9CA-4D35-8812-A7EE7266C73B}" styleName="Table_0">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Play-bold.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5" Type="http://schemas.openxmlformats.org/officeDocument/2006/relationships/slideMaster" Target="slideMasters/slideMaster1.xml"/><Relationship Id="rId6" Type="http://schemas.openxmlformats.org/officeDocument/2006/relationships/slideMaster" Target="slideMasters/slideMaster2.xml"/><Relationship Id="rId29" Type="http://schemas.openxmlformats.org/officeDocument/2006/relationships/slide" Target="slides/slide2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11" Type="http://schemas.openxmlformats.org/officeDocument/2006/relationships/slide" Target="slides/slide4.xml"/><Relationship Id="rId33" Type="http://schemas.openxmlformats.org/officeDocument/2006/relationships/slide" Target="slides/slide26.xml"/><Relationship Id="rId10" Type="http://schemas.openxmlformats.org/officeDocument/2006/relationships/slide" Target="slides/slide3.xml"/><Relationship Id="rId32" Type="http://schemas.openxmlformats.org/officeDocument/2006/relationships/slide" Target="slides/slide25.xml"/><Relationship Id="rId13" Type="http://schemas.openxmlformats.org/officeDocument/2006/relationships/slide" Target="slides/slide6.xml"/><Relationship Id="rId35" Type="http://schemas.openxmlformats.org/officeDocument/2006/relationships/slide" Target="slides/slide28.xml"/><Relationship Id="rId12" Type="http://schemas.openxmlformats.org/officeDocument/2006/relationships/slide" Target="slides/slide5.xml"/><Relationship Id="rId34" Type="http://schemas.openxmlformats.org/officeDocument/2006/relationships/slide" Target="slides/slide27.xml"/><Relationship Id="rId15" Type="http://schemas.openxmlformats.org/officeDocument/2006/relationships/slide" Target="slides/slide8.xml"/><Relationship Id="rId37" Type="http://schemas.openxmlformats.org/officeDocument/2006/relationships/slide" Target="slides/slide30.xml"/><Relationship Id="rId14" Type="http://schemas.openxmlformats.org/officeDocument/2006/relationships/slide" Target="slides/slide7.xml"/><Relationship Id="rId36" Type="http://schemas.openxmlformats.org/officeDocument/2006/relationships/slide" Target="slides/slide29.xml"/><Relationship Id="rId17" Type="http://schemas.openxmlformats.org/officeDocument/2006/relationships/slide" Target="slides/slide10.xml"/><Relationship Id="rId39" Type="http://schemas.openxmlformats.org/officeDocument/2006/relationships/font" Target="fonts/Play-regular.fntdata"/><Relationship Id="rId16" Type="http://schemas.openxmlformats.org/officeDocument/2006/relationships/slide" Target="slides/slide9.xml"/><Relationship Id="rId38" Type="http://schemas.openxmlformats.org/officeDocument/2006/relationships/slide" Target="slides/slide31.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p1:notes"/>
          <p:cNvSpPr/>
          <p:nvPr>
            <p:ph idx="2" type="sldImg"/>
          </p:nvPr>
        </p:nvSpPr>
        <p:spPr>
          <a:xfrm>
            <a:off x="914400" y="1143000"/>
            <a:ext cx="73152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9" name="Google Shape;59;p1:notes"/>
          <p:cNvSpPr txBox="1"/>
          <p:nvPr>
            <p:ph idx="1" type="body"/>
          </p:nvPr>
        </p:nvSpPr>
        <p:spPr>
          <a:xfrm>
            <a:off x="914400" y="4400550"/>
            <a:ext cx="7315200" cy="3600450"/>
          </a:xfrm>
          <a:prstGeom prst="rect">
            <a:avLst/>
          </a:prstGeom>
          <a:noFill/>
          <a:ln>
            <a:noFill/>
          </a:ln>
        </p:spPr>
        <p:txBody>
          <a:bodyPr anchorCtr="0" anchor="t" bIns="45700" lIns="91425" spcFirstLastPara="1" rIns="91425" wrap="square" tIns="45700">
            <a:noAutofit/>
          </a:bodyPr>
          <a:lstStyle/>
          <a:p>
            <a:pPr indent="-298450" lvl="0" marL="457200" rtl="0" algn="l">
              <a:lnSpc>
                <a:spcPct val="100000"/>
              </a:lnSpc>
              <a:spcBef>
                <a:spcPts val="0"/>
              </a:spcBef>
              <a:spcAft>
                <a:spcPts val="0"/>
              </a:spcAft>
              <a:buSzPts val="1100"/>
              <a:buChar char="●"/>
            </a:pPr>
            <a:r>
              <a:rPr lang="en" sz="1100"/>
              <a:t>Day 7 covers the three retention playbooks: poor cleaning quality, service reliability, and membership terms. All three share one foundation: find the root cause first, then offer only what addresses it.</a:t>
            </a:r>
            <a:endParaRPr/>
          </a:p>
        </p:txBody>
      </p:sp>
      <p:sp>
        <p:nvSpPr>
          <p:cNvPr id="60" name="Google Shape;60;p1:notes"/>
          <p:cNvSpPr txBox="1"/>
          <p:nvPr>
            <p:ph idx="12" type="sldNum"/>
          </p:nvPr>
        </p:nvSpPr>
        <p:spPr>
          <a:xfrm>
            <a:off x="5179484" y="8685213"/>
            <a:ext cx="39624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7" name="Google Shape;77;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marR="0" rtl="0" algn="l">
              <a:lnSpc>
                <a:spcPct val="100000"/>
              </a:lnSpc>
              <a:spcBef>
                <a:spcPts val="0"/>
              </a:spcBef>
              <a:spcAft>
                <a:spcPts val="0"/>
              </a:spcAft>
              <a:buClr>
                <a:srgbClr val="000000"/>
              </a:buClr>
              <a:buSzPts val="1100"/>
              <a:buFont typeface="Arial"/>
              <a:buChar char="●"/>
            </a:pPr>
            <a:r>
              <a:rPr b="0" i="0" lang="en" sz="1100" u="none" cap="none" strike="noStrike">
                <a:solidFill>
                  <a:srgbClr val="000000"/>
                </a:solidFill>
                <a:latin typeface="Arial"/>
                <a:ea typeface="Arial"/>
                <a:cs typeface="Arial"/>
                <a:sym typeface="Arial"/>
              </a:rPr>
              <a:t>Agenda. Topic 1: PCQ Retention Playbook (a poor cleaning leads the customer to say they want to cancel). Topic 2: Service Reliability Retention Playbook (a CP failure, not a bad cleaning, leads the customer to want to cancel). Topic 3: Membership Retention Playbook (the membership terms themselves, not a service failure, drive the cancellation). In slideshow mode, click any topic to jump straight to it.</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 name="Google Shape;94;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cancellation intent that comes from a Poor Cleaning Quality complaint. By the end, trainees can apply the baseline, pick the right offer for where the customer sits in their journey, and run the exit strategy.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p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4" name="Google Shape;124;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CP showed up and did the job but the result was poor, and now the customer wants to cancel. This is distinct from Service Reliability (late, no-show, cancelled) and from objections about the membership terms. Position in the journey matters because a second consecutive issue job is a broken promise on top of a broken promise, which is what the ETF Waivers policy addresses. A customer beyond MCT has no ETF exposure at all.</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8" name="Shape 148"/>
        <p:cNvGrpSpPr/>
        <p:nvPr/>
      </p:nvGrpSpPr>
      <p:grpSpPr>
        <a:xfrm>
          <a:off x="0" y="0"/>
          <a:ext cx="0" cy="0"/>
          <a:chOff x="0" y="0"/>
          <a:chExt cx="0" cy="0"/>
        </a:xfrm>
      </p:grpSpPr>
      <p:sp>
        <p:nvSpPr>
          <p:cNvPr id="149" name="Google Shape;149;p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0" name="Google Shape;150;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Every PCQ shares this baseline. Acknowledge with the Empathy Statements macro matched to the situation. If there is no stated explanation, still probe, but don't withhold the resolution: we already know the root cause, and probing gives the customer space to feel heard. Check refund eligibility (72 hours; the CP has 7 days to accept or decline) and don't advise a refund request if they said they don't want one. Refund the premium fee when applicable, on the confirmed service issue itself. Block the pairing unless they want the same CP, coach the CP with the PCQ macro, flag customer_unsatisfied if there is no review (for jobs over 30 days, block comms first, confirm the auto-message is blocked, then remove the block), and cancel RC and upcoming appointments unless the customer wants to keep them.</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p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1" name="Google Shape;181;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Walk the table by customer situation. Non-FC members get up to a 1-hour voucher or $20 credits, with no free month or ETF. For FC within MCT, the voucher is 1 hour for jobs under 4 hours and 2 hours for 4 hours or more, unless the system already issued a 3-hour voucher, which replaces it. FCF gets 1 free month even without unused MFs; DHJ gets 1 month only if the next MF is within 2 weeks. In every case, if the customer has unused MFs, issue free months for those instead, never more than asked and never more than 3. High usage, high loyalty customers prefer an admin refund, which can be full.</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ETF column. For a first and only PCQ job within MCT, mention that we will waive the ETF if the next job also has issues, unless the system already issued the 3-hour voucher. For a PCQ job that isn't the first, the same spiel applies only if it is the most recent job. Beyond MCT there is no ETF. Two consecutive PCQ jobs go to the Two Consecutive Serious Issue Jobs article regardless of MCT.</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2" name="Google Shape;202;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system auto-issues a 3-hour voucher when the customer rated the CP 1 to 3 stars or said in the dashboard they don't want the same CP again. That voucher replaces the duration-based one. Never issue both, and always check for it before deciding what to offer or whether to mention the ETF waiver. Without cancellation intent the offers can still apply, but none are automatic: base the voucher or credit on the customer's emotion or hesitation to book again, give free months for unused MFs only if those MFs bother the customer, and extend an admin refund only to the high usage, high loyalty profile.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p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Within MCT, offer the resolution from the table. If the customer rejects it and insists on cancelling at no charge, first check whether all necessary resolutions for the root cause were provided. If not, provide them and keep retaining. If yes, move to Exit Strategy and compare ETF reduction with MCT reduction. Before moving to Graceful Closure, the lever you chose must be maxed out, because Graceful Closure is a one-way door: we tell the customer every option was checked.</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1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4" name="Google Shape;25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MCT reduction is up to 2 months, ideally starting with 1. If reducing by 2 would complete the MCT and waive the ETF, cap it at 1. Example: 4 of 6 months done, offer 1; 2 of 6 months done, the full 2 applies. ETF reduction is capped at 50% off. We never discount the ETF itself because it is fair compensation to the CP; see Understanding Offer Logic for what can be deducted. ETF reduction is usually cheaper. MCT reduction wins when the customer is a few months in and the ETF is more than $105.</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p1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Beyond MCT there is no ETF, so the question is retainability, using the General Retention Playbook Five Key Factors. If not retainable, cancel FC and close positively. If retainable, the same offer table applies, plus an explicit reminder that no further MF will be charged unless they agree to continue. This protects against the customer assuming the conversation cancelled anything. Unused paid MFs become free months, never more than asked and never more than 3. Set a Timed Reminder.</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7" name="Shape 287"/>
        <p:cNvGrpSpPr/>
        <p:nvPr/>
      </p:nvGrpSpPr>
      <p:grpSpPr>
        <a:xfrm>
          <a:off x="0" y="0"/>
          <a:ext cx="0" cy="0"/>
          <a:chOff x="0" y="0"/>
          <a:chExt cx="0" cy="0"/>
        </a:xfrm>
      </p:grpSpPr>
      <p:sp>
        <p:nvSpPr>
          <p:cNvPr id="288" name="Google Shape;288;p1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9" name="Google Shape;28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same Timed Reminder rules apply in every beyond-MCT branch across all three playbooks. If the next MF is more than 5 days away, set the reminder at least 3 days before it. If it is 5 days or less, give 1 free month first and set the reminder 3 days before the new MF date. When it triggers with no reply and no engagement, cancel FC; the auto comms are enough unless an unresolved pain point needs a manual email. If there is no reply but the customer is using the service, such as a new booking, don't cancel. Confirm with them, push the due date out 1 to 2 weeks, and set a new reminder 3 days before it.</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p1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8" name="Google Shape;298;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p1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5" name="Google Shape;315;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cancellation intent that comes from a reliability failure. By the end, trainees can pick the right credit and free month, and handle both the ETF and no-ETF paths.</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p1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5" name="Google Shape;345;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Four triggers: No CP Claim, CP No-Show, CP Cancellation or LMC, and a late CP. This article covers a single issue job; two consecutive reliability issue jobs use the Two Consecutive Issue Jobs article. The instinct is to treat this like PCQ, but the retention math differs: PCQ is about whether the cleaning was good, reliability is about whether the customer got the cleaning they were promised on the terms promised. Free month logic is identical across all four triggers and credits work the same, except Late has the wider $10 to 25 band.</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1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Read the table by customer type. Non-FC: $10 to 20 credits, no free month. FCF with no completed job: no credits, because the free or discounted cleaning is already available. FCF with a completed job and DHJ with FC started: $10 to 20 credits. Unused Legacy DHJ: credits only, since FC hasn't started. Free months: unused MFs first, never more than asked, never more than 3; otherwise 1 free month if the next MF is within 2 weeks for FCF or within 1 week for Legacy DHJ. Late is $10 to 25 for all cases.</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p1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3" name="Google Shape;38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Free months aren't mandatory and won't fail QA either way. The general guidance is to hold off unless there is cancellation intent or the customer brings up the unused months. Example: the next MF falls within 2 weeks but there's no sign of cancelling, so hold off. Two unused MFs sitting on the account but never mentioned, also hold off. If an agent offers the free month anyway it's fine, it just isn't something to lead with. In all cases, block the pairing and coach or penalize the CP.</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7" name="Shape 407"/>
        <p:cNvGrpSpPr/>
        <p:nvPr/>
      </p:nvGrpSpPr>
      <p:grpSpPr>
        <a:xfrm>
          <a:off x="0" y="0"/>
          <a:ext cx="0" cy="0"/>
          <a:chOff x="0" y="0"/>
          <a:chExt cx="0" cy="0"/>
        </a:xfrm>
      </p:grpSpPr>
      <p:sp>
        <p:nvSpPr>
          <p:cNvPr id="408" name="Google Shape;408;p1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9" name="Google Shape;409;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is for Legacy DHJ within MCT and FCF within MCT with a completed job. With cancellation intent: acknowledge, give the resolution (block, coach, credits, priority booking), explain ETF terms, and if the issue job is the most current, offer to waive the ETF if the next job also has issues. Offer free months equal to unused MFs, never more than asked or 3. If they reject and insist on cancelling free, check that every resolution for the root cause was given; if so, go to Exit Strategy using ETF reduction (up to 50%) or MCT reduction (up to 2 months, cap at 1 if 2 would waive the ETF). Max out the lever before Graceful Closure.</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3" name="Shape 433"/>
        <p:cNvGrpSpPr/>
        <p:nvPr/>
      </p:nvGrpSpPr>
      <p:grpSpPr>
        <a:xfrm>
          <a:off x="0" y="0"/>
          <a:ext cx="0" cy="0"/>
          <a:chOff x="0" y="0"/>
          <a:chExt cx="0" cy="0"/>
        </a:xfrm>
      </p:grpSpPr>
      <p:sp>
        <p:nvSpPr>
          <p:cNvPr id="434" name="Google Shape;434;p1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5" name="Google Shape;435;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 no-ETF path covers Legacy DHJ beyond MCT, FCF with no completed job, and FCF beyond MCT with a completed job. Assess retainability with the Five Key Factors. If not retainable, cancel FC and close positively. If retainable, apply the same offers, confirm no further MF unless they agree, offer free months for unused paid MFs, and set the Timed Reminder from the slide.</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p2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1" name="Google Shape;461;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6" name="Shape 476"/>
        <p:cNvGrpSpPr/>
        <p:nvPr/>
      </p:nvGrpSpPr>
      <p:grpSpPr>
        <a:xfrm>
          <a:off x="0" y="0"/>
          <a:ext cx="0" cy="0"/>
          <a:chOff x="0" y="0"/>
          <a:chExt cx="0" cy="0"/>
        </a:xfrm>
      </p:grpSpPr>
      <p:sp>
        <p:nvSpPr>
          <p:cNvPr id="477" name="Google Shape;477;p2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78" name="Google Shape;478;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module covers cancellation intent driven by the membership terms: unaware customers, affordability, pausing, moving, and inactivity. By the end, trainees can match the first move to the real root cause.</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6" name="Shape 506"/>
        <p:cNvGrpSpPr/>
        <p:nvPr/>
      </p:nvGrpSpPr>
      <p:grpSpPr>
        <a:xfrm>
          <a:off x="0" y="0"/>
          <a:ext cx="0" cy="0"/>
          <a:chOff x="0" y="0"/>
          <a:chExt cx="0" cy="0"/>
        </a:xfrm>
      </p:grpSpPr>
      <p:sp>
        <p:nvSpPr>
          <p:cNvPr id="507" name="Google Shape;507;p22: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8" name="Google Shape;508;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These are not a bad cleaning and not a CP reliability issue. The temptation is to lead with a discount to make the objection go away, but offers only work if they address the actual root cause, and 'unaware of the membership' and 'can't afford it' are different problems that call for different first moves. Before offering any reduction, check how many months the customer has already paid.</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23: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Use this table before any reduction. At 1 to 3 months paid: $10 to 15 MF reduction is common, rare cases up to 50% usually needing support approval, and 1 to 2 months off the MCT. At 4 months: same MF range, and 1 month off the MCT by default with the ETF still applying; the full 2 months, which essentially waives the ETF, only when the customer is incredibly escalated and it is the most amicable resolution. At 5 months: 1 month off is effectively equivalent to waiving the ETF.</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1" name="Shape 541"/>
        <p:cNvGrpSpPr/>
        <p:nvPr/>
      </p:nvGrpSpPr>
      <p:grpSpPr>
        <a:xfrm>
          <a:off x="0" y="0"/>
          <a:ext cx="0" cy="0"/>
          <a:chOff x="0" y="0"/>
          <a:chExt cx="0" cy="0"/>
        </a:xfrm>
      </p:grpSpPr>
      <p:sp>
        <p:nvSpPr>
          <p:cNvPr id="542" name="Google Shape;542;p2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3" name="Google Shape;543;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scenario applies only when unawareness is confirmed as the genuine, sole reason. Explain the MF and ETF terms, probe their experience (if probing reveals a service or membership concern, follow that playbook), and keep probing if they don't answer rather than assuming. Not retainable: reinforce value, explain why the ETF applies, and optionally offer a $20 credit, a judgment call. Retainable: a $20 credit or an MF reduction, plus free months for unused MFs, capped at asked and 3. No offer is tied to unawareness itself; clarifying the terms addresses that, and the offer's only job is to get them to book.</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p2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MF reduction is only worth offering when it is what will keep the customer. Example: a customer 4 months into a 6-month MCT with a $105 ETF. Reducing the MF from $59 to $44 for the last 2 months costs $88 total, cheaper than cancelling now and paying $105, and they keep getting cleanings. If they decline and insist on cancelling with no fee, check for any hint they would pay a reduced ETF and max out the 50% before Graceful Closure. Where the ETF doesn't apply: not retainable, cancel FC; retainable, confirm no further MF unless they agree, MF reduction is optional, and set a Timed Reminder.</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3" name="Shape 593"/>
        <p:cNvGrpSpPr/>
        <p:nvPr/>
      </p:nvGrpSpPr>
      <p:grpSpPr>
        <a:xfrm>
          <a:off x="0" y="0"/>
          <a:ext cx="0" cy="0"/>
          <a:chOff x="0" y="0"/>
          <a:chExt cx="0" cy="0"/>
        </a:xfrm>
      </p:grpSpPr>
      <p:sp>
        <p:nvSpPr>
          <p:cNvPr id="594" name="Google Shape;594;p26: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95" name="Google Shape;595;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First answer honestly: is this a financial situation where they genuinely can't afford the membership at all, or does the price just feel too high? Job loss, bankruptcy or homelessness skips retention and goes to the ETF Waivers hardship path: a 50% off exit, then a full waiver if declined. 'I don't think $59 is worth it' and 'money's tight, rough few months' both stay in this scenario; don't upgrade vague strain on your own. Assess retainability first. Retainable: MF reduction. If declined, reassess; $10 to 15 off is within your authority, more goes to CSQ. Not retainable: whichever of MCT reduction (up to 2 months) or ETF reduction (up to 50%) costs the customer less.</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9" name="Shape 619"/>
        <p:cNvGrpSpPr/>
        <p:nvPr/>
      </p:nvGrpSpPr>
      <p:grpSpPr>
        <a:xfrm>
          <a:off x="0" y="0"/>
          <a:ext cx="0" cy="0"/>
          <a:chOff x="0" y="0"/>
          <a:chExt cx="0" cy="0"/>
        </a:xfrm>
      </p:grpSpPr>
      <p:sp>
        <p:nvSpPr>
          <p:cNvPr id="620" name="Google Shape;620;p2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1" name="Google Shape;621;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There is no pause button, so we simulate one with free months so the MF doesn't charge. It is capped at 6 months because beyond that it's cleaner to cancel and let them rejoin; anything longer needs Support approval. If the customer asks to cancel but the reason is temporary (finances, travel, health, seasonal), probe and offer the pause first. If they ask to pause with a timeframe, issue free months to cover it, confirm the resume date, and cancel jobs or turn off RC they won't use. With no timeframe, issue 1 free month right away, ask for the duration, and top up. If you spot the signal first, confirm intent with neutral framing before acting.</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5" name="Shape 645"/>
        <p:cNvGrpSpPr/>
        <p:nvPr/>
      </p:nvGrpSpPr>
      <p:grpSpPr>
        <a:xfrm>
          <a:off x="0" y="0"/>
          <a:ext cx="0" cy="0"/>
          <a:chOff x="0" y="0"/>
          <a:chExt cx="0" cy="0"/>
        </a:xfrm>
      </p:grpSpPr>
      <p:sp>
        <p:nvSpPr>
          <p:cNvPr id="646" name="Google Shape;646;p2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7" name="Google Shape;647;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These are price objections, not service failures, so the fix is a reduction, not a refund. Anchor on the dollar amount: '$15 off' lands differently than '25% off'. For MF too expensive, use the paid-MF table; for MCT too long, use the MCT table. Check escalation level and payment history before choosing where to start, and don't default to the max. If a reduction was declined, reassess for room: up to $10 to 15 off the original MF is within your authority, more goes to CSQ. If not retainable, pick the cheaper of MCT or ETF reduction and max out the ETF reduction at 50% before Graceful Closure.</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1" name="Shape 671"/>
        <p:cNvGrpSpPr/>
        <p:nvPr/>
      </p:nvGrpSpPr>
      <p:grpSpPr>
        <a:xfrm>
          <a:off x="0" y="0"/>
          <a:ext cx="0" cy="0"/>
          <a:chOff x="0" y="0"/>
          <a:chExt cx="0" cy="0"/>
        </a:xfrm>
      </p:grpSpPr>
      <p:sp>
        <p:nvSpPr>
          <p:cNvPr id="672" name="Google Shape;672;p2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3" name="Google Shape;67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This applies to a customer who used the service, then went quiet, or thought cancelling their recurring plan cancelled FC. It is not an FCF customer with zero completed jobs ever. Within MCT, check the real reason first and route to the PCQ playbook, unaware, or two consecutive issues as needed; if the next MF is within 5 days, pause for 1 to 2 weeks first. Beyond MCT, if retention isn't reasonable, cancel; if it is, probe gently, offer up to 3 free months for paid but unused MFs, and be explicit no further MF is charged unless they agree. For refunds after long inactivity, only MFs charged in the last 120 days that are beyond MCT can be refunded: paid months minus MCT. 12 paid months with a 6-month MCT is 4 months, not 6.</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7" name="Shape 697"/>
        <p:cNvGrpSpPr/>
        <p:nvPr/>
      </p:nvGrpSpPr>
      <p:grpSpPr>
        <a:xfrm>
          <a:off x="0" y="0"/>
          <a:ext cx="0" cy="0"/>
          <a:chOff x="0" y="0"/>
          <a:chExt cx="0" cy="0"/>
        </a:xfrm>
      </p:grpSpPr>
      <p:sp>
        <p:nvSpPr>
          <p:cNvPr id="698" name="Google Shape;698;p30: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99" name="Google Shape;699;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Moving can mean leaving coverage, moving within coverage, or not being sure yet, so always start by asking whether they've shared the new address. If not, ask for it; if the next MF is within 7 days issue 1 free month, otherwise set a Timed Reminder before the next charge. If the new address is in a service area, it's a standard pause: free weeks or months for a timeframe, or 1 free month with the resume date confirmed, and cancel jobs and RC they won't use. If it is outside a service area, cancel and waive the ETF under ETF Waiver: Relocation (Out of Coverage). Don't issue a free month, since there's nothing to apply it to.</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p3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25" name="Google Shape;725;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 sz="1100"/>
              <a:t>Open the floor for questions. When in doubt, check the Knowledge Library or ask your Trainer or Team Lead.</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
  <p:cSld name="COVER">
    <p:bg>
      <p:bgPr>
        <a:solidFill>
          <a:srgbClr val="F6F7F9"/>
        </a:solidFill>
      </p:bgPr>
    </p:bg>
    <p:spTree>
      <p:nvGrpSpPr>
        <p:cNvPr id="7" name="Shape 7"/>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p:cSld name="CONTENT">
    <p:bg>
      <p:bgPr>
        <a:solidFill>
          <a:srgbClr val="F6F7F9"/>
        </a:solidFill>
      </p:bgPr>
    </p:bg>
    <p:spTree>
      <p:nvGrpSpPr>
        <p:cNvPr id="8" name="Shape 8"/>
        <p:cNvGrpSpPr/>
        <p:nvPr/>
      </p:nvGrpSpPr>
      <p:grpSpPr>
        <a:xfrm>
          <a:off x="0" y="0"/>
          <a:ext cx="0" cy="0"/>
          <a:chOff x="0" y="0"/>
          <a:chExt cx="0" cy="0"/>
        </a:xfrm>
      </p:grpSpPr>
      <p:sp>
        <p:nvSpPr>
          <p:cNvPr id="9" name="Google Shape;9;p3"/>
          <p:cNvSpPr/>
          <p:nvPr/>
        </p:nvSpPr>
        <p:spPr>
          <a:xfrm>
            <a:off x="438912" y="4800600"/>
            <a:ext cx="3657600" cy="18288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Homeaglow  ·  New Hire Care Training</a:t>
            </a:r>
            <a:endParaRPr b="0" i="0" sz="700" u="none" cap="none" strike="noStrike">
              <a:solidFill>
                <a:schemeClr val="dk1"/>
              </a:solidFill>
              <a:latin typeface="Calibri"/>
              <a:ea typeface="Calibri"/>
              <a:cs typeface="Calibri"/>
              <a:sym typeface="Calibri"/>
            </a:endParaRPr>
          </a:p>
        </p:txBody>
      </p:sp>
      <p:sp>
        <p:nvSpPr>
          <p:cNvPr id="10" name="Google Shape;10;p3"/>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1" name="Shape 11"/>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 name="Shape 16"/>
        <p:cNvGrpSpPr/>
        <p:nvPr/>
      </p:nvGrpSpPr>
      <p:grpSpPr>
        <a:xfrm>
          <a:off x="0" y="0"/>
          <a:ext cx="0" cy="0"/>
          <a:chOff x="0" y="0"/>
          <a:chExt cx="0" cy="0"/>
        </a:xfrm>
      </p:grpSpPr>
      <p:sp>
        <p:nvSpPr>
          <p:cNvPr id="17" name="Google Shape;17;p6"/>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8" name="Google Shape;18;p6"/>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9" name="Google Shape;19;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0" name="Shape 20"/>
        <p:cNvGrpSpPr/>
        <p:nvPr/>
      </p:nvGrpSpPr>
      <p:grpSpPr>
        <a:xfrm>
          <a:off x="0" y="0"/>
          <a:ext cx="0" cy="0"/>
          <a:chOff x="0" y="0"/>
          <a:chExt cx="0" cy="0"/>
        </a:xfrm>
      </p:grpSpPr>
      <p:sp>
        <p:nvSpPr>
          <p:cNvPr id="21" name="Google Shape;21;p7"/>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22" name="Google Shape;22;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3" name="Shape 23"/>
        <p:cNvGrpSpPr/>
        <p:nvPr/>
      </p:nvGrpSpPr>
      <p:grpSpPr>
        <a:xfrm>
          <a:off x="0" y="0"/>
          <a:ext cx="0" cy="0"/>
          <a:chOff x="0" y="0"/>
          <a:chExt cx="0" cy="0"/>
        </a:xfrm>
      </p:grpSpPr>
      <p:sp>
        <p:nvSpPr>
          <p:cNvPr id="24" name="Google Shape;24;p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5" name="Google Shape;25;p8"/>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26" name="Google Shape;26;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7" name="Shape 27"/>
        <p:cNvGrpSpPr/>
        <p:nvPr/>
      </p:nvGrpSpPr>
      <p:grpSpPr>
        <a:xfrm>
          <a:off x="0" y="0"/>
          <a:ext cx="0" cy="0"/>
          <a:chOff x="0" y="0"/>
          <a:chExt cx="0" cy="0"/>
        </a:xfrm>
      </p:grpSpPr>
      <p:sp>
        <p:nvSpPr>
          <p:cNvPr id="28" name="Google Shape;28;p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9" name="Google Shape;29;p9"/>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0" name="Google Shape;30;p9"/>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2" name="Shape 32"/>
        <p:cNvGrpSpPr/>
        <p:nvPr/>
      </p:nvGrpSpPr>
      <p:grpSpPr>
        <a:xfrm>
          <a:off x="0" y="0"/>
          <a:ext cx="0" cy="0"/>
          <a:chOff x="0" y="0"/>
          <a:chExt cx="0" cy="0"/>
        </a:xfrm>
      </p:grpSpPr>
      <p:sp>
        <p:nvSpPr>
          <p:cNvPr id="33" name="Google Shape;33;p10"/>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34" name="Google Shape;3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5" name="Shape 35"/>
        <p:cNvGrpSpPr/>
        <p:nvPr/>
      </p:nvGrpSpPr>
      <p:grpSpPr>
        <a:xfrm>
          <a:off x="0" y="0"/>
          <a:ext cx="0" cy="0"/>
          <a:chOff x="0" y="0"/>
          <a:chExt cx="0" cy="0"/>
        </a:xfrm>
      </p:grpSpPr>
      <p:sp>
        <p:nvSpPr>
          <p:cNvPr id="36" name="Google Shape;36;p11"/>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7" name="Google Shape;37;p11"/>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8" name="Google Shape;38;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9" name="Shape 39"/>
        <p:cNvGrpSpPr/>
        <p:nvPr/>
      </p:nvGrpSpPr>
      <p:grpSpPr>
        <a:xfrm>
          <a:off x="0" y="0"/>
          <a:ext cx="0" cy="0"/>
          <a:chOff x="0" y="0"/>
          <a:chExt cx="0" cy="0"/>
        </a:xfrm>
      </p:grpSpPr>
      <p:sp>
        <p:nvSpPr>
          <p:cNvPr id="40" name="Google Shape;40;p12"/>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41" name="Google Shape;41;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2" name="Shape 42"/>
        <p:cNvGrpSpPr/>
        <p:nvPr/>
      </p:nvGrpSpPr>
      <p:grpSpPr>
        <a:xfrm>
          <a:off x="0" y="0"/>
          <a:ext cx="0" cy="0"/>
          <a:chOff x="0" y="0"/>
          <a:chExt cx="0" cy="0"/>
        </a:xfrm>
      </p:grpSpPr>
      <p:sp>
        <p:nvSpPr>
          <p:cNvPr id="43" name="Google Shape;43;p1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13"/>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45" name="Google Shape;45;p13"/>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46" name="Google Shape;46;p13"/>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7" name="Google Shape;47;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p14"/>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50" name="Google Shape;50;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p15"/>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3" name="Google Shape;53;p15"/>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54" name="Google Shape;54;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5" name="Shape 55"/>
        <p:cNvGrpSpPr/>
        <p:nvPr/>
      </p:nvGrpSpPr>
      <p:grpSpPr>
        <a:xfrm>
          <a:off x="0" y="0"/>
          <a:ext cx="0" cy="0"/>
          <a:chOff x="0" y="0"/>
          <a:chExt cx="0" cy="0"/>
        </a:xfrm>
      </p:grpSpPr>
      <p:sp>
        <p:nvSpPr>
          <p:cNvPr id="56" name="Google Shape;56;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2.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slideLayout" Target="../slideLayouts/slideLayout6.xml"/><Relationship Id="rId4" Type="http://schemas.openxmlformats.org/officeDocument/2006/relationships/slideLayout" Target="../slideLayouts/slideLayout7.xml"/><Relationship Id="rId11" Type="http://schemas.openxmlformats.org/officeDocument/2006/relationships/slideLayout" Target="../slideLayouts/slideLayout14.xml"/><Relationship Id="rId10" Type="http://schemas.openxmlformats.org/officeDocument/2006/relationships/slideLayout" Target="../slideLayouts/slideLayout13.xml"/><Relationship Id="rId12" Type="http://schemas.openxmlformats.org/officeDocument/2006/relationships/theme" Target="../theme/theme1.xml"/><Relationship Id="rId9" Type="http://schemas.openxmlformats.org/officeDocument/2006/relationships/slideLayout" Target="../slideLayouts/slideLayout12.xml"/><Relationship Id="rId5" Type="http://schemas.openxmlformats.org/officeDocument/2006/relationships/slideLayout" Target="../slideLayouts/slideLayout8.xml"/><Relationship Id="rId6" Type="http://schemas.openxmlformats.org/officeDocument/2006/relationships/slideLayout" Target="../slideLayouts/slideLayout9.xml"/><Relationship Id="rId7" Type="http://schemas.openxmlformats.org/officeDocument/2006/relationships/slideLayout" Target="../slideLayouts/slideLayout10.xml"/><Relationship Id="rId8"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 name="Shape 5"/>
        <p:cNvGrpSpPr/>
        <p:nvPr/>
      </p:nvGrpSpPr>
      <p:grpSpPr>
        <a:xfrm>
          <a:off x="0" y="0"/>
          <a:ext cx="0" cy="0"/>
          <a:chOff x="0" y="0"/>
          <a:chExt cx="0" cy="0"/>
        </a:xfrm>
      </p:grpSpPr>
      <p:sp>
        <p:nvSpPr>
          <p:cNvPr id="6" name="Google Shape;6;p1"/>
          <p:cNvSpPr txBox="1"/>
          <p:nvPr>
            <p:ph idx="12"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lvl1pPr indent="0" lvl="0"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700"/>
              <a:buFont typeface="Arial"/>
              <a:buNone/>
              <a:defRPr b="0" i="0" sz="700" u="none" cap="none" strike="noStrike">
                <a:solidFill>
                  <a:srgbClr val="6E6E73"/>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2" name="Shape 12"/>
        <p:cNvGrpSpPr/>
        <p:nvPr/>
      </p:nvGrpSpPr>
      <p:grpSpPr>
        <a:xfrm>
          <a:off x="0" y="0"/>
          <a:ext cx="0" cy="0"/>
          <a:chOff x="0" y="0"/>
          <a:chExt cx="0" cy="0"/>
        </a:xfrm>
      </p:grpSpPr>
      <p:sp>
        <p:nvSpPr>
          <p:cNvPr id="13" name="Google Shape;13;p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14" name="Google Shape;14;p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15" name="Google Shape;15;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slide" Target="/ppt/slides/slide3.xml"/><Relationship Id="rId4" Type="http://schemas.openxmlformats.org/officeDocument/2006/relationships/slide" Target="/ppt/slides/slide3.xml"/><Relationship Id="rId11" Type="http://schemas.openxmlformats.org/officeDocument/2006/relationships/slide" Target="/ppt/slides/slide21.xml"/><Relationship Id="rId10" Type="http://schemas.openxmlformats.org/officeDocument/2006/relationships/slide" Target="/ppt/slides/slide21.xml"/><Relationship Id="rId9" Type="http://schemas.openxmlformats.org/officeDocument/2006/relationships/slide" Target="/ppt/slides/slide21.xml"/><Relationship Id="rId5" Type="http://schemas.openxmlformats.org/officeDocument/2006/relationships/slide" Target="/ppt/slides/slide3.xml"/><Relationship Id="rId6" Type="http://schemas.openxmlformats.org/officeDocument/2006/relationships/slide" Target="/ppt/slides/slide14.xml"/><Relationship Id="rId7" Type="http://schemas.openxmlformats.org/officeDocument/2006/relationships/slide" Target="/ppt/slides/slide14.xml"/><Relationship Id="rId8" Type="http://schemas.openxmlformats.org/officeDocument/2006/relationships/slide" Target="/ppt/slid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2.png"/><Relationship Id="rId5" Type="http://schemas.openxmlformats.org/officeDocument/2006/relationships/image" Target="../media/image11.png"/><Relationship Id="rId6" Type="http://schemas.openxmlformats.org/officeDocument/2006/relationships/image" Target="../media/image13.png"/><Relationship Id="rId7" Type="http://schemas.openxmlformats.org/officeDocument/2006/relationships/image" Target="../media/image15.png"/><Relationship Id="rId8"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7.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9.png"/><Relationship Id="rId4" Type="http://schemas.openxmlformats.org/officeDocument/2006/relationships/image" Target="../media/image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9.png"/><Relationship Id="rId4" Type="http://schemas.openxmlformats.org/officeDocument/2006/relationships/image" Target="../media/image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 Id="rId3" Type="http://schemas.openxmlformats.org/officeDocument/2006/relationships/image" Target="../media/image6.png"/><Relationship Id="rId4" Type="http://schemas.openxmlformats.org/officeDocument/2006/relationships/image" Target="../media/image10.png"/><Relationship Id="rId5" Type="http://schemas.openxmlformats.org/officeDocument/2006/relationships/image" Target="../media/image14.png"/><Relationship Id="rId6" Type="http://schemas.openxmlformats.org/officeDocument/2006/relationships/image" Target="../media/image1.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 name="Shape 61"/>
        <p:cNvGrpSpPr/>
        <p:nvPr/>
      </p:nvGrpSpPr>
      <p:grpSpPr>
        <a:xfrm>
          <a:off x="0" y="0"/>
          <a:ext cx="0" cy="0"/>
          <a:chOff x="0" y="0"/>
          <a:chExt cx="0" cy="0"/>
        </a:xfrm>
      </p:grpSpPr>
      <p:sp>
        <p:nvSpPr>
          <p:cNvPr id="62" name="Google Shape;62;p17"/>
          <p:cNvSpPr txBox="1"/>
          <p:nvPr/>
        </p:nvSpPr>
        <p:spPr>
          <a:xfrm>
            <a:off x="566928" y="548640"/>
            <a:ext cx="45720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HOMEAGLOW  ·  NEW HIRE CARE TRAINING  ·  DAY 7</a:t>
            </a:r>
            <a:endParaRPr b="0" i="0" sz="800" u="none" cap="none" strike="noStrike">
              <a:solidFill>
                <a:schemeClr val="dk1"/>
              </a:solidFill>
              <a:latin typeface="Calibri"/>
              <a:ea typeface="Calibri"/>
              <a:cs typeface="Calibri"/>
              <a:sym typeface="Calibri"/>
            </a:endParaRPr>
          </a:p>
        </p:txBody>
      </p:sp>
      <p:sp>
        <p:nvSpPr>
          <p:cNvPr id="63" name="Google Shape;63;p17"/>
          <p:cNvSpPr txBox="1"/>
          <p:nvPr/>
        </p:nvSpPr>
        <p:spPr>
          <a:xfrm>
            <a:off x="566928" y="914400"/>
            <a:ext cx="4480560" cy="14630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Retention</a:t>
            </a:r>
            <a:endParaRPr b="0" i="0" sz="3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1D1D1F"/>
              </a:buClr>
              <a:buSzPts val="3200"/>
              <a:buFont typeface="Play"/>
              <a:buNone/>
            </a:pPr>
            <a:r>
              <a:rPr b="1" i="0" lang="en" sz="3200" u="none" cap="none" strike="noStrike">
                <a:solidFill>
                  <a:srgbClr val="1D1D1F"/>
                </a:solidFill>
                <a:latin typeface="Play"/>
                <a:ea typeface="Play"/>
                <a:cs typeface="Play"/>
                <a:sym typeface="Play"/>
              </a:rPr>
              <a:t>Playbooks</a:t>
            </a:r>
            <a:endParaRPr b="0" i="0" sz="3200" u="none" cap="none" strike="noStrike">
              <a:solidFill>
                <a:schemeClr val="dk1"/>
              </a:solidFill>
              <a:latin typeface="Calibri"/>
              <a:ea typeface="Calibri"/>
              <a:cs typeface="Calibri"/>
              <a:sym typeface="Calibri"/>
            </a:endParaRPr>
          </a:p>
        </p:txBody>
      </p:sp>
      <p:sp>
        <p:nvSpPr>
          <p:cNvPr id="64" name="Google Shape;64;p17"/>
          <p:cNvSpPr txBox="1"/>
          <p:nvPr/>
        </p:nvSpPr>
        <p:spPr>
          <a:xfrm>
            <a:off x="566928" y="2468880"/>
            <a:ext cx="4206240"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50"/>
              <a:buFont typeface="Arial"/>
              <a:buNone/>
            </a:pPr>
            <a:r>
              <a:rPr b="0" i="0" lang="en" sz="1250" u="none" cap="none" strike="noStrike">
                <a:solidFill>
                  <a:srgbClr val="6E6E73"/>
                </a:solidFill>
                <a:latin typeface="Arial"/>
                <a:ea typeface="Arial"/>
                <a:cs typeface="Arial"/>
                <a:sym typeface="Arial"/>
              </a:rPr>
              <a:t>How to keep a customer who wants to cancel: poor cleaning quality, service reliability and membership terms.</a:t>
            </a:r>
            <a:endParaRPr b="0" i="0" sz="1250" u="none" cap="none" strike="noStrike">
              <a:solidFill>
                <a:schemeClr val="dk1"/>
              </a:solidFill>
              <a:latin typeface="Calibri"/>
              <a:ea typeface="Calibri"/>
              <a:cs typeface="Calibri"/>
              <a:sym typeface="Calibri"/>
            </a:endParaRPr>
          </a:p>
        </p:txBody>
      </p:sp>
      <p:sp>
        <p:nvSpPr>
          <p:cNvPr id="65" name="Google Shape;65;p17"/>
          <p:cNvSpPr txBox="1"/>
          <p:nvPr/>
        </p:nvSpPr>
        <p:spPr>
          <a:xfrm>
            <a:off x="566928" y="4572000"/>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700"/>
              <a:buFont typeface="Arial"/>
              <a:buNone/>
            </a:pPr>
            <a:r>
              <a:rPr b="0" i="0" lang="en" sz="700" u="none" cap="none" strike="noStrike">
                <a:solidFill>
                  <a:srgbClr val="6E6E73"/>
                </a:solidFill>
                <a:latin typeface="Arial"/>
                <a:ea typeface="Arial"/>
                <a:cs typeface="Arial"/>
                <a:sym typeface="Arial"/>
              </a:rPr>
              <a:t>Internal training material</a:t>
            </a:r>
            <a:endParaRPr b="0" i="0" sz="700" u="none" cap="none" strike="noStrike">
              <a:solidFill>
                <a:schemeClr val="dk1"/>
              </a:solidFill>
              <a:latin typeface="Calibri"/>
              <a:ea typeface="Calibri"/>
              <a:cs typeface="Calibri"/>
              <a:sym typeface="Calibri"/>
            </a:endParaRPr>
          </a:p>
        </p:txBody>
      </p:sp>
      <p:sp>
        <p:nvSpPr>
          <p:cNvPr id="66" name="Google Shape;66;p17"/>
          <p:cNvSpPr/>
          <p:nvPr/>
        </p:nvSpPr>
        <p:spPr>
          <a:xfrm>
            <a:off x="5312664" y="365760"/>
            <a:ext cx="3383280" cy="4407408"/>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 name="Google Shape;67;p1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6.png" id="68" name="Google Shape;68;p17"/>
          <p:cNvPicPr preferRelativeResize="0"/>
          <p:nvPr/>
        </p:nvPicPr>
        <p:blipFill rotWithShape="1">
          <a:blip r:embed="rId3">
            <a:alphaModFix/>
          </a:blip>
          <a:srcRect b="0" l="0" r="0" t="0"/>
          <a:stretch/>
        </p:blipFill>
        <p:spPr>
          <a:xfrm>
            <a:off x="5541264" y="1632461"/>
            <a:ext cx="2926080" cy="1874006"/>
          </a:xfrm>
          <a:prstGeom prst="rect">
            <a:avLst/>
          </a:prstGeom>
          <a:noFill/>
          <a:ln>
            <a:noFill/>
          </a:ln>
        </p:spPr>
      </p:pic>
      <p:sp>
        <p:nvSpPr>
          <p:cNvPr id="69" name="Google Shape;69;p17"/>
          <p:cNvSpPr/>
          <p:nvPr/>
        </p:nvSpPr>
        <p:spPr>
          <a:xfrm>
            <a:off x="5522976"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 name="Google Shape;70;p17"/>
          <p:cNvSpPr/>
          <p:nvPr/>
        </p:nvSpPr>
        <p:spPr>
          <a:xfrm>
            <a:off x="5646420"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17"/>
          <p:cNvSpPr/>
          <p:nvPr/>
        </p:nvSpPr>
        <p:spPr>
          <a:xfrm>
            <a:off x="8193024" y="566928"/>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2" name="Google Shape;72;p17"/>
          <p:cNvSpPr/>
          <p:nvPr/>
        </p:nvSpPr>
        <p:spPr>
          <a:xfrm>
            <a:off x="8316468" y="690372"/>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 name="Google Shape;73;p17"/>
          <p:cNvSpPr/>
          <p:nvPr/>
        </p:nvSpPr>
        <p:spPr>
          <a:xfrm>
            <a:off x="8193024" y="4242816"/>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17"/>
          <p:cNvSpPr/>
          <p:nvPr/>
        </p:nvSpPr>
        <p:spPr>
          <a:xfrm>
            <a:off x="8316468" y="4366260"/>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sp>
        <p:nvSpPr>
          <p:cNvPr id="79" name="Google Shape;79;p1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OVERVIEW</a:t>
            </a:r>
            <a:endParaRPr b="0" i="0" sz="800" u="none" cap="none" strike="noStrike">
              <a:solidFill>
                <a:schemeClr val="dk1"/>
              </a:solidFill>
              <a:latin typeface="Calibri"/>
              <a:ea typeface="Calibri"/>
              <a:cs typeface="Calibri"/>
              <a:sym typeface="Calibri"/>
            </a:endParaRPr>
          </a:p>
        </p:txBody>
      </p:sp>
      <p:sp>
        <p:nvSpPr>
          <p:cNvPr id="80" name="Google Shape;80;p1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Agenda</a:t>
            </a:r>
            <a:endParaRPr b="0" i="0" sz="2400" u="none" cap="none" strike="noStrike">
              <a:solidFill>
                <a:schemeClr val="dk1"/>
              </a:solidFill>
              <a:latin typeface="Calibri"/>
              <a:ea typeface="Calibri"/>
              <a:cs typeface="Calibri"/>
              <a:sym typeface="Calibri"/>
            </a:endParaRPr>
          </a:p>
        </p:txBody>
      </p:sp>
      <p:sp>
        <p:nvSpPr>
          <p:cNvPr id="81" name="Google Shape;81;p1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Three playbooks. Click a topic to jump to it.</a:t>
            </a:r>
            <a:endParaRPr b="0" i="0" sz="1200" u="none" cap="none" strike="noStrike">
              <a:solidFill>
                <a:schemeClr val="dk1"/>
              </a:solidFill>
              <a:latin typeface="Calibri"/>
              <a:ea typeface="Calibri"/>
              <a:cs typeface="Calibri"/>
              <a:sym typeface="Calibri"/>
            </a:endParaRPr>
          </a:p>
        </p:txBody>
      </p:sp>
      <p:sp>
        <p:nvSpPr>
          <p:cNvPr id="82" name="Google Shape;82;p1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
        <p:nvSpPr>
          <p:cNvPr id="83" name="Google Shape;83;p18">
            <a:hlinkClick action="ppaction://hlinksldjump" r:id="rId3"/>
          </p:cNvPr>
          <p:cNvSpPr/>
          <p:nvPr/>
        </p:nvSpPr>
        <p:spPr>
          <a:xfrm>
            <a:off x="411480" y="1325880"/>
            <a:ext cx="8321040" cy="91440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868675" spcFirstLastPara="1" rIns="548625" wrap="square" tIns="0">
            <a:noAutofit/>
          </a:bodyPr>
          <a:lstStyle/>
          <a:p>
            <a:pPr indent="0" lvl="0" marL="0" marR="0" rtl="0" algn="l">
              <a:lnSpc>
                <a:spcPct val="100000"/>
              </a:lnSpc>
              <a:spcBef>
                <a:spcPts val="0"/>
              </a:spcBef>
              <a:spcAft>
                <a:spcPts val="0"/>
              </a:spcAft>
              <a:buNone/>
            </a:pPr>
            <a:r>
              <a:rPr b="1" i="0" lang="en" sz="1400" u="none" cap="none" strike="noStrike">
                <a:solidFill>
                  <a:srgbClr val="1D1D1F"/>
                </a:solidFill>
                <a:latin typeface="Play"/>
                <a:ea typeface="Play"/>
                <a:cs typeface="Play"/>
                <a:sym typeface="Play"/>
              </a:rPr>
              <a:t>PCQ Retention Playbook</a:t>
            </a:r>
            <a:endParaRPr/>
          </a:p>
          <a:p>
            <a:pPr indent="0" lvl="0" marL="0" marR="0" rtl="0" algn="l">
              <a:lnSpc>
                <a:spcPct val="100000"/>
              </a:lnSpc>
              <a:spcBef>
                <a:spcPts val="200"/>
              </a:spcBef>
              <a:spcAft>
                <a:spcPts val="0"/>
              </a:spcAft>
              <a:buNone/>
            </a:pPr>
            <a:r>
              <a:rPr b="0" i="0" lang="en" sz="1050" u="none" cap="none" strike="noStrike">
                <a:solidFill>
                  <a:srgbClr val="6E6E73"/>
                </a:solidFill>
                <a:latin typeface="Arial"/>
                <a:ea typeface="Arial"/>
                <a:cs typeface="Arial"/>
                <a:sym typeface="Arial"/>
              </a:rPr>
              <a:t>A poor cleaning leads C to say they want to cancel.</a:t>
            </a:r>
            <a:endParaRPr/>
          </a:p>
        </p:txBody>
      </p:sp>
      <p:sp>
        <p:nvSpPr>
          <p:cNvPr id="84" name="Google Shape;84;p18">
            <a:hlinkClick action="ppaction://hlinksldjump" r:id="rId4"/>
          </p:cNvPr>
          <p:cNvSpPr txBox="1"/>
          <p:nvPr/>
        </p:nvSpPr>
        <p:spPr>
          <a:xfrm>
            <a:off x="502920" y="1325880"/>
            <a:ext cx="5486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01</a:t>
            </a:r>
            <a:endParaRPr/>
          </a:p>
        </p:txBody>
      </p:sp>
      <p:sp>
        <p:nvSpPr>
          <p:cNvPr id="85" name="Google Shape;85;p18">
            <a:hlinkClick action="ppaction://hlinksldjump" r:id="rId5"/>
          </p:cNvPr>
          <p:cNvSpPr txBox="1"/>
          <p:nvPr/>
        </p:nvSpPr>
        <p:spPr>
          <a:xfrm>
            <a:off x="8321040" y="1325880"/>
            <a:ext cx="3200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86" name="Google Shape;86;p18">
            <a:hlinkClick action="ppaction://hlinksldjump" r:id="rId6"/>
          </p:cNvPr>
          <p:cNvSpPr/>
          <p:nvPr/>
        </p:nvSpPr>
        <p:spPr>
          <a:xfrm>
            <a:off x="411480" y="2377439"/>
            <a:ext cx="8321040" cy="91440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868675" spcFirstLastPara="1" rIns="548625" wrap="square" tIns="0">
            <a:noAutofit/>
          </a:bodyPr>
          <a:lstStyle/>
          <a:p>
            <a:pPr indent="0" lvl="0" marL="0" marR="0" rtl="0" algn="l">
              <a:lnSpc>
                <a:spcPct val="100000"/>
              </a:lnSpc>
              <a:spcBef>
                <a:spcPts val="0"/>
              </a:spcBef>
              <a:spcAft>
                <a:spcPts val="0"/>
              </a:spcAft>
              <a:buNone/>
            </a:pPr>
            <a:r>
              <a:rPr b="1" i="0" lang="en" sz="1400" u="none" cap="none" strike="noStrike">
                <a:solidFill>
                  <a:srgbClr val="1D1D1F"/>
                </a:solidFill>
                <a:latin typeface="Play"/>
                <a:ea typeface="Play"/>
                <a:cs typeface="Play"/>
                <a:sym typeface="Play"/>
              </a:rPr>
              <a:t>Service Reliability Retention Playbook</a:t>
            </a:r>
            <a:endParaRPr/>
          </a:p>
          <a:p>
            <a:pPr indent="0" lvl="0" marL="0" marR="0" rtl="0" algn="l">
              <a:lnSpc>
                <a:spcPct val="100000"/>
              </a:lnSpc>
              <a:spcBef>
                <a:spcPts val="200"/>
              </a:spcBef>
              <a:spcAft>
                <a:spcPts val="0"/>
              </a:spcAft>
              <a:buNone/>
            </a:pPr>
            <a:r>
              <a:rPr b="0" i="0" lang="en" sz="1050" u="none" cap="none" strike="noStrike">
                <a:solidFill>
                  <a:srgbClr val="6E6E73"/>
                </a:solidFill>
                <a:latin typeface="Arial"/>
                <a:ea typeface="Arial"/>
                <a:cs typeface="Arial"/>
                <a:sym typeface="Arial"/>
              </a:rPr>
              <a:t>A CP failure, not a bad cleaning, leads C to want to cancel.</a:t>
            </a:r>
            <a:endParaRPr/>
          </a:p>
        </p:txBody>
      </p:sp>
      <p:sp>
        <p:nvSpPr>
          <p:cNvPr id="87" name="Google Shape;87;p18">
            <a:hlinkClick action="ppaction://hlinksldjump" r:id="rId7"/>
          </p:cNvPr>
          <p:cNvSpPr txBox="1"/>
          <p:nvPr/>
        </p:nvSpPr>
        <p:spPr>
          <a:xfrm>
            <a:off x="502920" y="2377439"/>
            <a:ext cx="5486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02</a:t>
            </a:r>
            <a:endParaRPr/>
          </a:p>
        </p:txBody>
      </p:sp>
      <p:sp>
        <p:nvSpPr>
          <p:cNvPr id="88" name="Google Shape;88;p18">
            <a:hlinkClick action="ppaction://hlinksldjump" r:id="rId8"/>
          </p:cNvPr>
          <p:cNvSpPr txBox="1"/>
          <p:nvPr/>
        </p:nvSpPr>
        <p:spPr>
          <a:xfrm>
            <a:off x="8321040" y="2377439"/>
            <a:ext cx="3200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
        <p:nvSpPr>
          <p:cNvPr id="89" name="Google Shape;89;p18">
            <a:hlinkClick action="ppaction://hlinksldjump" r:id="rId9"/>
          </p:cNvPr>
          <p:cNvSpPr/>
          <p:nvPr/>
        </p:nvSpPr>
        <p:spPr>
          <a:xfrm>
            <a:off x="411480" y="3429000"/>
            <a:ext cx="8321040" cy="914400"/>
          </a:xfrm>
          <a:prstGeom prst="roundRect">
            <a:avLst>
              <a:gd fmla="val 6000" name="adj"/>
            </a:avLst>
          </a:prstGeom>
          <a:solidFill>
            <a:srgbClr val="FFFFFF"/>
          </a:solidFill>
          <a:ln cap="flat" cmpd="sng" w="9525">
            <a:solidFill>
              <a:srgbClr val="DCE1E7"/>
            </a:solidFill>
            <a:prstDash val="solid"/>
            <a:round/>
            <a:headEnd len="sm" w="sm" type="none"/>
            <a:tailEnd len="sm" w="sm" type="none"/>
          </a:ln>
        </p:spPr>
        <p:txBody>
          <a:bodyPr anchorCtr="0" anchor="ctr" bIns="0" lIns="868675" spcFirstLastPara="1" rIns="548625" wrap="square" tIns="0">
            <a:noAutofit/>
          </a:bodyPr>
          <a:lstStyle/>
          <a:p>
            <a:pPr indent="0" lvl="0" marL="0" marR="0" rtl="0" algn="l">
              <a:lnSpc>
                <a:spcPct val="100000"/>
              </a:lnSpc>
              <a:spcBef>
                <a:spcPts val="0"/>
              </a:spcBef>
              <a:spcAft>
                <a:spcPts val="0"/>
              </a:spcAft>
              <a:buNone/>
            </a:pPr>
            <a:r>
              <a:rPr b="1" i="0" lang="en" sz="1400" u="none" cap="none" strike="noStrike">
                <a:solidFill>
                  <a:srgbClr val="1D1D1F"/>
                </a:solidFill>
                <a:latin typeface="Play"/>
                <a:ea typeface="Play"/>
                <a:cs typeface="Play"/>
                <a:sym typeface="Play"/>
              </a:rPr>
              <a:t>Membership Retention Playbook</a:t>
            </a:r>
            <a:endParaRPr/>
          </a:p>
          <a:p>
            <a:pPr indent="0" lvl="0" marL="0" marR="0" rtl="0" algn="l">
              <a:lnSpc>
                <a:spcPct val="100000"/>
              </a:lnSpc>
              <a:spcBef>
                <a:spcPts val="200"/>
              </a:spcBef>
              <a:spcAft>
                <a:spcPts val="0"/>
              </a:spcAft>
              <a:buNone/>
            </a:pPr>
            <a:r>
              <a:rPr b="0" i="0" lang="en" sz="1050" u="none" cap="none" strike="noStrike">
                <a:solidFill>
                  <a:srgbClr val="6E6E73"/>
                </a:solidFill>
                <a:latin typeface="Arial"/>
                <a:ea typeface="Arial"/>
                <a:cs typeface="Arial"/>
                <a:sym typeface="Arial"/>
              </a:rPr>
              <a:t>The membership terms themselves drive the cancellation.</a:t>
            </a:r>
            <a:endParaRPr/>
          </a:p>
        </p:txBody>
      </p:sp>
      <p:sp>
        <p:nvSpPr>
          <p:cNvPr id="90" name="Google Shape;90;p18">
            <a:hlinkClick action="ppaction://hlinksldjump" r:id="rId10"/>
          </p:cNvPr>
          <p:cNvSpPr txBox="1"/>
          <p:nvPr/>
        </p:nvSpPr>
        <p:spPr>
          <a:xfrm>
            <a:off x="502920" y="3429000"/>
            <a:ext cx="5486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1600" u="none" cap="none" strike="noStrike">
                <a:solidFill>
                  <a:srgbClr val="0B7A6F"/>
                </a:solidFill>
                <a:latin typeface="Play"/>
                <a:ea typeface="Play"/>
                <a:cs typeface="Play"/>
                <a:sym typeface="Play"/>
              </a:rPr>
              <a:t>03</a:t>
            </a:r>
            <a:endParaRPr/>
          </a:p>
        </p:txBody>
      </p:sp>
      <p:sp>
        <p:nvSpPr>
          <p:cNvPr id="91" name="Google Shape;91;p18">
            <a:hlinkClick action="ppaction://hlinksldjump" r:id="rId11"/>
          </p:cNvPr>
          <p:cNvSpPr txBox="1"/>
          <p:nvPr/>
        </p:nvSpPr>
        <p:spPr>
          <a:xfrm>
            <a:off x="8321040" y="3429000"/>
            <a:ext cx="320040" cy="914400"/>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 sz="2000" u="none" cap="none" strike="noStrike">
                <a:solidFill>
                  <a:srgbClr val="0B7A6F"/>
                </a:solidFill>
                <a:latin typeface="Play"/>
                <a:ea typeface="Play"/>
                <a:cs typeface="Play"/>
                <a:sym typeface="Play"/>
              </a:rPr>
              <a:t>›</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19"/>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01</a:t>
            </a:r>
            <a:endParaRPr b="0" i="0" sz="800" u="none" cap="none" strike="noStrike">
              <a:solidFill>
                <a:schemeClr val="dk1"/>
              </a:solidFill>
              <a:latin typeface="Calibri"/>
              <a:ea typeface="Calibri"/>
              <a:cs typeface="Calibri"/>
              <a:sym typeface="Calibri"/>
            </a:endParaRPr>
          </a:p>
        </p:txBody>
      </p:sp>
      <p:sp>
        <p:nvSpPr>
          <p:cNvPr id="97" name="Google Shape;97;p19"/>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PCQ Retention Playbook</a:t>
            </a:r>
            <a:endParaRPr b="0" i="0" sz="2800" u="none" cap="none" strike="noStrike">
              <a:solidFill>
                <a:schemeClr val="dk1"/>
              </a:solidFill>
              <a:latin typeface="Calibri"/>
              <a:ea typeface="Calibri"/>
              <a:cs typeface="Calibri"/>
              <a:sym typeface="Calibri"/>
            </a:endParaRPr>
          </a:p>
        </p:txBody>
      </p:sp>
      <p:sp>
        <p:nvSpPr>
          <p:cNvPr id="98" name="Google Shape;98;p19"/>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to do when a poor cleaning leads a customer to say they want to cancel.</a:t>
            </a:r>
            <a:endParaRPr b="0" i="0" sz="1150" u="none" cap="none" strike="noStrike">
              <a:solidFill>
                <a:schemeClr val="dk1"/>
              </a:solidFill>
              <a:latin typeface="Calibri"/>
              <a:ea typeface="Calibri"/>
              <a:cs typeface="Calibri"/>
              <a:sym typeface="Calibri"/>
            </a:endParaRPr>
          </a:p>
        </p:txBody>
      </p:sp>
      <p:sp>
        <p:nvSpPr>
          <p:cNvPr id="99" name="Google Shape;99;p19"/>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100" name="Google Shape;100;p19"/>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1" name="Google Shape;101;p19"/>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102" name="Google Shape;102;p19"/>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Baseline for every PCQ</a:t>
            </a:r>
            <a:endParaRPr b="0" i="0" sz="1050" u="none" cap="none" strike="noStrike">
              <a:solidFill>
                <a:schemeClr val="dk1"/>
              </a:solidFill>
              <a:latin typeface="Calibri"/>
              <a:ea typeface="Calibri"/>
              <a:cs typeface="Calibri"/>
              <a:sym typeface="Calibri"/>
            </a:endParaRPr>
          </a:p>
        </p:txBody>
      </p:sp>
      <p:sp>
        <p:nvSpPr>
          <p:cNvPr id="103" name="Google Shape;103;p19"/>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4" name="Google Shape;104;p19"/>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105" name="Google Shape;105;p19"/>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Offers by situation</a:t>
            </a:r>
            <a:endParaRPr b="0" i="0" sz="1050" u="none" cap="none" strike="noStrike">
              <a:solidFill>
                <a:schemeClr val="dk1"/>
              </a:solidFill>
              <a:latin typeface="Calibri"/>
              <a:ea typeface="Calibri"/>
              <a:cs typeface="Calibri"/>
              <a:sym typeface="Calibri"/>
            </a:endParaRPr>
          </a:p>
        </p:txBody>
      </p:sp>
      <p:sp>
        <p:nvSpPr>
          <p:cNvPr id="106" name="Google Shape;106;p19"/>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07" name="Google Shape;107;p19"/>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108" name="Google Shape;108;p19"/>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Within MCT and exit strategy</a:t>
            </a:r>
            <a:endParaRPr b="0" i="0" sz="1050" u="none" cap="none" strike="noStrike">
              <a:solidFill>
                <a:schemeClr val="dk1"/>
              </a:solidFill>
              <a:latin typeface="Calibri"/>
              <a:ea typeface="Calibri"/>
              <a:cs typeface="Calibri"/>
              <a:sym typeface="Calibri"/>
            </a:endParaRPr>
          </a:p>
        </p:txBody>
      </p:sp>
      <p:sp>
        <p:nvSpPr>
          <p:cNvPr id="109" name="Google Shape;109;p19"/>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10" name="Google Shape;110;p19"/>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111" name="Google Shape;111;p19"/>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Beyond MCT</a:t>
            </a:r>
            <a:endParaRPr b="0" i="0" sz="1050" u="none" cap="none" strike="noStrike">
              <a:solidFill>
                <a:schemeClr val="dk1"/>
              </a:solidFill>
              <a:latin typeface="Calibri"/>
              <a:ea typeface="Calibri"/>
              <a:cs typeface="Calibri"/>
              <a:sym typeface="Calibri"/>
            </a:endParaRPr>
          </a:p>
        </p:txBody>
      </p:sp>
      <p:sp>
        <p:nvSpPr>
          <p:cNvPr id="112" name="Google Shape;112;p19"/>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19"/>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114" name="Google Shape;114;p19"/>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115" name="Google Shape;115;p19"/>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19"/>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19"/>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8" name="Google Shape;118;p19"/>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9" name="Google Shape;119;p19"/>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0" name="Google Shape;120;p19"/>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1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127" name="Google Shape;127;p2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128" name="Google Shape;128;p2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Cancellation intent driven by a Poor Cleaning Quality complaint.</a:t>
            </a:r>
            <a:endParaRPr b="0" i="0" sz="1200" u="none" cap="none" strike="noStrike">
              <a:solidFill>
                <a:schemeClr val="dk1"/>
              </a:solidFill>
              <a:latin typeface="Calibri"/>
              <a:ea typeface="Calibri"/>
              <a:cs typeface="Calibri"/>
              <a:sym typeface="Calibri"/>
            </a:endParaRPr>
          </a:p>
        </p:txBody>
      </p:sp>
      <p:sp>
        <p:nvSpPr>
          <p:cNvPr id="129" name="Google Shape;129;p20"/>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0" name="Google Shape;130;p2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1" name="Google Shape;131;p2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132" name="Google Shape;132;p20"/>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 trigger</a:t>
            </a:r>
            <a:endParaRPr b="0" i="0" sz="1200" u="none" cap="none" strike="noStrike">
              <a:solidFill>
                <a:schemeClr val="dk1"/>
              </a:solidFill>
              <a:latin typeface="Calibri"/>
              <a:ea typeface="Calibri"/>
              <a:cs typeface="Calibri"/>
              <a:sym typeface="Calibri"/>
            </a:endParaRPr>
          </a:p>
        </p:txBody>
      </p:sp>
      <p:sp>
        <p:nvSpPr>
          <p:cNvPr id="133" name="Google Shape;133;p20"/>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CP showed up and did the job, but the result missed a reasonable standard, and the customer wants to cancel.</a:t>
            </a:r>
            <a:endParaRPr b="0" i="0" sz="950" u="none" cap="none" strike="noStrike">
              <a:solidFill>
                <a:schemeClr val="dk1"/>
              </a:solidFill>
              <a:latin typeface="Calibri"/>
              <a:ea typeface="Calibri"/>
              <a:cs typeface="Calibri"/>
              <a:sym typeface="Calibri"/>
            </a:endParaRPr>
          </a:p>
        </p:txBody>
      </p:sp>
      <p:sp>
        <p:nvSpPr>
          <p:cNvPr id="134" name="Google Shape;134;p20"/>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p20"/>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36" name="Google Shape;136;p20"/>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137" name="Google Shape;137;p20"/>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the other playbooks</a:t>
            </a:r>
            <a:endParaRPr b="0" i="0" sz="1200" u="none" cap="none" strike="noStrike">
              <a:solidFill>
                <a:schemeClr val="dk1"/>
              </a:solidFill>
              <a:latin typeface="Calibri"/>
              <a:ea typeface="Calibri"/>
              <a:cs typeface="Calibri"/>
              <a:sym typeface="Calibri"/>
            </a:endParaRPr>
          </a:p>
        </p:txBody>
      </p:sp>
      <p:sp>
        <p:nvSpPr>
          <p:cNvPr id="138" name="Google Shape;138;p20"/>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Late, no-show or cancelled CP: Service Reliability. Objection to the terms: Membership Retention.</a:t>
            </a:r>
            <a:endParaRPr b="0" i="0" sz="950" u="none" cap="none" strike="noStrike">
              <a:solidFill>
                <a:schemeClr val="dk1"/>
              </a:solidFill>
              <a:latin typeface="Calibri"/>
              <a:ea typeface="Calibri"/>
              <a:cs typeface="Calibri"/>
              <a:sym typeface="Calibri"/>
            </a:endParaRPr>
          </a:p>
        </p:txBody>
      </p:sp>
      <p:sp>
        <p:nvSpPr>
          <p:cNvPr id="139" name="Google Shape;139;p20"/>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0" name="Google Shape;140;p20"/>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1" name="Google Shape;141;p20"/>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142" name="Google Shape;142;p20"/>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Journey position matters</a:t>
            </a:r>
            <a:endParaRPr b="0" i="0" sz="1200" u="none" cap="none" strike="noStrike">
              <a:solidFill>
                <a:schemeClr val="dk1"/>
              </a:solidFill>
              <a:latin typeface="Calibri"/>
              <a:ea typeface="Calibri"/>
              <a:cs typeface="Calibri"/>
              <a:sym typeface="Calibri"/>
            </a:endParaRPr>
          </a:p>
        </p:txBody>
      </p:sp>
      <p:sp>
        <p:nvSpPr>
          <p:cNvPr id="143" name="Google Shape;143;p20"/>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first-ever bad cleaning, a second consecutive issue job, and a customer beyond MCT each need a different path.</a:t>
            </a:r>
            <a:endParaRPr b="0" i="0" sz="950" u="none" cap="none" strike="noStrike">
              <a:solidFill>
                <a:schemeClr val="dk1"/>
              </a:solidFill>
              <a:latin typeface="Calibri"/>
              <a:ea typeface="Calibri"/>
              <a:cs typeface="Calibri"/>
              <a:sym typeface="Calibri"/>
            </a:endParaRPr>
          </a:p>
        </p:txBody>
      </p:sp>
      <p:sp>
        <p:nvSpPr>
          <p:cNvPr id="144" name="Google Shape;144;p20"/>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45" name="Google Shape;145;p20"/>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146" name="Google Shape;146;p20"/>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Why sort first:</a:t>
            </a:r>
            <a:r>
              <a:rPr b="0" i="0" lang="en" sz="1000" u="none" cap="none" strike="noStrike">
                <a:solidFill>
                  <a:srgbClr val="1D1D1F"/>
                </a:solidFill>
                <a:latin typeface="Arial"/>
                <a:ea typeface="Arial"/>
                <a:cs typeface="Arial"/>
                <a:sym typeface="Arial"/>
              </a:rPr>
              <a:t>a second consecutive issue job is a broken promise on top of a broken promise. That is what the ETF Waivers policy exists for.</a:t>
            </a:r>
            <a:endParaRPr b="0" i="0" sz="1000" u="none" cap="none" strike="noStrike">
              <a:solidFill>
                <a:schemeClr val="dk1"/>
              </a:solidFill>
              <a:latin typeface="Calibri"/>
              <a:ea typeface="Calibri"/>
              <a:cs typeface="Calibri"/>
              <a:sym typeface="Calibri"/>
            </a:endParaRPr>
          </a:p>
        </p:txBody>
      </p:sp>
      <p:sp>
        <p:nvSpPr>
          <p:cNvPr id="147" name="Google Shape;147;p2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p2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153" name="Google Shape;153;p2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Baseline for every PCQ</a:t>
            </a:r>
            <a:endParaRPr b="0" i="0" sz="2400" u="none" cap="none" strike="noStrike">
              <a:solidFill>
                <a:schemeClr val="dk1"/>
              </a:solidFill>
              <a:latin typeface="Calibri"/>
              <a:ea typeface="Calibri"/>
              <a:cs typeface="Calibri"/>
              <a:sym typeface="Calibri"/>
            </a:endParaRPr>
          </a:p>
        </p:txBody>
      </p:sp>
      <p:sp>
        <p:nvSpPr>
          <p:cNvPr id="154" name="Google Shape;154;p21"/>
          <p:cNvSpPr/>
          <p:nvPr/>
        </p:nvSpPr>
        <p:spPr>
          <a:xfrm>
            <a:off x="4114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5" name="Google Shape;155;p21"/>
          <p:cNvSpPr/>
          <p:nvPr/>
        </p:nvSpPr>
        <p:spPr>
          <a:xfrm>
            <a:off x="5760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56" name="Google Shape;156;p21"/>
          <p:cNvPicPr preferRelativeResize="0"/>
          <p:nvPr/>
        </p:nvPicPr>
        <p:blipFill rotWithShape="1">
          <a:blip r:embed="rId3">
            <a:alphaModFix/>
          </a:blip>
          <a:srcRect b="0" l="0" r="0" t="0"/>
          <a:stretch/>
        </p:blipFill>
        <p:spPr>
          <a:xfrm>
            <a:off x="668244" y="1509492"/>
            <a:ext cx="199705" cy="199705"/>
          </a:xfrm>
          <a:prstGeom prst="rect">
            <a:avLst/>
          </a:prstGeom>
          <a:noFill/>
          <a:ln>
            <a:noFill/>
          </a:ln>
        </p:spPr>
      </p:pic>
      <p:sp>
        <p:nvSpPr>
          <p:cNvPr id="157" name="Google Shape;157;p21"/>
          <p:cNvSpPr txBox="1"/>
          <p:nvPr/>
        </p:nvSpPr>
        <p:spPr>
          <a:xfrm>
            <a:off x="11247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Acknowledge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Use the Empathy Statements macro, matched to the customer's specific situation.</a:t>
            </a:r>
            <a:endParaRPr b="0" i="0" sz="1200" u="none" cap="none" strike="noStrike">
              <a:solidFill>
                <a:schemeClr val="dk1"/>
              </a:solidFill>
              <a:latin typeface="Calibri"/>
              <a:ea typeface="Calibri"/>
              <a:cs typeface="Calibri"/>
              <a:sym typeface="Calibri"/>
            </a:endParaRPr>
          </a:p>
        </p:txBody>
      </p:sp>
      <p:sp>
        <p:nvSpPr>
          <p:cNvPr id="158" name="Google Shape;158;p21"/>
          <p:cNvSpPr/>
          <p:nvPr/>
        </p:nvSpPr>
        <p:spPr>
          <a:xfrm>
            <a:off x="4640580" y="114300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9" name="Google Shape;159;p21"/>
          <p:cNvSpPr/>
          <p:nvPr/>
        </p:nvSpPr>
        <p:spPr>
          <a:xfrm>
            <a:off x="4805172" y="141732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0" name="Google Shape;160;p21"/>
          <p:cNvPicPr preferRelativeResize="0"/>
          <p:nvPr/>
        </p:nvPicPr>
        <p:blipFill rotWithShape="1">
          <a:blip r:embed="rId4">
            <a:alphaModFix/>
          </a:blip>
          <a:srcRect b="0" l="0" r="0" t="0"/>
          <a:stretch/>
        </p:blipFill>
        <p:spPr>
          <a:xfrm>
            <a:off x="4897344" y="1509492"/>
            <a:ext cx="199705" cy="199705"/>
          </a:xfrm>
          <a:prstGeom prst="rect">
            <a:avLst/>
          </a:prstGeom>
          <a:noFill/>
          <a:ln>
            <a:noFill/>
          </a:ln>
        </p:spPr>
      </p:pic>
      <p:sp>
        <p:nvSpPr>
          <p:cNvPr id="161" name="Google Shape;161;p21"/>
          <p:cNvSpPr txBox="1"/>
          <p:nvPr/>
        </p:nvSpPr>
        <p:spPr>
          <a:xfrm>
            <a:off x="5353812" y="123444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Probe, don't withhold</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We already know the root cause. Give the resolution while letting the customer vent.</a:t>
            </a:r>
            <a:endParaRPr b="0" i="0" sz="1200" u="none" cap="none" strike="noStrike">
              <a:solidFill>
                <a:schemeClr val="dk1"/>
              </a:solidFill>
              <a:latin typeface="Calibri"/>
              <a:ea typeface="Calibri"/>
              <a:cs typeface="Calibri"/>
              <a:sym typeface="Calibri"/>
            </a:endParaRPr>
          </a:p>
        </p:txBody>
      </p:sp>
      <p:sp>
        <p:nvSpPr>
          <p:cNvPr id="162" name="Google Shape;162;p21"/>
          <p:cNvSpPr/>
          <p:nvPr/>
        </p:nvSpPr>
        <p:spPr>
          <a:xfrm>
            <a:off x="4114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3" name="Google Shape;163;p21"/>
          <p:cNvSpPr/>
          <p:nvPr/>
        </p:nvSpPr>
        <p:spPr>
          <a:xfrm>
            <a:off x="5760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4" name="Google Shape;164;p21"/>
          <p:cNvPicPr preferRelativeResize="0"/>
          <p:nvPr/>
        </p:nvPicPr>
        <p:blipFill rotWithShape="1">
          <a:blip r:embed="rId5">
            <a:alphaModFix/>
          </a:blip>
          <a:srcRect b="0" l="0" r="0" t="0"/>
          <a:stretch/>
        </p:blipFill>
        <p:spPr>
          <a:xfrm>
            <a:off x="668244" y="2606772"/>
            <a:ext cx="199705" cy="199705"/>
          </a:xfrm>
          <a:prstGeom prst="rect">
            <a:avLst/>
          </a:prstGeom>
          <a:noFill/>
          <a:ln>
            <a:noFill/>
          </a:ln>
        </p:spPr>
      </p:pic>
      <p:sp>
        <p:nvSpPr>
          <p:cNvPr id="165" name="Google Shape;165;p21"/>
          <p:cNvSpPr txBox="1"/>
          <p:nvPr/>
        </p:nvSpPr>
        <p:spPr>
          <a:xfrm>
            <a:off x="11247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eligibility</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72 hours from the job. Customer self-submits, CP has 7 days to accept or decline. Skip if they don't want one.</a:t>
            </a:r>
            <a:endParaRPr b="0" i="0" sz="1200" u="none" cap="none" strike="noStrike">
              <a:solidFill>
                <a:schemeClr val="dk1"/>
              </a:solidFill>
              <a:latin typeface="Calibri"/>
              <a:ea typeface="Calibri"/>
              <a:cs typeface="Calibri"/>
              <a:sym typeface="Calibri"/>
            </a:endParaRPr>
          </a:p>
        </p:txBody>
      </p:sp>
      <p:sp>
        <p:nvSpPr>
          <p:cNvPr id="166" name="Google Shape;166;p21"/>
          <p:cNvSpPr/>
          <p:nvPr/>
        </p:nvSpPr>
        <p:spPr>
          <a:xfrm>
            <a:off x="4640580" y="224028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7" name="Google Shape;167;p21"/>
          <p:cNvSpPr/>
          <p:nvPr/>
        </p:nvSpPr>
        <p:spPr>
          <a:xfrm>
            <a:off x="4805172" y="251460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68" name="Google Shape;168;p21"/>
          <p:cNvPicPr preferRelativeResize="0"/>
          <p:nvPr/>
        </p:nvPicPr>
        <p:blipFill rotWithShape="1">
          <a:blip r:embed="rId6">
            <a:alphaModFix/>
          </a:blip>
          <a:srcRect b="0" l="0" r="0" t="0"/>
          <a:stretch/>
        </p:blipFill>
        <p:spPr>
          <a:xfrm>
            <a:off x="4897344" y="2606772"/>
            <a:ext cx="199705" cy="199705"/>
          </a:xfrm>
          <a:prstGeom prst="rect">
            <a:avLst/>
          </a:prstGeom>
          <a:noFill/>
          <a:ln>
            <a:noFill/>
          </a:ln>
        </p:spPr>
      </p:pic>
      <p:sp>
        <p:nvSpPr>
          <p:cNvPr id="169" name="Google Shape;169;p21"/>
          <p:cNvSpPr txBox="1"/>
          <p:nvPr/>
        </p:nvSpPr>
        <p:spPr>
          <a:xfrm>
            <a:off x="5353812" y="233172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Premium fee</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Refund it if applicable. It fires on the confirmed service issue, with or without refund intent.</a:t>
            </a:r>
            <a:endParaRPr b="0" i="0" sz="1200" u="none" cap="none" strike="noStrike">
              <a:solidFill>
                <a:schemeClr val="dk1"/>
              </a:solidFill>
              <a:latin typeface="Calibri"/>
              <a:ea typeface="Calibri"/>
              <a:cs typeface="Calibri"/>
              <a:sym typeface="Calibri"/>
            </a:endParaRPr>
          </a:p>
        </p:txBody>
      </p:sp>
      <p:sp>
        <p:nvSpPr>
          <p:cNvPr id="170" name="Google Shape;170;p21"/>
          <p:cNvSpPr/>
          <p:nvPr/>
        </p:nvSpPr>
        <p:spPr>
          <a:xfrm>
            <a:off x="4114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1" name="Google Shape;171;p21"/>
          <p:cNvSpPr/>
          <p:nvPr/>
        </p:nvSpPr>
        <p:spPr>
          <a:xfrm>
            <a:off x="5760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2" name="Google Shape;172;p21"/>
          <p:cNvPicPr preferRelativeResize="0"/>
          <p:nvPr/>
        </p:nvPicPr>
        <p:blipFill rotWithShape="1">
          <a:blip r:embed="rId7">
            <a:alphaModFix/>
          </a:blip>
          <a:srcRect b="0" l="0" r="0" t="0"/>
          <a:stretch/>
        </p:blipFill>
        <p:spPr>
          <a:xfrm>
            <a:off x="668244" y="3704052"/>
            <a:ext cx="199705" cy="199705"/>
          </a:xfrm>
          <a:prstGeom prst="rect">
            <a:avLst/>
          </a:prstGeom>
          <a:noFill/>
          <a:ln>
            <a:noFill/>
          </a:ln>
        </p:spPr>
      </p:pic>
      <p:sp>
        <p:nvSpPr>
          <p:cNvPr id="173" name="Google Shape;173;p21"/>
          <p:cNvSpPr txBox="1"/>
          <p:nvPr/>
        </p:nvSpPr>
        <p:spPr>
          <a:xfrm>
            <a:off x="11247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Pairing and CP</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Block C/CP pairing unless they want the same CP. Coach or penalize with the CP-facing PCQ macro.</a:t>
            </a:r>
            <a:endParaRPr b="0" i="0" sz="1200" u="none" cap="none" strike="noStrike">
              <a:solidFill>
                <a:schemeClr val="dk1"/>
              </a:solidFill>
              <a:latin typeface="Calibri"/>
              <a:ea typeface="Calibri"/>
              <a:cs typeface="Calibri"/>
              <a:sym typeface="Calibri"/>
            </a:endParaRPr>
          </a:p>
        </p:txBody>
      </p:sp>
      <p:sp>
        <p:nvSpPr>
          <p:cNvPr id="174" name="Google Shape;174;p21"/>
          <p:cNvSpPr/>
          <p:nvPr/>
        </p:nvSpPr>
        <p:spPr>
          <a:xfrm>
            <a:off x="4640580" y="3337560"/>
            <a:ext cx="4091940" cy="960120"/>
          </a:xfrm>
          <a:prstGeom prst="roundRect">
            <a:avLst>
              <a:gd fmla="val 7619"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1"/>
          <p:cNvSpPr/>
          <p:nvPr/>
        </p:nvSpPr>
        <p:spPr>
          <a:xfrm>
            <a:off x="4805172" y="3611880"/>
            <a:ext cx="384048" cy="3840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76" name="Google Shape;176;p21"/>
          <p:cNvPicPr preferRelativeResize="0"/>
          <p:nvPr/>
        </p:nvPicPr>
        <p:blipFill rotWithShape="1">
          <a:blip r:embed="rId8">
            <a:alphaModFix/>
          </a:blip>
          <a:srcRect b="0" l="0" r="0" t="0"/>
          <a:stretch/>
        </p:blipFill>
        <p:spPr>
          <a:xfrm>
            <a:off x="4897344" y="3704052"/>
            <a:ext cx="199705" cy="199705"/>
          </a:xfrm>
          <a:prstGeom prst="rect">
            <a:avLst/>
          </a:prstGeom>
          <a:noFill/>
          <a:ln>
            <a:noFill/>
          </a:ln>
        </p:spPr>
      </p:pic>
      <p:sp>
        <p:nvSpPr>
          <p:cNvPr id="177" name="Google Shape;177;p21"/>
          <p:cNvSpPr txBox="1"/>
          <p:nvPr/>
        </p:nvSpPr>
        <p:spPr>
          <a:xfrm>
            <a:off x="5353812" y="3429000"/>
            <a:ext cx="3223260" cy="77724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Flag and RC</a:t>
            </a:r>
            <a:endParaRPr b="0" i="0" sz="1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6E6E73"/>
              </a:buClr>
              <a:buSzPts val="1000"/>
              <a:buFont typeface="Arial"/>
              <a:buNone/>
            </a:pPr>
            <a:r>
              <a:rPr b="0" i="0" lang="en" sz="1000" u="none" cap="none" strike="noStrike">
                <a:solidFill>
                  <a:srgbClr val="6E6E73"/>
                </a:solidFill>
                <a:latin typeface="Arial"/>
                <a:ea typeface="Arial"/>
                <a:cs typeface="Arial"/>
                <a:sym typeface="Arial"/>
              </a:rPr>
              <a:t>Flag customer_unsatisfied if no review yet. Cancel RC and upcoming jobs unless they want to keep them.</a:t>
            </a:r>
            <a:endParaRPr b="0" i="0" sz="1200" u="none" cap="none" strike="noStrike">
              <a:solidFill>
                <a:schemeClr val="dk1"/>
              </a:solidFill>
              <a:latin typeface="Calibri"/>
              <a:ea typeface="Calibri"/>
              <a:cs typeface="Calibri"/>
              <a:sym typeface="Calibri"/>
            </a:endParaRPr>
          </a:p>
        </p:txBody>
      </p:sp>
      <p:sp>
        <p:nvSpPr>
          <p:cNvPr id="178" name="Google Shape;178;p2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p2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184" name="Google Shape;184;p2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Offers by situation: voucher and free month</a:t>
            </a:r>
            <a:endParaRPr b="0" i="0" sz="2400" u="none" cap="none" strike="noStrike">
              <a:solidFill>
                <a:schemeClr val="dk1"/>
              </a:solidFill>
              <a:latin typeface="Calibri"/>
              <a:ea typeface="Calibri"/>
              <a:cs typeface="Calibri"/>
              <a:sym typeface="Calibri"/>
            </a:endParaRPr>
          </a:p>
        </p:txBody>
      </p:sp>
      <p:sp>
        <p:nvSpPr>
          <p:cNvPr id="185" name="Google Shape;185;p2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Quick reference for PCQ with cancel intent.</a:t>
            </a:r>
            <a:endParaRPr b="0" i="0" sz="1200" u="none" cap="none" strike="noStrike">
              <a:solidFill>
                <a:schemeClr val="dk1"/>
              </a:solidFill>
              <a:latin typeface="Calibri"/>
              <a:ea typeface="Calibri"/>
              <a:cs typeface="Calibri"/>
              <a:sym typeface="Calibri"/>
            </a:endParaRPr>
          </a:p>
        </p:txBody>
      </p:sp>
      <p:graphicFrame>
        <p:nvGraphicFramePr>
          <p:cNvPr id="186" name="Google Shape;186;p22"/>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Voucher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Free month</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Non-FC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Up to 1-hr voucher or $20 credits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 no membership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1st and only job is PCQ (within MCT)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hr voucher (job under 4 hrs) or 2 hr (4 hrs or more). A system 3-hr voucher replaces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FCF: 1 free month. DHJ: 1 month only if next MF is within 2 weeks. If unused MFs, issue free months for those instead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PCQ job not the first (within MCT, not consecutive)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voucher logic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Unused MFs first; else 1 month if next MF within 2 weeks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beyond MCT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voucher logic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Unused MFs first; else 1 month if next MF within 2 weeks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2 consecutive PCQ</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voucher logic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free month logic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High usage, high loyalty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Admin refund (can be full) preferred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free month logic</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87" name="Google Shape;187;p22"/>
          <p:cNvSpPr/>
          <p:nvPr/>
        </p:nvSpPr>
        <p:spPr>
          <a:xfrm>
            <a:off x="411480" y="3700315"/>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188" name="Google Shape;188;p22"/>
          <p:cNvPicPr preferRelativeResize="0"/>
          <p:nvPr/>
        </p:nvPicPr>
        <p:blipFill rotWithShape="1">
          <a:blip r:embed="rId3">
            <a:alphaModFix/>
          </a:blip>
          <a:srcRect b="0" l="0" r="0" t="0"/>
          <a:stretch/>
        </p:blipFill>
        <p:spPr>
          <a:xfrm>
            <a:off x="566928" y="3810043"/>
            <a:ext cx="164592" cy="164592"/>
          </a:xfrm>
          <a:prstGeom prst="rect">
            <a:avLst/>
          </a:prstGeom>
          <a:noFill/>
          <a:ln>
            <a:noFill/>
          </a:ln>
        </p:spPr>
      </p:pic>
      <p:sp>
        <p:nvSpPr>
          <p:cNvPr id="189" name="Google Shape;189;p22"/>
          <p:cNvSpPr txBox="1"/>
          <p:nvPr/>
        </p:nvSpPr>
        <p:spPr>
          <a:xfrm>
            <a:off x="822960" y="3800899"/>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Cap:</a:t>
            </a:r>
            <a:r>
              <a:rPr b="0" i="0" lang="en" sz="1000" u="none" cap="none" strike="noStrike">
                <a:solidFill>
                  <a:srgbClr val="1D1D1F"/>
                </a:solidFill>
                <a:latin typeface="Arial"/>
                <a:ea typeface="Arial"/>
                <a:cs typeface="Arial"/>
                <a:sym typeface="Arial"/>
              </a:rPr>
              <a:t>free months are never more than the customer asked for and never more than 3 total.</a:t>
            </a:r>
            <a:endParaRPr b="0" i="0" sz="1000" u="none" cap="none" strike="noStrike">
              <a:solidFill>
                <a:schemeClr val="dk1"/>
              </a:solidFill>
              <a:latin typeface="Calibri"/>
              <a:ea typeface="Calibri"/>
              <a:cs typeface="Calibri"/>
              <a:sym typeface="Calibri"/>
            </a:endParaRPr>
          </a:p>
        </p:txBody>
      </p:sp>
      <p:sp>
        <p:nvSpPr>
          <p:cNvPr id="190" name="Google Shape;190;p2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196" name="Google Shape;196;p2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Offers by situation: ETF</a:t>
            </a:r>
            <a:endParaRPr b="0" i="0" sz="2400" u="none" cap="none" strike="noStrike">
              <a:solidFill>
                <a:schemeClr val="dk1"/>
              </a:solidFill>
              <a:latin typeface="Calibri"/>
              <a:ea typeface="Calibri"/>
              <a:cs typeface="Calibri"/>
              <a:sym typeface="Calibri"/>
            </a:endParaRPr>
          </a:p>
        </p:txBody>
      </p:sp>
      <p:sp>
        <p:nvSpPr>
          <p:cNvPr id="197" name="Google Shape;197;p2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What to say about the ETF for each situation.</a:t>
            </a:r>
            <a:endParaRPr b="0" i="0" sz="1200" u="none" cap="none" strike="noStrike">
              <a:solidFill>
                <a:schemeClr val="dk1"/>
              </a:solidFill>
              <a:latin typeface="Calibri"/>
              <a:ea typeface="Calibri"/>
              <a:cs typeface="Calibri"/>
              <a:sym typeface="Calibri"/>
            </a:endParaRPr>
          </a:p>
        </p:txBody>
      </p:sp>
      <p:graphicFrame>
        <p:nvGraphicFramePr>
          <p:cNvPr id="198" name="Google Shape;198;p23"/>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ETF</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Non-FC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 no membership</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1st and only job is PCQ (within MCT)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Mention we will waive the ETF if the next job also has issues. Skip it if the system already issued the 3-hour voucher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PCQ job not the first, not consecutive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Same spiel if this is the most recent job, with the same 3-hour voucher exception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beyond MCT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 no ETF exposure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 2 consecutive PCQ (MCT irrelevant)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Follow the Two Consecutive Serious Issue Jobs article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High usage, high loyalty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N/A</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199" name="Google Shape;199;p2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3" name="Shape 203"/>
        <p:cNvGrpSpPr/>
        <p:nvPr/>
      </p:nvGrpSpPr>
      <p:grpSpPr>
        <a:xfrm>
          <a:off x="0" y="0"/>
          <a:ext cx="0" cy="0"/>
          <a:chOff x="0" y="0"/>
          <a:chExt cx="0" cy="0"/>
        </a:xfrm>
      </p:grpSpPr>
      <p:sp>
        <p:nvSpPr>
          <p:cNvPr id="204" name="Google Shape;204;p2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205" name="Google Shape;205;p2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System voucher and no cancel intent</a:t>
            </a:r>
            <a:endParaRPr b="0" i="0" sz="2400" u="none" cap="none" strike="noStrike">
              <a:solidFill>
                <a:schemeClr val="dk1"/>
              </a:solidFill>
              <a:latin typeface="Calibri"/>
              <a:ea typeface="Calibri"/>
              <a:cs typeface="Calibri"/>
              <a:sym typeface="Calibri"/>
            </a:endParaRPr>
          </a:p>
        </p:txBody>
      </p:sp>
      <p:sp>
        <p:nvSpPr>
          <p:cNvPr id="206" name="Google Shape;206;p2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these before you decide what to offer.</a:t>
            </a:r>
            <a:endParaRPr b="0" i="0" sz="1200" u="none" cap="none" strike="noStrike">
              <a:solidFill>
                <a:schemeClr val="dk1"/>
              </a:solidFill>
              <a:latin typeface="Calibri"/>
              <a:ea typeface="Calibri"/>
              <a:cs typeface="Calibri"/>
              <a:sym typeface="Calibri"/>
            </a:endParaRPr>
          </a:p>
        </p:txBody>
      </p:sp>
      <p:sp>
        <p:nvSpPr>
          <p:cNvPr id="207" name="Google Shape;207;p2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8" name="Google Shape;208;p2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09" name="Google Shape;209;p2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10" name="Google Shape;210;p2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System voucher</a:t>
            </a:r>
            <a:endParaRPr b="0" i="0" sz="1200" u="none" cap="none" strike="noStrike">
              <a:solidFill>
                <a:schemeClr val="dk1"/>
              </a:solidFill>
              <a:latin typeface="Calibri"/>
              <a:ea typeface="Calibri"/>
              <a:cs typeface="Calibri"/>
              <a:sym typeface="Calibri"/>
            </a:endParaRPr>
          </a:p>
        </p:txBody>
      </p:sp>
      <p:sp>
        <p:nvSpPr>
          <p:cNvPr id="211" name="Google Shape;211;p2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Auto-issued 3-hr voucher when C rated the CP 1-3 stars or said they don't want the same CP. It replaces the duration voucher. Never issue both.</a:t>
            </a:r>
            <a:endParaRPr b="0" i="0" sz="950" u="none" cap="none" strike="noStrike">
              <a:solidFill>
                <a:schemeClr val="dk1"/>
              </a:solidFill>
              <a:latin typeface="Calibri"/>
              <a:ea typeface="Calibri"/>
              <a:cs typeface="Calibri"/>
              <a:sym typeface="Calibri"/>
            </a:endParaRPr>
          </a:p>
        </p:txBody>
      </p:sp>
      <p:sp>
        <p:nvSpPr>
          <p:cNvPr id="212" name="Google Shape;212;p2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3" name="Google Shape;213;p2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4" name="Google Shape;214;p2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15" name="Google Shape;215;p2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 cancellation intent</a:t>
            </a:r>
            <a:endParaRPr b="0" i="0" sz="1200" u="none" cap="none" strike="noStrike">
              <a:solidFill>
                <a:schemeClr val="dk1"/>
              </a:solidFill>
              <a:latin typeface="Calibri"/>
              <a:ea typeface="Calibri"/>
              <a:cs typeface="Calibri"/>
              <a:sym typeface="Calibri"/>
            </a:endParaRPr>
          </a:p>
        </p:txBody>
      </p:sp>
      <p:sp>
        <p:nvSpPr>
          <p:cNvPr id="216" name="Google Shape;216;p2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Offers can still apply but none are automatic. Voucher or credit depends on the customer's emotion or hesitation to book again.</a:t>
            </a:r>
            <a:endParaRPr b="0" i="0" sz="950" u="none" cap="none" strike="noStrike">
              <a:solidFill>
                <a:schemeClr val="dk1"/>
              </a:solidFill>
              <a:latin typeface="Calibri"/>
              <a:ea typeface="Calibri"/>
              <a:cs typeface="Calibri"/>
              <a:sym typeface="Calibri"/>
            </a:endParaRPr>
          </a:p>
        </p:txBody>
      </p:sp>
      <p:sp>
        <p:nvSpPr>
          <p:cNvPr id="217" name="Google Shape;217;p2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8" name="Google Shape;218;p2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19" name="Google Shape;219;p2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20" name="Google Shape;220;p2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Free months and refunds</a:t>
            </a:r>
            <a:endParaRPr b="0" i="0" sz="1200" u="none" cap="none" strike="noStrike">
              <a:solidFill>
                <a:schemeClr val="dk1"/>
              </a:solidFill>
              <a:latin typeface="Calibri"/>
              <a:ea typeface="Calibri"/>
              <a:cs typeface="Calibri"/>
              <a:sym typeface="Calibri"/>
            </a:endParaRPr>
          </a:p>
        </p:txBody>
      </p:sp>
      <p:sp>
        <p:nvSpPr>
          <p:cNvPr id="221" name="Google Shape;221;p2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Free months for unused MFs only if those MFs are part of what bothers C. Admin refund only for the high usage, high loyalty profile.</a:t>
            </a:r>
            <a:endParaRPr b="0" i="0" sz="950" u="none" cap="none" strike="noStrike">
              <a:solidFill>
                <a:schemeClr val="dk1"/>
              </a:solidFill>
              <a:latin typeface="Calibri"/>
              <a:ea typeface="Calibri"/>
              <a:cs typeface="Calibri"/>
              <a:sym typeface="Calibri"/>
            </a:endParaRPr>
          </a:p>
        </p:txBody>
      </p:sp>
      <p:sp>
        <p:nvSpPr>
          <p:cNvPr id="222" name="Google Shape;222;p2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23" name="Google Shape;223;p2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24" name="Google Shape;224;p2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Always:</a:t>
            </a:r>
            <a:r>
              <a:rPr b="0" i="0" lang="en" sz="1000" u="none" cap="none" strike="noStrike">
                <a:solidFill>
                  <a:srgbClr val="1D1D1F"/>
                </a:solidFill>
                <a:latin typeface="Arial"/>
                <a:ea typeface="Arial"/>
                <a:cs typeface="Arial"/>
                <a:sym typeface="Arial"/>
              </a:rPr>
              <a:t>check for the system voucher before deciding what to offer or whether to mention the ETF waiver.</a:t>
            </a:r>
            <a:endParaRPr b="0" i="0" sz="1000" u="none" cap="none" strike="noStrike">
              <a:solidFill>
                <a:schemeClr val="dk1"/>
              </a:solidFill>
              <a:latin typeface="Calibri"/>
              <a:ea typeface="Calibri"/>
              <a:cs typeface="Calibri"/>
              <a:sym typeface="Calibri"/>
            </a:endParaRPr>
          </a:p>
        </p:txBody>
      </p:sp>
      <p:sp>
        <p:nvSpPr>
          <p:cNvPr id="225" name="Google Shape;225;p2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p2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231" name="Google Shape;231;p2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Within MCT</a:t>
            </a:r>
            <a:endParaRPr b="0" i="0" sz="2400" u="none" cap="none" strike="noStrike">
              <a:solidFill>
                <a:schemeClr val="dk1"/>
              </a:solidFill>
              <a:latin typeface="Calibri"/>
              <a:ea typeface="Calibri"/>
              <a:cs typeface="Calibri"/>
              <a:sym typeface="Calibri"/>
            </a:endParaRPr>
          </a:p>
        </p:txBody>
      </p:sp>
      <p:sp>
        <p:nvSpPr>
          <p:cNvPr id="232" name="Google Shape;232;p2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Offer, then exit strategy if needed.</a:t>
            </a:r>
            <a:endParaRPr b="0" i="0" sz="1200" u="none" cap="none" strike="noStrike">
              <a:solidFill>
                <a:schemeClr val="dk1"/>
              </a:solidFill>
              <a:latin typeface="Calibri"/>
              <a:ea typeface="Calibri"/>
              <a:cs typeface="Calibri"/>
              <a:sym typeface="Calibri"/>
            </a:endParaRPr>
          </a:p>
        </p:txBody>
      </p:sp>
      <p:sp>
        <p:nvSpPr>
          <p:cNvPr id="233" name="Google Shape;233;p2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4" name="Google Shape;234;p2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35" name="Google Shape;235;p2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36" name="Google Shape;236;p2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1  Offer the resolution</a:t>
            </a:r>
            <a:endParaRPr b="0" i="0" sz="1200" u="none" cap="none" strike="noStrike">
              <a:solidFill>
                <a:schemeClr val="dk1"/>
              </a:solidFill>
              <a:latin typeface="Calibri"/>
              <a:ea typeface="Calibri"/>
              <a:cs typeface="Calibri"/>
              <a:sym typeface="Calibri"/>
            </a:endParaRPr>
          </a:p>
        </p:txBody>
      </p:sp>
      <p:sp>
        <p:nvSpPr>
          <p:cNvPr id="237" name="Google Shape;237;p2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Voucher, free month per model, and the ETF-waiver spiel where the table says to.</a:t>
            </a:r>
            <a:endParaRPr b="0" i="0" sz="950" u="none" cap="none" strike="noStrike">
              <a:solidFill>
                <a:schemeClr val="dk1"/>
              </a:solidFill>
              <a:latin typeface="Calibri"/>
              <a:ea typeface="Calibri"/>
              <a:cs typeface="Calibri"/>
              <a:sym typeface="Calibri"/>
            </a:endParaRPr>
          </a:p>
        </p:txBody>
      </p:sp>
      <p:sp>
        <p:nvSpPr>
          <p:cNvPr id="238" name="Google Shape;238;p2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9" name="Google Shape;239;p2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0" name="Google Shape;240;p2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41" name="Google Shape;241;p2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2  They insist on cancelling free</a:t>
            </a:r>
            <a:endParaRPr b="0" i="0" sz="1200" u="none" cap="none" strike="noStrike">
              <a:solidFill>
                <a:schemeClr val="dk1"/>
              </a:solidFill>
              <a:latin typeface="Calibri"/>
              <a:ea typeface="Calibri"/>
              <a:cs typeface="Calibri"/>
              <a:sym typeface="Calibri"/>
            </a:endParaRPr>
          </a:p>
        </p:txBody>
      </p:sp>
      <p:sp>
        <p:nvSpPr>
          <p:cNvPr id="242" name="Google Shape;242;p2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Check whether all resolutions for the root cause were given. If not, provide them and keep trying. If yes, go to Exit Strategy.</a:t>
            </a:r>
            <a:endParaRPr b="0" i="0" sz="950" u="none" cap="none" strike="noStrike">
              <a:solidFill>
                <a:schemeClr val="dk1"/>
              </a:solidFill>
              <a:latin typeface="Calibri"/>
              <a:ea typeface="Calibri"/>
              <a:cs typeface="Calibri"/>
              <a:sym typeface="Calibri"/>
            </a:endParaRPr>
          </a:p>
        </p:txBody>
      </p:sp>
      <p:sp>
        <p:nvSpPr>
          <p:cNvPr id="243" name="Google Shape;243;p2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4" name="Google Shape;244;p2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5" name="Google Shape;245;p2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46" name="Google Shape;246;p2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3  Exit strategy</a:t>
            </a:r>
            <a:endParaRPr b="0" i="0" sz="1200" u="none" cap="none" strike="noStrike">
              <a:solidFill>
                <a:schemeClr val="dk1"/>
              </a:solidFill>
              <a:latin typeface="Calibri"/>
              <a:ea typeface="Calibri"/>
              <a:cs typeface="Calibri"/>
              <a:sym typeface="Calibri"/>
            </a:endParaRPr>
          </a:p>
        </p:txBody>
      </p:sp>
      <p:sp>
        <p:nvSpPr>
          <p:cNvPr id="247" name="Google Shape;247;p2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Compare ETF reduction (up to 50% off) with MCT reduction (up to 2 months). Pick the cheaper one for the customer.</a:t>
            </a:r>
            <a:endParaRPr b="0" i="0" sz="950" u="none" cap="none" strike="noStrike">
              <a:solidFill>
                <a:schemeClr val="dk1"/>
              </a:solidFill>
              <a:latin typeface="Calibri"/>
              <a:ea typeface="Calibri"/>
              <a:cs typeface="Calibri"/>
              <a:sym typeface="Calibri"/>
            </a:endParaRPr>
          </a:p>
        </p:txBody>
      </p:sp>
      <p:sp>
        <p:nvSpPr>
          <p:cNvPr id="248" name="Google Shape;248;p2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49" name="Google Shape;249;p2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50" name="Google Shape;250;p2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Before Graceful Closure:</a:t>
            </a:r>
            <a:r>
              <a:rPr b="0" i="0" lang="en" sz="1000" u="none" cap="none" strike="noStrike">
                <a:solidFill>
                  <a:srgbClr val="1D1D1F"/>
                </a:solidFill>
                <a:latin typeface="Arial"/>
                <a:ea typeface="Arial"/>
                <a:cs typeface="Arial"/>
                <a:sym typeface="Arial"/>
              </a:rPr>
              <a:t>max out the lever you chose. Graceful Closure is a one-way door: we tell C every option was checked, so nothing can be added back.</a:t>
            </a:r>
            <a:endParaRPr b="0" i="0" sz="1000" u="none" cap="none" strike="noStrike">
              <a:solidFill>
                <a:schemeClr val="dk1"/>
              </a:solidFill>
              <a:latin typeface="Calibri"/>
              <a:ea typeface="Calibri"/>
              <a:cs typeface="Calibri"/>
              <a:sym typeface="Calibri"/>
            </a:endParaRPr>
          </a:p>
        </p:txBody>
      </p:sp>
      <p:sp>
        <p:nvSpPr>
          <p:cNvPr id="251" name="Google Shape;251;p2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2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257" name="Google Shape;257;p2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Exit strategy levers</a:t>
            </a:r>
            <a:endParaRPr b="0" i="0" sz="2400" u="none" cap="none" strike="noStrike">
              <a:solidFill>
                <a:schemeClr val="dk1"/>
              </a:solidFill>
              <a:latin typeface="Calibri"/>
              <a:ea typeface="Calibri"/>
              <a:cs typeface="Calibri"/>
              <a:sym typeface="Calibri"/>
            </a:endParaRPr>
          </a:p>
        </p:txBody>
      </p:sp>
      <p:sp>
        <p:nvSpPr>
          <p:cNvPr id="258" name="Google Shape;258;p2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Choose whichever costs the customer less.</a:t>
            </a:r>
            <a:endParaRPr b="0" i="0" sz="1200" u="none" cap="none" strike="noStrike">
              <a:solidFill>
                <a:schemeClr val="dk1"/>
              </a:solidFill>
              <a:latin typeface="Calibri"/>
              <a:ea typeface="Calibri"/>
              <a:cs typeface="Calibri"/>
              <a:sym typeface="Calibri"/>
            </a:endParaRPr>
          </a:p>
        </p:txBody>
      </p:sp>
      <p:graphicFrame>
        <p:nvGraphicFramePr>
          <p:cNvPr id="259" name="Google Shape;259;p26"/>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Lever</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How it works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MCT reduction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Up to 2 months, ideally start with 1. If 2 months would finish the MCT and waive the ETF entirely, cap it at 1. 4 of 6 months done: offer 1. 2 of 6 done: the full 2 applies.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ETF reduction</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Maximum 50% off. We never discount the ETF itself, because it is fair compensation to the CP. See Understanding Offer Logic for what can be deducted (MF, voucher, additional hours).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Which is cheaper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Usually ETF reduction. MCT reduction wins when C is a few months in and the ETF is more than $105.</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60" name="Google Shape;260;p2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sp>
        <p:nvSpPr>
          <p:cNvPr id="265" name="Google Shape;265;p27"/>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266" name="Google Shape;266;p27"/>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Beyond MCT</a:t>
            </a:r>
            <a:endParaRPr b="0" i="0" sz="2400" u="none" cap="none" strike="noStrike">
              <a:solidFill>
                <a:schemeClr val="dk1"/>
              </a:solidFill>
              <a:latin typeface="Calibri"/>
              <a:ea typeface="Calibri"/>
              <a:cs typeface="Calibri"/>
              <a:sym typeface="Calibri"/>
            </a:endParaRPr>
          </a:p>
        </p:txBody>
      </p:sp>
      <p:sp>
        <p:nvSpPr>
          <p:cNvPr id="267" name="Google Shape;267;p27"/>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There is no ETF exposure, so retainability decides.</a:t>
            </a:r>
            <a:endParaRPr b="0" i="0" sz="1200" u="none" cap="none" strike="noStrike">
              <a:solidFill>
                <a:schemeClr val="dk1"/>
              </a:solidFill>
              <a:latin typeface="Calibri"/>
              <a:ea typeface="Calibri"/>
              <a:cs typeface="Calibri"/>
              <a:sym typeface="Calibri"/>
            </a:endParaRPr>
          </a:p>
        </p:txBody>
      </p:sp>
      <p:sp>
        <p:nvSpPr>
          <p:cNvPr id="268" name="Google Shape;268;p27"/>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9" name="Google Shape;269;p27"/>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0" name="Google Shape;270;p27"/>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271" name="Google Shape;271;p27"/>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Assess retainability</a:t>
            </a:r>
            <a:endParaRPr b="0" i="0" sz="1200" u="none" cap="none" strike="noStrike">
              <a:solidFill>
                <a:schemeClr val="dk1"/>
              </a:solidFill>
              <a:latin typeface="Calibri"/>
              <a:ea typeface="Calibri"/>
              <a:cs typeface="Calibri"/>
              <a:sym typeface="Calibri"/>
            </a:endParaRPr>
          </a:p>
        </p:txBody>
      </p:sp>
      <p:sp>
        <p:nvSpPr>
          <p:cNvPr id="272" name="Google Shape;272;p27"/>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Use the General Retention Playbook Five Key Factors. Weigh what is actually present, not a factor count.</a:t>
            </a:r>
            <a:endParaRPr b="0" i="0" sz="950" u="none" cap="none" strike="noStrike">
              <a:solidFill>
                <a:schemeClr val="dk1"/>
              </a:solidFill>
              <a:latin typeface="Calibri"/>
              <a:ea typeface="Calibri"/>
              <a:cs typeface="Calibri"/>
              <a:sym typeface="Calibri"/>
            </a:endParaRPr>
          </a:p>
        </p:txBody>
      </p:sp>
      <p:sp>
        <p:nvSpPr>
          <p:cNvPr id="273" name="Google Shape;273;p27"/>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4" name="Google Shape;274;p27"/>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75" name="Google Shape;275;p27"/>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276" name="Google Shape;276;p27"/>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retainable</a:t>
            </a:r>
            <a:endParaRPr b="0" i="0" sz="1200" u="none" cap="none" strike="noStrike">
              <a:solidFill>
                <a:schemeClr val="dk1"/>
              </a:solidFill>
              <a:latin typeface="Calibri"/>
              <a:ea typeface="Calibri"/>
              <a:cs typeface="Calibri"/>
              <a:sym typeface="Calibri"/>
            </a:endParaRPr>
          </a:p>
        </p:txBody>
      </p:sp>
      <p:sp>
        <p:nvSpPr>
          <p:cNvPr id="277" name="Google Shape;277;p27"/>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Cancel FC and close the interaction positively.</a:t>
            </a:r>
            <a:endParaRPr b="0" i="0" sz="950" u="none" cap="none" strike="noStrike">
              <a:solidFill>
                <a:schemeClr val="dk1"/>
              </a:solidFill>
              <a:latin typeface="Calibri"/>
              <a:ea typeface="Calibri"/>
              <a:cs typeface="Calibri"/>
              <a:sym typeface="Calibri"/>
            </a:endParaRPr>
          </a:p>
        </p:txBody>
      </p:sp>
      <p:sp>
        <p:nvSpPr>
          <p:cNvPr id="278" name="Google Shape;278;p27"/>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79" name="Google Shape;279;p27"/>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0" name="Google Shape;280;p27"/>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281" name="Google Shape;281;p27"/>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Retainable</a:t>
            </a:r>
            <a:endParaRPr b="0" i="0" sz="1200" u="none" cap="none" strike="noStrike">
              <a:solidFill>
                <a:schemeClr val="dk1"/>
              </a:solidFill>
              <a:latin typeface="Calibri"/>
              <a:ea typeface="Calibri"/>
              <a:cs typeface="Calibri"/>
              <a:sym typeface="Calibri"/>
            </a:endParaRPr>
          </a:p>
        </p:txBody>
      </p:sp>
      <p:sp>
        <p:nvSpPr>
          <p:cNvPr id="282" name="Google Shape;282;p27"/>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Same offer table. Confirm no further MF will be charged unless they agree. Unused paid MFs become free months (not more than asked, not more than 3).</a:t>
            </a:r>
            <a:endParaRPr b="0" i="0" sz="950" u="none" cap="none" strike="noStrike">
              <a:solidFill>
                <a:schemeClr val="dk1"/>
              </a:solidFill>
              <a:latin typeface="Calibri"/>
              <a:ea typeface="Calibri"/>
              <a:cs typeface="Calibri"/>
              <a:sym typeface="Calibri"/>
            </a:endParaRPr>
          </a:p>
        </p:txBody>
      </p:sp>
      <p:sp>
        <p:nvSpPr>
          <p:cNvPr id="283" name="Google Shape;283;p27"/>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284" name="Google Shape;284;p27"/>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285" name="Google Shape;285;p27"/>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Timed Reminder:</a:t>
            </a:r>
            <a:r>
              <a:rPr b="0" i="0" lang="en" sz="1000" u="none" cap="none" strike="noStrike">
                <a:solidFill>
                  <a:srgbClr val="1D1D1F"/>
                </a:solidFill>
                <a:latin typeface="Arial"/>
                <a:ea typeface="Arial"/>
                <a:cs typeface="Arial"/>
                <a:sym typeface="Arial"/>
              </a:rPr>
              <a:t>if the next MF is more than 5 days away, set it for at least 3 days before that MF date. If it is 5 days or less, give 1 free month first, then set it 3 days before the new MF date.</a:t>
            </a:r>
            <a:endParaRPr b="0" i="0" sz="1000" u="none" cap="none" strike="noStrike">
              <a:solidFill>
                <a:schemeClr val="dk1"/>
              </a:solidFill>
              <a:latin typeface="Calibri"/>
              <a:ea typeface="Calibri"/>
              <a:cs typeface="Calibri"/>
              <a:sym typeface="Calibri"/>
            </a:endParaRPr>
          </a:p>
        </p:txBody>
      </p:sp>
      <p:sp>
        <p:nvSpPr>
          <p:cNvPr id="286" name="Google Shape;286;p2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0" name="Shape 290"/>
        <p:cNvGrpSpPr/>
        <p:nvPr/>
      </p:nvGrpSpPr>
      <p:grpSpPr>
        <a:xfrm>
          <a:off x="0" y="0"/>
          <a:ext cx="0" cy="0"/>
          <a:chOff x="0" y="0"/>
          <a:chExt cx="0" cy="0"/>
        </a:xfrm>
      </p:grpSpPr>
      <p:sp>
        <p:nvSpPr>
          <p:cNvPr id="291" name="Google Shape;291;p2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PCQ RETENTION PLAYBOOK</a:t>
            </a:r>
            <a:endParaRPr b="0" i="0" sz="800" u="none" cap="none" strike="noStrike">
              <a:solidFill>
                <a:schemeClr val="dk1"/>
              </a:solidFill>
              <a:latin typeface="Calibri"/>
              <a:ea typeface="Calibri"/>
              <a:cs typeface="Calibri"/>
              <a:sym typeface="Calibri"/>
            </a:endParaRPr>
          </a:p>
        </p:txBody>
      </p:sp>
      <p:sp>
        <p:nvSpPr>
          <p:cNvPr id="292" name="Google Shape;292;p2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When the Timed Reminder triggers</a:t>
            </a:r>
            <a:endParaRPr b="0" i="0" sz="2400" u="none" cap="none" strike="noStrike">
              <a:solidFill>
                <a:schemeClr val="dk1"/>
              </a:solidFill>
              <a:latin typeface="Calibri"/>
              <a:ea typeface="Calibri"/>
              <a:cs typeface="Calibri"/>
              <a:sym typeface="Calibri"/>
            </a:endParaRPr>
          </a:p>
        </p:txBody>
      </p:sp>
      <p:sp>
        <p:nvSpPr>
          <p:cNvPr id="293" name="Google Shape;293;p2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Used in every beyond-MCT branch.</a:t>
            </a:r>
            <a:endParaRPr b="0" i="0" sz="1200" u="none" cap="none" strike="noStrike">
              <a:solidFill>
                <a:schemeClr val="dk1"/>
              </a:solidFill>
              <a:latin typeface="Calibri"/>
              <a:ea typeface="Calibri"/>
              <a:cs typeface="Calibri"/>
              <a:sym typeface="Calibri"/>
            </a:endParaRPr>
          </a:p>
        </p:txBody>
      </p:sp>
      <p:graphicFrame>
        <p:nvGraphicFramePr>
          <p:cNvPr id="294" name="Google Shape;294;p28"/>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300000"/>
                <a:gridCol w="602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Action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Next MF more than 5 days away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Set the Timed Reminder for at least 3 days before that MF date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Next MF 5 days or less away</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Give 1 free month, then set the Timed Reminder at least 3 days before the new MF date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Triggered: no reply, no engagement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Cancel FC. The auto comms are enough unless there is an unresolved pain point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Triggered: no reply but C is using the service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Don't cancel. Contact C to confirm. Push the due date out 1-2 weeks and set a new reminder 3 days before it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295" name="Google Shape;295;p2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29"/>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301" name="Google Shape;301;p29"/>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302" name="Google Shape;302;p29"/>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303" name="Google Shape;303;p29"/>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4" name="Google Shape;304;p29"/>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305" name="Google Shape;305;p29"/>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306" name="Google Shape;306;p29"/>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7" name="Google Shape;307;p29"/>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8" name="Google Shape;308;p29"/>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9" name="Google Shape;309;p29"/>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0" name="Google Shape;310;p29"/>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1" name="Google Shape;311;p29"/>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29"/>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sp>
        <p:nvSpPr>
          <p:cNvPr id="317" name="Google Shape;317;p30"/>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02</a:t>
            </a:r>
            <a:endParaRPr b="0" i="0" sz="800" u="none" cap="none" strike="noStrike">
              <a:solidFill>
                <a:schemeClr val="dk1"/>
              </a:solidFill>
              <a:latin typeface="Calibri"/>
              <a:ea typeface="Calibri"/>
              <a:cs typeface="Calibri"/>
              <a:sym typeface="Calibri"/>
            </a:endParaRPr>
          </a:p>
        </p:txBody>
      </p:sp>
      <p:sp>
        <p:nvSpPr>
          <p:cNvPr id="318" name="Google Shape;318;p30"/>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Service Reliability Retention Playbook</a:t>
            </a:r>
            <a:endParaRPr b="0" i="0" sz="2800" u="none" cap="none" strike="noStrike">
              <a:solidFill>
                <a:schemeClr val="dk1"/>
              </a:solidFill>
              <a:latin typeface="Calibri"/>
              <a:ea typeface="Calibri"/>
              <a:cs typeface="Calibri"/>
              <a:sym typeface="Calibri"/>
            </a:endParaRPr>
          </a:p>
        </p:txBody>
      </p:sp>
      <p:sp>
        <p:nvSpPr>
          <p:cNvPr id="319" name="Google Shape;319;p30"/>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to do when a CP failure, not a bad cleaning, leads a customer to want to cancel.</a:t>
            </a:r>
            <a:endParaRPr b="0" i="0" sz="1150" u="none" cap="none" strike="noStrike">
              <a:solidFill>
                <a:schemeClr val="dk1"/>
              </a:solidFill>
              <a:latin typeface="Calibri"/>
              <a:ea typeface="Calibri"/>
              <a:cs typeface="Calibri"/>
              <a:sym typeface="Calibri"/>
            </a:endParaRPr>
          </a:p>
        </p:txBody>
      </p:sp>
      <p:sp>
        <p:nvSpPr>
          <p:cNvPr id="320" name="Google Shape;320;p30"/>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321" name="Google Shape;321;p30"/>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2" name="Google Shape;322;p30"/>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323" name="Google Shape;323;p30"/>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What counts as a reliability failure</a:t>
            </a:r>
            <a:endParaRPr b="0" i="0" sz="1050" u="none" cap="none" strike="noStrike">
              <a:solidFill>
                <a:schemeClr val="dk1"/>
              </a:solidFill>
              <a:latin typeface="Calibri"/>
              <a:ea typeface="Calibri"/>
              <a:cs typeface="Calibri"/>
              <a:sym typeface="Calibri"/>
            </a:endParaRPr>
          </a:p>
        </p:txBody>
      </p:sp>
      <p:sp>
        <p:nvSpPr>
          <p:cNvPr id="324" name="Google Shape;324;p30"/>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5" name="Google Shape;325;p30"/>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326" name="Google Shape;326;p30"/>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Credits and free months</a:t>
            </a:r>
            <a:endParaRPr b="0" i="0" sz="1050" u="none" cap="none" strike="noStrike">
              <a:solidFill>
                <a:schemeClr val="dk1"/>
              </a:solidFill>
              <a:latin typeface="Calibri"/>
              <a:ea typeface="Calibri"/>
              <a:cs typeface="Calibri"/>
              <a:sym typeface="Calibri"/>
            </a:endParaRPr>
          </a:p>
        </p:txBody>
      </p:sp>
      <p:sp>
        <p:nvSpPr>
          <p:cNvPr id="327" name="Google Shape;327;p30"/>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28" name="Google Shape;328;p30"/>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329" name="Google Shape;329;p30"/>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ETF applies</a:t>
            </a:r>
            <a:endParaRPr b="0" i="0" sz="1050" u="none" cap="none" strike="noStrike">
              <a:solidFill>
                <a:schemeClr val="dk1"/>
              </a:solidFill>
              <a:latin typeface="Calibri"/>
              <a:ea typeface="Calibri"/>
              <a:cs typeface="Calibri"/>
              <a:sym typeface="Calibri"/>
            </a:endParaRPr>
          </a:p>
        </p:txBody>
      </p:sp>
      <p:sp>
        <p:nvSpPr>
          <p:cNvPr id="330" name="Google Shape;330;p30"/>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31" name="Google Shape;331;p30"/>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332" name="Google Shape;332;p30"/>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When ETF does not apply</a:t>
            </a:r>
            <a:endParaRPr b="0" i="0" sz="1050" u="none" cap="none" strike="noStrike">
              <a:solidFill>
                <a:schemeClr val="dk1"/>
              </a:solidFill>
              <a:latin typeface="Calibri"/>
              <a:ea typeface="Calibri"/>
              <a:cs typeface="Calibri"/>
              <a:sym typeface="Calibri"/>
            </a:endParaRPr>
          </a:p>
        </p:txBody>
      </p:sp>
      <p:sp>
        <p:nvSpPr>
          <p:cNvPr id="333" name="Google Shape;333;p30"/>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4" name="Google Shape;334;p30"/>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335" name="Google Shape;335;p30"/>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336" name="Google Shape;336;p30"/>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7" name="Google Shape;337;p30"/>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8" name="Google Shape;338;p30"/>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9" name="Google Shape;339;p30"/>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0" name="Google Shape;340;p30"/>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1" name="Google Shape;341;p30"/>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2" name="Google Shape;342;p3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sp>
        <p:nvSpPr>
          <p:cNvPr id="347" name="Google Shape;347;p3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SERVICE RELIABILITY</a:t>
            </a:r>
            <a:endParaRPr b="0" i="0" sz="800" u="none" cap="none" strike="noStrike">
              <a:solidFill>
                <a:schemeClr val="dk1"/>
              </a:solidFill>
              <a:latin typeface="Calibri"/>
              <a:ea typeface="Calibri"/>
              <a:cs typeface="Calibri"/>
              <a:sym typeface="Calibri"/>
            </a:endParaRPr>
          </a:p>
        </p:txBody>
      </p:sp>
      <p:sp>
        <p:nvSpPr>
          <p:cNvPr id="348" name="Google Shape;348;p3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349" name="Google Shape;349;p3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Cancellation intent after a single reliability issue job.</a:t>
            </a:r>
            <a:endParaRPr b="0" i="0" sz="1200" u="none" cap="none" strike="noStrike">
              <a:solidFill>
                <a:schemeClr val="dk1"/>
              </a:solidFill>
              <a:latin typeface="Calibri"/>
              <a:ea typeface="Calibri"/>
              <a:cs typeface="Calibri"/>
              <a:sym typeface="Calibri"/>
            </a:endParaRPr>
          </a:p>
        </p:txBody>
      </p:sp>
      <p:sp>
        <p:nvSpPr>
          <p:cNvPr id="350" name="Google Shape;350;p31"/>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1" name="Google Shape;351;p31"/>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2" name="Google Shape;352;p31"/>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353" name="Google Shape;353;p31"/>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Four triggers</a:t>
            </a:r>
            <a:endParaRPr b="0" i="0" sz="1200" u="none" cap="none" strike="noStrike">
              <a:solidFill>
                <a:schemeClr val="dk1"/>
              </a:solidFill>
              <a:latin typeface="Calibri"/>
              <a:ea typeface="Calibri"/>
              <a:cs typeface="Calibri"/>
              <a:sym typeface="Calibri"/>
            </a:endParaRPr>
          </a:p>
        </p:txBody>
      </p:sp>
      <p:sp>
        <p:nvSpPr>
          <p:cNvPr id="354" name="Google Shape;354;p31"/>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 CP Claim, CP No-Show, CP Cancellation/LMC, or a CP being late.</a:t>
            </a:r>
            <a:endParaRPr b="0" i="0" sz="950" u="none" cap="none" strike="noStrike">
              <a:solidFill>
                <a:schemeClr val="dk1"/>
              </a:solidFill>
              <a:latin typeface="Calibri"/>
              <a:ea typeface="Calibri"/>
              <a:cs typeface="Calibri"/>
              <a:sym typeface="Calibri"/>
            </a:endParaRPr>
          </a:p>
        </p:txBody>
      </p:sp>
      <p:sp>
        <p:nvSpPr>
          <p:cNvPr id="355" name="Google Shape;355;p31"/>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6" name="Google Shape;356;p31"/>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57" name="Google Shape;357;p31"/>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358" name="Google Shape;358;p31"/>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Single issue job only</a:t>
            </a:r>
            <a:endParaRPr b="0" i="0" sz="1200" u="none" cap="none" strike="noStrike">
              <a:solidFill>
                <a:schemeClr val="dk1"/>
              </a:solidFill>
              <a:latin typeface="Calibri"/>
              <a:ea typeface="Calibri"/>
              <a:cs typeface="Calibri"/>
              <a:sym typeface="Calibri"/>
            </a:endParaRPr>
          </a:p>
        </p:txBody>
      </p:sp>
      <p:sp>
        <p:nvSpPr>
          <p:cNvPr id="359" name="Google Shape;359;p31"/>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Two consecutive Service Reliability issue jobs: use the Two Consecutive Issue Jobs article instead.</a:t>
            </a:r>
            <a:endParaRPr b="0" i="0" sz="950" u="none" cap="none" strike="noStrike">
              <a:solidFill>
                <a:schemeClr val="dk1"/>
              </a:solidFill>
              <a:latin typeface="Calibri"/>
              <a:ea typeface="Calibri"/>
              <a:cs typeface="Calibri"/>
              <a:sym typeface="Calibri"/>
            </a:endParaRPr>
          </a:p>
        </p:txBody>
      </p:sp>
      <p:sp>
        <p:nvSpPr>
          <p:cNvPr id="360" name="Google Shape;360;p31"/>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61" name="Google Shape;361;p31"/>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2" name="Google Shape;362;p31"/>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363" name="Google Shape;363;p31"/>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Different from PCQ</a:t>
            </a:r>
            <a:endParaRPr b="0" i="0" sz="1200" u="none" cap="none" strike="noStrike">
              <a:solidFill>
                <a:schemeClr val="dk1"/>
              </a:solidFill>
              <a:latin typeface="Calibri"/>
              <a:ea typeface="Calibri"/>
              <a:cs typeface="Calibri"/>
              <a:sym typeface="Calibri"/>
            </a:endParaRPr>
          </a:p>
        </p:txBody>
      </p:sp>
      <p:sp>
        <p:nvSpPr>
          <p:cNvPr id="364" name="Google Shape;364;p31"/>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PCQ asks if the cleaning was good. Reliability asks if the customer got the cleaning they were promised, on the terms promised.</a:t>
            </a:r>
            <a:endParaRPr b="0" i="0" sz="950" u="none" cap="none" strike="noStrike">
              <a:solidFill>
                <a:schemeClr val="dk1"/>
              </a:solidFill>
              <a:latin typeface="Calibri"/>
              <a:ea typeface="Calibri"/>
              <a:cs typeface="Calibri"/>
              <a:sym typeface="Calibri"/>
            </a:endParaRPr>
          </a:p>
        </p:txBody>
      </p:sp>
      <p:sp>
        <p:nvSpPr>
          <p:cNvPr id="365" name="Google Shape;365;p31"/>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66" name="Google Shape;366;p31"/>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367" name="Google Shape;367;p31"/>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Same logic:</a:t>
            </a:r>
            <a:r>
              <a:rPr b="0" i="0" lang="en" sz="1000" u="none" cap="none" strike="noStrike">
                <a:solidFill>
                  <a:srgbClr val="1D1D1F"/>
                </a:solidFill>
                <a:latin typeface="Arial"/>
                <a:ea typeface="Arial"/>
                <a:cs typeface="Arial"/>
                <a:sym typeface="Arial"/>
              </a:rPr>
              <a:t>free months and credits work the same across all four triggers. Late has a wider credit band ($10-25).</a:t>
            </a:r>
            <a:endParaRPr b="0" i="0" sz="1000" u="none" cap="none" strike="noStrike">
              <a:solidFill>
                <a:schemeClr val="dk1"/>
              </a:solidFill>
              <a:latin typeface="Calibri"/>
              <a:ea typeface="Calibri"/>
              <a:cs typeface="Calibri"/>
              <a:sym typeface="Calibri"/>
            </a:endParaRPr>
          </a:p>
        </p:txBody>
      </p:sp>
      <p:sp>
        <p:nvSpPr>
          <p:cNvPr id="368" name="Google Shape;368;p3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3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SERVICE RELIABILITY</a:t>
            </a:r>
            <a:endParaRPr b="0" i="0" sz="800" u="none" cap="none" strike="noStrike">
              <a:solidFill>
                <a:schemeClr val="dk1"/>
              </a:solidFill>
              <a:latin typeface="Calibri"/>
              <a:ea typeface="Calibri"/>
              <a:cs typeface="Calibri"/>
              <a:sym typeface="Calibri"/>
            </a:endParaRPr>
          </a:p>
        </p:txBody>
      </p:sp>
      <p:sp>
        <p:nvSpPr>
          <p:cNvPr id="374" name="Google Shape;374;p3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Resolution for CP issues</a:t>
            </a:r>
            <a:endParaRPr b="0" i="0" sz="2400" u="none" cap="none" strike="noStrike">
              <a:solidFill>
                <a:schemeClr val="dk1"/>
              </a:solidFill>
              <a:latin typeface="Calibri"/>
              <a:ea typeface="Calibri"/>
              <a:cs typeface="Calibri"/>
              <a:sym typeface="Calibri"/>
            </a:endParaRPr>
          </a:p>
        </p:txBody>
      </p:sp>
      <p:sp>
        <p:nvSpPr>
          <p:cNvPr id="375" name="Google Shape;375;p3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No CP Claim, No-Show, Cancellation/LMC or Late.</a:t>
            </a:r>
            <a:endParaRPr b="0" i="0" sz="1200" u="none" cap="none" strike="noStrike">
              <a:solidFill>
                <a:schemeClr val="dk1"/>
              </a:solidFill>
              <a:latin typeface="Calibri"/>
              <a:ea typeface="Calibri"/>
              <a:cs typeface="Calibri"/>
              <a:sym typeface="Calibri"/>
            </a:endParaRPr>
          </a:p>
        </p:txBody>
      </p:sp>
      <p:graphicFrame>
        <p:nvGraphicFramePr>
          <p:cNvPr id="376" name="Google Shape;376;p32"/>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Situation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Credits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Free month(s)</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Non-FC member</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$10-20 (encourage booking)</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None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FCF, no completed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None (free or discounted cleaning already available)</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Unused MFs first. Else 1 month if next MF is within 2 weeks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FCF, with completed job</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$10-20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Unused MFs first. Else 1 month if next MF within 2 weeks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Unused Legacy DHJ</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$10-20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None, FC hasn't started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Legacy DHJ, FC started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$10-20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Unused MFs first. Else 1 month if next MF within 1 week</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CP Late (all cases)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$10-25</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FCF: 2 weeks. DHJ: 1 week. Unused MFs first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377" name="Google Shape;377;p32"/>
          <p:cNvSpPr/>
          <p:nvPr/>
        </p:nvSpPr>
        <p:spPr>
          <a:xfrm>
            <a:off x="411480" y="367949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78" name="Google Shape;378;p32"/>
          <p:cNvPicPr preferRelativeResize="0"/>
          <p:nvPr/>
        </p:nvPicPr>
        <p:blipFill rotWithShape="1">
          <a:blip r:embed="rId3">
            <a:alphaModFix/>
          </a:blip>
          <a:srcRect b="0" l="0" r="0" t="0"/>
          <a:stretch/>
        </p:blipFill>
        <p:spPr>
          <a:xfrm>
            <a:off x="566928" y="3789218"/>
            <a:ext cx="164592" cy="164592"/>
          </a:xfrm>
          <a:prstGeom prst="rect">
            <a:avLst/>
          </a:prstGeom>
          <a:noFill/>
          <a:ln>
            <a:noFill/>
          </a:ln>
        </p:spPr>
      </p:pic>
      <p:sp>
        <p:nvSpPr>
          <p:cNvPr id="379" name="Google Shape;379;p32"/>
          <p:cNvSpPr txBox="1"/>
          <p:nvPr/>
        </p:nvSpPr>
        <p:spPr>
          <a:xfrm>
            <a:off x="822960" y="378007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Cap:</a:t>
            </a:r>
            <a:r>
              <a:rPr b="0" i="0" lang="en" sz="1000" u="none" cap="none" strike="noStrike">
                <a:solidFill>
                  <a:srgbClr val="1D1D1F"/>
                </a:solidFill>
                <a:latin typeface="Arial"/>
                <a:ea typeface="Arial"/>
                <a:cs typeface="Arial"/>
                <a:sym typeface="Arial"/>
              </a:rPr>
              <a:t>free months for unused MFs are never more than asked and never more than 3 total.</a:t>
            </a:r>
            <a:endParaRPr b="0" i="0" sz="1000" u="none" cap="none" strike="noStrike">
              <a:solidFill>
                <a:schemeClr val="dk1"/>
              </a:solidFill>
              <a:latin typeface="Calibri"/>
              <a:ea typeface="Calibri"/>
              <a:cs typeface="Calibri"/>
              <a:sym typeface="Calibri"/>
            </a:endParaRPr>
          </a:p>
        </p:txBody>
      </p:sp>
      <p:sp>
        <p:nvSpPr>
          <p:cNvPr id="380" name="Google Shape;380;p3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3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SERVICE RELIABILITY</a:t>
            </a:r>
            <a:endParaRPr b="0" i="0" sz="800" u="none" cap="none" strike="noStrike">
              <a:solidFill>
                <a:schemeClr val="dk1"/>
              </a:solidFill>
              <a:latin typeface="Calibri"/>
              <a:ea typeface="Calibri"/>
              <a:cs typeface="Calibri"/>
              <a:sym typeface="Calibri"/>
            </a:endParaRPr>
          </a:p>
        </p:txBody>
      </p:sp>
      <p:sp>
        <p:nvSpPr>
          <p:cNvPr id="386" name="Google Shape;386;p3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Free months: when to offer</a:t>
            </a:r>
            <a:endParaRPr b="0" i="0" sz="2400" u="none" cap="none" strike="noStrike">
              <a:solidFill>
                <a:schemeClr val="dk1"/>
              </a:solidFill>
              <a:latin typeface="Calibri"/>
              <a:ea typeface="Calibri"/>
              <a:cs typeface="Calibri"/>
              <a:sym typeface="Calibri"/>
            </a:endParaRPr>
          </a:p>
        </p:txBody>
      </p:sp>
      <p:sp>
        <p:nvSpPr>
          <p:cNvPr id="387" name="Google Shape;387;p3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Optional, and not something to lead with.</a:t>
            </a:r>
            <a:endParaRPr b="0" i="0" sz="1200" u="none" cap="none" strike="noStrike">
              <a:solidFill>
                <a:schemeClr val="dk1"/>
              </a:solidFill>
              <a:latin typeface="Calibri"/>
              <a:ea typeface="Calibri"/>
              <a:cs typeface="Calibri"/>
              <a:sym typeface="Calibri"/>
            </a:endParaRPr>
          </a:p>
        </p:txBody>
      </p:sp>
      <p:sp>
        <p:nvSpPr>
          <p:cNvPr id="388" name="Google Shape;388;p33"/>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89" name="Google Shape;389;p33"/>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0" name="Google Shape;390;p33"/>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391" name="Google Shape;391;p33"/>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mandatory</a:t>
            </a:r>
            <a:endParaRPr b="0" i="0" sz="1200" u="none" cap="none" strike="noStrike">
              <a:solidFill>
                <a:schemeClr val="dk1"/>
              </a:solidFill>
              <a:latin typeface="Calibri"/>
              <a:ea typeface="Calibri"/>
              <a:cs typeface="Calibri"/>
              <a:sym typeface="Calibri"/>
            </a:endParaRPr>
          </a:p>
        </p:txBody>
      </p:sp>
      <p:sp>
        <p:nvSpPr>
          <p:cNvPr id="392" name="Google Shape;392;p33"/>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Free months won't fail QA either way.</a:t>
            </a:r>
            <a:endParaRPr b="0" i="0" sz="950" u="none" cap="none" strike="noStrike">
              <a:solidFill>
                <a:schemeClr val="dk1"/>
              </a:solidFill>
              <a:latin typeface="Calibri"/>
              <a:ea typeface="Calibri"/>
              <a:cs typeface="Calibri"/>
              <a:sym typeface="Calibri"/>
            </a:endParaRPr>
          </a:p>
        </p:txBody>
      </p:sp>
      <p:sp>
        <p:nvSpPr>
          <p:cNvPr id="393" name="Google Shape;393;p33"/>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4" name="Google Shape;394;p33"/>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395" name="Google Shape;395;p33"/>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396" name="Google Shape;396;p33"/>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Hold off by default</a:t>
            </a:r>
            <a:endParaRPr b="0" i="0" sz="1200" u="none" cap="none" strike="noStrike">
              <a:solidFill>
                <a:schemeClr val="dk1"/>
              </a:solidFill>
              <a:latin typeface="Calibri"/>
              <a:ea typeface="Calibri"/>
              <a:cs typeface="Calibri"/>
              <a:sym typeface="Calibri"/>
            </a:endParaRPr>
          </a:p>
        </p:txBody>
      </p:sp>
      <p:sp>
        <p:nvSpPr>
          <p:cNvPr id="397" name="Google Shape;397;p33"/>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Offer only with cancellation intent, or if C brings up the unused months. Next MF within 2 weeks alone is not a reason.</a:t>
            </a:r>
            <a:endParaRPr b="0" i="0" sz="950" u="none" cap="none" strike="noStrike">
              <a:solidFill>
                <a:schemeClr val="dk1"/>
              </a:solidFill>
              <a:latin typeface="Calibri"/>
              <a:ea typeface="Calibri"/>
              <a:cs typeface="Calibri"/>
              <a:sym typeface="Calibri"/>
            </a:endParaRPr>
          </a:p>
        </p:txBody>
      </p:sp>
      <p:sp>
        <p:nvSpPr>
          <p:cNvPr id="398" name="Google Shape;398;p33"/>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9" name="Google Shape;399;p33"/>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0" name="Google Shape;400;p33"/>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401" name="Google Shape;401;p33"/>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Always do</a:t>
            </a:r>
            <a:endParaRPr b="0" i="0" sz="1200" u="none" cap="none" strike="noStrike">
              <a:solidFill>
                <a:schemeClr val="dk1"/>
              </a:solidFill>
              <a:latin typeface="Calibri"/>
              <a:ea typeface="Calibri"/>
              <a:cs typeface="Calibri"/>
              <a:sym typeface="Calibri"/>
            </a:endParaRPr>
          </a:p>
        </p:txBody>
      </p:sp>
      <p:sp>
        <p:nvSpPr>
          <p:cNvPr id="402" name="Google Shape;402;p33"/>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Block the C/CP pairing and coach or penalize the CP, in every case.</a:t>
            </a:r>
            <a:endParaRPr b="0" i="0" sz="950" u="none" cap="none" strike="noStrike">
              <a:solidFill>
                <a:schemeClr val="dk1"/>
              </a:solidFill>
              <a:latin typeface="Calibri"/>
              <a:ea typeface="Calibri"/>
              <a:cs typeface="Calibri"/>
              <a:sym typeface="Calibri"/>
            </a:endParaRPr>
          </a:p>
        </p:txBody>
      </p:sp>
      <p:sp>
        <p:nvSpPr>
          <p:cNvPr id="403" name="Google Shape;403;p33"/>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04" name="Google Shape;404;p33"/>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405" name="Google Shape;405;p33"/>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Fine either way:</a:t>
            </a:r>
            <a:r>
              <a:rPr b="0" i="0" lang="en" sz="1000" u="none" cap="none" strike="noStrike">
                <a:solidFill>
                  <a:srgbClr val="1D1D1F"/>
                </a:solidFill>
                <a:latin typeface="Arial"/>
                <a:ea typeface="Arial"/>
                <a:cs typeface="Arial"/>
                <a:sym typeface="Arial"/>
              </a:rPr>
              <a:t>if an agent offers the free month anyway, that is fine. It just isn't the opener.</a:t>
            </a:r>
            <a:endParaRPr b="0" i="0" sz="1000" u="none" cap="none" strike="noStrike">
              <a:solidFill>
                <a:schemeClr val="dk1"/>
              </a:solidFill>
              <a:latin typeface="Calibri"/>
              <a:ea typeface="Calibri"/>
              <a:cs typeface="Calibri"/>
              <a:sym typeface="Calibri"/>
            </a:endParaRPr>
          </a:p>
        </p:txBody>
      </p:sp>
      <p:sp>
        <p:nvSpPr>
          <p:cNvPr id="406" name="Google Shape;406;p3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0" name="Shape 410"/>
        <p:cNvGrpSpPr/>
        <p:nvPr/>
      </p:nvGrpSpPr>
      <p:grpSpPr>
        <a:xfrm>
          <a:off x="0" y="0"/>
          <a:ext cx="0" cy="0"/>
          <a:chOff x="0" y="0"/>
          <a:chExt cx="0" cy="0"/>
        </a:xfrm>
      </p:grpSpPr>
      <p:sp>
        <p:nvSpPr>
          <p:cNvPr id="411" name="Google Shape;411;p3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SERVICE RELIABILITY</a:t>
            </a:r>
            <a:endParaRPr b="0" i="0" sz="800" u="none" cap="none" strike="noStrike">
              <a:solidFill>
                <a:schemeClr val="dk1"/>
              </a:solidFill>
              <a:latin typeface="Calibri"/>
              <a:ea typeface="Calibri"/>
              <a:cs typeface="Calibri"/>
              <a:sym typeface="Calibri"/>
            </a:endParaRPr>
          </a:p>
        </p:txBody>
      </p:sp>
      <p:sp>
        <p:nvSpPr>
          <p:cNvPr id="412" name="Google Shape;412;p3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ETF applies</a:t>
            </a:r>
            <a:endParaRPr b="0" i="0" sz="2400" u="none" cap="none" strike="noStrike">
              <a:solidFill>
                <a:schemeClr val="dk1"/>
              </a:solidFill>
              <a:latin typeface="Calibri"/>
              <a:ea typeface="Calibri"/>
              <a:cs typeface="Calibri"/>
              <a:sym typeface="Calibri"/>
            </a:endParaRPr>
          </a:p>
        </p:txBody>
      </p:sp>
      <p:sp>
        <p:nvSpPr>
          <p:cNvPr id="413" name="Google Shape;413;p3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Legacy DHJ within MCT, or FCF within MCT with a completed job.</a:t>
            </a:r>
            <a:endParaRPr b="0" i="0" sz="1200" u="none" cap="none" strike="noStrike">
              <a:solidFill>
                <a:schemeClr val="dk1"/>
              </a:solidFill>
              <a:latin typeface="Calibri"/>
              <a:ea typeface="Calibri"/>
              <a:cs typeface="Calibri"/>
              <a:sym typeface="Calibri"/>
            </a:endParaRPr>
          </a:p>
        </p:txBody>
      </p:sp>
      <p:sp>
        <p:nvSpPr>
          <p:cNvPr id="414" name="Google Shape;414;p3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5" name="Google Shape;415;p3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16" name="Google Shape;416;p3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417" name="Google Shape;417;p3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Address the root cause</a:t>
            </a:r>
            <a:endParaRPr b="0" i="0" sz="1200" u="none" cap="none" strike="noStrike">
              <a:solidFill>
                <a:schemeClr val="dk1"/>
              </a:solidFill>
              <a:latin typeface="Calibri"/>
              <a:ea typeface="Calibri"/>
              <a:cs typeface="Calibri"/>
              <a:sym typeface="Calibri"/>
            </a:endParaRPr>
          </a:p>
        </p:txBody>
      </p:sp>
      <p:sp>
        <p:nvSpPr>
          <p:cNvPr id="418" name="Google Shape;418;p3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With cancel intent: empathize, give the resolution (block, coach, credits, priority booking), explain ETF terms.</a:t>
            </a:r>
            <a:endParaRPr b="0" i="0" sz="950" u="none" cap="none" strike="noStrike">
              <a:solidFill>
                <a:schemeClr val="dk1"/>
              </a:solidFill>
              <a:latin typeface="Calibri"/>
              <a:ea typeface="Calibri"/>
              <a:cs typeface="Calibri"/>
              <a:sym typeface="Calibri"/>
            </a:endParaRPr>
          </a:p>
        </p:txBody>
      </p:sp>
      <p:sp>
        <p:nvSpPr>
          <p:cNvPr id="419" name="Google Shape;419;p3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0" name="Google Shape;420;p3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1" name="Google Shape;421;p3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422" name="Google Shape;422;p3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Waiver promise</a:t>
            </a:r>
            <a:endParaRPr b="0" i="0" sz="1200" u="none" cap="none" strike="noStrike">
              <a:solidFill>
                <a:schemeClr val="dk1"/>
              </a:solidFill>
              <a:latin typeface="Calibri"/>
              <a:ea typeface="Calibri"/>
              <a:cs typeface="Calibri"/>
              <a:sym typeface="Calibri"/>
            </a:endParaRPr>
          </a:p>
        </p:txBody>
      </p:sp>
      <p:sp>
        <p:nvSpPr>
          <p:cNvPr id="423" name="Google Shape;423;p3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If this is the most current issue job, offer to waive the ETF if the next job also has issues. Add free months for unused MFs.</a:t>
            </a:r>
            <a:endParaRPr b="0" i="0" sz="950" u="none" cap="none" strike="noStrike">
              <a:solidFill>
                <a:schemeClr val="dk1"/>
              </a:solidFill>
              <a:latin typeface="Calibri"/>
              <a:ea typeface="Calibri"/>
              <a:cs typeface="Calibri"/>
              <a:sym typeface="Calibri"/>
            </a:endParaRPr>
          </a:p>
        </p:txBody>
      </p:sp>
      <p:sp>
        <p:nvSpPr>
          <p:cNvPr id="424" name="Google Shape;424;p3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5" name="Google Shape;425;p3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26" name="Google Shape;426;p3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427" name="Google Shape;427;p3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If they reject it</a:t>
            </a:r>
            <a:endParaRPr b="0" i="0" sz="1200" u="none" cap="none" strike="noStrike">
              <a:solidFill>
                <a:schemeClr val="dk1"/>
              </a:solidFill>
              <a:latin typeface="Calibri"/>
              <a:ea typeface="Calibri"/>
              <a:cs typeface="Calibri"/>
              <a:sym typeface="Calibri"/>
            </a:endParaRPr>
          </a:p>
        </p:txBody>
      </p:sp>
      <p:sp>
        <p:nvSpPr>
          <p:cNvPr id="428" name="Google Shape;428;p3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Check all resolutions were given, then Exit Strategy: ETF reduction (up to 50%) or MCT reduction (up to 2 months), whichever is cheaper.</a:t>
            </a:r>
            <a:endParaRPr b="0" i="0" sz="950" u="none" cap="none" strike="noStrike">
              <a:solidFill>
                <a:schemeClr val="dk1"/>
              </a:solidFill>
              <a:latin typeface="Calibri"/>
              <a:ea typeface="Calibri"/>
              <a:cs typeface="Calibri"/>
              <a:sym typeface="Calibri"/>
            </a:endParaRPr>
          </a:p>
        </p:txBody>
      </p:sp>
      <p:sp>
        <p:nvSpPr>
          <p:cNvPr id="429" name="Google Shape;429;p3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30" name="Google Shape;430;p3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431" name="Google Shape;431;p3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Same exit rules as PCQ:</a:t>
            </a:r>
            <a:r>
              <a:rPr b="0" i="0" lang="en" sz="1000" u="none" cap="none" strike="noStrike">
                <a:solidFill>
                  <a:srgbClr val="1D1D1F"/>
                </a:solidFill>
                <a:latin typeface="Arial"/>
                <a:ea typeface="Arial"/>
                <a:cs typeface="Arial"/>
                <a:sym typeface="Arial"/>
              </a:rPr>
              <a:t>max out the lever before Graceful Closure. Cap an MCT reduction at 1 month if 2 would waive the ETF.</a:t>
            </a:r>
            <a:endParaRPr b="0" i="0" sz="1000" u="none" cap="none" strike="noStrike">
              <a:solidFill>
                <a:schemeClr val="dk1"/>
              </a:solidFill>
              <a:latin typeface="Calibri"/>
              <a:ea typeface="Calibri"/>
              <a:cs typeface="Calibri"/>
              <a:sym typeface="Calibri"/>
            </a:endParaRPr>
          </a:p>
        </p:txBody>
      </p:sp>
      <p:sp>
        <p:nvSpPr>
          <p:cNvPr id="432" name="Google Shape;432;p3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6" name="Shape 436"/>
        <p:cNvGrpSpPr/>
        <p:nvPr/>
      </p:nvGrpSpPr>
      <p:grpSpPr>
        <a:xfrm>
          <a:off x="0" y="0"/>
          <a:ext cx="0" cy="0"/>
          <a:chOff x="0" y="0"/>
          <a:chExt cx="0" cy="0"/>
        </a:xfrm>
      </p:grpSpPr>
      <p:sp>
        <p:nvSpPr>
          <p:cNvPr id="437" name="Google Shape;437;p3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SERVICE RELIABILITY</a:t>
            </a:r>
            <a:endParaRPr b="0" i="0" sz="800" u="none" cap="none" strike="noStrike">
              <a:solidFill>
                <a:schemeClr val="dk1"/>
              </a:solidFill>
              <a:latin typeface="Calibri"/>
              <a:ea typeface="Calibri"/>
              <a:cs typeface="Calibri"/>
              <a:sym typeface="Calibri"/>
            </a:endParaRPr>
          </a:p>
        </p:txBody>
      </p:sp>
      <p:sp>
        <p:nvSpPr>
          <p:cNvPr id="438" name="Google Shape;438;p3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ETF does not apply</a:t>
            </a:r>
            <a:endParaRPr b="0" i="0" sz="2400" u="none" cap="none" strike="noStrike">
              <a:solidFill>
                <a:schemeClr val="dk1"/>
              </a:solidFill>
              <a:latin typeface="Calibri"/>
              <a:ea typeface="Calibri"/>
              <a:cs typeface="Calibri"/>
              <a:sym typeface="Calibri"/>
            </a:endParaRPr>
          </a:p>
        </p:txBody>
      </p:sp>
      <p:sp>
        <p:nvSpPr>
          <p:cNvPr id="439" name="Google Shape;439;p3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Legacy DHJ beyond MCT, FCF with no completed job, or FCF beyond MCT with a completed job.</a:t>
            </a:r>
            <a:endParaRPr b="0" i="0" sz="1200" u="none" cap="none" strike="noStrike">
              <a:solidFill>
                <a:schemeClr val="dk1"/>
              </a:solidFill>
              <a:latin typeface="Calibri"/>
              <a:ea typeface="Calibri"/>
              <a:cs typeface="Calibri"/>
              <a:sym typeface="Calibri"/>
            </a:endParaRPr>
          </a:p>
        </p:txBody>
      </p:sp>
      <p:sp>
        <p:nvSpPr>
          <p:cNvPr id="440" name="Google Shape;440;p3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1" name="Google Shape;441;p3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2" name="Google Shape;442;p3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443" name="Google Shape;443;p3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Assess retainability</a:t>
            </a:r>
            <a:endParaRPr b="0" i="0" sz="1200" u="none" cap="none" strike="noStrike">
              <a:solidFill>
                <a:schemeClr val="dk1"/>
              </a:solidFill>
              <a:latin typeface="Calibri"/>
              <a:ea typeface="Calibri"/>
              <a:cs typeface="Calibri"/>
              <a:sym typeface="Calibri"/>
            </a:endParaRPr>
          </a:p>
        </p:txBody>
      </p:sp>
      <p:sp>
        <p:nvSpPr>
          <p:cNvPr id="444" name="Google Shape;444;p3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Use the Five Key Factors. Weigh what is actually present.</a:t>
            </a:r>
            <a:endParaRPr b="0" i="0" sz="950" u="none" cap="none" strike="noStrike">
              <a:solidFill>
                <a:schemeClr val="dk1"/>
              </a:solidFill>
              <a:latin typeface="Calibri"/>
              <a:ea typeface="Calibri"/>
              <a:cs typeface="Calibri"/>
              <a:sym typeface="Calibri"/>
            </a:endParaRPr>
          </a:p>
        </p:txBody>
      </p:sp>
      <p:sp>
        <p:nvSpPr>
          <p:cNvPr id="445" name="Google Shape;445;p3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6" name="Google Shape;446;p3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47" name="Google Shape;447;p3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448" name="Google Shape;448;p3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retainable</a:t>
            </a:r>
            <a:endParaRPr b="0" i="0" sz="1200" u="none" cap="none" strike="noStrike">
              <a:solidFill>
                <a:schemeClr val="dk1"/>
              </a:solidFill>
              <a:latin typeface="Calibri"/>
              <a:ea typeface="Calibri"/>
              <a:cs typeface="Calibri"/>
              <a:sym typeface="Calibri"/>
            </a:endParaRPr>
          </a:p>
        </p:txBody>
      </p:sp>
      <p:sp>
        <p:nvSpPr>
          <p:cNvPr id="449" name="Google Shape;449;p3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Cancel FC and close the interaction positively.</a:t>
            </a:r>
            <a:endParaRPr b="0" i="0" sz="950" u="none" cap="none" strike="noStrike">
              <a:solidFill>
                <a:schemeClr val="dk1"/>
              </a:solidFill>
              <a:latin typeface="Calibri"/>
              <a:ea typeface="Calibri"/>
              <a:cs typeface="Calibri"/>
              <a:sym typeface="Calibri"/>
            </a:endParaRPr>
          </a:p>
        </p:txBody>
      </p:sp>
      <p:sp>
        <p:nvSpPr>
          <p:cNvPr id="450" name="Google Shape;450;p3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1" name="Google Shape;451;p3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2" name="Google Shape;452;p3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453" name="Google Shape;453;p3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Retainable</a:t>
            </a:r>
            <a:endParaRPr b="0" i="0" sz="1200" u="none" cap="none" strike="noStrike">
              <a:solidFill>
                <a:schemeClr val="dk1"/>
              </a:solidFill>
              <a:latin typeface="Calibri"/>
              <a:ea typeface="Calibri"/>
              <a:cs typeface="Calibri"/>
              <a:sym typeface="Calibri"/>
            </a:endParaRPr>
          </a:p>
        </p:txBody>
      </p:sp>
      <p:sp>
        <p:nvSpPr>
          <p:cNvPr id="454" name="Google Shape;454;p3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Same offer table. Confirm no further MF unless they agree. Unused paid MFs become free months (not more than asked, not more than 3).</a:t>
            </a:r>
            <a:endParaRPr b="0" i="0" sz="950" u="none" cap="none" strike="noStrike">
              <a:solidFill>
                <a:schemeClr val="dk1"/>
              </a:solidFill>
              <a:latin typeface="Calibri"/>
              <a:ea typeface="Calibri"/>
              <a:cs typeface="Calibri"/>
              <a:sym typeface="Calibri"/>
            </a:endParaRPr>
          </a:p>
        </p:txBody>
      </p:sp>
      <p:sp>
        <p:nvSpPr>
          <p:cNvPr id="455" name="Google Shape;455;p3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56" name="Google Shape;456;p3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457" name="Google Shape;457;p3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Timed Reminder:</a:t>
            </a:r>
            <a:r>
              <a:rPr b="0" i="0" lang="en" sz="1000" u="none" cap="none" strike="noStrike">
                <a:solidFill>
                  <a:srgbClr val="1D1D1F"/>
                </a:solidFill>
                <a:latin typeface="Arial"/>
                <a:ea typeface="Arial"/>
                <a:cs typeface="Arial"/>
                <a:sym typeface="Arial"/>
              </a:rPr>
              <a:t>if the next MF is more than 5 days away, set it for at least 3 days before that MF date. If it is 5 days or less, give 1 free month first, then set it 3 days before the new MF date.</a:t>
            </a:r>
            <a:endParaRPr b="0" i="0" sz="1000" u="none" cap="none" strike="noStrike">
              <a:solidFill>
                <a:schemeClr val="dk1"/>
              </a:solidFill>
              <a:latin typeface="Calibri"/>
              <a:ea typeface="Calibri"/>
              <a:cs typeface="Calibri"/>
              <a:sym typeface="Calibri"/>
            </a:endParaRPr>
          </a:p>
        </p:txBody>
      </p:sp>
      <p:sp>
        <p:nvSpPr>
          <p:cNvPr id="458" name="Google Shape;458;p3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2" name="Shape 462"/>
        <p:cNvGrpSpPr/>
        <p:nvPr/>
      </p:nvGrpSpPr>
      <p:grpSpPr>
        <a:xfrm>
          <a:off x="0" y="0"/>
          <a:ext cx="0" cy="0"/>
          <a:chOff x="0" y="0"/>
          <a:chExt cx="0" cy="0"/>
        </a:xfrm>
      </p:grpSpPr>
      <p:sp>
        <p:nvSpPr>
          <p:cNvPr id="463" name="Google Shape;463;p36"/>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464" name="Google Shape;464;p36"/>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465" name="Google Shape;465;p36"/>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466" name="Google Shape;466;p36"/>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67" name="Google Shape;467;p36"/>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468" name="Google Shape;468;p36"/>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469" name="Google Shape;469;p36"/>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0" name="Google Shape;470;p36"/>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1" name="Google Shape;471;p36"/>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2" name="Google Shape;472;p36"/>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3" name="Google Shape;473;p36"/>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4" name="Google Shape;474;p36"/>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5" name="Google Shape;475;p36"/>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9" name="Shape 479"/>
        <p:cNvGrpSpPr/>
        <p:nvPr/>
      </p:nvGrpSpPr>
      <p:grpSpPr>
        <a:xfrm>
          <a:off x="0" y="0"/>
          <a:ext cx="0" cy="0"/>
          <a:chOff x="0" y="0"/>
          <a:chExt cx="0" cy="0"/>
        </a:xfrm>
      </p:grpSpPr>
      <p:sp>
        <p:nvSpPr>
          <p:cNvPr id="480" name="Google Shape;480;p37"/>
          <p:cNvSpPr txBox="1"/>
          <p:nvPr/>
        </p:nvSpPr>
        <p:spPr>
          <a:xfrm>
            <a:off x="566928" y="1207008"/>
            <a:ext cx="41148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TOPIC 03</a:t>
            </a:r>
            <a:endParaRPr b="0" i="0" sz="800" u="none" cap="none" strike="noStrike">
              <a:solidFill>
                <a:schemeClr val="dk1"/>
              </a:solidFill>
              <a:latin typeface="Calibri"/>
              <a:ea typeface="Calibri"/>
              <a:cs typeface="Calibri"/>
              <a:sym typeface="Calibri"/>
            </a:endParaRPr>
          </a:p>
        </p:txBody>
      </p:sp>
      <p:sp>
        <p:nvSpPr>
          <p:cNvPr id="481" name="Google Shape;481;p37"/>
          <p:cNvSpPr txBox="1"/>
          <p:nvPr/>
        </p:nvSpPr>
        <p:spPr>
          <a:xfrm>
            <a:off x="566928" y="1463040"/>
            <a:ext cx="4389120" cy="914400"/>
          </a:xfrm>
          <a:prstGeom prst="rect">
            <a:avLst/>
          </a:prstGeom>
          <a:noFill/>
          <a:ln>
            <a:noFill/>
          </a:ln>
        </p:spPr>
        <p:txBody>
          <a:bodyPr anchorCtr="0" anchor="b" bIns="0" lIns="0" spcFirstLastPara="1" rIns="0" wrap="square" tIns="0">
            <a:noAutofit/>
          </a:bodyPr>
          <a:lstStyle/>
          <a:p>
            <a:pPr indent="0" lvl="0" marL="0" marR="0" rtl="0" algn="l">
              <a:lnSpc>
                <a:spcPct val="100000"/>
              </a:lnSpc>
              <a:spcBef>
                <a:spcPts val="0"/>
              </a:spcBef>
              <a:spcAft>
                <a:spcPts val="0"/>
              </a:spcAft>
              <a:buClr>
                <a:srgbClr val="1D1D1F"/>
              </a:buClr>
              <a:buSzPts val="2800"/>
              <a:buFont typeface="Play"/>
              <a:buNone/>
            </a:pPr>
            <a:r>
              <a:rPr b="1" i="0" lang="en" sz="2800" u="none" cap="none" strike="noStrike">
                <a:solidFill>
                  <a:srgbClr val="1D1D1F"/>
                </a:solidFill>
                <a:latin typeface="Play"/>
                <a:ea typeface="Play"/>
                <a:cs typeface="Play"/>
                <a:sym typeface="Play"/>
              </a:rPr>
              <a:t>Membership Retention Playbook</a:t>
            </a:r>
            <a:endParaRPr b="0" i="0" sz="2800" u="none" cap="none" strike="noStrike">
              <a:solidFill>
                <a:schemeClr val="dk1"/>
              </a:solidFill>
              <a:latin typeface="Calibri"/>
              <a:ea typeface="Calibri"/>
              <a:cs typeface="Calibri"/>
              <a:sym typeface="Calibri"/>
            </a:endParaRPr>
          </a:p>
        </p:txBody>
      </p:sp>
      <p:sp>
        <p:nvSpPr>
          <p:cNvPr id="482" name="Google Shape;482;p37"/>
          <p:cNvSpPr txBox="1"/>
          <p:nvPr/>
        </p:nvSpPr>
        <p:spPr>
          <a:xfrm>
            <a:off x="566928" y="2468880"/>
            <a:ext cx="420624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150"/>
              <a:buFont typeface="Arial"/>
              <a:buNone/>
            </a:pPr>
            <a:r>
              <a:rPr b="0" i="0" lang="en" sz="1150" u="none" cap="none" strike="noStrike">
                <a:solidFill>
                  <a:srgbClr val="6E6E73"/>
                </a:solidFill>
                <a:latin typeface="Arial"/>
                <a:ea typeface="Arial"/>
                <a:cs typeface="Arial"/>
                <a:sym typeface="Arial"/>
              </a:rPr>
              <a:t>What to do when the membership terms themselves, not a service failure, drive a cancellation.</a:t>
            </a:r>
            <a:endParaRPr b="0" i="0" sz="1150" u="none" cap="none" strike="noStrike">
              <a:solidFill>
                <a:schemeClr val="dk1"/>
              </a:solidFill>
              <a:latin typeface="Calibri"/>
              <a:ea typeface="Calibri"/>
              <a:cs typeface="Calibri"/>
              <a:sym typeface="Calibri"/>
            </a:endParaRPr>
          </a:p>
        </p:txBody>
      </p:sp>
      <p:sp>
        <p:nvSpPr>
          <p:cNvPr id="483" name="Google Shape;483;p37"/>
          <p:cNvSpPr txBox="1"/>
          <p:nvPr/>
        </p:nvSpPr>
        <p:spPr>
          <a:xfrm>
            <a:off x="566928" y="2999232"/>
            <a:ext cx="27432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800"/>
              <a:buFont typeface="Play"/>
              <a:buNone/>
            </a:pPr>
            <a:r>
              <a:rPr b="1" i="0" lang="en" sz="800" u="none" cap="none" strike="noStrike">
                <a:solidFill>
                  <a:srgbClr val="6E6E73"/>
                </a:solidFill>
                <a:latin typeface="Play"/>
                <a:ea typeface="Play"/>
                <a:cs typeface="Play"/>
                <a:sym typeface="Play"/>
              </a:rPr>
              <a:t>YOU'LL LEARN</a:t>
            </a:r>
            <a:endParaRPr b="0" i="0" sz="800" u="none" cap="none" strike="noStrike">
              <a:solidFill>
                <a:schemeClr val="dk1"/>
              </a:solidFill>
              <a:latin typeface="Calibri"/>
              <a:ea typeface="Calibri"/>
              <a:cs typeface="Calibri"/>
              <a:sym typeface="Calibri"/>
            </a:endParaRPr>
          </a:p>
        </p:txBody>
      </p:sp>
      <p:sp>
        <p:nvSpPr>
          <p:cNvPr id="484" name="Google Shape;484;p37"/>
          <p:cNvSpPr/>
          <p:nvPr/>
        </p:nvSpPr>
        <p:spPr>
          <a:xfrm>
            <a:off x="566928" y="326440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5" name="Google Shape;485;p37"/>
          <p:cNvPicPr preferRelativeResize="0"/>
          <p:nvPr/>
        </p:nvPicPr>
        <p:blipFill rotWithShape="1">
          <a:blip r:embed="rId3">
            <a:alphaModFix/>
          </a:blip>
          <a:srcRect b="0" l="0" r="0" t="0"/>
          <a:stretch/>
        </p:blipFill>
        <p:spPr>
          <a:xfrm>
            <a:off x="598932" y="3296412"/>
            <a:ext cx="91440" cy="91440"/>
          </a:xfrm>
          <a:prstGeom prst="rect">
            <a:avLst/>
          </a:prstGeom>
          <a:noFill/>
          <a:ln>
            <a:noFill/>
          </a:ln>
        </p:spPr>
      </p:pic>
      <p:sp>
        <p:nvSpPr>
          <p:cNvPr id="486" name="Google Shape;486;p37"/>
          <p:cNvSpPr txBox="1"/>
          <p:nvPr/>
        </p:nvSpPr>
        <p:spPr>
          <a:xfrm>
            <a:off x="822960" y="324612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Reduction reference</a:t>
            </a:r>
            <a:endParaRPr b="0" i="0" sz="1050" u="none" cap="none" strike="noStrike">
              <a:solidFill>
                <a:schemeClr val="dk1"/>
              </a:solidFill>
              <a:latin typeface="Calibri"/>
              <a:ea typeface="Calibri"/>
              <a:cs typeface="Calibri"/>
              <a:sym typeface="Calibri"/>
            </a:endParaRPr>
          </a:p>
        </p:txBody>
      </p:sp>
      <p:sp>
        <p:nvSpPr>
          <p:cNvPr id="487" name="Google Shape;487;p37"/>
          <p:cNvSpPr/>
          <p:nvPr/>
        </p:nvSpPr>
        <p:spPr>
          <a:xfrm>
            <a:off x="566928" y="353872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88" name="Google Shape;488;p37"/>
          <p:cNvPicPr preferRelativeResize="0"/>
          <p:nvPr/>
        </p:nvPicPr>
        <p:blipFill rotWithShape="1">
          <a:blip r:embed="rId3">
            <a:alphaModFix/>
          </a:blip>
          <a:srcRect b="0" l="0" r="0" t="0"/>
          <a:stretch/>
        </p:blipFill>
        <p:spPr>
          <a:xfrm>
            <a:off x="598932" y="3570732"/>
            <a:ext cx="91440" cy="91440"/>
          </a:xfrm>
          <a:prstGeom prst="rect">
            <a:avLst/>
          </a:prstGeom>
          <a:noFill/>
          <a:ln>
            <a:noFill/>
          </a:ln>
        </p:spPr>
      </p:pic>
      <p:sp>
        <p:nvSpPr>
          <p:cNvPr id="489" name="Google Shape;489;p37"/>
          <p:cNvSpPr txBox="1"/>
          <p:nvPr/>
        </p:nvSpPr>
        <p:spPr>
          <a:xfrm>
            <a:off x="822960" y="352044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Unaware and affordability</a:t>
            </a:r>
            <a:endParaRPr b="0" i="0" sz="1050" u="none" cap="none" strike="noStrike">
              <a:solidFill>
                <a:schemeClr val="dk1"/>
              </a:solidFill>
              <a:latin typeface="Calibri"/>
              <a:ea typeface="Calibri"/>
              <a:cs typeface="Calibri"/>
              <a:sym typeface="Calibri"/>
            </a:endParaRPr>
          </a:p>
        </p:txBody>
      </p:sp>
      <p:sp>
        <p:nvSpPr>
          <p:cNvPr id="490" name="Google Shape;490;p37"/>
          <p:cNvSpPr/>
          <p:nvPr/>
        </p:nvSpPr>
        <p:spPr>
          <a:xfrm>
            <a:off x="566928" y="381304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1" name="Google Shape;491;p37"/>
          <p:cNvPicPr preferRelativeResize="0"/>
          <p:nvPr/>
        </p:nvPicPr>
        <p:blipFill rotWithShape="1">
          <a:blip r:embed="rId3">
            <a:alphaModFix/>
          </a:blip>
          <a:srcRect b="0" l="0" r="0" t="0"/>
          <a:stretch/>
        </p:blipFill>
        <p:spPr>
          <a:xfrm>
            <a:off x="598932" y="3845052"/>
            <a:ext cx="91440" cy="91440"/>
          </a:xfrm>
          <a:prstGeom prst="rect">
            <a:avLst/>
          </a:prstGeom>
          <a:noFill/>
          <a:ln>
            <a:noFill/>
          </a:ln>
        </p:spPr>
      </p:pic>
      <p:sp>
        <p:nvSpPr>
          <p:cNvPr id="492" name="Google Shape;492;p37"/>
          <p:cNvSpPr txBox="1"/>
          <p:nvPr/>
        </p:nvSpPr>
        <p:spPr>
          <a:xfrm>
            <a:off x="822960" y="379476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Pause and moving</a:t>
            </a:r>
            <a:endParaRPr b="0" i="0" sz="1050" u="none" cap="none" strike="noStrike">
              <a:solidFill>
                <a:schemeClr val="dk1"/>
              </a:solidFill>
              <a:latin typeface="Calibri"/>
              <a:ea typeface="Calibri"/>
              <a:cs typeface="Calibri"/>
              <a:sym typeface="Calibri"/>
            </a:endParaRPr>
          </a:p>
        </p:txBody>
      </p:sp>
      <p:sp>
        <p:nvSpPr>
          <p:cNvPr id="493" name="Google Shape;493;p37"/>
          <p:cNvSpPr/>
          <p:nvPr/>
        </p:nvSpPr>
        <p:spPr>
          <a:xfrm>
            <a:off x="566928" y="4087368"/>
            <a:ext cx="155448" cy="155448"/>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494" name="Google Shape;494;p37"/>
          <p:cNvPicPr preferRelativeResize="0"/>
          <p:nvPr/>
        </p:nvPicPr>
        <p:blipFill rotWithShape="1">
          <a:blip r:embed="rId3">
            <a:alphaModFix/>
          </a:blip>
          <a:srcRect b="0" l="0" r="0" t="0"/>
          <a:stretch/>
        </p:blipFill>
        <p:spPr>
          <a:xfrm>
            <a:off x="598932" y="4119372"/>
            <a:ext cx="91440" cy="91440"/>
          </a:xfrm>
          <a:prstGeom prst="rect">
            <a:avLst/>
          </a:prstGeom>
          <a:noFill/>
          <a:ln>
            <a:noFill/>
          </a:ln>
        </p:spPr>
      </p:pic>
      <p:sp>
        <p:nvSpPr>
          <p:cNvPr id="495" name="Google Shape;495;p37"/>
          <p:cNvSpPr txBox="1"/>
          <p:nvPr/>
        </p:nvSpPr>
        <p:spPr>
          <a:xfrm>
            <a:off x="822960" y="4069080"/>
            <a:ext cx="393192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050"/>
              <a:buFont typeface="Arial"/>
              <a:buNone/>
            </a:pPr>
            <a:r>
              <a:rPr b="0" i="0" lang="en" sz="1050" u="none" cap="none" strike="noStrike">
                <a:solidFill>
                  <a:srgbClr val="1D1D1F"/>
                </a:solidFill>
                <a:latin typeface="Arial"/>
                <a:ea typeface="Arial"/>
                <a:cs typeface="Arial"/>
                <a:sym typeface="Arial"/>
              </a:rPr>
              <a:t>Terms and inactivity</a:t>
            </a:r>
            <a:endParaRPr b="0" i="0" sz="1050" u="none" cap="none" strike="noStrike">
              <a:solidFill>
                <a:schemeClr val="dk1"/>
              </a:solidFill>
              <a:latin typeface="Calibri"/>
              <a:ea typeface="Calibri"/>
              <a:cs typeface="Calibri"/>
              <a:sym typeface="Calibri"/>
            </a:endParaRPr>
          </a:p>
        </p:txBody>
      </p:sp>
      <p:sp>
        <p:nvSpPr>
          <p:cNvPr id="496" name="Google Shape;496;p37"/>
          <p:cNvSpPr/>
          <p:nvPr/>
        </p:nvSpPr>
        <p:spPr>
          <a:xfrm>
            <a:off x="5312664" y="621792"/>
            <a:ext cx="3383280" cy="3895344"/>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97" name="Google Shape;497;p37"/>
          <p:cNvSpPr/>
          <p:nvPr/>
        </p:nvSpPr>
        <p:spPr>
          <a:xfrm>
            <a:off x="5724144" y="1289304"/>
            <a:ext cx="2560320" cy="256032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29.png" id="498" name="Google Shape;498;p37"/>
          <p:cNvPicPr preferRelativeResize="0"/>
          <p:nvPr/>
        </p:nvPicPr>
        <p:blipFill rotWithShape="1">
          <a:blip r:embed="rId4">
            <a:alphaModFix/>
          </a:blip>
          <a:srcRect b="0" l="0" r="0" t="0"/>
          <a:stretch/>
        </p:blipFill>
        <p:spPr>
          <a:xfrm>
            <a:off x="5541264" y="1580923"/>
            <a:ext cx="2926080" cy="1977081"/>
          </a:xfrm>
          <a:prstGeom prst="rect">
            <a:avLst/>
          </a:prstGeom>
          <a:noFill/>
          <a:ln>
            <a:noFill/>
          </a:ln>
        </p:spPr>
      </p:pic>
      <p:sp>
        <p:nvSpPr>
          <p:cNvPr id="499" name="Google Shape;499;p37"/>
          <p:cNvSpPr/>
          <p:nvPr/>
        </p:nvSpPr>
        <p:spPr>
          <a:xfrm>
            <a:off x="5522976"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0" name="Google Shape;500;p37"/>
          <p:cNvSpPr/>
          <p:nvPr/>
        </p:nvSpPr>
        <p:spPr>
          <a:xfrm>
            <a:off x="5646420"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1" name="Google Shape;501;p37"/>
          <p:cNvSpPr/>
          <p:nvPr/>
        </p:nvSpPr>
        <p:spPr>
          <a:xfrm>
            <a:off x="8193024" y="822960"/>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2" name="Google Shape;502;p37"/>
          <p:cNvSpPr/>
          <p:nvPr/>
        </p:nvSpPr>
        <p:spPr>
          <a:xfrm>
            <a:off x="8316468" y="946404"/>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3" name="Google Shape;503;p37"/>
          <p:cNvSpPr/>
          <p:nvPr/>
        </p:nvSpPr>
        <p:spPr>
          <a:xfrm>
            <a:off x="8193024" y="3986784"/>
            <a:ext cx="329184" cy="329184"/>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37"/>
          <p:cNvSpPr/>
          <p:nvPr/>
        </p:nvSpPr>
        <p:spPr>
          <a:xfrm>
            <a:off x="8316468" y="4110228"/>
            <a:ext cx="82296" cy="82296"/>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5" name="Google Shape;505;p37"/>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9" name="Shape 509"/>
        <p:cNvGrpSpPr/>
        <p:nvPr/>
      </p:nvGrpSpPr>
      <p:grpSpPr>
        <a:xfrm>
          <a:off x="0" y="0"/>
          <a:ext cx="0" cy="0"/>
          <a:chOff x="0" y="0"/>
          <a:chExt cx="0" cy="0"/>
        </a:xfrm>
      </p:grpSpPr>
      <p:sp>
        <p:nvSpPr>
          <p:cNvPr id="510" name="Google Shape;510;p38"/>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511" name="Google Shape;511;p38"/>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What is this?</a:t>
            </a:r>
            <a:endParaRPr b="0" i="0" sz="2400" u="none" cap="none" strike="noStrike">
              <a:solidFill>
                <a:schemeClr val="dk1"/>
              </a:solidFill>
              <a:latin typeface="Calibri"/>
              <a:ea typeface="Calibri"/>
              <a:cs typeface="Calibri"/>
              <a:sym typeface="Calibri"/>
            </a:endParaRPr>
          </a:p>
        </p:txBody>
      </p:sp>
      <p:sp>
        <p:nvSpPr>
          <p:cNvPr id="512" name="Google Shape;512;p38"/>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Cancellation intent driven by the terms of the membership.</a:t>
            </a:r>
            <a:endParaRPr b="0" i="0" sz="1200" u="none" cap="none" strike="noStrike">
              <a:solidFill>
                <a:schemeClr val="dk1"/>
              </a:solidFill>
              <a:latin typeface="Calibri"/>
              <a:ea typeface="Calibri"/>
              <a:cs typeface="Calibri"/>
              <a:sym typeface="Calibri"/>
            </a:endParaRPr>
          </a:p>
        </p:txBody>
      </p:sp>
      <p:sp>
        <p:nvSpPr>
          <p:cNvPr id="513" name="Google Shape;513;p38"/>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4" name="Google Shape;514;p38"/>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15" name="Google Shape;515;p38"/>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516" name="Google Shape;516;p38"/>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The trigger</a:t>
            </a:r>
            <a:endParaRPr b="0" i="0" sz="1200" u="none" cap="none" strike="noStrike">
              <a:solidFill>
                <a:schemeClr val="dk1"/>
              </a:solidFill>
              <a:latin typeface="Calibri"/>
              <a:ea typeface="Calibri"/>
              <a:cs typeface="Calibri"/>
              <a:sym typeface="Calibri"/>
            </a:endParaRPr>
          </a:p>
        </p:txBody>
      </p:sp>
      <p:sp>
        <p:nvSpPr>
          <p:cNvPr id="517" name="Google Shape;517;p38"/>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Unaware of the membership, MF or MCT feels like too much, wants to pause, or genuinely can't afford it.</a:t>
            </a:r>
            <a:endParaRPr b="0" i="0" sz="950" u="none" cap="none" strike="noStrike">
              <a:solidFill>
                <a:schemeClr val="dk1"/>
              </a:solidFill>
              <a:latin typeface="Calibri"/>
              <a:ea typeface="Calibri"/>
              <a:cs typeface="Calibri"/>
              <a:sym typeface="Calibri"/>
            </a:endParaRPr>
          </a:p>
        </p:txBody>
      </p:sp>
      <p:sp>
        <p:nvSpPr>
          <p:cNvPr id="518" name="Google Shape;518;p38"/>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9" name="Google Shape;519;p38"/>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0" name="Google Shape;520;p38"/>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521" name="Google Shape;521;p38"/>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Root cause first</a:t>
            </a:r>
            <a:endParaRPr b="0" i="0" sz="1200" u="none" cap="none" strike="noStrike">
              <a:solidFill>
                <a:schemeClr val="dk1"/>
              </a:solidFill>
              <a:latin typeface="Calibri"/>
              <a:ea typeface="Calibri"/>
              <a:cs typeface="Calibri"/>
              <a:sym typeface="Calibri"/>
            </a:endParaRPr>
          </a:p>
        </p:txBody>
      </p:sp>
      <p:sp>
        <p:nvSpPr>
          <p:cNvPr id="522" name="Google Shape;522;p38"/>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trap is leading with a discount. "Unaware" and "can't afford it" are different problems with different first moves.</a:t>
            </a:r>
            <a:endParaRPr b="0" i="0" sz="950" u="none" cap="none" strike="noStrike">
              <a:solidFill>
                <a:schemeClr val="dk1"/>
              </a:solidFill>
              <a:latin typeface="Calibri"/>
              <a:ea typeface="Calibri"/>
              <a:cs typeface="Calibri"/>
              <a:sym typeface="Calibri"/>
            </a:endParaRPr>
          </a:p>
        </p:txBody>
      </p:sp>
      <p:sp>
        <p:nvSpPr>
          <p:cNvPr id="523" name="Google Shape;523;p38"/>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24" name="Google Shape;524;p38"/>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5" name="Google Shape;525;p38"/>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526" name="Google Shape;526;p38"/>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Check months paid</a:t>
            </a:r>
            <a:endParaRPr b="0" i="0" sz="1200" u="none" cap="none" strike="noStrike">
              <a:solidFill>
                <a:schemeClr val="dk1"/>
              </a:solidFill>
              <a:latin typeface="Calibri"/>
              <a:ea typeface="Calibri"/>
              <a:cs typeface="Calibri"/>
              <a:sym typeface="Calibri"/>
            </a:endParaRPr>
          </a:p>
        </p:txBody>
      </p:sp>
      <p:sp>
        <p:nvSpPr>
          <p:cNvPr id="527" name="Google Shape;527;p38"/>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The right MF or MCT offer changes with how many months the customer has already paid.</a:t>
            </a:r>
            <a:endParaRPr b="0" i="0" sz="950" u="none" cap="none" strike="noStrike">
              <a:solidFill>
                <a:schemeClr val="dk1"/>
              </a:solidFill>
              <a:latin typeface="Calibri"/>
              <a:ea typeface="Calibri"/>
              <a:cs typeface="Calibri"/>
              <a:sym typeface="Calibri"/>
            </a:endParaRPr>
          </a:p>
        </p:txBody>
      </p:sp>
      <p:sp>
        <p:nvSpPr>
          <p:cNvPr id="528" name="Google Shape;528;p38"/>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29" name="Google Shape;529;p38"/>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530" name="Google Shape;530;p38"/>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Remember:</a:t>
            </a:r>
            <a:r>
              <a:rPr b="0" i="0" lang="en" sz="1000" u="none" cap="none" strike="noStrike">
                <a:solidFill>
                  <a:srgbClr val="1D1D1F"/>
                </a:solidFill>
                <a:latin typeface="Arial"/>
                <a:ea typeface="Arial"/>
                <a:cs typeface="Arial"/>
                <a:sym typeface="Arial"/>
              </a:rPr>
              <a:t>offers only work if they address the real root cause.</a:t>
            </a:r>
            <a:endParaRPr b="0" i="0" sz="1000" u="none" cap="none" strike="noStrike">
              <a:solidFill>
                <a:schemeClr val="dk1"/>
              </a:solidFill>
              <a:latin typeface="Calibri"/>
              <a:ea typeface="Calibri"/>
              <a:cs typeface="Calibri"/>
              <a:sym typeface="Calibri"/>
            </a:endParaRPr>
          </a:p>
        </p:txBody>
      </p:sp>
      <p:sp>
        <p:nvSpPr>
          <p:cNvPr id="531" name="Google Shape;531;p38"/>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39"/>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537" name="Google Shape;537;p39"/>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MF and MCT reduction by months paid</a:t>
            </a:r>
            <a:endParaRPr b="0" i="0" sz="2400" u="none" cap="none" strike="noStrike">
              <a:solidFill>
                <a:schemeClr val="dk1"/>
              </a:solidFill>
              <a:latin typeface="Calibri"/>
              <a:ea typeface="Calibri"/>
              <a:cs typeface="Calibri"/>
              <a:sym typeface="Calibri"/>
            </a:endParaRPr>
          </a:p>
        </p:txBody>
      </p:sp>
      <p:sp>
        <p:nvSpPr>
          <p:cNvPr id="538" name="Google Shape;538;p39"/>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Check this before offering a reduction.</a:t>
            </a:r>
            <a:endParaRPr b="0" i="0" sz="1200" u="none" cap="none" strike="noStrike">
              <a:solidFill>
                <a:schemeClr val="dk1"/>
              </a:solidFill>
              <a:latin typeface="Calibri"/>
              <a:ea typeface="Calibri"/>
              <a:cs typeface="Calibri"/>
              <a:sym typeface="Calibri"/>
            </a:endParaRPr>
          </a:p>
        </p:txBody>
      </p:sp>
      <p:graphicFrame>
        <p:nvGraphicFramePr>
          <p:cNvPr id="539" name="Google Shape;539;p39"/>
          <p:cNvGraphicFramePr/>
          <p:nvPr/>
        </p:nvGraphicFramePr>
        <p:xfrm>
          <a:off x="411480" y="1234440"/>
          <a:ext cx="3000000" cy="3000000"/>
        </p:xfrm>
        <a:graphic>
          <a:graphicData uri="http://schemas.openxmlformats.org/drawingml/2006/table">
            <a:tbl>
              <a:tblPr>
                <a:noFill/>
                <a:tableStyleId>{5DA8A873-F9CA-4D35-8812-A7EE7266C73B}</a:tableStyleId>
              </a:tblPr>
              <a:tblGrid>
                <a:gridCol w="2000000"/>
                <a:gridCol w="3160000"/>
                <a:gridCol w="3160000"/>
              </a:tblGrid>
              <a:tr h="329175">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Months paid</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MF reduction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c>
                  <a:txBody>
                    <a:bodyPr/>
                    <a:lstStyle/>
                    <a:p>
                      <a:pPr indent="0" lvl="0" marL="0" marR="0" rtl="0" algn="l">
                        <a:lnSpc>
                          <a:spcPct val="100000"/>
                        </a:lnSpc>
                        <a:spcBef>
                          <a:spcPts val="0"/>
                        </a:spcBef>
                        <a:spcAft>
                          <a:spcPts val="0"/>
                        </a:spcAft>
                        <a:buClr>
                          <a:srgbClr val="0B7A6F"/>
                        </a:buClr>
                        <a:buSzPts val="900"/>
                        <a:buFont typeface="Play"/>
                        <a:buNone/>
                      </a:pPr>
                      <a:r>
                        <a:rPr b="1" lang="en" sz="900" u="none" cap="none" strike="noStrike">
                          <a:solidFill>
                            <a:srgbClr val="0B7A6F"/>
                          </a:solidFill>
                          <a:latin typeface="Play"/>
                          <a:ea typeface="Play"/>
                          <a:cs typeface="Play"/>
                          <a:sym typeface="Play"/>
                        </a:rPr>
                        <a:t>MCT reduction</a:t>
                      </a:r>
                      <a:endParaRPr sz="900" u="none" cap="none" strike="noStrike">
                        <a:latin typeface="Play"/>
                        <a:ea typeface="Play"/>
                        <a:cs typeface="Play"/>
                        <a:sym typeface="Play"/>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E3F4F1"/>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1-3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$10-15 common. Rare cases up to 50%, usually needs support approval</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1-2 months off the original MCT</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50000">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4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$10-15 common. Rare cases up to 50%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month off by default, ETF still applies. 2 months only if C is incredibly escalated</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r h="329175">
                <a:tc>
                  <a:txBody>
                    <a:bodyPr/>
                    <a:lstStyle/>
                    <a:p>
                      <a:pPr indent="0" lvl="0" marL="0" marR="0" rtl="0" algn="l">
                        <a:lnSpc>
                          <a:spcPct val="100000"/>
                        </a:lnSpc>
                        <a:spcBef>
                          <a:spcPts val="0"/>
                        </a:spcBef>
                        <a:spcAft>
                          <a:spcPts val="0"/>
                        </a:spcAft>
                        <a:buClr>
                          <a:srgbClr val="1D1D1F"/>
                        </a:buClr>
                        <a:buSzPts val="900"/>
                        <a:buFont typeface="Arial"/>
                        <a:buNone/>
                      </a:pPr>
                      <a:r>
                        <a:rPr b="1" lang="en" sz="900" u="none" cap="none" strike="noStrike">
                          <a:solidFill>
                            <a:srgbClr val="1D1D1F"/>
                          </a:solidFill>
                          <a:latin typeface="Arial"/>
                          <a:ea typeface="Arial"/>
                          <a:cs typeface="Arial"/>
                          <a:sym typeface="Arial"/>
                        </a:rPr>
                        <a:t>5 months</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$10-15 common. Rare cases up to 50%</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6E6E73"/>
                        </a:buClr>
                        <a:buSzPts val="900"/>
                        <a:buFont typeface="Arial"/>
                        <a:buNone/>
                      </a:pPr>
                      <a:r>
                        <a:rPr lang="en" sz="900" u="none" cap="none" strike="noStrike">
                          <a:solidFill>
                            <a:srgbClr val="6E6E73"/>
                          </a:solidFill>
                          <a:latin typeface="Arial"/>
                          <a:ea typeface="Arial"/>
                          <a:cs typeface="Arial"/>
                          <a:sym typeface="Arial"/>
                        </a:rPr>
                        <a:t>1 month off, effectively waiving the ETF</a:t>
                      </a:r>
                      <a:endParaRPr sz="900" u="none" cap="none" strike="noStrike">
                        <a:latin typeface="Arial"/>
                        <a:ea typeface="Arial"/>
                        <a:cs typeface="Arial"/>
                        <a:sym typeface="Arial"/>
                      </a:endParaRPr>
                    </a:p>
                  </a:txBody>
                  <a:tcPr marT="27425" marB="27425" marR="91450" marL="91450" anchor="ctr">
                    <a:lnL cap="flat" cmpd="sng" w="9525">
                      <a:solidFill>
                        <a:srgbClr val="DCE1E7"/>
                      </a:solidFill>
                      <a:prstDash val="solid"/>
                      <a:round/>
                      <a:headEnd len="sm" w="sm" type="none"/>
                      <a:tailEnd len="sm" w="sm" type="none"/>
                    </a:lnL>
                    <a:lnR cap="flat" cmpd="sng" w="9525">
                      <a:solidFill>
                        <a:srgbClr val="DCE1E7"/>
                      </a:solidFill>
                      <a:prstDash val="solid"/>
                      <a:round/>
                      <a:headEnd len="sm" w="sm" type="none"/>
                      <a:tailEnd len="sm" w="sm" type="none"/>
                    </a:lnR>
                    <a:lnT cap="flat" cmpd="sng" w="9525">
                      <a:solidFill>
                        <a:srgbClr val="DCE1E7"/>
                      </a:solidFill>
                      <a:prstDash val="solid"/>
                      <a:round/>
                      <a:headEnd len="sm" w="sm" type="none"/>
                      <a:tailEnd len="sm" w="sm" type="none"/>
                    </a:lnT>
                    <a:lnB cap="flat" cmpd="sng" w="9525">
                      <a:solidFill>
                        <a:srgbClr val="DCE1E7"/>
                      </a:solidFill>
                      <a:prstDash val="solid"/>
                      <a:round/>
                      <a:headEnd len="sm" w="sm" type="none"/>
                      <a:tailEnd len="sm" w="sm" type="none"/>
                    </a:lnB>
                    <a:solidFill>
                      <a:srgbClr val="FFFFFF"/>
                    </a:solidFill>
                  </a:tcPr>
                </a:tc>
              </a:tr>
            </a:tbl>
          </a:graphicData>
        </a:graphic>
      </p:graphicFrame>
      <p:sp>
        <p:nvSpPr>
          <p:cNvPr id="540" name="Google Shape;540;p39"/>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4" name="Shape 544"/>
        <p:cNvGrpSpPr/>
        <p:nvPr/>
      </p:nvGrpSpPr>
      <p:grpSpPr>
        <a:xfrm>
          <a:off x="0" y="0"/>
          <a:ext cx="0" cy="0"/>
          <a:chOff x="0" y="0"/>
          <a:chExt cx="0" cy="0"/>
        </a:xfrm>
      </p:grpSpPr>
      <p:sp>
        <p:nvSpPr>
          <p:cNvPr id="545" name="Google Shape;545;p40"/>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546" name="Google Shape;546;p40"/>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1: unaware, wants a one-time cleaning</a:t>
            </a:r>
            <a:endParaRPr b="0" i="0" sz="2400" u="none" cap="none" strike="noStrike">
              <a:solidFill>
                <a:schemeClr val="dk1"/>
              </a:solidFill>
              <a:latin typeface="Calibri"/>
              <a:ea typeface="Calibri"/>
              <a:cs typeface="Calibri"/>
              <a:sym typeface="Calibri"/>
            </a:endParaRPr>
          </a:p>
        </p:txBody>
      </p:sp>
      <p:sp>
        <p:nvSpPr>
          <p:cNvPr id="547" name="Google Shape;547;p40"/>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Explain and probe before any offer.</a:t>
            </a:r>
            <a:endParaRPr b="0" i="0" sz="1200" u="none" cap="none" strike="noStrike">
              <a:solidFill>
                <a:schemeClr val="dk1"/>
              </a:solidFill>
              <a:latin typeface="Calibri"/>
              <a:ea typeface="Calibri"/>
              <a:cs typeface="Calibri"/>
              <a:sym typeface="Calibri"/>
            </a:endParaRPr>
          </a:p>
        </p:txBody>
      </p:sp>
      <p:sp>
        <p:nvSpPr>
          <p:cNvPr id="548" name="Google Shape;548;p40"/>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49" name="Google Shape;549;p40"/>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0" name="Google Shape;550;p40"/>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551" name="Google Shape;551;p40"/>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Explain and probe</a:t>
            </a:r>
            <a:endParaRPr b="0" i="0" sz="1200" u="none" cap="none" strike="noStrike">
              <a:solidFill>
                <a:schemeClr val="dk1"/>
              </a:solidFill>
              <a:latin typeface="Calibri"/>
              <a:ea typeface="Calibri"/>
              <a:cs typeface="Calibri"/>
              <a:sym typeface="Calibri"/>
            </a:endParaRPr>
          </a:p>
        </p:txBody>
      </p:sp>
      <p:sp>
        <p:nvSpPr>
          <p:cNvPr id="552" name="Google Shape;552;p40"/>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Explain the MF and ETF terms. Probe their experience. Keep probing: this applies only when unawareness is the confirmed sole reason.</a:t>
            </a:r>
            <a:endParaRPr b="0" i="0" sz="950" u="none" cap="none" strike="noStrike">
              <a:solidFill>
                <a:schemeClr val="dk1"/>
              </a:solidFill>
              <a:latin typeface="Calibri"/>
              <a:ea typeface="Calibri"/>
              <a:cs typeface="Calibri"/>
              <a:sym typeface="Calibri"/>
            </a:endParaRPr>
          </a:p>
        </p:txBody>
      </p:sp>
      <p:sp>
        <p:nvSpPr>
          <p:cNvPr id="553" name="Google Shape;553;p40"/>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4" name="Google Shape;554;p40"/>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55" name="Google Shape;555;p40"/>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556" name="Google Shape;556;p40"/>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retainable</a:t>
            </a:r>
            <a:endParaRPr b="0" i="0" sz="1200" u="none" cap="none" strike="noStrike">
              <a:solidFill>
                <a:schemeClr val="dk1"/>
              </a:solidFill>
              <a:latin typeface="Calibri"/>
              <a:ea typeface="Calibri"/>
              <a:cs typeface="Calibri"/>
              <a:sym typeface="Calibri"/>
            </a:endParaRPr>
          </a:p>
        </p:txBody>
      </p:sp>
      <p:sp>
        <p:nvSpPr>
          <p:cNvPr id="557" name="Google Shape;557;p40"/>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Reinforce value, explain why the ETF applies, optionally offer a $20 credit. The credit is a judgment call.</a:t>
            </a:r>
            <a:endParaRPr b="0" i="0" sz="950" u="none" cap="none" strike="noStrike">
              <a:solidFill>
                <a:schemeClr val="dk1"/>
              </a:solidFill>
              <a:latin typeface="Calibri"/>
              <a:ea typeface="Calibri"/>
              <a:cs typeface="Calibri"/>
              <a:sym typeface="Calibri"/>
            </a:endParaRPr>
          </a:p>
        </p:txBody>
      </p:sp>
      <p:sp>
        <p:nvSpPr>
          <p:cNvPr id="558" name="Google Shape;558;p40"/>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59" name="Google Shape;559;p40"/>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0" name="Google Shape;560;p40"/>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561" name="Google Shape;561;p40"/>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Retainable</a:t>
            </a:r>
            <a:endParaRPr b="0" i="0" sz="1200" u="none" cap="none" strike="noStrike">
              <a:solidFill>
                <a:schemeClr val="dk1"/>
              </a:solidFill>
              <a:latin typeface="Calibri"/>
              <a:ea typeface="Calibri"/>
              <a:cs typeface="Calibri"/>
              <a:sym typeface="Calibri"/>
            </a:endParaRPr>
          </a:p>
        </p:txBody>
      </p:sp>
      <p:sp>
        <p:nvSpPr>
          <p:cNvPr id="562" name="Google Shape;562;p40"/>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$20 credit or an MF reduction, plus free months for unused MFs (not more than asked, not more than 3).</a:t>
            </a:r>
            <a:endParaRPr b="0" i="0" sz="950" u="none" cap="none" strike="noStrike">
              <a:solidFill>
                <a:schemeClr val="dk1"/>
              </a:solidFill>
              <a:latin typeface="Calibri"/>
              <a:ea typeface="Calibri"/>
              <a:cs typeface="Calibri"/>
              <a:sym typeface="Calibri"/>
            </a:endParaRPr>
          </a:p>
        </p:txBody>
      </p:sp>
      <p:sp>
        <p:nvSpPr>
          <p:cNvPr id="563" name="Google Shape;563;p40"/>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64" name="Google Shape;564;p40"/>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565" name="Google Shape;565;p40"/>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Note:</a:t>
            </a:r>
            <a:r>
              <a:rPr b="0" i="0" lang="en" sz="1000" u="none" cap="none" strike="noStrike">
                <a:solidFill>
                  <a:srgbClr val="1D1D1F"/>
                </a:solidFill>
                <a:latin typeface="Arial"/>
                <a:ea typeface="Arial"/>
                <a:cs typeface="Arial"/>
                <a:sym typeface="Arial"/>
              </a:rPr>
              <a:t>no offer is tied to "unawareness" itself. Clarifying the terms addresses it. The credit only gets C to book.</a:t>
            </a:r>
            <a:endParaRPr b="0" i="0" sz="1000" u="none" cap="none" strike="noStrike">
              <a:solidFill>
                <a:schemeClr val="dk1"/>
              </a:solidFill>
              <a:latin typeface="Calibri"/>
              <a:ea typeface="Calibri"/>
              <a:cs typeface="Calibri"/>
              <a:sym typeface="Calibri"/>
            </a:endParaRPr>
          </a:p>
        </p:txBody>
      </p:sp>
      <p:sp>
        <p:nvSpPr>
          <p:cNvPr id="566" name="Google Shape;566;p40"/>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41"/>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572" name="Google Shape;572;p41"/>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1: MF reduction and exit</a:t>
            </a:r>
            <a:endParaRPr b="0" i="0" sz="2400" u="none" cap="none" strike="noStrike">
              <a:solidFill>
                <a:schemeClr val="dk1"/>
              </a:solidFill>
              <a:latin typeface="Calibri"/>
              <a:ea typeface="Calibri"/>
              <a:cs typeface="Calibri"/>
              <a:sym typeface="Calibri"/>
            </a:endParaRPr>
          </a:p>
        </p:txBody>
      </p:sp>
      <p:sp>
        <p:nvSpPr>
          <p:cNvPr id="573" name="Google Shape;573;p41"/>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Use the reduction sparingly.</a:t>
            </a:r>
            <a:endParaRPr b="0" i="0" sz="1200" u="none" cap="none" strike="noStrike">
              <a:solidFill>
                <a:schemeClr val="dk1"/>
              </a:solidFill>
              <a:latin typeface="Calibri"/>
              <a:ea typeface="Calibri"/>
              <a:cs typeface="Calibri"/>
              <a:sym typeface="Calibri"/>
            </a:endParaRPr>
          </a:p>
        </p:txBody>
      </p:sp>
      <p:sp>
        <p:nvSpPr>
          <p:cNvPr id="574" name="Google Shape;574;p41"/>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5" name="Google Shape;575;p41"/>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76" name="Google Shape;576;p41"/>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577" name="Google Shape;577;p41"/>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When MF reduction wins</a:t>
            </a:r>
            <a:endParaRPr b="0" i="0" sz="1200" u="none" cap="none" strike="noStrike">
              <a:solidFill>
                <a:schemeClr val="dk1"/>
              </a:solidFill>
              <a:latin typeface="Calibri"/>
              <a:ea typeface="Calibri"/>
              <a:cs typeface="Calibri"/>
              <a:sym typeface="Calibri"/>
            </a:endParaRPr>
          </a:p>
        </p:txBody>
      </p:sp>
      <p:sp>
        <p:nvSpPr>
          <p:cNvPr id="578" name="Google Shape;578;p41"/>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 is 4 of 6 months in and the ETF is $105. $59 down to $44 for 2 months costs $88, cheaper than cancelling now.</a:t>
            </a:r>
            <a:endParaRPr b="0" i="0" sz="950" u="none" cap="none" strike="noStrike">
              <a:solidFill>
                <a:schemeClr val="dk1"/>
              </a:solidFill>
              <a:latin typeface="Calibri"/>
              <a:ea typeface="Calibri"/>
              <a:cs typeface="Calibri"/>
              <a:sym typeface="Calibri"/>
            </a:endParaRPr>
          </a:p>
        </p:txBody>
      </p:sp>
      <p:sp>
        <p:nvSpPr>
          <p:cNvPr id="579" name="Google Shape;579;p41"/>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p41"/>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1" name="Google Shape;581;p41"/>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582" name="Google Shape;582;p41"/>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Declines and insists</a:t>
            </a:r>
            <a:endParaRPr b="0" i="0" sz="1200" u="none" cap="none" strike="noStrike">
              <a:solidFill>
                <a:schemeClr val="dk1"/>
              </a:solidFill>
              <a:latin typeface="Calibri"/>
              <a:ea typeface="Calibri"/>
              <a:cs typeface="Calibri"/>
              <a:sym typeface="Calibri"/>
            </a:endParaRPr>
          </a:p>
        </p:txBody>
      </p:sp>
      <p:sp>
        <p:nvSpPr>
          <p:cNvPr id="583" name="Google Shape;583;p41"/>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Check for any hint they would pay a reduced ETF. Max out the 50% ETF reduction before Graceful Closure.</a:t>
            </a:r>
            <a:endParaRPr b="0" i="0" sz="950" u="none" cap="none" strike="noStrike">
              <a:solidFill>
                <a:schemeClr val="dk1"/>
              </a:solidFill>
              <a:latin typeface="Calibri"/>
              <a:ea typeface="Calibri"/>
              <a:cs typeface="Calibri"/>
              <a:sym typeface="Calibri"/>
            </a:endParaRPr>
          </a:p>
        </p:txBody>
      </p:sp>
      <p:sp>
        <p:nvSpPr>
          <p:cNvPr id="584" name="Google Shape;584;p41"/>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5" name="Google Shape;585;p41"/>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86" name="Google Shape;586;p41"/>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587" name="Google Shape;587;p41"/>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ETF does not apply</a:t>
            </a:r>
            <a:endParaRPr b="0" i="0" sz="1200" u="none" cap="none" strike="noStrike">
              <a:solidFill>
                <a:schemeClr val="dk1"/>
              </a:solidFill>
              <a:latin typeface="Calibri"/>
              <a:ea typeface="Calibri"/>
              <a:cs typeface="Calibri"/>
              <a:sym typeface="Calibri"/>
            </a:endParaRPr>
          </a:p>
        </p:txBody>
      </p:sp>
      <p:sp>
        <p:nvSpPr>
          <p:cNvPr id="588" name="Google Shape;588;p41"/>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Not retainable: cancel FC. Retainable: no further MF unless they agree, MF reduction optional, set a Timed Reminder.</a:t>
            </a:r>
            <a:endParaRPr b="0" i="0" sz="950" u="none" cap="none" strike="noStrike">
              <a:solidFill>
                <a:schemeClr val="dk1"/>
              </a:solidFill>
              <a:latin typeface="Calibri"/>
              <a:ea typeface="Calibri"/>
              <a:cs typeface="Calibri"/>
              <a:sym typeface="Calibri"/>
            </a:endParaRPr>
          </a:p>
        </p:txBody>
      </p:sp>
      <p:sp>
        <p:nvSpPr>
          <p:cNvPr id="589" name="Google Shape;589;p41"/>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590" name="Google Shape;590;p41"/>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591" name="Google Shape;591;p41"/>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Beyond MCT:</a:t>
            </a:r>
            <a:r>
              <a:rPr b="0" i="0" lang="en" sz="1000" u="none" cap="none" strike="noStrike">
                <a:solidFill>
                  <a:srgbClr val="1D1D1F"/>
                </a:solidFill>
                <a:latin typeface="Arial"/>
                <a:ea typeface="Arial"/>
                <a:cs typeface="Arial"/>
                <a:sym typeface="Arial"/>
              </a:rPr>
              <a:t>MF reduction rarely moves the needle, because C usually hasn't been using the service.</a:t>
            </a:r>
            <a:endParaRPr b="0" i="0" sz="1000" u="none" cap="none" strike="noStrike">
              <a:solidFill>
                <a:schemeClr val="dk1"/>
              </a:solidFill>
              <a:latin typeface="Calibri"/>
              <a:ea typeface="Calibri"/>
              <a:cs typeface="Calibri"/>
              <a:sym typeface="Calibri"/>
            </a:endParaRPr>
          </a:p>
        </p:txBody>
      </p:sp>
      <p:sp>
        <p:nvSpPr>
          <p:cNvPr id="592" name="Google Shape;592;p41"/>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6" name="Shape 596"/>
        <p:cNvGrpSpPr/>
        <p:nvPr/>
      </p:nvGrpSpPr>
      <p:grpSpPr>
        <a:xfrm>
          <a:off x="0" y="0"/>
          <a:ext cx="0" cy="0"/>
          <a:chOff x="0" y="0"/>
          <a:chExt cx="0" cy="0"/>
        </a:xfrm>
      </p:grpSpPr>
      <p:sp>
        <p:nvSpPr>
          <p:cNvPr id="597" name="Google Shape;597;p42"/>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598" name="Google Shape;598;p42"/>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2: can't afford, no extreme hardship</a:t>
            </a:r>
            <a:endParaRPr b="0" i="0" sz="2400" u="none" cap="none" strike="noStrike">
              <a:solidFill>
                <a:schemeClr val="dk1"/>
              </a:solidFill>
              <a:latin typeface="Calibri"/>
              <a:ea typeface="Calibri"/>
              <a:cs typeface="Calibri"/>
              <a:sym typeface="Calibri"/>
            </a:endParaRPr>
          </a:p>
        </p:txBody>
      </p:sp>
      <p:sp>
        <p:nvSpPr>
          <p:cNvPr id="599" name="Google Shape;599;p42"/>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Decide first: hardship or cost sensitivity?</a:t>
            </a:r>
            <a:endParaRPr b="0" i="0" sz="1200" u="none" cap="none" strike="noStrike">
              <a:solidFill>
                <a:schemeClr val="dk1"/>
              </a:solidFill>
              <a:latin typeface="Calibri"/>
              <a:ea typeface="Calibri"/>
              <a:cs typeface="Calibri"/>
              <a:sym typeface="Calibri"/>
            </a:endParaRPr>
          </a:p>
        </p:txBody>
      </p:sp>
      <p:sp>
        <p:nvSpPr>
          <p:cNvPr id="600" name="Google Shape;600;p42"/>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1" name="Google Shape;601;p42"/>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2" name="Google Shape;602;p42"/>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603" name="Google Shape;603;p42"/>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Which scenario?</a:t>
            </a:r>
            <a:endParaRPr b="0" i="0" sz="1200" u="none" cap="none" strike="noStrike">
              <a:solidFill>
                <a:schemeClr val="dk1"/>
              </a:solidFill>
              <a:latin typeface="Calibri"/>
              <a:ea typeface="Calibri"/>
              <a:cs typeface="Calibri"/>
              <a:sym typeface="Calibri"/>
            </a:endParaRPr>
          </a:p>
        </p:txBody>
      </p:sp>
      <p:sp>
        <p:nvSpPr>
          <p:cNvPr id="604" name="Google Shape;604;p42"/>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Job loss, bankruptcy or homelessness: go to ETF Waivers hardship (50% off exit, then full waiver). "Money's tight" alone stays here.</a:t>
            </a:r>
            <a:endParaRPr b="0" i="0" sz="950" u="none" cap="none" strike="noStrike">
              <a:solidFill>
                <a:schemeClr val="dk1"/>
              </a:solidFill>
              <a:latin typeface="Calibri"/>
              <a:ea typeface="Calibri"/>
              <a:cs typeface="Calibri"/>
              <a:sym typeface="Calibri"/>
            </a:endParaRPr>
          </a:p>
        </p:txBody>
      </p:sp>
      <p:sp>
        <p:nvSpPr>
          <p:cNvPr id="605" name="Google Shape;605;p42"/>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06" name="Google Shape;606;p42"/>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07" name="Google Shape;607;p42"/>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608" name="Google Shape;608;p42"/>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Retainable</a:t>
            </a:r>
            <a:endParaRPr b="0" i="0" sz="1200" u="none" cap="none" strike="noStrike">
              <a:solidFill>
                <a:schemeClr val="dk1"/>
              </a:solidFill>
              <a:latin typeface="Calibri"/>
              <a:ea typeface="Calibri"/>
              <a:cs typeface="Calibri"/>
              <a:sym typeface="Calibri"/>
            </a:endParaRPr>
          </a:p>
        </p:txBody>
      </p:sp>
      <p:sp>
        <p:nvSpPr>
          <p:cNvPr id="609" name="Google Shape;609;p42"/>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Offer the MF reduction. Declined? Reassess. $10-15 is within your authority; more needs CSQ approval. Add free months for unused MFs.</a:t>
            </a:r>
            <a:endParaRPr b="0" i="0" sz="950" u="none" cap="none" strike="noStrike">
              <a:solidFill>
                <a:schemeClr val="dk1"/>
              </a:solidFill>
              <a:latin typeface="Calibri"/>
              <a:ea typeface="Calibri"/>
              <a:cs typeface="Calibri"/>
              <a:sym typeface="Calibri"/>
            </a:endParaRPr>
          </a:p>
        </p:txBody>
      </p:sp>
      <p:sp>
        <p:nvSpPr>
          <p:cNvPr id="610" name="Google Shape;610;p42"/>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11" name="Google Shape;611;p42"/>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2" name="Google Shape;612;p42"/>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613" name="Google Shape;613;p42"/>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Not retainable</a:t>
            </a:r>
            <a:endParaRPr b="0" i="0" sz="1200" u="none" cap="none" strike="noStrike">
              <a:solidFill>
                <a:schemeClr val="dk1"/>
              </a:solidFill>
              <a:latin typeface="Calibri"/>
              <a:ea typeface="Calibri"/>
              <a:cs typeface="Calibri"/>
              <a:sym typeface="Calibri"/>
            </a:endParaRPr>
          </a:p>
        </p:txBody>
      </p:sp>
      <p:sp>
        <p:nvSpPr>
          <p:cNvPr id="614" name="Google Shape;614;p42"/>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Close at the lowest cost: MCT reduction (up to 2 months) or ETF reduction (up to 50%), whichever is cheaper. Max out before Graceful Closure.</a:t>
            </a:r>
            <a:endParaRPr b="0" i="0" sz="950" u="none" cap="none" strike="noStrike">
              <a:solidFill>
                <a:schemeClr val="dk1"/>
              </a:solidFill>
              <a:latin typeface="Calibri"/>
              <a:ea typeface="Calibri"/>
              <a:cs typeface="Calibri"/>
              <a:sym typeface="Calibri"/>
            </a:endParaRPr>
          </a:p>
        </p:txBody>
      </p:sp>
      <p:sp>
        <p:nvSpPr>
          <p:cNvPr id="615" name="Google Shape;615;p42"/>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16" name="Google Shape;616;p42"/>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617" name="Google Shape;617;p42"/>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Don't upgrade it:</a:t>
            </a:r>
            <a:r>
              <a:rPr b="0" i="0" lang="en" sz="1000" u="none" cap="none" strike="noStrike">
                <a:solidFill>
                  <a:srgbClr val="1D1D1F"/>
                </a:solidFill>
                <a:latin typeface="Arial"/>
                <a:ea typeface="Arial"/>
                <a:cs typeface="Arial"/>
                <a:sym typeface="Arial"/>
              </a:rPr>
              <a:t>"$59 a month isn't worth it" is Scenario 2. Affordability concerns alone are not a reason to stop attempting retention.</a:t>
            </a:r>
            <a:endParaRPr b="0" i="0" sz="1000" u="none" cap="none" strike="noStrike">
              <a:solidFill>
                <a:schemeClr val="dk1"/>
              </a:solidFill>
              <a:latin typeface="Calibri"/>
              <a:ea typeface="Calibri"/>
              <a:cs typeface="Calibri"/>
              <a:sym typeface="Calibri"/>
            </a:endParaRPr>
          </a:p>
        </p:txBody>
      </p:sp>
      <p:sp>
        <p:nvSpPr>
          <p:cNvPr id="618" name="Google Shape;618;p42"/>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2" name="Shape 622"/>
        <p:cNvGrpSpPr/>
        <p:nvPr/>
      </p:nvGrpSpPr>
      <p:grpSpPr>
        <a:xfrm>
          <a:off x="0" y="0"/>
          <a:ext cx="0" cy="0"/>
          <a:chOff x="0" y="0"/>
          <a:chExt cx="0" cy="0"/>
        </a:xfrm>
      </p:grpSpPr>
      <p:sp>
        <p:nvSpPr>
          <p:cNvPr id="623" name="Google Shape;623;p43"/>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624" name="Google Shape;624;p43"/>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3: pause the membership</a:t>
            </a:r>
            <a:endParaRPr b="0" i="0" sz="2400" u="none" cap="none" strike="noStrike">
              <a:solidFill>
                <a:schemeClr val="dk1"/>
              </a:solidFill>
              <a:latin typeface="Calibri"/>
              <a:ea typeface="Calibri"/>
              <a:cs typeface="Calibri"/>
              <a:sym typeface="Calibri"/>
            </a:endParaRPr>
          </a:p>
        </p:txBody>
      </p:sp>
      <p:sp>
        <p:nvSpPr>
          <p:cNvPr id="625" name="Google Shape;625;p43"/>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There is no pause button. Free months simulate one.</a:t>
            </a:r>
            <a:endParaRPr b="0" i="0" sz="1200" u="none" cap="none" strike="noStrike">
              <a:solidFill>
                <a:schemeClr val="dk1"/>
              </a:solidFill>
              <a:latin typeface="Calibri"/>
              <a:ea typeface="Calibri"/>
              <a:cs typeface="Calibri"/>
              <a:sym typeface="Calibri"/>
            </a:endParaRPr>
          </a:p>
        </p:txBody>
      </p:sp>
      <p:sp>
        <p:nvSpPr>
          <p:cNvPr id="626" name="Google Shape;626;p43"/>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27" name="Google Shape;627;p43"/>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28" name="Google Shape;628;p43"/>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629" name="Google Shape;629;p43"/>
          <p:cNvSpPr txBox="1"/>
          <p:nvPr/>
        </p:nvSpPr>
        <p:spPr>
          <a:xfrm>
            <a:off x="517325" y="1920300"/>
            <a:ext cx="2576400" cy="274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Asks to cancel, reason is temporary</a:t>
            </a:r>
            <a:endParaRPr b="0" i="0" sz="1200" u="none" cap="none" strike="noStrike">
              <a:solidFill>
                <a:schemeClr val="dk1"/>
              </a:solidFill>
              <a:latin typeface="Calibri"/>
              <a:ea typeface="Calibri"/>
              <a:cs typeface="Calibri"/>
              <a:sym typeface="Calibri"/>
            </a:endParaRPr>
          </a:p>
        </p:txBody>
      </p:sp>
      <p:sp>
        <p:nvSpPr>
          <p:cNvPr id="630" name="Google Shape;630;p43"/>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Probe first. If it is time-bound (finances, travel, health, seasonal), offer a pause before treating it as an exit.</a:t>
            </a:r>
            <a:endParaRPr b="0" i="0" sz="950" u="none" cap="none" strike="noStrike">
              <a:solidFill>
                <a:schemeClr val="dk1"/>
              </a:solidFill>
              <a:latin typeface="Calibri"/>
              <a:ea typeface="Calibri"/>
              <a:cs typeface="Calibri"/>
              <a:sym typeface="Calibri"/>
            </a:endParaRPr>
          </a:p>
        </p:txBody>
      </p:sp>
      <p:sp>
        <p:nvSpPr>
          <p:cNvPr id="631" name="Google Shape;631;p43"/>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2" name="Google Shape;632;p43"/>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3" name="Google Shape;633;p43"/>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634" name="Google Shape;634;p43"/>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Asks to pause</a:t>
            </a:r>
            <a:endParaRPr b="0" i="0" sz="1200" u="none" cap="none" strike="noStrike">
              <a:solidFill>
                <a:schemeClr val="dk1"/>
              </a:solidFill>
              <a:latin typeface="Calibri"/>
              <a:ea typeface="Calibri"/>
              <a:cs typeface="Calibri"/>
              <a:sym typeface="Calibri"/>
            </a:endParaRPr>
          </a:p>
        </p:txBody>
      </p:sp>
      <p:sp>
        <p:nvSpPr>
          <p:cNvPr id="635" name="Google Shape;635;p43"/>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With a timeframe: free months to cover it (cap 6), confirm resume date, cancel unused jobs and RC. No timeframe: 1 free month now, confirm duration, top up.</a:t>
            </a:r>
            <a:endParaRPr b="0" i="0" sz="950" u="none" cap="none" strike="noStrike">
              <a:solidFill>
                <a:schemeClr val="dk1"/>
              </a:solidFill>
              <a:latin typeface="Calibri"/>
              <a:ea typeface="Calibri"/>
              <a:cs typeface="Calibri"/>
              <a:sym typeface="Calibri"/>
            </a:endParaRPr>
          </a:p>
        </p:txBody>
      </p:sp>
      <p:sp>
        <p:nvSpPr>
          <p:cNvPr id="636" name="Google Shape;636;p43"/>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7" name="Google Shape;637;p43"/>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38" name="Google Shape;638;p43"/>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639" name="Google Shape;639;p43"/>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You spot the signal first</a:t>
            </a:r>
            <a:endParaRPr b="0" i="0" sz="1200" u="none" cap="none" strike="noStrike">
              <a:solidFill>
                <a:schemeClr val="dk1"/>
              </a:solidFill>
              <a:latin typeface="Calibri"/>
              <a:ea typeface="Calibri"/>
              <a:cs typeface="Calibri"/>
              <a:sym typeface="Calibri"/>
            </a:endParaRPr>
          </a:p>
        </p:txBody>
      </p:sp>
      <p:sp>
        <p:nvSpPr>
          <p:cNvPr id="640" name="Google Shape;640;p43"/>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Don't assume. Confirm intent with neutral framing, then handle it like a direct request.</a:t>
            </a:r>
            <a:endParaRPr b="0" i="0" sz="950" u="none" cap="none" strike="noStrike">
              <a:solidFill>
                <a:schemeClr val="dk1"/>
              </a:solidFill>
              <a:latin typeface="Calibri"/>
              <a:ea typeface="Calibri"/>
              <a:cs typeface="Calibri"/>
              <a:sym typeface="Calibri"/>
            </a:endParaRPr>
          </a:p>
        </p:txBody>
      </p:sp>
      <p:sp>
        <p:nvSpPr>
          <p:cNvPr id="641" name="Google Shape;641;p43"/>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42" name="Google Shape;642;p43"/>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643" name="Google Shape;643;p43"/>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Cap:</a:t>
            </a:r>
            <a:r>
              <a:rPr b="0" i="0" lang="en" sz="1000" u="none" cap="none" strike="noStrike">
                <a:solidFill>
                  <a:srgbClr val="1D1D1F"/>
                </a:solidFill>
                <a:latin typeface="Arial"/>
                <a:ea typeface="Arial"/>
                <a:cs typeface="Arial"/>
                <a:sym typeface="Arial"/>
              </a:rPr>
              <a:t>6 months. Anything longer needs Support approval.</a:t>
            </a:r>
            <a:endParaRPr b="0" i="0" sz="1000" u="none" cap="none" strike="noStrike">
              <a:solidFill>
                <a:schemeClr val="dk1"/>
              </a:solidFill>
              <a:latin typeface="Calibri"/>
              <a:ea typeface="Calibri"/>
              <a:cs typeface="Calibri"/>
              <a:sym typeface="Calibri"/>
            </a:endParaRPr>
          </a:p>
        </p:txBody>
      </p:sp>
      <p:sp>
        <p:nvSpPr>
          <p:cNvPr id="644" name="Google Shape;644;p43"/>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sp>
        <p:nvSpPr>
          <p:cNvPr id="649" name="Google Shape;649;p44"/>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650" name="Google Shape;650;p44"/>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4: issues with the terms</a:t>
            </a:r>
            <a:endParaRPr b="0" i="0" sz="2400" u="none" cap="none" strike="noStrike">
              <a:solidFill>
                <a:schemeClr val="dk1"/>
              </a:solidFill>
              <a:latin typeface="Calibri"/>
              <a:ea typeface="Calibri"/>
              <a:cs typeface="Calibri"/>
              <a:sym typeface="Calibri"/>
            </a:endParaRPr>
          </a:p>
        </p:txBody>
      </p:sp>
      <p:sp>
        <p:nvSpPr>
          <p:cNvPr id="651" name="Google Shape;651;p44"/>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A price objection gets a reduction, not a refund.</a:t>
            </a:r>
            <a:endParaRPr b="0" i="0" sz="1200" u="none" cap="none" strike="noStrike">
              <a:solidFill>
                <a:schemeClr val="dk1"/>
              </a:solidFill>
              <a:latin typeface="Calibri"/>
              <a:ea typeface="Calibri"/>
              <a:cs typeface="Calibri"/>
              <a:sym typeface="Calibri"/>
            </a:endParaRPr>
          </a:p>
        </p:txBody>
      </p:sp>
      <p:sp>
        <p:nvSpPr>
          <p:cNvPr id="652" name="Google Shape;652;p44"/>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3" name="Google Shape;653;p44"/>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4" name="Google Shape;654;p44"/>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655" name="Google Shape;655;p44"/>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MF too expensive</a:t>
            </a:r>
            <a:endParaRPr b="0" i="0" sz="1200" u="none" cap="none" strike="noStrike">
              <a:solidFill>
                <a:schemeClr val="dk1"/>
              </a:solidFill>
              <a:latin typeface="Calibri"/>
              <a:ea typeface="Calibri"/>
              <a:cs typeface="Calibri"/>
              <a:sym typeface="Calibri"/>
            </a:endParaRPr>
          </a:p>
        </p:txBody>
      </p:sp>
      <p:sp>
        <p:nvSpPr>
          <p:cNvPr id="656" name="Google Shape;656;p44"/>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Offer the reduction from the paid-MF table, anchored on the dollar figure ("$15 off", not "25%").</a:t>
            </a:r>
            <a:endParaRPr b="0" i="0" sz="950" u="none" cap="none" strike="noStrike">
              <a:solidFill>
                <a:schemeClr val="dk1"/>
              </a:solidFill>
              <a:latin typeface="Calibri"/>
              <a:ea typeface="Calibri"/>
              <a:cs typeface="Calibri"/>
              <a:sym typeface="Calibri"/>
            </a:endParaRPr>
          </a:p>
        </p:txBody>
      </p:sp>
      <p:sp>
        <p:nvSpPr>
          <p:cNvPr id="657" name="Google Shape;657;p44"/>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58" name="Google Shape;658;p44"/>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59" name="Google Shape;659;p44"/>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660" name="Google Shape;660;p44"/>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MCT too long</a:t>
            </a:r>
            <a:endParaRPr b="0" i="0" sz="1200" u="none" cap="none" strike="noStrike">
              <a:solidFill>
                <a:schemeClr val="dk1"/>
              </a:solidFill>
              <a:latin typeface="Calibri"/>
              <a:ea typeface="Calibri"/>
              <a:cs typeface="Calibri"/>
              <a:sym typeface="Calibri"/>
            </a:endParaRPr>
          </a:p>
        </p:txBody>
      </p:sp>
      <p:sp>
        <p:nvSpPr>
          <p:cNvPr id="661" name="Google Shape;661;p44"/>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Same approach with the MCT reduction table. Check escalation level and payment history. Don't default to the max.</a:t>
            </a:r>
            <a:endParaRPr b="0" i="0" sz="950" u="none" cap="none" strike="noStrike">
              <a:solidFill>
                <a:schemeClr val="dk1"/>
              </a:solidFill>
              <a:latin typeface="Calibri"/>
              <a:ea typeface="Calibri"/>
              <a:cs typeface="Calibri"/>
              <a:sym typeface="Calibri"/>
            </a:endParaRPr>
          </a:p>
        </p:txBody>
      </p:sp>
      <p:sp>
        <p:nvSpPr>
          <p:cNvPr id="662" name="Google Shape;662;p44"/>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63" name="Google Shape;663;p44"/>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4" name="Google Shape;664;p44"/>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665" name="Google Shape;665;p44"/>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Declined or not retainable</a:t>
            </a:r>
            <a:endParaRPr b="0" i="0" sz="1200" u="none" cap="none" strike="noStrike">
              <a:solidFill>
                <a:schemeClr val="dk1"/>
              </a:solidFill>
              <a:latin typeface="Calibri"/>
              <a:ea typeface="Calibri"/>
              <a:cs typeface="Calibri"/>
              <a:sym typeface="Calibri"/>
            </a:endParaRPr>
          </a:p>
        </p:txBody>
      </p:sp>
      <p:sp>
        <p:nvSpPr>
          <p:cNvPr id="666" name="Google Shape;666;p44"/>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Reassess before moving to exit. $10-15 is within authority, more goes to CSQ. If not retainable: cheaper of MCT or ETF reduction.</a:t>
            </a:r>
            <a:endParaRPr b="0" i="0" sz="950" u="none" cap="none" strike="noStrike">
              <a:solidFill>
                <a:schemeClr val="dk1"/>
              </a:solidFill>
              <a:latin typeface="Calibri"/>
              <a:ea typeface="Calibri"/>
              <a:cs typeface="Calibri"/>
              <a:sym typeface="Calibri"/>
            </a:endParaRPr>
          </a:p>
        </p:txBody>
      </p:sp>
      <p:sp>
        <p:nvSpPr>
          <p:cNvPr id="667" name="Google Shape;667;p44"/>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68" name="Google Shape;668;p44"/>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669" name="Google Shape;669;p44"/>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Before Graceful Closure:</a:t>
            </a:r>
            <a:r>
              <a:rPr b="0" i="0" lang="en" sz="1000" u="none" cap="none" strike="noStrike">
                <a:solidFill>
                  <a:srgbClr val="1D1D1F"/>
                </a:solidFill>
                <a:latin typeface="Arial"/>
                <a:ea typeface="Arial"/>
                <a:cs typeface="Arial"/>
                <a:sym typeface="Arial"/>
              </a:rPr>
              <a:t>the ETF reduction offer must be maxed out to the full 50%.</a:t>
            </a:r>
            <a:endParaRPr b="0" i="0" sz="1000" u="none" cap="none" strike="noStrike">
              <a:solidFill>
                <a:schemeClr val="dk1"/>
              </a:solidFill>
              <a:latin typeface="Calibri"/>
              <a:ea typeface="Calibri"/>
              <a:cs typeface="Calibri"/>
              <a:sym typeface="Calibri"/>
            </a:endParaRPr>
          </a:p>
        </p:txBody>
      </p:sp>
      <p:sp>
        <p:nvSpPr>
          <p:cNvPr id="670" name="Google Shape;670;p44"/>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4" name="Shape 674"/>
        <p:cNvGrpSpPr/>
        <p:nvPr/>
      </p:nvGrpSpPr>
      <p:grpSpPr>
        <a:xfrm>
          <a:off x="0" y="0"/>
          <a:ext cx="0" cy="0"/>
          <a:chOff x="0" y="0"/>
          <a:chExt cx="0" cy="0"/>
        </a:xfrm>
      </p:grpSpPr>
      <p:sp>
        <p:nvSpPr>
          <p:cNvPr id="675" name="Google Shape;675;p45"/>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676" name="Google Shape;676;p45"/>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5: inactivity or "forgot" about FC</a:t>
            </a:r>
            <a:endParaRPr b="0" i="0" sz="2400" u="none" cap="none" strike="noStrike">
              <a:solidFill>
                <a:schemeClr val="dk1"/>
              </a:solidFill>
              <a:latin typeface="Calibri"/>
              <a:ea typeface="Calibri"/>
              <a:cs typeface="Calibri"/>
              <a:sym typeface="Calibri"/>
            </a:endParaRPr>
          </a:p>
        </p:txBody>
      </p:sp>
      <p:sp>
        <p:nvSpPr>
          <p:cNvPr id="677" name="Google Shape;677;p45"/>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Multiple unused MFs after the customer went quiet.</a:t>
            </a:r>
            <a:endParaRPr b="0" i="0" sz="1200" u="none" cap="none" strike="noStrike">
              <a:solidFill>
                <a:schemeClr val="dk1"/>
              </a:solidFill>
              <a:latin typeface="Calibri"/>
              <a:ea typeface="Calibri"/>
              <a:cs typeface="Calibri"/>
              <a:sym typeface="Calibri"/>
            </a:endParaRPr>
          </a:p>
        </p:txBody>
      </p:sp>
      <p:sp>
        <p:nvSpPr>
          <p:cNvPr id="678" name="Google Shape;678;p45"/>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79" name="Google Shape;679;p45"/>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80" name="Google Shape;680;p45"/>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681" name="Google Shape;681;p45"/>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Within MCT</a:t>
            </a:r>
            <a:endParaRPr b="0" i="0" sz="1200" u="none" cap="none" strike="noStrike">
              <a:solidFill>
                <a:schemeClr val="dk1"/>
              </a:solidFill>
              <a:latin typeface="Calibri"/>
              <a:ea typeface="Calibri"/>
              <a:cs typeface="Calibri"/>
              <a:sym typeface="Calibri"/>
            </a:endParaRPr>
          </a:p>
        </p:txBody>
      </p:sp>
      <p:sp>
        <p:nvSpPr>
          <p:cNvPr id="682" name="Google Shape;682;p45"/>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Check the real reason first (PCQ, unaware, two consecutive issues). If it is inactivity: pause 1-2 weeks if next MF is within 5 days, explain ETF terms, re-engage.</a:t>
            </a:r>
            <a:endParaRPr b="0" i="0" sz="950" u="none" cap="none" strike="noStrike">
              <a:solidFill>
                <a:schemeClr val="dk1"/>
              </a:solidFill>
              <a:latin typeface="Calibri"/>
              <a:ea typeface="Calibri"/>
              <a:cs typeface="Calibri"/>
              <a:sym typeface="Calibri"/>
            </a:endParaRPr>
          </a:p>
        </p:txBody>
      </p:sp>
      <p:sp>
        <p:nvSpPr>
          <p:cNvPr id="683" name="Google Shape;683;p45"/>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4" name="Google Shape;684;p45"/>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85" name="Google Shape;685;p45"/>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686" name="Google Shape;686;p45"/>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Beyond MCT</a:t>
            </a:r>
            <a:endParaRPr b="0" i="0" sz="1200" u="none" cap="none" strike="noStrike">
              <a:solidFill>
                <a:schemeClr val="dk1"/>
              </a:solidFill>
              <a:latin typeface="Calibri"/>
              <a:ea typeface="Calibri"/>
              <a:cs typeface="Calibri"/>
              <a:sym typeface="Calibri"/>
            </a:endParaRPr>
          </a:p>
        </p:txBody>
      </p:sp>
      <p:sp>
        <p:nvSpPr>
          <p:cNvPr id="687" name="Google Shape;687;p45"/>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Not reasonable to retain (few jobs, many paid months): cancel. Reasonable: probe, offer up to 3 free months for unused MFs, confirm no more MF, set a Timed Reminder.</a:t>
            </a:r>
            <a:endParaRPr b="0" i="0" sz="950" u="none" cap="none" strike="noStrike">
              <a:solidFill>
                <a:schemeClr val="dk1"/>
              </a:solidFill>
              <a:latin typeface="Calibri"/>
              <a:ea typeface="Calibri"/>
              <a:cs typeface="Calibri"/>
              <a:sym typeface="Calibri"/>
            </a:endParaRPr>
          </a:p>
        </p:txBody>
      </p:sp>
      <p:sp>
        <p:nvSpPr>
          <p:cNvPr id="688" name="Google Shape;688;p45"/>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9" name="Google Shape;689;p45"/>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0" name="Google Shape;690;p45"/>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691" name="Google Shape;691;p45"/>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Refund after long inactivity</a:t>
            </a:r>
            <a:endParaRPr b="0" i="0" sz="1200" u="none" cap="none" strike="noStrike">
              <a:solidFill>
                <a:schemeClr val="dk1"/>
              </a:solidFill>
              <a:latin typeface="Calibri"/>
              <a:ea typeface="Calibri"/>
              <a:cs typeface="Calibri"/>
              <a:sym typeface="Calibri"/>
            </a:endParaRPr>
          </a:p>
        </p:txBody>
      </p:sp>
      <p:sp>
        <p:nvSpPr>
          <p:cNvPr id="692" name="Google Shape;692;p45"/>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Only MFs charged in the last 120 days that are beyond MCT. Refund = paid months minus MCT. 12 paid, 6 MCT: 4 months, not 6.</a:t>
            </a:r>
            <a:endParaRPr b="0" i="0" sz="950" u="none" cap="none" strike="noStrike">
              <a:solidFill>
                <a:schemeClr val="dk1"/>
              </a:solidFill>
              <a:latin typeface="Calibri"/>
              <a:ea typeface="Calibri"/>
              <a:cs typeface="Calibri"/>
              <a:sym typeface="Calibri"/>
            </a:endParaRPr>
          </a:p>
        </p:txBody>
      </p:sp>
      <p:sp>
        <p:nvSpPr>
          <p:cNvPr id="693" name="Google Shape;693;p45"/>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694" name="Google Shape;694;p45"/>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695" name="Google Shape;695;p45"/>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Don't steer:</a:t>
            </a:r>
            <a:r>
              <a:rPr b="0" i="0" lang="en" sz="1000" u="none" cap="none" strike="noStrike">
                <a:solidFill>
                  <a:srgbClr val="1D1D1F"/>
                </a:solidFill>
                <a:latin typeface="Arial"/>
                <a:ea typeface="Arial"/>
                <a:cs typeface="Arial"/>
                <a:sym typeface="Arial"/>
              </a:rPr>
              <a:t>if the customer says they don't want a refund and just want to cancel, proceed with the cancellation.</a:t>
            </a:r>
            <a:endParaRPr b="0" i="0" sz="1000" u="none" cap="none" strike="noStrike">
              <a:solidFill>
                <a:schemeClr val="dk1"/>
              </a:solidFill>
              <a:latin typeface="Calibri"/>
              <a:ea typeface="Calibri"/>
              <a:cs typeface="Calibri"/>
              <a:sym typeface="Calibri"/>
            </a:endParaRPr>
          </a:p>
        </p:txBody>
      </p:sp>
      <p:sp>
        <p:nvSpPr>
          <p:cNvPr id="696" name="Google Shape;696;p45"/>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0" name="Shape 700"/>
        <p:cNvGrpSpPr/>
        <p:nvPr/>
      </p:nvGrpSpPr>
      <p:grpSpPr>
        <a:xfrm>
          <a:off x="0" y="0"/>
          <a:ext cx="0" cy="0"/>
          <a:chOff x="0" y="0"/>
          <a:chExt cx="0" cy="0"/>
        </a:xfrm>
      </p:grpSpPr>
      <p:sp>
        <p:nvSpPr>
          <p:cNvPr id="701" name="Google Shape;701;p46"/>
          <p:cNvSpPr txBox="1"/>
          <p:nvPr/>
        </p:nvSpPr>
        <p:spPr>
          <a:xfrm>
            <a:off x="438912" y="274320"/>
            <a:ext cx="8229600" cy="1828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MEMBERSHIP RETENTION</a:t>
            </a:r>
            <a:endParaRPr b="0" i="0" sz="800" u="none" cap="none" strike="noStrike">
              <a:solidFill>
                <a:schemeClr val="dk1"/>
              </a:solidFill>
              <a:latin typeface="Calibri"/>
              <a:ea typeface="Calibri"/>
              <a:cs typeface="Calibri"/>
              <a:sym typeface="Calibri"/>
            </a:endParaRPr>
          </a:p>
        </p:txBody>
      </p:sp>
      <p:sp>
        <p:nvSpPr>
          <p:cNvPr id="702" name="Google Shape;702;p46"/>
          <p:cNvSpPr txBox="1"/>
          <p:nvPr/>
        </p:nvSpPr>
        <p:spPr>
          <a:xfrm>
            <a:off x="438912" y="457200"/>
            <a:ext cx="82296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2400"/>
              <a:buFont typeface="Play"/>
              <a:buNone/>
            </a:pPr>
            <a:r>
              <a:rPr b="1" i="0" lang="en" sz="2400" u="none" cap="none" strike="noStrike">
                <a:solidFill>
                  <a:srgbClr val="1D1D1F"/>
                </a:solidFill>
                <a:latin typeface="Play"/>
                <a:ea typeface="Play"/>
                <a:cs typeface="Play"/>
                <a:sym typeface="Play"/>
              </a:rPr>
              <a:t>Scenario 6: moving</a:t>
            </a:r>
            <a:endParaRPr b="0" i="0" sz="2400" u="none" cap="none" strike="noStrike">
              <a:solidFill>
                <a:schemeClr val="dk1"/>
              </a:solidFill>
              <a:latin typeface="Calibri"/>
              <a:ea typeface="Calibri"/>
              <a:cs typeface="Calibri"/>
              <a:sym typeface="Calibri"/>
            </a:endParaRPr>
          </a:p>
        </p:txBody>
      </p:sp>
      <p:sp>
        <p:nvSpPr>
          <p:cNvPr id="703" name="Google Shape;703;p46"/>
          <p:cNvSpPr txBox="1"/>
          <p:nvPr/>
        </p:nvSpPr>
        <p:spPr>
          <a:xfrm>
            <a:off x="438912" y="960120"/>
            <a:ext cx="822960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Where they are going decides pause or exit.</a:t>
            </a:r>
            <a:endParaRPr b="0" i="0" sz="1200" u="none" cap="none" strike="noStrike">
              <a:solidFill>
                <a:schemeClr val="dk1"/>
              </a:solidFill>
              <a:latin typeface="Calibri"/>
              <a:ea typeface="Calibri"/>
              <a:cs typeface="Calibri"/>
              <a:sym typeface="Calibri"/>
            </a:endParaRPr>
          </a:p>
        </p:txBody>
      </p:sp>
      <p:sp>
        <p:nvSpPr>
          <p:cNvPr id="704" name="Google Shape;704;p46"/>
          <p:cNvSpPr/>
          <p:nvPr/>
        </p:nvSpPr>
        <p:spPr>
          <a:xfrm>
            <a:off x="4114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05" name="Google Shape;705;p46"/>
          <p:cNvSpPr/>
          <p:nvPr/>
        </p:nvSpPr>
        <p:spPr>
          <a:xfrm>
            <a:off x="5760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06" name="Google Shape;706;p46"/>
          <p:cNvPicPr preferRelativeResize="0"/>
          <p:nvPr/>
        </p:nvPicPr>
        <p:blipFill rotWithShape="1">
          <a:blip r:embed="rId3">
            <a:alphaModFix/>
          </a:blip>
          <a:srcRect b="0" l="0" r="0" t="0"/>
          <a:stretch/>
        </p:blipFill>
        <p:spPr>
          <a:xfrm>
            <a:off x="655076" y="1569476"/>
            <a:ext cx="171176" cy="171176"/>
          </a:xfrm>
          <a:prstGeom prst="rect">
            <a:avLst/>
          </a:prstGeom>
          <a:noFill/>
          <a:ln>
            <a:noFill/>
          </a:ln>
        </p:spPr>
      </p:pic>
      <p:sp>
        <p:nvSpPr>
          <p:cNvPr id="707" name="Google Shape;707;p46"/>
          <p:cNvSpPr txBox="1"/>
          <p:nvPr/>
        </p:nvSpPr>
        <p:spPr>
          <a:xfrm>
            <a:off x="5760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New address not shared</a:t>
            </a:r>
            <a:endParaRPr b="0" i="0" sz="1200" u="none" cap="none" strike="noStrike">
              <a:solidFill>
                <a:schemeClr val="dk1"/>
              </a:solidFill>
              <a:latin typeface="Calibri"/>
              <a:ea typeface="Calibri"/>
              <a:cs typeface="Calibri"/>
              <a:sym typeface="Calibri"/>
            </a:endParaRPr>
          </a:p>
        </p:txBody>
      </p:sp>
      <p:sp>
        <p:nvSpPr>
          <p:cNvPr id="708" name="Google Shape;708;p46"/>
          <p:cNvSpPr txBox="1"/>
          <p:nvPr/>
        </p:nvSpPr>
        <p:spPr>
          <a:xfrm>
            <a:off x="5760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Ask for it. If the next MF is within 7 days, issue 1 free month. Otherwise set a Timed Reminder before the next charge.</a:t>
            </a:r>
            <a:endParaRPr b="0" i="0" sz="950" u="none" cap="none" strike="noStrike">
              <a:solidFill>
                <a:schemeClr val="dk1"/>
              </a:solidFill>
              <a:latin typeface="Calibri"/>
              <a:ea typeface="Calibri"/>
              <a:cs typeface="Calibri"/>
              <a:sym typeface="Calibri"/>
            </a:endParaRPr>
          </a:p>
        </p:txBody>
      </p:sp>
      <p:sp>
        <p:nvSpPr>
          <p:cNvPr id="709" name="Google Shape;709;p46"/>
          <p:cNvSpPr/>
          <p:nvPr/>
        </p:nvSpPr>
        <p:spPr>
          <a:xfrm>
            <a:off x="32308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0" name="Google Shape;710;p46"/>
          <p:cNvSpPr/>
          <p:nvPr/>
        </p:nvSpPr>
        <p:spPr>
          <a:xfrm>
            <a:off x="33954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1" name="Google Shape;711;p46"/>
          <p:cNvPicPr preferRelativeResize="0"/>
          <p:nvPr/>
        </p:nvPicPr>
        <p:blipFill rotWithShape="1">
          <a:blip r:embed="rId4">
            <a:alphaModFix/>
          </a:blip>
          <a:srcRect b="0" l="0" r="0" t="0"/>
          <a:stretch/>
        </p:blipFill>
        <p:spPr>
          <a:xfrm>
            <a:off x="3474476" y="1569476"/>
            <a:ext cx="171176" cy="171176"/>
          </a:xfrm>
          <a:prstGeom prst="rect">
            <a:avLst/>
          </a:prstGeom>
          <a:noFill/>
          <a:ln>
            <a:noFill/>
          </a:ln>
        </p:spPr>
      </p:pic>
      <p:sp>
        <p:nvSpPr>
          <p:cNvPr id="712" name="Google Shape;712;p46"/>
          <p:cNvSpPr txBox="1"/>
          <p:nvPr/>
        </p:nvSpPr>
        <p:spPr>
          <a:xfrm>
            <a:off x="33954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Inside a service area</a:t>
            </a:r>
            <a:endParaRPr b="0" i="0" sz="1200" u="none" cap="none" strike="noStrike">
              <a:solidFill>
                <a:schemeClr val="dk1"/>
              </a:solidFill>
              <a:latin typeface="Calibri"/>
              <a:ea typeface="Calibri"/>
              <a:cs typeface="Calibri"/>
              <a:sym typeface="Calibri"/>
            </a:endParaRPr>
          </a:p>
        </p:txBody>
      </p:sp>
      <p:sp>
        <p:nvSpPr>
          <p:cNvPr id="713" name="Google Shape;713;p46"/>
          <p:cNvSpPr txBox="1"/>
          <p:nvPr/>
        </p:nvSpPr>
        <p:spPr>
          <a:xfrm>
            <a:off x="33954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A standard pause. With a timeframe: free weeks or months. No timeframe: 1 free month, confirm resume date. Cancel jobs and RC they won't use.</a:t>
            </a:r>
            <a:endParaRPr b="0" i="0" sz="950" u="none" cap="none" strike="noStrike">
              <a:solidFill>
                <a:schemeClr val="dk1"/>
              </a:solidFill>
              <a:latin typeface="Calibri"/>
              <a:ea typeface="Calibri"/>
              <a:cs typeface="Calibri"/>
              <a:sym typeface="Calibri"/>
            </a:endParaRPr>
          </a:p>
        </p:txBody>
      </p:sp>
      <p:sp>
        <p:nvSpPr>
          <p:cNvPr id="714" name="Google Shape;714;p46"/>
          <p:cNvSpPr/>
          <p:nvPr/>
        </p:nvSpPr>
        <p:spPr>
          <a:xfrm>
            <a:off x="6050280" y="1325880"/>
            <a:ext cx="2682240" cy="1691640"/>
          </a:xfrm>
          <a:prstGeom prst="roundRect">
            <a:avLst>
              <a:gd fmla="val 4324" name="adj"/>
            </a:avLst>
          </a:prstGeom>
          <a:solidFill>
            <a:srgbClr val="FFFFFF"/>
          </a:solidFill>
          <a:ln cap="flat" cmpd="sng" w="9525">
            <a:solidFill>
              <a:srgbClr val="DCE1E7"/>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5" name="Google Shape;715;p46"/>
          <p:cNvSpPr/>
          <p:nvPr/>
        </p:nvSpPr>
        <p:spPr>
          <a:xfrm>
            <a:off x="6214872" y="1490472"/>
            <a:ext cx="329184" cy="329184"/>
          </a:xfrm>
          <a:prstGeom prst="ellipse">
            <a:avLst/>
          </a:prstGeom>
          <a:solidFill>
            <a:srgbClr val="E3F4F1"/>
          </a:solidFill>
          <a:ln cap="flat" cmpd="sng" w="12700">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16" name="Google Shape;716;p46"/>
          <p:cNvPicPr preferRelativeResize="0"/>
          <p:nvPr/>
        </p:nvPicPr>
        <p:blipFill rotWithShape="1">
          <a:blip r:embed="rId5">
            <a:alphaModFix/>
          </a:blip>
          <a:srcRect b="0" l="0" r="0" t="0"/>
          <a:stretch/>
        </p:blipFill>
        <p:spPr>
          <a:xfrm>
            <a:off x="6293876" y="1569476"/>
            <a:ext cx="171176" cy="171176"/>
          </a:xfrm>
          <a:prstGeom prst="rect">
            <a:avLst/>
          </a:prstGeom>
          <a:noFill/>
          <a:ln>
            <a:noFill/>
          </a:ln>
        </p:spPr>
      </p:pic>
      <p:sp>
        <p:nvSpPr>
          <p:cNvPr id="717" name="Google Shape;717;p46"/>
          <p:cNvSpPr txBox="1"/>
          <p:nvPr/>
        </p:nvSpPr>
        <p:spPr>
          <a:xfrm>
            <a:off x="6214872" y="1929384"/>
            <a:ext cx="2353056"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1200"/>
              <a:buFont typeface="Play"/>
              <a:buNone/>
            </a:pPr>
            <a:r>
              <a:rPr b="1" i="0" lang="en" sz="1200" u="none" cap="none" strike="noStrike">
                <a:solidFill>
                  <a:srgbClr val="1D1D1F"/>
                </a:solidFill>
                <a:latin typeface="Play"/>
                <a:ea typeface="Play"/>
                <a:cs typeface="Play"/>
                <a:sym typeface="Play"/>
              </a:rPr>
              <a:t>Outside a service area</a:t>
            </a:r>
            <a:endParaRPr b="0" i="0" sz="1200" u="none" cap="none" strike="noStrike">
              <a:solidFill>
                <a:schemeClr val="dk1"/>
              </a:solidFill>
              <a:latin typeface="Calibri"/>
              <a:ea typeface="Calibri"/>
              <a:cs typeface="Calibri"/>
              <a:sym typeface="Calibri"/>
            </a:endParaRPr>
          </a:p>
        </p:txBody>
      </p:sp>
      <p:sp>
        <p:nvSpPr>
          <p:cNvPr id="718" name="Google Shape;718;p46"/>
          <p:cNvSpPr txBox="1"/>
          <p:nvPr/>
        </p:nvSpPr>
        <p:spPr>
          <a:xfrm>
            <a:off x="6214872" y="2221992"/>
            <a:ext cx="2353056" cy="70408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950"/>
              <a:buFont typeface="Arial"/>
              <a:buNone/>
            </a:pPr>
            <a:r>
              <a:rPr b="0" i="0" lang="en" sz="950" u="none" cap="none" strike="noStrike">
                <a:solidFill>
                  <a:srgbClr val="6E6E73"/>
                </a:solidFill>
                <a:latin typeface="Arial"/>
                <a:ea typeface="Arial"/>
                <a:cs typeface="Arial"/>
                <a:sym typeface="Arial"/>
              </a:rPr>
              <a:t>Cancel and waive the ETF (ETF Waiver: Relocation, Out of Coverage). No free month, since there is nothing to apply it to.</a:t>
            </a:r>
            <a:endParaRPr b="0" i="0" sz="950" u="none" cap="none" strike="noStrike">
              <a:solidFill>
                <a:schemeClr val="dk1"/>
              </a:solidFill>
              <a:latin typeface="Calibri"/>
              <a:ea typeface="Calibri"/>
              <a:cs typeface="Calibri"/>
              <a:sym typeface="Calibri"/>
            </a:endParaRPr>
          </a:p>
        </p:txBody>
      </p:sp>
      <p:sp>
        <p:nvSpPr>
          <p:cNvPr id="719" name="Google Shape;719;p46"/>
          <p:cNvSpPr/>
          <p:nvPr/>
        </p:nvSpPr>
        <p:spPr>
          <a:xfrm>
            <a:off x="411480" y="3200400"/>
            <a:ext cx="8321040" cy="384048"/>
          </a:xfrm>
          <a:prstGeom prst="roundRect">
            <a:avLst>
              <a:gd fmla="val 19048" name="adj"/>
            </a:avLst>
          </a:prstGeom>
          <a:solidFill>
            <a:srgbClr val="FFF3D6"/>
          </a:solidFill>
          <a:ln cap="flat" cmpd="sng" w="9525">
            <a:solidFill>
              <a:srgbClr val="FFF3D6"/>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preencoded.png" id="720" name="Google Shape;720;p46"/>
          <p:cNvPicPr preferRelativeResize="0"/>
          <p:nvPr/>
        </p:nvPicPr>
        <p:blipFill rotWithShape="1">
          <a:blip r:embed="rId6">
            <a:alphaModFix/>
          </a:blip>
          <a:srcRect b="0" l="0" r="0" t="0"/>
          <a:stretch/>
        </p:blipFill>
        <p:spPr>
          <a:xfrm>
            <a:off x="566928" y="3310128"/>
            <a:ext cx="164592" cy="164592"/>
          </a:xfrm>
          <a:prstGeom prst="rect">
            <a:avLst/>
          </a:prstGeom>
          <a:noFill/>
          <a:ln>
            <a:noFill/>
          </a:ln>
        </p:spPr>
      </p:pic>
      <p:sp>
        <p:nvSpPr>
          <p:cNvPr id="721" name="Google Shape;721;p46"/>
          <p:cNvSpPr txBox="1"/>
          <p:nvPr/>
        </p:nvSpPr>
        <p:spPr>
          <a:xfrm>
            <a:off x="822960" y="3300984"/>
            <a:ext cx="7772400" cy="20116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9A6410"/>
              </a:buClr>
              <a:buSzPts val="1000"/>
              <a:buFont typeface="Arial"/>
              <a:buNone/>
            </a:pPr>
            <a:r>
              <a:rPr b="1" i="0" lang="en" sz="1000" u="none" cap="none" strike="noStrike">
                <a:solidFill>
                  <a:srgbClr val="9A6410"/>
                </a:solidFill>
                <a:latin typeface="Arial"/>
                <a:ea typeface="Arial"/>
                <a:cs typeface="Arial"/>
                <a:sym typeface="Arial"/>
              </a:rPr>
              <a:t>Always start:</a:t>
            </a:r>
            <a:r>
              <a:rPr b="0" i="0" lang="en" sz="1000" u="none" cap="none" strike="noStrike">
                <a:solidFill>
                  <a:srgbClr val="1D1D1F"/>
                </a:solidFill>
                <a:latin typeface="Arial"/>
                <a:ea typeface="Arial"/>
                <a:cs typeface="Arial"/>
                <a:sym typeface="Arial"/>
              </a:rPr>
              <a:t>has the customer shared their new address?</a:t>
            </a:r>
            <a:endParaRPr b="0" i="0" sz="1000" u="none" cap="none" strike="noStrike">
              <a:solidFill>
                <a:schemeClr val="dk1"/>
              </a:solidFill>
              <a:latin typeface="Calibri"/>
              <a:ea typeface="Calibri"/>
              <a:cs typeface="Calibri"/>
              <a:sym typeface="Calibri"/>
            </a:endParaRPr>
          </a:p>
        </p:txBody>
      </p:sp>
      <p:sp>
        <p:nvSpPr>
          <p:cNvPr id="722" name="Google Shape;722;p46"/>
          <p:cNvSpPr txBox="1"/>
          <p:nvPr>
            <p:ph idx="4294967295" type="sldNum"/>
          </p:nvPr>
        </p:nvSpPr>
        <p:spPr>
          <a:xfrm>
            <a:off x="8229600" y="4800600"/>
            <a:ext cx="457200" cy="18288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sp>
        <p:nvSpPr>
          <p:cNvPr id="727" name="Google Shape;727;p47"/>
          <p:cNvSpPr txBox="1"/>
          <p:nvPr/>
        </p:nvSpPr>
        <p:spPr>
          <a:xfrm>
            <a:off x="566928" y="1737360"/>
            <a:ext cx="4572000" cy="1830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0B7A6F"/>
              </a:buClr>
              <a:buSzPts val="800"/>
              <a:buFont typeface="Play"/>
              <a:buNone/>
            </a:pPr>
            <a:r>
              <a:rPr b="1" i="0" lang="en" sz="800" u="none" cap="none" strike="noStrike">
                <a:solidFill>
                  <a:srgbClr val="0B7A6F"/>
                </a:solidFill>
                <a:latin typeface="Play"/>
                <a:ea typeface="Play"/>
                <a:cs typeface="Play"/>
                <a:sym typeface="Play"/>
              </a:rPr>
              <a:t>WRAP-UP</a:t>
            </a:r>
            <a:endParaRPr b="0" i="0" sz="800" u="none" cap="none" strike="noStrike">
              <a:solidFill>
                <a:schemeClr val="dk1"/>
              </a:solidFill>
              <a:latin typeface="Calibri"/>
              <a:ea typeface="Calibri"/>
              <a:cs typeface="Calibri"/>
              <a:sym typeface="Calibri"/>
            </a:endParaRPr>
          </a:p>
        </p:txBody>
      </p:sp>
      <p:sp>
        <p:nvSpPr>
          <p:cNvPr id="728" name="Google Shape;728;p47"/>
          <p:cNvSpPr txBox="1"/>
          <p:nvPr/>
        </p:nvSpPr>
        <p:spPr>
          <a:xfrm>
            <a:off x="566928" y="1965960"/>
            <a:ext cx="4572000" cy="6858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1D1D1F"/>
              </a:buClr>
              <a:buSzPts val="3400"/>
              <a:buFont typeface="Play"/>
              <a:buNone/>
            </a:pPr>
            <a:r>
              <a:rPr b="1" i="0" lang="en" sz="3400" u="none" cap="none" strike="noStrike">
                <a:solidFill>
                  <a:srgbClr val="1D1D1F"/>
                </a:solidFill>
                <a:latin typeface="Play"/>
                <a:ea typeface="Play"/>
                <a:cs typeface="Play"/>
                <a:sym typeface="Play"/>
              </a:rPr>
              <a:t>Questions?</a:t>
            </a:r>
            <a:endParaRPr b="0" i="0" sz="3400" u="none" cap="none" strike="noStrike">
              <a:solidFill>
                <a:schemeClr val="dk1"/>
              </a:solidFill>
              <a:latin typeface="Calibri"/>
              <a:ea typeface="Calibri"/>
              <a:cs typeface="Calibri"/>
              <a:sym typeface="Calibri"/>
            </a:endParaRPr>
          </a:p>
        </p:txBody>
      </p:sp>
      <p:sp>
        <p:nvSpPr>
          <p:cNvPr id="729" name="Google Shape;729;p47"/>
          <p:cNvSpPr txBox="1"/>
          <p:nvPr/>
        </p:nvSpPr>
        <p:spPr>
          <a:xfrm>
            <a:off x="566928" y="2697480"/>
            <a:ext cx="42063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Clr>
                <a:srgbClr val="6E6E73"/>
              </a:buClr>
              <a:buSzPts val="1200"/>
              <a:buFont typeface="Arial"/>
              <a:buNone/>
            </a:pPr>
            <a:r>
              <a:rPr b="0" i="0" lang="en" sz="1200" u="none" cap="none" strike="noStrike">
                <a:solidFill>
                  <a:srgbClr val="6E6E73"/>
                </a:solidFill>
                <a:latin typeface="Arial"/>
                <a:ea typeface="Arial"/>
                <a:cs typeface="Arial"/>
                <a:sym typeface="Arial"/>
              </a:rPr>
              <a:t>When in doubt, check the Knowledge Library or ask your Trainer or Team Lead.</a:t>
            </a:r>
            <a:endParaRPr b="0" i="0" sz="1200" u="none" cap="none" strike="noStrike">
              <a:solidFill>
                <a:schemeClr val="dk1"/>
              </a:solidFill>
              <a:latin typeface="Calibri"/>
              <a:ea typeface="Calibri"/>
              <a:cs typeface="Calibri"/>
              <a:sym typeface="Calibri"/>
            </a:endParaRPr>
          </a:p>
        </p:txBody>
      </p:sp>
      <p:sp>
        <p:nvSpPr>
          <p:cNvPr id="730" name="Google Shape;730;p47"/>
          <p:cNvSpPr/>
          <p:nvPr/>
        </p:nvSpPr>
        <p:spPr>
          <a:xfrm>
            <a:off x="5312664" y="621792"/>
            <a:ext cx="3383400" cy="3895200"/>
          </a:xfrm>
          <a:prstGeom prst="roundRect">
            <a:avLst>
              <a:gd fmla="val 2162" name="adj"/>
            </a:avLst>
          </a:prstGeom>
          <a:solidFill>
            <a:srgbClr val="E3F4F1"/>
          </a:solidFill>
          <a:ln cap="flat" cmpd="sng" w="9525">
            <a:solidFill>
              <a:srgbClr val="E3F4F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1" name="Google Shape;731;p47"/>
          <p:cNvSpPr/>
          <p:nvPr/>
        </p:nvSpPr>
        <p:spPr>
          <a:xfrm>
            <a:off x="5724144" y="1289304"/>
            <a:ext cx="2560200" cy="25602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tmp/claude-0/-workspace-training/3ce5cff6-cccf-5f33-b0ee-0b147a55120e/scratchpad/img3/ill9.png" id="732" name="Google Shape;732;p47"/>
          <p:cNvPicPr preferRelativeResize="0"/>
          <p:nvPr/>
        </p:nvPicPr>
        <p:blipFill rotWithShape="1">
          <a:blip r:embed="rId3">
            <a:alphaModFix/>
          </a:blip>
          <a:srcRect b="0" l="0" r="0" t="0"/>
          <a:stretch/>
        </p:blipFill>
        <p:spPr>
          <a:xfrm>
            <a:off x="5541264" y="1695208"/>
            <a:ext cx="2926080" cy="1748511"/>
          </a:xfrm>
          <a:prstGeom prst="rect">
            <a:avLst/>
          </a:prstGeom>
          <a:noFill/>
          <a:ln>
            <a:noFill/>
          </a:ln>
        </p:spPr>
      </p:pic>
      <p:sp>
        <p:nvSpPr>
          <p:cNvPr id="733" name="Google Shape;733;p47"/>
          <p:cNvSpPr/>
          <p:nvPr/>
        </p:nvSpPr>
        <p:spPr>
          <a:xfrm>
            <a:off x="5522976"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4" name="Google Shape;734;p47"/>
          <p:cNvSpPr/>
          <p:nvPr/>
        </p:nvSpPr>
        <p:spPr>
          <a:xfrm>
            <a:off x="5646420"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5" name="Google Shape;735;p47"/>
          <p:cNvSpPr/>
          <p:nvPr/>
        </p:nvSpPr>
        <p:spPr>
          <a:xfrm>
            <a:off x="8193024" y="822960"/>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6" name="Google Shape;736;p47"/>
          <p:cNvSpPr/>
          <p:nvPr/>
        </p:nvSpPr>
        <p:spPr>
          <a:xfrm>
            <a:off x="8316468" y="946404"/>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7" name="Google Shape;737;p47"/>
          <p:cNvSpPr/>
          <p:nvPr/>
        </p:nvSpPr>
        <p:spPr>
          <a:xfrm>
            <a:off x="8193024" y="3986784"/>
            <a:ext cx="329100" cy="329100"/>
          </a:xfrm>
          <a:prstGeom prst="ellipse">
            <a:avLst/>
          </a:prstGeom>
          <a:solidFill>
            <a:srgbClr val="FFFFF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8" name="Google Shape;738;p47"/>
          <p:cNvSpPr/>
          <p:nvPr/>
        </p:nvSpPr>
        <p:spPr>
          <a:xfrm>
            <a:off x="8316468" y="4110228"/>
            <a:ext cx="82200" cy="82200"/>
          </a:xfrm>
          <a:prstGeom prst="ellipse">
            <a:avLst/>
          </a:prstGeom>
          <a:solidFill>
            <a:srgbClr val="0B7A6F"/>
          </a:solidFill>
          <a:ln cap="flat" cmpd="sng" w="12700">
            <a:solidFill>
              <a:srgbClr val="0B7A6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39" name="Google Shape;739;p47"/>
          <p:cNvSpPr txBox="1"/>
          <p:nvPr>
            <p:ph idx="4294967295" type="sldNum"/>
          </p:nvPr>
        </p:nvSpPr>
        <p:spPr>
          <a:xfrm>
            <a:off x="8229600" y="4800600"/>
            <a:ext cx="457200" cy="183000"/>
          </a:xfrm>
          <a:prstGeom prst="rect">
            <a:avLst/>
          </a:prstGeom>
          <a:noFill/>
          <a:ln>
            <a:noFill/>
          </a:ln>
        </p:spPr>
        <p:txBody>
          <a:bodyPr anchorCtr="0" anchor="t" bIns="45700" lIns="91425" spcFirstLastPara="1" rIns="91425" wrap="square" tIns="45700">
            <a:noAutofit/>
          </a:bodyPr>
          <a:lstStyle/>
          <a:p>
            <a:pPr indent="0" lvl="0" marL="0" marR="0" rtl="0" algn="r">
              <a:lnSpc>
                <a:spcPct val="100000"/>
              </a:lnSpc>
              <a:spcBef>
                <a:spcPts val="0"/>
              </a:spcBef>
              <a:spcAft>
                <a:spcPts val="0"/>
              </a:spcAft>
              <a:buSzPts val="700"/>
              <a:buNone/>
            </a:pPr>
            <a:fld id="{00000000-1234-1234-1234-123412341234}" type="slidenum">
              <a:rPr b="0" i="0" lang="en" sz="700" u="none" cap="none" strike="noStrike">
                <a:solidFill>
                  <a:srgbClr val="6E6E73"/>
                </a:solidFill>
                <a:latin typeface="Arial"/>
                <a:ea typeface="Arial"/>
                <a:cs typeface="Arial"/>
                <a:sym typeface="Arial"/>
              </a:rPr>
              <a:t>‹#›</a:t>
            </a:fld>
            <a:endParaRPr b="0" i="0" sz="700" u="none" cap="none" strike="noStrike">
              <a:solidFill>
                <a:srgbClr val="6E6E73"/>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