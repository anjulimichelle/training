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Understanding Job History, Callback Handling, and C Price vs CP Pay. More topics will be added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times we can't tell the full story of what happened to a job from the C/CP comms alone. The job history records every change made to the job, so we can understand how its status changed and what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customer's page in the New C CRM, every job in the jobs panels (Claimed &amp; Submitted, Completed Jobs and so on) has a small ⓘ icon next to the job ID. Clicking it opens that job's history. Names in the screenshot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job history from bottom to top. Dates and times are in CT (Central Time): our system time is CT, and customers may be in a different time zone. The time formula in the upper-left corner of the CRM helps you convert (e.g. PDT -2, MDT -1, CDT 0, EDT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Open the practice job history during the slideshow using the button (https://www.homeaglow.com/nocm/homeaglow/jobhistory/?job=12685237). Give trainees time to answer, then go through the answers together, row by row from the bottom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inbound phone support, but outbound calls are a tool we use whenever a customer asks for one, or when something needs an immediate answer (like confirming a double-booking). Category: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Information panel has two call buttons at the top right: GVoice (Google Voice) and Callbox. Local Time shows the customer's current time, so you can check you are within 8 AM - 8 PM their time before calling. Call order: Primary CRM, then Google Voice, then Secondary CRM. Customer details in the screenshot are sample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Non-FC customer: $15.00/hr platform fee, 5% processing fee, sales tax varies by state. FC customer: no platform fee, 15% processing fee, sales tax varies. Deactivated FC customer: $30.00/hr platform fee, 5% processing fee, sales tax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explaining or refunding any platform-fee line, establish the operating model, the membership status, and whether it is that CP's first job with this customer. Those three answers decide which row of the platform fee table you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homeaglow.com/nocm/homeaglow/jobhistory/?job=12685237" TargetMode="External"/><Relationship Id="rId3" Type="http://schemas.openxmlformats.org/officeDocument/2006/relationships/hyperlink" Target="https://www.homeaglow.com/nocm/homeaglow/jobhistory/?job=12685237" TargetMode="External"/><Relationship Id="rId1" Type="http://schemas.openxmlformats.org/officeDocument/2006/relationships/image" Target="../media/image-8-1.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Platform &amp;</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Operating Mechanics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to read what happened to a job, handle callbacks, and explain what customers pay and cleaners earn.</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3/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Understanding Job History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record of every change made to a job, and what caused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you always check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read the columns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Practice reading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you always check it</a:t>
            </a:r>
            <a:endParaRPr lang="en-US" sz="2400" dirty="0"/>
          </a:p>
        </p:txBody>
      </p:sp>
      <p:sp>
        <p:nvSpPr>
          <p:cNvPr id="5" name="Shape 2"/>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Comms aren't enough</a:t>
            </a:r>
            <a:endParaRPr lang="en-US" sz="1200" dirty="0"/>
          </a:p>
        </p:txBody>
      </p:sp>
      <p:sp>
        <p:nvSpPr>
          <p:cNvPr id="9" name="Text 5"/>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 and CP messages don't always tell the full story of a job.</a:t>
            </a:r>
            <a:endParaRPr lang="en-US" sz="950" dirty="0"/>
          </a:p>
        </p:txBody>
      </p:sp>
      <p:sp>
        <p:nvSpPr>
          <p:cNvPr id="10" name="Shape 6"/>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Every change is logged</a:t>
            </a:r>
            <a:endParaRPr lang="en-US" sz="1200" dirty="0"/>
          </a:p>
        </p:txBody>
      </p:sp>
      <p:sp>
        <p:nvSpPr>
          <p:cNvPr id="14" name="Text 9"/>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the status changed, and what caused it.</a:t>
            </a:r>
            <a:endParaRPr lang="en-US" sz="950" dirty="0"/>
          </a:p>
        </p:txBody>
      </p:sp>
      <p:sp>
        <p:nvSpPr>
          <p:cNvPr id="15" name="Shape 10"/>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it every time</a:t>
            </a:r>
            <a:endParaRPr lang="en-US" sz="1200" dirty="0"/>
          </a:p>
        </p:txBody>
      </p:sp>
      <p:sp>
        <p:nvSpPr>
          <p:cNvPr id="19" name="Text 13"/>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Whenever you investigate a job, before you decide on a resolution.</a:t>
            </a:r>
            <a:endParaRPr lang="en-US" sz="950" dirty="0"/>
          </a:p>
        </p:txBody>
      </p:sp>
      <p:sp>
        <p:nvSpPr>
          <p:cNvPr id="20" name="Shape 1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1"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2" name="Text 1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job history before you resolve the ticket.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find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the ⓘ icon next to a job ID to open its job history.</a:t>
            </a:r>
            <a:endParaRPr lang="en-US" sz="1200" dirty="0"/>
          </a:p>
        </p:txBody>
      </p:sp>
      <p:sp>
        <p:nvSpPr>
          <p:cNvPr id="6" name="Shape 3"/>
          <p:cNvSpPr/>
          <p:nvPr/>
        </p:nvSpPr>
        <p:spPr>
          <a:xfrm>
            <a:off x="411480" y="1280160"/>
            <a:ext cx="5577840" cy="2514600"/>
          </a:xfrm>
          <a:prstGeom prst="roundRect">
            <a:avLst>
              <a:gd name="adj" fmla="val 2909"/>
            </a:avLst>
          </a:prstGeom>
          <a:solidFill>
            <a:srgbClr val="FFFFFF"/>
          </a:solidFill>
          <a:ln w="9525">
            <a:solidFill>
              <a:srgbClr val="DCE1E7"/>
            </a:solidFill>
            <a:prstDash val="solid"/>
          </a:ln>
        </p:spPr>
      </p:sp>
      <p:pic>
        <p:nvPicPr>
          <p:cNvPr id="7" name="Image 0" descr="/tmp/claude-0/-workspace-training/3ce5cff6-cccf-5f33-b0ee-0b147a55120e/scratchpad/img3/jh_open.png">    </p:cNvPr>
          <p:cNvPicPr>
            <a:picLocks noChangeAspect="1"/>
          </p:cNvPicPr>
          <p:nvPr/>
        </p:nvPicPr>
        <p:blipFill>
          <a:blip r:embed="rId1"/>
          <a:stretch>
            <a:fillRect/>
          </a:stretch>
        </p:blipFill>
        <p:spPr>
          <a:xfrm>
            <a:off x="484632" y="1389742"/>
            <a:ext cx="5431536" cy="2295435"/>
          </a:xfrm>
          <a:prstGeom prst="rect">
            <a:avLst/>
          </a:prstGeom>
        </p:spPr>
      </p:pic>
      <p:sp>
        <p:nvSpPr>
          <p:cNvPr id="8" name="Shape 4"/>
          <p:cNvSpPr/>
          <p:nvPr/>
        </p:nvSpPr>
        <p:spPr>
          <a:xfrm>
            <a:off x="6126480" y="1280160"/>
            <a:ext cx="2606040" cy="777240"/>
          </a:xfrm>
          <a:prstGeom prst="roundRect">
            <a:avLst>
              <a:gd name="adj" fmla="val 9412"/>
            </a:avLst>
          </a:prstGeom>
          <a:solidFill>
            <a:srgbClr val="FFFFFF"/>
          </a:solidFill>
          <a:ln w="9525">
            <a:solidFill>
              <a:srgbClr val="DCE1E7"/>
            </a:solidFill>
            <a:prstDash val="solid"/>
          </a:ln>
        </p:spPr>
      </p:sp>
      <p:sp>
        <p:nvSpPr>
          <p:cNvPr id="9" name="Shape 5"/>
          <p:cNvSpPr/>
          <p:nvPr/>
        </p:nvSpPr>
        <p:spPr>
          <a:xfrm>
            <a:off x="6254496" y="1540764"/>
            <a:ext cx="256032" cy="256032"/>
          </a:xfrm>
          <a:prstGeom prst="ellipse">
            <a:avLst/>
          </a:prstGeom>
          <a:solidFill>
            <a:srgbClr val="0B7A6F"/>
          </a:solidFill>
          <a:ln w="12700">
            <a:solidFill>
              <a:srgbClr val="0B7A6F"/>
            </a:solidFill>
            <a:prstDash val="solid"/>
          </a:ln>
        </p:spPr>
      </p:sp>
      <p:sp>
        <p:nvSpPr>
          <p:cNvPr id="10" name="Text 6"/>
          <p:cNvSpPr txBox="1"/>
          <p:nvPr/>
        </p:nvSpPr>
        <p:spPr>
          <a:xfrm>
            <a:off x="6254496" y="15407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i</a:t>
            </a:r>
            <a:endParaRPr lang="en-US" sz="900" dirty="0"/>
          </a:p>
        </p:txBody>
      </p:sp>
      <p:sp>
        <p:nvSpPr>
          <p:cNvPr id="11" name="Text 7"/>
          <p:cNvSpPr txBox="1"/>
          <p:nvPr/>
        </p:nvSpPr>
        <p:spPr>
          <a:xfrm>
            <a:off x="6629400" y="132588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 icon</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Next to each job ID, in every jobs panel</a:t>
            </a:r>
            <a:endParaRPr lang="en-US" sz="1050" dirty="0"/>
          </a:p>
        </p:txBody>
      </p:sp>
      <p:sp>
        <p:nvSpPr>
          <p:cNvPr id="12" name="Shape 8"/>
          <p:cNvSpPr/>
          <p:nvPr/>
        </p:nvSpPr>
        <p:spPr>
          <a:xfrm>
            <a:off x="6126480" y="2148840"/>
            <a:ext cx="2606040" cy="777240"/>
          </a:xfrm>
          <a:prstGeom prst="roundRect">
            <a:avLst>
              <a:gd name="adj" fmla="val 9412"/>
            </a:avLst>
          </a:prstGeom>
          <a:solidFill>
            <a:srgbClr val="FFFFFF"/>
          </a:solidFill>
          <a:ln w="9525">
            <a:solidFill>
              <a:srgbClr val="DCE1E7"/>
            </a:solidFill>
            <a:prstDash val="solid"/>
          </a:ln>
        </p:spPr>
      </p:sp>
      <p:sp>
        <p:nvSpPr>
          <p:cNvPr id="13" name="Shape 9"/>
          <p:cNvSpPr/>
          <p:nvPr/>
        </p:nvSpPr>
        <p:spPr>
          <a:xfrm>
            <a:off x="6254496" y="2409444"/>
            <a:ext cx="256032" cy="256032"/>
          </a:xfrm>
          <a:prstGeom prst="ellipse">
            <a:avLst/>
          </a:prstGeom>
          <a:solidFill>
            <a:srgbClr val="0B7A6F"/>
          </a:solidFill>
          <a:ln w="12700">
            <a:solidFill>
              <a:srgbClr val="0B7A6F"/>
            </a:solidFill>
            <a:prstDash val="solid"/>
          </a:ln>
        </p:spPr>
      </p:sp>
      <p:sp>
        <p:nvSpPr>
          <p:cNvPr id="14" name="Text 10"/>
          <p:cNvSpPr txBox="1"/>
          <p:nvPr/>
        </p:nvSpPr>
        <p:spPr>
          <a:xfrm>
            <a:off x="6254496" y="24094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a:t>
            </a:r>
            <a:endParaRPr lang="en-US" sz="900" dirty="0"/>
          </a:p>
        </p:txBody>
      </p:sp>
      <p:sp>
        <p:nvSpPr>
          <p:cNvPr id="15" name="Text 11"/>
          <p:cNvSpPr txBox="1"/>
          <p:nvPr/>
        </p:nvSpPr>
        <p:spPr>
          <a:xfrm>
            <a:off x="6629400" y="2194560"/>
            <a:ext cx="2011680" cy="6858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Click it</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job's history opens</a:t>
            </a:r>
            <a:endParaRPr lang="en-US" sz="1050" dirty="0"/>
          </a:p>
        </p:txBody>
      </p:sp>
      <p:sp>
        <p:nvSpPr>
          <p:cNvPr id="16" name="Shape 12"/>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17" name="Image 1"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18" name="Text 13"/>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Tip:  </a:t>
            </a:r>
            <a:pPr indent="0" marL="0">
              <a:buNone/>
            </a:pPr>
            <a:r>
              <a:rPr lang="en-US" sz="1000" dirty="0">
                <a:solidFill>
                  <a:srgbClr val="1D1D1F"/>
                </a:solidFill>
                <a:latin typeface="SF Pro Text" pitchFamily="34" charset="0"/>
                <a:ea typeface="SF Pro Text" pitchFamily="34" charset="-122"/>
                <a:cs typeface="SF Pro Text" pitchFamily="34" charset="-120"/>
              </a:rPr>
              <a:t>investigating a job? Open its history before you decide on a resolution.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Click a number to reveal what that column tells you. Read the rows from the bottom up.</a:t>
            </a:r>
            <a:endParaRPr lang="en-US" sz="1200" dirty="0"/>
          </a:p>
        </p:txBody>
      </p:sp>
      <p:sp>
        <p:nvSpPr>
          <p:cNvPr id="6" name="Shape 3"/>
          <p:cNvSpPr/>
          <p:nvPr/>
        </p:nvSpPr>
        <p:spPr>
          <a:xfrm>
            <a:off x="411480" y="1188720"/>
            <a:ext cx="5440680" cy="3520440"/>
          </a:xfrm>
          <a:prstGeom prst="roundRect">
            <a:avLst>
              <a:gd name="adj" fmla="val 2078"/>
            </a:avLst>
          </a:prstGeom>
          <a:solidFill>
            <a:srgbClr val="FFFFFF"/>
          </a:solidFill>
          <a:ln w="9525">
            <a:solidFill>
              <a:srgbClr val="DCE1E7"/>
            </a:solidFill>
            <a:prstDash val="solid"/>
          </a:ln>
        </p:spPr>
      </p:sp>
      <p:pic>
        <p:nvPicPr>
          <p:cNvPr id="7" name="Image 0" descr="/tmp/claude-0/-workspace-training/3ce5cff6-cccf-5f33-b0ee-0b147a55120e/scratchpad/img3/jh_table_hdr.png">    </p:cNvPr>
          <p:cNvPicPr>
            <a:picLocks noChangeAspect="1"/>
          </p:cNvPicPr>
          <p:nvPr/>
        </p:nvPicPr>
        <p:blipFill>
          <a:blip r:embed="rId1"/>
          <a:stretch>
            <a:fillRect/>
          </a:stretch>
        </p:blipFill>
        <p:spPr>
          <a:xfrm>
            <a:off x="484632" y="1730783"/>
            <a:ext cx="5294376" cy="2436314"/>
          </a:xfrm>
          <a:prstGeom prst="rect">
            <a:avLst/>
          </a:prstGeom>
        </p:spPr>
      </p:pic>
      <p:sp>
        <p:nvSpPr>
          <p:cNvPr id="8" name="Shape 4"/>
          <p:cNvSpPr/>
          <p:nvPr/>
        </p:nvSpPr>
        <p:spPr>
          <a:xfrm>
            <a:off x="861339" y="1984651"/>
            <a:ext cx="491357" cy="77798"/>
          </a:xfrm>
          <a:prstGeom prst="roundRect">
            <a:avLst>
              <a:gd name="adj" fmla="val 23507"/>
            </a:avLst>
          </a:prstGeom>
          <a:ln w="19050">
            <a:solidFill>
              <a:srgbClr val="0B7A6F"/>
            </a:solidFill>
            <a:prstDash val="solid"/>
          </a:ln>
        </p:spPr>
      </p:sp>
      <p:sp>
        <p:nvSpPr>
          <p:cNvPr id="9" name="Shape 5"/>
          <p:cNvSpPr/>
          <p:nvPr/>
        </p:nvSpPr>
        <p:spPr>
          <a:xfrm>
            <a:off x="1015578" y="1774339"/>
            <a:ext cx="182880" cy="182880"/>
          </a:xfrm>
          <a:prstGeom prst="ellipse">
            <a:avLst/>
          </a:prstGeom>
          <a:solidFill>
            <a:srgbClr val="0B7A6F"/>
          </a:solidFill>
          <a:ln w="12700">
            <a:solidFill>
              <a:srgbClr val="FFFFFF"/>
            </a:solidFill>
            <a:prstDash val="solid"/>
          </a:ln>
        </p:spPr>
      </p:sp>
      <p:sp>
        <p:nvSpPr>
          <p:cNvPr id="10" name="Text 6"/>
          <p:cNvSpPr txBox="1"/>
          <p:nvPr/>
        </p:nvSpPr>
        <p:spPr>
          <a:xfrm>
            <a:off x="1015578"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1</a:t>
            </a:r>
            <a:endParaRPr lang="en-US" sz="750" dirty="0"/>
          </a:p>
        </p:txBody>
      </p:sp>
      <p:sp>
        <p:nvSpPr>
          <p:cNvPr id="11" name="Shape 7"/>
          <p:cNvSpPr/>
          <p:nvPr/>
        </p:nvSpPr>
        <p:spPr>
          <a:xfrm>
            <a:off x="1381359" y="1984651"/>
            <a:ext cx="466790" cy="77798"/>
          </a:xfrm>
          <a:prstGeom prst="roundRect">
            <a:avLst>
              <a:gd name="adj" fmla="val 23507"/>
            </a:avLst>
          </a:prstGeom>
          <a:ln w="19050">
            <a:solidFill>
              <a:srgbClr val="0B7A6F"/>
            </a:solidFill>
            <a:prstDash val="solid"/>
          </a:ln>
        </p:spPr>
      </p:sp>
      <p:sp>
        <p:nvSpPr>
          <p:cNvPr id="12" name="Shape 8"/>
          <p:cNvSpPr/>
          <p:nvPr/>
        </p:nvSpPr>
        <p:spPr>
          <a:xfrm>
            <a:off x="1523314" y="1774339"/>
            <a:ext cx="182880" cy="182880"/>
          </a:xfrm>
          <a:prstGeom prst="ellipse">
            <a:avLst/>
          </a:prstGeom>
          <a:solidFill>
            <a:srgbClr val="0B7A6F"/>
          </a:solidFill>
          <a:ln w="12700">
            <a:solidFill>
              <a:srgbClr val="FFFFFF"/>
            </a:solidFill>
            <a:prstDash val="solid"/>
          </a:ln>
        </p:spPr>
      </p:sp>
      <p:sp>
        <p:nvSpPr>
          <p:cNvPr id="13" name="Text 9"/>
          <p:cNvSpPr txBox="1"/>
          <p:nvPr/>
        </p:nvSpPr>
        <p:spPr>
          <a:xfrm>
            <a:off x="152331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2</a:t>
            </a:r>
            <a:endParaRPr lang="en-US" sz="750" dirty="0"/>
          </a:p>
        </p:txBody>
      </p:sp>
      <p:sp>
        <p:nvSpPr>
          <p:cNvPr id="14" name="Shape 10"/>
          <p:cNvSpPr/>
          <p:nvPr/>
        </p:nvSpPr>
        <p:spPr>
          <a:xfrm>
            <a:off x="1885001" y="1984651"/>
            <a:ext cx="237489" cy="77798"/>
          </a:xfrm>
          <a:prstGeom prst="roundRect">
            <a:avLst>
              <a:gd name="adj" fmla="val 23507"/>
            </a:avLst>
          </a:prstGeom>
          <a:ln w="19050">
            <a:solidFill>
              <a:srgbClr val="0B7A6F"/>
            </a:solidFill>
            <a:prstDash val="solid"/>
          </a:ln>
        </p:spPr>
      </p:sp>
      <p:sp>
        <p:nvSpPr>
          <p:cNvPr id="15" name="Shape 11"/>
          <p:cNvSpPr/>
          <p:nvPr/>
        </p:nvSpPr>
        <p:spPr>
          <a:xfrm>
            <a:off x="1912305" y="1774339"/>
            <a:ext cx="182880" cy="182880"/>
          </a:xfrm>
          <a:prstGeom prst="ellipse">
            <a:avLst/>
          </a:prstGeom>
          <a:solidFill>
            <a:srgbClr val="0B7A6F"/>
          </a:solidFill>
          <a:ln w="12700">
            <a:solidFill>
              <a:srgbClr val="FFFFFF"/>
            </a:solidFill>
            <a:prstDash val="solid"/>
          </a:ln>
        </p:spPr>
      </p:sp>
      <p:sp>
        <p:nvSpPr>
          <p:cNvPr id="16" name="Text 12"/>
          <p:cNvSpPr txBox="1"/>
          <p:nvPr/>
        </p:nvSpPr>
        <p:spPr>
          <a:xfrm>
            <a:off x="191230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3</a:t>
            </a:r>
            <a:endParaRPr lang="en-US" sz="750" dirty="0"/>
          </a:p>
        </p:txBody>
      </p:sp>
      <p:sp>
        <p:nvSpPr>
          <p:cNvPr id="17" name="Shape 13"/>
          <p:cNvSpPr/>
          <p:nvPr/>
        </p:nvSpPr>
        <p:spPr>
          <a:xfrm>
            <a:off x="2376358" y="1984651"/>
            <a:ext cx="515925" cy="77798"/>
          </a:xfrm>
          <a:prstGeom prst="roundRect">
            <a:avLst>
              <a:gd name="adj" fmla="val 23507"/>
            </a:avLst>
          </a:prstGeom>
          <a:ln w="19050">
            <a:solidFill>
              <a:srgbClr val="0B7A6F"/>
            </a:solidFill>
            <a:prstDash val="solid"/>
          </a:ln>
        </p:spPr>
      </p:sp>
      <p:sp>
        <p:nvSpPr>
          <p:cNvPr id="18" name="Shape 14"/>
          <p:cNvSpPr/>
          <p:nvPr/>
        </p:nvSpPr>
        <p:spPr>
          <a:xfrm>
            <a:off x="2542881" y="1774339"/>
            <a:ext cx="182880" cy="182880"/>
          </a:xfrm>
          <a:prstGeom prst="ellipse">
            <a:avLst/>
          </a:prstGeom>
          <a:solidFill>
            <a:srgbClr val="0B7A6F"/>
          </a:solidFill>
          <a:ln w="12700">
            <a:solidFill>
              <a:srgbClr val="FFFFFF"/>
            </a:solidFill>
            <a:prstDash val="solid"/>
          </a:ln>
        </p:spPr>
      </p:sp>
      <p:sp>
        <p:nvSpPr>
          <p:cNvPr id="19" name="Text 15"/>
          <p:cNvSpPr txBox="1"/>
          <p:nvPr/>
        </p:nvSpPr>
        <p:spPr>
          <a:xfrm>
            <a:off x="254288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4</a:t>
            </a:r>
            <a:endParaRPr lang="en-US" sz="750" dirty="0"/>
          </a:p>
        </p:txBody>
      </p:sp>
      <p:sp>
        <p:nvSpPr>
          <p:cNvPr id="20" name="Shape 16"/>
          <p:cNvSpPr/>
          <p:nvPr/>
        </p:nvSpPr>
        <p:spPr>
          <a:xfrm>
            <a:off x="2916851" y="1984651"/>
            <a:ext cx="163786" cy="77798"/>
          </a:xfrm>
          <a:prstGeom prst="roundRect">
            <a:avLst>
              <a:gd name="adj" fmla="val 23507"/>
            </a:avLst>
          </a:prstGeom>
          <a:ln w="19050">
            <a:solidFill>
              <a:srgbClr val="0B7A6F"/>
            </a:solidFill>
            <a:prstDash val="solid"/>
          </a:ln>
        </p:spPr>
      </p:sp>
      <p:sp>
        <p:nvSpPr>
          <p:cNvPr id="21" name="Shape 17"/>
          <p:cNvSpPr/>
          <p:nvPr/>
        </p:nvSpPr>
        <p:spPr>
          <a:xfrm>
            <a:off x="2907304" y="1774339"/>
            <a:ext cx="182880" cy="182880"/>
          </a:xfrm>
          <a:prstGeom prst="ellipse">
            <a:avLst/>
          </a:prstGeom>
          <a:solidFill>
            <a:srgbClr val="0B7A6F"/>
          </a:solidFill>
          <a:ln w="12700">
            <a:solidFill>
              <a:srgbClr val="FFFFFF"/>
            </a:solidFill>
            <a:prstDash val="solid"/>
          </a:ln>
        </p:spPr>
      </p:sp>
      <p:sp>
        <p:nvSpPr>
          <p:cNvPr id="22" name="Text 18"/>
          <p:cNvSpPr txBox="1"/>
          <p:nvPr/>
        </p:nvSpPr>
        <p:spPr>
          <a:xfrm>
            <a:off x="2907304"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5</a:t>
            </a:r>
            <a:endParaRPr lang="en-US" sz="750" dirty="0"/>
          </a:p>
        </p:txBody>
      </p:sp>
      <p:sp>
        <p:nvSpPr>
          <p:cNvPr id="23" name="Shape 19"/>
          <p:cNvSpPr/>
          <p:nvPr/>
        </p:nvSpPr>
        <p:spPr>
          <a:xfrm>
            <a:off x="3109299" y="1984651"/>
            <a:ext cx="241584" cy="77798"/>
          </a:xfrm>
          <a:prstGeom prst="roundRect">
            <a:avLst>
              <a:gd name="adj" fmla="val 23507"/>
            </a:avLst>
          </a:prstGeom>
          <a:ln w="19050">
            <a:solidFill>
              <a:srgbClr val="0B7A6F"/>
            </a:solidFill>
            <a:prstDash val="solid"/>
          </a:ln>
        </p:spPr>
      </p:sp>
      <p:sp>
        <p:nvSpPr>
          <p:cNvPr id="24" name="Shape 20"/>
          <p:cNvSpPr/>
          <p:nvPr/>
        </p:nvSpPr>
        <p:spPr>
          <a:xfrm>
            <a:off x="3138651" y="1774339"/>
            <a:ext cx="182880" cy="182880"/>
          </a:xfrm>
          <a:prstGeom prst="ellipse">
            <a:avLst/>
          </a:prstGeom>
          <a:solidFill>
            <a:srgbClr val="0B7A6F"/>
          </a:solidFill>
          <a:ln w="12700">
            <a:solidFill>
              <a:srgbClr val="FFFFFF"/>
            </a:solidFill>
            <a:prstDash val="solid"/>
          </a:ln>
        </p:spPr>
      </p:sp>
      <p:sp>
        <p:nvSpPr>
          <p:cNvPr id="25" name="Text 21"/>
          <p:cNvSpPr txBox="1"/>
          <p:nvPr/>
        </p:nvSpPr>
        <p:spPr>
          <a:xfrm>
            <a:off x="3138651"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6</a:t>
            </a:r>
            <a:endParaRPr lang="en-US" sz="750" dirty="0"/>
          </a:p>
        </p:txBody>
      </p:sp>
      <p:sp>
        <p:nvSpPr>
          <p:cNvPr id="26" name="Shape 22"/>
          <p:cNvSpPr/>
          <p:nvPr/>
        </p:nvSpPr>
        <p:spPr>
          <a:xfrm>
            <a:off x="5156622" y="1984651"/>
            <a:ext cx="225205" cy="77798"/>
          </a:xfrm>
          <a:prstGeom prst="roundRect">
            <a:avLst>
              <a:gd name="adj" fmla="val 23507"/>
            </a:avLst>
          </a:prstGeom>
          <a:ln w="19050">
            <a:solidFill>
              <a:srgbClr val="0B7A6F"/>
            </a:solidFill>
            <a:prstDash val="solid"/>
          </a:ln>
        </p:spPr>
      </p:sp>
      <p:sp>
        <p:nvSpPr>
          <p:cNvPr id="27" name="Shape 23"/>
          <p:cNvSpPr/>
          <p:nvPr/>
        </p:nvSpPr>
        <p:spPr>
          <a:xfrm>
            <a:off x="5177785" y="1774339"/>
            <a:ext cx="182880" cy="182880"/>
          </a:xfrm>
          <a:prstGeom prst="ellipse">
            <a:avLst/>
          </a:prstGeom>
          <a:solidFill>
            <a:srgbClr val="0B7A6F"/>
          </a:solidFill>
          <a:ln w="12700">
            <a:solidFill>
              <a:srgbClr val="FFFFFF"/>
            </a:solidFill>
            <a:prstDash val="solid"/>
          </a:ln>
        </p:spPr>
      </p:sp>
      <p:sp>
        <p:nvSpPr>
          <p:cNvPr id="28" name="Text 24"/>
          <p:cNvSpPr txBox="1"/>
          <p:nvPr/>
        </p:nvSpPr>
        <p:spPr>
          <a:xfrm>
            <a:off x="5177785" y="1774339"/>
            <a:ext cx="182880"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SF Pro Display" pitchFamily="34" charset="0"/>
                <a:ea typeface="SF Pro Display" pitchFamily="34" charset="-122"/>
                <a:cs typeface="SF Pro Display" pitchFamily="34" charset="-120"/>
              </a:rPr>
              <a:t>7</a:t>
            </a:r>
            <a:endParaRPr lang="en-US" sz="750" dirty="0"/>
          </a:p>
        </p:txBody>
      </p:sp>
      <p:sp>
        <p:nvSpPr>
          <p:cNvPr id="29" name="Shape 25"/>
          <p:cNvSpPr/>
          <p:nvPr/>
        </p:nvSpPr>
        <p:spPr>
          <a:xfrm>
            <a:off x="5989320" y="1188720"/>
            <a:ext cx="2743200" cy="3520440"/>
          </a:xfrm>
          <a:prstGeom prst="roundRect">
            <a:avLst>
              <a:gd name="adj" fmla="val 2667"/>
            </a:avLst>
          </a:prstGeom>
          <a:solidFill>
            <a:srgbClr val="E3F4F1"/>
          </a:solidFill>
          <a:ln w="9525">
            <a:solidFill>
              <a:srgbClr val="E3F4F1"/>
            </a:solidFill>
            <a:prstDash val="solid"/>
          </a:ln>
        </p:spPr>
      </p:sp>
      <p:sp>
        <p:nvSpPr>
          <p:cNvPr id="30" name="revealColumns"/>
          <p:cNvSpPr txBox="1"/>
          <p:nvPr/>
        </p:nvSpPr>
        <p:spPr>
          <a:xfrm>
            <a:off x="6108192" y="1298448"/>
            <a:ext cx="2514600" cy="3291840"/>
          </a:xfrm>
          <a:prstGeom prst="rect">
            <a:avLst/>
          </a:prstGeom>
          <a:noFill/>
          <a:ln/>
        </p:spPr>
        <p:txBody>
          <a:bodyPr wrap="square" lIns="0" tIns="0" rIns="0" bIns="0" rtlCol="0" anchor="t"/>
          <a:lstStyle/>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1  Job Start: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and date at the time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2  Job Start After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job start time after the action was made</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3  Action 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time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4  Job Status Before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status of the job before the action was taken</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5  Actor: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one who took the action: the C, CP, CS, or system</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6  Action: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the action taken on the job. Written to be self-explanatory</a:t>
            </a:r>
            <a:endParaRPr lang="en-US" sz="850" dirty="0"/>
          </a:p>
          <a:p>
            <a:pPr indent="0" marL="0">
              <a:spcAft>
                <a:spcPts val="400"/>
              </a:spcAft>
              <a:buNone/>
            </a:pPr>
            <a:r>
              <a:rPr lang="en-US" sz="850" b="1" dirty="0">
                <a:solidFill>
                  <a:srgbClr val="0B7A6F"/>
                </a:solidFill>
                <a:latin typeface="SF Pro Text" pitchFamily="34" charset="0"/>
                <a:ea typeface="SF Pro Text" pitchFamily="34" charset="-122"/>
                <a:cs typeface="SF Pro Text" pitchFamily="34" charset="-120"/>
              </a:rPr>
              <a:t>7  Comment: </a:t>
            </a:r>
            <a:pPr indent="0" marL="0">
              <a:spcAft>
                <a:spcPts val="400"/>
              </a:spcAft>
              <a:buNone/>
            </a:pPr>
            <a:r>
              <a:rPr lang="en-US" sz="850" dirty="0">
                <a:solidFill>
                  <a:srgbClr val="1D1D1F"/>
                </a:solidFill>
                <a:latin typeface="SF Pro Text" pitchFamily="34" charset="0"/>
                <a:ea typeface="SF Pro Text" pitchFamily="34" charset="-122"/>
                <a:cs typeface="SF Pro Text" pitchFamily="34" charset="-120"/>
              </a:rPr>
              <a:t>logs any essential detail to the action</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0">
                                            <p:txEl>
                                              <p:pRg st="0" end="0"/>
                                            </p:txEl>
                                          </p:spTgt>
                                        </p:tgtEl>
                                        <p:attrNameLst>
                                          <p:attrName>style.visibility</p:attrName>
                                        </p:attrNameLst>
                                      </p:cBhvr>
                                      <p:to>
                                        <p:strVal val="visible"/>
                                      </p:to>
                                    </p:set>
                                    <p:animEffect transition="in" filter="wipe(left)">
                                      <p:cBhvr>
                                        <p:cTn id="7" dur="1200"/>
                                        <p:tgtEl>
                                          <p:spTgt spid="3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0">
                                            <p:txEl>
                                              <p:pRg st="1" end="1"/>
                                            </p:txEl>
                                          </p:spTgt>
                                        </p:tgtEl>
                                        <p:attrNameLst>
                                          <p:attrName>style.visibility</p:attrName>
                                        </p:attrNameLst>
                                      </p:cBhvr>
                                      <p:to>
                                        <p:strVal val="visible"/>
                                      </p:to>
                                    </p:set>
                                    <p:animEffect transition="in" filter="wipe(left)">
                                      <p:cBhvr>
                                        <p:cTn id="12" dur="1200"/>
                                        <p:tgtEl>
                                          <p:spTgt spid="3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0">
                                            <p:txEl>
                                              <p:pRg st="2" end="2"/>
                                            </p:txEl>
                                          </p:spTgt>
                                        </p:tgtEl>
                                        <p:attrNameLst>
                                          <p:attrName>style.visibility</p:attrName>
                                        </p:attrNameLst>
                                      </p:cBhvr>
                                      <p:to>
                                        <p:strVal val="visible"/>
                                      </p:to>
                                    </p:set>
                                    <p:animEffect transition="in" filter="wipe(left)">
                                      <p:cBhvr>
                                        <p:cTn id="17" dur="1200"/>
                                        <p:tgtEl>
                                          <p:spTgt spid="3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0">
                                            <p:txEl>
                                              <p:pRg st="3" end="3"/>
                                            </p:txEl>
                                          </p:spTgt>
                                        </p:tgtEl>
                                        <p:attrNameLst>
                                          <p:attrName>style.visibility</p:attrName>
                                        </p:attrNameLst>
                                      </p:cBhvr>
                                      <p:to>
                                        <p:strVal val="visible"/>
                                      </p:to>
                                    </p:set>
                                    <p:animEffect transition="in" filter="wipe(left)">
                                      <p:cBhvr>
                                        <p:cTn id="22" dur="1200"/>
                                        <p:tgtEl>
                                          <p:spTgt spid="3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0">
                                            <p:txEl>
                                              <p:pRg st="4" end="4"/>
                                            </p:txEl>
                                          </p:spTgt>
                                        </p:tgtEl>
                                        <p:attrNameLst>
                                          <p:attrName>style.visibility</p:attrName>
                                        </p:attrNameLst>
                                      </p:cBhvr>
                                      <p:to>
                                        <p:strVal val="visible"/>
                                      </p:to>
                                    </p:set>
                                    <p:animEffect transition="in" filter="wipe(left)">
                                      <p:cBhvr>
                                        <p:cTn id="27" dur="1200"/>
                                        <p:tgtEl>
                                          <p:spTgt spid="3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0">
                                            <p:txEl>
                                              <p:pRg st="5" end="5"/>
                                            </p:txEl>
                                          </p:spTgt>
                                        </p:tgtEl>
                                        <p:attrNameLst>
                                          <p:attrName>style.visibility</p:attrName>
                                        </p:attrNameLst>
                                      </p:cBhvr>
                                      <p:to>
                                        <p:strVal val="visible"/>
                                      </p:to>
                                    </p:set>
                                    <p:animEffect transition="in" filter="wipe(left)">
                                      <p:cBhvr>
                                        <p:cTn id="32" dur="1200"/>
                                        <p:tgtEl>
                                          <p:spTgt spid="3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0">
                                            <p:txEl>
                                              <p:pRg st="6" end="6"/>
                                            </p:txEl>
                                          </p:spTgt>
                                        </p:tgtEl>
                                        <p:attrNameLst>
                                          <p:attrName>style.visibility</p:attrName>
                                        </p:attrNameLst>
                                      </p:cBhvr>
                                      <p:to>
                                        <p:strVal val="visible"/>
                                      </p:to>
                                    </p:set>
                                    <p:animEffect transition="in" filter="wipe(left)">
                                      <p:cBhvr>
                                        <p:cTn id="37" dur="1200"/>
                                        <p:tgtEl>
                                          <p:spTgt spid="3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things to remember</a:t>
            </a:r>
            <a:endParaRPr lang="en-US" sz="2400" dirty="0"/>
          </a:p>
        </p:txBody>
      </p:sp>
      <p:sp>
        <p:nvSpPr>
          <p:cNvPr id="5" name="Shape 2"/>
          <p:cNvSpPr/>
          <p:nvPr/>
        </p:nvSpPr>
        <p:spPr>
          <a:xfrm>
            <a:off x="411480" y="1234440"/>
            <a:ext cx="409194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9903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78036"/>
            <a:ext cx="171176" cy="171176"/>
          </a:xfrm>
          <a:prstGeom prst="rect">
            <a:avLst/>
          </a:prstGeom>
        </p:spPr>
      </p:pic>
      <p:sp>
        <p:nvSpPr>
          <p:cNvPr id="8" name="Text 4"/>
          <p:cNvSpPr txBox="1"/>
          <p:nvPr/>
        </p:nvSpPr>
        <p:spPr>
          <a:xfrm>
            <a:off x="5760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Read bottom to top</a:t>
            </a:r>
            <a:endParaRPr lang="en-US" sz="1200" dirty="0"/>
          </a:p>
        </p:txBody>
      </p:sp>
      <p:sp>
        <p:nvSpPr>
          <p:cNvPr id="9" name="Text 5"/>
          <p:cNvSpPr txBox="1"/>
          <p:nvPr/>
        </p:nvSpPr>
        <p:spPr>
          <a:xfrm>
            <a:off x="5760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oldest action is at the bottom. The newest is at the top.</a:t>
            </a:r>
            <a:endParaRPr lang="en-US" sz="950" dirty="0"/>
          </a:p>
        </p:txBody>
      </p:sp>
      <p:sp>
        <p:nvSpPr>
          <p:cNvPr id="10" name="Shape 6"/>
          <p:cNvSpPr/>
          <p:nvPr/>
        </p:nvSpPr>
        <p:spPr>
          <a:xfrm>
            <a:off x="4640580" y="1234440"/>
            <a:ext cx="4091940" cy="1600200"/>
          </a:xfrm>
          <a:prstGeom prst="roundRect">
            <a:avLst>
              <a:gd name="adj" fmla="val 4571"/>
            </a:avLst>
          </a:prstGeom>
          <a:solidFill>
            <a:srgbClr val="FFFFFF"/>
          </a:solidFill>
          <a:ln w="9525">
            <a:solidFill>
              <a:srgbClr val="DCE1E7"/>
            </a:solidFill>
            <a:prstDash val="solid"/>
          </a:ln>
        </p:spPr>
      </p:sp>
      <p:sp>
        <p:nvSpPr>
          <p:cNvPr id="11" name="Shape 7"/>
          <p:cNvSpPr/>
          <p:nvPr/>
        </p:nvSpPr>
        <p:spPr>
          <a:xfrm>
            <a:off x="4805172" y="139903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78036"/>
            <a:ext cx="171176" cy="171176"/>
          </a:xfrm>
          <a:prstGeom prst="rect">
            <a:avLst/>
          </a:prstGeom>
        </p:spPr>
      </p:pic>
      <p:sp>
        <p:nvSpPr>
          <p:cNvPr id="13" name="Text 8"/>
          <p:cNvSpPr txBox="1"/>
          <p:nvPr/>
        </p:nvSpPr>
        <p:spPr>
          <a:xfrm>
            <a:off x="4805172" y="18379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Times are in CT</a:t>
            </a:r>
            <a:endParaRPr lang="en-US" sz="1200" dirty="0"/>
          </a:p>
        </p:txBody>
      </p:sp>
      <p:sp>
        <p:nvSpPr>
          <p:cNvPr id="14" name="Text 9"/>
          <p:cNvSpPr txBox="1"/>
          <p:nvPr/>
        </p:nvSpPr>
        <p:spPr>
          <a:xfrm>
            <a:off x="4805172" y="213055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Our system time is Central Time. The customer may be in another time zone.</a:t>
            </a:r>
            <a:endParaRPr lang="en-US" sz="950" dirty="0"/>
          </a:p>
        </p:txBody>
      </p:sp>
      <p:sp>
        <p:nvSpPr>
          <p:cNvPr id="15" name="Text 10"/>
          <p:cNvSpPr txBox="1"/>
          <p:nvPr/>
        </p:nvSpPr>
        <p:spPr>
          <a:xfrm>
            <a:off x="438912" y="3017520"/>
            <a:ext cx="8229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CONVERT WITH THE TIME FORMULA, UPPER LEFT OF THE CRM</a:t>
            </a:r>
            <a:endParaRPr lang="en-US" sz="800" dirty="0"/>
          </a:p>
        </p:txBody>
      </p:sp>
      <p:sp>
        <p:nvSpPr>
          <p:cNvPr id="16" name="Shape 11"/>
          <p:cNvSpPr/>
          <p:nvPr/>
        </p:nvSpPr>
        <p:spPr>
          <a:xfrm>
            <a:off x="411480" y="3246120"/>
            <a:ext cx="3657600" cy="960120"/>
          </a:xfrm>
          <a:prstGeom prst="roundRect">
            <a:avLst>
              <a:gd name="adj" fmla="val 7619"/>
            </a:avLst>
          </a:prstGeom>
          <a:solidFill>
            <a:srgbClr val="FFFFFF"/>
          </a:solidFill>
          <a:ln w="9525">
            <a:solidFill>
              <a:srgbClr val="DCE1E7"/>
            </a:solidFill>
            <a:prstDash val="solid"/>
          </a:ln>
        </p:spPr>
      </p:sp>
      <p:pic>
        <p:nvPicPr>
          <p:cNvPr id="17" name="Image 2" descr="/tmp/claude-0/-workspace-training/3ce5cff6-cccf-5f33-b0ee-0b147a55120e/scratchpad/img3/legacy_time.png">    </p:cNvPr>
          <p:cNvPicPr>
            <a:picLocks noChangeAspect="1"/>
          </p:cNvPicPr>
          <p:nvPr/>
        </p:nvPicPr>
        <p:blipFill>
          <a:blip r:embed="rId3"/>
          <a:stretch>
            <a:fillRect/>
          </a:stretch>
        </p:blipFill>
        <p:spPr>
          <a:xfrm>
            <a:off x="484632" y="3462833"/>
            <a:ext cx="3511296" cy="526694"/>
          </a:xfrm>
          <a:prstGeom prst="rect">
            <a:avLst/>
          </a:prstGeom>
        </p:spPr>
      </p:pic>
      <p:sp>
        <p:nvSpPr>
          <p:cNvPr id="18" name="Shape 12"/>
          <p:cNvSpPr/>
          <p:nvPr/>
        </p:nvSpPr>
        <p:spPr>
          <a:xfrm>
            <a:off x="923544" y="3477463"/>
            <a:ext cx="2633472" cy="482803"/>
          </a:xfrm>
          <a:prstGeom prst="roundRect">
            <a:avLst>
              <a:gd name="adj" fmla="val 5682"/>
            </a:avLst>
          </a:prstGeom>
          <a:ln w="25400">
            <a:solidFill>
              <a:srgbClr val="0B7A6F"/>
            </a:solidFill>
            <a:prstDash val="solid"/>
          </a:ln>
        </p:spPr>
      </p:sp>
      <p:sp>
        <p:nvSpPr>
          <p:cNvPr id="19" name="Shape 13"/>
          <p:cNvSpPr/>
          <p:nvPr/>
        </p:nvSpPr>
        <p:spPr>
          <a:xfrm>
            <a:off x="822960" y="3376879"/>
            <a:ext cx="201168" cy="201168"/>
          </a:xfrm>
          <a:prstGeom prst="ellipse">
            <a:avLst/>
          </a:prstGeom>
          <a:solidFill>
            <a:srgbClr val="0B7A6F"/>
          </a:solidFill>
          <a:ln w="12700">
            <a:solidFill>
              <a:srgbClr val="FFFFFF"/>
            </a:solidFill>
            <a:prstDash val="solid"/>
          </a:ln>
        </p:spPr>
      </p:sp>
      <p:sp>
        <p:nvSpPr>
          <p:cNvPr id="20" name="Text 14"/>
          <p:cNvSpPr txBox="1"/>
          <p:nvPr/>
        </p:nvSpPr>
        <p:spPr>
          <a:xfrm>
            <a:off x="822960" y="337687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21" name="Text 15"/>
          <p:cNvSpPr txBox="1"/>
          <p:nvPr/>
        </p:nvSpPr>
        <p:spPr>
          <a:xfrm>
            <a:off x="4297680" y="3337560"/>
            <a:ext cx="4434840" cy="777240"/>
          </a:xfrm>
          <a:prstGeom prst="rect">
            <a:avLst/>
          </a:prstGeom>
          <a:noFill/>
          <a:ln/>
        </p:spPr>
        <p:txBody>
          <a:bodyPr wrap="square" lIns="0" tIns="0" rIns="0" bIns="0" rtlCol="0" anchor="ctr"/>
          <a:lstStyle/>
          <a:p>
            <a:pPr indent="0" marL="0">
              <a:buNone/>
            </a:pPr>
            <a:r>
              <a:rPr lang="en-US" sz="1050" b="1" dirty="0">
                <a:solidFill>
                  <a:srgbClr val="1D1D1F"/>
                </a:solidFill>
                <a:latin typeface="SF Pro Text" pitchFamily="34" charset="0"/>
                <a:ea typeface="SF Pro Text" pitchFamily="34" charset="-122"/>
                <a:cs typeface="SF Pro Text" pitchFamily="34" charset="-120"/>
              </a:rPr>
              <a:t>Example: </a:t>
            </a:r>
            <a:pPr indent="0" marL="0">
              <a:buNone/>
            </a:pPr>
            <a:r>
              <a:rPr lang="en-US" sz="1050" dirty="0">
                <a:solidFill>
                  <a:srgbClr val="1D1D1F"/>
                </a:solidFill>
                <a:latin typeface="SF Pro Text" pitchFamily="34" charset="0"/>
                <a:ea typeface="SF Pro Text" pitchFamily="34" charset="-122"/>
                <a:cs typeface="SF Pro Text" pitchFamily="34" charset="-120"/>
              </a:rPr>
              <a:t>8:23 AM CDT is 6:23 AM in Pacific time (PDT −2) and 9:23 AM in Eastern time (EDT +1).</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Reading the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the job history from the bottom up. Then click The Story.</a:t>
            </a:r>
            <a:endParaRPr lang="en-US" sz="1200" dirty="0"/>
          </a:p>
        </p:txBody>
      </p:sp>
      <p:sp>
        <p:nvSpPr>
          <p:cNvPr id="6" name="Shape 3"/>
          <p:cNvSpPr/>
          <p:nvPr/>
        </p:nvSpPr>
        <p:spPr>
          <a:xfrm>
            <a:off x="411480" y="1188720"/>
            <a:ext cx="5257800" cy="2651760"/>
          </a:xfrm>
          <a:prstGeom prst="roundRect">
            <a:avLst>
              <a:gd name="adj" fmla="val 2759"/>
            </a:avLst>
          </a:prstGeom>
          <a:solidFill>
            <a:srgbClr val="FFFFFF"/>
          </a:solidFill>
          <a:ln w="9525">
            <a:solidFill>
              <a:srgbClr val="DCE1E7"/>
            </a:solidFill>
            <a:prstDash val="solid"/>
          </a:ln>
        </p:spPr>
      </p:sp>
      <p:pic>
        <p:nvPicPr>
          <p:cNvPr id="7" name="Image 0" descr="/tmp/claude-0/-workspace-training/3ce5cff6-cccf-5f33-b0ee-0b147a55120e/scratchpad/img3/jh_table.png">    </p:cNvPr>
          <p:cNvPicPr>
            <a:picLocks noChangeAspect="1"/>
          </p:cNvPicPr>
          <p:nvPr/>
        </p:nvPicPr>
        <p:blipFill>
          <a:blip r:embed="rId1"/>
          <a:stretch>
            <a:fillRect/>
          </a:stretch>
        </p:blipFill>
        <p:spPr>
          <a:xfrm>
            <a:off x="484632" y="1298989"/>
            <a:ext cx="5111496" cy="2431222"/>
          </a:xfrm>
          <a:prstGeom prst="rect">
            <a:avLst/>
          </a:prstGeom>
        </p:spPr>
      </p:pic>
      <p:pic>
        <p:nvPicPr>
          <p:cNvPr id="8" name="Image 1" descr="preencoded.png">    </p:cNvPr>
          <p:cNvPicPr>
            <a:picLocks noChangeAspect="1"/>
          </p:cNvPicPr>
          <p:nvPr/>
        </p:nvPicPr>
        <p:blipFill>
          <a:blip r:embed="rId2"/>
          <a:stretch>
            <a:fillRect/>
          </a:stretch>
        </p:blipFill>
        <p:spPr>
          <a:xfrm>
            <a:off x="502920" y="3931920"/>
            <a:ext cx="182880" cy="182880"/>
          </a:xfrm>
          <a:prstGeom prst="rect">
            <a:avLst/>
          </a:prstGeom>
        </p:spPr>
      </p:pic>
      <p:sp>
        <p:nvSpPr>
          <p:cNvPr id="9" name="Text 4"/>
          <p:cNvSpPr txBox="1"/>
          <p:nvPr/>
        </p:nvSpPr>
        <p:spPr>
          <a:xfrm>
            <a:off x="731520" y="3904488"/>
            <a:ext cx="2743200" cy="237744"/>
          </a:xfrm>
          <a:prstGeom prst="rect">
            <a:avLst/>
          </a:prstGeom>
          <a:noFill/>
          <a:ln/>
        </p:spPr>
        <p:txBody>
          <a:bodyPr wrap="square" lIns="0" tIns="0" rIns="0" bIns="0" rtlCol="0" anchor="ctr"/>
          <a:lstStyle/>
          <a:p>
            <a:pPr indent="0" marL="0">
              <a:buNone/>
            </a:pPr>
            <a:r>
              <a:rPr lang="en-US" sz="950" b="1" dirty="0">
                <a:solidFill>
                  <a:srgbClr val="0B7A6F"/>
                </a:solidFill>
                <a:latin typeface="SF Pro Text" pitchFamily="34" charset="0"/>
                <a:ea typeface="SF Pro Text" pitchFamily="34" charset="-122"/>
                <a:cs typeface="SF Pro Text" pitchFamily="34" charset="-120"/>
              </a:rPr>
              <a:t>Read bottom to top</a:t>
            </a:r>
            <a:endParaRPr lang="en-US" sz="950" dirty="0"/>
          </a:p>
        </p:txBody>
      </p:sp>
      <p:sp>
        <p:nvSpPr>
          <p:cNvPr id="10" name="Shape 5"/>
          <p:cNvSpPr/>
          <p:nvPr/>
        </p:nvSpPr>
        <p:spPr>
          <a:xfrm>
            <a:off x="5806440" y="1188720"/>
            <a:ext cx="2926080" cy="457200"/>
          </a:xfrm>
          <a:prstGeom prst="roundRect">
            <a:avLst>
              <a:gd name="adj" fmla="val 20000"/>
            </a:avLst>
          </a:prstGeom>
          <a:solidFill>
            <a:srgbClr val="0B7A6F"/>
          </a:solidFill>
          <a:ln w="12700">
            <a:solidFill>
              <a:srgbClr val="0B7A6F"/>
            </a:solidFill>
            <a:prstDash val="solid"/>
          </a:ln>
        </p:spPr>
      </p:sp>
      <p:pic>
        <p:nvPicPr>
          <p:cNvPr id="11" name="Image 2" descr="preencoded.png">    </p:cNvPr>
          <p:cNvPicPr>
            <a:picLocks noChangeAspect="1"/>
          </p:cNvPicPr>
          <p:nvPr/>
        </p:nvPicPr>
        <p:blipFill>
          <a:blip r:embed="rId3"/>
          <a:stretch>
            <a:fillRect/>
          </a:stretch>
        </p:blipFill>
        <p:spPr>
          <a:xfrm>
            <a:off x="5989320" y="1307592"/>
            <a:ext cx="219456" cy="219456"/>
          </a:xfrm>
          <a:prstGeom prst="rect">
            <a:avLst/>
          </a:prstGeom>
        </p:spPr>
      </p:pic>
      <p:sp>
        <p:nvSpPr>
          <p:cNvPr id="12" name="Text 6"/>
          <p:cNvSpPr txBox="1"/>
          <p:nvPr/>
        </p:nvSpPr>
        <p:spPr>
          <a:xfrm>
            <a:off x="6309360" y="1188720"/>
            <a:ext cx="22860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The Story</a:t>
            </a:r>
            <a:endParaRPr lang="en-US" sz="1300" dirty="0"/>
          </a:p>
        </p:txBody>
      </p:sp>
      <p:sp>
        <p:nvSpPr>
          <p:cNvPr id="13" name="Shape 7"/>
          <p:cNvSpPr/>
          <p:nvPr/>
        </p:nvSpPr>
        <p:spPr>
          <a:xfrm>
            <a:off x="5806440" y="1737360"/>
            <a:ext cx="2926080" cy="2971800"/>
          </a:xfrm>
          <a:prstGeom prst="roundRect">
            <a:avLst>
              <a:gd name="adj" fmla="val 2500"/>
            </a:avLst>
          </a:prstGeom>
          <a:solidFill>
            <a:srgbClr val="E3F4F1"/>
          </a:solidFill>
          <a:ln w="9525">
            <a:solidFill>
              <a:srgbClr val="E3F4F1"/>
            </a:solidFill>
            <a:prstDash val="solid"/>
          </a:ln>
        </p:spPr>
      </p:sp>
      <p:sp>
        <p:nvSpPr>
          <p:cNvPr id="14" name="revealStory"/>
          <p:cNvSpPr txBox="1"/>
          <p:nvPr/>
        </p:nvSpPr>
        <p:spPr>
          <a:xfrm>
            <a:off x="5943600" y="1847088"/>
            <a:ext cx="2651760" cy="278892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7, 2026: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the system booked a cleaning for C Anjuli Kintanar for Sept 21, 10 AM CT, through the recurring cleaning plan.</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14: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claimed the job as scheduled.</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9:19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from Sept 21, 10 AM CT to Sept 22, 11 AM.</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21, 9:50 AM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rescheduled again, from Sept 22, 11 AM to Sept 24, 12:30 PM CT.</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Sept 24, 4:09 PM CT: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Truffle Wuffle invoiced the appointment and the system logged it in snapshot.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wipe(left)">
                                      <p:cBhvr>
                                        <p:cTn id="7" dur="1200"/>
                                        <p:tgtEl>
                                          <p:spTgt spid="1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1" end="1"/>
                                            </p:txEl>
                                          </p:spTgt>
                                        </p:tgtEl>
                                        <p:attrNameLst>
                                          <p:attrName>style.visibility</p:attrName>
                                        </p:attrNameLst>
                                      </p:cBhvr>
                                      <p:to>
                                        <p:strVal val="visible"/>
                                      </p:to>
                                    </p:set>
                                    <p:animEffect transition="in" filter="wipe(left)">
                                      <p:cBhvr>
                                        <p:cTn id="12" dur="1200"/>
                                        <p:tgtEl>
                                          <p:spTgt spid="1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Effect transition="in" filter="wipe(left)">
                                      <p:cBhvr>
                                        <p:cTn id="17" dur="1200"/>
                                        <p:tgtEl>
                                          <p:spTgt spid="1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3" end="3"/>
                                            </p:txEl>
                                          </p:spTgt>
                                        </p:tgtEl>
                                        <p:attrNameLst>
                                          <p:attrName>style.visibility</p:attrName>
                                        </p:attrNameLst>
                                      </p:cBhvr>
                                      <p:to>
                                        <p:strVal val="visible"/>
                                      </p:to>
                                    </p:set>
                                    <p:animEffect transition="in" filter="wipe(left)">
                                      <p:cBhvr>
                                        <p:cTn id="22" dur="1200"/>
                                        <p:tgtEl>
                                          <p:spTgt spid="1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4">
                                            <p:txEl>
                                              <p:pRg st="4" end="4"/>
                                            </p:txEl>
                                          </p:spTgt>
                                        </p:tgtEl>
                                        <p:attrNameLst>
                                          <p:attrName>style.visibility</p:attrName>
                                        </p:attrNameLst>
                                      </p:cBhvr>
                                      <p:to>
                                        <p:strVal val="visible"/>
                                      </p:to>
                                    </p:set>
                                    <p:animEffect transition="in" filter="wipe(left)">
                                      <p:cBhvr>
                                        <p:cTn id="27" dur="12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UNDERSTANDING JOB HISTORY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read a job history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Open the practice ticket and answer these four questions.</a:t>
            </a:r>
            <a:endParaRPr lang="en-US" sz="1200" dirty="0"/>
          </a:p>
        </p:txBody>
      </p:sp>
      <p:pic>
        <p:nvPicPr>
          <p:cNvPr id="6" name="Image 0" descr="preencoded.png">
            <a:hlinkClick r:id="rId2" tooltip="Open the practice job history"/>
          </p:cNvPr>
          <p:cNvPicPr>
            <a:picLocks noChangeAspect="1"/>
          </p:cNvPicPr>
          <p:nvPr/>
        </p:nvPicPr>
        <p:blipFill>
          <a:blip r:embed="rId1"/>
          <a:stretch>
            <a:fillRect/>
          </a:stretch>
        </p:blipFill>
        <p:spPr>
          <a:xfrm>
            <a:off x="411480" y="1325880"/>
            <a:ext cx="2834640" cy="548640"/>
          </a:xfrm>
          <a:prstGeom prst="rect">
            <a:avLst/>
          </a:prstGeom>
        </p:spPr>
      </p:pic>
      <p:sp>
        <p:nvSpPr>
          <p:cNvPr id="7" name="Text 3"/>
          <p:cNvSpPr txBox="1"/>
          <p:nvPr/>
        </p:nvSpPr>
        <p:spPr>
          <a:xfrm>
            <a:off x="3429000" y="1463040"/>
            <a:ext cx="2743200" cy="274320"/>
          </a:xfrm>
          <a:prstGeom prst="rect">
            <a:avLst/>
          </a:prstGeom>
          <a:noFill/>
          <a:ln/>
        </p:spPr>
        <p:txBody>
          <a:bodyPr wrap="square" lIns="0" tIns="0" rIns="0" bIns="0" rtlCol="0" anchor="ctr"/>
          <a:lstStyle/>
          <a:p>
            <a:pPr indent="0" marL="0">
              <a:buNone/>
            </a:pPr>
            <a:r>
              <a:rPr lang="en-US" sz="1000" u="sng" dirty="0">
                <a:solidFill>
                  <a:srgbClr val="0B7A6F"/>
                </a:solidFill>
                <a:latin typeface="SF Pro Text" pitchFamily="34" charset="0"/>
                <a:ea typeface="SF Pro Text" pitchFamily="34" charset="-122"/>
                <a:cs typeface="SF Pro T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Job 12685237</a:t>
            </a:r>
            <a:endParaRPr lang="en-US" sz="1000" dirty="0"/>
          </a:p>
        </p:txBody>
      </p:sp>
      <p:sp>
        <p:nvSpPr>
          <p:cNvPr id="8" name="Shape 4"/>
          <p:cNvSpPr/>
          <p:nvPr/>
        </p:nvSpPr>
        <p:spPr>
          <a:xfrm>
            <a:off x="411480" y="2103120"/>
            <a:ext cx="4091940" cy="1097280"/>
          </a:xfrm>
          <a:prstGeom prst="roundRect">
            <a:avLst>
              <a:gd name="adj" fmla="val 6667"/>
            </a:avLst>
          </a:prstGeom>
          <a:solidFill>
            <a:srgbClr val="FFFFFF"/>
          </a:solidFill>
          <a:ln w="9525">
            <a:solidFill>
              <a:srgbClr val="DCE1E7"/>
            </a:solidFill>
            <a:prstDash val="solid"/>
          </a:ln>
        </p:spPr>
      </p:sp>
      <p:sp>
        <p:nvSpPr>
          <p:cNvPr id="9" name="Shape 5"/>
          <p:cNvSpPr/>
          <p:nvPr/>
        </p:nvSpPr>
        <p:spPr>
          <a:xfrm>
            <a:off x="576072" y="2286000"/>
            <a:ext cx="274320" cy="274320"/>
          </a:xfrm>
          <a:prstGeom prst="ellipse">
            <a:avLst/>
          </a:prstGeom>
          <a:solidFill>
            <a:srgbClr val="E3F4F1"/>
          </a:solidFill>
          <a:ln w="12700">
            <a:solidFill>
              <a:srgbClr val="E3F4F1"/>
            </a:solidFill>
            <a:prstDash val="solid"/>
          </a:ln>
        </p:spPr>
      </p:sp>
      <p:sp>
        <p:nvSpPr>
          <p:cNvPr id="10" name="Text 6"/>
          <p:cNvSpPr txBox="1"/>
          <p:nvPr/>
        </p:nvSpPr>
        <p:spPr>
          <a:xfrm>
            <a:off x="5760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1" name="Text 7"/>
          <p:cNvSpPr txBox="1"/>
          <p:nvPr/>
        </p:nvSpPr>
        <p:spPr>
          <a:xfrm>
            <a:off x="10058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Who booked the appointment?</a:t>
            </a:r>
            <a:endParaRPr lang="en-US" sz="1050" dirty="0"/>
          </a:p>
        </p:txBody>
      </p:sp>
      <p:sp>
        <p:nvSpPr>
          <p:cNvPr id="12" name="Shape 8"/>
          <p:cNvSpPr/>
          <p:nvPr/>
        </p:nvSpPr>
        <p:spPr>
          <a:xfrm>
            <a:off x="4640580" y="2103120"/>
            <a:ext cx="4091940" cy="1097280"/>
          </a:xfrm>
          <a:prstGeom prst="roundRect">
            <a:avLst>
              <a:gd name="adj" fmla="val 6667"/>
            </a:avLst>
          </a:prstGeom>
          <a:solidFill>
            <a:srgbClr val="FFFFFF"/>
          </a:solidFill>
          <a:ln w="9525">
            <a:solidFill>
              <a:srgbClr val="DCE1E7"/>
            </a:solidFill>
            <a:prstDash val="solid"/>
          </a:ln>
        </p:spPr>
      </p:sp>
      <p:sp>
        <p:nvSpPr>
          <p:cNvPr id="13" name="Shape 9"/>
          <p:cNvSpPr/>
          <p:nvPr/>
        </p:nvSpPr>
        <p:spPr>
          <a:xfrm>
            <a:off x="4805172" y="228600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805172" y="22860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1"/>
          <p:cNvSpPr txBox="1"/>
          <p:nvPr/>
        </p:nvSpPr>
        <p:spPr>
          <a:xfrm>
            <a:off x="5234940" y="224028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When was the appointment initially scheduled for?</a:t>
            </a:r>
            <a:endParaRPr lang="en-US" sz="1050" dirty="0"/>
          </a:p>
        </p:txBody>
      </p:sp>
      <p:sp>
        <p:nvSpPr>
          <p:cNvPr id="16" name="Shape 12"/>
          <p:cNvSpPr/>
          <p:nvPr/>
        </p:nvSpPr>
        <p:spPr>
          <a:xfrm>
            <a:off x="411480" y="3337560"/>
            <a:ext cx="4091940" cy="1097280"/>
          </a:xfrm>
          <a:prstGeom prst="roundRect">
            <a:avLst>
              <a:gd name="adj" fmla="val 6667"/>
            </a:avLst>
          </a:prstGeom>
          <a:solidFill>
            <a:srgbClr val="FFFFFF"/>
          </a:solidFill>
          <a:ln w="9525">
            <a:solidFill>
              <a:srgbClr val="DCE1E7"/>
            </a:solidFill>
            <a:prstDash val="solid"/>
          </a:ln>
        </p:spPr>
      </p:sp>
      <p:sp>
        <p:nvSpPr>
          <p:cNvPr id="17" name="Shape 13"/>
          <p:cNvSpPr/>
          <p:nvPr/>
        </p:nvSpPr>
        <p:spPr>
          <a:xfrm>
            <a:off x="576072" y="3520440"/>
            <a:ext cx="274320" cy="274320"/>
          </a:xfrm>
          <a:prstGeom prst="ellipse">
            <a:avLst/>
          </a:prstGeom>
          <a:solidFill>
            <a:srgbClr val="E3F4F1"/>
          </a:solidFill>
          <a:ln w="12700">
            <a:solidFill>
              <a:srgbClr val="E3F4F1"/>
            </a:solidFill>
            <a:prstDash val="solid"/>
          </a:ln>
        </p:spPr>
      </p:sp>
      <p:sp>
        <p:nvSpPr>
          <p:cNvPr id="18" name="Text 14"/>
          <p:cNvSpPr txBox="1"/>
          <p:nvPr/>
        </p:nvSpPr>
        <p:spPr>
          <a:xfrm>
            <a:off x="5760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5"/>
          <p:cNvSpPr txBox="1"/>
          <p:nvPr/>
        </p:nvSpPr>
        <p:spPr>
          <a:xfrm>
            <a:off x="10058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The customer writes: "I initially booked for Jan 12 at 1 PM, but I received a notification that I am booked for 2 PM. Why is that?"</a:t>
            </a:r>
            <a:endParaRPr lang="en-US" sz="1050" dirty="0"/>
          </a:p>
        </p:txBody>
      </p:sp>
      <p:sp>
        <p:nvSpPr>
          <p:cNvPr id="20" name="Shape 16"/>
          <p:cNvSpPr/>
          <p:nvPr/>
        </p:nvSpPr>
        <p:spPr>
          <a:xfrm>
            <a:off x="4640580" y="3337560"/>
            <a:ext cx="4091940" cy="1097280"/>
          </a:xfrm>
          <a:prstGeom prst="roundRect">
            <a:avLst>
              <a:gd name="adj" fmla="val 6667"/>
            </a:avLst>
          </a:prstGeom>
          <a:solidFill>
            <a:srgbClr val="FFFFFF"/>
          </a:solidFill>
          <a:ln w="9525">
            <a:solidFill>
              <a:srgbClr val="DCE1E7"/>
            </a:solidFill>
            <a:prstDash val="solid"/>
          </a:ln>
        </p:spPr>
      </p:sp>
      <p:sp>
        <p:nvSpPr>
          <p:cNvPr id="21" name="Shape 17"/>
          <p:cNvSpPr/>
          <p:nvPr/>
        </p:nvSpPr>
        <p:spPr>
          <a:xfrm>
            <a:off x="4805172" y="3520440"/>
            <a:ext cx="274320" cy="274320"/>
          </a:xfrm>
          <a:prstGeom prst="ellipse">
            <a:avLst/>
          </a:prstGeom>
          <a:solidFill>
            <a:srgbClr val="E3F4F1"/>
          </a:solidFill>
          <a:ln w="12700">
            <a:solidFill>
              <a:srgbClr val="E3F4F1"/>
            </a:solidFill>
            <a:prstDash val="solid"/>
          </a:ln>
        </p:spPr>
      </p:sp>
      <p:sp>
        <p:nvSpPr>
          <p:cNvPr id="22" name="Text 18"/>
          <p:cNvSpPr txBox="1"/>
          <p:nvPr/>
        </p:nvSpPr>
        <p:spPr>
          <a:xfrm>
            <a:off x="4805172" y="35204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19"/>
          <p:cNvSpPr txBox="1"/>
          <p:nvPr/>
        </p:nvSpPr>
        <p:spPr>
          <a:xfrm>
            <a:off x="5234940" y="3474720"/>
            <a:ext cx="3314700" cy="822960"/>
          </a:xfrm>
          <a:prstGeom prst="rect">
            <a:avLst/>
          </a:prstGeom>
          <a:noFill/>
          <a:ln/>
        </p:spPr>
        <p:txBody>
          <a:bodyPr wrap="square" lIns="0" tIns="0" rIns="0" bIns="0" rtlCol="0" anchor="ctr"/>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happened on Jan 8 at 5:58 PM?</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Callback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When to call a customer back, how many times to try, and what to do next.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to call</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call steps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Answered, missed or voicemail</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Keeping callbacks from slipping</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Asked for a call? Call them.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We don't take inbound calls, but we call out when a customer asks, or when something needs an answer now.</a:t>
            </a:r>
            <a:endParaRPr lang="en-US" sz="1200" dirty="0"/>
          </a:p>
        </p:txBody>
      </p:sp>
      <p:sp>
        <p:nvSpPr>
          <p:cNvPr id="6" name="Shape 3"/>
          <p:cNvSpPr/>
          <p:nvPr/>
        </p:nvSpPr>
        <p:spPr>
          <a:xfrm>
            <a:off x="411480" y="1371600"/>
            <a:ext cx="8321040" cy="1005840"/>
          </a:xfrm>
          <a:prstGeom prst="roundRect">
            <a:avLst>
              <a:gd name="adj" fmla="val 7273"/>
            </a:avLst>
          </a:prstGeom>
          <a:solidFill>
            <a:srgbClr val="0B7A6F"/>
          </a:solidFill>
          <a:ln w="9525">
            <a:solidFill>
              <a:srgbClr val="0B7A6F"/>
            </a:solidFill>
            <a:prstDash val="solid"/>
          </a:ln>
        </p:spPr>
      </p:sp>
      <p:sp>
        <p:nvSpPr>
          <p:cNvPr id="7" name="Text 4"/>
          <p:cNvSpPr txBox="1"/>
          <p:nvPr/>
        </p:nvSpPr>
        <p:spPr>
          <a:xfrm>
            <a:off x="685800" y="1490472"/>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AGENT DO</a:t>
            </a:r>
            <a:endParaRPr lang="en-US" sz="800" dirty="0"/>
          </a:p>
        </p:txBody>
      </p:sp>
      <p:sp>
        <p:nvSpPr>
          <p:cNvPr id="8" name="Text 5"/>
          <p:cNvSpPr txBox="1"/>
          <p:nvPr/>
        </p:nvSpPr>
        <p:spPr>
          <a:xfrm>
            <a:off x="685800" y="1719072"/>
            <a:ext cx="7863840" cy="548640"/>
          </a:xfrm>
          <a:prstGeom prst="rect">
            <a:avLst/>
          </a:prstGeom>
          <a:noFill/>
          <a:ln/>
        </p:spPr>
        <p:txBody>
          <a:bodyPr wrap="square" lIns="0" tIns="0" rIns="0" bIns="0" rtlCol="0" anchor="t"/>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Callback request between 8 AM and 8 PM (customer's local time)? Call right away. The request is enough.</a:t>
            </a:r>
            <a:endParaRPr lang="en-US" sz="1400" dirty="0"/>
          </a:p>
        </p:txBody>
      </p:sp>
      <p:sp>
        <p:nvSpPr>
          <p:cNvPr id="9" name="Shape 6"/>
          <p:cNvSpPr/>
          <p:nvPr/>
        </p:nvSpPr>
        <p:spPr>
          <a:xfrm>
            <a:off x="411480" y="2560320"/>
            <a:ext cx="4091940" cy="1508760"/>
          </a:xfrm>
          <a:prstGeom prst="roundRect">
            <a:avLst>
              <a:gd name="adj" fmla="val 4848"/>
            </a:avLst>
          </a:prstGeom>
          <a:solidFill>
            <a:srgbClr val="FFFFFF"/>
          </a:solidFill>
          <a:ln w="9525">
            <a:solidFill>
              <a:srgbClr val="DCE1E7"/>
            </a:solidFill>
            <a:prstDash val="solid"/>
          </a:ln>
        </p:spPr>
      </p:sp>
      <p:sp>
        <p:nvSpPr>
          <p:cNvPr id="10" name="Shape 7"/>
          <p:cNvSpPr/>
          <p:nvPr/>
        </p:nvSpPr>
        <p:spPr>
          <a:xfrm>
            <a:off x="576072" y="2724912"/>
            <a:ext cx="329184" cy="329184"/>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55076" y="2803916"/>
            <a:ext cx="171176" cy="171176"/>
          </a:xfrm>
          <a:prstGeom prst="rect">
            <a:avLst/>
          </a:prstGeom>
        </p:spPr>
      </p:pic>
      <p:sp>
        <p:nvSpPr>
          <p:cNvPr id="12" name="Text 8"/>
          <p:cNvSpPr txBox="1"/>
          <p:nvPr/>
        </p:nvSpPr>
        <p:spPr>
          <a:xfrm>
            <a:off x="5760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Respect their choice</a:t>
            </a:r>
            <a:endParaRPr lang="en-US" sz="1200" dirty="0"/>
          </a:p>
        </p:txBody>
      </p:sp>
      <p:sp>
        <p:nvSpPr>
          <p:cNvPr id="13" name="Text 9"/>
          <p:cNvSpPr txBox="1"/>
          <p:nvPr/>
        </p:nvSpPr>
        <p:spPr>
          <a:xfrm>
            <a:off x="5760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asked for a call, so they get one, however minor the ticket looks.</a:t>
            </a:r>
            <a:endParaRPr lang="en-US" sz="950" dirty="0"/>
          </a:p>
        </p:txBody>
      </p:sp>
      <p:sp>
        <p:nvSpPr>
          <p:cNvPr id="14" name="Shape 10"/>
          <p:cNvSpPr/>
          <p:nvPr/>
        </p:nvSpPr>
        <p:spPr>
          <a:xfrm>
            <a:off x="4640580" y="2560320"/>
            <a:ext cx="4091940" cy="1508760"/>
          </a:xfrm>
          <a:prstGeom prst="roundRect">
            <a:avLst>
              <a:gd name="adj" fmla="val 4848"/>
            </a:avLst>
          </a:prstGeom>
          <a:solidFill>
            <a:srgbClr val="FFFFFF"/>
          </a:solidFill>
          <a:ln w="9525">
            <a:solidFill>
              <a:srgbClr val="DCE1E7"/>
            </a:solidFill>
            <a:prstDash val="solid"/>
          </a:ln>
        </p:spPr>
      </p:sp>
      <p:sp>
        <p:nvSpPr>
          <p:cNvPr id="15" name="Shape 11"/>
          <p:cNvSpPr/>
          <p:nvPr/>
        </p:nvSpPr>
        <p:spPr>
          <a:xfrm>
            <a:off x="4805172" y="2724912"/>
            <a:ext cx="329184" cy="329184"/>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4884176" y="2803916"/>
            <a:ext cx="171176" cy="171176"/>
          </a:xfrm>
          <a:prstGeom prst="rect">
            <a:avLst/>
          </a:prstGeom>
        </p:spPr>
      </p:pic>
      <p:sp>
        <p:nvSpPr>
          <p:cNvPr id="17" name="Text 12"/>
          <p:cNvSpPr txBox="1"/>
          <p:nvPr/>
        </p:nvSpPr>
        <p:spPr>
          <a:xfrm>
            <a:off x="4805172" y="3163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lose a callback</a:t>
            </a:r>
            <a:endParaRPr lang="en-US" sz="1200" dirty="0"/>
          </a:p>
        </p:txBody>
      </p:sp>
      <p:sp>
        <p:nvSpPr>
          <p:cNvPr id="18" name="Text 13"/>
          <p:cNvSpPr txBox="1"/>
          <p:nvPr/>
        </p:nvSpPr>
        <p:spPr>
          <a:xfrm>
            <a:off x="4805172" y="3456432"/>
            <a:ext cx="3762756" cy="5212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Reminders and the tracker keep promises from slipping between shifts.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call steps</a:t>
            </a:r>
            <a:endParaRPr lang="en-US" sz="2400" dirty="0"/>
          </a:p>
        </p:txBody>
      </p:sp>
      <p:sp>
        <p:nvSpPr>
          <p:cNvPr id="5" name="Shape 2"/>
          <p:cNvSpPr/>
          <p:nvPr/>
        </p:nvSpPr>
        <p:spPr>
          <a:xfrm>
            <a:off x="411480" y="1280160"/>
            <a:ext cx="246888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1371600" y="1463040"/>
            <a:ext cx="548640" cy="54864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1503274" y="1594714"/>
            <a:ext cx="285293" cy="285293"/>
          </a:xfrm>
          <a:prstGeom prst="rect">
            <a:avLst/>
          </a:prstGeom>
        </p:spPr>
      </p:pic>
      <p:sp>
        <p:nvSpPr>
          <p:cNvPr id="8" name="Text 4"/>
          <p:cNvSpPr txBox="1"/>
          <p:nvPr/>
        </p:nvSpPr>
        <p:spPr>
          <a:xfrm>
            <a:off x="41148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9" name="Text 5"/>
          <p:cNvSpPr txBox="1"/>
          <p:nvPr/>
        </p:nvSpPr>
        <p:spPr>
          <a:xfrm>
            <a:off x="54864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Callback requested?</a:t>
            </a:r>
            <a:endParaRPr lang="en-US" sz="1250" dirty="0"/>
          </a:p>
        </p:txBody>
      </p:sp>
      <p:sp>
        <p:nvSpPr>
          <p:cNvPr id="10" name="Text 6"/>
          <p:cNvSpPr txBox="1"/>
          <p:nvPr/>
        </p:nvSpPr>
        <p:spPr>
          <a:xfrm>
            <a:off x="54864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handle the ticket as usual</a:t>
            </a:r>
            <a:endParaRPr lang="en-US" sz="1000" dirty="0"/>
          </a:p>
        </p:txBody>
      </p:sp>
      <p:pic>
        <p:nvPicPr>
          <p:cNvPr id="11" name="Image 1" descr="preencoded.png">    </p:cNvPr>
          <p:cNvPicPr>
            <a:picLocks noChangeAspect="1"/>
          </p:cNvPicPr>
          <p:nvPr/>
        </p:nvPicPr>
        <p:blipFill>
          <a:blip r:embed="rId2"/>
          <a:stretch>
            <a:fillRect/>
          </a:stretch>
        </p:blipFill>
        <p:spPr>
          <a:xfrm>
            <a:off x="2999232" y="2240280"/>
            <a:ext cx="219456" cy="219456"/>
          </a:xfrm>
          <a:prstGeom prst="rect">
            <a:avLst/>
          </a:prstGeom>
        </p:spPr>
      </p:pic>
      <p:sp>
        <p:nvSpPr>
          <p:cNvPr id="12" name="Shape 7"/>
          <p:cNvSpPr/>
          <p:nvPr/>
        </p:nvSpPr>
        <p:spPr>
          <a:xfrm>
            <a:off x="3337560" y="1280160"/>
            <a:ext cx="2468880" cy="2194560"/>
          </a:xfrm>
          <a:prstGeom prst="roundRect">
            <a:avLst>
              <a:gd name="adj" fmla="val 3333"/>
            </a:avLst>
          </a:prstGeom>
          <a:solidFill>
            <a:srgbClr val="FFFFFF"/>
          </a:solidFill>
          <a:ln w="9525">
            <a:solidFill>
              <a:srgbClr val="DCE1E7"/>
            </a:solidFill>
            <a:prstDash val="solid"/>
          </a:ln>
        </p:spPr>
      </p:sp>
      <p:sp>
        <p:nvSpPr>
          <p:cNvPr id="13" name="Shape 8"/>
          <p:cNvSpPr/>
          <p:nvPr/>
        </p:nvSpPr>
        <p:spPr>
          <a:xfrm>
            <a:off x="4297680" y="1463040"/>
            <a:ext cx="548640" cy="548640"/>
          </a:xfrm>
          <a:prstGeom prst="ellipse">
            <a:avLst/>
          </a:prstGeom>
          <a:solidFill>
            <a:srgbClr val="E3F4F1"/>
          </a:solidFill>
          <a:ln w="12700">
            <a:solidFill>
              <a:srgbClr val="E3F4F1"/>
            </a:solidFill>
            <a:prstDash val="solid"/>
          </a:ln>
        </p:spPr>
      </p:sp>
      <p:pic>
        <p:nvPicPr>
          <p:cNvPr id="14" name="Image 2" descr="preencoded.png">    </p:cNvPr>
          <p:cNvPicPr>
            <a:picLocks noChangeAspect="1"/>
          </p:cNvPicPr>
          <p:nvPr/>
        </p:nvPicPr>
        <p:blipFill>
          <a:blip r:embed="rId3"/>
          <a:stretch>
            <a:fillRect/>
          </a:stretch>
        </p:blipFill>
        <p:spPr>
          <a:xfrm>
            <a:off x="4429354" y="1594714"/>
            <a:ext cx="285293" cy="285293"/>
          </a:xfrm>
          <a:prstGeom prst="rect">
            <a:avLst/>
          </a:prstGeom>
        </p:spPr>
      </p:pic>
      <p:sp>
        <p:nvSpPr>
          <p:cNvPr id="15" name="Text 9"/>
          <p:cNvSpPr txBox="1"/>
          <p:nvPr/>
        </p:nvSpPr>
        <p:spPr>
          <a:xfrm>
            <a:off x="333756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6" name="Text 10"/>
          <p:cNvSpPr txBox="1"/>
          <p:nvPr/>
        </p:nvSpPr>
        <p:spPr>
          <a:xfrm>
            <a:off x="347472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8 AM – 8 PM their time?</a:t>
            </a:r>
            <a:endParaRPr lang="en-US" sz="1250" dirty="0"/>
          </a:p>
        </p:txBody>
      </p:sp>
      <p:sp>
        <p:nvSpPr>
          <p:cNvPr id="17" name="Text 11"/>
          <p:cNvSpPr txBox="1"/>
          <p:nvPr/>
        </p:nvSpPr>
        <p:spPr>
          <a:xfrm>
            <a:off x="347472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 email, and ask for their availability</a:t>
            </a:r>
            <a:endParaRPr lang="en-US" sz="1000" dirty="0"/>
          </a:p>
        </p:txBody>
      </p:sp>
      <p:pic>
        <p:nvPicPr>
          <p:cNvPr id="18" name="Image 3" descr="preencoded.png">    </p:cNvPr>
          <p:cNvPicPr>
            <a:picLocks noChangeAspect="1"/>
          </p:cNvPicPr>
          <p:nvPr/>
        </p:nvPicPr>
        <p:blipFill>
          <a:blip r:embed="rId4"/>
          <a:stretch>
            <a:fillRect/>
          </a:stretch>
        </p:blipFill>
        <p:spPr>
          <a:xfrm>
            <a:off x="5925312" y="2240280"/>
            <a:ext cx="219456" cy="219456"/>
          </a:xfrm>
          <a:prstGeom prst="rect">
            <a:avLst/>
          </a:prstGeom>
        </p:spPr>
      </p:pic>
      <p:sp>
        <p:nvSpPr>
          <p:cNvPr id="19" name="Shape 12"/>
          <p:cNvSpPr/>
          <p:nvPr/>
        </p:nvSpPr>
        <p:spPr>
          <a:xfrm>
            <a:off x="6263640" y="1280160"/>
            <a:ext cx="2468880" cy="2194560"/>
          </a:xfrm>
          <a:prstGeom prst="roundRect">
            <a:avLst>
              <a:gd name="adj" fmla="val 3333"/>
            </a:avLst>
          </a:prstGeom>
          <a:solidFill>
            <a:srgbClr val="FFFFFF"/>
          </a:solidFill>
          <a:ln w="9525">
            <a:solidFill>
              <a:srgbClr val="DCE1E7"/>
            </a:solidFill>
            <a:prstDash val="solid"/>
          </a:ln>
        </p:spPr>
      </p:sp>
      <p:sp>
        <p:nvSpPr>
          <p:cNvPr id="20" name="Shape 13"/>
          <p:cNvSpPr/>
          <p:nvPr/>
        </p:nvSpPr>
        <p:spPr>
          <a:xfrm>
            <a:off x="7223760" y="1463040"/>
            <a:ext cx="548640" cy="548640"/>
          </a:xfrm>
          <a:prstGeom prst="ellipse">
            <a:avLst/>
          </a:prstGeom>
          <a:solidFill>
            <a:srgbClr val="E3F4F1"/>
          </a:solidFill>
          <a:ln w="12700">
            <a:solidFill>
              <a:srgbClr val="E3F4F1"/>
            </a:solidFill>
            <a:prstDash val="solid"/>
          </a:ln>
        </p:spPr>
      </p:sp>
      <p:pic>
        <p:nvPicPr>
          <p:cNvPr id="21" name="Image 4" descr="preencoded.png">    </p:cNvPr>
          <p:cNvPicPr>
            <a:picLocks noChangeAspect="1"/>
          </p:cNvPicPr>
          <p:nvPr/>
        </p:nvPicPr>
        <p:blipFill>
          <a:blip r:embed="rId5"/>
          <a:stretch>
            <a:fillRect/>
          </a:stretch>
        </p:blipFill>
        <p:spPr>
          <a:xfrm>
            <a:off x="7355434" y="1594714"/>
            <a:ext cx="285293" cy="285293"/>
          </a:xfrm>
          <a:prstGeom prst="rect">
            <a:avLst/>
          </a:prstGeom>
        </p:spPr>
      </p:pic>
      <p:sp>
        <p:nvSpPr>
          <p:cNvPr id="22" name="Text 14"/>
          <p:cNvSpPr txBox="1"/>
          <p:nvPr/>
        </p:nvSpPr>
        <p:spPr>
          <a:xfrm>
            <a:off x="6263640" y="2121408"/>
            <a:ext cx="2468880"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3" name="Text 15"/>
          <p:cNvSpPr txBox="1"/>
          <p:nvPr/>
        </p:nvSpPr>
        <p:spPr>
          <a:xfrm>
            <a:off x="6400800" y="2331720"/>
            <a:ext cx="2194560" cy="320040"/>
          </a:xfrm>
          <a:prstGeom prst="rect">
            <a:avLst/>
          </a:prstGeom>
          <a:noFill/>
          <a:ln/>
        </p:spPr>
        <p:txBody>
          <a:bodyPr wrap="square" lIns="0" tIns="0" rIns="0" bIns="0" rtlCol="0" anchor="t"/>
          <a:lstStyle/>
          <a:p>
            <a:pPr algn="ctr" indent="0" marL="0">
              <a:buNone/>
            </a:pPr>
            <a:r>
              <a:rPr lang="en-US" sz="1250" b="1" dirty="0">
                <a:solidFill>
                  <a:srgbClr val="1D1D1F"/>
                </a:solidFill>
                <a:latin typeface="SF Pro Display" pitchFamily="34" charset="0"/>
                <a:ea typeface="SF Pro Display" pitchFamily="34" charset="-122"/>
                <a:cs typeface="SF Pro Display" pitchFamily="34" charset="-120"/>
              </a:rPr>
              <a:t>Call up to 3 times</a:t>
            </a:r>
            <a:endParaRPr lang="en-US" sz="1250" dirty="0"/>
          </a:p>
        </p:txBody>
      </p:sp>
      <p:sp>
        <p:nvSpPr>
          <p:cNvPr id="24" name="Text 16"/>
          <p:cNvSpPr txBox="1"/>
          <p:nvPr/>
        </p:nvSpPr>
        <p:spPr>
          <a:xfrm>
            <a:off x="6400800" y="269748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hape 17"/>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6" name="Image 5" descr="preencoded.png">    </p:cNvPr>
          <p:cNvPicPr>
            <a:picLocks noChangeAspect="1"/>
          </p:cNvPicPr>
          <p:nvPr/>
        </p:nvPicPr>
        <p:blipFill>
          <a:blip r:embed="rId6"/>
          <a:stretch>
            <a:fillRect/>
          </a:stretch>
        </p:blipFill>
        <p:spPr>
          <a:xfrm>
            <a:off x="566928" y="3813048"/>
            <a:ext cx="164592" cy="164592"/>
          </a:xfrm>
          <a:prstGeom prst="rect">
            <a:avLst/>
          </a:prstGeom>
        </p:spPr>
      </p:pic>
      <p:sp>
        <p:nvSpPr>
          <p:cNvPr id="27" name="Text 18"/>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call from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a:t>
            </a:r>
            <a:endParaRPr lang="en-US" sz="1200" dirty="0"/>
          </a:p>
        </p:txBody>
      </p:sp>
      <p:sp>
        <p:nvSpPr>
          <p:cNvPr id="6" name="Shape 3"/>
          <p:cNvSpPr/>
          <p:nvPr/>
        </p:nvSpPr>
        <p:spPr>
          <a:xfrm>
            <a:off x="411480" y="1234440"/>
            <a:ext cx="5257800" cy="2697480"/>
          </a:xfrm>
          <a:prstGeom prst="roundRect">
            <a:avLst>
              <a:gd name="adj" fmla="val 2712"/>
            </a:avLst>
          </a:prstGeom>
          <a:solidFill>
            <a:srgbClr val="FFFFFF"/>
          </a:solidFill>
          <a:ln w="9525">
            <a:solidFill>
              <a:srgbClr val="DCE1E7"/>
            </a:solidFill>
            <a:prstDash val="solid"/>
          </a:ln>
        </p:spPr>
      </p:sp>
      <p:pic>
        <p:nvPicPr>
          <p:cNvPr id="7" name="Image 0" descr="/tmp/claude-0/-workspace-training/3ce5cff6-cccf-5f33-b0ee-0b147a55120e/scratchpad/img3/callback_crm.png">    </p:cNvPr>
          <p:cNvPicPr>
            <a:picLocks noChangeAspect="1"/>
          </p:cNvPicPr>
          <p:nvPr/>
        </p:nvPicPr>
        <p:blipFill>
          <a:blip r:embed="rId1"/>
          <a:stretch>
            <a:fillRect/>
          </a:stretch>
        </p:blipFill>
        <p:spPr>
          <a:xfrm>
            <a:off x="501669" y="1307592"/>
            <a:ext cx="5077422" cy="2551176"/>
          </a:xfrm>
          <a:prstGeom prst="rect">
            <a:avLst/>
          </a:prstGeom>
        </p:spPr>
      </p:pic>
      <p:sp>
        <p:nvSpPr>
          <p:cNvPr id="8" name="Shape 4"/>
          <p:cNvSpPr/>
          <p:nvPr/>
        </p:nvSpPr>
        <p:spPr>
          <a:xfrm>
            <a:off x="4457238" y="2030564"/>
            <a:ext cx="523531" cy="207750"/>
          </a:xfrm>
          <a:prstGeom prst="roundRect">
            <a:avLst>
              <a:gd name="adj" fmla="val 13204"/>
            </a:avLst>
          </a:prstGeom>
          <a:ln w="25400">
            <a:solidFill>
              <a:srgbClr val="0B7A6F"/>
            </a:solidFill>
            <a:prstDash val="solid"/>
          </a:ln>
        </p:spPr>
      </p:sp>
      <p:sp>
        <p:nvSpPr>
          <p:cNvPr id="9" name="Shape 5"/>
          <p:cNvSpPr/>
          <p:nvPr/>
        </p:nvSpPr>
        <p:spPr>
          <a:xfrm>
            <a:off x="4356654" y="1929980"/>
            <a:ext cx="201168" cy="201168"/>
          </a:xfrm>
          <a:prstGeom prst="ellipse">
            <a:avLst/>
          </a:prstGeom>
          <a:solidFill>
            <a:srgbClr val="0B7A6F"/>
          </a:solidFill>
          <a:ln w="12700">
            <a:solidFill>
              <a:srgbClr val="FFFFFF"/>
            </a:solidFill>
            <a:prstDash val="solid"/>
          </a:ln>
        </p:spPr>
      </p:sp>
      <p:sp>
        <p:nvSpPr>
          <p:cNvPr id="10" name="Text 6"/>
          <p:cNvSpPr txBox="1"/>
          <p:nvPr/>
        </p:nvSpPr>
        <p:spPr>
          <a:xfrm>
            <a:off x="4356654" y="192998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989080" y="2030564"/>
            <a:ext cx="515221" cy="207750"/>
          </a:xfrm>
          <a:prstGeom prst="roundRect">
            <a:avLst>
              <a:gd name="adj" fmla="val 13204"/>
            </a:avLst>
          </a:prstGeom>
          <a:ln w="25400">
            <a:solidFill>
              <a:srgbClr val="0B7A6F"/>
            </a:solidFill>
            <a:prstDash val="solid"/>
          </a:ln>
        </p:spPr>
      </p:sp>
      <p:sp>
        <p:nvSpPr>
          <p:cNvPr id="12" name="Shape 8"/>
          <p:cNvSpPr/>
          <p:nvPr/>
        </p:nvSpPr>
        <p:spPr>
          <a:xfrm>
            <a:off x="4888496" y="1929980"/>
            <a:ext cx="201168" cy="201168"/>
          </a:xfrm>
          <a:prstGeom prst="ellipse">
            <a:avLst/>
          </a:prstGeom>
          <a:solidFill>
            <a:srgbClr val="0B7A6F"/>
          </a:solidFill>
          <a:ln w="12700">
            <a:solidFill>
              <a:srgbClr val="FFFFFF"/>
            </a:solidFill>
            <a:prstDash val="solid"/>
          </a:ln>
        </p:spPr>
      </p:sp>
      <p:sp>
        <p:nvSpPr>
          <p:cNvPr id="13" name="Text 9"/>
          <p:cNvSpPr txBox="1"/>
          <p:nvPr/>
        </p:nvSpPr>
        <p:spPr>
          <a:xfrm>
            <a:off x="4888496" y="192998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152565" y="2786775"/>
            <a:ext cx="972272" cy="149580"/>
          </a:xfrm>
          <a:prstGeom prst="roundRect">
            <a:avLst>
              <a:gd name="adj" fmla="val 18339"/>
            </a:avLst>
          </a:prstGeom>
          <a:ln w="25400">
            <a:solidFill>
              <a:srgbClr val="0B7A6F"/>
            </a:solidFill>
            <a:prstDash val="solid"/>
          </a:ln>
        </p:spPr>
      </p:sp>
      <p:sp>
        <p:nvSpPr>
          <p:cNvPr id="15" name="Shape 11"/>
          <p:cNvSpPr/>
          <p:nvPr/>
        </p:nvSpPr>
        <p:spPr>
          <a:xfrm>
            <a:off x="3051981" y="2686191"/>
            <a:ext cx="201168" cy="201168"/>
          </a:xfrm>
          <a:prstGeom prst="ellipse">
            <a:avLst/>
          </a:prstGeom>
          <a:solidFill>
            <a:srgbClr val="0B7A6F"/>
          </a:solidFill>
          <a:ln w="12700">
            <a:solidFill>
              <a:srgbClr val="FFFFFF"/>
            </a:solidFill>
            <a:prstDash val="solid"/>
          </a:ln>
        </p:spPr>
      </p:sp>
      <p:sp>
        <p:nvSpPr>
          <p:cNvPr id="16" name="Text 12"/>
          <p:cNvSpPr txBox="1"/>
          <p:nvPr/>
        </p:nvSpPr>
        <p:spPr>
          <a:xfrm>
            <a:off x="3051981" y="268619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806440" y="1234440"/>
            <a:ext cx="2926080" cy="713232"/>
          </a:xfrm>
          <a:prstGeom prst="roundRect">
            <a:avLst>
              <a:gd name="adj" fmla="val 10256"/>
            </a:avLst>
          </a:prstGeom>
          <a:solidFill>
            <a:srgbClr val="FFFFFF"/>
          </a:solidFill>
          <a:ln w="9525">
            <a:solidFill>
              <a:srgbClr val="DCE1E7"/>
            </a:solidFill>
            <a:prstDash val="solid"/>
          </a:ln>
        </p:spPr>
      </p:sp>
      <p:sp>
        <p:nvSpPr>
          <p:cNvPr id="18" name="Shape 14"/>
          <p:cNvSpPr/>
          <p:nvPr/>
        </p:nvSpPr>
        <p:spPr>
          <a:xfrm>
            <a:off x="5934456" y="1463040"/>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934456" y="146304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309360" y="1280160"/>
            <a:ext cx="233172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GVoice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with Google Voice</a:t>
            </a:r>
            <a:endParaRPr lang="en-US" sz="1050" dirty="0"/>
          </a:p>
        </p:txBody>
      </p:sp>
      <p:sp>
        <p:nvSpPr>
          <p:cNvPr id="21" name="Shape 17"/>
          <p:cNvSpPr/>
          <p:nvPr/>
        </p:nvSpPr>
        <p:spPr>
          <a:xfrm>
            <a:off x="5806440" y="2039112"/>
            <a:ext cx="2926080" cy="713232"/>
          </a:xfrm>
          <a:prstGeom prst="roundRect">
            <a:avLst>
              <a:gd name="adj" fmla="val 10256"/>
            </a:avLst>
          </a:prstGeom>
          <a:solidFill>
            <a:srgbClr val="FFFFFF"/>
          </a:solidFill>
          <a:ln w="9525">
            <a:solidFill>
              <a:srgbClr val="DCE1E7"/>
            </a:solidFill>
            <a:prstDash val="solid"/>
          </a:ln>
        </p:spPr>
      </p:sp>
      <p:sp>
        <p:nvSpPr>
          <p:cNvPr id="22" name="Shape 18"/>
          <p:cNvSpPr/>
          <p:nvPr/>
        </p:nvSpPr>
        <p:spPr>
          <a:xfrm>
            <a:off x="5934456" y="2267712"/>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934456" y="226771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309360" y="2084832"/>
            <a:ext cx="233172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Callbox</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Call from the CRM</a:t>
            </a:r>
            <a:endParaRPr lang="en-US" sz="1050" dirty="0"/>
          </a:p>
        </p:txBody>
      </p:sp>
      <p:sp>
        <p:nvSpPr>
          <p:cNvPr id="25" name="Shape 21"/>
          <p:cNvSpPr/>
          <p:nvPr/>
        </p:nvSpPr>
        <p:spPr>
          <a:xfrm>
            <a:off x="5806440" y="2843784"/>
            <a:ext cx="2926080" cy="713232"/>
          </a:xfrm>
          <a:prstGeom prst="roundRect">
            <a:avLst>
              <a:gd name="adj" fmla="val 10256"/>
            </a:avLst>
          </a:prstGeom>
          <a:solidFill>
            <a:srgbClr val="FFFFFF"/>
          </a:solidFill>
          <a:ln w="9525">
            <a:solidFill>
              <a:srgbClr val="DCE1E7"/>
            </a:solidFill>
            <a:prstDash val="solid"/>
          </a:ln>
        </p:spPr>
      </p:sp>
      <p:sp>
        <p:nvSpPr>
          <p:cNvPr id="26" name="Shape 22"/>
          <p:cNvSpPr/>
          <p:nvPr/>
        </p:nvSpPr>
        <p:spPr>
          <a:xfrm>
            <a:off x="593445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93445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309360" y="2889504"/>
            <a:ext cx="233172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Local Time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Check it's 8 AM – 8 PM their time</a:t>
            </a:r>
            <a:endParaRPr lang="en-US" sz="1050" dirty="0"/>
          </a:p>
        </p:txBody>
      </p:sp>
      <p:sp>
        <p:nvSpPr>
          <p:cNvPr id="29" name="Shape 25"/>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566928" y="4178808"/>
            <a:ext cx="164592" cy="164592"/>
          </a:xfrm>
          <a:prstGeom prst="rect">
            <a:avLst/>
          </a:prstGeom>
        </p:spPr>
      </p:pic>
      <p:sp>
        <p:nvSpPr>
          <p:cNvPr id="31" name="Text 26"/>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order:  </a:t>
            </a:r>
            <a:pPr indent="0" marL="0">
              <a:buNone/>
            </a:pPr>
            <a:r>
              <a:rPr lang="en-US" sz="1000" dirty="0">
                <a:solidFill>
                  <a:srgbClr val="1D1D1F"/>
                </a:solidFill>
                <a:latin typeface="SF Pro Text" pitchFamily="34" charset="0"/>
                <a:ea typeface="SF Pro Text" pitchFamily="34" charset="-122"/>
                <a:cs typeface="SF Pro Text" pitchFamily="34" charset="-120"/>
              </a:rPr>
              <a:t>Primary CRM, then Google Voice, then Secondary CRM.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next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 call ends one of three ways.</a:t>
            </a:r>
            <a:endParaRPr lang="en-US" sz="1200" dirty="0"/>
          </a:p>
        </p:txBody>
      </p:sp>
      <p:sp>
        <p:nvSpPr>
          <p:cNvPr id="6" name="Shape 3"/>
          <p:cNvSpPr/>
          <p:nvPr/>
        </p:nvSpPr>
        <p:spPr>
          <a:xfrm>
            <a:off x="411480" y="1325880"/>
            <a:ext cx="26822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76072"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68244" y="1573500"/>
            <a:ext cx="199705" cy="199705"/>
          </a:xfrm>
          <a:prstGeom prst="rect">
            <a:avLst/>
          </a:prstGeom>
        </p:spPr>
      </p:pic>
      <p:sp>
        <p:nvSpPr>
          <p:cNvPr id="9" name="Text 5"/>
          <p:cNvSpPr txBox="1"/>
          <p:nvPr/>
        </p:nvSpPr>
        <p:spPr>
          <a:xfrm>
            <a:off x="10698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Answered</a:t>
            </a:r>
            <a:endParaRPr lang="en-US" sz="1300" dirty="0"/>
          </a:p>
        </p:txBody>
      </p:sp>
      <p:sp>
        <p:nvSpPr>
          <p:cNvPr id="10" name="Text 6"/>
          <p:cNvSpPr txBox="1"/>
          <p:nvPr/>
        </p:nvSpPr>
        <p:spPr>
          <a:xfrm>
            <a:off x="5760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Try to resolve it on the call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Email a summary of what was discussed</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Log an internal note. Calls aren't recorded</a:t>
            </a:r>
            <a:endParaRPr lang="en-US" sz="1000" dirty="0"/>
          </a:p>
        </p:txBody>
      </p:sp>
      <p:sp>
        <p:nvSpPr>
          <p:cNvPr id="11" name="Shape 7"/>
          <p:cNvSpPr/>
          <p:nvPr/>
        </p:nvSpPr>
        <p:spPr>
          <a:xfrm>
            <a:off x="3230880" y="1325880"/>
            <a:ext cx="26822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3395472" y="1481328"/>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87644" y="1573500"/>
            <a:ext cx="199705" cy="199705"/>
          </a:xfrm>
          <a:prstGeom prst="rect">
            <a:avLst/>
          </a:prstGeom>
        </p:spPr>
      </p:pic>
      <p:sp>
        <p:nvSpPr>
          <p:cNvPr id="14" name="Text 9"/>
          <p:cNvSpPr txBox="1"/>
          <p:nvPr/>
        </p:nvSpPr>
        <p:spPr>
          <a:xfrm>
            <a:off x="38892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answered</a:t>
            </a:r>
            <a:endParaRPr lang="en-US" sz="1300" dirty="0"/>
          </a:p>
        </p:txBody>
      </p:sp>
      <p:sp>
        <p:nvSpPr>
          <p:cNvPr id="15" name="Text 10"/>
          <p:cNvSpPr txBox="1"/>
          <p:nvPr/>
        </p:nvSpPr>
        <p:spPr>
          <a:xfrm>
            <a:off x="33954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Address the concern by email</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Ask for their availability for a callback</a:t>
            </a:r>
            <a:endParaRPr lang="en-US" sz="1000" dirty="0"/>
          </a:p>
        </p:txBody>
      </p:sp>
      <p:sp>
        <p:nvSpPr>
          <p:cNvPr id="16" name="Shape 11"/>
          <p:cNvSpPr/>
          <p:nvPr/>
        </p:nvSpPr>
        <p:spPr>
          <a:xfrm>
            <a:off x="6050280" y="1325880"/>
            <a:ext cx="2682240" cy="2331720"/>
          </a:xfrm>
          <a:prstGeom prst="roundRect">
            <a:avLst>
              <a:gd name="adj" fmla="val 3137"/>
            </a:avLst>
          </a:prstGeom>
          <a:solidFill>
            <a:srgbClr val="FFFFFF"/>
          </a:solidFill>
          <a:ln w="9525">
            <a:solidFill>
              <a:srgbClr val="DCE1E7"/>
            </a:solidFill>
            <a:prstDash val="solid"/>
          </a:ln>
        </p:spPr>
      </p:sp>
      <p:sp>
        <p:nvSpPr>
          <p:cNvPr id="17" name="Shape 12"/>
          <p:cNvSpPr/>
          <p:nvPr/>
        </p:nvSpPr>
        <p:spPr>
          <a:xfrm>
            <a:off x="6214872" y="1481328"/>
            <a:ext cx="384048" cy="384048"/>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307044" y="1573500"/>
            <a:ext cx="199705" cy="199705"/>
          </a:xfrm>
          <a:prstGeom prst="rect">
            <a:avLst/>
          </a:prstGeom>
        </p:spPr>
      </p:pic>
      <p:sp>
        <p:nvSpPr>
          <p:cNvPr id="19" name="Text 13"/>
          <p:cNvSpPr txBox="1"/>
          <p:nvPr/>
        </p:nvSpPr>
        <p:spPr>
          <a:xfrm>
            <a:off x="6708648" y="1481328"/>
            <a:ext cx="19050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Voicemail</a:t>
            </a:r>
            <a:endParaRPr lang="en-US" sz="1300" dirty="0"/>
          </a:p>
        </p:txBody>
      </p:sp>
      <p:sp>
        <p:nvSpPr>
          <p:cNvPr id="20" name="Text 14"/>
          <p:cNvSpPr txBox="1"/>
          <p:nvPr/>
        </p:nvSpPr>
        <p:spPr>
          <a:xfrm>
            <a:off x="6214872" y="2011680"/>
            <a:ext cx="2353056" cy="1554480"/>
          </a:xfrm>
          <a:prstGeom prst="rect">
            <a:avLst/>
          </a:prstGeom>
          <a:noFill/>
          <a:ln/>
        </p:spPr>
        <p:txBody>
          <a:bodyPr wrap="square" lIns="0" tIns="0" rIns="0" bIns="0" rtlCol="0" anchor="t"/>
          <a:lstStyle/>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voicemail, if applicable</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Send an email and an SMS</a:t>
            </a:r>
            <a:endParaRPr lang="en-US" sz="1000" dirty="0"/>
          </a:p>
          <a:p>
            <a:pPr marL="127000" indent="-127000">
              <a:spcAft>
                <a:spcPts val="600"/>
              </a:spcAft>
              <a:buSzPct val="100000"/>
              <a:buChar char="•"/>
            </a:pPr>
            <a:r>
              <a:rPr lang="en-US" sz="1000" dirty="0">
                <a:solidFill>
                  <a:srgbClr val="1D1D1F"/>
                </a:solidFill>
                <a:latin typeface="SF Pro Text" pitchFamily="34" charset="0"/>
                <a:ea typeface="SF Pro Text" pitchFamily="34" charset="-122"/>
                <a:cs typeface="SF Pro Text" pitchFamily="34" charset="-120"/>
              </a:rPr>
              <a:t>Wait 10 minutes, then check the ticket again</a:t>
            </a:r>
            <a:endParaRPr lang="en-US" sz="1000" dirty="0"/>
          </a:p>
        </p:txBody>
      </p:sp>
      <p:sp>
        <p:nvSpPr>
          <p:cNvPr id="21" name="Shape 15"/>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950208"/>
            <a:ext cx="164592" cy="164592"/>
          </a:xfrm>
          <a:prstGeom prst="rect">
            <a:avLst/>
          </a:prstGeom>
        </p:spPr>
      </p:pic>
      <p:sp>
        <p:nvSpPr>
          <p:cNvPr id="23" name="Text 16"/>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"Call me now"?  </a:t>
            </a:r>
            <a:pPr indent="0" marL="0">
              <a:buNone/>
            </a:pPr>
            <a:r>
              <a:rPr lang="en-US" sz="1000" dirty="0">
                <a:solidFill>
                  <a:srgbClr val="1D1D1F"/>
                </a:solidFill>
                <a:latin typeface="SF Pro Text" pitchFamily="34" charset="0"/>
                <a:ea typeface="SF Pro Text" pitchFamily="34" charset="-122"/>
                <a:cs typeface="SF Pro Text" pitchFamily="34" charset="-120"/>
              </a:rPr>
              <a:t>if they reply asking for an immediate call, call right away, even inside the 10 minutes.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Once they share their availability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Create a timed reminder assigned to "Any CS", then pick your path.</a:t>
            </a:r>
            <a:endParaRPr lang="en-US" sz="1200" dirty="0"/>
          </a:p>
        </p:txBody>
      </p:sp>
      <p:sp>
        <p:nvSpPr>
          <p:cNvPr id="6" name="Shape 3"/>
          <p:cNvSpPr/>
          <p:nvPr/>
        </p:nvSpPr>
        <p:spPr>
          <a:xfrm>
            <a:off x="411480" y="1371600"/>
            <a:ext cx="8321040" cy="685800"/>
          </a:xfrm>
          <a:prstGeom prst="roundRect">
            <a:avLst>
              <a:gd name="adj" fmla="val 10667"/>
            </a:avLst>
          </a:prstGeom>
          <a:solidFill>
            <a:srgbClr val="0B7A6F"/>
          </a:solidFill>
          <a:ln w="9525">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685800" y="1563624"/>
            <a:ext cx="292608" cy="292608"/>
          </a:xfrm>
          <a:prstGeom prst="rect">
            <a:avLst/>
          </a:prstGeom>
        </p:spPr>
      </p:pic>
      <p:sp>
        <p:nvSpPr>
          <p:cNvPr id="8" name="Text 4"/>
          <p:cNvSpPr txBox="1"/>
          <p:nvPr/>
        </p:nvSpPr>
        <p:spPr>
          <a:xfrm>
            <a:off x="1143000" y="1371600"/>
            <a:ext cx="7315200" cy="68580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Create a timed reminder, assigned to "Any CS"</a:t>
            </a:r>
            <a:endParaRPr lang="en-US" sz="1400" dirty="0"/>
          </a:p>
        </p:txBody>
      </p:sp>
      <p:sp>
        <p:nvSpPr>
          <p:cNvPr id="9" name="Shape 5"/>
          <p:cNvSpPr/>
          <p:nvPr/>
        </p:nvSpPr>
        <p:spPr>
          <a:xfrm>
            <a:off x="411480" y="2240280"/>
            <a:ext cx="4091940" cy="1600200"/>
          </a:xfrm>
          <a:prstGeom prst="roundRect">
            <a:avLst>
              <a:gd name="adj" fmla="val 4571"/>
            </a:avLst>
          </a:prstGeom>
          <a:solidFill>
            <a:srgbClr val="FFFFFF"/>
          </a:solidFill>
          <a:ln w="9525">
            <a:solidFill>
              <a:srgbClr val="DCE1E7"/>
            </a:solidFill>
            <a:prstDash val="solid"/>
          </a:ln>
        </p:spPr>
      </p:sp>
      <p:sp>
        <p:nvSpPr>
          <p:cNvPr id="10" name="Shape 6"/>
          <p:cNvSpPr/>
          <p:nvPr/>
        </p:nvSpPr>
        <p:spPr>
          <a:xfrm>
            <a:off x="594360" y="2423160"/>
            <a:ext cx="384048" cy="384048"/>
          </a:xfrm>
          <a:prstGeom prst="ellipse">
            <a:avLst/>
          </a:prstGeom>
          <a:solidFill>
            <a:srgbClr val="E3F4F1"/>
          </a:solidFill>
          <a:ln w="12700">
            <a:solidFill>
              <a:srgbClr val="E3F4F1"/>
            </a:solidFill>
            <a:prstDash val="solid"/>
          </a:ln>
        </p:spPr>
      </p:sp>
      <p:pic>
        <p:nvPicPr>
          <p:cNvPr id="11" name="Image 1" descr="preencoded.png">    </p:cNvPr>
          <p:cNvPicPr>
            <a:picLocks noChangeAspect="1"/>
          </p:cNvPicPr>
          <p:nvPr/>
        </p:nvPicPr>
        <p:blipFill>
          <a:blip r:embed="rId2"/>
          <a:stretch>
            <a:fillRect/>
          </a:stretch>
        </p:blipFill>
        <p:spPr>
          <a:xfrm>
            <a:off x="686532" y="2515332"/>
            <a:ext cx="199705" cy="199705"/>
          </a:xfrm>
          <a:prstGeom prst="rect">
            <a:avLst/>
          </a:prstGeom>
        </p:spPr>
      </p:pic>
      <p:sp>
        <p:nvSpPr>
          <p:cNvPr id="12" name="Text 7"/>
          <p:cNvSpPr txBox="1"/>
          <p:nvPr/>
        </p:nvSpPr>
        <p:spPr>
          <a:xfrm>
            <a:off x="10972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On shift at that time</a:t>
            </a:r>
            <a:endParaRPr lang="en-US" sz="1300" dirty="0"/>
          </a:p>
        </p:txBody>
      </p:sp>
      <p:sp>
        <p:nvSpPr>
          <p:cNvPr id="13" name="Text 8"/>
          <p:cNvSpPr txBox="1"/>
          <p:nvPr/>
        </p:nvSpPr>
        <p:spPr>
          <a:xfrm>
            <a:off x="5943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Set a calendar reminder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Put the ticket link in the invite</a:t>
            </a:r>
            <a:endParaRPr lang="en-US" sz="1000" dirty="0"/>
          </a:p>
        </p:txBody>
      </p:sp>
      <p:sp>
        <p:nvSpPr>
          <p:cNvPr id="14" name="Shape 9"/>
          <p:cNvSpPr/>
          <p:nvPr/>
        </p:nvSpPr>
        <p:spPr>
          <a:xfrm>
            <a:off x="4640580" y="2240280"/>
            <a:ext cx="4091940" cy="1600200"/>
          </a:xfrm>
          <a:prstGeom prst="roundRect">
            <a:avLst>
              <a:gd name="adj" fmla="val 4571"/>
            </a:avLst>
          </a:prstGeom>
          <a:solidFill>
            <a:srgbClr val="FFFFFF"/>
          </a:solidFill>
          <a:ln w="9525">
            <a:solidFill>
              <a:srgbClr val="DCE1E7"/>
            </a:solidFill>
            <a:prstDash val="solid"/>
          </a:ln>
        </p:spPr>
      </p:sp>
      <p:sp>
        <p:nvSpPr>
          <p:cNvPr id="15" name="Shape 10"/>
          <p:cNvSpPr/>
          <p:nvPr/>
        </p:nvSpPr>
        <p:spPr>
          <a:xfrm>
            <a:off x="4823460" y="2423160"/>
            <a:ext cx="384048" cy="38404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915632" y="2515332"/>
            <a:ext cx="199705" cy="199705"/>
          </a:xfrm>
          <a:prstGeom prst="rect">
            <a:avLst/>
          </a:prstGeom>
        </p:spPr>
      </p:pic>
      <p:sp>
        <p:nvSpPr>
          <p:cNvPr id="17" name="Text 11"/>
          <p:cNvSpPr txBox="1"/>
          <p:nvPr/>
        </p:nvSpPr>
        <p:spPr>
          <a:xfrm>
            <a:off x="5326380" y="24231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on shift</a:t>
            </a:r>
            <a:endParaRPr lang="en-US" sz="1300" dirty="0"/>
          </a:p>
        </p:txBody>
      </p:sp>
      <p:sp>
        <p:nvSpPr>
          <p:cNvPr id="18" name="Text 12"/>
          <p:cNvSpPr txBox="1"/>
          <p:nvPr/>
        </p:nvSpPr>
        <p:spPr>
          <a:xfrm>
            <a:off x="4823460" y="295351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Log the ticket in the Callback Requests Tracker</a:t>
            </a:r>
            <a:endParaRPr lang="en-US" sz="1000" dirty="0"/>
          </a:p>
        </p:txBody>
      </p:sp>
      <p:sp>
        <p:nvSpPr>
          <p:cNvPr id="19" name="Shape 1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4133088"/>
            <a:ext cx="164592" cy="164592"/>
          </a:xfrm>
          <a:prstGeom prst="rect">
            <a:avLst/>
          </a:prstGeom>
        </p:spPr>
      </p:pic>
      <p:sp>
        <p:nvSpPr>
          <p:cNvPr id="21" name="Text 1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two paths:  </a:t>
            </a:r>
            <a:pPr indent="0" marL="0">
              <a:buNone/>
            </a:pPr>
            <a:r>
              <a:rPr lang="en-US" sz="1000" dirty="0">
                <a:solidFill>
                  <a:srgbClr val="1D1D1F"/>
                </a:solidFill>
                <a:latin typeface="SF Pro Text" pitchFamily="34" charset="0"/>
                <a:ea typeface="SF Pro Text" pitchFamily="34" charset="-122"/>
                <a:cs typeface="SF Pro Text" pitchFamily="34" charset="-120"/>
              </a:rPr>
              <a:t>a promised callback never gets lost across a shift change.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CALLBACK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send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Adapt these samples to the customer.</a:t>
            </a:r>
            <a:endParaRPr lang="en-US" sz="1200" dirty="0"/>
          </a:p>
        </p:txBody>
      </p:sp>
      <p:sp>
        <p:nvSpPr>
          <p:cNvPr id="6" name="Shape 3"/>
          <p:cNvSpPr/>
          <p:nvPr/>
        </p:nvSpPr>
        <p:spPr>
          <a:xfrm>
            <a:off x="411480" y="1280160"/>
            <a:ext cx="4091940" cy="3017520"/>
          </a:xfrm>
          <a:prstGeom prst="roundRect">
            <a:avLst>
              <a:gd name="adj" fmla="val 2424"/>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Email: outside business hours</a:t>
            </a:r>
            <a:endParaRPr lang="en-US" sz="1250" dirty="0"/>
          </a:p>
        </p:txBody>
      </p:sp>
      <p:sp>
        <p:nvSpPr>
          <p:cNvPr id="10" name="Shape 6"/>
          <p:cNvSpPr/>
          <p:nvPr/>
        </p:nvSpPr>
        <p:spPr>
          <a:xfrm>
            <a:off x="594360" y="1965960"/>
            <a:ext cx="3726180" cy="2148840"/>
          </a:xfrm>
          <a:prstGeom prst="roundRect">
            <a:avLst>
              <a:gd name="adj" fmla="val 3404"/>
            </a:avLst>
          </a:prstGeom>
          <a:solidFill>
            <a:srgbClr val="E3F4F1"/>
          </a:solidFill>
          <a:ln w="9525">
            <a:solidFill>
              <a:srgbClr val="E3F4F1"/>
            </a:solidFill>
            <a:prstDash val="solid"/>
          </a:ln>
        </p:spPr>
      </p:sp>
      <p:sp>
        <p:nvSpPr>
          <p:cNvPr id="11" name="Text 7"/>
          <p:cNvSpPr txBox="1"/>
          <p:nvPr/>
        </p:nvSpPr>
        <p:spPr>
          <a:xfrm>
            <a:off x="7589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lang="en-US" sz="950" dirty="0"/>
          </a:p>
        </p:txBody>
      </p:sp>
      <p:sp>
        <p:nvSpPr>
          <p:cNvPr id="12" name="Shape 8"/>
          <p:cNvSpPr/>
          <p:nvPr/>
        </p:nvSpPr>
        <p:spPr>
          <a:xfrm>
            <a:off x="4640580" y="1280160"/>
            <a:ext cx="4091940" cy="3017520"/>
          </a:xfrm>
          <a:prstGeom prst="roundRect">
            <a:avLst>
              <a:gd name="adj" fmla="val 2424"/>
            </a:avLst>
          </a:prstGeom>
          <a:solidFill>
            <a:srgbClr val="FFFFFF"/>
          </a:solidFill>
          <a:ln w="9525">
            <a:solidFill>
              <a:srgbClr val="DCE1E7"/>
            </a:solidFill>
            <a:prstDash val="solid"/>
          </a:ln>
        </p:spPr>
      </p:sp>
      <p:sp>
        <p:nvSpPr>
          <p:cNvPr id="13" name="Shape 9"/>
          <p:cNvSpPr/>
          <p:nvPr/>
        </p:nvSpPr>
        <p:spPr>
          <a:xfrm>
            <a:off x="4823460" y="1444752"/>
            <a:ext cx="384048" cy="384048"/>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4915632" y="1536924"/>
            <a:ext cx="199705" cy="199705"/>
          </a:xfrm>
          <a:prstGeom prst="rect">
            <a:avLst/>
          </a:prstGeom>
        </p:spPr>
      </p:pic>
      <p:sp>
        <p:nvSpPr>
          <p:cNvPr id="15" name="Text 10"/>
          <p:cNvSpPr txBox="1"/>
          <p:nvPr/>
        </p:nvSpPr>
        <p:spPr>
          <a:xfrm>
            <a:off x="5326380" y="1444752"/>
            <a:ext cx="3268980" cy="38404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Text: missed callback</a:t>
            </a:r>
            <a:endParaRPr lang="en-US" sz="1250" dirty="0"/>
          </a:p>
        </p:txBody>
      </p:sp>
      <p:sp>
        <p:nvSpPr>
          <p:cNvPr id="16" name="Shape 11"/>
          <p:cNvSpPr/>
          <p:nvPr/>
        </p:nvSpPr>
        <p:spPr>
          <a:xfrm>
            <a:off x="4823460" y="1965960"/>
            <a:ext cx="3726180" cy="2148840"/>
          </a:xfrm>
          <a:prstGeom prst="roundRect">
            <a:avLst>
              <a:gd name="adj" fmla="val 3404"/>
            </a:avLst>
          </a:prstGeom>
          <a:solidFill>
            <a:srgbClr val="E3F4F1"/>
          </a:solidFill>
          <a:ln w="9525">
            <a:solidFill>
              <a:srgbClr val="E3F4F1"/>
            </a:solidFill>
            <a:prstDash val="solid"/>
          </a:ln>
        </p:spPr>
      </p:sp>
      <p:sp>
        <p:nvSpPr>
          <p:cNvPr id="17" name="Text 12"/>
          <p:cNvSpPr txBox="1"/>
          <p:nvPr/>
        </p:nvSpPr>
        <p:spPr>
          <a:xfrm>
            <a:off x="4988052" y="2075688"/>
            <a:ext cx="3396996" cy="1965960"/>
          </a:xfrm>
          <a:prstGeom prst="rect">
            <a:avLst/>
          </a:prstGeom>
          <a:noFill/>
          <a:ln/>
        </p:spPr>
        <p:txBody>
          <a:bodyPr wrap="square" lIns="0" tIns="0" rIns="0" bIns="0" rtlCol="0" anchor="t"/>
          <a:lstStyle/>
          <a:p>
            <a:pPr indent="0" marL="0">
              <a:buNone/>
            </a:pPr>
            <a:r>
              <a:rPr lang="en-US" sz="950" i="1" dirty="0">
                <a:solidFill>
                  <a:srgbClr val="1D1D1F"/>
                </a:solidFill>
                <a:latin typeface="SF Pro Text" pitchFamily="34" charset="0"/>
                <a:ea typeface="SF Pro Text" pitchFamily="34" charset="-122"/>
                <a:cs typeface="SF Pro Text" pitchFamily="34" charset="-120"/>
              </a:rPr>
              <a:t>"This is &lt;&lt;Name&gt;&gt; from Homeaglow. I tried calling but it went to voicemail — no worries, I've already addressed your concern over email. If you'd still like to hop on a call, just text me back with your availability and we'll set it up."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 Price vs CP Pay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a customer is charged, and what the cleaner is paid. Related, but calculated separately.</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pricing cohorts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price is built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cleaner is paid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"platform fee" shows up</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3/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separate calculations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 can't judge whether a charge is fair until you know how it's built.</a:t>
            </a:r>
            <a:endParaRPr lang="en-US" sz="1200" dirty="0"/>
          </a:p>
        </p:txBody>
      </p:sp>
      <p:sp>
        <p:nvSpPr>
          <p:cNvPr id="6" name="Shape 3"/>
          <p:cNvSpPr/>
          <p:nvPr/>
        </p:nvSpPr>
        <p:spPr>
          <a:xfrm>
            <a:off x="411480" y="137160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price</a:t>
            </a:r>
            <a:endParaRPr lang="en-US" sz="1200" dirty="0"/>
          </a:p>
        </p:txBody>
      </p:sp>
      <p:sp>
        <p:nvSpPr>
          <p:cNvPr id="10" name="Text 6"/>
          <p:cNvSpPr txBox="1"/>
          <p:nvPr/>
        </p:nvSpPr>
        <p:spPr>
          <a:xfrm>
            <a:off x="5760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 plus platform fees and taxes that don't go to the cleaner.</a:t>
            </a:r>
            <a:endParaRPr lang="en-US" sz="950" dirty="0"/>
          </a:p>
        </p:txBody>
      </p:sp>
      <p:sp>
        <p:nvSpPr>
          <p:cNvPr id="11" name="Shape 7"/>
          <p:cNvSpPr/>
          <p:nvPr/>
        </p:nvSpPr>
        <p:spPr>
          <a:xfrm>
            <a:off x="4640580" y="137160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53619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15196"/>
            <a:ext cx="171176" cy="171176"/>
          </a:xfrm>
          <a:prstGeom prst="rect">
            <a:avLst/>
          </a:prstGeom>
        </p:spPr>
      </p:pic>
      <p:sp>
        <p:nvSpPr>
          <p:cNvPr id="14" name="Text 9"/>
          <p:cNvSpPr txBox="1"/>
          <p:nvPr/>
        </p:nvSpPr>
        <p:spPr>
          <a:xfrm>
            <a:off x="4805172" y="197510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pay</a:t>
            </a:r>
            <a:endParaRPr lang="en-US" sz="1200" dirty="0"/>
          </a:p>
        </p:txBody>
      </p:sp>
      <p:sp>
        <p:nvSpPr>
          <p:cNvPr id="15" name="Text 10"/>
          <p:cNvSpPr txBox="1"/>
          <p:nvPr/>
        </p:nvSpPr>
        <p:spPr>
          <a:xfrm>
            <a:off x="4805172" y="226771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the cleaner's own hourly rate and their operating model.</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Used everywhere:  </a:t>
            </a:r>
            <a:pPr indent="0" marL="0">
              <a:buNone/>
            </a:pPr>
            <a:r>
              <a:rPr lang="en-US" sz="1000" dirty="0">
                <a:solidFill>
                  <a:srgbClr val="1D1D1F"/>
                </a:solidFill>
                <a:latin typeface="SF Pro Text" pitchFamily="34" charset="0"/>
                <a:ea typeface="SF Pro Text" pitchFamily="34" charset="-122"/>
                <a:cs typeface="SF Pro Text" pitchFamily="34" charset="-120"/>
              </a:rPr>
              <a:t>Overcharged Hours, False Invoice and ETF calculations all start from these formulas.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Three pricing cohorts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a customer pays on top of the cleaner's rate depends on their membership.</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2560320"/>
                <a:gridCol w="1920240"/>
                <a:gridCol w="1920240"/>
                <a:gridCol w="19202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Cohort</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Platform fee / hr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Processing fee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tax</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Non-FC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None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15%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Deactivated FC customer</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$30.00</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5%</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Varies by state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cleaning price is built</a:t>
            </a:r>
            <a:endParaRPr lang="en-US" sz="2400" dirty="0"/>
          </a:p>
        </p:txBody>
      </p:sp>
      <p:sp>
        <p:nvSpPr>
          <p:cNvPr id="5" name="Shape 2"/>
          <p:cNvSpPr/>
          <p:nvPr/>
        </p:nvSpPr>
        <p:spPr>
          <a:xfrm>
            <a:off x="411480" y="1234440"/>
            <a:ext cx="8321040" cy="1371600"/>
          </a:xfrm>
          <a:prstGeom prst="roundRect">
            <a:avLst>
              <a:gd name="adj" fmla="val 5333"/>
            </a:avLst>
          </a:prstGeom>
          <a:solidFill>
            <a:srgbClr val="0B7A6F"/>
          </a:solidFill>
          <a:ln w="9525">
            <a:solidFill>
              <a:srgbClr val="0B7A6F"/>
            </a:solidFill>
            <a:prstDash val="solid"/>
          </a:ln>
        </p:spPr>
      </p:sp>
      <p:sp>
        <p:nvSpPr>
          <p:cNvPr id="6" name="Text 3"/>
          <p:cNvSpPr txBox="1"/>
          <p:nvPr/>
        </p:nvSpPr>
        <p:spPr>
          <a:xfrm>
            <a:off x="685800" y="1371600"/>
            <a:ext cx="45720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CLEANING PRICE</a:t>
            </a:r>
            <a:endParaRPr lang="en-US" sz="800" dirty="0"/>
          </a:p>
        </p:txBody>
      </p:sp>
      <p:sp>
        <p:nvSpPr>
          <p:cNvPr id="7" name="Text 4"/>
          <p:cNvSpPr txBox="1"/>
          <p:nvPr/>
        </p:nvSpPr>
        <p:spPr>
          <a:xfrm>
            <a:off x="685800" y="1627632"/>
            <a:ext cx="7863840" cy="8686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(CP hourly rate + Platform hourly rate) × Job duration</a:t>
            </a:r>
            <a:endParaRPr lang="en-US" sz="1600" dirty="0"/>
          </a:p>
          <a:p>
            <a:pPr indent="0" marL="0">
              <a:buNone/>
            </a:pPr>
            <a:r>
              <a:rPr lang="en-US" sz="1600" b="1" dirty="0">
                <a:solidFill>
                  <a:srgbClr val="FFFFFF"/>
                </a:solidFill>
                <a:latin typeface="SF Pro Display" pitchFamily="34" charset="0"/>
                <a:ea typeface="SF Pro Display" pitchFamily="34" charset="-122"/>
                <a:cs typeface="SF Pro Display" pitchFamily="34" charset="-120"/>
              </a:rPr>
              <a:t>+ Processing fee + Sales tax + Premium fee</a:t>
            </a:r>
            <a:endParaRPr lang="en-US" sz="1600" dirty="0"/>
          </a:p>
        </p:txBody>
      </p:sp>
      <p:sp>
        <p:nvSpPr>
          <p:cNvPr id="8" name="Shape 5"/>
          <p:cNvSpPr/>
          <p:nvPr/>
        </p:nvSpPr>
        <p:spPr>
          <a:xfrm>
            <a:off x="411480" y="2788920"/>
            <a:ext cx="4091940" cy="1371600"/>
          </a:xfrm>
          <a:prstGeom prst="roundRect">
            <a:avLst>
              <a:gd name="adj" fmla="val 5333"/>
            </a:avLst>
          </a:prstGeom>
          <a:solidFill>
            <a:srgbClr val="FFFFFF"/>
          </a:solidFill>
          <a:ln w="9525">
            <a:solidFill>
              <a:srgbClr val="DCE1E7"/>
            </a:solidFill>
            <a:prstDash val="solid"/>
          </a:ln>
        </p:spPr>
      </p:sp>
      <p:sp>
        <p:nvSpPr>
          <p:cNvPr id="9" name="Shape 6"/>
          <p:cNvSpPr/>
          <p:nvPr/>
        </p:nvSpPr>
        <p:spPr>
          <a:xfrm>
            <a:off x="576072" y="295351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1" name="Text 7"/>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voucher</a:t>
            </a:r>
            <a:endParaRPr lang="en-US" sz="1200" dirty="0"/>
          </a:p>
        </p:txBody>
      </p:sp>
      <p:sp>
        <p:nvSpPr>
          <p:cNvPr id="12" name="Text 8"/>
          <p:cNvSpPr txBox="1"/>
          <p:nvPr/>
        </p:nvSpPr>
        <p:spPr>
          <a:xfrm>
            <a:off x="5760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Voucher hours come off the job duration before the price is calculated.</a:t>
            </a:r>
            <a:endParaRPr lang="en-US" sz="950" dirty="0"/>
          </a:p>
        </p:txBody>
      </p:sp>
      <p:sp>
        <p:nvSpPr>
          <p:cNvPr id="13" name="Shape 9"/>
          <p:cNvSpPr/>
          <p:nvPr/>
        </p:nvSpPr>
        <p:spPr>
          <a:xfrm>
            <a:off x="4640580" y="2788920"/>
            <a:ext cx="4091940" cy="1371600"/>
          </a:xfrm>
          <a:prstGeom prst="roundRect">
            <a:avLst>
              <a:gd name="adj" fmla="val 5333"/>
            </a:avLst>
          </a:prstGeom>
          <a:solidFill>
            <a:srgbClr val="FFFFFF"/>
          </a:solidFill>
          <a:ln w="9525">
            <a:solidFill>
              <a:srgbClr val="DCE1E7"/>
            </a:solidFill>
            <a:prstDash val="solid"/>
          </a:ln>
        </p:spPr>
      </p:sp>
      <p:sp>
        <p:nvSpPr>
          <p:cNvPr id="14" name="Shape 10"/>
          <p:cNvSpPr/>
          <p:nvPr/>
        </p:nvSpPr>
        <p:spPr>
          <a:xfrm>
            <a:off x="4805172" y="295351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16" name="Text 11"/>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Active credits</a:t>
            </a:r>
            <a:endParaRPr lang="en-US" sz="1200" dirty="0"/>
          </a:p>
        </p:txBody>
      </p:sp>
      <p:sp>
        <p:nvSpPr>
          <p:cNvPr id="17" name="Text 12"/>
          <p:cNvSpPr txBox="1"/>
          <p:nvPr/>
        </p:nvSpPr>
        <p:spPr>
          <a:xfrm>
            <a:off x="4805172" y="368503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come off the final total.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the cleaner is paid</a:t>
            </a:r>
            <a:endParaRPr lang="en-US" sz="2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737360"/>
                <a:gridCol w="3657600"/>
                <a:gridCol w="292608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Operating model</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First-time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Repeat client</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CA / CA-WA</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Same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General</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$5 match fee)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Rate × duration + tips + surge bonus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2697480"/>
            <a:ext cx="2682240" cy="1417320"/>
          </a:xfrm>
          <a:prstGeom prst="roundRect">
            <a:avLst>
              <a:gd name="adj" fmla="val 5161"/>
            </a:avLst>
          </a:prstGeom>
          <a:solidFill>
            <a:srgbClr val="FFFFFF"/>
          </a:solidFill>
          <a:ln w="9525">
            <a:solidFill>
              <a:srgbClr val="DCE1E7"/>
            </a:solidFill>
            <a:prstDash val="solid"/>
          </a:ln>
        </p:spPr>
      </p:sp>
      <p:sp>
        <p:nvSpPr>
          <p:cNvPr id="7" name="Shape 3"/>
          <p:cNvSpPr/>
          <p:nvPr/>
        </p:nvSpPr>
        <p:spPr>
          <a:xfrm>
            <a:off x="576072" y="28620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2941076"/>
            <a:ext cx="171176" cy="171176"/>
          </a:xfrm>
          <a:prstGeom prst="rect">
            <a:avLst/>
          </a:prstGeom>
        </p:spPr>
      </p:pic>
      <p:sp>
        <p:nvSpPr>
          <p:cNvPr id="9" name="Text 4"/>
          <p:cNvSpPr txBox="1"/>
          <p:nvPr/>
        </p:nvSpPr>
        <p:spPr>
          <a:xfrm>
            <a:off x="5760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Always paid</a:t>
            </a:r>
            <a:endParaRPr lang="en-US" sz="1200" dirty="0"/>
          </a:p>
        </p:txBody>
      </p:sp>
      <p:sp>
        <p:nvSpPr>
          <p:cNvPr id="10" name="Text 5"/>
          <p:cNvSpPr txBox="1"/>
          <p:nvPr/>
        </p:nvSpPr>
        <p:spPr>
          <a:xfrm>
            <a:off x="5760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Even if the customer's card, voucher or credits fail.</a:t>
            </a:r>
            <a:endParaRPr lang="en-US" sz="950" dirty="0"/>
          </a:p>
        </p:txBody>
      </p:sp>
      <p:sp>
        <p:nvSpPr>
          <p:cNvPr id="11" name="Shape 6"/>
          <p:cNvSpPr/>
          <p:nvPr/>
        </p:nvSpPr>
        <p:spPr>
          <a:xfrm>
            <a:off x="3230880" y="2697480"/>
            <a:ext cx="2682240" cy="1417320"/>
          </a:xfrm>
          <a:prstGeom prst="roundRect">
            <a:avLst>
              <a:gd name="adj" fmla="val 5161"/>
            </a:avLst>
          </a:prstGeom>
          <a:solidFill>
            <a:srgbClr val="FFFFFF"/>
          </a:solidFill>
          <a:ln w="9525">
            <a:solidFill>
              <a:srgbClr val="DCE1E7"/>
            </a:solidFill>
            <a:prstDash val="solid"/>
          </a:ln>
        </p:spPr>
      </p:sp>
      <p:sp>
        <p:nvSpPr>
          <p:cNvPr id="12" name="Shape 7"/>
          <p:cNvSpPr/>
          <p:nvPr/>
        </p:nvSpPr>
        <p:spPr>
          <a:xfrm>
            <a:off x="3395472" y="28620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2941076"/>
            <a:ext cx="171176" cy="171176"/>
          </a:xfrm>
          <a:prstGeom prst="rect">
            <a:avLst/>
          </a:prstGeom>
        </p:spPr>
      </p:pic>
      <p:sp>
        <p:nvSpPr>
          <p:cNvPr id="14" name="Text 8"/>
          <p:cNvSpPr txBox="1"/>
          <p:nvPr/>
        </p:nvSpPr>
        <p:spPr>
          <a:xfrm>
            <a:off x="33954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Tips</a:t>
            </a:r>
            <a:endParaRPr lang="en-US" sz="1200" dirty="0"/>
          </a:p>
        </p:txBody>
      </p:sp>
      <p:sp>
        <p:nvSpPr>
          <p:cNvPr id="15" name="Text 9"/>
          <p:cNvSpPr txBox="1"/>
          <p:nvPr/>
        </p:nvSpPr>
        <p:spPr>
          <a:xfrm>
            <a:off x="33954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100% of every tip goes to the cleaner.</a:t>
            </a:r>
            <a:endParaRPr lang="en-US" sz="950" dirty="0"/>
          </a:p>
        </p:txBody>
      </p:sp>
      <p:sp>
        <p:nvSpPr>
          <p:cNvPr id="16" name="Shape 10"/>
          <p:cNvSpPr/>
          <p:nvPr/>
        </p:nvSpPr>
        <p:spPr>
          <a:xfrm>
            <a:off x="6050280" y="2697480"/>
            <a:ext cx="2682240" cy="1417320"/>
          </a:xfrm>
          <a:prstGeom prst="roundRect">
            <a:avLst>
              <a:gd name="adj" fmla="val 5161"/>
            </a:avLst>
          </a:prstGeom>
          <a:solidFill>
            <a:srgbClr val="FFFFFF"/>
          </a:solidFill>
          <a:ln w="9525">
            <a:solidFill>
              <a:srgbClr val="DCE1E7"/>
            </a:solidFill>
            <a:prstDash val="solid"/>
          </a:ln>
        </p:spPr>
      </p:sp>
      <p:sp>
        <p:nvSpPr>
          <p:cNvPr id="17" name="Shape 11"/>
          <p:cNvSpPr/>
          <p:nvPr/>
        </p:nvSpPr>
        <p:spPr>
          <a:xfrm>
            <a:off x="6214872" y="28620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2941076"/>
            <a:ext cx="171176" cy="171176"/>
          </a:xfrm>
          <a:prstGeom prst="rect">
            <a:avLst/>
          </a:prstGeom>
        </p:spPr>
      </p:pic>
      <p:sp>
        <p:nvSpPr>
          <p:cNvPr id="19" name="Text 12"/>
          <p:cNvSpPr txBox="1"/>
          <p:nvPr/>
        </p:nvSpPr>
        <p:spPr>
          <a:xfrm>
            <a:off x="6214872" y="33009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Surge bonus</a:t>
            </a:r>
            <a:endParaRPr lang="en-US" sz="1200" dirty="0"/>
          </a:p>
        </p:txBody>
      </p:sp>
      <p:sp>
        <p:nvSpPr>
          <p:cNvPr id="20" name="Text 13"/>
          <p:cNvSpPr txBox="1"/>
          <p:nvPr/>
        </p:nvSpPr>
        <p:spPr>
          <a:xfrm>
            <a:off x="6214872" y="3593592"/>
            <a:ext cx="23530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$1–$50 extra on some jobs, at invoicing.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a "platform fee" shows 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FC customers have no platform fee. If one shows on an FC invoice, it's one of these cases. Not an error.</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468880"/>
                <a:gridCol w="2194560"/>
                <a:gridCol w="3657600"/>
              </a:tblGrid>
              <a:tr h="40233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 pays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The "platform fee" line is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first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$5/hr marketing fee, taken from the cleaner's pay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General · repeat 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higher of the two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difference between the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FC · CA/CA-WA · one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Nothing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Non-FC or deactivated FC</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max CP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Cohort fee ($15 or $30/hr) + gap to the cleaner's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2336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33088"/>
            <a:ext cx="164592" cy="164592"/>
          </a:xfrm>
          <a:prstGeom prst="rect">
            <a:avLst/>
          </a:prstGeom>
        </p:spPr>
      </p:pic>
      <p:sp>
        <p:nvSpPr>
          <p:cNvPr id="9" name="Text 4"/>
          <p:cNvSpPr txBox="1"/>
          <p:nvPr/>
        </p:nvSpPr>
        <p:spPr>
          <a:xfrm>
            <a:off x="822960" y="4123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 principle:  </a:t>
            </a:r>
            <a:pPr indent="0" marL="0">
              <a:buNone/>
            </a:pPr>
            <a:r>
              <a:rPr lang="en-US" sz="1000" dirty="0">
                <a:solidFill>
                  <a:srgbClr val="1D1D1F"/>
                </a:solidFill>
                <a:latin typeface="SF Pro Text" pitchFamily="34" charset="0"/>
                <a:ea typeface="SF Pro Text" pitchFamily="34" charset="-122"/>
                <a:cs typeface="SF Pro Text" pitchFamily="34" charset="-120"/>
              </a:rPr>
              <a:t>if the customer pays more than the cleaner's rate, the cleaner still gets their rate. The rest goes to Homeaglow.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deactivated FC customer sees a $40/hr platform fee. Is it right?</a:t>
            </a:r>
            <a:endParaRPr lang="en-US" sz="1200" dirty="0"/>
          </a:p>
        </p:txBody>
      </p:sp>
      <p:sp>
        <p:nvSpPr>
          <p:cNvPr id="6" name="Shape 3"/>
          <p:cNvSpPr/>
          <p:nvPr/>
        </p:nvSpPr>
        <p:spPr>
          <a:xfrm>
            <a:off x="594360" y="1371600"/>
            <a:ext cx="2194560" cy="1600200"/>
          </a:xfrm>
          <a:prstGeom prst="roundRect">
            <a:avLst>
              <a:gd name="adj" fmla="val 4571"/>
            </a:avLst>
          </a:prstGeom>
          <a:solidFill>
            <a:srgbClr val="FFFFFF"/>
          </a:solidFill>
          <a:ln w="9525">
            <a:solidFill>
              <a:srgbClr val="DCE1E7"/>
            </a:solidFill>
            <a:prstDash val="solid"/>
          </a:ln>
        </p:spPr>
      </p:sp>
      <p:sp>
        <p:nvSpPr>
          <p:cNvPr id="7" name="Text 4"/>
          <p:cNvSpPr txBox="1"/>
          <p:nvPr/>
        </p:nvSpPr>
        <p:spPr>
          <a:xfrm>
            <a:off x="59436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$30/hr</a:t>
            </a:r>
            <a:endParaRPr lang="en-US" sz="2800" dirty="0"/>
          </a:p>
        </p:txBody>
      </p:sp>
      <p:sp>
        <p:nvSpPr>
          <p:cNvPr id="8" name="Text 5"/>
          <p:cNvSpPr txBox="1"/>
          <p:nvPr/>
        </p:nvSpPr>
        <p:spPr>
          <a:xfrm>
            <a:off x="59436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Deactivated FC</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platform fee</a:t>
            </a:r>
            <a:endParaRPr lang="en-US" sz="1000" dirty="0"/>
          </a:p>
        </p:txBody>
      </p:sp>
      <p:sp>
        <p:nvSpPr>
          <p:cNvPr id="9" name="Text 6"/>
          <p:cNvSpPr txBox="1"/>
          <p:nvPr/>
        </p:nvSpPr>
        <p:spPr>
          <a:xfrm>
            <a:off x="288036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0" name="Shape 7"/>
          <p:cNvSpPr/>
          <p:nvPr/>
        </p:nvSpPr>
        <p:spPr>
          <a:xfrm>
            <a:off x="3429000" y="1371600"/>
            <a:ext cx="2194560" cy="1600200"/>
          </a:xfrm>
          <a:prstGeom prst="roundRect">
            <a:avLst>
              <a:gd name="adj" fmla="val 4571"/>
            </a:avLst>
          </a:prstGeom>
          <a:solidFill>
            <a:srgbClr val="FFFFFF"/>
          </a:solidFill>
          <a:ln w="9525">
            <a:solidFill>
              <a:srgbClr val="DCE1E7"/>
            </a:solidFill>
            <a:prstDash val="solid"/>
          </a:ln>
        </p:spPr>
      </p:sp>
      <p:sp>
        <p:nvSpPr>
          <p:cNvPr id="11" name="Text 8"/>
          <p:cNvSpPr txBox="1"/>
          <p:nvPr/>
        </p:nvSpPr>
        <p:spPr>
          <a:xfrm>
            <a:off x="3429000" y="1508760"/>
            <a:ext cx="2194560" cy="64008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$10/hr</a:t>
            </a:r>
            <a:endParaRPr lang="en-US" sz="2800" dirty="0"/>
          </a:p>
        </p:txBody>
      </p:sp>
      <p:sp>
        <p:nvSpPr>
          <p:cNvPr id="12" name="Text 9"/>
          <p:cNvSpPr txBox="1"/>
          <p:nvPr/>
        </p:nvSpPr>
        <p:spPr>
          <a:xfrm>
            <a:off x="3429000" y="2194560"/>
            <a:ext cx="219456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Max rate $25 −</a:t>
            </a:r>
            <a:endParaRPr lang="en-US" sz="1000" dirty="0"/>
          </a:p>
          <a:p>
            <a:pPr algn="ctr" indent="0" marL="0">
              <a:buNone/>
            </a:pPr>
            <a:r>
              <a:rPr lang="en-US" sz="1000" dirty="0">
                <a:solidFill>
                  <a:srgbClr val="6E6E73"/>
                </a:solidFill>
                <a:latin typeface="SF Pro Text" pitchFamily="34" charset="0"/>
                <a:ea typeface="SF Pro Text" pitchFamily="34" charset="-122"/>
                <a:cs typeface="SF Pro Text" pitchFamily="34" charset="-120"/>
              </a:rPr>
              <a:t>cleaner's rate $15</a:t>
            </a:r>
            <a:endParaRPr lang="en-US" sz="1000" dirty="0"/>
          </a:p>
        </p:txBody>
      </p:sp>
      <p:sp>
        <p:nvSpPr>
          <p:cNvPr id="13" name="Text 10"/>
          <p:cNvSpPr txBox="1"/>
          <p:nvPr/>
        </p:nvSpPr>
        <p:spPr>
          <a:xfrm>
            <a:off x="5715000" y="1371600"/>
            <a:ext cx="457200" cy="1600200"/>
          </a:xfrm>
          <a:prstGeom prst="rect">
            <a:avLst/>
          </a:prstGeom>
          <a:noFill/>
          <a:ln/>
        </p:spPr>
        <p:txBody>
          <a:bodyPr wrap="square" lIns="0" tIns="0" rIns="0" bIns="0" rtlCol="0" anchor="ctr"/>
          <a:lstStyle/>
          <a:p>
            <a:pPr algn="ctr" indent="0" marL="0">
              <a:buNone/>
            </a:pPr>
            <a:r>
              <a:rPr lang="en-US" sz="2600" b="1" dirty="0">
                <a:solidFill>
                  <a:srgbClr val="6E6E73"/>
                </a:solidFill>
                <a:latin typeface="SF Pro Display" pitchFamily="34" charset="0"/>
                <a:ea typeface="SF Pro Display" pitchFamily="34" charset="-122"/>
                <a:cs typeface="SF Pro Display" pitchFamily="34" charset="-120"/>
              </a:rPr>
              <a:t>=</a:t>
            </a:r>
            <a:endParaRPr lang="en-US" sz="2600" dirty="0"/>
          </a:p>
        </p:txBody>
      </p:sp>
      <p:sp>
        <p:nvSpPr>
          <p:cNvPr id="14" name="Shape 11"/>
          <p:cNvSpPr/>
          <p:nvPr/>
        </p:nvSpPr>
        <p:spPr>
          <a:xfrm>
            <a:off x="6263640" y="1371600"/>
            <a:ext cx="2194560" cy="1600200"/>
          </a:xfrm>
          <a:prstGeom prst="roundRect">
            <a:avLst>
              <a:gd name="adj" fmla="val 4571"/>
            </a:avLst>
          </a:prstGeom>
          <a:solidFill>
            <a:srgbClr val="0B7A6F"/>
          </a:solidFill>
          <a:ln w="9525">
            <a:solidFill>
              <a:srgbClr val="0B7A6F"/>
            </a:solidFill>
            <a:prstDash val="solid"/>
          </a:ln>
        </p:spPr>
      </p:sp>
      <p:sp>
        <p:nvSpPr>
          <p:cNvPr id="15" name="Text 12"/>
          <p:cNvSpPr txBox="1"/>
          <p:nvPr/>
        </p:nvSpPr>
        <p:spPr>
          <a:xfrm>
            <a:off x="6263640" y="1508760"/>
            <a:ext cx="219456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SF Pro Display" pitchFamily="34" charset="0"/>
                <a:ea typeface="SF Pro Display" pitchFamily="34" charset="-122"/>
                <a:cs typeface="SF Pro Display" pitchFamily="34" charset="-120"/>
              </a:rPr>
              <a:t>$40/hr</a:t>
            </a:r>
            <a:endParaRPr lang="en-US" sz="2800" dirty="0"/>
          </a:p>
        </p:txBody>
      </p:sp>
      <p:sp>
        <p:nvSpPr>
          <p:cNvPr id="16" name="Text 13"/>
          <p:cNvSpPr txBox="1"/>
          <p:nvPr/>
        </p:nvSpPr>
        <p:spPr>
          <a:xfrm>
            <a:off x="6263640" y="2194560"/>
            <a:ext cx="2194560" cy="640080"/>
          </a:xfrm>
          <a:prstGeom prst="rect">
            <a:avLst/>
          </a:prstGeom>
          <a:noFill/>
          <a:ln/>
        </p:spPr>
        <p:txBody>
          <a:bodyPr wrap="square" lIns="0" tIns="0" rIns="0" bIns="0" rtlCol="0" anchor="t"/>
          <a:lstStyle/>
          <a:p>
            <a:pPr algn="ctr" indent="0" marL="0">
              <a:buNone/>
            </a:pPr>
            <a:r>
              <a:rPr lang="en-US" sz="1000" dirty="0">
                <a:solidFill>
                  <a:srgbClr val="FFFFFF"/>
                </a:solidFill>
                <a:latin typeface="SF Pro Text" pitchFamily="34" charset="0"/>
                <a:ea typeface="SF Pro Text" pitchFamily="34" charset="-122"/>
                <a:cs typeface="SF Pro Text" pitchFamily="34" charset="-120"/>
              </a:rPr>
              <a:t>Platform fee</a:t>
            </a:r>
            <a:endParaRPr lang="en-US" sz="1000" dirty="0"/>
          </a:p>
          <a:p>
            <a:pPr algn="ctr" indent="0" marL="0">
              <a:buNone/>
            </a:pPr>
            <a:r>
              <a:rPr lang="en-US" sz="1000" dirty="0">
                <a:solidFill>
                  <a:srgbClr val="FFFFFF"/>
                </a:solidFill>
                <a:latin typeface="SF Pro Text" pitchFamily="34" charset="0"/>
                <a:ea typeface="SF Pro Text" pitchFamily="34" charset="-122"/>
                <a:cs typeface="SF Pro Text" pitchFamily="34" charset="-120"/>
              </a:rPr>
              <a:t>on the invoice</a:t>
            </a:r>
            <a:endParaRPr lang="en-US" sz="1000" dirty="0"/>
          </a:p>
        </p:txBody>
      </p:sp>
      <p:sp>
        <p:nvSpPr>
          <p:cNvPr id="17" name="Shape 14"/>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19" name="Text 15"/>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Correct charge:  </a:t>
            </a:r>
            <a:pPr indent="0" marL="0">
              <a:buNone/>
            </a:pPr>
            <a:r>
              <a:rPr lang="en-US" sz="1000" dirty="0">
                <a:solidFill>
                  <a:srgbClr val="1D1D1F"/>
                </a:solidFill>
                <a:latin typeface="SF Pro Text" pitchFamily="34" charset="0"/>
                <a:ea typeface="SF Pro Text" pitchFamily="34" charset="-122"/>
                <a:cs typeface="SF Pro Text" pitchFamily="34" charset="-120"/>
              </a:rPr>
              <a:t>don't reprice it and don't refund the difference. The cleaner is still paid $15/hr.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Max requested rate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Non-FC and deactivated FC customers are priced at the highest rate among the cleaners they requested.</a:t>
            </a:r>
            <a:endParaRPr lang="en-US" sz="1200" dirty="0"/>
          </a:p>
        </p:txBody>
      </p:sp>
      <p:sp>
        <p:nvSpPr>
          <p:cNvPr id="6" name="Text 3"/>
          <p:cNvSpPr txBox="1"/>
          <p:nvPr/>
        </p:nvSpPr>
        <p:spPr>
          <a:xfrm>
            <a:off x="438912" y="132588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REQUESTED CLEANERS</a:t>
            </a:r>
            <a:endParaRPr lang="en-US" sz="800" dirty="0"/>
          </a:p>
        </p:txBody>
      </p:sp>
      <p:sp>
        <p:nvSpPr>
          <p:cNvPr id="7" name="Shape 4"/>
          <p:cNvSpPr/>
          <p:nvPr/>
        </p:nvSpPr>
        <p:spPr>
          <a:xfrm>
            <a:off x="411480" y="1572768"/>
            <a:ext cx="1261872" cy="914400"/>
          </a:xfrm>
          <a:prstGeom prst="roundRect">
            <a:avLst>
              <a:gd name="adj" fmla="val 8000"/>
            </a:avLst>
          </a:prstGeom>
          <a:solidFill>
            <a:srgbClr val="FFFFFF"/>
          </a:solidFill>
          <a:ln w="9525">
            <a:solidFill>
              <a:srgbClr val="DCE1E7"/>
            </a:solidFill>
            <a:prstDash val="solid"/>
          </a:ln>
        </p:spPr>
      </p:sp>
      <p:sp>
        <p:nvSpPr>
          <p:cNvPr id="8" name="Text 5"/>
          <p:cNvSpPr txBox="1"/>
          <p:nvPr/>
        </p:nvSpPr>
        <p:spPr>
          <a:xfrm>
            <a:off x="4114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Mona</a:t>
            </a:r>
            <a:endParaRPr lang="en-US" sz="1200" dirty="0"/>
          </a:p>
        </p:txBody>
      </p:sp>
      <p:sp>
        <p:nvSpPr>
          <p:cNvPr id="9" name="Text 6"/>
          <p:cNvSpPr txBox="1"/>
          <p:nvPr/>
        </p:nvSpPr>
        <p:spPr>
          <a:xfrm>
            <a:off x="4114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$25/hr</a:t>
            </a:r>
            <a:endParaRPr lang="en-US" sz="1500" dirty="0"/>
          </a:p>
        </p:txBody>
      </p:sp>
      <p:sp>
        <p:nvSpPr>
          <p:cNvPr id="10" name="Shape 7"/>
          <p:cNvSpPr/>
          <p:nvPr/>
        </p:nvSpPr>
        <p:spPr>
          <a:xfrm>
            <a:off x="1783080" y="1572768"/>
            <a:ext cx="1261872" cy="914400"/>
          </a:xfrm>
          <a:prstGeom prst="roundRect">
            <a:avLst>
              <a:gd name="adj" fmla="val 8000"/>
            </a:avLst>
          </a:prstGeom>
          <a:solidFill>
            <a:srgbClr val="0B7A6F"/>
          </a:solidFill>
          <a:ln w="9525">
            <a:solidFill>
              <a:srgbClr val="0B7A6F"/>
            </a:solidFill>
            <a:prstDash val="solid"/>
          </a:ln>
        </p:spPr>
      </p:sp>
      <p:sp>
        <p:nvSpPr>
          <p:cNvPr id="11" name="Text 8"/>
          <p:cNvSpPr txBox="1"/>
          <p:nvPr/>
        </p:nvSpPr>
        <p:spPr>
          <a:xfrm>
            <a:off x="1783080" y="1645920"/>
            <a:ext cx="1261872" cy="320040"/>
          </a:xfrm>
          <a:prstGeom prst="rect">
            <a:avLst/>
          </a:prstGeom>
          <a:noFill/>
          <a:ln/>
        </p:spPr>
        <p:txBody>
          <a:bodyPr wrap="square" lIns="0" tIns="0" rIns="0" bIns="0" rtlCol="0" anchor="t"/>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Cassandra</a:t>
            </a:r>
            <a:endParaRPr lang="en-US" sz="1200" dirty="0"/>
          </a:p>
        </p:txBody>
      </p:sp>
      <p:sp>
        <p:nvSpPr>
          <p:cNvPr id="12" name="Text 9"/>
          <p:cNvSpPr txBox="1"/>
          <p:nvPr/>
        </p:nvSpPr>
        <p:spPr>
          <a:xfrm>
            <a:off x="1783080" y="1965960"/>
            <a:ext cx="1261872"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SF Pro Display" pitchFamily="34" charset="0"/>
                <a:ea typeface="SF Pro Display" pitchFamily="34" charset="-122"/>
                <a:cs typeface="SF Pro Display" pitchFamily="34" charset="-120"/>
              </a:rPr>
              <a:t>$30/hr</a:t>
            </a:r>
            <a:endParaRPr lang="en-US" sz="1500" dirty="0"/>
          </a:p>
        </p:txBody>
      </p:sp>
      <p:sp>
        <p:nvSpPr>
          <p:cNvPr id="13" name="Shape 10"/>
          <p:cNvSpPr/>
          <p:nvPr/>
        </p:nvSpPr>
        <p:spPr>
          <a:xfrm>
            <a:off x="3154680" y="1572768"/>
            <a:ext cx="1261872" cy="914400"/>
          </a:xfrm>
          <a:prstGeom prst="roundRect">
            <a:avLst>
              <a:gd name="adj" fmla="val 8000"/>
            </a:avLst>
          </a:prstGeom>
          <a:solidFill>
            <a:srgbClr val="FFFFFF"/>
          </a:solidFill>
          <a:ln w="9525">
            <a:solidFill>
              <a:srgbClr val="DCE1E7"/>
            </a:solidFill>
            <a:prstDash val="solid"/>
          </a:ln>
        </p:spPr>
      </p:sp>
      <p:sp>
        <p:nvSpPr>
          <p:cNvPr id="14" name="Text 11"/>
          <p:cNvSpPr txBox="1"/>
          <p:nvPr/>
        </p:nvSpPr>
        <p:spPr>
          <a:xfrm>
            <a:off x="3154680" y="1645920"/>
            <a:ext cx="1261872" cy="320040"/>
          </a:xfrm>
          <a:prstGeom prst="rect">
            <a:avLst/>
          </a:prstGeom>
          <a:noFill/>
          <a:ln/>
        </p:spPr>
        <p:txBody>
          <a:bodyPr wrap="square" lIns="0" tIns="0" rIns="0" bIns="0" rtlCol="0" anchor="t"/>
          <a:lstStyle/>
          <a:p>
            <a:pPr algn="ctr" indent="0" marL="0">
              <a:buNone/>
            </a:pPr>
            <a:r>
              <a:rPr lang="en-US" sz="1200" b="1" dirty="0">
                <a:solidFill>
                  <a:srgbClr val="1D1D1F"/>
                </a:solidFill>
                <a:latin typeface="SF Pro Display" pitchFamily="34" charset="0"/>
                <a:ea typeface="SF Pro Display" pitchFamily="34" charset="-122"/>
                <a:cs typeface="SF Pro Display" pitchFamily="34" charset="-120"/>
              </a:rPr>
              <a:t>Yolanda</a:t>
            </a:r>
            <a:endParaRPr lang="en-US" sz="1200" dirty="0"/>
          </a:p>
        </p:txBody>
      </p:sp>
      <p:sp>
        <p:nvSpPr>
          <p:cNvPr id="15" name="Text 12"/>
          <p:cNvSpPr txBox="1"/>
          <p:nvPr/>
        </p:nvSpPr>
        <p:spPr>
          <a:xfrm>
            <a:off x="3154680" y="1965960"/>
            <a:ext cx="1261872" cy="365760"/>
          </a:xfrm>
          <a:prstGeom prst="rect">
            <a:avLst/>
          </a:prstGeom>
          <a:noFill/>
          <a:ln/>
        </p:spPr>
        <p:txBody>
          <a:bodyPr wrap="square" lIns="0" tIns="0" rIns="0" bIns="0" rtlCol="0" anchor="t"/>
          <a:lstStyle/>
          <a:p>
            <a:pPr algn="ctr" indent="0" marL="0">
              <a:buNone/>
            </a:pPr>
            <a:r>
              <a:rPr lang="en-US" sz="1500" b="1" dirty="0">
                <a:solidFill>
                  <a:srgbClr val="0B7A6F"/>
                </a:solidFill>
                <a:latin typeface="SF Pro Display" pitchFamily="34" charset="0"/>
                <a:ea typeface="SF Pro Display" pitchFamily="34" charset="-122"/>
                <a:cs typeface="SF Pro Display" pitchFamily="34" charset="-120"/>
              </a:rPr>
              <a:t>$23/hr</a:t>
            </a:r>
            <a:endParaRPr lang="en-US" sz="1500" dirty="0"/>
          </a:p>
        </p:txBody>
      </p:sp>
      <p:sp>
        <p:nvSpPr>
          <p:cNvPr id="16" name="Text 13"/>
          <p:cNvSpPr txBox="1"/>
          <p:nvPr/>
        </p:nvSpPr>
        <p:spPr>
          <a:xfrm>
            <a:off x="438912" y="2606040"/>
            <a:ext cx="4023360" cy="27432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Max requested rate: $30/hr</a:t>
            </a:r>
            <a:endParaRPr lang="en-US" sz="1200" dirty="0"/>
          </a:p>
        </p:txBody>
      </p:sp>
      <p:sp>
        <p:nvSpPr>
          <p:cNvPr id="17" name="Shape 14"/>
          <p:cNvSpPr/>
          <p:nvPr/>
        </p:nvSpPr>
        <p:spPr>
          <a:xfrm>
            <a:off x="4663440" y="1325880"/>
            <a:ext cx="4069080" cy="1325880"/>
          </a:xfrm>
          <a:prstGeom prst="roundRect">
            <a:avLst>
              <a:gd name="adj" fmla="val 5517"/>
            </a:avLst>
          </a:prstGeom>
          <a:solidFill>
            <a:srgbClr val="FFFFFF"/>
          </a:solidFill>
          <a:ln w="9525">
            <a:solidFill>
              <a:srgbClr val="DCE1E7"/>
            </a:solidFill>
            <a:prstDash val="solid"/>
          </a:ln>
        </p:spPr>
      </p:sp>
      <p:sp>
        <p:nvSpPr>
          <p:cNvPr id="18" name="Shape 15"/>
          <p:cNvSpPr/>
          <p:nvPr/>
        </p:nvSpPr>
        <p:spPr>
          <a:xfrm>
            <a:off x="4828032" y="1490472"/>
            <a:ext cx="329184" cy="329184"/>
          </a:xfrm>
          <a:prstGeom prst="ellipse">
            <a:avLst/>
          </a:prstGeom>
          <a:solidFill>
            <a:srgbClr val="E3F4F1"/>
          </a:solidFill>
          <a:ln w="12700">
            <a:solidFill>
              <a:srgbClr val="E3F4F1"/>
            </a:solidFill>
            <a:prstDash val="solid"/>
          </a:ln>
        </p:spPr>
      </p:sp>
      <p:pic>
        <p:nvPicPr>
          <p:cNvPr id="19" name="Image 0" descr="preencoded.png">    </p:cNvPr>
          <p:cNvPicPr>
            <a:picLocks noChangeAspect="1"/>
          </p:cNvPicPr>
          <p:nvPr/>
        </p:nvPicPr>
        <p:blipFill>
          <a:blip r:embed="rId1"/>
          <a:stretch>
            <a:fillRect/>
          </a:stretch>
        </p:blipFill>
        <p:spPr>
          <a:xfrm>
            <a:off x="4907036" y="1569476"/>
            <a:ext cx="171176" cy="171176"/>
          </a:xfrm>
          <a:prstGeom prst="rect">
            <a:avLst/>
          </a:prstGeom>
        </p:spPr>
      </p:pic>
      <p:sp>
        <p:nvSpPr>
          <p:cNvPr id="20" name="Text 16"/>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requested cleaner claims</a:t>
            </a:r>
            <a:endParaRPr lang="en-US" sz="1200" dirty="0"/>
          </a:p>
        </p:txBody>
      </p:sp>
      <p:sp>
        <p:nvSpPr>
          <p:cNvPr id="21" name="Text 17"/>
          <p:cNvSpPr txBox="1"/>
          <p:nvPr/>
        </p:nvSpPr>
        <p:spPr>
          <a:xfrm>
            <a:off x="4828032" y="222199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Mona claims: the customer pays Mona's rate, $25/hr.</a:t>
            </a:r>
            <a:endParaRPr lang="en-US" sz="950" dirty="0"/>
          </a:p>
        </p:txBody>
      </p:sp>
      <p:sp>
        <p:nvSpPr>
          <p:cNvPr id="22" name="Shape 18"/>
          <p:cNvSpPr/>
          <p:nvPr/>
        </p:nvSpPr>
        <p:spPr>
          <a:xfrm>
            <a:off x="4663440" y="2743200"/>
            <a:ext cx="4069080" cy="1325880"/>
          </a:xfrm>
          <a:prstGeom prst="roundRect">
            <a:avLst>
              <a:gd name="adj" fmla="val 5517"/>
            </a:avLst>
          </a:prstGeom>
          <a:solidFill>
            <a:srgbClr val="FFFFFF"/>
          </a:solidFill>
          <a:ln w="9525">
            <a:solidFill>
              <a:srgbClr val="DCE1E7"/>
            </a:solidFill>
            <a:prstDash val="solid"/>
          </a:ln>
        </p:spPr>
      </p:sp>
      <p:sp>
        <p:nvSpPr>
          <p:cNvPr id="23" name="Shape 19"/>
          <p:cNvSpPr/>
          <p:nvPr/>
        </p:nvSpPr>
        <p:spPr>
          <a:xfrm>
            <a:off x="4828032" y="2907792"/>
            <a:ext cx="329184" cy="329184"/>
          </a:xfrm>
          <a:prstGeom prst="ellipse">
            <a:avLst/>
          </a:prstGeom>
          <a:solidFill>
            <a:srgbClr val="E3F4F1"/>
          </a:solidFill>
          <a:ln w="12700">
            <a:solidFill>
              <a:srgbClr val="E3F4F1"/>
            </a:solidFill>
            <a:prstDash val="solid"/>
          </a:ln>
        </p:spPr>
      </p:sp>
      <p:pic>
        <p:nvPicPr>
          <p:cNvPr id="24" name="Image 1" descr="preencoded.png">    </p:cNvPr>
          <p:cNvPicPr>
            <a:picLocks noChangeAspect="1"/>
          </p:cNvPicPr>
          <p:nvPr/>
        </p:nvPicPr>
        <p:blipFill>
          <a:blip r:embed="rId2"/>
          <a:stretch>
            <a:fillRect/>
          </a:stretch>
        </p:blipFill>
        <p:spPr>
          <a:xfrm>
            <a:off x="4907036" y="2986796"/>
            <a:ext cx="171176" cy="171176"/>
          </a:xfrm>
          <a:prstGeom prst="rect">
            <a:avLst/>
          </a:prstGeom>
        </p:spPr>
      </p:pic>
      <p:sp>
        <p:nvSpPr>
          <p:cNvPr id="25" name="Text 20"/>
          <p:cNvSpPr txBox="1"/>
          <p:nvPr/>
        </p:nvSpPr>
        <p:spPr>
          <a:xfrm>
            <a:off x="4828032" y="33467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Someone else claims</a:t>
            </a:r>
            <a:endParaRPr lang="en-US" sz="1200" dirty="0"/>
          </a:p>
        </p:txBody>
      </p:sp>
      <p:sp>
        <p:nvSpPr>
          <p:cNvPr id="26" name="Text 21"/>
          <p:cNvSpPr txBox="1"/>
          <p:nvPr/>
        </p:nvSpPr>
        <p:spPr>
          <a:xfrm>
            <a:off x="4828032" y="3639312"/>
            <a:ext cx="373989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Jeff ($18/hr) claims: the customer pays $30/hr. Jeff gets $18/hr.</a:t>
            </a:r>
            <a:endParaRPr lang="en-US" sz="950" dirty="0"/>
          </a:p>
        </p:txBody>
      </p:sp>
      <p:sp>
        <p:nvSpPr>
          <p:cNvPr id="27" name="Text 22"/>
          <p:cNvSpPr txBox="1"/>
          <p:nvPr/>
        </p:nvSpPr>
        <p:spPr>
          <a:xfrm>
            <a:off x="438912" y="3017520"/>
            <a:ext cx="4023360" cy="82296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Requesting Cassandra shows the customer is willing to pay her rate, so it becomes their ceiling.</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 PRICE VS CP PAY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explain or refund a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answers tell you which case you're in.</a:t>
            </a:r>
            <a:endParaRPr lang="en-US" sz="1200" dirty="0"/>
          </a:p>
        </p:txBody>
      </p:sp>
      <p:sp>
        <p:nvSpPr>
          <p:cNvPr id="6" name="Shape 3"/>
          <p:cNvSpPr/>
          <p:nvPr/>
        </p:nvSpPr>
        <p:spPr>
          <a:xfrm>
            <a:off x="411480" y="137160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Operating model</a:t>
            </a:r>
            <a:endParaRPr lang="en-US" sz="1200" dirty="0"/>
          </a:p>
        </p:txBody>
      </p:sp>
      <p:sp>
        <p:nvSpPr>
          <p:cNvPr id="10" name="Text 7"/>
          <p:cNvSpPr txBox="1"/>
          <p:nvPr/>
        </p:nvSpPr>
        <p:spPr>
          <a:xfrm>
            <a:off x="5760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CA/CA-WA or General? Look for the banner.</a:t>
            </a:r>
            <a:endParaRPr lang="en-US" sz="950" dirty="0"/>
          </a:p>
        </p:txBody>
      </p:sp>
      <p:sp>
        <p:nvSpPr>
          <p:cNvPr id="11" name="Shape 8"/>
          <p:cNvSpPr/>
          <p:nvPr/>
        </p:nvSpPr>
        <p:spPr>
          <a:xfrm>
            <a:off x="3230880" y="1371600"/>
            <a:ext cx="26822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Membership status</a:t>
            </a:r>
            <a:endParaRPr lang="en-US" sz="1200" dirty="0"/>
          </a:p>
        </p:txBody>
      </p:sp>
      <p:sp>
        <p:nvSpPr>
          <p:cNvPr id="15" name="Text 12"/>
          <p:cNvSpPr txBox="1"/>
          <p:nvPr/>
        </p:nvSpPr>
        <p:spPr>
          <a:xfrm>
            <a:off x="33954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FC, non-FC, or deactivated FC?</a:t>
            </a:r>
            <a:endParaRPr lang="en-US" sz="950" dirty="0"/>
          </a:p>
        </p:txBody>
      </p:sp>
      <p:sp>
        <p:nvSpPr>
          <p:cNvPr id="16" name="Shape 13"/>
          <p:cNvSpPr/>
          <p:nvPr/>
        </p:nvSpPr>
        <p:spPr>
          <a:xfrm>
            <a:off x="6050280" y="1371600"/>
            <a:ext cx="2682240" cy="1691640"/>
          </a:xfrm>
          <a:prstGeom prst="roundRect">
            <a:avLst>
              <a:gd name="adj" fmla="val 4324"/>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 together?</a:t>
            </a:r>
            <a:endParaRPr lang="en-US" sz="1200" dirty="0"/>
          </a:p>
        </p:txBody>
      </p:sp>
      <p:sp>
        <p:nvSpPr>
          <p:cNvPr id="20" name="Text 17"/>
          <p:cNvSpPr txBox="1"/>
          <p:nvPr/>
        </p:nvSpPr>
        <p:spPr>
          <a:xfrm>
            <a:off x="6214872" y="226771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this the cleaner's first job with this customer?</a:t>
            </a:r>
            <a:endParaRPr lang="en-US" sz="950" dirty="0"/>
          </a:p>
        </p:txBody>
      </p:sp>
      <p:sp>
        <p:nvSpPr>
          <p:cNvPr id="21" name="Shape 18"/>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3" name="Text 19"/>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Then:  </a:t>
            </a:r>
            <a:pPr indent="0" marL="0">
              <a:buNone/>
            </a:pPr>
            <a:r>
              <a:rPr lang="en-US" sz="1000" dirty="0">
                <a:solidFill>
                  <a:srgbClr val="1D1D1F"/>
                </a:solidFill>
                <a:latin typeface="SF Pro Text" pitchFamily="34" charset="0"/>
                <a:ea typeface="SF Pro Text" pitchFamily="34" charset="-122"/>
                <a:cs typeface="SF Pro Text" pitchFamily="34" charset="-120"/>
              </a:rPr>
              <a:t>find the matching row in the platform fee table before you explain or refund anything.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3/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&amp; Operating Mechanics</dc:title>
  <dc:subject>PptxGenJS Presentation</dc:subject>
  <dc:creator>PptxGenJS</dc:creator>
  <cp:lastModifiedBy>PptxGenJS</cp:lastModifiedBy>
  <cp:revision>1</cp:revision>
  <dcterms:created xsi:type="dcterms:W3CDTF">2026-10-01T20:37:56Z</dcterms:created>
  <dcterms:modified xsi:type="dcterms:W3CDTF">2026-10-01T20:37:56Z</dcterms:modified>
</cp:coreProperties>
</file>