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fade">
                                      <p:cBhvr>
                                        <p:cTn id="7" dur="6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fade">
                                      <p:cBhvr>
                                        <p:cTn id="12" dur="6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fade">
                                      <p:cBhvr>
                                        <p:cTn id="17" dur="6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fade">
                                      <p:cBhvr>
                                        <p:cTn id="22" dur="6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fade">
                                      <p:cBhvr>
                                        <p:cTn id="27" dur="6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fade">
                                      <p:cBhvr>
                                        <p:cTn id="32" dur="6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fade">
                                      <p:cBhvr>
                                        <p:cTn id="37" dur="6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6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fade">
                                      <p:cBhvr>
                                        <p:cTn id="12" dur="6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fade">
                                      <p:cBhvr>
                                        <p:cTn id="17" dur="6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6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fade">
                                      <p:cBhvr>
                                        <p:cTn id="27" dur="6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3977640" cy="1143000"/>
          </a:xfrm>
          <a:prstGeom prst="roundRect">
            <a:avLst>
              <a:gd name="adj" fmla="val 6400"/>
            </a:avLst>
          </a:prstGeom>
          <a:solidFill>
            <a:srgbClr val="FFFFFF"/>
          </a:solidFill>
          <a:ln w="9525">
            <a:solidFill>
              <a:srgbClr val="DCE1E7"/>
            </a:solidFill>
            <a:prstDash val="solid"/>
          </a:ln>
        </p:spPr>
      </p:sp>
      <p:pic>
        <p:nvPicPr>
          <p:cNvPr id="7" name="Image 0" descr="/tmp/claude-0/-workspace-training/3ce5cff6-cccf-5f33-b0ee-0b147a55120e/scratchpad/img3/callback_crm_half.png">    </p:cNvPr>
          <p:cNvPicPr>
            <a:picLocks noChangeAspect="1"/>
          </p:cNvPicPr>
          <p:nvPr/>
        </p:nvPicPr>
        <p:blipFill>
          <a:blip r:embed="rId1"/>
          <a:stretch>
            <a:fillRect/>
          </a:stretch>
        </p:blipFill>
        <p:spPr>
          <a:xfrm>
            <a:off x="484632" y="1335645"/>
            <a:ext cx="3831336" cy="940590"/>
          </a:xfrm>
          <a:prstGeom prst="rect">
            <a:avLst/>
          </a:prstGeom>
        </p:spPr>
      </p:pic>
      <p:sp>
        <p:nvSpPr>
          <p:cNvPr id="8" name="Shape 4"/>
          <p:cNvSpPr/>
          <p:nvPr/>
        </p:nvSpPr>
        <p:spPr>
          <a:xfrm>
            <a:off x="3870755" y="1366998"/>
            <a:ext cx="388777" cy="156765"/>
          </a:xfrm>
          <a:prstGeom prst="roundRect">
            <a:avLst>
              <a:gd name="adj" fmla="val 17499"/>
            </a:avLst>
          </a:prstGeom>
          <a:ln w="25400">
            <a:solidFill>
              <a:srgbClr val="0B7A6F"/>
            </a:solidFill>
            <a:prstDash val="solid"/>
          </a:ln>
        </p:spPr>
      </p:sp>
      <p:sp>
        <p:nvSpPr>
          <p:cNvPr id="9" name="Shape 5"/>
          <p:cNvSpPr/>
          <p:nvPr/>
        </p:nvSpPr>
        <p:spPr>
          <a:xfrm>
            <a:off x="3770171" y="12664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3770171"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3469437" y="1366998"/>
            <a:ext cx="395048" cy="156765"/>
          </a:xfrm>
          <a:prstGeom prst="roundRect">
            <a:avLst>
              <a:gd name="adj" fmla="val 17499"/>
            </a:avLst>
          </a:prstGeom>
          <a:ln w="25400">
            <a:solidFill>
              <a:srgbClr val="0B7A6F"/>
            </a:solidFill>
            <a:prstDash val="solid"/>
          </a:ln>
        </p:spPr>
      </p:sp>
      <p:sp>
        <p:nvSpPr>
          <p:cNvPr id="12" name="Shape 8"/>
          <p:cNvSpPr/>
          <p:nvPr/>
        </p:nvSpPr>
        <p:spPr>
          <a:xfrm>
            <a:off x="3368853" y="1266414"/>
            <a:ext cx="201168" cy="201168"/>
          </a:xfrm>
          <a:prstGeom prst="ellipse">
            <a:avLst/>
          </a:prstGeom>
          <a:solidFill>
            <a:srgbClr val="0B7A6F"/>
          </a:solidFill>
          <a:ln w="12700">
            <a:solidFill>
              <a:srgbClr val="FFFFFF"/>
            </a:solidFill>
            <a:prstDash val="solid"/>
          </a:ln>
        </p:spPr>
      </p:sp>
      <p:sp>
        <p:nvSpPr>
          <p:cNvPr id="13" name="Text 9"/>
          <p:cNvSpPr txBox="1"/>
          <p:nvPr/>
        </p:nvSpPr>
        <p:spPr>
          <a:xfrm>
            <a:off x="3368853" y="12664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484953" y="1937623"/>
            <a:ext cx="733660" cy="112871"/>
          </a:xfrm>
          <a:prstGeom prst="roundRect">
            <a:avLst>
              <a:gd name="adj" fmla="val 24304"/>
            </a:avLst>
          </a:prstGeom>
          <a:ln w="25400">
            <a:solidFill>
              <a:srgbClr val="0B7A6F"/>
            </a:solidFill>
            <a:prstDash val="solid"/>
          </a:ln>
        </p:spPr>
      </p:sp>
      <p:sp>
        <p:nvSpPr>
          <p:cNvPr id="15" name="Shape 11"/>
          <p:cNvSpPr/>
          <p:nvPr/>
        </p:nvSpPr>
        <p:spPr>
          <a:xfrm>
            <a:off x="2384369" y="1837039"/>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384369" y="183703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a:t>
            </a:r>
            <a:endParaRPr lang="en-US" sz="800" dirty="0"/>
          </a:p>
        </p:txBody>
      </p:sp>
      <p:sp>
        <p:nvSpPr>
          <p:cNvPr id="17" name="Shape 13"/>
          <p:cNvSpPr/>
          <p:nvPr/>
        </p:nvSpPr>
        <p:spPr>
          <a:xfrm>
            <a:off x="411480" y="2514600"/>
            <a:ext cx="3977640" cy="457200"/>
          </a:xfrm>
          <a:prstGeom prst="roundRect">
            <a:avLst>
              <a:gd name="adj" fmla="val 16000"/>
            </a:avLst>
          </a:prstGeom>
          <a:solidFill>
            <a:srgbClr val="FFFFFF"/>
          </a:solidFill>
          <a:ln w="9525">
            <a:solidFill>
              <a:srgbClr val="DCE1E7"/>
            </a:solidFill>
            <a:prstDash val="solid"/>
          </a:ln>
        </p:spPr>
      </p:sp>
      <p:sp>
        <p:nvSpPr>
          <p:cNvPr id="18" name="Shape 14"/>
          <p:cNvSpPr/>
          <p:nvPr/>
        </p:nvSpPr>
        <p:spPr>
          <a:xfrm>
            <a:off x="539496" y="261518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39496" y="26151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914400" y="256032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primary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1st, from the primary number</a:t>
            </a:r>
            <a:endParaRPr lang="en-US" sz="1050" dirty="0"/>
          </a:p>
        </p:txBody>
      </p:sp>
      <p:sp>
        <p:nvSpPr>
          <p:cNvPr id="21" name="Shape 17"/>
          <p:cNvSpPr/>
          <p:nvPr/>
        </p:nvSpPr>
        <p:spPr>
          <a:xfrm>
            <a:off x="411480" y="3063240"/>
            <a:ext cx="3977640" cy="457200"/>
          </a:xfrm>
          <a:prstGeom prst="roundRect">
            <a:avLst>
              <a:gd name="adj" fmla="val 16000"/>
            </a:avLst>
          </a:prstGeom>
          <a:solidFill>
            <a:srgbClr val="FFFFFF"/>
          </a:solidFill>
          <a:ln w="9525">
            <a:solidFill>
              <a:srgbClr val="DCE1E7"/>
            </a:solidFill>
            <a:prstDash val="solid"/>
          </a:ln>
        </p:spPr>
      </p:sp>
      <p:sp>
        <p:nvSpPr>
          <p:cNvPr id="22" name="Shape 18"/>
          <p:cNvSpPr/>
          <p:nvPr/>
        </p:nvSpPr>
        <p:spPr>
          <a:xfrm>
            <a:off x="539496" y="31638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39496" y="31638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914400" y="310896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2nd, with Google Voice</a:t>
            </a:r>
            <a:endParaRPr lang="en-US" sz="1050" dirty="0"/>
          </a:p>
        </p:txBody>
      </p:sp>
      <p:sp>
        <p:nvSpPr>
          <p:cNvPr id="25" name="Shape 21"/>
          <p:cNvSpPr/>
          <p:nvPr/>
        </p:nvSpPr>
        <p:spPr>
          <a:xfrm>
            <a:off x="411480" y="3611880"/>
            <a:ext cx="3977640" cy="457200"/>
          </a:xfrm>
          <a:prstGeom prst="roundRect">
            <a:avLst>
              <a:gd name="adj" fmla="val 16000"/>
            </a:avLst>
          </a:prstGeom>
          <a:solidFill>
            <a:srgbClr val="FFFFFF"/>
          </a:solidFill>
          <a:ln w="9525">
            <a:solidFill>
              <a:srgbClr val="DCE1E7"/>
            </a:solidFill>
            <a:prstDash val="solid"/>
          </a:ln>
        </p:spPr>
      </p:sp>
      <p:sp>
        <p:nvSpPr>
          <p:cNvPr id="26" name="Shape 22"/>
          <p:cNvSpPr/>
          <p:nvPr/>
        </p:nvSpPr>
        <p:spPr>
          <a:xfrm>
            <a:off x="539496" y="371246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39496" y="3712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914400" y="3657600"/>
            <a:ext cx="3383280" cy="3657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 secondary number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3rd, same Callbox button, Secondary Phone</a:t>
            </a:r>
            <a:endParaRPr lang="en-US" sz="1050" dirty="0"/>
          </a:p>
        </p:txBody>
      </p:sp>
      <p:sp>
        <p:nvSpPr>
          <p:cNvPr id="29" name="Shape 25"/>
          <p:cNvSpPr/>
          <p:nvPr/>
        </p:nvSpPr>
        <p:spPr>
          <a:xfrm>
            <a:off x="411480" y="4160520"/>
            <a:ext cx="3977640" cy="548640"/>
          </a:xfrm>
          <a:prstGeom prst="roundRect">
            <a:avLst>
              <a:gd name="adj" fmla="val 13333"/>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48640" y="4334256"/>
            <a:ext cx="201168" cy="201168"/>
          </a:xfrm>
          <a:prstGeom prst="rect">
            <a:avLst/>
          </a:prstGeom>
        </p:spPr>
      </p:pic>
      <p:sp>
        <p:nvSpPr>
          <p:cNvPr id="31" name="Text 26"/>
          <p:cNvSpPr txBox="1"/>
          <p:nvPr/>
        </p:nvSpPr>
        <p:spPr>
          <a:xfrm>
            <a:off x="841248" y="4160520"/>
            <a:ext cx="3474720" cy="548640"/>
          </a:xfrm>
          <a:prstGeom prst="rect">
            <a:avLst/>
          </a:prstGeom>
          <a:noFill/>
          <a:ln/>
        </p:spPr>
        <p:txBody>
          <a:bodyPr wrap="square" lIns="0" tIns="0" rIns="0" bIns="0" rtlCol="0" anchor="ctr"/>
          <a:lstStyle/>
          <a:p>
            <a:pPr indent="0" marL="0">
              <a:buNone/>
            </a:pPr>
            <a:r>
              <a:rPr lang="en-US" sz="950" b="1" dirty="0">
                <a:solidFill>
                  <a:srgbClr val="9A6410"/>
                </a:solidFill>
                <a:latin typeface="SF Pro Text" pitchFamily="34" charset="0"/>
                <a:ea typeface="SF Pro Text" pitchFamily="34" charset="-122"/>
                <a:cs typeface="SF Pro Text" pitchFamily="34" charset="-120"/>
              </a:rPr>
              <a:t>Important:  </a:t>
            </a:r>
            <a:pPr indent="0" marL="0">
              <a:buNone/>
            </a:pPr>
            <a:r>
              <a:rPr lang="en-US" sz="950" dirty="0">
                <a:solidFill>
                  <a:srgbClr val="1D1D1F"/>
                </a:solidFill>
                <a:latin typeface="SF Pro Text" pitchFamily="34" charset="0"/>
                <a:ea typeface="SF Pro Text" pitchFamily="34" charset="-122"/>
                <a:cs typeface="SF Pro Text" pitchFamily="34" charset="-120"/>
              </a:rPr>
              <a:t>check Local Time (!) before making a call. 8 AM – 8 PM their time.</a:t>
            </a:r>
            <a:endParaRPr lang="en-US" sz="950" dirty="0"/>
          </a:p>
        </p:txBody>
      </p:sp>
      <p:sp>
        <p:nvSpPr>
          <p:cNvPr id="32" name="Shape 27"/>
          <p:cNvSpPr/>
          <p:nvPr/>
        </p:nvSpPr>
        <p:spPr>
          <a:xfrm>
            <a:off x="4526280" y="1234440"/>
            <a:ext cx="4206240" cy="411480"/>
          </a:xfrm>
          <a:prstGeom prst="roundRect">
            <a:avLst>
              <a:gd name="adj" fmla="val 22222"/>
            </a:avLst>
          </a:prstGeom>
          <a:solidFill>
            <a:srgbClr val="0B7A6F"/>
          </a:solidFill>
          <a:ln w="12700">
            <a:solidFill>
              <a:srgbClr val="0B7A6F"/>
            </a:solidFill>
            <a:prstDash val="solid"/>
          </a:ln>
        </p:spPr>
      </p:sp>
      <p:pic>
        <p:nvPicPr>
          <p:cNvPr id="33" name="Image 2" descr="preencoded.png">    </p:cNvPr>
          <p:cNvPicPr>
            <a:picLocks noChangeAspect="1"/>
          </p:cNvPicPr>
          <p:nvPr/>
        </p:nvPicPr>
        <p:blipFill>
          <a:blip r:embed="rId3"/>
          <a:stretch>
            <a:fillRect/>
          </a:stretch>
        </p:blipFill>
        <p:spPr>
          <a:xfrm>
            <a:off x="4681728" y="1339596"/>
            <a:ext cx="201168" cy="201168"/>
          </a:xfrm>
          <a:prstGeom prst="rect">
            <a:avLst/>
          </a:prstGeom>
        </p:spPr>
      </p:pic>
      <p:sp>
        <p:nvSpPr>
          <p:cNvPr id="34" name="Text 28"/>
          <p:cNvSpPr txBox="1"/>
          <p:nvPr/>
        </p:nvSpPr>
        <p:spPr>
          <a:xfrm>
            <a:off x="4983480" y="1234440"/>
            <a:ext cx="3474720" cy="411480"/>
          </a:xfrm>
          <a:prstGeom prst="rect">
            <a:avLst/>
          </a:prstGeom>
          <a:noFill/>
          <a:ln/>
        </p:spPr>
        <p:txBody>
          <a:bodyPr wrap="square" lIns="0" tIns="0" rIns="0" bIns="0" rtlCol="0" anchor="ctr"/>
          <a:lstStyle/>
          <a:p>
            <a:pPr indent="0" marL="0">
              <a:buNone/>
            </a:pPr>
            <a:r>
              <a:rPr lang="en-US" sz="1250" b="1" dirty="0">
                <a:solidFill>
                  <a:srgbClr val="FFFFFF"/>
                </a:solidFill>
                <a:latin typeface="SF Pro Display" pitchFamily="34" charset="0"/>
                <a:ea typeface="SF Pro Display" pitchFamily="34" charset="-122"/>
                <a:cs typeface="SF Pro Display" pitchFamily="34" charset="-120"/>
              </a:rPr>
              <a:t>Show screens</a:t>
            </a:r>
            <a:endParaRPr lang="en-US" sz="1250" dirty="0"/>
          </a:p>
        </p:txBody>
      </p:sp>
      <p:sp>
        <p:nvSpPr>
          <p:cNvPr id="35" name="Shape 29"/>
          <p:cNvSpPr/>
          <p:nvPr/>
        </p:nvSpPr>
        <p:spPr>
          <a:xfrm>
            <a:off x="4526280" y="1737360"/>
            <a:ext cx="4206240" cy="2971800"/>
          </a:xfrm>
          <a:prstGeom prst="roundRect">
            <a:avLst>
              <a:gd name="adj" fmla="val 2462"/>
            </a:avLst>
          </a:prstGeom>
          <a:solidFill>
            <a:srgbClr val="E3F4F1"/>
          </a:solidFill>
          <a:ln w="9525">
            <a:solidFill>
              <a:srgbClr val="E3F4F1"/>
            </a:solidFill>
            <a:prstDash val="solid"/>
          </a:ln>
        </p:spPr>
      </p:sp>
      <p:sp>
        <p:nvSpPr>
          <p:cNvPr id="36" name="step1a"/>
          <p:cNvSpPr/>
          <p:nvPr/>
        </p:nvSpPr>
        <p:spPr>
          <a:xfrm>
            <a:off x="4636008" y="1819656"/>
            <a:ext cx="182880" cy="182880"/>
          </a:xfrm>
          <a:prstGeom prst="ellipse">
            <a:avLst/>
          </a:prstGeom>
          <a:solidFill>
            <a:srgbClr val="0B7A6F"/>
          </a:solidFill>
          <a:ln w="12700">
            <a:solidFill>
              <a:srgbClr val="0B7A6F"/>
            </a:solidFill>
            <a:prstDash val="solid"/>
          </a:ln>
        </p:spPr>
      </p:sp>
      <p:sp>
        <p:nvSpPr>
          <p:cNvPr id="37" name="step1b"/>
          <p:cNvSpPr txBox="1"/>
          <p:nvPr/>
        </p:nvSpPr>
        <p:spPr>
          <a:xfrm>
            <a:off x="4636008" y="1819656"/>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1</a:t>
            </a:r>
            <a:endParaRPr lang="en-US" sz="750" dirty="0"/>
          </a:p>
        </p:txBody>
      </p:sp>
      <p:sp>
        <p:nvSpPr>
          <p:cNvPr id="38" name="step1c"/>
          <p:cNvSpPr txBox="1"/>
          <p:nvPr/>
        </p:nvSpPr>
        <p:spPr>
          <a:xfrm>
            <a:off x="4892040" y="1810512"/>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primary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primary number</a:t>
            </a:r>
            <a:endParaRPr lang="en-US" sz="900" dirty="0"/>
          </a:p>
        </p:txBody>
      </p:sp>
      <p:sp>
        <p:nvSpPr>
          <p:cNvPr id="39" name="step1d"/>
          <p:cNvSpPr/>
          <p:nvPr/>
        </p:nvSpPr>
        <p:spPr>
          <a:xfrm>
            <a:off x="4636008" y="2048256"/>
            <a:ext cx="3986784" cy="676656"/>
          </a:xfrm>
          <a:prstGeom prst="rect">
            <a:avLst/>
          </a:prstGeom>
          <a:solidFill>
            <a:srgbClr val="FFFFFF"/>
          </a:solidFill>
          <a:ln w="6350">
            <a:solidFill>
              <a:srgbClr val="DCE1E7"/>
            </a:solidFill>
            <a:prstDash val="solid"/>
          </a:ln>
        </p:spPr>
      </p:sp>
      <p:pic>
        <p:nvPicPr>
          <p:cNvPr id="40" name="step1e" descr="/tmp/claude-0/-workspace-training/3ce5cff6-cccf-5f33-b0ee-0b147a55120e/scratchpad/img3/call_primary_crop.png">    </p:cNvPr>
          <p:cNvPicPr>
            <a:picLocks noChangeAspect="1"/>
          </p:cNvPicPr>
          <p:nvPr/>
        </p:nvPicPr>
        <p:blipFill>
          <a:blip r:embed="rId4"/>
          <a:stretch>
            <a:fillRect/>
          </a:stretch>
        </p:blipFill>
        <p:spPr>
          <a:xfrm>
            <a:off x="5283448" y="2075688"/>
            <a:ext cx="2691904" cy="621792"/>
          </a:xfrm>
          <a:prstGeom prst="rect">
            <a:avLst/>
          </a:prstGeom>
        </p:spPr>
      </p:pic>
      <p:sp>
        <p:nvSpPr>
          <p:cNvPr id="41" name="step2a"/>
          <p:cNvSpPr/>
          <p:nvPr/>
        </p:nvSpPr>
        <p:spPr>
          <a:xfrm>
            <a:off x="4636008" y="2788920"/>
            <a:ext cx="182880" cy="182880"/>
          </a:xfrm>
          <a:prstGeom prst="ellipse">
            <a:avLst/>
          </a:prstGeom>
          <a:solidFill>
            <a:srgbClr val="0B7A6F"/>
          </a:solidFill>
          <a:ln w="12700">
            <a:solidFill>
              <a:srgbClr val="0B7A6F"/>
            </a:solidFill>
            <a:prstDash val="solid"/>
          </a:ln>
        </p:spPr>
      </p:sp>
      <p:sp>
        <p:nvSpPr>
          <p:cNvPr id="42" name="step2b"/>
          <p:cNvSpPr txBox="1"/>
          <p:nvPr/>
        </p:nvSpPr>
        <p:spPr>
          <a:xfrm>
            <a:off x="4636008" y="2788920"/>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2</a:t>
            </a:r>
            <a:endParaRPr lang="en-US" sz="750" dirty="0"/>
          </a:p>
        </p:txBody>
      </p:sp>
      <p:sp>
        <p:nvSpPr>
          <p:cNvPr id="43" name="step2c"/>
          <p:cNvSpPr txBox="1"/>
          <p:nvPr/>
        </p:nvSpPr>
        <p:spPr>
          <a:xfrm>
            <a:off x="4892040" y="2779776"/>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GVoice  </a:t>
            </a:r>
            <a:pPr indent="0" marL="0">
              <a:buNone/>
            </a:pPr>
            <a:r>
              <a:rPr lang="en-US" sz="900" dirty="0">
                <a:solidFill>
                  <a:srgbClr val="6E6E73"/>
                </a:solidFill>
                <a:latin typeface="SF Pro Text" pitchFamily="34" charset="0"/>
                <a:ea typeface="SF Pro Text" pitchFamily="34" charset="-122"/>
                <a:cs typeface="SF Pro Text" pitchFamily="34" charset="-120"/>
              </a:rPr>
              <a:t>Sign in with the shared Homeaglow account</a:t>
            </a:r>
            <a:endParaRPr lang="en-US" sz="900" dirty="0"/>
          </a:p>
        </p:txBody>
      </p:sp>
      <p:sp>
        <p:nvSpPr>
          <p:cNvPr id="44" name="step2d"/>
          <p:cNvSpPr/>
          <p:nvPr/>
        </p:nvSpPr>
        <p:spPr>
          <a:xfrm>
            <a:off x="4636008" y="3017520"/>
            <a:ext cx="3986784" cy="676656"/>
          </a:xfrm>
          <a:prstGeom prst="rect">
            <a:avLst/>
          </a:prstGeom>
          <a:solidFill>
            <a:srgbClr val="FFFFFF"/>
          </a:solidFill>
          <a:ln w="6350">
            <a:solidFill>
              <a:srgbClr val="DCE1E7"/>
            </a:solidFill>
            <a:prstDash val="solid"/>
          </a:ln>
        </p:spPr>
      </p:sp>
      <p:pic>
        <p:nvPicPr>
          <p:cNvPr id="45" name="step2e" descr="/tmp/claude-0/-workspace-training/3ce5cff6-cccf-5f33-b0ee-0b147a55120e/scratchpad/img3/call_gvoice_crop.png">    </p:cNvPr>
          <p:cNvPicPr>
            <a:picLocks noChangeAspect="1"/>
          </p:cNvPicPr>
          <p:nvPr/>
        </p:nvPicPr>
        <p:blipFill>
          <a:blip r:embed="rId5"/>
          <a:stretch>
            <a:fillRect/>
          </a:stretch>
        </p:blipFill>
        <p:spPr>
          <a:xfrm>
            <a:off x="4835086" y="3044952"/>
            <a:ext cx="3588628" cy="621792"/>
          </a:xfrm>
          <a:prstGeom prst="rect">
            <a:avLst/>
          </a:prstGeom>
        </p:spPr>
      </p:pic>
      <p:sp>
        <p:nvSpPr>
          <p:cNvPr id="46" name="step3a"/>
          <p:cNvSpPr/>
          <p:nvPr/>
        </p:nvSpPr>
        <p:spPr>
          <a:xfrm>
            <a:off x="4636008" y="3758184"/>
            <a:ext cx="182880" cy="182880"/>
          </a:xfrm>
          <a:prstGeom prst="ellipse">
            <a:avLst/>
          </a:prstGeom>
          <a:solidFill>
            <a:srgbClr val="0B7A6F"/>
          </a:solidFill>
          <a:ln w="12700">
            <a:solidFill>
              <a:srgbClr val="0B7A6F"/>
            </a:solidFill>
            <a:prstDash val="solid"/>
          </a:ln>
        </p:spPr>
      </p:sp>
      <p:sp>
        <p:nvSpPr>
          <p:cNvPr id="47" name="step3b"/>
          <p:cNvSpPr txBox="1"/>
          <p:nvPr/>
        </p:nvSpPr>
        <p:spPr>
          <a:xfrm>
            <a:off x="4636008" y="3758184"/>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Text" pitchFamily="34" charset="0"/>
                <a:ea typeface="SF Pro Text" pitchFamily="34" charset="-122"/>
                <a:cs typeface="SF Pro Text" pitchFamily="34" charset="-120"/>
              </a:rPr>
              <a:t>3</a:t>
            </a:r>
            <a:endParaRPr lang="en-US" sz="750" dirty="0"/>
          </a:p>
        </p:txBody>
      </p:sp>
      <p:sp>
        <p:nvSpPr>
          <p:cNvPr id="48" name="step3c"/>
          <p:cNvSpPr txBox="1"/>
          <p:nvPr/>
        </p:nvSpPr>
        <p:spPr>
          <a:xfrm>
            <a:off x="4892040" y="3749040"/>
            <a:ext cx="3749040" cy="201168"/>
          </a:xfrm>
          <a:prstGeom prst="rect">
            <a:avLst/>
          </a:prstGeom>
          <a:noFill/>
          <a:ln/>
        </p:spPr>
        <p:txBody>
          <a:bodyPr wrap="square" lIns="0" tIns="0" rIns="0" bIns="0" rtlCol="0" anchor="ctr"/>
          <a:lstStyle/>
          <a:p>
            <a:pPr indent="0" marL="0">
              <a:buNone/>
            </a:pPr>
            <a:r>
              <a:rPr lang="en-US" sz="900" b="1" dirty="0">
                <a:solidFill>
                  <a:srgbClr val="0B7A6F"/>
                </a:solidFill>
                <a:latin typeface="SF Pro Text" pitchFamily="34" charset="0"/>
                <a:ea typeface="SF Pro Text" pitchFamily="34" charset="-122"/>
                <a:cs typeface="SF Pro Text" pitchFamily="34" charset="-120"/>
              </a:rPr>
              <a:t>Callbox: secondary number  </a:t>
            </a:r>
            <a:pPr indent="0" marL="0">
              <a:buNone/>
            </a:pPr>
            <a:r>
              <a:rPr lang="en-US" sz="900" dirty="0">
                <a:solidFill>
                  <a:srgbClr val="6E6E73"/>
                </a:solidFill>
                <a:latin typeface="SF Pro Text" pitchFamily="34" charset="0"/>
                <a:ea typeface="SF Pro Text" pitchFamily="34" charset="-122"/>
                <a:cs typeface="SF Pro Text" pitchFamily="34" charset="-120"/>
              </a:rPr>
              <a:t>From list set to the Secondary Phone</a:t>
            </a:r>
            <a:endParaRPr lang="en-US" sz="900" dirty="0"/>
          </a:p>
        </p:txBody>
      </p:sp>
      <p:sp>
        <p:nvSpPr>
          <p:cNvPr id="49" name="step3d"/>
          <p:cNvSpPr/>
          <p:nvPr/>
        </p:nvSpPr>
        <p:spPr>
          <a:xfrm>
            <a:off x="4636008" y="3986784"/>
            <a:ext cx="3986784" cy="676656"/>
          </a:xfrm>
          <a:prstGeom prst="rect">
            <a:avLst/>
          </a:prstGeom>
          <a:solidFill>
            <a:srgbClr val="FFFFFF"/>
          </a:solidFill>
          <a:ln w="6350">
            <a:solidFill>
              <a:srgbClr val="DCE1E7"/>
            </a:solidFill>
            <a:prstDash val="solid"/>
          </a:ln>
        </p:spPr>
      </p:sp>
      <p:pic>
        <p:nvPicPr>
          <p:cNvPr id="50" name="step3e" descr="/tmp/claude-0/-workspace-training/3ce5cff6-cccf-5f33-b0ee-0b147a55120e/scratchpad/img3/call_secondary_crop.png">    </p:cNvPr>
          <p:cNvPicPr>
            <a:picLocks noChangeAspect="1"/>
          </p:cNvPicPr>
          <p:nvPr/>
        </p:nvPicPr>
        <p:blipFill>
          <a:blip r:embed="rId6"/>
          <a:stretch>
            <a:fillRect/>
          </a:stretch>
        </p:blipFill>
        <p:spPr>
          <a:xfrm>
            <a:off x="5436506" y="4014216"/>
            <a:ext cx="2385789" cy="621792"/>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0"/>
                                        </p:tgtEl>
                                        <p:attrNameLst>
                                          <p:attrName>style.visibility</p:attrName>
                                        </p:attrNameLst>
                                      </p:cBhvr>
                                      <p:to>
                                        <p:strVal val="visible"/>
                                      </p:to>
                                    </p:set>
                                    <p:animEffect transition="in" filter="fade">
                                      <p:cBhvr>
                                        <p:cTn id="19" dur="600"/>
                                        <p:tgtEl>
                                          <p:spTgt spid="40"/>
                                        </p:tgtEl>
                                      </p:cBhvr>
                                    </p:animEffect>
                                  </p:childTnLst>
                                </p:cTn>
                              </p:par>
                            </p:childTnLst>
                          </p:cTn>
                        </p:par>
                      </p:childTnLst>
                    </p:cTn>
                  </p:par>
                  <p:par>
                    <p:cTn id="35" fill="hold">
                      <p:stCondLst>
                        <p:cond delay="indefinite"/>
                      </p:stCondLst>
                      <p:childTnLst>
                        <p:par>
                          <p:cTn id="36"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1"/>
                                        </p:tgtEl>
                                        <p:attrNameLst>
                                          <p:attrName>style.visibility</p:attrName>
                                        </p:attrNameLst>
                                      </p:cBhvr>
                                      <p:to>
                                        <p:strVal val="visible"/>
                                      </p:to>
                                    </p:set>
                                    <p:animEffect transition="in" filter="fade">
                                      <p:cBhvr>
                                        <p:cTn id="24" dur="600"/>
                                        <p:tgtEl>
                                          <p:spTgt spid="4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600"/>
                                        <p:tgtEl>
                                          <p:spTgt spid="4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3"/>
                                        </p:tgtEl>
                                        <p:attrNameLst>
                                          <p:attrName>style.visibility</p:attrName>
                                        </p:attrNameLst>
                                      </p:cBhvr>
                                      <p:to>
                                        <p:strVal val="visible"/>
                                      </p:to>
                                    </p:set>
                                    <p:animEffect transition="in" filter="fade">
                                      <p:cBhvr>
                                        <p:cTn id="30" dur="600"/>
                                        <p:tgtEl>
                                          <p:spTgt spid="4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fade">
                                      <p:cBhvr>
                                        <p:cTn id="33" dur="600"/>
                                        <p:tgtEl>
                                          <p:spTgt spid="4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6" dur="600"/>
                                        <p:tgtEl>
                                          <p:spTgt spid="45"/>
                                        </p:tgtEl>
                                      </p:cBhvr>
                                    </p:animEffect>
                                  </p:childTnLst>
                                </p:cTn>
                              </p:par>
                            </p:childTnLst>
                          </p:cTn>
                        </p:par>
                      </p:childTnLst>
                    </p:cTn>
                  </p:par>
                  <p:par>
                    <p:cTn id="52" fill="hold">
                      <p:stCondLst>
                        <p:cond delay="indefinite"/>
                      </p:stCondLst>
                      <p:childTnLst>
                        <p:par>
                          <p:cTn id="53"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6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6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6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6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Calculate the job cost for all 3 customer pricing cohorts using the details below.</a:t>
            </a:r>
            <a:endParaRPr lang="en-US" sz="1200" dirty="0"/>
          </a:p>
        </p:txBody>
      </p:sp>
      <p:sp>
        <p:nvSpPr>
          <p:cNvPr id="6" name="Shape 3"/>
          <p:cNvSpPr/>
          <p:nvPr/>
        </p:nvSpPr>
        <p:spPr>
          <a:xfrm>
            <a:off x="411480" y="1280160"/>
            <a:ext cx="3017520" cy="338328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219456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594360" y="2011680"/>
            <a:ext cx="2651760" cy="384048"/>
          </a:xfrm>
          <a:prstGeom prst="roundRect">
            <a:avLst>
              <a:gd name="adj" fmla="val 19048"/>
            </a:avLst>
          </a:prstGeom>
          <a:solidFill>
            <a:srgbClr val="F6F7F9"/>
          </a:solidFill>
          <a:ln w="9525">
            <a:solidFill>
              <a:srgbClr val="DCE1E7"/>
            </a:solidFill>
            <a:prstDash val="solid"/>
          </a:ln>
        </p:spPr>
      </p:sp>
      <p:sp>
        <p:nvSpPr>
          <p:cNvPr id="11" name="Text 7"/>
          <p:cNvSpPr txBox="1"/>
          <p:nvPr/>
        </p:nvSpPr>
        <p:spPr>
          <a:xfrm>
            <a:off x="731520" y="2011680"/>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CP rate</a:t>
            </a:r>
            <a:endParaRPr lang="en-US" sz="1050" dirty="0"/>
          </a:p>
        </p:txBody>
      </p:sp>
      <p:sp>
        <p:nvSpPr>
          <p:cNvPr id="12" name="Text 8"/>
          <p:cNvSpPr txBox="1"/>
          <p:nvPr/>
        </p:nvSpPr>
        <p:spPr>
          <a:xfrm>
            <a:off x="1828800" y="2011680"/>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$25.00/hr</a:t>
            </a:r>
            <a:endParaRPr lang="en-US" sz="1200" dirty="0"/>
          </a:p>
        </p:txBody>
      </p:sp>
      <p:sp>
        <p:nvSpPr>
          <p:cNvPr id="13" name="Shape 9"/>
          <p:cNvSpPr/>
          <p:nvPr/>
        </p:nvSpPr>
        <p:spPr>
          <a:xfrm>
            <a:off x="594360" y="2487168"/>
            <a:ext cx="2651760" cy="384048"/>
          </a:xfrm>
          <a:prstGeom prst="roundRect">
            <a:avLst>
              <a:gd name="adj" fmla="val 19048"/>
            </a:avLst>
          </a:prstGeom>
          <a:solidFill>
            <a:srgbClr val="FFFFFF"/>
          </a:solidFill>
          <a:ln w="9525">
            <a:solidFill>
              <a:srgbClr val="DCE1E7"/>
            </a:solidFill>
            <a:prstDash val="solid"/>
          </a:ln>
        </p:spPr>
      </p:sp>
      <p:sp>
        <p:nvSpPr>
          <p:cNvPr id="14" name="Text 10"/>
          <p:cNvSpPr txBox="1"/>
          <p:nvPr/>
        </p:nvSpPr>
        <p:spPr>
          <a:xfrm>
            <a:off x="731520" y="2487168"/>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Duration</a:t>
            </a:r>
            <a:endParaRPr lang="en-US" sz="1050" dirty="0"/>
          </a:p>
        </p:txBody>
      </p:sp>
      <p:sp>
        <p:nvSpPr>
          <p:cNvPr id="15" name="Text 11"/>
          <p:cNvSpPr txBox="1"/>
          <p:nvPr/>
        </p:nvSpPr>
        <p:spPr>
          <a:xfrm>
            <a:off x="1828800" y="2487168"/>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4 hours</a:t>
            </a:r>
            <a:endParaRPr lang="en-US" sz="1200" dirty="0"/>
          </a:p>
        </p:txBody>
      </p:sp>
      <p:sp>
        <p:nvSpPr>
          <p:cNvPr id="16" name="Shape 12"/>
          <p:cNvSpPr/>
          <p:nvPr/>
        </p:nvSpPr>
        <p:spPr>
          <a:xfrm>
            <a:off x="594360" y="2962656"/>
            <a:ext cx="2651760" cy="384048"/>
          </a:xfrm>
          <a:prstGeom prst="roundRect">
            <a:avLst>
              <a:gd name="adj" fmla="val 19048"/>
            </a:avLst>
          </a:prstGeom>
          <a:solidFill>
            <a:srgbClr val="F6F7F9"/>
          </a:solidFill>
          <a:ln w="9525">
            <a:solidFill>
              <a:srgbClr val="DCE1E7"/>
            </a:solidFill>
            <a:prstDash val="solid"/>
          </a:ln>
        </p:spPr>
      </p:sp>
      <p:sp>
        <p:nvSpPr>
          <p:cNvPr id="17" name="Text 13"/>
          <p:cNvSpPr txBox="1"/>
          <p:nvPr/>
        </p:nvSpPr>
        <p:spPr>
          <a:xfrm>
            <a:off x="731520" y="2962656"/>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Voucher</a:t>
            </a:r>
            <a:endParaRPr lang="en-US" sz="1050" dirty="0"/>
          </a:p>
        </p:txBody>
      </p:sp>
      <p:sp>
        <p:nvSpPr>
          <p:cNvPr id="18" name="Text 14"/>
          <p:cNvSpPr txBox="1"/>
          <p:nvPr/>
        </p:nvSpPr>
        <p:spPr>
          <a:xfrm>
            <a:off x="1828800" y="2962656"/>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1.5 hours</a:t>
            </a:r>
            <a:endParaRPr lang="en-US" sz="1200" dirty="0"/>
          </a:p>
        </p:txBody>
      </p:sp>
      <p:sp>
        <p:nvSpPr>
          <p:cNvPr id="19" name="Shape 15"/>
          <p:cNvSpPr/>
          <p:nvPr/>
        </p:nvSpPr>
        <p:spPr>
          <a:xfrm>
            <a:off x="594360" y="3438144"/>
            <a:ext cx="2651760" cy="384048"/>
          </a:xfrm>
          <a:prstGeom prst="roundRect">
            <a:avLst>
              <a:gd name="adj" fmla="val 19048"/>
            </a:avLst>
          </a:prstGeom>
          <a:solidFill>
            <a:srgbClr val="FFFFFF"/>
          </a:solidFill>
          <a:ln w="9525">
            <a:solidFill>
              <a:srgbClr val="DCE1E7"/>
            </a:solidFill>
            <a:prstDash val="solid"/>
          </a:ln>
        </p:spPr>
      </p:sp>
      <p:sp>
        <p:nvSpPr>
          <p:cNvPr id="20" name="Text 16"/>
          <p:cNvSpPr txBox="1"/>
          <p:nvPr/>
        </p:nvSpPr>
        <p:spPr>
          <a:xfrm>
            <a:off x="731520" y="3438144"/>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Sales tax</a:t>
            </a:r>
            <a:endParaRPr lang="en-US" sz="1050" dirty="0"/>
          </a:p>
        </p:txBody>
      </p:sp>
      <p:sp>
        <p:nvSpPr>
          <p:cNvPr id="21" name="Text 17"/>
          <p:cNvSpPr txBox="1"/>
          <p:nvPr/>
        </p:nvSpPr>
        <p:spPr>
          <a:xfrm>
            <a:off x="1828800" y="3438144"/>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8%</a:t>
            </a:r>
            <a:endParaRPr lang="en-US" sz="1200" dirty="0"/>
          </a:p>
        </p:txBody>
      </p:sp>
      <p:sp>
        <p:nvSpPr>
          <p:cNvPr id="22" name="Shape 18"/>
          <p:cNvSpPr/>
          <p:nvPr/>
        </p:nvSpPr>
        <p:spPr>
          <a:xfrm>
            <a:off x="594360" y="3913632"/>
            <a:ext cx="2651760" cy="384048"/>
          </a:xfrm>
          <a:prstGeom prst="roundRect">
            <a:avLst>
              <a:gd name="adj" fmla="val 19048"/>
            </a:avLst>
          </a:prstGeom>
          <a:solidFill>
            <a:srgbClr val="F6F7F9"/>
          </a:solidFill>
          <a:ln w="9525">
            <a:solidFill>
              <a:srgbClr val="DCE1E7"/>
            </a:solidFill>
            <a:prstDash val="solid"/>
          </a:ln>
        </p:spPr>
      </p:sp>
      <p:sp>
        <p:nvSpPr>
          <p:cNvPr id="23" name="Text 19"/>
          <p:cNvSpPr txBox="1"/>
          <p:nvPr/>
        </p:nvSpPr>
        <p:spPr>
          <a:xfrm>
            <a:off x="731520" y="3913632"/>
            <a:ext cx="1188720" cy="384048"/>
          </a:xfrm>
          <a:prstGeom prst="rect">
            <a:avLst/>
          </a:prstGeom>
          <a:noFill/>
          <a:ln/>
        </p:spPr>
        <p:txBody>
          <a:bodyPr wrap="square" lIns="0" tIns="0" rIns="0" bIns="0" rtlCol="0" anchor="ctr"/>
          <a:lstStyle/>
          <a:p>
            <a:pPr indent="0" marL="0">
              <a:buNone/>
            </a:pPr>
            <a:r>
              <a:rPr lang="en-US" sz="1050" dirty="0">
                <a:solidFill>
                  <a:srgbClr val="6E6E73"/>
                </a:solidFill>
                <a:latin typeface="SF Pro Text" pitchFamily="34" charset="0"/>
                <a:ea typeface="SF Pro Text" pitchFamily="34" charset="-122"/>
                <a:cs typeface="SF Pro Text" pitchFamily="34" charset="-120"/>
              </a:rPr>
              <a:t>Credits</a:t>
            </a:r>
            <a:endParaRPr lang="en-US" sz="1050" dirty="0"/>
          </a:p>
        </p:txBody>
      </p:sp>
      <p:sp>
        <p:nvSpPr>
          <p:cNvPr id="24" name="Text 20"/>
          <p:cNvSpPr txBox="1"/>
          <p:nvPr/>
        </p:nvSpPr>
        <p:spPr>
          <a:xfrm>
            <a:off x="1828800" y="3913632"/>
            <a:ext cx="1325880" cy="384048"/>
          </a:xfrm>
          <a:prstGeom prst="rect">
            <a:avLst/>
          </a:prstGeom>
          <a:noFill/>
          <a:ln/>
        </p:spPr>
        <p:txBody>
          <a:bodyPr wrap="square" lIns="0" tIns="0" rIns="0" bIns="0" rtlCol="0" anchor="ctr"/>
          <a:lstStyle/>
          <a:p>
            <a:pPr algn="r" indent="0" marL="0">
              <a:buNone/>
            </a:pPr>
            <a:r>
              <a:rPr lang="en-US" sz="1200" b="1" dirty="0">
                <a:solidFill>
                  <a:srgbClr val="1D1D1F"/>
                </a:solidFill>
                <a:latin typeface="SF Pro Display" pitchFamily="34" charset="0"/>
                <a:ea typeface="SF Pro Display" pitchFamily="34" charset="-122"/>
                <a:cs typeface="SF Pro Display" pitchFamily="34" charset="-120"/>
              </a:rPr>
              <a:t>$12.00</a:t>
            </a:r>
            <a:endParaRPr lang="en-US" sz="1200" dirty="0"/>
          </a:p>
        </p:txBody>
      </p:sp>
      <p:sp>
        <p:nvSpPr>
          <p:cNvPr id="25" name="Shape 21"/>
          <p:cNvSpPr/>
          <p:nvPr/>
        </p:nvSpPr>
        <p:spPr>
          <a:xfrm>
            <a:off x="3611880" y="1280160"/>
            <a:ext cx="5120640" cy="457200"/>
          </a:xfrm>
          <a:prstGeom prst="roundRect">
            <a:avLst>
              <a:gd name="adj" fmla="val 20000"/>
            </a:avLst>
          </a:prstGeom>
          <a:solidFill>
            <a:srgbClr val="0B7A6F"/>
          </a:solidFill>
          <a:ln w="12700">
            <a:solidFill>
              <a:srgbClr val="0B7A6F"/>
            </a:solidFill>
            <a:prstDash val="solid"/>
          </a:ln>
        </p:spPr>
      </p:sp>
      <p:pic>
        <p:nvPicPr>
          <p:cNvPr id="26" name="Image 1" descr="preencoded.png">    </p:cNvPr>
          <p:cNvPicPr>
            <a:picLocks noChangeAspect="1"/>
          </p:cNvPicPr>
          <p:nvPr/>
        </p:nvPicPr>
        <p:blipFill>
          <a:blip r:embed="rId2"/>
          <a:stretch>
            <a:fillRect/>
          </a:stretch>
        </p:blipFill>
        <p:spPr>
          <a:xfrm>
            <a:off x="3794760" y="1399032"/>
            <a:ext cx="219456" cy="219456"/>
          </a:xfrm>
          <a:prstGeom prst="rect">
            <a:avLst/>
          </a:prstGeom>
        </p:spPr>
      </p:pic>
      <p:sp>
        <p:nvSpPr>
          <p:cNvPr id="27" name="Text 22"/>
          <p:cNvSpPr txBox="1"/>
          <p:nvPr/>
        </p:nvSpPr>
        <p:spPr>
          <a:xfrm>
            <a:off x="4114800" y="1280160"/>
            <a:ext cx="41148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28" name="Shape 23"/>
          <p:cNvSpPr/>
          <p:nvPr/>
        </p:nvSpPr>
        <p:spPr>
          <a:xfrm>
            <a:off x="3611880" y="1828800"/>
            <a:ext cx="5120640" cy="2834640"/>
          </a:xfrm>
          <a:prstGeom prst="roundRect">
            <a:avLst>
              <a:gd name="adj" fmla="val 2581"/>
            </a:avLst>
          </a:prstGeom>
          <a:solidFill>
            <a:srgbClr val="E3F4F1"/>
          </a:solidFill>
          <a:ln w="9525">
            <a:solidFill>
              <a:srgbClr val="E3F4F1"/>
            </a:solidFill>
            <a:prstDash val="solid"/>
          </a:ln>
        </p:spPr>
      </p:sp>
      <p:sp>
        <p:nvSpPr>
          <p:cNvPr id="29" name="revealAnswers"/>
          <p:cNvSpPr txBox="1"/>
          <p:nvPr/>
        </p:nvSpPr>
        <p:spPr>
          <a:xfrm>
            <a:off x="3794760" y="1965960"/>
            <a:ext cx="4754880" cy="2606040"/>
          </a:xfrm>
          <a:prstGeom prst="rect">
            <a:avLst/>
          </a:prstGeom>
          <a:noFill/>
          <a:ln/>
        </p:spPr>
        <p:txBody>
          <a:bodyPr wrap="square" lIns="0" tIns="0" rIns="0" bIns="0" rtlCol="0" anchor="t"/>
          <a:lstStyle/>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FC customer:  $65.63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2.5 hrs + 15%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Non-FC customer:  $101.40</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$15/hr platform fee) × 2.5 hrs + 5% processing fee + 8% tax − $12 credits</a:t>
            </a:r>
            <a:endParaRPr lang="en-US" sz="1250" dirty="0"/>
          </a:p>
          <a:p>
            <a:pPr indent="0" marL="0">
              <a:spcAft>
                <a:spcPts val="1000"/>
              </a:spcAft>
              <a:buNone/>
            </a:pPr>
            <a:r>
              <a:rPr lang="en-US" sz="1250" b="1" dirty="0">
                <a:solidFill>
                  <a:srgbClr val="0B7A6F"/>
                </a:solidFill>
                <a:latin typeface="SF Pro Display" pitchFamily="34" charset="0"/>
                <a:ea typeface="SF Pro Display" pitchFamily="34" charset="-122"/>
                <a:cs typeface="SF Pro Display" pitchFamily="34" charset="-120"/>
              </a:rPr>
              <a:t>Deactivated (cancelled) FC customer:  $143.93</a:t>
            </a:r>
            <a:br/>
            <a:pPr indent="0" marL="0">
              <a:spcAft>
                <a:spcPts val="1000"/>
              </a:spcAft>
              <a:buNone/>
            </a:pPr>
            <a:r>
              <a:rPr lang="en-US" sz="950" dirty="0">
                <a:solidFill>
                  <a:srgbClr val="1D1D1F"/>
                </a:solidFill>
                <a:latin typeface="SF Pro Text" pitchFamily="34" charset="0"/>
                <a:ea typeface="SF Pro Text" pitchFamily="34" charset="-122"/>
                <a:cs typeface="SF Pro Text" pitchFamily="34" charset="-120"/>
              </a:rPr>
              <a:t>($25/hr CP rate + $30/hr platform fee) × 2.5 hrs + 5% processing fee + 8% tax − $12 credits</a:t>
            </a:r>
            <a:endParaRPr lang="en-US" sz="1250" dirty="0"/>
          </a:p>
        </p:txBody>
      </p:sp>
      <p:sp>
        <p:nvSpPr>
          <p:cNvPr id="30" name="Text 25"/>
          <p:cNvSpPr txBox="1"/>
          <p:nvPr/>
        </p:nvSpPr>
        <p:spPr>
          <a:xfrm>
            <a:off x="594360" y="4389120"/>
            <a:ext cx="2743200" cy="201168"/>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Hint: take the voucher hours off the duration first.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6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xEl>
                                              <p:pRg st="1" end="1"/>
                                            </p:txEl>
                                          </p:spTgt>
                                        </p:tgtEl>
                                        <p:attrNameLst>
                                          <p:attrName>style.visibility</p:attrName>
                                        </p:attrNameLst>
                                      </p:cBhvr>
                                      <p:to>
                                        <p:strVal val="visible"/>
                                      </p:to>
                                    </p:set>
                                    <p:animEffect transition="in" filter="fade">
                                      <p:cBhvr>
                                        <p:cTn id="12" dur="600"/>
                                        <p:tgtEl>
                                          <p:spTgt spid="2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xEl>
                                              <p:pRg st="2" end="2"/>
                                            </p:txEl>
                                          </p:spTgt>
                                        </p:tgtEl>
                                        <p:attrNameLst>
                                          <p:attrName>style.visibility</p:attrName>
                                        </p:attrNameLst>
                                      </p:cBhvr>
                                      <p:to>
                                        <p:strVal val="visible"/>
                                      </p:to>
                                    </p:set>
                                    <p:animEffect transition="in" filter="fade">
                                      <p:cBhvr>
                                        <p:cTn id="17" dur="600"/>
                                        <p:tgtEl>
                                          <p:spTgt spid="2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Determine the CP pay in this scenario.</a:t>
            </a:r>
            <a:endParaRPr lang="en-US" sz="1200" dirty="0"/>
          </a:p>
        </p:txBody>
      </p:sp>
      <p:sp>
        <p:nvSpPr>
          <p:cNvPr id="6" name="Shape 3"/>
          <p:cNvSpPr/>
          <p:nvPr/>
        </p:nvSpPr>
        <p:spPr>
          <a:xfrm>
            <a:off x="411480" y="1234440"/>
            <a:ext cx="402336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66928" y="13533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45932" y="1432316"/>
            <a:ext cx="171176" cy="171176"/>
          </a:xfrm>
          <a:prstGeom prst="rect">
            <a:avLst/>
          </a:prstGeom>
        </p:spPr>
      </p:pic>
      <p:sp>
        <p:nvSpPr>
          <p:cNvPr id="9" name="Text 5"/>
          <p:cNvSpPr txBox="1"/>
          <p:nvPr/>
        </p:nvSpPr>
        <p:spPr>
          <a:xfrm>
            <a:off x="987552" y="1353312"/>
            <a:ext cx="2743200" cy="329184"/>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The job</a:t>
            </a:r>
            <a:endParaRPr lang="en-US" sz="1250" dirty="0"/>
          </a:p>
        </p:txBody>
      </p:sp>
      <p:sp>
        <p:nvSpPr>
          <p:cNvPr id="10" name="Text 6"/>
          <p:cNvSpPr txBox="1"/>
          <p:nvPr/>
        </p:nvSpPr>
        <p:spPr>
          <a:xfrm>
            <a:off x="566928"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Client  </a:t>
            </a:r>
            <a:pPr indent="0" marL="0">
              <a:buNone/>
            </a:pPr>
            <a:r>
              <a:rPr lang="en-US" sz="1100" b="1" dirty="0">
                <a:solidFill>
                  <a:srgbClr val="1D1D1F"/>
                </a:solidFill>
                <a:latin typeface="SF Pro Display" pitchFamily="34" charset="0"/>
                <a:ea typeface="SF Pro Display" pitchFamily="34" charset="-122"/>
                <a:cs typeface="SF Pro Display" pitchFamily="34" charset="-120"/>
              </a:rPr>
              <a:t>Repeat</a:t>
            </a:r>
            <a:endParaRPr lang="en-US" sz="900" dirty="0"/>
          </a:p>
        </p:txBody>
      </p:sp>
      <p:sp>
        <p:nvSpPr>
          <p:cNvPr id="11" name="Text 7"/>
          <p:cNvSpPr txBox="1"/>
          <p:nvPr/>
        </p:nvSpPr>
        <p:spPr>
          <a:xfrm>
            <a:off x="1828800"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Booked  </a:t>
            </a:r>
            <a:pPr indent="0" marL="0">
              <a:buNone/>
            </a:pPr>
            <a:r>
              <a:rPr lang="en-US" sz="1100" b="1" dirty="0">
                <a:solidFill>
                  <a:srgbClr val="1D1D1F"/>
                </a:solidFill>
                <a:latin typeface="SF Pro Display" pitchFamily="34" charset="0"/>
                <a:ea typeface="SF Pro Display" pitchFamily="34" charset="-122"/>
                <a:cs typeface="SF Pro Display" pitchFamily="34" charset="-120"/>
              </a:rPr>
              <a:t>5 hours</a:t>
            </a:r>
            <a:endParaRPr lang="en-US" sz="900" dirty="0"/>
          </a:p>
        </p:txBody>
      </p:sp>
      <p:sp>
        <p:nvSpPr>
          <p:cNvPr id="12" name="Text 8"/>
          <p:cNvSpPr txBox="1"/>
          <p:nvPr/>
        </p:nvSpPr>
        <p:spPr>
          <a:xfrm>
            <a:off x="3090672" y="178308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a:t>
            </a:r>
            <a:pPr indent="0" marL="0">
              <a:buNone/>
            </a:pPr>
            <a:r>
              <a:rPr lang="en-US" sz="1100" b="1" dirty="0">
                <a:solidFill>
                  <a:srgbClr val="1D1D1F"/>
                </a:solidFill>
                <a:latin typeface="SF Pro Display" pitchFamily="34" charset="0"/>
                <a:ea typeface="SF Pro Display" pitchFamily="34" charset="-122"/>
                <a:cs typeface="SF Pro Display" pitchFamily="34" charset="-120"/>
              </a:rPr>
              <a:t>3 hours</a:t>
            </a:r>
            <a:endParaRPr lang="en-US" sz="900" dirty="0"/>
          </a:p>
        </p:txBody>
      </p:sp>
      <p:sp>
        <p:nvSpPr>
          <p:cNvPr id="13" name="Text 9"/>
          <p:cNvSpPr txBox="1"/>
          <p:nvPr/>
        </p:nvSpPr>
        <p:spPr>
          <a:xfrm>
            <a:off x="566928"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Surge bonus  </a:t>
            </a:r>
            <a:pPr indent="0" marL="0">
              <a:buNone/>
            </a:pPr>
            <a:r>
              <a:rPr lang="en-US" sz="1100" b="1" dirty="0">
                <a:solidFill>
                  <a:srgbClr val="1D1D1F"/>
                </a:solidFill>
                <a:latin typeface="SF Pro Display" pitchFamily="34" charset="0"/>
                <a:ea typeface="SF Pro Display" pitchFamily="34" charset="-122"/>
                <a:cs typeface="SF Pro Display" pitchFamily="34" charset="-120"/>
              </a:rPr>
              <a:t>$12.50</a:t>
            </a:r>
            <a:endParaRPr lang="en-US" sz="900" dirty="0"/>
          </a:p>
        </p:txBody>
      </p:sp>
      <p:sp>
        <p:nvSpPr>
          <p:cNvPr id="14" name="Text 10"/>
          <p:cNvSpPr txBox="1"/>
          <p:nvPr/>
        </p:nvSpPr>
        <p:spPr>
          <a:xfrm>
            <a:off x="1828800" y="2194560"/>
            <a:ext cx="1234440" cy="365760"/>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Tip  </a:t>
            </a:r>
            <a:pPr indent="0" marL="0">
              <a:buNone/>
            </a:pPr>
            <a:r>
              <a:rPr lang="en-US" sz="1100" b="1" dirty="0">
                <a:solidFill>
                  <a:srgbClr val="1D1D1F"/>
                </a:solidFill>
                <a:latin typeface="SF Pro Display" pitchFamily="34" charset="0"/>
                <a:ea typeface="SF Pro Display" pitchFamily="34" charset="-122"/>
                <a:cs typeface="SF Pro Display" pitchFamily="34" charset="-120"/>
              </a:rPr>
              <a:t>$10.00</a:t>
            </a:r>
            <a:endParaRPr lang="en-US" sz="900" dirty="0"/>
          </a:p>
        </p:txBody>
      </p:sp>
      <p:sp>
        <p:nvSpPr>
          <p:cNvPr id="15" name="Shape 11"/>
          <p:cNvSpPr/>
          <p:nvPr/>
        </p:nvSpPr>
        <p:spPr>
          <a:xfrm>
            <a:off x="411480" y="2788920"/>
            <a:ext cx="19659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548640" y="2907792"/>
            <a:ext cx="411480" cy="411480"/>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2"/>
          <a:stretch>
            <a:fillRect/>
          </a:stretch>
        </p:blipFill>
        <p:spPr>
          <a:xfrm>
            <a:off x="647395" y="3006547"/>
            <a:ext cx="213970" cy="213970"/>
          </a:xfrm>
          <a:prstGeom prst="rect">
            <a:avLst/>
          </a:prstGeom>
        </p:spPr>
      </p:pic>
      <p:sp>
        <p:nvSpPr>
          <p:cNvPr id="18" name="Text 13"/>
          <p:cNvSpPr txBox="1"/>
          <p:nvPr/>
        </p:nvSpPr>
        <p:spPr>
          <a:xfrm>
            <a:off x="10515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Sarah</a:t>
            </a:r>
            <a:endParaRPr lang="en-US" sz="1250" dirty="0"/>
          </a:p>
        </p:txBody>
      </p:sp>
      <p:sp>
        <p:nvSpPr>
          <p:cNvPr id="19" name="Text 14"/>
          <p:cNvSpPr txBox="1"/>
          <p:nvPr/>
        </p:nvSpPr>
        <p:spPr>
          <a:xfrm>
            <a:off x="5486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CA/CA-WA Operating Model</a:t>
            </a:r>
            <a:endParaRPr lang="en-US" sz="900" dirty="0"/>
          </a:p>
        </p:txBody>
      </p:sp>
      <p:sp>
        <p:nvSpPr>
          <p:cNvPr id="20" name="Text 15"/>
          <p:cNvSpPr txBox="1"/>
          <p:nvPr/>
        </p:nvSpPr>
        <p:spPr>
          <a:xfrm>
            <a:off x="5486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$30.00/hr  first-time C/CP pair</a:t>
            </a:r>
            <a:endParaRPr lang="en-US" sz="900" dirty="0"/>
          </a:p>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$28.00/hr  repeat C/CP pair</a:t>
            </a:r>
            <a:endParaRPr lang="en-US" sz="900" dirty="0"/>
          </a:p>
        </p:txBody>
      </p:sp>
      <p:sp>
        <p:nvSpPr>
          <p:cNvPr id="21" name="Shape 16"/>
          <p:cNvSpPr/>
          <p:nvPr/>
        </p:nvSpPr>
        <p:spPr>
          <a:xfrm>
            <a:off x="2468880" y="2788920"/>
            <a:ext cx="1965960" cy="1920240"/>
          </a:xfrm>
          <a:prstGeom prst="roundRect">
            <a:avLst>
              <a:gd name="adj" fmla="val 3810"/>
            </a:avLst>
          </a:prstGeom>
          <a:solidFill>
            <a:srgbClr val="FFFFFF"/>
          </a:solidFill>
          <a:ln w="9525">
            <a:solidFill>
              <a:srgbClr val="DCE1E7"/>
            </a:solidFill>
            <a:prstDash val="solid"/>
          </a:ln>
        </p:spPr>
      </p:sp>
      <p:sp>
        <p:nvSpPr>
          <p:cNvPr id="22" name="Shape 17"/>
          <p:cNvSpPr/>
          <p:nvPr/>
        </p:nvSpPr>
        <p:spPr>
          <a:xfrm>
            <a:off x="2606040" y="2907792"/>
            <a:ext cx="411480" cy="411480"/>
          </a:xfrm>
          <a:prstGeom prst="ellipse">
            <a:avLst/>
          </a:prstGeom>
          <a:solidFill>
            <a:srgbClr val="E3F4F1"/>
          </a:solidFill>
          <a:ln w="12700">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2704795" y="3006547"/>
            <a:ext cx="213970" cy="213970"/>
          </a:xfrm>
          <a:prstGeom prst="rect">
            <a:avLst/>
          </a:prstGeom>
        </p:spPr>
      </p:pic>
      <p:sp>
        <p:nvSpPr>
          <p:cNvPr id="24" name="Text 18"/>
          <p:cNvSpPr txBox="1"/>
          <p:nvPr/>
        </p:nvSpPr>
        <p:spPr>
          <a:xfrm>
            <a:off x="3108960" y="2907792"/>
            <a:ext cx="1280160" cy="411480"/>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CP Gab</a:t>
            </a:r>
            <a:endParaRPr lang="en-US" sz="1250" dirty="0"/>
          </a:p>
        </p:txBody>
      </p:sp>
      <p:sp>
        <p:nvSpPr>
          <p:cNvPr id="25" name="Text 19"/>
          <p:cNvSpPr txBox="1"/>
          <p:nvPr/>
        </p:nvSpPr>
        <p:spPr>
          <a:xfrm>
            <a:off x="2606040" y="3401568"/>
            <a:ext cx="1737360" cy="274320"/>
          </a:xfrm>
          <a:prstGeom prst="rect">
            <a:avLst/>
          </a:prstGeom>
          <a:noFill/>
          <a:ln/>
        </p:spPr>
        <p:txBody>
          <a:bodyPr wrap="square" lIns="0" tIns="0" rIns="0" bIns="0" rtlCol="0" anchor="t"/>
          <a:lstStyle/>
          <a:p>
            <a:pPr indent="0" marL="0">
              <a:buNone/>
            </a:pPr>
            <a:r>
              <a:rPr lang="en-US" sz="900" b="1" dirty="0">
                <a:solidFill>
                  <a:srgbClr val="0B7A6F"/>
                </a:solidFill>
                <a:latin typeface="SF Pro Text" pitchFamily="34" charset="0"/>
                <a:ea typeface="SF Pro Text" pitchFamily="34" charset="-122"/>
                <a:cs typeface="SF Pro Text" pitchFamily="34" charset="-120"/>
              </a:rPr>
              <a:t>General Operating Model</a:t>
            </a:r>
            <a:endParaRPr lang="en-US" sz="900" dirty="0"/>
          </a:p>
        </p:txBody>
      </p:sp>
      <p:sp>
        <p:nvSpPr>
          <p:cNvPr id="26" name="Text 20"/>
          <p:cNvSpPr txBox="1"/>
          <p:nvPr/>
        </p:nvSpPr>
        <p:spPr>
          <a:xfrm>
            <a:off x="2606040" y="3703320"/>
            <a:ext cx="1737360" cy="914400"/>
          </a:xfrm>
          <a:prstGeom prst="rect">
            <a:avLst/>
          </a:prstGeom>
          <a:noFill/>
          <a:ln/>
        </p:spPr>
        <p:txBody>
          <a:bodyPr wrap="square" lIns="0" tIns="0" rIns="0" bIns="0" rtlCol="0" anchor="t"/>
          <a:lstStyle/>
          <a:p>
            <a:pPr indent="0" marL="0">
              <a:spcAft>
                <a:spcPts val="400"/>
              </a:spcAft>
              <a:buNone/>
            </a:pPr>
            <a:r>
              <a:rPr lang="en-US" sz="900" dirty="0">
                <a:solidFill>
                  <a:srgbClr val="1D1D1F"/>
                </a:solidFill>
                <a:latin typeface="SF Pro Text" pitchFamily="34" charset="0"/>
                <a:ea typeface="SF Pro Text" pitchFamily="34" charset="-122"/>
                <a:cs typeface="SF Pro Text" pitchFamily="34" charset="-120"/>
              </a:rPr>
              <a:t>$24.00/hr  one rate</a:t>
            </a:r>
            <a:endParaRPr lang="en-US" sz="900" dirty="0"/>
          </a:p>
        </p:txBody>
      </p:sp>
      <p:sp>
        <p:nvSpPr>
          <p:cNvPr id="27" name="Shape 21"/>
          <p:cNvSpPr/>
          <p:nvPr/>
        </p:nvSpPr>
        <p:spPr>
          <a:xfrm>
            <a:off x="4572000" y="1234440"/>
            <a:ext cx="4160520" cy="457200"/>
          </a:xfrm>
          <a:prstGeom prst="roundRect">
            <a:avLst>
              <a:gd name="adj" fmla="val 20000"/>
            </a:avLst>
          </a:prstGeom>
          <a:solidFill>
            <a:srgbClr val="0B7A6F"/>
          </a:solidFill>
          <a:ln w="12700">
            <a:solidFill>
              <a:srgbClr val="0B7A6F"/>
            </a:solidFill>
            <a:prstDash val="solid"/>
          </a:ln>
        </p:spPr>
      </p:sp>
      <p:pic>
        <p:nvPicPr>
          <p:cNvPr id="28" name="Image 3" descr="preencoded.png">    </p:cNvPr>
          <p:cNvPicPr>
            <a:picLocks noChangeAspect="1"/>
          </p:cNvPicPr>
          <p:nvPr/>
        </p:nvPicPr>
        <p:blipFill>
          <a:blip r:embed="rId4"/>
          <a:stretch>
            <a:fillRect/>
          </a:stretch>
        </p:blipFill>
        <p:spPr>
          <a:xfrm>
            <a:off x="4754880" y="1353312"/>
            <a:ext cx="219456" cy="219456"/>
          </a:xfrm>
          <a:prstGeom prst="rect">
            <a:avLst/>
          </a:prstGeom>
        </p:spPr>
      </p:pic>
      <p:sp>
        <p:nvSpPr>
          <p:cNvPr id="29" name="Text 22"/>
          <p:cNvSpPr txBox="1"/>
          <p:nvPr/>
        </p:nvSpPr>
        <p:spPr>
          <a:xfrm>
            <a:off x="5074920" y="1234440"/>
            <a:ext cx="347472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Answers</a:t>
            </a:r>
            <a:endParaRPr lang="en-US" sz="1300" dirty="0"/>
          </a:p>
        </p:txBody>
      </p:sp>
      <p:sp>
        <p:nvSpPr>
          <p:cNvPr id="30" name="Shape 23"/>
          <p:cNvSpPr/>
          <p:nvPr/>
        </p:nvSpPr>
        <p:spPr>
          <a:xfrm>
            <a:off x="4572000" y="1783080"/>
            <a:ext cx="4160520" cy="2926080"/>
          </a:xfrm>
          <a:prstGeom prst="roundRect">
            <a:avLst>
              <a:gd name="adj" fmla="val 2500"/>
            </a:avLst>
          </a:prstGeom>
          <a:solidFill>
            <a:srgbClr val="E3F4F1"/>
          </a:solidFill>
          <a:ln w="9525">
            <a:solidFill>
              <a:srgbClr val="E3F4F1"/>
            </a:solidFill>
            <a:prstDash val="solid"/>
          </a:ln>
        </p:spPr>
      </p:sp>
      <p:sp>
        <p:nvSpPr>
          <p:cNvPr id="31" name="revealCpPay"/>
          <p:cNvSpPr txBox="1"/>
          <p:nvPr/>
        </p:nvSpPr>
        <p:spPr>
          <a:xfrm>
            <a:off x="4754880" y="1920240"/>
            <a:ext cx="3794760" cy="2697480"/>
          </a:xfrm>
          <a:prstGeom prst="rect">
            <a:avLst/>
          </a:prstGeom>
          <a:noFill/>
          <a:ln/>
        </p:spPr>
        <p:txBody>
          <a:bodyPr wrap="square" lIns="0" tIns="0" rIns="0" bIns="0" rtlCol="0" anchor="t"/>
          <a:lstStyle/>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Sarah:  $162.50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$28/hr repeat rate × 5 hrs + $12.50 surge bonus + $10.00 tip</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CP Gab:  $142.50</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$24/hr × 5 hrs + $12.50 surge bonus + $10.00 tip (repeat client, so no $5 match fee)</a:t>
            </a:r>
            <a:endParaRPr lang="en-US" sz="1250" dirty="0"/>
          </a:p>
          <a:p>
            <a:pPr indent="0" marL="0">
              <a:spcAft>
                <a:spcPts val="1200"/>
              </a:spcAft>
              <a:buNone/>
            </a:pPr>
            <a:r>
              <a:rPr lang="en-US" sz="1250" b="1" dirty="0">
                <a:solidFill>
                  <a:srgbClr val="0B7A6F"/>
                </a:solidFill>
                <a:latin typeface="SF Pro Display" pitchFamily="34" charset="0"/>
                <a:ea typeface="SF Pro Display" pitchFamily="34" charset="-122"/>
                <a:cs typeface="SF Pro Display" pitchFamily="34" charset="-120"/>
              </a:rPr>
              <a:t>Key point</a:t>
            </a:r>
            <a:br/>
            <a:pPr indent="0" marL="0">
              <a:spcAft>
                <a:spcPts val="1200"/>
              </a:spcAft>
              <a:buNone/>
            </a:pPr>
            <a:r>
              <a:rPr lang="en-US" sz="950" dirty="0">
                <a:solidFill>
                  <a:srgbClr val="1D1D1F"/>
                </a:solidFill>
                <a:latin typeface="SF Pro Text" pitchFamily="34" charset="0"/>
                <a:ea typeface="SF Pro Text" pitchFamily="34" charset="-122"/>
                <a:cs typeface="SF Pro Text" pitchFamily="34" charset="-120"/>
              </a:rPr>
              <a:t>The 3-hour voucher only lowers what the customer pays. The cleaner is still paid for all 5 hours.</a:t>
            </a:r>
            <a:endParaRPr lang="en-US" sz="12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animEffect transition="in" filter="fade">
                                      <p:cBhvr>
                                        <p:cTn id="7" dur="600"/>
                                        <p:tgtEl>
                                          <p:spTgt spid="3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xEl>
                                              <p:pRg st="1" end="1"/>
                                            </p:txEl>
                                          </p:spTgt>
                                        </p:tgtEl>
                                        <p:attrNameLst>
                                          <p:attrName>style.visibility</p:attrName>
                                        </p:attrNameLst>
                                      </p:cBhvr>
                                      <p:to>
                                        <p:strVal val="visible"/>
                                      </p:to>
                                    </p:set>
                                    <p:animEffect transition="in" filter="fade">
                                      <p:cBhvr>
                                        <p:cTn id="12" dur="600"/>
                                        <p:tgtEl>
                                          <p:spTgt spid="3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xEl>
                                              <p:pRg st="2" end="2"/>
                                            </p:txEl>
                                          </p:spTgt>
                                        </p:tgtEl>
                                        <p:attrNameLst>
                                          <p:attrName>style.visibility</p:attrName>
                                        </p:attrNameLst>
                                      </p:cBhvr>
                                      <p:to>
                                        <p:strVal val="visible"/>
                                      </p:to>
                                    </p:set>
                                    <p:animEffect transition="in" filter="fade">
                                      <p:cBhvr>
                                        <p:cTn id="17" dur="600"/>
                                        <p:tgtEl>
                                          <p:spTgt spid="3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2026-10-02T13:53:03Z</dcterms:created>
  <dcterms:modified xsi:type="dcterms:W3CDTF">2026-10-02T13:53:03Z</dcterms:modified>
</cp:coreProperties>
</file>