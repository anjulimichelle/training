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job history page ("Select job history to change"). The numbered columns are the ones CS reads; they are explained on the next slide. The first column (ID) is the action ID, used by product or support to edit the action in Django; CS doesn't use it. Customer and cleaner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Start: basically, the job start time and date at the time the action was made. Job Start After Action: the job start time after the action was made. Action On: the time the action was taken. Job Status Before Action: the status of the job before the action was taken. Actor: the one who took the action; it can be the C, CP, CS, or system. Action: the action taken on the job; actions are written in a very self-explanatory manner. Comment: logs any essential detail about the action. The first column (ID) is the action ID, mostly used by product or support to edit the action in Django; CS doesn't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9-1.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each column</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action on the job, newest at the top. Read it from the bottom up.</a:t>
            </a:r>
            <a:endParaRPr lang="en-US" sz="1200" dirty="0"/>
          </a:p>
        </p:txBody>
      </p:sp>
      <p:sp>
        <p:nvSpPr>
          <p:cNvPr id="6" name="Shape 3"/>
          <p:cNvSpPr/>
          <p:nvPr/>
        </p:nvSpPr>
        <p:spPr>
          <a:xfrm>
            <a:off x="411480" y="1188720"/>
            <a:ext cx="7726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727862" y="1261872"/>
            <a:ext cx="7093915" cy="3374136"/>
          </a:xfrm>
          <a:prstGeom prst="rect">
            <a:avLst/>
          </a:prstGeom>
        </p:spPr>
      </p:pic>
      <p:sp>
        <p:nvSpPr>
          <p:cNvPr id="8" name="Shape 4"/>
          <p:cNvSpPr/>
          <p:nvPr/>
        </p:nvSpPr>
        <p:spPr>
          <a:xfrm>
            <a:off x="1232611" y="1711757"/>
            <a:ext cx="658368" cy="104242"/>
          </a:xfrm>
          <a:prstGeom prst="roundRect">
            <a:avLst>
              <a:gd name="adj" fmla="val 26316"/>
            </a:avLst>
          </a:prstGeom>
          <a:ln w="25400">
            <a:solidFill>
              <a:srgbClr val="0B7A6F"/>
            </a:solidFill>
            <a:prstDash val="solid"/>
          </a:ln>
        </p:spPr>
      </p:sp>
      <p:sp>
        <p:nvSpPr>
          <p:cNvPr id="9" name="Shape 5"/>
          <p:cNvSpPr/>
          <p:nvPr/>
        </p:nvSpPr>
        <p:spPr>
          <a:xfrm>
            <a:off x="1132027" y="1611173"/>
            <a:ext cx="201168" cy="201168"/>
          </a:xfrm>
          <a:prstGeom prst="ellipse">
            <a:avLst/>
          </a:prstGeom>
          <a:solidFill>
            <a:srgbClr val="0B7A6F"/>
          </a:solidFill>
          <a:ln w="12700">
            <a:solidFill>
              <a:srgbClr val="FFFFFF"/>
            </a:solidFill>
            <a:prstDash val="solid"/>
          </a:ln>
        </p:spPr>
      </p:sp>
      <p:sp>
        <p:nvSpPr>
          <p:cNvPr id="10" name="Text 6"/>
          <p:cNvSpPr txBox="1"/>
          <p:nvPr/>
        </p:nvSpPr>
        <p:spPr>
          <a:xfrm>
            <a:off x="1132027"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29384" y="1711757"/>
            <a:ext cx="625450" cy="104242"/>
          </a:xfrm>
          <a:prstGeom prst="roundRect">
            <a:avLst>
              <a:gd name="adj" fmla="val 26316"/>
            </a:avLst>
          </a:prstGeom>
          <a:ln w="25400">
            <a:solidFill>
              <a:srgbClr val="0B7A6F"/>
            </a:solidFill>
            <a:prstDash val="solid"/>
          </a:ln>
        </p:spPr>
      </p:sp>
      <p:sp>
        <p:nvSpPr>
          <p:cNvPr id="12" name="Shape 8"/>
          <p:cNvSpPr/>
          <p:nvPr/>
        </p:nvSpPr>
        <p:spPr>
          <a:xfrm>
            <a:off x="1828800" y="1611173"/>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28800"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604211" y="1711757"/>
            <a:ext cx="318211" cy="104242"/>
          </a:xfrm>
          <a:prstGeom prst="roundRect">
            <a:avLst>
              <a:gd name="adj" fmla="val 26316"/>
            </a:avLst>
          </a:prstGeom>
          <a:ln w="25400">
            <a:solidFill>
              <a:srgbClr val="0B7A6F"/>
            </a:solidFill>
            <a:prstDash val="solid"/>
          </a:ln>
        </p:spPr>
      </p:sp>
      <p:sp>
        <p:nvSpPr>
          <p:cNvPr id="15" name="Shape 11"/>
          <p:cNvSpPr/>
          <p:nvPr/>
        </p:nvSpPr>
        <p:spPr>
          <a:xfrm>
            <a:off x="2503627" y="161117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503627"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262579" y="1711757"/>
            <a:ext cx="691286" cy="104242"/>
          </a:xfrm>
          <a:prstGeom prst="roundRect">
            <a:avLst>
              <a:gd name="adj" fmla="val 26316"/>
            </a:avLst>
          </a:prstGeom>
          <a:ln w="25400">
            <a:solidFill>
              <a:srgbClr val="0B7A6F"/>
            </a:solidFill>
            <a:prstDash val="solid"/>
          </a:ln>
        </p:spPr>
      </p:sp>
      <p:sp>
        <p:nvSpPr>
          <p:cNvPr id="18" name="Shape 14"/>
          <p:cNvSpPr/>
          <p:nvPr/>
        </p:nvSpPr>
        <p:spPr>
          <a:xfrm>
            <a:off x="3161995" y="1611173"/>
            <a:ext cx="201168" cy="201168"/>
          </a:xfrm>
          <a:prstGeom prst="ellipse">
            <a:avLst/>
          </a:prstGeom>
          <a:solidFill>
            <a:srgbClr val="0B7A6F"/>
          </a:solidFill>
          <a:ln w="12700">
            <a:solidFill>
              <a:srgbClr val="FFFFFF"/>
            </a:solidFill>
            <a:prstDash val="solid"/>
          </a:ln>
        </p:spPr>
      </p:sp>
      <p:sp>
        <p:nvSpPr>
          <p:cNvPr id="19" name="Text 15"/>
          <p:cNvSpPr txBox="1"/>
          <p:nvPr/>
        </p:nvSpPr>
        <p:spPr>
          <a:xfrm>
            <a:off x="3161995"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3986784" y="1711757"/>
            <a:ext cx="219456" cy="104242"/>
          </a:xfrm>
          <a:prstGeom prst="roundRect">
            <a:avLst>
              <a:gd name="adj" fmla="val 26316"/>
            </a:avLst>
          </a:prstGeom>
          <a:ln w="25400">
            <a:solidFill>
              <a:srgbClr val="0B7A6F"/>
            </a:solidFill>
            <a:prstDash val="solid"/>
          </a:ln>
        </p:spPr>
      </p:sp>
      <p:sp>
        <p:nvSpPr>
          <p:cNvPr id="21" name="Shape 17"/>
          <p:cNvSpPr/>
          <p:nvPr/>
        </p:nvSpPr>
        <p:spPr>
          <a:xfrm>
            <a:off x="3886200" y="1611173"/>
            <a:ext cx="201168" cy="201168"/>
          </a:xfrm>
          <a:prstGeom prst="ellipse">
            <a:avLst/>
          </a:prstGeom>
          <a:solidFill>
            <a:srgbClr val="0B7A6F"/>
          </a:solidFill>
          <a:ln w="12700">
            <a:solidFill>
              <a:srgbClr val="FFFFFF"/>
            </a:solidFill>
            <a:prstDash val="solid"/>
          </a:ln>
        </p:spPr>
      </p:sp>
      <p:sp>
        <p:nvSpPr>
          <p:cNvPr id="22" name="Text 18"/>
          <p:cNvSpPr txBox="1"/>
          <p:nvPr/>
        </p:nvSpPr>
        <p:spPr>
          <a:xfrm>
            <a:off x="3886200"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4244645" y="1711757"/>
            <a:ext cx="323698" cy="104242"/>
          </a:xfrm>
          <a:prstGeom prst="roundRect">
            <a:avLst>
              <a:gd name="adj" fmla="val 26316"/>
            </a:avLst>
          </a:prstGeom>
          <a:ln w="25400">
            <a:solidFill>
              <a:srgbClr val="0B7A6F"/>
            </a:solidFill>
            <a:prstDash val="solid"/>
          </a:ln>
        </p:spPr>
      </p:sp>
      <p:sp>
        <p:nvSpPr>
          <p:cNvPr id="24" name="Shape 20"/>
          <p:cNvSpPr/>
          <p:nvPr/>
        </p:nvSpPr>
        <p:spPr>
          <a:xfrm>
            <a:off x="4144061" y="1611173"/>
            <a:ext cx="201168" cy="201168"/>
          </a:xfrm>
          <a:prstGeom prst="ellipse">
            <a:avLst/>
          </a:prstGeom>
          <a:solidFill>
            <a:srgbClr val="0B7A6F"/>
          </a:solidFill>
          <a:ln w="12700">
            <a:solidFill>
              <a:srgbClr val="FFFFFF"/>
            </a:solidFill>
            <a:prstDash val="solid"/>
          </a:ln>
        </p:spPr>
      </p:sp>
      <p:sp>
        <p:nvSpPr>
          <p:cNvPr id="25" name="Text 21"/>
          <p:cNvSpPr txBox="1"/>
          <p:nvPr/>
        </p:nvSpPr>
        <p:spPr>
          <a:xfrm>
            <a:off x="4144061"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6987845" y="1711757"/>
            <a:ext cx="301752" cy="104242"/>
          </a:xfrm>
          <a:prstGeom prst="roundRect">
            <a:avLst>
              <a:gd name="adj" fmla="val 26316"/>
            </a:avLst>
          </a:prstGeom>
          <a:ln w="25400">
            <a:solidFill>
              <a:srgbClr val="0B7A6F"/>
            </a:solidFill>
            <a:prstDash val="solid"/>
          </a:ln>
        </p:spPr>
      </p:sp>
      <p:sp>
        <p:nvSpPr>
          <p:cNvPr id="27" name="Shape 23"/>
          <p:cNvSpPr/>
          <p:nvPr/>
        </p:nvSpPr>
        <p:spPr>
          <a:xfrm>
            <a:off x="6887261" y="1611173"/>
            <a:ext cx="201168" cy="201168"/>
          </a:xfrm>
          <a:prstGeom prst="ellipse">
            <a:avLst/>
          </a:prstGeom>
          <a:solidFill>
            <a:srgbClr val="0B7A6F"/>
          </a:solidFill>
          <a:ln w="12700">
            <a:solidFill>
              <a:srgbClr val="FFFFFF"/>
            </a:solidFill>
            <a:prstDash val="solid"/>
          </a:ln>
        </p:spPr>
      </p:sp>
      <p:sp>
        <p:nvSpPr>
          <p:cNvPr id="28" name="Text 24"/>
          <p:cNvSpPr txBox="1"/>
          <p:nvPr/>
        </p:nvSpPr>
        <p:spPr>
          <a:xfrm>
            <a:off x="6887261"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7</a:t>
            </a:r>
            <a:endParaRPr lang="en-US" sz="800" dirty="0"/>
          </a:p>
        </p:txBody>
      </p:sp>
      <p:pic>
        <p:nvPicPr>
          <p:cNvPr id="29" name="Image 1" descr="preencoded.png">    </p:cNvPr>
          <p:cNvPicPr>
            <a:picLocks noChangeAspect="1"/>
          </p:cNvPicPr>
          <p:nvPr/>
        </p:nvPicPr>
        <p:blipFill>
          <a:blip r:embed="rId2"/>
          <a:stretch>
            <a:fillRect/>
          </a:stretch>
        </p:blipFill>
        <p:spPr>
          <a:xfrm>
            <a:off x="8321040" y="2011680"/>
            <a:ext cx="274320" cy="1463040"/>
          </a:xfrm>
          <a:prstGeom prst="rect">
            <a:avLst/>
          </a:prstGeom>
        </p:spPr>
      </p:pic>
      <p:sp>
        <p:nvSpPr>
          <p:cNvPr id="30" name="Text 25"/>
          <p:cNvSpPr txBox="1"/>
          <p:nvPr/>
        </p:nvSpPr>
        <p:spPr>
          <a:xfrm>
            <a:off x="8183880" y="3566160"/>
            <a:ext cx="594360" cy="640080"/>
          </a:xfrm>
          <a:prstGeom prst="rect">
            <a:avLst/>
          </a:prstGeom>
          <a:noFill/>
          <a:ln/>
        </p:spPr>
        <p:txBody>
          <a:bodyPr wrap="square" lIns="0" tIns="0" rIns="0" bIns="0" rtlCol="0" anchor="t"/>
          <a:lstStyle/>
          <a:p>
            <a:pPr algn="ctr" indent="0" marL="0">
              <a:buNone/>
            </a:pPr>
            <a:r>
              <a:rPr lang="en-US" sz="800" b="1" dirty="0">
                <a:solidFill>
                  <a:srgbClr val="0B7A6F"/>
                </a:solidFill>
                <a:latin typeface="SF Pro Text" pitchFamily="34" charset="0"/>
                <a:ea typeface="SF Pro Text" pitchFamily="34" charset="-122"/>
                <a:cs typeface="SF Pro Text" pitchFamily="34" charset="-120"/>
              </a:rPr>
              <a:t>Read</a:t>
            </a:r>
            <a:endParaRPr lang="en-US" sz="800" dirty="0"/>
          </a:p>
          <a:p>
            <a:pPr algn="ctr" indent="0" marL="0">
              <a:buNone/>
            </a:pPr>
            <a:r>
              <a:rPr lang="en-US" sz="800" b="1" dirty="0">
                <a:solidFill>
                  <a:srgbClr val="0B7A6F"/>
                </a:solidFill>
                <a:latin typeface="SF Pro Text" pitchFamily="34" charset="0"/>
                <a:ea typeface="SF Pro Text" pitchFamily="34" charset="-122"/>
                <a:cs typeface="SF Pro Text" pitchFamily="34" charset="-120"/>
              </a:rPr>
              <a:t>bottom</a:t>
            </a:r>
            <a:endParaRPr lang="en-US" sz="800" dirty="0"/>
          </a:p>
          <a:p>
            <a:pPr algn="ctr" indent="0" marL="0">
              <a:buNone/>
            </a:pPr>
            <a:r>
              <a:rPr lang="en-US" sz="800" b="1" dirty="0">
                <a:solidFill>
                  <a:srgbClr val="0B7A6F"/>
                </a:solidFill>
                <a:latin typeface="SF Pro Text" pitchFamily="34" charset="0"/>
                <a:ea typeface="SF Pro Text" pitchFamily="34" charset="-122"/>
                <a:cs typeface="SF Pro Text" pitchFamily="34" charset="-120"/>
              </a:rPr>
              <a:t>to top</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read each column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numbers match the columns on the previous slide.</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457200"/>
                <a:gridCol w="2286000"/>
                <a:gridCol w="5577840"/>
              </a:tblGrid>
              <a:tr h="36576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Column</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it tells you</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1</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Start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start date and time at the time the action was made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Start After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start time after the action was made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3</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Action 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When the action was taken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Status Before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status before the action was taken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5</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Actor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took the action: the C, CP, CS, or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6</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was done. Written to be self-explanatory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7</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Comment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Any important detail about the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Skip the ID column:  </a:t>
            </a:r>
            <a:pPr indent="0" marL="0">
              <a:buNone/>
            </a:pPr>
            <a:r>
              <a:rPr lang="en-US" sz="1000" dirty="0">
                <a:solidFill>
                  <a:srgbClr val="1D1D1F"/>
                </a:solidFill>
                <a:latin typeface="SF Pro Text" pitchFamily="34" charset="0"/>
                <a:ea typeface="SF Pro Text" pitchFamily="34" charset="-122"/>
                <a:cs typeface="SF Pro Text" pitchFamily="34" charset="-120"/>
              </a:rPr>
              <a:t>the action ID is for product and support (Django edits), not CS.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storyText"/>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2026-10-01T20:07:08Z</dcterms:created>
  <dcterms:modified xsi:type="dcterms:W3CDTF">2026-10-01T20:07:08Z</dcterms:modified>
</cp:coreProperties>
</file>