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Understanding Job History, Callback Handling, and C Price vs CP Pay. More topics will be added to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times we can't tell the full story of what happened to a job from the C/CP comms alone. The job history records every change made to the job, so we can understand how its status changed and what caused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instances where we cannot tell the full story of what happened to the job if we solely refer to the C/CP comms. The job history records any changes done within the job, so we can understand how the job status changed and what caused it. Check the job history whenever you're investigating a particular job, so you give the correct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customer's page in the New C CRM, every job in the jobs panels (Claimed &amp; Submitted, Completed Jobs and so on) has a small ⓘ icon next to the job ID. Clicking it opens that job's history. Names in the screenshot are sample training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job history page ("Select job history to change"). The numbered columns are the ones CS reads; they are explained on the next slide. The first column (ID) is the action ID, used by product or support to edit the action in Django; CS doesn't use it. Customer and cleaner names are sample training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Job Start: basically, the job start time and date at the time the action was made. Job Start After Action: the job start time after the action was made. Action On: the time the action was taken. Job Status Before Action: the status of the job before the action was taken. Actor: the one who took the action; it can be the C, CP, CS, or system. Action: the action taken on the job; actions are written in a very self-explanatory manner. Comment: logs any essential detail about the action. The first column (ID) is the action ID, mostly used by product or support to edit the action in Django; CS doesn't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job history from bottom to top. Dates and times are in CT (Central Time): our system time is CT, and customers may be in a different time zone. The time formula in the upper-left corner of the CRM helps you convert (e.g. PDT -2, MDT -1, CDT 0, EDT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to top: Sep 7, 10:35 AM: the system booked the job for Sep 21 at 10 AM (comment: populate_recurring_contract); status submitted. Sep 14, 2:29 PM: the cleaner claimed it. Sep 21, 9:19 AM: the cleaner rescheduled it from Sep 21, 10 AM to Sep 22, 11 AM. Sep 21, 9:50 AM: the cleaner rescheduled again, from Sep 22, 11 AM to Sep 24, 12:30 PM. Sep 24, 4:09 PM: the cleaner invoiced the job (status before: pending_invoice), and the system logged the invoice snapshot. Article example for reference: On Oct 9 at 7 PM, CS booked a cleaning via CRM for Oct 10 at 11 AM. Around 8:42 PM on the same day, CP Victor claimed the appointment. On Oct 11 at 2:03 PM, the CP invoiced the job, and the system logged it to the snapshot.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NOTE: Open the practice job history during the slideshow using the button (https://www.homeaglow.com/nocm/homeaglow/jobhistory/?job=12685237). Give trainees time to answer, then go through the answers together, row by row from the bottom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don't have inbound phone support, but outbound calls are a tool we use whenever a customer asks for one, or when something needs an immediate answer (like confirming a double-booking). Category: Platform &amp; Operating Mechanics.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Do: if a customer requests a callback within business hours (8 AM - 8 PM, customer local time), call them right away. No LTV risk or escalation is needed to justify it; the request is enough. Why: the customer's preferred communication method is respected regardless of how serious the ticket looks, and consistent steps (timed reminders, endorsement) keep a promised callback from falling through between shifts. Outbound calls are also used when something needs an immediate answer, like confirming a double-booking.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did the customer request a callback? If not, this article doesn't apply; handle the ticket through normal channels. Step 2: within business hours (8 AM-8 PM customer local time)? Yes: attempt to call. No: address the concern via email and ask for their availability for a callback. Step 3: attempt to call up to 3 times, in this order: Primary CRM, then Google Voice, then Secondary CRM.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Answered: attempt to resolve the issue on the call, send an email summary of what was discussed/resolved, and log an internal note about the conversation (calls are not recorded, so the next agents need to know what happened). Not answered: address the concern via email and ask for their availability for a callback. Voicemail: leave a voicemail if applicable, send email + SMS, then apply the 10-minute buffer rule: after sending the SMS, wait 10 minutes and check the ticket again. If the customer replies asking for an immediate callback, call right away, buffer or not. The buffer exists so we don't call back-to-back with no sign the customer has seen our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customer provides availability, create a timed reminder assigned to "Any CS". If you're on shift at the scheduled time: set a calendar reminder and include the ticket link in the invite so you can jump straight back in. If you're not on shift: log the ticket in the Callback Requests Tracker (Google Sheet). This two-path structure keeps a promised callback from getting lost across a shift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Sample email if outside business hours: "Hi &lt;&lt;Name&gt;&gt;, I'd be happy to hop on a call to discuss this with you. Please let me know what days and times generally work best for this week. In the meantime, I pulled up your account and &lt;&lt;address surface-level issues/resolutions&gt;&gt;. &lt;&lt;If applicable&gt;&gt; Let me know if that fully resolves your concerns! Otherwise, just reply with your availability and I'll get you scheduled." Sample text if a callback attempt was missed: "This is &lt;&lt;Name&gt;&gt; from Homeaglow. I tried calling but it went to voicemail — no worries, I've already addressed your concern over email. If you'd still like to hop on a call, just text me back with your availability and we'll set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customer's price includes platform fees and taxes that don't go to the CP. The CP's pay depends on their own hourly rate and their operating model. Billing disputes are some of the most common tickets, and this is the formula reference behind Overcharged Hours, False Invoice and ETF calculations.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price includes platform fees and taxes that don't go to the CP. CP pay depends on the CP's own hourly rate and operating model. Billing disputes are among the most common tickets; this is the formula reference that Overcharged Hours, False Invoice and ETF calculations draw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Non-FC customer: $15.00/hr platform fee, 5% processing fee, sales tax varies by state. FC customer: no platform fee, 15% processing fee, sales tax varies. Deactivated FC customer: $30.00/hr platform fee, 5% processing fee, sales tax varies.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Cleaning Price = (CP Hourly Rate + Platform Hourly Rate) x Job Duration + Processing Fee + Sales Tax + Premium Fee. If the customer has an active voucher, voucher hours are deducted from the job duration before this calculation runs. If they have active credits, those are subtracted from the final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CA/CAWA: CP's hourly rate x duration + tips + surge bonus, for first-time and repeat clients. General: first-time client (CP's hourly rate - $5.00 match fee) x duration + tips + surge bonus; repeat client CP's hourly rate x duration + tips + surge bonus. Key point: Homeaglow pays the CP directly via direct deposit regardless of whether the customer's own charge succeeds; a failed card, voucher or credits never affects CP pay. Tips: 100% go to the CP. Surge bonus: an extra $1-$50 Homeaglow may pay on certain jobs upon invoicing, positioned to CPs as "Homeaglow is especially busy."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FC, General, first C/CP pairing: customer pays the CP's rate; the platform fee line is the $5/hr marketing fee deducted from the cleaner's pay, not an extra cost to the customer. FC, General, repeat pairing: nothing. FC, CA/CAWA, CP sets different first and repeat rates: customer pays the higher of the two whichever pairing it is; the line is the difference; the CP is paid their applicable rate and the difference goes to Homeaglow. FC, CA/CAWA, one rate: nothing. Non-FC or deactivated FC: customer pays the max CP rate, not the CP's actual rate; the line is the cohort platform fee ($15/hr non-FC, $30/hr deactivated FC) plus the gap between max rate and the CP's actual rate. Why the models differ: no marketing fee in CA/CAWA (state regulation); in exchange CPs may set separate first-pairing and repeat rates and we charge the higher.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Deactivated-FC customer, max rate $25, claiming CP's rate $15, platform fee shows $40/hr. That is the $30/hr deactivated-FC platform fee plus the $10/hr gap. The charge is correct: do not reprice it and do not refund the difference. Max rate behaves differently by membership: FC customers have a max rate too, but are charged the CP's actual rate; non-FC and deactivated-FC customers are charged the max rate while the CP is paid their own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non-FC customers, pricing follows the highest hourly rate among all the CPs they requested, not whichever CP claims. Example: the customer requests Mona ($25/hr), Cassandra ($30/hr) and Yolanda ($23/hr); the max requested rate is $30/hr. If a requested CP claims (say Mona), the customer is charged Mona's actual rate ($25/hr). If a non-requested CP claims (say Jeff at $18/hr), the customer is still charged $30/hr; Jeff is paid $18/hr and the difference goes to Homeaglow. Why: requesting Cassandra signals willingness to pay her rate, so it becomes their ceiling.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explaining or refunding any platform-fee line, establish the operating model, the membership status, and whether it is that CP's first job with this customer. Those three answers decide which row of the platform fee table you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www.homeaglow.com/nocm/homeaglow/jobhistory/?job=12685237" TargetMode="External"/><Relationship Id="rId3" Type="http://schemas.openxmlformats.org/officeDocument/2006/relationships/hyperlink" Target="https://www.homeaglow.com/nocm/homeaglow/jobhistory/?job=12685237" TargetMode="External"/><Relationship Id="rId1" Type="http://schemas.openxmlformats.org/officeDocument/2006/relationships/image" Target="../media/image-9-1.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2.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Platform &amp;</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Operating Mechanics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How to read what happened to a job, handle callbacks, and explain what customers pay and cleaners earn.</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3/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Understanding Job History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record of every change made to a job, and what caused it.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you always check it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Where to find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to read each column</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Practice reading one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21.png">    </p:cNvPr>
          <p:cNvPicPr>
            <a:picLocks noChangeAspect="1"/>
          </p:cNvPicPr>
          <p:nvPr/>
        </p:nvPicPr>
        <p:blipFill>
          <a:blip r:embed="rId5"/>
          <a:stretch>
            <a:fillRect/>
          </a:stretch>
        </p:blipFill>
        <p:spPr>
          <a:xfrm>
            <a:off x="5806694" y="1517904"/>
            <a:ext cx="2395220"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Why you always check it</a:t>
            </a:r>
            <a:endParaRPr lang="en-US" sz="2400" dirty="0"/>
          </a:p>
        </p:txBody>
      </p:sp>
      <p:sp>
        <p:nvSpPr>
          <p:cNvPr id="5" name="Shape 2"/>
          <p:cNvSpPr/>
          <p:nvPr/>
        </p:nvSpPr>
        <p:spPr>
          <a:xfrm>
            <a:off x="411480" y="1280160"/>
            <a:ext cx="2682240" cy="1783080"/>
          </a:xfrm>
          <a:prstGeom prst="roundRect">
            <a:avLst>
              <a:gd name="adj" fmla="val 410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Comms aren't enough</a:t>
            </a:r>
            <a:endParaRPr lang="en-US" sz="1200" dirty="0"/>
          </a:p>
        </p:txBody>
      </p:sp>
      <p:sp>
        <p:nvSpPr>
          <p:cNvPr id="9" name="Text 5"/>
          <p:cNvSpPr txBox="1"/>
          <p:nvPr/>
        </p:nvSpPr>
        <p:spPr>
          <a:xfrm>
            <a:off x="5760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 and CP messages don't always tell the full story of a job.</a:t>
            </a:r>
            <a:endParaRPr lang="en-US" sz="950" dirty="0"/>
          </a:p>
        </p:txBody>
      </p:sp>
      <p:sp>
        <p:nvSpPr>
          <p:cNvPr id="10" name="Shape 6"/>
          <p:cNvSpPr/>
          <p:nvPr/>
        </p:nvSpPr>
        <p:spPr>
          <a:xfrm>
            <a:off x="3230880" y="1280160"/>
            <a:ext cx="2682240" cy="1783080"/>
          </a:xfrm>
          <a:prstGeom prst="roundRect">
            <a:avLst>
              <a:gd name="adj" fmla="val 4103"/>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Every change is logged</a:t>
            </a:r>
            <a:endParaRPr lang="en-US" sz="1200" dirty="0"/>
          </a:p>
        </p:txBody>
      </p:sp>
      <p:sp>
        <p:nvSpPr>
          <p:cNvPr id="14" name="Text 9"/>
          <p:cNvSpPr txBox="1"/>
          <p:nvPr/>
        </p:nvSpPr>
        <p:spPr>
          <a:xfrm>
            <a:off x="33954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How the status changed, and what caused it.</a:t>
            </a:r>
            <a:endParaRPr lang="en-US" sz="950" dirty="0"/>
          </a:p>
        </p:txBody>
      </p:sp>
      <p:sp>
        <p:nvSpPr>
          <p:cNvPr id="15" name="Shape 10"/>
          <p:cNvSpPr/>
          <p:nvPr/>
        </p:nvSpPr>
        <p:spPr>
          <a:xfrm>
            <a:off x="6050280" y="1280160"/>
            <a:ext cx="2682240" cy="1783080"/>
          </a:xfrm>
          <a:prstGeom prst="roundRect">
            <a:avLst>
              <a:gd name="adj" fmla="val 4103"/>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it every time</a:t>
            </a:r>
            <a:endParaRPr lang="en-US" sz="1200" dirty="0"/>
          </a:p>
        </p:txBody>
      </p:sp>
      <p:sp>
        <p:nvSpPr>
          <p:cNvPr id="19" name="Text 13"/>
          <p:cNvSpPr txBox="1"/>
          <p:nvPr/>
        </p:nvSpPr>
        <p:spPr>
          <a:xfrm>
            <a:off x="62148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Whenever you investigate a job, before you decide on a resolution.</a:t>
            </a:r>
            <a:endParaRPr lang="en-US" sz="950" dirty="0"/>
          </a:p>
        </p:txBody>
      </p:sp>
      <p:sp>
        <p:nvSpPr>
          <p:cNvPr id="20" name="Shape 14"/>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1"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2" name="Text 15"/>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investigating a job? Open its job history before you resolve the ticket.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find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Click the ⓘ icon next to a job ID to open its job history.</a:t>
            </a:r>
            <a:endParaRPr lang="en-US" sz="1200" dirty="0"/>
          </a:p>
        </p:txBody>
      </p:sp>
      <p:sp>
        <p:nvSpPr>
          <p:cNvPr id="6" name="Shape 3"/>
          <p:cNvSpPr/>
          <p:nvPr/>
        </p:nvSpPr>
        <p:spPr>
          <a:xfrm>
            <a:off x="411480" y="1280160"/>
            <a:ext cx="5577840" cy="2514600"/>
          </a:xfrm>
          <a:prstGeom prst="roundRect">
            <a:avLst>
              <a:gd name="adj" fmla="val 2909"/>
            </a:avLst>
          </a:prstGeom>
          <a:solidFill>
            <a:srgbClr val="FFFFFF"/>
          </a:solidFill>
          <a:ln w="9525">
            <a:solidFill>
              <a:srgbClr val="DCE1E7"/>
            </a:solidFill>
            <a:prstDash val="solid"/>
          </a:ln>
        </p:spPr>
      </p:sp>
      <p:pic>
        <p:nvPicPr>
          <p:cNvPr id="7" name="Image 0" descr="/tmp/claude-0/-workspace-training/3ce5cff6-cccf-5f33-b0ee-0b147a55120e/scratchpad/img3/jh_open.png">    </p:cNvPr>
          <p:cNvPicPr>
            <a:picLocks noChangeAspect="1"/>
          </p:cNvPicPr>
          <p:nvPr/>
        </p:nvPicPr>
        <p:blipFill>
          <a:blip r:embed="rId1"/>
          <a:stretch>
            <a:fillRect/>
          </a:stretch>
        </p:blipFill>
        <p:spPr>
          <a:xfrm>
            <a:off x="484632" y="1389742"/>
            <a:ext cx="5431536" cy="2295435"/>
          </a:xfrm>
          <a:prstGeom prst="rect">
            <a:avLst/>
          </a:prstGeom>
        </p:spPr>
      </p:pic>
      <p:sp>
        <p:nvSpPr>
          <p:cNvPr id="8" name="Shape 4"/>
          <p:cNvSpPr/>
          <p:nvPr/>
        </p:nvSpPr>
        <p:spPr>
          <a:xfrm>
            <a:off x="6126480" y="1280160"/>
            <a:ext cx="2606040" cy="777240"/>
          </a:xfrm>
          <a:prstGeom prst="roundRect">
            <a:avLst>
              <a:gd name="adj" fmla="val 9412"/>
            </a:avLst>
          </a:prstGeom>
          <a:solidFill>
            <a:srgbClr val="FFFFFF"/>
          </a:solidFill>
          <a:ln w="9525">
            <a:solidFill>
              <a:srgbClr val="DCE1E7"/>
            </a:solidFill>
            <a:prstDash val="solid"/>
          </a:ln>
        </p:spPr>
      </p:sp>
      <p:sp>
        <p:nvSpPr>
          <p:cNvPr id="9" name="Shape 5"/>
          <p:cNvSpPr/>
          <p:nvPr/>
        </p:nvSpPr>
        <p:spPr>
          <a:xfrm>
            <a:off x="6254496" y="1540764"/>
            <a:ext cx="256032" cy="256032"/>
          </a:xfrm>
          <a:prstGeom prst="ellipse">
            <a:avLst/>
          </a:prstGeom>
          <a:solidFill>
            <a:srgbClr val="0B7A6F"/>
          </a:solidFill>
          <a:ln w="12700">
            <a:solidFill>
              <a:srgbClr val="0B7A6F"/>
            </a:solidFill>
            <a:prstDash val="solid"/>
          </a:ln>
        </p:spPr>
      </p:sp>
      <p:sp>
        <p:nvSpPr>
          <p:cNvPr id="10" name="Text 6"/>
          <p:cNvSpPr txBox="1"/>
          <p:nvPr/>
        </p:nvSpPr>
        <p:spPr>
          <a:xfrm>
            <a:off x="6254496" y="154076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i</a:t>
            </a:r>
            <a:endParaRPr lang="en-US" sz="900" dirty="0"/>
          </a:p>
        </p:txBody>
      </p:sp>
      <p:sp>
        <p:nvSpPr>
          <p:cNvPr id="11" name="Text 7"/>
          <p:cNvSpPr txBox="1"/>
          <p:nvPr/>
        </p:nvSpPr>
        <p:spPr>
          <a:xfrm>
            <a:off x="6629400" y="1325880"/>
            <a:ext cx="2011680" cy="6858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 icon</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Next to each job ID, in every jobs panel</a:t>
            </a:r>
            <a:endParaRPr lang="en-US" sz="1050" dirty="0"/>
          </a:p>
        </p:txBody>
      </p:sp>
      <p:sp>
        <p:nvSpPr>
          <p:cNvPr id="12" name="Shape 8"/>
          <p:cNvSpPr/>
          <p:nvPr/>
        </p:nvSpPr>
        <p:spPr>
          <a:xfrm>
            <a:off x="6126480" y="2148840"/>
            <a:ext cx="2606040" cy="777240"/>
          </a:xfrm>
          <a:prstGeom prst="roundRect">
            <a:avLst>
              <a:gd name="adj" fmla="val 9412"/>
            </a:avLst>
          </a:prstGeom>
          <a:solidFill>
            <a:srgbClr val="FFFFFF"/>
          </a:solidFill>
          <a:ln w="9525">
            <a:solidFill>
              <a:srgbClr val="DCE1E7"/>
            </a:solidFill>
            <a:prstDash val="solid"/>
          </a:ln>
        </p:spPr>
      </p:sp>
      <p:sp>
        <p:nvSpPr>
          <p:cNvPr id="13" name="Shape 9"/>
          <p:cNvSpPr/>
          <p:nvPr/>
        </p:nvSpPr>
        <p:spPr>
          <a:xfrm>
            <a:off x="6254496" y="2409444"/>
            <a:ext cx="256032" cy="256032"/>
          </a:xfrm>
          <a:prstGeom prst="ellipse">
            <a:avLst/>
          </a:prstGeom>
          <a:solidFill>
            <a:srgbClr val="0B7A6F"/>
          </a:solidFill>
          <a:ln w="12700">
            <a:solidFill>
              <a:srgbClr val="0B7A6F"/>
            </a:solidFill>
            <a:prstDash val="solid"/>
          </a:ln>
        </p:spPr>
      </p:sp>
      <p:sp>
        <p:nvSpPr>
          <p:cNvPr id="14" name="Text 10"/>
          <p:cNvSpPr txBox="1"/>
          <p:nvPr/>
        </p:nvSpPr>
        <p:spPr>
          <a:xfrm>
            <a:off x="6254496" y="24094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a:t>
            </a:r>
            <a:endParaRPr lang="en-US" sz="900" dirty="0"/>
          </a:p>
        </p:txBody>
      </p:sp>
      <p:sp>
        <p:nvSpPr>
          <p:cNvPr id="15" name="Text 11"/>
          <p:cNvSpPr txBox="1"/>
          <p:nvPr/>
        </p:nvSpPr>
        <p:spPr>
          <a:xfrm>
            <a:off x="6629400" y="2194560"/>
            <a:ext cx="2011680" cy="6858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Click it</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The job's history opens</a:t>
            </a:r>
            <a:endParaRPr lang="en-US" sz="1050" dirty="0"/>
          </a:p>
        </p:txBody>
      </p:sp>
      <p:sp>
        <p:nvSpPr>
          <p:cNvPr id="16" name="Shape 12"/>
          <p:cNvSpPr/>
          <p:nvPr/>
        </p:nvSpPr>
        <p:spPr>
          <a:xfrm>
            <a:off x="411480" y="3977640"/>
            <a:ext cx="8321040" cy="384048"/>
          </a:xfrm>
          <a:prstGeom prst="roundRect">
            <a:avLst>
              <a:gd name="adj" fmla="val 19048"/>
            </a:avLst>
          </a:prstGeom>
          <a:solidFill>
            <a:srgbClr val="FFF3D6"/>
          </a:solidFill>
          <a:ln w="9525">
            <a:solidFill>
              <a:srgbClr val="FFF3D6"/>
            </a:solidFill>
            <a:prstDash val="solid"/>
          </a:ln>
        </p:spPr>
      </p:sp>
      <p:pic>
        <p:nvPicPr>
          <p:cNvPr id="17" name="Image 1" descr="preencoded.png">    </p:cNvPr>
          <p:cNvPicPr>
            <a:picLocks noChangeAspect="1"/>
          </p:cNvPicPr>
          <p:nvPr/>
        </p:nvPicPr>
        <p:blipFill>
          <a:blip r:embed="rId2"/>
          <a:stretch>
            <a:fillRect/>
          </a:stretch>
        </p:blipFill>
        <p:spPr>
          <a:xfrm>
            <a:off x="566928" y="4087368"/>
            <a:ext cx="164592" cy="164592"/>
          </a:xfrm>
          <a:prstGeom prst="rect">
            <a:avLst/>
          </a:prstGeom>
        </p:spPr>
      </p:pic>
      <p:sp>
        <p:nvSpPr>
          <p:cNvPr id="18" name="Text 13"/>
          <p:cNvSpPr txBox="1"/>
          <p:nvPr/>
        </p:nvSpPr>
        <p:spPr>
          <a:xfrm>
            <a:off x="822960" y="40782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Tip:  </a:t>
            </a:r>
            <a:pPr indent="0" marL="0">
              <a:buNone/>
            </a:pPr>
            <a:r>
              <a:rPr lang="en-US" sz="1000" dirty="0">
                <a:solidFill>
                  <a:srgbClr val="1D1D1F"/>
                </a:solidFill>
                <a:latin typeface="SF Pro Text" pitchFamily="34" charset="0"/>
                <a:ea typeface="SF Pro Text" pitchFamily="34" charset="-122"/>
                <a:cs typeface="SF Pro Text" pitchFamily="34" charset="-120"/>
              </a:rPr>
              <a:t>investigating a job? Open its history before you decide on a resolution.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history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Every action on the job, newest at the top. Read it from the bottom up.</a:t>
            </a:r>
            <a:endParaRPr lang="en-US" sz="1200" dirty="0"/>
          </a:p>
        </p:txBody>
      </p:sp>
      <p:sp>
        <p:nvSpPr>
          <p:cNvPr id="6" name="Shape 3"/>
          <p:cNvSpPr/>
          <p:nvPr/>
        </p:nvSpPr>
        <p:spPr>
          <a:xfrm>
            <a:off x="411480" y="1188720"/>
            <a:ext cx="7726680" cy="3520440"/>
          </a:xfrm>
          <a:prstGeom prst="roundRect">
            <a:avLst>
              <a:gd name="adj" fmla="val 2078"/>
            </a:avLst>
          </a:prstGeom>
          <a:solidFill>
            <a:srgbClr val="FFFFFF"/>
          </a:solidFill>
          <a:ln w="9525">
            <a:solidFill>
              <a:srgbClr val="DCE1E7"/>
            </a:solidFill>
            <a:prstDash val="solid"/>
          </a:ln>
        </p:spPr>
      </p:sp>
      <p:pic>
        <p:nvPicPr>
          <p:cNvPr id="7" name="Image 0" descr="/tmp/claude-0/-workspace-training/3ce5cff6-cccf-5f33-b0ee-0b147a55120e/scratchpad/img3/jh_table.png">    </p:cNvPr>
          <p:cNvPicPr>
            <a:picLocks noChangeAspect="1"/>
          </p:cNvPicPr>
          <p:nvPr/>
        </p:nvPicPr>
        <p:blipFill>
          <a:blip r:embed="rId1"/>
          <a:stretch>
            <a:fillRect/>
          </a:stretch>
        </p:blipFill>
        <p:spPr>
          <a:xfrm>
            <a:off x="727862" y="1261872"/>
            <a:ext cx="7093915" cy="3374136"/>
          </a:xfrm>
          <a:prstGeom prst="rect">
            <a:avLst/>
          </a:prstGeom>
        </p:spPr>
      </p:pic>
      <p:sp>
        <p:nvSpPr>
          <p:cNvPr id="8" name="Shape 4"/>
          <p:cNvSpPr/>
          <p:nvPr/>
        </p:nvSpPr>
        <p:spPr>
          <a:xfrm>
            <a:off x="1232611" y="1711757"/>
            <a:ext cx="658368" cy="104242"/>
          </a:xfrm>
          <a:prstGeom prst="roundRect">
            <a:avLst>
              <a:gd name="adj" fmla="val 26316"/>
            </a:avLst>
          </a:prstGeom>
          <a:ln w="25400">
            <a:solidFill>
              <a:srgbClr val="0B7A6F"/>
            </a:solidFill>
            <a:prstDash val="solid"/>
          </a:ln>
        </p:spPr>
      </p:sp>
      <p:sp>
        <p:nvSpPr>
          <p:cNvPr id="9" name="Shape 5"/>
          <p:cNvSpPr/>
          <p:nvPr/>
        </p:nvSpPr>
        <p:spPr>
          <a:xfrm>
            <a:off x="1132027" y="1611173"/>
            <a:ext cx="201168" cy="201168"/>
          </a:xfrm>
          <a:prstGeom prst="ellipse">
            <a:avLst/>
          </a:prstGeom>
          <a:solidFill>
            <a:srgbClr val="0B7A6F"/>
          </a:solidFill>
          <a:ln w="12700">
            <a:solidFill>
              <a:srgbClr val="FFFFFF"/>
            </a:solidFill>
            <a:prstDash val="solid"/>
          </a:ln>
        </p:spPr>
      </p:sp>
      <p:sp>
        <p:nvSpPr>
          <p:cNvPr id="10" name="Text 6"/>
          <p:cNvSpPr txBox="1"/>
          <p:nvPr/>
        </p:nvSpPr>
        <p:spPr>
          <a:xfrm>
            <a:off x="1132027" y="1611173"/>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1929384" y="1711757"/>
            <a:ext cx="625450" cy="104242"/>
          </a:xfrm>
          <a:prstGeom prst="roundRect">
            <a:avLst>
              <a:gd name="adj" fmla="val 26316"/>
            </a:avLst>
          </a:prstGeom>
          <a:ln w="25400">
            <a:solidFill>
              <a:srgbClr val="0B7A6F"/>
            </a:solidFill>
            <a:prstDash val="solid"/>
          </a:ln>
        </p:spPr>
      </p:sp>
      <p:sp>
        <p:nvSpPr>
          <p:cNvPr id="12" name="Shape 8"/>
          <p:cNvSpPr/>
          <p:nvPr/>
        </p:nvSpPr>
        <p:spPr>
          <a:xfrm>
            <a:off x="1828800" y="1611173"/>
            <a:ext cx="201168" cy="201168"/>
          </a:xfrm>
          <a:prstGeom prst="ellipse">
            <a:avLst/>
          </a:prstGeom>
          <a:solidFill>
            <a:srgbClr val="0B7A6F"/>
          </a:solidFill>
          <a:ln w="12700">
            <a:solidFill>
              <a:srgbClr val="FFFFFF"/>
            </a:solidFill>
            <a:prstDash val="solid"/>
          </a:ln>
        </p:spPr>
      </p:sp>
      <p:sp>
        <p:nvSpPr>
          <p:cNvPr id="13" name="Text 9"/>
          <p:cNvSpPr txBox="1"/>
          <p:nvPr/>
        </p:nvSpPr>
        <p:spPr>
          <a:xfrm>
            <a:off x="1828800" y="1611173"/>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2604211" y="1711757"/>
            <a:ext cx="318211" cy="104242"/>
          </a:xfrm>
          <a:prstGeom prst="roundRect">
            <a:avLst>
              <a:gd name="adj" fmla="val 26316"/>
            </a:avLst>
          </a:prstGeom>
          <a:ln w="25400">
            <a:solidFill>
              <a:srgbClr val="0B7A6F"/>
            </a:solidFill>
            <a:prstDash val="solid"/>
          </a:ln>
        </p:spPr>
      </p:sp>
      <p:sp>
        <p:nvSpPr>
          <p:cNvPr id="15" name="Shape 11"/>
          <p:cNvSpPr/>
          <p:nvPr/>
        </p:nvSpPr>
        <p:spPr>
          <a:xfrm>
            <a:off x="2503627" y="1611173"/>
            <a:ext cx="201168" cy="201168"/>
          </a:xfrm>
          <a:prstGeom prst="ellipse">
            <a:avLst/>
          </a:prstGeom>
          <a:solidFill>
            <a:srgbClr val="0B7A6F"/>
          </a:solidFill>
          <a:ln w="12700">
            <a:solidFill>
              <a:srgbClr val="FFFFFF"/>
            </a:solidFill>
            <a:prstDash val="solid"/>
          </a:ln>
        </p:spPr>
      </p:sp>
      <p:sp>
        <p:nvSpPr>
          <p:cNvPr id="16" name="Text 12"/>
          <p:cNvSpPr txBox="1"/>
          <p:nvPr/>
        </p:nvSpPr>
        <p:spPr>
          <a:xfrm>
            <a:off x="2503627" y="1611173"/>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3</a:t>
            </a:r>
            <a:endParaRPr lang="en-US" sz="800" dirty="0"/>
          </a:p>
        </p:txBody>
      </p:sp>
      <p:sp>
        <p:nvSpPr>
          <p:cNvPr id="17" name="Shape 13"/>
          <p:cNvSpPr/>
          <p:nvPr/>
        </p:nvSpPr>
        <p:spPr>
          <a:xfrm>
            <a:off x="3262579" y="1711757"/>
            <a:ext cx="691286" cy="104242"/>
          </a:xfrm>
          <a:prstGeom prst="roundRect">
            <a:avLst>
              <a:gd name="adj" fmla="val 26316"/>
            </a:avLst>
          </a:prstGeom>
          <a:ln w="25400">
            <a:solidFill>
              <a:srgbClr val="0B7A6F"/>
            </a:solidFill>
            <a:prstDash val="solid"/>
          </a:ln>
        </p:spPr>
      </p:sp>
      <p:sp>
        <p:nvSpPr>
          <p:cNvPr id="18" name="Shape 14"/>
          <p:cNvSpPr/>
          <p:nvPr/>
        </p:nvSpPr>
        <p:spPr>
          <a:xfrm>
            <a:off x="3161995" y="1611173"/>
            <a:ext cx="201168" cy="201168"/>
          </a:xfrm>
          <a:prstGeom prst="ellipse">
            <a:avLst/>
          </a:prstGeom>
          <a:solidFill>
            <a:srgbClr val="0B7A6F"/>
          </a:solidFill>
          <a:ln w="12700">
            <a:solidFill>
              <a:srgbClr val="FFFFFF"/>
            </a:solidFill>
            <a:prstDash val="solid"/>
          </a:ln>
        </p:spPr>
      </p:sp>
      <p:sp>
        <p:nvSpPr>
          <p:cNvPr id="19" name="Text 15"/>
          <p:cNvSpPr txBox="1"/>
          <p:nvPr/>
        </p:nvSpPr>
        <p:spPr>
          <a:xfrm>
            <a:off x="3161995" y="1611173"/>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4</a:t>
            </a:r>
            <a:endParaRPr lang="en-US" sz="800" dirty="0"/>
          </a:p>
        </p:txBody>
      </p:sp>
      <p:sp>
        <p:nvSpPr>
          <p:cNvPr id="20" name="Shape 16"/>
          <p:cNvSpPr/>
          <p:nvPr/>
        </p:nvSpPr>
        <p:spPr>
          <a:xfrm>
            <a:off x="3986784" y="1711757"/>
            <a:ext cx="219456" cy="104242"/>
          </a:xfrm>
          <a:prstGeom prst="roundRect">
            <a:avLst>
              <a:gd name="adj" fmla="val 26316"/>
            </a:avLst>
          </a:prstGeom>
          <a:ln w="25400">
            <a:solidFill>
              <a:srgbClr val="0B7A6F"/>
            </a:solidFill>
            <a:prstDash val="solid"/>
          </a:ln>
        </p:spPr>
      </p:sp>
      <p:sp>
        <p:nvSpPr>
          <p:cNvPr id="21" name="Shape 17"/>
          <p:cNvSpPr/>
          <p:nvPr/>
        </p:nvSpPr>
        <p:spPr>
          <a:xfrm>
            <a:off x="3886200" y="1611173"/>
            <a:ext cx="201168" cy="201168"/>
          </a:xfrm>
          <a:prstGeom prst="ellipse">
            <a:avLst/>
          </a:prstGeom>
          <a:solidFill>
            <a:srgbClr val="0B7A6F"/>
          </a:solidFill>
          <a:ln w="12700">
            <a:solidFill>
              <a:srgbClr val="FFFFFF"/>
            </a:solidFill>
            <a:prstDash val="solid"/>
          </a:ln>
        </p:spPr>
      </p:sp>
      <p:sp>
        <p:nvSpPr>
          <p:cNvPr id="22" name="Text 18"/>
          <p:cNvSpPr txBox="1"/>
          <p:nvPr/>
        </p:nvSpPr>
        <p:spPr>
          <a:xfrm>
            <a:off x="3886200" y="1611173"/>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5</a:t>
            </a:r>
            <a:endParaRPr lang="en-US" sz="800" dirty="0"/>
          </a:p>
        </p:txBody>
      </p:sp>
      <p:sp>
        <p:nvSpPr>
          <p:cNvPr id="23" name="Shape 19"/>
          <p:cNvSpPr/>
          <p:nvPr/>
        </p:nvSpPr>
        <p:spPr>
          <a:xfrm>
            <a:off x="4244645" y="1711757"/>
            <a:ext cx="323698" cy="104242"/>
          </a:xfrm>
          <a:prstGeom prst="roundRect">
            <a:avLst>
              <a:gd name="adj" fmla="val 26316"/>
            </a:avLst>
          </a:prstGeom>
          <a:ln w="25400">
            <a:solidFill>
              <a:srgbClr val="0B7A6F"/>
            </a:solidFill>
            <a:prstDash val="solid"/>
          </a:ln>
        </p:spPr>
      </p:sp>
      <p:sp>
        <p:nvSpPr>
          <p:cNvPr id="24" name="Shape 20"/>
          <p:cNvSpPr/>
          <p:nvPr/>
        </p:nvSpPr>
        <p:spPr>
          <a:xfrm>
            <a:off x="4144061" y="1611173"/>
            <a:ext cx="201168" cy="201168"/>
          </a:xfrm>
          <a:prstGeom prst="ellipse">
            <a:avLst/>
          </a:prstGeom>
          <a:solidFill>
            <a:srgbClr val="0B7A6F"/>
          </a:solidFill>
          <a:ln w="12700">
            <a:solidFill>
              <a:srgbClr val="FFFFFF"/>
            </a:solidFill>
            <a:prstDash val="solid"/>
          </a:ln>
        </p:spPr>
      </p:sp>
      <p:sp>
        <p:nvSpPr>
          <p:cNvPr id="25" name="Text 21"/>
          <p:cNvSpPr txBox="1"/>
          <p:nvPr/>
        </p:nvSpPr>
        <p:spPr>
          <a:xfrm>
            <a:off x="4144061" y="1611173"/>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6</a:t>
            </a:r>
            <a:endParaRPr lang="en-US" sz="800" dirty="0"/>
          </a:p>
        </p:txBody>
      </p:sp>
      <p:sp>
        <p:nvSpPr>
          <p:cNvPr id="26" name="Shape 22"/>
          <p:cNvSpPr/>
          <p:nvPr/>
        </p:nvSpPr>
        <p:spPr>
          <a:xfrm>
            <a:off x="6987845" y="1711757"/>
            <a:ext cx="301752" cy="104242"/>
          </a:xfrm>
          <a:prstGeom prst="roundRect">
            <a:avLst>
              <a:gd name="adj" fmla="val 26316"/>
            </a:avLst>
          </a:prstGeom>
          <a:ln w="25400">
            <a:solidFill>
              <a:srgbClr val="0B7A6F"/>
            </a:solidFill>
            <a:prstDash val="solid"/>
          </a:ln>
        </p:spPr>
      </p:sp>
      <p:sp>
        <p:nvSpPr>
          <p:cNvPr id="27" name="Shape 23"/>
          <p:cNvSpPr/>
          <p:nvPr/>
        </p:nvSpPr>
        <p:spPr>
          <a:xfrm>
            <a:off x="6887261" y="1611173"/>
            <a:ext cx="201168" cy="201168"/>
          </a:xfrm>
          <a:prstGeom prst="ellipse">
            <a:avLst/>
          </a:prstGeom>
          <a:solidFill>
            <a:srgbClr val="0B7A6F"/>
          </a:solidFill>
          <a:ln w="12700">
            <a:solidFill>
              <a:srgbClr val="FFFFFF"/>
            </a:solidFill>
            <a:prstDash val="solid"/>
          </a:ln>
        </p:spPr>
      </p:sp>
      <p:sp>
        <p:nvSpPr>
          <p:cNvPr id="28" name="Text 24"/>
          <p:cNvSpPr txBox="1"/>
          <p:nvPr/>
        </p:nvSpPr>
        <p:spPr>
          <a:xfrm>
            <a:off x="6887261" y="1611173"/>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7</a:t>
            </a:r>
            <a:endParaRPr lang="en-US" sz="800" dirty="0"/>
          </a:p>
        </p:txBody>
      </p:sp>
      <p:pic>
        <p:nvPicPr>
          <p:cNvPr id="29" name="Image 1" descr="preencoded.png">    </p:cNvPr>
          <p:cNvPicPr>
            <a:picLocks noChangeAspect="1"/>
          </p:cNvPicPr>
          <p:nvPr/>
        </p:nvPicPr>
        <p:blipFill>
          <a:blip r:embed="rId2"/>
          <a:stretch>
            <a:fillRect/>
          </a:stretch>
        </p:blipFill>
        <p:spPr>
          <a:xfrm>
            <a:off x="8321040" y="2011680"/>
            <a:ext cx="274320" cy="1463040"/>
          </a:xfrm>
          <a:prstGeom prst="rect">
            <a:avLst/>
          </a:prstGeom>
        </p:spPr>
      </p:pic>
      <p:sp>
        <p:nvSpPr>
          <p:cNvPr id="30" name="Text 25"/>
          <p:cNvSpPr txBox="1"/>
          <p:nvPr/>
        </p:nvSpPr>
        <p:spPr>
          <a:xfrm>
            <a:off x="8183880" y="3566160"/>
            <a:ext cx="594360" cy="640080"/>
          </a:xfrm>
          <a:prstGeom prst="rect">
            <a:avLst/>
          </a:prstGeom>
          <a:noFill/>
          <a:ln/>
        </p:spPr>
        <p:txBody>
          <a:bodyPr wrap="square" lIns="0" tIns="0" rIns="0" bIns="0" rtlCol="0" anchor="t"/>
          <a:lstStyle/>
          <a:p>
            <a:pPr algn="ctr" indent="0" marL="0">
              <a:buNone/>
            </a:pPr>
            <a:r>
              <a:rPr lang="en-US" sz="800" b="1" dirty="0">
                <a:solidFill>
                  <a:srgbClr val="0B7A6F"/>
                </a:solidFill>
                <a:latin typeface="SF Pro Text" pitchFamily="34" charset="0"/>
                <a:ea typeface="SF Pro Text" pitchFamily="34" charset="-122"/>
                <a:cs typeface="SF Pro Text" pitchFamily="34" charset="-120"/>
              </a:rPr>
              <a:t>Read</a:t>
            </a:r>
            <a:endParaRPr lang="en-US" sz="800" dirty="0"/>
          </a:p>
          <a:p>
            <a:pPr algn="ctr" indent="0" marL="0">
              <a:buNone/>
            </a:pPr>
            <a:r>
              <a:rPr lang="en-US" sz="800" b="1" dirty="0">
                <a:solidFill>
                  <a:srgbClr val="0B7A6F"/>
                </a:solidFill>
                <a:latin typeface="SF Pro Text" pitchFamily="34" charset="0"/>
                <a:ea typeface="SF Pro Text" pitchFamily="34" charset="-122"/>
                <a:cs typeface="SF Pro Text" pitchFamily="34" charset="-120"/>
              </a:rPr>
              <a:t>bottom</a:t>
            </a:r>
            <a:endParaRPr lang="en-US" sz="800" dirty="0"/>
          </a:p>
          <a:p>
            <a:pPr algn="ctr" indent="0" marL="0">
              <a:buNone/>
            </a:pPr>
            <a:r>
              <a:rPr lang="en-US" sz="800" b="1" dirty="0">
                <a:solidFill>
                  <a:srgbClr val="0B7A6F"/>
                </a:solidFill>
                <a:latin typeface="SF Pro Text" pitchFamily="34" charset="0"/>
                <a:ea typeface="SF Pro Text" pitchFamily="34" charset="-122"/>
                <a:cs typeface="SF Pro Text" pitchFamily="34" charset="-120"/>
              </a:rPr>
              <a:t>to top</a:t>
            </a:r>
            <a:endParaRPr lang="en-US" sz="8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to read each column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numbers match the columns on the previous slide.</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457200"/>
                <a:gridCol w="2286000"/>
                <a:gridCol w="5577840"/>
              </a:tblGrid>
              <a:tr h="36576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Column</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it tells you</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6576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1</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Job Start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The job's start date and time at the time the action was made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2</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Job Start After Action</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The job's start time after the action was made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3</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Action On</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When the action was taken</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4</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Job Status Before Action</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The job's status before the action was taken</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5</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Actor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Who took the action: the C, CP, CS, or system</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6</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Action</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What was done. Written to be self-explanatory</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7</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Comment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Any important detail about the action</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9" name="Text 4"/>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Skip the ID column:  </a:t>
            </a:r>
            <a:pPr indent="0" marL="0">
              <a:buNone/>
            </a:pPr>
            <a:r>
              <a:rPr lang="en-US" sz="1000" dirty="0">
                <a:solidFill>
                  <a:srgbClr val="1D1D1F"/>
                </a:solidFill>
                <a:latin typeface="SF Pro Text" pitchFamily="34" charset="0"/>
                <a:ea typeface="SF Pro Text" pitchFamily="34" charset="-122"/>
                <a:cs typeface="SF Pro Text" pitchFamily="34" charset="-120"/>
              </a:rPr>
              <a:t>the action ID is for product and support (Django edits), not CS.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things to remember</a:t>
            </a:r>
            <a:endParaRPr lang="en-US" sz="2400" dirty="0"/>
          </a:p>
        </p:txBody>
      </p:sp>
      <p:sp>
        <p:nvSpPr>
          <p:cNvPr id="5" name="Shape 2"/>
          <p:cNvSpPr/>
          <p:nvPr/>
        </p:nvSpPr>
        <p:spPr>
          <a:xfrm>
            <a:off x="411480" y="1234440"/>
            <a:ext cx="4091940" cy="1600200"/>
          </a:xfrm>
          <a:prstGeom prst="roundRect">
            <a:avLst>
              <a:gd name="adj" fmla="val 4571"/>
            </a:avLst>
          </a:prstGeom>
          <a:solidFill>
            <a:srgbClr val="FFFFFF"/>
          </a:solidFill>
          <a:ln w="9525">
            <a:solidFill>
              <a:srgbClr val="DCE1E7"/>
            </a:solidFill>
            <a:prstDash val="solid"/>
          </a:ln>
        </p:spPr>
      </p:sp>
      <p:sp>
        <p:nvSpPr>
          <p:cNvPr id="6" name="Shape 3"/>
          <p:cNvSpPr/>
          <p:nvPr/>
        </p:nvSpPr>
        <p:spPr>
          <a:xfrm>
            <a:off x="576072" y="139903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478036"/>
            <a:ext cx="171176" cy="171176"/>
          </a:xfrm>
          <a:prstGeom prst="rect">
            <a:avLst/>
          </a:prstGeom>
        </p:spPr>
      </p:pic>
      <p:sp>
        <p:nvSpPr>
          <p:cNvPr id="8" name="Text 4"/>
          <p:cNvSpPr txBox="1"/>
          <p:nvPr/>
        </p:nvSpPr>
        <p:spPr>
          <a:xfrm>
            <a:off x="576072" y="18379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Read bottom to top</a:t>
            </a:r>
            <a:endParaRPr lang="en-US" sz="1200" dirty="0"/>
          </a:p>
        </p:txBody>
      </p:sp>
      <p:sp>
        <p:nvSpPr>
          <p:cNvPr id="9" name="Text 5"/>
          <p:cNvSpPr txBox="1"/>
          <p:nvPr/>
        </p:nvSpPr>
        <p:spPr>
          <a:xfrm>
            <a:off x="576072" y="2130552"/>
            <a:ext cx="37627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oldest action is at the bottom. The newest is at the top.</a:t>
            </a:r>
            <a:endParaRPr lang="en-US" sz="950" dirty="0"/>
          </a:p>
        </p:txBody>
      </p:sp>
      <p:sp>
        <p:nvSpPr>
          <p:cNvPr id="10" name="Shape 6"/>
          <p:cNvSpPr/>
          <p:nvPr/>
        </p:nvSpPr>
        <p:spPr>
          <a:xfrm>
            <a:off x="4640580" y="1234440"/>
            <a:ext cx="4091940" cy="1600200"/>
          </a:xfrm>
          <a:prstGeom prst="roundRect">
            <a:avLst>
              <a:gd name="adj" fmla="val 4571"/>
            </a:avLst>
          </a:prstGeom>
          <a:solidFill>
            <a:srgbClr val="FFFFFF"/>
          </a:solidFill>
          <a:ln w="9525">
            <a:solidFill>
              <a:srgbClr val="DCE1E7"/>
            </a:solidFill>
            <a:prstDash val="solid"/>
          </a:ln>
        </p:spPr>
      </p:sp>
      <p:sp>
        <p:nvSpPr>
          <p:cNvPr id="11" name="Shape 7"/>
          <p:cNvSpPr/>
          <p:nvPr/>
        </p:nvSpPr>
        <p:spPr>
          <a:xfrm>
            <a:off x="4805172" y="139903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478036"/>
            <a:ext cx="171176" cy="171176"/>
          </a:xfrm>
          <a:prstGeom prst="rect">
            <a:avLst/>
          </a:prstGeom>
        </p:spPr>
      </p:pic>
      <p:sp>
        <p:nvSpPr>
          <p:cNvPr id="13" name="Text 8"/>
          <p:cNvSpPr txBox="1"/>
          <p:nvPr/>
        </p:nvSpPr>
        <p:spPr>
          <a:xfrm>
            <a:off x="4805172" y="18379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Times are in CT</a:t>
            </a:r>
            <a:endParaRPr lang="en-US" sz="1200" dirty="0"/>
          </a:p>
        </p:txBody>
      </p:sp>
      <p:sp>
        <p:nvSpPr>
          <p:cNvPr id="14" name="Text 9"/>
          <p:cNvSpPr txBox="1"/>
          <p:nvPr/>
        </p:nvSpPr>
        <p:spPr>
          <a:xfrm>
            <a:off x="4805172" y="2130552"/>
            <a:ext cx="37627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Our system time is Central Time. The customer may be in another time zone.</a:t>
            </a:r>
            <a:endParaRPr lang="en-US" sz="950" dirty="0"/>
          </a:p>
        </p:txBody>
      </p:sp>
      <p:sp>
        <p:nvSpPr>
          <p:cNvPr id="15" name="Text 10"/>
          <p:cNvSpPr txBox="1"/>
          <p:nvPr/>
        </p:nvSpPr>
        <p:spPr>
          <a:xfrm>
            <a:off x="438912" y="3017520"/>
            <a:ext cx="8229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CONVERT WITH THE TIME FORMULA, UPPER LEFT OF THE CRM</a:t>
            </a:r>
            <a:endParaRPr lang="en-US" sz="800" dirty="0"/>
          </a:p>
        </p:txBody>
      </p:sp>
      <p:sp>
        <p:nvSpPr>
          <p:cNvPr id="16" name="Shape 11"/>
          <p:cNvSpPr/>
          <p:nvPr/>
        </p:nvSpPr>
        <p:spPr>
          <a:xfrm>
            <a:off x="411480" y="3246120"/>
            <a:ext cx="3657600" cy="960120"/>
          </a:xfrm>
          <a:prstGeom prst="roundRect">
            <a:avLst>
              <a:gd name="adj" fmla="val 7619"/>
            </a:avLst>
          </a:prstGeom>
          <a:solidFill>
            <a:srgbClr val="FFFFFF"/>
          </a:solidFill>
          <a:ln w="9525">
            <a:solidFill>
              <a:srgbClr val="DCE1E7"/>
            </a:solidFill>
            <a:prstDash val="solid"/>
          </a:ln>
        </p:spPr>
      </p:sp>
      <p:pic>
        <p:nvPicPr>
          <p:cNvPr id="17" name="Image 2" descr="/tmp/claude-0/-workspace-training/3ce5cff6-cccf-5f33-b0ee-0b147a55120e/scratchpad/img3/legacy_time.png">    </p:cNvPr>
          <p:cNvPicPr>
            <a:picLocks noChangeAspect="1"/>
          </p:cNvPicPr>
          <p:nvPr/>
        </p:nvPicPr>
        <p:blipFill>
          <a:blip r:embed="rId3"/>
          <a:stretch>
            <a:fillRect/>
          </a:stretch>
        </p:blipFill>
        <p:spPr>
          <a:xfrm>
            <a:off x="484632" y="3462833"/>
            <a:ext cx="3511296" cy="526694"/>
          </a:xfrm>
          <a:prstGeom prst="rect">
            <a:avLst/>
          </a:prstGeom>
        </p:spPr>
      </p:pic>
      <p:sp>
        <p:nvSpPr>
          <p:cNvPr id="18" name="Shape 12"/>
          <p:cNvSpPr/>
          <p:nvPr/>
        </p:nvSpPr>
        <p:spPr>
          <a:xfrm>
            <a:off x="923544" y="3477463"/>
            <a:ext cx="2633472" cy="482803"/>
          </a:xfrm>
          <a:prstGeom prst="roundRect">
            <a:avLst>
              <a:gd name="adj" fmla="val 5682"/>
            </a:avLst>
          </a:prstGeom>
          <a:ln w="25400">
            <a:solidFill>
              <a:srgbClr val="0B7A6F"/>
            </a:solidFill>
            <a:prstDash val="solid"/>
          </a:ln>
        </p:spPr>
      </p:sp>
      <p:sp>
        <p:nvSpPr>
          <p:cNvPr id="19" name="Shape 13"/>
          <p:cNvSpPr/>
          <p:nvPr/>
        </p:nvSpPr>
        <p:spPr>
          <a:xfrm>
            <a:off x="822960" y="3376879"/>
            <a:ext cx="201168" cy="201168"/>
          </a:xfrm>
          <a:prstGeom prst="ellipse">
            <a:avLst/>
          </a:prstGeom>
          <a:solidFill>
            <a:srgbClr val="0B7A6F"/>
          </a:solidFill>
          <a:ln w="12700">
            <a:solidFill>
              <a:srgbClr val="FFFFFF"/>
            </a:solidFill>
            <a:prstDash val="solid"/>
          </a:ln>
        </p:spPr>
      </p:sp>
      <p:sp>
        <p:nvSpPr>
          <p:cNvPr id="20" name="Text 14"/>
          <p:cNvSpPr txBox="1"/>
          <p:nvPr/>
        </p:nvSpPr>
        <p:spPr>
          <a:xfrm>
            <a:off x="822960" y="3376879"/>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21" name="Text 15"/>
          <p:cNvSpPr txBox="1"/>
          <p:nvPr/>
        </p:nvSpPr>
        <p:spPr>
          <a:xfrm>
            <a:off x="4297680" y="3337560"/>
            <a:ext cx="4434840" cy="777240"/>
          </a:xfrm>
          <a:prstGeom prst="rect">
            <a:avLst/>
          </a:prstGeom>
          <a:noFill/>
          <a:ln/>
        </p:spPr>
        <p:txBody>
          <a:bodyPr wrap="square" lIns="0" tIns="0" rIns="0" bIns="0" rtlCol="0" anchor="ctr"/>
          <a:lstStyle/>
          <a:p>
            <a:pPr indent="0" marL="0">
              <a:buNone/>
            </a:pPr>
            <a:r>
              <a:rPr lang="en-US" sz="1050" b="1" dirty="0">
                <a:solidFill>
                  <a:srgbClr val="1D1D1F"/>
                </a:solidFill>
                <a:latin typeface="SF Pro Text" pitchFamily="34" charset="0"/>
                <a:ea typeface="SF Pro Text" pitchFamily="34" charset="-122"/>
                <a:cs typeface="SF Pro Text" pitchFamily="34" charset="-120"/>
              </a:rPr>
              <a:t>Example: </a:t>
            </a:r>
            <a:pPr indent="0" marL="0">
              <a:buNone/>
            </a:pPr>
            <a:r>
              <a:rPr lang="en-US" sz="1050" dirty="0">
                <a:solidFill>
                  <a:srgbClr val="1D1D1F"/>
                </a:solidFill>
                <a:latin typeface="SF Pro Text" pitchFamily="34" charset="0"/>
                <a:ea typeface="SF Pro Text" pitchFamily="34" charset="-122"/>
                <a:cs typeface="SF Pro Text" pitchFamily="34" charset="-120"/>
              </a:rPr>
              <a:t>8:23 AM CDT is 6:23 AM in Pacific time (PDT −2) and 9:23 AM in Eastern time (EDT +1).</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Reading the example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same job history, read from the bottom up.</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365760"/>
                <a:gridCol w="1554480"/>
                <a:gridCol w="914400"/>
                <a:gridCol w="2011680"/>
                <a:gridCol w="3474720"/>
              </a:tblGrid>
              <a:tr h="329184">
                <a:tc>
                  <a:txBody>
                    <a:bodyPr/>
                    <a:lstStyle/>
                    <a:p>
                      <a:pPr indent="0" marL="0">
                        <a:buNone/>
                      </a:pP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Action on</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Actor</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Action</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it tells you</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1</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Sep 7, 10:35 AM</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system</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book</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Job booked for Sep 21, 10 AM</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2</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Sep 14, 2:29 PM</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cleaner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claim</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claimed it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3</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Sep 21, 9:19 AM</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cleaner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reschedule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Moved from Sep 21, 10 AM to Sep 22, 11 AM</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4</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Sep 21, 9:50 AM</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cleaner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reschedule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Moved again, to Sep 24, 12:30 PM</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5</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Sep 24, 4:09 PM</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cleaner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invoice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Invoiced, from Pending Invoice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6</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Sep 24, 4:09 PM</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system</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log_snapshot_on_invoice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system logged the invoice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703320"/>
            <a:ext cx="8321040" cy="594360"/>
          </a:xfrm>
          <a:prstGeom prst="roundRect">
            <a:avLst>
              <a:gd name="adj" fmla="val 12308"/>
            </a:avLst>
          </a:prstGeom>
          <a:solidFill>
            <a:srgbClr val="E3F4F1"/>
          </a:solidFill>
          <a:ln w="9525">
            <a:solidFill>
              <a:srgbClr val="E3F4F1"/>
            </a:solidFill>
            <a:prstDash val="solid"/>
          </a:ln>
        </p:spPr>
      </p:sp>
      <p:sp>
        <p:nvSpPr>
          <p:cNvPr id="8" name="Text 4"/>
          <p:cNvSpPr txBox="1"/>
          <p:nvPr/>
        </p:nvSpPr>
        <p:spPr>
          <a:xfrm>
            <a:off x="640080" y="3703320"/>
            <a:ext cx="7955280" cy="594360"/>
          </a:xfrm>
          <a:prstGeom prst="rect">
            <a:avLst/>
          </a:prstGeom>
          <a:noFill/>
          <a:ln/>
        </p:spPr>
        <p:txBody>
          <a:bodyPr wrap="square" lIns="0" tIns="0" rIns="0" bIns="0" rtlCol="0" anchor="ctr"/>
          <a:lstStyle/>
          <a:p>
            <a:pPr indent="0" marL="0">
              <a:buNone/>
            </a:pPr>
            <a:r>
              <a:rPr lang="en-US" sz="1050" b="1" dirty="0">
                <a:solidFill>
                  <a:srgbClr val="0B7A6F"/>
                </a:solidFill>
                <a:latin typeface="SF Pro Text" pitchFamily="34" charset="0"/>
                <a:ea typeface="SF Pro Text" pitchFamily="34" charset="-122"/>
                <a:cs typeface="SF Pro Text" pitchFamily="34" charset="-120"/>
              </a:rPr>
              <a:t>The story:  </a:t>
            </a:r>
            <a:pPr indent="0" marL="0">
              <a:buNone/>
            </a:pPr>
            <a:r>
              <a:rPr lang="en-US" sz="1050" dirty="0">
                <a:solidFill>
                  <a:srgbClr val="1D1D1F"/>
                </a:solidFill>
                <a:latin typeface="SF Pro Text" pitchFamily="34" charset="0"/>
                <a:ea typeface="SF Pro Text" pitchFamily="34" charset="-122"/>
                <a:cs typeface="SF Pro Text" pitchFamily="34" charset="-120"/>
              </a:rPr>
              <a:t>booked for Sep 21, claimed Sep 14, rescheduled twice by the cleaner, then invoiced on Sep 24.</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Practice: read a job history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Open the practice ticket and answer these four questions.</a:t>
            </a:r>
            <a:endParaRPr lang="en-US" sz="1200" dirty="0"/>
          </a:p>
        </p:txBody>
      </p:sp>
      <p:pic>
        <p:nvPicPr>
          <p:cNvPr id="6" name="Image 0" descr="preencoded.png">
            <a:hlinkClick r:id="rId2" tooltip="Open the practice job history"/>
          </p:cNvPr>
          <p:cNvPicPr>
            <a:picLocks noChangeAspect="1"/>
          </p:cNvPicPr>
          <p:nvPr/>
        </p:nvPicPr>
        <p:blipFill>
          <a:blip r:embed="rId1"/>
          <a:stretch>
            <a:fillRect/>
          </a:stretch>
        </p:blipFill>
        <p:spPr>
          <a:xfrm>
            <a:off x="411480" y="1325880"/>
            <a:ext cx="2834640" cy="548640"/>
          </a:xfrm>
          <a:prstGeom prst="rect">
            <a:avLst/>
          </a:prstGeom>
        </p:spPr>
      </p:pic>
      <p:sp>
        <p:nvSpPr>
          <p:cNvPr id="7" name="Text 3"/>
          <p:cNvSpPr txBox="1"/>
          <p:nvPr/>
        </p:nvSpPr>
        <p:spPr>
          <a:xfrm>
            <a:off x="3429000" y="1463040"/>
            <a:ext cx="2743200" cy="274320"/>
          </a:xfrm>
          <a:prstGeom prst="rect">
            <a:avLst/>
          </a:prstGeom>
          <a:noFill/>
          <a:ln/>
        </p:spPr>
        <p:txBody>
          <a:bodyPr wrap="square" lIns="0" tIns="0" rIns="0" bIns="0" rtlCol="0" anchor="ctr"/>
          <a:lstStyle/>
          <a:p>
            <a:pPr indent="0" marL="0">
              <a:buNone/>
            </a:pPr>
            <a:r>
              <a:rPr lang="en-US" sz="1000" u="sng" dirty="0">
                <a:solidFill>
                  <a:srgbClr val="0B7A6F"/>
                </a:solidFill>
                <a:latin typeface="SF Pro Text" pitchFamily="34" charset="0"/>
                <a:ea typeface="SF Pro Text" pitchFamily="34" charset="-122"/>
                <a:cs typeface="SF Pro Text" pitchFamily="34" charset="-120"/>
                <a:hlinkClick r:id="rId3" invalidUrl="" action="" tgtFrame="" tooltip="" history="1" highlightClick="0" endSnd="0">
                  <a:extLst>
                    <a:ext uri="{A12FA001-AC4F-418D-AE19-62706E023703}">
                      <ahyp:hlinkClr xmlns:ahyp="http://schemas.microsoft.com/office/drawing/2018/hyperlinkcolor" val="tx"/>
                    </a:ext>
                  </a:extLst>
                </a:hlinkClick>
              </a:rPr>
              <a:t>Job 12685237</a:t>
            </a:r>
            <a:endParaRPr lang="en-US" sz="1000" dirty="0"/>
          </a:p>
        </p:txBody>
      </p:sp>
      <p:sp>
        <p:nvSpPr>
          <p:cNvPr id="8" name="Shape 4"/>
          <p:cNvSpPr/>
          <p:nvPr/>
        </p:nvSpPr>
        <p:spPr>
          <a:xfrm>
            <a:off x="411480" y="2103120"/>
            <a:ext cx="4091940" cy="1097280"/>
          </a:xfrm>
          <a:prstGeom prst="roundRect">
            <a:avLst>
              <a:gd name="adj" fmla="val 6667"/>
            </a:avLst>
          </a:prstGeom>
          <a:solidFill>
            <a:srgbClr val="FFFFFF"/>
          </a:solidFill>
          <a:ln w="9525">
            <a:solidFill>
              <a:srgbClr val="DCE1E7"/>
            </a:solidFill>
            <a:prstDash val="solid"/>
          </a:ln>
        </p:spPr>
      </p:sp>
      <p:sp>
        <p:nvSpPr>
          <p:cNvPr id="9" name="Shape 5"/>
          <p:cNvSpPr/>
          <p:nvPr/>
        </p:nvSpPr>
        <p:spPr>
          <a:xfrm>
            <a:off x="576072" y="2286000"/>
            <a:ext cx="274320" cy="274320"/>
          </a:xfrm>
          <a:prstGeom prst="ellipse">
            <a:avLst/>
          </a:prstGeom>
          <a:solidFill>
            <a:srgbClr val="E3F4F1"/>
          </a:solidFill>
          <a:ln w="12700">
            <a:solidFill>
              <a:srgbClr val="E3F4F1"/>
            </a:solidFill>
            <a:prstDash val="solid"/>
          </a:ln>
        </p:spPr>
      </p:sp>
      <p:sp>
        <p:nvSpPr>
          <p:cNvPr id="10" name="Text 6"/>
          <p:cNvSpPr txBox="1"/>
          <p:nvPr/>
        </p:nvSpPr>
        <p:spPr>
          <a:xfrm>
            <a:off x="576072" y="22860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1" name="Text 7"/>
          <p:cNvSpPr txBox="1"/>
          <p:nvPr/>
        </p:nvSpPr>
        <p:spPr>
          <a:xfrm>
            <a:off x="1005840" y="224028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Who booked the appointment?</a:t>
            </a:r>
            <a:endParaRPr lang="en-US" sz="1050" dirty="0"/>
          </a:p>
        </p:txBody>
      </p:sp>
      <p:sp>
        <p:nvSpPr>
          <p:cNvPr id="12" name="Shape 8"/>
          <p:cNvSpPr/>
          <p:nvPr/>
        </p:nvSpPr>
        <p:spPr>
          <a:xfrm>
            <a:off x="4640580" y="2103120"/>
            <a:ext cx="4091940" cy="1097280"/>
          </a:xfrm>
          <a:prstGeom prst="roundRect">
            <a:avLst>
              <a:gd name="adj" fmla="val 6667"/>
            </a:avLst>
          </a:prstGeom>
          <a:solidFill>
            <a:srgbClr val="FFFFFF"/>
          </a:solidFill>
          <a:ln w="9525">
            <a:solidFill>
              <a:srgbClr val="DCE1E7"/>
            </a:solidFill>
            <a:prstDash val="solid"/>
          </a:ln>
        </p:spPr>
      </p:sp>
      <p:sp>
        <p:nvSpPr>
          <p:cNvPr id="13" name="Shape 9"/>
          <p:cNvSpPr/>
          <p:nvPr/>
        </p:nvSpPr>
        <p:spPr>
          <a:xfrm>
            <a:off x="4805172" y="228600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805172" y="22860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1"/>
          <p:cNvSpPr txBox="1"/>
          <p:nvPr/>
        </p:nvSpPr>
        <p:spPr>
          <a:xfrm>
            <a:off x="5234940" y="224028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When was the appointment initially scheduled for?</a:t>
            </a:r>
            <a:endParaRPr lang="en-US" sz="1050" dirty="0"/>
          </a:p>
        </p:txBody>
      </p:sp>
      <p:sp>
        <p:nvSpPr>
          <p:cNvPr id="16" name="Shape 12"/>
          <p:cNvSpPr/>
          <p:nvPr/>
        </p:nvSpPr>
        <p:spPr>
          <a:xfrm>
            <a:off x="411480" y="3337560"/>
            <a:ext cx="4091940" cy="1097280"/>
          </a:xfrm>
          <a:prstGeom prst="roundRect">
            <a:avLst>
              <a:gd name="adj" fmla="val 6667"/>
            </a:avLst>
          </a:prstGeom>
          <a:solidFill>
            <a:srgbClr val="FFFFFF"/>
          </a:solidFill>
          <a:ln w="9525">
            <a:solidFill>
              <a:srgbClr val="DCE1E7"/>
            </a:solidFill>
            <a:prstDash val="solid"/>
          </a:ln>
        </p:spPr>
      </p:sp>
      <p:sp>
        <p:nvSpPr>
          <p:cNvPr id="17" name="Shape 13"/>
          <p:cNvSpPr/>
          <p:nvPr/>
        </p:nvSpPr>
        <p:spPr>
          <a:xfrm>
            <a:off x="576072" y="3520440"/>
            <a:ext cx="274320" cy="274320"/>
          </a:xfrm>
          <a:prstGeom prst="ellipse">
            <a:avLst/>
          </a:prstGeom>
          <a:solidFill>
            <a:srgbClr val="E3F4F1"/>
          </a:solidFill>
          <a:ln w="12700">
            <a:solidFill>
              <a:srgbClr val="E3F4F1"/>
            </a:solidFill>
            <a:prstDash val="solid"/>
          </a:ln>
        </p:spPr>
      </p:sp>
      <p:sp>
        <p:nvSpPr>
          <p:cNvPr id="18" name="Text 14"/>
          <p:cNvSpPr txBox="1"/>
          <p:nvPr/>
        </p:nvSpPr>
        <p:spPr>
          <a:xfrm>
            <a:off x="576072" y="35204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5"/>
          <p:cNvSpPr txBox="1"/>
          <p:nvPr/>
        </p:nvSpPr>
        <p:spPr>
          <a:xfrm>
            <a:off x="1005840" y="347472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The customer writes: "I initially booked for Jan 12 at 1 PM, but I received a notification that I am booked for 2 PM. Why is that?"</a:t>
            </a:r>
            <a:endParaRPr lang="en-US" sz="1050" dirty="0"/>
          </a:p>
        </p:txBody>
      </p:sp>
      <p:sp>
        <p:nvSpPr>
          <p:cNvPr id="20" name="Shape 16"/>
          <p:cNvSpPr/>
          <p:nvPr/>
        </p:nvSpPr>
        <p:spPr>
          <a:xfrm>
            <a:off x="4640580" y="3337560"/>
            <a:ext cx="4091940" cy="1097280"/>
          </a:xfrm>
          <a:prstGeom prst="roundRect">
            <a:avLst>
              <a:gd name="adj" fmla="val 6667"/>
            </a:avLst>
          </a:prstGeom>
          <a:solidFill>
            <a:srgbClr val="FFFFFF"/>
          </a:solidFill>
          <a:ln w="9525">
            <a:solidFill>
              <a:srgbClr val="DCE1E7"/>
            </a:solidFill>
            <a:prstDash val="solid"/>
          </a:ln>
        </p:spPr>
      </p:sp>
      <p:sp>
        <p:nvSpPr>
          <p:cNvPr id="21" name="Shape 17"/>
          <p:cNvSpPr/>
          <p:nvPr/>
        </p:nvSpPr>
        <p:spPr>
          <a:xfrm>
            <a:off x="4805172" y="3520440"/>
            <a:ext cx="274320" cy="274320"/>
          </a:xfrm>
          <a:prstGeom prst="ellipse">
            <a:avLst/>
          </a:prstGeom>
          <a:solidFill>
            <a:srgbClr val="E3F4F1"/>
          </a:solidFill>
          <a:ln w="12700">
            <a:solidFill>
              <a:srgbClr val="E3F4F1"/>
            </a:solidFill>
            <a:prstDash val="solid"/>
          </a:ln>
        </p:spPr>
      </p:sp>
      <p:sp>
        <p:nvSpPr>
          <p:cNvPr id="22" name="Text 18"/>
          <p:cNvSpPr txBox="1"/>
          <p:nvPr/>
        </p:nvSpPr>
        <p:spPr>
          <a:xfrm>
            <a:off x="4805172" y="35204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3" name="Text 19"/>
          <p:cNvSpPr txBox="1"/>
          <p:nvPr/>
        </p:nvSpPr>
        <p:spPr>
          <a:xfrm>
            <a:off x="5234940" y="347472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What happened on Jan 8 at 5:58 PM?</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Callback Handling</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When to call a customer back, how many times to try, and what to do next.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to call</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call steps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Answered, missed or voicemail</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Keeping callbacks from slipping</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Asked for a call? Call them.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We don't take inbound calls, but we call out when a customer asks, or when something needs an answer now.</a:t>
            </a:r>
            <a:endParaRPr lang="en-US" sz="1200" dirty="0"/>
          </a:p>
        </p:txBody>
      </p:sp>
      <p:sp>
        <p:nvSpPr>
          <p:cNvPr id="6" name="Shape 3"/>
          <p:cNvSpPr/>
          <p:nvPr/>
        </p:nvSpPr>
        <p:spPr>
          <a:xfrm>
            <a:off x="411480" y="1371600"/>
            <a:ext cx="8321040" cy="1005840"/>
          </a:xfrm>
          <a:prstGeom prst="roundRect">
            <a:avLst>
              <a:gd name="adj" fmla="val 7273"/>
            </a:avLst>
          </a:prstGeom>
          <a:solidFill>
            <a:srgbClr val="0B7A6F"/>
          </a:solidFill>
          <a:ln w="9525">
            <a:solidFill>
              <a:srgbClr val="0B7A6F"/>
            </a:solidFill>
            <a:prstDash val="solid"/>
          </a:ln>
        </p:spPr>
      </p:sp>
      <p:sp>
        <p:nvSpPr>
          <p:cNvPr id="7" name="Text 4"/>
          <p:cNvSpPr txBox="1"/>
          <p:nvPr/>
        </p:nvSpPr>
        <p:spPr>
          <a:xfrm>
            <a:off x="685800" y="1490472"/>
            <a:ext cx="4572000" cy="182880"/>
          </a:xfrm>
          <a:prstGeom prst="rect">
            <a:avLst/>
          </a:prstGeom>
          <a:noFill/>
          <a:ln/>
        </p:spPr>
        <p:txBody>
          <a:bodyPr wrap="square" lIns="0" tIns="0" rIns="0" bIns="0" rtlCol="0" anchor="t"/>
          <a:lstStyle/>
          <a:p>
            <a:pPr indent="0" marL="0">
              <a:buNone/>
            </a:pPr>
            <a:r>
              <a:rPr lang="en-US" sz="800" b="1" spc="50" kern="0" dirty="0">
                <a:solidFill>
                  <a:srgbClr val="FFFFFF"/>
                </a:solidFill>
                <a:latin typeface="SF Pro Display" pitchFamily="34" charset="0"/>
                <a:ea typeface="SF Pro Display" pitchFamily="34" charset="-122"/>
                <a:cs typeface="SF Pro Display" pitchFamily="34" charset="-120"/>
              </a:rPr>
              <a:t>AGENT DO</a:t>
            </a:r>
            <a:endParaRPr lang="en-US" sz="800" dirty="0"/>
          </a:p>
        </p:txBody>
      </p:sp>
      <p:sp>
        <p:nvSpPr>
          <p:cNvPr id="8" name="Text 5"/>
          <p:cNvSpPr txBox="1"/>
          <p:nvPr/>
        </p:nvSpPr>
        <p:spPr>
          <a:xfrm>
            <a:off x="685800" y="1719072"/>
            <a:ext cx="7863840" cy="548640"/>
          </a:xfrm>
          <a:prstGeom prst="rect">
            <a:avLst/>
          </a:prstGeom>
          <a:noFill/>
          <a:ln/>
        </p:spPr>
        <p:txBody>
          <a:bodyPr wrap="square" lIns="0" tIns="0" rIns="0" bIns="0" rtlCol="0" anchor="t"/>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Callback request between 8 AM and 8 PM (customer's local time)? Call right away. The request is enough.</a:t>
            </a:r>
            <a:endParaRPr lang="en-US" sz="1400" dirty="0"/>
          </a:p>
        </p:txBody>
      </p:sp>
      <p:sp>
        <p:nvSpPr>
          <p:cNvPr id="9" name="Shape 6"/>
          <p:cNvSpPr/>
          <p:nvPr/>
        </p:nvSpPr>
        <p:spPr>
          <a:xfrm>
            <a:off x="411480" y="2560320"/>
            <a:ext cx="4091940" cy="1508760"/>
          </a:xfrm>
          <a:prstGeom prst="roundRect">
            <a:avLst>
              <a:gd name="adj" fmla="val 4848"/>
            </a:avLst>
          </a:prstGeom>
          <a:solidFill>
            <a:srgbClr val="FFFFFF"/>
          </a:solidFill>
          <a:ln w="9525">
            <a:solidFill>
              <a:srgbClr val="DCE1E7"/>
            </a:solidFill>
            <a:prstDash val="solid"/>
          </a:ln>
        </p:spPr>
      </p:sp>
      <p:sp>
        <p:nvSpPr>
          <p:cNvPr id="10" name="Shape 7"/>
          <p:cNvSpPr/>
          <p:nvPr/>
        </p:nvSpPr>
        <p:spPr>
          <a:xfrm>
            <a:off x="576072" y="2724912"/>
            <a:ext cx="329184" cy="329184"/>
          </a:xfrm>
          <a:prstGeom prst="ellipse">
            <a:avLst/>
          </a:prstGeom>
          <a:solidFill>
            <a:srgbClr val="E3F4F1"/>
          </a:solidFill>
          <a:ln w="12700">
            <a:solidFill>
              <a:srgbClr val="E3F4F1"/>
            </a:solidFill>
            <a:prstDash val="solid"/>
          </a:ln>
        </p:spPr>
      </p:sp>
      <p:pic>
        <p:nvPicPr>
          <p:cNvPr id="11" name="Image 0" descr="preencoded.png">    </p:cNvPr>
          <p:cNvPicPr>
            <a:picLocks noChangeAspect="1"/>
          </p:cNvPicPr>
          <p:nvPr/>
        </p:nvPicPr>
        <p:blipFill>
          <a:blip r:embed="rId1"/>
          <a:stretch>
            <a:fillRect/>
          </a:stretch>
        </p:blipFill>
        <p:spPr>
          <a:xfrm>
            <a:off x="655076" y="2803916"/>
            <a:ext cx="171176" cy="171176"/>
          </a:xfrm>
          <a:prstGeom prst="rect">
            <a:avLst/>
          </a:prstGeom>
        </p:spPr>
      </p:pic>
      <p:sp>
        <p:nvSpPr>
          <p:cNvPr id="12" name="Text 8"/>
          <p:cNvSpPr txBox="1"/>
          <p:nvPr/>
        </p:nvSpPr>
        <p:spPr>
          <a:xfrm>
            <a:off x="576072" y="3163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Respect their choice</a:t>
            </a:r>
            <a:endParaRPr lang="en-US" sz="1200" dirty="0"/>
          </a:p>
        </p:txBody>
      </p:sp>
      <p:sp>
        <p:nvSpPr>
          <p:cNvPr id="13" name="Text 9"/>
          <p:cNvSpPr txBox="1"/>
          <p:nvPr/>
        </p:nvSpPr>
        <p:spPr>
          <a:xfrm>
            <a:off x="576072" y="3456432"/>
            <a:ext cx="3762756" cy="5212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asked for a call, so they get one, however minor the ticket looks.</a:t>
            </a:r>
            <a:endParaRPr lang="en-US" sz="950" dirty="0"/>
          </a:p>
        </p:txBody>
      </p:sp>
      <p:sp>
        <p:nvSpPr>
          <p:cNvPr id="14" name="Shape 10"/>
          <p:cNvSpPr/>
          <p:nvPr/>
        </p:nvSpPr>
        <p:spPr>
          <a:xfrm>
            <a:off x="4640580" y="2560320"/>
            <a:ext cx="4091940" cy="1508760"/>
          </a:xfrm>
          <a:prstGeom prst="roundRect">
            <a:avLst>
              <a:gd name="adj" fmla="val 4848"/>
            </a:avLst>
          </a:prstGeom>
          <a:solidFill>
            <a:srgbClr val="FFFFFF"/>
          </a:solidFill>
          <a:ln w="9525">
            <a:solidFill>
              <a:srgbClr val="DCE1E7"/>
            </a:solidFill>
            <a:prstDash val="solid"/>
          </a:ln>
        </p:spPr>
      </p:sp>
      <p:sp>
        <p:nvSpPr>
          <p:cNvPr id="15" name="Shape 11"/>
          <p:cNvSpPr/>
          <p:nvPr/>
        </p:nvSpPr>
        <p:spPr>
          <a:xfrm>
            <a:off x="4805172" y="2724912"/>
            <a:ext cx="329184" cy="329184"/>
          </a:xfrm>
          <a:prstGeom prst="ellipse">
            <a:avLst/>
          </a:prstGeom>
          <a:solidFill>
            <a:srgbClr val="E3F4F1"/>
          </a:solidFill>
          <a:ln w="12700">
            <a:solidFill>
              <a:srgbClr val="E3F4F1"/>
            </a:solidFill>
            <a:prstDash val="solid"/>
          </a:ln>
        </p:spPr>
      </p:sp>
      <p:pic>
        <p:nvPicPr>
          <p:cNvPr id="16" name="Image 1" descr="preencoded.png">    </p:cNvPr>
          <p:cNvPicPr>
            <a:picLocks noChangeAspect="1"/>
          </p:cNvPicPr>
          <p:nvPr/>
        </p:nvPicPr>
        <p:blipFill>
          <a:blip r:embed="rId2"/>
          <a:stretch>
            <a:fillRect/>
          </a:stretch>
        </p:blipFill>
        <p:spPr>
          <a:xfrm>
            <a:off x="4884176" y="2803916"/>
            <a:ext cx="171176" cy="171176"/>
          </a:xfrm>
          <a:prstGeom prst="rect">
            <a:avLst/>
          </a:prstGeom>
        </p:spPr>
      </p:pic>
      <p:sp>
        <p:nvSpPr>
          <p:cNvPr id="17" name="Text 12"/>
          <p:cNvSpPr txBox="1"/>
          <p:nvPr/>
        </p:nvSpPr>
        <p:spPr>
          <a:xfrm>
            <a:off x="4805172" y="3163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lose a callback</a:t>
            </a:r>
            <a:endParaRPr lang="en-US" sz="1200" dirty="0"/>
          </a:p>
        </p:txBody>
      </p:sp>
      <p:sp>
        <p:nvSpPr>
          <p:cNvPr id="18" name="Text 13"/>
          <p:cNvSpPr txBox="1"/>
          <p:nvPr/>
        </p:nvSpPr>
        <p:spPr>
          <a:xfrm>
            <a:off x="4805172" y="3456432"/>
            <a:ext cx="3762756" cy="5212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Reminders and the tracker keep promises from slipping between shifts.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call steps</a:t>
            </a:r>
            <a:endParaRPr lang="en-US" sz="2400" dirty="0"/>
          </a:p>
        </p:txBody>
      </p:sp>
      <p:sp>
        <p:nvSpPr>
          <p:cNvPr id="5" name="Shape 2"/>
          <p:cNvSpPr/>
          <p:nvPr/>
        </p:nvSpPr>
        <p:spPr>
          <a:xfrm>
            <a:off x="411480" y="1280160"/>
            <a:ext cx="2468880" cy="2194560"/>
          </a:xfrm>
          <a:prstGeom prst="roundRect">
            <a:avLst>
              <a:gd name="adj" fmla="val 3333"/>
            </a:avLst>
          </a:prstGeom>
          <a:solidFill>
            <a:srgbClr val="FFFFFF"/>
          </a:solidFill>
          <a:ln w="9525">
            <a:solidFill>
              <a:srgbClr val="DCE1E7"/>
            </a:solidFill>
            <a:prstDash val="solid"/>
          </a:ln>
        </p:spPr>
      </p:sp>
      <p:sp>
        <p:nvSpPr>
          <p:cNvPr id="6" name="Shape 3"/>
          <p:cNvSpPr/>
          <p:nvPr/>
        </p:nvSpPr>
        <p:spPr>
          <a:xfrm>
            <a:off x="1371600" y="1463040"/>
            <a:ext cx="548640" cy="548640"/>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1503274" y="1594714"/>
            <a:ext cx="285293" cy="285293"/>
          </a:xfrm>
          <a:prstGeom prst="rect">
            <a:avLst/>
          </a:prstGeom>
        </p:spPr>
      </p:pic>
      <p:sp>
        <p:nvSpPr>
          <p:cNvPr id="8" name="Text 4"/>
          <p:cNvSpPr txBox="1"/>
          <p:nvPr/>
        </p:nvSpPr>
        <p:spPr>
          <a:xfrm>
            <a:off x="411480" y="2121408"/>
            <a:ext cx="2468880"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1</a:t>
            </a:r>
            <a:endParaRPr lang="en-US" sz="800" dirty="0"/>
          </a:p>
        </p:txBody>
      </p:sp>
      <p:sp>
        <p:nvSpPr>
          <p:cNvPr id="9" name="Text 5"/>
          <p:cNvSpPr txBox="1"/>
          <p:nvPr/>
        </p:nvSpPr>
        <p:spPr>
          <a:xfrm>
            <a:off x="548640" y="2331720"/>
            <a:ext cx="2194560" cy="320040"/>
          </a:xfrm>
          <a:prstGeom prst="rect">
            <a:avLst/>
          </a:prstGeom>
          <a:noFill/>
          <a:ln/>
        </p:spPr>
        <p:txBody>
          <a:bodyPr wrap="square" lIns="0" tIns="0" rIns="0" bIns="0" rtlCol="0" anchor="t"/>
          <a:lstStyle/>
          <a:p>
            <a:pPr algn="ctr" indent="0" marL="0">
              <a:buNone/>
            </a:pPr>
            <a:r>
              <a:rPr lang="en-US" sz="1250" b="1" dirty="0">
                <a:solidFill>
                  <a:srgbClr val="1D1D1F"/>
                </a:solidFill>
                <a:latin typeface="SF Pro Display" pitchFamily="34" charset="0"/>
                <a:ea typeface="SF Pro Display" pitchFamily="34" charset="-122"/>
                <a:cs typeface="SF Pro Display" pitchFamily="34" charset="-120"/>
              </a:rPr>
              <a:t>Callback requested?</a:t>
            </a:r>
            <a:endParaRPr lang="en-US" sz="1250" dirty="0"/>
          </a:p>
        </p:txBody>
      </p:sp>
      <p:sp>
        <p:nvSpPr>
          <p:cNvPr id="10" name="Text 6"/>
          <p:cNvSpPr txBox="1"/>
          <p:nvPr/>
        </p:nvSpPr>
        <p:spPr>
          <a:xfrm>
            <a:off x="548640" y="269748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No: handle the ticket as usual</a:t>
            </a:r>
            <a:endParaRPr lang="en-US" sz="1000" dirty="0"/>
          </a:p>
        </p:txBody>
      </p:sp>
      <p:pic>
        <p:nvPicPr>
          <p:cNvPr id="11" name="Image 1" descr="preencoded.png">    </p:cNvPr>
          <p:cNvPicPr>
            <a:picLocks noChangeAspect="1"/>
          </p:cNvPicPr>
          <p:nvPr/>
        </p:nvPicPr>
        <p:blipFill>
          <a:blip r:embed="rId2"/>
          <a:stretch>
            <a:fillRect/>
          </a:stretch>
        </p:blipFill>
        <p:spPr>
          <a:xfrm>
            <a:off x="2999232" y="2240280"/>
            <a:ext cx="219456" cy="219456"/>
          </a:xfrm>
          <a:prstGeom prst="rect">
            <a:avLst/>
          </a:prstGeom>
        </p:spPr>
      </p:pic>
      <p:sp>
        <p:nvSpPr>
          <p:cNvPr id="12" name="Shape 7"/>
          <p:cNvSpPr/>
          <p:nvPr/>
        </p:nvSpPr>
        <p:spPr>
          <a:xfrm>
            <a:off x="3337560" y="1280160"/>
            <a:ext cx="2468880" cy="2194560"/>
          </a:xfrm>
          <a:prstGeom prst="roundRect">
            <a:avLst>
              <a:gd name="adj" fmla="val 3333"/>
            </a:avLst>
          </a:prstGeom>
          <a:solidFill>
            <a:srgbClr val="FFFFFF"/>
          </a:solidFill>
          <a:ln w="9525">
            <a:solidFill>
              <a:srgbClr val="DCE1E7"/>
            </a:solidFill>
            <a:prstDash val="solid"/>
          </a:ln>
        </p:spPr>
      </p:sp>
      <p:sp>
        <p:nvSpPr>
          <p:cNvPr id="13" name="Shape 8"/>
          <p:cNvSpPr/>
          <p:nvPr/>
        </p:nvSpPr>
        <p:spPr>
          <a:xfrm>
            <a:off x="4297680" y="1463040"/>
            <a:ext cx="548640" cy="548640"/>
          </a:xfrm>
          <a:prstGeom prst="ellipse">
            <a:avLst/>
          </a:prstGeom>
          <a:solidFill>
            <a:srgbClr val="E3F4F1"/>
          </a:solidFill>
          <a:ln w="12700">
            <a:solidFill>
              <a:srgbClr val="E3F4F1"/>
            </a:solidFill>
            <a:prstDash val="solid"/>
          </a:ln>
        </p:spPr>
      </p:sp>
      <p:pic>
        <p:nvPicPr>
          <p:cNvPr id="14" name="Image 2" descr="preencoded.png">    </p:cNvPr>
          <p:cNvPicPr>
            <a:picLocks noChangeAspect="1"/>
          </p:cNvPicPr>
          <p:nvPr/>
        </p:nvPicPr>
        <p:blipFill>
          <a:blip r:embed="rId3"/>
          <a:stretch>
            <a:fillRect/>
          </a:stretch>
        </p:blipFill>
        <p:spPr>
          <a:xfrm>
            <a:off x="4429354" y="1594714"/>
            <a:ext cx="285293" cy="285293"/>
          </a:xfrm>
          <a:prstGeom prst="rect">
            <a:avLst/>
          </a:prstGeom>
        </p:spPr>
      </p:pic>
      <p:sp>
        <p:nvSpPr>
          <p:cNvPr id="15" name="Text 9"/>
          <p:cNvSpPr txBox="1"/>
          <p:nvPr/>
        </p:nvSpPr>
        <p:spPr>
          <a:xfrm>
            <a:off x="3337560" y="2121408"/>
            <a:ext cx="2468880"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2</a:t>
            </a:r>
            <a:endParaRPr lang="en-US" sz="800" dirty="0"/>
          </a:p>
        </p:txBody>
      </p:sp>
      <p:sp>
        <p:nvSpPr>
          <p:cNvPr id="16" name="Text 10"/>
          <p:cNvSpPr txBox="1"/>
          <p:nvPr/>
        </p:nvSpPr>
        <p:spPr>
          <a:xfrm>
            <a:off x="3474720" y="2331720"/>
            <a:ext cx="2194560" cy="320040"/>
          </a:xfrm>
          <a:prstGeom prst="rect">
            <a:avLst/>
          </a:prstGeom>
          <a:noFill/>
          <a:ln/>
        </p:spPr>
        <p:txBody>
          <a:bodyPr wrap="square" lIns="0" tIns="0" rIns="0" bIns="0" rtlCol="0" anchor="t"/>
          <a:lstStyle/>
          <a:p>
            <a:pPr algn="ctr" indent="0" marL="0">
              <a:buNone/>
            </a:pPr>
            <a:r>
              <a:rPr lang="en-US" sz="1250" b="1" dirty="0">
                <a:solidFill>
                  <a:srgbClr val="1D1D1F"/>
                </a:solidFill>
                <a:latin typeface="SF Pro Display" pitchFamily="34" charset="0"/>
                <a:ea typeface="SF Pro Display" pitchFamily="34" charset="-122"/>
                <a:cs typeface="SF Pro Display" pitchFamily="34" charset="-120"/>
              </a:rPr>
              <a:t>8 AM – 8 PM their time?</a:t>
            </a:r>
            <a:endParaRPr lang="en-US" sz="1250" dirty="0"/>
          </a:p>
        </p:txBody>
      </p:sp>
      <p:sp>
        <p:nvSpPr>
          <p:cNvPr id="17" name="Text 11"/>
          <p:cNvSpPr txBox="1"/>
          <p:nvPr/>
        </p:nvSpPr>
        <p:spPr>
          <a:xfrm>
            <a:off x="3474720" y="269748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No: email, and ask for their availability</a:t>
            </a:r>
            <a:endParaRPr lang="en-US" sz="1000" dirty="0"/>
          </a:p>
        </p:txBody>
      </p:sp>
      <p:pic>
        <p:nvPicPr>
          <p:cNvPr id="18" name="Image 3" descr="preencoded.png">    </p:cNvPr>
          <p:cNvPicPr>
            <a:picLocks noChangeAspect="1"/>
          </p:cNvPicPr>
          <p:nvPr/>
        </p:nvPicPr>
        <p:blipFill>
          <a:blip r:embed="rId4"/>
          <a:stretch>
            <a:fillRect/>
          </a:stretch>
        </p:blipFill>
        <p:spPr>
          <a:xfrm>
            <a:off x="5925312" y="2240280"/>
            <a:ext cx="219456" cy="219456"/>
          </a:xfrm>
          <a:prstGeom prst="rect">
            <a:avLst/>
          </a:prstGeom>
        </p:spPr>
      </p:pic>
      <p:sp>
        <p:nvSpPr>
          <p:cNvPr id="19" name="Shape 12"/>
          <p:cNvSpPr/>
          <p:nvPr/>
        </p:nvSpPr>
        <p:spPr>
          <a:xfrm>
            <a:off x="6263640" y="1280160"/>
            <a:ext cx="2468880" cy="2194560"/>
          </a:xfrm>
          <a:prstGeom prst="roundRect">
            <a:avLst>
              <a:gd name="adj" fmla="val 3333"/>
            </a:avLst>
          </a:prstGeom>
          <a:solidFill>
            <a:srgbClr val="FFFFFF"/>
          </a:solidFill>
          <a:ln w="9525">
            <a:solidFill>
              <a:srgbClr val="DCE1E7"/>
            </a:solidFill>
            <a:prstDash val="solid"/>
          </a:ln>
        </p:spPr>
      </p:sp>
      <p:sp>
        <p:nvSpPr>
          <p:cNvPr id="20" name="Shape 13"/>
          <p:cNvSpPr/>
          <p:nvPr/>
        </p:nvSpPr>
        <p:spPr>
          <a:xfrm>
            <a:off x="7223760" y="1463040"/>
            <a:ext cx="548640" cy="548640"/>
          </a:xfrm>
          <a:prstGeom prst="ellipse">
            <a:avLst/>
          </a:prstGeom>
          <a:solidFill>
            <a:srgbClr val="E3F4F1"/>
          </a:solidFill>
          <a:ln w="12700">
            <a:solidFill>
              <a:srgbClr val="E3F4F1"/>
            </a:solidFill>
            <a:prstDash val="solid"/>
          </a:ln>
        </p:spPr>
      </p:sp>
      <p:pic>
        <p:nvPicPr>
          <p:cNvPr id="21" name="Image 4" descr="preencoded.png">    </p:cNvPr>
          <p:cNvPicPr>
            <a:picLocks noChangeAspect="1"/>
          </p:cNvPicPr>
          <p:nvPr/>
        </p:nvPicPr>
        <p:blipFill>
          <a:blip r:embed="rId5"/>
          <a:stretch>
            <a:fillRect/>
          </a:stretch>
        </p:blipFill>
        <p:spPr>
          <a:xfrm>
            <a:off x="7355434" y="1594714"/>
            <a:ext cx="285293" cy="285293"/>
          </a:xfrm>
          <a:prstGeom prst="rect">
            <a:avLst/>
          </a:prstGeom>
        </p:spPr>
      </p:pic>
      <p:sp>
        <p:nvSpPr>
          <p:cNvPr id="22" name="Text 14"/>
          <p:cNvSpPr txBox="1"/>
          <p:nvPr/>
        </p:nvSpPr>
        <p:spPr>
          <a:xfrm>
            <a:off x="6263640" y="2121408"/>
            <a:ext cx="2468880"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3</a:t>
            </a:r>
            <a:endParaRPr lang="en-US" sz="800" dirty="0"/>
          </a:p>
        </p:txBody>
      </p:sp>
      <p:sp>
        <p:nvSpPr>
          <p:cNvPr id="23" name="Text 15"/>
          <p:cNvSpPr txBox="1"/>
          <p:nvPr/>
        </p:nvSpPr>
        <p:spPr>
          <a:xfrm>
            <a:off x="6400800" y="2331720"/>
            <a:ext cx="2194560" cy="320040"/>
          </a:xfrm>
          <a:prstGeom prst="rect">
            <a:avLst/>
          </a:prstGeom>
          <a:noFill/>
          <a:ln/>
        </p:spPr>
        <p:txBody>
          <a:bodyPr wrap="square" lIns="0" tIns="0" rIns="0" bIns="0" rtlCol="0" anchor="t"/>
          <a:lstStyle/>
          <a:p>
            <a:pPr algn="ctr" indent="0" marL="0">
              <a:buNone/>
            </a:pPr>
            <a:r>
              <a:rPr lang="en-US" sz="1250" b="1" dirty="0">
                <a:solidFill>
                  <a:srgbClr val="1D1D1F"/>
                </a:solidFill>
                <a:latin typeface="SF Pro Display" pitchFamily="34" charset="0"/>
                <a:ea typeface="SF Pro Display" pitchFamily="34" charset="-122"/>
                <a:cs typeface="SF Pro Display" pitchFamily="34" charset="-120"/>
              </a:rPr>
              <a:t>Call up to 3 times</a:t>
            </a:r>
            <a:endParaRPr lang="en-US" sz="1250" dirty="0"/>
          </a:p>
        </p:txBody>
      </p:sp>
      <p:sp>
        <p:nvSpPr>
          <p:cNvPr id="24" name="Text 16"/>
          <p:cNvSpPr txBox="1"/>
          <p:nvPr/>
        </p:nvSpPr>
        <p:spPr>
          <a:xfrm>
            <a:off x="6400800" y="269748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Primary CRM, then Google Voice, then Secondary CRM</a:t>
            </a:r>
            <a:endParaRPr lang="en-US" sz="1000" dirty="0"/>
          </a:p>
        </p:txBody>
      </p:sp>
      <p:sp>
        <p:nvSpPr>
          <p:cNvPr id="25" name="Shape 17"/>
          <p:cNvSpPr/>
          <p:nvPr/>
        </p:nvSpPr>
        <p:spPr>
          <a:xfrm>
            <a:off x="411480" y="3703320"/>
            <a:ext cx="8321040" cy="384048"/>
          </a:xfrm>
          <a:prstGeom prst="roundRect">
            <a:avLst>
              <a:gd name="adj" fmla="val 19048"/>
            </a:avLst>
          </a:prstGeom>
          <a:solidFill>
            <a:srgbClr val="FFF3D6"/>
          </a:solidFill>
          <a:ln w="9525">
            <a:solidFill>
              <a:srgbClr val="FFF3D6"/>
            </a:solidFill>
            <a:prstDash val="solid"/>
          </a:ln>
        </p:spPr>
      </p:sp>
      <p:pic>
        <p:nvPicPr>
          <p:cNvPr id="26" name="Image 5" descr="preencoded.png">    </p:cNvPr>
          <p:cNvPicPr>
            <a:picLocks noChangeAspect="1"/>
          </p:cNvPicPr>
          <p:nvPr/>
        </p:nvPicPr>
        <p:blipFill>
          <a:blip r:embed="rId6"/>
          <a:stretch>
            <a:fillRect/>
          </a:stretch>
        </p:blipFill>
        <p:spPr>
          <a:xfrm>
            <a:off x="566928" y="3813048"/>
            <a:ext cx="164592" cy="164592"/>
          </a:xfrm>
          <a:prstGeom prst="rect">
            <a:avLst/>
          </a:prstGeom>
        </p:spPr>
      </p:pic>
      <p:sp>
        <p:nvSpPr>
          <p:cNvPr id="27" name="Text 18"/>
          <p:cNvSpPr txBox="1"/>
          <p:nvPr/>
        </p:nvSpPr>
        <p:spPr>
          <a:xfrm>
            <a:off x="822960" y="38039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Call order:  </a:t>
            </a:r>
            <a:pPr indent="0" marL="0">
              <a:buNone/>
            </a:pPr>
            <a:r>
              <a:rPr lang="en-US" sz="1000" dirty="0">
                <a:solidFill>
                  <a:srgbClr val="1D1D1F"/>
                </a:solidFill>
                <a:latin typeface="SF Pro Text" pitchFamily="34" charset="0"/>
                <a:ea typeface="SF Pro Text" pitchFamily="34" charset="-122"/>
                <a:cs typeface="SF Pro Text" pitchFamily="34" charset="-120"/>
              </a:rPr>
              <a:t>Primary CRM, then Google Voice, then Secondary CRM.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happens next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Every call ends one of three ways.</a:t>
            </a:r>
            <a:endParaRPr lang="en-US" sz="1200" dirty="0"/>
          </a:p>
        </p:txBody>
      </p:sp>
      <p:sp>
        <p:nvSpPr>
          <p:cNvPr id="6" name="Shape 3"/>
          <p:cNvSpPr/>
          <p:nvPr/>
        </p:nvSpPr>
        <p:spPr>
          <a:xfrm>
            <a:off x="411480" y="1325880"/>
            <a:ext cx="26822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76072"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68244" y="1573500"/>
            <a:ext cx="199705" cy="199705"/>
          </a:xfrm>
          <a:prstGeom prst="rect">
            <a:avLst/>
          </a:prstGeom>
        </p:spPr>
      </p:pic>
      <p:sp>
        <p:nvSpPr>
          <p:cNvPr id="9" name="Text 5"/>
          <p:cNvSpPr txBox="1"/>
          <p:nvPr/>
        </p:nvSpPr>
        <p:spPr>
          <a:xfrm>
            <a:off x="1069848" y="1481328"/>
            <a:ext cx="19050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Answered</a:t>
            </a:r>
            <a:endParaRPr lang="en-US" sz="1300" dirty="0"/>
          </a:p>
        </p:txBody>
      </p:sp>
      <p:sp>
        <p:nvSpPr>
          <p:cNvPr id="10" name="Text 6"/>
          <p:cNvSpPr txBox="1"/>
          <p:nvPr/>
        </p:nvSpPr>
        <p:spPr>
          <a:xfrm>
            <a:off x="576072" y="2011680"/>
            <a:ext cx="2353056" cy="155448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Try to resolve it on the call</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Email a summary of what was discussed</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Log an internal note. Calls aren't recorded</a:t>
            </a:r>
            <a:endParaRPr lang="en-US" sz="1000" dirty="0"/>
          </a:p>
        </p:txBody>
      </p:sp>
      <p:sp>
        <p:nvSpPr>
          <p:cNvPr id="11" name="Shape 7"/>
          <p:cNvSpPr/>
          <p:nvPr/>
        </p:nvSpPr>
        <p:spPr>
          <a:xfrm>
            <a:off x="3230880" y="1325880"/>
            <a:ext cx="26822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3395472" y="1481328"/>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87644" y="1573500"/>
            <a:ext cx="199705" cy="199705"/>
          </a:xfrm>
          <a:prstGeom prst="rect">
            <a:avLst/>
          </a:prstGeom>
        </p:spPr>
      </p:pic>
      <p:sp>
        <p:nvSpPr>
          <p:cNvPr id="14" name="Text 9"/>
          <p:cNvSpPr txBox="1"/>
          <p:nvPr/>
        </p:nvSpPr>
        <p:spPr>
          <a:xfrm>
            <a:off x="3889248" y="1481328"/>
            <a:ext cx="19050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answered</a:t>
            </a:r>
            <a:endParaRPr lang="en-US" sz="1300" dirty="0"/>
          </a:p>
        </p:txBody>
      </p:sp>
      <p:sp>
        <p:nvSpPr>
          <p:cNvPr id="15" name="Text 10"/>
          <p:cNvSpPr txBox="1"/>
          <p:nvPr/>
        </p:nvSpPr>
        <p:spPr>
          <a:xfrm>
            <a:off x="3395472" y="2011680"/>
            <a:ext cx="2353056" cy="155448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Address the concern by email</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Ask for their availability for a callback</a:t>
            </a:r>
            <a:endParaRPr lang="en-US" sz="1000" dirty="0"/>
          </a:p>
        </p:txBody>
      </p:sp>
      <p:sp>
        <p:nvSpPr>
          <p:cNvPr id="16" name="Shape 11"/>
          <p:cNvSpPr/>
          <p:nvPr/>
        </p:nvSpPr>
        <p:spPr>
          <a:xfrm>
            <a:off x="6050280" y="1325880"/>
            <a:ext cx="2682240" cy="2331720"/>
          </a:xfrm>
          <a:prstGeom prst="roundRect">
            <a:avLst>
              <a:gd name="adj" fmla="val 3137"/>
            </a:avLst>
          </a:prstGeom>
          <a:solidFill>
            <a:srgbClr val="FFFFFF"/>
          </a:solidFill>
          <a:ln w="9525">
            <a:solidFill>
              <a:srgbClr val="DCE1E7"/>
            </a:solidFill>
            <a:prstDash val="solid"/>
          </a:ln>
        </p:spPr>
      </p:sp>
      <p:sp>
        <p:nvSpPr>
          <p:cNvPr id="17" name="Shape 12"/>
          <p:cNvSpPr/>
          <p:nvPr/>
        </p:nvSpPr>
        <p:spPr>
          <a:xfrm>
            <a:off x="6214872" y="1481328"/>
            <a:ext cx="384048" cy="384048"/>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307044" y="1573500"/>
            <a:ext cx="199705" cy="199705"/>
          </a:xfrm>
          <a:prstGeom prst="rect">
            <a:avLst/>
          </a:prstGeom>
        </p:spPr>
      </p:pic>
      <p:sp>
        <p:nvSpPr>
          <p:cNvPr id="19" name="Text 13"/>
          <p:cNvSpPr txBox="1"/>
          <p:nvPr/>
        </p:nvSpPr>
        <p:spPr>
          <a:xfrm>
            <a:off x="6708648" y="1481328"/>
            <a:ext cx="19050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Voicemail</a:t>
            </a:r>
            <a:endParaRPr lang="en-US" sz="1300" dirty="0"/>
          </a:p>
        </p:txBody>
      </p:sp>
      <p:sp>
        <p:nvSpPr>
          <p:cNvPr id="20" name="Text 14"/>
          <p:cNvSpPr txBox="1"/>
          <p:nvPr/>
        </p:nvSpPr>
        <p:spPr>
          <a:xfrm>
            <a:off x="6214872" y="2011680"/>
            <a:ext cx="2353056" cy="155448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Leave a voicemail, if applicable</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Send an email and an SMS</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Wait 10 minutes, then check the ticket again</a:t>
            </a:r>
            <a:endParaRPr lang="en-US" sz="1000" dirty="0"/>
          </a:p>
        </p:txBody>
      </p:sp>
      <p:sp>
        <p:nvSpPr>
          <p:cNvPr id="21" name="Shape 15"/>
          <p:cNvSpPr/>
          <p:nvPr/>
        </p:nvSpPr>
        <p:spPr>
          <a:xfrm>
            <a:off x="411480" y="384048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950208"/>
            <a:ext cx="164592" cy="164592"/>
          </a:xfrm>
          <a:prstGeom prst="rect">
            <a:avLst/>
          </a:prstGeom>
        </p:spPr>
      </p:pic>
      <p:sp>
        <p:nvSpPr>
          <p:cNvPr id="23" name="Text 16"/>
          <p:cNvSpPr txBox="1"/>
          <p:nvPr/>
        </p:nvSpPr>
        <p:spPr>
          <a:xfrm>
            <a:off x="822960" y="39410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"Call me now"?  </a:t>
            </a:r>
            <a:pPr indent="0" marL="0">
              <a:buNone/>
            </a:pPr>
            <a:r>
              <a:rPr lang="en-US" sz="1000" dirty="0">
                <a:solidFill>
                  <a:srgbClr val="1D1D1F"/>
                </a:solidFill>
                <a:latin typeface="SF Pro Text" pitchFamily="34" charset="0"/>
                <a:ea typeface="SF Pro Text" pitchFamily="34" charset="-122"/>
                <a:cs typeface="SF Pro Text" pitchFamily="34" charset="-120"/>
              </a:rPr>
              <a:t>if they reply asking for an immediate call, call right away, even inside the 10 minutes.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Once they share their availability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Create a timed reminder assigned to "Any CS", then pick your path.</a:t>
            </a:r>
            <a:endParaRPr lang="en-US" sz="1200" dirty="0"/>
          </a:p>
        </p:txBody>
      </p:sp>
      <p:sp>
        <p:nvSpPr>
          <p:cNvPr id="6" name="Shape 3"/>
          <p:cNvSpPr/>
          <p:nvPr/>
        </p:nvSpPr>
        <p:spPr>
          <a:xfrm>
            <a:off x="411480" y="1371600"/>
            <a:ext cx="8321040" cy="685800"/>
          </a:xfrm>
          <a:prstGeom prst="roundRect">
            <a:avLst>
              <a:gd name="adj" fmla="val 10667"/>
            </a:avLst>
          </a:prstGeom>
          <a:solidFill>
            <a:srgbClr val="0B7A6F"/>
          </a:solidFill>
          <a:ln w="9525">
            <a:solidFill>
              <a:srgbClr val="0B7A6F"/>
            </a:solidFill>
            <a:prstDash val="solid"/>
          </a:ln>
        </p:spPr>
      </p:sp>
      <p:pic>
        <p:nvPicPr>
          <p:cNvPr id="7" name="Image 0" descr="preencoded.png">    </p:cNvPr>
          <p:cNvPicPr>
            <a:picLocks noChangeAspect="1"/>
          </p:cNvPicPr>
          <p:nvPr/>
        </p:nvPicPr>
        <p:blipFill>
          <a:blip r:embed="rId1"/>
          <a:stretch>
            <a:fillRect/>
          </a:stretch>
        </p:blipFill>
        <p:spPr>
          <a:xfrm>
            <a:off x="685800" y="1563624"/>
            <a:ext cx="292608" cy="292608"/>
          </a:xfrm>
          <a:prstGeom prst="rect">
            <a:avLst/>
          </a:prstGeom>
        </p:spPr>
      </p:pic>
      <p:sp>
        <p:nvSpPr>
          <p:cNvPr id="8" name="Text 4"/>
          <p:cNvSpPr txBox="1"/>
          <p:nvPr/>
        </p:nvSpPr>
        <p:spPr>
          <a:xfrm>
            <a:off x="1143000" y="1371600"/>
            <a:ext cx="7315200" cy="68580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Create a timed reminder, assigned to "Any CS"</a:t>
            </a:r>
            <a:endParaRPr lang="en-US" sz="1400" dirty="0"/>
          </a:p>
        </p:txBody>
      </p:sp>
      <p:sp>
        <p:nvSpPr>
          <p:cNvPr id="9" name="Shape 5"/>
          <p:cNvSpPr/>
          <p:nvPr/>
        </p:nvSpPr>
        <p:spPr>
          <a:xfrm>
            <a:off x="411480" y="2240280"/>
            <a:ext cx="4091940" cy="1600200"/>
          </a:xfrm>
          <a:prstGeom prst="roundRect">
            <a:avLst>
              <a:gd name="adj" fmla="val 4571"/>
            </a:avLst>
          </a:prstGeom>
          <a:solidFill>
            <a:srgbClr val="FFFFFF"/>
          </a:solidFill>
          <a:ln w="9525">
            <a:solidFill>
              <a:srgbClr val="DCE1E7"/>
            </a:solidFill>
            <a:prstDash val="solid"/>
          </a:ln>
        </p:spPr>
      </p:sp>
      <p:sp>
        <p:nvSpPr>
          <p:cNvPr id="10" name="Shape 6"/>
          <p:cNvSpPr/>
          <p:nvPr/>
        </p:nvSpPr>
        <p:spPr>
          <a:xfrm>
            <a:off x="594360" y="2423160"/>
            <a:ext cx="384048" cy="384048"/>
          </a:xfrm>
          <a:prstGeom prst="ellipse">
            <a:avLst/>
          </a:prstGeom>
          <a:solidFill>
            <a:srgbClr val="E3F4F1"/>
          </a:solidFill>
          <a:ln w="12700">
            <a:solidFill>
              <a:srgbClr val="E3F4F1"/>
            </a:solidFill>
            <a:prstDash val="solid"/>
          </a:ln>
        </p:spPr>
      </p:sp>
      <p:pic>
        <p:nvPicPr>
          <p:cNvPr id="11" name="Image 1" descr="preencoded.png">    </p:cNvPr>
          <p:cNvPicPr>
            <a:picLocks noChangeAspect="1"/>
          </p:cNvPicPr>
          <p:nvPr/>
        </p:nvPicPr>
        <p:blipFill>
          <a:blip r:embed="rId2"/>
          <a:stretch>
            <a:fillRect/>
          </a:stretch>
        </p:blipFill>
        <p:spPr>
          <a:xfrm>
            <a:off x="686532" y="2515332"/>
            <a:ext cx="199705" cy="199705"/>
          </a:xfrm>
          <a:prstGeom prst="rect">
            <a:avLst/>
          </a:prstGeom>
        </p:spPr>
      </p:pic>
      <p:sp>
        <p:nvSpPr>
          <p:cNvPr id="12" name="Text 7"/>
          <p:cNvSpPr txBox="1"/>
          <p:nvPr/>
        </p:nvSpPr>
        <p:spPr>
          <a:xfrm>
            <a:off x="1097280" y="24231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On shift at that time</a:t>
            </a:r>
            <a:endParaRPr lang="en-US" sz="1300" dirty="0"/>
          </a:p>
        </p:txBody>
      </p:sp>
      <p:sp>
        <p:nvSpPr>
          <p:cNvPr id="13" name="Text 8"/>
          <p:cNvSpPr txBox="1"/>
          <p:nvPr/>
        </p:nvSpPr>
        <p:spPr>
          <a:xfrm>
            <a:off x="594360" y="2953512"/>
            <a:ext cx="3726180" cy="777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Set a calendar reminder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Put the ticket link in the invite</a:t>
            </a:r>
            <a:endParaRPr lang="en-US" sz="1000" dirty="0"/>
          </a:p>
        </p:txBody>
      </p:sp>
      <p:sp>
        <p:nvSpPr>
          <p:cNvPr id="14" name="Shape 9"/>
          <p:cNvSpPr/>
          <p:nvPr/>
        </p:nvSpPr>
        <p:spPr>
          <a:xfrm>
            <a:off x="4640580" y="2240280"/>
            <a:ext cx="4091940" cy="1600200"/>
          </a:xfrm>
          <a:prstGeom prst="roundRect">
            <a:avLst>
              <a:gd name="adj" fmla="val 4571"/>
            </a:avLst>
          </a:prstGeom>
          <a:solidFill>
            <a:srgbClr val="FFFFFF"/>
          </a:solidFill>
          <a:ln w="9525">
            <a:solidFill>
              <a:srgbClr val="DCE1E7"/>
            </a:solidFill>
            <a:prstDash val="solid"/>
          </a:ln>
        </p:spPr>
      </p:sp>
      <p:sp>
        <p:nvSpPr>
          <p:cNvPr id="15" name="Shape 10"/>
          <p:cNvSpPr/>
          <p:nvPr/>
        </p:nvSpPr>
        <p:spPr>
          <a:xfrm>
            <a:off x="4823460" y="2423160"/>
            <a:ext cx="384048" cy="38404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4915632" y="2515332"/>
            <a:ext cx="199705" cy="199705"/>
          </a:xfrm>
          <a:prstGeom prst="rect">
            <a:avLst/>
          </a:prstGeom>
        </p:spPr>
      </p:pic>
      <p:sp>
        <p:nvSpPr>
          <p:cNvPr id="17" name="Text 11"/>
          <p:cNvSpPr txBox="1"/>
          <p:nvPr/>
        </p:nvSpPr>
        <p:spPr>
          <a:xfrm>
            <a:off x="5326380" y="24231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on shift</a:t>
            </a:r>
            <a:endParaRPr lang="en-US" sz="1300" dirty="0"/>
          </a:p>
        </p:txBody>
      </p:sp>
      <p:sp>
        <p:nvSpPr>
          <p:cNvPr id="18" name="Text 12"/>
          <p:cNvSpPr txBox="1"/>
          <p:nvPr/>
        </p:nvSpPr>
        <p:spPr>
          <a:xfrm>
            <a:off x="4823460" y="2953512"/>
            <a:ext cx="3726180" cy="777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Log the ticket in the Callback Requests Tracker</a:t>
            </a:r>
            <a:endParaRPr lang="en-US" sz="1000" dirty="0"/>
          </a:p>
        </p:txBody>
      </p:sp>
      <p:sp>
        <p:nvSpPr>
          <p:cNvPr id="19" name="Shape 13"/>
          <p:cNvSpPr/>
          <p:nvPr/>
        </p:nvSpPr>
        <p:spPr>
          <a:xfrm>
            <a:off x="411480" y="4023360"/>
            <a:ext cx="8321040" cy="384048"/>
          </a:xfrm>
          <a:prstGeom prst="roundRect">
            <a:avLst>
              <a:gd name="adj" fmla="val 19048"/>
            </a:avLst>
          </a:prstGeom>
          <a:solidFill>
            <a:srgbClr val="FFF3D6"/>
          </a:solidFill>
          <a:ln w="9525">
            <a:solidFill>
              <a:srgbClr val="FFF3D6"/>
            </a:solidFill>
            <a:prstDash val="solid"/>
          </a:ln>
        </p:spPr>
      </p:sp>
      <p:pic>
        <p:nvPicPr>
          <p:cNvPr id="20" name="Image 3" descr="preencoded.png">    </p:cNvPr>
          <p:cNvPicPr>
            <a:picLocks noChangeAspect="1"/>
          </p:cNvPicPr>
          <p:nvPr/>
        </p:nvPicPr>
        <p:blipFill>
          <a:blip r:embed="rId4"/>
          <a:stretch>
            <a:fillRect/>
          </a:stretch>
        </p:blipFill>
        <p:spPr>
          <a:xfrm>
            <a:off x="566928" y="4133088"/>
            <a:ext cx="164592" cy="164592"/>
          </a:xfrm>
          <a:prstGeom prst="rect">
            <a:avLst/>
          </a:prstGeom>
        </p:spPr>
      </p:pic>
      <p:sp>
        <p:nvSpPr>
          <p:cNvPr id="21" name="Text 14"/>
          <p:cNvSpPr txBox="1"/>
          <p:nvPr/>
        </p:nvSpPr>
        <p:spPr>
          <a:xfrm>
            <a:off x="822960" y="41239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two paths:  </a:t>
            </a:r>
            <a:pPr indent="0" marL="0">
              <a:buNone/>
            </a:pPr>
            <a:r>
              <a:rPr lang="en-US" sz="1000" dirty="0">
                <a:solidFill>
                  <a:srgbClr val="1D1D1F"/>
                </a:solidFill>
                <a:latin typeface="SF Pro Text" pitchFamily="34" charset="0"/>
                <a:ea typeface="SF Pro Text" pitchFamily="34" charset="-122"/>
                <a:cs typeface="SF Pro Text" pitchFamily="34" charset="-120"/>
              </a:rPr>
              <a:t>a promised callback never gets lost across a shift change.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to send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Adapt these samples to the customer.</a:t>
            </a:r>
            <a:endParaRPr lang="en-US" sz="1200" dirty="0"/>
          </a:p>
        </p:txBody>
      </p:sp>
      <p:sp>
        <p:nvSpPr>
          <p:cNvPr id="6" name="Shape 3"/>
          <p:cNvSpPr/>
          <p:nvPr/>
        </p:nvSpPr>
        <p:spPr>
          <a:xfrm>
            <a:off x="411480" y="1280160"/>
            <a:ext cx="4091940" cy="3017520"/>
          </a:xfrm>
          <a:prstGeom prst="roundRect">
            <a:avLst>
              <a:gd name="adj" fmla="val 2424"/>
            </a:avLst>
          </a:prstGeom>
          <a:solidFill>
            <a:srgbClr val="FFFFFF"/>
          </a:solidFill>
          <a:ln w="9525">
            <a:solidFill>
              <a:srgbClr val="DCE1E7"/>
            </a:solidFill>
            <a:prstDash val="solid"/>
          </a:ln>
        </p:spPr>
      </p:sp>
      <p:sp>
        <p:nvSpPr>
          <p:cNvPr id="7" name="Shape 4"/>
          <p:cNvSpPr/>
          <p:nvPr/>
        </p:nvSpPr>
        <p:spPr>
          <a:xfrm>
            <a:off x="594360" y="1444752"/>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36924"/>
            <a:ext cx="199705" cy="199705"/>
          </a:xfrm>
          <a:prstGeom prst="rect">
            <a:avLst/>
          </a:prstGeom>
        </p:spPr>
      </p:pic>
      <p:sp>
        <p:nvSpPr>
          <p:cNvPr id="9" name="Text 5"/>
          <p:cNvSpPr txBox="1"/>
          <p:nvPr/>
        </p:nvSpPr>
        <p:spPr>
          <a:xfrm>
            <a:off x="1097280" y="1444752"/>
            <a:ext cx="3268980" cy="38404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Email: outside business hours</a:t>
            </a:r>
            <a:endParaRPr lang="en-US" sz="1250" dirty="0"/>
          </a:p>
        </p:txBody>
      </p:sp>
      <p:sp>
        <p:nvSpPr>
          <p:cNvPr id="10" name="Shape 6"/>
          <p:cNvSpPr/>
          <p:nvPr/>
        </p:nvSpPr>
        <p:spPr>
          <a:xfrm>
            <a:off x="594360" y="1965960"/>
            <a:ext cx="3726180" cy="2148840"/>
          </a:xfrm>
          <a:prstGeom prst="roundRect">
            <a:avLst>
              <a:gd name="adj" fmla="val 3404"/>
            </a:avLst>
          </a:prstGeom>
          <a:solidFill>
            <a:srgbClr val="E3F4F1"/>
          </a:solidFill>
          <a:ln w="9525">
            <a:solidFill>
              <a:srgbClr val="E3F4F1"/>
            </a:solidFill>
            <a:prstDash val="solid"/>
          </a:ln>
        </p:spPr>
      </p:sp>
      <p:sp>
        <p:nvSpPr>
          <p:cNvPr id="11" name="Text 7"/>
          <p:cNvSpPr txBox="1"/>
          <p:nvPr/>
        </p:nvSpPr>
        <p:spPr>
          <a:xfrm>
            <a:off x="758952" y="2075688"/>
            <a:ext cx="3396996" cy="1965960"/>
          </a:xfrm>
          <a:prstGeom prst="rect">
            <a:avLst/>
          </a:prstGeom>
          <a:noFill/>
          <a:ln/>
        </p:spPr>
        <p:txBody>
          <a:bodyPr wrap="square" lIns="0" tIns="0" rIns="0" bIns="0" rtlCol="0" anchor="t"/>
          <a:lstStyle/>
          <a:p>
            <a:pPr indent="0" marL="0">
              <a:buNone/>
            </a:pPr>
            <a:r>
              <a:rPr lang="en-US" sz="950" i="1" dirty="0">
                <a:solidFill>
                  <a:srgbClr val="1D1D1F"/>
                </a:solidFill>
                <a:latin typeface="SF Pro Text" pitchFamily="34" charset="0"/>
                <a:ea typeface="SF Pro Text" pitchFamily="34" charset="-122"/>
                <a:cs typeface="SF Pro Text" pitchFamily="34" charset="-120"/>
              </a:rPr>
              <a:t>"Hi &lt;&lt;Name&gt;&gt;, I'd be happy to hop on a call to discuss this with you. Please let me know what days and times generally work best for this week. In the meantime, I pulled up your account and &lt;&lt;address surface-level issues/resolutions&gt;&gt;. Let me know if that fully resolves your concerns! Otherwise, just reply with your availability and I'll get you scheduled."</a:t>
            </a:r>
            <a:endParaRPr lang="en-US" sz="950" dirty="0"/>
          </a:p>
        </p:txBody>
      </p:sp>
      <p:sp>
        <p:nvSpPr>
          <p:cNvPr id="12" name="Shape 8"/>
          <p:cNvSpPr/>
          <p:nvPr/>
        </p:nvSpPr>
        <p:spPr>
          <a:xfrm>
            <a:off x="4640580" y="1280160"/>
            <a:ext cx="4091940" cy="3017520"/>
          </a:xfrm>
          <a:prstGeom prst="roundRect">
            <a:avLst>
              <a:gd name="adj" fmla="val 2424"/>
            </a:avLst>
          </a:prstGeom>
          <a:solidFill>
            <a:srgbClr val="FFFFFF"/>
          </a:solidFill>
          <a:ln w="9525">
            <a:solidFill>
              <a:srgbClr val="DCE1E7"/>
            </a:solidFill>
            <a:prstDash val="solid"/>
          </a:ln>
        </p:spPr>
      </p:sp>
      <p:sp>
        <p:nvSpPr>
          <p:cNvPr id="13" name="Shape 9"/>
          <p:cNvSpPr/>
          <p:nvPr/>
        </p:nvSpPr>
        <p:spPr>
          <a:xfrm>
            <a:off x="4823460" y="1444752"/>
            <a:ext cx="384048" cy="384048"/>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4915632" y="1536924"/>
            <a:ext cx="199705" cy="199705"/>
          </a:xfrm>
          <a:prstGeom prst="rect">
            <a:avLst/>
          </a:prstGeom>
        </p:spPr>
      </p:pic>
      <p:sp>
        <p:nvSpPr>
          <p:cNvPr id="15" name="Text 10"/>
          <p:cNvSpPr txBox="1"/>
          <p:nvPr/>
        </p:nvSpPr>
        <p:spPr>
          <a:xfrm>
            <a:off x="5326380" y="1444752"/>
            <a:ext cx="3268980" cy="38404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Text: missed callback</a:t>
            </a:r>
            <a:endParaRPr lang="en-US" sz="1250" dirty="0"/>
          </a:p>
        </p:txBody>
      </p:sp>
      <p:sp>
        <p:nvSpPr>
          <p:cNvPr id="16" name="Shape 11"/>
          <p:cNvSpPr/>
          <p:nvPr/>
        </p:nvSpPr>
        <p:spPr>
          <a:xfrm>
            <a:off x="4823460" y="1965960"/>
            <a:ext cx="3726180" cy="2148840"/>
          </a:xfrm>
          <a:prstGeom prst="roundRect">
            <a:avLst>
              <a:gd name="adj" fmla="val 3404"/>
            </a:avLst>
          </a:prstGeom>
          <a:solidFill>
            <a:srgbClr val="E3F4F1"/>
          </a:solidFill>
          <a:ln w="9525">
            <a:solidFill>
              <a:srgbClr val="E3F4F1"/>
            </a:solidFill>
            <a:prstDash val="solid"/>
          </a:ln>
        </p:spPr>
      </p:sp>
      <p:sp>
        <p:nvSpPr>
          <p:cNvPr id="17" name="Text 12"/>
          <p:cNvSpPr txBox="1"/>
          <p:nvPr/>
        </p:nvSpPr>
        <p:spPr>
          <a:xfrm>
            <a:off x="4988052" y="2075688"/>
            <a:ext cx="3396996" cy="1965960"/>
          </a:xfrm>
          <a:prstGeom prst="rect">
            <a:avLst/>
          </a:prstGeom>
          <a:noFill/>
          <a:ln/>
        </p:spPr>
        <p:txBody>
          <a:bodyPr wrap="square" lIns="0" tIns="0" rIns="0" bIns="0" rtlCol="0" anchor="t"/>
          <a:lstStyle/>
          <a:p>
            <a:pPr indent="0" marL="0">
              <a:buNone/>
            </a:pPr>
            <a:r>
              <a:rPr lang="en-US" sz="950" i="1" dirty="0">
                <a:solidFill>
                  <a:srgbClr val="1D1D1F"/>
                </a:solidFill>
                <a:latin typeface="SF Pro Text" pitchFamily="34" charset="0"/>
                <a:ea typeface="SF Pro Text" pitchFamily="34" charset="-122"/>
                <a:cs typeface="SF Pro Text" pitchFamily="34" charset="-120"/>
              </a:rPr>
              <a:t>"This is &lt;&lt;Name&gt;&gt; from Homeaglow. I tried calling but it went to voicemail — no worries, I've already addressed your concern over email. If you'd still like to hop on a call, just text me back with your availability and we'll set it up."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 Price vs CP Pay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What a customer is charged, and what the cleaner is paid. Related, but calculated separately.</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three pricing cohorts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price is built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cleaner is paid</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a "platform fee" shows up</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separate calculations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You can't judge whether a charge is fair until you know how it's built.</a:t>
            </a:r>
            <a:endParaRPr lang="en-US" sz="1200" dirty="0"/>
          </a:p>
        </p:txBody>
      </p:sp>
      <p:sp>
        <p:nvSpPr>
          <p:cNvPr id="6" name="Shape 3"/>
          <p:cNvSpPr/>
          <p:nvPr/>
        </p:nvSpPr>
        <p:spPr>
          <a:xfrm>
            <a:off x="411480" y="1371600"/>
            <a:ext cx="40919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3619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15196"/>
            <a:ext cx="171176" cy="171176"/>
          </a:xfrm>
          <a:prstGeom prst="rect">
            <a:avLst/>
          </a:prstGeom>
        </p:spPr>
      </p:pic>
      <p:sp>
        <p:nvSpPr>
          <p:cNvPr id="9" name="Text 5"/>
          <p:cNvSpPr txBox="1"/>
          <p:nvPr/>
        </p:nvSpPr>
        <p:spPr>
          <a:xfrm>
            <a:off x="576072" y="197510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price</a:t>
            </a:r>
            <a:endParaRPr lang="en-US" sz="1200" dirty="0"/>
          </a:p>
        </p:txBody>
      </p:sp>
      <p:sp>
        <p:nvSpPr>
          <p:cNvPr id="10" name="Text 6"/>
          <p:cNvSpPr txBox="1"/>
          <p:nvPr/>
        </p:nvSpPr>
        <p:spPr>
          <a:xfrm>
            <a:off x="576072" y="226771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 plus platform fees and taxes that don't go to the cleaner.</a:t>
            </a:r>
            <a:endParaRPr lang="en-US" sz="950" dirty="0"/>
          </a:p>
        </p:txBody>
      </p:sp>
      <p:sp>
        <p:nvSpPr>
          <p:cNvPr id="11" name="Shape 7"/>
          <p:cNvSpPr/>
          <p:nvPr/>
        </p:nvSpPr>
        <p:spPr>
          <a:xfrm>
            <a:off x="4640580" y="1371600"/>
            <a:ext cx="40919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4805172" y="153619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615196"/>
            <a:ext cx="171176" cy="171176"/>
          </a:xfrm>
          <a:prstGeom prst="rect">
            <a:avLst/>
          </a:prstGeom>
        </p:spPr>
      </p:pic>
      <p:sp>
        <p:nvSpPr>
          <p:cNvPr id="14" name="Text 9"/>
          <p:cNvSpPr txBox="1"/>
          <p:nvPr/>
        </p:nvSpPr>
        <p:spPr>
          <a:xfrm>
            <a:off x="4805172" y="197510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pay</a:t>
            </a:r>
            <a:endParaRPr lang="en-US" sz="1200" dirty="0"/>
          </a:p>
        </p:txBody>
      </p:sp>
      <p:sp>
        <p:nvSpPr>
          <p:cNvPr id="15" name="Text 10"/>
          <p:cNvSpPr txBox="1"/>
          <p:nvPr/>
        </p:nvSpPr>
        <p:spPr>
          <a:xfrm>
            <a:off x="4805172" y="226771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Based on the cleaner's own hourly rate and their operating model.</a:t>
            </a:r>
            <a:endParaRPr lang="en-US" sz="950" dirty="0"/>
          </a:p>
        </p:txBody>
      </p:sp>
      <p:sp>
        <p:nvSpPr>
          <p:cNvPr id="16" name="Shape 11"/>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01568"/>
            <a:ext cx="164592" cy="164592"/>
          </a:xfrm>
          <a:prstGeom prst="rect">
            <a:avLst/>
          </a:prstGeom>
        </p:spPr>
      </p:pic>
      <p:sp>
        <p:nvSpPr>
          <p:cNvPr id="18" name="Text 12"/>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Used everywhere:  </a:t>
            </a:r>
            <a:pPr indent="0" marL="0">
              <a:buNone/>
            </a:pPr>
            <a:r>
              <a:rPr lang="en-US" sz="1000" dirty="0">
                <a:solidFill>
                  <a:srgbClr val="1D1D1F"/>
                </a:solidFill>
                <a:latin typeface="SF Pro Text" pitchFamily="34" charset="0"/>
                <a:ea typeface="SF Pro Text" pitchFamily="34" charset="-122"/>
                <a:cs typeface="SF Pro Text" pitchFamily="34" charset="-120"/>
              </a:rPr>
              <a:t>Overcharged Hours, False Invoice and ETF calculations all start from these formulas.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Three pricing cohorts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What a customer pays on top of the cleaner's rate depends on their membership.</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8321040" cy="914400"/>
        </p:xfrm>
        <a:graphic>
          <a:graphicData uri="http://schemas.openxmlformats.org/drawingml/2006/table">
            <a:tbl>
              <a:tblPr/>
              <a:tblGrid>
                <a:gridCol w="2560320"/>
                <a:gridCol w="1920240"/>
                <a:gridCol w="1920240"/>
                <a:gridCol w="1920240"/>
              </a:tblGrid>
              <a:tr h="50292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Cohort</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Platform fee / hr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Processing fee</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Sales tax</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Non-FC customer</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$15.00</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5%</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Varies by state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FC customer</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None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15%</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Varies by state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Deactivated FC customer</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$30.00</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5%</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Varies by state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the cleaning price is built</a:t>
            </a:r>
            <a:endParaRPr lang="en-US" sz="2400" dirty="0"/>
          </a:p>
        </p:txBody>
      </p:sp>
      <p:sp>
        <p:nvSpPr>
          <p:cNvPr id="5" name="Shape 2"/>
          <p:cNvSpPr/>
          <p:nvPr/>
        </p:nvSpPr>
        <p:spPr>
          <a:xfrm>
            <a:off x="411480" y="1234440"/>
            <a:ext cx="8321040" cy="1371600"/>
          </a:xfrm>
          <a:prstGeom prst="roundRect">
            <a:avLst>
              <a:gd name="adj" fmla="val 5333"/>
            </a:avLst>
          </a:prstGeom>
          <a:solidFill>
            <a:srgbClr val="0B7A6F"/>
          </a:solidFill>
          <a:ln w="9525">
            <a:solidFill>
              <a:srgbClr val="0B7A6F"/>
            </a:solidFill>
            <a:prstDash val="solid"/>
          </a:ln>
        </p:spPr>
      </p:sp>
      <p:sp>
        <p:nvSpPr>
          <p:cNvPr id="6" name="Text 3"/>
          <p:cNvSpPr txBox="1"/>
          <p:nvPr/>
        </p:nvSpPr>
        <p:spPr>
          <a:xfrm>
            <a:off x="685800" y="1371600"/>
            <a:ext cx="4572000" cy="182880"/>
          </a:xfrm>
          <a:prstGeom prst="rect">
            <a:avLst/>
          </a:prstGeom>
          <a:noFill/>
          <a:ln/>
        </p:spPr>
        <p:txBody>
          <a:bodyPr wrap="square" lIns="0" tIns="0" rIns="0" bIns="0" rtlCol="0" anchor="t"/>
          <a:lstStyle/>
          <a:p>
            <a:pPr indent="0" marL="0">
              <a:buNone/>
            </a:pPr>
            <a:r>
              <a:rPr lang="en-US" sz="800" b="1" spc="50" kern="0" dirty="0">
                <a:solidFill>
                  <a:srgbClr val="FFFFFF"/>
                </a:solidFill>
                <a:latin typeface="SF Pro Display" pitchFamily="34" charset="0"/>
                <a:ea typeface="SF Pro Display" pitchFamily="34" charset="-122"/>
                <a:cs typeface="SF Pro Display" pitchFamily="34" charset="-120"/>
              </a:rPr>
              <a:t>CLEANING PRICE</a:t>
            </a:r>
            <a:endParaRPr lang="en-US" sz="800" dirty="0"/>
          </a:p>
        </p:txBody>
      </p:sp>
      <p:sp>
        <p:nvSpPr>
          <p:cNvPr id="7" name="Text 4"/>
          <p:cNvSpPr txBox="1"/>
          <p:nvPr/>
        </p:nvSpPr>
        <p:spPr>
          <a:xfrm>
            <a:off x="685800" y="1627632"/>
            <a:ext cx="7863840" cy="868680"/>
          </a:xfrm>
          <a:prstGeom prst="rect">
            <a:avLst/>
          </a:prstGeom>
          <a:noFill/>
          <a:ln/>
        </p:spPr>
        <p:txBody>
          <a:bodyPr wrap="square" lIns="0" tIns="0" rIns="0" bIns="0" rtlCol="0" anchor="t"/>
          <a:lstStyle/>
          <a:p>
            <a:pPr indent="0" marL="0">
              <a:buNone/>
            </a:pPr>
            <a:r>
              <a:rPr lang="en-US" sz="1600" b="1" dirty="0">
                <a:solidFill>
                  <a:srgbClr val="FFFFFF"/>
                </a:solidFill>
                <a:latin typeface="SF Pro Display" pitchFamily="34" charset="0"/>
                <a:ea typeface="SF Pro Display" pitchFamily="34" charset="-122"/>
                <a:cs typeface="SF Pro Display" pitchFamily="34" charset="-120"/>
              </a:rPr>
              <a:t>(CP hourly rate + Platform hourly rate) × Job duration</a:t>
            </a:r>
            <a:endParaRPr lang="en-US" sz="1600" dirty="0"/>
          </a:p>
          <a:p>
            <a:pPr indent="0" marL="0">
              <a:buNone/>
            </a:pPr>
            <a:r>
              <a:rPr lang="en-US" sz="1600" b="1" dirty="0">
                <a:solidFill>
                  <a:srgbClr val="FFFFFF"/>
                </a:solidFill>
                <a:latin typeface="SF Pro Display" pitchFamily="34" charset="0"/>
                <a:ea typeface="SF Pro Display" pitchFamily="34" charset="-122"/>
                <a:cs typeface="SF Pro Display" pitchFamily="34" charset="-120"/>
              </a:rPr>
              <a:t>+ Processing fee + Sales tax + Premium fee</a:t>
            </a:r>
            <a:endParaRPr lang="en-US" sz="1600" dirty="0"/>
          </a:p>
        </p:txBody>
      </p:sp>
      <p:sp>
        <p:nvSpPr>
          <p:cNvPr id="8" name="Shape 5"/>
          <p:cNvSpPr/>
          <p:nvPr/>
        </p:nvSpPr>
        <p:spPr>
          <a:xfrm>
            <a:off x="411480" y="2788920"/>
            <a:ext cx="4091940" cy="1371600"/>
          </a:xfrm>
          <a:prstGeom prst="roundRect">
            <a:avLst>
              <a:gd name="adj" fmla="val 5333"/>
            </a:avLst>
          </a:prstGeom>
          <a:solidFill>
            <a:srgbClr val="FFFFFF"/>
          </a:solidFill>
          <a:ln w="9525">
            <a:solidFill>
              <a:srgbClr val="DCE1E7"/>
            </a:solidFill>
            <a:prstDash val="solid"/>
          </a:ln>
        </p:spPr>
      </p:sp>
      <p:sp>
        <p:nvSpPr>
          <p:cNvPr id="9" name="Shape 6"/>
          <p:cNvSpPr/>
          <p:nvPr/>
        </p:nvSpPr>
        <p:spPr>
          <a:xfrm>
            <a:off x="576072" y="295351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655076" y="3032516"/>
            <a:ext cx="171176" cy="171176"/>
          </a:xfrm>
          <a:prstGeom prst="rect">
            <a:avLst/>
          </a:prstGeom>
        </p:spPr>
      </p:pic>
      <p:sp>
        <p:nvSpPr>
          <p:cNvPr id="11" name="Text 7"/>
          <p:cNvSpPr txBox="1"/>
          <p:nvPr/>
        </p:nvSpPr>
        <p:spPr>
          <a:xfrm>
            <a:off x="5760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Active voucher</a:t>
            </a:r>
            <a:endParaRPr lang="en-US" sz="1200" dirty="0"/>
          </a:p>
        </p:txBody>
      </p:sp>
      <p:sp>
        <p:nvSpPr>
          <p:cNvPr id="12" name="Text 8"/>
          <p:cNvSpPr txBox="1"/>
          <p:nvPr/>
        </p:nvSpPr>
        <p:spPr>
          <a:xfrm>
            <a:off x="576072" y="368503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Voucher hours come off the job duration before the price is calculated.</a:t>
            </a:r>
            <a:endParaRPr lang="en-US" sz="950" dirty="0"/>
          </a:p>
        </p:txBody>
      </p:sp>
      <p:sp>
        <p:nvSpPr>
          <p:cNvPr id="13" name="Shape 9"/>
          <p:cNvSpPr/>
          <p:nvPr/>
        </p:nvSpPr>
        <p:spPr>
          <a:xfrm>
            <a:off x="4640580" y="2788920"/>
            <a:ext cx="4091940" cy="1371600"/>
          </a:xfrm>
          <a:prstGeom prst="roundRect">
            <a:avLst>
              <a:gd name="adj" fmla="val 5333"/>
            </a:avLst>
          </a:prstGeom>
          <a:solidFill>
            <a:srgbClr val="FFFFFF"/>
          </a:solidFill>
          <a:ln w="9525">
            <a:solidFill>
              <a:srgbClr val="DCE1E7"/>
            </a:solidFill>
            <a:prstDash val="solid"/>
          </a:ln>
        </p:spPr>
      </p:sp>
      <p:sp>
        <p:nvSpPr>
          <p:cNvPr id="14" name="Shape 10"/>
          <p:cNvSpPr/>
          <p:nvPr/>
        </p:nvSpPr>
        <p:spPr>
          <a:xfrm>
            <a:off x="4805172" y="2953512"/>
            <a:ext cx="329184" cy="329184"/>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4884176" y="3032516"/>
            <a:ext cx="171176" cy="171176"/>
          </a:xfrm>
          <a:prstGeom prst="rect">
            <a:avLst/>
          </a:prstGeom>
        </p:spPr>
      </p:pic>
      <p:sp>
        <p:nvSpPr>
          <p:cNvPr id="16" name="Text 11"/>
          <p:cNvSpPr txBox="1"/>
          <p:nvPr/>
        </p:nvSpPr>
        <p:spPr>
          <a:xfrm>
            <a:off x="48051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Active credits</a:t>
            </a:r>
            <a:endParaRPr lang="en-US" sz="1200" dirty="0"/>
          </a:p>
        </p:txBody>
      </p:sp>
      <p:sp>
        <p:nvSpPr>
          <p:cNvPr id="17" name="Text 12"/>
          <p:cNvSpPr txBox="1"/>
          <p:nvPr/>
        </p:nvSpPr>
        <p:spPr>
          <a:xfrm>
            <a:off x="4805172" y="368503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Credits come off the final total.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the cleaner is paid</a:t>
            </a:r>
            <a:endParaRPr lang="en-US" sz="2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1737360"/>
                <a:gridCol w="3657600"/>
                <a:gridCol w="2926080"/>
              </a:tblGrid>
              <a:tr h="45720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Operating model</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First-time client</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Repeat client</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CA / CA-WA</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Rate × duration + tips + surge bonus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Same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General</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(Rate − $5 match fee) × duration + tips + surge bonus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Rate × duration + tips + surge bonus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2697480"/>
            <a:ext cx="2682240" cy="1417320"/>
          </a:xfrm>
          <a:prstGeom prst="roundRect">
            <a:avLst>
              <a:gd name="adj" fmla="val 5161"/>
            </a:avLst>
          </a:prstGeom>
          <a:solidFill>
            <a:srgbClr val="FFFFFF"/>
          </a:solidFill>
          <a:ln w="9525">
            <a:solidFill>
              <a:srgbClr val="DCE1E7"/>
            </a:solidFill>
            <a:prstDash val="solid"/>
          </a:ln>
        </p:spPr>
      </p:sp>
      <p:sp>
        <p:nvSpPr>
          <p:cNvPr id="7" name="Shape 3"/>
          <p:cNvSpPr/>
          <p:nvPr/>
        </p:nvSpPr>
        <p:spPr>
          <a:xfrm>
            <a:off x="576072" y="28620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2941076"/>
            <a:ext cx="171176" cy="171176"/>
          </a:xfrm>
          <a:prstGeom prst="rect">
            <a:avLst/>
          </a:prstGeom>
        </p:spPr>
      </p:pic>
      <p:sp>
        <p:nvSpPr>
          <p:cNvPr id="9" name="Text 4"/>
          <p:cNvSpPr txBox="1"/>
          <p:nvPr/>
        </p:nvSpPr>
        <p:spPr>
          <a:xfrm>
            <a:off x="576072" y="33009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Always paid</a:t>
            </a:r>
            <a:endParaRPr lang="en-US" sz="1200" dirty="0"/>
          </a:p>
        </p:txBody>
      </p:sp>
      <p:sp>
        <p:nvSpPr>
          <p:cNvPr id="10" name="Text 5"/>
          <p:cNvSpPr txBox="1"/>
          <p:nvPr/>
        </p:nvSpPr>
        <p:spPr>
          <a:xfrm>
            <a:off x="576072" y="3593592"/>
            <a:ext cx="23530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Even if the customer's card, voucher or credits fail.</a:t>
            </a:r>
            <a:endParaRPr lang="en-US" sz="950" dirty="0"/>
          </a:p>
        </p:txBody>
      </p:sp>
      <p:sp>
        <p:nvSpPr>
          <p:cNvPr id="11" name="Shape 6"/>
          <p:cNvSpPr/>
          <p:nvPr/>
        </p:nvSpPr>
        <p:spPr>
          <a:xfrm>
            <a:off x="3230880" y="2697480"/>
            <a:ext cx="2682240" cy="1417320"/>
          </a:xfrm>
          <a:prstGeom prst="roundRect">
            <a:avLst>
              <a:gd name="adj" fmla="val 5161"/>
            </a:avLst>
          </a:prstGeom>
          <a:solidFill>
            <a:srgbClr val="FFFFFF"/>
          </a:solidFill>
          <a:ln w="9525">
            <a:solidFill>
              <a:srgbClr val="DCE1E7"/>
            </a:solidFill>
            <a:prstDash val="solid"/>
          </a:ln>
        </p:spPr>
      </p:sp>
      <p:sp>
        <p:nvSpPr>
          <p:cNvPr id="12" name="Shape 7"/>
          <p:cNvSpPr/>
          <p:nvPr/>
        </p:nvSpPr>
        <p:spPr>
          <a:xfrm>
            <a:off x="3395472" y="28620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2941076"/>
            <a:ext cx="171176" cy="171176"/>
          </a:xfrm>
          <a:prstGeom prst="rect">
            <a:avLst/>
          </a:prstGeom>
        </p:spPr>
      </p:pic>
      <p:sp>
        <p:nvSpPr>
          <p:cNvPr id="14" name="Text 8"/>
          <p:cNvSpPr txBox="1"/>
          <p:nvPr/>
        </p:nvSpPr>
        <p:spPr>
          <a:xfrm>
            <a:off x="3395472" y="33009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Tips</a:t>
            </a:r>
            <a:endParaRPr lang="en-US" sz="1200" dirty="0"/>
          </a:p>
        </p:txBody>
      </p:sp>
      <p:sp>
        <p:nvSpPr>
          <p:cNvPr id="15" name="Text 9"/>
          <p:cNvSpPr txBox="1"/>
          <p:nvPr/>
        </p:nvSpPr>
        <p:spPr>
          <a:xfrm>
            <a:off x="3395472" y="3593592"/>
            <a:ext cx="23530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100% of every tip goes to the cleaner.</a:t>
            </a:r>
            <a:endParaRPr lang="en-US" sz="950" dirty="0"/>
          </a:p>
        </p:txBody>
      </p:sp>
      <p:sp>
        <p:nvSpPr>
          <p:cNvPr id="16" name="Shape 10"/>
          <p:cNvSpPr/>
          <p:nvPr/>
        </p:nvSpPr>
        <p:spPr>
          <a:xfrm>
            <a:off x="6050280" y="2697480"/>
            <a:ext cx="2682240" cy="1417320"/>
          </a:xfrm>
          <a:prstGeom prst="roundRect">
            <a:avLst>
              <a:gd name="adj" fmla="val 5161"/>
            </a:avLst>
          </a:prstGeom>
          <a:solidFill>
            <a:srgbClr val="FFFFFF"/>
          </a:solidFill>
          <a:ln w="9525">
            <a:solidFill>
              <a:srgbClr val="DCE1E7"/>
            </a:solidFill>
            <a:prstDash val="solid"/>
          </a:ln>
        </p:spPr>
      </p:sp>
      <p:sp>
        <p:nvSpPr>
          <p:cNvPr id="17" name="Shape 11"/>
          <p:cNvSpPr/>
          <p:nvPr/>
        </p:nvSpPr>
        <p:spPr>
          <a:xfrm>
            <a:off x="6214872" y="28620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2941076"/>
            <a:ext cx="171176" cy="171176"/>
          </a:xfrm>
          <a:prstGeom prst="rect">
            <a:avLst/>
          </a:prstGeom>
        </p:spPr>
      </p:pic>
      <p:sp>
        <p:nvSpPr>
          <p:cNvPr id="19" name="Text 12"/>
          <p:cNvSpPr txBox="1"/>
          <p:nvPr/>
        </p:nvSpPr>
        <p:spPr>
          <a:xfrm>
            <a:off x="6214872" y="33009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Surge bonus</a:t>
            </a:r>
            <a:endParaRPr lang="en-US" sz="1200" dirty="0"/>
          </a:p>
        </p:txBody>
      </p:sp>
      <p:sp>
        <p:nvSpPr>
          <p:cNvPr id="20" name="Text 13"/>
          <p:cNvSpPr txBox="1"/>
          <p:nvPr/>
        </p:nvSpPr>
        <p:spPr>
          <a:xfrm>
            <a:off x="6214872" y="3593592"/>
            <a:ext cx="23530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$1–$50 extra on some jobs, at invoicing.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When a "platform fee" shows 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FC customers have no platform fee. If one shows on an FC invoice, it's one of these cases. Not an error.</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468880"/>
                <a:gridCol w="2194560"/>
                <a:gridCol w="3657600"/>
              </a:tblGrid>
              <a:tr h="402336">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Situation</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Customer pays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The "platform fee" line is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General · first 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$5/hr marketing fee, taken from the cleaner's pay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General · repeat 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Nothing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CA/CA-WA · two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higher of the two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difference between the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CA/CA-WA · one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Nothing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Non-FC or deactivated FC</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max CP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Cohort fee ($15 or $30/hr) + gap to 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02336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4133088"/>
            <a:ext cx="164592" cy="164592"/>
          </a:xfrm>
          <a:prstGeom prst="rect">
            <a:avLst/>
          </a:prstGeom>
        </p:spPr>
      </p:pic>
      <p:sp>
        <p:nvSpPr>
          <p:cNvPr id="9" name="Text 4"/>
          <p:cNvSpPr txBox="1"/>
          <p:nvPr/>
        </p:nvSpPr>
        <p:spPr>
          <a:xfrm>
            <a:off x="822960" y="41239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The principle:  </a:t>
            </a:r>
            <a:pPr indent="0" marL="0">
              <a:buNone/>
            </a:pPr>
            <a:r>
              <a:rPr lang="en-US" sz="1000" dirty="0">
                <a:solidFill>
                  <a:srgbClr val="1D1D1F"/>
                </a:solidFill>
                <a:latin typeface="SF Pro Text" pitchFamily="34" charset="0"/>
                <a:ea typeface="SF Pro Text" pitchFamily="34" charset="-122"/>
                <a:cs typeface="SF Pro Text" pitchFamily="34" charset="-120"/>
              </a:rPr>
              <a:t>if the customer pays more than the cleaner's rate, the cleaner still gets their rate. The rest goes to Homeaglow.</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Worked example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deactivated FC customer sees a $40/hr platform fee. Is it right?</a:t>
            </a:r>
            <a:endParaRPr lang="en-US" sz="1200" dirty="0"/>
          </a:p>
        </p:txBody>
      </p:sp>
      <p:sp>
        <p:nvSpPr>
          <p:cNvPr id="6" name="Shape 3"/>
          <p:cNvSpPr/>
          <p:nvPr/>
        </p:nvSpPr>
        <p:spPr>
          <a:xfrm>
            <a:off x="594360" y="1371600"/>
            <a:ext cx="2194560" cy="1600200"/>
          </a:xfrm>
          <a:prstGeom prst="roundRect">
            <a:avLst>
              <a:gd name="adj" fmla="val 4571"/>
            </a:avLst>
          </a:prstGeom>
          <a:solidFill>
            <a:srgbClr val="FFFFFF"/>
          </a:solidFill>
          <a:ln w="9525">
            <a:solidFill>
              <a:srgbClr val="DCE1E7"/>
            </a:solidFill>
            <a:prstDash val="solid"/>
          </a:ln>
        </p:spPr>
      </p:sp>
      <p:sp>
        <p:nvSpPr>
          <p:cNvPr id="7" name="Text 4"/>
          <p:cNvSpPr txBox="1"/>
          <p:nvPr/>
        </p:nvSpPr>
        <p:spPr>
          <a:xfrm>
            <a:off x="594360" y="1508760"/>
            <a:ext cx="2194560" cy="640080"/>
          </a:xfrm>
          <a:prstGeom prst="rect">
            <a:avLst/>
          </a:prstGeom>
          <a:noFill/>
          <a:ln/>
        </p:spPr>
        <p:txBody>
          <a:bodyPr wrap="square" lIns="0" tIns="0" rIns="0" bIns="0" rtlCol="0" anchor="ctr"/>
          <a:lstStyle/>
          <a:p>
            <a:pPr algn="ctr" indent="0" marL="0">
              <a:buNone/>
            </a:pPr>
            <a:r>
              <a:rPr lang="en-US" sz="2800" b="1" dirty="0">
                <a:solidFill>
                  <a:srgbClr val="0B7A6F"/>
                </a:solidFill>
                <a:latin typeface="SF Pro Display" pitchFamily="34" charset="0"/>
                <a:ea typeface="SF Pro Display" pitchFamily="34" charset="-122"/>
                <a:cs typeface="SF Pro Display" pitchFamily="34" charset="-120"/>
              </a:rPr>
              <a:t>$30/hr</a:t>
            </a:r>
            <a:endParaRPr lang="en-US" sz="2800" dirty="0"/>
          </a:p>
        </p:txBody>
      </p:sp>
      <p:sp>
        <p:nvSpPr>
          <p:cNvPr id="8" name="Text 5"/>
          <p:cNvSpPr txBox="1"/>
          <p:nvPr/>
        </p:nvSpPr>
        <p:spPr>
          <a:xfrm>
            <a:off x="594360" y="219456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Deactivated FC</a:t>
            </a:r>
            <a:endParaRPr lang="en-US" sz="1000" dirty="0"/>
          </a:p>
          <a:p>
            <a:pPr algn="ctr" indent="0" marL="0">
              <a:buNone/>
            </a:pPr>
            <a:r>
              <a:rPr lang="en-US" sz="1000" dirty="0">
                <a:solidFill>
                  <a:srgbClr val="6E6E73"/>
                </a:solidFill>
                <a:latin typeface="SF Pro Text" pitchFamily="34" charset="0"/>
                <a:ea typeface="SF Pro Text" pitchFamily="34" charset="-122"/>
                <a:cs typeface="SF Pro Text" pitchFamily="34" charset="-120"/>
              </a:rPr>
              <a:t>platform fee</a:t>
            </a:r>
            <a:endParaRPr lang="en-US" sz="1000" dirty="0"/>
          </a:p>
        </p:txBody>
      </p:sp>
      <p:sp>
        <p:nvSpPr>
          <p:cNvPr id="9" name="Text 6"/>
          <p:cNvSpPr txBox="1"/>
          <p:nvPr/>
        </p:nvSpPr>
        <p:spPr>
          <a:xfrm>
            <a:off x="2880360" y="1371600"/>
            <a:ext cx="457200" cy="1600200"/>
          </a:xfrm>
          <a:prstGeom prst="rect">
            <a:avLst/>
          </a:prstGeom>
          <a:noFill/>
          <a:ln/>
        </p:spPr>
        <p:txBody>
          <a:bodyPr wrap="square" lIns="0" tIns="0" rIns="0" bIns="0" rtlCol="0" anchor="ctr"/>
          <a:lstStyle/>
          <a:p>
            <a:pPr algn="ctr" indent="0" marL="0">
              <a:buNone/>
            </a:pPr>
            <a:r>
              <a:rPr lang="en-US" sz="2600" b="1" dirty="0">
                <a:solidFill>
                  <a:srgbClr val="6E6E73"/>
                </a:solidFill>
                <a:latin typeface="SF Pro Display" pitchFamily="34" charset="0"/>
                <a:ea typeface="SF Pro Display" pitchFamily="34" charset="-122"/>
                <a:cs typeface="SF Pro Display" pitchFamily="34" charset="-120"/>
              </a:rPr>
              <a:t>+</a:t>
            </a:r>
            <a:endParaRPr lang="en-US" sz="2600" dirty="0"/>
          </a:p>
        </p:txBody>
      </p:sp>
      <p:sp>
        <p:nvSpPr>
          <p:cNvPr id="10" name="Shape 7"/>
          <p:cNvSpPr/>
          <p:nvPr/>
        </p:nvSpPr>
        <p:spPr>
          <a:xfrm>
            <a:off x="3429000" y="1371600"/>
            <a:ext cx="2194560" cy="1600200"/>
          </a:xfrm>
          <a:prstGeom prst="roundRect">
            <a:avLst>
              <a:gd name="adj" fmla="val 4571"/>
            </a:avLst>
          </a:prstGeom>
          <a:solidFill>
            <a:srgbClr val="FFFFFF"/>
          </a:solidFill>
          <a:ln w="9525">
            <a:solidFill>
              <a:srgbClr val="DCE1E7"/>
            </a:solidFill>
            <a:prstDash val="solid"/>
          </a:ln>
        </p:spPr>
      </p:sp>
      <p:sp>
        <p:nvSpPr>
          <p:cNvPr id="11" name="Text 8"/>
          <p:cNvSpPr txBox="1"/>
          <p:nvPr/>
        </p:nvSpPr>
        <p:spPr>
          <a:xfrm>
            <a:off x="3429000" y="1508760"/>
            <a:ext cx="2194560" cy="640080"/>
          </a:xfrm>
          <a:prstGeom prst="rect">
            <a:avLst/>
          </a:prstGeom>
          <a:noFill/>
          <a:ln/>
        </p:spPr>
        <p:txBody>
          <a:bodyPr wrap="square" lIns="0" tIns="0" rIns="0" bIns="0" rtlCol="0" anchor="ctr"/>
          <a:lstStyle/>
          <a:p>
            <a:pPr algn="ctr" indent="0" marL="0">
              <a:buNone/>
            </a:pPr>
            <a:r>
              <a:rPr lang="en-US" sz="2800" b="1" dirty="0">
                <a:solidFill>
                  <a:srgbClr val="0B7A6F"/>
                </a:solidFill>
                <a:latin typeface="SF Pro Display" pitchFamily="34" charset="0"/>
                <a:ea typeface="SF Pro Display" pitchFamily="34" charset="-122"/>
                <a:cs typeface="SF Pro Display" pitchFamily="34" charset="-120"/>
              </a:rPr>
              <a:t>$10/hr</a:t>
            </a:r>
            <a:endParaRPr lang="en-US" sz="2800" dirty="0"/>
          </a:p>
        </p:txBody>
      </p:sp>
      <p:sp>
        <p:nvSpPr>
          <p:cNvPr id="12" name="Text 9"/>
          <p:cNvSpPr txBox="1"/>
          <p:nvPr/>
        </p:nvSpPr>
        <p:spPr>
          <a:xfrm>
            <a:off x="3429000" y="219456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Max rate $25 −</a:t>
            </a:r>
            <a:endParaRPr lang="en-US" sz="1000" dirty="0"/>
          </a:p>
          <a:p>
            <a:pPr algn="ctr" indent="0" marL="0">
              <a:buNone/>
            </a:pPr>
            <a:r>
              <a:rPr lang="en-US" sz="1000" dirty="0">
                <a:solidFill>
                  <a:srgbClr val="6E6E73"/>
                </a:solidFill>
                <a:latin typeface="SF Pro Text" pitchFamily="34" charset="0"/>
                <a:ea typeface="SF Pro Text" pitchFamily="34" charset="-122"/>
                <a:cs typeface="SF Pro Text" pitchFamily="34" charset="-120"/>
              </a:rPr>
              <a:t>cleaner's rate $15</a:t>
            </a:r>
            <a:endParaRPr lang="en-US" sz="1000" dirty="0"/>
          </a:p>
        </p:txBody>
      </p:sp>
      <p:sp>
        <p:nvSpPr>
          <p:cNvPr id="13" name="Text 10"/>
          <p:cNvSpPr txBox="1"/>
          <p:nvPr/>
        </p:nvSpPr>
        <p:spPr>
          <a:xfrm>
            <a:off x="5715000" y="1371600"/>
            <a:ext cx="457200" cy="1600200"/>
          </a:xfrm>
          <a:prstGeom prst="rect">
            <a:avLst/>
          </a:prstGeom>
          <a:noFill/>
          <a:ln/>
        </p:spPr>
        <p:txBody>
          <a:bodyPr wrap="square" lIns="0" tIns="0" rIns="0" bIns="0" rtlCol="0" anchor="ctr"/>
          <a:lstStyle/>
          <a:p>
            <a:pPr algn="ctr" indent="0" marL="0">
              <a:buNone/>
            </a:pPr>
            <a:r>
              <a:rPr lang="en-US" sz="2600" b="1" dirty="0">
                <a:solidFill>
                  <a:srgbClr val="6E6E73"/>
                </a:solidFill>
                <a:latin typeface="SF Pro Display" pitchFamily="34" charset="0"/>
                <a:ea typeface="SF Pro Display" pitchFamily="34" charset="-122"/>
                <a:cs typeface="SF Pro Display" pitchFamily="34" charset="-120"/>
              </a:rPr>
              <a:t>=</a:t>
            </a:r>
            <a:endParaRPr lang="en-US" sz="2600" dirty="0"/>
          </a:p>
        </p:txBody>
      </p:sp>
      <p:sp>
        <p:nvSpPr>
          <p:cNvPr id="14" name="Shape 11"/>
          <p:cNvSpPr/>
          <p:nvPr/>
        </p:nvSpPr>
        <p:spPr>
          <a:xfrm>
            <a:off x="6263640" y="1371600"/>
            <a:ext cx="2194560" cy="1600200"/>
          </a:xfrm>
          <a:prstGeom prst="roundRect">
            <a:avLst>
              <a:gd name="adj" fmla="val 4571"/>
            </a:avLst>
          </a:prstGeom>
          <a:solidFill>
            <a:srgbClr val="0B7A6F"/>
          </a:solidFill>
          <a:ln w="9525">
            <a:solidFill>
              <a:srgbClr val="0B7A6F"/>
            </a:solidFill>
            <a:prstDash val="solid"/>
          </a:ln>
        </p:spPr>
      </p:sp>
      <p:sp>
        <p:nvSpPr>
          <p:cNvPr id="15" name="Text 12"/>
          <p:cNvSpPr txBox="1"/>
          <p:nvPr/>
        </p:nvSpPr>
        <p:spPr>
          <a:xfrm>
            <a:off x="6263640" y="1508760"/>
            <a:ext cx="2194560" cy="640080"/>
          </a:xfrm>
          <a:prstGeom prst="rect">
            <a:avLst/>
          </a:prstGeom>
          <a:noFill/>
          <a:ln/>
        </p:spPr>
        <p:txBody>
          <a:bodyPr wrap="square" lIns="0" tIns="0" rIns="0" bIns="0" rtlCol="0" anchor="ctr"/>
          <a:lstStyle/>
          <a:p>
            <a:pPr algn="ctr" indent="0" marL="0">
              <a:buNone/>
            </a:pPr>
            <a:r>
              <a:rPr lang="en-US" sz="2800" b="1" dirty="0">
                <a:solidFill>
                  <a:srgbClr val="FFFFFF"/>
                </a:solidFill>
                <a:latin typeface="SF Pro Display" pitchFamily="34" charset="0"/>
                <a:ea typeface="SF Pro Display" pitchFamily="34" charset="-122"/>
                <a:cs typeface="SF Pro Display" pitchFamily="34" charset="-120"/>
              </a:rPr>
              <a:t>$40/hr</a:t>
            </a:r>
            <a:endParaRPr lang="en-US" sz="2800" dirty="0"/>
          </a:p>
        </p:txBody>
      </p:sp>
      <p:sp>
        <p:nvSpPr>
          <p:cNvPr id="16" name="Text 13"/>
          <p:cNvSpPr txBox="1"/>
          <p:nvPr/>
        </p:nvSpPr>
        <p:spPr>
          <a:xfrm>
            <a:off x="6263640" y="2194560"/>
            <a:ext cx="2194560" cy="640080"/>
          </a:xfrm>
          <a:prstGeom prst="rect">
            <a:avLst/>
          </a:prstGeom>
          <a:noFill/>
          <a:ln/>
        </p:spPr>
        <p:txBody>
          <a:bodyPr wrap="square" lIns="0" tIns="0" rIns="0" bIns="0" rtlCol="0" anchor="t"/>
          <a:lstStyle/>
          <a:p>
            <a:pPr algn="ctr" indent="0" marL="0">
              <a:buNone/>
            </a:pPr>
            <a:r>
              <a:rPr lang="en-US" sz="1000" dirty="0">
                <a:solidFill>
                  <a:srgbClr val="FFFFFF"/>
                </a:solidFill>
                <a:latin typeface="SF Pro Text" pitchFamily="34" charset="0"/>
                <a:ea typeface="SF Pro Text" pitchFamily="34" charset="-122"/>
                <a:cs typeface="SF Pro Text" pitchFamily="34" charset="-120"/>
              </a:rPr>
              <a:t>Platform fee</a:t>
            </a:r>
            <a:endParaRPr lang="en-US" sz="1000" dirty="0"/>
          </a:p>
          <a:p>
            <a:pPr algn="ctr" indent="0" marL="0">
              <a:buNone/>
            </a:pPr>
            <a:r>
              <a:rPr lang="en-US" sz="1000" dirty="0">
                <a:solidFill>
                  <a:srgbClr val="FFFFFF"/>
                </a:solidFill>
                <a:latin typeface="SF Pro Text" pitchFamily="34" charset="0"/>
                <a:ea typeface="SF Pro Text" pitchFamily="34" charset="-122"/>
                <a:cs typeface="SF Pro Text" pitchFamily="34" charset="-120"/>
              </a:rPr>
              <a:t>on the invoice</a:t>
            </a:r>
            <a:endParaRPr lang="en-US" sz="1000" dirty="0"/>
          </a:p>
        </p:txBody>
      </p:sp>
      <p:sp>
        <p:nvSpPr>
          <p:cNvPr id="17" name="Shape 14"/>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1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19" name="Text 15"/>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Correct charge:  </a:t>
            </a:r>
            <a:pPr indent="0" marL="0">
              <a:buNone/>
            </a:pPr>
            <a:r>
              <a:rPr lang="en-US" sz="1000" dirty="0">
                <a:solidFill>
                  <a:srgbClr val="1D1D1F"/>
                </a:solidFill>
                <a:latin typeface="SF Pro Text" pitchFamily="34" charset="0"/>
                <a:ea typeface="SF Pro Text" pitchFamily="34" charset="-122"/>
                <a:cs typeface="SF Pro Text" pitchFamily="34" charset="-120"/>
              </a:rPr>
              <a:t>don't reprice it and don't refund the difference. The cleaner is still paid $15/hr.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Max requested rate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Non-FC and deactivated FC customers are priced at the highest rate among the cleaners they requested.</a:t>
            </a:r>
            <a:endParaRPr lang="en-US" sz="1200" dirty="0"/>
          </a:p>
        </p:txBody>
      </p:sp>
      <p:sp>
        <p:nvSpPr>
          <p:cNvPr id="6" name="Text 3"/>
          <p:cNvSpPr txBox="1"/>
          <p:nvPr/>
        </p:nvSpPr>
        <p:spPr>
          <a:xfrm>
            <a:off x="438912" y="132588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REQUESTED CLEANERS</a:t>
            </a:r>
            <a:endParaRPr lang="en-US" sz="800" dirty="0"/>
          </a:p>
        </p:txBody>
      </p:sp>
      <p:sp>
        <p:nvSpPr>
          <p:cNvPr id="7" name="Shape 4"/>
          <p:cNvSpPr/>
          <p:nvPr/>
        </p:nvSpPr>
        <p:spPr>
          <a:xfrm>
            <a:off x="411480" y="1572768"/>
            <a:ext cx="1261872" cy="914400"/>
          </a:xfrm>
          <a:prstGeom prst="roundRect">
            <a:avLst>
              <a:gd name="adj" fmla="val 8000"/>
            </a:avLst>
          </a:prstGeom>
          <a:solidFill>
            <a:srgbClr val="FFFFFF"/>
          </a:solidFill>
          <a:ln w="9525">
            <a:solidFill>
              <a:srgbClr val="DCE1E7"/>
            </a:solidFill>
            <a:prstDash val="solid"/>
          </a:ln>
        </p:spPr>
      </p:sp>
      <p:sp>
        <p:nvSpPr>
          <p:cNvPr id="8" name="Text 5"/>
          <p:cNvSpPr txBox="1"/>
          <p:nvPr/>
        </p:nvSpPr>
        <p:spPr>
          <a:xfrm>
            <a:off x="411480" y="1645920"/>
            <a:ext cx="1261872" cy="320040"/>
          </a:xfrm>
          <a:prstGeom prst="rect">
            <a:avLst/>
          </a:prstGeom>
          <a:noFill/>
          <a:ln/>
        </p:spPr>
        <p:txBody>
          <a:bodyPr wrap="square" lIns="0" tIns="0" rIns="0" bIns="0" rtlCol="0" anchor="t"/>
          <a:lstStyle/>
          <a:p>
            <a:pPr algn="ctr" indent="0" marL="0">
              <a:buNone/>
            </a:pPr>
            <a:r>
              <a:rPr lang="en-US" sz="1200" b="1" dirty="0">
                <a:solidFill>
                  <a:srgbClr val="1D1D1F"/>
                </a:solidFill>
                <a:latin typeface="SF Pro Display" pitchFamily="34" charset="0"/>
                <a:ea typeface="SF Pro Display" pitchFamily="34" charset="-122"/>
                <a:cs typeface="SF Pro Display" pitchFamily="34" charset="-120"/>
              </a:rPr>
              <a:t>Mona</a:t>
            </a:r>
            <a:endParaRPr lang="en-US" sz="1200" dirty="0"/>
          </a:p>
        </p:txBody>
      </p:sp>
      <p:sp>
        <p:nvSpPr>
          <p:cNvPr id="9" name="Text 6"/>
          <p:cNvSpPr txBox="1"/>
          <p:nvPr/>
        </p:nvSpPr>
        <p:spPr>
          <a:xfrm>
            <a:off x="411480" y="1965960"/>
            <a:ext cx="1261872" cy="365760"/>
          </a:xfrm>
          <a:prstGeom prst="rect">
            <a:avLst/>
          </a:prstGeom>
          <a:noFill/>
          <a:ln/>
        </p:spPr>
        <p:txBody>
          <a:bodyPr wrap="square" lIns="0" tIns="0" rIns="0" bIns="0" rtlCol="0" anchor="t"/>
          <a:lstStyle/>
          <a:p>
            <a:pPr algn="ctr" indent="0" marL="0">
              <a:buNone/>
            </a:pPr>
            <a:r>
              <a:rPr lang="en-US" sz="1500" b="1" dirty="0">
                <a:solidFill>
                  <a:srgbClr val="0B7A6F"/>
                </a:solidFill>
                <a:latin typeface="SF Pro Display" pitchFamily="34" charset="0"/>
                <a:ea typeface="SF Pro Display" pitchFamily="34" charset="-122"/>
                <a:cs typeface="SF Pro Display" pitchFamily="34" charset="-120"/>
              </a:rPr>
              <a:t>$25/hr</a:t>
            </a:r>
            <a:endParaRPr lang="en-US" sz="1500" dirty="0"/>
          </a:p>
        </p:txBody>
      </p:sp>
      <p:sp>
        <p:nvSpPr>
          <p:cNvPr id="10" name="Shape 7"/>
          <p:cNvSpPr/>
          <p:nvPr/>
        </p:nvSpPr>
        <p:spPr>
          <a:xfrm>
            <a:off x="1783080" y="1572768"/>
            <a:ext cx="1261872" cy="914400"/>
          </a:xfrm>
          <a:prstGeom prst="roundRect">
            <a:avLst>
              <a:gd name="adj" fmla="val 8000"/>
            </a:avLst>
          </a:prstGeom>
          <a:solidFill>
            <a:srgbClr val="0B7A6F"/>
          </a:solidFill>
          <a:ln w="9525">
            <a:solidFill>
              <a:srgbClr val="0B7A6F"/>
            </a:solidFill>
            <a:prstDash val="solid"/>
          </a:ln>
        </p:spPr>
      </p:sp>
      <p:sp>
        <p:nvSpPr>
          <p:cNvPr id="11" name="Text 8"/>
          <p:cNvSpPr txBox="1"/>
          <p:nvPr/>
        </p:nvSpPr>
        <p:spPr>
          <a:xfrm>
            <a:off x="1783080" y="1645920"/>
            <a:ext cx="1261872" cy="320040"/>
          </a:xfrm>
          <a:prstGeom prst="rect">
            <a:avLst/>
          </a:prstGeom>
          <a:noFill/>
          <a:ln/>
        </p:spPr>
        <p:txBody>
          <a:bodyPr wrap="square" lIns="0" tIns="0" rIns="0" bIns="0" rtlCol="0" anchor="t"/>
          <a:lstStyle/>
          <a:p>
            <a:pPr algn="ctr" indent="0" marL="0">
              <a:buNone/>
            </a:pPr>
            <a:r>
              <a:rPr lang="en-US" sz="1200" b="1" dirty="0">
                <a:solidFill>
                  <a:srgbClr val="FFFFFF"/>
                </a:solidFill>
                <a:latin typeface="SF Pro Display" pitchFamily="34" charset="0"/>
                <a:ea typeface="SF Pro Display" pitchFamily="34" charset="-122"/>
                <a:cs typeface="SF Pro Display" pitchFamily="34" charset="-120"/>
              </a:rPr>
              <a:t>Cassandra</a:t>
            </a:r>
            <a:endParaRPr lang="en-US" sz="1200" dirty="0"/>
          </a:p>
        </p:txBody>
      </p:sp>
      <p:sp>
        <p:nvSpPr>
          <p:cNvPr id="12" name="Text 9"/>
          <p:cNvSpPr txBox="1"/>
          <p:nvPr/>
        </p:nvSpPr>
        <p:spPr>
          <a:xfrm>
            <a:off x="1783080" y="1965960"/>
            <a:ext cx="1261872" cy="365760"/>
          </a:xfrm>
          <a:prstGeom prst="rect">
            <a:avLst/>
          </a:prstGeom>
          <a:noFill/>
          <a:ln/>
        </p:spPr>
        <p:txBody>
          <a:bodyPr wrap="square" lIns="0" tIns="0" rIns="0" bIns="0" rtlCol="0" anchor="t"/>
          <a:lstStyle/>
          <a:p>
            <a:pPr algn="ctr" indent="0" marL="0">
              <a:buNone/>
            </a:pPr>
            <a:r>
              <a:rPr lang="en-US" sz="1500" b="1" dirty="0">
                <a:solidFill>
                  <a:srgbClr val="FFFFFF"/>
                </a:solidFill>
                <a:latin typeface="SF Pro Display" pitchFamily="34" charset="0"/>
                <a:ea typeface="SF Pro Display" pitchFamily="34" charset="-122"/>
                <a:cs typeface="SF Pro Display" pitchFamily="34" charset="-120"/>
              </a:rPr>
              <a:t>$30/hr</a:t>
            </a:r>
            <a:endParaRPr lang="en-US" sz="1500" dirty="0"/>
          </a:p>
        </p:txBody>
      </p:sp>
      <p:sp>
        <p:nvSpPr>
          <p:cNvPr id="13" name="Shape 10"/>
          <p:cNvSpPr/>
          <p:nvPr/>
        </p:nvSpPr>
        <p:spPr>
          <a:xfrm>
            <a:off x="3154680" y="1572768"/>
            <a:ext cx="1261872" cy="914400"/>
          </a:xfrm>
          <a:prstGeom prst="roundRect">
            <a:avLst>
              <a:gd name="adj" fmla="val 8000"/>
            </a:avLst>
          </a:prstGeom>
          <a:solidFill>
            <a:srgbClr val="FFFFFF"/>
          </a:solidFill>
          <a:ln w="9525">
            <a:solidFill>
              <a:srgbClr val="DCE1E7"/>
            </a:solidFill>
            <a:prstDash val="solid"/>
          </a:ln>
        </p:spPr>
      </p:sp>
      <p:sp>
        <p:nvSpPr>
          <p:cNvPr id="14" name="Text 11"/>
          <p:cNvSpPr txBox="1"/>
          <p:nvPr/>
        </p:nvSpPr>
        <p:spPr>
          <a:xfrm>
            <a:off x="3154680" y="1645920"/>
            <a:ext cx="1261872" cy="320040"/>
          </a:xfrm>
          <a:prstGeom prst="rect">
            <a:avLst/>
          </a:prstGeom>
          <a:noFill/>
          <a:ln/>
        </p:spPr>
        <p:txBody>
          <a:bodyPr wrap="square" lIns="0" tIns="0" rIns="0" bIns="0" rtlCol="0" anchor="t"/>
          <a:lstStyle/>
          <a:p>
            <a:pPr algn="ctr" indent="0" marL="0">
              <a:buNone/>
            </a:pPr>
            <a:r>
              <a:rPr lang="en-US" sz="1200" b="1" dirty="0">
                <a:solidFill>
                  <a:srgbClr val="1D1D1F"/>
                </a:solidFill>
                <a:latin typeface="SF Pro Display" pitchFamily="34" charset="0"/>
                <a:ea typeface="SF Pro Display" pitchFamily="34" charset="-122"/>
                <a:cs typeface="SF Pro Display" pitchFamily="34" charset="-120"/>
              </a:rPr>
              <a:t>Yolanda</a:t>
            </a:r>
            <a:endParaRPr lang="en-US" sz="1200" dirty="0"/>
          </a:p>
        </p:txBody>
      </p:sp>
      <p:sp>
        <p:nvSpPr>
          <p:cNvPr id="15" name="Text 12"/>
          <p:cNvSpPr txBox="1"/>
          <p:nvPr/>
        </p:nvSpPr>
        <p:spPr>
          <a:xfrm>
            <a:off x="3154680" y="1965960"/>
            <a:ext cx="1261872" cy="365760"/>
          </a:xfrm>
          <a:prstGeom prst="rect">
            <a:avLst/>
          </a:prstGeom>
          <a:noFill/>
          <a:ln/>
        </p:spPr>
        <p:txBody>
          <a:bodyPr wrap="square" lIns="0" tIns="0" rIns="0" bIns="0" rtlCol="0" anchor="t"/>
          <a:lstStyle/>
          <a:p>
            <a:pPr algn="ctr" indent="0" marL="0">
              <a:buNone/>
            </a:pPr>
            <a:r>
              <a:rPr lang="en-US" sz="1500" b="1" dirty="0">
                <a:solidFill>
                  <a:srgbClr val="0B7A6F"/>
                </a:solidFill>
                <a:latin typeface="SF Pro Display" pitchFamily="34" charset="0"/>
                <a:ea typeface="SF Pro Display" pitchFamily="34" charset="-122"/>
                <a:cs typeface="SF Pro Display" pitchFamily="34" charset="-120"/>
              </a:rPr>
              <a:t>$23/hr</a:t>
            </a:r>
            <a:endParaRPr lang="en-US" sz="1500" dirty="0"/>
          </a:p>
        </p:txBody>
      </p:sp>
      <p:sp>
        <p:nvSpPr>
          <p:cNvPr id="16" name="Text 13"/>
          <p:cNvSpPr txBox="1"/>
          <p:nvPr/>
        </p:nvSpPr>
        <p:spPr>
          <a:xfrm>
            <a:off x="438912" y="2606040"/>
            <a:ext cx="4023360" cy="274320"/>
          </a:xfrm>
          <a:prstGeom prst="rect">
            <a:avLst/>
          </a:prstGeom>
          <a:noFill/>
          <a:ln/>
        </p:spPr>
        <p:txBody>
          <a:bodyPr wrap="square" lIns="0" tIns="0" rIns="0" bIns="0" rtlCol="0" anchor="t"/>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Max requested rate: $30/hr</a:t>
            </a:r>
            <a:endParaRPr lang="en-US" sz="1200" dirty="0"/>
          </a:p>
        </p:txBody>
      </p:sp>
      <p:sp>
        <p:nvSpPr>
          <p:cNvPr id="17" name="Shape 14"/>
          <p:cNvSpPr/>
          <p:nvPr/>
        </p:nvSpPr>
        <p:spPr>
          <a:xfrm>
            <a:off x="4663440" y="1325880"/>
            <a:ext cx="4069080" cy="1325880"/>
          </a:xfrm>
          <a:prstGeom prst="roundRect">
            <a:avLst>
              <a:gd name="adj" fmla="val 5517"/>
            </a:avLst>
          </a:prstGeom>
          <a:solidFill>
            <a:srgbClr val="FFFFFF"/>
          </a:solidFill>
          <a:ln w="9525">
            <a:solidFill>
              <a:srgbClr val="DCE1E7"/>
            </a:solidFill>
            <a:prstDash val="solid"/>
          </a:ln>
        </p:spPr>
      </p:sp>
      <p:sp>
        <p:nvSpPr>
          <p:cNvPr id="18" name="Shape 15"/>
          <p:cNvSpPr/>
          <p:nvPr/>
        </p:nvSpPr>
        <p:spPr>
          <a:xfrm>
            <a:off x="4828032" y="1490472"/>
            <a:ext cx="329184" cy="329184"/>
          </a:xfrm>
          <a:prstGeom prst="ellipse">
            <a:avLst/>
          </a:prstGeom>
          <a:solidFill>
            <a:srgbClr val="E3F4F1"/>
          </a:solidFill>
          <a:ln w="12700">
            <a:solidFill>
              <a:srgbClr val="E3F4F1"/>
            </a:solidFill>
            <a:prstDash val="solid"/>
          </a:ln>
        </p:spPr>
      </p:sp>
      <p:pic>
        <p:nvPicPr>
          <p:cNvPr id="19" name="Image 0" descr="preencoded.png">    </p:cNvPr>
          <p:cNvPicPr>
            <a:picLocks noChangeAspect="1"/>
          </p:cNvPicPr>
          <p:nvPr/>
        </p:nvPicPr>
        <p:blipFill>
          <a:blip r:embed="rId1"/>
          <a:stretch>
            <a:fillRect/>
          </a:stretch>
        </p:blipFill>
        <p:spPr>
          <a:xfrm>
            <a:off x="4907036" y="1569476"/>
            <a:ext cx="171176" cy="171176"/>
          </a:xfrm>
          <a:prstGeom prst="rect">
            <a:avLst/>
          </a:prstGeom>
        </p:spPr>
      </p:pic>
      <p:sp>
        <p:nvSpPr>
          <p:cNvPr id="20" name="Text 16"/>
          <p:cNvSpPr txBox="1"/>
          <p:nvPr/>
        </p:nvSpPr>
        <p:spPr>
          <a:xfrm>
            <a:off x="4828032" y="192938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 requested cleaner claims</a:t>
            </a:r>
            <a:endParaRPr lang="en-US" sz="1200" dirty="0"/>
          </a:p>
        </p:txBody>
      </p:sp>
      <p:sp>
        <p:nvSpPr>
          <p:cNvPr id="21" name="Text 17"/>
          <p:cNvSpPr txBox="1"/>
          <p:nvPr/>
        </p:nvSpPr>
        <p:spPr>
          <a:xfrm>
            <a:off x="4828032" y="2221992"/>
            <a:ext cx="373989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Mona claims: the customer pays Mona's rate, $25/hr.</a:t>
            </a:r>
            <a:endParaRPr lang="en-US" sz="950" dirty="0"/>
          </a:p>
        </p:txBody>
      </p:sp>
      <p:sp>
        <p:nvSpPr>
          <p:cNvPr id="22" name="Shape 18"/>
          <p:cNvSpPr/>
          <p:nvPr/>
        </p:nvSpPr>
        <p:spPr>
          <a:xfrm>
            <a:off x="4663440" y="2743200"/>
            <a:ext cx="4069080" cy="1325880"/>
          </a:xfrm>
          <a:prstGeom prst="roundRect">
            <a:avLst>
              <a:gd name="adj" fmla="val 5517"/>
            </a:avLst>
          </a:prstGeom>
          <a:solidFill>
            <a:srgbClr val="FFFFFF"/>
          </a:solidFill>
          <a:ln w="9525">
            <a:solidFill>
              <a:srgbClr val="DCE1E7"/>
            </a:solidFill>
            <a:prstDash val="solid"/>
          </a:ln>
        </p:spPr>
      </p:sp>
      <p:sp>
        <p:nvSpPr>
          <p:cNvPr id="23" name="Shape 19"/>
          <p:cNvSpPr/>
          <p:nvPr/>
        </p:nvSpPr>
        <p:spPr>
          <a:xfrm>
            <a:off x="4828032" y="2907792"/>
            <a:ext cx="329184" cy="329184"/>
          </a:xfrm>
          <a:prstGeom prst="ellipse">
            <a:avLst/>
          </a:prstGeom>
          <a:solidFill>
            <a:srgbClr val="E3F4F1"/>
          </a:solidFill>
          <a:ln w="12700">
            <a:solidFill>
              <a:srgbClr val="E3F4F1"/>
            </a:solidFill>
            <a:prstDash val="solid"/>
          </a:ln>
        </p:spPr>
      </p:sp>
      <p:pic>
        <p:nvPicPr>
          <p:cNvPr id="24" name="Image 1" descr="preencoded.png">    </p:cNvPr>
          <p:cNvPicPr>
            <a:picLocks noChangeAspect="1"/>
          </p:cNvPicPr>
          <p:nvPr/>
        </p:nvPicPr>
        <p:blipFill>
          <a:blip r:embed="rId2"/>
          <a:stretch>
            <a:fillRect/>
          </a:stretch>
        </p:blipFill>
        <p:spPr>
          <a:xfrm>
            <a:off x="4907036" y="2986796"/>
            <a:ext cx="171176" cy="171176"/>
          </a:xfrm>
          <a:prstGeom prst="rect">
            <a:avLst/>
          </a:prstGeom>
        </p:spPr>
      </p:pic>
      <p:sp>
        <p:nvSpPr>
          <p:cNvPr id="25" name="Text 20"/>
          <p:cNvSpPr txBox="1"/>
          <p:nvPr/>
        </p:nvSpPr>
        <p:spPr>
          <a:xfrm>
            <a:off x="4828032" y="334670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Someone else claims</a:t>
            </a:r>
            <a:endParaRPr lang="en-US" sz="1200" dirty="0"/>
          </a:p>
        </p:txBody>
      </p:sp>
      <p:sp>
        <p:nvSpPr>
          <p:cNvPr id="26" name="Text 21"/>
          <p:cNvSpPr txBox="1"/>
          <p:nvPr/>
        </p:nvSpPr>
        <p:spPr>
          <a:xfrm>
            <a:off x="4828032" y="3639312"/>
            <a:ext cx="373989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Jeff ($18/hr) claims: the customer pays $30/hr. Jeff gets $18/hr.</a:t>
            </a:r>
            <a:endParaRPr lang="en-US" sz="950" dirty="0"/>
          </a:p>
        </p:txBody>
      </p:sp>
      <p:sp>
        <p:nvSpPr>
          <p:cNvPr id="27" name="Text 22"/>
          <p:cNvSpPr txBox="1"/>
          <p:nvPr/>
        </p:nvSpPr>
        <p:spPr>
          <a:xfrm>
            <a:off x="438912" y="3017520"/>
            <a:ext cx="4023360" cy="82296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Requesting Cassandra shows the customer is willing to pay her rate, so it becomes their ceiling.</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you explain or refund a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Three answers tell you which case you're in.</a:t>
            </a:r>
            <a:endParaRPr lang="en-US" sz="1200" dirty="0"/>
          </a:p>
        </p:txBody>
      </p:sp>
      <p:sp>
        <p:nvSpPr>
          <p:cNvPr id="6" name="Shape 3"/>
          <p:cNvSpPr/>
          <p:nvPr/>
        </p:nvSpPr>
        <p:spPr>
          <a:xfrm>
            <a:off x="411480" y="137160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5448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Operating model</a:t>
            </a:r>
            <a:endParaRPr lang="en-US" sz="1200" dirty="0"/>
          </a:p>
        </p:txBody>
      </p:sp>
      <p:sp>
        <p:nvSpPr>
          <p:cNvPr id="10" name="Text 7"/>
          <p:cNvSpPr txBox="1"/>
          <p:nvPr/>
        </p:nvSpPr>
        <p:spPr>
          <a:xfrm>
            <a:off x="5760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CA/CA-WA or General? Look for the banner.</a:t>
            </a:r>
            <a:endParaRPr lang="en-US" sz="950" dirty="0"/>
          </a:p>
        </p:txBody>
      </p:sp>
      <p:sp>
        <p:nvSpPr>
          <p:cNvPr id="11" name="Shape 8"/>
          <p:cNvSpPr/>
          <p:nvPr/>
        </p:nvSpPr>
        <p:spPr>
          <a:xfrm>
            <a:off x="3230880" y="1371600"/>
            <a:ext cx="2682240" cy="1691640"/>
          </a:xfrm>
          <a:prstGeom prst="roundRect">
            <a:avLst>
              <a:gd name="adj" fmla="val 4324"/>
            </a:avLst>
          </a:prstGeom>
          <a:solidFill>
            <a:srgbClr val="FFFFFF"/>
          </a:solidFill>
          <a:ln w="9525">
            <a:solidFill>
              <a:srgbClr val="DCE1E7"/>
            </a:solidFill>
            <a:prstDash val="solid"/>
          </a:ln>
        </p:spPr>
      </p:sp>
      <p:sp>
        <p:nvSpPr>
          <p:cNvPr id="12" name="Shape 9"/>
          <p:cNvSpPr/>
          <p:nvPr/>
        </p:nvSpPr>
        <p:spPr>
          <a:xfrm>
            <a:off x="3395472" y="155448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Membership status</a:t>
            </a:r>
            <a:endParaRPr lang="en-US" sz="1200" dirty="0"/>
          </a:p>
        </p:txBody>
      </p:sp>
      <p:sp>
        <p:nvSpPr>
          <p:cNvPr id="15" name="Text 12"/>
          <p:cNvSpPr txBox="1"/>
          <p:nvPr/>
        </p:nvSpPr>
        <p:spPr>
          <a:xfrm>
            <a:off x="33954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FC, non-FC, or deactivated FC?</a:t>
            </a:r>
            <a:endParaRPr lang="en-US" sz="950" dirty="0"/>
          </a:p>
        </p:txBody>
      </p:sp>
      <p:sp>
        <p:nvSpPr>
          <p:cNvPr id="16" name="Shape 13"/>
          <p:cNvSpPr/>
          <p:nvPr/>
        </p:nvSpPr>
        <p:spPr>
          <a:xfrm>
            <a:off x="6050280" y="1371600"/>
            <a:ext cx="2682240" cy="1691640"/>
          </a:xfrm>
          <a:prstGeom prst="roundRect">
            <a:avLst>
              <a:gd name="adj" fmla="val 4324"/>
            </a:avLst>
          </a:prstGeom>
          <a:solidFill>
            <a:srgbClr val="FFFFFF"/>
          </a:solidFill>
          <a:ln w="9525">
            <a:solidFill>
              <a:srgbClr val="DCE1E7"/>
            </a:solidFill>
            <a:prstDash val="solid"/>
          </a:ln>
        </p:spPr>
      </p:sp>
      <p:sp>
        <p:nvSpPr>
          <p:cNvPr id="17" name="Shape 14"/>
          <p:cNvSpPr/>
          <p:nvPr/>
        </p:nvSpPr>
        <p:spPr>
          <a:xfrm>
            <a:off x="6214872" y="155448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job together?</a:t>
            </a:r>
            <a:endParaRPr lang="en-US" sz="1200" dirty="0"/>
          </a:p>
        </p:txBody>
      </p:sp>
      <p:sp>
        <p:nvSpPr>
          <p:cNvPr id="20" name="Text 17"/>
          <p:cNvSpPr txBox="1"/>
          <p:nvPr/>
        </p:nvSpPr>
        <p:spPr>
          <a:xfrm>
            <a:off x="62148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Is this the cleaner's first job with this customer?</a:t>
            </a:r>
            <a:endParaRPr lang="en-US" sz="950" dirty="0"/>
          </a:p>
        </p:txBody>
      </p:sp>
      <p:sp>
        <p:nvSpPr>
          <p:cNvPr id="21" name="Shape 18"/>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23" name="Text 19"/>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Then:  </a:t>
            </a:r>
            <a:pPr indent="0" marL="0">
              <a:buNone/>
            </a:pPr>
            <a:r>
              <a:rPr lang="en-US" sz="1000" dirty="0">
                <a:solidFill>
                  <a:srgbClr val="1D1D1F"/>
                </a:solidFill>
                <a:latin typeface="SF Pro Text" pitchFamily="34" charset="0"/>
                <a:ea typeface="SF Pro Text" pitchFamily="34" charset="-122"/>
                <a:cs typeface="SF Pro Text" pitchFamily="34" charset="-120"/>
              </a:rPr>
              <a:t>find the matching row in the platform fee table before you explain or refund anything.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Questions?</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3/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Platform &amp; Operating Mechanics</dc:title>
  <dc:subject>PptxGenJS Presentation</dc:subject>
  <dc:creator>PptxGenJS</dc:creator>
  <cp:lastModifiedBy>PptxGenJS</cp:lastModifiedBy>
  <cp:revision>1</cp:revision>
  <dcterms:created xsi:type="dcterms:W3CDTF">2026-10-01T19:35:23Z</dcterms:created>
  <dcterms:modified xsi:type="dcterms:W3CDTF">2026-10-01T19:35:23Z</dcterms:modified>
</cp:coreProperties>
</file>