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Lst>
  <p:sldSz cy="5143500" cx="9144000"/>
  <p:notesSz cx="5143500" cy="9144000"/>
  <p:embeddedFontLst>
    <p:embeddedFont>
      <p:font typeface="Play"/>
      <p:regular r:id="rId52"/>
      <p:bold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D323186-7024-4D31-ABB8-6DE780CD1503}">
  <a:tblStyle styleId="{9D323186-7024-4D31-ABB8-6DE780CD1503}"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font" Target="fonts/Play-bold.fntdata"/><Relationship Id="rId52" Type="http://schemas.openxmlformats.org/officeDocument/2006/relationships/font" Target="fonts/Play-regular.fnt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Understanding Job History, Callback Handling, C Price vs CP Pay, Vouchers in CRM, Non-Logged-In Visitor Tickets, and Max CP Rate. More topics will be added to this deck.</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times we can't tell the full story of what happened to a job from the C/CP comms alone. The job history records every change made to the job, so we can understand how its status changed and what caused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 name="Google Shape;6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instances where we cannot tell the full story of what happened to the job if we solely refer to the C/CP comms. The job history records any changes done within the job, so we can understand how the job status changed and what caused it. Check the job history whenever you're investigating a particular job, so you give the correct resolution.</a:t>
            </a:r>
            <a:endParaRPr/>
          </a:p>
        </p:txBody>
      </p:sp>
      <p:sp>
        <p:nvSpPr>
          <p:cNvPr id="68" name="Google Shape;6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 name="Google Shape;93;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 the customer's page in the New C CRM, every job in the jobs panels (Claimed &amp; Submitted, Completed Jobs and so on) has a small ⓘ icon next to the job ID. Clicking it opens that job's history. Names in the screenshot are sample training details.</a:t>
            </a:r>
            <a:endParaRPr/>
          </a:p>
        </p:txBody>
      </p:sp>
      <p:sp>
        <p:nvSpPr>
          <p:cNvPr id="94" name="Google Shape;94;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each click (on a number or anywhere on the slide) reveals the next column description, 1 to 7, while the job history stays on screen. 1 Job Start: the job start time and date at the time the action was made. 2 Job Start After Action: the job start time after the action was made. 3 Action On: the time the action was taken. 4 Job Status Before Action: the status of the job before the action was taken. 5 Actor: the one who took the action (it can be the C, CP, CS, or system). 6 Action: the action taken on the job; actions are written in a very self-explanatory manner. 7 Comment: logs any essential detail to the action. The first column (ID) is the action ID, mostly used by product or support to edit the action in Django; CS doesn't use it. Names are sample training details.</a:t>
            </a:r>
            <a:endParaRPr/>
          </a:p>
        </p:txBody>
      </p:sp>
      <p:sp>
        <p:nvSpPr>
          <p:cNvPr id="116" name="Google Shape;11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the job history from bottom to top. Dates and times are in CT (Central Time): our system time is CT, and customers may be in a different time zone. The time formula in the upper-left corner of the CRM helps you convert (e.g. PDT -2, MDT -1, CDT 0, EDT +1).</a:t>
            </a:r>
            <a:endParaRPr/>
          </a:p>
        </p:txBody>
      </p:sp>
      <p:sp>
        <p:nvSpPr>
          <p:cNvPr id="150" name="Google Shape;150;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let trainees read the job history first (bottom to top). Then click The Story (or press the right arrow) to reveal the story one line at a time, staying on this slide. Story: On Sept 7, 2026, the system booked a cleaning for C Anjuli Kintanar scheduled for Sept 21 10AM CT through the recurring cleaning plan. On Sept 14, CP Truffle Wuffle claimed the job as scheduled. On Sept 21 9:19AM CT, CP Truffle Wuffle rescheduled the appointment from Sept 21, 10AM CT to Sept 22, 11AM. On Sept 21 9:50 AM CT, CP Truffle Wuffle rescheduled the appointment again from Sept 22, 11AM to Sept 24, 12:30 PM CT. On Sept 24, 4:09 PM CT, CP Truffle Wuffle invoiced the appointment and the system logged it in snapshot.</a:t>
            </a:r>
            <a:endParaRPr/>
          </a:p>
        </p:txBody>
      </p:sp>
      <p:sp>
        <p:nvSpPr>
          <p:cNvPr id="175" name="Google Shape;17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 name="Google Shape;19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NOTE: Open the practice job history during the slideshow using the button (https://www.homeaglow.com/nocm/homeaglow/jobhistory/?job=12685237). Give trainees time to answer, then go through the answers together, row by row from the bottom up.</a:t>
            </a:r>
            <a:endParaRPr/>
          </a:p>
        </p:txBody>
      </p:sp>
      <p:sp>
        <p:nvSpPr>
          <p:cNvPr id="193" name="Google Shape;19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 don't have inbound phone support, but outbound calls are a tool we use whenever a customer asks for one, or when something needs an immediate answer (like confirming a double-booking). Category: Platform &amp; Operating Mechanics.</a:t>
            </a:r>
            <a:endParaRPr/>
          </a:p>
        </p:txBody>
      </p:sp>
      <p:sp>
        <p:nvSpPr>
          <p:cNvPr id="220" name="Google Shape;22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 name="Google Shape;25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Agent Do: if a customer requests a callback within business hours (8 AM - 8 PM, customer local time), call them right away. No LTV risk or escalation is needed to justify it; the request is enough. Why: the customer's preferred communication method is respected regardless of how serious the ticket looks, and consistent steps (timed reminders, endorsement) keep a promised callback from falling through between shifts. Outbound calls are also used when something needs an immediate answer, like confirming a double-booking.</a:t>
            </a:r>
            <a:endParaRPr/>
          </a:p>
        </p:txBody>
      </p:sp>
      <p:sp>
        <p:nvSpPr>
          <p:cNvPr id="251" name="Google Shape;25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did the customer request a callback? If not, this article doesn't apply; handle the ticket through normal channels. Step 2: within business hours (8 AM-8 PM customer local time)? Yes: attempt to call. No: address the concern via email and ask for their availability for a callback. Step 3: attempt to call up to 3 times, in this order: Primary CRM, then Google Voice, then Secondary CRM.</a:t>
            </a:r>
            <a:endParaRPr/>
          </a:p>
        </p:txBody>
      </p:sp>
      <p:sp>
        <p:nvSpPr>
          <p:cNvPr id="273" name="Google Shape;27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Call options at the top right of Customer Information: 1 Callbox with the primary number; 2 GVoice (Google Voice); 3 Callbox with the secondary number (same Callbox button, choose the Secondary Phone in the From list). Call order: Primary CRM, then Google Voice, then Secondary CRM. TRAINER: click Show screens (or press the right arrow) to reveal each screen in order. Important: check the customer's Local Time before making a call (8 AM - 8 PM their time). Customer details are sample training data.</a:t>
            </a:r>
            <a:endParaRPr/>
          </a:p>
        </p:txBody>
      </p:sp>
      <p:sp>
        <p:nvSpPr>
          <p:cNvPr id="304" name="Google Shape;304;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7" name="Google Shape;35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Answered: attempt to resolve the issue on the call, send an email summary of what was discussed/resolved, and log an internal note about the conversation (calls are not recorded, so the next agents need to know what happened). Not answered: address the concern via email and ask for their availability for a callback. Voicemail: leave a voicemail if applicable, send email + SMS, then apply the 10-minute buffer rule: after sending the SMS, wait 10 minutes and check the ticket again. If the customer replies asking for an immediate callback, call right away, buffer or not. The buffer exists so we don't call back-to-back with no sign the customer has seen our message.</a:t>
            </a:r>
            <a:endParaRPr/>
          </a:p>
        </p:txBody>
      </p:sp>
      <p:sp>
        <p:nvSpPr>
          <p:cNvPr id="358" name="Google Shape;35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4" name="Google Shape;384;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After the customer provides availability, create a timed reminder assigned to "Any CS". If you're on shift at the scheduled time: set a calendar reminder and include the ticket link in the invite so you can jump straight back in. If you're not on shift: log the ticket in the Callback Requests Tracker (Google Sheet). This two-path structure keeps a promised callback from getting lost across a shift change.</a:t>
            </a:r>
            <a:endParaRPr/>
          </a:p>
        </p:txBody>
      </p:sp>
      <p:sp>
        <p:nvSpPr>
          <p:cNvPr id="385" name="Google Shape;385;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Sample email if outside business hours: "Hi &lt;&lt;Name&gt;&gt;, I'd be happy to hop on a call to discuss this with you. Please let me know what days and times generally work best for this week. In the meantime, I pulled up your account and &lt;&lt;address surface-level issues/resolutions&gt;&gt;. &lt;&lt;If applicable&gt;&gt; Let me know if that fully resolves your concerns! Otherwise, just reply with your availability and I'll get you scheduled." Sample text if a callback attempt was missed: "This is &lt;&lt;Name&gt;&gt; from Homeaglow. I tried calling but it went to voicemail — no worries, I've already addressed your concern over email. If you'd still like to hop on a call, just text me back with your availability and we'll set it up."</a:t>
            </a:r>
            <a:endParaRPr/>
          </a:p>
        </p:txBody>
      </p:sp>
      <p:sp>
        <p:nvSpPr>
          <p:cNvPr id="410" name="Google Shape;410;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customer's price includes platform fees and taxes that don't go to the CP. The CP's pay depends on their own hourly rate and their operating model. Billing disputes are some of the most common tickets, and this is the formula reference behind Overcharged Hours, False Invoice and ETF calculations.</a:t>
            </a:r>
            <a:endParaRPr/>
          </a:p>
        </p:txBody>
      </p:sp>
      <p:sp>
        <p:nvSpPr>
          <p:cNvPr id="431" name="Google Shape;431;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1" name="Google Shape;46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 price includes platform fees and taxes that don't go to the CP. CP pay depends on the CP's own hourly rate and operating model. Billing disputes are among the most common tickets; this is the formula reference that Overcharged Hours, False Invoice and ETF calculations draw from.</a:t>
            </a:r>
            <a:endParaRPr/>
          </a:p>
        </p:txBody>
      </p:sp>
      <p:sp>
        <p:nvSpPr>
          <p:cNvPr id="462" name="Google Shape;46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Non-FC customer: $15.00/hr platform fee, 5% processing fee, sales tax varies by state. FC customer: no platform fee, 15% processing fee, sales tax varies. Deactivated FC customer: $30.00/hr platform fee, 5% processing fee, sales tax varies.</a:t>
            </a:r>
            <a:endParaRPr/>
          </a:p>
        </p:txBody>
      </p:sp>
      <p:sp>
        <p:nvSpPr>
          <p:cNvPr id="484" name="Google Shape;484;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3" name="Google Shape;49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Cleaning Price = (CP Hourly Rate + Platform Hourly Rate) x Job Duration + Processing Fee + Sales Tax + Premium Fee. If the customer has an active voucher, voucher hours are deducted from the job duration before this calculation runs. If they have active credits, those are subtracted from the final total.</a:t>
            </a:r>
            <a:endParaRPr/>
          </a:p>
        </p:txBody>
      </p:sp>
      <p:sp>
        <p:nvSpPr>
          <p:cNvPr id="494" name="Google Shape;49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4" name="Google Shape;51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give trainees time to calculate, then click Show Answers (or press the right arrow). Each click reveals one cohort. Working: billable hours = 4 - 1.5 voucher = 2.5. FC: $25 x 2.5 = $62.50; + 15% processing = $71.88; + 8% tax = $77.63; - $12 credits = $65.63. Non-FC: ($25 + $15) x 2.5 = $100.00; + 5% = $105.00; + 8% = $113.40; - $12 = $101.40. Deactivated (cancelled) FC: ($25 + $30) x 2.5 = $137.50; + 5% = $144.38; + 8% = $155.93; - $12 = $143.93.</a:t>
            </a:r>
            <a:endParaRPr/>
          </a:p>
        </p:txBody>
      </p:sp>
      <p:sp>
        <p:nvSpPr>
          <p:cNvPr id="515" name="Google Shape;51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8" name="Google Shape;54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CA/CAWA: CP's hourly rate x duration + tips + surge bonus, for first-time and repeat clients. General: first-time client (CP's hourly rate - $5.00 match fee) x duration + tips + surge bonus; repeat client CP's hourly rate x duration + tips + surge bonus. Key point: Homeaglow pays the CP directly via direct deposit regardless of whether the customer's own charge succeeds; a failed card, voucher or credits never affects CP pay. Tips: 100% go to the CP. Surge bonus: an extra $1-$50 Homeaglow may pay on certain jobs upon invoicing, positioned to CPs as "Homeaglow is especially busy."</a:t>
            </a:r>
            <a:endParaRPr/>
          </a:p>
        </p:txBody>
      </p:sp>
      <p:sp>
        <p:nvSpPr>
          <p:cNvPr id="549" name="Google Shape;54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Scenario: C is a repeat client and books a cleaning for 5 hours. C has a 3-hour cleaning voucher that will be applied to the job. Calculate the total job pay of CP Sarah and CP Gab if the job also has a $12.50 surge bonus and a $10.00 tip. TRAINER: click Show Answers (or press the right arrow); each click reveals one answer, then the key takeaway. Working: the voucher only changes what the customer pays. The CP is paid for all 5 hours (Homeaglow pays the CP regardless of vouchers, credits or failed charges). Sarah (CA/CAWA, repeat rate $28): $28 x 5 = $140 + $12.50 surge + $10 tip = $162.50. Gab (General, repeat client so no $5 match fee): $24 x 5 = $120 + $12.50 + $10 = $142.50.</a:t>
            </a:r>
            <a:endParaRPr/>
          </a:p>
        </p:txBody>
      </p:sp>
      <p:sp>
        <p:nvSpPr>
          <p:cNvPr id="573" name="Google Shape;573;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7" name="Google Shape;60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 General, first C/CP pairing: customer pays the CP's rate; the platform fee line is the $5/hr marketing fee deducted from the cleaner's pay, not an extra cost to the customer. FC, General, repeat pairing: nothing. FC, CA/CAWA, CP sets different first and repeat rates: customer pays the higher of the two whichever pairing it is; the line is the difference; the CP is paid their applicable rate and the difference goes to Homeaglow. FC, CA/CAWA, one rate: nothing. Non-FC or deactivated FC: customer pays the max CP rate, not the CP's actual rate; the line is the cohort platform fee ($15/hr non-FC, $30/hr deactivated FC) plus the gap between max rate and the CP's actual rate. Why the models differ: no marketing fee in CA/CAWA (state regulation); in exchange CPs may set separate first-pairing and repeat rates and we charge the higher.</a:t>
            </a:r>
            <a:endParaRPr/>
          </a:p>
        </p:txBody>
      </p:sp>
      <p:sp>
        <p:nvSpPr>
          <p:cNvPr id="608" name="Google Shape;608;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8" name="Shape 618"/>
        <p:cNvGrpSpPr/>
        <p:nvPr/>
      </p:nvGrpSpPr>
      <p:grpSpPr>
        <a:xfrm>
          <a:off x="0" y="0"/>
          <a:ext cx="0" cy="0"/>
          <a:chOff x="0" y="0"/>
          <a:chExt cx="0" cy="0"/>
        </a:xfrm>
      </p:grpSpPr>
      <p:sp>
        <p:nvSpPr>
          <p:cNvPr id="619" name="Google Shape;619;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0" name="Google Shape;620;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Deactivated-FC customer, max rate $25, claiming CP's rate $15, platform fee shows $40/hr. That is the $30/hr deactivated-FC platform fee plus the $10/hr gap. The charge is correct: do not reprice it and do not refund the difference. Max rate behaves differently by membership: FC customers have a max rate too, but are charged the CP's actual rate; non-FC and deactivated-FC customers are charged the max rate while the CP is paid their own rate.</a:t>
            </a:r>
            <a:endParaRPr/>
          </a:p>
        </p:txBody>
      </p:sp>
      <p:sp>
        <p:nvSpPr>
          <p:cNvPr id="621" name="Google Shape;621;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non-FC customers, pricing follows the highest hourly rate among all the CPs they requested, not whichever CP claims. Example: the customer requests Mona ($25/hr), Cassandra ($30/hr) and Yolanda ($23/hr); the max requested rate is $30/hr. If a requested CP claims (say Mona), the customer is charged Mona's actual rate ($25/hr). If a non-requested CP claims (say Jeff at $18/hr), the customer is still charged $30/hr; Jeff is paid $18/hr and the difference goes to Homeaglow. Why: requesting Cassandra signals willingness to pay her rate, so it becomes their ceiling.</a:t>
            </a:r>
            <a:endParaRPr/>
          </a:p>
        </p:txBody>
      </p:sp>
      <p:sp>
        <p:nvSpPr>
          <p:cNvPr id="644" name="Google Shape;64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2" name="Shape 672"/>
        <p:cNvGrpSpPr/>
        <p:nvPr/>
      </p:nvGrpSpPr>
      <p:grpSpPr>
        <a:xfrm>
          <a:off x="0" y="0"/>
          <a:ext cx="0" cy="0"/>
          <a:chOff x="0" y="0"/>
          <a:chExt cx="0" cy="0"/>
        </a:xfrm>
      </p:grpSpPr>
      <p:sp>
        <p:nvSpPr>
          <p:cNvPr id="673" name="Google Shape;67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4" name="Google Shape;67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Before explaining or refunding any platform-fee line, establish the operating model, the membership status, and whether it is that CP's first job with this customer. Those three answers decide which row of the platform fee table you are in.</a:t>
            </a:r>
            <a:endParaRPr/>
          </a:p>
        </p:txBody>
      </p:sp>
      <p:sp>
        <p:nvSpPr>
          <p:cNvPr id="675" name="Google Shape;67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1" name="Google Shape;701;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Vouchers show up constantly in refund, cancellation and retention tickets. Getting the type wrong leads to real mistakes, like invalidating a voucher that should have been refundable, or telling a customer their gift card triggers a membership when it does not.</a:t>
            </a:r>
            <a:endParaRPr/>
          </a:p>
        </p:txBody>
      </p:sp>
      <p:sp>
        <p:nvSpPr>
          <p:cNvPr id="702" name="Google Shape;702;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Depending on how a customer signed up, they may have paid for it directly (Legacy DHJ), received it automatically when signing up for a membership (FCF), got it through a referral or gift, or received one from Care as a courtesy. Vouchers are the entry point for Legacy DHJ memberships: the customer's first interaction is "I bought a voucher." For FCF it is the reverse: the customer signs up for a membership directly, and the system issues a free DHJ voucher behind the scenes. All new customers move to FCF from August 3, 2026, so most new sign-ups won't have "bought a voucher" from their own perspective, even though a voucher exists on their account.</a:t>
            </a:r>
            <a:endParaRPr/>
          </a:p>
        </p:txBody>
      </p:sp>
      <p:sp>
        <p:nvSpPr>
          <p:cNvPr id="733" name="Google Shape;73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2" name="Shape 762"/>
        <p:cNvGrpSpPr/>
        <p:nvPr/>
      </p:nvGrpSpPr>
      <p:grpSpPr>
        <a:xfrm>
          <a:off x="0" y="0"/>
          <a:ext cx="0" cy="0"/>
          <a:chOff x="0" y="0"/>
          <a:chExt cx="0" cy="0"/>
        </a:xfrm>
      </p:grpSpPr>
      <p:sp>
        <p:nvSpPr>
          <p:cNvPr id="763" name="Google Shape;763;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4" name="Google Shape;764;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Voucher hours are deducted from a cleaning's total hours regardless of the CP's hourly rate. If the customer books longer than the voucher, the extra hours are charged at Homeaglow's standard rate. Customers redeem a voucher at &lt;&lt;Brand Name&gt;&gt;.com/redeem and must enter Zip code, Email and Voucher Code. One voucher per household: we generally allow one paid voucher per household; the system detects a paid voucher on the registered address and blocks another purchase.</a:t>
            </a:r>
            <a:endParaRPr/>
          </a:p>
        </p:txBody>
      </p:sp>
      <p:sp>
        <p:nvSpPr>
          <p:cNvPr id="765" name="Google Shape;765;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2" name="Google Shape;792;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through each column. Code: the 16-letter redemption code (e.g. ABCD-EFGH-IJKL-MNOP). Merchant: the voucher type, e.g. dhj, dhj_gift, groupon. Price and Hours: what was paid and the voucher duration; free FCF DHJ vouchers have no price. Purchased and Expires. FC and Refund. Use "+ Issue voucher" to issue one, and "View all in legacy CRM" for the full voucher history. In the legacy CRM the voucher sits below the card logo in an orange box; an applied voucher shows a green box with a check mark, job ID and appointment date; canceled, invalidated or expired vouchers are grayed out with the reason next to the code.</a:t>
            </a:r>
            <a:endParaRPr/>
          </a:p>
        </p:txBody>
      </p:sp>
      <p:sp>
        <p:nvSpPr>
          <p:cNvPr id="793" name="Google Shape;793;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5" name="Google Shape;845;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(issued or redeemed): assigned to the account and will apply to the next invoiced job, shown in an orange box with duration, type, price and the 16-letter code. Applied (used): a green box with a check mark, the job ID and the appointment date and time. Grayed out: canceled/invalidated (removed through a refund, dispute or admin invalidation), converted (turned into credits equal to the purchase price), or expired. The reason usually appears beside the code. Refunded: refunded to the customer's card on file. Examples on the slide: an unused 3hr DHJ ($19.00) sitting below the card on file; a 3hr DHJ applied to Job 12242911 on 10/31/25 (green tag); a 2hr DHJ ($9.00) grayed out with the reason admin_refund on 5/1/26.</a:t>
            </a:r>
            <a:endParaRPr/>
          </a:p>
        </p:txBody>
      </p:sp>
      <p:sp>
        <p:nvSpPr>
          <p:cNvPr id="846" name="Google Shape;846;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3" name="Shape 873"/>
        <p:cNvGrpSpPr/>
        <p:nvPr/>
      </p:nvGrpSpPr>
      <p:grpSpPr>
        <a:xfrm>
          <a:off x="0" y="0"/>
          <a:ext cx="0" cy="0"/>
          <a:chOff x="0" y="0"/>
          <a:chExt cx="0" cy="0"/>
        </a:xfrm>
      </p:grpSpPr>
      <p:sp>
        <p:nvSpPr>
          <p:cNvPr id="874" name="Google Shape;874;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5" name="Google Shape;875;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this table before you invalidate, refund or explain any voucher. DHJ refunds can be done from the C Dashboard if purchased one year ago or less, or from the CRM. A DHJ converts to credits if an unqualified customer tries to redeem a second DHJ. Third-party merchant vouchers convert to credits on expiry. Legacy DHJ is deprecated: all new customers are on the new membership model from August 3, 2026, except those who bought a DHJ before the flip and customers who came from an AD.</a:t>
            </a:r>
            <a:endParaRPr/>
          </a:p>
        </p:txBody>
      </p:sp>
      <p:sp>
        <p:nvSpPr>
          <p:cNvPr id="876" name="Google Shape;876;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through each type and point to how it looks in the CRM. DHJ (Deals at Homejoy): the customer buys the voucher; the FC membership is only triggered once the voucher is used. Free DHJ (new membership model, all new customers from August 3, 2026): instead of buying a voucher, the customer signs up for a membership and is charged a $19 discounted first MF upfront; the system issues a free 3-hour DHJ voucher (or a discount on a longer first cleaning). Free DHJs have no price indicator in the CRM ($0.00 in the new CRM, no price on the legacy tag). DHJ Gift: shown as dhj_gift on the guest's account; single use, only the first guest can redeem it; triggers FC once used; expires in 90 days. Third-party merchant (Groupon, Living Social, Gilt City): no membership; expires 90 days after redemption; can't be split across appointments, and no admin courtesy voucher is issued for unused hours; converts to credits on expiry.</a:t>
            </a:r>
            <a:endParaRPr/>
          </a:p>
        </p:txBody>
      </p:sp>
      <p:sp>
        <p:nvSpPr>
          <p:cNvPr id="885" name="Google Shape;885;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4" name="Google Shape;924;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CP Offer: cleaners may offer up to 30 minutes off a cleaning to a customer they previously worked with; the customer must claim it within 2 days and use it within 30 days. It shows in the CRM as an admin courtesy voucher. Admin Courtesy: issued manually by CS or automatically by the system for refund requests, unworked hours, reviews or retention; expires in 60 days. The legacy example shows it applied to a job (green tag). Homeaglow Gift Card (launched December 2025): a one-time cleaning bought as a gift; does not trigger FC and isn't tied to the buyer's account; valid for 2 years. Second brand voucher (homeaglow_second_voucher): offered to customers who bought a third-party voucher, at the same cost as the third-party merchant; non-membership.</a:t>
            </a:r>
            <a:endParaRPr/>
          </a:p>
        </p:txBody>
      </p:sp>
      <p:sp>
        <p:nvSpPr>
          <p:cNvPr id="925" name="Google Shape;925;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Groupon: determine the reason (e.g. no show, cleaning quality) and address it; use the "Refund voucher (groupon)" macro in the comms kit for self-refund instructions; invalidate the voucher, otherwise Groupon may be unable to refund. Second &lt;&lt;BRAND&gt;&gt; voucher: first response, address the reason, encourage them to keep it, and give the self-refund link and instructions; second response, refund via C CRM &gt; Do &gt; Voucher &gt; Refund &gt; 2nd Voucher and let the customer know. Homeaglow Gift Card: first response, address the reason, remind them the card is valid for 2 years and can be gifted later, point them to the purchase confirmation email for the code, and invite them to reach out again; second response, escalate to your department's CSQ sheet so the charge is refunded via Stripe.</a:t>
            </a:r>
            <a:endParaRPr/>
          </a:p>
        </p:txBody>
      </p:sp>
      <p:sp>
        <p:nvSpPr>
          <p:cNvPr id="963" name="Google Shape;963;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5" name="Google Shape;975;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Scenario 1: two Groupon vouchers, the second converts to credits. Scenario 2: Groupon or second brand voucher applied to a shorter job, no admin courtesy voucher for unused hours (unlike DHJ). Scenario 3: DHJ voucher or active FC, then a Groupon, the Groupon converts to credits. Scenario 4: past invoiced job, then a Groupon, converts to credits because third-party vouchers are for new customers only. Scenario 5: Groupon first then DHJ: allowed, so we can convert them to FC; the DHJ is applied first; both can be used on separate appointments. Scenario 6: active FC customers can buy a 2nd DHJ if only one is true: booking address previously serviced by a DHJ, a card tied to a previous DHJ, or a used DHJ on the account. Scenario 7: deactivated FC customers can buy a new DHJ via the /deals page if they have no unused vouchers, no active FC, and none of the flags disputed_stripe_charge_id, customer_disputed_voucher, known_customer_fraud.</a:t>
            </a:r>
            <a:endParaRPr/>
          </a:p>
        </p:txBody>
      </p:sp>
      <p:sp>
        <p:nvSpPr>
          <p:cNvPr id="976" name="Google Shape;976;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5" name="Shape 1005"/>
        <p:cNvGrpSpPr/>
        <p:nvPr/>
      </p:nvGrpSpPr>
      <p:grpSpPr>
        <a:xfrm>
          <a:off x="0" y="0"/>
          <a:ext cx="0" cy="0"/>
          <a:chOff x="0" y="0"/>
          <a:chExt cx="0" cy="0"/>
        </a:xfrm>
      </p:grpSpPr>
      <p:sp>
        <p:nvSpPr>
          <p:cNvPr id="1006" name="Google Shape;1006;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7" name="Google Shape;1007;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Someone submits a ticket, usually via a public contact form or the Help Center, using an email address that already belongs to a registered customer. They haven't logged in, and may not actually be that customer.</a:t>
            </a:r>
            <a:endParaRPr/>
          </a:p>
        </p:txBody>
      </p:sp>
      <p:sp>
        <p:nvSpPr>
          <p:cNvPr id="1008" name="Google Shape;1008;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Point out: 1) the Triggered ticket badge and the source (Help Center); 2) the system note: "A non-logged in visitor submitted the below ticket using this user's email address. To avoid leaking sensitive information, ask the user to log in and re-submit a ticket as appropriate."; 3) the visitor's actual message. A matching email does not prove the person is the account owner. Anyone can type an email address into a form.</a:t>
            </a:r>
            <a:endParaRPr/>
          </a:p>
        </p:txBody>
      </p:sp>
      <p:sp>
        <p:nvSpPr>
          <p:cNvPr id="1036" name="Google Shape;103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8" name="Shape 1068"/>
        <p:cNvGrpSpPr/>
        <p:nvPr/>
      </p:nvGrpSpPr>
      <p:grpSpPr>
        <a:xfrm>
          <a:off x="0" y="0"/>
          <a:ext cx="0" cy="0"/>
          <a:chOff x="0" y="0"/>
          <a:chExt cx="0" cy="0"/>
        </a:xfrm>
      </p:grpSpPr>
      <p:sp>
        <p:nvSpPr>
          <p:cNvPr id="1069" name="Google Shape;1069;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0" name="Google Shape;1070;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different customers, or a customer and someone impersonating them, could share visibility into the same account if you respond to the wrong party as if they were the account owner. Treat verifying identity as the first step, not an afterthought.</a:t>
            </a:r>
            <a:endParaRPr/>
          </a:p>
        </p:txBody>
      </p:sp>
      <p:sp>
        <p:nvSpPr>
          <p:cNvPr id="1071" name="Google Shape;1071;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4" name="Google Shape;1094;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don't assume the submitter is the account owner just because the email matches. Step 2: check the account for identifying details, such as recent job details, the address, or an issue description that matches what's on file. Confirmed (their description matches account history, they reference specifics only the owner would know): proceed normally, no extra hoops for a genuinely verified customer. Can't confirm: respond generically; don't confirm account details, upcoming appointments or charges; ask them to log in to their dashboard or give a couple of identifying details first. Clearly not the owner (mismatched details, or asking something the real owner wouldn't need to ask): treat it as an unverified inquiry and share nothing account-specific.</a:t>
            </a:r>
            <a:endParaRPr/>
          </a:p>
        </p:txBody>
      </p:sp>
      <p:sp>
        <p:nvSpPr>
          <p:cNvPr id="1095" name="Google Shape;1095;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2" name="Shape 1122"/>
        <p:cNvGrpSpPr/>
        <p:nvPr/>
      </p:nvGrpSpPr>
      <p:grpSpPr>
        <a:xfrm>
          <a:off x="0" y="0"/>
          <a:ext cx="0" cy="0"/>
          <a:chOff x="0" y="0"/>
          <a:chExt cx="0" cy="0"/>
        </a:xfrm>
      </p:grpSpPr>
      <p:sp>
        <p:nvSpPr>
          <p:cNvPr id="1123" name="Google Shape;1123;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4" name="Google Shape;1124;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 agent can set a maximum hourly rate on a customer's behalf. It's a pricing lever with real trade-offs: a lower cap protects the customer's wallet, but shrinks the pool of cleaners who can claim their jobs, possibly including their current cleaner.</a:t>
            </a:r>
            <a:endParaRPr/>
          </a:p>
        </p:txBody>
      </p:sp>
      <p:sp>
        <p:nvSpPr>
          <p:cNvPr id="1125" name="Google Shape;1125;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3" name="Shape 1153"/>
        <p:cNvGrpSpPr/>
        <p:nvPr/>
      </p:nvGrpSpPr>
      <p:grpSpPr>
        <a:xfrm>
          <a:off x="0" y="0"/>
          <a:ext cx="0" cy="0"/>
          <a:chOff x="0" y="0"/>
          <a:chExt cx="0" cy="0"/>
        </a:xfrm>
      </p:grpSpPr>
      <p:sp>
        <p:nvSpPr>
          <p:cNvPr id="1154" name="Google Shape;1154;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5" name="Google Shape;1155;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An agent can set a maximum hourly rate on a customer’s behalf in the CRM. It caps the rate of the cleaners who can receive and claim the customer’s jobs, going forward: cleaning requests only go to cleaners whose rates don’t exceed the cap. Steps on the slide (also in the video): 1) In the CRM, under Customer Information, find Max rate (it shows "Not set" when there is no cap) and click Set. 2) In the "Set max rate cap" box, enter the customer’s preferred hourly rate and click Save. 3) Max rate now shows the amount with a Hard cap tag; click Edit to change it. The hard cap applies to future submitted and claimed jobs. TRAINER: in slideshow mode, click the video thumbnail to play the tutorial. Trade-off: a lower cap protects the customer's wallet, but shrinks the pool of CPs who can claim, possibly including their current CP if that CP's rate is above the new cap. Setting it without understanding how it interacts with booked jobs, rescheduling and admin-locked jobs is how a well-intentioned cap turns into an unclaimed-job ticket a week later.</a:t>
            </a:r>
            <a:endParaRPr/>
          </a:p>
        </p:txBody>
      </p:sp>
      <p:sp>
        <p:nvSpPr>
          <p:cNvPr id="1156" name="Google Shape;1156;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4" name="Google Shape;1184;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CPs set their own rates, so a lower cap can mean losing access to some of the platform's best cleaners, including the customer's current CP if that CP's rate is above the new cap. Setting it too low can mean jobs go unclaimed, especially in areas with fewer CPs at that price point. Most customers ask for $19-23/hr. Before setting the cap, check the customer's dashboard to see what CPs in their area actually charge. Don't set a number blind.</a:t>
            </a:r>
            <a:endParaRPr/>
          </a:p>
        </p:txBody>
      </p:sp>
      <p:sp>
        <p:nvSpPr>
          <p:cNvPr id="1185" name="Google Shape;1185;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9" name="Shape 1209"/>
        <p:cNvGrpSpPr/>
        <p:nvPr/>
      </p:nvGrpSpPr>
      <p:grpSpPr>
        <a:xfrm>
          <a:off x="0" y="0"/>
          <a:ext cx="0" cy="0"/>
          <a:chOff x="0" y="0"/>
          <a:chExt cx="0" cy="0"/>
        </a:xfrm>
      </p:grpSpPr>
      <p:sp>
        <p:nvSpPr>
          <p:cNvPr id="1210" name="Google Shape;1210;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1" name="Google Shape;1211;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easiest mistakes: assuming raising a cap will correct an existing job's rate (it won't; a cap can never raise a rate), and forgetting that admin-locked jobs (rate set via the Django job page) bypass the cap and the nightly sweep entirely. So a customer saying "I set a cap and this job still charged more" isn't necessarily wrong. Check whether that job was set via Django first.</a:t>
            </a:r>
            <a:endParaRPr/>
          </a:p>
        </p:txBody>
      </p:sp>
      <p:sp>
        <p:nvSpPr>
          <p:cNvPr id="1212" name="Google Shape;1212;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2" name="Shape 1222"/>
        <p:cNvGrpSpPr/>
        <p:nvPr/>
      </p:nvGrpSpPr>
      <p:grpSpPr>
        <a:xfrm>
          <a:off x="0" y="0"/>
          <a:ext cx="0" cy="0"/>
          <a:chOff x="0" y="0"/>
          <a:chExt cx="0" cy="0"/>
        </a:xfrm>
      </p:grpSpPr>
      <p:sp>
        <p:nvSpPr>
          <p:cNvPr id="1223" name="Google Shape;1223;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4" name="Google Shape;1224;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Jobs are matched to CPs at or below their selected rate whenever possible; avoid "only" or "guaranteed" language. An invoice estimate shows on their dashboard right away once a CP claims the job. They can request a rematch up to 6 hours before the appointment. If they are lowering their cap, tell them it may affect upcoming jobs they've already booked, not just future ones; this is the part that most contradicts intuition. Don't guarantee: this is a newly shipped feature still being monitored for edge cases, and admin-locked jobs bypass the cap. Terminology: don't say "max CP rate" or "max rate" to the customer; use plain language, e.g. "the highest rate a cleaner can charge for your jobs".</a:t>
            </a:r>
            <a:endParaRPr/>
          </a:p>
        </p:txBody>
      </p:sp>
      <p:sp>
        <p:nvSpPr>
          <p:cNvPr id="1225" name="Google Shape;1225;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6" name="Google Shape;1256;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floor for questions.</a:t>
            </a:r>
            <a:endParaRPr/>
          </a:p>
        </p:txBody>
      </p:sp>
      <p:sp>
        <p:nvSpPr>
          <p:cNvPr id="1257" name="Google Shape;1257;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1.png"/><Relationship Id="rId6"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8.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homeaglow.com/nocm/homeaglow/jobhistory/?job=12685237" TargetMode="External"/><Relationship Id="rId4" Type="http://schemas.openxmlformats.org/officeDocument/2006/relationships/image" Target="../media/image10.png"/><Relationship Id="rId5" Type="http://schemas.openxmlformats.org/officeDocument/2006/relationships/hyperlink" Target="https://www.homeaglow.com/nocm/homeaglow/jobhistory/?job=12685237"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19.png"/><Relationship Id="rId5" Type="http://schemas.openxmlformats.org/officeDocument/2006/relationships/image" Target="../media/image8.png"/><Relationship Id="rId6" Type="http://schemas.openxmlformats.org/officeDocument/2006/relationships/image" Target="../media/image25.png"/><Relationship Id="rId7"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1.png"/><Relationship Id="rId5" Type="http://schemas.openxmlformats.org/officeDocument/2006/relationships/image" Target="../media/image16.png"/><Relationship Id="rId6" Type="http://schemas.openxmlformats.org/officeDocument/2006/relationships/image" Target="../media/image26.png"/><Relationship Id="rId7" Type="http://schemas.openxmlformats.org/officeDocument/2006/relationships/image" Target="../media/image38.png"/><Relationship Id="rId8"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9.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4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30.png"/><Relationship Id="rId6" Type="http://schemas.openxmlformats.org/officeDocument/2006/relationships/image" Target="../media/image4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9.png"/><Relationship Id="rId4" Type="http://schemas.openxmlformats.org/officeDocument/2006/relationships/image" Target="../media/image4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4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4.png"/><Relationship Id="rId4" Type="http://schemas.openxmlformats.org/officeDocument/2006/relationships/image" Target="../media/image42.png"/><Relationship Id="rId5"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57.png"/><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7.png"/><Relationship Id="rId4" Type="http://schemas.openxmlformats.org/officeDocument/2006/relationships/image" Target="../media/image36.png"/><Relationship Id="rId5" Type="http://schemas.openxmlformats.org/officeDocument/2006/relationships/image" Target="../media/image5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3.png"/><Relationship Id="rId4" Type="http://schemas.openxmlformats.org/officeDocument/2006/relationships/image" Target="../media/image5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23.png"/><Relationship Id="rId4" Type="http://schemas.openxmlformats.org/officeDocument/2006/relationships/image" Target="../media/image4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55.png"/><Relationship Id="rId4" Type="http://schemas.openxmlformats.org/officeDocument/2006/relationships/image" Target="../media/image64.png"/><Relationship Id="rId5" Type="http://schemas.openxmlformats.org/officeDocument/2006/relationships/image" Target="../media/image70.png"/><Relationship Id="rId6" Type="http://schemas.openxmlformats.org/officeDocument/2006/relationships/image" Target="../media/image36.png"/><Relationship Id="rId7" Type="http://schemas.openxmlformats.org/officeDocument/2006/relationships/image" Target="../media/image6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8.png"/><Relationship Id="rId4" Type="http://schemas.openxmlformats.org/officeDocument/2006/relationships/image" Target="../media/image48.png"/><Relationship Id="rId5" Type="http://schemas.openxmlformats.org/officeDocument/2006/relationships/image" Target="../media/image72.png"/><Relationship Id="rId6" Type="http://schemas.openxmlformats.org/officeDocument/2006/relationships/image" Target="../media/image6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6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57.png"/><Relationship Id="rId4" Type="http://schemas.openxmlformats.org/officeDocument/2006/relationships/image" Target="../media/image62.png"/><Relationship Id="rId9" Type="http://schemas.openxmlformats.org/officeDocument/2006/relationships/image" Target="../media/image73.png"/><Relationship Id="rId5" Type="http://schemas.openxmlformats.org/officeDocument/2006/relationships/image" Target="../media/image68.png"/><Relationship Id="rId6" Type="http://schemas.openxmlformats.org/officeDocument/2006/relationships/image" Target="../media/image58.png"/><Relationship Id="rId7" Type="http://schemas.openxmlformats.org/officeDocument/2006/relationships/image" Target="../media/image52.png"/><Relationship Id="rId8" Type="http://schemas.openxmlformats.org/officeDocument/2006/relationships/image" Target="../media/image7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59.png"/><Relationship Id="rId4" Type="http://schemas.openxmlformats.org/officeDocument/2006/relationships/image" Target="../media/image54.png"/><Relationship Id="rId5" Type="http://schemas.openxmlformats.org/officeDocument/2006/relationships/image" Target="../media/image90.png"/><Relationship Id="rId6" Type="http://schemas.openxmlformats.org/officeDocument/2006/relationships/image" Target="../media/image78.png"/><Relationship Id="rId7" Type="http://schemas.openxmlformats.org/officeDocument/2006/relationships/image" Target="../media/image77.png"/><Relationship Id="rId8" Type="http://schemas.openxmlformats.org/officeDocument/2006/relationships/image" Target="../media/image6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61.png"/><Relationship Id="rId4" Type="http://schemas.openxmlformats.org/officeDocument/2006/relationships/image" Target="../media/image95.png"/><Relationship Id="rId5" Type="http://schemas.openxmlformats.org/officeDocument/2006/relationships/image" Target="../media/image67.png"/><Relationship Id="rId6" Type="http://schemas.openxmlformats.org/officeDocument/2006/relationships/image" Target="../media/image6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93.png"/><Relationship Id="rId8" Type="http://schemas.openxmlformats.org/officeDocument/2006/relationships/image" Target="../media/image5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3.png"/><Relationship Id="rId4"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89.png"/><Relationship Id="rId4"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49.png"/><Relationship Id="rId4" Type="http://schemas.openxmlformats.org/officeDocument/2006/relationships/image" Target="../media/image91.png"/><Relationship Id="rId5"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74.png"/><Relationship Id="rId4" Type="http://schemas.openxmlformats.org/officeDocument/2006/relationships/image" Target="../media/image68.png"/><Relationship Id="rId5" Type="http://schemas.openxmlformats.org/officeDocument/2006/relationships/image" Target="../media/image20.png"/><Relationship Id="rId6" Type="http://schemas.openxmlformats.org/officeDocument/2006/relationships/image" Target="../media/image84.png"/><Relationship Id="rId7" Type="http://schemas.openxmlformats.org/officeDocument/2006/relationships/image" Target="../media/image7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3.png"/><Relationship Id="rId4" Type="http://schemas.openxmlformats.org/officeDocument/2006/relationships/image" Target="../media/image7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42.png"/><Relationship Id="rId4" Type="http://schemas.openxmlformats.org/officeDocument/2006/relationships/image" Target="../media/image92.png"/><Relationship Id="rId5" Type="http://schemas.openxmlformats.org/officeDocument/2006/relationships/hyperlink" Target="https://drive.google.com/file/d/1N35RMwNuPAozUBaDhkn1XMxqfPUmpbu_/view?usp=drive_link" TargetMode="External"/><Relationship Id="rId6" Type="http://schemas.openxmlformats.org/officeDocument/2006/relationships/image" Target="../media/image81.png"/><Relationship Id="rId7" Type="http://schemas.openxmlformats.org/officeDocument/2006/relationships/hyperlink" Target="https://drive.google.com/file/d/1N35RMwNuPAozUBaDhkn1XMxqfPUmpbu_/view?usp=drive_link"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80.png"/><Relationship Id="rId4" Type="http://schemas.openxmlformats.org/officeDocument/2006/relationships/image" Target="../media/image28.png"/><Relationship Id="rId5" Type="http://schemas.openxmlformats.org/officeDocument/2006/relationships/image" Target="../media/image94.png"/><Relationship Id="rId6" Type="http://schemas.openxmlformats.org/officeDocument/2006/relationships/image" Target="../media/image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8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92.png"/><Relationship Id="rId4" Type="http://schemas.openxmlformats.org/officeDocument/2006/relationships/image" Target="../media/image30.png"/><Relationship Id="rId5" Type="http://schemas.openxmlformats.org/officeDocument/2006/relationships/image" Target="../media/image12.png"/><Relationship Id="rId6" Type="http://schemas.openxmlformats.org/officeDocument/2006/relationships/image" Target="../media/image96.png"/><Relationship Id="rId7" Type="http://schemas.openxmlformats.org/officeDocument/2006/relationships/image" Target="../media/image6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8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914400"/>
            <a:ext cx="4480560" cy="1463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200"/>
              <a:buFont typeface="Play"/>
              <a:buNone/>
            </a:pPr>
            <a:r>
              <a:rPr b="1" i="0" lang="en-US" spc="0" sz="3200" u="none" cap="none" strike="noStrike">
                <a:solidFill>
                  <a:srgbClr val="1D1D1F"/>
                </a:solidFill>
                <a:latin typeface="Play"/>
                <a:ea typeface="Play"/>
                <a:cs typeface="Play"/>
                <a:sym typeface="Play"/>
              </a:rPr>
              <a:t>Platform &amp;</a:t>
            </a:r>
            <a:endParaRPr b="0" i="0" spc="0" sz="3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200"/>
              <a:buFont typeface="Play"/>
              <a:buNone/>
            </a:pPr>
            <a:r>
              <a:rPr b="1" i="0" lang="en-US" spc="0" sz="3200" u="none" cap="none" strike="noStrike">
                <a:solidFill>
                  <a:srgbClr val="1D1D1F"/>
                </a:solidFill>
                <a:latin typeface="Play"/>
                <a:ea typeface="Play"/>
                <a:cs typeface="Play"/>
                <a:sym typeface="Play"/>
              </a:rPr>
              <a:t>Operating Mechanics</a:t>
            </a:r>
            <a:endParaRPr b="0" i="0" spc="0" sz="32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jobs, callbacks, pricing, vouchers, unverified tickets and rate caps work behind the scenes.</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TOPIC 01</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Job History</a:t>
            </a:r>
            <a:endParaRPr b="0" i="0" spc="0" sz="2800" u="none" cap="none" strike="noStrike">
              <a:solidFill>
                <a:schemeClr val="dk1"/>
              </a:solidFill>
              <a:latin typeface="Calibri"/>
              <a:ea typeface="Calibri"/>
              <a:cs typeface="Calibri"/>
              <a:sym typeface="Calibri"/>
            </a:endParaRPr>
          </a:p>
        </p:txBody>
      </p:sp>
      <p:sp>
        <p:nvSpPr>
          <p:cNvPr id="41" name="Google Shape;41;p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record of every change made to a job, and what caused it.</a:t>
            </a:r>
            <a:endParaRPr b="0" i="0" spc="0" sz="1150" u="none" cap="none" strike="noStrike">
              <a:solidFill>
                <a:schemeClr val="dk1"/>
              </a:solidFill>
              <a:latin typeface="Calibri"/>
              <a:ea typeface="Calibri"/>
              <a:cs typeface="Calibri"/>
              <a:sym typeface="Calibri"/>
            </a:endParaRPr>
          </a:p>
        </p:txBody>
      </p:sp>
      <p:sp>
        <p:nvSpPr>
          <p:cNvPr id="42" name="Google Shape;42;p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3" name="Google Shape;43;p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 name="Google Shape;44;p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5" name="Google Shape;45;p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you always check it</a:t>
            </a:r>
            <a:endParaRPr b="0" i="0" spc="0" sz="1050" u="none" cap="none" strike="noStrike">
              <a:solidFill>
                <a:schemeClr val="dk1"/>
              </a:solidFill>
              <a:latin typeface="Calibri"/>
              <a:ea typeface="Calibri"/>
              <a:cs typeface="Calibri"/>
              <a:sym typeface="Calibri"/>
            </a:endParaRPr>
          </a:p>
        </p:txBody>
      </p:sp>
      <p:sp>
        <p:nvSpPr>
          <p:cNvPr id="46" name="Google Shape;46;p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7" name="Google Shape;47;p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8" name="Google Shape;48;p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Where to find it</a:t>
            </a:r>
            <a:endParaRPr b="0" i="0" spc="0" sz="1050" u="none" cap="none" strike="noStrike">
              <a:solidFill>
                <a:schemeClr val="dk1"/>
              </a:solidFill>
              <a:latin typeface="Calibri"/>
              <a:ea typeface="Calibri"/>
              <a:cs typeface="Calibri"/>
              <a:sym typeface="Calibri"/>
            </a:endParaRPr>
          </a:p>
        </p:txBody>
      </p:sp>
      <p:sp>
        <p:nvSpPr>
          <p:cNvPr id="49" name="Google Shape;49;p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 name="Google Shape;50;p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51" name="Google Shape;51;p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read the columns</a:t>
            </a:r>
            <a:endParaRPr b="0" i="0" spc="0" sz="1050" u="none" cap="none" strike="noStrike">
              <a:solidFill>
                <a:schemeClr val="dk1"/>
              </a:solidFill>
              <a:latin typeface="Calibri"/>
              <a:ea typeface="Calibri"/>
              <a:cs typeface="Calibri"/>
              <a:sym typeface="Calibri"/>
            </a:endParaRPr>
          </a:p>
        </p:txBody>
      </p:sp>
      <p:sp>
        <p:nvSpPr>
          <p:cNvPr id="52" name="Google Shape;52;p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3" name="Google Shape;53;p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54" name="Google Shape;54;p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Practice reading one</a:t>
            </a:r>
            <a:endParaRPr b="0" i="0" spc="0" sz="1050" u="none" cap="none" strike="noStrike">
              <a:solidFill>
                <a:schemeClr val="dk1"/>
              </a:solidFill>
              <a:latin typeface="Calibri"/>
              <a:ea typeface="Calibri"/>
              <a:cs typeface="Calibri"/>
              <a:sym typeface="Calibri"/>
            </a:endParaRPr>
          </a:p>
        </p:txBody>
      </p:sp>
      <p:sp>
        <p:nvSpPr>
          <p:cNvPr id="55" name="Google Shape;55;p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 name="Google Shape;56;p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1.png" id="57" name="Google Shape;57;p6"/>
          <p:cNvPicPr preferRelativeResize="0"/>
          <p:nvPr/>
        </p:nvPicPr>
        <p:blipFill rotWithShape="1">
          <a:blip r:embed="rId4">
            <a:alphaModFix/>
          </a:blip>
          <a:srcRect b="0" l="0" r="0" t="0"/>
          <a:stretch/>
        </p:blipFill>
        <p:spPr>
          <a:xfrm>
            <a:off x="5806694" y="1517904"/>
            <a:ext cx="2395220" cy="2103120"/>
          </a:xfrm>
          <a:prstGeom prst="rect">
            <a:avLst/>
          </a:prstGeom>
          <a:noFill/>
          <a:ln>
            <a:noFill/>
          </a:ln>
        </p:spPr>
      </p:pic>
      <p:sp>
        <p:nvSpPr>
          <p:cNvPr id="58" name="Google Shape;58;p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 name="Google Shape;59;p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 name="Google Shape;60;p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 name="Google Shape;61;p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 name="Google Shape;62;p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 name="Google Shape;63;p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 name="Google Shape;6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UNDERSTANDING JOB HISTORY</a:t>
            </a:r>
            <a:endParaRPr b="0" i="0" spc="0" sz="800" u="none" cap="none" strike="noStrike">
              <a:solidFill>
                <a:schemeClr val="dk1"/>
              </a:solidFill>
              <a:latin typeface="Calibri"/>
              <a:ea typeface="Calibri"/>
              <a:cs typeface="Calibri"/>
              <a:sym typeface="Calibri"/>
            </a:endParaRPr>
          </a:p>
        </p:txBody>
      </p:sp>
      <p:sp>
        <p:nvSpPr>
          <p:cNvPr id="71" name="Google Shape;71;p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you always check it</a:t>
            </a:r>
            <a:endParaRPr b="0" i="0" spc="0" sz="2400" u="none" cap="none" strike="noStrike">
              <a:solidFill>
                <a:schemeClr val="dk1"/>
              </a:solidFill>
              <a:latin typeface="Calibri"/>
              <a:ea typeface="Calibri"/>
              <a:cs typeface="Calibri"/>
              <a:sym typeface="Calibri"/>
            </a:endParaRPr>
          </a:p>
        </p:txBody>
      </p:sp>
      <p:sp>
        <p:nvSpPr>
          <p:cNvPr id="72" name="Google Shape;72;p7"/>
          <p:cNvSpPr/>
          <p:nvPr/>
        </p:nvSpPr>
        <p:spPr>
          <a:xfrm>
            <a:off x="411480" y="1280160"/>
            <a:ext cx="2682240" cy="1783080"/>
          </a:xfrm>
          <a:prstGeom prst="roundRect">
            <a:avLst>
              <a:gd fmla="val 41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 name="Google Shape;73;p7"/>
          <p:cNvSpPr/>
          <p:nvPr/>
        </p:nvSpPr>
        <p:spPr>
          <a:xfrm>
            <a:off x="5760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655076" y="1523756"/>
            <a:ext cx="171176" cy="171176"/>
          </a:xfrm>
          <a:prstGeom prst="rect">
            <a:avLst/>
          </a:prstGeom>
          <a:noFill/>
          <a:ln>
            <a:noFill/>
          </a:ln>
        </p:spPr>
      </p:pic>
      <p:sp>
        <p:nvSpPr>
          <p:cNvPr id="75" name="Google Shape;75;p7"/>
          <p:cNvSpPr txBox="1"/>
          <p:nvPr/>
        </p:nvSpPr>
        <p:spPr>
          <a:xfrm>
            <a:off x="576072" y="188366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Comms aren't enough</a:t>
            </a:r>
            <a:endParaRPr b="0" i="0" spc="0" sz="1200" u="none" cap="none" strike="noStrike">
              <a:solidFill>
                <a:schemeClr val="dk1"/>
              </a:solidFill>
              <a:latin typeface="Calibri"/>
              <a:ea typeface="Calibri"/>
              <a:cs typeface="Calibri"/>
              <a:sym typeface="Calibri"/>
            </a:endParaRPr>
          </a:p>
        </p:txBody>
      </p:sp>
      <p:sp>
        <p:nvSpPr>
          <p:cNvPr id="76" name="Google Shape;76;p7"/>
          <p:cNvSpPr txBox="1"/>
          <p:nvPr/>
        </p:nvSpPr>
        <p:spPr>
          <a:xfrm>
            <a:off x="576072" y="2176272"/>
            <a:ext cx="2353056" cy="7955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 and CP messages don't always tell the full story of a job.</a:t>
            </a:r>
            <a:endParaRPr b="0" i="0" spc="0" sz="950" u="none" cap="none" strike="noStrike">
              <a:solidFill>
                <a:schemeClr val="dk1"/>
              </a:solidFill>
              <a:latin typeface="Calibri"/>
              <a:ea typeface="Calibri"/>
              <a:cs typeface="Calibri"/>
              <a:sym typeface="Calibri"/>
            </a:endParaRPr>
          </a:p>
        </p:txBody>
      </p:sp>
      <p:sp>
        <p:nvSpPr>
          <p:cNvPr id="77" name="Google Shape;77;p7"/>
          <p:cNvSpPr/>
          <p:nvPr/>
        </p:nvSpPr>
        <p:spPr>
          <a:xfrm>
            <a:off x="3230880" y="1280160"/>
            <a:ext cx="2682240" cy="1783080"/>
          </a:xfrm>
          <a:prstGeom prst="roundRect">
            <a:avLst>
              <a:gd fmla="val 41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 name="Google Shape;78;p7"/>
          <p:cNvSpPr/>
          <p:nvPr/>
        </p:nvSpPr>
        <p:spPr>
          <a:xfrm>
            <a:off x="33954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9" name="Google Shape;79;p7"/>
          <p:cNvPicPr preferRelativeResize="0"/>
          <p:nvPr/>
        </p:nvPicPr>
        <p:blipFill rotWithShape="1">
          <a:blip r:embed="rId4">
            <a:alphaModFix/>
          </a:blip>
          <a:srcRect b="0" l="0" r="0" t="0"/>
          <a:stretch/>
        </p:blipFill>
        <p:spPr>
          <a:xfrm>
            <a:off x="3474476" y="1523756"/>
            <a:ext cx="171176" cy="171176"/>
          </a:xfrm>
          <a:prstGeom prst="rect">
            <a:avLst/>
          </a:prstGeom>
          <a:noFill/>
          <a:ln>
            <a:noFill/>
          </a:ln>
        </p:spPr>
      </p:pic>
      <p:sp>
        <p:nvSpPr>
          <p:cNvPr id="80" name="Google Shape;80;p7"/>
          <p:cNvSpPr txBox="1"/>
          <p:nvPr/>
        </p:nvSpPr>
        <p:spPr>
          <a:xfrm>
            <a:off x="3395472" y="188366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Every change is logged</a:t>
            </a:r>
            <a:endParaRPr b="0" i="0" spc="0" sz="1200" u="none" cap="none" strike="noStrike">
              <a:solidFill>
                <a:schemeClr val="dk1"/>
              </a:solidFill>
              <a:latin typeface="Calibri"/>
              <a:ea typeface="Calibri"/>
              <a:cs typeface="Calibri"/>
              <a:sym typeface="Calibri"/>
            </a:endParaRPr>
          </a:p>
        </p:txBody>
      </p:sp>
      <p:sp>
        <p:nvSpPr>
          <p:cNvPr id="81" name="Google Shape;81;p7"/>
          <p:cNvSpPr txBox="1"/>
          <p:nvPr/>
        </p:nvSpPr>
        <p:spPr>
          <a:xfrm>
            <a:off x="3395472" y="2176272"/>
            <a:ext cx="2353056" cy="7955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How the status changed, and what caused it.</a:t>
            </a:r>
            <a:endParaRPr b="0" i="0" spc="0" sz="950" u="none" cap="none" strike="noStrike">
              <a:solidFill>
                <a:schemeClr val="dk1"/>
              </a:solidFill>
              <a:latin typeface="Calibri"/>
              <a:ea typeface="Calibri"/>
              <a:cs typeface="Calibri"/>
              <a:sym typeface="Calibri"/>
            </a:endParaRPr>
          </a:p>
        </p:txBody>
      </p:sp>
      <p:sp>
        <p:nvSpPr>
          <p:cNvPr id="82" name="Google Shape;82;p7"/>
          <p:cNvSpPr/>
          <p:nvPr/>
        </p:nvSpPr>
        <p:spPr>
          <a:xfrm>
            <a:off x="6050280" y="1280160"/>
            <a:ext cx="2682240" cy="1783080"/>
          </a:xfrm>
          <a:prstGeom prst="roundRect">
            <a:avLst>
              <a:gd fmla="val 41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 name="Google Shape;83;p7"/>
          <p:cNvSpPr/>
          <p:nvPr/>
        </p:nvSpPr>
        <p:spPr>
          <a:xfrm>
            <a:off x="62148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4" name="Google Shape;84;p7"/>
          <p:cNvPicPr preferRelativeResize="0"/>
          <p:nvPr/>
        </p:nvPicPr>
        <p:blipFill rotWithShape="1">
          <a:blip r:embed="rId5">
            <a:alphaModFix/>
          </a:blip>
          <a:srcRect b="0" l="0" r="0" t="0"/>
          <a:stretch/>
        </p:blipFill>
        <p:spPr>
          <a:xfrm>
            <a:off x="6293876" y="1523756"/>
            <a:ext cx="171176" cy="171176"/>
          </a:xfrm>
          <a:prstGeom prst="rect">
            <a:avLst/>
          </a:prstGeom>
          <a:noFill/>
          <a:ln>
            <a:noFill/>
          </a:ln>
        </p:spPr>
      </p:pic>
      <p:sp>
        <p:nvSpPr>
          <p:cNvPr id="85" name="Google Shape;85;p7"/>
          <p:cNvSpPr txBox="1"/>
          <p:nvPr/>
        </p:nvSpPr>
        <p:spPr>
          <a:xfrm>
            <a:off x="6214872" y="188366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Check it every time</a:t>
            </a:r>
            <a:endParaRPr b="0" i="0" spc="0" sz="1200" u="none" cap="none" strike="noStrike">
              <a:solidFill>
                <a:schemeClr val="dk1"/>
              </a:solidFill>
              <a:latin typeface="Calibri"/>
              <a:ea typeface="Calibri"/>
              <a:cs typeface="Calibri"/>
              <a:sym typeface="Calibri"/>
            </a:endParaRPr>
          </a:p>
        </p:txBody>
      </p:sp>
      <p:sp>
        <p:nvSpPr>
          <p:cNvPr id="86" name="Google Shape;86;p7"/>
          <p:cNvSpPr txBox="1"/>
          <p:nvPr/>
        </p:nvSpPr>
        <p:spPr>
          <a:xfrm>
            <a:off x="6214872" y="2176272"/>
            <a:ext cx="2353056" cy="7955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Whenever you investigate a job, before you decide on a resolution.</a:t>
            </a:r>
            <a:endParaRPr b="0" i="0" spc="0" sz="950" u="none" cap="none" strike="noStrike">
              <a:solidFill>
                <a:schemeClr val="dk1"/>
              </a:solidFill>
              <a:latin typeface="Calibri"/>
              <a:ea typeface="Calibri"/>
              <a:cs typeface="Calibri"/>
              <a:sym typeface="Calibri"/>
            </a:endParaRPr>
          </a:p>
        </p:txBody>
      </p:sp>
      <p:sp>
        <p:nvSpPr>
          <p:cNvPr id="87" name="Google Shape;87;p7"/>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 name="Google Shape;88;p7"/>
          <p:cNvPicPr preferRelativeResize="0"/>
          <p:nvPr/>
        </p:nvPicPr>
        <p:blipFill rotWithShape="1">
          <a:blip r:embed="rId6">
            <a:alphaModFix/>
          </a:blip>
          <a:srcRect b="0" l="0" r="0" t="0"/>
          <a:stretch/>
        </p:blipFill>
        <p:spPr>
          <a:xfrm>
            <a:off x="566928" y="3401568"/>
            <a:ext cx="164592" cy="164592"/>
          </a:xfrm>
          <a:prstGeom prst="rect">
            <a:avLst/>
          </a:prstGeom>
          <a:noFill/>
          <a:ln>
            <a:noFill/>
          </a:ln>
        </p:spPr>
      </p:pic>
      <p:sp>
        <p:nvSpPr>
          <p:cNvPr id="89" name="Google Shape;89;p7"/>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Rule:  </a:t>
            </a:r>
            <a:r>
              <a:rPr b="0" i="0" lang="en-US" spc="0" sz="1000" u="none" cap="none" strike="noStrike">
                <a:solidFill>
                  <a:srgbClr val="1D1D1F"/>
                </a:solidFill>
                <a:latin typeface="Arial"/>
                <a:ea typeface="Arial"/>
                <a:cs typeface="Arial"/>
                <a:sym typeface="Arial"/>
              </a:rPr>
              <a:t>investigating a job? Open its job history before you resolve the ticket.</a:t>
            </a:r>
            <a:endParaRPr b="0" i="0" spc="0" sz="1000" u="none" cap="none" strike="noStrike">
              <a:solidFill>
                <a:schemeClr val="dk1"/>
              </a:solidFill>
              <a:latin typeface="Calibri"/>
              <a:ea typeface="Calibri"/>
              <a:cs typeface="Calibri"/>
              <a:sym typeface="Calibri"/>
            </a:endParaRPr>
          </a:p>
        </p:txBody>
      </p:sp>
      <p:sp>
        <p:nvSpPr>
          <p:cNvPr id="90" name="Google Shape;90;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UNDERSTANDING JOB HISTORY</a:t>
            </a:r>
            <a:endParaRPr b="0" i="0" spc="0" sz="800" u="none" cap="none" strike="noStrike">
              <a:solidFill>
                <a:schemeClr val="dk1"/>
              </a:solidFill>
              <a:latin typeface="Calibri"/>
              <a:ea typeface="Calibri"/>
              <a:cs typeface="Calibri"/>
              <a:sym typeface="Calibri"/>
            </a:endParaRPr>
          </a:p>
        </p:txBody>
      </p:sp>
      <p:sp>
        <p:nvSpPr>
          <p:cNvPr id="97" name="Google Shape;97;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Where to find it</a:t>
            </a:r>
            <a:endParaRPr b="0" i="0" spc="0" sz="2400" u="none" cap="none" strike="noStrike">
              <a:solidFill>
                <a:schemeClr val="dk1"/>
              </a:solidFill>
              <a:latin typeface="Calibri"/>
              <a:ea typeface="Calibri"/>
              <a:cs typeface="Calibri"/>
              <a:sym typeface="Calibri"/>
            </a:endParaRPr>
          </a:p>
        </p:txBody>
      </p:sp>
      <p:sp>
        <p:nvSpPr>
          <p:cNvPr id="98" name="Google Shape;98;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Click the ⓘ icon next to a job ID to open its job history.</a:t>
            </a:r>
            <a:endParaRPr b="0" i="0" spc="0" sz="1200" u="none" cap="none" strike="noStrike">
              <a:solidFill>
                <a:schemeClr val="dk1"/>
              </a:solidFill>
              <a:latin typeface="Calibri"/>
              <a:ea typeface="Calibri"/>
              <a:cs typeface="Calibri"/>
              <a:sym typeface="Calibri"/>
            </a:endParaRPr>
          </a:p>
        </p:txBody>
      </p:sp>
      <p:sp>
        <p:nvSpPr>
          <p:cNvPr id="99" name="Google Shape;99;p8"/>
          <p:cNvSpPr/>
          <p:nvPr/>
        </p:nvSpPr>
        <p:spPr>
          <a:xfrm>
            <a:off x="411480" y="1280160"/>
            <a:ext cx="55778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jh_open.png" id="100" name="Google Shape;100;p8"/>
          <p:cNvPicPr preferRelativeResize="0"/>
          <p:nvPr/>
        </p:nvPicPr>
        <p:blipFill rotWithShape="1">
          <a:blip r:embed="rId3">
            <a:alphaModFix/>
          </a:blip>
          <a:srcRect b="0" l="0" r="0" t="0"/>
          <a:stretch/>
        </p:blipFill>
        <p:spPr>
          <a:xfrm>
            <a:off x="484632" y="1389742"/>
            <a:ext cx="5431536" cy="2295435"/>
          </a:xfrm>
          <a:prstGeom prst="rect">
            <a:avLst/>
          </a:prstGeom>
          <a:noFill/>
          <a:ln>
            <a:noFill/>
          </a:ln>
        </p:spPr>
      </p:pic>
      <p:sp>
        <p:nvSpPr>
          <p:cNvPr id="101" name="Google Shape;101;p8"/>
          <p:cNvSpPr/>
          <p:nvPr/>
        </p:nvSpPr>
        <p:spPr>
          <a:xfrm>
            <a:off x="6126480" y="1280160"/>
            <a:ext cx="26060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 name="Google Shape;102;p8"/>
          <p:cNvSpPr/>
          <p:nvPr/>
        </p:nvSpPr>
        <p:spPr>
          <a:xfrm>
            <a:off x="6254496" y="154076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 name="Google Shape;103;p8"/>
          <p:cNvSpPr txBox="1"/>
          <p:nvPr/>
        </p:nvSpPr>
        <p:spPr>
          <a:xfrm>
            <a:off x="6254496" y="154076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i</a:t>
            </a:r>
            <a:endParaRPr b="0" i="0" spc="0" sz="900" u="none" cap="none" strike="noStrike">
              <a:solidFill>
                <a:schemeClr val="dk1"/>
              </a:solidFill>
              <a:latin typeface="Calibri"/>
              <a:ea typeface="Calibri"/>
              <a:cs typeface="Calibri"/>
              <a:sym typeface="Calibri"/>
            </a:endParaRPr>
          </a:p>
        </p:txBody>
      </p:sp>
      <p:sp>
        <p:nvSpPr>
          <p:cNvPr id="104" name="Google Shape;104;p8"/>
          <p:cNvSpPr txBox="1"/>
          <p:nvPr/>
        </p:nvSpPr>
        <p:spPr>
          <a:xfrm>
            <a:off x="6629400" y="1325880"/>
            <a:ext cx="20116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The ⓘ icon</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Next to each job ID, in every jobs panel</a:t>
            </a:r>
            <a:endParaRPr b="0" i="0" spc="0" sz="1050" u="none" cap="none" strike="noStrike">
              <a:solidFill>
                <a:schemeClr val="dk1"/>
              </a:solidFill>
              <a:latin typeface="Calibri"/>
              <a:ea typeface="Calibri"/>
              <a:cs typeface="Calibri"/>
              <a:sym typeface="Calibri"/>
            </a:endParaRPr>
          </a:p>
        </p:txBody>
      </p:sp>
      <p:sp>
        <p:nvSpPr>
          <p:cNvPr id="105" name="Google Shape;105;p8"/>
          <p:cNvSpPr/>
          <p:nvPr/>
        </p:nvSpPr>
        <p:spPr>
          <a:xfrm>
            <a:off x="6126480" y="2148840"/>
            <a:ext cx="26060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 name="Google Shape;106;p8"/>
          <p:cNvSpPr/>
          <p:nvPr/>
        </p:nvSpPr>
        <p:spPr>
          <a:xfrm>
            <a:off x="6254496" y="240944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6254496" y="240944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a:t>
            </a:r>
            <a:endParaRPr b="0" i="0" spc="0" sz="900" u="none" cap="none" strike="noStrike">
              <a:solidFill>
                <a:schemeClr val="dk1"/>
              </a:solidFill>
              <a:latin typeface="Calibri"/>
              <a:ea typeface="Calibri"/>
              <a:cs typeface="Calibri"/>
              <a:sym typeface="Calibri"/>
            </a:endParaRPr>
          </a:p>
        </p:txBody>
      </p:sp>
      <p:sp>
        <p:nvSpPr>
          <p:cNvPr id="108" name="Google Shape;108;p8"/>
          <p:cNvSpPr txBox="1"/>
          <p:nvPr/>
        </p:nvSpPr>
        <p:spPr>
          <a:xfrm>
            <a:off x="6629400" y="2194560"/>
            <a:ext cx="20116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Click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job's history opens</a:t>
            </a:r>
            <a:endParaRPr b="0" i="0" spc="0" sz="1050" u="none" cap="none" strike="noStrike">
              <a:solidFill>
                <a:schemeClr val="dk1"/>
              </a:solidFill>
              <a:latin typeface="Calibri"/>
              <a:ea typeface="Calibri"/>
              <a:cs typeface="Calibri"/>
              <a:sym typeface="Calibri"/>
            </a:endParaRPr>
          </a:p>
        </p:txBody>
      </p:sp>
      <p:sp>
        <p:nvSpPr>
          <p:cNvPr id="109" name="Google Shape;109;p8"/>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 name="Google Shape;110;p8"/>
          <p:cNvPicPr preferRelativeResize="0"/>
          <p:nvPr/>
        </p:nvPicPr>
        <p:blipFill rotWithShape="1">
          <a:blip r:embed="rId4">
            <a:alphaModFix/>
          </a:blip>
          <a:srcRect b="0" l="0" r="0" t="0"/>
          <a:stretch/>
        </p:blipFill>
        <p:spPr>
          <a:xfrm>
            <a:off x="566928" y="4087368"/>
            <a:ext cx="164592" cy="164592"/>
          </a:xfrm>
          <a:prstGeom prst="rect">
            <a:avLst/>
          </a:prstGeom>
          <a:noFill/>
          <a:ln>
            <a:noFill/>
          </a:ln>
        </p:spPr>
      </p:pic>
      <p:sp>
        <p:nvSpPr>
          <p:cNvPr id="111" name="Google Shape;111;p8"/>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Tip:  </a:t>
            </a:r>
            <a:r>
              <a:rPr b="0" i="0" lang="en-US" spc="0" sz="1000" u="none" cap="none" strike="noStrike">
                <a:solidFill>
                  <a:srgbClr val="1D1D1F"/>
                </a:solidFill>
                <a:latin typeface="Arial"/>
                <a:ea typeface="Arial"/>
                <a:cs typeface="Arial"/>
                <a:sym typeface="Arial"/>
              </a:rPr>
              <a:t>investigating a job? Open its history before you decide on a resolution.</a:t>
            </a:r>
            <a:endParaRPr b="0" i="0" spc="0" sz="1000" u="none" cap="none" strike="noStrike">
              <a:solidFill>
                <a:schemeClr val="dk1"/>
              </a:solidFill>
              <a:latin typeface="Calibri"/>
              <a:ea typeface="Calibri"/>
              <a:cs typeface="Calibri"/>
              <a:sym typeface="Calibri"/>
            </a:endParaRPr>
          </a:p>
        </p:txBody>
      </p:sp>
      <p:sp>
        <p:nvSpPr>
          <p:cNvPr id="112" name="Google Shape;112;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UNDERSTANDING JOB HISTORY</a:t>
            </a:r>
            <a:endParaRPr b="0" i="0" spc="0" sz="800" u="none" cap="none" strike="noStrike">
              <a:solidFill>
                <a:schemeClr val="dk1"/>
              </a:solidFill>
              <a:latin typeface="Calibri"/>
              <a:ea typeface="Calibri"/>
              <a:cs typeface="Calibri"/>
              <a:sym typeface="Calibri"/>
            </a:endParaRPr>
          </a:p>
        </p:txBody>
      </p:sp>
      <p:sp>
        <p:nvSpPr>
          <p:cNvPr id="119" name="Google Shape;119;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job history</a:t>
            </a:r>
            <a:endParaRPr b="0" i="0" spc="0" sz="2400" u="none" cap="none" strike="noStrike">
              <a:solidFill>
                <a:schemeClr val="dk1"/>
              </a:solidFill>
              <a:latin typeface="Calibri"/>
              <a:ea typeface="Calibri"/>
              <a:cs typeface="Calibri"/>
              <a:sym typeface="Calibri"/>
            </a:endParaRPr>
          </a:p>
        </p:txBody>
      </p:sp>
      <p:sp>
        <p:nvSpPr>
          <p:cNvPr id="120" name="Google Shape;120;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Click a number to reveal what that column tells you. Read the rows from the bottom up.</a:t>
            </a:r>
            <a:endParaRPr b="0" i="0" spc="0" sz="1200" u="none" cap="none" strike="noStrike">
              <a:solidFill>
                <a:schemeClr val="dk1"/>
              </a:solidFill>
              <a:latin typeface="Calibri"/>
              <a:ea typeface="Calibri"/>
              <a:cs typeface="Calibri"/>
              <a:sym typeface="Calibri"/>
            </a:endParaRPr>
          </a:p>
        </p:txBody>
      </p:sp>
      <p:sp>
        <p:nvSpPr>
          <p:cNvPr id="121" name="Google Shape;121;p9"/>
          <p:cNvSpPr/>
          <p:nvPr/>
        </p:nvSpPr>
        <p:spPr>
          <a:xfrm>
            <a:off x="411480" y="1188720"/>
            <a:ext cx="5440680" cy="3520440"/>
          </a:xfrm>
          <a:prstGeom prst="roundRect">
            <a:avLst>
              <a:gd fmla="val 20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jh_table_hdr.png" id="122" name="Google Shape;122;p9"/>
          <p:cNvPicPr preferRelativeResize="0"/>
          <p:nvPr/>
        </p:nvPicPr>
        <p:blipFill rotWithShape="1">
          <a:blip r:embed="rId3">
            <a:alphaModFix/>
          </a:blip>
          <a:srcRect b="0" l="0" r="0" t="0"/>
          <a:stretch/>
        </p:blipFill>
        <p:spPr>
          <a:xfrm>
            <a:off x="484632" y="1730783"/>
            <a:ext cx="5294376" cy="2436314"/>
          </a:xfrm>
          <a:prstGeom prst="rect">
            <a:avLst/>
          </a:prstGeom>
          <a:noFill/>
          <a:ln>
            <a:noFill/>
          </a:ln>
        </p:spPr>
      </p:pic>
      <p:sp>
        <p:nvSpPr>
          <p:cNvPr id="123" name="Google Shape;123;p9"/>
          <p:cNvSpPr/>
          <p:nvPr/>
        </p:nvSpPr>
        <p:spPr>
          <a:xfrm>
            <a:off x="861339" y="1984651"/>
            <a:ext cx="491357"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 name="Google Shape;124;p9"/>
          <p:cNvSpPr/>
          <p:nvPr/>
        </p:nvSpPr>
        <p:spPr>
          <a:xfrm>
            <a:off x="1015578"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 name="Google Shape;125;p9"/>
          <p:cNvSpPr txBox="1"/>
          <p:nvPr/>
        </p:nvSpPr>
        <p:spPr>
          <a:xfrm>
            <a:off x="1015578"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US" spc="0" sz="750" u="none" cap="none" strike="noStrike">
                <a:solidFill>
                  <a:srgbClr val="FFFFFF"/>
                </a:solidFill>
                <a:latin typeface="Play"/>
                <a:ea typeface="Play"/>
                <a:cs typeface="Play"/>
                <a:sym typeface="Play"/>
              </a:rPr>
              <a:t>1</a:t>
            </a:r>
            <a:endParaRPr b="0" i="0" spc="0" sz="750" u="none" cap="none" strike="noStrike">
              <a:solidFill>
                <a:schemeClr val="dk1"/>
              </a:solidFill>
              <a:latin typeface="Calibri"/>
              <a:ea typeface="Calibri"/>
              <a:cs typeface="Calibri"/>
              <a:sym typeface="Calibri"/>
            </a:endParaRPr>
          </a:p>
        </p:txBody>
      </p:sp>
      <p:sp>
        <p:nvSpPr>
          <p:cNvPr id="126" name="Google Shape;126;p9"/>
          <p:cNvSpPr/>
          <p:nvPr/>
        </p:nvSpPr>
        <p:spPr>
          <a:xfrm>
            <a:off x="1381359" y="1984651"/>
            <a:ext cx="466790"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 name="Google Shape;127;p9"/>
          <p:cNvSpPr/>
          <p:nvPr/>
        </p:nvSpPr>
        <p:spPr>
          <a:xfrm>
            <a:off x="1523314"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txBox="1"/>
          <p:nvPr/>
        </p:nvSpPr>
        <p:spPr>
          <a:xfrm>
            <a:off x="1523314"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US" spc="0" sz="750" u="none" cap="none" strike="noStrike">
                <a:solidFill>
                  <a:srgbClr val="FFFFFF"/>
                </a:solidFill>
                <a:latin typeface="Play"/>
                <a:ea typeface="Play"/>
                <a:cs typeface="Play"/>
                <a:sym typeface="Play"/>
              </a:rPr>
              <a:t>2</a:t>
            </a:r>
            <a:endParaRPr b="0" i="0" spc="0" sz="750" u="none" cap="none" strike="noStrike">
              <a:solidFill>
                <a:schemeClr val="dk1"/>
              </a:solidFill>
              <a:latin typeface="Calibri"/>
              <a:ea typeface="Calibri"/>
              <a:cs typeface="Calibri"/>
              <a:sym typeface="Calibri"/>
            </a:endParaRPr>
          </a:p>
        </p:txBody>
      </p:sp>
      <p:sp>
        <p:nvSpPr>
          <p:cNvPr id="129" name="Google Shape;129;p9"/>
          <p:cNvSpPr/>
          <p:nvPr/>
        </p:nvSpPr>
        <p:spPr>
          <a:xfrm>
            <a:off x="1885001" y="1984651"/>
            <a:ext cx="237489"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 name="Google Shape;130;p9"/>
          <p:cNvSpPr/>
          <p:nvPr/>
        </p:nvSpPr>
        <p:spPr>
          <a:xfrm>
            <a:off x="1912305"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 name="Google Shape;131;p9"/>
          <p:cNvSpPr txBox="1"/>
          <p:nvPr/>
        </p:nvSpPr>
        <p:spPr>
          <a:xfrm>
            <a:off x="1912305"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US" spc="0" sz="750" u="none" cap="none" strike="noStrike">
                <a:solidFill>
                  <a:srgbClr val="FFFFFF"/>
                </a:solidFill>
                <a:latin typeface="Play"/>
                <a:ea typeface="Play"/>
                <a:cs typeface="Play"/>
                <a:sym typeface="Play"/>
              </a:rPr>
              <a:t>3</a:t>
            </a:r>
            <a:endParaRPr b="0" i="0" spc="0" sz="750" u="none" cap="none" strike="noStrike">
              <a:solidFill>
                <a:schemeClr val="dk1"/>
              </a:solidFill>
              <a:latin typeface="Calibri"/>
              <a:ea typeface="Calibri"/>
              <a:cs typeface="Calibri"/>
              <a:sym typeface="Calibri"/>
            </a:endParaRPr>
          </a:p>
        </p:txBody>
      </p:sp>
      <p:sp>
        <p:nvSpPr>
          <p:cNvPr id="132" name="Google Shape;132;p9"/>
          <p:cNvSpPr/>
          <p:nvPr/>
        </p:nvSpPr>
        <p:spPr>
          <a:xfrm>
            <a:off x="2376358" y="1984651"/>
            <a:ext cx="515925"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2542881"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 name="Google Shape;134;p9"/>
          <p:cNvSpPr txBox="1"/>
          <p:nvPr/>
        </p:nvSpPr>
        <p:spPr>
          <a:xfrm>
            <a:off x="2542881"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US" spc="0" sz="750" u="none" cap="none" strike="noStrike">
                <a:solidFill>
                  <a:srgbClr val="FFFFFF"/>
                </a:solidFill>
                <a:latin typeface="Play"/>
                <a:ea typeface="Play"/>
                <a:cs typeface="Play"/>
                <a:sym typeface="Play"/>
              </a:rPr>
              <a:t>4</a:t>
            </a:r>
            <a:endParaRPr b="0" i="0" spc="0" sz="750" u="none" cap="none" strike="noStrike">
              <a:solidFill>
                <a:schemeClr val="dk1"/>
              </a:solidFill>
              <a:latin typeface="Calibri"/>
              <a:ea typeface="Calibri"/>
              <a:cs typeface="Calibri"/>
              <a:sym typeface="Calibri"/>
            </a:endParaRPr>
          </a:p>
        </p:txBody>
      </p:sp>
      <p:sp>
        <p:nvSpPr>
          <p:cNvPr id="135" name="Google Shape;135;p9"/>
          <p:cNvSpPr/>
          <p:nvPr/>
        </p:nvSpPr>
        <p:spPr>
          <a:xfrm>
            <a:off x="2916851" y="1984651"/>
            <a:ext cx="163786"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 name="Google Shape;136;p9"/>
          <p:cNvSpPr/>
          <p:nvPr/>
        </p:nvSpPr>
        <p:spPr>
          <a:xfrm>
            <a:off x="2907304"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 name="Google Shape;137;p9"/>
          <p:cNvSpPr txBox="1"/>
          <p:nvPr/>
        </p:nvSpPr>
        <p:spPr>
          <a:xfrm>
            <a:off x="2907304"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US" spc="0" sz="750" u="none" cap="none" strike="noStrike">
                <a:solidFill>
                  <a:srgbClr val="FFFFFF"/>
                </a:solidFill>
                <a:latin typeface="Play"/>
                <a:ea typeface="Play"/>
                <a:cs typeface="Play"/>
                <a:sym typeface="Play"/>
              </a:rPr>
              <a:t>5</a:t>
            </a:r>
            <a:endParaRPr b="0" i="0" spc="0" sz="750" u="none" cap="none" strike="noStrike">
              <a:solidFill>
                <a:schemeClr val="dk1"/>
              </a:solidFill>
              <a:latin typeface="Calibri"/>
              <a:ea typeface="Calibri"/>
              <a:cs typeface="Calibri"/>
              <a:sym typeface="Calibri"/>
            </a:endParaRPr>
          </a:p>
        </p:txBody>
      </p:sp>
      <p:sp>
        <p:nvSpPr>
          <p:cNvPr id="138" name="Google Shape;138;p9"/>
          <p:cNvSpPr/>
          <p:nvPr/>
        </p:nvSpPr>
        <p:spPr>
          <a:xfrm>
            <a:off x="3109299" y="1984651"/>
            <a:ext cx="241584"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 name="Google Shape;139;p9"/>
          <p:cNvSpPr/>
          <p:nvPr/>
        </p:nvSpPr>
        <p:spPr>
          <a:xfrm>
            <a:off x="3138651"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 name="Google Shape;140;p9"/>
          <p:cNvSpPr txBox="1"/>
          <p:nvPr/>
        </p:nvSpPr>
        <p:spPr>
          <a:xfrm>
            <a:off x="3138651"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US" spc="0" sz="750" u="none" cap="none" strike="noStrike">
                <a:solidFill>
                  <a:srgbClr val="FFFFFF"/>
                </a:solidFill>
                <a:latin typeface="Play"/>
                <a:ea typeface="Play"/>
                <a:cs typeface="Play"/>
                <a:sym typeface="Play"/>
              </a:rPr>
              <a:t>6</a:t>
            </a:r>
            <a:endParaRPr b="0" i="0" spc="0" sz="750" u="none" cap="none" strike="noStrike">
              <a:solidFill>
                <a:schemeClr val="dk1"/>
              </a:solidFill>
              <a:latin typeface="Calibri"/>
              <a:ea typeface="Calibri"/>
              <a:cs typeface="Calibri"/>
              <a:sym typeface="Calibri"/>
            </a:endParaRPr>
          </a:p>
        </p:txBody>
      </p:sp>
      <p:sp>
        <p:nvSpPr>
          <p:cNvPr id="141" name="Google Shape;141;p9"/>
          <p:cNvSpPr/>
          <p:nvPr/>
        </p:nvSpPr>
        <p:spPr>
          <a:xfrm>
            <a:off x="5156622" y="1984651"/>
            <a:ext cx="225205" cy="77798"/>
          </a:xfrm>
          <a:prstGeom prst="roundRect">
            <a:avLst>
              <a:gd fmla="val 23507" name="adj"/>
            </a:avLst>
          </a:prstGeom>
          <a:noFill/>
          <a:ln cap="flat" cmpd="sng" w="1905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 name="Google Shape;142;p9"/>
          <p:cNvSpPr/>
          <p:nvPr/>
        </p:nvSpPr>
        <p:spPr>
          <a:xfrm>
            <a:off x="5177785" y="1774339"/>
            <a:ext cx="182880" cy="182880"/>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 name="Google Shape;143;p9"/>
          <p:cNvSpPr txBox="1"/>
          <p:nvPr/>
        </p:nvSpPr>
        <p:spPr>
          <a:xfrm>
            <a:off x="5177785" y="1774339"/>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Play"/>
              <a:buNone/>
            </a:pPr>
            <a:r>
              <a:rPr b="1" i="0" lang="en-US" spc="0" sz="750" u="none" cap="none" strike="noStrike">
                <a:solidFill>
                  <a:srgbClr val="FFFFFF"/>
                </a:solidFill>
                <a:latin typeface="Play"/>
                <a:ea typeface="Play"/>
                <a:cs typeface="Play"/>
                <a:sym typeface="Play"/>
              </a:rPr>
              <a:t>7</a:t>
            </a:r>
            <a:endParaRPr b="0" i="0" spc="0" sz="750" u="none" cap="none" strike="noStrike">
              <a:solidFill>
                <a:schemeClr val="dk1"/>
              </a:solidFill>
              <a:latin typeface="Calibri"/>
              <a:ea typeface="Calibri"/>
              <a:cs typeface="Calibri"/>
              <a:sym typeface="Calibri"/>
            </a:endParaRPr>
          </a:p>
        </p:txBody>
      </p:sp>
      <p:sp>
        <p:nvSpPr>
          <p:cNvPr id="144" name="Google Shape;144;p9"/>
          <p:cNvSpPr/>
          <p:nvPr/>
        </p:nvSpPr>
        <p:spPr>
          <a:xfrm>
            <a:off x="5989320" y="1188720"/>
            <a:ext cx="2743200" cy="3520440"/>
          </a:xfrm>
          <a:prstGeom prst="roundRect">
            <a:avLst>
              <a:gd fmla="val 2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 name="Google Shape;145;p9"/>
          <p:cNvSpPr txBox="1"/>
          <p:nvPr/>
        </p:nvSpPr>
        <p:spPr>
          <a:xfrm>
            <a:off x="6108192" y="1298448"/>
            <a:ext cx="2514600" cy="3291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1  Job Start: </a:t>
            </a:r>
            <a:r>
              <a:rPr b="0" i="0" lang="en-US" spc="0" sz="850" u="none" cap="none" strike="noStrike">
                <a:solidFill>
                  <a:srgbClr val="1D1D1F"/>
                </a:solidFill>
                <a:latin typeface="Arial"/>
                <a:ea typeface="Arial"/>
                <a:cs typeface="Arial"/>
                <a:sym typeface="Arial"/>
              </a:rPr>
              <a:t>the job start time and date at the time the action was made</a:t>
            </a:r>
            <a:endParaRPr b="0" i="0" spc="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2  Job Start After Action: </a:t>
            </a:r>
            <a:r>
              <a:rPr b="0" i="0" lang="en-US" spc="0" sz="850" u="none" cap="none" strike="noStrike">
                <a:solidFill>
                  <a:srgbClr val="1D1D1F"/>
                </a:solidFill>
                <a:latin typeface="Arial"/>
                <a:ea typeface="Arial"/>
                <a:cs typeface="Arial"/>
                <a:sym typeface="Arial"/>
              </a:rPr>
              <a:t>the job start time after the action was made</a:t>
            </a:r>
            <a:endParaRPr b="0" i="0" spc="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3  Action On: </a:t>
            </a:r>
            <a:r>
              <a:rPr b="0" i="0" lang="en-US" spc="0" sz="850" u="none" cap="none" strike="noStrike">
                <a:solidFill>
                  <a:srgbClr val="1D1D1F"/>
                </a:solidFill>
                <a:latin typeface="Arial"/>
                <a:ea typeface="Arial"/>
                <a:cs typeface="Arial"/>
                <a:sym typeface="Arial"/>
              </a:rPr>
              <a:t>the time the action was taken</a:t>
            </a:r>
            <a:endParaRPr b="0" i="0" spc="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4  Job Status Before Action: </a:t>
            </a:r>
            <a:r>
              <a:rPr b="0" i="0" lang="en-US" spc="0" sz="850" u="none" cap="none" strike="noStrike">
                <a:solidFill>
                  <a:srgbClr val="1D1D1F"/>
                </a:solidFill>
                <a:latin typeface="Arial"/>
                <a:ea typeface="Arial"/>
                <a:cs typeface="Arial"/>
                <a:sym typeface="Arial"/>
              </a:rPr>
              <a:t>the status of the job before the action was taken</a:t>
            </a:r>
            <a:endParaRPr b="0" i="0" spc="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5  Actor: </a:t>
            </a:r>
            <a:r>
              <a:rPr b="0" i="0" lang="en-US" spc="0" sz="850" u="none" cap="none" strike="noStrike">
                <a:solidFill>
                  <a:srgbClr val="1D1D1F"/>
                </a:solidFill>
                <a:latin typeface="Arial"/>
                <a:ea typeface="Arial"/>
                <a:cs typeface="Arial"/>
                <a:sym typeface="Arial"/>
              </a:rPr>
              <a:t>the one who took the action: the C, CP, CS, or system</a:t>
            </a:r>
            <a:endParaRPr b="0" i="0" spc="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6  Action: </a:t>
            </a:r>
            <a:r>
              <a:rPr b="0" i="0" lang="en-US" spc="0" sz="850" u="none" cap="none" strike="noStrike">
                <a:solidFill>
                  <a:srgbClr val="1D1D1F"/>
                </a:solidFill>
                <a:latin typeface="Arial"/>
                <a:ea typeface="Arial"/>
                <a:cs typeface="Arial"/>
                <a:sym typeface="Arial"/>
              </a:rPr>
              <a:t>the action taken on the job. Written to be self-explanatory</a:t>
            </a:r>
            <a:endParaRPr b="0" i="0" spc="0" sz="8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7  Comment: </a:t>
            </a:r>
            <a:r>
              <a:rPr b="0" i="0" lang="en-US" spc="0" sz="850" u="none" cap="none" strike="noStrike">
                <a:solidFill>
                  <a:srgbClr val="1D1D1F"/>
                </a:solidFill>
                <a:latin typeface="Arial"/>
                <a:ea typeface="Arial"/>
                <a:cs typeface="Arial"/>
                <a:sym typeface="Arial"/>
              </a:rPr>
              <a:t>logs any essential detail to the action</a:t>
            </a:r>
            <a:endParaRPr b="0" i="0" spc="0" sz="850" u="none" cap="none" strike="noStrike">
              <a:solidFill>
                <a:schemeClr val="dk1"/>
              </a:solidFill>
              <a:latin typeface="Calibri"/>
              <a:ea typeface="Calibri"/>
              <a:cs typeface="Calibri"/>
              <a:sym typeface="Calibri"/>
            </a:endParaRPr>
          </a:p>
        </p:txBody>
      </p:sp>
      <p:sp>
        <p:nvSpPr>
          <p:cNvPr id="146" name="Google Shape;146;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
                                            <p:txEl>
                                              <p:pRg end="0" st="0"/>
                                            </p:txEl>
                                          </p:spTgt>
                                        </p:tgtEl>
                                        <p:attrNameLst>
                                          <p:attrName>style.visibility</p:attrName>
                                        </p:attrNameLst>
                                      </p:cBhvr>
                                      <p:to>
                                        <p:strVal val="visible"/>
                                      </p:to>
                                    </p:set>
                                    <p:animEffect filter="fade" transition="in">
                                      <p:cBhvr>
                                        <p:cTn dur="600"/>
                                        <p:tgtEl>
                                          <p:spTgt spid="145">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
                                            <p:txEl>
                                              <p:pRg end="1" st="1"/>
                                            </p:txEl>
                                          </p:spTgt>
                                        </p:tgtEl>
                                        <p:attrNameLst>
                                          <p:attrName>style.visibility</p:attrName>
                                        </p:attrNameLst>
                                      </p:cBhvr>
                                      <p:to>
                                        <p:strVal val="visible"/>
                                      </p:to>
                                    </p:set>
                                    <p:animEffect filter="fade" transition="in">
                                      <p:cBhvr>
                                        <p:cTn dur="600"/>
                                        <p:tgtEl>
                                          <p:spTgt spid="145">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
                                            <p:txEl>
                                              <p:pRg end="2" st="2"/>
                                            </p:txEl>
                                          </p:spTgt>
                                        </p:tgtEl>
                                        <p:attrNameLst>
                                          <p:attrName>style.visibility</p:attrName>
                                        </p:attrNameLst>
                                      </p:cBhvr>
                                      <p:to>
                                        <p:strVal val="visible"/>
                                      </p:to>
                                    </p:set>
                                    <p:animEffect filter="fade" transition="in">
                                      <p:cBhvr>
                                        <p:cTn dur="600"/>
                                        <p:tgtEl>
                                          <p:spTgt spid="145">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
                                            <p:txEl>
                                              <p:pRg end="3" st="3"/>
                                            </p:txEl>
                                          </p:spTgt>
                                        </p:tgtEl>
                                        <p:attrNameLst>
                                          <p:attrName>style.visibility</p:attrName>
                                        </p:attrNameLst>
                                      </p:cBhvr>
                                      <p:to>
                                        <p:strVal val="visible"/>
                                      </p:to>
                                    </p:set>
                                    <p:animEffect filter="fade" transition="in">
                                      <p:cBhvr>
                                        <p:cTn dur="600"/>
                                        <p:tgtEl>
                                          <p:spTgt spid="145">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
                                            <p:txEl>
                                              <p:pRg end="4" st="4"/>
                                            </p:txEl>
                                          </p:spTgt>
                                        </p:tgtEl>
                                        <p:attrNameLst>
                                          <p:attrName>style.visibility</p:attrName>
                                        </p:attrNameLst>
                                      </p:cBhvr>
                                      <p:to>
                                        <p:strVal val="visible"/>
                                      </p:to>
                                    </p:set>
                                    <p:animEffect filter="fade" transition="in">
                                      <p:cBhvr>
                                        <p:cTn dur="600"/>
                                        <p:tgtEl>
                                          <p:spTgt spid="145">
                                            <p:txEl>
                                              <p:pRg end="4" st="4"/>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
                                            <p:txEl>
                                              <p:pRg end="5" st="5"/>
                                            </p:txEl>
                                          </p:spTgt>
                                        </p:tgtEl>
                                        <p:attrNameLst>
                                          <p:attrName>style.visibility</p:attrName>
                                        </p:attrNameLst>
                                      </p:cBhvr>
                                      <p:to>
                                        <p:strVal val="visible"/>
                                      </p:to>
                                    </p:set>
                                    <p:animEffect filter="fade" transition="in">
                                      <p:cBhvr>
                                        <p:cTn dur="600"/>
                                        <p:tgtEl>
                                          <p:spTgt spid="145">
                                            <p:txEl>
                                              <p:pRg end="5" st="5"/>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5">
                                            <p:txEl>
                                              <p:pRg end="6" st="6"/>
                                            </p:txEl>
                                          </p:spTgt>
                                        </p:tgtEl>
                                        <p:attrNameLst>
                                          <p:attrName>style.visibility</p:attrName>
                                        </p:attrNameLst>
                                      </p:cBhvr>
                                      <p:to>
                                        <p:strVal val="visible"/>
                                      </p:to>
                                    </p:set>
                                    <p:animEffect filter="fade" transition="in">
                                      <p:cBhvr>
                                        <p:cTn dur="600"/>
                                        <p:tgtEl>
                                          <p:spTgt spid="145">
                                            <p:txEl>
                                              <p:pRg end="6" st="6"/>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UNDERSTANDING JOB HISTORY</a:t>
            </a:r>
            <a:endParaRPr b="0" i="0" spc="0" sz="800" u="none" cap="none" strike="noStrike">
              <a:solidFill>
                <a:schemeClr val="dk1"/>
              </a:solidFill>
              <a:latin typeface="Calibri"/>
              <a:ea typeface="Calibri"/>
              <a:cs typeface="Calibri"/>
              <a:sym typeface="Calibri"/>
            </a:endParaRPr>
          </a:p>
        </p:txBody>
      </p:sp>
      <p:sp>
        <p:nvSpPr>
          <p:cNvPr id="153" name="Google Shape;153;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Two things to remember</a:t>
            </a:r>
            <a:endParaRPr b="0" i="0" spc="0" sz="2400" u="none" cap="none" strike="noStrike">
              <a:solidFill>
                <a:schemeClr val="dk1"/>
              </a:solidFill>
              <a:latin typeface="Calibri"/>
              <a:ea typeface="Calibri"/>
              <a:cs typeface="Calibri"/>
              <a:sym typeface="Calibri"/>
            </a:endParaRPr>
          </a:p>
        </p:txBody>
      </p:sp>
      <p:sp>
        <p:nvSpPr>
          <p:cNvPr id="154" name="Google Shape;154;p10"/>
          <p:cNvSpPr/>
          <p:nvPr/>
        </p:nvSpPr>
        <p:spPr>
          <a:xfrm>
            <a:off x="411480" y="123444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 name="Google Shape;155;p10"/>
          <p:cNvSpPr/>
          <p:nvPr/>
        </p:nvSpPr>
        <p:spPr>
          <a:xfrm>
            <a:off x="576072" y="13990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6" name="Google Shape;156;p10"/>
          <p:cNvPicPr preferRelativeResize="0"/>
          <p:nvPr/>
        </p:nvPicPr>
        <p:blipFill rotWithShape="1">
          <a:blip r:embed="rId3">
            <a:alphaModFix/>
          </a:blip>
          <a:srcRect b="0" l="0" r="0" t="0"/>
          <a:stretch/>
        </p:blipFill>
        <p:spPr>
          <a:xfrm>
            <a:off x="655076" y="1478036"/>
            <a:ext cx="171176" cy="171176"/>
          </a:xfrm>
          <a:prstGeom prst="rect">
            <a:avLst/>
          </a:prstGeom>
          <a:noFill/>
          <a:ln>
            <a:noFill/>
          </a:ln>
        </p:spPr>
      </p:pic>
      <p:sp>
        <p:nvSpPr>
          <p:cNvPr id="157" name="Google Shape;157;p10"/>
          <p:cNvSpPr txBox="1"/>
          <p:nvPr/>
        </p:nvSpPr>
        <p:spPr>
          <a:xfrm>
            <a:off x="576072" y="183794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Read bottom to top</a:t>
            </a:r>
            <a:endParaRPr b="0" i="0" spc="0" sz="1200" u="none" cap="none" strike="noStrike">
              <a:solidFill>
                <a:schemeClr val="dk1"/>
              </a:solidFill>
              <a:latin typeface="Calibri"/>
              <a:ea typeface="Calibri"/>
              <a:cs typeface="Calibri"/>
              <a:sym typeface="Calibri"/>
            </a:endParaRPr>
          </a:p>
        </p:txBody>
      </p:sp>
      <p:sp>
        <p:nvSpPr>
          <p:cNvPr id="158" name="Google Shape;158;p10"/>
          <p:cNvSpPr txBox="1"/>
          <p:nvPr/>
        </p:nvSpPr>
        <p:spPr>
          <a:xfrm>
            <a:off x="576072" y="2130552"/>
            <a:ext cx="37627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oldest action is at the bottom. The newest is at the top.</a:t>
            </a:r>
            <a:endParaRPr b="0" i="0" spc="0" sz="950" u="none" cap="none" strike="noStrike">
              <a:solidFill>
                <a:schemeClr val="dk1"/>
              </a:solidFill>
              <a:latin typeface="Calibri"/>
              <a:ea typeface="Calibri"/>
              <a:cs typeface="Calibri"/>
              <a:sym typeface="Calibri"/>
            </a:endParaRPr>
          </a:p>
        </p:txBody>
      </p:sp>
      <p:sp>
        <p:nvSpPr>
          <p:cNvPr id="159" name="Google Shape;159;p10"/>
          <p:cNvSpPr/>
          <p:nvPr/>
        </p:nvSpPr>
        <p:spPr>
          <a:xfrm>
            <a:off x="4640580" y="123444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p:nvPr/>
        </p:nvSpPr>
        <p:spPr>
          <a:xfrm>
            <a:off x="4805172" y="13990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1" name="Google Shape;161;p10"/>
          <p:cNvPicPr preferRelativeResize="0"/>
          <p:nvPr/>
        </p:nvPicPr>
        <p:blipFill rotWithShape="1">
          <a:blip r:embed="rId4">
            <a:alphaModFix/>
          </a:blip>
          <a:srcRect b="0" l="0" r="0" t="0"/>
          <a:stretch/>
        </p:blipFill>
        <p:spPr>
          <a:xfrm>
            <a:off x="4884176" y="1478036"/>
            <a:ext cx="171176" cy="171176"/>
          </a:xfrm>
          <a:prstGeom prst="rect">
            <a:avLst/>
          </a:prstGeom>
          <a:noFill/>
          <a:ln>
            <a:noFill/>
          </a:ln>
        </p:spPr>
      </p:pic>
      <p:sp>
        <p:nvSpPr>
          <p:cNvPr id="162" name="Google Shape;162;p10"/>
          <p:cNvSpPr txBox="1"/>
          <p:nvPr/>
        </p:nvSpPr>
        <p:spPr>
          <a:xfrm>
            <a:off x="4805172" y="183794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Times are in CT</a:t>
            </a:r>
            <a:endParaRPr b="0" i="0" spc="0" sz="1200" u="none" cap="none" strike="noStrike">
              <a:solidFill>
                <a:schemeClr val="dk1"/>
              </a:solidFill>
              <a:latin typeface="Calibri"/>
              <a:ea typeface="Calibri"/>
              <a:cs typeface="Calibri"/>
              <a:sym typeface="Calibri"/>
            </a:endParaRPr>
          </a:p>
        </p:txBody>
      </p:sp>
      <p:sp>
        <p:nvSpPr>
          <p:cNvPr id="163" name="Google Shape;163;p10"/>
          <p:cNvSpPr txBox="1"/>
          <p:nvPr/>
        </p:nvSpPr>
        <p:spPr>
          <a:xfrm>
            <a:off x="4805172" y="2130552"/>
            <a:ext cx="37627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Our system time is Central Time. The customer may be in another time zone.</a:t>
            </a:r>
            <a:endParaRPr b="0" i="0" spc="0" sz="950" u="none" cap="none" strike="noStrike">
              <a:solidFill>
                <a:schemeClr val="dk1"/>
              </a:solidFill>
              <a:latin typeface="Calibri"/>
              <a:ea typeface="Calibri"/>
              <a:cs typeface="Calibri"/>
              <a:sym typeface="Calibri"/>
            </a:endParaRPr>
          </a:p>
        </p:txBody>
      </p:sp>
      <p:sp>
        <p:nvSpPr>
          <p:cNvPr id="164" name="Google Shape;164;p10"/>
          <p:cNvSpPr txBox="1"/>
          <p:nvPr/>
        </p:nvSpPr>
        <p:spPr>
          <a:xfrm>
            <a:off x="438912" y="30175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0" sz="800" u="none" cap="none" strike="noStrike">
                <a:solidFill>
                  <a:srgbClr val="6E6E73"/>
                </a:solidFill>
                <a:latin typeface="Play"/>
                <a:ea typeface="Play"/>
                <a:cs typeface="Play"/>
                <a:sym typeface="Play"/>
              </a:rPr>
              <a:t>CONVERT WITH THE TIME FORMULA, UPPER LEFT OF THE CRM</a:t>
            </a:r>
            <a:endParaRPr b="0" i="0" spc="0" sz="800" u="none" cap="none" strike="noStrike">
              <a:solidFill>
                <a:schemeClr val="dk1"/>
              </a:solidFill>
              <a:latin typeface="Calibri"/>
              <a:ea typeface="Calibri"/>
              <a:cs typeface="Calibri"/>
              <a:sym typeface="Calibri"/>
            </a:endParaRPr>
          </a:p>
        </p:txBody>
      </p:sp>
      <p:sp>
        <p:nvSpPr>
          <p:cNvPr id="165" name="Google Shape;165;p10"/>
          <p:cNvSpPr/>
          <p:nvPr/>
        </p:nvSpPr>
        <p:spPr>
          <a:xfrm>
            <a:off x="411480" y="3246120"/>
            <a:ext cx="365760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legacy_time.png" id="166" name="Google Shape;166;p10"/>
          <p:cNvPicPr preferRelativeResize="0"/>
          <p:nvPr/>
        </p:nvPicPr>
        <p:blipFill rotWithShape="1">
          <a:blip r:embed="rId5">
            <a:alphaModFix/>
          </a:blip>
          <a:srcRect b="0" l="0" r="0" t="0"/>
          <a:stretch/>
        </p:blipFill>
        <p:spPr>
          <a:xfrm>
            <a:off x="484632" y="3462833"/>
            <a:ext cx="3511296" cy="526694"/>
          </a:xfrm>
          <a:prstGeom prst="rect">
            <a:avLst/>
          </a:prstGeom>
          <a:noFill/>
          <a:ln>
            <a:noFill/>
          </a:ln>
        </p:spPr>
      </p:pic>
      <p:sp>
        <p:nvSpPr>
          <p:cNvPr id="167" name="Google Shape;167;p10"/>
          <p:cNvSpPr/>
          <p:nvPr/>
        </p:nvSpPr>
        <p:spPr>
          <a:xfrm>
            <a:off x="923544" y="3477463"/>
            <a:ext cx="2633472" cy="482803"/>
          </a:xfrm>
          <a:prstGeom prst="roundRect">
            <a:avLst>
              <a:gd fmla="val 568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 name="Google Shape;168;p10"/>
          <p:cNvSpPr/>
          <p:nvPr/>
        </p:nvSpPr>
        <p:spPr>
          <a:xfrm>
            <a:off x="822960" y="3376879"/>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 name="Google Shape;169;p10"/>
          <p:cNvSpPr txBox="1"/>
          <p:nvPr/>
        </p:nvSpPr>
        <p:spPr>
          <a:xfrm>
            <a:off x="822960" y="3376879"/>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1</a:t>
            </a:r>
            <a:endParaRPr b="0" i="0" spc="0" sz="800" u="none" cap="none" strike="noStrike">
              <a:solidFill>
                <a:schemeClr val="dk1"/>
              </a:solidFill>
              <a:latin typeface="Calibri"/>
              <a:ea typeface="Calibri"/>
              <a:cs typeface="Calibri"/>
              <a:sym typeface="Calibri"/>
            </a:endParaRPr>
          </a:p>
        </p:txBody>
      </p:sp>
      <p:sp>
        <p:nvSpPr>
          <p:cNvPr id="170" name="Google Shape;170;p10"/>
          <p:cNvSpPr txBox="1"/>
          <p:nvPr/>
        </p:nvSpPr>
        <p:spPr>
          <a:xfrm>
            <a:off x="4297680" y="3337560"/>
            <a:ext cx="4434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1" i="0" lang="en-US" spc="0" sz="1050" u="none" cap="none" strike="noStrike">
                <a:solidFill>
                  <a:srgbClr val="1D1D1F"/>
                </a:solidFill>
                <a:latin typeface="Arial"/>
                <a:ea typeface="Arial"/>
                <a:cs typeface="Arial"/>
                <a:sym typeface="Arial"/>
              </a:rPr>
              <a:t>Example: </a:t>
            </a:r>
            <a:r>
              <a:rPr b="0" i="0" lang="en-US" spc="0" sz="1050" u="none" cap="none" strike="noStrike">
                <a:solidFill>
                  <a:srgbClr val="1D1D1F"/>
                </a:solidFill>
                <a:latin typeface="Arial"/>
                <a:ea typeface="Arial"/>
                <a:cs typeface="Arial"/>
                <a:sym typeface="Arial"/>
              </a:rPr>
              <a:t>8:23 AM CDT is 6:23 AM in Pacific time (PDT −2) and 9:23 AM in Eastern time (EDT +1).</a:t>
            </a:r>
            <a:endParaRPr b="0" i="0" spc="0" sz="1050" u="none" cap="none" strike="noStrike">
              <a:solidFill>
                <a:schemeClr val="dk1"/>
              </a:solidFill>
              <a:latin typeface="Calibri"/>
              <a:ea typeface="Calibri"/>
              <a:cs typeface="Calibri"/>
              <a:sym typeface="Calibri"/>
            </a:endParaRPr>
          </a:p>
        </p:txBody>
      </p:sp>
      <p:sp>
        <p:nvSpPr>
          <p:cNvPr id="171" name="Google Shape;171;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UNDERSTANDING JOB HISTORY</a:t>
            </a:r>
            <a:endParaRPr b="0" i="0" spc="0" sz="800" u="none" cap="none" strike="noStrike">
              <a:solidFill>
                <a:schemeClr val="dk1"/>
              </a:solidFill>
              <a:latin typeface="Calibri"/>
              <a:ea typeface="Calibri"/>
              <a:cs typeface="Calibri"/>
              <a:sym typeface="Calibri"/>
            </a:endParaRPr>
          </a:p>
        </p:txBody>
      </p:sp>
      <p:sp>
        <p:nvSpPr>
          <p:cNvPr id="178" name="Google Shape;178;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Reading the example</a:t>
            </a:r>
            <a:endParaRPr b="0" i="0" spc="0" sz="2400" u="none" cap="none" strike="noStrike">
              <a:solidFill>
                <a:schemeClr val="dk1"/>
              </a:solidFill>
              <a:latin typeface="Calibri"/>
              <a:ea typeface="Calibri"/>
              <a:cs typeface="Calibri"/>
              <a:sym typeface="Calibri"/>
            </a:endParaRPr>
          </a:p>
        </p:txBody>
      </p:sp>
      <p:sp>
        <p:nvSpPr>
          <p:cNvPr id="179" name="Google Shape;179;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job history from the bottom up. Then click The Story.</a:t>
            </a:r>
            <a:endParaRPr b="0" i="0" spc="0" sz="1200" u="none" cap="none" strike="noStrike">
              <a:solidFill>
                <a:schemeClr val="dk1"/>
              </a:solidFill>
              <a:latin typeface="Calibri"/>
              <a:ea typeface="Calibri"/>
              <a:cs typeface="Calibri"/>
              <a:sym typeface="Calibri"/>
            </a:endParaRPr>
          </a:p>
        </p:txBody>
      </p:sp>
      <p:sp>
        <p:nvSpPr>
          <p:cNvPr id="180" name="Google Shape;180;p11"/>
          <p:cNvSpPr/>
          <p:nvPr/>
        </p:nvSpPr>
        <p:spPr>
          <a:xfrm>
            <a:off x="411480" y="1188720"/>
            <a:ext cx="5257800" cy="2651760"/>
          </a:xfrm>
          <a:prstGeom prst="roundRect">
            <a:avLst>
              <a:gd fmla="val 275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jh_table.png" id="181" name="Google Shape;181;p11"/>
          <p:cNvPicPr preferRelativeResize="0"/>
          <p:nvPr/>
        </p:nvPicPr>
        <p:blipFill rotWithShape="1">
          <a:blip r:embed="rId3">
            <a:alphaModFix/>
          </a:blip>
          <a:srcRect b="0" l="0" r="0" t="0"/>
          <a:stretch/>
        </p:blipFill>
        <p:spPr>
          <a:xfrm>
            <a:off x="484632" y="1298989"/>
            <a:ext cx="5111496" cy="2431222"/>
          </a:xfrm>
          <a:prstGeom prst="rect">
            <a:avLst/>
          </a:prstGeom>
          <a:noFill/>
          <a:ln>
            <a:noFill/>
          </a:ln>
        </p:spPr>
      </p:pic>
      <p:pic>
        <p:nvPicPr>
          <p:cNvPr descr="preencoded.png" id="182" name="Google Shape;182;p11"/>
          <p:cNvPicPr preferRelativeResize="0"/>
          <p:nvPr/>
        </p:nvPicPr>
        <p:blipFill rotWithShape="1">
          <a:blip r:embed="rId4">
            <a:alphaModFix/>
          </a:blip>
          <a:srcRect b="0" l="0" r="0" t="0"/>
          <a:stretch/>
        </p:blipFill>
        <p:spPr>
          <a:xfrm>
            <a:off x="502920" y="3931920"/>
            <a:ext cx="182880" cy="182880"/>
          </a:xfrm>
          <a:prstGeom prst="rect">
            <a:avLst/>
          </a:prstGeom>
          <a:noFill/>
          <a:ln>
            <a:noFill/>
          </a:ln>
        </p:spPr>
      </p:pic>
      <p:sp>
        <p:nvSpPr>
          <p:cNvPr id="183" name="Google Shape;183;p11"/>
          <p:cNvSpPr txBox="1"/>
          <p:nvPr/>
        </p:nvSpPr>
        <p:spPr>
          <a:xfrm>
            <a:off x="731520" y="3904488"/>
            <a:ext cx="27432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Read bottom to top</a:t>
            </a:r>
            <a:endParaRPr b="0" i="0" spc="0" sz="950" u="none" cap="none" strike="noStrike">
              <a:solidFill>
                <a:schemeClr val="dk1"/>
              </a:solidFill>
              <a:latin typeface="Calibri"/>
              <a:ea typeface="Calibri"/>
              <a:cs typeface="Calibri"/>
              <a:sym typeface="Calibri"/>
            </a:endParaRPr>
          </a:p>
        </p:txBody>
      </p:sp>
      <p:sp>
        <p:nvSpPr>
          <p:cNvPr id="184" name="Google Shape;184;p11"/>
          <p:cNvSpPr/>
          <p:nvPr/>
        </p:nvSpPr>
        <p:spPr>
          <a:xfrm>
            <a:off x="5806440" y="1188720"/>
            <a:ext cx="2926080" cy="457200"/>
          </a:xfrm>
          <a:prstGeom prst="roundRect">
            <a:avLst>
              <a:gd fmla="val 20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5" name="Google Shape;185;p11"/>
          <p:cNvPicPr preferRelativeResize="0"/>
          <p:nvPr/>
        </p:nvPicPr>
        <p:blipFill rotWithShape="1">
          <a:blip r:embed="rId5">
            <a:alphaModFix/>
          </a:blip>
          <a:srcRect b="0" l="0" r="0" t="0"/>
          <a:stretch/>
        </p:blipFill>
        <p:spPr>
          <a:xfrm>
            <a:off x="5989320" y="1307592"/>
            <a:ext cx="219456" cy="219456"/>
          </a:xfrm>
          <a:prstGeom prst="rect">
            <a:avLst/>
          </a:prstGeom>
          <a:noFill/>
          <a:ln>
            <a:noFill/>
          </a:ln>
        </p:spPr>
      </p:pic>
      <p:sp>
        <p:nvSpPr>
          <p:cNvPr id="186" name="Google Shape;186;p11"/>
          <p:cNvSpPr txBox="1"/>
          <p:nvPr/>
        </p:nvSpPr>
        <p:spPr>
          <a:xfrm>
            <a:off x="6309360" y="1188720"/>
            <a:ext cx="22860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The Story</a:t>
            </a:r>
            <a:endParaRPr b="0" i="0" spc="0" sz="1300" u="none" cap="none" strike="noStrike">
              <a:solidFill>
                <a:schemeClr val="dk1"/>
              </a:solidFill>
              <a:latin typeface="Calibri"/>
              <a:ea typeface="Calibri"/>
              <a:cs typeface="Calibri"/>
              <a:sym typeface="Calibri"/>
            </a:endParaRPr>
          </a:p>
        </p:txBody>
      </p:sp>
      <p:sp>
        <p:nvSpPr>
          <p:cNvPr id="187" name="Google Shape;187;p11"/>
          <p:cNvSpPr/>
          <p:nvPr/>
        </p:nvSpPr>
        <p:spPr>
          <a:xfrm>
            <a:off x="5806440" y="1737360"/>
            <a:ext cx="2926080" cy="2971800"/>
          </a:xfrm>
          <a:prstGeom prst="roundRect">
            <a:avLst>
              <a:gd fmla="val 25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 name="Google Shape;188;p11"/>
          <p:cNvSpPr txBox="1"/>
          <p:nvPr/>
        </p:nvSpPr>
        <p:spPr>
          <a:xfrm>
            <a:off x="5943600" y="1847088"/>
            <a:ext cx="2651760" cy="2788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Sept 7, 2026: </a:t>
            </a:r>
            <a:r>
              <a:rPr b="0" i="0" lang="en-US" spc="0" sz="900" u="none" cap="none" strike="noStrike">
                <a:solidFill>
                  <a:srgbClr val="1D1D1F"/>
                </a:solidFill>
                <a:latin typeface="Arial"/>
                <a:ea typeface="Arial"/>
                <a:cs typeface="Arial"/>
                <a:sym typeface="Arial"/>
              </a:rPr>
              <a:t>the system booked a cleaning for C Anjuli Kintanar for Sept 21, 10 AM CT, through the recurring cleaning plan.</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Sept 14: </a:t>
            </a:r>
            <a:r>
              <a:rPr b="0" i="0" lang="en-US" spc="0" sz="900" u="none" cap="none" strike="noStrike">
                <a:solidFill>
                  <a:srgbClr val="1D1D1F"/>
                </a:solidFill>
                <a:latin typeface="Arial"/>
                <a:ea typeface="Arial"/>
                <a:cs typeface="Arial"/>
                <a:sym typeface="Arial"/>
              </a:rPr>
              <a:t>CP Truffle Wuffle claimed the job as scheduled.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Sept 21, 9:19 AM CT: </a:t>
            </a:r>
            <a:r>
              <a:rPr b="0" i="0" lang="en-US" spc="0" sz="900" u="none" cap="none" strike="noStrike">
                <a:solidFill>
                  <a:srgbClr val="1D1D1F"/>
                </a:solidFill>
                <a:latin typeface="Arial"/>
                <a:ea typeface="Arial"/>
                <a:cs typeface="Arial"/>
                <a:sym typeface="Arial"/>
              </a:rPr>
              <a:t>CP Truffle Wuffle rescheduled from Sept 21, 10 AM CT to Sept 22, 11 AM.</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Sept 21, 9:50 AM CT: </a:t>
            </a:r>
            <a:r>
              <a:rPr b="0" i="0" lang="en-US" spc="0" sz="900" u="none" cap="none" strike="noStrike">
                <a:solidFill>
                  <a:srgbClr val="1D1D1F"/>
                </a:solidFill>
                <a:latin typeface="Arial"/>
                <a:ea typeface="Arial"/>
                <a:cs typeface="Arial"/>
                <a:sym typeface="Arial"/>
              </a:rPr>
              <a:t>CP Truffle Wuffle rescheduled again, from Sept 22, 11 AM to Sept 24, 12:30 PM CT.</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50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Sept 24, 4:09 PM CT: </a:t>
            </a:r>
            <a:r>
              <a:rPr b="0" i="0" lang="en-US" spc="0" sz="900" u="none" cap="none" strike="noStrike">
                <a:solidFill>
                  <a:srgbClr val="1D1D1F"/>
                </a:solidFill>
                <a:latin typeface="Arial"/>
                <a:ea typeface="Arial"/>
                <a:cs typeface="Arial"/>
                <a:sym typeface="Arial"/>
              </a:rPr>
              <a:t>CP Truffle Wuffle invoiced the appointment and the system logged it in snapshot.</a:t>
            </a:r>
            <a:endParaRPr b="0" i="0" spc="0" sz="900" u="none" cap="none" strike="noStrike">
              <a:solidFill>
                <a:schemeClr val="dk1"/>
              </a:solidFill>
              <a:latin typeface="Calibri"/>
              <a:ea typeface="Calibri"/>
              <a:cs typeface="Calibri"/>
              <a:sym typeface="Calibri"/>
            </a:endParaRPr>
          </a:p>
        </p:txBody>
      </p:sp>
      <p:sp>
        <p:nvSpPr>
          <p:cNvPr id="189" name="Google Shape;189;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
                                            <p:txEl>
                                              <p:pRg end="0" st="0"/>
                                            </p:txEl>
                                          </p:spTgt>
                                        </p:tgtEl>
                                        <p:attrNameLst>
                                          <p:attrName>style.visibility</p:attrName>
                                        </p:attrNameLst>
                                      </p:cBhvr>
                                      <p:to>
                                        <p:strVal val="visible"/>
                                      </p:to>
                                    </p:set>
                                    <p:animEffect filter="fade" transition="in">
                                      <p:cBhvr>
                                        <p:cTn dur="600"/>
                                        <p:tgtEl>
                                          <p:spTgt spid="188">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
                                            <p:txEl>
                                              <p:pRg end="1" st="1"/>
                                            </p:txEl>
                                          </p:spTgt>
                                        </p:tgtEl>
                                        <p:attrNameLst>
                                          <p:attrName>style.visibility</p:attrName>
                                        </p:attrNameLst>
                                      </p:cBhvr>
                                      <p:to>
                                        <p:strVal val="visible"/>
                                      </p:to>
                                    </p:set>
                                    <p:animEffect filter="fade" transition="in">
                                      <p:cBhvr>
                                        <p:cTn dur="600"/>
                                        <p:tgtEl>
                                          <p:spTgt spid="188">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
                                            <p:txEl>
                                              <p:pRg end="2" st="2"/>
                                            </p:txEl>
                                          </p:spTgt>
                                        </p:tgtEl>
                                        <p:attrNameLst>
                                          <p:attrName>style.visibility</p:attrName>
                                        </p:attrNameLst>
                                      </p:cBhvr>
                                      <p:to>
                                        <p:strVal val="visible"/>
                                      </p:to>
                                    </p:set>
                                    <p:animEffect filter="fade" transition="in">
                                      <p:cBhvr>
                                        <p:cTn dur="600"/>
                                        <p:tgtEl>
                                          <p:spTgt spid="188">
                                            <p:txEl>
                                              <p:pRg end="2" st="2"/>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
                                            <p:txEl>
                                              <p:pRg end="3" st="3"/>
                                            </p:txEl>
                                          </p:spTgt>
                                        </p:tgtEl>
                                        <p:attrNameLst>
                                          <p:attrName>style.visibility</p:attrName>
                                        </p:attrNameLst>
                                      </p:cBhvr>
                                      <p:to>
                                        <p:strVal val="visible"/>
                                      </p:to>
                                    </p:set>
                                    <p:animEffect filter="fade" transition="in">
                                      <p:cBhvr>
                                        <p:cTn dur="600"/>
                                        <p:tgtEl>
                                          <p:spTgt spid="188">
                                            <p:txEl>
                                              <p:pRg end="3" st="3"/>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8">
                                            <p:txEl>
                                              <p:pRg end="4" st="4"/>
                                            </p:txEl>
                                          </p:spTgt>
                                        </p:tgtEl>
                                        <p:attrNameLst>
                                          <p:attrName>style.visibility</p:attrName>
                                        </p:attrNameLst>
                                      </p:cBhvr>
                                      <p:to>
                                        <p:strVal val="visible"/>
                                      </p:to>
                                    </p:set>
                                    <p:animEffect filter="fade" transition="in">
                                      <p:cBhvr>
                                        <p:cTn dur="600"/>
                                        <p:tgtEl>
                                          <p:spTgt spid="188">
                                            <p:txEl>
                                              <p:pRg end="4" st="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UNDERSTANDING JOB HISTORY</a:t>
            </a:r>
            <a:endParaRPr b="0" i="0" spc="0" sz="800" u="none" cap="none" strike="noStrike">
              <a:solidFill>
                <a:schemeClr val="dk1"/>
              </a:solidFill>
              <a:latin typeface="Calibri"/>
              <a:ea typeface="Calibri"/>
              <a:cs typeface="Calibri"/>
              <a:sym typeface="Calibri"/>
            </a:endParaRPr>
          </a:p>
        </p:txBody>
      </p:sp>
      <p:sp>
        <p:nvSpPr>
          <p:cNvPr id="196" name="Google Shape;196;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Practice: read a job history</a:t>
            </a:r>
            <a:endParaRPr b="0" i="0" spc="0" sz="2400" u="none" cap="none" strike="noStrike">
              <a:solidFill>
                <a:schemeClr val="dk1"/>
              </a:solidFill>
              <a:latin typeface="Calibri"/>
              <a:ea typeface="Calibri"/>
              <a:cs typeface="Calibri"/>
              <a:sym typeface="Calibri"/>
            </a:endParaRPr>
          </a:p>
        </p:txBody>
      </p:sp>
      <p:sp>
        <p:nvSpPr>
          <p:cNvPr id="197" name="Google Shape;197;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Open the practice ticket and answer these four questions.</a:t>
            </a:r>
            <a:endParaRPr b="0" i="0" spc="0" sz="1200" u="none" cap="none" strike="noStrike">
              <a:solidFill>
                <a:schemeClr val="dk1"/>
              </a:solidFill>
              <a:latin typeface="Calibri"/>
              <a:ea typeface="Calibri"/>
              <a:cs typeface="Calibri"/>
              <a:sym typeface="Calibri"/>
            </a:endParaRPr>
          </a:p>
        </p:txBody>
      </p:sp>
      <p:pic>
        <p:nvPicPr>
          <p:cNvPr descr="preencoded.png" id="198" name="Google Shape;198;p12">
            <a:hlinkClick r:id="rId3"/>
          </p:cNvPr>
          <p:cNvPicPr preferRelativeResize="0"/>
          <p:nvPr/>
        </p:nvPicPr>
        <p:blipFill rotWithShape="1">
          <a:blip r:embed="rId4">
            <a:alphaModFix/>
          </a:blip>
          <a:srcRect b="0" l="0" r="0" t="0"/>
          <a:stretch/>
        </p:blipFill>
        <p:spPr>
          <a:xfrm>
            <a:off x="411480" y="1325880"/>
            <a:ext cx="2834640" cy="548640"/>
          </a:xfrm>
          <a:prstGeom prst="rect">
            <a:avLst/>
          </a:prstGeom>
          <a:noFill/>
          <a:ln>
            <a:noFill/>
          </a:ln>
        </p:spPr>
      </p:pic>
      <p:sp>
        <p:nvSpPr>
          <p:cNvPr id="199" name="Google Shape;199;p12"/>
          <p:cNvSpPr txBox="1"/>
          <p:nvPr/>
        </p:nvSpPr>
        <p:spPr>
          <a:xfrm>
            <a:off x="3429000" y="1463040"/>
            <a:ext cx="27432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000"/>
              <a:buFont typeface="Arial"/>
              <a:buNone/>
            </a:pPr>
            <a:r>
              <a:rPr b="0" i="0" lang="en-US" spc="0" sz="1000" u="sng" cap="none" strike="noStrike">
                <a:solidFill>
                  <a:schemeClr val="hlink"/>
                </a:solidFill>
                <a:latin typeface="Arial"/>
                <a:ea typeface="Arial"/>
                <a:cs typeface="Arial"/>
                <a:sym typeface="Arial"/>
                <a:hlinkClick r:id="rId5"/>
              </a:rPr>
              <a:t>Job 12685237</a:t>
            </a:r>
            <a:endParaRPr b="0" i="0" spc="0" sz="1000" u="none" cap="none" strike="noStrike">
              <a:solidFill>
                <a:schemeClr val="dk1"/>
              </a:solidFill>
              <a:latin typeface="Calibri"/>
              <a:ea typeface="Calibri"/>
              <a:cs typeface="Calibri"/>
              <a:sym typeface="Calibri"/>
            </a:endParaRPr>
          </a:p>
        </p:txBody>
      </p:sp>
      <p:sp>
        <p:nvSpPr>
          <p:cNvPr id="200" name="Google Shape;200;p12"/>
          <p:cNvSpPr/>
          <p:nvPr/>
        </p:nvSpPr>
        <p:spPr>
          <a:xfrm>
            <a:off x="411480" y="210312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 name="Google Shape;201;p12"/>
          <p:cNvSpPr/>
          <p:nvPr/>
        </p:nvSpPr>
        <p:spPr>
          <a:xfrm>
            <a:off x="576072" y="22860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2"/>
          <p:cNvSpPr txBox="1"/>
          <p:nvPr/>
        </p:nvSpPr>
        <p:spPr>
          <a:xfrm>
            <a:off x="576072" y="22860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3" name="Google Shape;203;p12"/>
          <p:cNvSpPr txBox="1"/>
          <p:nvPr/>
        </p:nvSpPr>
        <p:spPr>
          <a:xfrm>
            <a:off x="1005840" y="224028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booked the appointment?</a:t>
            </a:r>
            <a:endParaRPr b="0" i="0" spc="0" sz="1050" u="none" cap="none" strike="noStrike">
              <a:solidFill>
                <a:schemeClr val="dk1"/>
              </a:solidFill>
              <a:latin typeface="Calibri"/>
              <a:ea typeface="Calibri"/>
              <a:cs typeface="Calibri"/>
              <a:sym typeface="Calibri"/>
            </a:endParaRPr>
          </a:p>
        </p:txBody>
      </p:sp>
      <p:sp>
        <p:nvSpPr>
          <p:cNvPr id="204" name="Google Shape;204;p12"/>
          <p:cNvSpPr/>
          <p:nvPr/>
        </p:nvSpPr>
        <p:spPr>
          <a:xfrm>
            <a:off x="4640580" y="210312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 name="Google Shape;205;p12"/>
          <p:cNvSpPr/>
          <p:nvPr/>
        </p:nvSpPr>
        <p:spPr>
          <a:xfrm>
            <a:off x="4805172" y="22860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 name="Google Shape;206;p12"/>
          <p:cNvSpPr txBox="1"/>
          <p:nvPr/>
        </p:nvSpPr>
        <p:spPr>
          <a:xfrm>
            <a:off x="4805172" y="22860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7" name="Google Shape;207;p12"/>
          <p:cNvSpPr txBox="1"/>
          <p:nvPr/>
        </p:nvSpPr>
        <p:spPr>
          <a:xfrm>
            <a:off x="5234940" y="224028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was the appointment initially scheduled for?</a:t>
            </a:r>
            <a:endParaRPr b="0" i="0" spc="0" sz="1050" u="none" cap="none" strike="noStrike">
              <a:solidFill>
                <a:schemeClr val="dk1"/>
              </a:solidFill>
              <a:latin typeface="Calibri"/>
              <a:ea typeface="Calibri"/>
              <a:cs typeface="Calibri"/>
              <a:sym typeface="Calibri"/>
            </a:endParaRPr>
          </a:p>
        </p:txBody>
      </p:sp>
      <p:sp>
        <p:nvSpPr>
          <p:cNvPr id="208" name="Google Shape;208;p12"/>
          <p:cNvSpPr/>
          <p:nvPr/>
        </p:nvSpPr>
        <p:spPr>
          <a:xfrm>
            <a:off x="411480" y="333756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 name="Google Shape;209;p12"/>
          <p:cNvSpPr/>
          <p:nvPr/>
        </p:nvSpPr>
        <p:spPr>
          <a:xfrm>
            <a:off x="576072" y="35204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 name="Google Shape;210;p12"/>
          <p:cNvSpPr txBox="1"/>
          <p:nvPr/>
        </p:nvSpPr>
        <p:spPr>
          <a:xfrm>
            <a:off x="576072" y="35204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11" name="Google Shape;211;p12"/>
          <p:cNvSpPr txBox="1"/>
          <p:nvPr/>
        </p:nvSpPr>
        <p:spPr>
          <a:xfrm>
            <a:off x="1005840" y="347472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customer writes: "I initially booked for Jan 12 at 1 PM, but I received a notification that I am booked for 2 PM. Why is that?"</a:t>
            </a:r>
            <a:endParaRPr b="0" i="0" spc="0" sz="1050" u="none" cap="none" strike="noStrike">
              <a:solidFill>
                <a:schemeClr val="dk1"/>
              </a:solidFill>
              <a:latin typeface="Calibri"/>
              <a:ea typeface="Calibri"/>
              <a:cs typeface="Calibri"/>
              <a:sym typeface="Calibri"/>
            </a:endParaRPr>
          </a:p>
        </p:txBody>
      </p:sp>
      <p:sp>
        <p:nvSpPr>
          <p:cNvPr id="212" name="Google Shape;212;p12"/>
          <p:cNvSpPr/>
          <p:nvPr/>
        </p:nvSpPr>
        <p:spPr>
          <a:xfrm>
            <a:off x="4640580" y="3337560"/>
            <a:ext cx="4091940" cy="1097280"/>
          </a:xfrm>
          <a:prstGeom prst="roundRect">
            <a:avLst>
              <a:gd fmla="val 6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 name="Google Shape;213;p12"/>
          <p:cNvSpPr/>
          <p:nvPr/>
        </p:nvSpPr>
        <p:spPr>
          <a:xfrm>
            <a:off x="4805172" y="35204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txBox="1"/>
          <p:nvPr/>
        </p:nvSpPr>
        <p:spPr>
          <a:xfrm>
            <a:off x="4805172" y="35204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15" name="Google Shape;215;p12"/>
          <p:cNvSpPr txBox="1"/>
          <p:nvPr/>
        </p:nvSpPr>
        <p:spPr>
          <a:xfrm>
            <a:off x="5234940" y="3474720"/>
            <a:ext cx="33147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happened on Jan 8 at 5:58 PM?</a:t>
            </a:r>
            <a:endParaRPr b="0" i="0" spc="0" sz="1050" u="none" cap="none" strike="noStrike">
              <a:solidFill>
                <a:schemeClr val="dk1"/>
              </a:solidFill>
              <a:latin typeface="Calibri"/>
              <a:ea typeface="Calibri"/>
              <a:cs typeface="Calibri"/>
              <a:sym typeface="Calibri"/>
            </a:endParaRPr>
          </a:p>
        </p:txBody>
      </p:sp>
      <p:sp>
        <p:nvSpPr>
          <p:cNvPr id="216" name="Google Shape;21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1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TOPIC 02</a:t>
            </a:r>
            <a:endParaRPr b="0" i="0" spc="0" sz="800" u="none" cap="none" strike="noStrike">
              <a:solidFill>
                <a:schemeClr val="dk1"/>
              </a:solidFill>
              <a:latin typeface="Calibri"/>
              <a:ea typeface="Calibri"/>
              <a:cs typeface="Calibri"/>
              <a:sym typeface="Calibri"/>
            </a:endParaRPr>
          </a:p>
        </p:txBody>
      </p:sp>
      <p:sp>
        <p:nvSpPr>
          <p:cNvPr id="223" name="Google Shape;223;p1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Callback Handling</a:t>
            </a:r>
            <a:endParaRPr b="0" i="0" spc="0" sz="2800" u="none" cap="none" strike="noStrike">
              <a:solidFill>
                <a:schemeClr val="dk1"/>
              </a:solidFill>
              <a:latin typeface="Calibri"/>
              <a:ea typeface="Calibri"/>
              <a:cs typeface="Calibri"/>
              <a:sym typeface="Calibri"/>
            </a:endParaRPr>
          </a:p>
        </p:txBody>
      </p:sp>
      <p:sp>
        <p:nvSpPr>
          <p:cNvPr id="224" name="Google Shape;224;p1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to call a customer back, how many times to try, and what to do next.</a:t>
            </a:r>
            <a:endParaRPr b="0" i="0" spc="0" sz="1150" u="none" cap="none" strike="noStrike">
              <a:solidFill>
                <a:schemeClr val="dk1"/>
              </a:solidFill>
              <a:latin typeface="Calibri"/>
              <a:ea typeface="Calibri"/>
              <a:cs typeface="Calibri"/>
              <a:sym typeface="Calibri"/>
            </a:endParaRPr>
          </a:p>
        </p:txBody>
      </p:sp>
      <p:sp>
        <p:nvSpPr>
          <p:cNvPr id="225" name="Google Shape;225;p1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226" name="Google Shape;226;p1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7" name="Google Shape;227;p1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228" name="Google Shape;228;p1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to call</a:t>
            </a:r>
            <a:endParaRPr b="0" i="0" spc="0" sz="1050" u="none" cap="none" strike="noStrike">
              <a:solidFill>
                <a:schemeClr val="dk1"/>
              </a:solidFill>
              <a:latin typeface="Calibri"/>
              <a:ea typeface="Calibri"/>
              <a:cs typeface="Calibri"/>
              <a:sym typeface="Calibri"/>
            </a:endParaRPr>
          </a:p>
        </p:txBody>
      </p:sp>
      <p:sp>
        <p:nvSpPr>
          <p:cNvPr id="229" name="Google Shape;229;p1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0" name="Google Shape;230;p1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231" name="Google Shape;231;p1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call steps</a:t>
            </a:r>
            <a:endParaRPr b="0" i="0" spc="0" sz="1050" u="none" cap="none" strike="noStrike">
              <a:solidFill>
                <a:schemeClr val="dk1"/>
              </a:solidFill>
              <a:latin typeface="Calibri"/>
              <a:ea typeface="Calibri"/>
              <a:cs typeface="Calibri"/>
              <a:sym typeface="Calibri"/>
            </a:endParaRPr>
          </a:p>
        </p:txBody>
      </p:sp>
      <p:sp>
        <p:nvSpPr>
          <p:cNvPr id="232" name="Google Shape;232;p1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3" name="Google Shape;233;p1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234" name="Google Shape;234;p1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Answered, missed or voicemail</a:t>
            </a:r>
            <a:endParaRPr b="0" i="0" spc="0" sz="1050" u="none" cap="none" strike="noStrike">
              <a:solidFill>
                <a:schemeClr val="dk1"/>
              </a:solidFill>
              <a:latin typeface="Calibri"/>
              <a:ea typeface="Calibri"/>
              <a:cs typeface="Calibri"/>
              <a:sym typeface="Calibri"/>
            </a:endParaRPr>
          </a:p>
        </p:txBody>
      </p:sp>
      <p:sp>
        <p:nvSpPr>
          <p:cNvPr id="235" name="Google Shape;235;p1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6" name="Google Shape;236;p1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237" name="Google Shape;237;p1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Keeping callbacks from slipping</a:t>
            </a:r>
            <a:endParaRPr b="0" i="0" spc="0" sz="1050" u="none" cap="none" strike="noStrike">
              <a:solidFill>
                <a:schemeClr val="dk1"/>
              </a:solidFill>
              <a:latin typeface="Calibri"/>
              <a:ea typeface="Calibri"/>
              <a:cs typeface="Calibri"/>
              <a:sym typeface="Calibri"/>
            </a:endParaRPr>
          </a:p>
        </p:txBody>
      </p:sp>
      <p:sp>
        <p:nvSpPr>
          <p:cNvPr id="238" name="Google Shape;238;p1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 name="Google Shape;239;p1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30.png" id="240" name="Google Shape;240;p13"/>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241" name="Google Shape;241;p1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 name="Google Shape;242;p1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 name="Google Shape;243;p1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 name="Google Shape;244;p1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 name="Google Shape;247;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CALLBACK HANDLING</a:t>
            </a:r>
            <a:endParaRPr b="0" i="0" spc="0" sz="800" u="none" cap="none" strike="noStrike">
              <a:solidFill>
                <a:schemeClr val="dk1"/>
              </a:solidFill>
              <a:latin typeface="Calibri"/>
              <a:ea typeface="Calibri"/>
              <a:cs typeface="Calibri"/>
              <a:sym typeface="Calibri"/>
            </a:endParaRPr>
          </a:p>
        </p:txBody>
      </p:sp>
      <p:sp>
        <p:nvSpPr>
          <p:cNvPr id="254" name="Google Shape;254;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Asked for a call? Call them.</a:t>
            </a:r>
            <a:endParaRPr b="0" i="0" spc="0" sz="2400" u="none" cap="none" strike="noStrike">
              <a:solidFill>
                <a:schemeClr val="dk1"/>
              </a:solidFill>
              <a:latin typeface="Calibri"/>
              <a:ea typeface="Calibri"/>
              <a:cs typeface="Calibri"/>
              <a:sym typeface="Calibri"/>
            </a:endParaRPr>
          </a:p>
        </p:txBody>
      </p:sp>
      <p:sp>
        <p:nvSpPr>
          <p:cNvPr id="255" name="Google Shape;255;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don't take inbound calls, but we call out when a customer asks, or when something needs an answer now.</a:t>
            </a:r>
            <a:endParaRPr b="0" i="0" spc="0" sz="12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1371600"/>
            <a:ext cx="8321040" cy="1005840"/>
          </a:xfrm>
          <a:prstGeom prst="roundRect">
            <a:avLst>
              <a:gd fmla="val 7273"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txBox="1"/>
          <p:nvPr/>
        </p:nvSpPr>
        <p:spPr>
          <a:xfrm>
            <a:off x="685800" y="1490472"/>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AGENT DO</a:t>
            </a:r>
            <a:endParaRPr b="0" i="0" spc="0" sz="800" u="none" cap="none" strike="noStrike">
              <a:solidFill>
                <a:schemeClr val="dk1"/>
              </a:solidFill>
              <a:latin typeface="Calibri"/>
              <a:ea typeface="Calibri"/>
              <a:cs typeface="Calibri"/>
              <a:sym typeface="Calibri"/>
            </a:endParaRPr>
          </a:p>
        </p:txBody>
      </p:sp>
      <p:sp>
        <p:nvSpPr>
          <p:cNvPr id="258" name="Google Shape;258;p14"/>
          <p:cNvSpPr txBox="1"/>
          <p:nvPr/>
        </p:nvSpPr>
        <p:spPr>
          <a:xfrm>
            <a:off x="685800" y="1719072"/>
            <a:ext cx="786384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Callback request between 8 AM and 8 PM (customer's local time)? Call right away. The request is enough.</a:t>
            </a:r>
            <a:endParaRPr b="0" i="0" spc="0" sz="1400" u="none" cap="none" strike="noStrike">
              <a:solidFill>
                <a:schemeClr val="dk1"/>
              </a:solidFill>
              <a:latin typeface="Calibri"/>
              <a:ea typeface="Calibri"/>
              <a:cs typeface="Calibri"/>
              <a:sym typeface="Calibri"/>
            </a:endParaRPr>
          </a:p>
        </p:txBody>
      </p:sp>
      <p:sp>
        <p:nvSpPr>
          <p:cNvPr id="259" name="Google Shape;259;p14"/>
          <p:cNvSpPr/>
          <p:nvPr/>
        </p:nvSpPr>
        <p:spPr>
          <a:xfrm>
            <a:off x="411480" y="2560320"/>
            <a:ext cx="409194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 name="Google Shape;260;p14"/>
          <p:cNvSpPr/>
          <p:nvPr/>
        </p:nvSpPr>
        <p:spPr>
          <a:xfrm>
            <a:off x="576072" y="27249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61" name="Google Shape;261;p14"/>
          <p:cNvPicPr preferRelativeResize="0"/>
          <p:nvPr/>
        </p:nvPicPr>
        <p:blipFill rotWithShape="1">
          <a:blip r:embed="rId3">
            <a:alphaModFix/>
          </a:blip>
          <a:srcRect b="0" l="0" r="0" t="0"/>
          <a:stretch/>
        </p:blipFill>
        <p:spPr>
          <a:xfrm>
            <a:off x="655076" y="2803916"/>
            <a:ext cx="171176" cy="171176"/>
          </a:xfrm>
          <a:prstGeom prst="rect">
            <a:avLst/>
          </a:prstGeom>
          <a:noFill/>
          <a:ln>
            <a:noFill/>
          </a:ln>
        </p:spPr>
      </p:pic>
      <p:sp>
        <p:nvSpPr>
          <p:cNvPr id="262" name="Google Shape;262;p14"/>
          <p:cNvSpPr txBox="1"/>
          <p:nvPr/>
        </p:nvSpPr>
        <p:spPr>
          <a:xfrm>
            <a:off x="576072" y="31638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Respect their choice</a:t>
            </a:r>
            <a:endParaRPr b="0" i="0" spc="0" sz="1200" u="none" cap="none" strike="noStrike">
              <a:solidFill>
                <a:schemeClr val="dk1"/>
              </a:solidFill>
              <a:latin typeface="Calibri"/>
              <a:ea typeface="Calibri"/>
              <a:cs typeface="Calibri"/>
              <a:sym typeface="Calibri"/>
            </a:endParaRPr>
          </a:p>
        </p:txBody>
      </p:sp>
      <p:sp>
        <p:nvSpPr>
          <p:cNvPr id="263" name="Google Shape;263;p14"/>
          <p:cNvSpPr txBox="1"/>
          <p:nvPr/>
        </p:nvSpPr>
        <p:spPr>
          <a:xfrm>
            <a:off x="576072" y="3456432"/>
            <a:ext cx="3762756" cy="5212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asked for a call, so they get one, however minor the ticket looks.</a:t>
            </a:r>
            <a:endParaRPr b="0" i="0" spc="0" sz="950" u="none" cap="none" strike="noStrike">
              <a:solidFill>
                <a:schemeClr val="dk1"/>
              </a:solidFill>
              <a:latin typeface="Calibri"/>
              <a:ea typeface="Calibri"/>
              <a:cs typeface="Calibri"/>
              <a:sym typeface="Calibri"/>
            </a:endParaRPr>
          </a:p>
        </p:txBody>
      </p:sp>
      <p:sp>
        <p:nvSpPr>
          <p:cNvPr id="264" name="Google Shape;264;p14"/>
          <p:cNvSpPr/>
          <p:nvPr/>
        </p:nvSpPr>
        <p:spPr>
          <a:xfrm>
            <a:off x="4640580" y="2560320"/>
            <a:ext cx="409194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4"/>
          <p:cNvSpPr/>
          <p:nvPr/>
        </p:nvSpPr>
        <p:spPr>
          <a:xfrm>
            <a:off x="4805172" y="27249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66" name="Google Shape;266;p14"/>
          <p:cNvPicPr preferRelativeResize="0"/>
          <p:nvPr/>
        </p:nvPicPr>
        <p:blipFill rotWithShape="1">
          <a:blip r:embed="rId4">
            <a:alphaModFix/>
          </a:blip>
          <a:srcRect b="0" l="0" r="0" t="0"/>
          <a:stretch/>
        </p:blipFill>
        <p:spPr>
          <a:xfrm>
            <a:off x="4884176" y="2803916"/>
            <a:ext cx="171176" cy="171176"/>
          </a:xfrm>
          <a:prstGeom prst="rect">
            <a:avLst/>
          </a:prstGeom>
          <a:noFill/>
          <a:ln>
            <a:noFill/>
          </a:ln>
        </p:spPr>
      </p:pic>
      <p:sp>
        <p:nvSpPr>
          <p:cNvPr id="267" name="Google Shape;267;p14"/>
          <p:cNvSpPr txBox="1"/>
          <p:nvPr/>
        </p:nvSpPr>
        <p:spPr>
          <a:xfrm>
            <a:off x="4805172" y="31638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lose a callback</a:t>
            </a:r>
            <a:endParaRPr b="0" i="0" spc="0" sz="1200" u="none" cap="none" strike="noStrike">
              <a:solidFill>
                <a:schemeClr val="dk1"/>
              </a:solidFill>
              <a:latin typeface="Calibri"/>
              <a:ea typeface="Calibri"/>
              <a:cs typeface="Calibri"/>
              <a:sym typeface="Calibri"/>
            </a:endParaRPr>
          </a:p>
        </p:txBody>
      </p:sp>
      <p:sp>
        <p:nvSpPr>
          <p:cNvPr id="268" name="Google Shape;268;p14"/>
          <p:cNvSpPr txBox="1"/>
          <p:nvPr/>
        </p:nvSpPr>
        <p:spPr>
          <a:xfrm>
            <a:off x="4805172" y="3456432"/>
            <a:ext cx="3762756" cy="5212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Reminders and the tracker keep promises from slipping between shifts.</a:t>
            </a:r>
            <a:endParaRPr b="0" i="0" spc="0" sz="950" u="none" cap="none" strike="noStrike">
              <a:solidFill>
                <a:schemeClr val="dk1"/>
              </a:solidFill>
              <a:latin typeface="Calibri"/>
              <a:ea typeface="Calibri"/>
              <a:cs typeface="Calibri"/>
              <a:sym typeface="Calibri"/>
            </a:endParaRPr>
          </a:p>
        </p:txBody>
      </p:sp>
      <p:sp>
        <p:nvSpPr>
          <p:cNvPr id="269" name="Google Shape;269;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CALLBACK HANDLING</a:t>
            </a:r>
            <a:endParaRPr b="0" i="0" spc="0" sz="8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call steps</a:t>
            </a:r>
            <a:endParaRPr b="0" i="0" spc="0" sz="24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80160"/>
            <a:ext cx="2468880" cy="2194560"/>
          </a:xfrm>
          <a:prstGeom prst="roundRect">
            <a:avLst>
              <a:gd fmla="val 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1371600" y="1463040"/>
            <a:ext cx="548640" cy="54864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1503274" y="1594714"/>
            <a:ext cx="285293" cy="285293"/>
          </a:xfrm>
          <a:prstGeom prst="rect">
            <a:avLst/>
          </a:prstGeom>
          <a:noFill/>
          <a:ln>
            <a:noFill/>
          </a:ln>
        </p:spPr>
      </p:pic>
      <p:sp>
        <p:nvSpPr>
          <p:cNvPr id="280" name="Google Shape;280;p15"/>
          <p:cNvSpPr txBox="1"/>
          <p:nvPr/>
        </p:nvSpPr>
        <p:spPr>
          <a:xfrm>
            <a:off x="411480" y="2121408"/>
            <a:ext cx="246888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STEP 1</a:t>
            </a:r>
            <a:endParaRPr b="0" i="0" spc="0" sz="8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48640" y="2331720"/>
            <a:ext cx="219456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Callback requested?</a:t>
            </a:r>
            <a:endParaRPr b="0" i="0" spc="0" sz="1250" u="none" cap="none" strike="noStrike">
              <a:solidFill>
                <a:schemeClr val="dk1"/>
              </a:solidFill>
              <a:latin typeface="Calibri"/>
              <a:ea typeface="Calibri"/>
              <a:cs typeface="Calibri"/>
              <a:sym typeface="Calibri"/>
            </a:endParaRPr>
          </a:p>
        </p:txBody>
      </p:sp>
      <p:sp>
        <p:nvSpPr>
          <p:cNvPr id="282" name="Google Shape;282;p15"/>
          <p:cNvSpPr txBox="1"/>
          <p:nvPr/>
        </p:nvSpPr>
        <p:spPr>
          <a:xfrm>
            <a:off x="548640" y="269748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handle the ticket as usual</a:t>
            </a:r>
            <a:endParaRPr b="0" i="0" spc="0" sz="1000" u="none" cap="none" strike="noStrike">
              <a:solidFill>
                <a:schemeClr val="dk1"/>
              </a:solidFill>
              <a:latin typeface="Calibri"/>
              <a:ea typeface="Calibri"/>
              <a:cs typeface="Calibri"/>
              <a:sym typeface="Calibri"/>
            </a:endParaRPr>
          </a:p>
        </p:txBody>
      </p:sp>
      <p:pic>
        <p:nvPicPr>
          <p:cNvPr descr="preencoded.png" id="283" name="Google Shape;283;p15"/>
          <p:cNvPicPr preferRelativeResize="0"/>
          <p:nvPr/>
        </p:nvPicPr>
        <p:blipFill rotWithShape="1">
          <a:blip r:embed="rId4">
            <a:alphaModFix/>
          </a:blip>
          <a:srcRect b="0" l="0" r="0" t="0"/>
          <a:stretch/>
        </p:blipFill>
        <p:spPr>
          <a:xfrm>
            <a:off x="2999232" y="2240280"/>
            <a:ext cx="219456" cy="219456"/>
          </a:xfrm>
          <a:prstGeom prst="rect">
            <a:avLst/>
          </a:prstGeom>
          <a:noFill/>
          <a:ln>
            <a:noFill/>
          </a:ln>
        </p:spPr>
      </p:pic>
      <p:sp>
        <p:nvSpPr>
          <p:cNvPr id="284" name="Google Shape;284;p15"/>
          <p:cNvSpPr/>
          <p:nvPr/>
        </p:nvSpPr>
        <p:spPr>
          <a:xfrm>
            <a:off x="3337560" y="1280160"/>
            <a:ext cx="2468880" cy="2194560"/>
          </a:xfrm>
          <a:prstGeom prst="roundRect">
            <a:avLst>
              <a:gd fmla="val 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p:nvPr/>
        </p:nvSpPr>
        <p:spPr>
          <a:xfrm>
            <a:off x="4297680" y="1463040"/>
            <a:ext cx="548640" cy="54864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86" name="Google Shape;286;p15"/>
          <p:cNvPicPr preferRelativeResize="0"/>
          <p:nvPr/>
        </p:nvPicPr>
        <p:blipFill rotWithShape="1">
          <a:blip r:embed="rId5">
            <a:alphaModFix/>
          </a:blip>
          <a:srcRect b="0" l="0" r="0" t="0"/>
          <a:stretch/>
        </p:blipFill>
        <p:spPr>
          <a:xfrm>
            <a:off x="4429354" y="1594714"/>
            <a:ext cx="285293" cy="285293"/>
          </a:xfrm>
          <a:prstGeom prst="rect">
            <a:avLst/>
          </a:prstGeom>
          <a:noFill/>
          <a:ln>
            <a:noFill/>
          </a:ln>
        </p:spPr>
      </p:pic>
      <p:sp>
        <p:nvSpPr>
          <p:cNvPr id="287" name="Google Shape;287;p15"/>
          <p:cNvSpPr txBox="1"/>
          <p:nvPr/>
        </p:nvSpPr>
        <p:spPr>
          <a:xfrm>
            <a:off x="3337560" y="2121408"/>
            <a:ext cx="246888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STEP 2</a:t>
            </a:r>
            <a:endParaRPr b="0" i="0" spc="0" sz="800" u="none" cap="none" strike="noStrike">
              <a:solidFill>
                <a:schemeClr val="dk1"/>
              </a:solidFill>
              <a:latin typeface="Calibri"/>
              <a:ea typeface="Calibri"/>
              <a:cs typeface="Calibri"/>
              <a:sym typeface="Calibri"/>
            </a:endParaRPr>
          </a:p>
        </p:txBody>
      </p:sp>
      <p:sp>
        <p:nvSpPr>
          <p:cNvPr id="288" name="Google Shape;288;p15"/>
          <p:cNvSpPr txBox="1"/>
          <p:nvPr/>
        </p:nvSpPr>
        <p:spPr>
          <a:xfrm>
            <a:off x="3474720" y="2331720"/>
            <a:ext cx="219456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8 AM – 8 PM their time?</a:t>
            </a:r>
            <a:endParaRPr b="0" i="0" spc="0" sz="1250" u="none" cap="none" strike="noStrike">
              <a:solidFill>
                <a:schemeClr val="dk1"/>
              </a:solidFill>
              <a:latin typeface="Calibri"/>
              <a:ea typeface="Calibri"/>
              <a:cs typeface="Calibri"/>
              <a:sym typeface="Calibri"/>
            </a:endParaRPr>
          </a:p>
        </p:txBody>
      </p:sp>
      <p:sp>
        <p:nvSpPr>
          <p:cNvPr id="289" name="Google Shape;289;p15"/>
          <p:cNvSpPr txBox="1"/>
          <p:nvPr/>
        </p:nvSpPr>
        <p:spPr>
          <a:xfrm>
            <a:off x="3474720" y="269748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email, and ask for their availability</a:t>
            </a:r>
            <a:endParaRPr b="0" i="0" spc="0" sz="1000" u="none" cap="none" strike="noStrike">
              <a:solidFill>
                <a:schemeClr val="dk1"/>
              </a:solidFill>
              <a:latin typeface="Calibri"/>
              <a:ea typeface="Calibri"/>
              <a:cs typeface="Calibri"/>
              <a:sym typeface="Calibri"/>
            </a:endParaRPr>
          </a:p>
        </p:txBody>
      </p:sp>
      <p:pic>
        <p:nvPicPr>
          <p:cNvPr descr="preencoded.png" id="290" name="Google Shape;290;p15"/>
          <p:cNvPicPr preferRelativeResize="0"/>
          <p:nvPr/>
        </p:nvPicPr>
        <p:blipFill rotWithShape="1">
          <a:blip r:embed="rId4">
            <a:alphaModFix/>
          </a:blip>
          <a:srcRect b="0" l="0" r="0" t="0"/>
          <a:stretch/>
        </p:blipFill>
        <p:spPr>
          <a:xfrm>
            <a:off x="5925312" y="2240280"/>
            <a:ext cx="219456" cy="219456"/>
          </a:xfrm>
          <a:prstGeom prst="rect">
            <a:avLst/>
          </a:prstGeom>
          <a:noFill/>
          <a:ln>
            <a:noFill/>
          </a:ln>
        </p:spPr>
      </p:pic>
      <p:sp>
        <p:nvSpPr>
          <p:cNvPr id="291" name="Google Shape;291;p15"/>
          <p:cNvSpPr/>
          <p:nvPr/>
        </p:nvSpPr>
        <p:spPr>
          <a:xfrm>
            <a:off x="6263640" y="1280160"/>
            <a:ext cx="2468880" cy="2194560"/>
          </a:xfrm>
          <a:prstGeom prst="roundRect">
            <a:avLst>
              <a:gd fmla="val 3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 name="Google Shape;292;p15"/>
          <p:cNvSpPr/>
          <p:nvPr/>
        </p:nvSpPr>
        <p:spPr>
          <a:xfrm>
            <a:off x="7223760" y="1463040"/>
            <a:ext cx="548640" cy="54864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3" name="Google Shape;293;p15"/>
          <p:cNvPicPr preferRelativeResize="0"/>
          <p:nvPr/>
        </p:nvPicPr>
        <p:blipFill rotWithShape="1">
          <a:blip r:embed="rId6">
            <a:alphaModFix/>
          </a:blip>
          <a:srcRect b="0" l="0" r="0" t="0"/>
          <a:stretch/>
        </p:blipFill>
        <p:spPr>
          <a:xfrm>
            <a:off x="7355434" y="1594714"/>
            <a:ext cx="285293" cy="285293"/>
          </a:xfrm>
          <a:prstGeom prst="rect">
            <a:avLst/>
          </a:prstGeom>
          <a:noFill/>
          <a:ln>
            <a:noFill/>
          </a:ln>
        </p:spPr>
      </p:pic>
      <p:sp>
        <p:nvSpPr>
          <p:cNvPr id="294" name="Google Shape;294;p15"/>
          <p:cNvSpPr txBox="1"/>
          <p:nvPr/>
        </p:nvSpPr>
        <p:spPr>
          <a:xfrm>
            <a:off x="6263640" y="2121408"/>
            <a:ext cx="2468880" cy="1828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STEP 3</a:t>
            </a:r>
            <a:endParaRPr b="0" i="0" spc="0" sz="800" u="none" cap="none" strike="noStrike">
              <a:solidFill>
                <a:schemeClr val="dk1"/>
              </a:solidFill>
              <a:latin typeface="Calibri"/>
              <a:ea typeface="Calibri"/>
              <a:cs typeface="Calibri"/>
              <a:sym typeface="Calibri"/>
            </a:endParaRPr>
          </a:p>
        </p:txBody>
      </p:sp>
      <p:sp>
        <p:nvSpPr>
          <p:cNvPr id="295" name="Google Shape;295;p15"/>
          <p:cNvSpPr txBox="1"/>
          <p:nvPr/>
        </p:nvSpPr>
        <p:spPr>
          <a:xfrm>
            <a:off x="6400800" y="2331720"/>
            <a:ext cx="219456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Call up to 3 times</a:t>
            </a:r>
            <a:endParaRPr b="0" i="0" spc="0" sz="1250" u="none" cap="none" strike="noStrike">
              <a:solidFill>
                <a:schemeClr val="dk1"/>
              </a:solidFill>
              <a:latin typeface="Calibri"/>
              <a:ea typeface="Calibri"/>
              <a:cs typeface="Calibri"/>
              <a:sym typeface="Calibri"/>
            </a:endParaRPr>
          </a:p>
        </p:txBody>
      </p:sp>
      <p:sp>
        <p:nvSpPr>
          <p:cNvPr id="296" name="Google Shape;296;p15"/>
          <p:cNvSpPr txBox="1"/>
          <p:nvPr/>
        </p:nvSpPr>
        <p:spPr>
          <a:xfrm>
            <a:off x="6400800" y="269748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Primary CRM, then Google Voice, then Secondary CRM</a:t>
            </a:r>
            <a:endParaRPr b="0" i="0" spc="0" sz="1000" u="none" cap="none" strike="noStrike">
              <a:solidFill>
                <a:schemeClr val="dk1"/>
              </a:solidFill>
              <a:latin typeface="Calibri"/>
              <a:ea typeface="Calibri"/>
              <a:cs typeface="Calibri"/>
              <a:sym typeface="Calibri"/>
            </a:endParaRPr>
          </a:p>
        </p:txBody>
      </p:sp>
      <p:sp>
        <p:nvSpPr>
          <p:cNvPr id="297" name="Google Shape;297;p15"/>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8" name="Google Shape;298;p15"/>
          <p:cNvPicPr preferRelativeResize="0"/>
          <p:nvPr/>
        </p:nvPicPr>
        <p:blipFill rotWithShape="1">
          <a:blip r:embed="rId7">
            <a:alphaModFix/>
          </a:blip>
          <a:srcRect b="0" l="0" r="0" t="0"/>
          <a:stretch/>
        </p:blipFill>
        <p:spPr>
          <a:xfrm>
            <a:off x="566928" y="3813048"/>
            <a:ext cx="164592" cy="164592"/>
          </a:xfrm>
          <a:prstGeom prst="rect">
            <a:avLst/>
          </a:prstGeom>
          <a:noFill/>
          <a:ln>
            <a:noFill/>
          </a:ln>
        </p:spPr>
      </p:pic>
      <p:sp>
        <p:nvSpPr>
          <p:cNvPr id="299" name="Google Shape;299;p15"/>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Call order:  </a:t>
            </a:r>
            <a:r>
              <a:rPr b="0" i="0" lang="en-US" spc="0" sz="1000" u="none" cap="none" strike="noStrike">
                <a:solidFill>
                  <a:srgbClr val="1D1D1F"/>
                </a:solidFill>
                <a:latin typeface="Arial"/>
                <a:ea typeface="Arial"/>
                <a:cs typeface="Arial"/>
                <a:sym typeface="Arial"/>
              </a:rPr>
              <a:t>Primary CRM, then Google Voice, then Secondary CRM.</a:t>
            </a:r>
            <a:endParaRPr b="0" i="0" spc="0" sz="1000" u="none" cap="none" strike="noStrike">
              <a:solidFill>
                <a:schemeClr val="dk1"/>
              </a:solidFill>
              <a:latin typeface="Calibri"/>
              <a:ea typeface="Calibri"/>
              <a:cs typeface="Calibri"/>
              <a:sym typeface="Calibri"/>
            </a:endParaRPr>
          </a:p>
        </p:txBody>
      </p:sp>
      <p:sp>
        <p:nvSpPr>
          <p:cNvPr id="300" name="Google Shape;300;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CALLBACK HANDLING</a:t>
            </a:r>
            <a:endParaRPr b="0" i="0" spc="0" sz="800" u="none" cap="none" strike="noStrike">
              <a:solidFill>
                <a:schemeClr val="dk1"/>
              </a:solidFill>
              <a:latin typeface="Calibri"/>
              <a:ea typeface="Calibri"/>
              <a:cs typeface="Calibri"/>
              <a:sym typeface="Calibri"/>
            </a:endParaRPr>
          </a:p>
        </p:txBody>
      </p:sp>
      <p:sp>
        <p:nvSpPr>
          <p:cNvPr id="307" name="Google Shape;307;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Where to call from</a:t>
            </a:r>
            <a:endParaRPr b="0" i="0" spc="0" sz="2400" u="none" cap="none" strike="noStrike">
              <a:solidFill>
                <a:schemeClr val="dk1"/>
              </a:solidFill>
              <a:latin typeface="Calibri"/>
              <a:ea typeface="Calibri"/>
              <a:cs typeface="Calibri"/>
              <a:sym typeface="Calibri"/>
            </a:endParaRPr>
          </a:p>
        </p:txBody>
      </p:sp>
      <p:sp>
        <p:nvSpPr>
          <p:cNvPr id="308" name="Google Shape;308;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 the customer's page in the New C CRM.</a:t>
            </a:r>
            <a:endParaRPr b="0" i="0" spc="0" sz="1200" u="none" cap="none" strike="noStrike">
              <a:solidFill>
                <a:schemeClr val="dk1"/>
              </a:solidFill>
              <a:latin typeface="Calibri"/>
              <a:ea typeface="Calibri"/>
              <a:cs typeface="Calibri"/>
              <a:sym typeface="Calibri"/>
            </a:endParaRPr>
          </a:p>
        </p:txBody>
      </p:sp>
      <p:sp>
        <p:nvSpPr>
          <p:cNvPr id="309" name="Google Shape;309;p16"/>
          <p:cNvSpPr/>
          <p:nvPr/>
        </p:nvSpPr>
        <p:spPr>
          <a:xfrm>
            <a:off x="411480" y="1234440"/>
            <a:ext cx="39776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back_crm_half.png" id="310" name="Google Shape;310;p16"/>
          <p:cNvPicPr preferRelativeResize="0"/>
          <p:nvPr/>
        </p:nvPicPr>
        <p:blipFill rotWithShape="1">
          <a:blip r:embed="rId3">
            <a:alphaModFix/>
          </a:blip>
          <a:srcRect b="0" l="0" r="0" t="0"/>
          <a:stretch/>
        </p:blipFill>
        <p:spPr>
          <a:xfrm>
            <a:off x="484632" y="1335645"/>
            <a:ext cx="3831336" cy="940590"/>
          </a:xfrm>
          <a:prstGeom prst="rect">
            <a:avLst/>
          </a:prstGeom>
          <a:noFill/>
          <a:ln>
            <a:noFill/>
          </a:ln>
        </p:spPr>
      </p:pic>
      <p:sp>
        <p:nvSpPr>
          <p:cNvPr id="311" name="Google Shape;311;p16"/>
          <p:cNvSpPr/>
          <p:nvPr/>
        </p:nvSpPr>
        <p:spPr>
          <a:xfrm>
            <a:off x="3870755" y="1366998"/>
            <a:ext cx="388777" cy="156765"/>
          </a:xfrm>
          <a:prstGeom prst="roundRect">
            <a:avLst>
              <a:gd fmla="val 1749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 name="Google Shape;312;p16"/>
          <p:cNvSpPr/>
          <p:nvPr/>
        </p:nvSpPr>
        <p:spPr>
          <a:xfrm>
            <a:off x="3770171" y="1266414"/>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 name="Google Shape;313;p16"/>
          <p:cNvSpPr txBox="1"/>
          <p:nvPr/>
        </p:nvSpPr>
        <p:spPr>
          <a:xfrm>
            <a:off x="3770171" y="1266414"/>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1</a:t>
            </a:r>
            <a:endParaRPr b="0" i="0" spc="0" sz="800" u="none" cap="none" strike="noStrike">
              <a:solidFill>
                <a:schemeClr val="dk1"/>
              </a:solidFill>
              <a:latin typeface="Calibri"/>
              <a:ea typeface="Calibri"/>
              <a:cs typeface="Calibri"/>
              <a:sym typeface="Calibri"/>
            </a:endParaRPr>
          </a:p>
        </p:txBody>
      </p:sp>
      <p:sp>
        <p:nvSpPr>
          <p:cNvPr id="314" name="Google Shape;314;p16"/>
          <p:cNvSpPr/>
          <p:nvPr/>
        </p:nvSpPr>
        <p:spPr>
          <a:xfrm>
            <a:off x="3469437" y="1366998"/>
            <a:ext cx="395048" cy="156765"/>
          </a:xfrm>
          <a:prstGeom prst="roundRect">
            <a:avLst>
              <a:gd fmla="val 1749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 name="Google Shape;315;p16"/>
          <p:cNvSpPr/>
          <p:nvPr/>
        </p:nvSpPr>
        <p:spPr>
          <a:xfrm>
            <a:off x="3368853" y="1266414"/>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 name="Google Shape;316;p16"/>
          <p:cNvSpPr txBox="1"/>
          <p:nvPr/>
        </p:nvSpPr>
        <p:spPr>
          <a:xfrm>
            <a:off x="3368853" y="1266414"/>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2</a:t>
            </a:r>
            <a:endParaRPr b="0" i="0" spc="0" sz="800" u="none" cap="none" strike="noStrike">
              <a:solidFill>
                <a:schemeClr val="dk1"/>
              </a:solidFill>
              <a:latin typeface="Calibri"/>
              <a:ea typeface="Calibri"/>
              <a:cs typeface="Calibri"/>
              <a:sym typeface="Calibri"/>
            </a:endParaRPr>
          </a:p>
        </p:txBody>
      </p:sp>
      <p:sp>
        <p:nvSpPr>
          <p:cNvPr id="317" name="Google Shape;317;p16"/>
          <p:cNvSpPr/>
          <p:nvPr/>
        </p:nvSpPr>
        <p:spPr>
          <a:xfrm>
            <a:off x="2484953" y="1937623"/>
            <a:ext cx="733660" cy="112871"/>
          </a:xfrm>
          <a:prstGeom prst="roundRect">
            <a:avLst>
              <a:gd fmla="val 24304"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8" name="Google Shape;318;p16"/>
          <p:cNvSpPr/>
          <p:nvPr/>
        </p:nvSpPr>
        <p:spPr>
          <a:xfrm>
            <a:off x="2384369" y="1837039"/>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9" name="Google Shape;319;p16"/>
          <p:cNvSpPr txBox="1"/>
          <p:nvPr/>
        </p:nvSpPr>
        <p:spPr>
          <a:xfrm>
            <a:off x="2384369" y="1837039"/>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a:t>
            </a:r>
            <a:endParaRPr b="0" i="0" spc="0" sz="800" u="none" cap="none" strike="noStrike">
              <a:solidFill>
                <a:schemeClr val="dk1"/>
              </a:solidFill>
              <a:latin typeface="Calibri"/>
              <a:ea typeface="Calibri"/>
              <a:cs typeface="Calibri"/>
              <a:sym typeface="Calibri"/>
            </a:endParaRPr>
          </a:p>
        </p:txBody>
      </p:sp>
      <p:sp>
        <p:nvSpPr>
          <p:cNvPr id="320" name="Google Shape;320;p16"/>
          <p:cNvSpPr/>
          <p:nvPr/>
        </p:nvSpPr>
        <p:spPr>
          <a:xfrm>
            <a:off x="411480" y="2514600"/>
            <a:ext cx="397764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1" name="Google Shape;321;p16"/>
          <p:cNvSpPr/>
          <p:nvPr/>
        </p:nvSpPr>
        <p:spPr>
          <a:xfrm>
            <a:off x="539496" y="26151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2" name="Google Shape;322;p16"/>
          <p:cNvSpPr txBox="1"/>
          <p:nvPr/>
        </p:nvSpPr>
        <p:spPr>
          <a:xfrm>
            <a:off x="539496" y="26151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323" name="Google Shape;323;p16"/>
          <p:cNvSpPr txBox="1"/>
          <p:nvPr/>
        </p:nvSpPr>
        <p:spPr>
          <a:xfrm>
            <a:off x="914400" y="2560320"/>
            <a:ext cx="33832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Callbox: primary number</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Call 1st, from the primary number</a:t>
            </a:r>
            <a:endParaRPr b="0" i="0" spc="0" sz="1050" u="none" cap="none" strike="noStrike">
              <a:solidFill>
                <a:schemeClr val="dk1"/>
              </a:solidFill>
              <a:latin typeface="Calibri"/>
              <a:ea typeface="Calibri"/>
              <a:cs typeface="Calibri"/>
              <a:sym typeface="Calibri"/>
            </a:endParaRPr>
          </a:p>
        </p:txBody>
      </p:sp>
      <p:sp>
        <p:nvSpPr>
          <p:cNvPr id="324" name="Google Shape;324;p16"/>
          <p:cNvSpPr/>
          <p:nvPr/>
        </p:nvSpPr>
        <p:spPr>
          <a:xfrm>
            <a:off x="411480" y="3063240"/>
            <a:ext cx="397764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5" name="Google Shape;325;p16"/>
          <p:cNvSpPr/>
          <p:nvPr/>
        </p:nvSpPr>
        <p:spPr>
          <a:xfrm>
            <a:off x="539496" y="31638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6" name="Google Shape;326;p16"/>
          <p:cNvSpPr txBox="1"/>
          <p:nvPr/>
        </p:nvSpPr>
        <p:spPr>
          <a:xfrm>
            <a:off x="539496" y="31638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327" name="Google Shape;327;p16"/>
          <p:cNvSpPr txBox="1"/>
          <p:nvPr/>
        </p:nvSpPr>
        <p:spPr>
          <a:xfrm>
            <a:off x="914400" y="3108960"/>
            <a:ext cx="33832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GVoice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Call 2nd, with Google Voice</a:t>
            </a:r>
            <a:endParaRPr b="0" i="0" spc="0" sz="1050" u="none" cap="none" strike="noStrike">
              <a:solidFill>
                <a:schemeClr val="dk1"/>
              </a:solidFill>
              <a:latin typeface="Calibri"/>
              <a:ea typeface="Calibri"/>
              <a:cs typeface="Calibri"/>
              <a:sym typeface="Calibri"/>
            </a:endParaRPr>
          </a:p>
        </p:txBody>
      </p:sp>
      <p:sp>
        <p:nvSpPr>
          <p:cNvPr id="328" name="Google Shape;328;p16"/>
          <p:cNvSpPr/>
          <p:nvPr/>
        </p:nvSpPr>
        <p:spPr>
          <a:xfrm>
            <a:off x="411480" y="3611880"/>
            <a:ext cx="397764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539496" y="371246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txBox="1"/>
          <p:nvPr/>
        </p:nvSpPr>
        <p:spPr>
          <a:xfrm>
            <a:off x="539496" y="371246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331" name="Google Shape;331;p16"/>
          <p:cNvSpPr txBox="1"/>
          <p:nvPr/>
        </p:nvSpPr>
        <p:spPr>
          <a:xfrm>
            <a:off x="914400" y="3657600"/>
            <a:ext cx="338328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Callbox: secondary number</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Call 3rd, same Callbox button, Secondary Phone</a:t>
            </a:r>
            <a:endParaRPr b="0" i="0" spc="0" sz="1050" u="none" cap="none" strike="noStrike">
              <a:solidFill>
                <a:schemeClr val="dk1"/>
              </a:solidFill>
              <a:latin typeface="Calibri"/>
              <a:ea typeface="Calibri"/>
              <a:cs typeface="Calibri"/>
              <a:sym typeface="Calibri"/>
            </a:endParaRPr>
          </a:p>
        </p:txBody>
      </p:sp>
      <p:sp>
        <p:nvSpPr>
          <p:cNvPr id="332" name="Google Shape;332;p16"/>
          <p:cNvSpPr/>
          <p:nvPr/>
        </p:nvSpPr>
        <p:spPr>
          <a:xfrm>
            <a:off x="411480" y="4160520"/>
            <a:ext cx="3977640" cy="548640"/>
          </a:xfrm>
          <a:prstGeom prst="roundRect">
            <a:avLst>
              <a:gd fmla="val 13333"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33" name="Google Shape;333;p16"/>
          <p:cNvPicPr preferRelativeResize="0"/>
          <p:nvPr/>
        </p:nvPicPr>
        <p:blipFill rotWithShape="1">
          <a:blip r:embed="rId4">
            <a:alphaModFix/>
          </a:blip>
          <a:srcRect b="0" l="0" r="0" t="0"/>
          <a:stretch/>
        </p:blipFill>
        <p:spPr>
          <a:xfrm>
            <a:off x="548640" y="4334256"/>
            <a:ext cx="201168" cy="201168"/>
          </a:xfrm>
          <a:prstGeom prst="rect">
            <a:avLst/>
          </a:prstGeom>
          <a:noFill/>
          <a:ln>
            <a:noFill/>
          </a:ln>
        </p:spPr>
      </p:pic>
      <p:sp>
        <p:nvSpPr>
          <p:cNvPr id="334" name="Google Shape;334;p16"/>
          <p:cNvSpPr txBox="1"/>
          <p:nvPr/>
        </p:nvSpPr>
        <p:spPr>
          <a:xfrm>
            <a:off x="841248" y="4160520"/>
            <a:ext cx="347472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Important:  </a:t>
            </a:r>
            <a:r>
              <a:rPr b="0" i="0" lang="en-US" spc="0" sz="950" u="none" cap="none" strike="noStrike">
                <a:solidFill>
                  <a:srgbClr val="1D1D1F"/>
                </a:solidFill>
                <a:latin typeface="Arial"/>
                <a:ea typeface="Arial"/>
                <a:cs typeface="Arial"/>
                <a:sym typeface="Arial"/>
              </a:rPr>
              <a:t>check Local Time (!) before making a call. 8 AM – 8 PM their time.</a:t>
            </a:r>
            <a:endParaRPr b="0" i="0" spc="0" sz="950" u="none" cap="none" strike="noStrike">
              <a:solidFill>
                <a:schemeClr val="dk1"/>
              </a:solidFill>
              <a:latin typeface="Calibri"/>
              <a:ea typeface="Calibri"/>
              <a:cs typeface="Calibri"/>
              <a:sym typeface="Calibri"/>
            </a:endParaRPr>
          </a:p>
        </p:txBody>
      </p:sp>
      <p:sp>
        <p:nvSpPr>
          <p:cNvPr id="335" name="Google Shape;335;p16"/>
          <p:cNvSpPr/>
          <p:nvPr/>
        </p:nvSpPr>
        <p:spPr>
          <a:xfrm>
            <a:off x="4526280" y="1234440"/>
            <a:ext cx="4206240" cy="411480"/>
          </a:xfrm>
          <a:prstGeom prst="roundRect">
            <a:avLst>
              <a:gd fmla="val 2222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36" name="Google Shape;336;p16"/>
          <p:cNvPicPr preferRelativeResize="0"/>
          <p:nvPr/>
        </p:nvPicPr>
        <p:blipFill rotWithShape="1">
          <a:blip r:embed="rId5">
            <a:alphaModFix/>
          </a:blip>
          <a:srcRect b="0" l="0" r="0" t="0"/>
          <a:stretch/>
        </p:blipFill>
        <p:spPr>
          <a:xfrm>
            <a:off x="4681728" y="1339596"/>
            <a:ext cx="201168" cy="201168"/>
          </a:xfrm>
          <a:prstGeom prst="rect">
            <a:avLst/>
          </a:prstGeom>
          <a:noFill/>
          <a:ln>
            <a:noFill/>
          </a:ln>
        </p:spPr>
      </p:pic>
      <p:sp>
        <p:nvSpPr>
          <p:cNvPr id="337" name="Google Shape;337;p16"/>
          <p:cNvSpPr txBox="1"/>
          <p:nvPr/>
        </p:nvSpPr>
        <p:spPr>
          <a:xfrm>
            <a:off x="4983480" y="1234440"/>
            <a:ext cx="34747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50"/>
              <a:buFont typeface="Play"/>
              <a:buNone/>
            </a:pPr>
            <a:r>
              <a:rPr b="1" i="0" lang="en-US" spc="0" sz="1250" u="none" cap="none" strike="noStrike">
                <a:solidFill>
                  <a:srgbClr val="FFFFFF"/>
                </a:solidFill>
                <a:latin typeface="Play"/>
                <a:ea typeface="Play"/>
                <a:cs typeface="Play"/>
                <a:sym typeface="Play"/>
              </a:rPr>
              <a:t>Show screens</a:t>
            </a:r>
            <a:endParaRPr b="0" i="0" spc="0" sz="1250" u="none" cap="none" strike="noStrike">
              <a:solidFill>
                <a:schemeClr val="dk1"/>
              </a:solidFill>
              <a:latin typeface="Calibri"/>
              <a:ea typeface="Calibri"/>
              <a:cs typeface="Calibri"/>
              <a:sym typeface="Calibri"/>
            </a:endParaRPr>
          </a:p>
        </p:txBody>
      </p:sp>
      <p:sp>
        <p:nvSpPr>
          <p:cNvPr id="338" name="Google Shape;338;p16"/>
          <p:cNvSpPr/>
          <p:nvPr/>
        </p:nvSpPr>
        <p:spPr>
          <a:xfrm>
            <a:off x="4526280" y="1737360"/>
            <a:ext cx="4206240" cy="2971800"/>
          </a:xfrm>
          <a:prstGeom prst="roundRect">
            <a:avLst>
              <a:gd fmla="val 24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9" name="Google Shape;339;p16"/>
          <p:cNvSpPr/>
          <p:nvPr/>
        </p:nvSpPr>
        <p:spPr>
          <a:xfrm>
            <a:off x="4636008" y="1819656"/>
            <a:ext cx="182880" cy="18288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0" name="Google Shape;340;p16"/>
          <p:cNvSpPr txBox="1"/>
          <p:nvPr/>
        </p:nvSpPr>
        <p:spPr>
          <a:xfrm>
            <a:off x="4636008" y="1819656"/>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Arial"/>
              <a:buNone/>
            </a:pPr>
            <a:r>
              <a:rPr b="1" i="0" lang="en-US" spc="0" sz="750" u="none" cap="none" strike="noStrike">
                <a:solidFill>
                  <a:srgbClr val="FFFFFF"/>
                </a:solidFill>
                <a:latin typeface="Arial"/>
                <a:ea typeface="Arial"/>
                <a:cs typeface="Arial"/>
                <a:sym typeface="Arial"/>
              </a:rPr>
              <a:t>1</a:t>
            </a:r>
            <a:endParaRPr b="0" i="0" spc="0" sz="750" u="none" cap="none" strike="noStrike">
              <a:solidFill>
                <a:schemeClr val="dk1"/>
              </a:solidFill>
              <a:latin typeface="Calibri"/>
              <a:ea typeface="Calibri"/>
              <a:cs typeface="Calibri"/>
              <a:sym typeface="Calibri"/>
            </a:endParaRPr>
          </a:p>
        </p:txBody>
      </p:sp>
      <p:sp>
        <p:nvSpPr>
          <p:cNvPr id="341" name="Google Shape;341;p16"/>
          <p:cNvSpPr txBox="1"/>
          <p:nvPr/>
        </p:nvSpPr>
        <p:spPr>
          <a:xfrm>
            <a:off x="4892040" y="1810512"/>
            <a:ext cx="37490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Callbox: primary number  </a:t>
            </a:r>
            <a:r>
              <a:rPr b="0" i="0" lang="en-US" spc="0" sz="900" u="none" cap="none" strike="noStrike">
                <a:solidFill>
                  <a:srgbClr val="6E6E73"/>
                </a:solidFill>
                <a:latin typeface="Arial"/>
                <a:ea typeface="Arial"/>
                <a:cs typeface="Arial"/>
                <a:sym typeface="Arial"/>
              </a:rPr>
              <a:t>From list set to the primary number</a:t>
            </a:r>
            <a:endParaRPr b="0" i="0" spc="0" sz="900" u="none" cap="none" strike="noStrike">
              <a:solidFill>
                <a:schemeClr val="dk1"/>
              </a:solidFill>
              <a:latin typeface="Calibri"/>
              <a:ea typeface="Calibri"/>
              <a:cs typeface="Calibri"/>
              <a:sym typeface="Calibri"/>
            </a:endParaRPr>
          </a:p>
        </p:txBody>
      </p:sp>
      <p:sp>
        <p:nvSpPr>
          <p:cNvPr id="342" name="Google Shape;342;p16"/>
          <p:cNvSpPr/>
          <p:nvPr/>
        </p:nvSpPr>
        <p:spPr>
          <a:xfrm>
            <a:off x="4636008" y="2048256"/>
            <a:ext cx="3986784" cy="676656"/>
          </a:xfrm>
          <a:prstGeom prst="rect">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_primary_crop.png" id="343" name="Google Shape;343;p16"/>
          <p:cNvPicPr preferRelativeResize="0"/>
          <p:nvPr/>
        </p:nvPicPr>
        <p:blipFill rotWithShape="1">
          <a:blip r:embed="rId6">
            <a:alphaModFix/>
          </a:blip>
          <a:srcRect b="0" l="0" r="0" t="0"/>
          <a:stretch/>
        </p:blipFill>
        <p:spPr>
          <a:xfrm>
            <a:off x="5283448" y="2075688"/>
            <a:ext cx="2691904" cy="621792"/>
          </a:xfrm>
          <a:prstGeom prst="rect">
            <a:avLst/>
          </a:prstGeom>
          <a:noFill/>
          <a:ln>
            <a:noFill/>
          </a:ln>
        </p:spPr>
      </p:pic>
      <p:sp>
        <p:nvSpPr>
          <p:cNvPr id="344" name="Google Shape;344;p16"/>
          <p:cNvSpPr/>
          <p:nvPr/>
        </p:nvSpPr>
        <p:spPr>
          <a:xfrm>
            <a:off x="4636008" y="2788920"/>
            <a:ext cx="182880" cy="18288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6"/>
          <p:cNvSpPr txBox="1"/>
          <p:nvPr/>
        </p:nvSpPr>
        <p:spPr>
          <a:xfrm>
            <a:off x="4636008" y="2788920"/>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Arial"/>
              <a:buNone/>
            </a:pPr>
            <a:r>
              <a:rPr b="1" i="0" lang="en-US" spc="0" sz="750" u="none" cap="none" strike="noStrike">
                <a:solidFill>
                  <a:srgbClr val="FFFFFF"/>
                </a:solidFill>
                <a:latin typeface="Arial"/>
                <a:ea typeface="Arial"/>
                <a:cs typeface="Arial"/>
                <a:sym typeface="Arial"/>
              </a:rPr>
              <a:t>2</a:t>
            </a:r>
            <a:endParaRPr b="0" i="0" spc="0" sz="750" u="none" cap="none" strike="noStrike">
              <a:solidFill>
                <a:schemeClr val="dk1"/>
              </a:solidFill>
              <a:latin typeface="Calibri"/>
              <a:ea typeface="Calibri"/>
              <a:cs typeface="Calibri"/>
              <a:sym typeface="Calibri"/>
            </a:endParaRPr>
          </a:p>
        </p:txBody>
      </p:sp>
      <p:sp>
        <p:nvSpPr>
          <p:cNvPr id="346" name="Google Shape;346;p16"/>
          <p:cNvSpPr txBox="1"/>
          <p:nvPr/>
        </p:nvSpPr>
        <p:spPr>
          <a:xfrm>
            <a:off x="4892040" y="2779776"/>
            <a:ext cx="37490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GVoice  </a:t>
            </a:r>
            <a:r>
              <a:rPr b="0" i="0" lang="en-US" spc="0" sz="900" u="none" cap="none" strike="noStrike">
                <a:solidFill>
                  <a:srgbClr val="6E6E73"/>
                </a:solidFill>
                <a:latin typeface="Arial"/>
                <a:ea typeface="Arial"/>
                <a:cs typeface="Arial"/>
                <a:sym typeface="Arial"/>
              </a:rPr>
              <a:t>Sign in with the shared Homeaglow account</a:t>
            </a:r>
            <a:endParaRPr b="0" i="0" spc="0" sz="900" u="none" cap="none" strike="noStrike">
              <a:solidFill>
                <a:schemeClr val="dk1"/>
              </a:solidFill>
              <a:latin typeface="Calibri"/>
              <a:ea typeface="Calibri"/>
              <a:cs typeface="Calibri"/>
              <a:sym typeface="Calibri"/>
            </a:endParaRPr>
          </a:p>
        </p:txBody>
      </p:sp>
      <p:sp>
        <p:nvSpPr>
          <p:cNvPr id="347" name="Google Shape;347;p16"/>
          <p:cNvSpPr/>
          <p:nvPr/>
        </p:nvSpPr>
        <p:spPr>
          <a:xfrm>
            <a:off x="4636008" y="3017520"/>
            <a:ext cx="3986784" cy="676656"/>
          </a:xfrm>
          <a:prstGeom prst="rect">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_gvoice_crop.png" id="348" name="Google Shape;348;p16"/>
          <p:cNvPicPr preferRelativeResize="0"/>
          <p:nvPr/>
        </p:nvPicPr>
        <p:blipFill rotWithShape="1">
          <a:blip r:embed="rId7">
            <a:alphaModFix/>
          </a:blip>
          <a:srcRect b="0" l="0" r="0" t="0"/>
          <a:stretch/>
        </p:blipFill>
        <p:spPr>
          <a:xfrm>
            <a:off x="4835086" y="3044952"/>
            <a:ext cx="3588628" cy="621792"/>
          </a:xfrm>
          <a:prstGeom prst="rect">
            <a:avLst/>
          </a:prstGeom>
          <a:noFill/>
          <a:ln>
            <a:noFill/>
          </a:ln>
        </p:spPr>
      </p:pic>
      <p:sp>
        <p:nvSpPr>
          <p:cNvPr id="349" name="Google Shape;349;p16"/>
          <p:cNvSpPr/>
          <p:nvPr/>
        </p:nvSpPr>
        <p:spPr>
          <a:xfrm>
            <a:off x="4636008" y="3758184"/>
            <a:ext cx="182880" cy="182880"/>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0" name="Google Shape;350;p16"/>
          <p:cNvSpPr txBox="1"/>
          <p:nvPr/>
        </p:nvSpPr>
        <p:spPr>
          <a:xfrm>
            <a:off x="4636008" y="3758184"/>
            <a:ext cx="182880" cy="1828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750"/>
              <a:buFont typeface="Arial"/>
              <a:buNone/>
            </a:pPr>
            <a:r>
              <a:rPr b="1" i="0" lang="en-US" spc="0" sz="750" u="none" cap="none" strike="noStrike">
                <a:solidFill>
                  <a:srgbClr val="FFFFFF"/>
                </a:solidFill>
                <a:latin typeface="Arial"/>
                <a:ea typeface="Arial"/>
                <a:cs typeface="Arial"/>
                <a:sym typeface="Arial"/>
              </a:rPr>
              <a:t>3</a:t>
            </a:r>
            <a:endParaRPr b="0" i="0" spc="0" sz="750" u="none" cap="none" strike="noStrike">
              <a:solidFill>
                <a:schemeClr val="dk1"/>
              </a:solidFill>
              <a:latin typeface="Calibri"/>
              <a:ea typeface="Calibri"/>
              <a:cs typeface="Calibri"/>
              <a:sym typeface="Calibri"/>
            </a:endParaRPr>
          </a:p>
        </p:txBody>
      </p:sp>
      <p:sp>
        <p:nvSpPr>
          <p:cNvPr id="351" name="Google Shape;351;p16"/>
          <p:cNvSpPr txBox="1"/>
          <p:nvPr/>
        </p:nvSpPr>
        <p:spPr>
          <a:xfrm>
            <a:off x="4892040" y="3749040"/>
            <a:ext cx="374904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Callbox: secondary number  </a:t>
            </a:r>
            <a:r>
              <a:rPr b="0" i="0" lang="en-US" spc="0" sz="900" u="none" cap="none" strike="noStrike">
                <a:solidFill>
                  <a:srgbClr val="6E6E73"/>
                </a:solidFill>
                <a:latin typeface="Arial"/>
                <a:ea typeface="Arial"/>
                <a:cs typeface="Arial"/>
                <a:sym typeface="Arial"/>
              </a:rPr>
              <a:t>From list set to the Secondary Phone</a:t>
            </a:r>
            <a:endParaRPr b="0" i="0" spc="0" sz="900" u="none" cap="none" strike="noStrike">
              <a:solidFill>
                <a:schemeClr val="dk1"/>
              </a:solidFill>
              <a:latin typeface="Calibri"/>
              <a:ea typeface="Calibri"/>
              <a:cs typeface="Calibri"/>
              <a:sym typeface="Calibri"/>
            </a:endParaRPr>
          </a:p>
        </p:txBody>
      </p:sp>
      <p:sp>
        <p:nvSpPr>
          <p:cNvPr id="352" name="Google Shape;352;p16"/>
          <p:cNvSpPr/>
          <p:nvPr/>
        </p:nvSpPr>
        <p:spPr>
          <a:xfrm>
            <a:off x="4636008" y="3986784"/>
            <a:ext cx="3986784" cy="676656"/>
          </a:xfrm>
          <a:prstGeom prst="rect">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call_secondary_crop.png" id="353" name="Google Shape;353;p16"/>
          <p:cNvPicPr preferRelativeResize="0"/>
          <p:nvPr/>
        </p:nvPicPr>
        <p:blipFill rotWithShape="1">
          <a:blip r:embed="rId8">
            <a:alphaModFix/>
          </a:blip>
          <a:srcRect b="0" l="0" r="0" t="0"/>
          <a:stretch/>
        </p:blipFill>
        <p:spPr>
          <a:xfrm>
            <a:off x="5436506" y="4014216"/>
            <a:ext cx="2385789" cy="621792"/>
          </a:xfrm>
          <a:prstGeom prst="rect">
            <a:avLst/>
          </a:prstGeom>
          <a:noFill/>
          <a:ln>
            <a:noFill/>
          </a:ln>
        </p:spPr>
      </p:pic>
      <p:sp>
        <p:nvSpPr>
          <p:cNvPr id="354" name="Google Shape;354;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39"/>
                                        </p:tgtEl>
                                        <p:attrNameLst>
                                          <p:attrName>style.visibility</p:attrName>
                                        </p:attrNameLst>
                                      </p:cBhvr>
                                      <p:to>
                                        <p:strVal val="visible"/>
                                      </p:to>
                                    </p:set>
                                    <p:animEffect filter="fade" transition="in">
                                      <p:cBhvr>
                                        <p:cTn dur="600"/>
                                        <p:tgtEl>
                                          <p:spTgt spid="339"/>
                                        </p:tgtEl>
                                      </p:cBhvr>
                                    </p:animEffect>
                                  </p:childTnLst>
                                </p:cTn>
                              </p:par>
                              <p:par>
                                <p:cTn fill="hold" nodeType="withEffect" presetClass="entr" presetID="10" presetSubtype="0">
                                  <p:stCondLst>
                                    <p:cond delay="0"/>
                                  </p:stCondLst>
                                  <p:childTnLst>
                                    <p:set>
                                      <p:cBhvr>
                                        <p:cTn dur="1" fill="hold">
                                          <p:stCondLst>
                                            <p:cond delay="0"/>
                                          </p:stCondLst>
                                        </p:cTn>
                                        <p:tgtEl>
                                          <p:spTgt spid="340"/>
                                        </p:tgtEl>
                                        <p:attrNameLst>
                                          <p:attrName>style.visibility</p:attrName>
                                        </p:attrNameLst>
                                      </p:cBhvr>
                                      <p:to>
                                        <p:strVal val="visible"/>
                                      </p:to>
                                    </p:set>
                                    <p:animEffect filter="fade" transition="in">
                                      <p:cBhvr>
                                        <p:cTn dur="600"/>
                                        <p:tgtEl>
                                          <p:spTgt spid="340"/>
                                        </p:tgtEl>
                                      </p:cBhvr>
                                    </p:animEffect>
                                  </p:childTnLst>
                                </p:cTn>
                              </p:par>
                              <p:par>
                                <p:cTn fill="hold" nodeType="withEffect" presetClass="entr" presetID="10" presetSubtype="0">
                                  <p:stCondLst>
                                    <p:cond delay="0"/>
                                  </p:stCondLst>
                                  <p:childTnLst>
                                    <p:set>
                                      <p:cBhvr>
                                        <p:cTn dur="1" fill="hold">
                                          <p:stCondLst>
                                            <p:cond delay="0"/>
                                          </p:stCondLst>
                                        </p:cTn>
                                        <p:tgtEl>
                                          <p:spTgt spid="341"/>
                                        </p:tgtEl>
                                        <p:attrNameLst>
                                          <p:attrName>style.visibility</p:attrName>
                                        </p:attrNameLst>
                                      </p:cBhvr>
                                      <p:to>
                                        <p:strVal val="visible"/>
                                      </p:to>
                                    </p:set>
                                    <p:animEffect filter="fade" transition="in">
                                      <p:cBhvr>
                                        <p:cTn dur="600"/>
                                        <p:tgtEl>
                                          <p:spTgt spid="341"/>
                                        </p:tgtEl>
                                      </p:cBhvr>
                                    </p:animEffect>
                                  </p:childTnLst>
                                </p:cTn>
                              </p:par>
                              <p:par>
                                <p:cTn fill="hold" nodeType="withEffect" presetClass="entr" presetID="10" presetSubtype="0">
                                  <p:stCondLst>
                                    <p:cond delay="0"/>
                                  </p:stCondLst>
                                  <p:childTnLst>
                                    <p:set>
                                      <p:cBhvr>
                                        <p:cTn dur="1" fill="hold">
                                          <p:stCondLst>
                                            <p:cond delay="0"/>
                                          </p:stCondLst>
                                        </p:cTn>
                                        <p:tgtEl>
                                          <p:spTgt spid="342"/>
                                        </p:tgtEl>
                                        <p:attrNameLst>
                                          <p:attrName>style.visibility</p:attrName>
                                        </p:attrNameLst>
                                      </p:cBhvr>
                                      <p:to>
                                        <p:strVal val="visible"/>
                                      </p:to>
                                    </p:set>
                                    <p:animEffect filter="fade" transition="in">
                                      <p:cBhvr>
                                        <p:cTn dur="600"/>
                                        <p:tgtEl>
                                          <p:spTgt spid="342"/>
                                        </p:tgtEl>
                                      </p:cBhvr>
                                    </p:animEffect>
                                  </p:childTnLst>
                                </p:cTn>
                              </p:par>
                              <p:par>
                                <p:cTn fill="hold" nodeType="withEffect" presetClass="entr" presetID="10" presetSubtype="0">
                                  <p:stCondLst>
                                    <p:cond delay="0"/>
                                  </p:stCondLst>
                                  <p:childTnLst>
                                    <p:set>
                                      <p:cBhvr>
                                        <p:cTn dur="1" fill="hold">
                                          <p:stCondLst>
                                            <p:cond delay="0"/>
                                          </p:stCondLst>
                                        </p:cTn>
                                        <p:tgtEl>
                                          <p:spTgt spid="343"/>
                                        </p:tgtEl>
                                        <p:attrNameLst>
                                          <p:attrName>style.visibility</p:attrName>
                                        </p:attrNameLst>
                                      </p:cBhvr>
                                      <p:to>
                                        <p:strVal val="visible"/>
                                      </p:to>
                                    </p:set>
                                    <p:animEffect filter="fade" transition="in">
                                      <p:cBhvr>
                                        <p:cTn dur="600"/>
                                        <p:tgtEl>
                                          <p:spTgt spid="34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44"/>
                                        </p:tgtEl>
                                        <p:attrNameLst>
                                          <p:attrName>style.visibility</p:attrName>
                                        </p:attrNameLst>
                                      </p:cBhvr>
                                      <p:to>
                                        <p:strVal val="visible"/>
                                      </p:to>
                                    </p:set>
                                    <p:animEffect filter="fade" transition="in">
                                      <p:cBhvr>
                                        <p:cTn dur="600"/>
                                        <p:tgtEl>
                                          <p:spTgt spid="344"/>
                                        </p:tgtEl>
                                      </p:cBhvr>
                                    </p:animEffect>
                                  </p:childTnLst>
                                </p:cTn>
                              </p:par>
                              <p:par>
                                <p:cTn fill="hold" nodeType="withEffect" presetClass="entr" presetID="10" presetSubtype="0">
                                  <p:stCondLst>
                                    <p:cond delay="0"/>
                                  </p:stCondLst>
                                  <p:childTnLst>
                                    <p:set>
                                      <p:cBhvr>
                                        <p:cTn dur="1" fill="hold">
                                          <p:stCondLst>
                                            <p:cond delay="0"/>
                                          </p:stCondLst>
                                        </p:cTn>
                                        <p:tgtEl>
                                          <p:spTgt spid="345"/>
                                        </p:tgtEl>
                                        <p:attrNameLst>
                                          <p:attrName>style.visibility</p:attrName>
                                        </p:attrNameLst>
                                      </p:cBhvr>
                                      <p:to>
                                        <p:strVal val="visible"/>
                                      </p:to>
                                    </p:set>
                                    <p:animEffect filter="fade" transition="in">
                                      <p:cBhvr>
                                        <p:cTn dur="600"/>
                                        <p:tgtEl>
                                          <p:spTgt spid="345"/>
                                        </p:tgtEl>
                                      </p:cBhvr>
                                    </p:animEffect>
                                  </p:childTnLst>
                                </p:cTn>
                              </p:par>
                              <p:par>
                                <p:cTn fill="hold" nodeType="withEffect" presetClass="entr" presetID="10" presetSubtype="0">
                                  <p:stCondLst>
                                    <p:cond delay="0"/>
                                  </p:stCondLst>
                                  <p:childTnLst>
                                    <p:set>
                                      <p:cBhvr>
                                        <p:cTn dur="1" fill="hold">
                                          <p:stCondLst>
                                            <p:cond delay="0"/>
                                          </p:stCondLst>
                                        </p:cTn>
                                        <p:tgtEl>
                                          <p:spTgt spid="346"/>
                                        </p:tgtEl>
                                        <p:attrNameLst>
                                          <p:attrName>style.visibility</p:attrName>
                                        </p:attrNameLst>
                                      </p:cBhvr>
                                      <p:to>
                                        <p:strVal val="visible"/>
                                      </p:to>
                                    </p:set>
                                    <p:animEffect filter="fade" transition="in">
                                      <p:cBhvr>
                                        <p:cTn dur="600"/>
                                        <p:tgtEl>
                                          <p:spTgt spid="346"/>
                                        </p:tgtEl>
                                      </p:cBhvr>
                                    </p:animEffect>
                                  </p:childTnLst>
                                </p:cTn>
                              </p:par>
                              <p:par>
                                <p:cTn fill="hold" nodeType="withEffect" presetClass="entr" presetID="10" presetSubtype="0">
                                  <p:stCondLst>
                                    <p:cond delay="0"/>
                                  </p:stCondLst>
                                  <p:childTnLst>
                                    <p:set>
                                      <p:cBhvr>
                                        <p:cTn dur="1" fill="hold">
                                          <p:stCondLst>
                                            <p:cond delay="0"/>
                                          </p:stCondLst>
                                        </p:cTn>
                                        <p:tgtEl>
                                          <p:spTgt spid="347"/>
                                        </p:tgtEl>
                                        <p:attrNameLst>
                                          <p:attrName>style.visibility</p:attrName>
                                        </p:attrNameLst>
                                      </p:cBhvr>
                                      <p:to>
                                        <p:strVal val="visible"/>
                                      </p:to>
                                    </p:set>
                                    <p:animEffect filter="fade" transition="in">
                                      <p:cBhvr>
                                        <p:cTn dur="600"/>
                                        <p:tgtEl>
                                          <p:spTgt spid="347"/>
                                        </p:tgtEl>
                                      </p:cBhvr>
                                    </p:animEffect>
                                  </p:childTnLst>
                                </p:cTn>
                              </p:par>
                              <p:par>
                                <p:cTn fill="hold" nodeType="withEffect" presetClass="entr" presetID="10" presetSubtype="0">
                                  <p:stCondLst>
                                    <p:cond delay="0"/>
                                  </p:stCondLst>
                                  <p:childTnLst>
                                    <p:set>
                                      <p:cBhvr>
                                        <p:cTn dur="1" fill="hold">
                                          <p:stCondLst>
                                            <p:cond delay="0"/>
                                          </p:stCondLst>
                                        </p:cTn>
                                        <p:tgtEl>
                                          <p:spTgt spid="348"/>
                                        </p:tgtEl>
                                        <p:attrNameLst>
                                          <p:attrName>style.visibility</p:attrName>
                                        </p:attrNameLst>
                                      </p:cBhvr>
                                      <p:to>
                                        <p:strVal val="visible"/>
                                      </p:to>
                                    </p:set>
                                    <p:animEffect filter="fade" transition="in">
                                      <p:cBhvr>
                                        <p:cTn dur="600"/>
                                        <p:tgtEl>
                                          <p:spTgt spid="34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49"/>
                                        </p:tgtEl>
                                        <p:attrNameLst>
                                          <p:attrName>style.visibility</p:attrName>
                                        </p:attrNameLst>
                                      </p:cBhvr>
                                      <p:to>
                                        <p:strVal val="visible"/>
                                      </p:to>
                                    </p:set>
                                    <p:animEffect filter="fade" transition="in">
                                      <p:cBhvr>
                                        <p:cTn dur="600"/>
                                        <p:tgtEl>
                                          <p:spTgt spid="349"/>
                                        </p:tgtEl>
                                      </p:cBhvr>
                                    </p:animEffect>
                                  </p:childTnLst>
                                </p:cTn>
                              </p:par>
                              <p:par>
                                <p:cTn fill="hold" nodeType="withEffect" presetClass="entr" presetID="10" presetSubtype="0">
                                  <p:stCondLst>
                                    <p:cond delay="0"/>
                                  </p:stCondLst>
                                  <p:childTnLst>
                                    <p:set>
                                      <p:cBhvr>
                                        <p:cTn dur="1" fill="hold">
                                          <p:stCondLst>
                                            <p:cond delay="0"/>
                                          </p:stCondLst>
                                        </p:cTn>
                                        <p:tgtEl>
                                          <p:spTgt spid="350"/>
                                        </p:tgtEl>
                                        <p:attrNameLst>
                                          <p:attrName>style.visibility</p:attrName>
                                        </p:attrNameLst>
                                      </p:cBhvr>
                                      <p:to>
                                        <p:strVal val="visible"/>
                                      </p:to>
                                    </p:set>
                                    <p:animEffect filter="fade" transition="in">
                                      <p:cBhvr>
                                        <p:cTn dur="600"/>
                                        <p:tgtEl>
                                          <p:spTgt spid="350"/>
                                        </p:tgtEl>
                                      </p:cBhvr>
                                    </p:animEffect>
                                  </p:childTnLst>
                                </p:cTn>
                              </p:par>
                              <p:par>
                                <p:cTn fill="hold" nodeType="withEffect" presetClass="entr" presetID="10" presetSubtype="0">
                                  <p:stCondLst>
                                    <p:cond delay="0"/>
                                  </p:stCondLst>
                                  <p:childTnLst>
                                    <p:set>
                                      <p:cBhvr>
                                        <p:cTn dur="1" fill="hold">
                                          <p:stCondLst>
                                            <p:cond delay="0"/>
                                          </p:stCondLst>
                                        </p:cTn>
                                        <p:tgtEl>
                                          <p:spTgt spid="351"/>
                                        </p:tgtEl>
                                        <p:attrNameLst>
                                          <p:attrName>style.visibility</p:attrName>
                                        </p:attrNameLst>
                                      </p:cBhvr>
                                      <p:to>
                                        <p:strVal val="visible"/>
                                      </p:to>
                                    </p:set>
                                    <p:animEffect filter="fade" transition="in">
                                      <p:cBhvr>
                                        <p:cTn dur="600"/>
                                        <p:tgtEl>
                                          <p:spTgt spid="351"/>
                                        </p:tgtEl>
                                      </p:cBhvr>
                                    </p:animEffect>
                                  </p:childTnLst>
                                </p:cTn>
                              </p:par>
                              <p:par>
                                <p:cTn fill="hold" nodeType="withEffect" presetClass="entr" presetID="10" presetSubtype="0">
                                  <p:stCondLst>
                                    <p:cond delay="0"/>
                                  </p:stCondLst>
                                  <p:childTnLst>
                                    <p:set>
                                      <p:cBhvr>
                                        <p:cTn dur="1" fill="hold">
                                          <p:stCondLst>
                                            <p:cond delay="0"/>
                                          </p:stCondLst>
                                        </p:cTn>
                                        <p:tgtEl>
                                          <p:spTgt spid="352"/>
                                        </p:tgtEl>
                                        <p:attrNameLst>
                                          <p:attrName>style.visibility</p:attrName>
                                        </p:attrNameLst>
                                      </p:cBhvr>
                                      <p:to>
                                        <p:strVal val="visible"/>
                                      </p:to>
                                    </p:set>
                                    <p:animEffect filter="fade" transition="in">
                                      <p:cBhvr>
                                        <p:cTn dur="600"/>
                                        <p:tgtEl>
                                          <p:spTgt spid="352"/>
                                        </p:tgtEl>
                                      </p:cBhvr>
                                    </p:animEffect>
                                  </p:childTnLst>
                                </p:cTn>
                              </p:par>
                              <p:par>
                                <p:cTn fill="hold" nodeType="withEffect" presetClass="entr" presetID="10" presetSubtype="0">
                                  <p:stCondLst>
                                    <p:cond delay="0"/>
                                  </p:stCondLst>
                                  <p:childTnLst>
                                    <p:set>
                                      <p:cBhvr>
                                        <p:cTn dur="1" fill="hold">
                                          <p:stCondLst>
                                            <p:cond delay="0"/>
                                          </p:stCondLst>
                                        </p:cTn>
                                        <p:tgtEl>
                                          <p:spTgt spid="353"/>
                                        </p:tgtEl>
                                        <p:attrNameLst>
                                          <p:attrName>style.visibility</p:attrName>
                                        </p:attrNameLst>
                                      </p:cBhvr>
                                      <p:to>
                                        <p:strVal val="visible"/>
                                      </p:to>
                                    </p:set>
                                    <p:animEffect filter="fade" transition="in">
                                      <p:cBhvr>
                                        <p:cTn dur="600"/>
                                        <p:tgtEl>
                                          <p:spTgt spid="35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CALLBACK HANDLING</a:t>
            </a:r>
            <a:endParaRPr b="0" i="0" spc="0" sz="800" u="none" cap="none" strike="noStrike">
              <a:solidFill>
                <a:schemeClr val="dk1"/>
              </a:solidFill>
              <a:latin typeface="Calibri"/>
              <a:ea typeface="Calibri"/>
              <a:cs typeface="Calibri"/>
              <a:sym typeface="Calibri"/>
            </a:endParaRPr>
          </a:p>
        </p:txBody>
      </p:sp>
      <p:sp>
        <p:nvSpPr>
          <p:cNvPr id="361" name="Google Shape;361;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happens next</a:t>
            </a:r>
            <a:endParaRPr b="0" i="0" spc="0" sz="2400" u="none" cap="none" strike="noStrike">
              <a:solidFill>
                <a:schemeClr val="dk1"/>
              </a:solidFill>
              <a:latin typeface="Calibri"/>
              <a:ea typeface="Calibri"/>
              <a:cs typeface="Calibri"/>
              <a:sym typeface="Calibri"/>
            </a:endParaRPr>
          </a:p>
        </p:txBody>
      </p:sp>
      <p:sp>
        <p:nvSpPr>
          <p:cNvPr id="362" name="Google Shape;362;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call ends one of three ways.</a:t>
            </a:r>
            <a:endParaRPr b="0" i="0" spc="0" sz="1200" u="none" cap="none" strike="noStrike">
              <a:solidFill>
                <a:schemeClr val="dk1"/>
              </a:solidFill>
              <a:latin typeface="Calibri"/>
              <a:ea typeface="Calibri"/>
              <a:cs typeface="Calibri"/>
              <a:sym typeface="Calibri"/>
            </a:endParaRPr>
          </a:p>
        </p:txBody>
      </p:sp>
      <p:sp>
        <p:nvSpPr>
          <p:cNvPr id="363" name="Google Shape;363;p17"/>
          <p:cNvSpPr/>
          <p:nvPr/>
        </p:nvSpPr>
        <p:spPr>
          <a:xfrm>
            <a:off x="411480" y="1325880"/>
            <a:ext cx="2682240" cy="2331720"/>
          </a:xfrm>
          <a:prstGeom prst="roundRect">
            <a:avLst>
              <a:gd fmla="val 313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4" name="Google Shape;364;p17"/>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5" name="Google Shape;365;p17"/>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366" name="Google Shape;366;p17"/>
          <p:cNvSpPr txBox="1"/>
          <p:nvPr/>
        </p:nvSpPr>
        <p:spPr>
          <a:xfrm>
            <a:off x="1069848" y="1481328"/>
            <a:ext cx="19050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Answered</a:t>
            </a:r>
            <a:endParaRPr b="0" i="0" spc="0" sz="1300" u="none" cap="none" strike="noStrike">
              <a:solidFill>
                <a:schemeClr val="dk1"/>
              </a:solidFill>
              <a:latin typeface="Calibri"/>
              <a:ea typeface="Calibri"/>
              <a:cs typeface="Calibri"/>
              <a:sym typeface="Calibri"/>
            </a:endParaRPr>
          </a:p>
        </p:txBody>
      </p:sp>
      <p:sp>
        <p:nvSpPr>
          <p:cNvPr id="367" name="Google Shape;367;p17"/>
          <p:cNvSpPr txBox="1"/>
          <p:nvPr/>
        </p:nvSpPr>
        <p:spPr>
          <a:xfrm>
            <a:off x="576072" y="2011680"/>
            <a:ext cx="2353056" cy="155448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Try to resolve it on the call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Email a summary of what was discussed</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Log an internal note. Calls aren't recorded</a:t>
            </a:r>
            <a:endParaRPr b="0" i="0" spc="0" sz="1000" u="none" cap="none" strike="noStrike">
              <a:solidFill>
                <a:schemeClr val="dk1"/>
              </a:solidFill>
              <a:latin typeface="Calibri"/>
              <a:ea typeface="Calibri"/>
              <a:cs typeface="Calibri"/>
              <a:sym typeface="Calibri"/>
            </a:endParaRPr>
          </a:p>
        </p:txBody>
      </p:sp>
      <p:sp>
        <p:nvSpPr>
          <p:cNvPr id="368" name="Google Shape;368;p17"/>
          <p:cNvSpPr/>
          <p:nvPr/>
        </p:nvSpPr>
        <p:spPr>
          <a:xfrm>
            <a:off x="3230880" y="1325880"/>
            <a:ext cx="2682240" cy="2331720"/>
          </a:xfrm>
          <a:prstGeom prst="roundRect">
            <a:avLst>
              <a:gd fmla="val 313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9" name="Google Shape;369;p17"/>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70" name="Google Shape;370;p17"/>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371" name="Google Shape;371;p17"/>
          <p:cNvSpPr txBox="1"/>
          <p:nvPr/>
        </p:nvSpPr>
        <p:spPr>
          <a:xfrm>
            <a:off x="3889248" y="1481328"/>
            <a:ext cx="19050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Not answered</a:t>
            </a:r>
            <a:endParaRPr b="0" i="0" spc="0" sz="1300" u="none" cap="none" strike="noStrike">
              <a:solidFill>
                <a:schemeClr val="dk1"/>
              </a:solidFill>
              <a:latin typeface="Calibri"/>
              <a:ea typeface="Calibri"/>
              <a:cs typeface="Calibri"/>
              <a:sym typeface="Calibri"/>
            </a:endParaRPr>
          </a:p>
        </p:txBody>
      </p:sp>
      <p:sp>
        <p:nvSpPr>
          <p:cNvPr id="372" name="Google Shape;372;p17"/>
          <p:cNvSpPr txBox="1"/>
          <p:nvPr/>
        </p:nvSpPr>
        <p:spPr>
          <a:xfrm>
            <a:off x="3395472" y="2011680"/>
            <a:ext cx="2353056" cy="155448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Address the concern by email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Ask for their availability for a callback</a:t>
            </a:r>
            <a:endParaRPr b="0" i="0" spc="0" sz="1000" u="none" cap="none" strike="noStrike">
              <a:solidFill>
                <a:schemeClr val="dk1"/>
              </a:solidFill>
              <a:latin typeface="Calibri"/>
              <a:ea typeface="Calibri"/>
              <a:cs typeface="Calibri"/>
              <a:sym typeface="Calibri"/>
            </a:endParaRPr>
          </a:p>
        </p:txBody>
      </p:sp>
      <p:sp>
        <p:nvSpPr>
          <p:cNvPr id="373" name="Google Shape;373;p17"/>
          <p:cNvSpPr/>
          <p:nvPr/>
        </p:nvSpPr>
        <p:spPr>
          <a:xfrm>
            <a:off x="6050280" y="1325880"/>
            <a:ext cx="2682240" cy="2331720"/>
          </a:xfrm>
          <a:prstGeom prst="roundRect">
            <a:avLst>
              <a:gd fmla="val 313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4" name="Google Shape;374;p17"/>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75" name="Google Shape;375;p17"/>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376" name="Google Shape;376;p17"/>
          <p:cNvSpPr txBox="1"/>
          <p:nvPr/>
        </p:nvSpPr>
        <p:spPr>
          <a:xfrm>
            <a:off x="6708648" y="1481328"/>
            <a:ext cx="19050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Voicemail</a:t>
            </a:r>
            <a:endParaRPr b="0" i="0" spc="0" sz="1300" u="none" cap="none" strike="noStrike">
              <a:solidFill>
                <a:schemeClr val="dk1"/>
              </a:solidFill>
              <a:latin typeface="Calibri"/>
              <a:ea typeface="Calibri"/>
              <a:cs typeface="Calibri"/>
              <a:sym typeface="Calibri"/>
            </a:endParaRPr>
          </a:p>
        </p:txBody>
      </p:sp>
      <p:sp>
        <p:nvSpPr>
          <p:cNvPr id="377" name="Google Shape;377;p17"/>
          <p:cNvSpPr txBox="1"/>
          <p:nvPr/>
        </p:nvSpPr>
        <p:spPr>
          <a:xfrm>
            <a:off x="6214872" y="2011680"/>
            <a:ext cx="2353056" cy="155448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Leave a voicemail, if applicable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Send an email and an SMS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6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Wait 10 minutes, then check the ticket again</a:t>
            </a:r>
            <a:endParaRPr b="0" i="0" spc="0" sz="1000" u="none" cap="none" strike="noStrike">
              <a:solidFill>
                <a:schemeClr val="dk1"/>
              </a:solidFill>
              <a:latin typeface="Calibri"/>
              <a:ea typeface="Calibri"/>
              <a:cs typeface="Calibri"/>
              <a:sym typeface="Calibri"/>
            </a:endParaRPr>
          </a:p>
        </p:txBody>
      </p:sp>
      <p:sp>
        <p:nvSpPr>
          <p:cNvPr id="378" name="Google Shape;378;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79" name="Google Shape;379;p17"/>
          <p:cNvPicPr preferRelativeResize="0"/>
          <p:nvPr/>
        </p:nvPicPr>
        <p:blipFill rotWithShape="1">
          <a:blip r:embed="rId6">
            <a:alphaModFix/>
          </a:blip>
          <a:srcRect b="0" l="0" r="0" t="0"/>
          <a:stretch/>
        </p:blipFill>
        <p:spPr>
          <a:xfrm>
            <a:off x="566928" y="3950208"/>
            <a:ext cx="164592" cy="164592"/>
          </a:xfrm>
          <a:prstGeom prst="rect">
            <a:avLst/>
          </a:prstGeom>
          <a:noFill/>
          <a:ln>
            <a:noFill/>
          </a:ln>
        </p:spPr>
      </p:pic>
      <p:sp>
        <p:nvSpPr>
          <p:cNvPr id="380" name="Google Shape;380;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"Call me now"?  </a:t>
            </a:r>
            <a:r>
              <a:rPr b="0" i="0" lang="en-US" spc="0" sz="1000" u="none" cap="none" strike="noStrike">
                <a:solidFill>
                  <a:srgbClr val="1D1D1F"/>
                </a:solidFill>
                <a:latin typeface="Arial"/>
                <a:ea typeface="Arial"/>
                <a:cs typeface="Arial"/>
                <a:sym typeface="Arial"/>
              </a:rPr>
              <a:t>if they reply asking for an immediate call, call right away, even inside the 10 minutes.</a:t>
            </a:r>
            <a:endParaRPr b="0" i="0" spc="0" sz="1000" u="none" cap="none" strike="noStrike">
              <a:solidFill>
                <a:schemeClr val="dk1"/>
              </a:solidFill>
              <a:latin typeface="Calibri"/>
              <a:ea typeface="Calibri"/>
              <a:cs typeface="Calibri"/>
              <a:sym typeface="Calibri"/>
            </a:endParaRPr>
          </a:p>
        </p:txBody>
      </p:sp>
      <p:sp>
        <p:nvSpPr>
          <p:cNvPr id="381" name="Google Shape;381;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6" name="Shape 386"/>
        <p:cNvGrpSpPr/>
        <p:nvPr/>
      </p:nvGrpSpPr>
      <p:grpSpPr>
        <a:xfrm>
          <a:off x="0" y="0"/>
          <a:ext cx="0" cy="0"/>
          <a:chOff x="0" y="0"/>
          <a:chExt cx="0" cy="0"/>
        </a:xfrm>
      </p:grpSpPr>
      <p:sp>
        <p:nvSpPr>
          <p:cNvPr id="387" name="Google Shape;387;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CALLBACK HANDLING</a:t>
            </a:r>
            <a:endParaRPr b="0" i="0" spc="0" sz="800" u="none" cap="none" strike="noStrike">
              <a:solidFill>
                <a:schemeClr val="dk1"/>
              </a:solidFill>
              <a:latin typeface="Calibri"/>
              <a:ea typeface="Calibri"/>
              <a:cs typeface="Calibri"/>
              <a:sym typeface="Calibri"/>
            </a:endParaRPr>
          </a:p>
        </p:txBody>
      </p:sp>
      <p:sp>
        <p:nvSpPr>
          <p:cNvPr id="388" name="Google Shape;388;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Once they share their availability</a:t>
            </a:r>
            <a:endParaRPr b="0" i="0" spc="0" sz="2400" u="none" cap="none" strike="noStrike">
              <a:solidFill>
                <a:schemeClr val="dk1"/>
              </a:solidFill>
              <a:latin typeface="Calibri"/>
              <a:ea typeface="Calibri"/>
              <a:cs typeface="Calibri"/>
              <a:sym typeface="Calibri"/>
            </a:endParaRPr>
          </a:p>
        </p:txBody>
      </p:sp>
      <p:sp>
        <p:nvSpPr>
          <p:cNvPr id="389" name="Google Shape;389;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Create a timed reminder assigned to "Any CS", then pick your path.</a:t>
            </a:r>
            <a:endParaRPr b="0" i="0" spc="0" sz="1200" u="none" cap="none" strike="noStrike">
              <a:solidFill>
                <a:schemeClr val="dk1"/>
              </a:solidFill>
              <a:latin typeface="Calibri"/>
              <a:ea typeface="Calibri"/>
              <a:cs typeface="Calibri"/>
              <a:sym typeface="Calibri"/>
            </a:endParaRPr>
          </a:p>
        </p:txBody>
      </p:sp>
      <p:sp>
        <p:nvSpPr>
          <p:cNvPr id="390" name="Google Shape;390;p18"/>
          <p:cNvSpPr/>
          <p:nvPr/>
        </p:nvSpPr>
        <p:spPr>
          <a:xfrm>
            <a:off x="411480" y="1371600"/>
            <a:ext cx="8321040" cy="685800"/>
          </a:xfrm>
          <a:prstGeom prst="roundRect">
            <a:avLst>
              <a:gd fmla="val 1066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91" name="Google Shape;391;p18"/>
          <p:cNvPicPr preferRelativeResize="0"/>
          <p:nvPr/>
        </p:nvPicPr>
        <p:blipFill rotWithShape="1">
          <a:blip r:embed="rId3">
            <a:alphaModFix/>
          </a:blip>
          <a:srcRect b="0" l="0" r="0" t="0"/>
          <a:stretch/>
        </p:blipFill>
        <p:spPr>
          <a:xfrm>
            <a:off x="685800" y="1563624"/>
            <a:ext cx="292608" cy="292608"/>
          </a:xfrm>
          <a:prstGeom prst="rect">
            <a:avLst/>
          </a:prstGeom>
          <a:noFill/>
          <a:ln>
            <a:noFill/>
          </a:ln>
        </p:spPr>
      </p:pic>
      <p:sp>
        <p:nvSpPr>
          <p:cNvPr id="392" name="Google Shape;392;p18"/>
          <p:cNvSpPr txBox="1"/>
          <p:nvPr/>
        </p:nvSpPr>
        <p:spPr>
          <a:xfrm>
            <a:off x="1143000" y="1371600"/>
            <a:ext cx="73152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Create a timed reminder, assigned to "Any CS"</a:t>
            </a:r>
            <a:endParaRPr b="0" i="0" spc="0" sz="1400" u="none" cap="none" strike="noStrike">
              <a:solidFill>
                <a:schemeClr val="dk1"/>
              </a:solidFill>
              <a:latin typeface="Calibri"/>
              <a:ea typeface="Calibri"/>
              <a:cs typeface="Calibri"/>
              <a:sym typeface="Calibri"/>
            </a:endParaRPr>
          </a:p>
        </p:txBody>
      </p:sp>
      <p:sp>
        <p:nvSpPr>
          <p:cNvPr id="393" name="Google Shape;393;p18"/>
          <p:cNvSpPr/>
          <p:nvPr/>
        </p:nvSpPr>
        <p:spPr>
          <a:xfrm>
            <a:off x="411480" y="224028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4" name="Google Shape;394;p18"/>
          <p:cNvSpPr/>
          <p:nvPr/>
        </p:nvSpPr>
        <p:spPr>
          <a:xfrm>
            <a:off x="594360" y="242316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95" name="Google Shape;395;p18"/>
          <p:cNvPicPr preferRelativeResize="0"/>
          <p:nvPr/>
        </p:nvPicPr>
        <p:blipFill rotWithShape="1">
          <a:blip r:embed="rId4">
            <a:alphaModFix/>
          </a:blip>
          <a:srcRect b="0" l="0" r="0" t="0"/>
          <a:stretch/>
        </p:blipFill>
        <p:spPr>
          <a:xfrm>
            <a:off x="686532" y="2515332"/>
            <a:ext cx="199705" cy="199705"/>
          </a:xfrm>
          <a:prstGeom prst="rect">
            <a:avLst/>
          </a:prstGeom>
          <a:noFill/>
          <a:ln>
            <a:noFill/>
          </a:ln>
        </p:spPr>
      </p:pic>
      <p:sp>
        <p:nvSpPr>
          <p:cNvPr id="396" name="Google Shape;396;p18"/>
          <p:cNvSpPr txBox="1"/>
          <p:nvPr/>
        </p:nvSpPr>
        <p:spPr>
          <a:xfrm>
            <a:off x="1097280" y="2423160"/>
            <a:ext cx="32232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On shift at that time</a:t>
            </a:r>
            <a:endParaRPr b="0" i="0" spc="0" sz="1300" u="none" cap="none" strike="noStrike">
              <a:solidFill>
                <a:schemeClr val="dk1"/>
              </a:solidFill>
              <a:latin typeface="Calibri"/>
              <a:ea typeface="Calibri"/>
              <a:cs typeface="Calibri"/>
              <a:sym typeface="Calibri"/>
            </a:endParaRPr>
          </a:p>
        </p:txBody>
      </p:sp>
      <p:sp>
        <p:nvSpPr>
          <p:cNvPr id="397" name="Google Shape;397;p18"/>
          <p:cNvSpPr txBox="1"/>
          <p:nvPr/>
        </p:nvSpPr>
        <p:spPr>
          <a:xfrm>
            <a:off x="594360" y="2953512"/>
            <a:ext cx="3726180" cy="77724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Set a calendar reminder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5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Put the ticket link in the invite</a:t>
            </a:r>
            <a:endParaRPr b="0" i="0" spc="0" sz="1000" u="none" cap="none" strike="noStrike">
              <a:solidFill>
                <a:schemeClr val="dk1"/>
              </a:solidFill>
              <a:latin typeface="Calibri"/>
              <a:ea typeface="Calibri"/>
              <a:cs typeface="Calibri"/>
              <a:sym typeface="Calibri"/>
            </a:endParaRPr>
          </a:p>
        </p:txBody>
      </p:sp>
      <p:sp>
        <p:nvSpPr>
          <p:cNvPr id="398" name="Google Shape;398;p18"/>
          <p:cNvSpPr/>
          <p:nvPr/>
        </p:nvSpPr>
        <p:spPr>
          <a:xfrm>
            <a:off x="4640580" y="2240280"/>
            <a:ext cx="40919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9" name="Google Shape;399;p18"/>
          <p:cNvSpPr/>
          <p:nvPr/>
        </p:nvSpPr>
        <p:spPr>
          <a:xfrm>
            <a:off x="4823460" y="242316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00" name="Google Shape;400;p18"/>
          <p:cNvPicPr preferRelativeResize="0"/>
          <p:nvPr/>
        </p:nvPicPr>
        <p:blipFill rotWithShape="1">
          <a:blip r:embed="rId5">
            <a:alphaModFix/>
          </a:blip>
          <a:srcRect b="0" l="0" r="0" t="0"/>
          <a:stretch/>
        </p:blipFill>
        <p:spPr>
          <a:xfrm>
            <a:off x="4915632" y="2515332"/>
            <a:ext cx="199705" cy="199705"/>
          </a:xfrm>
          <a:prstGeom prst="rect">
            <a:avLst/>
          </a:prstGeom>
          <a:noFill/>
          <a:ln>
            <a:noFill/>
          </a:ln>
        </p:spPr>
      </p:pic>
      <p:sp>
        <p:nvSpPr>
          <p:cNvPr id="401" name="Google Shape;401;p18"/>
          <p:cNvSpPr txBox="1"/>
          <p:nvPr/>
        </p:nvSpPr>
        <p:spPr>
          <a:xfrm>
            <a:off x="5326380" y="2423160"/>
            <a:ext cx="32232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Not on shift</a:t>
            </a:r>
            <a:endParaRPr b="0" i="0" spc="0" sz="1300" u="none" cap="none" strike="noStrike">
              <a:solidFill>
                <a:schemeClr val="dk1"/>
              </a:solidFill>
              <a:latin typeface="Calibri"/>
              <a:ea typeface="Calibri"/>
              <a:cs typeface="Calibri"/>
              <a:sym typeface="Calibri"/>
            </a:endParaRPr>
          </a:p>
        </p:txBody>
      </p:sp>
      <p:sp>
        <p:nvSpPr>
          <p:cNvPr id="402" name="Google Shape;402;p18"/>
          <p:cNvSpPr txBox="1"/>
          <p:nvPr/>
        </p:nvSpPr>
        <p:spPr>
          <a:xfrm>
            <a:off x="4823460" y="2953512"/>
            <a:ext cx="3726180" cy="77724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Log the ticket in the Callback Requests Tracker</a:t>
            </a:r>
            <a:endParaRPr b="0" i="0" spc="0" sz="1000" u="none" cap="none" strike="noStrike">
              <a:solidFill>
                <a:schemeClr val="dk1"/>
              </a:solidFill>
              <a:latin typeface="Calibri"/>
              <a:ea typeface="Calibri"/>
              <a:cs typeface="Calibri"/>
              <a:sym typeface="Calibri"/>
            </a:endParaRPr>
          </a:p>
        </p:txBody>
      </p:sp>
      <p:sp>
        <p:nvSpPr>
          <p:cNvPr id="403" name="Google Shape;403;p18"/>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04" name="Google Shape;404;p18"/>
          <p:cNvPicPr preferRelativeResize="0"/>
          <p:nvPr/>
        </p:nvPicPr>
        <p:blipFill rotWithShape="1">
          <a:blip r:embed="rId6">
            <a:alphaModFix/>
          </a:blip>
          <a:srcRect b="0" l="0" r="0" t="0"/>
          <a:stretch/>
        </p:blipFill>
        <p:spPr>
          <a:xfrm>
            <a:off x="566928" y="4133088"/>
            <a:ext cx="164592" cy="164592"/>
          </a:xfrm>
          <a:prstGeom prst="rect">
            <a:avLst/>
          </a:prstGeom>
          <a:noFill/>
          <a:ln>
            <a:noFill/>
          </a:ln>
        </p:spPr>
      </p:pic>
      <p:sp>
        <p:nvSpPr>
          <p:cNvPr id="405" name="Google Shape;405;p18"/>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two paths:  </a:t>
            </a:r>
            <a:r>
              <a:rPr b="0" i="0" lang="en-US" spc="0" sz="1000" u="none" cap="none" strike="noStrike">
                <a:solidFill>
                  <a:srgbClr val="1D1D1F"/>
                </a:solidFill>
                <a:latin typeface="Arial"/>
                <a:ea typeface="Arial"/>
                <a:cs typeface="Arial"/>
                <a:sym typeface="Arial"/>
              </a:rPr>
              <a:t>a promised callback never gets lost across a shift change.</a:t>
            </a:r>
            <a:endParaRPr b="0" i="0" spc="0" sz="1000" u="none" cap="none" strike="noStrike">
              <a:solidFill>
                <a:schemeClr val="dk1"/>
              </a:solidFill>
              <a:latin typeface="Calibri"/>
              <a:ea typeface="Calibri"/>
              <a:cs typeface="Calibri"/>
              <a:sym typeface="Calibri"/>
            </a:endParaRPr>
          </a:p>
        </p:txBody>
      </p:sp>
      <p:sp>
        <p:nvSpPr>
          <p:cNvPr id="406" name="Google Shape;406;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CALLBACK HANDLING</a:t>
            </a:r>
            <a:endParaRPr b="0" i="0" spc="0" sz="800" u="none" cap="none" strike="noStrike">
              <a:solidFill>
                <a:schemeClr val="dk1"/>
              </a:solidFill>
              <a:latin typeface="Calibri"/>
              <a:ea typeface="Calibri"/>
              <a:cs typeface="Calibri"/>
              <a:sym typeface="Calibri"/>
            </a:endParaRPr>
          </a:p>
        </p:txBody>
      </p:sp>
      <p:sp>
        <p:nvSpPr>
          <p:cNvPr id="413" name="Google Shape;413;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to send</a:t>
            </a:r>
            <a:endParaRPr b="0" i="0" spc="0" sz="2400" u="none" cap="none" strike="noStrike">
              <a:solidFill>
                <a:schemeClr val="dk1"/>
              </a:solidFill>
              <a:latin typeface="Calibri"/>
              <a:ea typeface="Calibri"/>
              <a:cs typeface="Calibri"/>
              <a:sym typeface="Calibri"/>
            </a:endParaRPr>
          </a:p>
        </p:txBody>
      </p:sp>
      <p:sp>
        <p:nvSpPr>
          <p:cNvPr id="414" name="Google Shape;414;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Adapt these samples to the customer.</a:t>
            </a:r>
            <a:endParaRPr b="0" i="0" spc="0" sz="1200" u="none" cap="none" strike="noStrike">
              <a:solidFill>
                <a:schemeClr val="dk1"/>
              </a:solidFill>
              <a:latin typeface="Calibri"/>
              <a:ea typeface="Calibri"/>
              <a:cs typeface="Calibri"/>
              <a:sym typeface="Calibri"/>
            </a:endParaRPr>
          </a:p>
        </p:txBody>
      </p:sp>
      <p:sp>
        <p:nvSpPr>
          <p:cNvPr id="415" name="Google Shape;415;p19"/>
          <p:cNvSpPr/>
          <p:nvPr/>
        </p:nvSpPr>
        <p:spPr>
          <a:xfrm>
            <a:off x="411480" y="1280160"/>
            <a:ext cx="4091940" cy="3017520"/>
          </a:xfrm>
          <a:prstGeom prst="roundRect">
            <a:avLst>
              <a:gd fmla="val 24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p:nvPr/>
        </p:nvSpPr>
        <p:spPr>
          <a:xfrm>
            <a:off x="594360" y="1444752"/>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17" name="Google Shape;417;p19"/>
          <p:cNvPicPr preferRelativeResize="0"/>
          <p:nvPr/>
        </p:nvPicPr>
        <p:blipFill rotWithShape="1">
          <a:blip r:embed="rId3">
            <a:alphaModFix/>
          </a:blip>
          <a:srcRect b="0" l="0" r="0" t="0"/>
          <a:stretch/>
        </p:blipFill>
        <p:spPr>
          <a:xfrm>
            <a:off x="686532" y="1536924"/>
            <a:ext cx="199705" cy="199705"/>
          </a:xfrm>
          <a:prstGeom prst="rect">
            <a:avLst/>
          </a:prstGeom>
          <a:noFill/>
          <a:ln>
            <a:noFill/>
          </a:ln>
        </p:spPr>
      </p:pic>
      <p:sp>
        <p:nvSpPr>
          <p:cNvPr id="418" name="Google Shape;418;p19"/>
          <p:cNvSpPr txBox="1"/>
          <p:nvPr/>
        </p:nvSpPr>
        <p:spPr>
          <a:xfrm>
            <a:off x="1097280" y="1444752"/>
            <a:ext cx="326898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Email: outside business hours</a:t>
            </a:r>
            <a:endParaRPr b="0" i="0" spc="0" sz="1250" u="none" cap="none" strike="noStrike">
              <a:solidFill>
                <a:schemeClr val="dk1"/>
              </a:solidFill>
              <a:latin typeface="Calibri"/>
              <a:ea typeface="Calibri"/>
              <a:cs typeface="Calibri"/>
              <a:sym typeface="Calibri"/>
            </a:endParaRPr>
          </a:p>
        </p:txBody>
      </p:sp>
      <p:sp>
        <p:nvSpPr>
          <p:cNvPr id="419" name="Google Shape;419;p19"/>
          <p:cNvSpPr/>
          <p:nvPr/>
        </p:nvSpPr>
        <p:spPr>
          <a:xfrm>
            <a:off x="594360" y="1965960"/>
            <a:ext cx="3726180" cy="2148840"/>
          </a:xfrm>
          <a:prstGeom prst="roundRect">
            <a:avLst>
              <a:gd fmla="val 3404"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758952" y="2075688"/>
            <a:ext cx="3396996" cy="1965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"Hi &lt;&lt;Name&gt;&gt;, I'd be happy to hop on a call to discuss this with you. Please let me know what days and times generally work best for this week. In the meantime, I pulled up your account and &lt;&lt;address surface-level issues/resolutions&gt;&gt;. Let me know if that fully resolves your concerns! Otherwise, just reply with your availability and I'll get you scheduled."</a:t>
            </a:r>
            <a:endParaRPr b="0" i="0" spc="0" sz="950" u="none" cap="none" strike="noStrike">
              <a:solidFill>
                <a:schemeClr val="dk1"/>
              </a:solidFill>
              <a:latin typeface="Calibri"/>
              <a:ea typeface="Calibri"/>
              <a:cs typeface="Calibri"/>
              <a:sym typeface="Calibri"/>
            </a:endParaRPr>
          </a:p>
        </p:txBody>
      </p:sp>
      <p:sp>
        <p:nvSpPr>
          <p:cNvPr id="421" name="Google Shape;421;p19"/>
          <p:cNvSpPr/>
          <p:nvPr/>
        </p:nvSpPr>
        <p:spPr>
          <a:xfrm>
            <a:off x="4640580" y="1280160"/>
            <a:ext cx="4091940" cy="3017520"/>
          </a:xfrm>
          <a:prstGeom prst="roundRect">
            <a:avLst>
              <a:gd fmla="val 24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2" name="Google Shape;422;p19"/>
          <p:cNvSpPr/>
          <p:nvPr/>
        </p:nvSpPr>
        <p:spPr>
          <a:xfrm>
            <a:off x="4823460" y="1444752"/>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3" name="Google Shape;423;p19"/>
          <p:cNvPicPr preferRelativeResize="0"/>
          <p:nvPr/>
        </p:nvPicPr>
        <p:blipFill rotWithShape="1">
          <a:blip r:embed="rId4">
            <a:alphaModFix/>
          </a:blip>
          <a:srcRect b="0" l="0" r="0" t="0"/>
          <a:stretch/>
        </p:blipFill>
        <p:spPr>
          <a:xfrm>
            <a:off x="4915632" y="1536924"/>
            <a:ext cx="199705" cy="199705"/>
          </a:xfrm>
          <a:prstGeom prst="rect">
            <a:avLst/>
          </a:prstGeom>
          <a:noFill/>
          <a:ln>
            <a:noFill/>
          </a:ln>
        </p:spPr>
      </p:pic>
      <p:sp>
        <p:nvSpPr>
          <p:cNvPr id="424" name="Google Shape;424;p19"/>
          <p:cNvSpPr txBox="1"/>
          <p:nvPr/>
        </p:nvSpPr>
        <p:spPr>
          <a:xfrm>
            <a:off x="5326380" y="1444752"/>
            <a:ext cx="326898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Text: missed callback</a:t>
            </a:r>
            <a:endParaRPr b="0" i="0" spc="0" sz="1250" u="none" cap="none" strike="noStrike">
              <a:solidFill>
                <a:schemeClr val="dk1"/>
              </a:solidFill>
              <a:latin typeface="Calibri"/>
              <a:ea typeface="Calibri"/>
              <a:cs typeface="Calibri"/>
              <a:sym typeface="Calibri"/>
            </a:endParaRPr>
          </a:p>
        </p:txBody>
      </p:sp>
      <p:sp>
        <p:nvSpPr>
          <p:cNvPr id="425" name="Google Shape;425;p19"/>
          <p:cNvSpPr/>
          <p:nvPr/>
        </p:nvSpPr>
        <p:spPr>
          <a:xfrm>
            <a:off x="4823460" y="1965960"/>
            <a:ext cx="3726180" cy="2148840"/>
          </a:xfrm>
          <a:prstGeom prst="roundRect">
            <a:avLst>
              <a:gd fmla="val 3404"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6" name="Google Shape;426;p19"/>
          <p:cNvSpPr txBox="1"/>
          <p:nvPr/>
        </p:nvSpPr>
        <p:spPr>
          <a:xfrm>
            <a:off x="4988052" y="2075688"/>
            <a:ext cx="3396996" cy="1965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"This is &lt;&lt;Name&gt;&gt; from Homeaglow. I tried calling but it went to voicemail — no worries, I've already addressed your concern over email. If you'd still like to hop on a call, just text me back with your availability and we'll set it up."</a:t>
            </a:r>
            <a:endParaRPr b="0" i="0" spc="0" sz="950" u="none" cap="none" strike="noStrike">
              <a:solidFill>
                <a:schemeClr val="dk1"/>
              </a:solidFill>
              <a:latin typeface="Calibri"/>
              <a:ea typeface="Calibri"/>
              <a:cs typeface="Calibri"/>
              <a:sym typeface="Calibri"/>
            </a:endParaRPr>
          </a:p>
        </p:txBody>
      </p:sp>
      <p:sp>
        <p:nvSpPr>
          <p:cNvPr id="427" name="Google Shape;427;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20"/>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TOPIC 03</a:t>
            </a:r>
            <a:endParaRPr b="0" i="0" spc="0" sz="800" u="none" cap="none" strike="noStrike">
              <a:solidFill>
                <a:schemeClr val="dk1"/>
              </a:solidFill>
              <a:latin typeface="Calibri"/>
              <a:ea typeface="Calibri"/>
              <a:cs typeface="Calibri"/>
              <a:sym typeface="Calibri"/>
            </a:endParaRPr>
          </a:p>
        </p:txBody>
      </p:sp>
      <p:sp>
        <p:nvSpPr>
          <p:cNvPr id="434" name="Google Shape;434;p20"/>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 Price vs CP Pay</a:t>
            </a:r>
            <a:endParaRPr b="0" i="0" spc="0" sz="2800" u="none" cap="none" strike="noStrike">
              <a:solidFill>
                <a:schemeClr val="dk1"/>
              </a:solidFill>
              <a:latin typeface="Calibri"/>
              <a:ea typeface="Calibri"/>
              <a:cs typeface="Calibri"/>
              <a:sym typeface="Calibri"/>
            </a:endParaRPr>
          </a:p>
        </p:txBody>
      </p:sp>
      <p:sp>
        <p:nvSpPr>
          <p:cNvPr id="435" name="Google Shape;435;p20"/>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What a customer is charged, and what the cleaner is paid. Related, but calculated separately.</a:t>
            </a:r>
            <a:endParaRPr b="0" i="0" spc="0" sz="1150" u="none" cap="none" strike="noStrike">
              <a:solidFill>
                <a:schemeClr val="dk1"/>
              </a:solidFill>
              <a:latin typeface="Calibri"/>
              <a:ea typeface="Calibri"/>
              <a:cs typeface="Calibri"/>
              <a:sym typeface="Calibri"/>
            </a:endParaRPr>
          </a:p>
        </p:txBody>
      </p:sp>
      <p:sp>
        <p:nvSpPr>
          <p:cNvPr id="436" name="Google Shape;436;p20"/>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37" name="Google Shape;437;p20"/>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38" name="Google Shape;438;p20"/>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39" name="Google Shape;439;p20"/>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three pricing cohorts</a:t>
            </a:r>
            <a:endParaRPr b="0" i="0" spc="0" sz="1050" u="none" cap="none" strike="noStrike">
              <a:solidFill>
                <a:schemeClr val="dk1"/>
              </a:solidFill>
              <a:latin typeface="Calibri"/>
              <a:ea typeface="Calibri"/>
              <a:cs typeface="Calibri"/>
              <a:sym typeface="Calibri"/>
            </a:endParaRPr>
          </a:p>
        </p:txBody>
      </p:sp>
      <p:sp>
        <p:nvSpPr>
          <p:cNvPr id="440" name="Google Shape;440;p20"/>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1" name="Google Shape;441;p20"/>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42" name="Google Shape;442;p20"/>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the price is built</a:t>
            </a:r>
            <a:endParaRPr b="0" i="0" spc="0" sz="1050" u="none" cap="none" strike="noStrike">
              <a:solidFill>
                <a:schemeClr val="dk1"/>
              </a:solidFill>
              <a:latin typeface="Calibri"/>
              <a:ea typeface="Calibri"/>
              <a:cs typeface="Calibri"/>
              <a:sym typeface="Calibri"/>
            </a:endParaRPr>
          </a:p>
        </p:txBody>
      </p:sp>
      <p:sp>
        <p:nvSpPr>
          <p:cNvPr id="443" name="Google Shape;443;p20"/>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4" name="Google Shape;444;p20"/>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45" name="Google Shape;445;p20"/>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the cleaner is paid</a:t>
            </a:r>
            <a:endParaRPr b="0" i="0" spc="0" sz="1050" u="none" cap="none" strike="noStrike">
              <a:solidFill>
                <a:schemeClr val="dk1"/>
              </a:solidFill>
              <a:latin typeface="Calibri"/>
              <a:ea typeface="Calibri"/>
              <a:cs typeface="Calibri"/>
              <a:sym typeface="Calibri"/>
            </a:endParaRPr>
          </a:p>
        </p:txBody>
      </p:sp>
      <p:sp>
        <p:nvSpPr>
          <p:cNvPr id="446" name="Google Shape;446;p20"/>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7" name="Google Shape;447;p20"/>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448" name="Google Shape;448;p20"/>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a "platform fee" shows up</a:t>
            </a:r>
            <a:endParaRPr b="0" i="0" spc="0" sz="1050" u="none" cap="none" strike="noStrike">
              <a:solidFill>
                <a:schemeClr val="dk1"/>
              </a:solidFill>
              <a:latin typeface="Calibri"/>
              <a:ea typeface="Calibri"/>
              <a:cs typeface="Calibri"/>
              <a:sym typeface="Calibri"/>
            </a:endParaRPr>
          </a:p>
        </p:txBody>
      </p:sp>
      <p:sp>
        <p:nvSpPr>
          <p:cNvPr id="449" name="Google Shape;449;p20"/>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_pay.png" id="451" name="Google Shape;451;p20"/>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452" name="Google Shape;452;p20"/>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3" name="Google Shape;453;p20"/>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5" name="Google Shape;455;p20"/>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6" name="Google Shape;456;p20"/>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7" name="Google Shape;457;p20"/>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465" name="Google Shape;465;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Two separate calculations</a:t>
            </a:r>
            <a:endParaRPr b="0" i="0" spc="0" sz="2400" u="none" cap="none" strike="noStrike">
              <a:solidFill>
                <a:schemeClr val="dk1"/>
              </a:solidFill>
              <a:latin typeface="Calibri"/>
              <a:ea typeface="Calibri"/>
              <a:cs typeface="Calibri"/>
              <a:sym typeface="Calibri"/>
            </a:endParaRPr>
          </a:p>
        </p:txBody>
      </p:sp>
      <p:sp>
        <p:nvSpPr>
          <p:cNvPr id="466" name="Google Shape;466;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You can't judge whether a charge is fair until you know how it's built.</a:t>
            </a:r>
            <a:endParaRPr b="0" i="0" spc="0" sz="1200" u="none" cap="none" strike="noStrike">
              <a:solidFill>
                <a:schemeClr val="dk1"/>
              </a:solidFill>
              <a:latin typeface="Calibri"/>
              <a:ea typeface="Calibri"/>
              <a:cs typeface="Calibri"/>
              <a:sym typeface="Calibri"/>
            </a:endParaRPr>
          </a:p>
        </p:txBody>
      </p:sp>
      <p:sp>
        <p:nvSpPr>
          <p:cNvPr id="467" name="Google Shape;467;p21"/>
          <p:cNvSpPr/>
          <p:nvPr/>
        </p:nvSpPr>
        <p:spPr>
          <a:xfrm>
            <a:off x="411480" y="1371600"/>
            <a:ext cx="40919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8" name="Google Shape;468;p21"/>
          <p:cNvSpPr/>
          <p:nvPr/>
        </p:nvSpPr>
        <p:spPr>
          <a:xfrm>
            <a:off x="576072" y="15361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69" name="Google Shape;469;p21"/>
          <p:cNvPicPr preferRelativeResize="0"/>
          <p:nvPr/>
        </p:nvPicPr>
        <p:blipFill rotWithShape="1">
          <a:blip r:embed="rId3">
            <a:alphaModFix/>
          </a:blip>
          <a:srcRect b="0" l="0" r="0" t="0"/>
          <a:stretch/>
        </p:blipFill>
        <p:spPr>
          <a:xfrm>
            <a:off x="655076" y="1615196"/>
            <a:ext cx="171176" cy="171176"/>
          </a:xfrm>
          <a:prstGeom prst="rect">
            <a:avLst/>
          </a:prstGeom>
          <a:noFill/>
          <a:ln>
            <a:noFill/>
          </a:ln>
        </p:spPr>
      </p:pic>
      <p:sp>
        <p:nvSpPr>
          <p:cNvPr id="470" name="Google Shape;470;p21"/>
          <p:cNvSpPr txBox="1"/>
          <p:nvPr/>
        </p:nvSpPr>
        <p:spPr>
          <a:xfrm>
            <a:off x="576072" y="197510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Customer price</a:t>
            </a:r>
            <a:endParaRPr b="0" i="0" spc="0" sz="120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2267712"/>
            <a:ext cx="37627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cleaner's rate plus platform fees and taxes that don't go to the cleaner.</a:t>
            </a:r>
            <a:endParaRPr b="0" i="0" spc="0" sz="950" u="none" cap="none" strike="noStrike">
              <a:solidFill>
                <a:schemeClr val="dk1"/>
              </a:solidFill>
              <a:latin typeface="Calibri"/>
              <a:ea typeface="Calibri"/>
              <a:cs typeface="Calibri"/>
              <a:sym typeface="Calibri"/>
            </a:endParaRPr>
          </a:p>
        </p:txBody>
      </p:sp>
      <p:sp>
        <p:nvSpPr>
          <p:cNvPr id="472" name="Google Shape;472;p21"/>
          <p:cNvSpPr/>
          <p:nvPr/>
        </p:nvSpPr>
        <p:spPr>
          <a:xfrm>
            <a:off x="4640580" y="1371600"/>
            <a:ext cx="40919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805172" y="15361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74" name="Google Shape;474;p21"/>
          <p:cNvPicPr preferRelativeResize="0"/>
          <p:nvPr/>
        </p:nvPicPr>
        <p:blipFill rotWithShape="1">
          <a:blip r:embed="rId4">
            <a:alphaModFix/>
          </a:blip>
          <a:srcRect b="0" l="0" r="0" t="0"/>
          <a:stretch/>
        </p:blipFill>
        <p:spPr>
          <a:xfrm>
            <a:off x="4884176" y="1615196"/>
            <a:ext cx="171176" cy="171176"/>
          </a:xfrm>
          <a:prstGeom prst="rect">
            <a:avLst/>
          </a:prstGeom>
          <a:noFill/>
          <a:ln>
            <a:noFill/>
          </a:ln>
        </p:spPr>
      </p:pic>
      <p:sp>
        <p:nvSpPr>
          <p:cNvPr id="475" name="Google Shape;475;p21"/>
          <p:cNvSpPr txBox="1"/>
          <p:nvPr/>
        </p:nvSpPr>
        <p:spPr>
          <a:xfrm>
            <a:off x="4805172" y="197510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Cleaner pay</a:t>
            </a:r>
            <a:endParaRPr b="0" i="0" spc="0" sz="1200" u="none" cap="none" strike="noStrike">
              <a:solidFill>
                <a:schemeClr val="dk1"/>
              </a:solidFill>
              <a:latin typeface="Calibri"/>
              <a:ea typeface="Calibri"/>
              <a:cs typeface="Calibri"/>
              <a:sym typeface="Calibri"/>
            </a:endParaRPr>
          </a:p>
        </p:txBody>
      </p:sp>
      <p:sp>
        <p:nvSpPr>
          <p:cNvPr id="476" name="Google Shape;476;p21"/>
          <p:cNvSpPr txBox="1"/>
          <p:nvPr/>
        </p:nvSpPr>
        <p:spPr>
          <a:xfrm>
            <a:off x="4805172" y="2267712"/>
            <a:ext cx="37627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Based on the cleaner's own hourly rate and their operating model.</a:t>
            </a:r>
            <a:endParaRPr b="0" i="0" spc="0" sz="950" u="none" cap="none" strike="noStrike">
              <a:solidFill>
                <a:schemeClr val="dk1"/>
              </a:solidFill>
              <a:latin typeface="Calibri"/>
              <a:ea typeface="Calibri"/>
              <a:cs typeface="Calibri"/>
              <a:sym typeface="Calibri"/>
            </a:endParaRPr>
          </a:p>
        </p:txBody>
      </p:sp>
      <p:sp>
        <p:nvSpPr>
          <p:cNvPr id="477" name="Google Shape;477;p21"/>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78" name="Google Shape;478;p21"/>
          <p:cNvPicPr preferRelativeResize="0"/>
          <p:nvPr/>
        </p:nvPicPr>
        <p:blipFill rotWithShape="1">
          <a:blip r:embed="rId5">
            <a:alphaModFix/>
          </a:blip>
          <a:srcRect b="0" l="0" r="0" t="0"/>
          <a:stretch/>
        </p:blipFill>
        <p:spPr>
          <a:xfrm>
            <a:off x="566928" y="3401568"/>
            <a:ext cx="164592" cy="164592"/>
          </a:xfrm>
          <a:prstGeom prst="rect">
            <a:avLst/>
          </a:prstGeom>
          <a:noFill/>
          <a:ln>
            <a:noFill/>
          </a:ln>
        </p:spPr>
      </p:pic>
      <p:sp>
        <p:nvSpPr>
          <p:cNvPr id="479" name="Google Shape;479;p21"/>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Used everywhere:  </a:t>
            </a:r>
            <a:r>
              <a:rPr b="0" i="0" lang="en-US" spc="0" sz="1000" u="none" cap="none" strike="noStrike">
                <a:solidFill>
                  <a:srgbClr val="1D1D1F"/>
                </a:solidFill>
                <a:latin typeface="Arial"/>
                <a:ea typeface="Arial"/>
                <a:cs typeface="Arial"/>
                <a:sym typeface="Arial"/>
              </a:rPr>
              <a:t>Overcharged Hours, False Invoice and ETF calculations all start from these formulas.</a:t>
            </a:r>
            <a:endParaRPr b="0" i="0" spc="0" sz="1000" u="none" cap="none" strike="noStrike">
              <a:solidFill>
                <a:schemeClr val="dk1"/>
              </a:solidFill>
              <a:latin typeface="Calibri"/>
              <a:ea typeface="Calibri"/>
              <a:cs typeface="Calibri"/>
              <a:sym typeface="Calibri"/>
            </a:endParaRPr>
          </a:p>
        </p:txBody>
      </p:sp>
      <p:sp>
        <p:nvSpPr>
          <p:cNvPr id="480" name="Google Shape;480;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487" name="Google Shape;487;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pricing cohorts</a:t>
            </a:r>
            <a:endParaRPr b="0" i="0" spc="0" sz="2400" u="none" cap="none" strike="noStrike">
              <a:solidFill>
                <a:schemeClr val="dk1"/>
              </a:solidFill>
              <a:latin typeface="Calibri"/>
              <a:ea typeface="Calibri"/>
              <a:cs typeface="Calibri"/>
              <a:sym typeface="Calibri"/>
            </a:endParaRPr>
          </a:p>
        </p:txBody>
      </p:sp>
      <p:sp>
        <p:nvSpPr>
          <p:cNvPr id="488" name="Google Shape;488;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What a customer pays on top of the cleaner's rate depends on their membership.</a:t>
            </a:r>
            <a:endParaRPr b="0" i="0" spc="0" sz="1200" u="none" cap="none" strike="noStrike">
              <a:solidFill>
                <a:schemeClr val="dk1"/>
              </a:solidFill>
              <a:latin typeface="Calibri"/>
              <a:ea typeface="Calibri"/>
              <a:cs typeface="Calibri"/>
              <a:sym typeface="Calibri"/>
            </a:endParaRPr>
          </a:p>
        </p:txBody>
      </p:sp>
      <p:graphicFrame>
        <p:nvGraphicFramePr>
          <p:cNvPr id="489" name="Google Shape;489;p22"/>
          <p:cNvGraphicFramePr/>
          <p:nvPr/>
        </p:nvGraphicFramePr>
        <p:xfrm>
          <a:off x="411480" y="1371600"/>
          <a:ext cx="3000000" cy="3000000"/>
        </p:xfrm>
        <a:graphic>
          <a:graphicData uri="http://schemas.openxmlformats.org/drawingml/2006/table">
            <a:tbl>
              <a:tblPr>
                <a:noFill/>
                <a:tableStyleId>{9D323186-7024-4D31-ABB8-6DE780CD1503}</a:tableStyleId>
              </a:tblPr>
              <a:tblGrid>
                <a:gridCol w="2560325"/>
                <a:gridCol w="1920250"/>
                <a:gridCol w="1920250"/>
                <a:gridCol w="1920250"/>
              </a:tblGrid>
              <a:tr h="502925">
                <a:tc>
                  <a:txBody>
                    <a:bodyPr/>
                    <a:lstStyle/>
                    <a:p>
                      <a:pPr indent="0" lvl="0" marL="0" marR="0" rtl="0" algn="l">
                        <a:lnSpc>
                          <a:spcPct val="100000"/>
                        </a:lnSpc>
                        <a:spcBef>
                          <a:spcPts val="0"/>
                        </a:spcBef>
                        <a:spcAft>
                          <a:spcPts val="0"/>
                        </a:spcAft>
                        <a:buClr>
                          <a:srgbClr val="0B7A6F"/>
                        </a:buClr>
                        <a:buSzPts val="1100"/>
                        <a:buFont typeface="Play"/>
                        <a:buNone/>
                      </a:pPr>
                      <a:r>
                        <a:rPr b="1" lang="en-US" spc="0" sz="1100" u="none" cap="none" strike="noStrike">
                          <a:solidFill>
                            <a:srgbClr val="0B7A6F"/>
                          </a:solidFill>
                          <a:latin typeface="Play"/>
                          <a:ea typeface="Play"/>
                          <a:cs typeface="Play"/>
                          <a:sym typeface="Play"/>
                        </a:rPr>
                        <a:t>Cohort</a:t>
                      </a:r>
                      <a:endParaRPr spc="0"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100"/>
                        <a:buFont typeface="Play"/>
                        <a:buNone/>
                      </a:pPr>
                      <a:r>
                        <a:rPr b="1" lang="en-US" spc="0" sz="1100" u="none" cap="none" strike="noStrike">
                          <a:solidFill>
                            <a:srgbClr val="0B7A6F"/>
                          </a:solidFill>
                          <a:latin typeface="Play"/>
                          <a:ea typeface="Play"/>
                          <a:cs typeface="Play"/>
                          <a:sym typeface="Play"/>
                        </a:rPr>
                        <a:t>Platform fee / hr</a:t>
                      </a:r>
                      <a:endParaRPr spc="0"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100"/>
                        <a:buFont typeface="Play"/>
                        <a:buNone/>
                      </a:pPr>
                      <a:r>
                        <a:rPr b="1" lang="en-US" spc="0" sz="1100" u="none" cap="none" strike="noStrike">
                          <a:solidFill>
                            <a:srgbClr val="0B7A6F"/>
                          </a:solidFill>
                          <a:latin typeface="Play"/>
                          <a:ea typeface="Play"/>
                          <a:cs typeface="Play"/>
                          <a:sym typeface="Play"/>
                        </a:rPr>
                        <a:t>Processing fee</a:t>
                      </a:r>
                      <a:endParaRPr spc="0"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100"/>
                        <a:buFont typeface="Play"/>
                        <a:buNone/>
                      </a:pPr>
                      <a:r>
                        <a:rPr b="1" lang="en-US" spc="0" sz="1100" u="none" cap="none" strike="noStrike">
                          <a:solidFill>
                            <a:srgbClr val="0B7A6F"/>
                          </a:solidFill>
                          <a:latin typeface="Play"/>
                          <a:ea typeface="Play"/>
                          <a:cs typeface="Play"/>
                          <a:sym typeface="Play"/>
                        </a:rPr>
                        <a:t>Sales tax</a:t>
                      </a:r>
                      <a:endParaRPr spc="0" sz="11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502925">
                <a:tc>
                  <a:txBody>
                    <a:bodyPr/>
                    <a:lstStyle/>
                    <a:p>
                      <a:pPr indent="0" lvl="0" marL="0" marR="0" rtl="0" algn="l">
                        <a:lnSpc>
                          <a:spcPct val="100000"/>
                        </a:lnSpc>
                        <a:spcBef>
                          <a:spcPts val="0"/>
                        </a:spcBef>
                        <a:spcAft>
                          <a:spcPts val="0"/>
                        </a:spcAft>
                        <a:buClr>
                          <a:srgbClr val="1D1D1F"/>
                        </a:buClr>
                        <a:buSzPts val="1100"/>
                        <a:buFont typeface="Arial"/>
                        <a:buNone/>
                      </a:pPr>
                      <a:r>
                        <a:rPr b="1" lang="en-US" spc="0" sz="1100" u="none" cap="none" strike="noStrike">
                          <a:solidFill>
                            <a:srgbClr val="1D1D1F"/>
                          </a:solidFill>
                          <a:latin typeface="Arial"/>
                          <a:ea typeface="Arial"/>
                          <a:cs typeface="Arial"/>
                          <a:sym typeface="Arial"/>
                        </a:rPr>
                        <a:t>Non-FC customer</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US" spc="0" sz="1100" u="none" cap="none" strike="noStrike">
                          <a:solidFill>
                            <a:srgbClr val="6E6E73"/>
                          </a:solidFill>
                          <a:latin typeface="Arial"/>
                          <a:ea typeface="Arial"/>
                          <a:cs typeface="Arial"/>
                          <a:sym typeface="Arial"/>
                        </a:rPr>
                        <a:t>$15.00</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US" spc="0" sz="1100" u="none" cap="none" strike="noStrike">
                          <a:solidFill>
                            <a:srgbClr val="6E6E73"/>
                          </a:solidFill>
                          <a:latin typeface="Arial"/>
                          <a:ea typeface="Arial"/>
                          <a:cs typeface="Arial"/>
                          <a:sym typeface="Arial"/>
                        </a:rPr>
                        <a:t>5%</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US" spc="0" sz="1100" u="none" cap="none" strike="noStrike">
                          <a:solidFill>
                            <a:srgbClr val="6E6E73"/>
                          </a:solidFill>
                          <a:latin typeface="Arial"/>
                          <a:ea typeface="Arial"/>
                          <a:cs typeface="Arial"/>
                          <a:sym typeface="Arial"/>
                        </a:rPr>
                        <a:t>Varies by state</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02925">
                <a:tc>
                  <a:txBody>
                    <a:bodyPr/>
                    <a:lstStyle/>
                    <a:p>
                      <a:pPr indent="0" lvl="0" marL="0" marR="0" rtl="0" algn="l">
                        <a:lnSpc>
                          <a:spcPct val="100000"/>
                        </a:lnSpc>
                        <a:spcBef>
                          <a:spcPts val="0"/>
                        </a:spcBef>
                        <a:spcAft>
                          <a:spcPts val="0"/>
                        </a:spcAft>
                        <a:buClr>
                          <a:srgbClr val="1D1D1F"/>
                        </a:buClr>
                        <a:buSzPts val="1100"/>
                        <a:buFont typeface="Arial"/>
                        <a:buNone/>
                      </a:pPr>
                      <a:r>
                        <a:rPr b="1" lang="en-US" spc="0" sz="1100" u="none" cap="none" strike="noStrike">
                          <a:solidFill>
                            <a:srgbClr val="1D1D1F"/>
                          </a:solidFill>
                          <a:latin typeface="Arial"/>
                          <a:ea typeface="Arial"/>
                          <a:cs typeface="Arial"/>
                          <a:sym typeface="Arial"/>
                        </a:rPr>
                        <a:t>FC customer</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US" spc="0" sz="1100" u="none" cap="none" strike="noStrike">
                          <a:solidFill>
                            <a:srgbClr val="6E6E73"/>
                          </a:solidFill>
                          <a:latin typeface="Arial"/>
                          <a:ea typeface="Arial"/>
                          <a:cs typeface="Arial"/>
                          <a:sym typeface="Arial"/>
                        </a:rPr>
                        <a:t>None</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US" spc="0" sz="1100" u="none" cap="none" strike="noStrike">
                          <a:solidFill>
                            <a:srgbClr val="6E6E73"/>
                          </a:solidFill>
                          <a:latin typeface="Arial"/>
                          <a:ea typeface="Arial"/>
                          <a:cs typeface="Arial"/>
                          <a:sym typeface="Arial"/>
                        </a:rPr>
                        <a:t>15%</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US" spc="0" sz="1100" u="none" cap="none" strike="noStrike">
                          <a:solidFill>
                            <a:srgbClr val="6E6E73"/>
                          </a:solidFill>
                          <a:latin typeface="Arial"/>
                          <a:ea typeface="Arial"/>
                          <a:cs typeface="Arial"/>
                          <a:sym typeface="Arial"/>
                        </a:rPr>
                        <a:t>Varies by state</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02925">
                <a:tc>
                  <a:txBody>
                    <a:bodyPr/>
                    <a:lstStyle/>
                    <a:p>
                      <a:pPr indent="0" lvl="0" marL="0" marR="0" rtl="0" algn="l">
                        <a:lnSpc>
                          <a:spcPct val="100000"/>
                        </a:lnSpc>
                        <a:spcBef>
                          <a:spcPts val="0"/>
                        </a:spcBef>
                        <a:spcAft>
                          <a:spcPts val="0"/>
                        </a:spcAft>
                        <a:buClr>
                          <a:srgbClr val="1D1D1F"/>
                        </a:buClr>
                        <a:buSzPts val="1100"/>
                        <a:buFont typeface="Arial"/>
                        <a:buNone/>
                      </a:pPr>
                      <a:r>
                        <a:rPr b="1" lang="en-US" spc="0" sz="1100" u="none" cap="none" strike="noStrike">
                          <a:solidFill>
                            <a:srgbClr val="1D1D1F"/>
                          </a:solidFill>
                          <a:latin typeface="Arial"/>
                          <a:ea typeface="Arial"/>
                          <a:cs typeface="Arial"/>
                          <a:sym typeface="Arial"/>
                        </a:rPr>
                        <a:t>Deactivated FC customer</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US" spc="0" sz="1100" u="none" cap="none" strike="noStrike">
                          <a:solidFill>
                            <a:srgbClr val="6E6E73"/>
                          </a:solidFill>
                          <a:latin typeface="Arial"/>
                          <a:ea typeface="Arial"/>
                          <a:cs typeface="Arial"/>
                          <a:sym typeface="Arial"/>
                        </a:rPr>
                        <a:t>$30.00</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US" spc="0" sz="1100" u="none" cap="none" strike="noStrike">
                          <a:solidFill>
                            <a:srgbClr val="6E6E73"/>
                          </a:solidFill>
                          <a:latin typeface="Arial"/>
                          <a:ea typeface="Arial"/>
                          <a:cs typeface="Arial"/>
                          <a:sym typeface="Arial"/>
                        </a:rPr>
                        <a:t>5%</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100"/>
                        <a:buFont typeface="Arial"/>
                        <a:buNone/>
                      </a:pPr>
                      <a:r>
                        <a:rPr lang="en-US" spc="0" sz="1100" u="none" cap="none" strike="noStrike">
                          <a:solidFill>
                            <a:srgbClr val="6E6E73"/>
                          </a:solidFill>
                          <a:latin typeface="Arial"/>
                          <a:ea typeface="Arial"/>
                          <a:cs typeface="Arial"/>
                          <a:sym typeface="Arial"/>
                        </a:rPr>
                        <a:t>Varies by state</a:t>
                      </a:r>
                      <a:endParaRPr spc="0" sz="11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490" name="Google Shape;490;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5" name="Shape 495"/>
        <p:cNvGrpSpPr/>
        <p:nvPr/>
      </p:nvGrpSpPr>
      <p:grpSpPr>
        <a:xfrm>
          <a:off x="0" y="0"/>
          <a:ext cx="0" cy="0"/>
          <a:chOff x="0" y="0"/>
          <a:chExt cx="0" cy="0"/>
        </a:xfrm>
      </p:grpSpPr>
      <p:sp>
        <p:nvSpPr>
          <p:cNvPr id="496" name="Google Shape;496;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497" name="Google Shape;497;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How the cleaning price is built</a:t>
            </a:r>
            <a:endParaRPr b="0" i="0" spc="0" sz="2400" u="none" cap="none" strike="noStrike">
              <a:solidFill>
                <a:schemeClr val="dk1"/>
              </a:solidFill>
              <a:latin typeface="Calibri"/>
              <a:ea typeface="Calibri"/>
              <a:cs typeface="Calibri"/>
              <a:sym typeface="Calibri"/>
            </a:endParaRPr>
          </a:p>
        </p:txBody>
      </p:sp>
      <p:sp>
        <p:nvSpPr>
          <p:cNvPr id="498" name="Google Shape;498;p23"/>
          <p:cNvSpPr/>
          <p:nvPr/>
        </p:nvSpPr>
        <p:spPr>
          <a:xfrm>
            <a:off x="411480" y="1234440"/>
            <a:ext cx="8321040" cy="1371600"/>
          </a:xfrm>
          <a:prstGeom prst="roundRect">
            <a:avLst>
              <a:gd fmla="val 5333"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3"/>
          <p:cNvSpPr txBox="1"/>
          <p:nvPr/>
        </p:nvSpPr>
        <p:spPr>
          <a:xfrm>
            <a:off x="685800" y="137160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CLEANING PRICE</a:t>
            </a:r>
            <a:endParaRPr b="0" i="0" spc="0" sz="800" u="none" cap="none" strike="noStrike">
              <a:solidFill>
                <a:schemeClr val="dk1"/>
              </a:solidFill>
              <a:latin typeface="Calibri"/>
              <a:ea typeface="Calibri"/>
              <a:cs typeface="Calibri"/>
              <a:sym typeface="Calibri"/>
            </a:endParaRPr>
          </a:p>
        </p:txBody>
      </p:sp>
      <p:sp>
        <p:nvSpPr>
          <p:cNvPr id="500" name="Google Shape;500;p23"/>
          <p:cNvSpPr txBox="1"/>
          <p:nvPr/>
        </p:nvSpPr>
        <p:spPr>
          <a:xfrm>
            <a:off x="685800" y="1627632"/>
            <a:ext cx="786384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600"/>
              <a:buFont typeface="Play"/>
              <a:buNone/>
            </a:pPr>
            <a:r>
              <a:rPr b="1" i="0" lang="en-US" spc="0" sz="1600" u="none" cap="none" strike="noStrike">
                <a:solidFill>
                  <a:srgbClr val="FFFFFF"/>
                </a:solidFill>
                <a:latin typeface="Play"/>
                <a:ea typeface="Play"/>
                <a:cs typeface="Play"/>
                <a:sym typeface="Play"/>
              </a:rPr>
              <a:t>(CP hourly rate + Platform hourly rate) × Job duration</a:t>
            </a:r>
            <a:endParaRPr b="0" i="0" spc="0" sz="16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600"/>
              <a:buFont typeface="Play"/>
              <a:buNone/>
            </a:pPr>
            <a:r>
              <a:rPr b="1" i="0" lang="en-US" spc="0" sz="1600" u="none" cap="none" strike="noStrike">
                <a:solidFill>
                  <a:srgbClr val="FFFFFF"/>
                </a:solidFill>
                <a:latin typeface="Play"/>
                <a:ea typeface="Play"/>
                <a:cs typeface="Play"/>
                <a:sym typeface="Play"/>
              </a:rPr>
              <a:t>+ Processing fee + Sales tax + Premium fee</a:t>
            </a:r>
            <a:endParaRPr b="0" i="0" spc="0" sz="1600" u="none" cap="none" strike="noStrike">
              <a:solidFill>
                <a:schemeClr val="dk1"/>
              </a:solidFill>
              <a:latin typeface="Calibri"/>
              <a:ea typeface="Calibri"/>
              <a:cs typeface="Calibri"/>
              <a:sym typeface="Calibri"/>
            </a:endParaRPr>
          </a:p>
        </p:txBody>
      </p:sp>
      <p:sp>
        <p:nvSpPr>
          <p:cNvPr id="501" name="Google Shape;501;p23"/>
          <p:cNvSpPr/>
          <p:nvPr/>
        </p:nvSpPr>
        <p:spPr>
          <a:xfrm>
            <a:off x="411480" y="2788920"/>
            <a:ext cx="4091940" cy="1371600"/>
          </a:xfrm>
          <a:prstGeom prst="roundRect">
            <a:avLst>
              <a:gd fmla="val 5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2" name="Google Shape;502;p23"/>
          <p:cNvSpPr/>
          <p:nvPr/>
        </p:nvSpPr>
        <p:spPr>
          <a:xfrm>
            <a:off x="576072" y="29535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3"/>
          <p:cNvPicPr preferRelativeResize="0"/>
          <p:nvPr/>
        </p:nvPicPr>
        <p:blipFill rotWithShape="1">
          <a:blip r:embed="rId3">
            <a:alphaModFix/>
          </a:blip>
          <a:srcRect b="0" l="0" r="0" t="0"/>
          <a:stretch/>
        </p:blipFill>
        <p:spPr>
          <a:xfrm>
            <a:off x="655076" y="3032516"/>
            <a:ext cx="171176" cy="171176"/>
          </a:xfrm>
          <a:prstGeom prst="rect">
            <a:avLst/>
          </a:prstGeom>
          <a:noFill/>
          <a:ln>
            <a:noFill/>
          </a:ln>
        </p:spPr>
      </p:pic>
      <p:sp>
        <p:nvSpPr>
          <p:cNvPr id="504" name="Google Shape;504;p23"/>
          <p:cNvSpPr txBox="1"/>
          <p:nvPr/>
        </p:nvSpPr>
        <p:spPr>
          <a:xfrm>
            <a:off x="576072" y="33924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Active voucher</a:t>
            </a:r>
            <a:endParaRPr b="0" i="0" spc="0" sz="1200" u="none" cap="none" strike="noStrike">
              <a:solidFill>
                <a:schemeClr val="dk1"/>
              </a:solidFill>
              <a:latin typeface="Calibri"/>
              <a:ea typeface="Calibri"/>
              <a:cs typeface="Calibri"/>
              <a:sym typeface="Calibri"/>
            </a:endParaRPr>
          </a:p>
        </p:txBody>
      </p:sp>
      <p:sp>
        <p:nvSpPr>
          <p:cNvPr id="505" name="Google Shape;505;p23"/>
          <p:cNvSpPr txBox="1"/>
          <p:nvPr/>
        </p:nvSpPr>
        <p:spPr>
          <a:xfrm>
            <a:off x="576072" y="3685032"/>
            <a:ext cx="3762756" cy="3840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Voucher hours come off the job duration before the price is calculated.</a:t>
            </a:r>
            <a:endParaRPr b="0" i="0" spc="0" sz="950" u="none" cap="none" strike="noStrike">
              <a:solidFill>
                <a:schemeClr val="dk1"/>
              </a:solidFill>
              <a:latin typeface="Calibri"/>
              <a:ea typeface="Calibri"/>
              <a:cs typeface="Calibri"/>
              <a:sym typeface="Calibri"/>
            </a:endParaRPr>
          </a:p>
        </p:txBody>
      </p:sp>
      <p:sp>
        <p:nvSpPr>
          <p:cNvPr id="506" name="Google Shape;506;p23"/>
          <p:cNvSpPr/>
          <p:nvPr/>
        </p:nvSpPr>
        <p:spPr>
          <a:xfrm>
            <a:off x="4640580" y="2788920"/>
            <a:ext cx="4091940" cy="1371600"/>
          </a:xfrm>
          <a:prstGeom prst="roundRect">
            <a:avLst>
              <a:gd fmla="val 533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7" name="Google Shape;507;p23"/>
          <p:cNvSpPr/>
          <p:nvPr/>
        </p:nvSpPr>
        <p:spPr>
          <a:xfrm>
            <a:off x="4805172" y="29535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8" name="Google Shape;508;p23"/>
          <p:cNvPicPr preferRelativeResize="0"/>
          <p:nvPr/>
        </p:nvPicPr>
        <p:blipFill rotWithShape="1">
          <a:blip r:embed="rId4">
            <a:alphaModFix/>
          </a:blip>
          <a:srcRect b="0" l="0" r="0" t="0"/>
          <a:stretch/>
        </p:blipFill>
        <p:spPr>
          <a:xfrm>
            <a:off x="4884176" y="3032516"/>
            <a:ext cx="171176" cy="171176"/>
          </a:xfrm>
          <a:prstGeom prst="rect">
            <a:avLst/>
          </a:prstGeom>
          <a:noFill/>
          <a:ln>
            <a:noFill/>
          </a:ln>
        </p:spPr>
      </p:pic>
      <p:sp>
        <p:nvSpPr>
          <p:cNvPr id="509" name="Google Shape;509;p23"/>
          <p:cNvSpPr txBox="1"/>
          <p:nvPr/>
        </p:nvSpPr>
        <p:spPr>
          <a:xfrm>
            <a:off x="4805172" y="339242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Active credits</a:t>
            </a:r>
            <a:endParaRPr b="0" i="0" spc="0" sz="1200" u="none" cap="none" strike="noStrike">
              <a:solidFill>
                <a:schemeClr val="dk1"/>
              </a:solidFill>
              <a:latin typeface="Calibri"/>
              <a:ea typeface="Calibri"/>
              <a:cs typeface="Calibri"/>
              <a:sym typeface="Calibri"/>
            </a:endParaRPr>
          </a:p>
        </p:txBody>
      </p:sp>
      <p:sp>
        <p:nvSpPr>
          <p:cNvPr id="510" name="Google Shape;510;p23"/>
          <p:cNvSpPr txBox="1"/>
          <p:nvPr/>
        </p:nvSpPr>
        <p:spPr>
          <a:xfrm>
            <a:off x="4805172" y="3685032"/>
            <a:ext cx="3762756" cy="3840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come off the final total.</a:t>
            </a:r>
            <a:endParaRPr b="0" i="0" spc="0" sz="950" u="none" cap="none" strike="noStrike">
              <a:solidFill>
                <a:schemeClr val="dk1"/>
              </a:solidFill>
              <a:latin typeface="Calibri"/>
              <a:ea typeface="Calibri"/>
              <a:cs typeface="Calibri"/>
              <a:sym typeface="Calibri"/>
            </a:endParaRPr>
          </a:p>
        </p:txBody>
      </p:sp>
      <p:sp>
        <p:nvSpPr>
          <p:cNvPr id="511" name="Google Shape;51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518" name="Google Shape;51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practice!</a:t>
            </a:r>
            <a:endParaRPr b="0" i="0" spc="0" sz="2400" u="none" cap="none" strike="noStrike">
              <a:solidFill>
                <a:schemeClr val="dk1"/>
              </a:solidFill>
              <a:latin typeface="Calibri"/>
              <a:ea typeface="Calibri"/>
              <a:cs typeface="Calibri"/>
              <a:sym typeface="Calibri"/>
            </a:endParaRPr>
          </a:p>
        </p:txBody>
      </p:sp>
      <p:sp>
        <p:nvSpPr>
          <p:cNvPr id="519" name="Google Shape;51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Calculate the job cost for all 3 customer pricing cohorts using the details below.</a:t>
            </a:r>
            <a:endParaRPr b="0" i="0" spc="0" sz="1200" u="none" cap="none" strike="noStrike">
              <a:solidFill>
                <a:schemeClr val="dk1"/>
              </a:solidFill>
              <a:latin typeface="Calibri"/>
              <a:ea typeface="Calibri"/>
              <a:cs typeface="Calibri"/>
              <a:sym typeface="Calibri"/>
            </a:endParaRPr>
          </a:p>
        </p:txBody>
      </p:sp>
      <p:sp>
        <p:nvSpPr>
          <p:cNvPr id="520" name="Google Shape;520;p24"/>
          <p:cNvSpPr/>
          <p:nvPr/>
        </p:nvSpPr>
        <p:spPr>
          <a:xfrm>
            <a:off x="411480" y="1280160"/>
            <a:ext cx="3017520" cy="3383280"/>
          </a:xfrm>
          <a:prstGeom prst="roundRect">
            <a:avLst>
              <a:gd fmla="val 24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1" name="Google Shape;521;p24"/>
          <p:cNvSpPr/>
          <p:nvPr/>
        </p:nvSpPr>
        <p:spPr>
          <a:xfrm>
            <a:off x="594360" y="1444752"/>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2" name="Google Shape;522;p24"/>
          <p:cNvPicPr preferRelativeResize="0"/>
          <p:nvPr/>
        </p:nvPicPr>
        <p:blipFill rotWithShape="1">
          <a:blip r:embed="rId3">
            <a:alphaModFix/>
          </a:blip>
          <a:srcRect b="0" l="0" r="0" t="0"/>
          <a:stretch/>
        </p:blipFill>
        <p:spPr>
          <a:xfrm>
            <a:off x="686532" y="1536924"/>
            <a:ext cx="199705" cy="199705"/>
          </a:xfrm>
          <a:prstGeom prst="rect">
            <a:avLst/>
          </a:prstGeom>
          <a:noFill/>
          <a:ln>
            <a:noFill/>
          </a:ln>
        </p:spPr>
      </p:pic>
      <p:sp>
        <p:nvSpPr>
          <p:cNvPr id="523" name="Google Shape;523;p24"/>
          <p:cNvSpPr txBox="1"/>
          <p:nvPr/>
        </p:nvSpPr>
        <p:spPr>
          <a:xfrm>
            <a:off x="1097280" y="1444752"/>
            <a:ext cx="219456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400"/>
              <a:buFont typeface="Play"/>
              <a:buNone/>
            </a:pPr>
            <a:r>
              <a:rPr b="1" i="0" lang="en-US" spc="0" sz="1400" u="none" cap="none" strike="noStrike">
                <a:solidFill>
                  <a:srgbClr val="1D1D1F"/>
                </a:solidFill>
                <a:latin typeface="Play"/>
                <a:ea typeface="Play"/>
                <a:cs typeface="Play"/>
                <a:sym typeface="Play"/>
              </a:rPr>
              <a:t>Scenario</a:t>
            </a:r>
            <a:endParaRPr b="0" i="0" spc="0" sz="1400" u="none" cap="none" strike="noStrike">
              <a:solidFill>
                <a:schemeClr val="dk1"/>
              </a:solidFill>
              <a:latin typeface="Calibri"/>
              <a:ea typeface="Calibri"/>
              <a:cs typeface="Calibri"/>
              <a:sym typeface="Calibri"/>
            </a:endParaRPr>
          </a:p>
        </p:txBody>
      </p:sp>
      <p:sp>
        <p:nvSpPr>
          <p:cNvPr id="524" name="Google Shape;524;p24"/>
          <p:cNvSpPr/>
          <p:nvPr/>
        </p:nvSpPr>
        <p:spPr>
          <a:xfrm>
            <a:off x="594360" y="2011680"/>
            <a:ext cx="2651760" cy="384048"/>
          </a:xfrm>
          <a:prstGeom prst="roundRect">
            <a:avLst>
              <a:gd fmla="val 19048"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5" name="Google Shape;525;p24"/>
          <p:cNvSpPr txBox="1"/>
          <p:nvPr/>
        </p:nvSpPr>
        <p:spPr>
          <a:xfrm>
            <a:off x="731520" y="2011680"/>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CP rate</a:t>
            </a:r>
            <a:endParaRPr b="0" i="0" spc="0" sz="1050" u="none" cap="none" strike="noStrike">
              <a:solidFill>
                <a:schemeClr val="dk1"/>
              </a:solidFill>
              <a:latin typeface="Calibri"/>
              <a:ea typeface="Calibri"/>
              <a:cs typeface="Calibri"/>
              <a:sym typeface="Calibri"/>
            </a:endParaRPr>
          </a:p>
        </p:txBody>
      </p:sp>
      <p:sp>
        <p:nvSpPr>
          <p:cNvPr id="526" name="Google Shape;526;p24"/>
          <p:cNvSpPr txBox="1"/>
          <p:nvPr/>
        </p:nvSpPr>
        <p:spPr>
          <a:xfrm>
            <a:off x="1828800" y="2011680"/>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$25.00/hr</a:t>
            </a:r>
            <a:endParaRPr b="0" i="0" spc="0" sz="1200" u="none" cap="none" strike="noStrike">
              <a:solidFill>
                <a:schemeClr val="dk1"/>
              </a:solidFill>
              <a:latin typeface="Calibri"/>
              <a:ea typeface="Calibri"/>
              <a:cs typeface="Calibri"/>
              <a:sym typeface="Calibri"/>
            </a:endParaRPr>
          </a:p>
        </p:txBody>
      </p:sp>
      <p:sp>
        <p:nvSpPr>
          <p:cNvPr id="527" name="Google Shape;527;p24"/>
          <p:cNvSpPr/>
          <p:nvPr/>
        </p:nvSpPr>
        <p:spPr>
          <a:xfrm>
            <a:off x="594360" y="2487168"/>
            <a:ext cx="2651760" cy="384048"/>
          </a:xfrm>
          <a:prstGeom prst="roundRect">
            <a:avLst>
              <a:gd fmla="val 190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8" name="Google Shape;528;p24"/>
          <p:cNvSpPr txBox="1"/>
          <p:nvPr/>
        </p:nvSpPr>
        <p:spPr>
          <a:xfrm>
            <a:off x="731520" y="2487168"/>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Duration</a:t>
            </a:r>
            <a:endParaRPr b="0" i="0" spc="0" sz="1050" u="none" cap="none" strike="noStrike">
              <a:solidFill>
                <a:schemeClr val="dk1"/>
              </a:solidFill>
              <a:latin typeface="Calibri"/>
              <a:ea typeface="Calibri"/>
              <a:cs typeface="Calibri"/>
              <a:sym typeface="Calibri"/>
            </a:endParaRPr>
          </a:p>
        </p:txBody>
      </p:sp>
      <p:sp>
        <p:nvSpPr>
          <p:cNvPr id="529" name="Google Shape;529;p24"/>
          <p:cNvSpPr txBox="1"/>
          <p:nvPr/>
        </p:nvSpPr>
        <p:spPr>
          <a:xfrm>
            <a:off x="1828800" y="2487168"/>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4 hours</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594360" y="2962656"/>
            <a:ext cx="2651760" cy="384048"/>
          </a:xfrm>
          <a:prstGeom prst="roundRect">
            <a:avLst>
              <a:gd fmla="val 19048"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731520" y="2962656"/>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Voucher</a:t>
            </a:r>
            <a:endParaRPr b="0" i="0" spc="0" sz="1050" u="none" cap="none" strike="noStrike">
              <a:solidFill>
                <a:schemeClr val="dk1"/>
              </a:solidFill>
              <a:latin typeface="Calibri"/>
              <a:ea typeface="Calibri"/>
              <a:cs typeface="Calibri"/>
              <a:sym typeface="Calibri"/>
            </a:endParaRPr>
          </a:p>
        </p:txBody>
      </p:sp>
      <p:sp>
        <p:nvSpPr>
          <p:cNvPr id="532" name="Google Shape;532;p24"/>
          <p:cNvSpPr txBox="1"/>
          <p:nvPr/>
        </p:nvSpPr>
        <p:spPr>
          <a:xfrm>
            <a:off x="1828800" y="2962656"/>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1.5 hours</a:t>
            </a:r>
            <a:endParaRPr b="0" i="0" spc="0" sz="1200" u="none" cap="none" strike="noStrike">
              <a:solidFill>
                <a:schemeClr val="dk1"/>
              </a:solidFill>
              <a:latin typeface="Calibri"/>
              <a:ea typeface="Calibri"/>
              <a:cs typeface="Calibri"/>
              <a:sym typeface="Calibri"/>
            </a:endParaRPr>
          </a:p>
        </p:txBody>
      </p:sp>
      <p:sp>
        <p:nvSpPr>
          <p:cNvPr id="533" name="Google Shape;533;p24"/>
          <p:cNvSpPr/>
          <p:nvPr/>
        </p:nvSpPr>
        <p:spPr>
          <a:xfrm>
            <a:off x="594360" y="3438144"/>
            <a:ext cx="2651760" cy="384048"/>
          </a:xfrm>
          <a:prstGeom prst="roundRect">
            <a:avLst>
              <a:gd fmla="val 190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731520" y="3438144"/>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Sales tax</a:t>
            </a:r>
            <a:endParaRPr b="0" i="0" spc="0" sz="1050" u="none" cap="none" strike="noStrike">
              <a:solidFill>
                <a:schemeClr val="dk1"/>
              </a:solidFill>
              <a:latin typeface="Calibri"/>
              <a:ea typeface="Calibri"/>
              <a:cs typeface="Calibri"/>
              <a:sym typeface="Calibri"/>
            </a:endParaRPr>
          </a:p>
        </p:txBody>
      </p:sp>
      <p:sp>
        <p:nvSpPr>
          <p:cNvPr id="535" name="Google Shape;535;p24"/>
          <p:cNvSpPr txBox="1"/>
          <p:nvPr/>
        </p:nvSpPr>
        <p:spPr>
          <a:xfrm>
            <a:off x="1828800" y="3438144"/>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8%</a:t>
            </a:r>
            <a:endParaRPr b="0" i="0" spc="0" sz="1200" u="none" cap="none" strike="noStrike">
              <a:solidFill>
                <a:schemeClr val="dk1"/>
              </a:solidFill>
              <a:latin typeface="Calibri"/>
              <a:ea typeface="Calibri"/>
              <a:cs typeface="Calibri"/>
              <a:sym typeface="Calibri"/>
            </a:endParaRPr>
          </a:p>
        </p:txBody>
      </p:sp>
      <p:sp>
        <p:nvSpPr>
          <p:cNvPr id="536" name="Google Shape;536;p24"/>
          <p:cNvSpPr/>
          <p:nvPr/>
        </p:nvSpPr>
        <p:spPr>
          <a:xfrm>
            <a:off x="594360" y="3913632"/>
            <a:ext cx="2651760" cy="384048"/>
          </a:xfrm>
          <a:prstGeom prst="roundRect">
            <a:avLst>
              <a:gd fmla="val 19048" name="adj"/>
            </a:avLst>
          </a:prstGeom>
          <a:solidFill>
            <a:srgbClr val="F6F7F9"/>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731520" y="3913632"/>
            <a:ext cx="11887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Credits</a:t>
            </a:r>
            <a:endParaRPr b="0" i="0" spc="0" sz="1050" u="none" cap="none" strike="noStrike">
              <a:solidFill>
                <a:schemeClr val="dk1"/>
              </a:solidFill>
              <a:latin typeface="Calibri"/>
              <a:ea typeface="Calibri"/>
              <a:cs typeface="Calibri"/>
              <a:sym typeface="Calibri"/>
            </a:endParaRPr>
          </a:p>
        </p:txBody>
      </p:sp>
      <p:sp>
        <p:nvSpPr>
          <p:cNvPr id="538" name="Google Shape;538;p24"/>
          <p:cNvSpPr txBox="1"/>
          <p:nvPr/>
        </p:nvSpPr>
        <p:spPr>
          <a:xfrm>
            <a:off x="1828800" y="3913632"/>
            <a:ext cx="1325880" cy="384048"/>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$12.00</a:t>
            </a:r>
            <a:endParaRPr b="0" i="0" spc="0" sz="1200" u="none" cap="none" strike="noStrike">
              <a:solidFill>
                <a:schemeClr val="dk1"/>
              </a:solidFill>
              <a:latin typeface="Calibri"/>
              <a:ea typeface="Calibri"/>
              <a:cs typeface="Calibri"/>
              <a:sym typeface="Calibri"/>
            </a:endParaRPr>
          </a:p>
        </p:txBody>
      </p:sp>
      <p:sp>
        <p:nvSpPr>
          <p:cNvPr id="539" name="Google Shape;539;p24"/>
          <p:cNvSpPr/>
          <p:nvPr/>
        </p:nvSpPr>
        <p:spPr>
          <a:xfrm>
            <a:off x="3611880" y="1280160"/>
            <a:ext cx="5120640" cy="457200"/>
          </a:xfrm>
          <a:prstGeom prst="roundRect">
            <a:avLst>
              <a:gd fmla="val 20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0" name="Google Shape;540;p24"/>
          <p:cNvPicPr preferRelativeResize="0"/>
          <p:nvPr/>
        </p:nvPicPr>
        <p:blipFill rotWithShape="1">
          <a:blip r:embed="rId4">
            <a:alphaModFix/>
          </a:blip>
          <a:srcRect b="0" l="0" r="0" t="0"/>
          <a:stretch/>
        </p:blipFill>
        <p:spPr>
          <a:xfrm>
            <a:off x="3794760" y="1399032"/>
            <a:ext cx="219456" cy="219456"/>
          </a:xfrm>
          <a:prstGeom prst="rect">
            <a:avLst/>
          </a:prstGeom>
          <a:noFill/>
          <a:ln>
            <a:noFill/>
          </a:ln>
        </p:spPr>
      </p:pic>
      <p:sp>
        <p:nvSpPr>
          <p:cNvPr id="541" name="Google Shape;541;p24"/>
          <p:cNvSpPr txBox="1"/>
          <p:nvPr/>
        </p:nvSpPr>
        <p:spPr>
          <a:xfrm>
            <a:off x="4114800" y="1280160"/>
            <a:ext cx="4114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Show Answers</a:t>
            </a:r>
            <a:endParaRPr b="0" i="0" spc="0" sz="1300" u="none" cap="none" strike="noStrike">
              <a:solidFill>
                <a:schemeClr val="dk1"/>
              </a:solidFill>
              <a:latin typeface="Calibri"/>
              <a:ea typeface="Calibri"/>
              <a:cs typeface="Calibri"/>
              <a:sym typeface="Calibri"/>
            </a:endParaRPr>
          </a:p>
        </p:txBody>
      </p:sp>
      <p:sp>
        <p:nvSpPr>
          <p:cNvPr id="542" name="Google Shape;542;p24"/>
          <p:cNvSpPr/>
          <p:nvPr/>
        </p:nvSpPr>
        <p:spPr>
          <a:xfrm>
            <a:off x="3611880" y="1828800"/>
            <a:ext cx="5120640" cy="2834640"/>
          </a:xfrm>
          <a:prstGeom prst="roundRect">
            <a:avLst>
              <a:gd fmla="val 258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3" name="Google Shape;543;p24"/>
          <p:cNvSpPr txBox="1"/>
          <p:nvPr/>
        </p:nvSpPr>
        <p:spPr>
          <a:xfrm>
            <a:off x="3794760" y="1965960"/>
            <a:ext cx="4754880" cy="2606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1250"/>
              <a:buFont typeface="Play"/>
              <a:buNone/>
            </a:pPr>
            <a:r>
              <a:rPr b="1" i="0" lang="en-US" spc="0" sz="1250" u="none" cap="none" strike="noStrike">
                <a:solidFill>
                  <a:srgbClr val="0B7A6F"/>
                </a:solidFill>
                <a:latin typeface="Play"/>
                <a:ea typeface="Play"/>
                <a:cs typeface="Play"/>
                <a:sym typeface="Play"/>
              </a:rPr>
              <a:t>FC customer:  $65.63</a:t>
            </a:r>
            <a:br>
              <a:rPr b="0" i="0" lang="en-US" spc="0" sz="1800" u="none" cap="none" strike="noStrike">
                <a:solidFill>
                  <a:schemeClr val="dk1"/>
                </a:solidFill>
                <a:latin typeface="Calibri"/>
                <a:ea typeface="Calibri"/>
                <a:cs typeface="Calibri"/>
                <a:sym typeface="Calibri"/>
              </a:rPr>
            </a:br>
            <a:r>
              <a:rPr b="0" i="0" lang="en-US" spc="0" sz="950" u="none" cap="none" strike="noStrike">
                <a:solidFill>
                  <a:srgbClr val="1D1D1F"/>
                </a:solidFill>
                <a:latin typeface="Arial"/>
                <a:ea typeface="Arial"/>
                <a:cs typeface="Arial"/>
                <a:sym typeface="Arial"/>
              </a:rPr>
              <a:t>$25/hr CP rate × 2.5 hrs + 15% processing fee + 8% tax − $12 credits</a:t>
            </a:r>
            <a:endParaRPr b="0" i="0" spc="0" sz="12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0B7A6F"/>
              </a:buClr>
              <a:buSzPts val="1250"/>
              <a:buFont typeface="Play"/>
              <a:buNone/>
            </a:pPr>
            <a:r>
              <a:rPr b="1" i="0" lang="en-US" spc="0" sz="1250" u="none" cap="none" strike="noStrike">
                <a:solidFill>
                  <a:srgbClr val="0B7A6F"/>
                </a:solidFill>
                <a:latin typeface="Play"/>
                <a:ea typeface="Play"/>
                <a:cs typeface="Play"/>
                <a:sym typeface="Play"/>
              </a:rPr>
              <a:t>Non-FC customer:  $101.40</a:t>
            </a:r>
            <a:br>
              <a:rPr b="0" i="0" lang="en-US" spc="0" sz="1800" u="none" cap="none" strike="noStrike">
                <a:solidFill>
                  <a:schemeClr val="dk1"/>
                </a:solidFill>
                <a:latin typeface="Calibri"/>
                <a:ea typeface="Calibri"/>
                <a:cs typeface="Calibri"/>
                <a:sym typeface="Calibri"/>
              </a:rPr>
            </a:br>
            <a:r>
              <a:rPr b="0" i="0" lang="en-US" spc="0" sz="950" u="none" cap="none" strike="noStrike">
                <a:solidFill>
                  <a:srgbClr val="1D1D1F"/>
                </a:solidFill>
                <a:latin typeface="Arial"/>
                <a:ea typeface="Arial"/>
                <a:cs typeface="Arial"/>
                <a:sym typeface="Arial"/>
              </a:rPr>
              <a:t>($25/hr CP rate + $15/hr platform fee) × 2.5 hrs + 5% processing fee + 8% tax − $12 credits</a:t>
            </a:r>
            <a:endParaRPr b="0" i="0" spc="0" sz="1250" u="none" cap="none" strike="noStrike">
              <a:solidFill>
                <a:schemeClr val="dk1"/>
              </a:solidFill>
              <a:latin typeface="Calibri"/>
              <a:ea typeface="Calibri"/>
              <a:cs typeface="Calibri"/>
              <a:sym typeface="Calibri"/>
            </a:endParaRPr>
          </a:p>
          <a:p>
            <a:pPr indent="0" lvl="0" marL="0" marR="0" rtl="0" algn="l">
              <a:lnSpc>
                <a:spcPct val="100000"/>
              </a:lnSpc>
              <a:spcBef>
                <a:spcPts val="1000"/>
              </a:spcBef>
              <a:spcAft>
                <a:spcPts val="0"/>
              </a:spcAft>
              <a:buClr>
                <a:srgbClr val="0B7A6F"/>
              </a:buClr>
              <a:buSzPts val="1250"/>
              <a:buFont typeface="Play"/>
              <a:buNone/>
            </a:pPr>
            <a:r>
              <a:rPr b="1" i="0" lang="en-US" spc="0" sz="1250" u="none" cap="none" strike="noStrike">
                <a:solidFill>
                  <a:srgbClr val="0B7A6F"/>
                </a:solidFill>
                <a:latin typeface="Play"/>
                <a:ea typeface="Play"/>
                <a:cs typeface="Play"/>
                <a:sym typeface="Play"/>
              </a:rPr>
              <a:t>Deactivated (cancelled) FC customer:  $143.93</a:t>
            </a:r>
            <a:br>
              <a:rPr b="0" i="0" lang="en-US" spc="0" sz="1800" u="none" cap="none" strike="noStrike">
                <a:solidFill>
                  <a:schemeClr val="dk1"/>
                </a:solidFill>
                <a:latin typeface="Calibri"/>
                <a:ea typeface="Calibri"/>
                <a:cs typeface="Calibri"/>
                <a:sym typeface="Calibri"/>
              </a:rPr>
            </a:br>
            <a:r>
              <a:rPr b="0" i="0" lang="en-US" spc="0" sz="950" u="none" cap="none" strike="noStrike">
                <a:solidFill>
                  <a:srgbClr val="1D1D1F"/>
                </a:solidFill>
                <a:latin typeface="Arial"/>
                <a:ea typeface="Arial"/>
                <a:cs typeface="Arial"/>
                <a:sym typeface="Arial"/>
              </a:rPr>
              <a:t>($25/hr CP rate + $30/hr platform fee) × 2.5 hrs + 5% processing fee + 8% tax − $12 credits</a:t>
            </a:r>
            <a:endParaRPr b="0" i="0" spc="0" sz="1250" u="none" cap="none" strike="noStrike">
              <a:solidFill>
                <a:schemeClr val="dk1"/>
              </a:solidFill>
              <a:latin typeface="Calibri"/>
              <a:ea typeface="Calibri"/>
              <a:cs typeface="Calibri"/>
              <a:sym typeface="Calibri"/>
            </a:endParaRPr>
          </a:p>
        </p:txBody>
      </p:sp>
      <p:sp>
        <p:nvSpPr>
          <p:cNvPr id="544" name="Google Shape;544;p24"/>
          <p:cNvSpPr txBox="1"/>
          <p:nvPr/>
        </p:nvSpPr>
        <p:spPr>
          <a:xfrm>
            <a:off x="594360" y="4389120"/>
            <a:ext cx="27432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0" i="1" lang="en-US" spc="0" sz="850" u="none" cap="none" strike="noStrike">
                <a:solidFill>
                  <a:srgbClr val="6E6E73"/>
                </a:solidFill>
                <a:latin typeface="Arial"/>
                <a:ea typeface="Arial"/>
                <a:cs typeface="Arial"/>
                <a:sym typeface="Arial"/>
              </a:rPr>
              <a:t>Hint: take the voucher hours off the duration first.</a:t>
            </a:r>
            <a:endParaRPr b="0" i="0" spc="0" sz="850" u="none" cap="none" strike="noStrike">
              <a:solidFill>
                <a:schemeClr val="dk1"/>
              </a:solidFill>
              <a:latin typeface="Calibri"/>
              <a:ea typeface="Calibri"/>
              <a:cs typeface="Calibri"/>
              <a:sym typeface="Calibri"/>
            </a:endParaRPr>
          </a:p>
        </p:txBody>
      </p:sp>
      <p:sp>
        <p:nvSpPr>
          <p:cNvPr id="545" name="Google Shape;54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3">
                                            <p:txEl>
                                              <p:pRg end="0" st="0"/>
                                            </p:txEl>
                                          </p:spTgt>
                                        </p:tgtEl>
                                        <p:attrNameLst>
                                          <p:attrName>style.visibility</p:attrName>
                                        </p:attrNameLst>
                                      </p:cBhvr>
                                      <p:to>
                                        <p:strVal val="visible"/>
                                      </p:to>
                                    </p:set>
                                    <p:animEffect filter="fade" transition="in">
                                      <p:cBhvr>
                                        <p:cTn dur="600"/>
                                        <p:tgtEl>
                                          <p:spTgt spid="543">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3">
                                            <p:txEl>
                                              <p:pRg end="1" st="1"/>
                                            </p:txEl>
                                          </p:spTgt>
                                        </p:tgtEl>
                                        <p:attrNameLst>
                                          <p:attrName>style.visibility</p:attrName>
                                        </p:attrNameLst>
                                      </p:cBhvr>
                                      <p:to>
                                        <p:strVal val="visible"/>
                                      </p:to>
                                    </p:set>
                                    <p:animEffect filter="fade" transition="in">
                                      <p:cBhvr>
                                        <p:cTn dur="600"/>
                                        <p:tgtEl>
                                          <p:spTgt spid="543">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43">
                                            <p:txEl>
                                              <p:pRg end="2" st="2"/>
                                            </p:txEl>
                                          </p:spTgt>
                                        </p:tgtEl>
                                        <p:attrNameLst>
                                          <p:attrName>style.visibility</p:attrName>
                                        </p:attrNameLst>
                                      </p:cBhvr>
                                      <p:to>
                                        <p:strVal val="visible"/>
                                      </p:to>
                                    </p:set>
                                    <p:animEffect filter="fade" transition="in">
                                      <p:cBhvr>
                                        <p:cTn dur="600"/>
                                        <p:tgtEl>
                                          <p:spTgt spid="543">
                                            <p:txEl>
                                              <p:pRg end="2" st="2"/>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552" name="Google Shape;55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How the cleaner is paid</a:t>
            </a:r>
            <a:endParaRPr b="0" i="0" spc="0" sz="2400" u="none" cap="none" strike="noStrike">
              <a:solidFill>
                <a:schemeClr val="dk1"/>
              </a:solidFill>
              <a:latin typeface="Calibri"/>
              <a:ea typeface="Calibri"/>
              <a:cs typeface="Calibri"/>
              <a:sym typeface="Calibri"/>
            </a:endParaRPr>
          </a:p>
        </p:txBody>
      </p:sp>
      <p:graphicFrame>
        <p:nvGraphicFramePr>
          <p:cNvPr id="553" name="Google Shape;553;p25"/>
          <p:cNvGraphicFramePr/>
          <p:nvPr/>
        </p:nvGraphicFramePr>
        <p:xfrm>
          <a:off x="411480" y="1188720"/>
          <a:ext cx="3000000" cy="3000000"/>
        </p:xfrm>
        <a:graphic>
          <a:graphicData uri="http://schemas.openxmlformats.org/drawingml/2006/table">
            <a:tbl>
              <a:tblPr>
                <a:noFill/>
                <a:tableStyleId>{9D323186-7024-4D31-ABB8-6DE780CD1503}</a:tableStyleId>
              </a:tblPr>
              <a:tblGrid>
                <a:gridCol w="1737350"/>
                <a:gridCol w="3657600"/>
                <a:gridCol w="2926075"/>
              </a:tblGrid>
              <a:tr h="4572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Operating model</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First-time client</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Repeat client</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CA / CA-WA</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Rate × duration + tips + surge bonus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Same</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General</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(Rate − $5 match fee) × duration + tips + surge bonus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Rate × duration + tips + surge bonus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54" name="Google Shape;554;p25"/>
          <p:cNvSpPr/>
          <p:nvPr/>
        </p:nvSpPr>
        <p:spPr>
          <a:xfrm>
            <a:off x="411480" y="26974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5" name="Google Shape;555;p25"/>
          <p:cNvSpPr/>
          <p:nvPr/>
        </p:nvSpPr>
        <p:spPr>
          <a:xfrm>
            <a:off x="576072" y="28620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6" name="Google Shape;556;p25"/>
          <p:cNvPicPr preferRelativeResize="0"/>
          <p:nvPr/>
        </p:nvPicPr>
        <p:blipFill rotWithShape="1">
          <a:blip r:embed="rId3">
            <a:alphaModFix/>
          </a:blip>
          <a:srcRect b="0" l="0" r="0" t="0"/>
          <a:stretch/>
        </p:blipFill>
        <p:spPr>
          <a:xfrm>
            <a:off x="655076" y="2941076"/>
            <a:ext cx="171176" cy="171176"/>
          </a:xfrm>
          <a:prstGeom prst="rect">
            <a:avLst/>
          </a:prstGeom>
          <a:noFill/>
          <a:ln>
            <a:noFill/>
          </a:ln>
        </p:spPr>
      </p:pic>
      <p:sp>
        <p:nvSpPr>
          <p:cNvPr id="557" name="Google Shape;557;p25"/>
          <p:cNvSpPr txBox="1"/>
          <p:nvPr/>
        </p:nvSpPr>
        <p:spPr>
          <a:xfrm>
            <a:off x="576072" y="33009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Always paid</a:t>
            </a:r>
            <a:endParaRPr b="0" i="0" spc="0" sz="1200" u="none" cap="none" strike="noStrike">
              <a:solidFill>
                <a:schemeClr val="dk1"/>
              </a:solidFill>
              <a:latin typeface="Calibri"/>
              <a:ea typeface="Calibri"/>
              <a:cs typeface="Calibri"/>
              <a:sym typeface="Calibri"/>
            </a:endParaRPr>
          </a:p>
        </p:txBody>
      </p:sp>
      <p:sp>
        <p:nvSpPr>
          <p:cNvPr id="558" name="Google Shape;558;p25"/>
          <p:cNvSpPr txBox="1"/>
          <p:nvPr/>
        </p:nvSpPr>
        <p:spPr>
          <a:xfrm>
            <a:off x="576072" y="3593592"/>
            <a:ext cx="2353056" cy="429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if the customer's card, voucher or credits fail.</a:t>
            </a:r>
            <a:endParaRPr b="0" i="0" spc="0" sz="950" u="none" cap="none" strike="noStrike">
              <a:solidFill>
                <a:schemeClr val="dk1"/>
              </a:solidFill>
              <a:latin typeface="Calibri"/>
              <a:ea typeface="Calibri"/>
              <a:cs typeface="Calibri"/>
              <a:sym typeface="Calibri"/>
            </a:endParaRPr>
          </a:p>
        </p:txBody>
      </p:sp>
      <p:sp>
        <p:nvSpPr>
          <p:cNvPr id="559" name="Google Shape;559;p25"/>
          <p:cNvSpPr/>
          <p:nvPr/>
        </p:nvSpPr>
        <p:spPr>
          <a:xfrm>
            <a:off x="3230880" y="26974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0" name="Google Shape;560;p25"/>
          <p:cNvSpPr/>
          <p:nvPr/>
        </p:nvSpPr>
        <p:spPr>
          <a:xfrm>
            <a:off x="3395472" y="28620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61" name="Google Shape;561;p25"/>
          <p:cNvPicPr preferRelativeResize="0"/>
          <p:nvPr/>
        </p:nvPicPr>
        <p:blipFill rotWithShape="1">
          <a:blip r:embed="rId4">
            <a:alphaModFix/>
          </a:blip>
          <a:srcRect b="0" l="0" r="0" t="0"/>
          <a:stretch/>
        </p:blipFill>
        <p:spPr>
          <a:xfrm>
            <a:off x="3474476" y="2941076"/>
            <a:ext cx="171176" cy="171176"/>
          </a:xfrm>
          <a:prstGeom prst="rect">
            <a:avLst/>
          </a:prstGeom>
          <a:noFill/>
          <a:ln>
            <a:noFill/>
          </a:ln>
        </p:spPr>
      </p:pic>
      <p:sp>
        <p:nvSpPr>
          <p:cNvPr id="562" name="Google Shape;562;p25"/>
          <p:cNvSpPr txBox="1"/>
          <p:nvPr/>
        </p:nvSpPr>
        <p:spPr>
          <a:xfrm>
            <a:off x="3395472" y="33009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Tips</a:t>
            </a:r>
            <a:endParaRPr b="0" i="0" spc="0" sz="1200" u="none" cap="none" strike="noStrike">
              <a:solidFill>
                <a:schemeClr val="dk1"/>
              </a:solidFill>
              <a:latin typeface="Calibri"/>
              <a:ea typeface="Calibri"/>
              <a:cs typeface="Calibri"/>
              <a:sym typeface="Calibri"/>
            </a:endParaRPr>
          </a:p>
        </p:txBody>
      </p:sp>
      <p:sp>
        <p:nvSpPr>
          <p:cNvPr id="563" name="Google Shape;563;p25"/>
          <p:cNvSpPr txBox="1"/>
          <p:nvPr/>
        </p:nvSpPr>
        <p:spPr>
          <a:xfrm>
            <a:off x="3395472" y="3593592"/>
            <a:ext cx="2353056" cy="429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100% of every tip goes to the cleaner.</a:t>
            </a:r>
            <a:endParaRPr b="0" i="0" spc="0" sz="950" u="none" cap="none" strike="noStrike">
              <a:solidFill>
                <a:schemeClr val="dk1"/>
              </a:solidFill>
              <a:latin typeface="Calibri"/>
              <a:ea typeface="Calibri"/>
              <a:cs typeface="Calibri"/>
              <a:sym typeface="Calibri"/>
            </a:endParaRPr>
          </a:p>
        </p:txBody>
      </p:sp>
      <p:sp>
        <p:nvSpPr>
          <p:cNvPr id="564" name="Google Shape;564;p25"/>
          <p:cNvSpPr/>
          <p:nvPr/>
        </p:nvSpPr>
        <p:spPr>
          <a:xfrm>
            <a:off x="6050280" y="2697480"/>
            <a:ext cx="268224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5" name="Google Shape;565;p25"/>
          <p:cNvSpPr/>
          <p:nvPr/>
        </p:nvSpPr>
        <p:spPr>
          <a:xfrm>
            <a:off x="6214872" y="28620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66" name="Google Shape;566;p25"/>
          <p:cNvPicPr preferRelativeResize="0"/>
          <p:nvPr/>
        </p:nvPicPr>
        <p:blipFill rotWithShape="1">
          <a:blip r:embed="rId5">
            <a:alphaModFix/>
          </a:blip>
          <a:srcRect b="0" l="0" r="0" t="0"/>
          <a:stretch/>
        </p:blipFill>
        <p:spPr>
          <a:xfrm>
            <a:off x="6293876" y="2941076"/>
            <a:ext cx="171176" cy="171176"/>
          </a:xfrm>
          <a:prstGeom prst="rect">
            <a:avLst/>
          </a:prstGeom>
          <a:noFill/>
          <a:ln>
            <a:noFill/>
          </a:ln>
        </p:spPr>
      </p:pic>
      <p:sp>
        <p:nvSpPr>
          <p:cNvPr id="567" name="Google Shape;567;p25"/>
          <p:cNvSpPr txBox="1"/>
          <p:nvPr/>
        </p:nvSpPr>
        <p:spPr>
          <a:xfrm>
            <a:off x="6214872" y="33009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Surge bonus</a:t>
            </a:r>
            <a:endParaRPr b="0" i="0" spc="0" sz="1200" u="none" cap="none" strike="noStrike">
              <a:solidFill>
                <a:schemeClr val="dk1"/>
              </a:solidFill>
              <a:latin typeface="Calibri"/>
              <a:ea typeface="Calibri"/>
              <a:cs typeface="Calibri"/>
              <a:sym typeface="Calibri"/>
            </a:endParaRPr>
          </a:p>
        </p:txBody>
      </p:sp>
      <p:sp>
        <p:nvSpPr>
          <p:cNvPr id="568" name="Google Shape;568;p25"/>
          <p:cNvSpPr txBox="1"/>
          <p:nvPr/>
        </p:nvSpPr>
        <p:spPr>
          <a:xfrm>
            <a:off x="6214872" y="3593592"/>
            <a:ext cx="2353056" cy="4297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extra on some jobs, at invoicing.</a:t>
            </a:r>
            <a:endParaRPr b="0" i="0" spc="0" sz="950" u="none" cap="none" strike="noStrike">
              <a:solidFill>
                <a:schemeClr val="dk1"/>
              </a:solidFill>
              <a:latin typeface="Calibri"/>
              <a:ea typeface="Calibri"/>
              <a:cs typeface="Calibri"/>
              <a:sym typeface="Calibri"/>
            </a:endParaRPr>
          </a:p>
        </p:txBody>
      </p:sp>
      <p:sp>
        <p:nvSpPr>
          <p:cNvPr id="569" name="Google Shape;569;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Google Shape;575;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576" name="Google Shape;576;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practice!</a:t>
            </a:r>
            <a:endParaRPr b="0" i="0" spc="0" sz="2400" u="none" cap="none" strike="noStrike">
              <a:solidFill>
                <a:schemeClr val="dk1"/>
              </a:solidFill>
              <a:latin typeface="Calibri"/>
              <a:ea typeface="Calibri"/>
              <a:cs typeface="Calibri"/>
              <a:sym typeface="Calibri"/>
            </a:endParaRPr>
          </a:p>
        </p:txBody>
      </p:sp>
      <p:sp>
        <p:nvSpPr>
          <p:cNvPr id="577" name="Google Shape;577;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Determine the CP pay in this scenario.</a:t>
            </a:r>
            <a:endParaRPr b="0" i="0" spc="0" sz="1200" u="none" cap="none" strike="noStrike">
              <a:solidFill>
                <a:schemeClr val="dk1"/>
              </a:solidFill>
              <a:latin typeface="Calibri"/>
              <a:ea typeface="Calibri"/>
              <a:cs typeface="Calibri"/>
              <a:sym typeface="Calibri"/>
            </a:endParaRPr>
          </a:p>
        </p:txBody>
      </p:sp>
      <p:sp>
        <p:nvSpPr>
          <p:cNvPr id="578" name="Google Shape;578;p26"/>
          <p:cNvSpPr/>
          <p:nvPr/>
        </p:nvSpPr>
        <p:spPr>
          <a:xfrm>
            <a:off x="411480" y="1234440"/>
            <a:ext cx="4023360" cy="1417320"/>
          </a:xfrm>
          <a:prstGeom prst="roundRect">
            <a:avLst>
              <a:gd fmla="val 516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6"/>
          <p:cNvSpPr/>
          <p:nvPr/>
        </p:nvSpPr>
        <p:spPr>
          <a:xfrm>
            <a:off x="566928" y="135331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80" name="Google Shape;580;p26"/>
          <p:cNvPicPr preferRelativeResize="0"/>
          <p:nvPr/>
        </p:nvPicPr>
        <p:blipFill rotWithShape="1">
          <a:blip r:embed="rId3">
            <a:alphaModFix/>
          </a:blip>
          <a:srcRect b="0" l="0" r="0" t="0"/>
          <a:stretch/>
        </p:blipFill>
        <p:spPr>
          <a:xfrm>
            <a:off x="645932" y="1432316"/>
            <a:ext cx="171176" cy="171176"/>
          </a:xfrm>
          <a:prstGeom prst="rect">
            <a:avLst/>
          </a:prstGeom>
          <a:noFill/>
          <a:ln>
            <a:noFill/>
          </a:ln>
        </p:spPr>
      </p:pic>
      <p:sp>
        <p:nvSpPr>
          <p:cNvPr id="581" name="Google Shape;581;p26"/>
          <p:cNvSpPr txBox="1"/>
          <p:nvPr/>
        </p:nvSpPr>
        <p:spPr>
          <a:xfrm>
            <a:off x="987552" y="1353312"/>
            <a:ext cx="2743200" cy="3291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The job</a:t>
            </a:r>
            <a:endParaRPr b="0" i="0" spc="0" sz="1250" u="none" cap="none" strike="noStrike">
              <a:solidFill>
                <a:schemeClr val="dk1"/>
              </a:solidFill>
              <a:latin typeface="Calibri"/>
              <a:ea typeface="Calibri"/>
              <a:cs typeface="Calibri"/>
              <a:sym typeface="Calibri"/>
            </a:endParaRPr>
          </a:p>
        </p:txBody>
      </p:sp>
      <p:sp>
        <p:nvSpPr>
          <p:cNvPr id="582" name="Google Shape;582;p26"/>
          <p:cNvSpPr txBox="1"/>
          <p:nvPr/>
        </p:nvSpPr>
        <p:spPr>
          <a:xfrm>
            <a:off x="566928" y="178308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Client  </a:t>
            </a:r>
            <a:r>
              <a:rPr b="1" i="0" lang="en-US" spc="0" sz="1100" u="none" cap="none" strike="noStrike">
                <a:solidFill>
                  <a:srgbClr val="1D1D1F"/>
                </a:solidFill>
                <a:latin typeface="Play"/>
                <a:ea typeface="Play"/>
                <a:cs typeface="Play"/>
                <a:sym typeface="Play"/>
              </a:rPr>
              <a:t>Repeat</a:t>
            </a:r>
            <a:endParaRPr b="0" i="0" spc="0" sz="900" u="none" cap="none" strike="noStrike">
              <a:solidFill>
                <a:schemeClr val="dk1"/>
              </a:solidFill>
              <a:latin typeface="Calibri"/>
              <a:ea typeface="Calibri"/>
              <a:cs typeface="Calibri"/>
              <a:sym typeface="Calibri"/>
            </a:endParaRPr>
          </a:p>
        </p:txBody>
      </p:sp>
      <p:sp>
        <p:nvSpPr>
          <p:cNvPr id="583" name="Google Shape;583;p26"/>
          <p:cNvSpPr txBox="1"/>
          <p:nvPr/>
        </p:nvSpPr>
        <p:spPr>
          <a:xfrm>
            <a:off x="1828800" y="178308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Booked  </a:t>
            </a:r>
            <a:r>
              <a:rPr b="1" i="0" lang="en-US" spc="0" sz="1100" u="none" cap="none" strike="noStrike">
                <a:solidFill>
                  <a:srgbClr val="1D1D1F"/>
                </a:solidFill>
                <a:latin typeface="Play"/>
                <a:ea typeface="Play"/>
                <a:cs typeface="Play"/>
                <a:sym typeface="Play"/>
              </a:rPr>
              <a:t>5 hours</a:t>
            </a:r>
            <a:endParaRPr b="0" i="0" spc="0" sz="900" u="none" cap="none" strike="noStrike">
              <a:solidFill>
                <a:schemeClr val="dk1"/>
              </a:solidFill>
              <a:latin typeface="Calibri"/>
              <a:ea typeface="Calibri"/>
              <a:cs typeface="Calibri"/>
              <a:sym typeface="Calibri"/>
            </a:endParaRPr>
          </a:p>
        </p:txBody>
      </p:sp>
      <p:sp>
        <p:nvSpPr>
          <p:cNvPr id="584" name="Google Shape;584;p26"/>
          <p:cNvSpPr txBox="1"/>
          <p:nvPr/>
        </p:nvSpPr>
        <p:spPr>
          <a:xfrm>
            <a:off x="3090672" y="178308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t>
            </a:r>
            <a:r>
              <a:rPr b="1" i="0" lang="en-US" spc="0" sz="1100" u="none" cap="none" strike="noStrike">
                <a:solidFill>
                  <a:srgbClr val="1D1D1F"/>
                </a:solidFill>
                <a:latin typeface="Play"/>
                <a:ea typeface="Play"/>
                <a:cs typeface="Play"/>
                <a:sym typeface="Play"/>
              </a:rPr>
              <a:t>3 hours</a:t>
            </a:r>
            <a:endParaRPr b="0" i="0" spc="0" sz="900" u="none" cap="none" strike="noStrike">
              <a:solidFill>
                <a:schemeClr val="dk1"/>
              </a:solidFill>
              <a:latin typeface="Calibri"/>
              <a:ea typeface="Calibri"/>
              <a:cs typeface="Calibri"/>
              <a:sym typeface="Calibri"/>
            </a:endParaRPr>
          </a:p>
        </p:txBody>
      </p:sp>
      <p:sp>
        <p:nvSpPr>
          <p:cNvPr id="585" name="Google Shape;585;p26"/>
          <p:cNvSpPr txBox="1"/>
          <p:nvPr/>
        </p:nvSpPr>
        <p:spPr>
          <a:xfrm>
            <a:off x="566928" y="219456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Surge bonus  </a:t>
            </a:r>
            <a:r>
              <a:rPr b="1" i="0" lang="en-US" spc="0" sz="1100" u="none" cap="none" strike="noStrike">
                <a:solidFill>
                  <a:srgbClr val="1D1D1F"/>
                </a:solidFill>
                <a:latin typeface="Play"/>
                <a:ea typeface="Play"/>
                <a:cs typeface="Play"/>
                <a:sym typeface="Play"/>
              </a:rPr>
              <a:t>$12.50</a:t>
            </a:r>
            <a:endParaRPr b="0" i="0" spc="0" sz="900" u="none" cap="none" strike="noStrike">
              <a:solidFill>
                <a:schemeClr val="dk1"/>
              </a:solidFill>
              <a:latin typeface="Calibri"/>
              <a:ea typeface="Calibri"/>
              <a:cs typeface="Calibri"/>
              <a:sym typeface="Calibri"/>
            </a:endParaRPr>
          </a:p>
        </p:txBody>
      </p:sp>
      <p:sp>
        <p:nvSpPr>
          <p:cNvPr id="586" name="Google Shape;586;p26"/>
          <p:cNvSpPr txBox="1"/>
          <p:nvPr/>
        </p:nvSpPr>
        <p:spPr>
          <a:xfrm>
            <a:off x="1828800" y="2194560"/>
            <a:ext cx="12344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Tip  </a:t>
            </a:r>
            <a:r>
              <a:rPr b="1" i="0" lang="en-US" spc="0" sz="1100" u="none" cap="none" strike="noStrike">
                <a:solidFill>
                  <a:srgbClr val="1D1D1F"/>
                </a:solidFill>
                <a:latin typeface="Play"/>
                <a:ea typeface="Play"/>
                <a:cs typeface="Play"/>
                <a:sym typeface="Play"/>
              </a:rPr>
              <a:t>$10.00</a:t>
            </a:r>
            <a:endParaRPr b="0" i="0" spc="0" sz="900" u="none" cap="none" strike="noStrike">
              <a:solidFill>
                <a:schemeClr val="dk1"/>
              </a:solidFill>
              <a:latin typeface="Calibri"/>
              <a:ea typeface="Calibri"/>
              <a:cs typeface="Calibri"/>
              <a:sym typeface="Calibri"/>
            </a:endParaRPr>
          </a:p>
        </p:txBody>
      </p:sp>
      <p:sp>
        <p:nvSpPr>
          <p:cNvPr id="587" name="Google Shape;587;p26"/>
          <p:cNvSpPr/>
          <p:nvPr/>
        </p:nvSpPr>
        <p:spPr>
          <a:xfrm>
            <a:off x="411480" y="2788920"/>
            <a:ext cx="1965960" cy="1920240"/>
          </a:xfrm>
          <a:prstGeom prst="roundRect">
            <a:avLst>
              <a:gd fmla="val 381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8" name="Google Shape;588;p26"/>
          <p:cNvSpPr/>
          <p:nvPr/>
        </p:nvSpPr>
        <p:spPr>
          <a:xfrm>
            <a:off x="548640" y="2907792"/>
            <a:ext cx="411480" cy="41148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89" name="Google Shape;589;p26"/>
          <p:cNvPicPr preferRelativeResize="0"/>
          <p:nvPr/>
        </p:nvPicPr>
        <p:blipFill rotWithShape="1">
          <a:blip r:embed="rId4">
            <a:alphaModFix/>
          </a:blip>
          <a:srcRect b="0" l="0" r="0" t="0"/>
          <a:stretch/>
        </p:blipFill>
        <p:spPr>
          <a:xfrm>
            <a:off x="647395" y="3006547"/>
            <a:ext cx="213970" cy="213970"/>
          </a:xfrm>
          <a:prstGeom prst="rect">
            <a:avLst/>
          </a:prstGeom>
          <a:noFill/>
          <a:ln>
            <a:noFill/>
          </a:ln>
        </p:spPr>
      </p:pic>
      <p:sp>
        <p:nvSpPr>
          <p:cNvPr id="590" name="Google Shape;590;p26"/>
          <p:cNvSpPr txBox="1"/>
          <p:nvPr/>
        </p:nvSpPr>
        <p:spPr>
          <a:xfrm>
            <a:off x="1051560" y="2907792"/>
            <a:ext cx="128016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CP Sarah</a:t>
            </a:r>
            <a:endParaRPr b="0" i="0" spc="0" sz="1250" u="none" cap="none" strike="noStrike">
              <a:solidFill>
                <a:schemeClr val="dk1"/>
              </a:solidFill>
              <a:latin typeface="Calibri"/>
              <a:ea typeface="Calibri"/>
              <a:cs typeface="Calibri"/>
              <a:sym typeface="Calibri"/>
            </a:endParaRPr>
          </a:p>
        </p:txBody>
      </p:sp>
      <p:sp>
        <p:nvSpPr>
          <p:cNvPr id="591" name="Google Shape;591;p26"/>
          <p:cNvSpPr txBox="1"/>
          <p:nvPr/>
        </p:nvSpPr>
        <p:spPr>
          <a:xfrm>
            <a:off x="548640" y="3401568"/>
            <a:ext cx="17373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CA/CA-WA Operating Model</a:t>
            </a:r>
            <a:endParaRPr b="0" i="0" spc="0" sz="900" u="none" cap="none" strike="noStrike">
              <a:solidFill>
                <a:schemeClr val="dk1"/>
              </a:solidFill>
              <a:latin typeface="Calibri"/>
              <a:ea typeface="Calibri"/>
              <a:cs typeface="Calibri"/>
              <a:sym typeface="Calibri"/>
            </a:endParaRPr>
          </a:p>
        </p:txBody>
      </p:sp>
      <p:sp>
        <p:nvSpPr>
          <p:cNvPr id="592" name="Google Shape;592;p26"/>
          <p:cNvSpPr txBox="1"/>
          <p:nvPr/>
        </p:nvSpPr>
        <p:spPr>
          <a:xfrm>
            <a:off x="548640" y="3703320"/>
            <a:ext cx="173736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$30.00/hr  first-time C/CP pair</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$28.00/hr  repeat C/CP pair</a:t>
            </a:r>
            <a:endParaRPr b="0" i="0" spc="0" sz="900" u="none" cap="none" strike="noStrike">
              <a:solidFill>
                <a:schemeClr val="dk1"/>
              </a:solidFill>
              <a:latin typeface="Calibri"/>
              <a:ea typeface="Calibri"/>
              <a:cs typeface="Calibri"/>
              <a:sym typeface="Calibri"/>
            </a:endParaRPr>
          </a:p>
        </p:txBody>
      </p:sp>
      <p:sp>
        <p:nvSpPr>
          <p:cNvPr id="593" name="Google Shape;593;p26"/>
          <p:cNvSpPr/>
          <p:nvPr/>
        </p:nvSpPr>
        <p:spPr>
          <a:xfrm>
            <a:off x="2468880" y="2788920"/>
            <a:ext cx="1965960" cy="1920240"/>
          </a:xfrm>
          <a:prstGeom prst="roundRect">
            <a:avLst>
              <a:gd fmla="val 381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4" name="Google Shape;594;p26"/>
          <p:cNvSpPr/>
          <p:nvPr/>
        </p:nvSpPr>
        <p:spPr>
          <a:xfrm>
            <a:off x="2606040" y="2907792"/>
            <a:ext cx="411480" cy="41148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5" name="Google Shape;595;p26"/>
          <p:cNvPicPr preferRelativeResize="0"/>
          <p:nvPr/>
        </p:nvPicPr>
        <p:blipFill rotWithShape="1">
          <a:blip r:embed="rId4">
            <a:alphaModFix/>
          </a:blip>
          <a:srcRect b="0" l="0" r="0" t="0"/>
          <a:stretch/>
        </p:blipFill>
        <p:spPr>
          <a:xfrm>
            <a:off x="2704795" y="3006547"/>
            <a:ext cx="213970" cy="213970"/>
          </a:xfrm>
          <a:prstGeom prst="rect">
            <a:avLst/>
          </a:prstGeom>
          <a:noFill/>
          <a:ln>
            <a:noFill/>
          </a:ln>
        </p:spPr>
      </p:pic>
      <p:sp>
        <p:nvSpPr>
          <p:cNvPr id="596" name="Google Shape;596;p26"/>
          <p:cNvSpPr txBox="1"/>
          <p:nvPr/>
        </p:nvSpPr>
        <p:spPr>
          <a:xfrm>
            <a:off x="3108960" y="2907792"/>
            <a:ext cx="128016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CP Gab</a:t>
            </a:r>
            <a:endParaRPr b="0" i="0" spc="0" sz="1250" u="none" cap="none" strike="noStrike">
              <a:solidFill>
                <a:schemeClr val="dk1"/>
              </a:solidFill>
              <a:latin typeface="Calibri"/>
              <a:ea typeface="Calibri"/>
              <a:cs typeface="Calibri"/>
              <a:sym typeface="Calibri"/>
            </a:endParaRPr>
          </a:p>
        </p:txBody>
      </p:sp>
      <p:sp>
        <p:nvSpPr>
          <p:cNvPr id="597" name="Google Shape;597;p26"/>
          <p:cNvSpPr txBox="1"/>
          <p:nvPr/>
        </p:nvSpPr>
        <p:spPr>
          <a:xfrm>
            <a:off x="2606040" y="3401568"/>
            <a:ext cx="17373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900"/>
              <a:buFont typeface="Arial"/>
              <a:buNone/>
            </a:pPr>
            <a:r>
              <a:rPr b="1" i="0" lang="en-US" spc="0" sz="900" u="none" cap="none" strike="noStrike">
                <a:solidFill>
                  <a:srgbClr val="0B7A6F"/>
                </a:solidFill>
                <a:latin typeface="Arial"/>
                <a:ea typeface="Arial"/>
                <a:cs typeface="Arial"/>
                <a:sym typeface="Arial"/>
              </a:rPr>
              <a:t>General Operating Model</a:t>
            </a:r>
            <a:endParaRPr b="0" i="0" spc="0" sz="900" u="none" cap="none" strike="noStrike">
              <a:solidFill>
                <a:schemeClr val="dk1"/>
              </a:solidFill>
              <a:latin typeface="Calibri"/>
              <a:ea typeface="Calibri"/>
              <a:cs typeface="Calibri"/>
              <a:sym typeface="Calibri"/>
            </a:endParaRPr>
          </a:p>
        </p:txBody>
      </p:sp>
      <p:sp>
        <p:nvSpPr>
          <p:cNvPr id="598" name="Google Shape;598;p26"/>
          <p:cNvSpPr txBox="1"/>
          <p:nvPr/>
        </p:nvSpPr>
        <p:spPr>
          <a:xfrm>
            <a:off x="2606040" y="3703320"/>
            <a:ext cx="173736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$24.00/hr  one rate</a:t>
            </a:r>
            <a:endParaRPr b="0" i="0" spc="0" sz="900" u="none" cap="none" strike="noStrike">
              <a:solidFill>
                <a:schemeClr val="dk1"/>
              </a:solidFill>
              <a:latin typeface="Calibri"/>
              <a:ea typeface="Calibri"/>
              <a:cs typeface="Calibri"/>
              <a:sym typeface="Calibri"/>
            </a:endParaRPr>
          </a:p>
        </p:txBody>
      </p:sp>
      <p:sp>
        <p:nvSpPr>
          <p:cNvPr id="599" name="Google Shape;599;p26"/>
          <p:cNvSpPr/>
          <p:nvPr/>
        </p:nvSpPr>
        <p:spPr>
          <a:xfrm>
            <a:off x="4572000" y="1234440"/>
            <a:ext cx="4160520" cy="457200"/>
          </a:xfrm>
          <a:prstGeom prst="roundRect">
            <a:avLst>
              <a:gd fmla="val 20000"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0" name="Google Shape;600;p26"/>
          <p:cNvPicPr preferRelativeResize="0"/>
          <p:nvPr/>
        </p:nvPicPr>
        <p:blipFill rotWithShape="1">
          <a:blip r:embed="rId5">
            <a:alphaModFix/>
          </a:blip>
          <a:srcRect b="0" l="0" r="0" t="0"/>
          <a:stretch/>
        </p:blipFill>
        <p:spPr>
          <a:xfrm>
            <a:off x="4754880" y="1353312"/>
            <a:ext cx="219456" cy="219456"/>
          </a:xfrm>
          <a:prstGeom prst="rect">
            <a:avLst/>
          </a:prstGeom>
          <a:noFill/>
          <a:ln>
            <a:noFill/>
          </a:ln>
        </p:spPr>
      </p:pic>
      <p:sp>
        <p:nvSpPr>
          <p:cNvPr id="601" name="Google Shape;601;p26"/>
          <p:cNvSpPr txBox="1"/>
          <p:nvPr/>
        </p:nvSpPr>
        <p:spPr>
          <a:xfrm>
            <a:off x="5074920" y="1234440"/>
            <a:ext cx="34747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Show Answers</a:t>
            </a:r>
            <a:endParaRPr b="0" i="0" spc="0" sz="1300" u="none" cap="none" strike="noStrike">
              <a:solidFill>
                <a:schemeClr val="dk1"/>
              </a:solidFill>
              <a:latin typeface="Calibri"/>
              <a:ea typeface="Calibri"/>
              <a:cs typeface="Calibri"/>
              <a:sym typeface="Calibri"/>
            </a:endParaRPr>
          </a:p>
        </p:txBody>
      </p:sp>
      <p:sp>
        <p:nvSpPr>
          <p:cNvPr id="602" name="Google Shape;602;p26"/>
          <p:cNvSpPr/>
          <p:nvPr/>
        </p:nvSpPr>
        <p:spPr>
          <a:xfrm>
            <a:off x="4572000" y="1783080"/>
            <a:ext cx="4160520" cy="2926080"/>
          </a:xfrm>
          <a:prstGeom prst="roundRect">
            <a:avLst>
              <a:gd fmla="val 25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3" name="Google Shape;603;p26"/>
          <p:cNvSpPr txBox="1"/>
          <p:nvPr/>
        </p:nvSpPr>
        <p:spPr>
          <a:xfrm>
            <a:off x="4754880" y="1920240"/>
            <a:ext cx="3794760" cy="2697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1250"/>
              <a:buFont typeface="Play"/>
              <a:buNone/>
            </a:pPr>
            <a:r>
              <a:rPr b="1" i="0" lang="en-US" spc="0" sz="1250" u="none" cap="none" strike="noStrike">
                <a:solidFill>
                  <a:srgbClr val="0B7A6F"/>
                </a:solidFill>
                <a:latin typeface="Play"/>
                <a:ea typeface="Play"/>
                <a:cs typeface="Play"/>
                <a:sym typeface="Play"/>
              </a:rPr>
              <a:t>CP Sarah:  $162.50</a:t>
            </a:r>
            <a:br>
              <a:rPr b="0" i="0" lang="en-US" spc="0" sz="1800" u="none" cap="none" strike="noStrike">
                <a:solidFill>
                  <a:schemeClr val="dk1"/>
                </a:solidFill>
                <a:latin typeface="Calibri"/>
                <a:ea typeface="Calibri"/>
                <a:cs typeface="Calibri"/>
                <a:sym typeface="Calibri"/>
              </a:rPr>
            </a:br>
            <a:r>
              <a:rPr b="0" i="0" lang="en-US" spc="0" sz="950" u="none" cap="none" strike="noStrike">
                <a:solidFill>
                  <a:srgbClr val="1D1D1F"/>
                </a:solidFill>
                <a:latin typeface="Arial"/>
                <a:ea typeface="Arial"/>
                <a:cs typeface="Arial"/>
                <a:sym typeface="Arial"/>
              </a:rPr>
              <a:t>$28/hr repeat rate × 5 hrs + $12.50 surge bonus + $10.00 tip</a:t>
            </a:r>
            <a:endParaRPr b="0" i="0" spc="0" sz="1250" u="none" cap="none" strike="noStrike">
              <a:solidFill>
                <a:schemeClr val="dk1"/>
              </a:solidFill>
              <a:latin typeface="Calibri"/>
              <a:ea typeface="Calibri"/>
              <a:cs typeface="Calibri"/>
              <a:sym typeface="Calibri"/>
            </a:endParaRPr>
          </a:p>
          <a:p>
            <a:pPr indent="0" lvl="0" marL="0" marR="0" rtl="0" algn="l">
              <a:lnSpc>
                <a:spcPct val="100000"/>
              </a:lnSpc>
              <a:spcBef>
                <a:spcPts val="1200"/>
              </a:spcBef>
              <a:spcAft>
                <a:spcPts val="0"/>
              </a:spcAft>
              <a:buClr>
                <a:srgbClr val="0B7A6F"/>
              </a:buClr>
              <a:buSzPts val="1250"/>
              <a:buFont typeface="Play"/>
              <a:buNone/>
            </a:pPr>
            <a:r>
              <a:rPr b="1" i="0" lang="en-US" spc="0" sz="1250" u="none" cap="none" strike="noStrike">
                <a:solidFill>
                  <a:srgbClr val="0B7A6F"/>
                </a:solidFill>
                <a:latin typeface="Play"/>
                <a:ea typeface="Play"/>
                <a:cs typeface="Play"/>
                <a:sym typeface="Play"/>
              </a:rPr>
              <a:t>CP Gab:  $142.50</a:t>
            </a:r>
            <a:br>
              <a:rPr b="0" i="0" lang="en-US" spc="0" sz="1800" u="none" cap="none" strike="noStrike">
                <a:solidFill>
                  <a:schemeClr val="dk1"/>
                </a:solidFill>
                <a:latin typeface="Calibri"/>
                <a:ea typeface="Calibri"/>
                <a:cs typeface="Calibri"/>
                <a:sym typeface="Calibri"/>
              </a:rPr>
            </a:br>
            <a:r>
              <a:rPr b="0" i="0" lang="en-US" spc="0" sz="950" u="none" cap="none" strike="noStrike">
                <a:solidFill>
                  <a:srgbClr val="1D1D1F"/>
                </a:solidFill>
                <a:latin typeface="Arial"/>
                <a:ea typeface="Arial"/>
                <a:cs typeface="Arial"/>
                <a:sym typeface="Arial"/>
              </a:rPr>
              <a:t>$24/hr × 5 hrs + $12.50 surge bonus + $10.00 tip (repeat client, so no $5 match fee)</a:t>
            </a:r>
            <a:endParaRPr b="0" i="0" spc="0" sz="1250" u="none" cap="none" strike="noStrike">
              <a:solidFill>
                <a:schemeClr val="dk1"/>
              </a:solidFill>
              <a:latin typeface="Calibri"/>
              <a:ea typeface="Calibri"/>
              <a:cs typeface="Calibri"/>
              <a:sym typeface="Calibri"/>
            </a:endParaRPr>
          </a:p>
          <a:p>
            <a:pPr indent="0" lvl="0" marL="0" marR="0" rtl="0" algn="l">
              <a:lnSpc>
                <a:spcPct val="100000"/>
              </a:lnSpc>
              <a:spcBef>
                <a:spcPts val="1200"/>
              </a:spcBef>
              <a:spcAft>
                <a:spcPts val="0"/>
              </a:spcAft>
              <a:buClr>
                <a:srgbClr val="0B7A6F"/>
              </a:buClr>
              <a:buSzPts val="1250"/>
              <a:buFont typeface="Play"/>
              <a:buNone/>
            </a:pPr>
            <a:r>
              <a:rPr b="1" i="0" lang="en-US" spc="0" sz="1250" u="none" cap="none" strike="noStrike">
                <a:solidFill>
                  <a:srgbClr val="0B7A6F"/>
                </a:solidFill>
                <a:latin typeface="Play"/>
                <a:ea typeface="Play"/>
                <a:cs typeface="Play"/>
                <a:sym typeface="Play"/>
              </a:rPr>
              <a:t>Key point</a:t>
            </a:r>
            <a:br>
              <a:rPr b="0" i="0" lang="en-US" spc="0" sz="1800" u="none" cap="none" strike="noStrike">
                <a:solidFill>
                  <a:schemeClr val="dk1"/>
                </a:solidFill>
                <a:latin typeface="Calibri"/>
                <a:ea typeface="Calibri"/>
                <a:cs typeface="Calibri"/>
                <a:sym typeface="Calibri"/>
              </a:rPr>
            </a:br>
            <a:r>
              <a:rPr b="0" i="0" lang="en-US" spc="0" sz="950" u="none" cap="none" strike="noStrike">
                <a:solidFill>
                  <a:srgbClr val="1D1D1F"/>
                </a:solidFill>
                <a:latin typeface="Arial"/>
                <a:ea typeface="Arial"/>
                <a:cs typeface="Arial"/>
                <a:sym typeface="Arial"/>
              </a:rPr>
              <a:t>The 3-hour voucher only lowers what the customer pays. The cleaner is still paid for all 5 hours.</a:t>
            </a:r>
            <a:endParaRPr b="0" i="0" spc="0" sz="1250" u="none" cap="none" strike="noStrike">
              <a:solidFill>
                <a:schemeClr val="dk1"/>
              </a:solidFill>
              <a:latin typeface="Calibri"/>
              <a:ea typeface="Calibri"/>
              <a:cs typeface="Calibri"/>
              <a:sym typeface="Calibri"/>
            </a:endParaRPr>
          </a:p>
        </p:txBody>
      </p:sp>
      <p:sp>
        <p:nvSpPr>
          <p:cNvPr id="604" name="Google Shape;604;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3">
                                            <p:txEl>
                                              <p:pRg end="0" st="0"/>
                                            </p:txEl>
                                          </p:spTgt>
                                        </p:tgtEl>
                                        <p:attrNameLst>
                                          <p:attrName>style.visibility</p:attrName>
                                        </p:attrNameLst>
                                      </p:cBhvr>
                                      <p:to>
                                        <p:strVal val="visible"/>
                                      </p:to>
                                    </p:set>
                                    <p:animEffect filter="fade" transition="in">
                                      <p:cBhvr>
                                        <p:cTn dur="600"/>
                                        <p:tgtEl>
                                          <p:spTgt spid="603">
                                            <p:txEl>
                                              <p:pRg end="0" st="0"/>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3">
                                            <p:txEl>
                                              <p:pRg end="1" st="1"/>
                                            </p:txEl>
                                          </p:spTgt>
                                        </p:tgtEl>
                                        <p:attrNameLst>
                                          <p:attrName>style.visibility</p:attrName>
                                        </p:attrNameLst>
                                      </p:cBhvr>
                                      <p:to>
                                        <p:strVal val="visible"/>
                                      </p:to>
                                    </p:set>
                                    <p:animEffect filter="fade" transition="in">
                                      <p:cBhvr>
                                        <p:cTn dur="600"/>
                                        <p:tgtEl>
                                          <p:spTgt spid="603">
                                            <p:txEl>
                                              <p:pRg end="1" st="1"/>
                                            </p:txEl>
                                          </p:spTgt>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3">
                                            <p:txEl>
                                              <p:pRg end="2" st="2"/>
                                            </p:txEl>
                                          </p:spTgt>
                                        </p:tgtEl>
                                        <p:attrNameLst>
                                          <p:attrName>style.visibility</p:attrName>
                                        </p:attrNameLst>
                                      </p:cBhvr>
                                      <p:to>
                                        <p:strVal val="visible"/>
                                      </p:to>
                                    </p:set>
                                    <p:animEffect filter="fade" transition="in">
                                      <p:cBhvr>
                                        <p:cTn dur="600"/>
                                        <p:tgtEl>
                                          <p:spTgt spid="603">
                                            <p:txEl>
                                              <p:pRg end="2" st="2"/>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9" name="Shape 609"/>
        <p:cNvGrpSpPr/>
        <p:nvPr/>
      </p:nvGrpSpPr>
      <p:grpSpPr>
        <a:xfrm>
          <a:off x="0" y="0"/>
          <a:ext cx="0" cy="0"/>
          <a:chOff x="0" y="0"/>
          <a:chExt cx="0" cy="0"/>
        </a:xfrm>
      </p:grpSpPr>
      <p:sp>
        <p:nvSpPr>
          <p:cNvPr id="610" name="Google Shape;610;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611" name="Google Shape;611;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When a "platform fee" shows up</a:t>
            </a:r>
            <a:endParaRPr b="0" i="0" spc="0" sz="2400" u="none" cap="none" strike="noStrike">
              <a:solidFill>
                <a:schemeClr val="dk1"/>
              </a:solidFill>
              <a:latin typeface="Calibri"/>
              <a:ea typeface="Calibri"/>
              <a:cs typeface="Calibri"/>
              <a:sym typeface="Calibri"/>
            </a:endParaRPr>
          </a:p>
        </p:txBody>
      </p:sp>
      <p:sp>
        <p:nvSpPr>
          <p:cNvPr id="612" name="Google Shape;612;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 customers have no platform fee. If one shows on an FC invoice, it's one of these cases. Not an error.</a:t>
            </a:r>
            <a:endParaRPr b="0" i="0" spc="0" sz="1200" u="none" cap="none" strike="noStrike">
              <a:solidFill>
                <a:schemeClr val="dk1"/>
              </a:solidFill>
              <a:latin typeface="Calibri"/>
              <a:ea typeface="Calibri"/>
              <a:cs typeface="Calibri"/>
              <a:sym typeface="Calibri"/>
            </a:endParaRPr>
          </a:p>
        </p:txBody>
      </p:sp>
      <p:graphicFrame>
        <p:nvGraphicFramePr>
          <p:cNvPr id="613" name="Google Shape;613;p27"/>
          <p:cNvGraphicFramePr/>
          <p:nvPr/>
        </p:nvGraphicFramePr>
        <p:xfrm>
          <a:off x="411480" y="1325880"/>
          <a:ext cx="3000000" cy="3000000"/>
        </p:xfrm>
        <a:graphic>
          <a:graphicData uri="http://schemas.openxmlformats.org/drawingml/2006/table">
            <a:tbl>
              <a:tblPr>
                <a:noFill/>
                <a:tableStyleId>{9D323186-7024-4D31-ABB8-6DE780CD1503}</a:tableStyleId>
              </a:tblPr>
              <a:tblGrid>
                <a:gridCol w="2468875"/>
                <a:gridCol w="2194550"/>
                <a:gridCol w="3657600"/>
              </a:tblGrid>
              <a:tr h="402325">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Customer pays</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The "platform fee" line is</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FC · General · first pairing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The cleaner's rate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The $5/hr marketing fee, taken from the cleaner's pay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FC · General · repeat pairing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The cleaner's rate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Nothing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FC · CA/CA-WA · two rates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The higher of the two rates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The difference between the rates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FC · CA/CA-WA · one rate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The cleaner's rate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Nothing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Non-FC or deactivated FC</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The max CP rate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Cohort fee ($15 or $30/hr) + gap to the cleaner's rate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614" name="Google Shape;614;p27"/>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15" name="Google Shape;615;p27"/>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616" name="Google Shape;616;p27"/>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principle:  </a:t>
            </a:r>
            <a:r>
              <a:rPr b="0" i="0" lang="en-US" spc="0" sz="1000" u="none" cap="none" strike="noStrike">
                <a:solidFill>
                  <a:srgbClr val="1D1D1F"/>
                </a:solidFill>
                <a:latin typeface="Arial"/>
                <a:ea typeface="Arial"/>
                <a:cs typeface="Arial"/>
                <a:sym typeface="Arial"/>
              </a:rPr>
              <a:t>if the customer pays more than the cleaner's rate, the cleaner still gets their rate. The rest goes to Homeaglow.</a:t>
            </a:r>
            <a:endParaRPr b="0" i="0" spc="0" sz="1000" u="none" cap="none" strike="noStrike">
              <a:solidFill>
                <a:schemeClr val="dk1"/>
              </a:solidFill>
              <a:latin typeface="Calibri"/>
              <a:ea typeface="Calibri"/>
              <a:cs typeface="Calibri"/>
              <a:sym typeface="Calibri"/>
            </a:endParaRPr>
          </a:p>
        </p:txBody>
      </p:sp>
      <p:sp>
        <p:nvSpPr>
          <p:cNvPr id="617" name="Google Shape;617;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624" name="Google Shape;624;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Worked example</a:t>
            </a:r>
            <a:endParaRPr b="0" i="0" spc="0" sz="2400" u="none" cap="none" strike="noStrike">
              <a:solidFill>
                <a:schemeClr val="dk1"/>
              </a:solidFill>
              <a:latin typeface="Calibri"/>
              <a:ea typeface="Calibri"/>
              <a:cs typeface="Calibri"/>
              <a:sym typeface="Calibri"/>
            </a:endParaRPr>
          </a:p>
        </p:txBody>
      </p:sp>
      <p:sp>
        <p:nvSpPr>
          <p:cNvPr id="625" name="Google Shape;625;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deactivated FC customer sees a $40/hr platform fee. Is it right?</a:t>
            </a:r>
            <a:endParaRPr b="0" i="0" spc="0" sz="1200" u="none" cap="none" strike="noStrike">
              <a:solidFill>
                <a:schemeClr val="dk1"/>
              </a:solidFill>
              <a:latin typeface="Calibri"/>
              <a:ea typeface="Calibri"/>
              <a:cs typeface="Calibri"/>
              <a:sym typeface="Calibri"/>
            </a:endParaRPr>
          </a:p>
        </p:txBody>
      </p:sp>
      <p:sp>
        <p:nvSpPr>
          <p:cNvPr id="626" name="Google Shape;626;p28"/>
          <p:cNvSpPr/>
          <p:nvPr/>
        </p:nvSpPr>
        <p:spPr>
          <a:xfrm>
            <a:off x="594360" y="1371600"/>
            <a:ext cx="219456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7" name="Google Shape;627;p28"/>
          <p:cNvSpPr txBox="1"/>
          <p:nvPr/>
        </p:nvSpPr>
        <p:spPr>
          <a:xfrm>
            <a:off x="594360" y="1508760"/>
            <a:ext cx="21945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2800"/>
              <a:buFont typeface="Play"/>
              <a:buNone/>
            </a:pPr>
            <a:r>
              <a:rPr b="1" i="0" lang="en-US" spc="0" sz="2800" u="none" cap="none" strike="noStrike">
                <a:solidFill>
                  <a:srgbClr val="0B7A6F"/>
                </a:solidFill>
                <a:latin typeface="Play"/>
                <a:ea typeface="Play"/>
                <a:cs typeface="Play"/>
                <a:sym typeface="Play"/>
              </a:rPr>
              <a:t>$30/hr</a:t>
            </a:r>
            <a:endParaRPr b="0" i="0" spc="0" sz="2800" u="none" cap="none" strike="noStrike">
              <a:solidFill>
                <a:schemeClr val="dk1"/>
              </a:solidFill>
              <a:latin typeface="Calibri"/>
              <a:ea typeface="Calibri"/>
              <a:cs typeface="Calibri"/>
              <a:sym typeface="Calibri"/>
            </a:endParaRPr>
          </a:p>
        </p:txBody>
      </p:sp>
      <p:sp>
        <p:nvSpPr>
          <p:cNvPr id="628" name="Google Shape;628;p28"/>
          <p:cNvSpPr txBox="1"/>
          <p:nvPr/>
        </p:nvSpPr>
        <p:spPr>
          <a:xfrm>
            <a:off x="594360" y="219456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Deactivated FC</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platform fee</a:t>
            </a:r>
            <a:endParaRPr b="0" i="0" spc="0" sz="1000" u="none" cap="none" strike="noStrike">
              <a:solidFill>
                <a:schemeClr val="dk1"/>
              </a:solidFill>
              <a:latin typeface="Calibri"/>
              <a:ea typeface="Calibri"/>
              <a:cs typeface="Calibri"/>
              <a:sym typeface="Calibri"/>
            </a:endParaRPr>
          </a:p>
        </p:txBody>
      </p:sp>
      <p:sp>
        <p:nvSpPr>
          <p:cNvPr id="629" name="Google Shape;629;p28"/>
          <p:cNvSpPr txBox="1"/>
          <p:nvPr/>
        </p:nvSpPr>
        <p:spPr>
          <a:xfrm>
            <a:off x="2880360" y="1371600"/>
            <a:ext cx="457200" cy="1600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E6E73"/>
              </a:buClr>
              <a:buSzPts val="2600"/>
              <a:buFont typeface="Play"/>
              <a:buNone/>
            </a:pPr>
            <a:r>
              <a:rPr b="1" i="0" lang="en-US" spc="0" sz="2600" u="none" cap="none" strike="noStrike">
                <a:solidFill>
                  <a:srgbClr val="6E6E73"/>
                </a:solidFill>
                <a:latin typeface="Play"/>
                <a:ea typeface="Play"/>
                <a:cs typeface="Play"/>
                <a:sym typeface="Play"/>
              </a:rPr>
              <a:t>+</a:t>
            </a:r>
            <a:endParaRPr b="0" i="0" spc="0" sz="2600" u="none" cap="none" strike="noStrike">
              <a:solidFill>
                <a:schemeClr val="dk1"/>
              </a:solidFill>
              <a:latin typeface="Calibri"/>
              <a:ea typeface="Calibri"/>
              <a:cs typeface="Calibri"/>
              <a:sym typeface="Calibri"/>
            </a:endParaRPr>
          </a:p>
        </p:txBody>
      </p:sp>
      <p:sp>
        <p:nvSpPr>
          <p:cNvPr id="630" name="Google Shape;630;p28"/>
          <p:cNvSpPr/>
          <p:nvPr/>
        </p:nvSpPr>
        <p:spPr>
          <a:xfrm>
            <a:off x="3429000" y="1371600"/>
            <a:ext cx="219456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8"/>
          <p:cNvSpPr txBox="1"/>
          <p:nvPr/>
        </p:nvSpPr>
        <p:spPr>
          <a:xfrm>
            <a:off x="3429000" y="1508760"/>
            <a:ext cx="21945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2800"/>
              <a:buFont typeface="Play"/>
              <a:buNone/>
            </a:pPr>
            <a:r>
              <a:rPr b="1" i="0" lang="en-US" spc="0" sz="2800" u="none" cap="none" strike="noStrike">
                <a:solidFill>
                  <a:srgbClr val="0B7A6F"/>
                </a:solidFill>
                <a:latin typeface="Play"/>
                <a:ea typeface="Play"/>
                <a:cs typeface="Play"/>
                <a:sym typeface="Play"/>
              </a:rPr>
              <a:t>$10/hr</a:t>
            </a:r>
            <a:endParaRPr b="0" i="0" spc="0" sz="2800" u="none" cap="none" strike="noStrike">
              <a:solidFill>
                <a:schemeClr val="dk1"/>
              </a:solidFill>
              <a:latin typeface="Calibri"/>
              <a:ea typeface="Calibri"/>
              <a:cs typeface="Calibri"/>
              <a:sym typeface="Calibri"/>
            </a:endParaRPr>
          </a:p>
        </p:txBody>
      </p:sp>
      <p:sp>
        <p:nvSpPr>
          <p:cNvPr id="632" name="Google Shape;632;p28"/>
          <p:cNvSpPr txBox="1"/>
          <p:nvPr/>
        </p:nvSpPr>
        <p:spPr>
          <a:xfrm>
            <a:off x="3429000" y="219456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rate $25 −</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cleaner's rate $15</a:t>
            </a:r>
            <a:endParaRPr b="0" i="0" spc="0" sz="1000" u="none" cap="none" strike="noStrike">
              <a:solidFill>
                <a:schemeClr val="dk1"/>
              </a:solidFill>
              <a:latin typeface="Calibri"/>
              <a:ea typeface="Calibri"/>
              <a:cs typeface="Calibri"/>
              <a:sym typeface="Calibri"/>
            </a:endParaRPr>
          </a:p>
        </p:txBody>
      </p:sp>
      <p:sp>
        <p:nvSpPr>
          <p:cNvPr id="633" name="Google Shape;633;p28"/>
          <p:cNvSpPr txBox="1"/>
          <p:nvPr/>
        </p:nvSpPr>
        <p:spPr>
          <a:xfrm>
            <a:off x="5715000" y="1371600"/>
            <a:ext cx="457200" cy="1600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E6E73"/>
              </a:buClr>
              <a:buSzPts val="2600"/>
              <a:buFont typeface="Play"/>
              <a:buNone/>
            </a:pPr>
            <a:r>
              <a:rPr b="1" i="0" lang="en-US" spc="0" sz="2600" u="none" cap="none" strike="noStrike">
                <a:solidFill>
                  <a:srgbClr val="6E6E73"/>
                </a:solidFill>
                <a:latin typeface="Play"/>
                <a:ea typeface="Play"/>
                <a:cs typeface="Play"/>
                <a:sym typeface="Play"/>
              </a:rPr>
              <a:t>=</a:t>
            </a:r>
            <a:endParaRPr b="0" i="0" spc="0" sz="2600" u="none" cap="none" strike="noStrike">
              <a:solidFill>
                <a:schemeClr val="dk1"/>
              </a:solidFill>
              <a:latin typeface="Calibri"/>
              <a:ea typeface="Calibri"/>
              <a:cs typeface="Calibri"/>
              <a:sym typeface="Calibri"/>
            </a:endParaRPr>
          </a:p>
        </p:txBody>
      </p:sp>
      <p:sp>
        <p:nvSpPr>
          <p:cNvPr id="634" name="Google Shape;634;p28"/>
          <p:cNvSpPr/>
          <p:nvPr/>
        </p:nvSpPr>
        <p:spPr>
          <a:xfrm>
            <a:off x="6263640" y="1371600"/>
            <a:ext cx="2194560" cy="1600200"/>
          </a:xfrm>
          <a:prstGeom prst="roundRect">
            <a:avLst>
              <a:gd fmla="val 457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5" name="Google Shape;635;p28"/>
          <p:cNvSpPr txBox="1"/>
          <p:nvPr/>
        </p:nvSpPr>
        <p:spPr>
          <a:xfrm>
            <a:off x="6263640" y="1508760"/>
            <a:ext cx="21945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800"/>
              <a:buFont typeface="Play"/>
              <a:buNone/>
            </a:pPr>
            <a:r>
              <a:rPr b="1" i="0" lang="en-US" spc="0" sz="2800" u="none" cap="none" strike="noStrike">
                <a:solidFill>
                  <a:srgbClr val="FFFFFF"/>
                </a:solidFill>
                <a:latin typeface="Play"/>
                <a:ea typeface="Play"/>
                <a:cs typeface="Play"/>
                <a:sym typeface="Play"/>
              </a:rPr>
              <a:t>$40/hr</a:t>
            </a:r>
            <a:endParaRPr b="0" i="0" spc="0" sz="2800" u="none" cap="none" strike="noStrike">
              <a:solidFill>
                <a:schemeClr val="dk1"/>
              </a:solidFill>
              <a:latin typeface="Calibri"/>
              <a:ea typeface="Calibri"/>
              <a:cs typeface="Calibri"/>
              <a:sym typeface="Calibri"/>
            </a:endParaRPr>
          </a:p>
        </p:txBody>
      </p:sp>
      <p:sp>
        <p:nvSpPr>
          <p:cNvPr id="636" name="Google Shape;636;p28"/>
          <p:cNvSpPr txBox="1"/>
          <p:nvPr/>
        </p:nvSpPr>
        <p:spPr>
          <a:xfrm>
            <a:off x="6263640" y="2194560"/>
            <a:ext cx="2194560" cy="6400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Arial"/>
              <a:buNone/>
            </a:pPr>
            <a:r>
              <a:rPr b="0" i="0" lang="en-US" spc="0" sz="1000" u="none" cap="none" strike="noStrike">
                <a:solidFill>
                  <a:srgbClr val="FFFFFF"/>
                </a:solidFill>
                <a:latin typeface="Arial"/>
                <a:ea typeface="Arial"/>
                <a:cs typeface="Arial"/>
                <a:sym typeface="Arial"/>
              </a:rPr>
              <a:t>Platform fee</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FFFFFF"/>
              </a:buClr>
              <a:buSzPts val="1000"/>
              <a:buFont typeface="Arial"/>
              <a:buNone/>
            </a:pPr>
            <a:r>
              <a:rPr b="0" i="0" lang="en-US" spc="0" sz="1000" u="none" cap="none" strike="noStrike">
                <a:solidFill>
                  <a:srgbClr val="FFFFFF"/>
                </a:solidFill>
                <a:latin typeface="Arial"/>
                <a:ea typeface="Arial"/>
                <a:cs typeface="Arial"/>
                <a:sym typeface="Arial"/>
              </a:rPr>
              <a:t>on the invoice</a:t>
            </a:r>
            <a:endParaRPr b="0" i="0" spc="0" sz="1000" u="none" cap="none" strike="noStrike">
              <a:solidFill>
                <a:schemeClr val="dk1"/>
              </a:solidFill>
              <a:latin typeface="Calibri"/>
              <a:ea typeface="Calibri"/>
              <a:cs typeface="Calibri"/>
              <a:sym typeface="Calibri"/>
            </a:endParaRPr>
          </a:p>
        </p:txBody>
      </p:sp>
      <p:sp>
        <p:nvSpPr>
          <p:cNvPr id="637" name="Google Shape;637;p28"/>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38" name="Google Shape;638;p28"/>
          <p:cNvPicPr preferRelativeResize="0"/>
          <p:nvPr/>
        </p:nvPicPr>
        <p:blipFill rotWithShape="1">
          <a:blip r:embed="rId3">
            <a:alphaModFix/>
          </a:blip>
          <a:srcRect b="0" l="0" r="0" t="0"/>
          <a:stretch/>
        </p:blipFill>
        <p:spPr>
          <a:xfrm>
            <a:off x="566928" y="3355848"/>
            <a:ext cx="164592" cy="164592"/>
          </a:xfrm>
          <a:prstGeom prst="rect">
            <a:avLst/>
          </a:prstGeom>
          <a:noFill/>
          <a:ln>
            <a:noFill/>
          </a:ln>
        </p:spPr>
      </p:pic>
      <p:sp>
        <p:nvSpPr>
          <p:cNvPr id="639" name="Google Shape;639;p28"/>
          <p:cNvSpPr txBox="1"/>
          <p:nvPr/>
        </p:nvSpPr>
        <p:spPr>
          <a:xfrm>
            <a:off x="822960" y="33467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Correct charge:  </a:t>
            </a:r>
            <a:r>
              <a:rPr b="0" i="0" lang="en-US" spc="0" sz="1000" u="none" cap="none" strike="noStrike">
                <a:solidFill>
                  <a:srgbClr val="1D1D1F"/>
                </a:solidFill>
                <a:latin typeface="Arial"/>
                <a:ea typeface="Arial"/>
                <a:cs typeface="Arial"/>
                <a:sym typeface="Arial"/>
              </a:rPr>
              <a:t>don't reprice it and don't refund the difference. The cleaner is still paid $15/hr.</a:t>
            </a:r>
            <a:endParaRPr b="0" i="0" spc="0" sz="1000" u="none" cap="none" strike="noStrike">
              <a:solidFill>
                <a:schemeClr val="dk1"/>
              </a:solidFill>
              <a:latin typeface="Calibri"/>
              <a:ea typeface="Calibri"/>
              <a:cs typeface="Calibri"/>
              <a:sym typeface="Calibri"/>
            </a:endParaRPr>
          </a:p>
        </p:txBody>
      </p:sp>
      <p:sp>
        <p:nvSpPr>
          <p:cNvPr id="640" name="Google Shape;640;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5" name="Shape 645"/>
        <p:cNvGrpSpPr/>
        <p:nvPr/>
      </p:nvGrpSpPr>
      <p:grpSpPr>
        <a:xfrm>
          <a:off x="0" y="0"/>
          <a:ext cx="0" cy="0"/>
          <a:chOff x="0" y="0"/>
          <a:chExt cx="0" cy="0"/>
        </a:xfrm>
      </p:grpSpPr>
      <p:sp>
        <p:nvSpPr>
          <p:cNvPr id="646" name="Google Shape;646;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647" name="Google Shape;647;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Max requested rate</a:t>
            </a:r>
            <a:endParaRPr b="0" i="0" spc="0" sz="2400" u="none" cap="none" strike="noStrike">
              <a:solidFill>
                <a:schemeClr val="dk1"/>
              </a:solidFill>
              <a:latin typeface="Calibri"/>
              <a:ea typeface="Calibri"/>
              <a:cs typeface="Calibri"/>
              <a:sym typeface="Calibri"/>
            </a:endParaRPr>
          </a:p>
        </p:txBody>
      </p:sp>
      <p:sp>
        <p:nvSpPr>
          <p:cNvPr id="648" name="Google Shape;648;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Non-FC and deactivated FC customers are priced at the highest rate among the cleaners they requested.</a:t>
            </a:r>
            <a:endParaRPr b="0" i="0" spc="0" sz="1200" u="none" cap="none" strike="noStrike">
              <a:solidFill>
                <a:schemeClr val="dk1"/>
              </a:solidFill>
              <a:latin typeface="Calibri"/>
              <a:ea typeface="Calibri"/>
              <a:cs typeface="Calibri"/>
              <a:sym typeface="Calibri"/>
            </a:endParaRPr>
          </a:p>
        </p:txBody>
      </p:sp>
      <p:sp>
        <p:nvSpPr>
          <p:cNvPr id="649" name="Google Shape;649;p29"/>
          <p:cNvSpPr txBox="1"/>
          <p:nvPr/>
        </p:nvSpPr>
        <p:spPr>
          <a:xfrm>
            <a:off x="438912"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0" sz="800" u="none" cap="none" strike="noStrike">
                <a:solidFill>
                  <a:srgbClr val="6E6E73"/>
                </a:solidFill>
                <a:latin typeface="Play"/>
                <a:ea typeface="Play"/>
                <a:cs typeface="Play"/>
                <a:sym typeface="Play"/>
              </a:rPr>
              <a:t>REQUESTED CLEANERS</a:t>
            </a:r>
            <a:endParaRPr b="0" i="0" spc="0" sz="800" u="none" cap="none" strike="noStrike">
              <a:solidFill>
                <a:schemeClr val="dk1"/>
              </a:solidFill>
              <a:latin typeface="Calibri"/>
              <a:ea typeface="Calibri"/>
              <a:cs typeface="Calibri"/>
              <a:sym typeface="Calibri"/>
            </a:endParaRPr>
          </a:p>
        </p:txBody>
      </p:sp>
      <p:sp>
        <p:nvSpPr>
          <p:cNvPr id="650" name="Google Shape;650;p29"/>
          <p:cNvSpPr/>
          <p:nvPr/>
        </p:nvSpPr>
        <p:spPr>
          <a:xfrm>
            <a:off x="411480" y="1572768"/>
            <a:ext cx="1261872"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9"/>
          <p:cNvSpPr txBox="1"/>
          <p:nvPr/>
        </p:nvSpPr>
        <p:spPr>
          <a:xfrm>
            <a:off x="411480" y="1645920"/>
            <a:ext cx="1261872"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Mona</a:t>
            </a:r>
            <a:endParaRPr b="0" i="0" spc="0" sz="1200" u="none" cap="none" strike="noStrike">
              <a:solidFill>
                <a:schemeClr val="dk1"/>
              </a:solidFill>
              <a:latin typeface="Calibri"/>
              <a:ea typeface="Calibri"/>
              <a:cs typeface="Calibri"/>
              <a:sym typeface="Calibri"/>
            </a:endParaRPr>
          </a:p>
        </p:txBody>
      </p:sp>
      <p:sp>
        <p:nvSpPr>
          <p:cNvPr id="652" name="Google Shape;652;p29"/>
          <p:cNvSpPr txBox="1"/>
          <p:nvPr/>
        </p:nvSpPr>
        <p:spPr>
          <a:xfrm>
            <a:off x="411480" y="1965960"/>
            <a:ext cx="1261872"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1500"/>
              <a:buFont typeface="Play"/>
              <a:buNone/>
            </a:pPr>
            <a:r>
              <a:rPr b="1" i="0" lang="en-US" spc="0" sz="1500" u="none" cap="none" strike="noStrike">
                <a:solidFill>
                  <a:srgbClr val="0B7A6F"/>
                </a:solidFill>
                <a:latin typeface="Play"/>
                <a:ea typeface="Play"/>
                <a:cs typeface="Play"/>
                <a:sym typeface="Play"/>
              </a:rPr>
              <a:t>$25/hr</a:t>
            </a:r>
            <a:endParaRPr b="0" i="0" spc="0" sz="1500" u="none" cap="none" strike="noStrike">
              <a:solidFill>
                <a:schemeClr val="dk1"/>
              </a:solidFill>
              <a:latin typeface="Calibri"/>
              <a:ea typeface="Calibri"/>
              <a:cs typeface="Calibri"/>
              <a:sym typeface="Calibri"/>
            </a:endParaRPr>
          </a:p>
        </p:txBody>
      </p:sp>
      <p:sp>
        <p:nvSpPr>
          <p:cNvPr id="653" name="Google Shape;653;p29"/>
          <p:cNvSpPr/>
          <p:nvPr/>
        </p:nvSpPr>
        <p:spPr>
          <a:xfrm>
            <a:off x="1783080" y="1572768"/>
            <a:ext cx="1261872" cy="914400"/>
          </a:xfrm>
          <a:prstGeom prst="roundRect">
            <a:avLst>
              <a:gd fmla="val 8000"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9"/>
          <p:cNvSpPr txBox="1"/>
          <p:nvPr/>
        </p:nvSpPr>
        <p:spPr>
          <a:xfrm>
            <a:off x="1783080" y="1645920"/>
            <a:ext cx="1261872"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Cassandra</a:t>
            </a:r>
            <a:endParaRPr b="0" i="0" spc="0" sz="1200" u="none" cap="none" strike="noStrike">
              <a:solidFill>
                <a:schemeClr val="dk1"/>
              </a:solidFill>
              <a:latin typeface="Calibri"/>
              <a:ea typeface="Calibri"/>
              <a:cs typeface="Calibri"/>
              <a:sym typeface="Calibri"/>
            </a:endParaRPr>
          </a:p>
        </p:txBody>
      </p:sp>
      <p:sp>
        <p:nvSpPr>
          <p:cNvPr id="655" name="Google Shape;655;p29"/>
          <p:cNvSpPr txBox="1"/>
          <p:nvPr/>
        </p:nvSpPr>
        <p:spPr>
          <a:xfrm>
            <a:off x="1783080" y="1965960"/>
            <a:ext cx="1261872"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$30/hr</a:t>
            </a:r>
            <a:endParaRPr b="0" i="0" spc="0" sz="1500" u="none" cap="none" strike="noStrike">
              <a:solidFill>
                <a:schemeClr val="dk1"/>
              </a:solidFill>
              <a:latin typeface="Calibri"/>
              <a:ea typeface="Calibri"/>
              <a:cs typeface="Calibri"/>
              <a:sym typeface="Calibri"/>
            </a:endParaRPr>
          </a:p>
        </p:txBody>
      </p:sp>
      <p:sp>
        <p:nvSpPr>
          <p:cNvPr id="656" name="Google Shape;656;p29"/>
          <p:cNvSpPr/>
          <p:nvPr/>
        </p:nvSpPr>
        <p:spPr>
          <a:xfrm>
            <a:off x="3154680" y="1572768"/>
            <a:ext cx="1261872"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9"/>
          <p:cNvSpPr txBox="1"/>
          <p:nvPr/>
        </p:nvSpPr>
        <p:spPr>
          <a:xfrm>
            <a:off x="3154680" y="1645920"/>
            <a:ext cx="1261872"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Yolanda</a:t>
            </a:r>
            <a:endParaRPr b="0" i="0" spc="0" sz="1200" u="none" cap="none" strike="noStrike">
              <a:solidFill>
                <a:schemeClr val="dk1"/>
              </a:solidFill>
              <a:latin typeface="Calibri"/>
              <a:ea typeface="Calibri"/>
              <a:cs typeface="Calibri"/>
              <a:sym typeface="Calibri"/>
            </a:endParaRPr>
          </a:p>
        </p:txBody>
      </p:sp>
      <p:sp>
        <p:nvSpPr>
          <p:cNvPr id="658" name="Google Shape;658;p29"/>
          <p:cNvSpPr txBox="1"/>
          <p:nvPr/>
        </p:nvSpPr>
        <p:spPr>
          <a:xfrm>
            <a:off x="3154680" y="1965960"/>
            <a:ext cx="1261872"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1500"/>
              <a:buFont typeface="Play"/>
              <a:buNone/>
            </a:pPr>
            <a:r>
              <a:rPr b="1" i="0" lang="en-US" spc="0" sz="1500" u="none" cap="none" strike="noStrike">
                <a:solidFill>
                  <a:srgbClr val="0B7A6F"/>
                </a:solidFill>
                <a:latin typeface="Play"/>
                <a:ea typeface="Play"/>
                <a:cs typeface="Play"/>
                <a:sym typeface="Play"/>
              </a:rPr>
              <a:t>$23/hr</a:t>
            </a:r>
            <a:endParaRPr b="0" i="0" spc="0" sz="1500" u="none" cap="none" strike="noStrike">
              <a:solidFill>
                <a:schemeClr val="dk1"/>
              </a:solidFill>
              <a:latin typeface="Calibri"/>
              <a:ea typeface="Calibri"/>
              <a:cs typeface="Calibri"/>
              <a:sym typeface="Calibri"/>
            </a:endParaRPr>
          </a:p>
        </p:txBody>
      </p:sp>
      <p:sp>
        <p:nvSpPr>
          <p:cNvPr id="659" name="Google Shape;659;p29"/>
          <p:cNvSpPr txBox="1"/>
          <p:nvPr/>
        </p:nvSpPr>
        <p:spPr>
          <a:xfrm>
            <a:off x="438912" y="2606040"/>
            <a:ext cx="402336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Max requested rate: $30/hr</a:t>
            </a:r>
            <a:endParaRPr b="0" i="0" spc="0" sz="1200" u="none" cap="none" strike="noStrike">
              <a:solidFill>
                <a:schemeClr val="dk1"/>
              </a:solidFill>
              <a:latin typeface="Calibri"/>
              <a:ea typeface="Calibri"/>
              <a:cs typeface="Calibri"/>
              <a:sym typeface="Calibri"/>
            </a:endParaRPr>
          </a:p>
        </p:txBody>
      </p:sp>
      <p:sp>
        <p:nvSpPr>
          <p:cNvPr id="660" name="Google Shape;660;p29"/>
          <p:cNvSpPr/>
          <p:nvPr/>
        </p:nvSpPr>
        <p:spPr>
          <a:xfrm>
            <a:off x="4663440" y="1325880"/>
            <a:ext cx="406908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1" name="Google Shape;661;p29"/>
          <p:cNvSpPr/>
          <p:nvPr/>
        </p:nvSpPr>
        <p:spPr>
          <a:xfrm>
            <a:off x="482803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62" name="Google Shape;662;p29"/>
          <p:cNvPicPr preferRelativeResize="0"/>
          <p:nvPr/>
        </p:nvPicPr>
        <p:blipFill rotWithShape="1">
          <a:blip r:embed="rId3">
            <a:alphaModFix/>
          </a:blip>
          <a:srcRect b="0" l="0" r="0" t="0"/>
          <a:stretch/>
        </p:blipFill>
        <p:spPr>
          <a:xfrm>
            <a:off x="4907036" y="1569476"/>
            <a:ext cx="171176" cy="171176"/>
          </a:xfrm>
          <a:prstGeom prst="rect">
            <a:avLst/>
          </a:prstGeom>
          <a:noFill/>
          <a:ln>
            <a:noFill/>
          </a:ln>
        </p:spPr>
      </p:pic>
      <p:sp>
        <p:nvSpPr>
          <p:cNvPr id="663" name="Google Shape;663;p29"/>
          <p:cNvSpPr txBox="1"/>
          <p:nvPr/>
        </p:nvSpPr>
        <p:spPr>
          <a:xfrm>
            <a:off x="4828032" y="1929384"/>
            <a:ext cx="373989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 requested cleaner claims</a:t>
            </a:r>
            <a:endParaRPr b="0" i="0" spc="0" sz="1200" u="none" cap="none" strike="noStrike">
              <a:solidFill>
                <a:schemeClr val="dk1"/>
              </a:solidFill>
              <a:latin typeface="Calibri"/>
              <a:ea typeface="Calibri"/>
              <a:cs typeface="Calibri"/>
              <a:sym typeface="Calibri"/>
            </a:endParaRPr>
          </a:p>
        </p:txBody>
      </p:sp>
      <p:sp>
        <p:nvSpPr>
          <p:cNvPr id="664" name="Google Shape;664;p29"/>
          <p:cNvSpPr txBox="1"/>
          <p:nvPr/>
        </p:nvSpPr>
        <p:spPr>
          <a:xfrm>
            <a:off x="4828032" y="2221992"/>
            <a:ext cx="373989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Mona claims: the customer pays Mona's rate, $25/hr.</a:t>
            </a:r>
            <a:endParaRPr b="0" i="0" spc="0" sz="950" u="none" cap="none" strike="noStrike">
              <a:solidFill>
                <a:schemeClr val="dk1"/>
              </a:solidFill>
              <a:latin typeface="Calibri"/>
              <a:ea typeface="Calibri"/>
              <a:cs typeface="Calibri"/>
              <a:sym typeface="Calibri"/>
            </a:endParaRPr>
          </a:p>
        </p:txBody>
      </p:sp>
      <p:sp>
        <p:nvSpPr>
          <p:cNvPr id="665" name="Google Shape;665;p29"/>
          <p:cNvSpPr/>
          <p:nvPr/>
        </p:nvSpPr>
        <p:spPr>
          <a:xfrm>
            <a:off x="4663440" y="2743200"/>
            <a:ext cx="406908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6" name="Google Shape;666;p29"/>
          <p:cNvSpPr/>
          <p:nvPr/>
        </p:nvSpPr>
        <p:spPr>
          <a:xfrm>
            <a:off x="4828032" y="29077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67" name="Google Shape;667;p29"/>
          <p:cNvPicPr preferRelativeResize="0"/>
          <p:nvPr/>
        </p:nvPicPr>
        <p:blipFill rotWithShape="1">
          <a:blip r:embed="rId4">
            <a:alphaModFix/>
          </a:blip>
          <a:srcRect b="0" l="0" r="0" t="0"/>
          <a:stretch/>
        </p:blipFill>
        <p:spPr>
          <a:xfrm>
            <a:off x="4907036" y="2986796"/>
            <a:ext cx="171176" cy="171176"/>
          </a:xfrm>
          <a:prstGeom prst="rect">
            <a:avLst/>
          </a:prstGeom>
          <a:noFill/>
          <a:ln>
            <a:noFill/>
          </a:ln>
        </p:spPr>
      </p:pic>
      <p:sp>
        <p:nvSpPr>
          <p:cNvPr id="668" name="Google Shape;668;p29"/>
          <p:cNvSpPr txBox="1"/>
          <p:nvPr/>
        </p:nvSpPr>
        <p:spPr>
          <a:xfrm>
            <a:off x="4828032" y="3346704"/>
            <a:ext cx="373989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Someone else claims</a:t>
            </a:r>
            <a:endParaRPr b="0" i="0" spc="0" sz="1200" u="none" cap="none" strike="noStrike">
              <a:solidFill>
                <a:schemeClr val="dk1"/>
              </a:solidFill>
              <a:latin typeface="Calibri"/>
              <a:ea typeface="Calibri"/>
              <a:cs typeface="Calibri"/>
              <a:sym typeface="Calibri"/>
            </a:endParaRPr>
          </a:p>
        </p:txBody>
      </p:sp>
      <p:sp>
        <p:nvSpPr>
          <p:cNvPr id="669" name="Google Shape;669;p29"/>
          <p:cNvSpPr txBox="1"/>
          <p:nvPr/>
        </p:nvSpPr>
        <p:spPr>
          <a:xfrm>
            <a:off x="4828032" y="3639312"/>
            <a:ext cx="3739896" cy="3383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Jeff ($18/hr) claims: the customer pays $30/hr. Jeff gets $18/hr.</a:t>
            </a:r>
            <a:endParaRPr b="0" i="0" spc="0" sz="950" u="none" cap="none" strike="noStrike">
              <a:solidFill>
                <a:schemeClr val="dk1"/>
              </a:solidFill>
              <a:latin typeface="Calibri"/>
              <a:ea typeface="Calibri"/>
              <a:cs typeface="Calibri"/>
              <a:sym typeface="Calibri"/>
            </a:endParaRPr>
          </a:p>
        </p:txBody>
      </p:sp>
      <p:sp>
        <p:nvSpPr>
          <p:cNvPr id="670" name="Google Shape;670;p29"/>
          <p:cNvSpPr txBox="1"/>
          <p:nvPr/>
        </p:nvSpPr>
        <p:spPr>
          <a:xfrm>
            <a:off x="438912" y="3017520"/>
            <a:ext cx="402336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Requesting Cassandra shows the customer is willing to pay her rate, so it becomes their ceiling.</a:t>
            </a:r>
            <a:endParaRPr b="0" i="0" spc="0" sz="1050" u="none" cap="none" strike="noStrike">
              <a:solidFill>
                <a:schemeClr val="dk1"/>
              </a:solidFill>
              <a:latin typeface="Calibri"/>
              <a:ea typeface="Calibri"/>
              <a:cs typeface="Calibri"/>
              <a:sym typeface="Calibri"/>
            </a:endParaRPr>
          </a:p>
        </p:txBody>
      </p:sp>
      <p:sp>
        <p:nvSpPr>
          <p:cNvPr id="671" name="Google Shape;67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6" name="Shape 676"/>
        <p:cNvGrpSpPr/>
        <p:nvPr/>
      </p:nvGrpSpPr>
      <p:grpSpPr>
        <a:xfrm>
          <a:off x="0" y="0"/>
          <a:ext cx="0" cy="0"/>
          <a:chOff x="0" y="0"/>
          <a:chExt cx="0" cy="0"/>
        </a:xfrm>
      </p:grpSpPr>
      <p:sp>
        <p:nvSpPr>
          <p:cNvPr id="677" name="Google Shape;67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C PRICE VS CP PAY</a:t>
            </a:r>
            <a:endParaRPr b="0" i="0" spc="0" sz="800" u="none" cap="none" strike="noStrike">
              <a:solidFill>
                <a:schemeClr val="dk1"/>
              </a:solidFill>
              <a:latin typeface="Calibri"/>
              <a:ea typeface="Calibri"/>
              <a:cs typeface="Calibri"/>
              <a:sym typeface="Calibri"/>
            </a:endParaRPr>
          </a:p>
        </p:txBody>
      </p:sp>
      <p:sp>
        <p:nvSpPr>
          <p:cNvPr id="678" name="Google Shape;67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explain or refund a fee</a:t>
            </a:r>
            <a:endParaRPr b="0" i="0" spc="0" sz="2400" u="none" cap="none" strike="noStrike">
              <a:solidFill>
                <a:schemeClr val="dk1"/>
              </a:solidFill>
              <a:latin typeface="Calibri"/>
              <a:ea typeface="Calibri"/>
              <a:cs typeface="Calibri"/>
              <a:sym typeface="Calibri"/>
            </a:endParaRPr>
          </a:p>
        </p:txBody>
      </p:sp>
      <p:sp>
        <p:nvSpPr>
          <p:cNvPr id="679" name="Google Shape;679;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Three answers tell you which case you're in.</a:t>
            </a:r>
            <a:endParaRPr b="0" i="0" spc="0" sz="1200" u="none" cap="none" strike="noStrike">
              <a:solidFill>
                <a:schemeClr val="dk1"/>
              </a:solidFill>
              <a:latin typeface="Calibri"/>
              <a:ea typeface="Calibri"/>
              <a:cs typeface="Calibri"/>
              <a:sym typeface="Calibri"/>
            </a:endParaRPr>
          </a:p>
        </p:txBody>
      </p:sp>
      <p:sp>
        <p:nvSpPr>
          <p:cNvPr id="680" name="Google Shape;680;p30"/>
          <p:cNvSpPr/>
          <p:nvPr/>
        </p:nvSpPr>
        <p:spPr>
          <a:xfrm>
            <a:off x="4114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1" name="Google Shape;681;p30"/>
          <p:cNvSpPr/>
          <p:nvPr/>
        </p:nvSpPr>
        <p:spPr>
          <a:xfrm>
            <a:off x="576072"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30"/>
          <p:cNvSpPr txBox="1"/>
          <p:nvPr/>
        </p:nvSpPr>
        <p:spPr>
          <a:xfrm>
            <a:off x="576072"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83" name="Google Shape;683;p30"/>
          <p:cNvSpPr txBox="1"/>
          <p:nvPr/>
        </p:nvSpPr>
        <p:spPr>
          <a:xfrm>
            <a:off x="5760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Operating model</a:t>
            </a:r>
            <a:endParaRPr b="0" i="0" spc="0" sz="1200" u="none" cap="none" strike="noStrike">
              <a:solidFill>
                <a:schemeClr val="dk1"/>
              </a:solidFill>
              <a:latin typeface="Calibri"/>
              <a:ea typeface="Calibri"/>
              <a:cs typeface="Calibri"/>
              <a:sym typeface="Calibri"/>
            </a:endParaRPr>
          </a:p>
        </p:txBody>
      </p:sp>
      <p:sp>
        <p:nvSpPr>
          <p:cNvPr id="684" name="Google Shape;684;p30"/>
          <p:cNvSpPr txBox="1"/>
          <p:nvPr/>
        </p:nvSpPr>
        <p:spPr>
          <a:xfrm>
            <a:off x="5760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CA/CA-WA or General? Look for the banner.</a:t>
            </a:r>
            <a:endParaRPr b="0" i="0" spc="0" sz="950" u="none" cap="none" strike="noStrike">
              <a:solidFill>
                <a:schemeClr val="dk1"/>
              </a:solidFill>
              <a:latin typeface="Calibri"/>
              <a:ea typeface="Calibri"/>
              <a:cs typeface="Calibri"/>
              <a:sym typeface="Calibri"/>
            </a:endParaRPr>
          </a:p>
        </p:txBody>
      </p:sp>
      <p:sp>
        <p:nvSpPr>
          <p:cNvPr id="685" name="Google Shape;685;p30"/>
          <p:cNvSpPr/>
          <p:nvPr/>
        </p:nvSpPr>
        <p:spPr>
          <a:xfrm>
            <a:off x="32308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6" name="Google Shape;686;p30"/>
          <p:cNvSpPr/>
          <p:nvPr/>
        </p:nvSpPr>
        <p:spPr>
          <a:xfrm>
            <a:off x="3395472"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7" name="Google Shape;687;p30"/>
          <p:cNvSpPr txBox="1"/>
          <p:nvPr/>
        </p:nvSpPr>
        <p:spPr>
          <a:xfrm>
            <a:off x="3395472"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88" name="Google Shape;688;p30"/>
          <p:cNvSpPr txBox="1"/>
          <p:nvPr/>
        </p:nvSpPr>
        <p:spPr>
          <a:xfrm>
            <a:off x="33954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status</a:t>
            </a:r>
            <a:endParaRPr b="0" i="0" spc="0" sz="1200" u="none" cap="none" strike="noStrike">
              <a:solidFill>
                <a:schemeClr val="dk1"/>
              </a:solidFill>
              <a:latin typeface="Calibri"/>
              <a:ea typeface="Calibri"/>
              <a:cs typeface="Calibri"/>
              <a:sym typeface="Calibri"/>
            </a:endParaRPr>
          </a:p>
        </p:txBody>
      </p:sp>
      <p:sp>
        <p:nvSpPr>
          <p:cNvPr id="689" name="Google Shape;689;p30"/>
          <p:cNvSpPr txBox="1"/>
          <p:nvPr/>
        </p:nvSpPr>
        <p:spPr>
          <a:xfrm>
            <a:off x="33954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non-FC, or deactivated FC?</a:t>
            </a:r>
            <a:endParaRPr b="0" i="0" spc="0" sz="950" u="none" cap="none" strike="noStrike">
              <a:solidFill>
                <a:schemeClr val="dk1"/>
              </a:solidFill>
              <a:latin typeface="Calibri"/>
              <a:ea typeface="Calibri"/>
              <a:cs typeface="Calibri"/>
              <a:sym typeface="Calibri"/>
            </a:endParaRPr>
          </a:p>
        </p:txBody>
      </p:sp>
      <p:sp>
        <p:nvSpPr>
          <p:cNvPr id="690" name="Google Shape;690;p30"/>
          <p:cNvSpPr/>
          <p:nvPr/>
        </p:nvSpPr>
        <p:spPr>
          <a:xfrm>
            <a:off x="60502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1" name="Google Shape;691;p30"/>
          <p:cNvSpPr/>
          <p:nvPr/>
        </p:nvSpPr>
        <p:spPr>
          <a:xfrm>
            <a:off x="6214872"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2" name="Google Shape;692;p30"/>
          <p:cNvSpPr txBox="1"/>
          <p:nvPr/>
        </p:nvSpPr>
        <p:spPr>
          <a:xfrm>
            <a:off x="6214872"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93" name="Google Shape;693;p30"/>
          <p:cNvSpPr txBox="1"/>
          <p:nvPr/>
        </p:nvSpPr>
        <p:spPr>
          <a:xfrm>
            <a:off x="62148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First job together?</a:t>
            </a:r>
            <a:endParaRPr b="0" i="0" spc="0" sz="1200" u="none" cap="none" strike="noStrike">
              <a:solidFill>
                <a:schemeClr val="dk1"/>
              </a:solidFill>
              <a:latin typeface="Calibri"/>
              <a:ea typeface="Calibri"/>
              <a:cs typeface="Calibri"/>
              <a:sym typeface="Calibri"/>
            </a:endParaRPr>
          </a:p>
        </p:txBody>
      </p:sp>
      <p:sp>
        <p:nvSpPr>
          <p:cNvPr id="694" name="Google Shape;694;p30"/>
          <p:cNvSpPr txBox="1"/>
          <p:nvPr/>
        </p:nvSpPr>
        <p:spPr>
          <a:xfrm>
            <a:off x="62148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Is this the cleaner's first job with this customer?</a:t>
            </a:r>
            <a:endParaRPr b="0" i="0" spc="0" sz="950" u="none" cap="none" strike="noStrike">
              <a:solidFill>
                <a:schemeClr val="dk1"/>
              </a:solidFill>
              <a:latin typeface="Calibri"/>
              <a:ea typeface="Calibri"/>
              <a:cs typeface="Calibri"/>
              <a:sym typeface="Calibri"/>
            </a:endParaRPr>
          </a:p>
        </p:txBody>
      </p:sp>
      <p:sp>
        <p:nvSpPr>
          <p:cNvPr id="695" name="Google Shape;695;p30"/>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96" name="Google Shape;696;p30"/>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697" name="Google Shape;697;p30"/>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a:t>
            </a:r>
            <a:r>
              <a:rPr b="0" i="0" lang="en-US" spc="0" sz="1000" u="none" cap="none" strike="noStrike">
                <a:solidFill>
                  <a:srgbClr val="1D1D1F"/>
                </a:solidFill>
                <a:latin typeface="Arial"/>
                <a:ea typeface="Arial"/>
                <a:cs typeface="Arial"/>
                <a:sym typeface="Arial"/>
              </a:rPr>
              <a:t>find the matching row in the platform fee table before you explain or refund anything.</a:t>
            </a:r>
            <a:endParaRPr b="0" i="0" spc="0" sz="1000" u="none" cap="none" strike="noStrike">
              <a:solidFill>
                <a:schemeClr val="dk1"/>
              </a:solidFill>
              <a:latin typeface="Calibri"/>
              <a:ea typeface="Calibri"/>
              <a:cs typeface="Calibri"/>
              <a:sym typeface="Calibri"/>
            </a:endParaRPr>
          </a:p>
        </p:txBody>
      </p:sp>
      <p:sp>
        <p:nvSpPr>
          <p:cNvPr id="698" name="Google Shape;698;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p31"/>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TOPIC 04</a:t>
            </a:r>
            <a:endParaRPr b="0" i="0" spc="0" sz="800" u="none" cap="none" strike="noStrike">
              <a:solidFill>
                <a:schemeClr val="dk1"/>
              </a:solidFill>
              <a:latin typeface="Calibri"/>
              <a:ea typeface="Calibri"/>
              <a:cs typeface="Calibri"/>
              <a:sym typeface="Calibri"/>
            </a:endParaRPr>
          </a:p>
        </p:txBody>
      </p:sp>
      <p:sp>
        <p:nvSpPr>
          <p:cNvPr id="705" name="Google Shape;705;p31"/>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Vouchers in CRM</a:t>
            </a:r>
            <a:endParaRPr b="0" i="0" spc="0" sz="2800" u="none" cap="none" strike="noStrike">
              <a:solidFill>
                <a:schemeClr val="dk1"/>
              </a:solidFill>
              <a:latin typeface="Calibri"/>
              <a:ea typeface="Calibri"/>
              <a:cs typeface="Calibri"/>
              <a:sym typeface="Calibri"/>
            </a:endParaRPr>
          </a:p>
        </p:txBody>
      </p:sp>
      <p:sp>
        <p:nvSpPr>
          <p:cNvPr id="706" name="Google Shape;706;p31"/>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What a voucher is, how to read it in the CRM, and how each type behaves.</a:t>
            </a:r>
            <a:endParaRPr b="0" i="0" spc="0" sz="1150" u="none" cap="none" strike="noStrike">
              <a:solidFill>
                <a:schemeClr val="dk1"/>
              </a:solidFill>
              <a:latin typeface="Calibri"/>
              <a:ea typeface="Calibri"/>
              <a:cs typeface="Calibri"/>
              <a:sym typeface="Calibri"/>
            </a:endParaRPr>
          </a:p>
        </p:txBody>
      </p:sp>
      <p:sp>
        <p:nvSpPr>
          <p:cNvPr id="707" name="Google Shape;707;p31"/>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08" name="Google Shape;708;p31"/>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09" name="Google Shape;709;p31"/>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10" name="Google Shape;710;p31"/>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a voucher is</a:t>
            </a:r>
            <a:endParaRPr b="0" i="0" spc="0" sz="1050" u="none" cap="none" strike="noStrike">
              <a:solidFill>
                <a:schemeClr val="dk1"/>
              </a:solidFill>
              <a:latin typeface="Calibri"/>
              <a:ea typeface="Calibri"/>
              <a:cs typeface="Calibri"/>
              <a:sym typeface="Calibri"/>
            </a:endParaRPr>
          </a:p>
        </p:txBody>
      </p:sp>
      <p:sp>
        <p:nvSpPr>
          <p:cNvPr id="711" name="Google Shape;711;p31"/>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2" name="Google Shape;712;p31"/>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13" name="Google Shape;713;p31"/>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vouchers work</a:t>
            </a:r>
            <a:endParaRPr b="0" i="0" spc="0" sz="1050" u="none" cap="none" strike="noStrike">
              <a:solidFill>
                <a:schemeClr val="dk1"/>
              </a:solidFill>
              <a:latin typeface="Calibri"/>
              <a:ea typeface="Calibri"/>
              <a:cs typeface="Calibri"/>
              <a:sym typeface="Calibri"/>
            </a:endParaRPr>
          </a:p>
        </p:txBody>
      </p:sp>
      <p:sp>
        <p:nvSpPr>
          <p:cNvPr id="714" name="Google Shape;714;p31"/>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5" name="Google Shape;715;p31"/>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16" name="Google Shape;716;p31"/>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a voucher in the CRM</a:t>
            </a:r>
            <a:endParaRPr b="0" i="0" spc="0" sz="1050" u="none" cap="none" strike="noStrike">
              <a:solidFill>
                <a:schemeClr val="dk1"/>
              </a:solidFill>
              <a:latin typeface="Calibri"/>
              <a:ea typeface="Calibri"/>
              <a:cs typeface="Calibri"/>
              <a:sym typeface="Calibri"/>
            </a:endParaRPr>
          </a:p>
        </p:txBody>
      </p:sp>
      <p:sp>
        <p:nvSpPr>
          <p:cNvPr id="717" name="Google Shape;717;p31"/>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8" name="Google Shape;718;p31"/>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19" name="Google Shape;719;p31"/>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Voucher types at a glance</a:t>
            </a:r>
            <a:endParaRPr b="0" i="0" spc="0" sz="1050" u="none" cap="none" strike="noStrike">
              <a:solidFill>
                <a:schemeClr val="dk1"/>
              </a:solidFill>
              <a:latin typeface="Calibri"/>
              <a:ea typeface="Calibri"/>
              <a:cs typeface="Calibri"/>
              <a:sym typeface="Calibri"/>
            </a:endParaRPr>
          </a:p>
        </p:txBody>
      </p:sp>
      <p:sp>
        <p:nvSpPr>
          <p:cNvPr id="720" name="Google Shape;720;p31"/>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1" name="Google Shape;721;p31"/>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4.png" id="722" name="Google Shape;722;p31"/>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723" name="Google Shape;723;p31"/>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4" name="Google Shape;724;p31"/>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5" name="Google Shape;725;p31"/>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6" name="Google Shape;726;p31"/>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7" name="Google Shape;727;p31"/>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8" name="Google Shape;728;p31"/>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9" name="Google Shape;729;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4" name="Shape 734"/>
        <p:cNvGrpSpPr/>
        <p:nvPr/>
      </p:nvGrpSpPr>
      <p:grpSpPr>
        <a:xfrm>
          <a:off x="0" y="0"/>
          <a:ext cx="0" cy="0"/>
          <a:chOff x="0" y="0"/>
          <a:chExt cx="0" cy="0"/>
        </a:xfrm>
      </p:grpSpPr>
      <p:sp>
        <p:nvSpPr>
          <p:cNvPr id="735" name="Google Shape;735;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VOUCHERS IN CRM</a:t>
            </a:r>
            <a:endParaRPr b="0" i="0" spc="0" sz="800" u="none" cap="none" strike="noStrike">
              <a:solidFill>
                <a:schemeClr val="dk1"/>
              </a:solidFill>
              <a:latin typeface="Calibri"/>
              <a:ea typeface="Calibri"/>
              <a:cs typeface="Calibri"/>
              <a:sym typeface="Calibri"/>
            </a:endParaRPr>
          </a:p>
        </p:txBody>
      </p:sp>
      <p:sp>
        <p:nvSpPr>
          <p:cNvPr id="736" name="Google Shape;736;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a voucher?</a:t>
            </a:r>
            <a:endParaRPr b="0" i="0" spc="0" sz="2400" u="none" cap="none" strike="noStrike">
              <a:solidFill>
                <a:schemeClr val="dk1"/>
              </a:solidFill>
              <a:latin typeface="Calibri"/>
              <a:ea typeface="Calibri"/>
              <a:cs typeface="Calibri"/>
              <a:sym typeface="Calibri"/>
            </a:endParaRPr>
          </a:p>
        </p:txBody>
      </p:sp>
      <p:sp>
        <p:nvSpPr>
          <p:cNvPr id="737" name="Google Shape;737;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discount on a customer's cleaning, redeemed with a code and tied to their account.</a:t>
            </a:r>
            <a:endParaRPr b="0" i="0" spc="0" sz="1200" u="none" cap="none" strike="noStrike">
              <a:solidFill>
                <a:schemeClr val="dk1"/>
              </a:solidFill>
              <a:latin typeface="Calibri"/>
              <a:ea typeface="Calibri"/>
              <a:cs typeface="Calibri"/>
              <a:sym typeface="Calibri"/>
            </a:endParaRPr>
          </a:p>
        </p:txBody>
      </p:sp>
      <p:sp>
        <p:nvSpPr>
          <p:cNvPr id="738" name="Google Shape;738;p32"/>
          <p:cNvSpPr/>
          <p:nvPr/>
        </p:nvSpPr>
        <p:spPr>
          <a:xfrm>
            <a:off x="41148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0" name="Google Shape;740;p3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741" name="Google Shape;741;p32"/>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Bought it</a:t>
            </a:r>
            <a:endParaRPr b="0" i="0" spc="0" sz="1200" u="none" cap="none" strike="noStrike">
              <a:solidFill>
                <a:schemeClr val="dk1"/>
              </a:solidFill>
              <a:latin typeface="Calibri"/>
              <a:ea typeface="Calibri"/>
              <a:cs typeface="Calibri"/>
              <a:sym typeface="Calibri"/>
            </a:endParaRPr>
          </a:p>
        </p:txBody>
      </p:sp>
      <p:sp>
        <p:nvSpPr>
          <p:cNvPr id="742" name="Google Shape;742;p32"/>
          <p:cNvSpPr txBox="1"/>
          <p:nvPr/>
        </p:nvSpPr>
        <p:spPr>
          <a:xfrm>
            <a:off x="57607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the customer paid for the voucher.</a:t>
            </a:r>
            <a:endParaRPr b="0" i="0" spc="0" sz="950" u="none" cap="none" strike="noStrike">
              <a:solidFill>
                <a:schemeClr val="dk1"/>
              </a:solidFill>
              <a:latin typeface="Calibri"/>
              <a:ea typeface="Calibri"/>
              <a:cs typeface="Calibri"/>
              <a:sym typeface="Calibri"/>
            </a:endParaRPr>
          </a:p>
        </p:txBody>
      </p:sp>
      <p:sp>
        <p:nvSpPr>
          <p:cNvPr id="743" name="Google Shape;743;p32"/>
          <p:cNvSpPr/>
          <p:nvPr/>
        </p:nvSpPr>
        <p:spPr>
          <a:xfrm>
            <a:off x="252603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2"/>
          <p:cNvSpPr/>
          <p:nvPr/>
        </p:nvSpPr>
        <p:spPr>
          <a:xfrm>
            <a:off x="269062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5" name="Google Shape;745;p32"/>
          <p:cNvPicPr preferRelativeResize="0"/>
          <p:nvPr/>
        </p:nvPicPr>
        <p:blipFill rotWithShape="1">
          <a:blip r:embed="rId4">
            <a:alphaModFix/>
          </a:blip>
          <a:srcRect b="0" l="0" r="0" t="0"/>
          <a:stretch/>
        </p:blipFill>
        <p:spPr>
          <a:xfrm>
            <a:off x="2769626" y="1569476"/>
            <a:ext cx="171176" cy="171176"/>
          </a:xfrm>
          <a:prstGeom prst="rect">
            <a:avLst/>
          </a:prstGeom>
          <a:noFill/>
          <a:ln>
            <a:noFill/>
          </a:ln>
        </p:spPr>
      </p:pic>
      <p:sp>
        <p:nvSpPr>
          <p:cNvPr id="746" name="Google Shape;746;p32"/>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With membership</a:t>
            </a:r>
            <a:endParaRPr b="0" i="0" spc="0" sz="1200" u="none" cap="none" strike="noStrike">
              <a:solidFill>
                <a:schemeClr val="dk1"/>
              </a:solidFill>
              <a:latin typeface="Calibri"/>
              <a:ea typeface="Calibri"/>
              <a:cs typeface="Calibri"/>
              <a:sym typeface="Calibri"/>
            </a:endParaRPr>
          </a:p>
        </p:txBody>
      </p:sp>
      <p:sp>
        <p:nvSpPr>
          <p:cNvPr id="747" name="Google Shape;747;p32"/>
          <p:cNvSpPr txBox="1"/>
          <p:nvPr/>
        </p:nvSpPr>
        <p:spPr>
          <a:xfrm>
            <a:off x="269062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FCF: issued free when they signed up.</a:t>
            </a:r>
            <a:endParaRPr b="0" i="0" spc="0" sz="950" u="none" cap="none" strike="noStrike">
              <a:solidFill>
                <a:schemeClr val="dk1"/>
              </a:solidFill>
              <a:latin typeface="Calibri"/>
              <a:ea typeface="Calibri"/>
              <a:cs typeface="Calibri"/>
              <a:sym typeface="Calibri"/>
            </a:endParaRPr>
          </a:p>
        </p:txBody>
      </p:sp>
      <p:sp>
        <p:nvSpPr>
          <p:cNvPr id="748" name="Google Shape;748;p32"/>
          <p:cNvSpPr/>
          <p:nvPr/>
        </p:nvSpPr>
        <p:spPr>
          <a:xfrm>
            <a:off x="464058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0" name="Google Shape;750;p32"/>
          <p:cNvPicPr preferRelativeResize="0"/>
          <p:nvPr/>
        </p:nvPicPr>
        <p:blipFill rotWithShape="1">
          <a:blip r:embed="rId5">
            <a:alphaModFix/>
          </a:blip>
          <a:srcRect b="0" l="0" r="0" t="0"/>
          <a:stretch/>
        </p:blipFill>
        <p:spPr>
          <a:xfrm>
            <a:off x="4884176" y="1569476"/>
            <a:ext cx="171176" cy="171176"/>
          </a:xfrm>
          <a:prstGeom prst="rect">
            <a:avLst/>
          </a:prstGeom>
          <a:noFill/>
          <a:ln>
            <a:noFill/>
          </a:ln>
        </p:spPr>
      </p:pic>
      <p:sp>
        <p:nvSpPr>
          <p:cNvPr id="751" name="Google Shape;751;p32"/>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Gift or referral</a:t>
            </a:r>
            <a:endParaRPr b="0" i="0" spc="0" sz="1200" u="none" cap="none" strike="noStrike">
              <a:solidFill>
                <a:schemeClr val="dk1"/>
              </a:solidFill>
              <a:latin typeface="Calibri"/>
              <a:ea typeface="Calibri"/>
              <a:cs typeface="Calibri"/>
              <a:sym typeface="Calibri"/>
            </a:endParaRPr>
          </a:p>
        </p:txBody>
      </p:sp>
      <p:sp>
        <p:nvSpPr>
          <p:cNvPr id="752" name="Google Shape;752;p32"/>
          <p:cNvSpPr txBox="1"/>
          <p:nvPr/>
        </p:nvSpPr>
        <p:spPr>
          <a:xfrm>
            <a:off x="480517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Sent by a friend, or bought as a gift card.</a:t>
            </a:r>
            <a:endParaRPr b="0" i="0" spc="0" sz="950" u="none" cap="none" strike="noStrike">
              <a:solidFill>
                <a:schemeClr val="dk1"/>
              </a:solidFill>
              <a:latin typeface="Calibri"/>
              <a:ea typeface="Calibri"/>
              <a:cs typeface="Calibri"/>
              <a:sym typeface="Calibri"/>
            </a:endParaRPr>
          </a:p>
        </p:txBody>
      </p:sp>
      <p:sp>
        <p:nvSpPr>
          <p:cNvPr id="753" name="Google Shape;753;p32"/>
          <p:cNvSpPr/>
          <p:nvPr/>
        </p:nvSpPr>
        <p:spPr>
          <a:xfrm>
            <a:off x="6755130" y="1325880"/>
            <a:ext cx="197739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4" name="Google Shape;754;p32"/>
          <p:cNvSpPr/>
          <p:nvPr/>
        </p:nvSpPr>
        <p:spPr>
          <a:xfrm>
            <a:off x="691972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5" name="Google Shape;755;p32"/>
          <p:cNvPicPr preferRelativeResize="0"/>
          <p:nvPr/>
        </p:nvPicPr>
        <p:blipFill rotWithShape="1">
          <a:blip r:embed="rId6">
            <a:alphaModFix/>
          </a:blip>
          <a:srcRect b="0" l="0" r="0" t="0"/>
          <a:stretch/>
        </p:blipFill>
        <p:spPr>
          <a:xfrm>
            <a:off x="6998726" y="1569476"/>
            <a:ext cx="171176" cy="171176"/>
          </a:xfrm>
          <a:prstGeom prst="rect">
            <a:avLst/>
          </a:prstGeom>
          <a:noFill/>
          <a:ln>
            <a:noFill/>
          </a:ln>
        </p:spPr>
      </p:pic>
      <p:sp>
        <p:nvSpPr>
          <p:cNvPr id="756" name="Google Shape;756;p32"/>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From Care</a:t>
            </a:r>
            <a:endParaRPr b="0" i="0" spc="0" sz="1200" u="none" cap="none" strike="noStrike">
              <a:solidFill>
                <a:schemeClr val="dk1"/>
              </a:solidFill>
              <a:latin typeface="Calibri"/>
              <a:ea typeface="Calibri"/>
              <a:cs typeface="Calibri"/>
              <a:sym typeface="Calibri"/>
            </a:endParaRPr>
          </a:p>
        </p:txBody>
      </p:sp>
      <p:sp>
        <p:nvSpPr>
          <p:cNvPr id="757" name="Google Shape;757;p32"/>
          <p:cNvSpPr txBox="1"/>
          <p:nvPr/>
        </p:nvSpPr>
        <p:spPr>
          <a:xfrm>
            <a:off x="6919722" y="2221992"/>
            <a:ext cx="164820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 admin courtesy voucher issued by us.</a:t>
            </a:r>
            <a:endParaRPr b="0" i="0" spc="0" sz="950" u="none" cap="none" strike="noStrike">
              <a:solidFill>
                <a:schemeClr val="dk1"/>
              </a:solidFill>
              <a:latin typeface="Calibri"/>
              <a:ea typeface="Calibri"/>
              <a:cs typeface="Calibri"/>
              <a:sym typeface="Calibri"/>
            </a:endParaRPr>
          </a:p>
        </p:txBody>
      </p:sp>
      <p:sp>
        <p:nvSpPr>
          <p:cNvPr id="758" name="Google Shape;758;p32"/>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9" name="Google Shape;759;p32"/>
          <p:cNvPicPr preferRelativeResize="0"/>
          <p:nvPr/>
        </p:nvPicPr>
        <p:blipFill rotWithShape="1">
          <a:blip r:embed="rId7">
            <a:alphaModFix/>
          </a:blip>
          <a:srcRect b="0" l="0" r="0" t="0"/>
          <a:stretch/>
        </p:blipFill>
        <p:spPr>
          <a:xfrm>
            <a:off x="566928" y="3127248"/>
            <a:ext cx="164592" cy="164592"/>
          </a:xfrm>
          <a:prstGeom prst="rect">
            <a:avLst/>
          </a:prstGeom>
          <a:noFill/>
          <a:ln>
            <a:noFill/>
          </a:ln>
        </p:spPr>
      </p:pic>
      <p:sp>
        <p:nvSpPr>
          <p:cNvPr id="760" name="Google Shape;760;p32"/>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Watch your words:  </a:t>
            </a:r>
            <a:r>
              <a:rPr b="0" i="0" lang="en-US" spc="0" sz="1000" u="none" cap="none" strike="noStrike">
                <a:solidFill>
                  <a:srgbClr val="1D1D1F"/>
                </a:solidFill>
                <a:latin typeface="Arial"/>
                <a:ea typeface="Arial"/>
                <a:cs typeface="Arial"/>
                <a:sym typeface="Arial"/>
              </a:rPr>
              <a:t>an FCF customer who says "I never bought a voucher" is right. Don't contradict them.</a:t>
            </a:r>
            <a:endParaRPr b="0" i="0" spc="0" sz="1000" u="none" cap="none" strike="noStrike">
              <a:solidFill>
                <a:schemeClr val="dk1"/>
              </a:solidFill>
              <a:latin typeface="Calibri"/>
              <a:ea typeface="Calibri"/>
              <a:cs typeface="Calibri"/>
              <a:sym typeface="Calibri"/>
            </a:endParaRPr>
          </a:p>
        </p:txBody>
      </p:sp>
      <p:sp>
        <p:nvSpPr>
          <p:cNvPr id="761" name="Google Shape;761;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VOUCHERS IN CRM</a:t>
            </a:r>
            <a:endParaRPr b="0" i="0" spc="0" sz="800" u="none" cap="none" strike="noStrike">
              <a:solidFill>
                <a:schemeClr val="dk1"/>
              </a:solidFill>
              <a:latin typeface="Calibri"/>
              <a:ea typeface="Calibri"/>
              <a:cs typeface="Calibri"/>
              <a:sym typeface="Calibri"/>
            </a:endParaRPr>
          </a:p>
        </p:txBody>
      </p:sp>
      <p:sp>
        <p:nvSpPr>
          <p:cNvPr id="768" name="Google Shape;768;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How vouchers work</a:t>
            </a:r>
            <a:endParaRPr b="0" i="0" spc="0" sz="2400" u="none" cap="none" strike="noStrike">
              <a:solidFill>
                <a:schemeClr val="dk1"/>
              </a:solidFill>
              <a:latin typeface="Calibri"/>
              <a:ea typeface="Calibri"/>
              <a:cs typeface="Calibri"/>
              <a:sym typeface="Calibri"/>
            </a:endParaRPr>
          </a:p>
        </p:txBody>
      </p:sp>
      <p:sp>
        <p:nvSpPr>
          <p:cNvPr id="769" name="Google Shape;769;p33"/>
          <p:cNvSpPr/>
          <p:nvPr/>
        </p:nvSpPr>
        <p:spPr>
          <a:xfrm>
            <a:off x="4114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0" name="Google Shape;770;p33"/>
          <p:cNvSpPr/>
          <p:nvPr/>
        </p:nvSpPr>
        <p:spPr>
          <a:xfrm>
            <a:off x="5760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1" name="Google Shape;771;p33"/>
          <p:cNvPicPr preferRelativeResize="0"/>
          <p:nvPr/>
        </p:nvPicPr>
        <p:blipFill rotWithShape="1">
          <a:blip r:embed="rId3">
            <a:alphaModFix/>
          </a:blip>
          <a:srcRect b="0" l="0" r="0" t="0"/>
          <a:stretch/>
        </p:blipFill>
        <p:spPr>
          <a:xfrm>
            <a:off x="655076" y="1523756"/>
            <a:ext cx="171176" cy="171176"/>
          </a:xfrm>
          <a:prstGeom prst="rect">
            <a:avLst/>
          </a:prstGeom>
          <a:noFill/>
          <a:ln>
            <a:noFill/>
          </a:ln>
        </p:spPr>
      </p:pic>
      <p:sp>
        <p:nvSpPr>
          <p:cNvPr id="772" name="Google Shape;772;p33"/>
          <p:cNvSpPr txBox="1"/>
          <p:nvPr/>
        </p:nvSpPr>
        <p:spPr>
          <a:xfrm>
            <a:off x="5760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Hours, not dollars</a:t>
            </a:r>
            <a:endParaRPr b="0" i="0" spc="0" sz="1200" u="none" cap="none" strike="noStrike">
              <a:solidFill>
                <a:schemeClr val="dk1"/>
              </a:solidFill>
              <a:latin typeface="Calibri"/>
              <a:ea typeface="Calibri"/>
              <a:cs typeface="Calibri"/>
              <a:sym typeface="Calibri"/>
            </a:endParaRPr>
          </a:p>
        </p:txBody>
      </p:sp>
      <p:sp>
        <p:nvSpPr>
          <p:cNvPr id="773" name="Google Shape;773;p33"/>
          <p:cNvSpPr txBox="1"/>
          <p:nvPr/>
        </p:nvSpPr>
        <p:spPr>
          <a:xfrm>
            <a:off x="5760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Voucher hours come off the job, whatever the cleaner's rate.</a:t>
            </a:r>
            <a:endParaRPr b="0" i="0" spc="0" sz="950" u="none" cap="none" strike="noStrike">
              <a:solidFill>
                <a:schemeClr val="dk1"/>
              </a:solidFill>
              <a:latin typeface="Calibri"/>
              <a:ea typeface="Calibri"/>
              <a:cs typeface="Calibri"/>
              <a:sym typeface="Calibri"/>
            </a:endParaRPr>
          </a:p>
        </p:txBody>
      </p:sp>
      <p:sp>
        <p:nvSpPr>
          <p:cNvPr id="774" name="Google Shape;774;p33"/>
          <p:cNvSpPr/>
          <p:nvPr/>
        </p:nvSpPr>
        <p:spPr>
          <a:xfrm>
            <a:off x="25260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5" name="Google Shape;775;p33"/>
          <p:cNvSpPr/>
          <p:nvPr/>
        </p:nvSpPr>
        <p:spPr>
          <a:xfrm>
            <a:off x="26906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3"/>
          <p:cNvPicPr preferRelativeResize="0"/>
          <p:nvPr/>
        </p:nvPicPr>
        <p:blipFill rotWithShape="1">
          <a:blip r:embed="rId4">
            <a:alphaModFix/>
          </a:blip>
          <a:srcRect b="0" l="0" r="0" t="0"/>
          <a:stretch/>
        </p:blipFill>
        <p:spPr>
          <a:xfrm>
            <a:off x="2769626" y="1523756"/>
            <a:ext cx="171176" cy="171176"/>
          </a:xfrm>
          <a:prstGeom prst="rect">
            <a:avLst/>
          </a:prstGeom>
          <a:noFill/>
          <a:ln>
            <a:noFill/>
          </a:ln>
        </p:spPr>
      </p:pic>
      <p:sp>
        <p:nvSpPr>
          <p:cNvPr id="777" name="Google Shape;777;p33"/>
          <p:cNvSpPr txBox="1"/>
          <p:nvPr/>
        </p:nvSpPr>
        <p:spPr>
          <a:xfrm>
            <a:off x="26906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Longer job?</a:t>
            </a:r>
            <a:endParaRPr b="0" i="0" spc="0" sz="1200" u="none" cap="none" strike="noStrike">
              <a:solidFill>
                <a:schemeClr val="dk1"/>
              </a:solidFill>
              <a:latin typeface="Calibri"/>
              <a:ea typeface="Calibri"/>
              <a:cs typeface="Calibri"/>
              <a:sym typeface="Calibri"/>
            </a:endParaRPr>
          </a:p>
        </p:txBody>
      </p:sp>
      <p:sp>
        <p:nvSpPr>
          <p:cNvPr id="778" name="Google Shape;778;p33"/>
          <p:cNvSpPr txBox="1"/>
          <p:nvPr/>
        </p:nvSpPr>
        <p:spPr>
          <a:xfrm>
            <a:off x="26906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Extra hours are charged at Homeaglow's standard rate.</a:t>
            </a:r>
            <a:endParaRPr b="0" i="0" spc="0" sz="950" u="none" cap="none" strike="noStrike">
              <a:solidFill>
                <a:schemeClr val="dk1"/>
              </a:solidFill>
              <a:latin typeface="Calibri"/>
              <a:ea typeface="Calibri"/>
              <a:cs typeface="Calibri"/>
              <a:sym typeface="Calibri"/>
            </a:endParaRPr>
          </a:p>
        </p:txBody>
      </p:sp>
      <p:sp>
        <p:nvSpPr>
          <p:cNvPr id="779" name="Google Shape;779;p33"/>
          <p:cNvSpPr/>
          <p:nvPr/>
        </p:nvSpPr>
        <p:spPr>
          <a:xfrm>
            <a:off x="46405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0" name="Google Shape;780;p33"/>
          <p:cNvSpPr/>
          <p:nvPr/>
        </p:nvSpPr>
        <p:spPr>
          <a:xfrm>
            <a:off x="48051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81" name="Google Shape;781;p33"/>
          <p:cNvPicPr preferRelativeResize="0"/>
          <p:nvPr/>
        </p:nvPicPr>
        <p:blipFill rotWithShape="1">
          <a:blip r:embed="rId5">
            <a:alphaModFix/>
          </a:blip>
          <a:srcRect b="0" l="0" r="0" t="0"/>
          <a:stretch/>
        </p:blipFill>
        <p:spPr>
          <a:xfrm>
            <a:off x="4884176" y="1523756"/>
            <a:ext cx="171176" cy="171176"/>
          </a:xfrm>
          <a:prstGeom prst="rect">
            <a:avLst/>
          </a:prstGeom>
          <a:noFill/>
          <a:ln>
            <a:noFill/>
          </a:ln>
        </p:spPr>
      </p:pic>
      <p:sp>
        <p:nvSpPr>
          <p:cNvPr id="782" name="Google Shape;782;p33"/>
          <p:cNvSpPr txBox="1"/>
          <p:nvPr/>
        </p:nvSpPr>
        <p:spPr>
          <a:xfrm>
            <a:off x="48051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Redeem online</a:t>
            </a:r>
            <a:endParaRPr b="0" i="0" spc="0" sz="1200" u="none" cap="none" strike="noStrike">
              <a:solidFill>
                <a:schemeClr val="dk1"/>
              </a:solidFill>
              <a:latin typeface="Calibri"/>
              <a:ea typeface="Calibri"/>
              <a:cs typeface="Calibri"/>
              <a:sym typeface="Calibri"/>
            </a:endParaRPr>
          </a:p>
        </p:txBody>
      </p:sp>
      <p:sp>
        <p:nvSpPr>
          <p:cNvPr id="783" name="Google Shape;783;p33"/>
          <p:cNvSpPr txBox="1"/>
          <p:nvPr/>
        </p:nvSpPr>
        <p:spPr>
          <a:xfrm>
            <a:off x="48051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brand.com/redeem with zip code, email and voucher code.</a:t>
            </a:r>
            <a:endParaRPr b="0" i="0" spc="0" sz="950" u="none" cap="none" strike="noStrike">
              <a:solidFill>
                <a:schemeClr val="dk1"/>
              </a:solidFill>
              <a:latin typeface="Calibri"/>
              <a:ea typeface="Calibri"/>
              <a:cs typeface="Calibri"/>
              <a:sym typeface="Calibri"/>
            </a:endParaRPr>
          </a:p>
        </p:txBody>
      </p:sp>
      <p:sp>
        <p:nvSpPr>
          <p:cNvPr id="784" name="Google Shape;784;p33"/>
          <p:cNvSpPr/>
          <p:nvPr/>
        </p:nvSpPr>
        <p:spPr>
          <a:xfrm>
            <a:off x="67551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3"/>
          <p:cNvSpPr/>
          <p:nvPr/>
        </p:nvSpPr>
        <p:spPr>
          <a:xfrm>
            <a:off x="69197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86" name="Google Shape;786;p33"/>
          <p:cNvPicPr preferRelativeResize="0"/>
          <p:nvPr/>
        </p:nvPicPr>
        <p:blipFill rotWithShape="1">
          <a:blip r:embed="rId6">
            <a:alphaModFix/>
          </a:blip>
          <a:srcRect b="0" l="0" r="0" t="0"/>
          <a:stretch/>
        </p:blipFill>
        <p:spPr>
          <a:xfrm>
            <a:off x="6998726" y="1523756"/>
            <a:ext cx="171176" cy="171176"/>
          </a:xfrm>
          <a:prstGeom prst="rect">
            <a:avLst/>
          </a:prstGeom>
          <a:noFill/>
          <a:ln>
            <a:noFill/>
          </a:ln>
        </p:spPr>
      </p:pic>
      <p:sp>
        <p:nvSpPr>
          <p:cNvPr id="787" name="Google Shape;787;p33"/>
          <p:cNvSpPr txBox="1"/>
          <p:nvPr/>
        </p:nvSpPr>
        <p:spPr>
          <a:xfrm>
            <a:off x="69197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One per household</a:t>
            </a:r>
            <a:endParaRPr b="0" i="0" spc="0" sz="1200" u="none" cap="none" strike="noStrike">
              <a:solidFill>
                <a:schemeClr val="dk1"/>
              </a:solidFill>
              <a:latin typeface="Calibri"/>
              <a:ea typeface="Calibri"/>
              <a:cs typeface="Calibri"/>
              <a:sym typeface="Calibri"/>
            </a:endParaRPr>
          </a:p>
        </p:txBody>
      </p:sp>
      <p:sp>
        <p:nvSpPr>
          <p:cNvPr id="788" name="Google Shape;788;p33"/>
          <p:cNvSpPr txBox="1"/>
          <p:nvPr/>
        </p:nvSpPr>
        <p:spPr>
          <a:xfrm>
            <a:off x="69197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Only one paid voucher per address.</a:t>
            </a:r>
            <a:endParaRPr b="0" i="0" spc="0" sz="950" u="none" cap="none" strike="noStrike">
              <a:solidFill>
                <a:schemeClr val="dk1"/>
              </a:solidFill>
              <a:latin typeface="Calibri"/>
              <a:ea typeface="Calibri"/>
              <a:cs typeface="Calibri"/>
              <a:sym typeface="Calibri"/>
            </a:endParaRPr>
          </a:p>
        </p:txBody>
      </p:sp>
      <p:sp>
        <p:nvSpPr>
          <p:cNvPr id="789" name="Google Shape;789;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4" name="Shape 794"/>
        <p:cNvGrpSpPr/>
        <p:nvPr/>
      </p:nvGrpSpPr>
      <p:grpSpPr>
        <a:xfrm>
          <a:off x="0" y="0"/>
          <a:ext cx="0" cy="0"/>
          <a:chOff x="0" y="0"/>
          <a:chExt cx="0" cy="0"/>
        </a:xfrm>
      </p:grpSpPr>
      <p:sp>
        <p:nvSpPr>
          <p:cNvPr id="795" name="Google Shape;795;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VOUCHERS IN CRM</a:t>
            </a:r>
            <a:endParaRPr b="0" i="0" spc="0" sz="800" u="none" cap="none" strike="noStrike">
              <a:solidFill>
                <a:schemeClr val="dk1"/>
              </a:solidFill>
              <a:latin typeface="Calibri"/>
              <a:ea typeface="Calibri"/>
              <a:cs typeface="Calibri"/>
              <a:sym typeface="Calibri"/>
            </a:endParaRPr>
          </a:p>
        </p:txBody>
      </p:sp>
      <p:sp>
        <p:nvSpPr>
          <p:cNvPr id="796" name="Google Shape;796;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Reading a voucher in the new CRM</a:t>
            </a:r>
            <a:endParaRPr b="0" i="0" spc="0" sz="2400" u="none" cap="none" strike="noStrike">
              <a:solidFill>
                <a:schemeClr val="dk1"/>
              </a:solidFill>
              <a:latin typeface="Calibri"/>
              <a:ea typeface="Calibri"/>
              <a:cs typeface="Calibri"/>
              <a:sym typeface="Calibri"/>
            </a:endParaRPr>
          </a:p>
        </p:txBody>
      </p:sp>
      <p:sp>
        <p:nvSpPr>
          <p:cNvPr id="797" name="Google Shape;797;p3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redeemed, the voucher shows on the customer's account.</a:t>
            </a:r>
            <a:endParaRPr b="0" i="0" spc="0" sz="1200" u="none" cap="none" strike="noStrike">
              <a:solidFill>
                <a:schemeClr val="dk1"/>
              </a:solidFill>
              <a:latin typeface="Calibri"/>
              <a:ea typeface="Calibri"/>
              <a:cs typeface="Calibri"/>
              <a:sym typeface="Calibri"/>
            </a:endParaRPr>
          </a:p>
        </p:txBody>
      </p:sp>
      <p:sp>
        <p:nvSpPr>
          <p:cNvPr id="798" name="Google Shape;798;p34"/>
          <p:cNvSpPr/>
          <p:nvPr/>
        </p:nvSpPr>
        <p:spPr>
          <a:xfrm>
            <a:off x="411480" y="1325880"/>
            <a:ext cx="8321040" cy="1965960"/>
          </a:xfrm>
          <a:prstGeom prst="roundRect">
            <a:avLst>
              <a:gd fmla="val 37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ouchers_newcrm.png" id="799" name="Google Shape;799;p34"/>
          <p:cNvPicPr preferRelativeResize="0"/>
          <p:nvPr/>
        </p:nvPicPr>
        <p:blipFill rotWithShape="1">
          <a:blip r:embed="rId3">
            <a:alphaModFix/>
          </a:blip>
          <a:srcRect b="0" l="0" r="0" t="0"/>
          <a:stretch/>
        </p:blipFill>
        <p:spPr>
          <a:xfrm>
            <a:off x="484632" y="1404334"/>
            <a:ext cx="8174736" cy="1809051"/>
          </a:xfrm>
          <a:prstGeom prst="rect">
            <a:avLst/>
          </a:prstGeom>
          <a:noFill/>
          <a:ln>
            <a:noFill/>
          </a:ln>
        </p:spPr>
      </p:pic>
      <p:sp>
        <p:nvSpPr>
          <p:cNvPr id="800" name="Google Shape;800;p34"/>
          <p:cNvSpPr/>
          <p:nvPr/>
        </p:nvSpPr>
        <p:spPr>
          <a:xfrm>
            <a:off x="634253" y="1921206"/>
            <a:ext cx="2026682"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1" name="Google Shape;801;p34"/>
          <p:cNvSpPr/>
          <p:nvPr/>
        </p:nvSpPr>
        <p:spPr>
          <a:xfrm>
            <a:off x="533669"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2" name="Google Shape;802;p34"/>
          <p:cNvSpPr txBox="1"/>
          <p:nvPr/>
        </p:nvSpPr>
        <p:spPr>
          <a:xfrm>
            <a:off x="533669"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1</a:t>
            </a:r>
            <a:endParaRPr b="0" i="0" spc="0" sz="800" u="none" cap="none" strike="noStrike">
              <a:solidFill>
                <a:schemeClr val="dk1"/>
              </a:solidFill>
              <a:latin typeface="Calibri"/>
              <a:ea typeface="Calibri"/>
              <a:cs typeface="Calibri"/>
              <a:sym typeface="Calibri"/>
            </a:endParaRPr>
          </a:p>
        </p:txBody>
      </p:sp>
      <p:sp>
        <p:nvSpPr>
          <p:cNvPr id="803" name="Google Shape;803;p34"/>
          <p:cNvSpPr/>
          <p:nvPr/>
        </p:nvSpPr>
        <p:spPr>
          <a:xfrm>
            <a:off x="2660934" y="1921206"/>
            <a:ext cx="979336"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4" name="Google Shape;804;p34"/>
          <p:cNvSpPr/>
          <p:nvPr/>
        </p:nvSpPr>
        <p:spPr>
          <a:xfrm>
            <a:off x="2560350"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5" name="Google Shape;805;p34"/>
          <p:cNvSpPr txBox="1"/>
          <p:nvPr/>
        </p:nvSpPr>
        <p:spPr>
          <a:xfrm>
            <a:off x="2560350"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2</a:t>
            </a:r>
            <a:endParaRPr b="0" i="0" spc="0" sz="800" u="none" cap="none" strike="noStrike">
              <a:solidFill>
                <a:schemeClr val="dk1"/>
              </a:solidFill>
              <a:latin typeface="Calibri"/>
              <a:ea typeface="Calibri"/>
              <a:cs typeface="Calibri"/>
              <a:sym typeface="Calibri"/>
            </a:endParaRPr>
          </a:p>
        </p:txBody>
      </p:sp>
      <p:sp>
        <p:nvSpPr>
          <p:cNvPr id="806" name="Google Shape;806;p34"/>
          <p:cNvSpPr/>
          <p:nvPr/>
        </p:nvSpPr>
        <p:spPr>
          <a:xfrm>
            <a:off x="3640271" y="1921206"/>
            <a:ext cx="1441800"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7" name="Google Shape;807;p34"/>
          <p:cNvSpPr/>
          <p:nvPr/>
        </p:nvSpPr>
        <p:spPr>
          <a:xfrm>
            <a:off x="3539687"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8" name="Google Shape;808;p34"/>
          <p:cNvSpPr txBox="1"/>
          <p:nvPr/>
        </p:nvSpPr>
        <p:spPr>
          <a:xfrm>
            <a:off x="3539687"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3</a:t>
            </a:r>
            <a:endParaRPr b="0" i="0" spc="0" sz="800" u="none" cap="none" strike="noStrike">
              <a:solidFill>
                <a:schemeClr val="dk1"/>
              </a:solidFill>
              <a:latin typeface="Calibri"/>
              <a:ea typeface="Calibri"/>
              <a:cs typeface="Calibri"/>
              <a:sym typeface="Calibri"/>
            </a:endParaRPr>
          </a:p>
        </p:txBody>
      </p:sp>
      <p:sp>
        <p:nvSpPr>
          <p:cNvPr id="809" name="Google Shape;809;p34"/>
          <p:cNvSpPr/>
          <p:nvPr/>
        </p:nvSpPr>
        <p:spPr>
          <a:xfrm>
            <a:off x="5082071" y="1921206"/>
            <a:ext cx="2067487" cy="748104"/>
          </a:xfrm>
          <a:prstGeom prst="roundRect">
            <a:avLst>
              <a:gd fmla="val 3667"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0" name="Google Shape;810;p34"/>
          <p:cNvSpPr/>
          <p:nvPr/>
        </p:nvSpPr>
        <p:spPr>
          <a:xfrm>
            <a:off x="4981487"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1" name="Google Shape;811;p34"/>
          <p:cNvSpPr txBox="1"/>
          <p:nvPr/>
        </p:nvSpPr>
        <p:spPr>
          <a:xfrm>
            <a:off x="4981487"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4</a:t>
            </a:r>
            <a:endParaRPr b="0" i="0" spc="0" sz="800" u="none" cap="none" strike="noStrike">
              <a:solidFill>
                <a:schemeClr val="dk1"/>
              </a:solidFill>
              <a:latin typeface="Calibri"/>
              <a:ea typeface="Calibri"/>
              <a:cs typeface="Calibri"/>
              <a:sym typeface="Calibri"/>
            </a:endParaRPr>
          </a:p>
        </p:txBody>
      </p:sp>
      <p:sp>
        <p:nvSpPr>
          <p:cNvPr id="812" name="Google Shape;812;p34"/>
          <p:cNvSpPr/>
          <p:nvPr/>
        </p:nvSpPr>
        <p:spPr>
          <a:xfrm>
            <a:off x="7149558" y="1921206"/>
            <a:ext cx="1428198" cy="652891"/>
          </a:xfrm>
          <a:prstGeom prst="roundRect">
            <a:avLst>
              <a:gd fmla="val 4202"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3" name="Google Shape;813;p34"/>
          <p:cNvSpPr/>
          <p:nvPr/>
        </p:nvSpPr>
        <p:spPr>
          <a:xfrm>
            <a:off x="7048974" y="18206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4" name="Google Shape;814;p34"/>
          <p:cNvSpPr txBox="1"/>
          <p:nvPr/>
        </p:nvSpPr>
        <p:spPr>
          <a:xfrm>
            <a:off x="7048974" y="18206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5</a:t>
            </a:r>
            <a:endParaRPr b="0" i="0" spc="0" sz="800" u="none" cap="none" strike="noStrike">
              <a:solidFill>
                <a:schemeClr val="dk1"/>
              </a:solidFill>
              <a:latin typeface="Calibri"/>
              <a:ea typeface="Calibri"/>
              <a:cs typeface="Calibri"/>
              <a:sym typeface="Calibri"/>
            </a:endParaRPr>
          </a:p>
        </p:txBody>
      </p:sp>
      <p:sp>
        <p:nvSpPr>
          <p:cNvPr id="815" name="Google Shape;815;p34"/>
          <p:cNvSpPr/>
          <p:nvPr/>
        </p:nvSpPr>
        <p:spPr>
          <a:xfrm>
            <a:off x="607049" y="2642106"/>
            <a:ext cx="2597961" cy="258436"/>
          </a:xfrm>
          <a:prstGeom prst="roundRect">
            <a:avLst>
              <a:gd fmla="val 10615"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6" name="Google Shape;816;p34"/>
          <p:cNvSpPr/>
          <p:nvPr/>
        </p:nvSpPr>
        <p:spPr>
          <a:xfrm>
            <a:off x="506465" y="2541522"/>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7" name="Google Shape;817;p34"/>
          <p:cNvSpPr txBox="1"/>
          <p:nvPr/>
        </p:nvSpPr>
        <p:spPr>
          <a:xfrm>
            <a:off x="506465" y="2541522"/>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6</a:t>
            </a:r>
            <a:endParaRPr b="0" i="0" spc="0" sz="800" u="none" cap="none" strike="noStrike">
              <a:solidFill>
                <a:schemeClr val="dk1"/>
              </a:solidFill>
              <a:latin typeface="Calibri"/>
              <a:ea typeface="Calibri"/>
              <a:cs typeface="Calibri"/>
              <a:sym typeface="Calibri"/>
            </a:endParaRPr>
          </a:p>
        </p:txBody>
      </p:sp>
      <p:sp>
        <p:nvSpPr>
          <p:cNvPr id="818" name="Google Shape;818;p34"/>
          <p:cNvSpPr/>
          <p:nvPr/>
        </p:nvSpPr>
        <p:spPr>
          <a:xfrm>
            <a:off x="411480" y="342900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9" name="Google Shape;819;p34"/>
          <p:cNvSpPr/>
          <p:nvPr/>
        </p:nvSpPr>
        <p:spPr>
          <a:xfrm>
            <a:off x="539496" y="35295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0" name="Google Shape;820;p34"/>
          <p:cNvSpPr txBox="1"/>
          <p:nvPr/>
        </p:nvSpPr>
        <p:spPr>
          <a:xfrm>
            <a:off x="539496" y="35295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21" name="Google Shape;821;p34"/>
          <p:cNvSpPr txBox="1"/>
          <p:nvPr/>
        </p:nvSpPr>
        <p:spPr>
          <a:xfrm>
            <a:off x="914400" y="347472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Code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16-letter redemption code</a:t>
            </a:r>
            <a:endParaRPr b="0" i="0" spc="0" sz="1050" u="none" cap="none" strike="noStrike">
              <a:solidFill>
                <a:schemeClr val="dk1"/>
              </a:solidFill>
              <a:latin typeface="Calibri"/>
              <a:ea typeface="Calibri"/>
              <a:cs typeface="Calibri"/>
              <a:sym typeface="Calibri"/>
            </a:endParaRPr>
          </a:p>
        </p:txBody>
      </p:sp>
      <p:sp>
        <p:nvSpPr>
          <p:cNvPr id="822" name="Google Shape;822;p34"/>
          <p:cNvSpPr/>
          <p:nvPr/>
        </p:nvSpPr>
        <p:spPr>
          <a:xfrm>
            <a:off x="411480" y="397764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3" name="Google Shape;823;p34"/>
          <p:cNvSpPr/>
          <p:nvPr/>
        </p:nvSpPr>
        <p:spPr>
          <a:xfrm>
            <a:off x="539496" y="40782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4" name="Google Shape;824;p34"/>
          <p:cNvSpPr txBox="1"/>
          <p:nvPr/>
        </p:nvSpPr>
        <p:spPr>
          <a:xfrm>
            <a:off x="539496" y="40782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25" name="Google Shape;825;p34"/>
          <p:cNvSpPr txBox="1"/>
          <p:nvPr/>
        </p:nvSpPr>
        <p:spPr>
          <a:xfrm>
            <a:off x="914400" y="402336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Merchant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voucher type (dhj, groupon…)</a:t>
            </a:r>
            <a:endParaRPr b="0" i="0" spc="0" sz="1050" u="none" cap="none" strike="noStrike">
              <a:solidFill>
                <a:schemeClr val="dk1"/>
              </a:solidFill>
              <a:latin typeface="Calibri"/>
              <a:ea typeface="Calibri"/>
              <a:cs typeface="Calibri"/>
              <a:sym typeface="Calibri"/>
            </a:endParaRPr>
          </a:p>
        </p:txBody>
      </p:sp>
      <p:sp>
        <p:nvSpPr>
          <p:cNvPr id="826" name="Google Shape;826;p34"/>
          <p:cNvSpPr/>
          <p:nvPr/>
        </p:nvSpPr>
        <p:spPr>
          <a:xfrm>
            <a:off x="3227832" y="342900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355848" y="35295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8" name="Google Shape;828;p34"/>
          <p:cNvSpPr txBox="1"/>
          <p:nvPr/>
        </p:nvSpPr>
        <p:spPr>
          <a:xfrm>
            <a:off x="3355848" y="35295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29" name="Google Shape;829;p34"/>
          <p:cNvSpPr txBox="1"/>
          <p:nvPr/>
        </p:nvSpPr>
        <p:spPr>
          <a:xfrm>
            <a:off x="3730752" y="347472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Price &amp; hours</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Paid amount and duration</a:t>
            </a:r>
            <a:endParaRPr b="0" i="0" spc="0" sz="1050" u="none" cap="none" strike="noStrike">
              <a:solidFill>
                <a:schemeClr val="dk1"/>
              </a:solidFill>
              <a:latin typeface="Calibri"/>
              <a:ea typeface="Calibri"/>
              <a:cs typeface="Calibri"/>
              <a:sym typeface="Calibri"/>
            </a:endParaRPr>
          </a:p>
        </p:txBody>
      </p:sp>
      <p:sp>
        <p:nvSpPr>
          <p:cNvPr id="830" name="Google Shape;830;p34"/>
          <p:cNvSpPr/>
          <p:nvPr/>
        </p:nvSpPr>
        <p:spPr>
          <a:xfrm>
            <a:off x="3227832" y="397764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1" name="Google Shape;831;p34"/>
          <p:cNvSpPr/>
          <p:nvPr/>
        </p:nvSpPr>
        <p:spPr>
          <a:xfrm>
            <a:off x="3355848" y="40782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2" name="Google Shape;832;p34"/>
          <p:cNvSpPr txBox="1"/>
          <p:nvPr/>
        </p:nvSpPr>
        <p:spPr>
          <a:xfrm>
            <a:off x="3355848" y="40782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33" name="Google Shape;833;p34"/>
          <p:cNvSpPr txBox="1"/>
          <p:nvPr/>
        </p:nvSpPr>
        <p:spPr>
          <a:xfrm>
            <a:off x="3730752" y="402336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Purchased &amp; expires</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When it was bought, when it ends</a:t>
            </a:r>
            <a:endParaRPr b="0" i="0" spc="0" sz="1050" u="none" cap="none" strike="noStrike">
              <a:solidFill>
                <a:schemeClr val="dk1"/>
              </a:solidFill>
              <a:latin typeface="Calibri"/>
              <a:ea typeface="Calibri"/>
              <a:cs typeface="Calibri"/>
              <a:sym typeface="Calibri"/>
            </a:endParaRPr>
          </a:p>
        </p:txBody>
      </p:sp>
      <p:sp>
        <p:nvSpPr>
          <p:cNvPr id="834" name="Google Shape;834;p34"/>
          <p:cNvSpPr/>
          <p:nvPr/>
        </p:nvSpPr>
        <p:spPr>
          <a:xfrm>
            <a:off x="6035040" y="342900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5" name="Google Shape;835;p34"/>
          <p:cNvSpPr/>
          <p:nvPr/>
        </p:nvSpPr>
        <p:spPr>
          <a:xfrm>
            <a:off x="6163056" y="352958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6" name="Google Shape;836;p34"/>
          <p:cNvSpPr txBox="1"/>
          <p:nvPr/>
        </p:nvSpPr>
        <p:spPr>
          <a:xfrm>
            <a:off x="6163056" y="352958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537960" y="347472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FC &amp; refund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Tied to FC? Refunded?</a:t>
            </a:r>
            <a:endParaRPr b="0" i="0" spc="0" sz="1050" u="none" cap="none" strike="noStrike">
              <a:solidFill>
                <a:schemeClr val="dk1"/>
              </a:solidFill>
              <a:latin typeface="Calibri"/>
              <a:ea typeface="Calibri"/>
              <a:cs typeface="Calibri"/>
              <a:sym typeface="Calibri"/>
            </a:endParaRPr>
          </a:p>
        </p:txBody>
      </p:sp>
      <p:sp>
        <p:nvSpPr>
          <p:cNvPr id="838" name="Google Shape;838;p34"/>
          <p:cNvSpPr/>
          <p:nvPr/>
        </p:nvSpPr>
        <p:spPr>
          <a:xfrm>
            <a:off x="6035040" y="3977640"/>
            <a:ext cx="26974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9" name="Google Shape;839;p34"/>
          <p:cNvSpPr/>
          <p:nvPr/>
        </p:nvSpPr>
        <p:spPr>
          <a:xfrm>
            <a:off x="6163056" y="4078224"/>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6163056" y="4078224"/>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841" name="Google Shape;841;p34"/>
          <p:cNvSpPr txBox="1"/>
          <p:nvPr/>
        </p:nvSpPr>
        <p:spPr>
          <a:xfrm>
            <a:off x="6537960" y="4023360"/>
            <a:ext cx="210312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Actions</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Issue a voucher, or open legacy CRM</a:t>
            </a:r>
            <a:endParaRPr b="0" i="0" spc="0" sz="1050" u="none" cap="none" strike="noStrike">
              <a:solidFill>
                <a:schemeClr val="dk1"/>
              </a:solidFill>
              <a:latin typeface="Calibri"/>
              <a:ea typeface="Calibri"/>
              <a:cs typeface="Calibri"/>
              <a:sym typeface="Calibri"/>
            </a:endParaRPr>
          </a:p>
        </p:txBody>
      </p:sp>
      <p:sp>
        <p:nvSpPr>
          <p:cNvPr id="842" name="Google Shape;842;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VOUCHERS IN CRM</a:t>
            </a:r>
            <a:endParaRPr b="0" i="0" spc="0" sz="800" u="none" cap="none" strike="noStrike">
              <a:solidFill>
                <a:schemeClr val="dk1"/>
              </a:solidFill>
              <a:latin typeface="Calibri"/>
              <a:ea typeface="Calibri"/>
              <a:cs typeface="Calibri"/>
              <a:sym typeface="Calibri"/>
            </a:endParaRPr>
          </a:p>
        </p:txBody>
      </p:sp>
      <p:sp>
        <p:nvSpPr>
          <p:cNvPr id="849" name="Google Shape;849;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 status</a:t>
            </a:r>
            <a:endParaRPr b="0" i="0" spc="0" sz="2400" u="none" cap="none" strike="noStrike">
              <a:solidFill>
                <a:schemeClr val="dk1"/>
              </a:solidFill>
              <a:latin typeface="Calibri"/>
              <a:ea typeface="Calibri"/>
              <a:cs typeface="Calibri"/>
              <a:sym typeface="Calibri"/>
            </a:endParaRPr>
          </a:p>
        </p:txBody>
      </p:sp>
      <p:sp>
        <p:nvSpPr>
          <p:cNvPr id="850" name="Google Shape;850;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 the legacy CRM, the color tells you where the voucher stands.</a:t>
            </a:r>
            <a:endParaRPr b="0" i="0" spc="0" sz="1200" u="none" cap="none" strike="noStrike">
              <a:solidFill>
                <a:schemeClr val="dk1"/>
              </a:solidFill>
              <a:latin typeface="Calibri"/>
              <a:ea typeface="Calibri"/>
              <a:cs typeface="Calibri"/>
              <a:sym typeface="Calibri"/>
            </a:endParaRPr>
          </a:p>
        </p:txBody>
      </p:sp>
      <p:sp>
        <p:nvSpPr>
          <p:cNvPr id="851" name="Google Shape;851;p35"/>
          <p:cNvSpPr/>
          <p:nvPr/>
        </p:nvSpPr>
        <p:spPr>
          <a:xfrm>
            <a:off x="411480" y="1325880"/>
            <a:ext cx="260604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2" name="Google Shape;852;p35"/>
          <p:cNvSpPr/>
          <p:nvPr/>
        </p:nvSpPr>
        <p:spPr>
          <a:xfrm>
            <a:off x="548640"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3" name="Google Shape;853;p35"/>
          <p:cNvPicPr preferRelativeResize="0"/>
          <p:nvPr/>
        </p:nvPicPr>
        <p:blipFill rotWithShape="1">
          <a:blip r:embed="rId3">
            <a:alphaModFix/>
          </a:blip>
          <a:srcRect b="0" l="0" r="0" t="0"/>
          <a:stretch/>
        </p:blipFill>
        <p:spPr>
          <a:xfrm>
            <a:off x="640812" y="1646652"/>
            <a:ext cx="199705" cy="199705"/>
          </a:xfrm>
          <a:prstGeom prst="rect">
            <a:avLst/>
          </a:prstGeom>
          <a:noFill/>
          <a:ln>
            <a:noFill/>
          </a:ln>
        </p:spPr>
      </p:pic>
      <p:sp>
        <p:nvSpPr>
          <p:cNvPr id="854" name="Google Shape;854;p35"/>
          <p:cNvSpPr txBox="1"/>
          <p:nvPr/>
        </p:nvSpPr>
        <p:spPr>
          <a:xfrm>
            <a:off x="1024128" y="1380744"/>
            <a:ext cx="19202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Unused</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Orange tag. Applies to the next invoiced job.</a:t>
            </a:r>
            <a:endParaRPr b="0" i="0" spc="0" sz="1200" u="none" cap="none" strike="noStrike">
              <a:solidFill>
                <a:schemeClr val="dk1"/>
              </a:solidFill>
              <a:latin typeface="Calibri"/>
              <a:ea typeface="Calibri"/>
              <a:cs typeface="Calibri"/>
              <a:sym typeface="Calibri"/>
            </a:endParaRPr>
          </a:p>
        </p:txBody>
      </p:sp>
      <p:sp>
        <p:nvSpPr>
          <p:cNvPr id="855" name="Google Shape;855;p35"/>
          <p:cNvSpPr/>
          <p:nvPr/>
        </p:nvSpPr>
        <p:spPr>
          <a:xfrm>
            <a:off x="3127248" y="1325880"/>
            <a:ext cx="5605272"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_unused.png" id="856" name="Google Shape;856;p35"/>
          <p:cNvPicPr preferRelativeResize="0"/>
          <p:nvPr/>
        </p:nvPicPr>
        <p:blipFill rotWithShape="1">
          <a:blip r:embed="rId4">
            <a:alphaModFix/>
          </a:blip>
          <a:srcRect b="0" l="0" r="0" t="0"/>
          <a:stretch/>
        </p:blipFill>
        <p:spPr>
          <a:xfrm>
            <a:off x="3236976" y="1399032"/>
            <a:ext cx="3722234" cy="694944"/>
          </a:xfrm>
          <a:prstGeom prst="rect">
            <a:avLst/>
          </a:prstGeom>
          <a:noFill/>
          <a:ln>
            <a:noFill/>
          </a:ln>
        </p:spPr>
      </p:pic>
      <p:sp>
        <p:nvSpPr>
          <p:cNvPr id="857" name="Google Shape;857;p35"/>
          <p:cNvSpPr/>
          <p:nvPr/>
        </p:nvSpPr>
        <p:spPr>
          <a:xfrm>
            <a:off x="411480" y="2258568"/>
            <a:ext cx="260604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8" name="Google Shape;858;p35"/>
          <p:cNvSpPr/>
          <p:nvPr/>
        </p:nvSpPr>
        <p:spPr>
          <a:xfrm>
            <a:off x="548640" y="248716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9" name="Google Shape;859;p35"/>
          <p:cNvPicPr preferRelativeResize="0"/>
          <p:nvPr/>
        </p:nvPicPr>
        <p:blipFill rotWithShape="1">
          <a:blip r:embed="rId5">
            <a:alphaModFix/>
          </a:blip>
          <a:srcRect b="0" l="0" r="0" t="0"/>
          <a:stretch/>
        </p:blipFill>
        <p:spPr>
          <a:xfrm>
            <a:off x="640812" y="2579340"/>
            <a:ext cx="199705" cy="199705"/>
          </a:xfrm>
          <a:prstGeom prst="rect">
            <a:avLst/>
          </a:prstGeom>
          <a:noFill/>
          <a:ln>
            <a:noFill/>
          </a:ln>
        </p:spPr>
      </p:pic>
      <p:sp>
        <p:nvSpPr>
          <p:cNvPr id="860" name="Google Shape;860;p35"/>
          <p:cNvSpPr txBox="1"/>
          <p:nvPr/>
        </p:nvSpPr>
        <p:spPr>
          <a:xfrm>
            <a:off x="1024128" y="2313432"/>
            <a:ext cx="19202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Applied</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Green tag with a check mark, job ID and date.</a:t>
            </a:r>
            <a:endParaRPr b="0" i="0" spc="0" sz="1200" u="none" cap="none" strike="noStrike">
              <a:solidFill>
                <a:schemeClr val="dk1"/>
              </a:solidFill>
              <a:latin typeface="Calibri"/>
              <a:ea typeface="Calibri"/>
              <a:cs typeface="Calibri"/>
              <a:sym typeface="Calibri"/>
            </a:endParaRPr>
          </a:p>
        </p:txBody>
      </p:sp>
      <p:sp>
        <p:nvSpPr>
          <p:cNvPr id="861" name="Google Shape;861;p35"/>
          <p:cNvSpPr/>
          <p:nvPr/>
        </p:nvSpPr>
        <p:spPr>
          <a:xfrm>
            <a:off x="3127248" y="2258568"/>
            <a:ext cx="5605272"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_applied.png" id="862" name="Google Shape;862;p35"/>
          <p:cNvPicPr preferRelativeResize="0"/>
          <p:nvPr/>
        </p:nvPicPr>
        <p:blipFill rotWithShape="1">
          <a:blip r:embed="rId6">
            <a:alphaModFix/>
          </a:blip>
          <a:srcRect b="0" l="0" r="0" t="0"/>
          <a:stretch/>
        </p:blipFill>
        <p:spPr>
          <a:xfrm>
            <a:off x="3236976" y="2372079"/>
            <a:ext cx="5394960" cy="614227"/>
          </a:xfrm>
          <a:prstGeom prst="rect">
            <a:avLst/>
          </a:prstGeom>
          <a:noFill/>
          <a:ln>
            <a:noFill/>
          </a:ln>
        </p:spPr>
      </p:pic>
      <p:sp>
        <p:nvSpPr>
          <p:cNvPr id="863" name="Google Shape;863;p35"/>
          <p:cNvSpPr/>
          <p:nvPr/>
        </p:nvSpPr>
        <p:spPr>
          <a:xfrm>
            <a:off x="411480" y="3191256"/>
            <a:ext cx="260604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4" name="Google Shape;864;p35"/>
          <p:cNvSpPr/>
          <p:nvPr/>
        </p:nvSpPr>
        <p:spPr>
          <a:xfrm>
            <a:off x="548640" y="3419856"/>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7">
            <a:alphaModFix/>
          </a:blip>
          <a:srcRect b="0" l="0" r="0" t="0"/>
          <a:stretch/>
        </p:blipFill>
        <p:spPr>
          <a:xfrm>
            <a:off x="640812" y="3512028"/>
            <a:ext cx="199705" cy="199705"/>
          </a:xfrm>
          <a:prstGeom prst="rect">
            <a:avLst/>
          </a:prstGeom>
          <a:noFill/>
          <a:ln>
            <a:noFill/>
          </a:ln>
        </p:spPr>
      </p:pic>
      <p:sp>
        <p:nvSpPr>
          <p:cNvPr id="866" name="Google Shape;866;p35"/>
          <p:cNvSpPr txBox="1"/>
          <p:nvPr/>
        </p:nvSpPr>
        <p:spPr>
          <a:xfrm>
            <a:off x="1024128" y="3246120"/>
            <a:ext cx="1920240"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Grayed out</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Canceled, invalidated, converted or expired. Reason next to the code.</a:t>
            </a:r>
            <a:endParaRPr b="0" i="0" spc="0" sz="1200" u="none" cap="none" strike="noStrike">
              <a:solidFill>
                <a:schemeClr val="dk1"/>
              </a:solidFill>
              <a:latin typeface="Calibri"/>
              <a:ea typeface="Calibri"/>
              <a:cs typeface="Calibri"/>
              <a:sym typeface="Calibri"/>
            </a:endParaRPr>
          </a:p>
        </p:txBody>
      </p:sp>
      <p:sp>
        <p:nvSpPr>
          <p:cNvPr id="867" name="Google Shape;867;p35"/>
          <p:cNvSpPr/>
          <p:nvPr/>
        </p:nvSpPr>
        <p:spPr>
          <a:xfrm>
            <a:off x="3127248" y="3191256"/>
            <a:ext cx="5605272"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v_grayed.png" id="868" name="Google Shape;868;p35"/>
          <p:cNvPicPr preferRelativeResize="0"/>
          <p:nvPr/>
        </p:nvPicPr>
        <p:blipFill rotWithShape="1">
          <a:blip r:embed="rId8">
            <a:alphaModFix/>
          </a:blip>
          <a:srcRect b="0" l="0" r="0" t="0"/>
          <a:stretch/>
        </p:blipFill>
        <p:spPr>
          <a:xfrm>
            <a:off x="3236976" y="3264408"/>
            <a:ext cx="4552387" cy="694944"/>
          </a:xfrm>
          <a:prstGeom prst="rect">
            <a:avLst/>
          </a:prstGeom>
          <a:noFill/>
          <a:ln>
            <a:noFill/>
          </a:ln>
        </p:spPr>
      </p:pic>
      <p:sp>
        <p:nvSpPr>
          <p:cNvPr id="869" name="Google Shape;869;p35"/>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0" name="Google Shape;870;p35"/>
          <p:cNvPicPr preferRelativeResize="0"/>
          <p:nvPr/>
        </p:nvPicPr>
        <p:blipFill rotWithShape="1">
          <a:blip r:embed="rId9">
            <a:alphaModFix/>
          </a:blip>
          <a:srcRect b="0" l="0" r="0" t="0"/>
          <a:stretch/>
        </p:blipFill>
        <p:spPr>
          <a:xfrm>
            <a:off x="566928" y="4315968"/>
            <a:ext cx="164592" cy="164592"/>
          </a:xfrm>
          <a:prstGeom prst="rect">
            <a:avLst/>
          </a:prstGeom>
          <a:noFill/>
          <a:ln>
            <a:noFill/>
          </a:ln>
        </p:spPr>
      </p:pic>
      <p:sp>
        <p:nvSpPr>
          <p:cNvPr id="871" name="Google Shape;871;p35"/>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Converted?  </a:t>
            </a:r>
            <a:r>
              <a:rPr b="0" i="0" lang="en-US" spc="0" sz="1000" u="none" cap="none" strike="noStrike">
                <a:solidFill>
                  <a:srgbClr val="1D1D1F"/>
                </a:solidFill>
                <a:latin typeface="Arial"/>
                <a:ea typeface="Arial"/>
                <a:cs typeface="Arial"/>
                <a:sym typeface="Arial"/>
              </a:rPr>
              <a:t>the voucher was turned into credits equal to what the customer paid for it.</a:t>
            </a:r>
            <a:endParaRPr b="0" i="0" spc="0" sz="1000" u="none" cap="none" strike="noStrike">
              <a:solidFill>
                <a:schemeClr val="dk1"/>
              </a:solidFill>
              <a:latin typeface="Calibri"/>
              <a:ea typeface="Calibri"/>
              <a:cs typeface="Calibri"/>
              <a:sym typeface="Calibri"/>
            </a:endParaRPr>
          </a:p>
        </p:txBody>
      </p:sp>
      <p:sp>
        <p:nvSpPr>
          <p:cNvPr id="872" name="Google Shape;872;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7" name="Shape 877"/>
        <p:cNvGrpSpPr/>
        <p:nvPr/>
      </p:nvGrpSpPr>
      <p:grpSpPr>
        <a:xfrm>
          <a:off x="0" y="0"/>
          <a:ext cx="0" cy="0"/>
          <a:chOff x="0" y="0"/>
          <a:chExt cx="0" cy="0"/>
        </a:xfrm>
      </p:grpSpPr>
      <p:sp>
        <p:nvSpPr>
          <p:cNvPr id="878" name="Google Shape;878;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VOUCHERS IN CRM</a:t>
            </a:r>
            <a:endParaRPr b="0" i="0" spc="0" sz="800" u="none" cap="none" strike="noStrike">
              <a:solidFill>
                <a:schemeClr val="dk1"/>
              </a:solidFill>
              <a:latin typeface="Calibri"/>
              <a:ea typeface="Calibri"/>
              <a:cs typeface="Calibri"/>
              <a:sym typeface="Calibri"/>
            </a:endParaRPr>
          </a:p>
        </p:txBody>
      </p:sp>
      <p:sp>
        <p:nvSpPr>
          <p:cNvPr id="879" name="Google Shape;879;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 types at a glance</a:t>
            </a:r>
            <a:endParaRPr b="0" i="0" spc="0" sz="2400" u="none" cap="none" strike="noStrike">
              <a:solidFill>
                <a:schemeClr val="dk1"/>
              </a:solidFill>
              <a:latin typeface="Calibri"/>
              <a:ea typeface="Calibri"/>
              <a:cs typeface="Calibri"/>
              <a:sym typeface="Calibri"/>
            </a:endParaRPr>
          </a:p>
        </p:txBody>
      </p:sp>
      <p:graphicFrame>
        <p:nvGraphicFramePr>
          <p:cNvPr id="880" name="Google Shape;880;p36"/>
          <p:cNvGraphicFramePr/>
          <p:nvPr/>
        </p:nvGraphicFramePr>
        <p:xfrm>
          <a:off x="411480" y="1097280"/>
          <a:ext cx="3000000" cy="3000000"/>
        </p:xfrm>
        <a:graphic>
          <a:graphicData uri="http://schemas.openxmlformats.org/drawingml/2006/table">
            <a:tbl>
              <a:tblPr>
                <a:noFill/>
                <a:tableStyleId>{9D323186-7024-4D31-ABB8-6DE780CD1503}</a:tableStyleId>
              </a:tblPr>
              <a:tblGrid>
                <a:gridCol w="1691650"/>
                <a:gridCol w="1417325"/>
                <a:gridCol w="1097275"/>
                <a:gridCol w="1920250"/>
                <a:gridCol w="914400"/>
                <a:gridCol w="1280150"/>
              </a:tblGrid>
              <a:tr h="329175">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Type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Comes from</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Invalidate?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Refund?</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Expires</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To credits?</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US" spc="0" sz="850" u="none" cap="none" strike="noStrike">
                          <a:solidFill>
                            <a:srgbClr val="1D1D1F"/>
                          </a:solidFill>
                          <a:latin typeface="Arial"/>
                          <a:ea typeface="Arial"/>
                          <a:cs typeface="Arial"/>
                          <a:sym typeface="Arial"/>
                        </a:rPr>
                        <a:t>DHJ</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Customer purchase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 (CRM)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 (Dashboard ≤1 yr, CRM)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Never</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 2nd DHJ</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US" spc="0" sz="850" u="none" cap="none" strike="noStrike">
                          <a:solidFill>
                            <a:srgbClr val="1D1D1F"/>
                          </a:solidFill>
                          <a:latin typeface="Arial"/>
                          <a:ea typeface="Arial"/>
                          <a:cs typeface="Arial"/>
                          <a:sym typeface="Arial"/>
                        </a:rPr>
                        <a:t>DHJ Gift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Referral</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 (CRM)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90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US" spc="0" sz="850" u="none" cap="none" strike="noStrike">
                          <a:solidFill>
                            <a:srgbClr val="1D1D1F"/>
                          </a:solidFill>
                          <a:latin typeface="Arial"/>
                          <a:ea typeface="Arial"/>
                          <a:cs typeface="Arial"/>
                          <a:sym typeface="Arial"/>
                        </a:rPr>
                        <a:t>First-Time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System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 (CRM)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Never</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N/A</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US" spc="0" sz="850" u="none" cap="none" strike="noStrike">
                          <a:solidFill>
                            <a:srgbClr val="1D1D1F"/>
                          </a:solidFill>
                          <a:latin typeface="Arial"/>
                          <a:ea typeface="Arial"/>
                          <a:cs typeface="Arial"/>
                          <a:sym typeface="Arial"/>
                        </a:rPr>
                        <a:t>Third-party (Groupon)</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Customer purchase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90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 on expiry</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US" spc="0" sz="850" u="none" cap="none" strike="noStrike">
                          <a:solidFill>
                            <a:srgbClr val="1D1D1F"/>
                          </a:solidFill>
                          <a:latin typeface="Arial"/>
                          <a:ea typeface="Arial"/>
                          <a:cs typeface="Arial"/>
                          <a:sym typeface="Arial"/>
                        </a:rPr>
                        <a:t>CP Offer</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Cleaner</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 (CRM)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30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US" spc="0" sz="850" u="none" cap="none" strike="noStrike">
                          <a:solidFill>
                            <a:srgbClr val="1D1D1F"/>
                          </a:solidFill>
                          <a:latin typeface="Arial"/>
                          <a:ea typeface="Arial"/>
                          <a:cs typeface="Arial"/>
                          <a:sym typeface="Arial"/>
                        </a:rPr>
                        <a:t>After Nth Job</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System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3 months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US" spc="0" sz="850" u="none" cap="none" strike="noStrike">
                          <a:solidFill>
                            <a:srgbClr val="1D1D1F"/>
                          </a:solidFill>
                          <a:latin typeface="Arial"/>
                          <a:ea typeface="Arial"/>
                          <a:cs typeface="Arial"/>
                          <a:sym typeface="Arial"/>
                        </a:rPr>
                        <a:t>HG 2nd</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Customer purchase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1 year</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US" spc="0" sz="850" u="none" cap="none" strike="noStrike">
                          <a:solidFill>
                            <a:srgbClr val="1D1D1F"/>
                          </a:solidFill>
                          <a:latin typeface="Arial"/>
                          <a:ea typeface="Arial"/>
                          <a:cs typeface="Arial"/>
                          <a:sym typeface="Arial"/>
                        </a:rPr>
                        <a:t>Admin Courtesy</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CS / System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 (CRM)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60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850"/>
                        <a:buFont typeface="Arial"/>
                        <a:buNone/>
                      </a:pPr>
                      <a:r>
                        <a:rPr b="1" lang="en-US" spc="0" sz="850" u="none" cap="none" strike="noStrike">
                          <a:solidFill>
                            <a:srgbClr val="1D1D1F"/>
                          </a:solidFill>
                          <a:latin typeface="Arial"/>
                          <a:ea typeface="Arial"/>
                          <a:cs typeface="Arial"/>
                          <a:sym typeface="Arial"/>
                        </a:rPr>
                        <a:t>Homeaglow Gift Card</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Customer purchase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 (CRM)</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Yes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2 years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850"/>
                        <a:buFont typeface="Arial"/>
                        <a:buNone/>
                      </a:pPr>
                      <a:r>
                        <a:rPr lang="en-US" spc="0" sz="850" u="none" cap="none" strike="noStrike">
                          <a:solidFill>
                            <a:srgbClr val="6E6E73"/>
                          </a:solidFill>
                          <a:latin typeface="Arial"/>
                          <a:ea typeface="Arial"/>
                          <a:cs typeface="Arial"/>
                          <a:sym typeface="Arial"/>
                        </a:rPr>
                        <a:t>No</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881" name="Google Shape;881;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VOUCHERS IN CRM</a:t>
            </a:r>
            <a:endParaRPr b="0" i="0" spc="0" sz="800" u="none" cap="none" strike="noStrike">
              <a:solidFill>
                <a:schemeClr val="dk1"/>
              </a:solidFill>
              <a:latin typeface="Calibri"/>
              <a:ea typeface="Calibri"/>
              <a:cs typeface="Calibri"/>
              <a:sym typeface="Calibri"/>
            </a:endParaRPr>
          </a:p>
        </p:txBody>
      </p:sp>
      <p:sp>
        <p:nvSpPr>
          <p:cNvPr id="888" name="Google Shape;888;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 types in the CRM (1 of 2)</a:t>
            </a:r>
            <a:endParaRPr b="0" i="0" spc="0" sz="2400" u="none" cap="none" strike="noStrike">
              <a:solidFill>
                <a:schemeClr val="dk1"/>
              </a:solidFill>
              <a:latin typeface="Calibri"/>
              <a:ea typeface="Calibri"/>
              <a:cs typeface="Calibri"/>
              <a:sym typeface="Calibri"/>
            </a:endParaRPr>
          </a:p>
        </p:txBody>
      </p:sp>
      <p:sp>
        <p:nvSpPr>
          <p:cNvPr id="889" name="Google Shape;889;p37"/>
          <p:cNvSpPr/>
          <p:nvPr/>
        </p:nvSpPr>
        <p:spPr>
          <a:xfrm>
            <a:off x="411480" y="1097280"/>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7"/>
          <p:cNvSpPr/>
          <p:nvPr/>
        </p:nvSpPr>
        <p:spPr>
          <a:xfrm>
            <a:off x="548640" y="1371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7"/>
          <p:cNvSpPr txBox="1"/>
          <p:nvPr/>
        </p:nvSpPr>
        <p:spPr>
          <a:xfrm>
            <a:off x="548640" y="1371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92" name="Google Shape;892;p37"/>
          <p:cNvSpPr txBox="1"/>
          <p:nvPr/>
        </p:nvSpPr>
        <p:spPr>
          <a:xfrm>
            <a:off x="960120" y="1133856"/>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DHJ voucher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Comes with a membership. The membership is only triggered once the voucher is used.</a:t>
            </a:r>
            <a:endParaRPr b="0" i="0" spc="0" sz="1100" u="none" cap="none" strike="noStrike">
              <a:solidFill>
                <a:schemeClr val="dk1"/>
              </a:solidFill>
              <a:latin typeface="Calibri"/>
              <a:ea typeface="Calibri"/>
              <a:cs typeface="Calibri"/>
              <a:sym typeface="Calibri"/>
            </a:endParaRPr>
          </a:p>
        </p:txBody>
      </p:sp>
      <p:sp>
        <p:nvSpPr>
          <p:cNvPr id="893" name="Google Shape;893;p37"/>
          <p:cNvSpPr/>
          <p:nvPr/>
        </p:nvSpPr>
        <p:spPr>
          <a:xfrm>
            <a:off x="3749040" y="1097280"/>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4" name="Google Shape;894;p37"/>
          <p:cNvSpPr txBox="1"/>
          <p:nvPr/>
        </p:nvSpPr>
        <p:spPr>
          <a:xfrm>
            <a:off x="3822192" y="1152144"/>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New CRM</a:t>
            </a:r>
            <a:endParaRPr b="0" i="0" spc="0" sz="750" u="none" cap="none" strike="noStrike">
              <a:solidFill>
                <a:schemeClr val="dk1"/>
              </a:solidFill>
              <a:latin typeface="Calibri"/>
              <a:ea typeface="Calibri"/>
              <a:cs typeface="Calibri"/>
              <a:sym typeface="Calibri"/>
            </a:endParaRPr>
          </a:p>
        </p:txBody>
      </p:sp>
      <p:sp>
        <p:nvSpPr>
          <p:cNvPr id="895" name="Google Shape;895;p37"/>
          <p:cNvSpPr txBox="1"/>
          <p:nvPr/>
        </p:nvSpPr>
        <p:spPr>
          <a:xfrm>
            <a:off x="3822192" y="1545336"/>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Legacy</a:t>
            </a:r>
            <a:endParaRPr b="0" i="0" spc="0" sz="750" u="none" cap="none" strike="noStrike">
              <a:solidFill>
                <a:schemeClr val="dk1"/>
              </a:solidFill>
              <a:latin typeface="Calibri"/>
              <a:ea typeface="Calibri"/>
              <a:cs typeface="Calibri"/>
              <a:sym typeface="Calibri"/>
            </a:endParaRPr>
          </a:p>
        </p:txBody>
      </p:sp>
      <p:sp>
        <p:nvSpPr>
          <p:cNvPr id="896" name="Google Shape;896;p37"/>
          <p:cNvSpPr/>
          <p:nvPr/>
        </p:nvSpPr>
        <p:spPr>
          <a:xfrm>
            <a:off x="411480" y="2002536"/>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7" name="Google Shape;897;p37"/>
          <p:cNvSpPr/>
          <p:nvPr/>
        </p:nvSpPr>
        <p:spPr>
          <a:xfrm>
            <a:off x="548640"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8" name="Google Shape;898;p37"/>
          <p:cNvSpPr txBox="1"/>
          <p:nvPr/>
        </p:nvSpPr>
        <p:spPr>
          <a:xfrm>
            <a:off x="548640"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99" name="Google Shape;899;p37"/>
          <p:cNvSpPr txBox="1"/>
          <p:nvPr/>
        </p:nvSpPr>
        <p:spPr>
          <a:xfrm>
            <a:off x="960120" y="2039112"/>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Free DHJ (new membership model)</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Membership starts at sign-up: $19 discounted first MF, a free 3-hour cleaning, or a discounted first cleaning for longer jobs.</a:t>
            </a:r>
            <a:endParaRPr b="0" i="0" spc="0" sz="1100" u="none" cap="none" strike="noStrike">
              <a:solidFill>
                <a:schemeClr val="dk1"/>
              </a:solidFill>
              <a:latin typeface="Calibri"/>
              <a:ea typeface="Calibri"/>
              <a:cs typeface="Calibri"/>
              <a:sym typeface="Calibri"/>
            </a:endParaRPr>
          </a:p>
        </p:txBody>
      </p:sp>
      <p:sp>
        <p:nvSpPr>
          <p:cNvPr id="900" name="Google Shape;900;p37"/>
          <p:cNvSpPr/>
          <p:nvPr/>
        </p:nvSpPr>
        <p:spPr>
          <a:xfrm>
            <a:off x="3749040" y="2002536"/>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1" name="Google Shape;901;p37"/>
          <p:cNvSpPr txBox="1"/>
          <p:nvPr/>
        </p:nvSpPr>
        <p:spPr>
          <a:xfrm>
            <a:off x="3822192" y="2057400"/>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New CRM</a:t>
            </a:r>
            <a:endParaRPr b="0" i="0" spc="0" sz="750" u="none" cap="none" strike="noStrike">
              <a:solidFill>
                <a:schemeClr val="dk1"/>
              </a:solidFill>
              <a:latin typeface="Calibri"/>
              <a:ea typeface="Calibri"/>
              <a:cs typeface="Calibri"/>
              <a:sym typeface="Calibri"/>
            </a:endParaRPr>
          </a:p>
        </p:txBody>
      </p:sp>
      <p:sp>
        <p:nvSpPr>
          <p:cNvPr id="902" name="Google Shape;902;p37"/>
          <p:cNvSpPr txBox="1"/>
          <p:nvPr/>
        </p:nvSpPr>
        <p:spPr>
          <a:xfrm>
            <a:off x="3822192" y="2450592"/>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Legacy</a:t>
            </a:r>
            <a:endParaRPr b="0" i="0" spc="0" sz="750" u="none" cap="none" strike="noStrike">
              <a:solidFill>
                <a:schemeClr val="dk1"/>
              </a:solidFill>
              <a:latin typeface="Calibri"/>
              <a:ea typeface="Calibri"/>
              <a:cs typeface="Calibri"/>
              <a:sym typeface="Calibri"/>
            </a:endParaRPr>
          </a:p>
        </p:txBody>
      </p:sp>
      <p:sp>
        <p:nvSpPr>
          <p:cNvPr id="903" name="Google Shape;903;p37"/>
          <p:cNvSpPr/>
          <p:nvPr/>
        </p:nvSpPr>
        <p:spPr>
          <a:xfrm>
            <a:off x="411480" y="2907792"/>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4" name="Google Shape;904;p37"/>
          <p:cNvSpPr/>
          <p:nvPr/>
        </p:nvSpPr>
        <p:spPr>
          <a:xfrm>
            <a:off x="548640" y="318211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7"/>
          <p:cNvSpPr txBox="1"/>
          <p:nvPr/>
        </p:nvSpPr>
        <p:spPr>
          <a:xfrm>
            <a:off x="548640" y="318211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06" name="Google Shape;906;p37"/>
          <p:cNvSpPr txBox="1"/>
          <p:nvPr/>
        </p:nvSpPr>
        <p:spPr>
          <a:xfrm>
            <a:off x="960120" y="2944368"/>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DHJ Gift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Single use. Triggers a membership. Expires in 90 days if unused.</a:t>
            </a:r>
            <a:endParaRPr b="0" i="0" spc="0" sz="1100" u="none" cap="none" strike="noStrike">
              <a:solidFill>
                <a:schemeClr val="dk1"/>
              </a:solidFill>
              <a:latin typeface="Calibri"/>
              <a:ea typeface="Calibri"/>
              <a:cs typeface="Calibri"/>
              <a:sym typeface="Calibri"/>
            </a:endParaRPr>
          </a:p>
        </p:txBody>
      </p:sp>
      <p:sp>
        <p:nvSpPr>
          <p:cNvPr id="907" name="Google Shape;907;p37"/>
          <p:cNvSpPr/>
          <p:nvPr/>
        </p:nvSpPr>
        <p:spPr>
          <a:xfrm>
            <a:off x="3749040" y="2907792"/>
            <a:ext cx="4983600" cy="841200"/>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8" name="Google Shape;908;p37"/>
          <p:cNvSpPr txBox="1"/>
          <p:nvPr/>
        </p:nvSpPr>
        <p:spPr>
          <a:xfrm>
            <a:off x="3822192" y="2962656"/>
            <a:ext cx="658368"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Legacy</a:t>
            </a:r>
            <a:endParaRPr b="0" i="0" spc="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gift.png" id="909" name="Google Shape;909;p37"/>
          <p:cNvPicPr preferRelativeResize="0"/>
          <p:nvPr/>
        </p:nvPicPr>
        <p:blipFill rotWithShape="1">
          <a:blip r:embed="rId3">
            <a:alphaModFix/>
          </a:blip>
          <a:srcRect b="0" l="0" r="0" t="0"/>
          <a:stretch/>
        </p:blipFill>
        <p:spPr>
          <a:xfrm>
            <a:off x="4526280" y="3232329"/>
            <a:ext cx="4114801" cy="192175"/>
          </a:xfrm>
          <a:prstGeom prst="rect">
            <a:avLst/>
          </a:prstGeom>
          <a:noFill/>
          <a:ln>
            <a:noFill/>
          </a:ln>
        </p:spPr>
      </p:pic>
      <p:sp>
        <p:nvSpPr>
          <p:cNvPr id="910" name="Google Shape;910;p37"/>
          <p:cNvSpPr/>
          <p:nvPr/>
        </p:nvSpPr>
        <p:spPr>
          <a:xfrm>
            <a:off x="411480" y="3813048"/>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7"/>
          <p:cNvSpPr/>
          <p:nvPr/>
        </p:nvSpPr>
        <p:spPr>
          <a:xfrm>
            <a:off x="548640" y="40873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2" name="Google Shape;912;p37"/>
          <p:cNvSpPr txBox="1"/>
          <p:nvPr/>
        </p:nvSpPr>
        <p:spPr>
          <a:xfrm>
            <a:off x="548640" y="40873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13" name="Google Shape;913;p37"/>
          <p:cNvSpPr txBox="1"/>
          <p:nvPr/>
        </p:nvSpPr>
        <p:spPr>
          <a:xfrm>
            <a:off x="960120" y="3849624"/>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Third-party (Groupon)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No membership. Can't be split, and converts to credits on expiry.</a:t>
            </a:r>
            <a:endParaRPr b="0" i="0" spc="0" sz="1100" u="none" cap="none" strike="noStrike">
              <a:solidFill>
                <a:schemeClr val="dk1"/>
              </a:solidFill>
              <a:latin typeface="Calibri"/>
              <a:ea typeface="Calibri"/>
              <a:cs typeface="Calibri"/>
              <a:sym typeface="Calibri"/>
            </a:endParaRPr>
          </a:p>
        </p:txBody>
      </p:sp>
      <p:sp>
        <p:nvSpPr>
          <p:cNvPr id="914" name="Google Shape;914;p37"/>
          <p:cNvSpPr/>
          <p:nvPr/>
        </p:nvSpPr>
        <p:spPr>
          <a:xfrm>
            <a:off x="3749040" y="3813048"/>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5" name="Google Shape;915;p37"/>
          <p:cNvSpPr txBox="1"/>
          <p:nvPr/>
        </p:nvSpPr>
        <p:spPr>
          <a:xfrm>
            <a:off x="3822192" y="3867912"/>
            <a:ext cx="658368"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Legacy</a:t>
            </a:r>
            <a:endParaRPr b="0" i="0" spc="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groupon.png" id="916" name="Google Shape;916;p37"/>
          <p:cNvPicPr preferRelativeResize="0"/>
          <p:nvPr/>
        </p:nvPicPr>
        <p:blipFill rotWithShape="1">
          <a:blip r:embed="rId4">
            <a:alphaModFix/>
          </a:blip>
          <a:srcRect b="0" l="0" r="0" t="0"/>
          <a:stretch/>
        </p:blipFill>
        <p:spPr>
          <a:xfrm>
            <a:off x="4526280" y="4098432"/>
            <a:ext cx="3007096" cy="270480"/>
          </a:xfrm>
          <a:prstGeom prst="rect">
            <a:avLst/>
          </a:prstGeom>
          <a:noFill/>
          <a:ln>
            <a:noFill/>
          </a:ln>
        </p:spPr>
      </p:pic>
      <p:sp>
        <p:nvSpPr>
          <p:cNvPr id="917" name="Google Shape;91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pic>
        <p:nvPicPr>
          <p:cNvPr id="918" name="Google Shape;918;p37"/>
          <p:cNvPicPr preferRelativeResize="0"/>
          <p:nvPr/>
        </p:nvPicPr>
        <p:blipFill rotWithShape="1">
          <a:blip r:embed="rId5">
            <a:alphaModFix/>
          </a:blip>
          <a:srcRect b="0" l="0" r="0" t="0"/>
          <a:stretch/>
        </p:blipFill>
        <p:spPr>
          <a:xfrm>
            <a:off x="4430225" y="2057401"/>
            <a:ext cx="4210840" cy="393230"/>
          </a:xfrm>
          <a:prstGeom prst="rect">
            <a:avLst/>
          </a:prstGeom>
          <a:noFill/>
          <a:ln>
            <a:noFill/>
          </a:ln>
        </p:spPr>
      </p:pic>
      <p:pic>
        <p:nvPicPr>
          <p:cNvPr id="919" name="Google Shape;919;p37"/>
          <p:cNvPicPr preferRelativeResize="0"/>
          <p:nvPr/>
        </p:nvPicPr>
        <p:blipFill rotWithShape="1">
          <a:blip r:embed="rId6">
            <a:alphaModFix/>
          </a:blip>
          <a:srcRect b="20619" l="0" r="-2333" t="9318"/>
          <a:stretch/>
        </p:blipFill>
        <p:spPr>
          <a:xfrm>
            <a:off x="4526275" y="2568200"/>
            <a:ext cx="4062349" cy="187800"/>
          </a:xfrm>
          <a:prstGeom prst="rect">
            <a:avLst/>
          </a:prstGeom>
          <a:solidFill>
            <a:srgbClr val="FFFFFF"/>
          </a:solidFill>
          <a:ln cap="flat" cmpd="sng" w="9525">
            <a:solidFill>
              <a:srgbClr val="DCE1E7"/>
            </a:solidFill>
            <a:prstDash val="solid"/>
            <a:round/>
            <a:headEnd len="sm" w="sm" type="none"/>
            <a:tailEnd len="sm" w="sm" type="none"/>
          </a:ln>
        </p:spPr>
      </p:pic>
      <p:pic>
        <p:nvPicPr>
          <p:cNvPr id="920" name="Google Shape;920;p37"/>
          <p:cNvPicPr preferRelativeResize="0"/>
          <p:nvPr/>
        </p:nvPicPr>
        <p:blipFill rotWithShape="1">
          <a:blip r:embed="rId7">
            <a:alphaModFix/>
          </a:blip>
          <a:srcRect b="0" l="0" r="0" t="0"/>
          <a:stretch/>
        </p:blipFill>
        <p:spPr>
          <a:xfrm>
            <a:off x="4430825" y="1207000"/>
            <a:ext cx="4209649" cy="338325"/>
          </a:xfrm>
          <a:prstGeom prst="rect">
            <a:avLst/>
          </a:prstGeom>
          <a:noFill/>
          <a:ln>
            <a:noFill/>
          </a:ln>
        </p:spPr>
      </p:pic>
      <p:pic>
        <p:nvPicPr>
          <p:cNvPr id="921" name="Google Shape;921;p37"/>
          <p:cNvPicPr preferRelativeResize="0"/>
          <p:nvPr/>
        </p:nvPicPr>
        <p:blipFill rotWithShape="1">
          <a:blip r:embed="rId8">
            <a:alphaModFix/>
          </a:blip>
          <a:srcRect b="0" l="0" r="0" t="0"/>
          <a:stretch/>
        </p:blipFill>
        <p:spPr>
          <a:xfrm>
            <a:off x="4430824" y="1632200"/>
            <a:ext cx="4157800" cy="2286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VOUCHERS IN CRM</a:t>
            </a:r>
            <a:endParaRPr b="0" i="0" spc="0" sz="800" u="none" cap="none" strike="noStrike">
              <a:solidFill>
                <a:schemeClr val="dk1"/>
              </a:solidFill>
              <a:latin typeface="Calibri"/>
              <a:ea typeface="Calibri"/>
              <a:cs typeface="Calibri"/>
              <a:sym typeface="Calibri"/>
            </a:endParaRPr>
          </a:p>
        </p:txBody>
      </p:sp>
      <p:sp>
        <p:nvSpPr>
          <p:cNvPr id="928" name="Google Shape;928;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 types in the CRM (2 of 2)</a:t>
            </a:r>
            <a:endParaRPr b="0" i="0" spc="0" sz="2400" u="none" cap="none" strike="noStrike">
              <a:solidFill>
                <a:schemeClr val="dk1"/>
              </a:solidFill>
              <a:latin typeface="Calibri"/>
              <a:ea typeface="Calibri"/>
              <a:cs typeface="Calibri"/>
              <a:sym typeface="Calibri"/>
            </a:endParaRPr>
          </a:p>
        </p:txBody>
      </p:sp>
      <p:sp>
        <p:nvSpPr>
          <p:cNvPr id="929" name="Google Shape;929;p38"/>
          <p:cNvSpPr/>
          <p:nvPr/>
        </p:nvSpPr>
        <p:spPr>
          <a:xfrm>
            <a:off x="411480" y="1097280"/>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0" name="Google Shape;930;p38"/>
          <p:cNvSpPr/>
          <p:nvPr/>
        </p:nvSpPr>
        <p:spPr>
          <a:xfrm>
            <a:off x="548640" y="1371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1" name="Google Shape;931;p38"/>
          <p:cNvSpPr txBox="1"/>
          <p:nvPr/>
        </p:nvSpPr>
        <p:spPr>
          <a:xfrm>
            <a:off x="548640" y="1371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932" name="Google Shape;932;p38"/>
          <p:cNvSpPr txBox="1"/>
          <p:nvPr/>
        </p:nvSpPr>
        <p:spPr>
          <a:xfrm>
            <a:off x="960120" y="1133856"/>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CP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Cleaners may offer up to 30 minutes off to a customer they've worked with. Shows as admin courtesy.</a:t>
            </a:r>
            <a:endParaRPr b="0" i="0" spc="0" sz="1100" u="none" cap="none" strike="noStrike">
              <a:solidFill>
                <a:schemeClr val="dk1"/>
              </a:solidFill>
              <a:latin typeface="Calibri"/>
              <a:ea typeface="Calibri"/>
              <a:cs typeface="Calibri"/>
              <a:sym typeface="Calibri"/>
            </a:endParaRPr>
          </a:p>
        </p:txBody>
      </p:sp>
      <p:sp>
        <p:nvSpPr>
          <p:cNvPr id="933" name="Google Shape;933;p38"/>
          <p:cNvSpPr/>
          <p:nvPr/>
        </p:nvSpPr>
        <p:spPr>
          <a:xfrm>
            <a:off x="3749040" y="1097280"/>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8"/>
          <p:cNvSpPr txBox="1"/>
          <p:nvPr/>
        </p:nvSpPr>
        <p:spPr>
          <a:xfrm>
            <a:off x="3822192" y="1152144"/>
            <a:ext cx="658368"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Shows as</a:t>
            </a:r>
            <a:endParaRPr b="0" i="0" spc="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admin_legacy.png" id="935" name="Google Shape;935;p38"/>
          <p:cNvPicPr preferRelativeResize="0"/>
          <p:nvPr/>
        </p:nvPicPr>
        <p:blipFill rotWithShape="1">
          <a:blip r:embed="rId3">
            <a:alphaModFix/>
          </a:blip>
          <a:srcRect b="0" l="0" r="0" t="0"/>
          <a:stretch/>
        </p:blipFill>
        <p:spPr>
          <a:xfrm>
            <a:off x="4526280" y="1407357"/>
            <a:ext cx="4114800" cy="221094"/>
          </a:xfrm>
          <a:prstGeom prst="rect">
            <a:avLst/>
          </a:prstGeom>
          <a:noFill/>
          <a:ln>
            <a:noFill/>
          </a:ln>
        </p:spPr>
      </p:pic>
      <p:sp>
        <p:nvSpPr>
          <p:cNvPr id="936" name="Google Shape;936;p38"/>
          <p:cNvSpPr/>
          <p:nvPr/>
        </p:nvSpPr>
        <p:spPr>
          <a:xfrm>
            <a:off x="411480" y="2002536"/>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7" name="Google Shape;937;p38"/>
          <p:cNvSpPr/>
          <p:nvPr/>
        </p:nvSpPr>
        <p:spPr>
          <a:xfrm>
            <a:off x="548640"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8"/>
          <p:cNvSpPr txBox="1"/>
          <p:nvPr/>
        </p:nvSpPr>
        <p:spPr>
          <a:xfrm>
            <a:off x="548640"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939" name="Google Shape;939;p38"/>
          <p:cNvSpPr txBox="1"/>
          <p:nvPr/>
        </p:nvSpPr>
        <p:spPr>
          <a:xfrm>
            <a:off x="960120" y="2039112"/>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Admin Courtesy</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Issued by CS or the system. Expires in 60 days.</a:t>
            </a:r>
            <a:endParaRPr b="0" i="0" spc="0" sz="1100" u="none" cap="none" strike="noStrike">
              <a:solidFill>
                <a:schemeClr val="dk1"/>
              </a:solidFill>
              <a:latin typeface="Calibri"/>
              <a:ea typeface="Calibri"/>
              <a:cs typeface="Calibri"/>
              <a:sym typeface="Calibri"/>
            </a:endParaRPr>
          </a:p>
        </p:txBody>
      </p:sp>
      <p:sp>
        <p:nvSpPr>
          <p:cNvPr id="940" name="Google Shape;940;p38"/>
          <p:cNvSpPr/>
          <p:nvPr/>
        </p:nvSpPr>
        <p:spPr>
          <a:xfrm>
            <a:off x="3749040" y="2002536"/>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8"/>
          <p:cNvSpPr txBox="1"/>
          <p:nvPr/>
        </p:nvSpPr>
        <p:spPr>
          <a:xfrm>
            <a:off x="3822192" y="2057400"/>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New CRM</a:t>
            </a:r>
            <a:endParaRPr b="0" i="0" spc="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admin_new.png" id="942" name="Google Shape;942;p38"/>
          <p:cNvPicPr preferRelativeResize="0"/>
          <p:nvPr/>
        </p:nvPicPr>
        <p:blipFill rotWithShape="1">
          <a:blip r:embed="rId4">
            <a:alphaModFix/>
          </a:blip>
          <a:srcRect b="0" l="0" r="0" t="0"/>
          <a:stretch/>
        </p:blipFill>
        <p:spPr>
          <a:xfrm>
            <a:off x="4526280" y="2075688"/>
            <a:ext cx="4114800" cy="301752"/>
          </a:xfrm>
          <a:prstGeom prst="rect">
            <a:avLst/>
          </a:prstGeom>
          <a:noFill/>
          <a:ln>
            <a:noFill/>
          </a:ln>
        </p:spPr>
      </p:pic>
      <p:sp>
        <p:nvSpPr>
          <p:cNvPr id="943" name="Google Shape;943;p38"/>
          <p:cNvSpPr txBox="1"/>
          <p:nvPr/>
        </p:nvSpPr>
        <p:spPr>
          <a:xfrm>
            <a:off x="3822192" y="2450592"/>
            <a:ext cx="658368" cy="3383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Legacy</a:t>
            </a:r>
            <a:endParaRPr b="0" i="0" spc="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admin_legacy.png" id="944" name="Google Shape;944;p38"/>
          <p:cNvPicPr preferRelativeResize="0"/>
          <p:nvPr/>
        </p:nvPicPr>
        <p:blipFill rotWithShape="1">
          <a:blip r:embed="rId3">
            <a:alphaModFix/>
          </a:blip>
          <a:srcRect b="0" l="0" r="0" t="0"/>
          <a:stretch/>
        </p:blipFill>
        <p:spPr>
          <a:xfrm>
            <a:off x="4526280" y="2509209"/>
            <a:ext cx="4114800" cy="221094"/>
          </a:xfrm>
          <a:prstGeom prst="rect">
            <a:avLst/>
          </a:prstGeom>
          <a:noFill/>
          <a:ln>
            <a:noFill/>
          </a:ln>
        </p:spPr>
      </p:pic>
      <p:sp>
        <p:nvSpPr>
          <p:cNvPr id="945" name="Google Shape;945;p38"/>
          <p:cNvSpPr/>
          <p:nvPr/>
        </p:nvSpPr>
        <p:spPr>
          <a:xfrm>
            <a:off x="411480" y="2907792"/>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8"/>
          <p:cNvSpPr/>
          <p:nvPr/>
        </p:nvSpPr>
        <p:spPr>
          <a:xfrm>
            <a:off x="548640" y="318211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8"/>
          <p:cNvSpPr txBox="1"/>
          <p:nvPr/>
        </p:nvSpPr>
        <p:spPr>
          <a:xfrm>
            <a:off x="548640" y="318211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7</a:t>
            </a:r>
            <a:endParaRPr b="0" i="0" spc="0" sz="900" u="none" cap="none" strike="noStrike">
              <a:solidFill>
                <a:schemeClr val="dk1"/>
              </a:solidFill>
              <a:latin typeface="Calibri"/>
              <a:ea typeface="Calibri"/>
              <a:cs typeface="Calibri"/>
              <a:sym typeface="Calibri"/>
            </a:endParaRPr>
          </a:p>
        </p:txBody>
      </p:sp>
      <p:sp>
        <p:nvSpPr>
          <p:cNvPr id="948" name="Google Shape;948;p38"/>
          <p:cNvSpPr txBox="1"/>
          <p:nvPr/>
        </p:nvSpPr>
        <p:spPr>
          <a:xfrm>
            <a:off x="960120" y="2944368"/>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Homeaglow Gift Card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No membership. Valid for 2 years.</a:t>
            </a:r>
            <a:endParaRPr b="0" i="0" spc="0" sz="1100" u="none" cap="none" strike="noStrike">
              <a:solidFill>
                <a:schemeClr val="dk1"/>
              </a:solidFill>
              <a:latin typeface="Calibri"/>
              <a:ea typeface="Calibri"/>
              <a:cs typeface="Calibri"/>
              <a:sym typeface="Calibri"/>
            </a:endParaRPr>
          </a:p>
        </p:txBody>
      </p:sp>
      <p:sp>
        <p:nvSpPr>
          <p:cNvPr id="949" name="Google Shape;949;p38"/>
          <p:cNvSpPr/>
          <p:nvPr/>
        </p:nvSpPr>
        <p:spPr>
          <a:xfrm>
            <a:off x="3749040" y="2907792"/>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8"/>
          <p:cNvSpPr txBox="1"/>
          <p:nvPr/>
        </p:nvSpPr>
        <p:spPr>
          <a:xfrm>
            <a:off x="3822192" y="2962656"/>
            <a:ext cx="658368"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Legacy</a:t>
            </a:r>
            <a:endParaRPr b="0" i="0" spc="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giftcard.png" id="951" name="Google Shape;951;p38"/>
          <p:cNvPicPr preferRelativeResize="0"/>
          <p:nvPr/>
        </p:nvPicPr>
        <p:blipFill rotWithShape="1">
          <a:blip r:embed="rId5">
            <a:alphaModFix/>
          </a:blip>
          <a:srcRect b="0" l="0" r="0" t="0"/>
          <a:stretch/>
        </p:blipFill>
        <p:spPr>
          <a:xfrm>
            <a:off x="4526280" y="3161355"/>
            <a:ext cx="3373039" cy="334122"/>
          </a:xfrm>
          <a:prstGeom prst="rect">
            <a:avLst/>
          </a:prstGeom>
          <a:noFill/>
          <a:ln>
            <a:noFill/>
          </a:ln>
        </p:spPr>
      </p:pic>
      <p:sp>
        <p:nvSpPr>
          <p:cNvPr id="952" name="Google Shape;952;p38"/>
          <p:cNvSpPr/>
          <p:nvPr/>
        </p:nvSpPr>
        <p:spPr>
          <a:xfrm>
            <a:off x="411480" y="3813048"/>
            <a:ext cx="324612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8"/>
          <p:cNvSpPr/>
          <p:nvPr/>
        </p:nvSpPr>
        <p:spPr>
          <a:xfrm>
            <a:off x="548640" y="40873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4" name="Google Shape;954;p38"/>
          <p:cNvSpPr txBox="1"/>
          <p:nvPr/>
        </p:nvSpPr>
        <p:spPr>
          <a:xfrm>
            <a:off x="548640" y="40873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8</a:t>
            </a:r>
            <a:endParaRPr b="0" i="0" spc="0" sz="900" u="none" cap="none" strike="noStrike">
              <a:solidFill>
                <a:schemeClr val="dk1"/>
              </a:solidFill>
              <a:latin typeface="Calibri"/>
              <a:ea typeface="Calibri"/>
              <a:cs typeface="Calibri"/>
              <a:sym typeface="Calibri"/>
            </a:endParaRPr>
          </a:p>
        </p:txBody>
      </p:sp>
      <p:sp>
        <p:nvSpPr>
          <p:cNvPr id="955" name="Google Shape;955;p38"/>
          <p:cNvSpPr txBox="1"/>
          <p:nvPr/>
        </p:nvSpPr>
        <p:spPr>
          <a:xfrm>
            <a:off x="960120" y="3849624"/>
            <a:ext cx="2633472" cy="7680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Second Brand Voucher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No membership. An identical voucher bought from Homeaglow, at the same cost as the third-party merchant's.</a:t>
            </a:r>
            <a:endParaRPr b="0" i="0" spc="0" sz="1100" u="none" cap="none" strike="noStrike">
              <a:solidFill>
                <a:schemeClr val="dk1"/>
              </a:solidFill>
              <a:latin typeface="Calibri"/>
              <a:ea typeface="Calibri"/>
              <a:cs typeface="Calibri"/>
              <a:sym typeface="Calibri"/>
            </a:endParaRPr>
          </a:p>
        </p:txBody>
      </p:sp>
      <p:sp>
        <p:nvSpPr>
          <p:cNvPr id="956" name="Google Shape;956;p38"/>
          <p:cNvSpPr/>
          <p:nvPr/>
        </p:nvSpPr>
        <p:spPr>
          <a:xfrm>
            <a:off x="3749040" y="3813048"/>
            <a:ext cx="4983480" cy="841248"/>
          </a:xfrm>
          <a:prstGeom prst="roundRect">
            <a:avLst>
              <a:gd fmla="val 869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7" name="Google Shape;957;p38"/>
          <p:cNvSpPr txBox="1"/>
          <p:nvPr/>
        </p:nvSpPr>
        <p:spPr>
          <a:xfrm>
            <a:off x="3822192" y="3867912"/>
            <a:ext cx="658368" cy="731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750"/>
              <a:buFont typeface="Arial"/>
              <a:buNone/>
            </a:pPr>
            <a:r>
              <a:rPr b="1" i="0" lang="en-US" spc="0" sz="750" u="none" cap="none" strike="noStrike">
                <a:solidFill>
                  <a:srgbClr val="0B7A6F"/>
                </a:solidFill>
                <a:latin typeface="Arial"/>
                <a:ea typeface="Arial"/>
                <a:cs typeface="Arial"/>
                <a:sym typeface="Arial"/>
              </a:rPr>
              <a:t>Legacy</a:t>
            </a:r>
            <a:endParaRPr b="0" i="0" spc="0" sz="750" u="none" cap="none" strike="noStrike">
              <a:solidFill>
                <a:schemeClr val="dk1"/>
              </a:solidFill>
              <a:latin typeface="Calibri"/>
              <a:ea typeface="Calibri"/>
              <a:cs typeface="Calibri"/>
              <a:sym typeface="Calibri"/>
            </a:endParaRPr>
          </a:p>
        </p:txBody>
      </p:sp>
      <p:pic>
        <p:nvPicPr>
          <p:cNvPr descr="/tmp/claude-0/-workspace-training/3ce5cff6-cccf-5f33-b0ee-0b147a55120e/scratchpad/img3/vt_second.png" id="958" name="Google Shape;958;p38"/>
          <p:cNvPicPr preferRelativeResize="0"/>
          <p:nvPr/>
        </p:nvPicPr>
        <p:blipFill rotWithShape="1">
          <a:blip r:embed="rId6">
            <a:alphaModFix/>
          </a:blip>
          <a:srcRect b="0" l="0" r="0" t="0"/>
          <a:stretch/>
        </p:blipFill>
        <p:spPr>
          <a:xfrm>
            <a:off x="4526280" y="4105085"/>
            <a:ext cx="4114800" cy="257175"/>
          </a:xfrm>
          <a:prstGeom prst="rect">
            <a:avLst/>
          </a:prstGeom>
          <a:noFill/>
          <a:ln>
            <a:noFill/>
          </a:ln>
        </p:spPr>
      </p:pic>
      <p:sp>
        <p:nvSpPr>
          <p:cNvPr id="959" name="Google Shape;959;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4" name="Shape 964"/>
        <p:cNvGrpSpPr/>
        <p:nvPr/>
      </p:nvGrpSpPr>
      <p:grpSpPr>
        <a:xfrm>
          <a:off x="0" y="0"/>
          <a:ext cx="0" cy="0"/>
          <a:chOff x="0" y="0"/>
          <a:chExt cx="0" cy="0"/>
        </a:xfrm>
      </p:grpSpPr>
      <p:sp>
        <p:nvSpPr>
          <p:cNvPr id="965" name="Google Shape;965;p3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VOUCHERS IN CRM</a:t>
            </a:r>
            <a:endParaRPr b="0" i="0" spc="0" sz="800" u="none" cap="none" strike="noStrike">
              <a:solidFill>
                <a:schemeClr val="dk1"/>
              </a:solidFill>
              <a:latin typeface="Calibri"/>
              <a:ea typeface="Calibri"/>
              <a:cs typeface="Calibri"/>
              <a:sym typeface="Calibri"/>
            </a:endParaRPr>
          </a:p>
        </p:txBody>
      </p:sp>
      <p:sp>
        <p:nvSpPr>
          <p:cNvPr id="966" name="Google Shape;966;p3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When a customer wants a refund</a:t>
            </a:r>
            <a:endParaRPr b="0" i="0" spc="0" sz="2400" u="none" cap="none" strike="noStrike">
              <a:solidFill>
                <a:schemeClr val="dk1"/>
              </a:solidFill>
              <a:latin typeface="Calibri"/>
              <a:ea typeface="Calibri"/>
              <a:cs typeface="Calibri"/>
              <a:sym typeface="Calibri"/>
            </a:endParaRPr>
          </a:p>
        </p:txBody>
      </p:sp>
      <p:sp>
        <p:nvSpPr>
          <p:cNvPr id="967" name="Google Shape;967;p3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Always find and fix the reason first.</a:t>
            </a:r>
            <a:endParaRPr b="0" i="0" spc="0" sz="1200" u="none" cap="none" strike="noStrike">
              <a:solidFill>
                <a:schemeClr val="dk1"/>
              </a:solidFill>
              <a:latin typeface="Calibri"/>
              <a:ea typeface="Calibri"/>
              <a:cs typeface="Calibri"/>
              <a:sym typeface="Calibri"/>
            </a:endParaRPr>
          </a:p>
        </p:txBody>
      </p:sp>
      <p:graphicFrame>
        <p:nvGraphicFramePr>
          <p:cNvPr id="968" name="Google Shape;968;p39"/>
          <p:cNvGraphicFramePr/>
          <p:nvPr/>
        </p:nvGraphicFramePr>
        <p:xfrm>
          <a:off x="411480" y="1371600"/>
          <a:ext cx="3000000" cy="3000000"/>
        </p:xfrm>
        <a:graphic>
          <a:graphicData uri="http://schemas.openxmlformats.org/drawingml/2006/table">
            <a:tbl>
              <a:tblPr>
                <a:noFill/>
                <a:tableStyleId>{9D323186-7024-4D31-ABB8-6DE780CD1503}</a:tableStyleId>
              </a:tblPr>
              <a:tblGrid>
                <a:gridCol w="1920250"/>
                <a:gridCol w="3291850"/>
                <a:gridCol w="3108950"/>
              </a:tblGrid>
              <a:tr h="566925">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Voucher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First response</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If they ask again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56692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Groupon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 the reason, send self-refund steps (comms kit macro)</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Invalidate the voucher so Groupon can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6692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Second brand voucher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 the reason, encourage them to keep it, send the self-refund link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Refund it: C CRM › Do › Voucher › Refund › 2nd Voucher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56692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Homeaglow Gift Card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 the reason. Valid for 2 years, code is in the confirmation email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Escalate to your CSQ sheet for a Stripe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969" name="Google Shape;969;p39"/>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70" name="Google Shape;970;p39"/>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971" name="Google Shape;971;p39"/>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Groupon:  </a:t>
            </a:r>
            <a:r>
              <a:rPr b="0" i="0" lang="en-US" spc="0" sz="1000" u="none" cap="none" strike="noStrike">
                <a:solidFill>
                  <a:srgbClr val="1D1D1F"/>
                </a:solidFill>
                <a:latin typeface="Arial"/>
                <a:ea typeface="Arial"/>
                <a:cs typeface="Arial"/>
                <a:sym typeface="Arial"/>
              </a:rPr>
              <a:t>invalidate the voucher, or Groupon may not be able to refund it.</a:t>
            </a:r>
            <a:endParaRPr b="0" i="0" spc="0" sz="1000" u="none" cap="none" strike="noStrike">
              <a:solidFill>
                <a:schemeClr val="dk1"/>
              </a:solidFill>
              <a:latin typeface="Calibri"/>
              <a:ea typeface="Calibri"/>
              <a:cs typeface="Calibri"/>
              <a:sym typeface="Calibri"/>
            </a:endParaRPr>
          </a:p>
        </p:txBody>
      </p:sp>
      <p:sp>
        <p:nvSpPr>
          <p:cNvPr id="972" name="Google Shape;972;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7" name="Shape 977"/>
        <p:cNvGrpSpPr/>
        <p:nvPr/>
      </p:nvGrpSpPr>
      <p:grpSpPr>
        <a:xfrm>
          <a:off x="0" y="0"/>
          <a:ext cx="0" cy="0"/>
          <a:chOff x="0" y="0"/>
          <a:chExt cx="0" cy="0"/>
        </a:xfrm>
      </p:grpSpPr>
      <p:sp>
        <p:nvSpPr>
          <p:cNvPr id="978" name="Google Shape;978;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VOUCHERS IN CRM</a:t>
            </a:r>
            <a:endParaRPr b="0" i="0" spc="0" sz="800" u="none" cap="none" strike="noStrike">
              <a:solidFill>
                <a:schemeClr val="dk1"/>
              </a:solidFill>
              <a:latin typeface="Calibri"/>
              <a:ea typeface="Calibri"/>
              <a:cs typeface="Calibri"/>
              <a:sym typeface="Calibri"/>
            </a:endParaRPr>
          </a:p>
        </p:txBody>
      </p:sp>
      <p:sp>
        <p:nvSpPr>
          <p:cNvPr id="979" name="Google Shape;979;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How the system handles combos</a:t>
            </a:r>
            <a:endParaRPr b="0" i="0" spc="0" sz="2400" u="none" cap="none" strike="noStrike">
              <a:solidFill>
                <a:schemeClr val="dk1"/>
              </a:solidFill>
              <a:latin typeface="Calibri"/>
              <a:ea typeface="Calibri"/>
              <a:cs typeface="Calibri"/>
              <a:sym typeface="Calibri"/>
            </a:endParaRPr>
          </a:p>
        </p:txBody>
      </p:sp>
      <p:sp>
        <p:nvSpPr>
          <p:cNvPr id="980" name="Google Shape;980;p40"/>
          <p:cNvSpPr/>
          <p:nvPr/>
        </p:nvSpPr>
        <p:spPr>
          <a:xfrm>
            <a:off x="4114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1" name="Google Shape;981;p40"/>
          <p:cNvSpPr/>
          <p:nvPr/>
        </p:nvSpPr>
        <p:spPr>
          <a:xfrm>
            <a:off x="5760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2" name="Google Shape;982;p40"/>
          <p:cNvPicPr preferRelativeResize="0"/>
          <p:nvPr/>
        </p:nvPicPr>
        <p:blipFill rotWithShape="1">
          <a:blip r:embed="rId3">
            <a:alphaModFix/>
          </a:blip>
          <a:srcRect b="0" l="0" r="0" t="0"/>
          <a:stretch/>
        </p:blipFill>
        <p:spPr>
          <a:xfrm>
            <a:off x="668244" y="1509492"/>
            <a:ext cx="199705" cy="199705"/>
          </a:xfrm>
          <a:prstGeom prst="rect">
            <a:avLst/>
          </a:prstGeom>
          <a:noFill/>
          <a:ln>
            <a:noFill/>
          </a:ln>
        </p:spPr>
      </p:pic>
      <p:sp>
        <p:nvSpPr>
          <p:cNvPr id="983" name="Google Shape;983;p40"/>
          <p:cNvSpPr txBox="1"/>
          <p:nvPr/>
        </p:nvSpPr>
        <p:spPr>
          <a:xfrm>
            <a:off x="11247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Two Groupons</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second one converts to credits.</a:t>
            </a:r>
            <a:endParaRPr b="0" i="0" spc="0" sz="1200" u="none" cap="none" strike="noStrike">
              <a:solidFill>
                <a:schemeClr val="dk1"/>
              </a:solidFill>
              <a:latin typeface="Calibri"/>
              <a:ea typeface="Calibri"/>
              <a:cs typeface="Calibri"/>
              <a:sym typeface="Calibri"/>
            </a:endParaRPr>
          </a:p>
        </p:txBody>
      </p:sp>
      <p:sp>
        <p:nvSpPr>
          <p:cNvPr id="984" name="Google Shape;984;p40"/>
          <p:cNvSpPr/>
          <p:nvPr/>
        </p:nvSpPr>
        <p:spPr>
          <a:xfrm>
            <a:off x="4640580" y="114300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5" name="Google Shape;985;p40"/>
          <p:cNvSpPr/>
          <p:nvPr/>
        </p:nvSpPr>
        <p:spPr>
          <a:xfrm>
            <a:off x="4805172" y="141732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6" name="Google Shape;986;p40"/>
          <p:cNvPicPr preferRelativeResize="0"/>
          <p:nvPr/>
        </p:nvPicPr>
        <p:blipFill rotWithShape="1">
          <a:blip r:embed="rId4">
            <a:alphaModFix/>
          </a:blip>
          <a:srcRect b="0" l="0" r="0" t="0"/>
          <a:stretch/>
        </p:blipFill>
        <p:spPr>
          <a:xfrm>
            <a:off x="4897344" y="1509492"/>
            <a:ext cx="199705" cy="199705"/>
          </a:xfrm>
          <a:prstGeom prst="rect">
            <a:avLst/>
          </a:prstGeom>
          <a:noFill/>
          <a:ln>
            <a:noFill/>
          </a:ln>
        </p:spPr>
      </p:pic>
      <p:sp>
        <p:nvSpPr>
          <p:cNvPr id="987" name="Google Shape;987;p40"/>
          <p:cNvSpPr txBox="1"/>
          <p:nvPr/>
        </p:nvSpPr>
        <p:spPr>
          <a:xfrm>
            <a:off x="5353812" y="123444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Short job on a Groupon</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courtesy voucher for the unused hours.</a:t>
            </a:r>
            <a:endParaRPr b="0" i="0" spc="0" sz="1200" u="none" cap="none" strike="noStrike">
              <a:solidFill>
                <a:schemeClr val="dk1"/>
              </a:solidFill>
              <a:latin typeface="Calibri"/>
              <a:ea typeface="Calibri"/>
              <a:cs typeface="Calibri"/>
              <a:sym typeface="Calibri"/>
            </a:endParaRPr>
          </a:p>
        </p:txBody>
      </p:sp>
      <p:sp>
        <p:nvSpPr>
          <p:cNvPr id="988" name="Google Shape;988;p40"/>
          <p:cNvSpPr/>
          <p:nvPr/>
        </p:nvSpPr>
        <p:spPr>
          <a:xfrm>
            <a:off x="4114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9" name="Google Shape;989;p40"/>
          <p:cNvSpPr/>
          <p:nvPr/>
        </p:nvSpPr>
        <p:spPr>
          <a:xfrm>
            <a:off x="5760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90" name="Google Shape;990;p40"/>
          <p:cNvPicPr preferRelativeResize="0"/>
          <p:nvPr/>
        </p:nvPicPr>
        <p:blipFill rotWithShape="1">
          <a:blip r:embed="rId5">
            <a:alphaModFix/>
          </a:blip>
          <a:srcRect b="0" l="0" r="0" t="0"/>
          <a:stretch/>
        </p:blipFill>
        <p:spPr>
          <a:xfrm>
            <a:off x="668244" y="2606772"/>
            <a:ext cx="199705" cy="199705"/>
          </a:xfrm>
          <a:prstGeom prst="rect">
            <a:avLst/>
          </a:prstGeom>
          <a:noFill/>
          <a:ln>
            <a:noFill/>
          </a:ln>
        </p:spPr>
      </p:pic>
      <p:sp>
        <p:nvSpPr>
          <p:cNvPr id="991" name="Google Shape;991;p40"/>
          <p:cNvSpPr txBox="1"/>
          <p:nvPr/>
        </p:nvSpPr>
        <p:spPr>
          <a:xfrm>
            <a:off x="11247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DHJ or FC, then Groupon</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Groupon converts to credits.</a:t>
            </a:r>
            <a:endParaRPr b="0" i="0" spc="0" sz="1200" u="none" cap="none" strike="noStrike">
              <a:solidFill>
                <a:schemeClr val="dk1"/>
              </a:solidFill>
              <a:latin typeface="Calibri"/>
              <a:ea typeface="Calibri"/>
              <a:cs typeface="Calibri"/>
              <a:sym typeface="Calibri"/>
            </a:endParaRPr>
          </a:p>
        </p:txBody>
      </p:sp>
      <p:sp>
        <p:nvSpPr>
          <p:cNvPr id="992" name="Google Shape;992;p40"/>
          <p:cNvSpPr/>
          <p:nvPr/>
        </p:nvSpPr>
        <p:spPr>
          <a:xfrm>
            <a:off x="4640580" y="22402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3" name="Google Shape;993;p40"/>
          <p:cNvSpPr/>
          <p:nvPr/>
        </p:nvSpPr>
        <p:spPr>
          <a:xfrm>
            <a:off x="4805172" y="251460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94" name="Google Shape;994;p40"/>
          <p:cNvPicPr preferRelativeResize="0"/>
          <p:nvPr/>
        </p:nvPicPr>
        <p:blipFill rotWithShape="1">
          <a:blip r:embed="rId6">
            <a:alphaModFix/>
          </a:blip>
          <a:srcRect b="0" l="0" r="0" t="0"/>
          <a:stretch/>
        </p:blipFill>
        <p:spPr>
          <a:xfrm>
            <a:off x="4897344" y="2606772"/>
            <a:ext cx="199705" cy="199705"/>
          </a:xfrm>
          <a:prstGeom prst="rect">
            <a:avLst/>
          </a:prstGeom>
          <a:noFill/>
          <a:ln>
            <a:noFill/>
          </a:ln>
        </p:spPr>
      </p:pic>
      <p:sp>
        <p:nvSpPr>
          <p:cNvPr id="995" name="Google Shape;995;p40"/>
          <p:cNvSpPr txBox="1"/>
          <p:nvPr/>
        </p:nvSpPr>
        <p:spPr>
          <a:xfrm>
            <a:off x="5353812" y="233172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Past job, then Groupon</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Converts to credits. New customers only.</a:t>
            </a:r>
            <a:endParaRPr b="0" i="0" spc="0" sz="1200" u="none" cap="none" strike="noStrike">
              <a:solidFill>
                <a:schemeClr val="dk1"/>
              </a:solidFill>
              <a:latin typeface="Calibri"/>
              <a:ea typeface="Calibri"/>
              <a:cs typeface="Calibri"/>
              <a:sym typeface="Calibri"/>
            </a:endParaRPr>
          </a:p>
        </p:txBody>
      </p:sp>
      <p:sp>
        <p:nvSpPr>
          <p:cNvPr id="996" name="Google Shape;996;p40"/>
          <p:cNvSpPr/>
          <p:nvPr/>
        </p:nvSpPr>
        <p:spPr>
          <a:xfrm>
            <a:off x="4114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7" name="Google Shape;997;p40"/>
          <p:cNvSpPr/>
          <p:nvPr/>
        </p:nvSpPr>
        <p:spPr>
          <a:xfrm>
            <a:off x="5760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98" name="Google Shape;998;p40"/>
          <p:cNvPicPr preferRelativeResize="0"/>
          <p:nvPr/>
        </p:nvPicPr>
        <p:blipFill rotWithShape="1">
          <a:blip r:embed="rId7">
            <a:alphaModFix/>
          </a:blip>
          <a:srcRect b="0" l="0" r="0" t="0"/>
          <a:stretch/>
        </p:blipFill>
        <p:spPr>
          <a:xfrm>
            <a:off x="668244" y="3704052"/>
            <a:ext cx="199705" cy="199705"/>
          </a:xfrm>
          <a:prstGeom prst="rect">
            <a:avLst/>
          </a:prstGeom>
          <a:noFill/>
          <a:ln>
            <a:noFill/>
          </a:ln>
        </p:spPr>
      </p:pic>
      <p:sp>
        <p:nvSpPr>
          <p:cNvPr id="999" name="Google Shape;999;p40"/>
          <p:cNvSpPr txBox="1"/>
          <p:nvPr/>
        </p:nvSpPr>
        <p:spPr>
          <a:xfrm>
            <a:off x="11247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Groupon, then DHJ</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Allowed. DHJ is applied first.</a:t>
            </a:r>
            <a:endParaRPr b="0" i="0" spc="0" sz="1200" u="none" cap="none" strike="noStrike">
              <a:solidFill>
                <a:schemeClr val="dk1"/>
              </a:solidFill>
              <a:latin typeface="Calibri"/>
              <a:ea typeface="Calibri"/>
              <a:cs typeface="Calibri"/>
              <a:sym typeface="Calibri"/>
            </a:endParaRPr>
          </a:p>
        </p:txBody>
      </p:sp>
      <p:sp>
        <p:nvSpPr>
          <p:cNvPr id="1000" name="Google Shape;1000;p40"/>
          <p:cNvSpPr/>
          <p:nvPr/>
        </p:nvSpPr>
        <p:spPr>
          <a:xfrm>
            <a:off x="4640580" y="333756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1" name="Google Shape;1001;p40"/>
          <p:cNvSpPr/>
          <p:nvPr/>
        </p:nvSpPr>
        <p:spPr>
          <a:xfrm>
            <a:off x="4805172" y="36118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2" name="Google Shape;1002;p40"/>
          <p:cNvPicPr preferRelativeResize="0"/>
          <p:nvPr/>
        </p:nvPicPr>
        <p:blipFill rotWithShape="1">
          <a:blip r:embed="rId8">
            <a:alphaModFix/>
          </a:blip>
          <a:srcRect b="0" l="0" r="0" t="0"/>
          <a:stretch/>
        </p:blipFill>
        <p:spPr>
          <a:xfrm>
            <a:off x="4897344" y="3704052"/>
            <a:ext cx="199705" cy="199705"/>
          </a:xfrm>
          <a:prstGeom prst="rect">
            <a:avLst/>
          </a:prstGeom>
          <a:noFill/>
          <a:ln>
            <a:noFill/>
          </a:ln>
        </p:spPr>
      </p:pic>
      <p:sp>
        <p:nvSpPr>
          <p:cNvPr id="1003" name="Google Shape;1003;p40"/>
          <p:cNvSpPr txBox="1"/>
          <p:nvPr/>
        </p:nvSpPr>
        <p:spPr>
          <a:xfrm>
            <a:off x="5353812" y="3429000"/>
            <a:ext cx="322326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2nd DHJ</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Possible for some active or deactivated FC customers.</a:t>
            </a:r>
            <a:endParaRPr b="0" i="0" spc="0" sz="1200" u="none" cap="none" strike="noStrike">
              <a:solidFill>
                <a:schemeClr val="dk1"/>
              </a:solidFill>
              <a:latin typeface="Calibri"/>
              <a:ea typeface="Calibri"/>
              <a:cs typeface="Calibri"/>
              <a:sym typeface="Calibri"/>
            </a:endParaRPr>
          </a:p>
        </p:txBody>
      </p:sp>
      <p:sp>
        <p:nvSpPr>
          <p:cNvPr id="1004" name="Google Shape;1004;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9" name="Shape 1009"/>
        <p:cNvGrpSpPr/>
        <p:nvPr/>
      </p:nvGrpSpPr>
      <p:grpSpPr>
        <a:xfrm>
          <a:off x="0" y="0"/>
          <a:ext cx="0" cy="0"/>
          <a:chOff x="0" y="0"/>
          <a:chExt cx="0" cy="0"/>
        </a:xfrm>
      </p:grpSpPr>
      <p:sp>
        <p:nvSpPr>
          <p:cNvPr id="1010" name="Google Shape;1010;p41"/>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TOPIC 05</a:t>
            </a:r>
            <a:endParaRPr b="0" i="0" spc="0" sz="800" u="none" cap="none" strike="noStrike">
              <a:solidFill>
                <a:schemeClr val="dk1"/>
              </a:solidFill>
              <a:latin typeface="Calibri"/>
              <a:ea typeface="Calibri"/>
              <a:cs typeface="Calibri"/>
              <a:sym typeface="Calibri"/>
            </a:endParaRPr>
          </a:p>
        </p:txBody>
      </p:sp>
      <p:sp>
        <p:nvSpPr>
          <p:cNvPr id="1011" name="Google Shape;1011;p41"/>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Non-Logged-In Visitor Tickets</a:t>
            </a:r>
            <a:endParaRPr b="0" i="0" spc="0" sz="2800" u="none" cap="none" strike="noStrike">
              <a:solidFill>
                <a:schemeClr val="dk1"/>
              </a:solidFill>
              <a:latin typeface="Calibri"/>
              <a:ea typeface="Calibri"/>
              <a:cs typeface="Calibri"/>
              <a:sym typeface="Calibri"/>
            </a:endParaRPr>
          </a:p>
        </p:txBody>
      </p:sp>
      <p:sp>
        <p:nvSpPr>
          <p:cNvPr id="1012" name="Google Shape;1012;p41"/>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Someone used an existing customer's email, but wasn't logged in.</a:t>
            </a:r>
            <a:endParaRPr b="0" i="0" spc="0" sz="1150" u="none" cap="none" strike="noStrike">
              <a:solidFill>
                <a:schemeClr val="dk1"/>
              </a:solidFill>
              <a:latin typeface="Calibri"/>
              <a:ea typeface="Calibri"/>
              <a:cs typeface="Calibri"/>
              <a:sym typeface="Calibri"/>
            </a:endParaRPr>
          </a:p>
        </p:txBody>
      </p:sp>
      <p:sp>
        <p:nvSpPr>
          <p:cNvPr id="1013" name="Google Shape;1013;p41"/>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14" name="Google Shape;1014;p41"/>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5" name="Google Shape;1015;p41"/>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16" name="Google Shape;1016;p41"/>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the ticket looks like</a:t>
            </a:r>
            <a:endParaRPr b="0" i="0" spc="0" sz="1050" u="none" cap="none" strike="noStrike">
              <a:solidFill>
                <a:schemeClr val="dk1"/>
              </a:solidFill>
              <a:latin typeface="Calibri"/>
              <a:ea typeface="Calibri"/>
              <a:cs typeface="Calibri"/>
              <a:sym typeface="Calibri"/>
            </a:endParaRPr>
          </a:p>
        </p:txBody>
      </p:sp>
      <p:sp>
        <p:nvSpPr>
          <p:cNvPr id="1017" name="Google Shape;1017;p41"/>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8" name="Google Shape;1018;p41"/>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19" name="Google Shape;1019;p41"/>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it's a security checkpoint</a:t>
            </a:r>
            <a:endParaRPr b="0" i="0" spc="0" sz="1050" u="none" cap="none" strike="noStrike">
              <a:solidFill>
                <a:schemeClr val="dk1"/>
              </a:solidFill>
              <a:latin typeface="Calibri"/>
              <a:ea typeface="Calibri"/>
              <a:cs typeface="Calibri"/>
              <a:sym typeface="Calibri"/>
            </a:endParaRPr>
          </a:p>
        </p:txBody>
      </p:sp>
      <p:sp>
        <p:nvSpPr>
          <p:cNvPr id="1020" name="Google Shape;1020;p41"/>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21" name="Google Shape;1021;p41"/>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22" name="Google Shape;1022;p41"/>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respond</a:t>
            </a:r>
            <a:endParaRPr b="0" i="0" spc="0" sz="1050" u="none" cap="none" strike="noStrike">
              <a:solidFill>
                <a:schemeClr val="dk1"/>
              </a:solidFill>
              <a:latin typeface="Calibri"/>
              <a:ea typeface="Calibri"/>
              <a:cs typeface="Calibri"/>
              <a:sym typeface="Calibri"/>
            </a:endParaRPr>
          </a:p>
        </p:txBody>
      </p:sp>
      <p:sp>
        <p:nvSpPr>
          <p:cNvPr id="1023" name="Google Shape;1023;p41"/>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4" name="Google Shape;1024;p41"/>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14.png" id="1025" name="Google Shape;1025;p41"/>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1026" name="Google Shape;1026;p41"/>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7" name="Google Shape;1027;p41"/>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8" name="Google Shape;1028;p41"/>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9" name="Google Shape;1029;p41"/>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0" name="Google Shape;1030;p41"/>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1"/>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2" name="Google Shape;103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NON-LOGGED-IN VISITOR TICKETS</a:t>
            </a:r>
            <a:endParaRPr b="0" i="0" spc="0" sz="800" u="none" cap="none" strike="noStrike">
              <a:solidFill>
                <a:schemeClr val="dk1"/>
              </a:solidFill>
              <a:latin typeface="Calibri"/>
              <a:ea typeface="Calibri"/>
              <a:cs typeface="Calibri"/>
              <a:sym typeface="Calibri"/>
            </a:endParaRPr>
          </a:p>
        </p:txBody>
      </p:sp>
      <p:sp>
        <p:nvSpPr>
          <p:cNvPr id="1039" name="Google Shape;103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it looks like</a:t>
            </a:r>
            <a:endParaRPr b="0" i="0" spc="0" sz="2400" u="none" cap="none" strike="noStrike">
              <a:solidFill>
                <a:schemeClr val="dk1"/>
              </a:solidFill>
              <a:latin typeface="Calibri"/>
              <a:ea typeface="Calibri"/>
              <a:cs typeface="Calibri"/>
              <a:sym typeface="Calibri"/>
            </a:endParaRPr>
          </a:p>
        </p:txBody>
      </p:sp>
      <p:sp>
        <p:nvSpPr>
          <p:cNvPr id="1040" name="Google Shape;104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new CRM flags these tickets for you.</a:t>
            </a:r>
            <a:endParaRPr b="0" i="0" spc="0" sz="1200" u="none" cap="none" strike="noStrike">
              <a:solidFill>
                <a:schemeClr val="dk1"/>
              </a:solidFill>
              <a:latin typeface="Calibri"/>
              <a:ea typeface="Calibri"/>
              <a:cs typeface="Calibri"/>
              <a:sym typeface="Calibri"/>
            </a:endParaRPr>
          </a:p>
        </p:txBody>
      </p:sp>
      <p:sp>
        <p:nvSpPr>
          <p:cNvPr id="1041" name="Google Shape;1041;p42"/>
          <p:cNvSpPr/>
          <p:nvPr/>
        </p:nvSpPr>
        <p:spPr>
          <a:xfrm>
            <a:off x="411480" y="1325880"/>
            <a:ext cx="8321040" cy="1508760"/>
          </a:xfrm>
          <a:prstGeom prst="roundRect">
            <a:avLst>
              <a:gd fmla="val 484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ticket_nonlogged.png" id="1042" name="Google Shape;1042;p42"/>
          <p:cNvPicPr preferRelativeResize="0"/>
          <p:nvPr/>
        </p:nvPicPr>
        <p:blipFill rotWithShape="1">
          <a:blip r:embed="rId3">
            <a:alphaModFix/>
          </a:blip>
          <a:srcRect b="0" l="0" r="0" t="0"/>
          <a:stretch/>
        </p:blipFill>
        <p:spPr>
          <a:xfrm>
            <a:off x="484632" y="1437303"/>
            <a:ext cx="8174736" cy="1285914"/>
          </a:xfrm>
          <a:prstGeom prst="rect">
            <a:avLst/>
          </a:prstGeom>
          <a:noFill/>
          <a:ln>
            <a:noFill/>
          </a:ln>
        </p:spPr>
      </p:pic>
      <p:sp>
        <p:nvSpPr>
          <p:cNvPr id="1043" name="Google Shape;1043;p42"/>
          <p:cNvSpPr/>
          <p:nvPr/>
        </p:nvSpPr>
        <p:spPr>
          <a:xfrm>
            <a:off x="2792388" y="1483229"/>
            <a:ext cx="2204423" cy="298516"/>
          </a:xfrm>
          <a:prstGeom prst="roundRect">
            <a:avLst>
              <a:gd fmla="val 918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4" name="Google Shape;1044;p42"/>
          <p:cNvSpPr/>
          <p:nvPr/>
        </p:nvSpPr>
        <p:spPr>
          <a:xfrm>
            <a:off x="2691804" y="1382645"/>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5" name="Google Shape;1045;p42"/>
          <p:cNvSpPr txBox="1"/>
          <p:nvPr/>
        </p:nvSpPr>
        <p:spPr>
          <a:xfrm>
            <a:off x="2691804" y="1382645"/>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1</a:t>
            </a:r>
            <a:endParaRPr b="0" i="0" spc="0" sz="800" u="none" cap="none" strike="noStrike">
              <a:solidFill>
                <a:schemeClr val="dk1"/>
              </a:solidFill>
              <a:latin typeface="Calibri"/>
              <a:ea typeface="Calibri"/>
              <a:cs typeface="Calibri"/>
              <a:sym typeface="Calibri"/>
            </a:endParaRPr>
          </a:p>
        </p:txBody>
      </p:sp>
      <p:sp>
        <p:nvSpPr>
          <p:cNvPr id="1046" name="Google Shape;1046;p42"/>
          <p:cNvSpPr/>
          <p:nvPr/>
        </p:nvSpPr>
        <p:spPr>
          <a:xfrm>
            <a:off x="610927" y="1839151"/>
            <a:ext cx="7910664" cy="332960"/>
          </a:xfrm>
          <a:prstGeom prst="roundRect">
            <a:avLst>
              <a:gd fmla="val 8239"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7" name="Google Shape;1047;p42"/>
          <p:cNvSpPr/>
          <p:nvPr/>
        </p:nvSpPr>
        <p:spPr>
          <a:xfrm>
            <a:off x="510343" y="1738567"/>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8" name="Google Shape;1048;p42"/>
          <p:cNvSpPr txBox="1"/>
          <p:nvPr/>
        </p:nvSpPr>
        <p:spPr>
          <a:xfrm>
            <a:off x="510343" y="1738567"/>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2</a:t>
            </a:r>
            <a:endParaRPr b="0" i="0" spc="0" sz="800" u="none" cap="none" strike="noStrike">
              <a:solidFill>
                <a:schemeClr val="dk1"/>
              </a:solidFill>
              <a:latin typeface="Calibri"/>
              <a:ea typeface="Calibri"/>
              <a:cs typeface="Calibri"/>
              <a:sym typeface="Calibri"/>
            </a:endParaRPr>
          </a:p>
        </p:txBody>
      </p:sp>
      <p:sp>
        <p:nvSpPr>
          <p:cNvPr id="1049" name="Google Shape;1049;p42"/>
          <p:cNvSpPr/>
          <p:nvPr/>
        </p:nvSpPr>
        <p:spPr>
          <a:xfrm>
            <a:off x="610927" y="2252481"/>
            <a:ext cx="3605150" cy="218146"/>
          </a:xfrm>
          <a:prstGeom prst="roundRect">
            <a:avLst>
              <a:gd fmla="val 12575" name="adj"/>
            </a:avLst>
          </a:prstGeom>
          <a:noFill/>
          <a:ln cap="flat" cmpd="sng" w="254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0" name="Google Shape;1050;p42"/>
          <p:cNvSpPr/>
          <p:nvPr/>
        </p:nvSpPr>
        <p:spPr>
          <a:xfrm>
            <a:off x="510343" y="2151897"/>
            <a:ext cx="201168" cy="201168"/>
          </a:xfrm>
          <a:prstGeom prst="ellipse">
            <a:avLst/>
          </a:prstGeom>
          <a:solidFill>
            <a:srgbClr val="0B7A6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1" name="Google Shape;1051;p42"/>
          <p:cNvSpPr txBox="1"/>
          <p:nvPr/>
        </p:nvSpPr>
        <p:spPr>
          <a:xfrm>
            <a:off x="510343" y="2151897"/>
            <a:ext cx="201168"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800"/>
              <a:buFont typeface="Play"/>
              <a:buNone/>
            </a:pPr>
            <a:r>
              <a:rPr b="1" i="0" lang="en-US" spc="0" sz="800" u="none" cap="none" strike="noStrike">
                <a:solidFill>
                  <a:srgbClr val="FFFFFF"/>
                </a:solidFill>
                <a:latin typeface="Play"/>
                <a:ea typeface="Play"/>
                <a:cs typeface="Play"/>
                <a:sym typeface="Play"/>
              </a:rPr>
              <a:t>3</a:t>
            </a:r>
            <a:endParaRPr b="0" i="0" spc="0" sz="800" u="none" cap="none" strike="noStrike">
              <a:solidFill>
                <a:schemeClr val="dk1"/>
              </a:solidFill>
              <a:latin typeface="Calibri"/>
              <a:ea typeface="Calibri"/>
              <a:cs typeface="Calibri"/>
              <a:sym typeface="Calibri"/>
            </a:endParaRPr>
          </a:p>
        </p:txBody>
      </p:sp>
      <p:sp>
        <p:nvSpPr>
          <p:cNvPr id="1052" name="Google Shape;1052;p42"/>
          <p:cNvSpPr/>
          <p:nvPr/>
        </p:nvSpPr>
        <p:spPr>
          <a:xfrm>
            <a:off x="411480" y="3017520"/>
            <a:ext cx="2697480" cy="566928"/>
          </a:xfrm>
          <a:prstGeom prst="roundRect">
            <a:avLst>
              <a:gd fmla="val 129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3" name="Google Shape;1053;p42"/>
          <p:cNvSpPr/>
          <p:nvPr/>
        </p:nvSpPr>
        <p:spPr>
          <a:xfrm>
            <a:off x="539496" y="3172968"/>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4" name="Google Shape;1054;p42"/>
          <p:cNvSpPr txBox="1"/>
          <p:nvPr/>
        </p:nvSpPr>
        <p:spPr>
          <a:xfrm>
            <a:off x="539496" y="3172968"/>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55" name="Google Shape;1055;p42"/>
          <p:cNvSpPr txBox="1"/>
          <p:nvPr/>
        </p:nvSpPr>
        <p:spPr>
          <a:xfrm>
            <a:off x="914400" y="3063240"/>
            <a:ext cx="21031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Triggered ticket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Came in from the Help Center</a:t>
            </a:r>
            <a:endParaRPr b="0" i="0" spc="0" sz="1050" u="none" cap="none" strike="noStrike">
              <a:solidFill>
                <a:schemeClr val="dk1"/>
              </a:solidFill>
              <a:latin typeface="Calibri"/>
              <a:ea typeface="Calibri"/>
              <a:cs typeface="Calibri"/>
              <a:sym typeface="Calibri"/>
            </a:endParaRPr>
          </a:p>
        </p:txBody>
      </p:sp>
      <p:sp>
        <p:nvSpPr>
          <p:cNvPr id="1056" name="Google Shape;1056;p42"/>
          <p:cNvSpPr/>
          <p:nvPr/>
        </p:nvSpPr>
        <p:spPr>
          <a:xfrm>
            <a:off x="3227832" y="3017520"/>
            <a:ext cx="2697480" cy="566928"/>
          </a:xfrm>
          <a:prstGeom prst="roundRect">
            <a:avLst>
              <a:gd fmla="val 129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7" name="Google Shape;1057;p42"/>
          <p:cNvSpPr/>
          <p:nvPr/>
        </p:nvSpPr>
        <p:spPr>
          <a:xfrm>
            <a:off x="3355848" y="3172968"/>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8" name="Google Shape;1058;p42"/>
          <p:cNvSpPr txBox="1"/>
          <p:nvPr/>
        </p:nvSpPr>
        <p:spPr>
          <a:xfrm>
            <a:off x="3355848" y="3172968"/>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3730752" y="3063240"/>
            <a:ext cx="21031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System note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Sender wasn't logged in</a:t>
            </a:r>
            <a:endParaRPr b="0" i="0" spc="0" sz="1050" u="none" cap="none" strike="noStrike">
              <a:solidFill>
                <a:schemeClr val="dk1"/>
              </a:solidFill>
              <a:latin typeface="Calibri"/>
              <a:ea typeface="Calibri"/>
              <a:cs typeface="Calibri"/>
              <a:sym typeface="Calibri"/>
            </a:endParaRPr>
          </a:p>
        </p:txBody>
      </p:sp>
      <p:sp>
        <p:nvSpPr>
          <p:cNvPr id="1060" name="Google Shape;1060;p42"/>
          <p:cNvSpPr/>
          <p:nvPr/>
        </p:nvSpPr>
        <p:spPr>
          <a:xfrm>
            <a:off x="6035040" y="3017520"/>
            <a:ext cx="2697480" cy="566928"/>
          </a:xfrm>
          <a:prstGeom prst="roundRect">
            <a:avLst>
              <a:gd fmla="val 1290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1" name="Google Shape;1061;p42"/>
          <p:cNvSpPr/>
          <p:nvPr/>
        </p:nvSpPr>
        <p:spPr>
          <a:xfrm>
            <a:off x="6163056" y="3172968"/>
            <a:ext cx="256032" cy="256032"/>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txBox="1"/>
          <p:nvPr/>
        </p:nvSpPr>
        <p:spPr>
          <a:xfrm>
            <a:off x="6163056" y="3172968"/>
            <a:ext cx="256032"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Play"/>
              <a:buNone/>
            </a:pPr>
            <a:r>
              <a:rPr b="1" i="0" lang="en-US" spc="0" sz="900" u="none" cap="none" strike="noStrike">
                <a:solidFill>
                  <a:srgbClr val="FFFFF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6537960" y="3063240"/>
            <a:ext cx="210312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Their message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What the visitor is asking</a:t>
            </a:r>
            <a:endParaRPr b="0" i="0" spc="0" sz="1050" u="none" cap="none" strike="noStrike">
              <a:solidFill>
                <a:schemeClr val="dk1"/>
              </a:solidFill>
              <a:latin typeface="Calibri"/>
              <a:ea typeface="Calibri"/>
              <a:cs typeface="Calibri"/>
              <a:sym typeface="Calibri"/>
            </a:endParaRPr>
          </a:p>
        </p:txBody>
      </p:sp>
      <p:sp>
        <p:nvSpPr>
          <p:cNvPr id="1064" name="Google Shape;1064;p42"/>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5" name="Google Shape;1065;p42"/>
          <p:cNvPicPr preferRelativeResize="0"/>
          <p:nvPr/>
        </p:nvPicPr>
        <p:blipFill rotWithShape="1">
          <a:blip r:embed="rId4">
            <a:alphaModFix/>
          </a:blip>
          <a:srcRect b="0" l="0" r="0" t="0"/>
          <a:stretch/>
        </p:blipFill>
        <p:spPr>
          <a:xfrm>
            <a:off x="566928" y="3904488"/>
            <a:ext cx="164592" cy="164592"/>
          </a:xfrm>
          <a:prstGeom prst="rect">
            <a:avLst/>
          </a:prstGeom>
          <a:noFill/>
          <a:ln>
            <a:noFill/>
          </a:ln>
        </p:spPr>
      </p:pic>
      <p:sp>
        <p:nvSpPr>
          <p:cNvPr id="1066" name="Google Shape;1066;p42"/>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Remember:  </a:t>
            </a:r>
            <a:r>
              <a:rPr b="0" i="0" lang="en-US" spc="0" sz="1000" u="none" cap="none" strike="noStrike">
                <a:solidFill>
                  <a:srgbClr val="1D1D1F"/>
                </a:solidFill>
                <a:latin typeface="Arial"/>
                <a:ea typeface="Arial"/>
                <a:cs typeface="Arial"/>
                <a:sym typeface="Arial"/>
              </a:rPr>
              <a:t>a matching email isn't proof. Anyone can type an email into a form.</a:t>
            </a:r>
            <a:endParaRPr b="0" i="0" spc="0" sz="1000" u="none" cap="none" strike="noStrike">
              <a:solidFill>
                <a:schemeClr val="dk1"/>
              </a:solidFill>
              <a:latin typeface="Calibri"/>
              <a:ea typeface="Calibri"/>
              <a:cs typeface="Calibri"/>
              <a:sym typeface="Calibri"/>
            </a:endParaRPr>
          </a:p>
        </p:txBody>
      </p:sp>
      <p:sp>
        <p:nvSpPr>
          <p:cNvPr id="1067" name="Google Shape;1067;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2" name="Shape 1072"/>
        <p:cNvGrpSpPr/>
        <p:nvPr/>
      </p:nvGrpSpPr>
      <p:grpSpPr>
        <a:xfrm>
          <a:off x="0" y="0"/>
          <a:ext cx="0" cy="0"/>
          <a:chOff x="0" y="0"/>
          <a:chExt cx="0" cy="0"/>
        </a:xfrm>
      </p:grpSpPr>
      <p:sp>
        <p:nvSpPr>
          <p:cNvPr id="1073" name="Google Shape;1073;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NON-LOGGED-IN VISITOR TICKETS</a:t>
            </a:r>
            <a:endParaRPr b="0" i="0" spc="0" sz="800" u="none" cap="none" strike="noStrike">
              <a:solidFill>
                <a:schemeClr val="dk1"/>
              </a:solidFill>
              <a:latin typeface="Calibri"/>
              <a:ea typeface="Calibri"/>
              <a:cs typeface="Calibri"/>
              <a:sym typeface="Calibri"/>
            </a:endParaRPr>
          </a:p>
        </p:txBody>
      </p:sp>
      <p:sp>
        <p:nvSpPr>
          <p:cNvPr id="1074" name="Google Shape;1074;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 matters</a:t>
            </a:r>
            <a:endParaRPr b="0" i="0" spc="0" sz="2400" u="none" cap="none" strike="noStrike">
              <a:solidFill>
                <a:schemeClr val="dk1"/>
              </a:solidFill>
              <a:latin typeface="Calibri"/>
              <a:ea typeface="Calibri"/>
              <a:cs typeface="Calibri"/>
              <a:sym typeface="Calibri"/>
            </a:endParaRPr>
          </a:p>
        </p:txBody>
      </p:sp>
      <p:sp>
        <p:nvSpPr>
          <p:cNvPr id="1075" name="Google Shape;1075;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This is a security and privacy checkpoint, not a routine ticket.</a:t>
            </a:r>
            <a:endParaRPr b="0" i="0" spc="0" sz="1200" u="none" cap="none" strike="noStrike">
              <a:solidFill>
                <a:schemeClr val="dk1"/>
              </a:solidFill>
              <a:latin typeface="Calibri"/>
              <a:ea typeface="Calibri"/>
              <a:cs typeface="Calibri"/>
              <a:sym typeface="Calibri"/>
            </a:endParaRPr>
          </a:p>
        </p:txBody>
      </p:sp>
      <p:sp>
        <p:nvSpPr>
          <p:cNvPr id="1076" name="Google Shape;1076;p43"/>
          <p:cNvSpPr/>
          <p:nvPr/>
        </p:nvSpPr>
        <p:spPr>
          <a:xfrm>
            <a:off x="4114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7" name="Google Shape;1077;p43"/>
          <p:cNvSpPr/>
          <p:nvPr/>
        </p:nvSpPr>
        <p:spPr>
          <a:xfrm>
            <a:off x="576072" y="15361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78" name="Google Shape;1078;p43"/>
          <p:cNvPicPr preferRelativeResize="0"/>
          <p:nvPr/>
        </p:nvPicPr>
        <p:blipFill rotWithShape="1">
          <a:blip r:embed="rId3">
            <a:alphaModFix/>
          </a:blip>
          <a:srcRect b="0" l="0" r="0" t="0"/>
          <a:stretch/>
        </p:blipFill>
        <p:spPr>
          <a:xfrm>
            <a:off x="655076" y="1615196"/>
            <a:ext cx="171176" cy="171176"/>
          </a:xfrm>
          <a:prstGeom prst="rect">
            <a:avLst/>
          </a:prstGeom>
          <a:noFill/>
          <a:ln>
            <a:noFill/>
          </a:ln>
        </p:spPr>
      </p:pic>
      <p:sp>
        <p:nvSpPr>
          <p:cNvPr id="1079" name="Google Shape;1079;p43"/>
          <p:cNvSpPr txBox="1"/>
          <p:nvPr/>
        </p:nvSpPr>
        <p:spPr>
          <a:xfrm>
            <a:off x="5760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Anyone can type an email</a:t>
            </a:r>
            <a:endParaRPr b="0" i="0" spc="0" sz="1200" u="none" cap="none" strike="noStrike">
              <a:solidFill>
                <a:schemeClr val="dk1"/>
              </a:solidFill>
              <a:latin typeface="Calibri"/>
              <a:ea typeface="Calibri"/>
              <a:cs typeface="Calibri"/>
              <a:sym typeface="Calibri"/>
            </a:endParaRPr>
          </a:p>
        </p:txBody>
      </p:sp>
      <p:sp>
        <p:nvSpPr>
          <p:cNvPr id="1080" name="Google Shape;1080;p43"/>
          <p:cNvSpPr txBox="1"/>
          <p:nvPr/>
        </p:nvSpPr>
        <p:spPr>
          <a:xfrm>
            <a:off x="5760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 match doesn't mean it's the account owner.</a:t>
            </a:r>
            <a:endParaRPr b="0" i="0" spc="0" sz="950" u="none" cap="none" strike="noStrike">
              <a:solidFill>
                <a:schemeClr val="dk1"/>
              </a:solidFill>
              <a:latin typeface="Calibri"/>
              <a:ea typeface="Calibri"/>
              <a:cs typeface="Calibri"/>
              <a:sym typeface="Calibri"/>
            </a:endParaRPr>
          </a:p>
        </p:txBody>
      </p:sp>
      <p:sp>
        <p:nvSpPr>
          <p:cNvPr id="1081" name="Google Shape;1081;p43"/>
          <p:cNvSpPr/>
          <p:nvPr/>
        </p:nvSpPr>
        <p:spPr>
          <a:xfrm>
            <a:off x="32308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2" name="Google Shape;1082;p43"/>
          <p:cNvSpPr/>
          <p:nvPr/>
        </p:nvSpPr>
        <p:spPr>
          <a:xfrm>
            <a:off x="3395472" y="15361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83" name="Google Shape;1083;p43"/>
          <p:cNvPicPr preferRelativeResize="0"/>
          <p:nvPr/>
        </p:nvPicPr>
        <p:blipFill rotWithShape="1">
          <a:blip r:embed="rId4">
            <a:alphaModFix/>
          </a:blip>
          <a:srcRect b="0" l="0" r="0" t="0"/>
          <a:stretch/>
        </p:blipFill>
        <p:spPr>
          <a:xfrm>
            <a:off x="3474476" y="1615196"/>
            <a:ext cx="171176" cy="171176"/>
          </a:xfrm>
          <a:prstGeom prst="rect">
            <a:avLst/>
          </a:prstGeom>
          <a:noFill/>
          <a:ln>
            <a:noFill/>
          </a:ln>
        </p:spPr>
      </p:pic>
      <p:sp>
        <p:nvSpPr>
          <p:cNvPr id="1084" name="Google Shape;1084;p43"/>
          <p:cNvSpPr txBox="1"/>
          <p:nvPr/>
        </p:nvSpPr>
        <p:spPr>
          <a:xfrm>
            <a:off x="33954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Wrong person, real data</a:t>
            </a:r>
            <a:endParaRPr b="0" i="0" spc="0" sz="1200" u="none" cap="none" strike="noStrike">
              <a:solidFill>
                <a:schemeClr val="dk1"/>
              </a:solidFill>
              <a:latin typeface="Calibri"/>
              <a:ea typeface="Calibri"/>
              <a:cs typeface="Calibri"/>
              <a:sym typeface="Calibri"/>
            </a:endParaRPr>
          </a:p>
        </p:txBody>
      </p:sp>
      <p:sp>
        <p:nvSpPr>
          <p:cNvPr id="1085" name="Google Shape;1085;p43"/>
          <p:cNvSpPr txBox="1"/>
          <p:nvPr/>
        </p:nvSpPr>
        <p:spPr>
          <a:xfrm>
            <a:off x="33954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Replying to the wrong person exposes the account.</a:t>
            </a:r>
            <a:endParaRPr b="0" i="0" spc="0" sz="950" u="none" cap="none" strike="noStrike">
              <a:solidFill>
                <a:schemeClr val="dk1"/>
              </a:solidFill>
              <a:latin typeface="Calibri"/>
              <a:ea typeface="Calibri"/>
              <a:cs typeface="Calibri"/>
              <a:sym typeface="Calibri"/>
            </a:endParaRPr>
          </a:p>
        </p:txBody>
      </p:sp>
      <p:sp>
        <p:nvSpPr>
          <p:cNvPr id="1086" name="Google Shape;1086;p43"/>
          <p:cNvSpPr/>
          <p:nvPr/>
        </p:nvSpPr>
        <p:spPr>
          <a:xfrm>
            <a:off x="6050280" y="137160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7" name="Google Shape;1087;p43"/>
          <p:cNvSpPr/>
          <p:nvPr/>
        </p:nvSpPr>
        <p:spPr>
          <a:xfrm>
            <a:off x="6214872" y="15361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88" name="Google Shape;1088;p43"/>
          <p:cNvPicPr preferRelativeResize="0"/>
          <p:nvPr/>
        </p:nvPicPr>
        <p:blipFill rotWithShape="1">
          <a:blip r:embed="rId5">
            <a:alphaModFix/>
          </a:blip>
          <a:srcRect b="0" l="0" r="0" t="0"/>
          <a:stretch/>
        </p:blipFill>
        <p:spPr>
          <a:xfrm>
            <a:off x="6293876" y="1615196"/>
            <a:ext cx="171176" cy="171176"/>
          </a:xfrm>
          <a:prstGeom prst="rect">
            <a:avLst/>
          </a:prstGeom>
          <a:noFill/>
          <a:ln>
            <a:noFill/>
          </a:ln>
        </p:spPr>
      </p:pic>
      <p:sp>
        <p:nvSpPr>
          <p:cNvPr id="1089" name="Google Shape;1089;p43"/>
          <p:cNvSpPr txBox="1"/>
          <p:nvPr/>
        </p:nvSpPr>
        <p:spPr>
          <a:xfrm>
            <a:off x="6214872" y="19751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Verify first</a:t>
            </a:r>
            <a:endParaRPr b="0" i="0" spc="0" sz="1200" u="none" cap="none" strike="noStrike">
              <a:solidFill>
                <a:schemeClr val="dk1"/>
              </a:solidFill>
              <a:latin typeface="Calibri"/>
              <a:ea typeface="Calibri"/>
              <a:cs typeface="Calibri"/>
              <a:sym typeface="Calibri"/>
            </a:endParaRPr>
          </a:p>
        </p:txBody>
      </p:sp>
      <p:sp>
        <p:nvSpPr>
          <p:cNvPr id="1090" name="Google Shape;1090;p43"/>
          <p:cNvSpPr txBox="1"/>
          <p:nvPr/>
        </p:nvSpPr>
        <p:spPr>
          <a:xfrm>
            <a:off x="6214872" y="226771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Confirm who you're talking to before you share anything.</a:t>
            </a:r>
            <a:endParaRPr b="0" i="0" spc="0" sz="950" u="none" cap="none" strike="noStrike">
              <a:solidFill>
                <a:schemeClr val="dk1"/>
              </a:solidFill>
              <a:latin typeface="Calibri"/>
              <a:ea typeface="Calibri"/>
              <a:cs typeface="Calibri"/>
              <a:sym typeface="Calibri"/>
            </a:endParaRPr>
          </a:p>
        </p:txBody>
      </p:sp>
      <p:sp>
        <p:nvSpPr>
          <p:cNvPr id="1091" name="Google Shape;1091;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sp>
        <p:nvSpPr>
          <p:cNvPr id="1097" name="Google Shape;1097;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NON-LOGGED-IN VISITOR TICKETS</a:t>
            </a:r>
            <a:endParaRPr b="0" i="0" spc="0" sz="800" u="none" cap="none" strike="noStrike">
              <a:solidFill>
                <a:schemeClr val="dk1"/>
              </a:solidFill>
              <a:latin typeface="Calibri"/>
              <a:ea typeface="Calibri"/>
              <a:cs typeface="Calibri"/>
              <a:sym typeface="Calibri"/>
            </a:endParaRPr>
          </a:p>
        </p:txBody>
      </p:sp>
      <p:sp>
        <p:nvSpPr>
          <p:cNvPr id="1098" name="Google Shape;1098;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How to respond</a:t>
            </a:r>
            <a:endParaRPr b="0" i="0" spc="0" sz="2400" u="none" cap="none" strike="noStrike">
              <a:solidFill>
                <a:schemeClr val="dk1"/>
              </a:solidFill>
              <a:latin typeface="Calibri"/>
              <a:ea typeface="Calibri"/>
              <a:cs typeface="Calibri"/>
              <a:sym typeface="Calibri"/>
            </a:endParaRPr>
          </a:p>
        </p:txBody>
      </p:sp>
      <p:sp>
        <p:nvSpPr>
          <p:cNvPr id="1099" name="Google Shape;1099;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first. What you find decides your reply.</a:t>
            </a:r>
            <a:endParaRPr b="0" i="0" spc="0" sz="1200" u="none" cap="none" strike="noStrike">
              <a:solidFill>
                <a:schemeClr val="dk1"/>
              </a:solidFill>
              <a:latin typeface="Calibri"/>
              <a:ea typeface="Calibri"/>
              <a:cs typeface="Calibri"/>
              <a:sym typeface="Calibri"/>
            </a:endParaRPr>
          </a:p>
        </p:txBody>
      </p:sp>
      <p:sp>
        <p:nvSpPr>
          <p:cNvPr id="1100" name="Google Shape;1100;p44"/>
          <p:cNvSpPr/>
          <p:nvPr/>
        </p:nvSpPr>
        <p:spPr>
          <a:xfrm>
            <a:off x="411480" y="1325880"/>
            <a:ext cx="8321040" cy="566928"/>
          </a:xfrm>
          <a:prstGeom prst="roundRect">
            <a:avLst>
              <a:gd fmla="val 12903"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4"/>
          <p:cNvPicPr preferRelativeResize="0"/>
          <p:nvPr/>
        </p:nvPicPr>
        <p:blipFill rotWithShape="1">
          <a:blip r:embed="rId3">
            <a:alphaModFix/>
          </a:blip>
          <a:srcRect b="0" l="0" r="0" t="0"/>
          <a:stretch/>
        </p:blipFill>
        <p:spPr>
          <a:xfrm>
            <a:off x="621792" y="1490472"/>
            <a:ext cx="237744" cy="237744"/>
          </a:xfrm>
          <a:prstGeom prst="rect">
            <a:avLst/>
          </a:prstGeom>
          <a:noFill/>
          <a:ln>
            <a:noFill/>
          </a:ln>
        </p:spPr>
      </p:pic>
      <p:sp>
        <p:nvSpPr>
          <p:cNvPr id="1102" name="Google Shape;1102;p44"/>
          <p:cNvSpPr txBox="1"/>
          <p:nvPr/>
        </p:nvSpPr>
        <p:spPr>
          <a:xfrm>
            <a:off x="987552" y="1325880"/>
            <a:ext cx="75895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150"/>
              <a:buFont typeface="Play"/>
              <a:buNone/>
            </a:pPr>
            <a:r>
              <a:rPr b="1" i="0" lang="en-US" spc="0" sz="1150" u="none" cap="none" strike="noStrike">
                <a:solidFill>
                  <a:srgbClr val="FFFFFF"/>
                </a:solidFill>
                <a:latin typeface="Play"/>
                <a:ea typeface="Play"/>
                <a:cs typeface="Play"/>
                <a:sym typeface="Play"/>
              </a:rPr>
              <a:t>First, check the account:  </a:t>
            </a:r>
            <a:r>
              <a:rPr b="0" i="0" lang="en-US" spc="0" sz="1150" u="none" cap="none" strike="noStrike">
                <a:solidFill>
                  <a:srgbClr val="FFFFFF"/>
                </a:solidFill>
                <a:latin typeface="Arial"/>
                <a:ea typeface="Arial"/>
                <a:cs typeface="Arial"/>
                <a:sym typeface="Arial"/>
              </a:rPr>
              <a:t>recent jobs, address, and whether their issue matches what's on file.</a:t>
            </a:r>
            <a:endParaRPr b="0" i="0" spc="0" sz="1150" u="none" cap="none" strike="noStrike">
              <a:solidFill>
                <a:schemeClr val="dk1"/>
              </a:solidFill>
              <a:latin typeface="Calibri"/>
              <a:ea typeface="Calibri"/>
              <a:cs typeface="Calibri"/>
              <a:sym typeface="Calibri"/>
            </a:endParaRPr>
          </a:p>
        </p:txBody>
      </p:sp>
      <p:sp>
        <p:nvSpPr>
          <p:cNvPr id="1103" name="Google Shape;1103;p44"/>
          <p:cNvSpPr/>
          <p:nvPr/>
        </p:nvSpPr>
        <p:spPr>
          <a:xfrm>
            <a:off x="411480" y="205740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4" name="Google Shape;1104;p44"/>
          <p:cNvSpPr/>
          <p:nvPr/>
        </p:nvSpPr>
        <p:spPr>
          <a:xfrm>
            <a:off x="576072" y="22219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5" name="Google Shape;1105;p44"/>
          <p:cNvPicPr preferRelativeResize="0"/>
          <p:nvPr/>
        </p:nvPicPr>
        <p:blipFill rotWithShape="1">
          <a:blip r:embed="rId4">
            <a:alphaModFix/>
          </a:blip>
          <a:srcRect b="0" l="0" r="0" t="0"/>
          <a:stretch/>
        </p:blipFill>
        <p:spPr>
          <a:xfrm>
            <a:off x="655076" y="2300996"/>
            <a:ext cx="171176" cy="171176"/>
          </a:xfrm>
          <a:prstGeom prst="rect">
            <a:avLst/>
          </a:prstGeom>
          <a:noFill/>
          <a:ln>
            <a:noFill/>
          </a:ln>
        </p:spPr>
      </p:pic>
      <p:sp>
        <p:nvSpPr>
          <p:cNvPr id="1106" name="Google Shape;1106;p44"/>
          <p:cNvSpPr txBox="1"/>
          <p:nvPr/>
        </p:nvSpPr>
        <p:spPr>
          <a:xfrm>
            <a:off x="576072" y="26609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Details match</a:t>
            </a:r>
            <a:endParaRPr b="0" i="0" spc="0" sz="1200" u="none" cap="none" strike="noStrike">
              <a:solidFill>
                <a:schemeClr val="dk1"/>
              </a:solidFill>
              <a:latin typeface="Calibri"/>
              <a:ea typeface="Calibri"/>
              <a:cs typeface="Calibri"/>
              <a:sym typeface="Calibri"/>
            </a:endParaRPr>
          </a:p>
        </p:txBody>
      </p:sp>
      <p:sp>
        <p:nvSpPr>
          <p:cNvPr id="1107" name="Google Shape;1107;p44"/>
          <p:cNvSpPr txBox="1"/>
          <p:nvPr/>
        </p:nvSpPr>
        <p:spPr>
          <a:xfrm>
            <a:off x="576072" y="295351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Proceed as normal. No extra hoops for a verified customer.</a:t>
            </a:r>
            <a:endParaRPr b="0" i="0" spc="0" sz="950" u="none" cap="none" strike="noStrike">
              <a:solidFill>
                <a:schemeClr val="dk1"/>
              </a:solidFill>
              <a:latin typeface="Calibri"/>
              <a:ea typeface="Calibri"/>
              <a:cs typeface="Calibri"/>
              <a:sym typeface="Calibri"/>
            </a:endParaRPr>
          </a:p>
        </p:txBody>
      </p:sp>
      <p:sp>
        <p:nvSpPr>
          <p:cNvPr id="1108" name="Google Shape;1108;p44"/>
          <p:cNvSpPr/>
          <p:nvPr/>
        </p:nvSpPr>
        <p:spPr>
          <a:xfrm>
            <a:off x="3230880" y="205740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9" name="Google Shape;1109;p44"/>
          <p:cNvSpPr/>
          <p:nvPr/>
        </p:nvSpPr>
        <p:spPr>
          <a:xfrm>
            <a:off x="3395472" y="22219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10" name="Google Shape;1110;p44"/>
          <p:cNvPicPr preferRelativeResize="0"/>
          <p:nvPr/>
        </p:nvPicPr>
        <p:blipFill rotWithShape="1">
          <a:blip r:embed="rId5">
            <a:alphaModFix/>
          </a:blip>
          <a:srcRect b="0" l="0" r="0" t="0"/>
          <a:stretch/>
        </p:blipFill>
        <p:spPr>
          <a:xfrm>
            <a:off x="3474476" y="2300996"/>
            <a:ext cx="171176" cy="171176"/>
          </a:xfrm>
          <a:prstGeom prst="rect">
            <a:avLst/>
          </a:prstGeom>
          <a:noFill/>
          <a:ln>
            <a:noFill/>
          </a:ln>
        </p:spPr>
      </p:pic>
      <p:sp>
        <p:nvSpPr>
          <p:cNvPr id="1111" name="Google Shape;1111;p44"/>
          <p:cNvSpPr txBox="1"/>
          <p:nvPr/>
        </p:nvSpPr>
        <p:spPr>
          <a:xfrm>
            <a:off x="3395472" y="26609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Can't tell</a:t>
            </a:r>
            <a:endParaRPr b="0" i="0" spc="0" sz="1200" u="none" cap="none" strike="noStrike">
              <a:solidFill>
                <a:schemeClr val="dk1"/>
              </a:solidFill>
              <a:latin typeface="Calibri"/>
              <a:ea typeface="Calibri"/>
              <a:cs typeface="Calibri"/>
              <a:sym typeface="Calibri"/>
            </a:endParaRPr>
          </a:p>
        </p:txBody>
      </p:sp>
      <p:sp>
        <p:nvSpPr>
          <p:cNvPr id="1112" name="Google Shape;1112;p44"/>
          <p:cNvSpPr txBox="1"/>
          <p:nvPr/>
        </p:nvSpPr>
        <p:spPr>
          <a:xfrm>
            <a:off x="3395472" y="295351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Reply generically. Ask them to log in, or share a couple of identifying details.</a:t>
            </a:r>
            <a:endParaRPr b="0" i="0" spc="0" sz="950" u="none" cap="none" strike="noStrike">
              <a:solidFill>
                <a:schemeClr val="dk1"/>
              </a:solidFill>
              <a:latin typeface="Calibri"/>
              <a:ea typeface="Calibri"/>
              <a:cs typeface="Calibri"/>
              <a:sym typeface="Calibri"/>
            </a:endParaRPr>
          </a:p>
        </p:txBody>
      </p:sp>
      <p:sp>
        <p:nvSpPr>
          <p:cNvPr id="1113" name="Google Shape;1113;p44"/>
          <p:cNvSpPr/>
          <p:nvPr/>
        </p:nvSpPr>
        <p:spPr>
          <a:xfrm>
            <a:off x="6050280" y="205740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4" name="Google Shape;1114;p44"/>
          <p:cNvSpPr/>
          <p:nvPr/>
        </p:nvSpPr>
        <p:spPr>
          <a:xfrm>
            <a:off x="6214872" y="222199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15" name="Google Shape;1115;p44"/>
          <p:cNvPicPr preferRelativeResize="0"/>
          <p:nvPr/>
        </p:nvPicPr>
        <p:blipFill rotWithShape="1">
          <a:blip r:embed="rId6">
            <a:alphaModFix/>
          </a:blip>
          <a:srcRect b="0" l="0" r="0" t="0"/>
          <a:stretch/>
        </p:blipFill>
        <p:spPr>
          <a:xfrm>
            <a:off x="6293876" y="2300996"/>
            <a:ext cx="171176" cy="171176"/>
          </a:xfrm>
          <a:prstGeom prst="rect">
            <a:avLst/>
          </a:prstGeom>
          <a:noFill/>
          <a:ln>
            <a:noFill/>
          </a:ln>
        </p:spPr>
      </p:pic>
      <p:sp>
        <p:nvSpPr>
          <p:cNvPr id="1116" name="Google Shape;1116;p44"/>
          <p:cNvSpPr txBox="1"/>
          <p:nvPr/>
        </p:nvSpPr>
        <p:spPr>
          <a:xfrm>
            <a:off x="6214872" y="266090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Clearly not them</a:t>
            </a:r>
            <a:endParaRPr b="0" i="0" spc="0" sz="1200" u="none" cap="none" strike="noStrike">
              <a:solidFill>
                <a:schemeClr val="dk1"/>
              </a:solidFill>
              <a:latin typeface="Calibri"/>
              <a:ea typeface="Calibri"/>
              <a:cs typeface="Calibri"/>
              <a:sym typeface="Calibri"/>
            </a:endParaRPr>
          </a:p>
        </p:txBody>
      </p:sp>
      <p:sp>
        <p:nvSpPr>
          <p:cNvPr id="1117" name="Google Shape;1117;p44"/>
          <p:cNvSpPr txBox="1"/>
          <p:nvPr/>
        </p:nvSpPr>
        <p:spPr>
          <a:xfrm>
            <a:off x="6214872" y="295351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Treat it as unverified. Share nothing about the account.</a:t>
            </a:r>
            <a:endParaRPr b="0" i="0" spc="0" sz="95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19" name="Google Shape;1119;p44"/>
          <p:cNvPicPr preferRelativeResize="0"/>
          <p:nvPr/>
        </p:nvPicPr>
        <p:blipFill rotWithShape="1">
          <a:blip r:embed="rId7">
            <a:alphaModFix/>
          </a:blip>
          <a:srcRect b="0" l="0" r="0" t="0"/>
          <a:stretch/>
        </p:blipFill>
        <p:spPr>
          <a:xfrm>
            <a:off x="566928" y="4178808"/>
            <a:ext cx="164592" cy="164592"/>
          </a:xfrm>
          <a:prstGeom prst="rect">
            <a:avLst/>
          </a:prstGeom>
          <a:noFill/>
          <a:ln>
            <a:noFill/>
          </a:ln>
        </p:spPr>
      </p:pic>
      <p:sp>
        <p:nvSpPr>
          <p:cNvPr id="1120" name="Google Shape;1120;p44"/>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Until verified:  </a:t>
            </a:r>
            <a:r>
              <a:rPr b="0" i="0" lang="en-US" spc="0" sz="1000" u="none" cap="none" strike="noStrike">
                <a:solidFill>
                  <a:srgbClr val="1D1D1F"/>
                </a:solidFill>
                <a:latin typeface="Arial"/>
                <a:ea typeface="Arial"/>
                <a:cs typeface="Arial"/>
                <a:sym typeface="Arial"/>
              </a:rPr>
              <a:t>never confirm account details, upcoming appointments or charges.</a:t>
            </a:r>
            <a:endParaRPr b="0" i="0" spc="0" sz="1000" u="none" cap="none" strike="noStrike">
              <a:solidFill>
                <a:schemeClr val="dk1"/>
              </a:solidFill>
              <a:latin typeface="Calibri"/>
              <a:ea typeface="Calibri"/>
              <a:cs typeface="Calibri"/>
              <a:sym typeface="Calibri"/>
            </a:endParaRPr>
          </a:p>
        </p:txBody>
      </p:sp>
      <p:sp>
        <p:nvSpPr>
          <p:cNvPr id="1121" name="Google Shape;1121;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6" name="Shape 1126"/>
        <p:cNvGrpSpPr/>
        <p:nvPr/>
      </p:nvGrpSpPr>
      <p:grpSpPr>
        <a:xfrm>
          <a:off x="0" y="0"/>
          <a:ext cx="0" cy="0"/>
          <a:chOff x="0" y="0"/>
          <a:chExt cx="0" cy="0"/>
        </a:xfrm>
      </p:grpSpPr>
      <p:sp>
        <p:nvSpPr>
          <p:cNvPr id="1127" name="Google Shape;1127;p4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TOPIC 06</a:t>
            </a:r>
            <a:endParaRPr b="0" i="0" spc="0" sz="800" u="none" cap="none" strike="noStrike">
              <a:solidFill>
                <a:schemeClr val="dk1"/>
              </a:solidFill>
              <a:latin typeface="Calibri"/>
              <a:ea typeface="Calibri"/>
              <a:cs typeface="Calibri"/>
              <a:sym typeface="Calibri"/>
            </a:endParaRPr>
          </a:p>
        </p:txBody>
      </p:sp>
      <p:sp>
        <p:nvSpPr>
          <p:cNvPr id="1128" name="Google Shape;1128;p4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Max CP Rate</a:t>
            </a:r>
            <a:endParaRPr b="0" i="0" spc="0" sz="2800" u="none" cap="none" strike="noStrike">
              <a:solidFill>
                <a:schemeClr val="dk1"/>
              </a:solidFill>
              <a:latin typeface="Calibri"/>
              <a:ea typeface="Calibri"/>
              <a:cs typeface="Calibri"/>
              <a:sym typeface="Calibri"/>
            </a:endParaRPr>
          </a:p>
        </p:txBody>
      </p:sp>
      <p:sp>
        <p:nvSpPr>
          <p:cNvPr id="1129" name="Google Shape;1129;p4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C-facing rate cap: the highest hourly rate a cleaner can claim this customer's jobs at.</a:t>
            </a:r>
            <a:endParaRPr b="0" i="0" spc="0" sz="1150" u="none" cap="none" strike="noStrike">
              <a:solidFill>
                <a:schemeClr val="dk1"/>
              </a:solidFill>
              <a:latin typeface="Calibri"/>
              <a:ea typeface="Calibri"/>
              <a:cs typeface="Calibri"/>
              <a:sym typeface="Calibri"/>
            </a:endParaRPr>
          </a:p>
        </p:txBody>
      </p:sp>
      <p:sp>
        <p:nvSpPr>
          <p:cNvPr id="1130" name="Google Shape;1130;p4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131" name="Google Shape;1131;p4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2" name="Google Shape;1132;p4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133" name="Google Shape;1133;p4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the cap does</a:t>
            </a:r>
            <a:endParaRPr b="0" i="0" spc="0" sz="1050" u="none" cap="none" strike="noStrike">
              <a:solidFill>
                <a:schemeClr val="dk1"/>
              </a:solidFill>
              <a:latin typeface="Calibri"/>
              <a:ea typeface="Calibri"/>
              <a:cs typeface="Calibri"/>
              <a:sym typeface="Calibri"/>
            </a:endParaRPr>
          </a:p>
        </p:txBody>
      </p:sp>
      <p:sp>
        <p:nvSpPr>
          <p:cNvPr id="1134" name="Google Shape;1134;p4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136" name="Google Shape;1136;p4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to flag before setting it</a:t>
            </a:r>
            <a:endParaRPr b="0" i="0" spc="0" sz="1050" u="none" cap="none" strike="noStrike">
              <a:solidFill>
                <a:schemeClr val="dk1"/>
              </a:solidFill>
              <a:latin typeface="Calibri"/>
              <a:ea typeface="Calibri"/>
              <a:cs typeface="Calibri"/>
              <a:sym typeface="Calibri"/>
            </a:endParaRPr>
          </a:p>
        </p:txBody>
      </p:sp>
      <p:sp>
        <p:nvSpPr>
          <p:cNvPr id="1137" name="Google Shape;1137;p4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8" name="Google Shape;1138;p4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139" name="Google Shape;1139;p4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the cap behaves</a:t>
            </a:r>
            <a:endParaRPr b="0" i="0" spc="0" sz="1050" u="none" cap="none" strike="noStrike">
              <a:solidFill>
                <a:schemeClr val="dk1"/>
              </a:solidFill>
              <a:latin typeface="Calibri"/>
              <a:ea typeface="Calibri"/>
              <a:cs typeface="Calibri"/>
              <a:sym typeface="Calibri"/>
            </a:endParaRPr>
          </a:p>
        </p:txBody>
      </p:sp>
      <p:sp>
        <p:nvSpPr>
          <p:cNvPr id="1140" name="Google Shape;1140;p4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1" name="Google Shape;1141;p4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142" name="Google Shape;1142;p4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to tell the customer</a:t>
            </a:r>
            <a:endParaRPr b="0" i="0" spc="0" sz="1050" u="none" cap="none" strike="noStrike">
              <a:solidFill>
                <a:schemeClr val="dk1"/>
              </a:solidFill>
              <a:latin typeface="Calibri"/>
              <a:ea typeface="Calibri"/>
              <a:cs typeface="Calibri"/>
              <a:sym typeface="Calibri"/>
            </a:endParaRPr>
          </a:p>
        </p:txBody>
      </p:sp>
      <p:sp>
        <p:nvSpPr>
          <p:cNvPr id="1143" name="Google Shape;1143;p4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29.png" id="1145" name="Google Shape;1145;p45"/>
          <p:cNvPicPr preferRelativeResize="0"/>
          <p:nvPr/>
        </p:nvPicPr>
        <p:blipFill rotWithShape="1">
          <a:blip r:embed="rId4">
            <a:alphaModFix/>
          </a:blip>
          <a:srcRect b="0" l="0" r="0" t="0"/>
          <a:stretch/>
        </p:blipFill>
        <p:spPr>
          <a:xfrm>
            <a:off x="5541264" y="1580923"/>
            <a:ext cx="2926080" cy="1977081"/>
          </a:xfrm>
          <a:prstGeom prst="rect">
            <a:avLst/>
          </a:prstGeom>
          <a:noFill/>
          <a:ln>
            <a:noFill/>
          </a:ln>
        </p:spPr>
      </p:pic>
      <p:sp>
        <p:nvSpPr>
          <p:cNvPr id="1146" name="Google Shape;1146;p4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7" name="Google Shape;1147;p4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8" name="Google Shape;1148;p4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0" name="Google Shape;1150;p4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1" name="Google Shape;1151;p4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2" name="Google Shape;1152;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7" name="Shape 1157"/>
        <p:cNvGrpSpPr/>
        <p:nvPr/>
      </p:nvGrpSpPr>
      <p:grpSpPr>
        <a:xfrm>
          <a:off x="0" y="0"/>
          <a:ext cx="0" cy="0"/>
          <a:chOff x="0" y="0"/>
          <a:chExt cx="0" cy="0"/>
        </a:xfrm>
      </p:grpSpPr>
      <p:sp>
        <p:nvSpPr>
          <p:cNvPr id="1158" name="Google Shape;1158;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MAX CP RATE</a:t>
            </a:r>
            <a:endParaRPr b="0" i="0" spc="0" sz="800" u="none" cap="none" strike="noStrike">
              <a:solidFill>
                <a:schemeClr val="dk1"/>
              </a:solidFill>
              <a:latin typeface="Calibri"/>
              <a:ea typeface="Calibri"/>
              <a:cs typeface="Calibri"/>
              <a:sym typeface="Calibri"/>
            </a:endParaRPr>
          </a:p>
        </p:txBody>
      </p:sp>
      <p:sp>
        <p:nvSpPr>
          <p:cNvPr id="1159" name="Google Shape;1159;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the cap does</a:t>
            </a:r>
            <a:endParaRPr b="0" i="0" spc="0" sz="2400" u="none" cap="none" strike="noStrike">
              <a:solidFill>
                <a:schemeClr val="dk1"/>
              </a:solidFill>
              <a:latin typeface="Calibri"/>
              <a:ea typeface="Calibri"/>
              <a:cs typeface="Calibri"/>
              <a:sym typeface="Calibri"/>
            </a:endParaRPr>
          </a:p>
        </p:txBody>
      </p:sp>
      <p:sp>
        <p:nvSpPr>
          <p:cNvPr id="1160" name="Google Shape;1160;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Set in the CRM: Customer Information › Max rate › Set.</a:t>
            </a:r>
            <a:endParaRPr b="0" i="0" spc="0" sz="1200" u="none" cap="none" strike="noStrike">
              <a:solidFill>
                <a:schemeClr val="dk1"/>
              </a:solidFill>
              <a:latin typeface="Calibri"/>
              <a:ea typeface="Calibri"/>
              <a:cs typeface="Calibri"/>
              <a:sym typeface="Calibri"/>
            </a:endParaRPr>
          </a:p>
        </p:txBody>
      </p:sp>
      <p:sp>
        <p:nvSpPr>
          <p:cNvPr id="1161" name="Google Shape;1161;p46"/>
          <p:cNvSpPr/>
          <p:nvPr/>
        </p:nvSpPr>
        <p:spPr>
          <a:xfrm>
            <a:off x="411480" y="13441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6"/>
          <p:cNvSpPr txBox="1"/>
          <p:nvPr/>
        </p:nvSpPr>
        <p:spPr>
          <a:xfrm>
            <a:off x="411480" y="13441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163" name="Google Shape;1163;p46"/>
          <p:cNvSpPr txBox="1"/>
          <p:nvPr/>
        </p:nvSpPr>
        <p:spPr>
          <a:xfrm>
            <a:off x="822960" y="1280160"/>
            <a:ext cx="22707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Under Customer Information, find Max rate and click Set</a:t>
            </a:r>
            <a:endParaRPr b="0" i="0" spc="0" sz="1050" u="none" cap="none" strike="noStrike">
              <a:solidFill>
                <a:schemeClr val="dk1"/>
              </a:solidFill>
              <a:latin typeface="Calibri"/>
              <a:ea typeface="Calibri"/>
              <a:cs typeface="Calibri"/>
              <a:sym typeface="Calibri"/>
            </a:endParaRPr>
          </a:p>
        </p:txBody>
      </p:sp>
      <p:sp>
        <p:nvSpPr>
          <p:cNvPr id="1164" name="Google Shape;1164;p46"/>
          <p:cNvSpPr/>
          <p:nvPr/>
        </p:nvSpPr>
        <p:spPr>
          <a:xfrm>
            <a:off x="411480" y="1810512"/>
            <a:ext cx="83210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5" name="Google Shape;1165;p46"/>
          <p:cNvSpPr/>
          <p:nvPr/>
        </p:nvSpPr>
        <p:spPr>
          <a:xfrm>
            <a:off x="3230880" y="13441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txBox="1"/>
          <p:nvPr/>
        </p:nvSpPr>
        <p:spPr>
          <a:xfrm>
            <a:off x="3230880" y="13441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167" name="Google Shape;1167;p46"/>
          <p:cNvSpPr txBox="1"/>
          <p:nvPr/>
        </p:nvSpPr>
        <p:spPr>
          <a:xfrm>
            <a:off x="3642360" y="1280160"/>
            <a:ext cx="22707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Enter the preferred hourly rate and click Save</a:t>
            </a:r>
            <a:endParaRPr b="0" i="0" spc="0" sz="1050" u="none" cap="none" strike="noStrike">
              <a:solidFill>
                <a:schemeClr val="dk1"/>
              </a:solidFill>
              <a:latin typeface="Calibri"/>
              <a:ea typeface="Calibri"/>
              <a:cs typeface="Calibri"/>
              <a:sym typeface="Calibri"/>
            </a:endParaRPr>
          </a:p>
        </p:txBody>
      </p:sp>
      <p:sp>
        <p:nvSpPr>
          <p:cNvPr id="1168" name="Google Shape;1168;p46"/>
          <p:cNvSpPr/>
          <p:nvPr/>
        </p:nvSpPr>
        <p:spPr>
          <a:xfrm>
            <a:off x="6050280" y="13441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9" name="Google Shape;1169;p46"/>
          <p:cNvSpPr txBox="1"/>
          <p:nvPr/>
        </p:nvSpPr>
        <p:spPr>
          <a:xfrm>
            <a:off x="6050280" y="13441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170" name="Google Shape;1170;p46"/>
          <p:cNvSpPr txBox="1"/>
          <p:nvPr/>
        </p:nvSpPr>
        <p:spPr>
          <a:xfrm>
            <a:off x="6461760" y="1280160"/>
            <a:ext cx="22707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Max rate now shows the amount with a Hard cap tag</a:t>
            </a:r>
            <a:endParaRPr b="0" i="0" spc="0" sz="1050" u="none" cap="none" strike="noStrike">
              <a:solidFill>
                <a:schemeClr val="dk1"/>
              </a:solidFill>
              <a:latin typeface="Calibri"/>
              <a:ea typeface="Calibri"/>
              <a:cs typeface="Calibri"/>
              <a:sym typeface="Calibri"/>
            </a:endParaRPr>
          </a:p>
        </p:txBody>
      </p:sp>
      <p:sp>
        <p:nvSpPr>
          <p:cNvPr id="1171" name="Google Shape;1171;p46"/>
          <p:cNvSpPr/>
          <p:nvPr/>
        </p:nvSpPr>
        <p:spPr>
          <a:xfrm>
            <a:off x="411480" y="3566160"/>
            <a:ext cx="40919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576072" y="375818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3" name="Google Shape;1173;p46"/>
          <p:cNvPicPr preferRelativeResize="0"/>
          <p:nvPr/>
        </p:nvPicPr>
        <p:blipFill rotWithShape="1">
          <a:blip r:embed="rId3">
            <a:alphaModFix/>
          </a:blip>
          <a:srcRect b="0" l="0" r="0" t="0"/>
          <a:stretch/>
        </p:blipFill>
        <p:spPr>
          <a:xfrm>
            <a:off x="668244" y="3850356"/>
            <a:ext cx="199705" cy="199705"/>
          </a:xfrm>
          <a:prstGeom prst="rect">
            <a:avLst/>
          </a:prstGeom>
          <a:noFill/>
          <a:ln>
            <a:noFill/>
          </a:ln>
        </p:spPr>
      </p:pic>
      <p:sp>
        <p:nvSpPr>
          <p:cNvPr id="1174" name="Google Shape;1174;p46"/>
          <p:cNvSpPr txBox="1"/>
          <p:nvPr/>
        </p:nvSpPr>
        <p:spPr>
          <a:xfrm>
            <a:off x="1097280" y="3611880"/>
            <a:ext cx="32689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50"/>
              <a:buFont typeface="Play"/>
              <a:buNone/>
            </a:pPr>
            <a:r>
              <a:rPr b="1" i="0" lang="en-US" spc="0" sz="1150" u="none" cap="none" strike="noStrike">
                <a:solidFill>
                  <a:srgbClr val="1D1D1F"/>
                </a:solidFill>
                <a:latin typeface="Play"/>
                <a:ea typeface="Play"/>
                <a:cs typeface="Play"/>
                <a:sym typeface="Play"/>
              </a:rPr>
              <a:t>Protects the customer's wallet</a:t>
            </a:r>
            <a:endParaRPr b="0" i="0" spc="0" sz="11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Cleaning requests only go to cleaners whose rates don’t exceed the cap.</a:t>
            </a:r>
            <a:endParaRPr b="0" i="0" spc="0" sz="1150" u="none" cap="none" strike="noStrike">
              <a:solidFill>
                <a:schemeClr val="dk1"/>
              </a:solidFill>
              <a:latin typeface="Calibri"/>
              <a:ea typeface="Calibri"/>
              <a:cs typeface="Calibri"/>
              <a:sym typeface="Calibri"/>
            </a:endParaRPr>
          </a:p>
        </p:txBody>
      </p:sp>
      <p:sp>
        <p:nvSpPr>
          <p:cNvPr id="1175" name="Google Shape;1175;p46"/>
          <p:cNvSpPr/>
          <p:nvPr/>
        </p:nvSpPr>
        <p:spPr>
          <a:xfrm>
            <a:off x="4640580" y="3566160"/>
            <a:ext cx="4091940" cy="777240"/>
          </a:xfrm>
          <a:prstGeom prst="roundRect">
            <a:avLst>
              <a:gd fmla="val 941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4805172" y="375818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77" name="Google Shape;1177;p46"/>
          <p:cNvPicPr preferRelativeResize="0"/>
          <p:nvPr/>
        </p:nvPicPr>
        <p:blipFill rotWithShape="1">
          <a:blip r:embed="rId4">
            <a:alphaModFix/>
          </a:blip>
          <a:srcRect b="0" l="0" r="0" t="0"/>
          <a:stretch/>
        </p:blipFill>
        <p:spPr>
          <a:xfrm>
            <a:off x="4897344" y="3850356"/>
            <a:ext cx="199705" cy="199705"/>
          </a:xfrm>
          <a:prstGeom prst="rect">
            <a:avLst/>
          </a:prstGeom>
          <a:noFill/>
          <a:ln>
            <a:noFill/>
          </a:ln>
        </p:spPr>
      </p:pic>
      <p:sp>
        <p:nvSpPr>
          <p:cNvPr id="1178" name="Google Shape;1178;p46"/>
          <p:cNvSpPr txBox="1"/>
          <p:nvPr/>
        </p:nvSpPr>
        <p:spPr>
          <a:xfrm>
            <a:off x="5326380" y="3611880"/>
            <a:ext cx="32689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50"/>
              <a:buFont typeface="Play"/>
              <a:buNone/>
            </a:pPr>
            <a:r>
              <a:rPr b="1" i="0" lang="en-US" spc="0" sz="1150" u="none" cap="none" strike="noStrike">
                <a:solidFill>
                  <a:srgbClr val="1D1D1F"/>
                </a:solidFill>
                <a:latin typeface="Play"/>
                <a:ea typeface="Play"/>
                <a:cs typeface="Play"/>
                <a:sym typeface="Play"/>
              </a:rPr>
              <a:t>Shrinks the cleaner pool</a:t>
            </a:r>
            <a:endParaRPr b="0" i="0" spc="0" sz="11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Their current cleaner may be above it. Too low, and jobs go unclaimed.</a:t>
            </a:r>
            <a:endParaRPr b="0" i="0" spc="0" sz="1150" u="none" cap="none" strike="noStrike">
              <a:solidFill>
                <a:schemeClr val="dk1"/>
              </a:solidFill>
              <a:latin typeface="Calibri"/>
              <a:ea typeface="Calibri"/>
              <a:cs typeface="Calibri"/>
              <a:sym typeface="Calibri"/>
            </a:endParaRPr>
          </a:p>
        </p:txBody>
      </p:sp>
      <p:sp>
        <p:nvSpPr>
          <p:cNvPr id="1179" name="Google Shape;1179;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pic>
        <p:nvPicPr>
          <p:cNvPr descr="thumb.png" id="1180" name="Google Shape;1180;p46">
            <a:hlinkClick r:id="rId5"/>
          </p:cNvPr>
          <p:cNvPicPr preferRelativeResize="0"/>
          <p:nvPr/>
        </p:nvPicPr>
        <p:blipFill rotWithShape="1">
          <a:blip r:embed="rId6">
            <a:alphaModFix/>
          </a:blip>
          <a:srcRect b="0" l="0" r="0" t="0"/>
          <a:stretch/>
        </p:blipFill>
        <p:spPr>
          <a:xfrm>
            <a:off x="502920" y="1901952"/>
            <a:ext cx="2175586" cy="1417320"/>
          </a:xfrm>
          <a:prstGeom prst="rect">
            <a:avLst/>
          </a:prstGeom>
          <a:noFill/>
          <a:ln cap="flat" cmpd="sng" w="9525">
            <a:solidFill>
              <a:srgbClr val="DCE1E7"/>
            </a:solidFill>
            <a:prstDash val="solid"/>
            <a:round/>
            <a:headEnd len="sm" w="sm" type="none"/>
            <a:tailEnd len="sm" w="sm" type="none"/>
          </a:ln>
        </p:spPr>
      </p:pic>
      <p:sp>
        <p:nvSpPr>
          <p:cNvPr id="1181" name="Google Shape;1181;p46">
            <a:hlinkClick r:id="rId7"/>
          </p:cNvPr>
          <p:cNvSpPr txBox="1"/>
          <p:nvPr/>
        </p:nvSpPr>
        <p:spPr>
          <a:xfrm>
            <a:off x="2952826" y="1901952"/>
            <a:ext cx="5688253" cy="14173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1400" u="none" cap="none" strike="noStrike">
                <a:solidFill>
                  <a:srgbClr val="0B7A6F"/>
                </a:solidFill>
                <a:latin typeface="Play"/>
                <a:ea typeface="Play"/>
                <a:cs typeface="Play"/>
                <a:sym typeface="Play"/>
              </a:rPr>
              <a:t>▶  Watch &amp; Learn</a:t>
            </a:r>
            <a:endParaRPr/>
          </a:p>
          <a:p>
            <a:pPr indent="0" lvl="0" marL="0" marR="0" rtl="0" algn="l">
              <a:lnSpc>
                <a:spcPct val="100000"/>
              </a:lnSpc>
              <a:spcBef>
                <a:spcPts val="400"/>
              </a:spcBef>
              <a:spcAft>
                <a:spcPts val="0"/>
              </a:spcAft>
              <a:buNone/>
            </a:pPr>
            <a:r>
              <a:rPr b="1" i="0" lang="en-US" spc="0" sz="1150" u="none" cap="none" strike="noStrike">
                <a:solidFill>
                  <a:srgbClr val="1D1D1F"/>
                </a:solidFill>
                <a:latin typeface="Play"/>
                <a:ea typeface="Play"/>
                <a:cs typeface="Play"/>
                <a:sym typeface="Play"/>
              </a:rPr>
              <a:t>How to set the Max CP Rate in the CRM (29 sec)</a:t>
            </a:r>
            <a:endParaRPr/>
          </a:p>
          <a:p>
            <a:pPr indent="0" lvl="0" marL="0" marR="0" rtl="0" algn="l">
              <a:lnSpc>
                <a:spcPct val="100000"/>
              </a:lnSpc>
              <a:spcBef>
                <a:spcPts val="400"/>
              </a:spcBef>
              <a:spcAft>
                <a:spcPts val="0"/>
              </a:spcAft>
              <a:buNone/>
            </a:pPr>
            <a:r>
              <a:rPr b="0" i="0" lang="en-US" spc="0" sz="950" u="none" cap="none" strike="noStrike">
                <a:solidFill>
                  <a:srgbClr val="6E6E73"/>
                </a:solidFill>
                <a:latin typeface="Arial"/>
                <a:ea typeface="Arial"/>
                <a:cs typeface="Arial"/>
                <a:sym typeface="Arial"/>
              </a:rPr>
              <a:t>Click the video to play it.</a:t>
            </a:r>
            <a:endParaRPr/>
          </a:p>
          <a:p>
            <a:pPr indent="0" lvl="0" marL="0" marR="0" rtl="0" algn="l">
              <a:lnSpc>
                <a:spcPct val="100000"/>
              </a:lnSpc>
              <a:spcBef>
                <a:spcPts val="400"/>
              </a:spcBef>
              <a:spcAft>
                <a:spcPts val="0"/>
              </a:spcAft>
              <a:buNone/>
            </a:pPr>
            <a:r>
              <a:rPr b="0" i="0" lang="en-US" spc="0" sz="950" u="none" cap="none" strike="noStrike">
                <a:solidFill>
                  <a:srgbClr val="6E6E73"/>
                </a:solidFill>
                <a:latin typeface="Arial"/>
                <a:ea typeface="Arial"/>
                <a:cs typeface="Arial"/>
                <a:sym typeface="Arial"/>
              </a:rPr>
              <a:t>The hard cap applies to future submitted and claimed jobs.</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6" name="Shape 1186"/>
        <p:cNvGrpSpPr/>
        <p:nvPr/>
      </p:nvGrpSpPr>
      <p:grpSpPr>
        <a:xfrm>
          <a:off x="0" y="0"/>
          <a:ext cx="0" cy="0"/>
          <a:chOff x="0" y="0"/>
          <a:chExt cx="0" cy="0"/>
        </a:xfrm>
      </p:grpSpPr>
      <p:sp>
        <p:nvSpPr>
          <p:cNvPr id="1187" name="Google Shape;1187;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MAX CP RATE</a:t>
            </a:r>
            <a:endParaRPr b="0" i="0" spc="0" sz="800" u="none" cap="none" strike="noStrike">
              <a:solidFill>
                <a:schemeClr val="dk1"/>
              </a:solidFill>
              <a:latin typeface="Calibri"/>
              <a:ea typeface="Calibri"/>
              <a:cs typeface="Calibri"/>
              <a:sym typeface="Calibri"/>
            </a:endParaRPr>
          </a:p>
        </p:txBody>
      </p:sp>
      <p:sp>
        <p:nvSpPr>
          <p:cNvPr id="1188" name="Google Shape;1188;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set a cap</a:t>
            </a:r>
            <a:endParaRPr b="0" i="0" spc="0" sz="2400" u="none" cap="none" strike="noStrike">
              <a:solidFill>
                <a:schemeClr val="dk1"/>
              </a:solidFill>
              <a:latin typeface="Calibri"/>
              <a:ea typeface="Calibri"/>
              <a:cs typeface="Calibri"/>
              <a:sym typeface="Calibri"/>
            </a:endParaRPr>
          </a:p>
        </p:txBody>
      </p:sp>
      <p:sp>
        <p:nvSpPr>
          <p:cNvPr id="1189" name="Google Shape;1189;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Flag these to the customer first.</a:t>
            </a:r>
            <a:endParaRPr b="0" i="0" spc="0" sz="1200" u="none" cap="none" strike="noStrike">
              <a:solidFill>
                <a:schemeClr val="dk1"/>
              </a:solidFill>
              <a:latin typeface="Calibri"/>
              <a:ea typeface="Calibri"/>
              <a:cs typeface="Calibri"/>
              <a:sym typeface="Calibri"/>
            </a:endParaRPr>
          </a:p>
        </p:txBody>
      </p:sp>
      <p:sp>
        <p:nvSpPr>
          <p:cNvPr id="1190" name="Google Shape;1190;p47"/>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1" name="Google Shape;1191;p47"/>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2" name="Google Shape;1192;p47"/>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93" name="Google Shape;1193;p47"/>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They may lose their cleaner</a:t>
            </a:r>
            <a:endParaRPr b="0" i="0" spc="0" sz="1200" u="none" cap="none" strike="noStrike">
              <a:solidFill>
                <a:schemeClr val="dk1"/>
              </a:solidFill>
              <a:latin typeface="Calibri"/>
              <a:ea typeface="Calibri"/>
              <a:cs typeface="Calibri"/>
              <a:sym typeface="Calibri"/>
            </a:endParaRPr>
          </a:p>
        </p:txBody>
      </p:sp>
      <p:sp>
        <p:nvSpPr>
          <p:cNvPr id="1194" name="Google Shape;1194;p47"/>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Cleaners set their own rates. Theirs may be above the cap.</a:t>
            </a:r>
            <a:endParaRPr b="0" i="0" spc="0" sz="950" u="none" cap="none" strike="noStrike">
              <a:solidFill>
                <a:schemeClr val="dk1"/>
              </a:solidFill>
              <a:latin typeface="Calibri"/>
              <a:ea typeface="Calibri"/>
              <a:cs typeface="Calibri"/>
              <a:sym typeface="Calibri"/>
            </a:endParaRPr>
          </a:p>
        </p:txBody>
      </p:sp>
      <p:sp>
        <p:nvSpPr>
          <p:cNvPr id="1195" name="Google Shape;1195;p47"/>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6" name="Google Shape;1196;p47"/>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97" name="Google Shape;1197;p47"/>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98" name="Google Shape;1198;p47"/>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Jobs may go unclaimed</a:t>
            </a:r>
            <a:endParaRPr b="0" i="0" spc="0" sz="1200" u="none" cap="none" strike="noStrike">
              <a:solidFill>
                <a:schemeClr val="dk1"/>
              </a:solidFill>
              <a:latin typeface="Calibri"/>
              <a:ea typeface="Calibri"/>
              <a:cs typeface="Calibri"/>
              <a:sym typeface="Calibri"/>
            </a:endParaRPr>
          </a:p>
        </p:txBody>
      </p:sp>
      <p:sp>
        <p:nvSpPr>
          <p:cNvPr id="1199" name="Google Shape;1199;p47"/>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Especially where few cleaners charge that little.</a:t>
            </a:r>
            <a:endParaRPr b="0" i="0" spc="0" sz="950" u="none" cap="none" strike="noStrike">
              <a:solidFill>
                <a:schemeClr val="dk1"/>
              </a:solidFill>
              <a:latin typeface="Calibri"/>
              <a:ea typeface="Calibri"/>
              <a:cs typeface="Calibri"/>
              <a:sym typeface="Calibri"/>
            </a:endParaRPr>
          </a:p>
        </p:txBody>
      </p:sp>
      <p:sp>
        <p:nvSpPr>
          <p:cNvPr id="1200" name="Google Shape;1200;p47"/>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1" name="Google Shape;1201;p47"/>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2" name="Google Shape;1202;p47"/>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203" name="Google Shape;1203;p47"/>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Check the area first</a:t>
            </a:r>
            <a:endParaRPr b="0" i="0" spc="0" sz="1200" u="none" cap="none" strike="noStrike">
              <a:solidFill>
                <a:schemeClr val="dk1"/>
              </a:solidFill>
              <a:latin typeface="Calibri"/>
              <a:ea typeface="Calibri"/>
              <a:cs typeface="Calibri"/>
              <a:sym typeface="Calibri"/>
            </a:endParaRPr>
          </a:p>
        </p:txBody>
      </p:sp>
      <p:sp>
        <p:nvSpPr>
          <p:cNvPr id="1204" name="Google Shape;1204;p47"/>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 at what cleaners near them charge on their dashboard.</a:t>
            </a:r>
            <a:endParaRPr b="0" i="0" spc="0" sz="950" u="none" cap="none" strike="noStrike">
              <a:solidFill>
                <a:schemeClr val="dk1"/>
              </a:solidFill>
              <a:latin typeface="Calibri"/>
              <a:ea typeface="Calibri"/>
              <a:cs typeface="Calibri"/>
              <a:sym typeface="Calibri"/>
            </a:endParaRPr>
          </a:p>
        </p:txBody>
      </p:sp>
      <p:sp>
        <p:nvSpPr>
          <p:cNvPr id="1205" name="Google Shape;1205;p47"/>
          <p:cNvSpPr/>
          <p:nvPr/>
        </p:nvSpPr>
        <p:spPr>
          <a:xfrm>
            <a:off x="411480" y="3200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6" name="Google Shape;1206;p47"/>
          <p:cNvPicPr preferRelativeResize="0"/>
          <p:nvPr/>
        </p:nvPicPr>
        <p:blipFill rotWithShape="1">
          <a:blip r:embed="rId6">
            <a:alphaModFix/>
          </a:blip>
          <a:srcRect b="0" l="0" r="0" t="0"/>
          <a:stretch/>
        </p:blipFill>
        <p:spPr>
          <a:xfrm>
            <a:off x="566928" y="3310128"/>
            <a:ext cx="164592" cy="164592"/>
          </a:xfrm>
          <a:prstGeom prst="rect">
            <a:avLst/>
          </a:prstGeom>
          <a:noFill/>
          <a:ln>
            <a:noFill/>
          </a:ln>
        </p:spPr>
      </p:pic>
      <p:sp>
        <p:nvSpPr>
          <p:cNvPr id="1207" name="Google Shape;1207;p47"/>
          <p:cNvSpPr txBox="1"/>
          <p:nvPr/>
        </p:nvSpPr>
        <p:spPr>
          <a:xfrm>
            <a:off x="822960" y="3300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Typical ask:  </a:t>
            </a:r>
            <a:r>
              <a:rPr b="0" i="0" lang="en-US" spc="0" sz="1000" u="none" cap="none" strike="noStrike">
                <a:solidFill>
                  <a:srgbClr val="1D1D1F"/>
                </a:solidFill>
                <a:latin typeface="Arial"/>
                <a:ea typeface="Arial"/>
                <a:cs typeface="Arial"/>
                <a:sym typeface="Arial"/>
              </a:rPr>
              <a:t>most customers ask for $19–23/hr. Don't set a number blind.</a:t>
            </a:r>
            <a:endParaRPr b="0" i="0" spc="0" sz="1000" u="none" cap="none" strike="noStrike">
              <a:solidFill>
                <a:schemeClr val="dk1"/>
              </a:solidFill>
              <a:latin typeface="Calibri"/>
              <a:ea typeface="Calibri"/>
              <a:cs typeface="Calibri"/>
              <a:sym typeface="Calibri"/>
            </a:endParaRPr>
          </a:p>
        </p:txBody>
      </p:sp>
      <p:sp>
        <p:nvSpPr>
          <p:cNvPr id="1208" name="Google Shape;1208;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3" name="Shape 1213"/>
        <p:cNvGrpSpPr/>
        <p:nvPr/>
      </p:nvGrpSpPr>
      <p:grpSpPr>
        <a:xfrm>
          <a:off x="0" y="0"/>
          <a:ext cx="0" cy="0"/>
          <a:chOff x="0" y="0"/>
          <a:chExt cx="0" cy="0"/>
        </a:xfrm>
      </p:grpSpPr>
      <p:sp>
        <p:nvSpPr>
          <p:cNvPr id="1214" name="Google Shape;1214;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MAX CP RATE</a:t>
            </a:r>
            <a:endParaRPr b="0" i="0" spc="0" sz="800" u="none" cap="none" strike="noStrike">
              <a:solidFill>
                <a:schemeClr val="dk1"/>
              </a:solidFill>
              <a:latin typeface="Calibri"/>
              <a:ea typeface="Calibri"/>
              <a:cs typeface="Calibri"/>
              <a:sym typeface="Calibri"/>
            </a:endParaRPr>
          </a:p>
        </p:txBody>
      </p:sp>
      <p:sp>
        <p:nvSpPr>
          <p:cNvPr id="1215" name="Google Shape;1215;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How the cap behaves</a:t>
            </a:r>
            <a:endParaRPr b="0" i="0" spc="0" sz="2400" u="none" cap="none" strike="noStrike">
              <a:solidFill>
                <a:schemeClr val="dk1"/>
              </a:solidFill>
              <a:latin typeface="Calibri"/>
              <a:ea typeface="Calibri"/>
              <a:cs typeface="Calibri"/>
              <a:sym typeface="Calibri"/>
            </a:endParaRPr>
          </a:p>
        </p:txBody>
      </p:sp>
      <p:sp>
        <p:nvSpPr>
          <p:cNvPr id="1216" name="Google Shape;1216;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Several of these aren't what you'd expect.</a:t>
            </a:r>
            <a:endParaRPr b="0" i="0" spc="0" sz="1200" u="none" cap="none" strike="noStrike">
              <a:solidFill>
                <a:schemeClr val="dk1"/>
              </a:solidFill>
              <a:latin typeface="Calibri"/>
              <a:ea typeface="Calibri"/>
              <a:cs typeface="Calibri"/>
              <a:sym typeface="Calibri"/>
            </a:endParaRPr>
          </a:p>
        </p:txBody>
      </p:sp>
      <p:graphicFrame>
        <p:nvGraphicFramePr>
          <p:cNvPr id="1217" name="Google Shape;1217;p48"/>
          <p:cNvGraphicFramePr/>
          <p:nvPr/>
        </p:nvGraphicFramePr>
        <p:xfrm>
          <a:off x="411480" y="1234440"/>
          <a:ext cx="3000000" cy="3000000"/>
        </p:xfrm>
        <a:graphic>
          <a:graphicData uri="http://schemas.openxmlformats.org/drawingml/2006/table">
            <a:tbl>
              <a:tblPr>
                <a:noFill/>
                <a:tableStyleId>{9D323186-7024-4D31-ABB8-6DE780CD1503}</a:tableStyleId>
              </a:tblPr>
              <a:tblGrid>
                <a:gridCol w="2743200"/>
                <a:gridCol w="5577850"/>
              </a:tblGrid>
              <a:tr h="329175">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Scenario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What happens</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Lowering the cap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Immediately lowers the rate on booked future jobs (submitted or claimed)</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Raising the cap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Does nothing to existing jobs. A cap can never raise a rate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Customer reschedules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The job keeps its rate. The nightly recalculation can't push it above the cap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New job booked after the cap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Prices at or below the cap automatically</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Cleaner tries to claim above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Can't. The cap blocks the claim</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Customer taps Standard / Premium</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The cap stays in effect either way</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Rate set on the Django job page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Admin-locked: skips the cap and the nightly sweep entirely</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218" name="Google Shape;1218;p4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9" name="Google Shape;1219;p4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220" name="Google Shape;1220;p4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Charged above the cap?  </a:t>
            </a:r>
            <a:r>
              <a:rPr b="0" i="0" lang="en-US" spc="0" sz="1000" u="none" cap="none" strike="noStrike">
                <a:solidFill>
                  <a:srgbClr val="1D1D1F"/>
                </a:solidFill>
                <a:latin typeface="Arial"/>
                <a:ea typeface="Arial"/>
                <a:cs typeface="Arial"/>
                <a:sym typeface="Arial"/>
              </a:rPr>
              <a:t>check whether that job's rate was set via Django first.</a:t>
            </a:r>
            <a:endParaRPr b="0" i="0" spc="0" sz="1000" u="none" cap="none" strike="noStrike">
              <a:solidFill>
                <a:schemeClr val="dk1"/>
              </a:solidFill>
              <a:latin typeface="Calibri"/>
              <a:ea typeface="Calibri"/>
              <a:cs typeface="Calibri"/>
              <a:sym typeface="Calibri"/>
            </a:endParaRPr>
          </a:p>
        </p:txBody>
      </p:sp>
      <p:sp>
        <p:nvSpPr>
          <p:cNvPr id="1221" name="Google Shape;1221;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6" name="Shape 1226"/>
        <p:cNvGrpSpPr/>
        <p:nvPr/>
      </p:nvGrpSpPr>
      <p:grpSpPr>
        <a:xfrm>
          <a:off x="0" y="0"/>
          <a:ext cx="0" cy="0"/>
          <a:chOff x="0" y="0"/>
          <a:chExt cx="0" cy="0"/>
        </a:xfrm>
      </p:grpSpPr>
      <p:sp>
        <p:nvSpPr>
          <p:cNvPr id="1227" name="Google Shape;1227;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MAX CP RATE</a:t>
            </a:r>
            <a:endParaRPr b="0" i="0" spc="0" sz="800" u="none" cap="none" strike="noStrike">
              <a:solidFill>
                <a:schemeClr val="dk1"/>
              </a:solidFill>
              <a:latin typeface="Calibri"/>
              <a:ea typeface="Calibri"/>
              <a:cs typeface="Calibri"/>
              <a:sym typeface="Calibri"/>
            </a:endParaRPr>
          </a:p>
        </p:txBody>
      </p:sp>
      <p:sp>
        <p:nvSpPr>
          <p:cNvPr id="1228" name="Google Shape;1228;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to tell the customer</a:t>
            </a:r>
            <a:endParaRPr b="0" i="0" spc="0" sz="2400" u="none" cap="none" strike="noStrike">
              <a:solidFill>
                <a:schemeClr val="dk1"/>
              </a:solidFill>
              <a:latin typeface="Calibri"/>
              <a:ea typeface="Calibri"/>
              <a:cs typeface="Calibri"/>
              <a:sym typeface="Calibri"/>
            </a:endParaRPr>
          </a:p>
        </p:txBody>
      </p:sp>
      <p:sp>
        <p:nvSpPr>
          <p:cNvPr id="1229" name="Google Shape;1229;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After the cap is set.</a:t>
            </a:r>
            <a:endParaRPr b="0" i="0" spc="0" sz="1200" u="none" cap="none" strike="noStrike">
              <a:solidFill>
                <a:schemeClr val="dk1"/>
              </a:solidFill>
              <a:latin typeface="Calibri"/>
              <a:ea typeface="Calibri"/>
              <a:cs typeface="Calibri"/>
              <a:sym typeface="Calibri"/>
            </a:endParaRPr>
          </a:p>
        </p:txBody>
      </p:sp>
      <p:sp>
        <p:nvSpPr>
          <p:cNvPr id="1230" name="Google Shape;1230;p49"/>
          <p:cNvSpPr/>
          <p:nvPr/>
        </p:nvSpPr>
        <p:spPr>
          <a:xfrm>
            <a:off x="4114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1" name="Google Shape;1231;p49"/>
          <p:cNvSpPr/>
          <p:nvPr/>
        </p:nvSpPr>
        <p:spPr>
          <a:xfrm>
            <a:off x="5760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2" name="Google Shape;1232;p49"/>
          <p:cNvPicPr preferRelativeResize="0"/>
          <p:nvPr/>
        </p:nvPicPr>
        <p:blipFill rotWithShape="1">
          <a:blip r:embed="rId3">
            <a:alphaModFix/>
          </a:blip>
          <a:srcRect b="0" l="0" r="0" t="0"/>
          <a:stretch/>
        </p:blipFill>
        <p:spPr>
          <a:xfrm>
            <a:off x="655076" y="1523756"/>
            <a:ext cx="171176" cy="171176"/>
          </a:xfrm>
          <a:prstGeom prst="rect">
            <a:avLst/>
          </a:prstGeom>
          <a:noFill/>
          <a:ln>
            <a:noFill/>
          </a:ln>
        </p:spPr>
      </p:pic>
      <p:sp>
        <p:nvSpPr>
          <p:cNvPr id="1233" name="Google Shape;1233;p49"/>
          <p:cNvSpPr txBox="1"/>
          <p:nvPr/>
        </p:nvSpPr>
        <p:spPr>
          <a:xfrm>
            <a:off x="5760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Best match</a:t>
            </a:r>
            <a:endParaRPr b="0" i="0" spc="0" sz="1200" u="none" cap="none" strike="noStrike">
              <a:solidFill>
                <a:schemeClr val="dk1"/>
              </a:solidFill>
              <a:latin typeface="Calibri"/>
              <a:ea typeface="Calibri"/>
              <a:cs typeface="Calibri"/>
              <a:sym typeface="Calibri"/>
            </a:endParaRPr>
          </a:p>
        </p:txBody>
      </p:sp>
      <p:sp>
        <p:nvSpPr>
          <p:cNvPr id="1234" name="Google Shape;1234;p49"/>
          <p:cNvSpPr txBox="1"/>
          <p:nvPr/>
        </p:nvSpPr>
        <p:spPr>
          <a:xfrm>
            <a:off x="5760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To cleaners at or below their rate. Never "only" or "guaranteed".</a:t>
            </a:r>
            <a:endParaRPr b="0" i="0" spc="0" sz="950" u="none" cap="none" strike="noStrike">
              <a:solidFill>
                <a:schemeClr val="dk1"/>
              </a:solidFill>
              <a:latin typeface="Calibri"/>
              <a:ea typeface="Calibri"/>
              <a:cs typeface="Calibri"/>
              <a:sym typeface="Calibri"/>
            </a:endParaRPr>
          </a:p>
        </p:txBody>
      </p:sp>
      <p:sp>
        <p:nvSpPr>
          <p:cNvPr id="1235" name="Google Shape;1235;p49"/>
          <p:cNvSpPr/>
          <p:nvPr/>
        </p:nvSpPr>
        <p:spPr>
          <a:xfrm>
            <a:off x="25260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9"/>
          <p:cNvSpPr/>
          <p:nvPr/>
        </p:nvSpPr>
        <p:spPr>
          <a:xfrm>
            <a:off x="26906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7" name="Google Shape;1237;p49"/>
          <p:cNvPicPr preferRelativeResize="0"/>
          <p:nvPr/>
        </p:nvPicPr>
        <p:blipFill rotWithShape="1">
          <a:blip r:embed="rId4">
            <a:alphaModFix/>
          </a:blip>
          <a:srcRect b="0" l="0" r="0" t="0"/>
          <a:stretch/>
        </p:blipFill>
        <p:spPr>
          <a:xfrm>
            <a:off x="2769626" y="1523756"/>
            <a:ext cx="171176" cy="171176"/>
          </a:xfrm>
          <a:prstGeom prst="rect">
            <a:avLst/>
          </a:prstGeom>
          <a:noFill/>
          <a:ln>
            <a:noFill/>
          </a:ln>
        </p:spPr>
      </p:pic>
      <p:sp>
        <p:nvSpPr>
          <p:cNvPr id="1238" name="Google Shape;1238;p49"/>
          <p:cNvSpPr txBox="1"/>
          <p:nvPr/>
        </p:nvSpPr>
        <p:spPr>
          <a:xfrm>
            <a:off x="26906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Estimate on claim</a:t>
            </a:r>
            <a:endParaRPr b="0" i="0" spc="0" sz="1200" u="none" cap="none" strike="noStrike">
              <a:solidFill>
                <a:schemeClr val="dk1"/>
              </a:solidFill>
              <a:latin typeface="Calibri"/>
              <a:ea typeface="Calibri"/>
              <a:cs typeface="Calibri"/>
              <a:sym typeface="Calibri"/>
            </a:endParaRPr>
          </a:p>
        </p:txBody>
      </p:sp>
      <p:sp>
        <p:nvSpPr>
          <p:cNvPr id="1239" name="Google Shape;1239;p49"/>
          <p:cNvSpPr txBox="1"/>
          <p:nvPr/>
        </p:nvSpPr>
        <p:spPr>
          <a:xfrm>
            <a:off x="26906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invoice estimate shows on their dashboard right away.</a:t>
            </a:r>
            <a:endParaRPr b="0" i="0" spc="0" sz="950" u="none" cap="none" strike="noStrike">
              <a:solidFill>
                <a:schemeClr val="dk1"/>
              </a:solidFill>
              <a:latin typeface="Calibri"/>
              <a:ea typeface="Calibri"/>
              <a:cs typeface="Calibri"/>
              <a:sym typeface="Calibri"/>
            </a:endParaRPr>
          </a:p>
        </p:txBody>
      </p:sp>
      <p:sp>
        <p:nvSpPr>
          <p:cNvPr id="1240" name="Google Shape;1240;p49"/>
          <p:cNvSpPr/>
          <p:nvPr/>
        </p:nvSpPr>
        <p:spPr>
          <a:xfrm>
            <a:off x="464058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1" name="Google Shape;1241;p49"/>
          <p:cNvSpPr/>
          <p:nvPr/>
        </p:nvSpPr>
        <p:spPr>
          <a:xfrm>
            <a:off x="480517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2" name="Google Shape;1242;p49"/>
          <p:cNvPicPr preferRelativeResize="0"/>
          <p:nvPr/>
        </p:nvPicPr>
        <p:blipFill rotWithShape="1">
          <a:blip r:embed="rId5">
            <a:alphaModFix/>
          </a:blip>
          <a:srcRect b="0" l="0" r="0" t="0"/>
          <a:stretch/>
        </p:blipFill>
        <p:spPr>
          <a:xfrm>
            <a:off x="4884176" y="1523756"/>
            <a:ext cx="171176" cy="171176"/>
          </a:xfrm>
          <a:prstGeom prst="rect">
            <a:avLst/>
          </a:prstGeom>
          <a:noFill/>
          <a:ln>
            <a:noFill/>
          </a:ln>
        </p:spPr>
      </p:pic>
      <p:sp>
        <p:nvSpPr>
          <p:cNvPr id="1243" name="Google Shape;1243;p49"/>
          <p:cNvSpPr txBox="1"/>
          <p:nvPr/>
        </p:nvSpPr>
        <p:spPr>
          <a:xfrm>
            <a:off x="480517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Rematch</a:t>
            </a:r>
            <a:endParaRPr b="0" i="0" spc="0" sz="1200" u="none" cap="none" strike="noStrike">
              <a:solidFill>
                <a:schemeClr val="dk1"/>
              </a:solidFill>
              <a:latin typeface="Calibri"/>
              <a:ea typeface="Calibri"/>
              <a:cs typeface="Calibri"/>
              <a:sym typeface="Calibri"/>
            </a:endParaRPr>
          </a:p>
        </p:txBody>
      </p:sp>
      <p:sp>
        <p:nvSpPr>
          <p:cNvPr id="1244" name="Google Shape;1244;p49"/>
          <p:cNvSpPr txBox="1"/>
          <p:nvPr/>
        </p:nvSpPr>
        <p:spPr>
          <a:xfrm>
            <a:off x="480517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request one up to 6 hours before the appointment.</a:t>
            </a:r>
            <a:endParaRPr b="0" i="0" spc="0" sz="950" u="none" cap="none" strike="noStrike">
              <a:solidFill>
                <a:schemeClr val="dk1"/>
              </a:solidFill>
              <a:latin typeface="Calibri"/>
              <a:ea typeface="Calibri"/>
              <a:cs typeface="Calibri"/>
              <a:sym typeface="Calibri"/>
            </a:endParaRPr>
          </a:p>
        </p:txBody>
      </p:sp>
      <p:sp>
        <p:nvSpPr>
          <p:cNvPr id="1245" name="Google Shape;1245;p49"/>
          <p:cNvSpPr/>
          <p:nvPr/>
        </p:nvSpPr>
        <p:spPr>
          <a:xfrm>
            <a:off x="6755130" y="1280160"/>
            <a:ext cx="197739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6" name="Google Shape;1246;p49"/>
          <p:cNvSpPr/>
          <p:nvPr/>
        </p:nvSpPr>
        <p:spPr>
          <a:xfrm>
            <a:off x="6919722" y="144475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7" name="Google Shape;1247;p49"/>
          <p:cNvPicPr preferRelativeResize="0"/>
          <p:nvPr/>
        </p:nvPicPr>
        <p:blipFill rotWithShape="1">
          <a:blip r:embed="rId6">
            <a:alphaModFix/>
          </a:blip>
          <a:srcRect b="0" l="0" r="0" t="0"/>
          <a:stretch/>
        </p:blipFill>
        <p:spPr>
          <a:xfrm>
            <a:off x="6998726" y="1523756"/>
            <a:ext cx="171176" cy="171176"/>
          </a:xfrm>
          <a:prstGeom prst="rect">
            <a:avLst/>
          </a:prstGeom>
          <a:noFill/>
          <a:ln>
            <a:noFill/>
          </a:ln>
        </p:spPr>
      </p:pic>
      <p:sp>
        <p:nvSpPr>
          <p:cNvPr id="1248" name="Google Shape;1248;p49"/>
          <p:cNvSpPr txBox="1"/>
          <p:nvPr/>
        </p:nvSpPr>
        <p:spPr>
          <a:xfrm>
            <a:off x="6919722" y="188366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Lowering it?</a:t>
            </a:r>
            <a:endParaRPr b="0" i="0" spc="0" sz="1200" u="none" cap="none" strike="noStrike">
              <a:solidFill>
                <a:schemeClr val="dk1"/>
              </a:solidFill>
              <a:latin typeface="Calibri"/>
              <a:ea typeface="Calibri"/>
              <a:cs typeface="Calibri"/>
              <a:sym typeface="Calibri"/>
            </a:endParaRPr>
          </a:p>
        </p:txBody>
      </p:sp>
      <p:sp>
        <p:nvSpPr>
          <p:cNvPr id="1249" name="Google Shape;1249;p49"/>
          <p:cNvSpPr txBox="1"/>
          <p:nvPr/>
        </p:nvSpPr>
        <p:spPr>
          <a:xfrm>
            <a:off x="6919722" y="2176272"/>
            <a:ext cx="164820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It can change jobs they've already booked too.</a:t>
            </a:r>
            <a:endParaRPr b="0" i="0" spc="0" sz="950" u="none" cap="none" strike="noStrike">
              <a:solidFill>
                <a:schemeClr val="dk1"/>
              </a:solidFill>
              <a:latin typeface="Calibri"/>
              <a:ea typeface="Calibri"/>
              <a:cs typeface="Calibri"/>
              <a:sym typeface="Calibri"/>
            </a:endParaRPr>
          </a:p>
        </p:txBody>
      </p:sp>
      <p:sp>
        <p:nvSpPr>
          <p:cNvPr id="1250" name="Google Shape;1250;p49"/>
          <p:cNvSpPr/>
          <p:nvPr/>
        </p:nvSpPr>
        <p:spPr>
          <a:xfrm>
            <a:off x="411480" y="3063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1" name="Google Shape;1251;p49"/>
          <p:cNvPicPr preferRelativeResize="0"/>
          <p:nvPr/>
        </p:nvPicPr>
        <p:blipFill rotWithShape="1">
          <a:blip r:embed="rId7">
            <a:alphaModFix/>
          </a:blip>
          <a:srcRect b="0" l="0" r="0" t="0"/>
          <a:stretch/>
        </p:blipFill>
        <p:spPr>
          <a:xfrm>
            <a:off x="566928" y="3172968"/>
            <a:ext cx="164592" cy="164592"/>
          </a:xfrm>
          <a:prstGeom prst="rect">
            <a:avLst/>
          </a:prstGeom>
          <a:noFill/>
          <a:ln>
            <a:noFill/>
          </a:ln>
        </p:spPr>
      </p:pic>
      <p:sp>
        <p:nvSpPr>
          <p:cNvPr id="1252" name="Google Shape;1252;p49"/>
          <p:cNvSpPr txBox="1"/>
          <p:nvPr/>
        </p:nvSpPr>
        <p:spPr>
          <a:xfrm>
            <a:off x="822960" y="3163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Say it plainly:  </a:t>
            </a:r>
            <a:r>
              <a:rPr b="0" i="0" lang="en-US" spc="0" sz="1000" u="none" cap="none" strike="noStrike">
                <a:solidFill>
                  <a:srgbClr val="1D1D1F"/>
                </a:solidFill>
                <a:latin typeface="Arial"/>
                <a:ea typeface="Arial"/>
                <a:cs typeface="Arial"/>
                <a:sym typeface="Arial"/>
              </a:rPr>
              <a:t>"the highest rate a cleaner can charge for your jobs", not "max CP rate".</a:t>
            </a:r>
            <a:endParaRPr b="0" i="0" spc="0" sz="1000" u="none" cap="none" strike="noStrike">
              <a:solidFill>
                <a:schemeClr val="dk1"/>
              </a:solidFill>
              <a:latin typeface="Calibri"/>
              <a:ea typeface="Calibri"/>
              <a:cs typeface="Calibri"/>
              <a:sym typeface="Calibri"/>
            </a:endParaRPr>
          </a:p>
        </p:txBody>
      </p:sp>
      <p:sp>
        <p:nvSpPr>
          <p:cNvPr id="1253" name="Google Shape;1253;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8" name="Shape 1258"/>
        <p:cNvGrpSpPr/>
        <p:nvPr/>
      </p:nvGrpSpPr>
      <p:grpSpPr>
        <a:xfrm>
          <a:off x="0" y="0"/>
          <a:ext cx="0" cy="0"/>
          <a:chOff x="0" y="0"/>
          <a:chExt cx="0" cy="0"/>
        </a:xfrm>
      </p:grpSpPr>
      <p:sp>
        <p:nvSpPr>
          <p:cNvPr id="1259" name="Google Shape;1259;p50"/>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1260" name="Google Shape;1260;p50"/>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Questions?</a:t>
            </a:r>
            <a:endParaRPr b="0" i="0" spc="0" sz="3400" u="none" cap="none" strike="noStrike">
              <a:solidFill>
                <a:schemeClr val="dk1"/>
              </a:solidFill>
              <a:latin typeface="Calibri"/>
              <a:ea typeface="Calibri"/>
              <a:cs typeface="Calibri"/>
              <a:sym typeface="Calibri"/>
            </a:endParaRPr>
          </a:p>
        </p:txBody>
      </p:sp>
      <p:sp>
        <p:nvSpPr>
          <p:cNvPr id="1261" name="Google Shape;1261;p50"/>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1262" name="Google Shape;1262;p50"/>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3" name="Google Shape;1263;p50"/>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3/ill9.png" id="1264" name="Google Shape;1264;p50"/>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1265" name="Google Shape;1265;p50"/>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50"/>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7" name="Google Shape;1267;p50"/>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8" name="Google Shape;1268;p50"/>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9" name="Google Shape;1269;p50"/>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0" name="Google Shape;1270;p50"/>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