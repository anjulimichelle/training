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Important: check the customer's Local Time before making a call (8 AM - 8 PM their time). Each option links to a slide with its screen; each of those has a Back link.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Callbox: primary number: Open Callbox and make sure the From list shows the primary number. Use the Back link to return to Where to call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GVoice: Sign in to Google Voice with the shared Homeaglow account, then call. Use the Back link to return to Where to call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Callbox: secondary number: In Callbox, switch the From list to the Secondary Phone. Use the Back link to return to Where to call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13.xml"/><Relationship Id="rId3" Type="http://schemas.openxmlformats.org/officeDocument/2006/relationships/slide" Target="slide14.xml"/><Relationship Id="rId4" Type="http://schemas.openxmlformats.org/officeDocument/2006/relationships/slide" Target="slide15.xml"/><Relationship Id="rId1" Type="http://schemas.openxmlformats.org/officeDocument/2006/relationships/image" Target="../media/image-12-1.png"/><Relationship Id="rId5" Type="http://schemas.openxmlformats.org/officeDocument/2006/relationships/image" Target="../media/image-12-2.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 Target="slide12.xml"/><Relationship Id="rId1" Type="http://schemas.openxmlformats.org/officeDocument/2006/relationships/image" Target="../media/image-13-1.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slide" Target="slide12.xml"/><Relationship Id="rId1"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12.xml"/><Relationship Id="rId1" Type="http://schemas.openxmlformats.org/officeDocument/2006/relationships/image" Target="../media/image-15-1.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wipe(left)">
                                      <p:cBhvr>
                                        <p:cTn id="7" dur="12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wipe(left)">
                                      <p:cBhvr>
                                        <p:cTn id="12" dur="12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wipe(left)">
                                      <p:cBhvr>
                                        <p:cTn id="17" dur="12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wipe(left)">
                                      <p:cBhvr>
                                        <p:cTn id="22" dur="12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wipe(left)">
                                      <p:cBhvr>
                                        <p:cTn id="27" dur="12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wipe(left)">
                                      <p:cBhvr>
                                        <p:cTn id="32" dur="12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wipe(left)">
                                      <p:cBhvr>
                                        <p:cTn id="37" dur="12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wipe(left)">
                                      <p:cBhvr>
                                        <p:cTn id="7" dur="12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wipe(left)">
                                      <p:cBhvr>
                                        <p:cTn id="12" dur="12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wipe(left)">
                                      <p:cBhvr>
                                        <p:cTn id="17" dur="12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wipe(left)">
                                      <p:cBhvr>
                                        <p:cTn id="22" dur="12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wipe(left)">
                                      <p:cBhvr>
                                        <p:cTn id="27" dur="12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Click an option to see its screen.</a:t>
            </a:r>
            <a:endParaRPr lang="en-US" sz="1200" dirty="0"/>
          </a:p>
        </p:txBody>
      </p:sp>
      <p:sp>
        <p:nvSpPr>
          <p:cNvPr id="6" name="Shape 3"/>
          <p:cNvSpPr/>
          <p:nvPr/>
        </p:nvSpPr>
        <p:spPr>
          <a:xfrm>
            <a:off x="411480" y="1234440"/>
            <a:ext cx="5257800" cy="2697480"/>
          </a:xfrm>
          <a:prstGeom prst="roundRect">
            <a:avLst>
              <a:gd name="adj" fmla="val 2712"/>
            </a:avLst>
          </a:prstGeom>
          <a:solidFill>
            <a:srgbClr val="FFFFFF"/>
          </a:solidFill>
          <a:ln w="9525">
            <a:solidFill>
              <a:srgbClr val="DCE1E7"/>
            </a:solidFill>
            <a:prstDash val="solid"/>
          </a:ln>
        </p:spPr>
      </p:sp>
      <p:pic>
        <p:nvPicPr>
          <p:cNvPr id="7" name="Image 0" descr="/tmp/claude-0/-workspace-training/3ce5cff6-cccf-5f33-b0ee-0b147a55120e/scratchpad/img3/callback_crm.png">    </p:cNvPr>
          <p:cNvPicPr>
            <a:picLocks noChangeAspect="1"/>
          </p:cNvPicPr>
          <p:nvPr/>
        </p:nvPicPr>
        <p:blipFill>
          <a:blip r:embed="rId1"/>
          <a:stretch>
            <a:fillRect/>
          </a:stretch>
        </p:blipFill>
        <p:spPr>
          <a:xfrm>
            <a:off x="501669" y="1307592"/>
            <a:ext cx="5077422" cy="2551176"/>
          </a:xfrm>
          <a:prstGeom prst="rect">
            <a:avLst/>
          </a:prstGeom>
        </p:spPr>
      </p:pic>
      <p:sp>
        <p:nvSpPr>
          <p:cNvPr id="8" name="Shape 4"/>
          <p:cNvSpPr/>
          <p:nvPr/>
        </p:nvSpPr>
        <p:spPr>
          <a:xfrm>
            <a:off x="4989080" y="2030564"/>
            <a:ext cx="515221" cy="207750"/>
          </a:xfrm>
          <a:prstGeom prst="roundRect">
            <a:avLst>
              <a:gd name="adj" fmla="val 13204"/>
            </a:avLst>
          </a:prstGeom>
          <a:ln w="25400">
            <a:solidFill>
              <a:srgbClr val="0B7A6F"/>
            </a:solidFill>
            <a:prstDash val="solid"/>
          </a:ln>
        </p:spPr>
      </p:sp>
      <p:sp>
        <p:nvSpPr>
          <p:cNvPr id="9" name="Shape 5"/>
          <p:cNvSpPr/>
          <p:nvPr/>
        </p:nvSpPr>
        <p:spPr>
          <a:xfrm>
            <a:off x="4888496" y="1929980"/>
            <a:ext cx="201168" cy="201168"/>
          </a:xfrm>
          <a:prstGeom prst="ellipse">
            <a:avLst/>
          </a:prstGeom>
          <a:solidFill>
            <a:srgbClr val="0B7A6F"/>
          </a:solidFill>
          <a:ln w="12700">
            <a:solidFill>
              <a:srgbClr val="FFFFFF"/>
            </a:solidFill>
            <a:prstDash val="solid"/>
          </a:ln>
        </p:spPr>
      </p:sp>
      <p:sp>
        <p:nvSpPr>
          <p:cNvPr id="10" name="Text 6"/>
          <p:cNvSpPr txBox="1"/>
          <p:nvPr/>
        </p:nvSpPr>
        <p:spPr>
          <a:xfrm>
            <a:off x="4888496" y="19299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457238" y="2030564"/>
            <a:ext cx="523531" cy="207750"/>
          </a:xfrm>
          <a:prstGeom prst="roundRect">
            <a:avLst>
              <a:gd name="adj" fmla="val 13204"/>
            </a:avLst>
          </a:prstGeom>
          <a:ln w="25400">
            <a:solidFill>
              <a:srgbClr val="0B7A6F"/>
            </a:solidFill>
            <a:prstDash val="solid"/>
          </a:ln>
        </p:spPr>
      </p:sp>
      <p:sp>
        <p:nvSpPr>
          <p:cNvPr id="12" name="Shape 8"/>
          <p:cNvSpPr/>
          <p:nvPr/>
        </p:nvSpPr>
        <p:spPr>
          <a:xfrm>
            <a:off x="4356654" y="1929980"/>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56654" y="19299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152565" y="2786775"/>
            <a:ext cx="972272" cy="149580"/>
          </a:xfrm>
          <a:prstGeom prst="roundRect">
            <a:avLst>
              <a:gd name="adj" fmla="val 18339"/>
            </a:avLst>
          </a:prstGeom>
          <a:ln w="25400">
            <a:solidFill>
              <a:srgbClr val="0B7A6F"/>
            </a:solidFill>
            <a:prstDash val="solid"/>
          </a:ln>
        </p:spPr>
      </p:sp>
      <p:sp>
        <p:nvSpPr>
          <p:cNvPr id="15" name="Shape 11"/>
          <p:cNvSpPr/>
          <p:nvPr/>
        </p:nvSpPr>
        <p:spPr>
          <a:xfrm>
            <a:off x="3051981" y="2686191"/>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051981" y="268619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5806440" y="1234440"/>
            <a:ext cx="2926080" cy="713232"/>
          </a:xfrm>
          <a:prstGeom prst="roundRect">
            <a:avLst>
              <a:gd name="adj" fmla="val 10256"/>
            </a:avLst>
          </a:prstGeom>
          <a:solidFill>
            <a:srgbClr val="FFFFFF"/>
          </a:solidFill>
          <a:ln w="9525">
            <a:solidFill>
              <a:srgbClr val="DCE1E7"/>
            </a:solidFill>
            <a:prstDash val="solid"/>
          </a:ln>
        </p:spPr>
      </p:sp>
      <p:sp>
        <p:nvSpPr>
          <p:cNvPr id="18" name="Shape 14"/>
          <p:cNvSpPr/>
          <p:nvPr/>
        </p:nvSpPr>
        <p:spPr>
          <a:xfrm>
            <a:off x="5934456" y="1463040"/>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934456" y="146304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309360" y="1280160"/>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5806440" y="2039112"/>
            <a:ext cx="2926080" cy="713232"/>
          </a:xfrm>
          <a:prstGeom prst="roundRect">
            <a:avLst>
              <a:gd name="adj" fmla="val 10256"/>
            </a:avLst>
          </a:prstGeom>
          <a:solidFill>
            <a:srgbClr val="FFFFFF"/>
          </a:solidFill>
          <a:ln w="9525">
            <a:solidFill>
              <a:srgbClr val="DCE1E7"/>
            </a:solidFill>
            <a:prstDash val="solid"/>
          </a:ln>
        </p:spPr>
      </p:sp>
      <p:sp>
        <p:nvSpPr>
          <p:cNvPr id="22" name="Shape 18"/>
          <p:cNvSpPr/>
          <p:nvPr/>
        </p:nvSpPr>
        <p:spPr>
          <a:xfrm>
            <a:off x="5934456" y="2267712"/>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934456" y="2267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309360" y="2084832"/>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5806440" y="2843784"/>
            <a:ext cx="2926080" cy="713232"/>
          </a:xfrm>
          <a:prstGeom prst="roundRect">
            <a:avLst>
              <a:gd name="adj" fmla="val 10256"/>
            </a:avLst>
          </a:prstGeom>
          <a:solidFill>
            <a:srgbClr val="FFFFFF"/>
          </a:solidFill>
          <a:ln w="9525">
            <a:solidFill>
              <a:srgbClr val="DCE1E7"/>
            </a:solidFill>
            <a:prstDash val="solid"/>
          </a:ln>
        </p:spPr>
      </p:sp>
      <p:sp>
        <p:nvSpPr>
          <p:cNvPr id="26" name="Shape 22"/>
          <p:cNvSpPr/>
          <p:nvPr/>
        </p:nvSpPr>
        <p:spPr>
          <a:xfrm>
            <a:off x="593445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93445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309360" y="2889504"/>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from the Secondary Phone</a:t>
            </a:r>
            <a:endParaRPr lang="en-US" sz="1050" dirty="0"/>
          </a:p>
        </p:txBody>
      </p:sp>
      <p:sp>
        <p:nvSpPr>
          <p:cNvPr id="29" name="Text 25"/>
          <p:cNvSpPr txBox="1"/>
          <p:nvPr/>
        </p:nvSpPr>
        <p:spPr>
          <a:xfrm>
            <a:off x="8092440" y="1234440"/>
            <a:ext cx="566928" cy="713232"/>
          </a:xfrm>
          <a:prstGeom prst="rect">
            <a:avLst/>
          </a:prstGeom>
          <a:noFill/>
          <a:ln/>
        </p:spPr>
        <p:txBody>
          <a:bodyPr wrap="square" lIns="0" tIns="0" rIns="0" bIns="0" rtlCol="0" anchor="ctr"/>
          <a:lstStyle/>
          <a:p>
            <a:pPr algn="r" indent="0" marL="0">
              <a:buNone/>
            </a:pPr>
            <a:r>
              <a:rPr lang="en-US" sz="900" b="1" u="sng" dirty="0">
                <a:solidFill>
                  <a:srgbClr val="0B7A6F"/>
                </a:solidFill>
                <a:latin typeface="SF Pro Text" pitchFamily="34" charset="0"/>
                <a:ea typeface="SF Pro Text" pitchFamily="34" charset="-122"/>
                <a:cs typeface="SF Pro Text" pitchFamily="34" charset="-120"/>
                <a:hlinkClick r:id="rId2" action="ppaction://hlinksldjump" tooltip="Show the Callbox: primary number screen">
                  <a:extLst>
                    <a:ext uri="{A12FA001-AC4F-418D-AE19-62706E023703}">
                      <ahyp:hlinkClr xmlns:ahyp="http://schemas.microsoft.com/office/drawing/2018/hyperlinkcolor" val="tx"/>
                    </a:ext>
                  </a:extLst>
                </a:hlinkClick>
              </a:rPr>
              <a:t>View ›</a:t>
            </a:r>
            <a:endParaRPr lang="en-US" sz="900" dirty="0"/>
          </a:p>
        </p:txBody>
      </p:sp>
      <p:sp>
        <p:nvSpPr>
          <p:cNvPr id="30" name="Text 26"/>
          <p:cNvSpPr txBox="1"/>
          <p:nvPr/>
        </p:nvSpPr>
        <p:spPr>
          <a:xfrm>
            <a:off x="8092440" y="2039112"/>
            <a:ext cx="566928" cy="713232"/>
          </a:xfrm>
          <a:prstGeom prst="rect">
            <a:avLst/>
          </a:prstGeom>
          <a:noFill/>
          <a:ln/>
        </p:spPr>
        <p:txBody>
          <a:bodyPr wrap="square" lIns="0" tIns="0" rIns="0" bIns="0" rtlCol="0" anchor="ctr"/>
          <a:lstStyle/>
          <a:p>
            <a:pPr algn="r" indent="0" marL="0">
              <a:buNone/>
            </a:pPr>
            <a:r>
              <a:rPr lang="en-US" sz="900" b="1" u="sng" dirty="0">
                <a:solidFill>
                  <a:srgbClr val="0B7A6F"/>
                </a:solidFill>
                <a:latin typeface="SF Pro Text" pitchFamily="34" charset="0"/>
                <a:ea typeface="SF Pro Text" pitchFamily="34" charset="-122"/>
                <a:cs typeface="SF Pro Text" pitchFamily="34" charset="-120"/>
                <a:hlinkClick r:id="rId3" action="ppaction://hlinksldjump" tooltip="Show the GVoice screen">
                  <a:extLst>
                    <a:ext uri="{A12FA001-AC4F-418D-AE19-62706E023703}">
                      <ahyp:hlinkClr xmlns:ahyp="http://schemas.microsoft.com/office/drawing/2018/hyperlinkcolor" val="tx"/>
                    </a:ext>
                  </a:extLst>
                </a:hlinkClick>
              </a:rPr>
              <a:t>View ›</a:t>
            </a:r>
            <a:endParaRPr lang="en-US" sz="900" dirty="0"/>
          </a:p>
        </p:txBody>
      </p:sp>
      <p:sp>
        <p:nvSpPr>
          <p:cNvPr id="31" name="Text 27"/>
          <p:cNvSpPr txBox="1"/>
          <p:nvPr/>
        </p:nvSpPr>
        <p:spPr>
          <a:xfrm>
            <a:off x="8092440" y="2843784"/>
            <a:ext cx="566928" cy="713232"/>
          </a:xfrm>
          <a:prstGeom prst="rect">
            <a:avLst/>
          </a:prstGeom>
          <a:noFill/>
          <a:ln/>
        </p:spPr>
        <p:txBody>
          <a:bodyPr wrap="square" lIns="0" tIns="0" rIns="0" bIns="0" rtlCol="0" anchor="ctr"/>
          <a:lstStyle/>
          <a:p>
            <a:pPr algn="r" indent="0" marL="0">
              <a:buNone/>
            </a:pPr>
            <a:r>
              <a:rPr lang="en-US" sz="900" b="1" u="sng" dirty="0">
                <a:solidFill>
                  <a:srgbClr val="0B7A6F"/>
                </a:solidFill>
                <a:latin typeface="SF Pro Text" pitchFamily="34" charset="0"/>
                <a:ea typeface="SF Pro Text" pitchFamily="34" charset="-122"/>
                <a:cs typeface="SF Pro Text" pitchFamily="34" charset="-120"/>
                <a:hlinkClick r:id="rId4" action="ppaction://hlinksldjump" tooltip="Show the Callbox: secondary number screen">
                  <a:extLst>
                    <a:ext uri="{A12FA001-AC4F-418D-AE19-62706E023703}">
                      <ahyp:hlinkClr xmlns:ahyp="http://schemas.microsoft.com/office/drawing/2018/hyperlinkcolor" val="tx"/>
                    </a:ext>
                  </a:extLst>
                </a:hlinkClick>
              </a:rPr>
              <a:t>View ›</a:t>
            </a:r>
            <a:endParaRPr lang="en-US" sz="900" dirty="0"/>
          </a:p>
        </p:txBody>
      </p:sp>
      <p:sp>
        <p:nvSpPr>
          <p:cNvPr id="32" name="Shape 28"/>
          <p:cNvSpPr/>
          <p:nvPr/>
        </p:nvSpPr>
        <p:spPr>
          <a:xfrm>
            <a:off x="411480" y="4069080"/>
            <a:ext cx="8321040" cy="548640"/>
          </a:xfrm>
          <a:prstGeom prst="roundRect">
            <a:avLst>
              <a:gd name="adj" fmla="val 13333"/>
            </a:avLst>
          </a:prstGeom>
          <a:solidFill>
            <a:srgbClr val="FFF3D6"/>
          </a:solidFill>
          <a:ln w="9525">
            <a:solidFill>
              <a:srgbClr val="FFF3D6"/>
            </a:solidFill>
            <a:prstDash val="solid"/>
          </a:ln>
        </p:spPr>
      </p:sp>
      <p:pic>
        <p:nvPicPr>
          <p:cNvPr id="33" name="Image 1" descr="preencoded.png">    </p:cNvPr>
          <p:cNvPicPr>
            <a:picLocks noChangeAspect="1"/>
          </p:cNvPicPr>
          <p:nvPr/>
        </p:nvPicPr>
        <p:blipFill>
          <a:blip r:embed="rId5"/>
          <a:stretch>
            <a:fillRect/>
          </a:stretch>
        </p:blipFill>
        <p:spPr>
          <a:xfrm>
            <a:off x="594360" y="4242816"/>
            <a:ext cx="201168" cy="201168"/>
          </a:xfrm>
          <a:prstGeom prst="rect">
            <a:avLst/>
          </a:prstGeom>
        </p:spPr>
      </p:pic>
      <p:sp>
        <p:nvSpPr>
          <p:cNvPr id="34" name="Text 29"/>
          <p:cNvSpPr txBox="1"/>
          <p:nvPr/>
        </p:nvSpPr>
        <p:spPr>
          <a:xfrm>
            <a:off x="914400" y="4069080"/>
            <a:ext cx="7680960" cy="548640"/>
          </a:xfrm>
          <a:prstGeom prst="rect">
            <a:avLst/>
          </a:prstGeom>
          <a:noFill/>
          <a:ln/>
        </p:spPr>
        <p:txBody>
          <a:bodyPr wrap="square" lIns="0" tIns="0" rIns="0" bIns="0" rtlCol="0" anchor="ctr"/>
          <a:lstStyle/>
          <a:p>
            <a:pPr indent="0" marL="0">
              <a:buNone/>
            </a:pPr>
            <a:r>
              <a:rPr lang="en-US" sz="1050" b="1" dirty="0">
                <a:solidFill>
                  <a:srgbClr val="9A6410"/>
                </a:solidFill>
                <a:latin typeface="SF Pro Text" pitchFamily="34" charset="0"/>
                <a:ea typeface="SF Pro Text" pitchFamily="34" charset="-122"/>
                <a:cs typeface="SF Pro Text" pitchFamily="34" charset="-120"/>
              </a:rPr>
              <a:t>Important:  </a:t>
            </a:r>
            <a:pPr indent="0" marL="0">
              <a:buNone/>
            </a:pPr>
            <a:r>
              <a:rPr lang="en-US" sz="1050" dirty="0">
                <a:solidFill>
                  <a:srgbClr val="1D1D1F"/>
                </a:solidFill>
                <a:latin typeface="SF Pro Text" pitchFamily="34" charset="0"/>
                <a:ea typeface="SF Pro Text" pitchFamily="34" charset="-122"/>
                <a:cs typeface="SF Pro Text" pitchFamily="34" charset="-120"/>
              </a:rPr>
              <a:t>check the customer's Local Time (!) before making a call. Call only between 8 AM and 8 PM their time.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  ·  WHERE TO CALL FROM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Callbox: primary number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Callbox and make sure the From list shows the primary number.</a:t>
            </a:r>
            <a:endParaRPr lang="en-US" sz="1200" dirty="0"/>
          </a:p>
        </p:txBody>
      </p:sp>
      <p:sp>
        <p:nvSpPr>
          <p:cNvPr id="6" name="Shape 3"/>
          <p:cNvSpPr/>
          <p:nvPr/>
        </p:nvSpPr>
        <p:spPr>
          <a:xfrm>
            <a:off x="411480" y="1280160"/>
            <a:ext cx="8321040" cy="2926080"/>
          </a:xfrm>
          <a:prstGeom prst="roundRect">
            <a:avLst>
              <a:gd name="adj" fmla="val 2500"/>
            </a:avLst>
          </a:prstGeom>
          <a:solidFill>
            <a:srgbClr val="FFFFFF"/>
          </a:solidFill>
          <a:ln w="9525">
            <a:solidFill>
              <a:srgbClr val="DCE1E7"/>
            </a:solidFill>
            <a:prstDash val="solid"/>
          </a:ln>
        </p:spPr>
      </p:sp>
      <p:pic>
        <p:nvPicPr>
          <p:cNvPr id="7" name="Image 0" descr="/tmp/claude-0/-workspace-training/3ce5cff6-cccf-5f33-b0ee-0b147a55120e/scratchpad/img3/call_primary.png">    </p:cNvPr>
          <p:cNvPicPr>
            <a:picLocks noChangeAspect="1"/>
          </p:cNvPicPr>
          <p:nvPr/>
        </p:nvPicPr>
        <p:blipFill>
          <a:blip r:embed="rId1"/>
          <a:stretch>
            <a:fillRect/>
          </a:stretch>
        </p:blipFill>
        <p:spPr>
          <a:xfrm>
            <a:off x="484632" y="1461991"/>
            <a:ext cx="8174736" cy="2562417"/>
          </a:xfrm>
          <a:prstGeom prst="rect">
            <a:avLst/>
          </a:prstGeom>
        </p:spPr>
      </p:pic>
      <p:sp>
        <p:nvSpPr>
          <p:cNvPr id="8" name="Shape 4"/>
          <p:cNvSpPr/>
          <p:nvPr/>
        </p:nvSpPr>
        <p:spPr>
          <a:xfrm>
            <a:off x="5984454" y="2636953"/>
            <a:ext cx="2137431" cy="324990"/>
          </a:xfrm>
          <a:prstGeom prst="roundRect">
            <a:avLst>
              <a:gd name="adj" fmla="val 8441"/>
            </a:avLst>
          </a:prstGeom>
          <a:ln w="25400">
            <a:solidFill>
              <a:srgbClr val="0B7A6F"/>
            </a:solidFill>
            <a:prstDash val="solid"/>
          </a:ln>
        </p:spPr>
      </p:sp>
      <p:sp>
        <p:nvSpPr>
          <p:cNvPr id="9" name="Shape 5"/>
          <p:cNvSpPr/>
          <p:nvPr/>
        </p:nvSpPr>
        <p:spPr>
          <a:xfrm>
            <a:off x="5883870" y="2536369"/>
            <a:ext cx="201168" cy="201168"/>
          </a:xfrm>
          <a:prstGeom prst="ellipse">
            <a:avLst/>
          </a:prstGeom>
          <a:solidFill>
            <a:srgbClr val="0B7A6F"/>
          </a:solidFill>
          <a:ln w="12700">
            <a:solidFill>
              <a:srgbClr val="FFFFFF"/>
            </a:solidFill>
            <a:prstDash val="solid"/>
          </a:ln>
        </p:spPr>
      </p:sp>
      <p:sp>
        <p:nvSpPr>
          <p:cNvPr id="10" name="Text 6"/>
          <p:cNvSpPr txBox="1"/>
          <p:nvPr/>
        </p:nvSpPr>
        <p:spPr>
          <a:xfrm>
            <a:off x="5883870" y="253636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Text 7"/>
          <p:cNvSpPr txBox="1"/>
          <p:nvPr/>
        </p:nvSpPr>
        <p:spPr>
          <a:xfrm>
            <a:off x="438912" y="4343400"/>
            <a:ext cx="3657600" cy="274320"/>
          </a:xfrm>
          <a:prstGeom prst="rect">
            <a:avLst/>
          </a:prstGeom>
          <a:noFill/>
          <a:ln/>
        </p:spPr>
        <p:txBody>
          <a:bodyPr wrap="square" lIns="0" tIns="0" rIns="0" bIns="0" rtlCol="0" anchor="ctr"/>
          <a:lstStyle/>
          <a:p>
            <a:pPr indent="0" marL="0">
              <a:buNone/>
            </a:pPr>
            <a:r>
              <a:rPr lang="en-US" sz="1050" b="1" u="sng" dirty="0">
                <a:solidFill>
                  <a:srgbClr val="0B7A6F"/>
                </a:solidFill>
                <a:latin typeface="SF Pro Text" pitchFamily="34" charset="0"/>
                <a:ea typeface="SF Pro Text" pitchFamily="34" charset="-122"/>
                <a:cs typeface="SF Pro Text" pitchFamily="34" charset="-120"/>
                <a:hlinkClick r:id="rId2" action="ppaction://hlinksldjump" tooltip="Back to Where to call from">
                  <a:extLst>
                    <a:ext uri="{A12FA001-AC4F-418D-AE19-62706E023703}">
                      <ahyp:hlinkClr xmlns:ahyp="http://schemas.microsoft.com/office/drawing/2018/hyperlinkcolor" val="tx"/>
                    </a:ext>
                  </a:extLst>
                </a:hlinkClick>
              </a:rPr>
              <a:t>‹  Back to Where to call from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  ·  WHERE TO CALL FROM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GVoice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Sign in to Google Voice with the shared Homeaglow account, then call.</a:t>
            </a:r>
            <a:endParaRPr lang="en-US" sz="1200" dirty="0"/>
          </a:p>
        </p:txBody>
      </p:sp>
      <p:sp>
        <p:nvSpPr>
          <p:cNvPr id="6" name="Shape 3"/>
          <p:cNvSpPr/>
          <p:nvPr/>
        </p:nvSpPr>
        <p:spPr>
          <a:xfrm>
            <a:off x="411480" y="1280160"/>
            <a:ext cx="8321040" cy="2926080"/>
          </a:xfrm>
          <a:prstGeom prst="roundRect">
            <a:avLst>
              <a:gd name="adj" fmla="val 2500"/>
            </a:avLst>
          </a:prstGeom>
          <a:solidFill>
            <a:srgbClr val="FFFFFF"/>
          </a:solidFill>
          <a:ln w="9525">
            <a:solidFill>
              <a:srgbClr val="DCE1E7"/>
            </a:solidFill>
            <a:prstDash val="solid"/>
          </a:ln>
        </p:spPr>
      </p:sp>
      <p:pic>
        <p:nvPicPr>
          <p:cNvPr id="7" name="Image 0" descr="/tmp/claude-0/-workspace-training/3ce5cff6-cccf-5f33-b0ee-0b147a55120e/scratchpad/img3/call_gvoice.png">    </p:cNvPr>
          <p:cNvPicPr>
            <a:picLocks noChangeAspect="1"/>
          </p:cNvPicPr>
          <p:nvPr/>
        </p:nvPicPr>
        <p:blipFill>
          <a:blip r:embed="rId1"/>
          <a:stretch>
            <a:fillRect/>
          </a:stretch>
        </p:blipFill>
        <p:spPr>
          <a:xfrm>
            <a:off x="1186295" y="1353312"/>
            <a:ext cx="6771409" cy="2779776"/>
          </a:xfrm>
          <a:prstGeom prst="rect">
            <a:avLst/>
          </a:prstGeom>
        </p:spPr>
      </p:pic>
      <p:sp>
        <p:nvSpPr>
          <p:cNvPr id="8" name="Shape 4"/>
          <p:cNvSpPr/>
          <p:nvPr/>
        </p:nvSpPr>
        <p:spPr>
          <a:xfrm>
            <a:off x="4684440" y="2177875"/>
            <a:ext cx="2898463" cy="374801"/>
          </a:xfrm>
          <a:prstGeom prst="roundRect">
            <a:avLst>
              <a:gd name="adj" fmla="val 7319"/>
            </a:avLst>
          </a:prstGeom>
          <a:ln w="25400">
            <a:solidFill>
              <a:srgbClr val="0B7A6F"/>
            </a:solidFill>
            <a:prstDash val="solid"/>
          </a:ln>
        </p:spPr>
      </p:sp>
      <p:sp>
        <p:nvSpPr>
          <p:cNvPr id="9" name="Shape 5"/>
          <p:cNvSpPr/>
          <p:nvPr/>
        </p:nvSpPr>
        <p:spPr>
          <a:xfrm>
            <a:off x="4583856" y="2077291"/>
            <a:ext cx="201168" cy="201168"/>
          </a:xfrm>
          <a:prstGeom prst="ellipse">
            <a:avLst/>
          </a:prstGeom>
          <a:solidFill>
            <a:srgbClr val="0B7A6F"/>
          </a:solidFill>
          <a:ln w="12700">
            <a:solidFill>
              <a:srgbClr val="FFFFFF"/>
            </a:solidFill>
            <a:prstDash val="solid"/>
          </a:ln>
        </p:spPr>
      </p:sp>
      <p:sp>
        <p:nvSpPr>
          <p:cNvPr id="10" name="Text 6"/>
          <p:cNvSpPr txBox="1"/>
          <p:nvPr/>
        </p:nvSpPr>
        <p:spPr>
          <a:xfrm>
            <a:off x="4583856" y="207729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Text 7"/>
          <p:cNvSpPr txBox="1"/>
          <p:nvPr/>
        </p:nvSpPr>
        <p:spPr>
          <a:xfrm>
            <a:off x="438912" y="4343400"/>
            <a:ext cx="3657600" cy="274320"/>
          </a:xfrm>
          <a:prstGeom prst="rect">
            <a:avLst/>
          </a:prstGeom>
          <a:noFill/>
          <a:ln/>
        </p:spPr>
        <p:txBody>
          <a:bodyPr wrap="square" lIns="0" tIns="0" rIns="0" bIns="0" rtlCol="0" anchor="ctr"/>
          <a:lstStyle/>
          <a:p>
            <a:pPr indent="0" marL="0">
              <a:buNone/>
            </a:pPr>
            <a:r>
              <a:rPr lang="en-US" sz="1050" b="1" u="sng" dirty="0">
                <a:solidFill>
                  <a:srgbClr val="0B7A6F"/>
                </a:solidFill>
                <a:latin typeface="SF Pro Text" pitchFamily="34" charset="0"/>
                <a:ea typeface="SF Pro Text" pitchFamily="34" charset="-122"/>
                <a:cs typeface="SF Pro Text" pitchFamily="34" charset="-120"/>
                <a:hlinkClick r:id="rId2" action="ppaction://hlinksldjump" tooltip="Back to Where to call from">
                  <a:extLst>
                    <a:ext uri="{A12FA001-AC4F-418D-AE19-62706E023703}">
                      <ahyp:hlinkClr xmlns:ahyp="http://schemas.microsoft.com/office/drawing/2018/hyperlinkcolor" val="tx"/>
                    </a:ext>
                  </a:extLst>
                </a:hlinkClick>
              </a:rPr>
              <a:t>‹  Back to Where to call from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  ·  WHERE TO CALL FROM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Callbox: secondary number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Callbox, switch the From list to the Secondary Phone.</a:t>
            </a:r>
            <a:endParaRPr lang="en-US" sz="1200" dirty="0"/>
          </a:p>
        </p:txBody>
      </p:sp>
      <p:sp>
        <p:nvSpPr>
          <p:cNvPr id="6" name="Shape 3"/>
          <p:cNvSpPr/>
          <p:nvPr/>
        </p:nvSpPr>
        <p:spPr>
          <a:xfrm>
            <a:off x="411480" y="1280160"/>
            <a:ext cx="8321040" cy="2926080"/>
          </a:xfrm>
          <a:prstGeom prst="roundRect">
            <a:avLst>
              <a:gd name="adj" fmla="val 2500"/>
            </a:avLst>
          </a:prstGeom>
          <a:solidFill>
            <a:srgbClr val="FFFFFF"/>
          </a:solidFill>
          <a:ln w="9525">
            <a:solidFill>
              <a:srgbClr val="DCE1E7"/>
            </a:solidFill>
            <a:prstDash val="solid"/>
          </a:ln>
        </p:spPr>
      </p:sp>
      <p:pic>
        <p:nvPicPr>
          <p:cNvPr id="7" name="Image 0" descr="/tmp/claude-0/-workspace-training/3ce5cff6-cccf-5f33-b0ee-0b147a55120e/scratchpad/img3/call_secondary.png">    </p:cNvPr>
          <p:cNvPicPr>
            <a:picLocks noChangeAspect="1"/>
          </p:cNvPicPr>
          <p:nvPr/>
        </p:nvPicPr>
        <p:blipFill>
          <a:blip r:embed="rId1"/>
          <a:stretch>
            <a:fillRect/>
          </a:stretch>
        </p:blipFill>
        <p:spPr>
          <a:xfrm>
            <a:off x="484632" y="1609942"/>
            <a:ext cx="8174736" cy="2266516"/>
          </a:xfrm>
          <a:prstGeom prst="rect">
            <a:avLst/>
          </a:prstGeom>
        </p:spPr>
      </p:pic>
      <p:sp>
        <p:nvSpPr>
          <p:cNvPr id="8" name="Shape 4"/>
          <p:cNvSpPr/>
          <p:nvPr/>
        </p:nvSpPr>
        <p:spPr>
          <a:xfrm>
            <a:off x="5972656" y="3112464"/>
            <a:ext cx="2202849" cy="369264"/>
          </a:xfrm>
          <a:prstGeom prst="roundRect">
            <a:avLst>
              <a:gd name="adj" fmla="val 7429"/>
            </a:avLst>
          </a:prstGeom>
          <a:ln w="25400">
            <a:solidFill>
              <a:srgbClr val="0B7A6F"/>
            </a:solidFill>
            <a:prstDash val="solid"/>
          </a:ln>
        </p:spPr>
      </p:sp>
      <p:sp>
        <p:nvSpPr>
          <p:cNvPr id="9" name="Shape 5"/>
          <p:cNvSpPr/>
          <p:nvPr/>
        </p:nvSpPr>
        <p:spPr>
          <a:xfrm>
            <a:off x="5872072" y="3011880"/>
            <a:ext cx="201168" cy="201168"/>
          </a:xfrm>
          <a:prstGeom prst="ellipse">
            <a:avLst/>
          </a:prstGeom>
          <a:solidFill>
            <a:srgbClr val="0B7A6F"/>
          </a:solidFill>
          <a:ln w="12700">
            <a:solidFill>
              <a:srgbClr val="FFFFFF"/>
            </a:solidFill>
            <a:prstDash val="solid"/>
          </a:ln>
        </p:spPr>
      </p:sp>
      <p:sp>
        <p:nvSpPr>
          <p:cNvPr id="10" name="Text 6"/>
          <p:cNvSpPr txBox="1"/>
          <p:nvPr/>
        </p:nvSpPr>
        <p:spPr>
          <a:xfrm>
            <a:off x="5872072" y="30118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Text 7"/>
          <p:cNvSpPr txBox="1"/>
          <p:nvPr/>
        </p:nvSpPr>
        <p:spPr>
          <a:xfrm>
            <a:off x="438912" y="4343400"/>
            <a:ext cx="3657600" cy="274320"/>
          </a:xfrm>
          <a:prstGeom prst="rect">
            <a:avLst/>
          </a:prstGeom>
          <a:noFill/>
          <a:ln/>
        </p:spPr>
        <p:txBody>
          <a:bodyPr wrap="square" lIns="0" tIns="0" rIns="0" bIns="0" rtlCol="0" anchor="ctr"/>
          <a:lstStyle/>
          <a:p>
            <a:pPr indent="0" marL="0">
              <a:buNone/>
            </a:pPr>
            <a:r>
              <a:rPr lang="en-US" sz="1050" b="1" u="sng" dirty="0">
                <a:solidFill>
                  <a:srgbClr val="0B7A6F"/>
                </a:solidFill>
                <a:latin typeface="SF Pro Text" pitchFamily="34" charset="0"/>
                <a:ea typeface="SF Pro Text" pitchFamily="34" charset="-122"/>
                <a:cs typeface="SF Pro Text" pitchFamily="34" charset="-120"/>
                <a:hlinkClick r:id="rId2" action="ppaction://hlinksldjump" tooltip="Back to Where to call from">
                  <a:extLst>
                    <a:ext uri="{A12FA001-AC4F-418D-AE19-62706E023703}">
                      <ahyp:hlinkClr xmlns:ahyp="http://schemas.microsoft.com/office/drawing/2018/hyperlinkcolor" val="tx"/>
                    </a:ext>
                  </a:extLst>
                </a:hlinkClick>
              </a:rPr>
              <a:t>‹  Back to Where to call from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wipe(left)">
                                      <p:cBhvr>
                                        <p:cTn id="7" dur="12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wipe(left)">
                                      <p:cBhvr>
                                        <p:cTn id="12" dur="12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wipe(left)">
                                      <p:cBhvr>
                                        <p:cTn id="17" dur="12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2026-10-02T13:22:50Z</dcterms:created>
  <dcterms:modified xsi:type="dcterms:W3CDTF">2026-10-02T13:22:50Z</dcterms:modified>
</cp:coreProperties>
</file>