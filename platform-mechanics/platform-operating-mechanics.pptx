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C Price vs CP Pay, Vouchers in CRM, Non-Logged-In Visitor Tickets, and Max CP Rate.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Vouchers show up constantly in refund, cancellation and retention tickets. Getting the type wrong leads to real mistakes, like invalidating a voucher that should have been refundable, or telling a customer their gift card triggers a membership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type and point to how it looks in the CRM. DHJ (Deals at Homejoy): the customer buys the voucher; the FC membership is only triggered once the voucher is used. Free DHJ (new membership model, all new customers from August 3, 2026): instead of buying a voucher, the customer signs up for a membership and is charged a $19 discounted first MF upfront; the system issues a free 3-hour DHJ voucher (or a discount on a longer first cleaning). Free DHJs have no price indicator in the CRM ($0.00 in the new CRM, no price on the legacy tag). DHJ Gift: shown as dhj_gift on the guest's account; single use, only the first guest can redeem it; triggers FC once used; expires in 90 days. Third-party merchant (Groupon, Living Social, Gilt City): no membership; expires 90 days after redemption; can't be split across appointments, and no admin courtesy voucher is issued for unused hours; converts to credits on expiry.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Offer: cleaners may offer up to 30 minutes off a cleaning to a customer they previously worked with; the customer must claim it within 2 days and use it within 30 days. It shows in the CRM as an admin courtesy voucher. Admin Courtesy: issued manually by CS or automatically by the system for refund requests, unworked hours, reviews or retention; expires in 60 days. The legacy example shows it applied to a job (green tag). Homeaglow Gift Card (launched December 2025): a one-time cleaning bought as a gift; does not trigger FC and isn't tied to the buyer's account; valid for 2 years. Second brand voucher (homeaglow_second_voucher): offered to customers who bought a third-party voucher, at the same cost as the third-party merchant; non-membership.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submits a ticket, usually via a public contact form or the Help Center, using an email address that already belongs to a registered customer. They haven't logged in, and may not actually be that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customers, or a customer and someone impersonating them, could share visibility into the same account if you respond to the wrong party as if they were the account owner. Treat verifying identity as the first step, not an afterthought.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It's a pricing lever with real trade-offs: a lower cap protects the customer's wallet, but shrinks the pool of cleaners who can claim their jobs, possibly including their current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via the Update Max Rate action in the legacy CRM (C CRM &gt; Do). It caps what CPs can claim the customer's jobs at, going forward; CPs above that rate simply can't claim. Steps on the slide: 1) open the customer's legacy C CRM and click Do (next to View); 2) in the Do menu, find the Max Rate row, which shows the current cap, and click Update Max Rate; 3) enter the maximum hourly rate and click Update Max Rate (the form notes it caps current and future jobs).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2.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1.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2.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2.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2.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2.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jobs, callbacks, pricing, vouchers, unverified tickets and rate caps work behind the scenes.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Determine the CP pay in this scenario.</a:t>
            </a:r>
            <a:endParaRPr lang="en-US" sz="1200" dirty="0"/>
          </a:p>
        </p:txBody>
      </p:sp>
      <p:sp>
        <p:nvSpPr>
          <p:cNvPr id="6" name="Shape 3"/>
          <p:cNvSpPr/>
          <p:nvPr/>
        </p:nvSpPr>
        <p:spPr>
          <a:xfrm>
            <a:off x="411480" y="1234440"/>
            <a:ext cx="402336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66928" y="13533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5932" y="1432316"/>
            <a:ext cx="171176" cy="171176"/>
          </a:xfrm>
          <a:prstGeom prst="rect">
            <a:avLst/>
          </a:prstGeom>
        </p:spPr>
      </p:pic>
      <p:sp>
        <p:nvSpPr>
          <p:cNvPr id="9" name="Text 5"/>
          <p:cNvSpPr txBox="1"/>
          <p:nvPr/>
        </p:nvSpPr>
        <p:spPr>
          <a:xfrm>
            <a:off x="987552" y="1353312"/>
            <a:ext cx="2743200" cy="329184"/>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The job</a:t>
            </a:r>
            <a:endParaRPr lang="en-US" sz="1250" dirty="0"/>
          </a:p>
        </p:txBody>
      </p:sp>
      <p:sp>
        <p:nvSpPr>
          <p:cNvPr id="10" name="Text 6"/>
          <p:cNvSpPr txBox="1"/>
          <p:nvPr/>
        </p:nvSpPr>
        <p:spPr>
          <a:xfrm>
            <a:off x="566928"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Client  </a:t>
            </a:r>
            <a:pPr indent="0" marL="0">
              <a:buNone/>
            </a:pPr>
            <a:r>
              <a:rPr lang="en-US" sz="1100" b="1" dirty="0">
                <a:solidFill>
                  <a:srgbClr val="1D1D1F"/>
                </a:solidFill>
                <a:latin typeface="SF Pro Display" pitchFamily="34" charset="0"/>
                <a:ea typeface="SF Pro Display" pitchFamily="34" charset="-122"/>
                <a:cs typeface="SF Pro Display" pitchFamily="34" charset="-120"/>
              </a:rPr>
              <a:t>Repeat</a:t>
            </a:r>
            <a:endParaRPr lang="en-US" sz="900" dirty="0"/>
          </a:p>
        </p:txBody>
      </p:sp>
      <p:sp>
        <p:nvSpPr>
          <p:cNvPr id="11" name="Text 7"/>
          <p:cNvSpPr txBox="1"/>
          <p:nvPr/>
        </p:nvSpPr>
        <p:spPr>
          <a:xfrm>
            <a:off x="1828800"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Booked  </a:t>
            </a:r>
            <a:pPr indent="0" marL="0">
              <a:buNone/>
            </a:pPr>
            <a:r>
              <a:rPr lang="en-US" sz="1100" b="1" dirty="0">
                <a:solidFill>
                  <a:srgbClr val="1D1D1F"/>
                </a:solidFill>
                <a:latin typeface="SF Pro Display" pitchFamily="34" charset="0"/>
                <a:ea typeface="SF Pro Display" pitchFamily="34" charset="-122"/>
                <a:cs typeface="SF Pro Display" pitchFamily="34" charset="-120"/>
              </a:rPr>
              <a:t>5 hours</a:t>
            </a:r>
            <a:endParaRPr lang="en-US" sz="900" dirty="0"/>
          </a:p>
        </p:txBody>
      </p:sp>
      <p:sp>
        <p:nvSpPr>
          <p:cNvPr id="12" name="Text 8"/>
          <p:cNvSpPr txBox="1"/>
          <p:nvPr/>
        </p:nvSpPr>
        <p:spPr>
          <a:xfrm>
            <a:off x="3090672"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a:t>
            </a:r>
            <a:pPr indent="0" marL="0">
              <a:buNone/>
            </a:pPr>
            <a:r>
              <a:rPr lang="en-US" sz="1100" b="1" dirty="0">
                <a:solidFill>
                  <a:srgbClr val="1D1D1F"/>
                </a:solidFill>
                <a:latin typeface="SF Pro Display" pitchFamily="34" charset="0"/>
                <a:ea typeface="SF Pro Display" pitchFamily="34" charset="-122"/>
                <a:cs typeface="SF Pro Display" pitchFamily="34" charset="-120"/>
              </a:rPr>
              <a:t>3 hours</a:t>
            </a:r>
            <a:endParaRPr lang="en-US" sz="900" dirty="0"/>
          </a:p>
        </p:txBody>
      </p:sp>
      <p:sp>
        <p:nvSpPr>
          <p:cNvPr id="13" name="Text 9"/>
          <p:cNvSpPr txBox="1"/>
          <p:nvPr/>
        </p:nvSpPr>
        <p:spPr>
          <a:xfrm>
            <a:off x="566928"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Surge bonus  </a:t>
            </a:r>
            <a:pPr indent="0" marL="0">
              <a:buNone/>
            </a:pPr>
            <a:r>
              <a:rPr lang="en-US" sz="1100" b="1" dirty="0">
                <a:solidFill>
                  <a:srgbClr val="1D1D1F"/>
                </a:solidFill>
                <a:latin typeface="SF Pro Display" pitchFamily="34" charset="0"/>
                <a:ea typeface="SF Pro Display" pitchFamily="34" charset="-122"/>
                <a:cs typeface="SF Pro Display" pitchFamily="34" charset="-120"/>
              </a:rPr>
              <a:t>$12.50</a:t>
            </a:r>
            <a:endParaRPr lang="en-US" sz="900" dirty="0"/>
          </a:p>
        </p:txBody>
      </p:sp>
      <p:sp>
        <p:nvSpPr>
          <p:cNvPr id="14" name="Text 10"/>
          <p:cNvSpPr txBox="1"/>
          <p:nvPr/>
        </p:nvSpPr>
        <p:spPr>
          <a:xfrm>
            <a:off x="1828800"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Tip  </a:t>
            </a:r>
            <a:pPr indent="0" marL="0">
              <a:buNone/>
            </a:pPr>
            <a:r>
              <a:rPr lang="en-US" sz="1100" b="1" dirty="0">
                <a:solidFill>
                  <a:srgbClr val="1D1D1F"/>
                </a:solidFill>
                <a:latin typeface="SF Pro Display" pitchFamily="34" charset="0"/>
                <a:ea typeface="SF Pro Display" pitchFamily="34" charset="-122"/>
                <a:cs typeface="SF Pro Display" pitchFamily="34" charset="-120"/>
              </a:rPr>
              <a:t>$10.00</a:t>
            </a:r>
            <a:endParaRPr lang="en-US" sz="900" dirty="0"/>
          </a:p>
        </p:txBody>
      </p:sp>
      <p:sp>
        <p:nvSpPr>
          <p:cNvPr id="15" name="Shape 11"/>
          <p:cNvSpPr/>
          <p:nvPr/>
        </p:nvSpPr>
        <p:spPr>
          <a:xfrm>
            <a:off x="411480" y="2788920"/>
            <a:ext cx="19659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548640" y="2907792"/>
            <a:ext cx="411480" cy="411480"/>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647395" y="3006547"/>
            <a:ext cx="213970" cy="213970"/>
          </a:xfrm>
          <a:prstGeom prst="rect">
            <a:avLst/>
          </a:prstGeom>
        </p:spPr>
      </p:pic>
      <p:sp>
        <p:nvSpPr>
          <p:cNvPr id="18" name="Text 13"/>
          <p:cNvSpPr txBox="1"/>
          <p:nvPr/>
        </p:nvSpPr>
        <p:spPr>
          <a:xfrm>
            <a:off x="10515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Sarah</a:t>
            </a:r>
            <a:endParaRPr lang="en-US" sz="1250" dirty="0"/>
          </a:p>
        </p:txBody>
      </p:sp>
      <p:sp>
        <p:nvSpPr>
          <p:cNvPr id="19" name="Text 14"/>
          <p:cNvSpPr txBox="1"/>
          <p:nvPr/>
        </p:nvSpPr>
        <p:spPr>
          <a:xfrm>
            <a:off x="5486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CA/CA-WA Operating Model</a:t>
            </a:r>
            <a:endParaRPr lang="en-US" sz="900" dirty="0"/>
          </a:p>
        </p:txBody>
      </p:sp>
      <p:sp>
        <p:nvSpPr>
          <p:cNvPr id="20" name="Text 15"/>
          <p:cNvSpPr txBox="1"/>
          <p:nvPr/>
        </p:nvSpPr>
        <p:spPr>
          <a:xfrm>
            <a:off x="5486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$30.00/hr  first-time C/CP pair</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$28.00/hr  repeat C/CP pair</a:t>
            </a:r>
            <a:endParaRPr lang="en-US" sz="900" dirty="0"/>
          </a:p>
        </p:txBody>
      </p:sp>
      <p:sp>
        <p:nvSpPr>
          <p:cNvPr id="21" name="Shape 16"/>
          <p:cNvSpPr/>
          <p:nvPr/>
        </p:nvSpPr>
        <p:spPr>
          <a:xfrm>
            <a:off x="2468880" y="2788920"/>
            <a:ext cx="1965960" cy="1920240"/>
          </a:xfrm>
          <a:prstGeom prst="roundRect">
            <a:avLst>
              <a:gd name="adj" fmla="val 3810"/>
            </a:avLst>
          </a:prstGeom>
          <a:solidFill>
            <a:srgbClr val="FFFFFF"/>
          </a:solidFill>
          <a:ln w="9525">
            <a:solidFill>
              <a:srgbClr val="DCE1E7"/>
            </a:solidFill>
            <a:prstDash val="solid"/>
          </a:ln>
        </p:spPr>
      </p:sp>
      <p:sp>
        <p:nvSpPr>
          <p:cNvPr id="22" name="Shape 17"/>
          <p:cNvSpPr/>
          <p:nvPr/>
        </p:nvSpPr>
        <p:spPr>
          <a:xfrm>
            <a:off x="2606040" y="2907792"/>
            <a:ext cx="411480" cy="411480"/>
          </a:xfrm>
          <a:prstGeom prst="ellipse">
            <a:avLst/>
          </a:prstGeom>
          <a:solidFill>
            <a:srgbClr val="E3F4F1"/>
          </a:solidFill>
          <a:ln w="12700">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2704795" y="3006547"/>
            <a:ext cx="213970" cy="213970"/>
          </a:xfrm>
          <a:prstGeom prst="rect">
            <a:avLst/>
          </a:prstGeom>
        </p:spPr>
      </p:pic>
      <p:sp>
        <p:nvSpPr>
          <p:cNvPr id="24" name="Text 18"/>
          <p:cNvSpPr txBox="1"/>
          <p:nvPr/>
        </p:nvSpPr>
        <p:spPr>
          <a:xfrm>
            <a:off x="31089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Gab</a:t>
            </a:r>
            <a:endParaRPr lang="en-US" sz="1250" dirty="0"/>
          </a:p>
        </p:txBody>
      </p:sp>
      <p:sp>
        <p:nvSpPr>
          <p:cNvPr id="25" name="Text 19"/>
          <p:cNvSpPr txBox="1"/>
          <p:nvPr/>
        </p:nvSpPr>
        <p:spPr>
          <a:xfrm>
            <a:off x="26060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General Operating Model</a:t>
            </a:r>
            <a:endParaRPr lang="en-US" sz="900" dirty="0"/>
          </a:p>
        </p:txBody>
      </p:sp>
      <p:sp>
        <p:nvSpPr>
          <p:cNvPr id="26" name="Text 20"/>
          <p:cNvSpPr txBox="1"/>
          <p:nvPr/>
        </p:nvSpPr>
        <p:spPr>
          <a:xfrm>
            <a:off x="26060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$24.00/hr  one rate</a:t>
            </a:r>
            <a:endParaRPr lang="en-US" sz="900" dirty="0"/>
          </a:p>
        </p:txBody>
      </p:sp>
      <p:sp>
        <p:nvSpPr>
          <p:cNvPr id="27" name="Shape 21"/>
          <p:cNvSpPr/>
          <p:nvPr/>
        </p:nvSpPr>
        <p:spPr>
          <a:xfrm>
            <a:off x="4572000" y="1234440"/>
            <a:ext cx="4160520" cy="457200"/>
          </a:xfrm>
          <a:prstGeom prst="roundRect">
            <a:avLst>
              <a:gd name="adj" fmla="val 20000"/>
            </a:avLst>
          </a:prstGeom>
          <a:solidFill>
            <a:srgbClr val="0B7A6F"/>
          </a:solidFill>
          <a:ln w="12700">
            <a:solidFill>
              <a:srgbClr val="0B7A6F"/>
            </a:solidFill>
            <a:prstDash val="solid"/>
          </a:ln>
        </p:spPr>
      </p:sp>
      <p:pic>
        <p:nvPicPr>
          <p:cNvPr id="28" name="Image 3" descr="preencoded.png">    </p:cNvPr>
          <p:cNvPicPr>
            <a:picLocks noChangeAspect="1"/>
          </p:cNvPicPr>
          <p:nvPr/>
        </p:nvPicPr>
        <p:blipFill>
          <a:blip r:embed="rId4"/>
          <a:stretch>
            <a:fillRect/>
          </a:stretch>
        </p:blipFill>
        <p:spPr>
          <a:xfrm>
            <a:off x="4754880" y="1353312"/>
            <a:ext cx="219456" cy="219456"/>
          </a:xfrm>
          <a:prstGeom prst="rect">
            <a:avLst/>
          </a:prstGeom>
        </p:spPr>
      </p:pic>
      <p:sp>
        <p:nvSpPr>
          <p:cNvPr id="29" name="Text 22"/>
          <p:cNvSpPr txBox="1"/>
          <p:nvPr/>
        </p:nvSpPr>
        <p:spPr>
          <a:xfrm>
            <a:off x="5074920" y="1234440"/>
            <a:ext cx="347472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30" name="Shape 23"/>
          <p:cNvSpPr/>
          <p:nvPr/>
        </p:nvSpPr>
        <p:spPr>
          <a:xfrm>
            <a:off x="4572000" y="1783080"/>
            <a:ext cx="4160520" cy="2926080"/>
          </a:xfrm>
          <a:prstGeom prst="roundRect">
            <a:avLst>
              <a:gd name="adj" fmla="val 2500"/>
            </a:avLst>
          </a:prstGeom>
          <a:solidFill>
            <a:srgbClr val="E3F4F1"/>
          </a:solidFill>
          <a:ln w="9525">
            <a:solidFill>
              <a:srgbClr val="E3F4F1"/>
            </a:solidFill>
            <a:prstDash val="solid"/>
          </a:ln>
        </p:spPr>
      </p:sp>
      <p:sp>
        <p:nvSpPr>
          <p:cNvPr id="31" name="revealCpPay"/>
          <p:cNvSpPr txBox="1"/>
          <p:nvPr/>
        </p:nvSpPr>
        <p:spPr>
          <a:xfrm>
            <a:off x="4754880" y="1920240"/>
            <a:ext cx="3794760" cy="2697480"/>
          </a:xfrm>
          <a:prstGeom prst="rect">
            <a:avLst/>
          </a:prstGeom>
          <a:noFill/>
          <a:ln/>
        </p:spPr>
        <p:txBody>
          <a:bodyPr wrap="square" lIns="0" tIns="0" rIns="0" bIns="0" rtlCol="0" anchor="t"/>
          <a:lstStyle/>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Sarah:  $162.50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$28/hr repeat rate × 5 hrs + $12.50 surge bonus + $10.00 tip</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Gab:  $142.50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$24/hr × 5 hrs + $12.50 surge bonus + $10.00 tip (repeat client, so no $5 match fee)</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Key point</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The 3-hour voucher only lowers what the customer pays. The cleaner is still paid for all 5 hours.</a:t>
            </a:r>
            <a:endParaRPr lang="en-US" sz="12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animEffect transition="in" filter="fade">
                                      <p:cBhvr>
                                        <p:cTn id="7" dur="600"/>
                                        <p:tgtEl>
                                          <p:spTgt spid="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xEl>
                                              <p:pRg st="1" end="1"/>
                                            </p:txEl>
                                          </p:spTgt>
                                        </p:tgtEl>
                                        <p:attrNameLst>
                                          <p:attrName>style.visibility</p:attrName>
                                        </p:attrNameLst>
                                      </p:cBhvr>
                                      <p:to>
                                        <p:strVal val="visible"/>
                                      </p:to>
                                    </p:set>
                                    <p:animEffect transition="in" filter="fade">
                                      <p:cBhvr>
                                        <p:cTn id="12" dur="600"/>
                                        <p:tgtEl>
                                          <p:spTgt spid="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xEl>
                                              <p:pRg st="2" end="2"/>
                                            </p:txEl>
                                          </p:spTgt>
                                        </p:tgtEl>
                                        <p:attrNameLst>
                                          <p:attrName>style.visibility</p:attrName>
                                        </p:attrNameLst>
                                      </p:cBhvr>
                                      <p:to>
                                        <p:strVal val="visible"/>
                                      </p:to>
                                    </p:set>
                                    <p:animEffect transition="in" filter="fade">
                                      <p:cBhvr>
                                        <p:cTn id="17" dur="600"/>
                                        <p:tgtEl>
                                          <p:spTgt spid="3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Vouchers in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voucher is, how to read it in the CRM, and how each type behaves.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voucher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vouchers work</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Reading a voucher in the CRM</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Voucher types at a glance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voucher?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discount on a customer's cleaning, redeemed with a code and tied to their account.</a:t>
            </a:r>
            <a:endParaRPr lang="en-US" sz="1200" dirty="0"/>
          </a:p>
        </p:txBody>
      </p:sp>
      <p:sp>
        <p:nvSpPr>
          <p:cNvPr id="6" name="Shape 3"/>
          <p:cNvSpPr/>
          <p:nvPr/>
        </p:nvSpPr>
        <p:spPr>
          <a:xfrm>
            <a:off x="411480" y="1325880"/>
            <a:ext cx="197739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Bought it</a:t>
            </a:r>
            <a:endParaRPr lang="en-US" sz="1200" dirty="0"/>
          </a:p>
        </p:txBody>
      </p:sp>
      <p:sp>
        <p:nvSpPr>
          <p:cNvPr id="10" name="Text 6"/>
          <p:cNvSpPr txBox="1"/>
          <p:nvPr/>
        </p:nvSpPr>
        <p:spPr>
          <a:xfrm>
            <a:off x="5760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the customer paid for the voucher.</a:t>
            </a:r>
            <a:endParaRPr lang="en-US" sz="950" dirty="0"/>
          </a:p>
        </p:txBody>
      </p:sp>
      <p:sp>
        <p:nvSpPr>
          <p:cNvPr id="11" name="Shape 7"/>
          <p:cNvSpPr/>
          <p:nvPr/>
        </p:nvSpPr>
        <p:spPr>
          <a:xfrm>
            <a:off x="2526030" y="1325880"/>
            <a:ext cx="197739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269062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69476"/>
            <a:ext cx="171176" cy="171176"/>
          </a:xfrm>
          <a:prstGeom prst="rect">
            <a:avLst/>
          </a:prstGeom>
        </p:spPr>
      </p:pic>
      <p:sp>
        <p:nvSpPr>
          <p:cNvPr id="14" name="Text 9"/>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With membership</a:t>
            </a:r>
            <a:endParaRPr lang="en-US" sz="1200" dirty="0"/>
          </a:p>
        </p:txBody>
      </p:sp>
      <p:sp>
        <p:nvSpPr>
          <p:cNvPr id="15" name="Text 10"/>
          <p:cNvSpPr txBox="1"/>
          <p:nvPr/>
        </p:nvSpPr>
        <p:spPr>
          <a:xfrm>
            <a:off x="26906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FCF: issued free when they signed up.</a:t>
            </a:r>
            <a:endParaRPr lang="en-US" sz="950" dirty="0"/>
          </a:p>
        </p:txBody>
      </p:sp>
      <p:sp>
        <p:nvSpPr>
          <p:cNvPr id="16" name="Shape 11"/>
          <p:cNvSpPr/>
          <p:nvPr/>
        </p:nvSpPr>
        <p:spPr>
          <a:xfrm>
            <a:off x="4640580" y="1325880"/>
            <a:ext cx="1977390" cy="1463040"/>
          </a:xfrm>
          <a:prstGeom prst="roundRect">
            <a:avLst>
              <a:gd name="adj" fmla="val 5000"/>
            </a:avLst>
          </a:prstGeom>
          <a:solidFill>
            <a:srgbClr val="FFFFFF"/>
          </a:solidFill>
          <a:ln w="9525">
            <a:solidFill>
              <a:srgbClr val="DCE1E7"/>
            </a:solidFill>
            <a:prstDash val="solid"/>
          </a:ln>
        </p:spPr>
      </p:sp>
      <p:sp>
        <p:nvSpPr>
          <p:cNvPr id="17" name="Shape 12"/>
          <p:cNvSpPr/>
          <p:nvPr/>
        </p:nvSpPr>
        <p:spPr>
          <a:xfrm>
            <a:off x="48051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69476"/>
            <a:ext cx="171176" cy="171176"/>
          </a:xfrm>
          <a:prstGeom prst="rect">
            <a:avLst/>
          </a:prstGeom>
        </p:spPr>
      </p:pic>
      <p:sp>
        <p:nvSpPr>
          <p:cNvPr id="19" name="Text 13"/>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Gift or referral</a:t>
            </a:r>
            <a:endParaRPr lang="en-US" sz="1200" dirty="0"/>
          </a:p>
        </p:txBody>
      </p:sp>
      <p:sp>
        <p:nvSpPr>
          <p:cNvPr id="20" name="Text 14"/>
          <p:cNvSpPr txBox="1"/>
          <p:nvPr/>
        </p:nvSpPr>
        <p:spPr>
          <a:xfrm>
            <a:off x="48051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Sent by a friend, or bought as a gift card.</a:t>
            </a:r>
            <a:endParaRPr lang="en-US" sz="950" dirty="0"/>
          </a:p>
        </p:txBody>
      </p:sp>
      <p:sp>
        <p:nvSpPr>
          <p:cNvPr id="21" name="Shape 15"/>
          <p:cNvSpPr/>
          <p:nvPr/>
        </p:nvSpPr>
        <p:spPr>
          <a:xfrm>
            <a:off x="6755130" y="1325880"/>
            <a:ext cx="1977390" cy="1463040"/>
          </a:xfrm>
          <a:prstGeom prst="roundRect">
            <a:avLst>
              <a:gd name="adj" fmla="val 5000"/>
            </a:avLst>
          </a:prstGeom>
          <a:solidFill>
            <a:srgbClr val="FFFFFF"/>
          </a:solidFill>
          <a:ln w="9525">
            <a:solidFill>
              <a:srgbClr val="DCE1E7"/>
            </a:solidFill>
            <a:prstDash val="solid"/>
          </a:ln>
        </p:spPr>
      </p:sp>
      <p:sp>
        <p:nvSpPr>
          <p:cNvPr id="22" name="Shape 16"/>
          <p:cNvSpPr/>
          <p:nvPr/>
        </p:nvSpPr>
        <p:spPr>
          <a:xfrm>
            <a:off x="6919722" y="149047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69476"/>
            <a:ext cx="171176" cy="171176"/>
          </a:xfrm>
          <a:prstGeom prst="rect">
            <a:avLst/>
          </a:prstGeom>
        </p:spPr>
      </p:pic>
      <p:sp>
        <p:nvSpPr>
          <p:cNvPr id="24" name="Text 17"/>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From Care</a:t>
            </a:r>
            <a:endParaRPr lang="en-US" sz="1200" dirty="0"/>
          </a:p>
        </p:txBody>
      </p:sp>
      <p:sp>
        <p:nvSpPr>
          <p:cNvPr id="25" name="Text 18"/>
          <p:cNvSpPr txBox="1"/>
          <p:nvPr/>
        </p:nvSpPr>
        <p:spPr>
          <a:xfrm>
            <a:off x="69197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admin courtesy voucher issued by us.</a:t>
            </a:r>
            <a:endParaRPr lang="en-US" sz="950" dirty="0"/>
          </a:p>
        </p:txBody>
      </p:sp>
      <p:sp>
        <p:nvSpPr>
          <p:cNvPr id="26" name="Shape 19"/>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27248"/>
            <a:ext cx="164592" cy="164592"/>
          </a:xfrm>
          <a:prstGeom prst="rect">
            <a:avLst/>
          </a:prstGeom>
        </p:spPr>
      </p:pic>
      <p:sp>
        <p:nvSpPr>
          <p:cNvPr id="28" name="Text 20"/>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Watch your words:  </a:t>
            </a:r>
            <a:pPr indent="0" marL="0">
              <a:buNone/>
            </a:pPr>
            <a:r>
              <a:rPr lang="en-US" sz="1000" dirty="0">
                <a:solidFill>
                  <a:srgbClr val="1D1D1F"/>
                </a:solidFill>
                <a:latin typeface="SF Pro Text" pitchFamily="34" charset="0"/>
                <a:ea typeface="SF Pro Text" pitchFamily="34" charset="-122"/>
                <a:cs typeface="SF Pro Text" pitchFamily="34" charset="-120"/>
              </a:rPr>
              <a:t>an FCF customer who says "I never bought a voucher" is right. Don't contradict them.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vouchers work</a:t>
            </a:r>
            <a:endParaRPr lang="en-US" sz="2400" dirty="0"/>
          </a:p>
        </p:txBody>
      </p:sp>
      <p:sp>
        <p:nvSpPr>
          <p:cNvPr id="5" name="Shape 2"/>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Hours, not dollars</a:t>
            </a:r>
            <a:endParaRPr lang="en-US" sz="1200" dirty="0"/>
          </a:p>
        </p:txBody>
      </p:sp>
      <p:sp>
        <p:nvSpPr>
          <p:cNvPr id="9" name="Text 5"/>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whatever the cleaner's rate.</a:t>
            </a:r>
            <a:endParaRPr lang="en-US" sz="950" dirty="0"/>
          </a:p>
        </p:txBody>
      </p:sp>
      <p:sp>
        <p:nvSpPr>
          <p:cNvPr id="10" name="Shape 6"/>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Longer job?</a:t>
            </a:r>
            <a:endParaRPr lang="en-US" sz="1200" dirty="0"/>
          </a:p>
        </p:txBody>
      </p:sp>
      <p:sp>
        <p:nvSpPr>
          <p:cNvPr id="14" name="Text 9"/>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Extra hours are charged at Homeaglow's standard rate.</a:t>
            </a:r>
            <a:endParaRPr lang="en-US" sz="950" dirty="0"/>
          </a:p>
        </p:txBody>
      </p:sp>
      <p:sp>
        <p:nvSpPr>
          <p:cNvPr id="15" name="Shape 10"/>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Redeem online</a:t>
            </a:r>
            <a:endParaRPr lang="en-US" sz="1200" dirty="0"/>
          </a:p>
        </p:txBody>
      </p:sp>
      <p:sp>
        <p:nvSpPr>
          <p:cNvPr id="19" name="Text 13"/>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brand.com/redeem with zip code, email and voucher code.</a:t>
            </a:r>
            <a:endParaRPr lang="en-US" sz="950" dirty="0"/>
          </a:p>
        </p:txBody>
      </p:sp>
      <p:sp>
        <p:nvSpPr>
          <p:cNvPr id="20" name="Shape 14"/>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One per household</a:t>
            </a:r>
            <a:endParaRPr lang="en-US" sz="1200" dirty="0"/>
          </a:p>
        </p:txBody>
      </p:sp>
      <p:sp>
        <p:nvSpPr>
          <p:cNvPr id="24" name="Text 17"/>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one paid voucher per address.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a voucher in the new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redeemed, the voucher shows on the customer's account.</a:t>
            </a:r>
            <a:endParaRPr lang="en-US" sz="1200" dirty="0"/>
          </a:p>
        </p:txBody>
      </p:sp>
      <p:sp>
        <p:nvSpPr>
          <p:cNvPr id="6" name="Shape 3"/>
          <p:cNvSpPr/>
          <p:nvPr/>
        </p:nvSpPr>
        <p:spPr>
          <a:xfrm>
            <a:off x="411480" y="1325880"/>
            <a:ext cx="8321040" cy="1965960"/>
          </a:xfrm>
          <a:prstGeom prst="roundRect">
            <a:avLst>
              <a:gd name="adj" fmla="val 3721"/>
            </a:avLst>
          </a:prstGeom>
          <a:solidFill>
            <a:srgbClr val="FFFFFF"/>
          </a:solidFill>
          <a:ln w="9525">
            <a:solidFill>
              <a:srgbClr val="DCE1E7"/>
            </a:solidFill>
            <a:prstDash val="solid"/>
          </a:ln>
        </p:spPr>
      </p:sp>
      <p:pic>
        <p:nvPicPr>
          <p:cNvPr id="7" name="Image 0" descr="/tmp/claude-0/-workspace-training/3ce5cff6-cccf-5f33-b0ee-0b147a55120e/scratchpad/img3/vouchers_newcrm.png">    </p:cNvPr>
          <p:cNvPicPr>
            <a:picLocks noChangeAspect="1"/>
          </p:cNvPicPr>
          <p:nvPr/>
        </p:nvPicPr>
        <p:blipFill>
          <a:blip r:embed="rId1"/>
          <a:stretch>
            <a:fillRect/>
          </a:stretch>
        </p:blipFill>
        <p:spPr>
          <a:xfrm>
            <a:off x="484632" y="1404334"/>
            <a:ext cx="8174736" cy="1809051"/>
          </a:xfrm>
          <a:prstGeom prst="rect">
            <a:avLst/>
          </a:prstGeom>
        </p:spPr>
      </p:pic>
      <p:sp>
        <p:nvSpPr>
          <p:cNvPr id="8" name="Shape 4"/>
          <p:cNvSpPr/>
          <p:nvPr/>
        </p:nvSpPr>
        <p:spPr>
          <a:xfrm>
            <a:off x="634253" y="1921206"/>
            <a:ext cx="2026682" cy="652891"/>
          </a:xfrm>
          <a:prstGeom prst="roundRect">
            <a:avLst>
              <a:gd name="adj" fmla="val 4202"/>
            </a:avLst>
          </a:prstGeom>
          <a:ln w="25400">
            <a:solidFill>
              <a:srgbClr val="0B7A6F"/>
            </a:solidFill>
            <a:prstDash val="solid"/>
          </a:ln>
        </p:spPr>
      </p:sp>
      <p:sp>
        <p:nvSpPr>
          <p:cNvPr id="9" name="Shape 5"/>
          <p:cNvSpPr/>
          <p:nvPr/>
        </p:nvSpPr>
        <p:spPr>
          <a:xfrm>
            <a:off x="533669" y="1820622"/>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3669"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2660934" y="1921206"/>
            <a:ext cx="979336" cy="652891"/>
          </a:xfrm>
          <a:prstGeom prst="roundRect">
            <a:avLst>
              <a:gd name="adj" fmla="val 4202"/>
            </a:avLst>
          </a:prstGeom>
          <a:ln w="25400">
            <a:solidFill>
              <a:srgbClr val="0B7A6F"/>
            </a:solidFill>
            <a:prstDash val="solid"/>
          </a:ln>
        </p:spPr>
      </p:sp>
      <p:sp>
        <p:nvSpPr>
          <p:cNvPr id="12" name="Shape 8"/>
          <p:cNvSpPr/>
          <p:nvPr/>
        </p:nvSpPr>
        <p:spPr>
          <a:xfrm>
            <a:off x="2560350" y="1820622"/>
            <a:ext cx="201168" cy="201168"/>
          </a:xfrm>
          <a:prstGeom prst="ellipse">
            <a:avLst/>
          </a:prstGeom>
          <a:solidFill>
            <a:srgbClr val="0B7A6F"/>
          </a:solidFill>
          <a:ln w="12700">
            <a:solidFill>
              <a:srgbClr val="FFFFFF"/>
            </a:solidFill>
            <a:prstDash val="solid"/>
          </a:ln>
        </p:spPr>
      </p:sp>
      <p:sp>
        <p:nvSpPr>
          <p:cNvPr id="13" name="Text 9"/>
          <p:cNvSpPr txBox="1"/>
          <p:nvPr/>
        </p:nvSpPr>
        <p:spPr>
          <a:xfrm>
            <a:off x="2560350"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640271" y="1921206"/>
            <a:ext cx="1441800" cy="652891"/>
          </a:xfrm>
          <a:prstGeom prst="roundRect">
            <a:avLst>
              <a:gd name="adj" fmla="val 4202"/>
            </a:avLst>
          </a:prstGeom>
          <a:ln w="25400">
            <a:solidFill>
              <a:srgbClr val="0B7A6F"/>
            </a:solidFill>
            <a:prstDash val="solid"/>
          </a:ln>
        </p:spPr>
      </p:sp>
      <p:sp>
        <p:nvSpPr>
          <p:cNvPr id="15" name="Shape 11"/>
          <p:cNvSpPr/>
          <p:nvPr/>
        </p:nvSpPr>
        <p:spPr>
          <a:xfrm>
            <a:off x="3539687" y="1820622"/>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5396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082071" y="1921206"/>
            <a:ext cx="2067487" cy="748104"/>
          </a:xfrm>
          <a:prstGeom prst="roundRect">
            <a:avLst>
              <a:gd name="adj" fmla="val 3667"/>
            </a:avLst>
          </a:prstGeom>
          <a:ln w="25400">
            <a:solidFill>
              <a:srgbClr val="0B7A6F"/>
            </a:solidFill>
            <a:prstDash val="solid"/>
          </a:ln>
        </p:spPr>
      </p:sp>
      <p:sp>
        <p:nvSpPr>
          <p:cNvPr id="18" name="Shape 14"/>
          <p:cNvSpPr/>
          <p:nvPr/>
        </p:nvSpPr>
        <p:spPr>
          <a:xfrm>
            <a:off x="4981487" y="1820622"/>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9814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7149558" y="1921206"/>
            <a:ext cx="1428198" cy="652891"/>
          </a:xfrm>
          <a:prstGeom prst="roundRect">
            <a:avLst>
              <a:gd name="adj" fmla="val 4202"/>
            </a:avLst>
          </a:prstGeom>
          <a:ln w="25400">
            <a:solidFill>
              <a:srgbClr val="0B7A6F"/>
            </a:solidFill>
            <a:prstDash val="solid"/>
          </a:ln>
        </p:spPr>
      </p:sp>
      <p:sp>
        <p:nvSpPr>
          <p:cNvPr id="21" name="Shape 17"/>
          <p:cNvSpPr/>
          <p:nvPr/>
        </p:nvSpPr>
        <p:spPr>
          <a:xfrm>
            <a:off x="7048974" y="1820622"/>
            <a:ext cx="201168" cy="201168"/>
          </a:xfrm>
          <a:prstGeom prst="ellipse">
            <a:avLst/>
          </a:prstGeom>
          <a:solidFill>
            <a:srgbClr val="0B7A6F"/>
          </a:solidFill>
          <a:ln w="12700">
            <a:solidFill>
              <a:srgbClr val="FFFFFF"/>
            </a:solidFill>
            <a:prstDash val="solid"/>
          </a:ln>
        </p:spPr>
      </p:sp>
      <p:sp>
        <p:nvSpPr>
          <p:cNvPr id="22" name="Text 18"/>
          <p:cNvSpPr txBox="1"/>
          <p:nvPr/>
        </p:nvSpPr>
        <p:spPr>
          <a:xfrm>
            <a:off x="7048974"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607049" y="2642106"/>
            <a:ext cx="2597961" cy="258436"/>
          </a:xfrm>
          <a:prstGeom prst="roundRect">
            <a:avLst>
              <a:gd name="adj" fmla="val 10615"/>
            </a:avLst>
          </a:prstGeom>
          <a:ln w="25400">
            <a:solidFill>
              <a:srgbClr val="0B7A6F"/>
            </a:solidFill>
            <a:prstDash val="solid"/>
          </a:ln>
        </p:spPr>
      </p:sp>
      <p:sp>
        <p:nvSpPr>
          <p:cNvPr id="24" name="Shape 20"/>
          <p:cNvSpPr/>
          <p:nvPr/>
        </p:nvSpPr>
        <p:spPr>
          <a:xfrm>
            <a:off x="506465" y="2541522"/>
            <a:ext cx="201168" cy="201168"/>
          </a:xfrm>
          <a:prstGeom prst="ellipse">
            <a:avLst/>
          </a:prstGeom>
          <a:solidFill>
            <a:srgbClr val="0B7A6F"/>
          </a:solidFill>
          <a:ln w="12700">
            <a:solidFill>
              <a:srgbClr val="FFFFFF"/>
            </a:solidFill>
            <a:prstDash val="solid"/>
          </a:ln>
        </p:spPr>
      </p:sp>
      <p:sp>
        <p:nvSpPr>
          <p:cNvPr id="25" name="Text 21"/>
          <p:cNvSpPr txBox="1"/>
          <p:nvPr/>
        </p:nvSpPr>
        <p:spPr>
          <a:xfrm>
            <a:off x="506465" y="25415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411480" y="3429000"/>
            <a:ext cx="2697480" cy="457200"/>
          </a:xfrm>
          <a:prstGeom prst="roundRect">
            <a:avLst>
              <a:gd name="adj" fmla="val 16000"/>
            </a:avLst>
          </a:prstGeom>
          <a:solidFill>
            <a:srgbClr val="FFFFFF"/>
          </a:solidFill>
          <a:ln w="9525">
            <a:solidFill>
              <a:srgbClr val="DCE1E7"/>
            </a:solidFill>
            <a:prstDash val="solid"/>
          </a:ln>
        </p:spPr>
      </p:sp>
      <p:sp>
        <p:nvSpPr>
          <p:cNvPr id="27" name="Shape 23"/>
          <p:cNvSpPr/>
          <p:nvPr/>
        </p:nvSpPr>
        <p:spPr>
          <a:xfrm>
            <a:off x="539496" y="3529584"/>
            <a:ext cx="256032" cy="256032"/>
          </a:xfrm>
          <a:prstGeom prst="ellipse">
            <a:avLst/>
          </a:prstGeom>
          <a:solidFill>
            <a:srgbClr val="0B7A6F"/>
          </a:solidFill>
          <a:ln w="12700">
            <a:solidFill>
              <a:srgbClr val="0B7A6F"/>
            </a:solidFill>
            <a:prstDash val="solid"/>
          </a:ln>
        </p:spPr>
      </p:sp>
      <p:sp>
        <p:nvSpPr>
          <p:cNvPr id="28" name="Text 24"/>
          <p:cNvSpPr txBox="1"/>
          <p:nvPr/>
        </p:nvSpPr>
        <p:spPr>
          <a:xfrm>
            <a:off x="53949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9" name="Text 25"/>
          <p:cNvSpPr txBox="1"/>
          <p:nvPr/>
        </p:nvSpPr>
        <p:spPr>
          <a:xfrm>
            <a:off x="91440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Code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16-letter redemption code</a:t>
            </a:r>
            <a:endParaRPr lang="en-US" sz="1050" dirty="0"/>
          </a:p>
        </p:txBody>
      </p:sp>
      <p:sp>
        <p:nvSpPr>
          <p:cNvPr id="30" name="Shape 26"/>
          <p:cNvSpPr/>
          <p:nvPr/>
        </p:nvSpPr>
        <p:spPr>
          <a:xfrm>
            <a:off x="411480" y="3977640"/>
            <a:ext cx="2697480" cy="457200"/>
          </a:xfrm>
          <a:prstGeom prst="roundRect">
            <a:avLst>
              <a:gd name="adj" fmla="val 16000"/>
            </a:avLst>
          </a:prstGeom>
          <a:solidFill>
            <a:srgbClr val="FFFFFF"/>
          </a:solidFill>
          <a:ln w="9525">
            <a:solidFill>
              <a:srgbClr val="DCE1E7"/>
            </a:solidFill>
            <a:prstDash val="solid"/>
          </a:ln>
        </p:spPr>
      </p:sp>
      <p:sp>
        <p:nvSpPr>
          <p:cNvPr id="31" name="Shape 27"/>
          <p:cNvSpPr/>
          <p:nvPr/>
        </p:nvSpPr>
        <p:spPr>
          <a:xfrm>
            <a:off x="539496" y="4078224"/>
            <a:ext cx="256032" cy="256032"/>
          </a:xfrm>
          <a:prstGeom prst="ellipse">
            <a:avLst/>
          </a:prstGeom>
          <a:solidFill>
            <a:srgbClr val="0B7A6F"/>
          </a:solidFill>
          <a:ln w="12700">
            <a:solidFill>
              <a:srgbClr val="0B7A6F"/>
            </a:solidFill>
            <a:prstDash val="solid"/>
          </a:ln>
        </p:spPr>
      </p:sp>
      <p:sp>
        <p:nvSpPr>
          <p:cNvPr id="32" name="Text 28"/>
          <p:cNvSpPr txBox="1"/>
          <p:nvPr/>
        </p:nvSpPr>
        <p:spPr>
          <a:xfrm>
            <a:off x="53949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33" name="Text 29"/>
          <p:cNvSpPr txBox="1"/>
          <p:nvPr/>
        </p:nvSpPr>
        <p:spPr>
          <a:xfrm>
            <a:off x="91440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Merchant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voucher type (dhj, groupon…)</a:t>
            </a:r>
            <a:endParaRPr lang="en-US" sz="1050" dirty="0"/>
          </a:p>
        </p:txBody>
      </p:sp>
      <p:sp>
        <p:nvSpPr>
          <p:cNvPr id="34" name="Shape 30"/>
          <p:cNvSpPr/>
          <p:nvPr/>
        </p:nvSpPr>
        <p:spPr>
          <a:xfrm>
            <a:off x="3227832" y="3429000"/>
            <a:ext cx="2697480" cy="457200"/>
          </a:xfrm>
          <a:prstGeom prst="roundRect">
            <a:avLst>
              <a:gd name="adj" fmla="val 16000"/>
            </a:avLst>
          </a:prstGeom>
          <a:solidFill>
            <a:srgbClr val="FFFFFF"/>
          </a:solidFill>
          <a:ln w="9525">
            <a:solidFill>
              <a:srgbClr val="DCE1E7"/>
            </a:solidFill>
            <a:prstDash val="solid"/>
          </a:ln>
        </p:spPr>
      </p:sp>
      <p:sp>
        <p:nvSpPr>
          <p:cNvPr id="35" name="Shape 31"/>
          <p:cNvSpPr/>
          <p:nvPr/>
        </p:nvSpPr>
        <p:spPr>
          <a:xfrm>
            <a:off x="3355848" y="3529584"/>
            <a:ext cx="256032" cy="256032"/>
          </a:xfrm>
          <a:prstGeom prst="ellipse">
            <a:avLst/>
          </a:prstGeom>
          <a:solidFill>
            <a:srgbClr val="0B7A6F"/>
          </a:solidFill>
          <a:ln w="12700">
            <a:solidFill>
              <a:srgbClr val="0B7A6F"/>
            </a:solidFill>
            <a:prstDash val="solid"/>
          </a:ln>
        </p:spPr>
      </p:sp>
      <p:sp>
        <p:nvSpPr>
          <p:cNvPr id="36" name="Text 32"/>
          <p:cNvSpPr txBox="1"/>
          <p:nvPr/>
        </p:nvSpPr>
        <p:spPr>
          <a:xfrm>
            <a:off x="3355848"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7" name="Text 33"/>
          <p:cNvSpPr txBox="1"/>
          <p:nvPr/>
        </p:nvSpPr>
        <p:spPr>
          <a:xfrm>
            <a:off x="3730752"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Price &amp; hours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Paid amount and duration</a:t>
            </a:r>
            <a:endParaRPr lang="en-US" sz="1050" dirty="0"/>
          </a:p>
        </p:txBody>
      </p:sp>
      <p:sp>
        <p:nvSpPr>
          <p:cNvPr id="38" name="Shape 34"/>
          <p:cNvSpPr/>
          <p:nvPr/>
        </p:nvSpPr>
        <p:spPr>
          <a:xfrm>
            <a:off x="3227832" y="3977640"/>
            <a:ext cx="2697480" cy="457200"/>
          </a:xfrm>
          <a:prstGeom prst="roundRect">
            <a:avLst>
              <a:gd name="adj" fmla="val 16000"/>
            </a:avLst>
          </a:prstGeom>
          <a:solidFill>
            <a:srgbClr val="FFFFFF"/>
          </a:solidFill>
          <a:ln w="9525">
            <a:solidFill>
              <a:srgbClr val="DCE1E7"/>
            </a:solidFill>
            <a:prstDash val="solid"/>
          </a:ln>
        </p:spPr>
      </p:sp>
      <p:sp>
        <p:nvSpPr>
          <p:cNvPr id="39" name="Shape 35"/>
          <p:cNvSpPr/>
          <p:nvPr/>
        </p:nvSpPr>
        <p:spPr>
          <a:xfrm>
            <a:off x="3355848" y="4078224"/>
            <a:ext cx="256032" cy="256032"/>
          </a:xfrm>
          <a:prstGeom prst="ellipse">
            <a:avLst/>
          </a:prstGeom>
          <a:solidFill>
            <a:srgbClr val="0B7A6F"/>
          </a:solidFill>
          <a:ln w="12700">
            <a:solidFill>
              <a:srgbClr val="0B7A6F"/>
            </a:solidFill>
            <a:prstDash val="solid"/>
          </a:ln>
        </p:spPr>
      </p:sp>
      <p:sp>
        <p:nvSpPr>
          <p:cNvPr id="40" name="Text 36"/>
          <p:cNvSpPr txBox="1"/>
          <p:nvPr/>
        </p:nvSpPr>
        <p:spPr>
          <a:xfrm>
            <a:off x="3355848"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41" name="Text 37"/>
          <p:cNvSpPr txBox="1"/>
          <p:nvPr/>
        </p:nvSpPr>
        <p:spPr>
          <a:xfrm>
            <a:off x="3730752"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Purchased &amp; expires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it was bought, when it ends</a:t>
            </a:r>
            <a:endParaRPr lang="en-US" sz="1050" dirty="0"/>
          </a:p>
        </p:txBody>
      </p:sp>
      <p:sp>
        <p:nvSpPr>
          <p:cNvPr id="42" name="Shape 38"/>
          <p:cNvSpPr/>
          <p:nvPr/>
        </p:nvSpPr>
        <p:spPr>
          <a:xfrm>
            <a:off x="6035040" y="3429000"/>
            <a:ext cx="2697480" cy="457200"/>
          </a:xfrm>
          <a:prstGeom prst="roundRect">
            <a:avLst>
              <a:gd name="adj" fmla="val 16000"/>
            </a:avLst>
          </a:prstGeom>
          <a:solidFill>
            <a:srgbClr val="FFFFFF"/>
          </a:solidFill>
          <a:ln w="9525">
            <a:solidFill>
              <a:srgbClr val="DCE1E7"/>
            </a:solidFill>
            <a:prstDash val="solid"/>
          </a:ln>
        </p:spPr>
      </p:sp>
      <p:sp>
        <p:nvSpPr>
          <p:cNvPr id="43" name="Shape 39"/>
          <p:cNvSpPr/>
          <p:nvPr/>
        </p:nvSpPr>
        <p:spPr>
          <a:xfrm>
            <a:off x="6163056" y="3529584"/>
            <a:ext cx="256032" cy="256032"/>
          </a:xfrm>
          <a:prstGeom prst="ellipse">
            <a:avLst/>
          </a:prstGeom>
          <a:solidFill>
            <a:srgbClr val="0B7A6F"/>
          </a:solidFill>
          <a:ln w="12700">
            <a:solidFill>
              <a:srgbClr val="0B7A6F"/>
            </a:solidFill>
            <a:prstDash val="solid"/>
          </a:ln>
        </p:spPr>
      </p:sp>
      <p:sp>
        <p:nvSpPr>
          <p:cNvPr id="44" name="Text 40"/>
          <p:cNvSpPr txBox="1"/>
          <p:nvPr/>
        </p:nvSpPr>
        <p:spPr>
          <a:xfrm>
            <a:off x="616305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5</a:t>
            </a:r>
            <a:endParaRPr lang="en-US" sz="900" dirty="0"/>
          </a:p>
        </p:txBody>
      </p:sp>
      <p:sp>
        <p:nvSpPr>
          <p:cNvPr id="45" name="Text 41"/>
          <p:cNvSpPr txBox="1"/>
          <p:nvPr/>
        </p:nvSpPr>
        <p:spPr>
          <a:xfrm>
            <a:off x="653796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FC &amp; refund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Tied to FC? Refunded?</a:t>
            </a:r>
            <a:endParaRPr lang="en-US" sz="1050" dirty="0"/>
          </a:p>
        </p:txBody>
      </p:sp>
      <p:sp>
        <p:nvSpPr>
          <p:cNvPr id="46" name="Shape 42"/>
          <p:cNvSpPr/>
          <p:nvPr/>
        </p:nvSpPr>
        <p:spPr>
          <a:xfrm>
            <a:off x="6035040" y="3977640"/>
            <a:ext cx="2697480" cy="457200"/>
          </a:xfrm>
          <a:prstGeom prst="roundRect">
            <a:avLst>
              <a:gd name="adj" fmla="val 16000"/>
            </a:avLst>
          </a:prstGeom>
          <a:solidFill>
            <a:srgbClr val="FFFFFF"/>
          </a:solidFill>
          <a:ln w="9525">
            <a:solidFill>
              <a:srgbClr val="DCE1E7"/>
            </a:solidFill>
            <a:prstDash val="solid"/>
          </a:ln>
        </p:spPr>
      </p:sp>
      <p:sp>
        <p:nvSpPr>
          <p:cNvPr id="47" name="Shape 43"/>
          <p:cNvSpPr/>
          <p:nvPr/>
        </p:nvSpPr>
        <p:spPr>
          <a:xfrm>
            <a:off x="6163056" y="4078224"/>
            <a:ext cx="256032" cy="256032"/>
          </a:xfrm>
          <a:prstGeom prst="ellipse">
            <a:avLst/>
          </a:prstGeom>
          <a:solidFill>
            <a:srgbClr val="0B7A6F"/>
          </a:solidFill>
          <a:ln w="12700">
            <a:solidFill>
              <a:srgbClr val="0B7A6F"/>
            </a:solidFill>
            <a:prstDash val="solid"/>
          </a:ln>
        </p:spPr>
      </p:sp>
      <p:sp>
        <p:nvSpPr>
          <p:cNvPr id="48" name="Text 44"/>
          <p:cNvSpPr txBox="1"/>
          <p:nvPr/>
        </p:nvSpPr>
        <p:spPr>
          <a:xfrm>
            <a:off x="616305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6</a:t>
            </a:r>
            <a:endParaRPr lang="en-US" sz="900" dirty="0"/>
          </a:p>
        </p:txBody>
      </p:sp>
      <p:sp>
        <p:nvSpPr>
          <p:cNvPr id="49" name="Text 45"/>
          <p:cNvSpPr txBox="1"/>
          <p:nvPr/>
        </p:nvSpPr>
        <p:spPr>
          <a:xfrm>
            <a:off x="653796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Actions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Issue a voucher, or open legacy CRM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CRM, the color tells you where the voucher stands.</a:t>
            </a:r>
            <a:endParaRPr lang="en-US" sz="1200" dirty="0"/>
          </a:p>
        </p:txBody>
      </p:sp>
      <p:sp>
        <p:nvSpPr>
          <p:cNvPr id="6" name="Shape 3"/>
          <p:cNvSpPr/>
          <p:nvPr/>
        </p:nvSpPr>
        <p:spPr>
          <a:xfrm>
            <a:off x="411480" y="1325880"/>
            <a:ext cx="2606040" cy="841248"/>
          </a:xfrm>
          <a:prstGeom prst="roundRect">
            <a:avLst>
              <a:gd name="adj" fmla="val 8696"/>
            </a:avLst>
          </a:prstGeom>
          <a:solidFill>
            <a:srgbClr val="FFFFFF"/>
          </a:solidFill>
          <a:ln w="9525">
            <a:solidFill>
              <a:srgbClr val="DCE1E7"/>
            </a:solidFill>
            <a:prstDash val="solid"/>
          </a:ln>
        </p:spPr>
      </p:sp>
      <p:sp>
        <p:nvSpPr>
          <p:cNvPr id="7" name="Shape 4"/>
          <p:cNvSpPr/>
          <p:nvPr/>
        </p:nvSpPr>
        <p:spPr>
          <a:xfrm>
            <a:off x="54864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0812" y="1646652"/>
            <a:ext cx="199705" cy="199705"/>
          </a:xfrm>
          <a:prstGeom prst="rect">
            <a:avLst/>
          </a:prstGeom>
        </p:spPr>
      </p:pic>
      <p:sp>
        <p:nvSpPr>
          <p:cNvPr id="9" name="Text 5"/>
          <p:cNvSpPr txBox="1"/>
          <p:nvPr/>
        </p:nvSpPr>
        <p:spPr>
          <a:xfrm>
            <a:off x="1024128" y="1380744"/>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Unused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Orange tag. Applies to the next invoiced job.</a:t>
            </a:r>
            <a:endParaRPr lang="en-US" sz="1200" dirty="0"/>
          </a:p>
        </p:txBody>
      </p:sp>
      <p:sp>
        <p:nvSpPr>
          <p:cNvPr id="10" name="Shape 6"/>
          <p:cNvSpPr/>
          <p:nvPr/>
        </p:nvSpPr>
        <p:spPr>
          <a:xfrm>
            <a:off x="3127248" y="1325880"/>
            <a:ext cx="5605272" cy="841248"/>
          </a:xfrm>
          <a:prstGeom prst="roundRect">
            <a:avLst>
              <a:gd name="adj" fmla="val 8696"/>
            </a:avLst>
          </a:prstGeom>
          <a:solidFill>
            <a:srgbClr val="FFFFFF"/>
          </a:solidFill>
          <a:ln w="9525">
            <a:solidFill>
              <a:srgbClr val="DCE1E7"/>
            </a:solidFill>
            <a:prstDash val="solid"/>
          </a:ln>
        </p:spPr>
      </p:sp>
      <p:pic>
        <p:nvPicPr>
          <p:cNvPr id="11" name="Image 1" descr="/tmp/claude-0/-workspace-training/3ce5cff6-cccf-5f33-b0ee-0b147a55120e/scratchpad/img3/v_unused.png">    </p:cNvPr>
          <p:cNvPicPr>
            <a:picLocks noChangeAspect="1"/>
          </p:cNvPicPr>
          <p:nvPr/>
        </p:nvPicPr>
        <p:blipFill>
          <a:blip r:embed="rId2"/>
          <a:stretch>
            <a:fillRect/>
          </a:stretch>
        </p:blipFill>
        <p:spPr>
          <a:xfrm>
            <a:off x="3236976" y="1399032"/>
            <a:ext cx="3722234" cy="694944"/>
          </a:xfrm>
          <a:prstGeom prst="rect">
            <a:avLst/>
          </a:prstGeom>
        </p:spPr>
      </p:pic>
      <p:sp>
        <p:nvSpPr>
          <p:cNvPr id="12" name="Shape 7"/>
          <p:cNvSpPr/>
          <p:nvPr/>
        </p:nvSpPr>
        <p:spPr>
          <a:xfrm>
            <a:off x="411480" y="2258568"/>
            <a:ext cx="2606040" cy="841248"/>
          </a:xfrm>
          <a:prstGeom prst="roundRect">
            <a:avLst>
              <a:gd name="adj" fmla="val 8696"/>
            </a:avLst>
          </a:prstGeom>
          <a:solidFill>
            <a:srgbClr val="FFFFFF"/>
          </a:solidFill>
          <a:ln w="9525">
            <a:solidFill>
              <a:srgbClr val="DCE1E7"/>
            </a:solidFill>
            <a:prstDash val="solid"/>
          </a:ln>
        </p:spPr>
      </p:sp>
      <p:sp>
        <p:nvSpPr>
          <p:cNvPr id="13" name="Shape 8"/>
          <p:cNvSpPr/>
          <p:nvPr/>
        </p:nvSpPr>
        <p:spPr>
          <a:xfrm>
            <a:off x="548640" y="2487168"/>
            <a:ext cx="384048" cy="384048"/>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640812" y="2579340"/>
            <a:ext cx="199705" cy="199705"/>
          </a:xfrm>
          <a:prstGeom prst="rect">
            <a:avLst/>
          </a:prstGeom>
        </p:spPr>
      </p:pic>
      <p:sp>
        <p:nvSpPr>
          <p:cNvPr id="15" name="Text 9"/>
          <p:cNvSpPr txBox="1"/>
          <p:nvPr/>
        </p:nvSpPr>
        <p:spPr>
          <a:xfrm>
            <a:off x="1024128" y="2313432"/>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Applied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Green tag with a check mark, job ID and date.</a:t>
            </a:r>
            <a:endParaRPr lang="en-US" sz="1200" dirty="0"/>
          </a:p>
        </p:txBody>
      </p:sp>
      <p:sp>
        <p:nvSpPr>
          <p:cNvPr id="16" name="Shape 10"/>
          <p:cNvSpPr/>
          <p:nvPr/>
        </p:nvSpPr>
        <p:spPr>
          <a:xfrm>
            <a:off x="3127248" y="2258568"/>
            <a:ext cx="5605272" cy="841248"/>
          </a:xfrm>
          <a:prstGeom prst="roundRect">
            <a:avLst>
              <a:gd name="adj" fmla="val 8696"/>
            </a:avLst>
          </a:prstGeom>
          <a:solidFill>
            <a:srgbClr val="FFFFFF"/>
          </a:solidFill>
          <a:ln w="9525">
            <a:solidFill>
              <a:srgbClr val="DCE1E7"/>
            </a:solidFill>
            <a:prstDash val="solid"/>
          </a:ln>
        </p:spPr>
      </p:sp>
      <p:pic>
        <p:nvPicPr>
          <p:cNvPr id="17" name="Image 3" descr="/tmp/claude-0/-workspace-training/3ce5cff6-cccf-5f33-b0ee-0b147a55120e/scratchpad/img3/v_applied.png">    </p:cNvPr>
          <p:cNvPicPr>
            <a:picLocks noChangeAspect="1"/>
          </p:cNvPicPr>
          <p:nvPr/>
        </p:nvPicPr>
        <p:blipFill>
          <a:blip r:embed="rId4"/>
          <a:stretch>
            <a:fillRect/>
          </a:stretch>
        </p:blipFill>
        <p:spPr>
          <a:xfrm>
            <a:off x="3236976" y="2372079"/>
            <a:ext cx="5394960" cy="614227"/>
          </a:xfrm>
          <a:prstGeom prst="rect">
            <a:avLst/>
          </a:prstGeom>
        </p:spPr>
      </p:pic>
      <p:sp>
        <p:nvSpPr>
          <p:cNvPr id="18" name="Shape 11"/>
          <p:cNvSpPr/>
          <p:nvPr/>
        </p:nvSpPr>
        <p:spPr>
          <a:xfrm>
            <a:off x="411480" y="3191256"/>
            <a:ext cx="2606040" cy="841248"/>
          </a:xfrm>
          <a:prstGeom prst="roundRect">
            <a:avLst>
              <a:gd name="adj" fmla="val 8696"/>
            </a:avLst>
          </a:prstGeom>
          <a:solidFill>
            <a:srgbClr val="FFFFFF"/>
          </a:solidFill>
          <a:ln w="9525">
            <a:solidFill>
              <a:srgbClr val="DCE1E7"/>
            </a:solidFill>
            <a:prstDash val="solid"/>
          </a:ln>
        </p:spPr>
      </p:sp>
      <p:sp>
        <p:nvSpPr>
          <p:cNvPr id="19" name="Shape 12"/>
          <p:cNvSpPr/>
          <p:nvPr/>
        </p:nvSpPr>
        <p:spPr>
          <a:xfrm>
            <a:off x="548640" y="3419856"/>
            <a:ext cx="384048" cy="384048"/>
          </a:xfrm>
          <a:prstGeom prst="ellipse">
            <a:avLst/>
          </a:prstGeom>
          <a:solidFill>
            <a:srgbClr val="E3F4F1"/>
          </a:solidFill>
          <a:ln w="12700">
            <a:solidFill>
              <a:srgbClr val="E3F4F1"/>
            </a:solidFill>
            <a:prstDash val="solid"/>
          </a:ln>
        </p:spPr>
      </p:sp>
      <p:pic>
        <p:nvPicPr>
          <p:cNvPr id="20" name="Image 4" descr="preencoded.png">    </p:cNvPr>
          <p:cNvPicPr>
            <a:picLocks noChangeAspect="1"/>
          </p:cNvPicPr>
          <p:nvPr/>
        </p:nvPicPr>
        <p:blipFill>
          <a:blip r:embed="rId5"/>
          <a:stretch>
            <a:fillRect/>
          </a:stretch>
        </p:blipFill>
        <p:spPr>
          <a:xfrm>
            <a:off x="640812" y="3512028"/>
            <a:ext cx="199705" cy="199705"/>
          </a:xfrm>
          <a:prstGeom prst="rect">
            <a:avLst/>
          </a:prstGeom>
        </p:spPr>
      </p:pic>
      <p:sp>
        <p:nvSpPr>
          <p:cNvPr id="21" name="Text 13"/>
          <p:cNvSpPr txBox="1"/>
          <p:nvPr/>
        </p:nvSpPr>
        <p:spPr>
          <a:xfrm>
            <a:off x="1024128" y="3246120"/>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Grayed out</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Canceled, invalidated, converted or expired. Reason next to the code.</a:t>
            </a:r>
            <a:endParaRPr lang="en-US" sz="1200" dirty="0"/>
          </a:p>
        </p:txBody>
      </p:sp>
      <p:sp>
        <p:nvSpPr>
          <p:cNvPr id="22" name="Shape 14"/>
          <p:cNvSpPr/>
          <p:nvPr/>
        </p:nvSpPr>
        <p:spPr>
          <a:xfrm>
            <a:off x="3127248" y="3191256"/>
            <a:ext cx="5605272" cy="841248"/>
          </a:xfrm>
          <a:prstGeom prst="roundRect">
            <a:avLst>
              <a:gd name="adj" fmla="val 8696"/>
            </a:avLst>
          </a:prstGeom>
          <a:solidFill>
            <a:srgbClr val="FFFFFF"/>
          </a:solidFill>
          <a:ln w="9525">
            <a:solidFill>
              <a:srgbClr val="DCE1E7"/>
            </a:solidFill>
            <a:prstDash val="solid"/>
          </a:ln>
        </p:spPr>
      </p:sp>
      <p:pic>
        <p:nvPicPr>
          <p:cNvPr id="23" name="Image 5" descr="/tmp/claude-0/-workspace-training/3ce5cff6-cccf-5f33-b0ee-0b147a55120e/scratchpad/img3/v_grayed.png">    </p:cNvPr>
          <p:cNvPicPr>
            <a:picLocks noChangeAspect="1"/>
          </p:cNvPicPr>
          <p:nvPr/>
        </p:nvPicPr>
        <p:blipFill>
          <a:blip r:embed="rId6"/>
          <a:stretch>
            <a:fillRect/>
          </a:stretch>
        </p:blipFill>
        <p:spPr>
          <a:xfrm>
            <a:off x="3236976" y="3264408"/>
            <a:ext cx="4552387" cy="694944"/>
          </a:xfrm>
          <a:prstGeom prst="rect">
            <a:avLst/>
          </a:prstGeom>
        </p:spPr>
      </p:pic>
      <p:sp>
        <p:nvSpPr>
          <p:cNvPr id="24" name="Shape 15"/>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5" name="Image 6" descr="preencoded.png">    </p:cNvPr>
          <p:cNvPicPr>
            <a:picLocks noChangeAspect="1"/>
          </p:cNvPicPr>
          <p:nvPr/>
        </p:nvPicPr>
        <p:blipFill>
          <a:blip r:embed="rId7"/>
          <a:stretch>
            <a:fillRect/>
          </a:stretch>
        </p:blipFill>
        <p:spPr>
          <a:xfrm>
            <a:off x="566928" y="4315968"/>
            <a:ext cx="164592" cy="164592"/>
          </a:xfrm>
          <a:prstGeom prst="rect">
            <a:avLst/>
          </a:prstGeom>
        </p:spPr>
      </p:pic>
      <p:sp>
        <p:nvSpPr>
          <p:cNvPr id="26" name="Text 16"/>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Converted?  </a:t>
            </a:r>
            <a:pPr indent="0" marL="0">
              <a:buNone/>
            </a:pPr>
            <a:r>
              <a:rPr lang="en-US" sz="1000" dirty="0">
                <a:solidFill>
                  <a:srgbClr val="1D1D1F"/>
                </a:solidFill>
                <a:latin typeface="SF Pro Text" pitchFamily="34" charset="0"/>
                <a:ea typeface="SF Pro Text" pitchFamily="34" charset="-122"/>
                <a:cs typeface="SF Pro Text" pitchFamily="34" charset="-120"/>
              </a:rPr>
              <a:t>the voucher was turned into credits equal to what the customer paid for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at a glance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8321040" cy="914400"/>
        </p:xfrm>
        <a:graphic>
          <a:graphicData uri="http://schemas.openxmlformats.org/drawingml/2006/table">
            <a:tbl>
              <a:tblPr/>
              <a:tblGrid>
                <a:gridCol w="1691640"/>
                <a:gridCol w="1417320"/>
                <a:gridCol w="1097280"/>
                <a:gridCol w="1920240"/>
                <a:gridCol w="914400"/>
                <a:gridCol w="12801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Type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Comes from</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Invalidate?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Refund?</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Expires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To 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(Dashboard ≤1 yr,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2nd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Gift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Referral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First-Time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Third-party (Groupon)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on expiry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CP Offer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Cleaner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After Nth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 months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HG 2nd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 year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Admin Courtesy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CS / 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60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Homeaglow Gift Card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2 years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in the CRM (1 of 2)</a:t>
            </a:r>
            <a:endParaRPr lang="en-US" sz="2400" dirty="0"/>
          </a:p>
        </p:txBody>
      </p:sp>
      <p:sp>
        <p:nvSpPr>
          <p:cNvPr id="5" name="Shape 2"/>
          <p:cNvSpPr/>
          <p:nvPr/>
        </p:nvSpPr>
        <p:spPr>
          <a:xfrm>
            <a:off x="411480" y="1097280"/>
            <a:ext cx="3246120" cy="841248"/>
          </a:xfrm>
          <a:prstGeom prst="roundRect">
            <a:avLst>
              <a:gd name="adj" fmla="val 8696"/>
            </a:avLst>
          </a:prstGeom>
          <a:solidFill>
            <a:srgbClr val="FFFFFF"/>
          </a:solidFill>
          <a:ln w="9525">
            <a:solidFill>
              <a:srgbClr val="DCE1E7"/>
            </a:solidFill>
            <a:prstDash val="solid"/>
          </a:ln>
        </p:spPr>
      </p:sp>
      <p:sp>
        <p:nvSpPr>
          <p:cNvPr id="6" name="Shape 3"/>
          <p:cNvSpPr/>
          <p:nvPr/>
        </p:nvSpPr>
        <p:spPr>
          <a:xfrm>
            <a:off x="548640" y="1371600"/>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3716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133856"/>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DHJ voucher</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Comes with a membership. The membership is only triggered once the voucher is used.</a:t>
            </a:r>
            <a:endParaRPr lang="en-US" sz="1100" dirty="0"/>
          </a:p>
        </p:txBody>
      </p:sp>
      <p:sp>
        <p:nvSpPr>
          <p:cNvPr id="9" name="Shape 6"/>
          <p:cNvSpPr/>
          <p:nvPr/>
        </p:nvSpPr>
        <p:spPr>
          <a:xfrm>
            <a:off x="3749040" y="1097280"/>
            <a:ext cx="4983480" cy="841248"/>
          </a:xfrm>
          <a:prstGeom prst="roundRect">
            <a:avLst>
              <a:gd name="adj" fmla="val 8696"/>
            </a:avLst>
          </a:prstGeom>
          <a:solidFill>
            <a:srgbClr val="FFFFFF"/>
          </a:solidFill>
          <a:ln w="9525">
            <a:solidFill>
              <a:srgbClr val="DCE1E7"/>
            </a:solidFill>
            <a:prstDash val="solid"/>
          </a:ln>
        </p:spPr>
      </p:sp>
      <p:sp>
        <p:nvSpPr>
          <p:cNvPr id="10" name="Text 7"/>
          <p:cNvSpPr txBox="1"/>
          <p:nvPr/>
        </p:nvSpPr>
        <p:spPr>
          <a:xfrm>
            <a:off x="3822192" y="1152144"/>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New CRM</a:t>
            </a:r>
            <a:endParaRPr lang="en-US" sz="750" dirty="0"/>
          </a:p>
        </p:txBody>
      </p:sp>
      <p:pic>
        <p:nvPicPr>
          <p:cNvPr id="11" name="Image 0" descr="/tmp/claude-0/-workspace-training/3ce5cff6-cccf-5f33-b0ee-0b147a55120e/scratchpad/img3/vt_dhj_new.png">    </p:cNvPr>
          <p:cNvPicPr>
            <a:picLocks noChangeAspect="1"/>
          </p:cNvPicPr>
          <p:nvPr/>
        </p:nvPicPr>
        <p:blipFill>
          <a:blip r:embed="rId1"/>
          <a:stretch>
            <a:fillRect/>
          </a:stretch>
        </p:blipFill>
        <p:spPr>
          <a:xfrm>
            <a:off x="4526280" y="1163375"/>
            <a:ext cx="4114800" cy="315866"/>
          </a:xfrm>
          <a:prstGeom prst="rect">
            <a:avLst/>
          </a:prstGeom>
        </p:spPr>
      </p:pic>
      <p:sp>
        <p:nvSpPr>
          <p:cNvPr id="12" name="Text 8"/>
          <p:cNvSpPr txBox="1"/>
          <p:nvPr/>
        </p:nvSpPr>
        <p:spPr>
          <a:xfrm>
            <a:off x="3822192" y="1545336"/>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13" name="Image 1" descr="/tmp/claude-0/-workspace-training/3ce5cff6-cccf-5f33-b0ee-0b147a55120e/scratchpad/img3/vt_dhj_legacy.png">    </p:cNvPr>
          <p:cNvPicPr>
            <a:picLocks noChangeAspect="1"/>
          </p:cNvPicPr>
          <p:nvPr/>
        </p:nvPicPr>
        <p:blipFill>
          <a:blip r:embed="rId2"/>
          <a:stretch>
            <a:fillRect/>
          </a:stretch>
        </p:blipFill>
        <p:spPr>
          <a:xfrm>
            <a:off x="4526280" y="1579260"/>
            <a:ext cx="3802624" cy="270480"/>
          </a:xfrm>
          <a:prstGeom prst="rect">
            <a:avLst/>
          </a:prstGeom>
        </p:spPr>
      </p:pic>
      <p:sp>
        <p:nvSpPr>
          <p:cNvPr id="14" name="Shape 9"/>
          <p:cNvSpPr/>
          <p:nvPr/>
        </p:nvSpPr>
        <p:spPr>
          <a:xfrm>
            <a:off x="411480" y="2002536"/>
            <a:ext cx="3246120" cy="841248"/>
          </a:xfrm>
          <a:prstGeom prst="roundRect">
            <a:avLst>
              <a:gd name="adj" fmla="val 8696"/>
            </a:avLst>
          </a:prstGeom>
          <a:solidFill>
            <a:srgbClr val="FFFFFF"/>
          </a:solidFill>
          <a:ln w="9525">
            <a:solidFill>
              <a:srgbClr val="DCE1E7"/>
            </a:solidFill>
            <a:prstDash val="solid"/>
          </a:ln>
        </p:spPr>
      </p:sp>
      <p:sp>
        <p:nvSpPr>
          <p:cNvPr id="15" name="Shape 10"/>
          <p:cNvSpPr/>
          <p:nvPr/>
        </p:nvSpPr>
        <p:spPr>
          <a:xfrm>
            <a:off x="548640" y="2276856"/>
            <a:ext cx="274320" cy="274320"/>
          </a:xfrm>
          <a:prstGeom prst="ellipse">
            <a:avLst/>
          </a:prstGeom>
          <a:solidFill>
            <a:srgbClr val="E3F4F1"/>
          </a:solidFill>
          <a:ln w="12700">
            <a:solidFill>
              <a:srgbClr val="E3F4F1"/>
            </a:solidFill>
            <a:prstDash val="solid"/>
          </a:ln>
        </p:spPr>
      </p:sp>
      <p:sp>
        <p:nvSpPr>
          <p:cNvPr id="16" name="Text 11"/>
          <p:cNvSpPr txBox="1"/>
          <p:nvPr/>
        </p:nvSpPr>
        <p:spPr>
          <a:xfrm>
            <a:off x="548640" y="22768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7" name="Text 12"/>
          <p:cNvSpPr txBox="1"/>
          <p:nvPr/>
        </p:nvSpPr>
        <p:spPr>
          <a:xfrm>
            <a:off x="960120" y="2039112"/>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Free DHJ (new membership model)</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Membership starts at sign-up: $19 discounted first MF, a free 3-hour cleaning, or a discounted first cleaning for longer jobs.</a:t>
            </a:r>
            <a:endParaRPr lang="en-US" sz="1100" dirty="0"/>
          </a:p>
        </p:txBody>
      </p:sp>
      <p:sp>
        <p:nvSpPr>
          <p:cNvPr id="18" name="Shape 13"/>
          <p:cNvSpPr/>
          <p:nvPr/>
        </p:nvSpPr>
        <p:spPr>
          <a:xfrm>
            <a:off x="3749040" y="2002536"/>
            <a:ext cx="4983480" cy="841248"/>
          </a:xfrm>
          <a:prstGeom prst="roundRect">
            <a:avLst>
              <a:gd name="adj" fmla="val 8696"/>
            </a:avLst>
          </a:prstGeom>
          <a:solidFill>
            <a:srgbClr val="FFFFFF"/>
          </a:solidFill>
          <a:ln w="9525">
            <a:solidFill>
              <a:srgbClr val="DCE1E7"/>
            </a:solidFill>
            <a:prstDash val="solid"/>
          </a:ln>
        </p:spPr>
      </p:sp>
      <p:sp>
        <p:nvSpPr>
          <p:cNvPr id="19" name="Text 14"/>
          <p:cNvSpPr txBox="1"/>
          <p:nvPr/>
        </p:nvSpPr>
        <p:spPr>
          <a:xfrm>
            <a:off x="3822192" y="2057400"/>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New CRM</a:t>
            </a:r>
            <a:endParaRPr lang="en-US" sz="750" dirty="0"/>
          </a:p>
        </p:txBody>
      </p:sp>
      <p:pic>
        <p:nvPicPr>
          <p:cNvPr id="20" name="Image 2" descr="/tmp/claude-0/-workspace-training/3ce5cff6-cccf-5f33-b0ee-0b147a55120e/scratchpad/img3/vt_free_new.png">    </p:cNvPr>
          <p:cNvPicPr>
            <a:picLocks noChangeAspect="1"/>
          </p:cNvPicPr>
          <p:nvPr/>
        </p:nvPicPr>
        <p:blipFill>
          <a:blip r:embed="rId3"/>
          <a:stretch>
            <a:fillRect/>
          </a:stretch>
        </p:blipFill>
        <p:spPr>
          <a:xfrm>
            <a:off x="4526280" y="2066975"/>
            <a:ext cx="4114800" cy="319177"/>
          </a:xfrm>
          <a:prstGeom prst="rect">
            <a:avLst/>
          </a:prstGeom>
        </p:spPr>
      </p:pic>
      <p:sp>
        <p:nvSpPr>
          <p:cNvPr id="21" name="Text 15"/>
          <p:cNvSpPr txBox="1"/>
          <p:nvPr/>
        </p:nvSpPr>
        <p:spPr>
          <a:xfrm>
            <a:off x="3822192" y="2450592"/>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22" name="Image 3" descr="/tmp/claude-0/-workspace-training/3ce5cff6-cccf-5f33-b0ee-0b147a55120e/scratchpad/img3/vt_free_legacy.png">    </p:cNvPr>
          <p:cNvPicPr>
            <a:picLocks noChangeAspect="1"/>
          </p:cNvPicPr>
          <p:nvPr/>
        </p:nvPicPr>
        <p:blipFill>
          <a:blip r:embed="rId4"/>
          <a:stretch>
            <a:fillRect/>
          </a:stretch>
        </p:blipFill>
        <p:spPr>
          <a:xfrm>
            <a:off x="4526280" y="2508382"/>
            <a:ext cx="2832080" cy="222748"/>
          </a:xfrm>
          <a:prstGeom prst="rect">
            <a:avLst/>
          </a:prstGeom>
        </p:spPr>
      </p:pic>
      <p:sp>
        <p:nvSpPr>
          <p:cNvPr id="23" name="Shape 16"/>
          <p:cNvSpPr/>
          <p:nvPr/>
        </p:nvSpPr>
        <p:spPr>
          <a:xfrm>
            <a:off x="411480" y="2907792"/>
            <a:ext cx="3246120" cy="841248"/>
          </a:xfrm>
          <a:prstGeom prst="roundRect">
            <a:avLst>
              <a:gd name="adj" fmla="val 8696"/>
            </a:avLst>
          </a:prstGeom>
          <a:solidFill>
            <a:srgbClr val="FFFFFF"/>
          </a:solidFill>
          <a:ln w="9525">
            <a:solidFill>
              <a:srgbClr val="DCE1E7"/>
            </a:solidFill>
            <a:prstDash val="solid"/>
          </a:ln>
        </p:spPr>
      </p:sp>
      <p:sp>
        <p:nvSpPr>
          <p:cNvPr id="24" name="Shape 17"/>
          <p:cNvSpPr/>
          <p:nvPr/>
        </p:nvSpPr>
        <p:spPr>
          <a:xfrm>
            <a:off x="548640" y="3182112"/>
            <a:ext cx="274320" cy="274320"/>
          </a:xfrm>
          <a:prstGeom prst="ellipse">
            <a:avLst/>
          </a:prstGeom>
          <a:solidFill>
            <a:srgbClr val="E3F4F1"/>
          </a:solidFill>
          <a:ln w="12700">
            <a:solidFill>
              <a:srgbClr val="E3F4F1"/>
            </a:solidFill>
            <a:prstDash val="solid"/>
          </a:ln>
        </p:spPr>
      </p:sp>
      <p:sp>
        <p:nvSpPr>
          <p:cNvPr id="25" name="Text 18"/>
          <p:cNvSpPr txBox="1"/>
          <p:nvPr/>
        </p:nvSpPr>
        <p:spPr>
          <a:xfrm>
            <a:off x="548640" y="31821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6" name="Text 19"/>
          <p:cNvSpPr txBox="1"/>
          <p:nvPr/>
        </p:nvSpPr>
        <p:spPr>
          <a:xfrm>
            <a:off x="960120" y="2944368"/>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DHJ Gift</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Single use. Triggers a membership. Expires in 90 days if unused.</a:t>
            </a:r>
            <a:endParaRPr lang="en-US" sz="1100" dirty="0"/>
          </a:p>
        </p:txBody>
      </p:sp>
      <p:sp>
        <p:nvSpPr>
          <p:cNvPr id="27" name="Shape 20"/>
          <p:cNvSpPr/>
          <p:nvPr/>
        </p:nvSpPr>
        <p:spPr>
          <a:xfrm>
            <a:off x="3749040" y="2907792"/>
            <a:ext cx="4983480" cy="841248"/>
          </a:xfrm>
          <a:prstGeom prst="roundRect">
            <a:avLst>
              <a:gd name="adj" fmla="val 8696"/>
            </a:avLst>
          </a:prstGeom>
          <a:solidFill>
            <a:srgbClr val="FFFFFF"/>
          </a:solidFill>
          <a:ln w="9525">
            <a:solidFill>
              <a:srgbClr val="DCE1E7"/>
            </a:solidFill>
            <a:prstDash val="solid"/>
          </a:ln>
        </p:spPr>
      </p:sp>
      <p:sp>
        <p:nvSpPr>
          <p:cNvPr id="28" name="Text 21"/>
          <p:cNvSpPr txBox="1"/>
          <p:nvPr/>
        </p:nvSpPr>
        <p:spPr>
          <a:xfrm>
            <a:off x="3822192" y="2962656"/>
            <a:ext cx="658368" cy="731520"/>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29" name="Image 4" descr="/tmp/claude-0/-workspace-training/3ce5cff6-cccf-5f33-b0ee-0b147a55120e/scratchpad/img3/vt_gift.png">    </p:cNvPr>
          <p:cNvPicPr>
            <a:picLocks noChangeAspect="1"/>
          </p:cNvPicPr>
          <p:nvPr/>
        </p:nvPicPr>
        <p:blipFill>
          <a:blip r:embed="rId5"/>
          <a:stretch>
            <a:fillRect/>
          </a:stretch>
        </p:blipFill>
        <p:spPr>
          <a:xfrm>
            <a:off x="4526280" y="3232329"/>
            <a:ext cx="4114800" cy="192175"/>
          </a:xfrm>
          <a:prstGeom prst="rect">
            <a:avLst/>
          </a:prstGeom>
        </p:spPr>
      </p:pic>
      <p:sp>
        <p:nvSpPr>
          <p:cNvPr id="30" name="Shape 22"/>
          <p:cNvSpPr/>
          <p:nvPr/>
        </p:nvSpPr>
        <p:spPr>
          <a:xfrm>
            <a:off x="411480" y="3813048"/>
            <a:ext cx="3246120" cy="841248"/>
          </a:xfrm>
          <a:prstGeom prst="roundRect">
            <a:avLst>
              <a:gd name="adj" fmla="val 8696"/>
            </a:avLst>
          </a:prstGeom>
          <a:solidFill>
            <a:srgbClr val="FFFFFF"/>
          </a:solidFill>
          <a:ln w="9525">
            <a:solidFill>
              <a:srgbClr val="DCE1E7"/>
            </a:solidFill>
            <a:prstDash val="solid"/>
          </a:ln>
        </p:spPr>
      </p:sp>
      <p:sp>
        <p:nvSpPr>
          <p:cNvPr id="31" name="Shape 23"/>
          <p:cNvSpPr/>
          <p:nvPr/>
        </p:nvSpPr>
        <p:spPr>
          <a:xfrm>
            <a:off x="548640" y="4087368"/>
            <a:ext cx="274320" cy="274320"/>
          </a:xfrm>
          <a:prstGeom prst="ellipse">
            <a:avLst/>
          </a:prstGeom>
          <a:solidFill>
            <a:srgbClr val="E3F4F1"/>
          </a:solidFill>
          <a:ln w="12700">
            <a:solidFill>
              <a:srgbClr val="E3F4F1"/>
            </a:solidFill>
            <a:prstDash val="solid"/>
          </a:ln>
        </p:spPr>
      </p:sp>
      <p:sp>
        <p:nvSpPr>
          <p:cNvPr id="32" name="Text 24"/>
          <p:cNvSpPr txBox="1"/>
          <p:nvPr/>
        </p:nvSpPr>
        <p:spPr>
          <a:xfrm>
            <a:off x="548640" y="40873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33" name="Text 25"/>
          <p:cNvSpPr txBox="1"/>
          <p:nvPr/>
        </p:nvSpPr>
        <p:spPr>
          <a:xfrm>
            <a:off x="960120" y="3849624"/>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Third-party (Groupon)</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No membership. Can't be split, and converts to credits on expiry.</a:t>
            </a:r>
            <a:endParaRPr lang="en-US" sz="1100" dirty="0"/>
          </a:p>
        </p:txBody>
      </p:sp>
      <p:sp>
        <p:nvSpPr>
          <p:cNvPr id="34" name="Shape 26"/>
          <p:cNvSpPr/>
          <p:nvPr/>
        </p:nvSpPr>
        <p:spPr>
          <a:xfrm>
            <a:off x="3749040" y="3813048"/>
            <a:ext cx="4983480" cy="841248"/>
          </a:xfrm>
          <a:prstGeom prst="roundRect">
            <a:avLst>
              <a:gd name="adj" fmla="val 8696"/>
            </a:avLst>
          </a:prstGeom>
          <a:solidFill>
            <a:srgbClr val="FFFFFF"/>
          </a:solidFill>
          <a:ln w="9525">
            <a:solidFill>
              <a:srgbClr val="DCE1E7"/>
            </a:solidFill>
            <a:prstDash val="solid"/>
          </a:ln>
        </p:spPr>
      </p:sp>
      <p:sp>
        <p:nvSpPr>
          <p:cNvPr id="35" name="Text 27"/>
          <p:cNvSpPr txBox="1"/>
          <p:nvPr/>
        </p:nvSpPr>
        <p:spPr>
          <a:xfrm>
            <a:off x="3822192" y="3867912"/>
            <a:ext cx="658368" cy="731520"/>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36" name="Image 5" descr="/tmp/claude-0/-workspace-training/3ce5cff6-cccf-5f33-b0ee-0b147a55120e/scratchpad/img3/vt_groupon.png">    </p:cNvPr>
          <p:cNvPicPr>
            <a:picLocks noChangeAspect="1"/>
          </p:cNvPicPr>
          <p:nvPr/>
        </p:nvPicPr>
        <p:blipFill>
          <a:blip r:embed="rId6"/>
          <a:stretch>
            <a:fillRect/>
          </a:stretch>
        </p:blipFill>
        <p:spPr>
          <a:xfrm>
            <a:off x="4526280" y="4098432"/>
            <a:ext cx="3007096" cy="27048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in the CRM (2 of 2)</a:t>
            </a:r>
            <a:endParaRPr lang="en-US" sz="2400" dirty="0"/>
          </a:p>
        </p:txBody>
      </p:sp>
      <p:sp>
        <p:nvSpPr>
          <p:cNvPr id="5" name="Shape 2"/>
          <p:cNvSpPr/>
          <p:nvPr/>
        </p:nvSpPr>
        <p:spPr>
          <a:xfrm>
            <a:off x="411480" y="1097280"/>
            <a:ext cx="3246120" cy="841248"/>
          </a:xfrm>
          <a:prstGeom prst="roundRect">
            <a:avLst>
              <a:gd name="adj" fmla="val 8696"/>
            </a:avLst>
          </a:prstGeom>
          <a:solidFill>
            <a:srgbClr val="FFFFFF"/>
          </a:solidFill>
          <a:ln w="9525">
            <a:solidFill>
              <a:srgbClr val="DCE1E7"/>
            </a:solidFill>
            <a:prstDash val="solid"/>
          </a:ln>
        </p:spPr>
      </p:sp>
      <p:sp>
        <p:nvSpPr>
          <p:cNvPr id="6" name="Shape 3"/>
          <p:cNvSpPr/>
          <p:nvPr/>
        </p:nvSpPr>
        <p:spPr>
          <a:xfrm>
            <a:off x="548640" y="1371600"/>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3716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8" name="Text 5"/>
          <p:cNvSpPr txBox="1"/>
          <p:nvPr/>
        </p:nvSpPr>
        <p:spPr>
          <a:xfrm>
            <a:off x="960120" y="1133856"/>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Offer</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Cleaners may offer up to 30 minutes off to a customer they've worked with. Shows as admin courtesy.</a:t>
            </a:r>
            <a:endParaRPr lang="en-US" sz="1100" dirty="0"/>
          </a:p>
        </p:txBody>
      </p:sp>
      <p:sp>
        <p:nvSpPr>
          <p:cNvPr id="9" name="Shape 6"/>
          <p:cNvSpPr/>
          <p:nvPr/>
        </p:nvSpPr>
        <p:spPr>
          <a:xfrm>
            <a:off x="3749040" y="1097280"/>
            <a:ext cx="4983480" cy="841248"/>
          </a:xfrm>
          <a:prstGeom prst="roundRect">
            <a:avLst>
              <a:gd name="adj" fmla="val 8696"/>
            </a:avLst>
          </a:prstGeom>
          <a:solidFill>
            <a:srgbClr val="FFFFFF"/>
          </a:solidFill>
          <a:ln w="9525">
            <a:solidFill>
              <a:srgbClr val="DCE1E7"/>
            </a:solidFill>
            <a:prstDash val="solid"/>
          </a:ln>
        </p:spPr>
      </p:sp>
      <p:sp>
        <p:nvSpPr>
          <p:cNvPr id="10" name="Text 7"/>
          <p:cNvSpPr txBox="1"/>
          <p:nvPr/>
        </p:nvSpPr>
        <p:spPr>
          <a:xfrm>
            <a:off x="3822192" y="1152144"/>
            <a:ext cx="658368" cy="731520"/>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Shows as</a:t>
            </a:r>
            <a:endParaRPr lang="en-US" sz="750" dirty="0"/>
          </a:p>
        </p:txBody>
      </p:sp>
      <p:pic>
        <p:nvPicPr>
          <p:cNvPr id="11" name="Image 0" descr="/tmp/claude-0/-workspace-training/3ce5cff6-cccf-5f33-b0ee-0b147a55120e/scratchpad/img3/vt_admin_legacy.png">    </p:cNvPr>
          <p:cNvPicPr>
            <a:picLocks noChangeAspect="1"/>
          </p:cNvPicPr>
          <p:nvPr/>
        </p:nvPicPr>
        <p:blipFill>
          <a:blip r:embed="rId1"/>
          <a:stretch>
            <a:fillRect/>
          </a:stretch>
        </p:blipFill>
        <p:spPr>
          <a:xfrm>
            <a:off x="4526280" y="1407357"/>
            <a:ext cx="4114800" cy="221094"/>
          </a:xfrm>
          <a:prstGeom prst="rect">
            <a:avLst/>
          </a:prstGeom>
        </p:spPr>
      </p:pic>
      <p:sp>
        <p:nvSpPr>
          <p:cNvPr id="12" name="Shape 8"/>
          <p:cNvSpPr/>
          <p:nvPr/>
        </p:nvSpPr>
        <p:spPr>
          <a:xfrm>
            <a:off x="411480" y="2002536"/>
            <a:ext cx="3246120" cy="841248"/>
          </a:xfrm>
          <a:prstGeom prst="roundRect">
            <a:avLst>
              <a:gd name="adj" fmla="val 8696"/>
            </a:avLst>
          </a:prstGeom>
          <a:solidFill>
            <a:srgbClr val="FFFFFF"/>
          </a:solidFill>
          <a:ln w="9525">
            <a:solidFill>
              <a:srgbClr val="DCE1E7"/>
            </a:solidFill>
            <a:prstDash val="solid"/>
          </a:ln>
        </p:spPr>
      </p:sp>
      <p:sp>
        <p:nvSpPr>
          <p:cNvPr id="13" name="Shape 9"/>
          <p:cNvSpPr/>
          <p:nvPr/>
        </p:nvSpPr>
        <p:spPr>
          <a:xfrm>
            <a:off x="548640" y="2276856"/>
            <a:ext cx="274320" cy="274320"/>
          </a:xfrm>
          <a:prstGeom prst="ellipse">
            <a:avLst/>
          </a:prstGeom>
          <a:solidFill>
            <a:srgbClr val="E3F4F1"/>
          </a:solidFill>
          <a:ln w="12700">
            <a:solidFill>
              <a:srgbClr val="E3F4F1"/>
            </a:solidFill>
            <a:prstDash val="solid"/>
          </a:ln>
        </p:spPr>
      </p:sp>
      <p:sp>
        <p:nvSpPr>
          <p:cNvPr id="14" name="Text 10"/>
          <p:cNvSpPr txBox="1"/>
          <p:nvPr/>
        </p:nvSpPr>
        <p:spPr>
          <a:xfrm>
            <a:off x="548640" y="22768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15" name="Text 11"/>
          <p:cNvSpPr txBox="1"/>
          <p:nvPr/>
        </p:nvSpPr>
        <p:spPr>
          <a:xfrm>
            <a:off x="960120" y="2039112"/>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Admin Courtesy</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Issued by CS or the system. Expires in 60 days.</a:t>
            </a:r>
            <a:endParaRPr lang="en-US" sz="1100" dirty="0"/>
          </a:p>
        </p:txBody>
      </p:sp>
      <p:sp>
        <p:nvSpPr>
          <p:cNvPr id="16" name="Shape 12"/>
          <p:cNvSpPr/>
          <p:nvPr/>
        </p:nvSpPr>
        <p:spPr>
          <a:xfrm>
            <a:off x="3749040" y="2002536"/>
            <a:ext cx="4983480" cy="841248"/>
          </a:xfrm>
          <a:prstGeom prst="roundRect">
            <a:avLst>
              <a:gd name="adj" fmla="val 8696"/>
            </a:avLst>
          </a:prstGeom>
          <a:solidFill>
            <a:srgbClr val="FFFFFF"/>
          </a:solidFill>
          <a:ln w="9525">
            <a:solidFill>
              <a:srgbClr val="DCE1E7"/>
            </a:solidFill>
            <a:prstDash val="solid"/>
          </a:ln>
        </p:spPr>
      </p:sp>
      <p:sp>
        <p:nvSpPr>
          <p:cNvPr id="17" name="Text 13"/>
          <p:cNvSpPr txBox="1"/>
          <p:nvPr/>
        </p:nvSpPr>
        <p:spPr>
          <a:xfrm>
            <a:off x="3822192" y="2057400"/>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New CRM</a:t>
            </a:r>
            <a:endParaRPr lang="en-US" sz="750" dirty="0"/>
          </a:p>
        </p:txBody>
      </p:sp>
      <p:pic>
        <p:nvPicPr>
          <p:cNvPr id="18" name="Image 1" descr="/tmp/claude-0/-workspace-training/3ce5cff6-cccf-5f33-b0ee-0b147a55120e/scratchpad/img3/vt_admin_new.png">    </p:cNvPr>
          <p:cNvPicPr>
            <a:picLocks noChangeAspect="1"/>
          </p:cNvPicPr>
          <p:nvPr/>
        </p:nvPicPr>
        <p:blipFill>
          <a:blip r:embed="rId2"/>
          <a:stretch>
            <a:fillRect/>
          </a:stretch>
        </p:blipFill>
        <p:spPr>
          <a:xfrm>
            <a:off x="4526280" y="2075688"/>
            <a:ext cx="4114800" cy="301752"/>
          </a:xfrm>
          <a:prstGeom prst="rect">
            <a:avLst/>
          </a:prstGeom>
        </p:spPr>
      </p:pic>
      <p:sp>
        <p:nvSpPr>
          <p:cNvPr id="19" name="Text 14"/>
          <p:cNvSpPr txBox="1"/>
          <p:nvPr/>
        </p:nvSpPr>
        <p:spPr>
          <a:xfrm>
            <a:off x="3822192" y="2450592"/>
            <a:ext cx="658368" cy="338328"/>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20" name="Image 2" descr="/tmp/claude-0/-workspace-training/3ce5cff6-cccf-5f33-b0ee-0b147a55120e/scratchpad/img3/vt_admin_legacy.png">    </p:cNvPr>
          <p:cNvPicPr>
            <a:picLocks noChangeAspect="1"/>
          </p:cNvPicPr>
          <p:nvPr/>
        </p:nvPicPr>
        <p:blipFill>
          <a:blip r:embed="rId3"/>
          <a:stretch>
            <a:fillRect/>
          </a:stretch>
        </p:blipFill>
        <p:spPr>
          <a:xfrm>
            <a:off x="4526280" y="2509209"/>
            <a:ext cx="4114800" cy="221094"/>
          </a:xfrm>
          <a:prstGeom prst="rect">
            <a:avLst/>
          </a:prstGeom>
        </p:spPr>
      </p:pic>
      <p:sp>
        <p:nvSpPr>
          <p:cNvPr id="21" name="Shape 15"/>
          <p:cNvSpPr/>
          <p:nvPr/>
        </p:nvSpPr>
        <p:spPr>
          <a:xfrm>
            <a:off x="411480" y="2907792"/>
            <a:ext cx="3246120" cy="841248"/>
          </a:xfrm>
          <a:prstGeom prst="roundRect">
            <a:avLst>
              <a:gd name="adj" fmla="val 8696"/>
            </a:avLst>
          </a:prstGeom>
          <a:solidFill>
            <a:srgbClr val="FFFFFF"/>
          </a:solidFill>
          <a:ln w="9525">
            <a:solidFill>
              <a:srgbClr val="DCE1E7"/>
            </a:solidFill>
            <a:prstDash val="solid"/>
          </a:ln>
        </p:spPr>
      </p:sp>
      <p:sp>
        <p:nvSpPr>
          <p:cNvPr id="22" name="Shape 16"/>
          <p:cNvSpPr/>
          <p:nvPr/>
        </p:nvSpPr>
        <p:spPr>
          <a:xfrm>
            <a:off x="548640" y="3182112"/>
            <a:ext cx="274320" cy="274320"/>
          </a:xfrm>
          <a:prstGeom prst="ellipse">
            <a:avLst/>
          </a:prstGeom>
          <a:solidFill>
            <a:srgbClr val="E3F4F1"/>
          </a:solidFill>
          <a:ln w="12700">
            <a:solidFill>
              <a:srgbClr val="E3F4F1"/>
            </a:solidFill>
            <a:prstDash val="solid"/>
          </a:ln>
        </p:spPr>
      </p:sp>
      <p:sp>
        <p:nvSpPr>
          <p:cNvPr id="23" name="Text 17"/>
          <p:cNvSpPr txBox="1"/>
          <p:nvPr/>
        </p:nvSpPr>
        <p:spPr>
          <a:xfrm>
            <a:off x="548640" y="31821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24" name="Text 18"/>
          <p:cNvSpPr txBox="1"/>
          <p:nvPr/>
        </p:nvSpPr>
        <p:spPr>
          <a:xfrm>
            <a:off x="960120" y="2944368"/>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Homeaglow Gift Card</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No membership. Valid for 2 years.</a:t>
            </a:r>
            <a:endParaRPr lang="en-US" sz="1100" dirty="0"/>
          </a:p>
        </p:txBody>
      </p:sp>
      <p:sp>
        <p:nvSpPr>
          <p:cNvPr id="25" name="Shape 19"/>
          <p:cNvSpPr/>
          <p:nvPr/>
        </p:nvSpPr>
        <p:spPr>
          <a:xfrm>
            <a:off x="3749040" y="2907792"/>
            <a:ext cx="4983480" cy="841248"/>
          </a:xfrm>
          <a:prstGeom prst="roundRect">
            <a:avLst>
              <a:gd name="adj" fmla="val 8696"/>
            </a:avLst>
          </a:prstGeom>
          <a:solidFill>
            <a:srgbClr val="FFFFFF"/>
          </a:solidFill>
          <a:ln w="9525">
            <a:solidFill>
              <a:srgbClr val="DCE1E7"/>
            </a:solidFill>
            <a:prstDash val="solid"/>
          </a:ln>
        </p:spPr>
      </p:sp>
      <p:sp>
        <p:nvSpPr>
          <p:cNvPr id="26" name="Text 20"/>
          <p:cNvSpPr txBox="1"/>
          <p:nvPr/>
        </p:nvSpPr>
        <p:spPr>
          <a:xfrm>
            <a:off x="3822192" y="2962656"/>
            <a:ext cx="658368" cy="731520"/>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27" name="Image 3" descr="/tmp/claude-0/-workspace-training/3ce5cff6-cccf-5f33-b0ee-0b147a55120e/scratchpad/img3/vt_giftcard.png">    </p:cNvPr>
          <p:cNvPicPr>
            <a:picLocks noChangeAspect="1"/>
          </p:cNvPicPr>
          <p:nvPr/>
        </p:nvPicPr>
        <p:blipFill>
          <a:blip r:embed="rId4"/>
          <a:stretch>
            <a:fillRect/>
          </a:stretch>
        </p:blipFill>
        <p:spPr>
          <a:xfrm>
            <a:off x="4526280" y="3161355"/>
            <a:ext cx="3373039" cy="334122"/>
          </a:xfrm>
          <a:prstGeom prst="rect">
            <a:avLst/>
          </a:prstGeom>
        </p:spPr>
      </p:pic>
      <p:sp>
        <p:nvSpPr>
          <p:cNvPr id="28" name="Shape 21"/>
          <p:cNvSpPr/>
          <p:nvPr/>
        </p:nvSpPr>
        <p:spPr>
          <a:xfrm>
            <a:off x="411480" y="3813048"/>
            <a:ext cx="3246120" cy="841248"/>
          </a:xfrm>
          <a:prstGeom prst="roundRect">
            <a:avLst>
              <a:gd name="adj" fmla="val 8696"/>
            </a:avLst>
          </a:prstGeom>
          <a:solidFill>
            <a:srgbClr val="FFFFFF"/>
          </a:solidFill>
          <a:ln w="9525">
            <a:solidFill>
              <a:srgbClr val="DCE1E7"/>
            </a:solidFill>
            <a:prstDash val="solid"/>
          </a:ln>
        </p:spPr>
      </p:sp>
      <p:sp>
        <p:nvSpPr>
          <p:cNvPr id="29" name="Shape 22"/>
          <p:cNvSpPr/>
          <p:nvPr/>
        </p:nvSpPr>
        <p:spPr>
          <a:xfrm>
            <a:off x="548640" y="4087368"/>
            <a:ext cx="274320" cy="274320"/>
          </a:xfrm>
          <a:prstGeom prst="ellipse">
            <a:avLst/>
          </a:prstGeom>
          <a:solidFill>
            <a:srgbClr val="E3F4F1"/>
          </a:solidFill>
          <a:ln w="12700">
            <a:solidFill>
              <a:srgbClr val="E3F4F1"/>
            </a:solidFill>
            <a:prstDash val="solid"/>
          </a:ln>
        </p:spPr>
      </p:sp>
      <p:sp>
        <p:nvSpPr>
          <p:cNvPr id="30" name="Text 23"/>
          <p:cNvSpPr txBox="1"/>
          <p:nvPr/>
        </p:nvSpPr>
        <p:spPr>
          <a:xfrm>
            <a:off x="548640" y="40873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31" name="Text 24"/>
          <p:cNvSpPr txBox="1"/>
          <p:nvPr/>
        </p:nvSpPr>
        <p:spPr>
          <a:xfrm>
            <a:off x="960120" y="3849624"/>
            <a:ext cx="2633472" cy="76809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Second Brand Voucher</a:t>
            </a:r>
            <a:endParaRPr lang="en-US" sz="1100" dirty="0"/>
          </a:p>
          <a:p>
            <a:pPr indent="0" marL="0">
              <a:buNone/>
            </a:pPr>
            <a:r>
              <a:rPr lang="en-US" sz="850" dirty="0">
                <a:solidFill>
                  <a:srgbClr val="6E6E73"/>
                </a:solidFill>
                <a:latin typeface="SF Pro Text" pitchFamily="34" charset="0"/>
                <a:ea typeface="SF Pro Text" pitchFamily="34" charset="-122"/>
                <a:cs typeface="SF Pro Text" pitchFamily="34" charset="-120"/>
              </a:rPr>
              <a:t>No membership. An identical voucher bought from Homeaglow, at the same cost as the third-party merchant's.</a:t>
            </a:r>
            <a:endParaRPr lang="en-US" sz="1100" dirty="0"/>
          </a:p>
        </p:txBody>
      </p:sp>
      <p:sp>
        <p:nvSpPr>
          <p:cNvPr id="32" name="Shape 25"/>
          <p:cNvSpPr/>
          <p:nvPr/>
        </p:nvSpPr>
        <p:spPr>
          <a:xfrm>
            <a:off x="3749040" y="3813048"/>
            <a:ext cx="4983480" cy="841248"/>
          </a:xfrm>
          <a:prstGeom prst="roundRect">
            <a:avLst>
              <a:gd name="adj" fmla="val 8696"/>
            </a:avLst>
          </a:prstGeom>
          <a:solidFill>
            <a:srgbClr val="FFFFFF"/>
          </a:solidFill>
          <a:ln w="9525">
            <a:solidFill>
              <a:srgbClr val="DCE1E7"/>
            </a:solidFill>
            <a:prstDash val="solid"/>
          </a:ln>
        </p:spPr>
      </p:sp>
      <p:sp>
        <p:nvSpPr>
          <p:cNvPr id="33" name="Text 26"/>
          <p:cNvSpPr txBox="1"/>
          <p:nvPr/>
        </p:nvSpPr>
        <p:spPr>
          <a:xfrm>
            <a:off x="3822192" y="3867912"/>
            <a:ext cx="658368" cy="731520"/>
          </a:xfrm>
          <a:prstGeom prst="rect">
            <a:avLst/>
          </a:prstGeom>
          <a:noFill/>
          <a:ln/>
        </p:spPr>
        <p:txBody>
          <a:bodyPr wrap="square" lIns="0" tIns="0" rIns="0" bIns="0" rtlCol="0" anchor="ctr"/>
          <a:lstStyle/>
          <a:p>
            <a:pPr indent="0" marL="0">
              <a:buNone/>
            </a:pPr>
            <a:r>
              <a:rPr lang="en-US" sz="750" b="1" dirty="0">
                <a:solidFill>
                  <a:srgbClr val="0B7A6F"/>
                </a:solidFill>
                <a:latin typeface="SF Pro Text" pitchFamily="34" charset="0"/>
                <a:ea typeface="SF Pro Text" pitchFamily="34" charset="-122"/>
                <a:cs typeface="SF Pro Text" pitchFamily="34" charset="-120"/>
              </a:rPr>
              <a:t>Legacy</a:t>
            </a:r>
            <a:endParaRPr lang="en-US" sz="750" dirty="0"/>
          </a:p>
        </p:txBody>
      </p:sp>
      <p:pic>
        <p:nvPicPr>
          <p:cNvPr id="34" name="Image 4" descr="/tmp/claude-0/-workspace-training/3ce5cff6-cccf-5f33-b0ee-0b147a55120e/scratchpad/img3/vt_second.png">    </p:cNvPr>
          <p:cNvPicPr>
            <a:picLocks noChangeAspect="1"/>
          </p:cNvPicPr>
          <p:nvPr/>
        </p:nvPicPr>
        <p:blipFill>
          <a:blip r:embed="rId5"/>
          <a:stretch>
            <a:fillRect/>
          </a:stretch>
        </p:blipFill>
        <p:spPr>
          <a:xfrm>
            <a:off x="4526280" y="4105085"/>
            <a:ext cx="4114800" cy="257175"/>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customer wants a refund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find and fix the reason first.</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920240"/>
                <a:gridCol w="3291840"/>
                <a:gridCol w="3108960"/>
              </a:tblGrid>
              <a:tr h="56692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Voucher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First response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If they ask again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Groupon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send self-refund steps (comms kit macro)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Invalidate the voucher so Groupon can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Second brand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encourage them to keep it, send the self-refund link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C CRM › Do › Voucher › Refund › 2nd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Homeaglow Gift Card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Valid for 2 years, code is in the confirmation email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Escalate to your CSQ sheet for a Stripe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Groupon:  </a:t>
            </a:r>
            <a:pPr indent="0" marL="0">
              <a:buNone/>
            </a:pPr>
            <a:r>
              <a:rPr lang="en-US" sz="1000" dirty="0">
                <a:solidFill>
                  <a:srgbClr val="1D1D1F"/>
                </a:solidFill>
                <a:latin typeface="SF Pro Text" pitchFamily="34" charset="0"/>
                <a:ea typeface="SF Pro Text" pitchFamily="34" charset="-122"/>
                <a:cs typeface="SF Pro Text" pitchFamily="34" charset="-120"/>
              </a:rPr>
              <a:t>invalidate the voucher, or Groupon may not be able to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system handles combos</a:t>
            </a:r>
            <a:endParaRPr lang="en-US" sz="2400" dirty="0"/>
          </a:p>
        </p:txBody>
      </p:sp>
      <p:sp>
        <p:nvSpPr>
          <p:cNvPr id="5" name="Shape 2"/>
          <p:cNvSpPr/>
          <p:nvPr/>
        </p:nvSpPr>
        <p:spPr>
          <a:xfrm>
            <a:off x="411480" y="1143000"/>
            <a:ext cx="4091940" cy="960120"/>
          </a:xfrm>
          <a:prstGeom prst="roundRect">
            <a:avLst>
              <a:gd name="adj" fmla="val 7619"/>
            </a:avLst>
          </a:prstGeom>
          <a:solidFill>
            <a:srgbClr val="FFFFFF"/>
          </a:solidFill>
          <a:ln w="9525">
            <a:solidFill>
              <a:srgbClr val="DCE1E7"/>
            </a:solidFill>
            <a:prstDash val="solid"/>
          </a:ln>
        </p:spPr>
      </p:sp>
      <p:sp>
        <p:nvSpPr>
          <p:cNvPr id="6" name="Shape 3"/>
          <p:cNvSpPr/>
          <p:nvPr/>
        </p:nvSpPr>
        <p:spPr>
          <a:xfrm>
            <a:off x="576072" y="141732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8244" y="1509492"/>
            <a:ext cx="199705" cy="199705"/>
          </a:xfrm>
          <a:prstGeom prst="rect">
            <a:avLst/>
          </a:prstGeom>
        </p:spPr>
      </p:pic>
      <p:sp>
        <p:nvSpPr>
          <p:cNvPr id="8" name="Text 4"/>
          <p:cNvSpPr txBox="1"/>
          <p:nvPr/>
        </p:nvSpPr>
        <p:spPr>
          <a:xfrm>
            <a:off x="11247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Groupons</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second one converts to credits.</a:t>
            </a:r>
            <a:endParaRPr lang="en-US" sz="1200" dirty="0"/>
          </a:p>
        </p:txBody>
      </p:sp>
      <p:sp>
        <p:nvSpPr>
          <p:cNvPr id="9" name="Shape 5"/>
          <p:cNvSpPr/>
          <p:nvPr/>
        </p:nvSpPr>
        <p:spPr>
          <a:xfrm>
            <a:off x="4640580" y="1143000"/>
            <a:ext cx="4091940" cy="960120"/>
          </a:xfrm>
          <a:prstGeom prst="roundRect">
            <a:avLst>
              <a:gd name="adj" fmla="val 7619"/>
            </a:avLst>
          </a:prstGeom>
          <a:solidFill>
            <a:srgbClr val="FFFFFF"/>
          </a:solidFill>
          <a:ln w="9525">
            <a:solidFill>
              <a:srgbClr val="DCE1E7"/>
            </a:solidFill>
            <a:prstDash val="solid"/>
          </a:ln>
        </p:spPr>
      </p:sp>
      <p:sp>
        <p:nvSpPr>
          <p:cNvPr id="10" name="Shape 6"/>
          <p:cNvSpPr/>
          <p:nvPr/>
        </p:nvSpPr>
        <p:spPr>
          <a:xfrm>
            <a:off x="4805172" y="141732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4897344" y="1509492"/>
            <a:ext cx="199705" cy="199705"/>
          </a:xfrm>
          <a:prstGeom prst="rect">
            <a:avLst/>
          </a:prstGeom>
        </p:spPr>
      </p:pic>
      <p:sp>
        <p:nvSpPr>
          <p:cNvPr id="12" name="Text 7"/>
          <p:cNvSpPr txBox="1"/>
          <p:nvPr/>
        </p:nvSpPr>
        <p:spPr>
          <a:xfrm>
            <a:off x="53538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Short job on a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No courtesy voucher for the unused hours.</a:t>
            </a:r>
            <a:endParaRPr lang="en-US" sz="1200" dirty="0"/>
          </a:p>
        </p:txBody>
      </p:sp>
      <p:sp>
        <p:nvSpPr>
          <p:cNvPr id="13" name="Shape 8"/>
          <p:cNvSpPr/>
          <p:nvPr/>
        </p:nvSpPr>
        <p:spPr>
          <a:xfrm>
            <a:off x="411480" y="2240280"/>
            <a:ext cx="4091940" cy="960120"/>
          </a:xfrm>
          <a:prstGeom prst="roundRect">
            <a:avLst>
              <a:gd name="adj" fmla="val 7619"/>
            </a:avLst>
          </a:prstGeom>
          <a:solidFill>
            <a:srgbClr val="FFFFFF"/>
          </a:solidFill>
          <a:ln w="9525">
            <a:solidFill>
              <a:srgbClr val="DCE1E7"/>
            </a:solidFill>
            <a:prstDash val="solid"/>
          </a:ln>
        </p:spPr>
      </p:sp>
      <p:sp>
        <p:nvSpPr>
          <p:cNvPr id="14" name="Shape 9"/>
          <p:cNvSpPr/>
          <p:nvPr/>
        </p:nvSpPr>
        <p:spPr>
          <a:xfrm>
            <a:off x="576072" y="2514600"/>
            <a:ext cx="384048" cy="384048"/>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668244" y="2606772"/>
            <a:ext cx="199705" cy="199705"/>
          </a:xfrm>
          <a:prstGeom prst="rect">
            <a:avLst/>
          </a:prstGeom>
        </p:spPr>
      </p:pic>
      <p:sp>
        <p:nvSpPr>
          <p:cNvPr id="16" name="Text 10"/>
          <p:cNvSpPr txBox="1"/>
          <p:nvPr/>
        </p:nvSpPr>
        <p:spPr>
          <a:xfrm>
            <a:off x="11247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or FC,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Groupon converts to credits.</a:t>
            </a:r>
            <a:endParaRPr lang="en-US" sz="1200" dirty="0"/>
          </a:p>
        </p:txBody>
      </p:sp>
      <p:sp>
        <p:nvSpPr>
          <p:cNvPr id="17" name="Shape 11"/>
          <p:cNvSpPr/>
          <p:nvPr/>
        </p:nvSpPr>
        <p:spPr>
          <a:xfrm>
            <a:off x="4640580" y="2240280"/>
            <a:ext cx="4091940" cy="960120"/>
          </a:xfrm>
          <a:prstGeom prst="roundRect">
            <a:avLst>
              <a:gd name="adj" fmla="val 7619"/>
            </a:avLst>
          </a:prstGeom>
          <a:solidFill>
            <a:srgbClr val="FFFFFF"/>
          </a:solidFill>
          <a:ln w="9525">
            <a:solidFill>
              <a:srgbClr val="DCE1E7"/>
            </a:solidFill>
            <a:prstDash val="solid"/>
          </a:ln>
        </p:spPr>
      </p:sp>
      <p:sp>
        <p:nvSpPr>
          <p:cNvPr id="18" name="Shape 12"/>
          <p:cNvSpPr/>
          <p:nvPr/>
        </p:nvSpPr>
        <p:spPr>
          <a:xfrm>
            <a:off x="4805172" y="2514600"/>
            <a:ext cx="384048" cy="384048"/>
          </a:xfrm>
          <a:prstGeom prst="ellipse">
            <a:avLst/>
          </a:prstGeom>
          <a:solidFill>
            <a:srgbClr val="E3F4F1"/>
          </a:solidFill>
          <a:ln w="12700">
            <a:solidFill>
              <a:srgbClr val="E3F4F1"/>
            </a:solidFill>
            <a:prstDash val="solid"/>
          </a:ln>
        </p:spPr>
      </p:sp>
      <p:pic>
        <p:nvPicPr>
          <p:cNvPr id="19" name="Image 3" descr="preencoded.png">    </p:cNvPr>
          <p:cNvPicPr>
            <a:picLocks noChangeAspect="1"/>
          </p:cNvPicPr>
          <p:nvPr/>
        </p:nvPicPr>
        <p:blipFill>
          <a:blip r:embed="rId4"/>
          <a:stretch>
            <a:fillRect/>
          </a:stretch>
        </p:blipFill>
        <p:spPr>
          <a:xfrm>
            <a:off x="4897344" y="2606772"/>
            <a:ext cx="199705" cy="199705"/>
          </a:xfrm>
          <a:prstGeom prst="rect">
            <a:avLst/>
          </a:prstGeom>
        </p:spPr>
      </p:pic>
      <p:sp>
        <p:nvSpPr>
          <p:cNvPr id="20" name="Text 13"/>
          <p:cNvSpPr txBox="1"/>
          <p:nvPr/>
        </p:nvSpPr>
        <p:spPr>
          <a:xfrm>
            <a:off x="53538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Past job,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Converts to credits. New customers only.</a:t>
            </a:r>
            <a:endParaRPr lang="en-US" sz="1200" dirty="0"/>
          </a:p>
        </p:txBody>
      </p:sp>
      <p:sp>
        <p:nvSpPr>
          <p:cNvPr id="21" name="Shape 14"/>
          <p:cNvSpPr/>
          <p:nvPr/>
        </p:nvSpPr>
        <p:spPr>
          <a:xfrm>
            <a:off x="411480" y="3337560"/>
            <a:ext cx="4091940" cy="960120"/>
          </a:xfrm>
          <a:prstGeom prst="roundRect">
            <a:avLst>
              <a:gd name="adj" fmla="val 7619"/>
            </a:avLst>
          </a:prstGeom>
          <a:solidFill>
            <a:srgbClr val="FFFFFF"/>
          </a:solidFill>
          <a:ln w="9525">
            <a:solidFill>
              <a:srgbClr val="DCE1E7"/>
            </a:solidFill>
            <a:prstDash val="solid"/>
          </a:ln>
        </p:spPr>
      </p:sp>
      <p:sp>
        <p:nvSpPr>
          <p:cNvPr id="22" name="Shape 15"/>
          <p:cNvSpPr/>
          <p:nvPr/>
        </p:nvSpPr>
        <p:spPr>
          <a:xfrm>
            <a:off x="576072" y="3611880"/>
            <a:ext cx="384048" cy="384048"/>
          </a:xfrm>
          <a:prstGeom prst="ellipse">
            <a:avLst/>
          </a:prstGeom>
          <a:solidFill>
            <a:srgbClr val="E3F4F1"/>
          </a:solidFill>
          <a:ln w="12700">
            <a:solidFill>
              <a:srgbClr val="E3F4F1"/>
            </a:solidFill>
            <a:prstDash val="solid"/>
          </a:ln>
        </p:spPr>
      </p:sp>
      <p:pic>
        <p:nvPicPr>
          <p:cNvPr id="23" name="Image 4" descr="preencoded.png">    </p:cNvPr>
          <p:cNvPicPr>
            <a:picLocks noChangeAspect="1"/>
          </p:cNvPicPr>
          <p:nvPr/>
        </p:nvPicPr>
        <p:blipFill>
          <a:blip r:embed="rId5"/>
          <a:stretch>
            <a:fillRect/>
          </a:stretch>
        </p:blipFill>
        <p:spPr>
          <a:xfrm>
            <a:off x="668244" y="3704052"/>
            <a:ext cx="199705" cy="199705"/>
          </a:xfrm>
          <a:prstGeom prst="rect">
            <a:avLst/>
          </a:prstGeom>
        </p:spPr>
      </p:pic>
      <p:sp>
        <p:nvSpPr>
          <p:cNvPr id="24" name="Text 16"/>
          <p:cNvSpPr txBox="1"/>
          <p:nvPr/>
        </p:nvSpPr>
        <p:spPr>
          <a:xfrm>
            <a:off x="11247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Groupon, then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Allowed. DHJ is applied first.</a:t>
            </a:r>
            <a:endParaRPr lang="en-US" sz="1200" dirty="0"/>
          </a:p>
        </p:txBody>
      </p:sp>
      <p:sp>
        <p:nvSpPr>
          <p:cNvPr id="25" name="Shape 17"/>
          <p:cNvSpPr/>
          <p:nvPr/>
        </p:nvSpPr>
        <p:spPr>
          <a:xfrm>
            <a:off x="4640580" y="3337560"/>
            <a:ext cx="4091940" cy="960120"/>
          </a:xfrm>
          <a:prstGeom prst="roundRect">
            <a:avLst>
              <a:gd name="adj" fmla="val 7619"/>
            </a:avLst>
          </a:prstGeom>
          <a:solidFill>
            <a:srgbClr val="FFFFFF"/>
          </a:solidFill>
          <a:ln w="9525">
            <a:solidFill>
              <a:srgbClr val="DCE1E7"/>
            </a:solidFill>
            <a:prstDash val="solid"/>
          </a:ln>
        </p:spPr>
      </p:sp>
      <p:sp>
        <p:nvSpPr>
          <p:cNvPr id="26" name="Shape 18"/>
          <p:cNvSpPr/>
          <p:nvPr/>
        </p:nvSpPr>
        <p:spPr>
          <a:xfrm>
            <a:off x="4805172" y="3611880"/>
            <a:ext cx="384048" cy="384048"/>
          </a:xfrm>
          <a:prstGeom prst="ellipse">
            <a:avLst/>
          </a:prstGeom>
          <a:solidFill>
            <a:srgbClr val="E3F4F1"/>
          </a:solidFill>
          <a:ln w="12700">
            <a:solidFill>
              <a:srgbClr val="E3F4F1"/>
            </a:solidFill>
            <a:prstDash val="solid"/>
          </a:ln>
        </p:spPr>
      </p:sp>
      <p:pic>
        <p:nvPicPr>
          <p:cNvPr id="27" name="Image 5" descr="preencoded.png">    </p:cNvPr>
          <p:cNvPicPr>
            <a:picLocks noChangeAspect="1"/>
          </p:cNvPicPr>
          <p:nvPr/>
        </p:nvPicPr>
        <p:blipFill>
          <a:blip r:embed="rId6"/>
          <a:stretch>
            <a:fillRect/>
          </a:stretch>
        </p:blipFill>
        <p:spPr>
          <a:xfrm>
            <a:off x="4897344" y="3704052"/>
            <a:ext cx="199705" cy="199705"/>
          </a:xfrm>
          <a:prstGeom prst="rect">
            <a:avLst/>
          </a:prstGeom>
        </p:spPr>
      </p:pic>
      <p:sp>
        <p:nvSpPr>
          <p:cNvPr id="28" name="Text 19"/>
          <p:cNvSpPr txBox="1"/>
          <p:nvPr/>
        </p:nvSpPr>
        <p:spPr>
          <a:xfrm>
            <a:off x="53538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Possible for some active or deactivated FC customers.</a:t>
            </a:r>
            <a:endParaRPr lang="en-US" sz="1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Non-Logged-In Visitor Tickets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Someone used an existing customer's email, but wasn't logged in.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ticket looks like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it's a security checkpoint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respond</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3/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new CRM flags these tickets for you.</a:t>
            </a:r>
            <a:endParaRPr lang="en-US" sz="1200" dirty="0"/>
          </a:p>
        </p:txBody>
      </p:sp>
      <p:sp>
        <p:nvSpPr>
          <p:cNvPr id="6" name="Shape 3"/>
          <p:cNvSpPr/>
          <p:nvPr/>
        </p:nvSpPr>
        <p:spPr>
          <a:xfrm>
            <a:off x="411480" y="1325880"/>
            <a:ext cx="8321040" cy="1508760"/>
          </a:xfrm>
          <a:prstGeom prst="roundRect">
            <a:avLst>
              <a:gd name="adj" fmla="val 4848"/>
            </a:avLst>
          </a:prstGeom>
          <a:solidFill>
            <a:srgbClr val="FFFFFF"/>
          </a:solidFill>
          <a:ln w="9525">
            <a:solidFill>
              <a:srgbClr val="DCE1E7"/>
            </a:solidFill>
            <a:prstDash val="solid"/>
          </a:ln>
        </p:spPr>
      </p:sp>
      <p:pic>
        <p:nvPicPr>
          <p:cNvPr id="7" name="Image 0" descr="/tmp/claude-0/-workspace-training/3ce5cff6-cccf-5f33-b0ee-0b147a55120e/scratchpad/img3/ticket_nonlogged.png">    </p:cNvPr>
          <p:cNvPicPr>
            <a:picLocks noChangeAspect="1"/>
          </p:cNvPicPr>
          <p:nvPr/>
        </p:nvPicPr>
        <p:blipFill>
          <a:blip r:embed="rId1"/>
          <a:stretch>
            <a:fillRect/>
          </a:stretch>
        </p:blipFill>
        <p:spPr>
          <a:xfrm>
            <a:off x="484632" y="1437303"/>
            <a:ext cx="8174736" cy="1285914"/>
          </a:xfrm>
          <a:prstGeom prst="rect">
            <a:avLst/>
          </a:prstGeom>
        </p:spPr>
      </p:pic>
      <p:sp>
        <p:nvSpPr>
          <p:cNvPr id="8" name="Shape 4"/>
          <p:cNvSpPr/>
          <p:nvPr/>
        </p:nvSpPr>
        <p:spPr>
          <a:xfrm>
            <a:off x="2792388" y="1483229"/>
            <a:ext cx="2204423" cy="298516"/>
          </a:xfrm>
          <a:prstGeom prst="roundRect">
            <a:avLst>
              <a:gd name="adj" fmla="val 9189"/>
            </a:avLst>
          </a:prstGeom>
          <a:ln w="25400">
            <a:solidFill>
              <a:srgbClr val="0B7A6F"/>
            </a:solidFill>
            <a:prstDash val="solid"/>
          </a:ln>
        </p:spPr>
      </p:sp>
      <p:sp>
        <p:nvSpPr>
          <p:cNvPr id="9" name="Shape 5"/>
          <p:cNvSpPr/>
          <p:nvPr/>
        </p:nvSpPr>
        <p:spPr>
          <a:xfrm>
            <a:off x="2691804" y="13826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2691804" y="13826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10927" y="1839151"/>
            <a:ext cx="7910664" cy="332960"/>
          </a:xfrm>
          <a:prstGeom prst="roundRect">
            <a:avLst>
              <a:gd name="adj" fmla="val 8239"/>
            </a:avLst>
          </a:prstGeom>
          <a:ln w="25400">
            <a:solidFill>
              <a:srgbClr val="0B7A6F"/>
            </a:solidFill>
            <a:prstDash val="solid"/>
          </a:ln>
        </p:spPr>
      </p:sp>
      <p:sp>
        <p:nvSpPr>
          <p:cNvPr id="12" name="Shape 8"/>
          <p:cNvSpPr/>
          <p:nvPr/>
        </p:nvSpPr>
        <p:spPr>
          <a:xfrm>
            <a:off x="510343" y="1738567"/>
            <a:ext cx="201168" cy="201168"/>
          </a:xfrm>
          <a:prstGeom prst="ellipse">
            <a:avLst/>
          </a:prstGeom>
          <a:solidFill>
            <a:srgbClr val="0B7A6F"/>
          </a:solidFill>
          <a:ln w="12700">
            <a:solidFill>
              <a:srgbClr val="FFFFFF"/>
            </a:solidFill>
            <a:prstDash val="solid"/>
          </a:ln>
        </p:spPr>
      </p:sp>
      <p:sp>
        <p:nvSpPr>
          <p:cNvPr id="13" name="Text 9"/>
          <p:cNvSpPr txBox="1"/>
          <p:nvPr/>
        </p:nvSpPr>
        <p:spPr>
          <a:xfrm>
            <a:off x="510343" y="173856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610927" y="2252481"/>
            <a:ext cx="3605150" cy="218146"/>
          </a:xfrm>
          <a:prstGeom prst="roundRect">
            <a:avLst>
              <a:gd name="adj" fmla="val 12575"/>
            </a:avLst>
          </a:prstGeom>
          <a:ln w="25400">
            <a:solidFill>
              <a:srgbClr val="0B7A6F"/>
            </a:solidFill>
            <a:prstDash val="solid"/>
          </a:ln>
        </p:spPr>
      </p:sp>
      <p:sp>
        <p:nvSpPr>
          <p:cNvPr id="15" name="Shape 11"/>
          <p:cNvSpPr/>
          <p:nvPr/>
        </p:nvSpPr>
        <p:spPr>
          <a:xfrm>
            <a:off x="510343" y="2151897"/>
            <a:ext cx="201168" cy="201168"/>
          </a:xfrm>
          <a:prstGeom prst="ellipse">
            <a:avLst/>
          </a:prstGeom>
          <a:solidFill>
            <a:srgbClr val="0B7A6F"/>
          </a:solidFill>
          <a:ln w="12700">
            <a:solidFill>
              <a:srgbClr val="FFFFFF"/>
            </a:solidFill>
            <a:prstDash val="solid"/>
          </a:ln>
        </p:spPr>
      </p:sp>
      <p:sp>
        <p:nvSpPr>
          <p:cNvPr id="16" name="Text 12"/>
          <p:cNvSpPr txBox="1"/>
          <p:nvPr/>
        </p:nvSpPr>
        <p:spPr>
          <a:xfrm>
            <a:off x="510343" y="215189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411480" y="3017520"/>
            <a:ext cx="2697480" cy="566928"/>
          </a:xfrm>
          <a:prstGeom prst="roundRect">
            <a:avLst>
              <a:gd name="adj" fmla="val 12903"/>
            </a:avLst>
          </a:prstGeom>
          <a:solidFill>
            <a:srgbClr val="FFFFFF"/>
          </a:solidFill>
          <a:ln w="9525">
            <a:solidFill>
              <a:srgbClr val="DCE1E7"/>
            </a:solidFill>
            <a:prstDash val="solid"/>
          </a:ln>
        </p:spPr>
      </p:sp>
      <p:sp>
        <p:nvSpPr>
          <p:cNvPr id="18" name="Shape 14"/>
          <p:cNvSpPr/>
          <p:nvPr/>
        </p:nvSpPr>
        <p:spPr>
          <a:xfrm>
            <a:off x="539496" y="3172968"/>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Triggered ticket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Came in from the Help Center</a:t>
            </a:r>
            <a:endParaRPr lang="en-US" sz="1050" dirty="0"/>
          </a:p>
        </p:txBody>
      </p:sp>
      <p:sp>
        <p:nvSpPr>
          <p:cNvPr id="21" name="Shape 17"/>
          <p:cNvSpPr/>
          <p:nvPr/>
        </p:nvSpPr>
        <p:spPr>
          <a:xfrm>
            <a:off x="3227832" y="3017520"/>
            <a:ext cx="2697480" cy="566928"/>
          </a:xfrm>
          <a:prstGeom prst="roundRect">
            <a:avLst>
              <a:gd name="adj" fmla="val 12903"/>
            </a:avLst>
          </a:prstGeom>
          <a:solidFill>
            <a:srgbClr val="FFFFFF"/>
          </a:solidFill>
          <a:ln w="9525">
            <a:solidFill>
              <a:srgbClr val="DCE1E7"/>
            </a:solidFill>
            <a:prstDash val="solid"/>
          </a:ln>
        </p:spPr>
      </p:sp>
      <p:sp>
        <p:nvSpPr>
          <p:cNvPr id="22" name="Shape 18"/>
          <p:cNvSpPr/>
          <p:nvPr/>
        </p:nvSpPr>
        <p:spPr>
          <a:xfrm>
            <a:off x="3355848" y="3172968"/>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355848"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730752"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System note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Sender wasn't logged in</a:t>
            </a:r>
            <a:endParaRPr lang="en-US" sz="1050" dirty="0"/>
          </a:p>
        </p:txBody>
      </p:sp>
      <p:sp>
        <p:nvSpPr>
          <p:cNvPr id="25" name="Shape 21"/>
          <p:cNvSpPr/>
          <p:nvPr/>
        </p:nvSpPr>
        <p:spPr>
          <a:xfrm>
            <a:off x="6035040" y="3017520"/>
            <a:ext cx="2697480" cy="566928"/>
          </a:xfrm>
          <a:prstGeom prst="roundRect">
            <a:avLst>
              <a:gd name="adj" fmla="val 12903"/>
            </a:avLst>
          </a:prstGeom>
          <a:solidFill>
            <a:srgbClr val="FFFFFF"/>
          </a:solidFill>
          <a:ln w="9525">
            <a:solidFill>
              <a:srgbClr val="DCE1E7"/>
            </a:solidFill>
            <a:prstDash val="solid"/>
          </a:ln>
        </p:spPr>
      </p:sp>
      <p:sp>
        <p:nvSpPr>
          <p:cNvPr id="26" name="Shape 22"/>
          <p:cNvSpPr/>
          <p:nvPr/>
        </p:nvSpPr>
        <p:spPr>
          <a:xfrm>
            <a:off x="6163056" y="3172968"/>
            <a:ext cx="256032" cy="256032"/>
          </a:xfrm>
          <a:prstGeom prst="ellipse">
            <a:avLst/>
          </a:prstGeom>
          <a:solidFill>
            <a:srgbClr val="0B7A6F"/>
          </a:solidFill>
          <a:ln w="12700">
            <a:solidFill>
              <a:srgbClr val="0B7A6F"/>
            </a:solidFill>
            <a:prstDash val="solid"/>
          </a:ln>
        </p:spPr>
      </p:sp>
      <p:sp>
        <p:nvSpPr>
          <p:cNvPr id="27" name="Text 23"/>
          <p:cNvSpPr txBox="1"/>
          <p:nvPr/>
        </p:nvSpPr>
        <p:spPr>
          <a:xfrm>
            <a:off x="616305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53796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Their message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What the visitor is asking</a:t>
            </a:r>
            <a:endParaRPr lang="en-US" sz="1050" dirty="0"/>
          </a:p>
        </p:txBody>
      </p:sp>
      <p:sp>
        <p:nvSpPr>
          <p:cNvPr id="29" name="Shape 25"/>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66928" y="3904488"/>
            <a:ext cx="164592" cy="164592"/>
          </a:xfrm>
          <a:prstGeom prst="rect">
            <a:avLst/>
          </a:prstGeom>
        </p:spPr>
      </p:pic>
      <p:sp>
        <p:nvSpPr>
          <p:cNvPr id="31" name="Text 26"/>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a matching email isn't proof. Anyone can type an email into a form.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 matters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is a security and privacy checkpoint, not a routine ticket.</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Anyone can type an email</a:t>
            </a:r>
            <a:endParaRPr lang="en-US" sz="1200" dirty="0"/>
          </a:p>
        </p:txBody>
      </p:sp>
      <p:sp>
        <p:nvSpPr>
          <p:cNvPr id="10" name="Text 6"/>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match doesn't mean it's the account owner.</a:t>
            </a:r>
            <a:endParaRPr lang="en-US" sz="950" dirty="0"/>
          </a:p>
        </p:txBody>
      </p:sp>
      <p:sp>
        <p:nvSpPr>
          <p:cNvPr id="11" name="Shape 7"/>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15196"/>
            <a:ext cx="171176" cy="171176"/>
          </a:xfrm>
          <a:prstGeom prst="rect">
            <a:avLst/>
          </a:prstGeom>
        </p:spPr>
      </p:pic>
      <p:sp>
        <p:nvSpPr>
          <p:cNvPr id="14" name="Text 9"/>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Wrong person, real data</a:t>
            </a:r>
            <a:endParaRPr lang="en-US" sz="1200" dirty="0"/>
          </a:p>
        </p:txBody>
      </p:sp>
      <p:sp>
        <p:nvSpPr>
          <p:cNvPr id="15" name="Text 10"/>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Replying to the wrong person exposes the account.</a:t>
            </a:r>
            <a:endParaRPr lang="en-US" sz="950" dirty="0"/>
          </a:p>
        </p:txBody>
      </p:sp>
      <p:sp>
        <p:nvSpPr>
          <p:cNvPr id="16" name="Shape 11"/>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3619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15196"/>
            <a:ext cx="171176" cy="171176"/>
          </a:xfrm>
          <a:prstGeom prst="rect">
            <a:avLst/>
          </a:prstGeom>
        </p:spPr>
      </p:pic>
      <p:sp>
        <p:nvSpPr>
          <p:cNvPr id="19" name="Text 13"/>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first</a:t>
            </a:r>
            <a:endParaRPr lang="en-US" sz="1200" dirty="0"/>
          </a:p>
        </p:txBody>
      </p:sp>
      <p:sp>
        <p:nvSpPr>
          <p:cNvPr id="20" name="Text 14"/>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Confirm who you're talking to before you share anything.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respond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first. What you find decides your reply.</a:t>
            </a:r>
            <a:endParaRPr lang="en-US" sz="1200" dirty="0"/>
          </a:p>
        </p:txBody>
      </p:sp>
      <p:sp>
        <p:nvSpPr>
          <p:cNvPr id="6" name="Shape 3"/>
          <p:cNvSpPr/>
          <p:nvPr/>
        </p:nvSpPr>
        <p:spPr>
          <a:xfrm>
            <a:off x="411480" y="1325880"/>
            <a:ext cx="8321040" cy="566928"/>
          </a:xfrm>
          <a:prstGeom prst="roundRect">
            <a:avLst>
              <a:gd name="adj" fmla="val 12903"/>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21792" y="1490472"/>
            <a:ext cx="237744" cy="237744"/>
          </a:xfrm>
          <a:prstGeom prst="rect">
            <a:avLst/>
          </a:prstGeom>
        </p:spPr>
      </p:pic>
      <p:sp>
        <p:nvSpPr>
          <p:cNvPr id="8" name="Text 4"/>
          <p:cNvSpPr txBox="1"/>
          <p:nvPr/>
        </p:nvSpPr>
        <p:spPr>
          <a:xfrm>
            <a:off x="987552" y="1325880"/>
            <a:ext cx="7589520"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First, check the account:  </a:t>
            </a:r>
            <a:pPr indent="0" marL="0">
              <a:buNone/>
            </a:pPr>
            <a:r>
              <a:rPr lang="en-US" sz="1150" dirty="0">
                <a:solidFill>
                  <a:srgbClr val="FFFFFF"/>
                </a:solidFill>
                <a:latin typeface="SF Pro Text" pitchFamily="34" charset="0"/>
                <a:ea typeface="SF Pro Text" pitchFamily="34" charset="-122"/>
                <a:cs typeface="SF Pro Text" pitchFamily="34" charset="-120"/>
              </a:rPr>
              <a:t>recent jobs, address, and whether their issue matches what's on file.</a:t>
            </a:r>
            <a:endParaRPr lang="en-US" sz="1150" dirty="0"/>
          </a:p>
        </p:txBody>
      </p:sp>
      <p:sp>
        <p:nvSpPr>
          <p:cNvPr id="9" name="Shape 5"/>
          <p:cNvSpPr/>
          <p:nvPr/>
        </p:nvSpPr>
        <p:spPr>
          <a:xfrm>
            <a:off x="411480" y="2057400"/>
            <a:ext cx="2682240" cy="1828800"/>
          </a:xfrm>
          <a:prstGeom prst="roundRect">
            <a:avLst>
              <a:gd name="adj" fmla="val 4000"/>
            </a:avLst>
          </a:prstGeom>
          <a:solidFill>
            <a:srgbClr val="FFFFFF"/>
          </a:solidFill>
          <a:ln w="9525">
            <a:solidFill>
              <a:srgbClr val="DCE1E7"/>
            </a:solidFill>
            <a:prstDash val="solid"/>
          </a:ln>
        </p:spPr>
      </p:sp>
      <p:sp>
        <p:nvSpPr>
          <p:cNvPr id="10" name="Shape 6"/>
          <p:cNvSpPr/>
          <p:nvPr/>
        </p:nvSpPr>
        <p:spPr>
          <a:xfrm>
            <a:off x="576072" y="2221992"/>
            <a:ext cx="329184" cy="329184"/>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55076" y="2300996"/>
            <a:ext cx="171176" cy="171176"/>
          </a:xfrm>
          <a:prstGeom prst="rect">
            <a:avLst/>
          </a:prstGeom>
        </p:spPr>
      </p:pic>
      <p:sp>
        <p:nvSpPr>
          <p:cNvPr id="12" name="Text 7"/>
          <p:cNvSpPr txBox="1"/>
          <p:nvPr/>
        </p:nvSpPr>
        <p:spPr>
          <a:xfrm>
            <a:off x="5760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Details match</a:t>
            </a:r>
            <a:endParaRPr lang="en-US" sz="1200" dirty="0"/>
          </a:p>
        </p:txBody>
      </p:sp>
      <p:sp>
        <p:nvSpPr>
          <p:cNvPr id="13" name="Text 8"/>
          <p:cNvSpPr txBox="1"/>
          <p:nvPr/>
        </p:nvSpPr>
        <p:spPr>
          <a:xfrm>
            <a:off x="5760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Proceed as normal. No extra hoops for a verified customer.</a:t>
            </a:r>
            <a:endParaRPr lang="en-US" sz="950" dirty="0"/>
          </a:p>
        </p:txBody>
      </p:sp>
      <p:sp>
        <p:nvSpPr>
          <p:cNvPr id="14" name="Shape 9"/>
          <p:cNvSpPr/>
          <p:nvPr/>
        </p:nvSpPr>
        <p:spPr>
          <a:xfrm>
            <a:off x="3230880" y="2057400"/>
            <a:ext cx="2682240" cy="1828800"/>
          </a:xfrm>
          <a:prstGeom prst="roundRect">
            <a:avLst>
              <a:gd name="adj" fmla="val 4000"/>
            </a:avLst>
          </a:prstGeom>
          <a:solidFill>
            <a:srgbClr val="FFFFFF"/>
          </a:solidFill>
          <a:ln w="9525">
            <a:solidFill>
              <a:srgbClr val="DCE1E7"/>
            </a:solidFill>
            <a:prstDash val="solid"/>
          </a:ln>
        </p:spPr>
      </p:sp>
      <p:sp>
        <p:nvSpPr>
          <p:cNvPr id="15" name="Shape 10"/>
          <p:cNvSpPr/>
          <p:nvPr/>
        </p:nvSpPr>
        <p:spPr>
          <a:xfrm>
            <a:off x="3395472" y="22219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3474476" y="2300996"/>
            <a:ext cx="171176" cy="171176"/>
          </a:xfrm>
          <a:prstGeom prst="rect">
            <a:avLst/>
          </a:prstGeom>
        </p:spPr>
      </p:pic>
      <p:sp>
        <p:nvSpPr>
          <p:cNvPr id="17" name="Text 11"/>
          <p:cNvSpPr txBox="1"/>
          <p:nvPr/>
        </p:nvSpPr>
        <p:spPr>
          <a:xfrm>
            <a:off x="33954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Can't tell</a:t>
            </a:r>
            <a:endParaRPr lang="en-US" sz="1200" dirty="0"/>
          </a:p>
        </p:txBody>
      </p:sp>
      <p:sp>
        <p:nvSpPr>
          <p:cNvPr id="18" name="Text 12"/>
          <p:cNvSpPr txBox="1"/>
          <p:nvPr/>
        </p:nvSpPr>
        <p:spPr>
          <a:xfrm>
            <a:off x="33954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 generically. Ask them to log in, or share a couple of identifying details.</a:t>
            </a:r>
            <a:endParaRPr lang="en-US" sz="950" dirty="0"/>
          </a:p>
        </p:txBody>
      </p:sp>
      <p:sp>
        <p:nvSpPr>
          <p:cNvPr id="19" name="Shape 13"/>
          <p:cNvSpPr/>
          <p:nvPr/>
        </p:nvSpPr>
        <p:spPr>
          <a:xfrm>
            <a:off x="6050280" y="2057400"/>
            <a:ext cx="2682240" cy="1828800"/>
          </a:xfrm>
          <a:prstGeom prst="roundRect">
            <a:avLst>
              <a:gd name="adj" fmla="val 4000"/>
            </a:avLst>
          </a:prstGeom>
          <a:solidFill>
            <a:srgbClr val="FFFFFF"/>
          </a:solidFill>
          <a:ln w="9525">
            <a:solidFill>
              <a:srgbClr val="DCE1E7"/>
            </a:solidFill>
            <a:prstDash val="solid"/>
          </a:ln>
        </p:spPr>
      </p:sp>
      <p:sp>
        <p:nvSpPr>
          <p:cNvPr id="20" name="Shape 14"/>
          <p:cNvSpPr/>
          <p:nvPr/>
        </p:nvSpPr>
        <p:spPr>
          <a:xfrm>
            <a:off x="6214872" y="2221992"/>
            <a:ext cx="329184" cy="329184"/>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6293876" y="2300996"/>
            <a:ext cx="171176" cy="171176"/>
          </a:xfrm>
          <a:prstGeom prst="rect">
            <a:avLst/>
          </a:prstGeom>
        </p:spPr>
      </p:pic>
      <p:sp>
        <p:nvSpPr>
          <p:cNvPr id="22" name="Text 15"/>
          <p:cNvSpPr txBox="1"/>
          <p:nvPr/>
        </p:nvSpPr>
        <p:spPr>
          <a:xfrm>
            <a:off x="62148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Clearly not them</a:t>
            </a:r>
            <a:endParaRPr lang="en-US" sz="1200" dirty="0"/>
          </a:p>
        </p:txBody>
      </p:sp>
      <p:sp>
        <p:nvSpPr>
          <p:cNvPr id="23" name="Text 16"/>
          <p:cNvSpPr txBox="1"/>
          <p:nvPr/>
        </p:nvSpPr>
        <p:spPr>
          <a:xfrm>
            <a:off x="62148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unverified. Share nothing about the account.</a:t>
            </a:r>
            <a:endParaRPr lang="en-US" sz="950" dirty="0"/>
          </a:p>
        </p:txBody>
      </p:sp>
      <p:sp>
        <p:nvSpPr>
          <p:cNvPr id="24" name="Shape 17"/>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4178808"/>
            <a:ext cx="164592" cy="164592"/>
          </a:xfrm>
          <a:prstGeom prst="rect">
            <a:avLst/>
          </a:prstGeom>
        </p:spPr>
      </p:pic>
      <p:sp>
        <p:nvSpPr>
          <p:cNvPr id="26" name="Text 18"/>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Until verified:  </a:t>
            </a:r>
            <a:pPr indent="0" marL="0">
              <a:buNone/>
            </a:pPr>
            <a:r>
              <a:rPr lang="en-US" sz="1000" dirty="0">
                <a:solidFill>
                  <a:srgbClr val="1D1D1F"/>
                </a:solidFill>
                <a:latin typeface="SF Pro Text" pitchFamily="34" charset="0"/>
                <a:ea typeface="SF Pro Text" pitchFamily="34" charset="-122"/>
                <a:cs typeface="SF Pro Text" pitchFamily="34" charset="-120"/>
              </a:rPr>
              <a:t>never confirm account details, upcoming appointments or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Max CP Rate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C-facing rate cap: the highest hourly rate a cleaner can claim this customer's jobs at.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cap does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flag before setting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cap behaves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tell the customer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cap does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Set in the legacy CRM: C CRM › Do › Update Max Rate.</a:t>
            </a:r>
            <a:endParaRPr lang="en-US" sz="1200" dirty="0"/>
          </a:p>
        </p:txBody>
      </p:sp>
      <p:sp>
        <p:nvSpPr>
          <p:cNvPr id="6" name="Shape 3"/>
          <p:cNvSpPr/>
          <p:nvPr/>
        </p:nvSpPr>
        <p:spPr>
          <a:xfrm>
            <a:off x="411480" y="1344168"/>
            <a:ext cx="274320" cy="274320"/>
          </a:xfrm>
          <a:prstGeom prst="ellipse">
            <a:avLst/>
          </a:prstGeom>
          <a:solidFill>
            <a:srgbClr val="E3F4F1"/>
          </a:solidFill>
          <a:ln w="12700">
            <a:solidFill>
              <a:srgbClr val="E3F4F1"/>
            </a:solidFill>
            <a:prstDash val="solid"/>
          </a:ln>
        </p:spPr>
      </p:sp>
      <p:sp>
        <p:nvSpPr>
          <p:cNvPr id="7" name="Text 4"/>
          <p:cNvSpPr txBox="1"/>
          <p:nvPr/>
        </p:nvSpPr>
        <p:spPr>
          <a:xfrm>
            <a:off x="4114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8229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Open the customer's legacy C CRM and click Do</a:t>
            </a:r>
            <a:endParaRPr lang="en-US" sz="1050" dirty="0"/>
          </a:p>
        </p:txBody>
      </p:sp>
      <p:sp>
        <p:nvSpPr>
          <p:cNvPr id="9" name="Shape 6"/>
          <p:cNvSpPr/>
          <p:nvPr/>
        </p:nvSpPr>
        <p:spPr>
          <a:xfrm>
            <a:off x="411480" y="1810512"/>
            <a:ext cx="2682240" cy="1600200"/>
          </a:xfrm>
          <a:prstGeom prst="roundRect">
            <a:avLst>
              <a:gd name="adj" fmla="val 4571"/>
            </a:avLst>
          </a:prstGeom>
          <a:solidFill>
            <a:srgbClr val="FFFFFF"/>
          </a:solidFill>
          <a:ln w="9525">
            <a:solidFill>
              <a:srgbClr val="DCE1E7"/>
            </a:solidFill>
            <a:prstDash val="solid"/>
          </a:ln>
        </p:spPr>
      </p:sp>
      <p:pic>
        <p:nvPicPr>
          <p:cNvPr id="10" name="Image 0" descr="/tmp/claude-0/-workspace-training/3ce5cff6-cccf-5f33-b0ee-0b147a55120e/scratchpad/img3/maxrate_do_btn.png">    </p:cNvPr>
          <p:cNvPicPr>
            <a:picLocks noChangeAspect="1"/>
          </p:cNvPicPr>
          <p:nvPr/>
        </p:nvPicPr>
        <p:blipFill>
          <a:blip r:embed="rId1"/>
          <a:stretch>
            <a:fillRect/>
          </a:stretch>
        </p:blipFill>
        <p:spPr>
          <a:xfrm>
            <a:off x="484632" y="2140756"/>
            <a:ext cx="2535936" cy="939712"/>
          </a:xfrm>
          <a:prstGeom prst="rect">
            <a:avLst/>
          </a:prstGeom>
        </p:spPr>
      </p:pic>
      <p:sp>
        <p:nvSpPr>
          <p:cNvPr id="11" name="Shape 7"/>
          <p:cNvSpPr/>
          <p:nvPr/>
        </p:nvSpPr>
        <p:spPr>
          <a:xfrm>
            <a:off x="1771909" y="2269484"/>
            <a:ext cx="476293" cy="411929"/>
          </a:xfrm>
          <a:prstGeom prst="roundRect">
            <a:avLst>
              <a:gd name="adj" fmla="val 6659"/>
            </a:avLst>
          </a:prstGeom>
          <a:ln w="25400">
            <a:solidFill>
              <a:srgbClr val="0B7A6F"/>
            </a:solidFill>
            <a:prstDash val="solid"/>
          </a:ln>
        </p:spPr>
      </p:sp>
      <p:sp>
        <p:nvSpPr>
          <p:cNvPr id="12" name="Shape 8"/>
          <p:cNvSpPr/>
          <p:nvPr/>
        </p:nvSpPr>
        <p:spPr>
          <a:xfrm>
            <a:off x="1671325" y="2168900"/>
            <a:ext cx="201168" cy="201168"/>
          </a:xfrm>
          <a:prstGeom prst="ellipse">
            <a:avLst/>
          </a:prstGeom>
          <a:solidFill>
            <a:srgbClr val="0B7A6F"/>
          </a:solidFill>
          <a:ln w="12700">
            <a:solidFill>
              <a:srgbClr val="FFFFFF"/>
            </a:solidFill>
            <a:prstDash val="solid"/>
          </a:ln>
        </p:spPr>
      </p:sp>
      <p:sp>
        <p:nvSpPr>
          <p:cNvPr id="13" name="Text 9"/>
          <p:cNvSpPr txBox="1"/>
          <p:nvPr/>
        </p:nvSpPr>
        <p:spPr>
          <a:xfrm>
            <a:off x="1671325" y="216890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4" name="Shape 10"/>
          <p:cNvSpPr/>
          <p:nvPr/>
        </p:nvSpPr>
        <p:spPr>
          <a:xfrm>
            <a:off x="3230880" y="1344168"/>
            <a:ext cx="274320" cy="274320"/>
          </a:xfrm>
          <a:prstGeom prst="ellipse">
            <a:avLst/>
          </a:prstGeom>
          <a:solidFill>
            <a:srgbClr val="E3F4F1"/>
          </a:solidFill>
          <a:ln w="12700">
            <a:solidFill>
              <a:srgbClr val="E3F4F1"/>
            </a:solidFill>
            <a:prstDash val="solid"/>
          </a:ln>
        </p:spPr>
      </p:sp>
      <p:sp>
        <p:nvSpPr>
          <p:cNvPr id="15" name="Text 11"/>
          <p:cNvSpPr txBox="1"/>
          <p:nvPr/>
        </p:nvSpPr>
        <p:spPr>
          <a:xfrm>
            <a:off x="32308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Text 12"/>
          <p:cNvSpPr txBox="1"/>
          <p:nvPr/>
        </p:nvSpPr>
        <p:spPr>
          <a:xfrm>
            <a:off x="36423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Find Max Rate and click Update Max Rate</a:t>
            </a:r>
            <a:endParaRPr lang="en-US" sz="1050" dirty="0"/>
          </a:p>
        </p:txBody>
      </p:sp>
      <p:sp>
        <p:nvSpPr>
          <p:cNvPr id="17" name="Shape 13"/>
          <p:cNvSpPr/>
          <p:nvPr/>
        </p:nvSpPr>
        <p:spPr>
          <a:xfrm>
            <a:off x="3230880" y="1810512"/>
            <a:ext cx="2682240" cy="1600200"/>
          </a:xfrm>
          <a:prstGeom prst="roundRect">
            <a:avLst>
              <a:gd name="adj" fmla="val 4571"/>
            </a:avLst>
          </a:prstGeom>
          <a:solidFill>
            <a:srgbClr val="FFFFFF"/>
          </a:solidFill>
          <a:ln w="9525">
            <a:solidFill>
              <a:srgbClr val="DCE1E7"/>
            </a:solidFill>
            <a:prstDash val="solid"/>
          </a:ln>
        </p:spPr>
      </p:sp>
      <p:pic>
        <p:nvPicPr>
          <p:cNvPr id="18" name="Image 1" descr="/tmp/claude-0/-workspace-training/3ce5cff6-cccf-5f33-b0ee-0b147a55120e/scratchpad/img3/maxrate_do_menu.png">    </p:cNvPr>
          <p:cNvPicPr>
            <a:picLocks noChangeAspect="1"/>
          </p:cNvPicPr>
          <p:nvPr/>
        </p:nvPicPr>
        <p:blipFill>
          <a:blip r:embed="rId2"/>
          <a:stretch>
            <a:fillRect/>
          </a:stretch>
        </p:blipFill>
        <p:spPr>
          <a:xfrm>
            <a:off x="3304032" y="2320442"/>
            <a:ext cx="2535936" cy="580339"/>
          </a:xfrm>
          <a:prstGeom prst="rect">
            <a:avLst/>
          </a:prstGeom>
        </p:spPr>
      </p:pic>
      <p:sp>
        <p:nvSpPr>
          <p:cNvPr id="19" name="Shape 14"/>
          <p:cNvSpPr/>
          <p:nvPr/>
        </p:nvSpPr>
        <p:spPr>
          <a:xfrm>
            <a:off x="3318662" y="2476500"/>
            <a:ext cx="2482291" cy="141427"/>
          </a:xfrm>
          <a:prstGeom prst="roundRect">
            <a:avLst>
              <a:gd name="adj" fmla="val 19397"/>
            </a:avLst>
          </a:prstGeom>
          <a:ln w="25400">
            <a:solidFill>
              <a:srgbClr val="0B7A6F"/>
            </a:solidFill>
            <a:prstDash val="solid"/>
          </a:ln>
        </p:spPr>
      </p:sp>
      <p:sp>
        <p:nvSpPr>
          <p:cNvPr id="20" name="Shape 15"/>
          <p:cNvSpPr/>
          <p:nvPr/>
        </p:nvSpPr>
        <p:spPr>
          <a:xfrm>
            <a:off x="3218078" y="2375916"/>
            <a:ext cx="201168" cy="201168"/>
          </a:xfrm>
          <a:prstGeom prst="ellipse">
            <a:avLst/>
          </a:prstGeom>
          <a:solidFill>
            <a:srgbClr val="0B7A6F"/>
          </a:solidFill>
          <a:ln w="12700">
            <a:solidFill>
              <a:srgbClr val="FFFFFF"/>
            </a:solidFill>
            <a:prstDash val="solid"/>
          </a:ln>
        </p:spPr>
      </p:sp>
      <p:sp>
        <p:nvSpPr>
          <p:cNvPr id="21" name="Text 16"/>
          <p:cNvSpPr txBox="1"/>
          <p:nvPr/>
        </p:nvSpPr>
        <p:spPr>
          <a:xfrm>
            <a:off x="3218078" y="237591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22" name="Shape 17"/>
          <p:cNvSpPr/>
          <p:nvPr/>
        </p:nvSpPr>
        <p:spPr>
          <a:xfrm>
            <a:off x="6050280" y="1344168"/>
            <a:ext cx="274320" cy="274320"/>
          </a:xfrm>
          <a:prstGeom prst="ellipse">
            <a:avLst/>
          </a:prstGeom>
          <a:solidFill>
            <a:srgbClr val="E3F4F1"/>
          </a:solidFill>
          <a:ln w="12700">
            <a:solidFill>
              <a:srgbClr val="E3F4F1"/>
            </a:solidFill>
            <a:prstDash val="solid"/>
          </a:ln>
        </p:spPr>
      </p:sp>
      <p:sp>
        <p:nvSpPr>
          <p:cNvPr id="23" name="Text 18"/>
          <p:cNvSpPr txBox="1"/>
          <p:nvPr/>
        </p:nvSpPr>
        <p:spPr>
          <a:xfrm>
            <a:off x="60502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4" name="Text 19"/>
          <p:cNvSpPr txBox="1"/>
          <p:nvPr/>
        </p:nvSpPr>
        <p:spPr>
          <a:xfrm>
            <a:off x="64617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Enter the hourly cap and click Update Max Rate</a:t>
            </a:r>
            <a:endParaRPr lang="en-US" sz="1050" dirty="0"/>
          </a:p>
        </p:txBody>
      </p:sp>
      <p:sp>
        <p:nvSpPr>
          <p:cNvPr id="25" name="Shape 20"/>
          <p:cNvSpPr/>
          <p:nvPr/>
        </p:nvSpPr>
        <p:spPr>
          <a:xfrm>
            <a:off x="6050280" y="1810512"/>
            <a:ext cx="2682240" cy="1600200"/>
          </a:xfrm>
          <a:prstGeom prst="roundRect">
            <a:avLst>
              <a:gd name="adj" fmla="val 4571"/>
            </a:avLst>
          </a:prstGeom>
          <a:solidFill>
            <a:srgbClr val="FFFFFF"/>
          </a:solidFill>
          <a:ln w="9525">
            <a:solidFill>
              <a:srgbClr val="DCE1E7"/>
            </a:solidFill>
            <a:prstDash val="solid"/>
          </a:ln>
        </p:spPr>
      </p:sp>
      <p:pic>
        <p:nvPicPr>
          <p:cNvPr id="26" name="Image 2" descr="/tmp/claude-0/-workspace-training/3ce5cff6-cccf-5f33-b0ee-0b147a55120e/scratchpad/img3/maxrate_form_crop.png">    </p:cNvPr>
          <p:cNvPicPr>
            <a:picLocks noChangeAspect="1"/>
          </p:cNvPicPr>
          <p:nvPr/>
        </p:nvPicPr>
        <p:blipFill>
          <a:blip r:embed="rId3"/>
          <a:stretch>
            <a:fillRect/>
          </a:stretch>
        </p:blipFill>
        <p:spPr>
          <a:xfrm>
            <a:off x="6123432" y="2010591"/>
            <a:ext cx="2535936" cy="1200041"/>
          </a:xfrm>
          <a:prstGeom prst="rect">
            <a:avLst/>
          </a:prstGeom>
        </p:spPr>
      </p:pic>
      <p:sp>
        <p:nvSpPr>
          <p:cNvPr id="27" name="Shape 21"/>
          <p:cNvSpPr/>
          <p:nvPr/>
        </p:nvSpPr>
        <p:spPr>
          <a:xfrm>
            <a:off x="411480" y="3566160"/>
            <a:ext cx="4091940" cy="777240"/>
          </a:xfrm>
          <a:prstGeom prst="roundRect">
            <a:avLst>
              <a:gd name="adj" fmla="val 9412"/>
            </a:avLst>
          </a:prstGeom>
          <a:solidFill>
            <a:srgbClr val="FFFFFF"/>
          </a:solidFill>
          <a:ln w="9525">
            <a:solidFill>
              <a:srgbClr val="DCE1E7"/>
            </a:solidFill>
            <a:prstDash val="solid"/>
          </a:ln>
        </p:spPr>
      </p:sp>
      <p:sp>
        <p:nvSpPr>
          <p:cNvPr id="28" name="Shape 22"/>
          <p:cNvSpPr/>
          <p:nvPr/>
        </p:nvSpPr>
        <p:spPr>
          <a:xfrm>
            <a:off x="576072" y="3758184"/>
            <a:ext cx="384048" cy="384048"/>
          </a:xfrm>
          <a:prstGeom prst="ellipse">
            <a:avLst/>
          </a:prstGeom>
          <a:solidFill>
            <a:srgbClr val="E3F4F1"/>
          </a:solidFill>
          <a:ln w="12700">
            <a:solidFill>
              <a:srgbClr val="E3F4F1"/>
            </a:solidFill>
            <a:prstDash val="solid"/>
          </a:ln>
        </p:spPr>
      </p:sp>
      <p:pic>
        <p:nvPicPr>
          <p:cNvPr id="29" name="Image 3" descr="preencoded.png">    </p:cNvPr>
          <p:cNvPicPr>
            <a:picLocks noChangeAspect="1"/>
          </p:cNvPicPr>
          <p:nvPr/>
        </p:nvPicPr>
        <p:blipFill>
          <a:blip r:embed="rId4"/>
          <a:stretch>
            <a:fillRect/>
          </a:stretch>
        </p:blipFill>
        <p:spPr>
          <a:xfrm>
            <a:off x="668244" y="3850356"/>
            <a:ext cx="199705" cy="199705"/>
          </a:xfrm>
          <a:prstGeom prst="rect">
            <a:avLst/>
          </a:prstGeom>
        </p:spPr>
      </p:pic>
      <p:sp>
        <p:nvSpPr>
          <p:cNvPr id="30" name="Text 23"/>
          <p:cNvSpPr txBox="1"/>
          <p:nvPr/>
        </p:nvSpPr>
        <p:spPr>
          <a:xfrm>
            <a:off x="1097280" y="3611880"/>
            <a:ext cx="3268980" cy="685800"/>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Protects the customer's wallet</a:t>
            </a:r>
            <a:endParaRPr lang="en-US" sz="1150" dirty="0"/>
          </a:p>
          <a:p>
            <a:pPr indent="0" marL="0">
              <a:buNone/>
            </a:pPr>
            <a:r>
              <a:rPr lang="en-US" sz="950" dirty="0">
                <a:solidFill>
                  <a:srgbClr val="6E6E73"/>
                </a:solidFill>
                <a:latin typeface="SF Pro Text" pitchFamily="34" charset="0"/>
                <a:ea typeface="SF Pro Text" pitchFamily="34" charset="-122"/>
                <a:cs typeface="SF Pro Text" pitchFamily="34" charset="-120"/>
              </a:rPr>
              <a:t>Cleaners above the cap can't claim. New jobs price at or below it.</a:t>
            </a:r>
            <a:endParaRPr lang="en-US" sz="1150" dirty="0"/>
          </a:p>
        </p:txBody>
      </p:sp>
      <p:sp>
        <p:nvSpPr>
          <p:cNvPr id="31" name="Shape 24"/>
          <p:cNvSpPr/>
          <p:nvPr/>
        </p:nvSpPr>
        <p:spPr>
          <a:xfrm>
            <a:off x="4640580" y="3566160"/>
            <a:ext cx="4091940" cy="777240"/>
          </a:xfrm>
          <a:prstGeom prst="roundRect">
            <a:avLst>
              <a:gd name="adj" fmla="val 9412"/>
            </a:avLst>
          </a:prstGeom>
          <a:solidFill>
            <a:srgbClr val="FFFFFF"/>
          </a:solidFill>
          <a:ln w="9525">
            <a:solidFill>
              <a:srgbClr val="DCE1E7"/>
            </a:solidFill>
            <a:prstDash val="solid"/>
          </a:ln>
        </p:spPr>
      </p:sp>
      <p:sp>
        <p:nvSpPr>
          <p:cNvPr id="32" name="Shape 25"/>
          <p:cNvSpPr/>
          <p:nvPr/>
        </p:nvSpPr>
        <p:spPr>
          <a:xfrm>
            <a:off x="4805172" y="3758184"/>
            <a:ext cx="384048" cy="384048"/>
          </a:xfrm>
          <a:prstGeom prst="ellipse">
            <a:avLst/>
          </a:prstGeom>
          <a:solidFill>
            <a:srgbClr val="E3F4F1"/>
          </a:solidFill>
          <a:ln w="12700">
            <a:solidFill>
              <a:srgbClr val="E3F4F1"/>
            </a:solidFill>
            <a:prstDash val="solid"/>
          </a:ln>
        </p:spPr>
      </p:sp>
      <p:pic>
        <p:nvPicPr>
          <p:cNvPr id="33" name="Image 4" descr="preencoded.png">    </p:cNvPr>
          <p:cNvPicPr>
            <a:picLocks noChangeAspect="1"/>
          </p:cNvPicPr>
          <p:nvPr/>
        </p:nvPicPr>
        <p:blipFill>
          <a:blip r:embed="rId5"/>
          <a:stretch>
            <a:fillRect/>
          </a:stretch>
        </p:blipFill>
        <p:spPr>
          <a:xfrm>
            <a:off x="4897344" y="3850356"/>
            <a:ext cx="199705" cy="199705"/>
          </a:xfrm>
          <a:prstGeom prst="rect">
            <a:avLst/>
          </a:prstGeom>
        </p:spPr>
      </p:pic>
      <p:sp>
        <p:nvSpPr>
          <p:cNvPr id="34" name="Text 26"/>
          <p:cNvSpPr txBox="1"/>
          <p:nvPr/>
        </p:nvSpPr>
        <p:spPr>
          <a:xfrm>
            <a:off x="5326380" y="3611880"/>
            <a:ext cx="3268980" cy="685800"/>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Shrinks the cleaner pool</a:t>
            </a:r>
            <a:endParaRPr lang="en-US" sz="1150" dirty="0"/>
          </a:p>
          <a:p>
            <a:pPr indent="0" marL="0">
              <a:buNone/>
            </a:pPr>
            <a:r>
              <a:rPr lang="en-US" sz="950" dirty="0">
                <a:solidFill>
                  <a:srgbClr val="6E6E73"/>
                </a:solidFill>
                <a:latin typeface="SF Pro Text" pitchFamily="34" charset="0"/>
                <a:ea typeface="SF Pro Text" pitchFamily="34" charset="-122"/>
                <a:cs typeface="SF Pro Text" pitchFamily="34" charset="-120"/>
              </a:rPr>
              <a:t>Their current cleaner may be above it. Too low, and jobs go unclaimed.</a:t>
            </a:r>
            <a:endParaRPr lang="en-US" sz="11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set a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Flag these to the customer first.</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They may lose their cleaner</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set their own rates. Theirs may be above the cap.</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Jobs may go unclaimed</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Especially where few cleaners charge that little.</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area first</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 at what cleaners near them charge on their dashboard.</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Typical ask:  </a:t>
            </a:r>
            <a:pPr indent="0" marL="0">
              <a:buNone/>
            </a:pPr>
            <a:r>
              <a:rPr lang="en-US" sz="1000" dirty="0">
                <a:solidFill>
                  <a:srgbClr val="1D1D1F"/>
                </a:solidFill>
                <a:latin typeface="SF Pro Text" pitchFamily="34" charset="0"/>
                <a:ea typeface="SF Pro Text" pitchFamily="34" charset="-122"/>
                <a:cs typeface="SF Pro Text" pitchFamily="34" charset="-120"/>
              </a:rPr>
              <a:t>most customers ask for $19–23/hr. Don't set a number blind.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cap behaves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Several of these aren't what you'd expect.</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1234440"/>
          <a:ext cx="8321040" cy="914400"/>
        </p:xfrm>
        <a:graphic>
          <a:graphicData uri="http://schemas.openxmlformats.org/drawingml/2006/table">
            <a:tbl>
              <a:tblPr/>
              <a:tblGrid>
                <a:gridCol w="2743200"/>
                <a:gridCol w="5577840"/>
              </a:tblGrid>
              <a:tr h="32918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Scenario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happens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Lowering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Immediately lowers the rate on booked future jobs (submitted or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Raising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 nothing to existing jobs. A cap can never raise a rate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reschedules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job keeps its rate. The nightly recalculation can't push it above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New job booked after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Prices at or below the cap automatically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Cleaner tries to claim above 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Can't. The cap blocks the claim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taps Standard / Premium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cap stays in effect either way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Rate set on the Django job page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Admin-locked: skips the cap and the nightly sweep entirely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Charged above the cap?  </a:t>
            </a:r>
            <a:pPr indent="0" marL="0">
              <a:buNone/>
            </a:pPr>
            <a:r>
              <a:rPr lang="en-US" sz="1000" dirty="0">
                <a:solidFill>
                  <a:srgbClr val="1D1D1F"/>
                </a:solidFill>
                <a:latin typeface="SF Pro Text" pitchFamily="34" charset="0"/>
                <a:ea typeface="SF Pro Text" pitchFamily="34" charset="-122"/>
                <a:cs typeface="SF Pro Text" pitchFamily="34" charset="-120"/>
              </a:rPr>
              <a:t>check whether that job's rate was set via Django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tell the customer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After the cap is set.</a:t>
            </a:r>
            <a:endParaRPr lang="en-US" sz="1200" dirty="0"/>
          </a:p>
        </p:txBody>
      </p:sp>
      <p:sp>
        <p:nvSpPr>
          <p:cNvPr id="6" name="Shape 3"/>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Best match</a:t>
            </a:r>
            <a:endParaRPr lang="en-US" sz="1200" dirty="0"/>
          </a:p>
        </p:txBody>
      </p:sp>
      <p:sp>
        <p:nvSpPr>
          <p:cNvPr id="10" name="Text 6"/>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To cleaners at or below their rate. Never "only" or "guaranteed".</a:t>
            </a:r>
            <a:endParaRPr lang="en-US" sz="950" dirty="0"/>
          </a:p>
        </p:txBody>
      </p:sp>
      <p:sp>
        <p:nvSpPr>
          <p:cNvPr id="11" name="Shape 7"/>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Estimate on claim</a:t>
            </a:r>
            <a:endParaRPr lang="en-US" sz="1200" dirty="0"/>
          </a:p>
        </p:txBody>
      </p:sp>
      <p:sp>
        <p:nvSpPr>
          <p:cNvPr id="15" name="Text 10"/>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invoice estimate shows on their dashboard right away.</a:t>
            </a:r>
            <a:endParaRPr lang="en-US" sz="950" dirty="0"/>
          </a:p>
        </p:txBody>
      </p:sp>
      <p:sp>
        <p:nvSpPr>
          <p:cNvPr id="16" name="Shape 11"/>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a:t>
            </a:r>
            <a:endParaRPr lang="en-US" sz="1200" dirty="0"/>
          </a:p>
        </p:txBody>
      </p:sp>
      <p:sp>
        <p:nvSpPr>
          <p:cNvPr id="20" name="Text 14"/>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can request one up to 6 hours before the appointment.</a:t>
            </a:r>
            <a:endParaRPr lang="en-US" sz="950" dirty="0"/>
          </a:p>
        </p:txBody>
      </p:sp>
      <p:sp>
        <p:nvSpPr>
          <p:cNvPr id="21" name="Shape 15"/>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Lowering it?</a:t>
            </a:r>
            <a:endParaRPr lang="en-US" sz="1200" dirty="0"/>
          </a:p>
        </p:txBody>
      </p:sp>
      <p:sp>
        <p:nvSpPr>
          <p:cNvPr id="25" name="Text 18"/>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 can change jobs they've already booked too.</a:t>
            </a:r>
            <a:endParaRPr lang="en-US" sz="950" dirty="0"/>
          </a:p>
        </p:txBody>
      </p:sp>
      <p:sp>
        <p:nvSpPr>
          <p:cNvPr id="26" name="Shape 19"/>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72968"/>
            <a:ext cx="164592" cy="164592"/>
          </a:xfrm>
          <a:prstGeom prst="rect">
            <a:avLst/>
          </a:prstGeom>
        </p:spPr>
      </p:pic>
      <p:sp>
        <p:nvSpPr>
          <p:cNvPr id="28" name="Text 20"/>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Say it plainly:  </a:t>
            </a:r>
            <a:pPr indent="0" marL="0">
              <a:buNone/>
            </a:pPr>
            <a:r>
              <a:rPr lang="en-US" sz="1000" dirty="0">
                <a:solidFill>
                  <a:srgbClr val="1D1D1F"/>
                </a:solidFill>
                <a:latin typeface="SF Pro Text" pitchFamily="34" charset="0"/>
                <a:ea typeface="SF Pro Text" pitchFamily="34" charset="-122"/>
                <a:cs typeface="SF Pro Text" pitchFamily="34" charset="-120"/>
              </a:rPr>
              <a:t>"the highest rate a cleaner can charge for your jobs", not "max CP rate".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2026-10-02T16:05:32Z</dcterms:created>
  <dcterms:modified xsi:type="dcterms:W3CDTF">2026-10-02T16:05:32Z</dcterms:modified>
</cp:coreProperties>
</file>