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Understanding Job History, Callback Handling, C Price vs CP Pay, Vouchers in CRM, Non-Logged-In Visitor Tickets, and Max CP Rate. More topics will be added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times we can't tell the full story of what happened to a job from the C/CP comms alone. The job history records every change made to the job, so we can understand how its status changed and what caused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instances where we cannot tell the full story of what happened to the job if we solely refer to the C/CP comms. The job history records any changes done within the job, so we can understand how the job status changed and what caused it. Check the job history whenever you're investigating a particular job, so you give the correct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customer's page in the New C CRM, every job in the jobs panels (Claimed &amp; Submitted, Completed Jobs and so on) has a small ⓘ icon next to the job ID. Clicking it opens that job's history. Names in the screenshot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each click (on a number or anywhere on the slide) reveals the next column description, 1 to 7, while the job history stays on screen. 1 Job Start: the job start time and date at the time the action was made. 2 Job Start After Action: the job start time after the action was made. 3 Action On: the time the action was taken. 4 Job Status Before Action: the status of the job before the action was taken. 5 Actor: the one who took the action (it can be the C, CP, CS, or system). 6 Action: the action taken on the job; actions are written in a very self-explanatory manner. 7 Comment: logs any essential detail to the action. The first column (ID) is the action ID, mostly used by product or support to edit the action in Django; CS doesn't use it. Names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job history from bottom to top. Dates and times are in CT (Central Time): our system time is CT, and customers may be in a different time zone. The time formula in the upper-left corner of the CRM helps you convert (e.g. PDT -2, MDT -1, CDT 0, EDT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let trainees read the job history first (bottom to top). Then click The Story (or press the right arrow) to reveal the story one line at a time, staying on this slide. Story: On Sept 7, 2026, the system booked a cleaning for C Anjuli Kintanar scheduled for Sept 21 10AM CT through the recurring cleaning plan. On Sept 14, CP Truffle Wuffle claimed the job as scheduled. On Sept 21 9:19AM CT, CP Truffle Wuffle rescheduled the appointment from Sept 21, 10AM CT to Sept 22, 11AM. On Sept 21 9:50 AM CT, CP Truffle Wuffle rescheduled the appointment again from Sept 22, 11AM to Sept 24, 12:30 PM CT. On Sept 24, 4:09 PM CT, CP Truffle Wuffle invoiced the appointment and the system logged it in snapshot.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Open the practice job history during the slideshow using the button (https://www.homeaglow.com/nocm/homeaglow/jobhistory/?job=12685237). Give trainees time to answer, then go through the answers together, row by row from the bottom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have inbound phone support, but outbound calls are a tool we use whenever a customer asks for one, or when something needs an immediate answer (like confirming a double-booking). Category: Platform &amp; Operating Mechanics.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Do: if a customer requests a callback within business hours (8 AM - 8 PM, customer local time), call them right away. No LTV risk or escalation is needed to justify it; the request is enough. Why: the customer's preferred communication method is respected regardless of how serious the ticket looks, and consistent steps (timed reminders, endorsement) keep a promised callback from falling through between shifts. Outbound calls are also used when something needs an immediate answer, like confirming a double-booking.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did the customer request a callback? If not, this article doesn't apply; handle the ticket through normal channels. Step 2: within business hours (8 AM-8 PM customer local time)? Yes: attempt to call. No: address the concern via email and ask for their availability for a callback. Step 3: attempt to call up to 3 times, in this order: Primary CRM, then Google Voice, then Secondary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options at the top right of Customer Information: 1 Callbox with the primary number; 2 GVoice (Google Voice); 3 Callbox with the secondary number (same Callbox button, choose the Secondary Phone in the From list). Call order: Primary CRM, then Google Voice, then Secondary CRM. TRAINER: click Show screens (or press the right arrow) to reveal each screen in order. Important: check the customer's Local Time before making a call (8 AM - 8 PM their time). Customer details are sample training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Answered: attempt to resolve the issue on the call, send an email summary of what was discussed/resolved, and log an internal note about the conversation (calls are not recorded, so the next agents need to know what happened). Not answered: address the concern via email and ask for their availability for a callback. Voicemail: leave a voicemail if applicable, send email + SMS, then apply the 10-minute buffer rule: after sending the SMS, wait 10 minutes and check the ticket again. If the customer replies asking for an immediate callback, call right away, buffer or not. The buffer exists so we don't call back-to-back with no sign the customer has seen our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customer provides availability, create a timed reminder assigned to "Any CS". If you're on shift at the scheduled time: set a calendar reminder and include the ticket link in the invite so you can jump straight back in. If you're not on shift: log the ticket in the Callback Requests Tracker (Google Sheet). This two-path structure keeps a promised callback from getting lost across a shift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 email if outside business hours: "Hi &lt;&lt;Name&gt;&gt;, I'd be happy to hop on a call to discuss this with you. Please let me know what days and times generally work best for this week. In the meantime, I pulled up your account and &lt;&lt;address surface-level issues/resolutions&gt;&gt;. &lt;&lt;If applicable&gt;&gt; Let me know if that fully resolves your concerns! Otherwise, just reply with your availability and I'll get you scheduled." Sample text if a callback attempt was missed: "This is &lt;&lt;Name&gt;&gt; from Homeaglow. I tried calling but it went to voicemail — no worries, I've already addressed your concern over email. If you'd still like to hop on a call, just text me back with your availability and we'll set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customer's price includes platform fees and taxes that don't go to the CP. The CP's pay depends on their own hourly rate and their operating model. Billing disputes are some of the most common tickets, and this is the formula reference behind Overcharged Hours, False Invoice and ETF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price includes platform fees and taxes that don't go to the CP. CP pay depends on the CP's own hourly rate and operating model. Billing disputes are among the most common tickets; this is the formula reference that Overcharged Hours, False Invoice and ETF calculations draw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Non-FC customer: $15.00/hr platform fee, 5% processing fee, sales tax varies by state. FC customer: no platform fee, 15% processing fee, sales tax varies. Deactivated FC customer: $30.00/hr platform fee, 5% processing fee, sales tax varies.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Cleaning Price = (CP Hourly Rate + Platform Hourly Rate) x Job Duration + Processing Fee + Sales Tax + Premium Fee. If the customer has an active voucher, voucher hours are deducted from the job duration before this calculation runs. If they have active credits, those are subtracted from the final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give trainees time to calculate, then click Show Answers (or press the right arrow). Each click reveals one cohort. Working: billable hours = 4 - 1.5 voucher = 2.5. FC: $25 x 2.5 = $62.50; + 15% processing = $71.88; + 8% tax = $77.63; - $12 credits = $65.63. Non-FC: ($25 + $15) x 2.5 = $100.00; + 5% = $105.00; + 8% = $113.40; - $12 = $101.40. Deactivated (cancelled) FC: ($25 + $30) x 2.5 = $137.50; + 5% = $144.38; + 8% = $155.93; - $12 = $143.93.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CA/CAWA: CP's hourly rate x duration + tips + surge bonus, for first-time and repeat clients. General: first-time client (CP's hourly rate - $5.00 match fee) x duration + tips + surge bonus; repeat client CP's hourly rate x duration + tips + surge bonus. Key point: Homeaglow pays the CP directly via direct deposit regardless of whether the customer's own charge succeeds; a failed card, voucher or credits never affects CP pay. Tips: 100% go to the CP. Surge bonus: an extra $1-$50 Homeaglow may pay on certain jobs upon invoicing, positioned to CPs as "Homeaglow is especially busy."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C is a repeat client and books a cleaning for 5 hours. C has a 3-hour cleaning voucher that will be applied to the job. Calculate the total job pay of CP Sarah and CP Gab if the job also has a $12.50 surge bonus and a $10.00 tip. TRAINER: click Show Answers (or press the right arrow); each click reveals one answer, then the key takeaway. Working: the voucher only changes what the customer pays. The CP is paid for all 5 hours (Homeaglow pays the CP regardless of vouchers, credits or failed charges). Sarah (CA/CAWA, repeat rate $28): $28 x 5 = $140 + $12.50 surge + $10 tip = $162.50. Gab (General, repeat client so no $5 match fee): $24 x 5 = $120 + $12.50 + $10 = $142.50.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FC, General, first C/CP pairing: customer pays the CP's rate; the platform fee line is the $5/hr marketing fee deducted from the cleaner's pay, not an extra cost to the customer. FC, General, repeat pairing: nothing. FC, CA/CAWA, CP sets different first and repeat rates: customer pays the higher of the two whichever pairing it is; the line is the difference; the CP is paid their applicable rate and the difference goes to Homeaglow. FC, CA/CAWA, one rate: nothing. Non-FC or deactivated FC: customer pays the max CP rate, not the CP's actual rate; the line is the cohort platform fee ($15/hr non-FC, $30/hr deactivated FC) plus the gap between max rate and the CP's actual rate. Why the models differ: no marketing fee in CA/CAWA (state regulation); in exchange CPs may set separate first-pairing and repeat rates and we charge the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Deactivated-FC customer, max rate $25, claiming CP's rate $15, platform fee shows $40/hr. That is the $30/hr deactivated-FC platform fee plus the $10/hr gap. The charge is correct: do not reprice it and do not refund the difference. Max rate behaves differently by membership: FC customers have a max rate too, but are charged the CP's actual rate; non-FC and deactivated-FC customers are charged the max rate while the CP is paid their own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non-FC customers, pricing follows the highest hourly rate among all the CPs they requested, not whichever CP claims. Example: the customer requests Mona ($25/hr), Cassandra ($30/hr) and Yolanda ($23/hr); the max requested rate is $30/hr. If a requested CP claims (say Mona), the customer is charged Mona's actual rate ($25/hr). If a non-requested CP claims (say Jeff at $18/hr), the customer is still charged $30/hr; Jeff is paid $18/hr and the difference goes to Homeaglow. Why: requesting Cassandra signals willingness to pay her rate, so it becomes their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explaining or refunding any platform-fee line, establish the operating model, the membership status, and whether it is that CP's first job with this customer. Those three answers decide which row of the platform fee table you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Vouchers show up constantly in refund, cancellation and retention tickets. Getting the type wrong leads to real mistakes, like invalidating a voucher that should have been refundable, or telling a customer their gift card triggers a membership when it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Depending on how a customer signed up, they may have paid for it directly (Legacy DHJ), received it automatically when signing up for a membership (FCF), got it through a referral or gift, or received one from Care as a courtesy. Vouchers are the entry point for Legacy DHJ memberships: the customer's first interaction is "I bought a voucher." For FCF it is the reverse: the customer signs up for a membership directly, and the system issues a free DHJ voucher behind the scenes. All new customers move to FCF from August 3, 2026, so most new sign-ups won't have "bought a voucher" from their own perspective, even though a voucher exists on their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Voucher hours are deducted from a cleaning's total hours regardless of the CP's hourly rate. If the customer books longer than the voucher, the extra hours are charged at Homeaglow's standard rate. Customers redeem a voucher at &lt;&lt;Brand Name&gt;&gt;.com/redeem and must enter Zip code, Email and Voucher Code. One voucher per household: we generally allow one paid voucher per household; the system detects a paid voucher on the registered address and blocks another purchase.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each column. Code: the 16-letter redemption code (e.g. ABCD-EFGH-IJKL-MNOP). Merchant: the voucher type, e.g. dhj, dhj_gift, groupon. Price and Hours: what was paid and the voucher duration; free FCF DHJ vouchers have no price. Purchased and Expires. FC and Refund. Use "+ Issue voucher" to issue one, and "View all in legacy CRM" for the full voucher history. In the legacy CRM the voucher sits below the card logo in an orange box; an applied voucher shows a green box with a check mark, job ID and appointment date; canceled, invalidated or expired vouchers are grayed out with the reason next to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Unused (issued or redeemed): assigned to the account and will apply to the next invoiced job, shown in an orange box with duration, type, price and the 16-letter code. Applied (used): a green box with a check mark, the job ID and the appointment date and time. Grayed out: canceled/invalidated (removed through a refund, dispute or admin invalidation), converted (turned into credits equal to the purchase price), or expired. The reason usually appears beside the code. Refunded: refunded to the customer's card on file. Examples on the slide: an unused 3hr DHJ ($19.00) sitting below the card on file; a 3hr DHJ applied to Job 12242911 on 10/31/25 (green tag); a 2hr DHJ ($9.00) grayed out with the reason admin_refund on 5/1/26.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before you invalidate, refund or explain any voucher. DHJ refunds can be done from the C Dashboard if purchased one year ago or less, or from the CRM. A DHJ converts to credits if an unqualified customer tries to redeem a second DHJ. Third-party merchant vouchers convert to credits on expiry. Legacy DHJ is deprecated: all new customers are on the new membership model from August 3, 2026, except those who bought a DHJ before the flip and customers who came from an 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DHJ (new membership model): instead of buying a voucher, the customer signs up for a membership, pays a $19 MF upfront, and the system issues a free 3-hour DHJ voucher with no price indicator in the CRM; the membership is charged when the DHJ is applied to the account. DHJ Gift: shown as dhj_gift on the guest's account; single use (only the first guest can redeem); triggers FC once used; expires in 90 days. Third-party merchant (Groupon, Living Social, Gilt City): expires 90 days after redemption; cannot be split across appointments, and no admin courtesy voucher is issued for unused hours; converts to credits on expiry. CP Offer: up to 30 minutes off from a CP the customer has worked with; claim within 2 days, use within 30 days. Admin Courtesy: issued by CS or the system for refund requests, unworked hours, reviews or retention. Homeaglow Gift Card (since December 2025): a one-time cleaning bought as a gift; does NOT trigger FC and is not tied to the buyer's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Groupon: determine the reason (e.g. no show, cleaning quality) and address it; use the "Refund voucher (groupon)" macro in the comms kit for self-refund instructions; invalidate the voucher, otherwise Groupon may be unable to refund. Second &lt;&lt;BRAND&gt;&gt; voucher: first response, address the reason, encourage them to keep it, and give the self-refund link and instructions; second response, refund via C CRM &gt; Do &gt; Voucher &gt; Refund &gt; 2nd Voucher and let the customer know. Homeaglow Gift Card: first response, address the reason, remind them the card is valid for 2 years and can be gifted later, point them to the purchase confirmation email for the code, and invite them to reach out again; second response, escalate to your department's CSQ sheet so the charge is refunded via Stripe.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1: two Groupon vouchers, the second converts to credits. Scenario 2: Groupon or second brand voucher applied to a shorter job, no admin courtesy voucher for unused hours (unlike DHJ). Scenario 3: DHJ voucher or active FC, then a Groupon, the Groupon converts to credits. Scenario 4: past invoiced job, then a Groupon, converts to credits because third-party vouchers are for new customers only. Scenario 5: Groupon first then DHJ: allowed, so we can convert them to FC; the DHJ is applied first; both can be used on separate appointments. Scenario 6: active FC customers can buy a 2nd DHJ if only one is true: booking address previously serviced by a DHJ, a card tied to a previous DHJ, or a used DHJ on the account. Scenario 7: deactivated FC customers can buy a new DHJ via the /deals page if they have no unused vouchers, no active FC, and none of the flags disputed_stripe_charge_id, customer_disputed_voucher, known_customer_fraud.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Someone submits a ticket, usually via a public contact form or the Help Center, using an email address that already belongs to a registered customer. They haven't logged in, and may not actually be that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1) the Triggered ticket badge and the source (Help Center); 2) the system note: "A non-logged in visitor submitted the below ticket using this user's email address. To avoid leaking sensitive information, ask the user to log in and re-submit a ticket as appropriate."; 3) the visitor's actual message. A matching email does not prove the person is the account owner. Anyone can type an email address into a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customers, or a customer and someone impersonating them, could share visibility into the same account if you respond to the wrong party as if they were the account owner. Treat verifying identity as the first step, not an afterthought.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don't assume the submitter is the account owner just because the email matches. Step 2: check the account for identifying details, such as recent job details, the address, or an issue description that matches what's on file. Confirmed (their description matches account history, they reference specifics only the owner would know): proceed normally, no extra hoops for a genuinely verified customer. Can't confirm: respond generically; don't confirm account details, upcoming appointments or charges; ask them to log in to their dashboard or give a couple of identifying details first. Clearly not the owner (mismatched details, or asking something the real owner wouldn't need to ask): treat it as an unverified inquiry and share nothing account-specific.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can set a maximum hourly rate on a customer's behalf. It's a pricing lever with real trade-offs: a lower cap protects the customer's wallet, but shrinks the pool of cleaners who can claim their jobs, possibly including their current cleaner.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can set a maximum hourly rate on a customer's behalf via the Update Max Rate action in the legacy CRM (C CRM &gt; Do). It caps what CPs can claim the customer's jobs at, going forward; CPs above that rate simply can't claim. Steps on the slide: 1) open the customer's legacy C CRM and click Do (next to View); 2) in the Do menu, find the Max Rate row, which shows the current cap, and click Update Max Rate; 3) enter the maximum hourly rate and click Update Max Rate (the form notes it caps current and future jobs). Trade-off: a lower cap protects the customer's wallet, but shrinks the pool of CPs who can claim, possibly including their current CP if that CP's rate is above the new cap. Setting it without understanding how it interacts with booked jobs, rescheduling and admin-locked jobs is how a well-intentioned cap turns into an unclaimed-job ticket a week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CPs set their own rates, so a lower cap can mean losing access to some of the platform's best cleaners, including the customer's current CP if that CP's rate is above the new cap. Setting it too low can mean jobs go unclaimed, especially in areas with fewer CPs at that price point. Most customers ask for $19-23/hr. Before setting the cap, check the customer's dashboard to see what CPs in their area actually charge. Don't set a number blind.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easiest mistakes: assuming raising a cap will correct an existing job's rate (it won't; a cap can never raise a rate), and forgetting that admin-locked jobs (rate set via the Django job page) bypass the cap and the nightly sweep entirely. So a customer saying "I set a cap and this job still charged more" isn't necessarily wrong. Check whether that job was set via Django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Jobs are matched to CPs at or below their selected rate whenever possible; avoid "only" or "guaranteed" language. An invoice estimate shows on their dashboard right away once a CP claims the job. They can request a rematch up to 6 hours before the appointment. If they are lowering their cap, tell them it may affect upcoming jobs they've already booked, not just future ones; this is the part that most contradicts intuition. Don't guarantee: this is a newly shipped feature still being monitored for edge cases, and admin-locked jobs bypass the cap. Terminology: don't say "max CP rate" or "max rate" to the customer; use plain language, e.g. "the highest rate a cleaner can charge for your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homeaglow.com/nocm/homeaglow/jobhistory/?job=12685237" TargetMode="External"/><Relationship Id="rId3" Type="http://schemas.openxmlformats.org/officeDocument/2006/relationships/hyperlink" Target="https://www.homeaglow.com/nocm/homeaglow/jobhistory/?job=12685237" TargetMode="External"/><Relationship Id="rId1" Type="http://schemas.openxmlformats.org/officeDocument/2006/relationships/image" Target="../media/image-8-1.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2.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2.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slideLayout" Target="../slideLayouts/slideLayout2.xml"/><Relationship Id="rId9"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slideLayout" Target="../slideLayouts/slideLayout2.xml"/><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2.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2.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2.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slideLayout" Target="../slideLayouts/slideLayout2.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slideLayout" Target="../slideLayouts/slideLayout2.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2.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slideLayout" Target="../slideLayouts/slideLayout2.xm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2.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Platform &amp;</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Operating Mechanics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jobs, callbacks, pricing, vouchers, unverified tickets and rate caps work behind the scenes.</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3/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Understanding Job History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record of every change made to a job, and what caused it.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you always check it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to find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read the columns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Practice reading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21.png">    </p:cNvPr>
          <p:cNvPicPr>
            <a:picLocks noChangeAspect="1"/>
          </p:cNvPicPr>
          <p:nvPr/>
        </p:nvPicPr>
        <p:blipFill>
          <a:blip r:embed="rId5"/>
          <a:stretch>
            <a:fillRect/>
          </a:stretch>
        </p:blipFill>
        <p:spPr>
          <a:xfrm>
            <a:off x="5806694" y="1517904"/>
            <a:ext cx="2395220"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you always check it</a:t>
            </a:r>
            <a:endParaRPr lang="en-US" sz="2400" dirty="0"/>
          </a:p>
        </p:txBody>
      </p:sp>
      <p:sp>
        <p:nvSpPr>
          <p:cNvPr id="5" name="Shape 2"/>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Comms aren't enough</a:t>
            </a:r>
            <a:endParaRPr lang="en-US" sz="1200" dirty="0"/>
          </a:p>
        </p:txBody>
      </p:sp>
      <p:sp>
        <p:nvSpPr>
          <p:cNvPr id="9" name="Text 5"/>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 and CP messages don't always tell the full story of a job.</a:t>
            </a:r>
            <a:endParaRPr lang="en-US" sz="950" dirty="0"/>
          </a:p>
        </p:txBody>
      </p:sp>
      <p:sp>
        <p:nvSpPr>
          <p:cNvPr id="10" name="Shape 6"/>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Every change is logged</a:t>
            </a:r>
            <a:endParaRPr lang="en-US" sz="1200" dirty="0"/>
          </a:p>
        </p:txBody>
      </p:sp>
      <p:sp>
        <p:nvSpPr>
          <p:cNvPr id="14" name="Text 9"/>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the status changed, and what caused it.</a:t>
            </a:r>
            <a:endParaRPr lang="en-US" sz="950" dirty="0"/>
          </a:p>
        </p:txBody>
      </p:sp>
      <p:sp>
        <p:nvSpPr>
          <p:cNvPr id="15" name="Shape 10"/>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it every time</a:t>
            </a:r>
            <a:endParaRPr lang="en-US" sz="1200" dirty="0"/>
          </a:p>
        </p:txBody>
      </p:sp>
      <p:sp>
        <p:nvSpPr>
          <p:cNvPr id="19" name="Text 13"/>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Whenever you investigate a job, before you decide on a resolution.</a:t>
            </a:r>
            <a:endParaRPr lang="en-US" sz="950" dirty="0"/>
          </a:p>
        </p:txBody>
      </p:sp>
      <p:sp>
        <p:nvSpPr>
          <p:cNvPr id="20" name="Shape 14"/>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1"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2" name="Text 15"/>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investigating a job? Open its job history before you resolve the ticket.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find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Click the ⓘ icon next to a job ID to open its job history.</a:t>
            </a:r>
            <a:endParaRPr lang="en-US" sz="1200" dirty="0"/>
          </a:p>
        </p:txBody>
      </p:sp>
      <p:sp>
        <p:nvSpPr>
          <p:cNvPr id="6" name="Shape 3"/>
          <p:cNvSpPr/>
          <p:nvPr/>
        </p:nvSpPr>
        <p:spPr>
          <a:xfrm>
            <a:off x="411480" y="1280160"/>
            <a:ext cx="5577840" cy="2514600"/>
          </a:xfrm>
          <a:prstGeom prst="roundRect">
            <a:avLst>
              <a:gd name="adj" fmla="val 2909"/>
            </a:avLst>
          </a:prstGeom>
          <a:solidFill>
            <a:srgbClr val="FFFFFF"/>
          </a:solidFill>
          <a:ln w="9525">
            <a:solidFill>
              <a:srgbClr val="DCE1E7"/>
            </a:solidFill>
            <a:prstDash val="solid"/>
          </a:ln>
        </p:spPr>
      </p:sp>
      <p:pic>
        <p:nvPicPr>
          <p:cNvPr id="7" name="Image 0" descr="/tmp/claude-0/-workspace-training/3ce5cff6-cccf-5f33-b0ee-0b147a55120e/scratchpad/img3/jh_open.png">    </p:cNvPr>
          <p:cNvPicPr>
            <a:picLocks noChangeAspect="1"/>
          </p:cNvPicPr>
          <p:nvPr/>
        </p:nvPicPr>
        <p:blipFill>
          <a:blip r:embed="rId1"/>
          <a:stretch>
            <a:fillRect/>
          </a:stretch>
        </p:blipFill>
        <p:spPr>
          <a:xfrm>
            <a:off x="484632" y="1389742"/>
            <a:ext cx="5431536" cy="2295435"/>
          </a:xfrm>
          <a:prstGeom prst="rect">
            <a:avLst/>
          </a:prstGeom>
        </p:spPr>
      </p:pic>
      <p:sp>
        <p:nvSpPr>
          <p:cNvPr id="8" name="Shape 4"/>
          <p:cNvSpPr/>
          <p:nvPr/>
        </p:nvSpPr>
        <p:spPr>
          <a:xfrm>
            <a:off x="6126480" y="1280160"/>
            <a:ext cx="2606040" cy="777240"/>
          </a:xfrm>
          <a:prstGeom prst="roundRect">
            <a:avLst>
              <a:gd name="adj" fmla="val 9412"/>
            </a:avLst>
          </a:prstGeom>
          <a:solidFill>
            <a:srgbClr val="FFFFFF"/>
          </a:solidFill>
          <a:ln w="9525">
            <a:solidFill>
              <a:srgbClr val="DCE1E7"/>
            </a:solidFill>
            <a:prstDash val="solid"/>
          </a:ln>
        </p:spPr>
      </p:sp>
      <p:sp>
        <p:nvSpPr>
          <p:cNvPr id="9" name="Shape 5"/>
          <p:cNvSpPr/>
          <p:nvPr/>
        </p:nvSpPr>
        <p:spPr>
          <a:xfrm>
            <a:off x="6254496" y="1540764"/>
            <a:ext cx="256032" cy="256032"/>
          </a:xfrm>
          <a:prstGeom prst="ellipse">
            <a:avLst/>
          </a:prstGeom>
          <a:solidFill>
            <a:srgbClr val="0B7A6F"/>
          </a:solidFill>
          <a:ln w="12700">
            <a:solidFill>
              <a:srgbClr val="0B7A6F"/>
            </a:solidFill>
            <a:prstDash val="solid"/>
          </a:ln>
        </p:spPr>
      </p:sp>
      <p:sp>
        <p:nvSpPr>
          <p:cNvPr id="10" name="Text 6"/>
          <p:cNvSpPr txBox="1"/>
          <p:nvPr/>
        </p:nvSpPr>
        <p:spPr>
          <a:xfrm>
            <a:off x="6254496" y="15407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i</a:t>
            </a:r>
            <a:endParaRPr lang="en-US" sz="900" dirty="0"/>
          </a:p>
        </p:txBody>
      </p:sp>
      <p:sp>
        <p:nvSpPr>
          <p:cNvPr id="11" name="Text 7"/>
          <p:cNvSpPr txBox="1"/>
          <p:nvPr/>
        </p:nvSpPr>
        <p:spPr>
          <a:xfrm>
            <a:off x="6629400" y="1325880"/>
            <a:ext cx="2011680" cy="6858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 icon</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Next to each job ID, in every jobs panel</a:t>
            </a:r>
            <a:endParaRPr lang="en-US" sz="1050" dirty="0"/>
          </a:p>
        </p:txBody>
      </p:sp>
      <p:sp>
        <p:nvSpPr>
          <p:cNvPr id="12" name="Shape 8"/>
          <p:cNvSpPr/>
          <p:nvPr/>
        </p:nvSpPr>
        <p:spPr>
          <a:xfrm>
            <a:off x="6126480" y="2148840"/>
            <a:ext cx="2606040" cy="777240"/>
          </a:xfrm>
          <a:prstGeom prst="roundRect">
            <a:avLst>
              <a:gd name="adj" fmla="val 9412"/>
            </a:avLst>
          </a:prstGeom>
          <a:solidFill>
            <a:srgbClr val="FFFFFF"/>
          </a:solidFill>
          <a:ln w="9525">
            <a:solidFill>
              <a:srgbClr val="DCE1E7"/>
            </a:solidFill>
            <a:prstDash val="solid"/>
          </a:ln>
        </p:spPr>
      </p:sp>
      <p:sp>
        <p:nvSpPr>
          <p:cNvPr id="13" name="Shape 9"/>
          <p:cNvSpPr/>
          <p:nvPr/>
        </p:nvSpPr>
        <p:spPr>
          <a:xfrm>
            <a:off x="6254496" y="2409444"/>
            <a:ext cx="256032" cy="256032"/>
          </a:xfrm>
          <a:prstGeom prst="ellipse">
            <a:avLst/>
          </a:prstGeom>
          <a:solidFill>
            <a:srgbClr val="0B7A6F"/>
          </a:solidFill>
          <a:ln w="12700">
            <a:solidFill>
              <a:srgbClr val="0B7A6F"/>
            </a:solidFill>
            <a:prstDash val="solid"/>
          </a:ln>
        </p:spPr>
      </p:sp>
      <p:sp>
        <p:nvSpPr>
          <p:cNvPr id="14" name="Text 10"/>
          <p:cNvSpPr txBox="1"/>
          <p:nvPr/>
        </p:nvSpPr>
        <p:spPr>
          <a:xfrm>
            <a:off x="6254496" y="24094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a:t>
            </a:r>
            <a:endParaRPr lang="en-US" sz="900" dirty="0"/>
          </a:p>
        </p:txBody>
      </p:sp>
      <p:sp>
        <p:nvSpPr>
          <p:cNvPr id="15" name="Text 11"/>
          <p:cNvSpPr txBox="1"/>
          <p:nvPr/>
        </p:nvSpPr>
        <p:spPr>
          <a:xfrm>
            <a:off x="6629400" y="2194560"/>
            <a:ext cx="2011680" cy="6858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Click it</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job's history opens</a:t>
            </a:r>
            <a:endParaRPr lang="en-US" sz="1050" dirty="0"/>
          </a:p>
        </p:txBody>
      </p:sp>
      <p:sp>
        <p:nvSpPr>
          <p:cNvPr id="16" name="Shape 12"/>
          <p:cNvSpPr/>
          <p:nvPr/>
        </p:nvSpPr>
        <p:spPr>
          <a:xfrm>
            <a:off x="411480" y="3977640"/>
            <a:ext cx="8321040" cy="384048"/>
          </a:xfrm>
          <a:prstGeom prst="roundRect">
            <a:avLst>
              <a:gd name="adj" fmla="val 19048"/>
            </a:avLst>
          </a:prstGeom>
          <a:solidFill>
            <a:srgbClr val="FFF3D6"/>
          </a:solidFill>
          <a:ln w="9525">
            <a:solidFill>
              <a:srgbClr val="FFF3D6"/>
            </a:solidFill>
            <a:prstDash val="solid"/>
          </a:ln>
        </p:spPr>
      </p:sp>
      <p:pic>
        <p:nvPicPr>
          <p:cNvPr id="17" name="Image 1" descr="preencoded.png">    </p:cNvPr>
          <p:cNvPicPr>
            <a:picLocks noChangeAspect="1"/>
          </p:cNvPicPr>
          <p:nvPr/>
        </p:nvPicPr>
        <p:blipFill>
          <a:blip r:embed="rId2"/>
          <a:stretch>
            <a:fillRect/>
          </a:stretch>
        </p:blipFill>
        <p:spPr>
          <a:xfrm>
            <a:off x="566928" y="4087368"/>
            <a:ext cx="164592" cy="164592"/>
          </a:xfrm>
          <a:prstGeom prst="rect">
            <a:avLst/>
          </a:prstGeom>
        </p:spPr>
      </p:pic>
      <p:sp>
        <p:nvSpPr>
          <p:cNvPr id="18" name="Text 13"/>
          <p:cNvSpPr txBox="1"/>
          <p:nvPr/>
        </p:nvSpPr>
        <p:spPr>
          <a:xfrm>
            <a:off x="822960" y="40782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Tip:  </a:t>
            </a:r>
            <a:pPr indent="0" marL="0">
              <a:buNone/>
            </a:pPr>
            <a:r>
              <a:rPr lang="en-US" sz="1000" dirty="0">
                <a:solidFill>
                  <a:srgbClr val="1D1D1F"/>
                </a:solidFill>
                <a:latin typeface="SF Pro Text" pitchFamily="34" charset="0"/>
                <a:ea typeface="SF Pro Text" pitchFamily="34" charset="-122"/>
                <a:cs typeface="SF Pro Text" pitchFamily="34" charset="-120"/>
              </a:rPr>
              <a:t>investigating a job? Open its history before you decide on a resolution.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history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Click a number to reveal what that column tells you. Read the rows from the bottom up.</a:t>
            </a:r>
            <a:endParaRPr lang="en-US" sz="1200" dirty="0"/>
          </a:p>
        </p:txBody>
      </p:sp>
      <p:sp>
        <p:nvSpPr>
          <p:cNvPr id="6" name="Shape 3"/>
          <p:cNvSpPr/>
          <p:nvPr/>
        </p:nvSpPr>
        <p:spPr>
          <a:xfrm>
            <a:off x="411480" y="1188720"/>
            <a:ext cx="5440680" cy="3520440"/>
          </a:xfrm>
          <a:prstGeom prst="roundRect">
            <a:avLst>
              <a:gd name="adj" fmla="val 2078"/>
            </a:avLst>
          </a:prstGeom>
          <a:solidFill>
            <a:srgbClr val="FFFFFF"/>
          </a:solidFill>
          <a:ln w="9525">
            <a:solidFill>
              <a:srgbClr val="DCE1E7"/>
            </a:solidFill>
            <a:prstDash val="solid"/>
          </a:ln>
        </p:spPr>
      </p:sp>
      <p:pic>
        <p:nvPicPr>
          <p:cNvPr id="7" name="Image 0" descr="/tmp/claude-0/-workspace-training/3ce5cff6-cccf-5f33-b0ee-0b147a55120e/scratchpad/img3/jh_table_hdr.png">    </p:cNvPr>
          <p:cNvPicPr>
            <a:picLocks noChangeAspect="1"/>
          </p:cNvPicPr>
          <p:nvPr/>
        </p:nvPicPr>
        <p:blipFill>
          <a:blip r:embed="rId1"/>
          <a:stretch>
            <a:fillRect/>
          </a:stretch>
        </p:blipFill>
        <p:spPr>
          <a:xfrm>
            <a:off x="484632" y="1730783"/>
            <a:ext cx="5294376" cy="2436314"/>
          </a:xfrm>
          <a:prstGeom prst="rect">
            <a:avLst/>
          </a:prstGeom>
        </p:spPr>
      </p:pic>
      <p:sp>
        <p:nvSpPr>
          <p:cNvPr id="8" name="Shape 4"/>
          <p:cNvSpPr/>
          <p:nvPr/>
        </p:nvSpPr>
        <p:spPr>
          <a:xfrm>
            <a:off x="861339" y="1984651"/>
            <a:ext cx="491357" cy="77798"/>
          </a:xfrm>
          <a:prstGeom prst="roundRect">
            <a:avLst>
              <a:gd name="adj" fmla="val 23507"/>
            </a:avLst>
          </a:prstGeom>
          <a:ln w="19050">
            <a:solidFill>
              <a:srgbClr val="0B7A6F"/>
            </a:solidFill>
            <a:prstDash val="solid"/>
          </a:ln>
        </p:spPr>
      </p:sp>
      <p:sp>
        <p:nvSpPr>
          <p:cNvPr id="9" name="Shape 5"/>
          <p:cNvSpPr/>
          <p:nvPr/>
        </p:nvSpPr>
        <p:spPr>
          <a:xfrm>
            <a:off x="1015578" y="1774339"/>
            <a:ext cx="182880" cy="182880"/>
          </a:xfrm>
          <a:prstGeom prst="ellipse">
            <a:avLst/>
          </a:prstGeom>
          <a:solidFill>
            <a:srgbClr val="0B7A6F"/>
          </a:solidFill>
          <a:ln w="12700">
            <a:solidFill>
              <a:srgbClr val="FFFFFF"/>
            </a:solidFill>
            <a:prstDash val="solid"/>
          </a:ln>
        </p:spPr>
      </p:sp>
      <p:sp>
        <p:nvSpPr>
          <p:cNvPr id="10" name="Text 6"/>
          <p:cNvSpPr txBox="1"/>
          <p:nvPr/>
        </p:nvSpPr>
        <p:spPr>
          <a:xfrm>
            <a:off x="1015578"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1</a:t>
            </a:r>
            <a:endParaRPr lang="en-US" sz="750" dirty="0"/>
          </a:p>
        </p:txBody>
      </p:sp>
      <p:sp>
        <p:nvSpPr>
          <p:cNvPr id="11" name="Shape 7"/>
          <p:cNvSpPr/>
          <p:nvPr/>
        </p:nvSpPr>
        <p:spPr>
          <a:xfrm>
            <a:off x="1381359" y="1984651"/>
            <a:ext cx="466790" cy="77798"/>
          </a:xfrm>
          <a:prstGeom prst="roundRect">
            <a:avLst>
              <a:gd name="adj" fmla="val 23507"/>
            </a:avLst>
          </a:prstGeom>
          <a:ln w="19050">
            <a:solidFill>
              <a:srgbClr val="0B7A6F"/>
            </a:solidFill>
            <a:prstDash val="solid"/>
          </a:ln>
        </p:spPr>
      </p:sp>
      <p:sp>
        <p:nvSpPr>
          <p:cNvPr id="12" name="Shape 8"/>
          <p:cNvSpPr/>
          <p:nvPr/>
        </p:nvSpPr>
        <p:spPr>
          <a:xfrm>
            <a:off x="1523314" y="1774339"/>
            <a:ext cx="182880" cy="182880"/>
          </a:xfrm>
          <a:prstGeom prst="ellipse">
            <a:avLst/>
          </a:prstGeom>
          <a:solidFill>
            <a:srgbClr val="0B7A6F"/>
          </a:solidFill>
          <a:ln w="12700">
            <a:solidFill>
              <a:srgbClr val="FFFFFF"/>
            </a:solidFill>
            <a:prstDash val="solid"/>
          </a:ln>
        </p:spPr>
      </p:sp>
      <p:sp>
        <p:nvSpPr>
          <p:cNvPr id="13" name="Text 9"/>
          <p:cNvSpPr txBox="1"/>
          <p:nvPr/>
        </p:nvSpPr>
        <p:spPr>
          <a:xfrm>
            <a:off x="1523314"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2</a:t>
            </a:r>
            <a:endParaRPr lang="en-US" sz="750" dirty="0"/>
          </a:p>
        </p:txBody>
      </p:sp>
      <p:sp>
        <p:nvSpPr>
          <p:cNvPr id="14" name="Shape 10"/>
          <p:cNvSpPr/>
          <p:nvPr/>
        </p:nvSpPr>
        <p:spPr>
          <a:xfrm>
            <a:off x="1885001" y="1984651"/>
            <a:ext cx="237489" cy="77798"/>
          </a:xfrm>
          <a:prstGeom prst="roundRect">
            <a:avLst>
              <a:gd name="adj" fmla="val 23507"/>
            </a:avLst>
          </a:prstGeom>
          <a:ln w="19050">
            <a:solidFill>
              <a:srgbClr val="0B7A6F"/>
            </a:solidFill>
            <a:prstDash val="solid"/>
          </a:ln>
        </p:spPr>
      </p:sp>
      <p:sp>
        <p:nvSpPr>
          <p:cNvPr id="15" name="Shape 11"/>
          <p:cNvSpPr/>
          <p:nvPr/>
        </p:nvSpPr>
        <p:spPr>
          <a:xfrm>
            <a:off x="1912305" y="1774339"/>
            <a:ext cx="182880" cy="182880"/>
          </a:xfrm>
          <a:prstGeom prst="ellipse">
            <a:avLst/>
          </a:prstGeom>
          <a:solidFill>
            <a:srgbClr val="0B7A6F"/>
          </a:solidFill>
          <a:ln w="12700">
            <a:solidFill>
              <a:srgbClr val="FFFFFF"/>
            </a:solidFill>
            <a:prstDash val="solid"/>
          </a:ln>
        </p:spPr>
      </p:sp>
      <p:sp>
        <p:nvSpPr>
          <p:cNvPr id="16" name="Text 12"/>
          <p:cNvSpPr txBox="1"/>
          <p:nvPr/>
        </p:nvSpPr>
        <p:spPr>
          <a:xfrm>
            <a:off x="1912305"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3</a:t>
            </a:r>
            <a:endParaRPr lang="en-US" sz="750" dirty="0"/>
          </a:p>
        </p:txBody>
      </p:sp>
      <p:sp>
        <p:nvSpPr>
          <p:cNvPr id="17" name="Shape 13"/>
          <p:cNvSpPr/>
          <p:nvPr/>
        </p:nvSpPr>
        <p:spPr>
          <a:xfrm>
            <a:off x="2376358" y="1984651"/>
            <a:ext cx="515925" cy="77798"/>
          </a:xfrm>
          <a:prstGeom prst="roundRect">
            <a:avLst>
              <a:gd name="adj" fmla="val 23507"/>
            </a:avLst>
          </a:prstGeom>
          <a:ln w="19050">
            <a:solidFill>
              <a:srgbClr val="0B7A6F"/>
            </a:solidFill>
            <a:prstDash val="solid"/>
          </a:ln>
        </p:spPr>
      </p:sp>
      <p:sp>
        <p:nvSpPr>
          <p:cNvPr id="18" name="Shape 14"/>
          <p:cNvSpPr/>
          <p:nvPr/>
        </p:nvSpPr>
        <p:spPr>
          <a:xfrm>
            <a:off x="2542881" y="1774339"/>
            <a:ext cx="182880" cy="182880"/>
          </a:xfrm>
          <a:prstGeom prst="ellipse">
            <a:avLst/>
          </a:prstGeom>
          <a:solidFill>
            <a:srgbClr val="0B7A6F"/>
          </a:solidFill>
          <a:ln w="12700">
            <a:solidFill>
              <a:srgbClr val="FFFFFF"/>
            </a:solidFill>
            <a:prstDash val="solid"/>
          </a:ln>
        </p:spPr>
      </p:sp>
      <p:sp>
        <p:nvSpPr>
          <p:cNvPr id="19" name="Text 15"/>
          <p:cNvSpPr txBox="1"/>
          <p:nvPr/>
        </p:nvSpPr>
        <p:spPr>
          <a:xfrm>
            <a:off x="2542881"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4</a:t>
            </a:r>
            <a:endParaRPr lang="en-US" sz="750" dirty="0"/>
          </a:p>
        </p:txBody>
      </p:sp>
      <p:sp>
        <p:nvSpPr>
          <p:cNvPr id="20" name="Shape 16"/>
          <p:cNvSpPr/>
          <p:nvPr/>
        </p:nvSpPr>
        <p:spPr>
          <a:xfrm>
            <a:off x="2916851" y="1984651"/>
            <a:ext cx="163786" cy="77798"/>
          </a:xfrm>
          <a:prstGeom prst="roundRect">
            <a:avLst>
              <a:gd name="adj" fmla="val 23507"/>
            </a:avLst>
          </a:prstGeom>
          <a:ln w="19050">
            <a:solidFill>
              <a:srgbClr val="0B7A6F"/>
            </a:solidFill>
            <a:prstDash val="solid"/>
          </a:ln>
        </p:spPr>
      </p:sp>
      <p:sp>
        <p:nvSpPr>
          <p:cNvPr id="21" name="Shape 17"/>
          <p:cNvSpPr/>
          <p:nvPr/>
        </p:nvSpPr>
        <p:spPr>
          <a:xfrm>
            <a:off x="2907304" y="1774339"/>
            <a:ext cx="182880" cy="182880"/>
          </a:xfrm>
          <a:prstGeom prst="ellipse">
            <a:avLst/>
          </a:prstGeom>
          <a:solidFill>
            <a:srgbClr val="0B7A6F"/>
          </a:solidFill>
          <a:ln w="12700">
            <a:solidFill>
              <a:srgbClr val="FFFFFF"/>
            </a:solidFill>
            <a:prstDash val="solid"/>
          </a:ln>
        </p:spPr>
      </p:sp>
      <p:sp>
        <p:nvSpPr>
          <p:cNvPr id="22" name="Text 18"/>
          <p:cNvSpPr txBox="1"/>
          <p:nvPr/>
        </p:nvSpPr>
        <p:spPr>
          <a:xfrm>
            <a:off x="2907304"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5</a:t>
            </a:r>
            <a:endParaRPr lang="en-US" sz="750" dirty="0"/>
          </a:p>
        </p:txBody>
      </p:sp>
      <p:sp>
        <p:nvSpPr>
          <p:cNvPr id="23" name="Shape 19"/>
          <p:cNvSpPr/>
          <p:nvPr/>
        </p:nvSpPr>
        <p:spPr>
          <a:xfrm>
            <a:off x="3109299" y="1984651"/>
            <a:ext cx="241584" cy="77798"/>
          </a:xfrm>
          <a:prstGeom prst="roundRect">
            <a:avLst>
              <a:gd name="adj" fmla="val 23507"/>
            </a:avLst>
          </a:prstGeom>
          <a:ln w="19050">
            <a:solidFill>
              <a:srgbClr val="0B7A6F"/>
            </a:solidFill>
            <a:prstDash val="solid"/>
          </a:ln>
        </p:spPr>
      </p:sp>
      <p:sp>
        <p:nvSpPr>
          <p:cNvPr id="24" name="Shape 20"/>
          <p:cNvSpPr/>
          <p:nvPr/>
        </p:nvSpPr>
        <p:spPr>
          <a:xfrm>
            <a:off x="3138651" y="1774339"/>
            <a:ext cx="182880" cy="182880"/>
          </a:xfrm>
          <a:prstGeom prst="ellipse">
            <a:avLst/>
          </a:prstGeom>
          <a:solidFill>
            <a:srgbClr val="0B7A6F"/>
          </a:solidFill>
          <a:ln w="12700">
            <a:solidFill>
              <a:srgbClr val="FFFFFF"/>
            </a:solidFill>
            <a:prstDash val="solid"/>
          </a:ln>
        </p:spPr>
      </p:sp>
      <p:sp>
        <p:nvSpPr>
          <p:cNvPr id="25" name="Text 21"/>
          <p:cNvSpPr txBox="1"/>
          <p:nvPr/>
        </p:nvSpPr>
        <p:spPr>
          <a:xfrm>
            <a:off x="3138651"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6</a:t>
            </a:r>
            <a:endParaRPr lang="en-US" sz="750" dirty="0"/>
          </a:p>
        </p:txBody>
      </p:sp>
      <p:sp>
        <p:nvSpPr>
          <p:cNvPr id="26" name="Shape 22"/>
          <p:cNvSpPr/>
          <p:nvPr/>
        </p:nvSpPr>
        <p:spPr>
          <a:xfrm>
            <a:off x="5156622" y="1984651"/>
            <a:ext cx="225205" cy="77798"/>
          </a:xfrm>
          <a:prstGeom prst="roundRect">
            <a:avLst>
              <a:gd name="adj" fmla="val 23507"/>
            </a:avLst>
          </a:prstGeom>
          <a:ln w="19050">
            <a:solidFill>
              <a:srgbClr val="0B7A6F"/>
            </a:solidFill>
            <a:prstDash val="solid"/>
          </a:ln>
        </p:spPr>
      </p:sp>
      <p:sp>
        <p:nvSpPr>
          <p:cNvPr id="27" name="Shape 23"/>
          <p:cNvSpPr/>
          <p:nvPr/>
        </p:nvSpPr>
        <p:spPr>
          <a:xfrm>
            <a:off x="5177785" y="1774339"/>
            <a:ext cx="182880" cy="182880"/>
          </a:xfrm>
          <a:prstGeom prst="ellipse">
            <a:avLst/>
          </a:prstGeom>
          <a:solidFill>
            <a:srgbClr val="0B7A6F"/>
          </a:solidFill>
          <a:ln w="12700">
            <a:solidFill>
              <a:srgbClr val="FFFFFF"/>
            </a:solidFill>
            <a:prstDash val="solid"/>
          </a:ln>
        </p:spPr>
      </p:sp>
      <p:sp>
        <p:nvSpPr>
          <p:cNvPr id="28" name="Text 24"/>
          <p:cNvSpPr txBox="1"/>
          <p:nvPr/>
        </p:nvSpPr>
        <p:spPr>
          <a:xfrm>
            <a:off x="5177785"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7</a:t>
            </a:r>
            <a:endParaRPr lang="en-US" sz="750" dirty="0"/>
          </a:p>
        </p:txBody>
      </p:sp>
      <p:sp>
        <p:nvSpPr>
          <p:cNvPr id="29" name="Shape 25"/>
          <p:cNvSpPr/>
          <p:nvPr/>
        </p:nvSpPr>
        <p:spPr>
          <a:xfrm>
            <a:off x="5989320" y="1188720"/>
            <a:ext cx="2743200" cy="3520440"/>
          </a:xfrm>
          <a:prstGeom prst="roundRect">
            <a:avLst>
              <a:gd name="adj" fmla="val 2667"/>
            </a:avLst>
          </a:prstGeom>
          <a:solidFill>
            <a:srgbClr val="E3F4F1"/>
          </a:solidFill>
          <a:ln w="9525">
            <a:solidFill>
              <a:srgbClr val="E3F4F1"/>
            </a:solidFill>
            <a:prstDash val="solid"/>
          </a:ln>
        </p:spPr>
      </p:sp>
      <p:sp>
        <p:nvSpPr>
          <p:cNvPr id="30" name="revealColumns"/>
          <p:cNvSpPr txBox="1"/>
          <p:nvPr/>
        </p:nvSpPr>
        <p:spPr>
          <a:xfrm>
            <a:off x="6108192" y="1298448"/>
            <a:ext cx="2514600" cy="3291840"/>
          </a:xfrm>
          <a:prstGeom prst="rect">
            <a:avLst/>
          </a:prstGeom>
          <a:noFill/>
          <a:ln/>
        </p:spPr>
        <p:txBody>
          <a:bodyPr wrap="square" lIns="0" tIns="0" rIns="0" bIns="0" rtlCol="0" anchor="t"/>
          <a:lstStyle/>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1  Job Start: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job start time and date at the time the action was made</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2  Job Start After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job start time after the action was made</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3  Action 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time the action was taken</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4  Job Status Before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status of the job before the action was taken</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5  Actor: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one who took the action: the C, CP, CS, or system</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6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action taken on the job. Written to be self-explanatory</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7  Comment: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logs any essential detail to the action</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0">
                                            <p:txEl>
                                              <p:pRg st="0" end="0"/>
                                            </p:txEl>
                                          </p:spTgt>
                                        </p:tgtEl>
                                        <p:attrNameLst>
                                          <p:attrName>style.visibility</p:attrName>
                                        </p:attrNameLst>
                                      </p:cBhvr>
                                      <p:to>
                                        <p:strVal val="visible"/>
                                      </p:to>
                                    </p:set>
                                    <p:animEffect transition="in" filter="fade">
                                      <p:cBhvr>
                                        <p:cTn id="7" dur="600"/>
                                        <p:tgtEl>
                                          <p:spTgt spid="3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0">
                                            <p:txEl>
                                              <p:pRg st="1" end="1"/>
                                            </p:txEl>
                                          </p:spTgt>
                                        </p:tgtEl>
                                        <p:attrNameLst>
                                          <p:attrName>style.visibility</p:attrName>
                                        </p:attrNameLst>
                                      </p:cBhvr>
                                      <p:to>
                                        <p:strVal val="visible"/>
                                      </p:to>
                                    </p:set>
                                    <p:animEffect transition="in" filter="fade">
                                      <p:cBhvr>
                                        <p:cTn id="12" dur="600"/>
                                        <p:tgtEl>
                                          <p:spTgt spid="30">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0">
                                            <p:txEl>
                                              <p:pRg st="2" end="2"/>
                                            </p:txEl>
                                          </p:spTgt>
                                        </p:tgtEl>
                                        <p:attrNameLst>
                                          <p:attrName>style.visibility</p:attrName>
                                        </p:attrNameLst>
                                      </p:cBhvr>
                                      <p:to>
                                        <p:strVal val="visible"/>
                                      </p:to>
                                    </p:set>
                                    <p:animEffect transition="in" filter="fade">
                                      <p:cBhvr>
                                        <p:cTn id="17" dur="600"/>
                                        <p:tgtEl>
                                          <p:spTgt spid="30">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0">
                                            <p:txEl>
                                              <p:pRg st="3" end="3"/>
                                            </p:txEl>
                                          </p:spTgt>
                                        </p:tgtEl>
                                        <p:attrNameLst>
                                          <p:attrName>style.visibility</p:attrName>
                                        </p:attrNameLst>
                                      </p:cBhvr>
                                      <p:to>
                                        <p:strVal val="visible"/>
                                      </p:to>
                                    </p:set>
                                    <p:animEffect transition="in" filter="fade">
                                      <p:cBhvr>
                                        <p:cTn id="22" dur="600"/>
                                        <p:tgtEl>
                                          <p:spTgt spid="30">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0">
                                            <p:txEl>
                                              <p:pRg st="4" end="4"/>
                                            </p:txEl>
                                          </p:spTgt>
                                        </p:tgtEl>
                                        <p:attrNameLst>
                                          <p:attrName>style.visibility</p:attrName>
                                        </p:attrNameLst>
                                      </p:cBhvr>
                                      <p:to>
                                        <p:strVal val="visible"/>
                                      </p:to>
                                    </p:set>
                                    <p:animEffect transition="in" filter="fade">
                                      <p:cBhvr>
                                        <p:cTn id="27" dur="600"/>
                                        <p:tgtEl>
                                          <p:spTgt spid="30">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0">
                                            <p:txEl>
                                              <p:pRg st="5" end="5"/>
                                            </p:txEl>
                                          </p:spTgt>
                                        </p:tgtEl>
                                        <p:attrNameLst>
                                          <p:attrName>style.visibility</p:attrName>
                                        </p:attrNameLst>
                                      </p:cBhvr>
                                      <p:to>
                                        <p:strVal val="visible"/>
                                      </p:to>
                                    </p:set>
                                    <p:animEffect transition="in" filter="fade">
                                      <p:cBhvr>
                                        <p:cTn id="32" dur="600"/>
                                        <p:tgtEl>
                                          <p:spTgt spid="30">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0">
                                            <p:txEl>
                                              <p:pRg st="6" end="6"/>
                                            </p:txEl>
                                          </p:spTgt>
                                        </p:tgtEl>
                                        <p:attrNameLst>
                                          <p:attrName>style.visibility</p:attrName>
                                        </p:attrNameLst>
                                      </p:cBhvr>
                                      <p:to>
                                        <p:strVal val="visible"/>
                                      </p:to>
                                    </p:set>
                                    <p:animEffect transition="in" filter="fade">
                                      <p:cBhvr>
                                        <p:cTn id="37" dur="600"/>
                                        <p:tgtEl>
                                          <p:spTgt spid="30">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things to remember</a:t>
            </a:r>
            <a:endParaRPr lang="en-US" sz="2400" dirty="0"/>
          </a:p>
        </p:txBody>
      </p:sp>
      <p:sp>
        <p:nvSpPr>
          <p:cNvPr id="5" name="Shape 2"/>
          <p:cNvSpPr/>
          <p:nvPr/>
        </p:nvSpPr>
        <p:spPr>
          <a:xfrm>
            <a:off x="411480" y="1234440"/>
            <a:ext cx="4091940" cy="1600200"/>
          </a:xfrm>
          <a:prstGeom prst="roundRect">
            <a:avLst>
              <a:gd name="adj" fmla="val 4571"/>
            </a:avLst>
          </a:prstGeom>
          <a:solidFill>
            <a:srgbClr val="FFFFFF"/>
          </a:solidFill>
          <a:ln w="9525">
            <a:solidFill>
              <a:srgbClr val="DCE1E7"/>
            </a:solidFill>
            <a:prstDash val="solid"/>
          </a:ln>
        </p:spPr>
      </p:sp>
      <p:sp>
        <p:nvSpPr>
          <p:cNvPr id="6" name="Shape 3"/>
          <p:cNvSpPr/>
          <p:nvPr/>
        </p:nvSpPr>
        <p:spPr>
          <a:xfrm>
            <a:off x="576072" y="139903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78036"/>
            <a:ext cx="171176" cy="171176"/>
          </a:xfrm>
          <a:prstGeom prst="rect">
            <a:avLst/>
          </a:prstGeom>
        </p:spPr>
      </p:pic>
      <p:sp>
        <p:nvSpPr>
          <p:cNvPr id="8" name="Text 4"/>
          <p:cNvSpPr txBox="1"/>
          <p:nvPr/>
        </p:nvSpPr>
        <p:spPr>
          <a:xfrm>
            <a:off x="576072" y="18379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Read bottom to top</a:t>
            </a:r>
            <a:endParaRPr lang="en-US" sz="1200" dirty="0"/>
          </a:p>
        </p:txBody>
      </p:sp>
      <p:sp>
        <p:nvSpPr>
          <p:cNvPr id="9" name="Text 5"/>
          <p:cNvSpPr txBox="1"/>
          <p:nvPr/>
        </p:nvSpPr>
        <p:spPr>
          <a:xfrm>
            <a:off x="576072" y="213055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oldest action is at the bottom. The newest is at the top.</a:t>
            </a:r>
            <a:endParaRPr lang="en-US" sz="950" dirty="0"/>
          </a:p>
        </p:txBody>
      </p:sp>
      <p:sp>
        <p:nvSpPr>
          <p:cNvPr id="10" name="Shape 6"/>
          <p:cNvSpPr/>
          <p:nvPr/>
        </p:nvSpPr>
        <p:spPr>
          <a:xfrm>
            <a:off x="4640580" y="1234440"/>
            <a:ext cx="4091940" cy="1600200"/>
          </a:xfrm>
          <a:prstGeom prst="roundRect">
            <a:avLst>
              <a:gd name="adj" fmla="val 4571"/>
            </a:avLst>
          </a:prstGeom>
          <a:solidFill>
            <a:srgbClr val="FFFFFF"/>
          </a:solidFill>
          <a:ln w="9525">
            <a:solidFill>
              <a:srgbClr val="DCE1E7"/>
            </a:solidFill>
            <a:prstDash val="solid"/>
          </a:ln>
        </p:spPr>
      </p:sp>
      <p:sp>
        <p:nvSpPr>
          <p:cNvPr id="11" name="Shape 7"/>
          <p:cNvSpPr/>
          <p:nvPr/>
        </p:nvSpPr>
        <p:spPr>
          <a:xfrm>
            <a:off x="4805172" y="139903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78036"/>
            <a:ext cx="171176" cy="171176"/>
          </a:xfrm>
          <a:prstGeom prst="rect">
            <a:avLst/>
          </a:prstGeom>
        </p:spPr>
      </p:pic>
      <p:sp>
        <p:nvSpPr>
          <p:cNvPr id="13" name="Text 8"/>
          <p:cNvSpPr txBox="1"/>
          <p:nvPr/>
        </p:nvSpPr>
        <p:spPr>
          <a:xfrm>
            <a:off x="4805172" y="18379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Times are in CT</a:t>
            </a:r>
            <a:endParaRPr lang="en-US" sz="1200" dirty="0"/>
          </a:p>
        </p:txBody>
      </p:sp>
      <p:sp>
        <p:nvSpPr>
          <p:cNvPr id="14" name="Text 9"/>
          <p:cNvSpPr txBox="1"/>
          <p:nvPr/>
        </p:nvSpPr>
        <p:spPr>
          <a:xfrm>
            <a:off x="4805172" y="213055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Our system time is Central Time. The customer may be in another time zone.</a:t>
            </a:r>
            <a:endParaRPr lang="en-US" sz="950" dirty="0"/>
          </a:p>
        </p:txBody>
      </p:sp>
      <p:sp>
        <p:nvSpPr>
          <p:cNvPr id="15" name="Text 10"/>
          <p:cNvSpPr txBox="1"/>
          <p:nvPr/>
        </p:nvSpPr>
        <p:spPr>
          <a:xfrm>
            <a:off x="438912" y="3017520"/>
            <a:ext cx="8229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CONVERT WITH THE TIME FORMULA, UPPER LEFT OF THE CRM</a:t>
            </a:r>
            <a:endParaRPr lang="en-US" sz="800" dirty="0"/>
          </a:p>
        </p:txBody>
      </p:sp>
      <p:sp>
        <p:nvSpPr>
          <p:cNvPr id="16" name="Shape 11"/>
          <p:cNvSpPr/>
          <p:nvPr/>
        </p:nvSpPr>
        <p:spPr>
          <a:xfrm>
            <a:off x="411480" y="3246120"/>
            <a:ext cx="3657600" cy="960120"/>
          </a:xfrm>
          <a:prstGeom prst="roundRect">
            <a:avLst>
              <a:gd name="adj" fmla="val 7619"/>
            </a:avLst>
          </a:prstGeom>
          <a:solidFill>
            <a:srgbClr val="FFFFFF"/>
          </a:solidFill>
          <a:ln w="9525">
            <a:solidFill>
              <a:srgbClr val="DCE1E7"/>
            </a:solidFill>
            <a:prstDash val="solid"/>
          </a:ln>
        </p:spPr>
      </p:sp>
      <p:pic>
        <p:nvPicPr>
          <p:cNvPr id="17" name="Image 2" descr="/tmp/claude-0/-workspace-training/3ce5cff6-cccf-5f33-b0ee-0b147a55120e/scratchpad/img3/legacy_time.png">    </p:cNvPr>
          <p:cNvPicPr>
            <a:picLocks noChangeAspect="1"/>
          </p:cNvPicPr>
          <p:nvPr/>
        </p:nvPicPr>
        <p:blipFill>
          <a:blip r:embed="rId3"/>
          <a:stretch>
            <a:fillRect/>
          </a:stretch>
        </p:blipFill>
        <p:spPr>
          <a:xfrm>
            <a:off x="484632" y="3462833"/>
            <a:ext cx="3511296" cy="526694"/>
          </a:xfrm>
          <a:prstGeom prst="rect">
            <a:avLst/>
          </a:prstGeom>
        </p:spPr>
      </p:pic>
      <p:sp>
        <p:nvSpPr>
          <p:cNvPr id="18" name="Shape 12"/>
          <p:cNvSpPr/>
          <p:nvPr/>
        </p:nvSpPr>
        <p:spPr>
          <a:xfrm>
            <a:off x="923544" y="3477463"/>
            <a:ext cx="2633472" cy="482803"/>
          </a:xfrm>
          <a:prstGeom prst="roundRect">
            <a:avLst>
              <a:gd name="adj" fmla="val 5682"/>
            </a:avLst>
          </a:prstGeom>
          <a:ln w="25400">
            <a:solidFill>
              <a:srgbClr val="0B7A6F"/>
            </a:solidFill>
            <a:prstDash val="solid"/>
          </a:ln>
        </p:spPr>
      </p:sp>
      <p:sp>
        <p:nvSpPr>
          <p:cNvPr id="19" name="Shape 13"/>
          <p:cNvSpPr/>
          <p:nvPr/>
        </p:nvSpPr>
        <p:spPr>
          <a:xfrm>
            <a:off x="822960" y="3376879"/>
            <a:ext cx="201168" cy="201168"/>
          </a:xfrm>
          <a:prstGeom prst="ellipse">
            <a:avLst/>
          </a:prstGeom>
          <a:solidFill>
            <a:srgbClr val="0B7A6F"/>
          </a:solidFill>
          <a:ln w="12700">
            <a:solidFill>
              <a:srgbClr val="FFFFFF"/>
            </a:solidFill>
            <a:prstDash val="solid"/>
          </a:ln>
        </p:spPr>
      </p:sp>
      <p:sp>
        <p:nvSpPr>
          <p:cNvPr id="20" name="Text 14"/>
          <p:cNvSpPr txBox="1"/>
          <p:nvPr/>
        </p:nvSpPr>
        <p:spPr>
          <a:xfrm>
            <a:off x="822960" y="337687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21" name="Text 15"/>
          <p:cNvSpPr txBox="1"/>
          <p:nvPr/>
        </p:nvSpPr>
        <p:spPr>
          <a:xfrm>
            <a:off x="4297680" y="3337560"/>
            <a:ext cx="4434840" cy="777240"/>
          </a:xfrm>
          <a:prstGeom prst="rect">
            <a:avLst/>
          </a:prstGeom>
          <a:noFill/>
          <a:ln/>
        </p:spPr>
        <p:txBody>
          <a:bodyPr wrap="square" lIns="0" tIns="0" rIns="0" bIns="0" rtlCol="0" anchor="ctr"/>
          <a:lstStyle/>
          <a:p>
            <a:pPr indent="0" marL="0">
              <a:buNone/>
            </a:pPr>
            <a:r>
              <a:rPr lang="en-US" sz="1050" b="1" dirty="0">
                <a:solidFill>
                  <a:srgbClr val="1D1D1F"/>
                </a:solidFill>
                <a:latin typeface="SF Pro Text" pitchFamily="34" charset="0"/>
                <a:ea typeface="SF Pro Text" pitchFamily="34" charset="-122"/>
                <a:cs typeface="SF Pro Text" pitchFamily="34" charset="-120"/>
              </a:rPr>
              <a:t>Example: </a:t>
            </a:r>
            <a:pPr indent="0" marL="0">
              <a:buNone/>
            </a:pPr>
            <a:r>
              <a:rPr lang="en-US" sz="1050" dirty="0">
                <a:solidFill>
                  <a:srgbClr val="1D1D1F"/>
                </a:solidFill>
                <a:latin typeface="SF Pro Text" pitchFamily="34" charset="0"/>
                <a:ea typeface="SF Pro Text" pitchFamily="34" charset="-122"/>
                <a:cs typeface="SF Pro Text" pitchFamily="34" charset="-120"/>
              </a:rPr>
              <a:t>8:23 AM CDT is 6:23 AM in Pacific time (PDT −2) and 9:23 AM in Eastern time (EDT +1).</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Reading the example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Read the job history from the bottom up. Then click The Story.</a:t>
            </a:r>
            <a:endParaRPr lang="en-US" sz="1200" dirty="0"/>
          </a:p>
        </p:txBody>
      </p:sp>
      <p:sp>
        <p:nvSpPr>
          <p:cNvPr id="6" name="Shape 3"/>
          <p:cNvSpPr/>
          <p:nvPr/>
        </p:nvSpPr>
        <p:spPr>
          <a:xfrm>
            <a:off x="411480" y="1188720"/>
            <a:ext cx="5257800" cy="2651760"/>
          </a:xfrm>
          <a:prstGeom prst="roundRect">
            <a:avLst>
              <a:gd name="adj" fmla="val 2759"/>
            </a:avLst>
          </a:prstGeom>
          <a:solidFill>
            <a:srgbClr val="FFFFFF"/>
          </a:solidFill>
          <a:ln w="9525">
            <a:solidFill>
              <a:srgbClr val="DCE1E7"/>
            </a:solidFill>
            <a:prstDash val="solid"/>
          </a:ln>
        </p:spPr>
      </p:sp>
      <p:pic>
        <p:nvPicPr>
          <p:cNvPr id="7" name="Image 0" descr="/tmp/claude-0/-workspace-training/3ce5cff6-cccf-5f33-b0ee-0b147a55120e/scratchpad/img3/jh_table.png">    </p:cNvPr>
          <p:cNvPicPr>
            <a:picLocks noChangeAspect="1"/>
          </p:cNvPicPr>
          <p:nvPr/>
        </p:nvPicPr>
        <p:blipFill>
          <a:blip r:embed="rId1"/>
          <a:stretch>
            <a:fillRect/>
          </a:stretch>
        </p:blipFill>
        <p:spPr>
          <a:xfrm>
            <a:off x="484632" y="1298989"/>
            <a:ext cx="5111496" cy="2431222"/>
          </a:xfrm>
          <a:prstGeom prst="rect">
            <a:avLst/>
          </a:prstGeom>
        </p:spPr>
      </p:pic>
      <p:pic>
        <p:nvPicPr>
          <p:cNvPr id="8" name="Image 1" descr="preencoded.png">    </p:cNvPr>
          <p:cNvPicPr>
            <a:picLocks noChangeAspect="1"/>
          </p:cNvPicPr>
          <p:nvPr/>
        </p:nvPicPr>
        <p:blipFill>
          <a:blip r:embed="rId2"/>
          <a:stretch>
            <a:fillRect/>
          </a:stretch>
        </p:blipFill>
        <p:spPr>
          <a:xfrm>
            <a:off x="502920" y="3931920"/>
            <a:ext cx="182880" cy="182880"/>
          </a:xfrm>
          <a:prstGeom prst="rect">
            <a:avLst/>
          </a:prstGeom>
        </p:spPr>
      </p:pic>
      <p:sp>
        <p:nvSpPr>
          <p:cNvPr id="9" name="Text 4"/>
          <p:cNvSpPr txBox="1"/>
          <p:nvPr/>
        </p:nvSpPr>
        <p:spPr>
          <a:xfrm>
            <a:off x="731520" y="3904488"/>
            <a:ext cx="2743200" cy="237744"/>
          </a:xfrm>
          <a:prstGeom prst="rect">
            <a:avLst/>
          </a:prstGeom>
          <a:noFill/>
          <a:ln/>
        </p:spPr>
        <p:txBody>
          <a:bodyPr wrap="square" lIns="0" tIns="0" rIns="0" bIns="0" rtlCol="0" anchor="ctr"/>
          <a:lstStyle/>
          <a:p>
            <a:pPr indent="0" marL="0">
              <a:buNone/>
            </a:pPr>
            <a:r>
              <a:rPr lang="en-US" sz="950" b="1" dirty="0">
                <a:solidFill>
                  <a:srgbClr val="0B7A6F"/>
                </a:solidFill>
                <a:latin typeface="SF Pro Text" pitchFamily="34" charset="0"/>
                <a:ea typeface="SF Pro Text" pitchFamily="34" charset="-122"/>
                <a:cs typeface="SF Pro Text" pitchFamily="34" charset="-120"/>
              </a:rPr>
              <a:t>Read bottom to top</a:t>
            </a:r>
            <a:endParaRPr lang="en-US" sz="950" dirty="0"/>
          </a:p>
        </p:txBody>
      </p:sp>
      <p:sp>
        <p:nvSpPr>
          <p:cNvPr id="10" name="Shape 5"/>
          <p:cNvSpPr/>
          <p:nvPr/>
        </p:nvSpPr>
        <p:spPr>
          <a:xfrm>
            <a:off x="5806440" y="1188720"/>
            <a:ext cx="2926080" cy="457200"/>
          </a:xfrm>
          <a:prstGeom prst="roundRect">
            <a:avLst>
              <a:gd name="adj" fmla="val 20000"/>
            </a:avLst>
          </a:prstGeom>
          <a:solidFill>
            <a:srgbClr val="0B7A6F"/>
          </a:solidFill>
          <a:ln w="12700">
            <a:solidFill>
              <a:srgbClr val="0B7A6F"/>
            </a:solidFill>
            <a:prstDash val="solid"/>
          </a:ln>
        </p:spPr>
      </p:sp>
      <p:pic>
        <p:nvPicPr>
          <p:cNvPr id="11" name="Image 2" descr="preencoded.png">    </p:cNvPr>
          <p:cNvPicPr>
            <a:picLocks noChangeAspect="1"/>
          </p:cNvPicPr>
          <p:nvPr/>
        </p:nvPicPr>
        <p:blipFill>
          <a:blip r:embed="rId3"/>
          <a:stretch>
            <a:fillRect/>
          </a:stretch>
        </p:blipFill>
        <p:spPr>
          <a:xfrm>
            <a:off x="5989320" y="1307592"/>
            <a:ext cx="219456" cy="219456"/>
          </a:xfrm>
          <a:prstGeom prst="rect">
            <a:avLst/>
          </a:prstGeom>
        </p:spPr>
      </p:pic>
      <p:sp>
        <p:nvSpPr>
          <p:cNvPr id="12" name="Text 6"/>
          <p:cNvSpPr txBox="1"/>
          <p:nvPr/>
        </p:nvSpPr>
        <p:spPr>
          <a:xfrm>
            <a:off x="6309360" y="1188720"/>
            <a:ext cx="2286000" cy="457200"/>
          </a:xfrm>
          <a:prstGeom prst="rect">
            <a:avLst/>
          </a:prstGeom>
          <a:noFill/>
          <a:ln/>
        </p:spPr>
        <p:txBody>
          <a:bodyPr wrap="square" lIns="0" tIns="0" rIns="0" bIns="0" rtlCol="0" anchor="ctr"/>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The Story</a:t>
            </a:r>
            <a:endParaRPr lang="en-US" sz="1300" dirty="0"/>
          </a:p>
        </p:txBody>
      </p:sp>
      <p:sp>
        <p:nvSpPr>
          <p:cNvPr id="13" name="Shape 7"/>
          <p:cNvSpPr/>
          <p:nvPr/>
        </p:nvSpPr>
        <p:spPr>
          <a:xfrm>
            <a:off x="5806440" y="1737360"/>
            <a:ext cx="2926080" cy="2971800"/>
          </a:xfrm>
          <a:prstGeom prst="roundRect">
            <a:avLst>
              <a:gd name="adj" fmla="val 2500"/>
            </a:avLst>
          </a:prstGeom>
          <a:solidFill>
            <a:srgbClr val="E3F4F1"/>
          </a:solidFill>
          <a:ln w="9525">
            <a:solidFill>
              <a:srgbClr val="E3F4F1"/>
            </a:solidFill>
            <a:prstDash val="solid"/>
          </a:ln>
        </p:spPr>
      </p:sp>
      <p:sp>
        <p:nvSpPr>
          <p:cNvPr id="14" name="revealStory"/>
          <p:cNvSpPr txBox="1"/>
          <p:nvPr/>
        </p:nvSpPr>
        <p:spPr>
          <a:xfrm>
            <a:off x="5943600" y="1847088"/>
            <a:ext cx="2651760" cy="278892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7, 2026: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the system booked a cleaning for C Anjuli Kintanar for Sept 21, 10 AM CT, through the recurring cleaning plan.</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14: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claimed the job as scheduled.</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21, 9:19 AM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rescheduled from Sept 21, 10 AM CT to Sept 22, 11 AM.</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21, 9:50 AM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rescheduled again, from Sept 22, 11 AM to Sept 24, 12:30 PM CT.</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24, 4:09 PM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invoiced the appointment and the system logged it in snapshot.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fade">
                                      <p:cBhvr>
                                        <p:cTn id="7" dur="600"/>
                                        <p:tgtEl>
                                          <p:spTgt spid="1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xEl>
                                              <p:pRg st="1" end="1"/>
                                            </p:txEl>
                                          </p:spTgt>
                                        </p:tgtEl>
                                        <p:attrNameLst>
                                          <p:attrName>style.visibility</p:attrName>
                                        </p:attrNameLst>
                                      </p:cBhvr>
                                      <p:to>
                                        <p:strVal val="visible"/>
                                      </p:to>
                                    </p:set>
                                    <p:animEffect transition="in" filter="fade">
                                      <p:cBhvr>
                                        <p:cTn id="12" dur="600"/>
                                        <p:tgtEl>
                                          <p:spTgt spid="1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4">
                                            <p:txEl>
                                              <p:pRg st="2" end="2"/>
                                            </p:txEl>
                                          </p:spTgt>
                                        </p:tgtEl>
                                        <p:attrNameLst>
                                          <p:attrName>style.visibility</p:attrName>
                                        </p:attrNameLst>
                                      </p:cBhvr>
                                      <p:to>
                                        <p:strVal val="visible"/>
                                      </p:to>
                                    </p:set>
                                    <p:animEffect transition="in" filter="fade">
                                      <p:cBhvr>
                                        <p:cTn id="17" dur="600"/>
                                        <p:tgtEl>
                                          <p:spTgt spid="1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4">
                                            <p:txEl>
                                              <p:pRg st="3" end="3"/>
                                            </p:txEl>
                                          </p:spTgt>
                                        </p:tgtEl>
                                        <p:attrNameLst>
                                          <p:attrName>style.visibility</p:attrName>
                                        </p:attrNameLst>
                                      </p:cBhvr>
                                      <p:to>
                                        <p:strVal val="visible"/>
                                      </p:to>
                                    </p:set>
                                    <p:animEffect transition="in" filter="fade">
                                      <p:cBhvr>
                                        <p:cTn id="22" dur="600"/>
                                        <p:tgtEl>
                                          <p:spTgt spid="1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4">
                                            <p:txEl>
                                              <p:pRg st="4" end="4"/>
                                            </p:txEl>
                                          </p:spTgt>
                                        </p:tgtEl>
                                        <p:attrNameLst>
                                          <p:attrName>style.visibility</p:attrName>
                                        </p:attrNameLst>
                                      </p:cBhvr>
                                      <p:to>
                                        <p:strVal val="visible"/>
                                      </p:to>
                                    </p:set>
                                    <p:animEffect transition="in" filter="fade">
                                      <p:cBhvr>
                                        <p:cTn id="27" dur="600"/>
                                        <p:tgtEl>
                                          <p:spTgt spid="1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Practice: read a job history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Open the practice ticket and answer these four questions.</a:t>
            </a:r>
            <a:endParaRPr lang="en-US" sz="1200" dirty="0"/>
          </a:p>
        </p:txBody>
      </p:sp>
      <p:pic>
        <p:nvPicPr>
          <p:cNvPr id="6" name="Image 0" descr="preencoded.png">
            <a:hlinkClick r:id="rId2" tooltip="Open the practice job history"/>
          </p:cNvPr>
          <p:cNvPicPr>
            <a:picLocks noChangeAspect="1"/>
          </p:cNvPicPr>
          <p:nvPr/>
        </p:nvPicPr>
        <p:blipFill>
          <a:blip r:embed="rId1"/>
          <a:stretch>
            <a:fillRect/>
          </a:stretch>
        </p:blipFill>
        <p:spPr>
          <a:xfrm>
            <a:off x="411480" y="1325880"/>
            <a:ext cx="2834640" cy="548640"/>
          </a:xfrm>
          <a:prstGeom prst="rect">
            <a:avLst/>
          </a:prstGeom>
        </p:spPr>
      </p:pic>
      <p:sp>
        <p:nvSpPr>
          <p:cNvPr id="7" name="Text 3"/>
          <p:cNvSpPr txBox="1"/>
          <p:nvPr/>
        </p:nvSpPr>
        <p:spPr>
          <a:xfrm>
            <a:off x="3429000" y="1463040"/>
            <a:ext cx="2743200" cy="274320"/>
          </a:xfrm>
          <a:prstGeom prst="rect">
            <a:avLst/>
          </a:prstGeom>
          <a:noFill/>
          <a:ln/>
        </p:spPr>
        <p:txBody>
          <a:bodyPr wrap="square" lIns="0" tIns="0" rIns="0" bIns="0" rtlCol="0" anchor="ctr"/>
          <a:lstStyle/>
          <a:p>
            <a:pPr indent="0" marL="0">
              <a:buNone/>
            </a:pPr>
            <a:r>
              <a:rPr lang="en-US" sz="1000" u="sng" dirty="0">
                <a:solidFill>
                  <a:srgbClr val="0B7A6F"/>
                </a:solidFill>
                <a:latin typeface="SF Pro Text" pitchFamily="34" charset="0"/>
                <a:ea typeface="SF Pro Text" pitchFamily="34" charset="-122"/>
                <a:cs typeface="SF Pro Text" pitchFamily="34" charset="-120"/>
                <a:hlinkClick r:id="rId3" invalidUrl="" action="" tgtFrame="" tooltip="" history="1" highlightClick="0" endSnd="0">
                  <a:extLst>
                    <a:ext uri="{A12FA001-AC4F-418D-AE19-62706E023703}">
                      <ahyp:hlinkClr xmlns:ahyp="http://schemas.microsoft.com/office/drawing/2018/hyperlinkcolor" val="tx"/>
                    </a:ext>
                  </a:extLst>
                </a:hlinkClick>
              </a:rPr>
              <a:t>Job 12685237</a:t>
            </a:r>
            <a:endParaRPr lang="en-US" sz="1000" dirty="0"/>
          </a:p>
        </p:txBody>
      </p:sp>
      <p:sp>
        <p:nvSpPr>
          <p:cNvPr id="8" name="Shape 4"/>
          <p:cNvSpPr/>
          <p:nvPr/>
        </p:nvSpPr>
        <p:spPr>
          <a:xfrm>
            <a:off x="411480" y="2103120"/>
            <a:ext cx="4091940" cy="1097280"/>
          </a:xfrm>
          <a:prstGeom prst="roundRect">
            <a:avLst>
              <a:gd name="adj" fmla="val 6667"/>
            </a:avLst>
          </a:prstGeom>
          <a:solidFill>
            <a:srgbClr val="FFFFFF"/>
          </a:solidFill>
          <a:ln w="9525">
            <a:solidFill>
              <a:srgbClr val="DCE1E7"/>
            </a:solidFill>
            <a:prstDash val="solid"/>
          </a:ln>
        </p:spPr>
      </p:sp>
      <p:sp>
        <p:nvSpPr>
          <p:cNvPr id="9" name="Shape 5"/>
          <p:cNvSpPr/>
          <p:nvPr/>
        </p:nvSpPr>
        <p:spPr>
          <a:xfrm>
            <a:off x="576072" y="2286000"/>
            <a:ext cx="274320" cy="274320"/>
          </a:xfrm>
          <a:prstGeom prst="ellipse">
            <a:avLst/>
          </a:prstGeom>
          <a:solidFill>
            <a:srgbClr val="E3F4F1"/>
          </a:solidFill>
          <a:ln w="12700">
            <a:solidFill>
              <a:srgbClr val="E3F4F1"/>
            </a:solidFill>
            <a:prstDash val="solid"/>
          </a:ln>
        </p:spPr>
      </p:sp>
      <p:sp>
        <p:nvSpPr>
          <p:cNvPr id="10" name="Text 6"/>
          <p:cNvSpPr txBox="1"/>
          <p:nvPr/>
        </p:nvSpPr>
        <p:spPr>
          <a:xfrm>
            <a:off x="576072" y="22860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1" name="Text 7"/>
          <p:cNvSpPr txBox="1"/>
          <p:nvPr/>
        </p:nvSpPr>
        <p:spPr>
          <a:xfrm>
            <a:off x="1005840" y="224028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Who booked the appointment?</a:t>
            </a:r>
            <a:endParaRPr lang="en-US" sz="1050" dirty="0"/>
          </a:p>
        </p:txBody>
      </p:sp>
      <p:sp>
        <p:nvSpPr>
          <p:cNvPr id="12" name="Shape 8"/>
          <p:cNvSpPr/>
          <p:nvPr/>
        </p:nvSpPr>
        <p:spPr>
          <a:xfrm>
            <a:off x="4640580" y="2103120"/>
            <a:ext cx="4091940" cy="1097280"/>
          </a:xfrm>
          <a:prstGeom prst="roundRect">
            <a:avLst>
              <a:gd name="adj" fmla="val 6667"/>
            </a:avLst>
          </a:prstGeom>
          <a:solidFill>
            <a:srgbClr val="FFFFFF"/>
          </a:solidFill>
          <a:ln w="9525">
            <a:solidFill>
              <a:srgbClr val="DCE1E7"/>
            </a:solidFill>
            <a:prstDash val="solid"/>
          </a:ln>
        </p:spPr>
      </p:sp>
      <p:sp>
        <p:nvSpPr>
          <p:cNvPr id="13" name="Shape 9"/>
          <p:cNvSpPr/>
          <p:nvPr/>
        </p:nvSpPr>
        <p:spPr>
          <a:xfrm>
            <a:off x="4805172" y="228600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805172" y="22860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1"/>
          <p:cNvSpPr txBox="1"/>
          <p:nvPr/>
        </p:nvSpPr>
        <p:spPr>
          <a:xfrm>
            <a:off x="5234940" y="224028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When was the appointment initially scheduled for?</a:t>
            </a:r>
            <a:endParaRPr lang="en-US" sz="1050" dirty="0"/>
          </a:p>
        </p:txBody>
      </p:sp>
      <p:sp>
        <p:nvSpPr>
          <p:cNvPr id="16" name="Shape 12"/>
          <p:cNvSpPr/>
          <p:nvPr/>
        </p:nvSpPr>
        <p:spPr>
          <a:xfrm>
            <a:off x="411480" y="3337560"/>
            <a:ext cx="4091940" cy="1097280"/>
          </a:xfrm>
          <a:prstGeom prst="roundRect">
            <a:avLst>
              <a:gd name="adj" fmla="val 6667"/>
            </a:avLst>
          </a:prstGeom>
          <a:solidFill>
            <a:srgbClr val="FFFFFF"/>
          </a:solidFill>
          <a:ln w="9525">
            <a:solidFill>
              <a:srgbClr val="DCE1E7"/>
            </a:solidFill>
            <a:prstDash val="solid"/>
          </a:ln>
        </p:spPr>
      </p:sp>
      <p:sp>
        <p:nvSpPr>
          <p:cNvPr id="17" name="Shape 13"/>
          <p:cNvSpPr/>
          <p:nvPr/>
        </p:nvSpPr>
        <p:spPr>
          <a:xfrm>
            <a:off x="576072" y="3520440"/>
            <a:ext cx="274320" cy="274320"/>
          </a:xfrm>
          <a:prstGeom prst="ellipse">
            <a:avLst/>
          </a:prstGeom>
          <a:solidFill>
            <a:srgbClr val="E3F4F1"/>
          </a:solidFill>
          <a:ln w="12700">
            <a:solidFill>
              <a:srgbClr val="E3F4F1"/>
            </a:solidFill>
            <a:prstDash val="solid"/>
          </a:ln>
        </p:spPr>
      </p:sp>
      <p:sp>
        <p:nvSpPr>
          <p:cNvPr id="18" name="Text 14"/>
          <p:cNvSpPr txBox="1"/>
          <p:nvPr/>
        </p:nvSpPr>
        <p:spPr>
          <a:xfrm>
            <a:off x="576072" y="35204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5"/>
          <p:cNvSpPr txBox="1"/>
          <p:nvPr/>
        </p:nvSpPr>
        <p:spPr>
          <a:xfrm>
            <a:off x="1005840" y="347472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The customer writes: "I initially booked for Jan 12 at 1 PM, but I received a notification that I am booked for 2 PM. Why is that?"</a:t>
            </a:r>
            <a:endParaRPr lang="en-US" sz="1050" dirty="0"/>
          </a:p>
        </p:txBody>
      </p:sp>
      <p:sp>
        <p:nvSpPr>
          <p:cNvPr id="20" name="Shape 16"/>
          <p:cNvSpPr/>
          <p:nvPr/>
        </p:nvSpPr>
        <p:spPr>
          <a:xfrm>
            <a:off x="4640580" y="3337560"/>
            <a:ext cx="4091940" cy="1097280"/>
          </a:xfrm>
          <a:prstGeom prst="roundRect">
            <a:avLst>
              <a:gd name="adj" fmla="val 6667"/>
            </a:avLst>
          </a:prstGeom>
          <a:solidFill>
            <a:srgbClr val="FFFFFF"/>
          </a:solidFill>
          <a:ln w="9525">
            <a:solidFill>
              <a:srgbClr val="DCE1E7"/>
            </a:solidFill>
            <a:prstDash val="solid"/>
          </a:ln>
        </p:spPr>
      </p:sp>
      <p:sp>
        <p:nvSpPr>
          <p:cNvPr id="21" name="Shape 17"/>
          <p:cNvSpPr/>
          <p:nvPr/>
        </p:nvSpPr>
        <p:spPr>
          <a:xfrm>
            <a:off x="4805172" y="3520440"/>
            <a:ext cx="274320" cy="274320"/>
          </a:xfrm>
          <a:prstGeom prst="ellipse">
            <a:avLst/>
          </a:prstGeom>
          <a:solidFill>
            <a:srgbClr val="E3F4F1"/>
          </a:solidFill>
          <a:ln w="12700">
            <a:solidFill>
              <a:srgbClr val="E3F4F1"/>
            </a:solidFill>
            <a:prstDash val="solid"/>
          </a:ln>
        </p:spPr>
      </p:sp>
      <p:sp>
        <p:nvSpPr>
          <p:cNvPr id="22" name="Text 18"/>
          <p:cNvSpPr txBox="1"/>
          <p:nvPr/>
        </p:nvSpPr>
        <p:spPr>
          <a:xfrm>
            <a:off x="4805172" y="35204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3" name="Text 19"/>
          <p:cNvSpPr txBox="1"/>
          <p:nvPr/>
        </p:nvSpPr>
        <p:spPr>
          <a:xfrm>
            <a:off x="5234940" y="347472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happened on Jan 8 at 5:58 PM?</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Callback Handling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When to call a customer back, how many times to try, and what to do next.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to call</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call steps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Answered, missed or voicemail</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Keeping callbacks from slipping</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Asked for a call? Call them.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We don't take inbound calls, but we call out when a customer asks, or when something needs an answer now.</a:t>
            </a:r>
            <a:endParaRPr lang="en-US" sz="1200" dirty="0"/>
          </a:p>
        </p:txBody>
      </p:sp>
      <p:sp>
        <p:nvSpPr>
          <p:cNvPr id="6" name="Shape 3"/>
          <p:cNvSpPr/>
          <p:nvPr/>
        </p:nvSpPr>
        <p:spPr>
          <a:xfrm>
            <a:off x="411480" y="1371600"/>
            <a:ext cx="8321040" cy="1005840"/>
          </a:xfrm>
          <a:prstGeom prst="roundRect">
            <a:avLst>
              <a:gd name="adj" fmla="val 7273"/>
            </a:avLst>
          </a:prstGeom>
          <a:solidFill>
            <a:srgbClr val="0B7A6F"/>
          </a:solidFill>
          <a:ln w="9525">
            <a:solidFill>
              <a:srgbClr val="0B7A6F"/>
            </a:solidFill>
            <a:prstDash val="solid"/>
          </a:ln>
        </p:spPr>
      </p:sp>
      <p:sp>
        <p:nvSpPr>
          <p:cNvPr id="7" name="Text 4"/>
          <p:cNvSpPr txBox="1"/>
          <p:nvPr/>
        </p:nvSpPr>
        <p:spPr>
          <a:xfrm>
            <a:off x="685800" y="1490472"/>
            <a:ext cx="45720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AGENT DO</a:t>
            </a:r>
            <a:endParaRPr lang="en-US" sz="800" dirty="0"/>
          </a:p>
        </p:txBody>
      </p:sp>
      <p:sp>
        <p:nvSpPr>
          <p:cNvPr id="8" name="Text 5"/>
          <p:cNvSpPr txBox="1"/>
          <p:nvPr/>
        </p:nvSpPr>
        <p:spPr>
          <a:xfrm>
            <a:off x="685800" y="1719072"/>
            <a:ext cx="7863840" cy="548640"/>
          </a:xfrm>
          <a:prstGeom prst="rect">
            <a:avLst/>
          </a:prstGeom>
          <a:noFill/>
          <a:ln/>
        </p:spPr>
        <p:txBody>
          <a:bodyPr wrap="square" lIns="0" tIns="0" rIns="0" bIns="0" rtlCol="0" anchor="t"/>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Callback request between 8 AM and 8 PM (customer's local time)? Call right away. The request is enough.</a:t>
            </a:r>
            <a:endParaRPr lang="en-US" sz="1400" dirty="0"/>
          </a:p>
        </p:txBody>
      </p:sp>
      <p:sp>
        <p:nvSpPr>
          <p:cNvPr id="9" name="Shape 6"/>
          <p:cNvSpPr/>
          <p:nvPr/>
        </p:nvSpPr>
        <p:spPr>
          <a:xfrm>
            <a:off x="411480" y="2560320"/>
            <a:ext cx="4091940" cy="1508760"/>
          </a:xfrm>
          <a:prstGeom prst="roundRect">
            <a:avLst>
              <a:gd name="adj" fmla="val 4848"/>
            </a:avLst>
          </a:prstGeom>
          <a:solidFill>
            <a:srgbClr val="FFFFFF"/>
          </a:solidFill>
          <a:ln w="9525">
            <a:solidFill>
              <a:srgbClr val="DCE1E7"/>
            </a:solidFill>
            <a:prstDash val="solid"/>
          </a:ln>
        </p:spPr>
      </p:sp>
      <p:sp>
        <p:nvSpPr>
          <p:cNvPr id="10" name="Shape 7"/>
          <p:cNvSpPr/>
          <p:nvPr/>
        </p:nvSpPr>
        <p:spPr>
          <a:xfrm>
            <a:off x="576072" y="2724912"/>
            <a:ext cx="329184" cy="329184"/>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655076" y="2803916"/>
            <a:ext cx="171176" cy="171176"/>
          </a:xfrm>
          <a:prstGeom prst="rect">
            <a:avLst/>
          </a:prstGeom>
        </p:spPr>
      </p:pic>
      <p:sp>
        <p:nvSpPr>
          <p:cNvPr id="12" name="Text 8"/>
          <p:cNvSpPr txBox="1"/>
          <p:nvPr/>
        </p:nvSpPr>
        <p:spPr>
          <a:xfrm>
            <a:off x="576072" y="3163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Respect their choice</a:t>
            </a:r>
            <a:endParaRPr lang="en-US" sz="1200" dirty="0"/>
          </a:p>
        </p:txBody>
      </p:sp>
      <p:sp>
        <p:nvSpPr>
          <p:cNvPr id="13" name="Text 9"/>
          <p:cNvSpPr txBox="1"/>
          <p:nvPr/>
        </p:nvSpPr>
        <p:spPr>
          <a:xfrm>
            <a:off x="576072" y="3456432"/>
            <a:ext cx="3762756" cy="5212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asked for a call, so they get one, however minor the ticket looks.</a:t>
            </a:r>
            <a:endParaRPr lang="en-US" sz="950" dirty="0"/>
          </a:p>
        </p:txBody>
      </p:sp>
      <p:sp>
        <p:nvSpPr>
          <p:cNvPr id="14" name="Shape 10"/>
          <p:cNvSpPr/>
          <p:nvPr/>
        </p:nvSpPr>
        <p:spPr>
          <a:xfrm>
            <a:off x="4640580" y="2560320"/>
            <a:ext cx="4091940" cy="1508760"/>
          </a:xfrm>
          <a:prstGeom prst="roundRect">
            <a:avLst>
              <a:gd name="adj" fmla="val 4848"/>
            </a:avLst>
          </a:prstGeom>
          <a:solidFill>
            <a:srgbClr val="FFFFFF"/>
          </a:solidFill>
          <a:ln w="9525">
            <a:solidFill>
              <a:srgbClr val="DCE1E7"/>
            </a:solidFill>
            <a:prstDash val="solid"/>
          </a:ln>
        </p:spPr>
      </p:sp>
      <p:sp>
        <p:nvSpPr>
          <p:cNvPr id="15" name="Shape 11"/>
          <p:cNvSpPr/>
          <p:nvPr/>
        </p:nvSpPr>
        <p:spPr>
          <a:xfrm>
            <a:off x="4805172" y="2724912"/>
            <a:ext cx="329184" cy="329184"/>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4884176" y="2803916"/>
            <a:ext cx="171176" cy="171176"/>
          </a:xfrm>
          <a:prstGeom prst="rect">
            <a:avLst/>
          </a:prstGeom>
        </p:spPr>
      </p:pic>
      <p:sp>
        <p:nvSpPr>
          <p:cNvPr id="17" name="Text 12"/>
          <p:cNvSpPr txBox="1"/>
          <p:nvPr/>
        </p:nvSpPr>
        <p:spPr>
          <a:xfrm>
            <a:off x="4805172" y="3163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lose a callback</a:t>
            </a:r>
            <a:endParaRPr lang="en-US" sz="1200" dirty="0"/>
          </a:p>
        </p:txBody>
      </p:sp>
      <p:sp>
        <p:nvSpPr>
          <p:cNvPr id="18" name="Text 13"/>
          <p:cNvSpPr txBox="1"/>
          <p:nvPr/>
        </p:nvSpPr>
        <p:spPr>
          <a:xfrm>
            <a:off x="4805172" y="3456432"/>
            <a:ext cx="3762756" cy="5212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Reminders and the tracker keep promises from slipping between shifts.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call steps</a:t>
            </a:r>
            <a:endParaRPr lang="en-US" sz="2400" dirty="0"/>
          </a:p>
        </p:txBody>
      </p:sp>
      <p:sp>
        <p:nvSpPr>
          <p:cNvPr id="5" name="Shape 2"/>
          <p:cNvSpPr/>
          <p:nvPr/>
        </p:nvSpPr>
        <p:spPr>
          <a:xfrm>
            <a:off x="411480" y="1280160"/>
            <a:ext cx="2468880" cy="2194560"/>
          </a:xfrm>
          <a:prstGeom prst="roundRect">
            <a:avLst>
              <a:gd name="adj" fmla="val 3333"/>
            </a:avLst>
          </a:prstGeom>
          <a:solidFill>
            <a:srgbClr val="FFFFFF"/>
          </a:solidFill>
          <a:ln w="9525">
            <a:solidFill>
              <a:srgbClr val="DCE1E7"/>
            </a:solidFill>
            <a:prstDash val="solid"/>
          </a:ln>
        </p:spPr>
      </p:sp>
      <p:sp>
        <p:nvSpPr>
          <p:cNvPr id="6" name="Shape 3"/>
          <p:cNvSpPr/>
          <p:nvPr/>
        </p:nvSpPr>
        <p:spPr>
          <a:xfrm>
            <a:off x="1371600" y="1463040"/>
            <a:ext cx="548640" cy="54864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1503274" y="1594714"/>
            <a:ext cx="285293" cy="285293"/>
          </a:xfrm>
          <a:prstGeom prst="rect">
            <a:avLst/>
          </a:prstGeom>
        </p:spPr>
      </p:pic>
      <p:sp>
        <p:nvSpPr>
          <p:cNvPr id="8" name="Text 4"/>
          <p:cNvSpPr txBox="1"/>
          <p:nvPr/>
        </p:nvSpPr>
        <p:spPr>
          <a:xfrm>
            <a:off x="41148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a:t>
            </a:r>
            <a:endParaRPr lang="en-US" sz="800" dirty="0"/>
          </a:p>
        </p:txBody>
      </p:sp>
      <p:sp>
        <p:nvSpPr>
          <p:cNvPr id="9" name="Text 5"/>
          <p:cNvSpPr txBox="1"/>
          <p:nvPr/>
        </p:nvSpPr>
        <p:spPr>
          <a:xfrm>
            <a:off x="54864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Callback requested?</a:t>
            </a:r>
            <a:endParaRPr lang="en-US" sz="1250" dirty="0"/>
          </a:p>
        </p:txBody>
      </p:sp>
      <p:sp>
        <p:nvSpPr>
          <p:cNvPr id="10" name="Text 6"/>
          <p:cNvSpPr txBox="1"/>
          <p:nvPr/>
        </p:nvSpPr>
        <p:spPr>
          <a:xfrm>
            <a:off x="54864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 handle the ticket as usual</a:t>
            </a:r>
            <a:endParaRPr lang="en-US" sz="1000" dirty="0"/>
          </a:p>
        </p:txBody>
      </p:sp>
      <p:pic>
        <p:nvPicPr>
          <p:cNvPr id="11" name="Image 1" descr="preencoded.png">    </p:cNvPr>
          <p:cNvPicPr>
            <a:picLocks noChangeAspect="1"/>
          </p:cNvPicPr>
          <p:nvPr/>
        </p:nvPicPr>
        <p:blipFill>
          <a:blip r:embed="rId2"/>
          <a:stretch>
            <a:fillRect/>
          </a:stretch>
        </p:blipFill>
        <p:spPr>
          <a:xfrm>
            <a:off x="2999232" y="2240280"/>
            <a:ext cx="219456" cy="219456"/>
          </a:xfrm>
          <a:prstGeom prst="rect">
            <a:avLst/>
          </a:prstGeom>
        </p:spPr>
      </p:pic>
      <p:sp>
        <p:nvSpPr>
          <p:cNvPr id="12" name="Shape 7"/>
          <p:cNvSpPr/>
          <p:nvPr/>
        </p:nvSpPr>
        <p:spPr>
          <a:xfrm>
            <a:off x="3337560" y="1280160"/>
            <a:ext cx="2468880" cy="2194560"/>
          </a:xfrm>
          <a:prstGeom prst="roundRect">
            <a:avLst>
              <a:gd name="adj" fmla="val 3333"/>
            </a:avLst>
          </a:prstGeom>
          <a:solidFill>
            <a:srgbClr val="FFFFFF"/>
          </a:solidFill>
          <a:ln w="9525">
            <a:solidFill>
              <a:srgbClr val="DCE1E7"/>
            </a:solidFill>
            <a:prstDash val="solid"/>
          </a:ln>
        </p:spPr>
      </p:sp>
      <p:sp>
        <p:nvSpPr>
          <p:cNvPr id="13" name="Shape 8"/>
          <p:cNvSpPr/>
          <p:nvPr/>
        </p:nvSpPr>
        <p:spPr>
          <a:xfrm>
            <a:off x="4297680" y="1463040"/>
            <a:ext cx="548640" cy="548640"/>
          </a:xfrm>
          <a:prstGeom prst="ellipse">
            <a:avLst/>
          </a:prstGeom>
          <a:solidFill>
            <a:srgbClr val="E3F4F1"/>
          </a:solidFill>
          <a:ln w="12700">
            <a:solidFill>
              <a:srgbClr val="E3F4F1"/>
            </a:solidFill>
            <a:prstDash val="solid"/>
          </a:ln>
        </p:spPr>
      </p:sp>
      <p:pic>
        <p:nvPicPr>
          <p:cNvPr id="14" name="Image 2" descr="preencoded.png">    </p:cNvPr>
          <p:cNvPicPr>
            <a:picLocks noChangeAspect="1"/>
          </p:cNvPicPr>
          <p:nvPr/>
        </p:nvPicPr>
        <p:blipFill>
          <a:blip r:embed="rId3"/>
          <a:stretch>
            <a:fillRect/>
          </a:stretch>
        </p:blipFill>
        <p:spPr>
          <a:xfrm>
            <a:off x="4429354" y="1594714"/>
            <a:ext cx="285293" cy="285293"/>
          </a:xfrm>
          <a:prstGeom prst="rect">
            <a:avLst/>
          </a:prstGeom>
        </p:spPr>
      </p:pic>
      <p:sp>
        <p:nvSpPr>
          <p:cNvPr id="15" name="Text 9"/>
          <p:cNvSpPr txBox="1"/>
          <p:nvPr/>
        </p:nvSpPr>
        <p:spPr>
          <a:xfrm>
            <a:off x="333756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a:t>
            </a:r>
            <a:endParaRPr lang="en-US" sz="800" dirty="0"/>
          </a:p>
        </p:txBody>
      </p:sp>
      <p:sp>
        <p:nvSpPr>
          <p:cNvPr id="16" name="Text 10"/>
          <p:cNvSpPr txBox="1"/>
          <p:nvPr/>
        </p:nvSpPr>
        <p:spPr>
          <a:xfrm>
            <a:off x="347472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8 AM – 8 PM their time?</a:t>
            </a:r>
            <a:endParaRPr lang="en-US" sz="1250" dirty="0"/>
          </a:p>
        </p:txBody>
      </p:sp>
      <p:sp>
        <p:nvSpPr>
          <p:cNvPr id="17" name="Text 11"/>
          <p:cNvSpPr txBox="1"/>
          <p:nvPr/>
        </p:nvSpPr>
        <p:spPr>
          <a:xfrm>
            <a:off x="347472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 email, and ask for their availability</a:t>
            </a:r>
            <a:endParaRPr lang="en-US" sz="1000" dirty="0"/>
          </a:p>
        </p:txBody>
      </p:sp>
      <p:pic>
        <p:nvPicPr>
          <p:cNvPr id="18" name="Image 3" descr="preencoded.png">    </p:cNvPr>
          <p:cNvPicPr>
            <a:picLocks noChangeAspect="1"/>
          </p:cNvPicPr>
          <p:nvPr/>
        </p:nvPicPr>
        <p:blipFill>
          <a:blip r:embed="rId4"/>
          <a:stretch>
            <a:fillRect/>
          </a:stretch>
        </p:blipFill>
        <p:spPr>
          <a:xfrm>
            <a:off x="5925312" y="2240280"/>
            <a:ext cx="219456" cy="219456"/>
          </a:xfrm>
          <a:prstGeom prst="rect">
            <a:avLst/>
          </a:prstGeom>
        </p:spPr>
      </p:pic>
      <p:sp>
        <p:nvSpPr>
          <p:cNvPr id="19" name="Shape 12"/>
          <p:cNvSpPr/>
          <p:nvPr/>
        </p:nvSpPr>
        <p:spPr>
          <a:xfrm>
            <a:off x="6263640" y="1280160"/>
            <a:ext cx="2468880" cy="2194560"/>
          </a:xfrm>
          <a:prstGeom prst="roundRect">
            <a:avLst>
              <a:gd name="adj" fmla="val 3333"/>
            </a:avLst>
          </a:prstGeom>
          <a:solidFill>
            <a:srgbClr val="FFFFFF"/>
          </a:solidFill>
          <a:ln w="9525">
            <a:solidFill>
              <a:srgbClr val="DCE1E7"/>
            </a:solidFill>
            <a:prstDash val="solid"/>
          </a:ln>
        </p:spPr>
      </p:sp>
      <p:sp>
        <p:nvSpPr>
          <p:cNvPr id="20" name="Shape 13"/>
          <p:cNvSpPr/>
          <p:nvPr/>
        </p:nvSpPr>
        <p:spPr>
          <a:xfrm>
            <a:off x="7223760" y="1463040"/>
            <a:ext cx="548640" cy="548640"/>
          </a:xfrm>
          <a:prstGeom prst="ellipse">
            <a:avLst/>
          </a:prstGeom>
          <a:solidFill>
            <a:srgbClr val="E3F4F1"/>
          </a:solidFill>
          <a:ln w="12700">
            <a:solidFill>
              <a:srgbClr val="E3F4F1"/>
            </a:solidFill>
            <a:prstDash val="solid"/>
          </a:ln>
        </p:spPr>
      </p:sp>
      <p:pic>
        <p:nvPicPr>
          <p:cNvPr id="21" name="Image 4" descr="preencoded.png">    </p:cNvPr>
          <p:cNvPicPr>
            <a:picLocks noChangeAspect="1"/>
          </p:cNvPicPr>
          <p:nvPr/>
        </p:nvPicPr>
        <p:blipFill>
          <a:blip r:embed="rId5"/>
          <a:stretch>
            <a:fillRect/>
          </a:stretch>
        </p:blipFill>
        <p:spPr>
          <a:xfrm>
            <a:off x="7355434" y="1594714"/>
            <a:ext cx="285293" cy="285293"/>
          </a:xfrm>
          <a:prstGeom prst="rect">
            <a:avLst/>
          </a:prstGeom>
        </p:spPr>
      </p:pic>
      <p:sp>
        <p:nvSpPr>
          <p:cNvPr id="22" name="Text 14"/>
          <p:cNvSpPr txBox="1"/>
          <p:nvPr/>
        </p:nvSpPr>
        <p:spPr>
          <a:xfrm>
            <a:off x="626364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3</a:t>
            </a:r>
            <a:endParaRPr lang="en-US" sz="800" dirty="0"/>
          </a:p>
        </p:txBody>
      </p:sp>
      <p:sp>
        <p:nvSpPr>
          <p:cNvPr id="23" name="Text 15"/>
          <p:cNvSpPr txBox="1"/>
          <p:nvPr/>
        </p:nvSpPr>
        <p:spPr>
          <a:xfrm>
            <a:off x="640080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Call up to 3 times</a:t>
            </a:r>
            <a:endParaRPr lang="en-US" sz="1250" dirty="0"/>
          </a:p>
        </p:txBody>
      </p:sp>
      <p:sp>
        <p:nvSpPr>
          <p:cNvPr id="24" name="Text 16"/>
          <p:cNvSpPr txBox="1"/>
          <p:nvPr/>
        </p:nvSpPr>
        <p:spPr>
          <a:xfrm>
            <a:off x="640080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hape 17"/>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6" name="Image 5" descr="preencoded.png">    </p:cNvPr>
          <p:cNvPicPr>
            <a:picLocks noChangeAspect="1"/>
          </p:cNvPicPr>
          <p:nvPr/>
        </p:nvPicPr>
        <p:blipFill>
          <a:blip r:embed="rId6"/>
          <a:stretch>
            <a:fillRect/>
          </a:stretch>
        </p:blipFill>
        <p:spPr>
          <a:xfrm>
            <a:off x="566928" y="3813048"/>
            <a:ext cx="164592" cy="164592"/>
          </a:xfrm>
          <a:prstGeom prst="rect">
            <a:avLst/>
          </a:prstGeom>
        </p:spPr>
      </p:pic>
      <p:sp>
        <p:nvSpPr>
          <p:cNvPr id="27" name="Text 18"/>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order:  </a:t>
            </a:r>
            <a:pPr indent="0" marL="0">
              <a:buNone/>
            </a:pPr>
            <a:r>
              <a:rPr lang="en-US" sz="1000" dirty="0">
                <a:solidFill>
                  <a:srgbClr val="1D1D1F"/>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call from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customer's page in the New C CRM.</a:t>
            </a:r>
            <a:endParaRPr lang="en-US" sz="1200" dirty="0"/>
          </a:p>
        </p:txBody>
      </p:sp>
      <p:sp>
        <p:nvSpPr>
          <p:cNvPr id="6" name="Shape 3"/>
          <p:cNvSpPr/>
          <p:nvPr/>
        </p:nvSpPr>
        <p:spPr>
          <a:xfrm>
            <a:off x="411480" y="1234440"/>
            <a:ext cx="3977640" cy="1143000"/>
          </a:xfrm>
          <a:prstGeom prst="roundRect">
            <a:avLst>
              <a:gd name="adj" fmla="val 6400"/>
            </a:avLst>
          </a:prstGeom>
          <a:solidFill>
            <a:srgbClr val="FFFFFF"/>
          </a:solidFill>
          <a:ln w="9525">
            <a:solidFill>
              <a:srgbClr val="DCE1E7"/>
            </a:solidFill>
            <a:prstDash val="solid"/>
          </a:ln>
        </p:spPr>
      </p:sp>
      <p:pic>
        <p:nvPicPr>
          <p:cNvPr id="7" name="Image 0" descr="/tmp/claude-0/-workspace-training/3ce5cff6-cccf-5f33-b0ee-0b147a55120e/scratchpad/img3/callback_crm_half.png">    </p:cNvPr>
          <p:cNvPicPr>
            <a:picLocks noChangeAspect="1"/>
          </p:cNvPicPr>
          <p:nvPr/>
        </p:nvPicPr>
        <p:blipFill>
          <a:blip r:embed="rId1"/>
          <a:stretch>
            <a:fillRect/>
          </a:stretch>
        </p:blipFill>
        <p:spPr>
          <a:xfrm>
            <a:off x="484632" y="1335645"/>
            <a:ext cx="3831336" cy="940590"/>
          </a:xfrm>
          <a:prstGeom prst="rect">
            <a:avLst/>
          </a:prstGeom>
        </p:spPr>
      </p:pic>
      <p:sp>
        <p:nvSpPr>
          <p:cNvPr id="8" name="Shape 4"/>
          <p:cNvSpPr/>
          <p:nvPr/>
        </p:nvSpPr>
        <p:spPr>
          <a:xfrm>
            <a:off x="3870755" y="1366998"/>
            <a:ext cx="388777" cy="156765"/>
          </a:xfrm>
          <a:prstGeom prst="roundRect">
            <a:avLst>
              <a:gd name="adj" fmla="val 17499"/>
            </a:avLst>
          </a:prstGeom>
          <a:ln w="25400">
            <a:solidFill>
              <a:srgbClr val="0B7A6F"/>
            </a:solidFill>
            <a:prstDash val="solid"/>
          </a:ln>
        </p:spPr>
      </p:sp>
      <p:sp>
        <p:nvSpPr>
          <p:cNvPr id="9" name="Shape 5"/>
          <p:cNvSpPr/>
          <p:nvPr/>
        </p:nvSpPr>
        <p:spPr>
          <a:xfrm>
            <a:off x="3770171" y="1266414"/>
            <a:ext cx="201168" cy="201168"/>
          </a:xfrm>
          <a:prstGeom prst="ellipse">
            <a:avLst/>
          </a:prstGeom>
          <a:solidFill>
            <a:srgbClr val="0B7A6F"/>
          </a:solidFill>
          <a:ln w="12700">
            <a:solidFill>
              <a:srgbClr val="FFFFFF"/>
            </a:solidFill>
            <a:prstDash val="solid"/>
          </a:ln>
        </p:spPr>
      </p:sp>
      <p:sp>
        <p:nvSpPr>
          <p:cNvPr id="10" name="Text 6"/>
          <p:cNvSpPr txBox="1"/>
          <p:nvPr/>
        </p:nvSpPr>
        <p:spPr>
          <a:xfrm>
            <a:off x="3770171" y="126641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3469437" y="1366998"/>
            <a:ext cx="395048" cy="156765"/>
          </a:xfrm>
          <a:prstGeom prst="roundRect">
            <a:avLst>
              <a:gd name="adj" fmla="val 17499"/>
            </a:avLst>
          </a:prstGeom>
          <a:ln w="25400">
            <a:solidFill>
              <a:srgbClr val="0B7A6F"/>
            </a:solidFill>
            <a:prstDash val="solid"/>
          </a:ln>
        </p:spPr>
      </p:sp>
      <p:sp>
        <p:nvSpPr>
          <p:cNvPr id="12" name="Shape 8"/>
          <p:cNvSpPr/>
          <p:nvPr/>
        </p:nvSpPr>
        <p:spPr>
          <a:xfrm>
            <a:off x="3368853" y="1266414"/>
            <a:ext cx="201168" cy="201168"/>
          </a:xfrm>
          <a:prstGeom prst="ellipse">
            <a:avLst/>
          </a:prstGeom>
          <a:solidFill>
            <a:srgbClr val="0B7A6F"/>
          </a:solidFill>
          <a:ln w="12700">
            <a:solidFill>
              <a:srgbClr val="FFFFFF"/>
            </a:solidFill>
            <a:prstDash val="solid"/>
          </a:ln>
        </p:spPr>
      </p:sp>
      <p:sp>
        <p:nvSpPr>
          <p:cNvPr id="13" name="Text 9"/>
          <p:cNvSpPr txBox="1"/>
          <p:nvPr/>
        </p:nvSpPr>
        <p:spPr>
          <a:xfrm>
            <a:off x="3368853" y="126641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2484953" y="1937623"/>
            <a:ext cx="733660" cy="112871"/>
          </a:xfrm>
          <a:prstGeom prst="roundRect">
            <a:avLst>
              <a:gd name="adj" fmla="val 24304"/>
            </a:avLst>
          </a:prstGeom>
          <a:ln w="25400">
            <a:solidFill>
              <a:srgbClr val="0B7A6F"/>
            </a:solidFill>
            <a:prstDash val="solid"/>
          </a:ln>
        </p:spPr>
      </p:sp>
      <p:sp>
        <p:nvSpPr>
          <p:cNvPr id="15" name="Shape 11"/>
          <p:cNvSpPr/>
          <p:nvPr/>
        </p:nvSpPr>
        <p:spPr>
          <a:xfrm>
            <a:off x="2384369" y="1837039"/>
            <a:ext cx="201168" cy="201168"/>
          </a:xfrm>
          <a:prstGeom prst="ellipse">
            <a:avLst/>
          </a:prstGeom>
          <a:solidFill>
            <a:srgbClr val="0B7A6F"/>
          </a:solidFill>
          <a:ln w="12700">
            <a:solidFill>
              <a:srgbClr val="FFFFFF"/>
            </a:solidFill>
            <a:prstDash val="solid"/>
          </a:ln>
        </p:spPr>
      </p:sp>
      <p:sp>
        <p:nvSpPr>
          <p:cNvPr id="16" name="Text 12"/>
          <p:cNvSpPr txBox="1"/>
          <p:nvPr/>
        </p:nvSpPr>
        <p:spPr>
          <a:xfrm>
            <a:off x="2384369" y="183703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a:t>
            </a:r>
            <a:endParaRPr lang="en-US" sz="800" dirty="0"/>
          </a:p>
        </p:txBody>
      </p:sp>
      <p:sp>
        <p:nvSpPr>
          <p:cNvPr id="17" name="Shape 13"/>
          <p:cNvSpPr/>
          <p:nvPr/>
        </p:nvSpPr>
        <p:spPr>
          <a:xfrm>
            <a:off x="411480" y="2514600"/>
            <a:ext cx="3977640" cy="457200"/>
          </a:xfrm>
          <a:prstGeom prst="roundRect">
            <a:avLst>
              <a:gd name="adj" fmla="val 16000"/>
            </a:avLst>
          </a:prstGeom>
          <a:solidFill>
            <a:srgbClr val="FFFFFF"/>
          </a:solidFill>
          <a:ln w="9525">
            <a:solidFill>
              <a:srgbClr val="DCE1E7"/>
            </a:solidFill>
            <a:prstDash val="solid"/>
          </a:ln>
        </p:spPr>
      </p:sp>
      <p:sp>
        <p:nvSpPr>
          <p:cNvPr id="18" name="Shape 14"/>
          <p:cNvSpPr/>
          <p:nvPr/>
        </p:nvSpPr>
        <p:spPr>
          <a:xfrm>
            <a:off x="539496" y="2615184"/>
            <a:ext cx="256032" cy="256032"/>
          </a:xfrm>
          <a:prstGeom prst="ellipse">
            <a:avLst/>
          </a:prstGeom>
          <a:solidFill>
            <a:srgbClr val="0B7A6F"/>
          </a:solidFill>
          <a:ln w="12700">
            <a:solidFill>
              <a:srgbClr val="0B7A6F"/>
            </a:solidFill>
            <a:prstDash val="solid"/>
          </a:ln>
        </p:spPr>
      </p:sp>
      <p:sp>
        <p:nvSpPr>
          <p:cNvPr id="19" name="Text 15"/>
          <p:cNvSpPr txBox="1"/>
          <p:nvPr/>
        </p:nvSpPr>
        <p:spPr>
          <a:xfrm>
            <a:off x="539496" y="26151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914400" y="2560320"/>
            <a:ext cx="338328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Callbox: primary number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1st, from the primary number</a:t>
            </a:r>
            <a:endParaRPr lang="en-US" sz="1050" dirty="0"/>
          </a:p>
        </p:txBody>
      </p:sp>
      <p:sp>
        <p:nvSpPr>
          <p:cNvPr id="21" name="Shape 17"/>
          <p:cNvSpPr/>
          <p:nvPr/>
        </p:nvSpPr>
        <p:spPr>
          <a:xfrm>
            <a:off x="411480" y="3063240"/>
            <a:ext cx="3977640" cy="457200"/>
          </a:xfrm>
          <a:prstGeom prst="roundRect">
            <a:avLst>
              <a:gd name="adj" fmla="val 16000"/>
            </a:avLst>
          </a:prstGeom>
          <a:solidFill>
            <a:srgbClr val="FFFFFF"/>
          </a:solidFill>
          <a:ln w="9525">
            <a:solidFill>
              <a:srgbClr val="DCE1E7"/>
            </a:solidFill>
            <a:prstDash val="solid"/>
          </a:ln>
        </p:spPr>
      </p:sp>
      <p:sp>
        <p:nvSpPr>
          <p:cNvPr id="22" name="Shape 18"/>
          <p:cNvSpPr/>
          <p:nvPr/>
        </p:nvSpPr>
        <p:spPr>
          <a:xfrm>
            <a:off x="539496" y="3163824"/>
            <a:ext cx="256032" cy="256032"/>
          </a:xfrm>
          <a:prstGeom prst="ellipse">
            <a:avLst/>
          </a:prstGeom>
          <a:solidFill>
            <a:srgbClr val="0B7A6F"/>
          </a:solidFill>
          <a:ln w="12700">
            <a:solidFill>
              <a:srgbClr val="0B7A6F"/>
            </a:solidFill>
            <a:prstDash val="solid"/>
          </a:ln>
        </p:spPr>
      </p:sp>
      <p:sp>
        <p:nvSpPr>
          <p:cNvPr id="23" name="Text 19"/>
          <p:cNvSpPr txBox="1"/>
          <p:nvPr/>
        </p:nvSpPr>
        <p:spPr>
          <a:xfrm>
            <a:off x="539496" y="31638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914400" y="3108960"/>
            <a:ext cx="338328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GVoice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2nd, with Google Voice</a:t>
            </a:r>
            <a:endParaRPr lang="en-US" sz="1050" dirty="0"/>
          </a:p>
        </p:txBody>
      </p:sp>
      <p:sp>
        <p:nvSpPr>
          <p:cNvPr id="25" name="Shape 21"/>
          <p:cNvSpPr/>
          <p:nvPr/>
        </p:nvSpPr>
        <p:spPr>
          <a:xfrm>
            <a:off x="411480" y="3611880"/>
            <a:ext cx="3977640" cy="457200"/>
          </a:xfrm>
          <a:prstGeom prst="roundRect">
            <a:avLst>
              <a:gd name="adj" fmla="val 16000"/>
            </a:avLst>
          </a:prstGeom>
          <a:solidFill>
            <a:srgbClr val="FFFFFF"/>
          </a:solidFill>
          <a:ln w="9525">
            <a:solidFill>
              <a:srgbClr val="DCE1E7"/>
            </a:solidFill>
            <a:prstDash val="solid"/>
          </a:ln>
        </p:spPr>
      </p:sp>
      <p:sp>
        <p:nvSpPr>
          <p:cNvPr id="26" name="Shape 22"/>
          <p:cNvSpPr/>
          <p:nvPr/>
        </p:nvSpPr>
        <p:spPr>
          <a:xfrm>
            <a:off x="539496" y="371246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539496" y="37124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914400" y="3657600"/>
            <a:ext cx="338328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Callbox: secondary number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3rd, same Callbox button, Secondary Phone</a:t>
            </a:r>
            <a:endParaRPr lang="en-US" sz="1050" dirty="0"/>
          </a:p>
        </p:txBody>
      </p:sp>
      <p:sp>
        <p:nvSpPr>
          <p:cNvPr id="29" name="Shape 25"/>
          <p:cNvSpPr/>
          <p:nvPr/>
        </p:nvSpPr>
        <p:spPr>
          <a:xfrm>
            <a:off x="411480" y="4160520"/>
            <a:ext cx="3977640" cy="548640"/>
          </a:xfrm>
          <a:prstGeom prst="roundRect">
            <a:avLst>
              <a:gd name="adj" fmla="val 13333"/>
            </a:avLst>
          </a:prstGeom>
          <a:solidFill>
            <a:srgbClr val="FFF3D6"/>
          </a:solidFill>
          <a:ln w="9525">
            <a:solidFill>
              <a:srgbClr val="FFF3D6"/>
            </a:solidFill>
            <a:prstDash val="solid"/>
          </a:ln>
        </p:spPr>
      </p:sp>
      <p:pic>
        <p:nvPicPr>
          <p:cNvPr id="30" name="Image 1" descr="preencoded.png">    </p:cNvPr>
          <p:cNvPicPr>
            <a:picLocks noChangeAspect="1"/>
          </p:cNvPicPr>
          <p:nvPr/>
        </p:nvPicPr>
        <p:blipFill>
          <a:blip r:embed="rId2"/>
          <a:stretch>
            <a:fillRect/>
          </a:stretch>
        </p:blipFill>
        <p:spPr>
          <a:xfrm>
            <a:off x="548640" y="4334256"/>
            <a:ext cx="201168" cy="201168"/>
          </a:xfrm>
          <a:prstGeom prst="rect">
            <a:avLst/>
          </a:prstGeom>
        </p:spPr>
      </p:pic>
      <p:sp>
        <p:nvSpPr>
          <p:cNvPr id="31" name="Text 26"/>
          <p:cNvSpPr txBox="1"/>
          <p:nvPr/>
        </p:nvSpPr>
        <p:spPr>
          <a:xfrm>
            <a:off x="841248" y="4160520"/>
            <a:ext cx="3474720" cy="548640"/>
          </a:xfrm>
          <a:prstGeom prst="rect">
            <a:avLst/>
          </a:prstGeom>
          <a:noFill/>
          <a:ln/>
        </p:spPr>
        <p:txBody>
          <a:bodyPr wrap="square" lIns="0" tIns="0" rIns="0" bIns="0" rtlCol="0" anchor="ctr"/>
          <a:lstStyle/>
          <a:p>
            <a:pPr indent="0" marL="0">
              <a:buNone/>
            </a:pPr>
            <a:r>
              <a:rPr lang="en-US" sz="950" b="1" dirty="0">
                <a:solidFill>
                  <a:srgbClr val="9A6410"/>
                </a:solidFill>
                <a:latin typeface="SF Pro Text" pitchFamily="34" charset="0"/>
                <a:ea typeface="SF Pro Text" pitchFamily="34" charset="-122"/>
                <a:cs typeface="SF Pro Text" pitchFamily="34" charset="-120"/>
              </a:rPr>
              <a:t>Important:  </a:t>
            </a:r>
            <a:pPr indent="0" marL="0">
              <a:buNone/>
            </a:pPr>
            <a:r>
              <a:rPr lang="en-US" sz="950" dirty="0">
                <a:solidFill>
                  <a:srgbClr val="1D1D1F"/>
                </a:solidFill>
                <a:latin typeface="SF Pro Text" pitchFamily="34" charset="0"/>
                <a:ea typeface="SF Pro Text" pitchFamily="34" charset="-122"/>
                <a:cs typeface="SF Pro Text" pitchFamily="34" charset="-120"/>
              </a:rPr>
              <a:t>check Local Time (!) before making a call. 8 AM – 8 PM their time.</a:t>
            </a:r>
            <a:endParaRPr lang="en-US" sz="950" dirty="0"/>
          </a:p>
        </p:txBody>
      </p:sp>
      <p:sp>
        <p:nvSpPr>
          <p:cNvPr id="32" name="Shape 27"/>
          <p:cNvSpPr/>
          <p:nvPr/>
        </p:nvSpPr>
        <p:spPr>
          <a:xfrm>
            <a:off x="4526280" y="1234440"/>
            <a:ext cx="4206240" cy="411480"/>
          </a:xfrm>
          <a:prstGeom prst="roundRect">
            <a:avLst>
              <a:gd name="adj" fmla="val 22222"/>
            </a:avLst>
          </a:prstGeom>
          <a:solidFill>
            <a:srgbClr val="0B7A6F"/>
          </a:solidFill>
          <a:ln w="12700">
            <a:solidFill>
              <a:srgbClr val="0B7A6F"/>
            </a:solidFill>
            <a:prstDash val="solid"/>
          </a:ln>
        </p:spPr>
      </p:sp>
      <p:pic>
        <p:nvPicPr>
          <p:cNvPr id="33" name="Image 2" descr="preencoded.png">    </p:cNvPr>
          <p:cNvPicPr>
            <a:picLocks noChangeAspect="1"/>
          </p:cNvPicPr>
          <p:nvPr/>
        </p:nvPicPr>
        <p:blipFill>
          <a:blip r:embed="rId3"/>
          <a:stretch>
            <a:fillRect/>
          </a:stretch>
        </p:blipFill>
        <p:spPr>
          <a:xfrm>
            <a:off x="4681728" y="1339596"/>
            <a:ext cx="201168" cy="201168"/>
          </a:xfrm>
          <a:prstGeom prst="rect">
            <a:avLst/>
          </a:prstGeom>
        </p:spPr>
      </p:pic>
      <p:sp>
        <p:nvSpPr>
          <p:cNvPr id="34" name="Text 28"/>
          <p:cNvSpPr txBox="1"/>
          <p:nvPr/>
        </p:nvSpPr>
        <p:spPr>
          <a:xfrm>
            <a:off x="4983480" y="1234440"/>
            <a:ext cx="3474720" cy="411480"/>
          </a:xfrm>
          <a:prstGeom prst="rect">
            <a:avLst/>
          </a:prstGeom>
          <a:noFill/>
          <a:ln/>
        </p:spPr>
        <p:txBody>
          <a:bodyPr wrap="square" lIns="0" tIns="0" rIns="0" bIns="0" rtlCol="0" anchor="ctr"/>
          <a:lstStyle/>
          <a:p>
            <a:pPr indent="0" marL="0">
              <a:buNone/>
            </a:pPr>
            <a:r>
              <a:rPr lang="en-US" sz="1250" b="1" dirty="0">
                <a:solidFill>
                  <a:srgbClr val="FFFFFF"/>
                </a:solidFill>
                <a:latin typeface="SF Pro Display" pitchFamily="34" charset="0"/>
                <a:ea typeface="SF Pro Display" pitchFamily="34" charset="-122"/>
                <a:cs typeface="SF Pro Display" pitchFamily="34" charset="-120"/>
              </a:rPr>
              <a:t>Show screens</a:t>
            </a:r>
            <a:endParaRPr lang="en-US" sz="1250" dirty="0"/>
          </a:p>
        </p:txBody>
      </p:sp>
      <p:sp>
        <p:nvSpPr>
          <p:cNvPr id="35" name="Shape 29"/>
          <p:cNvSpPr/>
          <p:nvPr/>
        </p:nvSpPr>
        <p:spPr>
          <a:xfrm>
            <a:off x="4526280" y="1737360"/>
            <a:ext cx="4206240" cy="2971800"/>
          </a:xfrm>
          <a:prstGeom prst="roundRect">
            <a:avLst>
              <a:gd name="adj" fmla="val 2462"/>
            </a:avLst>
          </a:prstGeom>
          <a:solidFill>
            <a:srgbClr val="E3F4F1"/>
          </a:solidFill>
          <a:ln w="9525">
            <a:solidFill>
              <a:srgbClr val="E3F4F1"/>
            </a:solidFill>
            <a:prstDash val="solid"/>
          </a:ln>
        </p:spPr>
      </p:sp>
      <p:sp>
        <p:nvSpPr>
          <p:cNvPr id="36" name="step1a"/>
          <p:cNvSpPr/>
          <p:nvPr/>
        </p:nvSpPr>
        <p:spPr>
          <a:xfrm>
            <a:off x="4636008" y="1819656"/>
            <a:ext cx="182880" cy="182880"/>
          </a:xfrm>
          <a:prstGeom prst="ellipse">
            <a:avLst/>
          </a:prstGeom>
          <a:solidFill>
            <a:srgbClr val="0B7A6F"/>
          </a:solidFill>
          <a:ln w="12700">
            <a:solidFill>
              <a:srgbClr val="0B7A6F"/>
            </a:solidFill>
            <a:prstDash val="solid"/>
          </a:ln>
        </p:spPr>
      </p:sp>
      <p:sp>
        <p:nvSpPr>
          <p:cNvPr id="37" name="step1b"/>
          <p:cNvSpPr txBox="1"/>
          <p:nvPr/>
        </p:nvSpPr>
        <p:spPr>
          <a:xfrm>
            <a:off x="4636008" y="1819656"/>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Text" pitchFamily="34" charset="0"/>
                <a:ea typeface="SF Pro Text" pitchFamily="34" charset="-122"/>
                <a:cs typeface="SF Pro Text" pitchFamily="34" charset="-120"/>
              </a:rPr>
              <a:t>1</a:t>
            </a:r>
            <a:endParaRPr lang="en-US" sz="750" dirty="0"/>
          </a:p>
        </p:txBody>
      </p:sp>
      <p:sp>
        <p:nvSpPr>
          <p:cNvPr id="38" name="step1c"/>
          <p:cNvSpPr txBox="1"/>
          <p:nvPr/>
        </p:nvSpPr>
        <p:spPr>
          <a:xfrm>
            <a:off x="4892040" y="1810512"/>
            <a:ext cx="3749040" cy="201168"/>
          </a:xfrm>
          <a:prstGeom prst="rect">
            <a:avLst/>
          </a:prstGeom>
          <a:noFill/>
          <a:ln/>
        </p:spPr>
        <p:txBody>
          <a:bodyPr wrap="square" lIns="0" tIns="0" rIns="0" bIns="0" rtlCol="0" anchor="ctr"/>
          <a:lstStyle/>
          <a:p>
            <a:pPr indent="0" marL="0">
              <a:buNone/>
            </a:pPr>
            <a:r>
              <a:rPr lang="en-US" sz="900" b="1" dirty="0">
                <a:solidFill>
                  <a:srgbClr val="0B7A6F"/>
                </a:solidFill>
                <a:latin typeface="SF Pro Text" pitchFamily="34" charset="0"/>
                <a:ea typeface="SF Pro Text" pitchFamily="34" charset="-122"/>
                <a:cs typeface="SF Pro Text" pitchFamily="34" charset="-120"/>
              </a:rPr>
              <a:t>Callbox: primary number  </a:t>
            </a:r>
            <a:pPr indent="0" marL="0">
              <a:buNone/>
            </a:pPr>
            <a:r>
              <a:rPr lang="en-US" sz="900" dirty="0">
                <a:solidFill>
                  <a:srgbClr val="6E6E73"/>
                </a:solidFill>
                <a:latin typeface="SF Pro Text" pitchFamily="34" charset="0"/>
                <a:ea typeface="SF Pro Text" pitchFamily="34" charset="-122"/>
                <a:cs typeface="SF Pro Text" pitchFamily="34" charset="-120"/>
              </a:rPr>
              <a:t>From list set to the primary number</a:t>
            </a:r>
            <a:endParaRPr lang="en-US" sz="900" dirty="0"/>
          </a:p>
        </p:txBody>
      </p:sp>
      <p:sp>
        <p:nvSpPr>
          <p:cNvPr id="39" name="step1d"/>
          <p:cNvSpPr/>
          <p:nvPr/>
        </p:nvSpPr>
        <p:spPr>
          <a:xfrm>
            <a:off x="4636008" y="2048256"/>
            <a:ext cx="3986784" cy="676656"/>
          </a:xfrm>
          <a:prstGeom prst="rect">
            <a:avLst/>
          </a:prstGeom>
          <a:solidFill>
            <a:srgbClr val="FFFFFF"/>
          </a:solidFill>
          <a:ln w="6350">
            <a:solidFill>
              <a:srgbClr val="DCE1E7"/>
            </a:solidFill>
            <a:prstDash val="solid"/>
          </a:ln>
        </p:spPr>
      </p:sp>
      <p:pic>
        <p:nvPicPr>
          <p:cNvPr id="40" name="step1e" descr="/tmp/claude-0/-workspace-training/3ce5cff6-cccf-5f33-b0ee-0b147a55120e/scratchpad/img3/call_primary_crop.png">    </p:cNvPr>
          <p:cNvPicPr>
            <a:picLocks noChangeAspect="1"/>
          </p:cNvPicPr>
          <p:nvPr/>
        </p:nvPicPr>
        <p:blipFill>
          <a:blip r:embed="rId4"/>
          <a:stretch>
            <a:fillRect/>
          </a:stretch>
        </p:blipFill>
        <p:spPr>
          <a:xfrm>
            <a:off x="5283448" y="2075688"/>
            <a:ext cx="2691904" cy="621792"/>
          </a:xfrm>
          <a:prstGeom prst="rect">
            <a:avLst/>
          </a:prstGeom>
        </p:spPr>
      </p:pic>
      <p:sp>
        <p:nvSpPr>
          <p:cNvPr id="41" name="step2a"/>
          <p:cNvSpPr/>
          <p:nvPr/>
        </p:nvSpPr>
        <p:spPr>
          <a:xfrm>
            <a:off x="4636008" y="2788920"/>
            <a:ext cx="182880" cy="182880"/>
          </a:xfrm>
          <a:prstGeom prst="ellipse">
            <a:avLst/>
          </a:prstGeom>
          <a:solidFill>
            <a:srgbClr val="0B7A6F"/>
          </a:solidFill>
          <a:ln w="12700">
            <a:solidFill>
              <a:srgbClr val="0B7A6F"/>
            </a:solidFill>
            <a:prstDash val="solid"/>
          </a:ln>
        </p:spPr>
      </p:sp>
      <p:sp>
        <p:nvSpPr>
          <p:cNvPr id="42" name="step2b"/>
          <p:cNvSpPr txBox="1"/>
          <p:nvPr/>
        </p:nvSpPr>
        <p:spPr>
          <a:xfrm>
            <a:off x="4636008" y="2788920"/>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Text" pitchFamily="34" charset="0"/>
                <a:ea typeface="SF Pro Text" pitchFamily="34" charset="-122"/>
                <a:cs typeface="SF Pro Text" pitchFamily="34" charset="-120"/>
              </a:rPr>
              <a:t>2</a:t>
            </a:r>
            <a:endParaRPr lang="en-US" sz="750" dirty="0"/>
          </a:p>
        </p:txBody>
      </p:sp>
      <p:sp>
        <p:nvSpPr>
          <p:cNvPr id="43" name="step2c"/>
          <p:cNvSpPr txBox="1"/>
          <p:nvPr/>
        </p:nvSpPr>
        <p:spPr>
          <a:xfrm>
            <a:off x="4892040" y="2779776"/>
            <a:ext cx="3749040" cy="201168"/>
          </a:xfrm>
          <a:prstGeom prst="rect">
            <a:avLst/>
          </a:prstGeom>
          <a:noFill/>
          <a:ln/>
        </p:spPr>
        <p:txBody>
          <a:bodyPr wrap="square" lIns="0" tIns="0" rIns="0" bIns="0" rtlCol="0" anchor="ctr"/>
          <a:lstStyle/>
          <a:p>
            <a:pPr indent="0" marL="0">
              <a:buNone/>
            </a:pPr>
            <a:r>
              <a:rPr lang="en-US" sz="900" b="1" dirty="0">
                <a:solidFill>
                  <a:srgbClr val="0B7A6F"/>
                </a:solidFill>
                <a:latin typeface="SF Pro Text" pitchFamily="34" charset="0"/>
                <a:ea typeface="SF Pro Text" pitchFamily="34" charset="-122"/>
                <a:cs typeface="SF Pro Text" pitchFamily="34" charset="-120"/>
              </a:rPr>
              <a:t>GVoice  </a:t>
            </a:r>
            <a:pPr indent="0" marL="0">
              <a:buNone/>
            </a:pPr>
            <a:r>
              <a:rPr lang="en-US" sz="900" dirty="0">
                <a:solidFill>
                  <a:srgbClr val="6E6E73"/>
                </a:solidFill>
                <a:latin typeface="SF Pro Text" pitchFamily="34" charset="0"/>
                <a:ea typeface="SF Pro Text" pitchFamily="34" charset="-122"/>
                <a:cs typeface="SF Pro Text" pitchFamily="34" charset="-120"/>
              </a:rPr>
              <a:t>Sign in with the shared Homeaglow account</a:t>
            </a:r>
            <a:endParaRPr lang="en-US" sz="900" dirty="0"/>
          </a:p>
        </p:txBody>
      </p:sp>
      <p:sp>
        <p:nvSpPr>
          <p:cNvPr id="44" name="step2d"/>
          <p:cNvSpPr/>
          <p:nvPr/>
        </p:nvSpPr>
        <p:spPr>
          <a:xfrm>
            <a:off x="4636008" y="3017520"/>
            <a:ext cx="3986784" cy="676656"/>
          </a:xfrm>
          <a:prstGeom prst="rect">
            <a:avLst/>
          </a:prstGeom>
          <a:solidFill>
            <a:srgbClr val="FFFFFF"/>
          </a:solidFill>
          <a:ln w="6350">
            <a:solidFill>
              <a:srgbClr val="DCE1E7"/>
            </a:solidFill>
            <a:prstDash val="solid"/>
          </a:ln>
        </p:spPr>
      </p:sp>
      <p:pic>
        <p:nvPicPr>
          <p:cNvPr id="45" name="step2e" descr="/tmp/claude-0/-workspace-training/3ce5cff6-cccf-5f33-b0ee-0b147a55120e/scratchpad/img3/call_gvoice_crop.png">    </p:cNvPr>
          <p:cNvPicPr>
            <a:picLocks noChangeAspect="1"/>
          </p:cNvPicPr>
          <p:nvPr/>
        </p:nvPicPr>
        <p:blipFill>
          <a:blip r:embed="rId5"/>
          <a:stretch>
            <a:fillRect/>
          </a:stretch>
        </p:blipFill>
        <p:spPr>
          <a:xfrm>
            <a:off x="4835086" y="3044952"/>
            <a:ext cx="3588628" cy="621792"/>
          </a:xfrm>
          <a:prstGeom prst="rect">
            <a:avLst/>
          </a:prstGeom>
        </p:spPr>
      </p:pic>
      <p:sp>
        <p:nvSpPr>
          <p:cNvPr id="46" name="step3a"/>
          <p:cNvSpPr/>
          <p:nvPr/>
        </p:nvSpPr>
        <p:spPr>
          <a:xfrm>
            <a:off x="4636008" y="3758184"/>
            <a:ext cx="182880" cy="182880"/>
          </a:xfrm>
          <a:prstGeom prst="ellipse">
            <a:avLst/>
          </a:prstGeom>
          <a:solidFill>
            <a:srgbClr val="0B7A6F"/>
          </a:solidFill>
          <a:ln w="12700">
            <a:solidFill>
              <a:srgbClr val="0B7A6F"/>
            </a:solidFill>
            <a:prstDash val="solid"/>
          </a:ln>
        </p:spPr>
      </p:sp>
      <p:sp>
        <p:nvSpPr>
          <p:cNvPr id="47" name="step3b"/>
          <p:cNvSpPr txBox="1"/>
          <p:nvPr/>
        </p:nvSpPr>
        <p:spPr>
          <a:xfrm>
            <a:off x="4636008" y="3758184"/>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Text" pitchFamily="34" charset="0"/>
                <a:ea typeface="SF Pro Text" pitchFamily="34" charset="-122"/>
                <a:cs typeface="SF Pro Text" pitchFamily="34" charset="-120"/>
              </a:rPr>
              <a:t>3</a:t>
            </a:r>
            <a:endParaRPr lang="en-US" sz="750" dirty="0"/>
          </a:p>
        </p:txBody>
      </p:sp>
      <p:sp>
        <p:nvSpPr>
          <p:cNvPr id="48" name="step3c"/>
          <p:cNvSpPr txBox="1"/>
          <p:nvPr/>
        </p:nvSpPr>
        <p:spPr>
          <a:xfrm>
            <a:off x="4892040" y="3749040"/>
            <a:ext cx="3749040" cy="201168"/>
          </a:xfrm>
          <a:prstGeom prst="rect">
            <a:avLst/>
          </a:prstGeom>
          <a:noFill/>
          <a:ln/>
        </p:spPr>
        <p:txBody>
          <a:bodyPr wrap="square" lIns="0" tIns="0" rIns="0" bIns="0" rtlCol="0" anchor="ctr"/>
          <a:lstStyle/>
          <a:p>
            <a:pPr indent="0" marL="0">
              <a:buNone/>
            </a:pPr>
            <a:r>
              <a:rPr lang="en-US" sz="900" b="1" dirty="0">
                <a:solidFill>
                  <a:srgbClr val="0B7A6F"/>
                </a:solidFill>
                <a:latin typeface="SF Pro Text" pitchFamily="34" charset="0"/>
                <a:ea typeface="SF Pro Text" pitchFamily="34" charset="-122"/>
                <a:cs typeface="SF Pro Text" pitchFamily="34" charset="-120"/>
              </a:rPr>
              <a:t>Callbox: secondary number  </a:t>
            </a:r>
            <a:pPr indent="0" marL="0">
              <a:buNone/>
            </a:pPr>
            <a:r>
              <a:rPr lang="en-US" sz="900" dirty="0">
                <a:solidFill>
                  <a:srgbClr val="6E6E73"/>
                </a:solidFill>
                <a:latin typeface="SF Pro Text" pitchFamily="34" charset="0"/>
                <a:ea typeface="SF Pro Text" pitchFamily="34" charset="-122"/>
                <a:cs typeface="SF Pro Text" pitchFamily="34" charset="-120"/>
              </a:rPr>
              <a:t>From list set to the Secondary Phone</a:t>
            </a:r>
            <a:endParaRPr lang="en-US" sz="900" dirty="0"/>
          </a:p>
        </p:txBody>
      </p:sp>
      <p:sp>
        <p:nvSpPr>
          <p:cNvPr id="49" name="step3d"/>
          <p:cNvSpPr/>
          <p:nvPr/>
        </p:nvSpPr>
        <p:spPr>
          <a:xfrm>
            <a:off x="4636008" y="3986784"/>
            <a:ext cx="3986784" cy="676656"/>
          </a:xfrm>
          <a:prstGeom prst="rect">
            <a:avLst/>
          </a:prstGeom>
          <a:solidFill>
            <a:srgbClr val="FFFFFF"/>
          </a:solidFill>
          <a:ln w="6350">
            <a:solidFill>
              <a:srgbClr val="DCE1E7"/>
            </a:solidFill>
            <a:prstDash val="solid"/>
          </a:ln>
        </p:spPr>
      </p:sp>
      <p:pic>
        <p:nvPicPr>
          <p:cNvPr id="50" name="step3e" descr="/tmp/claude-0/-workspace-training/3ce5cff6-cccf-5f33-b0ee-0b147a55120e/scratchpad/img3/call_secondary_crop.png">    </p:cNvPr>
          <p:cNvPicPr>
            <a:picLocks noChangeAspect="1"/>
          </p:cNvPicPr>
          <p:nvPr/>
        </p:nvPicPr>
        <p:blipFill>
          <a:blip r:embed="rId6"/>
          <a:stretch>
            <a:fillRect/>
          </a:stretch>
        </p:blipFill>
        <p:spPr>
          <a:xfrm>
            <a:off x="5436506" y="4014216"/>
            <a:ext cx="2385789" cy="621792"/>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6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600"/>
                                        <p:tgtEl>
                                          <p:spTgt spid="3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600"/>
                                        <p:tgtEl>
                                          <p:spTgt spid="3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600"/>
                                        <p:tgtEl>
                                          <p:spTgt spid="3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0"/>
                                        </p:tgtEl>
                                        <p:attrNameLst>
                                          <p:attrName>style.visibility</p:attrName>
                                        </p:attrNameLst>
                                      </p:cBhvr>
                                      <p:to>
                                        <p:strVal val="visible"/>
                                      </p:to>
                                    </p:set>
                                    <p:animEffect transition="in" filter="fade">
                                      <p:cBhvr>
                                        <p:cTn id="19" dur="600"/>
                                        <p:tgtEl>
                                          <p:spTgt spid="40"/>
                                        </p:tgtEl>
                                      </p:cBhvr>
                                    </p:animEffect>
                                  </p:childTnLst>
                                </p:cTn>
                              </p:par>
                            </p:childTnLst>
                          </p:cTn>
                        </p:par>
                      </p:childTnLst>
                    </p:cTn>
                  </p:par>
                  <p:par>
                    <p:cTn id="35" fill="hold">
                      <p:stCondLst>
                        <p:cond delay="indefinite"/>
                      </p:stCondLst>
                      <p:childTnLst>
                        <p:par>
                          <p:cTn id="36"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41"/>
                                        </p:tgtEl>
                                        <p:attrNameLst>
                                          <p:attrName>style.visibility</p:attrName>
                                        </p:attrNameLst>
                                      </p:cBhvr>
                                      <p:to>
                                        <p:strVal val="visible"/>
                                      </p:to>
                                    </p:set>
                                    <p:animEffect transition="in" filter="fade">
                                      <p:cBhvr>
                                        <p:cTn id="24" dur="600"/>
                                        <p:tgtEl>
                                          <p:spTgt spid="4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fade">
                                      <p:cBhvr>
                                        <p:cTn id="27" dur="600"/>
                                        <p:tgtEl>
                                          <p:spTgt spid="4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43"/>
                                        </p:tgtEl>
                                        <p:attrNameLst>
                                          <p:attrName>style.visibility</p:attrName>
                                        </p:attrNameLst>
                                      </p:cBhvr>
                                      <p:to>
                                        <p:strVal val="visible"/>
                                      </p:to>
                                    </p:set>
                                    <p:animEffect transition="in" filter="fade">
                                      <p:cBhvr>
                                        <p:cTn id="30" dur="600"/>
                                        <p:tgtEl>
                                          <p:spTgt spid="4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44"/>
                                        </p:tgtEl>
                                        <p:attrNameLst>
                                          <p:attrName>style.visibility</p:attrName>
                                        </p:attrNameLst>
                                      </p:cBhvr>
                                      <p:to>
                                        <p:strVal val="visible"/>
                                      </p:to>
                                    </p:set>
                                    <p:animEffect transition="in" filter="fade">
                                      <p:cBhvr>
                                        <p:cTn id="33" dur="600"/>
                                        <p:tgtEl>
                                          <p:spTgt spid="4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fade">
                                      <p:cBhvr>
                                        <p:cTn id="36" dur="600"/>
                                        <p:tgtEl>
                                          <p:spTgt spid="45"/>
                                        </p:tgtEl>
                                      </p:cBhvr>
                                    </p:animEffect>
                                  </p:childTnLst>
                                </p:cTn>
                              </p:par>
                            </p:childTnLst>
                          </p:cTn>
                        </p:par>
                      </p:childTnLst>
                    </p:cTn>
                  </p:par>
                  <p:par>
                    <p:cTn id="52" fill="hold">
                      <p:stCondLst>
                        <p:cond delay="indefinite"/>
                      </p:stCondLst>
                      <p:childTnLst>
                        <p:par>
                          <p:cTn id="53"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6"/>
                                        </p:tgtEl>
                                        <p:attrNameLst>
                                          <p:attrName>style.visibility</p:attrName>
                                        </p:attrNameLst>
                                      </p:cBhvr>
                                      <p:to>
                                        <p:strVal val="visible"/>
                                      </p:to>
                                    </p:set>
                                    <p:animEffect transition="in" filter="fade">
                                      <p:cBhvr>
                                        <p:cTn id="41" dur="600"/>
                                        <p:tgtEl>
                                          <p:spTgt spid="4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600"/>
                                        <p:tgtEl>
                                          <p:spTgt spid="4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600"/>
                                        <p:tgtEl>
                                          <p:spTgt spid="4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9"/>
                                        </p:tgtEl>
                                        <p:attrNameLst>
                                          <p:attrName>style.visibility</p:attrName>
                                        </p:attrNameLst>
                                      </p:cBhvr>
                                      <p:to>
                                        <p:strVal val="visible"/>
                                      </p:to>
                                    </p:set>
                                    <p:animEffect transition="in" filter="fade">
                                      <p:cBhvr>
                                        <p:cTn id="50" dur="600"/>
                                        <p:tgtEl>
                                          <p:spTgt spid="4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0"/>
                                        </p:tgtEl>
                                        <p:attrNameLst>
                                          <p:attrName>style.visibility</p:attrName>
                                        </p:attrNameLst>
                                      </p:cBhvr>
                                      <p:to>
                                        <p:strVal val="visible"/>
                                      </p:to>
                                    </p:set>
                                    <p:animEffect transition="in" filter="fade">
                                      <p:cBhvr>
                                        <p:cTn id="53" dur="6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1" grpId="0" animBg="1"/>
      <p:bldP spid="42" grpId="0" animBg="1"/>
      <p:bldP spid="43" grpId="0" animBg="1"/>
      <p:bldP spid="44" grpId="0" animBg="1"/>
      <p:bldP spid="46" grpId="0" animBg="1"/>
      <p:bldP spid="47" grpId="0" animBg="1"/>
      <p:bldP spid="48" grpId="0" animBg="1"/>
      <p:bldP spid="4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next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 call ends one of three ways.</a:t>
            </a:r>
            <a:endParaRPr lang="en-US" sz="1200" dirty="0"/>
          </a:p>
        </p:txBody>
      </p:sp>
      <p:sp>
        <p:nvSpPr>
          <p:cNvPr id="6" name="Shape 3"/>
          <p:cNvSpPr/>
          <p:nvPr/>
        </p:nvSpPr>
        <p:spPr>
          <a:xfrm>
            <a:off x="411480" y="1325880"/>
            <a:ext cx="26822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76072"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68244" y="1573500"/>
            <a:ext cx="199705" cy="199705"/>
          </a:xfrm>
          <a:prstGeom prst="rect">
            <a:avLst/>
          </a:prstGeom>
        </p:spPr>
      </p:pic>
      <p:sp>
        <p:nvSpPr>
          <p:cNvPr id="9" name="Text 5"/>
          <p:cNvSpPr txBox="1"/>
          <p:nvPr/>
        </p:nvSpPr>
        <p:spPr>
          <a:xfrm>
            <a:off x="10698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Answered</a:t>
            </a:r>
            <a:endParaRPr lang="en-US" sz="1300" dirty="0"/>
          </a:p>
        </p:txBody>
      </p:sp>
      <p:sp>
        <p:nvSpPr>
          <p:cNvPr id="10" name="Text 6"/>
          <p:cNvSpPr txBox="1"/>
          <p:nvPr/>
        </p:nvSpPr>
        <p:spPr>
          <a:xfrm>
            <a:off x="5760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Try to resolve it on the call</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Email a summary of what was discussed</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Log an internal note. Calls aren't recorded</a:t>
            </a:r>
            <a:endParaRPr lang="en-US" sz="1000" dirty="0"/>
          </a:p>
        </p:txBody>
      </p:sp>
      <p:sp>
        <p:nvSpPr>
          <p:cNvPr id="11" name="Shape 7"/>
          <p:cNvSpPr/>
          <p:nvPr/>
        </p:nvSpPr>
        <p:spPr>
          <a:xfrm>
            <a:off x="3230880" y="1325880"/>
            <a:ext cx="26822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3395472" y="1481328"/>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87644" y="1573500"/>
            <a:ext cx="199705" cy="199705"/>
          </a:xfrm>
          <a:prstGeom prst="rect">
            <a:avLst/>
          </a:prstGeom>
        </p:spPr>
      </p:pic>
      <p:sp>
        <p:nvSpPr>
          <p:cNvPr id="14" name="Text 9"/>
          <p:cNvSpPr txBox="1"/>
          <p:nvPr/>
        </p:nvSpPr>
        <p:spPr>
          <a:xfrm>
            <a:off x="38892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answered</a:t>
            </a:r>
            <a:endParaRPr lang="en-US" sz="1300" dirty="0"/>
          </a:p>
        </p:txBody>
      </p:sp>
      <p:sp>
        <p:nvSpPr>
          <p:cNvPr id="15" name="Text 10"/>
          <p:cNvSpPr txBox="1"/>
          <p:nvPr/>
        </p:nvSpPr>
        <p:spPr>
          <a:xfrm>
            <a:off x="33954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Address the concern by email</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Ask for their availability for a callback</a:t>
            </a:r>
            <a:endParaRPr lang="en-US" sz="1000" dirty="0"/>
          </a:p>
        </p:txBody>
      </p:sp>
      <p:sp>
        <p:nvSpPr>
          <p:cNvPr id="16" name="Shape 11"/>
          <p:cNvSpPr/>
          <p:nvPr/>
        </p:nvSpPr>
        <p:spPr>
          <a:xfrm>
            <a:off x="6050280" y="1325880"/>
            <a:ext cx="2682240" cy="2331720"/>
          </a:xfrm>
          <a:prstGeom prst="roundRect">
            <a:avLst>
              <a:gd name="adj" fmla="val 3137"/>
            </a:avLst>
          </a:prstGeom>
          <a:solidFill>
            <a:srgbClr val="FFFFFF"/>
          </a:solidFill>
          <a:ln w="9525">
            <a:solidFill>
              <a:srgbClr val="DCE1E7"/>
            </a:solidFill>
            <a:prstDash val="solid"/>
          </a:ln>
        </p:spPr>
      </p:sp>
      <p:sp>
        <p:nvSpPr>
          <p:cNvPr id="17" name="Shape 12"/>
          <p:cNvSpPr/>
          <p:nvPr/>
        </p:nvSpPr>
        <p:spPr>
          <a:xfrm>
            <a:off x="6214872" y="1481328"/>
            <a:ext cx="384048" cy="384048"/>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307044" y="1573500"/>
            <a:ext cx="199705" cy="199705"/>
          </a:xfrm>
          <a:prstGeom prst="rect">
            <a:avLst/>
          </a:prstGeom>
        </p:spPr>
      </p:pic>
      <p:sp>
        <p:nvSpPr>
          <p:cNvPr id="19" name="Text 13"/>
          <p:cNvSpPr txBox="1"/>
          <p:nvPr/>
        </p:nvSpPr>
        <p:spPr>
          <a:xfrm>
            <a:off x="67086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Voicemail</a:t>
            </a:r>
            <a:endParaRPr lang="en-US" sz="1300" dirty="0"/>
          </a:p>
        </p:txBody>
      </p:sp>
      <p:sp>
        <p:nvSpPr>
          <p:cNvPr id="20" name="Text 14"/>
          <p:cNvSpPr txBox="1"/>
          <p:nvPr/>
        </p:nvSpPr>
        <p:spPr>
          <a:xfrm>
            <a:off x="62148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Leave a voicemail, if applicable</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Send an email and an SMS</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Wait 10 minutes, then check the ticket again</a:t>
            </a:r>
            <a:endParaRPr lang="en-US" sz="1000" dirty="0"/>
          </a:p>
        </p:txBody>
      </p:sp>
      <p:sp>
        <p:nvSpPr>
          <p:cNvPr id="21" name="Shape 15"/>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950208"/>
            <a:ext cx="164592" cy="164592"/>
          </a:xfrm>
          <a:prstGeom prst="rect">
            <a:avLst/>
          </a:prstGeom>
        </p:spPr>
      </p:pic>
      <p:sp>
        <p:nvSpPr>
          <p:cNvPr id="23" name="Text 16"/>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me now"?  </a:t>
            </a:r>
            <a:pPr indent="0" marL="0">
              <a:buNone/>
            </a:pPr>
            <a:r>
              <a:rPr lang="en-US" sz="1000" dirty="0">
                <a:solidFill>
                  <a:srgbClr val="1D1D1F"/>
                </a:solidFill>
                <a:latin typeface="SF Pro Text" pitchFamily="34" charset="0"/>
                <a:ea typeface="SF Pro Text" pitchFamily="34" charset="-122"/>
                <a:cs typeface="SF Pro Text" pitchFamily="34" charset="-120"/>
              </a:rPr>
              <a:t>if they reply asking for an immediate call, call right away, even inside the 10 minutes.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Once they share their availability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Create a timed reminder assigned to "Any CS", then pick your path.</a:t>
            </a:r>
            <a:endParaRPr lang="en-US" sz="1200" dirty="0"/>
          </a:p>
        </p:txBody>
      </p:sp>
      <p:sp>
        <p:nvSpPr>
          <p:cNvPr id="6" name="Shape 3"/>
          <p:cNvSpPr/>
          <p:nvPr/>
        </p:nvSpPr>
        <p:spPr>
          <a:xfrm>
            <a:off x="411480" y="1371600"/>
            <a:ext cx="8321040" cy="685800"/>
          </a:xfrm>
          <a:prstGeom prst="roundRect">
            <a:avLst>
              <a:gd name="adj" fmla="val 10667"/>
            </a:avLst>
          </a:prstGeom>
          <a:solidFill>
            <a:srgbClr val="0B7A6F"/>
          </a:solidFill>
          <a:ln w="9525">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685800" y="1563624"/>
            <a:ext cx="292608" cy="292608"/>
          </a:xfrm>
          <a:prstGeom prst="rect">
            <a:avLst/>
          </a:prstGeom>
        </p:spPr>
      </p:pic>
      <p:sp>
        <p:nvSpPr>
          <p:cNvPr id="8" name="Text 4"/>
          <p:cNvSpPr txBox="1"/>
          <p:nvPr/>
        </p:nvSpPr>
        <p:spPr>
          <a:xfrm>
            <a:off x="1143000" y="1371600"/>
            <a:ext cx="7315200" cy="68580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Create a timed reminder, assigned to "Any CS"</a:t>
            </a:r>
            <a:endParaRPr lang="en-US" sz="1400" dirty="0"/>
          </a:p>
        </p:txBody>
      </p:sp>
      <p:sp>
        <p:nvSpPr>
          <p:cNvPr id="9" name="Shape 5"/>
          <p:cNvSpPr/>
          <p:nvPr/>
        </p:nvSpPr>
        <p:spPr>
          <a:xfrm>
            <a:off x="411480" y="2240280"/>
            <a:ext cx="4091940" cy="1600200"/>
          </a:xfrm>
          <a:prstGeom prst="roundRect">
            <a:avLst>
              <a:gd name="adj" fmla="val 4571"/>
            </a:avLst>
          </a:prstGeom>
          <a:solidFill>
            <a:srgbClr val="FFFFFF"/>
          </a:solidFill>
          <a:ln w="9525">
            <a:solidFill>
              <a:srgbClr val="DCE1E7"/>
            </a:solidFill>
            <a:prstDash val="solid"/>
          </a:ln>
        </p:spPr>
      </p:sp>
      <p:sp>
        <p:nvSpPr>
          <p:cNvPr id="10" name="Shape 6"/>
          <p:cNvSpPr/>
          <p:nvPr/>
        </p:nvSpPr>
        <p:spPr>
          <a:xfrm>
            <a:off x="594360" y="2423160"/>
            <a:ext cx="384048" cy="384048"/>
          </a:xfrm>
          <a:prstGeom prst="ellipse">
            <a:avLst/>
          </a:prstGeom>
          <a:solidFill>
            <a:srgbClr val="E3F4F1"/>
          </a:solidFill>
          <a:ln w="12700">
            <a:solidFill>
              <a:srgbClr val="E3F4F1"/>
            </a:solidFill>
            <a:prstDash val="solid"/>
          </a:ln>
        </p:spPr>
      </p:sp>
      <p:pic>
        <p:nvPicPr>
          <p:cNvPr id="11" name="Image 1" descr="preencoded.png">    </p:cNvPr>
          <p:cNvPicPr>
            <a:picLocks noChangeAspect="1"/>
          </p:cNvPicPr>
          <p:nvPr/>
        </p:nvPicPr>
        <p:blipFill>
          <a:blip r:embed="rId2"/>
          <a:stretch>
            <a:fillRect/>
          </a:stretch>
        </p:blipFill>
        <p:spPr>
          <a:xfrm>
            <a:off x="686532" y="2515332"/>
            <a:ext cx="199705" cy="199705"/>
          </a:xfrm>
          <a:prstGeom prst="rect">
            <a:avLst/>
          </a:prstGeom>
        </p:spPr>
      </p:pic>
      <p:sp>
        <p:nvSpPr>
          <p:cNvPr id="12" name="Text 7"/>
          <p:cNvSpPr txBox="1"/>
          <p:nvPr/>
        </p:nvSpPr>
        <p:spPr>
          <a:xfrm>
            <a:off x="1097280" y="24231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On shift at that time</a:t>
            </a:r>
            <a:endParaRPr lang="en-US" sz="1300" dirty="0"/>
          </a:p>
        </p:txBody>
      </p:sp>
      <p:sp>
        <p:nvSpPr>
          <p:cNvPr id="13" name="Text 8"/>
          <p:cNvSpPr txBox="1"/>
          <p:nvPr/>
        </p:nvSpPr>
        <p:spPr>
          <a:xfrm>
            <a:off x="594360" y="295351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Set a calendar reminder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Put the ticket link in the invite</a:t>
            </a:r>
            <a:endParaRPr lang="en-US" sz="1000" dirty="0"/>
          </a:p>
        </p:txBody>
      </p:sp>
      <p:sp>
        <p:nvSpPr>
          <p:cNvPr id="14" name="Shape 9"/>
          <p:cNvSpPr/>
          <p:nvPr/>
        </p:nvSpPr>
        <p:spPr>
          <a:xfrm>
            <a:off x="4640580" y="2240280"/>
            <a:ext cx="4091940" cy="1600200"/>
          </a:xfrm>
          <a:prstGeom prst="roundRect">
            <a:avLst>
              <a:gd name="adj" fmla="val 4571"/>
            </a:avLst>
          </a:prstGeom>
          <a:solidFill>
            <a:srgbClr val="FFFFFF"/>
          </a:solidFill>
          <a:ln w="9525">
            <a:solidFill>
              <a:srgbClr val="DCE1E7"/>
            </a:solidFill>
            <a:prstDash val="solid"/>
          </a:ln>
        </p:spPr>
      </p:sp>
      <p:sp>
        <p:nvSpPr>
          <p:cNvPr id="15" name="Shape 10"/>
          <p:cNvSpPr/>
          <p:nvPr/>
        </p:nvSpPr>
        <p:spPr>
          <a:xfrm>
            <a:off x="4823460" y="2423160"/>
            <a:ext cx="384048" cy="38404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4915632" y="2515332"/>
            <a:ext cx="199705" cy="199705"/>
          </a:xfrm>
          <a:prstGeom prst="rect">
            <a:avLst/>
          </a:prstGeom>
        </p:spPr>
      </p:pic>
      <p:sp>
        <p:nvSpPr>
          <p:cNvPr id="17" name="Text 11"/>
          <p:cNvSpPr txBox="1"/>
          <p:nvPr/>
        </p:nvSpPr>
        <p:spPr>
          <a:xfrm>
            <a:off x="5326380" y="24231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on shift</a:t>
            </a:r>
            <a:endParaRPr lang="en-US" sz="1300" dirty="0"/>
          </a:p>
        </p:txBody>
      </p:sp>
      <p:sp>
        <p:nvSpPr>
          <p:cNvPr id="18" name="Text 12"/>
          <p:cNvSpPr txBox="1"/>
          <p:nvPr/>
        </p:nvSpPr>
        <p:spPr>
          <a:xfrm>
            <a:off x="4823460" y="295351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Log the ticket in the Callback Requests Tracker</a:t>
            </a:r>
            <a:endParaRPr lang="en-US" sz="1000" dirty="0"/>
          </a:p>
        </p:txBody>
      </p:sp>
      <p:sp>
        <p:nvSpPr>
          <p:cNvPr id="19" name="Shape 13"/>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20" name="Image 3" descr="preencoded.png">    </p:cNvPr>
          <p:cNvPicPr>
            <a:picLocks noChangeAspect="1"/>
          </p:cNvPicPr>
          <p:nvPr/>
        </p:nvPicPr>
        <p:blipFill>
          <a:blip r:embed="rId4"/>
          <a:stretch>
            <a:fillRect/>
          </a:stretch>
        </p:blipFill>
        <p:spPr>
          <a:xfrm>
            <a:off x="566928" y="4133088"/>
            <a:ext cx="164592" cy="164592"/>
          </a:xfrm>
          <a:prstGeom prst="rect">
            <a:avLst/>
          </a:prstGeom>
        </p:spPr>
      </p:pic>
      <p:sp>
        <p:nvSpPr>
          <p:cNvPr id="21" name="Text 14"/>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two paths:  </a:t>
            </a:r>
            <a:pPr indent="0" marL="0">
              <a:buNone/>
            </a:pPr>
            <a:r>
              <a:rPr lang="en-US" sz="1000" dirty="0">
                <a:solidFill>
                  <a:srgbClr val="1D1D1F"/>
                </a:solidFill>
                <a:latin typeface="SF Pro Text" pitchFamily="34" charset="0"/>
                <a:ea typeface="SF Pro Text" pitchFamily="34" charset="-122"/>
                <a:cs typeface="SF Pro Text" pitchFamily="34" charset="-120"/>
              </a:rPr>
              <a:t>a promised callback never gets lost across a shift change.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send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Adapt these samples to the customer.</a:t>
            </a:r>
            <a:endParaRPr lang="en-US" sz="1200" dirty="0"/>
          </a:p>
        </p:txBody>
      </p:sp>
      <p:sp>
        <p:nvSpPr>
          <p:cNvPr id="6" name="Shape 3"/>
          <p:cNvSpPr/>
          <p:nvPr/>
        </p:nvSpPr>
        <p:spPr>
          <a:xfrm>
            <a:off x="411480" y="1280160"/>
            <a:ext cx="4091940" cy="3017520"/>
          </a:xfrm>
          <a:prstGeom prst="roundRect">
            <a:avLst>
              <a:gd name="adj" fmla="val 2424"/>
            </a:avLst>
          </a:prstGeom>
          <a:solidFill>
            <a:srgbClr val="FFFFFF"/>
          </a:solidFill>
          <a:ln w="9525">
            <a:solidFill>
              <a:srgbClr val="DCE1E7"/>
            </a:solidFill>
            <a:prstDash val="solid"/>
          </a:ln>
        </p:spPr>
      </p:sp>
      <p:sp>
        <p:nvSpPr>
          <p:cNvPr id="7" name="Shape 4"/>
          <p:cNvSpPr/>
          <p:nvPr/>
        </p:nvSpPr>
        <p:spPr>
          <a:xfrm>
            <a:off x="594360" y="1444752"/>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36924"/>
            <a:ext cx="199705" cy="199705"/>
          </a:xfrm>
          <a:prstGeom prst="rect">
            <a:avLst/>
          </a:prstGeom>
        </p:spPr>
      </p:pic>
      <p:sp>
        <p:nvSpPr>
          <p:cNvPr id="9" name="Text 5"/>
          <p:cNvSpPr txBox="1"/>
          <p:nvPr/>
        </p:nvSpPr>
        <p:spPr>
          <a:xfrm>
            <a:off x="1097280" y="1444752"/>
            <a:ext cx="326898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Email: outside business hours</a:t>
            </a:r>
            <a:endParaRPr lang="en-US" sz="1250" dirty="0"/>
          </a:p>
        </p:txBody>
      </p:sp>
      <p:sp>
        <p:nvSpPr>
          <p:cNvPr id="10" name="Shape 6"/>
          <p:cNvSpPr/>
          <p:nvPr/>
        </p:nvSpPr>
        <p:spPr>
          <a:xfrm>
            <a:off x="594360" y="1965960"/>
            <a:ext cx="3726180" cy="2148840"/>
          </a:xfrm>
          <a:prstGeom prst="roundRect">
            <a:avLst>
              <a:gd name="adj" fmla="val 3404"/>
            </a:avLst>
          </a:prstGeom>
          <a:solidFill>
            <a:srgbClr val="E3F4F1"/>
          </a:solidFill>
          <a:ln w="9525">
            <a:solidFill>
              <a:srgbClr val="E3F4F1"/>
            </a:solidFill>
            <a:prstDash val="solid"/>
          </a:ln>
        </p:spPr>
      </p:sp>
      <p:sp>
        <p:nvSpPr>
          <p:cNvPr id="11" name="Text 7"/>
          <p:cNvSpPr txBox="1"/>
          <p:nvPr/>
        </p:nvSpPr>
        <p:spPr>
          <a:xfrm>
            <a:off x="758952" y="2075688"/>
            <a:ext cx="3396996" cy="1965960"/>
          </a:xfrm>
          <a:prstGeom prst="rect">
            <a:avLst/>
          </a:prstGeom>
          <a:noFill/>
          <a:ln/>
        </p:spPr>
        <p:txBody>
          <a:bodyPr wrap="square" lIns="0" tIns="0" rIns="0" bIns="0" rtlCol="0" anchor="t"/>
          <a:lstStyle/>
          <a:p>
            <a:pPr indent="0" marL="0">
              <a:buNone/>
            </a:pPr>
            <a:r>
              <a:rPr lang="en-US" sz="950" i="1" dirty="0">
                <a:solidFill>
                  <a:srgbClr val="1D1D1F"/>
                </a:solidFill>
                <a:latin typeface="SF Pro Text" pitchFamily="34" charset="0"/>
                <a:ea typeface="SF Pro Text" pitchFamily="34" charset="-122"/>
                <a:cs typeface="SF Pro Text" pitchFamily="34" charset="-120"/>
              </a:rPr>
              <a:t>"Hi &lt;&lt;Name&gt;&gt;, I'd be happy to hop on a call to discuss this with you. Please let me know what days and times generally work best for this week. In the meantime, I pulled up your account and &lt;&lt;address surface-level issues/resolutions&gt;&gt;. Let me know if that fully resolves your concerns! Otherwise, just reply with your availability and I'll get you scheduled."</a:t>
            </a:r>
            <a:endParaRPr lang="en-US" sz="950" dirty="0"/>
          </a:p>
        </p:txBody>
      </p:sp>
      <p:sp>
        <p:nvSpPr>
          <p:cNvPr id="12" name="Shape 8"/>
          <p:cNvSpPr/>
          <p:nvPr/>
        </p:nvSpPr>
        <p:spPr>
          <a:xfrm>
            <a:off x="4640580" y="1280160"/>
            <a:ext cx="4091940" cy="3017520"/>
          </a:xfrm>
          <a:prstGeom prst="roundRect">
            <a:avLst>
              <a:gd name="adj" fmla="val 2424"/>
            </a:avLst>
          </a:prstGeom>
          <a:solidFill>
            <a:srgbClr val="FFFFFF"/>
          </a:solidFill>
          <a:ln w="9525">
            <a:solidFill>
              <a:srgbClr val="DCE1E7"/>
            </a:solidFill>
            <a:prstDash val="solid"/>
          </a:ln>
        </p:spPr>
      </p:sp>
      <p:sp>
        <p:nvSpPr>
          <p:cNvPr id="13" name="Shape 9"/>
          <p:cNvSpPr/>
          <p:nvPr/>
        </p:nvSpPr>
        <p:spPr>
          <a:xfrm>
            <a:off x="4823460" y="1444752"/>
            <a:ext cx="384048" cy="384048"/>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4915632" y="1536924"/>
            <a:ext cx="199705" cy="199705"/>
          </a:xfrm>
          <a:prstGeom prst="rect">
            <a:avLst/>
          </a:prstGeom>
        </p:spPr>
      </p:pic>
      <p:sp>
        <p:nvSpPr>
          <p:cNvPr id="15" name="Text 10"/>
          <p:cNvSpPr txBox="1"/>
          <p:nvPr/>
        </p:nvSpPr>
        <p:spPr>
          <a:xfrm>
            <a:off x="5326380" y="1444752"/>
            <a:ext cx="326898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Text: missed callback</a:t>
            </a:r>
            <a:endParaRPr lang="en-US" sz="1250" dirty="0"/>
          </a:p>
        </p:txBody>
      </p:sp>
      <p:sp>
        <p:nvSpPr>
          <p:cNvPr id="16" name="Shape 11"/>
          <p:cNvSpPr/>
          <p:nvPr/>
        </p:nvSpPr>
        <p:spPr>
          <a:xfrm>
            <a:off x="4823460" y="1965960"/>
            <a:ext cx="3726180" cy="2148840"/>
          </a:xfrm>
          <a:prstGeom prst="roundRect">
            <a:avLst>
              <a:gd name="adj" fmla="val 3404"/>
            </a:avLst>
          </a:prstGeom>
          <a:solidFill>
            <a:srgbClr val="E3F4F1"/>
          </a:solidFill>
          <a:ln w="9525">
            <a:solidFill>
              <a:srgbClr val="E3F4F1"/>
            </a:solidFill>
            <a:prstDash val="solid"/>
          </a:ln>
        </p:spPr>
      </p:sp>
      <p:sp>
        <p:nvSpPr>
          <p:cNvPr id="17" name="Text 12"/>
          <p:cNvSpPr txBox="1"/>
          <p:nvPr/>
        </p:nvSpPr>
        <p:spPr>
          <a:xfrm>
            <a:off x="4988052" y="2075688"/>
            <a:ext cx="3396996" cy="1965960"/>
          </a:xfrm>
          <a:prstGeom prst="rect">
            <a:avLst/>
          </a:prstGeom>
          <a:noFill/>
          <a:ln/>
        </p:spPr>
        <p:txBody>
          <a:bodyPr wrap="square" lIns="0" tIns="0" rIns="0" bIns="0" rtlCol="0" anchor="t"/>
          <a:lstStyle/>
          <a:p>
            <a:pPr indent="0" marL="0">
              <a:buNone/>
            </a:pPr>
            <a:r>
              <a:rPr lang="en-US" sz="950" i="1" dirty="0">
                <a:solidFill>
                  <a:srgbClr val="1D1D1F"/>
                </a:solidFill>
                <a:latin typeface="SF Pro Text" pitchFamily="34" charset="0"/>
                <a:ea typeface="SF Pro Text" pitchFamily="34" charset="-122"/>
                <a:cs typeface="SF Pro Text" pitchFamily="34" charset="-120"/>
              </a:rPr>
              <a:t>"This is &lt;&lt;Name&gt;&gt; from Homeaglow. I tried calling but it went to voicemail — no worries, I've already addressed your concern over email. If you'd still like to hop on a call, just text me back with your availability and we'll set it up."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 Price vs CP Pay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a customer is charged, and what the cleaner is paid. Related, but calculated separately.</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 pricing cohorts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price is built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cleaner is paid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a "platform fee" shows up</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separate calculations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You can't judge whether a charge is fair until you know how it's built.</a:t>
            </a:r>
            <a:endParaRPr lang="en-US" sz="1200" dirty="0"/>
          </a:p>
        </p:txBody>
      </p:sp>
      <p:sp>
        <p:nvSpPr>
          <p:cNvPr id="6" name="Shape 3"/>
          <p:cNvSpPr/>
          <p:nvPr/>
        </p:nvSpPr>
        <p:spPr>
          <a:xfrm>
            <a:off x="411480" y="137160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3619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15196"/>
            <a:ext cx="171176" cy="171176"/>
          </a:xfrm>
          <a:prstGeom prst="rect">
            <a:avLst/>
          </a:prstGeom>
        </p:spPr>
      </p:pic>
      <p:sp>
        <p:nvSpPr>
          <p:cNvPr id="9" name="Text 5"/>
          <p:cNvSpPr txBox="1"/>
          <p:nvPr/>
        </p:nvSpPr>
        <p:spPr>
          <a:xfrm>
            <a:off x="576072" y="197510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price</a:t>
            </a:r>
            <a:endParaRPr lang="en-US" sz="1200" dirty="0"/>
          </a:p>
        </p:txBody>
      </p:sp>
      <p:sp>
        <p:nvSpPr>
          <p:cNvPr id="10" name="Text 6"/>
          <p:cNvSpPr txBox="1"/>
          <p:nvPr/>
        </p:nvSpPr>
        <p:spPr>
          <a:xfrm>
            <a:off x="576072" y="226771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 plus platform fees and taxes that don't go to the cleaner.</a:t>
            </a:r>
            <a:endParaRPr lang="en-US" sz="950" dirty="0"/>
          </a:p>
        </p:txBody>
      </p:sp>
      <p:sp>
        <p:nvSpPr>
          <p:cNvPr id="11" name="Shape 7"/>
          <p:cNvSpPr/>
          <p:nvPr/>
        </p:nvSpPr>
        <p:spPr>
          <a:xfrm>
            <a:off x="4640580" y="137160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05172" y="153619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615196"/>
            <a:ext cx="171176" cy="171176"/>
          </a:xfrm>
          <a:prstGeom prst="rect">
            <a:avLst/>
          </a:prstGeom>
        </p:spPr>
      </p:pic>
      <p:sp>
        <p:nvSpPr>
          <p:cNvPr id="14" name="Text 9"/>
          <p:cNvSpPr txBox="1"/>
          <p:nvPr/>
        </p:nvSpPr>
        <p:spPr>
          <a:xfrm>
            <a:off x="4805172" y="197510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pay</a:t>
            </a:r>
            <a:endParaRPr lang="en-US" sz="1200" dirty="0"/>
          </a:p>
        </p:txBody>
      </p:sp>
      <p:sp>
        <p:nvSpPr>
          <p:cNvPr id="15" name="Text 10"/>
          <p:cNvSpPr txBox="1"/>
          <p:nvPr/>
        </p:nvSpPr>
        <p:spPr>
          <a:xfrm>
            <a:off x="4805172" y="226771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the cleaner's own hourly rate and their operating model.</a:t>
            </a:r>
            <a:endParaRPr lang="en-US" sz="95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Used everywhere:  </a:t>
            </a:r>
            <a:pPr indent="0" marL="0">
              <a:buNone/>
            </a:pPr>
            <a:r>
              <a:rPr lang="en-US" sz="1000" dirty="0">
                <a:solidFill>
                  <a:srgbClr val="1D1D1F"/>
                </a:solidFill>
                <a:latin typeface="SF Pro Text" pitchFamily="34" charset="0"/>
                <a:ea typeface="SF Pro Text" pitchFamily="34" charset="-122"/>
                <a:cs typeface="SF Pro Text" pitchFamily="34" charset="-120"/>
              </a:rPr>
              <a:t>Overcharged Hours, False Invoice and ETF calculations all start from these formulas.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Three pricing cohorts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a customer pays on top of the cleaner's rate depends on their membership.</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2560320"/>
                <a:gridCol w="1920240"/>
                <a:gridCol w="1920240"/>
                <a:gridCol w="19202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Cohort</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Platform fee / hr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Processing fee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tax</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Non-FC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$15.00</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None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15%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Deactivated 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$30.00</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cleaning price is built</a:t>
            </a:r>
            <a:endParaRPr lang="en-US" sz="2400" dirty="0"/>
          </a:p>
        </p:txBody>
      </p:sp>
      <p:sp>
        <p:nvSpPr>
          <p:cNvPr id="5" name="Shape 2"/>
          <p:cNvSpPr/>
          <p:nvPr/>
        </p:nvSpPr>
        <p:spPr>
          <a:xfrm>
            <a:off x="411480" y="1234440"/>
            <a:ext cx="8321040" cy="1371600"/>
          </a:xfrm>
          <a:prstGeom prst="roundRect">
            <a:avLst>
              <a:gd name="adj" fmla="val 5333"/>
            </a:avLst>
          </a:prstGeom>
          <a:solidFill>
            <a:srgbClr val="0B7A6F"/>
          </a:solidFill>
          <a:ln w="9525">
            <a:solidFill>
              <a:srgbClr val="0B7A6F"/>
            </a:solidFill>
            <a:prstDash val="solid"/>
          </a:ln>
        </p:spPr>
      </p:sp>
      <p:sp>
        <p:nvSpPr>
          <p:cNvPr id="6" name="Text 3"/>
          <p:cNvSpPr txBox="1"/>
          <p:nvPr/>
        </p:nvSpPr>
        <p:spPr>
          <a:xfrm>
            <a:off x="685800" y="1371600"/>
            <a:ext cx="45720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CLEANING PRICE</a:t>
            </a:r>
            <a:endParaRPr lang="en-US" sz="800" dirty="0"/>
          </a:p>
        </p:txBody>
      </p:sp>
      <p:sp>
        <p:nvSpPr>
          <p:cNvPr id="7" name="Text 4"/>
          <p:cNvSpPr txBox="1"/>
          <p:nvPr/>
        </p:nvSpPr>
        <p:spPr>
          <a:xfrm>
            <a:off x="685800" y="1627632"/>
            <a:ext cx="7863840" cy="868680"/>
          </a:xfrm>
          <a:prstGeom prst="rect">
            <a:avLst/>
          </a:prstGeom>
          <a:noFill/>
          <a:ln/>
        </p:spPr>
        <p:txBody>
          <a:bodyPr wrap="square" lIns="0" tIns="0" rIns="0" bIns="0" rtlCol="0" anchor="t"/>
          <a:lstStyle/>
          <a:p>
            <a:pPr indent="0" marL="0">
              <a:buNone/>
            </a:pPr>
            <a:r>
              <a:rPr lang="en-US" sz="1600" b="1" dirty="0">
                <a:solidFill>
                  <a:srgbClr val="FFFFFF"/>
                </a:solidFill>
                <a:latin typeface="SF Pro Display" pitchFamily="34" charset="0"/>
                <a:ea typeface="SF Pro Display" pitchFamily="34" charset="-122"/>
                <a:cs typeface="SF Pro Display" pitchFamily="34" charset="-120"/>
              </a:rPr>
              <a:t>(CP hourly rate + Platform hourly rate) × Job duration</a:t>
            </a:r>
            <a:endParaRPr lang="en-US" sz="1600" dirty="0"/>
          </a:p>
          <a:p>
            <a:pPr indent="0" marL="0">
              <a:buNone/>
            </a:pPr>
            <a:r>
              <a:rPr lang="en-US" sz="1600" b="1" dirty="0">
                <a:solidFill>
                  <a:srgbClr val="FFFFFF"/>
                </a:solidFill>
                <a:latin typeface="SF Pro Display" pitchFamily="34" charset="0"/>
                <a:ea typeface="SF Pro Display" pitchFamily="34" charset="-122"/>
                <a:cs typeface="SF Pro Display" pitchFamily="34" charset="-120"/>
              </a:rPr>
              <a:t>+ Processing fee + Sales tax + Premium fee</a:t>
            </a:r>
            <a:endParaRPr lang="en-US" sz="1600" dirty="0"/>
          </a:p>
        </p:txBody>
      </p:sp>
      <p:sp>
        <p:nvSpPr>
          <p:cNvPr id="8" name="Shape 5"/>
          <p:cNvSpPr/>
          <p:nvPr/>
        </p:nvSpPr>
        <p:spPr>
          <a:xfrm>
            <a:off x="411480" y="2788920"/>
            <a:ext cx="4091940" cy="1371600"/>
          </a:xfrm>
          <a:prstGeom prst="roundRect">
            <a:avLst>
              <a:gd name="adj" fmla="val 5333"/>
            </a:avLst>
          </a:prstGeom>
          <a:solidFill>
            <a:srgbClr val="FFFFFF"/>
          </a:solidFill>
          <a:ln w="9525">
            <a:solidFill>
              <a:srgbClr val="DCE1E7"/>
            </a:solidFill>
            <a:prstDash val="solid"/>
          </a:ln>
        </p:spPr>
      </p:sp>
      <p:sp>
        <p:nvSpPr>
          <p:cNvPr id="9" name="Shape 6"/>
          <p:cNvSpPr/>
          <p:nvPr/>
        </p:nvSpPr>
        <p:spPr>
          <a:xfrm>
            <a:off x="576072" y="295351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1" name="Text 7"/>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Active voucher</a:t>
            </a:r>
            <a:endParaRPr lang="en-US" sz="1200" dirty="0"/>
          </a:p>
        </p:txBody>
      </p:sp>
      <p:sp>
        <p:nvSpPr>
          <p:cNvPr id="12" name="Text 8"/>
          <p:cNvSpPr txBox="1"/>
          <p:nvPr/>
        </p:nvSpPr>
        <p:spPr>
          <a:xfrm>
            <a:off x="576072" y="368503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Voucher hours come off the job duration before the price is calculated.</a:t>
            </a:r>
            <a:endParaRPr lang="en-US" sz="950" dirty="0"/>
          </a:p>
        </p:txBody>
      </p:sp>
      <p:sp>
        <p:nvSpPr>
          <p:cNvPr id="13" name="Shape 9"/>
          <p:cNvSpPr/>
          <p:nvPr/>
        </p:nvSpPr>
        <p:spPr>
          <a:xfrm>
            <a:off x="4640580" y="2788920"/>
            <a:ext cx="4091940" cy="1371600"/>
          </a:xfrm>
          <a:prstGeom prst="roundRect">
            <a:avLst>
              <a:gd name="adj" fmla="val 5333"/>
            </a:avLst>
          </a:prstGeom>
          <a:solidFill>
            <a:srgbClr val="FFFFFF"/>
          </a:solidFill>
          <a:ln w="9525">
            <a:solidFill>
              <a:srgbClr val="DCE1E7"/>
            </a:solidFill>
            <a:prstDash val="solid"/>
          </a:ln>
        </p:spPr>
      </p:sp>
      <p:sp>
        <p:nvSpPr>
          <p:cNvPr id="14" name="Shape 10"/>
          <p:cNvSpPr/>
          <p:nvPr/>
        </p:nvSpPr>
        <p:spPr>
          <a:xfrm>
            <a:off x="4805172" y="295351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16" name="Text 11"/>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Active credits</a:t>
            </a:r>
            <a:endParaRPr lang="en-US" sz="1200" dirty="0"/>
          </a:p>
        </p:txBody>
      </p:sp>
      <p:sp>
        <p:nvSpPr>
          <p:cNvPr id="17" name="Text 12"/>
          <p:cNvSpPr txBox="1"/>
          <p:nvPr/>
        </p:nvSpPr>
        <p:spPr>
          <a:xfrm>
            <a:off x="4805172" y="368503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come off the final total.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Calculate the job cost for all 3 customer pricing cohorts using the details below.</a:t>
            </a:r>
            <a:endParaRPr lang="en-US" sz="1200" dirty="0"/>
          </a:p>
        </p:txBody>
      </p:sp>
      <p:sp>
        <p:nvSpPr>
          <p:cNvPr id="6" name="Shape 3"/>
          <p:cNvSpPr/>
          <p:nvPr/>
        </p:nvSpPr>
        <p:spPr>
          <a:xfrm>
            <a:off x="411480" y="1280160"/>
            <a:ext cx="3017520" cy="3383280"/>
          </a:xfrm>
          <a:prstGeom prst="roundRect">
            <a:avLst>
              <a:gd name="adj" fmla="val 2424"/>
            </a:avLst>
          </a:prstGeom>
          <a:solidFill>
            <a:srgbClr val="FFFFFF"/>
          </a:solidFill>
          <a:ln w="9525">
            <a:solidFill>
              <a:srgbClr val="DCE1E7"/>
            </a:solidFill>
            <a:prstDash val="solid"/>
          </a:ln>
        </p:spPr>
      </p:sp>
      <p:sp>
        <p:nvSpPr>
          <p:cNvPr id="7" name="Shape 4"/>
          <p:cNvSpPr/>
          <p:nvPr/>
        </p:nvSpPr>
        <p:spPr>
          <a:xfrm>
            <a:off x="594360" y="1444752"/>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36924"/>
            <a:ext cx="199705" cy="199705"/>
          </a:xfrm>
          <a:prstGeom prst="rect">
            <a:avLst/>
          </a:prstGeom>
        </p:spPr>
      </p:pic>
      <p:sp>
        <p:nvSpPr>
          <p:cNvPr id="9" name="Text 5"/>
          <p:cNvSpPr txBox="1"/>
          <p:nvPr/>
        </p:nvSpPr>
        <p:spPr>
          <a:xfrm>
            <a:off x="1097280" y="1444752"/>
            <a:ext cx="2194560" cy="384048"/>
          </a:xfrm>
          <a:prstGeom prst="rect">
            <a:avLst/>
          </a:prstGeom>
          <a:noFill/>
          <a:ln/>
        </p:spPr>
        <p:txBody>
          <a:bodyPr wrap="square" lIns="0" tIns="0" rIns="0" bIns="0" rtlCol="0" anchor="ctr"/>
          <a:lstStyle/>
          <a:p>
            <a:pPr indent="0" marL="0">
              <a:buNone/>
            </a:pPr>
            <a:r>
              <a:rPr lang="en-US" sz="1400" b="1" dirty="0">
                <a:solidFill>
                  <a:srgbClr val="1D1D1F"/>
                </a:solidFill>
                <a:latin typeface="SF Pro Display" pitchFamily="34" charset="0"/>
                <a:ea typeface="SF Pro Display" pitchFamily="34" charset="-122"/>
                <a:cs typeface="SF Pro Display" pitchFamily="34" charset="-120"/>
              </a:rPr>
              <a:t>Scenario</a:t>
            </a:r>
            <a:endParaRPr lang="en-US" sz="1400" dirty="0"/>
          </a:p>
        </p:txBody>
      </p:sp>
      <p:sp>
        <p:nvSpPr>
          <p:cNvPr id="10" name="Shape 6"/>
          <p:cNvSpPr/>
          <p:nvPr/>
        </p:nvSpPr>
        <p:spPr>
          <a:xfrm>
            <a:off x="594360" y="2011680"/>
            <a:ext cx="2651760" cy="384048"/>
          </a:xfrm>
          <a:prstGeom prst="roundRect">
            <a:avLst>
              <a:gd name="adj" fmla="val 19048"/>
            </a:avLst>
          </a:prstGeom>
          <a:solidFill>
            <a:srgbClr val="F6F7F9"/>
          </a:solidFill>
          <a:ln w="9525">
            <a:solidFill>
              <a:srgbClr val="DCE1E7"/>
            </a:solidFill>
            <a:prstDash val="solid"/>
          </a:ln>
        </p:spPr>
      </p:sp>
      <p:sp>
        <p:nvSpPr>
          <p:cNvPr id="11" name="Text 7"/>
          <p:cNvSpPr txBox="1"/>
          <p:nvPr/>
        </p:nvSpPr>
        <p:spPr>
          <a:xfrm>
            <a:off x="731520" y="2011680"/>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CP rate</a:t>
            </a:r>
            <a:endParaRPr lang="en-US" sz="1050" dirty="0"/>
          </a:p>
        </p:txBody>
      </p:sp>
      <p:sp>
        <p:nvSpPr>
          <p:cNvPr id="12" name="Text 8"/>
          <p:cNvSpPr txBox="1"/>
          <p:nvPr/>
        </p:nvSpPr>
        <p:spPr>
          <a:xfrm>
            <a:off x="1828800" y="2011680"/>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$25.00/hr</a:t>
            </a:r>
            <a:endParaRPr lang="en-US" sz="1200" dirty="0"/>
          </a:p>
        </p:txBody>
      </p:sp>
      <p:sp>
        <p:nvSpPr>
          <p:cNvPr id="13" name="Shape 9"/>
          <p:cNvSpPr/>
          <p:nvPr/>
        </p:nvSpPr>
        <p:spPr>
          <a:xfrm>
            <a:off x="594360" y="2487168"/>
            <a:ext cx="2651760" cy="384048"/>
          </a:xfrm>
          <a:prstGeom prst="roundRect">
            <a:avLst>
              <a:gd name="adj" fmla="val 19048"/>
            </a:avLst>
          </a:prstGeom>
          <a:solidFill>
            <a:srgbClr val="FFFFFF"/>
          </a:solidFill>
          <a:ln w="9525">
            <a:solidFill>
              <a:srgbClr val="DCE1E7"/>
            </a:solidFill>
            <a:prstDash val="solid"/>
          </a:ln>
        </p:spPr>
      </p:sp>
      <p:sp>
        <p:nvSpPr>
          <p:cNvPr id="14" name="Text 10"/>
          <p:cNvSpPr txBox="1"/>
          <p:nvPr/>
        </p:nvSpPr>
        <p:spPr>
          <a:xfrm>
            <a:off x="731520" y="2487168"/>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Duration</a:t>
            </a:r>
            <a:endParaRPr lang="en-US" sz="1050" dirty="0"/>
          </a:p>
        </p:txBody>
      </p:sp>
      <p:sp>
        <p:nvSpPr>
          <p:cNvPr id="15" name="Text 11"/>
          <p:cNvSpPr txBox="1"/>
          <p:nvPr/>
        </p:nvSpPr>
        <p:spPr>
          <a:xfrm>
            <a:off x="1828800" y="2487168"/>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4 hours</a:t>
            </a:r>
            <a:endParaRPr lang="en-US" sz="1200" dirty="0"/>
          </a:p>
        </p:txBody>
      </p:sp>
      <p:sp>
        <p:nvSpPr>
          <p:cNvPr id="16" name="Shape 12"/>
          <p:cNvSpPr/>
          <p:nvPr/>
        </p:nvSpPr>
        <p:spPr>
          <a:xfrm>
            <a:off x="594360" y="2962656"/>
            <a:ext cx="2651760" cy="384048"/>
          </a:xfrm>
          <a:prstGeom prst="roundRect">
            <a:avLst>
              <a:gd name="adj" fmla="val 19048"/>
            </a:avLst>
          </a:prstGeom>
          <a:solidFill>
            <a:srgbClr val="F6F7F9"/>
          </a:solidFill>
          <a:ln w="9525">
            <a:solidFill>
              <a:srgbClr val="DCE1E7"/>
            </a:solidFill>
            <a:prstDash val="solid"/>
          </a:ln>
        </p:spPr>
      </p:sp>
      <p:sp>
        <p:nvSpPr>
          <p:cNvPr id="17" name="Text 13"/>
          <p:cNvSpPr txBox="1"/>
          <p:nvPr/>
        </p:nvSpPr>
        <p:spPr>
          <a:xfrm>
            <a:off x="731520" y="2962656"/>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Voucher</a:t>
            </a:r>
            <a:endParaRPr lang="en-US" sz="1050" dirty="0"/>
          </a:p>
        </p:txBody>
      </p:sp>
      <p:sp>
        <p:nvSpPr>
          <p:cNvPr id="18" name="Text 14"/>
          <p:cNvSpPr txBox="1"/>
          <p:nvPr/>
        </p:nvSpPr>
        <p:spPr>
          <a:xfrm>
            <a:off x="1828800" y="2962656"/>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1.5 hours</a:t>
            </a:r>
            <a:endParaRPr lang="en-US" sz="1200" dirty="0"/>
          </a:p>
        </p:txBody>
      </p:sp>
      <p:sp>
        <p:nvSpPr>
          <p:cNvPr id="19" name="Shape 15"/>
          <p:cNvSpPr/>
          <p:nvPr/>
        </p:nvSpPr>
        <p:spPr>
          <a:xfrm>
            <a:off x="594360" y="3438144"/>
            <a:ext cx="2651760" cy="384048"/>
          </a:xfrm>
          <a:prstGeom prst="roundRect">
            <a:avLst>
              <a:gd name="adj" fmla="val 19048"/>
            </a:avLst>
          </a:prstGeom>
          <a:solidFill>
            <a:srgbClr val="FFFFFF"/>
          </a:solidFill>
          <a:ln w="9525">
            <a:solidFill>
              <a:srgbClr val="DCE1E7"/>
            </a:solidFill>
            <a:prstDash val="solid"/>
          </a:ln>
        </p:spPr>
      </p:sp>
      <p:sp>
        <p:nvSpPr>
          <p:cNvPr id="20" name="Text 16"/>
          <p:cNvSpPr txBox="1"/>
          <p:nvPr/>
        </p:nvSpPr>
        <p:spPr>
          <a:xfrm>
            <a:off x="731520" y="3438144"/>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Sales tax</a:t>
            </a:r>
            <a:endParaRPr lang="en-US" sz="1050" dirty="0"/>
          </a:p>
        </p:txBody>
      </p:sp>
      <p:sp>
        <p:nvSpPr>
          <p:cNvPr id="21" name="Text 17"/>
          <p:cNvSpPr txBox="1"/>
          <p:nvPr/>
        </p:nvSpPr>
        <p:spPr>
          <a:xfrm>
            <a:off x="1828800" y="3438144"/>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8%</a:t>
            </a:r>
            <a:endParaRPr lang="en-US" sz="1200" dirty="0"/>
          </a:p>
        </p:txBody>
      </p:sp>
      <p:sp>
        <p:nvSpPr>
          <p:cNvPr id="22" name="Shape 18"/>
          <p:cNvSpPr/>
          <p:nvPr/>
        </p:nvSpPr>
        <p:spPr>
          <a:xfrm>
            <a:off x="594360" y="3913632"/>
            <a:ext cx="2651760" cy="384048"/>
          </a:xfrm>
          <a:prstGeom prst="roundRect">
            <a:avLst>
              <a:gd name="adj" fmla="val 19048"/>
            </a:avLst>
          </a:prstGeom>
          <a:solidFill>
            <a:srgbClr val="F6F7F9"/>
          </a:solidFill>
          <a:ln w="9525">
            <a:solidFill>
              <a:srgbClr val="DCE1E7"/>
            </a:solidFill>
            <a:prstDash val="solid"/>
          </a:ln>
        </p:spPr>
      </p:sp>
      <p:sp>
        <p:nvSpPr>
          <p:cNvPr id="23" name="Text 19"/>
          <p:cNvSpPr txBox="1"/>
          <p:nvPr/>
        </p:nvSpPr>
        <p:spPr>
          <a:xfrm>
            <a:off x="731520" y="3913632"/>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Credits</a:t>
            </a:r>
            <a:endParaRPr lang="en-US" sz="1050" dirty="0"/>
          </a:p>
        </p:txBody>
      </p:sp>
      <p:sp>
        <p:nvSpPr>
          <p:cNvPr id="24" name="Text 20"/>
          <p:cNvSpPr txBox="1"/>
          <p:nvPr/>
        </p:nvSpPr>
        <p:spPr>
          <a:xfrm>
            <a:off x="1828800" y="3913632"/>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$12.00</a:t>
            </a:r>
            <a:endParaRPr lang="en-US" sz="1200" dirty="0"/>
          </a:p>
        </p:txBody>
      </p:sp>
      <p:sp>
        <p:nvSpPr>
          <p:cNvPr id="25" name="Shape 21"/>
          <p:cNvSpPr/>
          <p:nvPr/>
        </p:nvSpPr>
        <p:spPr>
          <a:xfrm>
            <a:off x="3611880" y="1280160"/>
            <a:ext cx="5120640" cy="457200"/>
          </a:xfrm>
          <a:prstGeom prst="roundRect">
            <a:avLst>
              <a:gd name="adj" fmla="val 20000"/>
            </a:avLst>
          </a:prstGeom>
          <a:solidFill>
            <a:srgbClr val="0B7A6F"/>
          </a:solidFill>
          <a:ln w="12700">
            <a:solidFill>
              <a:srgbClr val="0B7A6F"/>
            </a:solidFill>
            <a:prstDash val="solid"/>
          </a:ln>
        </p:spPr>
      </p:sp>
      <p:pic>
        <p:nvPicPr>
          <p:cNvPr id="26" name="Image 1" descr="preencoded.png">    </p:cNvPr>
          <p:cNvPicPr>
            <a:picLocks noChangeAspect="1"/>
          </p:cNvPicPr>
          <p:nvPr/>
        </p:nvPicPr>
        <p:blipFill>
          <a:blip r:embed="rId2"/>
          <a:stretch>
            <a:fillRect/>
          </a:stretch>
        </p:blipFill>
        <p:spPr>
          <a:xfrm>
            <a:off x="3794760" y="1399032"/>
            <a:ext cx="219456" cy="219456"/>
          </a:xfrm>
          <a:prstGeom prst="rect">
            <a:avLst/>
          </a:prstGeom>
        </p:spPr>
      </p:pic>
      <p:sp>
        <p:nvSpPr>
          <p:cNvPr id="27" name="Text 22"/>
          <p:cNvSpPr txBox="1"/>
          <p:nvPr/>
        </p:nvSpPr>
        <p:spPr>
          <a:xfrm>
            <a:off x="4114800" y="1280160"/>
            <a:ext cx="4114800" cy="457200"/>
          </a:xfrm>
          <a:prstGeom prst="rect">
            <a:avLst/>
          </a:prstGeom>
          <a:noFill/>
          <a:ln/>
        </p:spPr>
        <p:txBody>
          <a:bodyPr wrap="square" lIns="0" tIns="0" rIns="0" bIns="0" rtlCol="0" anchor="ctr"/>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Show Answers</a:t>
            </a:r>
            <a:endParaRPr lang="en-US" sz="1300" dirty="0"/>
          </a:p>
        </p:txBody>
      </p:sp>
      <p:sp>
        <p:nvSpPr>
          <p:cNvPr id="28" name="Shape 23"/>
          <p:cNvSpPr/>
          <p:nvPr/>
        </p:nvSpPr>
        <p:spPr>
          <a:xfrm>
            <a:off x="3611880" y="1828800"/>
            <a:ext cx="5120640" cy="2834640"/>
          </a:xfrm>
          <a:prstGeom prst="roundRect">
            <a:avLst>
              <a:gd name="adj" fmla="val 2581"/>
            </a:avLst>
          </a:prstGeom>
          <a:solidFill>
            <a:srgbClr val="E3F4F1"/>
          </a:solidFill>
          <a:ln w="9525">
            <a:solidFill>
              <a:srgbClr val="E3F4F1"/>
            </a:solidFill>
            <a:prstDash val="solid"/>
          </a:ln>
        </p:spPr>
      </p:sp>
      <p:sp>
        <p:nvSpPr>
          <p:cNvPr id="29" name="revealAnswers"/>
          <p:cNvSpPr txBox="1"/>
          <p:nvPr/>
        </p:nvSpPr>
        <p:spPr>
          <a:xfrm>
            <a:off x="3794760" y="1965960"/>
            <a:ext cx="4754880" cy="2606040"/>
          </a:xfrm>
          <a:prstGeom prst="rect">
            <a:avLst/>
          </a:prstGeom>
          <a:noFill/>
          <a:ln/>
        </p:spPr>
        <p:txBody>
          <a:bodyPr wrap="square" lIns="0" tIns="0" rIns="0" bIns="0" rtlCol="0" anchor="t"/>
          <a:lstStyle/>
          <a:p>
            <a:pPr indent="0" marL="0">
              <a:spcAft>
                <a:spcPts val="1000"/>
              </a:spcAft>
              <a:buNone/>
            </a:pPr>
            <a:r>
              <a:rPr lang="en-US" sz="1250" b="1" dirty="0">
                <a:solidFill>
                  <a:srgbClr val="0B7A6F"/>
                </a:solidFill>
                <a:latin typeface="SF Pro Display" pitchFamily="34" charset="0"/>
                <a:ea typeface="SF Pro Display" pitchFamily="34" charset="-122"/>
                <a:cs typeface="SF Pro Display" pitchFamily="34" charset="-120"/>
              </a:rPr>
              <a:t>FC customer:  $65.63</a:t>
            </a:r>
            <a:br/>
            <a:pPr indent="0" marL="0">
              <a:spcAft>
                <a:spcPts val="1000"/>
              </a:spcAft>
              <a:buNone/>
            </a:pPr>
            <a:r>
              <a:rPr lang="en-US" sz="950" dirty="0">
                <a:solidFill>
                  <a:srgbClr val="1D1D1F"/>
                </a:solidFill>
                <a:latin typeface="SF Pro Text" pitchFamily="34" charset="0"/>
                <a:ea typeface="SF Pro Text" pitchFamily="34" charset="-122"/>
                <a:cs typeface="SF Pro Text" pitchFamily="34" charset="-120"/>
              </a:rPr>
              <a:t>$25/hr CP rate × 2.5 hrs + 15% processing fee + 8% tax − $12 credits</a:t>
            </a:r>
            <a:endParaRPr lang="en-US" sz="1250" dirty="0"/>
          </a:p>
          <a:p>
            <a:pPr indent="0" marL="0">
              <a:spcAft>
                <a:spcPts val="1000"/>
              </a:spcAft>
              <a:buNone/>
            </a:pPr>
            <a:r>
              <a:rPr lang="en-US" sz="1250" b="1" dirty="0">
                <a:solidFill>
                  <a:srgbClr val="0B7A6F"/>
                </a:solidFill>
                <a:latin typeface="SF Pro Display" pitchFamily="34" charset="0"/>
                <a:ea typeface="SF Pro Display" pitchFamily="34" charset="-122"/>
                <a:cs typeface="SF Pro Display" pitchFamily="34" charset="-120"/>
              </a:rPr>
              <a:t>Non-FC customer:  $101.40</a:t>
            </a:r>
            <a:br/>
            <a:pPr indent="0" marL="0">
              <a:spcAft>
                <a:spcPts val="1000"/>
              </a:spcAft>
              <a:buNone/>
            </a:pPr>
            <a:r>
              <a:rPr lang="en-US" sz="950" dirty="0">
                <a:solidFill>
                  <a:srgbClr val="1D1D1F"/>
                </a:solidFill>
                <a:latin typeface="SF Pro Text" pitchFamily="34" charset="0"/>
                <a:ea typeface="SF Pro Text" pitchFamily="34" charset="-122"/>
                <a:cs typeface="SF Pro Text" pitchFamily="34" charset="-120"/>
              </a:rPr>
              <a:t>($25/hr CP rate + $15/hr platform fee) × 2.5 hrs + 5% processing fee + 8% tax − $12 credits</a:t>
            </a:r>
            <a:endParaRPr lang="en-US" sz="1250" dirty="0"/>
          </a:p>
          <a:p>
            <a:pPr indent="0" marL="0">
              <a:spcAft>
                <a:spcPts val="1000"/>
              </a:spcAft>
              <a:buNone/>
            </a:pPr>
            <a:r>
              <a:rPr lang="en-US" sz="1250" b="1" dirty="0">
                <a:solidFill>
                  <a:srgbClr val="0B7A6F"/>
                </a:solidFill>
                <a:latin typeface="SF Pro Display" pitchFamily="34" charset="0"/>
                <a:ea typeface="SF Pro Display" pitchFamily="34" charset="-122"/>
                <a:cs typeface="SF Pro Display" pitchFamily="34" charset="-120"/>
              </a:rPr>
              <a:t>Deactivated (cancelled) FC customer:  $143.93</a:t>
            </a:r>
            <a:br/>
            <a:pPr indent="0" marL="0">
              <a:spcAft>
                <a:spcPts val="1000"/>
              </a:spcAft>
              <a:buNone/>
            </a:pPr>
            <a:r>
              <a:rPr lang="en-US" sz="950" dirty="0">
                <a:solidFill>
                  <a:srgbClr val="1D1D1F"/>
                </a:solidFill>
                <a:latin typeface="SF Pro Text" pitchFamily="34" charset="0"/>
                <a:ea typeface="SF Pro Text" pitchFamily="34" charset="-122"/>
                <a:cs typeface="SF Pro Text" pitchFamily="34" charset="-120"/>
              </a:rPr>
              <a:t>($25/hr CP rate + $30/hr platform fee) × 2.5 hrs + 5% processing fee + 8% tax − $12 credits</a:t>
            </a:r>
            <a:endParaRPr lang="en-US" sz="1250" dirty="0"/>
          </a:p>
        </p:txBody>
      </p:sp>
      <p:sp>
        <p:nvSpPr>
          <p:cNvPr id="30" name="Text 25"/>
          <p:cNvSpPr txBox="1"/>
          <p:nvPr/>
        </p:nvSpPr>
        <p:spPr>
          <a:xfrm>
            <a:off x="594360" y="4389120"/>
            <a:ext cx="2743200" cy="201168"/>
          </a:xfrm>
          <a:prstGeom prst="rect">
            <a:avLst/>
          </a:prstGeom>
          <a:noFill/>
          <a:ln/>
        </p:spPr>
        <p:txBody>
          <a:bodyPr wrap="square" lIns="0" tIns="0" rIns="0" bIns="0" rtlCol="0" anchor="t"/>
          <a:lstStyle/>
          <a:p>
            <a:pPr indent="0" marL="0">
              <a:buNone/>
            </a:pPr>
            <a:r>
              <a:rPr lang="en-US" sz="850" i="1" dirty="0">
                <a:solidFill>
                  <a:srgbClr val="6E6E73"/>
                </a:solidFill>
                <a:latin typeface="SF Pro Text" pitchFamily="34" charset="0"/>
                <a:ea typeface="SF Pro Text" pitchFamily="34" charset="-122"/>
                <a:cs typeface="SF Pro Text" pitchFamily="34" charset="-120"/>
              </a:rPr>
              <a:t>Hint: take the voucher hours off the duration first.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9">
                                            <p:txEl>
                                              <p:pRg st="0" end="0"/>
                                            </p:txEl>
                                          </p:spTgt>
                                        </p:tgtEl>
                                        <p:attrNameLst>
                                          <p:attrName>style.visibility</p:attrName>
                                        </p:attrNameLst>
                                      </p:cBhvr>
                                      <p:to>
                                        <p:strVal val="visible"/>
                                      </p:to>
                                    </p:set>
                                    <p:animEffect transition="in" filter="fade">
                                      <p:cBhvr>
                                        <p:cTn id="7" dur="600"/>
                                        <p:tgtEl>
                                          <p:spTgt spid="2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9">
                                            <p:txEl>
                                              <p:pRg st="1" end="1"/>
                                            </p:txEl>
                                          </p:spTgt>
                                        </p:tgtEl>
                                        <p:attrNameLst>
                                          <p:attrName>style.visibility</p:attrName>
                                        </p:attrNameLst>
                                      </p:cBhvr>
                                      <p:to>
                                        <p:strVal val="visible"/>
                                      </p:to>
                                    </p:set>
                                    <p:animEffect transition="in" filter="fade">
                                      <p:cBhvr>
                                        <p:cTn id="12" dur="600"/>
                                        <p:tgtEl>
                                          <p:spTgt spid="2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9">
                                            <p:txEl>
                                              <p:pRg st="2" end="2"/>
                                            </p:txEl>
                                          </p:spTgt>
                                        </p:tgtEl>
                                        <p:attrNameLst>
                                          <p:attrName>style.visibility</p:attrName>
                                        </p:attrNameLst>
                                      </p:cBhvr>
                                      <p:to>
                                        <p:strVal val="visible"/>
                                      </p:to>
                                    </p:set>
                                    <p:animEffect transition="in" filter="fade">
                                      <p:cBhvr>
                                        <p:cTn id="17" dur="600"/>
                                        <p:tgtEl>
                                          <p:spTgt spid="2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cleaner is paid</a:t>
            </a:r>
            <a:endParaRPr lang="en-US" sz="2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737360"/>
                <a:gridCol w="3657600"/>
                <a:gridCol w="292608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Operating model</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First-time client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Repeat client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CA / CA-WA</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Same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General</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$5 match fee)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2697480"/>
            <a:ext cx="2682240" cy="1417320"/>
          </a:xfrm>
          <a:prstGeom prst="roundRect">
            <a:avLst>
              <a:gd name="adj" fmla="val 5161"/>
            </a:avLst>
          </a:prstGeom>
          <a:solidFill>
            <a:srgbClr val="FFFFFF"/>
          </a:solidFill>
          <a:ln w="9525">
            <a:solidFill>
              <a:srgbClr val="DCE1E7"/>
            </a:solidFill>
            <a:prstDash val="solid"/>
          </a:ln>
        </p:spPr>
      </p:sp>
      <p:sp>
        <p:nvSpPr>
          <p:cNvPr id="7" name="Shape 3"/>
          <p:cNvSpPr/>
          <p:nvPr/>
        </p:nvSpPr>
        <p:spPr>
          <a:xfrm>
            <a:off x="576072" y="28620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2941076"/>
            <a:ext cx="171176" cy="171176"/>
          </a:xfrm>
          <a:prstGeom prst="rect">
            <a:avLst/>
          </a:prstGeom>
        </p:spPr>
      </p:pic>
      <p:sp>
        <p:nvSpPr>
          <p:cNvPr id="9" name="Text 4"/>
          <p:cNvSpPr txBox="1"/>
          <p:nvPr/>
        </p:nvSpPr>
        <p:spPr>
          <a:xfrm>
            <a:off x="5760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Always paid</a:t>
            </a:r>
            <a:endParaRPr lang="en-US" sz="1200" dirty="0"/>
          </a:p>
        </p:txBody>
      </p:sp>
      <p:sp>
        <p:nvSpPr>
          <p:cNvPr id="10" name="Text 5"/>
          <p:cNvSpPr txBox="1"/>
          <p:nvPr/>
        </p:nvSpPr>
        <p:spPr>
          <a:xfrm>
            <a:off x="5760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Even if the customer's card, voucher or credits fail.</a:t>
            </a:r>
            <a:endParaRPr lang="en-US" sz="950" dirty="0"/>
          </a:p>
        </p:txBody>
      </p:sp>
      <p:sp>
        <p:nvSpPr>
          <p:cNvPr id="11" name="Shape 6"/>
          <p:cNvSpPr/>
          <p:nvPr/>
        </p:nvSpPr>
        <p:spPr>
          <a:xfrm>
            <a:off x="3230880" y="2697480"/>
            <a:ext cx="2682240" cy="1417320"/>
          </a:xfrm>
          <a:prstGeom prst="roundRect">
            <a:avLst>
              <a:gd name="adj" fmla="val 5161"/>
            </a:avLst>
          </a:prstGeom>
          <a:solidFill>
            <a:srgbClr val="FFFFFF"/>
          </a:solidFill>
          <a:ln w="9525">
            <a:solidFill>
              <a:srgbClr val="DCE1E7"/>
            </a:solidFill>
            <a:prstDash val="solid"/>
          </a:ln>
        </p:spPr>
      </p:sp>
      <p:sp>
        <p:nvSpPr>
          <p:cNvPr id="12" name="Shape 7"/>
          <p:cNvSpPr/>
          <p:nvPr/>
        </p:nvSpPr>
        <p:spPr>
          <a:xfrm>
            <a:off x="3395472" y="28620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2941076"/>
            <a:ext cx="171176" cy="171176"/>
          </a:xfrm>
          <a:prstGeom prst="rect">
            <a:avLst/>
          </a:prstGeom>
        </p:spPr>
      </p:pic>
      <p:sp>
        <p:nvSpPr>
          <p:cNvPr id="14" name="Text 8"/>
          <p:cNvSpPr txBox="1"/>
          <p:nvPr/>
        </p:nvSpPr>
        <p:spPr>
          <a:xfrm>
            <a:off x="33954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Tips</a:t>
            </a:r>
            <a:endParaRPr lang="en-US" sz="1200" dirty="0"/>
          </a:p>
        </p:txBody>
      </p:sp>
      <p:sp>
        <p:nvSpPr>
          <p:cNvPr id="15" name="Text 9"/>
          <p:cNvSpPr txBox="1"/>
          <p:nvPr/>
        </p:nvSpPr>
        <p:spPr>
          <a:xfrm>
            <a:off x="33954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100% of every tip goes to the cleaner.</a:t>
            </a:r>
            <a:endParaRPr lang="en-US" sz="950" dirty="0"/>
          </a:p>
        </p:txBody>
      </p:sp>
      <p:sp>
        <p:nvSpPr>
          <p:cNvPr id="16" name="Shape 10"/>
          <p:cNvSpPr/>
          <p:nvPr/>
        </p:nvSpPr>
        <p:spPr>
          <a:xfrm>
            <a:off x="6050280" y="2697480"/>
            <a:ext cx="2682240" cy="1417320"/>
          </a:xfrm>
          <a:prstGeom prst="roundRect">
            <a:avLst>
              <a:gd name="adj" fmla="val 5161"/>
            </a:avLst>
          </a:prstGeom>
          <a:solidFill>
            <a:srgbClr val="FFFFFF"/>
          </a:solidFill>
          <a:ln w="9525">
            <a:solidFill>
              <a:srgbClr val="DCE1E7"/>
            </a:solidFill>
            <a:prstDash val="solid"/>
          </a:ln>
        </p:spPr>
      </p:sp>
      <p:sp>
        <p:nvSpPr>
          <p:cNvPr id="17" name="Shape 11"/>
          <p:cNvSpPr/>
          <p:nvPr/>
        </p:nvSpPr>
        <p:spPr>
          <a:xfrm>
            <a:off x="6214872" y="28620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2941076"/>
            <a:ext cx="171176" cy="171176"/>
          </a:xfrm>
          <a:prstGeom prst="rect">
            <a:avLst/>
          </a:prstGeom>
        </p:spPr>
      </p:pic>
      <p:sp>
        <p:nvSpPr>
          <p:cNvPr id="19" name="Text 12"/>
          <p:cNvSpPr txBox="1"/>
          <p:nvPr/>
        </p:nvSpPr>
        <p:spPr>
          <a:xfrm>
            <a:off x="62148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Surge bonus</a:t>
            </a:r>
            <a:endParaRPr lang="en-US" sz="1200" dirty="0"/>
          </a:p>
        </p:txBody>
      </p:sp>
      <p:sp>
        <p:nvSpPr>
          <p:cNvPr id="20" name="Text 13"/>
          <p:cNvSpPr txBox="1"/>
          <p:nvPr/>
        </p:nvSpPr>
        <p:spPr>
          <a:xfrm>
            <a:off x="62148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$1–$50 extra on some jobs, at invoicing.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Determine the CP pay in this scenario.</a:t>
            </a:r>
            <a:endParaRPr lang="en-US" sz="1200" dirty="0"/>
          </a:p>
        </p:txBody>
      </p:sp>
      <p:sp>
        <p:nvSpPr>
          <p:cNvPr id="6" name="Shape 3"/>
          <p:cNvSpPr/>
          <p:nvPr/>
        </p:nvSpPr>
        <p:spPr>
          <a:xfrm>
            <a:off x="411480" y="1234440"/>
            <a:ext cx="4023360" cy="1417320"/>
          </a:xfrm>
          <a:prstGeom prst="roundRect">
            <a:avLst>
              <a:gd name="adj" fmla="val 5161"/>
            </a:avLst>
          </a:prstGeom>
          <a:solidFill>
            <a:srgbClr val="FFFFFF"/>
          </a:solidFill>
          <a:ln w="9525">
            <a:solidFill>
              <a:srgbClr val="DCE1E7"/>
            </a:solidFill>
            <a:prstDash val="solid"/>
          </a:ln>
        </p:spPr>
      </p:sp>
      <p:sp>
        <p:nvSpPr>
          <p:cNvPr id="7" name="Shape 4"/>
          <p:cNvSpPr/>
          <p:nvPr/>
        </p:nvSpPr>
        <p:spPr>
          <a:xfrm>
            <a:off x="566928" y="13533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45932" y="1432316"/>
            <a:ext cx="171176" cy="171176"/>
          </a:xfrm>
          <a:prstGeom prst="rect">
            <a:avLst/>
          </a:prstGeom>
        </p:spPr>
      </p:pic>
      <p:sp>
        <p:nvSpPr>
          <p:cNvPr id="9" name="Text 5"/>
          <p:cNvSpPr txBox="1"/>
          <p:nvPr/>
        </p:nvSpPr>
        <p:spPr>
          <a:xfrm>
            <a:off x="987552" y="1353312"/>
            <a:ext cx="2743200" cy="329184"/>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The job</a:t>
            </a:r>
            <a:endParaRPr lang="en-US" sz="1250" dirty="0"/>
          </a:p>
        </p:txBody>
      </p:sp>
      <p:sp>
        <p:nvSpPr>
          <p:cNvPr id="10" name="Text 6"/>
          <p:cNvSpPr txBox="1"/>
          <p:nvPr/>
        </p:nvSpPr>
        <p:spPr>
          <a:xfrm>
            <a:off x="566928" y="178308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Client  </a:t>
            </a:r>
            <a:pPr indent="0" marL="0">
              <a:buNone/>
            </a:pPr>
            <a:r>
              <a:rPr lang="en-US" sz="1100" b="1" dirty="0">
                <a:solidFill>
                  <a:srgbClr val="1D1D1F"/>
                </a:solidFill>
                <a:latin typeface="SF Pro Display" pitchFamily="34" charset="0"/>
                <a:ea typeface="SF Pro Display" pitchFamily="34" charset="-122"/>
                <a:cs typeface="SF Pro Display" pitchFamily="34" charset="-120"/>
              </a:rPr>
              <a:t>Repeat</a:t>
            </a:r>
            <a:endParaRPr lang="en-US" sz="900" dirty="0"/>
          </a:p>
        </p:txBody>
      </p:sp>
      <p:sp>
        <p:nvSpPr>
          <p:cNvPr id="11" name="Text 7"/>
          <p:cNvSpPr txBox="1"/>
          <p:nvPr/>
        </p:nvSpPr>
        <p:spPr>
          <a:xfrm>
            <a:off x="1828800" y="178308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Booked  </a:t>
            </a:r>
            <a:pPr indent="0" marL="0">
              <a:buNone/>
            </a:pPr>
            <a:r>
              <a:rPr lang="en-US" sz="1100" b="1" dirty="0">
                <a:solidFill>
                  <a:srgbClr val="1D1D1F"/>
                </a:solidFill>
                <a:latin typeface="SF Pro Display" pitchFamily="34" charset="0"/>
                <a:ea typeface="SF Pro Display" pitchFamily="34" charset="-122"/>
                <a:cs typeface="SF Pro Display" pitchFamily="34" charset="-120"/>
              </a:rPr>
              <a:t>5 hours</a:t>
            </a:r>
            <a:endParaRPr lang="en-US" sz="900" dirty="0"/>
          </a:p>
        </p:txBody>
      </p:sp>
      <p:sp>
        <p:nvSpPr>
          <p:cNvPr id="12" name="Text 8"/>
          <p:cNvSpPr txBox="1"/>
          <p:nvPr/>
        </p:nvSpPr>
        <p:spPr>
          <a:xfrm>
            <a:off x="3090672" y="178308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Voucher  </a:t>
            </a:r>
            <a:pPr indent="0" marL="0">
              <a:buNone/>
            </a:pPr>
            <a:r>
              <a:rPr lang="en-US" sz="1100" b="1" dirty="0">
                <a:solidFill>
                  <a:srgbClr val="1D1D1F"/>
                </a:solidFill>
                <a:latin typeface="SF Pro Display" pitchFamily="34" charset="0"/>
                <a:ea typeface="SF Pro Display" pitchFamily="34" charset="-122"/>
                <a:cs typeface="SF Pro Display" pitchFamily="34" charset="-120"/>
              </a:rPr>
              <a:t>3 hours</a:t>
            </a:r>
            <a:endParaRPr lang="en-US" sz="900" dirty="0"/>
          </a:p>
        </p:txBody>
      </p:sp>
      <p:sp>
        <p:nvSpPr>
          <p:cNvPr id="13" name="Text 9"/>
          <p:cNvSpPr txBox="1"/>
          <p:nvPr/>
        </p:nvSpPr>
        <p:spPr>
          <a:xfrm>
            <a:off x="566928" y="219456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Surge bonus  </a:t>
            </a:r>
            <a:pPr indent="0" marL="0">
              <a:buNone/>
            </a:pPr>
            <a:r>
              <a:rPr lang="en-US" sz="1100" b="1" dirty="0">
                <a:solidFill>
                  <a:srgbClr val="1D1D1F"/>
                </a:solidFill>
                <a:latin typeface="SF Pro Display" pitchFamily="34" charset="0"/>
                <a:ea typeface="SF Pro Display" pitchFamily="34" charset="-122"/>
                <a:cs typeface="SF Pro Display" pitchFamily="34" charset="-120"/>
              </a:rPr>
              <a:t>$12.50</a:t>
            </a:r>
            <a:endParaRPr lang="en-US" sz="900" dirty="0"/>
          </a:p>
        </p:txBody>
      </p:sp>
      <p:sp>
        <p:nvSpPr>
          <p:cNvPr id="14" name="Text 10"/>
          <p:cNvSpPr txBox="1"/>
          <p:nvPr/>
        </p:nvSpPr>
        <p:spPr>
          <a:xfrm>
            <a:off x="1828800" y="219456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Tip  </a:t>
            </a:r>
            <a:pPr indent="0" marL="0">
              <a:buNone/>
            </a:pPr>
            <a:r>
              <a:rPr lang="en-US" sz="1100" b="1" dirty="0">
                <a:solidFill>
                  <a:srgbClr val="1D1D1F"/>
                </a:solidFill>
                <a:latin typeface="SF Pro Display" pitchFamily="34" charset="0"/>
                <a:ea typeface="SF Pro Display" pitchFamily="34" charset="-122"/>
                <a:cs typeface="SF Pro Display" pitchFamily="34" charset="-120"/>
              </a:rPr>
              <a:t>$10.00</a:t>
            </a:r>
            <a:endParaRPr lang="en-US" sz="900" dirty="0"/>
          </a:p>
        </p:txBody>
      </p:sp>
      <p:sp>
        <p:nvSpPr>
          <p:cNvPr id="15" name="Shape 11"/>
          <p:cNvSpPr/>
          <p:nvPr/>
        </p:nvSpPr>
        <p:spPr>
          <a:xfrm>
            <a:off x="411480" y="2788920"/>
            <a:ext cx="1965960" cy="1920240"/>
          </a:xfrm>
          <a:prstGeom prst="roundRect">
            <a:avLst>
              <a:gd name="adj" fmla="val 3810"/>
            </a:avLst>
          </a:prstGeom>
          <a:solidFill>
            <a:srgbClr val="FFFFFF"/>
          </a:solidFill>
          <a:ln w="9525">
            <a:solidFill>
              <a:srgbClr val="DCE1E7"/>
            </a:solidFill>
            <a:prstDash val="solid"/>
          </a:ln>
        </p:spPr>
      </p:sp>
      <p:sp>
        <p:nvSpPr>
          <p:cNvPr id="16" name="Shape 12"/>
          <p:cNvSpPr/>
          <p:nvPr/>
        </p:nvSpPr>
        <p:spPr>
          <a:xfrm>
            <a:off x="548640" y="2907792"/>
            <a:ext cx="411480" cy="411480"/>
          </a:xfrm>
          <a:prstGeom prst="ellipse">
            <a:avLst/>
          </a:prstGeom>
          <a:solidFill>
            <a:srgbClr val="E3F4F1"/>
          </a:solidFill>
          <a:ln w="12700">
            <a:solidFill>
              <a:srgbClr val="E3F4F1"/>
            </a:solidFill>
            <a:prstDash val="solid"/>
          </a:ln>
        </p:spPr>
      </p:sp>
      <p:pic>
        <p:nvPicPr>
          <p:cNvPr id="17" name="Image 1" descr="preencoded.png">    </p:cNvPr>
          <p:cNvPicPr>
            <a:picLocks noChangeAspect="1"/>
          </p:cNvPicPr>
          <p:nvPr/>
        </p:nvPicPr>
        <p:blipFill>
          <a:blip r:embed="rId2"/>
          <a:stretch>
            <a:fillRect/>
          </a:stretch>
        </p:blipFill>
        <p:spPr>
          <a:xfrm>
            <a:off x="647395" y="3006547"/>
            <a:ext cx="213970" cy="213970"/>
          </a:xfrm>
          <a:prstGeom prst="rect">
            <a:avLst/>
          </a:prstGeom>
        </p:spPr>
      </p:pic>
      <p:sp>
        <p:nvSpPr>
          <p:cNvPr id="18" name="Text 13"/>
          <p:cNvSpPr txBox="1"/>
          <p:nvPr/>
        </p:nvSpPr>
        <p:spPr>
          <a:xfrm>
            <a:off x="1051560" y="2907792"/>
            <a:ext cx="1280160" cy="411480"/>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CP Sarah</a:t>
            </a:r>
            <a:endParaRPr lang="en-US" sz="1250" dirty="0"/>
          </a:p>
        </p:txBody>
      </p:sp>
      <p:sp>
        <p:nvSpPr>
          <p:cNvPr id="19" name="Text 14"/>
          <p:cNvSpPr txBox="1"/>
          <p:nvPr/>
        </p:nvSpPr>
        <p:spPr>
          <a:xfrm>
            <a:off x="548640" y="3401568"/>
            <a:ext cx="1737360" cy="274320"/>
          </a:xfrm>
          <a:prstGeom prst="rect">
            <a:avLst/>
          </a:prstGeom>
          <a:noFill/>
          <a:ln/>
        </p:spPr>
        <p:txBody>
          <a:bodyPr wrap="square" lIns="0" tIns="0" rIns="0" bIns="0" rtlCol="0" anchor="t"/>
          <a:lstStyle/>
          <a:p>
            <a:pPr indent="0" marL="0">
              <a:buNone/>
            </a:pPr>
            <a:r>
              <a:rPr lang="en-US" sz="900" b="1" dirty="0">
                <a:solidFill>
                  <a:srgbClr val="0B7A6F"/>
                </a:solidFill>
                <a:latin typeface="SF Pro Text" pitchFamily="34" charset="0"/>
                <a:ea typeface="SF Pro Text" pitchFamily="34" charset="-122"/>
                <a:cs typeface="SF Pro Text" pitchFamily="34" charset="-120"/>
              </a:rPr>
              <a:t>CA/CA-WA Operating Model</a:t>
            </a:r>
            <a:endParaRPr lang="en-US" sz="900" dirty="0"/>
          </a:p>
        </p:txBody>
      </p:sp>
      <p:sp>
        <p:nvSpPr>
          <p:cNvPr id="20" name="Text 15"/>
          <p:cNvSpPr txBox="1"/>
          <p:nvPr/>
        </p:nvSpPr>
        <p:spPr>
          <a:xfrm>
            <a:off x="548640" y="3703320"/>
            <a:ext cx="1737360" cy="914400"/>
          </a:xfrm>
          <a:prstGeom prst="rect">
            <a:avLst/>
          </a:prstGeom>
          <a:noFill/>
          <a:ln/>
        </p:spPr>
        <p:txBody>
          <a:bodyPr wrap="square" lIns="0" tIns="0" rIns="0" bIns="0" rtlCol="0" anchor="t"/>
          <a:lstStyle/>
          <a:p>
            <a:pPr indent="0" marL="0">
              <a:spcAft>
                <a:spcPts val="400"/>
              </a:spcAft>
              <a:buNone/>
            </a:pPr>
            <a:r>
              <a:rPr lang="en-US" sz="900" dirty="0">
                <a:solidFill>
                  <a:srgbClr val="1D1D1F"/>
                </a:solidFill>
                <a:latin typeface="SF Pro Text" pitchFamily="34" charset="0"/>
                <a:ea typeface="SF Pro Text" pitchFamily="34" charset="-122"/>
                <a:cs typeface="SF Pro Text" pitchFamily="34" charset="-120"/>
              </a:rPr>
              <a:t>$30.00/hr  first-time C/CP pair</a:t>
            </a:r>
            <a:endParaRPr lang="en-US" sz="900" dirty="0"/>
          </a:p>
          <a:p>
            <a:pPr indent="0" marL="0">
              <a:spcAft>
                <a:spcPts val="400"/>
              </a:spcAft>
              <a:buNone/>
            </a:pPr>
            <a:r>
              <a:rPr lang="en-US" sz="900" dirty="0">
                <a:solidFill>
                  <a:srgbClr val="1D1D1F"/>
                </a:solidFill>
                <a:latin typeface="SF Pro Text" pitchFamily="34" charset="0"/>
                <a:ea typeface="SF Pro Text" pitchFamily="34" charset="-122"/>
                <a:cs typeface="SF Pro Text" pitchFamily="34" charset="-120"/>
              </a:rPr>
              <a:t>$28.00/hr  repeat C/CP pair</a:t>
            </a:r>
            <a:endParaRPr lang="en-US" sz="900" dirty="0"/>
          </a:p>
        </p:txBody>
      </p:sp>
      <p:sp>
        <p:nvSpPr>
          <p:cNvPr id="21" name="Shape 16"/>
          <p:cNvSpPr/>
          <p:nvPr/>
        </p:nvSpPr>
        <p:spPr>
          <a:xfrm>
            <a:off x="2468880" y="2788920"/>
            <a:ext cx="1965960" cy="1920240"/>
          </a:xfrm>
          <a:prstGeom prst="roundRect">
            <a:avLst>
              <a:gd name="adj" fmla="val 3810"/>
            </a:avLst>
          </a:prstGeom>
          <a:solidFill>
            <a:srgbClr val="FFFFFF"/>
          </a:solidFill>
          <a:ln w="9525">
            <a:solidFill>
              <a:srgbClr val="DCE1E7"/>
            </a:solidFill>
            <a:prstDash val="solid"/>
          </a:ln>
        </p:spPr>
      </p:sp>
      <p:sp>
        <p:nvSpPr>
          <p:cNvPr id="22" name="Shape 17"/>
          <p:cNvSpPr/>
          <p:nvPr/>
        </p:nvSpPr>
        <p:spPr>
          <a:xfrm>
            <a:off x="2606040" y="2907792"/>
            <a:ext cx="411480" cy="411480"/>
          </a:xfrm>
          <a:prstGeom prst="ellipse">
            <a:avLst/>
          </a:prstGeom>
          <a:solidFill>
            <a:srgbClr val="E3F4F1"/>
          </a:solidFill>
          <a:ln w="12700">
            <a:solidFill>
              <a:srgbClr val="E3F4F1"/>
            </a:solidFill>
            <a:prstDash val="solid"/>
          </a:ln>
        </p:spPr>
      </p:sp>
      <p:pic>
        <p:nvPicPr>
          <p:cNvPr id="23" name="Image 2" descr="preencoded.png">    </p:cNvPr>
          <p:cNvPicPr>
            <a:picLocks noChangeAspect="1"/>
          </p:cNvPicPr>
          <p:nvPr/>
        </p:nvPicPr>
        <p:blipFill>
          <a:blip r:embed="rId3"/>
          <a:stretch>
            <a:fillRect/>
          </a:stretch>
        </p:blipFill>
        <p:spPr>
          <a:xfrm>
            <a:off x="2704795" y="3006547"/>
            <a:ext cx="213970" cy="213970"/>
          </a:xfrm>
          <a:prstGeom prst="rect">
            <a:avLst/>
          </a:prstGeom>
        </p:spPr>
      </p:pic>
      <p:sp>
        <p:nvSpPr>
          <p:cNvPr id="24" name="Text 18"/>
          <p:cNvSpPr txBox="1"/>
          <p:nvPr/>
        </p:nvSpPr>
        <p:spPr>
          <a:xfrm>
            <a:off x="3108960" y="2907792"/>
            <a:ext cx="1280160" cy="411480"/>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CP Gab</a:t>
            </a:r>
            <a:endParaRPr lang="en-US" sz="1250" dirty="0"/>
          </a:p>
        </p:txBody>
      </p:sp>
      <p:sp>
        <p:nvSpPr>
          <p:cNvPr id="25" name="Text 19"/>
          <p:cNvSpPr txBox="1"/>
          <p:nvPr/>
        </p:nvSpPr>
        <p:spPr>
          <a:xfrm>
            <a:off x="2606040" y="3401568"/>
            <a:ext cx="1737360" cy="274320"/>
          </a:xfrm>
          <a:prstGeom prst="rect">
            <a:avLst/>
          </a:prstGeom>
          <a:noFill/>
          <a:ln/>
        </p:spPr>
        <p:txBody>
          <a:bodyPr wrap="square" lIns="0" tIns="0" rIns="0" bIns="0" rtlCol="0" anchor="t"/>
          <a:lstStyle/>
          <a:p>
            <a:pPr indent="0" marL="0">
              <a:buNone/>
            </a:pPr>
            <a:r>
              <a:rPr lang="en-US" sz="900" b="1" dirty="0">
                <a:solidFill>
                  <a:srgbClr val="0B7A6F"/>
                </a:solidFill>
                <a:latin typeface="SF Pro Text" pitchFamily="34" charset="0"/>
                <a:ea typeface="SF Pro Text" pitchFamily="34" charset="-122"/>
                <a:cs typeface="SF Pro Text" pitchFamily="34" charset="-120"/>
              </a:rPr>
              <a:t>General Operating Model</a:t>
            </a:r>
            <a:endParaRPr lang="en-US" sz="900" dirty="0"/>
          </a:p>
        </p:txBody>
      </p:sp>
      <p:sp>
        <p:nvSpPr>
          <p:cNvPr id="26" name="Text 20"/>
          <p:cNvSpPr txBox="1"/>
          <p:nvPr/>
        </p:nvSpPr>
        <p:spPr>
          <a:xfrm>
            <a:off x="2606040" y="3703320"/>
            <a:ext cx="1737360" cy="914400"/>
          </a:xfrm>
          <a:prstGeom prst="rect">
            <a:avLst/>
          </a:prstGeom>
          <a:noFill/>
          <a:ln/>
        </p:spPr>
        <p:txBody>
          <a:bodyPr wrap="square" lIns="0" tIns="0" rIns="0" bIns="0" rtlCol="0" anchor="t"/>
          <a:lstStyle/>
          <a:p>
            <a:pPr indent="0" marL="0">
              <a:spcAft>
                <a:spcPts val="400"/>
              </a:spcAft>
              <a:buNone/>
            </a:pPr>
            <a:r>
              <a:rPr lang="en-US" sz="900" dirty="0">
                <a:solidFill>
                  <a:srgbClr val="1D1D1F"/>
                </a:solidFill>
                <a:latin typeface="SF Pro Text" pitchFamily="34" charset="0"/>
                <a:ea typeface="SF Pro Text" pitchFamily="34" charset="-122"/>
                <a:cs typeface="SF Pro Text" pitchFamily="34" charset="-120"/>
              </a:rPr>
              <a:t>$24.00/hr  one rate</a:t>
            </a:r>
            <a:endParaRPr lang="en-US" sz="900" dirty="0"/>
          </a:p>
        </p:txBody>
      </p:sp>
      <p:sp>
        <p:nvSpPr>
          <p:cNvPr id="27" name="Shape 21"/>
          <p:cNvSpPr/>
          <p:nvPr/>
        </p:nvSpPr>
        <p:spPr>
          <a:xfrm>
            <a:off x="4572000" y="1234440"/>
            <a:ext cx="4160520" cy="457200"/>
          </a:xfrm>
          <a:prstGeom prst="roundRect">
            <a:avLst>
              <a:gd name="adj" fmla="val 20000"/>
            </a:avLst>
          </a:prstGeom>
          <a:solidFill>
            <a:srgbClr val="0B7A6F"/>
          </a:solidFill>
          <a:ln w="12700">
            <a:solidFill>
              <a:srgbClr val="0B7A6F"/>
            </a:solidFill>
            <a:prstDash val="solid"/>
          </a:ln>
        </p:spPr>
      </p:sp>
      <p:pic>
        <p:nvPicPr>
          <p:cNvPr id="28" name="Image 3" descr="preencoded.png">    </p:cNvPr>
          <p:cNvPicPr>
            <a:picLocks noChangeAspect="1"/>
          </p:cNvPicPr>
          <p:nvPr/>
        </p:nvPicPr>
        <p:blipFill>
          <a:blip r:embed="rId4"/>
          <a:stretch>
            <a:fillRect/>
          </a:stretch>
        </p:blipFill>
        <p:spPr>
          <a:xfrm>
            <a:off x="4754880" y="1353312"/>
            <a:ext cx="219456" cy="219456"/>
          </a:xfrm>
          <a:prstGeom prst="rect">
            <a:avLst/>
          </a:prstGeom>
        </p:spPr>
      </p:pic>
      <p:sp>
        <p:nvSpPr>
          <p:cNvPr id="29" name="Text 22"/>
          <p:cNvSpPr txBox="1"/>
          <p:nvPr/>
        </p:nvSpPr>
        <p:spPr>
          <a:xfrm>
            <a:off x="5074920" y="1234440"/>
            <a:ext cx="3474720" cy="457200"/>
          </a:xfrm>
          <a:prstGeom prst="rect">
            <a:avLst/>
          </a:prstGeom>
          <a:noFill/>
          <a:ln/>
        </p:spPr>
        <p:txBody>
          <a:bodyPr wrap="square" lIns="0" tIns="0" rIns="0" bIns="0" rtlCol="0" anchor="ctr"/>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Show Answers</a:t>
            </a:r>
            <a:endParaRPr lang="en-US" sz="1300" dirty="0"/>
          </a:p>
        </p:txBody>
      </p:sp>
      <p:sp>
        <p:nvSpPr>
          <p:cNvPr id="30" name="Shape 23"/>
          <p:cNvSpPr/>
          <p:nvPr/>
        </p:nvSpPr>
        <p:spPr>
          <a:xfrm>
            <a:off x="4572000" y="1783080"/>
            <a:ext cx="4160520" cy="2926080"/>
          </a:xfrm>
          <a:prstGeom prst="roundRect">
            <a:avLst>
              <a:gd name="adj" fmla="val 2500"/>
            </a:avLst>
          </a:prstGeom>
          <a:solidFill>
            <a:srgbClr val="E3F4F1"/>
          </a:solidFill>
          <a:ln w="9525">
            <a:solidFill>
              <a:srgbClr val="E3F4F1"/>
            </a:solidFill>
            <a:prstDash val="solid"/>
          </a:ln>
        </p:spPr>
      </p:sp>
      <p:sp>
        <p:nvSpPr>
          <p:cNvPr id="31" name="revealCpPay"/>
          <p:cNvSpPr txBox="1"/>
          <p:nvPr/>
        </p:nvSpPr>
        <p:spPr>
          <a:xfrm>
            <a:off x="4754880" y="1920240"/>
            <a:ext cx="3794760" cy="2697480"/>
          </a:xfrm>
          <a:prstGeom prst="rect">
            <a:avLst/>
          </a:prstGeom>
          <a:noFill/>
          <a:ln/>
        </p:spPr>
        <p:txBody>
          <a:bodyPr wrap="square" lIns="0" tIns="0" rIns="0" bIns="0" rtlCol="0" anchor="t"/>
          <a:lstStyle/>
          <a:p>
            <a:pPr indent="0" marL="0">
              <a:spcAft>
                <a:spcPts val="1200"/>
              </a:spcAft>
              <a:buNone/>
            </a:pPr>
            <a:r>
              <a:rPr lang="en-US" sz="1250" b="1" dirty="0">
                <a:solidFill>
                  <a:srgbClr val="0B7A6F"/>
                </a:solidFill>
                <a:latin typeface="SF Pro Display" pitchFamily="34" charset="0"/>
                <a:ea typeface="SF Pro Display" pitchFamily="34" charset="-122"/>
                <a:cs typeface="SF Pro Display" pitchFamily="34" charset="-120"/>
              </a:rPr>
              <a:t>CP Sarah:  $162.50</a:t>
            </a:r>
            <a:br/>
            <a:pPr indent="0" marL="0">
              <a:spcAft>
                <a:spcPts val="1200"/>
              </a:spcAft>
              <a:buNone/>
            </a:pPr>
            <a:r>
              <a:rPr lang="en-US" sz="950" dirty="0">
                <a:solidFill>
                  <a:srgbClr val="1D1D1F"/>
                </a:solidFill>
                <a:latin typeface="SF Pro Text" pitchFamily="34" charset="0"/>
                <a:ea typeface="SF Pro Text" pitchFamily="34" charset="-122"/>
                <a:cs typeface="SF Pro Text" pitchFamily="34" charset="-120"/>
              </a:rPr>
              <a:t>$28/hr repeat rate × 5 hrs + $12.50 surge bonus + $10.00 tip</a:t>
            </a:r>
            <a:endParaRPr lang="en-US" sz="1250" dirty="0"/>
          </a:p>
          <a:p>
            <a:pPr indent="0" marL="0">
              <a:spcAft>
                <a:spcPts val="1200"/>
              </a:spcAft>
              <a:buNone/>
            </a:pPr>
            <a:r>
              <a:rPr lang="en-US" sz="1250" b="1" dirty="0">
                <a:solidFill>
                  <a:srgbClr val="0B7A6F"/>
                </a:solidFill>
                <a:latin typeface="SF Pro Display" pitchFamily="34" charset="0"/>
                <a:ea typeface="SF Pro Display" pitchFamily="34" charset="-122"/>
                <a:cs typeface="SF Pro Display" pitchFamily="34" charset="-120"/>
              </a:rPr>
              <a:t>CP Gab:  $142.50</a:t>
            </a:r>
            <a:br/>
            <a:pPr indent="0" marL="0">
              <a:spcAft>
                <a:spcPts val="1200"/>
              </a:spcAft>
              <a:buNone/>
            </a:pPr>
            <a:r>
              <a:rPr lang="en-US" sz="950" dirty="0">
                <a:solidFill>
                  <a:srgbClr val="1D1D1F"/>
                </a:solidFill>
                <a:latin typeface="SF Pro Text" pitchFamily="34" charset="0"/>
                <a:ea typeface="SF Pro Text" pitchFamily="34" charset="-122"/>
                <a:cs typeface="SF Pro Text" pitchFamily="34" charset="-120"/>
              </a:rPr>
              <a:t>$24/hr × 5 hrs + $12.50 surge bonus + $10.00 tip (repeat client, so no $5 match fee)</a:t>
            </a:r>
            <a:endParaRPr lang="en-US" sz="1250" dirty="0"/>
          </a:p>
          <a:p>
            <a:pPr indent="0" marL="0">
              <a:spcAft>
                <a:spcPts val="1200"/>
              </a:spcAft>
              <a:buNone/>
            </a:pPr>
            <a:r>
              <a:rPr lang="en-US" sz="1250" b="1" dirty="0">
                <a:solidFill>
                  <a:srgbClr val="0B7A6F"/>
                </a:solidFill>
                <a:latin typeface="SF Pro Display" pitchFamily="34" charset="0"/>
                <a:ea typeface="SF Pro Display" pitchFamily="34" charset="-122"/>
                <a:cs typeface="SF Pro Display" pitchFamily="34" charset="-120"/>
              </a:rPr>
              <a:t>Key point</a:t>
            </a:r>
            <a:br/>
            <a:pPr indent="0" marL="0">
              <a:spcAft>
                <a:spcPts val="1200"/>
              </a:spcAft>
              <a:buNone/>
            </a:pPr>
            <a:r>
              <a:rPr lang="en-US" sz="950" dirty="0">
                <a:solidFill>
                  <a:srgbClr val="1D1D1F"/>
                </a:solidFill>
                <a:latin typeface="SF Pro Text" pitchFamily="34" charset="0"/>
                <a:ea typeface="SF Pro Text" pitchFamily="34" charset="-122"/>
                <a:cs typeface="SF Pro Text" pitchFamily="34" charset="-120"/>
              </a:rPr>
              <a:t>The 3-hour voucher only lowers what the customer pays. The cleaner is still paid for all 5 hours.</a:t>
            </a:r>
            <a:endParaRPr lang="en-US" sz="12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1">
                                            <p:txEl>
                                              <p:pRg st="0" end="0"/>
                                            </p:txEl>
                                          </p:spTgt>
                                        </p:tgtEl>
                                        <p:attrNameLst>
                                          <p:attrName>style.visibility</p:attrName>
                                        </p:attrNameLst>
                                      </p:cBhvr>
                                      <p:to>
                                        <p:strVal val="visible"/>
                                      </p:to>
                                    </p:set>
                                    <p:animEffect transition="in" filter="fade">
                                      <p:cBhvr>
                                        <p:cTn id="7" dur="600"/>
                                        <p:tgtEl>
                                          <p:spTgt spid="3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1">
                                            <p:txEl>
                                              <p:pRg st="1" end="1"/>
                                            </p:txEl>
                                          </p:spTgt>
                                        </p:tgtEl>
                                        <p:attrNameLst>
                                          <p:attrName>style.visibility</p:attrName>
                                        </p:attrNameLst>
                                      </p:cBhvr>
                                      <p:to>
                                        <p:strVal val="visible"/>
                                      </p:to>
                                    </p:set>
                                    <p:animEffect transition="in" filter="fade">
                                      <p:cBhvr>
                                        <p:cTn id="12" dur="600"/>
                                        <p:tgtEl>
                                          <p:spTgt spid="3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1">
                                            <p:txEl>
                                              <p:pRg st="2" end="2"/>
                                            </p:txEl>
                                          </p:spTgt>
                                        </p:tgtEl>
                                        <p:attrNameLst>
                                          <p:attrName>style.visibility</p:attrName>
                                        </p:attrNameLst>
                                      </p:cBhvr>
                                      <p:to>
                                        <p:strVal val="visible"/>
                                      </p:to>
                                    </p:set>
                                    <p:animEffect transition="in" filter="fade">
                                      <p:cBhvr>
                                        <p:cTn id="17" dur="600"/>
                                        <p:tgtEl>
                                          <p:spTgt spid="3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a "platform fee" shows 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FC customers have no platform fee. If one shows on an FC invoice, it's one of these cases. Not an error.</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468880"/>
                <a:gridCol w="2194560"/>
                <a:gridCol w="3657600"/>
              </a:tblGrid>
              <a:tr h="40233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 pays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The "platform fee" line is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General · first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$5/hr marketing fee, taken from the cleaner's pay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General · repeat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Nothing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CA/CA-WA · two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higher of the two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difference between the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CA/CA-WA · one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Nothing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Non-FC or deactivated FC</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max CP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Cohort fee ($15 or $30/hr) + gap to 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33088"/>
            <a:ext cx="164592" cy="164592"/>
          </a:xfrm>
          <a:prstGeom prst="rect">
            <a:avLst/>
          </a:prstGeom>
        </p:spPr>
      </p:pic>
      <p:sp>
        <p:nvSpPr>
          <p:cNvPr id="9" name="Text 4"/>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 principle:  </a:t>
            </a:r>
            <a:pPr indent="0" marL="0">
              <a:buNone/>
            </a:pPr>
            <a:r>
              <a:rPr lang="en-US" sz="1000" dirty="0">
                <a:solidFill>
                  <a:srgbClr val="1D1D1F"/>
                </a:solidFill>
                <a:latin typeface="SF Pro Text" pitchFamily="34" charset="0"/>
                <a:ea typeface="SF Pro Text" pitchFamily="34" charset="-122"/>
                <a:cs typeface="SF Pro Text" pitchFamily="34" charset="-120"/>
              </a:rPr>
              <a:t>if the customer pays more than the cleaner's rate, the cleaner still gets their rate. The rest goes to Homeaglow.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deactivated FC customer sees a $40/hr platform fee. Is it right?</a:t>
            </a:r>
            <a:endParaRPr lang="en-US" sz="1200" dirty="0"/>
          </a:p>
        </p:txBody>
      </p:sp>
      <p:sp>
        <p:nvSpPr>
          <p:cNvPr id="6" name="Shape 3"/>
          <p:cNvSpPr/>
          <p:nvPr/>
        </p:nvSpPr>
        <p:spPr>
          <a:xfrm>
            <a:off x="594360" y="1371600"/>
            <a:ext cx="2194560" cy="1600200"/>
          </a:xfrm>
          <a:prstGeom prst="roundRect">
            <a:avLst>
              <a:gd name="adj" fmla="val 4571"/>
            </a:avLst>
          </a:prstGeom>
          <a:solidFill>
            <a:srgbClr val="FFFFFF"/>
          </a:solidFill>
          <a:ln w="9525">
            <a:solidFill>
              <a:srgbClr val="DCE1E7"/>
            </a:solidFill>
            <a:prstDash val="solid"/>
          </a:ln>
        </p:spPr>
      </p:sp>
      <p:sp>
        <p:nvSpPr>
          <p:cNvPr id="7" name="Text 4"/>
          <p:cNvSpPr txBox="1"/>
          <p:nvPr/>
        </p:nvSpPr>
        <p:spPr>
          <a:xfrm>
            <a:off x="594360" y="1508760"/>
            <a:ext cx="2194560" cy="64008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$30/hr</a:t>
            </a:r>
            <a:endParaRPr lang="en-US" sz="2800" dirty="0"/>
          </a:p>
        </p:txBody>
      </p:sp>
      <p:sp>
        <p:nvSpPr>
          <p:cNvPr id="8" name="Text 5"/>
          <p:cNvSpPr txBox="1"/>
          <p:nvPr/>
        </p:nvSpPr>
        <p:spPr>
          <a:xfrm>
            <a:off x="594360" y="219456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Deactivated FC</a:t>
            </a:r>
            <a:endParaRPr lang="en-US" sz="1000" dirty="0"/>
          </a:p>
          <a:p>
            <a:pPr algn="ctr" indent="0" marL="0">
              <a:buNone/>
            </a:pPr>
            <a:r>
              <a:rPr lang="en-US" sz="1000" dirty="0">
                <a:solidFill>
                  <a:srgbClr val="6E6E73"/>
                </a:solidFill>
                <a:latin typeface="SF Pro Text" pitchFamily="34" charset="0"/>
                <a:ea typeface="SF Pro Text" pitchFamily="34" charset="-122"/>
                <a:cs typeface="SF Pro Text" pitchFamily="34" charset="-120"/>
              </a:rPr>
              <a:t>platform fee</a:t>
            </a:r>
            <a:endParaRPr lang="en-US" sz="1000" dirty="0"/>
          </a:p>
        </p:txBody>
      </p:sp>
      <p:sp>
        <p:nvSpPr>
          <p:cNvPr id="9" name="Text 6"/>
          <p:cNvSpPr txBox="1"/>
          <p:nvPr/>
        </p:nvSpPr>
        <p:spPr>
          <a:xfrm>
            <a:off x="2880360" y="1371600"/>
            <a:ext cx="457200" cy="1600200"/>
          </a:xfrm>
          <a:prstGeom prst="rect">
            <a:avLst/>
          </a:prstGeom>
          <a:noFill/>
          <a:ln/>
        </p:spPr>
        <p:txBody>
          <a:bodyPr wrap="square" lIns="0" tIns="0" rIns="0" bIns="0" rtlCol="0" anchor="ctr"/>
          <a:lstStyle/>
          <a:p>
            <a:pPr algn="ctr" indent="0" marL="0">
              <a:buNone/>
            </a:pPr>
            <a:r>
              <a:rPr lang="en-US" sz="2600" b="1" dirty="0">
                <a:solidFill>
                  <a:srgbClr val="6E6E73"/>
                </a:solidFill>
                <a:latin typeface="SF Pro Display" pitchFamily="34" charset="0"/>
                <a:ea typeface="SF Pro Display" pitchFamily="34" charset="-122"/>
                <a:cs typeface="SF Pro Display" pitchFamily="34" charset="-120"/>
              </a:rPr>
              <a:t>+</a:t>
            </a:r>
            <a:endParaRPr lang="en-US" sz="2600" dirty="0"/>
          </a:p>
        </p:txBody>
      </p:sp>
      <p:sp>
        <p:nvSpPr>
          <p:cNvPr id="10" name="Shape 7"/>
          <p:cNvSpPr/>
          <p:nvPr/>
        </p:nvSpPr>
        <p:spPr>
          <a:xfrm>
            <a:off x="3429000" y="1371600"/>
            <a:ext cx="2194560" cy="1600200"/>
          </a:xfrm>
          <a:prstGeom prst="roundRect">
            <a:avLst>
              <a:gd name="adj" fmla="val 4571"/>
            </a:avLst>
          </a:prstGeom>
          <a:solidFill>
            <a:srgbClr val="FFFFFF"/>
          </a:solidFill>
          <a:ln w="9525">
            <a:solidFill>
              <a:srgbClr val="DCE1E7"/>
            </a:solidFill>
            <a:prstDash val="solid"/>
          </a:ln>
        </p:spPr>
      </p:sp>
      <p:sp>
        <p:nvSpPr>
          <p:cNvPr id="11" name="Text 8"/>
          <p:cNvSpPr txBox="1"/>
          <p:nvPr/>
        </p:nvSpPr>
        <p:spPr>
          <a:xfrm>
            <a:off x="3429000" y="1508760"/>
            <a:ext cx="2194560" cy="64008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$10/hr</a:t>
            </a:r>
            <a:endParaRPr lang="en-US" sz="2800" dirty="0"/>
          </a:p>
        </p:txBody>
      </p:sp>
      <p:sp>
        <p:nvSpPr>
          <p:cNvPr id="12" name="Text 9"/>
          <p:cNvSpPr txBox="1"/>
          <p:nvPr/>
        </p:nvSpPr>
        <p:spPr>
          <a:xfrm>
            <a:off x="3429000" y="219456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Max rate $25 −</a:t>
            </a:r>
            <a:endParaRPr lang="en-US" sz="1000" dirty="0"/>
          </a:p>
          <a:p>
            <a:pPr algn="ctr" indent="0" marL="0">
              <a:buNone/>
            </a:pPr>
            <a:r>
              <a:rPr lang="en-US" sz="1000" dirty="0">
                <a:solidFill>
                  <a:srgbClr val="6E6E73"/>
                </a:solidFill>
                <a:latin typeface="SF Pro Text" pitchFamily="34" charset="0"/>
                <a:ea typeface="SF Pro Text" pitchFamily="34" charset="-122"/>
                <a:cs typeface="SF Pro Text" pitchFamily="34" charset="-120"/>
              </a:rPr>
              <a:t>cleaner's rate $15</a:t>
            </a:r>
            <a:endParaRPr lang="en-US" sz="1000" dirty="0"/>
          </a:p>
        </p:txBody>
      </p:sp>
      <p:sp>
        <p:nvSpPr>
          <p:cNvPr id="13" name="Text 10"/>
          <p:cNvSpPr txBox="1"/>
          <p:nvPr/>
        </p:nvSpPr>
        <p:spPr>
          <a:xfrm>
            <a:off x="5715000" y="1371600"/>
            <a:ext cx="457200" cy="1600200"/>
          </a:xfrm>
          <a:prstGeom prst="rect">
            <a:avLst/>
          </a:prstGeom>
          <a:noFill/>
          <a:ln/>
        </p:spPr>
        <p:txBody>
          <a:bodyPr wrap="square" lIns="0" tIns="0" rIns="0" bIns="0" rtlCol="0" anchor="ctr"/>
          <a:lstStyle/>
          <a:p>
            <a:pPr algn="ctr" indent="0" marL="0">
              <a:buNone/>
            </a:pPr>
            <a:r>
              <a:rPr lang="en-US" sz="2600" b="1" dirty="0">
                <a:solidFill>
                  <a:srgbClr val="6E6E73"/>
                </a:solidFill>
                <a:latin typeface="SF Pro Display" pitchFamily="34" charset="0"/>
                <a:ea typeface="SF Pro Display" pitchFamily="34" charset="-122"/>
                <a:cs typeface="SF Pro Display" pitchFamily="34" charset="-120"/>
              </a:rPr>
              <a:t>=</a:t>
            </a:r>
            <a:endParaRPr lang="en-US" sz="2600" dirty="0"/>
          </a:p>
        </p:txBody>
      </p:sp>
      <p:sp>
        <p:nvSpPr>
          <p:cNvPr id="14" name="Shape 11"/>
          <p:cNvSpPr/>
          <p:nvPr/>
        </p:nvSpPr>
        <p:spPr>
          <a:xfrm>
            <a:off x="6263640" y="1371600"/>
            <a:ext cx="2194560" cy="1600200"/>
          </a:xfrm>
          <a:prstGeom prst="roundRect">
            <a:avLst>
              <a:gd name="adj" fmla="val 4571"/>
            </a:avLst>
          </a:prstGeom>
          <a:solidFill>
            <a:srgbClr val="0B7A6F"/>
          </a:solidFill>
          <a:ln w="9525">
            <a:solidFill>
              <a:srgbClr val="0B7A6F"/>
            </a:solidFill>
            <a:prstDash val="solid"/>
          </a:ln>
        </p:spPr>
      </p:sp>
      <p:sp>
        <p:nvSpPr>
          <p:cNvPr id="15" name="Text 12"/>
          <p:cNvSpPr txBox="1"/>
          <p:nvPr/>
        </p:nvSpPr>
        <p:spPr>
          <a:xfrm>
            <a:off x="6263640" y="1508760"/>
            <a:ext cx="219456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SF Pro Display" pitchFamily="34" charset="0"/>
                <a:ea typeface="SF Pro Display" pitchFamily="34" charset="-122"/>
                <a:cs typeface="SF Pro Display" pitchFamily="34" charset="-120"/>
              </a:rPr>
              <a:t>$40/hr</a:t>
            </a:r>
            <a:endParaRPr lang="en-US" sz="2800" dirty="0"/>
          </a:p>
        </p:txBody>
      </p:sp>
      <p:sp>
        <p:nvSpPr>
          <p:cNvPr id="16" name="Text 13"/>
          <p:cNvSpPr txBox="1"/>
          <p:nvPr/>
        </p:nvSpPr>
        <p:spPr>
          <a:xfrm>
            <a:off x="6263640" y="2194560"/>
            <a:ext cx="2194560" cy="640080"/>
          </a:xfrm>
          <a:prstGeom prst="rect">
            <a:avLst/>
          </a:prstGeom>
          <a:noFill/>
          <a:ln/>
        </p:spPr>
        <p:txBody>
          <a:bodyPr wrap="square" lIns="0" tIns="0" rIns="0" bIns="0" rtlCol="0" anchor="t"/>
          <a:lstStyle/>
          <a:p>
            <a:pPr algn="ctr" indent="0" marL="0">
              <a:buNone/>
            </a:pPr>
            <a:r>
              <a:rPr lang="en-US" sz="1000" dirty="0">
                <a:solidFill>
                  <a:srgbClr val="FFFFFF"/>
                </a:solidFill>
                <a:latin typeface="SF Pro Text" pitchFamily="34" charset="0"/>
                <a:ea typeface="SF Pro Text" pitchFamily="34" charset="-122"/>
                <a:cs typeface="SF Pro Text" pitchFamily="34" charset="-120"/>
              </a:rPr>
              <a:t>Platform fee</a:t>
            </a:r>
            <a:endParaRPr lang="en-US" sz="1000" dirty="0"/>
          </a:p>
          <a:p>
            <a:pPr algn="ctr" indent="0" marL="0">
              <a:buNone/>
            </a:pPr>
            <a:r>
              <a:rPr lang="en-US" sz="1000" dirty="0">
                <a:solidFill>
                  <a:srgbClr val="FFFFFF"/>
                </a:solidFill>
                <a:latin typeface="SF Pro Text" pitchFamily="34" charset="0"/>
                <a:ea typeface="SF Pro Text" pitchFamily="34" charset="-122"/>
                <a:cs typeface="SF Pro Text" pitchFamily="34" charset="-120"/>
              </a:rPr>
              <a:t>on the invoice</a:t>
            </a:r>
            <a:endParaRPr lang="en-US" sz="1000" dirty="0"/>
          </a:p>
        </p:txBody>
      </p:sp>
      <p:sp>
        <p:nvSpPr>
          <p:cNvPr id="17" name="Shape 14"/>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1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19" name="Text 15"/>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Correct charge:  </a:t>
            </a:r>
            <a:pPr indent="0" marL="0">
              <a:buNone/>
            </a:pPr>
            <a:r>
              <a:rPr lang="en-US" sz="1000" dirty="0">
                <a:solidFill>
                  <a:srgbClr val="1D1D1F"/>
                </a:solidFill>
                <a:latin typeface="SF Pro Text" pitchFamily="34" charset="0"/>
                <a:ea typeface="SF Pro Text" pitchFamily="34" charset="-122"/>
                <a:cs typeface="SF Pro Text" pitchFamily="34" charset="-120"/>
              </a:rPr>
              <a:t>don't reprice it and don't refund the difference. The cleaner is still paid $15/hr.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Max requested rate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Non-FC and deactivated FC customers are priced at the highest rate among the cleaners they requested.</a:t>
            </a:r>
            <a:endParaRPr lang="en-US" sz="1200" dirty="0"/>
          </a:p>
        </p:txBody>
      </p:sp>
      <p:sp>
        <p:nvSpPr>
          <p:cNvPr id="6" name="Text 3"/>
          <p:cNvSpPr txBox="1"/>
          <p:nvPr/>
        </p:nvSpPr>
        <p:spPr>
          <a:xfrm>
            <a:off x="438912" y="132588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REQUESTED CLEANERS</a:t>
            </a:r>
            <a:endParaRPr lang="en-US" sz="800" dirty="0"/>
          </a:p>
        </p:txBody>
      </p:sp>
      <p:sp>
        <p:nvSpPr>
          <p:cNvPr id="7" name="Shape 4"/>
          <p:cNvSpPr/>
          <p:nvPr/>
        </p:nvSpPr>
        <p:spPr>
          <a:xfrm>
            <a:off x="411480" y="1572768"/>
            <a:ext cx="1261872" cy="914400"/>
          </a:xfrm>
          <a:prstGeom prst="roundRect">
            <a:avLst>
              <a:gd name="adj" fmla="val 8000"/>
            </a:avLst>
          </a:prstGeom>
          <a:solidFill>
            <a:srgbClr val="FFFFFF"/>
          </a:solidFill>
          <a:ln w="9525">
            <a:solidFill>
              <a:srgbClr val="DCE1E7"/>
            </a:solidFill>
            <a:prstDash val="solid"/>
          </a:ln>
        </p:spPr>
      </p:sp>
      <p:sp>
        <p:nvSpPr>
          <p:cNvPr id="8" name="Text 5"/>
          <p:cNvSpPr txBox="1"/>
          <p:nvPr/>
        </p:nvSpPr>
        <p:spPr>
          <a:xfrm>
            <a:off x="411480" y="1645920"/>
            <a:ext cx="1261872" cy="320040"/>
          </a:xfrm>
          <a:prstGeom prst="rect">
            <a:avLst/>
          </a:prstGeom>
          <a:noFill/>
          <a:ln/>
        </p:spPr>
        <p:txBody>
          <a:bodyPr wrap="square" lIns="0" tIns="0" rIns="0" bIns="0" rtlCol="0" anchor="t"/>
          <a:lstStyle/>
          <a:p>
            <a:pPr algn="ctr" indent="0" marL="0">
              <a:buNone/>
            </a:pPr>
            <a:r>
              <a:rPr lang="en-US" sz="1200" b="1" dirty="0">
                <a:solidFill>
                  <a:srgbClr val="1D1D1F"/>
                </a:solidFill>
                <a:latin typeface="SF Pro Display" pitchFamily="34" charset="0"/>
                <a:ea typeface="SF Pro Display" pitchFamily="34" charset="-122"/>
                <a:cs typeface="SF Pro Display" pitchFamily="34" charset="-120"/>
              </a:rPr>
              <a:t>Mona</a:t>
            </a:r>
            <a:endParaRPr lang="en-US" sz="1200" dirty="0"/>
          </a:p>
        </p:txBody>
      </p:sp>
      <p:sp>
        <p:nvSpPr>
          <p:cNvPr id="9" name="Text 6"/>
          <p:cNvSpPr txBox="1"/>
          <p:nvPr/>
        </p:nvSpPr>
        <p:spPr>
          <a:xfrm>
            <a:off x="411480" y="1965960"/>
            <a:ext cx="1261872" cy="365760"/>
          </a:xfrm>
          <a:prstGeom prst="rect">
            <a:avLst/>
          </a:prstGeom>
          <a:noFill/>
          <a:ln/>
        </p:spPr>
        <p:txBody>
          <a:bodyPr wrap="square" lIns="0" tIns="0" rIns="0" bIns="0" rtlCol="0" anchor="t"/>
          <a:lstStyle/>
          <a:p>
            <a:pPr algn="ctr" indent="0" marL="0">
              <a:buNone/>
            </a:pPr>
            <a:r>
              <a:rPr lang="en-US" sz="1500" b="1" dirty="0">
                <a:solidFill>
                  <a:srgbClr val="0B7A6F"/>
                </a:solidFill>
                <a:latin typeface="SF Pro Display" pitchFamily="34" charset="0"/>
                <a:ea typeface="SF Pro Display" pitchFamily="34" charset="-122"/>
                <a:cs typeface="SF Pro Display" pitchFamily="34" charset="-120"/>
              </a:rPr>
              <a:t>$25/hr</a:t>
            </a:r>
            <a:endParaRPr lang="en-US" sz="1500" dirty="0"/>
          </a:p>
        </p:txBody>
      </p:sp>
      <p:sp>
        <p:nvSpPr>
          <p:cNvPr id="10" name="Shape 7"/>
          <p:cNvSpPr/>
          <p:nvPr/>
        </p:nvSpPr>
        <p:spPr>
          <a:xfrm>
            <a:off x="1783080" y="1572768"/>
            <a:ext cx="1261872" cy="914400"/>
          </a:xfrm>
          <a:prstGeom prst="roundRect">
            <a:avLst>
              <a:gd name="adj" fmla="val 8000"/>
            </a:avLst>
          </a:prstGeom>
          <a:solidFill>
            <a:srgbClr val="0B7A6F"/>
          </a:solidFill>
          <a:ln w="9525">
            <a:solidFill>
              <a:srgbClr val="0B7A6F"/>
            </a:solidFill>
            <a:prstDash val="solid"/>
          </a:ln>
        </p:spPr>
      </p:sp>
      <p:sp>
        <p:nvSpPr>
          <p:cNvPr id="11" name="Text 8"/>
          <p:cNvSpPr txBox="1"/>
          <p:nvPr/>
        </p:nvSpPr>
        <p:spPr>
          <a:xfrm>
            <a:off x="1783080" y="1645920"/>
            <a:ext cx="1261872" cy="320040"/>
          </a:xfrm>
          <a:prstGeom prst="rect">
            <a:avLst/>
          </a:prstGeom>
          <a:noFill/>
          <a:ln/>
        </p:spPr>
        <p:txBody>
          <a:bodyPr wrap="square" lIns="0" tIns="0" rIns="0" bIns="0" rtlCol="0" anchor="t"/>
          <a:lstStyle/>
          <a:p>
            <a:pPr algn="ctr" indent="0" marL="0">
              <a:buNone/>
            </a:pPr>
            <a:r>
              <a:rPr lang="en-US" sz="1200" b="1" dirty="0">
                <a:solidFill>
                  <a:srgbClr val="FFFFFF"/>
                </a:solidFill>
                <a:latin typeface="SF Pro Display" pitchFamily="34" charset="0"/>
                <a:ea typeface="SF Pro Display" pitchFamily="34" charset="-122"/>
                <a:cs typeface="SF Pro Display" pitchFamily="34" charset="-120"/>
              </a:rPr>
              <a:t>Cassandra</a:t>
            </a:r>
            <a:endParaRPr lang="en-US" sz="1200" dirty="0"/>
          </a:p>
        </p:txBody>
      </p:sp>
      <p:sp>
        <p:nvSpPr>
          <p:cNvPr id="12" name="Text 9"/>
          <p:cNvSpPr txBox="1"/>
          <p:nvPr/>
        </p:nvSpPr>
        <p:spPr>
          <a:xfrm>
            <a:off x="1783080" y="1965960"/>
            <a:ext cx="1261872" cy="365760"/>
          </a:xfrm>
          <a:prstGeom prst="rect">
            <a:avLst/>
          </a:prstGeom>
          <a:noFill/>
          <a:ln/>
        </p:spPr>
        <p:txBody>
          <a:bodyPr wrap="square" lIns="0" tIns="0" rIns="0" bIns="0" rtlCol="0" anchor="t"/>
          <a:lstStyle/>
          <a:p>
            <a:pPr algn="ctr" indent="0" marL="0">
              <a:buNone/>
            </a:pPr>
            <a:r>
              <a:rPr lang="en-US" sz="1500" b="1" dirty="0">
                <a:solidFill>
                  <a:srgbClr val="FFFFFF"/>
                </a:solidFill>
                <a:latin typeface="SF Pro Display" pitchFamily="34" charset="0"/>
                <a:ea typeface="SF Pro Display" pitchFamily="34" charset="-122"/>
                <a:cs typeface="SF Pro Display" pitchFamily="34" charset="-120"/>
              </a:rPr>
              <a:t>$30/hr</a:t>
            </a:r>
            <a:endParaRPr lang="en-US" sz="1500" dirty="0"/>
          </a:p>
        </p:txBody>
      </p:sp>
      <p:sp>
        <p:nvSpPr>
          <p:cNvPr id="13" name="Shape 10"/>
          <p:cNvSpPr/>
          <p:nvPr/>
        </p:nvSpPr>
        <p:spPr>
          <a:xfrm>
            <a:off x="3154680" y="1572768"/>
            <a:ext cx="1261872" cy="914400"/>
          </a:xfrm>
          <a:prstGeom prst="roundRect">
            <a:avLst>
              <a:gd name="adj" fmla="val 8000"/>
            </a:avLst>
          </a:prstGeom>
          <a:solidFill>
            <a:srgbClr val="FFFFFF"/>
          </a:solidFill>
          <a:ln w="9525">
            <a:solidFill>
              <a:srgbClr val="DCE1E7"/>
            </a:solidFill>
            <a:prstDash val="solid"/>
          </a:ln>
        </p:spPr>
      </p:sp>
      <p:sp>
        <p:nvSpPr>
          <p:cNvPr id="14" name="Text 11"/>
          <p:cNvSpPr txBox="1"/>
          <p:nvPr/>
        </p:nvSpPr>
        <p:spPr>
          <a:xfrm>
            <a:off x="3154680" y="1645920"/>
            <a:ext cx="1261872" cy="320040"/>
          </a:xfrm>
          <a:prstGeom prst="rect">
            <a:avLst/>
          </a:prstGeom>
          <a:noFill/>
          <a:ln/>
        </p:spPr>
        <p:txBody>
          <a:bodyPr wrap="square" lIns="0" tIns="0" rIns="0" bIns="0" rtlCol="0" anchor="t"/>
          <a:lstStyle/>
          <a:p>
            <a:pPr algn="ctr" indent="0" marL="0">
              <a:buNone/>
            </a:pPr>
            <a:r>
              <a:rPr lang="en-US" sz="1200" b="1" dirty="0">
                <a:solidFill>
                  <a:srgbClr val="1D1D1F"/>
                </a:solidFill>
                <a:latin typeface="SF Pro Display" pitchFamily="34" charset="0"/>
                <a:ea typeface="SF Pro Display" pitchFamily="34" charset="-122"/>
                <a:cs typeface="SF Pro Display" pitchFamily="34" charset="-120"/>
              </a:rPr>
              <a:t>Yolanda</a:t>
            </a:r>
            <a:endParaRPr lang="en-US" sz="1200" dirty="0"/>
          </a:p>
        </p:txBody>
      </p:sp>
      <p:sp>
        <p:nvSpPr>
          <p:cNvPr id="15" name="Text 12"/>
          <p:cNvSpPr txBox="1"/>
          <p:nvPr/>
        </p:nvSpPr>
        <p:spPr>
          <a:xfrm>
            <a:off x="3154680" y="1965960"/>
            <a:ext cx="1261872" cy="365760"/>
          </a:xfrm>
          <a:prstGeom prst="rect">
            <a:avLst/>
          </a:prstGeom>
          <a:noFill/>
          <a:ln/>
        </p:spPr>
        <p:txBody>
          <a:bodyPr wrap="square" lIns="0" tIns="0" rIns="0" bIns="0" rtlCol="0" anchor="t"/>
          <a:lstStyle/>
          <a:p>
            <a:pPr algn="ctr" indent="0" marL="0">
              <a:buNone/>
            </a:pPr>
            <a:r>
              <a:rPr lang="en-US" sz="1500" b="1" dirty="0">
                <a:solidFill>
                  <a:srgbClr val="0B7A6F"/>
                </a:solidFill>
                <a:latin typeface="SF Pro Display" pitchFamily="34" charset="0"/>
                <a:ea typeface="SF Pro Display" pitchFamily="34" charset="-122"/>
                <a:cs typeface="SF Pro Display" pitchFamily="34" charset="-120"/>
              </a:rPr>
              <a:t>$23/hr</a:t>
            </a:r>
            <a:endParaRPr lang="en-US" sz="1500" dirty="0"/>
          </a:p>
        </p:txBody>
      </p:sp>
      <p:sp>
        <p:nvSpPr>
          <p:cNvPr id="16" name="Text 13"/>
          <p:cNvSpPr txBox="1"/>
          <p:nvPr/>
        </p:nvSpPr>
        <p:spPr>
          <a:xfrm>
            <a:off x="438912" y="2606040"/>
            <a:ext cx="4023360" cy="27432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Max requested rate: $30/hr</a:t>
            </a:r>
            <a:endParaRPr lang="en-US" sz="1200" dirty="0"/>
          </a:p>
        </p:txBody>
      </p:sp>
      <p:sp>
        <p:nvSpPr>
          <p:cNvPr id="17" name="Shape 14"/>
          <p:cNvSpPr/>
          <p:nvPr/>
        </p:nvSpPr>
        <p:spPr>
          <a:xfrm>
            <a:off x="4663440" y="1325880"/>
            <a:ext cx="4069080" cy="1325880"/>
          </a:xfrm>
          <a:prstGeom prst="roundRect">
            <a:avLst>
              <a:gd name="adj" fmla="val 5517"/>
            </a:avLst>
          </a:prstGeom>
          <a:solidFill>
            <a:srgbClr val="FFFFFF"/>
          </a:solidFill>
          <a:ln w="9525">
            <a:solidFill>
              <a:srgbClr val="DCE1E7"/>
            </a:solidFill>
            <a:prstDash val="solid"/>
          </a:ln>
        </p:spPr>
      </p:sp>
      <p:sp>
        <p:nvSpPr>
          <p:cNvPr id="18" name="Shape 15"/>
          <p:cNvSpPr/>
          <p:nvPr/>
        </p:nvSpPr>
        <p:spPr>
          <a:xfrm>
            <a:off x="4828032" y="1490472"/>
            <a:ext cx="329184" cy="329184"/>
          </a:xfrm>
          <a:prstGeom prst="ellipse">
            <a:avLst/>
          </a:prstGeom>
          <a:solidFill>
            <a:srgbClr val="E3F4F1"/>
          </a:solidFill>
          <a:ln w="12700">
            <a:solidFill>
              <a:srgbClr val="E3F4F1"/>
            </a:solidFill>
            <a:prstDash val="solid"/>
          </a:ln>
        </p:spPr>
      </p:sp>
      <p:pic>
        <p:nvPicPr>
          <p:cNvPr id="19" name="Image 0" descr="preencoded.png">    </p:cNvPr>
          <p:cNvPicPr>
            <a:picLocks noChangeAspect="1"/>
          </p:cNvPicPr>
          <p:nvPr/>
        </p:nvPicPr>
        <p:blipFill>
          <a:blip r:embed="rId1"/>
          <a:stretch>
            <a:fillRect/>
          </a:stretch>
        </p:blipFill>
        <p:spPr>
          <a:xfrm>
            <a:off x="4907036" y="1569476"/>
            <a:ext cx="171176" cy="171176"/>
          </a:xfrm>
          <a:prstGeom prst="rect">
            <a:avLst/>
          </a:prstGeom>
        </p:spPr>
      </p:pic>
      <p:sp>
        <p:nvSpPr>
          <p:cNvPr id="20" name="Text 16"/>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requested cleaner claims</a:t>
            </a:r>
            <a:endParaRPr lang="en-US" sz="1200" dirty="0"/>
          </a:p>
        </p:txBody>
      </p:sp>
      <p:sp>
        <p:nvSpPr>
          <p:cNvPr id="21" name="Text 17"/>
          <p:cNvSpPr txBox="1"/>
          <p:nvPr/>
        </p:nvSpPr>
        <p:spPr>
          <a:xfrm>
            <a:off x="4828032" y="2221992"/>
            <a:ext cx="373989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Mona claims: the customer pays Mona's rate, $25/hr.</a:t>
            </a:r>
            <a:endParaRPr lang="en-US" sz="950" dirty="0"/>
          </a:p>
        </p:txBody>
      </p:sp>
      <p:sp>
        <p:nvSpPr>
          <p:cNvPr id="22" name="Shape 18"/>
          <p:cNvSpPr/>
          <p:nvPr/>
        </p:nvSpPr>
        <p:spPr>
          <a:xfrm>
            <a:off x="4663440" y="2743200"/>
            <a:ext cx="4069080" cy="1325880"/>
          </a:xfrm>
          <a:prstGeom prst="roundRect">
            <a:avLst>
              <a:gd name="adj" fmla="val 5517"/>
            </a:avLst>
          </a:prstGeom>
          <a:solidFill>
            <a:srgbClr val="FFFFFF"/>
          </a:solidFill>
          <a:ln w="9525">
            <a:solidFill>
              <a:srgbClr val="DCE1E7"/>
            </a:solidFill>
            <a:prstDash val="solid"/>
          </a:ln>
        </p:spPr>
      </p:sp>
      <p:sp>
        <p:nvSpPr>
          <p:cNvPr id="23" name="Shape 19"/>
          <p:cNvSpPr/>
          <p:nvPr/>
        </p:nvSpPr>
        <p:spPr>
          <a:xfrm>
            <a:off x="4828032" y="2907792"/>
            <a:ext cx="329184" cy="329184"/>
          </a:xfrm>
          <a:prstGeom prst="ellipse">
            <a:avLst/>
          </a:prstGeom>
          <a:solidFill>
            <a:srgbClr val="E3F4F1"/>
          </a:solidFill>
          <a:ln w="12700">
            <a:solidFill>
              <a:srgbClr val="E3F4F1"/>
            </a:solidFill>
            <a:prstDash val="solid"/>
          </a:ln>
        </p:spPr>
      </p:sp>
      <p:pic>
        <p:nvPicPr>
          <p:cNvPr id="24" name="Image 1" descr="preencoded.png">    </p:cNvPr>
          <p:cNvPicPr>
            <a:picLocks noChangeAspect="1"/>
          </p:cNvPicPr>
          <p:nvPr/>
        </p:nvPicPr>
        <p:blipFill>
          <a:blip r:embed="rId2"/>
          <a:stretch>
            <a:fillRect/>
          </a:stretch>
        </p:blipFill>
        <p:spPr>
          <a:xfrm>
            <a:off x="4907036" y="2986796"/>
            <a:ext cx="171176" cy="171176"/>
          </a:xfrm>
          <a:prstGeom prst="rect">
            <a:avLst/>
          </a:prstGeom>
        </p:spPr>
      </p:pic>
      <p:sp>
        <p:nvSpPr>
          <p:cNvPr id="25" name="Text 20"/>
          <p:cNvSpPr txBox="1"/>
          <p:nvPr/>
        </p:nvSpPr>
        <p:spPr>
          <a:xfrm>
            <a:off x="4828032" y="33467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Someone else claims</a:t>
            </a:r>
            <a:endParaRPr lang="en-US" sz="1200" dirty="0"/>
          </a:p>
        </p:txBody>
      </p:sp>
      <p:sp>
        <p:nvSpPr>
          <p:cNvPr id="26" name="Text 21"/>
          <p:cNvSpPr txBox="1"/>
          <p:nvPr/>
        </p:nvSpPr>
        <p:spPr>
          <a:xfrm>
            <a:off x="4828032" y="3639312"/>
            <a:ext cx="373989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Jeff ($18/hr) claims: the customer pays $30/hr. Jeff gets $18/hr.</a:t>
            </a:r>
            <a:endParaRPr lang="en-US" sz="950" dirty="0"/>
          </a:p>
        </p:txBody>
      </p:sp>
      <p:sp>
        <p:nvSpPr>
          <p:cNvPr id="27" name="Text 22"/>
          <p:cNvSpPr txBox="1"/>
          <p:nvPr/>
        </p:nvSpPr>
        <p:spPr>
          <a:xfrm>
            <a:off x="438912" y="3017520"/>
            <a:ext cx="4023360" cy="82296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Requesting Cassandra shows the customer is willing to pay her rate, so it becomes their ceiling.</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explain or refund a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answers tell you which case you're in.</a:t>
            </a:r>
            <a:endParaRPr lang="en-US" sz="1200" dirty="0"/>
          </a:p>
        </p:txBody>
      </p:sp>
      <p:sp>
        <p:nvSpPr>
          <p:cNvPr id="6" name="Shape 3"/>
          <p:cNvSpPr/>
          <p:nvPr/>
        </p:nvSpPr>
        <p:spPr>
          <a:xfrm>
            <a:off x="411480" y="137160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5448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Operating model</a:t>
            </a:r>
            <a:endParaRPr lang="en-US" sz="1200" dirty="0"/>
          </a:p>
        </p:txBody>
      </p:sp>
      <p:sp>
        <p:nvSpPr>
          <p:cNvPr id="10" name="Text 7"/>
          <p:cNvSpPr txBox="1"/>
          <p:nvPr/>
        </p:nvSpPr>
        <p:spPr>
          <a:xfrm>
            <a:off x="5760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CA/CA-WA or General? Look for the banner.</a:t>
            </a:r>
            <a:endParaRPr lang="en-US" sz="950" dirty="0"/>
          </a:p>
        </p:txBody>
      </p:sp>
      <p:sp>
        <p:nvSpPr>
          <p:cNvPr id="11" name="Shape 8"/>
          <p:cNvSpPr/>
          <p:nvPr/>
        </p:nvSpPr>
        <p:spPr>
          <a:xfrm>
            <a:off x="3230880" y="1371600"/>
            <a:ext cx="2682240" cy="1691640"/>
          </a:xfrm>
          <a:prstGeom prst="roundRect">
            <a:avLst>
              <a:gd name="adj" fmla="val 4324"/>
            </a:avLst>
          </a:prstGeom>
          <a:solidFill>
            <a:srgbClr val="FFFFFF"/>
          </a:solidFill>
          <a:ln w="9525">
            <a:solidFill>
              <a:srgbClr val="DCE1E7"/>
            </a:solidFill>
            <a:prstDash val="solid"/>
          </a:ln>
        </p:spPr>
      </p:sp>
      <p:sp>
        <p:nvSpPr>
          <p:cNvPr id="12" name="Shape 9"/>
          <p:cNvSpPr/>
          <p:nvPr/>
        </p:nvSpPr>
        <p:spPr>
          <a:xfrm>
            <a:off x="3395472" y="155448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Membership status</a:t>
            </a:r>
            <a:endParaRPr lang="en-US" sz="1200" dirty="0"/>
          </a:p>
        </p:txBody>
      </p:sp>
      <p:sp>
        <p:nvSpPr>
          <p:cNvPr id="15" name="Text 12"/>
          <p:cNvSpPr txBox="1"/>
          <p:nvPr/>
        </p:nvSpPr>
        <p:spPr>
          <a:xfrm>
            <a:off x="33954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FC, non-FC, or deactivated FC?</a:t>
            </a:r>
            <a:endParaRPr lang="en-US" sz="950" dirty="0"/>
          </a:p>
        </p:txBody>
      </p:sp>
      <p:sp>
        <p:nvSpPr>
          <p:cNvPr id="16" name="Shape 13"/>
          <p:cNvSpPr/>
          <p:nvPr/>
        </p:nvSpPr>
        <p:spPr>
          <a:xfrm>
            <a:off x="6050280" y="1371600"/>
            <a:ext cx="2682240" cy="1691640"/>
          </a:xfrm>
          <a:prstGeom prst="roundRect">
            <a:avLst>
              <a:gd name="adj" fmla="val 4324"/>
            </a:avLst>
          </a:prstGeom>
          <a:solidFill>
            <a:srgbClr val="FFFFFF"/>
          </a:solidFill>
          <a:ln w="9525">
            <a:solidFill>
              <a:srgbClr val="DCE1E7"/>
            </a:solidFill>
            <a:prstDash val="solid"/>
          </a:ln>
        </p:spPr>
      </p:sp>
      <p:sp>
        <p:nvSpPr>
          <p:cNvPr id="17" name="Shape 14"/>
          <p:cNvSpPr/>
          <p:nvPr/>
        </p:nvSpPr>
        <p:spPr>
          <a:xfrm>
            <a:off x="6214872" y="155448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job together?</a:t>
            </a:r>
            <a:endParaRPr lang="en-US" sz="1200" dirty="0"/>
          </a:p>
        </p:txBody>
      </p:sp>
      <p:sp>
        <p:nvSpPr>
          <p:cNvPr id="20" name="Text 17"/>
          <p:cNvSpPr txBox="1"/>
          <p:nvPr/>
        </p:nvSpPr>
        <p:spPr>
          <a:xfrm>
            <a:off x="62148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Is this the cleaner's first job with this customer?</a:t>
            </a:r>
            <a:endParaRPr lang="en-US" sz="950" dirty="0"/>
          </a:p>
        </p:txBody>
      </p:sp>
      <p:sp>
        <p:nvSpPr>
          <p:cNvPr id="21" name="Shape 18"/>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3" name="Text 19"/>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Then:  </a:t>
            </a:r>
            <a:pPr indent="0" marL="0">
              <a:buNone/>
            </a:pPr>
            <a:r>
              <a:rPr lang="en-US" sz="1000" dirty="0">
                <a:solidFill>
                  <a:srgbClr val="1D1D1F"/>
                </a:solidFill>
                <a:latin typeface="SF Pro Text" pitchFamily="34" charset="0"/>
                <a:ea typeface="SF Pro Text" pitchFamily="34" charset="-122"/>
                <a:cs typeface="SF Pro Text" pitchFamily="34" charset="-120"/>
              </a:rPr>
              <a:t>find the matching row in the platform fee table before you explain or refund anything.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Vouchers in CRM</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a voucher is, how to read it in the CRM, and how each type behaves.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 voucher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vouchers work</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Reading a voucher in the CRM</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Voucher types at a glance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a voucher?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discount on a customer's cleaning, redeemed with a code and tied to their account.</a:t>
            </a:r>
            <a:endParaRPr lang="en-US" sz="1200" dirty="0"/>
          </a:p>
        </p:txBody>
      </p:sp>
      <p:sp>
        <p:nvSpPr>
          <p:cNvPr id="6" name="Shape 3"/>
          <p:cNvSpPr/>
          <p:nvPr/>
        </p:nvSpPr>
        <p:spPr>
          <a:xfrm>
            <a:off x="411480" y="1325880"/>
            <a:ext cx="197739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Bought it</a:t>
            </a:r>
            <a:endParaRPr lang="en-US" sz="1200" dirty="0"/>
          </a:p>
        </p:txBody>
      </p:sp>
      <p:sp>
        <p:nvSpPr>
          <p:cNvPr id="10" name="Text 6"/>
          <p:cNvSpPr txBox="1"/>
          <p:nvPr/>
        </p:nvSpPr>
        <p:spPr>
          <a:xfrm>
            <a:off x="576072" y="2221992"/>
            <a:ext cx="164820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the customer paid for the voucher.</a:t>
            </a:r>
            <a:endParaRPr lang="en-US" sz="950" dirty="0"/>
          </a:p>
        </p:txBody>
      </p:sp>
      <p:sp>
        <p:nvSpPr>
          <p:cNvPr id="11" name="Shape 7"/>
          <p:cNvSpPr/>
          <p:nvPr/>
        </p:nvSpPr>
        <p:spPr>
          <a:xfrm>
            <a:off x="2526030" y="1325880"/>
            <a:ext cx="1977390" cy="1463040"/>
          </a:xfrm>
          <a:prstGeom prst="roundRect">
            <a:avLst>
              <a:gd name="adj" fmla="val 5000"/>
            </a:avLst>
          </a:prstGeom>
          <a:solidFill>
            <a:srgbClr val="FFFFFF"/>
          </a:solidFill>
          <a:ln w="9525">
            <a:solidFill>
              <a:srgbClr val="DCE1E7"/>
            </a:solidFill>
            <a:prstDash val="solid"/>
          </a:ln>
        </p:spPr>
      </p:sp>
      <p:sp>
        <p:nvSpPr>
          <p:cNvPr id="12" name="Shape 8"/>
          <p:cNvSpPr/>
          <p:nvPr/>
        </p:nvSpPr>
        <p:spPr>
          <a:xfrm>
            <a:off x="269062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69476"/>
            <a:ext cx="171176" cy="171176"/>
          </a:xfrm>
          <a:prstGeom prst="rect">
            <a:avLst/>
          </a:prstGeom>
        </p:spPr>
      </p:pic>
      <p:sp>
        <p:nvSpPr>
          <p:cNvPr id="14" name="Text 9"/>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With membership</a:t>
            </a:r>
            <a:endParaRPr lang="en-US" sz="1200" dirty="0"/>
          </a:p>
        </p:txBody>
      </p:sp>
      <p:sp>
        <p:nvSpPr>
          <p:cNvPr id="15" name="Text 10"/>
          <p:cNvSpPr txBox="1"/>
          <p:nvPr/>
        </p:nvSpPr>
        <p:spPr>
          <a:xfrm>
            <a:off x="2690622" y="2221992"/>
            <a:ext cx="164820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FCF: issued free when they signed up.</a:t>
            </a:r>
            <a:endParaRPr lang="en-US" sz="950" dirty="0"/>
          </a:p>
        </p:txBody>
      </p:sp>
      <p:sp>
        <p:nvSpPr>
          <p:cNvPr id="16" name="Shape 11"/>
          <p:cNvSpPr/>
          <p:nvPr/>
        </p:nvSpPr>
        <p:spPr>
          <a:xfrm>
            <a:off x="4640580" y="1325880"/>
            <a:ext cx="1977390" cy="1463040"/>
          </a:xfrm>
          <a:prstGeom prst="roundRect">
            <a:avLst>
              <a:gd name="adj" fmla="val 5000"/>
            </a:avLst>
          </a:prstGeom>
          <a:solidFill>
            <a:srgbClr val="FFFFFF"/>
          </a:solidFill>
          <a:ln w="9525">
            <a:solidFill>
              <a:srgbClr val="DCE1E7"/>
            </a:solidFill>
            <a:prstDash val="solid"/>
          </a:ln>
        </p:spPr>
      </p:sp>
      <p:sp>
        <p:nvSpPr>
          <p:cNvPr id="17" name="Shape 12"/>
          <p:cNvSpPr/>
          <p:nvPr/>
        </p:nvSpPr>
        <p:spPr>
          <a:xfrm>
            <a:off x="48051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69476"/>
            <a:ext cx="171176" cy="171176"/>
          </a:xfrm>
          <a:prstGeom prst="rect">
            <a:avLst/>
          </a:prstGeom>
        </p:spPr>
      </p:pic>
      <p:sp>
        <p:nvSpPr>
          <p:cNvPr id="19" name="Text 13"/>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Gift or referral</a:t>
            </a:r>
            <a:endParaRPr lang="en-US" sz="1200" dirty="0"/>
          </a:p>
        </p:txBody>
      </p:sp>
      <p:sp>
        <p:nvSpPr>
          <p:cNvPr id="20" name="Text 14"/>
          <p:cNvSpPr txBox="1"/>
          <p:nvPr/>
        </p:nvSpPr>
        <p:spPr>
          <a:xfrm>
            <a:off x="4805172" y="2221992"/>
            <a:ext cx="164820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Sent by a friend, or bought as a gift card.</a:t>
            </a:r>
            <a:endParaRPr lang="en-US" sz="950" dirty="0"/>
          </a:p>
        </p:txBody>
      </p:sp>
      <p:sp>
        <p:nvSpPr>
          <p:cNvPr id="21" name="Shape 15"/>
          <p:cNvSpPr/>
          <p:nvPr/>
        </p:nvSpPr>
        <p:spPr>
          <a:xfrm>
            <a:off x="6755130" y="1325880"/>
            <a:ext cx="1977390" cy="1463040"/>
          </a:xfrm>
          <a:prstGeom prst="roundRect">
            <a:avLst>
              <a:gd name="adj" fmla="val 5000"/>
            </a:avLst>
          </a:prstGeom>
          <a:solidFill>
            <a:srgbClr val="FFFFFF"/>
          </a:solidFill>
          <a:ln w="9525">
            <a:solidFill>
              <a:srgbClr val="DCE1E7"/>
            </a:solidFill>
            <a:prstDash val="solid"/>
          </a:ln>
        </p:spPr>
      </p:sp>
      <p:sp>
        <p:nvSpPr>
          <p:cNvPr id="22" name="Shape 16"/>
          <p:cNvSpPr/>
          <p:nvPr/>
        </p:nvSpPr>
        <p:spPr>
          <a:xfrm>
            <a:off x="6919722" y="149047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69476"/>
            <a:ext cx="171176" cy="171176"/>
          </a:xfrm>
          <a:prstGeom prst="rect">
            <a:avLst/>
          </a:prstGeom>
        </p:spPr>
      </p:pic>
      <p:sp>
        <p:nvSpPr>
          <p:cNvPr id="24" name="Text 17"/>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From Care</a:t>
            </a:r>
            <a:endParaRPr lang="en-US" sz="1200" dirty="0"/>
          </a:p>
        </p:txBody>
      </p:sp>
      <p:sp>
        <p:nvSpPr>
          <p:cNvPr id="25" name="Text 18"/>
          <p:cNvSpPr txBox="1"/>
          <p:nvPr/>
        </p:nvSpPr>
        <p:spPr>
          <a:xfrm>
            <a:off x="6919722" y="2221992"/>
            <a:ext cx="164820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 admin courtesy voucher issued by us.</a:t>
            </a:r>
            <a:endParaRPr lang="en-US" sz="950" dirty="0"/>
          </a:p>
        </p:txBody>
      </p:sp>
      <p:sp>
        <p:nvSpPr>
          <p:cNvPr id="26" name="Shape 19"/>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127248"/>
            <a:ext cx="164592" cy="164592"/>
          </a:xfrm>
          <a:prstGeom prst="rect">
            <a:avLst/>
          </a:prstGeom>
        </p:spPr>
      </p:pic>
      <p:sp>
        <p:nvSpPr>
          <p:cNvPr id="28" name="Text 20"/>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Watch your words:  </a:t>
            </a:r>
            <a:pPr indent="0" marL="0">
              <a:buNone/>
            </a:pPr>
            <a:r>
              <a:rPr lang="en-US" sz="1000" dirty="0">
                <a:solidFill>
                  <a:srgbClr val="1D1D1F"/>
                </a:solidFill>
                <a:latin typeface="SF Pro Text" pitchFamily="34" charset="0"/>
                <a:ea typeface="SF Pro Text" pitchFamily="34" charset="-122"/>
                <a:cs typeface="SF Pro Text" pitchFamily="34" charset="-120"/>
              </a:rPr>
              <a:t>an FCF customer who says "I never bought a voucher" is right. Don't contradict them.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vouchers work</a:t>
            </a:r>
            <a:endParaRPr lang="en-US" sz="2400" dirty="0"/>
          </a:p>
        </p:txBody>
      </p:sp>
      <p:sp>
        <p:nvSpPr>
          <p:cNvPr id="5" name="Shape 2"/>
          <p:cNvSpPr/>
          <p:nvPr/>
        </p:nvSpPr>
        <p:spPr>
          <a:xfrm>
            <a:off x="411480" y="1280160"/>
            <a:ext cx="1977390" cy="1600200"/>
          </a:xfrm>
          <a:prstGeom prst="roundRect">
            <a:avLst>
              <a:gd name="adj" fmla="val 4571"/>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Hours, not dollars</a:t>
            </a:r>
            <a:endParaRPr lang="en-US" sz="1200" dirty="0"/>
          </a:p>
        </p:txBody>
      </p:sp>
      <p:sp>
        <p:nvSpPr>
          <p:cNvPr id="9" name="Text 5"/>
          <p:cNvSpPr txBox="1"/>
          <p:nvPr/>
        </p:nvSpPr>
        <p:spPr>
          <a:xfrm>
            <a:off x="57607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Voucher hours come off the job, whatever the cleaner's rate.</a:t>
            </a:r>
            <a:endParaRPr lang="en-US" sz="950" dirty="0"/>
          </a:p>
        </p:txBody>
      </p:sp>
      <p:sp>
        <p:nvSpPr>
          <p:cNvPr id="10" name="Shape 6"/>
          <p:cNvSpPr/>
          <p:nvPr/>
        </p:nvSpPr>
        <p:spPr>
          <a:xfrm>
            <a:off x="2526030" y="1280160"/>
            <a:ext cx="1977390" cy="1600200"/>
          </a:xfrm>
          <a:prstGeom prst="roundRect">
            <a:avLst>
              <a:gd name="adj" fmla="val 4571"/>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Longer job?</a:t>
            </a:r>
            <a:endParaRPr lang="en-US" sz="1200" dirty="0"/>
          </a:p>
        </p:txBody>
      </p:sp>
      <p:sp>
        <p:nvSpPr>
          <p:cNvPr id="14" name="Text 9"/>
          <p:cNvSpPr txBox="1"/>
          <p:nvPr/>
        </p:nvSpPr>
        <p:spPr>
          <a:xfrm>
            <a:off x="269062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Extra hours are charged at Homeaglow's standard rate.</a:t>
            </a:r>
            <a:endParaRPr lang="en-US" sz="950" dirty="0"/>
          </a:p>
        </p:txBody>
      </p:sp>
      <p:sp>
        <p:nvSpPr>
          <p:cNvPr id="15" name="Shape 10"/>
          <p:cNvSpPr/>
          <p:nvPr/>
        </p:nvSpPr>
        <p:spPr>
          <a:xfrm>
            <a:off x="4640580" y="1280160"/>
            <a:ext cx="1977390" cy="1600200"/>
          </a:xfrm>
          <a:prstGeom prst="roundRect">
            <a:avLst>
              <a:gd name="adj" fmla="val 4571"/>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Redeem online</a:t>
            </a:r>
            <a:endParaRPr lang="en-US" sz="1200" dirty="0"/>
          </a:p>
        </p:txBody>
      </p:sp>
      <p:sp>
        <p:nvSpPr>
          <p:cNvPr id="19" name="Text 13"/>
          <p:cNvSpPr txBox="1"/>
          <p:nvPr/>
        </p:nvSpPr>
        <p:spPr>
          <a:xfrm>
            <a:off x="480517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brand.com/redeem with zip code, email and voucher code.</a:t>
            </a:r>
            <a:endParaRPr lang="en-US" sz="950" dirty="0"/>
          </a:p>
        </p:txBody>
      </p:sp>
      <p:sp>
        <p:nvSpPr>
          <p:cNvPr id="20" name="Shape 14"/>
          <p:cNvSpPr/>
          <p:nvPr/>
        </p:nvSpPr>
        <p:spPr>
          <a:xfrm>
            <a:off x="6755130" y="1280160"/>
            <a:ext cx="1977390" cy="1600200"/>
          </a:xfrm>
          <a:prstGeom prst="roundRect">
            <a:avLst>
              <a:gd name="adj" fmla="val 4571"/>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One per household</a:t>
            </a:r>
            <a:endParaRPr lang="en-US" sz="1200" dirty="0"/>
          </a:p>
        </p:txBody>
      </p:sp>
      <p:sp>
        <p:nvSpPr>
          <p:cNvPr id="24" name="Text 17"/>
          <p:cNvSpPr txBox="1"/>
          <p:nvPr/>
        </p:nvSpPr>
        <p:spPr>
          <a:xfrm>
            <a:off x="691972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one paid voucher per address.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Reading a voucher in the new CRM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Once redeemed, the voucher shows on the customer's account.</a:t>
            </a:r>
            <a:endParaRPr lang="en-US" sz="1200" dirty="0"/>
          </a:p>
        </p:txBody>
      </p:sp>
      <p:sp>
        <p:nvSpPr>
          <p:cNvPr id="6" name="Shape 3"/>
          <p:cNvSpPr/>
          <p:nvPr/>
        </p:nvSpPr>
        <p:spPr>
          <a:xfrm>
            <a:off x="411480" y="1325880"/>
            <a:ext cx="8321040" cy="1965960"/>
          </a:xfrm>
          <a:prstGeom prst="roundRect">
            <a:avLst>
              <a:gd name="adj" fmla="val 3721"/>
            </a:avLst>
          </a:prstGeom>
          <a:solidFill>
            <a:srgbClr val="FFFFFF"/>
          </a:solidFill>
          <a:ln w="9525">
            <a:solidFill>
              <a:srgbClr val="DCE1E7"/>
            </a:solidFill>
            <a:prstDash val="solid"/>
          </a:ln>
        </p:spPr>
      </p:sp>
      <p:pic>
        <p:nvPicPr>
          <p:cNvPr id="7" name="Image 0" descr="/tmp/claude-0/-workspace-training/3ce5cff6-cccf-5f33-b0ee-0b147a55120e/scratchpad/img3/vouchers_newcrm.png">    </p:cNvPr>
          <p:cNvPicPr>
            <a:picLocks noChangeAspect="1"/>
          </p:cNvPicPr>
          <p:nvPr/>
        </p:nvPicPr>
        <p:blipFill>
          <a:blip r:embed="rId1"/>
          <a:stretch>
            <a:fillRect/>
          </a:stretch>
        </p:blipFill>
        <p:spPr>
          <a:xfrm>
            <a:off x="484632" y="1404334"/>
            <a:ext cx="8174736" cy="1809051"/>
          </a:xfrm>
          <a:prstGeom prst="rect">
            <a:avLst/>
          </a:prstGeom>
        </p:spPr>
      </p:pic>
      <p:sp>
        <p:nvSpPr>
          <p:cNvPr id="8" name="Shape 4"/>
          <p:cNvSpPr/>
          <p:nvPr/>
        </p:nvSpPr>
        <p:spPr>
          <a:xfrm>
            <a:off x="634253" y="1921206"/>
            <a:ext cx="2026682" cy="652891"/>
          </a:xfrm>
          <a:prstGeom prst="roundRect">
            <a:avLst>
              <a:gd name="adj" fmla="val 4202"/>
            </a:avLst>
          </a:prstGeom>
          <a:ln w="25400">
            <a:solidFill>
              <a:srgbClr val="0B7A6F"/>
            </a:solidFill>
            <a:prstDash val="solid"/>
          </a:ln>
        </p:spPr>
      </p:sp>
      <p:sp>
        <p:nvSpPr>
          <p:cNvPr id="9" name="Shape 5"/>
          <p:cNvSpPr/>
          <p:nvPr/>
        </p:nvSpPr>
        <p:spPr>
          <a:xfrm>
            <a:off x="533669" y="1820622"/>
            <a:ext cx="201168" cy="201168"/>
          </a:xfrm>
          <a:prstGeom prst="ellipse">
            <a:avLst/>
          </a:prstGeom>
          <a:solidFill>
            <a:srgbClr val="0B7A6F"/>
          </a:solidFill>
          <a:ln w="12700">
            <a:solidFill>
              <a:srgbClr val="FFFFFF"/>
            </a:solidFill>
            <a:prstDash val="solid"/>
          </a:ln>
        </p:spPr>
      </p:sp>
      <p:sp>
        <p:nvSpPr>
          <p:cNvPr id="10" name="Text 6"/>
          <p:cNvSpPr txBox="1"/>
          <p:nvPr/>
        </p:nvSpPr>
        <p:spPr>
          <a:xfrm>
            <a:off x="533669" y="182062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2660934" y="1921206"/>
            <a:ext cx="979336" cy="652891"/>
          </a:xfrm>
          <a:prstGeom prst="roundRect">
            <a:avLst>
              <a:gd name="adj" fmla="val 4202"/>
            </a:avLst>
          </a:prstGeom>
          <a:ln w="25400">
            <a:solidFill>
              <a:srgbClr val="0B7A6F"/>
            </a:solidFill>
            <a:prstDash val="solid"/>
          </a:ln>
        </p:spPr>
      </p:sp>
      <p:sp>
        <p:nvSpPr>
          <p:cNvPr id="12" name="Shape 8"/>
          <p:cNvSpPr/>
          <p:nvPr/>
        </p:nvSpPr>
        <p:spPr>
          <a:xfrm>
            <a:off x="2560350" y="1820622"/>
            <a:ext cx="201168" cy="201168"/>
          </a:xfrm>
          <a:prstGeom prst="ellipse">
            <a:avLst/>
          </a:prstGeom>
          <a:solidFill>
            <a:srgbClr val="0B7A6F"/>
          </a:solidFill>
          <a:ln w="12700">
            <a:solidFill>
              <a:srgbClr val="FFFFFF"/>
            </a:solidFill>
            <a:prstDash val="solid"/>
          </a:ln>
        </p:spPr>
      </p:sp>
      <p:sp>
        <p:nvSpPr>
          <p:cNvPr id="13" name="Text 9"/>
          <p:cNvSpPr txBox="1"/>
          <p:nvPr/>
        </p:nvSpPr>
        <p:spPr>
          <a:xfrm>
            <a:off x="2560350" y="182062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3640271" y="1921206"/>
            <a:ext cx="1441800" cy="652891"/>
          </a:xfrm>
          <a:prstGeom prst="roundRect">
            <a:avLst>
              <a:gd name="adj" fmla="val 4202"/>
            </a:avLst>
          </a:prstGeom>
          <a:ln w="25400">
            <a:solidFill>
              <a:srgbClr val="0B7A6F"/>
            </a:solidFill>
            <a:prstDash val="solid"/>
          </a:ln>
        </p:spPr>
      </p:sp>
      <p:sp>
        <p:nvSpPr>
          <p:cNvPr id="15" name="Shape 11"/>
          <p:cNvSpPr/>
          <p:nvPr/>
        </p:nvSpPr>
        <p:spPr>
          <a:xfrm>
            <a:off x="3539687" y="1820622"/>
            <a:ext cx="201168" cy="201168"/>
          </a:xfrm>
          <a:prstGeom prst="ellipse">
            <a:avLst/>
          </a:prstGeom>
          <a:solidFill>
            <a:srgbClr val="0B7A6F"/>
          </a:solidFill>
          <a:ln w="12700">
            <a:solidFill>
              <a:srgbClr val="FFFFFF"/>
            </a:solidFill>
            <a:prstDash val="solid"/>
          </a:ln>
        </p:spPr>
      </p:sp>
      <p:sp>
        <p:nvSpPr>
          <p:cNvPr id="16" name="Text 12"/>
          <p:cNvSpPr txBox="1"/>
          <p:nvPr/>
        </p:nvSpPr>
        <p:spPr>
          <a:xfrm>
            <a:off x="3539687" y="182062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5082071" y="1921206"/>
            <a:ext cx="2067487" cy="748104"/>
          </a:xfrm>
          <a:prstGeom prst="roundRect">
            <a:avLst>
              <a:gd name="adj" fmla="val 3667"/>
            </a:avLst>
          </a:prstGeom>
          <a:ln w="25400">
            <a:solidFill>
              <a:srgbClr val="0B7A6F"/>
            </a:solidFill>
            <a:prstDash val="solid"/>
          </a:ln>
        </p:spPr>
      </p:sp>
      <p:sp>
        <p:nvSpPr>
          <p:cNvPr id="18" name="Shape 14"/>
          <p:cNvSpPr/>
          <p:nvPr/>
        </p:nvSpPr>
        <p:spPr>
          <a:xfrm>
            <a:off x="4981487" y="1820622"/>
            <a:ext cx="201168" cy="201168"/>
          </a:xfrm>
          <a:prstGeom prst="ellipse">
            <a:avLst/>
          </a:prstGeom>
          <a:solidFill>
            <a:srgbClr val="0B7A6F"/>
          </a:solidFill>
          <a:ln w="12700">
            <a:solidFill>
              <a:srgbClr val="FFFFFF"/>
            </a:solidFill>
            <a:prstDash val="solid"/>
          </a:ln>
        </p:spPr>
      </p:sp>
      <p:sp>
        <p:nvSpPr>
          <p:cNvPr id="19" name="Text 15"/>
          <p:cNvSpPr txBox="1"/>
          <p:nvPr/>
        </p:nvSpPr>
        <p:spPr>
          <a:xfrm>
            <a:off x="4981487" y="182062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4</a:t>
            </a:r>
            <a:endParaRPr lang="en-US" sz="800" dirty="0"/>
          </a:p>
        </p:txBody>
      </p:sp>
      <p:sp>
        <p:nvSpPr>
          <p:cNvPr id="20" name="Shape 16"/>
          <p:cNvSpPr/>
          <p:nvPr/>
        </p:nvSpPr>
        <p:spPr>
          <a:xfrm>
            <a:off x="7149558" y="1921206"/>
            <a:ext cx="1428198" cy="652891"/>
          </a:xfrm>
          <a:prstGeom prst="roundRect">
            <a:avLst>
              <a:gd name="adj" fmla="val 4202"/>
            </a:avLst>
          </a:prstGeom>
          <a:ln w="25400">
            <a:solidFill>
              <a:srgbClr val="0B7A6F"/>
            </a:solidFill>
            <a:prstDash val="solid"/>
          </a:ln>
        </p:spPr>
      </p:sp>
      <p:sp>
        <p:nvSpPr>
          <p:cNvPr id="21" name="Shape 17"/>
          <p:cNvSpPr/>
          <p:nvPr/>
        </p:nvSpPr>
        <p:spPr>
          <a:xfrm>
            <a:off x="7048974" y="1820622"/>
            <a:ext cx="201168" cy="201168"/>
          </a:xfrm>
          <a:prstGeom prst="ellipse">
            <a:avLst/>
          </a:prstGeom>
          <a:solidFill>
            <a:srgbClr val="0B7A6F"/>
          </a:solidFill>
          <a:ln w="12700">
            <a:solidFill>
              <a:srgbClr val="FFFFFF"/>
            </a:solidFill>
            <a:prstDash val="solid"/>
          </a:ln>
        </p:spPr>
      </p:sp>
      <p:sp>
        <p:nvSpPr>
          <p:cNvPr id="22" name="Text 18"/>
          <p:cNvSpPr txBox="1"/>
          <p:nvPr/>
        </p:nvSpPr>
        <p:spPr>
          <a:xfrm>
            <a:off x="7048974" y="182062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5</a:t>
            </a:r>
            <a:endParaRPr lang="en-US" sz="800" dirty="0"/>
          </a:p>
        </p:txBody>
      </p:sp>
      <p:sp>
        <p:nvSpPr>
          <p:cNvPr id="23" name="Shape 19"/>
          <p:cNvSpPr/>
          <p:nvPr/>
        </p:nvSpPr>
        <p:spPr>
          <a:xfrm>
            <a:off x="607049" y="2642106"/>
            <a:ext cx="2597961" cy="258436"/>
          </a:xfrm>
          <a:prstGeom prst="roundRect">
            <a:avLst>
              <a:gd name="adj" fmla="val 10615"/>
            </a:avLst>
          </a:prstGeom>
          <a:ln w="25400">
            <a:solidFill>
              <a:srgbClr val="0B7A6F"/>
            </a:solidFill>
            <a:prstDash val="solid"/>
          </a:ln>
        </p:spPr>
      </p:sp>
      <p:sp>
        <p:nvSpPr>
          <p:cNvPr id="24" name="Shape 20"/>
          <p:cNvSpPr/>
          <p:nvPr/>
        </p:nvSpPr>
        <p:spPr>
          <a:xfrm>
            <a:off x="506465" y="2541522"/>
            <a:ext cx="201168" cy="201168"/>
          </a:xfrm>
          <a:prstGeom prst="ellipse">
            <a:avLst/>
          </a:prstGeom>
          <a:solidFill>
            <a:srgbClr val="0B7A6F"/>
          </a:solidFill>
          <a:ln w="12700">
            <a:solidFill>
              <a:srgbClr val="FFFFFF"/>
            </a:solidFill>
            <a:prstDash val="solid"/>
          </a:ln>
        </p:spPr>
      </p:sp>
      <p:sp>
        <p:nvSpPr>
          <p:cNvPr id="25" name="Text 21"/>
          <p:cNvSpPr txBox="1"/>
          <p:nvPr/>
        </p:nvSpPr>
        <p:spPr>
          <a:xfrm>
            <a:off x="506465" y="254152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6</a:t>
            </a:r>
            <a:endParaRPr lang="en-US" sz="800" dirty="0"/>
          </a:p>
        </p:txBody>
      </p:sp>
      <p:sp>
        <p:nvSpPr>
          <p:cNvPr id="26" name="Shape 22"/>
          <p:cNvSpPr/>
          <p:nvPr/>
        </p:nvSpPr>
        <p:spPr>
          <a:xfrm>
            <a:off x="411480" y="3429000"/>
            <a:ext cx="2697480" cy="457200"/>
          </a:xfrm>
          <a:prstGeom prst="roundRect">
            <a:avLst>
              <a:gd name="adj" fmla="val 16000"/>
            </a:avLst>
          </a:prstGeom>
          <a:solidFill>
            <a:srgbClr val="FFFFFF"/>
          </a:solidFill>
          <a:ln w="9525">
            <a:solidFill>
              <a:srgbClr val="DCE1E7"/>
            </a:solidFill>
            <a:prstDash val="solid"/>
          </a:ln>
        </p:spPr>
      </p:sp>
      <p:sp>
        <p:nvSpPr>
          <p:cNvPr id="27" name="Shape 23"/>
          <p:cNvSpPr/>
          <p:nvPr/>
        </p:nvSpPr>
        <p:spPr>
          <a:xfrm>
            <a:off x="539496" y="3529584"/>
            <a:ext cx="256032" cy="256032"/>
          </a:xfrm>
          <a:prstGeom prst="ellipse">
            <a:avLst/>
          </a:prstGeom>
          <a:solidFill>
            <a:srgbClr val="0B7A6F"/>
          </a:solidFill>
          <a:ln w="12700">
            <a:solidFill>
              <a:srgbClr val="0B7A6F"/>
            </a:solidFill>
            <a:prstDash val="solid"/>
          </a:ln>
        </p:spPr>
      </p:sp>
      <p:sp>
        <p:nvSpPr>
          <p:cNvPr id="28" name="Text 24"/>
          <p:cNvSpPr txBox="1"/>
          <p:nvPr/>
        </p:nvSpPr>
        <p:spPr>
          <a:xfrm>
            <a:off x="539496" y="35295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9" name="Text 25"/>
          <p:cNvSpPr txBox="1"/>
          <p:nvPr/>
        </p:nvSpPr>
        <p:spPr>
          <a:xfrm>
            <a:off x="914400" y="3474720"/>
            <a:ext cx="21031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Code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16-letter redemption code</a:t>
            </a:r>
            <a:endParaRPr lang="en-US" sz="1050" dirty="0"/>
          </a:p>
        </p:txBody>
      </p:sp>
      <p:sp>
        <p:nvSpPr>
          <p:cNvPr id="30" name="Shape 26"/>
          <p:cNvSpPr/>
          <p:nvPr/>
        </p:nvSpPr>
        <p:spPr>
          <a:xfrm>
            <a:off x="411480" y="3977640"/>
            <a:ext cx="2697480" cy="457200"/>
          </a:xfrm>
          <a:prstGeom prst="roundRect">
            <a:avLst>
              <a:gd name="adj" fmla="val 16000"/>
            </a:avLst>
          </a:prstGeom>
          <a:solidFill>
            <a:srgbClr val="FFFFFF"/>
          </a:solidFill>
          <a:ln w="9525">
            <a:solidFill>
              <a:srgbClr val="DCE1E7"/>
            </a:solidFill>
            <a:prstDash val="solid"/>
          </a:ln>
        </p:spPr>
      </p:sp>
      <p:sp>
        <p:nvSpPr>
          <p:cNvPr id="31" name="Shape 27"/>
          <p:cNvSpPr/>
          <p:nvPr/>
        </p:nvSpPr>
        <p:spPr>
          <a:xfrm>
            <a:off x="539496" y="4078224"/>
            <a:ext cx="256032" cy="256032"/>
          </a:xfrm>
          <a:prstGeom prst="ellipse">
            <a:avLst/>
          </a:prstGeom>
          <a:solidFill>
            <a:srgbClr val="0B7A6F"/>
          </a:solidFill>
          <a:ln w="12700">
            <a:solidFill>
              <a:srgbClr val="0B7A6F"/>
            </a:solidFill>
            <a:prstDash val="solid"/>
          </a:ln>
        </p:spPr>
      </p:sp>
      <p:sp>
        <p:nvSpPr>
          <p:cNvPr id="32" name="Text 28"/>
          <p:cNvSpPr txBox="1"/>
          <p:nvPr/>
        </p:nvSpPr>
        <p:spPr>
          <a:xfrm>
            <a:off x="539496" y="40782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33" name="Text 29"/>
          <p:cNvSpPr txBox="1"/>
          <p:nvPr/>
        </p:nvSpPr>
        <p:spPr>
          <a:xfrm>
            <a:off x="914400" y="4023360"/>
            <a:ext cx="21031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Merchant</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voucher type (dhj, groupon…)</a:t>
            </a:r>
            <a:endParaRPr lang="en-US" sz="1050" dirty="0"/>
          </a:p>
        </p:txBody>
      </p:sp>
      <p:sp>
        <p:nvSpPr>
          <p:cNvPr id="34" name="Shape 30"/>
          <p:cNvSpPr/>
          <p:nvPr/>
        </p:nvSpPr>
        <p:spPr>
          <a:xfrm>
            <a:off x="3227832" y="3429000"/>
            <a:ext cx="2697480" cy="457200"/>
          </a:xfrm>
          <a:prstGeom prst="roundRect">
            <a:avLst>
              <a:gd name="adj" fmla="val 16000"/>
            </a:avLst>
          </a:prstGeom>
          <a:solidFill>
            <a:srgbClr val="FFFFFF"/>
          </a:solidFill>
          <a:ln w="9525">
            <a:solidFill>
              <a:srgbClr val="DCE1E7"/>
            </a:solidFill>
            <a:prstDash val="solid"/>
          </a:ln>
        </p:spPr>
      </p:sp>
      <p:sp>
        <p:nvSpPr>
          <p:cNvPr id="35" name="Shape 31"/>
          <p:cNvSpPr/>
          <p:nvPr/>
        </p:nvSpPr>
        <p:spPr>
          <a:xfrm>
            <a:off x="3355848" y="3529584"/>
            <a:ext cx="256032" cy="256032"/>
          </a:xfrm>
          <a:prstGeom prst="ellipse">
            <a:avLst/>
          </a:prstGeom>
          <a:solidFill>
            <a:srgbClr val="0B7A6F"/>
          </a:solidFill>
          <a:ln w="12700">
            <a:solidFill>
              <a:srgbClr val="0B7A6F"/>
            </a:solidFill>
            <a:prstDash val="solid"/>
          </a:ln>
        </p:spPr>
      </p:sp>
      <p:sp>
        <p:nvSpPr>
          <p:cNvPr id="36" name="Text 32"/>
          <p:cNvSpPr txBox="1"/>
          <p:nvPr/>
        </p:nvSpPr>
        <p:spPr>
          <a:xfrm>
            <a:off x="3355848" y="35295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37" name="Text 33"/>
          <p:cNvSpPr txBox="1"/>
          <p:nvPr/>
        </p:nvSpPr>
        <p:spPr>
          <a:xfrm>
            <a:off x="3730752" y="3474720"/>
            <a:ext cx="21031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Price &amp; hours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Paid amount and duration</a:t>
            </a:r>
            <a:endParaRPr lang="en-US" sz="1050" dirty="0"/>
          </a:p>
        </p:txBody>
      </p:sp>
      <p:sp>
        <p:nvSpPr>
          <p:cNvPr id="38" name="Shape 34"/>
          <p:cNvSpPr/>
          <p:nvPr/>
        </p:nvSpPr>
        <p:spPr>
          <a:xfrm>
            <a:off x="3227832" y="3977640"/>
            <a:ext cx="2697480" cy="457200"/>
          </a:xfrm>
          <a:prstGeom prst="roundRect">
            <a:avLst>
              <a:gd name="adj" fmla="val 16000"/>
            </a:avLst>
          </a:prstGeom>
          <a:solidFill>
            <a:srgbClr val="FFFFFF"/>
          </a:solidFill>
          <a:ln w="9525">
            <a:solidFill>
              <a:srgbClr val="DCE1E7"/>
            </a:solidFill>
            <a:prstDash val="solid"/>
          </a:ln>
        </p:spPr>
      </p:sp>
      <p:sp>
        <p:nvSpPr>
          <p:cNvPr id="39" name="Shape 35"/>
          <p:cNvSpPr/>
          <p:nvPr/>
        </p:nvSpPr>
        <p:spPr>
          <a:xfrm>
            <a:off x="3355848" y="4078224"/>
            <a:ext cx="256032" cy="256032"/>
          </a:xfrm>
          <a:prstGeom prst="ellipse">
            <a:avLst/>
          </a:prstGeom>
          <a:solidFill>
            <a:srgbClr val="0B7A6F"/>
          </a:solidFill>
          <a:ln w="12700">
            <a:solidFill>
              <a:srgbClr val="0B7A6F"/>
            </a:solidFill>
            <a:prstDash val="solid"/>
          </a:ln>
        </p:spPr>
      </p:sp>
      <p:sp>
        <p:nvSpPr>
          <p:cNvPr id="40" name="Text 36"/>
          <p:cNvSpPr txBox="1"/>
          <p:nvPr/>
        </p:nvSpPr>
        <p:spPr>
          <a:xfrm>
            <a:off x="3355848" y="40782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4</a:t>
            </a:r>
            <a:endParaRPr lang="en-US" sz="900" dirty="0"/>
          </a:p>
        </p:txBody>
      </p:sp>
      <p:sp>
        <p:nvSpPr>
          <p:cNvPr id="41" name="Text 37"/>
          <p:cNvSpPr txBox="1"/>
          <p:nvPr/>
        </p:nvSpPr>
        <p:spPr>
          <a:xfrm>
            <a:off x="3730752" y="4023360"/>
            <a:ext cx="21031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Purchased &amp; expires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When it was bought, when it ends</a:t>
            </a:r>
            <a:endParaRPr lang="en-US" sz="1050" dirty="0"/>
          </a:p>
        </p:txBody>
      </p:sp>
      <p:sp>
        <p:nvSpPr>
          <p:cNvPr id="42" name="Shape 38"/>
          <p:cNvSpPr/>
          <p:nvPr/>
        </p:nvSpPr>
        <p:spPr>
          <a:xfrm>
            <a:off x="6035040" y="3429000"/>
            <a:ext cx="2697480" cy="457200"/>
          </a:xfrm>
          <a:prstGeom prst="roundRect">
            <a:avLst>
              <a:gd name="adj" fmla="val 16000"/>
            </a:avLst>
          </a:prstGeom>
          <a:solidFill>
            <a:srgbClr val="FFFFFF"/>
          </a:solidFill>
          <a:ln w="9525">
            <a:solidFill>
              <a:srgbClr val="DCE1E7"/>
            </a:solidFill>
            <a:prstDash val="solid"/>
          </a:ln>
        </p:spPr>
      </p:sp>
      <p:sp>
        <p:nvSpPr>
          <p:cNvPr id="43" name="Shape 39"/>
          <p:cNvSpPr/>
          <p:nvPr/>
        </p:nvSpPr>
        <p:spPr>
          <a:xfrm>
            <a:off x="6163056" y="3529584"/>
            <a:ext cx="256032" cy="256032"/>
          </a:xfrm>
          <a:prstGeom prst="ellipse">
            <a:avLst/>
          </a:prstGeom>
          <a:solidFill>
            <a:srgbClr val="0B7A6F"/>
          </a:solidFill>
          <a:ln w="12700">
            <a:solidFill>
              <a:srgbClr val="0B7A6F"/>
            </a:solidFill>
            <a:prstDash val="solid"/>
          </a:ln>
        </p:spPr>
      </p:sp>
      <p:sp>
        <p:nvSpPr>
          <p:cNvPr id="44" name="Text 40"/>
          <p:cNvSpPr txBox="1"/>
          <p:nvPr/>
        </p:nvSpPr>
        <p:spPr>
          <a:xfrm>
            <a:off x="6163056" y="35295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5</a:t>
            </a:r>
            <a:endParaRPr lang="en-US" sz="900" dirty="0"/>
          </a:p>
        </p:txBody>
      </p:sp>
      <p:sp>
        <p:nvSpPr>
          <p:cNvPr id="45" name="Text 41"/>
          <p:cNvSpPr txBox="1"/>
          <p:nvPr/>
        </p:nvSpPr>
        <p:spPr>
          <a:xfrm>
            <a:off x="6537960" y="3474720"/>
            <a:ext cx="21031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FC &amp; refund</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Tied to FC? Refunded?</a:t>
            </a:r>
            <a:endParaRPr lang="en-US" sz="1050" dirty="0"/>
          </a:p>
        </p:txBody>
      </p:sp>
      <p:sp>
        <p:nvSpPr>
          <p:cNvPr id="46" name="Shape 42"/>
          <p:cNvSpPr/>
          <p:nvPr/>
        </p:nvSpPr>
        <p:spPr>
          <a:xfrm>
            <a:off x="6035040" y="3977640"/>
            <a:ext cx="2697480" cy="457200"/>
          </a:xfrm>
          <a:prstGeom prst="roundRect">
            <a:avLst>
              <a:gd name="adj" fmla="val 16000"/>
            </a:avLst>
          </a:prstGeom>
          <a:solidFill>
            <a:srgbClr val="FFFFFF"/>
          </a:solidFill>
          <a:ln w="9525">
            <a:solidFill>
              <a:srgbClr val="DCE1E7"/>
            </a:solidFill>
            <a:prstDash val="solid"/>
          </a:ln>
        </p:spPr>
      </p:sp>
      <p:sp>
        <p:nvSpPr>
          <p:cNvPr id="47" name="Shape 43"/>
          <p:cNvSpPr/>
          <p:nvPr/>
        </p:nvSpPr>
        <p:spPr>
          <a:xfrm>
            <a:off x="6163056" y="4078224"/>
            <a:ext cx="256032" cy="256032"/>
          </a:xfrm>
          <a:prstGeom prst="ellipse">
            <a:avLst/>
          </a:prstGeom>
          <a:solidFill>
            <a:srgbClr val="0B7A6F"/>
          </a:solidFill>
          <a:ln w="12700">
            <a:solidFill>
              <a:srgbClr val="0B7A6F"/>
            </a:solidFill>
            <a:prstDash val="solid"/>
          </a:ln>
        </p:spPr>
      </p:sp>
      <p:sp>
        <p:nvSpPr>
          <p:cNvPr id="48" name="Text 44"/>
          <p:cNvSpPr txBox="1"/>
          <p:nvPr/>
        </p:nvSpPr>
        <p:spPr>
          <a:xfrm>
            <a:off x="6163056" y="40782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6</a:t>
            </a:r>
            <a:endParaRPr lang="en-US" sz="900" dirty="0"/>
          </a:p>
        </p:txBody>
      </p:sp>
      <p:sp>
        <p:nvSpPr>
          <p:cNvPr id="49" name="Text 45"/>
          <p:cNvSpPr txBox="1"/>
          <p:nvPr/>
        </p:nvSpPr>
        <p:spPr>
          <a:xfrm>
            <a:off x="6537960" y="4023360"/>
            <a:ext cx="210312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Actions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Issue a voucher, or open legacy CRM</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Voucher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In the legacy CRM, the color tells you where the voucher stands.</a:t>
            </a:r>
            <a:endParaRPr lang="en-US" sz="1200" dirty="0"/>
          </a:p>
        </p:txBody>
      </p:sp>
      <p:sp>
        <p:nvSpPr>
          <p:cNvPr id="6" name="Shape 3"/>
          <p:cNvSpPr/>
          <p:nvPr/>
        </p:nvSpPr>
        <p:spPr>
          <a:xfrm>
            <a:off x="411480" y="1325880"/>
            <a:ext cx="2606040" cy="841248"/>
          </a:xfrm>
          <a:prstGeom prst="roundRect">
            <a:avLst>
              <a:gd name="adj" fmla="val 8696"/>
            </a:avLst>
          </a:prstGeom>
          <a:solidFill>
            <a:srgbClr val="FFFFFF"/>
          </a:solidFill>
          <a:ln w="9525">
            <a:solidFill>
              <a:srgbClr val="DCE1E7"/>
            </a:solidFill>
            <a:prstDash val="solid"/>
          </a:ln>
        </p:spPr>
      </p:sp>
      <p:sp>
        <p:nvSpPr>
          <p:cNvPr id="7" name="Shape 4"/>
          <p:cNvSpPr/>
          <p:nvPr/>
        </p:nvSpPr>
        <p:spPr>
          <a:xfrm>
            <a:off x="548640" y="155448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40812" y="1646652"/>
            <a:ext cx="199705" cy="199705"/>
          </a:xfrm>
          <a:prstGeom prst="rect">
            <a:avLst/>
          </a:prstGeom>
        </p:spPr>
      </p:pic>
      <p:sp>
        <p:nvSpPr>
          <p:cNvPr id="9" name="Text 5"/>
          <p:cNvSpPr txBox="1"/>
          <p:nvPr/>
        </p:nvSpPr>
        <p:spPr>
          <a:xfrm>
            <a:off x="1024128" y="1380744"/>
            <a:ext cx="1920240" cy="73152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Unused</a:t>
            </a:r>
            <a:endParaRPr lang="en-US" sz="1200" dirty="0"/>
          </a:p>
          <a:p>
            <a:pPr indent="0" marL="0">
              <a:buNone/>
            </a:pPr>
            <a:r>
              <a:rPr lang="en-US" sz="900" dirty="0">
                <a:solidFill>
                  <a:srgbClr val="6E6E73"/>
                </a:solidFill>
                <a:latin typeface="SF Pro Text" pitchFamily="34" charset="0"/>
                <a:ea typeface="SF Pro Text" pitchFamily="34" charset="-122"/>
                <a:cs typeface="SF Pro Text" pitchFamily="34" charset="-120"/>
              </a:rPr>
              <a:t>Orange tag. Applies to the next invoiced job.</a:t>
            </a:r>
            <a:endParaRPr lang="en-US" sz="1200" dirty="0"/>
          </a:p>
        </p:txBody>
      </p:sp>
      <p:sp>
        <p:nvSpPr>
          <p:cNvPr id="10" name="Shape 6"/>
          <p:cNvSpPr/>
          <p:nvPr/>
        </p:nvSpPr>
        <p:spPr>
          <a:xfrm>
            <a:off x="3127248" y="1325880"/>
            <a:ext cx="5605272" cy="841248"/>
          </a:xfrm>
          <a:prstGeom prst="roundRect">
            <a:avLst>
              <a:gd name="adj" fmla="val 8696"/>
            </a:avLst>
          </a:prstGeom>
          <a:solidFill>
            <a:srgbClr val="FFFFFF"/>
          </a:solidFill>
          <a:ln w="9525">
            <a:solidFill>
              <a:srgbClr val="DCE1E7"/>
            </a:solidFill>
            <a:prstDash val="solid"/>
          </a:ln>
        </p:spPr>
      </p:sp>
      <p:pic>
        <p:nvPicPr>
          <p:cNvPr id="11" name="Image 1" descr="/tmp/claude-0/-workspace-training/3ce5cff6-cccf-5f33-b0ee-0b147a55120e/scratchpad/img3/v_unused.png">    </p:cNvPr>
          <p:cNvPicPr>
            <a:picLocks noChangeAspect="1"/>
          </p:cNvPicPr>
          <p:nvPr/>
        </p:nvPicPr>
        <p:blipFill>
          <a:blip r:embed="rId2"/>
          <a:stretch>
            <a:fillRect/>
          </a:stretch>
        </p:blipFill>
        <p:spPr>
          <a:xfrm>
            <a:off x="3236976" y="1399032"/>
            <a:ext cx="3722234" cy="694944"/>
          </a:xfrm>
          <a:prstGeom prst="rect">
            <a:avLst/>
          </a:prstGeom>
        </p:spPr>
      </p:pic>
      <p:sp>
        <p:nvSpPr>
          <p:cNvPr id="12" name="Shape 7"/>
          <p:cNvSpPr/>
          <p:nvPr/>
        </p:nvSpPr>
        <p:spPr>
          <a:xfrm>
            <a:off x="411480" y="2258568"/>
            <a:ext cx="2606040" cy="841248"/>
          </a:xfrm>
          <a:prstGeom prst="roundRect">
            <a:avLst>
              <a:gd name="adj" fmla="val 8696"/>
            </a:avLst>
          </a:prstGeom>
          <a:solidFill>
            <a:srgbClr val="FFFFFF"/>
          </a:solidFill>
          <a:ln w="9525">
            <a:solidFill>
              <a:srgbClr val="DCE1E7"/>
            </a:solidFill>
            <a:prstDash val="solid"/>
          </a:ln>
        </p:spPr>
      </p:sp>
      <p:sp>
        <p:nvSpPr>
          <p:cNvPr id="13" name="Shape 8"/>
          <p:cNvSpPr/>
          <p:nvPr/>
        </p:nvSpPr>
        <p:spPr>
          <a:xfrm>
            <a:off x="548640" y="2487168"/>
            <a:ext cx="384048" cy="384048"/>
          </a:xfrm>
          <a:prstGeom prst="ellipse">
            <a:avLst/>
          </a:prstGeom>
          <a:solidFill>
            <a:srgbClr val="E3F4F1"/>
          </a:solidFill>
          <a:ln w="12700">
            <a:solidFill>
              <a:srgbClr val="E3F4F1"/>
            </a:solidFill>
            <a:prstDash val="solid"/>
          </a:ln>
        </p:spPr>
      </p:sp>
      <p:pic>
        <p:nvPicPr>
          <p:cNvPr id="14" name="Image 2" descr="preencoded.png">    </p:cNvPr>
          <p:cNvPicPr>
            <a:picLocks noChangeAspect="1"/>
          </p:cNvPicPr>
          <p:nvPr/>
        </p:nvPicPr>
        <p:blipFill>
          <a:blip r:embed="rId3"/>
          <a:stretch>
            <a:fillRect/>
          </a:stretch>
        </p:blipFill>
        <p:spPr>
          <a:xfrm>
            <a:off x="640812" y="2579340"/>
            <a:ext cx="199705" cy="199705"/>
          </a:xfrm>
          <a:prstGeom prst="rect">
            <a:avLst/>
          </a:prstGeom>
        </p:spPr>
      </p:pic>
      <p:sp>
        <p:nvSpPr>
          <p:cNvPr id="15" name="Text 9"/>
          <p:cNvSpPr txBox="1"/>
          <p:nvPr/>
        </p:nvSpPr>
        <p:spPr>
          <a:xfrm>
            <a:off x="1024128" y="2313432"/>
            <a:ext cx="1920240" cy="73152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Applied</a:t>
            </a:r>
            <a:endParaRPr lang="en-US" sz="1200" dirty="0"/>
          </a:p>
          <a:p>
            <a:pPr indent="0" marL="0">
              <a:buNone/>
            </a:pPr>
            <a:r>
              <a:rPr lang="en-US" sz="900" dirty="0">
                <a:solidFill>
                  <a:srgbClr val="6E6E73"/>
                </a:solidFill>
                <a:latin typeface="SF Pro Text" pitchFamily="34" charset="0"/>
                <a:ea typeface="SF Pro Text" pitchFamily="34" charset="-122"/>
                <a:cs typeface="SF Pro Text" pitchFamily="34" charset="-120"/>
              </a:rPr>
              <a:t>Green tag with a check mark, job ID and date.</a:t>
            </a:r>
            <a:endParaRPr lang="en-US" sz="1200" dirty="0"/>
          </a:p>
        </p:txBody>
      </p:sp>
      <p:sp>
        <p:nvSpPr>
          <p:cNvPr id="16" name="Shape 10"/>
          <p:cNvSpPr/>
          <p:nvPr/>
        </p:nvSpPr>
        <p:spPr>
          <a:xfrm>
            <a:off x="3127248" y="2258568"/>
            <a:ext cx="5605272" cy="841248"/>
          </a:xfrm>
          <a:prstGeom prst="roundRect">
            <a:avLst>
              <a:gd name="adj" fmla="val 8696"/>
            </a:avLst>
          </a:prstGeom>
          <a:solidFill>
            <a:srgbClr val="FFFFFF"/>
          </a:solidFill>
          <a:ln w="9525">
            <a:solidFill>
              <a:srgbClr val="DCE1E7"/>
            </a:solidFill>
            <a:prstDash val="solid"/>
          </a:ln>
        </p:spPr>
      </p:sp>
      <p:pic>
        <p:nvPicPr>
          <p:cNvPr id="17" name="Image 3" descr="/tmp/claude-0/-workspace-training/3ce5cff6-cccf-5f33-b0ee-0b147a55120e/scratchpad/img3/v_applied.png">    </p:cNvPr>
          <p:cNvPicPr>
            <a:picLocks noChangeAspect="1"/>
          </p:cNvPicPr>
          <p:nvPr/>
        </p:nvPicPr>
        <p:blipFill>
          <a:blip r:embed="rId4"/>
          <a:stretch>
            <a:fillRect/>
          </a:stretch>
        </p:blipFill>
        <p:spPr>
          <a:xfrm>
            <a:off x="3236976" y="2372079"/>
            <a:ext cx="5394960" cy="614227"/>
          </a:xfrm>
          <a:prstGeom prst="rect">
            <a:avLst/>
          </a:prstGeom>
        </p:spPr>
      </p:pic>
      <p:sp>
        <p:nvSpPr>
          <p:cNvPr id="18" name="Shape 11"/>
          <p:cNvSpPr/>
          <p:nvPr/>
        </p:nvSpPr>
        <p:spPr>
          <a:xfrm>
            <a:off x="411480" y="3191256"/>
            <a:ext cx="2606040" cy="841248"/>
          </a:xfrm>
          <a:prstGeom prst="roundRect">
            <a:avLst>
              <a:gd name="adj" fmla="val 8696"/>
            </a:avLst>
          </a:prstGeom>
          <a:solidFill>
            <a:srgbClr val="FFFFFF"/>
          </a:solidFill>
          <a:ln w="9525">
            <a:solidFill>
              <a:srgbClr val="DCE1E7"/>
            </a:solidFill>
            <a:prstDash val="solid"/>
          </a:ln>
        </p:spPr>
      </p:sp>
      <p:sp>
        <p:nvSpPr>
          <p:cNvPr id="19" name="Shape 12"/>
          <p:cNvSpPr/>
          <p:nvPr/>
        </p:nvSpPr>
        <p:spPr>
          <a:xfrm>
            <a:off x="548640" y="3419856"/>
            <a:ext cx="384048" cy="384048"/>
          </a:xfrm>
          <a:prstGeom prst="ellipse">
            <a:avLst/>
          </a:prstGeom>
          <a:solidFill>
            <a:srgbClr val="E3F4F1"/>
          </a:solidFill>
          <a:ln w="12700">
            <a:solidFill>
              <a:srgbClr val="E3F4F1"/>
            </a:solidFill>
            <a:prstDash val="solid"/>
          </a:ln>
        </p:spPr>
      </p:sp>
      <p:pic>
        <p:nvPicPr>
          <p:cNvPr id="20" name="Image 4" descr="preencoded.png">    </p:cNvPr>
          <p:cNvPicPr>
            <a:picLocks noChangeAspect="1"/>
          </p:cNvPicPr>
          <p:nvPr/>
        </p:nvPicPr>
        <p:blipFill>
          <a:blip r:embed="rId5"/>
          <a:stretch>
            <a:fillRect/>
          </a:stretch>
        </p:blipFill>
        <p:spPr>
          <a:xfrm>
            <a:off x="640812" y="3512028"/>
            <a:ext cx="199705" cy="199705"/>
          </a:xfrm>
          <a:prstGeom prst="rect">
            <a:avLst/>
          </a:prstGeom>
        </p:spPr>
      </p:pic>
      <p:sp>
        <p:nvSpPr>
          <p:cNvPr id="21" name="Text 13"/>
          <p:cNvSpPr txBox="1"/>
          <p:nvPr/>
        </p:nvSpPr>
        <p:spPr>
          <a:xfrm>
            <a:off x="1024128" y="3246120"/>
            <a:ext cx="1920240" cy="73152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Grayed out</a:t>
            </a:r>
            <a:endParaRPr lang="en-US" sz="1200" dirty="0"/>
          </a:p>
          <a:p>
            <a:pPr indent="0" marL="0">
              <a:buNone/>
            </a:pPr>
            <a:r>
              <a:rPr lang="en-US" sz="900" dirty="0">
                <a:solidFill>
                  <a:srgbClr val="6E6E73"/>
                </a:solidFill>
                <a:latin typeface="SF Pro Text" pitchFamily="34" charset="0"/>
                <a:ea typeface="SF Pro Text" pitchFamily="34" charset="-122"/>
                <a:cs typeface="SF Pro Text" pitchFamily="34" charset="-120"/>
              </a:rPr>
              <a:t>Canceled, invalidated, converted or expired. Reason next to the code.</a:t>
            </a:r>
            <a:endParaRPr lang="en-US" sz="1200" dirty="0"/>
          </a:p>
        </p:txBody>
      </p:sp>
      <p:sp>
        <p:nvSpPr>
          <p:cNvPr id="22" name="Shape 14"/>
          <p:cNvSpPr/>
          <p:nvPr/>
        </p:nvSpPr>
        <p:spPr>
          <a:xfrm>
            <a:off x="3127248" y="3191256"/>
            <a:ext cx="5605272" cy="841248"/>
          </a:xfrm>
          <a:prstGeom prst="roundRect">
            <a:avLst>
              <a:gd name="adj" fmla="val 8696"/>
            </a:avLst>
          </a:prstGeom>
          <a:solidFill>
            <a:srgbClr val="FFFFFF"/>
          </a:solidFill>
          <a:ln w="9525">
            <a:solidFill>
              <a:srgbClr val="DCE1E7"/>
            </a:solidFill>
            <a:prstDash val="solid"/>
          </a:ln>
        </p:spPr>
      </p:sp>
      <p:pic>
        <p:nvPicPr>
          <p:cNvPr id="23" name="Image 5" descr="/tmp/claude-0/-workspace-training/3ce5cff6-cccf-5f33-b0ee-0b147a55120e/scratchpad/img3/v_grayed.png">    </p:cNvPr>
          <p:cNvPicPr>
            <a:picLocks noChangeAspect="1"/>
          </p:cNvPicPr>
          <p:nvPr/>
        </p:nvPicPr>
        <p:blipFill>
          <a:blip r:embed="rId6"/>
          <a:stretch>
            <a:fillRect/>
          </a:stretch>
        </p:blipFill>
        <p:spPr>
          <a:xfrm>
            <a:off x="3236976" y="3264408"/>
            <a:ext cx="4552387" cy="694944"/>
          </a:xfrm>
          <a:prstGeom prst="rect">
            <a:avLst/>
          </a:prstGeom>
        </p:spPr>
      </p:pic>
      <p:sp>
        <p:nvSpPr>
          <p:cNvPr id="24" name="Shape 15"/>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5" name="Image 6" descr="preencoded.png">    </p:cNvPr>
          <p:cNvPicPr>
            <a:picLocks noChangeAspect="1"/>
          </p:cNvPicPr>
          <p:nvPr/>
        </p:nvPicPr>
        <p:blipFill>
          <a:blip r:embed="rId7"/>
          <a:stretch>
            <a:fillRect/>
          </a:stretch>
        </p:blipFill>
        <p:spPr>
          <a:xfrm>
            <a:off x="566928" y="4315968"/>
            <a:ext cx="164592" cy="164592"/>
          </a:xfrm>
          <a:prstGeom prst="rect">
            <a:avLst/>
          </a:prstGeom>
        </p:spPr>
      </p:pic>
      <p:sp>
        <p:nvSpPr>
          <p:cNvPr id="26" name="Text 16"/>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Converted?  </a:t>
            </a:r>
            <a:pPr indent="0" marL="0">
              <a:buNone/>
            </a:pPr>
            <a:r>
              <a:rPr lang="en-US" sz="1000" dirty="0">
                <a:solidFill>
                  <a:srgbClr val="1D1D1F"/>
                </a:solidFill>
                <a:latin typeface="SF Pro Text" pitchFamily="34" charset="0"/>
                <a:ea typeface="SF Pro Text" pitchFamily="34" charset="-122"/>
                <a:cs typeface="SF Pro Text" pitchFamily="34" charset="-120"/>
              </a:rPr>
              <a:t>the voucher was turned into credits equal to what the customer paid for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Voucher types at a glance</a:t>
            </a:r>
            <a:endParaRPr lang="en-US" sz="2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11480" y="1097280"/>
          <a:ext cx="8321040" cy="914400"/>
        </p:xfrm>
        <a:graphic>
          <a:graphicData uri="http://schemas.openxmlformats.org/drawingml/2006/table">
            <a:tbl>
              <a:tblPr/>
              <a:tblGrid>
                <a:gridCol w="1691640"/>
                <a:gridCol w="1417320"/>
                <a:gridCol w="1097280"/>
                <a:gridCol w="1920240"/>
                <a:gridCol w="914400"/>
                <a:gridCol w="1280160"/>
              </a:tblGrid>
              <a:tr h="329184">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Type</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Comes from</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Invalidate?</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Refund?</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Expires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To credits?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DHJ</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Customer purchase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(Dashboard ≤1 yr,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Never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2nd DHJ</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DHJ Gift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Referral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90 days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First-Time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System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Never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N/A</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Third-party (Groupon)</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Customer purchase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90 days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on expiry</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CP Offer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Cleaner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30 days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After Nth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System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3 months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HG 2nd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Customer purchase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 year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Admin Courtesy</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CS / System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60 days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Homeaglow Gift Card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Customer purchase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 (CRM)</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Yes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2 years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Types you'll see most</a:t>
            </a:r>
            <a:endParaRPr lang="en-US" sz="2400" dirty="0"/>
          </a:p>
        </p:txBody>
      </p:sp>
      <p:sp>
        <p:nvSpPr>
          <p:cNvPr id="5" name="Shape 2"/>
          <p:cNvSpPr/>
          <p:nvPr/>
        </p:nvSpPr>
        <p:spPr>
          <a:xfrm>
            <a:off x="411480" y="1143000"/>
            <a:ext cx="2682240" cy="1645920"/>
          </a:xfrm>
          <a:prstGeom prst="roundRect">
            <a:avLst>
              <a:gd name="adj" fmla="val 4444"/>
            </a:avLst>
          </a:prstGeom>
          <a:solidFill>
            <a:srgbClr val="FFFFFF"/>
          </a:solidFill>
          <a:ln w="9525">
            <a:solidFill>
              <a:srgbClr val="DCE1E7"/>
            </a:solidFill>
            <a:prstDash val="solid"/>
          </a:ln>
        </p:spPr>
      </p:sp>
      <p:sp>
        <p:nvSpPr>
          <p:cNvPr id="6" name="Shape 3"/>
          <p:cNvSpPr/>
          <p:nvPr/>
        </p:nvSpPr>
        <p:spPr>
          <a:xfrm>
            <a:off x="576072" y="130759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386596"/>
            <a:ext cx="171176" cy="171176"/>
          </a:xfrm>
          <a:prstGeom prst="rect">
            <a:avLst/>
          </a:prstGeom>
        </p:spPr>
      </p:pic>
      <p:sp>
        <p:nvSpPr>
          <p:cNvPr id="8" name="Text 4"/>
          <p:cNvSpPr txBox="1"/>
          <p:nvPr/>
        </p:nvSpPr>
        <p:spPr>
          <a:xfrm>
            <a:off x="576072" y="17465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Free DHJ</a:t>
            </a:r>
            <a:endParaRPr lang="en-US" sz="1200" dirty="0"/>
          </a:p>
        </p:txBody>
      </p:sp>
      <p:sp>
        <p:nvSpPr>
          <p:cNvPr id="9" name="Text 5"/>
          <p:cNvSpPr txBox="1"/>
          <p:nvPr/>
        </p:nvSpPr>
        <p:spPr>
          <a:xfrm>
            <a:off x="576072" y="2039112"/>
            <a:ext cx="23530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$19 MF at sign-up, free 3-hr voucher, no price shown.</a:t>
            </a:r>
            <a:endParaRPr lang="en-US" sz="950" dirty="0"/>
          </a:p>
        </p:txBody>
      </p:sp>
      <p:sp>
        <p:nvSpPr>
          <p:cNvPr id="10" name="Shape 6"/>
          <p:cNvSpPr/>
          <p:nvPr/>
        </p:nvSpPr>
        <p:spPr>
          <a:xfrm>
            <a:off x="3230880" y="1143000"/>
            <a:ext cx="2682240" cy="1645920"/>
          </a:xfrm>
          <a:prstGeom prst="roundRect">
            <a:avLst>
              <a:gd name="adj" fmla="val 4444"/>
            </a:avLst>
          </a:prstGeom>
          <a:solidFill>
            <a:srgbClr val="FFFFFF"/>
          </a:solidFill>
          <a:ln w="9525">
            <a:solidFill>
              <a:srgbClr val="DCE1E7"/>
            </a:solidFill>
            <a:prstDash val="solid"/>
          </a:ln>
        </p:spPr>
      </p:sp>
      <p:sp>
        <p:nvSpPr>
          <p:cNvPr id="11" name="Shape 7"/>
          <p:cNvSpPr/>
          <p:nvPr/>
        </p:nvSpPr>
        <p:spPr>
          <a:xfrm>
            <a:off x="3395472" y="130759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386596"/>
            <a:ext cx="171176" cy="171176"/>
          </a:xfrm>
          <a:prstGeom prst="rect">
            <a:avLst/>
          </a:prstGeom>
        </p:spPr>
      </p:pic>
      <p:sp>
        <p:nvSpPr>
          <p:cNvPr id="13" name="Text 8"/>
          <p:cNvSpPr txBox="1"/>
          <p:nvPr/>
        </p:nvSpPr>
        <p:spPr>
          <a:xfrm>
            <a:off x="3395472" y="17465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DHJ Gift</a:t>
            </a:r>
            <a:endParaRPr lang="en-US" sz="1200" dirty="0"/>
          </a:p>
        </p:txBody>
      </p:sp>
      <p:sp>
        <p:nvSpPr>
          <p:cNvPr id="14" name="Text 9"/>
          <p:cNvSpPr txBox="1"/>
          <p:nvPr/>
        </p:nvSpPr>
        <p:spPr>
          <a:xfrm>
            <a:off x="3395472" y="2039112"/>
            <a:ext cx="23530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Single use. Triggers FC. Expires in 90 days.</a:t>
            </a:r>
            <a:endParaRPr lang="en-US" sz="950" dirty="0"/>
          </a:p>
        </p:txBody>
      </p:sp>
      <p:sp>
        <p:nvSpPr>
          <p:cNvPr id="15" name="Shape 10"/>
          <p:cNvSpPr/>
          <p:nvPr/>
        </p:nvSpPr>
        <p:spPr>
          <a:xfrm>
            <a:off x="6050280" y="1143000"/>
            <a:ext cx="2682240" cy="1645920"/>
          </a:xfrm>
          <a:prstGeom prst="roundRect">
            <a:avLst>
              <a:gd name="adj" fmla="val 4444"/>
            </a:avLst>
          </a:prstGeom>
          <a:solidFill>
            <a:srgbClr val="FFFFFF"/>
          </a:solidFill>
          <a:ln w="9525">
            <a:solidFill>
              <a:srgbClr val="DCE1E7"/>
            </a:solidFill>
            <a:prstDash val="solid"/>
          </a:ln>
        </p:spPr>
      </p:sp>
      <p:sp>
        <p:nvSpPr>
          <p:cNvPr id="16" name="Shape 11"/>
          <p:cNvSpPr/>
          <p:nvPr/>
        </p:nvSpPr>
        <p:spPr>
          <a:xfrm>
            <a:off x="6214872" y="130759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386596"/>
            <a:ext cx="171176" cy="171176"/>
          </a:xfrm>
          <a:prstGeom prst="rect">
            <a:avLst/>
          </a:prstGeom>
        </p:spPr>
      </p:pic>
      <p:sp>
        <p:nvSpPr>
          <p:cNvPr id="18" name="Text 12"/>
          <p:cNvSpPr txBox="1"/>
          <p:nvPr/>
        </p:nvSpPr>
        <p:spPr>
          <a:xfrm>
            <a:off x="6214872" y="17465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Third-party (Groupon)</a:t>
            </a:r>
            <a:endParaRPr lang="en-US" sz="1200" dirty="0"/>
          </a:p>
        </p:txBody>
      </p:sp>
      <p:sp>
        <p:nvSpPr>
          <p:cNvPr id="19" name="Text 13"/>
          <p:cNvSpPr txBox="1"/>
          <p:nvPr/>
        </p:nvSpPr>
        <p:spPr>
          <a:xfrm>
            <a:off x="6214872" y="2039112"/>
            <a:ext cx="23530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Can't be split. Converts to credits on expiry.</a:t>
            </a:r>
            <a:endParaRPr lang="en-US" sz="950" dirty="0"/>
          </a:p>
        </p:txBody>
      </p:sp>
      <p:sp>
        <p:nvSpPr>
          <p:cNvPr id="20" name="Shape 14"/>
          <p:cNvSpPr/>
          <p:nvPr/>
        </p:nvSpPr>
        <p:spPr>
          <a:xfrm>
            <a:off x="411480" y="2926080"/>
            <a:ext cx="2682240" cy="1645920"/>
          </a:xfrm>
          <a:prstGeom prst="roundRect">
            <a:avLst>
              <a:gd name="adj" fmla="val 4444"/>
            </a:avLst>
          </a:prstGeom>
          <a:solidFill>
            <a:srgbClr val="FFFFFF"/>
          </a:solidFill>
          <a:ln w="9525">
            <a:solidFill>
              <a:srgbClr val="DCE1E7"/>
            </a:solidFill>
            <a:prstDash val="solid"/>
          </a:ln>
        </p:spPr>
      </p:sp>
      <p:sp>
        <p:nvSpPr>
          <p:cNvPr id="21" name="Shape 15"/>
          <p:cNvSpPr/>
          <p:nvPr/>
        </p:nvSpPr>
        <p:spPr>
          <a:xfrm>
            <a:off x="576072" y="309067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55076" y="3169676"/>
            <a:ext cx="171176" cy="171176"/>
          </a:xfrm>
          <a:prstGeom prst="rect">
            <a:avLst/>
          </a:prstGeom>
        </p:spPr>
      </p:pic>
      <p:sp>
        <p:nvSpPr>
          <p:cNvPr id="23" name="Text 16"/>
          <p:cNvSpPr txBox="1"/>
          <p:nvPr/>
        </p:nvSpPr>
        <p:spPr>
          <a:xfrm>
            <a:off x="576072" y="35295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Offer</a:t>
            </a:r>
            <a:endParaRPr lang="en-US" sz="1200" dirty="0"/>
          </a:p>
        </p:txBody>
      </p:sp>
      <p:sp>
        <p:nvSpPr>
          <p:cNvPr id="24" name="Text 17"/>
          <p:cNvSpPr txBox="1"/>
          <p:nvPr/>
        </p:nvSpPr>
        <p:spPr>
          <a:xfrm>
            <a:off x="576072" y="3822192"/>
            <a:ext cx="23530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Up to 30 min off. Claim in 2 days, use in 30.</a:t>
            </a:r>
            <a:endParaRPr lang="en-US" sz="950" dirty="0"/>
          </a:p>
        </p:txBody>
      </p:sp>
      <p:sp>
        <p:nvSpPr>
          <p:cNvPr id="25" name="Shape 18"/>
          <p:cNvSpPr/>
          <p:nvPr/>
        </p:nvSpPr>
        <p:spPr>
          <a:xfrm>
            <a:off x="3230880" y="2926080"/>
            <a:ext cx="2682240" cy="1645920"/>
          </a:xfrm>
          <a:prstGeom prst="roundRect">
            <a:avLst>
              <a:gd name="adj" fmla="val 4444"/>
            </a:avLst>
          </a:prstGeom>
          <a:solidFill>
            <a:srgbClr val="FFFFFF"/>
          </a:solidFill>
          <a:ln w="9525">
            <a:solidFill>
              <a:srgbClr val="DCE1E7"/>
            </a:solidFill>
            <a:prstDash val="solid"/>
          </a:ln>
        </p:spPr>
      </p:sp>
      <p:sp>
        <p:nvSpPr>
          <p:cNvPr id="26" name="Shape 19"/>
          <p:cNvSpPr/>
          <p:nvPr/>
        </p:nvSpPr>
        <p:spPr>
          <a:xfrm>
            <a:off x="3395472" y="3090672"/>
            <a:ext cx="329184" cy="329184"/>
          </a:xfrm>
          <a:prstGeom prst="ellipse">
            <a:avLst/>
          </a:prstGeom>
          <a:solidFill>
            <a:srgbClr val="E3F4F1"/>
          </a:solidFill>
          <a:ln w="12700">
            <a:solidFill>
              <a:srgbClr val="E3F4F1"/>
            </a:solidFill>
            <a:prstDash val="solid"/>
          </a:ln>
        </p:spPr>
      </p:sp>
      <p:pic>
        <p:nvPicPr>
          <p:cNvPr id="27" name="Image 4" descr="preencoded.png">    </p:cNvPr>
          <p:cNvPicPr>
            <a:picLocks noChangeAspect="1"/>
          </p:cNvPicPr>
          <p:nvPr/>
        </p:nvPicPr>
        <p:blipFill>
          <a:blip r:embed="rId5"/>
          <a:stretch>
            <a:fillRect/>
          </a:stretch>
        </p:blipFill>
        <p:spPr>
          <a:xfrm>
            <a:off x="3474476" y="3169676"/>
            <a:ext cx="171176" cy="171176"/>
          </a:xfrm>
          <a:prstGeom prst="rect">
            <a:avLst/>
          </a:prstGeom>
        </p:spPr>
      </p:pic>
      <p:sp>
        <p:nvSpPr>
          <p:cNvPr id="28" name="Text 20"/>
          <p:cNvSpPr txBox="1"/>
          <p:nvPr/>
        </p:nvSpPr>
        <p:spPr>
          <a:xfrm>
            <a:off x="3395472" y="35295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Admin Courtesy</a:t>
            </a:r>
            <a:endParaRPr lang="en-US" sz="1200" dirty="0"/>
          </a:p>
        </p:txBody>
      </p:sp>
      <p:sp>
        <p:nvSpPr>
          <p:cNvPr id="29" name="Text 21"/>
          <p:cNvSpPr txBox="1"/>
          <p:nvPr/>
        </p:nvSpPr>
        <p:spPr>
          <a:xfrm>
            <a:off x="3395472" y="3822192"/>
            <a:ext cx="23530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Issued by CS or the system. Lasts 60 days.</a:t>
            </a:r>
            <a:endParaRPr lang="en-US" sz="950" dirty="0"/>
          </a:p>
        </p:txBody>
      </p:sp>
      <p:sp>
        <p:nvSpPr>
          <p:cNvPr id="30" name="Shape 22"/>
          <p:cNvSpPr/>
          <p:nvPr/>
        </p:nvSpPr>
        <p:spPr>
          <a:xfrm>
            <a:off x="6050280" y="2926080"/>
            <a:ext cx="2682240" cy="1645920"/>
          </a:xfrm>
          <a:prstGeom prst="roundRect">
            <a:avLst>
              <a:gd name="adj" fmla="val 4444"/>
            </a:avLst>
          </a:prstGeom>
          <a:solidFill>
            <a:srgbClr val="FFFFFF"/>
          </a:solidFill>
          <a:ln w="9525">
            <a:solidFill>
              <a:srgbClr val="DCE1E7"/>
            </a:solidFill>
            <a:prstDash val="solid"/>
          </a:ln>
        </p:spPr>
      </p:sp>
      <p:sp>
        <p:nvSpPr>
          <p:cNvPr id="31" name="Shape 23"/>
          <p:cNvSpPr/>
          <p:nvPr/>
        </p:nvSpPr>
        <p:spPr>
          <a:xfrm>
            <a:off x="6214872" y="3090672"/>
            <a:ext cx="329184" cy="329184"/>
          </a:xfrm>
          <a:prstGeom prst="ellipse">
            <a:avLst/>
          </a:prstGeom>
          <a:solidFill>
            <a:srgbClr val="E3F4F1"/>
          </a:solidFill>
          <a:ln w="12700">
            <a:solidFill>
              <a:srgbClr val="E3F4F1"/>
            </a:solidFill>
            <a:prstDash val="solid"/>
          </a:ln>
        </p:spPr>
      </p:sp>
      <p:pic>
        <p:nvPicPr>
          <p:cNvPr id="32" name="Image 5" descr="preencoded.png">    </p:cNvPr>
          <p:cNvPicPr>
            <a:picLocks noChangeAspect="1"/>
          </p:cNvPicPr>
          <p:nvPr/>
        </p:nvPicPr>
        <p:blipFill>
          <a:blip r:embed="rId6"/>
          <a:stretch>
            <a:fillRect/>
          </a:stretch>
        </p:blipFill>
        <p:spPr>
          <a:xfrm>
            <a:off x="6293876" y="3169676"/>
            <a:ext cx="171176" cy="171176"/>
          </a:xfrm>
          <a:prstGeom prst="rect">
            <a:avLst/>
          </a:prstGeom>
        </p:spPr>
      </p:pic>
      <p:sp>
        <p:nvSpPr>
          <p:cNvPr id="33" name="Text 24"/>
          <p:cNvSpPr txBox="1"/>
          <p:nvPr/>
        </p:nvSpPr>
        <p:spPr>
          <a:xfrm>
            <a:off x="6214872" y="35295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Homeaglow Gift Card</a:t>
            </a:r>
            <a:endParaRPr lang="en-US" sz="1200" dirty="0"/>
          </a:p>
        </p:txBody>
      </p:sp>
      <p:sp>
        <p:nvSpPr>
          <p:cNvPr id="34" name="Text 25"/>
          <p:cNvSpPr txBox="1"/>
          <p:nvPr/>
        </p:nvSpPr>
        <p:spPr>
          <a:xfrm>
            <a:off x="6214872" y="3822192"/>
            <a:ext cx="23530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Does not trigger FC. Valid for 2 years.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a customer wants a refund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Always find and fix the reason first.</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1920240"/>
                <a:gridCol w="3291840"/>
                <a:gridCol w="3108960"/>
              </a:tblGrid>
              <a:tr h="566928">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Voucher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First response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If they ask again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Groupon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Fix the reason, send self-refund steps (comms kit macro)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Invalidate the voucher so Groupon can refund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Second brand voucher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Fix the reason, encourage them to keep it, send the self-refund link</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C CRM › Do › Voucher › Refund › 2nd Voucher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Homeaglow Gift Card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Fix the reason. Valid for 2 years, code is in the confirmation email</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Escalate to your CSQ sheet for a Stripe refund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04488"/>
            <a:ext cx="164592" cy="164592"/>
          </a:xfrm>
          <a:prstGeom prst="rect">
            <a:avLst/>
          </a:prstGeom>
        </p:spPr>
      </p:pic>
      <p:sp>
        <p:nvSpPr>
          <p:cNvPr id="9" name="Text 4"/>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Groupon:  </a:t>
            </a:r>
            <a:pPr indent="0" marL="0">
              <a:buNone/>
            </a:pPr>
            <a:r>
              <a:rPr lang="en-US" sz="1000" dirty="0">
                <a:solidFill>
                  <a:srgbClr val="1D1D1F"/>
                </a:solidFill>
                <a:latin typeface="SF Pro Text" pitchFamily="34" charset="0"/>
                <a:ea typeface="SF Pro Text" pitchFamily="34" charset="-122"/>
                <a:cs typeface="SF Pro Text" pitchFamily="34" charset="-120"/>
              </a:rPr>
              <a:t>invalidate the voucher, or Groupon may not be able to refund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VOUCHERS IN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system handles combos</a:t>
            </a:r>
            <a:endParaRPr lang="en-US" sz="2400" dirty="0"/>
          </a:p>
        </p:txBody>
      </p:sp>
      <p:sp>
        <p:nvSpPr>
          <p:cNvPr id="5" name="Shape 2"/>
          <p:cNvSpPr/>
          <p:nvPr/>
        </p:nvSpPr>
        <p:spPr>
          <a:xfrm>
            <a:off x="411480" y="1143000"/>
            <a:ext cx="4091940" cy="960120"/>
          </a:xfrm>
          <a:prstGeom prst="roundRect">
            <a:avLst>
              <a:gd name="adj" fmla="val 7619"/>
            </a:avLst>
          </a:prstGeom>
          <a:solidFill>
            <a:srgbClr val="FFFFFF"/>
          </a:solidFill>
          <a:ln w="9525">
            <a:solidFill>
              <a:srgbClr val="DCE1E7"/>
            </a:solidFill>
            <a:prstDash val="solid"/>
          </a:ln>
        </p:spPr>
      </p:sp>
      <p:sp>
        <p:nvSpPr>
          <p:cNvPr id="6" name="Shape 3"/>
          <p:cNvSpPr/>
          <p:nvPr/>
        </p:nvSpPr>
        <p:spPr>
          <a:xfrm>
            <a:off x="576072" y="1417320"/>
            <a:ext cx="384048" cy="3840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68244" y="1509492"/>
            <a:ext cx="199705" cy="199705"/>
          </a:xfrm>
          <a:prstGeom prst="rect">
            <a:avLst/>
          </a:prstGeom>
        </p:spPr>
      </p:pic>
      <p:sp>
        <p:nvSpPr>
          <p:cNvPr id="8" name="Text 4"/>
          <p:cNvSpPr txBox="1"/>
          <p:nvPr/>
        </p:nvSpPr>
        <p:spPr>
          <a:xfrm>
            <a:off x="1124712" y="1234440"/>
            <a:ext cx="3223260" cy="77724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Groupons</a:t>
            </a:r>
            <a:endParaRPr lang="en-US" sz="1200" dirty="0"/>
          </a:p>
          <a:p>
            <a:pPr indent="0" marL="0">
              <a:buNone/>
            </a:pPr>
            <a:r>
              <a:rPr lang="en-US" sz="1000" dirty="0">
                <a:solidFill>
                  <a:srgbClr val="6E6E73"/>
                </a:solidFill>
                <a:latin typeface="SF Pro Text" pitchFamily="34" charset="0"/>
                <a:ea typeface="SF Pro Text" pitchFamily="34" charset="-122"/>
                <a:cs typeface="SF Pro Text" pitchFamily="34" charset="-120"/>
              </a:rPr>
              <a:t>The second one converts to credits.</a:t>
            </a:r>
            <a:endParaRPr lang="en-US" sz="1200" dirty="0"/>
          </a:p>
        </p:txBody>
      </p:sp>
      <p:sp>
        <p:nvSpPr>
          <p:cNvPr id="9" name="Shape 5"/>
          <p:cNvSpPr/>
          <p:nvPr/>
        </p:nvSpPr>
        <p:spPr>
          <a:xfrm>
            <a:off x="4640580" y="1143000"/>
            <a:ext cx="4091940" cy="960120"/>
          </a:xfrm>
          <a:prstGeom prst="roundRect">
            <a:avLst>
              <a:gd name="adj" fmla="val 7619"/>
            </a:avLst>
          </a:prstGeom>
          <a:solidFill>
            <a:srgbClr val="FFFFFF"/>
          </a:solidFill>
          <a:ln w="9525">
            <a:solidFill>
              <a:srgbClr val="DCE1E7"/>
            </a:solidFill>
            <a:prstDash val="solid"/>
          </a:ln>
        </p:spPr>
      </p:sp>
      <p:sp>
        <p:nvSpPr>
          <p:cNvPr id="10" name="Shape 6"/>
          <p:cNvSpPr/>
          <p:nvPr/>
        </p:nvSpPr>
        <p:spPr>
          <a:xfrm>
            <a:off x="4805172" y="1417320"/>
            <a:ext cx="384048" cy="384048"/>
          </a:xfrm>
          <a:prstGeom prst="ellipse">
            <a:avLst/>
          </a:prstGeom>
          <a:solidFill>
            <a:srgbClr val="E3F4F1"/>
          </a:solidFill>
          <a:ln w="12700">
            <a:solidFill>
              <a:srgbClr val="E3F4F1"/>
            </a:solidFill>
            <a:prstDash val="solid"/>
          </a:ln>
        </p:spPr>
      </p:sp>
      <p:pic>
        <p:nvPicPr>
          <p:cNvPr id="11" name="Image 1" descr="preencoded.png">    </p:cNvPr>
          <p:cNvPicPr>
            <a:picLocks noChangeAspect="1"/>
          </p:cNvPicPr>
          <p:nvPr/>
        </p:nvPicPr>
        <p:blipFill>
          <a:blip r:embed="rId2"/>
          <a:stretch>
            <a:fillRect/>
          </a:stretch>
        </p:blipFill>
        <p:spPr>
          <a:xfrm>
            <a:off x="4897344" y="1509492"/>
            <a:ext cx="199705" cy="199705"/>
          </a:xfrm>
          <a:prstGeom prst="rect">
            <a:avLst/>
          </a:prstGeom>
        </p:spPr>
      </p:pic>
      <p:sp>
        <p:nvSpPr>
          <p:cNvPr id="12" name="Text 7"/>
          <p:cNvSpPr txBox="1"/>
          <p:nvPr/>
        </p:nvSpPr>
        <p:spPr>
          <a:xfrm>
            <a:off x="5353812" y="1234440"/>
            <a:ext cx="3223260" cy="77724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Short job on a Groupon</a:t>
            </a:r>
            <a:endParaRPr lang="en-US" sz="1200" dirty="0"/>
          </a:p>
          <a:p>
            <a:pPr indent="0" marL="0">
              <a:buNone/>
            </a:pPr>
            <a:r>
              <a:rPr lang="en-US" sz="1000" dirty="0">
                <a:solidFill>
                  <a:srgbClr val="6E6E73"/>
                </a:solidFill>
                <a:latin typeface="SF Pro Text" pitchFamily="34" charset="0"/>
                <a:ea typeface="SF Pro Text" pitchFamily="34" charset="-122"/>
                <a:cs typeface="SF Pro Text" pitchFamily="34" charset="-120"/>
              </a:rPr>
              <a:t>No courtesy voucher for the unused hours.</a:t>
            </a:r>
            <a:endParaRPr lang="en-US" sz="1200" dirty="0"/>
          </a:p>
        </p:txBody>
      </p:sp>
      <p:sp>
        <p:nvSpPr>
          <p:cNvPr id="13" name="Shape 8"/>
          <p:cNvSpPr/>
          <p:nvPr/>
        </p:nvSpPr>
        <p:spPr>
          <a:xfrm>
            <a:off x="411480" y="2240280"/>
            <a:ext cx="4091940" cy="960120"/>
          </a:xfrm>
          <a:prstGeom prst="roundRect">
            <a:avLst>
              <a:gd name="adj" fmla="val 7619"/>
            </a:avLst>
          </a:prstGeom>
          <a:solidFill>
            <a:srgbClr val="FFFFFF"/>
          </a:solidFill>
          <a:ln w="9525">
            <a:solidFill>
              <a:srgbClr val="DCE1E7"/>
            </a:solidFill>
            <a:prstDash val="solid"/>
          </a:ln>
        </p:spPr>
      </p:sp>
      <p:sp>
        <p:nvSpPr>
          <p:cNvPr id="14" name="Shape 9"/>
          <p:cNvSpPr/>
          <p:nvPr/>
        </p:nvSpPr>
        <p:spPr>
          <a:xfrm>
            <a:off x="576072" y="2514600"/>
            <a:ext cx="384048" cy="384048"/>
          </a:xfrm>
          <a:prstGeom prst="ellipse">
            <a:avLst/>
          </a:prstGeom>
          <a:solidFill>
            <a:srgbClr val="E3F4F1"/>
          </a:solidFill>
          <a:ln w="12700">
            <a:solidFill>
              <a:srgbClr val="E3F4F1"/>
            </a:solidFill>
            <a:prstDash val="solid"/>
          </a:ln>
        </p:spPr>
      </p:sp>
      <p:pic>
        <p:nvPicPr>
          <p:cNvPr id="15" name="Image 2" descr="preencoded.png">    </p:cNvPr>
          <p:cNvPicPr>
            <a:picLocks noChangeAspect="1"/>
          </p:cNvPicPr>
          <p:nvPr/>
        </p:nvPicPr>
        <p:blipFill>
          <a:blip r:embed="rId3"/>
          <a:stretch>
            <a:fillRect/>
          </a:stretch>
        </p:blipFill>
        <p:spPr>
          <a:xfrm>
            <a:off x="668244" y="2606772"/>
            <a:ext cx="199705" cy="199705"/>
          </a:xfrm>
          <a:prstGeom prst="rect">
            <a:avLst/>
          </a:prstGeom>
        </p:spPr>
      </p:pic>
      <p:sp>
        <p:nvSpPr>
          <p:cNvPr id="16" name="Text 10"/>
          <p:cNvSpPr txBox="1"/>
          <p:nvPr/>
        </p:nvSpPr>
        <p:spPr>
          <a:xfrm>
            <a:off x="1124712" y="2331720"/>
            <a:ext cx="3223260" cy="77724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DHJ or FC, then Groupon</a:t>
            </a:r>
            <a:endParaRPr lang="en-US" sz="1200" dirty="0"/>
          </a:p>
          <a:p>
            <a:pPr indent="0" marL="0">
              <a:buNone/>
            </a:pPr>
            <a:r>
              <a:rPr lang="en-US" sz="1000" dirty="0">
                <a:solidFill>
                  <a:srgbClr val="6E6E73"/>
                </a:solidFill>
                <a:latin typeface="SF Pro Text" pitchFamily="34" charset="0"/>
                <a:ea typeface="SF Pro Text" pitchFamily="34" charset="-122"/>
                <a:cs typeface="SF Pro Text" pitchFamily="34" charset="-120"/>
              </a:rPr>
              <a:t>The Groupon converts to credits.</a:t>
            </a:r>
            <a:endParaRPr lang="en-US" sz="1200" dirty="0"/>
          </a:p>
        </p:txBody>
      </p:sp>
      <p:sp>
        <p:nvSpPr>
          <p:cNvPr id="17" name="Shape 11"/>
          <p:cNvSpPr/>
          <p:nvPr/>
        </p:nvSpPr>
        <p:spPr>
          <a:xfrm>
            <a:off x="4640580" y="2240280"/>
            <a:ext cx="4091940" cy="960120"/>
          </a:xfrm>
          <a:prstGeom prst="roundRect">
            <a:avLst>
              <a:gd name="adj" fmla="val 7619"/>
            </a:avLst>
          </a:prstGeom>
          <a:solidFill>
            <a:srgbClr val="FFFFFF"/>
          </a:solidFill>
          <a:ln w="9525">
            <a:solidFill>
              <a:srgbClr val="DCE1E7"/>
            </a:solidFill>
            <a:prstDash val="solid"/>
          </a:ln>
        </p:spPr>
      </p:sp>
      <p:sp>
        <p:nvSpPr>
          <p:cNvPr id="18" name="Shape 12"/>
          <p:cNvSpPr/>
          <p:nvPr/>
        </p:nvSpPr>
        <p:spPr>
          <a:xfrm>
            <a:off x="4805172" y="2514600"/>
            <a:ext cx="384048" cy="384048"/>
          </a:xfrm>
          <a:prstGeom prst="ellipse">
            <a:avLst/>
          </a:prstGeom>
          <a:solidFill>
            <a:srgbClr val="E3F4F1"/>
          </a:solidFill>
          <a:ln w="12700">
            <a:solidFill>
              <a:srgbClr val="E3F4F1"/>
            </a:solidFill>
            <a:prstDash val="solid"/>
          </a:ln>
        </p:spPr>
      </p:sp>
      <p:pic>
        <p:nvPicPr>
          <p:cNvPr id="19" name="Image 3" descr="preencoded.png">    </p:cNvPr>
          <p:cNvPicPr>
            <a:picLocks noChangeAspect="1"/>
          </p:cNvPicPr>
          <p:nvPr/>
        </p:nvPicPr>
        <p:blipFill>
          <a:blip r:embed="rId4"/>
          <a:stretch>
            <a:fillRect/>
          </a:stretch>
        </p:blipFill>
        <p:spPr>
          <a:xfrm>
            <a:off x="4897344" y="2606772"/>
            <a:ext cx="199705" cy="199705"/>
          </a:xfrm>
          <a:prstGeom prst="rect">
            <a:avLst/>
          </a:prstGeom>
        </p:spPr>
      </p:pic>
      <p:sp>
        <p:nvSpPr>
          <p:cNvPr id="20" name="Text 13"/>
          <p:cNvSpPr txBox="1"/>
          <p:nvPr/>
        </p:nvSpPr>
        <p:spPr>
          <a:xfrm>
            <a:off x="5353812" y="2331720"/>
            <a:ext cx="3223260" cy="77724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Past job, then Groupon</a:t>
            </a:r>
            <a:endParaRPr lang="en-US" sz="1200" dirty="0"/>
          </a:p>
          <a:p>
            <a:pPr indent="0" marL="0">
              <a:buNone/>
            </a:pPr>
            <a:r>
              <a:rPr lang="en-US" sz="1000" dirty="0">
                <a:solidFill>
                  <a:srgbClr val="6E6E73"/>
                </a:solidFill>
                <a:latin typeface="SF Pro Text" pitchFamily="34" charset="0"/>
                <a:ea typeface="SF Pro Text" pitchFamily="34" charset="-122"/>
                <a:cs typeface="SF Pro Text" pitchFamily="34" charset="-120"/>
              </a:rPr>
              <a:t>Converts to credits. New customers only.</a:t>
            </a:r>
            <a:endParaRPr lang="en-US" sz="1200" dirty="0"/>
          </a:p>
        </p:txBody>
      </p:sp>
      <p:sp>
        <p:nvSpPr>
          <p:cNvPr id="21" name="Shape 14"/>
          <p:cNvSpPr/>
          <p:nvPr/>
        </p:nvSpPr>
        <p:spPr>
          <a:xfrm>
            <a:off x="411480" y="3337560"/>
            <a:ext cx="4091940" cy="960120"/>
          </a:xfrm>
          <a:prstGeom prst="roundRect">
            <a:avLst>
              <a:gd name="adj" fmla="val 7619"/>
            </a:avLst>
          </a:prstGeom>
          <a:solidFill>
            <a:srgbClr val="FFFFFF"/>
          </a:solidFill>
          <a:ln w="9525">
            <a:solidFill>
              <a:srgbClr val="DCE1E7"/>
            </a:solidFill>
            <a:prstDash val="solid"/>
          </a:ln>
        </p:spPr>
      </p:sp>
      <p:sp>
        <p:nvSpPr>
          <p:cNvPr id="22" name="Shape 15"/>
          <p:cNvSpPr/>
          <p:nvPr/>
        </p:nvSpPr>
        <p:spPr>
          <a:xfrm>
            <a:off x="576072" y="3611880"/>
            <a:ext cx="384048" cy="384048"/>
          </a:xfrm>
          <a:prstGeom prst="ellipse">
            <a:avLst/>
          </a:prstGeom>
          <a:solidFill>
            <a:srgbClr val="E3F4F1"/>
          </a:solidFill>
          <a:ln w="12700">
            <a:solidFill>
              <a:srgbClr val="E3F4F1"/>
            </a:solidFill>
            <a:prstDash val="solid"/>
          </a:ln>
        </p:spPr>
      </p:sp>
      <p:pic>
        <p:nvPicPr>
          <p:cNvPr id="23" name="Image 4" descr="preencoded.png">    </p:cNvPr>
          <p:cNvPicPr>
            <a:picLocks noChangeAspect="1"/>
          </p:cNvPicPr>
          <p:nvPr/>
        </p:nvPicPr>
        <p:blipFill>
          <a:blip r:embed="rId5"/>
          <a:stretch>
            <a:fillRect/>
          </a:stretch>
        </p:blipFill>
        <p:spPr>
          <a:xfrm>
            <a:off x="668244" y="3704052"/>
            <a:ext cx="199705" cy="199705"/>
          </a:xfrm>
          <a:prstGeom prst="rect">
            <a:avLst/>
          </a:prstGeom>
        </p:spPr>
      </p:pic>
      <p:sp>
        <p:nvSpPr>
          <p:cNvPr id="24" name="Text 16"/>
          <p:cNvSpPr txBox="1"/>
          <p:nvPr/>
        </p:nvSpPr>
        <p:spPr>
          <a:xfrm>
            <a:off x="1124712" y="3429000"/>
            <a:ext cx="3223260" cy="77724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Groupon, then DHJ</a:t>
            </a:r>
            <a:endParaRPr lang="en-US" sz="1200" dirty="0"/>
          </a:p>
          <a:p>
            <a:pPr indent="0" marL="0">
              <a:buNone/>
            </a:pPr>
            <a:r>
              <a:rPr lang="en-US" sz="1000" dirty="0">
                <a:solidFill>
                  <a:srgbClr val="6E6E73"/>
                </a:solidFill>
                <a:latin typeface="SF Pro Text" pitchFamily="34" charset="0"/>
                <a:ea typeface="SF Pro Text" pitchFamily="34" charset="-122"/>
                <a:cs typeface="SF Pro Text" pitchFamily="34" charset="-120"/>
              </a:rPr>
              <a:t>Allowed. DHJ is applied first.</a:t>
            </a:r>
            <a:endParaRPr lang="en-US" sz="1200" dirty="0"/>
          </a:p>
        </p:txBody>
      </p:sp>
      <p:sp>
        <p:nvSpPr>
          <p:cNvPr id="25" name="Shape 17"/>
          <p:cNvSpPr/>
          <p:nvPr/>
        </p:nvSpPr>
        <p:spPr>
          <a:xfrm>
            <a:off x="4640580" y="3337560"/>
            <a:ext cx="4091940" cy="960120"/>
          </a:xfrm>
          <a:prstGeom prst="roundRect">
            <a:avLst>
              <a:gd name="adj" fmla="val 7619"/>
            </a:avLst>
          </a:prstGeom>
          <a:solidFill>
            <a:srgbClr val="FFFFFF"/>
          </a:solidFill>
          <a:ln w="9525">
            <a:solidFill>
              <a:srgbClr val="DCE1E7"/>
            </a:solidFill>
            <a:prstDash val="solid"/>
          </a:ln>
        </p:spPr>
      </p:sp>
      <p:sp>
        <p:nvSpPr>
          <p:cNvPr id="26" name="Shape 18"/>
          <p:cNvSpPr/>
          <p:nvPr/>
        </p:nvSpPr>
        <p:spPr>
          <a:xfrm>
            <a:off x="4805172" y="3611880"/>
            <a:ext cx="384048" cy="384048"/>
          </a:xfrm>
          <a:prstGeom prst="ellipse">
            <a:avLst/>
          </a:prstGeom>
          <a:solidFill>
            <a:srgbClr val="E3F4F1"/>
          </a:solidFill>
          <a:ln w="12700">
            <a:solidFill>
              <a:srgbClr val="E3F4F1"/>
            </a:solidFill>
            <a:prstDash val="solid"/>
          </a:ln>
        </p:spPr>
      </p:sp>
      <p:pic>
        <p:nvPicPr>
          <p:cNvPr id="27" name="Image 5" descr="preencoded.png">    </p:cNvPr>
          <p:cNvPicPr>
            <a:picLocks noChangeAspect="1"/>
          </p:cNvPicPr>
          <p:nvPr/>
        </p:nvPicPr>
        <p:blipFill>
          <a:blip r:embed="rId6"/>
          <a:stretch>
            <a:fillRect/>
          </a:stretch>
        </p:blipFill>
        <p:spPr>
          <a:xfrm>
            <a:off x="4897344" y="3704052"/>
            <a:ext cx="199705" cy="199705"/>
          </a:xfrm>
          <a:prstGeom prst="rect">
            <a:avLst/>
          </a:prstGeom>
        </p:spPr>
      </p:pic>
      <p:sp>
        <p:nvSpPr>
          <p:cNvPr id="28" name="Text 19"/>
          <p:cNvSpPr txBox="1"/>
          <p:nvPr/>
        </p:nvSpPr>
        <p:spPr>
          <a:xfrm>
            <a:off x="5353812" y="3429000"/>
            <a:ext cx="3223260" cy="777240"/>
          </a:xfrm>
          <a:prstGeom prst="rect">
            <a:avLst/>
          </a:prstGeom>
          <a:noFill/>
          <a:ln/>
        </p:spPr>
        <p:txBody>
          <a:bodyPr wrap="square" lIns="0" tIns="0" rIns="0" bIns="0" rtlCol="0" anchor="ctr"/>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2nd DHJ</a:t>
            </a:r>
            <a:endParaRPr lang="en-US" sz="1200" dirty="0"/>
          </a:p>
          <a:p>
            <a:pPr indent="0" marL="0">
              <a:buNone/>
            </a:pPr>
            <a:r>
              <a:rPr lang="en-US" sz="1000" dirty="0">
                <a:solidFill>
                  <a:srgbClr val="6E6E73"/>
                </a:solidFill>
                <a:latin typeface="SF Pro Text" pitchFamily="34" charset="0"/>
                <a:ea typeface="SF Pro Text" pitchFamily="34" charset="-122"/>
                <a:cs typeface="SF Pro Text" pitchFamily="34" charset="-120"/>
              </a:rPr>
              <a:t>Possible for some active or deactivated FC customers.</a:t>
            </a:r>
            <a:endParaRPr lang="en-US" sz="12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Non-Logged-In Visitor Tickets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Someone used an existing customer's email, but wasn't logged in.</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ticket looks like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it's a security checkpoint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respond</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3/ill14.png">    </p:cNvPr>
          <p:cNvPicPr>
            <a:picLocks noChangeAspect="1"/>
          </p:cNvPicPr>
          <p:nvPr/>
        </p:nvPicPr>
        <p:blipFill>
          <a:blip r:embed="rId4"/>
          <a:stretch>
            <a:fillRect/>
          </a:stretch>
        </p:blipFill>
        <p:spPr>
          <a:xfrm>
            <a:off x="5541264" y="1519076"/>
            <a:ext cx="2926080" cy="2100775"/>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NON-LOGGED-IN VISITOR TICKETS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new CRM flags these tickets for you.</a:t>
            </a:r>
            <a:endParaRPr lang="en-US" sz="1200" dirty="0"/>
          </a:p>
        </p:txBody>
      </p:sp>
      <p:sp>
        <p:nvSpPr>
          <p:cNvPr id="6" name="Shape 3"/>
          <p:cNvSpPr/>
          <p:nvPr/>
        </p:nvSpPr>
        <p:spPr>
          <a:xfrm>
            <a:off x="411480" y="1325880"/>
            <a:ext cx="8321040" cy="1508760"/>
          </a:xfrm>
          <a:prstGeom prst="roundRect">
            <a:avLst>
              <a:gd name="adj" fmla="val 4848"/>
            </a:avLst>
          </a:prstGeom>
          <a:solidFill>
            <a:srgbClr val="FFFFFF"/>
          </a:solidFill>
          <a:ln w="9525">
            <a:solidFill>
              <a:srgbClr val="DCE1E7"/>
            </a:solidFill>
            <a:prstDash val="solid"/>
          </a:ln>
        </p:spPr>
      </p:sp>
      <p:pic>
        <p:nvPicPr>
          <p:cNvPr id="7" name="Image 0" descr="/tmp/claude-0/-workspace-training/3ce5cff6-cccf-5f33-b0ee-0b147a55120e/scratchpad/img3/ticket_nonlogged.png">    </p:cNvPr>
          <p:cNvPicPr>
            <a:picLocks noChangeAspect="1"/>
          </p:cNvPicPr>
          <p:nvPr/>
        </p:nvPicPr>
        <p:blipFill>
          <a:blip r:embed="rId1"/>
          <a:stretch>
            <a:fillRect/>
          </a:stretch>
        </p:blipFill>
        <p:spPr>
          <a:xfrm>
            <a:off x="484632" y="1437303"/>
            <a:ext cx="8174736" cy="1285914"/>
          </a:xfrm>
          <a:prstGeom prst="rect">
            <a:avLst/>
          </a:prstGeom>
        </p:spPr>
      </p:pic>
      <p:sp>
        <p:nvSpPr>
          <p:cNvPr id="8" name="Shape 4"/>
          <p:cNvSpPr/>
          <p:nvPr/>
        </p:nvSpPr>
        <p:spPr>
          <a:xfrm>
            <a:off x="2792388" y="1483229"/>
            <a:ext cx="2204423" cy="298516"/>
          </a:xfrm>
          <a:prstGeom prst="roundRect">
            <a:avLst>
              <a:gd name="adj" fmla="val 9189"/>
            </a:avLst>
          </a:prstGeom>
          <a:ln w="25400">
            <a:solidFill>
              <a:srgbClr val="0B7A6F"/>
            </a:solidFill>
            <a:prstDash val="solid"/>
          </a:ln>
        </p:spPr>
      </p:sp>
      <p:sp>
        <p:nvSpPr>
          <p:cNvPr id="9" name="Shape 5"/>
          <p:cNvSpPr/>
          <p:nvPr/>
        </p:nvSpPr>
        <p:spPr>
          <a:xfrm>
            <a:off x="2691804" y="1382645"/>
            <a:ext cx="201168" cy="201168"/>
          </a:xfrm>
          <a:prstGeom prst="ellipse">
            <a:avLst/>
          </a:prstGeom>
          <a:solidFill>
            <a:srgbClr val="0B7A6F"/>
          </a:solidFill>
          <a:ln w="12700">
            <a:solidFill>
              <a:srgbClr val="FFFFFF"/>
            </a:solidFill>
            <a:prstDash val="solid"/>
          </a:ln>
        </p:spPr>
      </p:sp>
      <p:sp>
        <p:nvSpPr>
          <p:cNvPr id="10" name="Text 6"/>
          <p:cNvSpPr txBox="1"/>
          <p:nvPr/>
        </p:nvSpPr>
        <p:spPr>
          <a:xfrm>
            <a:off x="2691804" y="138264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610927" y="1839151"/>
            <a:ext cx="7910664" cy="332960"/>
          </a:xfrm>
          <a:prstGeom prst="roundRect">
            <a:avLst>
              <a:gd name="adj" fmla="val 8239"/>
            </a:avLst>
          </a:prstGeom>
          <a:ln w="25400">
            <a:solidFill>
              <a:srgbClr val="0B7A6F"/>
            </a:solidFill>
            <a:prstDash val="solid"/>
          </a:ln>
        </p:spPr>
      </p:sp>
      <p:sp>
        <p:nvSpPr>
          <p:cNvPr id="12" name="Shape 8"/>
          <p:cNvSpPr/>
          <p:nvPr/>
        </p:nvSpPr>
        <p:spPr>
          <a:xfrm>
            <a:off x="510343" y="1738567"/>
            <a:ext cx="201168" cy="201168"/>
          </a:xfrm>
          <a:prstGeom prst="ellipse">
            <a:avLst/>
          </a:prstGeom>
          <a:solidFill>
            <a:srgbClr val="0B7A6F"/>
          </a:solidFill>
          <a:ln w="12700">
            <a:solidFill>
              <a:srgbClr val="FFFFFF"/>
            </a:solidFill>
            <a:prstDash val="solid"/>
          </a:ln>
        </p:spPr>
      </p:sp>
      <p:sp>
        <p:nvSpPr>
          <p:cNvPr id="13" name="Text 9"/>
          <p:cNvSpPr txBox="1"/>
          <p:nvPr/>
        </p:nvSpPr>
        <p:spPr>
          <a:xfrm>
            <a:off x="510343" y="1738567"/>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610927" y="2252481"/>
            <a:ext cx="3605150" cy="218146"/>
          </a:xfrm>
          <a:prstGeom prst="roundRect">
            <a:avLst>
              <a:gd name="adj" fmla="val 12575"/>
            </a:avLst>
          </a:prstGeom>
          <a:ln w="25400">
            <a:solidFill>
              <a:srgbClr val="0B7A6F"/>
            </a:solidFill>
            <a:prstDash val="solid"/>
          </a:ln>
        </p:spPr>
      </p:sp>
      <p:sp>
        <p:nvSpPr>
          <p:cNvPr id="15" name="Shape 11"/>
          <p:cNvSpPr/>
          <p:nvPr/>
        </p:nvSpPr>
        <p:spPr>
          <a:xfrm>
            <a:off x="510343" y="2151897"/>
            <a:ext cx="201168" cy="201168"/>
          </a:xfrm>
          <a:prstGeom prst="ellipse">
            <a:avLst/>
          </a:prstGeom>
          <a:solidFill>
            <a:srgbClr val="0B7A6F"/>
          </a:solidFill>
          <a:ln w="12700">
            <a:solidFill>
              <a:srgbClr val="FFFFFF"/>
            </a:solidFill>
            <a:prstDash val="solid"/>
          </a:ln>
        </p:spPr>
      </p:sp>
      <p:sp>
        <p:nvSpPr>
          <p:cNvPr id="16" name="Text 12"/>
          <p:cNvSpPr txBox="1"/>
          <p:nvPr/>
        </p:nvSpPr>
        <p:spPr>
          <a:xfrm>
            <a:off x="510343" y="2151897"/>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411480" y="3017520"/>
            <a:ext cx="2697480" cy="566928"/>
          </a:xfrm>
          <a:prstGeom prst="roundRect">
            <a:avLst>
              <a:gd name="adj" fmla="val 12903"/>
            </a:avLst>
          </a:prstGeom>
          <a:solidFill>
            <a:srgbClr val="FFFFFF"/>
          </a:solidFill>
          <a:ln w="9525">
            <a:solidFill>
              <a:srgbClr val="DCE1E7"/>
            </a:solidFill>
            <a:prstDash val="solid"/>
          </a:ln>
        </p:spPr>
      </p:sp>
      <p:sp>
        <p:nvSpPr>
          <p:cNvPr id="18" name="Shape 14"/>
          <p:cNvSpPr/>
          <p:nvPr/>
        </p:nvSpPr>
        <p:spPr>
          <a:xfrm>
            <a:off x="539496" y="3172968"/>
            <a:ext cx="256032" cy="256032"/>
          </a:xfrm>
          <a:prstGeom prst="ellipse">
            <a:avLst/>
          </a:prstGeom>
          <a:solidFill>
            <a:srgbClr val="0B7A6F"/>
          </a:solidFill>
          <a:ln w="12700">
            <a:solidFill>
              <a:srgbClr val="0B7A6F"/>
            </a:solidFill>
            <a:prstDash val="solid"/>
          </a:ln>
        </p:spPr>
      </p:sp>
      <p:sp>
        <p:nvSpPr>
          <p:cNvPr id="19" name="Text 15"/>
          <p:cNvSpPr txBox="1"/>
          <p:nvPr/>
        </p:nvSpPr>
        <p:spPr>
          <a:xfrm>
            <a:off x="539496" y="317296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914400" y="3063240"/>
            <a:ext cx="2103120" cy="47548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Triggered ticket</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Came in from the Help Center</a:t>
            </a:r>
            <a:endParaRPr lang="en-US" sz="1050" dirty="0"/>
          </a:p>
        </p:txBody>
      </p:sp>
      <p:sp>
        <p:nvSpPr>
          <p:cNvPr id="21" name="Shape 17"/>
          <p:cNvSpPr/>
          <p:nvPr/>
        </p:nvSpPr>
        <p:spPr>
          <a:xfrm>
            <a:off x="3227832" y="3017520"/>
            <a:ext cx="2697480" cy="566928"/>
          </a:xfrm>
          <a:prstGeom prst="roundRect">
            <a:avLst>
              <a:gd name="adj" fmla="val 12903"/>
            </a:avLst>
          </a:prstGeom>
          <a:solidFill>
            <a:srgbClr val="FFFFFF"/>
          </a:solidFill>
          <a:ln w="9525">
            <a:solidFill>
              <a:srgbClr val="DCE1E7"/>
            </a:solidFill>
            <a:prstDash val="solid"/>
          </a:ln>
        </p:spPr>
      </p:sp>
      <p:sp>
        <p:nvSpPr>
          <p:cNvPr id="22" name="Shape 18"/>
          <p:cNvSpPr/>
          <p:nvPr/>
        </p:nvSpPr>
        <p:spPr>
          <a:xfrm>
            <a:off x="3355848" y="3172968"/>
            <a:ext cx="256032" cy="256032"/>
          </a:xfrm>
          <a:prstGeom prst="ellipse">
            <a:avLst/>
          </a:prstGeom>
          <a:solidFill>
            <a:srgbClr val="0B7A6F"/>
          </a:solidFill>
          <a:ln w="12700">
            <a:solidFill>
              <a:srgbClr val="0B7A6F"/>
            </a:solidFill>
            <a:prstDash val="solid"/>
          </a:ln>
        </p:spPr>
      </p:sp>
      <p:sp>
        <p:nvSpPr>
          <p:cNvPr id="23" name="Text 19"/>
          <p:cNvSpPr txBox="1"/>
          <p:nvPr/>
        </p:nvSpPr>
        <p:spPr>
          <a:xfrm>
            <a:off x="3355848" y="317296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3730752" y="3063240"/>
            <a:ext cx="2103120" cy="47548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System note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Sender wasn't logged in</a:t>
            </a:r>
            <a:endParaRPr lang="en-US" sz="1050" dirty="0"/>
          </a:p>
        </p:txBody>
      </p:sp>
      <p:sp>
        <p:nvSpPr>
          <p:cNvPr id="25" name="Shape 21"/>
          <p:cNvSpPr/>
          <p:nvPr/>
        </p:nvSpPr>
        <p:spPr>
          <a:xfrm>
            <a:off x="6035040" y="3017520"/>
            <a:ext cx="2697480" cy="566928"/>
          </a:xfrm>
          <a:prstGeom prst="roundRect">
            <a:avLst>
              <a:gd name="adj" fmla="val 12903"/>
            </a:avLst>
          </a:prstGeom>
          <a:solidFill>
            <a:srgbClr val="FFFFFF"/>
          </a:solidFill>
          <a:ln w="9525">
            <a:solidFill>
              <a:srgbClr val="DCE1E7"/>
            </a:solidFill>
            <a:prstDash val="solid"/>
          </a:ln>
        </p:spPr>
      </p:sp>
      <p:sp>
        <p:nvSpPr>
          <p:cNvPr id="26" name="Shape 22"/>
          <p:cNvSpPr/>
          <p:nvPr/>
        </p:nvSpPr>
        <p:spPr>
          <a:xfrm>
            <a:off x="6163056" y="3172968"/>
            <a:ext cx="256032" cy="256032"/>
          </a:xfrm>
          <a:prstGeom prst="ellipse">
            <a:avLst/>
          </a:prstGeom>
          <a:solidFill>
            <a:srgbClr val="0B7A6F"/>
          </a:solidFill>
          <a:ln w="12700">
            <a:solidFill>
              <a:srgbClr val="0B7A6F"/>
            </a:solidFill>
            <a:prstDash val="solid"/>
          </a:ln>
        </p:spPr>
      </p:sp>
      <p:sp>
        <p:nvSpPr>
          <p:cNvPr id="27" name="Text 23"/>
          <p:cNvSpPr txBox="1"/>
          <p:nvPr/>
        </p:nvSpPr>
        <p:spPr>
          <a:xfrm>
            <a:off x="6163056" y="317296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6537960" y="3063240"/>
            <a:ext cx="2103120" cy="47548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Their message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What the visitor is asking</a:t>
            </a:r>
            <a:endParaRPr lang="en-US" sz="1050" dirty="0"/>
          </a:p>
        </p:txBody>
      </p:sp>
      <p:sp>
        <p:nvSpPr>
          <p:cNvPr id="29" name="Shape 25"/>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30" name="Image 1" descr="preencoded.png">    </p:cNvPr>
          <p:cNvPicPr>
            <a:picLocks noChangeAspect="1"/>
          </p:cNvPicPr>
          <p:nvPr/>
        </p:nvPicPr>
        <p:blipFill>
          <a:blip r:embed="rId2"/>
          <a:stretch>
            <a:fillRect/>
          </a:stretch>
        </p:blipFill>
        <p:spPr>
          <a:xfrm>
            <a:off x="566928" y="3904488"/>
            <a:ext cx="164592" cy="164592"/>
          </a:xfrm>
          <a:prstGeom prst="rect">
            <a:avLst/>
          </a:prstGeom>
        </p:spPr>
      </p:pic>
      <p:sp>
        <p:nvSpPr>
          <p:cNvPr id="31" name="Text 26"/>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a matching email isn't proof. Anyone can type an email into a form.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NON-LOGGED-IN VISITOR TICKETS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it matters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is a security and privacy checkpoint, not a routine ticket.</a:t>
            </a:r>
            <a:endParaRPr lang="en-US" sz="1200" dirty="0"/>
          </a:p>
        </p:txBody>
      </p:sp>
      <p:sp>
        <p:nvSpPr>
          <p:cNvPr id="6" name="Shape 3"/>
          <p:cNvSpPr/>
          <p:nvPr/>
        </p:nvSpPr>
        <p:spPr>
          <a:xfrm>
            <a:off x="411480" y="137160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3619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15196"/>
            <a:ext cx="171176" cy="171176"/>
          </a:xfrm>
          <a:prstGeom prst="rect">
            <a:avLst/>
          </a:prstGeom>
        </p:spPr>
      </p:pic>
      <p:sp>
        <p:nvSpPr>
          <p:cNvPr id="9" name="Text 5"/>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Anyone can type an email</a:t>
            </a:r>
            <a:endParaRPr lang="en-US" sz="1200" dirty="0"/>
          </a:p>
        </p:txBody>
      </p:sp>
      <p:sp>
        <p:nvSpPr>
          <p:cNvPr id="10" name="Text 6"/>
          <p:cNvSpPr txBox="1"/>
          <p:nvPr/>
        </p:nvSpPr>
        <p:spPr>
          <a:xfrm>
            <a:off x="5760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match doesn't mean it's the account owner.</a:t>
            </a:r>
            <a:endParaRPr lang="en-US" sz="950" dirty="0"/>
          </a:p>
        </p:txBody>
      </p:sp>
      <p:sp>
        <p:nvSpPr>
          <p:cNvPr id="11" name="Shape 7"/>
          <p:cNvSpPr/>
          <p:nvPr/>
        </p:nvSpPr>
        <p:spPr>
          <a:xfrm>
            <a:off x="3230880" y="137160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53619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15196"/>
            <a:ext cx="171176" cy="171176"/>
          </a:xfrm>
          <a:prstGeom prst="rect">
            <a:avLst/>
          </a:prstGeom>
        </p:spPr>
      </p:pic>
      <p:sp>
        <p:nvSpPr>
          <p:cNvPr id="14" name="Text 9"/>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Wrong person, real data</a:t>
            </a:r>
            <a:endParaRPr lang="en-US" sz="1200" dirty="0"/>
          </a:p>
        </p:txBody>
      </p:sp>
      <p:sp>
        <p:nvSpPr>
          <p:cNvPr id="15" name="Text 10"/>
          <p:cNvSpPr txBox="1"/>
          <p:nvPr/>
        </p:nvSpPr>
        <p:spPr>
          <a:xfrm>
            <a:off x="33954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Replying to the wrong person exposes the account.</a:t>
            </a:r>
            <a:endParaRPr lang="en-US" sz="950" dirty="0"/>
          </a:p>
        </p:txBody>
      </p:sp>
      <p:sp>
        <p:nvSpPr>
          <p:cNvPr id="16" name="Shape 11"/>
          <p:cNvSpPr/>
          <p:nvPr/>
        </p:nvSpPr>
        <p:spPr>
          <a:xfrm>
            <a:off x="6050280" y="137160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53619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15196"/>
            <a:ext cx="171176" cy="171176"/>
          </a:xfrm>
          <a:prstGeom prst="rect">
            <a:avLst/>
          </a:prstGeom>
        </p:spPr>
      </p:pic>
      <p:sp>
        <p:nvSpPr>
          <p:cNvPr id="19" name="Text 13"/>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Verify first</a:t>
            </a:r>
            <a:endParaRPr lang="en-US" sz="1200" dirty="0"/>
          </a:p>
        </p:txBody>
      </p:sp>
      <p:sp>
        <p:nvSpPr>
          <p:cNvPr id="20" name="Text 14"/>
          <p:cNvSpPr txBox="1"/>
          <p:nvPr/>
        </p:nvSpPr>
        <p:spPr>
          <a:xfrm>
            <a:off x="62148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Confirm who you're talking to before you share anything.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NON-LOGGED-IN VISITOR TICKETS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respond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account first. What you find decides your reply.</a:t>
            </a:r>
            <a:endParaRPr lang="en-US" sz="1200" dirty="0"/>
          </a:p>
        </p:txBody>
      </p:sp>
      <p:sp>
        <p:nvSpPr>
          <p:cNvPr id="6" name="Shape 3"/>
          <p:cNvSpPr/>
          <p:nvPr/>
        </p:nvSpPr>
        <p:spPr>
          <a:xfrm>
            <a:off x="411480" y="1325880"/>
            <a:ext cx="8321040" cy="566928"/>
          </a:xfrm>
          <a:prstGeom prst="roundRect">
            <a:avLst>
              <a:gd name="adj" fmla="val 12903"/>
            </a:avLst>
          </a:prstGeom>
          <a:solidFill>
            <a:srgbClr val="0B7A6F"/>
          </a:solidFill>
          <a:ln w="9525">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621792" y="1490472"/>
            <a:ext cx="237744" cy="237744"/>
          </a:xfrm>
          <a:prstGeom prst="rect">
            <a:avLst/>
          </a:prstGeom>
        </p:spPr>
      </p:pic>
      <p:sp>
        <p:nvSpPr>
          <p:cNvPr id="8" name="Text 4"/>
          <p:cNvSpPr txBox="1"/>
          <p:nvPr/>
        </p:nvSpPr>
        <p:spPr>
          <a:xfrm>
            <a:off x="987552" y="1325880"/>
            <a:ext cx="7589520"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First, check the account:  </a:t>
            </a:r>
            <a:pPr indent="0" marL="0">
              <a:buNone/>
            </a:pPr>
            <a:r>
              <a:rPr lang="en-US" sz="1150" dirty="0">
                <a:solidFill>
                  <a:srgbClr val="FFFFFF"/>
                </a:solidFill>
                <a:latin typeface="SF Pro Text" pitchFamily="34" charset="0"/>
                <a:ea typeface="SF Pro Text" pitchFamily="34" charset="-122"/>
                <a:cs typeface="SF Pro Text" pitchFamily="34" charset="-120"/>
              </a:rPr>
              <a:t>recent jobs, address, and whether their issue matches what's on file.</a:t>
            </a:r>
            <a:endParaRPr lang="en-US" sz="1150" dirty="0"/>
          </a:p>
        </p:txBody>
      </p:sp>
      <p:sp>
        <p:nvSpPr>
          <p:cNvPr id="9" name="Shape 5"/>
          <p:cNvSpPr/>
          <p:nvPr/>
        </p:nvSpPr>
        <p:spPr>
          <a:xfrm>
            <a:off x="411480" y="2057400"/>
            <a:ext cx="2682240" cy="1828800"/>
          </a:xfrm>
          <a:prstGeom prst="roundRect">
            <a:avLst>
              <a:gd name="adj" fmla="val 4000"/>
            </a:avLst>
          </a:prstGeom>
          <a:solidFill>
            <a:srgbClr val="FFFFFF"/>
          </a:solidFill>
          <a:ln w="9525">
            <a:solidFill>
              <a:srgbClr val="DCE1E7"/>
            </a:solidFill>
            <a:prstDash val="solid"/>
          </a:ln>
        </p:spPr>
      </p:sp>
      <p:sp>
        <p:nvSpPr>
          <p:cNvPr id="10" name="Shape 6"/>
          <p:cNvSpPr/>
          <p:nvPr/>
        </p:nvSpPr>
        <p:spPr>
          <a:xfrm>
            <a:off x="576072" y="2221992"/>
            <a:ext cx="329184" cy="329184"/>
          </a:xfrm>
          <a:prstGeom prst="ellipse">
            <a:avLst/>
          </a:prstGeom>
          <a:solidFill>
            <a:srgbClr val="E3F4F1"/>
          </a:solidFill>
          <a:ln w="12700">
            <a:solidFill>
              <a:srgbClr val="E3F4F1"/>
            </a:solidFill>
            <a:prstDash val="solid"/>
          </a:ln>
        </p:spPr>
      </p:sp>
      <p:pic>
        <p:nvPicPr>
          <p:cNvPr id="11" name="Image 1" descr="preencoded.png">    </p:cNvPr>
          <p:cNvPicPr>
            <a:picLocks noChangeAspect="1"/>
          </p:cNvPicPr>
          <p:nvPr/>
        </p:nvPicPr>
        <p:blipFill>
          <a:blip r:embed="rId2"/>
          <a:stretch>
            <a:fillRect/>
          </a:stretch>
        </p:blipFill>
        <p:spPr>
          <a:xfrm>
            <a:off x="655076" y="2300996"/>
            <a:ext cx="171176" cy="171176"/>
          </a:xfrm>
          <a:prstGeom prst="rect">
            <a:avLst/>
          </a:prstGeom>
        </p:spPr>
      </p:pic>
      <p:sp>
        <p:nvSpPr>
          <p:cNvPr id="12" name="Text 7"/>
          <p:cNvSpPr txBox="1"/>
          <p:nvPr/>
        </p:nvSpPr>
        <p:spPr>
          <a:xfrm>
            <a:off x="576072" y="26609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Details match</a:t>
            </a:r>
            <a:endParaRPr lang="en-US" sz="1200" dirty="0"/>
          </a:p>
        </p:txBody>
      </p:sp>
      <p:sp>
        <p:nvSpPr>
          <p:cNvPr id="13" name="Text 8"/>
          <p:cNvSpPr txBox="1"/>
          <p:nvPr/>
        </p:nvSpPr>
        <p:spPr>
          <a:xfrm>
            <a:off x="576072" y="295351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Proceed as normal. No extra hoops for a verified customer.</a:t>
            </a:r>
            <a:endParaRPr lang="en-US" sz="950" dirty="0"/>
          </a:p>
        </p:txBody>
      </p:sp>
      <p:sp>
        <p:nvSpPr>
          <p:cNvPr id="14" name="Shape 9"/>
          <p:cNvSpPr/>
          <p:nvPr/>
        </p:nvSpPr>
        <p:spPr>
          <a:xfrm>
            <a:off x="3230880" y="2057400"/>
            <a:ext cx="2682240" cy="1828800"/>
          </a:xfrm>
          <a:prstGeom prst="roundRect">
            <a:avLst>
              <a:gd name="adj" fmla="val 4000"/>
            </a:avLst>
          </a:prstGeom>
          <a:solidFill>
            <a:srgbClr val="FFFFFF"/>
          </a:solidFill>
          <a:ln w="9525">
            <a:solidFill>
              <a:srgbClr val="DCE1E7"/>
            </a:solidFill>
            <a:prstDash val="solid"/>
          </a:ln>
        </p:spPr>
      </p:sp>
      <p:sp>
        <p:nvSpPr>
          <p:cNvPr id="15" name="Shape 10"/>
          <p:cNvSpPr/>
          <p:nvPr/>
        </p:nvSpPr>
        <p:spPr>
          <a:xfrm>
            <a:off x="3395472" y="2221992"/>
            <a:ext cx="329184" cy="329184"/>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3474476" y="2300996"/>
            <a:ext cx="171176" cy="171176"/>
          </a:xfrm>
          <a:prstGeom prst="rect">
            <a:avLst/>
          </a:prstGeom>
        </p:spPr>
      </p:pic>
      <p:sp>
        <p:nvSpPr>
          <p:cNvPr id="17" name="Text 11"/>
          <p:cNvSpPr txBox="1"/>
          <p:nvPr/>
        </p:nvSpPr>
        <p:spPr>
          <a:xfrm>
            <a:off x="3395472" y="26609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Can't tell</a:t>
            </a:r>
            <a:endParaRPr lang="en-US" sz="1200" dirty="0"/>
          </a:p>
        </p:txBody>
      </p:sp>
      <p:sp>
        <p:nvSpPr>
          <p:cNvPr id="18" name="Text 12"/>
          <p:cNvSpPr txBox="1"/>
          <p:nvPr/>
        </p:nvSpPr>
        <p:spPr>
          <a:xfrm>
            <a:off x="3395472" y="295351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Reply generically. Ask them to log in, or share a couple of identifying details.</a:t>
            </a:r>
            <a:endParaRPr lang="en-US" sz="950" dirty="0"/>
          </a:p>
        </p:txBody>
      </p:sp>
      <p:sp>
        <p:nvSpPr>
          <p:cNvPr id="19" name="Shape 13"/>
          <p:cNvSpPr/>
          <p:nvPr/>
        </p:nvSpPr>
        <p:spPr>
          <a:xfrm>
            <a:off x="6050280" y="2057400"/>
            <a:ext cx="2682240" cy="1828800"/>
          </a:xfrm>
          <a:prstGeom prst="roundRect">
            <a:avLst>
              <a:gd name="adj" fmla="val 4000"/>
            </a:avLst>
          </a:prstGeom>
          <a:solidFill>
            <a:srgbClr val="FFFFFF"/>
          </a:solidFill>
          <a:ln w="9525">
            <a:solidFill>
              <a:srgbClr val="DCE1E7"/>
            </a:solidFill>
            <a:prstDash val="solid"/>
          </a:ln>
        </p:spPr>
      </p:sp>
      <p:sp>
        <p:nvSpPr>
          <p:cNvPr id="20" name="Shape 14"/>
          <p:cNvSpPr/>
          <p:nvPr/>
        </p:nvSpPr>
        <p:spPr>
          <a:xfrm>
            <a:off x="6214872" y="2221992"/>
            <a:ext cx="329184" cy="329184"/>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6293876" y="2300996"/>
            <a:ext cx="171176" cy="171176"/>
          </a:xfrm>
          <a:prstGeom prst="rect">
            <a:avLst/>
          </a:prstGeom>
        </p:spPr>
      </p:pic>
      <p:sp>
        <p:nvSpPr>
          <p:cNvPr id="22" name="Text 15"/>
          <p:cNvSpPr txBox="1"/>
          <p:nvPr/>
        </p:nvSpPr>
        <p:spPr>
          <a:xfrm>
            <a:off x="6214872" y="26609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Clearly not them</a:t>
            </a:r>
            <a:endParaRPr lang="en-US" sz="1200" dirty="0"/>
          </a:p>
        </p:txBody>
      </p:sp>
      <p:sp>
        <p:nvSpPr>
          <p:cNvPr id="23" name="Text 16"/>
          <p:cNvSpPr txBox="1"/>
          <p:nvPr/>
        </p:nvSpPr>
        <p:spPr>
          <a:xfrm>
            <a:off x="6214872" y="295351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Treat it as unverified. Share nothing about the account.</a:t>
            </a:r>
            <a:endParaRPr lang="en-US" sz="950" dirty="0"/>
          </a:p>
        </p:txBody>
      </p:sp>
      <p:sp>
        <p:nvSpPr>
          <p:cNvPr id="24" name="Shape 17"/>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4178808"/>
            <a:ext cx="164592" cy="164592"/>
          </a:xfrm>
          <a:prstGeom prst="rect">
            <a:avLst/>
          </a:prstGeom>
        </p:spPr>
      </p:pic>
      <p:sp>
        <p:nvSpPr>
          <p:cNvPr id="26" name="Text 18"/>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Until verified:  </a:t>
            </a:r>
            <a:pPr indent="0" marL="0">
              <a:buNone/>
            </a:pPr>
            <a:r>
              <a:rPr lang="en-US" sz="1000" dirty="0">
                <a:solidFill>
                  <a:srgbClr val="1D1D1F"/>
                </a:solidFill>
                <a:latin typeface="SF Pro Text" pitchFamily="34" charset="0"/>
                <a:ea typeface="SF Pro Text" pitchFamily="34" charset="-122"/>
                <a:cs typeface="SF Pro Text" pitchFamily="34" charset="-120"/>
              </a:rPr>
              <a:t>never confirm account details, upcoming appointments or charges.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Max CP Rate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C-facing rate cap: the highest hourly rate a cleaner can claim this customer's jobs at.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cap does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to flag before setting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cap behaves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to tell the customer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29.png">    </p:cNvPr>
          <p:cNvPicPr>
            <a:picLocks noChangeAspect="1"/>
          </p:cNvPicPr>
          <p:nvPr/>
        </p:nvPicPr>
        <p:blipFill>
          <a:blip r:embed="rId5"/>
          <a:stretch>
            <a:fillRect/>
          </a:stretch>
        </p:blipFill>
        <p:spPr>
          <a:xfrm>
            <a:off x="5541264" y="1580923"/>
            <a:ext cx="2926080" cy="1977081"/>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MAX CP RATE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the cap does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Set in the legacy CRM: C CRM › Do › Update Max Rate.</a:t>
            </a:r>
            <a:endParaRPr lang="en-US" sz="1200" dirty="0"/>
          </a:p>
        </p:txBody>
      </p:sp>
      <p:sp>
        <p:nvSpPr>
          <p:cNvPr id="6" name="Shape 3"/>
          <p:cNvSpPr/>
          <p:nvPr/>
        </p:nvSpPr>
        <p:spPr>
          <a:xfrm>
            <a:off x="411480" y="1344168"/>
            <a:ext cx="274320" cy="274320"/>
          </a:xfrm>
          <a:prstGeom prst="ellipse">
            <a:avLst/>
          </a:prstGeom>
          <a:solidFill>
            <a:srgbClr val="E3F4F1"/>
          </a:solidFill>
          <a:ln w="12700">
            <a:solidFill>
              <a:srgbClr val="E3F4F1"/>
            </a:solidFill>
            <a:prstDash val="solid"/>
          </a:ln>
        </p:spPr>
      </p:sp>
      <p:sp>
        <p:nvSpPr>
          <p:cNvPr id="7" name="Text 4"/>
          <p:cNvSpPr txBox="1"/>
          <p:nvPr/>
        </p:nvSpPr>
        <p:spPr>
          <a:xfrm>
            <a:off x="411480" y="13441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822960" y="1280160"/>
            <a:ext cx="227076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Open the customer's legacy C CRM and click Do</a:t>
            </a:r>
            <a:endParaRPr lang="en-US" sz="1050" dirty="0"/>
          </a:p>
        </p:txBody>
      </p:sp>
      <p:sp>
        <p:nvSpPr>
          <p:cNvPr id="9" name="Shape 6"/>
          <p:cNvSpPr/>
          <p:nvPr/>
        </p:nvSpPr>
        <p:spPr>
          <a:xfrm>
            <a:off x="411480" y="1810512"/>
            <a:ext cx="2682240" cy="1600200"/>
          </a:xfrm>
          <a:prstGeom prst="roundRect">
            <a:avLst>
              <a:gd name="adj" fmla="val 4571"/>
            </a:avLst>
          </a:prstGeom>
          <a:solidFill>
            <a:srgbClr val="FFFFFF"/>
          </a:solidFill>
          <a:ln w="9525">
            <a:solidFill>
              <a:srgbClr val="DCE1E7"/>
            </a:solidFill>
            <a:prstDash val="solid"/>
          </a:ln>
        </p:spPr>
      </p:sp>
      <p:pic>
        <p:nvPicPr>
          <p:cNvPr id="10" name="Image 0" descr="/tmp/claude-0/-workspace-training/3ce5cff6-cccf-5f33-b0ee-0b147a55120e/scratchpad/img3/maxrate_do_btn.png">    </p:cNvPr>
          <p:cNvPicPr>
            <a:picLocks noChangeAspect="1"/>
          </p:cNvPicPr>
          <p:nvPr/>
        </p:nvPicPr>
        <p:blipFill>
          <a:blip r:embed="rId1"/>
          <a:stretch>
            <a:fillRect/>
          </a:stretch>
        </p:blipFill>
        <p:spPr>
          <a:xfrm>
            <a:off x="484632" y="2140756"/>
            <a:ext cx="2535936" cy="939712"/>
          </a:xfrm>
          <a:prstGeom prst="rect">
            <a:avLst/>
          </a:prstGeom>
        </p:spPr>
      </p:pic>
      <p:sp>
        <p:nvSpPr>
          <p:cNvPr id="11" name="Shape 7"/>
          <p:cNvSpPr/>
          <p:nvPr/>
        </p:nvSpPr>
        <p:spPr>
          <a:xfrm>
            <a:off x="1771909" y="2269484"/>
            <a:ext cx="476293" cy="411929"/>
          </a:xfrm>
          <a:prstGeom prst="roundRect">
            <a:avLst>
              <a:gd name="adj" fmla="val 6659"/>
            </a:avLst>
          </a:prstGeom>
          <a:ln w="25400">
            <a:solidFill>
              <a:srgbClr val="0B7A6F"/>
            </a:solidFill>
            <a:prstDash val="solid"/>
          </a:ln>
        </p:spPr>
      </p:sp>
      <p:sp>
        <p:nvSpPr>
          <p:cNvPr id="12" name="Shape 8"/>
          <p:cNvSpPr/>
          <p:nvPr/>
        </p:nvSpPr>
        <p:spPr>
          <a:xfrm>
            <a:off x="1671325" y="2168900"/>
            <a:ext cx="201168" cy="201168"/>
          </a:xfrm>
          <a:prstGeom prst="ellipse">
            <a:avLst/>
          </a:prstGeom>
          <a:solidFill>
            <a:srgbClr val="0B7A6F"/>
          </a:solidFill>
          <a:ln w="12700">
            <a:solidFill>
              <a:srgbClr val="FFFFFF"/>
            </a:solidFill>
            <a:prstDash val="solid"/>
          </a:ln>
        </p:spPr>
      </p:sp>
      <p:sp>
        <p:nvSpPr>
          <p:cNvPr id="13" name="Text 9"/>
          <p:cNvSpPr txBox="1"/>
          <p:nvPr/>
        </p:nvSpPr>
        <p:spPr>
          <a:xfrm>
            <a:off x="1671325" y="2168900"/>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4" name="Shape 10"/>
          <p:cNvSpPr/>
          <p:nvPr/>
        </p:nvSpPr>
        <p:spPr>
          <a:xfrm>
            <a:off x="3230880" y="1344168"/>
            <a:ext cx="274320" cy="274320"/>
          </a:xfrm>
          <a:prstGeom prst="ellipse">
            <a:avLst/>
          </a:prstGeom>
          <a:solidFill>
            <a:srgbClr val="E3F4F1"/>
          </a:solidFill>
          <a:ln w="12700">
            <a:solidFill>
              <a:srgbClr val="E3F4F1"/>
            </a:solidFill>
            <a:prstDash val="solid"/>
          </a:ln>
        </p:spPr>
      </p:sp>
      <p:sp>
        <p:nvSpPr>
          <p:cNvPr id="15" name="Text 11"/>
          <p:cNvSpPr txBox="1"/>
          <p:nvPr/>
        </p:nvSpPr>
        <p:spPr>
          <a:xfrm>
            <a:off x="3230880" y="13441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6" name="Text 12"/>
          <p:cNvSpPr txBox="1"/>
          <p:nvPr/>
        </p:nvSpPr>
        <p:spPr>
          <a:xfrm>
            <a:off x="3642360" y="1280160"/>
            <a:ext cx="227076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Find Max Rate and click Update Max Rate</a:t>
            </a:r>
            <a:endParaRPr lang="en-US" sz="1050" dirty="0"/>
          </a:p>
        </p:txBody>
      </p:sp>
      <p:sp>
        <p:nvSpPr>
          <p:cNvPr id="17" name="Shape 13"/>
          <p:cNvSpPr/>
          <p:nvPr/>
        </p:nvSpPr>
        <p:spPr>
          <a:xfrm>
            <a:off x="3230880" y="1810512"/>
            <a:ext cx="2682240" cy="1600200"/>
          </a:xfrm>
          <a:prstGeom prst="roundRect">
            <a:avLst>
              <a:gd name="adj" fmla="val 4571"/>
            </a:avLst>
          </a:prstGeom>
          <a:solidFill>
            <a:srgbClr val="FFFFFF"/>
          </a:solidFill>
          <a:ln w="9525">
            <a:solidFill>
              <a:srgbClr val="DCE1E7"/>
            </a:solidFill>
            <a:prstDash val="solid"/>
          </a:ln>
        </p:spPr>
      </p:sp>
      <p:pic>
        <p:nvPicPr>
          <p:cNvPr id="18" name="Image 1" descr="/tmp/claude-0/-workspace-training/3ce5cff6-cccf-5f33-b0ee-0b147a55120e/scratchpad/img3/maxrate_do_menu.png">    </p:cNvPr>
          <p:cNvPicPr>
            <a:picLocks noChangeAspect="1"/>
          </p:cNvPicPr>
          <p:nvPr/>
        </p:nvPicPr>
        <p:blipFill>
          <a:blip r:embed="rId2"/>
          <a:stretch>
            <a:fillRect/>
          </a:stretch>
        </p:blipFill>
        <p:spPr>
          <a:xfrm>
            <a:off x="3304032" y="2320442"/>
            <a:ext cx="2535936" cy="580339"/>
          </a:xfrm>
          <a:prstGeom prst="rect">
            <a:avLst/>
          </a:prstGeom>
        </p:spPr>
      </p:pic>
      <p:sp>
        <p:nvSpPr>
          <p:cNvPr id="19" name="Shape 14"/>
          <p:cNvSpPr/>
          <p:nvPr/>
        </p:nvSpPr>
        <p:spPr>
          <a:xfrm>
            <a:off x="3318662" y="2476500"/>
            <a:ext cx="2482291" cy="141427"/>
          </a:xfrm>
          <a:prstGeom prst="roundRect">
            <a:avLst>
              <a:gd name="adj" fmla="val 19397"/>
            </a:avLst>
          </a:prstGeom>
          <a:ln w="25400">
            <a:solidFill>
              <a:srgbClr val="0B7A6F"/>
            </a:solidFill>
            <a:prstDash val="solid"/>
          </a:ln>
        </p:spPr>
      </p:sp>
      <p:sp>
        <p:nvSpPr>
          <p:cNvPr id="20" name="Shape 15"/>
          <p:cNvSpPr/>
          <p:nvPr/>
        </p:nvSpPr>
        <p:spPr>
          <a:xfrm>
            <a:off x="3218078" y="2375916"/>
            <a:ext cx="201168" cy="201168"/>
          </a:xfrm>
          <a:prstGeom prst="ellipse">
            <a:avLst/>
          </a:prstGeom>
          <a:solidFill>
            <a:srgbClr val="0B7A6F"/>
          </a:solidFill>
          <a:ln w="12700">
            <a:solidFill>
              <a:srgbClr val="FFFFFF"/>
            </a:solidFill>
            <a:prstDash val="solid"/>
          </a:ln>
        </p:spPr>
      </p:sp>
      <p:sp>
        <p:nvSpPr>
          <p:cNvPr id="21" name="Text 16"/>
          <p:cNvSpPr txBox="1"/>
          <p:nvPr/>
        </p:nvSpPr>
        <p:spPr>
          <a:xfrm>
            <a:off x="3218078" y="2375916"/>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22" name="Shape 17"/>
          <p:cNvSpPr/>
          <p:nvPr/>
        </p:nvSpPr>
        <p:spPr>
          <a:xfrm>
            <a:off x="6050280" y="1344168"/>
            <a:ext cx="274320" cy="274320"/>
          </a:xfrm>
          <a:prstGeom prst="ellipse">
            <a:avLst/>
          </a:prstGeom>
          <a:solidFill>
            <a:srgbClr val="E3F4F1"/>
          </a:solidFill>
          <a:ln w="12700">
            <a:solidFill>
              <a:srgbClr val="E3F4F1"/>
            </a:solidFill>
            <a:prstDash val="solid"/>
          </a:ln>
        </p:spPr>
      </p:sp>
      <p:sp>
        <p:nvSpPr>
          <p:cNvPr id="23" name="Text 18"/>
          <p:cNvSpPr txBox="1"/>
          <p:nvPr/>
        </p:nvSpPr>
        <p:spPr>
          <a:xfrm>
            <a:off x="6050280" y="13441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4" name="Text 19"/>
          <p:cNvSpPr txBox="1"/>
          <p:nvPr/>
        </p:nvSpPr>
        <p:spPr>
          <a:xfrm>
            <a:off x="6461760" y="1280160"/>
            <a:ext cx="227076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Enter the hourly cap and click Update Max Rate</a:t>
            </a:r>
            <a:endParaRPr lang="en-US" sz="1050" dirty="0"/>
          </a:p>
        </p:txBody>
      </p:sp>
      <p:sp>
        <p:nvSpPr>
          <p:cNvPr id="25" name="Shape 20"/>
          <p:cNvSpPr/>
          <p:nvPr/>
        </p:nvSpPr>
        <p:spPr>
          <a:xfrm>
            <a:off x="6050280" y="1810512"/>
            <a:ext cx="2682240" cy="1600200"/>
          </a:xfrm>
          <a:prstGeom prst="roundRect">
            <a:avLst>
              <a:gd name="adj" fmla="val 4571"/>
            </a:avLst>
          </a:prstGeom>
          <a:solidFill>
            <a:srgbClr val="FFFFFF"/>
          </a:solidFill>
          <a:ln w="9525">
            <a:solidFill>
              <a:srgbClr val="DCE1E7"/>
            </a:solidFill>
            <a:prstDash val="solid"/>
          </a:ln>
        </p:spPr>
      </p:sp>
      <p:pic>
        <p:nvPicPr>
          <p:cNvPr id="26" name="Image 2" descr="/tmp/claude-0/-workspace-training/3ce5cff6-cccf-5f33-b0ee-0b147a55120e/scratchpad/img3/maxrate_form_crop.png">    </p:cNvPr>
          <p:cNvPicPr>
            <a:picLocks noChangeAspect="1"/>
          </p:cNvPicPr>
          <p:nvPr/>
        </p:nvPicPr>
        <p:blipFill>
          <a:blip r:embed="rId3"/>
          <a:stretch>
            <a:fillRect/>
          </a:stretch>
        </p:blipFill>
        <p:spPr>
          <a:xfrm>
            <a:off x="6123432" y="2010591"/>
            <a:ext cx="2535936" cy="1200041"/>
          </a:xfrm>
          <a:prstGeom prst="rect">
            <a:avLst/>
          </a:prstGeom>
        </p:spPr>
      </p:pic>
      <p:sp>
        <p:nvSpPr>
          <p:cNvPr id="27" name="Shape 21"/>
          <p:cNvSpPr/>
          <p:nvPr/>
        </p:nvSpPr>
        <p:spPr>
          <a:xfrm>
            <a:off x="411480" y="3566160"/>
            <a:ext cx="4091940" cy="777240"/>
          </a:xfrm>
          <a:prstGeom prst="roundRect">
            <a:avLst>
              <a:gd name="adj" fmla="val 9412"/>
            </a:avLst>
          </a:prstGeom>
          <a:solidFill>
            <a:srgbClr val="FFFFFF"/>
          </a:solidFill>
          <a:ln w="9525">
            <a:solidFill>
              <a:srgbClr val="DCE1E7"/>
            </a:solidFill>
            <a:prstDash val="solid"/>
          </a:ln>
        </p:spPr>
      </p:sp>
      <p:sp>
        <p:nvSpPr>
          <p:cNvPr id="28" name="Shape 22"/>
          <p:cNvSpPr/>
          <p:nvPr/>
        </p:nvSpPr>
        <p:spPr>
          <a:xfrm>
            <a:off x="576072" y="3758184"/>
            <a:ext cx="384048" cy="384048"/>
          </a:xfrm>
          <a:prstGeom prst="ellipse">
            <a:avLst/>
          </a:prstGeom>
          <a:solidFill>
            <a:srgbClr val="E3F4F1"/>
          </a:solidFill>
          <a:ln w="12700">
            <a:solidFill>
              <a:srgbClr val="E3F4F1"/>
            </a:solidFill>
            <a:prstDash val="solid"/>
          </a:ln>
        </p:spPr>
      </p:sp>
      <p:pic>
        <p:nvPicPr>
          <p:cNvPr id="29" name="Image 3" descr="preencoded.png">    </p:cNvPr>
          <p:cNvPicPr>
            <a:picLocks noChangeAspect="1"/>
          </p:cNvPicPr>
          <p:nvPr/>
        </p:nvPicPr>
        <p:blipFill>
          <a:blip r:embed="rId4"/>
          <a:stretch>
            <a:fillRect/>
          </a:stretch>
        </p:blipFill>
        <p:spPr>
          <a:xfrm>
            <a:off x="668244" y="3850356"/>
            <a:ext cx="199705" cy="199705"/>
          </a:xfrm>
          <a:prstGeom prst="rect">
            <a:avLst/>
          </a:prstGeom>
        </p:spPr>
      </p:pic>
      <p:sp>
        <p:nvSpPr>
          <p:cNvPr id="30" name="Text 23"/>
          <p:cNvSpPr txBox="1"/>
          <p:nvPr/>
        </p:nvSpPr>
        <p:spPr>
          <a:xfrm>
            <a:off x="1097280" y="3611880"/>
            <a:ext cx="3268980" cy="685800"/>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Protects the customer's wallet</a:t>
            </a:r>
            <a:endParaRPr lang="en-US" sz="1150" dirty="0"/>
          </a:p>
          <a:p>
            <a:pPr indent="0" marL="0">
              <a:buNone/>
            </a:pPr>
            <a:r>
              <a:rPr lang="en-US" sz="950" dirty="0">
                <a:solidFill>
                  <a:srgbClr val="6E6E73"/>
                </a:solidFill>
                <a:latin typeface="SF Pro Text" pitchFamily="34" charset="0"/>
                <a:ea typeface="SF Pro Text" pitchFamily="34" charset="-122"/>
                <a:cs typeface="SF Pro Text" pitchFamily="34" charset="-120"/>
              </a:rPr>
              <a:t>Cleaners above the cap can't claim. New jobs price at or below it.</a:t>
            </a:r>
            <a:endParaRPr lang="en-US" sz="1150" dirty="0"/>
          </a:p>
        </p:txBody>
      </p:sp>
      <p:sp>
        <p:nvSpPr>
          <p:cNvPr id="31" name="Shape 24"/>
          <p:cNvSpPr/>
          <p:nvPr/>
        </p:nvSpPr>
        <p:spPr>
          <a:xfrm>
            <a:off x="4640580" y="3566160"/>
            <a:ext cx="4091940" cy="777240"/>
          </a:xfrm>
          <a:prstGeom prst="roundRect">
            <a:avLst>
              <a:gd name="adj" fmla="val 9412"/>
            </a:avLst>
          </a:prstGeom>
          <a:solidFill>
            <a:srgbClr val="FFFFFF"/>
          </a:solidFill>
          <a:ln w="9525">
            <a:solidFill>
              <a:srgbClr val="DCE1E7"/>
            </a:solidFill>
            <a:prstDash val="solid"/>
          </a:ln>
        </p:spPr>
      </p:sp>
      <p:sp>
        <p:nvSpPr>
          <p:cNvPr id="32" name="Shape 25"/>
          <p:cNvSpPr/>
          <p:nvPr/>
        </p:nvSpPr>
        <p:spPr>
          <a:xfrm>
            <a:off x="4805172" y="3758184"/>
            <a:ext cx="384048" cy="384048"/>
          </a:xfrm>
          <a:prstGeom prst="ellipse">
            <a:avLst/>
          </a:prstGeom>
          <a:solidFill>
            <a:srgbClr val="E3F4F1"/>
          </a:solidFill>
          <a:ln w="12700">
            <a:solidFill>
              <a:srgbClr val="E3F4F1"/>
            </a:solidFill>
            <a:prstDash val="solid"/>
          </a:ln>
        </p:spPr>
      </p:sp>
      <p:pic>
        <p:nvPicPr>
          <p:cNvPr id="33" name="Image 4" descr="preencoded.png">    </p:cNvPr>
          <p:cNvPicPr>
            <a:picLocks noChangeAspect="1"/>
          </p:cNvPicPr>
          <p:nvPr/>
        </p:nvPicPr>
        <p:blipFill>
          <a:blip r:embed="rId5"/>
          <a:stretch>
            <a:fillRect/>
          </a:stretch>
        </p:blipFill>
        <p:spPr>
          <a:xfrm>
            <a:off x="4897344" y="3850356"/>
            <a:ext cx="199705" cy="199705"/>
          </a:xfrm>
          <a:prstGeom prst="rect">
            <a:avLst/>
          </a:prstGeom>
        </p:spPr>
      </p:pic>
      <p:sp>
        <p:nvSpPr>
          <p:cNvPr id="34" name="Text 26"/>
          <p:cNvSpPr txBox="1"/>
          <p:nvPr/>
        </p:nvSpPr>
        <p:spPr>
          <a:xfrm>
            <a:off x="5326380" y="3611880"/>
            <a:ext cx="3268980" cy="685800"/>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Shrinks the cleaner pool</a:t>
            </a:r>
            <a:endParaRPr lang="en-US" sz="1150" dirty="0"/>
          </a:p>
          <a:p>
            <a:pPr indent="0" marL="0">
              <a:buNone/>
            </a:pPr>
            <a:r>
              <a:rPr lang="en-US" sz="950" dirty="0">
                <a:solidFill>
                  <a:srgbClr val="6E6E73"/>
                </a:solidFill>
                <a:latin typeface="SF Pro Text" pitchFamily="34" charset="0"/>
                <a:ea typeface="SF Pro Text" pitchFamily="34" charset="-122"/>
                <a:cs typeface="SF Pro Text" pitchFamily="34" charset="-120"/>
              </a:rPr>
              <a:t>Their current cleaner may be above it. Too low, and jobs go unclaimed.</a:t>
            </a:r>
            <a:endParaRPr lang="en-US" sz="11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MAX CP RATE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set a cap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Flag these to the customer first.</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They may lose their cleaner</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Cleaners set their own rates. Theirs may be above the cap.</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Jobs may go unclaimed</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Especially where few cleaners charge that little.</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the area first</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Look at what cleaners near them charge on their dashboard.</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Typical ask:  </a:t>
            </a:r>
            <a:pPr indent="0" marL="0">
              <a:buNone/>
            </a:pPr>
            <a:r>
              <a:rPr lang="en-US" sz="1000" dirty="0">
                <a:solidFill>
                  <a:srgbClr val="1D1D1F"/>
                </a:solidFill>
                <a:latin typeface="SF Pro Text" pitchFamily="34" charset="0"/>
                <a:ea typeface="SF Pro Text" pitchFamily="34" charset="-122"/>
                <a:cs typeface="SF Pro Text" pitchFamily="34" charset="-120"/>
              </a:rPr>
              <a:t>most customers ask for $19–23/hr. Don't set a number blind.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MAX CP RATE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cap behaves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Several of these aren't what you'd expect.</a:t>
            </a:r>
            <a:endParaRPr lang="en-US" sz="12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11480" y="1234440"/>
          <a:ext cx="8321040" cy="914400"/>
        </p:xfrm>
        <a:graphic>
          <a:graphicData uri="http://schemas.openxmlformats.org/drawingml/2006/table">
            <a:tbl>
              <a:tblPr/>
              <a:tblGrid>
                <a:gridCol w="2743200"/>
                <a:gridCol w="5577840"/>
              </a:tblGrid>
              <a:tr h="329184">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Scenario</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What happens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Lowering the cap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Immediately lowers the rate on booked future jobs (submitted or claimed)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Raising the cap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Does nothing to existing jobs. A cap can never raise a rate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reschedules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The job keeps its rate. The nightly recalculation can't push it above the cap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New job booked after the cap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Prices at or below the cap automatically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Cleaner tries to claim above 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Can't. The cap blocks the claim</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taps Standard / Premium</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The cap stays in effect either way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Rate set on the Django job page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Admin-locked: skips the cap and the nightly sweep entirely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9" name="Text 4"/>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Charged above the cap?  </a:t>
            </a:r>
            <a:pPr indent="0" marL="0">
              <a:buNone/>
            </a:pPr>
            <a:r>
              <a:rPr lang="en-US" sz="1000" dirty="0">
                <a:solidFill>
                  <a:srgbClr val="1D1D1F"/>
                </a:solidFill>
                <a:latin typeface="SF Pro Text" pitchFamily="34" charset="0"/>
                <a:ea typeface="SF Pro Text" pitchFamily="34" charset="-122"/>
                <a:cs typeface="SF Pro Text" pitchFamily="34" charset="-120"/>
              </a:rPr>
              <a:t>check whether that job's rate was set via Django first.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MAX CP RATE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tell the customer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After the cap is set.</a:t>
            </a:r>
            <a:endParaRPr lang="en-US" sz="1200" dirty="0"/>
          </a:p>
        </p:txBody>
      </p:sp>
      <p:sp>
        <p:nvSpPr>
          <p:cNvPr id="6" name="Shape 3"/>
          <p:cNvSpPr/>
          <p:nvPr/>
        </p:nvSpPr>
        <p:spPr>
          <a:xfrm>
            <a:off x="411480" y="1280160"/>
            <a:ext cx="197739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Best match</a:t>
            </a:r>
            <a:endParaRPr lang="en-US" sz="1200" dirty="0"/>
          </a:p>
        </p:txBody>
      </p:sp>
      <p:sp>
        <p:nvSpPr>
          <p:cNvPr id="10" name="Text 6"/>
          <p:cNvSpPr txBox="1"/>
          <p:nvPr/>
        </p:nvSpPr>
        <p:spPr>
          <a:xfrm>
            <a:off x="57607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To cleaners at or below their rate. Never "only" or "guaranteed".</a:t>
            </a:r>
            <a:endParaRPr lang="en-US" sz="950" dirty="0"/>
          </a:p>
        </p:txBody>
      </p:sp>
      <p:sp>
        <p:nvSpPr>
          <p:cNvPr id="11" name="Shape 7"/>
          <p:cNvSpPr/>
          <p:nvPr/>
        </p:nvSpPr>
        <p:spPr>
          <a:xfrm>
            <a:off x="2526030" y="1280160"/>
            <a:ext cx="197739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Estimate on claim</a:t>
            </a:r>
            <a:endParaRPr lang="en-US" sz="1200" dirty="0"/>
          </a:p>
        </p:txBody>
      </p:sp>
      <p:sp>
        <p:nvSpPr>
          <p:cNvPr id="15" name="Text 10"/>
          <p:cNvSpPr txBox="1"/>
          <p:nvPr/>
        </p:nvSpPr>
        <p:spPr>
          <a:xfrm>
            <a:off x="269062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invoice estimate shows on their dashboard right away.</a:t>
            </a:r>
            <a:endParaRPr lang="en-US" sz="950" dirty="0"/>
          </a:p>
        </p:txBody>
      </p:sp>
      <p:sp>
        <p:nvSpPr>
          <p:cNvPr id="16" name="Shape 11"/>
          <p:cNvSpPr/>
          <p:nvPr/>
        </p:nvSpPr>
        <p:spPr>
          <a:xfrm>
            <a:off x="4640580" y="1280160"/>
            <a:ext cx="197739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Rematch</a:t>
            </a:r>
            <a:endParaRPr lang="en-US" sz="1200" dirty="0"/>
          </a:p>
        </p:txBody>
      </p:sp>
      <p:sp>
        <p:nvSpPr>
          <p:cNvPr id="20" name="Text 14"/>
          <p:cNvSpPr txBox="1"/>
          <p:nvPr/>
        </p:nvSpPr>
        <p:spPr>
          <a:xfrm>
            <a:off x="480517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can request one up to 6 hours before the appointment.</a:t>
            </a:r>
            <a:endParaRPr lang="en-US" sz="950" dirty="0"/>
          </a:p>
        </p:txBody>
      </p:sp>
      <p:sp>
        <p:nvSpPr>
          <p:cNvPr id="21" name="Shape 15"/>
          <p:cNvSpPr/>
          <p:nvPr/>
        </p:nvSpPr>
        <p:spPr>
          <a:xfrm>
            <a:off x="6755130" y="1280160"/>
            <a:ext cx="1977390" cy="1600200"/>
          </a:xfrm>
          <a:prstGeom prst="roundRect">
            <a:avLst>
              <a:gd name="adj" fmla="val 4571"/>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Lowering it?</a:t>
            </a:r>
            <a:endParaRPr lang="en-US" sz="1200" dirty="0"/>
          </a:p>
        </p:txBody>
      </p:sp>
      <p:sp>
        <p:nvSpPr>
          <p:cNvPr id="25" name="Text 18"/>
          <p:cNvSpPr txBox="1"/>
          <p:nvPr/>
        </p:nvSpPr>
        <p:spPr>
          <a:xfrm>
            <a:off x="6919722" y="21762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 can change jobs they've already booked too.</a:t>
            </a:r>
            <a:endParaRPr lang="en-US" sz="950" dirty="0"/>
          </a:p>
        </p:txBody>
      </p:sp>
      <p:sp>
        <p:nvSpPr>
          <p:cNvPr id="26" name="Shape 19"/>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172968"/>
            <a:ext cx="164592" cy="164592"/>
          </a:xfrm>
          <a:prstGeom prst="rect">
            <a:avLst/>
          </a:prstGeom>
        </p:spPr>
      </p:pic>
      <p:sp>
        <p:nvSpPr>
          <p:cNvPr id="28" name="Text 20"/>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Say it plainly:  </a:t>
            </a:r>
            <a:pPr indent="0" marL="0">
              <a:buNone/>
            </a:pPr>
            <a:r>
              <a:rPr lang="en-US" sz="1000" dirty="0">
                <a:solidFill>
                  <a:srgbClr val="1D1D1F"/>
                </a:solidFill>
                <a:latin typeface="SF Pro Text" pitchFamily="34" charset="0"/>
                <a:ea typeface="SF Pro Text" pitchFamily="34" charset="-122"/>
                <a:cs typeface="SF Pro Text" pitchFamily="34" charset="-120"/>
              </a:rPr>
              <a:t>"the highest rate a cleaner can charge for your jobs", not "max CP rate".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3/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Platform &amp; Operating Mechanics</dc:title>
  <dc:subject>PptxGenJS Presentation</dc:subject>
  <dc:creator>PptxGenJS</dc:creator>
  <cp:lastModifiedBy>PptxGenJS</cp:lastModifiedBy>
  <cp:revision>1</cp:revision>
  <dcterms:created xsi:type="dcterms:W3CDTF">2026-10-02T15:10:48Z</dcterms:created>
  <dcterms:modified xsi:type="dcterms:W3CDTF">2026-10-02T15:10:48Z</dcterms:modified>
</cp:coreProperties>
</file>