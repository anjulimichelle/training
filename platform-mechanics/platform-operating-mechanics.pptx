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C Price vs CP Pay, Vouchers in CRM, Non-Logged-In Visitor Tickets, and Max CP Rate.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options at the top right of Customer Information: 1 Callbox with the primary number; 2 GVoice (Google Voice); 3 Callbox with the secondary number (same Callbox button, choose the Secondary Phone in the From list). Call order: Primary CRM, then Google Voice, then Secondary CRM. TRAINER: click Show screens (or press the right arrow) to reveal each screen in order. Important: check the customer's Local Time before making a call (8 AM - 8 PM their time). Customer details are sample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give trainees time to calculate, then click Show Answers (or press the right arrow). Each click reveals one cohort. Working: billable hours = 4 - 1.5 voucher = 2.5. FC: $25 x 2.5 = $62.50; + 15% processing = $71.88; + 8% tax = $77.63; - $12 credits = $65.63. Non-FC: ($25 + $15) x 2.5 = $100.00; + 5% = $105.00; + 8% = $113.40; - $12 = $101.40. Deactivated (cancelled) FC: ($25 + $30) x 2.5 = $137.50; + 5% = $144.38; + 8% = $155.93; - $12 = $143.93.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C is a repeat client and books a cleaning for 5 hours. C has a 3-hour cleaning voucher that will be applied to the job. Calculate the total job pay of CP Sarah and CP Gab if the job also has a $12.50 surge bonus and a $10.00 tip. TRAINER: click Show Answers (or press the right arrow); each click reveals one answer, then the key takeaway. Working: the voucher only changes what the customer pays. The CP is paid for all 5 hours (Homeaglow pays the CP regardless of vouchers, credits or failed charges). Sarah (CA/CAWA, repeat rate $28): $28 x 5 = $140 + $12.50 surge + $10 tip = $162.50. Gab (General, repeat client so no $5 match fee): $24 x 5 = $120 + $12.50 + $10 = $142.50.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Vouchers show up constantly in refund, cancellation and retention tickets. Getting the type wrong leads to real mistakes, like invalidating a voucher that should have been refundable, or telling a customer their gift card triggers a membership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Depending on how a customer signed up, they may have paid for it directly (Legacy DHJ), received it automatically when signing up for a membership (FCF), got it through a referral or gift, or received one from Care as a courtesy. Vouchers are the entry point for Legacy DHJ memberships: the customer's first interaction is "I bought a voucher." For FCF it is the reverse: the customer signs up for a membership directly, and the system issues a free DHJ voucher behind the scenes. All new customers move to FCF from August 3, 2026, so most new sign-ups won't have "bought a voucher" from their own perspective, even though a voucher exists on their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Voucher hours are deducted from a cleaning's total hours regardless of the CP's hourly rate. If the customer books longer than the voucher, the extra hours are charged at Homeaglow's standard rate. Customers redeem a voucher at &lt;&lt;Brand Name&gt;&gt;.com/redeem and must enter Zip code, Email and Voucher Code. One voucher per household: we generally allow one paid voucher per household; the system detects a paid voucher on the registered address and blocks another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column. Code: the 16-letter redemption code (e.g. ABCD-EFGH-IJKL-MNOP). Merchant: the voucher type, e.g. dhj, dhj_gift, groupon. Price and Hours: what was paid and the voucher duration; free FCF DHJ vouchers have no price. Purchased and Expires. FC and Refund. Use "+ Issue voucher" to issue one, and "View all in legacy CRM" for the full voucher history. In the legacy CRM the voucher sits below the card logo in an orange box; an applied voucher shows a green box with a check mark, job ID and appointment date; canceled, invalidated or expired vouchers are grayed out with the reason next to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Unused (issued or redeemed): assigned to the account and will apply to the next invoiced job, shown in an orange box with duration, type, price and the 16-letter code. Applied (used): a green box with a check mark, the job ID and the appointment date and time. Grayed out: canceled/invalidated (removed through a refund, dispute or admin invalidation), converted (turned into credits equal to the purchase price), or expired. The reason usually appears beside the code. Refunded: refunded to the customer's card 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before you invalidate, refund or explain any voucher. DHJ refunds can be done from the C Dashboard if purchased one year ago or less, or from the CRM. A DHJ converts to credits if an unqualified customer tries to redeem a second DHJ. Third-party merchant vouchers convert to credits on expiry. Legacy DHJ is deprecated: all new customers are on the new membership model from August 3, 2026, except those who bought a DHJ before the flip and customers who came from an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DHJ (new membership model): instead of buying a voucher, the customer signs up for a membership, pays a $19 MF upfront, and the system issues a free 3-hour DHJ voucher with no price indicator in the CRM; the membership is charged when the DHJ is applied to the account. DHJ Gift: shown as dhj_gift on the guest's account; single use (only the first guest can redeem); triggers FC once used; expires in 90 days. Third-party merchant (Groupon, Living Social, Gilt City): expires 90 days after redemption; cannot be split across appointments, and no admin courtesy voucher is issued for unused hours; converts to credits on expiry. CP Offer: up to 30 minutes off from a CP the customer has worked with; claim within 2 days, use within 30 days. Admin Courtesy: issued by CS or the system for refund requests, unworked hours, reviews or retention. Homeaglow Gift Card (since December 2025): a one-time cleaning bought as a gift; does NOT trigger FC and is not tied to the buyer's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Groupon: determine the reason (e.g. no show, cleaning quality) and address it; use the "Refund voucher (groupon)" macro in the comms kit for self-refund instructions; invalidate the voucher, otherwise Groupon may be unable to refund. Second &lt;&lt;BRAND&gt;&gt; voucher: first response, address the reason, encourage them to keep it, and give the self-refund link and instructions; second response, refund via C CRM &gt; Do &gt; Voucher &gt; Refund &gt; 2nd Voucher and let the customer know. Homeaglow Gift Card: first response, address the reason, remind them the card is valid for 2 years and can be gifted later, point them to the purchase confirmation email for the code, and invite them to reach out again; second response, escalate to your department's CSQ sheet so the charge is refunded via Stripe.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1: two Groupon vouchers, the second converts to credits. Scenario 2: Groupon or second brand voucher applied to a shorter job, no admin courtesy voucher for unused hours (unlike DHJ). Scenario 3: DHJ voucher or active FC, then a Groupon, the Groupon converts to credits. Scenario 4: past invoiced job, then a Groupon, converts to credits because third-party vouchers are for new customers only. Scenario 5: Groupon first then DHJ: allowed, so we can convert them to FC; the DHJ is applied first; both can be used on separate appointments. Scenario 6: active FC customers can buy a 2nd DHJ if only one is true: booking address previously serviced by a DHJ, a card tied to a previous DHJ, or a used DHJ on the account. Scenario 7: deactivated FC customers can buy a new DHJ via the /deals page if they have no unused vouchers, no active FC, and none of the flags disputed_stripe_charge_id, customer_disputed_voucher, known_customer_fraud.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submits a ticket, usually via a public contact form or the Help Center, using an email address that already belongs to a registered customer. They haven't logged in, and may not actually be that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1) the Triggered ticket badge and the source (Help Center); 2) the system note: "A non-logged in visitor submitted the below ticket using this user's email address. To avoid leaking sensitive information, ask the user to log in and re-submit a ticket as appropriate."; 3) the visitor's actual message. A matching email does not prove the person is the account owner. Anyone can type an email address into a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customers, or a customer and someone impersonating them, could share visibility into the same account if you respond to the wrong party as if they were the account owner. Treat verifying identity as the first step, not an afterthought.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don't assume the submitter is the account owner just because the email matches. Step 2: check the account for identifying details, such as recent job details, the address, or an issue description that matches what's on file. Confirmed (their description matches account history, they reference specifics only the owner would know): proceed normally, no extra hoops for a genuinely verified customer. Can't confirm: respond generically; don't confirm account details, upcoming appointments or charges; ask them to log in to their dashboard or give a couple of identifying details first. Clearly not the owner (mismatched details, or asking something the real owner wouldn't need to ask): treat it as an unverified inquiry and share nothing account-specific.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can set a maximum hourly rate on a customer's behalf. It's a pricing lever with real trade-offs: a lower cap protects the customer's wallet, but shrinks the pool of cleaners who can claim their jobs, possibly including their current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can set a maximum hourly rate on a customer's behalf via the Update Max Rate action in the legacy CRM (C CRM &gt; Do). It caps what CPs can claim the customer's jobs at, going forward; CPs above that rate simply can't claim. Trade-off: a lower cap protects the customer's wallet, but shrinks the pool of CPs who can claim, possibly including their current CP if that CP's rate is above the new cap. Setting it without understanding how it interacts with booked jobs, rescheduling and admin-locked jobs is how a well-intentioned cap turns into an unclaimed-job ticket a week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CPs set their own rates, so a lower cap can mean losing access to some of the platform's best cleaners, including the customer's current CP if that CP's rate is above the new cap. Setting it too low can mean jobs go unclaimed, especially in areas with fewer CPs at that price point. Most customers ask for $19-23/hr. Before setting the cap, check the customer's dashboard to see what CPs in their area actually charge. Don't set a number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easiest mistakes: assuming raising a cap will correct an existing job's rate (it won't; a cap can never raise a rate), and forgetting that admin-locked jobs (rate set via the Django job page) bypass the cap and the nightly sweep entirely. So a customer saying "I set a cap and this job still charged more" isn't necessarily wrong. Check whether that job was set via Django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Jobs are matched to CPs at or below their selected rate whenever possible; avoid "only" or "guaranteed" language. An invoice estimate shows on their dashboard right away once a CP claims the job. They can request a rematch up to 6 hours before the appointment. If they are lowering their cap, tell them it may affect upcoming jobs they've already booked, not just future ones; this is the part that most contradicts intuition. Don't guarantee: this is a newly shipped feature still being monitored for edge cases, and admin-locked jobs bypass the cap. Terminology: don't say "max CP rate" or "max rate" to the customer; use plain language, e.g. "the highest rate a cleaner can charge for your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8-1.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2.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2.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2.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2.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2.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2.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jobs, callbacks, pricing, vouchers, unverified tickets and rate caps work behind the scenes.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the columns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a number to reveal what that column tells you. Read the rows from the bottom up.</a:t>
            </a:r>
            <a:endParaRPr lang="en-US" sz="1200" dirty="0"/>
          </a:p>
        </p:txBody>
      </p:sp>
      <p:sp>
        <p:nvSpPr>
          <p:cNvPr id="6" name="Shape 3"/>
          <p:cNvSpPr/>
          <p:nvPr/>
        </p:nvSpPr>
        <p:spPr>
          <a:xfrm>
            <a:off x="411480" y="1188720"/>
            <a:ext cx="5440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_hdr.png">    </p:cNvPr>
          <p:cNvPicPr>
            <a:picLocks noChangeAspect="1"/>
          </p:cNvPicPr>
          <p:nvPr/>
        </p:nvPicPr>
        <p:blipFill>
          <a:blip r:embed="rId1"/>
          <a:stretch>
            <a:fillRect/>
          </a:stretch>
        </p:blipFill>
        <p:spPr>
          <a:xfrm>
            <a:off x="484632" y="1730783"/>
            <a:ext cx="5294376" cy="2436314"/>
          </a:xfrm>
          <a:prstGeom prst="rect">
            <a:avLst/>
          </a:prstGeom>
        </p:spPr>
      </p:pic>
      <p:sp>
        <p:nvSpPr>
          <p:cNvPr id="8" name="Shape 4"/>
          <p:cNvSpPr/>
          <p:nvPr/>
        </p:nvSpPr>
        <p:spPr>
          <a:xfrm>
            <a:off x="861339" y="1984651"/>
            <a:ext cx="491357" cy="77798"/>
          </a:xfrm>
          <a:prstGeom prst="roundRect">
            <a:avLst>
              <a:gd name="adj" fmla="val 23507"/>
            </a:avLst>
          </a:prstGeom>
          <a:ln w="19050">
            <a:solidFill>
              <a:srgbClr val="0B7A6F"/>
            </a:solidFill>
            <a:prstDash val="solid"/>
          </a:ln>
        </p:spPr>
      </p:sp>
      <p:sp>
        <p:nvSpPr>
          <p:cNvPr id="9" name="Shape 5"/>
          <p:cNvSpPr/>
          <p:nvPr/>
        </p:nvSpPr>
        <p:spPr>
          <a:xfrm>
            <a:off x="1015578" y="1774339"/>
            <a:ext cx="182880" cy="182880"/>
          </a:xfrm>
          <a:prstGeom prst="ellipse">
            <a:avLst/>
          </a:prstGeom>
          <a:solidFill>
            <a:srgbClr val="0B7A6F"/>
          </a:solidFill>
          <a:ln w="12700">
            <a:solidFill>
              <a:srgbClr val="FFFFFF"/>
            </a:solidFill>
            <a:prstDash val="solid"/>
          </a:ln>
        </p:spPr>
      </p:sp>
      <p:sp>
        <p:nvSpPr>
          <p:cNvPr id="10" name="Text 6"/>
          <p:cNvSpPr txBox="1"/>
          <p:nvPr/>
        </p:nvSpPr>
        <p:spPr>
          <a:xfrm>
            <a:off x="1015578"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1</a:t>
            </a:r>
            <a:endParaRPr lang="en-US" sz="750" dirty="0"/>
          </a:p>
        </p:txBody>
      </p:sp>
      <p:sp>
        <p:nvSpPr>
          <p:cNvPr id="11" name="Shape 7"/>
          <p:cNvSpPr/>
          <p:nvPr/>
        </p:nvSpPr>
        <p:spPr>
          <a:xfrm>
            <a:off x="1381359" y="1984651"/>
            <a:ext cx="466790" cy="77798"/>
          </a:xfrm>
          <a:prstGeom prst="roundRect">
            <a:avLst>
              <a:gd name="adj" fmla="val 23507"/>
            </a:avLst>
          </a:prstGeom>
          <a:ln w="19050">
            <a:solidFill>
              <a:srgbClr val="0B7A6F"/>
            </a:solidFill>
            <a:prstDash val="solid"/>
          </a:ln>
        </p:spPr>
      </p:sp>
      <p:sp>
        <p:nvSpPr>
          <p:cNvPr id="12" name="Shape 8"/>
          <p:cNvSpPr/>
          <p:nvPr/>
        </p:nvSpPr>
        <p:spPr>
          <a:xfrm>
            <a:off x="1523314" y="1774339"/>
            <a:ext cx="182880" cy="182880"/>
          </a:xfrm>
          <a:prstGeom prst="ellipse">
            <a:avLst/>
          </a:prstGeom>
          <a:solidFill>
            <a:srgbClr val="0B7A6F"/>
          </a:solidFill>
          <a:ln w="12700">
            <a:solidFill>
              <a:srgbClr val="FFFFFF"/>
            </a:solidFill>
            <a:prstDash val="solid"/>
          </a:ln>
        </p:spPr>
      </p:sp>
      <p:sp>
        <p:nvSpPr>
          <p:cNvPr id="13" name="Text 9"/>
          <p:cNvSpPr txBox="1"/>
          <p:nvPr/>
        </p:nvSpPr>
        <p:spPr>
          <a:xfrm>
            <a:off x="152331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2</a:t>
            </a:r>
            <a:endParaRPr lang="en-US" sz="750" dirty="0"/>
          </a:p>
        </p:txBody>
      </p:sp>
      <p:sp>
        <p:nvSpPr>
          <p:cNvPr id="14" name="Shape 10"/>
          <p:cNvSpPr/>
          <p:nvPr/>
        </p:nvSpPr>
        <p:spPr>
          <a:xfrm>
            <a:off x="1885001" y="1984651"/>
            <a:ext cx="237489" cy="77798"/>
          </a:xfrm>
          <a:prstGeom prst="roundRect">
            <a:avLst>
              <a:gd name="adj" fmla="val 23507"/>
            </a:avLst>
          </a:prstGeom>
          <a:ln w="19050">
            <a:solidFill>
              <a:srgbClr val="0B7A6F"/>
            </a:solidFill>
            <a:prstDash val="solid"/>
          </a:ln>
        </p:spPr>
      </p:sp>
      <p:sp>
        <p:nvSpPr>
          <p:cNvPr id="15" name="Shape 11"/>
          <p:cNvSpPr/>
          <p:nvPr/>
        </p:nvSpPr>
        <p:spPr>
          <a:xfrm>
            <a:off x="1912305" y="1774339"/>
            <a:ext cx="182880" cy="182880"/>
          </a:xfrm>
          <a:prstGeom prst="ellipse">
            <a:avLst/>
          </a:prstGeom>
          <a:solidFill>
            <a:srgbClr val="0B7A6F"/>
          </a:solidFill>
          <a:ln w="12700">
            <a:solidFill>
              <a:srgbClr val="FFFFFF"/>
            </a:solidFill>
            <a:prstDash val="solid"/>
          </a:ln>
        </p:spPr>
      </p:sp>
      <p:sp>
        <p:nvSpPr>
          <p:cNvPr id="16" name="Text 12"/>
          <p:cNvSpPr txBox="1"/>
          <p:nvPr/>
        </p:nvSpPr>
        <p:spPr>
          <a:xfrm>
            <a:off x="191230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3</a:t>
            </a:r>
            <a:endParaRPr lang="en-US" sz="750" dirty="0"/>
          </a:p>
        </p:txBody>
      </p:sp>
      <p:sp>
        <p:nvSpPr>
          <p:cNvPr id="17" name="Shape 13"/>
          <p:cNvSpPr/>
          <p:nvPr/>
        </p:nvSpPr>
        <p:spPr>
          <a:xfrm>
            <a:off x="2376358" y="1984651"/>
            <a:ext cx="515925" cy="77798"/>
          </a:xfrm>
          <a:prstGeom prst="roundRect">
            <a:avLst>
              <a:gd name="adj" fmla="val 23507"/>
            </a:avLst>
          </a:prstGeom>
          <a:ln w="19050">
            <a:solidFill>
              <a:srgbClr val="0B7A6F"/>
            </a:solidFill>
            <a:prstDash val="solid"/>
          </a:ln>
        </p:spPr>
      </p:sp>
      <p:sp>
        <p:nvSpPr>
          <p:cNvPr id="18" name="Shape 14"/>
          <p:cNvSpPr/>
          <p:nvPr/>
        </p:nvSpPr>
        <p:spPr>
          <a:xfrm>
            <a:off x="2542881" y="1774339"/>
            <a:ext cx="182880" cy="182880"/>
          </a:xfrm>
          <a:prstGeom prst="ellipse">
            <a:avLst/>
          </a:prstGeom>
          <a:solidFill>
            <a:srgbClr val="0B7A6F"/>
          </a:solidFill>
          <a:ln w="12700">
            <a:solidFill>
              <a:srgbClr val="FFFFFF"/>
            </a:solidFill>
            <a:prstDash val="solid"/>
          </a:ln>
        </p:spPr>
      </p:sp>
      <p:sp>
        <p:nvSpPr>
          <p:cNvPr id="19" name="Text 15"/>
          <p:cNvSpPr txBox="1"/>
          <p:nvPr/>
        </p:nvSpPr>
        <p:spPr>
          <a:xfrm>
            <a:off x="254288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4</a:t>
            </a:r>
            <a:endParaRPr lang="en-US" sz="750" dirty="0"/>
          </a:p>
        </p:txBody>
      </p:sp>
      <p:sp>
        <p:nvSpPr>
          <p:cNvPr id="20" name="Shape 16"/>
          <p:cNvSpPr/>
          <p:nvPr/>
        </p:nvSpPr>
        <p:spPr>
          <a:xfrm>
            <a:off x="2916851" y="1984651"/>
            <a:ext cx="163786" cy="77798"/>
          </a:xfrm>
          <a:prstGeom prst="roundRect">
            <a:avLst>
              <a:gd name="adj" fmla="val 23507"/>
            </a:avLst>
          </a:prstGeom>
          <a:ln w="19050">
            <a:solidFill>
              <a:srgbClr val="0B7A6F"/>
            </a:solidFill>
            <a:prstDash val="solid"/>
          </a:ln>
        </p:spPr>
      </p:sp>
      <p:sp>
        <p:nvSpPr>
          <p:cNvPr id="21" name="Shape 17"/>
          <p:cNvSpPr/>
          <p:nvPr/>
        </p:nvSpPr>
        <p:spPr>
          <a:xfrm>
            <a:off x="2907304" y="1774339"/>
            <a:ext cx="182880" cy="182880"/>
          </a:xfrm>
          <a:prstGeom prst="ellipse">
            <a:avLst/>
          </a:prstGeom>
          <a:solidFill>
            <a:srgbClr val="0B7A6F"/>
          </a:solidFill>
          <a:ln w="12700">
            <a:solidFill>
              <a:srgbClr val="FFFFFF"/>
            </a:solidFill>
            <a:prstDash val="solid"/>
          </a:ln>
        </p:spPr>
      </p:sp>
      <p:sp>
        <p:nvSpPr>
          <p:cNvPr id="22" name="Text 18"/>
          <p:cNvSpPr txBox="1"/>
          <p:nvPr/>
        </p:nvSpPr>
        <p:spPr>
          <a:xfrm>
            <a:off x="290730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5</a:t>
            </a:r>
            <a:endParaRPr lang="en-US" sz="750" dirty="0"/>
          </a:p>
        </p:txBody>
      </p:sp>
      <p:sp>
        <p:nvSpPr>
          <p:cNvPr id="23" name="Shape 19"/>
          <p:cNvSpPr/>
          <p:nvPr/>
        </p:nvSpPr>
        <p:spPr>
          <a:xfrm>
            <a:off x="3109299" y="1984651"/>
            <a:ext cx="241584" cy="77798"/>
          </a:xfrm>
          <a:prstGeom prst="roundRect">
            <a:avLst>
              <a:gd name="adj" fmla="val 23507"/>
            </a:avLst>
          </a:prstGeom>
          <a:ln w="19050">
            <a:solidFill>
              <a:srgbClr val="0B7A6F"/>
            </a:solidFill>
            <a:prstDash val="solid"/>
          </a:ln>
        </p:spPr>
      </p:sp>
      <p:sp>
        <p:nvSpPr>
          <p:cNvPr id="24" name="Shape 20"/>
          <p:cNvSpPr/>
          <p:nvPr/>
        </p:nvSpPr>
        <p:spPr>
          <a:xfrm>
            <a:off x="3138651" y="1774339"/>
            <a:ext cx="182880" cy="182880"/>
          </a:xfrm>
          <a:prstGeom prst="ellipse">
            <a:avLst/>
          </a:prstGeom>
          <a:solidFill>
            <a:srgbClr val="0B7A6F"/>
          </a:solidFill>
          <a:ln w="12700">
            <a:solidFill>
              <a:srgbClr val="FFFFFF"/>
            </a:solidFill>
            <a:prstDash val="solid"/>
          </a:ln>
        </p:spPr>
      </p:sp>
      <p:sp>
        <p:nvSpPr>
          <p:cNvPr id="25" name="Text 21"/>
          <p:cNvSpPr txBox="1"/>
          <p:nvPr/>
        </p:nvSpPr>
        <p:spPr>
          <a:xfrm>
            <a:off x="313865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6</a:t>
            </a:r>
            <a:endParaRPr lang="en-US" sz="750" dirty="0"/>
          </a:p>
        </p:txBody>
      </p:sp>
      <p:sp>
        <p:nvSpPr>
          <p:cNvPr id="26" name="Shape 22"/>
          <p:cNvSpPr/>
          <p:nvPr/>
        </p:nvSpPr>
        <p:spPr>
          <a:xfrm>
            <a:off x="5156622" y="1984651"/>
            <a:ext cx="225205" cy="77798"/>
          </a:xfrm>
          <a:prstGeom prst="roundRect">
            <a:avLst>
              <a:gd name="adj" fmla="val 23507"/>
            </a:avLst>
          </a:prstGeom>
          <a:ln w="19050">
            <a:solidFill>
              <a:srgbClr val="0B7A6F"/>
            </a:solidFill>
            <a:prstDash val="solid"/>
          </a:ln>
        </p:spPr>
      </p:sp>
      <p:sp>
        <p:nvSpPr>
          <p:cNvPr id="27" name="Shape 23"/>
          <p:cNvSpPr/>
          <p:nvPr/>
        </p:nvSpPr>
        <p:spPr>
          <a:xfrm>
            <a:off x="5177785" y="1774339"/>
            <a:ext cx="182880" cy="182880"/>
          </a:xfrm>
          <a:prstGeom prst="ellipse">
            <a:avLst/>
          </a:prstGeom>
          <a:solidFill>
            <a:srgbClr val="0B7A6F"/>
          </a:solidFill>
          <a:ln w="12700">
            <a:solidFill>
              <a:srgbClr val="FFFFFF"/>
            </a:solidFill>
            <a:prstDash val="solid"/>
          </a:ln>
        </p:spPr>
      </p:sp>
      <p:sp>
        <p:nvSpPr>
          <p:cNvPr id="28" name="Text 24"/>
          <p:cNvSpPr txBox="1"/>
          <p:nvPr/>
        </p:nvSpPr>
        <p:spPr>
          <a:xfrm>
            <a:off x="517778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7</a:t>
            </a:r>
            <a:endParaRPr lang="en-US" sz="750" dirty="0"/>
          </a:p>
        </p:txBody>
      </p:sp>
      <p:sp>
        <p:nvSpPr>
          <p:cNvPr id="29" name="Shape 25"/>
          <p:cNvSpPr/>
          <p:nvPr/>
        </p:nvSpPr>
        <p:spPr>
          <a:xfrm>
            <a:off x="5989320" y="1188720"/>
            <a:ext cx="2743200" cy="3520440"/>
          </a:xfrm>
          <a:prstGeom prst="roundRect">
            <a:avLst>
              <a:gd name="adj" fmla="val 2667"/>
            </a:avLst>
          </a:prstGeom>
          <a:solidFill>
            <a:srgbClr val="E3F4F1"/>
          </a:solidFill>
          <a:ln w="9525">
            <a:solidFill>
              <a:srgbClr val="E3F4F1"/>
            </a:solidFill>
            <a:prstDash val="solid"/>
          </a:ln>
        </p:spPr>
      </p:sp>
      <p:sp>
        <p:nvSpPr>
          <p:cNvPr id="30" name="revealColumns"/>
          <p:cNvSpPr txBox="1"/>
          <p:nvPr/>
        </p:nvSpPr>
        <p:spPr>
          <a:xfrm>
            <a:off x="6108192" y="1298448"/>
            <a:ext cx="2514600" cy="3291840"/>
          </a:xfrm>
          <a:prstGeom prst="rect">
            <a:avLst/>
          </a:prstGeom>
          <a:noFill/>
          <a:ln/>
        </p:spPr>
        <p:txBody>
          <a:bodyPr wrap="square" lIns="0" tIns="0" rIns="0" bIns="0" rtlCol="0" anchor="t"/>
          <a:lstStyle/>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1  Job Start: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and date at the time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2  Job Start After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after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3  Action 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time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4  Job Status Before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status of the job before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5  Actor: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one who took the action: the C, CP, CS, or system</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6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action taken on the job. Written to be self-explanatory</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7  Comment: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logs any essential detail to the action</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xEl>
                                              <p:pRg st="0" end="0"/>
                                            </p:txEl>
                                          </p:spTgt>
                                        </p:tgtEl>
                                        <p:attrNameLst>
                                          <p:attrName>style.visibility</p:attrName>
                                        </p:attrNameLst>
                                      </p:cBhvr>
                                      <p:to>
                                        <p:strVal val="visible"/>
                                      </p:to>
                                    </p:set>
                                    <p:animEffect transition="in" filter="fade">
                                      <p:cBhvr>
                                        <p:cTn id="7" dur="600"/>
                                        <p:tgtEl>
                                          <p:spTgt spid="3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0">
                                            <p:txEl>
                                              <p:pRg st="1" end="1"/>
                                            </p:txEl>
                                          </p:spTgt>
                                        </p:tgtEl>
                                        <p:attrNameLst>
                                          <p:attrName>style.visibility</p:attrName>
                                        </p:attrNameLst>
                                      </p:cBhvr>
                                      <p:to>
                                        <p:strVal val="visible"/>
                                      </p:to>
                                    </p:set>
                                    <p:animEffect transition="in" filter="fade">
                                      <p:cBhvr>
                                        <p:cTn id="12" dur="600"/>
                                        <p:tgtEl>
                                          <p:spTgt spid="3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xEl>
                                              <p:pRg st="2" end="2"/>
                                            </p:txEl>
                                          </p:spTgt>
                                        </p:tgtEl>
                                        <p:attrNameLst>
                                          <p:attrName>style.visibility</p:attrName>
                                        </p:attrNameLst>
                                      </p:cBhvr>
                                      <p:to>
                                        <p:strVal val="visible"/>
                                      </p:to>
                                    </p:set>
                                    <p:animEffect transition="in" filter="fade">
                                      <p:cBhvr>
                                        <p:cTn id="17" dur="600"/>
                                        <p:tgtEl>
                                          <p:spTgt spid="3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0">
                                            <p:txEl>
                                              <p:pRg st="3" end="3"/>
                                            </p:txEl>
                                          </p:spTgt>
                                        </p:tgtEl>
                                        <p:attrNameLst>
                                          <p:attrName>style.visibility</p:attrName>
                                        </p:attrNameLst>
                                      </p:cBhvr>
                                      <p:to>
                                        <p:strVal val="visible"/>
                                      </p:to>
                                    </p:set>
                                    <p:animEffect transition="in" filter="fade">
                                      <p:cBhvr>
                                        <p:cTn id="22" dur="600"/>
                                        <p:tgtEl>
                                          <p:spTgt spid="3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0">
                                            <p:txEl>
                                              <p:pRg st="4" end="4"/>
                                            </p:txEl>
                                          </p:spTgt>
                                        </p:tgtEl>
                                        <p:attrNameLst>
                                          <p:attrName>style.visibility</p:attrName>
                                        </p:attrNameLst>
                                      </p:cBhvr>
                                      <p:to>
                                        <p:strVal val="visible"/>
                                      </p:to>
                                    </p:set>
                                    <p:animEffect transition="in" filter="fade">
                                      <p:cBhvr>
                                        <p:cTn id="27" dur="600"/>
                                        <p:tgtEl>
                                          <p:spTgt spid="3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0">
                                            <p:txEl>
                                              <p:pRg st="5" end="5"/>
                                            </p:txEl>
                                          </p:spTgt>
                                        </p:tgtEl>
                                        <p:attrNameLst>
                                          <p:attrName>style.visibility</p:attrName>
                                        </p:attrNameLst>
                                      </p:cBhvr>
                                      <p:to>
                                        <p:strVal val="visible"/>
                                      </p:to>
                                    </p:set>
                                    <p:animEffect transition="in" filter="fade">
                                      <p:cBhvr>
                                        <p:cTn id="32" dur="600"/>
                                        <p:tgtEl>
                                          <p:spTgt spid="3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0">
                                            <p:txEl>
                                              <p:pRg st="6" end="6"/>
                                            </p:txEl>
                                          </p:spTgt>
                                        </p:tgtEl>
                                        <p:attrNameLst>
                                          <p:attrName>style.visibility</p:attrName>
                                        </p:attrNameLst>
                                      </p:cBhvr>
                                      <p:to>
                                        <p:strVal val="visible"/>
                                      </p:to>
                                    </p:set>
                                    <p:animEffect transition="in" filter="fade">
                                      <p:cBhvr>
                                        <p:cTn id="37" dur="600"/>
                                        <p:tgtEl>
                                          <p:spTgt spid="3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job history from the bottom up. Then click The Story.</a:t>
            </a:r>
            <a:endParaRPr lang="en-US" sz="1200" dirty="0"/>
          </a:p>
        </p:txBody>
      </p:sp>
      <p:sp>
        <p:nvSpPr>
          <p:cNvPr id="6" name="Shape 3"/>
          <p:cNvSpPr/>
          <p:nvPr/>
        </p:nvSpPr>
        <p:spPr>
          <a:xfrm>
            <a:off x="411480" y="1188720"/>
            <a:ext cx="5257800" cy="2651760"/>
          </a:xfrm>
          <a:prstGeom prst="roundRect">
            <a:avLst>
              <a:gd name="adj" fmla="val 2759"/>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484632" y="1298989"/>
            <a:ext cx="5111496" cy="2431222"/>
          </a:xfrm>
          <a:prstGeom prst="rect">
            <a:avLst/>
          </a:prstGeom>
        </p:spPr>
      </p:pic>
      <p:pic>
        <p:nvPicPr>
          <p:cNvPr id="8" name="Image 1" descr="preencoded.png">    </p:cNvPr>
          <p:cNvPicPr>
            <a:picLocks noChangeAspect="1"/>
          </p:cNvPicPr>
          <p:nvPr/>
        </p:nvPicPr>
        <p:blipFill>
          <a:blip r:embed="rId2"/>
          <a:stretch>
            <a:fillRect/>
          </a:stretch>
        </p:blipFill>
        <p:spPr>
          <a:xfrm>
            <a:off x="502920" y="3931920"/>
            <a:ext cx="182880" cy="182880"/>
          </a:xfrm>
          <a:prstGeom prst="rect">
            <a:avLst/>
          </a:prstGeom>
        </p:spPr>
      </p:pic>
      <p:sp>
        <p:nvSpPr>
          <p:cNvPr id="9" name="Text 4"/>
          <p:cNvSpPr txBox="1"/>
          <p:nvPr/>
        </p:nvSpPr>
        <p:spPr>
          <a:xfrm>
            <a:off x="731520" y="3904488"/>
            <a:ext cx="2743200" cy="237744"/>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Read bottom to top</a:t>
            </a:r>
            <a:endParaRPr lang="en-US" sz="950" dirty="0"/>
          </a:p>
        </p:txBody>
      </p:sp>
      <p:sp>
        <p:nvSpPr>
          <p:cNvPr id="10" name="Shape 5"/>
          <p:cNvSpPr/>
          <p:nvPr/>
        </p:nvSpPr>
        <p:spPr>
          <a:xfrm>
            <a:off x="5806440" y="1188720"/>
            <a:ext cx="2926080" cy="457200"/>
          </a:xfrm>
          <a:prstGeom prst="roundRect">
            <a:avLst>
              <a:gd name="adj" fmla="val 20000"/>
            </a:avLst>
          </a:prstGeom>
          <a:solidFill>
            <a:srgbClr val="0B7A6F"/>
          </a:solidFill>
          <a:ln w="12700">
            <a:solidFill>
              <a:srgbClr val="0B7A6F"/>
            </a:solidFill>
            <a:prstDash val="solid"/>
          </a:ln>
        </p:spPr>
      </p:sp>
      <p:pic>
        <p:nvPicPr>
          <p:cNvPr id="11" name="Image 2" descr="preencoded.png">    </p:cNvPr>
          <p:cNvPicPr>
            <a:picLocks noChangeAspect="1"/>
          </p:cNvPicPr>
          <p:nvPr/>
        </p:nvPicPr>
        <p:blipFill>
          <a:blip r:embed="rId3"/>
          <a:stretch>
            <a:fillRect/>
          </a:stretch>
        </p:blipFill>
        <p:spPr>
          <a:xfrm>
            <a:off x="5989320" y="1307592"/>
            <a:ext cx="219456" cy="219456"/>
          </a:xfrm>
          <a:prstGeom prst="rect">
            <a:avLst/>
          </a:prstGeom>
        </p:spPr>
      </p:pic>
      <p:sp>
        <p:nvSpPr>
          <p:cNvPr id="12" name="Text 6"/>
          <p:cNvSpPr txBox="1"/>
          <p:nvPr/>
        </p:nvSpPr>
        <p:spPr>
          <a:xfrm>
            <a:off x="6309360" y="1188720"/>
            <a:ext cx="22860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The Story</a:t>
            </a:r>
            <a:endParaRPr lang="en-US" sz="1300" dirty="0"/>
          </a:p>
        </p:txBody>
      </p:sp>
      <p:sp>
        <p:nvSpPr>
          <p:cNvPr id="13" name="Shape 7"/>
          <p:cNvSpPr/>
          <p:nvPr/>
        </p:nvSpPr>
        <p:spPr>
          <a:xfrm>
            <a:off x="5806440" y="1737360"/>
            <a:ext cx="2926080" cy="2971800"/>
          </a:xfrm>
          <a:prstGeom prst="roundRect">
            <a:avLst>
              <a:gd name="adj" fmla="val 2500"/>
            </a:avLst>
          </a:prstGeom>
          <a:solidFill>
            <a:srgbClr val="E3F4F1"/>
          </a:solidFill>
          <a:ln w="9525">
            <a:solidFill>
              <a:srgbClr val="E3F4F1"/>
            </a:solidFill>
            <a:prstDash val="solid"/>
          </a:ln>
        </p:spPr>
      </p:sp>
      <p:sp>
        <p:nvSpPr>
          <p:cNvPr id="14" name="revealStory"/>
          <p:cNvSpPr txBox="1"/>
          <p:nvPr/>
        </p:nvSpPr>
        <p:spPr>
          <a:xfrm>
            <a:off x="5943600" y="1847088"/>
            <a:ext cx="2651760" cy="278892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7, 2026: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the system booked a cleaning for C Anjuli Kintanar for Sept 21, 10 AM CT, through the recurring cleaning plan.</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14: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claimed the job as scheduled.</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9:19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from Sept 21, 10 AM CT to Sept 22, 11 AM.</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9:50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again, from Sept 22, 11 AM to Sept 24, 12:30 PM CT.</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24, 4:09 PM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invoiced the appointment and the system logged it in snapshot.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6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fade">
                                      <p:cBhvr>
                                        <p:cTn id="12" dur="6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fade">
                                      <p:cBhvr>
                                        <p:cTn id="17" dur="6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fade">
                                      <p:cBhvr>
                                        <p:cTn id="22" dur="6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4">
                                            <p:txEl>
                                              <p:pRg st="4" end="4"/>
                                            </p:txEl>
                                          </p:spTgt>
                                        </p:tgtEl>
                                        <p:attrNameLst>
                                          <p:attrName>style.visibility</p:attrName>
                                        </p:attrNameLst>
                                      </p:cBhvr>
                                      <p:to>
                                        <p:strVal val="visible"/>
                                      </p:to>
                                    </p:set>
                                    <p:animEffect transition="in" filter="fade">
                                      <p:cBhvr>
                                        <p:cTn id="27" dur="6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call from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a:t>
            </a:r>
            <a:endParaRPr lang="en-US" sz="1200" dirty="0"/>
          </a:p>
        </p:txBody>
      </p:sp>
      <p:sp>
        <p:nvSpPr>
          <p:cNvPr id="6" name="Shape 3"/>
          <p:cNvSpPr/>
          <p:nvPr/>
        </p:nvSpPr>
        <p:spPr>
          <a:xfrm>
            <a:off x="411480" y="1234440"/>
            <a:ext cx="3977640" cy="1143000"/>
          </a:xfrm>
          <a:prstGeom prst="roundRect">
            <a:avLst>
              <a:gd name="adj" fmla="val 6400"/>
            </a:avLst>
          </a:prstGeom>
          <a:solidFill>
            <a:srgbClr val="FFFFFF"/>
          </a:solidFill>
          <a:ln w="9525">
            <a:solidFill>
              <a:srgbClr val="DCE1E7"/>
            </a:solidFill>
            <a:prstDash val="solid"/>
          </a:ln>
        </p:spPr>
      </p:sp>
      <p:pic>
        <p:nvPicPr>
          <p:cNvPr id="7" name="Image 0" descr="/tmp/claude-0/-workspace-training/3ce5cff6-cccf-5f33-b0ee-0b147a55120e/scratchpad/img3/callback_crm_half.png">    </p:cNvPr>
          <p:cNvPicPr>
            <a:picLocks noChangeAspect="1"/>
          </p:cNvPicPr>
          <p:nvPr/>
        </p:nvPicPr>
        <p:blipFill>
          <a:blip r:embed="rId1"/>
          <a:stretch>
            <a:fillRect/>
          </a:stretch>
        </p:blipFill>
        <p:spPr>
          <a:xfrm>
            <a:off x="484632" y="1335645"/>
            <a:ext cx="3831336" cy="940590"/>
          </a:xfrm>
          <a:prstGeom prst="rect">
            <a:avLst/>
          </a:prstGeom>
        </p:spPr>
      </p:pic>
      <p:sp>
        <p:nvSpPr>
          <p:cNvPr id="8" name="Shape 4"/>
          <p:cNvSpPr/>
          <p:nvPr/>
        </p:nvSpPr>
        <p:spPr>
          <a:xfrm>
            <a:off x="3870755" y="1366998"/>
            <a:ext cx="388777" cy="156765"/>
          </a:xfrm>
          <a:prstGeom prst="roundRect">
            <a:avLst>
              <a:gd name="adj" fmla="val 17499"/>
            </a:avLst>
          </a:prstGeom>
          <a:ln w="25400">
            <a:solidFill>
              <a:srgbClr val="0B7A6F"/>
            </a:solidFill>
            <a:prstDash val="solid"/>
          </a:ln>
        </p:spPr>
      </p:sp>
      <p:sp>
        <p:nvSpPr>
          <p:cNvPr id="9" name="Shape 5"/>
          <p:cNvSpPr/>
          <p:nvPr/>
        </p:nvSpPr>
        <p:spPr>
          <a:xfrm>
            <a:off x="3770171" y="12664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3770171"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3469437" y="1366998"/>
            <a:ext cx="395048" cy="156765"/>
          </a:xfrm>
          <a:prstGeom prst="roundRect">
            <a:avLst>
              <a:gd name="adj" fmla="val 17499"/>
            </a:avLst>
          </a:prstGeom>
          <a:ln w="25400">
            <a:solidFill>
              <a:srgbClr val="0B7A6F"/>
            </a:solidFill>
            <a:prstDash val="solid"/>
          </a:ln>
        </p:spPr>
      </p:sp>
      <p:sp>
        <p:nvSpPr>
          <p:cNvPr id="12" name="Shape 8"/>
          <p:cNvSpPr/>
          <p:nvPr/>
        </p:nvSpPr>
        <p:spPr>
          <a:xfrm>
            <a:off x="3368853" y="1266414"/>
            <a:ext cx="201168" cy="201168"/>
          </a:xfrm>
          <a:prstGeom prst="ellipse">
            <a:avLst/>
          </a:prstGeom>
          <a:solidFill>
            <a:srgbClr val="0B7A6F"/>
          </a:solidFill>
          <a:ln w="12700">
            <a:solidFill>
              <a:srgbClr val="FFFFFF"/>
            </a:solidFill>
            <a:prstDash val="solid"/>
          </a:ln>
        </p:spPr>
      </p:sp>
      <p:sp>
        <p:nvSpPr>
          <p:cNvPr id="13" name="Text 9"/>
          <p:cNvSpPr txBox="1"/>
          <p:nvPr/>
        </p:nvSpPr>
        <p:spPr>
          <a:xfrm>
            <a:off x="3368853"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2484953" y="1937623"/>
            <a:ext cx="733660" cy="112871"/>
          </a:xfrm>
          <a:prstGeom prst="roundRect">
            <a:avLst>
              <a:gd name="adj" fmla="val 24304"/>
            </a:avLst>
          </a:prstGeom>
          <a:ln w="25400">
            <a:solidFill>
              <a:srgbClr val="0B7A6F"/>
            </a:solidFill>
            <a:prstDash val="solid"/>
          </a:ln>
        </p:spPr>
      </p:sp>
      <p:sp>
        <p:nvSpPr>
          <p:cNvPr id="15" name="Shape 11"/>
          <p:cNvSpPr/>
          <p:nvPr/>
        </p:nvSpPr>
        <p:spPr>
          <a:xfrm>
            <a:off x="2384369" y="1837039"/>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384369" y="183703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a:t>
            </a:r>
            <a:endParaRPr lang="en-US" sz="800" dirty="0"/>
          </a:p>
        </p:txBody>
      </p:sp>
      <p:sp>
        <p:nvSpPr>
          <p:cNvPr id="17" name="Shape 13"/>
          <p:cNvSpPr/>
          <p:nvPr/>
        </p:nvSpPr>
        <p:spPr>
          <a:xfrm>
            <a:off x="411480" y="2514600"/>
            <a:ext cx="3977640" cy="457200"/>
          </a:xfrm>
          <a:prstGeom prst="roundRect">
            <a:avLst>
              <a:gd name="adj" fmla="val 16000"/>
            </a:avLst>
          </a:prstGeom>
          <a:solidFill>
            <a:srgbClr val="FFFFFF"/>
          </a:solidFill>
          <a:ln w="9525">
            <a:solidFill>
              <a:srgbClr val="DCE1E7"/>
            </a:solidFill>
            <a:prstDash val="solid"/>
          </a:ln>
        </p:spPr>
      </p:sp>
      <p:sp>
        <p:nvSpPr>
          <p:cNvPr id="18" name="Shape 14"/>
          <p:cNvSpPr/>
          <p:nvPr/>
        </p:nvSpPr>
        <p:spPr>
          <a:xfrm>
            <a:off x="539496" y="261518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39496" y="26151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914400" y="256032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primary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1st, from the primary number</a:t>
            </a:r>
            <a:endParaRPr lang="en-US" sz="1050" dirty="0"/>
          </a:p>
        </p:txBody>
      </p:sp>
      <p:sp>
        <p:nvSpPr>
          <p:cNvPr id="21" name="Shape 17"/>
          <p:cNvSpPr/>
          <p:nvPr/>
        </p:nvSpPr>
        <p:spPr>
          <a:xfrm>
            <a:off x="411480" y="3063240"/>
            <a:ext cx="3977640" cy="457200"/>
          </a:xfrm>
          <a:prstGeom prst="roundRect">
            <a:avLst>
              <a:gd name="adj" fmla="val 16000"/>
            </a:avLst>
          </a:prstGeom>
          <a:solidFill>
            <a:srgbClr val="FFFFFF"/>
          </a:solidFill>
          <a:ln w="9525">
            <a:solidFill>
              <a:srgbClr val="DCE1E7"/>
            </a:solidFill>
            <a:prstDash val="solid"/>
          </a:ln>
        </p:spPr>
      </p:sp>
      <p:sp>
        <p:nvSpPr>
          <p:cNvPr id="22" name="Shape 18"/>
          <p:cNvSpPr/>
          <p:nvPr/>
        </p:nvSpPr>
        <p:spPr>
          <a:xfrm>
            <a:off x="539496" y="31638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39496" y="31638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914400" y="310896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GVoice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2nd, with Google Voice</a:t>
            </a:r>
            <a:endParaRPr lang="en-US" sz="1050" dirty="0"/>
          </a:p>
        </p:txBody>
      </p:sp>
      <p:sp>
        <p:nvSpPr>
          <p:cNvPr id="25" name="Shape 21"/>
          <p:cNvSpPr/>
          <p:nvPr/>
        </p:nvSpPr>
        <p:spPr>
          <a:xfrm>
            <a:off x="411480" y="3611880"/>
            <a:ext cx="3977640" cy="457200"/>
          </a:xfrm>
          <a:prstGeom prst="roundRect">
            <a:avLst>
              <a:gd name="adj" fmla="val 16000"/>
            </a:avLst>
          </a:prstGeom>
          <a:solidFill>
            <a:srgbClr val="FFFFFF"/>
          </a:solidFill>
          <a:ln w="9525">
            <a:solidFill>
              <a:srgbClr val="DCE1E7"/>
            </a:solidFill>
            <a:prstDash val="solid"/>
          </a:ln>
        </p:spPr>
      </p:sp>
      <p:sp>
        <p:nvSpPr>
          <p:cNvPr id="26" name="Shape 22"/>
          <p:cNvSpPr/>
          <p:nvPr/>
        </p:nvSpPr>
        <p:spPr>
          <a:xfrm>
            <a:off x="539496" y="371246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39496" y="3712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914400" y="365760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secondary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3rd, same Callbox button, Secondary Phone</a:t>
            </a:r>
            <a:endParaRPr lang="en-US" sz="1050" dirty="0"/>
          </a:p>
        </p:txBody>
      </p:sp>
      <p:sp>
        <p:nvSpPr>
          <p:cNvPr id="29" name="Shape 25"/>
          <p:cNvSpPr/>
          <p:nvPr/>
        </p:nvSpPr>
        <p:spPr>
          <a:xfrm>
            <a:off x="411480" y="4160520"/>
            <a:ext cx="3977640" cy="548640"/>
          </a:xfrm>
          <a:prstGeom prst="roundRect">
            <a:avLst>
              <a:gd name="adj" fmla="val 13333"/>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548640" y="4334256"/>
            <a:ext cx="201168" cy="201168"/>
          </a:xfrm>
          <a:prstGeom prst="rect">
            <a:avLst/>
          </a:prstGeom>
        </p:spPr>
      </p:pic>
      <p:sp>
        <p:nvSpPr>
          <p:cNvPr id="31" name="Text 26"/>
          <p:cNvSpPr txBox="1"/>
          <p:nvPr/>
        </p:nvSpPr>
        <p:spPr>
          <a:xfrm>
            <a:off x="841248" y="4160520"/>
            <a:ext cx="3474720" cy="548640"/>
          </a:xfrm>
          <a:prstGeom prst="rect">
            <a:avLst/>
          </a:prstGeom>
          <a:noFill/>
          <a:ln/>
        </p:spPr>
        <p:txBody>
          <a:bodyPr wrap="square" lIns="0" tIns="0" rIns="0" bIns="0" rtlCol="0" anchor="ctr"/>
          <a:lstStyle/>
          <a:p>
            <a:pPr indent="0" marL="0">
              <a:buNone/>
            </a:pPr>
            <a:r>
              <a:rPr lang="en-US" sz="950" b="1" dirty="0">
                <a:solidFill>
                  <a:srgbClr val="9A6410"/>
                </a:solidFill>
                <a:latin typeface="SF Pro Text" pitchFamily="34" charset="0"/>
                <a:ea typeface="SF Pro Text" pitchFamily="34" charset="-122"/>
                <a:cs typeface="SF Pro Text" pitchFamily="34" charset="-120"/>
              </a:rPr>
              <a:t>Important:  </a:t>
            </a:r>
            <a:pPr indent="0" marL="0">
              <a:buNone/>
            </a:pPr>
            <a:r>
              <a:rPr lang="en-US" sz="950" dirty="0">
                <a:solidFill>
                  <a:srgbClr val="1D1D1F"/>
                </a:solidFill>
                <a:latin typeface="SF Pro Text" pitchFamily="34" charset="0"/>
                <a:ea typeface="SF Pro Text" pitchFamily="34" charset="-122"/>
                <a:cs typeface="SF Pro Text" pitchFamily="34" charset="-120"/>
              </a:rPr>
              <a:t>check Local Time (!) before making a call. 8 AM – 8 PM their time.</a:t>
            </a:r>
            <a:endParaRPr lang="en-US" sz="950" dirty="0"/>
          </a:p>
        </p:txBody>
      </p:sp>
      <p:sp>
        <p:nvSpPr>
          <p:cNvPr id="32" name="Shape 27"/>
          <p:cNvSpPr/>
          <p:nvPr/>
        </p:nvSpPr>
        <p:spPr>
          <a:xfrm>
            <a:off x="4526280" y="1234440"/>
            <a:ext cx="4206240" cy="411480"/>
          </a:xfrm>
          <a:prstGeom prst="roundRect">
            <a:avLst>
              <a:gd name="adj" fmla="val 22222"/>
            </a:avLst>
          </a:prstGeom>
          <a:solidFill>
            <a:srgbClr val="0B7A6F"/>
          </a:solidFill>
          <a:ln w="12700">
            <a:solidFill>
              <a:srgbClr val="0B7A6F"/>
            </a:solidFill>
            <a:prstDash val="solid"/>
          </a:ln>
        </p:spPr>
      </p:sp>
      <p:pic>
        <p:nvPicPr>
          <p:cNvPr id="33" name="Image 2" descr="preencoded.png">    </p:cNvPr>
          <p:cNvPicPr>
            <a:picLocks noChangeAspect="1"/>
          </p:cNvPicPr>
          <p:nvPr/>
        </p:nvPicPr>
        <p:blipFill>
          <a:blip r:embed="rId3"/>
          <a:stretch>
            <a:fillRect/>
          </a:stretch>
        </p:blipFill>
        <p:spPr>
          <a:xfrm>
            <a:off x="4681728" y="1339596"/>
            <a:ext cx="201168" cy="201168"/>
          </a:xfrm>
          <a:prstGeom prst="rect">
            <a:avLst/>
          </a:prstGeom>
        </p:spPr>
      </p:pic>
      <p:sp>
        <p:nvSpPr>
          <p:cNvPr id="34" name="Text 28"/>
          <p:cNvSpPr txBox="1"/>
          <p:nvPr/>
        </p:nvSpPr>
        <p:spPr>
          <a:xfrm>
            <a:off x="4983480" y="1234440"/>
            <a:ext cx="3474720" cy="411480"/>
          </a:xfrm>
          <a:prstGeom prst="rect">
            <a:avLst/>
          </a:prstGeom>
          <a:noFill/>
          <a:ln/>
        </p:spPr>
        <p:txBody>
          <a:bodyPr wrap="square" lIns="0" tIns="0" rIns="0" bIns="0" rtlCol="0" anchor="ctr"/>
          <a:lstStyle/>
          <a:p>
            <a:pPr indent="0" marL="0">
              <a:buNone/>
            </a:pPr>
            <a:r>
              <a:rPr lang="en-US" sz="1250" b="1" dirty="0">
                <a:solidFill>
                  <a:srgbClr val="FFFFFF"/>
                </a:solidFill>
                <a:latin typeface="SF Pro Display" pitchFamily="34" charset="0"/>
                <a:ea typeface="SF Pro Display" pitchFamily="34" charset="-122"/>
                <a:cs typeface="SF Pro Display" pitchFamily="34" charset="-120"/>
              </a:rPr>
              <a:t>Show screens</a:t>
            </a:r>
            <a:endParaRPr lang="en-US" sz="1250" dirty="0"/>
          </a:p>
        </p:txBody>
      </p:sp>
      <p:sp>
        <p:nvSpPr>
          <p:cNvPr id="35" name="Shape 29"/>
          <p:cNvSpPr/>
          <p:nvPr/>
        </p:nvSpPr>
        <p:spPr>
          <a:xfrm>
            <a:off x="4526280" y="1737360"/>
            <a:ext cx="4206240" cy="2971800"/>
          </a:xfrm>
          <a:prstGeom prst="roundRect">
            <a:avLst>
              <a:gd name="adj" fmla="val 2462"/>
            </a:avLst>
          </a:prstGeom>
          <a:solidFill>
            <a:srgbClr val="E3F4F1"/>
          </a:solidFill>
          <a:ln w="9525">
            <a:solidFill>
              <a:srgbClr val="E3F4F1"/>
            </a:solidFill>
            <a:prstDash val="solid"/>
          </a:ln>
        </p:spPr>
      </p:sp>
      <p:sp>
        <p:nvSpPr>
          <p:cNvPr id="36" name="step1a"/>
          <p:cNvSpPr/>
          <p:nvPr/>
        </p:nvSpPr>
        <p:spPr>
          <a:xfrm>
            <a:off x="4636008" y="1819656"/>
            <a:ext cx="182880" cy="182880"/>
          </a:xfrm>
          <a:prstGeom prst="ellipse">
            <a:avLst/>
          </a:prstGeom>
          <a:solidFill>
            <a:srgbClr val="0B7A6F"/>
          </a:solidFill>
          <a:ln w="12700">
            <a:solidFill>
              <a:srgbClr val="0B7A6F"/>
            </a:solidFill>
            <a:prstDash val="solid"/>
          </a:ln>
        </p:spPr>
      </p:sp>
      <p:sp>
        <p:nvSpPr>
          <p:cNvPr id="37" name="step1b"/>
          <p:cNvSpPr txBox="1"/>
          <p:nvPr/>
        </p:nvSpPr>
        <p:spPr>
          <a:xfrm>
            <a:off x="4636008" y="1819656"/>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1</a:t>
            </a:r>
            <a:endParaRPr lang="en-US" sz="750" dirty="0"/>
          </a:p>
        </p:txBody>
      </p:sp>
      <p:sp>
        <p:nvSpPr>
          <p:cNvPr id="38" name="step1c"/>
          <p:cNvSpPr txBox="1"/>
          <p:nvPr/>
        </p:nvSpPr>
        <p:spPr>
          <a:xfrm>
            <a:off x="4892040" y="1810512"/>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primary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primary number</a:t>
            </a:r>
            <a:endParaRPr lang="en-US" sz="900" dirty="0"/>
          </a:p>
        </p:txBody>
      </p:sp>
      <p:sp>
        <p:nvSpPr>
          <p:cNvPr id="39" name="step1d"/>
          <p:cNvSpPr/>
          <p:nvPr/>
        </p:nvSpPr>
        <p:spPr>
          <a:xfrm>
            <a:off x="4636008" y="2048256"/>
            <a:ext cx="3986784" cy="676656"/>
          </a:xfrm>
          <a:prstGeom prst="rect">
            <a:avLst/>
          </a:prstGeom>
          <a:solidFill>
            <a:srgbClr val="FFFFFF"/>
          </a:solidFill>
          <a:ln w="6350">
            <a:solidFill>
              <a:srgbClr val="DCE1E7"/>
            </a:solidFill>
            <a:prstDash val="solid"/>
          </a:ln>
        </p:spPr>
      </p:sp>
      <p:pic>
        <p:nvPicPr>
          <p:cNvPr id="40" name="step1e" descr="/tmp/claude-0/-workspace-training/3ce5cff6-cccf-5f33-b0ee-0b147a55120e/scratchpad/img3/call_primary_crop.png">    </p:cNvPr>
          <p:cNvPicPr>
            <a:picLocks noChangeAspect="1"/>
          </p:cNvPicPr>
          <p:nvPr/>
        </p:nvPicPr>
        <p:blipFill>
          <a:blip r:embed="rId4"/>
          <a:stretch>
            <a:fillRect/>
          </a:stretch>
        </p:blipFill>
        <p:spPr>
          <a:xfrm>
            <a:off x="5283448" y="2075688"/>
            <a:ext cx="2691904" cy="621792"/>
          </a:xfrm>
          <a:prstGeom prst="rect">
            <a:avLst/>
          </a:prstGeom>
        </p:spPr>
      </p:pic>
      <p:sp>
        <p:nvSpPr>
          <p:cNvPr id="41" name="step2a"/>
          <p:cNvSpPr/>
          <p:nvPr/>
        </p:nvSpPr>
        <p:spPr>
          <a:xfrm>
            <a:off x="4636008" y="2788920"/>
            <a:ext cx="182880" cy="182880"/>
          </a:xfrm>
          <a:prstGeom prst="ellipse">
            <a:avLst/>
          </a:prstGeom>
          <a:solidFill>
            <a:srgbClr val="0B7A6F"/>
          </a:solidFill>
          <a:ln w="12700">
            <a:solidFill>
              <a:srgbClr val="0B7A6F"/>
            </a:solidFill>
            <a:prstDash val="solid"/>
          </a:ln>
        </p:spPr>
      </p:sp>
      <p:sp>
        <p:nvSpPr>
          <p:cNvPr id="42" name="step2b"/>
          <p:cNvSpPr txBox="1"/>
          <p:nvPr/>
        </p:nvSpPr>
        <p:spPr>
          <a:xfrm>
            <a:off x="4636008" y="2788920"/>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2</a:t>
            </a:r>
            <a:endParaRPr lang="en-US" sz="750" dirty="0"/>
          </a:p>
        </p:txBody>
      </p:sp>
      <p:sp>
        <p:nvSpPr>
          <p:cNvPr id="43" name="step2c"/>
          <p:cNvSpPr txBox="1"/>
          <p:nvPr/>
        </p:nvSpPr>
        <p:spPr>
          <a:xfrm>
            <a:off x="4892040" y="2779776"/>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GVoice  </a:t>
            </a:r>
            <a:pPr indent="0" marL="0">
              <a:buNone/>
            </a:pPr>
            <a:r>
              <a:rPr lang="en-US" sz="900" dirty="0">
                <a:solidFill>
                  <a:srgbClr val="6E6E73"/>
                </a:solidFill>
                <a:latin typeface="SF Pro Text" pitchFamily="34" charset="0"/>
                <a:ea typeface="SF Pro Text" pitchFamily="34" charset="-122"/>
                <a:cs typeface="SF Pro Text" pitchFamily="34" charset="-120"/>
              </a:rPr>
              <a:t>Sign in with the shared Homeaglow account</a:t>
            </a:r>
            <a:endParaRPr lang="en-US" sz="900" dirty="0"/>
          </a:p>
        </p:txBody>
      </p:sp>
      <p:sp>
        <p:nvSpPr>
          <p:cNvPr id="44" name="step2d"/>
          <p:cNvSpPr/>
          <p:nvPr/>
        </p:nvSpPr>
        <p:spPr>
          <a:xfrm>
            <a:off x="4636008" y="3017520"/>
            <a:ext cx="3986784" cy="676656"/>
          </a:xfrm>
          <a:prstGeom prst="rect">
            <a:avLst/>
          </a:prstGeom>
          <a:solidFill>
            <a:srgbClr val="FFFFFF"/>
          </a:solidFill>
          <a:ln w="6350">
            <a:solidFill>
              <a:srgbClr val="DCE1E7"/>
            </a:solidFill>
            <a:prstDash val="solid"/>
          </a:ln>
        </p:spPr>
      </p:sp>
      <p:pic>
        <p:nvPicPr>
          <p:cNvPr id="45" name="step2e" descr="/tmp/claude-0/-workspace-training/3ce5cff6-cccf-5f33-b0ee-0b147a55120e/scratchpad/img3/call_gvoice_crop.png">    </p:cNvPr>
          <p:cNvPicPr>
            <a:picLocks noChangeAspect="1"/>
          </p:cNvPicPr>
          <p:nvPr/>
        </p:nvPicPr>
        <p:blipFill>
          <a:blip r:embed="rId5"/>
          <a:stretch>
            <a:fillRect/>
          </a:stretch>
        </p:blipFill>
        <p:spPr>
          <a:xfrm>
            <a:off x="4835086" y="3044952"/>
            <a:ext cx="3588628" cy="621792"/>
          </a:xfrm>
          <a:prstGeom prst="rect">
            <a:avLst/>
          </a:prstGeom>
        </p:spPr>
      </p:pic>
      <p:sp>
        <p:nvSpPr>
          <p:cNvPr id="46" name="step3a"/>
          <p:cNvSpPr/>
          <p:nvPr/>
        </p:nvSpPr>
        <p:spPr>
          <a:xfrm>
            <a:off x="4636008" y="3758184"/>
            <a:ext cx="182880" cy="182880"/>
          </a:xfrm>
          <a:prstGeom prst="ellipse">
            <a:avLst/>
          </a:prstGeom>
          <a:solidFill>
            <a:srgbClr val="0B7A6F"/>
          </a:solidFill>
          <a:ln w="12700">
            <a:solidFill>
              <a:srgbClr val="0B7A6F"/>
            </a:solidFill>
            <a:prstDash val="solid"/>
          </a:ln>
        </p:spPr>
      </p:sp>
      <p:sp>
        <p:nvSpPr>
          <p:cNvPr id="47" name="step3b"/>
          <p:cNvSpPr txBox="1"/>
          <p:nvPr/>
        </p:nvSpPr>
        <p:spPr>
          <a:xfrm>
            <a:off x="4636008" y="3758184"/>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3</a:t>
            </a:r>
            <a:endParaRPr lang="en-US" sz="750" dirty="0"/>
          </a:p>
        </p:txBody>
      </p:sp>
      <p:sp>
        <p:nvSpPr>
          <p:cNvPr id="48" name="step3c"/>
          <p:cNvSpPr txBox="1"/>
          <p:nvPr/>
        </p:nvSpPr>
        <p:spPr>
          <a:xfrm>
            <a:off x="4892040" y="3749040"/>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secondary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Secondary Phone</a:t>
            </a:r>
            <a:endParaRPr lang="en-US" sz="900" dirty="0"/>
          </a:p>
        </p:txBody>
      </p:sp>
      <p:sp>
        <p:nvSpPr>
          <p:cNvPr id="49" name="step3d"/>
          <p:cNvSpPr/>
          <p:nvPr/>
        </p:nvSpPr>
        <p:spPr>
          <a:xfrm>
            <a:off x="4636008" y="3986784"/>
            <a:ext cx="3986784" cy="676656"/>
          </a:xfrm>
          <a:prstGeom prst="rect">
            <a:avLst/>
          </a:prstGeom>
          <a:solidFill>
            <a:srgbClr val="FFFFFF"/>
          </a:solidFill>
          <a:ln w="6350">
            <a:solidFill>
              <a:srgbClr val="DCE1E7"/>
            </a:solidFill>
            <a:prstDash val="solid"/>
          </a:ln>
        </p:spPr>
      </p:sp>
      <p:pic>
        <p:nvPicPr>
          <p:cNvPr id="50" name="step3e" descr="/tmp/claude-0/-workspace-training/3ce5cff6-cccf-5f33-b0ee-0b147a55120e/scratchpad/img3/call_secondary_crop.png">    </p:cNvPr>
          <p:cNvPicPr>
            <a:picLocks noChangeAspect="1"/>
          </p:cNvPicPr>
          <p:nvPr/>
        </p:nvPicPr>
        <p:blipFill>
          <a:blip r:embed="rId6"/>
          <a:stretch>
            <a:fillRect/>
          </a:stretch>
        </p:blipFill>
        <p:spPr>
          <a:xfrm>
            <a:off x="5436506" y="4014216"/>
            <a:ext cx="2385789" cy="621792"/>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600"/>
                                        <p:tgtEl>
                                          <p:spTgt spid="40"/>
                                        </p:tgtEl>
                                      </p:cBhvr>
                                    </p:animEffect>
                                  </p:childTnLst>
                                </p:cTn>
                              </p:par>
                            </p:childTnLst>
                          </p:cTn>
                        </p:par>
                      </p:childTnLst>
                    </p:cTn>
                  </p:par>
                  <p:par>
                    <p:cTn id="35" fill="hold">
                      <p:stCondLst>
                        <p:cond delay="indefinite"/>
                      </p:stCondLst>
                      <p:childTnLst>
                        <p:par>
                          <p:cTn id="36"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1"/>
                                        </p:tgtEl>
                                        <p:attrNameLst>
                                          <p:attrName>style.visibility</p:attrName>
                                        </p:attrNameLst>
                                      </p:cBhvr>
                                      <p:to>
                                        <p:strVal val="visible"/>
                                      </p:to>
                                    </p:set>
                                    <p:animEffect transition="in" filter="fade">
                                      <p:cBhvr>
                                        <p:cTn id="24" dur="600"/>
                                        <p:tgtEl>
                                          <p:spTgt spid="4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600"/>
                                        <p:tgtEl>
                                          <p:spTgt spid="4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3"/>
                                        </p:tgtEl>
                                        <p:attrNameLst>
                                          <p:attrName>style.visibility</p:attrName>
                                        </p:attrNameLst>
                                      </p:cBhvr>
                                      <p:to>
                                        <p:strVal val="visible"/>
                                      </p:to>
                                    </p:set>
                                    <p:animEffect transition="in" filter="fade">
                                      <p:cBhvr>
                                        <p:cTn id="30" dur="600"/>
                                        <p:tgtEl>
                                          <p:spTgt spid="4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4"/>
                                        </p:tgtEl>
                                        <p:attrNameLst>
                                          <p:attrName>style.visibility</p:attrName>
                                        </p:attrNameLst>
                                      </p:cBhvr>
                                      <p:to>
                                        <p:strVal val="visible"/>
                                      </p:to>
                                    </p:set>
                                    <p:animEffect transition="in" filter="fade">
                                      <p:cBhvr>
                                        <p:cTn id="33" dur="600"/>
                                        <p:tgtEl>
                                          <p:spTgt spid="4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fade">
                                      <p:cBhvr>
                                        <p:cTn id="36" dur="600"/>
                                        <p:tgtEl>
                                          <p:spTgt spid="45"/>
                                        </p:tgtEl>
                                      </p:cBhvr>
                                    </p:animEffect>
                                  </p:childTnLst>
                                </p:cTn>
                              </p:par>
                            </p:childTnLst>
                          </p:cTn>
                        </p:par>
                      </p:childTnLst>
                    </p:cTn>
                  </p:par>
                  <p:par>
                    <p:cTn id="52" fill="hold">
                      <p:stCondLst>
                        <p:cond delay="indefinite"/>
                      </p:stCondLst>
                      <p:childTnLst>
                        <p:par>
                          <p:cTn id="53"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6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6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6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6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6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1" grpId="0" animBg="1"/>
      <p:bldP spid="42" grpId="0" animBg="1"/>
      <p:bldP spid="43" grpId="0" animBg="1"/>
      <p:bldP spid="44" grpId="0" animBg="1"/>
      <p:bldP spid="46" grpId="0" animBg="1"/>
      <p:bldP spid="47" grpId="0" animBg="1"/>
      <p:bldP spid="48" grpId="0" animBg="1"/>
      <p:bldP spid="4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Calculate the job cost for all 3 customer pricing cohorts using the details below.</a:t>
            </a:r>
            <a:endParaRPr lang="en-US" sz="1200" dirty="0"/>
          </a:p>
        </p:txBody>
      </p:sp>
      <p:sp>
        <p:nvSpPr>
          <p:cNvPr id="6" name="Shape 3"/>
          <p:cNvSpPr/>
          <p:nvPr/>
        </p:nvSpPr>
        <p:spPr>
          <a:xfrm>
            <a:off x="411480" y="1280160"/>
            <a:ext cx="3017520" cy="338328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2194560" cy="384048"/>
          </a:xfrm>
          <a:prstGeom prst="rect">
            <a:avLst/>
          </a:prstGeom>
          <a:noFill/>
          <a:ln/>
        </p:spPr>
        <p:txBody>
          <a:bodyPr wrap="square" lIns="0" tIns="0" rIns="0" bIns="0" rtlCol="0" anchor="ctr"/>
          <a:lstStyle/>
          <a:p>
            <a:pPr indent="0" marL="0">
              <a:buNone/>
            </a:pPr>
            <a:r>
              <a:rPr lang="en-US" sz="1400" b="1" dirty="0">
                <a:solidFill>
                  <a:srgbClr val="1D1D1F"/>
                </a:solidFill>
                <a:latin typeface="SF Pro Display" pitchFamily="34" charset="0"/>
                <a:ea typeface="SF Pro Display" pitchFamily="34" charset="-122"/>
                <a:cs typeface="SF Pro Display" pitchFamily="34" charset="-120"/>
              </a:rPr>
              <a:t>Scenario</a:t>
            </a:r>
            <a:endParaRPr lang="en-US" sz="1400" dirty="0"/>
          </a:p>
        </p:txBody>
      </p:sp>
      <p:sp>
        <p:nvSpPr>
          <p:cNvPr id="10" name="Shape 6"/>
          <p:cNvSpPr/>
          <p:nvPr/>
        </p:nvSpPr>
        <p:spPr>
          <a:xfrm>
            <a:off x="594360" y="2011680"/>
            <a:ext cx="2651760" cy="384048"/>
          </a:xfrm>
          <a:prstGeom prst="roundRect">
            <a:avLst>
              <a:gd name="adj" fmla="val 19048"/>
            </a:avLst>
          </a:prstGeom>
          <a:solidFill>
            <a:srgbClr val="F6F7F9"/>
          </a:solidFill>
          <a:ln w="9525">
            <a:solidFill>
              <a:srgbClr val="DCE1E7"/>
            </a:solidFill>
            <a:prstDash val="solid"/>
          </a:ln>
        </p:spPr>
      </p:sp>
      <p:sp>
        <p:nvSpPr>
          <p:cNvPr id="11" name="Text 7"/>
          <p:cNvSpPr txBox="1"/>
          <p:nvPr/>
        </p:nvSpPr>
        <p:spPr>
          <a:xfrm>
            <a:off x="731520" y="2011680"/>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CP rate</a:t>
            </a:r>
            <a:endParaRPr lang="en-US" sz="1050" dirty="0"/>
          </a:p>
        </p:txBody>
      </p:sp>
      <p:sp>
        <p:nvSpPr>
          <p:cNvPr id="12" name="Text 8"/>
          <p:cNvSpPr txBox="1"/>
          <p:nvPr/>
        </p:nvSpPr>
        <p:spPr>
          <a:xfrm>
            <a:off x="1828800" y="2011680"/>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$25.00/hr</a:t>
            </a:r>
            <a:endParaRPr lang="en-US" sz="1200" dirty="0"/>
          </a:p>
        </p:txBody>
      </p:sp>
      <p:sp>
        <p:nvSpPr>
          <p:cNvPr id="13" name="Shape 9"/>
          <p:cNvSpPr/>
          <p:nvPr/>
        </p:nvSpPr>
        <p:spPr>
          <a:xfrm>
            <a:off x="594360" y="2487168"/>
            <a:ext cx="2651760" cy="384048"/>
          </a:xfrm>
          <a:prstGeom prst="roundRect">
            <a:avLst>
              <a:gd name="adj" fmla="val 19048"/>
            </a:avLst>
          </a:prstGeom>
          <a:solidFill>
            <a:srgbClr val="FFFFFF"/>
          </a:solidFill>
          <a:ln w="9525">
            <a:solidFill>
              <a:srgbClr val="DCE1E7"/>
            </a:solidFill>
            <a:prstDash val="solid"/>
          </a:ln>
        </p:spPr>
      </p:sp>
      <p:sp>
        <p:nvSpPr>
          <p:cNvPr id="14" name="Text 10"/>
          <p:cNvSpPr txBox="1"/>
          <p:nvPr/>
        </p:nvSpPr>
        <p:spPr>
          <a:xfrm>
            <a:off x="731520" y="2487168"/>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Duration</a:t>
            </a:r>
            <a:endParaRPr lang="en-US" sz="1050" dirty="0"/>
          </a:p>
        </p:txBody>
      </p:sp>
      <p:sp>
        <p:nvSpPr>
          <p:cNvPr id="15" name="Text 11"/>
          <p:cNvSpPr txBox="1"/>
          <p:nvPr/>
        </p:nvSpPr>
        <p:spPr>
          <a:xfrm>
            <a:off x="1828800" y="2487168"/>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4 hours</a:t>
            </a:r>
            <a:endParaRPr lang="en-US" sz="1200" dirty="0"/>
          </a:p>
        </p:txBody>
      </p:sp>
      <p:sp>
        <p:nvSpPr>
          <p:cNvPr id="16" name="Shape 12"/>
          <p:cNvSpPr/>
          <p:nvPr/>
        </p:nvSpPr>
        <p:spPr>
          <a:xfrm>
            <a:off x="594360" y="2962656"/>
            <a:ext cx="2651760" cy="384048"/>
          </a:xfrm>
          <a:prstGeom prst="roundRect">
            <a:avLst>
              <a:gd name="adj" fmla="val 19048"/>
            </a:avLst>
          </a:prstGeom>
          <a:solidFill>
            <a:srgbClr val="F6F7F9"/>
          </a:solidFill>
          <a:ln w="9525">
            <a:solidFill>
              <a:srgbClr val="DCE1E7"/>
            </a:solidFill>
            <a:prstDash val="solid"/>
          </a:ln>
        </p:spPr>
      </p:sp>
      <p:sp>
        <p:nvSpPr>
          <p:cNvPr id="17" name="Text 13"/>
          <p:cNvSpPr txBox="1"/>
          <p:nvPr/>
        </p:nvSpPr>
        <p:spPr>
          <a:xfrm>
            <a:off x="731520" y="2962656"/>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Voucher</a:t>
            </a:r>
            <a:endParaRPr lang="en-US" sz="1050" dirty="0"/>
          </a:p>
        </p:txBody>
      </p:sp>
      <p:sp>
        <p:nvSpPr>
          <p:cNvPr id="18" name="Text 14"/>
          <p:cNvSpPr txBox="1"/>
          <p:nvPr/>
        </p:nvSpPr>
        <p:spPr>
          <a:xfrm>
            <a:off x="1828800" y="2962656"/>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1.5 hours</a:t>
            </a:r>
            <a:endParaRPr lang="en-US" sz="1200" dirty="0"/>
          </a:p>
        </p:txBody>
      </p:sp>
      <p:sp>
        <p:nvSpPr>
          <p:cNvPr id="19" name="Shape 15"/>
          <p:cNvSpPr/>
          <p:nvPr/>
        </p:nvSpPr>
        <p:spPr>
          <a:xfrm>
            <a:off x="594360" y="3438144"/>
            <a:ext cx="2651760" cy="384048"/>
          </a:xfrm>
          <a:prstGeom prst="roundRect">
            <a:avLst>
              <a:gd name="adj" fmla="val 19048"/>
            </a:avLst>
          </a:prstGeom>
          <a:solidFill>
            <a:srgbClr val="FFFFFF"/>
          </a:solidFill>
          <a:ln w="9525">
            <a:solidFill>
              <a:srgbClr val="DCE1E7"/>
            </a:solidFill>
            <a:prstDash val="solid"/>
          </a:ln>
        </p:spPr>
      </p:sp>
      <p:sp>
        <p:nvSpPr>
          <p:cNvPr id="20" name="Text 16"/>
          <p:cNvSpPr txBox="1"/>
          <p:nvPr/>
        </p:nvSpPr>
        <p:spPr>
          <a:xfrm>
            <a:off x="731520" y="3438144"/>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Sales tax</a:t>
            </a:r>
            <a:endParaRPr lang="en-US" sz="1050" dirty="0"/>
          </a:p>
        </p:txBody>
      </p:sp>
      <p:sp>
        <p:nvSpPr>
          <p:cNvPr id="21" name="Text 17"/>
          <p:cNvSpPr txBox="1"/>
          <p:nvPr/>
        </p:nvSpPr>
        <p:spPr>
          <a:xfrm>
            <a:off x="1828800" y="3438144"/>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8%</a:t>
            </a:r>
            <a:endParaRPr lang="en-US" sz="1200" dirty="0"/>
          </a:p>
        </p:txBody>
      </p:sp>
      <p:sp>
        <p:nvSpPr>
          <p:cNvPr id="22" name="Shape 18"/>
          <p:cNvSpPr/>
          <p:nvPr/>
        </p:nvSpPr>
        <p:spPr>
          <a:xfrm>
            <a:off x="594360" y="3913632"/>
            <a:ext cx="2651760" cy="384048"/>
          </a:xfrm>
          <a:prstGeom prst="roundRect">
            <a:avLst>
              <a:gd name="adj" fmla="val 19048"/>
            </a:avLst>
          </a:prstGeom>
          <a:solidFill>
            <a:srgbClr val="F6F7F9"/>
          </a:solidFill>
          <a:ln w="9525">
            <a:solidFill>
              <a:srgbClr val="DCE1E7"/>
            </a:solidFill>
            <a:prstDash val="solid"/>
          </a:ln>
        </p:spPr>
      </p:sp>
      <p:sp>
        <p:nvSpPr>
          <p:cNvPr id="23" name="Text 19"/>
          <p:cNvSpPr txBox="1"/>
          <p:nvPr/>
        </p:nvSpPr>
        <p:spPr>
          <a:xfrm>
            <a:off x="731520" y="3913632"/>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Credits</a:t>
            </a:r>
            <a:endParaRPr lang="en-US" sz="1050" dirty="0"/>
          </a:p>
        </p:txBody>
      </p:sp>
      <p:sp>
        <p:nvSpPr>
          <p:cNvPr id="24" name="Text 20"/>
          <p:cNvSpPr txBox="1"/>
          <p:nvPr/>
        </p:nvSpPr>
        <p:spPr>
          <a:xfrm>
            <a:off x="1828800" y="3913632"/>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$12.00</a:t>
            </a:r>
            <a:endParaRPr lang="en-US" sz="1200" dirty="0"/>
          </a:p>
        </p:txBody>
      </p:sp>
      <p:sp>
        <p:nvSpPr>
          <p:cNvPr id="25" name="Shape 21"/>
          <p:cNvSpPr/>
          <p:nvPr/>
        </p:nvSpPr>
        <p:spPr>
          <a:xfrm>
            <a:off x="3611880" y="1280160"/>
            <a:ext cx="5120640" cy="457200"/>
          </a:xfrm>
          <a:prstGeom prst="roundRect">
            <a:avLst>
              <a:gd name="adj" fmla="val 20000"/>
            </a:avLst>
          </a:prstGeom>
          <a:solidFill>
            <a:srgbClr val="0B7A6F"/>
          </a:solidFill>
          <a:ln w="12700">
            <a:solidFill>
              <a:srgbClr val="0B7A6F"/>
            </a:solidFill>
            <a:prstDash val="solid"/>
          </a:ln>
        </p:spPr>
      </p:sp>
      <p:pic>
        <p:nvPicPr>
          <p:cNvPr id="26" name="Image 1" descr="preencoded.png">    </p:cNvPr>
          <p:cNvPicPr>
            <a:picLocks noChangeAspect="1"/>
          </p:cNvPicPr>
          <p:nvPr/>
        </p:nvPicPr>
        <p:blipFill>
          <a:blip r:embed="rId2"/>
          <a:stretch>
            <a:fillRect/>
          </a:stretch>
        </p:blipFill>
        <p:spPr>
          <a:xfrm>
            <a:off x="3794760" y="1399032"/>
            <a:ext cx="219456" cy="219456"/>
          </a:xfrm>
          <a:prstGeom prst="rect">
            <a:avLst/>
          </a:prstGeom>
        </p:spPr>
      </p:pic>
      <p:sp>
        <p:nvSpPr>
          <p:cNvPr id="27" name="Text 22"/>
          <p:cNvSpPr txBox="1"/>
          <p:nvPr/>
        </p:nvSpPr>
        <p:spPr>
          <a:xfrm>
            <a:off x="4114800" y="1280160"/>
            <a:ext cx="41148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28" name="Shape 23"/>
          <p:cNvSpPr/>
          <p:nvPr/>
        </p:nvSpPr>
        <p:spPr>
          <a:xfrm>
            <a:off x="3611880" y="1828800"/>
            <a:ext cx="5120640" cy="2834640"/>
          </a:xfrm>
          <a:prstGeom prst="roundRect">
            <a:avLst>
              <a:gd name="adj" fmla="val 2581"/>
            </a:avLst>
          </a:prstGeom>
          <a:solidFill>
            <a:srgbClr val="E3F4F1"/>
          </a:solidFill>
          <a:ln w="9525">
            <a:solidFill>
              <a:srgbClr val="E3F4F1"/>
            </a:solidFill>
            <a:prstDash val="solid"/>
          </a:ln>
        </p:spPr>
      </p:sp>
      <p:sp>
        <p:nvSpPr>
          <p:cNvPr id="29" name="revealAnswers"/>
          <p:cNvSpPr txBox="1"/>
          <p:nvPr/>
        </p:nvSpPr>
        <p:spPr>
          <a:xfrm>
            <a:off x="3794760" y="1965960"/>
            <a:ext cx="4754880" cy="2606040"/>
          </a:xfrm>
          <a:prstGeom prst="rect">
            <a:avLst/>
          </a:prstGeom>
          <a:noFill/>
          <a:ln/>
        </p:spPr>
        <p:txBody>
          <a:bodyPr wrap="square" lIns="0" tIns="0" rIns="0" bIns="0" rtlCol="0" anchor="t"/>
          <a:lstStyle/>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FC customer:  $65.63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2.5 hrs + 15%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Non-FC customer:  $101.40</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$15/hr platform fee) × 2.5 hrs + 5%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Deactivated (cancelled) FC customer:  $143.93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$30/hr platform fee) × 2.5 hrs + 5% processing fee + 8% tax − $12 credits</a:t>
            </a:r>
            <a:endParaRPr lang="en-US" sz="1250" dirty="0"/>
          </a:p>
        </p:txBody>
      </p:sp>
      <p:sp>
        <p:nvSpPr>
          <p:cNvPr id="30" name="Text 25"/>
          <p:cNvSpPr txBox="1"/>
          <p:nvPr/>
        </p:nvSpPr>
        <p:spPr>
          <a:xfrm>
            <a:off x="594360" y="4389120"/>
            <a:ext cx="2743200" cy="201168"/>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Hint: take the voucher hours off the duration first.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animEffect transition="in" filter="fade">
                                      <p:cBhvr>
                                        <p:cTn id="7" dur="600"/>
                                        <p:tgtEl>
                                          <p:spTgt spid="2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9">
                                            <p:txEl>
                                              <p:pRg st="1" end="1"/>
                                            </p:txEl>
                                          </p:spTgt>
                                        </p:tgtEl>
                                        <p:attrNameLst>
                                          <p:attrName>style.visibility</p:attrName>
                                        </p:attrNameLst>
                                      </p:cBhvr>
                                      <p:to>
                                        <p:strVal val="visible"/>
                                      </p:to>
                                    </p:set>
                                    <p:animEffect transition="in" filter="fade">
                                      <p:cBhvr>
                                        <p:cTn id="12" dur="600"/>
                                        <p:tgtEl>
                                          <p:spTgt spid="2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9">
                                            <p:txEl>
                                              <p:pRg st="2" end="2"/>
                                            </p:txEl>
                                          </p:spTgt>
                                        </p:tgtEl>
                                        <p:attrNameLst>
                                          <p:attrName>style.visibility</p:attrName>
                                        </p:attrNameLst>
                                      </p:cBhvr>
                                      <p:to>
                                        <p:strVal val="visible"/>
                                      </p:to>
                                    </p:set>
                                    <p:animEffect transition="in" filter="fade">
                                      <p:cBhvr>
                                        <p:cTn id="17" dur="600"/>
                                        <p:tgtEl>
                                          <p:spTgt spid="2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Determine the CP pay in this scenario.</a:t>
            </a:r>
            <a:endParaRPr lang="en-US" sz="1200" dirty="0"/>
          </a:p>
        </p:txBody>
      </p:sp>
      <p:sp>
        <p:nvSpPr>
          <p:cNvPr id="6" name="Shape 3"/>
          <p:cNvSpPr/>
          <p:nvPr/>
        </p:nvSpPr>
        <p:spPr>
          <a:xfrm>
            <a:off x="411480" y="1234440"/>
            <a:ext cx="402336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66928" y="13533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45932" y="1432316"/>
            <a:ext cx="171176" cy="171176"/>
          </a:xfrm>
          <a:prstGeom prst="rect">
            <a:avLst/>
          </a:prstGeom>
        </p:spPr>
      </p:pic>
      <p:sp>
        <p:nvSpPr>
          <p:cNvPr id="9" name="Text 5"/>
          <p:cNvSpPr txBox="1"/>
          <p:nvPr/>
        </p:nvSpPr>
        <p:spPr>
          <a:xfrm>
            <a:off x="987552" y="1353312"/>
            <a:ext cx="2743200" cy="329184"/>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The job</a:t>
            </a:r>
            <a:endParaRPr lang="en-US" sz="1250" dirty="0"/>
          </a:p>
        </p:txBody>
      </p:sp>
      <p:sp>
        <p:nvSpPr>
          <p:cNvPr id="10" name="Text 6"/>
          <p:cNvSpPr txBox="1"/>
          <p:nvPr/>
        </p:nvSpPr>
        <p:spPr>
          <a:xfrm>
            <a:off x="566928"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Client  </a:t>
            </a:r>
            <a:pPr indent="0" marL="0">
              <a:buNone/>
            </a:pPr>
            <a:r>
              <a:rPr lang="en-US" sz="1100" b="1" dirty="0">
                <a:solidFill>
                  <a:srgbClr val="1D1D1F"/>
                </a:solidFill>
                <a:latin typeface="SF Pro Display" pitchFamily="34" charset="0"/>
                <a:ea typeface="SF Pro Display" pitchFamily="34" charset="-122"/>
                <a:cs typeface="SF Pro Display" pitchFamily="34" charset="-120"/>
              </a:rPr>
              <a:t>Repeat</a:t>
            </a:r>
            <a:endParaRPr lang="en-US" sz="900" dirty="0"/>
          </a:p>
        </p:txBody>
      </p:sp>
      <p:sp>
        <p:nvSpPr>
          <p:cNvPr id="11" name="Text 7"/>
          <p:cNvSpPr txBox="1"/>
          <p:nvPr/>
        </p:nvSpPr>
        <p:spPr>
          <a:xfrm>
            <a:off x="1828800"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Booked  </a:t>
            </a:r>
            <a:pPr indent="0" marL="0">
              <a:buNone/>
            </a:pPr>
            <a:r>
              <a:rPr lang="en-US" sz="1100" b="1" dirty="0">
                <a:solidFill>
                  <a:srgbClr val="1D1D1F"/>
                </a:solidFill>
                <a:latin typeface="SF Pro Display" pitchFamily="34" charset="0"/>
                <a:ea typeface="SF Pro Display" pitchFamily="34" charset="-122"/>
                <a:cs typeface="SF Pro Display" pitchFamily="34" charset="-120"/>
              </a:rPr>
              <a:t>5 hours</a:t>
            </a:r>
            <a:endParaRPr lang="en-US" sz="900" dirty="0"/>
          </a:p>
        </p:txBody>
      </p:sp>
      <p:sp>
        <p:nvSpPr>
          <p:cNvPr id="12" name="Text 8"/>
          <p:cNvSpPr txBox="1"/>
          <p:nvPr/>
        </p:nvSpPr>
        <p:spPr>
          <a:xfrm>
            <a:off x="3090672"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a:t>
            </a:r>
            <a:pPr indent="0" marL="0">
              <a:buNone/>
            </a:pPr>
            <a:r>
              <a:rPr lang="en-US" sz="1100" b="1" dirty="0">
                <a:solidFill>
                  <a:srgbClr val="1D1D1F"/>
                </a:solidFill>
                <a:latin typeface="SF Pro Display" pitchFamily="34" charset="0"/>
                <a:ea typeface="SF Pro Display" pitchFamily="34" charset="-122"/>
                <a:cs typeface="SF Pro Display" pitchFamily="34" charset="-120"/>
              </a:rPr>
              <a:t>3 hours</a:t>
            </a:r>
            <a:endParaRPr lang="en-US" sz="900" dirty="0"/>
          </a:p>
        </p:txBody>
      </p:sp>
      <p:sp>
        <p:nvSpPr>
          <p:cNvPr id="13" name="Text 9"/>
          <p:cNvSpPr txBox="1"/>
          <p:nvPr/>
        </p:nvSpPr>
        <p:spPr>
          <a:xfrm>
            <a:off x="566928" y="219456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Surge bonus  </a:t>
            </a:r>
            <a:pPr indent="0" marL="0">
              <a:buNone/>
            </a:pPr>
            <a:r>
              <a:rPr lang="en-US" sz="1100" b="1" dirty="0">
                <a:solidFill>
                  <a:srgbClr val="1D1D1F"/>
                </a:solidFill>
                <a:latin typeface="SF Pro Display" pitchFamily="34" charset="0"/>
                <a:ea typeface="SF Pro Display" pitchFamily="34" charset="-122"/>
                <a:cs typeface="SF Pro Display" pitchFamily="34" charset="-120"/>
              </a:rPr>
              <a:t>$12.50</a:t>
            </a:r>
            <a:endParaRPr lang="en-US" sz="900" dirty="0"/>
          </a:p>
        </p:txBody>
      </p:sp>
      <p:sp>
        <p:nvSpPr>
          <p:cNvPr id="14" name="Text 10"/>
          <p:cNvSpPr txBox="1"/>
          <p:nvPr/>
        </p:nvSpPr>
        <p:spPr>
          <a:xfrm>
            <a:off x="1828800" y="219456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Tip  </a:t>
            </a:r>
            <a:pPr indent="0" marL="0">
              <a:buNone/>
            </a:pPr>
            <a:r>
              <a:rPr lang="en-US" sz="1100" b="1" dirty="0">
                <a:solidFill>
                  <a:srgbClr val="1D1D1F"/>
                </a:solidFill>
                <a:latin typeface="SF Pro Display" pitchFamily="34" charset="0"/>
                <a:ea typeface="SF Pro Display" pitchFamily="34" charset="-122"/>
                <a:cs typeface="SF Pro Display" pitchFamily="34" charset="-120"/>
              </a:rPr>
              <a:t>$10.00</a:t>
            </a:r>
            <a:endParaRPr lang="en-US" sz="900" dirty="0"/>
          </a:p>
        </p:txBody>
      </p:sp>
      <p:sp>
        <p:nvSpPr>
          <p:cNvPr id="15" name="Shape 11"/>
          <p:cNvSpPr/>
          <p:nvPr/>
        </p:nvSpPr>
        <p:spPr>
          <a:xfrm>
            <a:off x="411480" y="2788920"/>
            <a:ext cx="1965960" cy="1920240"/>
          </a:xfrm>
          <a:prstGeom prst="roundRect">
            <a:avLst>
              <a:gd name="adj" fmla="val 3810"/>
            </a:avLst>
          </a:prstGeom>
          <a:solidFill>
            <a:srgbClr val="FFFFFF"/>
          </a:solidFill>
          <a:ln w="9525">
            <a:solidFill>
              <a:srgbClr val="DCE1E7"/>
            </a:solidFill>
            <a:prstDash val="solid"/>
          </a:ln>
        </p:spPr>
      </p:sp>
      <p:sp>
        <p:nvSpPr>
          <p:cNvPr id="16" name="Shape 12"/>
          <p:cNvSpPr/>
          <p:nvPr/>
        </p:nvSpPr>
        <p:spPr>
          <a:xfrm>
            <a:off x="548640" y="2907792"/>
            <a:ext cx="411480" cy="411480"/>
          </a:xfrm>
          <a:prstGeom prst="ellipse">
            <a:avLst/>
          </a:prstGeom>
          <a:solidFill>
            <a:srgbClr val="E3F4F1"/>
          </a:solidFill>
          <a:ln w="12700">
            <a:solidFill>
              <a:srgbClr val="E3F4F1"/>
            </a:solidFill>
            <a:prstDash val="solid"/>
          </a:ln>
        </p:spPr>
      </p:sp>
      <p:pic>
        <p:nvPicPr>
          <p:cNvPr id="17" name="Image 1" descr="preencoded.png">    </p:cNvPr>
          <p:cNvPicPr>
            <a:picLocks noChangeAspect="1"/>
          </p:cNvPicPr>
          <p:nvPr/>
        </p:nvPicPr>
        <p:blipFill>
          <a:blip r:embed="rId2"/>
          <a:stretch>
            <a:fillRect/>
          </a:stretch>
        </p:blipFill>
        <p:spPr>
          <a:xfrm>
            <a:off x="647395" y="3006547"/>
            <a:ext cx="213970" cy="213970"/>
          </a:xfrm>
          <a:prstGeom prst="rect">
            <a:avLst/>
          </a:prstGeom>
        </p:spPr>
      </p:pic>
      <p:sp>
        <p:nvSpPr>
          <p:cNvPr id="18" name="Text 13"/>
          <p:cNvSpPr txBox="1"/>
          <p:nvPr/>
        </p:nvSpPr>
        <p:spPr>
          <a:xfrm>
            <a:off x="1051560" y="2907792"/>
            <a:ext cx="1280160" cy="411480"/>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CP Sarah</a:t>
            </a:r>
            <a:endParaRPr lang="en-US" sz="1250" dirty="0"/>
          </a:p>
        </p:txBody>
      </p:sp>
      <p:sp>
        <p:nvSpPr>
          <p:cNvPr id="19" name="Text 14"/>
          <p:cNvSpPr txBox="1"/>
          <p:nvPr/>
        </p:nvSpPr>
        <p:spPr>
          <a:xfrm>
            <a:off x="548640" y="3401568"/>
            <a:ext cx="1737360" cy="274320"/>
          </a:xfrm>
          <a:prstGeom prst="rect">
            <a:avLst/>
          </a:prstGeom>
          <a:noFill/>
          <a:ln/>
        </p:spPr>
        <p:txBody>
          <a:bodyPr wrap="square" lIns="0" tIns="0" rIns="0" bIns="0" rtlCol="0" anchor="t"/>
          <a:lstStyle/>
          <a:p>
            <a:pPr indent="0" marL="0">
              <a:buNone/>
            </a:pPr>
            <a:r>
              <a:rPr lang="en-US" sz="900" b="1" dirty="0">
                <a:solidFill>
                  <a:srgbClr val="0B7A6F"/>
                </a:solidFill>
                <a:latin typeface="SF Pro Text" pitchFamily="34" charset="0"/>
                <a:ea typeface="SF Pro Text" pitchFamily="34" charset="-122"/>
                <a:cs typeface="SF Pro Text" pitchFamily="34" charset="-120"/>
              </a:rPr>
              <a:t>CA/CA-WA Operating Model</a:t>
            </a:r>
            <a:endParaRPr lang="en-US" sz="900" dirty="0"/>
          </a:p>
        </p:txBody>
      </p:sp>
      <p:sp>
        <p:nvSpPr>
          <p:cNvPr id="20" name="Text 15"/>
          <p:cNvSpPr txBox="1"/>
          <p:nvPr/>
        </p:nvSpPr>
        <p:spPr>
          <a:xfrm>
            <a:off x="548640" y="3703320"/>
            <a:ext cx="1737360" cy="914400"/>
          </a:xfrm>
          <a:prstGeom prst="rect">
            <a:avLst/>
          </a:prstGeom>
          <a:noFill/>
          <a:ln/>
        </p:spPr>
        <p:txBody>
          <a:bodyPr wrap="square" lIns="0" tIns="0" rIns="0" bIns="0" rtlCol="0" anchor="t"/>
          <a:lstStyle/>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$30.00/hr  first-time C/CP pair</a:t>
            </a:r>
            <a:endParaRPr lang="en-US" sz="900" dirty="0"/>
          </a:p>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$28.00/hr  repeat C/CP pair</a:t>
            </a:r>
            <a:endParaRPr lang="en-US" sz="900" dirty="0"/>
          </a:p>
        </p:txBody>
      </p:sp>
      <p:sp>
        <p:nvSpPr>
          <p:cNvPr id="21" name="Shape 16"/>
          <p:cNvSpPr/>
          <p:nvPr/>
        </p:nvSpPr>
        <p:spPr>
          <a:xfrm>
            <a:off x="2468880" y="2788920"/>
            <a:ext cx="1965960" cy="1920240"/>
          </a:xfrm>
          <a:prstGeom prst="roundRect">
            <a:avLst>
              <a:gd name="adj" fmla="val 3810"/>
            </a:avLst>
          </a:prstGeom>
          <a:solidFill>
            <a:srgbClr val="FFFFFF"/>
          </a:solidFill>
          <a:ln w="9525">
            <a:solidFill>
              <a:srgbClr val="DCE1E7"/>
            </a:solidFill>
            <a:prstDash val="solid"/>
          </a:ln>
        </p:spPr>
      </p:sp>
      <p:sp>
        <p:nvSpPr>
          <p:cNvPr id="22" name="Shape 17"/>
          <p:cNvSpPr/>
          <p:nvPr/>
        </p:nvSpPr>
        <p:spPr>
          <a:xfrm>
            <a:off x="2606040" y="2907792"/>
            <a:ext cx="411480" cy="411480"/>
          </a:xfrm>
          <a:prstGeom prst="ellipse">
            <a:avLst/>
          </a:prstGeom>
          <a:solidFill>
            <a:srgbClr val="E3F4F1"/>
          </a:solidFill>
          <a:ln w="12700">
            <a:solidFill>
              <a:srgbClr val="E3F4F1"/>
            </a:solidFill>
            <a:prstDash val="solid"/>
          </a:ln>
        </p:spPr>
      </p:sp>
      <p:pic>
        <p:nvPicPr>
          <p:cNvPr id="23" name="Image 2" descr="preencoded.png">    </p:cNvPr>
          <p:cNvPicPr>
            <a:picLocks noChangeAspect="1"/>
          </p:cNvPicPr>
          <p:nvPr/>
        </p:nvPicPr>
        <p:blipFill>
          <a:blip r:embed="rId3"/>
          <a:stretch>
            <a:fillRect/>
          </a:stretch>
        </p:blipFill>
        <p:spPr>
          <a:xfrm>
            <a:off x="2704795" y="3006547"/>
            <a:ext cx="213970" cy="213970"/>
          </a:xfrm>
          <a:prstGeom prst="rect">
            <a:avLst/>
          </a:prstGeom>
        </p:spPr>
      </p:pic>
      <p:sp>
        <p:nvSpPr>
          <p:cNvPr id="24" name="Text 18"/>
          <p:cNvSpPr txBox="1"/>
          <p:nvPr/>
        </p:nvSpPr>
        <p:spPr>
          <a:xfrm>
            <a:off x="3108960" y="2907792"/>
            <a:ext cx="1280160" cy="411480"/>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CP Gab</a:t>
            </a:r>
            <a:endParaRPr lang="en-US" sz="1250" dirty="0"/>
          </a:p>
        </p:txBody>
      </p:sp>
      <p:sp>
        <p:nvSpPr>
          <p:cNvPr id="25" name="Text 19"/>
          <p:cNvSpPr txBox="1"/>
          <p:nvPr/>
        </p:nvSpPr>
        <p:spPr>
          <a:xfrm>
            <a:off x="2606040" y="3401568"/>
            <a:ext cx="1737360" cy="274320"/>
          </a:xfrm>
          <a:prstGeom prst="rect">
            <a:avLst/>
          </a:prstGeom>
          <a:noFill/>
          <a:ln/>
        </p:spPr>
        <p:txBody>
          <a:bodyPr wrap="square" lIns="0" tIns="0" rIns="0" bIns="0" rtlCol="0" anchor="t"/>
          <a:lstStyle/>
          <a:p>
            <a:pPr indent="0" marL="0">
              <a:buNone/>
            </a:pPr>
            <a:r>
              <a:rPr lang="en-US" sz="900" b="1" dirty="0">
                <a:solidFill>
                  <a:srgbClr val="0B7A6F"/>
                </a:solidFill>
                <a:latin typeface="SF Pro Text" pitchFamily="34" charset="0"/>
                <a:ea typeface="SF Pro Text" pitchFamily="34" charset="-122"/>
                <a:cs typeface="SF Pro Text" pitchFamily="34" charset="-120"/>
              </a:rPr>
              <a:t>General Operating Model</a:t>
            </a:r>
            <a:endParaRPr lang="en-US" sz="900" dirty="0"/>
          </a:p>
        </p:txBody>
      </p:sp>
      <p:sp>
        <p:nvSpPr>
          <p:cNvPr id="26" name="Text 20"/>
          <p:cNvSpPr txBox="1"/>
          <p:nvPr/>
        </p:nvSpPr>
        <p:spPr>
          <a:xfrm>
            <a:off x="2606040" y="3703320"/>
            <a:ext cx="1737360" cy="914400"/>
          </a:xfrm>
          <a:prstGeom prst="rect">
            <a:avLst/>
          </a:prstGeom>
          <a:noFill/>
          <a:ln/>
        </p:spPr>
        <p:txBody>
          <a:bodyPr wrap="square" lIns="0" tIns="0" rIns="0" bIns="0" rtlCol="0" anchor="t"/>
          <a:lstStyle/>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$24.00/hr  one rate</a:t>
            </a:r>
            <a:endParaRPr lang="en-US" sz="900" dirty="0"/>
          </a:p>
        </p:txBody>
      </p:sp>
      <p:sp>
        <p:nvSpPr>
          <p:cNvPr id="27" name="Shape 21"/>
          <p:cNvSpPr/>
          <p:nvPr/>
        </p:nvSpPr>
        <p:spPr>
          <a:xfrm>
            <a:off x="4572000" y="1234440"/>
            <a:ext cx="4160520" cy="457200"/>
          </a:xfrm>
          <a:prstGeom prst="roundRect">
            <a:avLst>
              <a:gd name="adj" fmla="val 20000"/>
            </a:avLst>
          </a:prstGeom>
          <a:solidFill>
            <a:srgbClr val="0B7A6F"/>
          </a:solidFill>
          <a:ln w="12700">
            <a:solidFill>
              <a:srgbClr val="0B7A6F"/>
            </a:solidFill>
            <a:prstDash val="solid"/>
          </a:ln>
        </p:spPr>
      </p:sp>
      <p:pic>
        <p:nvPicPr>
          <p:cNvPr id="28" name="Image 3" descr="preencoded.png">    </p:cNvPr>
          <p:cNvPicPr>
            <a:picLocks noChangeAspect="1"/>
          </p:cNvPicPr>
          <p:nvPr/>
        </p:nvPicPr>
        <p:blipFill>
          <a:blip r:embed="rId4"/>
          <a:stretch>
            <a:fillRect/>
          </a:stretch>
        </p:blipFill>
        <p:spPr>
          <a:xfrm>
            <a:off x="4754880" y="1353312"/>
            <a:ext cx="219456" cy="219456"/>
          </a:xfrm>
          <a:prstGeom prst="rect">
            <a:avLst/>
          </a:prstGeom>
        </p:spPr>
      </p:pic>
      <p:sp>
        <p:nvSpPr>
          <p:cNvPr id="29" name="Text 22"/>
          <p:cNvSpPr txBox="1"/>
          <p:nvPr/>
        </p:nvSpPr>
        <p:spPr>
          <a:xfrm>
            <a:off x="5074920" y="1234440"/>
            <a:ext cx="347472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30" name="Shape 23"/>
          <p:cNvSpPr/>
          <p:nvPr/>
        </p:nvSpPr>
        <p:spPr>
          <a:xfrm>
            <a:off x="4572000" y="1783080"/>
            <a:ext cx="4160520" cy="2926080"/>
          </a:xfrm>
          <a:prstGeom prst="roundRect">
            <a:avLst>
              <a:gd name="adj" fmla="val 2500"/>
            </a:avLst>
          </a:prstGeom>
          <a:solidFill>
            <a:srgbClr val="E3F4F1"/>
          </a:solidFill>
          <a:ln w="9525">
            <a:solidFill>
              <a:srgbClr val="E3F4F1"/>
            </a:solidFill>
            <a:prstDash val="solid"/>
          </a:ln>
        </p:spPr>
      </p:sp>
      <p:sp>
        <p:nvSpPr>
          <p:cNvPr id="31" name="revealCpPay"/>
          <p:cNvSpPr txBox="1"/>
          <p:nvPr/>
        </p:nvSpPr>
        <p:spPr>
          <a:xfrm>
            <a:off x="4754880" y="1920240"/>
            <a:ext cx="3794760" cy="2697480"/>
          </a:xfrm>
          <a:prstGeom prst="rect">
            <a:avLst/>
          </a:prstGeom>
          <a:noFill/>
          <a:ln/>
        </p:spPr>
        <p:txBody>
          <a:bodyPr wrap="square" lIns="0" tIns="0" rIns="0" bIns="0" rtlCol="0" anchor="t"/>
          <a:lstStyle/>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CP Sarah:  $162.50</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$28/hr repeat rate × 5 hrs + $12.50 surge bonus + $10.00 tip</a:t>
            </a:r>
            <a:endParaRPr lang="en-US" sz="1250" dirty="0"/>
          </a:p>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CP Gab:  $142.50</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$24/hr × 5 hrs + $12.50 surge bonus + $10.00 tip (repeat client, so no $5 match fee)</a:t>
            </a:r>
            <a:endParaRPr lang="en-US" sz="1250" dirty="0"/>
          </a:p>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Key point</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The 3-hour voucher only lowers what the customer pays. The cleaner is still paid for all 5 hours.</a:t>
            </a:r>
            <a:endParaRPr lang="en-US" sz="12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xEl>
                                              <p:pRg st="0" end="0"/>
                                            </p:txEl>
                                          </p:spTgt>
                                        </p:tgtEl>
                                        <p:attrNameLst>
                                          <p:attrName>style.visibility</p:attrName>
                                        </p:attrNameLst>
                                      </p:cBhvr>
                                      <p:to>
                                        <p:strVal val="visible"/>
                                      </p:to>
                                    </p:set>
                                    <p:animEffect transition="in" filter="fade">
                                      <p:cBhvr>
                                        <p:cTn id="7" dur="600"/>
                                        <p:tgtEl>
                                          <p:spTgt spid="3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1">
                                            <p:txEl>
                                              <p:pRg st="1" end="1"/>
                                            </p:txEl>
                                          </p:spTgt>
                                        </p:tgtEl>
                                        <p:attrNameLst>
                                          <p:attrName>style.visibility</p:attrName>
                                        </p:attrNameLst>
                                      </p:cBhvr>
                                      <p:to>
                                        <p:strVal val="visible"/>
                                      </p:to>
                                    </p:set>
                                    <p:animEffect transition="in" filter="fade">
                                      <p:cBhvr>
                                        <p:cTn id="12" dur="600"/>
                                        <p:tgtEl>
                                          <p:spTgt spid="3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1">
                                            <p:txEl>
                                              <p:pRg st="2" end="2"/>
                                            </p:txEl>
                                          </p:spTgt>
                                        </p:tgtEl>
                                        <p:attrNameLst>
                                          <p:attrName>style.visibility</p:attrName>
                                        </p:attrNameLst>
                                      </p:cBhvr>
                                      <p:to>
                                        <p:strVal val="visible"/>
                                      </p:to>
                                    </p:set>
                                    <p:animEffect transition="in" filter="fade">
                                      <p:cBhvr>
                                        <p:cTn id="17" dur="600"/>
                                        <p:tgtEl>
                                          <p:spTgt spid="3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Vouchers in CRM</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voucher is, how to read it in the CRM, and how each type behaves.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voucher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vouchers work</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Reading a voucher in the CRM</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Voucher types at a glance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voucher?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discount on a customer's cleaning, redeemed with a code and tied to their account.</a:t>
            </a:r>
            <a:endParaRPr lang="en-US" sz="1200" dirty="0"/>
          </a:p>
        </p:txBody>
      </p:sp>
      <p:sp>
        <p:nvSpPr>
          <p:cNvPr id="6" name="Shape 3"/>
          <p:cNvSpPr/>
          <p:nvPr/>
        </p:nvSpPr>
        <p:spPr>
          <a:xfrm>
            <a:off x="411480" y="1325880"/>
            <a:ext cx="197739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Bought it</a:t>
            </a:r>
            <a:endParaRPr lang="en-US" sz="1200" dirty="0"/>
          </a:p>
        </p:txBody>
      </p:sp>
      <p:sp>
        <p:nvSpPr>
          <p:cNvPr id="10" name="Text 6"/>
          <p:cNvSpPr txBox="1"/>
          <p:nvPr/>
        </p:nvSpPr>
        <p:spPr>
          <a:xfrm>
            <a:off x="57607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the customer paid for the voucher.</a:t>
            </a:r>
            <a:endParaRPr lang="en-US" sz="950" dirty="0"/>
          </a:p>
        </p:txBody>
      </p:sp>
      <p:sp>
        <p:nvSpPr>
          <p:cNvPr id="11" name="Shape 7"/>
          <p:cNvSpPr/>
          <p:nvPr/>
        </p:nvSpPr>
        <p:spPr>
          <a:xfrm>
            <a:off x="2526030" y="1325880"/>
            <a:ext cx="197739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269062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69476"/>
            <a:ext cx="171176" cy="171176"/>
          </a:xfrm>
          <a:prstGeom prst="rect">
            <a:avLst/>
          </a:prstGeom>
        </p:spPr>
      </p:pic>
      <p:sp>
        <p:nvSpPr>
          <p:cNvPr id="14" name="Text 9"/>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With membership</a:t>
            </a:r>
            <a:endParaRPr lang="en-US" sz="1200" dirty="0"/>
          </a:p>
        </p:txBody>
      </p:sp>
      <p:sp>
        <p:nvSpPr>
          <p:cNvPr id="15" name="Text 10"/>
          <p:cNvSpPr txBox="1"/>
          <p:nvPr/>
        </p:nvSpPr>
        <p:spPr>
          <a:xfrm>
            <a:off x="269062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FCF: issued free when they signed up.</a:t>
            </a:r>
            <a:endParaRPr lang="en-US" sz="950" dirty="0"/>
          </a:p>
        </p:txBody>
      </p:sp>
      <p:sp>
        <p:nvSpPr>
          <p:cNvPr id="16" name="Shape 11"/>
          <p:cNvSpPr/>
          <p:nvPr/>
        </p:nvSpPr>
        <p:spPr>
          <a:xfrm>
            <a:off x="4640580" y="1325880"/>
            <a:ext cx="1977390" cy="1463040"/>
          </a:xfrm>
          <a:prstGeom prst="roundRect">
            <a:avLst>
              <a:gd name="adj" fmla="val 5000"/>
            </a:avLst>
          </a:prstGeom>
          <a:solidFill>
            <a:srgbClr val="FFFFFF"/>
          </a:solidFill>
          <a:ln w="9525">
            <a:solidFill>
              <a:srgbClr val="DCE1E7"/>
            </a:solidFill>
            <a:prstDash val="solid"/>
          </a:ln>
        </p:spPr>
      </p:sp>
      <p:sp>
        <p:nvSpPr>
          <p:cNvPr id="17" name="Shape 12"/>
          <p:cNvSpPr/>
          <p:nvPr/>
        </p:nvSpPr>
        <p:spPr>
          <a:xfrm>
            <a:off x="48051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69476"/>
            <a:ext cx="171176" cy="171176"/>
          </a:xfrm>
          <a:prstGeom prst="rect">
            <a:avLst/>
          </a:prstGeom>
        </p:spPr>
      </p:pic>
      <p:sp>
        <p:nvSpPr>
          <p:cNvPr id="19" name="Text 13"/>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Gift or referral</a:t>
            </a:r>
            <a:endParaRPr lang="en-US" sz="1200" dirty="0"/>
          </a:p>
        </p:txBody>
      </p:sp>
      <p:sp>
        <p:nvSpPr>
          <p:cNvPr id="20" name="Text 14"/>
          <p:cNvSpPr txBox="1"/>
          <p:nvPr/>
        </p:nvSpPr>
        <p:spPr>
          <a:xfrm>
            <a:off x="480517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Sent by a friend, or bought as a gift card.</a:t>
            </a:r>
            <a:endParaRPr lang="en-US" sz="950" dirty="0"/>
          </a:p>
        </p:txBody>
      </p:sp>
      <p:sp>
        <p:nvSpPr>
          <p:cNvPr id="21" name="Shape 15"/>
          <p:cNvSpPr/>
          <p:nvPr/>
        </p:nvSpPr>
        <p:spPr>
          <a:xfrm>
            <a:off x="6755130" y="1325880"/>
            <a:ext cx="1977390" cy="1463040"/>
          </a:xfrm>
          <a:prstGeom prst="roundRect">
            <a:avLst>
              <a:gd name="adj" fmla="val 5000"/>
            </a:avLst>
          </a:prstGeom>
          <a:solidFill>
            <a:srgbClr val="FFFFFF"/>
          </a:solidFill>
          <a:ln w="9525">
            <a:solidFill>
              <a:srgbClr val="DCE1E7"/>
            </a:solidFill>
            <a:prstDash val="solid"/>
          </a:ln>
        </p:spPr>
      </p:sp>
      <p:sp>
        <p:nvSpPr>
          <p:cNvPr id="22" name="Shape 16"/>
          <p:cNvSpPr/>
          <p:nvPr/>
        </p:nvSpPr>
        <p:spPr>
          <a:xfrm>
            <a:off x="6919722" y="149047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69476"/>
            <a:ext cx="171176" cy="171176"/>
          </a:xfrm>
          <a:prstGeom prst="rect">
            <a:avLst/>
          </a:prstGeom>
        </p:spPr>
      </p:pic>
      <p:sp>
        <p:nvSpPr>
          <p:cNvPr id="24" name="Text 17"/>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From Care</a:t>
            </a:r>
            <a:endParaRPr lang="en-US" sz="1200" dirty="0"/>
          </a:p>
        </p:txBody>
      </p:sp>
      <p:sp>
        <p:nvSpPr>
          <p:cNvPr id="25" name="Text 18"/>
          <p:cNvSpPr txBox="1"/>
          <p:nvPr/>
        </p:nvSpPr>
        <p:spPr>
          <a:xfrm>
            <a:off x="691972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 admin courtesy voucher issued by us.</a:t>
            </a:r>
            <a:endParaRPr lang="en-US" sz="950" dirty="0"/>
          </a:p>
        </p:txBody>
      </p:sp>
      <p:sp>
        <p:nvSpPr>
          <p:cNvPr id="26" name="Shape 19"/>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127248"/>
            <a:ext cx="164592" cy="164592"/>
          </a:xfrm>
          <a:prstGeom prst="rect">
            <a:avLst/>
          </a:prstGeom>
        </p:spPr>
      </p:pic>
      <p:sp>
        <p:nvSpPr>
          <p:cNvPr id="28" name="Text 20"/>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Watch your words:  </a:t>
            </a:r>
            <a:pPr indent="0" marL="0">
              <a:buNone/>
            </a:pPr>
            <a:r>
              <a:rPr lang="en-US" sz="1000" dirty="0">
                <a:solidFill>
                  <a:srgbClr val="1D1D1F"/>
                </a:solidFill>
                <a:latin typeface="SF Pro Text" pitchFamily="34" charset="0"/>
                <a:ea typeface="SF Pro Text" pitchFamily="34" charset="-122"/>
                <a:cs typeface="SF Pro Text" pitchFamily="34" charset="-120"/>
              </a:rPr>
              <a:t>an FCF customer who says "I never bought a voucher" is right. Don't contradict them.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vouchers work</a:t>
            </a:r>
            <a:endParaRPr lang="en-US" sz="2400" dirty="0"/>
          </a:p>
        </p:txBody>
      </p:sp>
      <p:sp>
        <p:nvSpPr>
          <p:cNvPr id="5" name="Shape 2"/>
          <p:cNvSpPr/>
          <p:nvPr/>
        </p:nvSpPr>
        <p:spPr>
          <a:xfrm>
            <a:off x="411480" y="1280160"/>
            <a:ext cx="197739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Hours, not dollars</a:t>
            </a:r>
            <a:endParaRPr lang="en-US" sz="1200" dirty="0"/>
          </a:p>
        </p:txBody>
      </p:sp>
      <p:sp>
        <p:nvSpPr>
          <p:cNvPr id="9" name="Text 5"/>
          <p:cNvSpPr txBox="1"/>
          <p:nvPr/>
        </p:nvSpPr>
        <p:spPr>
          <a:xfrm>
            <a:off x="5760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whatever the cleaner's rate.</a:t>
            </a:r>
            <a:endParaRPr lang="en-US" sz="950" dirty="0"/>
          </a:p>
        </p:txBody>
      </p:sp>
      <p:sp>
        <p:nvSpPr>
          <p:cNvPr id="10" name="Shape 6"/>
          <p:cNvSpPr/>
          <p:nvPr/>
        </p:nvSpPr>
        <p:spPr>
          <a:xfrm>
            <a:off x="2526030" y="1280160"/>
            <a:ext cx="197739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Longer job?</a:t>
            </a:r>
            <a:endParaRPr lang="en-US" sz="1200" dirty="0"/>
          </a:p>
        </p:txBody>
      </p:sp>
      <p:sp>
        <p:nvSpPr>
          <p:cNvPr id="14" name="Text 9"/>
          <p:cNvSpPr txBox="1"/>
          <p:nvPr/>
        </p:nvSpPr>
        <p:spPr>
          <a:xfrm>
            <a:off x="26906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Extra hours are charged at Homeaglow's standard rate.</a:t>
            </a:r>
            <a:endParaRPr lang="en-US" sz="950" dirty="0"/>
          </a:p>
        </p:txBody>
      </p:sp>
      <p:sp>
        <p:nvSpPr>
          <p:cNvPr id="15" name="Shape 10"/>
          <p:cNvSpPr/>
          <p:nvPr/>
        </p:nvSpPr>
        <p:spPr>
          <a:xfrm>
            <a:off x="4640580" y="1280160"/>
            <a:ext cx="1977390" cy="1600200"/>
          </a:xfrm>
          <a:prstGeom prst="roundRect">
            <a:avLst>
              <a:gd name="adj" fmla="val 4571"/>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Redeem online</a:t>
            </a:r>
            <a:endParaRPr lang="en-US" sz="1200" dirty="0"/>
          </a:p>
        </p:txBody>
      </p:sp>
      <p:sp>
        <p:nvSpPr>
          <p:cNvPr id="19" name="Text 13"/>
          <p:cNvSpPr txBox="1"/>
          <p:nvPr/>
        </p:nvSpPr>
        <p:spPr>
          <a:xfrm>
            <a:off x="48051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brand.com/redeem with zip code, email and voucher code.</a:t>
            </a:r>
            <a:endParaRPr lang="en-US" sz="950" dirty="0"/>
          </a:p>
        </p:txBody>
      </p:sp>
      <p:sp>
        <p:nvSpPr>
          <p:cNvPr id="20" name="Shape 14"/>
          <p:cNvSpPr/>
          <p:nvPr/>
        </p:nvSpPr>
        <p:spPr>
          <a:xfrm>
            <a:off x="6755130" y="1280160"/>
            <a:ext cx="1977390" cy="1600200"/>
          </a:xfrm>
          <a:prstGeom prst="roundRect">
            <a:avLst>
              <a:gd name="adj" fmla="val 4571"/>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One per household</a:t>
            </a:r>
            <a:endParaRPr lang="en-US" sz="1200" dirty="0"/>
          </a:p>
        </p:txBody>
      </p:sp>
      <p:sp>
        <p:nvSpPr>
          <p:cNvPr id="24" name="Text 17"/>
          <p:cNvSpPr txBox="1"/>
          <p:nvPr/>
        </p:nvSpPr>
        <p:spPr>
          <a:xfrm>
            <a:off x="69197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one paid voucher per address.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a voucher in the new CRM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redeemed, the voucher shows on the customer's account.</a:t>
            </a:r>
            <a:endParaRPr lang="en-US" sz="1200" dirty="0"/>
          </a:p>
        </p:txBody>
      </p:sp>
      <p:sp>
        <p:nvSpPr>
          <p:cNvPr id="6" name="Shape 3"/>
          <p:cNvSpPr/>
          <p:nvPr/>
        </p:nvSpPr>
        <p:spPr>
          <a:xfrm>
            <a:off x="411480" y="1325880"/>
            <a:ext cx="8321040" cy="1965960"/>
          </a:xfrm>
          <a:prstGeom prst="roundRect">
            <a:avLst>
              <a:gd name="adj" fmla="val 3721"/>
            </a:avLst>
          </a:prstGeom>
          <a:solidFill>
            <a:srgbClr val="FFFFFF"/>
          </a:solidFill>
          <a:ln w="9525">
            <a:solidFill>
              <a:srgbClr val="DCE1E7"/>
            </a:solidFill>
            <a:prstDash val="solid"/>
          </a:ln>
        </p:spPr>
      </p:sp>
      <p:pic>
        <p:nvPicPr>
          <p:cNvPr id="7" name="Image 0" descr="/tmp/claude-0/-workspace-training/3ce5cff6-cccf-5f33-b0ee-0b147a55120e/scratchpad/img3/vouchers_newcrm.png">    </p:cNvPr>
          <p:cNvPicPr>
            <a:picLocks noChangeAspect="1"/>
          </p:cNvPicPr>
          <p:nvPr/>
        </p:nvPicPr>
        <p:blipFill>
          <a:blip r:embed="rId1"/>
          <a:stretch>
            <a:fillRect/>
          </a:stretch>
        </p:blipFill>
        <p:spPr>
          <a:xfrm>
            <a:off x="484632" y="1404334"/>
            <a:ext cx="8174736" cy="1809051"/>
          </a:xfrm>
          <a:prstGeom prst="rect">
            <a:avLst/>
          </a:prstGeom>
        </p:spPr>
      </p:pic>
      <p:sp>
        <p:nvSpPr>
          <p:cNvPr id="8" name="Shape 4"/>
          <p:cNvSpPr/>
          <p:nvPr/>
        </p:nvSpPr>
        <p:spPr>
          <a:xfrm>
            <a:off x="634253" y="1921206"/>
            <a:ext cx="2026682" cy="652891"/>
          </a:xfrm>
          <a:prstGeom prst="roundRect">
            <a:avLst>
              <a:gd name="adj" fmla="val 4202"/>
            </a:avLst>
          </a:prstGeom>
          <a:ln w="25400">
            <a:solidFill>
              <a:srgbClr val="0B7A6F"/>
            </a:solidFill>
            <a:prstDash val="solid"/>
          </a:ln>
        </p:spPr>
      </p:sp>
      <p:sp>
        <p:nvSpPr>
          <p:cNvPr id="9" name="Shape 5"/>
          <p:cNvSpPr/>
          <p:nvPr/>
        </p:nvSpPr>
        <p:spPr>
          <a:xfrm>
            <a:off x="533669" y="1820622"/>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3669"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2660934" y="1921206"/>
            <a:ext cx="979336" cy="652891"/>
          </a:xfrm>
          <a:prstGeom prst="roundRect">
            <a:avLst>
              <a:gd name="adj" fmla="val 4202"/>
            </a:avLst>
          </a:prstGeom>
          <a:ln w="25400">
            <a:solidFill>
              <a:srgbClr val="0B7A6F"/>
            </a:solidFill>
            <a:prstDash val="solid"/>
          </a:ln>
        </p:spPr>
      </p:sp>
      <p:sp>
        <p:nvSpPr>
          <p:cNvPr id="12" name="Shape 8"/>
          <p:cNvSpPr/>
          <p:nvPr/>
        </p:nvSpPr>
        <p:spPr>
          <a:xfrm>
            <a:off x="2560350" y="1820622"/>
            <a:ext cx="201168" cy="201168"/>
          </a:xfrm>
          <a:prstGeom prst="ellipse">
            <a:avLst/>
          </a:prstGeom>
          <a:solidFill>
            <a:srgbClr val="0B7A6F"/>
          </a:solidFill>
          <a:ln w="12700">
            <a:solidFill>
              <a:srgbClr val="FFFFFF"/>
            </a:solidFill>
            <a:prstDash val="solid"/>
          </a:ln>
        </p:spPr>
      </p:sp>
      <p:sp>
        <p:nvSpPr>
          <p:cNvPr id="13" name="Text 9"/>
          <p:cNvSpPr txBox="1"/>
          <p:nvPr/>
        </p:nvSpPr>
        <p:spPr>
          <a:xfrm>
            <a:off x="2560350"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640271" y="1921206"/>
            <a:ext cx="1441800" cy="652891"/>
          </a:xfrm>
          <a:prstGeom prst="roundRect">
            <a:avLst>
              <a:gd name="adj" fmla="val 4202"/>
            </a:avLst>
          </a:prstGeom>
          <a:ln w="25400">
            <a:solidFill>
              <a:srgbClr val="0B7A6F"/>
            </a:solidFill>
            <a:prstDash val="solid"/>
          </a:ln>
        </p:spPr>
      </p:sp>
      <p:sp>
        <p:nvSpPr>
          <p:cNvPr id="15" name="Shape 11"/>
          <p:cNvSpPr/>
          <p:nvPr/>
        </p:nvSpPr>
        <p:spPr>
          <a:xfrm>
            <a:off x="3539687" y="1820622"/>
            <a:ext cx="201168" cy="201168"/>
          </a:xfrm>
          <a:prstGeom prst="ellipse">
            <a:avLst/>
          </a:prstGeom>
          <a:solidFill>
            <a:srgbClr val="0B7A6F"/>
          </a:solidFill>
          <a:ln w="12700">
            <a:solidFill>
              <a:srgbClr val="FFFFFF"/>
            </a:solidFill>
            <a:prstDash val="solid"/>
          </a:ln>
        </p:spPr>
      </p:sp>
      <p:sp>
        <p:nvSpPr>
          <p:cNvPr id="16" name="Text 12"/>
          <p:cNvSpPr txBox="1"/>
          <p:nvPr/>
        </p:nvSpPr>
        <p:spPr>
          <a:xfrm>
            <a:off x="3539687"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082071" y="1921206"/>
            <a:ext cx="2067487" cy="748104"/>
          </a:xfrm>
          <a:prstGeom prst="roundRect">
            <a:avLst>
              <a:gd name="adj" fmla="val 3667"/>
            </a:avLst>
          </a:prstGeom>
          <a:ln w="25400">
            <a:solidFill>
              <a:srgbClr val="0B7A6F"/>
            </a:solidFill>
            <a:prstDash val="solid"/>
          </a:ln>
        </p:spPr>
      </p:sp>
      <p:sp>
        <p:nvSpPr>
          <p:cNvPr id="18" name="Shape 14"/>
          <p:cNvSpPr/>
          <p:nvPr/>
        </p:nvSpPr>
        <p:spPr>
          <a:xfrm>
            <a:off x="4981487" y="1820622"/>
            <a:ext cx="201168" cy="201168"/>
          </a:xfrm>
          <a:prstGeom prst="ellipse">
            <a:avLst/>
          </a:prstGeom>
          <a:solidFill>
            <a:srgbClr val="0B7A6F"/>
          </a:solidFill>
          <a:ln w="12700">
            <a:solidFill>
              <a:srgbClr val="FFFFFF"/>
            </a:solidFill>
            <a:prstDash val="solid"/>
          </a:ln>
        </p:spPr>
      </p:sp>
      <p:sp>
        <p:nvSpPr>
          <p:cNvPr id="19" name="Text 15"/>
          <p:cNvSpPr txBox="1"/>
          <p:nvPr/>
        </p:nvSpPr>
        <p:spPr>
          <a:xfrm>
            <a:off x="4981487"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7149558" y="1921206"/>
            <a:ext cx="1428198" cy="652891"/>
          </a:xfrm>
          <a:prstGeom prst="roundRect">
            <a:avLst>
              <a:gd name="adj" fmla="val 4202"/>
            </a:avLst>
          </a:prstGeom>
          <a:ln w="25400">
            <a:solidFill>
              <a:srgbClr val="0B7A6F"/>
            </a:solidFill>
            <a:prstDash val="solid"/>
          </a:ln>
        </p:spPr>
      </p:sp>
      <p:sp>
        <p:nvSpPr>
          <p:cNvPr id="21" name="Shape 17"/>
          <p:cNvSpPr/>
          <p:nvPr/>
        </p:nvSpPr>
        <p:spPr>
          <a:xfrm>
            <a:off x="7048974" y="1820622"/>
            <a:ext cx="201168" cy="201168"/>
          </a:xfrm>
          <a:prstGeom prst="ellipse">
            <a:avLst/>
          </a:prstGeom>
          <a:solidFill>
            <a:srgbClr val="0B7A6F"/>
          </a:solidFill>
          <a:ln w="12700">
            <a:solidFill>
              <a:srgbClr val="FFFFFF"/>
            </a:solidFill>
            <a:prstDash val="solid"/>
          </a:ln>
        </p:spPr>
      </p:sp>
      <p:sp>
        <p:nvSpPr>
          <p:cNvPr id="22" name="Text 18"/>
          <p:cNvSpPr txBox="1"/>
          <p:nvPr/>
        </p:nvSpPr>
        <p:spPr>
          <a:xfrm>
            <a:off x="7048974"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5</a:t>
            </a:r>
            <a:endParaRPr lang="en-US" sz="800" dirty="0"/>
          </a:p>
        </p:txBody>
      </p:sp>
      <p:sp>
        <p:nvSpPr>
          <p:cNvPr id="23" name="Shape 19"/>
          <p:cNvSpPr/>
          <p:nvPr/>
        </p:nvSpPr>
        <p:spPr>
          <a:xfrm>
            <a:off x="607049" y="2642106"/>
            <a:ext cx="2597961" cy="258436"/>
          </a:xfrm>
          <a:prstGeom prst="roundRect">
            <a:avLst>
              <a:gd name="adj" fmla="val 10615"/>
            </a:avLst>
          </a:prstGeom>
          <a:ln w="25400">
            <a:solidFill>
              <a:srgbClr val="0B7A6F"/>
            </a:solidFill>
            <a:prstDash val="solid"/>
          </a:ln>
        </p:spPr>
      </p:sp>
      <p:sp>
        <p:nvSpPr>
          <p:cNvPr id="24" name="Shape 20"/>
          <p:cNvSpPr/>
          <p:nvPr/>
        </p:nvSpPr>
        <p:spPr>
          <a:xfrm>
            <a:off x="506465" y="2541522"/>
            <a:ext cx="201168" cy="201168"/>
          </a:xfrm>
          <a:prstGeom prst="ellipse">
            <a:avLst/>
          </a:prstGeom>
          <a:solidFill>
            <a:srgbClr val="0B7A6F"/>
          </a:solidFill>
          <a:ln w="12700">
            <a:solidFill>
              <a:srgbClr val="FFFFFF"/>
            </a:solidFill>
            <a:prstDash val="solid"/>
          </a:ln>
        </p:spPr>
      </p:sp>
      <p:sp>
        <p:nvSpPr>
          <p:cNvPr id="25" name="Text 21"/>
          <p:cNvSpPr txBox="1"/>
          <p:nvPr/>
        </p:nvSpPr>
        <p:spPr>
          <a:xfrm>
            <a:off x="506465" y="25415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6</a:t>
            </a:r>
            <a:endParaRPr lang="en-US" sz="800" dirty="0"/>
          </a:p>
        </p:txBody>
      </p:sp>
      <p:sp>
        <p:nvSpPr>
          <p:cNvPr id="26" name="Shape 22"/>
          <p:cNvSpPr/>
          <p:nvPr/>
        </p:nvSpPr>
        <p:spPr>
          <a:xfrm>
            <a:off x="411480" y="3429000"/>
            <a:ext cx="2697480" cy="457200"/>
          </a:xfrm>
          <a:prstGeom prst="roundRect">
            <a:avLst>
              <a:gd name="adj" fmla="val 16000"/>
            </a:avLst>
          </a:prstGeom>
          <a:solidFill>
            <a:srgbClr val="FFFFFF"/>
          </a:solidFill>
          <a:ln w="9525">
            <a:solidFill>
              <a:srgbClr val="DCE1E7"/>
            </a:solidFill>
            <a:prstDash val="solid"/>
          </a:ln>
        </p:spPr>
      </p:sp>
      <p:sp>
        <p:nvSpPr>
          <p:cNvPr id="27" name="Shape 23"/>
          <p:cNvSpPr/>
          <p:nvPr/>
        </p:nvSpPr>
        <p:spPr>
          <a:xfrm>
            <a:off x="539496" y="3529584"/>
            <a:ext cx="256032" cy="256032"/>
          </a:xfrm>
          <a:prstGeom prst="ellipse">
            <a:avLst/>
          </a:prstGeom>
          <a:solidFill>
            <a:srgbClr val="0B7A6F"/>
          </a:solidFill>
          <a:ln w="12700">
            <a:solidFill>
              <a:srgbClr val="0B7A6F"/>
            </a:solidFill>
            <a:prstDash val="solid"/>
          </a:ln>
        </p:spPr>
      </p:sp>
      <p:sp>
        <p:nvSpPr>
          <p:cNvPr id="28" name="Text 24"/>
          <p:cNvSpPr txBox="1"/>
          <p:nvPr/>
        </p:nvSpPr>
        <p:spPr>
          <a:xfrm>
            <a:off x="539496"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9" name="Text 25"/>
          <p:cNvSpPr txBox="1"/>
          <p:nvPr/>
        </p:nvSpPr>
        <p:spPr>
          <a:xfrm>
            <a:off x="914400"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Code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16-letter redemption code</a:t>
            </a:r>
            <a:endParaRPr lang="en-US" sz="1050" dirty="0"/>
          </a:p>
        </p:txBody>
      </p:sp>
      <p:sp>
        <p:nvSpPr>
          <p:cNvPr id="30" name="Shape 26"/>
          <p:cNvSpPr/>
          <p:nvPr/>
        </p:nvSpPr>
        <p:spPr>
          <a:xfrm>
            <a:off x="411480" y="3977640"/>
            <a:ext cx="2697480" cy="457200"/>
          </a:xfrm>
          <a:prstGeom prst="roundRect">
            <a:avLst>
              <a:gd name="adj" fmla="val 16000"/>
            </a:avLst>
          </a:prstGeom>
          <a:solidFill>
            <a:srgbClr val="FFFFFF"/>
          </a:solidFill>
          <a:ln w="9525">
            <a:solidFill>
              <a:srgbClr val="DCE1E7"/>
            </a:solidFill>
            <a:prstDash val="solid"/>
          </a:ln>
        </p:spPr>
      </p:sp>
      <p:sp>
        <p:nvSpPr>
          <p:cNvPr id="31" name="Shape 27"/>
          <p:cNvSpPr/>
          <p:nvPr/>
        </p:nvSpPr>
        <p:spPr>
          <a:xfrm>
            <a:off x="539496" y="4078224"/>
            <a:ext cx="256032" cy="256032"/>
          </a:xfrm>
          <a:prstGeom prst="ellipse">
            <a:avLst/>
          </a:prstGeom>
          <a:solidFill>
            <a:srgbClr val="0B7A6F"/>
          </a:solidFill>
          <a:ln w="12700">
            <a:solidFill>
              <a:srgbClr val="0B7A6F"/>
            </a:solidFill>
            <a:prstDash val="solid"/>
          </a:ln>
        </p:spPr>
      </p:sp>
      <p:sp>
        <p:nvSpPr>
          <p:cNvPr id="32" name="Text 28"/>
          <p:cNvSpPr txBox="1"/>
          <p:nvPr/>
        </p:nvSpPr>
        <p:spPr>
          <a:xfrm>
            <a:off x="539496"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33" name="Text 29"/>
          <p:cNvSpPr txBox="1"/>
          <p:nvPr/>
        </p:nvSpPr>
        <p:spPr>
          <a:xfrm>
            <a:off x="914400"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Merchant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voucher type (dhj, groupon…)</a:t>
            </a:r>
            <a:endParaRPr lang="en-US" sz="1050" dirty="0"/>
          </a:p>
        </p:txBody>
      </p:sp>
      <p:sp>
        <p:nvSpPr>
          <p:cNvPr id="34" name="Shape 30"/>
          <p:cNvSpPr/>
          <p:nvPr/>
        </p:nvSpPr>
        <p:spPr>
          <a:xfrm>
            <a:off x="3227832" y="3429000"/>
            <a:ext cx="2697480" cy="457200"/>
          </a:xfrm>
          <a:prstGeom prst="roundRect">
            <a:avLst>
              <a:gd name="adj" fmla="val 16000"/>
            </a:avLst>
          </a:prstGeom>
          <a:solidFill>
            <a:srgbClr val="FFFFFF"/>
          </a:solidFill>
          <a:ln w="9525">
            <a:solidFill>
              <a:srgbClr val="DCE1E7"/>
            </a:solidFill>
            <a:prstDash val="solid"/>
          </a:ln>
        </p:spPr>
      </p:sp>
      <p:sp>
        <p:nvSpPr>
          <p:cNvPr id="35" name="Shape 31"/>
          <p:cNvSpPr/>
          <p:nvPr/>
        </p:nvSpPr>
        <p:spPr>
          <a:xfrm>
            <a:off x="3355848" y="3529584"/>
            <a:ext cx="256032" cy="256032"/>
          </a:xfrm>
          <a:prstGeom prst="ellipse">
            <a:avLst/>
          </a:prstGeom>
          <a:solidFill>
            <a:srgbClr val="0B7A6F"/>
          </a:solidFill>
          <a:ln w="12700">
            <a:solidFill>
              <a:srgbClr val="0B7A6F"/>
            </a:solidFill>
            <a:prstDash val="solid"/>
          </a:ln>
        </p:spPr>
      </p:sp>
      <p:sp>
        <p:nvSpPr>
          <p:cNvPr id="36" name="Text 32"/>
          <p:cNvSpPr txBox="1"/>
          <p:nvPr/>
        </p:nvSpPr>
        <p:spPr>
          <a:xfrm>
            <a:off x="3355848"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37" name="Text 33"/>
          <p:cNvSpPr txBox="1"/>
          <p:nvPr/>
        </p:nvSpPr>
        <p:spPr>
          <a:xfrm>
            <a:off x="3730752"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Price &amp; hours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Paid amount and duration</a:t>
            </a:r>
            <a:endParaRPr lang="en-US" sz="1050" dirty="0"/>
          </a:p>
        </p:txBody>
      </p:sp>
      <p:sp>
        <p:nvSpPr>
          <p:cNvPr id="38" name="Shape 34"/>
          <p:cNvSpPr/>
          <p:nvPr/>
        </p:nvSpPr>
        <p:spPr>
          <a:xfrm>
            <a:off x="3227832" y="3977640"/>
            <a:ext cx="2697480" cy="457200"/>
          </a:xfrm>
          <a:prstGeom prst="roundRect">
            <a:avLst>
              <a:gd name="adj" fmla="val 16000"/>
            </a:avLst>
          </a:prstGeom>
          <a:solidFill>
            <a:srgbClr val="FFFFFF"/>
          </a:solidFill>
          <a:ln w="9525">
            <a:solidFill>
              <a:srgbClr val="DCE1E7"/>
            </a:solidFill>
            <a:prstDash val="solid"/>
          </a:ln>
        </p:spPr>
      </p:sp>
      <p:sp>
        <p:nvSpPr>
          <p:cNvPr id="39" name="Shape 35"/>
          <p:cNvSpPr/>
          <p:nvPr/>
        </p:nvSpPr>
        <p:spPr>
          <a:xfrm>
            <a:off x="3355848" y="4078224"/>
            <a:ext cx="256032" cy="256032"/>
          </a:xfrm>
          <a:prstGeom prst="ellipse">
            <a:avLst/>
          </a:prstGeom>
          <a:solidFill>
            <a:srgbClr val="0B7A6F"/>
          </a:solidFill>
          <a:ln w="12700">
            <a:solidFill>
              <a:srgbClr val="0B7A6F"/>
            </a:solidFill>
            <a:prstDash val="solid"/>
          </a:ln>
        </p:spPr>
      </p:sp>
      <p:sp>
        <p:nvSpPr>
          <p:cNvPr id="40" name="Text 36"/>
          <p:cNvSpPr txBox="1"/>
          <p:nvPr/>
        </p:nvSpPr>
        <p:spPr>
          <a:xfrm>
            <a:off x="3355848"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4</a:t>
            </a:r>
            <a:endParaRPr lang="en-US" sz="900" dirty="0"/>
          </a:p>
        </p:txBody>
      </p:sp>
      <p:sp>
        <p:nvSpPr>
          <p:cNvPr id="41" name="Text 37"/>
          <p:cNvSpPr txBox="1"/>
          <p:nvPr/>
        </p:nvSpPr>
        <p:spPr>
          <a:xfrm>
            <a:off x="3730752"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Purchased &amp; expires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it was bought, when it ends</a:t>
            </a:r>
            <a:endParaRPr lang="en-US" sz="1050" dirty="0"/>
          </a:p>
        </p:txBody>
      </p:sp>
      <p:sp>
        <p:nvSpPr>
          <p:cNvPr id="42" name="Shape 38"/>
          <p:cNvSpPr/>
          <p:nvPr/>
        </p:nvSpPr>
        <p:spPr>
          <a:xfrm>
            <a:off x="6035040" y="3429000"/>
            <a:ext cx="2697480" cy="457200"/>
          </a:xfrm>
          <a:prstGeom prst="roundRect">
            <a:avLst>
              <a:gd name="adj" fmla="val 16000"/>
            </a:avLst>
          </a:prstGeom>
          <a:solidFill>
            <a:srgbClr val="FFFFFF"/>
          </a:solidFill>
          <a:ln w="9525">
            <a:solidFill>
              <a:srgbClr val="DCE1E7"/>
            </a:solidFill>
            <a:prstDash val="solid"/>
          </a:ln>
        </p:spPr>
      </p:sp>
      <p:sp>
        <p:nvSpPr>
          <p:cNvPr id="43" name="Shape 39"/>
          <p:cNvSpPr/>
          <p:nvPr/>
        </p:nvSpPr>
        <p:spPr>
          <a:xfrm>
            <a:off x="6163056" y="3529584"/>
            <a:ext cx="256032" cy="256032"/>
          </a:xfrm>
          <a:prstGeom prst="ellipse">
            <a:avLst/>
          </a:prstGeom>
          <a:solidFill>
            <a:srgbClr val="0B7A6F"/>
          </a:solidFill>
          <a:ln w="12700">
            <a:solidFill>
              <a:srgbClr val="0B7A6F"/>
            </a:solidFill>
            <a:prstDash val="solid"/>
          </a:ln>
        </p:spPr>
      </p:sp>
      <p:sp>
        <p:nvSpPr>
          <p:cNvPr id="44" name="Text 40"/>
          <p:cNvSpPr txBox="1"/>
          <p:nvPr/>
        </p:nvSpPr>
        <p:spPr>
          <a:xfrm>
            <a:off x="6163056"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5</a:t>
            </a:r>
            <a:endParaRPr lang="en-US" sz="900" dirty="0"/>
          </a:p>
        </p:txBody>
      </p:sp>
      <p:sp>
        <p:nvSpPr>
          <p:cNvPr id="45" name="Text 41"/>
          <p:cNvSpPr txBox="1"/>
          <p:nvPr/>
        </p:nvSpPr>
        <p:spPr>
          <a:xfrm>
            <a:off x="6537960"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FC &amp; refund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Tied to FC? Refunded?</a:t>
            </a:r>
            <a:endParaRPr lang="en-US" sz="1050" dirty="0"/>
          </a:p>
        </p:txBody>
      </p:sp>
      <p:sp>
        <p:nvSpPr>
          <p:cNvPr id="46" name="Shape 42"/>
          <p:cNvSpPr/>
          <p:nvPr/>
        </p:nvSpPr>
        <p:spPr>
          <a:xfrm>
            <a:off x="6035040" y="3977640"/>
            <a:ext cx="2697480" cy="457200"/>
          </a:xfrm>
          <a:prstGeom prst="roundRect">
            <a:avLst>
              <a:gd name="adj" fmla="val 16000"/>
            </a:avLst>
          </a:prstGeom>
          <a:solidFill>
            <a:srgbClr val="FFFFFF"/>
          </a:solidFill>
          <a:ln w="9525">
            <a:solidFill>
              <a:srgbClr val="DCE1E7"/>
            </a:solidFill>
            <a:prstDash val="solid"/>
          </a:ln>
        </p:spPr>
      </p:sp>
      <p:sp>
        <p:nvSpPr>
          <p:cNvPr id="47" name="Shape 43"/>
          <p:cNvSpPr/>
          <p:nvPr/>
        </p:nvSpPr>
        <p:spPr>
          <a:xfrm>
            <a:off x="6163056" y="4078224"/>
            <a:ext cx="256032" cy="256032"/>
          </a:xfrm>
          <a:prstGeom prst="ellipse">
            <a:avLst/>
          </a:prstGeom>
          <a:solidFill>
            <a:srgbClr val="0B7A6F"/>
          </a:solidFill>
          <a:ln w="12700">
            <a:solidFill>
              <a:srgbClr val="0B7A6F"/>
            </a:solidFill>
            <a:prstDash val="solid"/>
          </a:ln>
        </p:spPr>
      </p:sp>
      <p:sp>
        <p:nvSpPr>
          <p:cNvPr id="48" name="Text 44"/>
          <p:cNvSpPr txBox="1"/>
          <p:nvPr/>
        </p:nvSpPr>
        <p:spPr>
          <a:xfrm>
            <a:off x="6163056"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6</a:t>
            </a:r>
            <a:endParaRPr lang="en-US" sz="900" dirty="0"/>
          </a:p>
        </p:txBody>
      </p:sp>
      <p:sp>
        <p:nvSpPr>
          <p:cNvPr id="49" name="Text 45"/>
          <p:cNvSpPr txBox="1"/>
          <p:nvPr/>
        </p:nvSpPr>
        <p:spPr>
          <a:xfrm>
            <a:off x="6537960"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Actions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Issue a voucher, or open legacy CRM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CRM, the color tells you where the voucher stands.</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Unused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Orange box. Applies to the next invoiced job.</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Applied</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Green box with a check mark, job ID and date.</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Grayed out</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Canceled, invalidated, converted or expired. Reason shown by the code.</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Converted?  </a:t>
            </a:r>
            <a:pPr indent="0" marL="0">
              <a:buNone/>
            </a:pPr>
            <a:r>
              <a:rPr lang="en-US" sz="1000" dirty="0">
                <a:solidFill>
                  <a:srgbClr val="1D1D1F"/>
                </a:solidFill>
                <a:latin typeface="SF Pro Text" pitchFamily="34" charset="0"/>
                <a:ea typeface="SF Pro Text" pitchFamily="34" charset="-122"/>
                <a:cs typeface="SF Pro Text" pitchFamily="34" charset="-120"/>
              </a:rPr>
              <a:t>the voucher was turned into credits equal to what the customer paid for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 types at a glance</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11480" y="1097280"/>
          <a:ext cx="8321040" cy="914400"/>
        </p:xfrm>
        <a:graphic>
          <a:graphicData uri="http://schemas.openxmlformats.org/drawingml/2006/table">
            <a:tbl>
              <a:tblPr/>
              <a:tblGrid>
                <a:gridCol w="1691640"/>
                <a:gridCol w="1417320"/>
                <a:gridCol w="1097280"/>
                <a:gridCol w="1920240"/>
                <a:gridCol w="914400"/>
                <a:gridCol w="1280160"/>
              </a:tblGrid>
              <a:tr h="329184">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Type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Comes from</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Invalidate?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Refund?</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Expires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To 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(Dashboard ≤1 yr,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Never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2nd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Gift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Referral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90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First-Time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Never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N/A</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Third-party (Groupon)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90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on expiry</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CP Offer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Cleaner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30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After Nth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3 months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HG 2nd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 year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Admin Courtesy</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CS / 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60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Homeaglow Gift Card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2 years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Types you'll see most</a:t>
            </a:r>
            <a:endParaRPr lang="en-US" sz="2400" dirty="0"/>
          </a:p>
        </p:txBody>
      </p:sp>
      <p:sp>
        <p:nvSpPr>
          <p:cNvPr id="5" name="Shape 2"/>
          <p:cNvSpPr/>
          <p:nvPr/>
        </p:nvSpPr>
        <p:spPr>
          <a:xfrm>
            <a:off x="411480" y="1143000"/>
            <a:ext cx="2682240" cy="1645920"/>
          </a:xfrm>
          <a:prstGeom prst="roundRect">
            <a:avLst>
              <a:gd name="adj" fmla="val 4444"/>
            </a:avLst>
          </a:prstGeom>
          <a:solidFill>
            <a:srgbClr val="FFFFFF"/>
          </a:solidFill>
          <a:ln w="9525">
            <a:solidFill>
              <a:srgbClr val="DCE1E7"/>
            </a:solidFill>
            <a:prstDash val="solid"/>
          </a:ln>
        </p:spPr>
      </p:sp>
      <p:sp>
        <p:nvSpPr>
          <p:cNvPr id="6" name="Shape 3"/>
          <p:cNvSpPr/>
          <p:nvPr/>
        </p:nvSpPr>
        <p:spPr>
          <a:xfrm>
            <a:off x="576072" y="130759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386596"/>
            <a:ext cx="171176" cy="171176"/>
          </a:xfrm>
          <a:prstGeom prst="rect">
            <a:avLst/>
          </a:prstGeom>
        </p:spPr>
      </p:pic>
      <p:sp>
        <p:nvSpPr>
          <p:cNvPr id="8" name="Text 4"/>
          <p:cNvSpPr txBox="1"/>
          <p:nvPr/>
        </p:nvSpPr>
        <p:spPr>
          <a:xfrm>
            <a:off x="576072" y="17465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Free DHJ</a:t>
            </a:r>
            <a:endParaRPr lang="en-US" sz="1200" dirty="0"/>
          </a:p>
        </p:txBody>
      </p:sp>
      <p:sp>
        <p:nvSpPr>
          <p:cNvPr id="9" name="Text 5"/>
          <p:cNvSpPr txBox="1"/>
          <p:nvPr/>
        </p:nvSpPr>
        <p:spPr>
          <a:xfrm>
            <a:off x="576072" y="203911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$19 MF at sign-up, free 3-hr voucher, no price shown.</a:t>
            </a:r>
            <a:endParaRPr lang="en-US" sz="950" dirty="0"/>
          </a:p>
        </p:txBody>
      </p:sp>
      <p:sp>
        <p:nvSpPr>
          <p:cNvPr id="10" name="Shape 6"/>
          <p:cNvSpPr/>
          <p:nvPr/>
        </p:nvSpPr>
        <p:spPr>
          <a:xfrm>
            <a:off x="3230880" y="1143000"/>
            <a:ext cx="2682240" cy="1645920"/>
          </a:xfrm>
          <a:prstGeom prst="roundRect">
            <a:avLst>
              <a:gd name="adj" fmla="val 4444"/>
            </a:avLst>
          </a:prstGeom>
          <a:solidFill>
            <a:srgbClr val="FFFFFF"/>
          </a:solidFill>
          <a:ln w="9525">
            <a:solidFill>
              <a:srgbClr val="DCE1E7"/>
            </a:solidFill>
            <a:prstDash val="solid"/>
          </a:ln>
        </p:spPr>
      </p:sp>
      <p:sp>
        <p:nvSpPr>
          <p:cNvPr id="11" name="Shape 7"/>
          <p:cNvSpPr/>
          <p:nvPr/>
        </p:nvSpPr>
        <p:spPr>
          <a:xfrm>
            <a:off x="3395472" y="130759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386596"/>
            <a:ext cx="171176" cy="171176"/>
          </a:xfrm>
          <a:prstGeom prst="rect">
            <a:avLst/>
          </a:prstGeom>
        </p:spPr>
      </p:pic>
      <p:sp>
        <p:nvSpPr>
          <p:cNvPr id="13" name="Text 8"/>
          <p:cNvSpPr txBox="1"/>
          <p:nvPr/>
        </p:nvSpPr>
        <p:spPr>
          <a:xfrm>
            <a:off x="3395472" y="17465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DHJ Gift</a:t>
            </a:r>
            <a:endParaRPr lang="en-US" sz="1200" dirty="0"/>
          </a:p>
        </p:txBody>
      </p:sp>
      <p:sp>
        <p:nvSpPr>
          <p:cNvPr id="14" name="Text 9"/>
          <p:cNvSpPr txBox="1"/>
          <p:nvPr/>
        </p:nvSpPr>
        <p:spPr>
          <a:xfrm>
            <a:off x="3395472" y="203911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Single use. Triggers FC. Expires in 90 days.</a:t>
            </a:r>
            <a:endParaRPr lang="en-US" sz="950" dirty="0"/>
          </a:p>
        </p:txBody>
      </p:sp>
      <p:sp>
        <p:nvSpPr>
          <p:cNvPr id="15" name="Shape 10"/>
          <p:cNvSpPr/>
          <p:nvPr/>
        </p:nvSpPr>
        <p:spPr>
          <a:xfrm>
            <a:off x="6050280" y="1143000"/>
            <a:ext cx="2682240" cy="1645920"/>
          </a:xfrm>
          <a:prstGeom prst="roundRect">
            <a:avLst>
              <a:gd name="adj" fmla="val 4444"/>
            </a:avLst>
          </a:prstGeom>
          <a:solidFill>
            <a:srgbClr val="FFFFFF"/>
          </a:solidFill>
          <a:ln w="9525">
            <a:solidFill>
              <a:srgbClr val="DCE1E7"/>
            </a:solidFill>
            <a:prstDash val="solid"/>
          </a:ln>
        </p:spPr>
      </p:sp>
      <p:sp>
        <p:nvSpPr>
          <p:cNvPr id="16" name="Shape 11"/>
          <p:cNvSpPr/>
          <p:nvPr/>
        </p:nvSpPr>
        <p:spPr>
          <a:xfrm>
            <a:off x="6214872" y="130759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386596"/>
            <a:ext cx="171176" cy="171176"/>
          </a:xfrm>
          <a:prstGeom prst="rect">
            <a:avLst/>
          </a:prstGeom>
        </p:spPr>
      </p:pic>
      <p:sp>
        <p:nvSpPr>
          <p:cNvPr id="18" name="Text 12"/>
          <p:cNvSpPr txBox="1"/>
          <p:nvPr/>
        </p:nvSpPr>
        <p:spPr>
          <a:xfrm>
            <a:off x="6214872" y="17465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Third-party (Groupon)</a:t>
            </a:r>
            <a:endParaRPr lang="en-US" sz="1200" dirty="0"/>
          </a:p>
        </p:txBody>
      </p:sp>
      <p:sp>
        <p:nvSpPr>
          <p:cNvPr id="19" name="Text 13"/>
          <p:cNvSpPr txBox="1"/>
          <p:nvPr/>
        </p:nvSpPr>
        <p:spPr>
          <a:xfrm>
            <a:off x="6214872" y="203911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Can't be split. Converts to credits on expiry.</a:t>
            </a:r>
            <a:endParaRPr lang="en-US" sz="950" dirty="0"/>
          </a:p>
        </p:txBody>
      </p:sp>
      <p:sp>
        <p:nvSpPr>
          <p:cNvPr id="20" name="Shape 14"/>
          <p:cNvSpPr/>
          <p:nvPr/>
        </p:nvSpPr>
        <p:spPr>
          <a:xfrm>
            <a:off x="411480" y="2926080"/>
            <a:ext cx="2682240" cy="1645920"/>
          </a:xfrm>
          <a:prstGeom prst="roundRect">
            <a:avLst>
              <a:gd name="adj" fmla="val 4444"/>
            </a:avLst>
          </a:prstGeom>
          <a:solidFill>
            <a:srgbClr val="FFFFFF"/>
          </a:solidFill>
          <a:ln w="9525">
            <a:solidFill>
              <a:srgbClr val="DCE1E7"/>
            </a:solidFill>
            <a:prstDash val="solid"/>
          </a:ln>
        </p:spPr>
      </p:sp>
      <p:sp>
        <p:nvSpPr>
          <p:cNvPr id="21" name="Shape 15"/>
          <p:cNvSpPr/>
          <p:nvPr/>
        </p:nvSpPr>
        <p:spPr>
          <a:xfrm>
            <a:off x="576072" y="309067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55076" y="3169676"/>
            <a:ext cx="171176" cy="171176"/>
          </a:xfrm>
          <a:prstGeom prst="rect">
            <a:avLst/>
          </a:prstGeom>
        </p:spPr>
      </p:pic>
      <p:sp>
        <p:nvSpPr>
          <p:cNvPr id="23" name="Text 16"/>
          <p:cNvSpPr txBox="1"/>
          <p:nvPr/>
        </p:nvSpPr>
        <p:spPr>
          <a:xfrm>
            <a:off x="576072" y="35295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Offer</a:t>
            </a:r>
            <a:endParaRPr lang="en-US" sz="1200" dirty="0"/>
          </a:p>
        </p:txBody>
      </p:sp>
      <p:sp>
        <p:nvSpPr>
          <p:cNvPr id="24" name="Text 17"/>
          <p:cNvSpPr txBox="1"/>
          <p:nvPr/>
        </p:nvSpPr>
        <p:spPr>
          <a:xfrm>
            <a:off x="576072" y="382219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Up to 30 min off. Claim in 2 days, use in 30.</a:t>
            </a:r>
            <a:endParaRPr lang="en-US" sz="950" dirty="0"/>
          </a:p>
        </p:txBody>
      </p:sp>
      <p:sp>
        <p:nvSpPr>
          <p:cNvPr id="25" name="Shape 18"/>
          <p:cNvSpPr/>
          <p:nvPr/>
        </p:nvSpPr>
        <p:spPr>
          <a:xfrm>
            <a:off x="3230880" y="2926080"/>
            <a:ext cx="2682240" cy="1645920"/>
          </a:xfrm>
          <a:prstGeom prst="roundRect">
            <a:avLst>
              <a:gd name="adj" fmla="val 4444"/>
            </a:avLst>
          </a:prstGeom>
          <a:solidFill>
            <a:srgbClr val="FFFFFF"/>
          </a:solidFill>
          <a:ln w="9525">
            <a:solidFill>
              <a:srgbClr val="DCE1E7"/>
            </a:solidFill>
            <a:prstDash val="solid"/>
          </a:ln>
        </p:spPr>
      </p:sp>
      <p:sp>
        <p:nvSpPr>
          <p:cNvPr id="26" name="Shape 19"/>
          <p:cNvSpPr/>
          <p:nvPr/>
        </p:nvSpPr>
        <p:spPr>
          <a:xfrm>
            <a:off x="3395472" y="3090672"/>
            <a:ext cx="329184" cy="329184"/>
          </a:xfrm>
          <a:prstGeom prst="ellipse">
            <a:avLst/>
          </a:prstGeom>
          <a:solidFill>
            <a:srgbClr val="E3F4F1"/>
          </a:solidFill>
          <a:ln w="12700">
            <a:solidFill>
              <a:srgbClr val="E3F4F1"/>
            </a:solidFill>
            <a:prstDash val="solid"/>
          </a:ln>
        </p:spPr>
      </p:sp>
      <p:pic>
        <p:nvPicPr>
          <p:cNvPr id="27" name="Image 4" descr="preencoded.png">    </p:cNvPr>
          <p:cNvPicPr>
            <a:picLocks noChangeAspect="1"/>
          </p:cNvPicPr>
          <p:nvPr/>
        </p:nvPicPr>
        <p:blipFill>
          <a:blip r:embed="rId5"/>
          <a:stretch>
            <a:fillRect/>
          </a:stretch>
        </p:blipFill>
        <p:spPr>
          <a:xfrm>
            <a:off x="3474476" y="3169676"/>
            <a:ext cx="171176" cy="171176"/>
          </a:xfrm>
          <a:prstGeom prst="rect">
            <a:avLst/>
          </a:prstGeom>
        </p:spPr>
      </p:pic>
      <p:sp>
        <p:nvSpPr>
          <p:cNvPr id="28" name="Text 20"/>
          <p:cNvSpPr txBox="1"/>
          <p:nvPr/>
        </p:nvSpPr>
        <p:spPr>
          <a:xfrm>
            <a:off x="3395472" y="35295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Admin Courtesy</a:t>
            </a:r>
            <a:endParaRPr lang="en-US" sz="1200" dirty="0"/>
          </a:p>
        </p:txBody>
      </p:sp>
      <p:sp>
        <p:nvSpPr>
          <p:cNvPr id="29" name="Text 21"/>
          <p:cNvSpPr txBox="1"/>
          <p:nvPr/>
        </p:nvSpPr>
        <p:spPr>
          <a:xfrm>
            <a:off x="3395472" y="382219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Issued by CS or the system. Lasts 60 days.</a:t>
            </a:r>
            <a:endParaRPr lang="en-US" sz="950" dirty="0"/>
          </a:p>
        </p:txBody>
      </p:sp>
      <p:sp>
        <p:nvSpPr>
          <p:cNvPr id="30" name="Shape 22"/>
          <p:cNvSpPr/>
          <p:nvPr/>
        </p:nvSpPr>
        <p:spPr>
          <a:xfrm>
            <a:off x="6050280" y="2926080"/>
            <a:ext cx="2682240" cy="1645920"/>
          </a:xfrm>
          <a:prstGeom prst="roundRect">
            <a:avLst>
              <a:gd name="adj" fmla="val 4444"/>
            </a:avLst>
          </a:prstGeom>
          <a:solidFill>
            <a:srgbClr val="FFFFFF"/>
          </a:solidFill>
          <a:ln w="9525">
            <a:solidFill>
              <a:srgbClr val="DCE1E7"/>
            </a:solidFill>
            <a:prstDash val="solid"/>
          </a:ln>
        </p:spPr>
      </p:sp>
      <p:sp>
        <p:nvSpPr>
          <p:cNvPr id="31" name="Shape 23"/>
          <p:cNvSpPr/>
          <p:nvPr/>
        </p:nvSpPr>
        <p:spPr>
          <a:xfrm>
            <a:off x="6214872" y="3090672"/>
            <a:ext cx="329184" cy="329184"/>
          </a:xfrm>
          <a:prstGeom prst="ellipse">
            <a:avLst/>
          </a:prstGeom>
          <a:solidFill>
            <a:srgbClr val="E3F4F1"/>
          </a:solidFill>
          <a:ln w="12700">
            <a:solidFill>
              <a:srgbClr val="E3F4F1"/>
            </a:solidFill>
            <a:prstDash val="solid"/>
          </a:ln>
        </p:spPr>
      </p:sp>
      <p:pic>
        <p:nvPicPr>
          <p:cNvPr id="32" name="Image 5" descr="preencoded.png">    </p:cNvPr>
          <p:cNvPicPr>
            <a:picLocks noChangeAspect="1"/>
          </p:cNvPicPr>
          <p:nvPr/>
        </p:nvPicPr>
        <p:blipFill>
          <a:blip r:embed="rId6"/>
          <a:stretch>
            <a:fillRect/>
          </a:stretch>
        </p:blipFill>
        <p:spPr>
          <a:xfrm>
            <a:off x="6293876" y="3169676"/>
            <a:ext cx="171176" cy="171176"/>
          </a:xfrm>
          <a:prstGeom prst="rect">
            <a:avLst/>
          </a:prstGeom>
        </p:spPr>
      </p:pic>
      <p:sp>
        <p:nvSpPr>
          <p:cNvPr id="33" name="Text 24"/>
          <p:cNvSpPr txBox="1"/>
          <p:nvPr/>
        </p:nvSpPr>
        <p:spPr>
          <a:xfrm>
            <a:off x="6214872" y="35295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Homeaglow Gift Card</a:t>
            </a:r>
            <a:endParaRPr lang="en-US" sz="1200" dirty="0"/>
          </a:p>
        </p:txBody>
      </p:sp>
      <p:sp>
        <p:nvSpPr>
          <p:cNvPr id="34" name="Text 25"/>
          <p:cNvSpPr txBox="1"/>
          <p:nvPr/>
        </p:nvSpPr>
        <p:spPr>
          <a:xfrm>
            <a:off x="6214872" y="382219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Does not trigger FC. Valid for 2 years.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customer wants a refund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find and fix the reason first.</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1920240"/>
                <a:gridCol w="3291840"/>
                <a:gridCol w="3108960"/>
              </a:tblGrid>
              <a:tr h="566928">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Voucher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First response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If they ask again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Groupon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send self-refund steps (comms kit macro)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Invalidate the voucher so Groupon can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Second brand voucher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encourage them to keep it, send the self-refund link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C CRM › Do › Voucher › Refund › 2nd Voucher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Homeaglow Gift Card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Valid for 2 years, code is in the confirmation email</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Escalate to your CSQ sheet for a Stripe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04488"/>
            <a:ext cx="164592" cy="164592"/>
          </a:xfrm>
          <a:prstGeom prst="rect">
            <a:avLst/>
          </a:prstGeom>
        </p:spPr>
      </p:pic>
      <p:sp>
        <p:nvSpPr>
          <p:cNvPr id="9" name="Text 4"/>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Groupon:  </a:t>
            </a:r>
            <a:pPr indent="0" marL="0">
              <a:buNone/>
            </a:pPr>
            <a:r>
              <a:rPr lang="en-US" sz="1000" dirty="0">
                <a:solidFill>
                  <a:srgbClr val="1D1D1F"/>
                </a:solidFill>
                <a:latin typeface="SF Pro Text" pitchFamily="34" charset="0"/>
                <a:ea typeface="SF Pro Text" pitchFamily="34" charset="-122"/>
                <a:cs typeface="SF Pro Text" pitchFamily="34" charset="-120"/>
              </a:rPr>
              <a:t>invalidate the voucher, or Groupon may not be able to refund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system handles combos</a:t>
            </a:r>
            <a:endParaRPr lang="en-US" sz="2400" dirty="0"/>
          </a:p>
        </p:txBody>
      </p:sp>
      <p:sp>
        <p:nvSpPr>
          <p:cNvPr id="5" name="Shape 2"/>
          <p:cNvSpPr/>
          <p:nvPr/>
        </p:nvSpPr>
        <p:spPr>
          <a:xfrm>
            <a:off x="411480" y="1143000"/>
            <a:ext cx="4091940" cy="960120"/>
          </a:xfrm>
          <a:prstGeom prst="roundRect">
            <a:avLst>
              <a:gd name="adj" fmla="val 7619"/>
            </a:avLst>
          </a:prstGeom>
          <a:solidFill>
            <a:srgbClr val="FFFFFF"/>
          </a:solidFill>
          <a:ln w="9525">
            <a:solidFill>
              <a:srgbClr val="DCE1E7"/>
            </a:solidFill>
            <a:prstDash val="solid"/>
          </a:ln>
        </p:spPr>
      </p:sp>
      <p:sp>
        <p:nvSpPr>
          <p:cNvPr id="6" name="Shape 3"/>
          <p:cNvSpPr/>
          <p:nvPr/>
        </p:nvSpPr>
        <p:spPr>
          <a:xfrm>
            <a:off x="576072" y="141732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8244" y="1509492"/>
            <a:ext cx="199705" cy="199705"/>
          </a:xfrm>
          <a:prstGeom prst="rect">
            <a:avLst/>
          </a:prstGeom>
        </p:spPr>
      </p:pic>
      <p:sp>
        <p:nvSpPr>
          <p:cNvPr id="8" name="Text 4"/>
          <p:cNvSpPr txBox="1"/>
          <p:nvPr/>
        </p:nvSpPr>
        <p:spPr>
          <a:xfrm>
            <a:off x="1124712" y="123444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Groupons</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The second one converts to credits.</a:t>
            </a:r>
            <a:endParaRPr lang="en-US" sz="1200" dirty="0"/>
          </a:p>
        </p:txBody>
      </p:sp>
      <p:sp>
        <p:nvSpPr>
          <p:cNvPr id="9" name="Shape 5"/>
          <p:cNvSpPr/>
          <p:nvPr/>
        </p:nvSpPr>
        <p:spPr>
          <a:xfrm>
            <a:off x="4640580" y="1143000"/>
            <a:ext cx="4091940" cy="960120"/>
          </a:xfrm>
          <a:prstGeom prst="roundRect">
            <a:avLst>
              <a:gd name="adj" fmla="val 7619"/>
            </a:avLst>
          </a:prstGeom>
          <a:solidFill>
            <a:srgbClr val="FFFFFF"/>
          </a:solidFill>
          <a:ln w="9525">
            <a:solidFill>
              <a:srgbClr val="DCE1E7"/>
            </a:solidFill>
            <a:prstDash val="solid"/>
          </a:ln>
        </p:spPr>
      </p:sp>
      <p:sp>
        <p:nvSpPr>
          <p:cNvPr id="10" name="Shape 6"/>
          <p:cNvSpPr/>
          <p:nvPr/>
        </p:nvSpPr>
        <p:spPr>
          <a:xfrm>
            <a:off x="4805172" y="141732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4897344" y="1509492"/>
            <a:ext cx="199705" cy="199705"/>
          </a:xfrm>
          <a:prstGeom prst="rect">
            <a:avLst/>
          </a:prstGeom>
        </p:spPr>
      </p:pic>
      <p:sp>
        <p:nvSpPr>
          <p:cNvPr id="12" name="Text 7"/>
          <p:cNvSpPr txBox="1"/>
          <p:nvPr/>
        </p:nvSpPr>
        <p:spPr>
          <a:xfrm>
            <a:off x="5353812" y="123444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Short job on a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No courtesy voucher for the unused hours.</a:t>
            </a:r>
            <a:endParaRPr lang="en-US" sz="1200" dirty="0"/>
          </a:p>
        </p:txBody>
      </p:sp>
      <p:sp>
        <p:nvSpPr>
          <p:cNvPr id="13" name="Shape 8"/>
          <p:cNvSpPr/>
          <p:nvPr/>
        </p:nvSpPr>
        <p:spPr>
          <a:xfrm>
            <a:off x="411480" y="2240280"/>
            <a:ext cx="4091940" cy="960120"/>
          </a:xfrm>
          <a:prstGeom prst="roundRect">
            <a:avLst>
              <a:gd name="adj" fmla="val 7619"/>
            </a:avLst>
          </a:prstGeom>
          <a:solidFill>
            <a:srgbClr val="FFFFFF"/>
          </a:solidFill>
          <a:ln w="9525">
            <a:solidFill>
              <a:srgbClr val="DCE1E7"/>
            </a:solidFill>
            <a:prstDash val="solid"/>
          </a:ln>
        </p:spPr>
      </p:sp>
      <p:sp>
        <p:nvSpPr>
          <p:cNvPr id="14" name="Shape 9"/>
          <p:cNvSpPr/>
          <p:nvPr/>
        </p:nvSpPr>
        <p:spPr>
          <a:xfrm>
            <a:off x="576072" y="2514600"/>
            <a:ext cx="384048" cy="384048"/>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668244" y="2606772"/>
            <a:ext cx="199705" cy="199705"/>
          </a:xfrm>
          <a:prstGeom prst="rect">
            <a:avLst/>
          </a:prstGeom>
        </p:spPr>
      </p:pic>
      <p:sp>
        <p:nvSpPr>
          <p:cNvPr id="16" name="Text 10"/>
          <p:cNvSpPr txBox="1"/>
          <p:nvPr/>
        </p:nvSpPr>
        <p:spPr>
          <a:xfrm>
            <a:off x="1124712" y="233172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DHJ or FC, then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The Groupon converts to credits.</a:t>
            </a:r>
            <a:endParaRPr lang="en-US" sz="1200" dirty="0"/>
          </a:p>
        </p:txBody>
      </p:sp>
      <p:sp>
        <p:nvSpPr>
          <p:cNvPr id="17" name="Shape 11"/>
          <p:cNvSpPr/>
          <p:nvPr/>
        </p:nvSpPr>
        <p:spPr>
          <a:xfrm>
            <a:off x="4640580" y="2240280"/>
            <a:ext cx="4091940" cy="960120"/>
          </a:xfrm>
          <a:prstGeom prst="roundRect">
            <a:avLst>
              <a:gd name="adj" fmla="val 7619"/>
            </a:avLst>
          </a:prstGeom>
          <a:solidFill>
            <a:srgbClr val="FFFFFF"/>
          </a:solidFill>
          <a:ln w="9525">
            <a:solidFill>
              <a:srgbClr val="DCE1E7"/>
            </a:solidFill>
            <a:prstDash val="solid"/>
          </a:ln>
        </p:spPr>
      </p:sp>
      <p:sp>
        <p:nvSpPr>
          <p:cNvPr id="18" name="Shape 12"/>
          <p:cNvSpPr/>
          <p:nvPr/>
        </p:nvSpPr>
        <p:spPr>
          <a:xfrm>
            <a:off x="4805172" y="2514600"/>
            <a:ext cx="384048" cy="384048"/>
          </a:xfrm>
          <a:prstGeom prst="ellipse">
            <a:avLst/>
          </a:prstGeom>
          <a:solidFill>
            <a:srgbClr val="E3F4F1"/>
          </a:solidFill>
          <a:ln w="12700">
            <a:solidFill>
              <a:srgbClr val="E3F4F1"/>
            </a:solidFill>
            <a:prstDash val="solid"/>
          </a:ln>
        </p:spPr>
      </p:sp>
      <p:pic>
        <p:nvPicPr>
          <p:cNvPr id="19" name="Image 3" descr="preencoded.png">    </p:cNvPr>
          <p:cNvPicPr>
            <a:picLocks noChangeAspect="1"/>
          </p:cNvPicPr>
          <p:nvPr/>
        </p:nvPicPr>
        <p:blipFill>
          <a:blip r:embed="rId4"/>
          <a:stretch>
            <a:fillRect/>
          </a:stretch>
        </p:blipFill>
        <p:spPr>
          <a:xfrm>
            <a:off x="4897344" y="2606772"/>
            <a:ext cx="199705" cy="199705"/>
          </a:xfrm>
          <a:prstGeom prst="rect">
            <a:avLst/>
          </a:prstGeom>
        </p:spPr>
      </p:pic>
      <p:sp>
        <p:nvSpPr>
          <p:cNvPr id="20" name="Text 13"/>
          <p:cNvSpPr txBox="1"/>
          <p:nvPr/>
        </p:nvSpPr>
        <p:spPr>
          <a:xfrm>
            <a:off x="5353812" y="233172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Past job, then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Converts to credits. New customers only.</a:t>
            </a:r>
            <a:endParaRPr lang="en-US" sz="1200" dirty="0"/>
          </a:p>
        </p:txBody>
      </p:sp>
      <p:sp>
        <p:nvSpPr>
          <p:cNvPr id="21" name="Shape 14"/>
          <p:cNvSpPr/>
          <p:nvPr/>
        </p:nvSpPr>
        <p:spPr>
          <a:xfrm>
            <a:off x="411480" y="3337560"/>
            <a:ext cx="4091940" cy="960120"/>
          </a:xfrm>
          <a:prstGeom prst="roundRect">
            <a:avLst>
              <a:gd name="adj" fmla="val 7619"/>
            </a:avLst>
          </a:prstGeom>
          <a:solidFill>
            <a:srgbClr val="FFFFFF"/>
          </a:solidFill>
          <a:ln w="9525">
            <a:solidFill>
              <a:srgbClr val="DCE1E7"/>
            </a:solidFill>
            <a:prstDash val="solid"/>
          </a:ln>
        </p:spPr>
      </p:sp>
      <p:sp>
        <p:nvSpPr>
          <p:cNvPr id="22" name="Shape 15"/>
          <p:cNvSpPr/>
          <p:nvPr/>
        </p:nvSpPr>
        <p:spPr>
          <a:xfrm>
            <a:off x="576072" y="3611880"/>
            <a:ext cx="384048" cy="384048"/>
          </a:xfrm>
          <a:prstGeom prst="ellipse">
            <a:avLst/>
          </a:prstGeom>
          <a:solidFill>
            <a:srgbClr val="E3F4F1"/>
          </a:solidFill>
          <a:ln w="12700">
            <a:solidFill>
              <a:srgbClr val="E3F4F1"/>
            </a:solidFill>
            <a:prstDash val="solid"/>
          </a:ln>
        </p:spPr>
      </p:sp>
      <p:pic>
        <p:nvPicPr>
          <p:cNvPr id="23" name="Image 4" descr="preencoded.png">    </p:cNvPr>
          <p:cNvPicPr>
            <a:picLocks noChangeAspect="1"/>
          </p:cNvPicPr>
          <p:nvPr/>
        </p:nvPicPr>
        <p:blipFill>
          <a:blip r:embed="rId5"/>
          <a:stretch>
            <a:fillRect/>
          </a:stretch>
        </p:blipFill>
        <p:spPr>
          <a:xfrm>
            <a:off x="668244" y="3704052"/>
            <a:ext cx="199705" cy="199705"/>
          </a:xfrm>
          <a:prstGeom prst="rect">
            <a:avLst/>
          </a:prstGeom>
        </p:spPr>
      </p:pic>
      <p:sp>
        <p:nvSpPr>
          <p:cNvPr id="24" name="Text 16"/>
          <p:cNvSpPr txBox="1"/>
          <p:nvPr/>
        </p:nvSpPr>
        <p:spPr>
          <a:xfrm>
            <a:off x="1124712" y="342900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Groupon, then DHJ</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Allowed. DHJ is applied first.</a:t>
            </a:r>
            <a:endParaRPr lang="en-US" sz="1200" dirty="0"/>
          </a:p>
        </p:txBody>
      </p:sp>
      <p:sp>
        <p:nvSpPr>
          <p:cNvPr id="25" name="Shape 17"/>
          <p:cNvSpPr/>
          <p:nvPr/>
        </p:nvSpPr>
        <p:spPr>
          <a:xfrm>
            <a:off x="4640580" y="3337560"/>
            <a:ext cx="4091940" cy="960120"/>
          </a:xfrm>
          <a:prstGeom prst="roundRect">
            <a:avLst>
              <a:gd name="adj" fmla="val 7619"/>
            </a:avLst>
          </a:prstGeom>
          <a:solidFill>
            <a:srgbClr val="FFFFFF"/>
          </a:solidFill>
          <a:ln w="9525">
            <a:solidFill>
              <a:srgbClr val="DCE1E7"/>
            </a:solidFill>
            <a:prstDash val="solid"/>
          </a:ln>
        </p:spPr>
      </p:sp>
      <p:sp>
        <p:nvSpPr>
          <p:cNvPr id="26" name="Shape 18"/>
          <p:cNvSpPr/>
          <p:nvPr/>
        </p:nvSpPr>
        <p:spPr>
          <a:xfrm>
            <a:off x="4805172" y="3611880"/>
            <a:ext cx="384048" cy="384048"/>
          </a:xfrm>
          <a:prstGeom prst="ellipse">
            <a:avLst/>
          </a:prstGeom>
          <a:solidFill>
            <a:srgbClr val="E3F4F1"/>
          </a:solidFill>
          <a:ln w="12700">
            <a:solidFill>
              <a:srgbClr val="E3F4F1"/>
            </a:solidFill>
            <a:prstDash val="solid"/>
          </a:ln>
        </p:spPr>
      </p:sp>
      <p:pic>
        <p:nvPicPr>
          <p:cNvPr id="27" name="Image 5" descr="preencoded.png">    </p:cNvPr>
          <p:cNvPicPr>
            <a:picLocks noChangeAspect="1"/>
          </p:cNvPicPr>
          <p:nvPr/>
        </p:nvPicPr>
        <p:blipFill>
          <a:blip r:embed="rId6"/>
          <a:stretch>
            <a:fillRect/>
          </a:stretch>
        </p:blipFill>
        <p:spPr>
          <a:xfrm>
            <a:off x="4897344" y="3704052"/>
            <a:ext cx="199705" cy="199705"/>
          </a:xfrm>
          <a:prstGeom prst="rect">
            <a:avLst/>
          </a:prstGeom>
        </p:spPr>
      </p:pic>
      <p:sp>
        <p:nvSpPr>
          <p:cNvPr id="28" name="Text 19"/>
          <p:cNvSpPr txBox="1"/>
          <p:nvPr/>
        </p:nvSpPr>
        <p:spPr>
          <a:xfrm>
            <a:off x="5353812" y="342900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DHJ</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Possible for some active or deactivated FC customers.</a:t>
            </a:r>
            <a:endParaRPr lang="en-US" sz="1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Non-Logged-In Visitor Tickets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Someone used an existing customer's email, but wasn't logged in.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ticket looks like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it's a security checkpoint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respond</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3/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new CRM flags these tickets for you.</a:t>
            </a:r>
            <a:endParaRPr lang="en-US" sz="1200" dirty="0"/>
          </a:p>
        </p:txBody>
      </p:sp>
      <p:sp>
        <p:nvSpPr>
          <p:cNvPr id="6" name="Shape 3"/>
          <p:cNvSpPr/>
          <p:nvPr/>
        </p:nvSpPr>
        <p:spPr>
          <a:xfrm>
            <a:off x="411480" y="1325880"/>
            <a:ext cx="8321040" cy="1508760"/>
          </a:xfrm>
          <a:prstGeom prst="roundRect">
            <a:avLst>
              <a:gd name="adj" fmla="val 4848"/>
            </a:avLst>
          </a:prstGeom>
          <a:solidFill>
            <a:srgbClr val="FFFFFF"/>
          </a:solidFill>
          <a:ln w="9525">
            <a:solidFill>
              <a:srgbClr val="DCE1E7"/>
            </a:solidFill>
            <a:prstDash val="solid"/>
          </a:ln>
        </p:spPr>
      </p:sp>
      <p:pic>
        <p:nvPicPr>
          <p:cNvPr id="7" name="Image 0" descr="/tmp/claude-0/-workspace-training/3ce5cff6-cccf-5f33-b0ee-0b147a55120e/scratchpad/img3/ticket_nonlogged.png">    </p:cNvPr>
          <p:cNvPicPr>
            <a:picLocks noChangeAspect="1"/>
          </p:cNvPicPr>
          <p:nvPr/>
        </p:nvPicPr>
        <p:blipFill>
          <a:blip r:embed="rId1"/>
          <a:stretch>
            <a:fillRect/>
          </a:stretch>
        </p:blipFill>
        <p:spPr>
          <a:xfrm>
            <a:off x="484632" y="1437303"/>
            <a:ext cx="8174736" cy="1285914"/>
          </a:xfrm>
          <a:prstGeom prst="rect">
            <a:avLst/>
          </a:prstGeom>
        </p:spPr>
      </p:pic>
      <p:sp>
        <p:nvSpPr>
          <p:cNvPr id="8" name="Shape 4"/>
          <p:cNvSpPr/>
          <p:nvPr/>
        </p:nvSpPr>
        <p:spPr>
          <a:xfrm>
            <a:off x="2792388" y="1483229"/>
            <a:ext cx="2204423" cy="298516"/>
          </a:xfrm>
          <a:prstGeom prst="roundRect">
            <a:avLst>
              <a:gd name="adj" fmla="val 9189"/>
            </a:avLst>
          </a:prstGeom>
          <a:ln w="25400">
            <a:solidFill>
              <a:srgbClr val="0B7A6F"/>
            </a:solidFill>
            <a:prstDash val="solid"/>
          </a:ln>
        </p:spPr>
      </p:sp>
      <p:sp>
        <p:nvSpPr>
          <p:cNvPr id="9" name="Shape 5"/>
          <p:cNvSpPr/>
          <p:nvPr/>
        </p:nvSpPr>
        <p:spPr>
          <a:xfrm>
            <a:off x="2691804" y="13826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2691804" y="13826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10927" y="1839151"/>
            <a:ext cx="7910664" cy="332960"/>
          </a:xfrm>
          <a:prstGeom prst="roundRect">
            <a:avLst>
              <a:gd name="adj" fmla="val 8239"/>
            </a:avLst>
          </a:prstGeom>
          <a:ln w="25400">
            <a:solidFill>
              <a:srgbClr val="0B7A6F"/>
            </a:solidFill>
            <a:prstDash val="solid"/>
          </a:ln>
        </p:spPr>
      </p:sp>
      <p:sp>
        <p:nvSpPr>
          <p:cNvPr id="12" name="Shape 8"/>
          <p:cNvSpPr/>
          <p:nvPr/>
        </p:nvSpPr>
        <p:spPr>
          <a:xfrm>
            <a:off x="510343" y="1738567"/>
            <a:ext cx="201168" cy="201168"/>
          </a:xfrm>
          <a:prstGeom prst="ellipse">
            <a:avLst/>
          </a:prstGeom>
          <a:solidFill>
            <a:srgbClr val="0B7A6F"/>
          </a:solidFill>
          <a:ln w="12700">
            <a:solidFill>
              <a:srgbClr val="FFFFFF"/>
            </a:solidFill>
            <a:prstDash val="solid"/>
          </a:ln>
        </p:spPr>
      </p:sp>
      <p:sp>
        <p:nvSpPr>
          <p:cNvPr id="13" name="Text 9"/>
          <p:cNvSpPr txBox="1"/>
          <p:nvPr/>
        </p:nvSpPr>
        <p:spPr>
          <a:xfrm>
            <a:off x="510343" y="173856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610927" y="2252481"/>
            <a:ext cx="3605150" cy="218146"/>
          </a:xfrm>
          <a:prstGeom prst="roundRect">
            <a:avLst>
              <a:gd name="adj" fmla="val 12575"/>
            </a:avLst>
          </a:prstGeom>
          <a:ln w="25400">
            <a:solidFill>
              <a:srgbClr val="0B7A6F"/>
            </a:solidFill>
            <a:prstDash val="solid"/>
          </a:ln>
        </p:spPr>
      </p:sp>
      <p:sp>
        <p:nvSpPr>
          <p:cNvPr id="15" name="Shape 11"/>
          <p:cNvSpPr/>
          <p:nvPr/>
        </p:nvSpPr>
        <p:spPr>
          <a:xfrm>
            <a:off x="510343" y="2151897"/>
            <a:ext cx="201168" cy="201168"/>
          </a:xfrm>
          <a:prstGeom prst="ellipse">
            <a:avLst/>
          </a:prstGeom>
          <a:solidFill>
            <a:srgbClr val="0B7A6F"/>
          </a:solidFill>
          <a:ln w="12700">
            <a:solidFill>
              <a:srgbClr val="FFFFFF"/>
            </a:solidFill>
            <a:prstDash val="solid"/>
          </a:ln>
        </p:spPr>
      </p:sp>
      <p:sp>
        <p:nvSpPr>
          <p:cNvPr id="16" name="Text 12"/>
          <p:cNvSpPr txBox="1"/>
          <p:nvPr/>
        </p:nvSpPr>
        <p:spPr>
          <a:xfrm>
            <a:off x="510343" y="215189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411480" y="3017520"/>
            <a:ext cx="2697480" cy="566928"/>
          </a:xfrm>
          <a:prstGeom prst="roundRect">
            <a:avLst>
              <a:gd name="adj" fmla="val 12903"/>
            </a:avLst>
          </a:prstGeom>
          <a:solidFill>
            <a:srgbClr val="FFFFFF"/>
          </a:solidFill>
          <a:ln w="9525">
            <a:solidFill>
              <a:srgbClr val="DCE1E7"/>
            </a:solidFill>
            <a:prstDash val="solid"/>
          </a:ln>
        </p:spPr>
      </p:sp>
      <p:sp>
        <p:nvSpPr>
          <p:cNvPr id="18" name="Shape 14"/>
          <p:cNvSpPr/>
          <p:nvPr/>
        </p:nvSpPr>
        <p:spPr>
          <a:xfrm>
            <a:off x="539496" y="3172968"/>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39496"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914400"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Triggered ticket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Came in from the Help Center</a:t>
            </a:r>
            <a:endParaRPr lang="en-US" sz="1050" dirty="0"/>
          </a:p>
        </p:txBody>
      </p:sp>
      <p:sp>
        <p:nvSpPr>
          <p:cNvPr id="21" name="Shape 17"/>
          <p:cNvSpPr/>
          <p:nvPr/>
        </p:nvSpPr>
        <p:spPr>
          <a:xfrm>
            <a:off x="3227832" y="3017520"/>
            <a:ext cx="2697480" cy="566928"/>
          </a:xfrm>
          <a:prstGeom prst="roundRect">
            <a:avLst>
              <a:gd name="adj" fmla="val 12903"/>
            </a:avLst>
          </a:prstGeom>
          <a:solidFill>
            <a:srgbClr val="FFFFFF"/>
          </a:solidFill>
          <a:ln w="9525">
            <a:solidFill>
              <a:srgbClr val="DCE1E7"/>
            </a:solidFill>
            <a:prstDash val="solid"/>
          </a:ln>
        </p:spPr>
      </p:sp>
      <p:sp>
        <p:nvSpPr>
          <p:cNvPr id="22" name="Shape 18"/>
          <p:cNvSpPr/>
          <p:nvPr/>
        </p:nvSpPr>
        <p:spPr>
          <a:xfrm>
            <a:off x="3355848" y="3172968"/>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355848"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730752"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System note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Sender wasn't logged in</a:t>
            </a:r>
            <a:endParaRPr lang="en-US" sz="1050" dirty="0"/>
          </a:p>
        </p:txBody>
      </p:sp>
      <p:sp>
        <p:nvSpPr>
          <p:cNvPr id="25" name="Shape 21"/>
          <p:cNvSpPr/>
          <p:nvPr/>
        </p:nvSpPr>
        <p:spPr>
          <a:xfrm>
            <a:off x="6035040" y="3017520"/>
            <a:ext cx="2697480" cy="566928"/>
          </a:xfrm>
          <a:prstGeom prst="roundRect">
            <a:avLst>
              <a:gd name="adj" fmla="val 12903"/>
            </a:avLst>
          </a:prstGeom>
          <a:solidFill>
            <a:srgbClr val="FFFFFF"/>
          </a:solidFill>
          <a:ln w="9525">
            <a:solidFill>
              <a:srgbClr val="DCE1E7"/>
            </a:solidFill>
            <a:prstDash val="solid"/>
          </a:ln>
        </p:spPr>
      </p:sp>
      <p:sp>
        <p:nvSpPr>
          <p:cNvPr id="26" name="Shape 22"/>
          <p:cNvSpPr/>
          <p:nvPr/>
        </p:nvSpPr>
        <p:spPr>
          <a:xfrm>
            <a:off x="6163056" y="3172968"/>
            <a:ext cx="256032" cy="256032"/>
          </a:xfrm>
          <a:prstGeom prst="ellipse">
            <a:avLst/>
          </a:prstGeom>
          <a:solidFill>
            <a:srgbClr val="0B7A6F"/>
          </a:solidFill>
          <a:ln w="12700">
            <a:solidFill>
              <a:srgbClr val="0B7A6F"/>
            </a:solidFill>
            <a:prstDash val="solid"/>
          </a:ln>
        </p:spPr>
      </p:sp>
      <p:sp>
        <p:nvSpPr>
          <p:cNvPr id="27" name="Text 23"/>
          <p:cNvSpPr txBox="1"/>
          <p:nvPr/>
        </p:nvSpPr>
        <p:spPr>
          <a:xfrm>
            <a:off x="6163056"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537960"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Their message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What the visitor is asking</a:t>
            </a:r>
            <a:endParaRPr lang="en-US" sz="1050" dirty="0"/>
          </a:p>
        </p:txBody>
      </p:sp>
      <p:sp>
        <p:nvSpPr>
          <p:cNvPr id="29" name="Shape 25"/>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566928" y="3904488"/>
            <a:ext cx="164592" cy="164592"/>
          </a:xfrm>
          <a:prstGeom prst="rect">
            <a:avLst/>
          </a:prstGeom>
        </p:spPr>
      </p:pic>
      <p:sp>
        <p:nvSpPr>
          <p:cNvPr id="31" name="Text 26"/>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a matching email isn't proof. Anyone can type an email into a form.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it matters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is a security and privacy checkpoint, not a routine ticket.</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Anyone can type an email</a:t>
            </a:r>
            <a:endParaRPr lang="en-US" sz="1200" dirty="0"/>
          </a:p>
        </p:txBody>
      </p:sp>
      <p:sp>
        <p:nvSpPr>
          <p:cNvPr id="10" name="Text 6"/>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match doesn't mean it's the account owner.</a:t>
            </a:r>
            <a:endParaRPr lang="en-US" sz="950" dirty="0"/>
          </a:p>
        </p:txBody>
      </p:sp>
      <p:sp>
        <p:nvSpPr>
          <p:cNvPr id="11" name="Shape 7"/>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15196"/>
            <a:ext cx="171176" cy="171176"/>
          </a:xfrm>
          <a:prstGeom prst="rect">
            <a:avLst/>
          </a:prstGeom>
        </p:spPr>
      </p:pic>
      <p:sp>
        <p:nvSpPr>
          <p:cNvPr id="14" name="Text 9"/>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Wrong person, real data</a:t>
            </a:r>
            <a:endParaRPr lang="en-US" sz="1200" dirty="0"/>
          </a:p>
        </p:txBody>
      </p:sp>
      <p:sp>
        <p:nvSpPr>
          <p:cNvPr id="15" name="Text 10"/>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Replying to the wrong person exposes the account.</a:t>
            </a:r>
            <a:endParaRPr lang="en-US" sz="950" dirty="0"/>
          </a:p>
        </p:txBody>
      </p:sp>
      <p:sp>
        <p:nvSpPr>
          <p:cNvPr id="16" name="Shape 11"/>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3619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15196"/>
            <a:ext cx="171176" cy="171176"/>
          </a:xfrm>
          <a:prstGeom prst="rect">
            <a:avLst/>
          </a:prstGeom>
        </p:spPr>
      </p:pic>
      <p:sp>
        <p:nvSpPr>
          <p:cNvPr id="19" name="Text 13"/>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Verify first</a:t>
            </a:r>
            <a:endParaRPr lang="en-US" sz="1200" dirty="0"/>
          </a:p>
        </p:txBody>
      </p:sp>
      <p:sp>
        <p:nvSpPr>
          <p:cNvPr id="20" name="Text 14"/>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Confirm who you're talking to before you share anything.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respond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account first. What you find decides your reply.</a:t>
            </a:r>
            <a:endParaRPr lang="en-US" sz="1200" dirty="0"/>
          </a:p>
        </p:txBody>
      </p:sp>
      <p:sp>
        <p:nvSpPr>
          <p:cNvPr id="6" name="Shape 3"/>
          <p:cNvSpPr/>
          <p:nvPr/>
        </p:nvSpPr>
        <p:spPr>
          <a:xfrm>
            <a:off x="411480" y="1325880"/>
            <a:ext cx="8321040" cy="566928"/>
          </a:xfrm>
          <a:prstGeom prst="roundRect">
            <a:avLst>
              <a:gd name="adj" fmla="val 12903"/>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21792" y="1490472"/>
            <a:ext cx="237744" cy="237744"/>
          </a:xfrm>
          <a:prstGeom prst="rect">
            <a:avLst/>
          </a:prstGeom>
        </p:spPr>
      </p:pic>
      <p:sp>
        <p:nvSpPr>
          <p:cNvPr id="8" name="Text 4"/>
          <p:cNvSpPr txBox="1"/>
          <p:nvPr/>
        </p:nvSpPr>
        <p:spPr>
          <a:xfrm>
            <a:off x="987552" y="1325880"/>
            <a:ext cx="7589520"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First, check the account:  </a:t>
            </a:r>
            <a:pPr indent="0" marL="0">
              <a:buNone/>
            </a:pPr>
            <a:r>
              <a:rPr lang="en-US" sz="1150" dirty="0">
                <a:solidFill>
                  <a:srgbClr val="FFFFFF"/>
                </a:solidFill>
                <a:latin typeface="SF Pro Text" pitchFamily="34" charset="0"/>
                <a:ea typeface="SF Pro Text" pitchFamily="34" charset="-122"/>
                <a:cs typeface="SF Pro Text" pitchFamily="34" charset="-120"/>
              </a:rPr>
              <a:t>recent jobs, address, and whether their issue matches what's on file.</a:t>
            </a:r>
            <a:endParaRPr lang="en-US" sz="1150" dirty="0"/>
          </a:p>
        </p:txBody>
      </p:sp>
      <p:sp>
        <p:nvSpPr>
          <p:cNvPr id="9" name="Shape 5"/>
          <p:cNvSpPr/>
          <p:nvPr/>
        </p:nvSpPr>
        <p:spPr>
          <a:xfrm>
            <a:off x="411480" y="2057400"/>
            <a:ext cx="2682240" cy="1828800"/>
          </a:xfrm>
          <a:prstGeom prst="roundRect">
            <a:avLst>
              <a:gd name="adj" fmla="val 4000"/>
            </a:avLst>
          </a:prstGeom>
          <a:solidFill>
            <a:srgbClr val="FFFFFF"/>
          </a:solidFill>
          <a:ln w="9525">
            <a:solidFill>
              <a:srgbClr val="DCE1E7"/>
            </a:solidFill>
            <a:prstDash val="solid"/>
          </a:ln>
        </p:spPr>
      </p:sp>
      <p:sp>
        <p:nvSpPr>
          <p:cNvPr id="10" name="Shape 6"/>
          <p:cNvSpPr/>
          <p:nvPr/>
        </p:nvSpPr>
        <p:spPr>
          <a:xfrm>
            <a:off x="576072" y="2221992"/>
            <a:ext cx="329184" cy="329184"/>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55076" y="2300996"/>
            <a:ext cx="171176" cy="171176"/>
          </a:xfrm>
          <a:prstGeom prst="rect">
            <a:avLst/>
          </a:prstGeom>
        </p:spPr>
      </p:pic>
      <p:sp>
        <p:nvSpPr>
          <p:cNvPr id="12" name="Text 7"/>
          <p:cNvSpPr txBox="1"/>
          <p:nvPr/>
        </p:nvSpPr>
        <p:spPr>
          <a:xfrm>
            <a:off x="5760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Details match</a:t>
            </a:r>
            <a:endParaRPr lang="en-US" sz="1200" dirty="0"/>
          </a:p>
        </p:txBody>
      </p:sp>
      <p:sp>
        <p:nvSpPr>
          <p:cNvPr id="13" name="Text 8"/>
          <p:cNvSpPr txBox="1"/>
          <p:nvPr/>
        </p:nvSpPr>
        <p:spPr>
          <a:xfrm>
            <a:off x="5760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Proceed as normal. No extra hoops for a verified customer.</a:t>
            </a:r>
            <a:endParaRPr lang="en-US" sz="950" dirty="0"/>
          </a:p>
        </p:txBody>
      </p:sp>
      <p:sp>
        <p:nvSpPr>
          <p:cNvPr id="14" name="Shape 9"/>
          <p:cNvSpPr/>
          <p:nvPr/>
        </p:nvSpPr>
        <p:spPr>
          <a:xfrm>
            <a:off x="3230880" y="2057400"/>
            <a:ext cx="2682240" cy="1828800"/>
          </a:xfrm>
          <a:prstGeom prst="roundRect">
            <a:avLst>
              <a:gd name="adj" fmla="val 4000"/>
            </a:avLst>
          </a:prstGeom>
          <a:solidFill>
            <a:srgbClr val="FFFFFF"/>
          </a:solidFill>
          <a:ln w="9525">
            <a:solidFill>
              <a:srgbClr val="DCE1E7"/>
            </a:solidFill>
            <a:prstDash val="solid"/>
          </a:ln>
        </p:spPr>
      </p:sp>
      <p:sp>
        <p:nvSpPr>
          <p:cNvPr id="15" name="Shape 10"/>
          <p:cNvSpPr/>
          <p:nvPr/>
        </p:nvSpPr>
        <p:spPr>
          <a:xfrm>
            <a:off x="3395472" y="2221992"/>
            <a:ext cx="329184" cy="329184"/>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3474476" y="2300996"/>
            <a:ext cx="171176" cy="171176"/>
          </a:xfrm>
          <a:prstGeom prst="rect">
            <a:avLst/>
          </a:prstGeom>
        </p:spPr>
      </p:pic>
      <p:sp>
        <p:nvSpPr>
          <p:cNvPr id="17" name="Text 11"/>
          <p:cNvSpPr txBox="1"/>
          <p:nvPr/>
        </p:nvSpPr>
        <p:spPr>
          <a:xfrm>
            <a:off x="33954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Can't tell</a:t>
            </a:r>
            <a:endParaRPr lang="en-US" sz="1200" dirty="0"/>
          </a:p>
        </p:txBody>
      </p:sp>
      <p:sp>
        <p:nvSpPr>
          <p:cNvPr id="18" name="Text 12"/>
          <p:cNvSpPr txBox="1"/>
          <p:nvPr/>
        </p:nvSpPr>
        <p:spPr>
          <a:xfrm>
            <a:off x="33954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Reply generically. Ask them to log in, or share a couple of identifying details.</a:t>
            </a:r>
            <a:endParaRPr lang="en-US" sz="950" dirty="0"/>
          </a:p>
        </p:txBody>
      </p:sp>
      <p:sp>
        <p:nvSpPr>
          <p:cNvPr id="19" name="Shape 13"/>
          <p:cNvSpPr/>
          <p:nvPr/>
        </p:nvSpPr>
        <p:spPr>
          <a:xfrm>
            <a:off x="6050280" y="2057400"/>
            <a:ext cx="2682240" cy="1828800"/>
          </a:xfrm>
          <a:prstGeom prst="roundRect">
            <a:avLst>
              <a:gd name="adj" fmla="val 4000"/>
            </a:avLst>
          </a:prstGeom>
          <a:solidFill>
            <a:srgbClr val="FFFFFF"/>
          </a:solidFill>
          <a:ln w="9525">
            <a:solidFill>
              <a:srgbClr val="DCE1E7"/>
            </a:solidFill>
            <a:prstDash val="solid"/>
          </a:ln>
        </p:spPr>
      </p:sp>
      <p:sp>
        <p:nvSpPr>
          <p:cNvPr id="20" name="Shape 14"/>
          <p:cNvSpPr/>
          <p:nvPr/>
        </p:nvSpPr>
        <p:spPr>
          <a:xfrm>
            <a:off x="6214872" y="2221992"/>
            <a:ext cx="329184" cy="329184"/>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6293876" y="2300996"/>
            <a:ext cx="171176" cy="171176"/>
          </a:xfrm>
          <a:prstGeom prst="rect">
            <a:avLst/>
          </a:prstGeom>
        </p:spPr>
      </p:pic>
      <p:sp>
        <p:nvSpPr>
          <p:cNvPr id="22" name="Text 15"/>
          <p:cNvSpPr txBox="1"/>
          <p:nvPr/>
        </p:nvSpPr>
        <p:spPr>
          <a:xfrm>
            <a:off x="62148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Clearly not them</a:t>
            </a:r>
            <a:endParaRPr lang="en-US" sz="1200" dirty="0"/>
          </a:p>
        </p:txBody>
      </p:sp>
      <p:sp>
        <p:nvSpPr>
          <p:cNvPr id="23" name="Text 16"/>
          <p:cNvSpPr txBox="1"/>
          <p:nvPr/>
        </p:nvSpPr>
        <p:spPr>
          <a:xfrm>
            <a:off x="62148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Treat it as unverified. Share nothing about the account.</a:t>
            </a:r>
            <a:endParaRPr lang="en-US" sz="950" dirty="0"/>
          </a:p>
        </p:txBody>
      </p:sp>
      <p:sp>
        <p:nvSpPr>
          <p:cNvPr id="24" name="Shape 17"/>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4178808"/>
            <a:ext cx="164592" cy="164592"/>
          </a:xfrm>
          <a:prstGeom prst="rect">
            <a:avLst/>
          </a:prstGeom>
        </p:spPr>
      </p:pic>
      <p:sp>
        <p:nvSpPr>
          <p:cNvPr id="26" name="Text 18"/>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Until verified:  </a:t>
            </a:r>
            <a:pPr indent="0" marL="0">
              <a:buNone/>
            </a:pPr>
            <a:r>
              <a:rPr lang="en-US" sz="1000" dirty="0">
                <a:solidFill>
                  <a:srgbClr val="1D1D1F"/>
                </a:solidFill>
                <a:latin typeface="SF Pro Text" pitchFamily="34" charset="0"/>
                <a:ea typeface="SF Pro Text" pitchFamily="34" charset="-122"/>
                <a:cs typeface="SF Pro Text" pitchFamily="34" charset="-120"/>
              </a:rPr>
              <a:t>never confirm account details, upcoming appointments or charges.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Max CP Rate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C-facing rate cap: the highest hourly rate a cleaner can claim this customer's jobs at.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cap does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to flag before setting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cap behaves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to tell the customer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9.png">    </p:cNvPr>
          <p:cNvPicPr>
            <a:picLocks noChangeAspect="1"/>
          </p:cNvPicPr>
          <p:nvPr/>
        </p:nvPicPr>
        <p:blipFill>
          <a:blip r:embed="rId5"/>
          <a:stretch>
            <a:fillRect/>
          </a:stretch>
        </p:blipFill>
        <p:spPr>
          <a:xfrm>
            <a:off x="5541264" y="1580923"/>
            <a:ext cx="2926080" cy="1977081"/>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cap does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Set in the legacy CRM: C CRM › Do › Update Max Rate.</a:t>
            </a:r>
            <a:endParaRPr lang="en-US" sz="1200" dirty="0"/>
          </a:p>
        </p:txBody>
      </p:sp>
      <p:sp>
        <p:nvSpPr>
          <p:cNvPr id="6" name="Shape 3"/>
          <p:cNvSpPr/>
          <p:nvPr/>
        </p:nvSpPr>
        <p:spPr>
          <a:xfrm>
            <a:off x="411480" y="1371600"/>
            <a:ext cx="40919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Protects the customer's wallet</a:t>
            </a:r>
            <a:endParaRPr lang="en-US" sz="1300" dirty="0"/>
          </a:p>
        </p:txBody>
      </p:sp>
      <p:sp>
        <p:nvSpPr>
          <p:cNvPr id="10" name="Text 6"/>
          <p:cNvSpPr txBox="1"/>
          <p:nvPr/>
        </p:nvSpPr>
        <p:spPr>
          <a:xfrm>
            <a:off x="594360" y="208483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Cleaners above the cap can't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jobs price at or below the cap</a:t>
            </a:r>
            <a:endParaRPr lang="en-US" sz="1000" dirty="0"/>
          </a:p>
        </p:txBody>
      </p:sp>
      <p:sp>
        <p:nvSpPr>
          <p:cNvPr id="11" name="Shape 7"/>
          <p:cNvSpPr/>
          <p:nvPr/>
        </p:nvSpPr>
        <p:spPr>
          <a:xfrm>
            <a:off x="4640580" y="1371600"/>
            <a:ext cx="4091940" cy="2011680"/>
          </a:xfrm>
          <a:prstGeom prst="roundRect">
            <a:avLst>
              <a:gd name="adj" fmla="val 3636"/>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Shrinks the cleaner pool</a:t>
            </a:r>
            <a:endParaRPr lang="en-US" sz="1300" dirty="0"/>
          </a:p>
        </p:txBody>
      </p:sp>
      <p:sp>
        <p:nvSpPr>
          <p:cNvPr id="15" name="Text 10"/>
          <p:cNvSpPr txBox="1"/>
          <p:nvPr/>
        </p:nvSpPr>
        <p:spPr>
          <a:xfrm>
            <a:off x="4823460" y="208483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Their current cleaner may be above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Too low, and jobs can go unclaimed</a:t>
            </a:r>
            <a:endParaRPr lang="en-US" sz="1000" dirty="0"/>
          </a:p>
        </p:txBody>
      </p:sp>
      <p:sp>
        <p:nvSpPr>
          <p:cNvPr id="16" name="Shape 11"/>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675888"/>
            <a:ext cx="164592" cy="164592"/>
          </a:xfrm>
          <a:prstGeom prst="rect">
            <a:avLst/>
          </a:prstGeom>
        </p:spPr>
      </p:pic>
      <p:sp>
        <p:nvSpPr>
          <p:cNvPr id="18" name="Text 12"/>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a pure win:  </a:t>
            </a:r>
            <a:pPr indent="0" marL="0">
              <a:buNone/>
            </a:pPr>
            <a:r>
              <a:rPr lang="en-US" sz="1000" dirty="0">
                <a:solidFill>
                  <a:srgbClr val="1D1D1F"/>
                </a:solidFill>
                <a:latin typeface="SF Pro Text" pitchFamily="34" charset="0"/>
                <a:ea typeface="SF Pro Text" pitchFamily="34" charset="-122"/>
                <a:cs typeface="SF Pro Text" pitchFamily="34" charset="-120"/>
              </a:rPr>
              <a:t>set it carefully, or it becomes an unclaimed-job ticket a week later.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set a cap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Flag these to the customer first.</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They may lose their cleaner</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set their own rates. Theirs may be above the cap.</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Jobs may go unclaimed</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Especially where few cleaners charge that little.</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area first</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Look at what cleaners near them charge on their dashboard.</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Typical ask:  </a:t>
            </a:r>
            <a:pPr indent="0" marL="0">
              <a:buNone/>
            </a:pPr>
            <a:r>
              <a:rPr lang="en-US" sz="1000" dirty="0">
                <a:solidFill>
                  <a:srgbClr val="1D1D1F"/>
                </a:solidFill>
                <a:latin typeface="SF Pro Text" pitchFamily="34" charset="0"/>
                <a:ea typeface="SF Pro Text" pitchFamily="34" charset="-122"/>
                <a:cs typeface="SF Pro Text" pitchFamily="34" charset="-120"/>
              </a:rPr>
              <a:t>most customers ask for $19–23/hr. Don't set a number blind.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cap behaves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Several of these aren't what you'd expect.</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1234440"/>
          <a:ext cx="8321040" cy="914400"/>
        </p:xfrm>
        <a:graphic>
          <a:graphicData uri="http://schemas.openxmlformats.org/drawingml/2006/table">
            <a:tbl>
              <a:tblPr/>
              <a:tblGrid>
                <a:gridCol w="2743200"/>
                <a:gridCol w="5577840"/>
              </a:tblGrid>
              <a:tr h="32918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Scenario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happens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Lowering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Immediately lowers the rate on booked future jobs (submitted or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Raising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 nothing to existing jobs. A cap can never raise a rate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reschedules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The job keeps its rate. The nightly recalculation can't push it above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New job booked after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Prices at or below the cap automatically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Cleaner tries to claim above 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Can't. The cap blocks the claim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taps Standard / Premium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The cap stays in effect either way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Rate set on the Django job page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Admin-locked: skips the cap and the nightly sweep entirely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9" name="Text 4"/>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Charged above the cap?  </a:t>
            </a:r>
            <a:pPr indent="0" marL="0">
              <a:buNone/>
            </a:pPr>
            <a:r>
              <a:rPr lang="en-US" sz="1000" dirty="0">
                <a:solidFill>
                  <a:srgbClr val="1D1D1F"/>
                </a:solidFill>
                <a:latin typeface="SF Pro Text" pitchFamily="34" charset="0"/>
                <a:ea typeface="SF Pro Text" pitchFamily="34" charset="-122"/>
                <a:cs typeface="SF Pro Text" pitchFamily="34" charset="-120"/>
              </a:rPr>
              <a:t>check whether that job's rate was set via Django first.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tell the customer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After the cap is set.</a:t>
            </a:r>
            <a:endParaRPr lang="en-US" sz="1200" dirty="0"/>
          </a:p>
        </p:txBody>
      </p:sp>
      <p:sp>
        <p:nvSpPr>
          <p:cNvPr id="6" name="Shape 3"/>
          <p:cNvSpPr/>
          <p:nvPr/>
        </p:nvSpPr>
        <p:spPr>
          <a:xfrm>
            <a:off x="411480" y="1280160"/>
            <a:ext cx="197739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Best match</a:t>
            </a:r>
            <a:endParaRPr lang="en-US" sz="1200" dirty="0"/>
          </a:p>
        </p:txBody>
      </p:sp>
      <p:sp>
        <p:nvSpPr>
          <p:cNvPr id="10" name="Text 6"/>
          <p:cNvSpPr txBox="1"/>
          <p:nvPr/>
        </p:nvSpPr>
        <p:spPr>
          <a:xfrm>
            <a:off x="5760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To cleaners at or below their rate. Never "only" or "guaranteed".</a:t>
            </a:r>
            <a:endParaRPr lang="en-US" sz="950" dirty="0"/>
          </a:p>
        </p:txBody>
      </p:sp>
      <p:sp>
        <p:nvSpPr>
          <p:cNvPr id="11" name="Shape 7"/>
          <p:cNvSpPr/>
          <p:nvPr/>
        </p:nvSpPr>
        <p:spPr>
          <a:xfrm>
            <a:off x="2526030" y="1280160"/>
            <a:ext cx="197739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Estimate on claim</a:t>
            </a:r>
            <a:endParaRPr lang="en-US" sz="1200" dirty="0"/>
          </a:p>
        </p:txBody>
      </p:sp>
      <p:sp>
        <p:nvSpPr>
          <p:cNvPr id="15" name="Text 10"/>
          <p:cNvSpPr txBox="1"/>
          <p:nvPr/>
        </p:nvSpPr>
        <p:spPr>
          <a:xfrm>
            <a:off x="26906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invoice estimate shows on their dashboard right away.</a:t>
            </a:r>
            <a:endParaRPr lang="en-US" sz="950" dirty="0"/>
          </a:p>
        </p:txBody>
      </p:sp>
      <p:sp>
        <p:nvSpPr>
          <p:cNvPr id="16" name="Shape 11"/>
          <p:cNvSpPr/>
          <p:nvPr/>
        </p:nvSpPr>
        <p:spPr>
          <a:xfrm>
            <a:off x="4640580" y="1280160"/>
            <a:ext cx="197739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a:t>
            </a:r>
            <a:endParaRPr lang="en-US" sz="1200" dirty="0"/>
          </a:p>
        </p:txBody>
      </p:sp>
      <p:sp>
        <p:nvSpPr>
          <p:cNvPr id="20" name="Text 14"/>
          <p:cNvSpPr txBox="1"/>
          <p:nvPr/>
        </p:nvSpPr>
        <p:spPr>
          <a:xfrm>
            <a:off x="48051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can request one up to 6 hours before the appointment.</a:t>
            </a:r>
            <a:endParaRPr lang="en-US" sz="950" dirty="0"/>
          </a:p>
        </p:txBody>
      </p:sp>
      <p:sp>
        <p:nvSpPr>
          <p:cNvPr id="21" name="Shape 15"/>
          <p:cNvSpPr/>
          <p:nvPr/>
        </p:nvSpPr>
        <p:spPr>
          <a:xfrm>
            <a:off x="6755130" y="1280160"/>
            <a:ext cx="1977390" cy="1600200"/>
          </a:xfrm>
          <a:prstGeom prst="roundRect">
            <a:avLst>
              <a:gd name="adj" fmla="val 4571"/>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Lowering it?</a:t>
            </a:r>
            <a:endParaRPr lang="en-US" sz="1200" dirty="0"/>
          </a:p>
        </p:txBody>
      </p:sp>
      <p:sp>
        <p:nvSpPr>
          <p:cNvPr id="25" name="Text 18"/>
          <p:cNvSpPr txBox="1"/>
          <p:nvPr/>
        </p:nvSpPr>
        <p:spPr>
          <a:xfrm>
            <a:off x="69197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 can change jobs they've already booked too.</a:t>
            </a:r>
            <a:endParaRPr lang="en-US" sz="950" dirty="0"/>
          </a:p>
        </p:txBody>
      </p:sp>
      <p:sp>
        <p:nvSpPr>
          <p:cNvPr id="26" name="Shape 19"/>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172968"/>
            <a:ext cx="164592" cy="164592"/>
          </a:xfrm>
          <a:prstGeom prst="rect">
            <a:avLst/>
          </a:prstGeom>
        </p:spPr>
      </p:pic>
      <p:sp>
        <p:nvSpPr>
          <p:cNvPr id="28" name="Text 20"/>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Say it plainly:  </a:t>
            </a:r>
            <a:pPr indent="0" marL="0">
              <a:buNone/>
            </a:pPr>
            <a:r>
              <a:rPr lang="en-US" sz="1000" dirty="0">
                <a:solidFill>
                  <a:srgbClr val="1D1D1F"/>
                </a:solidFill>
                <a:latin typeface="SF Pro Text" pitchFamily="34" charset="0"/>
                <a:ea typeface="SF Pro Text" pitchFamily="34" charset="-122"/>
                <a:cs typeface="SF Pro Text" pitchFamily="34" charset="-120"/>
              </a:rPr>
              <a:t>"the highest rate a cleaner can charge for your jobs", not "max CP rate".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2026-10-02T14:33:29Z</dcterms:created>
  <dcterms:modified xsi:type="dcterms:W3CDTF">2026-10-02T14:33:29Z</dcterms:modified>
</cp:coreProperties>
</file>