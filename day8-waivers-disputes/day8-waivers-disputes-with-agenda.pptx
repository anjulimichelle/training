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y="5143500" cx="9144000"/>
  <p:notesSz cx="6858000" cy="9144000"/>
  <p:embeddedFontLst>
    <p:embeddedFont>
      <p:font typeface="Play"/>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FC29E5-250B-491D-89D5-C136B52F4FEA}">
  <a:tblStyle styleId="{87FC29E5-250B-491D-89D5-C136B52F4FE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Play-bold.fntdata"/><Relationship Id="rId21" Type="http://schemas.openxmlformats.org/officeDocument/2006/relationships/slide" Target="slides/slide14.xml"/><Relationship Id="rId65" Type="http://schemas.openxmlformats.org/officeDocument/2006/relationships/font" Target="fonts/Play-regular.fntdata"/><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Day 8 covers six special-case topics: customers keeping MCT, biohazard reports, assessing dispute likelihood, HDR tickets, ETF waivers, and internal note action items. Running thread: a waiver or refund fixes something unfair or prevents a real cost. It is never a default.</a:t>
            </a:r>
            <a:endParaRPr/>
          </a:p>
        </p:txBody>
      </p:sp>
      <p:sp>
        <p:nvSpPr>
          <p:cNvPr id="22" name="Google Shape;22;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 name="Google Shape;3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Agenda. Topic 1: Customer Agreed to Keep MCT (They'll finish the term, then cancel.) Topic 2: Biohazard or Unsanitary Home (A CP reports the home as unsafe.) Topic 3: Assessing Dispute Likelihood (Will C escalate to their bank?) Topic 4: HDR Ticket Handling Process (Refund proactively, or handle normally?) Topic 5: ETF Waivers (When we waive the ETF, and how.) Topic 6: Internal Note Action Items (What each system action item means.) In slideshow mode, click any topic to jump straight to 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a customer who plans to finish MCT and then cancel to avoid the ETF. By the end, trainees can handle it without over-warning and without waiving.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What is this: a customer who intends to complete their Minimum Commitment Term and then cancel, usually explicitly stating this, sometimes just by not booking any cleanings during that period, in order to avoid paying the Early Termination Fee. Why this matters: the instinct is tricky in both directions. Trap 1: some agents over-warn the customer about the ETF when they've already made peace with paying off the term, which just sounds naggy. Trap 2: others think "they're not using the service, we've basically already been paid enough" and waive the ETF as the path of least resistance. That's the wrong call. When the customer hasn't booked any jobs on purpose, it requires real judgment, because it's easy to talk yourself into the wrong answer. Example: the customer has 1 invoiced job and 4 paid months, the ETF is $105, and they ask when they'll hit their MCT because they plan to cancel then. The reasoning trap: "the unused monthly fees basically already cover the ETF" or "we've already earned enough from them". Neither is a valid reason to waive the ETF. The customer isn't disputing anything, and nothing unfair has happened to them: they've simply accepted the financial terms and are planning around them. A waiver exists to fix something unfair or relieve a real burden. There's neither here. Don't waive the ETF. Why this matters for the business: MCT and ETF exist to keep terms fair and consistent for everyone. Waiving it here, just because a customer chose not to book and the math looks favorable, undermines the policy and sets an unrealistic precedent for every other customer who did book and is paying the ETF as agreed.</a:t>
            </a:r>
            <a:endParaRPr/>
          </a:p>
        </p:txBody>
      </p:sp>
      <p:sp>
        <p:nvSpPr>
          <p:cNvPr id="96" name="Google Shape;96;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When the customer explicitly mentions paying off the MCT. Example: "I would like to cancel my membership. The agent who signed me up said she would allow me to cancel in 4 months without penalty. I would like to cancel in the 4th month without penalty as promised." Do: 1) Don't remind or warn about the ETF: since they've already agreed to complete the term, bringing it up again can feel unnecessary or even aggravating. 2) Acknowledge and confirm their intent to fulfill the membership term. 3) Create a Timed Reminder for the day after the MF that fulfills the MCT is charged, so you're prompted to follow up. 4) Advise them plainly: "We've noted your request and will follow up once your minimum commitment term is fulfilled." 5) Still probe to understand what's driving the planned cancellation. Since the customer isn't actually cancelling yet, don't make the probe sound like a cancellation interview or an attempt to talk them out of it. Keep it conversational and caring. Sample probe: "Got it! We can definitely note that for you. Since you're still early in your membership and just planning ahead, can I ask what's making you feel you may not want to continue after the six months? And how was your cleaning with &lt;&lt;cleaner name&gt;&gt;? I just want to make sure everything went well and see if there's anything we can help with."</a:t>
            </a:r>
            <a:endParaRPr/>
          </a:p>
        </p:txBody>
      </p:sp>
      <p:sp>
        <p:nvSpPr>
          <p:cNvPr id="123" name="Google Shape;123;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Optional, if you want to try for one more retention attempt anyway. Suggested framing: "I'll make a note in the system to cancel your membership once [MCT is fulfilled]... I know I'm pushing my luck here, but I'd really love to give you a better experience. I can book you with a new cleaner and even apply a $20 credit toward that job." Alternative, if the customer is close to finishing the MCT and seems frustrated: consider offering to charge the remaining month(s) now and cancel immediately. This can de-escalate without actually waiving anything, since they're still paying what they owe, just faster. For reference, see the Notion article PG - Creating Manual Charges.</a:t>
            </a:r>
            <a:endParaRPr/>
          </a:p>
        </p:txBody>
      </p:sp>
      <p:sp>
        <p:nvSpPr>
          <p:cNvPr id="157" name="Google Shape;157;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When the Timed Reminder for MCT fulfillment triggers, check first: did the customer book again between when you set the reminder and when it triggered? If they did not book again: proactively cancel the membership and send a message confirming it's been closed. Rationale: this typically confirms the customer genuinely intended to leave once the term was up, and was just waiting it out to avoid the ETF. If they did book again: reach out to confirm whether they still want to cancel, then create another TR at least 3 days before the next MF is charged, so the customer isn't charged another MF unless they agreed to continue with the membership. Rationale: continued use during the MCT period is a real signal of retainability, so don't assume the original cancellation intent still holds without checking. Reminder: since the ETF does not apply, clearly confirm no additional MF will be charged unless they explicitly agree to continue.</a:t>
            </a:r>
            <a:endParaRPr/>
          </a:p>
        </p:txBody>
      </p:sp>
      <p:sp>
        <p:nvSpPr>
          <p:cNvPr id="175" name="Google Shape;175;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Ask each question and let trainees answer before revealing. Each click reveals the next answer.</a:t>
            </a:r>
            <a:endParaRPr/>
          </a:p>
        </p:txBody>
      </p:sp>
      <p:sp>
        <p:nvSpPr>
          <p:cNvPr id="201" name="Google Shape;201;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the customer-side steps after a CP reports a biohazardous or extremely unsanitary home. By the end, trainees can run the 1st and 2nd response and pick the right outcome by membership status.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These instructions apply only if a CP-side agent (the Bilingual team) already validated the evidence and created the action item. The customer's account is restricted, but they haven't necessarily done anything malicious, so the tone is 'let's help you fix this'. The process is shared across DHJ and FCF; refund mechanics are the only difference. Don't cancel FC and waive the ETF before giving the customer a chance to resolve 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Quick reference. Biohazard conditions: presence of human/animal waste, bodily fluids, mold infestations, hazardous materials, vermin/insect infestations. These must be excessive and pose a direct risk to the CP. Does NOT qualify: normal shower mold; bugs that don't interfere with the CP finishing the job. Hoarder conditions: excessive clutter that blocks access to critical areas (kitchen, bathroom, exits) or creates fire, structural or unsanitary hazards. Does NOT qualify: general clutter that doesn't impact the CP's ability to clean.</a:t>
            </a:r>
            <a:endParaRPr/>
          </a:p>
        </p:txBody>
      </p:sp>
      <p:sp>
        <p:nvSpPr>
          <p:cNvPr id="306" name="Google Shape;306;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CP-side context (background only; this part already happened before the ticket reaches you). A CP-side Bilingual agent has already: escalated the CP's report; requested photo/video evidence (with a 72-hour Timed Reminder if it wasn't initially provided); verified the evidence isn't fake (reverse image search); and, if valid, added a known_customer_safety_issue flag and created a Tier 3 action item. The screenshot is a sample T3 action item (cp_biohazard_report): CP ID, job ID and date/time, link to the CP's message with the evidence, and the outcome of the investigation. Everything from here on (1st Response, 2nd Response, scenario notes) is what you actually do on the customer side.</a:t>
            </a:r>
            <a:endParaRPr/>
          </a:p>
        </p:txBody>
      </p:sp>
      <p:sp>
        <p:nvSpPr>
          <p:cNvPr id="326" name="Google Shape;326;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1st response is a checklist. Cancel RC and upcoming jobs with reason code Escalated Safety Issue. Add the known_customer_fraud flag with the comment format shown. Write the biohazard_1st_response internal note. For active FC (DHJ or FCF), issue 1 free month, and set a Timed Reminder for the day before it expires, assigned to Any CS, to run the 2nd response. For an unused DHJ voucher with no FC, don't issue DHJ retention offers.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2nd Response, evaluation. Customer says the issue is resolved: invalidate known_customer_fraud (but keep known_customer_safety_issue: it stays as a historical flag). Log an internal note, then help them book a new appointment. Important: we take the customer's word for it the first time. However, if the CP of the new appointment reports another biohazard concern after the customer told us it had been taken care of, that's when we ask the customer for proof before allowing them to book again. Review whether the proof reasonably addresses what the CP actually reported. Sufficient: invalidate known_customer_fraud (keep known_customer_safety_issue), log an internal note, then help them book a new appointment. Not sufficient (e.g. the CP reported hoarding, but the photos only show one room cleaned): don't invalidate the flag. If FC has started, issue 1 more free month. Advise the customer the evidence doesn't meet safety standards yet, and ask if they need more time.</a:t>
            </a:r>
            <a:endParaRPr/>
          </a:p>
        </p:txBody>
      </p:sp>
      <p:sp>
        <p:nvSpPr>
          <p:cNvPr id="391" name="Google Shape;391;p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Customer says they cannot resolve the issue. Active FC: proactively cancel FC and waive the ETF. If they request a refund, we can refund each Monthly Fee where the customer did not receive a cleaning within that MF's paid-through coverage. If they did have a cleaning within that MF's paid-through coverage, there's no refund unless another criterion under the Transformation guidelines makes them eligible (e.g. a Material Legal Threat). Unused DHJ voucher: cancel FC if the table has already triggered; refund and invalidate the voucher via CRM. FCF, no completed job: cancel FC via CRM. The ETF does not apply, since with no completed job it was never live. Refund the $19 base MF and any add-on charge (4hr/6hr upgrade) in full: the customer received zero cleanings, so both charges are refunded regardless of fault. Non-FC member: tell them you can't assist with their request right now, and invite them back once conditions improve. Customer doesn't respond and the Timed Reminder triggers: same as "cannot resolve the issue".</a:t>
            </a:r>
            <a:endParaRPr/>
          </a:p>
        </p:txBody>
      </p:sp>
      <p:sp>
        <p:nvSpPr>
          <p:cNvPr id="421" name="Google Shape;421;p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Customer needs more time: if the customer's FC membership has already started, issue free weeks/months equivalent to what they requested. Advise them to reach out again once their home condition improves, so we can help them resume services. Customer refuses to provide evidence or won't cooperate: don't invalidate the known_customer_fraud flag. If their FC has already started, issue 1 more free month to give them more time to sort out their home conditions. Explain that we take this seriously and need proof the home meets safety standards. Create another Timed Reminder so the customer isn't charged another MF. If they come back and still refuse after that, treat it the same as "cannot resolve the issue". Customer doesn't respond and the Timed Reminder triggers: same as "cannot resolve the issue".</a:t>
            </a:r>
            <a:endParaRPr/>
          </a:p>
        </p:txBody>
      </p:sp>
      <p:sp>
        <p:nvSpPr>
          <p:cNvPr id="434" name="Google Shape;434;p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Ask each question and let trainees answer before revealing. Each click reveals the next answer.</a:t>
            </a:r>
            <a:endParaRPr/>
          </a:p>
        </p:txBody>
      </p:sp>
      <p:sp>
        <p:nvSpPr>
          <p:cNvPr id="461" name="Google Shape;461;p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how to read dispute likelihood: whether a customer will escalate to their bank if we don't resolve it their way. It is a judgment call, not a formula.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Beyond whether the ask is valid, you read how likely the customer is to dispute. Under-reading means we lose the amount plus a chargeback fee and likely the customer. Over-reading means we refund reflexively and teach the account that asking loudly works. The goal is accuracy, not caution. Only charges within 120 days of the charge date count as disputable.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steps. Investigate the account (job history, comms, notes). Weigh the signs together rather than scoring them. Pull the live threshold for the customer's card network from CRM (Agent Navigation Bar &gt; Refund if Above Dispute Threshold), and don't confuse this percentage threshold with the HDR dollar thresholds. Then judge whether your read clears it: if so, resolve proactively; if not, the standard offer is enough. Leave a note either way.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Signs that raise the risk: early in FC (1st or 2nd paid month, or ETF right after), the words cancel or refund, calling the billing number or visiting cleaningbill.com, a genuinely bad experience, a blocked card swap, saying they disputed, public or BBB threats, and an escalated tone. Two reading traps: low ratings alone aren't the signal (it's low ratings plus few jobs), and check the tense, because 'I already called my bank' is stronger than 'I'm going to'.</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3" name="Google Shape;63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Signs that lower the risk: 2+ satisfied invoiced jobs or a repeat cleaner, an upcoming job they want, wanting to keep FC, understanding the FC terms, 3+ paid FC months, asking for more from us such as credits or free months, and wanting a charge explained.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1" name="Google Shape;68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High Dispute Risk (HDR) tickets. By the end, trainees can pick the right track, apply the card thresholds and 48-hour rule, and handle each HDR ticket type.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1" name="Google Shape;71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HDR tickets are flagged because the customer is likely to dispute, escalate or challenge a charge. Since a dispute costs more than a proactive refund, the question becomes 'how likely is this customer to dispute, and does that change what we do'. Apply this process only when the customer has refund intent; cancellation intent alone follows the Transformation Guidelines. Always leave an internal note of your assessment, above or below the threshold.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7" name="Google Shape;73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Card thresholds: Amex under $50, MasterCard under $58, Visa under $70. Under the threshold, refund. Discover has no flat threshold: use the Percentage-based Assessment if you're trained, otherwise reassign to the Risk Reduction queue. The 48-hour rule: if C comes back within 48 hours of being flagged HDR and still insists, use the threshold. After 48 hours, treat it as a normal ticket.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threshold is a default, not an absolute rule. A charge above it can still be refunded under another guideline, most commonly a material legal threat or extreme financial hardship. For a partial refund request, assess against the full original Stripe amount: $105 charged and $20 asked still assesses against $105. 'Best Offer' means checking whether C would still likely dispute after our strongest offer. The note format is FC status | ETF status, Root cause, Disputable amount, Card and threshold, Assessment, Action.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5" name="Google Shape;77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Two tracks. The card-based threshold track covers most triggers: expired RefundRequest with courtesy voucher, blocked prepaid card swap, a call to the card-statement number, searching the charge on cleaningbill.com, an unrecognized billing-line caller, a job charged 15+ days ago, a HelpBot dispute-risk message, and a Stripe Early Fraud Warning. The percentage-based track covers BBB complaints and a blocked 2nd DHJ voucher redemption.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4" name="Google Shape;78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Ticket 1: first confirm what happened. False invoice and OCH go to their own processes. If the job happened, remind C of the courtesy voucher and offer a different cleaner; at the 2nd response apply the 48-hour rule and threshold. Ticket 2 follows the New HDR process. Ticket 3 (call to the card-statement number): check voicemail, investigate, and call in business hours or email outside them; with no clear concern, explain recent charges and FC terms. Ticket 4 (cleaningbill.com): refund request follows the process, otherwise ask for the concern and explain the charges.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3" name="Google Shape;79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Ticket 5 (BBB complaint): ignore if no response is expected (60+ days), clear if already handled with no other pain points, handle if trained in the Percentage-Based Assessment, otherwise reassign to Risk Reduction. Ticket 6 (charged 15+ days ago): sanity-check the charge; no outreach means note and clear; issues without refund intent means usual handling; refund intent means threshold. Ticket 7 (Stripe dispute): check CRM and Stripe; if the response was submitted, BAU; if not, change the category to Dispute Response Team and don't resolve. Ticket 8 follows the New HDR process.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Ticket 9 (Help Center search with 'refund'): a search isn't a message, so only treat it as BAU if it reads like an actual complaint. Ticket 10 (Early Fraud Warning): Discover goes to the percentage track or Risk Reduction; otherwise a charge 60 days or less old is checked against the threshold; a used DHJ voucher is handled separately. Ticket 11 follows the percentage track or Risk Reduction. Ticket 12 (keywords when cancelling FC): follow the usual Transformation Guidelines if they want a refund.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1" name="Google Shape;81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For an Early Fraud Warning, the charge age decides: 60 days or less, apply the card threshold; above it, note and no refund; below it, refund. Then ask whether C wants anything else refunded; if so, follow 'C reaches out before or after disputing a charge'; if not, don't hunt for other charges. Example: a $65 Mastercard charge 40 days ago is within 60 days but above $58, so leave a note and don't refund. The 48-hour clock (since the HDR flag) and the 60-day check (since the charge) are different clocks.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7" name="Google Shape;83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4" name="Google Shape;85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when we waive the Early Termination Fee. By the end, trainees can confirm a waiver scenario, assess intent, and handle two consecutive issue jobs and extenuating circumstances.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4" name="Google Shape;88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An ETF waiver means we don't charge the fee. It's only for specific situations: charging it would be genuinely unfair, or would hurt us more than it helps (legal risk, reputation, a likely dispute). The ETF exists because the first cleaning is free or heavily discounted and the cleaner still has to be paid fairly. A waiver isn't letting someone off the hook; it's deciding whether this customer should still pay for a discount they used.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steps: confirm the situation (don't trust a self-reported label), assess intent (is the customer asking, or willing to pay?), prioritize empathy and fairness, and escalate to a Team Lead if unsure. Key idea: if the customer is willing to pay the ETF or finish the MCT, there's nothing unfair to fix, so don't offer the waiver even for a valid reason. Example: moving out of the country but fine paying the ETF: don't offer it.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1" name="Google Shape;94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Confirmed scenarios, part 1. Material legal threats: cancel and waive immediately, no retention first. Trust &amp; Safety: a waiver scenario, but route to T&amp;S. History of filing disputes: cancel and waive if they want to cancel before or after the dispute; if they want to stay, let them. Bankruptcy or extreme hardship: clear, offer 50% off first and waive fully only if declined; vague, retain first with a lower MF. Military deployment: waive.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0" name="Google Shape;95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Confirmed scenarios, part 2. ADA, severe weather and severe illness all depend on whether they can still use the service. Death and bereavement are in Extenuating Circumstances. Relocation out of coverage: waive. Two consecutive serious issue jobs has its own article. Homeaglow misrepresentation: 'at $X/hour' is a guarantee, so refund the difference and waive the ETF if they cancel because of it; 'around', 'approximately' or 'starting at' is an estimate, so nothing is owed.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9" name="Google Shape;95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Material legal threats qualify: AG complaint threats, cease and desist or formal documents, a lawyer CC'd (take their word, we can't verify), class-action or litigation threats, law firm emails, and small claims threats. They qualify because formal documents mean it already started, and AG, class action and small claims are cheap to trigger and cost far more than the ETF. Vague threats ('I'll get a lawyer', BBB, FTC, social media) don't qualify; handle as BAU and escalate if unsure.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4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5" name="Google Shape;98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about two consecutive serious issue jobs, not limited to the first two and not the same type. We waive because we didn't hold up our end twice, not to reward a second complaint. Serious issue types include false invoice, PCQ, system-cancelled, cleaner cancellation, no-show or late, unauthorized reschedule, T&amp;S incidents, overbilling and system errors, but only if the issue actually bothered the customer. A system-changed start time alone, lockouts from alternate-start changes and slow CP replies don't count. Repeat cancellations from the same CP and job: over 24 hours notice counts as 1, under 24 hours counts as 2.</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1" name="Google Shape;101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Never explain or offer the waiver until you know the customer is eligible. Always start by addressing what they raised, then check for a second consecutive issue they didn't mention. If you find one, probe with an open question and remove the self-cancel link right away. If it wasn't a factor, restore the link and explain the ETF. If both are confirmed, address the new issue, keep retention light, and if they still want to cancel, cancel FC and waive the ETF. If a good job happened after the two: one good job still qualifies and is your best retention chance; two or more no longer qualifies, and a new issue needs a fresh pair.</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4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7" name="Google Shape;103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Extenuating circumstances fall into compassion, fairness, compliance and affordability. Severe illness: waive if cancelling because of it; if the illness is why they use us, try to retain. Bereavement: act on the family's statement, no proof, no retention; refunds up to 1 year if the member passed, 120 days for a family member. Care facility or assisted living: waive and cancel, no TL approval. Military: imminent means waive; months away means a Timed Reminder. Weather: can't use it anymore means waive, temporary means pause. ADA: can't reasonably use it means waive; can still use it with an adjustment means handle as usual. Qualifying makes the waiver available, not automatic.</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6" name="Google Shape;104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Financial hardship: their circumstances are the test, not a label. If extreme hardship is clear (layoff plus declined payments, for example), offer 50% off first and waive the rest if declined, with no formal proof needed. If it's unclear, reduce the MF first, then use the cheaper of ETF reduction (50% cap) or MCT reduction (2 months cap) if they still leave. 'I'm a student, I want to cancel' is a cost objection, not hardship. Avoid saying 'you still have access to our lowest cleaning rates'.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4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2" name="Google Shape;107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4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internal note action items: what the system flags and what to do. By the end, trainees can look up a Sender code and follow the right steps.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4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9" name="Google Shape;111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system creates action items when something needs manual review: fraud patterns, likely disputes, or comms-blocking flags. They show up as internal notes; the Sender field in the top right is a code such as ForeverClean.charge. Each exists because ignoring it costs something: bad actors keep booking, chargebacks cost more than a refund we choose to give, or a customer misses a reminder. If a trigger isn't listed, apply the same two jobs: catch the problem before the customer or bank does, and catch a fraud pattern before it repeats.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4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5" name="Google Shape;1145;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standard call attempt: call only 8 AM to 8 PM in the customer's local time. If the ticket arrives under 10 minutes before 8 AM, park it and call at 8. More than 10 minutes before 8 AM or after 8 PM, don't wait and treat it as no answer. If they answer, follow the trigger's steps. If not, usually email, explaining the terms or charges and including a self-service link.</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5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1" name="Google Shape;1171;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dispute-risk assessment looks at FC charges in the last 120 days and always gets a note with Disputable amount, Dispute threshold, Dispute likelihood and Action. Above the threshold, don't wait for the dispute; cancel FC and waive the ETF as the trigger says, and refund if they asked. Below, it's usually a chance to explain the charge. The admin_approved_low_dispute_risk_for_360_days flag is for when the customer's only issue was with a specific job: add it (C CRM &gt; Do &gt; Charges), fix the service issue, and note it.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5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Group A, fraud and identity. Repeated address changes and name, email or phone changes are worth a look, but one change is normal. Shared addresses are usually roommates or family, but can be a way around the one-voucher-per-household limit: if several accounts have active FC and risk is high, cancel all and add known_customer_fraud; if not, add admin_ignore_address_fraud_flags. For 'fake' in name or address, call in the Primary CRM, Google Voice, Secondary CRM order; real-looking details get a reminder, fake-looking ones get the appointment and RC cancelled.</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6" name="Google Shape;1206;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For a customer matching a past disputer, first review for fraud. If fraud looks likely, follow the Fraud article. If unlikely and we already explained FC terms before the other account's dispute, they'll likely dispute again: cancel upcoming jobs and RC, waive the ETF if it applies, refund and invalidate any unused DHJ voucher, and tell them why. If we haven't explained yet, it's still a chance to keep them: call and explain, add the 360-day flag if only a booking issue, and email with a self-service link if they don't answer.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5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5" name="Google Shape;1215;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Group B, part 1. Customer.flag_as_dispute_risk: find why it was flagged and follow the HDR process. ForeverClean.charge for a customer who disputed before: run the assessment; above the threshold with a request, cancel FC, waive the ETF and refund the smaller of the disputable charges or the ask; without a request, cancel and waive without contacting them, since the goal is to prevent the dispute. Below the threshold, call and explain. no_first_job is similar, but below the threshold it's about getting them to book. utils.flag_dispute_risks: if they contacted us before or after the dispute use Customer Has Dispute History; otherwise review the disputed charges and call to explain FC terms.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5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4" name="Google Shape;1224;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Group B, part 2. views.cs_customerprospect fires on a pre-dispute: check the job for fraud or CP fault, confirm RC and upcoming appointments are cancelled, check whether removed credits should be restored, and note other charges' dispute risk. Don't refund on the system flag alone. views.stripegeneral fires on a dispute or Early Fraud Warning: check the note for the type; reassign to the Dispute Response Team if it needs a response, follow HDR if it's HDR, otherwise follow the action item.</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5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3" name="Google Shape;1233;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Group C, jobs. Lockout report that isn't the first: check requirements, refund Premium if charged, note validity, and message the customer only if they had no auto message, reached out, or have active FC. Only refund from the CP's dashboard if the CP shouldn't be paid. Double-booked customers: call in business hours and cancel duplicates to avoid accidental LMC or lockout. views.choosecp: DHJ voucher in an uncovered zip means refund and invalidate the voucher and cancel FC, RC and upcoming appointments. views.cpjob: check validity and refund Premium. views.cpreviews: a 1-star review on a CP already below 4.0; check for false invoice, and don't refund without solid evidence.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2" name="Google Shape;124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Three more triggers. A job stuck in pending_invoice follows Long-Pending-Invoice Handling because longer means higher risk of an accidental or false invoice. A refund request suggesting an unfinished appointment or damage goes to OCH, False Invoice, PCQ or the matching policy. An active customer with a block-comms flag: find out why, resolve pending issues, and remove the flag (C CRM &gt; Do &gt; Deactivate), which is the preferred outcome, with a note. Leaving it on can make a customer miss a reminder or confirmation.</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5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8" name="Google Shape;1268;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8" name="Shape 8"/>
        <p:cNvGrpSpPr/>
        <p:nvPr/>
      </p:nvGrpSpPr>
      <p:grpSpPr>
        <a:xfrm>
          <a:off x="0" y="0"/>
          <a:ext cx="0" cy="0"/>
          <a:chOff x="0" y="0"/>
          <a:chExt cx="0" cy="0"/>
        </a:xfrm>
      </p:grpSpPr>
      <p:sp>
        <p:nvSpPr>
          <p:cNvPr id="9" name="Google Shape;9;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0" name="Google Shape;10;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14" name="Shape 14"/>
        <p:cNvGrpSpPr/>
        <p:nvPr/>
      </p:nvGrpSpPr>
      <p:grpSpPr>
        <a:xfrm>
          <a:off x="0" y="0"/>
          <a:ext cx="0" cy="0"/>
          <a:chOff x="0" y="0"/>
          <a:chExt cx="0" cy="0"/>
        </a:xfrm>
      </p:grpSpPr>
      <p:sp>
        <p:nvSpPr>
          <p:cNvPr id="15" name="Google Shape;15;p6"/>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6" name="Google Shape;16;p6"/>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 name="Shape 12"/>
        <p:cNvGrpSpPr/>
        <p:nvPr/>
      </p:nvGrpSpPr>
      <p:grpSpPr>
        <a:xfrm>
          <a:off x="0" y="0"/>
          <a:ext cx="0" cy="0"/>
          <a:chOff x="0" y="0"/>
          <a:chExt cx="0" cy="0"/>
        </a:xfrm>
      </p:grpSpPr>
      <p:sp>
        <p:nvSpPr>
          <p:cNvPr id="13" name="Google Shape;13;p5"/>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20" Type="http://schemas.openxmlformats.org/officeDocument/2006/relationships/slide" Target="/ppt/slides/slide47.xml"/><Relationship Id="rId11" Type="http://schemas.openxmlformats.org/officeDocument/2006/relationships/slide" Target="/ppt/slides/slide20.xml"/><Relationship Id="rId10" Type="http://schemas.openxmlformats.org/officeDocument/2006/relationships/slide" Target="/ppt/slides/slide20.xml"/><Relationship Id="rId13" Type="http://schemas.openxmlformats.org/officeDocument/2006/relationships/slide" Target="/ppt/slides/slide26.xml"/><Relationship Id="rId12" Type="http://schemas.openxmlformats.org/officeDocument/2006/relationships/slide" Target="/ppt/slides/slide26.xml"/><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20.xml"/><Relationship Id="rId15" Type="http://schemas.openxmlformats.org/officeDocument/2006/relationships/slide" Target="/ppt/slides/slide36.xml"/><Relationship Id="rId14" Type="http://schemas.openxmlformats.org/officeDocument/2006/relationships/slide" Target="/ppt/slides/slide26.xml"/><Relationship Id="rId17" Type="http://schemas.openxmlformats.org/officeDocument/2006/relationships/slide" Target="/ppt/slides/slide36.xml"/><Relationship Id="rId16" Type="http://schemas.openxmlformats.org/officeDocument/2006/relationships/slide" Target="/ppt/slides/slide36.xml"/><Relationship Id="rId5" Type="http://schemas.openxmlformats.org/officeDocument/2006/relationships/slide" Target="/ppt/slides/slide3.xml"/><Relationship Id="rId19" Type="http://schemas.openxmlformats.org/officeDocument/2006/relationships/slide" Target="/ppt/slides/slide47.xml"/><Relationship Id="rId6" Type="http://schemas.openxmlformats.org/officeDocument/2006/relationships/slide" Target="/ppt/slides/slide10.xml"/><Relationship Id="rId18" Type="http://schemas.openxmlformats.org/officeDocument/2006/relationships/slide" Target="/ppt/slides/slide47.xml"/><Relationship Id="rId7" Type="http://schemas.openxmlformats.org/officeDocument/2006/relationships/slide" Target="/ppt/slides/slide10.xml"/><Relationship Id="rId8" Type="http://schemas.openxmlformats.org/officeDocument/2006/relationships/slide" Target="/ppt/slid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drive.google.com/file/d/15pIju8_5Hh07uY0EQXg3r-CvRYS3NSMu/view?usp=sharing" TargetMode="External"/><Relationship Id="rId4" Type="http://schemas.openxmlformats.org/officeDocument/2006/relationships/hyperlink" Target="https://drive.google.com/file/d/15pIju8_5Hh07uY0EQXg3r-CvRYS3NSMu/view?usp=sharing" TargetMode="External"/><Relationship Id="rId5" Type="http://schemas.openxmlformats.org/officeDocument/2006/relationships/hyperlink" Target="https://drive.google.com/file/d/15pIju8_5Hh07uY0EQXg3r-CvRYS3NSMu/view?usp=sharing" TargetMode="External"/><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9"/>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HOMEAGLOW  ·  NEW HIRE CARE TRAINING  ·  DAY 8</a:t>
            </a:r>
            <a:endParaRPr b="0" i="0" sz="800" u="none" cap="none" strike="noStrike">
              <a:solidFill>
                <a:schemeClr val="dk1"/>
              </a:solidFill>
              <a:latin typeface="Calibri"/>
              <a:ea typeface="Calibri"/>
              <a:cs typeface="Calibri"/>
              <a:sym typeface="Calibri"/>
            </a:endParaRPr>
          </a:p>
        </p:txBody>
      </p:sp>
      <p:sp>
        <p:nvSpPr>
          <p:cNvPr id="25" name="Google Shape;25;p9"/>
          <p:cNvSpPr txBox="1"/>
          <p:nvPr/>
        </p:nvSpPr>
        <p:spPr>
          <a:xfrm>
            <a:off x="566928" y="914400"/>
            <a:ext cx="44805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Waivers, Disputes</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and Special Cases</a:t>
            </a:r>
            <a:endParaRPr b="0" i="0" sz="3200" u="none" cap="none" strike="noStrike">
              <a:solidFill>
                <a:schemeClr val="dk1"/>
              </a:solidFill>
              <a:latin typeface="Calibri"/>
              <a:ea typeface="Calibri"/>
              <a:cs typeface="Calibri"/>
              <a:sym typeface="Calibri"/>
            </a:endParaRPr>
          </a:p>
        </p:txBody>
      </p:sp>
      <p:sp>
        <p:nvSpPr>
          <p:cNvPr id="26" name="Google Shape;26;p9"/>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50"/>
              <a:buFont typeface="Arial"/>
              <a:buNone/>
            </a:pPr>
            <a:r>
              <a:rPr b="0" i="0" lang="en" sz="1250" u="none" cap="none" strike="noStrike">
                <a:solidFill>
                  <a:srgbClr val="6E6E73"/>
                </a:solidFill>
                <a:latin typeface="Arial"/>
                <a:ea typeface="Arial"/>
                <a:cs typeface="Arial"/>
                <a:sym typeface="Arial"/>
              </a:rPr>
              <a:t>Keeping MCT, biohazard reports, dispute likelihood, HDR tickets, ETF waivers and internal note action items.</a:t>
            </a:r>
            <a:endParaRPr b="0" i="0" sz="1250" u="none" cap="none" strike="noStrike">
              <a:solidFill>
                <a:schemeClr val="dk1"/>
              </a:solidFill>
              <a:latin typeface="Calibri"/>
              <a:ea typeface="Calibri"/>
              <a:cs typeface="Calibri"/>
              <a:sym typeface="Calibri"/>
            </a:endParaRPr>
          </a:p>
        </p:txBody>
      </p:sp>
      <p:sp>
        <p:nvSpPr>
          <p:cNvPr id="27" name="Google Shape;27;p9"/>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Internal training material</a:t>
            </a:r>
            <a:endParaRPr b="0" i="0" sz="700" u="none" cap="none" strike="noStrike">
              <a:solidFill>
                <a:schemeClr val="dk1"/>
              </a:solidFill>
              <a:latin typeface="Calibri"/>
              <a:ea typeface="Calibri"/>
              <a:cs typeface="Calibri"/>
              <a:sym typeface="Calibri"/>
            </a:endParaRPr>
          </a:p>
        </p:txBody>
      </p:sp>
      <p:sp>
        <p:nvSpPr>
          <p:cNvPr id="28" name="Google Shape;28;p9"/>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6.png" id="30" name="Google Shape;30;p9"/>
          <p:cNvPicPr preferRelativeResize="0"/>
          <p:nvPr/>
        </p:nvPicPr>
        <p:blipFill rotWithShape="1">
          <a:blip r:embed="rId3">
            <a:alphaModFix/>
          </a:blip>
          <a:srcRect b="0" l="0" r="0" t="0"/>
          <a:stretch/>
        </p:blipFill>
        <p:spPr>
          <a:xfrm>
            <a:off x="5541264" y="1632461"/>
            <a:ext cx="2926080" cy="1874006"/>
          </a:xfrm>
          <a:prstGeom prst="rect">
            <a:avLst/>
          </a:prstGeom>
          <a:noFill/>
          <a:ln>
            <a:noFill/>
          </a:ln>
        </p:spPr>
      </p:pic>
      <p:sp>
        <p:nvSpPr>
          <p:cNvPr id="31" name="Google Shape;31;p9"/>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9"/>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9"/>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OVERVIEW</a:t>
            </a:r>
            <a:endParaRPr b="0" i="0" sz="800" u="none" cap="none" strike="noStrike">
              <a:solidFill>
                <a:schemeClr val="dk1"/>
              </a:solidFill>
              <a:latin typeface="Calibri"/>
              <a:ea typeface="Calibri"/>
              <a:cs typeface="Calibri"/>
              <a:sym typeface="Calibri"/>
            </a:endParaRPr>
          </a:p>
        </p:txBody>
      </p:sp>
      <p:sp>
        <p:nvSpPr>
          <p:cNvPr id="42" name="Google Shape;42;p1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Agenda</a:t>
            </a:r>
            <a:endParaRPr b="0" i="0" sz="2400" u="none" cap="none" strike="noStrike">
              <a:solidFill>
                <a:schemeClr val="dk1"/>
              </a:solidFill>
              <a:latin typeface="Calibri"/>
              <a:ea typeface="Calibri"/>
              <a:cs typeface="Calibri"/>
              <a:sym typeface="Calibri"/>
            </a:endParaRPr>
          </a:p>
        </p:txBody>
      </p:sp>
      <p:sp>
        <p:nvSpPr>
          <p:cNvPr id="43" name="Google Shape;43;p1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Six topics. Click a topic to jump to it.</a:t>
            </a:r>
            <a:endParaRPr b="0" i="0" sz="1200" u="none" cap="none" strike="noStrike">
              <a:solidFill>
                <a:schemeClr val="dk1"/>
              </a:solidFill>
              <a:latin typeface="Calibri"/>
              <a:ea typeface="Calibri"/>
              <a:cs typeface="Calibri"/>
              <a:sym typeface="Calibri"/>
            </a:endParaRPr>
          </a:p>
        </p:txBody>
      </p:sp>
      <p:sp>
        <p:nvSpPr>
          <p:cNvPr id="44" name="Google Shape;44;p1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45" name="Google Shape;45;p10">
            <a:hlinkClick action="ppaction://hlinksldjump" r:id="rId3"/>
          </p:cNvPr>
          <p:cNvSpPr/>
          <p:nvPr/>
        </p:nvSpPr>
        <p:spPr>
          <a:xfrm>
            <a:off x="411480" y="1325880"/>
            <a:ext cx="4091939" cy="96012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3225" spcFirstLastPara="1" rIns="411475" wrap="square" tIns="0">
            <a:no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Customer Agreed to Keep MCT</a:t>
            </a:r>
            <a:endParaRPr/>
          </a:p>
          <a:p>
            <a:pPr indent="0" lvl="0" marL="0" marR="0" rtl="0" algn="l">
              <a:lnSpc>
                <a:spcPct val="100000"/>
              </a:lnSpc>
              <a:spcBef>
                <a:spcPts val="200"/>
              </a:spcBef>
              <a:spcAft>
                <a:spcPts val="0"/>
              </a:spcAft>
              <a:buNone/>
            </a:pPr>
            <a:r>
              <a:rPr b="0" i="0" lang="en" sz="1000" u="none" cap="none" strike="noStrike">
                <a:solidFill>
                  <a:srgbClr val="6E6E73"/>
                </a:solidFill>
                <a:latin typeface="Arial"/>
                <a:ea typeface="Arial"/>
                <a:cs typeface="Arial"/>
                <a:sym typeface="Arial"/>
              </a:rPr>
              <a:t>They'll finish the term, then cancel.</a:t>
            </a:r>
            <a:endParaRPr/>
          </a:p>
        </p:txBody>
      </p:sp>
      <p:sp>
        <p:nvSpPr>
          <p:cNvPr id="46" name="Google Shape;46;p10">
            <a:hlinkClick action="ppaction://hlinksldjump" r:id="rId4"/>
          </p:cNvPr>
          <p:cNvSpPr txBox="1"/>
          <p:nvPr/>
        </p:nvSpPr>
        <p:spPr>
          <a:xfrm>
            <a:off x="502920" y="1325880"/>
            <a:ext cx="50292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01</a:t>
            </a:r>
            <a:endParaRPr/>
          </a:p>
        </p:txBody>
      </p:sp>
      <p:sp>
        <p:nvSpPr>
          <p:cNvPr id="47" name="Google Shape;47;p10">
            <a:hlinkClick action="ppaction://hlinksldjump" r:id="rId5"/>
          </p:cNvPr>
          <p:cNvSpPr txBox="1"/>
          <p:nvPr/>
        </p:nvSpPr>
        <p:spPr>
          <a:xfrm>
            <a:off x="4119372" y="1325880"/>
            <a:ext cx="32004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48" name="Google Shape;48;p10">
            <a:hlinkClick action="ppaction://hlinksldjump" r:id="rId6"/>
          </p:cNvPr>
          <p:cNvSpPr/>
          <p:nvPr/>
        </p:nvSpPr>
        <p:spPr>
          <a:xfrm>
            <a:off x="411480" y="2423160"/>
            <a:ext cx="4091939" cy="96012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3225" spcFirstLastPara="1" rIns="411475" wrap="square" tIns="0">
            <a:no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Biohazard or Unsanitary Home</a:t>
            </a:r>
            <a:endParaRPr/>
          </a:p>
          <a:p>
            <a:pPr indent="0" lvl="0" marL="0" marR="0" rtl="0" algn="l">
              <a:lnSpc>
                <a:spcPct val="100000"/>
              </a:lnSpc>
              <a:spcBef>
                <a:spcPts val="200"/>
              </a:spcBef>
              <a:spcAft>
                <a:spcPts val="0"/>
              </a:spcAft>
              <a:buNone/>
            </a:pPr>
            <a:r>
              <a:rPr b="0" i="0" lang="en" sz="1000" u="none" cap="none" strike="noStrike">
                <a:solidFill>
                  <a:srgbClr val="6E6E73"/>
                </a:solidFill>
                <a:latin typeface="Arial"/>
                <a:ea typeface="Arial"/>
                <a:cs typeface="Arial"/>
                <a:sym typeface="Arial"/>
              </a:rPr>
              <a:t>A CP reports the home as unsafe.</a:t>
            </a:r>
            <a:endParaRPr/>
          </a:p>
        </p:txBody>
      </p:sp>
      <p:sp>
        <p:nvSpPr>
          <p:cNvPr id="49" name="Google Shape;49;p10">
            <a:hlinkClick action="ppaction://hlinksldjump" r:id="rId7"/>
          </p:cNvPr>
          <p:cNvSpPr txBox="1"/>
          <p:nvPr/>
        </p:nvSpPr>
        <p:spPr>
          <a:xfrm>
            <a:off x="502920" y="2423160"/>
            <a:ext cx="50292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02</a:t>
            </a:r>
            <a:endParaRPr/>
          </a:p>
        </p:txBody>
      </p:sp>
      <p:sp>
        <p:nvSpPr>
          <p:cNvPr id="50" name="Google Shape;50;p10">
            <a:hlinkClick action="ppaction://hlinksldjump" r:id="rId8"/>
          </p:cNvPr>
          <p:cNvSpPr txBox="1"/>
          <p:nvPr/>
        </p:nvSpPr>
        <p:spPr>
          <a:xfrm>
            <a:off x="4119372" y="2423160"/>
            <a:ext cx="32004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51" name="Google Shape;51;p10">
            <a:hlinkClick action="ppaction://hlinksldjump" r:id="rId9"/>
          </p:cNvPr>
          <p:cNvSpPr/>
          <p:nvPr/>
        </p:nvSpPr>
        <p:spPr>
          <a:xfrm>
            <a:off x="411480" y="3520439"/>
            <a:ext cx="4091939" cy="96012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3225" spcFirstLastPara="1" rIns="411475" wrap="square" tIns="0">
            <a:no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Assessing Dispute Likelihood</a:t>
            </a:r>
            <a:endParaRPr/>
          </a:p>
          <a:p>
            <a:pPr indent="0" lvl="0" marL="0" marR="0" rtl="0" algn="l">
              <a:lnSpc>
                <a:spcPct val="100000"/>
              </a:lnSpc>
              <a:spcBef>
                <a:spcPts val="200"/>
              </a:spcBef>
              <a:spcAft>
                <a:spcPts val="0"/>
              </a:spcAft>
              <a:buNone/>
            </a:pPr>
            <a:r>
              <a:rPr b="0" i="0" lang="en" sz="1000" u="none" cap="none" strike="noStrike">
                <a:solidFill>
                  <a:srgbClr val="6E6E73"/>
                </a:solidFill>
                <a:latin typeface="Arial"/>
                <a:ea typeface="Arial"/>
                <a:cs typeface="Arial"/>
                <a:sym typeface="Arial"/>
              </a:rPr>
              <a:t>Will C escalate to their bank?</a:t>
            </a:r>
            <a:endParaRPr/>
          </a:p>
        </p:txBody>
      </p:sp>
      <p:sp>
        <p:nvSpPr>
          <p:cNvPr id="52" name="Google Shape;52;p10">
            <a:hlinkClick action="ppaction://hlinksldjump" r:id="rId10"/>
          </p:cNvPr>
          <p:cNvSpPr txBox="1"/>
          <p:nvPr/>
        </p:nvSpPr>
        <p:spPr>
          <a:xfrm>
            <a:off x="502920" y="3520439"/>
            <a:ext cx="50292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03</a:t>
            </a:r>
            <a:endParaRPr/>
          </a:p>
        </p:txBody>
      </p:sp>
      <p:sp>
        <p:nvSpPr>
          <p:cNvPr id="53" name="Google Shape;53;p10">
            <a:hlinkClick action="ppaction://hlinksldjump" r:id="rId11"/>
          </p:cNvPr>
          <p:cNvSpPr txBox="1"/>
          <p:nvPr/>
        </p:nvSpPr>
        <p:spPr>
          <a:xfrm>
            <a:off x="4119372" y="3520439"/>
            <a:ext cx="32004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54" name="Google Shape;54;p10">
            <a:hlinkClick action="ppaction://hlinksldjump" r:id="rId12"/>
          </p:cNvPr>
          <p:cNvSpPr/>
          <p:nvPr/>
        </p:nvSpPr>
        <p:spPr>
          <a:xfrm>
            <a:off x="4640580" y="1325880"/>
            <a:ext cx="4091939" cy="96012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3225" spcFirstLastPara="1" rIns="411475" wrap="square" tIns="0">
            <a:no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HDR Ticket Handling Process</a:t>
            </a:r>
            <a:endParaRPr/>
          </a:p>
          <a:p>
            <a:pPr indent="0" lvl="0" marL="0" marR="0" rtl="0" algn="l">
              <a:lnSpc>
                <a:spcPct val="100000"/>
              </a:lnSpc>
              <a:spcBef>
                <a:spcPts val="200"/>
              </a:spcBef>
              <a:spcAft>
                <a:spcPts val="0"/>
              </a:spcAft>
              <a:buNone/>
            </a:pPr>
            <a:r>
              <a:rPr b="0" i="0" lang="en" sz="1000" u="none" cap="none" strike="noStrike">
                <a:solidFill>
                  <a:srgbClr val="6E6E73"/>
                </a:solidFill>
                <a:latin typeface="Arial"/>
                <a:ea typeface="Arial"/>
                <a:cs typeface="Arial"/>
                <a:sym typeface="Arial"/>
              </a:rPr>
              <a:t>Refund proactively, or handle normally?</a:t>
            </a:r>
            <a:endParaRPr/>
          </a:p>
        </p:txBody>
      </p:sp>
      <p:sp>
        <p:nvSpPr>
          <p:cNvPr id="55" name="Google Shape;55;p10">
            <a:hlinkClick action="ppaction://hlinksldjump" r:id="rId13"/>
          </p:cNvPr>
          <p:cNvSpPr txBox="1"/>
          <p:nvPr/>
        </p:nvSpPr>
        <p:spPr>
          <a:xfrm>
            <a:off x="4732020" y="1325880"/>
            <a:ext cx="50292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04</a:t>
            </a:r>
            <a:endParaRPr/>
          </a:p>
        </p:txBody>
      </p:sp>
      <p:sp>
        <p:nvSpPr>
          <p:cNvPr id="56" name="Google Shape;56;p10">
            <a:hlinkClick action="ppaction://hlinksldjump" r:id="rId14"/>
          </p:cNvPr>
          <p:cNvSpPr txBox="1"/>
          <p:nvPr/>
        </p:nvSpPr>
        <p:spPr>
          <a:xfrm>
            <a:off x="8348472" y="1325880"/>
            <a:ext cx="32004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57" name="Google Shape;57;p10">
            <a:hlinkClick action="ppaction://hlinksldjump" r:id="rId15"/>
          </p:cNvPr>
          <p:cNvSpPr/>
          <p:nvPr/>
        </p:nvSpPr>
        <p:spPr>
          <a:xfrm>
            <a:off x="4640580" y="2423160"/>
            <a:ext cx="4091939" cy="96012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3225" spcFirstLastPara="1" rIns="411475" wrap="square" tIns="0">
            <a:no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ETF Waivers</a:t>
            </a:r>
            <a:endParaRPr/>
          </a:p>
          <a:p>
            <a:pPr indent="0" lvl="0" marL="0" marR="0" rtl="0" algn="l">
              <a:lnSpc>
                <a:spcPct val="100000"/>
              </a:lnSpc>
              <a:spcBef>
                <a:spcPts val="200"/>
              </a:spcBef>
              <a:spcAft>
                <a:spcPts val="0"/>
              </a:spcAft>
              <a:buNone/>
            </a:pPr>
            <a:r>
              <a:rPr b="0" i="0" lang="en" sz="1000" u="none" cap="none" strike="noStrike">
                <a:solidFill>
                  <a:srgbClr val="6E6E73"/>
                </a:solidFill>
                <a:latin typeface="Arial"/>
                <a:ea typeface="Arial"/>
                <a:cs typeface="Arial"/>
                <a:sym typeface="Arial"/>
              </a:rPr>
              <a:t>When we waive the ETF, and how.</a:t>
            </a:r>
            <a:endParaRPr/>
          </a:p>
        </p:txBody>
      </p:sp>
      <p:sp>
        <p:nvSpPr>
          <p:cNvPr id="58" name="Google Shape;58;p10">
            <a:hlinkClick action="ppaction://hlinksldjump" r:id="rId16"/>
          </p:cNvPr>
          <p:cNvSpPr txBox="1"/>
          <p:nvPr/>
        </p:nvSpPr>
        <p:spPr>
          <a:xfrm>
            <a:off x="4732020" y="2423160"/>
            <a:ext cx="50292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05</a:t>
            </a:r>
            <a:endParaRPr/>
          </a:p>
        </p:txBody>
      </p:sp>
      <p:sp>
        <p:nvSpPr>
          <p:cNvPr id="59" name="Google Shape;59;p10">
            <a:hlinkClick action="ppaction://hlinksldjump" r:id="rId17"/>
          </p:cNvPr>
          <p:cNvSpPr txBox="1"/>
          <p:nvPr/>
        </p:nvSpPr>
        <p:spPr>
          <a:xfrm>
            <a:off x="8348472" y="2423160"/>
            <a:ext cx="32004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60" name="Google Shape;60;p10">
            <a:hlinkClick action="ppaction://hlinksldjump" r:id="rId18"/>
          </p:cNvPr>
          <p:cNvSpPr/>
          <p:nvPr/>
        </p:nvSpPr>
        <p:spPr>
          <a:xfrm>
            <a:off x="4640580" y="3520439"/>
            <a:ext cx="4091939" cy="96012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713225" spcFirstLastPara="1" rIns="411475" wrap="square" tIns="0">
            <a:no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Internal Note Action Items</a:t>
            </a:r>
            <a:endParaRPr/>
          </a:p>
          <a:p>
            <a:pPr indent="0" lvl="0" marL="0" marR="0" rtl="0" algn="l">
              <a:lnSpc>
                <a:spcPct val="100000"/>
              </a:lnSpc>
              <a:spcBef>
                <a:spcPts val="200"/>
              </a:spcBef>
              <a:spcAft>
                <a:spcPts val="0"/>
              </a:spcAft>
              <a:buNone/>
            </a:pPr>
            <a:r>
              <a:rPr b="0" i="0" lang="en" sz="1000" u="none" cap="none" strike="noStrike">
                <a:solidFill>
                  <a:srgbClr val="6E6E73"/>
                </a:solidFill>
                <a:latin typeface="Arial"/>
                <a:ea typeface="Arial"/>
                <a:cs typeface="Arial"/>
                <a:sym typeface="Arial"/>
              </a:rPr>
              <a:t>What each system action item means.</a:t>
            </a:r>
            <a:endParaRPr/>
          </a:p>
        </p:txBody>
      </p:sp>
      <p:sp>
        <p:nvSpPr>
          <p:cNvPr id="61" name="Google Shape;61;p10">
            <a:hlinkClick action="ppaction://hlinksldjump" r:id="rId19"/>
          </p:cNvPr>
          <p:cNvSpPr txBox="1"/>
          <p:nvPr/>
        </p:nvSpPr>
        <p:spPr>
          <a:xfrm>
            <a:off x="4732020" y="3520439"/>
            <a:ext cx="50292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06</a:t>
            </a:r>
            <a:endParaRPr/>
          </a:p>
        </p:txBody>
      </p:sp>
      <p:sp>
        <p:nvSpPr>
          <p:cNvPr id="62" name="Google Shape;62;p10">
            <a:hlinkClick action="ppaction://hlinksldjump" r:id="rId20"/>
          </p:cNvPr>
          <p:cNvSpPr txBox="1"/>
          <p:nvPr/>
        </p:nvSpPr>
        <p:spPr>
          <a:xfrm>
            <a:off x="8348472" y="3520439"/>
            <a:ext cx="320040" cy="9601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1"/>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01</a:t>
            </a:r>
            <a:endParaRPr b="0" i="0" sz="800" u="none" cap="none" strike="noStrike">
              <a:solidFill>
                <a:schemeClr val="dk1"/>
              </a:solidFill>
              <a:latin typeface="Calibri"/>
              <a:ea typeface="Calibri"/>
              <a:cs typeface="Calibri"/>
              <a:sym typeface="Calibri"/>
            </a:endParaRPr>
          </a:p>
        </p:txBody>
      </p:sp>
      <p:sp>
        <p:nvSpPr>
          <p:cNvPr id="68" name="Google Shape;68;p11"/>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Customer Agreed to Keep MCT</a:t>
            </a:r>
            <a:endParaRPr b="0" i="0" sz="2800" u="none" cap="none" strike="noStrike">
              <a:solidFill>
                <a:schemeClr val="dk1"/>
              </a:solidFill>
              <a:latin typeface="Calibri"/>
              <a:ea typeface="Calibri"/>
              <a:cs typeface="Calibri"/>
              <a:sym typeface="Calibri"/>
            </a:endParaRPr>
          </a:p>
        </p:txBody>
      </p:sp>
      <p:sp>
        <p:nvSpPr>
          <p:cNvPr id="69" name="Google Shape;69;p11"/>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A customer who plans to finish the commitment term and then cancel, to avoid the ETF.</a:t>
            </a:r>
            <a:endParaRPr b="0" i="0" sz="1150" u="none" cap="none" strike="noStrike">
              <a:solidFill>
                <a:schemeClr val="dk1"/>
              </a:solidFill>
              <a:latin typeface="Calibri"/>
              <a:ea typeface="Calibri"/>
              <a:cs typeface="Calibri"/>
              <a:sym typeface="Calibri"/>
            </a:endParaRPr>
          </a:p>
        </p:txBody>
      </p:sp>
      <p:sp>
        <p:nvSpPr>
          <p:cNvPr id="70" name="Google Shape;70;p11"/>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71" name="Google Shape;71;p11"/>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 name="Google Shape;72;p11"/>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73" name="Google Shape;73;p11"/>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the customer says it</a:t>
            </a:r>
            <a:endParaRPr b="0" i="0" sz="1050" u="none" cap="none" strike="noStrike">
              <a:solidFill>
                <a:schemeClr val="dk1"/>
              </a:solidFill>
              <a:latin typeface="Calibri"/>
              <a:ea typeface="Calibri"/>
              <a:cs typeface="Calibri"/>
              <a:sym typeface="Calibri"/>
            </a:endParaRPr>
          </a:p>
        </p:txBody>
      </p:sp>
      <p:sp>
        <p:nvSpPr>
          <p:cNvPr id="74" name="Google Shape;74;p11"/>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 name="Google Shape;75;p11"/>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76" name="Google Shape;76;p11"/>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they just stop booking</a:t>
            </a:r>
            <a:endParaRPr b="0" i="0" sz="1050" u="none" cap="none" strike="noStrike">
              <a:solidFill>
                <a:schemeClr val="dk1"/>
              </a:solidFill>
              <a:latin typeface="Calibri"/>
              <a:ea typeface="Calibri"/>
              <a:cs typeface="Calibri"/>
              <a:sym typeface="Calibri"/>
            </a:endParaRPr>
          </a:p>
        </p:txBody>
      </p:sp>
      <p:sp>
        <p:nvSpPr>
          <p:cNvPr id="77" name="Google Shape;77;p11"/>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 name="Google Shape;78;p11"/>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79" name="Google Shape;79;p11"/>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the reminder triggers</a:t>
            </a:r>
            <a:endParaRPr b="0" i="0" sz="1050" u="none" cap="none" strike="noStrike">
              <a:solidFill>
                <a:schemeClr val="dk1"/>
              </a:solidFill>
              <a:latin typeface="Calibri"/>
              <a:ea typeface="Calibri"/>
              <a:cs typeface="Calibri"/>
              <a:sym typeface="Calibri"/>
            </a:endParaRPr>
          </a:p>
        </p:txBody>
      </p:sp>
      <p:sp>
        <p:nvSpPr>
          <p:cNvPr id="80" name="Google Shape;80;p11"/>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1" name="Google Shape;81;p11"/>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82" name="Google Shape;82;p11"/>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we don't waive</a:t>
            </a:r>
            <a:endParaRPr b="0" i="0" sz="1050" u="none" cap="none" strike="noStrike">
              <a:solidFill>
                <a:schemeClr val="dk1"/>
              </a:solidFill>
              <a:latin typeface="Calibri"/>
              <a:ea typeface="Calibri"/>
              <a:cs typeface="Calibri"/>
              <a:sym typeface="Calibri"/>
            </a:endParaRPr>
          </a:p>
        </p:txBody>
      </p:sp>
      <p:sp>
        <p:nvSpPr>
          <p:cNvPr id="83" name="Google Shape;83;p11"/>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1"/>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85" name="Google Shape;85;p11"/>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86" name="Google Shape;86;p11"/>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1"/>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1"/>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1"/>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1"/>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1"/>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99" name="Google Shape;99;p1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100" name="Google Shape;100;p1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 plans to complete their MCT, then cancel, so they don't pay the ETF.</a:t>
            </a:r>
            <a:endParaRPr b="0" i="0" sz="1200" u="none" cap="none" strike="noStrike">
              <a:solidFill>
                <a:schemeClr val="dk1"/>
              </a:solidFill>
              <a:latin typeface="Calibri"/>
              <a:ea typeface="Calibri"/>
              <a:cs typeface="Calibri"/>
              <a:sym typeface="Calibri"/>
            </a:endParaRPr>
          </a:p>
        </p:txBody>
      </p:sp>
      <p:sp>
        <p:nvSpPr>
          <p:cNvPr id="101" name="Google Shape;101;p12"/>
          <p:cNvSpPr/>
          <p:nvPr/>
        </p:nvSpPr>
        <p:spPr>
          <a:xfrm>
            <a:off x="411480" y="1298448"/>
            <a:ext cx="406908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2"/>
          <p:cNvSpPr/>
          <p:nvPr/>
        </p:nvSpPr>
        <p:spPr>
          <a:xfrm>
            <a:off x="576072" y="1563624"/>
            <a:ext cx="347472" cy="347472"/>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 name="Google Shape;103;p12"/>
          <p:cNvPicPr preferRelativeResize="0"/>
          <p:nvPr/>
        </p:nvPicPr>
        <p:blipFill rotWithShape="1">
          <a:blip r:embed="rId3">
            <a:alphaModFix/>
          </a:blip>
          <a:srcRect b="0" l="0" r="0" t="0"/>
          <a:stretch/>
        </p:blipFill>
        <p:spPr>
          <a:xfrm>
            <a:off x="659465" y="1647017"/>
            <a:ext cx="180685" cy="180685"/>
          </a:xfrm>
          <a:prstGeom prst="rect">
            <a:avLst/>
          </a:prstGeom>
          <a:noFill/>
          <a:ln>
            <a:noFill/>
          </a:ln>
        </p:spPr>
      </p:pic>
      <p:sp>
        <p:nvSpPr>
          <p:cNvPr id="104" name="Google Shape;104;p12"/>
          <p:cNvSpPr txBox="1"/>
          <p:nvPr/>
        </p:nvSpPr>
        <p:spPr>
          <a:xfrm>
            <a:off x="1069848" y="1298448"/>
            <a:ext cx="329184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They say it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Tells us they'll cancel once the MCT is done.</a:t>
            </a:r>
            <a:endParaRPr b="0" i="0" sz="1200" u="none" cap="none" strike="noStrike">
              <a:solidFill>
                <a:schemeClr val="dk1"/>
              </a:solidFill>
              <a:latin typeface="Calibri"/>
              <a:ea typeface="Calibri"/>
              <a:cs typeface="Calibri"/>
              <a:sym typeface="Calibri"/>
            </a:endParaRPr>
          </a:p>
        </p:txBody>
      </p:sp>
      <p:sp>
        <p:nvSpPr>
          <p:cNvPr id="105" name="Google Shape;105;p12"/>
          <p:cNvSpPr/>
          <p:nvPr/>
        </p:nvSpPr>
        <p:spPr>
          <a:xfrm>
            <a:off x="4663440" y="1298448"/>
            <a:ext cx="406908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2"/>
          <p:cNvSpPr/>
          <p:nvPr/>
        </p:nvSpPr>
        <p:spPr>
          <a:xfrm>
            <a:off x="4828032" y="1563624"/>
            <a:ext cx="347472" cy="347472"/>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7" name="Google Shape;107;p12"/>
          <p:cNvPicPr preferRelativeResize="0"/>
          <p:nvPr/>
        </p:nvPicPr>
        <p:blipFill rotWithShape="1">
          <a:blip r:embed="rId4">
            <a:alphaModFix/>
          </a:blip>
          <a:srcRect b="0" l="0" r="0" t="0"/>
          <a:stretch/>
        </p:blipFill>
        <p:spPr>
          <a:xfrm>
            <a:off x="4911425" y="1647017"/>
            <a:ext cx="180685" cy="180685"/>
          </a:xfrm>
          <a:prstGeom prst="rect">
            <a:avLst/>
          </a:prstGeom>
          <a:noFill/>
          <a:ln>
            <a:noFill/>
          </a:ln>
        </p:spPr>
      </p:pic>
      <p:sp>
        <p:nvSpPr>
          <p:cNvPr id="108" name="Google Shape;108;p12"/>
          <p:cNvSpPr txBox="1"/>
          <p:nvPr/>
        </p:nvSpPr>
        <p:spPr>
          <a:xfrm>
            <a:off x="5321808" y="1298448"/>
            <a:ext cx="329184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They show it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Doesn't book on purpose. Ex: 1 invoiced job, 4 paid MFs, $105 ETF, asks when they'll hit MCT.</a:t>
            </a:r>
            <a:endParaRPr b="0" i="0" sz="1200" u="none" cap="none" strike="noStrike">
              <a:solidFill>
                <a:schemeClr val="dk1"/>
              </a:solidFill>
              <a:latin typeface="Calibri"/>
              <a:ea typeface="Calibri"/>
              <a:cs typeface="Calibri"/>
              <a:sym typeface="Calibri"/>
            </a:endParaRPr>
          </a:p>
        </p:txBody>
      </p:sp>
      <p:sp>
        <p:nvSpPr>
          <p:cNvPr id="109" name="Google Shape;109;p12"/>
          <p:cNvSpPr txBox="1"/>
          <p:nvPr/>
        </p:nvSpPr>
        <p:spPr>
          <a:xfrm>
            <a:off x="411480" y="2304288"/>
            <a:ext cx="3657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3261E"/>
              </a:buClr>
              <a:buSzPts val="800"/>
              <a:buFont typeface="Play"/>
              <a:buNone/>
            </a:pPr>
            <a:r>
              <a:rPr b="1" i="0" lang="en" sz="800" u="none" cap="none" strike="noStrike">
                <a:solidFill>
                  <a:srgbClr val="B3261E"/>
                </a:solidFill>
                <a:latin typeface="Play"/>
                <a:ea typeface="Play"/>
                <a:cs typeface="Play"/>
                <a:sym typeface="Play"/>
              </a:rPr>
              <a:t>TWO TRAPS TO AVOID</a:t>
            </a:r>
            <a:endParaRPr b="0" i="0" sz="800" u="none" cap="none" strike="noStrike">
              <a:solidFill>
                <a:schemeClr val="dk1"/>
              </a:solidFill>
              <a:latin typeface="Calibri"/>
              <a:ea typeface="Calibri"/>
              <a:cs typeface="Calibri"/>
              <a:sym typeface="Calibri"/>
            </a:endParaRPr>
          </a:p>
        </p:txBody>
      </p:sp>
      <p:sp>
        <p:nvSpPr>
          <p:cNvPr id="110" name="Google Shape;110;p12"/>
          <p:cNvSpPr/>
          <p:nvPr/>
        </p:nvSpPr>
        <p:spPr>
          <a:xfrm>
            <a:off x="411480" y="2514600"/>
            <a:ext cx="4069080" cy="1417320"/>
          </a:xfrm>
          <a:prstGeom prst="roundRect">
            <a:avLst>
              <a:gd fmla="val 516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2"/>
          <p:cNvSpPr/>
          <p:nvPr/>
        </p:nvSpPr>
        <p:spPr>
          <a:xfrm>
            <a:off x="411480" y="251460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Trap 1: Over-warning about the ETF</a:t>
            </a:r>
            <a:endParaRPr b="0" i="0" sz="1050" u="none" cap="none" strike="noStrike">
              <a:solidFill>
                <a:schemeClr val="dk1"/>
              </a:solidFill>
              <a:latin typeface="Calibri"/>
              <a:ea typeface="Calibri"/>
              <a:cs typeface="Calibri"/>
              <a:sym typeface="Calibri"/>
            </a:endParaRPr>
          </a:p>
        </p:txBody>
      </p:sp>
      <p:sp>
        <p:nvSpPr>
          <p:cNvPr id="112" name="Google Shape;112;p12"/>
          <p:cNvSpPr txBox="1"/>
          <p:nvPr/>
        </p:nvSpPr>
        <p:spPr>
          <a:xfrm>
            <a:off x="576072" y="2953512"/>
            <a:ext cx="3739896" cy="9052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They already accepted paying off the term</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Bringing it up again just sounds naggy</a:t>
            </a:r>
            <a:endParaRPr b="0" i="0" sz="950" u="none" cap="none" strike="noStrike">
              <a:solidFill>
                <a:schemeClr val="dk1"/>
              </a:solidFill>
              <a:latin typeface="Calibri"/>
              <a:ea typeface="Calibri"/>
              <a:cs typeface="Calibri"/>
              <a:sym typeface="Calibri"/>
            </a:endParaRPr>
          </a:p>
        </p:txBody>
      </p:sp>
      <p:sp>
        <p:nvSpPr>
          <p:cNvPr id="113" name="Google Shape;113;p12"/>
          <p:cNvSpPr/>
          <p:nvPr/>
        </p:nvSpPr>
        <p:spPr>
          <a:xfrm>
            <a:off x="4663440" y="2514600"/>
            <a:ext cx="4069080" cy="1417320"/>
          </a:xfrm>
          <a:prstGeom prst="roundRect">
            <a:avLst>
              <a:gd fmla="val 516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2"/>
          <p:cNvSpPr/>
          <p:nvPr/>
        </p:nvSpPr>
        <p:spPr>
          <a:xfrm>
            <a:off x="4663440" y="251460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Trap 2: Waiving the ETF</a:t>
            </a:r>
            <a:endParaRPr b="0" i="0" sz="1050" u="none" cap="none" strike="noStrike">
              <a:solidFill>
                <a:schemeClr val="dk1"/>
              </a:solidFill>
              <a:latin typeface="Calibri"/>
              <a:ea typeface="Calibri"/>
              <a:cs typeface="Calibri"/>
              <a:sym typeface="Calibri"/>
            </a:endParaRPr>
          </a:p>
        </p:txBody>
      </p:sp>
      <p:sp>
        <p:nvSpPr>
          <p:cNvPr id="115" name="Google Shape;115;p12"/>
          <p:cNvSpPr txBox="1"/>
          <p:nvPr/>
        </p:nvSpPr>
        <p:spPr>
          <a:xfrm>
            <a:off x="4828032" y="2953512"/>
            <a:ext cx="3739896" cy="9052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"The unused MFs already cover the ETF"</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Nothing unfair happened, and nothing is disputed</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It sets a precedent for customers who pay as agreed</a:t>
            </a:r>
            <a:endParaRPr b="0" i="0" sz="900" u="none" cap="none" strike="noStrike">
              <a:solidFill>
                <a:schemeClr val="dk1"/>
              </a:solidFill>
              <a:latin typeface="Calibri"/>
              <a:ea typeface="Calibri"/>
              <a:cs typeface="Calibri"/>
              <a:sym typeface="Calibri"/>
            </a:endParaRPr>
          </a:p>
        </p:txBody>
      </p:sp>
      <p:sp>
        <p:nvSpPr>
          <p:cNvPr id="116" name="Google Shape;116;p12"/>
          <p:cNvSpPr/>
          <p:nvPr/>
        </p:nvSpPr>
        <p:spPr>
          <a:xfrm>
            <a:off x="411480" y="406908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 name="Google Shape;117;p12"/>
          <p:cNvPicPr preferRelativeResize="0"/>
          <p:nvPr/>
        </p:nvPicPr>
        <p:blipFill rotWithShape="1">
          <a:blip r:embed="rId5">
            <a:alphaModFix/>
          </a:blip>
          <a:srcRect b="0" l="0" r="0" t="0"/>
          <a:stretch/>
        </p:blipFill>
        <p:spPr>
          <a:xfrm>
            <a:off x="566928" y="4178808"/>
            <a:ext cx="164592" cy="164592"/>
          </a:xfrm>
          <a:prstGeom prst="rect">
            <a:avLst/>
          </a:prstGeom>
          <a:noFill/>
          <a:ln>
            <a:noFill/>
          </a:ln>
        </p:spPr>
      </p:pic>
      <p:sp>
        <p:nvSpPr>
          <p:cNvPr id="118" name="Google Shape;118;p12"/>
          <p:cNvSpPr txBox="1"/>
          <p:nvPr/>
        </p:nvSpPr>
        <p:spPr>
          <a:xfrm>
            <a:off x="822960" y="406908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 sz="1000" u="none" cap="none" strike="noStrike">
                <a:solidFill>
                  <a:srgbClr val="B3261E"/>
                </a:solidFill>
                <a:latin typeface="Arial"/>
                <a:ea typeface="Arial"/>
                <a:cs typeface="Arial"/>
                <a:sym typeface="Arial"/>
              </a:rPr>
              <a:t>Don't waive the ETF:  </a:t>
            </a:r>
            <a:r>
              <a:rPr b="0" i="0" lang="en" sz="1000" u="none" cap="none" strike="noStrike">
                <a:solidFill>
                  <a:srgbClr val="1D1D1F"/>
                </a:solidFill>
                <a:latin typeface="Arial"/>
                <a:ea typeface="Arial"/>
                <a:cs typeface="Arial"/>
                <a:sym typeface="Arial"/>
              </a:rPr>
              <a:t>they're working within terms they already agreed to.</a:t>
            </a:r>
            <a:endParaRPr b="0" i="0" sz="1000" u="none" cap="none" strike="noStrike">
              <a:solidFill>
                <a:schemeClr val="dk1"/>
              </a:solidFill>
              <a:latin typeface="Calibri"/>
              <a:ea typeface="Calibri"/>
              <a:cs typeface="Calibri"/>
              <a:sym typeface="Calibri"/>
            </a:endParaRPr>
          </a:p>
        </p:txBody>
      </p:sp>
      <p:sp>
        <p:nvSpPr>
          <p:cNvPr id="119" name="Google Shape;119;p1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126" name="Google Shape;126;p1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They say it: "I'll cancel after my MCT"</a:t>
            </a:r>
            <a:endParaRPr b="0" i="0" sz="2400" u="none" cap="none" strike="noStrike">
              <a:solidFill>
                <a:schemeClr val="dk1"/>
              </a:solidFill>
              <a:latin typeface="Calibri"/>
              <a:ea typeface="Calibri"/>
              <a:cs typeface="Calibri"/>
              <a:sym typeface="Calibri"/>
            </a:endParaRPr>
          </a:p>
        </p:txBody>
      </p:sp>
      <p:sp>
        <p:nvSpPr>
          <p:cNvPr id="127" name="Google Shape;127;p1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Confirm their plan, set a TR, and keep the probe friendly.</a:t>
            </a:r>
            <a:endParaRPr b="0" i="0" sz="1200" u="none" cap="none" strike="noStrike">
              <a:solidFill>
                <a:schemeClr val="dk1"/>
              </a:solidFill>
              <a:latin typeface="Calibri"/>
              <a:ea typeface="Calibri"/>
              <a:cs typeface="Calibri"/>
              <a:sym typeface="Calibri"/>
            </a:endParaRPr>
          </a:p>
        </p:txBody>
      </p:sp>
      <p:sp>
        <p:nvSpPr>
          <p:cNvPr id="128" name="Google Shape;128;p13"/>
          <p:cNvSpPr/>
          <p:nvPr/>
        </p:nvSpPr>
        <p:spPr>
          <a:xfrm>
            <a:off x="411480" y="1325880"/>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3"/>
          <p:cNvSpPr/>
          <p:nvPr/>
        </p:nvSpPr>
        <p:spPr>
          <a:xfrm>
            <a:off x="539496" y="14630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3"/>
          <p:cNvSpPr txBox="1"/>
          <p:nvPr/>
        </p:nvSpPr>
        <p:spPr>
          <a:xfrm>
            <a:off x="539496" y="14630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31" name="Google Shape;131;p13"/>
          <p:cNvSpPr txBox="1"/>
          <p:nvPr/>
        </p:nvSpPr>
        <p:spPr>
          <a:xfrm>
            <a:off x="923544" y="1325880"/>
            <a:ext cx="3429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Don't mention the ETF.</a:t>
            </a:r>
            <a:r>
              <a:rPr b="0" i="0" lang="en" sz="950" u="none" cap="none" strike="noStrike">
                <a:solidFill>
                  <a:srgbClr val="6E6E73"/>
                </a:solidFill>
                <a:latin typeface="Arial"/>
                <a:ea typeface="Arial"/>
                <a:cs typeface="Arial"/>
                <a:sym typeface="Arial"/>
              </a:rPr>
              <a:t>  They already agreed to the term.</a:t>
            </a:r>
            <a:endParaRPr b="0" i="0" sz="950" u="none" cap="none" strike="noStrike">
              <a:solidFill>
                <a:schemeClr val="dk1"/>
              </a:solidFill>
              <a:latin typeface="Calibri"/>
              <a:ea typeface="Calibri"/>
              <a:cs typeface="Calibri"/>
              <a:sym typeface="Calibri"/>
            </a:endParaRPr>
          </a:p>
        </p:txBody>
      </p:sp>
      <p:sp>
        <p:nvSpPr>
          <p:cNvPr id="132" name="Google Shape;132;p13"/>
          <p:cNvSpPr/>
          <p:nvPr/>
        </p:nvSpPr>
        <p:spPr>
          <a:xfrm>
            <a:off x="411480" y="1947672"/>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3"/>
          <p:cNvSpPr/>
          <p:nvPr/>
        </p:nvSpPr>
        <p:spPr>
          <a:xfrm>
            <a:off x="539496" y="208483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13"/>
          <p:cNvSpPr txBox="1"/>
          <p:nvPr/>
        </p:nvSpPr>
        <p:spPr>
          <a:xfrm>
            <a:off x="539496" y="208483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35" name="Google Shape;135;p13"/>
          <p:cNvSpPr txBox="1"/>
          <p:nvPr/>
        </p:nvSpPr>
        <p:spPr>
          <a:xfrm>
            <a:off x="923544" y="1947672"/>
            <a:ext cx="3429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Acknowledge and confirm</a:t>
            </a:r>
            <a:r>
              <a:rPr b="0" i="0" lang="en" sz="950" u="none" cap="none" strike="noStrike">
                <a:solidFill>
                  <a:srgbClr val="6E6E73"/>
                </a:solidFill>
                <a:latin typeface="Arial"/>
                <a:ea typeface="Arial"/>
                <a:cs typeface="Arial"/>
                <a:sym typeface="Arial"/>
              </a:rPr>
              <a:t>  their plan to finish the term.</a:t>
            </a:r>
            <a:endParaRPr b="0" i="0" sz="950" u="none" cap="none" strike="noStrike">
              <a:solidFill>
                <a:schemeClr val="dk1"/>
              </a:solidFill>
              <a:latin typeface="Calibri"/>
              <a:ea typeface="Calibri"/>
              <a:cs typeface="Calibri"/>
              <a:sym typeface="Calibri"/>
            </a:endParaRPr>
          </a:p>
        </p:txBody>
      </p:sp>
      <p:sp>
        <p:nvSpPr>
          <p:cNvPr id="136" name="Google Shape;136;p13"/>
          <p:cNvSpPr/>
          <p:nvPr/>
        </p:nvSpPr>
        <p:spPr>
          <a:xfrm>
            <a:off x="411480" y="2569464"/>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3"/>
          <p:cNvSpPr/>
          <p:nvPr/>
        </p:nvSpPr>
        <p:spPr>
          <a:xfrm>
            <a:off x="539496" y="27066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3"/>
          <p:cNvSpPr txBox="1"/>
          <p:nvPr/>
        </p:nvSpPr>
        <p:spPr>
          <a:xfrm>
            <a:off x="539496" y="27066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39" name="Google Shape;139;p13"/>
          <p:cNvSpPr txBox="1"/>
          <p:nvPr/>
        </p:nvSpPr>
        <p:spPr>
          <a:xfrm>
            <a:off x="923544" y="2569464"/>
            <a:ext cx="3429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Set a TR:</a:t>
            </a:r>
            <a:r>
              <a:rPr b="0" i="0" lang="en" sz="950" u="none" cap="none" strike="noStrike">
                <a:solidFill>
                  <a:srgbClr val="6E6E73"/>
                </a:solidFill>
                <a:latin typeface="Arial"/>
                <a:ea typeface="Arial"/>
                <a:cs typeface="Arial"/>
                <a:sym typeface="Arial"/>
              </a:rPr>
              <a:t>  the day after the MF that fulfills the MCT is charged.</a:t>
            </a:r>
            <a:endParaRPr b="0" i="0" sz="950" u="none" cap="none" strike="noStrike">
              <a:solidFill>
                <a:schemeClr val="dk1"/>
              </a:solidFill>
              <a:latin typeface="Calibri"/>
              <a:ea typeface="Calibri"/>
              <a:cs typeface="Calibri"/>
              <a:sym typeface="Calibri"/>
            </a:endParaRPr>
          </a:p>
        </p:txBody>
      </p:sp>
      <p:sp>
        <p:nvSpPr>
          <p:cNvPr id="140" name="Google Shape;140;p13"/>
          <p:cNvSpPr/>
          <p:nvPr/>
        </p:nvSpPr>
        <p:spPr>
          <a:xfrm>
            <a:off x="411480" y="3191256"/>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3"/>
          <p:cNvSpPr/>
          <p:nvPr/>
        </p:nvSpPr>
        <p:spPr>
          <a:xfrm>
            <a:off x="539496" y="332841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3"/>
          <p:cNvSpPr txBox="1"/>
          <p:nvPr/>
        </p:nvSpPr>
        <p:spPr>
          <a:xfrm>
            <a:off x="539496" y="332841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43" name="Google Shape;143;p13"/>
          <p:cNvSpPr txBox="1"/>
          <p:nvPr/>
        </p:nvSpPr>
        <p:spPr>
          <a:xfrm>
            <a:off x="923544" y="3191256"/>
            <a:ext cx="3429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Advise:</a:t>
            </a:r>
            <a:r>
              <a:rPr b="0" i="0" lang="en" sz="950" u="none" cap="none" strike="noStrike">
                <a:solidFill>
                  <a:srgbClr val="6E6E73"/>
                </a:solidFill>
                <a:latin typeface="Arial"/>
                <a:ea typeface="Arial"/>
                <a:cs typeface="Arial"/>
                <a:sym typeface="Arial"/>
              </a:rPr>
              <a:t>  "We've noted your request and will follow up once your MCT is fulfilled."</a:t>
            </a:r>
            <a:endParaRPr b="0" i="0" sz="950" u="none" cap="none" strike="noStrike">
              <a:solidFill>
                <a:schemeClr val="dk1"/>
              </a:solidFill>
              <a:latin typeface="Calibri"/>
              <a:ea typeface="Calibri"/>
              <a:cs typeface="Calibri"/>
              <a:sym typeface="Calibri"/>
            </a:endParaRPr>
          </a:p>
        </p:txBody>
      </p:sp>
      <p:sp>
        <p:nvSpPr>
          <p:cNvPr id="144" name="Google Shape;144;p13"/>
          <p:cNvSpPr/>
          <p:nvPr/>
        </p:nvSpPr>
        <p:spPr>
          <a:xfrm>
            <a:off x="411480" y="3813048"/>
            <a:ext cx="4069080" cy="548640"/>
          </a:xfrm>
          <a:prstGeom prst="roundRect">
            <a:avLst>
              <a:gd fmla="val 1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3"/>
          <p:cNvSpPr/>
          <p:nvPr/>
        </p:nvSpPr>
        <p:spPr>
          <a:xfrm>
            <a:off x="539496" y="39502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3"/>
          <p:cNvSpPr txBox="1"/>
          <p:nvPr/>
        </p:nvSpPr>
        <p:spPr>
          <a:xfrm>
            <a:off x="539496" y="39502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147" name="Google Shape;147;p13"/>
          <p:cNvSpPr txBox="1"/>
          <p:nvPr/>
        </p:nvSpPr>
        <p:spPr>
          <a:xfrm>
            <a:off x="923544" y="3813048"/>
            <a:ext cx="3429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Still probe, kindly.</a:t>
            </a:r>
            <a:r>
              <a:rPr b="0" i="0" lang="en" sz="950" u="none" cap="none" strike="noStrike">
                <a:solidFill>
                  <a:srgbClr val="6E6E73"/>
                </a:solidFill>
                <a:latin typeface="Arial"/>
                <a:ea typeface="Arial"/>
                <a:cs typeface="Arial"/>
                <a:sym typeface="Arial"/>
              </a:rPr>
              <a:t>  Not a cancellation interview.</a:t>
            </a:r>
            <a:endParaRPr b="0" i="0" sz="950" u="none" cap="none" strike="noStrike">
              <a:solidFill>
                <a:schemeClr val="dk1"/>
              </a:solidFill>
              <a:latin typeface="Calibri"/>
              <a:ea typeface="Calibri"/>
              <a:cs typeface="Calibri"/>
              <a:sym typeface="Calibri"/>
            </a:endParaRPr>
          </a:p>
        </p:txBody>
      </p:sp>
      <p:sp>
        <p:nvSpPr>
          <p:cNvPr id="148" name="Google Shape;148;p13"/>
          <p:cNvSpPr/>
          <p:nvPr/>
        </p:nvSpPr>
        <p:spPr>
          <a:xfrm>
            <a:off x="4663440" y="1325880"/>
            <a:ext cx="4069080" cy="1097280"/>
          </a:xfrm>
          <a:prstGeom prst="roundRect">
            <a:avLst>
              <a:gd fmla="val 6667" name="adj"/>
            </a:avLst>
          </a:prstGeom>
          <a:solidFill>
            <a:srgbClr val="F6F7F9"/>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3"/>
          <p:cNvSpPr txBox="1"/>
          <p:nvPr/>
        </p:nvSpPr>
        <p:spPr>
          <a:xfrm>
            <a:off x="4809744" y="1325880"/>
            <a:ext cx="3776472"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50"/>
              <a:buFont typeface="Play"/>
              <a:buNone/>
            </a:pPr>
            <a:r>
              <a:rPr b="1" i="0" lang="en" sz="750" u="none" cap="none" strike="noStrike">
                <a:solidFill>
                  <a:srgbClr val="6E6E73"/>
                </a:solidFill>
                <a:latin typeface="Play"/>
                <a:ea typeface="Play"/>
                <a:cs typeface="Play"/>
                <a:sym typeface="Play"/>
              </a:rPr>
              <a:t>CUSTOMER</a:t>
            </a:r>
            <a:endParaRPr b="0" i="0" sz="750" u="none" cap="none" strike="noStrike">
              <a:solidFill>
                <a:schemeClr val="dk1"/>
              </a:solidFill>
              <a:latin typeface="Calibri"/>
              <a:ea typeface="Calibri"/>
              <a:cs typeface="Calibri"/>
              <a:sym typeface="Calibri"/>
            </a:endParaRPr>
          </a:p>
          <a:p>
            <a:pPr indent="0" lvl="0" marL="0" marR="0" rtl="0" algn="l">
              <a:lnSpc>
                <a:spcPct val="100000"/>
              </a:lnSpc>
              <a:spcBef>
                <a:spcPts val="20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“I would like to cancel my membership. The agent who signed me up said she would allow me to cancel in 4 months without penalty. I would like to cancel in the 4th month without penalty as promised.”</a:t>
            </a:r>
            <a:endParaRPr b="0" i="0" sz="750" u="none" cap="none" strike="noStrike">
              <a:solidFill>
                <a:schemeClr val="dk1"/>
              </a:solidFill>
              <a:latin typeface="Calibri"/>
              <a:ea typeface="Calibri"/>
              <a:cs typeface="Calibri"/>
              <a:sym typeface="Calibri"/>
            </a:endParaRPr>
          </a:p>
        </p:txBody>
      </p:sp>
      <p:sp>
        <p:nvSpPr>
          <p:cNvPr id="150" name="Google Shape;150;p13"/>
          <p:cNvSpPr/>
          <p:nvPr/>
        </p:nvSpPr>
        <p:spPr>
          <a:xfrm>
            <a:off x="4663440" y="2560320"/>
            <a:ext cx="4069080" cy="1874520"/>
          </a:xfrm>
          <a:prstGeom prst="roundRect">
            <a:avLst>
              <a:gd fmla="val 39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3"/>
          <p:cNvSpPr/>
          <p:nvPr/>
        </p:nvSpPr>
        <p:spPr>
          <a:xfrm>
            <a:off x="4663440" y="2633472"/>
            <a:ext cx="45720" cy="172821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3"/>
          <p:cNvSpPr txBox="1"/>
          <p:nvPr/>
        </p:nvSpPr>
        <p:spPr>
          <a:xfrm>
            <a:off x="4846320" y="2560320"/>
            <a:ext cx="3749040" cy="1874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SAMPLE PROBE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 sz="1000" u="none" cap="none" strike="noStrike">
                <a:solidFill>
                  <a:srgbClr val="1D1D1F"/>
                </a:solidFill>
                <a:latin typeface="Arial"/>
                <a:ea typeface="Arial"/>
                <a:cs typeface="Arial"/>
                <a:sym typeface="Arial"/>
              </a:rPr>
              <a:t>“Got it! We can definitely note that for you. Since you're still early in your membership and just planning ahead, can I ask what's making you feel you may not want to continue after the six months? And how was your cleaning with &lt;&lt;cleaner name&gt;&gt;?”</a:t>
            </a:r>
            <a:endParaRPr b="0" i="0" sz="1000" u="none" cap="none" strike="noStrike">
              <a:solidFill>
                <a:schemeClr val="dk1"/>
              </a:solidFill>
              <a:latin typeface="Calibri"/>
              <a:ea typeface="Calibri"/>
              <a:cs typeface="Calibri"/>
              <a:sym typeface="Calibri"/>
            </a:endParaRPr>
          </a:p>
        </p:txBody>
      </p:sp>
      <p:sp>
        <p:nvSpPr>
          <p:cNvPr id="153" name="Google Shape;153;p1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160" name="Google Shape;160;p1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One more retention attempt? (optional)</a:t>
            </a:r>
            <a:endParaRPr b="0" i="0" sz="2400" u="none" cap="none" strike="noStrike">
              <a:solidFill>
                <a:schemeClr val="dk1"/>
              </a:solidFill>
              <a:latin typeface="Calibri"/>
              <a:ea typeface="Calibri"/>
              <a:cs typeface="Calibri"/>
              <a:sym typeface="Calibri"/>
            </a:endParaRPr>
          </a:p>
        </p:txBody>
      </p:sp>
      <p:sp>
        <p:nvSpPr>
          <p:cNvPr id="161" name="Google Shape;161;p1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Worth a try, as long as nothing gets waived.</a:t>
            </a:r>
            <a:endParaRPr b="0" i="0" sz="1200" u="none" cap="none" strike="noStrike">
              <a:solidFill>
                <a:schemeClr val="dk1"/>
              </a:solidFill>
              <a:latin typeface="Calibri"/>
              <a:ea typeface="Calibri"/>
              <a:cs typeface="Calibri"/>
              <a:sym typeface="Calibri"/>
            </a:endParaRPr>
          </a:p>
        </p:txBody>
      </p:sp>
      <p:sp>
        <p:nvSpPr>
          <p:cNvPr id="162" name="Google Shape;162;p14"/>
          <p:cNvSpPr/>
          <p:nvPr/>
        </p:nvSpPr>
        <p:spPr>
          <a:xfrm>
            <a:off x="411480" y="1325880"/>
            <a:ext cx="4069080" cy="1828800"/>
          </a:xfrm>
          <a:prstGeom prst="roundRect">
            <a:avLst>
              <a:gd fmla="val 4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4"/>
          <p:cNvSpPr/>
          <p:nvPr/>
        </p:nvSpPr>
        <p:spPr>
          <a:xfrm>
            <a:off x="411480" y="1399032"/>
            <a:ext cx="45720" cy="168249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4"/>
          <p:cNvSpPr txBox="1"/>
          <p:nvPr/>
        </p:nvSpPr>
        <p:spPr>
          <a:xfrm>
            <a:off x="594360" y="1325880"/>
            <a:ext cx="3749040" cy="18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NEW CLEANER + $20 CREDIT</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 sz="1000" u="none" cap="none" strike="noStrike">
                <a:solidFill>
                  <a:srgbClr val="1D1D1F"/>
                </a:solidFill>
                <a:latin typeface="Arial"/>
                <a:ea typeface="Arial"/>
                <a:cs typeface="Arial"/>
                <a:sym typeface="Arial"/>
              </a:rPr>
              <a:t>“I'll make a note in the system to cancel your membership once your MCT is fulfilled... I know I'm pushing my luck here, but I'd really love to give you a better experience. I can book you with a new cleaner and even apply a $20 credit toward that job.”</a:t>
            </a:r>
            <a:endParaRPr b="0" i="0" sz="1000" u="none" cap="none" strike="noStrike">
              <a:solidFill>
                <a:schemeClr val="dk1"/>
              </a:solidFill>
              <a:latin typeface="Calibri"/>
              <a:ea typeface="Calibri"/>
              <a:cs typeface="Calibri"/>
              <a:sym typeface="Calibri"/>
            </a:endParaRPr>
          </a:p>
        </p:txBody>
      </p:sp>
      <p:sp>
        <p:nvSpPr>
          <p:cNvPr id="165" name="Google Shape;165;p14"/>
          <p:cNvSpPr/>
          <p:nvPr/>
        </p:nvSpPr>
        <p:spPr>
          <a:xfrm>
            <a:off x="4663440" y="1325880"/>
            <a:ext cx="4069080" cy="1828800"/>
          </a:xfrm>
          <a:prstGeom prst="roundRect">
            <a:avLst>
              <a:gd fmla="val 4000"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4"/>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Close to MCT and frustrated?</a:t>
            </a:r>
            <a:endParaRPr b="0" i="0" sz="1050" u="none" cap="none" strike="noStrike">
              <a:solidFill>
                <a:schemeClr val="dk1"/>
              </a:solidFill>
              <a:latin typeface="Calibri"/>
              <a:ea typeface="Calibri"/>
              <a:cs typeface="Calibri"/>
              <a:sym typeface="Calibri"/>
            </a:endParaRPr>
          </a:p>
        </p:txBody>
      </p:sp>
      <p:sp>
        <p:nvSpPr>
          <p:cNvPr id="167" name="Google Shape;167;p14"/>
          <p:cNvSpPr txBox="1"/>
          <p:nvPr/>
        </p:nvSpPr>
        <p:spPr>
          <a:xfrm>
            <a:off x="4828032" y="1764792"/>
            <a:ext cx="3739896" cy="13167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Offer to charge the remaining month(s) now</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Then cancel right away</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De-escalates without waiving anything: they still pay what they owe, just faster</a:t>
            </a:r>
            <a:endParaRPr b="0" i="0" sz="950" u="none" cap="none" strike="noStrike">
              <a:solidFill>
                <a:srgbClr val="1D1D1F"/>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50"/>
              <a:buFont typeface="Arial"/>
              <a:buNone/>
            </a:pPr>
            <a:r>
              <a:t/>
            </a:r>
            <a:endParaRPr b="0" i="0" sz="950" u="none" cap="none" strike="noStrike">
              <a:solidFill>
                <a:srgbClr val="1D1D1F"/>
              </a:solidFill>
              <a:latin typeface="Arial"/>
              <a:ea typeface="Arial"/>
              <a:cs typeface="Arial"/>
              <a:sym typeface="Arial"/>
            </a:endParaRPr>
          </a:p>
          <a:p>
            <a:pPr indent="457200" lvl="0" marL="0" marR="0" rtl="0" algn="l">
              <a:lnSpc>
                <a:spcPct val="100000"/>
              </a:lnSpc>
              <a:spcBef>
                <a:spcPts val="400"/>
              </a:spcBef>
              <a:spcAft>
                <a:spcPts val="0"/>
              </a:spcAft>
              <a:buClr>
                <a:srgbClr val="000000"/>
              </a:buClr>
              <a:buSzPts val="950"/>
              <a:buFont typeface="Arial"/>
              <a:buNone/>
            </a:pPr>
            <a:r>
              <a:rPr b="1" i="0" lang="en" sz="950" u="sng" cap="none" strike="noStrike">
                <a:solidFill>
                  <a:schemeClr val="hlink"/>
                </a:solidFill>
                <a:latin typeface="Arial"/>
                <a:ea typeface="Arial"/>
                <a:cs typeface="Arial"/>
                <a:sym typeface="Arial"/>
                <a:hlinkClick r:id="rId3"/>
              </a:rPr>
              <a:t>How to create a manual charge </a:t>
            </a:r>
            <a:r>
              <a:rPr b="1" i="0" lang="en" sz="1000" u="sng" cap="none" strike="noStrike">
                <a:solidFill>
                  <a:schemeClr val="hlink"/>
                </a:solidFill>
                <a:latin typeface="Courier New"/>
                <a:ea typeface="Courier New"/>
                <a:cs typeface="Courier New"/>
                <a:sym typeface="Courier New"/>
                <a:hlinkClick r:id="rId4"/>
              </a:rPr>
              <a:t>⏯</a:t>
            </a:r>
            <a:r>
              <a:rPr b="1" i="0" lang="en" sz="1200" u="sng" cap="none" strike="noStrike">
                <a:solidFill>
                  <a:schemeClr val="hlink"/>
                </a:solidFill>
                <a:highlight>
                  <a:srgbClr val="FCFCFC"/>
                </a:highlight>
                <a:latin typeface="Arial"/>
                <a:ea typeface="Arial"/>
                <a:cs typeface="Arial"/>
                <a:sym typeface="Arial"/>
                <a:hlinkClick r:id="rId5"/>
              </a:rPr>
              <a:t> </a:t>
            </a:r>
            <a:endParaRPr b="1" i="0" sz="950" u="none" cap="none" strike="noStrike">
              <a:solidFill>
                <a:srgbClr val="0B7A6F"/>
              </a:solidFill>
              <a:latin typeface="Arial"/>
              <a:ea typeface="Arial"/>
              <a:cs typeface="Arial"/>
              <a:sym typeface="Arial"/>
            </a:endParaRPr>
          </a:p>
        </p:txBody>
      </p:sp>
      <p:sp>
        <p:nvSpPr>
          <p:cNvPr id="168" name="Google Shape;168;p14"/>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9" name="Google Shape;169;p14"/>
          <p:cNvPicPr preferRelativeResize="0"/>
          <p:nvPr/>
        </p:nvPicPr>
        <p:blipFill rotWithShape="1">
          <a:blip r:embed="rId6">
            <a:alphaModFix/>
          </a:blip>
          <a:srcRect b="0" l="0" r="0" t="0"/>
          <a:stretch/>
        </p:blipFill>
        <p:spPr>
          <a:xfrm>
            <a:off x="566928" y="3447288"/>
            <a:ext cx="164592" cy="164592"/>
          </a:xfrm>
          <a:prstGeom prst="rect">
            <a:avLst/>
          </a:prstGeom>
          <a:noFill/>
          <a:ln>
            <a:noFill/>
          </a:ln>
        </p:spPr>
      </p:pic>
      <p:sp>
        <p:nvSpPr>
          <p:cNvPr id="170" name="Google Shape;170;p14"/>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Manual charges:  </a:t>
            </a:r>
            <a:r>
              <a:rPr b="0" i="0" lang="en" sz="1000" u="none" cap="none" strike="noStrike">
                <a:solidFill>
                  <a:srgbClr val="1D1D1F"/>
                </a:solidFill>
                <a:latin typeface="Arial"/>
                <a:ea typeface="Arial"/>
                <a:cs typeface="Arial"/>
                <a:sym typeface="Arial"/>
              </a:rPr>
              <a:t>see the Notion article PG - Creating Manual Charges.</a:t>
            </a:r>
            <a:endParaRPr b="0" i="0" sz="1000" u="none" cap="none" strike="noStrike">
              <a:solidFill>
                <a:schemeClr val="dk1"/>
              </a:solidFill>
              <a:latin typeface="Calibri"/>
              <a:ea typeface="Calibri"/>
              <a:cs typeface="Calibri"/>
              <a:sym typeface="Calibri"/>
            </a:endParaRPr>
          </a:p>
        </p:txBody>
      </p:sp>
      <p:sp>
        <p:nvSpPr>
          <p:cNvPr id="171" name="Google Shape;171;p1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KEEP MCT</a:t>
            </a:r>
            <a:endParaRPr b="0" i="0" sz="800" u="none" cap="none" strike="noStrike">
              <a:solidFill>
                <a:schemeClr val="dk1"/>
              </a:solidFill>
              <a:latin typeface="Calibri"/>
              <a:ea typeface="Calibri"/>
              <a:cs typeface="Calibri"/>
              <a:sym typeface="Calibri"/>
            </a:endParaRPr>
          </a:p>
        </p:txBody>
      </p:sp>
      <p:sp>
        <p:nvSpPr>
          <p:cNvPr id="178" name="Google Shape;178;p1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When the TR triggers</a:t>
            </a:r>
            <a:endParaRPr b="0" i="0" sz="2400" u="none" cap="none" strike="noStrike">
              <a:solidFill>
                <a:schemeClr val="dk1"/>
              </a:solidFill>
              <a:latin typeface="Calibri"/>
              <a:ea typeface="Calibri"/>
              <a:cs typeface="Calibri"/>
              <a:sym typeface="Calibri"/>
            </a:endParaRPr>
          </a:p>
        </p:txBody>
      </p:sp>
      <p:sp>
        <p:nvSpPr>
          <p:cNvPr id="179" name="Google Shape;179;p1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First check: did C book again after you set the reminder?</a:t>
            </a:r>
            <a:endParaRPr b="0" i="0" sz="1200" u="none" cap="none" strike="noStrike">
              <a:solidFill>
                <a:schemeClr val="dk1"/>
              </a:solidFill>
              <a:latin typeface="Calibri"/>
              <a:ea typeface="Calibri"/>
              <a:cs typeface="Calibri"/>
              <a:sym typeface="Calibri"/>
            </a:endParaRPr>
          </a:p>
        </p:txBody>
      </p:sp>
      <p:sp>
        <p:nvSpPr>
          <p:cNvPr id="180" name="Google Shape;180;p15"/>
          <p:cNvSpPr/>
          <p:nvPr/>
        </p:nvSpPr>
        <p:spPr>
          <a:xfrm>
            <a:off x="3200400" y="1298448"/>
            <a:ext cx="2743200" cy="457200"/>
          </a:xfrm>
          <a:prstGeom prst="roundRect">
            <a:avLst>
              <a:gd fmla="val 16000"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5"/>
          <p:cNvSpPr txBox="1"/>
          <p:nvPr/>
        </p:nvSpPr>
        <p:spPr>
          <a:xfrm>
            <a:off x="3200400" y="1298448"/>
            <a:ext cx="2743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 sz="1000" u="none" cap="none" strike="noStrike">
                <a:solidFill>
                  <a:srgbClr val="9A6410"/>
                </a:solidFill>
                <a:latin typeface="Play"/>
                <a:ea typeface="Play"/>
                <a:cs typeface="Play"/>
                <a:sym typeface="Play"/>
              </a:rPr>
              <a:t>Did C book again?</a:t>
            </a:r>
            <a:endParaRPr b="0" i="0" sz="1000" u="none" cap="none" strike="noStrike">
              <a:solidFill>
                <a:schemeClr val="dk1"/>
              </a:solidFill>
              <a:latin typeface="Calibri"/>
              <a:ea typeface="Calibri"/>
              <a:cs typeface="Calibri"/>
              <a:sym typeface="Calibri"/>
            </a:endParaRPr>
          </a:p>
        </p:txBody>
      </p:sp>
      <p:cxnSp>
        <p:nvCxnSpPr>
          <p:cNvPr id="182" name="Google Shape;182;p15"/>
          <p:cNvCxnSpPr/>
          <p:nvPr/>
        </p:nvCxnSpPr>
        <p:spPr>
          <a:xfrm>
            <a:off x="4572000" y="1755648"/>
            <a:ext cx="0" cy="182880"/>
          </a:xfrm>
          <a:prstGeom prst="straightConnector1">
            <a:avLst/>
          </a:prstGeom>
          <a:noFill/>
          <a:ln cap="flat" cmpd="sng" w="12700">
            <a:solidFill>
              <a:srgbClr val="6E6E73"/>
            </a:solidFill>
            <a:prstDash val="solid"/>
            <a:round/>
            <a:headEnd len="sm" w="sm" type="none"/>
            <a:tailEnd len="sm" w="sm" type="none"/>
          </a:ln>
        </p:spPr>
      </p:cxnSp>
      <p:cxnSp>
        <p:nvCxnSpPr>
          <p:cNvPr id="183" name="Google Shape;183;p15"/>
          <p:cNvCxnSpPr/>
          <p:nvPr/>
        </p:nvCxnSpPr>
        <p:spPr>
          <a:xfrm>
            <a:off x="2446020" y="1938528"/>
            <a:ext cx="4251960" cy="0"/>
          </a:xfrm>
          <a:prstGeom prst="straightConnector1">
            <a:avLst/>
          </a:prstGeom>
          <a:noFill/>
          <a:ln cap="flat" cmpd="sng" w="12700">
            <a:solidFill>
              <a:srgbClr val="6E6E73"/>
            </a:solidFill>
            <a:prstDash val="solid"/>
            <a:round/>
            <a:headEnd len="sm" w="sm" type="none"/>
            <a:tailEnd len="sm" w="sm" type="none"/>
          </a:ln>
        </p:spPr>
      </p:cxnSp>
      <p:cxnSp>
        <p:nvCxnSpPr>
          <p:cNvPr id="184" name="Google Shape;184;p15"/>
          <p:cNvCxnSpPr/>
          <p:nvPr/>
        </p:nvCxnSpPr>
        <p:spPr>
          <a:xfrm>
            <a:off x="2446020" y="1938528"/>
            <a:ext cx="0" cy="210312"/>
          </a:xfrm>
          <a:prstGeom prst="straightConnector1">
            <a:avLst/>
          </a:prstGeom>
          <a:noFill/>
          <a:ln cap="flat" cmpd="sng" w="12700">
            <a:solidFill>
              <a:srgbClr val="6E6E73"/>
            </a:solidFill>
            <a:prstDash val="solid"/>
            <a:round/>
            <a:headEnd len="sm" w="sm" type="none"/>
            <a:tailEnd len="med" w="med" type="triangle"/>
          </a:ln>
        </p:spPr>
      </p:cxnSp>
      <p:cxnSp>
        <p:nvCxnSpPr>
          <p:cNvPr id="185" name="Google Shape;185;p15"/>
          <p:cNvCxnSpPr/>
          <p:nvPr/>
        </p:nvCxnSpPr>
        <p:spPr>
          <a:xfrm>
            <a:off x="6697980" y="1938528"/>
            <a:ext cx="0" cy="210312"/>
          </a:xfrm>
          <a:prstGeom prst="straightConnector1">
            <a:avLst/>
          </a:prstGeom>
          <a:noFill/>
          <a:ln cap="flat" cmpd="sng" w="12700">
            <a:solidFill>
              <a:srgbClr val="6E6E73"/>
            </a:solidFill>
            <a:prstDash val="solid"/>
            <a:round/>
            <a:headEnd len="sm" w="sm" type="none"/>
            <a:tailEnd len="med" w="med" type="triangle"/>
          </a:ln>
        </p:spPr>
      </p:cxnSp>
      <p:sp>
        <p:nvSpPr>
          <p:cNvPr id="186" name="Google Shape;186;p15"/>
          <p:cNvSpPr txBox="1"/>
          <p:nvPr/>
        </p:nvSpPr>
        <p:spPr>
          <a:xfrm>
            <a:off x="2519172" y="1956816"/>
            <a:ext cx="548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50"/>
              <a:buFont typeface="Arial"/>
              <a:buNone/>
            </a:pPr>
            <a:r>
              <a:rPr b="1" i="0" lang="en" sz="850" u="none" cap="none" strike="noStrike">
                <a:solidFill>
                  <a:srgbClr val="6E6E73"/>
                </a:solidFill>
                <a:latin typeface="Arial"/>
                <a:ea typeface="Arial"/>
                <a:cs typeface="Arial"/>
                <a:sym typeface="Arial"/>
              </a:rPr>
              <a:t>No</a:t>
            </a:r>
            <a:endParaRPr b="0" i="0" sz="850" u="none" cap="none" strike="noStrike">
              <a:solidFill>
                <a:schemeClr val="dk1"/>
              </a:solidFill>
              <a:latin typeface="Calibri"/>
              <a:ea typeface="Calibri"/>
              <a:cs typeface="Calibri"/>
              <a:sym typeface="Calibri"/>
            </a:endParaRPr>
          </a:p>
        </p:txBody>
      </p:sp>
      <p:sp>
        <p:nvSpPr>
          <p:cNvPr id="187" name="Google Shape;187;p15"/>
          <p:cNvSpPr txBox="1"/>
          <p:nvPr/>
        </p:nvSpPr>
        <p:spPr>
          <a:xfrm>
            <a:off x="6771132" y="1956816"/>
            <a:ext cx="548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50"/>
              <a:buFont typeface="Arial"/>
              <a:buNone/>
            </a:pPr>
            <a:r>
              <a:rPr b="1" i="0" lang="en" sz="850" u="none" cap="none" strike="noStrike">
                <a:solidFill>
                  <a:srgbClr val="6E6E73"/>
                </a:solidFill>
                <a:latin typeface="Arial"/>
                <a:ea typeface="Arial"/>
                <a:cs typeface="Arial"/>
                <a:sym typeface="Arial"/>
              </a:rPr>
              <a:t>Yes</a:t>
            </a:r>
            <a:endParaRPr b="0" i="0" sz="850" u="none" cap="none" strike="noStrike">
              <a:solidFill>
                <a:schemeClr val="dk1"/>
              </a:solidFill>
              <a:latin typeface="Calibri"/>
              <a:ea typeface="Calibri"/>
              <a:cs typeface="Calibri"/>
              <a:sym typeface="Calibri"/>
            </a:endParaRPr>
          </a:p>
        </p:txBody>
      </p:sp>
      <p:sp>
        <p:nvSpPr>
          <p:cNvPr id="188" name="Google Shape;188;p15"/>
          <p:cNvSpPr/>
          <p:nvPr/>
        </p:nvSpPr>
        <p:spPr>
          <a:xfrm>
            <a:off x="411480" y="2148840"/>
            <a:ext cx="4069080" cy="1600200"/>
          </a:xfrm>
          <a:prstGeom prst="roundRect">
            <a:avLst>
              <a:gd fmla="val 457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5"/>
          <p:cNvSpPr/>
          <p:nvPr/>
        </p:nvSpPr>
        <p:spPr>
          <a:xfrm>
            <a:off x="411480" y="214884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No: they waited it out</a:t>
            </a:r>
            <a:endParaRPr b="0" i="0" sz="1050" u="none" cap="none" strike="noStrike">
              <a:solidFill>
                <a:schemeClr val="dk1"/>
              </a:solidFill>
              <a:latin typeface="Calibri"/>
              <a:ea typeface="Calibri"/>
              <a:cs typeface="Calibri"/>
              <a:sym typeface="Calibri"/>
            </a:endParaRPr>
          </a:p>
        </p:txBody>
      </p:sp>
      <p:sp>
        <p:nvSpPr>
          <p:cNvPr id="190" name="Google Shape;190;p15"/>
          <p:cNvSpPr txBox="1"/>
          <p:nvPr/>
        </p:nvSpPr>
        <p:spPr>
          <a:xfrm>
            <a:off x="576072" y="2587752"/>
            <a:ext cx="3739896" cy="1088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Proactively cancel the membership</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Send a message confirming it's closed</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They meant to leave once the term was up</a:t>
            </a:r>
            <a:endParaRPr b="0" i="0" sz="950" u="none" cap="none" strike="noStrike">
              <a:solidFill>
                <a:schemeClr val="dk1"/>
              </a:solidFill>
              <a:latin typeface="Calibri"/>
              <a:ea typeface="Calibri"/>
              <a:cs typeface="Calibri"/>
              <a:sym typeface="Calibri"/>
            </a:endParaRPr>
          </a:p>
        </p:txBody>
      </p:sp>
      <p:sp>
        <p:nvSpPr>
          <p:cNvPr id="191" name="Google Shape;191;p15"/>
          <p:cNvSpPr/>
          <p:nvPr/>
        </p:nvSpPr>
        <p:spPr>
          <a:xfrm>
            <a:off x="4663440" y="2148840"/>
            <a:ext cx="4069080" cy="1600200"/>
          </a:xfrm>
          <a:prstGeom prst="roundRect">
            <a:avLst>
              <a:gd fmla="val 4571"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5"/>
          <p:cNvSpPr/>
          <p:nvPr/>
        </p:nvSpPr>
        <p:spPr>
          <a:xfrm>
            <a:off x="4663440" y="214884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Yes: they used it again</a:t>
            </a:r>
            <a:endParaRPr b="0" i="0" sz="1050" u="none" cap="none" strike="noStrike">
              <a:solidFill>
                <a:schemeClr val="dk1"/>
              </a:solidFill>
              <a:latin typeface="Calibri"/>
              <a:ea typeface="Calibri"/>
              <a:cs typeface="Calibri"/>
              <a:sym typeface="Calibri"/>
            </a:endParaRPr>
          </a:p>
        </p:txBody>
      </p:sp>
      <p:sp>
        <p:nvSpPr>
          <p:cNvPr id="193" name="Google Shape;193;p15"/>
          <p:cNvSpPr txBox="1"/>
          <p:nvPr/>
        </p:nvSpPr>
        <p:spPr>
          <a:xfrm>
            <a:off x="4828032" y="2587752"/>
            <a:ext cx="3739896" cy="1088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Reach out: do they still want to cancel?</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New TR at least 3 days before the next MF</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Continued use is a real retainability signal</a:t>
            </a:r>
            <a:endParaRPr b="0" i="0" sz="950" u="none" cap="none" strike="noStrike">
              <a:solidFill>
                <a:schemeClr val="dk1"/>
              </a:solidFill>
              <a:latin typeface="Calibri"/>
              <a:ea typeface="Calibri"/>
              <a:cs typeface="Calibri"/>
              <a:sym typeface="Calibri"/>
            </a:endParaRPr>
          </a:p>
        </p:txBody>
      </p:sp>
      <p:sp>
        <p:nvSpPr>
          <p:cNvPr id="194" name="Google Shape;194;p15"/>
          <p:cNvSpPr/>
          <p:nvPr/>
        </p:nvSpPr>
        <p:spPr>
          <a:xfrm>
            <a:off x="411480" y="39319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5" name="Google Shape;195;p15"/>
          <p:cNvPicPr preferRelativeResize="0"/>
          <p:nvPr/>
        </p:nvPicPr>
        <p:blipFill rotWithShape="1">
          <a:blip r:embed="rId3">
            <a:alphaModFix/>
          </a:blip>
          <a:srcRect b="0" l="0" r="0" t="0"/>
          <a:stretch/>
        </p:blipFill>
        <p:spPr>
          <a:xfrm>
            <a:off x="566928" y="4041648"/>
            <a:ext cx="164592" cy="164592"/>
          </a:xfrm>
          <a:prstGeom prst="rect">
            <a:avLst/>
          </a:prstGeom>
          <a:noFill/>
          <a:ln>
            <a:noFill/>
          </a:ln>
        </p:spPr>
      </p:pic>
      <p:sp>
        <p:nvSpPr>
          <p:cNvPr id="196" name="Google Shape;196;p15"/>
          <p:cNvSpPr txBox="1"/>
          <p:nvPr/>
        </p:nvSpPr>
        <p:spPr>
          <a:xfrm>
            <a:off x="822960" y="40325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Reminder:  </a:t>
            </a:r>
            <a:r>
              <a:rPr b="0" i="0" lang="en" sz="1000" u="none" cap="none" strike="noStrike">
                <a:solidFill>
                  <a:srgbClr val="1D1D1F"/>
                </a:solidFill>
                <a:latin typeface="Arial"/>
                <a:ea typeface="Arial"/>
                <a:cs typeface="Arial"/>
                <a:sym typeface="Arial"/>
              </a:rPr>
              <a:t>no ETF applies. Confirm no more MFs will be charged unless they agree to continue.</a:t>
            </a:r>
            <a:endParaRPr b="0" i="0" sz="1000" u="none" cap="none" strike="noStrike">
              <a:solidFill>
                <a:schemeClr val="dk1"/>
              </a:solidFill>
              <a:latin typeface="Calibri"/>
              <a:ea typeface="Calibri"/>
              <a:cs typeface="Calibri"/>
              <a:sym typeface="Calibri"/>
            </a:endParaRPr>
          </a:p>
        </p:txBody>
      </p:sp>
      <p:sp>
        <p:nvSpPr>
          <p:cNvPr id="197" name="Google Shape;197;p1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KEEP MCT  ·  KNOWLEDGE CHECK</a:t>
            </a:r>
            <a:endParaRPr b="0" i="0" sz="800" u="none" cap="none" strike="noStrike">
              <a:solidFill>
                <a:schemeClr val="dk1"/>
              </a:solidFill>
              <a:latin typeface="Calibri"/>
              <a:ea typeface="Calibri"/>
              <a:cs typeface="Calibri"/>
              <a:sym typeface="Calibri"/>
            </a:endParaRPr>
          </a:p>
        </p:txBody>
      </p:sp>
      <p:sp>
        <p:nvSpPr>
          <p:cNvPr id="204" name="Google Shape;204;p1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Let’s See What You’ve Got!</a:t>
            </a:r>
            <a:endParaRPr b="0" i="0" sz="2400" u="none" cap="none" strike="noStrike">
              <a:solidFill>
                <a:schemeClr val="dk1"/>
              </a:solidFill>
              <a:latin typeface="Calibri"/>
              <a:ea typeface="Calibri"/>
              <a:cs typeface="Calibri"/>
              <a:sym typeface="Calibri"/>
            </a:endParaRPr>
          </a:p>
        </p:txBody>
      </p:sp>
      <p:sp>
        <p:nvSpPr>
          <p:cNvPr id="205" name="Google Shape;205;p16"/>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6"/>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6"/>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208" name="Google Shape;208;p16"/>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C: "I'll cancel once my 6 months are up." Do you remind them about the ETF?</a:t>
            </a:r>
            <a:endParaRPr b="0" i="0" sz="1000" u="none" cap="none" strike="noStrike">
              <a:solidFill>
                <a:schemeClr val="dk1"/>
              </a:solidFill>
              <a:latin typeface="Calibri"/>
              <a:ea typeface="Calibri"/>
              <a:cs typeface="Calibri"/>
              <a:sym typeface="Calibri"/>
            </a:endParaRPr>
          </a:p>
        </p:txBody>
      </p:sp>
      <p:sp>
        <p:nvSpPr>
          <p:cNvPr id="209" name="Google Shape;209;p16"/>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6"/>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No. They already agreed to finish the term. Confirm, set a TR, probe kindly.</a:t>
            </a:r>
            <a:endParaRPr b="0" i="0" sz="900" u="none" cap="none" strike="noStrike">
              <a:solidFill>
                <a:schemeClr val="dk1"/>
              </a:solidFill>
              <a:latin typeface="Calibri"/>
              <a:ea typeface="Calibri"/>
              <a:cs typeface="Calibri"/>
              <a:sym typeface="Calibri"/>
            </a:endParaRPr>
          </a:p>
        </p:txBody>
      </p:sp>
      <p:sp>
        <p:nvSpPr>
          <p:cNvPr id="211" name="Google Shape;211;p16"/>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6"/>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6"/>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214" name="Google Shape;214;p16"/>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When should that Timed Reminder be set for?</a:t>
            </a:r>
            <a:endParaRPr b="0" i="0" sz="1000" u="none" cap="none" strike="noStrike">
              <a:solidFill>
                <a:schemeClr val="dk1"/>
              </a:solidFill>
              <a:latin typeface="Calibri"/>
              <a:ea typeface="Calibri"/>
              <a:cs typeface="Calibri"/>
              <a:sym typeface="Calibri"/>
            </a:endParaRPr>
          </a:p>
        </p:txBody>
      </p:sp>
      <p:sp>
        <p:nvSpPr>
          <p:cNvPr id="215" name="Google Shape;215;p16"/>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6"/>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The day after the MF that fulfills the MCT is charged.</a:t>
            </a:r>
            <a:endParaRPr b="0" i="0" sz="900" u="none" cap="none" strike="noStrike">
              <a:solidFill>
                <a:schemeClr val="dk1"/>
              </a:solidFill>
              <a:latin typeface="Calibri"/>
              <a:ea typeface="Calibri"/>
              <a:cs typeface="Calibri"/>
              <a:sym typeface="Calibri"/>
            </a:endParaRPr>
          </a:p>
        </p:txBody>
      </p:sp>
      <p:sp>
        <p:nvSpPr>
          <p:cNvPr id="217" name="Google Shape;217;p16"/>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6"/>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6"/>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220" name="Google Shape;220;p16"/>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No bookings, 4 paid MFs, ETF $105. Waive it, since they've paid enough?</a:t>
            </a:r>
            <a:endParaRPr b="0" i="0" sz="1000" u="none" cap="none" strike="noStrike">
              <a:solidFill>
                <a:schemeClr val="dk1"/>
              </a:solidFill>
              <a:latin typeface="Calibri"/>
              <a:ea typeface="Calibri"/>
              <a:cs typeface="Calibri"/>
              <a:sym typeface="Calibri"/>
            </a:endParaRPr>
          </a:p>
        </p:txBody>
      </p:sp>
      <p:sp>
        <p:nvSpPr>
          <p:cNvPr id="221" name="Google Shape;221;p16"/>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6"/>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No. Nothing unfair happened; they're working within terms they agreed to.</a:t>
            </a:r>
            <a:endParaRPr b="0" i="0" sz="900" u="none" cap="none" strike="noStrike">
              <a:solidFill>
                <a:schemeClr val="dk1"/>
              </a:solidFill>
              <a:latin typeface="Calibri"/>
              <a:ea typeface="Calibri"/>
              <a:cs typeface="Calibri"/>
              <a:sym typeface="Calibri"/>
            </a:endParaRPr>
          </a:p>
        </p:txBody>
      </p:sp>
      <p:sp>
        <p:nvSpPr>
          <p:cNvPr id="223" name="Google Shape;223;p16"/>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6"/>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6"/>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226" name="Google Shape;226;p16"/>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The TR triggers and C booked again during the term. What now?</a:t>
            </a:r>
            <a:endParaRPr b="0" i="0" sz="1000" u="none" cap="none" strike="noStrike">
              <a:solidFill>
                <a:schemeClr val="dk1"/>
              </a:solidFill>
              <a:latin typeface="Calibri"/>
              <a:ea typeface="Calibri"/>
              <a:cs typeface="Calibri"/>
              <a:sym typeface="Calibri"/>
            </a:endParaRPr>
          </a:p>
        </p:txBody>
      </p:sp>
      <p:sp>
        <p:nvSpPr>
          <p:cNvPr id="227" name="Google Shape;227;p16"/>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6"/>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Reach out to confirm they still want to cancel; new TR at least 3 days before the next MF.</a:t>
            </a:r>
            <a:endParaRPr b="0" i="0" sz="900" u="none" cap="none" strike="noStrike">
              <a:solidFill>
                <a:schemeClr val="dk1"/>
              </a:solidFill>
              <a:latin typeface="Calibri"/>
              <a:ea typeface="Calibri"/>
              <a:cs typeface="Calibri"/>
              <a:sym typeface="Calibri"/>
            </a:endParaRPr>
          </a:p>
        </p:txBody>
      </p:sp>
      <p:sp>
        <p:nvSpPr>
          <p:cNvPr id="229" name="Google Shape;229;p1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600"/>
                                        <p:tgtEl>
                                          <p:spTgt spid="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600"/>
                                        <p:tgtEl>
                                          <p:spTgt spid="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6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6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235" name="Google Shape;235;p17"/>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236" name="Google Shape;236;p17"/>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237" name="Google Shape;237;p17"/>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7"/>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239" name="Google Shape;239;p17"/>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240" name="Google Shape;240;p17"/>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7"/>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7"/>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7"/>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7"/>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7"/>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7"/>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02</a:t>
            </a:r>
            <a:endParaRPr b="0" i="0" sz="800" u="none" cap="none" strike="noStrike">
              <a:solidFill>
                <a:schemeClr val="dk1"/>
              </a:solidFill>
              <a:latin typeface="Calibri"/>
              <a:ea typeface="Calibri"/>
              <a:cs typeface="Calibri"/>
              <a:sym typeface="Calibri"/>
            </a:endParaRPr>
          </a:p>
        </p:txBody>
      </p:sp>
      <p:sp>
        <p:nvSpPr>
          <p:cNvPr id="252" name="Google Shape;252;p1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Biohazard or Unsanitary Home</a:t>
            </a:r>
            <a:endParaRPr b="0" i="0" sz="2800" u="none" cap="none" strike="noStrike">
              <a:solidFill>
                <a:schemeClr val="dk1"/>
              </a:solidFill>
              <a:latin typeface="Calibri"/>
              <a:ea typeface="Calibri"/>
              <a:cs typeface="Calibri"/>
              <a:sym typeface="Calibri"/>
            </a:endParaRPr>
          </a:p>
        </p:txBody>
      </p:sp>
      <p:sp>
        <p:nvSpPr>
          <p:cNvPr id="253" name="Google Shape;253;p1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When a CP reports the customer's home as biohazardous or unsanitary: the customer-side steps after a CP-side agent has validated the report.</a:t>
            </a:r>
            <a:endParaRPr b="0" i="0" sz="1150" u="none" cap="none" strike="noStrike">
              <a:solidFill>
                <a:schemeClr val="dk1"/>
              </a:solidFill>
              <a:latin typeface="Calibri"/>
              <a:ea typeface="Calibri"/>
              <a:cs typeface="Calibri"/>
              <a:sym typeface="Calibri"/>
            </a:endParaRPr>
          </a:p>
        </p:txBody>
      </p:sp>
      <p:sp>
        <p:nvSpPr>
          <p:cNvPr id="254" name="Google Shape;254;p1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255" name="Google Shape;255;p1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6" name="Google Shape;256;p1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257" name="Google Shape;257;p1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counts</a:t>
            </a:r>
            <a:endParaRPr b="0" i="0" sz="1050" u="none" cap="none" strike="noStrike">
              <a:solidFill>
                <a:schemeClr val="dk1"/>
              </a:solidFill>
              <a:latin typeface="Calibri"/>
              <a:ea typeface="Calibri"/>
              <a:cs typeface="Calibri"/>
              <a:sym typeface="Calibri"/>
            </a:endParaRPr>
          </a:p>
        </p:txBody>
      </p:sp>
      <p:sp>
        <p:nvSpPr>
          <p:cNvPr id="258" name="Google Shape;258;p1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9" name="Google Shape;259;p1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260" name="Google Shape;260;p1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1st response: warning</a:t>
            </a:r>
            <a:endParaRPr b="0" i="0" sz="1050" u="none" cap="none" strike="noStrike">
              <a:solidFill>
                <a:schemeClr val="dk1"/>
              </a:solidFill>
              <a:latin typeface="Calibri"/>
              <a:ea typeface="Calibri"/>
              <a:cs typeface="Calibri"/>
              <a:sym typeface="Calibri"/>
            </a:endParaRPr>
          </a:p>
        </p:txBody>
      </p:sp>
      <p:sp>
        <p:nvSpPr>
          <p:cNvPr id="261" name="Google Shape;261;p1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2" name="Google Shape;262;p1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263" name="Google Shape;263;p1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2nd response: evaluation</a:t>
            </a:r>
            <a:endParaRPr b="0" i="0" sz="1050" u="none" cap="none" strike="noStrike">
              <a:solidFill>
                <a:schemeClr val="dk1"/>
              </a:solidFill>
              <a:latin typeface="Calibri"/>
              <a:ea typeface="Calibri"/>
              <a:cs typeface="Calibri"/>
              <a:sym typeface="Calibri"/>
            </a:endParaRPr>
          </a:p>
        </p:txBody>
      </p:sp>
      <p:sp>
        <p:nvSpPr>
          <p:cNvPr id="264" name="Google Shape;264;p18"/>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5" name="Google Shape;265;p18"/>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266" name="Google Shape;266;p18"/>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Refunds and outcomes</a:t>
            </a:r>
            <a:endParaRPr b="0" i="0" sz="1050" u="none" cap="none" strike="noStrike">
              <a:solidFill>
                <a:schemeClr val="dk1"/>
              </a:solidFill>
              <a:latin typeface="Calibri"/>
              <a:ea typeface="Calibri"/>
              <a:cs typeface="Calibri"/>
              <a:sym typeface="Calibri"/>
            </a:endParaRPr>
          </a:p>
        </p:txBody>
      </p:sp>
      <p:sp>
        <p:nvSpPr>
          <p:cNvPr id="267" name="Google Shape;267;p1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269" name="Google Shape;269;p18"/>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270" name="Google Shape;270;p1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OR UNSANITARY HOME</a:t>
            </a:r>
            <a:endParaRPr b="0" i="0" sz="800" u="none" cap="none" strike="noStrike">
              <a:solidFill>
                <a:schemeClr val="dk1"/>
              </a:solidFill>
              <a:latin typeface="Calibri"/>
              <a:ea typeface="Calibri"/>
              <a:cs typeface="Calibri"/>
              <a:sym typeface="Calibri"/>
            </a:endParaRPr>
          </a:p>
        </p:txBody>
      </p:sp>
      <p:sp>
        <p:nvSpPr>
          <p:cNvPr id="282" name="Google Shape;282;p1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283" name="Google Shape;283;p1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Customer-side action only. The CP-side investigation already happened.</a:t>
            </a:r>
            <a:endParaRPr b="0" i="0" sz="1200" u="none" cap="none" strike="noStrike">
              <a:solidFill>
                <a:schemeClr val="dk1"/>
              </a:solidFill>
              <a:latin typeface="Calibri"/>
              <a:ea typeface="Calibri"/>
              <a:cs typeface="Calibri"/>
              <a:sym typeface="Calibri"/>
            </a:endParaRPr>
          </a:p>
        </p:txBody>
      </p:sp>
      <p:sp>
        <p:nvSpPr>
          <p:cNvPr id="284" name="Google Shape;284;p19"/>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6" name="Google Shape;286;p1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87" name="Google Shape;287;p1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Only after validation</a:t>
            </a:r>
            <a:endParaRPr b="0" i="0" sz="1200" u="none" cap="none" strike="noStrike">
              <a:solidFill>
                <a:schemeClr val="dk1"/>
              </a:solidFill>
              <a:latin typeface="Calibri"/>
              <a:ea typeface="Calibri"/>
              <a:cs typeface="Calibri"/>
              <a:sym typeface="Calibri"/>
            </a:endParaRPr>
          </a:p>
        </p:txBody>
      </p:sp>
      <p:sp>
        <p:nvSpPr>
          <p:cNvPr id="288" name="Google Shape;288;p19"/>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Apply this only if a CP-side agent already created the action item. The Bilingual team has validated the CP's evidence.</a:t>
            </a:r>
            <a:endParaRPr b="0" i="0" sz="950" u="none" cap="none" strike="noStrike">
              <a:solidFill>
                <a:schemeClr val="dk1"/>
              </a:solidFill>
              <a:latin typeface="Calibri"/>
              <a:ea typeface="Calibri"/>
              <a:cs typeface="Calibri"/>
              <a:sym typeface="Calibri"/>
            </a:endParaRPr>
          </a:p>
        </p:txBody>
      </p:sp>
      <p:sp>
        <p:nvSpPr>
          <p:cNvPr id="289" name="Google Shape;289;p19"/>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1" name="Google Shape;291;p1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92" name="Google Shape;292;p1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Safety, but supportive</a:t>
            </a:r>
            <a:endParaRPr b="0" i="0" sz="1200" u="none" cap="none" strike="noStrike">
              <a:solidFill>
                <a:schemeClr val="dk1"/>
              </a:solidFill>
              <a:latin typeface="Calibri"/>
              <a:ea typeface="Calibri"/>
              <a:cs typeface="Calibri"/>
              <a:sym typeface="Calibri"/>
            </a:endParaRPr>
          </a:p>
        </p:txBody>
      </p:sp>
      <p:sp>
        <p:nvSpPr>
          <p:cNvPr id="293" name="Google Shape;293;p19"/>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CP shouldn't work in a hazard, but the customer isn't necessarily malicious. Tone is "let's help you fix this", not punishment.</a:t>
            </a:r>
            <a:endParaRPr b="0" i="0" sz="950" u="none" cap="none" strike="noStrike">
              <a:solidFill>
                <a:schemeClr val="dk1"/>
              </a:solidFill>
              <a:latin typeface="Calibri"/>
              <a:ea typeface="Calibri"/>
              <a:cs typeface="Calibri"/>
              <a:sym typeface="Calibri"/>
            </a:endParaRPr>
          </a:p>
        </p:txBody>
      </p:sp>
      <p:sp>
        <p:nvSpPr>
          <p:cNvPr id="294" name="Google Shape;294;p19"/>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6" name="Google Shape;296;p1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97" name="Google Shape;297;p1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Same for DHJ and FCF</a:t>
            </a:r>
            <a:endParaRPr b="0" i="0" sz="1200" u="none" cap="none" strike="noStrike">
              <a:solidFill>
                <a:schemeClr val="dk1"/>
              </a:solidFill>
              <a:latin typeface="Calibri"/>
              <a:ea typeface="Calibri"/>
              <a:cs typeface="Calibri"/>
              <a:sym typeface="Calibri"/>
            </a:endParaRPr>
          </a:p>
        </p:txBody>
      </p:sp>
      <p:sp>
        <p:nvSpPr>
          <p:cNvPr id="298" name="Google Shape;298;p19"/>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only difference is refund mechanics, since FCF is charged even with zero completed jobs.</a:t>
            </a:r>
            <a:endParaRPr b="0" i="0" sz="950" u="none" cap="none" strike="noStrike">
              <a:solidFill>
                <a:schemeClr val="dk1"/>
              </a:solidFill>
              <a:latin typeface="Calibri"/>
              <a:ea typeface="Calibri"/>
              <a:cs typeface="Calibri"/>
              <a:sym typeface="Calibri"/>
            </a:endParaRPr>
          </a:p>
        </p:txBody>
      </p:sp>
      <p:sp>
        <p:nvSpPr>
          <p:cNvPr id="299" name="Google Shape;299;p19"/>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0" name="Google Shape;300;p19"/>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301" name="Google Shape;301;p19"/>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Sequence matters:</a:t>
            </a:r>
            <a:r>
              <a:rPr b="0" i="0" lang="en" sz="1000" u="none" cap="none" strike="noStrike">
                <a:solidFill>
                  <a:srgbClr val="1D1D1F"/>
                </a:solidFill>
                <a:latin typeface="Arial"/>
                <a:ea typeface="Arial"/>
                <a:cs typeface="Arial"/>
                <a:sym typeface="Arial"/>
              </a:rPr>
              <a:t>don't cancel FC and waive the ETF before giving the customer a chance to resolve it.</a:t>
            </a:r>
            <a:endParaRPr b="0" i="0" sz="1000" u="none" cap="none" strike="noStrike">
              <a:solidFill>
                <a:schemeClr val="dk1"/>
              </a:solidFill>
              <a:latin typeface="Calibri"/>
              <a:ea typeface="Calibri"/>
              <a:cs typeface="Calibri"/>
              <a:sym typeface="Calibri"/>
            </a:endParaRPr>
          </a:p>
        </p:txBody>
      </p:sp>
      <p:sp>
        <p:nvSpPr>
          <p:cNvPr id="302" name="Google Shape;302;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309" name="Google Shape;309;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counts?</a:t>
            </a:r>
            <a:endParaRPr b="0" i="0" sz="2400" u="none" cap="none" strike="noStrike">
              <a:solidFill>
                <a:schemeClr val="dk1"/>
              </a:solidFill>
              <a:latin typeface="Calibri"/>
              <a:ea typeface="Calibri"/>
              <a:cs typeface="Calibri"/>
              <a:sym typeface="Calibri"/>
            </a:endParaRPr>
          </a:p>
        </p:txBody>
      </p:sp>
      <p:sp>
        <p:nvSpPr>
          <p:cNvPr id="310" name="Google Shape;310;p2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It has to be excessive and a direct risk to the CP.</a:t>
            </a:r>
            <a:endParaRPr b="0" i="0" sz="1200" u="none" cap="none" strike="noStrike">
              <a:solidFill>
                <a:schemeClr val="dk1"/>
              </a:solidFill>
              <a:latin typeface="Calibri"/>
              <a:ea typeface="Calibri"/>
              <a:cs typeface="Calibri"/>
              <a:sym typeface="Calibri"/>
            </a:endParaRPr>
          </a:p>
        </p:txBody>
      </p:sp>
      <p:sp>
        <p:nvSpPr>
          <p:cNvPr id="311" name="Google Shape;311;p20"/>
          <p:cNvSpPr/>
          <p:nvPr/>
        </p:nvSpPr>
        <p:spPr>
          <a:xfrm>
            <a:off x="411480" y="1325880"/>
            <a:ext cx="4069080" cy="1737360"/>
          </a:xfrm>
          <a:prstGeom prst="roundRect">
            <a:avLst>
              <a:gd fmla="val 4211"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0"/>
          <p:cNvSpPr/>
          <p:nvPr/>
        </p:nvSpPr>
        <p:spPr>
          <a:xfrm>
            <a:off x="411480" y="132588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Biohazard</a:t>
            </a:r>
            <a:endParaRPr b="0" i="0" sz="1050" u="none" cap="none" strike="noStrike">
              <a:solidFill>
                <a:schemeClr val="dk1"/>
              </a:solidFill>
              <a:latin typeface="Calibri"/>
              <a:ea typeface="Calibri"/>
              <a:cs typeface="Calibri"/>
              <a:sym typeface="Calibri"/>
            </a:endParaRPr>
          </a:p>
        </p:txBody>
      </p:sp>
      <p:sp>
        <p:nvSpPr>
          <p:cNvPr id="313" name="Google Shape;313;p20"/>
          <p:cNvSpPr txBox="1"/>
          <p:nvPr/>
        </p:nvSpPr>
        <p:spPr>
          <a:xfrm>
            <a:off x="576072" y="1764792"/>
            <a:ext cx="3739896" cy="122529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Human or animal waste, bodily fluids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Mold infestations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Hazardous materials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Vermin or insect infestations</a:t>
            </a:r>
            <a:endParaRPr b="0" i="0" sz="950" u="none" cap="none" strike="noStrike">
              <a:solidFill>
                <a:schemeClr val="dk1"/>
              </a:solidFill>
              <a:latin typeface="Calibri"/>
              <a:ea typeface="Calibri"/>
              <a:cs typeface="Calibri"/>
              <a:sym typeface="Calibri"/>
            </a:endParaRPr>
          </a:p>
        </p:txBody>
      </p:sp>
      <p:sp>
        <p:nvSpPr>
          <p:cNvPr id="314" name="Google Shape;314;p20"/>
          <p:cNvSpPr/>
          <p:nvPr/>
        </p:nvSpPr>
        <p:spPr>
          <a:xfrm>
            <a:off x="4663440" y="1325880"/>
            <a:ext cx="4069080" cy="1737360"/>
          </a:xfrm>
          <a:prstGeom prst="roundRect">
            <a:avLst>
              <a:gd fmla="val 4211"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0"/>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Hoarder</a:t>
            </a:r>
            <a:endParaRPr b="0" i="0" sz="1050" u="none" cap="none" strike="noStrike">
              <a:solidFill>
                <a:schemeClr val="dk1"/>
              </a:solidFill>
              <a:latin typeface="Calibri"/>
              <a:ea typeface="Calibri"/>
              <a:cs typeface="Calibri"/>
              <a:sym typeface="Calibri"/>
            </a:endParaRPr>
          </a:p>
        </p:txBody>
      </p:sp>
      <p:sp>
        <p:nvSpPr>
          <p:cNvPr id="316" name="Google Shape;316;p20"/>
          <p:cNvSpPr txBox="1"/>
          <p:nvPr/>
        </p:nvSpPr>
        <p:spPr>
          <a:xfrm>
            <a:off x="4828032" y="1764792"/>
            <a:ext cx="3739896" cy="122529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Clutter that blocks the kitchen, bathroom or exits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Clutter that creates fire, structural or unsanitary hazards</a:t>
            </a:r>
            <a:endParaRPr b="0" i="0" sz="950" u="none" cap="none" strike="noStrike">
              <a:solidFill>
                <a:schemeClr val="dk1"/>
              </a:solidFill>
              <a:latin typeface="Calibri"/>
              <a:ea typeface="Calibri"/>
              <a:cs typeface="Calibri"/>
              <a:sym typeface="Calibri"/>
            </a:endParaRPr>
          </a:p>
        </p:txBody>
      </p:sp>
      <p:sp>
        <p:nvSpPr>
          <p:cNvPr id="317" name="Google Shape;317;p20"/>
          <p:cNvSpPr/>
          <p:nvPr/>
        </p:nvSpPr>
        <p:spPr>
          <a:xfrm>
            <a:off x="411480" y="3200400"/>
            <a:ext cx="4069080" cy="384048"/>
          </a:xfrm>
          <a:prstGeom prst="roundRect">
            <a:avLst>
              <a:gd fmla="val 19048"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1" i="0" lang="en" sz="900" u="none" cap="none" strike="noStrike">
                <a:solidFill>
                  <a:srgbClr val="6E6E73"/>
                </a:solidFill>
                <a:latin typeface="Arial"/>
                <a:ea typeface="Arial"/>
                <a:cs typeface="Arial"/>
                <a:sym typeface="Arial"/>
              </a:rPr>
              <a:t>✕  Doesn't count: normal shower mold, bugs that don't stop the CP</a:t>
            </a:r>
            <a:endParaRPr b="0" i="0" sz="900" u="none" cap="none" strike="noStrike">
              <a:solidFill>
                <a:schemeClr val="dk1"/>
              </a:solidFill>
              <a:latin typeface="Calibri"/>
              <a:ea typeface="Calibri"/>
              <a:cs typeface="Calibri"/>
              <a:sym typeface="Calibri"/>
            </a:endParaRPr>
          </a:p>
        </p:txBody>
      </p:sp>
      <p:sp>
        <p:nvSpPr>
          <p:cNvPr id="318" name="Google Shape;318;p20"/>
          <p:cNvSpPr/>
          <p:nvPr/>
        </p:nvSpPr>
        <p:spPr>
          <a:xfrm>
            <a:off x="4663440" y="3200400"/>
            <a:ext cx="4069080" cy="384048"/>
          </a:xfrm>
          <a:prstGeom prst="roundRect">
            <a:avLst>
              <a:gd fmla="val 19048"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1" i="0" lang="en" sz="900" u="none" cap="none" strike="noStrike">
                <a:solidFill>
                  <a:srgbClr val="6E6E73"/>
                </a:solidFill>
                <a:latin typeface="Arial"/>
                <a:ea typeface="Arial"/>
                <a:cs typeface="Arial"/>
                <a:sym typeface="Arial"/>
              </a:rPr>
              <a:t>✕  Doesn't count: general clutter that doesn't affect cleaning</a:t>
            </a:r>
            <a:endParaRPr b="0" i="0" sz="900" u="none" cap="none" strike="noStrike">
              <a:solidFill>
                <a:schemeClr val="dk1"/>
              </a:solidFill>
              <a:latin typeface="Calibri"/>
              <a:ea typeface="Calibri"/>
              <a:cs typeface="Calibri"/>
              <a:sym typeface="Calibri"/>
            </a:endParaRPr>
          </a:p>
        </p:txBody>
      </p:sp>
      <p:sp>
        <p:nvSpPr>
          <p:cNvPr id="319" name="Google Shape;319;p20"/>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0" name="Google Shape;320;p20"/>
          <p:cNvPicPr preferRelativeResize="0"/>
          <p:nvPr/>
        </p:nvPicPr>
        <p:blipFill rotWithShape="1">
          <a:blip r:embed="rId3">
            <a:alphaModFix/>
          </a:blip>
          <a:srcRect b="0" l="0" r="0" t="0"/>
          <a:stretch/>
        </p:blipFill>
        <p:spPr>
          <a:xfrm>
            <a:off x="566928" y="3904488"/>
            <a:ext cx="164592" cy="164592"/>
          </a:xfrm>
          <a:prstGeom prst="rect">
            <a:avLst/>
          </a:prstGeom>
          <a:noFill/>
          <a:ln>
            <a:noFill/>
          </a:ln>
        </p:spPr>
      </p:pic>
      <p:sp>
        <p:nvSpPr>
          <p:cNvPr id="321" name="Google Shape;321;p20"/>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Rule of thumb:  </a:t>
            </a:r>
            <a:r>
              <a:rPr b="0" i="0" lang="en" sz="1000" u="none" cap="none" strike="noStrike">
                <a:solidFill>
                  <a:srgbClr val="1D1D1F"/>
                </a:solidFill>
                <a:latin typeface="Arial"/>
                <a:ea typeface="Arial"/>
                <a:cs typeface="Arial"/>
                <a:sym typeface="Arial"/>
              </a:rPr>
              <a:t>excessive, and a direct risk to the CP.</a:t>
            </a:r>
            <a:endParaRPr b="0" i="0" sz="1000" u="none" cap="none" strike="noStrike">
              <a:solidFill>
                <a:schemeClr val="dk1"/>
              </a:solidFill>
              <a:latin typeface="Calibri"/>
              <a:ea typeface="Calibri"/>
              <a:cs typeface="Calibri"/>
              <a:sym typeface="Calibri"/>
            </a:endParaRPr>
          </a:p>
        </p:txBody>
      </p:sp>
      <p:sp>
        <p:nvSpPr>
          <p:cNvPr id="322" name="Google Shape;322;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329" name="Google Shape;329;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Before it reaches you</a:t>
            </a:r>
            <a:endParaRPr b="0" i="0" sz="2400" u="none" cap="none" strike="noStrike">
              <a:solidFill>
                <a:schemeClr val="dk1"/>
              </a:solidFill>
              <a:latin typeface="Calibri"/>
              <a:ea typeface="Calibri"/>
              <a:cs typeface="Calibri"/>
              <a:sym typeface="Calibri"/>
            </a:endParaRPr>
          </a:p>
        </p:txBody>
      </p:sp>
      <p:sp>
        <p:nvSpPr>
          <p:cNvPr id="330" name="Google Shape;330;p2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CP-side Bilingual agent has already done this. Background only.</a:t>
            </a:r>
            <a:endParaRPr b="0" i="0" sz="1200" u="none" cap="none" strike="noStrike">
              <a:solidFill>
                <a:schemeClr val="dk1"/>
              </a:solidFill>
              <a:latin typeface="Calibri"/>
              <a:ea typeface="Calibri"/>
              <a:cs typeface="Calibri"/>
              <a:sym typeface="Calibri"/>
            </a:endParaRPr>
          </a:p>
        </p:txBody>
      </p:sp>
      <p:sp>
        <p:nvSpPr>
          <p:cNvPr id="331" name="Google Shape;331;p21"/>
          <p:cNvSpPr/>
          <p:nvPr/>
        </p:nvSpPr>
        <p:spPr>
          <a:xfrm>
            <a:off x="41148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1"/>
          <p:cNvSpPr/>
          <p:nvPr/>
        </p:nvSpPr>
        <p:spPr>
          <a:xfrm>
            <a:off x="52120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1"/>
          <p:cNvSpPr txBox="1"/>
          <p:nvPr/>
        </p:nvSpPr>
        <p:spPr>
          <a:xfrm>
            <a:off x="521208"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334" name="Google Shape;334;p21"/>
          <p:cNvSpPr txBox="1"/>
          <p:nvPr/>
        </p:nvSpPr>
        <p:spPr>
          <a:xfrm>
            <a:off x="886968" y="1325880"/>
            <a:ext cx="142875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Escalated</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the CP's report</a:t>
            </a:r>
            <a:endParaRPr b="0" i="0" sz="950" u="none" cap="none" strike="noStrike">
              <a:solidFill>
                <a:schemeClr val="dk1"/>
              </a:solidFill>
              <a:latin typeface="Calibri"/>
              <a:ea typeface="Calibri"/>
              <a:cs typeface="Calibri"/>
              <a:sym typeface="Calibri"/>
            </a:endParaRPr>
          </a:p>
        </p:txBody>
      </p:sp>
      <p:cxnSp>
        <p:nvCxnSpPr>
          <p:cNvPr id="335" name="Google Shape;335;p21"/>
          <p:cNvCxnSpPr/>
          <p:nvPr/>
        </p:nvCxnSpPr>
        <p:spPr>
          <a:xfrm>
            <a:off x="2388870" y="1691640"/>
            <a:ext cx="137160" cy="0"/>
          </a:xfrm>
          <a:prstGeom prst="straightConnector1">
            <a:avLst/>
          </a:prstGeom>
          <a:noFill/>
          <a:ln cap="flat" cmpd="sng" w="12700">
            <a:solidFill>
              <a:srgbClr val="6E6E73"/>
            </a:solidFill>
            <a:prstDash val="solid"/>
            <a:round/>
            <a:headEnd len="sm" w="sm" type="none"/>
            <a:tailEnd len="med" w="med" type="triangle"/>
          </a:ln>
        </p:spPr>
      </p:cxnSp>
      <p:sp>
        <p:nvSpPr>
          <p:cNvPr id="336" name="Google Shape;336;p21"/>
          <p:cNvSpPr/>
          <p:nvPr/>
        </p:nvSpPr>
        <p:spPr>
          <a:xfrm>
            <a:off x="252603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1"/>
          <p:cNvSpPr/>
          <p:nvPr/>
        </p:nvSpPr>
        <p:spPr>
          <a:xfrm>
            <a:off x="263575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1"/>
          <p:cNvSpPr txBox="1"/>
          <p:nvPr/>
        </p:nvSpPr>
        <p:spPr>
          <a:xfrm>
            <a:off x="2635758"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339" name="Google Shape;339;p21"/>
          <p:cNvSpPr txBox="1"/>
          <p:nvPr/>
        </p:nvSpPr>
        <p:spPr>
          <a:xfrm>
            <a:off x="3001518" y="1325880"/>
            <a:ext cx="142875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Requested evidence</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photos/videos (72-hr TR if missing)</a:t>
            </a:r>
            <a:endParaRPr b="0" i="0" sz="950" u="none" cap="none" strike="noStrike">
              <a:solidFill>
                <a:schemeClr val="dk1"/>
              </a:solidFill>
              <a:latin typeface="Calibri"/>
              <a:ea typeface="Calibri"/>
              <a:cs typeface="Calibri"/>
              <a:sym typeface="Calibri"/>
            </a:endParaRPr>
          </a:p>
        </p:txBody>
      </p:sp>
      <p:cxnSp>
        <p:nvCxnSpPr>
          <p:cNvPr id="340" name="Google Shape;340;p21"/>
          <p:cNvCxnSpPr/>
          <p:nvPr/>
        </p:nvCxnSpPr>
        <p:spPr>
          <a:xfrm>
            <a:off x="4503420" y="1691640"/>
            <a:ext cx="137160" cy="0"/>
          </a:xfrm>
          <a:prstGeom prst="straightConnector1">
            <a:avLst/>
          </a:prstGeom>
          <a:noFill/>
          <a:ln cap="flat" cmpd="sng" w="12700">
            <a:solidFill>
              <a:srgbClr val="6E6E73"/>
            </a:solidFill>
            <a:prstDash val="solid"/>
            <a:round/>
            <a:headEnd len="sm" w="sm" type="none"/>
            <a:tailEnd len="med" w="med" type="triangle"/>
          </a:ln>
        </p:spPr>
      </p:cxnSp>
      <p:sp>
        <p:nvSpPr>
          <p:cNvPr id="341" name="Google Shape;341;p21"/>
          <p:cNvSpPr/>
          <p:nvPr/>
        </p:nvSpPr>
        <p:spPr>
          <a:xfrm>
            <a:off x="464058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1"/>
          <p:cNvSpPr/>
          <p:nvPr/>
        </p:nvSpPr>
        <p:spPr>
          <a:xfrm>
            <a:off x="475030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1"/>
          <p:cNvSpPr txBox="1"/>
          <p:nvPr/>
        </p:nvSpPr>
        <p:spPr>
          <a:xfrm>
            <a:off x="4750308"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344" name="Google Shape;344;p21"/>
          <p:cNvSpPr txBox="1"/>
          <p:nvPr/>
        </p:nvSpPr>
        <p:spPr>
          <a:xfrm>
            <a:off x="5116068" y="1325880"/>
            <a:ext cx="142875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Verified it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reverse image search</a:t>
            </a:r>
            <a:endParaRPr b="0" i="0" sz="950" u="none" cap="none" strike="noStrike">
              <a:solidFill>
                <a:schemeClr val="dk1"/>
              </a:solidFill>
              <a:latin typeface="Calibri"/>
              <a:ea typeface="Calibri"/>
              <a:cs typeface="Calibri"/>
              <a:sym typeface="Calibri"/>
            </a:endParaRPr>
          </a:p>
        </p:txBody>
      </p:sp>
      <p:cxnSp>
        <p:nvCxnSpPr>
          <p:cNvPr id="345" name="Google Shape;345;p21"/>
          <p:cNvCxnSpPr/>
          <p:nvPr/>
        </p:nvCxnSpPr>
        <p:spPr>
          <a:xfrm>
            <a:off x="6617970" y="1691640"/>
            <a:ext cx="137160" cy="0"/>
          </a:xfrm>
          <a:prstGeom prst="straightConnector1">
            <a:avLst/>
          </a:prstGeom>
          <a:noFill/>
          <a:ln cap="flat" cmpd="sng" w="12700">
            <a:solidFill>
              <a:srgbClr val="6E6E73"/>
            </a:solidFill>
            <a:prstDash val="solid"/>
            <a:round/>
            <a:headEnd len="sm" w="sm" type="none"/>
            <a:tailEnd len="med" w="med" type="triangle"/>
          </a:ln>
        </p:spPr>
      </p:cxnSp>
      <p:sp>
        <p:nvSpPr>
          <p:cNvPr id="346" name="Google Shape;346;p21"/>
          <p:cNvSpPr/>
          <p:nvPr/>
        </p:nvSpPr>
        <p:spPr>
          <a:xfrm>
            <a:off x="6755130" y="1325880"/>
            <a:ext cx="197739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1"/>
          <p:cNvSpPr/>
          <p:nvPr/>
        </p:nvSpPr>
        <p:spPr>
          <a:xfrm>
            <a:off x="6864858"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1"/>
          <p:cNvSpPr txBox="1"/>
          <p:nvPr/>
        </p:nvSpPr>
        <p:spPr>
          <a:xfrm>
            <a:off x="6864858"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349" name="Google Shape;349;p21"/>
          <p:cNvSpPr txBox="1"/>
          <p:nvPr/>
        </p:nvSpPr>
        <p:spPr>
          <a:xfrm>
            <a:off x="7230618" y="1325880"/>
            <a:ext cx="142875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Play"/>
              <a:buNone/>
            </a:pPr>
            <a:r>
              <a:rPr b="1" i="0" lang="en" sz="950" u="none" cap="none" strike="noStrike">
                <a:solidFill>
                  <a:srgbClr val="1D1D1F"/>
                </a:solidFill>
                <a:latin typeface="Play"/>
                <a:ea typeface="Play"/>
                <a:cs typeface="Play"/>
                <a:sym typeface="Play"/>
              </a:rPr>
              <a:t>Valid?</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safety flag + T3 action item</a:t>
            </a:r>
            <a:endParaRPr b="0" i="0" sz="950" u="none" cap="none" strike="noStrike">
              <a:solidFill>
                <a:schemeClr val="dk1"/>
              </a:solidFill>
              <a:latin typeface="Calibri"/>
              <a:ea typeface="Calibri"/>
              <a:cs typeface="Calibri"/>
              <a:sym typeface="Calibri"/>
            </a:endParaRPr>
          </a:p>
        </p:txBody>
      </p:sp>
      <p:sp>
        <p:nvSpPr>
          <p:cNvPr id="350" name="Google Shape;350;p21"/>
          <p:cNvSpPr txBox="1"/>
          <p:nvPr/>
        </p:nvSpPr>
        <p:spPr>
          <a:xfrm>
            <a:off x="411480" y="2212848"/>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SAMPLE T3 ACTION ITEM (WHAT YOU'LL SEE ON THE TICKET)</a:t>
            </a:r>
            <a:endParaRPr b="0" i="0" sz="800" u="none" cap="none" strike="noStrike">
              <a:solidFill>
                <a:schemeClr val="dk1"/>
              </a:solidFill>
              <a:latin typeface="Calibri"/>
              <a:ea typeface="Calibri"/>
              <a:cs typeface="Calibri"/>
              <a:sym typeface="Calibri"/>
            </a:endParaRPr>
          </a:p>
        </p:txBody>
      </p:sp>
      <p:sp>
        <p:nvSpPr>
          <p:cNvPr id="351" name="Google Shape;351;p21"/>
          <p:cNvSpPr/>
          <p:nvPr/>
        </p:nvSpPr>
        <p:spPr>
          <a:xfrm>
            <a:off x="411480" y="2423160"/>
            <a:ext cx="5943600" cy="2011680"/>
          </a:xfrm>
          <a:prstGeom prst="roundRect">
            <a:avLst>
              <a:gd fmla="val 363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8/bio_ticket.png" id="352" name="Google Shape;352;p21"/>
          <p:cNvPicPr preferRelativeResize="0"/>
          <p:nvPr/>
        </p:nvPicPr>
        <p:blipFill rotWithShape="1">
          <a:blip r:embed="rId3">
            <a:alphaModFix/>
          </a:blip>
          <a:srcRect b="0" l="0" r="0" t="0"/>
          <a:stretch/>
        </p:blipFill>
        <p:spPr>
          <a:xfrm>
            <a:off x="526923" y="2496312"/>
            <a:ext cx="5712714" cy="1865376"/>
          </a:xfrm>
          <a:prstGeom prst="rect">
            <a:avLst/>
          </a:prstGeom>
          <a:noFill/>
          <a:ln>
            <a:noFill/>
          </a:ln>
        </p:spPr>
      </p:pic>
      <p:sp>
        <p:nvSpPr>
          <p:cNvPr id="353" name="Google Shape;353;p21"/>
          <p:cNvSpPr/>
          <p:nvPr/>
        </p:nvSpPr>
        <p:spPr>
          <a:xfrm>
            <a:off x="6492240" y="2423160"/>
            <a:ext cx="2240280" cy="2011680"/>
          </a:xfrm>
          <a:prstGeom prst="roundRect">
            <a:avLst>
              <a:gd fmla="val 3636"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1"/>
          <p:cNvSpPr/>
          <p:nvPr/>
        </p:nvSpPr>
        <p:spPr>
          <a:xfrm>
            <a:off x="6492240" y="2423160"/>
            <a:ext cx="22402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cp_biohazard_report</a:t>
            </a:r>
            <a:endParaRPr b="0" i="0" sz="1050" u="none" cap="none" strike="noStrike">
              <a:solidFill>
                <a:schemeClr val="dk1"/>
              </a:solidFill>
              <a:latin typeface="Calibri"/>
              <a:ea typeface="Calibri"/>
              <a:cs typeface="Calibri"/>
              <a:sym typeface="Calibri"/>
            </a:endParaRPr>
          </a:p>
        </p:txBody>
      </p:sp>
      <p:sp>
        <p:nvSpPr>
          <p:cNvPr id="355" name="Google Shape;355;p21"/>
          <p:cNvSpPr txBox="1"/>
          <p:nvPr/>
        </p:nvSpPr>
        <p:spPr>
          <a:xfrm>
            <a:off x="6656832" y="2862072"/>
            <a:ext cx="1911096" cy="14996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CP ID</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Job ID + date/time</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Link to the CP's evidence</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Outcome of the investigation</a:t>
            </a:r>
            <a:endParaRPr b="0" i="0" sz="900" u="none" cap="none" strike="noStrike">
              <a:solidFill>
                <a:schemeClr val="dk1"/>
              </a:solidFill>
              <a:latin typeface="Calibri"/>
              <a:ea typeface="Calibri"/>
              <a:cs typeface="Calibri"/>
              <a:sym typeface="Calibri"/>
            </a:endParaRPr>
          </a:p>
        </p:txBody>
      </p:sp>
      <p:sp>
        <p:nvSpPr>
          <p:cNvPr id="356" name="Google Shape;356;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OR UNSANITARY HOME</a:t>
            </a:r>
            <a:endParaRPr b="0" i="0" sz="800" u="none" cap="none" strike="noStrike">
              <a:solidFill>
                <a:schemeClr val="dk1"/>
              </a:solidFill>
              <a:latin typeface="Calibri"/>
              <a:ea typeface="Calibri"/>
              <a:cs typeface="Calibri"/>
              <a:sym typeface="Calibri"/>
            </a:endParaRPr>
          </a:p>
        </p:txBody>
      </p:sp>
      <p:sp>
        <p:nvSpPr>
          <p:cNvPr id="362" name="Google Shape;362;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1st response: warning</a:t>
            </a:r>
            <a:endParaRPr b="0" i="0" sz="2400" u="none" cap="none" strike="noStrike">
              <a:solidFill>
                <a:schemeClr val="dk1"/>
              </a:solidFill>
              <a:latin typeface="Calibri"/>
              <a:ea typeface="Calibri"/>
              <a:cs typeface="Calibri"/>
              <a:sym typeface="Calibri"/>
            </a:endParaRPr>
          </a:p>
        </p:txBody>
      </p:sp>
      <p:sp>
        <p:nvSpPr>
          <p:cNvPr id="363" name="Google Shape;363;p22"/>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2"/>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5" name="Google Shape;365;p22"/>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366" name="Google Shape;366;p22"/>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Cancel jobs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Cancel RC and all upcoming jobs. </a:t>
            </a:r>
            <a:endParaRPr b="0" i="0" sz="100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Reason code: Escalated Safety Issue.</a:t>
            </a:r>
            <a:endParaRPr b="0" i="0" sz="1200" u="none" cap="none" strike="noStrike">
              <a:solidFill>
                <a:schemeClr val="dk1"/>
              </a:solidFill>
              <a:latin typeface="Calibri"/>
              <a:ea typeface="Calibri"/>
              <a:cs typeface="Calibri"/>
              <a:sym typeface="Calibri"/>
            </a:endParaRPr>
          </a:p>
        </p:txBody>
      </p:sp>
      <p:sp>
        <p:nvSpPr>
          <p:cNvPr id="367" name="Google Shape;367;p22"/>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2"/>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9" name="Google Shape;369;p22"/>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370" name="Google Shape;370;p22"/>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Add the flag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Known_customer_fraud</a:t>
            </a:r>
            <a:endParaRPr b="0" i="0" sz="100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Comment: cp_biohazard_report | C ID | CP ID | J ID.</a:t>
            </a:r>
            <a:endParaRPr b="0" i="0" sz="1200" u="none" cap="none" strike="noStrike">
              <a:solidFill>
                <a:schemeClr val="dk1"/>
              </a:solidFill>
              <a:latin typeface="Calibri"/>
              <a:ea typeface="Calibri"/>
              <a:cs typeface="Calibri"/>
              <a:sym typeface="Calibri"/>
            </a:endParaRPr>
          </a:p>
        </p:txBody>
      </p:sp>
      <p:sp>
        <p:nvSpPr>
          <p:cNvPr id="371" name="Google Shape;371;p22"/>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2"/>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3" name="Google Shape;373;p22"/>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374" name="Google Shape;374;p22"/>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Internal note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Biohazard_1st_response</a:t>
            </a:r>
            <a:endParaRPr b="0" i="0" sz="100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666666"/>
                </a:solidFill>
                <a:latin typeface="Arial"/>
                <a:ea typeface="Arial"/>
                <a:cs typeface="Arial"/>
                <a:sym typeface="Arial"/>
              </a:rPr>
              <a:t>&lt;</a:t>
            </a:r>
            <a:r>
              <a:rPr b="0" i="0" lang="en" sz="1000" u="none" cap="none" strike="noStrike">
                <a:solidFill>
                  <a:srgbClr val="666666"/>
                </a:solidFill>
                <a:latin typeface="Arial"/>
                <a:ea typeface="Arial"/>
                <a:cs typeface="Arial"/>
                <a:sym typeface="Arial"/>
              </a:rPr>
              <a:t>CP ID&gt; reported that C's home poses biohazard risks </a:t>
            </a:r>
            <a:endParaRPr b="0" i="0" sz="10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1D1D1F"/>
              </a:buClr>
              <a:buSzPts val="900"/>
              <a:buFont typeface="Arial"/>
              <a:buNone/>
            </a:pPr>
            <a:r>
              <a:rPr b="0" i="0" lang="en" sz="1000" u="none" cap="none" strike="noStrike">
                <a:solidFill>
                  <a:srgbClr val="666666"/>
                </a:solidFill>
                <a:latin typeface="Arial"/>
                <a:ea typeface="Arial"/>
                <a:cs typeface="Arial"/>
                <a:sym typeface="Arial"/>
              </a:rPr>
              <a:t>&lt;link to CP-side action item&gt;</a:t>
            </a:r>
            <a:endParaRPr b="0" i="0" sz="1000" u="none" cap="none" strike="noStrike">
              <a:solidFill>
                <a:srgbClr val="666666"/>
              </a:solidFill>
              <a:latin typeface="Arial"/>
              <a:ea typeface="Arial"/>
              <a:cs typeface="Arial"/>
              <a:sym typeface="Arial"/>
            </a:endParaRPr>
          </a:p>
        </p:txBody>
      </p:sp>
      <p:sp>
        <p:nvSpPr>
          <p:cNvPr id="375" name="Google Shape;375;p22"/>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22"/>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7" name="Google Shape;377;p22"/>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378" name="Google Shape;378;p22"/>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Active FC (DHJ or FCF)</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Issue 1 free month to give them time to address it.</a:t>
            </a:r>
            <a:endParaRPr b="0" i="0" sz="1200" u="none" cap="none" strike="noStrike">
              <a:solidFill>
                <a:schemeClr val="dk1"/>
              </a:solidFill>
              <a:latin typeface="Calibri"/>
              <a:ea typeface="Calibri"/>
              <a:cs typeface="Calibri"/>
              <a:sym typeface="Calibri"/>
            </a:endParaRPr>
          </a:p>
        </p:txBody>
      </p:sp>
      <p:sp>
        <p:nvSpPr>
          <p:cNvPr id="379" name="Google Shape;379;p22"/>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2"/>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1" name="Google Shape;381;p22"/>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382" name="Google Shape;382;p22"/>
          <p:cNvSpPr txBox="1"/>
          <p:nvPr/>
        </p:nvSpPr>
        <p:spPr>
          <a:xfrm>
            <a:off x="1063987" y="3520375"/>
            <a:ext cx="32232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Timed Reminder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950"/>
              <a:buFont typeface="Play"/>
              <a:buNone/>
            </a:pPr>
            <a:r>
              <a:rPr b="1" i="0" lang="en" sz="800" u="none" cap="none" strike="noStrike">
                <a:solidFill>
                  <a:srgbClr val="666666"/>
                </a:solidFill>
                <a:latin typeface="Play"/>
                <a:ea typeface="Play"/>
                <a:cs typeface="Play"/>
                <a:sym typeface="Play"/>
              </a:rPr>
              <a:t>Action on:  </a:t>
            </a:r>
            <a:r>
              <a:rPr b="0" i="0" lang="en" sz="800" u="none" cap="none" strike="noStrike">
                <a:solidFill>
                  <a:srgbClr val="666666"/>
                </a:solidFill>
                <a:latin typeface="Arial"/>
                <a:ea typeface="Arial"/>
                <a:cs typeface="Arial"/>
                <a:sym typeface="Arial"/>
              </a:rPr>
              <a:t>the day before the free month expires</a:t>
            </a:r>
            <a:endParaRPr b="0" i="0" sz="800" u="none" cap="none" strike="noStrike">
              <a:solidFill>
                <a:srgbClr val="666666"/>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950"/>
              <a:buFont typeface="Play"/>
              <a:buNone/>
            </a:pPr>
            <a:r>
              <a:rPr b="1" i="0" lang="en" sz="800" u="none" cap="none" strike="noStrike">
                <a:solidFill>
                  <a:srgbClr val="666666"/>
                </a:solidFill>
                <a:latin typeface="Play"/>
                <a:ea typeface="Play"/>
                <a:cs typeface="Play"/>
                <a:sym typeface="Play"/>
              </a:rPr>
              <a:t>Who:  </a:t>
            </a:r>
            <a:r>
              <a:rPr b="0" i="0" lang="en" sz="800" u="none" cap="none" strike="noStrike">
                <a:solidFill>
                  <a:srgbClr val="666666"/>
                </a:solidFill>
                <a:latin typeface="Arial"/>
                <a:ea typeface="Arial"/>
                <a:cs typeface="Arial"/>
                <a:sym typeface="Arial"/>
              </a:rPr>
              <a:t>any CS</a:t>
            </a:r>
            <a:endParaRPr b="0" i="0" sz="800" u="none" cap="none" strike="noStrike">
              <a:solidFill>
                <a:srgbClr val="666666"/>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950"/>
              <a:buFont typeface="Play"/>
              <a:buNone/>
            </a:pPr>
            <a:r>
              <a:rPr b="1" i="0" lang="en" sz="800" u="none" cap="none" strike="noStrike">
                <a:solidFill>
                  <a:srgbClr val="666666"/>
                </a:solidFill>
                <a:latin typeface="Play"/>
                <a:ea typeface="Play"/>
                <a:cs typeface="Play"/>
                <a:sym typeface="Play"/>
              </a:rPr>
              <a:t>Action:  </a:t>
            </a:r>
            <a:r>
              <a:rPr b="0" i="0" lang="en" sz="800" u="none" cap="none" strike="noStrike">
                <a:solidFill>
                  <a:srgbClr val="666666"/>
                </a:solidFill>
                <a:latin typeface="Arial"/>
                <a:ea typeface="Arial"/>
                <a:cs typeface="Arial"/>
                <a:sym typeface="Arial"/>
              </a:rPr>
              <a:t>biohazard_followup — CP &lt;CP_ID&gt; reported C &lt;C_ID&gt; for unsanitary/biohazardous home conditions. Follow this article &gt; 2nd Response.</a:t>
            </a:r>
            <a:endParaRPr b="0" i="0" sz="800" u="none" cap="none" strike="noStrike">
              <a:solidFill>
                <a:srgbClr val="666666"/>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t/>
            </a:r>
            <a:endParaRPr b="0" i="0" sz="1000" u="none" cap="none" strike="noStrike">
              <a:solidFill>
                <a:srgbClr val="6E6E73"/>
              </a:solidFill>
              <a:latin typeface="Arial"/>
              <a:ea typeface="Arial"/>
              <a:cs typeface="Arial"/>
              <a:sym typeface="Arial"/>
            </a:endParaRPr>
          </a:p>
        </p:txBody>
      </p:sp>
      <p:sp>
        <p:nvSpPr>
          <p:cNvPr id="383" name="Google Shape;383;p22"/>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2"/>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5" name="Google Shape;385;p22"/>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386" name="Google Shape;386;p22"/>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Unused DHJ voucher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No FC yet. Do not issue any DHJ retention offers.</a:t>
            </a:r>
            <a:endParaRPr b="0" i="0" sz="1200" u="none" cap="none" strike="noStrike">
              <a:solidFill>
                <a:schemeClr val="dk1"/>
              </a:solidFill>
              <a:latin typeface="Calibri"/>
              <a:ea typeface="Calibri"/>
              <a:cs typeface="Calibri"/>
              <a:sym typeface="Calibri"/>
            </a:endParaRPr>
          </a:p>
        </p:txBody>
      </p:sp>
      <p:sp>
        <p:nvSpPr>
          <p:cNvPr id="387" name="Google Shape;387;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394" name="Google Shape;394;p2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2nd Response: they say it's fixed</a:t>
            </a:r>
            <a:endParaRPr b="0" i="0" sz="2400" u="none" cap="none" strike="noStrike">
              <a:solidFill>
                <a:schemeClr val="dk1"/>
              </a:solidFill>
              <a:latin typeface="Calibri"/>
              <a:ea typeface="Calibri"/>
              <a:cs typeface="Calibri"/>
              <a:sym typeface="Calibri"/>
            </a:endParaRPr>
          </a:p>
        </p:txBody>
      </p:sp>
      <p:sp>
        <p:nvSpPr>
          <p:cNvPr id="395" name="Google Shape;395;p2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Take their word for it the first time.</a:t>
            </a:r>
            <a:endParaRPr b="0" i="0" sz="1200" u="none" cap="none" strike="noStrike">
              <a:solidFill>
                <a:schemeClr val="dk1"/>
              </a:solidFill>
              <a:latin typeface="Calibri"/>
              <a:ea typeface="Calibri"/>
              <a:cs typeface="Calibri"/>
              <a:sym typeface="Calibri"/>
            </a:endParaRPr>
          </a:p>
        </p:txBody>
      </p:sp>
      <p:sp>
        <p:nvSpPr>
          <p:cNvPr id="396" name="Google Shape;396;p23"/>
          <p:cNvSpPr/>
          <p:nvPr/>
        </p:nvSpPr>
        <p:spPr>
          <a:xfrm>
            <a:off x="411480" y="1325880"/>
            <a:ext cx="1920240" cy="548640"/>
          </a:xfrm>
          <a:prstGeom prst="roundRect">
            <a:avLst>
              <a:gd fmla="val 13333"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3"/>
          <p:cNvSpPr txBox="1"/>
          <p:nvPr/>
        </p:nvSpPr>
        <p:spPr>
          <a:xfrm>
            <a:off x="411480"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 sz="1000" u="none" cap="none" strike="noStrike">
                <a:solidFill>
                  <a:srgbClr val="1D1D1F"/>
                </a:solidFill>
                <a:latin typeface="Play"/>
                <a:ea typeface="Play"/>
                <a:cs typeface="Play"/>
                <a:sym typeface="Play"/>
              </a:rPr>
              <a:t>C says it's resolved</a:t>
            </a:r>
            <a:endParaRPr b="0" i="0" sz="1000" u="none" cap="none" strike="noStrike">
              <a:solidFill>
                <a:schemeClr val="dk1"/>
              </a:solidFill>
              <a:latin typeface="Calibri"/>
              <a:ea typeface="Calibri"/>
              <a:cs typeface="Calibri"/>
              <a:sym typeface="Calibri"/>
            </a:endParaRPr>
          </a:p>
        </p:txBody>
      </p:sp>
      <p:cxnSp>
        <p:nvCxnSpPr>
          <p:cNvPr id="398" name="Google Shape;398;p23"/>
          <p:cNvCxnSpPr/>
          <p:nvPr/>
        </p:nvCxnSpPr>
        <p:spPr>
          <a:xfrm>
            <a:off x="2331720"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399" name="Google Shape;399;p23"/>
          <p:cNvSpPr/>
          <p:nvPr/>
        </p:nvSpPr>
        <p:spPr>
          <a:xfrm>
            <a:off x="2544775"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3"/>
          <p:cNvSpPr txBox="1"/>
          <p:nvPr/>
        </p:nvSpPr>
        <p:spPr>
          <a:xfrm>
            <a:off x="2544775"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 sz="1000" u="none" cap="none" strike="noStrike">
                <a:solidFill>
                  <a:srgbClr val="FFFFFF"/>
                </a:solidFill>
                <a:latin typeface="Play"/>
                <a:ea typeface="Play"/>
                <a:cs typeface="Play"/>
                <a:sym typeface="Play"/>
              </a:rPr>
              <a:t>Invalidate known_customer_fraud</a:t>
            </a:r>
            <a:endParaRPr b="0" i="0" sz="1000" u="none" cap="none" strike="noStrike">
              <a:solidFill>
                <a:schemeClr val="dk1"/>
              </a:solidFill>
              <a:latin typeface="Calibri"/>
              <a:ea typeface="Calibri"/>
              <a:cs typeface="Calibri"/>
              <a:sym typeface="Calibri"/>
            </a:endParaRPr>
          </a:p>
        </p:txBody>
      </p:sp>
      <p:cxnSp>
        <p:nvCxnSpPr>
          <p:cNvPr id="401" name="Google Shape;401;p23"/>
          <p:cNvCxnSpPr/>
          <p:nvPr/>
        </p:nvCxnSpPr>
        <p:spPr>
          <a:xfrm>
            <a:off x="4465015"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402" name="Google Shape;402;p23"/>
          <p:cNvSpPr/>
          <p:nvPr/>
        </p:nvSpPr>
        <p:spPr>
          <a:xfrm>
            <a:off x="4678070"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3"/>
          <p:cNvSpPr txBox="1"/>
          <p:nvPr/>
        </p:nvSpPr>
        <p:spPr>
          <a:xfrm>
            <a:off x="4678070"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 sz="1000" u="none" cap="none" strike="noStrike">
                <a:solidFill>
                  <a:srgbClr val="FFFFFF"/>
                </a:solidFill>
                <a:latin typeface="Play"/>
                <a:ea typeface="Play"/>
                <a:cs typeface="Play"/>
                <a:sym typeface="Play"/>
              </a:rPr>
              <a:t>Log an internal note</a:t>
            </a:r>
            <a:endParaRPr b="0" i="0" sz="1000" u="none" cap="none" strike="noStrike">
              <a:solidFill>
                <a:schemeClr val="dk1"/>
              </a:solidFill>
              <a:latin typeface="Calibri"/>
              <a:ea typeface="Calibri"/>
              <a:cs typeface="Calibri"/>
              <a:sym typeface="Calibri"/>
            </a:endParaRPr>
          </a:p>
        </p:txBody>
      </p:sp>
      <p:cxnSp>
        <p:nvCxnSpPr>
          <p:cNvPr id="404" name="Google Shape;404;p23"/>
          <p:cNvCxnSpPr/>
          <p:nvPr/>
        </p:nvCxnSpPr>
        <p:spPr>
          <a:xfrm>
            <a:off x="6598310"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405" name="Google Shape;405;p23"/>
          <p:cNvSpPr/>
          <p:nvPr/>
        </p:nvSpPr>
        <p:spPr>
          <a:xfrm>
            <a:off x="6811366"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3"/>
          <p:cNvSpPr txBox="1"/>
          <p:nvPr/>
        </p:nvSpPr>
        <p:spPr>
          <a:xfrm>
            <a:off x="6811366"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 sz="1000" u="none" cap="none" strike="noStrike">
                <a:solidFill>
                  <a:srgbClr val="FFFFFF"/>
                </a:solidFill>
                <a:latin typeface="Play"/>
                <a:ea typeface="Play"/>
                <a:cs typeface="Play"/>
                <a:sym typeface="Play"/>
              </a:rPr>
              <a:t>Help them book</a:t>
            </a:r>
            <a:endParaRPr b="0" i="0" sz="1000" u="none" cap="none" strike="noStrike">
              <a:solidFill>
                <a:schemeClr val="dk1"/>
              </a:solidFill>
              <a:latin typeface="Calibri"/>
              <a:ea typeface="Calibri"/>
              <a:cs typeface="Calibri"/>
              <a:sym typeface="Calibri"/>
            </a:endParaRPr>
          </a:p>
        </p:txBody>
      </p:sp>
      <p:sp>
        <p:nvSpPr>
          <p:cNvPr id="407" name="Google Shape;407;p23"/>
          <p:cNvSpPr/>
          <p:nvPr/>
        </p:nvSpPr>
        <p:spPr>
          <a:xfrm>
            <a:off x="2270455" y="1947672"/>
            <a:ext cx="2468880" cy="274320"/>
          </a:xfrm>
          <a:prstGeom prst="roundRect">
            <a:avLst>
              <a:gd fmla="val 26667"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00"/>
              <a:buFont typeface="Arial"/>
              <a:buNone/>
            </a:pPr>
            <a:r>
              <a:rPr b="1" i="0" lang="en" sz="900" u="none" cap="none" strike="noStrike">
                <a:solidFill>
                  <a:srgbClr val="9A6410"/>
                </a:solidFill>
                <a:latin typeface="Arial"/>
                <a:ea typeface="Arial"/>
                <a:cs typeface="Arial"/>
                <a:sym typeface="Arial"/>
              </a:rPr>
              <a:t>Keep known_customer_safety_issue</a:t>
            </a:r>
            <a:endParaRPr b="0" i="0" sz="900" u="none" cap="none" strike="noStrike">
              <a:solidFill>
                <a:schemeClr val="dk1"/>
              </a:solidFill>
              <a:latin typeface="Calibri"/>
              <a:ea typeface="Calibri"/>
              <a:cs typeface="Calibri"/>
              <a:sym typeface="Calibri"/>
            </a:endParaRPr>
          </a:p>
        </p:txBody>
      </p:sp>
      <p:sp>
        <p:nvSpPr>
          <p:cNvPr id="408" name="Google Shape;408;p23"/>
          <p:cNvSpPr txBox="1"/>
          <p:nvPr/>
        </p:nvSpPr>
        <p:spPr>
          <a:xfrm>
            <a:off x="411480" y="246888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3261E"/>
              </a:buClr>
              <a:buSzPts val="800"/>
              <a:buFont typeface="Play"/>
              <a:buNone/>
            </a:pPr>
            <a:r>
              <a:rPr b="1" i="0" lang="en" sz="800" u="none" cap="none" strike="noStrike">
                <a:solidFill>
                  <a:srgbClr val="B3261E"/>
                </a:solidFill>
                <a:latin typeface="Play"/>
                <a:ea typeface="Play"/>
                <a:cs typeface="Play"/>
                <a:sym typeface="Play"/>
              </a:rPr>
              <a:t>THE NEW CP REPORTS IT AGAIN?</a:t>
            </a:r>
            <a:endParaRPr b="0" i="0" sz="800" u="none" cap="none" strike="noStrike">
              <a:solidFill>
                <a:schemeClr val="dk1"/>
              </a:solidFill>
              <a:latin typeface="Calibri"/>
              <a:ea typeface="Calibri"/>
              <a:cs typeface="Calibri"/>
              <a:sym typeface="Calibri"/>
            </a:endParaRPr>
          </a:p>
        </p:txBody>
      </p:sp>
      <p:sp>
        <p:nvSpPr>
          <p:cNvPr id="409" name="Google Shape;409;p23"/>
          <p:cNvSpPr/>
          <p:nvPr/>
        </p:nvSpPr>
        <p:spPr>
          <a:xfrm>
            <a:off x="411480" y="2697480"/>
            <a:ext cx="2514600" cy="1783080"/>
          </a:xfrm>
          <a:prstGeom prst="roundRect">
            <a:avLst>
              <a:gd fmla="val 4103"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3"/>
          <p:cNvSpPr txBox="1"/>
          <p:nvPr/>
        </p:nvSpPr>
        <p:spPr>
          <a:xfrm>
            <a:off x="566928" y="2697480"/>
            <a:ext cx="2240280" cy="1783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6410"/>
              </a:buClr>
              <a:buSzPts val="1200"/>
              <a:buFont typeface="Play"/>
              <a:buNone/>
            </a:pPr>
            <a:r>
              <a:rPr b="1" i="0" lang="en" sz="1200" u="none" cap="none" strike="noStrike">
                <a:solidFill>
                  <a:srgbClr val="9A6410"/>
                </a:solidFill>
                <a:latin typeface="Play"/>
                <a:ea typeface="Play"/>
                <a:cs typeface="Play"/>
                <a:sym typeface="Play"/>
              </a:rPr>
              <a:t>Ask C for proof</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before they can book again. Does it reasonably address what the CP reported?</a:t>
            </a:r>
            <a:endParaRPr b="0" i="0" sz="1200" u="none" cap="none" strike="noStrike">
              <a:solidFill>
                <a:schemeClr val="dk1"/>
              </a:solidFill>
              <a:latin typeface="Calibri"/>
              <a:ea typeface="Calibri"/>
              <a:cs typeface="Calibri"/>
              <a:sym typeface="Calibri"/>
            </a:endParaRPr>
          </a:p>
        </p:txBody>
      </p:sp>
      <p:sp>
        <p:nvSpPr>
          <p:cNvPr id="411" name="Google Shape;411;p23"/>
          <p:cNvSpPr/>
          <p:nvPr/>
        </p:nvSpPr>
        <p:spPr>
          <a:xfrm>
            <a:off x="3063240" y="2697480"/>
            <a:ext cx="2743200" cy="1783080"/>
          </a:xfrm>
          <a:prstGeom prst="roundRect">
            <a:avLst>
              <a:gd fmla="val 4103"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3"/>
          <p:cNvSpPr/>
          <p:nvPr/>
        </p:nvSpPr>
        <p:spPr>
          <a:xfrm>
            <a:off x="3063240" y="2697480"/>
            <a:ext cx="274320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Sufficient</a:t>
            </a:r>
            <a:endParaRPr b="0" i="0" sz="1050" u="none" cap="none" strike="noStrike">
              <a:solidFill>
                <a:schemeClr val="dk1"/>
              </a:solidFill>
              <a:latin typeface="Calibri"/>
              <a:ea typeface="Calibri"/>
              <a:cs typeface="Calibri"/>
              <a:sym typeface="Calibri"/>
            </a:endParaRPr>
          </a:p>
        </p:txBody>
      </p:sp>
      <p:sp>
        <p:nvSpPr>
          <p:cNvPr id="413" name="Google Shape;413;p23"/>
          <p:cNvSpPr txBox="1"/>
          <p:nvPr/>
        </p:nvSpPr>
        <p:spPr>
          <a:xfrm>
            <a:off x="3227832" y="3136392"/>
            <a:ext cx="2414016" cy="12710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Invalidate known_customer_fraud</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Log a note, help them book</a:t>
            </a:r>
            <a:endParaRPr b="0" i="0" sz="900" u="none" cap="none" strike="noStrike">
              <a:solidFill>
                <a:schemeClr val="dk1"/>
              </a:solidFill>
              <a:latin typeface="Calibri"/>
              <a:ea typeface="Calibri"/>
              <a:cs typeface="Calibri"/>
              <a:sym typeface="Calibri"/>
            </a:endParaRPr>
          </a:p>
        </p:txBody>
      </p:sp>
      <p:sp>
        <p:nvSpPr>
          <p:cNvPr id="414" name="Google Shape;414;p23"/>
          <p:cNvSpPr/>
          <p:nvPr/>
        </p:nvSpPr>
        <p:spPr>
          <a:xfrm>
            <a:off x="5943600" y="2697480"/>
            <a:ext cx="2788920" cy="1783080"/>
          </a:xfrm>
          <a:prstGeom prst="roundRect">
            <a:avLst>
              <a:gd fmla="val 4103"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3"/>
          <p:cNvSpPr/>
          <p:nvPr/>
        </p:nvSpPr>
        <p:spPr>
          <a:xfrm>
            <a:off x="5943600" y="2697480"/>
            <a:ext cx="278892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 sz="1050" u="none" cap="none" strike="noStrike">
                <a:solidFill>
                  <a:srgbClr val="FFFFFF"/>
                </a:solidFill>
                <a:latin typeface="Play"/>
                <a:ea typeface="Play"/>
                <a:cs typeface="Play"/>
                <a:sym typeface="Play"/>
              </a:rPr>
              <a:t>Not sufficient</a:t>
            </a:r>
            <a:endParaRPr b="0" i="0" sz="1050" u="none" cap="none" strike="noStrike">
              <a:solidFill>
                <a:schemeClr val="dk1"/>
              </a:solidFill>
              <a:latin typeface="Calibri"/>
              <a:ea typeface="Calibri"/>
              <a:cs typeface="Calibri"/>
              <a:sym typeface="Calibri"/>
            </a:endParaRPr>
          </a:p>
        </p:txBody>
      </p:sp>
      <p:sp>
        <p:nvSpPr>
          <p:cNvPr id="416" name="Google Shape;416;p23"/>
          <p:cNvSpPr txBox="1"/>
          <p:nvPr/>
        </p:nvSpPr>
        <p:spPr>
          <a:xfrm>
            <a:off x="6108192" y="3136392"/>
            <a:ext cx="2459736" cy="12710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Keep the flag</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FC started? 1 more free month</a:t>
            </a:r>
            <a:endParaRPr b="0" i="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 sz="900" u="none" cap="none" strike="noStrike">
                <a:solidFill>
                  <a:srgbClr val="1D1D1F"/>
                </a:solidFill>
                <a:latin typeface="Arial"/>
                <a:ea typeface="Arial"/>
                <a:cs typeface="Arial"/>
                <a:sym typeface="Arial"/>
              </a:rPr>
              <a:t>Not up to safety standards yet. Need more time?</a:t>
            </a:r>
            <a:endParaRPr b="0" i="0" sz="900" u="none" cap="none" strike="noStrike">
              <a:solidFill>
                <a:schemeClr val="dk1"/>
              </a:solidFill>
              <a:latin typeface="Calibri"/>
              <a:ea typeface="Calibri"/>
              <a:cs typeface="Calibri"/>
              <a:sym typeface="Calibri"/>
            </a:endParaRPr>
          </a:p>
        </p:txBody>
      </p:sp>
      <p:sp>
        <p:nvSpPr>
          <p:cNvPr id="417" name="Google Shape;417;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424" name="Google Shape;424;p2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2nd Response: they can't fix it</a:t>
            </a:r>
            <a:endParaRPr b="0" i="0" sz="2400" u="none" cap="none" strike="noStrike">
              <a:solidFill>
                <a:schemeClr val="dk1"/>
              </a:solidFill>
              <a:latin typeface="Calibri"/>
              <a:ea typeface="Calibri"/>
              <a:cs typeface="Calibri"/>
              <a:sym typeface="Calibri"/>
            </a:endParaRPr>
          </a:p>
        </p:txBody>
      </p:sp>
      <p:sp>
        <p:nvSpPr>
          <p:cNvPr id="425" name="Google Shape;425;p2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you do depends on the membership status.</a:t>
            </a:r>
            <a:endParaRPr b="0" i="0" sz="1200" u="none" cap="none" strike="noStrike">
              <a:solidFill>
                <a:schemeClr val="dk1"/>
              </a:solidFill>
              <a:latin typeface="Calibri"/>
              <a:ea typeface="Calibri"/>
              <a:cs typeface="Calibri"/>
              <a:sym typeface="Calibri"/>
            </a:endParaRPr>
          </a:p>
        </p:txBody>
      </p:sp>
      <p:graphicFrame>
        <p:nvGraphicFramePr>
          <p:cNvPr id="426" name="Google Shape;426;p24"/>
          <p:cNvGraphicFramePr/>
          <p:nvPr/>
        </p:nvGraphicFramePr>
        <p:xfrm>
          <a:off x="411480" y="1325880"/>
          <a:ext cx="3000000" cy="3000000"/>
        </p:xfrm>
        <a:graphic>
          <a:graphicData uri="http://schemas.openxmlformats.org/drawingml/2006/table">
            <a:tbl>
              <a:tblPr>
                <a:noFill/>
                <a:tableStyleId>{87FC29E5-250B-491D-89D5-C136B52F4FEA}</a:tableStyleId>
              </a:tblPr>
              <a:tblGrid>
                <a:gridCol w="1600200"/>
                <a:gridCol w="2788925"/>
                <a:gridCol w="3931925"/>
              </a:tblGrid>
              <a:tr h="50292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Membership status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Action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If C asks for a refund</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5029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Active FC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Proactively cancel FC and waive the ETF</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Refund MFs with no cleaning in their paid-through coverage. Had a cleaning? No refund, unless another guideline applies (e.g. Material Legal Threat)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Unused DHJ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 FC if the table already triggered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Refund and invalidate the voucher via CRM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FCF, no completed 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 FC via CRM. No ETF: it was never live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Refund the $19 base MF + any 4hr/6hr add-on in full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Non-FC member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Can't assist right now. Invite them back once conditions improve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427" name="Google Shape;427;p24"/>
          <p:cNvSpPr/>
          <p:nvPr/>
        </p:nvSpPr>
        <p:spPr>
          <a:xfrm>
            <a:off x="411480" y="40690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8" name="Google Shape;428;p24"/>
          <p:cNvPicPr preferRelativeResize="0"/>
          <p:nvPr/>
        </p:nvPicPr>
        <p:blipFill rotWithShape="1">
          <a:blip r:embed="rId3">
            <a:alphaModFix/>
          </a:blip>
          <a:srcRect b="0" l="0" r="0" t="0"/>
          <a:stretch/>
        </p:blipFill>
        <p:spPr>
          <a:xfrm>
            <a:off x="566928" y="4178808"/>
            <a:ext cx="164592" cy="164592"/>
          </a:xfrm>
          <a:prstGeom prst="rect">
            <a:avLst/>
          </a:prstGeom>
          <a:noFill/>
          <a:ln>
            <a:noFill/>
          </a:ln>
        </p:spPr>
      </p:pic>
      <p:sp>
        <p:nvSpPr>
          <p:cNvPr id="429" name="Google Shape;429;p24"/>
          <p:cNvSpPr txBox="1"/>
          <p:nvPr/>
        </p:nvSpPr>
        <p:spPr>
          <a:xfrm>
            <a:off x="822960" y="41696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 reply when the TR triggers?  </a:t>
            </a:r>
            <a:r>
              <a:rPr b="0" i="0" lang="en" sz="1000" u="none" cap="none" strike="noStrike">
                <a:solidFill>
                  <a:srgbClr val="1D1D1F"/>
                </a:solidFill>
                <a:latin typeface="Arial"/>
                <a:ea typeface="Arial"/>
                <a:cs typeface="Arial"/>
                <a:sym typeface="Arial"/>
              </a:rPr>
              <a:t>handle it the same as "can't fix it".</a:t>
            </a:r>
            <a:endParaRPr b="0" i="0" sz="1000" u="none" cap="none" strike="noStrike">
              <a:solidFill>
                <a:schemeClr val="dk1"/>
              </a:solidFill>
              <a:latin typeface="Calibri"/>
              <a:ea typeface="Calibri"/>
              <a:cs typeface="Calibri"/>
              <a:sym typeface="Calibri"/>
            </a:endParaRPr>
          </a:p>
        </p:txBody>
      </p:sp>
      <p:sp>
        <p:nvSpPr>
          <p:cNvPr id="430" name="Google Shape;430;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REPORT</a:t>
            </a:r>
            <a:endParaRPr b="0" i="0" sz="800" u="none" cap="none" strike="noStrike">
              <a:solidFill>
                <a:schemeClr val="dk1"/>
              </a:solidFill>
              <a:latin typeface="Calibri"/>
              <a:ea typeface="Calibri"/>
              <a:cs typeface="Calibri"/>
              <a:sym typeface="Calibri"/>
            </a:endParaRPr>
          </a:p>
        </p:txBody>
      </p:sp>
      <p:sp>
        <p:nvSpPr>
          <p:cNvPr id="437" name="Google Shape;437;p2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Needs more time, or won't cooperate?</a:t>
            </a:r>
            <a:endParaRPr b="0" i="0" sz="2400" u="none" cap="none" strike="noStrike">
              <a:solidFill>
                <a:schemeClr val="dk1"/>
              </a:solidFill>
              <a:latin typeface="Calibri"/>
              <a:ea typeface="Calibri"/>
              <a:cs typeface="Calibri"/>
              <a:sym typeface="Calibri"/>
            </a:endParaRPr>
          </a:p>
        </p:txBody>
      </p:sp>
      <p:sp>
        <p:nvSpPr>
          <p:cNvPr id="438" name="Google Shape;438;p2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Keep the booking block in place and give them room.</a:t>
            </a:r>
            <a:endParaRPr b="0" i="0" sz="1200" u="none" cap="none" strike="noStrike">
              <a:solidFill>
                <a:schemeClr val="dk1"/>
              </a:solidFill>
              <a:latin typeface="Calibri"/>
              <a:ea typeface="Calibri"/>
              <a:cs typeface="Calibri"/>
              <a:sym typeface="Calibri"/>
            </a:endParaRPr>
          </a:p>
        </p:txBody>
      </p:sp>
      <p:sp>
        <p:nvSpPr>
          <p:cNvPr id="439" name="Google Shape;439;p25"/>
          <p:cNvSpPr/>
          <p:nvPr/>
        </p:nvSpPr>
        <p:spPr>
          <a:xfrm>
            <a:off x="411480" y="1325880"/>
            <a:ext cx="26822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2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1" name="Google Shape;441;p2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442" name="Google Shape;442;p2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Needs more time</a:t>
            </a:r>
            <a:endParaRPr b="0" i="0" sz="1200" u="none" cap="none" strike="noStrike">
              <a:solidFill>
                <a:schemeClr val="dk1"/>
              </a:solidFill>
              <a:latin typeface="Calibri"/>
              <a:ea typeface="Calibri"/>
              <a:cs typeface="Calibri"/>
              <a:sym typeface="Calibri"/>
            </a:endParaRPr>
          </a:p>
        </p:txBody>
      </p:sp>
      <p:sp>
        <p:nvSpPr>
          <p:cNvPr id="443" name="Google Shape;443;p25"/>
          <p:cNvSpPr txBox="1"/>
          <p:nvPr/>
        </p:nvSpPr>
        <p:spPr>
          <a:xfrm>
            <a:off x="576072" y="2221992"/>
            <a:ext cx="2353056"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FC started? Issue free weeks or months matching what they asked for. Ask them to reach out once conditions improve.</a:t>
            </a:r>
            <a:endParaRPr b="0" i="0" sz="950" u="none" cap="none" strike="noStrike">
              <a:solidFill>
                <a:schemeClr val="dk1"/>
              </a:solidFill>
              <a:latin typeface="Calibri"/>
              <a:ea typeface="Calibri"/>
              <a:cs typeface="Calibri"/>
              <a:sym typeface="Calibri"/>
            </a:endParaRPr>
          </a:p>
        </p:txBody>
      </p:sp>
      <p:sp>
        <p:nvSpPr>
          <p:cNvPr id="444" name="Google Shape;444;p25"/>
          <p:cNvSpPr/>
          <p:nvPr/>
        </p:nvSpPr>
        <p:spPr>
          <a:xfrm>
            <a:off x="3230880" y="1325880"/>
            <a:ext cx="26822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2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6" name="Google Shape;446;p2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447" name="Google Shape;447;p2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Won't give evidence</a:t>
            </a:r>
            <a:endParaRPr b="0" i="0" sz="1200" u="none" cap="none" strike="noStrike">
              <a:solidFill>
                <a:schemeClr val="dk1"/>
              </a:solidFill>
              <a:latin typeface="Calibri"/>
              <a:ea typeface="Calibri"/>
              <a:cs typeface="Calibri"/>
              <a:sym typeface="Calibri"/>
            </a:endParaRPr>
          </a:p>
        </p:txBody>
      </p:sp>
      <p:sp>
        <p:nvSpPr>
          <p:cNvPr id="448" name="Google Shape;448;p25"/>
          <p:cNvSpPr txBox="1"/>
          <p:nvPr/>
        </p:nvSpPr>
        <p:spPr>
          <a:xfrm>
            <a:off x="3395472" y="2221992"/>
            <a:ext cx="2353056"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Keep known_customer_fraud. FC started? 1 more free month. Explain we need proof the home is safe. New TR so no MF is charged.</a:t>
            </a:r>
            <a:endParaRPr b="0" i="0" sz="950" u="none" cap="none" strike="noStrike">
              <a:solidFill>
                <a:schemeClr val="dk1"/>
              </a:solidFill>
              <a:latin typeface="Calibri"/>
              <a:ea typeface="Calibri"/>
              <a:cs typeface="Calibri"/>
              <a:sym typeface="Calibri"/>
            </a:endParaRPr>
          </a:p>
        </p:txBody>
      </p:sp>
      <p:sp>
        <p:nvSpPr>
          <p:cNvPr id="449" name="Google Shape;449;p25"/>
          <p:cNvSpPr/>
          <p:nvPr/>
        </p:nvSpPr>
        <p:spPr>
          <a:xfrm>
            <a:off x="6050280" y="1325880"/>
            <a:ext cx="26822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1" name="Google Shape;451;p2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452" name="Google Shape;452;p2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 response</a:t>
            </a:r>
            <a:endParaRPr b="0" i="0" sz="1200" u="none" cap="none" strike="noStrike">
              <a:solidFill>
                <a:schemeClr val="dk1"/>
              </a:solidFill>
              <a:latin typeface="Calibri"/>
              <a:ea typeface="Calibri"/>
              <a:cs typeface="Calibri"/>
              <a:sym typeface="Calibri"/>
            </a:endParaRPr>
          </a:p>
        </p:txBody>
      </p:sp>
      <p:sp>
        <p:nvSpPr>
          <p:cNvPr id="453" name="Google Shape;453;p25"/>
          <p:cNvSpPr txBox="1"/>
          <p:nvPr/>
        </p:nvSpPr>
        <p:spPr>
          <a:xfrm>
            <a:off x="6214872" y="2221992"/>
            <a:ext cx="2353056"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TR triggers with no reply: handle it as "can't fix it".</a:t>
            </a:r>
            <a:endParaRPr b="0" i="0" sz="950" u="none" cap="none" strike="noStrike">
              <a:solidFill>
                <a:schemeClr val="dk1"/>
              </a:solidFill>
              <a:latin typeface="Calibri"/>
              <a:ea typeface="Calibri"/>
              <a:cs typeface="Calibri"/>
              <a:sym typeface="Calibri"/>
            </a:endParaRPr>
          </a:p>
        </p:txBody>
      </p:sp>
      <p:sp>
        <p:nvSpPr>
          <p:cNvPr id="454" name="Google Shape;454;p25"/>
          <p:cNvSpPr/>
          <p:nvPr/>
        </p:nvSpPr>
        <p:spPr>
          <a:xfrm>
            <a:off x="411480" y="361188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5" name="Google Shape;455;p25"/>
          <p:cNvPicPr preferRelativeResize="0"/>
          <p:nvPr/>
        </p:nvPicPr>
        <p:blipFill rotWithShape="1">
          <a:blip r:embed="rId6">
            <a:alphaModFix/>
          </a:blip>
          <a:srcRect b="0" l="0" r="0" t="0"/>
          <a:stretch/>
        </p:blipFill>
        <p:spPr>
          <a:xfrm>
            <a:off x="566928" y="3721608"/>
            <a:ext cx="164592" cy="164592"/>
          </a:xfrm>
          <a:prstGeom prst="rect">
            <a:avLst/>
          </a:prstGeom>
          <a:noFill/>
          <a:ln>
            <a:noFill/>
          </a:ln>
        </p:spPr>
      </p:pic>
      <p:sp>
        <p:nvSpPr>
          <p:cNvPr id="456" name="Google Shape;456;p25"/>
          <p:cNvSpPr txBox="1"/>
          <p:nvPr/>
        </p:nvSpPr>
        <p:spPr>
          <a:xfrm>
            <a:off x="822960" y="361188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 sz="1000" u="none" cap="none" strike="noStrike">
                <a:solidFill>
                  <a:srgbClr val="B3261E"/>
                </a:solidFill>
                <a:latin typeface="Arial"/>
                <a:ea typeface="Arial"/>
                <a:cs typeface="Arial"/>
                <a:sym typeface="Arial"/>
              </a:rPr>
              <a:t>Still refusing after the extra time?  </a:t>
            </a:r>
            <a:r>
              <a:rPr b="0" i="0" lang="en" sz="1000" u="none" cap="none" strike="noStrike">
                <a:solidFill>
                  <a:srgbClr val="1D1D1F"/>
                </a:solidFill>
                <a:latin typeface="Arial"/>
                <a:ea typeface="Arial"/>
                <a:cs typeface="Arial"/>
                <a:sym typeface="Arial"/>
              </a:rPr>
              <a:t>treat it as "can't fix it".</a:t>
            </a:r>
            <a:endParaRPr b="0" i="0" sz="1000" u="none" cap="none" strike="noStrike">
              <a:solidFill>
                <a:schemeClr val="dk1"/>
              </a:solidFill>
              <a:latin typeface="Calibri"/>
              <a:ea typeface="Calibri"/>
              <a:cs typeface="Calibri"/>
              <a:sym typeface="Calibri"/>
            </a:endParaRPr>
          </a:p>
        </p:txBody>
      </p:sp>
      <p:sp>
        <p:nvSpPr>
          <p:cNvPr id="457" name="Google Shape;457;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BIOHAZARD REPORT  ·  KNOWLEDGE CHECK</a:t>
            </a:r>
            <a:endParaRPr b="0" i="0" sz="800" u="none" cap="none" strike="noStrike">
              <a:solidFill>
                <a:schemeClr val="dk1"/>
              </a:solidFill>
              <a:latin typeface="Calibri"/>
              <a:ea typeface="Calibri"/>
              <a:cs typeface="Calibri"/>
              <a:sym typeface="Calibri"/>
            </a:endParaRPr>
          </a:p>
        </p:txBody>
      </p:sp>
      <p:sp>
        <p:nvSpPr>
          <p:cNvPr id="464" name="Google Shape;464;p2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Let’s See What You’ve Got!</a:t>
            </a:r>
            <a:endParaRPr b="0" i="0" sz="2400" u="none" cap="none" strike="noStrike">
              <a:solidFill>
                <a:schemeClr val="dk1"/>
              </a:solidFill>
              <a:latin typeface="Calibri"/>
              <a:ea typeface="Calibri"/>
              <a:cs typeface="Calibri"/>
              <a:sym typeface="Calibri"/>
            </a:endParaRPr>
          </a:p>
        </p:txBody>
      </p:sp>
      <p:sp>
        <p:nvSpPr>
          <p:cNvPr id="465" name="Google Shape;465;p26"/>
          <p:cNvSpPr/>
          <p:nvPr/>
        </p:nvSpPr>
        <p:spPr>
          <a:xfrm>
            <a:off x="411480" y="1280160"/>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6"/>
          <p:cNvSpPr/>
          <p:nvPr/>
        </p:nvSpPr>
        <p:spPr>
          <a:xfrm>
            <a:off x="548640" y="1456639"/>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6"/>
          <p:cNvSpPr txBox="1"/>
          <p:nvPr/>
        </p:nvSpPr>
        <p:spPr>
          <a:xfrm>
            <a:off x="548640" y="1456639"/>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468" name="Google Shape;468;p26"/>
          <p:cNvSpPr txBox="1"/>
          <p:nvPr/>
        </p:nvSpPr>
        <p:spPr>
          <a:xfrm>
            <a:off x="960120" y="1280160"/>
            <a:ext cx="397764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C says a CP called their home dirty. No CP-side action item. Restrict the account?</a:t>
            </a:r>
            <a:endParaRPr b="0" i="0" sz="1000" u="none" cap="none" strike="noStrike">
              <a:solidFill>
                <a:schemeClr val="dk1"/>
              </a:solidFill>
              <a:latin typeface="Calibri"/>
              <a:ea typeface="Calibri"/>
              <a:cs typeface="Calibri"/>
              <a:sym typeface="Calibri"/>
            </a:endParaRPr>
          </a:p>
        </p:txBody>
      </p:sp>
      <p:sp>
        <p:nvSpPr>
          <p:cNvPr id="469" name="Google Shape;469;p26"/>
          <p:cNvSpPr/>
          <p:nvPr/>
        </p:nvSpPr>
        <p:spPr>
          <a:xfrm>
            <a:off x="5120640" y="1280160"/>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6"/>
          <p:cNvSpPr txBox="1"/>
          <p:nvPr/>
        </p:nvSpPr>
        <p:spPr>
          <a:xfrm>
            <a:off x="5257800" y="1280160"/>
            <a:ext cx="338328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No. Only act once a CP-side agent validated the evidence and created the action item.</a:t>
            </a:r>
            <a:endParaRPr b="0" i="0" sz="900" u="none" cap="none" strike="noStrike">
              <a:solidFill>
                <a:schemeClr val="dk1"/>
              </a:solidFill>
              <a:latin typeface="Calibri"/>
              <a:ea typeface="Calibri"/>
              <a:cs typeface="Calibri"/>
              <a:sym typeface="Calibri"/>
            </a:endParaRPr>
          </a:p>
        </p:txBody>
      </p:sp>
      <p:sp>
        <p:nvSpPr>
          <p:cNvPr id="471" name="Google Shape;471;p26"/>
          <p:cNvSpPr/>
          <p:nvPr/>
        </p:nvSpPr>
        <p:spPr>
          <a:xfrm>
            <a:off x="411480" y="1980590"/>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6"/>
          <p:cNvSpPr/>
          <p:nvPr/>
        </p:nvSpPr>
        <p:spPr>
          <a:xfrm>
            <a:off x="548640" y="215707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6"/>
          <p:cNvSpPr txBox="1"/>
          <p:nvPr/>
        </p:nvSpPr>
        <p:spPr>
          <a:xfrm>
            <a:off x="548640" y="215707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474" name="Google Shape;474;p26"/>
          <p:cNvSpPr txBox="1"/>
          <p:nvPr/>
        </p:nvSpPr>
        <p:spPr>
          <a:xfrm>
            <a:off x="960120" y="1980590"/>
            <a:ext cx="397764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Which cancellation reason code do you use for the RC and upcoming jobs?</a:t>
            </a:r>
            <a:endParaRPr b="0" i="0" sz="1000" u="none" cap="none" strike="noStrike">
              <a:solidFill>
                <a:schemeClr val="dk1"/>
              </a:solidFill>
              <a:latin typeface="Calibri"/>
              <a:ea typeface="Calibri"/>
              <a:cs typeface="Calibri"/>
              <a:sym typeface="Calibri"/>
            </a:endParaRPr>
          </a:p>
        </p:txBody>
      </p:sp>
      <p:sp>
        <p:nvSpPr>
          <p:cNvPr id="475" name="Google Shape;475;p26"/>
          <p:cNvSpPr/>
          <p:nvPr/>
        </p:nvSpPr>
        <p:spPr>
          <a:xfrm>
            <a:off x="5120640" y="1980590"/>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6"/>
          <p:cNvSpPr txBox="1"/>
          <p:nvPr/>
        </p:nvSpPr>
        <p:spPr>
          <a:xfrm>
            <a:off x="5257800" y="1980590"/>
            <a:ext cx="338328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Escalated Safety Issue.</a:t>
            </a:r>
            <a:endParaRPr b="0" i="0" sz="900" u="none" cap="none" strike="noStrike">
              <a:solidFill>
                <a:schemeClr val="dk1"/>
              </a:solidFill>
              <a:latin typeface="Calibri"/>
              <a:ea typeface="Calibri"/>
              <a:cs typeface="Calibri"/>
              <a:sym typeface="Calibri"/>
            </a:endParaRPr>
          </a:p>
        </p:txBody>
      </p:sp>
      <p:sp>
        <p:nvSpPr>
          <p:cNvPr id="477" name="Google Shape;477;p26"/>
          <p:cNvSpPr/>
          <p:nvPr/>
        </p:nvSpPr>
        <p:spPr>
          <a:xfrm>
            <a:off x="411480" y="2681021"/>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6"/>
          <p:cNvSpPr/>
          <p:nvPr/>
        </p:nvSpPr>
        <p:spPr>
          <a:xfrm>
            <a:off x="548640" y="28575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6"/>
          <p:cNvSpPr txBox="1"/>
          <p:nvPr/>
        </p:nvSpPr>
        <p:spPr>
          <a:xfrm>
            <a:off x="548640" y="28575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480" name="Google Shape;480;p26"/>
          <p:cNvSpPr txBox="1"/>
          <p:nvPr/>
        </p:nvSpPr>
        <p:spPr>
          <a:xfrm>
            <a:off x="960120" y="2681021"/>
            <a:ext cx="397764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Active FC, 1st Response. What do you give C, and when does the TR fire?</a:t>
            </a:r>
            <a:endParaRPr b="0" i="0" sz="1000" u="none" cap="none" strike="noStrike">
              <a:solidFill>
                <a:schemeClr val="dk1"/>
              </a:solidFill>
              <a:latin typeface="Calibri"/>
              <a:ea typeface="Calibri"/>
              <a:cs typeface="Calibri"/>
              <a:sym typeface="Calibri"/>
            </a:endParaRPr>
          </a:p>
        </p:txBody>
      </p:sp>
      <p:sp>
        <p:nvSpPr>
          <p:cNvPr id="481" name="Google Shape;481;p26"/>
          <p:cNvSpPr/>
          <p:nvPr/>
        </p:nvSpPr>
        <p:spPr>
          <a:xfrm>
            <a:off x="5120640" y="2681021"/>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6"/>
          <p:cNvSpPr txBox="1"/>
          <p:nvPr/>
        </p:nvSpPr>
        <p:spPr>
          <a:xfrm>
            <a:off x="5257800" y="2681021"/>
            <a:ext cx="338328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1 free month. TR the day before the free month expires (any CS).</a:t>
            </a:r>
            <a:endParaRPr b="0" i="0" sz="900" u="none" cap="none" strike="noStrike">
              <a:solidFill>
                <a:schemeClr val="dk1"/>
              </a:solidFill>
              <a:latin typeface="Calibri"/>
              <a:ea typeface="Calibri"/>
              <a:cs typeface="Calibri"/>
              <a:sym typeface="Calibri"/>
            </a:endParaRPr>
          </a:p>
        </p:txBody>
      </p:sp>
      <p:sp>
        <p:nvSpPr>
          <p:cNvPr id="483" name="Google Shape;483;p26"/>
          <p:cNvSpPr/>
          <p:nvPr/>
        </p:nvSpPr>
        <p:spPr>
          <a:xfrm>
            <a:off x="411480" y="3381451"/>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6"/>
          <p:cNvSpPr/>
          <p:nvPr/>
        </p:nvSpPr>
        <p:spPr>
          <a:xfrm>
            <a:off x="548640" y="355793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26"/>
          <p:cNvSpPr txBox="1"/>
          <p:nvPr/>
        </p:nvSpPr>
        <p:spPr>
          <a:xfrm>
            <a:off x="548640" y="355793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486" name="Google Shape;486;p26"/>
          <p:cNvSpPr txBox="1"/>
          <p:nvPr/>
        </p:nvSpPr>
        <p:spPr>
          <a:xfrm>
            <a:off x="960120" y="3381451"/>
            <a:ext cx="397764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C says it's resolved. Which flag do you invalidate?</a:t>
            </a:r>
            <a:endParaRPr b="0" i="0" sz="1000" u="none" cap="none" strike="noStrike">
              <a:solidFill>
                <a:schemeClr val="dk1"/>
              </a:solidFill>
              <a:latin typeface="Calibri"/>
              <a:ea typeface="Calibri"/>
              <a:cs typeface="Calibri"/>
              <a:sym typeface="Calibri"/>
            </a:endParaRPr>
          </a:p>
        </p:txBody>
      </p:sp>
      <p:sp>
        <p:nvSpPr>
          <p:cNvPr id="487" name="Google Shape;487;p26"/>
          <p:cNvSpPr/>
          <p:nvPr/>
        </p:nvSpPr>
        <p:spPr>
          <a:xfrm>
            <a:off x="5120640" y="3381451"/>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6"/>
          <p:cNvSpPr txBox="1"/>
          <p:nvPr/>
        </p:nvSpPr>
        <p:spPr>
          <a:xfrm>
            <a:off x="5257800" y="3381451"/>
            <a:ext cx="338328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known_customer_fraud only. known_customer_safety_issue stays.</a:t>
            </a:r>
            <a:endParaRPr b="0" i="0" sz="900" u="none" cap="none" strike="noStrike">
              <a:solidFill>
                <a:schemeClr val="dk1"/>
              </a:solidFill>
              <a:latin typeface="Calibri"/>
              <a:ea typeface="Calibri"/>
              <a:cs typeface="Calibri"/>
              <a:sym typeface="Calibri"/>
            </a:endParaRPr>
          </a:p>
        </p:txBody>
      </p:sp>
      <p:sp>
        <p:nvSpPr>
          <p:cNvPr id="489" name="Google Shape;489;p26"/>
          <p:cNvSpPr/>
          <p:nvPr/>
        </p:nvSpPr>
        <p:spPr>
          <a:xfrm>
            <a:off x="411480" y="4081882"/>
            <a:ext cx="4617720" cy="627278"/>
          </a:xfrm>
          <a:prstGeom prst="roundRect">
            <a:avLst>
              <a:gd fmla="val 116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6"/>
          <p:cNvSpPr/>
          <p:nvPr/>
        </p:nvSpPr>
        <p:spPr>
          <a:xfrm>
            <a:off x="548640" y="4258361"/>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6"/>
          <p:cNvSpPr txBox="1"/>
          <p:nvPr/>
        </p:nvSpPr>
        <p:spPr>
          <a:xfrm>
            <a:off x="548640" y="4258361"/>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492" name="Google Shape;492;p26"/>
          <p:cNvSpPr txBox="1"/>
          <p:nvPr/>
        </p:nvSpPr>
        <p:spPr>
          <a:xfrm>
            <a:off x="960120" y="4081882"/>
            <a:ext cx="397764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 sz="1000" u="none" cap="none" strike="noStrike">
                <a:solidFill>
                  <a:srgbClr val="1D1D1F"/>
                </a:solidFill>
                <a:latin typeface="Arial"/>
                <a:ea typeface="Arial"/>
                <a:cs typeface="Arial"/>
                <a:sym typeface="Arial"/>
              </a:rPr>
              <a:t>FCF, no completed job, can't fix it, wants a refund. What happens?</a:t>
            </a:r>
            <a:endParaRPr b="0" i="0" sz="1000" u="none" cap="none" strike="noStrike">
              <a:solidFill>
                <a:schemeClr val="dk1"/>
              </a:solidFill>
              <a:latin typeface="Calibri"/>
              <a:ea typeface="Calibri"/>
              <a:cs typeface="Calibri"/>
              <a:sym typeface="Calibri"/>
            </a:endParaRPr>
          </a:p>
        </p:txBody>
      </p:sp>
      <p:sp>
        <p:nvSpPr>
          <p:cNvPr id="493" name="Google Shape;493;p26"/>
          <p:cNvSpPr/>
          <p:nvPr/>
        </p:nvSpPr>
        <p:spPr>
          <a:xfrm>
            <a:off x="5120640" y="4081882"/>
            <a:ext cx="3611880" cy="627278"/>
          </a:xfrm>
          <a:prstGeom prst="roundRect">
            <a:avLst>
              <a:gd fmla="val 116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6"/>
          <p:cNvSpPr txBox="1"/>
          <p:nvPr/>
        </p:nvSpPr>
        <p:spPr>
          <a:xfrm>
            <a:off x="5257800" y="4081882"/>
            <a:ext cx="3383280" cy="62727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Cancel FC (no ETF). Refund the $19 base MF + any add-on in full.</a:t>
            </a:r>
            <a:endParaRPr b="0" i="0" sz="900" u="none" cap="none" strike="noStrike">
              <a:solidFill>
                <a:schemeClr val="dk1"/>
              </a:solidFill>
              <a:latin typeface="Calibri"/>
              <a:ea typeface="Calibri"/>
              <a:cs typeface="Calibri"/>
              <a:sym typeface="Calibri"/>
            </a:endParaRPr>
          </a:p>
        </p:txBody>
      </p:sp>
      <p:sp>
        <p:nvSpPr>
          <p:cNvPr id="495" name="Google Shape;495;p2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600"/>
                                        <p:tgtEl>
                                          <p:spTgt spid="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6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600"/>
                                        <p:tgtEl>
                                          <p:spTgt spid="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600"/>
                                        <p:tgtEl>
                                          <p:spTgt spid="4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600"/>
                                        <p:tgtEl>
                                          <p:spTgt spid="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7"/>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501" name="Google Shape;501;p27"/>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502" name="Google Shape;502;p27"/>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503" name="Google Shape;503;p27"/>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7"/>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505" name="Google Shape;505;p27"/>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506" name="Google Shape;506;p27"/>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7"/>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7"/>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27"/>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7"/>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7"/>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7"/>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03</a:t>
            </a:r>
            <a:endParaRPr b="0" i="0" sz="800" u="none" cap="none" strike="noStrike">
              <a:solidFill>
                <a:schemeClr val="dk1"/>
              </a:solidFill>
              <a:latin typeface="Calibri"/>
              <a:ea typeface="Calibri"/>
              <a:cs typeface="Calibri"/>
              <a:sym typeface="Calibri"/>
            </a:endParaRPr>
          </a:p>
        </p:txBody>
      </p:sp>
      <p:sp>
        <p:nvSpPr>
          <p:cNvPr id="518" name="Google Shape;518;p2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Assessing Dispute Likelihood</a:t>
            </a:r>
            <a:endParaRPr b="0" i="0" sz="2800" u="none" cap="none" strike="noStrike">
              <a:solidFill>
                <a:schemeClr val="dk1"/>
              </a:solidFill>
              <a:latin typeface="Calibri"/>
              <a:ea typeface="Calibri"/>
              <a:cs typeface="Calibri"/>
              <a:sym typeface="Calibri"/>
            </a:endParaRPr>
          </a:p>
        </p:txBody>
      </p:sp>
      <p:sp>
        <p:nvSpPr>
          <p:cNvPr id="519" name="Google Shape;519;p2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How to read whether a customer will escalate to their bank if we don't resolve it their way.</a:t>
            </a:r>
            <a:endParaRPr b="0" i="0" sz="1150" u="none" cap="none" strike="noStrike">
              <a:solidFill>
                <a:schemeClr val="dk1"/>
              </a:solidFill>
              <a:latin typeface="Calibri"/>
              <a:ea typeface="Calibri"/>
              <a:cs typeface="Calibri"/>
              <a:sym typeface="Calibri"/>
            </a:endParaRPr>
          </a:p>
        </p:txBody>
      </p:sp>
      <p:sp>
        <p:nvSpPr>
          <p:cNvPr id="520" name="Google Shape;520;p2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521" name="Google Shape;521;p2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2" name="Google Shape;522;p2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523" name="Google Shape;523;p2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it matters</a:t>
            </a:r>
            <a:endParaRPr b="0" i="0" sz="1050" u="none" cap="none" strike="noStrike">
              <a:solidFill>
                <a:schemeClr val="dk1"/>
              </a:solidFill>
              <a:latin typeface="Calibri"/>
              <a:ea typeface="Calibri"/>
              <a:cs typeface="Calibri"/>
              <a:sym typeface="Calibri"/>
            </a:endParaRPr>
          </a:p>
        </p:txBody>
      </p:sp>
      <p:sp>
        <p:nvSpPr>
          <p:cNvPr id="524" name="Google Shape;524;p2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5" name="Google Shape;525;p2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526" name="Google Shape;526;p2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process</a:t>
            </a:r>
            <a:endParaRPr b="0" i="0" sz="1050" u="none" cap="none" strike="noStrike">
              <a:solidFill>
                <a:schemeClr val="dk1"/>
              </a:solidFill>
              <a:latin typeface="Calibri"/>
              <a:ea typeface="Calibri"/>
              <a:cs typeface="Calibri"/>
              <a:sym typeface="Calibri"/>
            </a:endParaRPr>
          </a:p>
        </p:txBody>
      </p:sp>
      <p:sp>
        <p:nvSpPr>
          <p:cNvPr id="527" name="Google Shape;527;p2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8" name="Google Shape;528;p2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529" name="Google Shape;529;p2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Signs that raise the risk</a:t>
            </a:r>
            <a:endParaRPr b="0" i="0" sz="1050" u="none" cap="none" strike="noStrike">
              <a:solidFill>
                <a:schemeClr val="dk1"/>
              </a:solidFill>
              <a:latin typeface="Calibri"/>
              <a:ea typeface="Calibri"/>
              <a:cs typeface="Calibri"/>
              <a:sym typeface="Calibri"/>
            </a:endParaRPr>
          </a:p>
        </p:txBody>
      </p:sp>
      <p:sp>
        <p:nvSpPr>
          <p:cNvPr id="530" name="Google Shape;530;p28"/>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31" name="Google Shape;531;p28"/>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532" name="Google Shape;532;p28"/>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Signs that lower it</a:t>
            </a:r>
            <a:endParaRPr b="0" i="0" sz="1050" u="none" cap="none" strike="noStrike">
              <a:solidFill>
                <a:schemeClr val="dk1"/>
              </a:solidFill>
              <a:latin typeface="Calibri"/>
              <a:ea typeface="Calibri"/>
              <a:cs typeface="Calibri"/>
              <a:sym typeface="Calibri"/>
            </a:endParaRPr>
          </a:p>
        </p:txBody>
      </p:sp>
      <p:sp>
        <p:nvSpPr>
          <p:cNvPr id="533" name="Google Shape;533;p2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2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535" name="Google Shape;535;p28"/>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536" name="Google Shape;536;p2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ASSESSING DISPUTE LIKELIHOOD</a:t>
            </a:r>
            <a:endParaRPr b="0" i="0" sz="800" u="none" cap="none" strike="noStrike">
              <a:solidFill>
                <a:schemeClr val="dk1"/>
              </a:solidFill>
              <a:latin typeface="Calibri"/>
              <a:ea typeface="Calibri"/>
              <a:cs typeface="Calibri"/>
              <a:sym typeface="Calibri"/>
            </a:endParaRPr>
          </a:p>
        </p:txBody>
      </p:sp>
      <p:sp>
        <p:nvSpPr>
          <p:cNvPr id="548" name="Google Shape;548;p2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549" name="Google Shape;549;p2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judgment call, not a formula.</a:t>
            </a:r>
            <a:endParaRPr b="0" i="0" sz="1200" u="none" cap="none" strike="noStrike">
              <a:solidFill>
                <a:schemeClr val="dk1"/>
              </a:solidFill>
              <a:latin typeface="Calibri"/>
              <a:ea typeface="Calibri"/>
              <a:cs typeface="Calibri"/>
              <a:sym typeface="Calibri"/>
            </a:endParaRPr>
          </a:p>
        </p:txBody>
      </p:sp>
      <p:sp>
        <p:nvSpPr>
          <p:cNvPr id="550" name="Google Shape;550;p29"/>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2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2" name="Google Shape;552;p2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553" name="Google Shape;553;p2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What it is</a:t>
            </a:r>
            <a:endParaRPr b="0" i="0" sz="1200" u="none" cap="none" strike="noStrike">
              <a:solidFill>
                <a:schemeClr val="dk1"/>
              </a:solidFill>
              <a:latin typeface="Calibri"/>
              <a:ea typeface="Calibri"/>
              <a:cs typeface="Calibri"/>
              <a:sym typeface="Calibri"/>
            </a:endParaRPr>
          </a:p>
        </p:txBody>
      </p:sp>
      <p:sp>
        <p:nvSpPr>
          <p:cNvPr id="554" name="Google Shape;554;p29"/>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Beyond "is the ask valid", you read how likely the customer is to dispute with their bank. It is one input into your resolution path.</a:t>
            </a:r>
            <a:endParaRPr b="0" i="0" sz="950" u="none" cap="none" strike="noStrike">
              <a:solidFill>
                <a:schemeClr val="dk1"/>
              </a:solidFill>
              <a:latin typeface="Calibri"/>
              <a:ea typeface="Calibri"/>
              <a:cs typeface="Calibri"/>
              <a:sym typeface="Calibri"/>
            </a:endParaRPr>
          </a:p>
        </p:txBody>
      </p:sp>
      <p:sp>
        <p:nvSpPr>
          <p:cNvPr id="555" name="Google Shape;555;p29"/>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7" name="Google Shape;557;p2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558" name="Google Shape;558;p2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Under-reading</a:t>
            </a:r>
            <a:endParaRPr b="0" i="0" sz="1200" u="none" cap="none" strike="noStrike">
              <a:solidFill>
                <a:schemeClr val="dk1"/>
              </a:solidFill>
              <a:latin typeface="Calibri"/>
              <a:ea typeface="Calibri"/>
              <a:cs typeface="Calibri"/>
              <a:sym typeface="Calibri"/>
            </a:endParaRPr>
          </a:p>
        </p:txBody>
      </p:sp>
      <p:sp>
        <p:nvSpPr>
          <p:cNvPr id="559" name="Google Shape;559;p29"/>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You refuse to budge, they dispute. We lose the amount, pay a chargeback fee, and likely lose the customer.</a:t>
            </a:r>
            <a:endParaRPr b="0" i="0" sz="950" u="none" cap="none" strike="noStrike">
              <a:solidFill>
                <a:schemeClr val="dk1"/>
              </a:solidFill>
              <a:latin typeface="Calibri"/>
              <a:ea typeface="Calibri"/>
              <a:cs typeface="Calibri"/>
              <a:sym typeface="Calibri"/>
            </a:endParaRPr>
          </a:p>
        </p:txBody>
      </p:sp>
      <p:sp>
        <p:nvSpPr>
          <p:cNvPr id="560" name="Google Shape;560;p29"/>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2" name="Google Shape;562;p2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563" name="Google Shape;563;p2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Over-reading</a:t>
            </a:r>
            <a:endParaRPr b="0" i="0" sz="1200" u="none" cap="none" strike="noStrike">
              <a:solidFill>
                <a:schemeClr val="dk1"/>
              </a:solidFill>
              <a:latin typeface="Calibri"/>
              <a:ea typeface="Calibri"/>
              <a:cs typeface="Calibri"/>
              <a:sym typeface="Calibri"/>
            </a:endParaRPr>
          </a:p>
        </p:txBody>
      </p:sp>
      <p:sp>
        <p:nvSpPr>
          <p:cNvPr id="564" name="Google Shape;564;p29"/>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Refunding reflexively gives away money and teaches the account that asking loudly gets results.</a:t>
            </a:r>
            <a:endParaRPr b="0" i="0" sz="950" u="none" cap="none" strike="noStrike">
              <a:solidFill>
                <a:schemeClr val="dk1"/>
              </a:solidFill>
              <a:latin typeface="Calibri"/>
              <a:ea typeface="Calibri"/>
              <a:cs typeface="Calibri"/>
              <a:sym typeface="Calibri"/>
            </a:endParaRPr>
          </a:p>
        </p:txBody>
      </p:sp>
      <p:sp>
        <p:nvSpPr>
          <p:cNvPr id="565" name="Google Shape;565;p29"/>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6" name="Google Shape;566;p29"/>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567" name="Google Shape;567;p29"/>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Goal:</a:t>
            </a:r>
            <a:r>
              <a:rPr b="0" i="0" lang="en" sz="1000" u="none" cap="none" strike="noStrike">
                <a:solidFill>
                  <a:srgbClr val="1D1D1F"/>
                </a:solidFill>
                <a:latin typeface="Arial"/>
                <a:ea typeface="Arial"/>
                <a:cs typeface="Arial"/>
                <a:sym typeface="Arial"/>
              </a:rPr>
              <a:t>an accurate read, not a cautious one. Only charges within 120 days of the charge date count as disputable.</a:t>
            </a:r>
            <a:endParaRPr b="0" i="0" sz="1000" u="none" cap="none" strike="noStrike">
              <a:solidFill>
                <a:schemeClr val="dk1"/>
              </a:solidFill>
              <a:latin typeface="Calibri"/>
              <a:ea typeface="Calibri"/>
              <a:cs typeface="Calibri"/>
              <a:sym typeface="Calibri"/>
            </a:endParaRPr>
          </a:p>
        </p:txBody>
      </p:sp>
      <p:sp>
        <p:nvSpPr>
          <p:cNvPr id="568" name="Google Shape;568;p2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ASSESSING DISPUTE LIKELIHOOD</a:t>
            </a:r>
            <a:endParaRPr b="0" i="0" sz="800" u="none" cap="none" strike="noStrike">
              <a:solidFill>
                <a:schemeClr val="dk1"/>
              </a:solidFill>
              <a:latin typeface="Calibri"/>
              <a:ea typeface="Calibri"/>
              <a:cs typeface="Calibri"/>
              <a:sym typeface="Calibri"/>
            </a:endParaRPr>
          </a:p>
        </p:txBody>
      </p:sp>
      <p:sp>
        <p:nvSpPr>
          <p:cNvPr id="574" name="Google Shape;574;p3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process</a:t>
            </a:r>
            <a:endParaRPr b="0" i="0" sz="2400" u="none" cap="none" strike="noStrike">
              <a:solidFill>
                <a:schemeClr val="dk1"/>
              </a:solidFill>
              <a:latin typeface="Calibri"/>
              <a:ea typeface="Calibri"/>
              <a:cs typeface="Calibri"/>
              <a:sym typeface="Calibri"/>
            </a:endParaRPr>
          </a:p>
        </p:txBody>
      </p:sp>
      <p:sp>
        <p:nvSpPr>
          <p:cNvPr id="575" name="Google Shape;575;p30"/>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30"/>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77" name="Google Shape;577;p30"/>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578" name="Google Shape;578;p30"/>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  Investigate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Pull job history, comms and CS/CP notes. Don't stop at the ticket in front of you.</a:t>
            </a:r>
            <a:endParaRPr b="0" i="0" sz="1200" u="none" cap="none" strike="noStrike">
              <a:solidFill>
                <a:schemeClr val="dk1"/>
              </a:solidFill>
              <a:latin typeface="Calibri"/>
              <a:ea typeface="Calibri"/>
              <a:cs typeface="Calibri"/>
              <a:sym typeface="Calibri"/>
            </a:endParaRPr>
          </a:p>
        </p:txBody>
      </p:sp>
      <p:sp>
        <p:nvSpPr>
          <p:cNvPr id="579" name="Google Shape;579;p30"/>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30"/>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1" name="Google Shape;581;p30"/>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582" name="Google Shape;582;p30"/>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  Weigh, don't score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One sign rarely tells the story. Read the signs together, like a retainability read.</a:t>
            </a:r>
            <a:endParaRPr b="0" i="0" sz="1200" u="none" cap="none" strike="noStrike">
              <a:solidFill>
                <a:schemeClr val="dk1"/>
              </a:solidFill>
              <a:latin typeface="Calibri"/>
              <a:ea typeface="Calibri"/>
              <a:cs typeface="Calibri"/>
              <a:sym typeface="Calibri"/>
            </a:endParaRPr>
          </a:p>
        </p:txBody>
      </p:sp>
      <p:sp>
        <p:nvSpPr>
          <p:cNvPr id="583" name="Google Shape;583;p30"/>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0"/>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5" name="Google Shape;585;p30"/>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586" name="Google Shape;586;p30"/>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3  Pull the threshold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CRM &gt; Agent Navigation Bar &gt; Refund if Above Dispute Threshold. Use the live table per card network.</a:t>
            </a:r>
            <a:endParaRPr b="0" i="0" sz="1200" u="none" cap="none" strike="noStrike">
              <a:solidFill>
                <a:schemeClr val="dk1"/>
              </a:solidFill>
              <a:latin typeface="Calibri"/>
              <a:ea typeface="Calibri"/>
              <a:cs typeface="Calibri"/>
              <a:sym typeface="Calibri"/>
            </a:endParaRPr>
          </a:p>
        </p:txBody>
      </p:sp>
      <p:sp>
        <p:nvSpPr>
          <p:cNvPr id="587" name="Google Shape;587;p30"/>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30"/>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9" name="Google Shape;589;p30"/>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590" name="Google Shape;590;p30"/>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4  Judge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Does your read clear that network's threshold? Clears: resolve proactively. Doesn't: the standard offer is enough.</a:t>
            </a:r>
            <a:endParaRPr b="0" i="0" sz="1200" u="none" cap="none" strike="noStrike">
              <a:solidFill>
                <a:schemeClr val="dk1"/>
              </a:solidFill>
              <a:latin typeface="Calibri"/>
              <a:ea typeface="Calibri"/>
              <a:cs typeface="Calibri"/>
              <a:sym typeface="Calibri"/>
            </a:endParaRPr>
          </a:p>
        </p:txBody>
      </p:sp>
      <p:sp>
        <p:nvSpPr>
          <p:cNvPr id="591" name="Google Shape;591;p30"/>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30"/>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3" name="Google Shape;593;p30"/>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594" name="Google Shape;594;p30"/>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Don't mix thresholds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This is the percentage threshold, not the HDR dollar thresholds (Amex, Mastercard, Visa).</a:t>
            </a:r>
            <a:endParaRPr b="0" i="0" sz="1200" u="none" cap="none" strike="noStrike">
              <a:solidFill>
                <a:schemeClr val="dk1"/>
              </a:solidFill>
              <a:latin typeface="Calibri"/>
              <a:ea typeface="Calibri"/>
              <a:cs typeface="Calibri"/>
              <a:sym typeface="Calibri"/>
            </a:endParaRPr>
          </a:p>
        </p:txBody>
      </p:sp>
      <p:sp>
        <p:nvSpPr>
          <p:cNvPr id="595" name="Google Shape;595;p30"/>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30"/>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7" name="Google Shape;597;p30"/>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598" name="Google Shape;598;p30"/>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Write it down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Leave an internal note of your assessment either way.</a:t>
            </a:r>
            <a:endParaRPr b="0" i="0" sz="1200" u="none" cap="none" strike="noStrike">
              <a:solidFill>
                <a:schemeClr val="dk1"/>
              </a:solidFill>
              <a:latin typeface="Calibri"/>
              <a:ea typeface="Calibri"/>
              <a:cs typeface="Calibri"/>
              <a:sym typeface="Calibri"/>
            </a:endParaRPr>
          </a:p>
        </p:txBody>
      </p:sp>
      <p:sp>
        <p:nvSpPr>
          <p:cNvPr id="599" name="Google Shape;599;p3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ASSESSING DISPUTE LIKELIHOOD</a:t>
            </a:r>
            <a:endParaRPr b="0" i="0" sz="800" u="none" cap="none" strike="noStrike">
              <a:solidFill>
                <a:schemeClr val="dk1"/>
              </a:solidFill>
              <a:latin typeface="Calibri"/>
              <a:ea typeface="Calibri"/>
              <a:cs typeface="Calibri"/>
              <a:sym typeface="Calibri"/>
            </a:endParaRPr>
          </a:p>
        </p:txBody>
      </p:sp>
      <p:sp>
        <p:nvSpPr>
          <p:cNvPr id="605" name="Google Shape;605;p3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Signs that increase likelihood</a:t>
            </a:r>
            <a:endParaRPr b="0" i="0" sz="2400" u="none" cap="none" strike="noStrike">
              <a:solidFill>
                <a:schemeClr val="dk1"/>
              </a:solidFill>
              <a:latin typeface="Calibri"/>
              <a:ea typeface="Calibri"/>
              <a:cs typeface="Calibri"/>
              <a:sym typeface="Calibri"/>
            </a:endParaRPr>
          </a:p>
        </p:txBody>
      </p:sp>
      <p:sp>
        <p:nvSpPr>
          <p:cNvPr id="606" name="Google Shape;606;p31"/>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31"/>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8" name="Google Shape;608;p31"/>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609" name="Google Shape;609;p31"/>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Early in FC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Only on their 1st or 2nd paid month, or ETF charged right after it.</a:t>
            </a:r>
            <a:endParaRPr b="0" i="0" sz="1200" u="none" cap="none" strike="noStrike">
              <a:solidFill>
                <a:schemeClr val="dk1"/>
              </a:solidFill>
              <a:latin typeface="Calibri"/>
              <a:ea typeface="Calibri"/>
              <a:cs typeface="Calibri"/>
              <a:sym typeface="Calibri"/>
            </a:endParaRPr>
          </a:p>
        </p:txBody>
      </p:sp>
      <p:sp>
        <p:nvSpPr>
          <p:cNvPr id="610" name="Google Shape;610;p31"/>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31"/>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2" name="Google Shape;612;p31"/>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613" name="Google Shape;613;p31"/>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Words and searches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Used "cancel" or "refund" in a message or Help Center search.</a:t>
            </a:r>
            <a:endParaRPr b="0" i="0" sz="1200" u="none" cap="none" strike="noStrike">
              <a:solidFill>
                <a:schemeClr val="dk1"/>
              </a:solidFill>
              <a:latin typeface="Calibri"/>
              <a:ea typeface="Calibri"/>
              <a:cs typeface="Calibri"/>
              <a:sym typeface="Calibri"/>
            </a:endParaRPr>
          </a:p>
        </p:txBody>
      </p:sp>
      <p:sp>
        <p:nvSpPr>
          <p:cNvPr id="614" name="Google Shape;614;p31"/>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31"/>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6" name="Google Shape;616;p31"/>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617" name="Google Shape;617;p31"/>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Billing contact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Called the billing number or visited cleaningbill.com and looked up the charge.</a:t>
            </a:r>
            <a:endParaRPr b="0" i="0" sz="1200" u="none" cap="none" strike="noStrike">
              <a:solidFill>
                <a:schemeClr val="dk1"/>
              </a:solidFill>
              <a:latin typeface="Calibri"/>
              <a:ea typeface="Calibri"/>
              <a:cs typeface="Calibri"/>
              <a:sym typeface="Calibri"/>
            </a:endParaRPr>
          </a:p>
        </p:txBody>
      </p:sp>
      <p:sp>
        <p:nvSpPr>
          <p:cNvPr id="618" name="Google Shape;618;p31"/>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31"/>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0" name="Google Shape;620;p31"/>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621" name="Google Shape;621;p31"/>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Bad experience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Couldn't get matched, or low ratings plus few invoiced jobs. Low ratings alone are not the signal.</a:t>
            </a:r>
            <a:endParaRPr b="0" i="0" sz="1200" u="none" cap="none" strike="noStrike">
              <a:solidFill>
                <a:schemeClr val="dk1"/>
              </a:solidFill>
              <a:latin typeface="Calibri"/>
              <a:ea typeface="Calibri"/>
              <a:cs typeface="Calibri"/>
              <a:sym typeface="Calibri"/>
            </a:endParaRPr>
          </a:p>
        </p:txBody>
      </p:sp>
      <p:sp>
        <p:nvSpPr>
          <p:cNvPr id="622" name="Google Shape;622;p31"/>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31"/>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4" name="Google Shape;624;p31"/>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625" name="Google Shape;625;p31"/>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Dispute intent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Tried to swap the card to avoid paying. Says they disputed ("I already called" beats "I'm going to").</a:t>
            </a:r>
            <a:endParaRPr b="0" i="0" sz="1200" u="none" cap="none" strike="noStrike">
              <a:solidFill>
                <a:schemeClr val="dk1"/>
              </a:solidFill>
              <a:latin typeface="Calibri"/>
              <a:ea typeface="Calibri"/>
              <a:cs typeface="Calibri"/>
              <a:sym typeface="Calibri"/>
            </a:endParaRPr>
          </a:p>
        </p:txBody>
      </p:sp>
      <p:sp>
        <p:nvSpPr>
          <p:cNvPr id="626" name="Google Shape;626;p31"/>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31"/>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8" name="Google Shape;628;p31"/>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629" name="Google Shape;629;p31"/>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Escalation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Public threats, a BBB case, or an escalated tone ("scam", "fraud", expletives).</a:t>
            </a:r>
            <a:endParaRPr b="0" i="0" sz="1200" u="none" cap="none" strike="noStrike">
              <a:solidFill>
                <a:schemeClr val="dk1"/>
              </a:solidFill>
              <a:latin typeface="Calibri"/>
              <a:ea typeface="Calibri"/>
              <a:cs typeface="Calibri"/>
              <a:sym typeface="Calibri"/>
            </a:endParaRPr>
          </a:p>
        </p:txBody>
      </p:sp>
      <p:sp>
        <p:nvSpPr>
          <p:cNvPr id="630" name="Google Shape;630;p3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3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ASSESSING DISPUTE LIKELIHOOD</a:t>
            </a:r>
            <a:endParaRPr b="0" i="0" sz="800" u="none" cap="none" strike="noStrike">
              <a:solidFill>
                <a:schemeClr val="dk1"/>
              </a:solidFill>
              <a:latin typeface="Calibri"/>
              <a:ea typeface="Calibri"/>
              <a:cs typeface="Calibri"/>
              <a:sym typeface="Calibri"/>
            </a:endParaRPr>
          </a:p>
        </p:txBody>
      </p:sp>
      <p:sp>
        <p:nvSpPr>
          <p:cNvPr id="636" name="Google Shape;636;p3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Signs that decrease likelihood</a:t>
            </a:r>
            <a:endParaRPr b="0" i="0" sz="2400" u="none" cap="none" strike="noStrike">
              <a:solidFill>
                <a:schemeClr val="dk1"/>
              </a:solidFill>
              <a:latin typeface="Calibri"/>
              <a:ea typeface="Calibri"/>
              <a:cs typeface="Calibri"/>
              <a:sym typeface="Calibri"/>
            </a:endParaRPr>
          </a:p>
        </p:txBody>
      </p:sp>
      <p:sp>
        <p:nvSpPr>
          <p:cNvPr id="637" name="Google Shape;637;p32"/>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32"/>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9" name="Google Shape;639;p32"/>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640" name="Google Shape;640;p32"/>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Satisfied jobs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2+ satisfied invoiced jobs, high ratings or a repeat cleaner.</a:t>
            </a:r>
            <a:endParaRPr b="0" i="0" sz="1200" u="none" cap="none" strike="noStrike">
              <a:solidFill>
                <a:schemeClr val="dk1"/>
              </a:solidFill>
              <a:latin typeface="Calibri"/>
              <a:ea typeface="Calibri"/>
              <a:cs typeface="Calibri"/>
              <a:sym typeface="Calibri"/>
            </a:endParaRPr>
          </a:p>
        </p:txBody>
      </p:sp>
      <p:sp>
        <p:nvSpPr>
          <p:cNvPr id="641" name="Google Shape;641;p32"/>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32"/>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3" name="Google Shape;643;p32"/>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644" name="Google Shape;644;p32"/>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Wants an upcoming job</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Self-booked it, or confirmed it with CS or the CP.</a:t>
            </a:r>
            <a:endParaRPr b="0" i="0" sz="1200" u="none" cap="none" strike="noStrike">
              <a:solidFill>
                <a:schemeClr val="dk1"/>
              </a:solidFill>
              <a:latin typeface="Calibri"/>
              <a:ea typeface="Calibri"/>
              <a:cs typeface="Calibri"/>
              <a:sym typeface="Calibri"/>
            </a:endParaRPr>
          </a:p>
        </p:txBody>
      </p:sp>
      <p:sp>
        <p:nvSpPr>
          <p:cNvPr id="645" name="Google Shape;645;p32"/>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32"/>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7" name="Google Shape;647;p32"/>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648" name="Google Shape;648;p32"/>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Wants to keep FC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Says or implies they want to keep the membership.</a:t>
            </a:r>
            <a:endParaRPr b="0" i="0" sz="1200" u="none" cap="none" strike="noStrike">
              <a:solidFill>
                <a:schemeClr val="dk1"/>
              </a:solidFill>
              <a:latin typeface="Calibri"/>
              <a:ea typeface="Calibri"/>
              <a:cs typeface="Calibri"/>
              <a:sym typeface="Calibri"/>
            </a:endParaRPr>
          </a:p>
        </p:txBody>
      </p:sp>
      <p:sp>
        <p:nvSpPr>
          <p:cNvPr id="649" name="Google Shape;649;p32"/>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32"/>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1" name="Google Shape;651;p32"/>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652" name="Google Shape;652;p32"/>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Understands terms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Says or implies they understand the FC terms.</a:t>
            </a:r>
            <a:endParaRPr b="0" i="0" sz="1200" u="none" cap="none" strike="noStrike">
              <a:solidFill>
                <a:schemeClr val="dk1"/>
              </a:solidFill>
              <a:latin typeface="Calibri"/>
              <a:ea typeface="Calibri"/>
              <a:cs typeface="Calibri"/>
              <a:sym typeface="Calibri"/>
            </a:endParaRPr>
          </a:p>
        </p:txBody>
      </p:sp>
      <p:sp>
        <p:nvSpPr>
          <p:cNvPr id="653" name="Google Shape;653;p32"/>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32"/>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5" name="Google Shape;655;p32"/>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656" name="Google Shape;656;p32"/>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3+ paid months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If they were going to dispute those charges, they would have.</a:t>
            </a:r>
            <a:endParaRPr b="0" i="0" sz="1200" u="none" cap="none" strike="noStrike">
              <a:solidFill>
                <a:schemeClr val="dk1"/>
              </a:solidFill>
              <a:latin typeface="Calibri"/>
              <a:ea typeface="Calibri"/>
              <a:cs typeface="Calibri"/>
              <a:sym typeface="Calibri"/>
            </a:endParaRPr>
          </a:p>
        </p:txBody>
      </p:sp>
      <p:sp>
        <p:nvSpPr>
          <p:cNvPr id="657" name="Google Shape;657;p32"/>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32"/>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9" name="Google Shape;659;p32"/>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660" name="Google Shape;660;p32"/>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Wants more, or an explanation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Asks for credits or free months, or wants a charge explained. They are invested.</a:t>
            </a:r>
            <a:endParaRPr b="0" i="0" sz="1200" u="none" cap="none" strike="noStrike">
              <a:solidFill>
                <a:schemeClr val="dk1"/>
              </a:solidFill>
              <a:latin typeface="Calibri"/>
              <a:ea typeface="Calibri"/>
              <a:cs typeface="Calibri"/>
              <a:sym typeface="Calibri"/>
            </a:endParaRPr>
          </a:p>
        </p:txBody>
      </p:sp>
      <p:sp>
        <p:nvSpPr>
          <p:cNvPr id="661" name="Google Shape;661;p3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33"/>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667" name="Google Shape;667;p33"/>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668" name="Google Shape;668;p33"/>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669" name="Google Shape;669;p33"/>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33"/>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671" name="Google Shape;671;p33"/>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672" name="Google Shape;672;p33"/>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33"/>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33"/>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33"/>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33"/>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33"/>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33"/>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34"/>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04</a:t>
            </a:r>
            <a:endParaRPr b="0" i="0" sz="800" u="none" cap="none" strike="noStrike">
              <a:solidFill>
                <a:schemeClr val="dk1"/>
              </a:solidFill>
              <a:latin typeface="Calibri"/>
              <a:ea typeface="Calibri"/>
              <a:cs typeface="Calibri"/>
              <a:sym typeface="Calibri"/>
            </a:endParaRPr>
          </a:p>
        </p:txBody>
      </p:sp>
      <p:sp>
        <p:nvSpPr>
          <p:cNvPr id="684" name="Google Shape;684;p34"/>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HDR Ticket Handling Process</a:t>
            </a:r>
            <a:endParaRPr b="0" i="0" sz="2800" u="none" cap="none" strike="noStrike">
              <a:solidFill>
                <a:schemeClr val="dk1"/>
              </a:solidFill>
              <a:latin typeface="Calibri"/>
              <a:ea typeface="Calibri"/>
              <a:cs typeface="Calibri"/>
              <a:sym typeface="Calibri"/>
            </a:endParaRPr>
          </a:p>
        </p:txBody>
      </p:sp>
      <p:sp>
        <p:nvSpPr>
          <p:cNvPr id="685" name="Google Shape;685;p34"/>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High Dispute Risk tickets: refund proactively or handle as a normal request.</a:t>
            </a:r>
            <a:endParaRPr b="0" i="0" sz="1150" u="none" cap="none" strike="noStrike">
              <a:solidFill>
                <a:schemeClr val="dk1"/>
              </a:solidFill>
              <a:latin typeface="Calibri"/>
              <a:ea typeface="Calibri"/>
              <a:cs typeface="Calibri"/>
              <a:sym typeface="Calibri"/>
            </a:endParaRPr>
          </a:p>
        </p:txBody>
      </p:sp>
      <p:sp>
        <p:nvSpPr>
          <p:cNvPr id="686" name="Google Shape;686;p34"/>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687" name="Google Shape;687;p34"/>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88" name="Google Shape;688;p34"/>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689" name="Google Shape;689;p34"/>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Thresholds and rules</a:t>
            </a:r>
            <a:endParaRPr b="0" i="0" sz="1050" u="none" cap="none" strike="noStrike">
              <a:solidFill>
                <a:schemeClr val="dk1"/>
              </a:solidFill>
              <a:latin typeface="Calibri"/>
              <a:ea typeface="Calibri"/>
              <a:cs typeface="Calibri"/>
              <a:sym typeface="Calibri"/>
            </a:endParaRPr>
          </a:p>
        </p:txBody>
      </p:sp>
      <p:sp>
        <p:nvSpPr>
          <p:cNvPr id="690" name="Google Shape;690;p34"/>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1" name="Google Shape;691;p34"/>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692" name="Google Shape;692;p34"/>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Which track</a:t>
            </a:r>
            <a:endParaRPr b="0" i="0" sz="1050" u="none" cap="none" strike="noStrike">
              <a:solidFill>
                <a:schemeClr val="dk1"/>
              </a:solidFill>
              <a:latin typeface="Calibri"/>
              <a:ea typeface="Calibri"/>
              <a:cs typeface="Calibri"/>
              <a:sym typeface="Calibri"/>
            </a:endParaRPr>
          </a:p>
        </p:txBody>
      </p:sp>
      <p:sp>
        <p:nvSpPr>
          <p:cNvPr id="693" name="Google Shape;693;p34"/>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4" name="Google Shape;694;p34"/>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695" name="Google Shape;695;p34"/>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Ticket types</a:t>
            </a:r>
            <a:endParaRPr b="0" i="0" sz="1050" u="none" cap="none" strike="noStrike">
              <a:solidFill>
                <a:schemeClr val="dk1"/>
              </a:solidFill>
              <a:latin typeface="Calibri"/>
              <a:ea typeface="Calibri"/>
              <a:cs typeface="Calibri"/>
              <a:sym typeface="Calibri"/>
            </a:endParaRPr>
          </a:p>
        </p:txBody>
      </p:sp>
      <p:sp>
        <p:nvSpPr>
          <p:cNvPr id="696" name="Google Shape;696;p34"/>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7" name="Google Shape;697;p34"/>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698" name="Google Shape;698;p34"/>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Notes and edge cases</a:t>
            </a:r>
            <a:endParaRPr b="0" i="0" sz="1050" u="none" cap="none" strike="noStrike">
              <a:solidFill>
                <a:schemeClr val="dk1"/>
              </a:solidFill>
              <a:latin typeface="Calibri"/>
              <a:ea typeface="Calibri"/>
              <a:cs typeface="Calibri"/>
              <a:sym typeface="Calibri"/>
            </a:endParaRPr>
          </a:p>
        </p:txBody>
      </p:sp>
      <p:sp>
        <p:nvSpPr>
          <p:cNvPr id="699" name="Google Shape;699;p34"/>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34"/>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701" name="Google Shape;701;p34"/>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702" name="Google Shape;702;p34"/>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34"/>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34"/>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34"/>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34"/>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34"/>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3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714" name="Google Shape;714;p3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715" name="Google Shape;715;p3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HDR means the customer is likely to dispute, escalate or challenge a charge.</a:t>
            </a:r>
            <a:endParaRPr b="0" i="0" sz="1200" u="none" cap="none" strike="noStrike">
              <a:solidFill>
                <a:schemeClr val="dk1"/>
              </a:solidFill>
              <a:latin typeface="Calibri"/>
              <a:ea typeface="Calibri"/>
              <a:cs typeface="Calibri"/>
              <a:sym typeface="Calibri"/>
            </a:endParaRPr>
          </a:p>
        </p:txBody>
      </p:sp>
      <p:sp>
        <p:nvSpPr>
          <p:cNvPr id="716" name="Google Shape;716;p3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3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8" name="Google Shape;718;p3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719" name="Google Shape;719;p3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it differs</a:t>
            </a:r>
            <a:endParaRPr b="0" i="0" sz="1200" u="none" cap="none" strike="noStrike">
              <a:solidFill>
                <a:schemeClr val="dk1"/>
              </a:solidFill>
              <a:latin typeface="Calibri"/>
              <a:ea typeface="Calibri"/>
              <a:cs typeface="Calibri"/>
              <a:sym typeface="Calibri"/>
            </a:endParaRPr>
          </a:p>
        </p:txBody>
      </p:sp>
      <p:sp>
        <p:nvSpPr>
          <p:cNvPr id="720" name="Google Shape;720;p3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dispute costs more than a proactive refund. The question is "how likely is this customer to dispute, and does that change what we do".</a:t>
            </a:r>
            <a:endParaRPr b="0" i="0" sz="950" u="none" cap="none" strike="noStrike">
              <a:solidFill>
                <a:schemeClr val="dk1"/>
              </a:solidFill>
              <a:latin typeface="Calibri"/>
              <a:ea typeface="Calibri"/>
              <a:cs typeface="Calibri"/>
              <a:sym typeface="Calibri"/>
            </a:endParaRPr>
          </a:p>
        </p:txBody>
      </p:sp>
      <p:sp>
        <p:nvSpPr>
          <p:cNvPr id="721" name="Google Shape;721;p3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3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3" name="Google Shape;723;p3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724" name="Google Shape;724;p3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intent only</a:t>
            </a:r>
            <a:endParaRPr b="0" i="0" sz="1200" u="none" cap="none" strike="noStrike">
              <a:solidFill>
                <a:schemeClr val="dk1"/>
              </a:solidFill>
              <a:latin typeface="Calibri"/>
              <a:ea typeface="Calibri"/>
              <a:cs typeface="Calibri"/>
              <a:sym typeface="Calibri"/>
            </a:endParaRPr>
          </a:p>
        </p:txBody>
      </p:sp>
      <p:sp>
        <p:nvSpPr>
          <p:cNvPr id="725" name="Google Shape;725;p3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Apply HDR only when the customer has refund intent for the charge. Cancellation intent alone follows the Transformation Guidelines.</a:t>
            </a:r>
            <a:endParaRPr b="0" i="0" sz="950" u="none" cap="none" strike="noStrike">
              <a:solidFill>
                <a:schemeClr val="dk1"/>
              </a:solidFill>
              <a:latin typeface="Calibri"/>
              <a:ea typeface="Calibri"/>
              <a:cs typeface="Calibri"/>
              <a:sym typeface="Calibri"/>
            </a:endParaRPr>
          </a:p>
        </p:txBody>
      </p:sp>
      <p:sp>
        <p:nvSpPr>
          <p:cNvPr id="726" name="Google Shape;726;p3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3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8" name="Google Shape;728;p3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729" name="Google Shape;729;p3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Always leave a note</a:t>
            </a:r>
            <a:endParaRPr b="0" i="0" sz="1200" u="none" cap="none" strike="noStrike">
              <a:solidFill>
                <a:schemeClr val="dk1"/>
              </a:solidFill>
              <a:latin typeface="Calibri"/>
              <a:ea typeface="Calibri"/>
              <a:cs typeface="Calibri"/>
              <a:sym typeface="Calibri"/>
            </a:endParaRPr>
          </a:p>
        </p:txBody>
      </p:sp>
      <p:sp>
        <p:nvSpPr>
          <p:cNvPr id="730" name="Google Shape;730;p3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Above or below the threshold, write an internal note of your assessment. It protects the account if C comes back.</a:t>
            </a:r>
            <a:endParaRPr b="0" i="0" sz="950" u="none" cap="none" strike="noStrike">
              <a:solidFill>
                <a:schemeClr val="dk1"/>
              </a:solidFill>
              <a:latin typeface="Calibri"/>
              <a:ea typeface="Calibri"/>
              <a:cs typeface="Calibri"/>
              <a:sym typeface="Calibri"/>
            </a:endParaRPr>
          </a:p>
        </p:txBody>
      </p:sp>
      <p:sp>
        <p:nvSpPr>
          <p:cNvPr id="731" name="Google Shape;731;p3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32" name="Google Shape;732;p3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733" name="Google Shape;733;p3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Same question, different doors:</a:t>
            </a:r>
            <a:r>
              <a:rPr b="0" i="0" lang="en" sz="1000" u="none" cap="none" strike="noStrike">
                <a:solidFill>
                  <a:srgbClr val="1D1D1F"/>
                </a:solidFill>
                <a:latin typeface="Arial"/>
                <a:ea typeface="Arial"/>
                <a:cs typeface="Arial"/>
                <a:sym typeface="Arial"/>
              </a:rPr>
              <a:t>a Help Center search, a Stripe flag or a billing-line call all ask: refund proactively or handle normally?</a:t>
            </a:r>
            <a:endParaRPr b="0" i="0" sz="1000" u="none" cap="none" strike="noStrike">
              <a:solidFill>
                <a:schemeClr val="dk1"/>
              </a:solidFill>
              <a:latin typeface="Calibri"/>
              <a:ea typeface="Calibri"/>
              <a:cs typeface="Calibri"/>
              <a:sym typeface="Calibri"/>
            </a:endParaRPr>
          </a:p>
        </p:txBody>
      </p:sp>
      <p:sp>
        <p:nvSpPr>
          <p:cNvPr id="734" name="Google Shape;734;p3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3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740" name="Google Shape;740;p3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Card-based dispute threshold</a:t>
            </a:r>
            <a:endParaRPr b="0" i="0" sz="2400" u="none" cap="none" strike="noStrike">
              <a:solidFill>
                <a:schemeClr val="dk1"/>
              </a:solidFill>
              <a:latin typeface="Calibri"/>
              <a:ea typeface="Calibri"/>
              <a:cs typeface="Calibri"/>
              <a:sym typeface="Calibri"/>
            </a:endParaRPr>
          </a:p>
        </p:txBody>
      </p:sp>
      <p:sp>
        <p:nvSpPr>
          <p:cNvPr id="741" name="Google Shape;741;p3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Below the amount, just refund.</a:t>
            </a:r>
            <a:endParaRPr b="0" i="0" sz="1200" u="none" cap="none" strike="noStrike">
              <a:solidFill>
                <a:schemeClr val="dk1"/>
              </a:solidFill>
              <a:latin typeface="Calibri"/>
              <a:ea typeface="Calibri"/>
              <a:cs typeface="Calibri"/>
              <a:sym typeface="Calibri"/>
            </a:endParaRPr>
          </a:p>
        </p:txBody>
      </p:sp>
      <p:graphicFrame>
        <p:nvGraphicFramePr>
          <p:cNvPr id="742" name="Google Shape;742;p36"/>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Card</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Threshold</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Notes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Amex</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$50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Refund if the disputable amount is under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MasterCard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$58</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Visa</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$70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Discover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If trained on the Percentage-based Assessment, handle it. Otherwise reassign to the Risk Reduction queue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743" name="Google Shape;743;p36"/>
          <p:cNvSpPr/>
          <p:nvPr/>
        </p:nvSpPr>
        <p:spPr>
          <a:xfrm>
            <a:off x="411480" y="30211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44" name="Google Shape;744;p36"/>
          <p:cNvPicPr preferRelativeResize="0"/>
          <p:nvPr/>
        </p:nvPicPr>
        <p:blipFill rotWithShape="1">
          <a:blip r:embed="rId3">
            <a:alphaModFix/>
          </a:blip>
          <a:srcRect b="0" l="0" r="0" t="0"/>
          <a:stretch/>
        </p:blipFill>
        <p:spPr>
          <a:xfrm>
            <a:off x="566928" y="3130868"/>
            <a:ext cx="164592" cy="164592"/>
          </a:xfrm>
          <a:prstGeom prst="rect">
            <a:avLst/>
          </a:prstGeom>
          <a:noFill/>
          <a:ln>
            <a:noFill/>
          </a:ln>
        </p:spPr>
      </p:pic>
      <p:sp>
        <p:nvSpPr>
          <p:cNvPr id="745" name="Google Shape;745;p36"/>
          <p:cNvSpPr txBox="1"/>
          <p:nvPr/>
        </p:nvSpPr>
        <p:spPr>
          <a:xfrm>
            <a:off x="822960" y="31217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48-hour rule:</a:t>
            </a:r>
            <a:r>
              <a:rPr b="0" i="0" lang="en" sz="1000" u="none" cap="none" strike="noStrike">
                <a:solidFill>
                  <a:srgbClr val="1D1D1F"/>
                </a:solidFill>
                <a:latin typeface="Arial"/>
                <a:ea typeface="Arial"/>
                <a:cs typeface="Arial"/>
                <a:sym typeface="Arial"/>
              </a:rPr>
              <a:t>within 48 hours of the HDR flag, use the threshold. After 48 hours, treat it as a normal ticket under standard Transformation Guidelines.</a:t>
            </a:r>
            <a:endParaRPr b="0" i="0" sz="1000" u="none" cap="none" strike="noStrike">
              <a:solidFill>
                <a:schemeClr val="dk1"/>
              </a:solidFill>
              <a:latin typeface="Calibri"/>
              <a:ea typeface="Calibri"/>
              <a:cs typeface="Calibri"/>
              <a:sym typeface="Calibri"/>
            </a:endParaRPr>
          </a:p>
        </p:txBody>
      </p:sp>
      <p:sp>
        <p:nvSpPr>
          <p:cNvPr id="746" name="Google Shape;746;p3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752" name="Google Shape;752;p3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Exceptions and partial refunds</a:t>
            </a:r>
            <a:endParaRPr b="0" i="0" sz="2400" u="none" cap="none" strike="noStrike">
              <a:solidFill>
                <a:schemeClr val="dk1"/>
              </a:solidFill>
              <a:latin typeface="Calibri"/>
              <a:ea typeface="Calibri"/>
              <a:cs typeface="Calibri"/>
              <a:sym typeface="Calibri"/>
            </a:endParaRPr>
          </a:p>
        </p:txBody>
      </p:sp>
      <p:sp>
        <p:nvSpPr>
          <p:cNvPr id="753" name="Google Shape;753;p3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threshold is a default, not an absolute rule.</a:t>
            </a:r>
            <a:endParaRPr b="0" i="0" sz="1200" u="none" cap="none" strike="noStrike">
              <a:solidFill>
                <a:schemeClr val="dk1"/>
              </a:solidFill>
              <a:latin typeface="Calibri"/>
              <a:ea typeface="Calibri"/>
              <a:cs typeface="Calibri"/>
              <a:sym typeface="Calibri"/>
            </a:endParaRPr>
          </a:p>
        </p:txBody>
      </p:sp>
      <p:sp>
        <p:nvSpPr>
          <p:cNvPr id="754" name="Google Shape;754;p37"/>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37"/>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6" name="Google Shape;756;p37"/>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757" name="Google Shape;757;p37"/>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Guideline exceptions</a:t>
            </a:r>
            <a:endParaRPr b="0" i="0" sz="1200" u="none" cap="none" strike="noStrike">
              <a:solidFill>
                <a:schemeClr val="dk1"/>
              </a:solidFill>
              <a:latin typeface="Calibri"/>
              <a:ea typeface="Calibri"/>
              <a:cs typeface="Calibri"/>
              <a:sym typeface="Calibri"/>
            </a:endParaRPr>
          </a:p>
        </p:txBody>
      </p:sp>
      <p:sp>
        <p:nvSpPr>
          <p:cNvPr id="758" name="Google Shape;758;p37"/>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Above the threshold can still be refunded if another guideline applies, most commonly a material legal threat or extreme financial hardship.</a:t>
            </a:r>
            <a:endParaRPr b="0" i="0" sz="950" u="none" cap="none" strike="noStrike">
              <a:solidFill>
                <a:schemeClr val="dk1"/>
              </a:solidFill>
              <a:latin typeface="Calibri"/>
              <a:ea typeface="Calibri"/>
              <a:cs typeface="Calibri"/>
              <a:sym typeface="Calibri"/>
            </a:endParaRPr>
          </a:p>
        </p:txBody>
      </p:sp>
      <p:sp>
        <p:nvSpPr>
          <p:cNvPr id="759" name="Google Shape;759;p37"/>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37"/>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61" name="Google Shape;761;p37"/>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762" name="Google Shape;762;p37"/>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Assess the full amount</a:t>
            </a:r>
            <a:endParaRPr b="0" i="0" sz="1200" u="none" cap="none" strike="noStrike">
              <a:solidFill>
                <a:schemeClr val="dk1"/>
              </a:solidFill>
              <a:latin typeface="Calibri"/>
              <a:ea typeface="Calibri"/>
              <a:cs typeface="Calibri"/>
              <a:sym typeface="Calibri"/>
            </a:endParaRPr>
          </a:p>
        </p:txBody>
      </p:sp>
      <p:sp>
        <p:nvSpPr>
          <p:cNvPr id="763" name="Google Shape;763;p37"/>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Even if C only wants a partial refund, assess against the full original Stripe amount. $105 charge, $20 asked: assess $105.</a:t>
            </a:r>
            <a:endParaRPr b="0" i="0" sz="950" u="none" cap="none" strike="noStrike">
              <a:solidFill>
                <a:schemeClr val="dk1"/>
              </a:solidFill>
              <a:latin typeface="Calibri"/>
              <a:ea typeface="Calibri"/>
              <a:cs typeface="Calibri"/>
              <a:sym typeface="Calibri"/>
            </a:endParaRPr>
          </a:p>
        </p:txBody>
      </p:sp>
      <p:sp>
        <p:nvSpPr>
          <p:cNvPr id="764" name="Google Shape;764;p37"/>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37"/>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66" name="Google Shape;766;p37"/>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767" name="Google Shape;767;p37"/>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"Best Offer" check</a:t>
            </a:r>
            <a:endParaRPr b="0" i="0" sz="1200" u="none" cap="none" strike="noStrike">
              <a:solidFill>
                <a:schemeClr val="dk1"/>
              </a:solidFill>
              <a:latin typeface="Calibri"/>
              <a:ea typeface="Calibri"/>
              <a:cs typeface="Calibri"/>
              <a:sym typeface="Calibri"/>
            </a:endParaRPr>
          </a:p>
        </p:txBody>
      </p:sp>
      <p:sp>
        <p:nvSpPr>
          <p:cNvPr id="768" name="Google Shape;768;p37"/>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Where a ticket says to assess despite Best Offer: would C still likely dispute after our strongest offer? Yes: lean to refund.</a:t>
            </a:r>
            <a:endParaRPr b="0" i="0" sz="950" u="none" cap="none" strike="noStrike">
              <a:solidFill>
                <a:schemeClr val="dk1"/>
              </a:solidFill>
              <a:latin typeface="Calibri"/>
              <a:ea typeface="Calibri"/>
              <a:cs typeface="Calibri"/>
              <a:sym typeface="Calibri"/>
            </a:endParaRPr>
          </a:p>
        </p:txBody>
      </p:sp>
      <p:sp>
        <p:nvSpPr>
          <p:cNvPr id="769" name="Google Shape;769;p37"/>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70" name="Google Shape;770;p37"/>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771" name="Google Shape;771;p37"/>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Note shape:</a:t>
            </a:r>
            <a:r>
              <a:rPr b="0" i="0" lang="en" sz="1000" u="none" cap="none" strike="noStrike">
                <a:solidFill>
                  <a:srgbClr val="1D1D1F"/>
                </a:solidFill>
                <a:latin typeface="Arial"/>
                <a:ea typeface="Arial"/>
                <a:cs typeface="Arial"/>
                <a:sym typeface="Arial"/>
              </a:rPr>
              <a:t>FC status | ETF status; Root cause; Disputable amount; Card and threshold; Assessment; Action.</a:t>
            </a:r>
            <a:endParaRPr b="0" i="0" sz="1000" u="none" cap="none" strike="noStrike">
              <a:solidFill>
                <a:schemeClr val="dk1"/>
              </a:solidFill>
              <a:latin typeface="Calibri"/>
              <a:ea typeface="Calibri"/>
              <a:cs typeface="Calibri"/>
              <a:sym typeface="Calibri"/>
            </a:endParaRPr>
          </a:p>
        </p:txBody>
      </p:sp>
      <p:sp>
        <p:nvSpPr>
          <p:cNvPr id="772" name="Google Shape;772;p3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3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778" name="Google Shape;778;p3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Which track am I on?</a:t>
            </a:r>
            <a:endParaRPr b="0" i="0" sz="2400" u="none" cap="none" strike="noStrike">
              <a:solidFill>
                <a:schemeClr val="dk1"/>
              </a:solidFill>
              <a:latin typeface="Calibri"/>
              <a:ea typeface="Calibri"/>
              <a:cs typeface="Calibri"/>
              <a:sym typeface="Calibri"/>
            </a:endParaRPr>
          </a:p>
        </p:txBody>
      </p:sp>
      <p:sp>
        <p:nvSpPr>
          <p:cNvPr id="779" name="Google Shape;779;p3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Two tracks, chosen by the trigger.</a:t>
            </a:r>
            <a:endParaRPr b="0" i="0" sz="1200" u="none" cap="none" strike="noStrike">
              <a:solidFill>
                <a:schemeClr val="dk1"/>
              </a:solidFill>
              <a:latin typeface="Calibri"/>
              <a:ea typeface="Calibri"/>
              <a:cs typeface="Calibri"/>
              <a:sym typeface="Calibri"/>
            </a:endParaRPr>
          </a:p>
        </p:txBody>
      </p:sp>
      <p:graphicFrame>
        <p:nvGraphicFramePr>
          <p:cNvPr id="780" name="Google Shape;780;p38"/>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4660000"/>
                <a:gridCol w="36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Card-based threshold (new HDR process)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Percentage-based assessment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62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Expired RefundRequest and courtesy voucher; blocked prepaid card swap; called the card-statement phone number; searched the charge on cleaningbill.com; unrecognized caller to billing number; job charged 15+ days ago; HelpBot message with dispute risk; Stripe Early Fraud Warning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BBB complaint case received via Support Gmail; system blocked redeeming a DHJ voucher as a 2nd voucher with a submitted or claimed 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781" name="Google Shape;781;p3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3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787" name="Google Shape;787;p3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HDR tickets 1-4</a:t>
            </a:r>
            <a:endParaRPr b="0" i="0" sz="2400" u="none" cap="none" strike="noStrike">
              <a:solidFill>
                <a:schemeClr val="dk1"/>
              </a:solidFill>
              <a:latin typeface="Calibri"/>
              <a:ea typeface="Calibri"/>
              <a:cs typeface="Calibri"/>
              <a:sym typeface="Calibri"/>
            </a:endParaRPr>
          </a:p>
        </p:txBody>
      </p:sp>
      <p:sp>
        <p:nvSpPr>
          <p:cNvPr id="788" name="Google Shape;788;p3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to do for each trigger.</a:t>
            </a:r>
            <a:endParaRPr b="0" i="0" sz="1200" u="none" cap="none" strike="noStrike">
              <a:solidFill>
                <a:schemeClr val="dk1"/>
              </a:solidFill>
              <a:latin typeface="Calibri"/>
              <a:ea typeface="Calibri"/>
              <a:cs typeface="Calibri"/>
              <a:sym typeface="Calibri"/>
            </a:endParaRPr>
          </a:p>
        </p:txBody>
      </p:sp>
      <p:graphicFrame>
        <p:nvGraphicFramePr>
          <p:cNvPr id="789" name="Google Shape;789;p39"/>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Ticket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Handling</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1  RefundRequest expired, courtesy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Check the job really happened (false invoice and OCH go to their processes). If it did, remind them of the voucher and offer a different cleaner. 2nd response: apply the 48-hour rule and threshold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2  Blocked prepaid card swap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Follow the New HDR process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3  Called the card-statement number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Check voicemail, investigate. Refund request: call in business hours, else email. No clear concern: call or email, explain recent charges (and FC terms)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4  Viewed statement, visited cleaningbill.com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Charges to refund: New HDR process. None: ask for the concern and proactively explain the charges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790" name="Google Shape;790;p3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796" name="Google Shape;796;p4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HDR tickets 5-8</a:t>
            </a:r>
            <a:endParaRPr b="0" i="0" sz="2400" u="none" cap="none" strike="noStrike">
              <a:solidFill>
                <a:schemeClr val="dk1"/>
              </a:solidFill>
              <a:latin typeface="Calibri"/>
              <a:ea typeface="Calibri"/>
              <a:cs typeface="Calibri"/>
              <a:sym typeface="Calibri"/>
            </a:endParaRPr>
          </a:p>
        </p:txBody>
      </p:sp>
      <p:sp>
        <p:nvSpPr>
          <p:cNvPr id="797" name="Google Shape;797;p4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to do for each trigger.</a:t>
            </a:r>
            <a:endParaRPr b="0" i="0" sz="1200" u="none" cap="none" strike="noStrike">
              <a:solidFill>
                <a:schemeClr val="dk1"/>
              </a:solidFill>
              <a:latin typeface="Calibri"/>
              <a:ea typeface="Calibri"/>
              <a:cs typeface="Calibri"/>
              <a:sym typeface="Calibri"/>
            </a:endParaRPr>
          </a:p>
        </p:txBody>
      </p:sp>
      <p:graphicFrame>
        <p:nvGraphicFramePr>
          <p:cNvPr id="798" name="Google Shape;798;p40"/>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Ticket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Handling</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5  BBB complaint via Support Gmail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response expected (60+ days): ignore. Already handled: check other pain points, then clear. Trained in Percentage-Based Assessment: handle. Otherwise reassign to Risk Reduction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6  Job charged 15+ days ago</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Sanity-check the charge. No outreach from C: note and clear. Outreach with issues, no refund intent: usual handling. With refund intent: threshold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7  Stripe Dispute received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Check CRM and Stripe. Response submitted: BAU. Not submitted: change category to Dispute Response Team and don't resolve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8  HelpBot dispute risk</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Follow the New HDR process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799" name="Google Shape;799;p4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4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805" name="Google Shape;805;p4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HDR tickets 9-12</a:t>
            </a:r>
            <a:endParaRPr b="0" i="0" sz="2400" u="none" cap="none" strike="noStrike">
              <a:solidFill>
                <a:schemeClr val="dk1"/>
              </a:solidFill>
              <a:latin typeface="Calibri"/>
              <a:ea typeface="Calibri"/>
              <a:cs typeface="Calibri"/>
              <a:sym typeface="Calibri"/>
            </a:endParaRPr>
          </a:p>
        </p:txBody>
      </p:sp>
      <p:sp>
        <p:nvSpPr>
          <p:cNvPr id="806" name="Google Shape;806;p4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to do for each trigger.</a:t>
            </a:r>
            <a:endParaRPr b="0" i="0" sz="1200" u="none" cap="none" strike="noStrike">
              <a:solidFill>
                <a:schemeClr val="dk1"/>
              </a:solidFill>
              <a:latin typeface="Calibri"/>
              <a:ea typeface="Calibri"/>
              <a:cs typeface="Calibri"/>
              <a:sym typeface="Calibri"/>
            </a:endParaRPr>
          </a:p>
        </p:txBody>
      </p:sp>
      <p:graphicFrame>
        <p:nvGraphicFramePr>
          <p:cNvPr id="807" name="Google Shape;807;p41"/>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Ticket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Handling</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9  Help Center search with "refund"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 search isn't a message. If it reads like an actual complaint, treat as BAU. See Referencing Help Center Search Activity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10  Stripe Early Fraud Warning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Discover: Percentage track or Risk Reduction. Otherwise charge 60 days or less: apply the threshold. A used DHJ voucher is handled separately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11  Blocked 2nd DHJ voucher redemption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Trained in Percentage-Based Assessment: handle. Otherwise reassign to Risk Reduction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12  Keywords when cancelling FC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If C wants a refund after cancelling, follow the usual Transformation Guidelines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808" name="Google Shape;808;p4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4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HDR TICKET HANDLING</a:t>
            </a:r>
            <a:endParaRPr b="0" i="0" sz="800" u="none" cap="none" strike="noStrike">
              <a:solidFill>
                <a:schemeClr val="dk1"/>
              </a:solidFill>
              <a:latin typeface="Calibri"/>
              <a:ea typeface="Calibri"/>
              <a:cs typeface="Calibri"/>
              <a:sym typeface="Calibri"/>
            </a:endParaRPr>
          </a:p>
        </p:txBody>
      </p:sp>
      <p:sp>
        <p:nvSpPr>
          <p:cNvPr id="814" name="Google Shape;814;p4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Early Fraud Warning example</a:t>
            </a:r>
            <a:endParaRPr b="0" i="0" sz="2400" u="none" cap="none" strike="noStrike">
              <a:solidFill>
                <a:schemeClr val="dk1"/>
              </a:solidFill>
              <a:latin typeface="Calibri"/>
              <a:ea typeface="Calibri"/>
              <a:cs typeface="Calibri"/>
              <a:sym typeface="Calibri"/>
            </a:endParaRPr>
          </a:p>
        </p:txBody>
      </p:sp>
      <p:sp>
        <p:nvSpPr>
          <p:cNvPr id="815" name="Google Shape;815;p4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Two different clocks. Don't mix them up.</a:t>
            </a:r>
            <a:endParaRPr b="0" i="0" sz="1200" u="none" cap="none" strike="noStrike">
              <a:solidFill>
                <a:schemeClr val="dk1"/>
              </a:solidFill>
              <a:latin typeface="Calibri"/>
              <a:ea typeface="Calibri"/>
              <a:cs typeface="Calibri"/>
              <a:sym typeface="Calibri"/>
            </a:endParaRPr>
          </a:p>
        </p:txBody>
      </p:sp>
      <p:sp>
        <p:nvSpPr>
          <p:cNvPr id="816" name="Google Shape;816;p42"/>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42"/>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18" name="Google Shape;818;p42"/>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819" name="Google Shape;819;p42"/>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Charge age</a:t>
            </a:r>
            <a:endParaRPr b="0" i="0" sz="1200" u="none" cap="none" strike="noStrike">
              <a:solidFill>
                <a:schemeClr val="dk1"/>
              </a:solidFill>
              <a:latin typeface="Calibri"/>
              <a:ea typeface="Calibri"/>
              <a:cs typeface="Calibri"/>
              <a:sym typeface="Calibri"/>
            </a:endParaRPr>
          </a:p>
        </p:txBody>
      </p:sp>
      <p:sp>
        <p:nvSpPr>
          <p:cNvPr id="820" name="Google Shape;820;p42"/>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Charge 60 days or less old: check it against the card threshold. Above: note, no refund. Below: refund.</a:t>
            </a:r>
            <a:endParaRPr b="0" i="0" sz="950" u="none" cap="none" strike="noStrike">
              <a:solidFill>
                <a:schemeClr val="dk1"/>
              </a:solidFill>
              <a:latin typeface="Calibri"/>
              <a:ea typeface="Calibri"/>
              <a:cs typeface="Calibri"/>
              <a:sym typeface="Calibri"/>
            </a:endParaRPr>
          </a:p>
        </p:txBody>
      </p:sp>
      <p:sp>
        <p:nvSpPr>
          <p:cNvPr id="821" name="Google Shape;821;p42"/>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42"/>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23" name="Google Shape;823;p42"/>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824" name="Google Shape;824;p42"/>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Anything else?</a:t>
            </a:r>
            <a:endParaRPr b="0" i="0" sz="1200" u="none" cap="none" strike="noStrike">
              <a:solidFill>
                <a:schemeClr val="dk1"/>
              </a:solidFill>
              <a:latin typeface="Calibri"/>
              <a:ea typeface="Calibri"/>
              <a:cs typeface="Calibri"/>
              <a:sym typeface="Calibri"/>
            </a:endParaRPr>
          </a:p>
        </p:txBody>
      </p:sp>
      <p:sp>
        <p:nvSpPr>
          <p:cNvPr id="825" name="Google Shape;825;p42"/>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Anything else C wants refunded: follow "C reaches out before or after disputing". If not, don't hunt for other charges to refund.</a:t>
            </a:r>
            <a:endParaRPr b="0" i="0" sz="950" u="none" cap="none" strike="noStrike">
              <a:solidFill>
                <a:schemeClr val="dk1"/>
              </a:solidFill>
              <a:latin typeface="Calibri"/>
              <a:ea typeface="Calibri"/>
              <a:cs typeface="Calibri"/>
              <a:sym typeface="Calibri"/>
            </a:endParaRPr>
          </a:p>
        </p:txBody>
      </p:sp>
      <p:sp>
        <p:nvSpPr>
          <p:cNvPr id="826" name="Google Shape;826;p42"/>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42"/>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28" name="Google Shape;828;p42"/>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829" name="Google Shape;829;p42"/>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Example</a:t>
            </a:r>
            <a:endParaRPr b="0" i="0" sz="1200" u="none" cap="none" strike="noStrike">
              <a:solidFill>
                <a:schemeClr val="dk1"/>
              </a:solidFill>
              <a:latin typeface="Calibri"/>
              <a:ea typeface="Calibri"/>
              <a:cs typeface="Calibri"/>
              <a:sym typeface="Calibri"/>
            </a:endParaRPr>
          </a:p>
        </p:txBody>
      </p:sp>
      <p:sp>
        <p:nvSpPr>
          <p:cNvPr id="830" name="Google Shape;830;p42"/>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$65 Mastercard charge, 40 days old. Within 60 days, but $65 is above the $58 threshold. Leave a note, no refund.</a:t>
            </a:r>
            <a:endParaRPr b="0" i="0" sz="950" u="none" cap="none" strike="noStrike">
              <a:solidFill>
                <a:schemeClr val="dk1"/>
              </a:solidFill>
              <a:latin typeface="Calibri"/>
              <a:ea typeface="Calibri"/>
              <a:cs typeface="Calibri"/>
              <a:sym typeface="Calibri"/>
            </a:endParaRPr>
          </a:p>
        </p:txBody>
      </p:sp>
      <p:sp>
        <p:nvSpPr>
          <p:cNvPr id="831" name="Google Shape;831;p42"/>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32" name="Google Shape;832;p42"/>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833" name="Google Shape;833;p42"/>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Two clocks:</a:t>
            </a:r>
            <a:r>
              <a:rPr b="0" i="0" lang="en" sz="1000" u="none" cap="none" strike="noStrike">
                <a:solidFill>
                  <a:srgbClr val="1D1D1F"/>
                </a:solidFill>
                <a:latin typeface="Arial"/>
                <a:ea typeface="Arial"/>
                <a:cs typeface="Arial"/>
                <a:sym typeface="Arial"/>
              </a:rPr>
              <a:t>the 48-hour rule counts time since C was flagged HDR. The 60-day check counts time since the charge.</a:t>
            </a:r>
            <a:endParaRPr b="0" i="0" sz="1000" u="none" cap="none" strike="noStrike">
              <a:solidFill>
                <a:schemeClr val="dk1"/>
              </a:solidFill>
              <a:latin typeface="Calibri"/>
              <a:ea typeface="Calibri"/>
              <a:cs typeface="Calibri"/>
              <a:sym typeface="Calibri"/>
            </a:endParaRPr>
          </a:p>
        </p:txBody>
      </p:sp>
      <p:sp>
        <p:nvSpPr>
          <p:cNvPr id="834" name="Google Shape;834;p4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43"/>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840" name="Google Shape;840;p43"/>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841" name="Google Shape;841;p43"/>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842" name="Google Shape;842;p43"/>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43"/>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844" name="Google Shape;844;p43"/>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845" name="Google Shape;845;p43"/>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43"/>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43"/>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43"/>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43"/>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43"/>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43"/>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44"/>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05</a:t>
            </a:r>
            <a:endParaRPr b="0" i="0" sz="800" u="none" cap="none" strike="noStrike">
              <a:solidFill>
                <a:schemeClr val="dk1"/>
              </a:solidFill>
              <a:latin typeface="Calibri"/>
              <a:ea typeface="Calibri"/>
              <a:cs typeface="Calibri"/>
              <a:sym typeface="Calibri"/>
            </a:endParaRPr>
          </a:p>
        </p:txBody>
      </p:sp>
      <p:sp>
        <p:nvSpPr>
          <p:cNvPr id="857" name="Google Shape;857;p44"/>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ETF Waivers</a:t>
            </a:r>
            <a:endParaRPr b="0" i="0" sz="2800" u="none" cap="none" strike="noStrike">
              <a:solidFill>
                <a:schemeClr val="dk1"/>
              </a:solidFill>
              <a:latin typeface="Calibri"/>
              <a:ea typeface="Calibri"/>
              <a:cs typeface="Calibri"/>
              <a:sym typeface="Calibri"/>
            </a:endParaRPr>
          </a:p>
        </p:txBody>
      </p:sp>
      <p:sp>
        <p:nvSpPr>
          <p:cNvPr id="858" name="Google Shape;858;p44"/>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When we waive the Early Termination Fee, and how to confirm the waiver is really warranted.</a:t>
            </a:r>
            <a:endParaRPr b="0" i="0" sz="1150" u="none" cap="none" strike="noStrike">
              <a:solidFill>
                <a:schemeClr val="dk1"/>
              </a:solidFill>
              <a:latin typeface="Calibri"/>
              <a:ea typeface="Calibri"/>
              <a:cs typeface="Calibri"/>
              <a:sym typeface="Calibri"/>
            </a:endParaRPr>
          </a:p>
        </p:txBody>
      </p:sp>
      <p:sp>
        <p:nvSpPr>
          <p:cNvPr id="859" name="Google Shape;859;p44"/>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860" name="Google Shape;860;p44"/>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61" name="Google Shape;861;p44"/>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862" name="Google Shape;862;p44"/>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to think about waivers</a:t>
            </a:r>
            <a:endParaRPr b="0" i="0" sz="1050" u="none" cap="none" strike="noStrike">
              <a:solidFill>
                <a:schemeClr val="dk1"/>
              </a:solidFill>
              <a:latin typeface="Calibri"/>
              <a:ea typeface="Calibri"/>
              <a:cs typeface="Calibri"/>
              <a:sym typeface="Calibri"/>
            </a:endParaRPr>
          </a:p>
        </p:txBody>
      </p:sp>
      <p:sp>
        <p:nvSpPr>
          <p:cNvPr id="863" name="Google Shape;863;p44"/>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64" name="Google Shape;864;p44"/>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865" name="Google Shape;865;p44"/>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Confirmed waiver scenarios</a:t>
            </a:r>
            <a:endParaRPr b="0" i="0" sz="1050" u="none" cap="none" strike="noStrike">
              <a:solidFill>
                <a:schemeClr val="dk1"/>
              </a:solidFill>
              <a:latin typeface="Calibri"/>
              <a:ea typeface="Calibri"/>
              <a:cs typeface="Calibri"/>
              <a:sym typeface="Calibri"/>
            </a:endParaRPr>
          </a:p>
        </p:txBody>
      </p:sp>
      <p:sp>
        <p:nvSpPr>
          <p:cNvPr id="866" name="Google Shape;866;p44"/>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67" name="Google Shape;867;p44"/>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868" name="Google Shape;868;p44"/>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Two consecutive issue jobs</a:t>
            </a:r>
            <a:endParaRPr b="0" i="0" sz="1050" u="none" cap="none" strike="noStrike">
              <a:solidFill>
                <a:schemeClr val="dk1"/>
              </a:solidFill>
              <a:latin typeface="Calibri"/>
              <a:ea typeface="Calibri"/>
              <a:cs typeface="Calibri"/>
              <a:sym typeface="Calibri"/>
            </a:endParaRPr>
          </a:p>
        </p:txBody>
      </p:sp>
      <p:sp>
        <p:nvSpPr>
          <p:cNvPr id="869" name="Google Shape;869;p44"/>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0" name="Google Shape;870;p44"/>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871" name="Google Shape;871;p44"/>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Extenuating circumstances</a:t>
            </a:r>
            <a:endParaRPr b="0" i="0" sz="1050" u="none" cap="none" strike="noStrike">
              <a:solidFill>
                <a:schemeClr val="dk1"/>
              </a:solidFill>
              <a:latin typeface="Calibri"/>
              <a:ea typeface="Calibri"/>
              <a:cs typeface="Calibri"/>
              <a:sym typeface="Calibri"/>
            </a:endParaRPr>
          </a:p>
        </p:txBody>
      </p:sp>
      <p:sp>
        <p:nvSpPr>
          <p:cNvPr id="872" name="Google Shape;872;p44"/>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44"/>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874" name="Google Shape;874;p44"/>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875" name="Google Shape;875;p44"/>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44"/>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44"/>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44"/>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44"/>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44"/>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4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4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887" name="Google Shape;887;p4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888" name="Google Shape;888;p4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Waived only in specific situations, never as a default.</a:t>
            </a:r>
            <a:endParaRPr b="0" i="0" sz="1200" u="none" cap="none" strike="noStrike">
              <a:solidFill>
                <a:schemeClr val="dk1"/>
              </a:solidFill>
              <a:latin typeface="Calibri"/>
              <a:ea typeface="Calibri"/>
              <a:cs typeface="Calibri"/>
              <a:sym typeface="Calibri"/>
            </a:endParaRPr>
          </a:p>
        </p:txBody>
      </p:sp>
      <p:sp>
        <p:nvSpPr>
          <p:cNvPr id="889" name="Google Shape;889;p4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4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91" name="Google Shape;891;p4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892" name="Google Shape;892;p4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Two reasons</a:t>
            </a:r>
            <a:endParaRPr b="0" i="0" sz="1200" u="none" cap="none" strike="noStrike">
              <a:solidFill>
                <a:schemeClr val="dk1"/>
              </a:solidFill>
              <a:latin typeface="Calibri"/>
              <a:ea typeface="Calibri"/>
              <a:cs typeface="Calibri"/>
              <a:sym typeface="Calibri"/>
            </a:endParaRPr>
          </a:p>
        </p:txBody>
      </p:sp>
      <p:sp>
        <p:nvSpPr>
          <p:cNvPr id="893" name="Google Shape;893;p4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Charging it would be genuinely unfair, or would hurt us more than it helps (legal risk, reputation, a likely dispute).</a:t>
            </a:r>
            <a:endParaRPr b="0" i="0" sz="950" u="none" cap="none" strike="noStrike">
              <a:solidFill>
                <a:schemeClr val="dk1"/>
              </a:solidFill>
              <a:latin typeface="Calibri"/>
              <a:ea typeface="Calibri"/>
              <a:cs typeface="Calibri"/>
              <a:sym typeface="Calibri"/>
            </a:endParaRPr>
          </a:p>
        </p:txBody>
      </p:sp>
      <p:sp>
        <p:nvSpPr>
          <p:cNvPr id="894" name="Google Shape;894;p4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4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96" name="Google Shape;896;p4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897" name="Google Shape;897;p4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the ETF exists</a:t>
            </a:r>
            <a:endParaRPr b="0" i="0" sz="1200" u="none" cap="none" strike="noStrike">
              <a:solidFill>
                <a:schemeClr val="dk1"/>
              </a:solidFill>
              <a:latin typeface="Calibri"/>
              <a:ea typeface="Calibri"/>
              <a:cs typeface="Calibri"/>
              <a:sym typeface="Calibri"/>
            </a:endParaRPr>
          </a:p>
        </p:txBody>
      </p:sp>
      <p:sp>
        <p:nvSpPr>
          <p:cNvPr id="898" name="Google Shape;898;p4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first cleaning is free or heavily discounted. The ETF covers the cleaner's fair pay if the customer leaves early.</a:t>
            </a:r>
            <a:endParaRPr b="0" i="0" sz="950" u="none" cap="none" strike="noStrike">
              <a:solidFill>
                <a:schemeClr val="dk1"/>
              </a:solidFill>
              <a:latin typeface="Calibri"/>
              <a:ea typeface="Calibri"/>
              <a:cs typeface="Calibri"/>
              <a:sym typeface="Calibri"/>
            </a:endParaRPr>
          </a:p>
        </p:txBody>
      </p:sp>
      <p:sp>
        <p:nvSpPr>
          <p:cNvPr id="899" name="Google Shape;899;p4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4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01" name="Google Shape;901;p4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902" name="Google Shape;902;p4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"letting them off"</a:t>
            </a:r>
            <a:endParaRPr b="0" i="0" sz="1200" u="none" cap="none" strike="noStrike">
              <a:solidFill>
                <a:schemeClr val="dk1"/>
              </a:solidFill>
              <a:latin typeface="Calibri"/>
              <a:ea typeface="Calibri"/>
              <a:cs typeface="Calibri"/>
              <a:sym typeface="Calibri"/>
            </a:endParaRPr>
          </a:p>
        </p:txBody>
      </p:sp>
      <p:sp>
        <p:nvSpPr>
          <p:cNvPr id="903" name="Google Shape;903;p4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It is deciding whether this specific customer should still pay for a discount they used.</a:t>
            </a:r>
            <a:endParaRPr b="0" i="0" sz="950" u="none" cap="none" strike="noStrike">
              <a:solidFill>
                <a:schemeClr val="dk1"/>
              </a:solidFill>
              <a:latin typeface="Calibri"/>
              <a:ea typeface="Calibri"/>
              <a:cs typeface="Calibri"/>
              <a:sym typeface="Calibri"/>
            </a:endParaRPr>
          </a:p>
        </p:txBody>
      </p:sp>
      <p:sp>
        <p:nvSpPr>
          <p:cNvPr id="904" name="Google Shape;904;p4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05" name="Google Shape;905;p4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906" name="Google Shape;906;p4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Remember:</a:t>
            </a:r>
            <a:r>
              <a:rPr b="0" i="0" lang="en" sz="1000" u="none" cap="none" strike="noStrike">
                <a:solidFill>
                  <a:srgbClr val="1D1D1F"/>
                </a:solidFill>
                <a:latin typeface="Arial"/>
                <a:ea typeface="Arial"/>
                <a:cs typeface="Arial"/>
                <a:sym typeface="Arial"/>
              </a:rPr>
              <a:t>don't waive just because someone is upset or to smooth an awkward conversation.</a:t>
            </a:r>
            <a:endParaRPr b="0" i="0" sz="1000" u="none" cap="none" strike="noStrike">
              <a:solidFill>
                <a:schemeClr val="dk1"/>
              </a:solidFill>
              <a:latin typeface="Calibri"/>
              <a:ea typeface="Calibri"/>
              <a:cs typeface="Calibri"/>
              <a:sym typeface="Calibri"/>
            </a:endParaRPr>
          </a:p>
        </p:txBody>
      </p:sp>
      <p:sp>
        <p:nvSpPr>
          <p:cNvPr id="907" name="Google Shape;907;p4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4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913" name="Google Shape;913;p4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Key thought process</a:t>
            </a:r>
            <a:endParaRPr b="0" i="0" sz="2400" u="none" cap="none" strike="noStrike">
              <a:solidFill>
                <a:schemeClr val="dk1"/>
              </a:solidFill>
              <a:latin typeface="Calibri"/>
              <a:ea typeface="Calibri"/>
              <a:cs typeface="Calibri"/>
              <a:sym typeface="Calibri"/>
            </a:endParaRPr>
          </a:p>
        </p:txBody>
      </p:sp>
      <p:sp>
        <p:nvSpPr>
          <p:cNvPr id="914" name="Google Shape;914;p46"/>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46"/>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16" name="Google Shape;916;p46"/>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917" name="Google Shape;917;p46"/>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  Confirm the situation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Verify it qualifies. Don't take a self-reported label at face value.</a:t>
            </a:r>
            <a:endParaRPr b="0" i="0" sz="1200" u="none" cap="none" strike="noStrike">
              <a:solidFill>
                <a:schemeClr val="dk1"/>
              </a:solidFill>
              <a:latin typeface="Calibri"/>
              <a:ea typeface="Calibri"/>
              <a:cs typeface="Calibri"/>
              <a:sym typeface="Calibri"/>
            </a:endParaRPr>
          </a:p>
        </p:txBody>
      </p:sp>
      <p:sp>
        <p:nvSpPr>
          <p:cNvPr id="918" name="Google Shape;918;p46"/>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46"/>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0" name="Google Shape;920;p46"/>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921" name="Google Shape;921;p46"/>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  Assess intent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Is the customer actually asking for the waiver, or willing to pay and wanting clarity?</a:t>
            </a:r>
            <a:endParaRPr b="0" i="0" sz="1200" u="none" cap="none" strike="noStrike">
              <a:solidFill>
                <a:schemeClr val="dk1"/>
              </a:solidFill>
              <a:latin typeface="Calibri"/>
              <a:ea typeface="Calibri"/>
              <a:cs typeface="Calibri"/>
              <a:sym typeface="Calibri"/>
            </a:endParaRPr>
          </a:p>
        </p:txBody>
      </p:sp>
      <p:sp>
        <p:nvSpPr>
          <p:cNvPr id="922" name="Google Shape;922;p46"/>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46"/>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4" name="Google Shape;924;p46"/>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925" name="Google Shape;925;p46"/>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3  Empathy and fairness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Explain the ETF in context. A waiver relieves real burden, not every uncomfortable chat.</a:t>
            </a:r>
            <a:endParaRPr b="0" i="0" sz="1200" u="none" cap="none" strike="noStrike">
              <a:solidFill>
                <a:schemeClr val="dk1"/>
              </a:solidFill>
              <a:latin typeface="Calibri"/>
              <a:ea typeface="Calibri"/>
              <a:cs typeface="Calibri"/>
              <a:sym typeface="Calibri"/>
            </a:endParaRPr>
          </a:p>
        </p:txBody>
      </p:sp>
      <p:sp>
        <p:nvSpPr>
          <p:cNvPr id="926" name="Google Shape;926;p46"/>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46"/>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8" name="Google Shape;928;p46"/>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929" name="Google Shape;929;p46"/>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4  Escalate if unsure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Complex or edge cases go to a Team Lead, not the nearest scenario on the list.</a:t>
            </a:r>
            <a:endParaRPr b="0" i="0" sz="1200" u="none" cap="none" strike="noStrike">
              <a:solidFill>
                <a:schemeClr val="dk1"/>
              </a:solidFill>
              <a:latin typeface="Calibri"/>
              <a:ea typeface="Calibri"/>
              <a:cs typeface="Calibri"/>
              <a:sym typeface="Calibri"/>
            </a:endParaRPr>
          </a:p>
        </p:txBody>
      </p:sp>
      <p:sp>
        <p:nvSpPr>
          <p:cNvPr id="930" name="Google Shape;930;p46"/>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46"/>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32" name="Google Shape;932;p46"/>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933" name="Google Shape;933;p46"/>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Willing to pay?</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Then there is nothing unfair to fix. Don't offer the waiver, even if the reason is valid.</a:t>
            </a:r>
            <a:endParaRPr b="0" i="0" sz="1200" u="none" cap="none" strike="noStrike">
              <a:solidFill>
                <a:schemeClr val="dk1"/>
              </a:solidFill>
              <a:latin typeface="Calibri"/>
              <a:ea typeface="Calibri"/>
              <a:cs typeface="Calibri"/>
              <a:sym typeface="Calibri"/>
            </a:endParaRPr>
          </a:p>
        </p:txBody>
      </p:sp>
      <p:sp>
        <p:nvSpPr>
          <p:cNvPr id="934" name="Google Shape;934;p46"/>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46"/>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36" name="Google Shape;936;p46"/>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937" name="Google Shape;937;p46"/>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Example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Moving abroad (valid reason) but fine paying the ETF: don't offer the waiver.</a:t>
            </a:r>
            <a:endParaRPr b="0" i="0" sz="1200" u="none" cap="none" strike="noStrike">
              <a:solidFill>
                <a:schemeClr val="dk1"/>
              </a:solidFill>
              <a:latin typeface="Calibri"/>
              <a:ea typeface="Calibri"/>
              <a:cs typeface="Calibri"/>
              <a:sym typeface="Calibri"/>
            </a:endParaRPr>
          </a:p>
        </p:txBody>
      </p:sp>
      <p:sp>
        <p:nvSpPr>
          <p:cNvPr id="938" name="Google Shape;938;p4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4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944" name="Google Shape;944;p4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Confirmed waiver scenarios (1 of 2)</a:t>
            </a:r>
            <a:endParaRPr b="0" i="0" sz="2400" u="none" cap="none" strike="noStrike">
              <a:solidFill>
                <a:schemeClr val="dk1"/>
              </a:solidFill>
              <a:latin typeface="Calibri"/>
              <a:ea typeface="Calibri"/>
              <a:cs typeface="Calibri"/>
              <a:sym typeface="Calibri"/>
            </a:endParaRPr>
          </a:p>
        </p:txBody>
      </p:sp>
      <p:sp>
        <p:nvSpPr>
          <p:cNvPr id="945" name="Google Shape;945;p4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table says what is allowed, not what to hand out automatically.</a:t>
            </a:r>
            <a:endParaRPr b="0" i="0" sz="1200" u="none" cap="none" strike="noStrike">
              <a:solidFill>
                <a:schemeClr val="dk1"/>
              </a:solidFill>
              <a:latin typeface="Calibri"/>
              <a:ea typeface="Calibri"/>
              <a:cs typeface="Calibri"/>
              <a:sym typeface="Calibri"/>
            </a:endParaRPr>
          </a:p>
        </p:txBody>
      </p:sp>
      <p:graphicFrame>
        <p:nvGraphicFramePr>
          <p:cNvPr id="946" name="Google Shape;946;p47"/>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Scenario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Guidance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Material legal threats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 FC and waive the ETF immediately if that is what the customer asks. No retention attempt first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Trust &amp; Safety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 waiver scenario, but route the ticket to the T&amp;S team, who own the investigation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History of filing disputes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 intent before or after the dispute: cancel and waive. If they want to keep the service, let them stay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Bankruptcy / extreme hardship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Clear and serious: offer 50% off first, waive fully only if they decline. Vague: retain first with a lower MF</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Military deployment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Not the customer's choice. Waive the fee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947" name="Google Shape;947;p4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4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953" name="Google Shape;953;p4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Confirmed waiver scenarios (2 of 2)</a:t>
            </a:r>
            <a:endParaRPr b="0" i="0" sz="2400" u="none" cap="none" strike="noStrike">
              <a:solidFill>
                <a:schemeClr val="dk1"/>
              </a:solidFill>
              <a:latin typeface="Calibri"/>
              <a:ea typeface="Calibri"/>
              <a:cs typeface="Calibri"/>
              <a:sym typeface="Calibri"/>
            </a:endParaRPr>
          </a:p>
        </p:txBody>
      </p:sp>
      <p:sp>
        <p:nvSpPr>
          <p:cNvPr id="954" name="Google Shape;954;p4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Continued.</a:t>
            </a:r>
            <a:endParaRPr b="0" i="0" sz="1200" u="none" cap="none" strike="noStrike">
              <a:solidFill>
                <a:schemeClr val="dk1"/>
              </a:solidFill>
              <a:latin typeface="Calibri"/>
              <a:ea typeface="Calibri"/>
              <a:cs typeface="Calibri"/>
              <a:sym typeface="Calibri"/>
            </a:endParaRPr>
          </a:p>
        </p:txBody>
      </p:sp>
      <p:graphicFrame>
        <p:nvGraphicFramePr>
          <p:cNvPr id="955" name="Google Shape;955;p48"/>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Scenario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Guidance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ADA accommodation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Waive if the disability means they truly can't use the service. If they can with help, help them instead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Severe weather / disaster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Waive if they can't use the service anymore. If temporary, a pause may fit better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Severe illness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Waive if cancelling because of the illness. If the illness is why they need the service, try to keep them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Death / bereavement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See Extenuating Circumstances: how we learn about it, refund timing, and when to pause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Relocation (out of coverage)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They genuinely can't use the service. Waive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Two consecutive serious issue jobs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See the Two Consecutive Serious Issue Jobs article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Homeaglow misrepresentation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Guaranteed "at $X/hour" language we can't back up: refund the difference and waive if they cancel. "Around" or "starting at" is an estimate: nothing owed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956" name="Google Shape;956;p4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4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962" name="Google Shape;962;p4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Material legal threats</a:t>
            </a:r>
            <a:endParaRPr b="0" i="0" sz="2400" u="none" cap="none" strike="noStrike">
              <a:solidFill>
                <a:schemeClr val="dk1"/>
              </a:solidFill>
              <a:latin typeface="Calibri"/>
              <a:ea typeface="Calibri"/>
              <a:cs typeface="Calibri"/>
              <a:sym typeface="Calibri"/>
            </a:endParaRPr>
          </a:p>
        </p:txBody>
      </p:sp>
      <p:sp>
        <p:nvSpPr>
          <p:cNvPr id="963" name="Google Shape;963;p4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No retention attempt needed.</a:t>
            </a:r>
            <a:endParaRPr b="0" i="0" sz="1200" u="none" cap="none" strike="noStrike">
              <a:solidFill>
                <a:schemeClr val="dk1"/>
              </a:solidFill>
              <a:latin typeface="Calibri"/>
              <a:ea typeface="Calibri"/>
              <a:cs typeface="Calibri"/>
              <a:sym typeface="Calibri"/>
            </a:endParaRPr>
          </a:p>
        </p:txBody>
      </p:sp>
      <p:sp>
        <p:nvSpPr>
          <p:cNvPr id="964" name="Google Shape;964;p49"/>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4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66" name="Google Shape;966;p4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967" name="Google Shape;967;p4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Qualifies</a:t>
            </a:r>
            <a:endParaRPr b="0" i="0" sz="1200" u="none" cap="none" strike="noStrike">
              <a:solidFill>
                <a:schemeClr val="dk1"/>
              </a:solidFill>
              <a:latin typeface="Calibri"/>
              <a:ea typeface="Calibri"/>
              <a:cs typeface="Calibri"/>
              <a:sym typeface="Calibri"/>
            </a:endParaRPr>
          </a:p>
        </p:txBody>
      </p:sp>
      <p:sp>
        <p:nvSpPr>
          <p:cNvPr id="968" name="Google Shape;968;p49"/>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AG complaint threats, cease and desist, a lawyer CC'd (take their word), class-action or litigation threats, law firm emails, small claims threats.</a:t>
            </a:r>
            <a:endParaRPr b="0" i="0" sz="950" u="none" cap="none" strike="noStrike">
              <a:solidFill>
                <a:schemeClr val="dk1"/>
              </a:solidFill>
              <a:latin typeface="Calibri"/>
              <a:ea typeface="Calibri"/>
              <a:cs typeface="Calibri"/>
              <a:sym typeface="Calibri"/>
            </a:endParaRPr>
          </a:p>
        </p:txBody>
      </p:sp>
      <p:sp>
        <p:nvSpPr>
          <p:cNvPr id="969" name="Google Shape;969;p49"/>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4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71" name="Google Shape;971;p4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972" name="Google Shape;972;p4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a:t>
            </a:r>
            <a:endParaRPr b="0" i="0" sz="1200" u="none" cap="none" strike="noStrike">
              <a:solidFill>
                <a:schemeClr val="dk1"/>
              </a:solidFill>
              <a:latin typeface="Calibri"/>
              <a:ea typeface="Calibri"/>
              <a:cs typeface="Calibri"/>
              <a:sym typeface="Calibri"/>
            </a:endParaRPr>
          </a:p>
        </p:txBody>
      </p:sp>
      <p:sp>
        <p:nvSpPr>
          <p:cNvPr id="973" name="Google Shape;973;p49"/>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Formal documents mean it already started. AG, class action and small claims are cheap to trigger and cost far more than the ETF.</a:t>
            </a:r>
            <a:endParaRPr b="0" i="0" sz="950" u="none" cap="none" strike="noStrike">
              <a:solidFill>
                <a:schemeClr val="dk1"/>
              </a:solidFill>
              <a:latin typeface="Calibri"/>
              <a:ea typeface="Calibri"/>
              <a:cs typeface="Calibri"/>
              <a:sym typeface="Calibri"/>
            </a:endParaRPr>
          </a:p>
        </p:txBody>
      </p:sp>
      <p:sp>
        <p:nvSpPr>
          <p:cNvPr id="974" name="Google Shape;974;p49"/>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4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76" name="Google Shape;976;p4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977" name="Google Shape;977;p4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Does NOT qualify</a:t>
            </a:r>
            <a:endParaRPr b="0" i="0" sz="1200" u="none" cap="none" strike="noStrike">
              <a:solidFill>
                <a:schemeClr val="dk1"/>
              </a:solidFill>
              <a:latin typeface="Calibri"/>
              <a:ea typeface="Calibri"/>
              <a:cs typeface="Calibri"/>
              <a:sym typeface="Calibri"/>
            </a:endParaRPr>
          </a:p>
        </p:txBody>
      </p:sp>
      <p:sp>
        <p:nvSpPr>
          <p:cNvPr id="978" name="Google Shape;978;p49"/>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Vague threats: "I'll get a lawyer", a BBB or FTC mention, a social media threat. Handle as BAU and escalate if unsure.</a:t>
            </a:r>
            <a:endParaRPr b="0" i="0" sz="950" u="none" cap="none" strike="noStrike">
              <a:solidFill>
                <a:schemeClr val="dk1"/>
              </a:solidFill>
              <a:latin typeface="Calibri"/>
              <a:ea typeface="Calibri"/>
              <a:cs typeface="Calibri"/>
              <a:sym typeface="Calibri"/>
            </a:endParaRPr>
          </a:p>
        </p:txBody>
      </p:sp>
      <p:sp>
        <p:nvSpPr>
          <p:cNvPr id="979" name="Google Shape;979;p49"/>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0" name="Google Shape;980;p49"/>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981" name="Google Shape;981;p49"/>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Trade:</a:t>
            </a:r>
            <a:r>
              <a:rPr b="0" i="0" lang="en" sz="1000" u="none" cap="none" strike="noStrike">
                <a:solidFill>
                  <a:srgbClr val="1D1D1F"/>
                </a:solidFill>
                <a:latin typeface="Arial"/>
                <a:ea typeface="Arial"/>
                <a:cs typeface="Arial"/>
                <a:sym typeface="Arial"/>
              </a:rPr>
              <a:t>giving up a small, fixed fee to avoid a cheap-to-trigger path into a much larger problem.</a:t>
            </a:r>
            <a:endParaRPr b="0" i="0" sz="1000" u="none" cap="none" strike="noStrike">
              <a:solidFill>
                <a:schemeClr val="dk1"/>
              </a:solidFill>
              <a:latin typeface="Calibri"/>
              <a:ea typeface="Calibri"/>
              <a:cs typeface="Calibri"/>
              <a:sym typeface="Calibri"/>
            </a:endParaRPr>
          </a:p>
        </p:txBody>
      </p:sp>
      <p:sp>
        <p:nvSpPr>
          <p:cNvPr id="982" name="Google Shape;982;p4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5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988" name="Google Shape;988;p5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consecutive serious issue jobs</a:t>
            </a:r>
            <a:endParaRPr b="0" i="0" sz="2400" u="none" cap="none" strike="noStrike">
              <a:solidFill>
                <a:schemeClr val="dk1"/>
              </a:solidFill>
              <a:latin typeface="Calibri"/>
              <a:ea typeface="Calibri"/>
              <a:cs typeface="Calibri"/>
              <a:sym typeface="Calibri"/>
            </a:endParaRPr>
          </a:p>
        </p:txBody>
      </p:sp>
      <p:sp>
        <p:nvSpPr>
          <p:cNvPr id="989" name="Google Shape;989;p5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Not limited to the first two jobs. The issue types can differ.</a:t>
            </a:r>
            <a:endParaRPr b="0" i="0" sz="1200" u="none" cap="none" strike="noStrike">
              <a:solidFill>
                <a:schemeClr val="dk1"/>
              </a:solidFill>
              <a:latin typeface="Calibri"/>
              <a:ea typeface="Calibri"/>
              <a:cs typeface="Calibri"/>
              <a:sym typeface="Calibri"/>
            </a:endParaRPr>
          </a:p>
        </p:txBody>
      </p:sp>
      <p:sp>
        <p:nvSpPr>
          <p:cNvPr id="990" name="Google Shape;990;p50"/>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50"/>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2" name="Google Shape;992;p50"/>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993" name="Google Shape;993;p50"/>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we waive</a:t>
            </a:r>
            <a:endParaRPr b="0" i="0" sz="1200" u="none" cap="none" strike="noStrike">
              <a:solidFill>
                <a:schemeClr val="dk1"/>
              </a:solidFill>
              <a:latin typeface="Calibri"/>
              <a:ea typeface="Calibri"/>
              <a:cs typeface="Calibri"/>
              <a:sym typeface="Calibri"/>
            </a:endParaRPr>
          </a:p>
        </p:txBody>
      </p:sp>
      <p:sp>
        <p:nvSpPr>
          <p:cNvPr id="994" name="Google Shape;994;p50"/>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We're recognizing we didn't hold up our end twice in a row, not rewarding a second complaint.</a:t>
            </a:r>
            <a:endParaRPr b="0" i="0" sz="950" u="none" cap="none" strike="noStrike">
              <a:solidFill>
                <a:schemeClr val="dk1"/>
              </a:solidFill>
              <a:latin typeface="Calibri"/>
              <a:ea typeface="Calibri"/>
              <a:cs typeface="Calibri"/>
              <a:sym typeface="Calibri"/>
            </a:endParaRPr>
          </a:p>
        </p:txBody>
      </p:sp>
      <p:sp>
        <p:nvSpPr>
          <p:cNvPr id="995" name="Google Shape;995;p50"/>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50"/>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7" name="Google Shape;997;p50"/>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998" name="Google Shape;998;p50"/>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Counts as serious</a:t>
            </a:r>
            <a:endParaRPr b="0" i="0" sz="1200" u="none" cap="none" strike="noStrike">
              <a:solidFill>
                <a:schemeClr val="dk1"/>
              </a:solidFill>
              <a:latin typeface="Calibri"/>
              <a:ea typeface="Calibri"/>
              <a:cs typeface="Calibri"/>
              <a:sym typeface="Calibri"/>
            </a:endParaRPr>
          </a:p>
        </p:txBody>
      </p:sp>
      <p:sp>
        <p:nvSpPr>
          <p:cNvPr id="999" name="Google Shape;999;p50"/>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False invoice, PCQ, system-cancelled, cleaner cancellation, no-show or late, unauthorized reschedule, T&amp;S, overbilling, system errors. Only if it bothered the customer.</a:t>
            </a:r>
            <a:endParaRPr b="0" i="0" sz="950" u="none" cap="none" strike="noStrike">
              <a:solidFill>
                <a:schemeClr val="dk1"/>
              </a:solidFill>
              <a:latin typeface="Calibri"/>
              <a:ea typeface="Calibri"/>
              <a:cs typeface="Calibri"/>
              <a:sym typeface="Calibri"/>
            </a:endParaRPr>
          </a:p>
        </p:txBody>
      </p:sp>
      <p:sp>
        <p:nvSpPr>
          <p:cNvPr id="1000" name="Google Shape;1000;p50"/>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50"/>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2" name="Google Shape;1002;p50"/>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003" name="Google Shape;1003;p50"/>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Does NOT count</a:t>
            </a:r>
            <a:endParaRPr b="0" i="0" sz="1200" u="none" cap="none" strike="noStrike">
              <a:solidFill>
                <a:schemeClr val="dk1"/>
              </a:solidFill>
              <a:latin typeface="Calibri"/>
              <a:ea typeface="Calibri"/>
              <a:cs typeface="Calibri"/>
              <a:sym typeface="Calibri"/>
            </a:endParaRPr>
          </a:p>
        </p:txBody>
      </p:sp>
      <p:sp>
        <p:nvSpPr>
          <p:cNvPr id="1004" name="Google Shape;1004;p50"/>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system-changed start time alone, lockouts from an alternate-start change, slow CP replies.</a:t>
            </a:r>
            <a:endParaRPr b="0" i="0" sz="950" u="none" cap="none" strike="noStrike">
              <a:solidFill>
                <a:schemeClr val="dk1"/>
              </a:solidFill>
              <a:latin typeface="Calibri"/>
              <a:ea typeface="Calibri"/>
              <a:cs typeface="Calibri"/>
              <a:sym typeface="Calibri"/>
            </a:endParaRPr>
          </a:p>
        </p:txBody>
      </p:sp>
      <p:sp>
        <p:nvSpPr>
          <p:cNvPr id="1005" name="Google Shape;1005;p50"/>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6" name="Google Shape;1006;p50"/>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007" name="Google Shape;1007;p50"/>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Repeat cancellations:</a:t>
            </a:r>
            <a:r>
              <a:rPr b="0" i="0" lang="en" sz="1000" u="none" cap="none" strike="noStrike">
                <a:solidFill>
                  <a:srgbClr val="1D1D1F"/>
                </a:solidFill>
                <a:latin typeface="Arial"/>
                <a:ea typeface="Arial"/>
                <a:cs typeface="Arial"/>
                <a:sym typeface="Arial"/>
              </a:rPr>
              <a:t>same CP and job ID with more than 24 hours notice counts as 1. Under 24 hours counts as 2.</a:t>
            </a:r>
            <a:endParaRPr b="0" i="0" sz="1000" u="none" cap="none" strike="noStrike">
              <a:solidFill>
                <a:schemeClr val="dk1"/>
              </a:solidFill>
              <a:latin typeface="Calibri"/>
              <a:ea typeface="Calibri"/>
              <a:cs typeface="Calibri"/>
              <a:sym typeface="Calibri"/>
            </a:endParaRPr>
          </a:p>
        </p:txBody>
      </p:sp>
      <p:sp>
        <p:nvSpPr>
          <p:cNvPr id="1008" name="Google Shape;1008;p5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5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1014" name="Google Shape;1014;p5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consecutive: the process</a:t>
            </a:r>
            <a:endParaRPr b="0" i="0" sz="2400" u="none" cap="none" strike="noStrike">
              <a:solidFill>
                <a:schemeClr val="dk1"/>
              </a:solidFill>
              <a:latin typeface="Calibri"/>
              <a:ea typeface="Calibri"/>
              <a:cs typeface="Calibri"/>
              <a:sym typeface="Calibri"/>
            </a:endParaRPr>
          </a:p>
        </p:txBody>
      </p:sp>
      <p:sp>
        <p:nvSpPr>
          <p:cNvPr id="1015" name="Google Shape;1015;p5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Never explain or offer the waiver until you know they are eligible.</a:t>
            </a:r>
            <a:endParaRPr b="0" i="0" sz="1200" u="none" cap="none" strike="noStrike">
              <a:solidFill>
                <a:schemeClr val="dk1"/>
              </a:solidFill>
              <a:latin typeface="Calibri"/>
              <a:ea typeface="Calibri"/>
              <a:cs typeface="Calibri"/>
              <a:sym typeface="Calibri"/>
            </a:endParaRPr>
          </a:p>
        </p:txBody>
      </p:sp>
      <p:sp>
        <p:nvSpPr>
          <p:cNvPr id="1016" name="Google Shape;1016;p51"/>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1"/>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8" name="Google Shape;1018;p51"/>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019" name="Google Shape;1019;p51"/>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Start here</a:t>
            </a:r>
            <a:endParaRPr b="0" i="0" sz="1200" u="none" cap="none" strike="noStrike">
              <a:solidFill>
                <a:schemeClr val="dk1"/>
              </a:solidFill>
              <a:latin typeface="Calibri"/>
              <a:ea typeface="Calibri"/>
              <a:cs typeface="Calibri"/>
              <a:sym typeface="Calibri"/>
            </a:endParaRPr>
          </a:p>
        </p:txBody>
      </p:sp>
      <p:sp>
        <p:nvSpPr>
          <p:cNvPr id="1020" name="Google Shape;1020;p51"/>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Address what the customer raised. Then check the account for a second consecutive issue job they didn't mention.</a:t>
            </a:r>
            <a:endParaRPr b="0" i="0" sz="950" u="none" cap="none" strike="noStrike">
              <a:solidFill>
                <a:schemeClr val="dk1"/>
              </a:solidFill>
              <a:latin typeface="Calibri"/>
              <a:ea typeface="Calibri"/>
              <a:cs typeface="Calibri"/>
              <a:sym typeface="Calibri"/>
            </a:endParaRPr>
          </a:p>
        </p:txBody>
      </p:sp>
      <p:sp>
        <p:nvSpPr>
          <p:cNvPr id="1021" name="Google Shape;1021;p51"/>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51"/>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3" name="Google Shape;1023;p51"/>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024" name="Google Shape;1024;p51"/>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Second issue unmentioned</a:t>
            </a:r>
            <a:endParaRPr b="0" i="0" sz="1200" u="none" cap="none" strike="noStrike">
              <a:solidFill>
                <a:schemeClr val="dk1"/>
              </a:solidFill>
              <a:latin typeface="Calibri"/>
              <a:ea typeface="Calibri"/>
              <a:cs typeface="Calibri"/>
              <a:sym typeface="Calibri"/>
            </a:endParaRPr>
          </a:p>
        </p:txBody>
      </p:sp>
      <p:sp>
        <p:nvSpPr>
          <p:cNvPr id="1025" name="Google Shape;1025;p51"/>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Probe openly ("anything else that factored in?") and remove the self-cancel link now. If it wasn't a factor, restore the link and explain the ETF.</a:t>
            </a:r>
            <a:endParaRPr b="0" i="0" sz="950" u="none" cap="none" strike="noStrike">
              <a:solidFill>
                <a:schemeClr val="dk1"/>
              </a:solidFill>
              <a:latin typeface="Calibri"/>
              <a:ea typeface="Calibri"/>
              <a:cs typeface="Calibri"/>
              <a:sym typeface="Calibri"/>
            </a:endParaRPr>
          </a:p>
        </p:txBody>
      </p:sp>
      <p:sp>
        <p:nvSpPr>
          <p:cNvPr id="1026" name="Google Shape;1026;p51"/>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51"/>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8" name="Google Shape;1028;p51"/>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029" name="Google Shape;1029;p51"/>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Both confirmed</a:t>
            </a:r>
            <a:endParaRPr b="0" i="0" sz="1200" u="none" cap="none" strike="noStrike">
              <a:solidFill>
                <a:schemeClr val="dk1"/>
              </a:solidFill>
              <a:latin typeface="Calibri"/>
              <a:ea typeface="Calibri"/>
              <a:cs typeface="Calibri"/>
              <a:sym typeface="Calibri"/>
            </a:endParaRPr>
          </a:p>
        </p:txBody>
      </p:sp>
      <p:sp>
        <p:nvSpPr>
          <p:cNvPr id="1030" name="Google Shape;1030;p51"/>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Address the new issue, then a light retention check-in. Customer stays: resolved. Still cancels: cancel FC and waive the ETF.</a:t>
            </a:r>
            <a:endParaRPr b="0" i="0" sz="950" u="none" cap="none" strike="noStrike">
              <a:solidFill>
                <a:schemeClr val="dk1"/>
              </a:solidFill>
              <a:latin typeface="Calibri"/>
              <a:ea typeface="Calibri"/>
              <a:cs typeface="Calibri"/>
              <a:sym typeface="Calibri"/>
            </a:endParaRPr>
          </a:p>
        </p:txBody>
      </p:sp>
      <p:sp>
        <p:nvSpPr>
          <p:cNvPr id="1031" name="Google Shape;1031;p51"/>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2" name="Google Shape;1032;p51"/>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033" name="Google Shape;1033;p51"/>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Good job after the two?</a:t>
            </a:r>
            <a:r>
              <a:rPr b="0" i="0" lang="en" sz="1000" u="none" cap="none" strike="noStrike">
                <a:solidFill>
                  <a:srgbClr val="1D1D1F"/>
                </a:solidFill>
                <a:latin typeface="Arial"/>
                <a:ea typeface="Arial"/>
                <a:cs typeface="Arial"/>
                <a:sym typeface="Arial"/>
              </a:rPr>
              <a:t>One good job: still eligible, best chance for real retention. Two or more: no longer eligible. A new issue then needs a fresh pair.</a:t>
            </a:r>
            <a:endParaRPr b="0" i="0" sz="1000" u="none" cap="none" strike="noStrike">
              <a:solidFill>
                <a:schemeClr val="dk1"/>
              </a:solidFill>
              <a:latin typeface="Calibri"/>
              <a:ea typeface="Calibri"/>
              <a:cs typeface="Calibri"/>
              <a:sym typeface="Calibri"/>
            </a:endParaRPr>
          </a:p>
        </p:txBody>
      </p:sp>
      <p:sp>
        <p:nvSpPr>
          <p:cNvPr id="1034" name="Google Shape;1034;p5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5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1040" name="Google Shape;1040;p5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Extenuating circumstances</a:t>
            </a:r>
            <a:endParaRPr b="0" i="0" sz="2400" u="none" cap="none" strike="noStrike">
              <a:solidFill>
                <a:schemeClr val="dk1"/>
              </a:solidFill>
              <a:latin typeface="Calibri"/>
              <a:ea typeface="Calibri"/>
              <a:cs typeface="Calibri"/>
              <a:sym typeface="Calibri"/>
            </a:endParaRPr>
          </a:p>
        </p:txBody>
      </p:sp>
      <p:sp>
        <p:nvSpPr>
          <p:cNvPr id="1041" name="Google Shape;1041;p5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Compassion, fairness, compliance, affordability.</a:t>
            </a:r>
            <a:endParaRPr b="0" i="0" sz="1200" u="none" cap="none" strike="noStrike">
              <a:solidFill>
                <a:schemeClr val="dk1"/>
              </a:solidFill>
              <a:latin typeface="Calibri"/>
              <a:ea typeface="Calibri"/>
              <a:cs typeface="Calibri"/>
              <a:sym typeface="Calibri"/>
            </a:endParaRPr>
          </a:p>
        </p:txBody>
      </p:sp>
      <p:graphicFrame>
        <p:nvGraphicFramePr>
          <p:cNvPr id="1042" name="Google Shape;1042;p52"/>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Circumstance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Handling</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Severe illness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Cancelling because of it: waive and cancel. If the illness is why they use us: try to retain, and waive if they still insist. 120-day MF refund window</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Death / bereavement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Member passed: cancel and waive, no proof needed, no retention. Refunds up to 1 year. Family member passed: 120 days, or a pause if they still need the service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Care facility / assisted living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Waive and cancel. No health decline statement or TL approval needed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Military deployment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Imminent: waive, refund unused MFs within 120 days. Months away: set a Timed Reminder to cancel and waive at deployment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Weather / disaster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Can't use it anymore: waive and cancel. Can't use it for now: consider a pause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ADA accommodation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Can't reasonably use it: waive and cancel. Can still use it with an adjustment: handle as usual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043" name="Google Shape;1043;p5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5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ETF WAIVERS</a:t>
            </a:r>
            <a:endParaRPr b="0" i="0" sz="800" u="none" cap="none" strike="noStrike">
              <a:solidFill>
                <a:schemeClr val="dk1"/>
              </a:solidFill>
              <a:latin typeface="Calibri"/>
              <a:ea typeface="Calibri"/>
              <a:cs typeface="Calibri"/>
              <a:sym typeface="Calibri"/>
            </a:endParaRPr>
          </a:p>
        </p:txBody>
      </p:sp>
      <p:sp>
        <p:nvSpPr>
          <p:cNvPr id="1049" name="Google Shape;1049;p5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Financial hardship</a:t>
            </a:r>
            <a:endParaRPr b="0" i="0" sz="2400" u="none" cap="none" strike="noStrike">
              <a:solidFill>
                <a:schemeClr val="dk1"/>
              </a:solidFill>
              <a:latin typeface="Calibri"/>
              <a:ea typeface="Calibri"/>
              <a:cs typeface="Calibri"/>
              <a:sym typeface="Calibri"/>
            </a:endParaRPr>
          </a:p>
        </p:txBody>
      </p:sp>
      <p:sp>
        <p:nvSpPr>
          <p:cNvPr id="1050" name="Google Shape;1050;p5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Their circumstances are the test, not a label.</a:t>
            </a:r>
            <a:endParaRPr b="0" i="0" sz="1200" u="none" cap="none" strike="noStrike">
              <a:solidFill>
                <a:schemeClr val="dk1"/>
              </a:solidFill>
              <a:latin typeface="Calibri"/>
              <a:ea typeface="Calibri"/>
              <a:cs typeface="Calibri"/>
              <a:sym typeface="Calibri"/>
            </a:endParaRPr>
          </a:p>
        </p:txBody>
      </p:sp>
      <p:sp>
        <p:nvSpPr>
          <p:cNvPr id="1051" name="Google Shape;1051;p53"/>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53"/>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53" name="Google Shape;1053;p53"/>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054" name="Google Shape;1054;p53"/>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Extreme hardship is clear</a:t>
            </a:r>
            <a:endParaRPr b="0" i="0" sz="1200" u="none" cap="none" strike="noStrike">
              <a:solidFill>
                <a:schemeClr val="dk1"/>
              </a:solidFill>
              <a:latin typeface="Calibri"/>
              <a:ea typeface="Calibri"/>
              <a:cs typeface="Calibri"/>
              <a:sym typeface="Calibri"/>
            </a:endParaRPr>
          </a:p>
        </p:txBody>
      </p:sp>
      <p:sp>
        <p:nvSpPr>
          <p:cNvPr id="1055" name="Google Shape;1055;p53"/>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Job loss, bankruptcy, layoff plus declined payments. Offer 50% off first. If declined, waive in full. No formal proof needed.</a:t>
            </a:r>
            <a:endParaRPr b="0" i="0" sz="950" u="none" cap="none" strike="noStrike">
              <a:solidFill>
                <a:schemeClr val="dk1"/>
              </a:solidFill>
              <a:latin typeface="Calibri"/>
              <a:ea typeface="Calibri"/>
              <a:cs typeface="Calibri"/>
              <a:sym typeface="Calibri"/>
            </a:endParaRPr>
          </a:p>
        </p:txBody>
      </p:sp>
      <p:sp>
        <p:nvSpPr>
          <p:cNvPr id="1056" name="Google Shape;1056;p53"/>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53"/>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58" name="Google Shape;1058;p53"/>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059" name="Google Shape;1059;p53"/>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Hardship is unclear</a:t>
            </a:r>
            <a:endParaRPr b="0" i="0" sz="1200" u="none" cap="none" strike="noStrike">
              <a:solidFill>
                <a:schemeClr val="dk1"/>
              </a:solidFill>
              <a:latin typeface="Calibri"/>
              <a:ea typeface="Calibri"/>
              <a:cs typeface="Calibri"/>
              <a:sym typeface="Calibri"/>
            </a:endParaRPr>
          </a:p>
        </p:txBody>
      </p:sp>
      <p:sp>
        <p:nvSpPr>
          <p:cNvPr id="1060" name="Google Shape;1060;p53"/>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"Too expensive" with no specifics: reduce the MF first. If they still leave, use the cheaper of ETF reduction (50% cap) or MCT reduction (2 months).</a:t>
            </a:r>
            <a:endParaRPr b="0" i="0" sz="950" u="none" cap="none" strike="noStrike">
              <a:solidFill>
                <a:schemeClr val="dk1"/>
              </a:solidFill>
              <a:latin typeface="Calibri"/>
              <a:ea typeface="Calibri"/>
              <a:cs typeface="Calibri"/>
              <a:sym typeface="Calibri"/>
            </a:endParaRPr>
          </a:p>
        </p:txBody>
      </p:sp>
      <p:sp>
        <p:nvSpPr>
          <p:cNvPr id="1061" name="Google Shape;1061;p53"/>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53"/>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63" name="Google Shape;1063;p53"/>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064" name="Google Shape;1064;p53"/>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Read what they said</a:t>
            </a:r>
            <a:endParaRPr b="0" i="0" sz="1200" u="none" cap="none" strike="noStrike">
              <a:solidFill>
                <a:schemeClr val="dk1"/>
              </a:solidFill>
              <a:latin typeface="Calibri"/>
              <a:ea typeface="Calibri"/>
              <a:cs typeface="Calibri"/>
              <a:sym typeface="Calibri"/>
            </a:endParaRPr>
          </a:p>
        </p:txBody>
      </p:sp>
      <p:sp>
        <p:nvSpPr>
          <p:cNvPr id="1065" name="Google Shape;1065;p53"/>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"I'm a student, I want to cancel" is a cost objection. "I can't afford essentials" is hardship. Don't waive a cost objection.</a:t>
            </a:r>
            <a:endParaRPr b="0" i="0" sz="950" u="none" cap="none" strike="noStrike">
              <a:solidFill>
                <a:schemeClr val="dk1"/>
              </a:solidFill>
              <a:latin typeface="Calibri"/>
              <a:ea typeface="Calibri"/>
              <a:cs typeface="Calibri"/>
              <a:sym typeface="Calibri"/>
            </a:endParaRPr>
          </a:p>
        </p:txBody>
      </p:sp>
      <p:sp>
        <p:nvSpPr>
          <p:cNvPr id="1066" name="Google Shape;1066;p53"/>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67" name="Google Shape;1067;p53"/>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068" name="Google Shape;1068;p53"/>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Avoid:</a:t>
            </a:r>
            <a:r>
              <a:rPr b="0" i="0" lang="en" sz="1000" u="none" cap="none" strike="noStrike">
                <a:solidFill>
                  <a:srgbClr val="1D1D1F"/>
                </a:solidFill>
                <a:latin typeface="Arial"/>
                <a:ea typeface="Arial"/>
                <a:cs typeface="Arial"/>
                <a:sym typeface="Arial"/>
              </a:rPr>
              <a:t>"you still have access to our lowest rates". It minimizes real strain and sounds transactional.</a:t>
            </a:r>
            <a:endParaRPr b="0" i="0" sz="1000" u="none" cap="none" strike="noStrike">
              <a:solidFill>
                <a:schemeClr val="dk1"/>
              </a:solidFill>
              <a:latin typeface="Calibri"/>
              <a:ea typeface="Calibri"/>
              <a:cs typeface="Calibri"/>
              <a:sym typeface="Calibri"/>
            </a:endParaRPr>
          </a:p>
        </p:txBody>
      </p:sp>
      <p:sp>
        <p:nvSpPr>
          <p:cNvPr id="1069" name="Google Shape;1069;p5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54"/>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075" name="Google Shape;1075;p54"/>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076" name="Google Shape;1076;p54"/>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077" name="Google Shape;1077;p54"/>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54"/>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1079" name="Google Shape;1079;p54"/>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080" name="Google Shape;1080;p54"/>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54"/>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54"/>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54"/>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54"/>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54"/>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54"/>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55"/>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06</a:t>
            </a:r>
            <a:endParaRPr b="0" i="0" sz="800" u="none" cap="none" strike="noStrike">
              <a:solidFill>
                <a:schemeClr val="dk1"/>
              </a:solidFill>
              <a:latin typeface="Calibri"/>
              <a:ea typeface="Calibri"/>
              <a:cs typeface="Calibri"/>
              <a:sym typeface="Calibri"/>
            </a:endParaRPr>
          </a:p>
        </p:txBody>
      </p:sp>
      <p:sp>
        <p:nvSpPr>
          <p:cNvPr id="1092" name="Google Shape;1092;p55"/>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Internal Note Action Items</a:t>
            </a:r>
            <a:endParaRPr b="0" i="0" sz="2800" u="none" cap="none" strike="noStrike">
              <a:solidFill>
                <a:schemeClr val="dk1"/>
              </a:solidFill>
              <a:latin typeface="Calibri"/>
              <a:ea typeface="Calibri"/>
              <a:cs typeface="Calibri"/>
              <a:sym typeface="Calibri"/>
            </a:endParaRPr>
          </a:p>
        </p:txBody>
      </p:sp>
      <p:sp>
        <p:nvSpPr>
          <p:cNvPr id="1093" name="Google Shape;1093;p55"/>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each system-created action item means and what to do about it, on the customer side.</a:t>
            </a:r>
            <a:endParaRPr b="0" i="0" sz="1150" u="none" cap="none" strike="noStrike">
              <a:solidFill>
                <a:schemeClr val="dk1"/>
              </a:solidFill>
              <a:latin typeface="Calibri"/>
              <a:ea typeface="Calibri"/>
              <a:cs typeface="Calibri"/>
              <a:sym typeface="Calibri"/>
            </a:endParaRPr>
          </a:p>
        </p:txBody>
      </p:sp>
      <p:sp>
        <p:nvSpPr>
          <p:cNvPr id="1094" name="Google Shape;1094;p55"/>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095" name="Google Shape;1095;p55"/>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6" name="Google Shape;1096;p55"/>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097" name="Google Shape;1097;p55"/>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an action item is</a:t>
            </a:r>
            <a:endParaRPr b="0" i="0" sz="1050" u="none" cap="none" strike="noStrike">
              <a:solidFill>
                <a:schemeClr val="dk1"/>
              </a:solidFill>
              <a:latin typeface="Calibri"/>
              <a:ea typeface="Calibri"/>
              <a:cs typeface="Calibri"/>
              <a:sym typeface="Calibri"/>
            </a:endParaRPr>
          </a:p>
        </p:txBody>
      </p:sp>
      <p:sp>
        <p:nvSpPr>
          <p:cNvPr id="1098" name="Google Shape;1098;p55"/>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9" name="Google Shape;1099;p55"/>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100" name="Google Shape;1100;p55"/>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Shared steps</a:t>
            </a:r>
            <a:endParaRPr b="0" i="0" sz="1050" u="none" cap="none" strike="noStrike">
              <a:solidFill>
                <a:schemeClr val="dk1"/>
              </a:solidFill>
              <a:latin typeface="Calibri"/>
              <a:ea typeface="Calibri"/>
              <a:cs typeface="Calibri"/>
              <a:sym typeface="Calibri"/>
            </a:endParaRPr>
          </a:p>
        </p:txBody>
      </p:sp>
      <p:sp>
        <p:nvSpPr>
          <p:cNvPr id="1101" name="Google Shape;1101;p55"/>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2" name="Google Shape;1102;p55"/>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103" name="Google Shape;1103;p55"/>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Fraud and dispute triggers</a:t>
            </a:r>
            <a:endParaRPr b="0" i="0" sz="1050" u="none" cap="none" strike="noStrike">
              <a:solidFill>
                <a:schemeClr val="dk1"/>
              </a:solidFill>
              <a:latin typeface="Calibri"/>
              <a:ea typeface="Calibri"/>
              <a:cs typeface="Calibri"/>
              <a:sym typeface="Calibri"/>
            </a:endParaRPr>
          </a:p>
        </p:txBody>
      </p:sp>
      <p:sp>
        <p:nvSpPr>
          <p:cNvPr id="1104" name="Google Shape;1104;p55"/>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5" name="Google Shape;1105;p55"/>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106" name="Google Shape;1106;p55"/>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Jobs and comms triggers</a:t>
            </a:r>
            <a:endParaRPr b="0" i="0" sz="1050" u="none" cap="none" strike="noStrike">
              <a:solidFill>
                <a:schemeClr val="dk1"/>
              </a:solidFill>
              <a:latin typeface="Calibri"/>
              <a:ea typeface="Calibri"/>
              <a:cs typeface="Calibri"/>
              <a:sym typeface="Calibri"/>
            </a:endParaRPr>
          </a:p>
        </p:txBody>
      </p:sp>
      <p:sp>
        <p:nvSpPr>
          <p:cNvPr id="1107" name="Google Shape;1107;p5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5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1109" name="Google Shape;1109;p55"/>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110" name="Google Shape;1110;p5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5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5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5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5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5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5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5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122" name="Google Shape;1122;p5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1123" name="Google Shape;1123;p5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system creates action items when something needs manual review.</a:t>
            </a:r>
            <a:endParaRPr b="0" i="0" sz="1200" u="none" cap="none" strike="noStrike">
              <a:solidFill>
                <a:schemeClr val="dk1"/>
              </a:solidFill>
              <a:latin typeface="Calibri"/>
              <a:ea typeface="Calibri"/>
              <a:cs typeface="Calibri"/>
              <a:sym typeface="Calibri"/>
            </a:endParaRPr>
          </a:p>
        </p:txBody>
      </p:sp>
      <p:sp>
        <p:nvSpPr>
          <p:cNvPr id="1124" name="Google Shape;1124;p56"/>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56"/>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26" name="Google Shape;1126;p56"/>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127" name="Google Shape;1127;p56"/>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Where to look</a:t>
            </a:r>
            <a:endParaRPr b="0" i="0" sz="1200" u="none" cap="none" strike="noStrike">
              <a:solidFill>
                <a:schemeClr val="dk1"/>
              </a:solidFill>
              <a:latin typeface="Calibri"/>
              <a:ea typeface="Calibri"/>
              <a:cs typeface="Calibri"/>
              <a:sym typeface="Calibri"/>
            </a:endParaRPr>
          </a:p>
        </p:txBody>
      </p:sp>
      <p:sp>
        <p:nvSpPr>
          <p:cNvPr id="1128" name="Google Shape;1128;p56"/>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They appear as internal notes. The Sender field (top right) holds a code like ForeverClean.charge. Look it up, then follow its steps.</a:t>
            </a:r>
            <a:endParaRPr b="0" i="0" sz="950" u="none" cap="none" strike="noStrike">
              <a:solidFill>
                <a:schemeClr val="dk1"/>
              </a:solidFill>
              <a:latin typeface="Calibri"/>
              <a:ea typeface="Calibri"/>
              <a:cs typeface="Calibri"/>
              <a:sym typeface="Calibri"/>
            </a:endParaRPr>
          </a:p>
        </p:txBody>
      </p:sp>
      <p:sp>
        <p:nvSpPr>
          <p:cNvPr id="1129" name="Google Shape;1129;p56"/>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56"/>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1" name="Google Shape;1131;p56"/>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132" name="Google Shape;1132;p56"/>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Three kinds</a:t>
            </a:r>
            <a:endParaRPr b="0" i="0" sz="1200" u="none" cap="none" strike="noStrike">
              <a:solidFill>
                <a:schemeClr val="dk1"/>
              </a:solidFill>
              <a:latin typeface="Calibri"/>
              <a:ea typeface="Calibri"/>
              <a:cs typeface="Calibri"/>
              <a:sym typeface="Calibri"/>
            </a:endParaRPr>
          </a:p>
        </p:txBody>
      </p:sp>
      <p:sp>
        <p:nvSpPr>
          <p:cNvPr id="1133" name="Google Shape;1133;p56"/>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Fraud signals, dispute-risk signals, and comms-blocking flags. Ignoring each has a real cost.</a:t>
            </a:r>
            <a:endParaRPr b="0" i="0" sz="950" u="none" cap="none" strike="noStrike">
              <a:solidFill>
                <a:schemeClr val="dk1"/>
              </a:solidFill>
              <a:latin typeface="Calibri"/>
              <a:ea typeface="Calibri"/>
              <a:cs typeface="Calibri"/>
              <a:sym typeface="Calibri"/>
            </a:endParaRPr>
          </a:p>
        </p:txBody>
      </p:sp>
      <p:sp>
        <p:nvSpPr>
          <p:cNvPr id="1134" name="Google Shape;1134;p56"/>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56"/>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6" name="Google Shape;1136;p56"/>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137" name="Google Shape;1137;p56"/>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Two jobs</a:t>
            </a:r>
            <a:endParaRPr b="0" i="0" sz="1200" u="none" cap="none" strike="noStrike">
              <a:solidFill>
                <a:schemeClr val="dk1"/>
              </a:solidFill>
              <a:latin typeface="Calibri"/>
              <a:ea typeface="Calibri"/>
              <a:cs typeface="Calibri"/>
              <a:sym typeface="Calibri"/>
            </a:endParaRPr>
          </a:p>
        </p:txBody>
      </p:sp>
      <p:sp>
        <p:nvSpPr>
          <p:cNvPr id="1138" name="Google Shape;1138;p56"/>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Catch a problem before the customer or their bank does, and catch a fraud pattern before it repeats.</a:t>
            </a:r>
            <a:endParaRPr b="0" i="0" sz="950" u="none" cap="none" strike="noStrike">
              <a:solidFill>
                <a:schemeClr val="dk1"/>
              </a:solidFill>
              <a:latin typeface="Calibri"/>
              <a:ea typeface="Calibri"/>
              <a:cs typeface="Calibri"/>
              <a:sym typeface="Calibri"/>
            </a:endParaRPr>
          </a:p>
        </p:txBody>
      </p:sp>
      <p:sp>
        <p:nvSpPr>
          <p:cNvPr id="1139" name="Google Shape;1139;p56"/>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40" name="Google Shape;1140;p56"/>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141" name="Google Shape;1141;p56"/>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Unlisted trigger?</a:t>
            </a:r>
            <a:r>
              <a:rPr b="0" i="0" lang="en" sz="1000" u="none" cap="none" strike="noStrike">
                <a:solidFill>
                  <a:srgbClr val="1D1D1F"/>
                </a:solidFill>
                <a:latin typeface="Arial"/>
                <a:ea typeface="Arial"/>
                <a:cs typeface="Arial"/>
                <a:sym typeface="Arial"/>
              </a:rPr>
              <a:t>use the same logic: catch the problem early, catch the pattern early.</a:t>
            </a:r>
            <a:endParaRPr b="0" i="0" sz="1000" u="none" cap="none" strike="noStrike">
              <a:solidFill>
                <a:schemeClr val="dk1"/>
              </a:solidFill>
              <a:latin typeface="Calibri"/>
              <a:ea typeface="Calibri"/>
              <a:cs typeface="Calibri"/>
              <a:sym typeface="Calibri"/>
            </a:endParaRPr>
          </a:p>
        </p:txBody>
      </p:sp>
      <p:sp>
        <p:nvSpPr>
          <p:cNvPr id="1142" name="Google Shape;1142;p5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5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148" name="Google Shape;1148;p5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Standard call attempt</a:t>
            </a:r>
            <a:endParaRPr b="0" i="0" sz="2400" u="none" cap="none" strike="noStrike">
              <a:solidFill>
                <a:schemeClr val="dk1"/>
              </a:solidFill>
              <a:latin typeface="Calibri"/>
              <a:ea typeface="Calibri"/>
              <a:cs typeface="Calibri"/>
              <a:sym typeface="Calibri"/>
            </a:endParaRPr>
          </a:p>
        </p:txBody>
      </p:sp>
      <p:sp>
        <p:nvSpPr>
          <p:cNvPr id="1149" name="Google Shape;1149;p5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Used whenever a trigger says to call the customer.</a:t>
            </a:r>
            <a:endParaRPr b="0" i="0" sz="1200" u="none" cap="none" strike="noStrike">
              <a:solidFill>
                <a:schemeClr val="dk1"/>
              </a:solidFill>
              <a:latin typeface="Calibri"/>
              <a:ea typeface="Calibri"/>
              <a:cs typeface="Calibri"/>
              <a:sym typeface="Calibri"/>
            </a:endParaRPr>
          </a:p>
        </p:txBody>
      </p:sp>
      <p:sp>
        <p:nvSpPr>
          <p:cNvPr id="1150" name="Google Shape;1150;p57"/>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57"/>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52" name="Google Shape;1152;p57"/>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153" name="Google Shape;1153;p57"/>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Business hours only</a:t>
            </a:r>
            <a:endParaRPr b="0" i="0" sz="1200" u="none" cap="none" strike="noStrike">
              <a:solidFill>
                <a:schemeClr val="dk1"/>
              </a:solidFill>
              <a:latin typeface="Calibri"/>
              <a:ea typeface="Calibri"/>
              <a:cs typeface="Calibri"/>
              <a:sym typeface="Calibri"/>
            </a:endParaRPr>
          </a:p>
        </p:txBody>
      </p:sp>
      <p:sp>
        <p:nvSpPr>
          <p:cNvPr id="1154" name="Google Shape;1154;p57"/>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8 AM to 8 PM in the customer's local time. Ticket under 10 minutes before 8 AM: park it and call at 8.</a:t>
            </a:r>
            <a:endParaRPr b="0" i="0" sz="950" u="none" cap="none" strike="noStrike">
              <a:solidFill>
                <a:schemeClr val="dk1"/>
              </a:solidFill>
              <a:latin typeface="Calibri"/>
              <a:ea typeface="Calibri"/>
              <a:cs typeface="Calibri"/>
              <a:sym typeface="Calibri"/>
            </a:endParaRPr>
          </a:p>
        </p:txBody>
      </p:sp>
      <p:sp>
        <p:nvSpPr>
          <p:cNvPr id="1155" name="Google Shape;1155;p57"/>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57"/>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57" name="Google Shape;1157;p57"/>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158" name="Google Shape;1158;p57"/>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Outside hours</a:t>
            </a:r>
            <a:endParaRPr b="0" i="0" sz="1200" u="none" cap="none" strike="noStrike">
              <a:solidFill>
                <a:schemeClr val="dk1"/>
              </a:solidFill>
              <a:latin typeface="Calibri"/>
              <a:ea typeface="Calibri"/>
              <a:cs typeface="Calibri"/>
              <a:sym typeface="Calibri"/>
            </a:endParaRPr>
          </a:p>
        </p:txBody>
      </p:sp>
      <p:sp>
        <p:nvSpPr>
          <p:cNvPr id="1159" name="Google Shape;1159;p57"/>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More than 10 minutes before 8 AM, or after 8 PM: don't wait. Treat as no answer.</a:t>
            </a:r>
            <a:endParaRPr b="0" i="0" sz="950" u="none" cap="none" strike="noStrike">
              <a:solidFill>
                <a:schemeClr val="dk1"/>
              </a:solidFill>
              <a:latin typeface="Calibri"/>
              <a:ea typeface="Calibri"/>
              <a:cs typeface="Calibri"/>
              <a:sym typeface="Calibri"/>
            </a:endParaRPr>
          </a:p>
        </p:txBody>
      </p:sp>
      <p:sp>
        <p:nvSpPr>
          <p:cNvPr id="1160" name="Google Shape;1160;p57"/>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57"/>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2" name="Google Shape;1162;p57"/>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163" name="Google Shape;1163;p57"/>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 answer</a:t>
            </a:r>
            <a:endParaRPr b="0" i="0" sz="1200" u="none" cap="none" strike="noStrike">
              <a:solidFill>
                <a:schemeClr val="dk1"/>
              </a:solidFill>
              <a:latin typeface="Calibri"/>
              <a:ea typeface="Calibri"/>
              <a:cs typeface="Calibri"/>
              <a:sym typeface="Calibri"/>
            </a:endParaRPr>
          </a:p>
        </p:txBody>
      </p:sp>
      <p:sp>
        <p:nvSpPr>
          <p:cNvPr id="1164" name="Google Shape;1164;p57"/>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Usually email. Explain the terms or charges and include a self-service link (self-cancel or self-refund).</a:t>
            </a:r>
            <a:endParaRPr b="0" i="0" sz="950" u="none" cap="none" strike="noStrike">
              <a:solidFill>
                <a:schemeClr val="dk1"/>
              </a:solidFill>
              <a:latin typeface="Calibri"/>
              <a:ea typeface="Calibri"/>
              <a:cs typeface="Calibri"/>
              <a:sym typeface="Calibri"/>
            </a:endParaRPr>
          </a:p>
        </p:txBody>
      </p:sp>
      <p:sp>
        <p:nvSpPr>
          <p:cNvPr id="1165" name="Google Shape;1165;p57"/>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6" name="Google Shape;1166;p57"/>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167" name="Google Shape;1167;p57"/>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If they answer:</a:t>
            </a:r>
            <a:r>
              <a:rPr b="0" i="0" lang="en" sz="1000" u="none" cap="none" strike="noStrike">
                <a:solidFill>
                  <a:srgbClr val="1D1D1F"/>
                </a:solidFill>
                <a:latin typeface="Arial"/>
                <a:ea typeface="Arial"/>
                <a:cs typeface="Arial"/>
                <a:sym typeface="Arial"/>
              </a:rPr>
              <a:t>follow the specific instructions in that trigger's section.</a:t>
            </a:r>
            <a:endParaRPr b="0" i="0" sz="1000" u="none" cap="none" strike="noStrike">
              <a:solidFill>
                <a:schemeClr val="dk1"/>
              </a:solidFill>
              <a:latin typeface="Calibri"/>
              <a:ea typeface="Calibri"/>
              <a:cs typeface="Calibri"/>
              <a:sym typeface="Calibri"/>
            </a:endParaRPr>
          </a:p>
        </p:txBody>
      </p:sp>
      <p:sp>
        <p:nvSpPr>
          <p:cNvPr id="1168" name="Google Shape;1168;p5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5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174" name="Google Shape;1174;p5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Dispute-risk assessment and the 360-day flag</a:t>
            </a:r>
            <a:endParaRPr b="0" i="0" sz="2400" u="none" cap="none" strike="noStrike">
              <a:solidFill>
                <a:schemeClr val="dk1"/>
              </a:solidFill>
              <a:latin typeface="Calibri"/>
              <a:ea typeface="Calibri"/>
              <a:cs typeface="Calibri"/>
              <a:sym typeface="Calibri"/>
            </a:endParaRPr>
          </a:p>
        </p:txBody>
      </p:sp>
      <p:sp>
        <p:nvSpPr>
          <p:cNvPr id="1175" name="Google Shape;1175;p5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Shared steps used by many triggers.</a:t>
            </a:r>
            <a:endParaRPr b="0" i="0" sz="1200" u="none" cap="none" strike="noStrike">
              <a:solidFill>
                <a:schemeClr val="dk1"/>
              </a:solidFill>
              <a:latin typeface="Calibri"/>
              <a:ea typeface="Calibri"/>
              <a:cs typeface="Calibri"/>
              <a:sym typeface="Calibri"/>
            </a:endParaRPr>
          </a:p>
        </p:txBody>
      </p:sp>
      <p:sp>
        <p:nvSpPr>
          <p:cNvPr id="1176" name="Google Shape;1176;p58"/>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58"/>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8" name="Google Shape;1178;p58"/>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179" name="Google Shape;1179;p58"/>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120-day assessment</a:t>
            </a:r>
            <a:endParaRPr b="0" i="0" sz="1200" u="none" cap="none" strike="noStrike">
              <a:solidFill>
                <a:schemeClr val="dk1"/>
              </a:solidFill>
              <a:latin typeface="Calibri"/>
              <a:ea typeface="Calibri"/>
              <a:cs typeface="Calibri"/>
              <a:sym typeface="Calibri"/>
            </a:endParaRPr>
          </a:p>
        </p:txBody>
      </p:sp>
      <p:sp>
        <p:nvSpPr>
          <p:cNvPr id="1180" name="Google Shape;1180;p58"/>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Look at FC charges from the last 120 days. Write a note: Disputable amount, Dispute threshold, Dispute likelihood, Action.</a:t>
            </a:r>
            <a:endParaRPr b="0" i="0" sz="950" u="none" cap="none" strike="noStrike">
              <a:solidFill>
                <a:schemeClr val="dk1"/>
              </a:solidFill>
              <a:latin typeface="Calibri"/>
              <a:ea typeface="Calibri"/>
              <a:cs typeface="Calibri"/>
              <a:sym typeface="Calibri"/>
            </a:endParaRPr>
          </a:p>
        </p:txBody>
      </p:sp>
      <p:sp>
        <p:nvSpPr>
          <p:cNvPr id="1181" name="Google Shape;1181;p58"/>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58"/>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83" name="Google Shape;1183;p58"/>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184" name="Google Shape;1184;p58"/>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Above the threshold</a:t>
            </a:r>
            <a:endParaRPr b="0" i="0" sz="1200" u="none" cap="none" strike="noStrike">
              <a:solidFill>
                <a:schemeClr val="dk1"/>
              </a:solidFill>
              <a:latin typeface="Calibri"/>
              <a:ea typeface="Calibri"/>
              <a:cs typeface="Calibri"/>
              <a:sym typeface="Calibri"/>
            </a:endParaRPr>
          </a:p>
        </p:txBody>
      </p:sp>
      <p:sp>
        <p:nvSpPr>
          <p:cNvPr id="1185" name="Google Shape;1185;p58"/>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Don't wait for the dispute. Each trigger walks you through cancelling FC and waiving the ETF, plus a refund if asked.</a:t>
            </a:r>
            <a:endParaRPr b="0" i="0" sz="950" u="none" cap="none" strike="noStrike">
              <a:solidFill>
                <a:schemeClr val="dk1"/>
              </a:solidFill>
              <a:latin typeface="Calibri"/>
              <a:ea typeface="Calibri"/>
              <a:cs typeface="Calibri"/>
              <a:sym typeface="Calibri"/>
            </a:endParaRPr>
          </a:p>
        </p:txBody>
      </p:sp>
      <p:sp>
        <p:nvSpPr>
          <p:cNvPr id="1186" name="Google Shape;1186;p58"/>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58"/>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88" name="Google Shape;1188;p58"/>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189" name="Google Shape;1189;p58"/>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Below the threshold</a:t>
            </a:r>
            <a:endParaRPr b="0" i="0" sz="1200" u="none" cap="none" strike="noStrike">
              <a:solidFill>
                <a:schemeClr val="dk1"/>
              </a:solidFill>
              <a:latin typeface="Calibri"/>
              <a:ea typeface="Calibri"/>
              <a:cs typeface="Calibri"/>
              <a:sym typeface="Calibri"/>
            </a:endParaRPr>
          </a:p>
        </p:txBody>
      </p:sp>
      <p:sp>
        <p:nvSpPr>
          <p:cNvPr id="1190" name="Google Shape;1190;p58"/>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Usually a chance to explain the charge, not a reason to refund.</a:t>
            </a:r>
            <a:endParaRPr b="0" i="0" sz="950" u="none" cap="none" strike="noStrike">
              <a:solidFill>
                <a:schemeClr val="dk1"/>
              </a:solidFill>
              <a:latin typeface="Calibri"/>
              <a:ea typeface="Calibri"/>
              <a:cs typeface="Calibri"/>
              <a:sym typeface="Calibri"/>
            </a:endParaRPr>
          </a:p>
        </p:txBody>
      </p:sp>
      <p:sp>
        <p:nvSpPr>
          <p:cNvPr id="1191" name="Google Shape;1191;p58"/>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92" name="Google Shape;1192;p58"/>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193" name="Google Shape;1193;p58"/>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360-day flag:</a:t>
            </a:r>
            <a:r>
              <a:rPr b="0" i="0" lang="en" sz="1000" u="none" cap="none" strike="noStrike">
                <a:solidFill>
                  <a:srgbClr val="1D1D1F"/>
                </a:solidFill>
                <a:latin typeface="Arial"/>
                <a:ea typeface="Arial"/>
                <a:cs typeface="Arial"/>
                <a:sym typeface="Arial"/>
              </a:rPr>
              <a:t>if their only issue was a specific job, add admin_approved_low_dispute_risk_for_360_days (C CRM &gt; Do &gt; Charges), fix the service issue, and note it.</a:t>
            </a:r>
            <a:endParaRPr b="0" i="0" sz="1000" u="none" cap="none" strike="noStrike">
              <a:solidFill>
                <a:schemeClr val="dk1"/>
              </a:solidFill>
              <a:latin typeface="Calibri"/>
              <a:ea typeface="Calibri"/>
              <a:cs typeface="Calibri"/>
              <a:sym typeface="Calibri"/>
            </a:endParaRPr>
          </a:p>
        </p:txBody>
      </p:sp>
      <p:sp>
        <p:nvSpPr>
          <p:cNvPr id="1194" name="Google Shape;1194;p5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5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200" name="Google Shape;1200;p5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Group A: fraud and identity</a:t>
            </a:r>
            <a:endParaRPr b="0" i="0" sz="2400" u="none" cap="none" strike="noStrike">
              <a:solidFill>
                <a:schemeClr val="dk1"/>
              </a:solidFill>
              <a:latin typeface="Calibri"/>
              <a:ea typeface="Calibri"/>
              <a:cs typeface="Calibri"/>
              <a:sym typeface="Calibri"/>
            </a:endParaRPr>
          </a:p>
        </p:txBody>
      </p:sp>
      <p:sp>
        <p:nvSpPr>
          <p:cNvPr id="1201" name="Google Shape;1201;p5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Triggers and what to do.</a:t>
            </a:r>
            <a:endParaRPr b="0" i="0" sz="1200" u="none" cap="none" strike="noStrike">
              <a:solidFill>
                <a:schemeClr val="dk1"/>
              </a:solidFill>
              <a:latin typeface="Calibri"/>
              <a:ea typeface="Calibri"/>
              <a:cs typeface="Calibri"/>
              <a:sym typeface="Calibri"/>
            </a:endParaRPr>
          </a:p>
        </p:txBody>
      </p:sp>
      <p:graphicFrame>
        <p:nvGraphicFramePr>
          <p:cNvPr id="1202" name="Google Shape;1202;p59"/>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Sender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Fires when / Do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api.customerlocation, views.customerprofilelocation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Repeated address changes. One change is normal. Follow the action item; if fraud looks likely, follow the Fraud article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utils.flag_multiple_customers_with_same_addresses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Shared address, often harmless. Check for fraud. Active FC on several accounts: high risk, cancel all and add known_customer_fraud; no risk, add admin_ignore_address_fraud_flags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utils.flag_risky_customer_jobs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"fake" in name or address. Call Primary CRM, Google Voice, Secondary CRM. Details look real: send reminder. Look fake: cancel the appointment and RC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views.customerprofilepassword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Name, email or phone changed 3+ times in a year. Follow the action item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203" name="Google Shape;1203;p5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6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209" name="Google Shape;1209;p6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Group A: matching past disputes</a:t>
            </a:r>
            <a:endParaRPr b="0" i="0" sz="2400" u="none" cap="none" strike="noStrike">
              <a:solidFill>
                <a:schemeClr val="dk1"/>
              </a:solidFill>
              <a:latin typeface="Calibri"/>
              <a:ea typeface="Calibri"/>
              <a:cs typeface="Calibri"/>
              <a:sym typeface="Calibri"/>
            </a:endParaRPr>
          </a:p>
        </p:txBody>
      </p:sp>
      <p:sp>
        <p:nvSpPr>
          <p:cNvPr id="1210" name="Google Shape;1210;p6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utils.flag_upcoming_jobs_matching_past_dispute_signals.</a:t>
            </a:r>
            <a:endParaRPr b="0" i="0" sz="1200" u="none" cap="none" strike="noStrike">
              <a:solidFill>
                <a:schemeClr val="dk1"/>
              </a:solidFill>
              <a:latin typeface="Calibri"/>
              <a:ea typeface="Calibri"/>
              <a:cs typeface="Calibri"/>
              <a:sym typeface="Calibri"/>
            </a:endParaRPr>
          </a:p>
        </p:txBody>
      </p:sp>
      <p:graphicFrame>
        <p:nvGraphicFramePr>
          <p:cNvPr id="1211" name="Google Shape;1211;p60"/>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Situation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Action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Fraud looks likely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Follow the Fraud (knowingly intended to dispute and not pay) instructions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Unlikely, and we already explained FC terms or charges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They will likely dispute again. Cancel upcoming jobs and RC, waive the ETF if it applies, refund and invalidate any unused DHJ voucher. Tell them why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Unlikely, and we haven't explained yet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Still a chance to keep them. Call and explain. Only a booking issue: add the 360-day flag, fix the service issue. No answer: add the flag, email, include a self-service link</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212" name="Google Shape;1212;p6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6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218" name="Google Shape;1218;p6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Group B: dispute risk and chargebacks (1 of 2)</a:t>
            </a:r>
            <a:endParaRPr b="0" i="0" sz="2400" u="none" cap="none" strike="noStrike">
              <a:solidFill>
                <a:schemeClr val="dk1"/>
              </a:solidFill>
              <a:latin typeface="Calibri"/>
              <a:ea typeface="Calibri"/>
              <a:cs typeface="Calibri"/>
              <a:sym typeface="Calibri"/>
            </a:endParaRPr>
          </a:p>
        </p:txBody>
      </p:sp>
      <p:sp>
        <p:nvSpPr>
          <p:cNvPr id="1219" name="Google Shape;1219;p6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Prevent the dispute, don't invite one.</a:t>
            </a:r>
            <a:endParaRPr b="0" i="0" sz="1200" u="none" cap="none" strike="noStrike">
              <a:solidFill>
                <a:schemeClr val="dk1"/>
              </a:solidFill>
              <a:latin typeface="Calibri"/>
              <a:ea typeface="Calibri"/>
              <a:cs typeface="Calibri"/>
              <a:sym typeface="Calibri"/>
            </a:endParaRPr>
          </a:p>
        </p:txBody>
      </p:sp>
      <p:graphicFrame>
        <p:nvGraphicFramePr>
          <p:cNvPr id="1220" name="Google Shape;1220;p61"/>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Sender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Customer.flag_as_dispute_risk</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Find why it was flagged. Follow the HDR Ticket Handling Process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ForeverClean.charge (disputed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Run the assessment. Above threshold and they asked: cancel FC, waive ETF, refund the smaller of disputable charges or the ask. No ask: cancel and waive without contacting. Below: call and explain terms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ForeverClean.charge no_first_job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assessment. Above: same actions. Below: it is about getting them to book their first job. Call in business hours or email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utils.flag_dispute_risks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History of disputes, still active. Contacted us before or after the dispute: Customer Has Dispute History. If not: review the disputed charges, call to explain FC terms, else email with the self-cancel link</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221" name="Google Shape;1221;p6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6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227" name="Google Shape;1227;p6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Group B: dispute risk and chargebacks (2 of 2)</a:t>
            </a:r>
            <a:endParaRPr b="0" i="0" sz="2400" u="none" cap="none" strike="noStrike">
              <a:solidFill>
                <a:schemeClr val="dk1"/>
              </a:solidFill>
              <a:latin typeface="Calibri"/>
              <a:ea typeface="Calibri"/>
              <a:cs typeface="Calibri"/>
              <a:sym typeface="Calibri"/>
            </a:endParaRPr>
          </a:p>
        </p:txBody>
      </p:sp>
      <p:sp>
        <p:nvSpPr>
          <p:cNvPr id="1228" name="Google Shape;1228;p6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Pre-disputes and Stripe.</a:t>
            </a:r>
            <a:endParaRPr b="0" i="0" sz="1200" u="none" cap="none" strike="noStrike">
              <a:solidFill>
                <a:schemeClr val="dk1"/>
              </a:solidFill>
              <a:latin typeface="Calibri"/>
              <a:ea typeface="Calibri"/>
              <a:cs typeface="Calibri"/>
              <a:sym typeface="Calibri"/>
            </a:endParaRPr>
          </a:p>
        </p:txBody>
      </p:sp>
      <p:graphicFrame>
        <p:nvGraphicFramePr>
          <p:cNvPr id="1229" name="Google Shape;1229;p62"/>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Sender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views.cs_customerprospect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Pre-disputed charge. Check for fraud or CP fault and penalize if needed. Confirm RC and upcoming jobs are cancelled. Don't refund on the system flag alone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views.stripegeneral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Dispute or Early Fraud Warning. Needs a response: reassign to the Dispute Response Team. HDR: follow the HDR process. Otherwise follow the action item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230" name="Google Shape;1230;p6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6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236" name="Google Shape;1236;p6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Group C: jobs, bookings and scheduling</a:t>
            </a:r>
            <a:endParaRPr b="0" i="0" sz="2400" u="none" cap="none" strike="noStrike">
              <a:solidFill>
                <a:schemeClr val="dk1"/>
              </a:solidFill>
              <a:latin typeface="Calibri"/>
              <a:ea typeface="Calibri"/>
              <a:cs typeface="Calibri"/>
              <a:sym typeface="Calibri"/>
            </a:endParaRPr>
          </a:p>
        </p:txBody>
      </p:sp>
      <p:sp>
        <p:nvSpPr>
          <p:cNvPr id="1237" name="Google Shape;1237;p6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Triggers and what to do.</a:t>
            </a:r>
            <a:endParaRPr b="0" i="0" sz="1200" u="none" cap="none" strike="noStrike">
              <a:solidFill>
                <a:schemeClr val="dk1"/>
              </a:solidFill>
              <a:latin typeface="Calibri"/>
              <a:ea typeface="Calibri"/>
              <a:cs typeface="Calibri"/>
              <a:sym typeface="Calibri"/>
            </a:endParaRPr>
          </a:p>
        </p:txBody>
      </p:sp>
      <p:graphicFrame>
        <p:nvGraphicFramePr>
          <p:cNvPr id="1238" name="Google Shape;1238;p63"/>
          <p:cNvGraphicFramePr/>
          <p:nvPr/>
        </p:nvGraphicFramePr>
        <p:xfrm>
          <a:off x="411480" y="1234440"/>
          <a:ext cx="3000000" cy="3000000"/>
        </p:xfrm>
        <a:graphic>
          <a:graphicData uri="http://schemas.openxmlformats.org/drawingml/2006/table">
            <a:tbl>
              <a:tblPr>
                <a:noFill/>
                <a:tableStyleId>{87FC29E5-250B-491D-89D5-C136B52F4FEA}</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Sender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cleaner_jobs.report_lockout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Not the first lockout. Check lockout requirements. Refund Premium if charged. Note whether it was valid. Message the customer only if no auto message, they reached out, or FC is active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utils.report_double_booked_clients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 close requests. Call in business hours and cancel the duplicate to avoid accidental LMC or lockout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views.choosecp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DHJ voucher zip not covered. Refund and invalidate the voucher via CRM. Cancel FC, RC and upcoming appointments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views.cpjob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Invoices too close together, or frequent LMC/lockouts. Check validity, refund Premium if charged, note findings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views.cpreviews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1-star review on a CP already below 4.0. Check for false invoice or wrong hours. Don't refund without solid evidence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239" name="Google Shape;1239;p6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6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INTERNAL NOTE ACTION ITEMS</a:t>
            </a:r>
            <a:endParaRPr b="0" i="0" sz="800" u="none" cap="none" strike="noStrike">
              <a:solidFill>
                <a:schemeClr val="dk1"/>
              </a:solidFill>
              <a:latin typeface="Calibri"/>
              <a:ea typeface="Calibri"/>
              <a:cs typeface="Calibri"/>
              <a:sym typeface="Calibri"/>
            </a:endParaRPr>
          </a:p>
        </p:txBody>
      </p:sp>
      <p:sp>
        <p:nvSpPr>
          <p:cNvPr id="1245" name="Google Shape;1245;p6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Group C and D: more triggers</a:t>
            </a:r>
            <a:endParaRPr b="0" i="0" sz="2400" u="none" cap="none" strike="noStrike">
              <a:solidFill>
                <a:schemeClr val="dk1"/>
              </a:solidFill>
              <a:latin typeface="Calibri"/>
              <a:ea typeface="Calibri"/>
              <a:cs typeface="Calibri"/>
              <a:sym typeface="Calibri"/>
            </a:endParaRPr>
          </a:p>
        </p:txBody>
      </p:sp>
      <p:sp>
        <p:nvSpPr>
          <p:cNvPr id="1246" name="Google Shape;1246;p6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Pending invoices, refund requests and comms flags.</a:t>
            </a:r>
            <a:endParaRPr b="0" i="0" sz="1200" u="none" cap="none" strike="noStrike">
              <a:solidFill>
                <a:schemeClr val="dk1"/>
              </a:solidFill>
              <a:latin typeface="Calibri"/>
              <a:ea typeface="Calibri"/>
              <a:cs typeface="Calibri"/>
              <a:sym typeface="Calibri"/>
            </a:endParaRPr>
          </a:p>
        </p:txBody>
      </p:sp>
      <p:sp>
        <p:nvSpPr>
          <p:cNvPr id="1247" name="Google Shape;1247;p6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6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9" name="Google Shape;1249;p6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250" name="Google Shape;1250;p6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Long pending invoice</a:t>
            </a:r>
            <a:endParaRPr b="0" i="0" sz="1200" u="none" cap="none" strike="noStrike">
              <a:solidFill>
                <a:schemeClr val="dk1"/>
              </a:solidFill>
              <a:latin typeface="Calibri"/>
              <a:ea typeface="Calibri"/>
              <a:cs typeface="Calibri"/>
              <a:sym typeface="Calibri"/>
            </a:endParaRPr>
          </a:p>
        </p:txBody>
      </p:sp>
      <p:sp>
        <p:nvSpPr>
          <p:cNvPr id="1251" name="Google Shape;1251;p6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utils.message_or_charge_long_pending_invoice_customers: a job sits in pending_invoice too long. Follow Long-Pending-Invoice Handling.</a:t>
            </a:r>
            <a:endParaRPr b="0" i="0" sz="950" u="none" cap="none" strike="noStrike">
              <a:solidFill>
                <a:schemeClr val="dk1"/>
              </a:solidFill>
              <a:latin typeface="Calibri"/>
              <a:ea typeface="Calibri"/>
              <a:cs typeface="Calibri"/>
              <a:sym typeface="Calibri"/>
            </a:endParaRPr>
          </a:p>
        </p:txBody>
      </p:sp>
      <p:sp>
        <p:nvSpPr>
          <p:cNvPr id="1252" name="Google Shape;1252;p6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6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4" name="Google Shape;1254;p6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255" name="Google Shape;1255;p6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request flagged</a:t>
            </a:r>
            <a:endParaRPr b="0" i="0" sz="1200" u="none" cap="none" strike="noStrike">
              <a:solidFill>
                <a:schemeClr val="dk1"/>
              </a:solidFill>
              <a:latin typeface="Calibri"/>
              <a:ea typeface="Calibri"/>
              <a:cs typeface="Calibri"/>
              <a:sym typeface="Calibri"/>
            </a:endParaRPr>
          </a:p>
        </p:txBody>
      </p:sp>
      <p:sp>
        <p:nvSpPr>
          <p:cNvPr id="1256" name="Google Shape;1256;p6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views.customer_request_refund: appointment unfinished, or damage or missing items. Follow OCH, False Invoice, PCQ or the matching policy.</a:t>
            </a:r>
            <a:endParaRPr b="0" i="0" sz="950" u="none" cap="none" strike="noStrike">
              <a:solidFill>
                <a:schemeClr val="dk1"/>
              </a:solidFill>
              <a:latin typeface="Calibri"/>
              <a:ea typeface="Calibri"/>
              <a:cs typeface="Calibri"/>
              <a:sym typeface="Calibri"/>
            </a:endParaRPr>
          </a:p>
        </p:txBody>
      </p:sp>
      <p:sp>
        <p:nvSpPr>
          <p:cNvPr id="1257" name="Google Shape;1257;p6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6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9" name="Google Shape;1259;p6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260" name="Google Shape;1260;p6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Block-comms flag</a:t>
            </a:r>
            <a:endParaRPr b="0" i="0" sz="1200" u="none" cap="none" strike="noStrike">
              <a:solidFill>
                <a:schemeClr val="dk1"/>
              </a:solidFill>
              <a:latin typeface="Calibri"/>
              <a:ea typeface="Calibri"/>
              <a:cs typeface="Calibri"/>
              <a:sym typeface="Calibri"/>
            </a:endParaRPr>
          </a:p>
        </p:txBody>
      </p:sp>
      <p:sp>
        <p:nvSpPr>
          <p:cNvPr id="1261" name="Google Shape;1261;p6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utils.flag_active_block_comms_users: resolve any issue, then remove it (C CRM &gt; Do &gt; Deactivate). Leaving it risks missed reminders.</a:t>
            </a:r>
            <a:endParaRPr b="0" i="0" sz="950" u="none" cap="none" strike="noStrike">
              <a:solidFill>
                <a:schemeClr val="dk1"/>
              </a:solidFill>
              <a:latin typeface="Calibri"/>
              <a:ea typeface="Calibri"/>
              <a:cs typeface="Calibri"/>
              <a:sym typeface="Calibri"/>
            </a:endParaRPr>
          </a:p>
        </p:txBody>
      </p:sp>
      <p:sp>
        <p:nvSpPr>
          <p:cNvPr id="1262" name="Google Shape;1262;p6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63" name="Google Shape;1263;p6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264" name="Google Shape;1264;p6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Preferred outcome:</a:t>
            </a:r>
            <a:r>
              <a:rPr b="0" i="0" lang="en" sz="1000" u="none" cap="none" strike="noStrike">
                <a:solidFill>
                  <a:srgbClr val="1D1D1F"/>
                </a:solidFill>
                <a:latin typeface="Arial"/>
                <a:ea typeface="Arial"/>
                <a:cs typeface="Arial"/>
                <a:sym typeface="Arial"/>
              </a:rPr>
              <a:t>remove the block-comms flag, and note why.</a:t>
            </a:r>
            <a:endParaRPr b="0" i="0" sz="1000" u="none" cap="none" strike="noStrike">
              <a:solidFill>
                <a:schemeClr val="dk1"/>
              </a:solidFill>
              <a:latin typeface="Calibri"/>
              <a:ea typeface="Calibri"/>
              <a:cs typeface="Calibri"/>
              <a:sym typeface="Calibri"/>
            </a:endParaRPr>
          </a:p>
        </p:txBody>
      </p:sp>
      <p:sp>
        <p:nvSpPr>
          <p:cNvPr id="1265" name="Google Shape;1265;p6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65"/>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271" name="Google Shape;1271;p65"/>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272" name="Google Shape;1272;p65"/>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273" name="Google Shape;1273;p65"/>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65"/>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1275" name="Google Shape;1275;p65"/>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276" name="Google Shape;1276;p65"/>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65"/>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65"/>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65"/>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65"/>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65"/>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65"/>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