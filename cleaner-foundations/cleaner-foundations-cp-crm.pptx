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the cleaner (CP) side of Homeaglow: the Cleaner Journey, the Legacy CP CRM and CP Dashboard, CP profile statuses, deactivation reasons, operating models, tiering, job statuses, and the Pending Invoice action guide. It ends with a knowledge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Topics 2 and 3 are live walkthroughs: the slides only set up what trainees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mirror image of the Customer Journey, from the CP's side. It explains things you'll see constantly in CP tickets: why a CP's status shows cpprofile_setpay or cpsignica instead of active, why a background check hasn't cleared even though the CP claimed a job days ago, or why a CP can't claim jobs despite finishing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Explore information: cleaners learn about us through homeaglow.com/apply (job descriptions, benefits, how-to videos, dashboard walkthroughs), search engines (most common), testimonials, friends and family, or by contacting Support. Step 2 Submit job application (registration). Step 3 Claim and manage jobs: the CP moves from registered to actively working. Step 4 Background check: starts only after the CP claims their first job, so they are verified before their first appointment. Step 5 Complete the job and get paid through their chosen payment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go to homeaglow.com/apply and enter a zip code. Step 2: fill out details (name, email, address etc.). Step 3: take a short quiz about cleaning homes. Step 4: set up their profile: pay rate, coverage area, schedule, profile photo, SSN and pay details. Step 5: watch the welcome video, after which their profile is created and they can begin claiming jobs. Everything before the first claim is the registration phase; the key uncertainty is whether the CP will follow through and complete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Registration is normally quick, but two things commonly block a CP from claiming jobs: no pay details (debit cards and bank accounts are accepted) and no SSN (needed to run the background check, which protects customer safety). Once a CP claims their first job, we assume they are committed, intend to complete it and get paid, and could keep claiming. The background check (BGC) starts only after that first claim, not at registration, so the CP is verified before the first scheduled appointment. BGCs are a free benefit for CPs and a core reason customers trust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claimed job is completed: the CP processes payment based on their selected payment method; the customer gets email/SMS confirmation and is encouraged to leave a review and tip; if there is a service concern such as quality, the customer may request a refund; the CP can issue a refund themselves, either in response to a request or proactively if they know they didn't fully meet expectations (some CPs do this to protect their review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(cleaner)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accounts. The screenshot is a preview with sample training details (Truffle Wuffle); the trainer will walk through the live system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Legacy CP CRM now. Do not demo from the slides. Suggested flow: open a CP account, show profile status and rate, the Flags table and status history, tier and keep rate, claimed and invoiced jobs, and the message thread. Adjust to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the cleaner-facing side. Seeing it helps agents guide CPs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where cleaners claim and manage their jobs and manage their account. The screenshot shows claimed jobs on a calendar, Steps to Success guides, and links to update rate and availability. Customer addresses are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CP Dashboard now. Suggested flow: claimable jobs, the claimed-jobs calendar, a job's details, Charge Client, updating rate and availability, and account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time you coach or penalize a CP in a PCQ, Overcharged Hours or Reliability ticket, you are changing (or deciding not to change) their status. Understanding what each status does is what separates "I flagged the CP" from "I understood what that flag does to their ability to work." Status history is in the CP's Flags table: when it changed, to what, and the previous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full standing; can claim new jobs, keep upcoming claimed jobs, full dashboard. norequests: can't claim new jobs, keeps upcoming jobs and full dashboard. suspended: can't claim, removed from upcoming jobs, limited dashboard (can still see Completed Jobs to review past pay). norequests and suspended CPs can reactivate with a fee ($15-$25 by cohort) unless they have a do_not_reactivate flag or live in a CA/CAWA Operating Model state. Probation applies for the first jobs after joining and after reactivation from suspension. cp-opt-out: the CP chose not to be available (illness, moved, no longer cleaning); they can reactivate free via the dashboard or 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Imported: was a Homejoy CP; info imported. cpintrovideo: hasn't finished the intro video. cpprofile_setpay: hasn't set hourly rate (CPs set their own rate; a $5/hr match fee may apply to first jobs with each client in General Operating Model states; CPs can update rate anytime). cpprofilebio: hasn't uploaded photo/bio. cpprofilesetuppayment: hasn't entered legal info for the BGC or payment info (they can temporarily skip payment details to see claimable jobs). cpsignica: hasn't accepted the Platform Access Agreement. cphowitworks: hasn't done the quiz, OR was active but hasn't accessed the dashboard in 30+ days (auto_update_inactive_cp_step flag), OR was active but has no photo (auto_update_bad_photo_cp_step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System-generated status changes. Keep rate: &lt;=80% (more than 20% cancellations) norequests; &lt;70% suspended; in probation &lt;100% suspended. No-shows: 2 in the last 5 jobs suspended; in probation any no-show suspended. Reviews (only OCW reviews): average &lt;4.0 across various counts, last 4 averaged 2.8, or last 6 averaged 3.0 norequests; in probation any 1- or 2-star review suspended. Reschedules: various calculations norequests. Serious risks (false invoices, theft, damage): 2 refund requests in last 10 jobs norequests; new CP 2 suspended. Cleaning supplies photo: rejected norequests, rejected 3+ suspended. Profile photo: same. BG check: info matches another CP suspended or norequests; same info as a fraud-flagged CP suspended; not clear suspended. Misc: CP rescheduled a job to before their account was created suspended. New CPs (0-2 invoiced jobs since their latest activation) are on probation with stricter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"If I were the customer, would I want this CP for my cleaning?" If no, norequests or suspended is likely appropriate after proper review. A new customer with a bad first job is 50% less likely to stay on the platform, so this protects retention as well as quality. Never change a CP's status without checking the reason or flag history first: a status change without context is how legitimate CPs get penalized for something that wasn't their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CP-facing deactivation reason is a specific reason code plus a templated sentence. The same code is stored as the value of the deactivation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change a CP's status to norequests or suspended, the reason shows on the CP's own dashboard and is stored in our database as the status flag's value, which is how we track deactivation patterns. Using the wrong code, or skipping the format, breaks both.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cpq_cancel Your customer Joseph reported you cancelled their Monday Oct 9 job. Submit reactivation appeal through dashboard. / cpq_noshow Your customer Janis reported you didn't show up to their Monday Oct 9 job. ... / cpq_reschedule Your customer George reported you rescheduled their Monday Oct 9 job without permission. ... / cpq_invalid_cancel Upon review, your customer cancellation report has been deemed invalid. ... / cpq_false_invoice Customer Mary reported incorrect hours charged. Submit reactivation appeal. / cpq_overcharge Customer Kyle reported incorrect hours charged. Submit reactivation appeal.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cpq_dnr Multiple reported cancellations and no-shows. / cpq_cash Cash Payment J 1234567 / dp-c 1234567 / dp-cp 1234567 / HGTA 1234567. Code 199 is for duplicate accounts where SSN/bank info matches a suspended CP (DTC). DTC is internal; never explain it to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wrong model and you are applying the wrong policy entirely: reactivation fees, supply requirements, hourly rates and cancellation penalties all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 CA-WA Operating Model: California, New Jersey, Illinois, Massachusetts, Washington. Users in this model have a banner next to their name on the CRM. General Operating Model: all other states; no banner. If no operating model banner is present, the user is in the General Operating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to day: if a CA/CAWA CP didn't bring cleaning supplies, coach but don't penalize, and don't apply the require_new_cleaning_supplies_photo flag. When calculating first-time-client pay, check the model: General CPs lose $5/hr on that job; CA/CAWA CPs don't. Whether a CP cancellation is penalized depends on the model and how much notice was given. CA/CAWA CPs must certify their business is registered and give the business name, except WA CPs, who register with the Department of Revenue and give a Universal Business Identifier.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CP Tiering is internal information only. Disclosing tier levels, tiering logic or how matching works to a CP or customer is a Zero Tolerance Policy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Claimable jobs are first-come, first-served, so standing alone has little effect on who claims. Without tiering, customers could be matched with CPs with low reviews or poor reliability just because they claimed first. Tiering controls when CPs even see a job. It explains why a requested CP couldn't claim in time, or why a higher-tier CP swapped into a lower-tier CP's job. To check a CP's tier: click the Tier banner on CRM, or CP View &gt; CleanerTier for full Tier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 sees FC jobs once submitted; off-brand and claim limit follow their actual tier; protected from swaps at all times. Tier 10: FC jobs 48 hrs before start if requested CPs exist, otherwise once submitted; can't see off-brand; always protected; no limit. Tier 9: 48 hrs (requested) / 96 hrs (none); no off-brand; can't be swapped &lt;48 hrs; no limit. Tier 8: 36 / 72 hrs; off-brand 24 hrs before start; protected &lt;36 hrs; no limit. Tier 7: 24 / 48 hrs; off-brand once submitted; protected &lt;24 hrs; max 4. Tier 6: 24 / 36 hrs; max 3. Tier 5: 24 hrs if requested CPs exist; max 2. Tiers 4 and 3: same as Tier 5; max 2. Tiers 2 and 1: same; max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CPs are set in Job Admin under job.customer.requested_cp. Swapping: higher-tier CPs can swap into a job claimed by a lower-tier CP if the job is more than 24-48 hours away (depending on tier). The customer sees they were matched with a different, usually better-suited cleaner; the swapped-out CP is told the customer cancelled. This framing is deliberate. Exception: a CP is protected if they have sent and received at least one non-system message with the customer in the past month. Swapping is internal: disclosing it is a ZTP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complaint ("my cleaner never showed") is handled completely differently depending on whether the job is Submitted, was Claimed and abandoned, or is in Pending Invoice. Knowing the statuses means reading the account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path: Pending (right after the customer clicks Book; only visible via direct link) &gt; Submitted &gt; Claimed &gt; Pending Invoice &gt; Invoiced. Submitted, Claimed, Pending Invoice and Invoiced can each become Cancelled. Pending can also become Cancelled (e.g. an expired Handshake booking). Invoiced only becomes Cancelled through a full refund, not a direct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can book: customers (dashboard), CPs for repeat clients (dashboard or the CP App Handshake feature, if the C has &lt;2 failed charges and no known_customer_fraud flag, the CP is active, under their claim limit, rate &lt;= $30 and no more than $5 above the C's last max requested rate, no deactivation flag, and they aren't banned), and CS via CRM. Bookings can be made up to 12 hours before start; within 48 hours a system priority fee applies (not for CRM bookings). If still unclaimed 24 hours before start, the system adds alternate start times (10 AM-2 PM that day and the next 2 days); add do_not_auto_add_alternate_start_times (C CRM &gt; Do) if the customer objects. can_substitute may flip to True if unclaimed &lt;=48 hrs before start and no requested CP can claim. A submitted job becomes a Priority Request within 24-48 hours of start: more notifications, and CPs with rates up to 14% above the C's previous max can claim. Common tickets: match anxiety, last-minute requests, gender preference (rematch &gt;6 hrs before), specific CP requests (only change Requested CPs if the customer explicitly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reschedule via dashboard 6+ hours before start (new bookings need 12+ hours; don't apply the 12-hour rule to a reschedule). A priority fee may apply if the new slot is &lt;48 hours away. Rematch: C Dashboard &gt; Manage Appointment &gt; Change My Cleaner, available until 6 hours before start. CP swapping can happen (internal). The CP can file a lockout (OCW: up to 24 hrs after start; CP App: 5 min before to 1 hr after start), reschedule (with the C's agreement, even after the job time passed), or cancel from their dashboard if no agreement. Reschedule may be unavailable if the C had 2+ undesired changes (CP reschedules, no-shows, system cancels) in the last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status occurs after the cleaner completes the job and invoices by clicking Charge Client on their dashboard. Once invoiced, the customer can leave a review and tip, or request a refund if there is an issue (covered in a separate session). The cleaner can issue a refund and leave a review for the C via the CP App. An invoiced job becomes Cancelled once a full refund is issued.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cancel via dashboard unless invoiced (a Last-Minute Cancellation fee may apply &lt;6 hrs before start). CPs can cancel via dashboard or CP App unless invoiced, but it may affect their Keep Rate; no penalty if they report an emergency, a safety concern, or that the client wants to cancel via the CP App. CS can cancel via C CRM &gt; Do &gt; Job &gt; Cancel: lets us waive LMC fees (job admin page) and doesn't penalize the CP. System cancels if unclaimed at 0, 12 or 24 hours before start, or if the C has a known_customer_fraud flag, no card on file, a declined pre-auth, requested CPs ineligible with can_substitute = False, or an unapproved Handshake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scheduled duration has elapsed from the start time and the CP hasn't invoiced, the job moves from Claimed to Pending Invoice. It can be invoiced by the CP (Charge Client) or the customer (reports "My cleaning was completed"). Changes are still possible: reschedule (CP only), cancel, edit details. The C can cancel (LMC fee may apply), edit duration and extras, update address, edit notes, and via Report an Issue: confirm completion, ask for ETA, cancel. The CP can edit duration before Charge Client but needs the C's permission to add hours; can review the C; can file a lockout (OCPW up to 24 hrs after start; CP App 5 min before to 1 hr after); can reschedule with the C's agreement or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Action Guide: Pending Invoice. CS is required to take action on Pending Invoice jobs even when it isn't the customer's or cleaner's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a job on January 2 at 10 AM for 3 hours changes to Pending Invoice at 1 PM automatically. It may also mean the CP couldn't complete the cleaning and is coordinating a reschedule, the customer requested a cancellation that hasn't been processed, or the job was completed but not invoiced. That is why CS must act on Pending Invoice jobs even when it isn't the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review the C/CP comms and any C or CP messages to CS to identify whether the job was completed. Step 2: act on the evidence (next slide). Step 3: if evidence is insufficient, check whether 72 hours have passed since the job's end time. Yes: waive the cancellation fee so the C isn't charged, cancel with the appropriate reason, send C and/or CP comms. No: message the C to confirm whether the job was completed, and consider calling the C/CP. Even before 72 hours, you can cancel if comms clearly show the cleaning didn't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Completed: check whether the C messaged us confirming completion. If yes and the C confirmed a different duration: invoice in the CP Dashboard with the updated duration, tell the C we marked it completed, tell the CP we invoiced on their behalf with the duration, and coach the CP about leaving jobs pending. If yes and same duration: mark completed in the C dashboard (Select job &gt; Report an Issue &gt; My Cleaning was Completed). If the C hasn't confirmed: message the C to confirm the duration and the CP to invoice. Not completed: if the C initiated the cancellation, cancel from the C CRM. If the CP initiated, cancel from the CP dashboard to penalize the CP, or from the C CRM if no penalty should apply. Not sure: go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specific date/time agreed: proactively reschedule the job to that date/time via the CP dashboard. No specific date/time: check whether 72 hours have passed since the job end time. Not yet: send C and CP comms about the pending job with reschedule instructions. Yes: waive the cancellation fee, cancel via C CRM &gt; Do with the reason that matches who initiated the reschedule, and tell the C the job was cancelled with rebooking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credit card failed: proactive, if we likely can't charge an invalid card. Failed pre-auth: explain the pre-auth first; cancel only if the C still wants to. Customer disputed credit card charge: proactive, if the C previously disputed Homeaglow charges. Customer price: disagrees with the cost. Customer wants one time: doesn't want a recurring schedule or only wanted a one-time. Customer doesn't want service: no reason given, membership-only reason, or invalid address with an unresponsive C after multiple attempts. Customer moved. Customer schedule: schedule conflict. Customer change frequency: changing RC frequency. Customer last job was lockout/LMC: proactive, inactive C with a prior LO/LMC. Customer double-booked: two cleanings on the same date or under 7 days apart. Customer wants requested CP: only wants their requested cleaner, who couldn't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quality: the C wants to cancel because the previous CP didn't meet expectations, or due to PCQ. CP no-show/reschedule: the CP needs to cancel but tried to reschedule; no C/CP comms and the C hasn't said why; or the CP rescheduled without consent. CP cancellation: CP-initiated with no reschedule attempts. No CP claimed: the C cancels because no cleaner claimed. Escalated safety issue. Homeaglow UI: system or dashboard issue. Voucher invalid move-out: job was a move-out clean and the C refused required extra hours. Natural disaster.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The trainer decides the knowledge check format, questions and difficulty based on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 Recap: the cleaner journey, CP CRM and Dashboard, profile statuses, deactivation codes, operating models, tiering, job statuses and the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2.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2.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2.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2.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2.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Cleaner Foundations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the CP CRM</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cleaners join and work on Homeaglow, and the tools and rules we use to support them.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2/ill7.png">    </p:cNvPr>
          <p:cNvPicPr>
            <a:picLocks noChangeAspect="1"/>
          </p:cNvPicPr>
          <p:nvPr/>
        </p:nvPicPr>
        <p:blipFill>
          <a:blip r:embed="rId1"/>
          <a:stretch>
            <a:fillRect/>
          </a:stretch>
        </p:blipFill>
        <p:spPr>
          <a:xfrm>
            <a:off x="5541264" y="1783080"/>
            <a:ext cx="2926080" cy="1572768"/>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Ten topics. Topics 2 and 3 happen mostly in the live systems.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640080"/>
                <a:gridCol w="2743200"/>
                <a:gridCol w="4937760"/>
              </a:tblGrid>
              <a:tr h="29260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t>
                      </a:r>
                      <a:endParaRPr lang="en-US" sz="10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Topic</a:t>
                      </a:r>
                      <a:endParaRPr lang="en-US" sz="10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You will learn</a:t>
                      </a:r>
                      <a:endParaRPr lang="en-US" sz="10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01</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Cleaner Journey</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How a cleaner goes from applying to getting paid</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Legacy CP CRM</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Where we manage cleaner accounts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03</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 Dashboard</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What cleaners see and manage</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04</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 Profile Status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each status lets a cleaner do</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05</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CP-Facing Deactivation</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The reason codes cleaners see</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06</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Operating Models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Why location changes the rules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07</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 Tiering</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Who sees and claims jobs first</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08</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 Statuses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Submitted, Claimed, Invoiced, Cancelled, Pending Invoice</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09</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AG: Pending Invoice</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The action guide and cancellation reason codes</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92608">
                <a:tc>
                  <a:txBody>
                    <a:bodyPr/>
                    <a:lstStyle/>
                    <a:p>
                      <a:pPr indent="0" marL="0">
                        <a:buNone/>
                      </a:pPr>
                      <a:r>
                        <a:rPr lang="en-US" sz="1000" b="1" dirty="0">
                          <a:solidFill>
                            <a:srgbClr val="0B7A6F"/>
                          </a:solidFill>
                          <a:latin typeface="SF Pro Text" pitchFamily="34" charset="0"/>
                          <a:ea typeface="SF Pro Text" pitchFamily="34" charset="-122"/>
                          <a:cs typeface="SF Pro Text" pitchFamily="34" charset="-120"/>
                        </a:rPr>
                        <a:t>10</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Knowledge Check</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Set by your trainer</a:t>
                      </a:r>
                      <a:endParaRPr lang="en-US" sz="10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Journey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path a cleaner takes, from first hearing about us to getting paid for their first job.</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cleaners find us and sign up</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blocks a cleaner from claiming</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background check happens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after the first job</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cleaner journey</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0.png">    </p:cNvPr>
          <p:cNvPicPr>
            <a:picLocks noChangeAspect="1"/>
          </p:cNvPicPr>
          <p:nvPr/>
        </p:nvPicPr>
        <p:blipFill>
          <a:blip r:embed="rId1"/>
          <a:stretch>
            <a:fillRect/>
          </a:stretch>
        </p:blipFill>
        <p:spPr>
          <a:xfrm>
            <a:off x="1932991" y="1143000"/>
            <a:ext cx="5278019"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ONBOARDING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onboarding process</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1.png">    </p:cNvPr>
          <p:cNvPicPr>
            <a:picLocks noChangeAspect="1"/>
          </p:cNvPicPr>
          <p:nvPr/>
        </p:nvPicPr>
        <p:blipFill>
          <a:blip r:embed="rId1"/>
          <a:stretch>
            <a:fillRect/>
          </a:stretch>
        </p:blipFill>
        <p:spPr>
          <a:xfrm>
            <a:off x="1981040" y="1143000"/>
            <a:ext cx="5181920"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the first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Two things are required to claim jobs. The background check comes after the first claim.</a:t>
            </a:r>
            <a:endParaRPr lang="en-US" sz="1200" dirty="0"/>
          </a:p>
        </p:txBody>
      </p:sp>
      <p:sp>
        <p:nvSpPr>
          <p:cNvPr id="6" name="Shape 3"/>
          <p:cNvSpPr/>
          <p:nvPr/>
        </p:nvSpPr>
        <p:spPr>
          <a:xfrm>
            <a:off x="411480" y="1325880"/>
            <a:ext cx="5257800" cy="2194560"/>
          </a:xfrm>
          <a:prstGeom prst="roundRect">
            <a:avLst>
              <a:gd name="adj" fmla="val 3333"/>
            </a:avLst>
          </a:prstGeom>
          <a:solidFill>
            <a:srgbClr val="E3F4F1"/>
          </a:solidFill>
          <a:ln w="9525">
            <a:solidFill>
              <a:srgbClr val="E3F4F1"/>
            </a:solidFill>
            <a:prstDash val="solid"/>
          </a:ln>
        </p:spPr>
      </p:sp>
      <p:sp>
        <p:nvSpPr>
          <p:cNvPr id="7" name="Text 4"/>
          <p:cNvSpPr txBox="1"/>
          <p:nvPr/>
        </p:nvSpPr>
        <p:spPr>
          <a:xfrm>
            <a:off x="594360" y="14630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REQUIRED TO CLAIM JOBS</a:t>
            </a:r>
            <a:endParaRPr lang="en-US" sz="800" dirty="0"/>
          </a:p>
        </p:txBody>
      </p:sp>
      <p:sp>
        <p:nvSpPr>
          <p:cNvPr id="8" name="Shape 5"/>
          <p:cNvSpPr/>
          <p:nvPr/>
        </p:nvSpPr>
        <p:spPr>
          <a:xfrm>
            <a:off x="594360" y="1737360"/>
            <a:ext cx="2377440" cy="1600200"/>
          </a:xfrm>
          <a:prstGeom prst="roundRect">
            <a:avLst>
              <a:gd name="adj" fmla="val 4571"/>
            </a:avLst>
          </a:prstGeom>
          <a:solidFill>
            <a:srgbClr val="FFFFFF"/>
          </a:solidFill>
          <a:ln w="9525">
            <a:solidFill>
              <a:srgbClr val="DCE1E7"/>
            </a:solidFill>
            <a:prstDash val="solid"/>
          </a:ln>
        </p:spPr>
      </p:sp>
      <p:sp>
        <p:nvSpPr>
          <p:cNvPr id="9" name="Shape 6"/>
          <p:cNvSpPr/>
          <p:nvPr/>
        </p:nvSpPr>
        <p:spPr>
          <a:xfrm>
            <a:off x="758952" y="190195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837956" y="1980956"/>
            <a:ext cx="171176" cy="171176"/>
          </a:xfrm>
          <a:prstGeom prst="rect">
            <a:avLst/>
          </a:prstGeom>
        </p:spPr>
      </p:pic>
      <p:sp>
        <p:nvSpPr>
          <p:cNvPr id="11" name="Text 7"/>
          <p:cNvSpPr txBox="1"/>
          <p:nvPr/>
        </p:nvSpPr>
        <p:spPr>
          <a:xfrm>
            <a:off x="7589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Pay details</a:t>
            </a:r>
            <a:endParaRPr lang="en-US" sz="1200" dirty="0"/>
          </a:p>
        </p:txBody>
      </p:sp>
      <p:sp>
        <p:nvSpPr>
          <p:cNvPr id="12" name="Text 8"/>
          <p:cNvSpPr txBox="1"/>
          <p:nvPr/>
        </p:nvSpPr>
        <p:spPr>
          <a:xfrm>
            <a:off x="7589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cleaner can get paid. Debit cards and bank accounts are accepted.</a:t>
            </a:r>
            <a:endParaRPr lang="en-US" sz="950" dirty="0"/>
          </a:p>
        </p:txBody>
      </p:sp>
      <p:sp>
        <p:nvSpPr>
          <p:cNvPr id="13" name="Shape 9"/>
          <p:cNvSpPr/>
          <p:nvPr/>
        </p:nvSpPr>
        <p:spPr>
          <a:xfrm>
            <a:off x="3108960" y="1737360"/>
            <a:ext cx="2377440" cy="1600200"/>
          </a:xfrm>
          <a:prstGeom prst="roundRect">
            <a:avLst>
              <a:gd name="adj" fmla="val 4571"/>
            </a:avLst>
          </a:prstGeom>
          <a:solidFill>
            <a:srgbClr val="FFFFFF"/>
          </a:solidFill>
          <a:ln w="9525">
            <a:solidFill>
              <a:srgbClr val="DCE1E7"/>
            </a:solidFill>
            <a:prstDash val="solid"/>
          </a:ln>
        </p:spPr>
      </p:sp>
      <p:sp>
        <p:nvSpPr>
          <p:cNvPr id="14" name="Shape 10"/>
          <p:cNvSpPr/>
          <p:nvPr/>
        </p:nvSpPr>
        <p:spPr>
          <a:xfrm>
            <a:off x="3273552" y="190195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3352556" y="1980956"/>
            <a:ext cx="171176" cy="171176"/>
          </a:xfrm>
          <a:prstGeom prst="rect">
            <a:avLst/>
          </a:prstGeom>
        </p:spPr>
      </p:pic>
      <p:sp>
        <p:nvSpPr>
          <p:cNvPr id="16" name="Text 11"/>
          <p:cNvSpPr txBox="1"/>
          <p:nvPr/>
        </p:nvSpPr>
        <p:spPr>
          <a:xfrm>
            <a:off x="32735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SSN</a:t>
            </a:r>
            <a:endParaRPr lang="en-US" sz="1200" dirty="0"/>
          </a:p>
        </p:txBody>
      </p:sp>
      <p:sp>
        <p:nvSpPr>
          <p:cNvPr id="17" name="Text 12"/>
          <p:cNvSpPr txBox="1"/>
          <p:nvPr/>
        </p:nvSpPr>
        <p:spPr>
          <a:xfrm>
            <a:off x="32735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Needed to run the background check that keeps customers safe.</a:t>
            </a:r>
            <a:endParaRPr lang="en-US" sz="950" dirty="0"/>
          </a:p>
        </p:txBody>
      </p:sp>
      <p:pic>
        <p:nvPicPr>
          <p:cNvPr id="18" name="Image 2" descr="preencoded.png">    </p:cNvPr>
          <p:cNvPicPr>
            <a:picLocks noChangeAspect="1"/>
          </p:cNvPicPr>
          <p:nvPr/>
        </p:nvPicPr>
        <p:blipFill>
          <a:blip r:embed="rId3"/>
          <a:stretch>
            <a:fillRect/>
          </a:stretch>
        </p:blipFill>
        <p:spPr>
          <a:xfrm>
            <a:off x="5760720" y="2286000"/>
            <a:ext cx="320040" cy="320040"/>
          </a:xfrm>
          <a:prstGeom prst="rect">
            <a:avLst/>
          </a:prstGeom>
        </p:spPr>
      </p:pic>
      <p:sp>
        <p:nvSpPr>
          <p:cNvPr id="19" name="Shape 13"/>
          <p:cNvSpPr/>
          <p:nvPr/>
        </p:nvSpPr>
        <p:spPr>
          <a:xfrm>
            <a:off x="6172200" y="1325880"/>
            <a:ext cx="2560320" cy="2194560"/>
          </a:xfrm>
          <a:prstGeom prst="roundRect">
            <a:avLst>
              <a:gd name="adj" fmla="val 3333"/>
            </a:avLst>
          </a:prstGeom>
          <a:solidFill>
            <a:srgbClr val="FFFFFF"/>
          </a:solidFill>
          <a:ln w="9525">
            <a:solidFill>
              <a:srgbClr val="DCE1E7"/>
            </a:solidFill>
            <a:prstDash val="solid"/>
          </a:ln>
        </p:spPr>
      </p:sp>
      <p:sp>
        <p:nvSpPr>
          <p:cNvPr id="20" name="Text 14"/>
          <p:cNvSpPr txBox="1"/>
          <p:nvPr/>
        </p:nvSpPr>
        <p:spPr>
          <a:xfrm>
            <a:off x="6355080" y="146304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AFTER THE FIRST CLAIM</a:t>
            </a:r>
            <a:endParaRPr lang="en-US" sz="800" dirty="0"/>
          </a:p>
        </p:txBody>
      </p:sp>
      <p:sp>
        <p:nvSpPr>
          <p:cNvPr id="21" name="Shape 15"/>
          <p:cNvSpPr/>
          <p:nvPr/>
        </p:nvSpPr>
        <p:spPr>
          <a:xfrm>
            <a:off x="6355080" y="1783080"/>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434084" y="1862084"/>
            <a:ext cx="171176" cy="171176"/>
          </a:xfrm>
          <a:prstGeom prst="rect">
            <a:avLst/>
          </a:prstGeom>
        </p:spPr>
      </p:pic>
      <p:sp>
        <p:nvSpPr>
          <p:cNvPr id="23" name="Text 16"/>
          <p:cNvSpPr txBox="1"/>
          <p:nvPr/>
        </p:nvSpPr>
        <p:spPr>
          <a:xfrm>
            <a:off x="6355080" y="2221992"/>
            <a:ext cx="2240280"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Background check</a:t>
            </a:r>
            <a:endParaRPr lang="en-US" sz="1200" dirty="0"/>
          </a:p>
        </p:txBody>
      </p:sp>
      <p:sp>
        <p:nvSpPr>
          <p:cNvPr id="24" name="Text 17"/>
          <p:cNvSpPr txBox="1"/>
          <p:nvPr/>
        </p:nvSpPr>
        <p:spPr>
          <a:xfrm>
            <a:off x="6355080" y="2514600"/>
            <a:ext cx="2240280"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Starts once the cleaner claims their first job, so they're verified before that job happens.</a:t>
            </a:r>
            <a:endParaRPr lang="en-US" sz="950" dirty="0"/>
          </a:p>
        </p:txBody>
      </p:sp>
      <p:sp>
        <p:nvSpPr>
          <p:cNvPr id="25"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6" name="Image 4" descr="preencoded.png">    </p:cNvPr>
          <p:cNvPicPr>
            <a:picLocks noChangeAspect="1"/>
          </p:cNvPicPr>
          <p:nvPr/>
        </p:nvPicPr>
        <p:blipFill>
          <a:blip r:embed="rId5"/>
          <a:stretch>
            <a:fillRect/>
          </a:stretch>
        </p:blipFill>
        <p:spPr>
          <a:xfrm>
            <a:off x="566928" y="3858768"/>
            <a:ext cx="164592" cy="164592"/>
          </a:xfrm>
          <a:prstGeom prst="rect">
            <a:avLst/>
          </a:prstGeom>
        </p:spPr>
      </p:pic>
      <p:sp>
        <p:nvSpPr>
          <p:cNvPr id="27"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a cleaner who "finished registering" but can't claim is usually missing pay details or an SSN.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STEP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After the job is complete</a:t>
            </a:r>
            <a:endParaRPr lang="en-US" sz="2400" dirty="0"/>
          </a:p>
        </p:txBody>
      </p:sp>
      <p:sp>
        <p:nvSpPr>
          <p:cNvPr id="5" name="Shape 2"/>
          <p:cNvSpPr/>
          <p:nvPr/>
        </p:nvSpPr>
        <p:spPr>
          <a:xfrm>
            <a:off x="411480" y="1280160"/>
            <a:ext cx="197739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gets paid</a:t>
            </a:r>
            <a:endParaRPr lang="en-US" sz="1200" dirty="0"/>
          </a:p>
        </p:txBody>
      </p:sp>
      <p:sp>
        <p:nvSpPr>
          <p:cNvPr id="9" name="Text 5"/>
          <p:cNvSpPr txBox="1"/>
          <p:nvPr/>
        </p:nvSpPr>
        <p:spPr>
          <a:xfrm>
            <a:off x="5760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Through the payment method they chose.</a:t>
            </a:r>
            <a:endParaRPr lang="en-US" sz="950" dirty="0"/>
          </a:p>
        </p:txBody>
      </p:sp>
      <p:sp>
        <p:nvSpPr>
          <p:cNvPr id="10" name="Shape 6"/>
          <p:cNvSpPr/>
          <p:nvPr/>
        </p:nvSpPr>
        <p:spPr>
          <a:xfrm>
            <a:off x="2526030" y="1280160"/>
            <a:ext cx="197739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reviews</a:t>
            </a:r>
            <a:endParaRPr lang="en-US" sz="1200" dirty="0"/>
          </a:p>
        </p:txBody>
      </p:sp>
      <p:sp>
        <p:nvSpPr>
          <p:cNvPr id="14" name="Text 9"/>
          <p:cNvSpPr txBox="1"/>
          <p:nvPr/>
        </p:nvSpPr>
        <p:spPr>
          <a:xfrm>
            <a:off x="26906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get a confirmation and are asked for a review and tip.</a:t>
            </a:r>
            <a:endParaRPr lang="en-US" sz="950" dirty="0"/>
          </a:p>
        </p:txBody>
      </p:sp>
      <p:sp>
        <p:nvSpPr>
          <p:cNvPr id="15" name="Shape 10"/>
          <p:cNvSpPr/>
          <p:nvPr/>
        </p:nvSpPr>
        <p:spPr>
          <a:xfrm>
            <a:off x="4640580" y="1280160"/>
            <a:ext cx="197739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requests</a:t>
            </a:r>
            <a:endParaRPr lang="en-US" sz="1200" dirty="0"/>
          </a:p>
        </p:txBody>
      </p:sp>
      <p:sp>
        <p:nvSpPr>
          <p:cNvPr id="19" name="Text 13"/>
          <p:cNvSpPr txBox="1"/>
          <p:nvPr/>
        </p:nvSpPr>
        <p:spPr>
          <a:xfrm>
            <a:off x="48051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there's a service concern, the customer may ask for a refund.</a:t>
            </a:r>
            <a:endParaRPr lang="en-US" sz="950" dirty="0"/>
          </a:p>
        </p:txBody>
      </p:sp>
      <p:sp>
        <p:nvSpPr>
          <p:cNvPr id="20" name="Shape 14"/>
          <p:cNvSpPr/>
          <p:nvPr/>
        </p:nvSpPr>
        <p:spPr>
          <a:xfrm>
            <a:off x="6755130" y="1280160"/>
            <a:ext cx="1977390" cy="1783080"/>
          </a:xfrm>
          <a:prstGeom prst="roundRect">
            <a:avLst>
              <a:gd name="adj" fmla="val 4103"/>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a:t>
            </a:r>
            <a:endParaRPr lang="en-US" sz="1200" dirty="0"/>
          </a:p>
        </p:txBody>
      </p:sp>
      <p:sp>
        <p:nvSpPr>
          <p:cNvPr id="24" name="Text 17"/>
          <p:cNvSpPr txBox="1"/>
          <p:nvPr/>
        </p:nvSpPr>
        <p:spPr>
          <a:xfrm>
            <a:off x="69197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Cleaners can refund on request, or proactively.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CRM (Legacy)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we manage cleaners' (CPs') accounts.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CP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you'll find on a CP's page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1.png">    </p:cNvPr>
          <p:cNvPicPr>
            <a:picLocks noChangeAspect="1"/>
          </p:cNvPicPr>
          <p:nvPr/>
        </p:nvPicPr>
        <p:blipFill>
          <a:blip r:embed="rId4"/>
          <a:stretch>
            <a:fillRect/>
          </a:stretch>
        </p:blipFill>
        <p:spPr>
          <a:xfrm>
            <a:off x="5795010" y="1517904"/>
            <a:ext cx="241858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we manage cleaner accounts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Everything about a cleaner, in one place.</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Profile, status and rate</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and status history</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and keep rate</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and invoiced jobs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Messages with C and CP</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crm.png">    </p:cNvPr>
          <p:cNvPicPr>
            <a:picLocks noChangeAspect="1"/>
          </p:cNvPicPr>
          <p:nvPr/>
        </p:nvPicPr>
        <p:blipFill>
          <a:blip r:embed="rId6"/>
          <a:stretch>
            <a:fillRect/>
          </a:stretch>
        </p:blipFill>
        <p:spPr>
          <a:xfrm>
            <a:off x="3462199" y="1463040"/>
            <a:ext cx="5099963" cy="2496312"/>
          </a:xfrm>
          <a:prstGeom prst="rect">
            <a:avLst/>
          </a:prstGeom>
        </p:spPr>
      </p:pic>
      <p:sp>
        <p:nvSpPr>
          <p:cNvPr id="28" name="Shape 19"/>
          <p:cNvSpPr/>
          <p:nvPr/>
        </p:nvSpPr>
        <p:spPr>
          <a:xfrm>
            <a:off x="3462199" y="1463040"/>
            <a:ext cx="5099963"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Legacy CP CRM,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tier levels and flags are internal. Never share them with a cleaner.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Legacy CP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Profile and status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Flags table</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Tier and keep rate</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Messages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Dashboard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cleaner sees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Claiming and managing jobs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2.png">    </p:cNvPr>
          <p:cNvPicPr>
            <a:picLocks noChangeAspect="1"/>
          </p:cNvPicPr>
          <p:nvPr/>
        </p:nvPicPr>
        <p:blipFill>
          <a:blip r:embed="rId4"/>
          <a:stretch>
            <a:fillRect/>
          </a:stretch>
        </p:blipFill>
        <p:spPr>
          <a:xfrm>
            <a:off x="5717320" y="1517904"/>
            <a:ext cx="257396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cleaner's side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 new jobs</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Manage claimed jobs</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Update rate &amp; availability</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Steps to Success guides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Account &amp; Help Center</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dash.png">    </p:cNvPr>
          <p:cNvPicPr>
            <a:picLocks noChangeAspect="1"/>
          </p:cNvPicPr>
          <p:nvPr/>
        </p:nvPicPr>
        <p:blipFill>
          <a:blip r:embed="rId6"/>
          <a:stretch>
            <a:fillRect/>
          </a:stretch>
        </p:blipFill>
        <p:spPr>
          <a:xfrm>
            <a:off x="3390482" y="1463040"/>
            <a:ext cx="5243395" cy="2496312"/>
          </a:xfrm>
          <a:prstGeom prst="rect">
            <a:avLst/>
          </a:prstGeom>
        </p:spPr>
      </p:pic>
      <p:sp>
        <p:nvSpPr>
          <p:cNvPr id="28" name="Shape 19"/>
          <p:cNvSpPr/>
          <p:nvPr/>
        </p:nvSpPr>
        <p:spPr>
          <a:xfrm>
            <a:off x="3390482" y="1463040"/>
            <a:ext cx="5243395"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CP Dashboard,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helps:  </a:t>
            </a:r>
            <a:pPr indent="0" marL="0">
              <a:buNone/>
            </a:pPr>
            <a:r>
              <a:rPr lang="en-US" sz="1000" dirty="0">
                <a:solidFill>
                  <a:srgbClr val="1D1D1F"/>
                </a:solidFill>
                <a:latin typeface="SF Pro Text" pitchFamily="34" charset="0"/>
                <a:ea typeface="SF Pro Text" pitchFamily="34" charset="-122"/>
                <a:cs typeface="SF Pro Text" pitchFamily="34" charset="-120"/>
              </a:rPr>
              <a:t>when you know what the cleaner sees, you can guide them step by step.</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CP Dashboard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Claiming jobs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 calendar</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Rate &amp; availability</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Profile Status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label on a cleaner's account that controls what they can do on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statuses you'll use most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Onboarding statuses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system changes automatically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test before you change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three you'll use most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each status lets a cleaner do.</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371600"/>
                <a:gridCol w="1371600"/>
                <a:gridCol w="1463040"/>
                <a:gridCol w="2194560"/>
                <a:gridCol w="1920240"/>
              </a:tblGrid>
              <a:tr h="41148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Claim new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Keep claimed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Dashboard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Reactivate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active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norequests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suspended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 removed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Limited (Completed Jobs only)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cp-opt-out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Free, via dashboard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38912" y="3520440"/>
            <a:ext cx="8229600" cy="228600"/>
          </a:xfrm>
          <a:prstGeom prst="rect">
            <a:avLst/>
          </a:prstGeom>
          <a:noFill/>
          <a:ln/>
        </p:spPr>
        <p:txBody>
          <a:bodyPr wrap="square" lIns="0" tIns="0" rIns="0" bIns="0" rtlCol="0" anchor="t"/>
          <a:lstStyle/>
          <a:p>
            <a:pPr indent="0" marL="0">
              <a:buNone/>
            </a:pPr>
            <a:r>
              <a:rPr lang="en-US" sz="900" i="1" dirty="0">
                <a:solidFill>
                  <a:srgbClr val="6E6E73"/>
                </a:solidFill>
                <a:latin typeface="SF Pro Text" pitchFamily="34" charset="0"/>
                <a:ea typeface="SF Pro Text" pitchFamily="34" charset="-122"/>
                <a:cs typeface="SF Pro Text" pitchFamily="34" charset="-120"/>
              </a:rPr>
              <a:t>* Not available if the cleaner has a do_not_reactivate flag, or is in a CA/CA-WA Operating Model state.</a:t>
            </a:r>
            <a:endParaRPr lang="en-US" sz="900" dirty="0"/>
          </a:p>
        </p:txBody>
      </p:sp>
      <p:sp>
        <p:nvSpPr>
          <p:cNvPr id="8" name="Shape 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9"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10" name="Text 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history:  </a:t>
            </a:r>
            <a:pPr indent="0" marL="0">
              <a:buNone/>
            </a:pPr>
            <a:r>
              <a:rPr lang="en-US" sz="1000" dirty="0">
                <a:solidFill>
                  <a:srgbClr val="1D1D1F"/>
                </a:solidFill>
                <a:latin typeface="SF Pro Text" pitchFamily="34" charset="0"/>
                <a:ea typeface="SF Pro Text" pitchFamily="34" charset="-122"/>
                <a:cs typeface="SF Pro Text" pitchFamily="34" charset="-120"/>
              </a:rPr>
              <a:t>the Flags table shows when a status changed, to what, and what it was before.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Onboarding statuses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a new cleaner is stuck in sign-up.</a:t>
            </a:r>
            <a:endParaRPr lang="en-US" sz="1200" dirty="0"/>
          </a:p>
        </p:txBody>
      </p:sp>
      <p:sp>
        <p:nvSpPr>
          <p:cNvPr id="6" name="Shape 3"/>
          <p:cNvSpPr/>
          <p:nvPr/>
        </p:nvSpPr>
        <p:spPr>
          <a:xfrm>
            <a:off x="411480" y="1371600"/>
            <a:ext cx="1977390" cy="1188720"/>
          </a:xfrm>
          <a:prstGeom prst="roundRect">
            <a:avLst>
              <a:gd name="adj" fmla="val 6154"/>
            </a:avLst>
          </a:prstGeom>
          <a:solidFill>
            <a:srgbClr val="FFFFFF"/>
          </a:solidFill>
          <a:ln w="9525">
            <a:solidFill>
              <a:srgbClr val="DCE1E7"/>
            </a:solidFill>
            <a:prstDash val="solid"/>
          </a:ln>
        </p:spPr>
      </p:sp>
      <p:sp>
        <p:nvSpPr>
          <p:cNvPr id="7" name="Shape 4"/>
          <p:cNvSpPr/>
          <p:nvPr/>
        </p:nvSpPr>
        <p:spPr>
          <a:xfrm>
            <a:off x="548640" y="1536192"/>
            <a:ext cx="1703070" cy="292608"/>
          </a:xfrm>
          <a:prstGeom prst="roundRect">
            <a:avLst>
              <a:gd name="adj" fmla="val 25000"/>
            </a:avLst>
          </a:prstGeom>
          <a:solidFill>
            <a:srgbClr val="E3F4F1"/>
          </a:solidFill>
          <a:ln w="9525">
            <a:solidFill>
              <a:srgbClr val="E3F4F1"/>
            </a:solidFill>
            <a:prstDash val="solid"/>
          </a:ln>
        </p:spPr>
      </p:sp>
      <p:sp>
        <p:nvSpPr>
          <p:cNvPr id="8" name="Text 5"/>
          <p:cNvSpPr txBox="1"/>
          <p:nvPr/>
        </p:nvSpPr>
        <p:spPr>
          <a:xfrm>
            <a:off x="5486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cpintrovideo</a:t>
            </a:r>
            <a:endParaRPr lang="en-US" sz="950" dirty="0"/>
          </a:p>
        </p:txBody>
      </p:sp>
      <p:sp>
        <p:nvSpPr>
          <p:cNvPr id="9" name="Text 6"/>
          <p:cNvSpPr txBox="1"/>
          <p:nvPr/>
        </p:nvSpPr>
        <p:spPr>
          <a:xfrm>
            <a:off x="5486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finished the intro video</a:t>
            </a:r>
            <a:endParaRPr lang="en-US" sz="950" dirty="0"/>
          </a:p>
        </p:txBody>
      </p:sp>
      <p:sp>
        <p:nvSpPr>
          <p:cNvPr id="10" name="Shape 7"/>
          <p:cNvSpPr/>
          <p:nvPr/>
        </p:nvSpPr>
        <p:spPr>
          <a:xfrm>
            <a:off x="2526030" y="1371600"/>
            <a:ext cx="1977390" cy="1188720"/>
          </a:xfrm>
          <a:prstGeom prst="roundRect">
            <a:avLst>
              <a:gd name="adj" fmla="val 6154"/>
            </a:avLst>
          </a:prstGeom>
          <a:solidFill>
            <a:srgbClr val="FFFFFF"/>
          </a:solidFill>
          <a:ln w="9525">
            <a:solidFill>
              <a:srgbClr val="DCE1E7"/>
            </a:solidFill>
            <a:prstDash val="solid"/>
          </a:ln>
        </p:spPr>
      </p:sp>
      <p:sp>
        <p:nvSpPr>
          <p:cNvPr id="11" name="Shape 8"/>
          <p:cNvSpPr/>
          <p:nvPr/>
        </p:nvSpPr>
        <p:spPr>
          <a:xfrm>
            <a:off x="2663190" y="1536192"/>
            <a:ext cx="1703070" cy="292608"/>
          </a:xfrm>
          <a:prstGeom prst="roundRect">
            <a:avLst>
              <a:gd name="adj" fmla="val 25000"/>
            </a:avLst>
          </a:prstGeom>
          <a:solidFill>
            <a:srgbClr val="E3F4F1"/>
          </a:solidFill>
          <a:ln w="9525">
            <a:solidFill>
              <a:srgbClr val="E3F4F1"/>
            </a:solidFill>
            <a:prstDash val="solid"/>
          </a:ln>
        </p:spPr>
      </p:sp>
      <p:sp>
        <p:nvSpPr>
          <p:cNvPr id="12" name="Text 9"/>
          <p:cNvSpPr txBox="1"/>
          <p:nvPr/>
        </p:nvSpPr>
        <p:spPr>
          <a:xfrm>
            <a:off x="26631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cpprofile_setpay</a:t>
            </a:r>
            <a:endParaRPr lang="en-US" sz="950" dirty="0"/>
          </a:p>
        </p:txBody>
      </p:sp>
      <p:sp>
        <p:nvSpPr>
          <p:cNvPr id="13" name="Text 10"/>
          <p:cNvSpPr txBox="1"/>
          <p:nvPr/>
        </p:nvSpPr>
        <p:spPr>
          <a:xfrm>
            <a:off x="26631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set their hourly rate</a:t>
            </a:r>
            <a:endParaRPr lang="en-US" sz="950" dirty="0"/>
          </a:p>
        </p:txBody>
      </p:sp>
      <p:sp>
        <p:nvSpPr>
          <p:cNvPr id="14" name="Shape 11"/>
          <p:cNvSpPr/>
          <p:nvPr/>
        </p:nvSpPr>
        <p:spPr>
          <a:xfrm>
            <a:off x="4640580" y="1371600"/>
            <a:ext cx="1977390" cy="1188720"/>
          </a:xfrm>
          <a:prstGeom prst="roundRect">
            <a:avLst>
              <a:gd name="adj" fmla="val 6154"/>
            </a:avLst>
          </a:prstGeom>
          <a:solidFill>
            <a:srgbClr val="FFFFFF"/>
          </a:solidFill>
          <a:ln w="9525">
            <a:solidFill>
              <a:srgbClr val="DCE1E7"/>
            </a:solidFill>
            <a:prstDash val="solid"/>
          </a:ln>
        </p:spPr>
      </p:sp>
      <p:sp>
        <p:nvSpPr>
          <p:cNvPr id="15" name="Shape 12"/>
          <p:cNvSpPr/>
          <p:nvPr/>
        </p:nvSpPr>
        <p:spPr>
          <a:xfrm>
            <a:off x="4777740" y="1536192"/>
            <a:ext cx="1703070" cy="292608"/>
          </a:xfrm>
          <a:prstGeom prst="roundRect">
            <a:avLst>
              <a:gd name="adj" fmla="val 25000"/>
            </a:avLst>
          </a:prstGeom>
          <a:solidFill>
            <a:srgbClr val="E3F4F1"/>
          </a:solidFill>
          <a:ln w="9525">
            <a:solidFill>
              <a:srgbClr val="E3F4F1"/>
            </a:solidFill>
            <a:prstDash val="solid"/>
          </a:ln>
        </p:spPr>
      </p:sp>
      <p:sp>
        <p:nvSpPr>
          <p:cNvPr id="16" name="Text 13"/>
          <p:cNvSpPr txBox="1"/>
          <p:nvPr/>
        </p:nvSpPr>
        <p:spPr>
          <a:xfrm>
            <a:off x="47777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cpprofilebio</a:t>
            </a:r>
            <a:endParaRPr lang="en-US" sz="950" dirty="0"/>
          </a:p>
        </p:txBody>
      </p:sp>
      <p:sp>
        <p:nvSpPr>
          <p:cNvPr id="17" name="Text 14"/>
          <p:cNvSpPr txBox="1"/>
          <p:nvPr/>
        </p:nvSpPr>
        <p:spPr>
          <a:xfrm>
            <a:off x="47777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a photo or bio</a:t>
            </a:r>
            <a:endParaRPr lang="en-US" sz="950" dirty="0"/>
          </a:p>
        </p:txBody>
      </p:sp>
      <p:sp>
        <p:nvSpPr>
          <p:cNvPr id="18" name="Shape 15"/>
          <p:cNvSpPr/>
          <p:nvPr/>
        </p:nvSpPr>
        <p:spPr>
          <a:xfrm>
            <a:off x="6755130" y="1371600"/>
            <a:ext cx="1977390" cy="1188720"/>
          </a:xfrm>
          <a:prstGeom prst="roundRect">
            <a:avLst>
              <a:gd name="adj" fmla="val 6154"/>
            </a:avLst>
          </a:prstGeom>
          <a:solidFill>
            <a:srgbClr val="FFFFFF"/>
          </a:solidFill>
          <a:ln w="9525">
            <a:solidFill>
              <a:srgbClr val="DCE1E7"/>
            </a:solidFill>
            <a:prstDash val="solid"/>
          </a:ln>
        </p:spPr>
      </p:sp>
      <p:sp>
        <p:nvSpPr>
          <p:cNvPr id="19" name="Shape 16"/>
          <p:cNvSpPr/>
          <p:nvPr/>
        </p:nvSpPr>
        <p:spPr>
          <a:xfrm>
            <a:off x="6892290" y="1536192"/>
            <a:ext cx="1703070" cy="292608"/>
          </a:xfrm>
          <a:prstGeom prst="roundRect">
            <a:avLst>
              <a:gd name="adj" fmla="val 25000"/>
            </a:avLst>
          </a:prstGeom>
          <a:solidFill>
            <a:srgbClr val="E3F4F1"/>
          </a:solidFill>
          <a:ln w="9525">
            <a:solidFill>
              <a:srgbClr val="E3F4F1"/>
            </a:solidFill>
            <a:prstDash val="solid"/>
          </a:ln>
        </p:spPr>
      </p:sp>
      <p:sp>
        <p:nvSpPr>
          <p:cNvPr id="20" name="Text 17"/>
          <p:cNvSpPr txBox="1"/>
          <p:nvPr/>
        </p:nvSpPr>
        <p:spPr>
          <a:xfrm>
            <a:off x="68922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cpprofilesetuppayment</a:t>
            </a:r>
            <a:endParaRPr lang="en-US" sz="950" dirty="0"/>
          </a:p>
        </p:txBody>
      </p:sp>
      <p:sp>
        <p:nvSpPr>
          <p:cNvPr id="21" name="Text 18"/>
          <p:cNvSpPr txBox="1"/>
          <p:nvPr/>
        </p:nvSpPr>
        <p:spPr>
          <a:xfrm>
            <a:off x="68922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legal or payment info</a:t>
            </a:r>
            <a:endParaRPr lang="en-US" sz="950" dirty="0"/>
          </a:p>
        </p:txBody>
      </p:sp>
      <p:sp>
        <p:nvSpPr>
          <p:cNvPr id="22" name="Shape 19"/>
          <p:cNvSpPr/>
          <p:nvPr/>
        </p:nvSpPr>
        <p:spPr>
          <a:xfrm>
            <a:off x="411480" y="2697480"/>
            <a:ext cx="1977390" cy="1188720"/>
          </a:xfrm>
          <a:prstGeom prst="roundRect">
            <a:avLst>
              <a:gd name="adj" fmla="val 6154"/>
            </a:avLst>
          </a:prstGeom>
          <a:solidFill>
            <a:srgbClr val="FFFFFF"/>
          </a:solidFill>
          <a:ln w="9525">
            <a:solidFill>
              <a:srgbClr val="DCE1E7"/>
            </a:solidFill>
            <a:prstDash val="solid"/>
          </a:ln>
        </p:spPr>
      </p:sp>
      <p:sp>
        <p:nvSpPr>
          <p:cNvPr id="23" name="Shape 20"/>
          <p:cNvSpPr/>
          <p:nvPr/>
        </p:nvSpPr>
        <p:spPr>
          <a:xfrm>
            <a:off x="548640" y="2862072"/>
            <a:ext cx="1703070" cy="292608"/>
          </a:xfrm>
          <a:prstGeom prst="roundRect">
            <a:avLst>
              <a:gd name="adj" fmla="val 25000"/>
            </a:avLst>
          </a:prstGeom>
          <a:solidFill>
            <a:srgbClr val="E3F4F1"/>
          </a:solidFill>
          <a:ln w="9525">
            <a:solidFill>
              <a:srgbClr val="E3F4F1"/>
            </a:solidFill>
            <a:prstDash val="solid"/>
          </a:ln>
        </p:spPr>
      </p:sp>
      <p:sp>
        <p:nvSpPr>
          <p:cNvPr id="24" name="Text 21"/>
          <p:cNvSpPr txBox="1"/>
          <p:nvPr/>
        </p:nvSpPr>
        <p:spPr>
          <a:xfrm>
            <a:off x="5486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cpsignica</a:t>
            </a:r>
            <a:endParaRPr lang="en-US" sz="950" dirty="0"/>
          </a:p>
        </p:txBody>
      </p:sp>
      <p:sp>
        <p:nvSpPr>
          <p:cNvPr id="25" name="Text 22"/>
          <p:cNvSpPr txBox="1"/>
          <p:nvPr/>
        </p:nvSpPr>
        <p:spPr>
          <a:xfrm>
            <a:off x="5486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accepted the Platform Access Agreement</a:t>
            </a:r>
            <a:endParaRPr lang="en-US" sz="950" dirty="0"/>
          </a:p>
        </p:txBody>
      </p:sp>
      <p:sp>
        <p:nvSpPr>
          <p:cNvPr id="26" name="Shape 23"/>
          <p:cNvSpPr/>
          <p:nvPr/>
        </p:nvSpPr>
        <p:spPr>
          <a:xfrm>
            <a:off x="2526030" y="2697480"/>
            <a:ext cx="1977390" cy="1188720"/>
          </a:xfrm>
          <a:prstGeom prst="roundRect">
            <a:avLst>
              <a:gd name="adj" fmla="val 6154"/>
            </a:avLst>
          </a:prstGeom>
          <a:solidFill>
            <a:srgbClr val="FFFFFF"/>
          </a:solidFill>
          <a:ln w="9525">
            <a:solidFill>
              <a:srgbClr val="DCE1E7"/>
            </a:solidFill>
            <a:prstDash val="solid"/>
          </a:ln>
        </p:spPr>
      </p:sp>
      <p:sp>
        <p:nvSpPr>
          <p:cNvPr id="27" name="Shape 24"/>
          <p:cNvSpPr/>
          <p:nvPr/>
        </p:nvSpPr>
        <p:spPr>
          <a:xfrm>
            <a:off x="2663190" y="2862072"/>
            <a:ext cx="1703070" cy="292608"/>
          </a:xfrm>
          <a:prstGeom prst="roundRect">
            <a:avLst>
              <a:gd name="adj" fmla="val 25000"/>
            </a:avLst>
          </a:prstGeom>
          <a:solidFill>
            <a:srgbClr val="E3F4F1"/>
          </a:solidFill>
          <a:ln w="9525">
            <a:solidFill>
              <a:srgbClr val="E3F4F1"/>
            </a:solidFill>
            <a:prstDash val="solid"/>
          </a:ln>
        </p:spPr>
      </p:sp>
      <p:sp>
        <p:nvSpPr>
          <p:cNvPr id="28" name="Text 25"/>
          <p:cNvSpPr txBox="1"/>
          <p:nvPr/>
        </p:nvSpPr>
        <p:spPr>
          <a:xfrm>
            <a:off x="266319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cphowitworks</a:t>
            </a:r>
            <a:endParaRPr lang="en-US" sz="950" dirty="0"/>
          </a:p>
        </p:txBody>
      </p:sp>
      <p:sp>
        <p:nvSpPr>
          <p:cNvPr id="29" name="Text 26"/>
          <p:cNvSpPr txBox="1"/>
          <p:nvPr/>
        </p:nvSpPr>
        <p:spPr>
          <a:xfrm>
            <a:off x="266319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Quiz not done, inactive 30+ days, or no photo</a:t>
            </a:r>
            <a:endParaRPr lang="en-US" sz="950" dirty="0"/>
          </a:p>
        </p:txBody>
      </p:sp>
      <p:sp>
        <p:nvSpPr>
          <p:cNvPr id="30" name="Shape 27"/>
          <p:cNvSpPr/>
          <p:nvPr/>
        </p:nvSpPr>
        <p:spPr>
          <a:xfrm>
            <a:off x="4640580" y="2697480"/>
            <a:ext cx="1977390" cy="1188720"/>
          </a:xfrm>
          <a:prstGeom prst="roundRect">
            <a:avLst>
              <a:gd name="adj" fmla="val 6154"/>
            </a:avLst>
          </a:prstGeom>
          <a:solidFill>
            <a:srgbClr val="FFFFFF"/>
          </a:solidFill>
          <a:ln w="9525">
            <a:solidFill>
              <a:srgbClr val="DCE1E7"/>
            </a:solidFill>
            <a:prstDash val="solid"/>
          </a:ln>
        </p:spPr>
      </p:sp>
      <p:sp>
        <p:nvSpPr>
          <p:cNvPr id="31" name="Shape 28"/>
          <p:cNvSpPr/>
          <p:nvPr/>
        </p:nvSpPr>
        <p:spPr>
          <a:xfrm>
            <a:off x="4777740" y="2862072"/>
            <a:ext cx="1703070" cy="292608"/>
          </a:xfrm>
          <a:prstGeom prst="roundRect">
            <a:avLst>
              <a:gd name="adj" fmla="val 25000"/>
            </a:avLst>
          </a:prstGeom>
          <a:solidFill>
            <a:srgbClr val="E3F4F1"/>
          </a:solidFill>
          <a:ln w="9525">
            <a:solidFill>
              <a:srgbClr val="E3F4F1"/>
            </a:solidFill>
            <a:prstDash val="solid"/>
          </a:ln>
        </p:spPr>
      </p:sp>
      <p:sp>
        <p:nvSpPr>
          <p:cNvPr id="32" name="Text 29"/>
          <p:cNvSpPr txBox="1"/>
          <p:nvPr/>
        </p:nvSpPr>
        <p:spPr>
          <a:xfrm>
            <a:off x="47777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Imported</a:t>
            </a:r>
            <a:endParaRPr lang="en-US" sz="950" dirty="0"/>
          </a:p>
        </p:txBody>
      </p:sp>
      <p:sp>
        <p:nvSpPr>
          <p:cNvPr id="33" name="Text 30"/>
          <p:cNvSpPr txBox="1"/>
          <p:nvPr/>
        </p:nvSpPr>
        <p:spPr>
          <a:xfrm>
            <a:off x="47777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Former Homejoy cleaner, info imported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the system changes automatically</a:t>
            </a:r>
            <a:endParaRPr lang="en-US" sz="2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2743200"/>
                <a:gridCol w="3657600"/>
              </a:tblGrid>
              <a:tr h="32918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norequests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suspended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80% or lower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Below 70%  ·  probation: below 100%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No-shows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5 jobs  ·  probation: 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Reviews (OCW)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Average below 4.0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Probation: any 1- or 2-star review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Reschedules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various calculations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Refund 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10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New cleaner: 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Supplies / profile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 3 or more times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Background check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Info matches another CP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Matches a fraud-flagged CP, or not clear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Other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Rescheduled a job to before the account existed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Probation:  </a:t>
            </a:r>
            <a:pPr indent="0" marL="0">
              <a:buNone/>
            </a:pPr>
            <a:r>
              <a:rPr lang="en-US" sz="1000" dirty="0">
                <a:solidFill>
                  <a:srgbClr val="1D1D1F"/>
                </a:solidFill>
                <a:latin typeface="SF Pro Text" pitchFamily="34" charset="0"/>
                <a:ea typeface="SF Pro Text" pitchFamily="34" charset="-122"/>
                <a:cs typeface="SF Pro Text" pitchFamily="34" charset="-120"/>
              </a:rPr>
              <a:t>new cleaners (0–2 invoiced jobs since activation) face stricter thresholds.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change a status</a:t>
            </a:r>
            <a:endParaRPr lang="en-US" sz="2400" dirty="0"/>
          </a:p>
        </p:txBody>
      </p:sp>
      <p:sp>
        <p:nvSpPr>
          <p:cNvPr id="5" name="Shape 2"/>
          <p:cNvSpPr/>
          <p:nvPr/>
        </p:nvSpPr>
        <p:spPr>
          <a:xfrm>
            <a:off x="411480" y="1188720"/>
            <a:ext cx="8321040" cy="1234440"/>
          </a:xfrm>
          <a:prstGeom prst="roundRect">
            <a:avLst>
              <a:gd name="adj" fmla="val 5926"/>
            </a:avLst>
          </a:prstGeom>
          <a:solidFill>
            <a:srgbClr val="E3F4F1"/>
          </a:solidFill>
          <a:ln w="9525">
            <a:solidFill>
              <a:srgbClr val="E3F4F1"/>
            </a:solidFill>
            <a:prstDash val="solid"/>
          </a:ln>
        </p:spPr>
      </p:sp>
      <p:sp>
        <p:nvSpPr>
          <p:cNvPr id="6" name="Text 3"/>
          <p:cNvSpPr txBox="1"/>
          <p:nvPr/>
        </p:nvSpPr>
        <p:spPr>
          <a:xfrm>
            <a:off x="685800" y="1371600"/>
            <a:ext cx="54864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ASK YOURSELF</a:t>
            </a:r>
            <a:endParaRPr lang="en-US" sz="800" dirty="0"/>
          </a:p>
        </p:txBody>
      </p:sp>
      <p:sp>
        <p:nvSpPr>
          <p:cNvPr id="7" name="Text 4"/>
          <p:cNvSpPr txBox="1"/>
          <p:nvPr/>
        </p:nvSpPr>
        <p:spPr>
          <a:xfrm>
            <a:off x="685800" y="1600200"/>
            <a:ext cx="7772400" cy="64008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"If I were the customer, would I want this cleaner for my cleaning?"</a:t>
            </a:r>
            <a:endParaRPr lang="en-US" sz="1700" dirty="0"/>
          </a:p>
        </p:txBody>
      </p:sp>
      <p:sp>
        <p:nvSpPr>
          <p:cNvPr id="8" name="Shape 5"/>
          <p:cNvSpPr/>
          <p:nvPr/>
        </p:nvSpPr>
        <p:spPr>
          <a:xfrm>
            <a:off x="411480" y="2606040"/>
            <a:ext cx="4091940" cy="1463040"/>
          </a:xfrm>
          <a:prstGeom prst="roundRect">
            <a:avLst>
              <a:gd name="adj" fmla="val 5000"/>
            </a:avLst>
          </a:prstGeom>
          <a:solidFill>
            <a:srgbClr val="FFFFFF"/>
          </a:solidFill>
          <a:ln w="9525">
            <a:solidFill>
              <a:srgbClr val="DCE1E7"/>
            </a:solidFill>
            <a:prstDash val="solid"/>
          </a:ln>
        </p:spPr>
      </p:sp>
      <p:sp>
        <p:nvSpPr>
          <p:cNvPr id="9" name="Shape 6"/>
          <p:cNvSpPr/>
          <p:nvPr/>
        </p:nvSpPr>
        <p:spPr>
          <a:xfrm>
            <a:off x="576072" y="277063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2849636"/>
            <a:ext cx="171176" cy="171176"/>
          </a:xfrm>
          <a:prstGeom prst="rect">
            <a:avLst/>
          </a:prstGeom>
        </p:spPr>
      </p:pic>
      <p:sp>
        <p:nvSpPr>
          <p:cNvPr id="11" name="Text 7"/>
          <p:cNvSpPr txBox="1"/>
          <p:nvPr/>
        </p:nvSpPr>
        <p:spPr>
          <a:xfrm>
            <a:off x="5760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history first</a:t>
            </a:r>
            <a:endParaRPr lang="en-US" sz="1200" dirty="0"/>
          </a:p>
        </p:txBody>
      </p:sp>
      <p:sp>
        <p:nvSpPr>
          <p:cNvPr id="12" name="Text 8"/>
          <p:cNvSpPr txBox="1"/>
          <p:nvPr/>
        </p:nvSpPr>
        <p:spPr>
          <a:xfrm>
            <a:off x="5760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change a status without checking the reason or flag history.</a:t>
            </a:r>
            <a:endParaRPr lang="en-US" sz="950" dirty="0"/>
          </a:p>
        </p:txBody>
      </p:sp>
      <p:sp>
        <p:nvSpPr>
          <p:cNvPr id="13" name="Shape 9"/>
          <p:cNvSpPr/>
          <p:nvPr/>
        </p:nvSpPr>
        <p:spPr>
          <a:xfrm>
            <a:off x="4640580" y="2606040"/>
            <a:ext cx="4091940" cy="1463040"/>
          </a:xfrm>
          <a:prstGeom prst="roundRect">
            <a:avLst>
              <a:gd name="adj" fmla="val 5000"/>
            </a:avLst>
          </a:prstGeom>
          <a:solidFill>
            <a:srgbClr val="FFFFFF"/>
          </a:solidFill>
          <a:ln w="9525">
            <a:solidFill>
              <a:srgbClr val="DCE1E7"/>
            </a:solidFill>
            <a:prstDash val="solid"/>
          </a:ln>
        </p:spPr>
      </p:sp>
      <p:sp>
        <p:nvSpPr>
          <p:cNvPr id="14" name="Shape 10"/>
          <p:cNvSpPr/>
          <p:nvPr/>
        </p:nvSpPr>
        <p:spPr>
          <a:xfrm>
            <a:off x="4805172" y="277063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2849636"/>
            <a:ext cx="171176" cy="171176"/>
          </a:xfrm>
          <a:prstGeom prst="rect">
            <a:avLst/>
          </a:prstGeom>
        </p:spPr>
      </p:pic>
      <p:sp>
        <p:nvSpPr>
          <p:cNvPr id="16" name="Text 11"/>
          <p:cNvSpPr txBox="1"/>
          <p:nvPr/>
        </p:nvSpPr>
        <p:spPr>
          <a:xfrm>
            <a:off x="48051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jobs matter</a:t>
            </a:r>
            <a:endParaRPr lang="en-US" sz="1200" dirty="0"/>
          </a:p>
        </p:txBody>
      </p:sp>
      <p:sp>
        <p:nvSpPr>
          <p:cNvPr id="17" name="Text 12"/>
          <p:cNvSpPr txBox="1"/>
          <p:nvPr/>
        </p:nvSpPr>
        <p:spPr>
          <a:xfrm>
            <a:off x="48051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new customer with a bad first job is 50% less likely to stay.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CP-Facing Deactivation Reasons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exact message a cleaner sees when they are set to norequests or suspended.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reads the reason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Job-related reason codes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Account and conduct codes</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4.png">    </p:cNvPr>
          <p:cNvPicPr>
            <a:picLocks noChangeAspect="1"/>
          </p:cNvPicPr>
          <p:nvPr/>
        </p:nvPicPr>
        <p:blipFill>
          <a:blip r:embed="rId4"/>
          <a:stretch>
            <a:fillRect/>
          </a:stretch>
        </p:blipFill>
        <p:spPr>
          <a:xfrm>
            <a:off x="5541264" y="1519076"/>
            <a:ext cx="2926080" cy="2100775"/>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One reason, two audiences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reason you enter isn't just an internal note.</a:t>
            </a:r>
            <a:endParaRPr lang="en-US" sz="1200" dirty="0"/>
          </a:p>
        </p:txBody>
      </p:sp>
      <p:sp>
        <p:nvSpPr>
          <p:cNvPr id="6" name="Shape 3"/>
          <p:cNvSpPr/>
          <p:nvPr/>
        </p:nvSpPr>
        <p:spPr>
          <a:xfrm>
            <a:off x="411480" y="1417320"/>
            <a:ext cx="4091940" cy="1645920"/>
          </a:xfrm>
          <a:prstGeom prst="roundRect">
            <a:avLst>
              <a:gd name="adj" fmla="val 444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a:t>
            </a:r>
            <a:endParaRPr lang="en-US" sz="1200" dirty="0"/>
          </a:p>
        </p:txBody>
      </p:sp>
      <p:sp>
        <p:nvSpPr>
          <p:cNvPr id="10" name="Text 6"/>
          <p:cNvSpPr txBox="1"/>
          <p:nvPr/>
        </p:nvSpPr>
        <p:spPr>
          <a:xfrm>
            <a:off x="5760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Sees it on their dashboard as the reason they were deactivated.</a:t>
            </a:r>
            <a:endParaRPr lang="en-US" sz="950" dirty="0"/>
          </a:p>
        </p:txBody>
      </p:sp>
      <p:sp>
        <p:nvSpPr>
          <p:cNvPr id="11" name="Shape 7"/>
          <p:cNvSpPr/>
          <p:nvPr/>
        </p:nvSpPr>
        <p:spPr>
          <a:xfrm>
            <a:off x="4640580" y="1417320"/>
            <a:ext cx="4091940" cy="1645920"/>
          </a:xfrm>
          <a:prstGeom prst="roundRect">
            <a:avLst>
              <a:gd name="adj" fmla="val 4444"/>
            </a:avLst>
          </a:prstGeom>
          <a:solidFill>
            <a:srgbClr val="FFFFFF"/>
          </a:solidFill>
          <a:ln w="9525">
            <a:solidFill>
              <a:srgbClr val="DCE1E7"/>
            </a:solidFill>
            <a:prstDash val="solid"/>
          </a:ln>
        </p:spPr>
      </p:sp>
      <p:sp>
        <p:nvSpPr>
          <p:cNvPr id="12" name="Shape 8"/>
          <p:cNvSpPr/>
          <p:nvPr/>
        </p:nvSpPr>
        <p:spPr>
          <a:xfrm>
            <a:off x="48051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60916"/>
            <a:ext cx="171176" cy="171176"/>
          </a:xfrm>
          <a:prstGeom prst="rect">
            <a:avLst/>
          </a:prstGeom>
        </p:spPr>
      </p:pic>
      <p:sp>
        <p:nvSpPr>
          <p:cNvPr id="14" name="Text 9"/>
          <p:cNvSpPr txBox="1"/>
          <p:nvPr/>
        </p:nvSpPr>
        <p:spPr>
          <a:xfrm>
            <a:off x="48051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Our data</a:t>
            </a:r>
            <a:endParaRPr lang="en-US" sz="1200" dirty="0"/>
          </a:p>
        </p:txBody>
      </p:sp>
      <p:sp>
        <p:nvSpPr>
          <p:cNvPr id="15" name="Text 10"/>
          <p:cNvSpPr txBox="1"/>
          <p:nvPr/>
        </p:nvSpPr>
        <p:spPr>
          <a:xfrm>
            <a:off x="48051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Stored as the flag's value, so we can track deactivation patterns.</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always use the exact reason code format. Never write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 job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Fill in the &lt;placeholders&gt;. Keep the rest word for word.</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103120"/>
                <a:gridCol w="6217920"/>
              </a:tblGrid>
              <a:tr h="411480">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CP-facing format</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Cancellation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cpq_cancel Your customer &lt;C'S NAME&gt; reported you cancelled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No-show</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Unauthorized reschedule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"Report Issue" to cancel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cpq_invalid_cancel Upon review, your &lt;emergency/customer cancellation&gt;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"Report Issue" to reschedule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cpq_invalid_reschedule Upon review, your customer reschedule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False invoice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cpq_false_invoice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Overcharged hours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 account and conduct</a:t>
            </a:r>
            <a:endParaRPr lang="en-US" sz="2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2011680"/>
                <a:gridCol w="2286000"/>
                <a:gridCol w="2286000"/>
                <a:gridCol w="1737360"/>
              </a:tblGrid>
              <a:tr h="329184">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Code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Code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Permanent (repeated offenses)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cpq_dnr &lt;REASON&gt;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Background check not cleared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bgcheck_not_clear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Accepted cash payment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cpq_cash Cash Payment J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Failed background check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bgcheck_flagged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Rude / unprofessional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cpq_quality 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Name doesn't match SSN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ssn_validation_failed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Theft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HGTA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 not valid for employment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ssn_flagged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Duplicate (other account is a C)</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dp-c &lt;C_ID&gt;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Duplicate: SSN/bank matches a suspended CP</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199</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Duplicate (other account is a CP)</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dp-cp &lt;CP_ID&gt;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5196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61688"/>
            <a:ext cx="164592" cy="164592"/>
          </a:xfrm>
          <a:prstGeom prst="rect">
            <a:avLst/>
          </a:prstGeom>
        </p:spPr>
      </p:pic>
      <p:sp>
        <p:nvSpPr>
          <p:cNvPr id="8" name="Text 3"/>
          <p:cNvSpPr txBox="1"/>
          <p:nvPr/>
        </p:nvSpPr>
        <p:spPr>
          <a:xfrm>
            <a:off x="822960" y="4352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use the code exactly as written. Fill in only the &lt;placeholders&gt;.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Operating Models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rules that apply to a customer or cleaner, based on where they are.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two models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tell which one applies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changes between them</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8.png">    </p:cNvPr>
          <p:cNvPicPr>
            <a:picLocks noChangeAspect="1"/>
          </p:cNvPicPr>
          <p:nvPr/>
        </p:nvPicPr>
        <p:blipFill>
          <a:blip r:embed="rId4"/>
          <a:stretch>
            <a:fillRect/>
          </a:stretch>
        </p:blipFill>
        <p:spPr>
          <a:xfrm>
            <a:off x="5541264" y="1991053"/>
            <a:ext cx="2926080" cy="1156822"/>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models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Location decides which rules apply.</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 / CA-WA Operating Model</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California, New Jersey, Illinois, Massachusetts, Washington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Shows as a banner next to the user's name on the CRM</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General Operating Model</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All other states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 banner on the CRM</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Quick check:  </a:t>
            </a:r>
            <a:pPr indent="0" marL="0">
              <a:buNone/>
            </a:pPr>
            <a:r>
              <a:rPr lang="en-US" sz="1000" dirty="0">
                <a:solidFill>
                  <a:srgbClr val="1D1D1F"/>
                </a:solidFill>
                <a:latin typeface="SF Pro Text" pitchFamily="34" charset="0"/>
                <a:ea typeface="SF Pro Text" pitchFamily="34" charset="-122"/>
                <a:cs typeface="SF Pro Text" pitchFamily="34" charset="-120"/>
              </a:rPr>
              <a:t>no operating model banner on the CRM means General Operating Model.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changes between them</a:t>
            </a:r>
            <a:endParaRPr lang="en-US" sz="2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3291840"/>
                <a:gridCol w="3108960"/>
              </a:tblGrid>
              <a:tr h="41148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CA / CA-WA</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Pay to reactivate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Disabled: no reactivation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 $15–25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Cleaning supplies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required. Don't penalize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Required. Missing means norequests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hourly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Separate first-time and repeat-client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 rate. $5/hr match fee on first-time client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job cancellation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Can cancel within a window without penalty, depending on notice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Penalized. Affects 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Own cleaning business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Must certify it's registered (WA: Universal Business Identifier)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applicable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Swap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11480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224528"/>
            <a:ext cx="164592" cy="164592"/>
          </a:xfrm>
          <a:prstGeom prst="rect">
            <a:avLst/>
          </a:prstGeom>
        </p:spPr>
      </p:pic>
      <p:sp>
        <p:nvSpPr>
          <p:cNvPr id="8" name="Text 3"/>
          <p:cNvSpPr txBox="1"/>
          <p:nvPr/>
        </p:nvSpPr>
        <p:spPr>
          <a:xfrm>
            <a:off x="822960" y="4215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Tiering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How cleaners are ranked, and why it decides who sees and claims a job first.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tiering exists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each tier gets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Requested CPs and swapping</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9.png">    </p:cNvPr>
          <p:cNvPicPr>
            <a:picLocks noChangeAspect="1"/>
          </p:cNvPicPr>
          <p:nvPr/>
        </p:nvPicPr>
        <p:blipFill>
          <a:blip r:embed="rId4"/>
          <a:stretch>
            <a:fillRect/>
          </a:stretch>
        </p:blipFill>
        <p:spPr>
          <a:xfrm>
            <a:off x="5541264" y="1580923"/>
            <a:ext cx="2926080" cy="1977081"/>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Stronger cleaners see jobs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Without tiers, the first cleaner to click would get the job, whatever their record.</a:t>
            </a:r>
            <a:endParaRPr lang="en-US" sz="1200" dirty="0"/>
          </a:p>
        </p:txBody>
      </p:sp>
      <p:sp>
        <p:nvSpPr>
          <p:cNvPr id="6" name="Shape 3"/>
          <p:cNvSpPr/>
          <p:nvPr/>
        </p:nvSpPr>
        <p:spPr>
          <a:xfrm>
            <a:off x="411480" y="141732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Tier 1 to 10</a:t>
            </a:r>
            <a:endParaRPr lang="en-US" sz="1200" dirty="0"/>
          </a:p>
        </p:txBody>
      </p:sp>
      <p:sp>
        <p:nvSpPr>
          <p:cNvPr id="10" name="Text 6"/>
          <p:cNvSpPr txBox="1"/>
          <p:nvPr/>
        </p:nvSpPr>
        <p:spPr>
          <a:xfrm>
            <a:off x="5760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ranking based on how the cleaner has performed.</a:t>
            </a:r>
            <a:endParaRPr lang="en-US" sz="950" dirty="0"/>
          </a:p>
        </p:txBody>
      </p:sp>
      <p:sp>
        <p:nvSpPr>
          <p:cNvPr id="11" name="Shape 7"/>
          <p:cNvSpPr/>
          <p:nvPr/>
        </p:nvSpPr>
        <p:spPr>
          <a:xfrm>
            <a:off x="3230880" y="141732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Earlier access</a:t>
            </a:r>
            <a:endParaRPr lang="en-US" sz="1200" dirty="0"/>
          </a:p>
        </p:txBody>
      </p:sp>
      <p:sp>
        <p:nvSpPr>
          <p:cNvPr id="15" name="Text 10"/>
          <p:cNvSpPr txBox="1"/>
          <p:nvPr/>
        </p:nvSpPr>
        <p:spPr>
          <a:xfrm>
            <a:off x="33954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see jobs earlier.</a:t>
            </a:r>
            <a:endParaRPr lang="en-US" sz="950" dirty="0"/>
          </a:p>
        </p:txBody>
      </p:sp>
      <p:sp>
        <p:nvSpPr>
          <p:cNvPr id="16" name="Shape 11"/>
          <p:cNvSpPr/>
          <p:nvPr/>
        </p:nvSpPr>
        <p:spPr>
          <a:xfrm>
            <a:off x="6050280" y="141732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More jobs</a:t>
            </a:r>
            <a:endParaRPr lang="en-US" sz="1200" dirty="0"/>
          </a:p>
        </p:txBody>
      </p:sp>
      <p:sp>
        <p:nvSpPr>
          <p:cNvPr id="20" name="Text 14"/>
          <p:cNvSpPr txBox="1"/>
          <p:nvPr/>
        </p:nvSpPr>
        <p:spPr>
          <a:xfrm>
            <a:off x="62148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can claim more jobs at once.</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tiering is internal. Never share tier levels or tiering logic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each tier gets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 requested CPs" means the customer asked for specific cleaners on that job.</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234440"/>
                <a:gridCol w="2788920"/>
                <a:gridCol w="1463040"/>
                <a:gridCol w="1417320"/>
                <a:gridCol w="1417320"/>
              </a:tblGrid>
              <a:tr h="34747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Tier</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FC jobs (with / without requested CPs)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off-brand jobs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Swap protection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Claim limit</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10</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before / 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9</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 96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48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8</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36 hrs / 72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36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7</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48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6</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36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5 – 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2 – 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Requested cleaners and swapping</a:t>
            </a:r>
            <a:endParaRPr lang="en-US" sz="2400" dirty="0"/>
          </a:p>
        </p:txBody>
      </p:sp>
      <p:sp>
        <p:nvSpPr>
          <p:cNvPr id="5" name="Shape 2"/>
          <p:cNvSpPr/>
          <p:nvPr/>
        </p:nvSpPr>
        <p:spPr>
          <a:xfrm>
            <a:off x="411480" y="1188720"/>
            <a:ext cx="4091940" cy="2514600"/>
          </a:xfrm>
          <a:prstGeom prst="roundRect">
            <a:avLst>
              <a:gd name="adj" fmla="val 2909"/>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Requested cleaners</a:t>
            </a:r>
            <a:endParaRPr lang="en-US" sz="1300" dirty="0"/>
          </a:p>
        </p:txBody>
      </p:sp>
      <p:sp>
        <p:nvSpPr>
          <p:cNvPr id="9" name="Text 5"/>
          <p:cNvSpPr txBox="1"/>
          <p:nvPr/>
        </p:nvSpPr>
        <p:spPr>
          <a:xfrm>
            <a:off x="5943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See the job as soon as the customer submits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 claim it and replace a non-requested cleaner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follow their own tier's claim limit</a:t>
            </a:r>
            <a:endParaRPr lang="en-US" sz="1000" dirty="0"/>
          </a:p>
        </p:txBody>
      </p:sp>
      <p:sp>
        <p:nvSpPr>
          <p:cNvPr id="10" name="Shape 6"/>
          <p:cNvSpPr/>
          <p:nvPr/>
        </p:nvSpPr>
        <p:spPr>
          <a:xfrm>
            <a:off x="4640580" y="1188720"/>
            <a:ext cx="4091940" cy="2514600"/>
          </a:xfrm>
          <a:prstGeom prst="roundRect">
            <a:avLst>
              <a:gd name="adj" fmla="val 2909"/>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Swapping</a:t>
            </a:r>
            <a:endParaRPr lang="en-US" sz="1300" dirty="0"/>
          </a:p>
        </p:txBody>
      </p:sp>
      <p:sp>
        <p:nvSpPr>
          <p:cNvPr id="14" name="Text 9"/>
          <p:cNvSpPr txBox="1"/>
          <p:nvPr/>
        </p:nvSpPr>
        <p:spPr>
          <a:xfrm>
            <a:off x="48234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higher-tier cleaner can swap in if the job is 24–48+ hrs away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sees a new match. The swapped-out cleaner is told the customer cancelled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Protected if they messaged with the customer in the past month</a:t>
            </a:r>
            <a:endParaRPr lang="en-US" sz="1000" dirty="0"/>
          </a:p>
        </p:txBody>
      </p:sp>
      <p:sp>
        <p:nvSpPr>
          <p:cNvPr id="15" name="Shape 10"/>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16" name="Image 2" descr="preencoded.png">    </p:cNvPr>
          <p:cNvPicPr>
            <a:picLocks noChangeAspect="1"/>
          </p:cNvPicPr>
          <p:nvPr/>
        </p:nvPicPr>
        <p:blipFill>
          <a:blip r:embed="rId3"/>
          <a:stretch>
            <a:fillRect/>
          </a:stretch>
        </p:blipFill>
        <p:spPr>
          <a:xfrm>
            <a:off x="566928" y="3995928"/>
            <a:ext cx="164592" cy="164592"/>
          </a:xfrm>
          <a:prstGeom prst="rect">
            <a:avLst/>
          </a:prstGeom>
        </p:spPr>
      </p:pic>
      <p:sp>
        <p:nvSpPr>
          <p:cNvPr id="17" name="Text 11"/>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swapping is internal. Never tell a cleaner or customer that a swap happened.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Job Statuses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stage a booking is in, and what that means for the ticket in front of you.</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job lifecycle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Submitted, Claimed, Invoiced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Cancelled and Pending Invoice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customer and cleaner can do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lifecycle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job can be cancelled at almost any stage. It doesn't have to pass through every status.</a:t>
            </a:r>
            <a:endParaRPr lang="en-US" sz="1200" dirty="0"/>
          </a:p>
        </p:txBody>
      </p:sp>
      <p:sp>
        <p:nvSpPr>
          <p:cNvPr id="6" name="Shape 3"/>
          <p:cNvSpPr/>
          <p:nvPr/>
        </p:nvSpPr>
        <p:spPr>
          <a:xfrm>
            <a:off x="411480" y="1508760"/>
            <a:ext cx="1417320" cy="640080"/>
          </a:xfrm>
          <a:prstGeom prst="roundRect">
            <a:avLst>
              <a:gd name="adj" fmla="val 11429"/>
            </a:avLst>
          </a:prstGeom>
          <a:solidFill>
            <a:srgbClr val="FFFFFF"/>
          </a:solidFill>
          <a:ln w="9525">
            <a:solidFill>
              <a:srgbClr val="0B7A6F"/>
            </a:solidFill>
            <a:prstDash val="solid"/>
          </a:ln>
        </p:spPr>
      </p:sp>
      <p:sp>
        <p:nvSpPr>
          <p:cNvPr id="7" name="Text 4"/>
          <p:cNvSpPr txBox="1"/>
          <p:nvPr/>
        </p:nvSpPr>
        <p:spPr>
          <a:xfrm>
            <a:off x="41148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a:t>
            </a:r>
            <a:endParaRPr lang="en-US" sz="1200" dirty="0"/>
          </a:p>
        </p:txBody>
      </p:sp>
      <p:sp>
        <p:nvSpPr>
          <p:cNvPr id="8" name="Shape 5"/>
          <p:cNvSpPr/>
          <p:nvPr/>
        </p:nvSpPr>
        <p:spPr>
          <a:xfrm>
            <a:off x="1865376" y="1828800"/>
            <a:ext cx="235458" cy="0"/>
          </a:xfrm>
          <a:prstGeom prst="line">
            <a:avLst/>
          </a:prstGeom>
          <a:noFill/>
          <a:ln w="19050">
            <a:solidFill>
              <a:srgbClr val="0B7A6F"/>
            </a:solidFill>
            <a:prstDash val="solid"/>
            <a:tailEnd type="triangle"/>
          </a:ln>
        </p:spPr>
      </p:sp>
      <p:sp>
        <p:nvSpPr>
          <p:cNvPr id="9" name="Shape 6"/>
          <p:cNvSpPr/>
          <p:nvPr/>
        </p:nvSpPr>
        <p:spPr>
          <a:xfrm>
            <a:off x="1120140" y="2148840"/>
            <a:ext cx="2537460" cy="914400"/>
          </a:xfrm>
          <a:prstGeom prst="line">
            <a:avLst/>
          </a:prstGeom>
          <a:noFill/>
          <a:ln w="12700">
            <a:solidFill>
              <a:srgbClr val="6E6E73"/>
            </a:solidFill>
            <a:prstDash val="dash"/>
            <a:tailEnd type="triangle"/>
          </a:ln>
        </p:spPr>
      </p:sp>
      <p:sp>
        <p:nvSpPr>
          <p:cNvPr id="10" name="Shape 7"/>
          <p:cNvSpPr/>
          <p:nvPr/>
        </p:nvSpPr>
        <p:spPr>
          <a:xfrm>
            <a:off x="2137410" y="1508760"/>
            <a:ext cx="1417320" cy="640080"/>
          </a:xfrm>
          <a:prstGeom prst="roundRect">
            <a:avLst>
              <a:gd name="adj" fmla="val 11429"/>
            </a:avLst>
          </a:prstGeom>
          <a:solidFill>
            <a:srgbClr val="FFFFFF"/>
          </a:solidFill>
          <a:ln w="9525">
            <a:solidFill>
              <a:srgbClr val="0B7A6F"/>
            </a:solidFill>
            <a:prstDash val="solid"/>
          </a:ln>
        </p:spPr>
      </p:sp>
      <p:sp>
        <p:nvSpPr>
          <p:cNvPr id="11" name="Text 8"/>
          <p:cNvSpPr txBox="1"/>
          <p:nvPr/>
        </p:nvSpPr>
        <p:spPr>
          <a:xfrm>
            <a:off x="213741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Submitted</a:t>
            </a:r>
            <a:endParaRPr lang="en-US" sz="1200" dirty="0"/>
          </a:p>
        </p:txBody>
      </p:sp>
      <p:sp>
        <p:nvSpPr>
          <p:cNvPr id="12" name="Shape 9"/>
          <p:cNvSpPr/>
          <p:nvPr/>
        </p:nvSpPr>
        <p:spPr>
          <a:xfrm>
            <a:off x="3591306" y="1828800"/>
            <a:ext cx="235458" cy="0"/>
          </a:xfrm>
          <a:prstGeom prst="line">
            <a:avLst/>
          </a:prstGeom>
          <a:noFill/>
          <a:ln w="19050">
            <a:solidFill>
              <a:srgbClr val="0B7A6F"/>
            </a:solidFill>
            <a:prstDash val="solid"/>
            <a:tailEnd type="triangle"/>
          </a:ln>
        </p:spPr>
      </p:sp>
      <p:sp>
        <p:nvSpPr>
          <p:cNvPr id="13" name="Shape 10"/>
          <p:cNvSpPr/>
          <p:nvPr/>
        </p:nvSpPr>
        <p:spPr>
          <a:xfrm>
            <a:off x="2846070" y="2148840"/>
            <a:ext cx="1268730" cy="914400"/>
          </a:xfrm>
          <a:prstGeom prst="line">
            <a:avLst/>
          </a:prstGeom>
          <a:noFill/>
          <a:ln w="12700">
            <a:solidFill>
              <a:srgbClr val="6E6E73"/>
            </a:solidFill>
            <a:prstDash val="dash"/>
            <a:tailEnd type="triangle"/>
          </a:ln>
        </p:spPr>
      </p:sp>
      <p:sp>
        <p:nvSpPr>
          <p:cNvPr id="14" name="Shape 11"/>
          <p:cNvSpPr/>
          <p:nvPr/>
        </p:nvSpPr>
        <p:spPr>
          <a:xfrm>
            <a:off x="3863340" y="1508760"/>
            <a:ext cx="1417320" cy="640080"/>
          </a:xfrm>
          <a:prstGeom prst="roundRect">
            <a:avLst>
              <a:gd name="adj" fmla="val 11429"/>
            </a:avLst>
          </a:prstGeom>
          <a:solidFill>
            <a:srgbClr val="FFFFFF"/>
          </a:solidFill>
          <a:ln w="9525">
            <a:solidFill>
              <a:srgbClr val="0B7A6F"/>
            </a:solidFill>
            <a:prstDash val="solid"/>
          </a:ln>
        </p:spPr>
      </p:sp>
      <p:sp>
        <p:nvSpPr>
          <p:cNvPr id="15" name="Text 12"/>
          <p:cNvSpPr txBox="1"/>
          <p:nvPr/>
        </p:nvSpPr>
        <p:spPr>
          <a:xfrm>
            <a:off x="386334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Claimed</a:t>
            </a:r>
            <a:endParaRPr lang="en-US" sz="1200" dirty="0"/>
          </a:p>
        </p:txBody>
      </p:sp>
      <p:sp>
        <p:nvSpPr>
          <p:cNvPr id="16" name="Shape 13"/>
          <p:cNvSpPr/>
          <p:nvPr/>
        </p:nvSpPr>
        <p:spPr>
          <a:xfrm>
            <a:off x="5317236" y="1828800"/>
            <a:ext cx="235458" cy="0"/>
          </a:xfrm>
          <a:prstGeom prst="line">
            <a:avLst/>
          </a:prstGeom>
          <a:noFill/>
          <a:ln w="19050">
            <a:solidFill>
              <a:srgbClr val="0B7A6F"/>
            </a:solidFill>
            <a:prstDash val="solid"/>
            <a:tailEnd type="triangle"/>
          </a:ln>
        </p:spPr>
      </p:sp>
      <p:sp>
        <p:nvSpPr>
          <p:cNvPr id="17" name="Shape 14"/>
          <p:cNvSpPr/>
          <p:nvPr/>
        </p:nvSpPr>
        <p:spPr>
          <a:xfrm>
            <a:off x="4572000" y="2148840"/>
            <a:ext cx="914" cy="914400"/>
          </a:xfrm>
          <a:prstGeom prst="line">
            <a:avLst/>
          </a:prstGeom>
          <a:noFill/>
          <a:ln w="12700">
            <a:solidFill>
              <a:srgbClr val="6E6E73"/>
            </a:solidFill>
            <a:prstDash val="dash"/>
            <a:tailEnd type="triangle"/>
          </a:ln>
        </p:spPr>
      </p:sp>
      <p:sp>
        <p:nvSpPr>
          <p:cNvPr id="18" name="Shape 15"/>
          <p:cNvSpPr/>
          <p:nvPr/>
        </p:nvSpPr>
        <p:spPr>
          <a:xfrm>
            <a:off x="5589270" y="1508760"/>
            <a:ext cx="1417320" cy="640080"/>
          </a:xfrm>
          <a:prstGeom prst="roundRect">
            <a:avLst>
              <a:gd name="adj" fmla="val 11429"/>
            </a:avLst>
          </a:prstGeom>
          <a:solidFill>
            <a:srgbClr val="FFFFFF"/>
          </a:solidFill>
          <a:ln w="9525">
            <a:solidFill>
              <a:srgbClr val="0B7A6F"/>
            </a:solidFill>
            <a:prstDash val="solid"/>
          </a:ln>
        </p:spPr>
      </p:sp>
      <p:sp>
        <p:nvSpPr>
          <p:cNvPr id="19" name="Text 16"/>
          <p:cNvSpPr txBox="1"/>
          <p:nvPr/>
        </p:nvSpPr>
        <p:spPr>
          <a:xfrm>
            <a:off x="558927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a:t>
            </a:r>
            <a:endParaRPr lang="en-US" sz="1200" dirty="0"/>
          </a:p>
        </p:txBody>
      </p:sp>
      <p:sp>
        <p:nvSpPr>
          <p:cNvPr id="20" name="Shape 17"/>
          <p:cNvSpPr/>
          <p:nvPr/>
        </p:nvSpPr>
        <p:spPr>
          <a:xfrm>
            <a:off x="7043166" y="1828800"/>
            <a:ext cx="235458" cy="0"/>
          </a:xfrm>
          <a:prstGeom prst="line">
            <a:avLst/>
          </a:prstGeom>
          <a:noFill/>
          <a:ln w="19050">
            <a:solidFill>
              <a:srgbClr val="0B7A6F"/>
            </a:solidFill>
            <a:prstDash val="solid"/>
            <a:tailEnd type="triangle"/>
          </a:ln>
        </p:spPr>
      </p:sp>
      <p:sp>
        <p:nvSpPr>
          <p:cNvPr id="21" name="Shape 18"/>
          <p:cNvSpPr/>
          <p:nvPr/>
        </p:nvSpPr>
        <p:spPr>
          <a:xfrm flipH="1">
            <a:off x="5029200" y="2148840"/>
            <a:ext cx="1268730" cy="914400"/>
          </a:xfrm>
          <a:prstGeom prst="line">
            <a:avLst/>
          </a:prstGeom>
          <a:noFill/>
          <a:ln w="12700">
            <a:solidFill>
              <a:srgbClr val="6E6E73"/>
            </a:solidFill>
            <a:prstDash val="dash"/>
            <a:tailEnd type="triangle"/>
          </a:ln>
        </p:spPr>
      </p:sp>
      <p:sp>
        <p:nvSpPr>
          <p:cNvPr id="22" name="Shape 19"/>
          <p:cNvSpPr/>
          <p:nvPr/>
        </p:nvSpPr>
        <p:spPr>
          <a:xfrm>
            <a:off x="7315200" y="1508760"/>
            <a:ext cx="1417320" cy="640080"/>
          </a:xfrm>
          <a:prstGeom prst="roundRect">
            <a:avLst>
              <a:gd name="adj" fmla="val 11429"/>
            </a:avLst>
          </a:prstGeom>
          <a:solidFill>
            <a:srgbClr val="0B7A6F"/>
          </a:solidFill>
          <a:ln w="9525">
            <a:solidFill>
              <a:srgbClr val="0B7A6F"/>
            </a:solidFill>
            <a:prstDash val="solid"/>
          </a:ln>
        </p:spPr>
      </p:sp>
      <p:sp>
        <p:nvSpPr>
          <p:cNvPr id="23" name="Text 20"/>
          <p:cNvSpPr txBox="1"/>
          <p:nvPr/>
        </p:nvSpPr>
        <p:spPr>
          <a:xfrm>
            <a:off x="7315200" y="1508760"/>
            <a:ext cx="141732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Invoiced</a:t>
            </a:r>
            <a:endParaRPr lang="en-US" sz="1200" dirty="0"/>
          </a:p>
        </p:txBody>
      </p:sp>
      <p:sp>
        <p:nvSpPr>
          <p:cNvPr id="24" name="Shape 21"/>
          <p:cNvSpPr/>
          <p:nvPr/>
        </p:nvSpPr>
        <p:spPr>
          <a:xfrm flipH="1">
            <a:off x="5486400" y="2148840"/>
            <a:ext cx="2537460" cy="914400"/>
          </a:xfrm>
          <a:prstGeom prst="line">
            <a:avLst/>
          </a:prstGeom>
          <a:noFill/>
          <a:ln w="12700">
            <a:solidFill>
              <a:srgbClr val="6E6E73"/>
            </a:solidFill>
            <a:prstDash val="dash"/>
            <a:tailEnd type="triangle"/>
          </a:ln>
        </p:spPr>
      </p:sp>
      <p:sp>
        <p:nvSpPr>
          <p:cNvPr id="25" name="Shape 22"/>
          <p:cNvSpPr/>
          <p:nvPr/>
        </p:nvSpPr>
        <p:spPr>
          <a:xfrm>
            <a:off x="3429000" y="3063240"/>
            <a:ext cx="2286000" cy="548640"/>
          </a:xfrm>
          <a:prstGeom prst="roundRect">
            <a:avLst>
              <a:gd name="adj" fmla="val 13333"/>
            </a:avLst>
          </a:prstGeom>
          <a:solidFill>
            <a:srgbClr val="FFF3D6"/>
          </a:solidFill>
          <a:ln w="9525">
            <a:solidFill>
              <a:srgbClr val="9A6410"/>
            </a:solidFill>
            <a:prstDash val="solid"/>
          </a:ln>
        </p:spPr>
      </p:sp>
      <p:sp>
        <p:nvSpPr>
          <p:cNvPr id="26" name="Text 23"/>
          <p:cNvSpPr txBox="1"/>
          <p:nvPr/>
        </p:nvSpPr>
        <p:spPr>
          <a:xfrm>
            <a:off x="3429000" y="3063240"/>
            <a:ext cx="2286000" cy="548640"/>
          </a:xfrm>
          <a:prstGeom prst="rect">
            <a:avLst/>
          </a:prstGeom>
          <a:noFill/>
          <a:ln/>
        </p:spPr>
        <p:txBody>
          <a:bodyPr wrap="square" lIns="0" tIns="0" rIns="0" bIns="0" rtlCol="0" anchor="ctr"/>
          <a:lstStyle/>
          <a:p>
            <a:pPr algn="ctr" indent="0" marL="0">
              <a:buNone/>
            </a:pPr>
            <a:r>
              <a:rPr lang="en-US" sz="1200" b="1" dirty="0">
                <a:solidFill>
                  <a:srgbClr val="9A6410"/>
                </a:solidFill>
                <a:latin typeface="SF Pro Display" pitchFamily="34" charset="0"/>
                <a:ea typeface="SF Pro Display" pitchFamily="34" charset="-122"/>
                <a:cs typeface="SF Pro Display" pitchFamily="34" charset="-120"/>
              </a:rPr>
              <a:t>Cancelled</a:t>
            </a:r>
            <a:endParaRPr lang="en-US" sz="1200" dirty="0"/>
          </a:p>
        </p:txBody>
      </p:sp>
      <p:sp>
        <p:nvSpPr>
          <p:cNvPr id="27" name="Shape 2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2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29" name="Text 2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an Invoiced job only becomes Cancelled through a full refund.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SUBMITTED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Submitted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job is officially requested and sent to available cleaners nearby.</a:t>
            </a:r>
            <a:endParaRPr lang="en-US" sz="1200" dirty="0"/>
          </a:p>
        </p:txBody>
      </p:sp>
      <p:sp>
        <p:nvSpPr>
          <p:cNvPr id="6" name="Shape 3"/>
          <p:cNvSpPr/>
          <p:nvPr/>
        </p:nvSpPr>
        <p:spPr>
          <a:xfrm>
            <a:off x="411480" y="1417320"/>
            <a:ext cx="197739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can book</a:t>
            </a:r>
            <a:endParaRPr lang="en-US" sz="1200" dirty="0"/>
          </a:p>
        </p:txBody>
      </p:sp>
      <p:sp>
        <p:nvSpPr>
          <p:cNvPr id="10" name="Text 6"/>
          <p:cNvSpPr txBox="1"/>
          <p:nvPr/>
        </p:nvSpPr>
        <p:spPr>
          <a:xfrm>
            <a:off x="5760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Customers, cleaners for repeat clients, and CS via the CRM.</a:t>
            </a:r>
            <a:endParaRPr lang="en-US" sz="950" dirty="0"/>
          </a:p>
        </p:txBody>
      </p:sp>
      <p:sp>
        <p:nvSpPr>
          <p:cNvPr id="11" name="Shape 7"/>
          <p:cNvSpPr/>
          <p:nvPr/>
        </p:nvSpPr>
        <p:spPr>
          <a:xfrm>
            <a:off x="2526030" y="1417320"/>
            <a:ext cx="197739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269062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660916"/>
            <a:ext cx="171176" cy="171176"/>
          </a:xfrm>
          <a:prstGeom prst="rect">
            <a:avLst/>
          </a:prstGeom>
        </p:spPr>
      </p:pic>
      <p:sp>
        <p:nvSpPr>
          <p:cNvPr id="14" name="Text 9"/>
          <p:cNvSpPr txBox="1"/>
          <p:nvPr/>
        </p:nvSpPr>
        <p:spPr>
          <a:xfrm>
            <a:off x="26906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 and 48 hours</a:t>
            </a:r>
            <a:endParaRPr lang="en-US" sz="1200" dirty="0"/>
          </a:p>
        </p:txBody>
      </p:sp>
      <p:sp>
        <p:nvSpPr>
          <p:cNvPr id="15" name="Text 10"/>
          <p:cNvSpPr txBox="1"/>
          <p:nvPr/>
        </p:nvSpPr>
        <p:spPr>
          <a:xfrm>
            <a:off x="26906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Book at least 12 hrs ahead. Under 48 hrs adds a priority fee.</a:t>
            </a:r>
            <a:endParaRPr lang="en-US" sz="950" dirty="0"/>
          </a:p>
        </p:txBody>
      </p:sp>
      <p:sp>
        <p:nvSpPr>
          <p:cNvPr id="16" name="Shape 11"/>
          <p:cNvSpPr/>
          <p:nvPr/>
        </p:nvSpPr>
        <p:spPr>
          <a:xfrm>
            <a:off x="4640580" y="1417320"/>
            <a:ext cx="197739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48051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660916"/>
            <a:ext cx="171176" cy="171176"/>
          </a:xfrm>
          <a:prstGeom prst="rect">
            <a:avLst/>
          </a:prstGeom>
        </p:spPr>
      </p:pic>
      <p:sp>
        <p:nvSpPr>
          <p:cNvPr id="19" name="Text 13"/>
          <p:cNvSpPr txBox="1"/>
          <p:nvPr/>
        </p:nvSpPr>
        <p:spPr>
          <a:xfrm>
            <a:off x="48051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Alternate times</a:t>
            </a:r>
            <a:endParaRPr lang="en-US" sz="1200" dirty="0"/>
          </a:p>
        </p:txBody>
      </p:sp>
      <p:sp>
        <p:nvSpPr>
          <p:cNvPr id="20" name="Text 14"/>
          <p:cNvSpPr txBox="1"/>
          <p:nvPr/>
        </p:nvSpPr>
        <p:spPr>
          <a:xfrm>
            <a:off x="48051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Unclaimed 24 hrs before start? The system adds alternate times.</a:t>
            </a:r>
            <a:endParaRPr lang="en-US" sz="950" dirty="0"/>
          </a:p>
        </p:txBody>
      </p:sp>
      <p:sp>
        <p:nvSpPr>
          <p:cNvPr id="21" name="Shape 15"/>
          <p:cNvSpPr/>
          <p:nvPr/>
        </p:nvSpPr>
        <p:spPr>
          <a:xfrm>
            <a:off x="6755130" y="1417320"/>
            <a:ext cx="1977390" cy="1737360"/>
          </a:xfrm>
          <a:prstGeom prst="roundRect">
            <a:avLst>
              <a:gd name="adj" fmla="val 4211"/>
            </a:avLst>
          </a:prstGeom>
          <a:solidFill>
            <a:srgbClr val="FFFFFF"/>
          </a:solidFill>
          <a:ln w="9525">
            <a:solidFill>
              <a:srgbClr val="DCE1E7"/>
            </a:solidFill>
            <a:prstDash val="solid"/>
          </a:ln>
        </p:spPr>
      </p:sp>
      <p:sp>
        <p:nvSpPr>
          <p:cNvPr id="22" name="Shape 16"/>
          <p:cNvSpPr/>
          <p:nvPr/>
        </p:nvSpPr>
        <p:spPr>
          <a:xfrm>
            <a:off x="6919722" y="158191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660916"/>
            <a:ext cx="171176" cy="171176"/>
          </a:xfrm>
          <a:prstGeom prst="rect">
            <a:avLst/>
          </a:prstGeom>
        </p:spPr>
      </p:pic>
      <p:sp>
        <p:nvSpPr>
          <p:cNvPr id="24" name="Text 17"/>
          <p:cNvSpPr txBox="1"/>
          <p:nvPr/>
        </p:nvSpPr>
        <p:spPr>
          <a:xfrm>
            <a:off x="69197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Priority Request</a:t>
            </a:r>
            <a:endParaRPr lang="en-US" sz="1200" dirty="0"/>
          </a:p>
        </p:txBody>
      </p:sp>
      <p:sp>
        <p:nvSpPr>
          <p:cNvPr id="25" name="Text 18"/>
          <p:cNvSpPr txBox="1"/>
          <p:nvPr/>
        </p:nvSpPr>
        <p:spPr>
          <a:xfrm>
            <a:off x="69197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Within 24–48 hrs of start, the job is boosted to more cleaners.</a:t>
            </a:r>
            <a:endParaRPr lang="en-US" sz="950" dirty="0"/>
          </a:p>
        </p:txBody>
      </p:sp>
      <p:sp>
        <p:nvSpPr>
          <p:cNvPr id="26" name="Shape 19"/>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493008"/>
            <a:ext cx="164592" cy="164592"/>
          </a:xfrm>
          <a:prstGeom prst="rect">
            <a:avLst/>
          </a:prstGeom>
        </p:spPr>
      </p:pic>
      <p:sp>
        <p:nvSpPr>
          <p:cNvPr id="28" name="Text 20"/>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Customer can't do alternate times?  </a:t>
            </a:r>
            <a:pPr indent="0" marL="0">
              <a:buNone/>
            </a:pPr>
            <a:r>
              <a:rPr lang="en-US" sz="1000" dirty="0">
                <a:solidFill>
                  <a:srgbClr val="1D1D1F"/>
                </a:solidFill>
                <a:latin typeface="SF Pro Text" pitchFamily="34" charset="0"/>
                <a:ea typeface="SF Pro Text" pitchFamily="34" charset="-122"/>
                <a:cs typeface="SF Pro Text" pitchFamily="34" charset="-120"/>
              </a:rPr>
              <a:t>add the do_not_auto_add_alternate_start_times flag (C CRM &gt; Do).</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CLAIMED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Claimed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cleaner claimed the job, and the customer gets the cleaner's info.</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6+ hrs before start (not the 12-hour new-booking rule)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Rematch: Manage Appointment &gt; Change My Cleaner, until 6 hrs before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File a lockout claim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if the customer agrees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from their dashboard if they can't agree</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higher-tier cleaners may swap in. Swapping is internal: never mention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INVOICED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cleaner clicked Charge Client. The customer is charged and the cleaner gets paid.</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review and tip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 a refund if there's an issue</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Issue a refund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Review the customer in the CP App</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 full refund changes an Invoiced job to Cancelled.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CANCELLED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Cancelled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Can happen at almost any stage. Why depends on where the job was.</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737360"/>
                <a:gridCol w="6583680"/>
              </a:tblGrid>
              <a:tr h="38404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 before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Why it was cancelled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Booked by the cleaner with Handshake, but the customer didn't confirm before it expired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Submitted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by CS in the CRM, or automatically by the system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Cleaner cancelled too late for another to claim, or the customer/CS cancelled or reported a no-show</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 Invoice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or cleaner, or by CS in the CRM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Invoiced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Fully refunded by the cleaner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50208"/>
            <a:ext cx="164592" cy="164592"/>
          </a:xfrm>
          <a:prstGeom prst="rect">
            <a:avLst/>
          </a:prstGeom>
        </p:spPr>
      </p:pic>
      <p:sp>
        <p:nvSpPr>
          <p:cNvPr id="9" name="Text 4"/>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Cancel via CRM:  </a:t>
            </a:r>
            <a:pPr indent="0" marL="0">
              <a:buNone/>
            </a:pPr>
            <a:r>
              <a:rPr lang="en-US" sz="1000" dirty="0">
                <a:solidFill>
                  <a:srgbClr val="1D1D1F"/>
                </a:solidFill>
                <a:latin typeface="SF Pro Text" pitchFamily="34" charset="0"/>
                <a:ea typeface="SF Pro Text" pitchFamily="34" charset="-122"/>
                <a:cs typeface="SF Pro Text" pitchFamily="34" charset="-120"/>
              </a:rPr>
              <a:t>you can waive last-minute fees, and the cleaner isn't penalized.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booked time has passed and the job isn't invoiced yet. The status changes automatically.</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 "My cleaning was completed" (this invoices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A last-minute fee may apply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duration, extras, address and notes</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Click Charge Client to invoice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hours. Adding hours needs the customer's OK</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(cleaner only), cancel, or file a lockout</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Next:  </a:t>
            </a:r>
            <a:pPr indent="0" marL="0">
              <a:buNone/>
            </a:pPr>
            <a:r>
              <a:rPr lang="en-US" sz="1000" dirty="0">
                <a:solidFill>
                  <a:srgbClr val="1D1D1F"/>
                </a:solidFill>
                <a:latin typeface="SF Pro Text" pitchFamily="34" charset="0"/>
                <a:ea typeface="SF Pro Text" pitchFamily="34" charset="-122"/>
                <a:cs typeface="SF Pro Text" pitchFamily="34" charset="-120"/>
              </a:rPr>
              <a:t>Pending Invoice doesn't mean the job was done. See the action guide.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10</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AG: Pending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with a Pending Invoice job, and how to pick the right cancellation reason.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Pending Invoice needs action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three-step action guide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Agreed reschedules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Cancellation reason codes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 doesn't mean done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status changes on a timer, not because the cleaning happened.</a:t>
            </a:r>
            <a:endParaRPr lang="en-US" sz="1200" dirty="0"/>
          </a:p>
        </p:txBody>
      </p:sp>
      <p:sp>
        <p:nvSpPr>
          <p:cNvPr id="6" name="Shape 3"/>
          <p:cNvSpPr/>
          <p:nvPr/>
        </p:nvSpPr>
        <p:spPr>
          <a:xfrm>
            <a:off x="411480" y="1371600"/>
            <a:ext cx="2743200" cy="2103120"/>
          </a:xfrm>
          <a:prstGeom prst="roundRect">
            <a:avLst>
              <a:gd name="adj" fmla="val 3478"/>
            </a:avLst>
          </a:prstGeom>
          <a:solidFill>
            <a:srgbClr val="E3F4F1"/>
          </a:solidFill>
          <a:ln w="9525">
            <a:solidFill>
              <a:srgbClr val="E3F4F1"/>
            </a:solidFill>
            <a:prstDash val="solid"/>
          </a:ln>
        </p:spPr>
      </p:sp>
      <p:sp>
        <p:nvSpPr>
          <p:cNvPr id="7" name="Text 4"/>
          <p:cNvSpPr txBox="1"/>
          <p:nvPr/>
        </p:nvSpPr>
        <p:spPr>
          <a:xfrm>
            <a:off x="640080" y="155448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8" name="Text 5"/>
          <p:cNvSpPr txBox="1"/>
          <p:nvPr/>
        </p:nvSpPr>
        <p:spPr>
          <a:xfrm>
            <a:off x="640080" y="1783080"/>
            <a:ext cx="2377440" cy="640080"/>
          </a:xfrm>
          <a:prstGeom prst="rect">
            <a:avLst/>
          </a:prstGeom>
          <a:noFill/>
          <a:ln/>
        </p:spPr>
        <p:txBody>
          <a:bodyPr wrap="square" lIns="0" tIns="0" rIns="0" bIns="0" rtlCol="0" anchor="t"/>
          <a:lstStyle/>
          <a:p>
            <a:pPr indent="0" marL="0">
              <a:buNone/>
            </a:pPr>
            <a:r>
              <a:rPr lang="en-US" sz="1500" b="1" dirty="0">
                <a:solidFill>
                  <a:srgbClr val="1D1D1F"/>
                </a:solidFill>
                <a:latin typeface="SF Pro Display" pitchFamily="34" charset="0"/>
                <a:ea typeface="SF Pro Display" pitchFamily="34" charset="-122"/>
                <a:cs typeface="SF Pro Display" pitchFamily="34" charset="-120"/>
              </a:rPr>
              <a:t>Jan 2, 10 AM</a:t>
            </a:r>
            <a:endParaRPr lang="en-US" sz="1500" dirty="0"/>
          </a:p>
          <a:p>
            <a:pPr indent="0" marL="0">
              <a:buNone/>
            </a:pPr>
            <a:r>
              <a:rPr lang="en-US" sz="1500" b="1" dirty="0">
                <a:solidFill>
                  <a:srgbClr val="1D1D1F"/>
                </a:solidFill>
                <a:latin typeface="SF Pro Display" pitchFamily="34" charset="0"/>
                <a:ea typeface="SF Pro Display" pitchFamily="34" charset="-122"/>
                <a:cs typeface="SF Pro Display" pitchFamily="34" charset="-120"/>
              </a:rPr>
              <a:t>3-hour job</a:t>
            </a:r>
            <a:endParaRPr lang="en-US" sz="1500" dirty="0"/>
          </a:p>
        </p:txBody>
      </p:sp>
      <p:sp>
        <p:nvSpPr>
          <p:cNvPr id="9" name="Text 6"/>
          <p:cNvSpPr txBox="1"/>
          <p:nvPr/>
        </p:nvSpPr>
        <p:spPr>
          <a:xfrm>
            <a:off x="640080" y="2560320"/>
            <a:ext cx="2377440" cy="32004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 at 1 PM</a:t>
            </a:r>
            <a:endParaRPr lang="en-US" sz="1200" dirty="0"/>
          </a:p>
        </p:txBody>
      </p:sp>
      <p:sp>
        <p:nvSpPr>
          <p:cNvPr id="10" name="Text 7"/>
          <p:cNvSpPr txBox="1"/>
          <p:nvPr/>
        </p:nvSpPr>
        <p:spPr>
          <a:xfrm>
            <a:off x="640080" y="2852928"/>
            <a:ext cx="2377440" cy="27432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automatically</a:t>
            </a:r>
            <a:endParaRPr lang="en-US" sz="1000" dirty="0"/>
          </a:p>
        </p:txBody>
      </p:sp>
      <p:sp>
        <p:nvSpPr>
          <p:cNvPr id="11" name="Text 8"/>
          <p:cNvSpPr txBox="1"/>
          <p:nvPr/>
        </p:nvSpPr>
        <p:spPr>
          <a:xfrm>
            <a:off x="3383280" y="137160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IT COULD MEAN</a:t>
            </a:r>
            <a:endParaRPr lang="en-US" sz="800" dirty="0"/>
          </a:p>
        </p:txBody>
      </p:sp>
      <p:sp>
        <p:nvSpPr>
          <p:cNvPr id="12" name="Shape 9"/>
          <p:cNvSpPr/>
          <p:nvPr/>
        </p:nvSpPr>
        <p:spPr>
          <a:xfrm>
            <a:off x="3291840" y="1645920"/>
            <a:ext cx="5440680" cy="502920"/>
          </a:xfrm>
          <a:prstGeom prst="roundRect">
            <a:avLst>
              <a:gd name="adj" fmla="val 14545"/>
            </a:avLst>
          </a:prstGeom>
          <a:solidFill>
            <a:srgbClr val="FFFFFF"/>
          </a:solidFill>
          <a:ln w="9525">
            <a:solidFill>
              <a:srgbClr val="DCE1E7"/>
            </a:solidFill>
            <a:prstDash val="solid"/>
          </a:ln>
        </p:spPr>
      </p:sp>
      <p:sp>
        <p:nvSpPr>
          <p:cNvPr id="13" name="Shape 10"/>
          <p:cNvSpPr/>
          <p:nvPr/>
        </p:nvSpPr>
        <p:spPr>
          <a:xfrm>
            <a:off x="3401568" y="1751076"/>
            <a:ext cx="292608" cy="292608"/>
          </a:xfrm>
          <a:prstGeom prst="ellipse">
            <a:avLst/>
          </a:prstGeom>
          <a:solidFill>
            <a:srgbClr val="E3F4F1"/>
          </a:solidFill>
          <a:ln w="12700">
            <a:solidFill>
              <a:srgbClr val="E3F4F1"/>
            </a:solidFill>
            <a:prstDash val="solid"/>
          </a:ln>
        </p:spPr>
      </p:sp>
      <p:pic>
        <p:nvPicPr>
          <p:cNvPr id="14" name="Image 0" descr="preencoded.png">    </p:cNvPr>
          <p:cNvPicPr>
            <a:picLocks noChangeAspect="1"/>
          </p:cNvPicPr>
          <p:nvPr/>
        </p:nvPicPr>
        <p:blipFill>
          <a:blip r:embed="rId1"/>
          <a:stretch>
            <a:fillRect/>
          </a:stretch>
        </p:blipFill>
        <p:spPr>
          <a:xfrm>
            <a:off x="3471794" y="1821302"/>
            <a:ext cx="152156" cy="152156"/>
          </a:xfrm>
          <a:prstGeom prst="rect">
            <a:avLst/>
          </a:prstGeom>
        </p:spPr>
      </p:pic>
      <p:sp>
        <p:nvSpPr>
          <p:cNvPr id="15" name="Text 11"/>
          <p:cNvSpPr txBox="1"/>
          <p:nvPr/>
        </p:nvSpPr>
        <p:spPr>
          <a:xfrm>
            <a:off x="3794760" y="1645920"/>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cleaner couldn't finish and is rescheduling</a:t>
            </a:r>
            <a:endParaRPr lang="en-US" sz="1050" dirty="0"/>
          </a:p>
        </p:txBody>
      </p:sp>
      <p:sp>
        <p:nvSpPr>
          <p:cNvPr id="16" name="Shape 12"/>
          <p:cNvSpPr/>
          <p:nvPr/>
        </p:nvSpPr>
        <p:spPr>
          <a:xfrm>
            <a:off x="3291840" y="2221992"/>
            <a:ext cx="5440680" cy="502920"/>
          </a:xfrm>
          <a:prstGeom prst="roundRect">
            <a:avLst>
              <a:gd name="adj" fmla="val 14545"/>
            </a:avLst>
          </a:prstGeom>
          <a:solidFill>
            <a:srgbClr val="FFFFFF"/>
          </a:solidFill>
          <a:ln w="9525">
            <a:solidFill>
              <a:srgbClr val="DCE1E7"/>
            </a:solidFill>
            <a:prstDash val="solid"/>
          </a:ln>
        </p:spPr>
      </p:sp>
      <p:sp>
        <p:nvSpPr>
          <p:cNvPr id="17" name="Shape 13"/>
          <p:cNvSpPr/>
          <p:nvPr/>
        </p:nvSpPr>
        <p:spPr>
          <a:xfrm>
            <a:off x="3401568" y="2327148"/>
            <a:ext cx="292608" cy="292608"/>
          </a:xfrm>
          <a:prstGeom prst="ellipse">
            <a:avLst/>
          </a:prstGeom>
          <a:solidFill>
            <a:srgbClr val="E3F4F1"/>
          </a:solidFill>
          <a:ln w="12700">
            <a:solidFill>
              <a:srgbClr val="E3F4F1"/>
            </a:solidFill>
            <a:prstDash val="solid"/>
          </a:ln>
        </p:spPr>
      </p:sp>
      <p:pic>
        <p:nvPicPr>
          <p:cNvPr id="18" name="Image 1" descr="preencoded.png">    </p:cNvPr>
          <p:cNvPicPr>
            <a:picLocks noChangeAspect="1"/>
          </p:cNvPicPr>
          <p:nvPr/>
        </p:nvPicPr>
        <p:blipFill>
          <a:blip r:embed="rId2"/>
          <a:stretch>
            <a:fillRect/>
          </a:stretch>
        </p:blipFill>
        <p:spPr>
          <a:xfrm>
            <a:off x="3471794" y="2397374"/>
            <a:ext cx="152156" cy="152156"/>
          </a:xfrm>
          <a:prstGeom prst="rect">
            <a:avLst/>
          </a:prstGeom>
        </p:spPr>
      </p:pic>
      <p:sp>
        <p:nvSpPr>
          <p:cNvPr id="19" name="Text 14"/>
          <p:cNvSpPr txBox="1"/>
          <p:nvPr/>
        </p:nvSpPr>
        <p:spPr>
          <a:xfrm>
            <a:off x="3794760" y="2221992"/>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customer asked to cancel, not processed yet</a:t>
            </a:r>
            <a:endParaRPr lang="en-US" sz="1050" dirty="0"/>
          </a:p>
        </p:txBody>
      </p:sp>
      <p:sp>
        <p:nvSpPr>
          <p:cNvPr id="20" name="Shape 15"/>
          <p:cNvSpPr/>
          <p:nvPr/>
        </p:nvSpPr>
        <p:spPr>
          <a:xfrm>
            <a:off x="3291840" y="2798064"/>
            <a:ext cx="544068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3401568" y="2903220"/>
            <a:ext cx="292608" cy="29260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3471794" y="2973446"/>
            <a:ext cx="152156" cy="152156"/>
          </a:xfrm>
          <a:prstGeom prst="rect">
            <a:avLst/>
          </a:prstGeom>
        </p:spPr>
      </p:pic>
      <p:sp>
        <p:nvSpPr>
          <p:cNvPr id="23" name="Text 17"/>
          <p:cNvSpPr txBox="1"/>
          <p:nvPr/>
        </p:nvSpPr>
        <p:spPr>
          <a:xfrm>
            <a:off x="3794760" y="2798064"/>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job was done but not invoiced</a:t>
            </a:r>
            <a:endParaRPr lang="en-US" sz="1050" dirty="0"/>
          </a:p>
        </p:txBody>
      </p:sp>
      <p:sp>
        <p:nvSpPr>
          <p:cNvPr id="24"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5"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6"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act on every Pending Invoice job, even when it isn't what the user asked about.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guide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steps, in order.</a:t>
            </a:r>
            <a:endParaRPr lang="en-US" sz="1200" dirty="0"/>
          </a:p>
        </p:txBody>
      </p:sp>
      <p:sp>
        <p:nvSpPr>
          <p:cNvPr id="6" name="Shape 3"/>
          <p:cNvSpPr/>
          <p:nvPr/>
        </p:nvSpPr>
        <p:spPr>
          <a:xfrm>
            <a:off x="411480" y="1371600"/>
            <a:ext cx="26822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the comms</a:t>
            </a:r>
            <a:endParaRPr lang="en-US" sz="1200" dirty="0"/>
          </a:p>
        </p:txBody>
      </p:sp>
      <p:sp>
        <p:nvSpPr>
          <p:cNvPr id="10" name="Text 7"/>
          <p:cNvSpPr txBox="1"/>
          <p:nvPr/>
        </p:nvSpPr>
        <p:spPr>
          <a:xfrm>
            <a:off x="5760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Read C and CP messages, and anything they sent to CS. Was the job completed?</a:t>
            </a:r>
            <a:endParaRPr lang="en-US" sz="950" dirty="0"/>
          </a:p>
        </p:txBody>
      </p:sp>
      <p:sp>
        <p:nvSpPr>
          <p:cNvPr id="11" name="Shape 8"/>
          <p:cNvSpPr/>
          <p:nvPr/>
        </p:nvSpPr>
        <p:spPr>
          <a:xfrm>
            <a:off x="3230880" y="1371600"/>
            <a:ext cx="2682240" cy="2011680"/>
          </a:xfrm>
          <a:prstGeom prst="roundRect">
            <a:avLst>
              <a:gd name="adj" fmla="val 3636"/>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evidence</a:t>
            </a:r>
            <a:endParaRPr lang="en-US" sz="1200" dirty="0"/>
          </a:p>
        </p:txBody>
      </p:sp>
      <p:sp>
        <p:nvSpPr>
          <p:cNvPr id="15" name="Text 12"/>
          <p:cNvSpPr txBox="1"/>
          <p:nvPr/>
        </p:nvSpPr>
        <p:spPr>
          <a:xfrm>
            <a:off x="33954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Completed, not completed, or not sure: each has its own path.</a:t>
            </a:r>
            <a:endParaRPr lang="en-US" sz="950" dirty="0"/>
          </a:p>
        </p:txBody>
      </p:sp>
      <p:sp>
        <p:nvSpPr>
          <p:cNvPr id="16" name="Shape 13"/>
          <p:cNvSpPr/>
          <p:nvPr/>
        </p:nvSpPr>
        <p:spPr>
          <a:xfrm>
            <a:off x="6050280" y="1371600"/>
            <a:ext cx="2682240" cy="2011680"/>
          </a:xfrm>
          <a:prstGeom prst="roundRect">
            <a:avLst>
              <a:gd name="adj" fmla="val 3636"/>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sure? Check 72 hrs</a:t>
            </a:r>
            <a:endParaRPr lang="en-US" sz="1200" dirty="0"/>
          </a:p>
        </p:txBody>
      </p:sp>
      <p:sp>
        <p:nvSpPr>
          <p:cNvPr id="20" name="Text 17"/>
          <p:cNvSpPr txBox="1"/>
          <p:nvPr/>
        </p:nvSpPr>
        <p:spPr>
          <a:xfrm>
            <a:off x="62148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72 hrs since end: waive the fee, cancel, send comms. Not yet: ask the customer, consider calling.</a:t>
            </a:r>
            <a:endParaRPr lang="en-US" sz="950" dirty="0"/>
          </a:p>
        </p:txBody>
      </p:sp>
      <p:sp>
        <p:nvSpPr>
          <p:cNvPr id="21" name="Shape 18"/>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3" name="Text 19"/>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Clear evidence?  </a:t>
            </a:r>
            <a:pPr indent="0" marL="0">
              <a:buNone/>
            </a:pPr>
            <a:r>
              <a:rPr lang="en-US" sz="1000" dirty="0">
                <a:solidFill>
                  <a:srgbClr val="1D1D1F"/>
                </a:solidFill>
                <a:latin typeface="SF Pro Text" pitchFamily="34" charset="0"/>
                <a:ea typeface="SF Pro Text" pitchFamily="34" charset="-122"/>
                <a:cs typeface="SF Pro Text" pitchFamily="34" charset="-120"/>
              </a:rPr>
              <a:t>you can cancel before 72 hrs if the comms show the cleaning didn't happen.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STEP 2</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Act on the evidence</a:t>
            </a:r>
            <a:endParaRPr lang="en-US" sz="2400" dirty="0"/>
          </a:p>
        </p:txBody>
      </p:sp>
      <p:sp>
        <p:nvSpPr>
          <p:cNvPr id="5" name="Shape 2"/>
          <p:cNvSpPr/>
          <p:nvPr/>
        </p:nvSpPr>
        <p:spPr>
          <a:xfrm>
            <a:off x="411480" y="1097280"/>
            <a:ext cx="2682240" cy="3520440"/>
          </a:xfrm>
          <a:prstGeom prst="roundRect">
            <a:avLst>
              <a:gd name="adj" fmla="val 2727"/>
            </a:avLst>
          </a:prstGeom>
          <a:solidFill>
            <a:srgbClr val="FFFFFF"/>
          </a:solidFill>
          <a:ln w="9525">
            <a:solidFill>
              <a:srgbClr val="DCE1E7"/>
            </a:solidFill>
            <a:prstDash val="solid"/>
          </a:ln>
        </p:spPr>
      </p:sp>
      <p:sp>
        <p:nvSpPr>
          <p:cNvPr id="6" name="Shape 3"/>
          <p:cNvSpPr/>
          <p:nvPr/>
        </p:nvSpPr>
        <p:spPr>
          <a:xfrm>
            <a:off x="576072" y="1261872"/>
            <a:ext cx="365760" cy="36576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63854" y="1349654"/>
            <a:ext cx="190195" cy="190195"/>
          </a:xfrm>
          <a:prstGeom prst="rect">
            <a:avLst/>
          </a:prstGeom>
        </p:spPr>
      </p:pic>
      <p:sp>
        <p:nvSpPr>
          <p:cNvPr id="8" name="Text 4"/>
          <p:cNvSpPr txBox="1"/>
          <p:nvPr/>
        </p:nvSpPr>
        <p:spPr>
          <a:xfrm>
            <a:off x="10515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Completed</a:t>
            </a:r>
            <a:endParaRPr lang="en-US" sz="1300" dirty="0"/>
          </a:p>
        </p:txBody>
      </p:sp>
      <p:sp>
        <p:nvSpPr>
          <p:cNvPr id="9" name="Text 5"/>
          <p:cNvSpPr txBox="1"/>
          <p:nvPr/>
        </p:nvSpPr>
        <p:spPr>
          <a:xfrm>
            <a:off x="5760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a different duration: invoice in the CP Dashboard with the new hours, message both, coach the cleaner</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same duration: Report an Issue &gt; My Cleaning was Completed</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Not confirmed yet: ask the customer for the duration, ask the cleaner to invoice</a:t>
            </a:r>
            <a:endParaRPr lang="en-US" sz="950" dirty="0"/>
          </a:p>
        </p:txBody>
      </p:sp>
      <p:sp>
        <p:nvSpPr>
          <p:cNvPr id="10" name="Shape 6"/>
          <p:cNvSpPr/>
          <p:nvPr/>
        </p:nvSpPr>
        <p:spPr>
          <a:xfrm>
            <a:off x="3230880" y="1097280"/>
            <a:ext cx="2682240" cy="3520440"/>
          </a:xfrm>
          <a:prstGeom prst="roundRect">
            <a:avLst>
              <a:gd name="adj" fmla="val 2727"/>
            </a:avLst>
          </a:prstGeom>
          <a:solidFill>
            <a:srgbClr val="FFFFFF"/>
          </a:solidFill>
          <a:ln w="9525">
            <a:solidFill>
              <a:srgbClr val="DCE1E7"/>
            </a:solidFill>
            <a:prstDash val="solid"/>
          </a:ln>
        </p:spPr>
      </p:sp>
      <p:sp>
        <p:nvSpPr>
          <p:cNvPr id="11" name="Shape 7"/>
          <p:cNvSpPr/>
          <p:nvPr/>
        </p:nvSpPr>
        <p:spPr>
          <a:xfrm>
            <a:off x="3395472" y="1261872"/>
            <a:ext cx="365760" cy="365760"/>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83254" y="1349654"/>
            <a:ext cx="190195" cy="190195"/>
          </a:xfrm>
          <a:prstGeom prst="rect">
            <a:avLst/>
          </a:prstGeom>
        </p:spPr>
      </p:pic>
      <p:sp>
        <p:nvSpPr>
          <p:cNvPr id="13" name="Text 8"/>
          <p:cNvSpPr txBox="1"/>
          <p:nvPr/>
        </p:nvSpPr>
        <p:spPr>
          <a:xfrm>
            <a:off x="38709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completed</a:t>
            </a:r>
            <a:endParaRPr lang="en-US" sz="1300" dirty="0"/>
          </a:p>
        </p:txBody>
      </p:sp>
      <p:sp>
        <p:nvSpPr>
          <p:cNvPr id="14" name="Text 9"/>
          <p:cNvSpPr txBox="1"/>
          <p:nvPr/>
        </p:nvSpPr>
        <p:spPr>
          <a:xfrm>
            <a:off x="33954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cancelled: cancel from the C CRM</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Cleaner cancelled: cancel from the CP Dashboard to penalize, or the C CRM for no penalty</a:t>
            </a:r>
            <a:endParaRPr lang="en-US" sz="950" dirty="0"/>
          </a:p>
        </p:txBody>
      </p:sp>
      <p:sp>
        <p:nvSpPr>
          <p:cNvPr id="15" name="Shape 10"/>
          <p:cNvSpPr/>
          <p:nvPr/>
        </p:nvSpPr>
        <p:spPr>
          <a:xfrm>
            <a:off x="6050280" y="1097280"/>
            <a:ext cx="2682240" cy="3520440"/>
          </a:xfrm>
          <a:prstGeom prst="roundRect">
            <a:avLst>
              <a:gd name="adj" fmla="val 2727"/>
            </a:avLst>
          </a:prstGeom>
          <a:solidFill>
            <a:srgbClr val="FFFFFF"/>
          </a:solidFill>
          <a:ln w="9525">
            <a:solidFill>
              <a:srgbClr val="DCE1E7"/>
            </a:solidFill>
            <a:prstDash val="solid"/>
          </a:ln>
        </p:spPr>
      </p:sp>
      <p:sp>
        <p:nvSpPr>
          <p:cNvPr id="16" name="Shape 11"/>
          <p:cNvSpPr/>
          <p:nvPr/>
        </p:nvSpPr>
        <p:spPr>
          <a:xfrm>
            <a:off x="6214872" y="1261872"/>
            <a:ext cx="365760" cy="365760"/>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302654" y="1349654"/>
            <a:ext cx="190195" cy="190195"/>
          </a:xfrm>
          <a:prstGeom prst="rect">
            <a:avLst/>
          </a:prstGeom>
        </p:spPr>
      </p:pic>
      <p:sp>
        <p:nvSpPr>
          <p:cNvPr id="18" name="Text 12"/>
          <p:cNvSpPr txBox="1"/>
          <p:nvPr/>
        </p:nvSpPr>
        <p:spPr>
          <a:xfrm>
            <a:off x="66903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sure</a:t>
            </a:r>
            <a:endParaRPr lang="en-US" sz="1300" dirty="0"/>
          </a:p>
        </p:txBody>
      </p:sp>
      <p:sp>
        <p:nvSpPr>
          <p:cNvPr id="19" name="Text 13"/>
          <p:cNvSpPr txBox="1"/>
          <p:nvPr/>
        </p:nvSpPr>
        <p:spPr>
          <a:xfrm>
            <a:off x="62148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Go to Step 3: check whether 72 hrs have passed since the job ended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SCENARIO</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agreed to reschedule, but the job wasn't changed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comms: did they agree on a specific date and time?</a:t>
            </a:r>
            <a:endParaRPr lang="en-US" sz="1200" dirty="0"/>
          </a:p>
        </p:txBody>
      </p:sp>
      <p:sp>
        <p:nvSpPr>
          <p:cNvPr id="6" name="Shape 3"/>
          <p:cNvSpPr/>
          <p:nvPr/>
        </p:nvSpPr>
        <p:spPr>
          <a:xfrm>
            <a:off x="411480" y="1371600"/>
            <a:ext cx="4091940" cy="2377440"/>
          </a:xfrm>
          <a:prstGeom prst="roundRect">
            <a:avLst>
              <a:gd name="adj" fmla="val 3077"/>
            </a:avLst>
          </a:prstGeom>
          <a:solidFill>
            <a:srgbClr val="FFFFFF"/>
          </a:solidFill>
          <a:ln w="9525">
            <a:solidFill>
              <a:srgbClr val="DCE1E7"/>
            </a:solidFill>
            <a:prstDash val="solid"/>
          </a:ln>
        </p:spPr>
      </p:sp>
      <p:sp>
        <p:nvSpPr>
          <p:cNvPr id="7" name="Shape 4"/>
          <p:cNvSpPr/>
          <p:nvPr/>
        </p:nvSpPr>
        <p:spPr>
          <a:xfrm>
            <a:off x="59436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46652"/>
            <a:ext cx="199705" cy="199705"/>
          </a:xfrm>
          <a:prstGeom prst="rect">
            <a:avLst/>
          </a:prstGeom>
        </p:spPr>
      </p:pic>
      <p:sp>
        <p:nvSpPr>
          <p:cNvPr id="9" name="Text 5"/>
          <p:cNvSpPr txBox="1"/>
          <p:nvPr/>
        </p:nvSpPr>
        <p:spPr>
          <a:xfrm>
            <a:off x="10972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Yes, a specific date and time</a:t>
            </a:r>
            <a:endParaRPr lang="en-US" sz="1300" dirty="0"/>
          </a:p>
        </p:txBody>
      </p:sp>
      <p:sp>
        <p:nvSpPr>
          <p:cNvPr id="10" name="Text 6"/>
          <p:cNvSpPr txBox="1"/>
          <p:nvPr/>
        </p:nvSpPr>
        <p:spPr>
          <a:xfrm>
            <a:off x="5943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the job to that date and time in the CP Dashboard</a:t>
            </a:r>
            <a:endParaRPr lang="en-US" sz="1000" dirty="0"/>
          </a:p>
        </p:txBody>
      </p:sp>
      <p:sp>
        <p:nvSpPr>
          <p:cNvPr id="11" name="Shape 7"/>
          <p:cNvSpPr/>
          <p:nvPr/>
        </p:nvSpPr>
        <p:spPr>
          <a:xfrm>
            <a:off x="4640580" y="1371600"/>
            <a:ext cx="4091940" cy="2377440"/>
          </a:xfrm>
          <a:prstGeom prst="roundRect">
            <a:avLst>
              <a:gd name="adj" fmla="val 3077"/>
            </a:avLst>
          </a:prstGeom>
          <a:solidFill>
            <a:srgbClr val="FFFFFF"/>
          </a:solidFill>
          <a:ln w="9525">
            <a:solidFill>
              <a:srgbClr val="DCE1E7"/>
            </a:solidFill>
            <a:prstDash val="solid"/>
          </a:ln>
        </p:spPr>
      </p:sp>
      <p:sp>
        <p:nvSpPr>
          <p:cNvPr id="12" name="Shape 8"/>
          <p:cNvSpPr/>
          <p:nvPr/>
        </p:nvSpPr>
        <p:spPr>
          <a:xfrm>
            <a:off x="4823460" y="155448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46652"/>
            <a:ext cx="199705" cy="199705"/>
          </a:xfrm>
          <a:prstGeom prst="rect">
            <a:avLst/>
          </a:prstGeom>
        </p:spPr>
      </p:pic>
      <p:sp>
        <p:nvSpPr>
          <p:cNvPr id="14" name="Text 9"/>
          <p:cNvSpPr txBox="1"/>
          <p:nvPr/>
        </p:nvSpPr>
        <p:spPr>
          <a:xfrm>
            <a:off x="53263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specific date or time</a:t>
            </a:r>
            <a:endParaRPr lang="en-US" sz="1300" dirty="0"/>
          </a:p>
        </p:txBody>
      </p:sp>
      <p:sp>
        <p:nvSpPr>
          <p:cNvPr id="15" name="Text 10"/>
          <p:cNvSpPr txBox="1"/>
          <p:nvPr/>
        </p:nvSpPr>
        <p:spPr>
          <a:xfrm>
            <a:off x="48234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Under 72 hrs since end: message both with reschedule instructions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72+ hrs: waive the fee, cancel via C CRM &gt; Do with the reason for whoever asked to reschedule, and send the customer rebooking steps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Customer reasons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Pick the reason that matches what your investigation found.</a:t>
            </a:r>
            <a:endParaRPr lang="en-US" sz="1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2240280"/>
                <a:gridCol w="1920240"/>
                <a:gridCol w="2240280"/>
              </a:tblGrid>
              <a:tr h="43891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credit card failed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Card is invalid, can't be charged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moved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Moved or moving</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Failed pre-auth</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Still wants to cancel after the pre-auth is explained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schedule conflict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disputed charge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Disputed Homeaglow charges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change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Changing their recurring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price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Disagrees with the cost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Last job lockout /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Inactive, last job was a lockout or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wants one time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Doesn't want recurring cleanings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double-booked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Two cleanings under 7 days apart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doesn't want service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reason, or unreachable with an invalid address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wants 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Only wants their requested cleaner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Cleaner and other reasons</a:t>
            </a:r>
            <a:endParaRPr lang="en-US" sz="24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920240"/>
                <a:gridCol w="2240280"/>
                <a:gridCol w="1920240"/>
                <a:gridCol w="2240280"/>
              </a:tblGrid>
              <a:tr h="457200">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Quality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Previous cleaner didn't meet expectations (PCQ)</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Escalated safety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for a safety concern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no-show / reschedule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tried to reschedule, rescheduled without consent, or no comms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Homeaglow UI</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system or dashboard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cancellation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cancelled, no reschedule attempt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Voucher invalid move-out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Move-out clean, extra hours refused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No CP Claimed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cleaner claimed the job</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due to a 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the reason should match who initiated the cancellation and why.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66928" y="1417320"/>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10 OF 10</a:t>
            </a:r>
            <a:endParaRPr lang="en-US" sz="800" dirty="0"/>
          </a:p>
        </p:txBody>
      </p:sp>
      <p:sp>
        <p:nvSpPr>
          <p:cNvPr id="3" name="Text 1"/>
          <p:cNvSpPr txBox="1"/>
          <p:nvPr/>
        </p:nvSpPr>
        <p:spPr>
          <a:xfrm>
            <a:off x="566928" y="1645920"/>
            <a:ext cx="4389120" cy="6858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Knowledge Check</a:t>
            </a:r>
            <a:endParaRPr lang="en-US" sz="3000" dirty="0"/>
          </a:p>
        </p:txBody>
      </p:sp>
      <p:sp>
        <p:nvSpPr>
          <p:cNvPr id="4" name="Text 2"/>
          <p:cNvSpPr txBox="1"/>
          <p:nvPr/>
        </p:nvSpPr>
        <p:spPr>
          <a:xfrm>
            <a:off x="566928" y="2377440"/>
            <a:ext cx="4206240" cy="54864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Time to check what you've learned. Your trainer will explain the format.</a:t>
            </a:r>
            <a:endParaRPr lang="en-US" sz="1200" dirty="0"/>
          </a:p>
        </p:txBody>
      </p:sp>
      <p:sp>
        <p:nvSpPr>
          <p:cNvPr id="5" name="Shape 3"/>
          <p:cNvSpPr/>
          <p:nvPr/>
        </p:nvSpPr>
        <p:spPr>
          <a:xfrm>
            <a:off x="566928" y="3108960"/>
            <a:ext cx="4206240" cy="502920"/>
          </a:xfrm>
          <a:prstGeom prst="roundRect">
            <a:avLst>
              <a:gd name="adj" fmla="val 14545"/>
            </a:avLst>
          </a:prstGeom>
          <a:solidFill>
            <a:srgbClr val="FFF3D6"/>
          </a:solidFill>
          <a:ln w="9525">
            <a:solidFill>
              <a:srgbClr val="FFF3D6"/>
            </a:solidFill>
            <a:prstDash val="solid"/>
          </a:ln>
        </p:spPr>
      </p:sp>
      <p:pic>
        <p:nvPicPr>
          <p:cNvPr id="6" name="Image 0" descr="preencoded.png">    </p:cNvPr>
          <p:cNvPicPr>
            <a:picLocks noChangeAspect="1"/>
          </p:cNvPicPr>
          <p:nvPr/>
        </p:nvPicPr>
        <p:blipFill>
          <a:blip r:embed="rId1"/>
          <a:stretch>
            <a:fillRect/>
          </a:stretch>
        </p:blipFill>
        <p:spPr>
          <a:xfrm>
            <a:off x="731520" y="3273552"/>
            <a:ext cx="182880" cy="182880"/>
          </a:xfrm>
          <a:prstGeom prst="rect">
            <a:avLst/>
          </a:prstGeom>
        </p:spPr>
      </p:pic>
      <p:sp>
        <p:nvSpPr>
          <p:cNvPr id="7" name="Text 4"/>
          <p:cNvSpPr txBox="1"/>
          <p:nvPr/>
        </p:nvSpPr>
        <p:spPr>
          <a:xfrm>
            <a:off x="1005840" y="3200400"/>
            <a:ext cx="3657600" cy="32004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Trainer note:  </a:t>
            </a:r>
            <a:pPr indent="0" marL="0">
              <a:buNone/>
            </a:pPr>
            <a:r>
              <a:rPr lang="en-US" sz="1000" dirty="0">
                <a:solidFill>
                  <a:srgbClr val="1D1D1F"/>
                </a:solidFill>
                <a:latin typeface="SF Pro Text" pitchFamily="34" charset="0"/>
                <a:ea typeface="SF Pro Text" pitchFamily="34" charset="-122"/>
                <a:cs typeface="SF Pro Text" pitchFamily="34" charset="-120"/>
              </a:rPr>
              <a:t>format and questions set by the trainer.</a:t>
            </a:r>
            <a:endParaRPr lang="en-US" sz="1000" dirty="0"/>
          </a:p>
        </p:txBody>
      </p:sp>
      <p:sp>
        <p:nvSpPr>
          <p:cNvPr id="8" name="Shape 5"/>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9" name="Shape 6"/>
          <p:cNvSpPr/>
          <p:nvPr/>
        </p:nvSpPr>
        <p:spPr>
          <a:xfrm>
            <a:off x="5724144" y="1289304"/>
            <a:ext cx="2560320" cy="2560320"/>
          </a:xfrm>
          <a:prstGeom prst="ellipse">
            <a:avLst/>
          </a:prstGeom>
          <a:solidFill>
            <a:srgbClr val="FFFFFF"/>
          </a:solidFill>
          <a:ln w="12700">
            <a:solidFill>
              <a:srgbClr val="FFFFFF"/>
            </a:solidFill>
            <a:prstDash val="solid"/>
          </a:ln>
        </p:spPr>
      </p:sp>
      <p:pic>
        <p:nvPicPr>
          <p:cNvPr id="10" name="Image 1" descr="/tmp/claude-0/-workspace-training/3ce5cff6-cccf-5f33-b0ee-0b147a55120e/scratchpad/img2/ill10.png">    </p:cNvPr>
          <p:cNvPicPr>
            <a:picLocks noChangeAspect="1"/>
          </p:cNvPicPr>
          <p:nvPr/>
        </p:nvPicPr>
        <p:blipFill>
          <a:blip r:embed="rId2"/>
          <a:stretch>
            <a:fillRect/>
          </a:stretch>
        </p:blipFill>
        <p:spPr>
          <a:xfrm>
            <a:off x="5541264" y="1776984"/>
            <a:ext cx="2926080" cy="1584960"/>
          </a:xfrm>
          <a:prstGeom prst="rect">
            <a:avLst/>
          </a:prstGeom>
        </p:spPr>
      </p:pic>
      <p:sp>
        <p:nvSpPr>
          <p:cNvPr id="11" name="Shape 7"/>
          <p:cNvSpPr/>
          <p:nvPr/>
        </p:nvSpPr>
        <p:spPr>
          <a:xfrm>
            <a:off x="5522976" y="822960"/>
            <a:ext cx="329184" cy="329184"/>
          </a:xfrm>
          <a:prstGeom prst="ellipse">
            <a:avLst/>
          </a:prstGeom>
          <a:solidFill>
            <a:srgbClr val="FFFFFF"/>
          </a:solidFill>
          <a:ln w="12700">
            <a:solidFill>
              <a:srgbClr val="FFFFFF"/>
            </a:solidFill>
            <a:prstDash val="solid"/>
          </a:ln>
        </p:spPr>
      </p:sp>
      <p:sp>
        <p:nvSpPr>
          <p:cNvPr id="12" name="Shape 8"/>
          <p:cNvSpPr/>
          <p:nvPr/>
        </p:nvSpPr>
        <p:spPr>
          <a:xfrm>
            <a:off x="5646420" y="946404"/>
            <a:ext cx="82296" cy="82296"/>
          </a:xfrm>
          <a:prstGeom prst="ellipse">
            <a:avLst/>
          </a:prstGeom>
          <a:solidFill>
            <a:srgbClr val="0B7A6F"/>
          </a:solidFill>
          <a:ln w="12700">
            <a:solidFill>
              <a:srgbClr val="0B7A6F"/>
            </a:solidFill>
            <a:prstDash val="solid"/>
          </a:ln>
        </p:spPr>
      </p:sp>
      <p:sp>
        <p:nvSpPr>
          <p:cNvPr id="13" name="Shape 9"/>
          <p:cNvSpPr/>
          <p:nvPr/>
        </p:nvSpPr>
        <p:spPr>
          <a:xfrm>
            <a:off x="8193024" y="822960"/>
            <a:ext cx="329184" cy="329184"/>
          </a:xfrm>
          <a:prstGeom prst="ellipse">
            <a:avLst/>
          </a:prstGeom>
          <a:solidFill>
            <a:srgbClr val="FFFFFF"/>
          </a:solidFill>
          <a:ln w="12700">
            <a:solidFill>
              <a:srgbClr val="FFFFFF"/>
            </a:solidFill>
            <a:prstDash val="solid"/>
          </a:ln>
        </p:spPr>
      </p:sp>
      <p:sp>
        <p:nvSpPr>
          <p:cNvPr id="14" name="Shape 10"/>
          <p:cNvSpPr/>
          <p:nvPr/>
        </p:nvSpPr>
        <p:spPr>
          <a:xfrm>
            <a:off x="8316468" y="946404"/>
            <a:ext cx="82296" cy="82296"/>
          </a:xfrm>
          <a:prstGeom prst="ellipse">
            <a:avLst/>
          </a:prstGeom>
          <a:solidFill>
            <a:srgbClr val="0B7A6F"/>
          </a:solidFill>
          <a:ln w="12700">
            <a:solidFill>
              <a:srgbClr val="0B7A6F"/>
            </a:solidFill>
            <a:prstDash val="solid"/>
          </a:ln>
        </p:spPr>
      </p:sp>
      <p:sp>
        <p:nvSpPr>
          <p:cNvPr id="15" name="Shape 11"/>
          <p:cNvSpPr/>
          <p:nvPr/>
        </p:nvSpPr>
        <p:spPr>
          <a:xfrm>
            <a:off x="8193024" y="3986784"/>
            <a:ext cx="329184" cy="329184"/>
          </a:xfrm>
          <a:prstGeom prst="ellipse">
            <a:avLst/>
          </a:prstGeom>
          <a:solidFill>
            <a:srgbClr val="FFFFFF"/>
          </a:solidFill>
          <a:ln w="12700">
            <a:solidFill>
              <a:srgbClr val="FFFFFF"/>
            </a:solidFill>
            <a:prstDash val="solid"/>
          </a:ln>
        </p:spPr>
      </p:sp>
      <p:sp>
        <p:nvSpPr>
          <p:cNvPr id="16" name="Shape 12"/>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2/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Cleaner Foundations &amp; the CP CRM</dc:title>
  <dc:subject>PptxGenJS Presentation</dc:subject>
  <dc:creator>PptxGenJS</dc:creator>
  <cp:lastModifiedBy>PptxGenJS</cp:lastModifiedBy>
  <cp:revision>1</cp:revision>
  <dcterms:created xsi:type="dcterms:W3CDTF">2026-10-01T16:08:49Z</dcterms:created>
  <dcterms:modified xsi:type="dcterms:W3CDTF">2026-10-01T16:08:49Z</dcterms:modified>
</cp:coreProperties>
</file>