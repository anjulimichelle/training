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module covers the cleaner (CP) side of Homeaglow: the Cleaner Journey, the Legacy CP CRM and CP Dashboard, CP profile statuses, deactivation reasons, CP penalties on the C side, operating models, tiering, job statuses, and the Pending Invoice action guide. It ends with a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Topics 2 and 3 are live walkthroughs: the slides only set up what trainees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mirror image of the Customer Journey, from the CP's side. It explains things you'll see constantly in CP tickets: why a CP's status shows cpprofile_setpay or cpsignica instead of active, why a background check hasn't cleared even though the CP claimed a job days ago, or why a CP can't claim jobs despite finishing 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Explore information: cleaners learn about us through homeaglow.com/apply (job descriptions, benefits, how-to videos, dashboard walkthroughs), search engines (most common), testimonials, friends and family, or by contacting Support. Step 2 Submit job application (registration). Step 3 Claim and manage jobs: the CP moves from registered to actively working. Step 4 Background check: starts only after the CP claims their first job, so they are verified before their first appointment. Step 5 Complete the job and get paid through their chosen payment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go to homeaglow.com/apply and enter a zip code. Step 2: fill out details (name, email, address etc.). Step 3: take a short quiz about cleaning homes. Step 4: set up their profile: pay rate, coverage area, schedule, profile photo, SSN and pay details. Step 5: watch the welcome video, after which their profile is created and they can begin claiming jobs. Everything before the first claim is the registration phase; the key uncertainty is whether the CP will follow through and complete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 is normally quick, but two things commonly block a CP from claiming jobs: no pay details (debit cards and bank accounts are accepted) and no SSN (needed to run the background check, which protects customer safety). Once a CP claims their first job, we assume they are committed, intend to complete it and get paid, and could keep claiming. The background check (BGC) starts only after that first claim, not at registration, so the CP is verified before the first scheduled appointment. BGCs are a free benefit for CPs and a core reason customers trust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claimed job is completed: the CP processes payment based on their selected payment method; the customer gets email/SMS confirmation and is encouraged to leave a review and tip (optional); if there is a service concern such as quality, the customer may request a refund; the CP can issue a refund themselves, either in response to a request or proactively if they know they didn't fully meet expectations (some CPs do this to protect their review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Legacy CP CRM is where we manage CP (cleaner)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Legacy CP CRM is where we manage CP accounts. The screenshot is a preview with sample training details (Truffle Wuffle); the trainer will walk through the live system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Legacy CP CRM now. Do not demo from the slides. Suggested flow: open a CP account, show profile status and rate, the Flags table and status history, tier and keep rate, claimed and invoiced jobs, and the message thread. Adjust to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 Dashboard is the cleaner-facing side. Seeing it helps agents guide CPs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 Dashboard is where cleaners claim and manage their jobs and manage their account. The screenshot shows claimed jobs on a calendar, Steps to Success guides, and links to update rate and availability. Customer addresses are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CP Dashboard now. Suggested flow: claimable jobs, the claimed-jobs calendar, a job's details, Charge Client, updating rate and availability, and account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you coach or penalize a CP in a PCQ, Overcharged Hours or Reliability ticket, you are changing (or deciding not to change) their status. Understanding what each status does is what separates "I flagged the CP" from "I understood what that flag does to their ability to work." Status history is in the CP's Flags table: when it changed, to what, and the previous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full standing; can claim new jobs, keep upcoming claimed jobs, full dashboard. norequests: can't claim new jobs, keeps upcoming jobs and full dashboard. suspended: can't claim, removed from upcoming jobs, limited dashboard (can still see Completed Jobs to review past pay). norequests and suspended CPs can reactivate with a fee ($15-$25 by cohort) unless they have a do_not_reactivate flag or live in a CA/CAWA Operating Model state. Probation applies for the first jobs after joining and after reactivation from suspension. cp-opt-out: the CP chose not to be available (illness, moved, no longer cleaning); they can reactivate free via the dashboard or 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history: the Flags table on the CP's CRM page shows when a status changed, what it changed to, and the previous status (e.g. cp-step-active &gt; suspended). Changing a status: use the Change Step menu and pick the new status; norequests, suspended and cp-opt-out are grouped under one option. The trainer will show the exact clicks in the live CRM. Names and photo in the screenshots are sample training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Imported: was a Homejoy CP; info imported. cpintrovideo: hasn't finished the intro video. cpprofile_setpay: hasn't set hourly rate (CPs set their own rate; a $5/hr match fee may apply to first jobs with each client in General Operating Model states; CPs can update rate anytime). cpprofilebio: hasn't uploaded photo/bio. cpprofilesetuppayment: hasn't entered legal info for the BGC or payment info (they can temporarily skip payment details to see claimable jobs). cpsignica: hasn't accepted the Platform Access Agreement. cphowitworks: hasn't done the quiz, OR was active but hasn't accessed the dashboard in 30+ days (auto_update_inactive_cp_step flag), OR was active but has no photo (auto_update_bad_photo_cp_step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System-generated status changes. Keep rate: &lt;=80% (more than 20% cancellations) norequests; &lt;70% suspended; in probation &lt;100% suspended. No-shows: 2 in the last 5 jobs suspended; in probation any no-show suspended. Reviews (only OCW reviews): average &lt;4.0 across various counts, last 4 averaged 2.8, or last 6 averaged 3.0 norequests; in probation any 1- or 2-star review suspended. Reschedules: various calculations norequests. Serious risks (false invoices, theft, damage): 2 refund requests in last 10 jobs norequests; new CP 2 suspended. Cleaning supplies photo: rejected norequests, rejected 3+ suspended. Profile photo: same. BG check: info matches another CP suspended or norequests; same info as a fraud-flagged CP suspended; not clear suspended. Misc: CP rescheduled a job to before their account was created suspended. New CPs (0-2 invoiced jobs since their latest activation) are on probation with stricter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shows the CP's current status and rate, their review score, lifetime issues (damage, theft, false invoice, overcharged hours), and a Limit vs Actual table for the last 60 days (no-shows, reschedules, cancels, lockouts, last-minute cancels). Actual is issues divided by invoiced jobs. Use it with the flag history before deciding on a status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I were the customer, would I want this CP for my cleaning?" If no, norequests or suspended is likely appropriate after proper review. A new customer with a bad first job is 50% less likely to stay on the platform, so this protects retention as well as quality. Never change a CP's status without checking the reason or flag history first: a status change without context is how legitimate CPs get penalized for something that wasn't their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CP-facing deactivation reason is a specific reason code plus a templated sentence. The same code is stored as the value of the deactivation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change a CP's status to norequests or suspended, the reason shows on the CP's own dashboard and is stored in our database as the status flag's value, which is how we track deactivation patterns. Using the wrong code, or skipping the format, breaks both. Rule: always use the exact reason code format. Never write a freeform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CP-facing reason box ("Explain to CP in 1 sentence: Why was I deactivated? &amp; Call to Action"); the sample shows cpq_false_invoice. Middle: reference tables with templated wording by situation and codes to use (HGTA, 199, ssn_validation_failed, bgcheck_not_clear). Bottom: the three status buttons: norequests &amp; notify CP (no new jobs, keeps existing jobs and dashboard); suspended &amp; remove CP from claimed jobs (no new jobs, existing jobs or dashboard); cp-opt-out &amp; remove CP from claimed jobs (also stops system messages), with notify and do_not_reactivate checkboxes. The window also shows whether the CP is eligible for timed reactivation.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cpq_cash Cash Payment J 1234567 / cpq_cancel Your customer Joseph reported you cancelled their Monday Oct 9 job. Submit reactivation appeal through dashboard. / cpq_false_invoice Customer Mary reported incorrect hours charged. Submit reactivation appeal. / cpq_noshow Your customer Janis reported you didn't show up to their Monday Oct 9 job. Submit reactivation appeal through dashboard. / cpq_overcharge Customer Kyle reported incorrect hours charged. Submit reactivation appeal. / cpq_invalid_cancel Upon review, your customer cancellation report has been deemed invalid. Submit reactivation appeal through dashboard. / cpq_reschedule Your customer George reported you rescheduled their Monday Oct 9 job without permission. Submit reactivation appeal through dashboard. / HGTA 1234567. Rule: always use the exact reason code format; never write a freeform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covers what you do on the CP side when a customer reports a no-show, cancellation, false invoice, overcharged hours, missing supplies, rude behavior and similar issues. Category: Service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resolve the customer's issue using the related article for that issue. Then take the CP-side action: pause, coach, flag and document. You don't make the permanent decision about the CP, and you don't suspend CPs yourself: that belongs to the CP-side team, Trust &amp; Safety, or the system. You are seeing one incident, from one side; the CP-side team sees the CP's full history and hears the CP's side before deciding anything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norequests: the CP can't claim new jobs but keeps their upcoming claimed jobs. suspended: the CP is removed from every upcoming claimed job, and those customers are notified. Suspending over one complaint may cancel several other customers' cleanings. Example: a customer reports the CP arrived without supplies. The CP has four claimed jobs this week with other customers who had no problems. norequests stops new claims and lets those four customers keep their cleanings; suspending would cancel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CP-side action: norequests + coaching + the relevant flag + an internal note. C-side agents don't suspend a CP (except the false-invoice exception), add a DNR flag, permanently deactivate a CP, or reactivate a 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concern: theft, damage, threats, harassment, someone else doing jobs under the CP's account, or anything that makes the customer feel unsafe: route to Trust &amp; Safety and follow the T&amp;S process. System auto-suspended after your flag/report (e.g. no-show report, second cp_false_invoice on a new CP): leave it, don't override or downgrade; coach the CP, tell them about the penalty and how to appeal from their dashboard, add your internal note. First instance of a warning-level offense: coach only, no status change (false invoices are not warning-level). False invoice: norequests and ask the CP what happened, even when the customer says the CP never came (GPS alone can't confirm; CPs aren't required to turn it on). Multiple false invoices with an abusive pattern: you may set suspended; the only case a C-side agent sets suspended. Never add DNR.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this a safety issue? Yes: route to Trust &amp; Safety; you're done on the CP side. Step 2: Did the system already suspend the CP? Check the CP's Issues table after adding your flag or report. Yes: leave the status, send the coaching macro, add your note; you're done. Step 3: find the offense in the table and take the listed action. Step 4: coach the CP. Step 5: leave an internal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No-show or CP cancellation: report via Job Admin &gt; No Show, or cancel the job from the CP Dashboard when the CP should be penalized; either usually makes the system set norequests or suspended. Lean coaching; set norequests yourself only if the CP already has a couple of no-shows or cancellations. Overcharged hours: cp_overcharged_hours flag if the refund is 30+ minutes. Accepted cash: the macro adds accepting_cash_not_allowed_warning. Supplies (Gen Op): require_new_cleaning_supplies_photo sets norequests automatically. Easy to miss: unauthorized reschedule and accepted cash are coaching-only on the first instance; check message history and flags for a previous warning before pausing. Macros: No Show/Cancellation (No Request); Unauthorized Reschedule (Warning); False Invoice (With Penalty); Overcharged Hours series; Accepted Cash (Coaching) / (Warning + Account Adjustment); No/Incomplete Cleaning Supplies; Rude to Customer (Coaching).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Coaching message: explain specifically what was reported; tell the CP their account is paused (if you paused it) and how to appeal through their dashboard; do not hint at an outcome ("you'll probably be reactivated", "this could be permanent"). The CP-side team decides. Internal note: the CP-side team uses it to decide on reactivation; a clear note saves them from investigating again. Template: CP No Request — J &lt;JOB ID&gt; / Reported by C: &lt;what the customer said, one line&gt; / Evidence: &lt;what you verified: comms, GPS if available, CTJ, photos&gt; / Action: &lt;flag added&gt; / &lt;status set&gt; / &lt;macro sent&gt; / C-side resolution: &lt;refund, credits, rebook, etc.&gt;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wrong model and you are applying the wrong policy entirely: reactivation fees, supply requirements, hourly rates and cancellation penalties all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 CA-WA Operating Model: California, New Jersey, Illinois, Massachusetts, Washington. Users in this model have a banner next to their name on the CRM. General Operating Model: all other states; no banner. If no operating model banner is present, the user is in the General Operating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in the CA or CA-WA Operating Model have a banner next to their name on the CRM. No banner means the General Operating Model. The sample shows a CA Operating Model cleaner.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to day: if a CA/CAWA CP didn't bring cleaning supplies, coach but don't penalize, and don't apply the require_new_cleaning_supplies_photo flag. When calculating first-time-client pay, check the model: General CPs lose $5/hr on that job; CA/CAWA CPs don't. Whether a CP cancellation is penalized depends on the model and how much notice was given. CA/CAWA CPs must certify their business is registered and give the business name, except WA CPs, who register with the Department of Revenue and give a Universal Business 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CP Tiering is internal information only. Disclosing tier levels, tiering logic or how matching works to a CP or customer is a Zero Tolerance Policy violation.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Claimable jobs are first-come, first-served, so standing alone has little effect on who claims. Without tiering, customers could be matched with CPs with low reviews or poor reliability just because they claimed first. Tiering controls when CPs even see a job. It explains why a requested CP couldn't claim in time, or why a higher-tier CP swapped into a lower-tier CP's job. To check a CP's tier: click the Tier banner on CRM, or CP View &gt; CleanerTier for full Tier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CP's Tier banner on the CRM, or go to CP View &gt; CleanerTier, to see their full Tier History. Tiering is internal: never share it with a CP or customer (ZTP).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Requested CP: sees FC jobs once submitted; off-brand and claim limit follow their actual tier; protected from swaps at all times. Tier 10: FC jobs 48 hrs before start if requested CPs exist, otherwise once submitted; can't see off-brand; always protected; no limit. Tier 9: 48 hrs (requested) / 96 hrs (none); no off-brand; can't be swapped &lt;48 hrs; no limit. Tier 8: 36 / 72 hrs; off-brand 24 hrs before start; protected &lt;36 hrs; no limit. Tier 7: 24 / 48 hrs; off-brand once submitted; protected &lt;24 hrs; max 4. Tier 6: 24 / 36 hrs; max 3. Tier 5: 24 hrs if requested CPs exist; max 2. Tiers 4 and 3: same as Tier 5; max 2. Tiers 2 and 1: same; max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Requested CPs are set in Job Admin under job.customer.requested_cp. Swapping: higher-tier CPs can swap into a job claimed by a lower-tier CP if the job is more than 24-48 hours away (depending on tier). The customer sees they were matched with a different, usually better-suited cleaner; the swapped-out CP is told the customer cancelled. This framing is deliberate. Exception: a CP is protected if they have sent and received at least one non-system message with the customer in the past month. Swapping is internal: disclosing it is a ZTP violation.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complaint ("my cleaner never showed") is handled completely differently depending on whether the job is Submitted, was Claimed and abandoned, or is in Pending Invoice. Knowing the statuses means reading the account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path: Pending (right after the customer clicks Book; only visible via direct link) &gt; Submitted &gt; Claimed &gt; Pending Invoice &gt; Invoiced. Submitted, Claimed, Pending Invoice and Invoiced can each become Cancelled. Pending can also become Cancelled (e.g. an expired Handshake booking). Invoiced only becomes Cancelled through a full refund, not a direct status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page groups jobs into panels: Pending Invoice Jobs (past their scheduled time but not yet invoiced; a count badge shows how many), Claimed &amp; Submitted (upcoming jobs, either still waiting for a cleaner or already claimed), Completed Jobs (invoiced jobs, with type, hours requested vs invoiced, cleaner, rating and review; a Failed Charge tag shows a charge that didn't go through), and Cancelled Jobs. Each panel links to View all in admin and View job history in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can book: customers (dashboard), CPs for repeat clients (dashboard or the CP App Handshake feature, if the C has &lt;2 failed charges and no known_customer_fraud flag, the CP is active, under their claim limit, rate &lt;= $30 and no more than $5 above the C's last max requested rate, no deactivation flag, and they aren't banned), and CS via CRM. Bookings can be made up to 12 hours before start; within 48 hours a system priority fee applies (not for CRM bookings). If still unclaimed 24 hours before start, the system adds alternate start times (10 AM-2 PM that day and the next 2 days); add do_not_auto_add_alternate_start_times (C CRM &gt; Do) if the customer objects. can_substitute may flip to True if unclaimed &lt;=48 hrs before start and no requested CP can claim. A submitted job becomes a Priority Request within 24-48 hours of start: more notifications, and CPs with rates up to 14% above the C's previous max can claim. Common tickets: match anxiety, last-minute requests, gender preference (rematch &gt;6 hrs before), specific CP requests (only change Requested CPs if the customer explicitly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Match anxiety: the customer asks if their request has been claimed, or when it will be. A submitted job is automatically upgraded to a Priority Request within 24-48 hours of the start time. 2) Last-minute job request: CS may book cleaning requests as soon as 12 hours in advance. Priority markups do not apply to jobs booked via CRM. 3) Customer wants a cleaner of a specific gender: there is no option to select a gender, but customers may request to be rematched with another cleaner any time more than 6 hours before the job start time if they don't like the cleaner who claims. Preferences can also be added to the cleaning notes. 4) Customer wants a specific cleaner for an upcoming appointment: we can change the customer's Requested CPs through the Job Admin Page, only if they explicitly request it. TRAINER NOTE: walk trainees through how to change Requested CPs on the Job Admin Page. 5) Customer has a strict schedule and can only do certain dates/times: to increase the likelihood of the job being claimed, the system may automatically add alternate start times if the job is still unclaimed 24 hours before it starts. To stop this, add the flag: New CRM &gt; Flags &gt; + Add Flags &gt; do_not_auto_add_alternate_start_times.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can reschedule via dashboard 6+ hours before start (new bookings need 12+ hours; don't apply the 12-hour rule to a reschedule). A priority fee may apply if the new slot is &lt;48 hours away. Rematch: C Dashboard &gt; Manage Appointment &gt; Change My Cleaner, available until 6 hours before start. CP swapping can happen (internal). The CP can file a lockout (OCW: up to 24 hrs after start; CP App: 5 min before to 1 hr after start), reschedule (with the C's agreement, even after the job time passed), or cancel from their dashboard if no agreement. Reschedule may be unavailable if the C had 2+ undesired changes (CP reschedules, no-shows, system cancels) in the last 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Job is claimed at a different date than initially booked: check the job history to see if the job was claimed at an alternate date and time, or was rescheduled by the cleaner. 2) Customer reports they received confirmations from 2 different cleaners: check the job history to see if the first cleaner cancelled or was swapped out. Remember swapping is internal: never mention it to the customer. 3) Customer wants their cleaner changed: change the cleaner from the Job Admin Page. TRAINER NOTE: demo how to change the cleaner on the Job Admin Page. 4) Customer wants the appointment rescheduled: reschedule from the C Dashboard, or cancel and rebook from the CRM if rescheduling would result in a priority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status occurs after the cleaner completes the job and invoices by clicking Charge Client on their dashboard. Once invoiced, the customer can leave a review and tip, or request a refund if there is an issue (covered in a separate session). The cleaner can issue a refund and leave a review for the C via the CP App. An invoiced job becomes Cancelled once a full refund is issued.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can cancel via dashboard unless invoiced (a Last-Minute Cancellation fee may apply &lt;6 hrs before start). CPs can cancel via dashboard or CP App unless invoiced, but it may affect their Keep Rate; no penalty if they report an emergency, a safety concern, or that the client wants to cancel via the CP App. CS can cancel via C CRM &gt; Do &gt; Job &gt; Cancel: lets us waive LMC fees (job admin page) and doesn't penalize the CP. System cancels if unclaimed at 0, 12 or 24 hours before start, or if the C has a known_customer_fraud flag, no card on file, a declined pre-auth, requested CPs ineligible with can_substitute = False, or an unapproved Handshake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scheduled duration has elapsed from the start time and the CP hasn't invoiced, the job moves from Claimed to Pending Invoice. It can be invoiced by the CP (Charge Client) or the customer (reports "My cleaning was completed"). Changes are still possible: reschedule (CP only), cancel, edit details. The C can cancel (LMC fee may apply), edit duration and extras, update address, edit notes, and via Report an Issue: confirm completion, ask for ETA, cancel. The CP can edit duration before Charge Client but needs the C's permission to add hours; can review the C; can file a lockout (OCPW up to 24 hrs after start; CP App 5 min before to 1 hr after); can reschedule with the C's agreement or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customer has a Pending Invoice job, the Pending Invoice Jobs panel shows a count badge and lists the job with a PENDING_INVOICE status, date, type, hours and cleaner. CS must act on it even when it isn't the customer's stated concern; see the AG: Pending Invoice action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Guide: Pending Invoice. CS is required to take action on Pending Invoice jobs even when it isn't the customer's or cleaner's stated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 job on January 2 at 10 AM for 3 hours changes to Pending Invoice at 1 PM automatically. It may also mean the CP couldn't complete the cleaning and is coordinating a reschedule, the customer requested a cancellation that hasn't been processed, or the job was completed but not invoiced. That is why CS must act on Pending Invoice jobs even when it isn't the stated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review the C/CP comms and any C or CP messages to CS to identify whether the job was completed. Step 2: act on the evidence (next slide). Step 3: if evidence is insufficient, check whether 72 hours have passed since the job's end time. Yes: waive the cancellation fee so the C isn't charged, cancel with the appropriate reason, send C and/or CP comms. No: message the C to confirm whether the job was completed, and consider calling the C/CP. Even before 72 hours, you can cancel if comms clearly show the cleaning didn't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Completed: check whether the C messaged us confirming completion. If yes and the C confirmed a different duration: invoice in the CP Dashboard with the updated duration, tell the C we marked it completed, tell the CP we invoiced on their behalf with the duration, and coach the CP about leaving jobs pending. If yes and same duration: mark completed in the C dashboard (Select job &gt; Report an Issue &gt; My Cleaning was Completed). If the C hasn't confirmed: message the C to confirm the duration and the CP to invoice. Not completed: if the C initiated the cancellation, cancel from the C CRM. If the CP initiated, cancel from the CP dashboard to penalize the CP, or from the C CRM if no penalty should apply. Not sure: go to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specific date/time agreed: proactively reschedule the job to that date/time via the CP dashboard. No specific date/time: check whether 72 hours have passed since the job end time. Not yet: send C and CP comms about the pending job with reschedule instructions. Yes: waive the cancellation fee, cancel via C CRM &gt; Do with the reason that matches who initiated the reschedule, and tell the C the job was cancelled with rebooking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credit card failed: proactive, if we likely can't charge an invalid card. Failed pre-auth: explain the pre-auth first; cancel only if the C still wants to. Customer disputed credit card charge: proactive, if the C previously disputed Homeaglow charges. Customer price: disagrees with the cost. Customer wants one time: doesn't want a recurring schedule or only wanted a one-time. Customer doesn't want service: no reason given, membership-only reason, or invalid address with an unresponsive C after multiple attempts. Customer moved. Customer schedule: schedule conflict. Customer change frequency: changing RC frequency. Customer last job was lockout/LMC: proactive, inactive C with a prior LO/LMC. Customer double-booked: two cleanings on the same date or under 7 days apart. Customer wants requested CP: only wants their requested cleaner, who couldn't take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 quality: the C wants to cancel because the previous CP didn't meet expectations, or due to PCQ. CP no-show/reschedule: the CP needs to cancel but tried to reschedule; no C/CP comms and the C hasn't said why; or the CP rescheduled without consent. CP cancellation: CP-initiated with no reschedule attempts. No CP claimed: the C cancels because no cleaner claimed. Escalated safety issue. Homeaglow UI: system or dashboard issue. Voucher invalid move-out: job was a move-out clean and the C refused required extra hours. Natural disaster.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Recap: the cleaner journey, CP CRM and Dashboard, profile statuses, deactivation codes, operating models, tiering, job statuses and the Pending Invoice action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NOTE: The trainer decides the knowledge check format, questions and difficulty based on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9"/>
        </a:solidFill>
      </p:bgPr>
    </p:bg>
    <p:spTree>
      <p:nvGrpSpPr>
        <p:cNvPr id="1" name=""/>
        <p:cNvGrpSpPr/>
        <p:nvPr/>
      </p:nvGrpSpPr>
      <p:grpSpPr>
        <a:xfrm>
          <a:off x="0" y="0"/>
          <a:ext cx="0" cy="0"/>
          <a:chOff x="0" y="0"/>
          <a:chExt cx="0" cy="0"/>
        </a:xfrm>
      </p:grpSpPr>
      <p:sp>
        <p:nvSpPr>
          <p:cNvPr id="2" name="Text 0"/>
          <p:cNvSpPr/>
          <p:nvPr/>
        </p:nvSpPr>
        <p:spPr>
          <a:xfrm>
            <a:off x="438912" y="4800600"/>
            <a:ext cx="3657600" cy="182880"/>
          </a:xfrm>
          <a:prstGeom prst="rect">
            <a:avLst/>
          </a:prstGeom>
          <a:noFill/>
          <a:ln/>
        </p:spPr>
        <p:txBody>
          <a:bodyPr wrap="square" lIns="0" tIns="0" rIns="0" bIns="0" rtlCol="0" anchor="ctr"/>
          <a:lstStyle/>
          <a:p>
            <a:pPr indent="0" marL="0">
              <a:buNone/>
            </a:pPr>
            <a:r>
              <a:rPr lang="en-US" sz="700" dirty="0">
                <a:solidFill>
                  <a:srgbClr val="6E6E73"/>
                </a:solidFill>
                <a:latin typeface="SF Pro Text" pitchFamily="34" charset="0"/>
                <a:ea typeface="SF Pro Text" pitchFamily="34" charset="-122"/>
                <a:cs typeface="SF Pro Text" pitchFamily="34" charset="-120"/>
              </a:rPr>
              <a:t>Homeaglow  ·  New Hire Care Training</a:t>
            </a:r>
            <a:endParaRPr lang="en-US" sz="7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6F7F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slideLayout" Target="../slideLayouts/slideLayout2.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2.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2.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2.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2.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2.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2.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2.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2.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2.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slideLayout" Target="../slideLayouts/slideLayout2.xm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slideLayout" Target="../slideLayouts/slideLayout2.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2.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2.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2.xml"/><Relationship Id="rId4"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54864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HOMEAGLOW  ·  NEW HIRE CARE TRAINING</a:t>
            </a:r>
            <a:endParaRPr lang="en-US" sz="800" dirty="0"/>
          </a:p>
        </p:txBody>
      </p:sp>
      <p:sp>
        <p:nvSpPr>
          <p:cNvPr id="3" name="Text 1"/>
          <p:cNvSpPr txBox="1"/>
          <p:nvPr/>
        </p:nvSpPr>
        <p:spPr>
          <a:xfrm>
            <a:off x="566928" y="914400"/>
            <a:ext cx="4480560" cy="1463040"/>
          </a:xfrm>
          <a:prstGeom prst="rect">
            <a:avLst/>
          </a:prstGeom>
          <a:noFill/>
          <a:ln/>
        </p:spPr>
        <p:txBody>
          <a:bodyPr wrap="square" lIns="0" tIns="0" rIns="0" bIns="0" rtlCol="0" anchor="t"/>
          <a:lstStyle/>
          <a:p>
            <a:pPr indent="0" marL="0">
              <a:buNone/>
            </a:pPr>
            <a:r>
              <a:rPr lang="en-US" sz="3200" b="1" dirty="0">
                <a:solidFill>
                  <a:srgbClr val="1D1D1F"/>
                </a:solidFill>
                <a:latin typeface="SF Pro Display" pitchFamily="34" charset="0"/>
                <a:ea typeface="SF Pro Display" pitchFamily="34" charset="-122"/>
                <a:cs typeface="SF Pro Display" pitchFamily="34" charset="-120"/>
              </a:rPr>
              <a:t>Cleaner Foundations</a:t>
            </a:r>
            <a:endParaRPr lang="en-US" sz="3200" dirty="0"/>
          </a:p>
          <a:p>
            <a:pPr indent="0" marL="0">
              <a:buNone/>
            </a:pPr>
            <a:r>
              <a:rPr lang="en-US" sz="3200" b="1" dirty="0">
                <a:solidFill>
                  <a:srgbClr val="1D1D1F"/>
                </a:solidFill>
                <a:latin typeface="SF Pro Display" pitchFamily="34" charset="0"/>
                <a:ea typeface="SF Pro Display" pitchFamily="34" charset="-122"/>
                <a:cs typeface="SF Pro Display" pitchFamily="34" charset="-120"/>
              </a:rPr>
              <a:t>&amp; the CP CRM</a:t>
            </a:r>
            <a:endParaRPr lang="en-US" sz="3200" dirty="0"/>
          </a:p>
        </p:txBody>
      </p:sp>
      <p:sp>
        <p:nvSpPr>
          <p:cNvPr id="4" name="Text 2"/>
          <p:cNvSpPr txBox="1"/>
          <p:nvPr/>
        </p:nvSpPr>
        <p:spPr>
          <a:xfrm>
            <a:off x="566928" y="2468880"/>
            <a:ext cx="4206240" cy="640080"/>
          </a:xfrm>
          <a:prstGeom prst="rect">
            <a:avLst/>
          </a:prstGeom>
          <a:noFill/>
          <a:ln/>
        </p:spPr>
        <p:txBody>
          <a:bodyPr wrap="square" lIns="0" tIns="0" rIns="0" bIns="0" rtlCol="0" anchor="t"/>
          <a:lstStyle/>
          <a:p>
            <a:pPr indent="0" marL="0">
              <a:buNone/>
            </a:pPr>
            <a:r>
              <a:rPr lang="en-US" sz="1250" dirty="0">
                <a:solidFill>
                  <a:srgbClr val="6E6E73"/>
                </a:solidFill>
                <a:latin typeface="SF Pro Text" pitchFamily="34" charset="0"/>
                <a:ea typeface="SF Pro Text" pitchFamily="34" charset="-122"/>
                <a:cs typeface="SF Pro Text" pitchFamily="34" charset="-120"/>
              </a:rPr>
              <a:t>How cleaners join and work on Homeaglow, and the tools and rules we use to support them.</a:t>
            </a:r>
            <a:endParaRPr lang="en-US" sz="1250" dirty="0"/>
          </a:p>
        </p:txBody>
      </p:sp>
      <p:sp>
        <p:nvSpPr>
          <p:cNvPr id="5" name="Text 3"/>
          <p:cNvSpPr txBox="1"/>
          <p:nvPr/>
        </p:nvSpPr>
        <p:spPr>
          <a:xfrm>
            <a:off x="566928" y="4572000"/>
            <a:ext cx="2743200" cy="182880"/>
          </a:xfrm>
          <a:prstGeom prst="rect">
            <a:avLst/>
          </a:prstGeom>
          <a:noFill/>
          <a:ln/>
        </p:spPr>
        <p:txBody>
          <a:bodyPr wrap="square" lIns="0" tIns="0" rIns="0" bIns="0" rtlCol="0" anchor="t"/>
          <a:lstStyle/>
          <a:p>
            <a:pPr indent="0" marL="0">
              <a:buNone/>
            </a:pPr>
            <a:r>
              <a:rPr lang="en-US" sz="700" dirty="0">
                <a:solidFill>
                  <a:srgbClr val="6E6E73"/>
                </a:solidFill>
                <a:latin typeface="SF Pro Text" pitchFamily="34" charset="0"/>
                <a:ea typeface="SF Pro Text" pitchFamily="34" charset="-122"/>
                <a:cs typeface="SF Pro Text" pitchFamily="34" charset="-120"/>
              </a:rPr>
              <a:t>Internal training material</a:t>
            </a:r>
            <a:endParaRPr lang="en-US" sz="700" dirty="0"/>
          </a:p>
        </p:txBody>
      </p:sp>
      <p:sp>
        <p:nvSpPr>
          <p:cNvPr id="6" name="Shape 4"/>
          <p:cNvSpPr/>
          <p:nvPr/>
        </p:nvSpPr>
        <p:spPr>
          <a:xfrm>
            <a:off x="5312664" y="365760"/>
            <a:ext cx="3383280" cy="4407408"/>
          </a:xfrm>
          <a:prstGeom prst="roundRect">
            <a:avLst>
              <a:gd name="adj" fmla="val 2162"/>
            </a:avLst>
          </a:prstGeom>
          <a:solidFill>
            <a:srgbClr val="E3F4F1"/>
          </a:solidFill>
          <a:ln w="9525">
            <a:solidFill>
              <a:srgbClr val="E3F4F1"/>
            </a:solidFill>
            <a:prstDash val="solid"/>
          </a:ln>
        </p:spPr>
      </p:sp>
      <p:sp>
        <p:nvSpPr>
          <p:cNvPr id="7" name="Shape 5"/>
          <p:cNvSpPr/>
          <p:nvPr/>
        </p:nvSpPr>
        <p:spPr>
          <a:xfrm>
            <a:off x="5724144" y="1289304"/>
            <a:ext cx="2560320" cy="2560320"/>
          </a:xfrm>
          <a:prstGeom prst="ellipse">
            <a:avLst/>
          </a:prstGeom>
          <a:solidFill>
            <a:srgbClr val="FFFFFF"/>
          </a:solidFill>
          <a:ln w="12700">
            <a:solidFill>
              <a:srgbClr val="FFFFFF"/>
            </a:solidFill>
            <a:prstDash val="solid"/>
          </a:ln>
        </p:spPr>
      </p:sp>
      <p:pic>
        <p:nvPicPr>
          <p:cNvPr id="8" name="Image 0" descr="/tmp/claude-0/-workspace-training/3ce5cff6-cccf-5f33-b0ee-0b147a55120e/scratchpad/img2/ill7.png">    </p:cNvPr>
          <p:cNvPicPr>
            <a:picLocks noChangeAspect="1"/>
          </p:cNvPicPr>
          <p:nvPr/>
        </p:nvPicPr>
        <p:blipFill>
          <a:blip r:embed="rId1"/>
          <a:stretch>
            <a:fillRect/>
          </a:stretch>
        </p:blipFill>
        <p:spPr>
          <a:xfrm>
            <a:off x="5541264" y="1783080"/>
            <a:ext cx="2926080" cy="1572768"/>
          </a:xfrm>
          <a:prstGeom prst="rect">
            <a:avLst/>
          </a:prstGeom>
        </p:spPr>
      </p:pic>
      <p:sp>
        <p:nvSpPr>
          <p:cNvPr id="9" name="Shape 6"/>
          <p:cNvSpPr/>
          <p:nvPr/>
        </p:nvSpPr>
        <p:spPr>
          <a:xfrm>
            <a:off x="5522976" y="566928"/>
            <a:ext cx="329184" cy="329184"/>
          </a:xfrm>
          <a:prstGeom prst="ellipse">
            <a:avLst/>
          </a:prstGeom>
          <a:solidFill>
            <a:srgbClr val="FFFFFF"/>
          </a:solidFill>
          <a:ln w="12700">
            <a:solidFill>
              <a:srgbClr val="FFFFFF"/>
            </a:solidFill>
            <a:prstDash val="solid"/>
          </a:ln>
        </p:spPr>
      </p:sp>
      <p:sp>
        <p:nvSpPr>
          <p:cNvPr id="10" name="Shape 7"/>
          <p:cNvSpPr/>
          <p:nvPr/>
        </p:nvSpPr>
        <p:spPr>
          <a:xfrm>
            <a:off x="5646420" y="690372"/>
            <a:ext cx="82296" cy="82296"/>
          </a:xfrm>
          <a:prstGeom prst="ellipse">
            <a:avLst/>
          </a:prstGeom>
          <a:solidFill>
            <a:srgbClr val="0B7A6F"/>
          </a:solidFill>
          <a:ln w="12700">
            <a:solidFill>
              <a:srgbClr val="0B7A6F"/>
            </a:solidFill>
            <a:prstDash val="solid"/>
          </a:ln>
        </p:spPr>
      </p:sp>
      <p:sp>
        <p:nvSpPr>
          <p:cNvPr id="11" name="Shape 8"/>
          <p:cNvSpPr/>
          <p:nvPr/>
        </p:nvSpPr>
        <p:spPr>
          <a:xfrm>
            <a:off x="8193024" y="566928"/>
            <a:ext cx="329184" cy="329184"/>
          </a:xfrm>
          <a:prstGeom prst="ellipse">
            <a:avLst/>
          </a:prstGeom>
          <a:solidFill>
            <a:srgbClr val="FFFFFF"/>
          </a:solidFill>
          <a:ln w="12700">
            <a:solidFill>
              <a:srgbClr val="FFFFFF"/>
            </a:solidFill>
            <a:prstDash val="solid"/>
          </a:ln>
        </p:spPr>
      </p:sp>
      <p:sp>
        <p:nvSpPr>
          <p:cNvPr id="12" name="Shape 9"/>
          <p:cNvSpPr/>
          <p:nvPr/>
        </p:nvSpPr>
        <p:spPr>
          <a:xfrm>
            <a:off x="8316468" y="690372"/>
            <a:ext cx="82296" cy="82296"/>
          </a:xfrm>
          <a:prstGeom prst="ellipse">
            <a:avLst/>
          </a:prstGeom>
          <a:solidFill>
            <a:srgbClr val="0B7A6F"/>
          </a:solidFill>
          <a:ln w="12700">
            <a:solidFill>
              <a:srgbClr val="0B7A6F"/>
            </a:solidFill>
            <a:prstDash val="solid"/>
          </a:ln>
        </p:spPr>
      </p:sp>
      <p:sp>
        <p:nvSpPr>
          <p:cNvPr id="13" name="Shape 10"/>
          <p:cNvSpPr/>
          <p:nvPr/>
        </p:nvSpPr>
        <p:spPr>
          <a:xfrm>
            <a:off x="8193024" y="4242816"/>
            <a:ext cx="329184" cy="329184"/>
          </a:xfrm>
          <a:prstGeom prst="ellipse">
            <a:avLst/>
          </a:prstGeom>
          <a:solidFill>
            <a:srgbClr val="FFFFFF"/>
          </a:solidFill>
          <a:ln w="12700">
            <a:solidFill>
              <a:srgbClr val="FFFFFF"/>
            </a:solidFill>
            <a:prstDash val="solid"/>
          </a:ln>
        </p:spPr>
      </p:sp>
      <p:sp>
        <p:nvSpPr>
          <p:cNvPr id="14" name="Shape 11"/>
          <p:cNvSpPr/>
          <p:nvPr/>
        </p:nvSpPr>
        <p:spPr>
          <a:xfrm>
            <a:off x="8316468" y="4366260"/>
            <a:ext cx="82296" cy="82296"/>
          </a:xfrm>
          <a:prstGeom prst="ellipse">
            <a:avLst/>
          </a:prstGeom>
          <a:solidFill>
            <a:srgbClr val="0B7A6F"/>
          </a:solidFill>
          <a:ln w="12700">
            <a:solidFill>
              <a:srgbClr val="0B7A6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OVERVIEW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Agenda</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Eleven topics. Topics 2 and 3 happen mostly in the live systems.</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640080"/>
                <a:gridCol w="2743200"/>
                <a:gridCol w="4937760"/>
              </a:tblGrid>
              <a:tr h="265176">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a:t>
                      </a:r>
                      <a:endParaRPr lang="en-US" sz="9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Topic</a:t>
                      </a:r>
                      <a:endParaRPr lang="en-US" sz="9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You will learn</a:t>
                      </a:r>
                      <a:endParaRPr lang="en-US" sz="9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01</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Cleaner Journey</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How a cleaner goes from applying to getting paid</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02</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Legacy CP CRM</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Where we manage cleaner accounts</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03</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CP Dashboard</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What cleaners see and manage</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04</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CP Profile Status</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What each status lets a cleaner do</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05</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CP-Facing Deactivation</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reason codes cleaners see</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06</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CP Penalty: C-Side Handling</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What to do on the cleaner's side when a customer reports them</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07</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Operating Models</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Why location changes the rules</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08</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CP Tiering</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Who sees and claims jobs first</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09</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Job Statuses</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Submitted, Claimed, Invoiced, Cancelled, Pending Invoice</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10</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AG: Pending Invoice</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action guide and cancellation reason codes</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0B7A6F"/>
                          </a:solidFill>
                          <a:latin typeface="SF Pro Text" pitchFamily="34" charset="0"/>
                          <a:ea typeface="SF Pro Text" pitchFamily="34" charset="-122"/>
                          <a:cs typeface="SF Pro Text" pitchFamily="34" charset="-120"/>
                        </a:rPr>
                        <a:t>11</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Knowledge Check</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Set by your trainer</a:t>
                      </a:r>
                      <a:endParaRPr lang="en-US" sz="9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01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Cleaner Journey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path a cleaner takes, from first hearing about us to getting paid for their first job.</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cleaners find us and sign up</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blocks a cleaner from claiming</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the background check happens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happens after the first job</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2/ill7.png">    </p:cNvPr>
          <p:cNvPicPr>
            <a:picLocks noChangeAspect="1"/>
          </p:cNvPicPr>
          <p:nvPr/>
        </p:nvPicPr>
        <p:blipFill>
          <a:blip r:embed="rId5"/>
          <a:stretch>
            <a:fillRect/>
          </a:stretch>
        </p:blipFill>
        <p:spPr>
          <a:xfrm>
            <a:off x="5541264" y="1783080"/>
            <a:ext cx="2926080" cy="1572768"/>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JOURNEY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ideal cleaner journey</a:t>
            </a:r>
            <a:endParaRPr lang="en-US" sz="2400" dirty="0"/>
          </a:p>
        </p:txBody>
      </p:sp>
      <p:sp>
        <p:nvSpPr>
          <p:cNvPr id="5" name="Shape 2"/>
          <p:cNvSpPr/>
          <p:nvPr/>
        </p:nvSpPr>
        <p:spPr>
          <a:xfrm>
            <a:off x="411480" y="1051560"/>
            <a:ext cx="8321040" cy="3611880"/>
          </a:xfrm>
          <a:prstGeom prst="roundRect">
            <a:avLst>
              <a:gd name="adj" fmla="val 2025"/>
            </a:avLst>
          </a:prstGeom>
          <a:solidFill>
            <a:srgbClr val="FFFFFF"/>
          </a:solidFill>
          <a:ln w="9525">
            <a:solidFill>
              <a:srgbClr val="DCE1E7"/>
            </a:solidFill>
            <a:prstDash val="solid"/>
          </a:ln>
        </p:spPr>
      </p:sp>
      <p:pic>
        <p:nvPicPr>
          <p:cNvPr id="6" name="Image 0" descr="/tmp/claude-0/-workspace-training/3ce5cff6-cccf-5f33-b0ee-0b147a55120e/scratchpad/img2/info10.png">    </p:cNvPr>
          <p:cNvPicPr>
            <a:picLocks noChangeAspect="1"/>
          </p:cNvPicPr>
          <p:nvPr/>
        </p:nvPicPr>
        <p:blipFill>
          <a:blip r:embed="rId1"/>
          <a:stretch>
            <a:fillRect/>
          </a:stretch>
        </p:blipFill>
        <p:spPr>
          <a:xfrm>
            <a:off x="1932991" y="1143000"/>
            <a:ext cx="5278019" cy="3429000"/>
          </a:xfrm>
          <a:prstGeom prst="rect">
            <a:avLst/>
          </a:prstGeom>
        </p:spPr>
      </p:pic>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JOURNEY  ·  ONBOARDING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ideal onboarding process</a:t>
            </a:r>
            <a:endParaRPr lang="en-US" sz="2400" dirty="0"/>
          </a:p>
        </p:txBody>
      </p:sp>
      <p:sp>
        <p:nvSpPr>
          <p:cNvPr id="5" name="Shape 2"/>
          <p:cNvSpPr/>
          <p:nvPr/>
        </p:nvSpPr>
        <p:spPr>
          <a:xfrm>
            <a:off x="411480" y="1051560"/>
            <a:ext cx="8321040" cy="3611880"/>
          </a:xfrm>
          <a:prstGeom prst="roundRect">
            <a:avLst>
              <a:gd name="adj" fmla="val 2025"/>
            </a:avLst>
          </a:prstGeom>
          <a:solidFill>
            <a:srgbClr val="FFFFFF"/>
          </a:solidFill>
          <a:ln w="9525">
            <a:solidFill>
              <a:srgbClr val="DCE1E7"/>
            </a:solidFill>
            <a:prstDash val="solid"/>
          </a:ln>
        </p:spPr>
      </p:sp>
      <p:pic>
        <p:nvPicPr>
          <p:cNvPr id="6" name="Image 0" descr="/tmp/claude-0/-workspace-training/3ce5cff6-cccf-5f33-b0ee-0b147a55120e/scratchpad/img2/info11.png">    </p:cNvPr>
          <p:cNvPicPr>
            <a:picLocks noChangeAspect="1"/>
          </p:cNvPicPr>
          <p:nvPr/>
        </p:nvPicPr>
        <p:blipFill>
          <a:blip r:embed="rId1"/>
          <a:stretch>
            <a:fillRect/>
          </a:stretch>
        </p:blipFill>
        <p:spPr>
          <a:xfrm>
            <a:off x="1981040" y="1143000"/>
            <a:ext cx="5181920" cy="3429000"/>
          </a:xfrm>
          <a:prstGeom prst="rect">
            <a:avLst/>
          </a:prstGeom>
        </p:spPr>
      </p:pic>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JOURNEY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Before the first job</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Two things are required to claim jobs. The background check comes after the first claim.</a:t>
            </a:r>
            <a:endParaRPr lang="en-US" sz="1200" dirty="0"/>
          </a:p>
        </p:txBody>
      </p:sp>
      <p:sp>
        <p:nvSpPr>
          <p:cNvPr id="6" name="Shape 3"/>
          <p:cNvSpPr/>
          <p:nvPr/>
        </p:nvSpPr>
        <p:spPr>
          <a:xfrm>
            <a:off x="411480" y="1325880"/>
            <a:ext cx="5257800" cy="2194560"/>
          </a:xfrm>
          <a:prstGeom prst="roundRect">
            <a:avLst>
              <a:gd name="adj" fmla="val 3333"/>
            </a:avLst>
          </a:prstGeom>
          <a:solidFill>
            <a:srgbClr val="E3F4F1"/>
          </a:solidFill>
          <a:ln w="9525">
            <a:solidFill>
              <a:srgbClr val="E3F4F1"/>
            </a:solidFill>
            <a:prstDash val="solid"/>
          </a:ln>
        </p:spPr>
      </p:sp>
      <p:sp>
        <p:nvSpPr>
          <p:cNvPr id="7" name="Text 4"/>
          <p:cNvSpPr txBox="1"/>
          <p:nvPr/>
        </p:nvSpPr>
        <p:spPr>
          <a:xfrm>
            <a:off x="594360" y="146304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REQUIRED TO CLAIM JOBS</a:t>
            </a:r>
            <a:endParaRPr lang="en-US" sz="800" dirty="0"/>
          </a:p>
        </p:txBody>
      </p:sp>
      <p:sp>
        <p:nvSpPr>
          <p:cNvPr id="8" name="Shape 5"/>
          <p:cNvSpPr/>
          <p:nvPr/>
        </p:nvSpPr>
        <p:spPr>
          <a:xfrm>
            <a:off x="594360" y="1737360"/>
            <a:ext cx="2377440" cy="1600200"/>
          </a:xfrm>
          <a:prstGeom prst="roundRect">
            <a:avLst>
              <a:gd name="adj" fmla="val 4571"/>
            </a:avLst>
          </a:prstGeom>
          <a:solidFill>
            <a:srgbClr val="FFFFFF"/>
          </a:solidFill>
          <a:ln w="9525">
            <a:solidFill>
              <a:srgbClr val="DCE1E7"/>
            </a:solidFill>
            <a:prstDash val="solid"/>
          </a:ln>
        </p:spPr>
      </p:sp>
      <p:sp>
        <p:nvSpPr>
          <p:cNvPr id="9" name="Shape 6"/>
          <p:cNvSpPr/>
          <p:nvPr/>
        </p:nvSpPr>
        <p:spPr>
          <a:xfrm>
            <a:off x="758952" y="1901952"/>
            <a:ext cx="329184" cy="329184"/>
          </a:xfrm>
          <a:prstGeom prst="ellipse">
            <a:avLst/>
          </a:prstGeom>
          <a:solidFill>
            <a:srgbClr val="E3F4F1"/>
          </a:solidFill>
          <a:ln w="12700">
            <a:solidFill>
              <a:srgbClr val="E3F4F1"/>
            </a:solidFill>
            <a:prstDash val="solid"/>
          </a:ln>
        </p:spPr>
      </p:sp>
      <p:pic>
        <p:nvPicPr>
          <p:cNvPr id="10" name="Image 0" descr="preencoded.png">    </p:cNvPr>
          <p:cNvPicPr>
            <a:picLocks noChangeAspect="1"/>
          </p:cNvPicPr>
          <p:nvPr/>
        </p:nvPicPr>
        <p:blipFill>
          <a:blip r:embed="rId1"/>
          <a:stretch>
            <a:fillRect/>
          </a:stretch>
        </p:blipFill>
        <p:spPr>
          <a:xfrm>
            <a:off x="837956" y="1980956"/>
            <a:ext cx="171176" cy="171176"/>
          </a:xfrm>
          <a:prstGeom prst="rect">
            <a:avLst/>
          </a:prstGeom>
        </p:spPr>
      </p:pic>
      <p:sp>
        <p:nvSpPr>
          <p:cNvPr id="11" name="Text 7"/>
          <p:cNvSpPr txBox="1"/>
          <p:nvPr/>
        </p:nvSpPr>
        <p:spPr>
          <a:xfrm>
            <a:off x="758952" y="2340864"/>
            <a:ext cx="20482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Pay details</a:t>
            </a:r>
            <a:endParaRPr lang="en-US" sz="1200" dirty="0"/>
          </a:p>
        </p:txBody>
      </p:sp>
      <p:sp>
        <p:nvSpPr>
          <p:cNvPr id="12" name="Text 8"/>
          <p:cNvSpPr txBox="1"/>
          <p:nvPr/>
        </p:nvSpPr>
        <p:spPr>
          <a:xfrm>
            <a:off x="758952" y="2633472"/>
            <a:ext cx="20482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So the cleaner can get paid. Debit cards and bank accounts are accepted.</a:t>
            </a:r>
            <a:endParaRPr lang="en-US" sz="950" dirty="0"/>
          </a:p>
        </p:txBody>
      </p:sp>
      <p:sp>
        <p:nvSpPr>
          <p:cNvPr id="13" name="Shape 9"/>
          <p:cNvSpPr/>
          <p:nvPr/>
        </p:nvSpPr>
        <p:spPr>
          <a:xfrm>
            <a:off x="3108960" y="1737360"/>
            <a:ext cx="2377440" cy="1600200"/>
          </a:xfrm>
          <a:prstGeom prst="roundRect">
            <a:avLst>
              <a:gd name="adj" fmla="val 4571"/>
            </a:avLst>
          </a:prstGeom>
          <a:solidFill>
            <a:srgbClr val="FFFFFF"/>
          </a:solidFill>
          <a:ln w="9525">
            <a:solidFill>
              <a:srgbClr val="DCE1E7"/>
            </a:solidFill>
            <a:prstDash val="solid"/>
          </a:ln>
        </p:spPr>
      </p:sp>
      <p:sp>
        <p:nvSpPr>
          <p:cNvPr id="14" name="Shape 10"/>
          <p:cNvSpPr/>
          <p:nvPr/>
        </p:nvSpPr>
        <p:spPr>
          <a:xfrm>
            <a:off x="3273552" y="1901952"/>
            <a:ext cx="329184" cy="329184"/>
          </a:xfrm>
          <a:prstGeom prst="ellipse">
            <a:avLst/>
          </a:prstGeom>
          <a:solidFill>
            <a:srgbClr val="E3F4F1"/>
          </a:solidFill>
          <a:ln w="12700">
            <a:solidFill>
              <a:srgbClr val="E3F4F1"/>
            </a:solidFill>
            <a:prstDash val="solid"/>
          </a:ln>
        </p:spPr>
      </p:sp>
      <p:pic>
        <p:nvPicPr>
          <p:cNvPr id="15" name="Image 1" descr="preencoded.png">    </p:cNvPr>
          <p:cNvPicPr>
            <a:picLocks noChangeAspect="1"/>
          </p:cNvPicPr>
          <p:nvPr/>
        </p:nvPicPr>
        <p:blipFill>
          <a:blip r:embed="rId2"/>
          <a:stretch>
            <a:fillRect/>
          </a:stretch>
        </p:blipFill>
        <p:spPr>
          <a:xfrm>
            <a:off x="3352556" y="1980956"/>
            <a:ext cx="171176" cy="171176"/>
          </a:xfrm>
          <a:prstGeom prst="rect">
            <a:avLst/>
          </a:prstGeom>
        </p:spPr>
      </p:pic>
      <p:sp>
        <p:nvSpPr>
          <p:cNvPr id="16" name="Text 11"/>
          <p:cNvSpPr txBox="1"/>
          <p:nvPr/>
        </p:nvSpPr>
        <p:spPr>
          <a:xfrm>
            <a:off x="3273552" y="2340864"/>
            <a:ext cx="20482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SSN</a:t>
            </a:r>
            <a:endParaRPr lang="en-US" sz="1200" dirty="0"/>
          </a:p>
        </p:txBody>
      </p:sp>
      <p:sp>
        <p:nvSpPr>
          <p:cNvPr id="17" name="Text 12"/>
          <p:cNvSpPr txBox="1"/>
          <p:nvPr/>
        </p:nvSpPr>
        <p:spPr>
          <a:xfrm>
            <a:off x="3273552" y="2633472"/>
            <a:ext cx="20482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Needed to run the background check that keeps customers safe.</a:t>
            </a:r>
            <a:endParaRPr lang="en-US" sz="950" dirty="0"/>
          </a:p>
        </p:txBody>
      </p:sp>
      <p:pic>
        <p:nvPicPr>
          <p:cNvPr id="18" name="Image 2" descr="preencoded.png">    </p:cNvPr>
          <p:cNvPicPr>
            <a:picLocks noChangeAspect="1"/>
          </p:cNvPicPr>
          <p:nvPr/>
        </p:nvPicPr>
        <p:blipFill>
          <a:blip r:embed="rId3"/>
          <a:stretch>
            <a:fillRect/>
          </a:stretch>
        </p:blipFill>
        <p:spPr>
          <a:xfrm>
            <a:off x="5760720" y="2286000"/>
            <a:ext cx="320040" cy="320040"/>
          </a:xfrm>
          <a:prstGeom prst="rect">
            <a:avLst/>
          </a:prstGeom>
        </p:spPr>
      </p:pic>
      <p:sp>
        <p:nvSpPr>
          <p:cNvPr id="19" name="Shape 13"/>
          <p:cNvSpPr/>
          <p:nvPr/>
        </p:nvSpPr>
        <p:spPr>
          <a:xfrm>
            <a:off x="6172200" y="1325880"/>
            <a:ext cx="2560320" cy="2194560"/>
          </a:xfrm>
          <a:prstGeom prst="roundRect">
            <a:avLst>
              <a:gd name="adj" fmla="val 3333"/>
            </a:avLst>
          </a:prstGeom>
          <a:solidFill>
            <a:srgbClr val="FFFFFF"/>
          </a:solidFill>
          <a:ln w="9525">
            <a:solidFill>
              <a:srgbClr val="DCE1E7"/>
            </a:solidFill>
            <a:prstDash val="solid"/>
          </a:ln>
        </p:spPr>
      </p:sp>
      <p:sp>
        <p:nvSpPr>
          <p:cNvPr id="20" name="Text 14"/>
          <p:cNvSpPr txBox="1"/>
          <p:nvPr/>
        </p:nvSpPr>
        <p:spPr>
          <a:xfrm>
            <a:off x="6355080" y="1463040"/>
            <a:ext cx="2286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AFTER THE FIRST CLAIM</a:t>
            </a:r>
            <a:endParaRPr lang="en-US" sz="800" dirty="0"/>
          </a:p>
        </p:txBody>
      </p:sp>
      <p:sp>
        <p:nvSpPr>
          <p:cNvPr id="21" name="Shape 15"/>
          <p:cNvSpPr/>
          <p:nvPr/>
        </p:nvSpPr>
        <p:spPr>
          <a:xfrm>
            <a:off x="6355080" y="1783080"/>
            <a:ext cx="329184" cy="329184"/>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6434084" y="1862084"/>
            <a:ext cx="171176" cy="171176"/>
          </a:xfrm>
          <a:prstGeom prst="rect">
            <a:avLst/>
          </a:prstGeom>
        </p:spPr>
      </p:pic>
      <p:sp>
        <p:nvSpPr>
          <p:cNvPr id="23" name="Text 16"/>
          <p:cNvSpPr txBox="1"/>
          <p:nvPr/>
        </p:nvSpPr>
        <p:spPr>
          <a:xfrm>
            <a:off x="6355080" y="2221992"/>
            <a:ext cx="2240280"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Background check</a:t>
            </a:r>
            <a:endParaRPr lang="en-US" sz="1200" dirty="0"/>
          </a:p>
        </p:txBody>
      </p:sp>
      <p:sp>
        <p:nvSpPr>
          <p:cNvPr id="24" name="Text 17"/>
          <p:cNvSpPr txBox="1"/>
          <p:nvPr/>
        </p:nvSpPr>
        <p:spPr>
          <a:xfrm>
            <a:off x="6355080" y="2514600"/>
            <a:ext cx="2240280" cy="82296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Starts once the cleaner claims their first job, so they're verified before that job happens.</a:t>
            </a:r>
            <a:endParaRPr lang="en-US" sz="950" dirty="0"/>
          </a:p>
        </p:txBody>
      </p:sp>
      <p:sp>
        <p:nvSpPr>
          <p:cNvPr id="25" name="Shape 18"/>
          <p:cNvSpPr/>
          <p:nvPr/>
        </p:nvSpPr>
        <p:spPr>
          <a:xfrm>
            <a:off x="411480" y="3749040"/>
            <a:ext cx="8321040" cy="384048"/>
          </a:xfrm>
          <a:prstGeom prst="roundRect">
            <a:avLst>
              <a:gd name="adj" fmla="val 19048"/>
            </a:avLst>
          </a:prstGeom>
          <a:solidFill>
            <a:srgbClr val="FFF3D6"/>
          </a:solidFill>
          <a:ln w="9525">
            <a:solidFill>
              <a:srgbClr val="FFF3D6"/>
            </a:solidFill>
            <a:prstDash val="solid"/>
          </a:ln>
        </p:spPr>
      </p:sp>
      <p:pic>
        <p:nvPicPr>
          <p:cNvPr id="26" name="Image 4" descr="preencoded.png">    </p:cNvPr>
          <p:cNvPicPr>
            <a:picLocks noChangeAspect="1"/>
          </p:cNvPicPr>
          <p:nvPr/>
        </p:nvPicPr>
        <p:blipFill>
          <a:blip r:embed="rId5"/>
          <a:stretch>
            <a:fillRect/>
          </a:stretch>
        </p:blipFill>
        <p:spPr>
          <a:xfrm>
            <a:off x="566928" y="3858768"/>
            <a:ext cx="164592" cy="164592"/>
          </a:xfrm>
          <a:prstGeom prst="rect">
            <a:avLst/>
          </a:prstGeom>
        </p:spPr>
      </p:pic>
      <p:sp>
        <p:nvSpPr>
          <p:cNvPr id="27" name="Text 19"/>
          <p:cNvSpPr txBox="1"/>
          <p:nvPr/>
        </p:nvSpPr>
        <p:spPr>
          <a:xfrm>
            <a:off x="822960" y="38496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Why it matters:  </a:t>
            </a:r>
            <a:pPr indent="0" marL="0">
              <a:buNone/>
            </a:pPr>
            <a:r>
              <a:rPr lang="en-US" sz="1000" dirty="0">
                <a:solidFill>
                  <a:srgbClr val="1D1D1F"/>
                </a:solidFill>
                <a:latin typeface="SF Pro Text" pitchFamily="34" charset="0"/>
                <a:ea typeface="SF Pro Text" pitchFamily="34" charset="-122"/>
                <a:cs typeface="SF Pro Text" pitchFamily="34" charset="-120"/>
              </a:rPr>
              <a:t>a cleaner who "finished registering" but can't claim is usually missing pay details or an SSN.</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JOURNEY  ·  STEP 5</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After the job is complete</a:t>
            </a:r>
            <a:endParaRPr lang="en-US" sz="2400" dirty="0"/>
          </a:p>
        </p:txBody>
      </p:sp>
      <p:sp>
        <p:nvSpPr>
          <p:cNvPr id="5" name="Shape 2"/>
          <p:cNvSpPr/>
          <p:nvPr/>
        </p:nvSpPr>
        <p:spPr>
          <a:xfrm>
            <a:off x="411480" y="1280160"/>
            <a:ext cx="1977390" cy="1783080"/>
          </a:xfrm>
          <a:prstGeom prst="roundRect">
            <a:avLst>
              <a:gd name="adj" fmla="val 4103"/>
            </a:avLst>
          </a:prstGeom>
          <a:solidFill>
            <a:srgbClr val="FFFFFF"/>
          </a:solidFill>
          <a:ln w="9525">
            <a:solidFill>
              <a:srgbClr val="DCE1E7"/>
            </a:solidFill>
            <a:prstDash val="solid"/>
          </a:ln>
        </p:spPr>
      </p:sp>
      <p:sp>
        <p:nvSpPr>
          <p:cNvPr id="6" name="Shape 3"/>
          <p:cNvSpPr/>
          <p:nvPr/>
        </p:nvSpPr>
        <p:spPr>
          <a:xfrm>
            <a:off x="576072" y="1444752"/>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8" name="Text 4"/>
          <p:cNvSpPr txBox="1"/>
          <p:nvPr/>
        </p:nvSpPr>
        <p:spPr>
          <a:xfrm>
            <a:off x="57607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Cleaner gets paid</a:t>
            </a:r>
            <a:endParaRPr lang="en-US" sz="1200" dirty="0"/>
          </a:p>
        </p:txBody>
      </p:sp>
      <p:sp>
        <p:nvSpPr>
          <p:cNvPr id="9" name="Text 5"/>
          <p:cNvSpPr txBox="1"/>
          <p:nvPr/>
        </p:nvSpPr>
        <p:spPr>
          <a:xfrm>
            <a:off x="576072" y="2176272"/>
            <a:ext cx="164820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Through the payment method they chose.</a:t>
            </a:r>
            <a:endParaRPr lang="en-US" sz="950" dirty="0"/>
          </a:p>
        </p:txBody>
      </p:sp>
      <p:sp>
        <p:nvSpPr>
          <p:cNvPr id="10" name="Shape 6"/>
          <p:cNvSpPr/>
          <p:nvPr/>
        </p:nvSpPr>
        <p:spPr>
          <a:xfrm>
            <a:off x="2526030" y="1280160"/>
            <a:ext cx="1977390" cy="1783080"/>
          </a:xfrm>
          <a:prstGeom prst="roundRect">
            <a:avLst>
              <a:gd name="adj" fmla="val 4103"/>
            </a:avLst>
          </a:prstGeom>
          <a:solidFill>
            <a:srgbClr val="FFFFFF"/>
          </a:solidFill>
          <a:ln w="9525">
            <a:solidFill>
              <a:srgbClr val="DCE1E7"/>
            </a:solidFill>
            <a:prstDash val="solid"/>
          </a:ln>
        </p:spPr>
      </p:sp>
      <p:sp>
        <p:nvSpPr>
          <p:cNvPr id="11" name="Shape 7"/>
          <p:cNvSpPr/>
          <p:nvPr/>
        </p:nvSpPr>
        <p:spPr>
          <a:xfrm>
            <a:off x="2690622" y="1444752"/>
            <a:ext cx="329184" cy="329184"/>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2769626" y="1523756"/>
            <a:ext cx="171176" cy="171176"/>
          </a:xfrm>
          <a:prstGeom prst="rect">
            <a:avLst/>
          </a:prstGeom>
        </p:spPr>
      </p:pic>
      <p:sp>
        <p:nvSpPr>
          <p:cNvPr id="13" name="Text 8"/>
          <p:cNvSpPr txBox="1"/>
          <p:nvPr/>
        </p:nvSpPr>
        <p:spPr>
          <a:xfrm>
            <a:off x="269062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Review and tip</a:t>
            </a:r>
            <a:endParaRPr lang="en-US" sz="1200" dirty="0"/>
          </a:p>
        </p:txBody>
      </p:sp>
      <p:sp>
        <p:nvSpPr>
          <p:cNvPr id="14" name="Text 9"/>
          <p:cNvSpPr txBox="1"/>
          <p:nvPr/>
        </p:nvSpPr>
        <p:spPr>
          <a:xfrm>
            <a:off x="2690622" y="2176272"/>
            <a:ext cx="164820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customer gets a confirmation. Leaving a review and tip is optional.</a:t>
            </a:r>
            <a:endParaRPr lang="en-US" sz="950" dirty="0"/>
          </a:p>
        </p:txBody>
      </p:sp>
      <p:sp>
        <p:nvSpPr>
          <p:cNvPr id="15" name="Shape 10"/>
          <p:cNvSpPr/>
          <p:nvPr/>
        </p:nvSpPr>
        <p:spPr>
          <a:xfrm>
            <a:off x="4640580" y="1280160"/>
            <a:ext cx="1977390" cy="1783080"/>
          </a:xfrm>
          <a:prstGeom prst="roundRect">
            <a:avLst>
              <a:gd name="adj" fmla="val 4103"/>
            </a:avLst>
          </a:prstGeom>
          <a:solidFill>
            <a:srgbClr val="FFFFFF"/>
          </a:solidFill>
          <a:ln w="9525">
            <a:solidFill>
              <a:srgbClr val="DCE1E7"/>
            </a:solidFill>
            <a:prstDash val="solid"/>
          </a:ln>
        </p:spPr>
      </p:sp>
      <p:sp>
        <p:nvSpPr>
          <p:cNvPr id="16" name="Shape 11"/>
          <p:cNvSpPr/>
          <p:nvPr/>
        </p:nvSpPr>
        <p:spPr>
          <a:xfrm>
            <a:off x="4805172" y="1444752"/>
            <a:ext cx="329184" cy="329184"/>
          </a:xfrm>
          <a:prstGeom prst="ellipse">
            <a:avLst/>
          </a:prstGeom>
          <a:solidFill>
            <a:srgbClr val="E3F4F1"/>
          </a:solidFill>
          <a:ln w="12700">
            <a:solidFill>
              <a:srgbClr val="E3F4F1"/>
            </a:solidFill>
            <a:prstDash val="solid"/>
          </a:ln>
        </p:spPr>
      </p:sp>
      <p:pic>
        <p:nvPicPr>
          <p:cNvPr id="17" name="Image 2" descr="preencoded.png">    </p:cNvPr>
          <p:cNvPicPr>
            <a:picLocks noChangeAspect="1"/>
          </p:cNvPicPr>
          <p:nvPr/>
        </p:nvPicPr>
        <p:blipFill>
          <a:blip r:embed="rId3"/>
          <a:stretch>
            <a:fillRect/>
          </a:stretch>
        </p:blipFill>
        <p:spPr>
          <a:xfrm>
            <a:off x="4884176" y="1523756"/>
            <a:ext cx="171176" cy="171176"/>
          </a:xfrm>
          <a:prstGeom prst="rect">
            <a:avLst/>
          </a:prstGeom>
        </p:spPr>
      </p:pic>
      <p:sp>
        <p:nvSpPr>
          <p:cNvPr id="18" name="Text 12"/>
          <p:cNvSpPr txBox="1"/>
          <p:nvPr/>
        </p:nvSpPr>
        <p:spPr>
          <a:xfrm>
            <a:off x="480517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Refund requests</a:t>
            </a:r>
            <a:endParaRPr lang="en-US" sz="1200" dirty="0"/>
          </a:p>
        </p:txBody>
      </p:sp>
      <p:sp>
        <p:nvSpPr>
          <p:cNvPr id="19" name="Text 13"/>
          <p:cNvSpPr txBox="1"/>
          <p:nvPr/>
        </p:nvSpPr>
        <p:spPr>
          <a:xfrm>
            <a:off x="4805172" y="2176272"/>
            <a:ext cx="164820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If there's a service concern, the customer may ask for a refund.</a:t>
            </a:r>
            <a:endParaRPr lang="en-US" sz="950" dirty="0"/>
          </a:p>
        </p:txBody>
      </p:sp>
      <p:sp>
        <p:nvSpPr>
          <p:cNvPr id="20" name="Shape 14"/>
          <p:cNvSpPr/>
          <p:nvPr/>
        </p:nvSpPr>
        <p:spPr>
          <a:xfrm>
            <a:off x="6755130" y="1280160"/>
            <a:ext cx="1977390" cy="1783080"/>
          </a:xfrm>
          <a:prstGeom prst="roundRect">
            <a:avLst>
              <a:gd name="adj" fmla="val 4103"/>
            </a:avLst>
          </a:prstGeom>
          <a:solidFill>
            <a:srgbClr val="FFFFFF"/>
          </a:solidFill>
          <a:ln w="9525">
            <a:solidFill>
              <a:srgbClr val="DCE1E7"/>
            </a:solidFill>
            <a:prstDash val="solid"/>
          </a:ln>
        </p:spPr>
      </p:sp>
      <p:sp>
        <p:nvSpPr>
          <p:cNvPr id="21" name="Shape 15"/>
          <p:cNvSpPr/>
          <p:nvPr/>
        </p:nvSpPr>
        <p:spPr>
          <a:xfrm>
            <a:off x="6919722" y="1444752"/>
            <a:ext cx="329184" cy="329184"/>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6998726" y="1523756"/>
            <a:ext cx="171176" cy="171176"/>
          </a:xfrm>
          <a:prstGeom prst="rect">
            <a:avLst/>
          </a:prstGeom>
        </p:spPr>
      </p:pic>
      <p:sp>
        <p:nvSpPr>
          <p:cNvPr id="23" name="Text 16"/>
          <p:cNvSpPr txBox="1"/>
          <p:nvPr/>
        </p:nvSpPr>
        <p:spPr>
          <a:xfrm>
            <a:off x="691972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Cleaner refunds</a:t>
            </a:r>
            <a:endParaRPr lang="en-US" sz="1200" dirty="0"/>
          </a:p>
        </p:txBody>
      </p:sp>
      <p:sp>
        <p:nvSpPr>
          <p:cNvPr id="24" name="Text 17"/>
          <p:cNvSpPr txBox="1"/>
          <p:nvPr/>
        </p:nvSpPr>
        <p:spPr>
          <a:xfrm>
            <a:off x="6919722" y="2176272"/>
            <a:ext cx="164820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Cleaners can refund on request, or proactively.</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02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Introduction to CP CRM (Legacy)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Where we manage cleaners' (CPs') accounts.</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CP CRM is for</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you'll find on a CP's page</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 live walkthrough</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2/ill11.png">    </p:cNvPr>
          <p:cNvPicPr>
            <a:picLocks noChangeAspect="1"/>
          </p:cNvPicPr>
          <p:nvPr/>
        </p:nvPicPr>
        <p:blipFill>
          <a:blip r:embed="rId4"/>
          <a:stretch>
            <a:fillRect/>
          </a:stretch>
        </p:blipFill>
        <p:spPr>
          <a:xfrm>
            <a:off x="5795010" y="1517904"/>
            <a:ext cx="2418588" cy="2103120"/>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LEGACY CP CRM</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Where we manage cleaner accounts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Everything about a cleaner, in one place.</a:t>
            </a:r>
            <a:endParaRPr lang="en-US" sz="1200" dirty="0"/>
          </a:p>
        </p:txBody>
      </p:sp>
      <p:sp>
        <p:nvSpPr>
          <p:cNvPr id="6" name="Shape 3"/>
          <p:cNvSpPr/>
          <p:nvPr/>
        </p:nvSpPr>
        <p:spPr>
          <a:xfrm>
            <a:off x="411480" y="1371600"/>
            <a:ext cx="2743200" cy="457200"/>
          </a:xfrm>
          <a:prstGeom prst="roundRect">
            <a:avLst>
              <a:gd name="adj" fmla="val 16000"/>
            </a:avLst>
          </a:prstGeom>
          <a:solidFill>
            <a:srgbClr val="FFFFFF"/>
          </a:solidFill>
          <a:ln w="9525">
            <a:solidFill>
              <a:srgbClr val="DCE1E7"/>
            </a:solidFill>
            <a:prstDash val="solid"/>
          </a:ln>
        </p:spPr>
      </p:sp>
      <p:sp>
        <p:nvSpPr>
          <p:cNvPr id="7" name="Shape 4"/>
          <p:cNvSpPr/>
          <p:nvPr/>
        </p:nvSpPr>
        <p:spPr>
          <a:xfrm>
            <a:off x="521208" y="1453896"/>
            <a:ext cx="292608" cy="29260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591434" y="1524122"/>
            <a:ext cx="152156" cy="152156"/>
          </a:xfrm>
          <a:prstGeom prst="rect">
            <a:avLst/>
          </a:prstGeom>
        </p:spPr>
      </p:pic>
      <p:sp>
        <p:nvSpPr>
          <p:cNvPr id="9" name="Text 5"/>
          <p:cNvSpPr txBox="1"/>
          <p:nvPr/>
        </p:nvSpPr>
        <p:spPr>
          <a:xfrm>
            <a:off x="914400" y="1371600"/>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Profile, status and rate</a:t>
            </a:r>
            <a:endParaRPr lang="en-US" sz="1050" dirty="0"/>
          </a:p>
        </p:txBody>
      </p:sp>
      <p:sp>
        <p:nvSpPr>
          <p:cNvPr id="10" name="Shape 6"/>
          <p:cNvSpPr/>
          <p:nvPr/>
        </p:nvSpPr>
        <p:spPr>
          <a:xfrm>
            <a:off x="411480" y="1901952"/>
            <a:ext cx="2743200" cy="457200"/>
          </a:xfrm>
          <a:prstGeom prst="roundRect">
            <a:avLst>
              <a:gd name="adj" fmla="val 16000"/>
            </a:avLst>
          </a:prstGeom>
          <a:solidFill>
            <a:srgbClr val="FFFFFF"/>
          </a:solidFill>
          <a:ln w="9525">
            <a:solidFill>
              <a:srgbClr val="DCE1E7"/>
            </a:solidFill>
            <a:prstDash val="solid"/>
          </a:ln>
        </p:spPr>
      </p:sp>
      <p:sp>
        <p:nvSpPr>
          <p:cNvPr id="11" name="Shape 7"/>
          <p:cNvSpPr/>
          <p:nvPr/>
        </p:nvSpPr>
        <p:spPr>
          <a:xfrm>
            <a:off x="521208" y="1984248"/>
            <a:ext cx="292608" cy="29260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591434" y="2054474"/>
            <a:ext cx="152156" cy="152156"/>
          </a:xfrm>
          <a:prstGeom prst="rect">
            <a:avLst/>
          </a:prstGeom>
        </p:spPr>
      </p:pic>
      <p:sp>
        <p:nvSpPr>
          <p:cNvPr id="13" name="Text 8"/>
          <p:cNvSpPr txBox="1"/>
          <p:nvPr/>
        </p:nvSpPr>
        <p:spPr>
          <a:xfrm>
            <a:off x="914400" y="1901952"/>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Flags and status history</a:t>
            </a:r>
            <a:endParaRPr lang="en-US" sz="1050" dirty="0"/>
          </a:p>
        </p:txBody>
      </p:sp>
      <p:sp>
        <p:nvSpPr>
          <p:cNvPr id="14" name="Shape 9"/>
          <p:cNvSpPr/>
          <p:nvPr/>
        </p:nvSpPr>
        <p:spPr>
          <a:xfrm>
            <a:off x="411480" y="2432304"/>
            <a:ext cx="2743200" cy="457200"/>
          </a:xfrm>
          <a:prstGeom prst="roundRect">
            <a:avLst>
              <a:gd name="adj" fmla="val 16000"/>
            </a:avLst>
          </a:prstGeom>
          <a:solidFill>
            <a:srgbClr val="FFFFFF"/>
          </a:solidFill>
          <a:ln w="9525">
            <a:solidFill>
              <a:srgbClr val="DCE1E7"/>
            </a:solidFill>
            <a:prstDash val="solid"/>
          </a:ln>
        </p:spPr>
      </p:sp>
      <p:sp>
        <p:nvSpPr>
          <p:cNvPr id="15" name="Shape 10"/>
          <p:cNvSpPr/>
          <p:nvPr/>
        </p:nvSpPr>
        <p:spPr>
          <a:xfrm>
            <a:off x="521208" y="2514600"/>
            <a:ext cx="292608" cy="292608"/>
          </a:xfrm>
          <a:prstGeom prst="ellipse">
            <a:avLst/>
          </a:prstGeom>
          <a:solidFill>
            <a:srgbClr val="E3F4F1"/>
          </a:solidFill>
          <a:ln w="12700">
            <a:solidFill>
              <a:srgbClr val="E3F4F1"/>
            </a:solidFill>
            <a:prstDash val="solid"/>
          </a:ln>
        </p:spPr>
      </p:sp>
      <p:pic>
        <p:nvPicPr>
          <p:cNvPr id="16" name="Image 2" descr="preencoded.png">    </p:cNvPr>
          <p:cNvPicPr>
            <a:picLocks noChangeAspect="1"/>
          </p:cNvPicPr>
          <p:nvPr/>
        </p:nvPicPr>
        <p:blipFill>
          <a:blip r:embed="rId3"/>
          <a:stretch>
            <a:fillRect/>
          </a:stretch>
        </p:blipFill>
        <p:spPr>
          <a:xfrm>
            <a:off x="591434" y="2584826"/>
            <a:ext cx="152156" cy="152156"/>
          </a:xfrm>
          <a:prstGeom prst="rect">
            <a:avLst/>
          </a:prstGeom>
        </p:spPr>
      </p:pic>
      <p:sp>
        <p:nvSpPr>
          <p:cNvPr id="17" name="Text 11"/>
          <p:cNvSpPr txBox="1"/>
          <p:nvPr/>
        </p:nvSpPr>
        <p:spPr>
          <a:xfrm>
            <a:off x="914400" y="2432304"/>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Tier and keep rate</a:t>
            </a:r>
            <a:endParaRPr lang="en-US" sz="1050" dirty="0"/>
          </a:p>
        </p:txBody>
      </p:sp>
      <p:sp>
        <p:nvSpPr>
          <p:cNvPr id="18" name="Shape 12"/>
          <p:cNvSpPr/>
          <p:nvPr/>
        </p:nvSpPr>
        <p:spPr>
          <a:xfrm>
            <a:off x="411480" y="2962656"/>
            <a:ext cx="2743200" cy="457200"/>
          </a:xfrm>
          <a:prstGeom prst="roundRect">
            <a:avLst>
              <a:gd name="adj" fmla="val 16000"/>
            </a:avLst>
          </a:prstGeom>
          <a:solidFill>
            <a:srgbClr val="FFFFFF"/>
          </a:solidFill>
          <a:ln w="9525">
            <a:solidFill>
              <a:srgbClr val="DCE1E7"/>
            </a:solidFill>
            <a:prstDash val="solid"/>
          </a:ln>
        </p:spPr>
      </p:sp>
      <p:sp>
        <p:nvSpPr>
          <p:cNvPr id="19" name="Shape 13"/>
          <p:cNvSpPr/>
          <p:nvPr/>
        </p:nvSpPr>
        <p:spPr>
          <a:xfrm>
            <a:off x="521208" y="3044952"/>
            <a:ext cx="292608" cy="292608"/>
          </a:xfrm>
          <a:prstGeom prst="ellipse">
            <a:avLst/>
          </a:prstGeom>
          <a:solidFill>
            <a:srgbClr val="E3F4F1"/>
          </a:solidFill>
          <a:ln w="12700">
            <a:solidFill>
              <a:srgbClr val="E3F4F1"/>
            </a:solidFill>
            <a:prstDash val="solid"/>
          </a:ln>
        </p:spPr>
      </p:sp>
      <p:pic>
        <p:nvPicPr>
          <p:cNvPr id="20" name="Image 3" descr="preencoded.png">    </p:cNvPr>
          <p:cNvPicPr>
            <a:picLocks noChangeAspect="1"/>
          </p:cNvPicPr>
          <p:nvPr/>
        </p:nvPicPr>
        <p:blipFill>
          <a:blip r:embed="rId4"/>
          <a:stretch>
            <a:fillRect/>
          </a:stretch>
        </p:blipFill>
        <p:spPr>
          <a:xfrm>
            <a:off x="591434" y="3115178"/>
            <a:ext cx="152156" cy="152156"/>
          </a:xfrm>
          <a:prstGeom prst="rect">
            <a:avLst/>
          </a:prstGeom>
        </p:spPr>
      </p:pic>
      <p:sp>
        <p:nvSpPr>
          <p:cNvPr id="21" name="Text 14"/>
          <p:cNvSpPr txBox="1"/>
          <p:nvPr/>
        </p:nvSpPr>
        <p:spPr>
          <a:xfrm>
            <a:off x="914400" y="2962656"/>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Claimed and invoiced jobs</a:t>
            </a:r>
            <a:endParaRPr lang="en-US" sz="1050" dirty="0"/>
          </a:p>
        </p:txBody>
      </p:sp>
      <p:sp>
        <p:nvSpPr>
          <p:cNvPr id="22" name="Shape 15"/>
          <p:cNvSpPr/>
          <p:nvPr/>
        </p:nvSpPr>
        <p:spPr>
          <a:xfrm>
            <a:off x="411480" y="3493008"/>
            <a:ext cx="2743200" cy="457200"/>
          </a:xfrm>
          <a:prstGeom prst="roundRect">
            <a:avLst>
              <a:gd name="adj" fmla="val 16000"/>
            </a:avLst>
          </a:prstGeom>
          <a:solidFill>
            <a:srgbClr val="FFFFFF"/>
          </a:solidFill>
          <a:ln w="9525">
            <a:solidFill>
              <a:srgbClr val="DCE1E7"/>
            </a:solidFill>
            <a:prstDash val="solid"/>
          </a:ln>
        </p:spPr>
      </p:sp>
      <p:sp>
        <p:nvSpPr>
          <p:cNvPr id="23" name="Shape 16"/>
          <p:cNvSpPr/>
          <p:nvPr/>
        </p:nvSpPr>
        <p:spPr>
          <a:xfrm>
            <a:off x="521208" y="3575304"/>
            <a:ext cx="292608" cy="292608"/>
          </a:xfrm>
          <a:prstGeom prst="ellipse">
            <a:avLst/>
          </a:prstGeom>
          <a:solidFill>
            <a:srgbClr val="E3F4F1"/>
          </a:solidFill>
          <a:ln w="12700">
            <a:solidFill>
              <a:srgbClr val="E3F4F1"/>
            </a:solidFill>
            <a:prstDash val="solid"/>
          </a:ln>
        </p:spPr>
      </p:sp>
      <p:pic>
        <p:nvPicPr>
          <p:cNvPr id="24" name="Image 4" descr="preencoded.png">    </p:cNvPr>
          <p:cNvPicPr>
            <a:picLocks noChangeAspect="1"/>
          </p:cNvPicPr>
          <p:nvPr/>
        </p:nvPicPr>
        <p:blipFill>
          <a:blip r:embed="rId5"/>
          <a:stretch>
            <a:fillRect/>
          </a:stretch>
        </p:blipFill>
        <p:spPr>
          <a:xfrm>
            <a:off x="591434" y="3645530"/>
            <a:ext cx="152156" cy="152156"/>
          </a:xfrm>
          <a:prstGeom prst="rect">
            <a:avLst/>
          </a:prstGeom>
        </p:spPr>
      </p:pic>
      <p:sp>
        <p:nvSpPr>
          <p:cNvPr id="25" name="Text 17"/>
          <p:cNvSpPr txBox="1"/>
          <p:nvPr/>
        </p:nvSpPr>
        <p:spPr>
          <a:xfrm>
            <a:off x="914400" y="3493008"/>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Messages with C and CP</a:t>
            </a:r>
            <a:endParaRPr lang="en-US" sz="1050" dirty="0"/>
          </a:p>
        </p:txBody>
      </p:sp>
      <p:sp>
        <p:nvSpPr>
          <p:cNvPr id="26" name="Shape 18"/>
          <p:cNvSpPr/>
          <p:nvPr/>
        </p:nvSpPr>
        <p:spPr>
          <a:xfrm>
            <a:off x="3291840" y="1371600"/>
            <a:ext cx="5440680" cy="2880360"/>
          </a:xfrm>
          <a:prstGeom prst="roundRect">
            <a:avLst>
              <a:gd name="adj" fmla="val 2540"/>
            </a:avLst>
          </a:prstGeom>
          <a:solidFill>
            <a:srgbClr val="FFFFFF"/>
          </a:solidFill>
          <a:ln w="9525">
            <a:solidFill>
              <a:srgbClr val="DCE1E7"/>
            </a:solidFill>
            <a:prstDash val="solid"/>
          </a:ln>
        </p:spPr>
      </p:sp>
      <p:pic>
        <p:nvPicPr>
          <p:cNvPr id="27" name="Image 5" descr="/tmp/claude-0/-workspace-training/3ce5cff6-cccf-5f33-b0ee-0b147a55120e/scratchpad/img2/cpcrm.png">    </p:cNvPr>
          <p:cNvPicPr>
            <a:picLocks noChangeAspect="1"/>
          </p:cNvPicPr>
          <p:nvPr/>
        </p:nvPicPr>
        <p:blipFill>
          <a:blip r:embed="rId6"/>
          <a:stretch>
            <a:fillRect/>
          </a:stretch>
        </p:blipFill>
        <p:spPr>
          <a:xfrm>
            <a:off x="3462199" y="1463040"/>
            <a:ext cx="5099963" cy="2496312"/>
          </a:xfrm>
          <a:prstGeom prst="rect">
            <a:avLst/>
          </a:prstGeom>
        </p:spPr>
      </p:pic>
      <p:sp>
        <p:nvSpPr>
          <p:cNvPr id="28" name="Shape 19"/>
          <p:cNvSpPr/>
          <p:nvPr/>
        </p:nvSpPr>
        <p:spPr>
          <a:xfrm>
            <a:off x="3462199" y="1463040"/>
            <a:ext cx="5099963" cy="2496312"/>
          </a:xfrm>
          <a:prstGeom prst="rect">
            <a:avLst/>
          </a:prstGeom>
          <a:ln w="6350">
            <a:solidFill>
              <a:srgbClr val="DCE1E7"/>
            </a:solidFill>
            <a:prstDash val="solid"/>
          </a:ln>
        </p:spPr>
      </p:sp>
      <p:sp>
        <p:nvSpPr>
          <p:cNvPr id="29" name="Text 20"/>
          <p:cNvSpPr txBox="1"/>
          <p:nvPr/>
        </p:nvSpPr>
        <p:spPr>
          <a:xfrm>
            <a:off x="3383280" y="3977640"/>
            <a:ext cx="525780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Legacy CP CRM, preview only. Sample training details.</a:t>
            </a:r>
            <a:endParaRPr lang="en-US" sz="800" dirty="0"/>
          </a:p>
        </p:txBody>
      </p:sp>
      <p:sp>
        <p:nvSpPr>
          <p:cNvPr id="30" name="Shape 21"/>
          <p:cNvSpPr/>
          <p:nvPr/>
        </p:nvSpPr>
        <p:spPr>
          <a:xfrm>
            <a:off x="411480" y="4343400"/>
            <a:ext cx="8321040" cy="384048"/>
          </a:xfrm>
          <a:prstGeom prst="roundRect">
            <a:avLst>
              <a:gd name="adj" fmla="val 19048"/>
            </a:avLst>
          </a:prstGeom>
          <a:solidFill>
            <a:srgbClr val="FFF3D6"/>
          </a:solidFill>
          <a:ln w="9525">
            <a:solidFill>
              <a:srgbClr val="FFF3D6"/>
            </a:solidFill>
            <a:prstDash val="solid"/>
          </a:ln>
        </p:spPr>
      </p:sp>
      <p:pic>
        <p:nvPicPr>
          <p:cNvPr id="31" name="Image 6" descr="preencoded.png">    </p:cNvPr>
          <p:cNvPicPr>
            <a:picLocks noChangeAspect="1"/>
          </p:cNvPicPr>
          <p:nvPr/>
        </p:nvPicPr>
        <p:blipFill>
          <a:blip r:embed="rId7"/>
          <a:stretch>
            <a:fillRect/>
          </a:stretch>
        </p:blipFill>
        <p:spPr>
          <a:xfrm>
            <a:off x="566928" y="4453128"/>
            <a:ext cx="164592" cy="164592"/>
          </a:xfrm>
          <a:prstGeom prst="rect">
            <a:avLst/>
          </a:prstGeom>
        </p:spPr>
      </p:pic>
      <p:sp>
        <p:nvSpPr>
          <p:cNvPr id="32" name="Text 22"/>
          <p:cNvSpPr txBox="1"/>
          <p:nvPr/>
        </p:nvSpPr>
        <p:spPr>
          <a:xfrm>
            <a:off x="822960" y="44439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Remember:  </a:t>
            </a:r>
            <a:pPr indent="0" marL="0">
              <a:buNone/>
            </a:pPr>
            <a:r>
              <a:rPr lang="en-US" sz="1000" dirty="0">
                <a:solidFill>
                  <a:srgbClr val="1D1D1F"/>
                </a:solidFill>
                <a:latin typeface="SF Pro Text" pitchFamily="34" charset="0"/>
                <a:ea typeface="SF Pro Text" pitchFamily="34" charset="-122"/>
                <a:cs typeface="SF Pro Text" pitchFamily="34" charset="-120"/>
              </a:rPr>
              <a:t>tier levels and flags are internal. Never share them with a cleaner.</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LEGACY CP CRM</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Live walkthrough</a:t>
            </a:r>
            <a:endParaRPr lang="en-US" sz="2400" dirty="0"/>
          </a:p>
        </p:txBody>
      </p:sp>
      <p:sp>
        <p:nvSpPr>
          <p:cNvPr id="5" name="Shape 2"/>
          <p:cNvSpPr/>
          <p:nvPr/>
        </p:nvSpPr>
        <p:spPr>
          <a:xfrm>
            <a:off x="411480" y="1143000"/>
            <a:ext cx="8321040" cy="1920240"/>
          </a:xfrm>
          <a:prstGeom prst="roundRect">
            <a:avLst>
              <a:gd name="adj" fmla="val 3810"/>
            </a:avLst>
          </a:prstGeom>
          <a:solidFill>
            <a:srgbClr val="E3F4F1"/>
          </a:solidFill>
          <a:ln w="9525">
            <a:solidFill>
              <a:srgbClr val="E3F4F1"/>
            </a:solidFill>
            <a:prstDash val="solid"/>
          </a:ln>
        </p:spPr>
      </p:sp>
      <p:sp>
        <p:nvSpPr>
          <p:cNvPr id="6" name="Shape 3"/>
          <p:cNvSpPr/>
          <p:nvPr/>
        </p:nvSpPr>
        <p:spPr>
          <a:xfrm>
            <a:off x="731520" y="1463040"/>
            <a:ext cx="822960" cy="8229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29030" y="1660550"/>
            <a:ext cx="427939" cy="427939"/>
          </a:xfrm>
          <a:prstGeom prst="rect">
            <a:avLst/>
          </a:prstGeom>
        </p:spPr>
      </p:pic>
      <p:sp>
        <p:nvSpPr>
          <p:cNvPr id="8" name="Text 4"/>
          <p:cNvSpPr txBox="1"/>
          <p:nvPr/>
        </p:nvSpPr>
        <p:spPr>
          <a:xfrm>
            <a:off x="1828800" y="1463040"/>
            <a:ext cx="6400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TRAINER WALKTHROUGH</a:t>
            </a:r>
            <a:endParaRPr lang="en-US" sz="800" dirty="0"/>
          </a:p>
        </p:txBody>
      </p:sp>
      <p:sp>
        <p:nvSpPr>
          <p:cNvPr id="9" name="Text 5"/>
          <p:cNvSpPr txBox="1"/>
          <p:nvPr/>
        </p:nvSpPr>
        <p:spPr>
          <a:xfrm>
            <a:off x="1828800" y="1691640"/>
            <a:ext cx="6583680" cy="685800"/>
          </a:xfrm>
          <a:prstGeom prst="rect">
            <a:avLst/>
          </a:prstGeom>
          <a:noFill/>
          <a:ln/>
        </p:spPr>
        <p:txBody>
          <a:bodyPr wrap="square" lIns="0" tIns="0" rIns="0" bIns="0" rtlCol="0" anchor="t"/>
          <a:lstStyle/>
          <a:p>
            <a:pPr indent="0" marL="0">
              <a:buNone/>
            </a:pPr>
            <a:r>
              <a:rPr lang="en-US" sz="1700" b="1" dirty="0">
                <a:solidFill>
                  <a:srgbClr val="1D1D1F"/>
                </a:solidFill>
                <a:latin typeface="SF Pro Display" pitchFamily="34" charset="0"/>
                <a:ea typeface="SF Pro Display" pitchFamily="34" charset="-122"/>
                <a:cs typeface="SF Pro Display" pitchFamily="34" charset="-120"/>
              </a:rPr>
              <a:t>The trainer will open the live Legacy CP CRM and walk you through the actual system.</a:t>
            </a:r>
            <a:endParaRPr lang="en-US" sz="1700" dirty="0"/>
          </a:p>
        </p:txBody>
      </p:sp>
      <p:sp>
        <p:nvSpPr>
          <p:cNvPr id="10" name="Text 6"/>
          <p:cNvSpPr txBox="1"/>
          <p:nvPr/>
        </p:nvSpPr>
        <p:spPr>
          <a:xfrm>
            <a:off x="1828800" y="2468880"/>
            <a:ext cx="6400800" cy="228600"/>
          </a:xfrm>
          <a:prstGeom prst="rect">
            <a:avLst/>
          </a:prstGeom>
          <a:noFill/>
          <a:ln/>
        </p:spPr>
        <p:txBody>
          <a:bodyPr wrap="square" lIns="0" tIns="0" rIns="0" bIns="0" rtlCol="0" anchor="t"/>
          <a:lstStyle/>
          <a:p>
            <a:pPr indent="0" marL="0">
              <a:buNone/>
            </a:pPr>
            <a:r>
              <a:rPr lang="en-US" sz="1100" dirty="0">
                <a:solidFill>
                  <a:srgbClr val="6E6E73"/>
                </a:solidFill>
                <a:latin typeface="SF Pro Text" pitchFamily="34" charset="0"/>
                <a:ea typeface="SF Pro Text" pitchFamily="34" charset="-122"/>
                <a:cs typeface="SF Pro Text" pitchFamily="34" charset="-120"/>
              </a:rPr>
              <a:t>Follow along and note your questions.</a:t>
            </a:r>
            <a:endParaRPr lang="en-US" sz="1100" dirty="0"/>
          </a:p>
        </p:txBody>
      </p:sp>
      <p:sp>
        <p:nvSpPr>
          <p:cNvPr id="11" name="Text 7"/>
          <p:cNvSpPr txBox="1"/>
          <p:nvPr/>
        </p:nvSpPr>
        <p:spPr>
          <a:xfrm>
            <a:off x="438912" y="3291840"/>
            <a:ext cx="45720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AS YOU WATCH, LOOK FOR</a:t>
            </a:r>
            <a:endParaRPr lang="en-US" sz="800" dirty="0"/>
          </a:p>
        </p:txBody>
      </p:sp>
      <p:sp>
        <p:nvSpPr>
          <p:cNvPr id="12" name="Shape 8"/>
          <p:cNvSpPr/>
          <p:nvPr/>
        </p:nvSpPr>
        <p:spPr>
          <a:xfrm>
            <a:off x="411480" y="3547872"/>
            <a:ext cx="1977390" cy="566928"/>
          </a:xfrm>
          <a:prstGeom prst="roundRect">
            <a:avLst>
              <a:gd name="adj" fmla="val 12903"/>
            </a:avLst>
          </a:prstGeom>
          <a:solidFill>
            <a:srgbClr val="FFFFFF"/>
          </a:solidFill>
          <a:ln w="9525">
            <a:solidFill>
              <a:srgbClr val="DCE1E7"/>
            </a:solidFill>
            <a:prstDash val="solid"/>
          </a:ln>
        </p:spPr>
      </p:sp>
      <p:sp>
        <p:nvSpPr>
          <p:cNvPr id="13" name="Shape 9"/>
          <p:cNvSpPr/>
          <p:nvPr/>
        </p:nvSpPr>
        <p:spPr>
          <a:xfrm>
            <a:off x="539496" y="3675888"/>
            <a:ext cx="310896" cy="310896"/>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614111" y="3750503"/>
            <a:ext cx="161666" cy="161666"/>
          </a:xfrm>
          <a:prstGeom prst="rect">
            <a:avLst/>
          </a:prstGeom>
        </p:spPr>
      </p:pic>
      <p:sp>
        <p:nvSpPr>
          <p:cNvPr id="15" name="Text 10"/>
          <p:cNvSpPr txBox="1"/>
          <p:nvPr/>
        </p:nvSpPr>
        <p:spPr>
          <a:xfrm>
            <a:off x="9418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Profile and status</a:t>
            </a:r>
            <a:endParaRPr lang="en-US" sz="1000" dirty="0"/>
          </a:p>
        </p:txBody>
      </p:sp>
      <p:sp>
        <p:nvSpPr>
          <p:cNvPr id="16" name="Shape 11"/>
          <p:cNvSpPr/>
          <p:nvPr/>
        </p:nvSpPr>
        <p:spPr>
          <a:xfrm>
            <a:off x="2526030" y="3547872"/>
            <a:ext cx="1977390" cy="566928"/>
          </a:xfrm>
          <a:prstGeom prst="roundRect">
            <a:avLst>
              <a:gd name="adj" fmla="val 12903"/>
            </a:avLst>
          </a:prstGeom>
          <a:solidFill>
            <a:srgbClr val="FFFFFF"/>
          </a:solidFill>
          <a:ln w="9525">
            <a:solidFill>
              <a:srgbClr val="DCE1E7"/>
            </a:solidFill>
            <a:prstDash val="solid"/>
          </a:ln>
        </p:spPr>
      </p:sp>
      <p:sp>
        <p:nvSpPr>
          <p:cNvPr id="17" name="Shape 12"/>
          <p:cNvSpPr/>
          <p:nvPr/>
        </p:nvSpPr>
        <p:spPr>
          <a:xfrm>
            <a:off x="2654046" y="3675888"/>
            <a:ext cx="310896" cy="310896"/>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2728661" y="3750503"/>
            <a:ext cx="161666" cy="161666"/>
          </a:xfrm>
          <a:prstGeom prst="rect">
            <a:avLst/>
          </a:prstGeom>
        </p:spPr>
      </p:pic>
      <p:sp>
        <p:nvSpPr>
          <p:cNvPr id="19" name="Text 13"/>
          <p:cNvSpPr txBox="1"/>
          <p:nvPr/>
        </p:nvSpPr>
        <p:spPr>
          <a:xfrm>
            <a:off x="30563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Flags table</a:t>
            </a:r>
            <a:endParaRPr lang="en-US" sz="1000" dirty="0"/>
          </a:p>
        </p:txBody>
      </p:sp>
      <p:sp>
        <p:nvSpPr>
          <p:cNvPr id="20" name="Shape 14"/>
          <p:cNvSpPr/>
          <p:nvPr/>
        </p:nvSpPr>
        <p:spPr>
          <a:xfrm>
            <a:off x="4640580" y="3547872"/>
            <a:ext cx="1977390" cy="566928"/>
          </a:xfrm>
          <a:prstGeom prst="roundRect">
            <a:avLst>
              <a:gd name="adj" fmla="val 12903"/>
            </a:avLst>
          </a:prstGeom>
          <a:solidFill>
            <a:srgbClr val="FFFFFF"/>
          </a:solidFill>
          <a:ln w="9525">
            <a:solidFill>
              <a:srgbClr val="DCE1E7"/>
            </a:solidFill>
            <a:prstDash val="solid"/>
          </a:ln>
        </p:spPr>
      </p:sp>
      <p:sp>
        <p:nvSpPr>
          <p:cNvPr id="21" name="Shape 15"/>
          <p:cNvSpPr/>
          <p:nvPr/>
        </p:nvSpPr>
        <p:spPr>
          <a:xfrm>
            <a:off x="4768596" y="3675888"/>
            <a:ext cx="310896" cy="310896"/>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4843211" y="3750503"/>
            <a:ext cx="161666" cy="161666"/>
          </a:xfrm>
          <a:prstGeom prst="rect">
            <a:avLst/>
          </a:prstGeom>
        </p:spPr>
      </p:pic>
      <p:sp>
        <p:nvSpPr>
          <p:cNvPr id="23" name="Text 16"/>
          <p:cNvSpPr txBox="1"/>
          <p:nvPr/>
        </p:nvSpPr>
        <p:spPr>
          <a:xfrm>
            <a:off x="51709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Tier and keep rate</a:t>
            </a:r>
            <a:endParaRPr lang="en-US" sz="1000" dirty="0"/>
          </a:p>
        </p:txBody>
      </p:sp>
      <p:sp>
        <p:nvSpPr>
          <p:cNvPr id="24" name="Shape 17"/>
          <p:cNvSpPr/>
          <p:nvPr/>
        </p:nvSpPr>
        <p:spPr>
          <a:xfrm>
            <a:off x="6755130" y="3547872"/>
            <a:ext cx="1977390" cy="566928"/>
          </a:xfrm>
          <a:prstGeom prst="roundRect">
            <a:avLst>
              <a:gd name="adj" fmla="val 12903"/>
            </a:avLst>
          </a:prstGeom>
          <a:solidFill>
            <a:srgbClr val="FFFFFF"/>
          </a:solidFill>
          <a:ln w="9525">
            <a:solidFill>
              <a:srgbClr val="DCE1E7"/>
            </a:solidFill>
            <a:prstDash val="solid"/>
          </a:ln>
        </p:spPr>
      </p:sp>
      <p:sp>
        <p:nvSpPr>
          <p:cNvPr id="25" name="Shape 18"/>
          <p:cNvSpPr/>
          <p:nvPr/>
        </p:nvSpPr>
        <p:spPr>
          <a:xfrm>
            <a:off x="6883146" y="3675888"/>
            <a:ext cx="310896" cy="310896"/>
          </a:xfrm>
          <a:prstGeom prst="ellipse">
            <a:avLst/>
          </a:prstGeom>
          <a:solidFill>
            <a:srgbClr val="E3F4F1"/>
          </a:solidFill>
          <a:ln w="12700">
            <a:solidFill>
              <a:srgbClr val="E3F4F1"/>
            </a:solidFill>
            <a:prstDash val="solid"/>
          </a:ln>
        </p:spPr>
      </p:sp>
      <p:pic>
        <p:nvPicPr>
          <p:cNvPr id="26" name="Image 4" descr="preencoded.png">    </p:cNvPr>
          <p:cNvPicPr>
            <a:picLocks noChangeAspect="1"/>
          </p:cNvPicPr>
          <p:nvPr/>
        </p:nvPicPr>
        <p:blipFill>
          <a:blip r:embed="rId5"/>
          <a:stretch>
            <a:fillRect/>
          </a:stretch>
        </p:blipFill>
        <p:spPr>
          <a:xfrm>
            <a:off x="6957761" y="3750503"/>
            <a:ext cx="161666" cy="161666"/>
          </a:xfrm>
          <a:prstGeom prst="rect">
            <a:avLst/>
          </a:prstGeom>
        </p:spPr>
      </p:pic>
      <p:sp>
        <p:nvSpPr>
          <p:cNvPr id="27" name="Text 19"/>
          <p:cNvSpPr txBox="1"/>
          <p:nvPr/>
        </p:nvSpPr>
        <p:spPr>
          <a:xfrm>
            <a:off x="72854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Messages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03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Introduction to CP Dashboard</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Where cleaners claim and manage their jobs, and manage their account.</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cleaner sees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Claiming and managing jobs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 live walkthrough</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2/ill22.png">    </p:cNvPr>
          <p:cNvPicPr>
            <a:picLocks noChangeAspect="1"/>
          </p:cNvPicPr>
          <p:nvPr/>
        </p:nvPicPr>
        <p:blipFill>
          <a:blip r:embed="rId4"/>
          <a:stretch>
            <a:fillRect/>
          </a:stretch>
        </p:blipFill>
        <p:spPr>
          <a:xfrm>
            <a:off x="5717320" y="1517904"/>
            <a:ext cx="2573968" cy="2103120"/>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DASHBOARD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cleaner's side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Where cleaners claim and manage their jobs, and manage their account.</a:t>
            </a:r>
            <a:endParaRPr lang="en-US" sz="1200" dirty="0"/>
          </a:p>
        </p:txBody>
      </p:sp>
      <p:sp>
        <p:nvSpPr>
          <p:cNvPr id="6" name="Shape 3"/>
          <p:cNvSpPr/>
          <p:nvPr/>
        </p:nvSpPr>
        <p:spPr>
          <a:xfrm>
            <a:off x="411480" y="1371600"/>
            <a:ext cx="2743200" cy="457200"/>
          </a:xfrm>
          <a:prstGeom prst="roundRect">
            <a:avLst>
              <a:gd name="adj" fmla="val 16000"/>
            </a:avLst>
          </a:prstGeom>
          <a:solidFill>
            <a:srgbClr val="FFFFFF"/>
          </a:solidFill>
          <a:ln w="9525">
            <a:solidFill>
              <a:srgbClr val="DCE1E7"/>
            </a:solidFill>
            <a:prstDash val="solid"/>
          </a:ln>
        </p:spPr>
      </p:sp>
      <p:sp>
        <p:nvSpPr>
          <p:cNvPr id="7" name="Shape 4"/>
          <p:cNvSpPr/>
          <p:nvPr/>
        </p:nvSpPr>
        <p:spPr>
          <a:xfrm>
            <a:off x="521208" y="1453896"/>
            <a:ext cx="292608" cy="29260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591434" y="1524122"/>
            <a:ext cx="152156" cy="152156"/>
          </a:xfrm>
          <a:prstGeom prst="rect">
            <a:avLst/>
          </a:prstGeom>
        </p:spPr>
      </p:pic>
      <p:sp>
        <p:nvSpPr>
          <p:cNvPr id="9" name="Text 5"/>
          <p:cNvSpPr txBox="1"/>
          <p:nvPr/>
        </p:nvSpPr>
        <p:spPr>
          <a:xfrm>
            <a:off x="914400" y="1371600"/>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Claim new jobs</a:t>
            </a:r>
            <a:endParaRPr lang="en-US" sz="1050" dirty="0"/>
          </a:p>
        </p:txBody>
      </p:sp>
      <p:sp>
        <p:nvSpPr>
          <p:cNvPr id="10" name="Shape 6"/>
          <p:cNvSpPr/>
          <p:nvPr/>
        </p:nvSpPr>
        <p:spPr>
          <a:xfrm>
            <a:off x="411480" y="1901952"/>
            <a:ext cx="2743200" cy="457200"/>
          </a:xfrm>
          <a:prstGeom prst="roundRect">
            <a:avLst>
              <a:gd name="adj" fmla="val 16000"/>
            </a:avLst>
          </a:prstGeom>
          <a:solidFill>
            <a:srgbClr val="FFFFFF"/>
          </a:solidFill>
          <a:ln w="9525">
            <a:solidFill>
              <a:srgbClr val="DCE1E7"/>
            </a:solidFill>
            <a:prstDash val="solid"/>
          </a:ln>
        </p:spPr>
      </p:sp>
      <p:sp>
        <p:nvSpPr>
          <p:cNvPr id="11" name="Shape 7"/>
          <p:cNvSpPr/>
          <p:nvPr/>
        </p:nvSpPr>
        <p:spPr>
          <a:xfrm>
            <a:off x="521208" y="1984248"/>
            <a:ext cx="292608" cy="29260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591434" y="2054474"/>
            <a:ext cx="152156" cy="152156"/>
          </a:xfrm>
          <a:prstGeom prst="rect">
            <a:avLst/>
          </a:prstGeom>
        </p:spPr>
      </p:pic>
      <p:sp>
        <p:nvSpPr>
          <p:cNvPr id="13" name="Text 8"/>
          <p:cNvSpPr txBox="1"/>
          <p:nvPr/>
        </p:nvSpPr>
        <p:spPr>
          <a:xfrm>
            <a:off x="914400" y="1901952"/>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Manage claimed jobs</a:t>
            </a:r>
            <a:endParaRPr lang="en-US" sz="1050" dirty="0"/>
          </a:p>
        </p:txBody>
      </p:sp>
      <p:sp>
        <p:nvSpPr>
          <p:cNvPr id="14" name="Shape 9"/>
          <p:cNvSpPr/>
          <p:nvPr/>
        </p:nvSpPr>
        <p:spPr>
          <a:xfrm>
            <a:off x="411480" y="2432304"/>
            <a:ext cx="2743200" cy="457200"/>
          </a:xfrm>
          <a:prstGeom prst="roundRect">
            <a:avLst>
              <a:gd name="adj" fmla="val 16000"/>
            </a:avLst>
          </a:prstGeom>
          <a:solidFill>
            <a:srgbClr val="FFFFFF"/>
          </a:solidFill>
          <a:ln w="9525">
            <a:solidFill>
              <a:srgbClr val="DCE1E7"/>
            </a:solidFill>
            <a:prstDash val="solid"/>
          </a:ln>
        </p:spPr>
      </p:sp>
      <p:sp>
        <p:nvSpPr>
          <p:cNvPr id="15" name="Shape 10"/>
          <p:cNvSpPr/>
          <p:nvPr/>
        </p:nvSpPr>
        <p:spPr>
          <a:xfrm>
            <a:off x="521208" y="2514600"/>
            <a:ext cx="292608" cy="292608"/>
          </a:xfrm>
          <a:prstGeom prst="ellipse">
            <a:avLst/>
          </a:prstGeom>
          <a:solidFill>
            <a:srgbClr val="E3F4F1"/>
          </a:solidFill>
          <a:ln w="12700">
            <a:solidFill>
              <a:srgbClr val="E3F4F1"/>
            </a:solidFill>
            <a:prstDash val="solid"/>
          </a:ln>
        </p:spPr>
      </p:sp>
      <p:pic>
        <p:nvPicPr>
          <p:cNvPr id="16" name="Image 2" descr="preencoded.png">    </p:cNvPr>
          <p:cNvPicPr>
            <a:picLocks noChangeAspect="1"/>
          </p:cNvPicPr>
          <p:nvPr/>
        </p:nvPicPr>
        <p:blipFill>
          <a:blip r:embed="rId3"/>
          <a:stretch>
            <a:fillRect/>
          </a:stretch>
        </p:blipFill>
        <p:spPr>
          <a:xfrm>
            <a:off x="591434" y="2584826"/>
            <a:ext cx="152156" cy="152156"/>
          </a:xfrm>
          <a:prstGeom prst="rect">
            <a:avLst/>
          </a:prstGeom>
        </p:spPr>
      </p:pic>
      <p:sp>
        <p:nvSpPr>
          <p:cNvPr id="17" name="Text 11"/>
          <p:cNvSpPr txBox="1"/>
          <p:nvPr/>
        </p:nvSpPr>
        <p:spPr>
          <a:xfrm>
            <a:off x="914400" y="2432304"/>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Update rate &amp; availability</a:t>
            </a:r>
            <a:endParaRPr lang="en-US" sz="1050" dirty="0"/>
          </a:p>
        </p:txBody>
      </p:sp>
      <p:sp>
        <p:nvSpPr>
          <p:cNvPr id="18" name="Shape 12"/>
          <p:cNvSpPr/>
          <p:nvPr/>
        </p:nvSpPr>
        <p:spPr>
          <a:xfrm>
            <a:off x="411480" y="2962656"/>
            <a:ext cx="2743200" cy="457200"/>
          </a:xfrm>
          <a:prstGeom prst="roundRect">
            <a:avLst>
              <a:gd name="adj" fmla="val 16000"/>
            </a:avLst>
          </a:prstGeom>
          <a:solidFill>
            <a:srgbClr val="FFFFFF"/>
          </a:solidFill>
          <a:ln w="9525">
            <a:solidFill>
              <a:srgbClr val="DCE1E7"/>
            </a:solidFill>
            <a:prstDash val="solid"/>
          </a:ln>
        </p:spPr>
      </p:sp>
      <p:sp>
        <p:nvSpPr>
          <p:cNvPr id="19" name="Shape 13"/>
          <p:cNvSpPr/>
          <p:nvPr/>
        </p:nvSpPr>
        <p:spPr>
          <a:xfrm>
            <a:off x="521208" y="3044952"/>
            <a:ext cx="292608" cy="292608"/>
          </a:xfrm>
          <a:prstGeom prst="ellipse">
            <a:avLst/>
          </a:prstGeom>
          <a:solidFill>
            <a:srgbClr val="E3F4F1"/>
          </a:solidFill>
          <a:ln w="12700">
            <a:solidFill>
              <a:srgbClr val="E3F4F1"/>
            </a:solidFill>
            <a:prstDash val="solid"/>
          </a:ln>
        </p:spPr>
      </p:sp>
      <p:pic>
        <p:nvPicPr>
          <p:cNvPr id="20" name="Image 3" descr="preencoded.png">    </p:cNvPr>
          <p:cNvPicPr>
            <a:picLocks noChangeAspect="1"/>
          </p:cNvPicPr>
          <p:nvPr/>
        </p:nvPicPr>
        <p:blipFill>
          <a:blip r:embed="rId4"/>
          <a:stretch>
            <a:fillRect/>
          </a:stretch>
        </p:blipFill>
        <p:spPr>
          <a:xfrm>
            <a:off x="591434" y="3115178"/>
            <a:ext cx="152156" cy="152156"/>
          </a:xfrm>
          <a:prstGeom prst="rect">
            <a:avLst/>
          </a:prstGeom>
        </p:spPr>
      </p:pic>
      <p:sp>
        <p:nvSpPr>
          <p:cNvPr id="21" name="Text 14"/>
          <p:cNvSpPr txBox="1"/>
          <p:nvPr/>
        </p:nvSpPr>
        <p:spPr>
          <a:xfrm>
            <a:off x="914400" y="2962656"/>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Steps to Success guides</a:t>
            </a:r>
            <a:endParaRPr lang="en-US" sz="1050" dirty="0"/>
          </a:p>
        </p:txBody>
      </p:sp>
      <p:sp>
        <p:nvSpPr>
          <p:cNvPr id="22" name="Shape 15"/>
          <p:cNvSpPr/>
          <p:nvPr/>
        </p:nvSpPr>
        <p:spPr>
          <a:xfrm>
            <a:off x="411480" y="3493008"/>
            <a:ext cx="2743200" cy="457200"/>
          </a:xfrm>
          <a:prstGeom prst="roundRect">
            <a:avLst>
              <a:gd name="adj" fmla="val 16000"/>
            </a:avLst>
          </a:prstGeom>
          <a:solidFill>
            <a:srgbClr val="FFFFFF"/>
          </a:solidFill>
          <a:ln w="9525">
            <a:solidFill>
              <a:srgbClr val="DCE1E7"/>
            </a:solidFill>
            <a:prstDash val="solid"/>
          </a:ln>
        </p:spPr>
      </p:sp>
      <p:sp>
        <p:nvSpPr>
          <p:cNvPr id="23" name="Shape 16"/>
          <p:cNvSpPr/>
          <p:nvPr/>
        </p:nvSpPr>
        <p:spPr>
          <a:xfrm>
            <a:off x="521208" y="3575304"/>
            <a:ext cx="292608" cy="292608"/>
          </a:xfrm>
          <a:prstGeom prst="ellipse">
            <a:avLst/>
          </a:prstGeom>
          <a:solidFill>
            <a:srgbClr val="E3F4F1"/>
          </a:solidFill>
          <a:ln w="12700">
            <a:solidFill>
              <a:srgbClr val="E3F4F1"/>
            </a:solidFill>
            <a:prstDash val="solid"/>
          </a:ln>
        </p:spPr>
      </p:sp>
      <p:pic>
        <p:nvPicPr>
          <p:cNvPr id="24" name="Image 4" descr="preencoded.png">    </p:cNvPr>
          <p:cNvPicPr>
            <a:picLocks noChangeAspect="1"/>
          </p:cNvPicPr>
          <p:nvPr/>
        </p:nvPicPr>
        <p:blipFill>
          <a:blip r:embed="rId5"/>
          <a:stretch>
            <a:fillRect/>
          </a:stretch>
        </p:blipFill>
        <p:spPr>
          <a:xfrm>
            <a:off x="591434" y="3645530"/>
            <a:ext cx="152156" cy="152156"/>
          </a:xfrm>
          <a:prstGeom prst="rect">
            <a:avLst/>
          </a:prstGeom>
        </p:spPr>
      </p:pic>
      <p:sp>
        <p:nvSpPr>
          <p:cNvPr id="25" name="Text 17"/>
          <p:cNvSpPr txBox="1"/>
          <p:nvPr/>
        </p:nvSpPr>
        <p:spPr>
          <a:xfrm>
            <a:off x="914400" y="3493008"/>
            <a:ext cx="214884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Account &amp; Help Center</a:t>
            </a:r>
            <a:endParaRPr lang="en-US" sz="1050" dirty="0"/>
          </a:p>
        </p:txBody>
      </p:sp>
      <p:sp>
        <p:nvSpPr>
          <p:cNvPr id="26" name="Shape 18"/>
          <p:cNvSpPr/>
          <p:nvPr/>
        </p:nvSpPr>
        <p:spPr>
          <a:xfrm>
            <a:off x="3291840" y="1371600"/>
            <a:ext cx="5440680" cy="2880360"/>
          </a:xfrm>
          <a:prstGeom prst="roundRect">
            <a:avLst>
              <a:gd name="adj" fmla="val 2540"/>
            </a:avLst>
          </a:prstGeom>
          <a:solidFill>
            <a:srgbClr val="FFFFFF"/>
          </a:solidFill>
          <a:ln w="9525">
            <a:solidFill>
              <a:srgbClr val="DCE1E7"/>
            </a:solidFill>
            <a:prstDash val="solid"/>
          </a:ln>
        </p:spPr>
      </p:sp>
      <p:pic>
        <p:nvPicPr>
          <p:cNvPr id="27" name="Image 5" descr="/tmp/claude-0/-workspace-training/3ce5cff6-cccf-5f33-b0ee-0b147a55120e/scratchpad/img2/cpdash.png">    </p:cNvPr>
          <p:cNvPicPr>
            <a:picLocks noChangeAspect="1"/>
          </p:cNvPicPr>
          <p:nvPr/>
        </p:nvPicPr>
        <p:blipFill>
          <a:blip r:embed="rId6"/>
          <a:stretch>
            <a:fillRect/>
          </a:stretch>
        </p:blipFill>
        <p:spPr>
          <a:xfrm>
            <a:off x="3390482" y="1463040"/>
            <a:ext cx="5243395" cy="2496312"/>
          </a:xfrm>
          <a:prstGeom prst="rect">
            <a:avLst/>
          </a:prstGeom>
        </p:spPr>
      </p:pic>
      <p:sp>
        <p:nvSpPr>
          <p:cNvPr id="28" name="Shape 19"/>
          <p:cNvSpPr/>
          <p:nvPr/>
        </p:nvSpPr>
        <p:spPr>
          <a:xfrm>
            <a:off x="3390482" y="1463040"/>
            <a:ext cx="5243395" cy="2496312"/>
          </a:xfrm>
          <a:prstGeom prst="rect">
            <a:avLst/>
          </a:prstGeom>
          <a:ln w="6350">
            <a:solidFill>
              <a:srgbClr val="DCE1E7"/>
            </a:solidFill>
            <a:prstDash val="solid"/>
          </a:ln>
        </p:spPr>
      </p:sp>
      <p:sp>
        <p:nvSpPr>
          <p:cNvPr id="29" name="Text 20"/>
          <p:cNvSpPr txBox="1"/>
          <p:nvPr/>
        </p:nvSpPr>
        <p:spPr>
          <a:xfrm>
            <a:off x="3383280" y="3977640"/>
            <a:ext cx="525780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CP Dashboard, preview only. Sample training details.</a:t>
            </a:r>
            <a:endParaRPr lang="en-US" sz="800" dirty="0"/>
          </a:p>
        </p:txBody>
      </p:sp>
      <p:sp>
        <p:nvSpPr>
          <p:cNvPr id="30" name="Shape 21"/>
          <p:cNvSpPr/>
          <p:nvPr/>
        </p:nvSpPr>
        <p:spPr>
          <a:xfrm>
            <a:off x="411480" y="4343400"/>
            <a:ext cx="8321040" cy="384048"/>
          </a:xfrm>
          <a:prstGeom prst="roundRect">
            <a:avLst>
              <a:gd name="adj" fmla="val 19048"/>
            </a:avLst>
          </a:prstGeom>
          <a:solidFill>
            <a:srgbClr val="FFF3D6"/>
          </a:solidFill>
          <a:ln w="9525">
            <a:solidFill>
              <a:srgbClr val="FFF3D6"/>
            </a:solidFill>
            <a:prstDash val="solid"/>
          </a:ln>
        </p:spPr>
      </p:sp>
      <p:pic>
        <p:nvPicPr>
          <p:cNvPr id="31" name="Image 6" descr="preencoded.png">    </p:cNvPr>
          <p:cNvPicPr>
            <a:picLocks noChangeAspect="1"/>
          </p:cNvPicPr>
          <p:nvPr/>
        </p:nvPicPr>
        <p:blipFill>
          <a:blip r:embed="rId7"/>
          <a:stretch>
            <a:fillRect/>
          </a:stretch>
        </p:blipFill>
        <p:spPr>
          <a:xfrm>
            <a:off x="566928" y="4453128"/>
            <a:ext cx="164592" cy="164592"/>
          </a:xfrm>
          <a:prstGeom prst="rect">
            <a:avLst/>
          </a:prstGeom>
        </p:spPr>
      </p:pic>
      <p:sp>
        <p:nvSpPr>
          <p:cNvPr id="32" name="Text 22"/>
          <p:cNvSpPr txBox="1"/>
          <p:nvPr/>
        </p:nvSpPr>
        <p:spPr>
          <a:xfrm>
            <a:off x="822960" y="44439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Why it helps:  </a:t>
            </a:r>
            <a:pPr indent="0" marL="0">
              <a:buNone/>
            </a:pPr>
            <a:r>
              <a:rPr lang="en-US" sz="1000" dirty="0">
                <a:solidFill>
                  <a:srgbClr val="1D1D1F"/>
                </a:solidFill>
                <a:latin typeface="SF Pro Text" pitchFamily="34" charset="0"/>
                <a:ea typeface="SF Pro Text" pitchFamily="34" charset="-122"/>
                <a:cs typeface="SF Pro Text" pitchFamily="34" charset="-120"/>
              </a:rPr>
              <a:t>when you know what the cleaner sees, you can guide them step by step.</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DASHBOARD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Live walkthrough</a:t>
            </a:r>
            <a:endParaRPr lang="en-US" sz="2400" dirty="0"/>
          </a:p>
        </p:txBody>
      </p:sp>
      <p:sp>
        <p:nvSpPr>
          <p:cNvPr id="5" name="Shape 2"/>
          <p:cNvSpPr/>
          <p:nvPr/>
        </p:nvSpPr>
        <p:spPr>
          <a:xfrm>
            <a:off x="411480" y="1143000"/>
            <a:ext cx="8321040" cy="1920240"/>
          </a:xfrm>
          <a:prstGeom prst="roundRect">
            <a:avLst>
              <a:gd name="adj" fmla="val 3810"/>
            </a:avLst>
          </a:prstGeom>
          <a:solidFill>
            <a:srgbClr val="E3F4F1"/>
          </a:solidFill>
          <a:ln w="9525">
            <a:solidFill>
              <a:srgbClr val="E3F4F1"/>
            </a:solidFill>
            <a:prstDash val="solid"/>
          </a:ln>
        </p:spPr>
      </p:sp>
      <p:sp>
        <p:nvSpPr>
          <p:cNvPr id="6" name="Shape 3"/>
          <p:cNvSpPr/>
          <p:nvPr/>
        </p:nvSpPr>
        <p:spPr>
          <a:xfrm>
            <a:off x="731520" y="1463040"/>
            <a:ext cx="822960" cy="8229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29030" y="1660550"/>
            <a:ext cx="427939" cy="427939"/>
          </a:xfrm>
          <a:prstGeom prst="rect">
            <a:avLst/>
          </a:prstGeom>
        </p:spPr>
      </p:pic>
      <p:sp>
        <p:nvSpPr>
          <p:cNvPr id="8" name="Text 4"/>
          <p:cNvSpPr txBox="1"/>
          <p:nvPr/>
        </p:nvSpPr>
        <p:spPr>
          <a:xfrm>
            <a:off x="1828800" y="1463040"/>
            <a:ext cx="6400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TRAINER WALKTHROUGH</a:t>
            </a:r>
            <a:endParaRPr lang="en-US" sz="800" dirty="0"/>
          </a:p>
        </p:txBody>
      </p:sp>
      <p:sp>
        <p:nvSpPr>
          <p:cNvPr id="9" name="Text 5"/>
          <p:cNvSpPr txBox="1"/>
          <p:nvPr/>
        </p:nvSpPr>
        <p:spPr>
          <a:xfrm>
            <a:off x="1828800" y="1691640"/>
            <a:ext cx="6583680" cy="685800"/>
          </a:xfrm>
          <a:prstGeom prst="rect">
            <a:avLst/>
          </a:prstGeom>
          <a:noFill/>
          <a:ln/>
        </p:spPr>
        <p:txBody>
          <a:bodyPr wrap="square" lIns="0" tIns="0" rIns="0" bIns="0" rtlCol="0" anchor="t"/>
          <a:lstStyle/>
          <a:p>
            <a:pPr indent="0" marL="0">
              <a:buNone/>
            </a:pPr>
            <a:r>
              <a:rPr lang="en-US" sz="1700" b="1" dirty="0">
                <a:solidFill>
                  <a:srgbClr val="1D1D1F"/>
                </a:solidFill>
                <a:latin typeface="SF Pro Display" pitchFamily="34" charset="0"/>
                <a:ea typeface="SF Pro Display" pitchFamily="34" charset="-122"/>
                <a:cs typeface="SF Pro Display" pitchFamily="34" charset="-120"/>
              </a:rPr>
              <a:t>The trainer will open the live CP Dashboard and walk you through the actual system.</a:t>
            </a:r>
            <a:endParaRPr lang="en-US" sz="1700" dirty="0"/>
          </a:p>
        </p:txBody>
      </p:sp>
      <p:sp>
        <p:nvSpPr>
          <p:cNvPr id="10" name="Text 6"/>
          <p:cNvSpPr txBox="1"/>
          <p:nvPr/>
        </p:nvSpPr>
        <p:spPr>
          <a:xfrm>
            <a:off x="1828800" y="2468880"/>
            <a:ext cx="6400800" cy="228600"/>
          </a:xfrm>
          <a:prstGeom prst="rect">
            <a:avLst/>
          </a:prstGeom>
          <a:noFill/>
          <a:ln/>
        </p:spPr>
        <p:txBody>
          <a:bodyPr wrap="square" lIns="0" tIns="0" rIns="0" bIns="0" rtlCol="0" anchor="t"/>
          <a:lstStyle/>
          <a:p>
            <a:pPr indent="0" marL="0">
              <a:buNone/>
            </a:pPr>
            <a:r>
              <a:rPr lang="en-US" sz="1100" dirty="0">
                <a:solidFill>
                  <a:srgbClr val="6E6E73"/>
                </a:solidFill>
                <a:latin typeface="SF Pro Text" pitchFamily="34" charset="0"/>
                <a:ea typeface="SF Pro Text" pitchFamily="34" charset="-122"/>
                <a:cs typeface="SF Pro Text" pitchFamily="34" charset="-120"/>
              </a:rPr>
              <a:t>Follow along and note your questions.</a:t>
            </a:r>
            <a:endParaRPr lang="en-US" sz="1100" dirty="0"/>
          </a:p>
        </p:txBody>
      </p:sp>
      <p:sp>
        <p:nvSpPr>
          <p:cNvPr id="11" name="Text 7"/>
          <p:cNvSpPr txBox="1"/>
          <p:nvPr/>
        </p:nvSpPr>
        <p:spPr>
          <a:xfrm>
            <a:off x="438912" y="3291840"/>
            <a:ext cx="45720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AS YOU WATCH, LOOK FOR</a:t>
            </a:r>
            <a:endParaRPr lang="en-US" sz="800" dirty="0"/>
          </a:p>
        </p:txBody>
      </p:sp>
      <p:sp>
        <p:nvSpPr>
          <p:cNvPr id="12" name="Shape 8"/>
          <p:cNvSpPr/>
          <p:nvPr/>
        </p:nvSpPr>
        <p:spPr>
          <a:xfrm>
            <a:off x="411480" y="3547872"/>
            <a:ext cx="1977390" cy="566928"/>
          </a:xfrm>
          <a:prstGeom prst="roundRect">
            <a:avLst>
              <a:gd name="adj" fmla="val 12903"/>
            </a:avLst>
          </a:prstGeom>
          <a:solidFill>
            <a:srgbClr val="FFFFFF"/>
          </a:solidFill>
          <a:ln w="9525">
            <a:solidFill>
              <a:srgbClr val="DCE1E7"/>
            </a:solidFill>
            <a:prstDash val="solid"/>
          </a:ln>
        </p:spPr>
      </p:sp>
      <p:sp>
        <p:nvSpPr>
          <p:cNvPr id="13" name="Shape 9"/>
          <p:cNvSpPr/>
          <p:nvPr/>
        </p:nvSpPr>
        <p:spPr>
          <a:xfrm>
            <a:off x="539496" y="3675888"/>
            <a:ext cx="310896" cy="310896"/>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614111" y="3750503"/>
            <a:ext cx="161666" cy="161666"/>
          </a:xfrm>
          <a:prstGeom prst="rect">
            <a:avLst/>
          </a:prstGeom>
        </p:spPr>
      </p:pic>
      <p:sp>
        <p:nvSpPr>
          <p:cNvPr id="15" name="Text 10"/>
          <p:cNvSpPr txBox="1"/>
          <p:nvPr/>
        </p:nvSpPr>
        <p:spPr>
          <a:xfrm>
            <a:off x="9418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Claiming jobs</a:t>
            </a:r>
            <a:endParaRPr lang="en-US" sz="1000" dirty="0"/>
          </a:p>
        </p:txBody>
      </p:sp>
      <p:sp>
        <p:nvSpPr>
          <p:cNvPr id="16" name="Shape 11"/>
          <p:cNvSpPr/>
          <p:nvPr/>
        </p:nvSpPr>
        <p:spPr>
          <a:xfrm>
            <a:off x="2526030" y="3547872"/>
            <a:ext cx="1977390" cy="566928"/>
          </a:xfrm>
          <a:prstGeom prst="roundRect">
            <a:avLst>
              <a:gd name="adj" fmla="val 12903"/>
            </a:avLst>
          </a:prstGeom>
          <a:solidFill>
            <a:srgbClr val="FFFFFF"/>
          </a:solidFill>
          <a:ln w="9525">
            <a:solidFill>
              <a:srgbClr val="DCE1E7"/>
            </a:solidFill>
            <a:prstDash val="solid"/>
          </a:ln>
        </p:spPr>
      </p:sp>
      <p:sp>
        <p:nvSpPr>
          <p:cNvPr id="17" name="Shape 12"/>
          <p:cNvSpPr/>
          <p:nvPr/>
        </p:nvSpPr>
        <p:spPr>
          <a:xfrm>
            <a:off x="2654046" y="3675888"/>
            <a:ext cx="310896" cy="310896"/>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2728661" y="3750503"/>
            <a:ext cx="161666" cy="161666"/>
          </a:xfrm>
          <a:prstGeom prst="rect">
            <a:avLst/>
          </a:prstGeom>
        </p:spPr>
      </p:pic>
      <p:sp>
        <p:nvSpPr>
          <p:cNvPr id="19" name="Text 13"/>
          <p:cNvSpPr txBox="1"/>
          <p:nvPr/>
        </p:nvSpPr>
        <p:spPr>
          <a:xfrm>
            <a:off x="30563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Job calendar</a:t>
            </a:r>
            <a:endParaRPr lang="en-US" sz="1000" dirty="0"/>
          </a:p>
        </p:txBody>
      </p:sp>
      <p:sp>
        <p:nvSpPr>
          <p:cNvPr id="20" name="Shape 14"/>
          <p:cNvSpPr/>
          <p:nvPr/>
        </p:nvSpPr>
        <p:spPr>
          <a:xfrm>
            <a:off x="4640580" y="3547872"/>
            <a:ext cx="1977390" cy="566928"/>
          </a:xfrm>
          <a:prstGeom prst="roundRect">
            <a:avLst>
              <a:gd name="adj" fmla="val 12903"/>
            </a:avLst>
          </a:prstGeom>
          <a:solidFill>
            <a:srgbClr val="FFFFFF"/>
          </a:solidFill>
          <a:ln w="9525">
            <a:solidFill>
              <a:srgbClr val="DCE1E7"/>
            </a:solidFill>
            <a:prstDash val="solid"/>
          </a:ln>
        </p:spPr>
      </p:sp>
      <p:sp>
        <p:nvSpPr>
          <p:cNvPr id="21" name="Shape 15"/>
          <p:cNvSpPr/>
          <p:nvPr/>
        </p:nvSpPr>
        <p:spPr>
          <a:xfrm>
            <a:off x="4768596" y="3675888"/>
            <a:ext cx="310896" cy="310896"/>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4843211" y="3750503"/>
            <a:ext cx="161666" cy="161666"/>
          </a:xfrm>
          <a:prstGeom prst="rect">
            <a:avLst/>
          </a:prstGeom>
        </p:spPr>
      </p:pic>
      <p:sp>
        <p:nvSpPr>
          <p:cNvPr id="23" name="Text 16"/>
          <p:cNvSpPr txBox="1"/>
          <p:nvPr/>
        </p:nvSpPr>
        <p:spPr>
          <a:xfrm>
            <a:off x="517093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Rate &amp; availability</a:t>
            </a:r>
            <a:endParaRPr lang="en-US" sz="1000" dirty="0"/>
          </a:p>
        </p:txBody>
      </p:sp>
      <p:sp>
        <p:nvSpPr>
          <p:cNvPr id="24" name="Shape 17"/>
          <p:cNvSpPr/>
          <p:nvPr/>
        </p:nvSpPr>
        <p:spPr>
          <a:xfrm>
            <a:off x="6755130" y="3547872"/>
            <a:ext cx="1977390" cy="566928"/>
          </a:xfrm>
          <a:prstGeom prst="roundRect">
            <a:avLst>
              <a:gd name="adj" fmla="val 12903"/>
            </a:avLst>
          </a:prstGeom>
          <a:solidFill>
            <a:srgbClr val="FFFFFF"/>
          </a:solidFill>
          <a:ln w="9525">
            <a:solidFill>
              <a:srgbClr val="DCE1E7"/>
            </a:solidFill>
            <a:prstDash val="solid"/>
          </a:ln>
        </p:spPr>
      </p:sp>
      <p:sp>
        <p:nvSpPr>
          <p:cNvPr id="25" name="Shape 18"/>
          <p:cNvSpPr/>
          <p:nvPr/>
        </p:nvSpPr>
        <p:spPr>
          <a:xfrm>
            <a:off x="6883146" y="3675888"/>
            <a:ext cx="310896" cy="310896"/>
          </a:xfrm>
          <a:prstGeom prst="ellipse">
            <a:avLst/>
          </a:prstGeom>
          <a:solidFill>
            <a:srgbClr val="E3F4F1"/>
          </a:solidFill>
          <a:ln w="12700">
            <a:solidFill>
              <a:srgbClr val="E3F4F1"/>
            </a:solidFill>
            <a:prstDash val="solid"/>
          </a:ln>
        </p:spPr>
      </p:sp>
      <p:pic>
        <p:nvPicPr>
          <p:cNvPr id="26" name="Image 4" descr="preencoded.png">    </p:cNvPr>
          <p:cNvPicPr>
            <a:picLocks noChangeAspect="1"/>
          </p:cNvPicPr>
          <p:nvPr/>
        </p:nvPicPr>
        <p:blipFill>
          <a:blip r:embed="rId5"/>
          <a:stretch>
            <a:fillRect/>
          </a:stretch>
        </p:blipFill>
        <p:spPr>
          <a:xfrm>
            <a:off x="6957761" y="3750503"/>
            <a:ext cx="161666" cy="161666"/>
          </a:xfrm>
          <a:prstGeom prst="rect">
            <a:avLst/>
          </a:prstGeom>
        </p:spPr>
      </p:pic>
      <p:sp>
        <p:nvSpPr>
          <p:cNvPr id="27" name="Text 19"/>
          <p:cNvSpPr txBox="1"/>
          <p:nvPr/>
        </p:nvSpPr>
        <p:spPr>
          <a:xfrm>
            <a:off x="7285482" y="3547872"/>
            <a:ext cx="1355598" cy="566928"/>
          </a:xfrm>
          <a:prstGeom prst="rect">
            <a:avLst/>
          </a:prstGeom>
          <a:noFill/>
          <a:ln/>
        </p:spPr>
        <p:txBody>
          <a:bodyPr wrap="square" lIns="0" tIns="0" rIns="0" bIns="0" rtlCol="0" anchor="ctr"/>
          <a:lstStyle/>
          <a:p>
            <a:pPr indent="0" marL="0">
              <a:buNone/>
            </a:pPr>
            <a:r>
              <a:rPr lang="en-US" sz="1000" b="1" dirty="0">
                <a:solidFill>
                  <a:srgbClr val="1D1D1F"/>
                </a:solidFill>
                <a:latin typeface="SF Pro Text" pitchFamily="34" charset="0"/>
                <a:ea typeface="SF Pro Text" pitchFamily="34" charset="-122"/>
                <a:cs typeface="SF Pro Text" pitchFamily="34" charset="-120"/>
              </a:rPr>
              <a:t>Account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04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CP Profile Status</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label on a cleaner's account that controls what they can do on the platform.</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three statuses you'll use most</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Onboarding statuses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system changes automatically</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test before you change one</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2/ill21.png">    </p:cNvPr>
          <p:cNvPicPr>
            <a:picLocks noChangeAspect="1"/>
          </p:cNvPicPr>
          <p:nvPr/>
        </p:nvPicPr>
        <p:blipFill>
          <a:blip r:embed="rId5"/>
          <a:stretch>
            <a:fillRect/>
          </a:stretch>
        </p:blipFill>
        <p:spPr>
          <a:xfrm>
            <a:off x="5806694" y="1517904"/>
            <a:ext cx="2395220"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PROFILE STATUS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three you'll use most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What each status lets a cleaner do.</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371600"/>
                <a:gridCol w="1371600"/>
                <a:gridCol w="1463040"/>
                <a:gridCol w="2194560"/>
                <a:gridCol w="1920240"/>
              </a:tblGrid>
              <a:tr h="411480">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Status</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Claim new jobs</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Keep claimed jobs</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Dashboard</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Reactivate</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1148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active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Yes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Yes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Full access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norequests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No</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Yes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Full access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$15–25 fee*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suspended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No</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No, removed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Limited (Completed Jobs only)</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$15–25 fee*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cp-opt-out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No</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Free, via dashboard or CS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38912" y="3520440"/>
            <a:ext cx="8229600" cy="228600"/>
          </a:xfrm>
          <a:prstGeom prst="rect">
            <a:avLst/>
          </a:prstGeom>
          <a:noFill/>
          <a:ln/>
        </p:spPr>
        <p:txBody>
          <a:bodyPr wrap="square" lIns="0" tIns="0" rIns="0" bIns="0" rtlCol="0" anchor="t"/>
          <a:lstStyle/>
          <a:p>
            <a:pPr indent="0" marL="0">
              <a:buNone/>
            </a:pPr>
            <a:r>
              <a:rPr lang="en-US" sz="900" i="1" dirty="0">
                <a:solidFill>
                  <a:srgbClr val="6E6E73"/>
                </a:solidFill>
                <a:latin typeface="SF Pro Text" pitchFamily="34" charset="0"/>
                <a:ea typeface="SF Pro Text" pitchFamily="34" charset="-122"/>
                <a:cs typeface="SF Pro Text" pitchFamily="34" charset="-120"/>
              </a:rPr>
              <a:t>* Not available if the cleaner has a do_not_reactivate flag, or is in a CA/CA-WA Operating Model state.</a:t>
            </a:r>
            <a:endParaRPr lang="en-US" sz="900" dirty="0"/>
          </a:p>
        </p:txBody>
      </p:sp>
      <p:sp>
        <p:nvSpPr>
          <p:cNvPr id="8" name="Shape 4"/>
          <p:cNvSpPr/>
          <p:nvPr/>
        </p:nvSpPr>
        <p:spPr>
          <a:xfrm>
            <a:off x="411480" y="3886200"/>
            <a:ext cx="8321040" cy="384048"/>
          </a:xfrm>
          <a:prstGeom prst="roundRect">
            <a:avLst>
              <a:gd name="adj" fmla="val 19048"/>
            </a:avLst>
          </a:prstGeom>
          <a:solidFill>
            <a:srgbClr val="FFF3D6"/>
          </a:solidFill>
          <a:ln w="9525">
            <a:solidFill>
              <a:srgbClr val="FFF3D6"/>
            </a:solidFill>
            <a:prstDash val="solid"/>
          </a:ln>
        </p:spPr>
      </p:sp>
      <p:pic>
        <p:nvPicPr>
          <p:cNvPr id="9" name="Image 0" descr="preencoded.png">    </p:cNvPr>
          <p:cNvPicPr>
            <a:picLocks noChangeAspect="1"/>
          </p:cNvPicPr>
          <p:nvPr/>
        </p:nvPicPr>
        <p:blipFill>
          <a:blip r:embed="rId1"/>
          <a:stretch>
            <a:fillRect/>
          </a:stretch>
        </p:blipFill>
        <p:spPr>
          <a:xfrm>
            <a:off x="566928" y="3995928"/>
            <a:ext cx="164592" cy="164592"/>
          </a:xfrm>
          <a:prstGeom prst="rect">
            <a:avLst/>
          </a:prstGeom>
        </p:spPr>
      </p:pic>
      <p:sp>
        <p:nvSpPr>
          <p:cNvPr id="10" name="Text 5"/>
          <p:cNvSpPr txBox="1"/>
          <p:nvPr/>
        </p:nvSpPr>
        <p:spPr>
          <a:xfrm>
            <a:off x="822960" y="39867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Check history:  </a:t>
            </a:r>
            <a:pPr indent="0" marL="0">
              <a:buNone/>
            </a:pPr>
            <a:r>
              <a:rPr lang="en-US" sz="1000" dirty="0">
                <a:solidFill>
                  <a:srgbClr val="1D1D1F"/>
                </a:solidFill>
                <a:latin typeface="SF Pro Text" pitchFamily="34" charset="0"/>
                <a:ea typeface="SF Pro Text" pitchFamily="34" charset="-122"/>
                <a:cs typeface="SF Pro Text" pitchFamily="34" charset="-120"/>
              </a:rPr>
              <a:t>the Flags table shows when a status changed, to what, and what it was before.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PROFILE STATUS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Where to see and change it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In the Legacy CP CRM.</a:t>
            </a:r>
            <a:endParaRPr lang="en-US" sz="1200" dirty="0"/>
          </a:p>
        </p:txBody>
      </p:sp>
      <p:sp>
        <p:nvSpPr>
          <p:cNvPr id="6" name="Shape 3"/>
          <p:cNvSpPr/>
          <p:nvPr/>
        </p:nvSpPr>
        <p:spPr>
          <a:xfrm>
            <a:off x="411480" y="1280160"/>
            <a:ext cx="4480560" cy="2194560"/>
          </a:xfrm>
          <a:prstGeom prst="roundRect">
            <a:avLst>
              <a:gd name="adj" fmla="val 3333"/>
            </a:avLst>
          </a:prstGeom>
          <a:solidFill>
            <a:srgbClr val="FFFFFF"/>
          </a:solidFill>
          <a:ln w="9525">
            <a:solidFill>
              <a:srgbClr val="DCE1E7"/>
            </a:solidFill>
            <a:prstDash val="solid"/>
          </a:ln>
        </p:spPr>
      </p:sp>
      <p:pic>
        <p:nvPicPr>
          <p:cNvPr id="7" name="Image 0" descr="/tmp/claude-0/-workspace-training/3ce5cff6-cccf-5f33-b0ee-0b147a55120e/scratchpad/img2/cp_header.png">    </p:cNvPr>
          <p:cNvPicPr>
            <a:picLocks noChangeAspect="1"/>
          </p:cNvPicPr>
          <p:nvPr/>
        </p:nvPicPr>
        <p:blipFill>
          <a:blip r:embed="rId1"/>
          <a:stretch>
            <a:fillRect/>
          </a:stretch>
        </p:blipFill>
        <p:spPr>
          <a:xfrm>
            <a:off x="484632" y="1404277"/>
            <a:ext cx="4334256" cy="1946326"/>
          </a:xfrm>
          <a:prstGeom prst="rect">
            <a:avLst/>
          </a:prstGeom>
        </p:spPr>
      </p:pic>
      <p:sp>
        <p:nvSpPr>
          <p:cNvPr id="8" name="Shape 4"/>
          <p:cNvSpPr/>
          <p:nvPr/>
        </p:nvSpPr>
        <p:spPr>
          <a:xfrm>
            <a:off x="637285" y="2418329"/>
            <a:ext cx="4165247" cy="866851"/>
          </a:xfrm>
          <a:prstGeom prst="roundRect">
            <a:avLst>
              <a:gd name="adj" fmla="val 3165"/>
            </a:avLst>
          </a:prstGeom>
          <a:ln w="25400">
            <a:solidFill>
              <a:srgbClr val="0B7A6F"/>
            </a:solidFill>
            <a:prstDash val="solid"/>
          </a:ln>
        </p:spPr>
      </p:sp>
      <p:sp>
        <p:nvSpPr>
          <p:cNvPr id="9" name="Shape 5"/>
          <p:cNvSpPr/>
          <p:nvPr/>
        </p:nvSpPr>
        <p:spPr>
          <a:xfrm>
            <a:off x="536701" y="2317745"/>
            <a:ext cx="201168" cy="201168"/>
          </a:xfrm>
          <a:prstGeom prst="ellipse">
            <a:avLst/>
          </a:prstGeom>
          <a:solidFill>
            <a:srgbClr val="0B7A6F"/>
          </a:solidFill>
          <a:ln w="12700">
            <a:solidFill>
              <a:srgbClr val="FFFFFF"/>
            </a:solidFill>
            <a:prstDash val="solid"/>
          </a:ln>
        </p:spPr>
      </p:sp>
      <p:sp>
        <p:nvSpPr>
          <p:cNvPr id="10" name="Text 6"/>
          <p:cNvSpPr txBox="1"/>
          <p:nvPr/>
        </p:nvSpPr>
        <p:spPr>
          <a:xfrm>
            <a:off x="536701" y="2317745"/>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11" name="Shape 7"/>
          <p:cNvSpPr/>
          <p:nvPr/>
        </p:nvSpPr>
        <p:spPr>
          <a:xfrm>
            <a:off x="5029200" y="1280160"/>
            <a:ext cx="3703320" cy="2194560"/>
          </a:xfrm>
          <a:prstGeom prst="roundRect">
            <a:avLst>
              <a:gd name="adj" fmla="val 3333"/>
            </a:avLst>
          </a:prstGeom>
          <a:solidFill>
            <a:srgbClr val="FFFFFF"/>
          </a:solidFill>
          <a:ln w="9525">
            <a:solidFill>
              <a:srgbClr val="DCE1E7"/>
            </a:solidFill>
            <a:prstDash val="solid"/>
          </a:ln>
        </p:spPr>
      </p:sp>
      <p:pic>
        <p:nvPicPr>
          <p:cNvPr id="12" name="Image 1" descr="/tmp/claude-0/-workspace-training/3ce5cff6-cccf-5f33-b0ee-0b147a55120e/scratchpad/img2/cp_changestep.png">    </p:cNvPr>
          <p:cNvPicPr>
            <a:picLocks noChangeAspect="1"/>
          </p:cNvPicPr>
          <p:nvPr/>
        </p:nvPicPr>
        <p:blipFill>
          <a:blip r:embed="rId2"/>
          <a:stretch>
            <a:fillRect/>
          </a:stretch>
        </p:blipFill>
        <p:spPr>
          <a:xfrm>
            <a:off x="5102352" y="1539942"/>
            <a:ext cx="3557016" cy="1674997"/>
          </a:xfrm>
          <a:prstGeom prst="rect">
            <a:avLst/>
          </a:prstGeom>
        </p:spPr>
      </p:pic>
      <p:sp>
        <p:nvSpPr>
          <p:cNvPr id="13" name="Shape 8"/>
          <p:cNvSpPr/>
          <p:nvPr/>
        </p:nvSpPr>
        <p:spPr>
          <a:xfrm>
            <a:off x="5182338" y="1728143"/>
            <a:ext cx="705757" cy="1472680"/>
          </a:xfrm>
          <a:prstGeom prst="roundRect">
            <a:avLst>
              <a:gd name="adj" fmla="val 3887"/>
            </a:avLst>
          </a:prstGeom>
          <a:ln w="25400">
            <a:solidFill>
              <a:srgbClr val="0B7A6F"/>
            </a:solidFill>
            <a:prstDash val="solid"/>
          </a:ln>
        </p:spPr>
      </p:sp>
      <p:sp>
        <p:nvSpPr>
          <p:cNvPr id="14" name="Shape 9"/>
          <p:cNvSpPr/>
          <p:nvPr/>
        </p:nvSpPr>
        <p:spPr>
          <a:xfrm>
            <a:off x="5081754" y="1627559"/>
            <a:ext cx="201168" cy="201168"/>
          </a:xfrm>
          <a:prstGeom prst="ellipse">
            <a:avLst/>
          </a:prstGeom>
          <a:solidFill>
            <a:srgbClr val="0B7A6F"/>
          </a:solidFill>
          <a:ln w="12700">
            <a:solidFill>
              <a:srgbClr val="FFFFFF"/>
            </a:solidFill>
            <a:prstDash val="solid"/>
          </a:ln>
        </p:spPr>
      </p:sp>
      <p:sp>
        <p:nvSpPr>
          <p:cNvPr id="15" name="Text 10"/>
          <p:cNvSpPr txBox="1"/>
          <p:nvPr/>
        </p:nvSpPr>
        <p:spPr>
          <a:xfrm>
            <a:off x="5081754" y="1627559"/>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2</a:t>
            </a:r>
            <a:endParaRPr lang="en-US" sz="800" dirty="0"/>
          </a:p>
        </p:txBody>
      </p:sp>
      <p:sp>
        <p:nvSpPr>
          <p:cNvPr id="16" name="Shape 11"/>
          <p:cNvSpPr/>
          <p:nvPr/>
        </p:nvSpPr>
        <p:spPr>
          <a:xfrm>
            <a:off x="411480" y="3611880"/>
            <a:ext cx="4480560" cy="502920"/>
          </a:xfrm>
          <a:prstGeom prst="roundRect">
            <a:avLst>
              <a:gd name="adj" fmla="val 14545"/>
            </a:avLst>
          </a:prstGeom>
          <a:solidFill>
            <a:srgbClr val="FFFFFF"/>
          </a:solidFill>
          <a:ln w="9525">
            <a:solidFill>
              <a:srgbClr val="DCE1E7"/>
            </a:solidFill>
            <a:prstDash val="solid"/>
          </a:ln>
        </p:spPr>
      </p:sp>
      <p:sp>
        <p:nvSpPr>
          <p:cNvPr id="17" name="Shape 12"/>
          <p:cNvSpPr/>
          <p:nvPr/>
        </p:nvSpPr>
        <p:spPr>
          <a:xfrm>
            <a:off x="539496" y="3735324"/>
            <a:ext cx="256032" cy="256032"/>
          </a:xfrm>
          <a:prstGeom prst="ellipse">
            <a:avLst/>
          </a:prstGeom>
          <a:solidFill>
            <a:srgbClr val="0B7A6F"/>
          </a:solidFill>
          <a:ln w="12700">
            <a:solidFill>
              <a:srgbClr val="0B7A6F"/>
            </a:solidFill>
            <a:prstDash val="solid"/>
          </a:ln>
        </p:spPr>
      </p:sp>
      <p:sp>
        <p:nvSpPr>
          <p:cNvPr id="18" name="Text 13"/>
          <p:cNvSpPr txBox="1"/>
          <p:nvPr/>
        </p:nvSpPr>
        <p:spPr>
          <a:xfrm>
            <a:off x="539496" y="37353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1</a:t>
            </a:r>
            <a:endParaRPr lang="en-US" sz="900" dirty="0"/>
          </a:p>
        </p:txBody>
      </p:sp>
      <p:sp>
        <p:nvSpPr>
          <p:cNvPr id="19" name="Text 14"/>
          <p:cNvSpPr txBox="1"/>
          <p:nvPr/>
        </p:nvSpPr>
        <p:spPr>
          <a:xfrm>
            <a:off x="914400" y="3657600"/>
            <a:ext cx="3886200" cy="41148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Flags table</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When the status changed, to what, and what it was before</a:t>
            </a:r>
            <a:endParaRPr lang="en-US" sz="1050" dirty="0"/>
          </a:p>
        </p:txBody>
      </p:sp>
      <p:sp>
        <p:nvSpPr>
          <p:cNvPr id="20" name="Shape 15"/>
          <p:cNvSpPr/>
          <p:nvPr/>
        </p:nvSpPr>
        <p:spPr>
          <a:xfrm>
            <a:off x="5029200" y="3611880"/>
            <a:ext cx="3703320" cy="502920"/>
          </a:xfrm>
          <a:prstGeom prst="roundRect">
            <a:avLst>
              <a:gd name="adj" fmla="val 14545"/>
            </a:avLst>
          </a:prstGeom>
          <a:solidFill>
            <a:srgbClr val="FFFFFF"/>
          </a:solidFill>
          <a:ln w="9525">
            <a:solidFill>
              <a:srgbClr val="DCE1E7"/>
            </a:solidFill>
            <a:prstDash val="solid"/>
          </a:ln>
        </p:spPr>
      </p:sp>
      <p:sp>
        <p:nvSpPr>
          <p:cNvPr id="21" name="Shape 16"/>
          <p:cNvSpPr/>
          <p:nvPr/>
        </p:nvSpPr>
        <p:spPr>
          <a:xfrm>
            <a:off x="5157216" y="3735324"/>
            <a:ext cx="256032" cy="256032"/>
          </a:xfrm>
          <a:prstGeom prst="ellipse">
            <a:avLst/>
          </a:prstGeom>
          <a:solidFill>
            <a:srgbClr val="0B7A6F"/>
          </a:solidFill>
          <a:ln w="12700">
            <a:solidFill>
              <a:srgbClr val="0B7A6F"/>
            </a:solidFill>
            <a:prstDash val="solid"/>
          </a:ln>
        </p:spPr>
      </p:sp>
      <p:sp>
        <p:nvSpPr>
          <p:cNvPr id="22" name="Text 17"/>
          <p:cNvSpPr txBox="1"/>
          <p:nvPr/>
        </p:nvSpPr>
        <p:spPr>
          <a:xfrm>
            <a:off x="5157216" y="37353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2</a:t>
            </a:r>
            <a:endParaRPr lang="en-US" sz="900" dirty="0"/>
          </a:p>
        </p:txBody>
      </p:sp>
      <p:sp>
        <p:nvSpPr>
          <p:cNvPr id="23" name="Text 18"/>
          <p:cNvSpPr txBox="1"/>
          <p:nvPr/>
        </p:nvSpPr>
        <p:spPr>
          <a:xfrm>
            <a:off x="5532120" y="3657600"/>
            <a:ext cx="3108960" cy="41148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Change Step</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Pick the new status. Check the history first</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PROFILE STATUS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Onboarding statuses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Where a new cleaner is stuck in sign-up.</a:t>
            </a:r>
            <a:endParaRPr lang="en-US" sz="1200" dirty="0"/>
          </a:p>
        </p:txBody>
      </p:sp>
      <p:sp>
        <p:nvSpPr>
          <p:cNvPr id="6" name="Shape 3"/>
          <p:cNvSpPr/>
          <p:nvPr/>
        </p:nvSpPr>
        <p:spPr>
          <a:xfrm>
            <a:off x="411480" y="1371600"/>
            <a:ext cx="1977390" cy="1188720"/>
          </a:xfrm>
          <a:prstGeom prst="roundRect">
            <a:avLst>
              <a:gd name="adj" fmla="val 6154"/>
            </a:avLst>
          </a:prstGeom>
          <a:solidFill>
            <a:srgbClr val="FFFFFF"/>
          </a:solidFill>
          <a:ln w="9525">
            <a:solidFill>
              <a:srgbClr val="DCE1E7"/>
            </a:solidFill>
            <a:prstDash val="solid"/>
          </a:ln>
        </p:spPr>
      </p:sp>
      <p:sp>
        <p:nvSpPr>
          <p:cNvPr id="7" name="Shape 4"/>
          <p:cNvSpPr/>
          <p:nvPr/>
        </p:nvSpPr>
        <p:spPr>
          <a:xfrm>
            <a:off x="548640" y="1536192"/>
            <a:ext cx="1703070" cy="292608"/>
          </a:xfrm>
          <a:prstGeom prst="roundRect">
            <a:avLst>
              <a:gd name="adj" fmla="val 25000"/>
            </a:avLst>
          </a:prstGeom>
          <a:solidFill>
            <a:srgbClr val="E3F4F1"/>
          </a:solidFill>
          <a:ln w="9525">
            <a:solidFill>
              <a:srgbClr val="E3F4F1"/>
            </a:solidFill>
            <a:prstDash val="solid"/>
          </a:ln>
        </p:spPr>
      </p:sp>
      <p:sp>
        <p:nvSpPr>
          <p:cNvPr id="8" name="Text 5"/>
          <p:cNvSpPr txBox="1"/>
          <p:nvPr/>
        </p:nvSpPr>
        <p:spPr>
          <a:xfrm>
            <a:off x="548640" y="1536192"/>
            <a:ext cx="1703070" cy="292608"/>
          </a:xfrm>
          <a:prstGeom prst="rect">
            <a:avLst/>
          </a:prstGeom>
          <a:noFill/>
          <a:ln/>
        </p:spPr>
        <p:txBody>
          <a:bodyPr wrap="square" lIns="0" tIns="0" rIns="0" bIns="0" rtlCol="0" anchor="ctr"/>
          <a:lstStyle/>
          <a:p>
            <a:pPr algn="ctr" indent="0" marL="0">
              <a:buNone/>
            </a:pPr>
            <a:r>
              <a:rPr lang="en-US" sz="950" b="1" dirty="0">
                <a:solidFill>
                  <a:srgbClr val="0B7A6F"/>
                </a:solidFill>
                <a:latin typeface="SF Pro Display" pitchFamily="34" charset="0"/>
                <a:ea typeface="SF Pro Display" pitchFamily="34" charset="-122"/>
                <a:cs typeface="SF Pro Display" pitchFamily="34" charset="-120"/>
              </a:rPr>
              <a:t>cpintrovideo</a:t>
            </a:r>
            <a:endParaRPr lang="en-US" sz="950" dirty="0"/>
          </a:p>
        </p:txBody>
      </p:sp>
      <p:sp>
        <p:nvSpPr>
          <p:cNvPr id="9" name="Text 6"/>
          <p:cNvSpPr txBox="1"/>
          <p:nvPr/>
        </p:nvSpPr>
        <p:spPr>
          <a:xfrm>
            <a:off x="548640" y="1938528"/>
            <a:ext cx="1703070" cy="548640"/>
          </a:xfrm>
          <a:prstGeom prst="rect">
            <a:avLst/>
          </a:prstGeom>
          <a:noFill/>
          <a:ln/>
        </p:spPr>
        <p:txBody>
          <a:bodyPr wrap="square" lIns="0" tIns="0" rIns="0" bIns="0" rtlCol="0" anchor="t"/>
          <a:lstStyle/>
          <a:p>
            <a:pPr indent="0" marL="0">
              <a:buNone/>
            </a:pPr>
            <a:r>
              <a:rPr lang="en-US" sz="950" dirty="0">
                <a:solidFill>
                  <a:srgbClr val="1D1D1F"/>
                </a:solidFill>
                <a:latin typeface="SF Pro Text" pitchFamily="34" charset="0"/>
                <a:ea typeface="SF Pro Text" pitchFamily="34" charset="-122"/>
                <a:cs typeface="SF Pro Text" pitchFamily="34" charset="-120"/>
              </a:rPr>
              <a:t>Hasn't finished the intro video</a:t>
            </a:r>
            <a:endParaRPr lang="en-US" sz="950" dirty="0"/>
          </a:p>
        </p:txBody>
      </p:sp>
      <p:sp>
        <p:nvSpPr>
          <p:cNvPr id="10" name="Shape 7"/>
          <p:cNvSpPr/>
          <p:nvPr/>
        </p:nvSpPr>
        <p:spPr>
          <a:xfrm>
            <a:off x="2526030" y="1371600"/>
            <a:ext cx="1977390" cy="1188720"/>
          </a:xfrm>
          <a:prstGeom prst="roundRect">
            <a:avLst>
              <a:gd name="adj" fmla="val 6154"/>
            </a:avLst>
          </a:prstGeom>
          <a:solidFill>
            <a:srgbClr val="FFFFFF"/>
          </a:solidFill>
          <a:ln w="9525">
            <a:solidFill>
              <a:srgbClr val="DCE1E7"/>
            </a:solidFill>
            <a:prstDash val="solid"/>
          </a:ln>
        </p:spPr>
      </p:sp>
      <p:sp>
        <p:nvSpPr>
          <p:cNvPr id="11" name="Shape 8"/>
          <p:cNvSpPr/>
          <p:nvPr/>
        </p:nvSpPr>
        <p:spPr>
          <a:xfrm>
            <a:off x="2663190" y="1536192"/>
            <a:ext cx="1703070" cy="292608"/>
          </a:xfrm>
          <a:prstGeom prst="roundRect">
            <a:avLst>
              <a:gd name="adj" fmla="val 25000"/>
            </a:avLst>
          </a:prstGeom>
          <a:solidFill>
            <a:srgbClr val="E3F4F1"/>
          </a:solidFill>
          <a:ln w="9525">
            <a:solidFill>
              <a:srgbClr val="E3F4F1"/>
            </a:solidFill>
            <a:prstDash val="solid"/>
          </a:ln>
        </p:spPr>
      </p:sp>
      <p:sp>
        <p:nvSpPr>
          <p:cNvPr id="12" name="Text 9"/>
          <p:cNvSpPr txBox="1"/>
          <p:nvPr/>
        </p:nvSpPr>
        <p:spPr>
          <a:xfrm>
            <a:off x="2663190" y="1536192"/>
            <a:ext cx="1703070" cy="292608"/>
          </a:xfrm>
          <a:prstGeom prst="rect">
            <a:avLst/>
          </a:prstGeom>
          <a:noFill/>
          <a:ln/>
        </p:spPr>
        <p:txBody>
          <a:bodyPr wrap="square" lIns="0" tIns="0" rIns="0" bIns="0" rtlCol="0" anchor="ctr"/>
          <a:lstStyle/>
          <a:p>
            <a:pPr algn="ctr" indent="0" marL="0">
              <a:buNone/>
            </a:pPr>
            <a:r>
              <a:rPr lang="en-US" sz="950" b="1" dirty="0">
                <a:solidFill>
                  <a:srgbClr val="0B7A6F"/>
                </a:solidFill>
                <a:latin typeface="SF Pro Display" pitchFamily="34" charset="0"/>
                <a:ea typeface="SF Pro Display" pitchFamily="34" charset="-122"/>
                <a:cs typeface="SF Pro Display" pitchFamily="34" charset="-120"/>
              </a:rPr>
              <a:t>cpprofile_setpay</a:t>
            </a:r>
            <a:endParaRPr lang="en-US" sz="950" dirty="0"/>
          </a:p>
        </p:txBody>
      </p:sp>
      <p:sp>
        <p:nvSpPr>
          <p:cNvPr id="13" name="Text 10"/>
          <p:cNvSpPr txBox="1"/>
          <p:nvPr/>
        </p:nvSpPr>
        <p:spPr>
          <a:xfrm>
            <a:off x="2663190" y="1938528"/>
            <a:ext cx="1703070" cy="548640"/>
          </a:xfrm>
          <a:prstGeom prst="rect">
            <a:avLst/>
          </a:prstGeom>
          <a:noFill/>
          <a:ln/>
        </p:spPr>
        <p:txBody>
          <a:bodyPr wrap="square" lIns="0" tIns="0" rIns="0" bIns="0" rtlCol="0" anchor="t"/>
          <a:lstStyle/>
          <a:p>
            <a:pPr indent="0" marL="0">
              <a:buNone/>
            </a:pPr>
            <a:r>
              <a:rPr lang="en-US" sz="950" dirty="0">
                <a:solidFill>
                  <a:srgbClr val="1D1D1F"/>
                </a:solidFill>
                <a:latin typeface="SF Pro Text" pitchFamily="34" charset="0"/>
                <a:ea typeface="SF Pro Text" pitchFamily="34" charset="-122"/>
                <a:cs typeface="SF Pro Text" pitchFamily="34" charset="-120"/>
              </a:rPr>
              <a:t>Hasn't set their hourly rate</a:t>
            </a:r>
            <a:endParaRPr lang="en-US" sz="950" dirty="0"/>
          </a:p>
        </p:txBody>
      </p:sp>
      <p:sp>
        <p:nvSpPr>
          <p:cNvPr id="14" name="Shape 11"/>
          <p:cNvSpPr/>
          <p:nvPr/>
        </p:nvSpPr>
        <p:spPr>
          <a:xfrm>
            <a:off x="4640580" y="1371600"/>
            <a:ext cx="1977390" cy="1188720"/>
          </a:xfrm>
          <a:prstGeom prst="roundRect">
            <a:avLst>
              <a:gd name="adj" fmla="val 6154"/>
            </a:avLst>
          </a:prstGeom>
          <a:solidFill>
            <a:srgbClr val="FFFFFF"/>
          </a:solidFill>
          <a:ln w="9525">
            <a:solidFill>
              <a:srgbClr val="DCE1E7"/>
            </a:solidFill>
            <a:prstDash val="solid"/>
          </a:ln>
        </p:spPr>
      </p:sp>
      <p:sp>
        <p:nvSpPr>
          <p:cNvPr id="15" name="Shape 12"/>
          <p:cNvSpPr/>
          <p:nvPr/>
        </p:nvSpPr>
        <p:spPr>
          <a:xfrm>
            <a:off x="4777740" y="1536192"/>
            <a:ext cx="1703070" cy="292608"/>
          </a:xfrm>
          <a:prstGeom prst="roundRect">
            <a:avLst>
              <a:gd name="adj" fmla="val 25000"/>
            </a:avLst>
          </a:prstGeom>
          <a:solidFill>
            <a:srgbClr val="E3F4F1"/>
          </a:solidFill>
          <a:ln w="9525">
            <a:solidFill>
              <a:srgbClr val="E3F4F1"/>
            </a:solidFill>
            <a:prstDash val="solid"/>
          </a:ln>
        </p:spPr>
      </p:sp>
      <p:sp>
        <p:nvSpPr>
          <p:cNvPr id="16" name="Text 13"/>
          <p:cNvSpPr txBox="1"/>
          <p:nvPr/>
        </p:nvSpPr>
        <p:spPr>
          <a:xfrm>
            <a:off x="4777740" y="1536192"/>
            <a:ext cx="1703070" cy="292608"/>
          </a:xfrm>
          <a:prstGeom prst="rect">
            <a:avLst/>
          </a:prstGeom>
          <a:noFill/>
          <a:ln/>
        </p:spPr>
        <p:txBody>
          <a:bodyPr wrap="square" lIns="0" tIns="0" rIns="0" bIns="0" rtlCol="0" anchor="ctr"/>
          <a:lstStyle/>
          <a:p>
            <a:pPr algn="ctr" indent="0" marL="0">
              <a:buNone/>
            </a:pPr>
            <a:r>
              <a:rPr lang="en-US" sz="950" b="1" dirty="0">
                <a:solidFill>
                  <a:srgbClr val="0B7A6F"/>
                </a:solidFill>
                <a:latin typeface="SF Pro Display" pitchFamily="34" charset="0"/>
                <a:ea typeface="SF Pro Display" pitchFamily="34" charset="-122"/>
                <a:cs typeface="SF Pro Display" pitchFamily="34" charset="-120"/>
              </a:rPr>
              <a:t>cpprofilebio</a:t>
            </a:r>
            <a:endParaRPr lang="en-US" sz="950" dirty="0"/>
          </a:p>
        </p:txBody>
      </p:sp>
      <p:sp>
        <p:nvSpPr>
          <p:cNvPr id="17" name="Text 14"/>
          <p:cNvSpPr txBox="1"/>
          <p:nvPr/>
        </p:nvSpPr>
        <p:spPr>
          <a:xfrm>
            <a:off x="4777740" y="1938528"/>
            <a:ext cx="1703070" cy="548640"/>
          </a:xfrm>
          <a:prstGeom prst="rect">
            <a:avLst/>
          </a:prstGeom>
          <a:noFill/>
          <a:ln/>
        </p:spPr>
        <p:txBody>
          <a:bodyPr wrap="square" lIns="0" tIns="0" rIns="0" bIns="0" rtlCol="0" anchor="t"/>
          <a:lstStyle/>
          <a:p>
            <a:pPr indent="0" marL="0">
              <a:buNone/>
            </a:pPr>
            <a:r>
              <a:rPr lang="en-US" sz="950" dirty="0">
                <a:solidFill>
                  <a:srgbClr val="1D1D1F"/>
                </a:solidFill>
                <a:latin typeface="SF Pro Text" pitchFamily="34" charset="0"/>
                <a:ea typeface="SF Pro Text" pitchFamily="34" charset="-122"/>
                <a:cs typeface="SF Pro Text" pitchFamily="34" charset="-120"/>
              </a:rPr>
              <a:t>Hasn't added a photo or bio</a:t>
            </a:r>
            <a:endParaRPr lang="en-US" sz="950" dirty="0"/>
          </a:p>
        </p:txBody>
      </p:sp>
      <p:sp>
        <p:nvSpPr>
          <p:cNvPr id="18" name="Shape 15"/>
          <p:cNvSpPr/>
          <p:nvPr/>
        </p:nvSpPr>
        <p:spPr>
          <a:xfrm>
            <a:off x="6755130" y="1371600"/>
            <a:ext cx="1977390" cy="1188720"/>
          </a:xfrm>
          <a:prstGeom prst="roundRect">
            <a:avLst>
              <a:gd name="adj" fmla="val 6154"/>
            </a:avLst>
          </a:prstGeom>
          <a:solidFill>
            <a:srgbClr val="FFFFFF"/>
          </a:solidFill>
          <a:ln w="9525">
            <a:solidFill>
              <a:srgbClr val="DCE1E7"/>
            </a:solidFill>
            <a:prstDash val="solid"/>
          </a:ln>
        </p:spPr>
      </p:sp>
      <p:sp>
        <p:nvSpPr>
          <p:cNvPr id="19" name="Shape 16"/>
          <p:cNvSpPr/>
          <p:nvPr/>
        </p:nvSpPr>
        <p:spPr>
          <a:xfrm>
            <a:off x="6892290" y="1536192"/>
            <a:ext cx="1703070" cy="292608"/>
          </a:xfrm>
          <a:prstGeom prst="roundRect">
            <a:avLst>
              <a:gd name="adj" fmla="val 25000"/>
            </a:avLst>
          </a:prstGeom>
          <a:solidFill>
            <a:srgbClr val="E3F4F1"/>
          </a:solidFill>
          <a:ln w="9525">
            <a:solidFill>
              <a:srgbClr val="E3F4F1"/>
            </a:solidFill>
            <a:prstDash val="solid"/>
          </a:ln>
        </p:spPr>
      </p:sp>
      <p:sp>
        <p:nvSpPr>
          <p:cNvPr id="20" name="Text 17"/>
          <p:cNvSpPr txBox="1"/>
          <p:nvPr/>
        </p:nvSpPr>
        <p:spPr>
          <a:xfrm>
            <a:off x="6892290" y="1536192"/>
            <a:ext cx="1703070" cy="292608"/>
          </a:xfrm>
          <a:prstGeom prst="rect">
            <a:avLst/>
          </a:prstGeom>
          <a:noFill/>
          <a:ln/>
        </p:spPr>
        <p:txBody>
          <a:bodyPr wrap="square" lIns="0" tIns="0" rIns="0" bIns="0" rtlCol="0" anchor="ctr"/>
          <a:lstStyle/>
          <a:p>
            <a:pPr algn="ctr" indent="0" marL="0">
              <a:buNone/>
            </a:pPr>
            <a:r>
              <a:rPr lang="en-US" sz="950" b="1" dirty="0">
                <a:solidFill>
                  <a:srgbClr val="0B7A6F"/>
                </a:solidFill>
                <a:latin typeface="SF Pro Display" pitchFamily="34" charset="0"/>
                <a:ea typeface="SF Pro Display" pitchFamily="34" charset="-122"/>
                <a:cs typeface="SF Pro Display" pitchFamily="34" charset="-120"/>
              </a:rPr>
              <a:t>cpprofilesetuppayment</a:t>
            </a:r>
            <a:endParaRPr lang="en-US" sz="950" dirty="0"/>
          </a:p>
        </p:txBody>
      </p:sp>
      <p:sp>
        <p:nvSpPr>
          <p:cNvPr id="21" name="Text 18"/>
          <p:cNvSpPr txBox="1"/>
          <p:nvPr/>
        </p:nvSpPr>
        <p:spPr>
          <a:xfrm>
            <a:off x="6892290" y="1938528"/>
            <a:ext cx="1703070" cy="548640"/>
          </a:xfrm>
          <a:prstGeom prst="rect">
            <a:avLst/>
          </a:prstGeom>
          <a:noFill/>
          <a:ln/>
        </p:spPr>
        <p:txBody>
          <a:bodyPr wrap="square" lIns="0" tIns="0" rIns="0" bIns="0" rtlCol="0" anchor="t"/>
          <a:lstStyle/>
          <a:p>
            <a:pPr indent="0" marL="0">
              <a:buNone/>
            </a:pPr>
            <a:r>
              <a:rPr lang="en-US" sz="950" dirty="0">
                <a:solidFill>
                  <a:srgbClr val="1D1D1F"/>
                </a:solidFill>
                <a:latin typeface="SF Pro Text" pitchFamily="34" charset="0"/>
                <a:ea typeface="SF Pro Text" pitchFamily="34" charset="-122"/>
                <a:cs typeface="SF Pro Text" pitchFamily="34" charset="-120"/>
              </a:rPr>
              <a:t>Hasn't added legal or payment info</a:t>
            </a:r>
            <a:endParaRPr lang="en-US" sz="950" dirty="0"/>
          </a:p>
        </p:txBody>
      </p:sp>
      <p:sp>
        <p:nvSpPr>
          <p:cNvPr id="22" name="Shape 19"/>
          <p:cNvSpPr/>
          <p:nvPr/>
        </p:nvSpPr>
        <p:spPr>
          <a:xfrm>
            <a:off x="411480" y="2697480"/>
            <a:ext cx="1977390" cy="1188720"/>
          </a:xfrm>
          <a:prstGeom prst="roundRect">
            <a:avLst>
              <a:gd name="adj" fmla="val 6154"/>
            </a:avLst>
          </a:prstGeom>
          <a:solidFill>
            <a:srgbClr val="FFFFFF"/>
          </a:solidFill>
          <a:ln w="9525">
            <a:solidFill>
              <a:srgbClr val="DCE1E7"/>
            </a:solidFill>
            <a:prstDash val="solid"/>
          </a:ln>
        </p:spPr>
      </p:sp>
      <p:sp>
        <p:nvSpPr>
          <p:cNvPr id="23" name="Shape 20"/>
          <p:cNvSpPr/>
          <p:nvPr/>
        </p:nvSpPr>
        <p:spPr>
          <a:xfrm>
            <a:off x="548640" y="2862072"/>
            <a:ext cx="1703070" cy="292608"/>
          </a:xfrm>
          <a:prstGeom prst="roundRect">
            <a:avLst>
              <a:gd name="adj" fmla="val 25000"/>
            </a:avLst>
          </a:prstGeom>
          <a:solidFill>
            <a:srgbClr val="E3F4F1"/>
          </a:solidFill>
          <a:ln w="9525">
            <a:solidFill>
              <a:srgbClr val="E3F4F1"/>
            </a:solidFill>
            <a:prstDash val="solid"/>
          </a:ln>
        </p:spPr>
      </p:sp>
      <p:sp>
        <p:nvSpPr>
          <p:cNvPr id="24" name="Text 21"/>
          <p:cNvSpPr txBox="1"/>
          <p:nvPr/>
        </p:nvSpPr>
        <p:spPr>
          <a:xfrm>
            <a:off x="548640" y="2862072"/>
            <a:ext cx="1703070" cy="292608"/>
          </a:xfrm>
          <a:prstGeom prst="rect">
            <a:avLst/>
          </a:prstGeom>
          <a:noFill/>
          <a:ln/>
        </p:spPr>
        <p:txBody>
          <a:bodyPr wrap="square" lIns="0" tIns="0" rIns="0" bIns="0" rtlCol="0" anchor="ctr"/>
          <a:lstStyle/>
          <a:p>
            <a:pPr algn="ctr" indent="0" marL="0">
              <a:buNone/>
            </a:pPr>
            <a:r>
              <a:rPr lang="en-US" sz="950" b="1" dirty="0">
                <a:solidFill>
                  <a:srgbClr val="0B7A6F"/>
                </a:solidFill>
                <a:latin typeface="SF Pro Display" pitchFamily="34" charset="0"/>
                <a:ea typeface="SF Pro Display" pitchFamily="34" charset="-122"/>
                <a:cs typeface="SF Pro Display" pitchFamily="34" charset="-120"/>
              </a:rPr>
              <a:t>cpsignica</a:t>
            </a:r>
            <a:endParaRPr lang="en-US" sz="950" dirty="0"/>
          </a:p>
        </p:txBody>
      </p:sp>
      <p:sp>
        <p:nvSpPr>
          <p:cNvPr id="25" name="Text 22"/>
          <p:cNvSpPr txBox="1"/>
          <p:nvPr/>
        </p:nvSpPr>
        <p:spPr>
          <a:xfrm>
            <a:off x="548640" y="3264408"/>
            <a:ext cx="1703070" cy="548640"/>
          </a:xfrm>
          <a:prstGeom prst="rect">
            <a:avLst/>
          </a:prstGeom>
          <a:noFill/>
          <a:ln/>
        </p:spPr>
        <p:txBody>
          <a:bodyPr wrap="square" lIns="0" tIns="0" rIns="0" bIns="0" rtlCol="0" anchor="t"/>
          <a:lstStyle/>
          <a:p>
            <a:pPr indent="0" marL="0">
              <a:buNone/>
            </a:pPr>
            <a:r>
              <a:rPr lang="en-US" sz="950" dirty="0">
                <a:solidFill>
                  <a:srgbClr val="1D1D1F"/>
                </a:solidFill>
                <a:latin typeface="SF Pro Text" pitchFamily="34" charset="0"/>
                <a:ea typeface="SF Pro Text" pitchFamily="34" charset="-122"/>
                <a:cs typeface="SF Pro Text" pitchFamily="34" charset="-120"/>
              </a:rPr>
              <a:t>Hasn't accepted the Platform Access Agreement</a:t>
            </a:r>
            <a:endParaRPr lang="en-US" sz="950" dirty="0"/>
          </a:p>
        </p:txBody>
      </p:sp>
      <p:sp>
        <p:nvSpPr>
          <p:cNvPr id="26" name="Shape 23"/>
          <p:cNvSpPr/>
          <p:nvPr/>
        </p:nvSpPr>
        <p:spPr>
          <a:xfrm>
            <a:off x="2526030" y="2697480"/>
            <a:ext cx="1977390" cy="1188720"/>
          </a:xfrm>
          <a:prstGeom prst="roundRect">
            <a:avLst>
              <a:gd name="adj" fmla="val 6154"/>
            </a:avLst>
          </a:prstGeom>
          <a:solidFill>
            <a:srgbClr val="FFFFFF"/>
          </a:solidFill>
          <a:ln w="9525">
            <a:solidFill>
              <a:srgbClr val="DCE1E7"/>
            </a:solidFill>
            <a:prstDash val="solid"/>
          </a:ln>
        </p:spPr>
      </p:sp>
      <p:sp>
        <p:nvSpPr>
          <p:cNvPr id="27" name="Shape 24"/>
          <p:cNvSpPr/>
          <p:nvPr/>
        </p:nvSpPr>
        <p:spPr>
          <a:xfrm>
            <a:off x="2663190" y="2862072"/>
            <a:ext cx="1703070" cy="292608"/>
          </a:xfrm>
          <a:prstGeom prst="roundRect">
            <a:avLst>
              <a:gd name="adj" fmla="val 25000"/>
            </a:avLst>
          </a:prstGeom>
          <a:solidFill>
            <a:srgbClr val="E3F4F1"/>
          </a:solidFill>
          <a:ln w="9525">
            <a:solidFill>
              <a:srgbClr val="E3F4F1"/>
            </a:solidFill>
            <a:prstDash val="solid"/>
          </a:ln>
        </p:spPr>
      </p:sp>
      <p:sp>
        <p:nvSpPr>
          <p:cNvPr id="28" name="Text 25"/>
          <p:cNvSpPr txBox="1"/>
          <p:nvPr/>
        </p:nvSpPr>
        <p:spPr>
          <a:xfrm>
            <a:off x="2663190" y="2862072"/>
            <a:ext cx="1703070" cy="292608"/>
          </a:xfrm>
          <a:prstGeom prst="rect">
            <a:avLst/>
          </a:prstGeom>
          <a:noFill/>
          <a:ln/>
        </p:spPr>
        <p:txBody>
          <a:bodyPr wrap="square" lIns="0" tIns="0" rIns="0" bIns="0" rtlCol="0" anchor="ctr"/>
          <a:lstStyle/>
          <a:p>
            <a:pPr algn="ctr" indent="0" marL="0">
              <a:buNone/>
            </a:pPr>
            <a:r>
              <a:rPr lang="en-US" sz="950" b="1" dirty="0">
                <a:solidFill>
                  <a:srgbClr val="0B7A6F"/>
                </a:solidFill>
                <a:latin typeface="SF Pro Display" pitchFamily="34" charset="0"/>
                <a:ea typeface="SF Pro Display" pitchFamily="34" charset="-122"/>
                <a:cs typeface="SF Pro Display" pitchFamily="34" charset="-120"/>
              </a:rPr>
              <a:t>cphowitworks</a:t>
            </a:r>
            <a:endParaRPr lang="en-US" sz="950" dirty="0"/>
          </a:p>
        </p:txBody>
      </p:sp>
      <p:sp>
        <p:nvSpPr>
          <p:cNvPr id="29" name="Text 26"/>
          <p:cNvSpPr txBox="1"/>
          <p:nvPr/>
        </p:nvSpPr>
        <p:spPr>
          <a:xfrm>
            <a:off x="2663190" y="3264408"/>
            <a:ext cx="1703070" cy="548640"/>
          </a:xfrm>
          <a:prstGeom prst="rect">
            <a:avLst/>
          </a:prstGeom>
          <a:noFill/>
          <a:ln/>
        </p:spPr>
        <p:txBody>
          <a:bodyPr wrap="square" lIns="0" tIns="0" rIns="0" bIns="0" rtlCol="0" anchor="t"/>
          <a:lstStyle/>
          <a:p>
            <a:pPr indent="0" marL="0">
              <a:buNone/>
            </a:pPr>
            <a:r>
              <a:rPr lang="en-US" sz="950" dirty="0">
                <a:solidFill>
                  <a:srgbClr val="1D1D1F"/>
                </a:solidFill>
                <a:latin typeface="SF Pro Text" pitchFamily="34" charset="0"/>
                <a:ea typeface="SF Pro Text" pitchFamily="34" charset="-122"/>
                <a:cs typeface="SF Pro Text" pitchFamily="34" charset="-120"/>
              </a:rPr>
              <a:t>Quiz not done, inactive 30+ days, or no photo</a:t>
            </a:r>
            <a:endParaRPr lang="en-US" sz="950" dirty="0"/>
          </a:p>
        </p:txBody>
      </p:sp>
      <p:sp>
        <p:nvSpPr>
          <p:cNvPr id="30" name="Shape 27"/>
          <p:cNvSpPr/>
          <p:nvPr/>
        </p:nvSpPr>
        <p:spPr>
          <a:xfrm>
            <a:off x="4640580" y="2697480"/>
            <a:ext cx="1977390" cy="1188720"/>
          </a:xfrm>
          <a:prstGeom prst="roundRect">
            <a:avLst>
              <a:gd name="adj" fmla="val 6154"/>
            </a:avLst>
          </a:prstGeom>
          <a:solidFill>
            <a:srgbClr val="FFFFFF"/>
          </a:solidFill>
          <a:ln w="9525">
            <a:solidFill>
              <a:srgbClr val="DCE1E7"/>
            </a:solidFill>
            <a:prstDash val="solid"/>
          </a:ln>
        </p:spPr>
      </p:sp>
      <p:sp>
        <p:nvSpPr>
          <p:cNvPr id="31" name="Shape 28"/>
          <p:cNvSpPr/>
          <p:nvPr/>
        </p:nvSpPr>
        <p:spPr>
          <a:xfrm>
            <a:off x="4777740" y="2862072"/>
            <a:ext cx="1703070" cy="292608"/>
          </a:xfrm>
          <a:prstGeom prst="roundRect">
            <a:avLst>
              <a:gd name="adj" fmla="val 25000"/>
            </a:avLst>
          </a:prstGeom>
          <a:solidFill>
            <a:srgbClr val="E3F4F1"/>
          </a:solidFill>
          <a:ln w="9525">
            <a:solidFill>
              <a:srgbClr val="E3F4F1"/>
            </a:solidFill>
            <a:prstDash val="solid"/>
          </a:ln>
        </p:spPr>
      </p:sp>
      <p:sp>
        <p:nvSpPr>
          <p:cNvPr id="32" name="Text 29"/>
          <p:cNvSpPr txBox="1"/>
          <p:nvPr/>
        </p:nvSpPr>
        <p:spPr>
          <a:xfrm>
            <a:off x="4777740" y="2862072"/>
            <a:ext cx="1703070" cy="292608"/>
          </a:xfrm>
          <a:prstGeom prst="rect">
            <a:avLst/>
          </a:prstGeom>
          <a:noFill/>
          <a:ln/>
        </p:spPr>
        <p:txBody>
          <a:bodyPr wrap="square" lIns="0" tIns="0" rIns="0" bIns="0" rtlCol="0" anchor="ctr"/>
          <a:lstStyle/>
          <a:p>
            <a:pPr algn="ctr" indent="0" marL="0">
              <a:buNone/>
            </a:pPr>
            <a:r>
              <a:rPr lang="en-US" sz="950" b="1" dirty="0">
                <a:solidFill>
                  <a:srgbClr val="0B7A6F"/>
                </a:solidFill>
                <a:latin typeface="SF Pro Display" pitchFamily="34" charset="0"/>
                <a:ea typeface="SF Pro Display" pitchFamily="34" charset="-122"/>
                <a:cs typeface="SF Pro Display" pitchFamily="34" charset="-120"/>
              </a:rPr>
              <a:t>Imported</a:t>
            </a:r>
            <a:endParaRPr lang="en-US" sz="950" dirty="0"/>
          </a:p>
        </p:txBody>
      </p:sp>
      <p:sp>
        <p:nvSpPr>
          <p:cNvPr id="33" name="Text 30"/>
          <p:cNvSpPr txBox="1"/>
          <p:nvPr/>
        </p:nvSpPr>
        <p:spPr>
          <a:xfrm>
            <a:off x="4777740" y="3264408"/>
            <a:ext cx="1703070" cy="548640"/>
          </a:xfrm>
          <a:prstGeom prst="rect">
            <a:avLst/>
          </a:prstGeom>
          <a:noFill/>
          <a:ln/>
        </p:spPr>
        <p:txBody>
          <a:bodyPr wrap="square" lIns="0" tIns="0" rIns="0" bIns="0" rtlCol="0" anchor="t"/>
          <a:lstStyle/>
          <a:p>
            <a:pPr indent="0" marL="0">
              <a:buNone/>
            </a:pPr>
            <a:r>
              <a:rPr lang="en-US" sz="950" dirty="0">
                <a:solidFill>
                  <a:srgbClr val="1D1D1F"/>
                </a:solidFill>
                <a:latin typeface="SF Pro Text" pitchFamily="34" charset="0"/>
                <a:ea typeface="SF Pro Text" pitchFamily="34" charset="-122"/>
                <a:cs typeface="SF Pro Text" pitchFamily="34" charset="-120"/>
              </a:rPr>
              <a:t>Former Homejoy cleaner, info imported</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PROFILE STATUS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the system changes automatically</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914400"/>
        </p:xfrm>
        <a:graphic>
          <a:graphicData uri="http://schemas.openxmlformats.org/drawingml/2006/table">
            <a:tbl>
              <a:tblPr/>
              <a:tblGrid>
                <a:gridCol w="1920240"/>
                <a:gridCol w="2743200"/>
                <a:gridCol w="3657600"/>
              </a:tblGrid>
              <a:tr h="329184">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What</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Moves to norequests</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Moves to suspended</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2918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Keep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80% or lower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Below 70%  ·  probation: below 100%</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No-shows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2 in last 5 jobs  ·  probation: any</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Reviews (OCW)</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Average below 4.0</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Probation: any 1- or 2-star review</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Reschedules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Based on various calculations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Refund requests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2 in last 10 jobs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New cleaner: 2</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Supplies / profile photo</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Rejected</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Rejected 3 or more times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Background check</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Info matches another CP</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Matches a fraud-flagged CP, or not clear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Other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Rescheduled a job to before the account existed</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4206240"/>
            <a:ext cx="8321040" cy="384048"/>
          </a:xfrm>
          <a:prstGeom prst="roundRect">
            <a:avLst>
              <a:gd name="adj" fmla="val 19048"/>
            </a:avLst>
          </a:prstGeom>
          <a:solidFill>
            <a:srgbClr val="FFF3D6"/>
          </a:solidFill>
          <a:ln w="9525">
            <a:solidFill>
              <a:srgbClr val="FFF3D6"/>
            </a:solidFill>
            <a:prstDash val="solid"/>
          </a:ln>
        </p:spPr>
      </p:sp>
      <p:pic>
        <p:nvPicPr>
          <p:cNvPr id="7" name="Image 0" descr="preencoded.png">    </p:cNvPr>
          <p:cNvPicPr>
            <a:picLocks noChangeAspect="1"/>
          </p:cNvPicPr>
          <p:nvPr/>
        </p:nvPicPr>
        <p:blipFill>
          <a:blip r:embed="rId1"/>
          <a:stretch>
            <a:fillRect/>
          </a:stretch>
        </p:blipFill>
        <p:spPr>
          <a:xfrm>
            <a:off x="566928" y="4315968"/>
            <a:ext cx="164592" cy="164592"/>
          </a:xfrm>
          <a:prstGeom prst="rect">
            <a:avLst/>
          </a:prstGeom>
        </p:spPr>
      </p:pic>
      <p:sp>
        <p:nvSpPr>
          <p:cNvPr id="8" name="Text 3"/>
          <p:cNvSpPr txBox="1"/>
          <p:nvPr/>
        </p:nvSpPr>
        <p:spPr>
          <a:xfrm>
            <a:off x="822960" y="43068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Probation:  </a:t>
            </a:r>
            <a:pPr indent="0" marL="0">
              <a:buNone/>
            </a:pPr>
            <a:r>
              <a:rPr lang="en-US" sz="1000" dirty="0">
                <a:solidFill>
                  <a:srgbClr val="1D1D1F"/>
                </a:solidFill>
                <a:latin typeface="SF Pro Text" pitchFamily="34" charset="0"/>
                <a:ea typeface="SF Pro Text" pitchFamily="34" charset="-122"/>
                <a:cs typeface="SF Pro Text" pitchFamily="34" charset="-120"/>
              </a:rPr>
              <a:t>new cleaners (0–2 invoiced jobs since activation) face stricter thresholds.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PROFILE STATUS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Check the numbers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CP's CRM page shows their status and how they compare to the limits.</a:t>
            </a:r>
            <a:endParaRPr lang="en-US" sz="1200" dirty="0"/>
          </a:p>
        </p:txBody>
      </p:sp>
      <p:sp>
        <p:nvSpPr>
          <p:cNvPr id="6" name="Shape 3"/>
          <p:cNvSpPr/>
          <p:nvPr/>
        </p:nvSpPr>
        <p:spPr>
          <a:xfrm>
            <a:off x="411480" y="1280160"/>
            <a:ext cx="5120640" cy="2560320"/>
          </a:xfrm>
          <a:prstGeom prst="roundRect">
            <a:avLst>
              <a:gd name="adj" fmla="val 2857"/>
            </a:avLst>
          </a:prstGeom>
          <a:solidFill>
            <a:srgbClr val="FFFFFF"/>
          </a:solidFill>
          <a:ln w="9525">
            <a:solidFill>
              <a:srgbClr val="DCE1E7"/>
            </a:solidFill>
            <a:prstDash val="solid"/>
          </a:ln>
        </p:spPr>
      </p:sp>
      <p:pic>
        <p:nvPicPr>
          <p:cNvPr id="7" name="Image 0" descr="/tmp/claude-0/-workspace-training/3ce5cff6-cccf-5f33-b0ee-0b147a55120e/scratchpad/img2/cp_reliability.png">    </p:cNvPr>
          <p:cNvPicPr>
            <a:picLocks noChangeAspect="1"/>
          </p:cNvPicPr>
          <p:nvPr/>
        </p:nvPicPr>
        <p:blipFill>
          <a:blip r:embed="rId1"/>
          <a:stretch>
            <a:fillRect/>
          </a:stretch>
        </p:blipFill>
        <p:spPr>
          <a:xfrm>
            <a:off x="484632" y="1430371"/>
            <a:ext cx="4974336" cy="2259898"/>
          </a:xfrm>
          <a:prstGeom prst="rect">
            <a:avLst/>
          </a:prstGeom>
        </p:spPr>
      </p:pic>
      <p:sp>
        <p:nvSpPr>
          <p:cNvPr id="8" name="Shape 4"/>
          <p:cNvSpPr/>
          <p:nvPr/>
        </p:nvSpPr>
        <p:spPr>
          <a:xfrm>
            <a:off x="651083" y="2038559"/>
            <a:ext cx="256079" cy="108834"/>
          </a:xfrm>
          <a:prstGeom prst="roundRect">
            <a:avLst>
              <a:gd name="adj" fmla="val 25205"/>
            </a:avLst>
          </a:prstGeom>
          <a:ln w="25400">
            <a:solidFill>
              <a:srgbClr val="0B7A6F"/>
            </a:solidFill>
            <a:prstDash val="solid"/>
          </a:ln>
        </p:spPr>
      </p:sp>
      <p:sp>
        <p:nvSpPr>
          <p:cNvPr id="9" name="Shape 5"/>
          <p:cNvSpPr/>
          <p:nvPr/>
        </p:nvSpPr>
        <p:spPr>
          <a:xfrm>
            <a:off x="550499" y="1937975"/>
            <a:ext cx="201168" cy="201168"/>
          </a:xfrm>
          <a:prstGeom prst="ellipse">
            <a:avLst/>
          </a:prstGeom>
          <a:solidFill>
            <a:srgbClr val="0B7A6F"/>
          </a:solidFill>
          <a:ln w="12700">
            <a:solidFill>
              <a:srgbClr val="FFFFFF"/>
            </a:solidFill>
            <a:prstDash val="solid"/>
          </a:ln>
        </p:spPr>
      </p:sp>
      <p:sp>
        <p:nvSpPr>
          <p:cNvPr id="10" name="Text 6"/>
          <p:cNvSpPr txBox="1"/>
          <p:nvPr/>
        </p:nvSpPr>
        <p:spPr>
          <a:xfrm>
            <a:off x="550499" y="1937975"/>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11" name="Shape 7"/>
          <p:cNvSpPr/>
          <p:nvPr/>
        </p:nvSpPr>
        <p:spPr>
          <a:xfrm>
            <a:off x="651083" y="2294638"/>
            <a:ext cx="2215084" cy="544168"/>
          </a:xfrm>
          <a:prstGeom prst="roundRect">
            <a:avLst>
              <a:gd name="adj" fmla="val 5041"/>
            </a:avLst>
          </a:prstGeom>
          <a:ln w="25400">
            <a:solidFill>
              <a:srgbClr val="0B7A6F"/>
            </a:solidFill>
            <a:prstDash val="solid"/>
          </a:ln>
        </p:spPr>
      </p:sp>
      <p:sp>
        <p:nvSpPr>
          <p:cNvPr id="12" name="Shape 8"/>
          <p:cNvSpPr/>
          <p:nvPr/>
        </p:nvSpPr>
        <p:spPr>
          <a:xfrm>
            <a:off x="550499" y="2194054"/>
            <a:ext cx="201168" cy="201168"/>
          </a:xfrm>
          <a:prstGeom prst="ellipse">
            <a:avLst/>
          </a:prstGeom>
          <a:solidFill>
            <a:srgbClr val="0B7A6F"/>
          </a:solidFill>
          <a:ln w="12700">
            <a:solidFill>
              <a:srgbClr val="FFFFFF"/>
            </a:solidFill>
            <a:prstDash val="solid"/>
          </a:ln>
        </p:spPr>
      </p:sp>
      <p:sp>
        <p:nvSpPr>
          <p:cNvPr id="13" name="Text 9"/>
          <p:cNvSpPr txBox="1"/>
          <p:nvPr/>
        </p:nvSpPr>
        <p:spPr>
          <a:xfrm>
            <a:off x="550499" y="219405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2</a:t>
            </a:r>
            <a:endParaRPr lang="en-US" sz="800" dirty="0"/>
          </a:p>
        </p:txBody>
      </p:sp>
      <p:sp>
        <p:nvSpPr>
          <p:cNvPr id="14" name="Shape 10"/>
          <p:cNvSpPr/>
          <p:nvPr/>
        </p:nvSpPr>
        <p:spPr>
          <a:xfrm>
            <a:off x="3026217" y="2153794"/>
            <a:ext cx="2202280" cy="1049924"/>
          </a:xfrm>
          <a:prstGeom prst="roundRect">
            <a:avLst>
              <a:gd name="adj" fmla="val 2613"/>
            </a:avLst>
          </a:prstGeom>
          <a:ln w="25400">
            <a:solidFill>
              <a:srgbClr val="0B7A6F"/>
            </a:solidFill>
            <a:prstDash val="solid"/>
          </a:ln>
        </p:spPr>
      </p:sp>
      <p:sp>
        <p:nvSpPr>
          <p:cNvPr id="15" name="Shape 11"/>
          <p:cNvSpPr/>
          <p:nvPr/>
        </p:nvSpPr>
        <p:spPr>
          <a:xfrm>
            <a:off x="2925633" y="2053210"/>
            <a:ext cx="201168" cy="201168"/>
          </a:xfrm>
          <a:prstGeom prst="ellipse">
            <a:avLst/>
          </a:prstGeom>
          <a:solidFill>
            <a:srgbClr val="0B7A6F"/>
          </a:solidFill>
          <a:ln w="12700">
            <a:solidFill>
              <a:srgbClr val="FFFFFF"/>
            </a:solidFill>
            <a:prstDash val="solid"/>
          </a:ln>
        </p:spPr>
      </p:sp>
      <p:sp>
        <p:nvSpPr>
          <p:cNvPr id="16" name="Text 12"/>
          <p:cNvSpPr txBox="1"/>
          <p:nvPr/>
        </p:nvSpPr>
        <p:spPr>
          <a:xfrm>
            <a:off x="2925633" y="205321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3</a:t>
            </a:r>
            <a:endParaRPr lang="en-US" sz="800" dirty="0"/>
          </a:p>
        </p:txBody>
      </p:sp>
      <p:sp>
        <p:nvSpPr>
          <p:cNvPr id="17" name="Shape 13"/>
          <p:cNvSpPr/>
          <p:nvPr/>
        </p:nvSpPr>
        <p:spPr>
          <a:xfrm>
            <a:off x="5669280" y="1280160"/>
            <a:ext cx="3063240" cy="685800"/>
          </a:xfrm>
          <a:prstGeom prst="roundRect">
            <a:avLst>
              <a:gd name="adj" fmla="val 10667"/>
            </a:avLst>
          </a:prstGeom>
          <a:solidFill>
            <a:srgbClr val="FFFFFF"/>
          </a:solidFill>
          <a:ln w="9525">
            <a:solidFill>
              <a:srgbClr val="DCE1E7"/>
            </a:solidFill>
            <a:prstDash val="solid"/>
          </a:ln>
        </p:spPr>
      </p:sp>
      <p:sp>
        <p:nvSpPr>
          <p:cNvPr id="18" name="Shape 14"/>
          <p:cNvSpPr/>
          <p:nvPr/>
        </p:nvSpPr>
        <p:spPr>
          <a:xfrm>
            <a:off x="5797296" y="1495044"/>
            <a:ext cx="256032" cy="256032"/>
          </a:xfrm>
          <a:prstGeom prst="ellipse">
            <a:avLst/>
          </a:prstGeom>
          <a:solidFill>
            <a:srgbClr val="0B7A6F"/>
          </a:solidFill>
          <a:ln w="12700">
            <a:solidFill>
              <a:srgbClr val="0B7A6F"/>
            </a:solidFill>
            <a:prstDash val="solid"/>
          </a:ln>
        </p:spPr>
      </p:sp>
      <p:sp>
        <p:nvSpPr>
          <p:cNvPr id="19" name="Text 15"/>
          <p:cNvSpPr txBox="1"/>
          <p:nvPr/>
        </p:nvSpPr>
        <p:spPr>
          <a:xfrm>
            <a:off x="5797296" y="14950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1</a:t>
            </a:r>
            <a:endParaRPr lang="en-US" sz="900" dirty="0"/>
          </a:p>
        </p:txBody>
      </p:sp>
      <p:sp>
        <p:nvSpPr>
          <p:cNvPr id="20" name="Text 16"/>
          <p:cNvSpPr txBox="1"/>
          <p:nvPr/>
        </p:nvSpPr>
        <p:spPr>
          <a:xfrm>
            <a:off x="6172200" y="1325880"/>
            <a:ext cx="2468880" cy="59436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Status and rate</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The current status, e.g. active</a:t>
            </a:r>
            <a:endParaRPr lang="en-US" sz="1050" dirty="0"/>
          </a:p>
        </p:txBody>
      </p:sp>
      <p:sp>
        <p:nvSpPr>
          <p:cNvPr id="21" name="Shape 17"/>
          <p:cNvSpPr/>
          <p:nvPr/>
        </p:nvSpPr>
        <p:spPr>
          <a:xfrm>
            <a:off x="5669280" y="2057400"/>
            <a:ext cx="3063240" cy="685800"/>
          </a:xfrm>
          <a:prstGeom prst="roundRect">
            <a:avLst>
              <a:gd name="adj" fmla="val 10667"/>
            </a:avLst>
          </a:prstGeom>
          <a:solidFill>
            <a:srgbClr val="FFFFFF"/>
          </a:solidFill>
          <a:ln w="9525">
            <a:solidFill>
              <a:srgbClr val="DCE1E7"/>
            </a:solidFill>
            <a:prstDash val="solid"/>
          </a:ln>
        </p:spPr>
      </p:sp>
      <p:sp>
        <p:nvSpPr>
          <p:cNvPr id="22" name="Shape 18"/>
          <p:cNvSpPr/>
          <p:nvPr/>
        </p:nvSpPr>
        <p:spPr>
          <a:xfrm>
            <a:off x="5797296" y="2272284"/>
            <a:ext cx="256032" cy="256032"/>
          </a:xfrm>
          <a:prstGeom prst="ellipse">
            <a:avLst/>
          </a:prstGeom>
          <a:solidFill>
            <a:srgbClr val="0B7A6F"/>
          </a:solidFill>
          <a:ln w="12700">
            <a:solidFill>
              <a:srgbClr val="0B7A6F"/>
            </a:solidFill>
            <a:prstDash val="solid"/>
          </a:ln>
        </p:spPr>
      </p:sp>
      <p:sp>
        <p:nvSpPr>
          <p:cNvPr id="23" name="Text 19"/>
          <p:cNvSpPr txBox="1"/>
          <p:nvPr/>
        </p:nvSpPr>
        <p:spPr>
          <a:xfrm>
            <a:off x="5797296" y="227228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2</a:t>
            </a:r>
            <a:endParaRPr lang="en-US" sz="900" dirty="0"/>
          </a:p>
        </p:txBody>
      </p:sp>
      <p:sp>
        <p:nvSpPr>
          <p:cNvPr id="24" name="Text 20"/>
          <p:cNvSpPr txBox="1"/>
          <p:nvPr/>
        </p:nvSpPr>
        <p:spPr>
          <a:xfrm>
            <a:off x="6172200" y="2103120"/>
            <a:ext cx="2468880" cy="59436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Lifetime issues</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Damage, theft, false invoices, overcharged hours</a:t>
            </a:r>
            <a:endParaRPr lang="en-US" sz="1050" dirty="0"/>
          </a:p>
        </p:txBody>
      </p:sp>
      <p:sp>
        <p:nvSpPr>
          <p:cNvPr id="25" name="Shape 21"/>
          <p:cNvSpPr/>
          <p:nvPr/>
        </p:nvSpPr>
        <p:spPr>
          <a:xfrm>
            <a:off x="5669280" y="2834640"/>
            <a:ext cx="3063240" cy="685800"/>
          </a:xfrm>
          <a:prstGeom prst="roundRect">
            <a:avLst>
              <a:gd name="adj" fmla="val 10667"/>
            </a:avLst>
          </a:prstGeom>
          <a:solidFill>
            <a:srgbClr val="FFFFFF"/>
          </a:solidFill>
          <a:ln w="9525">
            <a:solidFill>
              <a:srgbClr val="DCE1E7"/>
            </a:solidFill>
            <a:prstDash val="solid"/>
          </a:ln>
        </p:spPr>
      </p:sp>
      <p:sp>
        <p:nvSpPr>
          <p:cNvPr id="26" name="Shape 22"/>
          <p:cNvSpPr/>
          <p:nvPr/>
        </p:nvSpPr>
        <p:spPr>
          <a:xfrm>
            <a:off x="5797296" y="3049524"/>
            <a:ext cx="256032" cy="256032"/>
          </a:xfrm>
          <a:prstGeom prst="ellipse">
            <a:avLst/>
          </a:prstGeom>
          <a:solidFill>
            <a:srgbClr val="0B7A6F"/>
          </a:solidFill>
          <a:ln w="12700">
            <a:solidFill>
              <a:srgbClr val="0B7A6F"/>
            </a:solidFill>
            <a:prstDash val="solid"/>
          </a:ln>
        </p:spPr>
      </p:sp>
      <p:sp>
        <p:nvSpPr>
          <p:cNvPr id="27" name="Text 23"/>
          <p:cNvSpPr txBox="1"/>
          <p:nvPr/>
        </p:nvSpPr>
        <p:spPr>
          <a:xfrm>
            <a:off x="5797296" y="30495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3</a:t>
            </a:r>
            <a:endParaRPr lang="en-US" sz="900" dirty="0"/>
          </a:p>
        </p:txBody>
      </p:sp>
      <p:sp>
        <p:nvSpPr>
          <p:cNvPr id="28" name="Text 24"/>
          <p:cNvSpPr txBox="1"/>
          <p:nvPr/>
        </p:nvSpPr>
        <p:spPr>
          <a:xfrm>
            <a:off x="6172200" y="2880360"/>
            <a:ext cx="2468880" cy="59436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Limit vs Actual</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Last 60 days: issues out of invoiced jobs</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PROFILE STATUS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Before you change a status</a:t>
            </a:r>
            <a:endParaRPr lang="en-US" sz="2400" dirty="0"/>
          </a:p>
        </p:txBody>
      </p:sp>
      <p:sp>
        <p:nvSpPr>
          <p:cNvPr id="5" name="Shape 2"/>
          <p:cNvSpPr/>
          <p:nvPr/>
        </p:nvSpPr>
        <p:spPr>
          <a:xfrm>
            <a:off x="411480" y="1188720"/>
            <a:ext cx="8321040" cy="1234440"/>
          </a:xfrm>
          <a:prstGeom prst="roundRect">
            <a:avLst>
              <a:gd name="adj" fmla="val 5926"/>
            </a:avLst>
          </a:prstGeom>
          <a:solidFill>
            <a:srgbClr val="E3F4F1"/>
          </a:solidFill>
          <a:ln w="9525">
            <a:solidFill>
              <a:srgbClr val="E3F4F1"/>
            </a:solidFill>
            <a:prstDash val="solid"/>
          </a:ln>
        </p:spPr>
      </p:sp>
      <p:sp>
        <p:nvSpPr>
          <p:cNvPr id="6" name="Text 3"/>
          <p:cNvSpPr txBox="1"/>
          <p:nvPr/>
        </p:nvSpPr>
        <p:spPr>
          <a:xfrm>
            <a:off x="685800" y="1371600"/>
            <a:ext cx="54864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ASK YOURSELF</a:t>
            </a:r>
            <a:endParaRPr lang="en-US" sz="800" dirty="0"/>
          </a:p>
        </p:txBody>
      </p:sp>
      <p:sp>
        <p:nvSpPr>
          <p:cNvPr id="7" name="Text 4"/>
          <p:cNvSpPr txBox="1"/>
          <p:nvPr/>
        </p:nvSpPr>
        <p:spPr>
          <a:xfrm>
            <a:off x="685800" y="1600200"/>
            <a:ext cx="7772400" cy="640080"/>
          </a:xfrm>
          <a:prstGeom prst="rect">
            <a:avLst/>
          </a:prstGeom>
          <a:noFill/>
          <a:ln/>
        </p:spPr>
        <p:txBody>
          <a:bodyPr wrap="square" lIns="0" tIns="0" rIns="0" bIns="0" rtlCol="0" anchor="t"/>
          <a:lstStyle/>
          <a:p>
            <a:pPr indent="0" marL="0">
              <a:buNone/>
            </a:pPr>
            <a:r>
              <a:rPr lang="en-US" sz="1700" b="1" dirty="0">
                <a:solidFill>
                  <a:srgbClr val="1D1D1F"/>
                </a:solidFill>
                <a:latin typeface="SF Pro Display" pitchFamily="34" charset="0"/>
                <a:ea typeface="SF Pro Display" pitchFamily="34" charset="-122"/>
                <a:cs typeface="SF Pro Display" pitchFamily="34" charset="-120"/>
              </a:rPr>
              <a:t>"If I were the customer, would I want this cleaner for my cleaning?"</a:t>
            </a:r>
            <a:endParaRPr lang="en-US" sz="1700" dirty="0"/>
          </a:p>
        </p:txBody>
      </p:sp>
      <p:sp>
        <p:nvSpPr>
          <p:cNvPr id="8" name="Shape 5"/>
          <p:cNvSpPr/>
          <p:nvPr/>
        </p:nvSpPr>
        <p:spPr>
          <a:xfrm>
            <a:off x="411480" y="2606040"/>
            <a:ext cx="4091940" cy="1463040"/>
          </a:xfrm>
          <a:prstGeom prst="roundRect">
            <a:avLst>
              <a:gd name="adj" fmla="val 5000"/>
            </a:avLst>
          </a:prstGeom>
          <a:solidFill>
            <a:srgbClr val="FFFFFF"/>
          </a:solidFill>
          <a:ln w="9525">
            <a:solidFill>
              <a:srgbClr val="DCE1E7"/>
            </a:solidFill>
            <a:prstDash val="solid"/>
          </a:ln>
        </p:spPr>
      </p:sp>
      <p:sp>
        <p:nvSpPr>
          <p:cNvPr id="9" name="Shape 6"/>
          <p:cNvSpPr/>
          <p:nvPr/>
        </p:nvSpPr>
        <p:spPr>
          <a:xfrm>
            <a:off x="576072" y="2770632"/>
            <a:ext cx="329184" cy="329184"/>
          </a:xfrm>
          <a:prstGeom prst="ellipse">
            <a:avLst/>
          </a:prstGeom>
          <a:solidFill>
            <a:srgbClr val="E3F4F1"/>
          </a:solidFill>
          <a:ln w="12700">
            <a:solidFill>
              <a:srgbClr val="E3F4F1"/>
            </a:solidFill>
            <a:prstDash val="solid"/>
          </a:ln>
        </p:spPr>
      </p:sp>
      <p:pic>
        <p:nvPicPr>
          <p:cNvPr id="10" name="Image 0" descr="preencoded.png">    </p:cNvPr>
          <p:cNvPicPr>
            <a:picLocks noChangeAspect="1"/>
          </p:cNvPicPr>
          <p:nvPr/>
        </p:nvPicPr>
        <p:blipFill>
          <a:blip r:embed="rId1"/>
          <a:stretch>
            <a:fillRect/>
          </a:stretch>
        </p:blipFill>
        <p:spPr>
          <a:xfrm>
            <a:off x="655076" y="2849636"/>
            <a:ext cx="171176" cy="171176"/>
          </a:xfrm>
          <a:prstGeom prst="rect">
            <a:avLst/>
          </a:prstGeom>
        </p:spPr>
      </p:pic>
      <p:sp>
        <p:nvSpPr>
          <p:cNvPr id="11" name="Text 7"/>
          <p:cNvSpPr txBox="1"/>
          <p:nvPr/>
        </p:nvSpPr>
        <p:spPr>
          <a:xfrm>
            <a:off x="576072" y="320954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Check the history first</a:t>
            </a:r>
            <a:endParaRPr lang="en-US" sz="1200" dirty="0"/>
          </a:p>
        </p:txBody>
      </p:sp>
      <p:sp>
        <p:nvSpPr>
          <p:cNvPr id="12" name="Text 8"/>
          <p:cNvSpPr txBox="1"/>
          <p:nvPr/>
        </p:nvSpPr>
        <p:spPr>
          <a:xfrm>
            <a:off x="576072" y="3502152"/>
            <a:ext cx="3762756" cy="4754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Never change a status without checking the reason or flag history.</a:t>
            </a:r>
            <a:endParaRPr lang="en-US" sz="950" dirty="0"/>
          </a:p>
        </p:txBody>
      </p:sp>
      <p:sp>
        <p:nvSpPr>
          <p:cNvPr id="13" name="Shape 9"/>
          <p:cNvSpPr/>
          <p:nvPr/>
        </p:nvSpPr>
        <p:spPr>
          <a:xfrm>
            <a:off x="4640580" y="2606040"/>
            <a:ext cx="4091940" cy="1463040"/>
          </a:xfrm>
          <a:prstGeom prst="roundRect">
            <a:avLst>
              <a:gd name="adj" fmla="val 5000"/>
            </a:avLst>
          </a:prstGeom>
          <a:solidFill>
            <a:srgbClr val="FFFFFF"/>
          </a:solidFill>
          <a:ln w="9525">
            <a:solidFill>
              <a:srgbClr val="DCE1E7"/>
            </a:solidFill>
            <a:prstDash val="solid"/>
          </a:ln>
        </p:spPr>
      </p:sp>
      <p:sp>
        <p:nvSpPr>
          <p:cNvPr id="14" name="Shape 10"/>
          <p:cNvSpPr/>
          <p:nvPr/>
        </p:nvSpPr>
        <p:spPr>
          <a:xfrm>
            <a:off x="4805172" y="2770632"/>
            <a:ext cx="329184" cy="329184"/>
          </a:xfrm>
          <a:prstGeom prst="ellipse">
            <a:avLst/>
          </a:prstGeom>
          <a:solidFill>
            <a:srgbClr val="E3F4F1"/>
          </a:solidFill>
          <a:ln w="12700">
            <a:solidFill>
              <a:srgbClr val="E3F4F1"/>
            </a:solidFill>
            <a:prstDash val="solid"/>
          </a:ln>
        </p:spPr>
      </p:sp>
      <p:pic>
        <p:nvPicPr>
          <p:cNvPr id="15" name="Image 1" descr="preencoded.png">    </p:cNvPr>
          <p:cNvPicPr>
            <a:picLocks noChangeAspect="1"/>
          </p:cNvPicPr>
          <p:nvPr/>
        </p:nvPicPr>
        <p:blipFill>
          <a:blip r:embed="rId2"/>
          <a:stretch>
            <a:fillRect/>
          </a:stretch>
        </p:blipFill>
        <p:spPr>
          <a:xfrm>
            <a:off x="4884176" y="2849636"/>
            <a:ext cx="171176" cy="171176"/>
          </a:xfrm>
          <a:prstGeom prst="rect">
            <a:avLst/>
          </a:prstGeom>
        </p:spPr>
      </p:pic>
      <p:sp>
        <p:nvSpPr>
          <p:cNvPr id="16" name="Text 11"/>
          <p:cNvSpPr txBox="1"/>
          <p:nvPr/>
        </p:nvSpPr>
        <p:spPr>
          <a:xfrm>
            <a:off x="4805172" y="320954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First jobs matter</a:t>
            </a:r>
            <a:endParaRPr lang="en-US" sz="1200" dirty="0"/>
          </a:p>
        </p:txBody>
      </p:sp>
      <p:sp>
        <p:nvSpPr>
          <p:cNvPr id="17" name="Text 12"/>
          <p:cNvSpPr txBox="1"/>
          <p:nvPr/>
        </p:nvSpPr>
        <p:spPr>
          <a:xfrm>
            <a:off x="4805172" y="3502152"/>
            <a:ext cx="3762756" cy="4754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 new customer with a bad first job is 50% less likely to stay.</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05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CP-Facing Deactivation Reasons</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exact message a cleaner sees when they are set to norequests or suspended.</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Who reads the reason</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Where you enter it</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reason codes and their format</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2/ill14.png">    </p:cNvPr>
          <p:cNvPicPr>
            <a:picLocks noChangeAspect="1"/>
          </p:cNvPicPr>
          <p:nvPr/>
        </p:nvPicPr>
        <p:blipFill>
          <a:blip r:embed="rId4"/>
          <a:stretch>
            <a:fillRect/>
          </a:stretch>
        </p:blipFill>
        <p:spPr>
          <a:xfrm>
            <a:off x="5541264" y="1519076"/>
            <a:ext cx="2926080" cy="2100775"/>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CP-FACING DEACTIVATION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One reason, two audiences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reason you enter isn't just an internal note.</a:t>
            </a:r>
            <a:endParaRPr lang="en-US" sz="1200" dirty="0"/>
          </a:p>
        </p:txBody>
      </p:sp>
      <p:sp>
        <p:nvSpPr>
          <p:cNvPr id="6" name="Shape 3"/>
          <p:cNvSpPr/>
          <p:nvPr/>
        </p:nvSpPr>
        <p:spPr>
          <a:xfrm>
            <a:off x="411480" y="1417320"/>
            <a:ext cx="4091940" cy="1645920"/>
          </a:xfrm>
          <a:prstGeom prst="roundRect">
            <a:avLst>
              <a:gd name="adj" fmla="val 4444"/>
            </a:avLst>
          </a:prstGeom>
          <a:solidFill>
            <a:srgbClr val="FFFFFF"/>
          </a:solidFill>
          <a:ln w="9525">
            <a:solidFill>
              <a:srgbClr val="DCE1E7"/>
            </a:solidFill>
            <a:prstDash val="solid"/>
          </a:ln>
        </p:spPr>
      </p:sp>
      <p:sp>
        <p:nvSpPr>
          <p:cNvPr id="7" name="Shape 4"/>
          <p:cNvSpPr/>
          <p:nvPr/>
        </p:nvSpPr>
        <p:spPr>
          <a:xfrm>
            <a:off x="576072" y="158191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660916"/>
            <a:ext cx="171176" cy="171176"/>
          </a:xfrm>
          <a:prstGeom prst="rect">
            <a:avLst/>
          </a:prstGeom>
        </p:spPr>
      </p:pic>
      <p:sp>
        <p:nvSpPr>
          <p:cNvPr id="9" name="Text 5"/>
          <p:cNvSpPr txBox="1"/>
          <p:nvPr/>
        </p:nvSpPr>
        <p:spPr>
          <a:xfrm>
            <a:off x="576072" y="20208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The cleaner</a:t>
            </a:r>
            <a:endParaRPr lang="en-US" sz="1200" dirty="0"/>
          </a:p>
        </p:txBody>
      </p:sp>
      <p:sp>
        <p:nvSpPr>
          <p:cNvPr id="10" name="Text 6"/>
          <p:cNvSpPr txBox="1"/>
          <p:nvPr/>
        </p:nvSpPr>
        <p:spPr>
          <a:xfrm>
            <a:off x="576072" y="2313432"/>
            <a:ext cx="3762756" cy="6583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Sees it on their dashboard as the reason they were deactivated.</a:t>
            </a:r>
            <a:endParaRPr lang="en-US" sz="950" dirty="0"/>
          </a:p>
        </p:txBody>
      </p:sp>
      <p:sp>
        <p:nvSpPr>
          <p:cNvPr id="11" name="Shape 7"/>
          <p:cNvSpPr/>
          <p:nvPr/>
        </p:nvSpPr>
        <p:spPr>
          <a:xfrm>
            <a:off x="4640580" y="1417320"/>
            <a:ext cx="4091940" cy="1645920"/>
          </a:xfrm>
          <a:prstGeom prst="roundRect">
            <a:avLst>
              <a:gd name="adj" fmla="val 4444"/>
            </a:avLst>
          </a:prstGeom>
          <a:solidFill>
            <a:srgbClr val="FFFFFF"/>
          </a:solidFill>
          <a:ln w="9525">
            <a:solidFill>
              <a:srgbClr val="DCE1E7"/>
            </a:solidFill>
            <a:prstDash val="solid"/>
          </a:ln>
        </p:spPr>
      </p:sp>
      <p:sp>
        <p:nvSpPr>
          <p:cNvPr id="12" name="Shape 8"/>
          <p:cNvSpPr/>
          <p:nvPr/>
        </p:nvSpPr>
        <p:spPr>
          <a:xfrm>
            <a:off x="4805172" y="158191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884176" y="1660916"/>
            <a:ext cx="171176" cy="171176"/>
          </a:xfrm>
          <a:prstGeom prst="rect">
            <a:avLst/>
          </a:prstGeom>
        </p:spPr>
      </p:pic>
      <p:sp>
        <p:nvSpPr>
          <p:cNvPr id="14" name="Text 9"/>
          <p:cNvSpPr txBox="1"/>
          <p:nvPr/>
        </p:nvSpPr>
        <p:spPr>
          <a:xfrm>
            <a:off x="4805172" y="20208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Our data</a:t>
            </a:r>
            <a:endParaRPr lang="en-US" sz="1200" dirty="0"/>
          </a:p>
        </p:txBody>
      </p:sp>
      <p:sp>
        <p:nvSpPr>
          <p:cNvPr id="15" name="Text 10"/>
          <p:cNvSpPr txBox="1"/>
          <p:nvPr/>
        </p:nvSpPr>
        <p:spPr>
          <a:xfrm>
            <a:off x="4805172" y="2313432"/>
            <a:ext cx="3762756" cy="6583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Stored as the flag's value, so we can track deactivation patterns.</a:t>
            </a:r>
            <a:endParaRPr lang="en-US" sz="950" dirty="0"/>
          </a:p>
        </p:txBody>
      </p:sp>
      <p:sp>
        <p:nvSpPr>
          <p:cNvPr id="16" name="Shape 11"/>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401568"/>
            <a:ext cx="164592" cy="164592"/>
          </a:xfrm>
          <a:prstGeom prst="rect">
            <a:avLst/>
          </a:prstGeom>
        </p:spPr>
      </p:pic>
      <p:sp>
        <p:nvSpPr>
          <p:cNvPr id="18" name="Text 12"/>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Rule:  </a:t>
            </a:r>
            <a:pPr indent="0" marL="0">
              <a:buNone/>
            </a:pPr>
            <a:r>
              <a:rPr lang="en-US" sz="1000" dirty="0">
                <a:solidFill>
                  <a:srgbClr val="1D1D1F"/>
                </a:solidFill>
                <a:latin typeface="SF Pro Text" pitchFamily="34" charset="0"/>
                <a:ea typeface="SF Pro Text" pitchFamily="34" charset="-122"/>
                <a:cs typeface="SF Pro Text" pitchFamily="34" charset="-120"/>
              </a:rPr>
              <a:t>always use the exact reason code format. Never write a freeform reason.</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CP-FACING DEACTIVATION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Where you enter the reason</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Change CP step window in the Legacy CP CRM.</a:t>
            </a:r>
            <a:endParaRPr lang="en-US" sz="1200" dirty="0"/>
          </a:p>
        </p:txBody>
      </p:sp>
      <p:sp>
        <p:nvSpPr>
          <p:cNvPr id="6" name="Shape 3"/>
          <p:cNvSpPr/>
          <p:nvPr/>
        </p:nvSpPr>
        <p:spPr>
          <a:xfrm>
            <a:off x="411480" y="1188720"/>
            <a:ext cx="2834640" cy="3520440"/>
          </a:xfrm>
          <a:prstGeom prst="roundRect">
            <a:avLst>
              <a:gd name="adj" fmla="val 2581"/>
            </a:avLst>
          </a:prstGeom>
          <a:solidFill>
            <a:srgbClr val="FFFFFF"/>
          </a:solidFill>
          <a:ln w="9525">
            <a:solidFill>
              <a:srgbClr val="DCE1E7"/>
            </a:solidFill>
            <a:prstDash val="solid"/>
          </a:ln>
        </p:spPr>
      </p:sp>
      <p:pic>
        <p:nvPicPr>
          <p:cNvPr id="7" name="Image 0" descr="/tmp/claude-0/-workspace-training/3ce5cff6-cccf-5f33-b0ee-0b147a55120e/scratchpad/img2/cp_stepmodal.png">    </p:cNvPr>
          <p:cNvPicPr>
            <a:picLocks noChangeAspect="1"/>
          </p:cNvPicPr>
          <p:nvPr/>
        </p:nvPicPr>
        <p:blipFill>
          <a:blip r:embed="rId1"/>
          <a:stretch>
            <a:fillRect/>
          </a:stretch>
        </p:blipFill>
        <p:spPr>
          <a:xfrm>
            <a:off x="499595" y="1261872"/>
            <a:ext cx="2658410" cy="3374136"/>
          </a:xfrm>
          <a:prstGeom prst="rect">
            <a:avLst/>
          </a:prstGeom>
        </p:spPr>
      </p:pic>
      <p:sp>
        <p:nvSpPr>
          <p:cNvPr id="8" name="Shape 4"/>
          <p:cNvSpPr/>
          <p:nvPr/>
        </p:nvSpPr>
        <p:spPr>
          <a:xfrm>
            <a:off x="533677" y="1508968"/>
            <a:ext cx="2590246" cy="221534"/>
          </a:xfrm>
          <a:prstGeom prst="roundRect">
            <a:avLst>
              <a:gd name="adj" fmla="val 12383"/>
            </a:avLst>
          </a:prstGeom>
          <a:ln w="25400">
            <a:solidFill>
              <a:srgbClr val="0B7A6F"/>
            </a:solidFill>
            <a:prstDash val="solid"/>
          </a:ln>
        </p:spPr>
      </p:sp>
      <p:sp>
        <p:nvSpPr>
          <p:cNvPr id="9" name="Shape 5"/>
          <p:cNvSpPr/>
          <p:nvPr/>
        </p:nvSpPr>
        <p:spPr>
          <a:xfrm>
            <a:off x="433093" y="1408384"/>
            <a:ext cx="201168" cy="201168"/>
          </a:xfrm>
          <a:prstGeom prst="ellipse">
            <a:avLst/>
          </a:prstGeom>
          <a:solidFill>
            <a:srgbClr val="0B7A6F"/>
          </a:solidFill>
          <a:ln w="12700">
            <a:solidFill>
              <a:srgbClr val="FFFFFF"/>
            </a:solidFill>
            <a:prstDash val="solid"/>
          </a:ln>
        </p:spPr>
      </p:sp>
      <p:sp>
        <p:nvSpPr>
          <p:cNvPr id="10" name="Text 6"/>
          <p:cNvSpPr txBox="1"/>
          <p:nvPr/>
        </p:nvSpPr>
        <p:spPr>
          <a:xfrm>
            <a:off x="433093" y="14083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11" name="Shape 7"/>
          <p:cNvSpPr/>
          <p:nvPr/>
        </p:nvSpPr>
        <p:spPr>
          <a:xfrm>
            <a:off x="533677" y="1773105"/>
            <a:ext cx="2590246" cy="979863"/>
          </a:xfrm>
          <a:prstGeom prst="roundRect">
            <a:avLst>
              <a:gd name="adj" fmla="val 2800"/>
            </a:avLst>
          </a:prstGeom>
          <a:ln w="25400">
            <a:solidFill>
              <a:srgbClr val="0B7A6F"/>
            </a:solidFill>
            <a:prstDash val="solid"/>
          </a:ln>
        </p:spPr>
      </p:sp>
      <p:sp>
        <p:nvSpPr>
          <p:cNvPr id="12" name="Shape 8"/>
          <p:cNvSpPr/>
          <p:nvPr/>
        </p:nvSpPr>
        <p:spPr>
          <a:xfrm>
            <a:off x="433093" y="1672521"/>
            <a:ext cx="201168" cy="201168"/>
          </a:xfrm>
          <a:prstGeom prst="ellipse">
            <a:avLst/>
          </a:prstGeom>
          <a:solidFill>
            <a:srgbClr val="0B7A6F"/>
          </a:solidFill>
          <a:ln w="12700">
            <a:solidFill>
              <a:srgbClr val="FFFFFF"/>
            </a:solidFill>
            <a:prstDash val="solid"/>
          </a:ln>
        </p:spPr>
      </p:sp>
      <p:sp>
        <p:nvSpPr>
          <p:cNvPr id="13" name="Text 9"/>
          <p:cNvSpPr txBox="1"/>
          <p:nvPr/>
        </p:nvSpPr>
        <p:spPr>
          <a:xfrm>
            <a:off x="433093" y="1672521"/>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2</a:t>
            </a:r>
            <a:endParaRPr lang="en-US" sz="800" dirty="0"/>
          </a:p>
        </p:txBody>
      </p:sp>
      <p:sp>
        <p:nvSpPr>
          <p:cNvPr id="14" name="Shape 10"/>
          <p:cNvSpPr/>
          <p:nvPr/>
        </p:nvSpPr>
        <p:spPr>
          <a:xfrm>
            <a:off x="533677" y="3298282"/>
            <a:ext cx="2564684" cy="328041"/>
          </a:xfrm>
          <a:prstGeom prst="roundRect">
            <a:avLst>
              <a:gd name="adj" fmla="val 8362"/>
            </a:avLst>
          </a:prstGeom>
          <a:ln w="25400">
            <a:solidFill>
              <a:srgbClr val="0B7A6F"/>
            </a:solidFill>
            <a:prstDash val="solid"/>
          </a:ln>
        </p:spPr>
      </p:sp>
      <p:sp>
        <p:nvSpPr>
          <p:cNvPr id="15" name="Shape 11"/>
          <p:cNvSpPr/>
          <p:nvPr/>
        </p:nvSpPr>
        <p:spPr>
          <a:xfrm>
            <a:off x="433093" y="3197698"/>
            <a:ext cx="201168" cy="201168"/>
          </a:xfrm>
          <a:prstGeom prst="ellipse">
            <a:avLst/>
          </a:prstGeom>
          <a:solidFill>
            <a:srgbClr val="0B7A6F"/>
          </a:solidFill>
          <a:ln w="12700">
            <a:solidFill>
              <a:srgbClr val="FFFFFF"/>
            </a:solidFill>
            <a:prstDash val="solid"/>
          </a:ln>
        </p:spPr>
      </p:sp>
      <p:sp>
        <p:nvSpPr>
          <p:cNvPr id="16" name="Text 12"/>
          <p:cNvSpPr txBox="1"/>
          <p:nvPr/>
        </p:nvSpPr>
        <p:spPr>
          <a:xfrm>
            <a:off x="433093" y="319769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3</a:t>
            </a:r>
            <a:endParaRPr lang="en-US" sz="800" dirty="0"/>
          </a:p>
        </p:txBody>
      </p:sp>
      <p:sp>
        <p:nvSpPr>
          <p:cNvPr id="17" name="Shape 13"/>
          <p:cNvSpPr/>
          <p:nvPr/>
        </p:nvSpPr>
        <p:spPr>
          <a:xfrm>
            <a:off x="3429000" y="1188720"/>
            <a:ext cx="5303520" cy="731520"/>
          </a:xfrm>
          <a:prstGeom prst="roundRect">
            <a:avLst>
              <a:gd name="adj" fmla="val 10000"/>
            </a:avLst>
          </a:prstGeom>
          <a:solidFill>
            <a:srgbClr val="FFFFFF"/>
          </a:solidFill>
          <a:ln w="9525">
            <a:solidFill>
              <a:srgbClr val="DCE1E7"/>
            </a:solidFill>
            <a:prstDash val="solid"/>
          </a:ln>
        </p:spPr>
      </p:sp>
      <p:sp>
        <p:nvSpPr>
          <p:cNvPr id="18" name="Shape 14"/>
          <p:cNvSpPr/>
          <p:nvPr/>
        </p:nvSpPr>
        <p:spPr>
          <a:xfrm>
            <a:off x="3557016" y="1426464"/>
            <a:ext cx="256032" cy="256032"/>
          </a:xfrm>
          <a:prstGeom prst="ellipse">
            <a:avLst/>
          </a:prstGeom>
          <a:solidFill>
            <a:srgbClr val="0B7A6F"/>
          </a:solidFill>
          <a:ln w="12700">
            <a:solidFill>
              <a:srgbClr val="0B7A6F"/>
            </a:solidFill>
            <a:prstDash val="solid"/>
          </a:ln>
        </p:spPr>
      </p:sp>
      <p:sp>
        <p:nvSpPr>
          <p:cNvPr id="19" name="Text 15"/>
          <p:cNvSpPr txBox="1"/>
          <p:nvPr/>
        </p:nvSpPr>
        <p:spPr>
          <a:xfrm>
            <a:off x="3557016" y="14264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1</a:t>
            </a:r>
            <a:endParaRPr lang="en-US" sz="900" dirty="0"/>
          </a:p>
        </p:txBody>
      </p:sp>
      <p:sp>
        <p:nvSpPr>
          <p:cNvPr id="20" name="Text 16"/>
          <p:cNvSpPr txBox="1"/>
          <p:nvPr/>
        </p:nvSpPr>
        <p:spPr>
          <a:xfrm>
            <a:off x="3931920" y="1234440"/>
            <a:ext cx="4709160" cy="64008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Reason box</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Type the code and sentence the cleaner will see</a:t>
            </a:r>
            <a:endParaRPr lang="en-US" sz="1050" dirty="0"/>
          </a:p>
        </p:txBody>
      </p:sp>
      <p:sp>
        <p:nvSpPr>
          <p:cNvPr id="21" name="Shape 17"/>
          <p:cNvSpPr/>
          <p:nvPr/>
        </p:nvSpPr>
        <p:spPr>
          <a:xfrm>
            <a:off x="3429000" y="2011680"/>
            <a:ext cx="5303520" cy="731520"/>
          </a:xfrm>
          <a:prstGeom prst="roundRect">
            <a:avLst>
              <a:gd name="adj" fmla="val 10000"/>
            </a:avLst>
          </a:prstGeom>
          <a:solidFill>
            <a:srgbClr val="FFFFFF"/>
          </a:solidFill>
          <a:ln w="9525">
            <a:solidFill>
              <a:srgbClr val="DCE1E7"/>
            </a:solidFill>
            <a:prstDash val="solid"/>
          </a:ln>
        </p:spPr>
      </p:sp>
      <p:sp>
        <p:nvSpPr>
          <p:cNvPr id="22" name="Shape 18"/>
          <p:cNvSpPr/>
          <p:nvPr/>
        </p:nvSpPr>
        <p:spPr>
          <a:xfrm>
            <a:off x="3557016" y="2249424"/>
            <a:ext cx="256032" cy="256032"/>
          </a:xfrm>
          <a:prstGeom prst="ellipse">
            <a:avLst/>
          </a:prstGeom>
          <a:solidFill>
            <a:srgbClr val="0B7A6F"/>
          </a:solidFill>
          <a:ln w="12700">
            <a:solidFill>
              <a:srgbClr val="0B7A6F"/>
            </a:solidFill>
            <a:prstDash val="solid"/>
          </a:ln>
        </p:spPr>
      </p:sp>
      <p:sp>
        <p:nvSpPr>
          <p:cNvPr id="23" name="Text 19"/>
          <p:cNvSpPr txBox="1"/>
          <p:nvPr/>
        </p:nvSpPr>
        <p:spPr>
          <a:xfrm>
            <a:off x="3557016" y="22494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2</a:t>
            </a:r>
            <a:endParaRPr lang="en-US" sz="900" dirty="0"/>
          </a:p>
        </p:txBody>
      </p:sp>
      <p:sp>
        <p:nvSpPr>
          <p:cNvPr id="24" name="Text 20"/>
          <p:cNvSpPr txBox="1"/>
          <p:nvPr/>
        </p:nvSpPr>
        <p:spPr>
          <a:xfrm>
            <a:off x="3931920" y="2057400"/>
            <a:ext cx="4709160" cy="64008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Reference tables</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Templated wording and codes by situation</a:t>
            </a:r>
            <a:endParaRPr lang="en-US" sz="1050" dirty="0"/>
          </a:p>
        </p:txBody>
      </p:sp>
      <p:sp>
        <p:nvSpPr>
          <p:cNvPr id="25" name="Shape 21"/>
          <p:cNvSpPr/>
          <p:nvPr/>
        </p:nvSpPr>
        <p:spPr>
          <a:xfrm>
            <a:off x="3429000" y="2834640"/>
            <a:ext cx="5303520" cy="731520"/>
          </a:xfrm>
          <a:prstGeom prst="roundRect">
            <a:avLst>
              <a:gd name="adj" fmla="val 10000"/>
            </a:avLst>
          </a:prstGeom>
          <a:solidFill>
            <a:srgbClr val="FFFFFF"/>
          </a:solidFill>
          <a:ln w="9525">
            <a:solidFill>
              <a:srgbClr val="DCE1E7"/>
            </a:solidFill>
            <a:prstDash val="solid"/>
          </a:ln>
        </p:spPr>
      </p:sp>
      <p:sp>
        <p:nvSpPr>
          <p:cNvPr id="26" name="Shape 22"/>
          <p:cNvSpPr/>
          <p:nvPr/>
        </p:nvSpPr>
        <p:spPr>
          <a:xfrm>
            <a:off x="3557016" y="3072384"/>
            <a:ext cx="256032" cy="256032"/>
          </a:xfrm>
          <a:prstGeom prst="ellipse">
            <a:avLst/>
          </a:prstGeom>
          <a:solidFill>
            <a:srgbClr val="0B7A6F"/>
          </a:solidFill>
          <a:ln w="12700">
            <a:solidFill>
              <a:srgbClr val="0B7A6F"/>
            </a:solidFill>
            <a:prstDash val="solid"/>
          </a:ln>
        </p:spPr>
      </p:sp>
      <p:sp>
        <p:nvSpPr>
          <p:cNvPr id="27" name="Text 23"/>
          <p:cNvSpPr txBox="1"/>
          <p:nvPr/>
        </p:nvSpPr>
        <p:spPr>
          <a:xfrm>
            <a:off x="3557016" y="307238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3</a:t>
            </a:r>
            <a:endParaRPr lang="en-US" sz="900" dirty="0"/>
          </a:p>
        </p:txBody>
      </p:sp>
      <p:sp>
        <p:nvSpPr>
          <p:cNvPr id="28" name="Text 24"/>
          <p:cNvSpPr txBox="1"/>
          <p:nvPr/>
        </p:nvSpPr>
        <p:spPr>
          <a:xfrm>
            <a:off x="3931920" y="2880360"/>
            <a:ext cx="4709160" cy="64008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Status buttons</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norequests, suspended or cp-opt-out, plus notify options</a:t>
            </a:r>
            <a:endParaRPr lang="en-US" sz="1050" dirty="0"/>
          </a:p>
        </p:txBody>
      </p:sp>
      <p:sp>
        <p:nvSpPr>
          <p:cNvPr id="29" name="Shape 25"/>
          <p:cNvSpPr/>
          <p:nvPr/>
        </p:nvSpPr>
        <p:spPr>
          <a:xfrm>
            <a:off x="3429000" y="3703320"/>
            <a:ext cx="5303520" cy="457200"/>
          </a:xfrm>
          <a:prstGeom prst="roundRect">
            <a:avLst>
              <a:gd name="adj" fmla="val 16000"/>
            </a:avLst>
          </a:prstGeom>
          <a:solidFill>
            <a:srgbClr val="FFF3D6"/>
          </a:solidFill>
          <a:ln w="9525">
            <a:solidFill>
              <a:srgbClr val="FFF3D6"/>
            </a:solidFill>
            <a:prstDash val="solid"/>
          </a:ln>
        </p:spPr>
      </p:sp>
      <p:pic>
        <p:nvPicPr>
          <p:cNvPr id="30" name="Image 1" descr="preencoded.png">    </p:cNvPr>
          <p:cNvPicPr>
            <a:picLocks noChangeAspect="1"/>
          </p:cNvPicPr>
          <p:nvPr/>
        </p:nvPicPr>
        <p:blipFill>
          <a:blip r:embed="rId2"/>
          <a:stretch>
            <a:fillRect/>
          </a:stretch>
        </p:blipFill>
        <p:spPr>
          <a:xfrm>
            <a:off x="3584448" y="3849624"/>
            <a:ext cx="164592" cy="164592"/>
          </a:xfrm>
          <a:prstGeom prst="rect">
            <a:avLst/>
          </a:prstGeom>
        </p:spPr>
      </p:pic>
      <p:sp>
        <p:nvSpPr>
          <p:cNvPr id="31" name="Text 26"/>
          <p:cNvSpPr txBox="1"/>
          <p:nvPr/>
        </p:nvSpPr>
        <p:spPr>
          <a:xfrm>
            <a:off x="3840480" y="3794760"/>
            <a:ext cx="4754880" cy="274320"/>
          </a:xfrm>
          <a:prstGeom prst="rect">
            <a:avLst/>
          </a:prstGeom>
          <a:noFill/>
          <a:ln/>
        </p:spPr>
        <p:txBody>
          <a:bodyPr wrap="square" lIns="0" tIns="0" rIns="0" bIns="0" rtlCol="0" anchor="ctr"/>
          <a:lstStyle/>
          <a:p>
            <a:pPr indent="0" marL="0">
              <a:buNone/>
            </a:pPr>
            <a:r>
              <a:rPr lang="en-US" sz="1000" b="1" dirty="0">
                <a:solidFill>
                  <a:srgbClr val="9A6410"/>
                </a:solidFill>
                <a:latin typeface="SF Pro Text" pitchFamily="34" charset="0"/>
                <a:ea typeface="SF Pro Text" pitchFamily="34" charset="-122"/>
                <a:cs typeface="SF Pro Text" pitchFamily="34" charset="-120"/>
              </a:rPr>
              <a:t>Rule:  </a:t>
            </a:r>
            <a:pPr indent="0" marL="0">
              <a:buNone/>
            </a:pPr>
            <a:r>
              <a:rPr lang="en-US" sz="1000" dirty="0">
                <a:solidFill>
                  <a:srgbClr val="1D1D1F"/>
                </a:solidFill>
                <a:latin typeface="SF Pro Text" pitchFamily="34" charset="0"/>
                <a:ea typeface="SF Pro Text" pitchFamily="34" charset="-122"/>
                <a:cs typeface="SF Pro Text" pitchFamily="34" charset="-120"/>
              </a:rPr>
              <a:t>use the exact code format. Never a freeform reason.</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CP-FACING DEACTIVATION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Reason codes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Fill in the &lt;placeholders&gt;. Keep the rest word for word.</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2514600"/>
                <a:gridCol w="5806440"/>
              </a:tblGrid>
              <a:tr h="301752">
                <a:tc>
                  <a:txBody>
                    <a:bodyPr/>
                    <a:lstStyle/>
                    <a:p>
                      <a:pPr indent="0" marL="0">
                        <a:buNone/>
                      </a:pPr>
                      <a:r>
                        <a:rPr lang="en-US" sz="850" b="1" dirty="0">
                          <a:solidFill>
                            <a:srgbClr val="0B7A6F"/>
                          </a:solidFill>
                          <a:latin typeface="SF Pro Display" pitchFamily="34" charset="0"/>
                          <a:ea typeface="SF Pro Display" pitchFamily="34" charset="-122"/>
                          <a:cs typeface="SF Pro Display" pitchFamily="34" charset="-120"/>
                        </a:rPr>
                        <a:t>Reason for deactivation</a:t>
                      </a:r>
                      <a:endParaRPr lang="en-US" sz="8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850" b="1" dirty="0">
                          <a:solidFill>
                            <a:srgbClr val="0B7A6F"/>
                          </a:solidFill>
                          <a:latin typeface="SF Pro Display" pitchFamily="34" charset="0"/>
                          <a:ea typeface="SF Pro Display" pitchFamily="34" charset="-122"/>
                          <a:cs typeface="SF Pro Display" pitchFamily="34" charset="-120"/>
                        </a:rPr>
                        <a:t>CP-facing reason format</a:t>
                      </a:r>
                      <a:endParaRPr lang="en-US" sz="8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Accepted cash payment</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cpq_cash Cash Payment J &lt;JOB ID&gt;</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Cancellation</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cpq_cancel Your customer &lt;C'S NAME&gt; reported you cancelled their &lt;DAY, DATE&gt; job. Submit reactivation appeal through dashboard.</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False invoice</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cpq_false_invoice Customer &lt;C'S NAME&gt; reported incorrect hours charged. Submit reactivation appeal.</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No-show</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cpq_noshow Your customer &lt;C'S NAME&gt; reported you didn't show up to their &lt;DAY, DATE&gt; job. Submit reactivation appeal through dashboard.</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Overcharged hours</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cpq_overcharge Customer &lt;C'S NAME&gt; reported incorrect hours charged. Submit reactivation appeal.</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Invalid use of "Report Issue" to cancel</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cpq_invalid_cancel Upon review, your &lt;emergency/customer cancellation&gt; report has been deemed invalid. Submit reactivation appeal through dashboard.</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Invalid use of "Report Issue" to reschedule on C's behalf</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cpq_invalid_reschedule Upon review, your customer reschedule report has been deemed invalid. Submit reactivation appeal through dashboard.</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Reschedule unauthorized by the customer</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cpq_reschedule Your customer &lt;C'S NAME&gt; reported you rescheduled their &lt;DAY, DATE&gt; job without permission. Submit reactivation appeal through dashboard.</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Rude/unprofessional behavior</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cpq_quality Unprofessional behavior</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01752">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Theft</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HGTA &lt;JOB ID&gt;</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06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CP Penalty: C-Side Handling</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What to do on the cleaner's side when a customer reports a problem with their cleaner.</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Your two jobs, in order</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Why we pause instead of suspend</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five-step process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action for each offense</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2/ill12.png">    </p:cNvPr>
          <p:cNvPicPr>
            <a:picLocks noChangeAspect="1"/>
          </p:cNvPicPr>
          <p:nvPr/>
        </p:nvPicPr>
        <p:blipFill>
          <a:blip r:embed="rId5"/>
          <a:stretch>
            <a:fillRect/>
          </a:stretch>
        </p:blipFill>
        <p:spPr>
          <a:xfrm>
            <a:off x="5637276" y="1517904"/>
            <a:ext cx="2734056"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PENALTY: C-SIDE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Two jobs, in this order</a:t>
            </a:r>
            <a:endParaRPr lang="en-US" sz="2400" dirty="0"/>
          </a:p>
        </p:txBody>
      </p:sp>
      <p:sp>
        <p:nvSpPr>
          <p:cNvPr id="5" name="Shape 2"/>
          <p:cNvSpPr/>
          <p:nvPr/>
        </p:nvSpPr>
        <p:spPr>
          <a:xfrm>
            <a:off x="411480" y="1280160"/>
            <a:ext cx="4091940" cy="1691640"/>
          </a:xfrm>
          <a:prstGeom prst="roundRect">
            <a:avLst>
              <a:gd name="adj" fmla="val 4324"/>
            </a:avLst>
          </a:prstGeom>
          <a:solidFill>
            <a:srgbClr val="FFFFFF"/>
          </a:solidFill>
          <a:ln w="9525">
            <a:solidFill>
              <a:srgbClr val="DCE1E7"/>
            </a:solidFill>
            <a:prstDash val="solid"/>
          </a:ln>
        </p:spPr>
      </p:sp>
      <p:sp>
        <p:nvSpPr>
          <p:cNvPr id="6" name="Shape 3"/>
          <p:cNvSpPr/>
          <p:nvPr/>
        </p:nvSpPr>
        <p:spPr>
          <a:xfrm>
            <a:off x="576072" y="1463040"/>
            <a:ext cx="274320" cy="274320"/>
          </a:xfrm>
          <a:prstGeom prst="ellipse">
            <a:avLst/>
          </a:prstGeom>
          <a:solidFill>
            <a:srgbClr val="E3F4F1"/>
          </a:solidFill>
          <a:ln w="12700">
            <a:solidFill>
              <a:srgbClr val="E3F4F1"/>
            </a:solidFill>
            <a:prstDash val="solid"/>
          </a:ln>
        </p:spPr>
      </p:sp>
      <p:sp>
        <p:nvSpPr>
          <p:cNvPr id="7" name="Text 4"/>
          <p:cNvSpPr txBox="1"/>
          <p:nvPr/>
        </p:nvSpPr>
        <p:spPr>
          <a:xfrm>
            <a:off x="5760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8" name="Text 5"/>
          <p:cNvSpPr txBox="1"/>
          <p:nvPr/>
        </p:nvSpPr>
        <p:spPr>
          <a:xfrm>
            <a:off x="576072" y="188366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Resolve the customer's issue</a:t>
            </a:r>
            <a:endParaRPr lang="en-US" sz="1200" dirty="0"/>
          </a:p>
        </p:txBody>
      </p:sp>
      <p:sp>
        <p:nvSpPr>
          <p:cNvPr id="9" name="Text 6"/>
          <p:cNvSpPr txBox="1"/>
          <p:nvPr/>
        </p:nvSpPr>
        <p:spPr>
          <a:xfrm>
            <a:off x="576072" y="2176272"/>
            <a:ext cx="37627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Use the related article for that issue first.</a:t>
            </a:r>
            <a:endParaRPr lang="en-US" sz="950" dirty="0"/>
          </a:p>
        </p:txBody>
      </p:sp>
      <p:sp>
        <p:nvSpPr>
          <p:cNvPr id="10" name="Shape 7"/>
          <p:cNvSpPr/>
          <p:nvPr/>
        </p:nvSpPr>
        <p:spPr>
          <a:xfrm>
            <a:off x="4640580" y="1280160"/>
            <a:ext cx="4091940" cy="1691640"/>
          </a:xfrm>
          <a:prstGeom prst="roundRect">
            <a:avLst>
              <a:gd name="adj" fmla="val 4324"/>
            </a:avLst>
          </a:prstGeom>
          <a:solidFill>
            <a:srgbClr val="FFFFFF"/>
          </a:solidFill>
          <a:ln w="9525">
            <a:solidFill>
              <a:srgbClr val="DCE1E7"/>
            </a:solidFill>
            <a:prstDash val="solid"/>
          </a:ln>
        </p:spPr>
      </p:sp>
      <p:sp>
        <p:nvSpPr>
          <p:cNvPr id="11" name="Shape 8"/>
          <p:cNvSpPr/>
          <p:nvPr/>
        </p:nvSpPr>
        <p:spPr>
          <a:xfrm>
            <a:off x="4805172" y="1463040"/>
            <a:ext cx="274320" cy="274320"/>
          </a:xfrm>
          <a:prstGeom prst="ellipse">
            <a:avLst/>
          </a:prstGeom>
          <a:solidFill>
            <a:srgbClr val="E3F4F1"/>
          </a:solidFill>
          <a:ln w="12700">
            <a:solidFill>
              <a:srgbClr val="E3F4F1"/>
            </a:solidFill>
            <a:prstDash val="solid"/>
          </a:ln>
        </p:spPr>
      </p:sp>
      <p:sp>
        <p:nvSpPr>
          <p:cNvPr id="12" name="Text 9"/>
          <p:cNvSpPr txBox="1"/>
          <p:nvPr/>
        </p:nvSpPr>
        <p:spPr>
          <a:xfrm>
            <a:off x="48051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3" name="Text 10"/>
          <p:cNvSpPr txBox="1"/>
          <p:nvPr/>
        </p:nvSpPr>
        <p:spPr>
          <a:xfrm>
            <a:off x="4805172" y="188366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Take the CP-side action</a:t>
            </a:r>
            <a:endParaRPr lang="en-US" sz="1200" dirty="0"/>
          </a:p>
        </p:txBody>
      </p:sp>
      <p:sp>
        <p:nvSpPr>
          <p:cNvPr id="14" name="Text 11"/>
          <p:cNvSpPr txBox="1"/>
          <p:nvPr/>
        </p:nvSpPr>
        <p:spPr>
          <a:xfrm>
            <a:off x="4805172" y="2176272"/>
            <a:ext cx="37627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Pause, coach, flag and document.</a:t>
            </a:r>
            <a:endParaRPr lang="en-US" sz="950" dirty="0"/>
          </a:p>
        </p:txBody>
      </p:sp>
      <p:sp>
        <p:nvSpPr>
          <p:cNvPr id="15" name="Shape 12"/>
          <p:cNvSpPr/>
          <p:nvPr/>
        </p:nvSpPr>
        <p:spPr>
          <a:xfrm>
            <a:off x="411480" y="3200400"/>
            <a:ext cx="8321040" cy="384048"/>
          </a:xfrm>
          <a:prstGeom prst="roundRect">
            <a:avLst>
              <a:gd name="adj" fmla="val 19048"/>
            </a:avLst>
          </a:prstGeom>
          <a:solidFill>
            <a:srgbClr val="FFF3D6"/>
          </a:solidFill>
          <a:ln w="9525">
            <a:solidFill>
              <a:srgbClr val="FFF3D6"/>
            </a:solidFill>
            <a:prstDash val="solid"/>
          </a:ln>
        </p:spPr>
      </p:sp>
      <p:pic>
        <p:nvPicPr>
          <p:cNvPr id="16" name="Image 0" descr="preencoded.png">    </p:cNvPr>
          <p:cNvPicPr>
            <a:picLocks noChangeAspect="1"/>
          </p:cNvPicPr>
          <p:nvPr/>
        </p:nvPicPr>
        <p:blipFill>
          <a:blip r:embed="rId1"/>
          <a:stretch>
            <a:fillRect/>
          </a:stretch>
        </p:blipFill>
        <p:spPr>
          <a:xfrm>
            <a:off x="566928" y="3310128"/>
            <a:ext cx="164592" cy="164592"/>
          </a:xfrm>
          <a:prstGeom prst="rect">
            <a:avLst/>
          </a:prstGeom>
        </p:spPr>
      </p:pic>
      <p:sp>
        <p:nvSpPr>
          <p:cNvPr id="17" name="Text 13"/>
          <p:cNvSpPr txBox="1"/>
          <p:nvPr/>
        </p:nvSpPr>
        <p:spPr>
          <a:xfrm>
            <a:off x="822960" y="33009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Not your call:  </a:t>
            </a:r>
            <a:pPr indent="0" marL="0">
              <a:buNone/>
            </a:pPr>
            <a:r>
              <a:rPr lang="en-US" sz="1000" dirty="0">
                <a:solidFill>
                  <a:srgbClr val="1D1D1F"/>
                </a:solidFill>
                <a:latin typeface="SF Pro Text" pitchFamily="34" charset="0"/>
                <a:ea typeface="SF Pro Text" pitchFamily="34" charset="-122"/>
                <a:cs typeface="SF Pro Text" pitchFamily="34" charset="-120"/>
              </a:rPr>
              <a:t>permanent decisions and suspensions belong to the CP-side team, Trust &amp; Safety, or the system.</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PENALTY: C-SIDE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Pause, don't suspend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You're seeing one incident from one side. The two statuses affect other customers very differently.</a:t>
            </a:r>
            <a:endParaRPr lang="en-US" sz="1200" dirty="0"/>
          </a:p>
        </p:txBody>
      </p:sp>
      <p:sp>
        <p:nvSpPr>
          <p:cNvPr id="6" name="Shape 3"/>
          <p:cNvSpPr/>
          <p:nvPr/>
        </p:nvSpPr>
        <p:spPr>
          <a:xfrm>
            <a:off x="411480" y="1417320"/>
            <a:ext cx="4091940" cy="1691640"/>
          </a:xfrm>
          <a:prstGeom prst="roundRect">
            <a:avLst>
              <a:gd name="adj" fmla="val 4324"/>
            </a:avLst>
          </a:prstGeom>
          <a:solidFill>
            <a:srgbClr val="FFFFFF"/>
          </a:solidFill>
          <a:ln w="9525">
            <a:solidFill>
              <a:srgbClr val="DCE1E7"/>
            </a:solidFill>
            <a:prstDash val="solid"/>
          </a:ln>
        </p:spPr>
      </p:sp>
      <p:sp>
        <p:nvSpPr>
          <p:cNvPr id="7" name="Shape 4"/>
          <p:cNvSpPr/>
          <p:nvPr/>
        </p:nvSpPr>
        <p:spPr>
          <a:xfrm>
            <a:off x="594360" y="160020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92372"/>
            <a:ext cx="199705" cy="199705"/>
          </a:xfrm>
          <a:prstGeom prst="rect">
            <a:avLst/>
          </a:prstGeom>
        </p:spPr>
      </p:pic>
      <p:sp>
        <p:nvSpPr>
          <p:cNvPr id="9" name="Text 5"/>
          <p:cNvSpPr txBox="1"/>
          <p:nvPr/>
        </p:nvSpPr>
        <p:spPr>
          <a:xfrm>
            <a:off x="1097280" y="160020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norequests (pause)</a:t>
            </a:r>
            <a:endParaRPr lang="en-US" sz="1300" dirty="0"/>
          </a:p>
        </p:txBody>
      </p:sp>
      <p:sp>
        <p:nvSpPr>
          <p:cNvPr id="10" name="Text 6"/>
          <p:cNvSpPr txBox="1"/>
          <p:nvPr/>
        </p:nvSpPr>
        <p:spPr>
          <a:xfrm>
            <a:off x="594360" y="2130552"/>
            <a:ext cx="3726180" cy="8686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Can't claim new jobs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Keeps upcoming claimed jobs, so other customers keep their cleanings</a:t>
            </a:r>
            <a:endParaRPr lang="en-US" sz="1000" dirty="0"/>
          </a:p>
        </p:txBody>
      </p:sp>
      <p:sp>
        <p:nvSpPr>
          <p:cNvPr id="11" name="Shape 7"/>
          <p:cNvSpPr/>
          <p:nvPr/>
        </p:nvSpPr>
        <p:spPr>
          <a:xfrm>
            <a:off x="4640580" y="1417320"/>
            <a:ext cx="4091940" cy="1691640"/>
          </a:xfrm>
          <a:prstGeom prst="roundRect">
            <a:avLst>
              <a:gd name="adj" fmla="val 4324"/>
            </a:avLst>
          </a:prstGeom>
          <a:solidFill>
            <a:srgbClr val="FFFFFF"/>
          </a:solidFill>
          <a:ln w="9525">
            <a:solidFill>
              <a:srgbClr val="DCE1E7"/>
            </a:solidFill>
            <a:prstDash val="solid"/>
          </a:ln>
        </p:spPr>
      </p:sp>
      <p:sp>
        <p:nvSpPr>
          <p:cNvPr id="12" name="Shape 8"/>
          <p:cNvSpPr/>
          <p:nvPr/>
        </p:nvSpPr>
        <p:spPr>
          <a:xfrm>
            <a:off x="4823460" y="160020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92372"/>
            <a:ext cx="199705" cy="199705"/>
          </a:xfrm>
          <a:prstGeom prst="rect">
            <a:avLst/>
          </a:prstGeom>
        </p:spPr>
      </p:pic>
      <p:sp>
        <p:nvSpPr>
          <p:cNvPr id="14" name="Text 9"/>
          <p:cNvSpPr txBox="1"/>
          <p:nvPr/>
        </p:nvSpPr>
        <p:spPr>
          <a:xfrm>
            <a:off x="5326380" y="160020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suspended</a:t>
            </a:r>
            <a:endParaRPr lang="en-US" sz="1300" dirty="0"/>
          </a:p>
        </p:txBody>
      </p:sp>
      <p:sp>
        <p:nvSpPr>
          <p:cNvPr id="15" name="Text 10"/>
          <p:cNvSpPr txBox="1"/>
          <p:nvPr/>
        </p:nvSpPr>
        <p:spPr>
          <a:xfrm>
            <a:off x="4823460" y="2130552"/>
            <a:ext cx="3726180" cy="8686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Removed from every upcoming claimed job</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Those customers are notified their cleaning is affected</a:t>
            </a:r>
            <a:endParaRPr lang="en-US" sz="1000" dirty="0"/>
          </a:p>
        </p:txBody>
      </p:sp>
      <p:sp>
        <p:nvSpPr>
          <p:cNvPr id="16" name="Shape 11"/>
          <p:cNvSpPr/>
          <p:nvPr/>
        </p:nvSpPr>
        <p:spPr>
          <a:xfrm>
            <a:off x="411480" y="3291840"/>
            <a:ext cx="8321040" cy="868680"/>
          </a:xfrm>
          <a:prstGeom prst="roundRect">
            <a:avLst>
              <a:gd name="adj" fmla="val 8421"/>
            </a:avLst>
          </a:prstGeom>
          <a:solidFill>
            <a:srgbClr val="E3F4F1"/>
          </a:solidFill>
          <a:ln w="9525">
            <a:solidFill>
              <a:srgbClr val="E3F4F1"/>
            </a:solidFill>
            <a:prstDash val="solid"/>
          </a:ln>
        </p:spPr>
      </p:sp>
      <p:sp>
        <p:nvSpPr>
          <p:cNvPr id="17" name="Text 12"/>
          <p:cNvSpPr txBox="1"/>
          <p:nvPr/>
        </p:nvSpPr>
        <p:spPr>
          <a:xfrm>
            <a:off x="640080" y="3401568"/>
            <a:ext cx="27432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EXAMPLE</a:t>
            </a:r>
            <a:endParaRPr lang="en-US" sz="800" dirty="0"/>
          </a:p>
        </p:txBody>
      </p:sp>
      <p:sp>
        <p:nvSpPr>
          <p:cNvPr id="18" name="Text 13"/>
          <p:cNvSpPr txBox="1"/>
          <p:nvPr/>
        </p:nvSpPr>
        <p:spPr>
          <a:xfrm>
            <a:off x="640080" y="3611880"/>
            <a:ext cx="7863840" cy="457200"/>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 customer reports their cleaner came without supplies. The cleaner has 4 other jobs this week. Pausing lets those 4 customers keep their cleanings. Suspending would cancel all 4.</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PENALTY: C-SIDE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default, and what you don't do</a:t>
            </a:r>
            <a:endParaRPr lang="en-US" sz="2400" dirty="0"/>
          </a:p>
        </p:txBody>
      </p:sp>
      <p:sp>
        <p:nvSpPr>
          <p:cNvPr id="5" name="Shape 2"/>
          <p:cNvSpPr/>
          <p:nvPr/>
        </p:nvSpPr>
        <p:spPr>
          <a:xfrm>
            <a:off x="411480" y="1188720"/>
            <a:ext cx="8321040" cy="914400"/>
          </a:xfrm>
          <a:prstGeom prst="roundRect">
            <a:avLst>
              <a:gd name="adj" fmla="val 8000"/>
            </a:avLst>
          </a:prstGeom>
          <a:solidFill>
            <a:srgbClr val="0B7A6F"/>
          </a:solidFill>
          <a:ln w="9525">
            <a:solidFill>
              <a:srgbClr val="0B7A6F"/>
            </a:solidFill>
            <a:prstDash val="solid"/>
          </a:ln>
        </p:spPr>
      </p:sp>
      <p:sp>
        <p:nvSpPr>
          <p:cNvPr id="6" name="Text 3"/>
          <p:cNvSpPr txBox="1"/>
          <p:nvPr/>
        </p:nvSpPr>
        <p:spPr>
          <a:xfrm>
            <a:off x="685800" y="1307592"/>
            <a:ext cx="5486400" cy="182880"/>
          </a:xfrm>
          <a:prstGeom prst="rect">
            <a:avLst/>
          </a:prstGeom>
          <a:noFill/>
          <a:ln/>
        </p:spPr>
        <p:txBody>
          <a:bodyPr wrap="square" lIns="0" tIns="0" rIns="0" bIns="0" rtlCol="0" anchor="t"/>
          <a:lstStyle/>
          <a:p>
            <a:pPr indent="0" marL="0">
              <a:buNone/>
            </a:pPr>
            <a:r>
              <a:rPr lang="en-US" sz="800" b="1" spc="50" kern="0" dirty="0">
                <a:solidFill>
                  <a:srgbClr val="FFFFFF"/>
                </a:solidFill>
                <a:latin typeface="SF Pro Display" pitchFamily="34" charset="0"/>
                <a:ea typeface="SF Pro Display" pitchFamily="34" charset="-122"/>
                <a:cs typeface="SF Pro Display" pitchFamily="34" charset="-120"/>
              </a:rPr>
              <a:t>DEFAULT CP-SIDE ACTION</a:t>
            </a:r>
            <a:endParaRPr lang="en-US" sz="800" dirty="0"/>
          </a:p>
        </p:txBody>
      </p:sp>
      <p:sp>
        <p:nvSpPr>
          <p:cNvPr id="7" name="Text 4"/>
          <p:cNvSpPr txBox="1"/>
          <p:nvPr/>
        </p:nvSpPr>
        <p:spPr>
          <a:xfrm>
            <a:off x="685800" y="1536192"/>
            <a:ext cx="7863840" cy="411480"/>
          </a:xfrm>
          <a:prstGeom prst="rect">
            <a:avLst/>
          </a:prstGeom>
          <a:noFill/>
          <a:ln/>
        </p:spPr>
        <p:txBody>
          <a:bodyPr wrap="square" lIns="0" tIns="0" rIns="0" bIns="0" rtlCol="0" anchor="t"/>
          <a:lstStyle/>
          <a:p>
            <a:pPr indent="0" marL="0">
              <a:buNone/>
            </a:pPr>
            <a:r>
              <a:rPr lang="en-US" sz="1600" b="1" dirty="0">
                <a:solidFill>
                  <a:srgbClr val="FFFFFF"/>
                </a:solidFill>
                <a:latin typeface="SF Pro Display" pitchFamily="34" charset="0"/>
                <a:ea typeface="SF Pro Display" pitchFamily="34" charset="-122"/>
                <a:cs typeface="SF Pro Display" pitchFamily="34" charset="-120"/>
              </a:rPr>
              <a:t>norequests  +  coaching  +  the relevant flag  +  an internal note</a:t>
            </a:r>
            <a:endParaRPr lang="en-US" sz="1600" dirty="0"/>
          </a:p>
        </p:txBody>
      </p:sp>
      <p:sp>
        <p:nvSpPr>
          <p:cNvPr id="8" name="Text 5"/>
          <p:cNvSpPr txBox="1"/>
          <p:nvPr/>
        </p:nvSpPr>
        <p:spPr>
          <a:xfrm>
            <a:off x="438912" y="2331720"/>
            <a:ext cx="45720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C-SIDE AGENTS DON'T</a:t>
            </a:r>
            <a:endParaRPr lang="en-US" sz="800" dirty="0"/>
          </a:p>
        </p:txBody>
      </p:sp>
      <p:sp>
        <p:nvSpPr>
          <p:cNvPr id="9" name="Shape 6"/>
          <p:cNvSpPr/>
          <p:nvPr/>
        </p:nvSpPr>
        <p:spPr>
          <a:xfrm>
            <a:off x="411480" y="2606040"/>
            <a:ext cx="1977390" cy="1417320"/>
          </a:xfrm>
          <a:prstGeom prst="roundRect">
            <a:avLst>
              <a:gd name="adj" fmla="val 5161"/>
            </a:avLst>
          </a:prstGeom>
          <a:solidFill>
            <a:srgbClr val="FFFFFF"/>
          </a:solidFill>
          <a:ln w="9525">
            <a:solidFill>
              <a:srgbClr val="DCE1E7"/>
            </a:solidFill>
            <a:prstDash val="solid"/>
          </a:ln>
        </p:spPr>
      </p:sp>
      <p:sp>
        <p:nvSpPr>
          <p:cNvPr id="10" name="Shape 7"/>
          <p:cNvSpPr/>
          <p:nvPr/>
        </p:nvSpPr>
        <p:spPr>
          <a:xfrm>
            <a:off x="576072" y="2743200"/>
            <a:ext cx="365760" cy="365760"/>
          </a:xfrm>
          <a:prstGeom prst="ellipse">
            <a:avLst/>
          </a:prstGeom>
          <a:solidFill>
            <a:srgbClr val="E3F4F1"/>
          </a:solidFill>
          <a:ln w="12700">
            <a:solidFill>
              <a:srgbClr val="E3F4F1"/>
            </a:solidFill>
            <a:prstDash val="solid"/>
          </a:ln>
        </p:spPr>
      </p:sp>
      <p:pic>
        <p:nvPicPr>
          <p:cNvPr id="11" name="Image 0" descr="preencoded.png">    </p:cNvPr>
          <p:cNvPicPr>
            <a:picLocks noChangeAspect="1"/>
          </p:cNvPicPr>
          <p:nvPr/>
        </p:nvPicPr>
        <p:blipFill>
          <a:blip r:embed="rId1"/>
          <a:stretch>
            <a:fillRect/>
          </a:stretch>
        </p:blipFill>
        <p:spPr>
          <a:xfrm>
            <a:off x="663854" y="2830982"/>
            <a:ext cx="190195" cy="190195"/>
          </a:xfrm>
          <a:prstGeom prst="rect">
            <a:avLst/>
          </a:prstGeom>
        </p:spPr>
      </p:pic>
      <p:sp>
        <p:nvSpPr>
          <p:cNvPr id="12" name="Text 8"/>
          <p:cNvSpPr txBox="1"/>
          <p:nvPr/>
        </p:nvSpPr>
        <p:spPr>
          <a:xfrm>
            <a:off x="576072" y="3200400"/>
            <a:ext cx="1648206" cy="274320"/>
          </a:xfrm>
          <a:prstGeom prst="rect">
            <a:avLst/>
          </a:prstGeom>
          <a:noFill/>
          <a:ln/>
        </p:spPr>
        <p:txBody>
          <a:bodyPr wrap="square" lIns="0" tIns="0" rIns="0" bIns="0" rtlCol="0" anchor="t"/>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Suspend a CP</a:t>
            </a:r>
            <a:endParaRPr lang="en-US" sz="1150" dirty="0"/>
          </a:p>
        </p:txBody>
      </p:sp>
      <p:sp>
        <p:nvSpPr>
          <p:cNvPr id="13" name="Text 9"/>
          <p:cNvSpPr txBox="1"/>
          <p:nvPr/>
        </p:nvSpPr>
        <p:spPr>
          <a:xfrm>
            <a:off x="576072" y="3493008"/>
            <a:ext cx="1648206" cy="41148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Except the false-invoice exception</a:t>
            </a:r>
            <a:endParaRPr lang="en-US" sz="950" dirty="0"/>
          </a:p>
        </p:txBody>
      </p:sp>
      <p:sp>
        <p:nvSpPr>
          <p:cNvPr id="14" name="Shape 10"/>
          <p:cNvSpPr/>
          <p:nvPr/>
        </p:nvSpPr>
        <p:spPr>
          <a:xfrm>
            <a:off x="2526030" y="2606040"/>
            <a:ext cx="1977390" cy="1417320"/>
          </a:xfrm>
          <a:prstGeom prst="roundRect">
            <a:avLst>
              <a:gd name="adj" fmla="val 5161"/>
            </a:avLst>
          </a:prstGeom>
          <a:solidFill>
            <a:srgbClr val="FFFFFF"/>
          </a:solidFill>
          <a:ln w="9525">
            <a:solidFill>
              <a:srgbClr val="DCE1E7"/>
            </a:solidFill>
            <a:prstDash val="solid"/>
          </a:ln>
        </p:spPr>
      </p:sp>
      <p:sp>
        <p:nvSpPr>
          <p:cNvPr id="15" name="Shape 11"/>
          <p:cNvSpPr/>
          <p:nvPr/>
        </p:nvSpPr>
        <p:spPr>
          <a:xfrm>
            <a:off x="2690622" y="2743200"/>
            <a:ext cx="365760" cy="365760"/>
          </a:xfrm>
          <a:prstGeom prst="ellipse">
            <a:avLst/>
          </a:prstGeom>
          <a:solidFill>
            <a:srgbClr val="E3F4F1"/>
          </a:solidFill>
          <a:ln w="12700">
            <a:solidFill>
              <a:srgbClr val="E3F4F1"/>
            </a:solidFill>
            <a:prstDash val="solid"/>
          </a:ln>
        </p:spPr>
      </p:sp>
      <p:pic>
        <p:nvPicPr>
          <p:cNvPr id="16" name="Image 1" descr="preencoded.png">    </p:cNvPr>
          <p:cNvPicPr>
            <a:picLocks noChangeAspect="1"/>
          </p:cNvPicPr>
          <p:nvPr/>
        </p:nvPicPr>
        <p:blipFill>
          <a:blip r:embed="rId2"/>
          <a:stretch>
            <a:fillRect/>
          </a:stretch>
        </p:blipFill>
        <p:spPr>
          <a:xfrm>
            <a:off x="2778404" y="2830982"/>
            <a:ext cx="190195" cy="190195"/>
          </a:xfrm>
          <a:prstGeom prst="rect">
            <a:avLst/>
          </a:prstGeom>
        </p:spPr>
      </p:pic>
      <p:sp>
        <p:nvSpPr>
          <p:cNvPr id="17" name="Text 12"/>
          <p:cNvSpPr txBox="1"/>
          <p:nvPr/>
        </p:nvSpPr>
        <p:spPr>
          <a:xfrm>
            <a:off x="2690622" y="3200400"/>
            <a:ext cx="1648206" cy="274320"/>
          </a:xfrm>
          <a:prstGeom prst="rect">
            <a:avLst/>
          </a:prstGeom>
          <a:noFill/>
          <a:ln/>
        </p:spPr>
        <p:txBody>
          <a:bodyPr wrap="square" lIns="0" tIns="0" rIns="0" bIns="0" rtlCol="0" anchor="t"/>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Add a DNR flag</a:t>
            </a:r>
            <a:endParaRPr lang="en-US" sz="1150" dirty="0"/>
          </a:p>
        </p:txBody>
      </p:sp>
      <p:sp>
        <p:nvSpPr>
          <p:cNvPr id="18" name="Text 13"/>
          <p:cNvSpPr txBox="1"/>
          <p:nvPr/>
        </p:nvSpPr>
        <p:spPr>
          <a:xfrm>
            <a:off x="2690622" y="3493008"/>
            <a:ext cx="1648206" cy="41148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Never</a:t>
            </a:r>
            <a:endParaRPr lang="en-US" sz="950" dirty="0"/>
          </a:p>
        </p:txBody>
      </p:sp>
      <p:sp>
        <p:nvSpPr>
          <p:cNvPr id="19" name="Shape 14"/>
          <p:cNvSpPr/>
          <p:nvPr/>
        </p:nvSpPr>
        <p:spPr>
          <a:xfrm>
            <a:off x="4640580" y="2606040"/>
            <a:ext cx="1977390" cy="1417320"/>
          </a:xfrm>
          <a:prstGeom prst="roundRect">
            <a:avLst>
              <a:gd name="adj" fmla="val 5161"/>
            </a:avLst>
          </a:prstGeom>
          <a:solidFill>
            <a:srgbClr val="FFFFFF"/>
          </a:solidFill>
          <a:ln w="9525">
            <a:solidFill>
              <a:srgbClr val="DCE1E7"/>
            </a:solidFill>
            <a:prstDash val="solid"/>
          </a:ln>
        </p:spPr>
      </p:sp>
      <p:sp>
        <p:nvSpPr>
          <p:cNvPr id="20" name="Shape 15"/>
          <p:cNvSpPr/>
          <p:nvPr/>
        </p:nvSpPr>
        <p:spPr>
          <a:xfrm>
            <a:off x="4805172" y="2743200"/>
            <a:ext cx="365760" cy="365760"/>
          </a:xfrm>
          <a:prstGeom prst="ellipse">
            <a:avLst/>
          </a:prstGeom>
          <a:solidFill>
            <a:srgbClr val="E3F4F1"/>
          </a:solidFill>
          <a:ln w="12700">
            <a:solidFill>
              <a:srgbClr val="E3F4F1"/>
            </a:solidFill>
            <a:prstDash val="solid"/>
          </a:ln>
        </p:spPr>
      </p:sp>
      <p:pic>
        <p:nvPicPr>
          <p:cNvPr id="21" name="Image 2" descr="preencoded.png">    </p:cNvPr>
          <p:cNvPicPr>
            <a:picLocks noChangeAspect="1"/>
          </p:cNvPicPr>
          <p:nvPr/>
        </p:nvPicPr>
        <p:blipFill>
          <a:blip r:embed="rId3"/>
          <a:stretch>
            <a:fillRect/>
          </a:stretch>
        </p:blipFill>
        <p:spPr>
          <a:xfrm>
            <a:off x="4892954" y="2830982"/>
            <a:ext cx="190195" cy="190195"/>
          </a:xfrm>
          <a:prstGeom prst="rect">
            <a:avLst/>
          </a:prstGeom>
        </p:spPr>
      </p:pic>
      <p:sp>
        <p:nvSpPr>
          <p:cNvPr id="22" name="Text 16"/>
          <p:cNvSpPr txBox="1"/>
          <p:nvPr/>
        </p:nvSpPr>
        <p:spPr>
          <a:xfrm>
            <a:off x="4805172" y="3200400"/>
            <a:ext cx="1648206" cy="274320"/>
          </a:xfrm>
          <a:prstGeom prst="rect">
            <a:avLst/>
          </a:prstGeom>
          <a:noFill/>
          <a:ln/>
        </p:spPr>
        <p:txBody>
          <a:bodyPr wrap="square" lIns="0" tIns="0" rIns="0" bIns="0" rtlCol="0" anchor="t"/>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Deactivate a CP</a:t>
            </a:r>
            <a:endParaRPr lang="en-US" sz="1150" dirty="0"/>
          </a:p>
        </p:txBody>
      </p:sp>
      <p:sp>
        <p:nvSpPr>
          <p:cNvPr id="23" name="Text 17"/>
          <p:cNvSpPr txBox="1"/>
          <p:nvPr/>
        </p:nvSpPr>
        <p:spPr>
          <a:xfrm>
            <a:off x="4805172" y="3493008"/>
            <a:ext cx="1648206" cy="41148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Never permanently</a:t>
            </a:r>
            <a:endParaRPr lang="en-US" sz="950" dirty="0"/>
          </a:p>
        </p:txBody>
      </p:sp>
      <p:sp>
        <p:nvSpPr>
          <p:cNvPr id="24" name="Shape 18"/>
          <p:cNvSpPr/>
          <p:nvPr/>
        </p:nvSpPr>
        <p:spPr>
          <a:xfrm>
            <a:off x="6755130" y="2606040"/>
            <a:ext cx="1977390" cy="1417320"/>
          </a:xfrm>
          <a:prstGeom prst="roundRect">
            <a:avLst>
              <a:gd name="adj" fmla="val 5161"/>
            </a:avLst>
          </a:prstGeom>
          <a:solidFill>
            <a:srgbClr val="FFFFFF"/>
          </a:solidFill>
          <a:ln w="9525">
            <a:solidFill>
              <a:srgbClr val="DCE1E7"/>
            </a:solidFill>
            <a:prstDash val="solid"/>
          </a:ln>
        </p:spPr>
      </p:sp>
      <p:sp>
        <p:nvSpPr>
          <p:cNvPr id="25" name="Shape 19"/>
          <p:cNvSpPr/>
          <p:nvPr/>
        </p:nvSpPr>
        <p:spPr>
          <a:xfrm>
            <a:off x="6919722" y="2743200"/>
            <a:ext cx="365760" cy="365760"/>
          </a:xfrm>
          <a:prstGeom prst="ellipse">
            <a:avLst/>
          </a:prstGeom>
          <a:solidFill>
            <a:srgbClr val="E3F4F1"/>
          </a:solidFill>
          <a:ln w="12700">
            <a:solidFill>
              <a:srgbClr val="E3F4F1"/>
            </a:solidFill>
            <a:prstDash val="solid"/>
          </a:ln>
        </p:spPr>
      </p:sp>
      <p:pic>
        <p:nvPicPr>
          <p:cNvPr id="26" name="Image 3" descr="preencoded.png">    </p:cNvPr>
          <p:cNvPicPr>
            <a:picLocks noChangeAspect="1"/>
          </p:cNvPicPr>
          <p:nvPr/>
        </p:nvPicPr>
        <p:blipFill>
          <a:blip r:embed="rId4"/>
          <a:stretch>
            <a:fillRect/>
          </a:stretch>
        </p:blipFill>
        <p:spPr>
          <a:xfrm>
            <a:off x="7007504" y="2830982"/>
            <a:ext cx="190195" cy="190195"/>
          </a:xfrm>
          <a:prstGeom prst="rect">
            <a:avLst/>
          </a:prstGeom>
        </p:spPr>
      </p:pic>
      <p:sp>
        <p:nvSpPr>
          <p:cNvPr id="27" name="Text 20"/>
          <p:cNvSpPr txBox="1"/>
          <p:nvPr/>
        </p:nvSpPr>
        <p:spPr>
          <a:xfrm>
            <a:off x="6919722" y="3200400"/>
            <a:ext cx="1648206" cy="274320"/>
          </a:xfrm>
          <a:prstGeom prst="rect">
            <a:avLst/>
          </a:prstGeom>
          <a:noFill/>
          <a:ln/>
        </p:spPr>
        <p:txBody>
          <a:bodyPr wrap="square" lIns="0" tIns="0" rIns="0" bIns="0" rtlCol="0" anchor="t"/>
          <a:lstStyle/>
          <a:p>
            <a:pPr indent="0" marL="0">
              <a:buNone/>
            </a:pPr>
            <a:r>
              <a:rPr lang="en-US" sz="1150" b="1" dirty="0">
                <a:solidFill>
                  <a:srgbClr val="1D1D1F"/>
                </a:solidFill>
                <a:latin typeface="SF Pro Display" pitchFamily="34" charset="0"/>
                <a:ea typeface="SF Pro Display" pitchFamily="34" charset="-122"/>
                <a:cs typeface="SF Pro Display" pitchFamily="34" charset="-120"/>
              </a:rPr>
              <a:t>Reactivate a CP</a:t>
            </a:r>
            <a:endParaRPr lang="en-US" sz="1150" dirty="0"/>
          </a:p>
        </p:txBody>
      </p:sp>
      <p:sp>
        <p:nvSpPr>
          <p:cNvPr id="28" name="Text 21"/>
          <p:cNvSpPr txBox="1"/>
          <p:nvPr/>
        </p:nvSpPr>
        <p:spPr>
          <a:xfrm>
            <a:off x="6919722" y="3493008"/>
            <a:ext cx="1648206" cy="41148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CP-side team decides</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PENALTY: C-SIDE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Exceptions to the default</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914400"/>
        </p:xfrm>
        <a:graphic>
          <a:graphicData uri="http://schemas.openxmlformats.org/drawingml/2006/table">
            <a:tbl>
              <a:tblPr/>
              <a:tblGrid>
                <a:gridCol w="4297680"/>
                <a:gridCol w="4023360"/>
              </a:tblGrid>
              <a:tr h="420624">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Situation</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What to do</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20624">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Safety concern (theft, damage, threats, harassment, someone else working the account)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Route to Trust &amp; Safety and follow their process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The system already suspended the CP after your flag or report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Leave it. Coach, explain how to appeal from the dashboard, add your note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First warning-level offense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Coach only. No status change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False invoice (even "the cleaner never came")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norequests, and ask the CP what happened. GPS alone can't confirm</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Multiple false invoices that look abusive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You may set suspended. The only time you do. Never add DNR</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4251960"/>
            <a:ext cx="8321040" cy="384048"/>
          </a:xfrm>
          <a:prstGeom prst="roundRect">
            <a:avLst>
              <a:gd name="adj" fmla="val 19048"/>
            </a:avLst>
          </a:prstGeom>
          <a:solidFill>
            <a:srgbClr val="FFF3D6"/>
          </a:solidFill>
          <a:ln w="9525">
            <a:solidFill>
              <a:srgbClr val="FFF3D6"/>
            </a:solidFill>
            <a:prstDash val="solid"/>
          </a:ln>
        </p:spPr>
      </p:sp>
      <p:pic>
        <p:nvPicPr>
          <p:cNvPr id="7" name="Image 0" descr="preencoded.png">    </p:cNvPr>
          <p:cNvPicPr>
            <a:picLocks noChangeAspect="1"/>
          </p:cNvPicPr>
          <p:nvPr/>
        </p:nvPicPr>
        <p:blipFill>
          <a:blip r:embed="rId1"/>
          <a:stretch>
            <a:fillRect/>
          </a:stretch>
        </p:blipFill>
        <p:spPr>
          <a:xfrm>
            <a:off x="566928" y="4361688"/>
            <a:ext cx="164592" cy="164592"/>
          </a:xfrm>
          <a:prstGeom prst="rect">
            <a:avLst/>
          </a:prstGeom>
        </p:spPr>
      </p:pic>
      <p:sp>
        <p:nvSpPr>
          <p:cNvPr id="8" name="Text 3"/>
          <p:cNvSpPr txBox="1"/>
          <p:nvPr/>
        </p:nvSpPr>
        <p:spPr>
          <a:xfrm>
            <a:off x="822960" y="43525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Safety first:  </a:t>
            </a:r>
            <a:pPr indent="0" marL="0">
              <a:buNone/>
            </a:pPr>
            <a:r>
              <a:rPr lang="en-US" sz="1000" dirty="0">
                <a:solidFill>
                  <a:srgbClr val="1D1D1F"/>
                </a:solidFill>
                <a:latin typeface="SF Pro Text" pitchFamily="34" charset="0"/>
                <a:ea typeface="SF Pro Text" pitchFamily="34" charset="-122"/>
                <a:cs typeface="SF Pro Text" pitchFamily="34" charset="-120"/>
              </a:rPr>
              <a:t>anything that makes the customer feel unsafe goes to Trust &amp; Safety.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PENALTY: C-SIDE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process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Five steps, in order.</a:t>
            </a:r>
            <a:endParaRPr lang="en-US" sz="1200" dirty="0"/>
          </a:p>
        </p:txBody>
      </p:sp>
      <p:sp>
        <p:nvSpPr>
          <p:cNvPr id="6" name="Shape 3"/>
          <p:cNvSpPr/>
          <p:nvPr/>
        </p:nvSpPr>
        <p:spPr>
          <a:xfrm>
            <a:off x="411480" y="1371600"/>
            <a:ext cx="1517904" cy="2377440"/>
          </a:xfrm>
          <a:prstGeom prst="roundRect">
            <a:avLst>
              <a:gd name="adj" fmla="val 4819"/>
            </a:avLst>
          </a:prstGeom>
          <a:solidFill>
            <a:srgbClr val="FFFFFF"/>
          </a:solidFill>
          <a:ln w="9525">
            <a:solidFill>
              <a:srgbClr val="DCE1E7"/>
            </a:solidFill>
            <a:prstDash val="solid"/>
          </a:ln>
        </p:spPr>
      </p:sp>
      <p:sp>
        <p:nvSpPr>
          <p:cNvPr id="7" name="Shape 4"/>
          <p:cNvSpPr/>
          <p:nvPr/>
        </p:nvSpPr>
        <p:spPr>
          <a:xfrm>
            <a:off x="918972" y="1554480"/>
            <a:ext cx="502920" cy="502920"/>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1039673" y="1675181"/>
            <a:ext cx="261518" cy="261518"/>
          </a:xfrm>
          <a:prstGeom prst="rect">
            <a:avLst/>
          </a:prstGeom>
        </p:spPr>
      </p:pic>
      <p:sp>
        <p:nvSpPr>
          <p:cNvPr id="9" name="Text 5"/>
          <p:cNvSpPr txBox="1"/>
          <p:nvPr/>
        </p:nvSpPr>
        <p:spPr>
          <a:xfrm>
            <a:off x="411480" y="2176272"/>
            <a:ext cx="1517904"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1</a:t>
            </a:r>
            <a:endParaRPr lang="en-US" sz="800" dirty="0"/>
          </a:p>
        </p:txBody>
      </p:sp>
      <p:sp>
        <p:nvSpPr>
          <p:cNvPr id="10" name="Text 6"/>
          <p:cNvSpPr txBox="1"/>
          <p:nvPr/>
        </p:nvSpPr>
        <p:spPr>
          <a:xfrm>
            <a:off x="502920" y="2377440"/>
            <a:ext cx="1335024" cy="411480"/>
          </a:xfrm>
          <a:prstGeom prst="rect">
            <a:avLst/>
          </a:prstGeom>
          <a:noFill/>
          <a:ln/>
        </p:spPr>
        <p:txBody>
          <a:bodyPr wrap="square" lIns="0" tIns="0" rIns="0" bIns="0" rtlCol="0" anchor="t"/>
          <a:lstStyle/>
          <a:p>
            <a:pPr algn="ctr" indent="0" marL="0">
              <a:buNone/>
            </a:pPr>
            <a:r>
              <a:rPr lang="en-US" sz="1100" b="1" dirty="0">
                <a:solidFill>
                  <a:srgbClr val="1D1D1F"/>
                </a:solidFill>
                <a:latin typeface="SF Pro Display" pitchFamily="34" charset="0"/>
                <a:ea typeface="SF Pro Display" pitchFamily="34" charset="-122"/>
                <a:cs typeface="SF Pro Display" pitchFamily="34" charset="-120"/>
              </a:rPr>
              <a:t>Safety issue?</a:t>
            </a:r>
            <a:endParaRPr lang="en-US" sz="1100" dirty="0"/>
          </a:p>
        </p:txBody>
      </p:sp>
      <p:sp>
        <p:nvSpPr>
          <p:cNvPr id="11" name="Text 7"/>
          <p:cNvSpPr txBox="1"/>
          <p:nvPr/>
        </p:nvSpPr>
        <p:spPr>
          <a:xfrm>
            <a:off x="521208" y="2834640"/>
            <a:ext cx="1298448" cy="9601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Yes: route to Trust &amp; Safety. Done</a:t>
            </a:r>
            <a:endParaRPr lang="en-US" sz="900" dirty="0"/>
          </a:p>
        </p:txBody>
      </p:sp>
      <p:pic>
        <p:nvPicPr>
          <p:cNvPr id="12" name="Image 1" descr="preencoded.png">    </p:cNvPr>
          <p:cNvPicPr>
            <a:picLocks noChangeAspect="1"/>
          </p:cNvPicPr>
          <p:nvPr/>
        </p:nvPicPr>
        <p:blipFill>
          <a:blip r:embed="rId2"/>
          <a:stretch>
            <a:fillRect/>
          </a:stretch>
        </p:blipFill>
        <p:spPr>
          <a:xfrm>
            <a:off x="1947672" y="2468880"/>
            <a:ext cx="146304" cy="146304"/>
          </a:xfrm>
          <a:prstGeom prst="rect">
            <a:avLst/>
          </a:prstGeom>
        </p:spPr>
      </p:pic>
      <p:sp>
        <p:nvSpPr>
          <p:cNvPr id="13" name="Shape 8"/>
          <p:cNvSpPr/>
          <p:nvPr/>
        </p:nvSpPr>
        <p:spPr>
          <a:xfrm>
            <a:off x="2112264" y="1371600"/>
            <a:ext cx="1517904" cy="2377440"/>
          </a:xfrm>
          <a:prstGeom prst="roundRect">
            <a:avLst>
              <a:gd name="adj" fmla="val 4819"/>
            </a:avLst>
          </a:prstGeom>
          <a:solidFill>
            <a:srgbClr val="FFFFFF"/>
          </a:solidFill>
          <a:ln w="9525">
            <a:solidFill>
              <a:srgbClr val="DCE1E7"/>
            </a:solidFill>
            <a:prstDash val="solid"/>
          </a:ln>
        </p:spPr>
      </p:sp>
      <p:sp>
        <p:nvSpPr>
          <p:cNvPr id="14" name="Shape 9"/>
          <p:cNvSpPr/>
          <p:nvPr/>
        </p:nvSpPr>
        <p:spPr>
          <a:xfrm>
            <a:off x="2619756" y="1554480"/>
            <a:ext cx="502920" cy="502920"/>
          </a:xfrm>
          <a:prstGeom prst="ellipse">
            <a:avLst/>
          </a:prstGeom>
          <a:solidFill>
            <a:srgbClr val="E3F4F1"/>
          </a:solidFill>
          <a:ln w="12700">
            <a:solidFill>
              <a:srgbClr val="E3F4F1"/>
            </a:solidFill>
            <a:prstDash val="solid"/>
          </a:ln>
        </p:spPr>
      </p:sp>
      <p:pic>
        <p:nvPicPr>
          <p:cNvPr id="15" name="Image 2" descr="preencoded.png">    </p:cNvPr>
          <p:cNvPicPr>
            <a:picLocks noChangeAspect="1"/>
          </p:cNvPicPr>
          <p:nvPr/>
        </p:nvPicPr>
        <p:blipFill>
          <a:blip r:embed="rId3"/>
          <a:stretch>
            <a:fillRect/>
          </a:stretch>
        </p:blipFill>
        <p:spPr>
          <a:xfrm>
            <a:off x="2740457" y="1675181"/>
            <a:ext cx="261518" cy="261518"/>
          </a:xfrm>
          <a:prstGeom prst="rect">
            <a:avLst/>
          </a:prstGeom>
        </p:spPr>
      </p:pic>
      <p:sp>
        <p:nvSpPr>
          <p:cNvPr id="16" name="Text 10"/>
          <p:cNvSpPr txBox="1"/>
          <p:nvPr/>
        </p:nvSpPr>
        <p:spPr>
          <a:xfrm>
            <a:off x="2112264" y="2176272"/>
            <a:ext cx="1517904"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2</a:t>
            </a:r>
            <a:endParaRPr lang="en-US" sz="800" dirty="0"/>
          </a:p>
        </p:txBody>
      </p:sp>
      <p:sp>
        <p:nvSpPr>
          <p:cNvPr id="17" name="Text 11"/>
          <p:cNvSpPr txBox="1"/>
          <p:nvPr/>
        </p:nvSpPr>
        <p:spPr>
          <a:xfrm>
            <a:off x="2203704" y="2377440"/>
            <a:ext cx="1335024" cy="411480"/>
          </a:xfrm>
          <a:prstGeom prst="rect">
            <a:avLst/>
          </a:prstGeom>
          <a:noFill/>
          <a:ln/>
        </p:spPr>
        <p:txBody>
          <a:bodyPr wrap="square" lIns="0" tIns="0" rIns="0" bIns="0" rtlCol="0" anchor="t"/>
          <a:lstStyle/>
          <a:p>
            <a:pPr algn="ctr" indent="0" marL="0">
              <a:buNone/>
            </a:pPr>
            <a:r>
              <a:rPr lang="en-US" sz="1100" b="1" dirty="0">
                <a:solidFill>
                  <a:srgbClr val="1D1D1F"/>
                </a:solidFill>
                <a:latin typeface="SF Pro Display" pitchFamily="34" charset="0"/>
                <a:ea typeface="SF Pro Display" pitchFamily="34" charset="-122"/>
                <a:cs typeface="SF Pro Display" pitchFamily="34" charset="-120"/>
              </a:rPr>
              <a:t>Already suspended?</a:t>
            </a:r>
            <a:endParaRPr lang="en-US" sz="1100" dirty="0"/>
          </a:p>
        </p:txBody>
      </p:sp>
      <p:sp>
        <p:nvSpPr>
          <p:cNvPr id="18" name="Text 12"/>
          <p:cNvSpPr txBox="1"/>
          <p:nvPr/>
        </p:nvSpPr>
        <p:spPr>
          <a:xfrm>
            <a:off x="2221992" y="2834640"/>
            <a:ext cx="1298448" cy="9601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Check the Issues table. Yes: leave it, coach, note. Done</a:t>
            </a:r>
            <a:endParaRPr lang="en-US" sz="900" dirty="0"/>
          </a:p>
        </p:txBody>
      </p:sp>
      <p:pic>
        <p:nvPicPr>
          <p:cNvPr id="19" name="Image 3" descr="preencoded.png">    </p:cNvPr>
          <p:cNvPicPr>
            <a:picLocks noChangeAspect="1"/>
          </p:cNvPicPr>
          <p:nvPr/>
        </p:nvPicPr>
        <p:blipFill>
          <a:blip r:embed="rId4"/>
          <a:stretch>
            <a:fillRect/>
          </a:stretch>
        </p:blipFill>
        <p:spPr>
          <a:xfrm>
            <a:off x="3648456" y="2468880"/>
            <a:ext cx="146304" cy="146304"/>
          </a:xfrm>
          <a:prstGeom prst="rect">
            <a:avLst/>
          </a:prstGeom>
        </p:spPr>
      </p:pic>
      <p:sp>
        <p:nvSpPr>
          <p:cNvPr id="20" name="Shape 13"/>
          <p:cNvSpPr/>
          <p:nvPr/>
        </p:nvSpPr>
        <p:spPr>
          <a:xfrm>
            <a:off x="3813048" y="1371600"/>
            <a:ext cx="1517904" cy="2377440"/>
          </a:xfrm>
          <a:prstGeom prst="roundRect">
            <a:avLst>
              <a:gd name="adj" fmla="val 4819"/>
            </a:avLst>
          </a:prstGeom>
          <a:solidFill>
            <a:srgbClr val="FFFFFF"/>
          </a:solidFill>
          <a:ln w="9525">
            <a:solidFill>
              <a:srgbClr val="DCE1E7"/>
            </a:solidFill>
            <a:prstDash val="solid"/>
          </a:ln>
        </p:spPr>
      </p:sp>
      <p:sp>
        <p:nvSpPr>
          <p:cNvPr id="21" name="Shape 14"/>
          <p:cNvSpPr/>
          <p:nvPr/>
        </p:nvSpPr>
        <p:spPr>
          <a:xfrm>
            <a:off x="4320540" y="1554480"/>
            <a:ext cx="502920" cy="502920"/>
          </a:xfrm>
          <a:prstGeom prst="ellipse">
            <a:avLst/>
          </a:prstGeom>
          <a:solidFill>
            <a:srgbClr val="E3F4F1"/>
          </a:solidFill>
          <a:ln w="12700">
            <a:solidFill>
              <a:srgbClr val="E3F4F1"/>
            </a:solidFill>
            <a:prstDash val="solid"/>
          </a:ln>
        </p:spPr>
      </p:sp>
      <p:pic>
        <p:nvPicPr>
          <p:cNvPr id="22" name="Image 4" descr="preencoded.png">    </p:cNvPr>
          <p:cNvPicPr>
            <a:picLocks noChangeAspect="1"/>
          </p:cNvPicPr>
          <p:nvPr/>
        </p:nvPicPr>
        <p:blipFill>
          <a:blip r:embed="rId5"/>
          <a:stretch>
            <a:fillRect/>
          </a:stretch>
        </p:blipFill>
        <p:spPr>
          <a:xfrm>
            <a:off x="4441241" y="1675181"/>
            <a:ext cx="261518" cy="261518"/>
          </a:xfrm>
          <a:prstGeom prst="rect">
            <a:avLst/>
          </a:prstGeom>
        </p:spPr>
      </p:pic>
      <p:sp>
        <p:nvSpPr>
          <p:cNvPr id="23" name="Text 15"/>
          <p:cNvSpPr txBox="1"/>
          <p:nvPr/>
        </p:nvSpPr>
        <p:spPr>
          <a:xfrm>
            <a:off x="3813048" y="2176272"/>
            <a:ext cx="1517904"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3</a:t>
            </a:r>
            <a:endParaRPr lang="en-US" sz="800" dirty="0"/>
          </a:p>
        </p:txBody>
      </p:sp>
      <p:sp>
        <p:nvSpPr>
          <p:cNvPr id="24" name="Text 16"/>
          <p:cNvSpPr txBox="1"/>
          <p:nvPr/>
        </p:nvSpPr>
        <p:spPr>
          <a:xfrm>
            <a:off x="3904488" y="2377440"/>
            <a:ext cx="1335024" cy="411480"/>
          </a:xfrm>
          <a:prstGeom prst="rect">
            <a:avLst/>
          </a:prstGeom>
          <a:noFill/>
          <a:ln/>
        </p:spPr>
        <p:txBody>
          <a:bodyPr wrap="square" lIns="0" tIns="0" rIns="0" bIns="0" rtlCol="0" anchor="t"/>
          <a:lstStyle/>
          <a:p>
            <a:pPr algn="ctr" indent="0" marL="0">
              <a:buNone/>
            </a:pPr>
            <a:r>
              <a:rPr lang="en-US" sz="1100" b="1" dirty="0">
                <a:solidFill>
                  <a:srgbClr val="1D1D1F"/>
                </a:solidFill>
                <a:latin typeface="SF Pro Display" pitchFamily="34" charset="0"/>
                <a:ea typeface="SF Pro Display" pitchFamily="34" charset="-122"/>
                <a:cs typeface="SF Pro Display" pitchFamily="34" charset="-120"/>
              </a:rPr>
              <a:t>Find the offense</a:t>
            </a:r>
            <a:endParaRPr lang="en-US" sz="1100" dirty="0"/>
          </a:p>
        </p:txBody>
      </p:sp>
      <p:sp>
        <p:nvSpPr>
          <p:cNvPr id="25" name="Text 17"/>
          <p:cNvSpPr txBox="1"/>
          <p:nvPr/>
        </p:nvSpPr>
        <p:spPr>
          <a:xfrm>
            <a:off x="3922776" y="2834640"/>
            <a:ext cx="1298448" cy="9601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Take the action in the table</a:t>
            </a:r>
            <a:endParaRPr lang="en-US" sz="900" dirty="0"/>
          </a:p>
        </p:txBody>
      </p:sp>
      <p:pic>
        <p:nvPicPr>
          <p:cNvPr id="26" name="Image 5" descr="preencoded.png">    </p:cNvPr>
          <p:cNvPicPr>
            <a:picLocks noChangeAspect="1"/>
          </p:cNvPicPr>
          <p:nvPr/>
        </p:nvPicPr>
        <p:blipFill>
          <a:blip r:embed="rId6"/>
          <a:stretch>
            <a:fillRect/>
          </a:stretch>
        </p:blipFill>
        <p:spPr>
          <a:xfrm>
            <a:off x="5349240" y="2468880"/>
            <a:ext cx="146304" cy="146304"/>
          </a:xfrm>
          <a:prstGeom prst="rect">
            <a:avLst/>
          </a:prstGeom>
        </p:spPr>
      </p:pic>
      <p:sp>
        <p:nvSpPr>
          <p:cNvPr id="27" name="Shape 18"/>
          <p:cNvSpPr/>
          <p:nvPr/>
        </p:nvSpPr>
        <p:spPr>
          <a:xfrm>
            <a:off x="5513832" y="1371600"/>
            <a:ext cx="1517904" cy="2377440"/>
          </a:xfrm>
          <a:prstGeom prst="roundRect">
            <a:avLst>
              <a:gd name="adj" fmla="val 4819"/>
            </a:avLst>
          </a:prstGeom>
          <a:solidFill>
            <a:srgbClr val="FFFFFF"/>
          </a:solidFill>
          <a:ln w="9525">
            <a:solidFill>
              <a:srgbClr val="DCE1E7"/>
            </a:solidFill>
            <a:prstDash val="solid"/>
          </a:ln>
        </p:spPr>
      </p:sp>
      <p:sp>
        <p:nvSpPr>
          <p:cNvPr id="28" name="Shape 19"/>
          <p:cNvSpPr/>
          <p:nvPr/>
        </p:nvSpPr>
        <p:spPr>
          <a:xfrm>
            <a:off x="6021324" y="1554480"/>
            <a:ext cx="502920" cy="502920"/>
          </a:xfrm>
          <a:prstGeom prst="ellipse">
            <a:avLst/>
          </a:prstGeom>
          <a:solidFill>
            <a:srgbClr val="E3F4F1"/>
          </a:solidFill>
          <a:ln w="12700">
            <a:solidFill>
              <a:srgbClr val="E3F4F1"/>
            </a:solidFill>
            <a:prstDash val="solid"/>
          </a:ln>
        </p:spPr>
      </p:sp>
      <p:pic>
        <p:nvPicPr>
          <p:cNvPr id="29" name="Image 6" descr="preencoded.png">    </p:cNvPr>
          <p:cNvPicPr>
            <a:picLocks noChangeAspect="1"/>
          </p:cNvPicPr>
          <p:nvPr/>
        </p:nvPicPr>
        <p:blipFill>
          <a:blip r:embed="rId7"/>
          <a:stretch>
            <a:fillRect/>
          </a:stretch>
        </p:blipFill>
        <p:spPr>
          <a:xfrm>
            <a:off x="6142025" y="1675181"/>
            <a:ext cx="261518" cy="261518"/>
          </a:xfrm>
          <a:prstGeom prst="rect">
            <a:avLst/>
          </a:prstGeom>
        </p:spPr>
      </p:pic>
      <p:sp>
        <p:nvSpPr>
          <p:cNvPr id="30" name="Text 20"/>
          <p:cNvSpPr txBox="1"/>
          <p:nvPr/>
        </p:nvSpPr>
        <p:spPr>
          <a:xfrm>
            <a:off x="5513832" y="2176272"/>
            <a:ext cx="1517904"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4</a:t>
            </a:r>
            <a:endParaRPr lang="en-US" sz="800" dirty="0"/>
          </a:p>
        </p:txBody>
      </p:sp>
      <p:sp>
        <p:nvSpPr>
          <p:cNvPr id="31" name="Text 21"/>
          <p:cNvSpPr txBox="1"/>
          <p:nvPr/>
        </p:nvSpPr>
        <p:spPr>
          <a:xfrm>
            <a:off x="5605272" y="2377440"/>
            <a:ext cx="1335024" cy="411480"/>
          </a:xfrm>
          <a:prstGeom prst="rect">
            <a:avLst/>
          </a:prstGeom>
          <a:noFill/>
          <a:ln/>
        </p:spPr>
        <p:txBody>
          <a:bodyPr wrap="square" lIns="0" tIns="0" rIns="0" bIns="0" rtlCol="0" anchor="t"/>
          <a:lstStyle/>
          <a:p>
            <a:pPr algn="ctr" indent="0" marL="0">
              <a:buNone/>
            </a:pPr>
            <a:r>
              <a:rPr lang="en-US" sz="1100" b="1" dirty="0">
                <a:solidFill>
                  <a:srgbClr val="1D1D1F"/>
                </a:solidFill>
                <a:latin typeface="SF Pro Display" pitchFamily="34" charset="0"/>
                <a:ea typeface="SF Pro Display" pitchFamily="34" charset="-122"/>
                <a:cs typeface="SF Pro Display" pitchFamily="34" charset="-120"/>
              </a:rPr>
              <a:t>Coach the CP</a:t>
            </a:r>
            <a:endParaRPr lang="en-US" sz="1100" dirty="0"/>
          </a:p>
        </p:txBody>
      </p:sp>
      <p:sp>
        <p:nvSpPr>
          <p:cNvPr id="32" name="Text 22"/>
          <p:cNvSpPr txBox="1"/>
          <p:nvPr/>
        </p:nvSpPr>
        <p:spPr>
          <a:xfrm>
            <a:off x="5623560" y="2834640"/>
            <a:ext cx="1298448" cy="9601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What was reported and how to appeal</a:t>
            </a:r>
            <a:endParaRPr lang="en-US" sz="900" dirty="0"/>
          </a:p>
        </p:txBody>
      </p:sp>
      <p:pic>
        <p:nvPicPr>
          <p:cNvPr id="33" name="Image 7" descr="preencoded.png">    </p:cNvPr>
          <p:cNvPicPr>
            <a:picLocks noChangeAspect="1"/>
          </p:cNvPicPr>
          <p:nvPr/>
        </p:nvPicPr>
        <p:blipFill>
          <a:blip r:embed="rId8"/>
          <a:stretch>
            <a:fillRect/>
          </a:stretch>
        </p:blipFill>
        <p:spPr>
          <a:xfrm>
            <a:off x="7050024" y="2468880"/>
            <a:ext cx="146304" cy="146304"/>
          </a:xfrm>
          <a:prstGeom prst="rect">
            <a:avLst/>
          </a:prstGeom>
        </p:spPr>
      </p:pic>
      <p:sp>
        <p:nvSpPr>
          <p:cNvPr id="34" name="Shape 23"/>
          <p:cNvSpPr/>
          <p:nvPr/>
        </p:nvSpPr>
        <p:spPr>
          <a:xfrm>
            <a:off x="7214616" y="1371600"/>
            <a:ext cx="1517904" cy="2377440"/>
          </a:xfrm>
          <a:prstGeom prst="roundRect">
            <a:avLst>
              <a:gd name="adj" fmla="val 4819"/>
            </a:avLst>
          </a:prstGeom>
          <a:solidFill>
            <a:srgbClr val="FFFFFF"/>
          </a:solidFill>
          <a:ln w="9525">
            <a:solidFill>
              <a:srgbClr val="DCE1E7"/>
            </a:solidFill>
            <a:prstDash val="solid"/>
          </a:ln>
        </p:spPr>
      </p:sp>
      <p:sp>
        <p:nvSpPr>
          <p:cNvPr id="35" name="Shape 24"/>
          <p:cNvSpPr/>
          <p:nvPr/>
        </p:nvSpPr>
        <p:spPr>
          <a:xfrm>
            <a:off x="7722108" y="1554480"/>
            <a:ext cx="502920" cy="502920"/>
          </a:xfrm>
          <a:prstGeom prst="ellipse">
            <a:avLst/>
          </a:prstGeom>
          <a:solidFill>
            <a:srgbClr val="E3F4F1"/>
          </a:solidFill>
          <a:ln w="12700">
            <a:solidFill>
              <a:srgbClr val="E3F4F1"/>
            </a:solidFill>
            <a:prstDash val="solid"/>
          </a:ln>
        </p:spPr>
      </p:sp>
      <p:pic>
        <p:nvPicPr>
          <p:cNvPr id="36" name="Image 8" descr="preencoded.png">    </p:cNvPr>
          <p:cNvPicPr>
            <a:picLocks noChangeAspect="1"/>
          </p:cNvPicPr>
          <p:nvPr/>
        </p:nvPicPr>
        <p:blipFill>
          <a:blip r:embed="rId9"/>
          <a:stretch>
            <a:fillRect/>
          </a:stretch>
        </p:blipFill>
        <p:spPr>
          <a:xfrm>
            <a:off x="7842809" y="1675181"/>
            <a:ext cx="261518" cy="261518"/>
          </a:xfrm>
          <a:prstGeom prst="rect">
            <a:avLst/>
          </a:prstGeom>
        </p:spPr>
      </p:pic>
      <p:sp>
        <p:nvSpPr>
          <p:cNvPr id="37" name="Text 25"/>
          <p:cNvSpPr txBox="1"/>
          <p:nvPr/>
        </p:nvSpPr>
        <p:spPr>
          <a:xfrm>
            <a:off x="7214616" y="2176272"/>
            <a:ext cx="1517904"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5</a:t>
            </a:r>
            <a:endParaRPr lang="en-US" sz="800" dirty="0"/>
          </a:p>
        </p:txBody>
      </p:sp>
      <p:sp>
        <p:nvSpPr>
          <p:cNvPr id="38" name="Text 26"/>
          <p:cNvSpPr txBox="1"/>
          <p:nvPr/>
        </p:nvSpPr>
        <p:spPr>
          <a:xfrm>
            <a:off x="7306056" y="2377440"/>
            <a:ext cx="1335024" cy="411480"/>
          </a:xfrm>
          <a:prstGeom prst="rect">
            <a:avLst/>
          </a:prstGeom>
          <a:noFill/>
          <a:ln/>
        </p:spPr>
        <p:txBody>
          <a:bodyPr wrap="square" lIns="0" tIns="0" rIns="0" bIns="0" rtlCol="0" anchor="t"/>
          <a:lstStyle/>
          <a:p>
            <a:pPr algn="ctr" indent="0" marL="0">
              <a:buNone/>
            </a:pPr>
            <a:r>
              <a:rPr lang="en-US" sz="1100" b="1" dirty="0">
                <a:solidFill>
                  <a:srgbClr val="1D1D1F"/>
                </a:solidFill>
                <a:latin typeface="SF Pro Display" pitchFamily="34" charset="0"/>
                <a:ea typeface="SF Pro Display" pitchFamily="34" charset="-122"/>
                <a:cs typeface="SF Pro Display" pitchFamily="34" charset="-120"/>
              </a:rPr>
              <a:t>Leave a note</a:t>
            </a:r>
            <a:endParaRPr lang="en-US" sz="1100" dirty="0"/>
          </a:p>
        </p:txBody>
      </p:sp>
      <p:sp>
        <p:nvSpPr>
          <p:cNvPr id="39" name="Text 27"/>
          <p:cNvSpPr txBox="1"/>
          <p:nvPr/>
        </p:nvSpPr>
        <p:spPr>
          <a:xfrm>
            <a:off x="7324344" y="2834640"/>
            <a:ext cx="1298448" cy="9601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So the CP-side team doesn't re-investigate</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PENALTY: C-SIDE HANDLING  ·  STEP 3</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action for each offense</a:t>
            </a:r>
            <a:endParaRPr lang="en-US" sz="2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8321040" cy="914400"/>
        </p:xfrm>
        <a:graphic>
          <a:graphicData uri="http://schemas.openxmlformats.org/drawingml/2006/table">
            <a:tbl>
              <a:tblPr/>
              <a:tblGrid>
                <a:gridCol w="1965960"/>
                <a:gridCol w="2606040"/>
                <a:gridCol w="2103120"/>
                <a:gridCol w="1645920"/>
              </a:tblGrid>
              <a:tr h="329184">
                <a:tc>
                  <a:txBody>
                    <a:bodyPr/>
                    <a:lstStyle/>
                    <a:p>
                      <a:pPr indent="0" marL="0">
                        <a:buNone/>
                      </a:pPr>
                      <a:r>
                        <a:rPr lang="en-US" sz="800" b="1" dirty="0">
                          <a:solidFill>
                            <a:srgbClr val="0B7A6F"/>
                          </a:solidFill>
                          <a:latin typeface="SF Pro Display" pitchFamily="34" charset="0"/>
                          <a:ea typeface="SF Pro Display" pitchFamily="34" charset="-122"/>
                          <a:cs typeface="SF Pro Display" pitchFamily="34" charset="-120"/>
                        </a:rPr>
                        <a:t>Customer reported</a:t>
                      </a:r>
                      <a:endParaRPr lang="en-US" sz="8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800" b="1" dirty="0">
                          <a:solidFill>
                            <a:srgbClr val="0B7A6F"/>
                          </a:solidFill>
                          <a:latin typeface="SF Pro Display" pitchFamily="34" charset="0"/>
                          <a:ea typeface="SF Pro Display" pitchFamily="34" charset="-122"/>
                          <a:cs typeface="SF Pro Display" pitchFamily="34" charset="-120"/>
                        </a:rPr>
                        <a:t>Flag / report</a:t>
                      </a:r>
                      <a:endParaRPr lang="en-US" sz="8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800" b="1" dirty="0">
                          <a:solidFill>
                            <a:srgbClr val="0B7A6F"/>
                          </a:solidFill>
                          <a:latin typeface="SF Pro Display" pitchFamily="34" charset="0"/>
                          <a:ea typeface="SF Pro Display" pitchFamily="34" charset="-122"/>
                          <a:cs typeface="SF Pro Display" pitchFamily="34" charset="-120"/>
                        </a:rPr>
                        <a:t>CP status</a:t>
                      </a:r>
                      <a:endParaRPr lang="en-US" sz="8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800" b="1" dirty="0">
                          <a:solidFill>
                            <a:srgbClr val="0B7A6F"/>
                          </a:solidFill>
                          <a:latin typeface="SF Pro Display" pitchFamily="34" charset="0"/>
                          <a:ea typeface="SF Pro Display" pitchFamily="34" charset="-122"/>
                          <a:cs typeface="SF Pro Display" pitchFamily="34" charset="-120"/>
                        </a:rPr>
                        <a:t>Coaching</a:t>
                      </a:r>
                      <a:endParaRPr lang="en-US" sz="8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29184">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No-show or CP cancellation</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Job Admin &gt; No Show, or cancel from the CP Dashboard</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Lean coaching. norequests only if repeat</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No-show / cancellation macro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Unauthorized reschedule</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1st: no change · 2nd+: norequests</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Warning macro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False invoice (incl. "never came")</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cp_false_invoice (may auto-suspend new CPs)</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norequests if not auto-suspended</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False invoice macro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Overcharged hours</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cp_overcharged_hours (refund 30+ min)</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norequests</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Overcharged Hours series</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Accepted cash</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accepting_cash_not_allowed_warning (by macro)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1st: no change · 2nd+: norequests</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Accepted Cash macro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Missing supplies (Gen Op)</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require_new_cleaning_supplies_photo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Set by the flag</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No/Incomplete Supplies macro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Missing supplies (non-Gen Op)</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No change</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No/Incomplete Supplies macro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Rude / unprofessional (not safety)</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norequests</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Coaching macro</a:t>
                      </a:r>
                      <a:endParaRPr lang="en-US" sz="8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4315968"/>
            <a:ext cx="8321040" cy="384048"/>
          </a:xfrm>
          <a:prstGeom prst="roundRect">
            <a:avLst>
              <a:gd name="adj" fmla="val 19048"/>
            </a:avLst>
          </a:prstGeom>
          <a:solidFill>
            <a:srgbClr val="FFF3D6"/>
          </a:solidFill>
          <a:ln w="9525">
            <a:solidFill>
              <a:srgbClr val="FFF3D6"/>
            </a:solidFill>
            <a:prstDash val="solid"/>
          </a:ln>
        </p:spPr>
      </p:sp>
      <p:pic>
        <p:nvPicPr>
          <p:cNvPr id="7" name="Image 0" descr="preencoded.png">    </p:cNvPr>
          <p:cNvPicPr>
            <a:picLocks noChangeAspect="1"/>
          </p:cNvPicPr>
          <p:nvPr/>
        </p:nvPicPr>
        <p:blipFill>
          <a:blip r:embed="rId1"/>
          <a:stretch>
            <a:fillRect/>
          </a:stretch>
        </p:blipFill>
        <p:spPr>
          <a:xfrm>
            <a:off x="566928" y="4425696"/>
            <a:ext cx="164592" cy="164592"/>
          </a:xfrm>
          <a:prstGeom prst="rect">
            <a:avLst/>
          </a:prstGeom>
        </p:spPr>
      </p:pic>
      <p:sp>
        <p:nvSpPr>
          <p:cNvPr id="8" name="Text 3"/>
          <p:cNvSpPr txBox="1"/>
          <p:nvPr/>
        </p:nvSpPr>
        <p:spPr>
          <a:xfrm>
            <a:off x="822960" y="4416552"/>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Easy to miss:  </a:t>
            </a:r>
            <a:pPr indent="0" marL="0">
              <a:buNone/>
            </a:pPr>
            <a:r>
              <a:rPr lang="en-US" sz="1000" dirty="0">
                <a:solidFill>
                  <a:srgbClr val="1D1D1F"/>
                </a:solidFill>
                <a:latin typeface="SF Pro Text" pitchFamily="34" charset="0"/>
                <a:ea typeface="SF Pro Text" pitchFamily="34" charset="-122"/>
                <a:cs typeface="SF Pro Text" pitchFamily="34" charset="-120"/>
              </a:rPr>
              <a:t>reschedules and accepted cash are coaching-only the first time. Check for a past warning.</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PENALTY: C-SIDE HANDLING  ·  STEPS 4 &amp; 5</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Coach, then document</a:t>
            </a:r>
            <a:endParaRPr lang="en-US" sz="2400" dirty="0"/>
          </a:p>
        </p:txBody>
      </p:sp>
      <p:sp>
        <p:nvSpPr>
          <p:cNvPr id="5" name="Shape 2"/>
          <p:cNvSpPr/>
          <p:nvPr/>
        </p:nvSpPr>
        <p:spPr>
          <a:xfrm>
            <a:off x="411480" y="1188720"/>
            <a:ext cx="4091940" cy="3017520"/>
          </a:xfrm>
          <a:prstGeom prst="roundRect">
            <a:avLst>
              <a:gd name="adj" fmla="val 2424"/>
            </a:avLst>
          </a:prstGeom>
          <a:solidFill>
            <a:srgbClr val="FFFFFF"/>
          </a:solidFill>
          <a:ln w="9525">
            <a:solidFill>
              <a:srgbClr val="DCE1E7"/>
            </a:solidFill>
            <a:prstDash val="solid"/>
          </a:ln>
        </p:spPr>
      </p:sp>
      <p:sp>
        <p:nvSpPr>
          <p:cNvPr id="6" name="Shape 3"/>
          <p:cNvSpPr/>
          <p:nvPr/>
        </p:nvSpPr>
        <p:spPr>
          <a:xfrm>
            <a:off x="594360" y="1371600"/>
            <a:ext cx="384048" cy="3840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86532" y="1463772"/>
            <a:ext cx="199705" cy="199705"/>
          </a:xfrm>
          <a:prstGeom prst="rect">
            <a:avLst/>
          </a:prstGeom>
        </p:spPr>
      </p:pic>
      <p:sp>
        <p:nvSpPr>
          <p:cNvPr id="8" name="Text 4"/>
          <p:cNvSpPr txBox="1"/>
          <p:nvPr/>
        </p:nvSpPr>
        <p:spPr>
          <a:xfrm>
            <a:off x="1097280" y="1371600"/>
            <a:ext cx="326898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Step 4: Coach the CP</a:t>
            </a:r>
            <a:endParaRPr lang="en-US" sz="1300" dirty="0"/>
          </a:p>
        </p:txBody>
      </p:sp>
      <p:sp>
        <p:nvSpPr>
          <p:cNvPr id="9" name="Text 5"/>
          <p:cNvSpPr txBox="1"/>
          <p:nvPr/>
        </p:nvSpPr>
        <p:spPr>
          <a:xfrm>
            <a:off x="594360" y="1920240"/>
            <a:ext cx="3726180" cy="21031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Explain exactly what was reported</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If you paused them, say so and explain how to appeal from their dashboard</a:t>
            </a:r>
            <a:endParaRPr lang="en-US" sz="1050" dirty="0"/>
          </a:p>
          <a:p>
            <a:pPr marL="127000" indent="-127000">
              <a:spcAft>
                <a:spcPts val="600"/>
              </a:spcAft>
              <a:buSzPct val="100000"/>
              <a:buChar char="•"/>
            </a:pPr>
            <a:r>
              <a:rPr lang="en-US" sz="1050" dirty="0">
                <a:solidFill>
                  <a:srgbClr val="1D1D1F"/>
                </a:solidFill>
                <a:latin typeface="SF Pro Text" pitchFamily="34" charset="0"/>
                <a:ea typeface="SF Pro Text" pitchFamily="34" charset="-122"/>
                <a:cs typeface="SF Pro Text" pitchFamily="34" charset="-120"/>
              </a:rPr>
              <a:t>Never hint at an outcome ("you'll probably be reactivated"). The CP-side team decides</a:t>
            </a:r>
            <a:endParaRPr lang="en-US" sz="1050" dirty="0"/>
          </a:p>
        </p:txBody>
      </p:sp>
      <p:sp>
        <p:nvSpPr>
          <p:cNvPr id="10" name="Shape 6"/>
          <p:cNvSpPr/>
          <p:nvPr/>
        </p:nvSpPr>
        <p:spPr>
          <a:xfrm>
            <a:off x="4640580" y="1188720"/>
            <a:ext cx="4091940" cy="3017520"/>
          </a:xfrm>
          <a:prstGeom prst="roundRect">
            <a:avLst>
              <a:gd name="adj" fmla="val 2424"/>
            </a:avLst>
          </a:prstGeom>
          <a:solidFill>
            <a:srgbClr val="FFFFFF"/>
          </a:solidFill>
          <a:ln w="9525">
            <a:solidFill>
              <a:srgbClr val="DCE1E7"/>
            </a:solidFill>
            <a:prstDash val="solid"/>
          </a:ln>
        </p:spPr>
      </p:sp>
      <p:sp>
        <p:nvSpPr>
          <p:cNvPr id="11" name="Shape 7"/>
          <p:cNvSpPr/>
          <p:nvPr/>
        </p:nvSpPr>
        <p:spPr>
          <a:xfrm>
            <a:off x="4823460" y="1371600"/>
            <a:ext cx="384048" cy="38404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4915632" y="1463772"/>
            <a:ext cx="199705" cy="199705"/>
          </a:xfrm>
          <a:prstGeom prst="rect">
            <a:avLst/>
          </a:prstGeom>
        </p:spPr>
      </p:pic>
      <p:sp>
        <p:nvSpPr>
          <p:cNvPr id="13" name="Text 8"/>
          <p:cNvSpPr txBox="1"/>
          <p:nvPr/>
        </p:nvSpPr>
        <p:spPr>
          <a:xfrm>
            <a:off x="5326380" y="1371600"/>
            <a:ext cx="326898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Step 5: Internal note</a:t>
            </a:r>
            <a:endParaRPr lang="en-US" sz="1300" dirty="0"/>
          </a:p>
        </p:txBody>
      </p:sp>
      <p:sp>
        <p:nvSpPr>
          <p:cNvPr id="14" name="Shape 9"/>
          <p:cNvSpPr/>
          <p:nvPr/>
        </p:nvSpPr>
        <p:spPr>
          <a:xfrm>
            <a:off x="4823460" y="1920240"/>
            <a:ext cx="3726180" cy="2103120"/>
          </a:xfrm>
          <a:prstGeom prst="roundRect">
            <a:avLst>
              <a:gd name="adj" fmla="val 3478"/>
            </a:avLst>
          </a:prstGeom>
          <a:solidFill>
            <a:srgbClr val="F6F7F9"/>
          </a:solidFill>
          <a:ln w="9525">
            <a:solidFill>
              <a:srgbClr val="DCE1E7"/>
            </a:solidFill>
            <a:prstDash val="solid"/>
          </a:ln>
        </p:spPr>
      </p:sp>
      <p:sp>
        <p:nvSpPr>
          <p:cNvPr id="15" name="Text 10"/>
          <p:cNvSpPr txBox="1"/>
          <p:nvPr/>
        </p:nvSpPr>
        <p:spPr>
          <a:xfrm>
            <a:off x="4960620" y="2011680"/>
            <a:ext cx="3451860" cy="1920240"/>
          </a:xfrm>
          <a:prstGeom prst="rect">
            <a:avLst/>
          </a:prstGeom>
          <a:noFill/>
          <a:ln/>
        </p:spPr>
        <p:txBody>
          <a:bodyPr wrap="square" lIns="0" tIns="0" rIns="0" bIns="0" rtlCol="0" anchor="t"/>
          <a:lstStyle/>
          <a:p>
            <a:pPr indent="0" marL="0">
              <a:spcAft>
                <a:spcPts val="600"/>
              </a:spcAft>
              <a:buNone/>
            </a:pPr>
            <a:r>
              <a:rPr lang="en-US" sz="950" b="1" dirty="0">
                <a:solidFill>
                  <a:srgbClr val="1D1D1F"/>
                </a:solidFill>
                <a:latin typeface="Courier New" pitchFamily="34" charset="0"/>
                <a:ea typeface="Courier New" pitchFamily="34" charset="-122"/>
                <a:cs typeface="Courier New" pitchFamily="34" charset="-120"/>
              </a:rPr>
              <a:t>CP No Request — J &lt;JOB ID&gt;</a:t>
            </a:r>
            <a:endParaRPr lang="en-US" sz="950" dirty="0"/>
          </a:p>
          <a:p>
            <a:pPr indent="0" marL="0">
              <a:spcAft>
                <a:spcPts val="600"/>
              </a:spcAft>
              <a:buNone/>
            </a:pPr>
            <a:r>
              <a:rPr lang="en-US" sz="950" dirty="0">
                <a:solidFill>
                  <a:srgbClr val="1D1D1F"/>
                </a:solidFill>
                <a:latin typeface="Courier New" pitchFamily="34" charset="0"/>
                <a:ea typeface="Courier New" pitchFamily="34" charset="-122"/>
                <a:cs typeface="Courier New" pitchFamily="34" charset="-120"/>
              </a:rPr>
              <a:t>Reported by C: &lt;what the customer said, one line&gt;</a:t>
            </a:r>
            <a:endParaRPr lang="en-US" sz="950" dirty="0"/>
          </a:p>
          <a:p>
            <a:pPr indent="0" marL="0">
              <a:spcAft>
                <a:spcPts val="600"/>
              </a:spcAft>
              <a:buNone/>
            </a:pPr>
            <a:r>
              <a:rPr lang="en-US" sz="950" dirty="0">
                <a:solidFill>
                  <a:srgbClr val="1D1D1F"/>
                </a:solidFill>
                <a:latin typeface="Courier New" pitchFamily="34" charset="0"/>
                <a:ea typeface="Courier New" pitchFamily="34" charset="-122"/>
                <a:cs typeface="Courier New" pitchFamily="34" charset="-120"/>
              </a:rPr>
              <a:t>Evidence: &lt;comms, GPS if available, CTJ, photos&gt;</a:t>
            </a:r>
            <a:endParaRPr lang="en-US" sz="950" dirty="0"/>
          </a:p>
          <a:p>
            <a:pPr indent="0" marL="0">
              <a:spcAft>
                <a:spcPts val="600"/>
              </a:spcAft>
              <a:buNone/>
            </a:pPr>
            <a:r>
              <a:rPr lang="en-US" sz="950" dirty="0">
                <a:solidFill>
                  <a:srgbClr val="1D1D1F"/>
                </a:solidFill>
                <a:latin typeface="Courier New" pitchFamily="34" charset="0"/>
                <a:ea typeface="Courier New" pitchFamily="34" charset="-122"/>
                <a:cs typeface="Courier New" pitchFamily="34" charset="-120"/>
              </a:rPr>
              <a:t>Action: &lt;flag&gt; / &lt;status&gt; / &lt;macro sent&gt;</a:t>
            </a:r>
            <a:endParaRPr lang="en-US" sz="950" dirty="0"/>
          </a:p>
          <a:p>
            <a:pPr indent="0" marL="0">
              <a:spcAft>
                <a:spcPts val="600"/>
              </a:spcAft>
              <a:buNone/>
            </a:pPr>
            <a:r>
              <a:rPr lang="en-US" sz="950" dirty="0">
                <a:solidFill>
                  <a:srgbClr val="1D1D1F"/>
                </a:solidFill>
                <a:latin typeface="Courier New" pitchFamily="34" charset="0"/>
                <a:ea typeface="Courier New" pitchFamily="34" charset="-122"/>
                <a:cs typeface="Courier New" pitchFamily="34" charset="-120"/>
              </a:rPr>
              <a:t>C-side resolution: &lt;refund, credits, rebook&gt;</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07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Operating Models</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rules that apply to a customer or cleaner, based on where they are.</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two models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to tell which one applies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changes between them</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2/ill28.png">    </p:cNvPr>
          <p:cNvPicPr>
            <a:picLocks noChangeAspect="1"/>
          </p:cNvPicPr>
          <p:nvPr/>
        </p:nvPicPr>
        <p:blipFill>
          <a:blip r:embed="rId4"/>
          <a:stretch>
            <a:fillRect/>
          </a:stretch>
        </p:blipFill>
        <p:spPr>
          <a:xfrm>
            <a:off x="5541264" y="1991053"/>
            <a:ext cx="2926080" cy="1156822"/>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OPERATING MODELS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Two models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Location decides which rules apply.</a:t>
            </a:r>
            <a:endParaRPr lang="en-US" sz="1200" dirty="0"/>
          </a:p>
        </p:txBody>
      </p:sp>
      <p:sp>
        <p:nvSpPr>
          <p:cNvPr id="6" name="Shape 3"/>
          <p:cNvSpPr/>
          <p:nvPr/>
        </p:nvSpPr>
        <p:spPr>
          <a:xfrm>
            <a:off x="411480" y="1280160"/>
            <a:ext cx="409194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94360" y="146304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55212"/>
            <a:ext cx="199705" cy="199705"/>
          </a:xfrm>
          <a:prstGeom prst="rect">
            <a:avLst/>
          </a:prstGeom>
        </p:spPr>
      </p:pic>
      <p:sp>
        <p:nvSpPr>
          <p:cNvPr id="9" name="Text 5"/>
          <p:cNvSpPr txBox="1"/>
          <p:nvPr/>
        </p:nvSpPr>
        <p:spPr>
          <a:xfrm>
            <a:off x="1097280" y="146304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CA / CA-WA Operating Model</a:t>
            </a:r>
            <a:endParaRPr lang="en-US" sz="1300" dirty="0"/>
          </a:p>
        </p:txBody>
      </p:sp>
      <p:sp>
        <p:nvSpPr>
          <p:cNvPr id="10" name="Text 6"/>
          <p:cNvSpPr txBox="1"/>
          <p:nvPr/>
        </p:nvSpPr>
        <p:spPr>
          <a:xfrm>
            <a:off x="594360" y="1993392"/>
            <a:ext cx="3726180" cy="10058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California, New Jersey, Illinois, Massachusetts, Washington</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Shows as a banner next to the user's name on the CRM</a:t>
            </a:r>
            <a:endParaRPr lang="en-US" sz="1000" dirty="0"/>
          </a:p>
        </p:txBody>
      </p:sp>
      <p:sp>
        <p:nvSpPr>
          <p:cNvPr id="11" name="Shape 7"/>
          <p:cNvSpPr/>
          <p:nvPr/>
        </p:nvSpPr>
        <p:spPr>
          <a:xfrm>
            <a:off x="4640580" y="1280160"/>
            <a:ext cx="4091940" cy="1828800"/>
          </a:xfrm>
          <a:prstGeom prst="roundRect">
            <a:avLst>
              <a:gd name="adj" fmla="val 4000"/>
            </a:avLst>
          </a:prstGeom>
          <a:solidFill>
            <a:srgbClr val="FFFFFF"/>
          </a:solidFill>
          <a:ln w="9525">
            <a:solidFill>
              <a:srgbClr val="DCE1E7"/>
            </a:solidFill>
            <a:prstDash val="solid"/>
          </a:ln>
        </p:spPr>
      </p:sp>
      <p:sp>
        <p:nvSpPr>
          <p:cNvPr id="12" name="Shape 8"/>
          <p:cNvSpPr/>
          <p:nvPr/>
        </p:nvSpPr>
        <p:spPr>
          <a:xfrm>
            <a:off x="4823460" y="146304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555212"/>
            <a:ext cx="199705" cy="199705"/>
          </a:xfrm>
          <a:prstGeom prst="rect">
            <a:avLst/>
          </a:prstGeom>
        </p:spPr>
      </p:pic>
      <p:sp>
        <p:nvSpPr>
          <p:cNvPr id="14" name="Text 9"/>
          <p:cNvSpPr txBox="1"/>
          <p:nvPr/>
        </p:nvSpPr>
        <p:spPr>
          <a:xfrm>
            <a:off x="5326380" y="146304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General Operating Model</a:t>
            </a:r>
            <a:endParaRPr lang="en-US" sz="1300" dirty="0"/>
          </a:p>
        </p:txBody>
      </p:sp>
      <p:sp>
        <p:nvSpPr>
          <p:cNvPr id="15" name="Text 10"/>
          <p:cNvSpPr txBox="1"/>
          <p:nvPr/>
        </p:nvSpPr>
        <p:spPr>
          <a:xfrm>
            <a:off x="4823460" y="1993392"/>
            <a:ext cx="3726180" cy="10058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All other states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No banner on the CRM</a:t>
            </a:r>
            <a:endParaRPr lang="en-US" sz="1000" dirty="0"/>
          </a:p>
        </p:txBody>
      </p:sp>
      <p:sp>
        <p:nvSpPr>
          <p:cNvPr id="16" name="Shape 11"/>
          <p:cNvSpPr/>
          <p:nvPr/>
        </p:nvSpPr>
        <p:spPr>
          <a:xfrm>
            <a:off x="411480" y="333756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447288"/>
            <a:ext cx="164592" cy="164592"/>
          </a:xfrm>
          <a:prstGeom prst="rect">
            <a:avLst/>
          </a:prstGeom>
        </p:spPr>
      </p:pic>
      <p:sp>
        <p:nvSpPr>
          <p:cNvPr id="18" name="Text 12"/>
          <p:cNvSpPr txBox="1"/>
          <p:nvPr/>
        </p:nvSpPr>
        <p:spPr>
          <a:xfrm>
            <a:off x="822960" y="34381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Quick check:  </a:t>
            </a:r>
            <a:pPr indent="0" marL="0">
              <a:buNone/>
            </a:pPr>
            <a:r>
              <a:rPr lang="en-US" sz="1000" dirty="0">
                <a:solidFill>
                  <a:srgbClr val="1D1D1F"/>
                </a:solidFill>
                <a:latin typeface="SF Pro Text" pitchFamily="34" charset="0"/>
                <a:ea typeface="SF Pro Text" pitchFamily="34" charset="-122"/>
                <a:cs typeface="SF Pro Text" pitchFamily="34" charset="-120"/>
              </a:rPr>
              <a:t>no operating model banner on the CRM means General Operating Model.</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OPERATING MODELS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How to spot it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Look next to the user's name on the CRM.</a:t>
            </a:r>
            <a:endParaRPr lang="en-US" sz="1200" dirty="0"/>
          </a:p>
        </p:txBody>
      </p:sp>
      <p:sp>
        <p:nvSpPr>
          <p:cNvPr id="6" name="Shape 3"/>
          <p:cNvSpPr/>
          <p:nvPr/>
        </p:nvSpPr>
        <p:spPr>
          <a:xfrm>
            <a:off x="411480" y="1234440"/>
            <a:ext cx="8321040" cy="1554480"/>
          </a:xfrm>
          <a:prstGeom prst="roundRect">
            <a:avLst>
              <a:gd name="adj" fmla="val 4706"/>
            </a:avLst>
          </a:prstGeom>
          <a:solidFill>
            <a:srgbClr val="FFFFFF"/>
          </a:solidFill>
          <a:ln w="9525">
            <a:solidFill>
              <a:srgbClr val="DCE1E7"/>
            </a:solidFill>
            <a:prstDash val="solid"/>
          </a:ln>
        </p:spPr>
      </p:sp>
      <p:pic>
        <p:nvPicPr>
          <p:cNvPr id="7" name="Image 0" descr="/tmp/claude-0/-workspace-training/3ce5cff6-cccf-5f33-b0ee-0b147a55120e/scratchpad/img2/cp_header_top.png">    </p:cNvPr>
          <p:cNvPicPr>
            <a:picLocks noChangeAspect="1"/>
          </p:cNvPicPr>
          <p:nvPr/>
        </p:nvPicPr>
        <p:blipFill>
          <a:blip r:embed="rId1"/>
          <a:stretch>
            <a:fillRect/>
          </a:stretch>
        </p:blipFill>
        <p:spPr>
          <a:xfrm>
            <a:off x="484632" y="1456966"/>
            <a:ext cx="8174736" cy="1109428"/>
          </a:xfrm>
          <a:prstGeom prst="rect">
            <a:avLst/>
          </a:prstGeom>
        </p:spPr>
      </p:pic>
      <p:sp>
        <p:nvSpPr>
          <p:cNvPr id="8" name="Shape 4"/>
          <p:cNvSpPr/>
          <p:nvPr/>
        </p:nvSpPr>
        <p:spPr>
          <a:xfrm>
            <a:off x="6469707" y="1573748"/>
            <a:ext cx="1868511" cy="306553"/>
          </a:xfrm>
          <a:prstGeom prst="roundRect">
            <a:avLst>
              <a:gd name="adj" fmla="val 8949"/>
            </a:avLst>
          </a:prstGeom>
          <a:ln w="25400">
            <a:solidFill>
              <a:srgbClr val="0B7A6F"/>
            </a:solidFill>
            <a:prstDash val="solid"/>
          </a:ln>
        </p:spPr>
      </p:sp>
      <p:sp>
        <p:nvSpPr>
          <p:cNvPr id="9" name="Shape 5"/>
          <p:cNvSpPr/>
          <p:nvPr/>
        </p:nvSpPr>
        <p:spPr>
          <a:xfrm>
            <a:off x="6369123" y="1473164"/>
            <a:ext cx="201168" cy="201168"/>
          </a:xfrm>
          <a:prstGeom prst="ellipse">
            <a:avLst/>
          </a:prstGeom>
          <a:solidFill>
            <a:srgbClr val="0B7A6F"/>
          </a:solidFill>
          <a:ln w="12700">
            <a:solidFill>
              <a:srgbClr val="FFFFFF"/>
            </a:solidFill>
            <a:prstDash val="solid"/>
          </a:ln>
        </p:spPr>
      </p:sp>
      <p:sp>
        <p:nvSpPr>
          <p:cNvPr id="10" name="Text 6"/>
          <p:cNvSpPr txBox="1"/>
          <p:nvPr/>
        </p:nvSpPr>
        <p:spPr>
          <a:xfrm>
            <a:off x="6369123" y="147316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11" name="Shape 7"/>
          <p:cNvSpPr/>
          <p:nvPr/>
        </p:nvSpPr>
        <p:spPr>
          <a:xfrm>
            <a:off x="411480" y="2926080"/>
            <a:ext cx="4091940" cy="594360"/>
          </a:xfrm>
          <a:prstGeom prst="roundRect">
            <a:avLst>
              <a:gd name="adj" fmla="val 12308"/>
            </a:avLst>
          </a:prstGeom>
          <a:solidFill>
            <a:srgbClr val="FFFFFF"/>
          </a:solidFill>
          <a:ln w="9525">
            <a:solidFill>
              <a:srgbClr val="DCE1E7"/>
            </a:solidFill>
            <a:prstDash val="solid"/>
          </a:ln>
        </p:spPr>
      </p:sp>
      <p:sp>
        <p:nvSpPr>
          <p:cNvPr id="12" name="Shape 8"/>
          <p:cNvSpPr/>
          <p:nvPr/>
        </p:nvSpPr>
        <p:spPr>
          <a:xfrm>
            <a:off x="539496" y="3095244"/>
            <a:ext cx="256032" cy="256032"/>
          </a:xfrm>
          <a:prstGeom prst="ellipse">
            <a:avLst/>
          </a:prstGeom>
          <a:solidFill>
            <a:srgbClr val="0B7A6F"/>
          </a:solidFill>
          <a:ln w="12700">
            <a:solidFill>
              <a:srgbClr val="0B7A6F"/>
            </a:solidFill>
            <a:prstDash val="solid"/>
          </a:ln>
        </p:spPr>
      </p:sp>
      <p:sp>
        <p:nvSpPr>
          <p:cNvPr id="13" name="Text 9"/>
          <p:cNvSpPr txBox="1"/>
          <p:nvPr/>
        </p:nvSpPr>
        <p:spPr>
          <a:xfrm>
            <a:off x="539496" y="30952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1</a:t>
            </a:r>
            <a:endParaRPr lang="en-US" sz="900" dirty="0"/>
          </a:p>
        </p:txBody>
      </p:sp>
      <p:sp>
        <p:nvSpPr>
          <p:cNvPr id="14" name="Text 10"/>
          <p:cNvSpPr txBox="1"/>
          <p:nvPr/>
        </p:nvSpPr>
        <p:spPr>
          <a:xfrm>
            <a:off x="914400" y="2971800"/>
            <a:ext cx="349758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Operating model banner</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CA or CA-WA Operating Model</a:t>
            </a:r>
            <a:endParaRPr lang="en-US" sz="1050" dirty="0"/>
          </a:p>
        </p:txBody>
      </p:sp>
      <p:sp>
        <p:nvSpPr>
          <p:cNvPr id="15" name="Shape 11"/>
          <p:cNvSpPr/>
          <p:nvPr/>
        </p:nvSpPr>
        <p:spPr>
          <a:xfrm>
            <a:off x="4640580" y="2926080"/>
            <a:ext cx="4091940" cy="594360"/>
          </a:xfrm>
          <a:prstGeom prst="roundRect">
            <a:avLst>
              <a:gd name="adj" fmla="val 12308"/>
            </a:avLst>
          </a:prstGeom>
          <a:solidFill>
            <a:srgbClr val="FFFFFF"/>
          </a:solidFill>
          <a:ln w="9525">
            <a:solidFill>
              <a:srgbClr val="DCE1E7"/>
            </a:solidFill>
            <a:prstDash val="solid"/>
          </a:ln>
        </p:spPr>
      </p:sp>
      <p:sp>
        <p:nvSpPr>
          <p:cNvPr id="16" name="Shape 12"/>
          <p:cNvSpPr/>
          <p:nvPr/>
        </p:nvSpPr>
        <p:spPr>
          <a:xfrm>
            <a:off x="4768596" y="3095244"/>
            <a:ext cx="256032" cy="256032"/>
          </a:xfrm>
          <a:prstGeom prst="ellipse">
            <a:avLst/>
          </a:prstGeom>
          <a:solidFill>
            <a:srgbClr val="E3F4F1"/>
          </a:solidFill>
          <a:ln w="12700">
            <a:solidFill>
              <a:srgbClr val="E3F4F1"/>
            </a:solidFill>
            <a:prstDash val="solid"/>
          </a:ln>
        </p:spPr>
      </p:sp>
      <p:sp>
        <p:nvSpPr>
          <p:cNvPr id="17" name="Text 13"/>
          <p:cNvSpPr txBox="1"/>
          <p:nvPr/>
        </p:nvSpPr>
        <p:spPr>
          <a:xfrm>
            <a:off x="4768596" y="3095244"/>
            <a:ext cx="256032" cy="256032"/>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a:t>
            </a:r>
            <a:endParaRPr lang="en-US" sz="900" dirty="0"/>
          </a:p>
        </p:txBody>
      </p:sp>
      <p:sp>
        <p:nvSpPr>
          <p:cNvPr id="18" name="Text 14"/>
          <p:cNvSpPr txBox="1"/>
          <p:nvPr/>
        </p:nvSpPr>
        <p:spPr>
          <a:xfrm>
            <a:off x="5143500" y="2971800"/>
            <a:ext cx="349758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No banner?</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General Operating Model</a:t>
            </a:r>
            <a:endParaRPr lang="en-US" sz="1050" dirty="0"/>
          </a:p>
        </p:txBody>
      </p:sp>
      <p:sp>
        <p:nvSpPr>
          <p:cNvPr id="19" name="Shape 15"/>
          <p:cNvSpPr/>
          <p:nvPr/>
        </p:nvSpPr>
        <p:spPr>
          <a:xfrm>
            <a:off x="411480" y="3703320"/>
            <a:ext cx="8321040" cy="384048"/>
          </a:xfrm>
          <a:prstGeom prst="roundRect">
            <a:avLst>
              <a:gd name="adj" fmla="val 19048"/>
            </a:avLst>
          </a:prstGeom>
          <a:solidFill>
            <a:srgbClr val="FFF3D6"/>
          </a:solidFill>
          <a:ln w="9525">
            <a:solidFill>
              <a:srgbClr val="FFF3D6"/>
            </a:solidFill>
            <a:prstDash val="solid"/>
          </a:ln>
        </p:spPr>
      </p:sp>
      <p:pic>
        <p:nvPicPr>
          <p:cNvPr id="20" name="Image 1" descr="preencoded.png">    </p:cNvPr>
          <p:cNvPicPr>
            <a:picLocks noChangeAspect="1"/>
          </p:cNvPicPr>
          <p:nvPr/>
        </p:nvPicPr>
        <p:blipFill>
          <a:blip r:embed="rId2"/>
          <a:stretch>
            <a:fillRect/>
          </a:stretch>
        </p:blipFill>
        <p:spPr>
          <a:xfrm>
            <a:off x="566928" y="3813048"/>
            <a:ext cx="164592" cy="164592"/>
          </a:xfrm>
          <a:prstGeom prst="rect">
            <a:avLst/>
          </a:prstGeom>
        </p:spPr>
      </p:pic>
      <p:sp>
        <p:nvSpPr>
          <p:cNvPr id="21" name="Text 16"/>
          <p:cNvSpPr txBox="1"/>
          <p:nvPr/>
        </p:nvSpPr>
        <p:spPr>
          <a:xfrm>
            <a:off x="822960" y="38039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Check first:  </a:t>
            </a:r>
            <a:pPr indent="0" marL="0">
              <a:buNone/>
            </a:pPr>
            <a:r>
              <a:rPr lang="en-US" sz="1000" dirty="0">
                <a:solidFill>
                  <a:srgbClr val="1D1D1F"/>
                </a:solidFill>
                <a:latin typeface="SF Pro Text" pitchFamily="34" charset="0"/>
                <a:ea typeface="SF Pro Text" pitchFamily="34" charset="-122"/>
                <a:cs typeface="SF Pro Text" pitchFamily="34" charset="-120"/>
              </a:rPr>
              <a:t>look for the banner before applying fees, penalties or pay rules.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OPERATING MODELS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changes between them</a:t>
            </a:r>
            <a:endParaRPr lang="en-US" sz="2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914400"/>
        </p:xfrm>
        <a:graphic>
          <a:graphicData uri="http://schemas.openxmlformats.org/drawingml/2006/table">
            <a:tbl>
              <a:tblPr/>
              <a:tblGrid>
                <a:gridCol w="1920240"/>
                <a:gridCol w="3291840"/>
                <a:gridCol w="3108960"/>
              </a:tblGrid>
              <a:tr h="411480">
                <a:tc>
                  <a:txBody>
                    <a:bodyPr/>
                    <a:lstStyle/>
                    <a:p>
                      <a:pPr indent="0" marL="0">
                        <a:buNone/>
                      </a:pP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CA / CA-WA</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General</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1148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Pay to reactivate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Disabled: no reactivation fee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Enabled: $15–25 fee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Cleaning supplies photo</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Not required. Don't penalize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Required. Missing means norequests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CP hourly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Separate first-time and repeat-client rates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One rate. $5/hr match fee on first-time client jobs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CP job cancellation</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Can cancel within a window without penalty, depending on notice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Penalized. Affects keep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Own cleaning business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Must certify it's registered (WA: Universal Business Identifier)</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Not applicable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CP Swap</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Enabled</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Enabled</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4114800"/>
            <a:ext cx="8321040" cy="384048"/>
          </a:xfrm>
          <a:prstGeom prst="roundRect">
            <a:avLst>
              <a:gd name="adj" fmla="val 19048"/>
            </a:avLst>
          </a:prstGeom>
          <a:solidFill>
            <a:srgbClr val="FFF3D6"/>
          </a:solidFill>
          <a:ln w="9525">
            <a:solidFill>
              <a:srgbClr val="FFF3D6"/>
            </a:solidFill>
            <a:prstDash val="solid"/>
          </a:ln>
        </p:spPr>
      </p:sp>
      <p:pic>
        <p:nvPicPr>
          <p:cNvPr id="7" name="Image 0" descr="preencoded.png">    </p:cNvPr>
          <p:cNvPicPr>
            <a:picLocks noChangeAspect="1"/>
          </p:cNvPicPr>
          <p:nvPr/>
        </p:nvPicPr>
        <p:blipFill>
          <a:blip r:embed="rId1"/>
          <a:stretch>
            <a:fillRect/>
          </a:stretch>
        </p:blipFill>
        <p:spPr>
          <a:xfrm>
            <a:off x="566928" y="4224528"/>
            <a:ext cx="164592" cy="164592"/>
          </a:xfrm>
          <a:prstGeom prst="rect">
            <a:avLst/>
          </a:prstGeom>
        </p:spPr>
      </p:pic>
      <p:sp>
        <p:nvSpPr>
          <p:cNvPr id="8" name="Text 3"/>
          <p:cNvSpPr txBox="1"/>
          <p:nvPr/>
        </p:nvSpPr>
        <p:spPr>
          <a:xfrm>
            <a:off x="822960" y="42153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Check first:  </a:t>
            </a:r>
            <a:pPr indent="0" marL="0">
              <a:buNone/>
            </a:pPr>
            <a:r>
              <a:rPr lang="en-US" sz="1000" dirty="0">
                <a:solidFill>
                  <a:srgbClr val="1D1D1F"/>
                </a:solidFill>
                <a:latin typeface="SF Pro Text" pitchFamily="34" charset="0"/>
                <a:ea typeface="SF Pro Text" pitchFamily="34" charset="-122"/>
                <a:cs typeface="SF Pro Text" pitchFamily="34" charset="-120"/>
              </a:rPr>
              <a:t>look for the banner before applying fees, penalties or pay rules.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08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CP Tiering</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How cleaners are ranked, and why it decides who sees and claims a job first.</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Why tiering exists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each tier gets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Requested CPs and swapping</a:t>
            </a:r>
            <a:endParaRPr lang="en-US" sz="1050" dirty="0"/>
          </a:p>
        </p:txBody>
      </p:sp>
      <p:sp>
        <p:nvSpPr>
          <p:cNvPr id="15" name="Shape 10"/>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6" name="Shape 11"/>
          <p:cNvSpPr/>
          <p:nvPr/>
        </p:nvSpPr>
        <p:spPr>
          <a:xfrm>
            <a:off x="5724144" y="1289304"/>
            <a:ext cx="2560320" cy="2560320"/>
          </a:xfrm>
          <a:prstGeom prst="ellipse">
            <a:avLst/>
          </a:prstGeom>
          <a:solidFill>
            <a:srgbClr val="FFFFFF"/>
          </a:solidFill>
          <a:ln w="12700">
            <a:solidFill>
              <a:srgbClr val="FFFFFF"/>
            </a:solidFill>
            <a:prstDash val="solid"/>
          </a:ln>
        </p:spPr>
      </p:sp>
      <p:pic>
        <p:nvPicPr>
          <p:cNvPr id="17" name="Image 3" descr="/tmp/claude-0/-workspace-training/3ce5cff6-cccf-5f33-b0ee-0b147a55120e/scratchpad/img2/ill29.png">    </p:cNvPr>
          <p:cNvPicPr>
            <a:picLocks noChangeAspect="1"/>
          </p:cNvPicPr>
          <p:nvPr/>
        </p:nvPicPr>
        <p:blipFill>
          <a:blip r:embed="rId4"/>
          <a:stretch>
            <a:fillRect/>
          </a:stretch>
        </p:blipFill>
        <p:spPr>
          <a:xfrm>
            <a:off x="5541264" y="1580923"/>
            <a:ext cx="2926080" cy="1977081"/>
          </a:xfrm>
          <a:prstGeom prst="rect">
            <a:avLst/>
          </a:prstGeom>
        </p:spPr>
      </p:pic>
      <p:sp>
        <p:nvSpPr>
          <p:cNvPr id="18" name="Shape 12"/>
          <p:cNvSpPr/>
          <p:nvPr/>
        </p:nvSpPr>
        <p:spPr>
          <a:xfrm>
            <a:off x="5522976" y="822960"/>
            <a:ext cx="329184" cy="329184"/>
          </a:xfrm>
          <a:prstGeom prst="ellipse">
            <a:avLst/>
          </a:prstGeom>
          <a:solidFill>
            <a:srgbClr val="FFFFFF"/>
          </a:solidFill>
          <a:ln w="12700">
            <a:solidFill>
              <a:srgbClr val="FFFFFF"/>
            </a:solidFill>
            <a:prstDash val="solid"/>
          </a:ln>
        </p:spPr>
      </p:sp>
      <p:sp>
        <p:nvSpPr>
          <p:cNvPr id="19" name="Shape 13"/>
          <p:cNvSpPr/>
          <p:nvPr/>
        </p:nvSpPr>
        <p:spPr>
          <a:xfrm>
            <a:off x="5646420" y="946404"/>
            <a:ext cx="82296" cy="82296"/>
          </a:xfrm>
          <a:prstGeom prst="ellipse">
            <a:avLst/>
          </a:prstGeom>
          <a:solidFill>
            <a:srgbClr val="0B7A6F"/>
          </a:solidFill>
          <a:ln w="12700">
            <a:solidFill>
              <a:srgbClr val="0B7A6F"/>
            </a:solidFill>
            <a:prstDash val="solid"/>
          </a:ln>
        </p:spPr>
      </p:sp>
      <p:sp>
        <p:nvSpPr>
          <p:cNvPr id="20" name="Shape 14"/>
          <p:cNvSpPr/>
          <p:nvPr/>
        </p:nvSpPr>
        <p:spPr>
          <a:xfrm>
            <a:off x="8193024" y="822960"/>
            <a:ext cx="329184" cy="329184"/>
          </a:xfrm>
          <a:prstGeom prst="ellipse">
            <a:avLst/>
          </a:prstGeom>
          <a:solidFill>
            <a:srgbClr val="FFFFFF"/>
          </a:solidFill>
          <a:ln w="12700">
            <a:solidFill>
              <a:srgbClr val="FFFFFF"/>
            </a:solidFill>
            <a:prstDash val="solid"/>
          </a:ln>
        </p:spPr>
      </p:sp>
      <p:sp>
        <p:nvSpPr>
          <p:cNvPr id="21" name="Shape 15"/>
          <p:cNvSpPr/>
          <p:nvPr/>
        </p:nvSpPr>
        <p:spPr>
          <a:xfrm>
            <a:off x="8316468" y="946404"/>
            <a:ext cx="82296" cy="82296"/>
          </a:xfrm>
          <a:prstGeom prst="ellipse">
            <a:avLst/>
          </a:prstGeom>
          <a:solidFill>
            <a:srgbClr val="0B7A6F"/>
          </a:solidFill>
          <a:ln w="12700">
            <a:solidFill>
              <a:srgbClr val="0B7A6F"/>
            </a:solidFill>
            <a:prstDash val="solid"/>
          </a:ln>
        </p:spPr>
      </p:sp>
      <p:sp>
        <p:nvSpPr>
          <p:cNvPr id="22" name="Shape 16"/>
          <p:cNvSpPr/>
          <p:nvPr/>
        </p:nvSpPr>
        <p:spPr>
          <a:xfrm>
            <a:off x="8193024" y="3986784"/>
            <a:ext cx="329184" cy="329184"/>
          </a:xfrm>
          <a:prstGeom prst="ellipse">
            <a:avLst/>
          </a:prstGeom>
          <a:solidFill>
            <a:srgbClr val="FFFFFF"/>
          </a:solidFill>
          <a:ln w="12700">
            <a:solidFill>
              <a:srgbClr val="FFFFFF"/>
            </a:solidFill>
            <a:prstDash val="solid"/>
          </a:ln>
        </p:spPr>
      </p:sp>
      <p:sp>
        <p:nvSpPr>
          <p:cNvPr id="23" name="Shape 17"/>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TIERING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Stronger cleaners see jobs first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Without tiers, the first cleaner to click would get the job, whatever their record.</a:t>
            </a:r>
            <a:endParaRPr lang="en-US" sz="1200" dirty="0"/>
          </a:p>
        </p:txBody>
      </p:sp>
      <p:sp>
        <p:nvSpPr>
          <p:cNvPr id="6" name="Shape 3"/>
          <p:cNvSpPr/>
          <p:nvPr/>
        </p:nvSpPr>
        <p:spPr>
          <a:xfrm>
            <a:off x="411480" y="1417320"/>
            <a:ext cx="2682240" cy="1691640"/>
          </a:xfrm>
          <a:prstGeom prst="roundRect">
            <a:avLst>
              <a:gd name="adj" fmla="val 4324"/>
            </a:avLst>
          </a:prstGeom>
          <a:solidFill>
            <a:srgbClr val="FFFFFF"/>
          </a:solidFill>
          <a:ln w="9525">
            <a:solidFill>
              <a:srgbClr val="DCE1E7"/>
            </a:solidFill>
            <a:prstDash val="solid"/>
          </a:ln>
        </p:spPr>
      </p:sp>
      <p:sp>
        <p:nvSpPr>
          <p:cNvPr id="7" name="Shape 4"/>
          <p:cNvSpPr/>
          <p:nvPr/>
        </p:nvSpPr>
        <p:spPr>
          <a:xfrm>
            <a:off x="576072" y="158191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660916"/>
            <a:ext cx="171176" cy="171176"/>
          </a:xfrm>
          <a:prstGeom prst="rect">
            <a:avLst/>
          </a:prstGeom>
        </p:spPr>
      </p:pic>
      <p:sp>
        <p:nvSpPr>
          <p:cNvPr id="9" name="Text 5"/>
          <p:cNvSpPr txBox="1"/>
          <p:nvPr/>
        </p:nvSpPr>
        <p:spPr>
          <a:xfrm>
            <a:off x="576072" y="202082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Tier 1 to 10</a:t>
            </a:r>
            <a:endParaRPr lang="en-US" sz="1200" dirty="0"/>
          </a:p>
        </p:txBody>
      </p:sp>
      <p:sp>
        <p:nvSpPr>
          <p:cNvPr id="10" name="Text 6"/>
          <p:cNvSpPr txBox="1"/>
          <p:nvPr/>
        </p:nvSpPr>
        <p:spPr>
          <a:xfrm>
            <a:off x="576072" y="231343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 ranking based on how the cleaner has performed.</a:t>
            </a:r>
            <a:endParaRPr lang="en-US" sz="950" dirty="0"/>
          </a:p>
        </p:txBody>
      </p:sp>
      <p:sp>
        <p:nvSpPr>
          <p:cNvPr id="11" name="Shape 7"/>
          <p:cNvSpPr/>
          <p:nvPr/>
        </p:nvSpPr>
        <p:spPr>
          <a:xfrm>
            <a:off x="3230880" y="1417320"/>
            <a:ext cx="2682240" cy="1691640"/>
          </a:xfrm>
          <a:prstGeom prst="roundRect">
            <a:avLst>
              <a:gd name="adj" fmla="val 4324"/>
            </a:avLst>
          </a:prstGeom>
          <a:solidFill>
            <a:srgbClr val="FFFFFF"/>
          </a:solidFill>
          <a:ln w="9525">
            <a:solidFill>
              <a:srgbClr val="DCE1E7"/>
            </a:solidFill>
            <a:prstDash val="solid"/>
          </a:ln>
        </p:spPr>
      </p:sp>
      <p:sp>
        <p:nvSpPr>
          <p:cNvPr id="12" name="Shape 8"/>
          <p:cNvSpPr/>
          <p:nvPr/>
        </p:nvSpPr>
        <p:spPr>
          <a:xfrm>
            <a:off x="3395472" y="158191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660916"/>
            <a:ext cx="171176" cy="171176"/>
          </a:xfrm>
          <a:prstGeom prst="rect">
            <a:avLst/>
          </a:prstGeom>
        </p:spPr>
      </p:pic>
      <p:sp>
        <p:nvSpPr>
          <p:cNvPr id="14" name="Text 9"/>
          <p:cNvSpPr txBox="1"/>
          <p:nvPr/>
        </p:nvSpPr>
        <p:spPr>
          <a:xfrm>
            <a:off x="3395472" y="202082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Earlier access</a:t>
            </a:r>
            <a:endParaRPr lang="en-US" sz="1200" dirty="0"/>
          </a:p>
        </p:txBody>
      </p:sp>
      <p:sp>
        <p:nvSpPr>
          <p:cNvPr id="15" name="Text 10"/>
          <p:cNvSpPr txBox="1"/>
          <p:nvPr/>
        </p:nvSpPr>
        <p:spPr>
          <a:xfrm>
            <a:off x="3395472" y="231343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Higher tiers see jobs earlier.</a:t>
            </a:r>
            <a:endParaRPr lang="en-US" sz="950" dirty="0"/>
          </a:p>
        </p:txBody>
      </p:sp>
      <p:sp>
        <p:nvSpPr>
          <p:cNvPr id="16" name="Shape 11"/>
          <p:cNvSpPr/>
          <p:nvPr/>
        </p:nvSpPr>
        <p:spPr>
          <a:xfrm>
            <a:off x="6050280" y="1417320"/>
            <a:ext cx="2682240" cy="1691640"/>
          </a:xfrm>
          <a:prstGeom prst="roundRect">
            <a:avLst>
              <a:gd name="adj" fmla="val 4324"/>
            </a:avLst>
          </a:prstGeom>
          <a:solidFill>
            <a:srgbClr val="FFFFFF"/>
          </a:solidFill>
          <a:ln w="9525">
            <a:solidFill>
              <a:srgbClr val="DCE1E7"/>
            </a:solidFill>
            <a:prstDash val="solid"/>
          </a:ln>
        </p:spPr>
      </p:sp>
      <p:sp>
        <p:nvSpPr>
          <p:cNvPr id="17" name="Shape 12"/>
          <p:cNvSpPr/>
          <p:nvPr/>
        </p:nvSpPr>
        <p:spPr>
          <a:xfrm>
            <a:off x="6214872" y="158191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660916"/>
            <a:ext cx="171176" cy="171176"/>
          </a:xfrm>
          <a:prstGeom prst="rect">
            <a:avLst/>
          </a:prstGeom>
        </p:spPr>
      </p:pic>
      <p:sp>
        <p:nvSpPr>
          <p:cNvPr id="19" name="Text 13"/>
          <p:cNvSpPr txBox="1"/>
          <p:nvPr/>
        </p:nvSpPr>
        <p:spPr>
          <a:xfrm>
            <a:off x="6214872" y="202082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More jobs</a:t>
            </a:r>
            <a:endParaRPr lang="en-US" sz="1200" dirty="0"/>
          </a:p>
        </p:txBody>
      </p:sp>
      <p:sp>
        <p:nvSpPr>
          <p:cNvPr id="20" name="Text 14"/>
          <p:cNvSpPr txBox="1"/>
          <p:nvPr/>
        </p:nvSpPr>
        <p:spPr>
          <a:xfrm>
            <a:off x="6214872" y="231343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Higher tiers can claim more jobs at once.</a:t>
            </a:r>
            <a:endParaRPr lang="en-US" sz="950" dirty="0"/>
          </a:p>
        </p:txBody>
      </p:sp>
      <p:sp>
        <p:nvSpPr>
          <p:cNvPr id="21" name="Shape 15"/>
          <p:cNvSpPr/>
          <p:nvPr/>
        </p:nvSpPr>
        <p:spPr>
          <a:xfrm>
            <a:off x="411480" y="333756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447288"/>
            <a:ext cx="164592" cy="164592"/>
          </a:xfrm>
          <a:prstGeom prst="rect">
            <a:avLst/>
          </a:prstGeom>
        </p:spPr>
      </p:pic>
      <p:sp>
        <p:nvSpPr>
          <p:cNvPr id="23" name="Text 16"/>
          <p:cNvSpPr txBox="1"/>
          <p:nvPr/>
        </p:nvSpPr>
        <p:spPr>
          <a:xfrm>
            <a:off x="822960" y="34381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ZTP:  </a:t>
            </a:r>
            <a:pPr indent="0" marL="0">
              <a:buNone/>
            </a:pPr>
            <a:r>
              <a:rPr lang="en-US" sz="1000" dirty="0">
                <a:solidFill>
                  <a:srgbClr val="1D1D1F"/>
                </a:solidFill>
                <a:latin typeface="SF Pro Text" pitchFamily="34" charset="0"/>
                <a:ea typeface="SF Pro Text" pitchFamily="34" charset="-122"/>
                <a:cs typeface="SF Pro Text" pitchFamily="34" charset="-120"/>
              </a:rPr>
              <a:t>tiering is internal. Never share tier levels or tiering logic with a cleaner or customer.</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TIERING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Where to see the tier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On the cleaner's CRM page.</a:t>
            </a:r>
            <a:endParaRPr lang="en-US" sz="1200" dirty="0"/>
          </a:p>
        </p:txBody>
      </p:sp>
      <p:sp>
        <p:nvSpPr>
          <p:cNvPr id="6" name="Shape 3"/>
          <p:cNvSpPr/>
          <p:nvPr/>
        </p:nvSpPr>
        <p:spPr>
          <a:xfrm>
            <a:off x="411480" y="1234440"/>
            <a:ext cx="8321040" cy="1554480"/>
          </a:xfrm>
          <a:prstGeom prst="roundRect">
            <a:avLst>
              <a:gd name="adj" fmla="val 4706"/>
            </a:avLst>
          </a:prstGeom>
          <a:solidFill>
            <a:srgbClr val="FFFFFF"/>
          </a:solidFill>
          <a:ln w="9525">
            <a:solidFill>
              <a:srgbClr val="DCE1E7"/>
            </a:solidFill>
            <a:prstDash val="solid"/>
          </a:ln>
        </p:spPr>
      </p:sp>
      <p:pic>
        <p:nvPicPr>
          <p:cNvPr id="7" name="Image 0" descr="/tmp/claude-0/-workspace-training/3ce5cff6-cccf-5f33-b0ee-0b147a55120e/scratchpad/img2/cp_header_top.png">    </p:cNvPr>
          <p:cNvPicPr>
            <a:picLocks noChangeAspect="1"/>
          </p:cNvPicPr>
          <p:nvPr/>
        </p:nvPicPr>
        <p:blipFill>
          <a:blip r:embed="rId1"/>
          <a:stretch>
            <a:fillRect/>
          </a:stretch>
        </p:blipFill>
        <p:spPr>
          <a:xfrm>
            <a:off x="484632" y="1456966"/>
            <a:ext cx="8174736" cy="1109428"/>
          </a:xfrm>
          <a:prstGeom prst="rect">
            <a:avLst/>
          </a:prstGeom>
        </p:spPr>
      </p:pic>
      <p:sp>
        <p:nvSpPr>
          <p:cNvPr id="8" name="Shape 4"/>
          <p:cNvSpPr/>
          <p:nvPr/>
        </p:nvSpPr>
        <p:spPr>
          <a:xfrm>
            <a:off x="2075786" y="1894898"/>
            <a:ext cx="817474" cy="306553"/>
          </a:xfrm>
          <a:prstGeom prst="roundRect">
            <a:avLst>
              <a:gd name="adj" fmla="val 8949"/>
            </a:avLst>
          </a:prstGeom>
          <a:ln w="25400">
            <a:solidFill>
              <a:srgbClr val="0B7A6F"/>
            </a:solidFill>
            <a:prstDash val="solid"/>
          </a:ln>
        </p:spPr>
      </p:sp>
      <p:sp>
        <p:nvSpPr>
          <p:cNvPr id="9" name="Shape 5"/>
          <p:cNvSpPr/>
          <p:nvPr/>
        </p:nvSpPr>
        <p:spPr>
          <a:xfrm>
            <a:off x="1975202" y="1794314"/>
            <a:ext cx="201168" cy="201168"/>
          </a:xfrm>
          <a:prstGeom prst="ellipse">
            <a:avLst/>
          </a:prstGeom>
          <a:solidFill>
            <a:srgbClr val="0B7A6F"/>
          </a:solidFill>
          <a:ln w="12700">
            <a:solidFill>
              <a:srgbClr val="FFFFFF"/>
            </a:solidFill>
            <a:prstDash val="solid"/>
          </a:ln>
        </p:spPr>
      </p:sp>
      <p:sp>
        <p:nvSpPr>
          <p:cNvPr id="10" name="Text 6"/>
          <p:cNvSpPr txBox="1"/>
          <p:nvPr/>
        </p:nvSpPr>
        <p:spPr>
          <a:xfrm>
            <a:off x="1975202" y="179431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11" name="Shape 7"/>
          <p:cNvSpPr/>
          <p:nvPr/>
        </p:nvSpPr>
        <p:spPr>
          <a:xfrm>
            <a:off x="411480" y="2926080"/>
            <a:ext cx="4091940" cy="594360"/>
          </a:xfrm>
          <a:prstGeom prst="roundRect">
            <a:avLst>
              <a:gd name="adj" fmla="val 12308"/>
            </a:avLst>
          </a:prstGeom>
          <a:solidFill>
            <a:srgbClr val="FFFFFF"/>
          </a:solidFill>
          <a:ln w="9525">
            <a:solidFill>
              <a:srgbClr val="DCE1E7"/>
            </a:solidFill>
            <a:prstDash val="solid"/>
          </a:ln>
        </p:spPr>
      </p:sp>
      <p:sp>
        <p:nvSpPr>
          <p:cNvPr id="12" name="Shape 8"/>
          <p:cNvSpPr/>
          <p:nvPr/>
        </p:nvSpPr>
        <p:spPr>
          <a:xfrm>
            <a:off x="539496" y="3095244"/>
            <a:ext cx="256032" cy="256032"/>
          </a:xfrm>
          <a:prstGeom prst="ellipse">
            <a:avLst/>
          </a:prstGeom>
          <a:solidFill>
            <a:srgbClr val="0B7A6F"/>
          </a:solidFill>
          <a:ln w="12700">
            <a:solidFill>
              <a:srgbClr val="0B7A6F"/>
            </a:solidFill>
            <a:prstDash val="solid"/>
          </a:ln>
        </p:spPr>
      </p:sp>
      <p:sp>
        <p:nvSpPr>
          <p:cNvPr id="13" name="Text 9"/>
          <p:cNvSpPr txBox="1"/>
          <p:nvPr/>
        </p:nvSpPr>
        <p:spPr>
          <a:xfrm>
            <a:off x="539496" y="30952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1</a:t>
            </a:r>
            <a:endParaRPr lang="en-US" sz="900" dirty="0"/>
          </a:p>
        </p:txBody>
      </p:sp>
      <p:sp>
        <p:nvSpPr>
          <p:cNvPr id="14" name="Text 10"/>
          <p:cNvSpPr txBox="1"/>
          <p:nvPr/>
        </p:nvSpPr>
        <p:spPr>
          <a:xfrm>
            <a:off x="914400" y="2971800"/>
            <a:ext cx="349758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Tier banner</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Click it for full tier history</a:t>
            </a:r>
            <a:endParaRPr lang="en-US" sz="1050" dirty="0"/>
          </a:p>
        </p:txBody>
      </p:sp>
      <p:sp>
        <p:nvSpPr>
          <p:cNvPr id="15" name="Shape 11"/>
          <p:cNvSpPr/>
          <p:nvPr/>
        </p:nvSpPr>
        <p:spPr>
          <a:xfrm>
            <a:off x="4640580" y="2926080"/>
            <a:ext cx="4091940" cy="594360"/>
          </a:xfrm>
          <a:prstGeom prst="roundRect">
            <a:avLst>
              <a:gd name="adj" fmla="val 12308"/>
            </a:avLst>
          </a:prstGeom>
          <a:solidFill>
            <a:srgbClr val="FFFFFF"/>
          </a:solidFill>
          <a:ln w="9525">
            <a:solidFill>
              <a:srgbClr val="DCE1E7"/>
            </a:solidFill>
            <a:prstDash val="solid"/>
          </a:ln>
        </p:spPr>
      </p:sp>
      <p:sp>
        <p:nvSpPr>
          <p:cNvPr id="16" name="Shape 12"/>
          <p:cNvSpPr/>
          <p:nvPr/>
        </p:nvSpPr>
        <p:spPr>
          <a:xfrm>
            <a:off x="4768596" y="3095244"/>
            <a:ext cx="256032" cy="256032"/>
          </a:xfrm>
          <a:prstGeom prst="ellipse">
            <a:avLst/>
          </a:prstGeom>
          <a:solidFill>
            <a:srgbClr val="E3F4F1"/>
          </a:solidFill>
          <a:ln w="12700">
            <a:solidFill>
              <a:srgbClr val="E3F4F1"/>
            </a:solidFill>
            <a:prstDash val="solid"/>
          </a:ln>
        </p:spPr>
      </p:sp>
      <p:sp>
        <p:nvSpPr>
          <p:cNvPr id="17" name="Text 13"/>
          <p:cNvSpPr txBox="1"/>
          <p:nvPr/>
        </p:nvSpPr>
        <p:spPr>
          <a:xfrm>
            <a:off x="4768596" y="3095244"/>
            <a:ext cx="256032" cy="256032"/>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a:t>
            </a:r>
            <a:endParaRPr lang="en-US" sz="900" dirty="0"/>
          </a:p>
        </p:txBody>
      </p:sp>
      <p:sp>
        <p:nvSpPr>
          <p:cNvPr id="18" name="Text 14"/>
          <p:cNvSpPr txBox="1"/>
          <p:nvPr/>
        </p:nvSpPr>
        <p:spPr>
          <a:xfrm>
            <a:off x="5143500" y="2971800"/>
            <a:ext cx="349758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Or CP View &gt; CleanerTier</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Same tier history</a:t>
            </a:r>
            <a:endParaRPr lang="en-US" sz="1050" dirty="0"/>
          </a:p>
        </p:txBody>
      </p:sp>
      <p:sp>
        <p:nvSpPr>
          <p:cNvPr id="19" name="Shape 15"/>
          <p:cNvSpPr/>
          <p:nvPr/>
        </p:nvSpPr>
        <p:spPr>
          <a:xfrm>
            <a:off x="411480" y="3703320"/>
            <a:ext cx="8321040" cy="384048"/>
          </a:xfrm>
          <a:prstGeom prst="roundRect">
            <a:avLst>
              <a:gd name="adj" fmla="val 19048"/>
            </a:avLst>
          </a:prstGeom>
          <a:solidFill>
            <a:srgbClr val="FFF3D6"/>
          </a:solidFill>
          <a:ln w="9525">
            <a:solidFill>
              <a:srgbClr val="FFF3D6"/>
            </a:solidFill>
            <a:prstDash val="solid"/>
          </a:ln>
        </p:spPr>
      </p:sp>
      <p:pic>
        <p:nvPicPr>
          <p:cNvPr id="20" name="Image 1" descr="preencoded.png">    </p:cNvPr>
          <p:cNvPicPr>
            <a:picLocks noChangeAspect="1"/>
          </p:cNvPicPr>
          <p:nvPr/>
        </p:nvPicPr>
        <p:blipFill>
          <a:blip r:embed="rId2"/>
          <a:stretch>
            <a:fillRect/>
          </a:stretch>
        </p:blipFill>
        <p:spPr>
          <a:xfrm>
            <a:off x="566928" y="3813048"/>
            <a:ext cx="164592" cy="164592"/>
          </a:xfrm>
          <a:prstGeom prst="rect">
            <a:avLst/>
          </a:prstGeom>
        </p:spPr>
      </p:pic>
      <p:sp>
        <p:nvSpPr>
          <p:cNvPr id="21" name="Text 16"/>
          <p:cNvSpPr txBox="1"/>
          <p:nvPr/>
        </p:nvSpPr>
        <p:spPr>
          <a:xfrm>
            <a:off x="822960" y="38039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ZTP:  </a:t>
            </a:r>
            <a:pPr indent="0" marL="0">
              <a:buNone/>
            </a:pPr>
            <a:r>
              <a:rPr lang="en-US" sz="1000" dirty="0">
                <a:solidFill>
                  <a:srgbClr val="1D1D1F"/>
                </a:solidFill>
                <a:latin typeface="SF Pro Text" pitchFamily="34" charset="0"/>
                <a:ea typeface="SF Pro Text" pitchFamily="34" charset="-122"/>
                <a:cs typeface="SF Pro Text" pitchFamily="34" charset="-120"/>
              </a:rPr>
              <a:t>tier levels are internal. Never share them with a cleaner or customer.</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TIERING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each tier gets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"With requested CPs" means the customer asked for specific cleaners on that job.</a:t>
            </a:r>
            <a:endParaRPr lang="en-US" sz="1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1234440"/>
                <a:gridCol w="2788920"/>
                <a:gridCol w="1463040"/>
                <a:gridCol w="1417320"/>
                <a:gridCol w="1417320"/>
              </a:tblGrid>
              <a:tr h="347472">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Tier</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Sees FC jobs (with / without requested CPs)</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Sees off-brand jobs</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Swap protection</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Claim limit</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4747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Requested CP</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Once submitted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Per their tier</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Always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Per their tier</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Tier 10</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48 hrs before / once submitted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Never</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Always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No limit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Tier 9</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48 hrs / 96 hrs before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Never</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Under 48 hrs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No limit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Tier 8</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36 hrs / 72 hrs before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24 hrs before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Under 36 hrs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No limit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Tier 7</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24 hrs / 48 hrs before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Once submitted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Under 24 hrs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4</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Tier 6</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24 hrs / 36 hrs before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Once submitted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Under 24 hrs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3</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Tiers 5 – 3</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24 hrs before (with requested CPs)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Once submitted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Under 24 hrs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2</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Tiers 2 – 1</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24 hrs before (with requested CPs)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Once submitted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Under 24 hrs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1</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CP TIERING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Requested cleaners and swapping</a:t>
            </a:r>
            <a:endParaRPr lang="en-US" sz="2400" dirty="0"/>
          </a:p>
        </p:txBody>
      </p:sp>
      <p:sp>
        <p:nvSpPr>
          <p:cNvPr id="5" name="Shape 2"/>
          <p:cNvSpPr/>
          <p:nvPr/>
        </p:nvSpPr>
        <p:spPr>
          <a:xfrm>
            <a:off x="411480" y="1188720"/>
            <a:ext cx="4091940" cy="2514600"/>
          </a:xfrm>
          <a:prstGeom prst="roundRect">
            <a:avLst>
              <a:gd name="adj" fmla="val 2909"/>
            </a:avLst>
          </a:prstGeom>
          <a:solidFill>
            <a:srgbClr val="FFFFFF"/>
          </a:solidFill>
          <a:ln w="9525">
            <a:solidFill>
              <a:srgbClr val="DCE1E7"/>
            </a:solidFill>
            <a:prstDash val="solid"/>
          </a:ln>
        </p:spPr>
      </p:sp>
      <p:sp>
        <p:nvSpPr>
          <p:cNvPr id="6" name="Shape 3"/>
          <p:cNvSpPr/>
          <p:nvPr/>
        </p:nvSpPr>
        <p:spPr>
          <a:xfrm>
            <a:off x="594360" y="1371600"/>
            <a:ext cx="384048" cy="3840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86532" y="1463772"/>
            <a:ext cx="199705" cy="199705"/>
          </a:xfrm>
          <a:prstGeom prst="rect">
            <a:avLst/>
          </a:prstGeom>
        </p:spPr>
      </p:pic>
      <p:sp>
        <p:nvSpPr>
          <p:cNvPr id="8" name="Text 4"/>
          <p:cNvSpPr txBox="1"/>
          <p:nvPr/>
        </p:nvSpPr>
        <p:spPr>
          <a:xfrm>
            <a:off x="1097280" y="137160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Requested cleaners</a:t>
            </a:r>
            <a:endParaRPr lang="en-US" sz="1300" dirty="0"/>
          </a:p>
        </p:txBody>
      </p:sp>
      <p:sp>
        <p:nvSpPr>
          <p:cNvPr id="9" name="Text 5"/>
          <p:cNvSpPr txBox="1"/>
          <p:nvPr/>
        </p:nvSpPr>
        <p:spPr>
          <a:xfrm>
            <a:off x="594360" y="1901952"/>
            <a:ext cx="3726180" cy="16916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See the job as soon as the customer submits it</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Can claim it and replace a non-requested cleaner</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Still follow their own tier's claim limit</a:t>
            </a:r>
            <a:endParaRPr lang="en-US" sz="1000" dirty="0"/>
          </a:p>
        </p:txBody>
      </p:sp>
      <p:sp>
        <p:nvSpPr>
          <p:cNvPr id="10" name="Shape 6"/>
          <p:cNvSpPr/>
          <p:nvPr/>
        </p:nvSpPr>
        <p:spPr>
          <a:xfrm>
            <a:off x="4640580" y="1188720"/>
            <a:ext cx="4091940" cy="2514600"/>
          </a:xfrm>
          <a:prstGeom prst="roundRect">
            <a:avLst>
              <a:gd name="adj" fmla="val 2909"/>
            </a:avLst>
          </a:prstGeom>
          <a:solidFill>
            <a:srgbClr val="FFFFFF"/>
          </a:solidFill>
          <a:ln w="9525">
            <a:solidFill>
              <a:srgbClr val="DCE1E7"/>
            </a:solidFill>
            <a:prstDash val="solid"/>
          </a:ln>
        </p:spPr>
      </p:sp>
      <p:sp>
        <p:nvSpPr>
          <p:cNvPr id="11" name="Shape 7"/>
          <p:cNvSpPr/>
          <p:nvPr/>
        </p:nvSpPr>
        <p:spPr>
          <a:xfrm>
            <a:off x="4823460" y="1371600"/>
            <a:ext cx="384048" cy="38404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4915632" y="1463772"/>
            <a:ext cx="199705" cy="199705"/>
          </a:xfrm>
          <a:prstGeom prst="rect">
            <a:avLst/>
          </a:prstGeom>
        </p:spPr>
      </p:pic>
      <p:sp>
        <p:nvSpPr>
          <p:cNvPr id="13" name="Text 8"/>
          <p:cNvSpPr txBox="1"/>
          <p:nvPr/>
        </p:nvSpPr>
        <p:spPr>
          <a:xfrm>
            <a:off x="5326380" y="137160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Swapping</a:t>
            </a:r>
            <a:endParaRPr lang="en-US" sz="1300" dirty="0"/>
          </a:p>
        </p:txBody>
      </p:sp>
      <p:sp>
        <p:nvSpPr>
          <p:cNvPr id="14" name="Text 9"/>
          <p:cNvSpPr txBox="1"/>
          <p:nvPr/>
        </p:nvSpPr>
        <p:spPr>
          <a:xfrm>
            <a:off x="4823460" y="1901952"/>
            <a:ext cx="3726180" cy="16916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 higher-tier cleaner can swap in if the job is 24–48+ hrs away</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Customer sees a new match. The swapped-out cleaner is told the customer cancelled</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Protected if they messaged with the customer in the past month</a:t>
            </a:r>
            <a:endParaRPr lang="en-US" sz="1000" dirty="0"/>
          </a:p>
        </p:txBody>
      </p:sp>
      <p:sp>
        <p:nvSpPr>
          <p:cNvPr id="15" name="Shape 10"/>
          <p:cNvSpPr/>
          <p:nvPr/>
        </p:nvSpPr>
        <p:spPr>
          <a:xfrm>
            <a:off x="411480" y="3886200"/>
            <a:ext cx="8321040" cy="384048"/>
          </a:xfrm>
          <a:prstGeom prst="roundRect">
            <a:avLst>
              <a:gd name="adj" fmla="val 19048"/>
            </a:avLst>
          </a:prstGeom>
          <a:solidFill>
            <a:srgbClr val="FFF3D6"/>
          </a:solidFill>
          <a:ln w="9525">
            <a:solidFill>
              <a:srgbClr val="FFF3D6"/>
            </a:solidFill>
            <a:prstDash val="solid"/>
          </a:ln>
        </p:spPr>
      </p:sp>
      <p:pic>
        <p:nvPicPr>
          <p:cNvPr id="16" name="Image 2" descr="preencoded.png">    </p:cNvPr>
          <p:cNvPicPr>
            <a:picLocks noChangeAspect="1"/>
          </p:cNvPicPr>
          <p:nvPr/>
        </p:nvPicPr>
        <p:blipFill>
          <a:blip r:embed="rId3"/>
          <a:stretch>
            <a:fillRect/>
          </a:stretch>
        </p:blipFill>
        <p:spPr>
          <a:xfrm>
            <a:off x="566928" y="3995928"/>
            <a:ext cx="164592" cy="164592"/>
          </a:xfrm>
          <a:prstGeom prst="rect">
            <a:avLst/>
          </a:prstGeom>
        </p:spPr>
      </p:pic>
      <p:sp>
        <p:nvSpPr>
          <p:cNvPr id="17" name="Text 11"/>
          <p:cNvSpPr txBox="1"/>
          <p:nvPr/>
        </p:nvSpPr>
        <p:spPr>
          <a:xfrm>
            <a:off x="822960" y="39867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ZTP:  </a:t>
            </a:r>
            <a:pPr indent="0" marL="0">
              <a:buNone/>
            </a:pPr>
            <a:r>
              <a:rPr lang="en-US" sz="1000" dirty="0">
                <a:solidFill>
                  <a:srgbClr val="1D1D1F"/>
                </a:solidFill>
                <a:latin typeface="SF Pro Text" pitchFamily="34" charset="0"/>
                <a:ea typeface="SF Pro Text" pitchFamily="34" charset="-122"/>
                <a:cs typeface="SF Pro Text" pitchFamily="34" charset="-120"/>
              </a:rPr>
              <a:t>swapping is internal. Never tell a cleaner or customer that a swap happened.</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09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Job Statuses</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stage a booking is in, and what that means for the ticket in front of you.</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job lifecycle</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Submitted, Claimed, Invoiced</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Cancelled and Pending Invoice</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the customer and cleaner can do</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2/ill27.png">    </p:cNvPr>
          <p:cNvPicPr>
            <a:picLocks noChangeAspect="1"/>
          </p:cNvPicPr>
          <p:nvPr/>
        </p:nvPicPr>
        <p:blipFill>
          <a:blip r:embed="rId5"/>
          <a:stretch>
            <a:fillRect/>
          </a:stretch>
        </p:blipFill>
        <p:spPr>
          <a:xfrm>
            <a:off x="5928845" y="1517904"/>
            <a:ext cx="2150918"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job lifecycle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job can be cancelled at almost any stage. It doesn't have to pass through every status.</a:t>
            </a:r>
            <a:endParaRPr lang="en-US" sz="1200" dirty="0"/>
          </a:p>
        </p:txBody>
      </p:sp>
      <p:sp>
        <p:nvSpPr>
          <p:cNvPr id="6" name="Shape 3"/>
          <p:cNvSpPr/>
          <p:nvPr/>
        </p:nvSpPr>
        <p:spPr>
          <a:xfrm>
            <a:off x="411480" y="1508760"/>
            <a:ext cx="1417320" cy="640080"/>
          </a:xfrm>
          <a:prstGeom prst="roundRect">
            <a:avLst>
              <a:gd name="adj" fmla="val 11429"/>
            </a:avLst>
          </a:prstGeom>
          <a:solidFill>
            <a:srgbClr val="FFFFFF"/>
          </a:solidFill>
          <a:ln w="9525">
            <a:solidFill>
              <a:srgbClr val="0B7A6F"/>
            </a:solidFill>
            <a:prstDash val="solid"/>
          </a:ln>
        </p:spPr>
      </p:sp>
      <p:sp>
        <p:nvSpPr>
          <p:cNvPr id="7" name="Text 4"/>
          <p:cNvSpPr txBox="1"/>
          <p:nvPr/>
        </p:nvSpPr>
        <p:spPr>
          <a:xfrm>
            <a:off x="411480" y="1508760"/>
            <a:ext cx="1417320" cy="640080"/>
          </a:xfrm>
          <a:prstGeom prst="rect">
            <a:avLst/>
          </a:prstGeom>
          <a:noFill/>
          <a:ln/>
        </p:spPr>
        <p:txBody>
          <a:bodyPr wrap="square" lIns="0" tIns="0" rIns="0" bIns="0" rtlCol="0" anchor="ctr"/>
          <a:lstStyle/>
          <a:p>
            <a:pPr algn="ctr" indent="0" marL="0">
              <a:buNone/>
            </a:pPr>
            <a:r>
              <a:rPr lang="en-US" sz="1200" b="1" dirty="0">
                <a:solidFill>
                  <a:srgbClr val="0B7A6F"/>
                </a:solidFill>
                <a:latin typeface="SF Pro Display" pitchFamily="34" charset="0"/>
                <a:ea typeface="SF Pro Display" pitchFamily="34" charset="-122"/>
                <a:cs typeface="SF Pro Display" pitchFamily="34" charset="-120"/>
              </a:rPr>
              <a:t>Pending</a:t>
            </a:r>
            <a:endParaRPr lang="en-US" sz="1200" dirty="0"/>
          </a:p>
        </p:txBody>
      </p:sp>
      <p:sp>
        <p:nvSpPr>
          <p:cNvPr id="8" name="Shape 5"/>
          <p:cNvSpPr/>
          <p:nvPr/>
        </p:nvSpPr>
        <p:spPr>
          <a:xfrm>
            <a:off x="1865376" y="1828800"/>
            <a:ext cx="235458" cy="0"/>
          </a:xfrm>
          <a:prstGeom prst="line">
            <a:avLst/>
          </a:prstGeom>
          <a:noFill/>
          <a:ln w="19050">
            <a:solidFill>
              <a:srgbClr val="0B7A6F"/>
            </a:solidFill>
            <a:prstDash val="solid"/>
            <a:tailEnd type="triangle"/>
          </a:ln>
        </p:spPr>
      </p:sp>
      <p:sp>
        <p:nvSpPr>
          <p:cNvPr id="9" name="Shape 6"/>
          <p:cNvSpPr/>
          <p:nvPr/>
        </p:nvSpPr>
        <p:spPr>
          <a:xfrm>
            <a:off x="1120140" y="2148840"/>
            <a:ext cx="2537460" cy="914400"/>
          </a:xfrm>
          <a:prstGeom prst="line">
            <a:avLst/>
          </a:prstGeom>
          <a:noFill/>
          <a:ln w="12700">
            <a:solidFill>
              <a:srgbClr val="6E6E73"/>
            </a:solidFill>
            <a:prstDash val="dash"/>
            <a:tailEnd type="triangle"/>
          </a:ln>
        </p:spPr>
      </p:sp>
      <p:sp>
        <p:nvSpPr>
          <p:cNvPr id="10" name="Shape 7"/>
          <p:cNvSpPr/>
          <p:nvPr/>
        </p:nvSpPr>
        <p:spPr>
          <a:xfrm>
            <a:off x="2137410" y="1508760"/>
            <a:ext cx="1417320" cy="640080"/>
          </a:xfrm>
          <a:prstGeom prst="roundRect">
            <a:avLst>
              <a:gd name="adj" fmla="val 11429"/>
            </a:avLst>
          </a:prstGeom>
          <a:solidFill>
            <a:srgbClr val="FFFFFF"/>
          </a:solidFill>
          <a:ln w="9525">
            <a:solidFill>
              <a:srgbClr val="0B7A6F"/>
            </a:solidFill>
            <a:prstDash val="solid"/>
          </a:ln>
        </p:spPr>
      </p:sp>
      <p:sp>
        <p:nvSpPr>
          <p:cNvPr id="11" name="Text 8"/>
          <p:cNvSpPr txBox="1"/>
          <p:nvPr/>
        </p:nvSpPr>
        <p:spPr>
          <a:xfrm>
            <a:off x="2137410" y="1508760"/>
            <a:ext cx="1417320" cy="640080"/>
          </a:xfrm>
          <a:prstGeom prst="rect">
            <a:avLst/>
          </a:prstGeom>
          <a:noFill/>
          <a:ln/>
        </p:spPr>
        <p:txBody>
          <a:bodyPr wrap="square" lIns="0" tIns="0" rIns="0" bIns="0" rtlCol="0" anchor="ctr"/>
          <a:lstStyle/>
          <a:p>
            <a:pPr algn="ctr" indent="0" marL="0">
              <a:buNone/>
            </a:pPr>
            <a:r>
              <a:rPr lang="en-US" sz="1200" b="1" dirty="0">
                <a:solidFill>
                  <a:srgbClr val="0B7A6F"/>
                </a:solidFill>
                <a:latin typeface="SF Pro Display" pitchFamily="34" charset="0"/>
                <a:ea typeface="SF Pro Display" pitchFamily="34" charset="-122"/>
                <a:cs typeface="SF Pro Display" pitchFamily="34" charset="-120"/>
              </a:rPr>
              <a:t>Submitted</a:t>
            </a:r>
            <a:endParaRPr lang="en-US" sz="1200" dirty="0"/>
          </a:p>
        </p:txBody>
      </p:sp>
      <p:sp>
        <p:nvSpPr>
          <p:cNvPr id="12" name="Shape 9"/>
          <p:cNvSpPr/>
          <p:nvPr/>
        </p:nvSpPr>
        <p:spPr>
          <a:xfrm>
            <a:off x="3591306" y="1828800"/>
            <a:ext cx="235458" cy="0"/>
          </a:xfrm>
          <a:prstGeom prst="line">
            <a:avLst/>
          </a:prstGeom>
          <a:noFill/>
          <a:ln w="19050">
            <a:solidFill>
              <a:srgbClr val="0B7A6F"/>
            </a:solidFill>
            <a:prstDash val="solid"/>
            <a:tailEnd type="triangle"/>
          </a:ln>
        </p:spPr>
      </p:sp>
      <p:sp>
        <p:nvSpPr>
          <p:cNvPr id="13" name="Shape 10"/>
          <p:cNvSpPr/>
          <p:nvPr/>
        </p:nvSpPr>
        <p:spPr>
          <a:xfrm>
            <a:off x="2846070" y="2148840"/>
            <a:ext cx="1268730" cy="914400"/>
          </a:xfrm>
          <a:prstGeom prst="line">
            <a:avLst/>
          </a:prstGeom>
          <a:noFill/>
          <a:ln w="12700">
            <a:solidFill>
              <a:srgbClr val="6E6E73"/>
            </a:solidFill>
            <a:prstDash val="dash"/>
            <a:tailEnd type="triangle"/>
          </a:ln>
        </p:spPr>
      </p:sp>
      <p:sp>
        <p:nvSpPr>
          <p:cNvPr id="14" name="Shape 11"/>
          <p:cNvSpPr/>
          <p:nvPr/>
        </p:nvSpPr>
        <p:spPr>
          <a:xfrm>
            <a:off x="3863340" y="1508760"/>
            <a:ext cx="1417320" cy="640080"/>
          </a:xfrm>
          <a:prstGeom prst="roundRect">
            <a:avLst>
              <a:gd name="adj" fmla="val 11429"/>
            </a:avLst>
          </a:prstGeom>
          <a:solidFill>
            <a:srgbClr val="FFFFFF"/>
          </a:solidFill>
          <a:ln w="9525">
            <a:solidFill>
              <a:srgbClr val="0B7A6F"/>
            </a:solidFill>
            <a:prstDash val="solid"/>
          </a:ln>
        </p:spPr>
      </p:sp>
      <p:sp>
        <p:nvSpPr>
          <p:cNvPr id="15" name="Text 12"/>
          <p:cNvSpPr txBox="1"/>
          <p:nvPr/>
        </p:nvSpPr>
        <p:spPr>
          <a:xfrm>
            <a:off x="3863340" y="1508760"/>
            <a:ext cx="1417320" cy="640080"/>
          </a:xfrm>
          <a:prstGeom prst="rect">
            <a:avLst/>
          </a:prstGeom>
          <a:noFill/>
          <a:ln/>
        </p:spPr>
        <p:txBody>
          <a:bodyPr wrap="square" lIns="0" tIns="0" rIns="0" bIns="0" rtlCol="0" anchor="ctr"/>
          <a:lstStyle/>
          <a:p>
            <a:pPr algn="ctr" indent="0" marL="0">
              <a:buNone/>
            </a:pPr>
            <a:r>
              <a:rPr lang="en-US" sz="1200" b="1" dirty="0">
                <a:solidFill>
                  <a:srgbClr val="0B7A6F"/>
                </a:solidFill>
                <a:latin typeface="SF Pro Display" pitchFamily="34" charset="0"/>
                <a:ea typeface="SF Pro Display" pitchFamily="34" charset="-122"/>
                <a:cs typeface="SF Pro Display" pitchFamily="34" charset="-120"/>
              </a:rPr>
              <a:t>Claimed</a:t>
            </a:r>
            <a:endParaRPr lang="en-US" sz="1200" dirty="0"/>
          </a:p>
        </p:txBody>
      </p:sp>
      <p:sp>
        <p:nvSpPr>
          <p:cNvPr id="16" name="Shape 13"/>
          <p:cNvSpPr/>
          <p:nvPr/>
        </p:nvSpPr>
        <p:spPr>
          <a:xfrm>
            <a:off x="5317236" y="1828800"/>
            <a:ext cx="235458" cy="0"/>
          </a:xfrm>
          <a:prstGeom prst="line">
            <a:avLst/>
          </a:prstGeom>
          <a:noFill/>
          <a:ln w="19050">
            <a:solidFill>
              <a:srgbClr val="0B7A6F"/>
            </a:solidFill>
            <a:prstDash val="solid"/>
            <a:tailEnd type="triangle"/>
          </a:ln>
        </p:spPr>
      </p:sp>
      <p:sp>
        <p:nvSpPr>
          <p:cNvPr id="17" name="Shape 14"/>
          <p:cNvSpPr/>
          <p:nvPr/>
        </p:nvSpPr>
        <p:spPr>
          <a:xfrm>
            <a:off x="4572000" y="2148840"/>
            <a:ext cx="914" cy="914400"/>
          </a:xfrm>
          <a:prstGeom prst="line">
            <a:avLst/>
          </a:prstGeom>
          <a:noFill/>
          <a:ln w="12700">
            <a:solidFill>
              <a:srgbClr val="6E6E73"/>
            </a:solidFill>
            <a:prstDash val="dash"/>
            <a:tailEnd type="triangle"/>
          </a:ln>
        </p:spPr>
      </p:sp>
      <p:sp>
        <p:nvSpPr>
          <p:cNvPr id="18" name="Shape 15"/>
          <p:cNvSpPr/>
          <p:nvPr/>
        </p:nvSpPr>
        <p:spPr>
          <a:xfrm>
            <a:off x="5589270" y="1508760"/>
            <a:ext cx="1417320" cy="640080"/>
          </a:xfrm>
          <a:prstGeom prst="roundRect">
            <a:avLst>
              <a:gd name="adj" fmla="val 11429"/>
            </a:avLst>
          </a:prstGeom>
          <a:solidFill>
            <a:srgbClr val="FFFFFF"/>
          </a:solidFill>
          <a:ln w="9525">
            <a:solidFill>
              <a:srgbClr val="0B7A6F"/>
            </a:solidFill>
            <a:prstDash val="solid"/>
          </a:ln>
        </p:spPr>
      </p:sp>
      <p:sp>
        <p:nvSpPr>
          <p:cNvPr id="19" name="Text 16"/>
          <p:cNvSpPr txBox="1"/>
          <p:nvPr/>
        </p:nvSpPr>
        <p:spPr>
          <a:xfrm>
            <a:off x="5589270" y="1508760"/>
            <a:ext cx="1417320" cy="640080"/>
          </a:xfrm>
          <a:prstGeom prst="rect">
            <a:avLst/>
          </a:prstGeom>
          <a:noFill/>
          <a:ln/>
        </p:spPr>
        <p:txBody>
          <a:bodyPr wrap="square" lIns="0" tIns="0" rIns="0" bIns="0" rtlCol="0" anchor="ctr"/>
          <a:lstStyle/>
          <a:p>
            <a:pPr algn="ctr" indent="0" marL="0">
              <a:buNone/>
            </a:pPr>
            <a:r>
              <a:rPr lang="en-US" sz="1200" b="1" dirty="0">
                <a:solidFill>
                  <a:srgbClr val="0B7A6F"/>
                </a:solidFill>
                <a:latin typeface="SF Pro Display" pitchFamily="34" charset="0"/>
                <a:ea typeface="SF Pro Display" pitchFamily="34" charset="-122"/>
                <a:cs typeface="SF Pro Display" pitchFamily="34" charset="-120"/>
              </a:rPr>
              <a:t>Pending Invoice</a:t>
            </a:r>
            <a:endParaRPr lang="en-US" sz="1200" dirty="0"/>
          </a:p>
        </p:txBody>
      </p:sp>
      <p:sp>
        <p:nvSpPr>
          <p:cNvPr id="20" name="Shape 17"/>
          <p:cNvSpPr/>
          <p:nvPr/>
        </p:nvSpPr>
        <p:spPr>
          <a:xfrm>
            <a:off x="7043166" y="1828800"/>
            <a:ext cx="235458" cy="0"/>
          </a:xfrm>
          <a:prstGeom prst="line">
            <a:avLst/>
          </a:prstGeom>
          <a:noFill/>
          <a:ln w="19050">
            <a:solidFill>
              <a:srgbClr val="0B7A6F"/>
            </a:solidFill>
            <a:prstDash val="solid"/>
            <a:tailEnd type="triangle"/>
          </a:ln>
        </p:spPr>
      </p:sp>
      <p:sp>
        <p:nvSpPr>
          <p:cNvPr id="21" name="Shape 18"/>
          <p:cNvSpPr/>
          <p:nvPr/>
        </p:nvSpPr>
        <p:spPr>
          <a:xfrm flipH="1">
            <a:off x="5029200" y="2148840"/>
            <a:ext cx="1268730" cy="914400"/>
          </a:xfrm>
          <a:prstGeom prst="line">
            <a:avLst/>
          </a:prstGeom>
          <a:noFill/>
          <a:ln w="12700">
            <a:solidFill>
              <a:srgbClr val="6E6E73"/>
            </a:solidFill>
            <a:prstDash val="dash"/>
            <a:tailEnd type="triangle"/>
          </a:ln>
        </p:spPr>
      </p:sp>
      <p:sp>
        <p:nvSpPr>
          <p:cNvPr id="22" name="Shape 19"/>
          <p:cNvSpPr/>
          <p:nvPr/>
        </p:nvSpPr>
        <p:spPr>
          <a:xfrm>
            <a:off x="7315200" y="1508760"/>
            <a:ext cx="1417320" cy="640080"/>
          </a:xfrm>
          <a:prstGeom prst="roundRect">
            <a:avLst>
              <a:gd name="adj" fmla="val 11429"/>
            </a:avLst>
          </a:prstGeom>
          <a:solidFill>
            <a:srgbClr val="0B7A6F"/>
          </a:solidFill>
          <a:ln w="9525">
            <a:solidFill>
              <a:srgbClr val="0B7A6F"/>
            </a:solidFill>
            <a:prstDash val="solid"/>
          </a:ln>
        </p:spPr>
      </p:sp>
      <p:sp>
        <p:nvSpPr>
          <p:cNvPr id="23" name="Text 20"/>
          <p:cNvSpPr txBox="1"/>
          <p:nvPr/>
        </p:nvSpPr>
        <p:spPr>
          <a:xfrm>
            <a:off x="7315200" y="1508760"/>
            <a:ext cx="14173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SF Pro Display" pitchFamily="34" charset="0"/>
                <a:ea typeface="SF Pro Display" pitchFamily="34" charset="-122"/>
                <a:cs typeface="SF Pro Display" pitchFamily="34" charset="-120"/>
              </a:rPr>
              <a:t>Invoiced</a:t>
            </a:r>
            <a:endParaRPr lang="en-US" sz="1200" dirty="0"/>
          </a:p>
        </p:txBody>
      </p:sp>
      <p:sp>
        <p:nvSpPr>
          <p:cNvPr id="24" name="Shape 21"/>
          <p:cNvSpPr/>
          <p:nvPr/>
        </p:nvSpPr>
        <p:spPr>
          <a:xfrm flipH="1">
            <a:off x="5486400" y="2148840"/>
            <a:ext cx="2537460" cy="914400"/>
          </a:xfrm>
          <a:prstGeom prst="line">
            <a:avLst/>
          </a:prstGeom>
          <a:noFill/>
          <a:ln w="12700">
            <a:solidFill>
              <a:srgbClr val="6E6E73"/>
            </a:solidFill>
            <a:prstDash val="dash"/>
            <a:tailEnd type="triangle"/>
          </a:ln>
        </p:spPr>
      </p:sp>
      <p:sp>
        <p:nvSpPr>
          <p:cNvPr id="25" name="Shape 22"/>
          <p:cNvSpPr/>
          <p:nvPr/>
        </p:nvSpPr>
        <p:spPr>
          <a:xfrm>
            <a:off x="3429000" y="3063240"/>
            <a:ext cx="2286000" cy="548640"/>
          </a:xfrm>
          <a:prstGeom prst="roundRect">
            <a:avLst>
              <a:gd name="adj" fmla="val 13333"/>
            </a:avLst>
          </a:prstGeom>
          <a:solidFill>
            <a:srgbClr val="FFF3D6"/>
          </a:solidFill>
          <a:ln w="9525">
            <a:solidFill>
              <a:srgbClr val="9A6410"/>
            </a:solidFill>
            <a:prstDash val="solid"/>
          </a:ln>
        </p:spPr>
      </p:sp>
      <p:sp>
        <p:nvSpPr>
          <p:cNvPr id="26" name="Text 23"/>
          <p:cNvSpPr txBox="1"/>
          <p:nvPr/>
        </p:nvSpPr>
        <p:spPr>
          <a:xfrm>
            <a:off x="3429000" y="3063240"/>
            <a:ext cx="2286000" cy="548640"/>
          </a:xfrm>
          <a:prstGeom prst="rect">
            <a:avLst/>
          </a:prstGeom>
          <a:noFill/>
          <a:ln/>
        </p:spPr>
        <p:txBody>
          <a:bodyPr wrap="square" lIns="0" tIns="0" rIns="0" bIns="0" rtlCol="0" anchor="ctr"/>
          <a:lstStyle/>
          <a:p>
            <a:pPr algn="ctr" indent="0" marL="0">
              <a:buNone/>
            </a:pPr>
            <a:r>
              <a:rPr lang="en-US" sz="1200" b="1" dirty="0">
                <a:solidFill>
                  <a:srgbClr val="9A6410"/>
                </a:solidFill>
                <a:latin typeface="SF Pro Display" pitchFamily="34" charset="0"/>
                <a:ea typeface="SF Pro Display" pitchFamily="34" charset="-122"/>
                <a:cs typeface="SF Pro Display" pitchFamily="34" charset="-120"/>
              </a:rPr>
              <a:t>Cancelled</a:t>
            </a:r>
            <a:endParaRPr lang="en-US" sz="1200" dirty="0"/>
          </a:p>
        </p:txBody>
      </p:sp>
      <p:sp>
        <p:nvSpPr>
          <p:cNvPr id="27" name="Shape 24"/>
          <p:cNvSpPr/>
          <p:nvPr/>
        </p:nvSpPr>
        <p:spPr>
          <a:xfrm>
            <a:off x="411480" y="3886200"/>
            <a:ext cx="8321040" cy="384048"/>
          </a:xfrm>
          <a:prstGeom prst="roundRect">
            <a:avLst>
              <a:gd name="adj" fmla="val 19048"/>
            </a:avLst>
          </a:prstGeom>
          <a:solidFill>
            <a:srgbClr val="FFF3D6"/>
          </a:solidFill>
          <a:ln w="9525">
            <a:solidFill>
              <a:srgbClr val="FFF3D6"/>
            </a:solidFill>
            <a:prstDash val="solid"/>
          </a:ln>
        </p:spPr>
      </p:sp>
      <p:pic>
        <p:nvPicPr>
          <p:cNvPr id="28" name="Image 0" descr="preencoded.png">    </p:cNvPr>
          <p:cNvPicPr>
            <a:picLocks noChangeAspect="1"/>
          </p:cNvPicPr>
          <p:nvPr/>
        </p:nvPicPr>
        <p:blipFill>
          <a:blip r:embed="rId1"/>
          <a:stretch>
            <a:fillRect/>
          </a:stretch>
        </p:blipFill>
        <p:spPr>
          <a:xfrm>
            <a:off x="566928" y="3995928"/>
            <a:ext cx="164592" cy="164592"/>
          </a:xfrm>
          <a:prstGeom prst="rect">
            <a:avLst/>
          </a:prstGeom>
        </p:spPr>
      </p:pic>
      <p:sp>
        <p:nvSpPr>
          <p:cNvPr id="29" name="Text 25"/>
          <p:cNvSpPr txBox="1"/>
          <p:nvPr/>
        </p:nvSpPr>
        <p:spPr>
          <a:xfrm>
            <a:off x="822960" y="39867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Note:  </a:t>
            </a:r>
            <a:pPr indent="0" marL="0">
              <a:buNone/>
            </a:pPr>
            <a:r>
              <a:rPr lang="en-US" sz="1000" dirty="0">
                <a:solidFill>
                  <a:srgbClr val="1D1D1F"/>
                </a:solidFill>
                <a:latin typeface="SF Pro Text" pitchFamily="34" charset="0"/>
                <a:ea typeface="SF Pro Text" pitchFamily="34" charset="-122"/>
                <a:cs typeface="SF Pro Text" pitchFamily="34" charset="-120"/>
              </a:rPr>
              <a:t>an Invoiced job only becomes Cancelled through a full refund.</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Where to look in the CRM</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On the customer's page in the New C CRM, jobs are grouped by status.</a:t>
            </a:r>
            <a:endParaRPr lang="en-US" sz="1200" dirty="0"/>
          </a:p>
        </p:txBody>
      </p:sp>
      <p:sp>
        <p:nvSpPr>
          <p:cNvPr id="6" name="Shape 3"/>
          <p:cNvSpPr/>
          <p:nvPr/>
        </p:nvSpPr>
        <p:spPr>
          <a:xfrm>
            <a:off x="411480" y="1234440"/>
            <a:ext cx="5257800" cy="3108960"/>
          </a:xfrm>
          <a:prstGeom prst="roundRect">
            <a:avLst>
              <a:gd name="adj" fmla="val 2353"/>
            </a:avLst>
          </a:prstGeom>
          <a:solidFill>
            <a:srgbClr val="FFFFFF"/>
          </a:solidFill>
          <a:ln w="9525">
            <a:solidFill>
              <a:srgbClr val="DCE1E7"/>
            </a:solidFill>
            <a:prstDash val="solid"/>
          </a:ln>
        </p:spPr>
      </p:sp>
      <p:pic>
        <p:nvPicPr>
          <p:cNvPr id="7" name="Image 0" descr="/tmp/claude-0/-workspace-training/3ce5cff6-cccf-5f33-b0ee-0b147a55120e/scratchpad/img2/jobs_panels.png">    </p:cNvPr>
          <p:cNvPicPr>
            <a:picLocks noChangeAspect="1"/>
          </p:cNvPicPr>
          <p:nvPr/>
        </p:nvPicPr>
        <p:blipFill>
          <a:blip r:embed="rId1"/>
          <a:stretch>
            <a:fillRect/>
          </a:stretch>
        </p:blipFill>
        <p:spPr>
          <a:xfrm>
            <a:off x="484632" y="1344123"/>
            <a:ext cx="5111496" cy="2889594"/>
          </a:xfrm>
          <a:prstGeom prst="rect">
            <a:avLst/>
          </a:prstGeom>
        </p:spPr>
      </p:pic>
      <p:sp>
        <p:nvSpPr>
          <p:cNvPr id="8" name="Shape 4"/>
          <p:cNvSpPr/>
          <p:nvPr/>
        </p:nvSpPr>
        <p:spPr>
          <a:xfrm>
            <a:off x="518297" y="1372177"/>
            <a:ext cx="5049777" cy="437647"/>
          </a:xfrm>
          <a:prstGeom prst="roundRect">
            <a:avLst>
              <a:gd name="adj" fmla="val 6268"/>
            </a:avLst>
          </a:prstGeom>
          <a:ln w="25400">
            <a:solidFill>
              <a:srgbClr val="0B7A6F"/>
            </a:solidFill>
            <a:prstDash val="solid"/>
          </a:ln>
        </p:spPr>
      </p:sp>
      <p:sp>
        <p:nvSpPr>
          <p:cNvPr id="9" name="Shape 5"/>
          <p:cNvSpPr/>
          <p:nvPr/>
        </p:nvSpPr>
        <p:spPr>
          <a:xfrm>
            <a:off x="417713" y="1271593"/>
            <a:ext cx="201168" cy="201168"/>
          </a:xfrm>
          <a:prstGeom prst="ellipse">
            <a:avLst/>
          </a:prstGeom>
          <a:solidFill>
            <a:srgbClr val="0B7A6F"/>
          </a:solidFill>
          <a:ln w="12700">
            <a:solidFill>
              <a:srgbClr val="FFFFFF"/>
            </a:solidFill>
            <a:prstDash val="solid"/>
          </a:ln>
        </p:spPr>
      </p:sp>
      <p:sp>
        <p:nvSpPr>
          <p:cNvPr id="10" name="Text 6"/>
          <p:cNvSpPr txBox="1"/>
          <p:nvPr/>
        </p:nvSpPr>
        <p:spPr>
          <a:xfrm>
            <a:off x="417713" y="1271593"/>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11" name="Shape 7"/>
          <p:cNvSpPr/>
          <p:nvPr/>
        </p:nvSpPr>
        <p:spPr>
          <a:xfrm>
            <a:off x="518297" y="1832268"/>
            <a:ext cx="5049777" cy="622806"/>
          </a:xfrm>
          <a:prstGeom prst="roundRect">
            <a:avLst>
              <a:gd name="adj" fmla="val 4405"/>
            </a:avLst>
          </a:prstGeom>
          <a:ln w="25400">
            <a:solidFill>
              <a:srgbClr val="0B7A6F"/>
            </a:solidFill>
            <a:prstDash val="solid"/>
          </a:ln>
        </p:spPr>
      </p:sp>
      <p:sp>
        <p:nvSpPr>
          <p:cNvPr id="12" name="Shape 8"/>
          <p:cNvSpPr/>
          <p:nvPr/>
        </p:nvSpPr>
        <p:spPr>
          <a:xfrm>
            <a:off x="417713" y="1731684"/>
            <a:ext cx="201168" cy="201168"/>
          </a:xfrm>
          <a:prstGeom prst="ellipse">
            <a:avLst/>
          </a:prstGeom>
          <a:solidFill>
            <a:srgbClr val="0B7A6F"/>
          </a:solidFill>
          <a:ln w="12700">
            <a:solidFill>
              <a:srgbClr val="FFFFFF"/>
            </a:solidFill>
            <a:prstDash val="solid"/>
          </a:ln>
        </p:spPr>
      </p:sp>
      <p:sp>
        <p:nvSpPr>
          <p:cNvPr id="13" name="Text 9"/>
          <p:cNvSpPr txBox="1"/>
          <p:nvPr/>
        </p:nvSpPr>
        <p:spPr>
          <a:xfrm>
            <a:off x="417713" y="17316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2</a:t>
            </a:r>
            <a:endParaRPr lang="en-US" sz="800" dirty="0"/>
          </a:p>
        </p:txBody>
      </p:sp>
      <p:sp>
        <p:nvSpPr>
          <p:cNvPr id="14" name="Shape 10"/>
          <p:cNvSpPr/>
          <p:nvPr/>
        </p:nvSpPr>
        <p:spPr>
          <a:xfrm>
            <a:off x="518297" y="2477517"/>
            <a:ext cx="5049777" cy="1094118"/>
          </a:xfrm>
          <a:prstGeom prst="roundRect">
            <a:avLst>
              <a:gd name="adj" fmla="val 2507"/>
            </a:avLst>
          </a:prstGeom>
          <a:ln w="25400">
            <a:solidFill>
              <a:srgbClr val="0B7A6F"/>
            </a:solidFill>
            <a:prstDash val="solid"/>
          </a:ln>
        </p:spPr>
      </p:sp>
      <p:sp>
        <p:nvSpPr>
          <p:cNvPr id="15" name="Shape 11"/>
          <p:cNvSpPr/>
          <p:nvPr/>
        </p:nvSpPr>
        <p:spPr>
          <a:xfrm>
            <a:off x="417713" y="2376933"/>
            <a:ext cx="201168" cy="201168"/>
          </a:xfrm>
          <a:prstGeom prst="ellipse">
            <a:avLst/>
          </a:prstGeom>
          <a:solidFill>
            <a:srgbClr val="0B7A6F"/>
          </a:solidFill>
          <a:ln w="12700">
            <a:solidFill>
              <a:srgbClr val="FFFFFF"/>
            </a:solidFill>
            <a:prstDash val="solid"/>
          </a:ln>
        </p:spPr>
      </p:sp>
      <p:sp>
        <p:nvSpPr>
          <p:cNvPr id="16" name="Text 12"/>
          <p:cNvSpPr txBox="1"/>
          <p:nvPr/>
        </p:nvSpPr>
        <p:spPr>
          <a:xfrm>
            <a:off x="417713" y="2376933"/>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3</a:t>
            </a:r>
            <a:endParaRPr lang="en-US" sz="800" dirty="0"/>
          </a:p>
        </p:txBody>
      </p:sp>
      <p:sp>
        <p:nvSpPr>
          <p:cNvPr id="17" name="Shape 13"/>
          <p:cNvSpPr/>
          <p:nvPr/>
        </p:nvSpPr>
        <p:spPr>
          <a:xfrm>
            <a:off x="518297" y="3594079"/>
            <a:ext cx="5049777" cy="622806"/>
          </a:xfrm>
          <a:prstGeom prst="roundRect">
            <a:avLst>
              <a:gd name="adj" fmla="val 4405"/>
            </a:avLst>
          </a:prstGeom>
          <a:ln w="25400">
            <a:solidFill>
              <a:srgbClr val="0B7A6F"/>
            </a:solidFill>
            <a:prstDash val="solid"/>
          </a:ln>
        </p:spPr>
      </p:sp>
      <p:sp>
        <p:nvSpPr>
          <p:cNvPr id="18" name="Shape 14"/>
          <p:cNvSpPr/>
          <p:nvPr/>
        </p:nvSpPr>
        <p:spPr>
          <a:xfrm>
            <a:off x="417713" y="3493495"/>
            <a:ext cx="201168" cy="201168"/>
          </a:xfrm>
          <a:prstGeom prst="ellipse">
            <a:avLst/>
          </a:prstGeom>
          <a:solidFill>
            <a:srgbClr val="0B7A6F"/>
          </a:solidFill>
          <a:ln w="12700">
            <a:solidFill>
              <a:srgbClr val="FFFFFF"/>
            </a:solidFill>
            <a:prstDash val="solid"/>
          </a:ln>
        </p:spPr>
      </p:sp>
      <p:sp>
        <p:nvSpPr>
          <p:cNvPr id="19" name="Text 15"/>
          <p:cNvSpPr txBox="1"/>
          <p:nvPr/>
        </p:nvSpPr>
        <p:spPr>
          <a:xfrm>
            <a:off x="417713" y="3493495"/>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4</a:t>
            </a:r>
            <a:endParaRPr lang="en-US" sz="800" dirty="0"/>
          </a:p>
        </p:txBody>
      </p:sp>
      <p:sp>
        <p:nvSpPr>
          <p:cNvPr id="20" name="Shape 16"/>
          <p:cNvSpPr/>
          <p:nvPr/>
        </p:nvSpPr>
        <p:spPr>
          <a:xfrm>
            <a:off x="5806440" y="1234440"/>
            <a:ext cx="2926080" cy="658368"/>
          </a:xfrm>
          <a:prstGeom prst="roundRect">
            <a:avLst>
              <a:gd name="adj" fmla="val 11111"/>
            </a:avLst>
          </a:prstGeom>
          <a:solidFill>
            <a:srgbClr val="FFFFFF"/>
          </a:solidFill>
          <a:ln w="9525">
            <a:solidFill>
              <a:srgbClr val="DCE1E7"/>
            </a:solidFill>
            <a:prstDash val="solid"/>
          </a:ln>
        </p:spPr>
      </p:sp>
      <p:sp>
        <p:nvSpPr>
          <p:cNvPr id="21" name="Shape 17"/>
          <p:cNvSpPr/>
          <p:nvPr/>
        </p:nvSpPr>
        <p:spPr>
          <a:xfrm>
            <a:off x="5934456" y="1435608"/>
            <a:ext cx="256032" cy="256032"/>
          </a:xfrm>
          <a:prstGeom prst="ellipse">
            <a:avLst/>
          </a:prstGeom>
          <a:solidFill>
            <a:srgbClr val="0B7A6F"/>
          </a:solidFill>
          <a:ln w="12700">
            <a:solidFill>
              <a:srgbClr val="0B7A6F"/>
            </a:solidFill>
            <a:prstDash val="solid"/>
          </a:ln>
        </p:spPr>
      </p:sp>
      <p:sp>
        <p:nvSpPr>
          <p:cNvPr id="22" name="Text 18"/>
          <p:cNvSpPr txBox="1"/>
          <p:nvPr/>
        </p:nvSpPr>
        <p:spPr>
          <a:xfrm>
            <a:off x="5934456" y="143560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1</a:t>
            </a:r>
            <a:endParaRPr lang="en-US" sz="900" dirty="0"/>
          </a:p>
        </p:txBody>
      </p:sp>
      <p:sp>
        <p:nvSpPr>
          <p:cNvPr id="23" name="Text 19"/>
          <p:cNvSpPr txBox="1"/>
          <p:nvPr/>
        </p:nvSpPr>
        <p:spPr>
          <a:xfrm>
            <a:off x="6309360" y="1280160"/>
            <a:ext cx="2331720" cy="56692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Pending Invoice Jobs</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Time has passed, not invoiced yet</a:t>
            </a:r>
            <a:endParaRPr lang="en-US" sz="1050" dirty="0"/>
          </a:p>
        </p:txBody>
      </p:sp>
      <p:sp>
        <p:nvSpPr>
          <p:cNvPr id="24" name="Shape 20"/>
          <p:cNvSpPr/>
          <p:nvPr/>
        </p:nvSpPr>
        <p:spPr>
          <a:xfrm>
            <a:off x="5806440" y="1984248"/>
            <a:ext cx="2926080" cy="658368"/>
          </a:xfrm>
          <a:prstGeom prst="roundRect">
            <a:avLst>
              <a:gd name="adj" fmla="val 11111"/>
            </a:avLst>
          </a:prstGeom>
          <a:solidFill>
            <a:srgbClr val="FFFFFF"/>
          </a:solidFill>
          <a:ln w="9525">
            <a:solidFill>
              <a:srgbClr val="DCE1E7"/>
            </a:solidFill>
            <a:prstDash val="solid"/>
          </a:ln>
        </p:spPr>
      </p:sp>
      <p:sp>
        <p:nvSpPr>
          <p:cNvPr id="25" name="Shape 21"/>
          <p:cNvSpPr/>
          <p:nvPr/>
        </p:nvSpPr>
        <p:spPr>
          <a:xfrm>
            <a:off x="5934456" y="2185416"/>
            <a:ext cx="256032" cy="256032"/>
          </a:xfrm>
          <a:prstGeom prst="ellipse">
            <a:avLst/>
          </a:prstGeom>
          <a:solidFill>
            <a:srgbClr val="0B7A6F"/>
          </a:solidFill>
          <a:ln w="12700">
            <a:solidFill>
              <a:srgbClr val="0B7A6F"/>
            </a:solidFill>
            <a:prstDash val="solid"/>
          </a:ln>
        </p:spPr>
      </p:sp>
      <p:sp>
        <p:nvSpPr>
          <p:cNvPr id="26" name="Text 22"/>
          <p:cNvSpPr txBox="1"/>
          <p:nvPr/>
        </p:nvSpPr>
        <p:spPr>
          <a:xfrm>
            <a:off x="5934456" y="21854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2</a:t>
            </a:r>
            <a:endParaRPr lang="en-US" sz="900" dirty="0"/>
          </a:p>
        </p:txBody>
      </p:sp>
      <p:sp>
        <p:nvSpPr>
          <p:cNvPr id="27" name="Text 23"/>
          <p:cNvSpPr txBox="1"/>
          <p:nvPr/>
        </p:nvSpPr>
        <p:spPr>
          <a:xfrm>
            <a:off x="6309360" y="2029968"/>
            <a:ext cx="2331720" cy="56692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Claimed &amp; Submitted</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Upcoming: waiting for a cleaner, or claimed</a:t>
            </a:r>
            <a:endParaRPr lang="en-US" sz="1050" dirty="0"/>
          </a:p>
        </p:txBody>
      </p:sp>
      <p:sp>
        <p:nvSpPr>
          <p:cNvPr id="28" name="Shape 24"/>
          <p:cNvSpPr/>
          <p:nvPr/>
        </p:nvSpPr>
        <p:spPr>
          <a:xfrm>
            <a:off x="5806440" y="2734056"/>
            <a:ext cx="2926080" cy="658368"/>
          </a:xfrm>
          <a:prstGeom prst="roundRect">
            <a:avLst>
              <a:gd name="adj" fmla="val 11111"/>
            </a:avLst>
          </a:prstGeom>
          <a:solidFill>
            <a:srgbClr val="FFFFFF"/>
          </a:solidFill>
          <a:ln w="9525">
            <a:solidFill>
              <a:srgbClr val="DCE1E7"/>
            </a:solidFill>
            <a:prstDash val="solid"/>
          </a:ln>
        </p:spPr>
      </p:sp>
      <p:sp>
        <p:nvSpPr>
          <p:cNvPr id="29" name="Shape 25"/>
          <p:cNvSpPr/>
          <p:nvPr/>
        </p:nvSpPr>
        <p:spPr>
          <a:xfrm>
            <a:off x="5934456" y="2935224"/>
            <a:ext cx="256032" cy="256032"/>
          </a:xfrm>
          <a:prstGeom prst="ellipse">
            <a:avLst/>
          </a:prstGeom>
          <a:solidFill>
            <a:srgbClr val="0B7A6F"/>
          </a:solidFill>
          <a:ln w="12700">
            <a:solidFill>
              <a:srgbClr val="0B7A6F"/>
            </a:solidFill>
            <a:prstDash val="solid"/>
          </a:ln>
        </p:spPr>
      </p:sp>
      <p:sp>
        <p:nvSpPr>
          <p:cNvPr id="30" name="Text 26"/>
          <p:cNvSpPr txBox="1"/>
          <p:nvPr/>
        </p:nvSpPr>
        <p:spPr>
          <a:xfrm>
            <a:off x="5934456" y="29352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3</a:t>
            </a:r>
            <a:endParaRPr lang="en-US" sz="900" dirty="0"/>
          </a:p>
        </p:txBody>
      </p:sp>
      <p:sp>
        <p:nvSpPr>
          <p:cNvPr id="31" name="Text 27"/>
          <p:cNvSpPr txBox="1"/>
          <p:nvPr/>
        </p:nvSpPr>
        <p:spPr>
          <a:xfrm>
            <a:off x="6309360" y="2779776"/>
            <a:ext cx="2331720" cy="56692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Completed Jobs</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Invoiced. Watch for a Failed Charge tag</a:t>
            </a:r>
            <a:endParaRPr lang="en-US" sz="1050" dirty="0"/>
          </a:p>
        </p:txBody>
      </p:sp>
      <p:sp>
        <p:nvSpPr>
          <p:cNvPr id="32" name="Shape 28"/>
          <p:cNvSpPr/>
          <p:nvPr/>
        </p:nvSpPr>
        <p:spPr>
          <a:xfrm>
            <a:off x="5806440" y="3483864"/>
            <a:ext cx="2926080" cy="658368"/>
          </a:xfrm>
          <a:prstGeom prst="roundRect">
            <a:avLst>
              <a:gd name="adj" fmla="val 11111"/>
            </a:avLst>
          </a:prstGeom>
          <a:solidFill>
            <a:srgbClr val="FFFFFF"/>
          </a:solidFill>
          <a:ln w="9525">
            <a:solidFill>
              <a:srgbClr val="DCE1E7"/>
            </a:solidFill>
            <a:prstDash val="solid"/>
          </a:ln>
        </p:spPr>
      </p:sp>
      <p:sp>
        <p:nvSpPr>
          <p:cNvPr id="33" name="Shape 29"/>
          <p:cNvSpPr/>
          <p:nvPr/>
        </p:nvSpPr>
        <p:spPr>
          <a:xfrm>
            <a:off x="5934456" y="3685032"/>
            <a:ext cx="256032" cy="256032"/>
          </a:xfrm>
          <a:prstGeom prst="ellipse">
            <a:avLst/>
          </a:prstGeom>
          <a:solidFill>
            <a:srgbClr val="0B7A6F"/>
          </a:solidFill>
          <a:ln w="12700">
            <a:solidFill>
              <a:srgbClr val="0B7A6F"/>
            </a:solidFill>
            <a:prstDash val="solid"/>
          </a:ln>
        </p:spPr>
      </p:sp>
      <p:sp>
        <p:nvSpPr>
          <p:cNvPr id="34" name="Text 30"/>
          <p:cNvSpPr txBox="1"/>
          <p:nvPr/>
        </p:nvSpPr>
        <p:spPr>
          <a:xfrm>
            <a:off x="5934456" y="36850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4</a:t>
            </a:r>
            <a:endParaRPr lang="en-US" sz="900" dirty="0"/>
          </a:p>
        </p:txBody>
      </p:sp>
      <p:sp>
        <p:nvSpPr>
          <p:cNvPr id="35" name="Text 31"/>
          <p:cNvSpPr txBox="1"/>
          <p:nvPr/>
        </p:nvSpPr>
        <p:spPr>
          <a:xfrm>
            <a:off x="6309360" y="3529584"/>
            <a:ext cx="2331720" cy="566928"/>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Cancelled Jobs</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Cancelled at any stage</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  ·  SUBMITTED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Submitted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job is officially requested and sent to available cleaners nearby.</a:t>
            </a:r>
            <a:endParaRPr lang="en-US" sz="1200" dirty="0"/>
          </a:p>
        </p:txBody>
      </p:sp>
      <p:sp>
        <p:nvSpPr>
          <p:cNvPr id="6" name="Shape 3"/>
          <p:cNvSpPr/>
          <p:nvPr/>
        </p:nvSpPr>
        <p:spPr>
          <a:xfrm>
            <a:off x="411480" y="1417320"/>
            <a:ext cx="1977390" cy="1737360"/>
          </a:xfrm>
          <a:prstGeom prst="roundRect">
            <a:avLst>
              <a:gd name="adj" fmla="val 4211"/>
            </a:avLst>
          </a:prstGeom>
          <a:solidFill>
            <a:srgbClr val="FFFFFF"/>
          </a:solidFill>
          <a:ln w="9525">
            <a:solidFill>
              <a:srgbClr val="DCE1E7"/>
            </a:solidFill>
            <a:prstDash val="solid"/>
          </a:ln>
        </p:spPr>
      </p:sp>
      <p:sp>
        <p:nvSpPr>
          <p:cNvPr id="7" name="Shape 4"/>
          <p:cNvSpPr/>
          <p:nvPr/>
        </p:nvSpPr>
        <p:spPr>
          <a:xfrm>
            <a:off x="576072" y="158191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660916"/>
            <a:ext cx="171176" cy="171176"/>
          </a:xfrm>
          <a:prstGeom prst="rect">
            <a:avLst/>
          </a:prstGeom>
        </p:spPr>
      </p:pic>
      <p:sp>
        <p:nvSpPr>
          <p:cNvPr id="9" name="Text 5"/>
          <p:cNvSpPr txBox="1"/>
          <p:nvPr/>
        </p:nvSpPr>
        <p:spPr>
          <a:xfrm>
            <a:off x="576072" y="202082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Who can book</a:t>
            </a:r>
            <a:endParaRPr lang="en-US" sz="1200" dirty="0"/>
          </a:p>
        </p:txBody>
      </p:sp>
      <p:sp>
        <p:nvSpPr>
          <p:cNvPr id="10" name="Text 6"/>
          <p:cNvSpPr txBox="1"/>
          <p:nvPr/>
        </p:nvSpPr>
        <p:spPr>
          <a:xfrm>
            <a:off x="576072" y="2313432"/>
            <a:ext cx="1648206" cy="7498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Customers, cleaners for repeat clients, and CS via the CRM.</a:t>
            </a:r>
            <a:endParaRPr lang="en-US" sz="950" dirty="0"/>
          </a:p>
        </p:txBody>
      </p:sp>
      <p:sp>
        <p:nvSpPr>
          <p:cNvPr id="11" name="Shape 7"/>
          <p:cNvSpPr/>
          <p:nvPr/>
        </p:nvSpPr>
        <p:spPr>
          <a:xfrm>
            <a:off x="2526030" y="1417320"/>
            <a:ext cx="1977390" cy="1737360"/>
          </a:xfrm>
          <a:prstGeom prst="roundRect">
            <a:avLst>
              <a:gd name="adj" fmla="val 4211"/>
            </a:avLst>
          </a:prstGeom>
          <a:solidFill>
            <a:srgbClr val="FFFFFF"/>
          </a:solidFill>
          <a:ln w="9525">
            <a:solidFill>
              <a:srgbClr val="DCE1E7"/>
            </a:solidFill>
            <a:prstDash val="solid"/>
          </a:ln>
        </p:spPr>
      </p:sp>
      <p:sp>
        <p:nvSpPr>
          <p:cNvPr id="12" name="Shape 8"/>
          <p:cNvSpPr/>
          <p:nvPr/>
        </p:nvSpPr>
        <p:spPr>
          <a:xfrm>
            <a:off x="2690622" y="158191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2769626" y="1660916"/>
            <a:ext cx="171176" cy="171176"/>
          </a:xfrm>
          <a:prstGeom prst="rect">
            <a:avLst/>
          </a:prstGeom>
        </p:spPr>
      </p:pic>
      <p:sp>
        <p:nvSpPr>
          <p:cNvPr id="14" name="Text 9"/>
          <p:cNvSpPr txBox="1"/>
          <p:nvPr/>
        </p:nvSpPr>
        <p:spPr>
          <a:xfrm>
            <a:off x="2690622" y="202082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12 and 48 hours</a:t>
            </a:r>
            <a:endParaRPr lang="en-US" sz="1200" dirty="0"/>
          </a:p>
        </p:txBody>
      </p:sp>
      <p:sp>
        <p:nvSpPr>
          <p:cNvPr id="15" name="Text 10"/>
          <p:cNvSpPr txBox="1"/>
          <p:nvPr/>
        </p:nvSpPr>
        <p:spPr>
          <a:xfrm>
            <a:off x="2690622" y="2313432"/>
            <a:ext cx="1648206" cy="7498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Book at least 12 hrs ahead. Under 48 hrs adds a priority fee.</a:t>
            </a:r>
            <a:endParaRPr lang="en-US" sz="950" dirty="0"/>
          </a:p>
        </p:txBody>
      </p:sp>
      <p:sp>
        <p:nvSpPr>
          <p:cNvPr id="16" name="Shape 11"/>
          <p:cNvSpPr/>
          <p:nvPr/>
        </p:nvSpPr>
        <p:spPr>
          <a:xfrm>
            <a:off x="4640580" y="1417320"/>
            <a:ext cx="1977390" cy="1737360"/>
          </a:xfrm>
          <a:prstGeom prst="roundRect">
            <a:avLst>
              <a:gd name="adj" fmla="val 4211"/>
            </a:avLst>
          </a:prstGeom>
          <a:solidFill>
            <a:srgbClr val="FFFFFF"/>
          </a:solidFill>
          <a:ln w="9525">
            <a:solidFill>
              <a:srgbClr val="DCE1E7"/>
            </a:solidFill>
            <a:prstDash val="solid"/>
          </a:ln>
        </p:spPr>
      </p:sp>
      <p:sp>
        <p:nvSpPr>
          <p:cNvPr id="17" name="Shape 12"/>
          <p:cNvSpPr/>
          <p:nvPr/>
        </p:nvSpPr>
        <p:spPr>
          <a:xfrm>
            <a:off x="4805172" y="158191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4884176" y="1660916"/>
            <a:ext cx="171176" cy="171176"/>
          </a:xfrm>
          <a:prstGeom prst="rect">
            <a:avLst/>
          </a:prstGeom>
        </p:spPr>
      </p:pic>
      <p:sp>
        <p:nvSpPr>
          <p:cNvPr id="19" name="Text 13"/>
          <p:cNvSpPr txBox="1"/>
          <p:nvPr/>
        </p:nvSpPr>
        <p:spPr>
          <a:xfrm>
            <a:off x="4805172" y="202082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Alternate times</a:t>
            </a:r>
            <a:endParaRPr lang="en-US" sz="1200" dirty="0"/>
          </a:p>
        </p:txBody>
      </p:sp>
      <p:sp>
        <p:nvSpPr>
          <p:cNvPr id="20" name="Text 14"/>
          <p:cNvSpPr txBox="1"/>
          <p:nvPr/>
        </p:nvSpPr>
        <p:spPr>
          <a:xfrm>
            <a:off x="4805172" y="2313432"/>
            <a:ext cx="1648206" cy="7498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Unclaimed 24 hrs before start? The system adds alternate times.</a:t>
            </a:r>
            <a:endParaRPr lang="en-US" sz="950" dirty="0"/>
          </a:p>
        </p:txBody>
      </p:sp>
      <p:sp>
        <p:nvSpPr>
          <p:cNvPr id="21" name="Shape 15"/>
          <p:cNvSpPr/>
          <p:nvPr/>
        </p:nvSpPr>
        <p:spPr>
          <a:xfrm>
            <a:off x="6755130" y="1417320"/>
            <a:ext cx="1977390" cy="1737360"/>
          </a:xfrm>
          <a:prstGeom prst="roundRect">
            <a:avLst>
              <a:gd name="adj" fmla="val 4211"/>
            </a:avLst>
          </a:prstGeom>
          <a:solidFill>
            <a:srgbClr val="FFFFFF"/>
          </a:solidFill>
          <a:ln w="9525">
            <a:solidFill>
              <a:srgbClr val="DCE1E7"/>
            </a:solidFill>
            <a:prstDash val="solid"/>
          </a:ln>
        </p:spPr>
      </p:sp>
      <p:sp>
        <p:nvSpPr>
          <p:cNvPr id="22" name="Shape 16"/>
          <p:cNvSpPr/>
          <p:nvPr/>
        </p:nvSpPr>
        <p:spPr>
          <a:xfrm>
            <a:off x="6919722" y="1581912"/>
            <a:ext cx="329184" cy="329184"/>
          </a:xfrm>
          <a:prstGeom prst="ellipse">
            <a:avLst/>
          </a:prstGeom>
          <a:solidFill>
            <a:srgbClr val="E3F4F1"/>
          </a:solidFill>
          <a:ln w="12700">
            <a:solidFill>
              <a:srgbClr val="E3F4F1"/>
            </a:solidFill>
            <a:prstDash val="solid"/>
          </a:ln>
        </p:spPr>
      </p:sp>
      <p:pic>
        <p:nvPicPr>
          <p:cNvPr id="23" name="Image 3" descr="preencoded.png">    </p:cNvPr>
          <p:cNvPicPr>
            <a:picLocks noChangeAspect="1"/>
          </p:cNvPicPr>
          <p:nvPr/>
        </p:nvPicPr>
        <p:blipFill>
          <a:blip r:embed="rId4"/>
          <a:stretch>
            <a:fillRect/>
          </a:stretch>
        </p:blipFill>
        <p:spPr>
          <a:xfrm>
            <a:off x="6998726" y="1660916"/>
            <a:ext cx="171176" cy="171176"/>
          </a:xfrm>
          <a:prstGeom prst="rect">
            <a:avLst/>
          </a:prstGeom>
        </p:spPr>
      </p:pic>
      <p:sp>
        <p:nvSpPr>
          <p:cNvPr id="24" name="Text 17"/>
          <p:cNvSpPr txBox="1"/>
          <p:nvPr/>
        </p:nvSpPr>
        <p:spPr>
          <a:xfrm>
            <a:off x="6919722" y="202082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Priority Request</a:t>
            </a:r>
            <a:endParaRPr lang="en-US" sz="1200" dirty="0"/>
          </a:p>
        </p:txBody>
      </p:sp>
      <p:sp>
        <p:nvSpPr>
          <p:cNvPr id="25" name="Text 18"/>
          <p:cNvSpPr txBox="1"/>
          <p:nvPr/>
        </p:nvSpPr>
        <p:spPr>
          <a:xfrm>
            <a:off x="6919722" y="2313432"/>
            <a:ext cx="1648206" cy="7498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Within 24–48 hrs of start, the job is boosted to more cleaners.</a:t>
            </a:r>
            <a:endParaRPr lang="en-US" sz="950" dirty="0"/>
          </a:p>
        </p:txBody>
      </p:sp>
      <p:sp>
        <p:nvSpPr>
          <p:cNvPr id="26" name="Shape 19"/>
          <p:cNvSpPr/>
          <p:nvPr/>
        </p:nvSpPr>
        <p:spPr>
          <a:xfrm>
            <a:off x="411480" y="3383280"/>
            <a:ext cx="8321040" cy="384048"/>
          </a:xfrm>
          <a:prstGeom prst="roundRect">
            <a:avLst>
              <a:gd name="adj" fmla="val 19048"/>
            </a:avLst>
          </a:prstGeom>
          <a:solidFill>
            <a:srgbClr val="FFF3D6"/>
          </a:solidFill>
          <a:ln w="9525">
            <a:solidFill>
              <a:srgbClr val="FFF3D6"/>
            </a:solidFill>
            <a:prstDash val="solid"/>
          </a:ln>
        </p:spPr>
      </p:sp>
      <p:pic>
        <p:nvPicPr>
          <p:cNvPr id="27" name="Image 4" descr="preencoded.png">    </p:cNvPr>
          <p:cNvPicPr>
            <a:picLocks noChangeAspect="1"/>
          </p:cNvPicPr>
          <p:nvPr/>
        </p:nvPicPr>
        <p:blipFill>
          <a:blip r:embed="rId5"/>
          <a:stretch>
            <a:fillRect/>
          </a:stretch>
        </p:blipFill>
        <p:spPr>
          <a:xfrm>
            <a:off x="566928" y="3493008"/>
            <a:ext cx="164592" cy="164592"/>
          </a:xfrm>
          <a:prstGeom prst="rect">
            <a:avLst/>
          </a:prstGeom>
        </p:spPr>
      </p:pic>
      <p:sp>
        <p:nvSpPr>
          <p:cNvPr id="28" name="Text 20"/>
          <p:cNvSpPr txBox="1"/>
          <p:nvPr/>
        </p:nvSpPr>
        <p:spPr>
          <a:xfrm>
            <a:off x="822960" y="34838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Customer can't do alternate times?  </a:t>
            </a:r>
            <a:pPr indent="0" marL="0">
              <a:buNone/>
            </a:pPr>
            <a:r>
              <a:rPr lang="en-US" sz="1000" dirty="0">
                <a:solidFill>
                  <a:srgbClr val="1D1D1F"/>
                </a:solidFill>
                <a:latin typeface="SF Pro Text" pitchFamily="34" charset="0"/>
                <a:ea typeface="SF Pro Text" pitchFamily="34" charset="-122"/>
                <a:cs typeface="SF Pro Text" pitchFamily="34" charset="-120"/>
              </a:rPr>
              <a:t>add the do_not_auto_add_alternate_start_times flag (C CRM &gt; Do).</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  ·  SUBMITTED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Common tickets: Submitted Stage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What customers ask while the job waits for a cleaner.</a:t>
            </a:r>
            <a:endParaRPr lang="en-US" sz="1200" dirty="0"/>
          </a:p>
        </p:txBody>
      </p:sp>
      <p:sp>
        <p:nvSpPr>
          <p:cNvPr id="6" name="Shape 3"/>
          <p:cNvSpPr/>
          <p:nvPr/>
        </p:nvSpPr>
        <p:spPr>
          <a:xfrm>
            <a:off x="411480" y="1298448"/>
            <a:ext cx="8321040" cy="621792"/>
          </a:xfrm>
          <a:prstGeom prst="roundRect">
            <a:avLst>
              <a:gd name="adj" fmla="val 11765"/>
            </a:avLst>
          </a:prstGeom>
          <a:solidFill>
            <a:srgbClr val="FFFFFF"/>
          </a:solidFill>
          <a:ln w="9525">
            <a:solidFill>
              <a:srgbClr val="DCE1E7"/>
            </a:solidFill>
            <a:prstDash val="solid"/>
          </a:ln>
        </p:spPr>
      </p:sp>
      <p:sp>
        <p:nvSpPr>
          <p:cNvPr id="7" name="Shape 4"/>
          <p:cNvSpPr/>
          <p:nvPr/>
        </p:nvSpPr>
        <p:spPr>
          <a:xfrm>
            <a:off x="548640" y="1481328"/>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4813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984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Match anxiety</a:t>
            </a:r>
            <a:endParaRPr lang="en-US" sz="1050" dirty="0"/>
          </a:p>
          <a:p>
            <a:pPr indent="0" marL="0">
              <a:buNone/>
            </a:pPr>
            <a:r>
              <a:rPr lang="en-US" sz="850" i="1" dirty="0">
                <a:solidFill>
                  <a:srgbClr val="6E6E73"/>
                </a:solidFill>
                <a:latin typeface="SF Pro Text" pitchFamily="34" charset="0"/>
                <a:ea typeface="SF Pro Text" pitchFamily="34" charset="-122"/>
                <a:cs typeface="SF Pro Text" pitchFamily="34" charset="-120"/>
              </a:rPr>
              <a:t>"Has my request been claimed? When will it be?"</a:t>
            </a:r>
            <a:endParaRPr lang="en-US" sz="1050" dirty="0"/>
          </a:p>
        </p:txBody>
      </p:sp>
      <p:sp>
        <p:nvSpPr>
          <p:cNvPr id="10" name="Text 7"/>
          <p:cNvSpPr txBox="1"/>
          <p:nvPr/>
        </p:nvSpPr>
        <p:spPr>
          <a:xfrm>
            <a:off x="3566160" y="1298448"/>
            <a:ext cx="507492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A submitted job is automatically upgraded to a Priority Request within 24–48 hours of the start time.</a:t>
            </a:r>
            <a:endParaRPr lang="en-US" sz="950" dirty="0"/>
          </a:p>
        </p:txBody>
      </p:sp>
      <p:sp>
        <p:nvSpPr>
          <p:cNvPr id="11" name="Shape 8"/>
          <p:cNvSpPr/>
          <p:nvPr/>
        </p:nvSpPr>
        <p:spPr>
          <a:xfrm>
            <a:off x="411480" y="1984248"/>
            <a:ext cx="8321040" cy="621792"/>
          </a:xfrm>
          <a:prstGeom prst="roundRect">
            <a:avLst>
              <a:gd name="adj" fmla="val 11765"/>
            </a:avLst>
          </a:prstGeom>
          <a:solidFill>
            <a:srgbClr val="FFFFFF"/>
          </a:solidFill>
          <a:ln w="9525">
            <a:solidFill>
              <a:srgbClr val="DCE1E7"/>
            </a:solidFill>
            <a:prstDash val="solid"/>
          </a:ln>
        </p:spPr>
      </p:sp>
      <p:sp>
        <p:nvSpPr>
          <p:cNvPr id="12" name="Shape 9"/>
          <p:cNvSpPr/>
          <p:nvPr/>
        </p:nvSpPr>
        <p:spPr>
          <a:xfrm>
            <a:off x="548640" y="2167128"/>
            <a:ext cx="274320" cy="274320"/>
          </a:xfrm>
          <a:prstGeom prst="ellipse">
            <a:avLst/>
          </a:prstGeom>
          <a:solidFill>
            <a:srgbClr val="E3F4F1"/>
          </a:solidFill>
          <a:ln w="12700">
            <a:solidFill>
              <a:srgbClr val="E3F4F1"/>
            </a:solidFill>
            <a:prstDash val="solid"/>
          </a:ln>
        </p:spPr>
      </p:sp>
      <p:sp>
        <p:nvSpPr>
          <p:cNvPr id="13" name="Text 10"/>
          <p:cNvSpPr txBox="1"/>
          <p:nvPr/>
        </p:nvSpPr>
        <p:spPr>
          <a:xfrm>
            <a:off x="548640" y="21671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960120" y="19842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Last-minute job request</a:t>
            </a:r>
            <a:endParaRPr lang="en-US" sz="1050" dirty="0"/>
          </a:p>
        </p:txBody>
      </p:sp>
      <p:sp>
        <p:nvSpPr>
          <p:cNvPr id="15" name="Text 12"/>
          <p:cNvSpPr txBox="1"/>
          <p:nvPr/>
        </p:nvSpPr>
        <p:spPr>
          <a:xfrm>
            <a:off x="3566160" y="1984248"/>
            <a:ext cx="507492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CS can book a cleaning less than 12 hours in advance through the CRM. Priority markups don't apply to jobs booked via the CRM.</a:t>
            </a:r>
            <a:endParaRPr lang="en-US" sz="950" dirty="0"/>
          </a:p>
        </p:txBody>
      </p:sp>
      <p:sp>
        <p:nvSpPr>
          <p:cNvPr id="16" name="Shape 13"/>
          <p:cNvSpPr/>
          <p:nvPr/>
        </p:nvSpPr>
        <p:spPr>
          <a:xfrm>
            <a:off x="411480" y="2670048"/>
            <a:ext cx="8321040" cy="621792"/>
          </a:xfrm>
          <a:prstGeom prst="roundRect">
            <a:avLst>
              <a:gd name="adj" fmla="val 11765"/>
            </a:avLst>
          </a:prstGeom>
          <a:solidFill>
            <a:srgbClr val="FFFFFF"/>
          </a:solidFill>
          <a:ln w="9525">
            <a:solidFill>
              <a:srgbClr val="DCE1E7"/>
            </a:solidFill>
            <a:prstDash val="solid"/>
          </a:ln>
        </p:spPr>
      </p:sp>
      <p:sp>
        <p:nvSpPr>
          <p:cNvPr id="17" name="Shape 14"/>
          <p:cNvSpPr/>
          <p:nvPr/>
        </p:nvSpPr>
        <p:spPr>
          <a:xfrm>
            <a:off x="548640" y="2852928"/>
            <a:ext cx="274320" cy="274320"/>
          </a:xfrm>
          <a:prstGeom prst="ellipse">
            <a:avLst/>
          </a:prstGeom>
          <a:solidFill>
            <a:srgbClr val="E3F4F1"/>
          </a:solidFill>
          <a:ln w="12700">
            <a:solidFill>
              <a:srgbClr val="E3F4F1"/>
            </a:solidFill>
            <a:prstDash val="solid"/>
          </a:ln>
        </p:spPr>
      </p:sp>
      <p:sp>
        <p:nvSpPr>
          <p:cNvPr id="18" name="Text 15"/>
          <p:cNvSpPr txBox="1"/>
          <p:nvPr/>
        </p:nvSpPr>
        <p:spPr>
          <a:xfrm>
            <a:off x="548640" y="28529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960120" y="26700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Wants a cleaner of a specific gender</a:t>
            </a:r>
            <a:endParaRPr lang="en-US" sz="1050" dirty="0"/>
          </a:p>
        </p:txBody>
      </p:sp>
      <p:sp>
        <p:nvSpPr>
          <p:cNvPr id="20" name="Text 17"/>
          <p:cNvSpPr txBox="1"/>
          <p:nvPr/>
        </p:nvSpPr>
        <p:spPr>
          <a:xfrm>
            <a:off x="3566160" y="2670048"/>
            <a:ext cx="507492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There's no gender option. They can rematch any time 6+ hours before start, and add preferences to the cleaning notes.</a:t>
            </a:r>
            <a:endParaRPr lang="en-US" sz="950" dirty="0"/>
          </a:p>
        </p:txBody>
      </p:sp>
      <p:sp>
        <p:nvSpPr>
          <p:cNvPr id="21" name="Shape 18"/>
          <p:cNvSpPr/>
          <p:nvPr/>
        </p:nvSpPr>
        <p:spPr>
          <a:xfrm>
            <a:off x="411480" y="3355848"/>
            <a:ext cx="8321040" cy="621792"/>
          </a:xfrm>
          <a:prstGeom prst="roundRect">
            <a:avLst>
              <a:gd name="adj" fmla="val 11765"/>
            </a:avLst>
          </a:prstGeom>
          <a:solidFill>
            <a:srgbClr val="FFFFFF"/>
          </a:solidFill>
          <a:ln w="9525">
            <a:solidFill>
              <a:srgbClr val="DCE1E7"/>
            </a:solidFill>
            <a:prstDash val="solid"/>
          </a:ln>
        </p:spPr>
      </p:sp>
      <p:sp>
        <p:nvSpPr>
          <p:cNvPr id="22" name="Shape 19"/>
          <p:cNvSpPr/>
          <p:nvPr/>
        </p:nvSpPr>
        <p:spPr>
          <a:xfrm>
            <a:off x="548640" y="3538728"/>
            <a:ext cx="274320" cy="274320"/>
          </a:xfrm>
          <a:prstGeom prst="ellipse">
            <a:avLst/>
          </a:prstGeom>
          <a:solidFill>
            <a:srgbClr val="E3F4F1"/>
          </a:solidFill>
          <a:ln w="12700">
            <a:solidFill>
              <a:srgbClr val="E3F4F1"/>
            </a:solidFill>
            <a:prstDash val="solid"/>
          </a:ln>
        </p:spPr>
      </p:sp>
      <p:sp>
        <p:nvSpPr>
          <p:cNvPr id="23" name="Text 20"/>
          <p:cNvSpPr txBox="1"/>
          <p:nvPr/>
        </p:nvSpPr>
        <p:spPr>
          <a:xfrm>
            <a:off x="548640" y="3538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4" name="Text 21"/>
          <p:cNvSpPr txBox="1"/>
          <p:nvPr/>
        </p:nvSpPr>
        <p:spPr>
          <a:xfrm>
            <a:off x="960120" y="33558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Wants a specific cleaner</a:t>
            </a:r>
            <a:endParaRPr lang="en-US" sz="1050" dirty="0"/>
          </a:p>
        </p:txBody>
      </p:sp>
      <p:sp>
        <p:nvSpPr>
          <p:cNvPr id="25" name="Text 22"/>
          <p:cNvSpPr txBox="1"/>
          <p:nvPr/>
        </p:nvSpPr>
        <p:spPr>
          <a:xfrm>
            <a:off x="3566160" y="3355848"/>
            <a:ext cx="397764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Change their Requested CPs on the Job Admin Page, only if they explicitly ask.</a:t>
            </a:r>
            <a:endParaRPr lang="en-US" sz="950" dirty="0"/>
          </a:p>
        </p:txBody>
      </p:sp>
      <p:sp>
        <p:nvSpPr>
          <p:cNvPr id="26" name="Shape 23"/>
          <p:cNvSpPr/>
          <p:nvPr/>
        </p:nvSpPr>
        <p:spPr>
          <a:xfrm>
            <a:off x="7589520" y="3538728"/>
            <a:ext cx="1005840" cy="256032"/>
          </a:xfrm>
          <a:prstGeom prst="roundRect">
            <a:avLst>
              <a:gd name="adj" fmla="val 28571"/>
            </a:avLst>
          </a:prstGeom>
          <a:solidFill>
            <a:srgbClr val="FFF3D6"/>
          </a:solidFill>
          <a:ln w="9525">
            <a:solidFill>
              <a:srgbClr val="FFF3D6"/>
            </a:solidFill>
            <a:prstDash val="solid"/>
          </a:ln>
        </p:spPr>
      </p:sp>
      <p:sp>
        <p:nvSpPr>
          <p:cNvPr id="27" name="Text 24"/>
          <p:cNvSpPr txBox="1"/>
          <p:nvPr/>
        </p:nvSpPr>
        <p:spPr>
          <a:xfrm>
            <a:off x="7589520" y="3538728"/>
            <a:ext cx="1005840" cy="256032"/>
          </a:xfrm>
          <a:prstGeom prst="rect">
            <a:avLst/>
          </a:prstGeom>
          <a:no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Trainer demo</a:t>
            </a:r>
            <a:endParaRPr lang="en-US" sz="800" dirty="0"/>
          </a:p>
        </p:txBody>
      </p:sp>
      <p:sp>
        <p:nvSpPr>
          <p:cNvPr id="28" name="Shape 25"/>
          <p:cNvSpPr/>
          <p:nvPr/>
        </p:nvSpPr>
        <p:spPr>
          <a:xfrm>
            <a:off x="411480" y="4041648"/>
            <a:ext cx="8321040" cy="621792"/>
          </a:xfrm>
          <a:prstGeom prst="roundRect">
            <a:avLst>
              <a:gd name="adj" fmla="val 11765"/>
            </a:avLst>
          </a:prstGeom>
          <a:solidFill>
            <a:srgbClr val="FFFFFF"/>
          </a:solidFill>
          <a:ln w="9525">
            <a:solidFill>
              <a:srgbClr val="DCE1E7"/>
            </a:solidFill>
            <a:prstDash val="solid"/>
          </a:ln>
        </p:spPr>
      </p:sp>
      <p:sp>
        <p:nvSpPr>
          <p:cNvPr id="29" name="Shape 26"/>
          <p:cNvSpPr/>
          <p:nvPr/>
        </p:nvSpPr>
        <p:spPr>
          <a:xfrm>
            <a:off x="548640" y="4224528"/>
            <a:ext cx="274320" cy="274320"/>
          </a:xfrm>
          <a:prstGeom prst="ellipse">
            <a:avLst/>
          </a:prstGeom>
          <a:solidFill>
            <a:srgbClr val="E3F4F1"/>
          </a:solidFill>
          <a:ln w="12700">
            <a:solidFill>
              <a:srgbClr val="E3F4F1"/>
            </a:solidFill>
            <a:prstDash val="solid"/>
          </a:ln>
        </p:spPr>
      </p:sp>
      <p:sp>
        <p:nvSpPr>
          <p:cNvPr id="30" name="Text 27"/>
          <p:cNvSpPr txBox="1"/>
          <p:nvPr/>
        </p:nvSpPr>
        <p:spPr>
          <a:xfrm>
            <a:off x="548640" y="42245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5</a:t>
            </a:r>
            <a:endParaRPr lang="en-US" sz="900" dirty="0"/>
          </a:p>
        </p:txBody>
      </p:sp>
      <p:sp>
        <p:nvSpPr>
          <p:cNvPr id="31" name="Text 28"/>
          <p:cNvSpPr txBox="1"/>
          <p:nvPr/>
        </p:nvSpPr>
        <p:spPr>
          <a:xfrm>
            <a:off x="960120" y="40416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Strict schedule, only certain dates/times</a:t>
            </a:r>
            <a:endParaRPr lang="en-US" sz="1050" dirty="0"/>
          </a:p>
        </p:txBody>
      </p:sp>
      <p:sp>
        <p:nvSpPr>
          <p:cNvPr id="32" name="Text 29"/>
          <p:cNvSpPr txBox="1"/>
          <p:nvPr/>
        </p:nvSpPr>
        <p:spPr>
          <a:xfrm>
            <a:off x="3566160" y="4041648"/>
            <a:ext cx="507492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Unclaimed 24 hrs before start, the system may add alternate times. To stop it: New CRM › Flags › + Add Flags › do_not_auto_add_alternate_start_times.</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  ·  CLAIMED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Claimed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cleaner claimed the job, and the customer gets the cleaner's info.</a:t>
            </a:r>
            <a:endParaRPr lang="en-US" sz="1200" dirty="0"/>
          </a:p>
        </p:txBody>
      </p:sp>
      <p:sp>
        <p:nvSpPr>
          <p:cNvPr id="6" name="Shape 3"/>
          <p:cNvSpPr/>
          <p:nvPr/>
        </p:nvSpPr>
        <p:spPr>
          <a:xfrm>
            <a:off x="411480" y="1280160"/>
            <a:ext cx="4091940" cy="2331720"/>
          </a:xfrm>
          <a:prstGeom prst="roundRect">
            <a:avLst>
              <a:gd name="adj" fmla="val 3137"/>
            </a:avLst>
          </a:prstGeom>
          <a:solidFill>
            <a:srgbClr val="FFFFFF"/>
          </a:solidFill>
          <a:ln w="9525">
            <a:solidFill>
              <a:srgbClr val="DCE1E7"/>
            </a:solidFill>
            <a:prstDash val="solid"/>
          </a:ln>
        </p:spPr>
      </p:sp>
      <p:sp>
        <p:nvSpPr>
          <p:cNvPr id="7" name="Shape 4"/>
          <p:cNvSpPr/>
          <p:nvPr/>
        </p:nvSpPr>
        <p:spPr>
          <a:xfrm>
            <a:off x="594360" y="146304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55212"/>
            <a:ext cx="199705" cy="199705"/>
          </a:xfrm>
          <a:prstGeom prst="rect">
            <a:avLst/>
          </a:prstGeom>
        </p:spPr>
      </p:pic>
      <p:sp>
        <p:nvSpPr>
          <p:cNvPr id="9" name="Text 5"/>
          <p:cNvSpPr txBox="1"/>
          <p:nvPr/>
        </p:nvSpPr>
        <p:spPr>
          <a:xfrm>
            <a:off x="1097280" y="146304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The customer can</a:t>
            </a:r>
            <a:endParaRPr lang="en-US" sz="1300" dirty="0"/>
          </a:p>
        </p:txBody>
      </p:sp>
      <p:sp>
        <p:nvSpPr>
          <p:cNvPr id="10" name="Text 6"/>
          <p:cNvSpPr txBox="1"/>
          <p:nvPr/>
        </p:nvSpPr>
        <p:spPr>
          <a:xfrm>
            <a:off x="594360" y="1993392"/>
            <a:ext cx="3726180" cy="150876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Reschedule 6+ hrs before start (not the 12-hour new-booking rule)</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Rematch: Manage Appointment &gt; Change My Cleaner, until 6 hrs before</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Cancel</a:t>
            </a:r>
            <a:endParaRPr lang="en-US" sz="1000" dirty="0"/>
          </a:p>
        </p:txBody>
      </p:sp>
      <p:sp>
        <p:nvSpPr>
          <p:cNvPr id="11" name="Shape 7"/>
          <p:cNvSpPr/>
          <p:nvPr/>
        </p:nvSpPr>
        <p:spPr>
          <a:xfrm>
            <a:off x="4640580" y="1280160"/>
            <a:ext cx="4091940" cy="2331720"/>
          </a:xfrm>
          <a:prstGeom prst="roundRect">
            <a:avLst>
              <a:gd name="adj" fmla="val 3137"/>
            </a:avLst>
          </a:prstGeom>
          <a:solidFill>
            <a:srgbClr val="FFFFFF"/>
          </a:solidFill>
          <a:ln w="9525">
            <a:solidFill>
              <a:srgbClr val="DCE1E7"/>
            </a:solidFill>
            <a:prstDash val="solid"/>
          </a:ln>
        </p:spPr>
      </p:sp>
      <p:sp>
        <p:nvSpPr>
          <p:cNvPr id="12" name="Shape 8"/>
          <p:cNvSpPr/>
          <p:nvPr/>
        </p:nvSpPr>
        <p:spPr>
          <a:xfrm>
            <a:off x="4823460" y="146304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555212"/>
            <a:ext cx="199705" cy="199705"/>
          </a:xfrm>
          <a:prstGeom prst="rect">
            <a:avLst/>
          </a:prstGeom>
        </p:spPr>
      </p:pic>
      <p:sp>
        <p:nvSpPr>
          <p:cNvPr id="14" name="Text 9"/>
          <p:cNvSpPr txBox="1"/>
          <p:nvPr/>
        </p:nvSpPr>
        <p:spPr>
          <a:xfrm>
            <a:off x="5326380" y="146304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The cleaner can</a:t>
            </a:r>
            <a:endParaRPr lang="en-US" sz="1300" dirty="0"/>
          </a:p>
        </p:txBody>
      </p:sp>
      <p:sp>
        <p:nvSpPr>
          <p:cNvPr id="15" name="Text 10"/>
          <p:cNvSpPr txBox="1"/>
          <p:nvPr/>
        </p:nvSpPr>
        <p:spPr>
          <a:xfrm>
            <a:off x="4823460" y="1993392"/>
            <a:ext cx="3726180" cy="150876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File a lockout claim</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Reschedule, if the customer agrees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Cancel from their dashboard if they can't agree</a:t>
            </a:r>
            <a:endParaRPr lang="en-US" sz="1000" dirty="0"/>
          </a:p>
        </p:txBody>
      </p:sp>
      <p:sp>
        <p:nvSpPr>
          <p:cNvPr id="16" name="Shape 11"/>
          <p:cNvSpPr/>
          <p:nvPr/>
        </p:nvSpPr>
        <p:spPr>
          <a:xfrm>
            <a:off x="411480" y="379476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904488"/>
            <a:ext cx="164592" cy="164592"/>
          </a:xfrm>
          <a:prstGeom prst="rect">
            <a:avLst/>
          </a:prstGeom>
        </p:spPr>
      </p:pic>
      <p:sp>
        <p:nvSpPr>
          <p:cNvPr id="18" name="Text 12"/>
          <p:cNvSpPr txBox="1"/>
          <p:nvPr/>
        </p:nvSpPr>
        <p:spPr>
          <a:xfrm>
            <a:off x="822960" y="38953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ZTP:  </a:t>
            </a:r>
            <a:pPr indent="0" marL="0">
              <a:buNone/>
            </a:pPr>
            <a:r>
              <a:rPr lang="en-US" sz="1000" dirty="0">
                <a:solidFill>
                  <a:srgbClr val="1D1D1F"/>
                </a:solidFill>
                <a:latin typeface="SF Pro Text" pitchFamily="34" charset="0"/>
                <a:ea typeface="SF Pro Text" pitchFamily="34" charset="-122"/>
                <a:cs typeface="SF Pro Text" pitchFamily="34" charset="-120"/>
              </a:rPr>
              <a:t>higher-tier cleaners may swap in. Swapping is internal: never mention it.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  ·  CLAIMED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Common tickets: Claimed Stage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What customers ask once a cleaner has claimed the job.</a:t>
            </a:r>
            <a:endParaRPr lang="en-US" sz="1200" dirty="0"/>
          </a:p>
        </p:txBody>
      </p:sp>
      <p:sp>
        <p:nvSpPr>
          <p:cNvPr id="6" name="Shape 3"/>
          <p:cNvSpPr/>
          <p:nvPr/>
        </p:nvSpPr>
        <p:spPr>
          <a:xfrm>
            <a:off x="411480" y="1298448"/>
            <a:ext cx="8321040" cy="621792"/>
          </a:xfrm>
          <a:prstGeom prst="roundRect">
            <a:avLst>
              <a:gd name="adj" fmla="val 11765"/>
            </a:avLst>
          </a:prstGeom>
          <a:solidFill>
            <a:srgbClr val="FFFFFF"/>
          </a:solidFill>
          <a:ln w="9525">
            <a:solidFill>
              <a:srgbClr val="DCE1E7"/>
            </a:solidFill>
            <a:prstDash val="solid"/>
          </a:ln>
        </p:spPr>
      </p:sp>
      <p:sp>
        <p:nvSpPr>
          <p:cNvPr id="7" name="Shape 4"/>
          <p:cNvSpPr/>
          <p:nvPr/>
        </p:nvSpPr>
        <p:spPr>
          <a:xfrm>
            <a:off x="548640" y="1481328"/>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4813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984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Claimed at a different date than booked</a:t>
            </a:r>
            <a:endParaRPr lang="en-US" sz="1050" dirty="0"/>
          </a:p>
        </p:txBody>
      </p:sp>
      <p:sp>
        <p:nvSpPr>
          <p:cNvPr id="10" name="Text 7"/>
          <p:cNvSpPr txBox="1"/>
          <p:nvPr/>
        </p:nvSpPr>
        <p:spPr>
          <a:xfrm>
            <a:off x="3566160" y="1298448"/>
            <a:ext cx="507492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Check the job history: was it claimed at an alternate date and time, or rescheduled by the cleaner?</a:t>
            </a:r>
            <a:endParaRPr lang="en-US" sz="950" dirty="0"/>
          </a:p>
        </p:txBody>
      </p:sp>
      <p:sp>
        <p:nvSpPr>
          <p:cNvPr id="11" name="Shape 8"/>
          <p:cNvSpPr/>
          <p:nvPr/>
        </p:nvSpPr>
        <p:spPr>
          <a:xfrm>
            <a:off x="411480" y="1984248"/>
            <a:ext cx="8321040" cy="621792"/>
          </a:xfrm>
          <a:prstGeom prst="roundRect">
            <a:avLst>
              <a:gd name="adj" fmla="val 11765"/>
            </a:avLst>
          </a:prstGeom>
          <a:solidFill>
            <a:srgbClr val="FFFFFF"/>
          </a:solidFill>
          <a:ln w="9525">
            <a:solidFill>
              <a:srgbClr val="DCE1E7"/>
            </a:solidFill>
            <a:prstDash val="solid"/>
          </a:ln>
        </p:spPr>
      </p:sp>
      <p:sp>
        <p:nvSpPr>
          <p:cNvPr id="12" name="Shape 9"/>
          <p:cNvSpPr/>
          <p:nvPr/>
        </p:nvSpPr>
        <p:spPr>
          <a:xfrm>
            <a:off x="548640" y="2167128"/>
            <a:ext cx="274320" cy="274320"/>
          </a:xfrm>
          <a:prstGeom prst="ellipse">
            <a:avLst/>
          </a:prstGeom>
          <a:solidFill>
            <a:srgbClr val="E3F4F1"/>
          </a:solidFill>
          <a:ln w="12700">
            <a:solidFill>
              <a:srgbClr val="E3F4F1"/>
            </a:solidFill>
            <a:prstDash val="solid"/>
          </a:ln>
        </p:spPr>
      </p:sp>
      <p:sp>
        <p:nvSpPr>
          <p:cNvPr id="13" name="Text 10"/>
          <p:cNvSpPr txBox="1"/>
          <p:nvPr/>
        </p:nvSpPr>
        <p:spPr>
          <a:xfrm>
            <a:off x="548640" y="21671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960120" y="19842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Confirmations from 2 different cleaners</a:t>
            </a:r>
            <a:endParaRPr lang="en-US" sz="1050" dirty="0"/>
          </a:p>
        </p:txBody>
      </p:sp>
      <p:sp>
        <p:nvSpPr>
          <p:cNvPr id="15" name="Text 12"/>
          <p:cNvSpPr txBox="1"/>
          <p:nvPr/>
        </p:nvSpPr>
        <p:spPr>
          <a:xfrm>
            <a:off x="3566160" y="1984248"/>
            <a:ext cx="507492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Check the job history: did the first cleaner cancel, or were they swapped out?</a:t>
            </a:r>
            <a:endParaRPr lang="en-US" sz="950" dirty="0"/>
          </a:p>
        </p:txBody>
      </p:sp>
      <p:sp>
        <p:nvSpPr>
          <p:cNvPr id="16" name="Shape 13"/>
          <p:cNvSpPr/>
          <p:nvPr/>
        </p:nvSpPr>
        <p:spPr>
          <a:xfrm>
            <a:off x="411480" y="2670048"/>
            <a:ext cx="8321040" cy="621792"/>
          </a:xfrm>
          <a:prstGeom prst="roundRect">
            <a:avLst>
              <a:gd name="adj" fmla="val 11765"/>
            </a:avLst>
          </a:prstGeom>
          <a:solidFill>
            <a:srgbClr val="FFFFFF"/>
          </a:solidFill>
          <a:ln w="9525">
            <a:solidFill>
              <a:srgbClr val="DCE1E7"/>
            </a:solidFill>
            <a:prstDash val="solid"/>
          </a:ln>
        </p:spPr>
      </p:sp>
      <p:sp>
        <p:nvSpPr>
          <p:cNvPr id="17" name="Shape 14"/>
          <p:cNvSpPr/>
          <p:nvPr/>
        </p:nvSpPr>
        <p:spPr>
          <a:xfrm>
            <a:off x="548640" y="2852928"/>
            <a:ext cx="274320" cy="274320"/>
          </a:xfrm>
          <a:prstGeom prst="ellipse">
            <a:avLst/>
          </a:prstGeom>
          <a:solidFill>
            <a:srgbClr val="E3F4F1"/>
          </a:solidFill>
          <a:ln w="12700">
            <a:solidFill>
              <a:srgbClr val="E3F4F1"/>
            </a:solidFill>
            <a:prstDash val="solid"/>
          </a:ln>
        </p:spPr>
      </p:sp>
      <p:sp>
        <p:nvSpPr>
          <p:cNvPr id="18" name="Text 15"/>
          <p:cNvSpPr txBox="1"/>
          <p:nvPr/>
        </p:nvSpPr>
        <p:spPr>
          <a:xfrm>
            <a:off x="548640" y="28529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960120" y="26700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Wants their cleaner changed</a:t>
            </a:r>
            <a:endParaRPr lang="en-US" sz="1050" dirty="0"/>
          </a:p>
        </p:txBody>
      </p:sp>
      <p:sp>
        <p:nvSpPr>
          <p:cNvPr id="20" name="Text 17"/>
          <p:cNvSpPr txBox="1"/>
          <p:nvPr/>
        </p:nvSpPr>
        <p:spPr>
          <a:xfrm>
            <a:off x="3566160" y="2670048"/>
            <a:ext cx="397764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Change the cleaner from the Job Admin Page.</a:t>
            </a:r>
            <a:endParaRPr lang="en-US" sz="950" dirty="0"/>
          </a:p>
        </p:txBody>
      </p:sp>
      <p:sp>
        <p:nvSpPr>
          <p:cNvPr id="21" name="Shape 18"/>
          <p:cNvSpPr/>
          <p:nvPr/>
        </p:nvSpPr>
        <p:spPr>
          <a:xfrm>
            <a:off x="7589520" y="2852928"/>
            <a:ext cx="1005840" cy="256032"/>
          </a:xfrm>
          <a:prstGeom prst="roundRect">
            <a:avLst>
              <a:gd name="adj" fmla="val 28571"/>
            </a:avLst>
          </a:prstGeom>
          <a:solidFill>
            <a:srgbClr val="FFF3D6"/>
          </a:solidFill>
          <a:ln w="9525">
            <a:solidFill>
              <a:srgbClr val="FFF3D6"/>
            </a:solidFill>
            <a:prstDash val="solid"/>
          </a:ln>
        </p:spPr>
      </p:sp>
      <p:sp>
        <p:nvSpPr>
          <p:cNvPr id="22" name="Text 19"/>
          <p:cNvSpPr txBox="1"/>
          <p:nvPr/>
        </p:nvSpPr>
        <p:spPr>
          <a:xfrm>
            <a:off x="7589520" y="2852928"/>
            <a:ext cx="1005840" cy="256032"/>
          </a:xfrm>
          <a:prstGeom prst="rect">
            <a:avLst/>
          </a:prstGeom>
          <a:no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Trainer demo</a:t>
            </a:r>
            <a:endParaRPr lang="en-US" sz="800" dirty="0"/>
          </a:p>
        </p:txBody>
      </p:sp>
      <p:sp>
        <p:nvSpPr>
          <p:cNvPr id="23" name="Shape 20"/>
          <p:cNvSpPr/>
          <p:nvPr/>
        </p:nvSpPr>
        <p:spPr>
          <a:xfrm>
            <a:off x="411480" y="3355848"/>
            <a:ext cx="8321040" cy="621792"/>
          </a:xfrm>
          <a:prstGeom prst="roundRect">
            <a:avLst>
              <a:gd name="adj" fmla="val 11765"/>
            </a:avLst>
          </a:prstGeom>
          <a:solidFill>
            <a:srgbClr val="FFFFFF"/>
          </a:solidFill>
          <a:ln w="9525">
            <a:solidFill>
              <a:srgbClr val="DCE1E7"/>
            </a:solidFill>
            <a:prstDash val="solid"/>
          </a:ln>
        </p:spPr>
      </p:sp>
      <p:sp>
        <p:nvSpPr>
          <p:cNvPr id="24" name="Shape 21"/>
          <p:cNvSpPr/>
          <p:nvPr/>
        </p:nvSpPr>
        <p:spPr>
          <a:xfrm>
            <a:off x="548640" y="3538728"/>
            <a:ext cx="274320" cy="274320"/>
          </a:xfrm>
          <a:prstGeom prst="ellipse">
            <a:avLst/>
          </a:prstGeom>
          <a:solidFill>
            <a:srgbClr val="E3F4F1"/>
          </a:solidFill>
          <a:ln w="12700">
            <a:solidFill>
              <a:srgbClr val="E3F4F1"/>
            </a:solidFill>
            <a:prstDash val="solid"/>
          </a:ln>
        </p:spPr>
      </p:sp>
      <p:sp>
        <p:nvSpPr>
          <p:cNvPr id="25" name="Text 22"/>
          <p:cNvSpPr txBox="1"/>
          <p:nvPr/>
        </p:nvSpPr>
        <p:spPr>
          <a:xfrm>
            <a:off x="548640" y="3538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6" name="Text 23"/>
          <p:cNvSpPr txBox="1"/>
          <p:nvPr/>
        </p:nvSpPr>
        <p:spPr>
          <a:xfrm>
            <a:off x="960120" y="3355848"/>
            <a:ext cx="2514600" cy="621792"/>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Wants the appointment rescheduled</a:t>
            </a:r>
            <a:endParaRPr lang="en-US" sz="1050" dirty="0"/>
          </a:p>
        </p:txBody>
      </p:sp>
      <p:sp>
        <p:nvSpPr>
          <p:cNvPr id="27" name="Text 24"/>
          <p:cNvSpPr txBox="1"/>
          <p:nvPr/>
        </p:nvSpPr>
        <p:spPr>
          <a:xfrm>
            <a:off x="3566160" y="3355848"/>
            <a:ext cx="5074920" cy="621792"/>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Reschedule from the C Dashboard, or cancel and rebook from the CRM if rescheduling would add a priority fee.</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  ·  INVOICED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Invoiced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cleaner clicked Charge Client. The customer is charged and the cleaner gets paid.</a:t>
            </a:r>
            <a:endParaRPr lang="en-US" sz="1200" dirty="0"/>
          </a:p>
        </p:txBody>
      </p:sp>
      <p:sp>
        <p:nvSpPr>
          <p:cNvPr id="6" name="Shape 3"/>
          <p:cNvSpPr/>
          <p:nvPr/>
        </p:nvSpPr>
        <p:spPr>
          <a:xfrm>
            <a:off x="411480" y="1280160"/>
            <a:ext cx="409194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94360" y="146304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55212"/>
            <a:ext cx="199705" cy="199705"/>
          </a:xfrm>
          <a:prstGeom prst="rect">
            <a:avLst/>
          </a:prstGeom>
        </p:spPr>
      </p:pic>
      <p:sp>
        <p:nvSpPr>
          <p:cNvPr id="9" name="Text 5"/>
          <p:cNvSpPr txBox="1"/>
          <p:nvPr/>
        </p:nvSpPr>
        <p:spPr>
          <a:xfrm>
            <a:off x="1097280" y="146304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The customer can</a:t>
            </a:r>
            <a:endParaRPr lang="en-US" sz="1300" dirty="0"/>
          </a:p>
        </p:txBody>
      </p:sp>
      <p:sp>
        <p:nvSpPr>
          <p:cNvPr id="10" name="Text 6"/>
          <p:cNvSpPr txBox="1"/>
          <p:nvPr/>
        </p:nvSpPr>
        <p:spPr>
          <a:xfrm>
            <a:off x="594360" y="1993392"/>
            <a:ext cx="3726180" cy="10058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Leave a review and tip</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Request a refund if there's an issue</a:t>
            </a:r>
            <a:endParaRPr lang="en-US" sz="1000" dirty="0"/>
          </a:p>
        </p:txBody>
      </p:sp>
      <p:sp>
        <p:nvSpPr>
          <p:cNvPr id="11" name="Shape 7"/>
          <p:cNvSpPr/>
          <p:nvPr/>
        </p:nvSpPr>
        <p:spPr>
          <a:xfrm>
            <a:off x="4640580" y="1280160"/>
            <a:ext cx="4091940" cy="1828800"/>
          </a:xfrm>
          <a:prstGeom prst="roundRect">
            <a:avLst>
              <a:gd name="adj" fmla="val 4000"/>
            </a:avLst>
          </a:prstGeom>
          <a:solidFill>
            <a:srgbClr val="FFFFFF"/>
          </a:solidFill>
          <a:ln w="9525">
            <a:solidFill>
              <a:srgbClr val="DCE1E7"/>
            </a:solidFill>
            <a:prstDash val="solid"/>
          </a:ln>
        </p:spPr>
      </p:sp>
      <p:sp>
        <p:nvSpPr>
          <p:cNvPr id="12" name="Shape 8"/>
          <p:cNvSpPr/>
          <p:nvPr/>
        </p:nvSpPr>
        <p:spPr>
          <a:xfrm>
            <a:off x="4823460" y="146304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555212"/>
            <a:ext cx="199705" cy="199705"/>
          </a:xfrm>
          <a:prstGeom prst="rect">
            <a:avLst/>
          </a:prstGeom>
        </p:spPr>
      </p:pic>
      <p:sp>
        <p:nvSpPr>
          <p:cNvPr id="14" name="Text 9"/>
          <p:cNvSpPr txBox="1"/>
          <p:nvPr/>
        </p:nvSpPr>
        <p:spPr>
          <a:xfrm>
            <a:off x="5326380" y="146304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The cleaner can</a:t>
            </a:r>
            <a:endParaRPr lang="en-US" sz="1300" dirty="0"/>
          </a:p>
        </p:txBody>
      </p:sp>
      <p:sp>
        <p:nvSpPr>
          <p:cNvPr id="15" name="Text 10"/>
          <p:cNvSpPr txBox="1"/>
          <p:nvPr/>
        </p:nvSpPr>
        <p:spPr>
          <a:xfrm>
            <a:off x="4823460" y="1993392"/>
            <a:ext cx="3726180" cy="10058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Issue a refund</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Review the customer in the CP App</a:t>
            </a:r>
            <a:endParaRPr lang="en-US" sz="1000" dirty="0"/>
          </a:p>
        </p:txBody>
      </p:sp>
      <p:sp>
        <p:nvSpPr>
          <p:cNvPr id="16" name="Shape 11"/>
          <p:cNvSpPr/>
          <p:nvPr/>
        </p:nvSpPr>
        <p:spPr>
          <a:xfrm>
            <a:off x="411480" y="333756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447288"/>
            <a:ext cx="164592" cy="164592"/>
          </a:xfrm>
          <a:prstGeom prst="rect">
            <a:avLst/>
          </a:prstGeom>
        </p:spPr>
      </p:pic>
      <p:sp>
        <p:nvSpPr>
          <p:cNvPr id="18" name="Text 12"/>
          <p:cNvSpPr txBox="1"/>
          <p:nvPr/>
        </p:nvSpPr>
        <p:spPr>
          <a:xfrm>
            <a:off x="822960" y="34381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Note:  </a:t>
            </a:r>
            <a:pPr indent="0" marL="0">
              <a:buNone/>
            </a:pPr>
            <a:r>
              <a:rPr lang="en-US" sz="1000" dirty="0">
                <a:solidFill>
                  <a:srgbClr val="1D1D1F"/>
                </a:solidFill>
                <a:latin typeface="SF Pro Text" pitchFamily="34" charset="0"/>
                <a:ea typeface="SF Pro Text" pitchFamily="34" charset="-122"/>
                <a:cs typeface="SF Pro Text" pitchFamily="34" charset="-120"/>
              </a:rPr>
              <a:t>a full refund changes an Invoiced job to Cancelled.</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  ·  CANCELLED</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Cancelled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Can happen at almost any stage. Why depends on where the job was.</a:t>
            </a:r>
            <a:endParaRPr lang="en-US" sz="1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737360"/>
                <a:gridCol w="6583680"/>
              </a:tblGrid>
              <a:tr h="384048">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Status before</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Why it was cancelled</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84048">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Pending</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Booked by the cleaner with Handshake, but the customer didn't confirm before it expired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Submitted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Cancelled by the customer, by CS in the CRM, or automatically by the system</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Claimed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Cleaner cancelled too late for another to claim, or the customer/CS cancelled or reported a no-show</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Pending Invoice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Cancelled by the customer or cleaner, or by CS in the CRM</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Invoiced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Fully refunded by the cleaner or CS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3840480"/>
            <a:ext cx="8321040" cy="384048"/>
          </a:xfrm>
          <a:prstGeom prst="roundRect">
            <a:avLst>
              <a:gd name="adj" fmla="val 19048"/>
            </a:avLst>
          </a:prstGeom>
          <a:solidFill>
            <a:srgbClr val="FFF3D6"/>
          </a:solidFill>
          <a:ln w="9525">
            <a:solidFill>
              <a:srgbClr val="FFF3D6"/>
            </a:solidFill>
            <a:prstDash val="solid"/>
          </a:ln>
        </p:spPr>
      </p:sp>
      <p:pic>
        <p:nvPicPr>
          <p:cNvPr id="8" name="Image 0" descr="preencoded.png">    </p:cNvPr>
          <p:cNvPicPr>
            <a:picLocks noChangeAspect="1"/>
          </p:cNvPicPr>
          <p:nvPr/>
        </p:nvPicPr>
        <p:blipFill>
          <a:blip r:embed="rId1"/>
          <a:stretch>
            <a:fillRect/>
          </a:stretch>
        </p:blipFill>
        <p:spPr>
          <a:xfrm>
            <a:off x="566928" y="3950208"/>
            <a:ext cx="164592" cy="164592"/>
          </a:xfrm>
          <a:prstGeom prst="rect">
            <a:avLst/>
          </a:prstGeom>
        </p:spPr>
      </p:pic>
      <p:sp>
        <p:nvSpPr>
          <p:cNvPr id="9" name="Text 4"/>
          <p:cNvSpPr txBox="1"/>
          <p:nvPr/>
        </p:nvSpPr>
        <p:spPr>
          <a:xfrm>
            <a:off x="822960" y="39410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Cancel via CRM:  </a:t>
            </a:r>
            <a:pPr indent="0" marL="0">
              <a:buNone/>
            </a:pPr>
            <a:r>
              <a:rPr lang="en-US" sz="1000" dirty="0">
                <a:solidFill>
                  <a:srgbClr val="1D1D1F"/>
                </a:solidFill>
                <a:latin typeface="SF Pro Text" pitchFamily="34" charset="0"/>
                <a:ea typeface="SF Pro Text" pitchFamily="34" charset="-122"/>
                <a:cs typeface="SF Pro Text" pitchFamily="34" charset="-120"/>
              </a:rPr>
              <a:t>you can waive last-minute fees, and the cleaner isn't penalized.</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  ·  PENDING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Pending Invoice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booked time has passed and the job isn't invoiced yet. The status changes automatically.</a:t>
            </a:r>
            <a:endParaRPr lang="en-US" sz="1200" dirty="0"/>
          </a:p>
        </p:txBody>
      </p:sp>
      <p:sp>
        <p:nvSpPr>
          <p:cNvPr id="6" name="Shape 3"/>
          <p:cNvSpPr/>
          <p:nvPr/>
        </p:nvSpPr>
        <p:spPr>
          <a:xfrm>
            <a:off x="411480" y="1280160"/>
            <a:ext cx="4091940" cy="2331720"/>
          </a:xfrm>
          <a:prstGeom prst="roundRect">
            <a:avLst>
              <a:gd name="adj" fmla="val 3137"/>
            </a:avLst>
          </a:prstGeom>
          <a:solidFill>
            <a:srgbClr val="FFFFFF"/>
          </a:solidFill>
          <a:ln w="9525">
            <a:solidFill>
              <a:srgbClr val="DCE1E7"/>
            </a:solidFill>
            <a:prstDash val="solid"/>
          </a:ln>
        </p:spPr>
      </p:sp>
      <p:sp>
        <p:nvSpPr>
          <p:cNvPr id="7" name="Shape 4"/>
          <p:cNvSpPr/>
          <p:nvPr/>
        </p:nvSpPr>
        <p:spPr>
          <a:xfrm>
            <a:off x="594360" y="146304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55212"/>
            <a:ext cx="199705" cy="199705"/>
          </a:xfrm>
          <a:prstGeom prst="rect">
            <a:avLst/>
          </a:prstGeom>
        </p:spPr>
      </p:pic>
      <p:sp>
        <p:nvSpPr>
          <p:cNvPr id="9" name="Text 5"/>
          <p:cNvSpPr txBox="1"/>
          <p:nvPr/>
        </p:nvSpPr>
        <p:spPr>
          <a:xfrm>
            <a:off x="1097280" y="146304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The customer can</a:t>
            </a:r>
            <a:endParaRPr lang="en-US" sz="1300" dirty="0"/>
          </a:p>
        </p:txBody>
      </p:sp>
      <p:sp>
        <p:nvSpPr>
          <p:cNvPr id="10" name="Text 6"/>
          <p:cNvSpPr txBox="1"/>
          <p:nvPr/>
        </p:nvSpPr>
        <p:spPr>
          <a:xfrm>
            <a:off x="594360" y="1993392"/>
            <a:ext cx="3726180" cy="150876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Report "My cleaning was completed" (this invoices it)</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Cancel. A last-minute fee may apply</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Edit duration, extras, address and notes</a:t>
            </a:r>
            <a:endParaRPr lang="en-US" sz="1000" dirty="0"/>
          </a:p>
        </p:txBody>
      </p:sp>
      <p:sp>
        <p:nvSpPr>
          <p:cNvPr id="11" name="Shape 7"/>
          <p:cNvSpPr/>
          <p:nvPr/>
        </p:nvSpPr>
        <p:spPr>
          <a:xfrm>
            <a:off x="4640580" y="1280160"/>
            <a:ext cx="4091940" cy="2331720"/>
          </a:xfrm>
          <a:prstGeom prst="roundRect">
            <a:avLst>
              <a:gd name="adj" fmla="val 3137"/>
            </a:avLst>
          </a:prstGeom>
          <a:solidFill>
            <a:srgbClr val="FFFFFF"/>
          </a:solidFill>
          <a:ln w="9525">
            <a:solidFill>
              <a:srgbClr val="DCE1E7"/>
            </a:solidFill>
            <a:prstDash val="solid"/>
          </a:ln>
        </p:spPr>
      </p:sp>
      <p:sp>
        <p:nvSpPr>
          <p:cNvPr id="12" name="Shape 8"/>
          <p:cNvSpPr/>
          <p:nvPr/>
        </p:nvSpPr>
        <p:spPr>
          <a:xfrm>
            <a:off x="4823460" y="146304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555212"/>
            <a:ext cx="199705" cy="199705"/>
          </a:xfrm>
          <a:prstGeom prst="rect">
            <a:avLst/>
          </a:prstGeom>
        </p:spPr>
      </p:pic>
      <p:sp>
        <p:nvSpPr>
          <p:cNvPr id="14" name="Text 9"/>
          <p:cNvSpPr txBox="1"/>
          <p:nvPr/>
        </p:nvSpPr>
        <p:spPr>
          <a:xfrm>
            <a:off x="5326380" y="146304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The cleaner can</a:t>
            </a:r>
            <a:endParaRPr lang="en-US" sz="1300" dirty="0"/>
          </a:p>
        </p:txBody>
      </p:sp>
      <p:sp>
        <p:nvSpPr>
          <p:cNvPr id="15" name="Text 10"/>
          <p:cNvSpPr txBox="1"/>
          <p:nvPr/>
        </p:nvSpPr>
        <p:spPr>
          <a:xfrm>
            <a:off x="4823460" y="1993392"/>
            <a:ext cx="3726180" cy="150876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Click Charge Client to invoice</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Edit hours. Adding hours needs the customer's OK</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Reschedule (cleaner only), cancel, or file a lockout</a:t>
            </a:r>
            <a:endParaRPr lang="en-US" sz="1000" dirty="0"/>
          </a:p>
        </p:txBody>
      </p:sp>
      <p:sp>
        <p:nvSpPr>
          <p:cNvPr id="16" name="Shape 11"/>
          <p:cNvSpPr/>
          <p:nvPr/>
        </p:nvSpPr>
        <p:spPr>
          <a:xfrm>
            <a:off x="411480" y="379476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904488"/>
            <a:ext cx="164592" cy="164592"/>
          </a:xfrm>
          <a:prstGeom prst="rect">
            <a:avLst/>
          </a:prstGeom>
        </p:spPr>
      </p:pic>
      <p:sp>
        <p:nvSpPr>
          <p:cNvPr id="18" name="Text 12"/>
          <p:cNvSpPr txBox="1"/>
          <p:nvPr/>
        </p:nvSpPr>
        <p:spPr>
          <a:xfrm>
            <a:off x="822960" y="38953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Next:  </a:t>
            </a:r>
            <a:pPr indent="0" marL="0">
              <a:buNone/>
            </a:pPr>
            <a:r>
              <a:rPr lang="en-US" sz="1000" dirty="0">
                <a:solidFill>
                  <a:srgbClr val="1D1D1F"/>
                </a:solidFill>
                <a:latin typeface="SF Pro Text" pitchFamily="34" charset="0"/>
                <a:ea typeface="SF Pro Text" pitchFamily="34" charset="-122"/>
                <a:cs typeface="SF Pro Text" pitchFamily="34" charset="-120"/>
              </a:rPr>
              <a:t>Pending Invoice doesn't mean the job was done. See the action guide.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JOB STATUSES  ·  PENDING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Spotting a Pending Invoice job</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It shows in its own panel at the top of the customer's jobs.</a:t>
            </a:r>
            <a:endParaRPr lang="en-US" sz="1200" dirty="0"/>
          </a:p>
        </p:txBody>
      </p:sp>
      <p:sp>
        <p:nvSpPr>
          <p:cNvPr id="6" name="Shape 3"/>
          <p:cNvSpPr/>
          <p:nvPr/>
        </p:nvSpPr>
        <p:spPr>
          <a:xfrm>
            <a:off x="411480" y="1234440"/>
            <a:ext cx="8321040" cy="1325880"/>
          </a:xfrm>
          <a:prstGeom prst="roundRect">
            <a:avLst>
              <a:gd name="adj" fmla="val 5517"/>
            </a:avLst>
          </a:prstGeom>
          <a:solidFill>
            <a:srgbClr val="FFFFFF"/>
          </a:solidFill>
          <a:ln w="9525">
            <a:solidFill>
              <a:srgbClr val="DCE1E7"/>
            </a:solidFill>
            <a:prstDash val="solid"/>
          </a:ln>
        </p:spPr>
      </p:sp>
      <p:pic>
        <p:nvPicPr>
          <p:cNvPr id="7" name="Image 0" descr="/tmp/claude-0/-workspace-training/3ce5cff6-cccf-5f33-b0ee-0b147a55120e/scratchpad/img2/jobs_pending.png">    </p:cNvPr>
          <p:cNvPicPr>
            <a:picLocks noChangeAspect="1"/>
          </p:cNvPicPr>
          <p:nvPr/>
        </p:nvPicPr>
        <p:blipFill>
          <a:blip r:embed="rId1"/>
          <a:stretch>
            <a:fillRect/>
          </a:stretch>
        </p:blipFill>
        <p:spPr>
          <a:xfrm>
            <a:off x="484632" y="1343236"/>
            <a:ext cx="8174736" cy="1108289"/>
          </a:xfrm>
          <a:prstGeom prst="rect">
            <a:avLst/>
          </a:prstGeom>
        </p:spPr>
      </p:pic>
      <p:sp>
        <p:nvSpPr>
          <p:cNvPr id="8" name="Shape 4"/>
          <p:cNvSpPr/>
          <p:nvPr/>
        </p:nvSpPr>
        <p:spPr>
          <a:xfrm>
            <a:off x="1734781" y="1378701"/>
            <a:ext cx="257123" cy="195059"/>
          </a:xfrm>
          <a:prstGeom prst="roundRect">
            <a:avLst>
              <a:gd name="adj" fmla="val 14063"/>
            </a:avLst>
          </a:prstGeom>
          <a:ln w="25400">
            <a:solidFill>
              <a:srgbClr val="0B7A6F"/>
            </a:solidFill>
            <a:prstDash val="solid"/>
          </a:ln>
        </p:spPr>
      </p:sp>
      <p:sp>
        <p:nvSpPr>
          <p:cNvPr id="9" name="Shape 5"/>
          <p:cNvSpPr/>
          <p:nvPr/>
        </p:nvSpPr>
        <p:spPr>
          <a:xfrm>
            <a:off x="1634197" y="1278117"/>
            <a:ext cx="201168" cy="201168"/>
          </a:xfrm>
          <a:prstGeom prst="ellipse">
            <a:avLst/>
          </a:prstGeom>
          <a:solidFill>
            <a:srgbClr val="0B7A6F"/>
          </a:solidFill>
          <a:ln w="12700">
            <a:solidFill>
              <a:srgbClr val="FFFFFF"/>
            </a:solidFill>
            <a:prstDash val="solid"/>
          </a:ln>
        </p:spPr>
      </p:sp>
      <p:sp>
        <p:nvSpPr>
          <p:cNvPr id="10" name="Text 6"/>
          <p:cNvSpPr txBox="1"/>
          <p:nvPr/>
        </p:nvSpPr>
        <p:spPr>
          <a:xfrm>
            <a:off x="1634197" y="1278117"/>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11" name="Shape 7"/>
          <p:cNvSpPr/>
          <p:nvPr/>
        </p:nvSpPr>
        <p:spPr>
          <a:xfrm>
            <a:off x="1912108" y="1777685"/>
            <a:ext cx="851166" cy="212791"/>
          </a:xfrm>
          <a:prstGeom prst="roundRect">
            <a:avLst>
              <a:gd name="adj" fmla="val 12892"/>
            </a:avLst>
          </a:prstGeom>
          <a:ln w="25400">
            <a:solidFill>
              <a:srgbClr val="0B7A6F"/>
            </a:solidFill>
            <a:prstDash val="solid"/>
          </a:ln>
        </p:spPr>
      </p:sp>
      <p:sp>
        <p:nvSpPr>
          <p:cNvPr id="12" name="Shape 8"/>
          <p:cNvSpPr/>
          <p:nvPr/>
        </p:nvSpPr>
        <p:spPr>
          <a:xfrm>
            <a:off x="1811524" y="1677101"/>
            <a:ext cx="201168" cy="201168"/>
          </a:xfrm>
          <a:prstGeom prst="ellipse">
            <a:avLst/>
          </a:prstGeom>
          <a:solidFill>
            <a:srgbClr val="0B7A6F"/>
          </a:solidFill>
          <a:ln w="12700">
            <a:solidFill>
              <a:srgbClr val="FFFFFF"/>
            </a:solidFill>
            <a:prstDash val="solid"/>
          </a:ln>
        </p:spPr>
      </p:sp>
      <p:sp>
        <p:nvSpPr>
          <p:cNvPr id="13" name="Text 9"/>
          <p:cNvSpPr txBox="1"/>
          <p:nvPr/>
        </p:nvSpPr>
        <p:spPr>
          <a:xfrm>
            <a:off x="1811524" y="1677101"/>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2</a:t>
            </a:r>
            <a:endParaRPr lang="en-US" sz="800" dirty="0"/>
          </a:p>
        </p:txBody>
      </p:sp>
      <p:sp>
        <p:nvSpPr>
          <p:cNvPr id="14" name="Shape 10"/>
          <p:cNvSpPr/>
          <p:nvPr/>
        </p:nvSpPr>
        <p:spPr>
          <a:xfrm>
            <a:off x="411480" y="2880360"/>
            <a:ext cx="4091940" cy="594360"/>
          </a:xfrm>
          <a:prstGeom prst="roundRect">
            <a:avLst>
              <a:gd name="adj" fmla="val 12308"/>
            </a:avLst>
          </a:prstGeom>
          <a:solidFill>
            <a:srgbClr val="FFFFFF"/>
          </a:solidFill>
          <a:ln w="9525">
            <a:solidFill>
              <a:srgbClr val="DCE1E7"/>
            </a:solidFill>
            <a:prstDash val="solid"/>
          </a:ln>
        </p:spPr>
      </p:sp>
      <p:sp>
        <p:nvSpPr>
          <p:cNvPr id="15" name="Shape 11"/>
          <p:cNvSpPr/>
          <p:nvPr/>
        </p:nvSpPr>
        <p:spPr>
          <a:xfrm>
            <a:off x="539496" y="3049524"/>
            <a:ext cx="256032" cy="256032"/>
          </a:xfrm>
          <a:prstGeom prst="ellipse">
            <a:avLst/>
          </a:prstGeom>
          <a:solidFill>
            <a:srgbClr val="0B7A6F"/>
          </a:solidFill>
          <a:ln w="12700">
            <a:solidFill>
              <a:srgbClr val="0B7A6F"/>
            </a:solidFill>
            <a:prstDash val="solid"/>
          </a:ln>
        </p:spPr>
      </p:sp>
      <p:sp>
        <p:nvSpPr>
          <p:cNvPr id="16" name="Text 12"/>
          <p:cNvSpPr txBox="1"/>
          <p:nvPr/>
        </p:nvSpPr>
        <p:spPr>
          <a:xfrm>
            <a:off x="539496" y="30495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1</a:t>
            </a:r>
            <a:endParaRPr lang="en-US" sz="900" dirty="0"/>
          </a:p>
        </p:txBody>
      </p:sp>
      <p:sp>
        <p:nvSpPr>
          <p:cNvPr id="17" name="Text 13"/>
          <p:cNvSpPr txBox="1"/>
          <p:nvPr/>
        </p:nvSpPr>
        <p:spPr>
          <a:xfrm>
            <a:off x="914400" y="2926080"/>
            <a:ext cx="349758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Count badge</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How many Pending Invoice jobs the customer has</a:t>
            </a:r>
            <a:endParaRPr lang="en-US" sz="1050" dirty="0"/>
          </a:p>
        </p:txBody>
      </p:sp>
      <p:sp>
        <p:nvSpPr>
          <p:cNvPr id="18" name="Shape 14"/>
          <p:cNvSpPr/>
          <p:nvPr/>
        </p:nvSpPr>
        <p:spPr>
          <a:xfrm>
            <a:off x="4640580" y="2880360"/>
            <a:ext cx="4091940" cy="594360"/>
          </a:xfrm>
          <a:prstGeom prst="roundRect">
            <a:avLst>
              <a:gd name="adj" fmla="val 12308"/>
            </a:avLst>
          </a:prstGeom>
          <a:solidFill>
            <a:srgbClr val="FFFFFF"/>
          </a:solidFill>
          <a:ln w="9525">
            <a:solidFill>
              <a:srgbClr val="DCE1E7"/>
            </a:solidFill>
            <a:prstDash val="solid"/>
          </a:ln>
        </p:spPr>
      </p:sp>
      <p:sp>
        <p:nvSpPr>
          <p:cNvPr id="19" name="Shape 15"/>
          <p:cNvSpPr/>
          <p:nvPr/>
        </p:nvSpPr>
        <p:spPr>
          <a:xfrm>
            <a:off x="4768596" y="3049524"/>
            <a:ext cx="256032" cy="256032"/>
          </a:xfrm>
          <a:prstGeom prst="ellipse">
            <a:avLst/>
          </a:prstGeom>
          <a:solidFill>
            <a:srgbClr val="0B7A6F"/>
          </a:solidFill>
          <a:ln w="12700">
            <a:solidFill>
              <a:srgbClr val="0B7A6F"/>
            </a:solidFill>
            <a:prstDash val="solid"/>
          </a:ln>
        </p:spPr>
      </p:sp>
      <p:sp>
        <p:nvSpPr>
          <p:cNvPr id="20" name="Text 16"/>
          <p:cNvSpPr txBox="1"/>
          <p:nvPr/>
        </p:nvSpPr>
        <p:spPr>
          <a:xfrm>
            <a:off x="4768596" y="304952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2</a:t>
            </a:r>
            <a:endParaRPr lang="en-US" sz="900" dirty="0"/>
          </a:p>
        </p:txBody>
      </p:sp>
      <p:sp>
        <p:nvSpPr>
          <p:cNvPr id="21" name="Text 17"/>
          <p:cNvSpPr txBox="1"/>
          <p:nvPr/>
        </p:nvSpPr>
        <p:spPr>
          <a:xfrm>
            <a:off x="5143500" y="2926080"/>
            <a:ext cx="349758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PENDING_INVOICE status</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The job, date, hours and cleaner</a:t>
            </a:r>
            <a:endParaRPr lang="en-US" sz="1050" dirty="0"/>
          </a:p>
        </p:txBody>
      </p:sp>
      <p:sp>
        <p:nvSpPr>
          <p:cNvPr id="22" name="Shape 18"/>
          <p:cNvSpPr/>
          <p:nvPr/>
        </p:nvSpPr>
        <p:spPr>
          <a:xfrm>
            <a:off x="411480" y="3657600"/>
            <a:ext cx="8321040" cy="384048"/>
          </a:xfrm>
          <a:prstGeom prst="roundRect">
            <a:avLst>
              <a:gd name="adj" fmla="val 19048"/>
            </a:avLst>
          </a:prstGeom>
          <a:solidFill>
            <a:srgbClr val="FFF3D6"/>
          </a:solidFill>
          <a:ln w="9525">
            <a:solidFill>
              <a:srgbClr val="FFF3D6"/>
            </a:solidFill>
            <a:prstDash val="solid"/>
          </a:ln>
        </p:spPr>
      </p:sp>
      <p:pic>
        <p:nvPicPr>
          <p:cNvPr id="23" name="Image 1" descr="preencoded.png">    </p:cNvPr>
          <p:cNvPicPr>
            <a:picLocks noChangeAspect="1"/>
          </p:cNvPicPr>
          <p:nvPr/>
        </p:nvPicPr>
        <p:blipFill>
          <a:blip r:embed="rId2"/>
          <a:stretch>
            <a:fillRect/>
          </a:stretch>
        </p:blipFill>
        <p:spPr>
          <a:xfrm>
            <a:off x="566928" y="3767328"/>
            <a:ext cx="164592" cy="164592"/>
          </a:xfrm>
          <a:prstGeom prst="rect">
            <a:avLst/>
          </a:prstGeom>
        </p:spPr>
      </p:pic>
      <p:sp>
        <p:nvSpPr>
          <p:cNvPr id="24" name="Text 19"/>
          <p:cNvSpPr txBox="1"/>
          <p:nvPr/>
        </p:nvSpPr>
        <p:spPr>
          <a:xfrm>
            <a:off x="822960" y="37581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Act on it:  </a:t>
            </a:r>
            <a:pPr indent="0" marL="0">
              <a:buNone/>
            </a:pPr>
            <a:r>
              <a:rPr lang="en-US" sz="1000" dirty="0">
                <a:solidFill>
                  <a:srgbClr val="1D1D1F"/>
                </a:solidFill>
                <a:latin typeface="SF Pro Text" pitchFamily="34" charset="0"/>
                <a:ea typeface="SF Pro Text" pitchFamily="34" charset="-122"/>
                <a:cs typeface="SF Pro Text" pitchFamily="34" charset="-120"/>
              </a:rPr>
              <a:t>a Pending Invoice job needs action, even if the customer asked about something else.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10 OF 11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AG: Pending Invoice</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What to do with a Pending Invoice job, and how to pick the right cancellation reason.</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Why Pending Invoice needs action</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three-step action guide</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Agreed reschedules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Cancellation reason codes</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2/ill24.png">    </p:cNvPr>
          <p:cNvPicPr>
            <a:picLocks noChangeAspect="1"/>
          </p:cNvPicPr>
          <p:nvPr/>
        </p:nvPicPr>
        <p:blipFill>
          <a:blip r:embed="rId5"/>
          <a:stretch>
            <a:fillRect/>
          </a:stretch>
        </p:blipFill>
        <p:spPr>
          <a:xfrm>
            <a:off x="5658307" y="1517904"/>
            <a:ext cx="2691994"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AG: PENDING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Pending Invoice doesn't mean done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status changes on a timer, not because the cleaning happened.</a:t>
            </a:r>
            <a:endParaRPr lang="en-US" sz="1200" dirty="0"/>
          </a:p>
        </p:txBody>
      </p:sp>
      <p:sp>
        <p:nvSpPr>
          <p:cNvPr id="6" name="Shape 3"/>
          <p:cNvSpPr/>
          <p:nvPr/>
        </p:nvSpPr>
        <p:spPr>
          <a:xfrm>
            <a:off x="411480" y="1371600"/>
            <a:ext cx="2743200" cy="2103120"/>
          </a:xfrm>
          <a:prstGeom prst="roundRect">
            <a:avLst>
              <a:gd name="adj" fmla="val 3478"/>
            </a:avLst>
          </a:prstGeom>
          <a:solidFill>
            <a:srgbClr val="E3F4F1"/>
          </a:solidFill>
          <a:ln w="9525">
            <a:solidFill>
              <a:srgbClr val="E3F4F1"/>
            </a:solidFill>
            <a:prstDash val="solid"/>
          </a:ln>
        </p:spPr>
      </p:sp>
      <p:sp>
        <p:nvSpPr>
          <p:cNvPr id="7" name="Text 4"/>
          <p:cNvSpPr txBox="1"/>
          <p:nvPr/>
        </p:nvSpPr>
        <p:spPr>
          <a:xfrm>
            <a:off x="640080" y="1554480"/>
            <a:ext cx="2286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EXAMPLE</a:t>
            </a:r>
            <a:endParaRPr lang="en-US" sz="800" dirty="0"/>
          </a:p>
        </p:txBody>
      </p:sp>
      <p:sp>
        <p:nvSpPr>
          <p:cNvPr id="8" name="Text 5"/>
          <p:cNvSpPr txBox="1"/>
          <p:nvPr/>
        </p:nvSpPr>
        <p:spPr>
          <a:xfrm>
            <a:off x="640080" y="1783080"/>
            <a:ext cx="2377440" cy="640080"/>
          </a:xfrm>
          <a:prstGeom prst="rect">
            <a:avLst/>
          </a:prstGeom>
          <a:noFill/>
          <a:ln/>
        </p:spPr>
        <p:txBody>
          <a:bodyPr wrap="square" lIns="0" tIns="0" rIns="0" bIns="0" rtlCol="0" anchor="t"/>
          <a:lstStyle/>
          <a:p>
            <a:pPr indent="0" marL="0">
              <a:buNone/>
            </a:pPr>
            <a:r>
              <a:rPr lang="en-US" sz="1500" b="1" dirty="0">
                <a:solidFill>
                  <a:srgbClr val="1D1D1F"/>
                </a:solidFill>
                <a:latin typeface="SF Pro Display" pitchFamily="34" charset="0"/>
                <a:ea typeface="SF Pro Display" pitchFamily="34" charset="-122"/>
                <a:cs typeface="SF Pro Display" pitchFamily="34" charset="-120"/>
              </a:rPr>
              <a:t>Jan 2, 10 AM</a:t>
            </a:r>
            <a:endParaRPr lang="en-US" sz="1500" dirty="0"/>
          </a:p>
          <a:p>
            <a:pPr indent="0" marL="0">
              <a:buNone/>
            </a:pPr>
            <a:r>
              <a:rPr lang="en-US" sz="1500" b="1" dirty="0">
                <a:solidFill>
                  <a:srgbClr val="1D1D1F"/>
                </a:solidFill>
                <a:latin typeface="SF Pro Display" pitchFamily="34" charset="0"/>
                <a:ea typeface="SF Pro Display" pitchFamily="34" charset="-122"/>
                <a:cs typeface="SF Pro Display" pitchFamily="34" charset="-120"/>
              </a:rPr>
              <a:t>3-hour job</a:t>
            </a:r>
            <a:endParaRPr lang="en-US" sz="1500" dirty="0"/>
          </a:p>
        </p:txBody>
      </p:sp>
      <p:sp>
        <p:nvSpPr>
          <p:cNvPr id="9" name="Text 6"/>
          <p:cNvSpPr txBox="1"/>
          <p:nvPr/>
        </p:nvSpPr>
        <p:spPr>
          <a:xfrm>
            <a:off x="640080" y="2560320"/>
            <a:ext cx="2377440" cy="320040"/>
          </a:xfrm>
          <a:prstGeom prst="rect">
            <a:avLst/>
          </a:prstGeom>
          <a:noFill/>
          <a:ln/>
        </p:spPr>
        <p:txBody>
          <a:bodyPr wrap="square" lIns="0" tIns="0" rIns="0" bIns="0" rtlCol="0" anchor="t"/>
          <a:lstStyle/>
          <a:p>
            <a:pPr indent="0" marL="0">
              <a:buNone/>
            </a:pPr>
            <a:r>
              <a:rPr lang="en-US" sz="1200" b="1" dirty="0">
                <a:solidFill>
                  <a:srgbClr val="0B7A6F"/>
                </a:solidFill>
                <a:latin typeface="SF Pro Display" pitchFamily="34" charset="0"/>
                <a:ea typeface="SF Pro Display" pitchFamily="34" charset="-122"/>
                <a:cs typeface="SF Pro Display" pitchFamily="34" charset="-120"/>
              </a:rPr>
              <a:t>Pending Invoice at 1 PM</a:t>
            </a:r>
            <a:endParaRPr lang="en-US" sz="1200" dirty="0"/>
          </a:p>
        </p:txBody>
      </p:sp>
      <p:sp>
        <p:nvSpPr>
          <p:cNvPr id="10" name="Text 7"/>
          <p:cNvSpPr txBox="1"/>
          <p:nvPr/>
        </p:nvSpPr>
        <p:spPr>
          <a:xfrm>
            <a:off x="640080" y="2852928"/>
            <a:ext cx="2377440" cy="274320"/>
          </a:xfrm>
          <a:prstGeom prst="rect">
            <a:avLst/>
          </a:prstGeom>
          <a:noFill/>
          <a:ln/>
        </p:spPr>
        <p:txBody>
          <a:bodyPr wrap="square" lIns="0" tIns="0" rIns="0" bIns="0" rtlCol="0" anchor="t"/>
          <a:lstStyle/>
          <a:p>
            <a:pPr indent="0" marL="0">
              <a:buNone/>
            </a:pPr>
            <a:r>
              <a:rPr lang="en-US" sz="1000" dirty="0">
                <a:solidFill>
                  <a:srgbClr val="6E6E73"/>
                </a:solidFill>
                <a:latin typeface="SF Pro Text" pitchFamily="34" charset="0"/>
                <a:ea typeface="SF Pro Text" pitchFamily="34" charset="-122"/>
                <a:cs typeface="SF Pro Text" pitchFamily="34" charset="-120"/>
              </a:rPr>
              <a:t>automatically</a:t>
            </a:r>
            <a:endParaRPr lang="en-US" sz="1000" dirty="0"/>
          </a:p>
        </p:txBody>
      </p:sp>
      <p:sp>
        <p:nvSpPr>
          <p:cNvPr id="11" name="Text 8"/>
          <p:cNvSpPr txBox="1"/>
          <p:nvPr/>
        </p:nvSpPr>
        <p:spPr>
          <a:xfrm>
            <a:off x="3383280" y="1371600"/>
            <a:ext cx="45720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IT COULD MEAN</a:t>
            </a:r>
            <a:endParaRPr lang="en-US" sz="800" dirty="0"/>
          </a:p>
        </p:txBody>
      </p:sp>
      <p:sp>
        <p:nvSpPr>
          <p:cNvPr id="12" name="Shape 9"/>
          <p:cNvSpPr/>
          <p:nvPr/>
        </p:nvSpPr>
        <p:spPr>
          <a:xfrm>
            <a:off x="3291840" y="1645920"/>
            <a:ext cx="5440680" cy="502920"/>
          </a:xfrm>
          <a:prstGeom prst="roundRect">
            <a:avLst>
              <a:gd name="adj" fmla="val 14545"/>
            </a:avLst>
          </a:prstGeom>
          <a:solidFill>
            <a:srgbClr val="FFFFFF"/>
          </a:solidFill>
          <a:ln w="9525">
            <a:solidFill>
              <a:srgbClr val="DCE1E7"/>
            </a:solidFill>
            <a:prstDash val="solid"/>
          </a:ln>
        </p:spPr>
      </p:sp>
      <p:sp>
        <p:nvSpPr>
          <p:cNvPr id="13" name="Shape 10"/>
          <p:cNvSpPr/>
          <p:nvPr/>
        </p:nvSpPr>
        <p:spPr>
          <a:xfrm>
            <a:off x="3401568" y="1751076"/>
            <a:ext cx="292608" cy="292608"/>
          </a:xfrm>
          <a:prstGeom prst="ellipse">
            <a:avLst/>
          </a:prstGeom>
          <a:solidFill>
            <a:srgbClr val="E3F4F1"/>
          </a:solidFill>
          <a:ln w="12700">
            <a:solidFill>
              <a:srgbClr val="E3F4F1"/>
            </a:solidFill>
            <a:prstDash val="solid"/>
          </a:ln>
        </p:spPr>
      </p:sp>
      <p:pic>
        <p:nvPicPr>
          <p:cNvPr id="14" name="Image 0" descr="preencoded.png">    </p:cNvPr>
          <p:cNvPicPr>
            <a:picLocks noChangeAspect="1"/>
          </p:cNvPicPr>
          <p:nvPr/>
        </p:nvPicPr>
        <p:blipFill>
          <a:blip r:embed="rId1"/>
          <a:stretch>
            <a:fillRect/>
          </a:stretch>
        </p:blipFill>
        <p:spPr>
          <a:xfrm>
            <a:off x="3471794" y="1821302"/>
            <a:ext cx="152156" cy="152156"/>
          </a:xfrm>
          <a:prstGeom prst="rect">
            <a:avLst/>
          </a:prstGeom>
        </p:spPr>
      </p:pic>
      <p:sp>
        <p:nvSpPr>
          <p:cNvPr id="15" name="Text 11"/>
          <p:cNvSpPr txBox="1"/>
          <p:nvPr/>
        </p:nvSpPr>
        <p:spPr>
          <a:xfrm>
            <a:off x="3794760" y="1645920"/>
            <a:ext cx="484632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The cleaner couldn't finish and is rescheduling</a:t>
            </a:r>
            <a:endParaRPr lang="en-US" sz="1050" dirty="0"/>
          </a:p>
        </p:txBody>
      </p:sp>
      <p:sp>
        <p:nvSpPr>
          <p:cNvPr id="16" name="Shape 12"/>
          <p:cNvSpPr/>
          <p:nvPr/>
        </p:nvSpPr>
        <p:spPr>
          <a:xfrm>
            <a:off x="3291840" y="2221992"/>
            <a:ext cx="5440680" cy="502920"/>
          </a:xfrm>
          <a:prstGeom prst="roundRect">
            <a:avLst>
              <a:gd name="adj" fmla="val 14545"/>
            </a:avLst>
          </a:prstGeom>
          <a:solidFill>
            <a:srgbClr val="FFFFFF"/>
          </a:solidFill>
          <a:ln w="9525">
            <a:solidFill>
              <a:srgbClr val="DCE1E7"/>
            </a:solidFill>
            <a:prstDash val="solid"/>
          </a:ln>
        </p:spPr>
      </p:sp>
      <p:sp>
        <p:nvSpPr>
          <p:cNvPr id="17" name="Shape 13"/>
          <p:cNvSpPr/>
          <p:nvPr/>
        </p:nvSpPr>
        <p:spPr>
          <a:xfrm>
            <a:off x="3401568" y="2327148"/>
            <a:ext cx="292608" cy="292608"/>
          </a:xfrm>
          <a:prstGeom prst="ellipse">
            <a:avLst/>
          </a:prstGeom>
          <a:solidFill>
            <a:srgbClr val="E3F4F1"/>
          </a:solidFill>
          <a:ln w="12700">
            <a:solidFill>
              <a:srgbClr val="E3F4F1"/>
            </a:solidFill>
            <a:prstDash val="solid"/>
          </a:ln>
        </p:spPr>
      </p:sp>
      <p:pic>
        <p:nvPicPr>
          <p:cNvPr id="18" name="Image 1" descr="preencoded.png">    </p:cNvPr>
          <p:cNvPicPr>
            <a:picLocks noChangeAspect="1"/>
          </p:cNvPicPr>
          <p:nvPr/>
        </p:nvPicPr>
        <p:blipFill>
          <a:blip r:embed="rId2"/>
          <a:stretch>
            <a:fillRect/>
          </a:stretch>
        </p:blipFill>
        <p:spPr>
          <a:xfrm>
            <a:off x="3471794" y="2397374"/>
            <a:ext cx="152156" cy="152156"/>
          </a:xfrm>
          <a:prstGeom prst="rect">
            <a:avLst/>
          </a:prstGeom>
        </p:spPr>
      </p:pic>
      <p:sp>
        <p:nvSpPr>
          <p:cNvPr id="19" name="Text 14"/>
          <p:cNvSpPr txBox="1"/>
          <p:nvPr/>
        </p:nvSpPr>
        <p:spPr>
          <a:xfrm>
            <a:off x="3794760" y="2221992"/>
            <a:ext cx="484632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The customer asked to cancel, not processed yet</a:t>
            </a:r>
            <a:endParaRPr lang="en-US" sz="1050" dirty="0"/>
          </a:p>
        </p:txBody>
      </p:sp>
      <p:sp>
        <p:nvSpPr>
          <p:cNvPr id="20" name="Shape 15"/>
          <p:cNvSpPr/>
          <p:nvPr/>
        </p:nvSpPr>
        <p:spPr>
          <a:xfrm>
            <a:off x="3291840" y="2798064"/>
            <a:ext cx="5440680" cy="502920"/>
          </a:xfrm>
          <a:prstGeom prst="roundRect">
            <a:avLst>
              <a:gd name="adj" fmla="val 14545"/>
            </a:avLst>
          </a:prstGeom>
          <a:solidFill>
            <a:srgbClr val="FFFFFF"/>
          </a:solidFill>
          <a:ln w="9525">
            <a:solidFill>
              <a:srgbClr val="DCE1E7"/>
            </a:solidFill>
            <a:prstDash val="solid"/>
          </a:ln>
        </p:spPr>
      </p:sp>
      <p:sp>
        <p:nvSpPr>
          <p:cNvPr id="21" name="Shape 16"/>
          <p:cNvSpPr/>
          <p:nvPr/>
        </p:nvSpPr>
        <p:spPr>
          <a:xfrm>
            <a:off x="3401568" y="2903220"/>
            <a:ext cx="292608" cy="292608"/>
          </a:xfrm>
          <a:prstGeom prst="ellipse">
            <a:avLst/>
          </a:prstGeom>
          <a:solidFill>
            <a:srgbClr val="E3F4F1"/>
          </a:solidFill>
          <a:ln w="12700">
            <a:solidFill>
              <a:srgbClr val="E3F4F1"/>
            </a:solidFill>
            <a:prstDash val="solid"/>
          </a:ln>
        </p:spPr>
      </p:sp>
      <p:pic>
        <p:nvPicPr>
          <p:cNvPr id="22" name="Image 2" descr="preencoded.png">    </p:cNvPr>
          <p:cNvPicPr>
            <a:picLocks noChangeAspect="1"/>
          </p:cNvPicPr>
          <p:nvPr/>
        </p:nvPicPr>
        <p:blipFill>
          <a:blip r:embed="rId3"/>
          <a:stretch>
            <a:fillRect/>
          </a:stretch>
        </p:blipFill>
        <p:spPr>
          <a:xfrm>
            <a:off x="3471794" y="2973446"/>
            <a:ext cx="152156" cy="152156"/>
          </a:xfrm>
          <a:prstGeom prst="rect">
            <a:avLst/>
          </a:prstGeom>
        </p:spPr>
      </p:pic>
      <p:sp>
        <p:nvSpPr>
          <p:cNvPr id="23" name="Text 17"/>
          <p:cNvSpPr txBox="1"/>
          <p:nvPr/>
        </p:nvSpPr>
        <p:spPr>
          <a:xfrm>
            <a:off x="3794760" y="2798064"/>
            <a:ext cx="484632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The job was done but not invoiced</a:t>
            </a:r>
            <a:endParaRPr lang="en-US" sz="1050" dirty="0"/>
          </a:p>
        </p:txBody>
      </p:sp>
      <p:sp>
        <p:nvSpPr>
          <p:cNvPr id="24" name="Shape 18"/>
          <p:cNvSpPr/>
          <p:nvPr/>
        </p:nvSpPr>
        <p:spPr>
          <a:xfrm>
            <a:off x="411480" y="3749040"/>
            <a:ext cx="8321040" cy="384048"/>
          </a:xfrm>
          <a:prstGeom prst="roundRect">
            <a:avLst>
              <a:gd name="adj" fmla="val 19048"/>
            </a:avLst>
          </a:prstGeom>
          <a:solidFill>
            <a:srgbClr val="FFF3D6"/>
          </a:solidFill>
          <a:ln w="9525">
            <a:solidFill>
              <a:srgbClr val="FFF3D6"/>
            </a:solidFill>
            <a:prstDash val="solid"/>
          </a:ln>
        </p:spPr>
      </p:sp>
      <p:pic>
        <p:nvPicPr>
          <p:cNvPr id="25" name="Image 3" descr="preencoded.png">    </p:cNvPr>
          <p:cNvPicPr>
            <a:picLocks noChangeAspect="1"/>
          </p:cNvPicPr>
          <p:nvPr/>
        </p:nvPicPr>
        <p:blipFill>
          <a:blip r:embed="rId4"/>
          <a:stretch>
            <a:fillRect/>
          </a:stretch>
        </p:blipFill>
        <p:spPr>
          <a:xfrm>
            <a:off x="566928" y="3858768"/>
            <a:ext cx="164592" cy="164592"/>
          </a:xfrm>
          <a:prstGeom prst="rect">
            <a:avLst/>
          </a:prstGeom>
        </p:spPr>
      </p:pic>
      <p:sp>
        <p:nvSpPr>
          <p:cNvPr id="26" name="Text 19"/>
          <p:cNvSpPr txBox="1"/>
          <p:nvPr/>
        </p:nvSpPr>
        <p:spPr>
          <a:xfrm>
            <a:off x="822960" y="38496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Rule:  </a:t>
            </a:r>
            <a:pPr indent="0" marL="0">
              <a:buNone/>
            </a:pPr>
            <a:r>
              <a:rPr lang="en-US" sz="1000" dirty="0">
                <a:solidFill>
                  <a:srgbClr val="1D1D1F"/>
                </a:solidFill>
                <a:latin typeface="SF Pro Text" pitchFamily="34" charset="0"/>
                <a:ea typeface="SF Pro Text" pitchFamily="34" charset="-122"/>
                <a:cs typeface="SF Pro Text" pitchFamily="34" charset="-120"/>
              </a:rPr>
              <a:t>act on every Pending Invoice job, even when it isn't what the user asked about.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AG: PENDING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action guide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Three steps, in order.</a:t>
            </a:r>
            <a:endParaRPr lang="en-US" sz="1200" dirty="0"/>
          </a:p>
        </p:txBody>
      </p:sp>
      <p:sp>
        <p:nvSpPr>
          <p:cNvPr id="6" name="Shape 3"/>
          <p:cNvSpPr/>
          <p:nvPr/>
        </p:nvSpPr>
        <p:spPr>
          <a:xfrm>
            <a:off x="411480" y="1371600"/>
            <a:ext cx="2682240" cy="2011680"/>
          </a:xfrm>
          <a:prstGeom prst="roundRect">
            <a:avLst>
              <a:gd name="adj" fmla="val 3636"/>
            </a:avLst>
          </a:prstGeom>
          <a:solidFill>
            <a:srgbClr val="FFFFFF"/>
          </a:solidFill>
          <a:ln w="9525">
            <a:solidFill>
              <a:srgbClr val="DCE1E7"/>
            </a:solidFill>
            <a:prstDash val="solid"/>
          </a:ln>
        </p:spPr>
      </p:sp>
      <p:sp>
        <p:nvSpPr>
          <p:cNvPr id="7" name="Shape 4"/>
          <p:cNvSpPr/>
          <p:nvPr/>
        </p:nvSpPr>
        <p:spPr>
          <a:xfrm>
            <a:off x="576072" y="155448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7510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Review the comms</a:t>
            </a:r>
            <a:endParaRPr lang="en-US" sz="1200" dirty="0"/>
          </a:p>
        </p:txBody>
      </p:sp>
      <p:sp>
        <p:nvSpPr>
          <p:cNvPr id="10" name="Text 7"/>
          <p:cNvSpPr txBox="1"/>
          <p:nvPr/>
        </p:nvSpPr>
        <p:spPr>
          <a:xfrm>
            <a:off x="576072" y="2267712"/>
            <a:ext cx="2353056" cy="10241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Read C and CP messages, and anything they sent to CS. Was the job completed?</a:t>
            </a:r>
            <a:endParaRPr lang="en-US" sz="950" dirty="0"/>
          </a:p>
        </p:txBody>
      </p:sp>
      <p:sp>
        <p:nvSpPr>
          <p:cNvPr id="11" name="Shape 8"/>
          <p:cNvSpPr/>
          <p:nvPr/>
        </p:nvSpPr>
        <p:spPr>
          <a:xfrm>
            <a:off x="3230880" y="1371600"/>
            <a:ext cx="2682240" cy="2011680"/>
          </a:xfrm>
          <a:prstGeom prst="roundRect">
            <a:avLst>
              <a:gd name="adj" fmla="val 3636"/>
            </a:avLst>
          </a:prstGeom>
          <a:solidFill>
            <a:srgbClr val="FFFFFF"/>
          </a:solidFill>
          <a:ln w="9525">
            <a:solidFill>
              <a:srgbClr val="DCE1E7"/>
            </a:solidFill>
            <a:prstDash val="solid"/>
          </a:ln>
        </p:spPr>
      </p:sp>
      <p:sp>
        <p:nvSpPr>
          <p:cNvPr id="12" name="Shape 9"/>
          <p:cNvSpPr/>
          <p:nvPr/>
        </p:nvSpPr>
        <p:spPr>
          <a:xfrm>
            <a:off x="3395472" y="155448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7510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Act on the evidence</a:t>
            </a:r>
            <a:endParaRPr lang="en-US" sz="1200" dirty="0"/>
          </a:p>
        </p:txBody>
      </p:sp>
      <p:sp>
        <p:nvSpPr>
          <p:cNvPr id="15" name="Text 12"/>
          <p:cNvSpPr txBox="1"/>
          <p:nvPr/>
        </p:nvSpPr>
        <p:spPr>
          <a:xfrm>
            <a:off x="3395472" y="2267712"/>
            <a:ext cx="2353056" cy="10241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Completed, not completed, or not sure: each has its own path.</a:t>
            </a:r>
            <a:endParaRPr lang="en-US" sz="950" dirty="0"/>
          </a:p>
        </p:txBody>
      </p:sp>
      <p:sp>
        <p:nvSpPr>
          <p:cNvPr id="16" name="Shape 13"/>
          <p:cNvSpPr/>
          <p:nvPr/>
        </p:nvSpPr>
        <p:spPr>
          <a:xfrm>
            <a:off x="6050280" y="1371600"/>
            <a:ext cx="2682240" cy="2011680"/>
          </a:xfrm>
          <a:prstGeom prst="roundRect">
            <a:avLst>
              <a:gd name="adj" fmla="val 3636"/>
            </a:avLst>
          </a:prstGeom>
          <a:solidFill>
            <a:srgbClr val="FFFFFF"/>
          </a:solidFill>
          <a:ln w="9525">
            <a:solidFill>
              <a:srgbClr val="DCE1E7"/>
            </a:solidFill>
            <a:prstDash val="solid"/>
          </a:ln>
        </p:spPr>
      </p:sp>
      <p:sp>
        <p:nvSpPr>
          <p:cNvPr id="17" name="Shape 14"/>
          <p:cNvSpPr/>
          <p:nvPr/>
        </p:nvSpPr>
        <p:spPr>
          <a:xfrm>
            <a:off x="6214872" y="155448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7510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Not sure? Check 72 hrs</a:t>
            </a:r>
            <a:endParaRPr lang="en-US" sz="1200" dirty="0"/>
          </a:p>
        </p:txBody>
      </p:sp>
      <p:sp>
        <p:nvSpPr>
          <p:cNvPr id="20" name="Text 17"/>
          <p:cNvSpPr txBox="1"/>
          <p:nvPr/>
        </p:nvSpPr>
        <p:spPr>
          <a:xfrm>
            <a:off x="6214872" y="2267712"/>
            <a:ext cx="2353056" cy="10241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Past 72 hrs since end: waive the fee, cancel, send comms. Not yet: ask the customer, consider calling.</a:t>
            </a:r>
            <a:endParaRPr lang="en-US" sz="950" dirty="0"/>
          </a:p>
        </p:txBody>
      </p:sp>
      <p:sp>
        <p:nvSpPr>
          <p:cNvPr id="21" name="Shape 18"/>
          <p:cNvSpPr/>
          <p:nvPr/>
        </p:nvSpPr>
        <p:spPr>
          <a:xfrm>
            <a:off x="411480" y="3566160"/>
            <a:ext cx="8321040" cy="384048"/>
          </a:xfrm>
          <a:prstGeom prst="roundRect">
            <a:avLst>
              <a:gd name="adj" fmla="val 19048"/>
            </a:avLst>
          </a:prstGeom>
          <a:solidFill>
            <a:srgbClr val="FFF3D6"/>
          </a:solidFill>
          <a:ln w="9525">
            <a:solidFill>
              <a:srgbClr val="FFF3D6"/>
            </a:solidFill>
            <a:prstDash val="solid"/>
          </a:ln>
        </p:spPr>
      </p:sp>
      <p:pic>
        <p:nvPicPr>
          <p:cNvPr id="22" name="Image 0" descr="preencoded.png">    </p:cNvPr>
          <p:cNvPicPr>
            <a:picLocks noChangeAspect="1"/>
          </p:cNvPicPr>
          <p:nvPr/>
        </p:nvPicPr>
        <p:blipFill>
          <a:blip r:embed="rId1"/>
          <a:stretch>
            <a:fillRect/>
          </a:stretch>
        </p:blipFill>
        <p:spPr>
          <a:xfrm>
            <a:off x="566928" y="3675888"/>
            <a:ext cx="164592" cy="164592"/>
          </a:xfrm>
          <a:prstGeom prst="rect">
            <a:avLst/>
          </a:prstGeom>
        </p:spPr>
      </p:pic>
      <p:sp>
        <p:nvSpPr>
          <p:cNvPr id="23" name="Text 19"/>
          <p:cNvSpPr txBox="1"/>
          <p:nvPr/>
        </p:nvSpPr>
        <p:spPr>
          <a:xfrm>
            <a:off x="822960" y="36667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Clear evidence?  </a:t>
            </a:r>
            <a:pPr indent="0" marL="0">
              <a:buNone/>
            </a:pPr>
            <a:r>
              <a:rPr lang="en-US" sz="1000" dirty="0">
                <a:solidFill>
                  <a:srgbClr val="1D1D1F"/>
                </a:solidFill>
                <a:latin typeface="SF Pro Text" pitchFamily="34" charset="0"/>
                <a:ea typeface="SF Pro Text" pitchFamily="34" charset="-122"/>
                <a:cs typeface="SF Pro Text" pitchFamily="34" charset="-120"/>
              </a:rPr>
              <a:t>you can cancel before 72 hrs if the comms show the cleaning didn't happen.</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AG: PENDING INVOICE  ·  STEP 2</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Act on the evidence</a:t>
            </a:r>
            <a:endParaRPr lang="en-US" sz="2400" dirty="0"/>
          </a:p>
        </p:txBody>
      </p:sp>
      <p:sp>
        <p:nvSpPr>
          <p:cNvPr id="5" name="Shape 2"/>
          <p:cNvSpPr/>
          <p:nvPr/>
        </p:nvSpPr>
        <p:spPr>
          <a:xfrm>
            <a:off x="411480" y="1097280"/>
            <a:ext cx="2682240" cy="3520440"/>
          </a:xfrm>
          <a:prstGeom prst="roundRect">
            <a:avLst>
              <a:gd name="adj" fmla="val 2727"/>
            </a:avLst>
          </a:prstGeom>
          <a:solidFill>
            <a:srgbClr val="FFFFFF"/>
          </a:solidFill>
          <a:ln w="9525">
            <a:solidFill>
              <a:srgbClr val="DCE1E7"/>
            </a:solidFill>
            <a:prstDash val="solid"/>
          </a:ln>
        </p:spPr>
      </p:sp>
      <p:sp>
        <p:nvSpPr>
          <p:cNvPr id="6" name="Shape 3"/>
          <p:cNvSpPr/>
          <p:nvPr/>
        </p:nvSpPr>
        <p:spPr>
          <a:xfrm>
            <a:off x="576072" y="1261872"/>
            <a:ext cx="365760" cy="365760"/>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63854" y="1349654"/>
            <a:ext cx="190195" cy="190195"/>
          </a:xfrm>
          <a:prstGeom prst="rect">
            <a:avLst/>
          </a:prstGeom>
        </p:spPr>
      </p:pic>
      <p:sp>
        <p:nvSpPr>
          <p:cNvPr id="8" name="Text 4"/>
          <p:cNvSpPr txBox="1"/>
          <p:nvPr/>
        </p:nvSpPr>
        <p:spPr>
          <a:xfrm>
            <a:off x="1051560" y="1261872"/>
            <a:ext cx="1905000" cy="365760"/>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Completed</a:t>
            </a:r>
            <a:endParaRPr lang="en-US" sz="1300" dirty="0"/>
          </a:p>
        </p:txBody>
      </p:sp>
      <p:sp>
        <p:nvSpPr>
          <p:cNvPr id="9" name="Text 5"/>
          <p:cNvSpPr txBox="1"/>
          <p:nvPr/>
        </p:nvSpPr>
        <p:spPr>
          <a:xfrm>
            <a:off x="576072" y="1783080"/>
            <a:ext cx="2353056" cy="2743200"/>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1D1D1F"/>
                </a:solidFill>
                <a:latin typeface="SF Pro Text" pitchFamily="34" charset="0"/>
                <a:ea typeface="SF Pro Text" pitchFamily="34" charset="-122"/>
                <a:cs typeface="SF Pro Text" pitchFamily="34" charset="-120"/>
              </a:rPr>
              <a:t>Customer confirmed a different duration: invoice in the CP Dashboard with the new hours, message both, coach the cleaner</a:t>
            </a:r>
            <a:endParaRPr lang="en-US" sz="950" dirty="0"/>
          </a:p>
          <a:p>
            <a:pPr marL="127000" indent="-127000">
              <a:spcAft>
                <a:spcPts val="600"/>
              </a:spcAft>
              <a:buSzPct val="100000"/>
              <a:buChar char="•"/>
            </a:pPr>
            <a:r>
              <a:rPr lang="en-US" sz="950" dirty="0">
                <a:solidFill>
                  <a:srgbClr val="1D1D1F"/>
                </a:solidFill>
                <a:latin typeface="SF Pro Text" pitchFamily="34" charset="0"/>
                <a:ea typeface="SF Pro Text" pitchFamily="34" charset="-122"/>
                <a:cs typeface="SF Pro Text" pitchFamily="34" charset="-120"/>
              </a:rPr>
              <a:t>Customer confirmed, same duration: Report an Issue &gt; My Cleaning was Completed</a:t>
            </a:r>
            <a:endParaRPr lang="en-US" sz="950" dirty="0"/>
          </a:p>
          <a:p>
            <a:pPr marL="127000" indent="-127000">
              <a:spcAft>
                <a:spcPts val="600"/>
              </a:spcAft>
              <a:buSzPct val="100000"/>
              <a:buChar char="•"/>
            </a:pPr>
            <a:r>
              <a:rPr lang="en-US" sz="950" dirty="0">
                <a:solidFill>
                  <a:srgbClr val="1D1D1F"/>
                </a:solidFill>
                <a:latin typeface="SF Pro Text" pitchFamily="34" charset="0"/>
                <a:ea typeface="SF Pro Text" pitchFamily="34" charset="-122"/>
                <a:cs typeface="SF Pro Text" pitchFamily="34" charset="-120"/>
              </a:rPr>
              <a:t>Not confirmed yet: ask the customer for the duration, ask the cleaner to invoice</a:t>
            </a:r>
            <a:endParaRPr lang="en-US" sz="950" dirty="0"/>
          </a:p>
        </p:txBody>
      </p:sp>
      <p:sp>
        <p:nvSpPr>
          <p:cNvPr id="10" name="Shape 6"/>
          <p:cNvSpPr/>
          <p:nvPr/>
        </p:nvSpPr>
        <p:spPr>
          <a:xfrm>
            <a:off x="3230880" y="1097280"/>
            <a:ext cx="2682240" cy="3520440"/>
          </a:xfrm>
          <a:prstGeom prst="roundRect">
            <a:avLst>
              <a:gd name="adj" fmla="val 2727"/>
            </a:avLst>
          </a:prstGeom>
          <a:solidFill>
            <a:srgbClr val="FFFFFF"/>
          </a:solidFill>
          <a:ln w="9525">
            <a:solidFill>
              <a:srgbClr val="DCE1E7"/>
            </a:solidFill>
            <a:prstDash val="solid"/>
          </a:ln>
        </p:spPr>
      </p:sp>
      <p:sp>
        <p:nvSpPr>
          <p:cNvPr id="11" name="Shape 7"/>
          <p:cNvSpPr/>
          <p:nvPr/>
        </p:nvSpPr>
        <p:spPr>
          <a:xfrm>
            <a:off x="3395472" y="1261872"/>
            <a:ext cx="365760" cy="365760"/>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3483254" y="1349654"/>
            <a:ext cx="190195" cy="190195"/>
          </a:xfrm>
          <a:prstGeom prst="rect">
            <a:avLst/>
          </a:prstGeom>
        </p:spPr>
      </p:pic>
      <p:sp>
        <p:nvSpPr>
          <p:cNvPr id="13" name="Text 8"/>
          <p:cNvSpPr txBox="1"/>
          <p:nvPr/>
        </p:nvSpPr>
        <p:spPr>
          <a:xfrm>
            <a:off x="3870960" y="1261872"/>
            <a:ext cx="1905000" cy="365760"/>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Not completed</a:t>
            </a:r>
            <a:endParaRPr lang="en-US" sz="1300" dirty="0"/>
          </a:p>
        </p:txBody>
      </p:sp>
      <p:sp>
        <p:nvSpPr>
          <p:cNvPr id="14" name="Text 9"/>
          <p:cNvSpPr txBox="1"/>
          <p:nvPr/>
        </p:nvSpPr>
        <p:spPr>
          <a:xfrm>
            <a:off x="3395472" y="1783080"/>
            <a:ext cx="2353056" cy="2743200"/>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1D1D1F"/>
                </a:solidFill>
                <a:latin typeface="SF Pro Text" pitchFamily="34" charset="0"/>
                <a:ea typeface="SF Pro Text" pitchFamily="34" charset="-122"/>
                <a:cs typeface="SF Pro Text" pitchFamily="34" charset="-120"/>
              </a:rPr>
              <a:t>Customer cancelled: cancel from the C CRM</a:t>
            </a:r>
            <a:endParaRPr lang="en-US" sz="950" dirty="0"/>
          </a:p>
          <a:p>
            <a:pPr marL="127000" indent="-127000">
              <a:spcAft>
                <a:spcPts val="600"/>
              </a:spcAft>
              <a:buSzPct val="100000"/>
              <a:buChar char="•"/>
            </a:pPr>
            <a:r>
              <a:rPr lang="en-US" sz="950" dirty="0">
                <a:solidFill>
                  <a:srgbClr val="1D1D1F"/>
                </a:solidFill>
                <a:latin typeface="SF Pro Text" pitchFamily="34" charset="0"/>
                <a:ea typeface="SF Pro Text" pitchFamily="34" charset="-122"/>
                <a:cs typeface="SF Pro Text" pitchFamily="34" charset="-120"/>
              </a:rPr>
              <a:t>Cleaner cancelled: cancel from the CP Dashboard to penalize, or the C CRM for no penalty</a:t>
            </a:r>
            <a:endParaRPr lang="en-US" sz="950" dirty="0"/>
          </a:p>
        </p:txBody>
      </p:sp>
      <p:sp>
        <p:nvSpPr>
          <p:cNvPr id="15" name="Shape 10"/>
          <p:cNvSpPr/>
          <p:nvPr/>
        </p:nvSpPr>
        <p:spPr>
          <a:xfrm>
            <a:off x="6050280" y="1097280"/>
            <a:ext cx="2682240" cy="3520440"/>
          </a:xfrm>
          <a:prstGeom prst="roundRect">
            <a:avLst>
              <a:gd name="adj" fmla="val 2727"/>
            </a:avLst>
          </a:prstGeom>
          <a:solidFill>
            <a:srgbClr val="FFFFFF"/>
          </a:solidFill>
          <a:ln w="9525">
            <a:solidFill>
              <a:srgbClr val="DCE1E7"/>
            </a:solidFill>
            <a:prstDash val="solid"/>
          </a:ln>
        </p:spPr>
      </p:sp>
      <p:sp>
        <p:nvSpPr>
          <p:cNvPr id="16" name="Shape 11"/>
          <p:cNvSpPr/>
          <p:nvPr/>
        </p:nvSpPr>
        <p:spPr>
          <a:xfrm>
            <a:off x="6214872" y="1261872"/>
            <a:ext cx="365760" cy="365760"/>
          </a:xfrm>
          <a:prstGeom prst="ellipse">
            <a:avLst/>
          </a:prstGeom>
          <a:solidFill>
            <a:srgbClr val="E3F4F1"/>
          </a:solidFill>
          <a:ln w="12700">
            <a:solidFill>
              <a:srgbClr val="E3F4F1"/>
            </a:solidFill>
            <a:prstDash val="solid"/>
          </a:ln>
        </p:spPr>
      </p:sp>
      <p:pic>
        <p:nvPicPr>
          <p:cNvPr id="17" name="Image 2" descr="preencoded.png">    </p:cNvPr>
          <p:cNvPicPr>
            <a:picLocks noChangeAspect="1"/>
          </p:cNvPicPr>
          <p:nvPr/>
        </p:nvPicPr>
        <p:blipFill>
          <a:blip r:embed="rId3"/>
          <a:stretch>
            <a:fillRect/>
          </a:stretch>
        </p:blipFill>
        <p:spPr>
          <a:xfrm>
            <a:off x="6302654" y="1349654"/>
            <a:ext cx="190195" cy="190195"/>
          </a:xfrm>
          <a:prstGeom prst="rect">
            <a:avLst/>
          </a:prstGeom>
        </p:spPr>
      </p:pic>
      <p:sp>
        <p:nvSpPr>
          <p:cNvPr id="18" name="Text 12"/>
          <p:cNvSpPr txBox="1"/>
          <p:nvPr/>
        </p:nvSpPr>
        <p:spPr>
          <a:xfrm>
            <a:off x="6690360" y="1261872"/>
            <a:ext cx="1905000" cy="365760"/>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Not sure</a:t>
            </a:r>
            <a:endParaRPr lang="en-US" sz="1300" dirty="0"/>
          </a:p>
        </p:txBody>
      </p:sp>
      <p:sp>
        <p:nvSpPr>
          <p:cNvPr id="19" name="Text 13"/>
          <p:cNvSpPr txBox="1"/>
          <p:nvPr/>
        </p:nvSpPr>
        <p:spPr>
          <a:xfrm>
            <a:off x="6214872" y="1783080"/>
            <a:ext cx="2353056" cy="2743200"/>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1D1D1F"/>
                </a:solidFill>
                <a:latin typeface="SF Pro Text" pitchFamily="34" charset="0"/>
                <a:ea typeface="SF Pro Text" pitchFamily="34" charset="-122"/>
                <a:cs typeface="SF Pro Text" pitchFamily="34" charset="-120"/>
              </a:rPr>
              <a:t>Go to Step 3: check whether 72 hrs have passed since the job ended</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AG: PENDING INVOICE  ·  SCENARIO</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They agreed to reschedule, but the job wasn't changed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Check the comms: did they agree on a specific date and time?</a:t>
            </a:r>
            <a:endParaRPr lang="en-US" sz="1200" dirty="0"/>
          </a:p>
        </p:txBody>
      </p:sp>
      <p:sp>
        <p:nvSpPr>
          <p:cNvPr id="6" name="Shape 3"/>
          <p:cNvSpPr/>
          <p:nvPr/>
        </p:nvSpPr>
        <p:spPr>
          <a:xfrm>
            <a:off x="411480" y="1371600"/>
            <a:ext cx="4091940" cy="2377440"/>
          </a:xfrm>
          <a:prstGeom prst="roundRect">
            <a:avLst>
              <a:gd name="adj" fmla="val 3077"/>
            </a:avLst>
          </a:prstGeom>
          <a:solidFill>
            <a:srgbClr val="FFFFFF"/>
          </a:solidFill>
          <a:ln w="9525">
            <a:solidFill>
              <a:srgbClr val="DCE1E7"/>
            </a:solidFill>
            <a:prstDash val="solid"/>
          </a:ln>
        </p:spPr>
      </p:sp>
      <p:sp>
        <p:nvSpPr>
          <p:cNvPr id="7" name="Shape 4"/>
          <p:cNvSpPr/>
          <p:nvPr/>
        </p:nvSpPr>
        <p:spPr>
          <a:xfrm>
            <a:off x="594360" y="155448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46652"/>
            <a:ext cx="199705" cy="199705"/>
          </a:xfrm>
          <a:prstGeom prst="rect">
            <a:avLst/>
          </a:prstGeom>
        </p:spPr>
      </p:pic>
      <p:sp>
        <p:nvSpPr>
          <p:cNvPr id="9" name="Text 5"/>
          <p:cNvSpPr txBox="1"/>
          <p:nvPr/>
        </p:nvSpPr>
        <p:spPr>
          <a:xfrm>
            <a:off x="1097280" y="155448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Yes, a specific date and time</a:t>
            </a:r>
            <a:endParaRPr lang="en-US" sz="1300" dirty="0"/>
          </a:p>
        </p:txBody>
      </p:sp>
      <p:sp>
        <p:nvSpPr>
          <p:cNvPr id="10" name="Text 6"/>
          <p:cNvSpPr txBox="1"/>
          <p:nvPr/>
        </p:nvSpPr>
        <p:spPr>
          <a:xfrm>
            <a:off x="594360" y="2084832"/>
            <a:ext cx="3726180" cy="15544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Reschedule the job to that date and time in the CP Dashboard</a:t>
            </a:r>
            <a:endParaRPr lang="en-US" sz="1000" dirty="0"/>
          </a:p>
        </p:txBody>
      </p:sp>
      <p:sp>
        <p:nvSpPr>
          <p:cNvPr id="11" name="Shape 7"/>
          <p:cNvSpPr/>
          <p:nvPr/>
        </p:nvSpPr>
        <p:spPr>
          <a:xfrm>
            <a:off x="4640580" y="1371600"/>
            <a:ext cx="4091940" cy="2377440"/>
          </a:xfrm>
          <a:prstGeom prst="roundRect">
            <a:avLst>
              <a:gd name="adj" fmla="val 3077"/>
            </a:avLst>
          </a:prstGeom>
          <a:solidFill>
            <a:srgbClr val="FFFFFF"/>
          </a:solidFill>
          <a:ln w="9525">
            <a:solidFill>
              <a:srgbClr val="DCE1E7"/>
            </a:solidFill>
            <a:prstDash val="solid"/>
          </a:ln>
        </p:spPr>
      </p:sp>
      <p:sp>
        <p:nvSpPr>
          <p:cNvPr id="12" name="Shape 8"/>
          <p:cNvSpPr/>
          <p:nvPr/>
        </p:nvSpPr>
        <p:spPr>
          <a:xfrm>
            <a:off x="4823460" y="155448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46652"/>
            <a:ext cx="199705" cy="199705"/>
          </a:xfrm>
          <a:prstGeom prst="rect">
            <a:avLst/>
          </a:prstGeom>
        </p:spPr>
      </p:pic>
      <p:sp>
        <p:nvSpPr>
          <p:cNvPr id="14" name="Text 9"/>
          <p:cNvSpPr txBox="1"/>
          <p:nvPr/>
        </p:nvSpPr>
        <p:spPr>
          <a:xfrm>
            <a:off x="5326380" y="155448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No specific date or time</a:t>
            </a:r>
            <a:endParaRPr lang="en-US" sz="1300" dirty="0"/>
          </a:p>
        </p:txBody>
      </p:sp>
      <p:sp>
        <p:nvSpPr>
          <p:cNvPr id="15" name="Text 10"/>
          <p:cNvSpPr txBox="1"/>
          <p:nvPr/>
        </p:nvSpPr>
        <p:spPr>
          <a:xfrm>
            <a:off x="4823460" y="2084832"/>
            <a:ext cx="3726180" cy="15544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Under 72 hrs since end: message both with reschedule instructions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72+ hrs: waive the fee, cancel via C CRM &gt; Do with the reason for whoever asked to reschedule, and send the customer rebooking steps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CANCELLATION REASON CODES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Customer reasons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Pick the reason that matches what your investigation found.</a:t>
            </a:r>
            <a:endParaRPr lang="en-US" sz="12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920240"/>
                <a:gridCol w="2240280"/>
                <a:gridCol w="1920240"/>
                <a:gridCol w="2240280"/>
              </a:tblGrid>
              <a:tr h="438912">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Reason code</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Use when</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Reason code</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Use when</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3891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Customer credit card failed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Card is invalid, can't be charged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Customer moved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Moved or moving</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3891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Failed pre-auth</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Still wants to cancel after the pre-auth is explained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Customer schedule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A schedule conflict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3891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Customer disputed charge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Disputed Homeaglow charges before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Customer change frequency</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Changing their recurring frequency</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3891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Customer price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Disagrees with the cost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Last job lockout / LMC</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Inactive, last job was a lockout or LMC</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3891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Customer wants one time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Doesn't want recurring cleanings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Customer double-booked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Two cleanings under 7 days apart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38912">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Customer doesn't want service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No reason, or unreachable with an invalid address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Customer wants requested CP</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Only wants their requested cleaner</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CANCELLATION REASON CODES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Cleaner and other reasons</a:t>
            </a:r>
            <a:endParaRPr lang="en-US" sz="24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1920240"/>
                <a:gridCol w="2240280"/>
                <a:gridCol w="1920240"/>
                <a:gridCol w="2240280"/>
              </a:tblGrid>
              <a:tr h="457200">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Reason code</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Use when</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Reason code</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00" b="1" dirty="0">
                          <a:solidFill>
                            <a:srgbClr val="0B7A6F"/>
                          </a:solidFill>
                          <a:latin typeface="SF Pro Display" pitchFamily="34" charset="0"/>
                          <a:ea typeface="SF Pro Display" pitchFamily="34" charset="-122"/>
                          <a:cs typeface="SF Pro Display" pitchFamily="34" charset="-120"/>
                        </a:rPr>
                        <a:t>Use when</a:t>
                      </a:r>
                      <a:endParaRPr lang="en-US" sz="9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57200">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CP Quality</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Previous cleaner didn't meet expectations (PCQ)</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Escalated safety issue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Cancelled for a safety concern</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CP no-show / reschedule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Cleaner tried to reschedule, rescheduled without consent, or no comms</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Homeaglow UI</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A system or dashboard issue</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CP cancellation</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Cleaner cancelled, no reschedule attempt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Voucher invalid move-out</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Move-out clean, extra hours refused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900" b="1" dirty="0">
                          <a:solidFill>
                            <a:srgbClr val="1D1D1F"/>
                          </a:solidFill>
                          <a:latin typeface="SF Pro Text" pitchFamily="34" charset="0"/>
                          <a:ea typeface="SF Pro Text" pitchFamily="34" charset="-122"/>
                          <a:cs typeface="SF Pro Text" pitchFamily="34" charset="-120"/>
                        </a:rPr>
                        <a:t>No CP Claimed</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No cleaner claimed the job</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Natural Disaster</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00" dirty="0">
                          <a:solidFill>
                            <a:srgbClr val="6E6E73"/>
                          </a:solidFill>
                          <a:latin typeface="SF Pro Text" pitchFamily="34" charset="0"/>
                          <a:ea typeface="SF Pro Text" pitchFamily="34" charset="-122"/>
                          <a:cs typeface="SF Pro Text" pitchFamily="34" charset="-120"/>
                        </a:rPr>
                        <a:t>Cancelled due to a natural disaster</a:t>
                      </a:r>
                      <a:endParaRPr lang="en-US" sz="9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4206240"/>
            <a:ext cx="8321040" cy="384048"/>
          </a:xfrm>
          <a:prstGeom prst="roundRect">
            <a:avLst>
              <a:gd name="adj" fmla="val 19048"/>
            </a:avLst>
          </a:prstGeom>
          <a:solidFill>
            <a:srgbClr val="FFF3D6"/>
          </a:solidFill>
          <a:ln w="9525">
            <a:solidFill>
              <a:srgbClr val="FFF3D6"/>
            </a:solidFill>
            <a:prstDash val="solid"/>
          </a:ln>
        </p:spPr>
      </p:sp>
      <p:pic>
        <p:nvPicPr>
          <p:cNvPr id="7" name="Image 0" descr="preencoded.png">    </p:cNvPr>
          <p:cNvPicPr>
            <a:picLocks noChangeAspect="1"/>
          </p:cNvPicPr>
          <p:nvPr/>
        </p:nvPicPr>
        <p:blipFill>
          <a:blip r:embed="rId1"/>
          <a:stretch>
            <a:fillRect/>
          </a:stretch>
        </p:blipFill>
        <p:spPr>
          <a:xfrm>
            <a:off x="566928" y="4315968"/>
            <a:ext cx="164592" cy="164592"/>
          </a:xfrm>
          <a:prstGeom prst="rect">
            <a:avLst/>
          </a:prstGeom>
        </p:spPr>
      </p:pic>
      <p:sp>
        <p:nvSpPr>
          <p:cNvPr id="8" name="Text 3"/>
          <p:cNvSpPr txBox="1"/>
          <p:nvPr/>
        </p:nvSpPr>
        <p:spPr>
          <a:xfrm>
            <a:off x="822960" y="43068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Remember:  </a:t>
            </a:r>
            <a:pPr indent="0" marL="0">
              <a:buNone/>
            </a:pPr>
            <a:r>
              <a:rPr lang="en-US" sz="1000" dirty="0">
                <a:solidFill>
                  <a:srgbClr val="1D1D1F"/>
                </a:solidFill>
                <a:latin typeface="SF Pro Text" pitchFamily="34" charset="0"/>
                <a:ea typeface="SF Pro Text" pitchFamily="34" charset="-122"/>
                <a:cs typeface="SF Pro Text" pitchFamily="34" charset="-120"/>
              </a:rPr>
              <a:t>the reason should match who initiated the cancellation and why.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66928" y="173736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WRAP-UP</a:t>
            </a:r>
            <a:endParaRPr lang="en-US" sz="800" dirty="0"/>
          </a:p>
        </p:txBody>
      </p:sp>
      <p:sp>
        <p:nvSpPr>
          <p:cNvPr id="3" name="Text 1"/>
          <p:cNvSpPr txBox="1"/>
          <p:nvPr/>
        </p:nvSpPr>
        <p:spPr>
          <a:xfrm>
            <a:off x="566928" y="1965960"/>
            <a:ext cx="4572000" cy="685800"/>
          </a:xfrm>
          <a:prstGeom prst="rect">
            <a:avLst/>
          </a:prstGeom>
          <a:noFill/>
          <a:ln/>
        </p:spPr>
        <p:txBody>
          <a:bodyPr wrap="square" lIns="0" tIns="0" rIns="0" bIns="0" rtlCol="0" anchor="t"/>
          <a:lstStyle/>
          <a:p>
            <a:pPr indent="0" marL="0">
              <a:buNone/>
            </a:pPr>
            <a:r>
              <a:rPr lang="en-US" sz="3400" b="1" dirty="0">
                <a:solidFill>
                  <a:srgbClr val="1D1D1F"/>
                </a:solidFill>
                <a:latin typeface="SF Pro Display" pitchFamily="34" charset="0"/>
                <a:ea typeface="SF Pro Display" pitchFamily="34" charset="-122"/>
                <a:cs typeface="SF Pro Display" pitchFamily="34" charset="-120"/>
              </a:rPr>
              <a:t>Questions?</a:t>
            </a:r>
            <a:endParaRPr lang="en-US" sz="3400" dirty="0"/>
          </a:p>
        </p:txBody>
      </p:sp>
      <p:sp>
        <p:nvSpPr>
          <p:cNvPr id="4" name="Text 2"/>
          <p:cNvSpPr txBox="1"/>
          <p:nvPr/>
        </p:nvSpPr>
        <p:spPr>
          <a:xfrm>
            <a:off x="566928" y="2697480"/>
            <a:ext cx="4206240" cy="45720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When in doubt, check the Knowledge Library or ask your Trainer or Team Lead.</a:t>
            </a:r>
            <a:endParaRPr lang="en-US" sz="1200" dirty="0"/>
          </a:p>
        </p:txBody>
      </p:sp>
      <p:sp>
        <p:nvSpPr>
          <p:cNvPr id="5" name="Shape 3"/>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6" name="Shape 4"/>
          <p:cNvSpPr/>
          <p:nvPr/>
        </p:nvSpPr>
        <p:spPr>
          <a:xfrm>
            <a:off x="5724144" y="1289304"/>
            <a:ext cx="2560320" cy="2560320"/>
          </a:xfrm>
          <a:prstGeom prst="ellipse">
            <a:avLst/>
          </a:prstGeom>
          <a:solidFill>
            <a:srgbClr val="FFFFFF"/>
          </a:solidFill>
          <a:ln w="12700">
            <a:solidFill>
              <a:srgbClr val="FFFFFF"/>
            </a:solidFill>
            <a:prstDash val="solid"/>
          </a:ln>
        </p:spPr>
      </p:sp>
      <p:pic>
        <p:nvPicPr>
          <p:cNvPr id="7" name="Image 0" descr="/tmp/claude-0/-workspace-training/3ce5cff6-cccf-5f33-b0ee-0b147a55120e/scratchpad/img2/ill9.png">    </p:cNvPr>
          <p:cNvPicPr>
            <a:picLocks noChangeAspect="1"/>
          </p:cNvPicPr>
          <p:nvPr/>
        </p:nvPicPr>
        <p:blipFill>
          <a:blip r:embed="rId1"/>
          <a:stretch>
            <a:fillRect/>
          </a:stretch>
        </p:blipFill>
        <p:spPr>
          <a:xfrm>
            <a:off x="5541264" y="1695208"/>
            <a:ext cx="2926080" cy="1748511"/>
          </a:xfrm>
          <a:prstGeom prst="rect">
            <a:avLst/>
          </a:prstGeom>
        </p:spPr>
      </p:pic>
      <p:sp>
        <p:nvSpPr>
          <p:cNvPr id="8" name="Shape 5"/>
          <p:cNvSpPr/>
          <p:nvPr/>
        </p:nvSpPr>
        <p:spPr>
          <a:xfrm>
            <a:off x="5522976" y="822960"/>
            <a:ext cx="329184" cy="329184"/>
          </a:xfrm>
          <a:prstGeom prst="ellipse">
            <a:avLst/>
          </a:prstGeom>
          <a:solidFill>
            <a:srgbClr val="FFFFFF"/>
          </a:solidFill>
          <a:ln w="12700">
            <a:solidFill>
              <a:srgbClr val="FFFFFF"/>
            </a:solidFill>
            <a:prstDash val="solid"/>
          </a:ln>
        </p:spPr>
      </p:sp>
      <p:sp>
        <p:nvSpPr>
          <p:cNvPr id="9" name="Shape 6"/>
          <p:cNvSpPr/>
          <p:nvPr/>
        </p:nvSpPr>
        <p:spPr>
          <a:xfrm>
            <a:off x="5646420" y="946404"/>
            <a:ext cx="82296" cy="82296"/>
          </a:xfrm>
          <a:prstGeom prst="ellipse">
            <a:avLst/>
          </a:prstGeom>
          <a:solidFill>
            <a:srgbClr val="0B7A6F"/>
          </a:solidFill>
          <a:ln w="12700">
            <a:solidFill>
              <a:srgbClr val="0B7A6F"/>
            </a:solidFill>
            <a:prstDash val="solid"/>
          </a:ln>
        </p:spPr>
      </p:sp>
      <p:sp>
        <p:nvSpPr>
          <p:cNvPr id="10" name="Shape 7"/>
          <p:cNvSpPr/>
          <p:nvPr/>
        </p:nvSpPr>
        <p:spPr>
          <a:xfrm>
            <a:off x="8193024" y="822960"/>
            <a:ext cx="329184" cy="329184"/>
          </a:xfrm>
          <a:prstGeom prst="ellipse">
            <a:avLst/>
          </a:prstGeom>
          <a:solidFill>
            <a:srgbClr val="FFFFFF"/>
          </a:solidFill>
          <a:ln w="12700">
            <a:solidFill>
              <a:srgbClr val="FFFFFF"/>
            </a:solidFill>
            <a:prstDash val="solid"/>
          </a:ln>
        </p:spPr>
      </p:sp>
      <p:sp>
        <p:nvSpPr>
          <p:cNvPr id="11" name="Shape 8"/>
          <p:cNvSpPr/>
          <p:nvPr/>
        </p:nvSpPr>
        <p:spPr>
          <a:xfrm>
            <a:off x="8316468" y="946404"/>
            <a:ext cx="82296" cy="82296"/>
          </a:xfrm>
          <a:prstGeom prst="ellipse">
            <a:avLst/>
          </a:prstGeom>
          <a:solidFill>
            <a:srgbClr val="0B7A6F"/>
          </a:solidFill>
          <a:ln w="12700">
            <a:solidFill>
              <a:srgbClr val="0B7A6F"/>
            </a:solidFill>
            <a:prstDash val="solid"/>
          </a:ln>
        </p:spPr>
      </p:sp>
      <p:sp>
        <p:nvSpPr>
          <p:cNvPr id="12" name="Shape 9"/>
          <p:cNvSpPr/>
          <p:nvPr/>
        </p:nvSpPr>
        <p:spPr>
          <a:xfrm>
            <a:off x="8193024" y="3986784"/>
            <a:ext cx="329184" cy="329184"/>
          </a:xfrm>
          <a:prstGeom prst="ellipse">
            <a:avLst/>
          </a:prstGeom>
          <a:solidFill>
            <a:srgbClr val="FFFFFF"/>
          </a:solidFill>
          <a:ln w="12700">
            <a:solidFill>
              <a:srgbClr val="FFFFFF"/>
            </a:solidFill>
            <a:prstDash val="solid"/>
          </a:ln>
        </p:spPr>
      </p:sp>
      <p:sp>
        <p:nvSpPr>
          <p:cNvPr id="13" name="Shape 10"/>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66928" y="1417320"/>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11 OF 11</a:t>
            </a:r>
            <a:endParaRPr lang="en-US" sz="800" dirty="0"/>
          </a:p>
        </p:txBody>
      </p:sp>
      <p:sp>
        <p:nvSpPr>
          <p:cNvPr id="3" name="Text 1"/>
          <p:cNvSpPr txBox="1"/>
          <p:nvPr/>
        </p:nvSpPr>
        <p:spPr>
          <a:xfrm>
            <a:off x="566928" y="1645920"/>
            <a:ext cx="4389120" cy="685800"/>
          </a:xfrm>
          <a:prstGeom prst="rect">
            <a:avLst/>
          </a:prstGeom>
          <a:noFill/>
          <a:ln/>
        </p:spPr>
        <p:txBody>
          <a:bodyPr wrap="square" lIns="0" tIns="0" rIns="0" bIns="0" rtlCol="0" anchor="t"/>
          <a:lstStyle/>
          <a:p>
            <a:pPr indent="0" marL="0">
              <a:buNone/>
            </a:pPr>
            <a:r>
              <a:rPr lang="en-US" sz="3000" b="1" dirty="0">
                <a:solidFill>
                  <a:srgbClr val="1D1D1F"/>
                </a:solidFill>
                <a:latin typeface="SF Pro Display" pitchFamily="34" charset="0"/>
                <a:ea typeface="SF Pro Display" pitchFamily="34" charset="-122"/>
                <a:cs typeface="SF Pro Display" pitchFamily="34" charset="-120"/>
              </a:rPr>
              <a:t>Knowledge Check</a:t>
            </a:r>
            <a:endParaRPr lang="en-US" sz="3000" dirty="0"/>
          </a:p>
        </p:txBody>
      </p:sp>
      <p:sp>
        <p:nvSpPr>
          <p:cNvPr id="4" name="Text 2"/>
          <p:cNvSpPr txBox="1"/>
          <p:nvPr/>
        </p:nvSpPr>
        <p:spPr>
          <a:xfrm>
            <a:off x="566928" y="2377440"/>
            <a:ext cx="4206240" cy="54864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Time to check what you've learned. Your trainer will explain the format.</a:t>
            </a:r>
            <a:endParaRPr lang="en-US" sz="1200" dirty="0"/>
          </a:p>
        </p:txBody>
      </p:sp>
      <p:sp>
        <p:nvSpPr>
          <p:cNvPr id="5" name="Shape 3"/>
          <p:cNvSpPr/>
          <p:nvPr/>
        </p:nvSpPr>
        <p:spPr>
          <a:xfrm>
            <a:off x="566928" y="3108960"/>
            <a:ext cx="4206240" cy="502920"/>
          </a:xfrm>
          <a:prstGeom prst="roundRect">
            <a:avLst>
              <a:gd name="adj" fmla="val 14545"/>
            </a:avLst>
          </a:prstGeom>
          <a:solidFill>
            <a:srgbClr val="FFF3D6"/>
          </a:solidFill>
          <a:ln w="9525">
            <a:solidFill>
              <a:srgbClr val="FFF3D6"/>
            </a:solidFill>
            <a:prstDash val="solid"/>
          </a:ln>
        </p:spPr>
      </p:sp>
      <p:pic>
        <p:nvPicPr>
          <p:cNvPr id="6" name="Image 0" descr="preencoded.png">    </p:cNvPr>
          <p:cNvPicPr>
            <a:picLocks noChangeAspect="1"/>
          </p:cNvPicPr>
          <p:nvPr/>
        </p:nvPicPr>
        <p:blipFill>
          <a:blip r:embed="rId1"/>
          <a:stretch>
            <a:fillRect/>
          </a:stretch>
        </p:blipFill>
        <p:spPr>
          <a:xfrm>
            <a:off x="731520" y="3273552"/>
            <a:ext cx="182880" cy="182880"/>
          </a:xfrm>
          <a:prstGeom prst="rect">
            <a:avLst/>
          </a:prstGeom>
        </p:spPr>
      </p:pic>
      <p:sp>
        <p:nvSpPr>
          <p:cNvPr id="7" name="Text 4"/>
          <p:cNvSpPr txBox="1"/>
          <p:nvPr/>
        </p:nvSpPr>
        <p:spPr>
          <a:xfrm>
            <a:off x="1005840" y="3200400"/>
            <a:ext cx="3657600" cy="320040"/>
          </a:xfrm>
          <a:prstGeom prst="rect">
            <a:avLst/>
          </a:prstGeom>
          <a:noFill/>
          <a:ln/>
        </p:spPr>
        <p:txBody>
          <a:bodyPr wrap="square" lIns="0" tIns="0" rIns="0" bIns="0" rtlCol="0" anchor="ctr"/>
          <a:lstStyle/>
          <a:p>
            <a:pPr indent="0" marL="0">
              <a:buNone/>
            </a:pPr>
            <a:r>
              <a:rPr lang="en-US" sz="1000" b="1" dirty="0">
                <a:solidFill>
                  <a:srgbClr val="9A6410"/>
                </a:solidFill>
                <a:latin typeface="SF Pro Text" pitchFamily="34" charset="0"/>
                <a:ea typeface="SF Pro Text" pitchFamily="34" charset="-122"/>
                <a:cs typeface="SF Pro Text" pitchFamily="34" charset="-120"/>
              </a:rPr>
              <a:t>Trainer note:  </a:t>
            </a:r>
            <a:pPr indent="0" marL="0">
              <a:buNone/>
            </a:pPr>
            <a:r>
              <a:rPr lang="en-US" sz="1000" dirty="0">
                <a:solidFill>
                  <a:srgbClr val="1D1D1F"/>
                </a:solidFill>
                <a:latin typeface="SF Pro Text" pitchFamily="34" charset="0"/>
                <a:ea typeface="SF Pro Text" pitchFamily="34" charset="-122"/>
                <a:cs typeface="SF Pro Text" pitchFamily="34" charset="-120"/>
              </a:rPr>
              <a:t>format and questions set by the trainer.</a:t>
            </a:r>
            <a:endParaRPr lang="en-US" sz="1000" dirty="0"/>
          </a:p>
        </p:txBody>
      </p:sp>
      <p:sp>
        <p:nvSpPr>
          <p:cNvPr id="8" name="Shape 5"/>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9" name="Shape 6"/>
          <p:cNvSpPr/>
          <p:nvPr/>
        </p:nvSpPr>
        <p:spPr>
          <a:xfrm>
            <a:off x="5724144" y="1289304"/>
            <a:ext cx="2560320" cy="2560320"/>
          </a:xfrm>
          <a:prstGeom prst="ellipse">
            <a:avLst/>
          </a:prstGeom>
          <a:solidFill>
            <a:srgbClr val="FFFFFF"/>
          </a:solidFill>
          <a:ln w="12700">
            <a:solidFill>
              <a:srgbClr val="FFFFFF"/>
            </a:solidFill>
            <a:prstDash val="solid"/>
          </a:ln>
        </p:spPr>
      </p:sp>
      <p:pic>
        <p:nvPicPr>
          <p:cNvPr id="10" name="Image 1" descr="/tmp/claude-0/-workspace-training/3ce5cff6-cccf-5f33-b0ee-0b147a55120e/scratchpad/img2/ill10.png">    </p:cNvPr>
          <p:cNvPicPr>
            <a:picLocks noChangeAspect="1"/>
          </p:cNvPicPr>
          <p:nvPr/>
        </p:nvPicPr>
        <p:blipFill>
          <a:blip r:embed="rId2"/>
          <a:stretch>
            <a:fillRect/>
          </a:stretch>
        </p:blipFill>
        <p:spPr>
          <a:xfrm>
            <a:off x="5541264" y="1776984"/>
            <a:ext cx="2926080" cy="1584960"/>
          </a:xfrm>
          <a:prstGeom prst="rect">
            <a:avLst/>
          </a:prstGeom>
        </p:spPr>
      </p:pic>
      <p:sp>
        <p:nvSpPr>
          <p:cNvPr id="11" name="Shape 7"/>
          <p:cNvSpPr/>
          <p:nvPr/>
        </p:nvSpPr>
        <p:spPr>
          <a:xfrm>
            <a:off x="5522976" y="822960"/>
            <a:ext cx="329184" cy="329184"/>
          </a:xfrm>
          <a:prstGeom prst="ellipse">
            <a:avLst/>
          </a:prstGeom>
          <a:solidFill>
            <a:srgbClr val="FFFFFF"/>
          </a:solidFill>
          <a:ln w="12700">
            <a:solidFill>
              <a:srgbClr val="FFFFFF"/>
            </a:solidFill>
            <a:prstDash val="solid"/>
          </a:ln>
        </p:spPr>
      </p:sp>
      <p:sp>
        <p:nvSpPr>
          <p:cNvPr id="12" name="Shape 8"/>
          <p:cNvSpPr/>
          <p:nvPr/>
        </p:nvSpPr>
        <p:spPr>
          <a:xfrm>
            <a:off x="5646420" y="946404"/>
            <a:ext cx="82296" cy="82296"/>
          </a:xfrm>
          <a:prstGeom prst="ellipse">
            <a:avLst/>
          </a:prstGeom>
          <a:solidFill>
            <a:srgbClr val="0B7A6F"/>
          </a:solidFill>
          <a:ln w="12700">
            <a:solidFill>
              <a:srgbClr val="0B7A6F"/>
            </a:solidFill>
            <a:prstDash val="solid"/>
          </a:ln>
        </p:spPr>
      </p:sp>
      <p:sp>
        <p:nvSpPr>
          <p:cNvPr id="13" name="Shape 9"/>
          <p:cNvSpPr/>
          <p:nvPr/>
        </p:nvSpPr>
        <p:spPr>
          <a:xfrm>
            <a:off x="8193024" y="822960"/>
            <a:ext cx="329184" cy="329184"/>
          </a:xfrm>
          <a:prstGeom prst="ellipse">
            <a:avLst/>
          </a:prstGeom>
          <a:solidFill>
            <a:srgbClr val="FFFFFF"/>
          </a:solidFill>
          <a:ln w="12700">
            <a:solidFill>
              <a:srgbClr val="FFFFFF"/>
            </a:solidFill>
            <a:prstDash val="solid"/>
          </a:ln>
        </p:spPr>
      </p:sp>
      <p:sp>
        <p:nvSpPr>
          <p:cNvPr id="14" name="Shape 10"/>
          <p:cNvSpPr/>
          <p:nvPr/>
        </p:nvSpPr>
        <p:spPr>
          <a:xfrm>
            <a:off x="8316468" y="946404"/>
            <a:ext cx="82296" cy="82296"/>
          </a:xfrm>
          <a:prstGeom prst="ellipse">
            <a:avLst/>
          </a:prstGeom>
          <a:solidFill>
            <a:srgbClr val="0B7A6F"/>
          </a:solidFill>
          <a:ln w="12700">
            <a:solidFill>
              <a:srgbClr val="0B7A6F"/>
            </a:solidFill>
            <a:prstDash val="solid"/>
          </a:ln>
        </p:spPr>
      </p:sp>
      <p:sp>
        <p:nvSpPr>
          <p:cNvPr id="15" name="Shape 11"/>
          <p:cNvSpPr/>
          <p:nvPr/>
        </p:nvSpPr>
        <p:spPr>
          <a:xfrm>
            <a:off x="8193024" y="3986784"/>
            <a:ext cx="329184" cy="329184"/>
          </a:xfrm>
          <a:prstGeom prst="ellipse">
            <a:avLst/>
          </a:prstGeom>
          <a:solidFill>
            <a:srgbClr val="FFFFFF"/>
          </a:solidFill>
          <a:ln w="12700">
            <a:solidFill>
              <a:srgbClr val="FFFFFF"/>
            </a:solidFill>
            <a:prstDash val="solid"/>
          </a:ln>
        </p:spPr>
      </p:sp>
      <p:sp>
        <p:nvSpPr>
          <p:cNvPr id="16" name="Shape 12"/>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Cleaner Foundations &amp; the CP CRM</dc:title>
  <dc:subject>PptxGenJS Presentation</dc:subject>
  <dc:creator>PptxGenJS</dc:creator>
  <cp:lastModifiedBy>PptxGenJS</cp:lastModifiedBy>
  <cp:revision>1</cp:revision>
  <dcterms:created xsi:type="dcterms:W3CDTF">2026-10-02T18:13:32Z</dcterms:created>
  <dcterms:modified xsi:type="dcterms:W3CDTF">2026-10-02T18:13:32Z</dcterms:modified>
</cp:coreProperties>
</file>