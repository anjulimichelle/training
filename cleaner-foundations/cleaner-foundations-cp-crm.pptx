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 anxiety: the customer asks if their request has been claimed, or when it will be. A submitted job is automatically upgraded to a Priority Request within 24-48 hours of the start time. 2) Last-minute job request: CS may book cleaning requests as soon as 12 hours in advance. Priority markups do not apply to jobs booked via CRM. 3) Customer wants a cleaner of a specific gender: there is no option to select a gender, but customers may request to be rematched with another cleaner any time more than 6 hours before the job start time if they don't like the cleaner who claims. Preferences can also be added to the cleaning notes. 4) Customer wants a specific cleaner for an upcoming appointment: we can change the customer's Requested CPs through the Job Admin Page, only if they explicitly request it. TRAINER NOTE: walk trainees through how to change Requested CPs on the Job Admin Page. 5) Customer has a strict schedule and can only do certain dates/times: to increase the likelihood of the job being claimed, the system may automatically add alternate start times if the job is still unclaimed 24 hours before it starts. To stop this, add the flag: New CRM &gt; Flags &gt; + Add Flags &gt; do_not_auto_add_alternate_start_times.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Job is claimed at a different date than initially booked: check the job history to see if the job was claimed at an alternate date and time, or was rescheduled by the cleaner. 2) Customer reports they received confirmations from 2 different cleaners: check the job history to see if the first cleaner cancelled or was swapped out. Remember swapping is internal: never mention it to the customer. 3) Customer wants their cleaner changed: change the cleaner from the Job Admin Page. TRAINER NOTE: demo how to change the cleaner on the Job Admin Page. 4) Customer wants the appointment rescheduled: reschedule from the C Dashboard, or cancel and rebook from the CRM if rescheduling would result in a priority fee. 5) CP cancellations: help the customer get a new cleaner if the request is still active, or offer priority cleaning if the appointment was canceled.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has its own process guide in the Knowledge Library, covered in later sessions. 1) Poor Cleaning Quality (PCQ): the customer is not satisfied with the cleaning; follow the Poor Cleaning Quality process guide. 2) Overcharged Hours (OCH): the customer reports an incorrect number of hours billed; follow the Overcharged Hours process guide. 3) False Invoice: the cleaner billed the customer even though they didn't show up; follow the False Invoice process guide. 4) Lockout (LO): the cleaner couldn't get into the customer's home and submitted a lockout; follow the Lockout validation process. 5) Billing Inquiry: the customer asks for an explanation of their charges; provide clarification of the charges (see C Price vs CP Pay in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most common tickets at this stage: a customer last-minute cancellation, a last-minute CP cancellation, a CP no-show, and no CP claiming the appointment. Whatever the reason, the goal is the same: help the customer get a cleaning right away. Each issue has its own process guide in the Knowledge Library, covered in later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give trainees a few minutes, then discuss. Read the comms: the customer told the cleaner "I'm going to cancel it because I have some things to do myself", and the cleaner agreed ("Yeah, no problem"). The job has been in Pending Invoice for 75 hours. Suggested answer (trainer to confirm): the comms clearly show the cleaning did not happen and the customer initiated the cancellation, so per the action guide cancel the job from the C CRM (no CP penalty) with the matching customer reason code, and send the C and/or CP comms. It is also past 72 hours since the job end time. Also discuss the cleaner's message about not being paid: it is not part of resolving this job, but should be noted and routed appropriately.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trainees 5 minutes to write their comms, then click Show Sample Comms (or press the right arrow) to reveal the sample. Discuss differences. Sample: Hi &lt;C&gt;, Just checking in about your cleaning on &lt;Date&gt; with &lt;CP Name&gt;. Were you able to get the cleaning done? If not, I'd be happy to help find you another cleaner through priority booking. Just let me know what date and time works best for you, and I'll take care of it. Let me know if you need anything else! -CS, Homeaglow HQ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2.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2.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slideLayout" Target="../slideLayouts/slideLayout2.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2.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2.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2.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2.xml"/><Relationship Id="rId4"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tickets: Submitted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while the job waits for a cleaner.</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Match anxiety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"Has my request been claimed? When will it be?"</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 submitted job is automatically upgraded to a Priority Request within 24–48 hours of the start time.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Last-minute job request</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CS can book a cleaning less than 12 hours in advance through the CRM. Priority markups don't apply to jobs booked via the CRM.</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cleaner of a specific gender</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There's no gender option. They can rematch any time 6+ hours before start, and add preferences to the cleaning notes.</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specific cleaner</a:t>
            </a:r>
            <a:endParaRPr lang="en-US" sz="1050" dirty="0"/>
          </a:p>
        </p:txBody>
      </p:sp>
      <p:sp>
        <p:nvSpPr>
          <p:cNvPr id="25" name="Text 22"/>
          <p:cNvSpPr txBox="1"/>
          <p:nvPr/>
        </p:nvSpPr>
        <p:spPr>
          <a:xfrm>
            <a:off x="3566160" y="33558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their Requested CPs on the Job Admin Page, only if they explicitly ask.</a:t>
            </a:r>
            <a:endParaRPr lang="en-US" sz="950" dirty="0"/>
          </a:p>
        </p:txBody>
      </p:sp>
      <p:sp>
        <p:nvSpPr>
          <p:cNvPr id="26" name="Shape 23"/>
          <p:cNvSpPr/>
          <p:nvPr/>
        </p:nvSpPr>
        <p:spPr>
          <a:xfrm>
            <a:off x="7589520" y="3538728"/>
            <a:ext cx="1005840" cy="256032"/>
          </a:xfrm>
          <a:prstGeom prst="roundRect">
            <a:avLst>
              <a:gd name="adj" fmla="val 28571"/>
            </a:avLst>
          </a:prstGeom>
          <a:solidFill>
            <a:srgbClr val="FFF3D6"/>
          </a:solidFill>
          <a:ln w="9525">
            <a:solidFill>
              <a:srgbClr val="FFF3D6"/>
            </a:solidFill>
            <a:prstDash val="solid"/>
          </a:ln>
        </p:spPr>
      </p:sp>
      <p:sp>
        <p:nvSpPr>
          <p:cNvPr id="27" name="Text 24"/>
          <p:cNvSpPr txBox="1"/>
          <p:nvPr/>
        </p:nvSpPr>
        <p:spPr>
          <a:xfrm>
            <a:off x="7589520" y="35387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Strict schedule, only certain dates/times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Unclaimed 24 hrs before start, the system may add alternate times. To stop it: New CRM › Flags › + Add Flags › do_not_auto_add_alternate_start_times.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Claimed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once a cleaner has claimed the job.</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at a different date than booked</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was it claimed at an alternate date and time, or rescheduled by the cleaner?</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Confirmations from 2 different cleaners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did the first cleaner cancel, or were they swapped out?</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their cleaner changed</a:t>
            </a:r>
            <a:endParaRPr lang="en-US" sz="1050" dirty="0"/>
          </a:p>
        </p:txBody>
      </p:sp>
      <p:sp>
        <p:nvSpPr>
          <p:cNvPr id="20" name="Text 17"/>
          <p:cNvSpPr txBox="1"/>
          <p:nvPr/>
        </p:nvSpPr>
        <p:spPr>
          <a:xfrm>
            <a:off x="3566160" y="26700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 cleaner from the Job Admin Page.</a:t>
            </a:r>
            <a:endParaRPr lang="en-US" sz="950" dirty="0"/>
          </a:p>
        </p:txBody>
      </p:sp>
      <p:sp>
        <p:nvSpPr>
          <p:cNvPr id="21" name="Shape 18"/>
          <p:cNvSpPr/>
          <p:nvPr/>
        </p:nvSpPr>
        <p:spPr>
          <a:xfrm>
            <a:off x="7589520" y="2852928"/>
            <a:ext cx="1005840" cy="256032"/>
          </a:xfrm>
          <a:prstGeom prst="roundRect">
            <a:avLst>
              <a:gd name="adj" fmla="val 28571"/>
            </a:avLst>
          </a:prstGeom>
          <a:solidFill>
            <a:srgbClr val="FFF3D6"/>
          </a:solidFill>
          <a:ln w="9525">
            <a:solidFill>
              <a:srgbClr val="FFF3D6"/>
            </a:solidFill>
            <a:prstDash val="solid"/>
          </a:ln>
        </p:spPr>
      </p:sp>
      <p:sp>
        <p:nvSpPr>
          <p:cNvPr id="22" name="Text 19"/>
          <p:cNvSpPr txBox="1"/>
          <p:nvPr/>
        </p:nvSpPr>
        <p:spPr>
          <a:xfrm>
            <a:off x="7589520" y="28529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3" name="Shape 20"/>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4" name="Shape 21"/>
          <p:cNvSpPr/>
          <p:nvPr/>
        </p:nvSpPr>
        <p:spPr>
          <a:xfrm>
            <a:off x="548640" y="3538728"/>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 appointment rescheduled</a:t>
            </a:r>
            <a:endParaRPr lang="en-US" sz="1050" dirty="0"/>
          </a:p>
        </p:txBody>
      </p:sp>
      <p:sp>
        <p:nvSpPr>
          <p:cNvPr id="27" name="Text 24"/>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Reschedule from the C Dashboard, or cancel and rebook from the CRM if rescheduling would add a priority fee.</a:t>
            </a:r>
            <a:endParaRPr lang="en-US" sz="95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CP Cancellations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Help the customer get a new cleaner if the request is still active, or offer priority cleaning if the appointment was canceled.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Invoiced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raise once the job has been charged.</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Poor Cleaning Quality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Not satisfied with the cleaning</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Poor Cleaning Quality process guide.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Overcharged Hours</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for the wrong number of hours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Overcharged Hours process guide.</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False Invoice</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but the cleaner never showed</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False Invoice process guide.</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Lockout</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Cleaner couldn't get in and filed a lockout</a:t>
            </a:r>
            <a:endParaRPr lang="en-US" sz="1050" dirty="0"/>
          </a:p>
        </p:txBody>
      </p:sp>
      <p:sp>
        <p:nvSpPr>
          <p:cNvPr id="25" name="Text 22"/>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Lockout validation process.</a:t>
            </a:r>
            <a:endParaRPr lang="en-US" sz="950" dirty="0"/>
          </a:p>
        </p:txBody>
      </p:sp>
      <p:sp>
        <p:nvSpPr>
          <p:cNvPr id="26" name="Shape 23"/>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7" name="Shape 24"/>
          <p:cNvSpPr/>
          <p:nvPr/>
        </p:nvSpPr>
        <p:spPr>
          <a:xfrm>
            <a:off x="548640" y="4224528"/>
            <a:ext cx="274320" cy="274320"/>
          </a:xfrm>
          <a:prstGeom prst="ellipse">
            <a:avLst/>
          </a:prstGeom>
          <a:solidFill>
            <a:srgbClr val="E3F4F1"/>
          </a:solidFill>
          <a:ln w="12700">
            <a:solidFill>
              <a:srgbClr val="E3F4F1"/>
            </a:solidFill>
            <a:prstDash val="solid"/>
          </a:ln>
        </p:spPr>
      </p:sp>
      <p:sp>
        <p:nvSpPr>
          <p:cNvPr id="28" name="Text 25"/>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9" name="Text 26"/>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Billing Inquiry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Wants their charges explained</a:t>
            </a:r>
            <a:endParaRPr lang="en-US" sz="1050" dirty="0"/>
          </a:p>
        </p:txBody>
      </p:sp>
      <p:sp>
        <p:nvSpPr>
          <p:cNvPr id="30" name="Text 27"/>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Provide clarification of the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Cancelled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tickets you'll see most once a job is cancelled.</a:t>
            </a:r>
            <a:endParaRPr lang="en-US" sz="1200" dirty="0"/>
          </a:p>
        </p:txBody>
      </p:sp>
      <p:sp>
        <p:nvSpPr>
          <p:cNvPr id="6" name="Shape 3"/>
          <p:cNvSpPr/>
          <p:nvPr/>
        </p:nvSpPr>
        <p:spPr>
          <a:xfrm>
            <a:off x="411480" y="1371600"/>
            <a:ext cx="1977390" cy="1143000"/>
          </a:xfrm>
          <a:prstGeom prst="roundRect">
            <a:avLst>
              <a:gd name="adj" fmla="val 6400"/>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last-minute cancellation</a:t>
            </a:r>
            <a:endParaRPr lang="en-US" sz="1200" dirty="0"/>
          </a:p>
        </p:txBody>
      </p:sp>
      <p:sp>
        <p:nvSpPr>
          <p:cNvPr id="10" name="Shape 6"/>
          <p:cNvSpPr/>
          <p:nvPr/>
        </p:nvSpPr>
        <p:spPr>
          <a:xfrm>
            <a:off x="2526030" y="1371600"/>
            <a:ext cx="1977390" cy="1143000"/>
          </a:xfrm>
          <a:prstGeom prst="roundRect">
            <a:avLst>
              <a:gd name="adj" fmla="val 6400"/>
            </a:avLst>
          </a:prstGeom>
          <a:solidFill>
            <a:srgbClr val="FFFFFF"/>
          </a:solidFill>
          <a:ln w="9525">
            <a:solidFill>
              <a:srgbClr val="DCE1E7"/>
            </a:solidFill>
            <a:prstDash val="solid"/>
          </a:ln>
        </p:spPr>
      </p:sp>
      <p:sp>
        <p:nvSpPr>
          <p:cNvPr id="11" name="Shape 7"/>
          <p:cNvSpPr/>
          <p:nvPr/>
        </p:nvSpPr>
        <p:spPr>
          <a:xfrm>
            <a:off x="2690622" y="153619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615196"/>
            <a:ext cx="171176" cy="171176"/>
          </a:xfrm>
          <a:prstGeom prst="rect">
            <a:avLst/>
          </a:prstGeom>
        </p:spPr>
      </p:pic>
      <p:sp>
        <p:nvSpPr>
          <p:cNvPr id="13" name="Text 8"/>
          <p:cNvSpPr txBox="1"/>
          <p:nvPr/>
        </p:nvSpPr>
        <p:spPr>
          <a:xfrm>
            <a:off x="269062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Last-minute CP cancellation</a:t>
            </a:r>
            <a:endParaRPr lang="en-US" sz="1200" dirty="0"/>
          </a:p>
        </p:txBody>
      </p:sp>
      <p:sp>
        <p:nvSpPr>
          <p:cNvPr id="14" name="Shape 9"/>
          <p:cNvSpPr/>
          <p:nvPr/>
        </p:nvSpPr>
        <p:spPr>
          <a:xfrm>
            <a:off x="4640580" y="1371600"/>
            <a:ext cx="1977390" cy="1143000"/>
          </a:xfrm>
          <a:prstGeom prst="roundRect">
            <a:avLst>
              <a:gd name="adj" fmla="val 6400"/>
            </a:avLst>
          </a:prstGeom>
          <a:solidFill>
            <a:srgbClr val="FFFFFF"/>
          </a:solidFill>
          <a:ln w="9525">
            <a:solidFill>
              <a:srgbClr val="DCE1E7"/>
            </a:solidFill>
            <a:prstDash val="solid"/>
          </a:ln>
        </p:spPr>
      </p:sp>
      <p:sp>
        <p:nvSpPr>
          <p:cNvPr id="15" name="Shape 10"/>
          <p:cNvSpPr/>
          <p:nvPr/>
        </p:nvSpPr>
        <p:spPr>
          <a:xfrm>
            <a:off x="4805172" y="15361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884176" y="1615196"/>
            <a:ext cx="171176" cy="171176"/>
          </a:xfrm>
          <a:prstGeom prst="rect">
            <a:avLst/>
          </a:prstGeom>
        </p:spPr>
      </p:pic>
      <p:sp>
        <p:nvSpPr>
          <p:cNvPr id="17" name="Text 11"/>
          <p:cNvSpPr txBox="1"/>
          <p:nvPr/>
        </p:nvSpPr>
        <p:spPr>
          <a:xfrm>
            <a:off x="480517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no-show</a:t>
            </a:r>
            <a:endParaRPr lang="en-US" sz="1200" dirty="0"/>
          </a:p>
        </p:txBody>
      </p:sp>
      <p:sp>
        <p:nvSpPr>
          <p:cNvPr id="18" name="Shape 12"/>
          <p:cNvSpPr/>
          <p:nvPr/>
        </p:nvSpPr>
        <p:spPr>
          <a:xfrm>
            <a:off x="6755130" y="1371600"/>
            <a:ext cx="1977390" cy="1143000"/>
          </a:xfrm>
          <a:prstGeom prst="roundRect">
            <a:avLst>
              <a:gd name="adj" fmla="val 6400"/>
            </a:avLst>
          </a:prstGeom>
          <a:solidFill>
            <a:srgbClr val="FFFFFF"/>
          </a:solidFill>
          <a:ln w="9525">
            <a:solidFill>
              <a:srgbClr val="DCE1E7"/>
            </a:solidFill>
            <a:prstDash val="solid"/>
          </a:ln>
        </p:spPr>
      </p:sp>
      <p:sp>
        <p:nvSpPr>
          <p:cNvPr id="19" name="Shape 13"/>
          <p:cNvSpPr/>
          <p:nvPr/>
        </p:nvSpPr>
        <p:spPr>
          <a:xfrm>
            <a:off x="6919722" y="1536192"/>
            <a:ext cx="329184" cy="329184"/>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6998726" y="1615196"/>
            <a:ext cx="171176" cy="171176"/>
          </a:xfrm>
          <a:prstGeom prst="rect">
            <a:avLst/>
          </a:prstGeom>
        </p:spPr>
      </p:pic>
      <p:sp>
        <p:nvSpPr>
          <p:cNvPr id="21" name="Text 14"/>
          <p:cNvSpPr txBox="1"/>
          <p:nvPr/>
        </p:nvSpPr>
        <p:spPr>
          <a:xfrm>
            <a:off x="691972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CP claims the appointment</a:t>
            </a:r>
            <a:endParaRPr lang="en-US" sz="1200" dirty="0"/>
          </a:p>
        </p:txBody>
      </p:sp>
      <p:sp>
        <p:nvSpPr>
          <p:cNvPr id="22" name="Shape 15"/>
          <p:cNvSpPr/>
          <p:nvPr/>
        </p:nvSpPr>
        <p:spPr>
          <a:xfrm>
            <a:off x="411480" y="2697480"/>
            <a:ext cx="8321040" cy="822960"/>
          </a:xfrm>
          <a:prstGeom prst="roundRect">
            <a:avLst>
              <a:gd name="adj" fmla="val 8889"/>
            </a:avLst>
          </a:prstGeom>
          <a:solidFill>
            <a:srgbClr val="0B7A6F"/>
          </a:solidFill>
          <a:ln w="9525">
            <a:solidFill>
              <a:srgbClr val="0B7A6F"/>
            </a:solidFill>
            <a:prstDash val="solid"/>
          </a:ln>
        </p:spPr>
      </p:sp>
      <p:pic>
        <p:nvPicPr>
          <p:cNvPr id="23" name="Image 4" descr="preencoded.png">    </p:cNvPr>
          <p:cNvPicPr>
            <a:picLocks noChangeAspect="1"/>
          </p:cNvPicPr>
          <p:nvPr/>
        </p:nvPicPr>
        <p:blipFill>
          <a:blip r:embed="rId5"/>
          <a:stretch>
            <a:fillRect/>
          </a:stretch>
        </p:blipFill>
        <p:spPr>
          <a:xfrm>
            <a:off x="685800" y="2944368"/>
            <a:ext cx="329184" cy="329184"/>
          </a:xfrm>
          <a:prstGeom prst="rect">
            <a:avLst/>
          </a:prstGeom>
        </p:spPr>
      </p:pic>
      <p:sp>
        <p:nvSpPr>
          <p:cNvPr id="24" name="Text 16"/>
          <p:cNvSpPr txBox="1"/>
          <p:nvPr/>
        </p:nvSpPr>
        <p:spPr>
          <a:xfrm>
            <a:off x="1188720" y="2697480"/>
            <a:ext cx="7315200" cy="822960"/>
          </a:xfrm>
          <a:prstGeom prst="rect">
            <a:avLst/>
          </a:prstGeom>
          <a:noFill/>
          <a:ln/>
        </p:spPr>
        <p:txBody>
          <a:bodyPr wrap="square" lIns="0" tIns="0" rIns="0" bIns="0" rtlCol="0" anchor="ctr"/>
          <a:lstStyle/>
          <a:p>
            <a:pPr indent="0" marL="0">
              <a:buNone/>
            </a:pPr>
            <a:r>
              <a:rPr lang="en-US" sz="1800" b="1" dirty="0">
                <a:solidFill>
                  <a:srgbClr val="FFFFFF"/>
                </a:solidFill>
                <a:latin typeface="SF Pro Display" pitchFamily="34" charset="0"/>
                <a:ea typeface="SF Pro Display" pitchFamily="34" charset="-122"/>
                <a:cs typeface="SF Pro Display" pitchFamily="34" charset="-120"/>
              </a:rPr>
              <a:t>Goal:  </a:t>
            </a:r>
            <a:pPr indent="0" marL="0">
              <a:buNone/>
            </a:pPr>
            <a:r>
              <a:rPr lang="en-US" sz="1800" dirty="0">
                <a:solidFill>
                  <a:srgbClr val="FFFFFF"/>
                </a:solidFill>
                <a:latin typeface="SF Pro Text" pitchFamily="34" charset="0"/>
                <a:ea typeface="SF Pro Text" pitchFamily="34" charset="-122"/>
                <a:cs typeface="SF Pro Text" pitchFamily="34" charset="-120"/>
              </a:rPr>
              <a:t>help the customer get a cleaning right away.</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will you handle the following scenario?</a:t>
            </a:r>
            <a:endParaRPr lang="en-US" sz="1200" dirty="0"/>
          </a:p>
        </p:txBody>
      </p:sp>
      <p:sp>
        <p:nvSpPr>
          <p:cNvPr id="6" name="Shape 3"/>
          <p:cNvSpPr/>
          <p:nvPr/>
        </p:nvSpPr>
        <p:spPr>
          <a:xfrm>
            <a:off x="411480" y="1298448"/>
            <a:ext cx="8321040" cy="457200"/>
          </a:xfrm>
          <a:prstGeom prst="roundRect">
            <a:avLst>
              <a:gd name="adj" fmla="val 16000"/>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94360" y="1426464"/>
            <a:ext cx="201168" cy="201168"/>
          </a:xfrm>
          <a:prstGeom prst="rect">
            <a:avLst/>
          </a:prstGeom>
        </p:spPr>
      </p:pic>
      <p:sp>
        <p:nvSpPr>
          <p:cNvPr id="8" name="Text 4"/>
          <p:cNvSpPr txBox="1"/>
          <p:nvPr/>
        </p:nvSpPr>
        <p:spPr>
          <a:xfrm>
            <a:off x="914400" y="1298448"/>
            <a:ext cx="7680960" cy="457200"/>
          </a:xfrm>
          <a:prstGeom prst="rect">
            <a:avLst/>
          </a:prstGeom>
          <a:noFill/>
          <a:ln/>
        </p:spPr>
        <p:txBody>
          <a:bodyPr wrap="square" lIns="0" tIns="0" rIns="0" bIns="0" rtlCol="0" anchor="ctr"/>
          <a:lstStyle/>
          <a:p>
            <a:pPr indent="0" marL="0">
              <a:buNone/>
            </a:pPr>
            <a:r>
              <a:rPr lang="en-US" sz="1100" b="1" dirty="0">
                <a:solidFill>
                  <a:srgbClr val="9A6410"/>
                </a:solidFill>
                <a:latin typeface="SF Pro Text" pitchFamily="34" charset="0"/>
                <a:ea typeface="SF Pro Text" pitchFamily="34" charset="-122"/>
                <a:cs typeface="SF Pro Text" pitchFamily="34" charset="-120"/>
              </a:rPr>
              <a:t>Scenario:  </a:t>
            </a:r>
            <a:pPr indent="0" marL="0">
              <a:buNone/>
            </a:pPr>
            <a:r>
              <a:rPr lang="en-US" sz="1100" dirty="0">
                <a:solidFill>
                  <a:srgbClr val="1D1D1F"/>
                </a:solidFill>
                <a:latin typeface="SF Pro Text" pitchFamily="34" charset="0"/>
                <a:ea typeface="SF Pro Text" pitchFamily="34" charset="-122"/>
                <a:cs typeface="SF Pro Text" pitchFamily="34" charset="-120"/>
              </a:rPr>
              <a:t>the job has already been in Pending Invoice for 75 hours. Here are the C/CP comms.</a:t>
            </a:r>
            <a:endParaRPr lang="en-US" sz="1100" dirty="0"/>
          </a:p>
        </p:txBody>
      </p:sp>
      <p:sp>
        <p:nvSpPr>
          <p:cNvPr id="9" name="Shape 5"/>
          <p:cNvSpPr/>
          <p:nvPr/>
        </p:nvSpPr>
        <p:spPr>
          <a:xfrm>
            <a:off x="411480" y="1874520"/>
            <a:ext cx="8321040" cy="2240280"/>
          </a:xfrm>
          <a:prstGeom prst="roundRect">
            <a:avLst>
              <a:gd name="adj" fmla="val 3265"/>
            </a:avLst>
          </a:prstGeom>
          <a:solidFill>
            <a:srgbClr val="FFFFFF"/>
          </a:solidFill>
          <a:ln w="9525">
            <a:solidFill>
              <a:srgbClr val="DCE1E7"/>
            </a:solidFill>
            <a:prstDash val="solid"/>
          </a:ln>
        </p:spPr>
      </p:sp>
      <p:pic>
        <p:nvPicPr>
          <p:cNvPr id="10" name="Image 1" descr="/tmp/claude-0/-workspace-training/3ce5cff6-cccf-5f33-b0ee-0b147a55120e/scratchpad/img2/pi_comms.png">    </p:cNvPr>
          <p:cNvPicPr>
            <a:picLocks noChangeAspect="1"/>
          </p:cNvPicPr>
          <p:nvPr/>
        </p:nvPicPr>
        <p:blipFill>
          <a:blip r:embed="rId2"/>
          <a:stretch>
            <a:fillRect/>
          </a:stretch>
        </p:blipFill>
        <p:spPr>
          <a:xfrm>
            <a:off x="484632" y="2042856"/>
            <a:ext cx="8174736" cy="1903607"/>
          </a:xfrm>
          <a:prstGeom prst="rect">
            <a:avLst/>
          </a:prstGeom>
        </p:spPr>
      </p:pic>
      <p:sp>
        <p:nvSpPr>
          <p:cNvPr id="11" name="Text 6"/>
          <p:cNvSpPr txBox="1"/>
          <p:nvPr/>
        </p:nvSpPr>
        <p:spPr>
          <a:xfrm>
            <a:off x="411480" y="4224528"/>
            <a:ext cx="8321040" cy="27432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Hint: check the action guide. Was the job completed, and who initiated the change?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Practice writing</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5-minute writing drill</a:t>
            </a:r>
            <a:endParaRPr lang="en-US" sz="1200" dirty="0"/>
          </a:p>
        </p:txBody>
      </p:sp>
      <p:sp>
        <p:nvSpPr>
          <p:cNvPr id="6" name="Shape 3"/>
          <p:cNvSpPr/>
          <p:nvPr/>
        </p:nvSpPr>
        <p:spPr>
          <a:xfrm>
            <a:off x="411480" y="1280160"/>
            <a:ext cx="3840480" cy="3383280"/>
          </a:xfrm>
          <a:prstGeom prst="roundRect">
            <a:avLst>
              <a:gd name="adj" fmla="val 2162"/>
            </a:avLst>
          </a:prstGeom>
          <a:solidFill>
            <a:srgbClr val="FFFFFF"/>
          </a:solidFill>
          <a:ln w="9525">
            <a:solidFill>
              <a:srgbClr val="DCE1E7"/>
            </a:solidFill>
            <a:prstDash val="solid"/>
          </a:ln>
        </p:spPr>
      </p:sp>
      <p:sp>
        <p:nvSpPr>
          <p:cNvPr id="7" name="Shape 4"/>
          <p:cNvSpPr/>
          <p:nvPr/>
        </p:nvSpPr>
        <p:spPr>
          <a:xfrm>
            <a:off x="594360" y="1444752"/>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36924"/>
            <a:ext cx="199705" cy="199705"/>
          </a:xfrm>
          <a:prstGeom prst="rect">
            <a:avLst/>
          </a:prstGeom>
        </p:spPr>
      </p:pic>
      <p:sp>
        <p:nvSpPr>
          <p:cNvPr id="9" name="Text 5"/>
          <p:cNvSpPr txBox="1"/>
          <p:nvPr/>
        </p:nvSpPr>
        <p:spPr>
          <a:xfrm>
            <a:off x="1097280" y="1444752"/>
            <a:ext cx="1828800" cy="384048"/>
          </a:xfrm>
          <a:prstGeom prst="rect">
            <a:avLst/>
          </a:prstGeom>
          <a:noFill/>
          <a:ln/>
        </p:spPr>
        <p:txBody>
          <a:bodyPr wrap="square" lIns="0" tIns="0" rIns="0" bIns="0" rtlCol="0" anchor="ctr"/>
          <a:lstStyle/>
          <a:p>
            <a:pPr indent="0" marL="0">
              <a:buNone/>
            </a:pPr>
            <a:r>
              <a:rPr lang="en-US" sz="1400" b="1" dirty="0">
                <a:solidFill>
                  <a:srgbClr val="1D1D1F"/>
                </a:solidFill>
                <a:latin typeface="SF Pro Display" pitchFamily="34" charset="0"/>
                <a:ea typeface="SF Pro Display" pitchFamily="34" charset="-122"/>
                <a:cs typeface="SF Pro Display" pitchFamily="34" charset="-120"/>
              </a:rPr>
              <a:t>Scenario</a:t>
            </a:r>
            <a:endParaRPr lang="en-US" sz="1400" dirty="0"/>
          </a:p>
        </p:txBody>
      </p:sp>
      <p:sp>
        <p:nvSpPr>
          <p:cNvPr id="10" name="Shape 6"/>
          <p:cNvSpPr/>
          <p:nvPr/>
        </p:nvSpPr>
        <p:spPr>
          <a:xfrm>
            <a:off x="3246120" y="1508760"/>
            <a:ext cx="822960" cy="274320"/>
          </a:xfrm>
          <a:prstGeom prst="roundRect">
            <a:avLst>
              <a:gd name="adj" fmla="val 26667"/>
            </a:avLst>
          </a:prstGeom>
          <a:solidFill>
            <a:srgbClr val="FFF3D6"/>
          </a:solidFill>
          <a:ln w="9525">
            <a:solidFill>
              <a:srgbClr val="FFF3D6"/>
            </a:solidFill>
            <a:prstDash val="solid"/>
          </a:ln>
        </p:spPr>
      </p:sp>
      <p:sp>
        <p:nvSpPr>
          <p:cNvPr id="11" name="Text 7"/>
          <p:cNvSpPr txBox="1"/>
          <p:nvPr/>
        </p:nvSpPr>
        <p:spPr>
          <a:xfrm>
            <a:off x="3246120" y="1508760"/>
            <a:ext cx="822960" cy="274320"/>
          </a:xfrm>
          <a:prstGeom prst="rect">
            <a:avLst/>
          </a:prstGeom>
          <a:noFill/>
          <a:ln/>
        </p:spPr>
        <p:txBody>
          <a:bodyPr wrap="square" lIns="0" tIns="0" rIns="0" bIns="0" rtlCol="0" anchor="ctr"/>
          <a:lstStyle/>
          <a:p>
            <a:pPr algn="ctr" indent="0" marL="0">
              <a:buNone/>
            </a:pPr>
            <a:r>
              <a:rPr lang="en-US" sz="900" b="1" dirty="0">
                <a:solidFill>
                  <a:srgbClr val="9A6410"/>
                </a:solidFill>
                <a:latin typeface="SF Pro Text" pitchFamily="34" charset="0"/>
                <a:ea typeface="SF Pro Text" pitchFamily="34" charset="-122"/>
                <a:cs typeface="SF Pro Text" pitchFamily="34" charset="-120"/>
              </a:rPr>
              <a:t>5 min</a:t>
            </a:r>
            <a:endParaRPr lang="en-US" sz="900" dirty="0"/>
          </a:p>
        </p:txBody>
      </p:sp>
      <p:sp>
        <p:nvSpPr>
          <p:cNvPr id="12" name="Text 8"/>
          <p:cNvSpPr txBox="1"/>
          <p:nvPr/>
        </p:nvSpPr>
        <p:spPr>
          <a:xfrm>
            <a:off x="594360" y="1965960"/>
            <a:ext cx="3520440" cy="256032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You're working on a ticket with a Pending Invoice job.</a:t>
            </a:r>
            <a:endParaRPr lang="en-US" sz="1050" dirty="0"/>
          </a:p>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The evidence is insufficient to confirm whether the cleaning was completed: there was only a call exchange between the C and the CP.</a:t>
            </a:r>
            <a:endParaRPr lang="en-US" sz="1050" dirty="0"/>
          </a:p>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The job has been in Pending Invoice for 22 hours.</a:t>
            </a:r>
            <a:endParaRPr lang="en-US" sz="1050" dirty="0"/>
          </a:p>
          <a:p>
            <a:pPr indent="0" marL="0">
              <a:spcAft>
                <a:spcPts val="800"/>
              </a:spcAft>
              <a:buNone/>
            </a:pPr>
            <a:r>
              <a:rPr lang="en-US" sz="1050" b="1" dirty="0">
                <a:solidFill>
                  <a:srgbClr val="1D1D1F"/>
                </a:solidFill>
                <a:latin typeface="SF Pro Text" pitchFamily="34" charset="0"/>
                <a:ea typeface="SF Pro Text" pitchFamily="34" charset="-122"/>
                <a:cs typeface="SF Pro Text" pitchFamily="34" charset="-120"/>
              </a:rPr>
              <a:t>Write the comms to confirm with the C whether the job was completed.</a:t>
            </a:r>
            <a:endParaRPr lang="en-US" sz="1050" dirty="0"/>
          </a:p>
        </p:txBody>
      </p:sp>
      <p:sp>
        <p:nvSpPr>
          <p:cNvPr id="13" name="Shape 9"/>
          <p:cNvSpPr/>
          <p:nvPr/>
        </p:nvSpPr>
        <p:spPr>
          <a:xfrm>
            <a:off x="4389120" y="1280160"/>
            <a:ext cx="4343400" cy="457200"/>
          </a:xfrm>
          <a:prstGeom prst="roundRect">
            <a:avLst>
              <a:gd name="adj" fmla="val 20000"/>
            </a:avLst>
          </a:prstGeom>
          <a:solidFill>
            <a:srgbClr val="0B7A6F"/>
          </a:solidFill>
          <a:ln w="12700">
            <a:solidFill>
              <a:srgbClr val="0B7A6F"/>
            </a:solidFill>
            <a:prstDash val="solid"/>
          </a:ln>
        </p:spPr>
      </p:sp>
      <p:pic>
        <p:nvPicPr>
          <p:cNvPr id="14" name="Image 1" descr="preencoded.png">    </p:cNvPr>
          <p:cNvPicPr>
            <a:picLocks noChangeAspect="1"/>
          </p:cNvPicPr>
          <p:nvPr/>
        </p:nvPicPr>
        <p:blipFill>
          <a:blip r:embed="rId2"/>
          <a:stretch>
            <a:fillRect/>
          </a:stretch>
        </p:blipFill>
        <p:spPr>
          <a:xfrm>
            <a:off x="4572000" y="1399032"/>
            <a:ext cx="219456" cy="219456"/>
          </a:xfrm>
          <a:prstGeom prst="rect">
            <a:avLst/>
          </a:prstGeom>
        </p:spPr>
      </p:pic>
      <p:sp>
        <p:nvSpPr>
          <p:cNvPr id="15" name="Text 10"/>
          <p:cNvSpPr txBox="1"/>
          <p:nvPr/>
        </p:nvSpPr>
        <p:spPr>
          <a:xfrm>
            <a:off x="4892040" y="1280160"/>
            <a:ext cx="3657600" cy="457200"/>
          </a:xfrm>
          <a:prstGeom prst="rect">
            <a:avLst/>
          </a:prstGeom>
          <a:noFill/>
          <a:ln/>
        </p:spPr>
        <p:txBody>
          <a:bodyPr wrap="square" lIns="0" tIns="0" rIns="0" bIns="0" rtlCol="0" anchor="ctr"/>
          <a:lstStyle/>
          <a:p>
            <a:pPr indent="0" marL="0">
              <a:buNone/>
            </a:pPr>
            <a:r>
              <a:rPr lang="en-US" sz="1300" b="1" dirty="0">
                <a:solidFill>
                  <a:srgbClr val="FFFFFF"/>
                </a:solidFill>
                <a:latin typeface="SF Pro Display" pitchFamily="34" charset="0"/>
                <a:ea typeface="SF Pro Display" pitchFamily="34" charset="-122"/>
                <a:cs typeface="SF Pro Display" pitchFamily="34" charset="-120"/>
              </a:rPr>
              <a:t>Show Sample Comms</a:t>
            </a:r>
            <a:endParaRPr lang="en-US" sz="1300" dirty="0"/>
          </a:p>
        </p:txBody>
      </p:sp>
      <p:sp>
        <p:nvSpPr>
          <p:cNvPr id="16" name="Shape 11"/>
          <p:cNvSpPr/>
          <p:nvPr/>
        </p:nvSpPr>
        <p:spPr>
          <a:xfrm>
            <a:off x="4389120" y="1828800"/>
            <a:ext cx="4343400" cy="2834640"/>
          </a:xfrm>
          <a:prstGeom prst="roundRect">
            <a:avLst>
              <a:gd name="adj" fmla="val 2581"/>
            </a:avLst>
          </a:prstGeom>
          <a:solidFill>
            <a:srgbClr val="E3F4F1"/>
          </a:solidFill>
          <a:ln w="9525">
            <a:solidFill>
              <a:srgbClr val="E3F4F1"/>
            </a:solidFill>
            <a:prstDash val="solid"/>
          </a:ln>
        </p:spPr>
      </p:sp>
      <p:sp>
        <p:nvSpPr>
          <p:cNvPr id="17" name="step1Comms"/>
          <p:cNvSpPr txBox="1"/>
          <p:nvPr/>
        </p:nvSpPr>
        <p:spPr>
          <a:xfrm>
            <a:off x="4572000" y="1938528"/>
            <a:ext cx="3977640" cy="2651760"/>
          </a:xfrm>
          <a:prstGeom prst="rect">
            <a:avLst/>
          </a:prstGeom>
          <a:noFill/>
          <a:ln/>
        </p:spPr>
        <p:txBody>
          <a:bodyPr wrap="square" lIns="0" tIns="0" rIns="0" bIns="0" rtlCol="0" anchor="t"/>
          <a:lstStyle/>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Hi &lt;C&gt;,</a:t>
            </a:r>
            <a:endParaRPr lang="en-US" sz="1050" dirty="0"/>
          </a:p>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Just checking in about your cleaning on &lt;Date&gt; with &lt;CP Name&gt;. Were you able to get the cleaning done?</a:t>
            </a:r>
            <a:endParaRPr lang="en-US" sz="1050" dirty="0"/>
          </a:p>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If not, I'd be happy to help find you another cleaner through priority booking. Just let me know what date and time works best for you, and I'll take care of it.</a:t>
            </a:r>
            <a:endParaRPr lang="en-US" sz="1050" dirty="0"/>
          </a:p>
          <a:p>
            <a:pPr indent="0" marL="0">
              <a:spcAft>
                <a:spcPts val="800"/>
              </a:spcAft>
              <a:buNone/>
            </a:pPr>
            <a:r>
              <a:rPr lang="en-US" sz="1050" dirty="0">
                <a:solidFill>
                  <a:srgbClr val="1D1D1F"/>
                </a:solidFill>
                <a:latin typeface="SF Pro Text" pitchFamily="34" charset="0"/>
                <a:ea typeface="SF Pro Text" pitchFamily="34" charset="-122"/>
                <a:cs typeface="SF Pro Text" pitchFamily="34" charset="-120"/>
              </a:rPr>
              <a:t>Let me know if you need anything else!</a:t>
            </a:r>
            <a:endParaRPr lang="en-US" sz="1050" dirty="0"/>
          </a:p>
          <a:p>
            <a:pPr indent="0" marL="0">
              <a:spcAft>
                <a:spcPts val="800"/>
              </a:spcAft>
              <a:buNone/>
            </a:pPr>
            <a:r>
              <a:rPr lang="en-US" sz="1050" b="1" dirty="0">
                <a:solidFill>
                  <a:srgbClr val="0B7A6F"/>
                </a:solidFill>
                <a:latin typeface="SF Pro Text" pitchFamily="34" charset="0"/>
                <a:ea typeface="SF Pro Text" pitchFamily="34" charset="-122"/>
                <a:cs typeface="SF Pro Text" pitchFamily="34" charset="-120"/>
              </a:rPr>
              <a:t>-CS, Homeaglow HQ</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2026-10-05T13:29:36Z</dcterms:created>
  <dcterms:modified xsi:type="dcterms:W3CDTF">2026-10-05T13:29:36Z</dcterms:modified>
</cp:coreProperties>
</file>