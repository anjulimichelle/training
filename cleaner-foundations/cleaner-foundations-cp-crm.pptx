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CP penalties on the C side,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(optional);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history: the Flags table on the CP's CRM page shows when a status changed, what it changed to, and the previous status (e.g. cp-step-active &gt; suspended). Changing a status: use the Change Step menu and pick the new status; norequests, suspended and cp-opt-out are grouped under one option. The trainer will show the exact clicks in the live CRM. Names and photo in the screenshots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shows the CP's current status and rate, their review score, lifetime issues (damage, theft, false invoice, overcharged hours), and a Limit vs Actual table for the last 60 days (no-shows, reschedules, cancels, lockouts, last-minute cancels). Actual is issues divided by invoiced jobs. Use it with the flag history before deciding on a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CP-facing reason box ("Explain to CP in 1 sentence: Why was I deactivated? &amp; Call to Action"); the sample shows cpq_false_invoice. Middle: reference tables with templated wording by situation and codes to use (HGTA, 199, ssn_validation_failed, bgcheck_not_clear). Bottom: the three status buttons: norequests &amp; notify CP (no new jobs, keeps existing jobs and dashboard); suspended &amp; remove CP from claimed jobs (no new jobs, existing jobs or dashboard); cp-opt-out &amp; remove CP from claimed jobs (also stops system messages), with notify and do_not_reactivate checkboxes. The window also shows whether the CP is eligible for timed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cpq_cash Cash Payment J 1234567 / cpq_cancel Your customer Joseph reported you cancelled their Monday Oct 9 job. Submit reactivation appeal through dashboard. / cpq_false_invoice Customer Mary reported incorrect hours charged. Submit reactivation appeal. / cpq_noshow Your customer Janis reported you didn't show up to their Monday Oct 9 job. Submit reactivation appeal through dashboard. / cpq_overcharge Customer Kyle reported incorrect hours charged. Submit reactivation appeal. / cpq_invalid_cancel Upon review, your customer cancellation report has been deemed invalid. Submit reactivation appeal through dashboard. / cpq_reschedule Your customer George reported you rescheduled their Monday Oct 9 job without permission. Submit reactivation appeal through dashboard. / HGTA 1234567.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covers what you do on the CP side when a customer reports a no-show, cancellation, false invoice, overcharged hours, missing supplies, rude behavior and similar issues. Category: Service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resolve the customer's issue using the related article for that issue. Then take the CP-side action: pause, coach, flag and document. You don't make the permanent decision about the CP, and you don't suspend CPs yourself: that belongs to the CP-side team, Trust &amp; Safety, or the system. You are seeing one incident, from one side; the CP-side team sees the CP's full history and hears the CP's side before deciding anything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norequests: the CP can't claim new jobs but keeps their upcoming claimed jobs. suspended: the CP is removed from every upcoming claimed job, and those customers are notified. Suspending over one complaint may cancel several other customers' cleanings. Example: a customer reports the CP arrived without supplies. The CP has four claimed jobs this week with other customers who had no problems. norequests stops new claims and lets those four customers keep their cleanings; suspending would cancel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CP-side action: norequests + coaching + the relevant flag + an internal note. C-side agents don't suspend a CP (except the false-invoice exception), add a DNR flag, permanently deactivate a CP, or reactivate a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concern: theft, damage, threats, harassment, someone else doing jobs under the CP's account, or anything that makes the customer feel unsafe: route to Trust &amp; Safety and follow the T&amp;S process. System auto-suspended after your flag/report (e.g. no-show report, second cp_false_invoice on a new CP): leave it, don't override or downgrade; coach the CP, tell them about the penalty and how to appeal from their dashboard, add your internal note. First instance of a warning-level offense: coach only, no status change (false invoices are not warning-level). False invoice: norequests and ask the CP what happened, even when the customer says the CP never came (GPS alone can't confirm; CPs aren't required to turn it on). Multiple false invoices with an abusive pattern: you may set suspended; the only case a C-side agent sets suspended. Never add DNR.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this a safety issue? Yes: route to Trust &amp; Safety; you're done on the CP side. Step 2: Did the system already suspend the CP? Check the CP's Issues table after adding your flag or report. Yes: leave the status, send the coaching macro, add your note; you're done. Step 3: find the offense in the table and take the listed action. Step 4: coach the CP. Step 5: leave an internal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No-show or CP cancellation: report via Job Admin &gt; No Show, or cancel the job from the CP Dashboard when the CP should be penalized; either usually makes the system set norequests or suspended. Lean coaching; set norequests yourself only if the CP already has a couple of no-shows or cancellations. Overcharged hours: cp_overcharged_hours flag if the refund is 30+ minutes. Accepted cash: the macro adds accepting_cash_not_allowed_warning. Supplies (Gen Op): require_new_cleaning_supplies_photo sets norequests automatically. Easy to miss: unauthorized reschedule and accepted cash are coaching-only on the first instance; check message history and flags for a previous warning before pausing. Macros: No Show/Cancellation (No Request); Unauthorized Reschedule (Warning); False Invoice (With Penalty); Overcharged Hours series; Accepted Cash (Coaching) / (Warning + Account Adjustment); No/Incomplete Cleaning Supplies; Rude to Customer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Coaching message: explain specifically what was reported; tell the CP their account is paused (if you paused it) and how to appeal through their dashboard; do not hint at an outcome ("you'll probably be reactivated", "this could be permanent"). The CP-side team decides. Internal note: the CP-side team uses it to decide on reactivation; a clear note saves them from investigating again. Template: CP No Request — J &lt;JOB ID&gt; / Reported by C: &lt;what the customer said, one line&gt; / Evidence: &lt;what you verified: comms, GPS if available, CTJ, photos&gt; / Action: &lt;flag added&gt; / &lt;status set&gt; / &lt;macro sent&gt; / C-side resolution: &lt;refund, credits, rebook, etc.&gt;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in the CA or CA-WA Operating Model have a banner next to their name on the CRM. No banner means the General Operating Model. The sample shows a CA Operating Model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CP's Tier banner on the CRM, or go to CP View &gt; CleanerTier, to see their full Tier History. Tiering is internal: never share it with a CP or customer (ZTP).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page groups jobs into panels: Pending Invoice Jobs (past their scheduled time but not yet invoiced; a count badge shows how many), Claimed &amp; Submitted (upcoming jobs, either still waiting for a cleaner or already claimed), Completed Jobs (invoiced jobs, with type, hours requested vs invoiced, cleaner, rating and review; a Failed Charge tag shows a charge that didn't go through), and Cancelled Jobs. Each panel links to View all in admin and View job history in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Match anxiety: the customer asks if their request has been claimed, or when it will be. A submitted job is automatically upgraded to a Priority Request within 24-48 hours of the start time. 2) Last-minute job request: CS may book cleaning requests as soon as 12 hours in advance. Priority markups do not apply to jobs booked via CRM. 3) Customer wants a cleaner of a specific gender: there is no option to select a gender, but customers may request to be rematched with another cleaner any time more than 6 hours before the job start time if they don't like the cleaner who claims. Preferences can also be added to the cleaning notes. 4) Customer wants a specific cleaner for an upcoming appointment: we can change the customer's Requested CPs through the Job Admin Page, only if they explicitly request it. TRAINER NOTE: walk trainees through how to change Requested CPs on the Job Admin Page. 5) Customer has a strict schedule and can only do certain dates/times: to increase the likelihood of the job being claimed, the system may automatically add alternate start times if the job is still unclaimed 24 hours before it starts. To stop this, add the flag: New CRM &gt; Flags &gt; + Add Flags &gt; do_not_auto_add_alternate_start_times.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Job is claimed at a different date than initially booked: check the job history to see if the job was claimed at an alternate date and time, or was rescheduled by the cleaner. 2) Customer reports they received confirmations from 2 different cleaners: check the job history to see if the first cleaner cancelled or was swapped out. Remember swapping is internal: never mention it to the customer. 3) Customer wants their cleaner changed: change the cleaner from the Job Admin Page. TRAINER NOTE: demo how to change the cleaner on the Job Admin Page. 4) Customer wants the appointment rescheduled: reschedule from the C Dashboard, or cancel and rebook from the CRM if rescheduling would result in a priority fee. 5) CP cancellations: help the customer get a new cleaner if the request is still active, or offer priority cleaning if the appointment was canceled.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its own KB page and is covered in more depth later; this slide is the first-look version. 1) Poor Cleaning Quality (PCQ): the customer is not satisfied with the cleaning. Gather facts before offering anything: job admin and history, customer/CP messages, refund status, and whether an admin_courtesy voucher was auto-issued. Customers can self-submit a refund request within 72 hours of invoice (the 96-hour system limit is internal only; disclosing it is a ZTP Level 2). No cancellation intent = no ETF or cancellation talk; if they want to cancel, move to the PCQ Retention Framework. 2) Overcharged Hours (OCH): the customer reports an incorrect number of hours billed. Check whether the cleaner actually worked the hours billed (CTJ, GPS, messages, job timestamps). Refund only the hours the evidence supports, via the CP Dashboard. Claim window: jobs completed in the last 120 days, unless the overcharge is clearly proven. 3) False Invoice: the cleaner billed even though they didn't show up. Check the Job History first for who invoiced: if the customer invoiced it, refund but don't penalize the cleaner. Full refund via the CP Dashboard; 120-day window unless clearly proven. 4) Lockout (LO): the cleaner couldn't get in and submitted a lockout, so the job is invoiced and the customer is charged in full. Validate the claim: did the customer still want the appointment, did the cleaner arrive within 30 minutes of start, were they at the address, and did they try (2+ contact attempts 5+ minutes apart, waited 15+ minutes, followed entry notes)? If invalid, refund via the CP Dashboard. Always leave an internal note. 5) Billing Inquiry: the customer asks for an explanation of their charges. Walk through the price: (CP hourly rate + platform hourly rate) x duration + processing fee + sales tax + premium fee, with voucher hours taken off first and credits off the total (see C Price vs CP Pay in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customer has a Pending Invoice job, the Pending Invoice Jobs panel shows a count badge and lists the job with a PENDING_INVOICE status, date, type, hours and cleaner. CS must act on it even when it isn't the customer's stated concern; see the AG: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2.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2.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2.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2.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2.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slideLayout" Target="../slideLayouts/slideLayout2.xml"/><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Eleven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6517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Topic</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You will learn</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Journey</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02</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Legacy CP CRM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Where we manage cleaner accounts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03</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Dashboard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cleaners see and manage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04</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Profile Status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each status lets a cleaner do</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05</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CP-Facing Deactivation</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reason codes cleaners see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06</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Penalty: C-Side Handling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to do on the cleaner's side when a customer reports them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07</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Operating Models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Why location changes the rules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08</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Tiering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Who sees and claims jobs first</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09</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Statuses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10</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AG: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Knowledge Check</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Set by your trainer</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and tip</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gets a confirmation. Leaving a review and tip is optional.</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and change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CP CRM.</a:t>
            </a:r>
            <a:endParaRPr lang="en-US" sz="1200" dirty="0"/>
          </a:p>
        </p:txBody>
      </p:sp>
      <p:sp>
        <p:nvSpPr>
          <p:cNvPr id="6" name="Shape 3"/>
          <p:cNvSpPr/>
          <p:nvPr/>
        </p:nvSpPr>
        <p:spPr>
          <a:xfrm>
            <a:off x="411480" y="1280160"/>
            <a:ext cx="4480560" cy="2194560"/>
          </a:xfrm>
          <a:prstGeom prst="roundRect">
            <a:avLst>
              <a:gd name="adj" fmla="val 3333"/>
            </a:avLst>
          </a:prstGeom>
          <a:solidFill>
            <a:srgbClr val="FFFFFF"/>
          </a:solidFill>
          <a:ln w="9525">
            <a:solidFill>
              <a:srgbClr val="DCE1E7"/>
            </a:solidFill>
            <a:prstDash val="solid"/>
          </a:ln>
        </p:spPr>
      </p:sp>
      <p:pic>
        <p:nvPicPr>
          <p:cNvPr id="7" name="Image 0" descr="/tmp/claude-0/-workspace-training/3ce5cff6-cccf-5f33-b0ee-0b147a55120e/scratchpad/img2/cp_header.png">    </p:cNvPr>
          <p:cNvPicPr>
            <a:picLocks noChangeAspect="1"/>
          </p:cNvPicPr>
          <p:nvPr/>
        </p:nvPicPr>
        <p:blipFill>
          <a:blip r:embed="rId1"/>
          <a:stretch>
            <a:fillRect/>
          </a:stretch>
        </p:blipFill>
        <p:spPr>
          <a:xfrm>
            <a:off x="484632" y="1404277"/>
            <a:ext cx="4334256" cy="1946326"/>
          </a:xfrm>
          <a:prstGeom prst="rect">
            <a:avLst/>
          </a:prstGeom>
        </p:spPr>
      </p:pic>
      <p:sp>
        <p:nvSpPr>
          <p:cNvPr id="8" name="Shape 4"/>
          <p:cNvSpPr/>
          <p:nvPr/>
        </p:nvSpPr>
        <p:spPr>
          <a:xfrm>
            <a:off x="637285" y="2418329"/>
            <a:ext cx="4165247" cy="866851"/>
          </a:xfrm>
          <a:prstGeom prst="roundRect">
            <a:avLst>
              <a:gd name="adj" fmla="val 3165"/>
            </a:avLst>
          </a:prstGeom>
          <a:ln w="25400">
            <a:solidFill>
              <a:srgbClr val="0B7A6F"/>
            </a:solidFill>
            <a:prstDash val="solid"/>
          </a:ln>
        </p:spPr>
      </p:sp>
      <p:sp>
        <p:nvSpPr>
          <p:cNvPr id="9" name="Shape 5"/>
          <p:cNvSpPr/>
          <p:nvPr/>
        </p:nvSpPr>
        <p:spPr>
          <a:xfrm>
            <a:off x="536701" y="23177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6701" y="23177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029200" y="1280160"/>
            <a:ext cx="3703320" cy="2194560"/>
          </a:xfrm>
          <a:prstGeom prst="roundRect">
            <a:avLst>
              <a:gd name="adj" fmla="val 3333"/>
            </a:avLst>
          </a:prstGeom>
          <a:solidFill>
            <a:srgbClr val="FFFFFF"/>
          </a:solidFill>
          <a:ln w="9525">
            <a:solidFill>
              <a:srgbClr val="DCE1E7"/>
            </a:solidFill>
            <a:prstDash val="solid"/>
          </a:ln>
        </p:spPr>
      </p:sp>
      <p:pic>
        <p:nvPicPr>
          <p:cNvPr id="12" name="Image 1" descr="/tmp/claude-0/-workspace-training/3ce5cff6-cccf-5f33-b0ee-0b147a55120e/scratchpad/img2/cp_changestep.png">    </p:cNvPr>
          <p:cNvPicPr>
            <a:picLocks noChangeAspect="1"/>
          </p:cNvPicPr>
          <p:nvPr/>
        </p:nvPicPr>
        <p:blipFill>
          <a:blip r:embed="rId2"/>
          <a:stretch>
            <a:fillRect/>
          </a:stretch>
        </p:blipFill>
        <p:spPr>
          <a:xfrm>
            <a:off x="5102352" y="1539942"/>
            <a:ext cx="3557016" cy="1674997"/>
          </a:xfrm>
          <a:prstGeom prst="rect">
            <a:avLst/>
          </a:prstGeom>
        </p:spPr>
      </p:pic>
      <p:sp>
        <p:nvSpPr>
          <p:cNvPr id="13" name="Shape 8"/>
          <p:cNvSpPr/>
          <p:nvPr/>
        </p:nvSpPr>
        <p:spPr>
          <a:xfrm>
            <a:off x="5182338" y="1728143"/>
            <a:ext cx="705757" cy="1472680"/>
          </a:xfrm>
          <a:prstGeom prst="roundRect">
            <a:avLst>
              <a:gd name="adj" fmla="val 3887"/>
            </a:avLst>
          </a:prstGeom>
          <a:ln w="25400">
            <a:solidFill>
              <a:srgbClr val="0B7A6F"/>
            </a:solidFill>
            <a:prstDash val="solid"/>
          </a:ln>
        </p:spPr>
      </p:sp>
      <p:sp>
        <p:nvSpPr>
          <p:cNvPr id="14" name="Shape 9"/>
          <p:cNvSpPr/>
          <p:nvPr/>
        </p:nvSpPr>
        <p:spPr>
          <a:xfrm>
            <a:off x="5081754" y="1627559"/>
            <a:ext cx="201168" cy="201168"/>
          </a:xfrm>
          <a:prstGeom prst="ellipse">
            <a:avLst/>
          </a:prstGeom>
          <a:solidFill>
            <a:srgbClr val="0B7A6F"/>
          </a:solidFill>
          <a:ln w="12700">
            <a:solidFill>
              <a:srgbClr val="FFFFFF"/>
            </a:solidFill>
            <a:prstDash val="solid"/>
          </a:ln>
        </p:spPr>
      </p:sp>
      <p:sp>
        <p:nvSpPr>
          <p:cNvPr id="15" name="Text 10"/>
          <p:cNvSpPr txBox="1"/>
          <p:nvPr/>
        </p:nvSpPr>
        <p:spPr>
          <a:xfrm>
            <a:off x="5081754" y="162755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6" name="Shape 11"/>
          <p:cNvSpPr/>
          <p:nvPr/>
        </p:nvSpPr>
        <p:spPr>
          <a:xfrm>
            <a:off x="411480" y="3611880"/>
            <a:ext cx="4480560" cy="502920"/>
          </a:xfrm>
          <a:prstGeom prst="roundRect">
            <a:avLst>
              <a:gd name="adj" fmla="val 14545"/>
            </a:avLst>
          </a:prstGeom>
          <a:solidFill>
            <a:srgbClr val="FFFFFF"/>
          </a:solidFill>
          <a:ln w="9525">
            <a:solidFill>
              <a:srgbClr val="DCE1E7"/>
            </a:solidFill>
            <a:prstDash val="solid"/>
          </a:ln>
        </p:spPr>
      </p:sp>
      <p:sp>
        <p:nvSpPr>
          <p:cNvPr id="17" name="Shape 12"/>
          <p:cNvSpPr/>
          <p:nvPr/>
        </p:nvSpPr>
        <p:spPr>
          <a:xfrm>
            <a:off x="539496" y="3735324"/>
            <a:ext cx="256032" cy="256032"/>
          </a:xfrm>
          <a:prstGeom prst="ellipse">
            <a:avLst/>
          </a:prstGeom>
          <a:solidFill>
            <a:srgbClr val="0B7A6F"/>
          </a:solidFill>
          <a:ln w="12700">
            <a:solidFill>
              <a:srgbClr val="0B7A6F"/>
            </a:solidFill>
            <a:prstDash val="solid"/>
          </a:ln>
        </p:spPr>
      </p:sp>
      <p:sp>
        <p:nvSpPr>
          <p:cNvPr id="18" name="Text 13"/>
          <p:cNvSpPr txBox="1"/>
          <p:nvPr/>
        </p:nvSpPr>
        <p:spPr>
          <a:xfrm>
            <a:off x="53949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9" name="Text 14"/>
          <p:cNvSpPr txBox="1"/>
          <p:nvPr/>
        </p:nvSpPr>
        <p:spPr>
          <a:xfrm>
            <a:off x="914400" y="3657600"/>
            <a:ext cx="388620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table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the status changed, to what, and what it was before</a:t>
            </a:r>
            <a:endParaRPr lang="en-US" sz="1050" dirty="0"/>
          </a:p>
        </p:txBody>
      </p:sp>
      <p:sp>
        <p:nvSpPr>
          <p:cNvPr id="20" name="Shape 15"/>
          <p:cNvSpPr/>
          <p:nvPr/>
        </p:nvSpPr>
        <p:spPr>
          <a:xfrm>
            <a:off x="5029200" y="3611880"/>
            <a:ext cx="370332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5157216" y="3735324"/>
            <a:ext cx="256032" cy="256032"/>
          </a:xfrm>
          <a:prstGeom prst="ellipse">
            <a:avLst/>
          </a:prstGeom>
          <a:solidFill>
            <a:srgbClr val="0B7A6F"/>
          </a:solidFill>
          <a:ln w="12700">
            <a:solidFill>
              <a:srgbClr val="0B7A6F"/>
            </a:solidFill>
            <a:prstDash val="solid"/>
          </a:ln>
        </p:spPr>
      </p:sp>
      <p:sp>
        <p:nvSpPr>
          <p:cNvPr id="22" name="Text 17"/>
          <p:cNvSpPr txBox="1"/>
          <p:nvPr/>
        </p:nvSpPr>
        <p:spPr>
          <a:xfrm>
            <a:off x="515721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3" name="Text 18"/>
          <p:cNvSpPr txBox="1"/>
          <p:nvPr/>
        </p:nvSpPr>
        <p:spPr>
          <a:xfrm>
            <a:off x="5532120" y="3657600"/>
            <a:ext cx="310896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Change Step</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Pick the new status. Check the history first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the numbers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CRM page shows their status and how they compare to the limits.</a:t>
            </a:r>
            <a:endParaRPr lang="en-US" sz="1200" dirty="0"/>
          </a:p>
        </p:txBody>
      </p:sp>
      <p:sp>
        <p:nvSpPr>
          <p:cNvPr id="6" name="Shape 3"/>
          <p:cNvSpPr/>
          <p:nvPr/>
        </p:nvSpPr>
        <p:spPr>
          <a:xfrm>
            <a:off x="411480" y="1280160"/>
            <a:ext cx="5120640" cy="2560320"/>
          </a:xfrm>
          <a:prstGeom prst="roundRect">
            <a:avLst>
              <a:gd name="adj" fmla="val 2857"/>
            </a:avLst>
          </a:prstGeom>
          <a:solidFill>
            <a:srgbClr val="FFFFFF"/>
          </a:solidFill>
          <a:ln w="9525">
            <a:solidFill>
              <a:srgbClr val="DCE1E7"/>
            </a:solidFill>
            <a:prstDash val="solid"/>
          </a:ln>
        </p:spPr>
      </p:sp>
      <p:pic>
        <p:nvPicPr>
          <p:cNvPr id="7" name="Image 0" descr="/tmp/claude-0/-workspace-training/3ce5cff6-cccf-5f33-b0ee-0b147a55120e/scratchpad/img2/cp_reliability.png">    </p:cNvPr>
          <p:cNvPicPr>
            <a:picLocks noChangeAspect="1"/>
          </p:cNvPicPr>
          <p:nvPr/>
        </p:nvPicPr>
        <p:blipFill>
          <a:blip r:embed="rId1"/>
          <a:stretch>
            <a:fillRect/>
          </a:stretch>
        </p:blipFill>
        <p:spPr>
          <a:xfrm>
            <a:off x="484632" y="1430371"/>
            <a:ext cx="4974336" cy="2259898"/>
          </a:xfrm>
          <a:prstGeom prst="rect">
            <a:avLst/>
          </a:prstGeom>
        </p:spPr>
      </p:pic>
      <p:sp>
        <p:nvSpPr>
          <p:cNvPr id="8" name="Shape 4"/>
          <p:cNvSpPr/>
          <p:nvPr/>
        </p:nvSpPr>
        <p:spPr>
          <a:xfrm>
            <a:off x="651083" y="2038559"/>
            <a:ext cx="256079" cy="108834"/>
          </a:xfrm>
          <a:prstGeom prst="roundRect">
            <a:avLst>
              <a:gd name="adj" fmla="val 25205"/>
            </a:avLst>
          </a:prstGeom>
          <a:ln w="25400">
            <a:solidFill>
              <a:srgbClr val="0B7A6F"/>
            </a:solidFill>
            <a:prstDash val="solid"/>
          </a:ln>
        </p:spPr>
      </p:sp>
      <p:sp>
        <p:nvSpPr>
          <p:cNvPr id="9" name="Shape 5"/>
          <p:cNvSpPr/>
          <p:nvPr/>
        </p:nvSpPr>
        <p:spPr>
          <a:xfrm>
            <a:off x="550499" y="193797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50499" y="193797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51083" y="2294638"/>
            <a:ext cx="2215084" cy="544168"/>
          </a:xfrm>
          <a:prstGeom prst="roundRect">
            <a:avLst>
              <a:gd name="adj" fmla="val 5041"/>
            </a:avLst>
          </a:prstGeom>
          <a:ln w="25400">
            <a:solidFill>
              <a:srgbClr val="0B7A6F"/>
            </a:solidFill>
            <a:prstDash val="solid"/>
          </a:ln>
        </p:spPr>
      </p:sp>
      <p:sp>
        <p:nvSpPr>
          <p:cNvPr id="12" name="Shape 8"/>
          <p:cNvSpPr/>
          <p:nvPr/>
        </p:nvSpPr>
        <p:spPr>
          <a:xfrm>
            <a:off x="550499" y="2194054"/>
            <a:ext cx="201168" cy="201168"/>
          </a:xfrm>
          <a:prstGeom prst="ellipse">
            <a:avLst/>
          </a:prstGeom>
          <a:solidFill>
            <a:srgbClr val="0B7A6F"/>
          </a:solidFill>
          <a:ln w="12700">
            <a:solidFill>
              <a:srgbClr val="FFFFFF"/>
            </a:solidFill>
            <a:prstDash val="solid"/>
          </a:ln>
        </p:spPr>
      </p:sp>
      <p:sp>
        <p:nvSpPr>
          <p:cNvPr id="13" name="Text 9"/>
          <p:cNvSpPr txBox="1"/>
          <p:nvPr/>
        </p:nvSpPr>
        <p:spPr>
          <a:xfrm>
            <a:off x="550499" y="219405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026217" y="2153794"/>
            <a:ext cx="2202280" cy="1049924"/>
          </a:xfrm>
          <a:prstGeom prst="roundRect">
            <a:avLst>
              <a:gd name="adj" fmla="val 2613"/>
            </a:avLst>
          </a:prstGeom>
          <a:ln w="25400">
            <a:solidFill>
              <a:srgbClr val="0B7A6F"/>
            </a:solidFill>
            <a:prstDash val="solid"/>
          </a:ln>
        </p:spPr>
      </p:sp>
      <p:sp>
        <p:nvSpPr>
          <p:cNvPr id="15" name="Shape 11"/>
          <p:cNvSpPr/>
          <p:nvPr/>
        </p:nvSpPr>
        <p:spPr>
          <a:xfrm>
            <a:off x="2925633" y="2053210"/>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925633" y="205321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669280" y="1280160"/>
            <a:ext cx="3063240" cy="685800"/>
          </a:xfrm>
          <a:prstGeom prst="roundRect">
            <a:avLst>
              <a:gd name="adj" fmla="val 10667"/>
            </a:avLst>
          </a:prstGeom>
          <a:solidFill>
            <a:srgbClr val="FFFFFF"/>
          </a:solidFill>
          <a:ln w="9525">
            <a:solidFill>
              <a:srgbClr val="DCE1E7"/>
            </a:solidFill>
            <a:prstDash val="solid"/>
          </a:ln>
        </p:spPr>
      </p:sp>
      <p:sp>
        <p:nvSpPr>
          <p:cNvPr id="18" name="Shape 14"/>
          <p:cNvSpPr/>
          <p:nvPr/>
        </p:nvSpPr>
        <p:spPr>
          <a:xfrm>
            <a:off x="5797296" y="149504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797296" y="14950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172200" y="132588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and rate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current status, e.g. active</a:t>
            </a:r>
            <a:endParaRPr lang="en-US" sz="1050" dirty="0"/>
          </a:p>
        </p:txBody>
      </p:sp>
      <p:sp>
        <p:nvSpPr>
          <p:cNvPr id="21" name="Shape 17"/>
          <p:cNvSpPr/>
          <p:nvPr/>
        </p:nvSpPr>
        <p:spPr>
          <a:xfrm>
            <a:off x="5669280" y="2057400"/>
            <a:ext cx="3063240" cy="685800"/>
          </a:xfrm>
          <a:prstGeom prst="roundRect">
            <a:avLst>
              <a:gd name="adj" fmla="val 10667"/>
            </a:avLst>
          </a:prstGeom>
          <a:solidFill>
            <a:srgbClr val="FFFFFF"/>
          </a:solidFill>
          <a:ln w="9525">
            <a:solidFill>
              <a:srgbClr val="DCE1E7"/>
            </a:solidFill>
            <a:prstDash val="solid"/>
          </a:ln>
        </p:spPr>
      </p:sp>
      <p:sp>
        <p:nvSpPr>
          <p:cNvPr id="22" name="Shape 18"/>
          <p:cNvSpPr/>
          <p:nvPr/>
        </p:nvSpPr>
        <p:spPr>
          <a:xfrm>
            <a:off x="5797296" y="227228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797296" y="22722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172200" y="210312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Lifetime issues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Damage, theft, false invoices, overcharged hours</a:t>
            </a:r>
            <a:endParaRPr lang="en-US" sz="1050" dirty="0"/>
          </a:p>
        </p:txBody>
      </p:sp>
      <p:sp>
        <p:nvSpPr>
          <p:cNvPr id="25" name="Shape 21"/>
          <p:cNvSpPr/>
          <p:nvPr/>
        </p:nvSpPr>
        <p:spPr>
          <a:xfrm>
            <a:off x="5669280" y="2834640"/>
            <a:ext cx="3063240" cy="685800"/>
          </a:xfrm>
          <a:prstGeom prst="roundRect">
            <a:avLst>
              <a:gd name="adj" fmla="val 10667"/>
            </a:avLst>
          </a:prstGeom>
          <a:solidFill>
            <a:srgbClr val="FFFFFF"/>
          </a:solidFill>
          <a:ln w="9525">
            <a:solidFill>
              <a:srgbClr val="DCE1E7"/>
            </a:solidFill>
            <a:prstDash val="solid"/>
          </a:ln>
        </p:spPr>
      </p:sp>
      <p:sp>
        <p:nvSpPr>
          <p:cNvPr id="26" name="Shape 22"/>
          <p:cNvSpPr/>
          <p:nvPr/>
        </p:nvSpPr>
        <p:spPr>
          <a:xfrm>
            <a:off x="5797296" y="304952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7972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172200" y="288036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Limit vs Actual</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Last 60 days: issues out of invoiced jobs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you enter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reason codes and their format</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you enter the reason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Change CP step window in the Legacy CP CRM.</a:t>
            </a:r>
            <a:endParaRPr lang="en-US" sz="1200" dirty="0"/>
          </a:p>
        </p:txBody>
      </p:sp>
      <p:sp>
        <p:nvSpPr>
          <p:cNvPr id="6" name="Shape 3"/>
          <p:cNvSpPr/>
          <p:nvPr/>
        </p:nvSpPr>
        <p:spPr>
          <a:xfrm>
            <a:off x="411480" y="1188720"/>
            <a:ext cx="2834640" cy="3520440"/>
          </a:xfrm>
          <a:prstGeom prst="roundRect">
            <a:avLst>
              <a:gd name="adj" fmla="val 2581"/>
            </a:avLst>
          </a:prstGeom>
          <a:solidFill>
            <a:srgbClr val="FFFFFF"/>
          </a:solidFill>
          <a:ln w="9525">
            <a:solidFill>
              <a:srgbClr val="DCE1E7"/>
            </a:solidFill>
            <a:prstDash val="solid"/>
          </a:ln>
        </p:spPr>
      </p:sp>
      <p:pic>
        <p:nvPicPr>
          <p:cNvPr id="7" name="Image 0" descr="/tmp/claude-0/-workspace-training/3ce5cff6-cccf-5f33-b0ee-0b147a55120e/scratchpad/img2/cp_stepmodal.png">    </p:cNvPr>
          <p:cNvPicPr>
            <a:picLocks noChangeAspect="1"/>
          </p:cNvPicPr>
          <p:nvPr/>
        </p:nvPicPr>
        <p:blipFill>
          <a:blip r:embed="rId1"/>
          <a:stretch>
            <a:fillRect/>
          </a:stretch>
        </p:blipFill>
        <p:spPr>
          <a:xfrm>
            <a:off x="499595" y="1261872"/>
            <a:ext cx="2658410" cy="3374136"/>
          </a:xfrm>
          <a:prstGeom prst="rect">
            <a:avLst/>
          </a:prstGeom>
        </p:spPr>
      </p:pic>
      <p:sp>
        <p:nvSpPr>
          <p:cNvPr id="8" name="Shape 4"/>
          <p:cNvSpPr/>
          <p:nvPr/>
        </p:nvSpPr>
        <p:spPr>
          <a:xfrm>
            <a:off x="533677" y="1508968"/>
            <a:ext cx="2590246" cy="221534"/>
          </a:xfrm>
          <a:prstGeom prst="roundRect">
            <a:avLst>
              <a:gd name="adj" fmla="val 12383"/>
            </a:avLst>
          </a:prstGeom>
          <a:ln w="25400">
            <a:solidFill>
              <a:srgbClr val="0B7A6F"/>
            </a:solidFill>
            <a:prstDash val="solid"/>
          </a:ln>
        </p:spPr>
      </p:sp>
      <p:sp>
        <p:nvSpPr>
          <p:cNvPr id="9" name="Shape 5"/>
          <p:cNvSpPr/>
          <p:nvPr/>
        </p:nvSpPr>
        <p:spPr>
          <a:xfrm>
            <a:off x="433093" y="1408384"/>
            <a:ext cx="201168" cy="201168"/>
          </a:xfrm>
          <a:prstGeom prst="ellipse">
            <a:avLst/>
          </a:prstGeom>
          <a:solidFill>
            <a:srgbClr val="0B7A6F"/>
          </a:solidFill>
          <a:ln w="12700">
            <a:solidFill>
              <a:srgbClr val="FFFFFF"/>
            </a:solidFill>
            <a:prstDash val="solid"/>
          </a:ln>
        </p:spPr>
      </p:sp>
      <p:sp>
        <p:nvSpPr>
          <p:cNvPr id="10" name="Text 6"/>
          <p:cNvSpPr txBox="1"/>
          <p:nvPr/>
        </p:nvSpPr>
        <p:spPr>
          <a:xfrm>
            <a:off x="433093" y="14083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33677" y="1773105"/>
            <a:ext cx="2590246" cy="979863"/>
          </a:xfrm>
          <a:prstGeom prst="roundRect">
            <a:avLst>
              <a:gd name="adj" fmla="val 2800"/>
            </a:avLst>
          </a:prstGeom>
          <a:ln w="25400">
            <a:solidFill>
              <a:srgbClr val="0B7A6F"/>
            </a:solidFill>
            <a:prstDash val="solid"/>
          </a:ln>
        </p:spPr>
      </p:sp>
      <p:sp>
        <p:nvSpPr>
          <p:cNvPr id="12" name="Shape 8"/>
          <p:cNvSpPr/>
          <p:nvPr/>
        </p:nvSpPr>
        <p:spPr>
          <a:xfrm>
            <a:off x="433093" y="1672521"/>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3093" y="167252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33677" y="3298282"/>
            <a:ext cx="2564684" cy="328041"/>
          </a:xfrm>
          <a:prstGeom prst="roundRect">
            <a:avLst>
              <a:gd name="adj" fmla="val 8362"/>
            </a:avLst>
          </a:prstGeom>
          <a:ln w="25400">
            <a:solidFill>
              <a:srgbClr val="0B7A6F"/>
            </a:solidFill>
            <a:prstDash val="solid"/>
          </a:ln>
        </p:spPr>
      </p:sp>
      <p:sp>
        <p:nvSpPr>
          <p:cNvPr id="15" name="Shape 11"/>
          <p:cNvSpPr/>
          <p:nvPr/>
        </p:nvSpPr>
        <p:spPr>
          <a:xfrm>
            <a:off x="433093" y="3197698"/>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33093" y="319769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429000" y="1188720"/>
            <a:ext cx="5303520" cy="731520"/>
          </a:xfrm>
          <a:prstGeom prst="roundRect">
            <a:avLst>
              <a:gd name="adj" fmla="val 10000"/>
            </a:avLst>
          </a:prstGeom>
          <a:solidFill>
            <a:srgbClr val="FFFFFF"/>
          </a:solidFill>
          <a:ln w="9525">
            <a:solidFill>
              <a:srgbClr val="DCE1E7"/>
            </a:solidFill>
            <a:prstDash val="solid"/>
          </a:ln>
        </p:spPr>
      </p:sp>
      <p:sp>
        <p:nvSpPr>
          <p:cNvPr id="18" name="Shape 14"/>
          <p:cNvSpPr/>
          <p:nvPr/>
        </p:nvSpPr>
        <p:spPr>
          <a:xfrm>
            <a:off x="3557016" y="142646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3557016" y="1426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3931920" y="123444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Reason box</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Type the code and sentence the cleaner will see</a:t>
            </a:r>
            <a:endParaRPr lang="en-US" sz="1050" dirty="0"/>
          </a:p>
        </p:txBody>
      </p:sp>
      <p:sp>
        <p:nvSpPr>
          <p:cNvPr id="21" name="Shape 17"/>
          <p:cNvSpPr/>
          <p:nvPr/>
        </p:nvSpPr>
        <p:spPr>
          <a:xfrm>
            <a:off x="3429000" y="2011680"/>
            <a:ext cx="5303520" cy="731520"/>
          </a:xfrm>
          <a:prstGeom prst="roundRect">
            <a:avLst>
              <a:gd name="adj" fmla="val 10000"/>
            </a:avLst>
          </a:prstGeom>
          <a:solidFill>
            <a:srgbClr val="FFFFFF"/>
          </a:solidFill>
          <a:ln w="9525">
            <a:solidFill>
              <a:srgbClr val="DCE1E7"/>
            </a:solidFill>
            <a:prstDash val="solid"/>
          </a:ln>
        </p:spPr>
      </p:sp>
      <p:sp>
        <p:nvSpPr>
          <p:cNvPr id="22" name="Shape 18"/>
          <p:cNvSpPr/>
          <p:nvPr/>
        </p:nvSpPr>
        <p:spPr>
          <a:xfrm>
            <a:off x="3557016" y="22494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557016" y="22494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931920" y="205740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Reference tables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Templated wording and codes by situation</a:t>
            </a:r>
            <a:endParaRPr lang="en-US" sz="1050" dirty="0"/>
          </a:p>
        </p:txBody>
      </p:sp>
      <p:sp>
        <p:nvSpPr>
          <p:cNvPr id="25" name="Shape 21"/>
          <p:cNvSpPr/>
          <p:nvPr/>
        </p:nvSpPr>
        <p:spPr>
          <a:xfrm>
            <a:off x="3429000" y="2834640"/>
            <a:ext cx="5303520" cy="731520"/>
          </a:xfrm>
          <a:prstGeom prst="roundRect">
            <a:avLst>
              <a:gd name="adj" fmla="val 10000"/>
            </a:avLst>
          </a:prstGeom>
          <a:solidFill>
            <a:srgbClr val="FFFFFF"/>
          </a:solidFill>
          <a:ln w="9525">
            <a:solidFill>
              <a:srgbClr val="DCE1E7"/>
            </a:solidFill>
            <a:prstDash val="solid"/>
          </a:ln>
        </p:spPr>
      </p:sp>
      <p:sp>
        <p:nvSpPr>
          <p:cNvPr id="26" name="Shape 22"/>
          <p:cNvSpPr/>
          <p:nvPr/>
        </p:nvSpPr>
        <p:spPr>
          <a:xfrm>
            <a:off x="355701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355701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3931920" y="288036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buttons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norequests, suspended or cp-opt-out, plus notify options</a:t>
            </a:r>
            <a:endParaRPr lang="en-US" sz="1050" dirty="0"/>
          </a:p>
        </p:txBody>
      </p:sp>
      <p:sp>
        <p:nvSpPr>
          <p:cNvPr id="29" name="Shape 25"/>
          <p:cNvSpPr/>
          <p:nvPr/>
        </p:nvSpPr>
        <p:spPr>
          <a:xfrm>
            <a:off x="3429000" y="3703320"/>
            <a:ext cx="5303520" cy="457200"/>
          </a:xfrm>
          <a:prstGeom prst="roundRect">
            <a:avLst>
              <a:gd name="adj" fmla="val 16000"/>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3584448" y="3849624"/>
            <a:ext cx="164592" cy="164592"/>
          </a:xfrm>
          <a:prstGeom prst="rect">
            <a:avLst/>
          </a:prstGeom>
        </p:spPr>
      </p:pic>
      <p:sp>
        <p:nvSpPr>
          <p:cNvPr id="31" name="Text 26"/>
          <p:cNvSpPr txBox="1"/>
          <p:nvPr/>
        </p:nvSpPr>
        <p:spPr>
          <a:xfrm>
            <a:off x="3840480" y="3794760"/>
            <a:ext cx="4754880" cy="27432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exact code format. Never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514600"/>
                <a:gridCol w="5806440"/>
              </a:tblGrid>
              <a:tr h="301752">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 for deactivation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reason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reschedule on C's behalf</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Reschedule unauthorized by the customer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Penalty: C-Side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on the cleaner's side when a customer reports a problem with their cleaner.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Your two jobs, in order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pause instead of suspend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action for each offense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12.png">    </p:cNvPr>
          <p:cNvPicPr>
            <a:picLocks noChangeAspect="1"/>
          </p:cNvPicPr>
          <p:nvPr/>
        </p:nvPicPr>
        <p:blipFill>
          <a:blip r:embed="rId5"/>
          <a:stretch>
            <a:fillRect/>
          </a:stretch>
        </p:blipFill>
        <p:spPr>
          <a:xfrm>
            <a:off x="5637276" y="1517904"/>
            <a:ext cx="2734056"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jobs, in this order</a:t>
            </a:r>
            <a:endParaRPr lang="en-US" sz="2400" dirty="0"/>
          </a:p>
        </p:txBody>
      </p:sp>
      <p:sp>
        <p:nvSpPr>
          <p:cNvPr id="5" name="Shape 2"/>
          <p:cNvSpPr/>
          <p:nvPr/>
        </p:nvSpPr>
        <p:spPr>
          <a:xfrm>
            <a:off x="411480" y="1280160"/>
            <a:ext cx="4091940" cy="1691640"/>
          </a:xfrm>
          <a:prstGeom prst="roundRect">
            <a:avLst>
              <a:gd name="adj" fmla="val 4324"/>
            </a:avLst>
          </a:prstGeom>
          <a:solidFill>
            <a:srgbClr val="FFFFFF"/>
          </a:solidFill>
          <a:ln w="9525">
            <a:solidFill>
              <a:srgbClr val="DCE1E7"/>
            </a:solidFill>
            <a:prstDash val="solid"/>
          </a:ln>
        </p:spPr>
      </p:sp>
      <p:sp>
        <p:nvSpPr>
          <p:cNvPr id="6" name="Shape 3"/>
          <p:cNvSpPr/>
          <p:nvPr/>
        </p:nvSpPr>
        <p:spPr>
          <a:xfrm>
            <a:off x="576072" y="146304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Resolve the customer's issue</a:t>
            </a:r>
            <a:endParaRPr lang="en-US" sz="1200" dirty="0"/>
          </a:p>
        </p:txBody>
      </p:sp>
      <p:sp>
        <p:nvSpPr>
          <p:cNvPr id="9" name="Text 6"/>
          <p:cNvSpPr txBox="1"/>
          <p:nvPr/>
        </p:nvSpPr>
        <p:spPr>
          <a:xfrm>
            <a:off x="5760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Use the related article for that issue first.</a:t>
            </a:r>
            <a:endParaRPr lang="en-US" sz="950" dirty="0"/>
          </a:p>
        </p:txBody>
      </p:sp>
      <p:sp>
        <p:nvSpPr>
          <p:cNvPr id="10" name="Shape 7"/>
          <p:cNvSpPr/>
          <p:nvPr/>
        </p:nvSpPr>
        <p:spPr>
          <a:xfrm>
            <a:off x="4640580" y="1280160"/>
            <a:ext cx="4091940" cy="1691640"/>
          </a:xfrm>
          <a:prstGeom prst="roundRect">
            <a:avLst>
              <a:gd name="adj" fmla="val 4324"/>
            </a:avLst>
          </a:prstGeom>
          <a:solidFill>
            <a:srgbClr val="FFFFFF"/>
          </a:solidFill>
          <a:ln w="9525">
            <a:solidFill>
              <a:srgbClr val="DCE1E7"/>
            </a:solidFill>
            <a:prstDash val="solid"/>
          </a:ln>
        </p:spPr>
      </p:sp>
      <p:sp>
        <p:nvSpPr>
          <p:cNvPr id="11" name="Shape 8"/>
          <p:cNvSpPr/>
          <p:nvPr/>
        </p:nvSpPr>
        <p:spPr>
          <a:xfrm>
            <a:off x="4805172" y="1463040"/>
            <a:ext cx="274320" cy="274320"/>
          </a:xfrm>
          <a:prstGeom prst="ellipse">
            <a:avLst/>
          </a:prstGeom>
          <a:solidFill>
            <a:srgbClr val="E3F4F1"/>
          </a:solidFill>
          <a:ln w="12700">
            <a:solidFill>
              <a:srgbClr val="E3F4F1"/>
            </a:solidFill>
            <a:prstDash val="solid"/>
          </a:ln>
        </p:spPr>
      </p:sp>
      <p:sp>
        <p:nvSpPr>
          <p:cNvPr id="12" name="Text 9"/>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Take the CP-side action</a:t>
            </a:r>
            <a:endParaRPr lang="en-US" sz="1200" dirty="0"/>
          </a:p>
        </p:txBody>
      </p:sp>
      <p:sp>
        <p:nvSpPr>
          <p:cNvPr id="14" name="Text 11"/>
          <p:cNvSpPr txBox="1"/>
          <p:nvPr/>
        </p:nvSpPr>
        <p:spPr>
          <a:xfrm>
            <a:off x="48051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Pause, coach, flag and document.</a:t>
            </a:r>
            <a:endParaRPr lang="en-US" sz="950" dirty="0"/>
          </a:p>
        </p:txBody>
      </p:sp>
      <p:sp>
        <p:nvSpPr>
          <p:cNvPr id="15"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7"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your call:  </a:t>
            </a:r>
            <a:pPr indent="0" marL="0">
              <a:buNone/>
            </a:pPr>
            <a:r>
              <a:rPr lang="en-US" sz="1000" dirty="0">
                <a:solidFill>
                  <a:srgbClr val="1D1D1F"/>
                </a:solidFill>
                <a:latin typeface="SF Pro Text" pitchFamily="34" charset="0"/>
                <a:ea typeface="SF Pro Text" pitchFamily="34" charset="-122"/>
                <a:cs typeface="SF Pro Text" pitchFamily="34" charset="-120"/>
              </a:rPr>
              <a:t>permanent decisions and suspensions belong to the CP-side team, Trust &amp; Safety, or the system.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Pause, don't suspend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You're seeing one incident from one side. The two statuses affect other customers very differently.</a:t>
            </a:r>
            <a:endParaRPr lang="en-US" sz="1200" dirty="0"/>
          </a:p>
        </p:txBody>
      </p:sp>
      <p:sp>
        <p:nvSpPr>
          <p:cNvPr id="6" name="Shape 3"/>
          <p:cNvSpPr/>
          <p:nvPr/>
        </p:nvSpPr>
        <p:spPr>
          <a:xfrm>
            <a:off x="411480" y="141732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60020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92372"/>
            <a:ext cx="199705" cy="199705"/>
          </a:xfrm>
          <a:prstGeom prst="rect">
            <a:avLst/>
          </a:prstGeom>
        </p:spPr>
      </p:pic>
      <p:sp>
        <p:nvSpPr>
          <p:cNvPr id="9" name="Text 5"/>
          <p:cNvSpPr txBox="1"/>
          <p:nvPr/>
        </p:nvSpPr>
        <p:spPr>
          <a:xfrm>
            <a:off x="10972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norequests (pause)</a:t>
            </a:r>
            <a:endParaRPr lang="en-US" sz="1300" dirty="0"/>
          </a:p>
        </p:txBody>
      </p:sp>
      <p:sp>
        <p:nvSpPr>
          <p:cNvPr id="10" name="Text 6"/>
          <p:cNvSpPr txBox="1"/>
          <p:nvPr/>
        </p:nvSpPr>
        <p:spPr>
          <a:xfrm>
            <a:off x="5943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Can't claim new jobs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Keeps upcoming claimed jobs, so other customers keep their cleanings</a:t>
            </a:r>
            <a:endParaRPr lang="en-US" sz="1000" dirty="0"/>
          </a:p>
        </p:txBody>
      </p:sp>
      <p:sp>
        <p:nvSpPr>
          <p:cNvPr id="11" name="Shape 7"/>
          <p:cNvSpPr/>
          <p:nvPr/>
        </p:nvSpPr>
        <p:spPr>
          <a:xfrm>
            <a:off x="4640580" y="141732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60020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92372"/>
            <a:ext cx="199705" cy="199705"/>
          </a:xfrm>
          <a:prstGeom prst="rect">
            <a:avLst/>
          </a:prstGeom>
        </p:spPr>
      </p:pic>
      <p:sp>
        <p:nvSpPr>
          <p:cNvPr id="14" name="Text 9"/>
          <p:cNvSpPr txBox="1"/>
          <p:nvPr/>
        </p:nvSpPr>
        <p:spPr>
          <a:xfrm>
            <a:off x="53263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suspended</a:t>
            </a:r>
            <a:endParaRPr lang="en-US" sz="1300" dirty="0"/>
          </a:p>
        </p:txBody>
      </p:sp>
      <p:sp>
        <p:nvSpPr>
          <p:cNvPr id="15" name="Text 10"/>
          <p:cNvSpPr txBox="1"/>
          <p:nvPr/>
        </p:nvSpPr>
        <p:spPr>
          <a:xfrm>
            <a:off x="48234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Removed from every upcoming claimed job</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Those customers are notified their cleaning is affected</a:t>
            </a:r>
            <a:endParaRPr lang="en-US" sz="1000" dirty="0"/>
          </a:p>
        </p:txBody>
      </p:sp>
      <p:sp>
        <p:nvSpPr>
          <p:cNvPr id="16" name="Shape 11"/>
          <p:cNvSpPr/>
          <p:nvPr/>
        </p:nvSpPr>
        <p:spPr>
          <a:xfrm>
            <a:off x="411480" y="3291840"/>
            <a:ext cx="8321040" cy="868680"/>
          </a:xfrm>
          <a:prstGeom prst="roundRect">
            <a:avLst>
              <a:gd name="adj" fmla="val 8421"/>
            </a:avLst>
          </a:prstGeom>
          <a:solidFill>
            <a:srgbClr val="E3F4F1"/>
          </a:solidFill>
          <a:ln w="9525">
            <a:solidFill>
              <a:srgbClr val="E3F4F1"/>
            </a:solidFill>
            <a:prstDash val="solid"/>
          </a:ln>
        </p:spPr>
      </p:sp>
      <p:sp>
        <p:nvSpPr>
          <p:cNvPr id="17" name="Text 12"/>
          <p:cNvSpPr txBox="1"/>
          <p:nvPr/>
        </p:nvSpPr>
        <p:spPr>
          <a:xfrm>
            <a:off x="640080" y="3401568"/>
            <a:ext cx="27432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18" name="Text 13"/>
          <p:cNvSpPr txBox="1"/>
          <p:nvPr/>
        </p:nvSpPr>
        <p:spPr>
          <a:xfrm>
            <a:off x="640080" y="3611880"/>
            <a:ext cx="7863840" cy="457200"/>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customer reports their cleaner came without supplies. The cleaner has 4 other jobs this week. Pausing lets those 4 customers keep their cleanings. Suspending would cancel all 4.</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default, and what you don't do</a:t>
            </a:r>
            <a:endParaRPr lang="en-US" sz="2400" dirty="0"/>
          </a:p>
        </p:txBody>
      </p:sp>
      <p:sp>
        <p:nvSpPr>
          <p:cNvPr id="5" name="Shape 2"/>
          <p:cNvSpPr/>
          <p:nvPr/>
        </p:nvSpPr>
        <p:spPr>
          <a:xfrm>
            <a:off x="411480" y="1188720"/>
            <a:ext cx="8321040" cy="914400"/>
          </a:xfrm>
          <a:prstGeom prst="roundRect">
            <a:avLst>
              <a:gd name="adj" fmla="val 8000"/>
            </a:avLst>
          </a:prstGeom>
          <a:solidFill>
            <a:srgbClr val="0B7A6F"/>
          </a:solidFill>
          <a:ln w="9525">
            <a:solidFill>
              <a:srgbClr val="0B7A6F"/>
            </a:solidFill>
            <a:prstDash val="solid"/>
          </a:ln>
        </p:spPr>
      </p:sp>
      <p:sp>
        <p:nvSpPr>
          <p:cNvPr id="6" name="Text 3"/>
          <p:cNvSpPr txBox="1"/>
          <p:nvPr/>
        </p:nvSpPr>
        <p:spPr>
          <a:xfrm>
            <a:off x="685800" y="1307592"/>
            <a:ext cx="54864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DEFAULT CP-SIDE ACTION</a:t>
            </a:r>
            <a:endParaRPr lang="en-US" sz="800" dirty="0"/>
          </a:p>
        </p:txBody>
      </p:sp>
      <p:sp>
        <p:nvSpPr>
          <p:cNvPr id="7" name="Text 4"/>
          <p:cNvSpPr txBox="1"/>
          <p:nvPr/>
        </p:nvSpPr>
        <p:spPr>
          <a:xfrm>
            <a:off x="685800" y="1536192"/>
            <a:ext cx="7863840" cy="4114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norequests  +  coaching  +  the relevant flag  +  an internal note</a:t>
            </a:r>
            <a:endParaRPr lang="en-US" sz="1600" dirty="0"/>
          </a:p>
        </p:txBody>
      </p:sp>
      <p:sp>
        <p:nvSpPr>
          <p:cNvPr id="8" name="Text 5"/>
          <p:cNvSpPr txBox="1"/>
          <p:nvPr/>
        </p:nvSpPr>
        <p:spPr>
          <a:xfrm>
            <a:off x="438912" y="233172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C-SIDE AGENTS DON'T</a:t>
            </a:r>
            <a:endParaRPr lang="en-US" sz="800" dirty="0"/>
          </a:p>
        </p:txBody>
      </p:sp>
      <p:sp>
        <p:nvSpPr>
          <p:cNvPr id="9" name="Shape 6"/>
          <p:cNvSpPr/>
          <p:nvPr/>
        </p:nvSpPr>
        <p:spPr>
          <a:xfrm>
            <a:off x="411480" y="2606040"/>
            <a:ext cx="1977390" cy="1417320"/>
          </a:xfrm>
          <a:prstGeom prst="roundRect">
            <a:avLst>
              <a:gd name="adj" fmla="val 5161"/>
            </a:avLst>
          </a:prstGeom>
          <a:solidFill>
            <a:srgbClr val="FFFFFF"/>
          </a:solidFill>
          <a:ln w="9525">
            <a:solidFill>
              <a:srgbClr val="DCE1E7"/>
            </a:solidFill>
            <a:prstDash val="solid"/>
          </a:ln>
        </p:spPr>
      </p:sp>
      <p:sp>
        <p:nvSpPr>
          <p:cNvPr id="10" name="Shape 7"/>
          <p:cNvSpPr/>
          <p:nvPr/>
        </p:nvSpPr>
        <p:spPr>
          <a:xfrm>
            <a:off x="576072" y="2743200"/>
            <a:ext cx="365760" cy="365760"/>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63854" y="2830982"/>
            <a:ext cx="190195" cy="190195"/>
          </a:xfrm>
          <a:prstGeom prst="rect">
            <a:avLst/>
          </a:prstGeom>
        </p:spPr>
      </p:pic>
      <p:sp>
        <p:nvSpPr>
          <p:cNvPr id="12" name="Text 8"/>
          <p:cNvSpPr txBox="1"/>
          <p:nvPr/>
        </p:nvSpPr>
        <p:spPr>
          <a:xfrm>
            <a:off x="5760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Suspend a CP</a:t>
            </a:r>
            <a:endParaRPr lang="en-US" sz="1150" dirty="0"/>
          </a:p>
        </p:txBody>
      </p:sp>
      <p:sp>
        <p:nvSpPr>
          <p:cNvPr id="13" name="Text 9"/>
          <p:cNvSpPr txBox="1"/>
          <p:nvPr/>
        </p:nvSpPr>
        <p:spPr>
          <a:xfrm>
            <a:off x="5760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the false-invoice exception</a:t>
            </a:r>
            <a:endParaRPr lang="en-US" sz="950" dirty="0"/>
          </a:p>
        </p:txBody>
      </p:sp>
      <p:sp>
        <p:nvSpPr>
          <p:cNvPr id="14" name="Shape 10"/>
          <p:cNvSpPr/>
          <p:nvPr/>
        </p:nvSpPr>
        <p:spPr>
          <a:xfrm>
            <a:off x="2526030" y="2606040"/>
            <a:ext cx="1977390" cy="1417320"/>
          </a:xfrm>
          <a:prstGeom prst="roundRect">
            <a:avLst>
              <a:gd name="adj" fmla="val 5161"/>
            </a:avLst>
          </a:prstGeom>
          <a:solidFill>
            <a:srgbClr val="FFFFFF"/>
          </a:solidFill>
          <a:ln w="9525">
            <a:solidFill>
              <a:srgbClr val="DCE1E7"/>
            </a:solidFill>
            <a:prstDash val="solid"/>
          </a:ln>
        </p:spPr>
      </p:sp>
      <p:sp>
        <p:nvSpPr>
          <p:cNvPr id="15" name="Shape 11"/>
          <p:cNvSpPr/>
          <p:nvPr/>
        </p:nvSpPr>
        <p:spPr>
          <a:xfrm>
            <a:off x="2690622" y="2743200"/>
            <a:ext cx="365760" cy="365760"/>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2778404" y="2830982"/>
            <a:ext cx="190195" cy="190195"/>
          </a:xfrm>
          <a:prstGeom prst="rect">
            <a:avLst/>
          </a:prstGeom>
        </p:spPr>
      </p:pic>
      <p:sp>
        <p:nvSpPr>
          <p:cNvPr id="17" name="Text 12"/>
          <p:cNvSpPr txBox="1"/>
          <p:nvPr/>
        </p:nvSpPr>
        <p:spPr>
          <a:xfrm>
            <a:off x="26906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Add a DNR flag</a:t>
            </a:r>
            <a:endParaRPr lang="en-US" sz="1150" dirty="0"/>
          </a:p>
        </p:txBody>
      </p:sp>
      <p:sp>
        <p:nvSpPr>
          <p:cNvPr id="18" name="Text 13"/>
          <p:cNvSpPr txBox="1"/>
          <p:nvPr/>
        </p:nvSpPr>
        <p:spPr>
          <a:xfrm>
            <a:off x="26906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a:t>
            </a:r>
            <a:endParaRPr lang="en-US" sz="950" dirty="0"/>
          </a:p>
        </p:txBody>
      </p:sp>
      <p:sp>
        <p:nvSpPr>
          <p:cNvPr id="19" name="Shape 14"/>
          <p:cNvSpPr/>
          <p:nvPr/>
        </p:nvSpPr>
        <p:spPr>
          <a:xfrm>
            <a:off x="4640580" y="2606040"/>
            <a:ext cx="1977390" cy="1417320"/>
          </a:xfrm>
          <a:prstGeom prst="roundRect">
            <a:avLst>
              <a:gd name="adj" fmla="val 5161"/>
            </a:avLst>
          </a:prstGeom>
          <a:solidFill>
            <a:srgbClr val="FFFFFF"/>
          </a:solidFill>
          <a:ln w="9525">
            <a:solidFill>
              <a:srgbClr val="DCE1E7"/>
            </a:solidFill>
            <a:prstDash val="solid"/>
          </a:ln>
        </p:spPr>
      </p:sp>
      <p:sp>
        <p:nvSpPr>
          <p:cNvPr id="20" name="Shape 15"/>
          <p:cNvSpPr/>
          <p:nvPr/>
        </p:nvSpPr>
        <p:spPr>
          <a:xfrm>
            <a:off x="4805172" y="2743200"/>
            <a:ext cx="365760" cy="365760"/>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4892954" y="2830982"/>
            <a:ext cx="190195" cy="190195"/>
          </a:xfrm>
          <a:prstGeom prst="rect">
            <a:avLst/>
          </a:prstGeom>
        </p:spPr>
      </p:pic>
      <p:sp>
        <p:nvSpPr>
          <p:cNvPr id="22" name="Text 16"/>
          <p:cNvSpPr txBox="1"/>
          <p:nvPr/>
        </p:nvSpPr>
        <p:spPr>
          <a:xfrm>
            <a:off x="48051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Deactivate a CP</a:t>
            </a:r>
            <a:endParaRPr lang="en-US" sz="1150" dirty="0"/>
          </a:p>
        </p:txBody>
      </p:sp>
      <p:sp>
        <p:nvSpPr>
          <p:cNvPr id="23" name="Text 17"/>
          <p:cNvSpPr txBox="1"/>
          <p:nvPr/>
        </p:nvSpPr>
        <p:spPr>
          <a:xfrm>
            <a:off x="48051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permanently</a:t>
            </a:r>
            <a:endParaRPr lang="en-US" sz="950" dirty="0"/>
          </a:p>
        </p:txBody>
      </p:sp>
      <p:sp>
        <p:nvSpPr>
          <p:cNvPr id="24" name="Shape 18"/>
          <p:cNvSpPr/>
          <p:nvPr/>
        </p:nvSpPr>
        <p:spPr>
          <a:xfrm>
            <a:off x="6755130" y="2606040"/>
            <a:ext cx="1977390" cy="1417320"/>
          </a:xfrm>
          <a:prstGeom prst="roundRect">
            <a:avLst>
              <a:gd name="adj" fmla="val 5161"/>
            </a:avLst>
          </a:prstGeom>
          <a:solidFill>
            <a:srgbClr val="FFFFFF"/>
          </a:solidFill>
          <a:ln w="9525">
            <a:solidFill>
              <a:srgbClr val="DCE1E7"/>
            </a:solidFill>
            <a:prstDash val="solid"/>
          </a:ln>
        </p:spPr>
      </p:sp>
      <p:sp>
        <p:nvSpPr>
          <p:cNvPr id="25" name="Shape 19"/>
          <p:cNvSpPr/>
          <p:nvPr/>
        </p:nvSpPr>
        <p:spPr>
          <a:xfrm>
            <a:off x="6919722" y="2743200"/>
            <a:ext cx="365760" cy="365760"/>
          </a:xfrm>
          <a:prstGeom prst="ellipse">
            <a:avLst/>
          </a:prstGeom>
          <a:solidFill>
            <a:srgbClr val="E3F4F1"/>
          </a:solidFill>
          <a:ln w="12700">
            <a:solidFill>
              <a:srgbClr val="E3F4F1"/>
            </a:solidFill>
            <a:prstDash val="solid"/>
          </a:ln>
        </p:spPr>
      </p:sp>
      <p:pic>
        <p:nvPicPr>
          <p:cNvPr id="26" name="Image 3" descr="preencoded.png">    </p:cNvPr>
          <p:cNvPicPr>
            <a:picLocks noChangeAspect="1"/>
          </p:cNvPicPr>
          <p:nvPr/>
        </p:nvPicPr>
        <p:blipFill>
          <a:blip r:embed="rId4"/>
          <a:stretch>
            <a:fillRect/>
          </a:stretch>
        </p:blipFill>
        <p:spPr>
          <a:xfrm>
            <a:off x="7007504" y="2830982"/>
            <a:ext cx="190195" cy="190195"/>
          </a:xfrm>
          <a:prstGeom prst="rect">
            <a:avLst/>
          </a:prstGeom>
        </p:spPr>
      </p:pic>
      <p:sp>
        <p:nvSpPr>
          <p:cNvPr id="27" name="Text 20"/>
          <p:cNvSpPr txBox="1"/>
          <p:nvPr/>
        </p:nvSpPr>
        <p:spPr>
          <a:xfrm>
            <a:off x="69197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Reactivate a CP</a:t>
            </a:r>
            <a:endParaRPr lang="en-US" sz="1150" dirty="0"/>
          </a:p>
        </p:txBody>
      </p:sp>
      <p:sp>
        <p:nvSpPr>
          <p:cNvPr id="28" name="Text 21"/>
          <p:cNvSpPr txBox="1"/>
          <p:nvPr/>
        </p:nvSpPr>
        <p:spPr>
          <a:xfrm>
            <a:off x="69197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CP-side team decides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Exceptions to the default</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4297680"/>
                <a:gridCol w="4023360"/>
              </a:tblGrid>
              <a:tr h="42062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Situation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to do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Safety concern (theft, damage, threats, harassment, someone else working the account)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Route to Trust &amp; Safety and follow their process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The system already suspended the CP after your flag or report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Leave it. Coach, explain how to appeal from the dashboard, add your note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First warning-level offense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Coach only. No status change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False invoice (even "the cleaner never came")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norequests, and ask the CP what happened. GPS alone can't confirm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Multiple false invoices that look abusive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You may set suspended. The only time you do. Never add DNR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Safety first:  </a:t>
            </a:r>
            <a:pPr indent="0" marL="0">
              <a:buNone/>
            </a:pPr>
            <a:r>
              <a:rPr lang="en-US" sz="1000" dirty="0">
                <a:solidFill>
                  <a:srgbClr val="1D1D1F"/>
                </a:solidFill>
                <a:latin typeface="SF Pro Text" pitchFamily="34" charset="0"/>
                <a:ea typeface="SF Pro Text" pitchFamily="34" charset="-122"/>
                <a:cs typeface="SF Pro Text" pitchFamily="34" charset="-120"/>
              </a:rPr>
              <a:t>anything that makes the customer feel unsafe goes to Trust &amp; Safety.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Five steps, in order.</a:t>
            </a:r>
            <a:endParaRPr lang="en-US" sz="1200" dirty="0"/>
          </a:p>
        </p:txBody>
      </p:sp>
      <p:sp>
        <p:nvSpPr>
          <p:cNvPr id="6" name="Shape 3"/>
          <p:cNvSpPr/>
          <p:nvPr/>
        </p:nvSpPr>
        <p:spPr>
          <a:xfrm>
            <a:off x="411480" y="1371600"/>
            <a:ext cx="1517904" cy="2377440"/>
          </a:xfrm>
          <a:prstGeom prst="roundRect">
            <a:avLst>
              <a:gd name="adj" fmla="val 4819"/>
            </a:avLst>
          </a:prstGeom>
          <a:solidFill>
            <a:srgbClr val="FFFFFF"/>
          </a:solidFill>
          <a:ln w="9525">
            <a:solidFill>
              <a:srgbClr val="DCE1E7"/>
            </a:solidFill>
            <a:prstDash val="solid"/>
          </a:ln>
        </p:spPr>
      </p:sp>
      <p:sp>
        <p:nvSpPr>
          <p:cNvPr id="7" name="Shape 4"/>
          <p:cNvSpPr/>
          <p:nvPr/>
        </p:nvSpPr>
        <p:spPr>
          <a:xfrm>
            <a:off x="918972" y="1554480"/>
            <a:ext cx="502920" cy="50292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1039673" y="1675181"/>
            <a:ext cx="261518" cy="261518"/>
          </a:xfrm>
          <a:prstGeom prst="rect">
            <a:avLst/>
          </a:prstGeom>
        </p:spPr>
      </p:pic>
      <p:sp>
        <p:nvSpPr>
          <p:cNvPr id="9" name="Text 5"/>
          <p:cNvSpPr txBox="1"/>
          <p:nvPr/>
        </p:nvSpPr>
        <p:spPr>
          <a:xfrm>
            <a:off x="411480"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Safety issue?</a:t>
            </a:r>
            <a:endParaRPr lang="en-US" sz="1100" dirty="0"/>
          </a:p>
        </p:txBody>
      </p:sp>
      <p:sp>
        <p:nvSpPr>
          <p:cNvPr id="11" name="Text 7"/>
          <p:cNvSpPr txBox="1"/>
          <p:nvPr/>
        </p:nvSpPr>
        <p:spPr>
          <a:xfrm>
            <a:off x="521208"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Yes: route to Trust &amp; Safety. Done</a:t>
            </a:r>
            <a:endParaRPr lang="en-US" sz="900" dirty="0"/>
          </a:p>
        </p:txBody>
      </p:sp>
      <p:pic>
        <p:nvPicPr>
          <p:cNvPr id="12" name="Image 1" descr="preencoded.png">    </p:cNvPr>
          <p:cNvPicPr>
            <a:picLocks noChangeAspect="1"/>
          </p:cNvPicPr>
          <p:nvPr/>
        </p:nvPicPr>
        <p:blipFill>
          <a:blip r:embed="rId2"/>
          <a:stretch>
            <a:fillRect/>
          </a:stretch>
        </p:blipFill>
        <p:spPr>
          <a:xfrm>
            <a:off x="1947672" y="2468880"/>
            <a:ext cx="146304" cy="146304"/>
          </a:xfrm>
          <a:prstGeom prst="rect">
            <a:avLst/>
          </a:prstGeom>
        </p:spPr>
      </p:pic>
      <p:sp>
        <p:nvSpPr>
          <p:cNvPr id="13" name="Shape 8"/>
          <p:cNvSpPr/>
          <p:nvPr/>
        </p:nvSpPr>
        <p:spPr>
          <a:xfrm>
            <a:off x="2112264" y="1371600"/>
            <a:ext cx="1517904" cy="2377440"/>
          </a:xfrm>
          <a:prstGeom prst="roundRect">
            <a:avLst>
              <a:gd name="adj" fmla="val 4819"/>
            </a:avLst>
          </a:prstGeom>
          <a:solidFill>
            <a:srgbClr val="FFFFFF"/>
          </a:solidFill>
          <a:ln w="9525">
            <a:solidFill>
              <a:srgbClr val="DCE1E7"/>
            </a:solidFill>
            <a:prstDash val="solid"/>
          </a:ln>
        </p:spPr>
      </p:sp>
      <p:sp>
        <p:nvSpPr>
          <p:cNvPr id="14" name="Shape 9"/>
          <p:cNvSpPr/>
          <p:nvPr/>
        </p:nvSpPr>
        <p:spPr>
          <a:xfrm>
            <a:off x="2619756" y="1554480"/>
            <a:ext cx="502920" cy="502920"/>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2740457" y="1675181"/>
            <a:ext cx="261518" cy="261518"/>
          </a:xfrm>
          <a:prstGeom prst="rect">
            <a:avLst/>
          </a:prstGeom>
        </p:spPr>
      </p:pic>
      <p:sp>
        <p:nvSpPr>
          <p:cNvPr id="16" name="Text 10"/>
          <p:cNvSpPr txBox="1"/>
          <p:nvPr/>
        </p:nvSpPr>
        <p:spPr>
          <a:xfrm>
            <a:off x="2112264"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7" name="Text 11"/>
          <p:cNvSpPr txBox="1"/>
          <p:nvPr/>
        </p:nvSpPr>
        <p:spPr>
          <a:xfrm>
            <a:off x="2203704"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Already suspended?</a:t>
            </a:r>
            <a:endParaRPr lang="en-US" sz="1100" dirty="0"/>
          </a:p>
        </p:txBody>
      </p:sp>
      <p:sp>
        <p:nvSpPr>
          <p:cNvPr id="18" name="Text 12"/>
          <p:cNvSpPr txBox="1"/>
          <p:nvPr/>
        </p:nvSpPr>
        <p:spPr>
          <a:xfrm>
            <a:off x="2221992"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Check the Issues table. Yes: leave it, coach, note. Done</a:t>
            </a:r>
            <a:endParaRPr lang="en-US" sz="900" dirty="0"/>
          </a:p>
        </p:txBody>
      </p:sp>
      <p:pic>
        <p:nvPicPr>
          <p:cNvPr id="19" name="Image 3" descr="preencoded.png">    </p:cNvPr>
          <p:cNvPicPr>
            <a:picLocks noChangeAspect="1"/>
          </p:cNvPicPr>
          <p:nvPr/>
        </p:nvPicPr>
        <p:blipFill>
          <a:blip r:embed="rId4"/>
          <a:stretch>
            <a:fillRect/>
          </a:stretch>
        </p:blipFill>
        <p:spPr>
          <a:xfrm>
            <a:off x="3648456" y="2468880"/>
            <a:ext cx="146304" cy="146304"/>
          </a:xfrm>
          <a:prstGeom prst="rect">
            <a:avLst/>
          </a:prstGeom>
        </p:spPr>
      </p:pic>
      <p:sp>
        <p:nvSpPr>
          <p:cNvPr id="20" name="Shape 13"/>
          <p:cNvSpPr/>
          <p:nvPr/>
        </p:nvSpPr>
        <p:spPr>
          <a:xfrm>
            <a:off x="3813048" y="1371600"/>
            <a:ext cx="1517904" cy="2377440"/>
          </a:xfrm>
          <a:prstGeom prst="roundRect">
            <a:avLst>
              <a:gd name="adj" fmla="val 4819"/>
            </a:avLst>
          </a:prstGeom>
          <a:solidFill>
            <a:srgbClr val="FFFFFF"/>
          </a:solidFill>
          <a:ln w="9525">
            <a:solidFill>
              <a:srgbClr val="DCE1E7"/>
            </a:solidFill>
            <a:prstDash val="solid"/>
          </a:ln>
        </p:spPr>
      </p:sp>
      <p:sp>
        <p:nvSpPr>
          <p:cNvPr id="21" name="Shape 14"/>
          <p:cNvSpPr/>
          <p:nvPr/>
        </p:nvSpPr>
        <p:spPr>
          <a:xfrm>
            <a:off x="4320540" y="1554480"/>
            <a:ext cx="502920" cy="502920"/>
          </a:xfrm>
          <a:prstGeom prst="ellipse">
            <a:avLst/>
          </a:prstGeom>
          <a:solidFill>
            <a:srgbClr val="E3F4F1"/>
          </a:solidFill>
          <a:ln w="12700">
            <a:solidFill>
              <a:srgbClr val="E3F4F1"/>
            </a:solidFill>
            <a:prstDash val="solid"/>
          </a:ln>
        </p:spPr>
      </p:sp>
      <p:pic>
        <p:nvPicPr>
          <p:cNvPr id="22" name="Image 4" descr="preencoded.png">    </p:cNvPr>
          <p:cNvPicPr>
            <a:picLocks noChangeAspect="1"/>
          </p:cNvPicPr>
          <p:nvPr/>
        </p:nvPicPr>
        <p:blipFill>
          <a:blip r:embed="rId5"/>
          <a:stretch>
            <a:fillRect/>
          </a:stretch>
        </p:blipFill>
        <p:spPr>
          <a:xfrm>
            <a:off x="4441241" y="1675181"/>
            <a:ext cx="261518" cy="261518"/>
          </a:xfrm>
          <a:prstGeom prst="rect">
            <a:avLst/>
          </a:prstGeom>
        </p:spPr>
      </p:pic>
      <p:sp>
        <p:nvSpPr>
          <p:cNvPr id="23" name="Text 15"/>
          <p:cNvSpPr txBox="1"/>
          <p:nvPr/>
        </p:nvSpPr>
        <p:spPr>
          <a:xfrm>
            <a:off x="3813048"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4" name="Text 16"/>
          <p:cNvSpPr txBox="1"/>
          <p:nvPr/>
        </p:nvSpPr>
        <p:spPr>
          <a:xfrm>
            <a:off x="3904488"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Find the offense</a:t>
            </a:r>
            <a:endParaRPr lang="en-US" sz="1100" dirty="0"/>
          </a:p>
        </p:txBody>
      </p:sp>
      <p:sp>
        <p:nvSpPr>
          <p:cNvPr id="25" name="Text 17"/>
          <p:cNvSpPr txBox="1"/>
          <p:nvPr/>
        </p:nvSpPr>
        <p:spPr>
          <a:xfrm>
            <a:off x="3922776"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Take the action in the table</a:t>
            </a:r>
            <a:endParaRPr lang="en-US" sz="900" dirty="0"/>
          </a:p>
        </p:txBody>
      </p:sp>
      <p:pic>
        <p:nvPicPr>
          <p:cNvPr id="26" name="Image 5" descr="preencoded.png">    </p:cNvPr>
          <p:cNvPicPr>
            <a:picLocks noChangeAspect="1"/>
          </p:cNvPicPr>
          <p:nvPr/>
        </p:nvPicPr>
        <p:blipFill>
          <a:blip r:embed="rId6"/>
          <a:stretch>
            <a:fillRect/>
          </a:stretch>
        </p:blipFill>
        <p:spPr>
          <a:xfrm>
            <a:off x="5349240" y="2468880"/>
            <a:ext cx="146304" cy="146304"/>
          </a:xfrm>
          <a:prstGeom prst="rect">
            <a:avLst/>
          </a:prstGeom>
        </p:spPr>
      </p:pic>
      <p:sp>
        <p:nvSpPr>
          <p:cNvPr id="27" name="Shape 18"/>
          <p:cNvSpPr/>
          <p:nvPr/>
        </p:nvSpPr>
        <p:spPr>
          <a:xfrm>
            <a:off x="5513832" y="1371600"/>
            <a:ext cx="1517904" cy="2377440"/>
          </a:xfrm>
          <a:prstGeom prst="roundRect">
            <a:avLst>
              <a:gd name="adj" fmla="val 4819"/>
            </a:avLst>
          </a:prstGeom>
          <a:solidFill>
            <a:srgbClr val="FFFFFF"/>
          </a:solidFill>
          <a:ln w="9525">
            <a:solidFill>
              <a:srgbClr val="DCE1E7"/>
            </a:solidFill>
            <a:prstDash val="solid"/>
          </a:ln>
        </p:spPr>
      </p:sp>
      <p:sp>
        <p:nvSpPr>
          <p:cNvPr id="28" name="Shape 19"/>
          <p:cNvSpPr/>
          <p:nvPr/>
        </p:nvSpPr>
        <p:spPr>
          <a:xfrm>
            <a:off x="6021324" y="1554480"/>
            <a:ext cx="502920" cy="502920"/>
          </a:xfrm>
          <a:prstGeom prst="ellipse">
            <a:avLst/>
          </a:prstGeom>
          <a:solidFill>
            <a:srgbClr val="E3F4F1"/>
          </a:solidFill>
          <a:ln w="12700">
            <a:solidFill>
              <a:srgbClr val="E3F4F1"/>
            </a:solidFill>
            <a:prstDash val="solid"/>
          </a:ln>
        </p:spPr>
      </p:sp>
      <p:pic>
        <p:nvPicPr>
          <p:cNvPr id="29" name="Image 6" descr="preencoded.png">    </p:cNvPr>
          <p:cNvPicPr>
            <a:picLocks noChangeAspect="1"/>
          </p:cNvPicPr>
          <p:nvPr/>
        </p:nvPicPr>
        <p:blipFill>
          <a:blip r:embed="rId7"/>
          <a:stretch>
            <a:fillRect/>
          </a:stretch>
        </p:blipFill>
        <p:spPr>
          <a:xfrm>
            <a:off x="6142025" y="1675181"/>
            <a:ext cx="261518" cy="261518"/>
          </a:xfrm>
          <a:prstGeom prst="rect">
            <a:avLst/>
          </a:prstGeom>
        </p:spPr>
      </p:pic>
      <p:sp>
        <p:nvSpPr>
          <p:cNvPr id="30" name="Text 20"/>
          <p:cNvSpPr txBox="1"/>
          <p:nvPr/>
        </p:nvSpPr>
        <p:spPr>
          <a:xfrm>
            <a:off x="5513832"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4</a:t>
            </a:r>
            <a:endParaRPr lang="en-US" sz="800" dirty="0"/>
          </a:p>
        </p:txBody>
      </p:sp>
      <p:sp>
        <p:nvSpPr>
          <p:cNvPr id="31" name="Text 21"/>
          <p:cNvSpPr txBox="1"/>
          <p:nvPr/>
        </p:nvSpPr>
        <p:spPr>
          <a:xfrm>
            <a:off x="5605272"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Coach the CP</a:t>
            </a:r>
            <a:endParaRPr lang="en-US" sz="1100" dirty="0"/>
          </a:p>
        </p:txBody>
      </p:sp>
      <p:sp>
        <p:nvSpPr>
          <p:cNvPr id="32" name="Text 22"/>
          <p:cNvSpPr txBox="1"/>
          <p:nvPr/>
        </p:nvSpPr>
        <p:spPr>
          <a:xfrm>
            <a:off x="5623560"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What was reported and how to appeal</a:t>
            </a:r>
            <a:endParaRPr lang="en-US" sz="900" dirty="0"/>
          </a:p>
        </p:txBody>
      </p:sp>
      <p:pic>
        <p:nvPicPr>
          <p:cNvPr id="33" name="Image 7" descr="preencoded.png">    </p:cNvPr>
          <p:cNvPicPr>
            <a:picLocks noChangeAspect="1"/>
          </p:cNvPicPr>
          <p:nvPr/>
        </p:nvPicPr>
        <p:blipFill>
          <a:blip r:embed="rId8"/>
          <a:stretch>
            <a:fillRect/>
          </a:stretch>
        </p:blipFill>
        <p:spPr>
          <a:xfrm>
            <a:off x="7050024" y="2468880"/>
            <a:ext cx="146304" cy="146304"/>
          </a:xfrm>
          <a:prstGeom prst="rect">
            <a:avLst/>
          </a:prstGeom>
        </p:spPr>
      </p:pic>
      <p:sp>
        <p:nvSpPr>
          <p:cNvPr id="34" name="Shape 23"/>
          <p:cNvSpPr/>
          <p:nvPr/>
        </p:nvSpPr>
        <p:spPr>
          <a:xfrm>
            <a:off x="7214616" y="1371600"/>
            <a:ext cx="1517904" cy="2377440"/>
          </a:xfrm>
          <a:prstGeom prst="roundRect">
            <a:avLst>
              <a:gd name="adj" fmla="val 4819"/>
            </a:avLst>
          </a:prstGeom>
          <a:solidFill>
            <a:srgbClr val="FFFFFF"/>
          </a:solidFill>
          <a:ln w="9525">
            <a:solidFill>
              <a:srgbClr val="DCE1E7"/>
            </a:solidFill>
            <a:prstDash val="solid"/>
          </a:ln>
        </p:spPr>
      </p:sp>
      <p:sp>
        <p:nvSpPr>
          <p:cNvPr id="35" name="Shape 24"/>
          <p:cNvSpPr/>
          <p:nvPr/>
        </p:nvSpPr>
        <p:spPr>
          <a:xfrm>
            <a:off x="7722108" y="1554480"/>
            <a:ext cx="502920" cy="502920"/>
          </a:xfrm>
          <a:prstGeom prst="ellipse">
            <a:avLst/>
          </a:prstGeom>
          <a:solidFill>
            <a:srgbClr val="E3F4F1"/>
          </a:solidFill>
          <a:ln w="12700">
            <a:solidFill>
              <a:srgbClr val="E3F4F1"/>
            </a:solidFill>
            <a:prstDash val="solid"/>
          </a:ln>
        </p:spPr>
      </p:sp>
      <p:pic>
        <p:nvPicPr>
          <p:cNvPr id="36" name="Image 8" descr="preencoded.png">    </p:cNvPr>
          <p:cNvPicPr>
            <a:picLocks noChangeAspect="1"/>
          </p:cNvPicPr>
          <p:nvPr/>
        </p:nvPicPr>
        <p:blipFill>
          <a:blip r:embed="rId9"/>
          <a:stretch>
            <a:fillRect/>
          </a:stretch>
        </p:blipFill>
        <p:spPr>
          <a:xfrm>
            <a:off x="7842809" y="1675181"/>
            <a:ext cx="261518" cy="261518"/>
          </a:xfrm>
          <a:prstGeom prst="rect">
            <a:avLst/>
          </a:prstGeom>
        </p:spPr>
      </p:pic>
      <p:sp>
        <p:nvSpPr>
          <p:cNvPr id="37" name="Text 25"/>
          <p:cNvSpPr txBox="1"/>
          <p:nvPr/>
        </p:nvSpPr>
        <p:spPr>
          <a:xfrm>
            <a:off x="7214616"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a:t>
            </a:r>
            <a:endParaRPr lang="en-US" sz="800" dirty="0"/>
          </a:p>
        </p:txBody>
      </p:sp>
      <p:sp>
        <p:nvSpPr>
          <p:cNvPr id="38" name="Text 26"/>
          <p:cNvSpPr txBox="1"/>
          <p:nvPr/>
        </p:nvSpPr>
        <p:spPr>
          <a:xfrm>
            <a:off x="7306056"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Leave a note</a:t>
            </a:r>
            <a:endParaRPr lang="en-US" sz="1100" dirty="0"/>
          </a:p>
        </p:txBody>
      </p:sp>
      <p:sp>
        <p:nvSpPr>
          <p:cNvPr id="39" name="Text 27"/>
          <p:cNvSpPr txBox="1"/>
          <p:nvPr/>
        </p:nvSpPr>
        <p:spPr>
          <a:xfrm>
            <a:off x="7324344"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So the CP-side team doesn't re-investigate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 3</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for each offense</a:t>
            </a:r>
            <a:endParaRPr lang="en-US" sz="2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8321040" cy="914400"/>
        </p:xfrm>
        <a:graphic>
          <a:graphicData uri="http://schemas.openxmlformats.org/drawingml/2006/table">
            <a:tbl>
              <a:tblPr/>
              <a:tblGrid>
                <a:gridCol w="1965960"/>
                <a:gridCol w="2606040"/>
                <a:gridCol w="2103120"/>
                <a:gridCol w="1645920"/>
              </a:tblGrid>
              <a:tr h="329184">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Customer reported</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Flag / report</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CP status</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Coaching</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No-show or CP cancellation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Admin &gt; No Show, or cancel from the CP Dashboard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Lean coaching. norequests only if repeat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No-show / cancellation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Unauthorized reschedule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Warning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False invoice (incl. "never came")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cp_false_invoice (may auto-suspend new CPs)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 if not auto-suspended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False invoice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Overcharged hours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cp_overcharged_hours (refund 30+ min)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Overcharged Hours series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Accepted cash</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accepting_cash_not_allowed_warning (by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Accepted Cash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require_new_cleaning_supplies_photo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Set by the flag</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(non-Gen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change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Rude / unprofessional (not safety)</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Coaching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315968"/>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425696"/>
            <a:ext cx="164592" cy="164592"/>
          </a:xfrm>
          <a:prstGeom prst="rect">
            <a:avLst/>
          </a:prstGeom>
        </p:spPr>
      </p:pic>
      <p:sp>
        <p:nvSpPr>
          <p:cNvPr id="8" name="Text 3"/>
          <p:cNvSpPr txBox="1"/>
          <p:nvPr/>
        </p:nvSpPr>
        <p:spPr>
          <a:xfrm>
            <a:off x="822960" y="44165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Easy to miss:  </a:t>
            </a:r>
            <a:pPr indent="0" marL="0">
              <a:buNone/>
            </a:pPr>
            <a:r>
              <a:rPr lang="en-US" sz="1000" dirty="0">
                <a:solidFill>
                  <a:srgbClr val="1D1D1F"/>
                </a:solidFill>
                <a:latin typeface="SF Pro Text" pitchFamily="34" charset="0"/>
                <a:ea typeface="SF Pro Text" pitchFamily="34" charset="-122"/>
                <a:cs typeface="SF Pro Text" pitchFamily="34" charset="-120"/>
              </a:rPr>
              <a:t>reschedules and accepted cash are coaching-only the first time. Check for a past warning.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STEPS 4 &amp;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Coach, then document</a:t>
            </a:r>
            <a:endParaRPr lang="en-US" sz="2400" dirty="0"/>
          </a:p>
        </p:txBody>
      </p:sp>
      <p:sp>
        <p:nvSpPr>
          <p:cNvPr id="5" name="Shape 2"/>
          <p:cNvSpPr/>
          <p:nvPr/>
        </p:nvSpPr>
        <p:spPr>
          <a:xfrm>
            <a:off x="411480" y="1188720"/>
            <a:ext cx="409194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4: Coach the CP</a:t>
            </a:r>
            <a:endParaRPr lang="en-US" sz="1300" dirty="0"/>
          </a:p>
        </p:txBody>
      </p:sp>
      <p:sp>
        <p:nvSpPr>
          <p:cNvPr id="9" name="Text 5"/>
          <p:cNvSpPr txBox="1"/>
          <p:nvPr/>
        </p:nvSpPr>
        <p:spPr>
          <a:xfrm>
            <a:off x="594360" y="1920240"/>
            <a:ext cx="3726180" cy="210312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Explain exactly what was reported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If you paused them, say so and explain how to appeal from their dashboard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Never hint at an outcome ("you'll probably be reactivated"). The CP-side team decides</a:t>
            </a:r>
            <a:endParaRPr lang="en-US" sz="1050" dirty="0"/>
          </a:p>
        </p:txBody>
      </p:sp>
      <p:sp>
        <p:nvSpPr>
          <p:cNvPr id="10" name="Shape 6"/>
          <p:cNvSpPr/>
          <p:nvPr/>
        </p:nvSpPr>
        <p:spPr>
          <a:xfrm>
            <a:off x="4640580" y="1188720"/>
            <a:ext cx="4091940" cy="3017520"/>
          </a:xfrm>
          <a:prstGeom prst="roundRect">
            <a:avLst>
              <a:gd name="adj" fmla="val 2424"/>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5: Internal note</a:t>
            </a:r>
            <a:endParaRPr lang="en-US" sz="1300" dirty="0"/>
          </a:p>
        </p:txBody>
      </p:sp>
      <p:sp>
        <p:nvSpPr>
          <p:cNvPr id="14" name="Shape 9"/>
          <p:cNvSpPr/>
          <p:nvPr/>
        </p:nvSpPr>
        <p:spPr>
          <a:xfrm>
            <a:off x="4823460" y="1920240"/>
            <a:ext cx="3726180" cy="2103120"/>
          </a:xfrm>
          <a:prstGeom prst="roundRect">
            <a:avLst>
              <a:gd name="adj" fmla="val 3478"/>
            </a:avLst>
          </a:prstGeom>
          <a:solidFill>
            <a:srgbClr val="F6F7F9"/>
          </a:solidFill>
          <a:ln w="9525">
            <a:solidFill>
              <a:srgbClr val="DCE1E7"/>
            </a:solidFill>
            <a:prstDash val="solid"/>
          </a:ln>
        </p:spPr>
      </p:sp>
      <p:sp>
        <p:nvSpPr>
          <p:cNvPr id="15" name="Text 10"/>
          <p:cNvSpPr txBox="1"/>
          <p:nvPr/>
        </p:nvSpPr>
        <p:spPr>
          <a:xfrm>
            <a:off x="4960620" y="2011680"/>
            <a:ext cx="3451860" cy="1920240"/>
          </a:xfrm>
          <a:prstGeom prst="rect">
            <a:avLst/>
          </a:prstGeom>
          <a:noFill/>
          <a:ln/>
        </p:spPr>
        <p:txBody>
          <a:bodyPr wrap="square" lIns="0" tIns="0" rIns="0" bIns="0" rtlCol="0" anchor="t"/>
          <a:lstStyle/>
          <a:p>
            <a:pPr indent="0" marL="0">
              <a:spcAft>
                <a:spcPts val="600"/>
              </a:spcAft>
              <a:buNone/>
            </a:pPr>
            <a:r>
              <a:rPr lang="en-US" sz="950" b="1" dirty="0">
                <a:solidFill>
                  <a:srgbClr val="1D1D1F"/>
                </a:solidFill>
                <a:latin typeface="Courier New" pitchFamily="34" charset="0"/>
                <a:ea typeface="Courier New" pitchFamily="34" charset="-122"/>
                <a:cs typeface="Courier New" pitchFamily="34" charset="-120"/>
              </a:rPr>
              <a:t>CP No Request — J &lt;JOB ID&gt;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Reported by C: &lt;what the customer said, one line&gt;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Evidence: &lt;comms, GPS if available, CTJ, photos&gt;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Action: &lt;flag&gt; / &lt;status&gt; / &lt;macro sent&gt;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C-side resolution: &lt;refund, credits, rebook&gt;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spot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next to the user's name on the CRM.</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6469707" y="1573748"/>
            <a:ext cx="1868511" cy="306553"/>
          </a:xfrm>
          <a:prstGeom prst="roundRect">
            <a:avLst>
              <a:gd name="adj" fmla="val 8949"/>
            </a:avLst>
          </a:prstGeom>
          <a:ln w="25400">
            <a:solidFill>
              <a:srgbClr val="0B7A6F"/>
            </a:solidFill>
            <a:prstDash val="solid"/>
          </a:ln>
        </p:spPr>
      </p:sp>
      <p:sp>
        <p:nvSpPr>
          <p:cNvPr id="9" name="Shape 5"/>
          <p:cNvSpPr/>
          <p:nvPr/>
        </p:nvSpPr>
        <p:spPr>
          <a:xfrm>
            <a:off x="6369123" y="1473164"/>
            <a:ext cx="201168" cy="201168"/>
          </a:xfrm>
          <a:prstGeom prst="ellipse">
            <a:avLst/>
          </a:prstGeom>
          <a:solidFill>
            <a:srgbClr val="0B7A6F"/>
          </a:solidFill>
          <a:ln w="12700">
            <a:solidFill>
              <a:srgbClr val="FFFFFF"/>
            </a:solidFill>
            <a:prstDash val="solid"/>
          </a:ln>
        </p:spPr>
      </p:sp>
      <p:sp>
        <p:nvSpPr>
          <p:cNvPr id="10" name="Text 6"/>
          <p:cNvSpPr txBox="1"/>
          <p:nvPr/>
        </p:nvSpPr>
        <p:spPr>
          <a:xfrm>
            <a:off x="6369123" y="147316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Operating model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 or CA-WA Operating Model</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General Operating Model</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the tier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cleaner's CRM page.</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2075786" y="1894898"/>
            <a:ext cx="817474" cy="306553"/>
          </a:xfrm>
          <a:prstGeom prst="roundRect">
            <a:avLst>
              <a:gd name="adj" fmla="val 8949"/>
            </a:avLst>
          </a:prstGeom>
          <a:ln w="25400">
            <a:solidFill>
              <a:srgbClr val="0B7A6F"/>
            </a:solidFill>
            <a:prstDash val="solid"/>
          </a:ln>
        </p:spPr>
      </p:sp>
      <p:sp>
        <p:nvSpPr>
          <p:cNvPr id="9" name="Shape 5"/>
          <p:cNvSpPr/>
          <p:nvPr/>
        </p:nvSpPr>
        <p:spPr>
          <a:xfrm>
            <a:off x="1975202" y="17943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1975202" y="17943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Click it for full tier history</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Or CP View &gt; CleanerTier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Same tier history</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 levels are internal. Never share them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look in the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 jobs are grouped by status.</a:t>
            </a:r>
            <a:endParaRPr lang="en-US" sz="1200" dirty="0"/>
          </a:p>
        </p:txBody>
      </p:sp>
      <p:sp>
        <p:nvSpPr>
          <p:cNvPr id="6" name="Shape 3"/>
          <p:cNvSpPr/>
          <p:nvPr/>
        </p:nvSpPr>
        <p:spPr>
          <a:xfrm>
            <a:off x="411480" y="1234440"/>
            <a:ext cx="5257800" cy="3108960"/>
          </a:xfrm>
          <a:prstGeom prst="roundRect">
            <a:avLst>
              <a:gd name="adj" fmla="val 2353"/>
            </a:avLst>
          </a:prstGeom>
          <a:solidFill>
            <a:srgbClr val="FFFFFF"/>
          </a:solidFill>
          <a:ln w="9525">
            <a:solidFill>
              <a:srgbClr val="DCE1E7"/>
            </a:solidFill>
            <a:prstDash val="solid"/>
          </a:ln>
        </p:spPr>
      </p:sp>
      <p:pic>
        <p:nvPicPr>
          <p:cNvPr id="7" name="Image 0" descr="/tmp/claude-0/-workspace-training/3ce5cff6-cccf-5f33-b0ee-0b147a55120e/scratchpad/img2/jobs_panels.png">    </p:cNvPr>
          <p:cNvPicPr>
            <a:picLocks noChangeAspect="1"/>
          </p:cNvPicPr>
          <p:nvPr/>
        </p:nvPicPr>
        <p:blipFill>
          <a:blip r:embed="rId1"/>
          <a:stretch>
            <a:fillRect/>
          </a:stretch>
        </p:blipFill>
        <p:spPr>
          <a:xfrm>
            <a:off x="484632" y="1344123"/>
            <a:ext cx="5111496" cy="2889594"/>
          </a:xfrm>
          <a:prstGeom prst="rect">
            <a:avLst/>
          </a:prstGeom>
        </p:spPr>
      </p:pic>
      <p:sp>
        <p:nvSpPr>
          <p:cNvPr id="8" name="Shape 4"/>
          <p:cNvSpPr/>
          <p:nvPr/>
        </p:nvSpPr>
        <p:spPr>
          <a:xfrm>
            <a:off x="518297" y="1372177"/>
            <a:ext cx="5049777" cy="437647"/>
          </a:xfrm>
          <a:prstGeom prst="roundRect">
            <a:avLst>
              <a:gd name="adj" fmla="val 6268"/>
            </a:avLst>
          </a:prstGeom>
          <a:ln w="25400">
            <a:solidFill>
              <a:srgbClr val="0B7A6F"/>
            </a:solidFill>
            <a:prstDash val="solid"/>
          </a:ln>
        </p:spPr>
      </p:sp>
      <p:sp>
        <p:nvSpPr>
          <p:cNvPr id="9" name="Shape 5"/>
          <p:cNvSpPr/>
          <p:nvPr/>
        </p:nvSpPr>
        <p:spPr>
          <a:xfrm>
            <a:off x="417713" y="1271593"/>
            <a:ext cx="201168" cy="201168"/>
          </a:xfrm>
          <a:prstGeom prst="ellipse">
            <a:avLst/>
          </a:prstGeom>
          <a:solidFill>
            <a:srgbClr val="0B7A6F"/>
          </a:solidFill>
          <a:ln w="12700">
            <a:solidFill>
              <a:srgbClr val="FFFFFF"/>
            </a:solidFill>
            <a:prstDash val="solid"/>
          </a:ln>
        </p:spPr>
      </p:sp>
      <p:sp>
        <p:nvSpPr>
          <p:cNvPr id="10" name="Text 6"/>
          <p:cNvSpPr txBox="1"/>
          <p:nvPr/>
        </p:nvSpPr>
        <p:spPr>
          <a:xfrm>
            <a:off x="417713" y="127159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18297" y="1832268"/>
            <a:ext cx="5049777" cy="622806"/>
          </a:xfrm>
          <a:prstGeom prst="roundRect">
            <a:avLst>
              <a:gd name="adj" fmla="val 4405"/>
            </a:avLst>
          </a:prstGeom>
          <a:ln w="25400">
            <a:solidFill>
              <a:srgbClr val="0B7A6F"/>
            </a:solidFill>
            <a:prstDash val="solid"/>
          </a:ln>
        </p:spPr>
      </p:sp>
      <p:sp>
        <p:nvSpPr>
          <p:cNvPr id="12" name="Shape 8"/>
          <p:cNvSpPr/>
          <p:nvPr/>
        </p:nvSpPr>
        <p:spPr>
          <a:xfrm>
            <a:off x="417713" y="1731684"/>
            <a:ext cx="201168" cy="201168"/>
          </a:xfrm>
          <a:prstGeom prst="ellipse">
            <a:avLst/>
          </a:prstGeom>
          <a:solidFill>
            <a:srgbClr val="0B7A6F"/>
          </a:solidFill>
          <a:ln w="12700">
            <a:solidFill>
              <a:srgbClr val="FFFFFF"/>
            </a:solidFill>
            <a:prstDash val="solid"/>
          </a:ln>
        </p:spPr>
      </p:sp>
      <p:sp>
        <p:nvSpPr>
          <p:cNvPr id="13" name="Text 9"/>
          <p:cNvSpPr txBox="1"/>
          <p:nvPr/>
        </p:nvSpPr>
        <p:spPr>
          <a:xfrm>
            <a:off x="417713" y="17316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18297" y="2477517"/>
            <a:ext cx="5049777" cy="1094118"/>
          </a:xfrm>
          <a:prstGeom prst="roundRect">
            <a:avLst>
              <a:gd name="adj" fmla="val 2507"/>
            </a:avLst>
          </a:prstGeom>
          <a:ln w="25400">
            <a:solidFill>
              <a:srgbClr val="0B7A6F"/>
            </a:solidFill>
            <a:prstDash val="solid"/>
          </a:ln>
        </p:spPr>
      </p:sp>
      <p:sp>
        <p:nvSpPr>
          <p:cNvPr id="15" name="Shape 11"/>
          <p:cNvSpPr/>
          <p:nvPr/>
        </p:nvSpPr>
        <p:spPr>
          <a:xfrm>
            <a:off x="417713" y="2376933"/>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17713" y="237693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18297" y="3594079"/>
            <a:ext cx="5049777" cy="622806"/>
          </a:xfrm>
          <a:prstGeom prst="roundRect">
            <a:avLst>
              <a:gd name="adj" fmla="val 4405"/>
            </a:avLst>
          </a:prstGeom>
          <a:ln w="25400">
            <a:solidFill>
              <a:srgbClr val="0B7A6F"/>
            </a:solidFill>
            <a:prstDash val="solid"/>
          </a:ln>
        </p:spPr>
      </p:sp>
      <p:sp>
        <p:nvSpPr>
          <p:cNvPr id="18" name="Shape 14"/>
          <p:cNvSpPr/>
          <p:nvPr/>
        </p:nvSpPr>
        <p:spPr>
          <a:xfrm>
            <a:off x="417713" y="3493495"/>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17713" y="349349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5806440" y="1234440"/>
            <a:ext cx="2926080" cy="658368"/>
          </a:xfrm>
          <a:prstGeom prst="roundRect">
            <a:avLst>
              <a:gd name="adj" fmla="val 11111"/>
            </a:avLst>
          </a:prstGeom>
          <a:solidFill>
            <a:srgbClr val="FFFFFF"/>
          </a:solidFill>
          <a:ln w="9525">
            <a:solidFill>
              <a:srgbClr val="DCE1E7"/>
            </a:solidFill>
            <a:prstDash val="solid"/>
          </a:ln>
        </p:spPr>
      </p:sp>
      <p:sp>
        <p:nvSpPr>
          <p:cNvPr id="21" name="Shape 17"/>
          <p:cNvSpPr/>
          <p:nvPr/>
        </p:nvSpPr>
        <p:spPr>
          <a:xfrm>
            <a:off x="5934456" y="1435608"/>
            <a:ext cx="256032" cy="256032"/>
          </a:xfrm>
          <a:prstGeom prst="ellipse">
            <a:avLst/>
          </a:prstGeom>
          <a:solidFill>
            <a:srgbClr val="0B7A6F"/>
          </a:solidFill>
          <a:ln w="12700">
            <a:solidFill>
              <a:srgbClr val="0B7A6F"/>
            </a:solidFill>
            <a:prstDash val="solid"/>
          </a:ln>
        </p:spPr>
      </p:sp>
      <p:sp>
        <p:nvSpPr>
          <p:cNvPr id="22" name="Text 18"/>
          <p:cNvSpPr txBox="1"/>
          <p:nvPr/>
        </p:nvSpPr>
        <p:spPr>
          <a:xfrm>
            <a:off x="5934456" y="14356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3" name="Text 19"/>
          <p:cNvSpPr txBox="1"/>
          <p:nvPr/>
        </p:nvSpPr>
        <p:spPr>
          <a:xfrm>
            <a:off x="6309360" y="1280160"/>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 Invoice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Time has passed, not invoiced yet</a:t>
            </a:r>
            <a:endParaRPr lang="en-US" sz="1050" dirty="0"/>
          </a:p>
        </p:txBody>
      </p:sp>
      <p:sp>
        <p:nvSpPr>
          <p:cNvPr id="24" name="Shape 20"/>
          <p:cNvSpPr/>
          <p:nvPr/>
        </p:nvSpPr>
        <p:spPr>
          <a:xfrm>
            <a:off x="5806440" y="1984248"/>
            <a:ext cx="2926080" cy="658368"/>
          </a:xfrm>
          <a:prstGeom prst="roundRect">
            <a:avLst>
              <a:gd name="adj" fmla="val 11111"/>
            </a:avLst>
          </a:prstGeom>
          <a:solidFill>
            <a:srgbClr val="FFFFFF"/>
          </a:solidFill>
          <a:ln w="9525">
            <a:solidFill>
              <a:srgbClr val="DCE1E7"/>
            </a:solidFill>
            <a:prstDash val="solid"/>
          </a:ln>
        </p:spPr>
      </p:sp>
      <p:sp>
        <p:nvSpPr>
          <p:cNvPr id="25" name="Shape 21"/>
          <p:cNvSpPr/>
          <p:nvPr/>
        </p:nvSpPr>
        <p:spPr>
          <a:xfrm>
            <a:off x="5934456" y="2185416"/>
            <a:ext cx="256032" cy="256032"/>
          </a:xfrm>
          <a:prstGeom prst="ellipse">
            <a:avLst/>
          </a:prstGeom>
          <a:solidFill>
            <a:srgbClr val="0B7A6F"/>
          </a:solidFill>
          <a:ln w="12700">
            <a:solidFill>
              <a:srgbClr val="0B7A6F"/>
            </a:solidFill>
            <a:prstDash val="solid"/>
          </a:ln>
        </p:spPr>
      </p:sp>
      <p:sp>
        <p:nvSpPr>
          <p:cNvPr id="26" name="Text 22"/>
          <p:cNvSpPr txBox="1"/>
          <p:nvPr/>
        </p:nvSpPr>
        <p:spPr>
          <a:xfrm>
            <a:off x="5934456" y="21854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7" name="Text 23"/>
          <p:cNvSpPr txBox="1"/>
          <p:nvPr/>
        </p:nvSpPr>
        <p:spPr>
          <a:xfrm>
            <a:off x="6309360" y="2029968"/>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&amp; Submitted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Upcoming: waiting for a cleaner, or claimed</a:t>
            </a:r>
            <a:endParaRPr lang="en-US" sz="1050" dirty="0"/>
          </a:p>
        </p:txBody>
      </p:sp>
      <p:sp>
        <p:nvSpPr>
          <p:cNvPr id="28" name="Shape 24"/>
          <p:cNvSpPr/>
          <p:nvPr/>
        </p:nvSpPr>
        <p:spPr>
          <a:xfrm>
            <a:off x="5806440" y="2734056"/>
            <a:ext cx="2926080" cy="658368"/>
          </a:xfrm>
          <a:prstGeom prst="roundRect">
            <a:avLst>
              <a:gd name="adj" fmla="val 11111"/>
            </a:avLst>
          </a:prstGeom>
          <a:solidFill>
            <a:srgbClr val="FFFFFF"/>
          </a:solidFill>
          <a:ln w="9525">
            <a:solidFill>
              <a:srgbClr val="DCE1E7"/>
            </a:solidFill>
            <a:prstDash val="solid"/>
          </a:ln>
        </p:spPr>
      </p:sp>
      <p:sp>
        <p:nvSpPr>
          <p:cNvPr id="29" name="Shape 25"/>
          <p:cNvSpPr/>
          <p:nvPr/>
        </p:nvSpPr>
        <p:spPr>
          <a:xfrm>
            <a:off x="5934456" y="2935224"/>
            <a:ext cx="256032" cy="256032"/>
          </a:xfrm>
          <a:prstGeom prst="ellipse">
            <a:avLst/>
          </a:prstGeom>
          <a:solidFill>
            <a:srgbClr val="0B7A6F"/>
          </a:solidFill>
          <a:ln w="12700">
            <a:solidFill>
              <a:srgbClr val="0B7A6F"/>
            </a:solidFill>
            <a:prstDash val="solid"/>
          </a:ln>
        </p:spPr>
      </p:sp>
      <p:sp>
        <p:nvSpPr>
          <p:cNvPr id="30" name="Text 26"/>
          <p:cNvSpPr txBox="1"/>
          <p:nvPr/>
        </p:nvSpPr>
        <p:spPr>
          <a:xfrm>
            <a:off x="5934456" y="2935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1" name="Text 27"/>
          <p:cNvSpPr txBox="1"/>
          <p:nvPr/>
        </p:nvSpPr>
        <p:spPr>
          <a:xfrm>
            <a:off x="6309360" y="2779776"/>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Completed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Invoiced. Watch for a Failed Charge tag</a:t>
            </a:r>
            <a:endParaRPr lang="en-US" sz="1050" dirty="0"/>
          </a:p>
        </p:txBody>
      </p:sp>
      <p:sp>
        <p:nvSpPr>
          <p:cNvPr id="32" name="Shape 28"/>
          <p:cNvSpPr/>
          <p:nvPr/>
        </p:nvSpPr>
        <p:spPr>
          <a:xfrm>
            <a:off x="5806440" y="3483864"/>
            <a:ext cx="2926080" cy="658368"/>
          </a:xfrm>
          <a:prstGeom prst="roundRect">
            <a:avLst>
              <a:gd name="adj" fmla="val 11111"/>
            </a:avLst>
          </a:prstGeom>
          <a:solidFill>
            <a:srgbClr val="FFFFFF"/>
          </a:solidFill>
          <a:ln w="9525">
            <a:solidFill>
              <a:srgbClr val="DCE1E7"/>
            </a:solidFill>
            <a:prstDash val="solid"/>
          </a:ln>
        </p:spPr>
      </p:sp>
      <p:sp>
        <p:nvSpPr>
          <p:cNvPr id="33" name="Shape 29"/>
          <p:cNvSpPr/>
          <p:nvPr/>
        </p:nvSpPr>
        <p:spPr>
          <a:xfrm>
            <a:off x="5934456" y="3685032"/>
            <a:ext cx="256032" cy="256032"/>
          </a:xfrm>
          <a:prstGeom prst="ellipse">
            <a:avLst/>
          </a:prstGeom>
          <a:solidFill>
            <a:srgbClr val="0B7A6F"/>
          </a:solidFill>
          <a:ln w="12700">
            <a:solidFill>
              <a:srgbClr val="0B7A6F"/>
            </a:solidFill>
            <a:prstDash val="solid"/>
          </a:ln>
        </p:spPr>
      </p:sp>
      <p:sp>
        <p:nvSpPr>
          <p:cNvPr id="34" name="Text 30"/>
          <p:cNvSpPr txBox="1"/>
          <p:nvPr/>
        </p:nvSpPr>
        <p:spPr>
          <a:xfrm>
            <a:off x="5934456" y="36850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35" name="Text 31"/>
          <p:cNvSpPr txBox="1"/>
          <p:nvPr/>
        </p:nvSpPr>
        <p:spPr>
          <a:xfrm>
            <a:off x="6309360" y="3529584"/>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Cancelled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Cancelled at any stage</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tickets: Submitted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ask while the job waits for a cleaner.</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Match anxiety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"Has my request been claimed? When will it be?"</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A submitted job is automatically upgraded to a Priority Request within 24–48 hours of the start time.</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Last-minute job request</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CS can book a cleaning less than 12 hours in advance through the CRM. Priority markups don't apply to jobs booked via the CRM.</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a cleaner of a specific gender</a:t>
            </a:r>
            <a:endParaRPr lang="en-US" sz="1050" dirty="0"/>
          </a:p>
        </p:txBody>
      </p:sp>
      <p:sp>
        <p:nvSpPr>
          <p:cNvPr id="20" name="Text 17"/>
          <p:cNvSpPr txBox="1"/>
          <p:nvPr/>
        </p:nvSpPr>
        <p:spPr>
          <a:xfrm>
            <a:off x="3566160" y="26700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There's no gender option. They can rematch any time 6+ hours before start, and add preferences to the cleaning notes.</a:t>
            </a:r>
            <a:endParaRPr lang="en-US" sz="950" dirty="0"/>
          </a:p>
        </p:txBody>
      </p:sp>
      <p:sp>
        <p:nvSpPr>
          <p:cNvPr id="21" name="Shape 18"/>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2" name="Shape 19"/>
          <p:cNvSpPr/>
          <p:nvPr/>
        </p:nvSpPr>
        <p:spPr>
          <a:xfrm>
            <a:off x="548640" y="3538728"/>
            <a:ext cx="274320" cy="274320"/>
          </a:xfrm>
          <a:prstGeom prst="ellipse">
            <a:avLst/>
          </a:prstGeom>
          <a:solidFill>
            <a:srgbClr val="E3F4F1"/>
          </a:solidFill>
          <a:ln w="12700">
            <a:solidFill>
              <a:srgbClr val="E3F4F1"/>
            </a:solidFill>
            <a:prstDash val="solid"/>
          </a:ln>
        </p:spPr>
      </p:sp>
      <p:sp>
        <p:nvSpPr>
          <p:cNvPr id="23" name="Text 20"/>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a specific cleaner</a:t>
            </a:r>
            <a:endParaRPr lang="en-US" sz="1050" dirty="0"/>
          </a:p>
        </p:txBody>
      </p:sp>
      <p:sp>
        <p:nvSpPr>
          <p:cNvPr id="25" name="Text 22"/>
          <p:cNvSpPr txBox="1"/>
          <p:nvPr/>
        </p:nvSpPr>
        <p:spPr>
          <a:xfrm>
            <a:off x="3566160" y="3355848"/>
            <a:ext cx="397764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Change their Requested CPs on the Job Admin Page, only if they explicitly ask.</a:t>
            </a:r>
            <a:endParaRPr lang="en-US" sz="950" dirty="0"/>
          </a:p>
        </p:txBody>
      </p:sp>
      <p:sp>
        <p:nvSpPr>
          <p:cNvPr id="26" name="Shape 23"/>
          <p:cNvSpPr/>
          <p:nvPr/>
        </p:nvSpPr>
        <p:spPr>
          <a:xfrm>
            <a:off x="7589520" y="3538728"/>
            <a:ext cx="1005840" cy="256032"/>
          </a:xfrm>
          <a:prstGeom prst="roundRect">
            <a:avLst>
              <a:gd name="adj" fmla="val 28571"/>
            </a:avLst>
          </a:prstGeom>
          <a:solidFill>
            <a:srgbClr val="FFF3D6"/>
          </a:solidFill>
          <a:ln w="9525">
            <a:solidFill>
              <a:srgbClr val="FFF3D6"/>
            </a:solidFill>
            <a:prstDash val="solid"/>
          </a:ln>
        </p:spPr>
      </p:sp>
      <p:sp>
        <p:nvSpPr>
          <p:cNvPr id="27" name="Text 24"/>
          <p:cNvSpPr txBox="1"/>
          <p:nvPr/>
        </p:nvSpPr>
        <p:spPr>
          <a:xfrm>
            <a:off x="7589520" y="3538728"/>
            <a:ext cx="1005840" cy="256032"/>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demo</a:t>
            </a:r>
            <a:endParaRPr lang="en-US" sz="800" dirty="0"/>
          </a:p>
        </p:txBody>
      </p:sp>
      <p:sp>
        <p:nvSpPr>
          <p:cNvPr id="28" name="Shape 25"/>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9" name="Shape 26"/>
          <p:cNvSpPr/>
          <p:nvPr/>
        </p:nvSpPr>
        <p:spPr>
          <a:xfrm>
            <a:off x="548640" y="4224528"/>
            <a:ext cx="274320" cy="274320"/>
          </a:xfrm>
          <a:prstGeom prst="ellipse">
            <a:avLst/>
          </a:prstGeom>
          <a:solidFill>
            <a:srgbClr val="E3F4F1"/>
          </a:solidFill>
          <a:ln w="12700">
            <a:solidFill>
              <a:srgbClr val="E3F4F1"/>
            </a:solidFill>
            <a:prstDash val="solid"/>
          </a:ln>
        </p:spPr>
      </p:sp>
      <p:sp>
        <p:nvSpPr>
          <p:cNvPr id="30" name="Text 27"/>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1" name="Text 28"/>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Strict schedule, only certain dates/times</a:t>
            </a:r>
            <a:endParaRPr lang="en-US" sz="1050" dirty="0"/>
          </a:p>
        </p:txBody>
      </p:sp>
      <p:sp>
        <p:nvSpPr>
          <p:cNvPr id="32" name="Text 29"/>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Unclaimed 24 hrs before start, the system may add alternate times. To stop it: New CRM › Flags › + Add Flags › do_not_auto_add_alternate_start_times.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issues: Claimed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ask once a cleaner has claimed the job.</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at a different date than booked</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Check the job history: was it claimed at an alternate date and time, or rescheduled by the cleaner?</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Confirmations from 2 different cleaners</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Check the job history: did the first cleaner cancel, or were they swapped out?</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their cleaner changed</a:t>
            </a:r>
            <a:endParaRPr lang="en-US" sz="1050" dirty="0"/>
          </a:p>
        </p:txBody>
      </p:sp>
      <p:sp>
        <p:nvSpPr>
          <p:cNvPr id="20" name="Text 17"/>
          <p:cNvSpPr txBox="1"/>
          <p:nvPr/>
        </p:nvSpPr>
        <p:spPr>
          <a:xfrm>
            <a:off x="3566160" y="2670048"/>
            <a:ext cx="397764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Change the cleaner from the Job Admin Page.</a:t>
            </a:r>
            <a:endParaRPr lang="en-US" sz="950" dirty="0"/>
          </a:p>
        </p:txBody>
      </p:sp>
      <p:sp>
        <p:nvSpPr>
          <p:cNvPr id="21" name="Shape 18"/>
          <p:cNvSpPr/>
          <p:nvPr/>
        </p:nvSpPr>
        <p:spPr>
          <a:xfrm>
            <a:off x="7589520" y="2852928"/>
            <a:ext cx="1005840" cy="256032"/>
          </a:xfrm>
          <a:prstGeom prst="roundRect">
            <a:avLst>
              <a:gd name="adj" fmla="val 28571"/>
            </a:avLst>
          </a:prstGeom>
          <a:solidFill>
            <a:srgbClr val="FFF3D6"/>
          </a:solidFill>
          <a:ln w="9525">
            <a:solidFill>
              <a:srgbClr val="FFF3D6"/>
            </a:solidFill>
            <a:prstDash val="solid"/>
          </a:ln>
        </p:spPr>
      </p:sp>
      <p:sp>
        <p:nvSpPr>
          <p:cNvPr id="22" name="Text 19"/>
          <p:cNvSpPr txBox="1"/>
          <p:nvPr/>
        </p:nvSpPr>
        <p:spPr>
          <a:xfrm>
            <a:off x="7589520" y="2852928"/>
            <a:ext cx="1005840" cy="256032"/>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demo</a:t>
            </a:r>
            <a:endParaRPr lang="en-US" sz="800" dirty="0"/>
          </a:p>
        </p:txBody>
      </p:sp>
      <p:sp>
        <p:nvSpPr>
          <p:cNvPr id="23" name="Shape 20"/>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4" name="Shape 21"/>
          <p:cNvSpPr/>
          <p:nvPr/>
        </p:nvSpPr>
        <p:spPr>
          <a:xfrm>
            <a:off x="548640" y="3538728"/>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the appointment rescheduled</a:t>
            </a:r>
            <a:endParaRPr lang="en-US" sz="1050" dirty="0"/>
          </a:p>
        </p:txBody>
      </p:sp>
      <p:sp>
        <p:nvSpPr>
          <p:cNvPr id="27" name="Text 24"/>
          <p:cNvSpPr txBox="1"/>
          <p:nvPr/>
        </p:nvSpPr>
        <p:spPr>
          <a:xfrm>
            <a:off x="3566160" y="33558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Reschedule from the C Dashboard, or cancel and rebook from the CRM if rescheduling would add a priority fee.</a:t>
            </a:r>
            <a:endParaRPr lang="en-US" sz="950" dirty="0"/>
          </a:p>
        </p:txBody>
      </p:sp>
      <p:sp>
        <p:nvSpPr>
          <p:cNvPr id="28" name="Shape 25"/>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9" name="Shape 26"/>
          <p:cNvSpPr/>
          <p:nvPr/>
        </p:nvSpPr>
        <p:spPr>
          <a:xfrm>
            <a:off x="548640" y="4224528"/>
            <a:ext cx="274320" cy="274320"/>
          </a:xfrm>
          <a:prstGeom prst="ellipse">
            <a:avLst/>
          </a:prstGeom>
          <a:solidFill>
            <a:srgbClr val="E3F4F1"/>
          </a:solidFill>
          <a:ln w="12700">
            <a:solidFill>
              <a:srgbClr val="E3F4F1"/>
            </a:solidFill>
            <a:prstDash val="solid"/>
          </a:ln>
        </p:spPr>
      </p:sp>
      <p:sp>
        <p:nvSpPr>
          <p:cNvPr id="30" name="Text 27"/>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1" name="Text 28"/>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CP Cancellations</a:t>
            </a:r>
            <a:endParaRPr lang="en-US" sz="1050" dirty="0"/>
          </a:p>
        </p:txBody>
      </p:sp>
      <p:sp>
        <p:nvSpPr>
          <p:cNvPr id="32" name="Text 29"/>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Help the customer get a new cleaner if the request is still active, or offer priority cleaning if the appointment was canceled.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issues: Invoiced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raise once the job has been charged.</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Poor Cleaning Quality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Not satisfied with the cleaning</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Gather the facts before offering anything. Refund requests: within 72 hrs of invoice. No cancellation intent = no ETF talk.</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Overcharged Hours</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Billed for the wrong number of hours</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Did the cleaner work the hours billed? Check CTJ, GPS and messages. Refund only the hours the evidence supports.</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False Invoice</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Billed, but the cleaner never showed</a:t>
            </a:r>
            <a:endParaRPr lang="en-US" sz="1050" dirty="0"/>
          </a:p>
        </p:txBody>
      </p:sp>
      <p:sp>
        <p:nvSpPr>
          <p:cNvPr id="20" name="Text 17"/>
          <p:cNvSpPr txBox="1"/>
          <p:nvPr/>
        </p:nvSpPr>
        <p:spPr>
          <a:xfrm>
            <a:off x="3566160" y="26700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Check the job history first: who invoiced? If the customer did, refund but don't penalize the cleaner.</a:t>
            </a:r>
            <a:endParaRPr lang="en-US" sz="950" dirty="0"/>
          </a:p>
        </p:txBody>
      </p:sp>
      <p:sp>
        <p:nvSpPr>
          <p:cNvPr id="21" name="Shape 18"/>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2" name="Shape 19"/>
          <p:cNvSpPr/>
          <p:nvPr/>
        </p:nvSpPr>
        <p:spPr>
          <a:xfrm>
            <a:off x="548640" y="3538728"/>
            <a:ext cx="274320" cy="274320"/>
          </a:xfrm>
          <a:prstGeom prst="ellipse">
            <a:avLst/>
          </a:prstGeom>
          <a:solidFill>
            <a:srgbClr val="E3F4F1"/>
          </a:solidFill>
          <a:ln w="12700">
            <a:solidFill>
              <a:srgbClr val="E3F4F1"/>
            </a:solidFill>
            <a:prstDash val="solid"/>
          </a:ln>
        </p:spPr>
      </p:sp>
      <p:sp>
        <p:nvSpPr>
          <p:cNvPr id="23" name="Text 20"/>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Lockout</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Cleaner couldn't get in and filed a lockout</a:t>
            </a:r>
            <a:endParaRPr lang="en-US" sz="1050" dirty="0"/>
          </a:p>
        </p:txBody>
      </p:sp>
      <p:sp>
        <p:nvSpPr>
          <p:cNvPr id="25" name="Text 22"/>
          <p:cNvSpPr txBox="1"/>
          <p:nvPr/>
        </p:nvSpPr>
        <p:spPr>
          <a:xfrm>
            <a:off x="3566160" y="33558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Validate it: still wanted? On time? At the address? 2+ contact attempts, 15+ min wait? Invalid: refund.</a:t>
            </a:r>
            <a:endParaRPr lang="en-US" sz="950" dirty="0"/>
          </a:p>
        </p:txBody>
      </p:sp>
      <p:sp>
        <p:nvSpPr>
          <p:cNvPr id="26" name="Shape 23"/>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7" name="Shape 24"/>
          <p:cNvSpPr/>
          <p:nvPr/>
        </p:nvSpPr>
        <p:spPr>
          <a:xfrm>
            <a:off x="548640" y="4224528"/>
            <a:ext cx="274320" cy="274320"/>
          </a:xfrm>
          <a:prstGeom prst="ellipse">
            <a:avLst/>
          </a:prstGeom>
          <a:solidFill>
            <a:srgbClr val="E3F4F1"/>
          </a:solidFill>
          <a:ln w="12700">
            <a:solidFill>
              <a:srgbClr val="E3F4F1"/>
            </a:solidFill>
            <a:prstDash val="solid"/>
          </a:ln>
        </p:spPr>
      </p:sp>
      <p:sp>
        <p:nvSpPr>
          <p:cNvPr id="28" name="Text 25"/>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9" name="Text 26"/>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Billing Inquiry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Wants their charges explained</a:t>
            </a:r>
            <a:endParaRPr lang="en-US" sz="1050" dirty="0"/>
          </a:p>
        </p:txBody>
      </p:sp>
      <p:sp>
        <p:nvSpPr>
          <p:cNvPr id="30" name="Text 27"/>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Walk through how the price is built: rate, platform fee, processing fee, tax, then vouchers and credits.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Spotting a Pending Invoice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shows in its own panel at the top of the customer's jobs.</a:t>
            </a:r>
            <a:endParaRPr lang="en-US" sz="1200" dirty="0"/>
          </a:p>
        </p:txBody>
      </p:sp>
      <p:sp>
        <p:nvSpPr>
          <p:cNvPr id="6" name="Shape 3"/>
          <p:cNvSpPr/>
          <p:nvPr/>
        </p:nvSpPr>
        <p:spPr>
          <a:xfrm>
            <a:off x="411480" y="1234440"/>
            <a:ext cx="8321040" cy="1325880"/>
          </a:xfrm>
          <a:prstGeom prst="roundRect">
            <a:avLst>
              <a:gd name="adj" fmla="val 5517"/>
            </a:avLst>
          </a:prstGeom>
          <a:solidFill>
            <a:srgbClr val="FFFFFF"/>
          </a:solidFill>
          <a:ln w="9525">
            <a:solidFill>
              <a:srgbClr val="DCE1E7"/>
            </a:solidFill>
            <a:prstDash val="solid"/>
          </a:ln>
        </p:spPr>
      </p:sp>
      <p:pic>
        <p:nvPicPr>
          <p:cNvPr id="7" name="Image 0" descr="/tmp/claude-0/-workspace-training/3ce5cff6-cccf-5f33-b0ee-0b147a55120e/scratchpad/img2/jobs_pending.png">    </p:cNvPr>
          <p:cNvPicPr>
            <a:picLocks noChangeAspect="1"/>
          </p:cNvPicPr>
          <p:nvPr/>
        </p:nvPicPr>
        <p:blipFill>
          <a:blip r:embed="rId1"/>
          <a:stretch>
            <a:fillRect/>
          </a:stretch>
        </p:blipFill>
        <p:spPr>
          <a:xfrm>
            <a:off x="484632" y="1343236"/>
            <a:ext cx="8174736" cy="1108289"/>
          </a:xfrm>
          <a:prstGeom prst="rect">
            <a:avLst/>
          </a:prstGeom>
        </p:spPr>
      </p:pic>
      <p:sp>
        <p:nvSpPr>
          <p:cNvPr id="8" name="Shape 4"/>
          <p:cNvSpPr/>
          <p:nvPr/>
        </p:nvSpPr>
        <p:spPr>
          <a:xfrm>
            <a:off x="1734781" y="1378701"/>
            <a:ext cx="257123" cy="195059"/>
          </a:xfrm>
          <a:prstGeom prst="roundRect">
            <a:avLst>
              <a:gd name="adj" fmla="val 14063"/>
            </a:avLst>
          </a:prstGeom>
          <a:ln w="25400">
            <a:solidFill>
              <a:srgbClr val="0B7A6F"/>
            </a:solidFill>
            <a:prstDash val="solid"/>
          </a:ln>
        </p:spPr>
      </p:sp>
      <p:sp>
        <p:nvSpPr>
          <p:cNvPr id="9" name="Shape 5"/>
          <p:cNvSpPr/>
          <p:nvPr/>
        </p:nvSpPr>
        <p:spPr>
          <a:xfrm>
            <a:off x="1634197" y="1278117"/>
            <a:ext cx="201168" cy="201168"/>
          </a:xfrm>
          <a:prstGeom prst="ellipse">
            <a:avLst/>
          </a:prstGeom>
          <a:solidFill>
            <a:srgbClr val="0B7A6F"/>
          </a:solidFill>
          <a:ln w="12700">
            <a:solidFill>
              <a:srgbClr val="FFFFFF"/>
            </a:solidFill>
            <a:prstDash val="solid"/>
          </a:ln>
        </p:spPr>
      </p:sp>
      <p:sp>
        <p:nvSpPr>
          <p:cNvPr id="10" name="Text 6"/>
          <p:cNvSpPr txBox="1"/>
          <p:nvPr/>
        </p:nvSpPr>
        <p:spPr>
          <a:xfrm>
            <a:off x="1634197" y="127811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1912108" y="1777685"/>
            <a:ext cx="851166" cy="212791"/>
          </a:xfrm>
          <a:prstGeom prst="roundRect">
            <a:avLst>
              <a:gd name="adj" fmla="val 12892"/>
            </a:avLst>
          </a:prstGeom>
          <a:ln w="25400">
            <a:solidFill>
              <a:srgbClr val="0B7A6F"/>
            </a:solidFill>
            <a:prstDash val="solid"/>
          </a:ln>
        </p:spPr>
      </p:sp>
      <p:sp>
        <p:nvSpPr>
          <p:cNvPr id="12" name="Shape 8"/>
          <p:cNvSpPr/>
          <p:nvPr/>
        </p:nvSpPr>
        <p:spPr>
          <a:xfrm>
            <a:off x="1811524" y="1677101"/>
            <a:ext cx="201168" cy="201168"/>
          </a:xfrm>
          <a:prstGeom prst="ellipse">
            <a:avLst/>
          </a:prstGeom>
          <a:solidFill>
            <a:srgbClr val="0B7A6F"/>
          </a:solidFill>
          <a:ln w="12700">
            <a:solidFill>
              <a:srgbClr val="FFFFFF"/>
            </a:solidFill>
            <a:prstDash val="solid"/>
          </a:ln>
        </p:spPr>
      </p:sp>
      <p:sp>
        <p:nvSpPr>
          <p:cNvPr id="13" name="Text 9"/>
          <p:cNvSpPr txBox="1"/>
          <p:nvPr/>
        </p:nvSpPr>
        <p:spPr>
          <a:xfrm>
            <a:off x="1811524" y="167710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411480" y="2880360"/>
            <a:ext cx="4091940" cy="594360"/>
          </a:xfrm>
          <a:prstGeom prst="roundRect">
            <a:avLst>
              <a:gd name="adj" fmla="val 12308"/>
            </a:avLst>
          </a:prstGeom>
          <a:solidFill>
            <a:srgbClr val="FFFFFF"/>
          </a:solidFill>
          <a:ln w="9525">
            <a:solidFill>
              <a:srgbClr val="DCE1E7"/>
            </a:solidFill>
            <a:prstDash val="solid"/>
          </a:ln>
        </p:spPr>
      </p:sp>
      <p:sp>
        <p:nvSpPr>
          <p:cNvPr id="15" name="Shape 11"/>
          <p:cNvSpPr/>
          <p:nvPr/>
        </p:nvSpPr>
        <p:spPr>
          <a:xfrm>
            <a:off x="539496" y="3049524"/>
            <a:ext cx="256032" cy="256032"/>
          </a:xfrm>
          <a:prstGeom prst="ellipse">
            <a:avLst/>
          </a:prstGeom>
          <a:solidFill>
            <a:srgbClr val="0B7A6F"/>
          </a:solidFill>
          <a:ln w="12700">
            <a:solidFill>
              <a:srgbClr val="0B7A6F"/>
            </a:solidFill>
            <a:prstDash val="solid"/>
          </a:ln>
        </p:spPr>
      </p:sp>
      <p:sp>
        <p:nvSpPr>
          <p:cNvPr id="16" name="Text 12"/>
          <p:cNvSpPr txBox="1"/>
          <p:nvPr/>
        </p:nvSpPr>
        <p:spPr>
          <a:xfrm>
            <a:off x="5394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7" name="Text 13"/>
          <p:cNvSpPr txBox="1"/>
          <p:nvPr/>
        </p:nvSpPr>
        <p:spPr>
          <a:xfrm>
            <a:off x="9144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Count badge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How many Pending Invoice jobs the customer has</a:t>
            </a:r>
            <a:endParaRPr lang="en-US" sz="1050" dirty="0"/>
          </a:p>
        </p:txBody>
      </p:sp>
      <p:sp>
        <p:nvSpPr>
          <p:cNvPr id="18" name="Shape 14"/>
          <p:cNvSpPr/>
          <p:nvPr/>
        </p:nvSpPr>
        <p:spPr>
          <a:xfrm>
            <a:off x="4640580" y="2880360"/>
            <a:ext cx="4091940" cy="594360"/>
          </a:xfrm>
          <a:prstGeom prst="roundRect">
            <a:avLst>
              <a:gd name="adj" fmla="val 12308"/>
            </a:avLst>
          </a:prstGeom>
          <a:solidFill>
            <a:srgbClr val="FFFFFF"/>
          </a:solidFill>
          <a:ln w="9525">
            <a:solidFill>
              <a:srgbClr val="DCE1E7"/>
            </a:solidFill>
            <a:prstDash val="solid"/>
          </a:ln>
        </p:spPr>
      </p:sp>
      <p:sp>
        <p:nvSpPr>
          <p:cNvPr id="19" name="Shape 15"/>
          <p:cNvSpPr/>
          <p:nvPr/>
        </p:nvSpPr>
        <p:spPr>
          <a:xfrm>
            <a:off x="4768596" y="3049524"/>
            <a:ext cx="256032" cy="256032"/>
          </a:xfrm>
          <a:prstGeom prst="ellipse">
            <a:avLst/>
          </a:prstGeom>
          <a:solidFill>
            <a:srgbClr val="0B7A6F"/>
          </a:solidFill>
          <a:ln w="12700">
            <a:solidFill>
              <a:srgbClr val="0B7A6F"/>
            </a:solidFill>
            <a:prstDash val="solid"/>
          </a:ln>
        </p:spPr>
      </p:sp>
      <p:sp>
        <p:nvSpPr>
          <p:cNvPr id="20" name="Text 16"/>
          <p:cNvSpPr txBox="1"/>
          <p:nvPr/>
        </p:nvSpPr>
        <p:spPr>
          <a:xfrm>
            <a:off x="47685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51435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PENDING_INVOICE status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 date, hours and cleaner</a:t>
            </a:r>
            <a:endParaRPr lang="en-US" sz="1050" dirty="0"/>
          </a:p>
        </p:txBody>
      </p:sp>
      <p:sp>
        <p:nvSpPr>
          <p:cNvPr id="22" name="Shape 18"/>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3" name="Image 1" descr="preencoded.png">    </p:cNvPr>
          <p:cNvPicPr>
            <a:picLocks noChangeAspect="1"/>
          </p:cNvPicPr>
          <p:nvPr/>
        </p:nvPicPr>
        <p:blipFill>
          <a:blip r:embed="rId2"/>
          <a:stretch>
            <a:fillRect/>
          </a:stretch>
        </p:blipFill>
        <p:spPr>
          <a:xfrm>
            <a:off x="566928" y="3767328"/>
            <a:ext cx="164592" cy="164592"/>
          </a:xfrm>
          <a:prstGeom prst="rect">
            <a:avLst/>
          </a:prstGeom>
        </p:spPr>
      </p:pic>
      <p:sp>
        <p:nvSpPr>
          <p:cNvPr id="24" name="Text 19"/>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Act on it:  </a:t>
            </a:r>
            <a:pPr indent="0" marL="0">
              <a:buNone/>
            </a:pPr>
            <a:r>
              <a:rPr lang="en-US" sz="1000" dirty="0">
                <a:solidFill>
                  <a:srgbClr val="1D1D1F"/>
                </a:solidFill>
                <a:latin typeface="SF Pro Text" pitchFamily="34" charset="0"/>
                <a:ea typeface="SF Pro Text" pitchFamily="34" charset="-122"/>
                <a:cs typeface="SF Pro Text" pitchFamily="34" charset="-120"/>
              </a:rPr>
              <a:t>a Pending Invoice job needs action, even if the customer asked about something else.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11 OF 11</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2026-10-05T12:45:08Z</dcterms:created>
  <dcterms:modified xsi:type="dcterms:W3CDTF">2026-10-05T12:45:08Z</dcterms:modified>
</cp:coreProperties>
</file>