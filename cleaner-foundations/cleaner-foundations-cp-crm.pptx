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cpq_cash Cash Payment J 1234567 / cpq_cancel Your customer Joseph reported you cancelled their Monday Oct 9 job. Submit reactivation appeal through dashboard. / cpq_false_invoice Customer Mary reported incorrect hours charged. Submit reactivation appeal. / cpq_noshow Your customer Janis reported you didn't show up to their Monday Oct 9 job. Submit reactivation appeal through dashboard. / cpq_overcharge Customer Kyle reported incorrect hours charged. Submit reactivation appeal. / cpq_invalid_cancel Upon review, your customer cancellation report has been deemed invalid. Submit reactivation appeal through dashboard. / cpq_reschedule Your customer George reported you rescheduled their Monday Oct 9 job without permission. Submit reactivation appeal through dashboard. / HGTA 1234567.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page groups jobs into panels: Pending Invoice Jobs (past their scheduled time but not yet invoiced; a count badge shows how many), Claimed &amp; Submitted (upcoming jobs, either still waiting for a cleaner or already claimed), Completed Jobs (invoiced jobs, with type, hours requested vs invoiced, cleaner, rating and review; a Failed Charge tag shows a charge that didn't go through), and Cancelled Jobs. Each panel links to View all in admin and View job history in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customer has a Pending Invoice job, the Pending Invoice Jobs panel shows a count badge and lists the job with a PENDING_INVOICE status, date, type, hours and cleaner. CS must act on it even when it isn't the customer's stated concern; see the AG: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2.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2.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2.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2.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slideLayout" Target="../slideLayouts/slideLayout2.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2.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slideLayout" Target="../slideLayouts/slideLayout2.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2.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you enter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reason codes and their format</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514600"/>
                <a:gridCol w="5806440"/>
              </a:tblGrid>
              <a:tr h="301752">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 for deactivation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reason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reschedule on C's behalf</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Reschedule unauthorized by the customer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look in the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jobs are grouped by status.</a:t>
            </a:r>
            <a:endParaRPr lang="en-US" sz="1200" dirty="0"/>
          </a:p>
        </p:txBody>
      </p:sp>
      <p:sp>
        <p:nvSpPr>
          <p:cNvPr id="6" name="Shape 3"/>
          <p:cNvSpPr/>
          <p:nvPr/>
        </p:nvSpPr>
        <p:spPr>
          <a:xfrm>
            <a:off x="411480" y="1234440"/>
            <a:ext cx="5257800" cy="3108960"/>
          </a:xfrm>
          <a:prstGeom prst="roundRect">
            <a:avLst>
              <a:gd name="adj" fmla="val 2353"/>
            </a:avLst>
          </a:prstGeom>
          <a:solidFill>
            <a:srgbClr val="FFFFFF"/>
          </a:solidFill>
          <a:ln w="9525">
            <a:solidFill>
              <a:srgbClr val="DCE1E7"/>
            </a:solidFill>
            <a:prstDash val="solid"/>
          </a:ln>
        </p:spPr>
      </p:sp>
      <p:pic>
        <p:nvPicPr>
          <p:cNvPr id="7" name="Image 0" descr="/tmp/claude-0/-workspace-training/3ce5cff6-cccf-5f33-b0ee-0b147a55120e/scratchpad/img2/jobs_panels.png">    </p:cNvPr>
          <p:cNvPicPr>
            <a:picLocks noChangeAspect="1"/>
          </p:cNvPicPr>
          <p:nvPr/>
        </p:nvPicPr>
        <p:blipFill>
          <a:blip r:embed="rId1"/>
          <a:stretch>
            <a:fillRect/>
          </a:stretch>
        </p:blipFill>
        <p:spPr>
          <a:xfrm>
            <a:off x="484632" y="1344123"/>
            <a:ext cx="5111496" cy="2889594"/>
          </a:xfrm>
          <a:prstGeom prst="rect">
            <a:avLst/>
          </a:prstGeom>
        </p:spPr>
      </p:pic>
      <p:sp>
        <p:nvSpPr>
          <p:cNvPr id="8" name="Shape 4"/>
          <p:cNvSpPr/>
          <p:nvPr/>
        </p:nvSpPr>
        <p:spPr>
          <a:xfrm>
            <a:off x="518297" y="1372177"/>
            <a:ext cx="5049777" cy="437647"/>
          </a:xfrm>
          <a:prstGeom prst="roundRect">
            <a:avLst>
              <a:gd name="adj" fmla="val 6268"/>
            </a:avLst>
          </a:prstGeom>
          <a:ln w="25400">
            <a:solidFill>
              <a:srgbClr val="0B7A6F"/>
            </a:solidFill>
            <a:prstDash val="solid"/>
          </a:ln>
        </p:spPr>
      </p:sp>
      <p:sp>
        <p:nvSpPr>
          <p:cNvPr id="9" name="Shape 5"/>
          <p:cNvSpPr/>
          <p:nvPr/>
        </p:nvSpPr>
        <p:spPr>
          <a:xfrm>
            <a:off x="417713" y="1271593"/>
            <a:ext cx="201168" cy="201168"/>
          </a:xfrm>
          <a:prstGeom prst="ellipse">
            <a:avLst/>
          </a:prstGeom>
          <a:solidFill>
            <a:srgbClr val="0B7A6F"/>
          </a:solidFill>
          <a:ln w="12700">
            <a:solidFill>
              <a:srgbClr val="FFFFFF"/>
            </a:solidFill>
            <a:prstDash val="solid"/>
          </a:ln>
        </p:spPr>
      </p:sp>
      <p:sp>
        <p:nvSpPr>
          <p:cNvPr id="10" name="Text 6"/>
          <p:cNvSpPr txBox="1"/>
          <p:nvPr/>
        </p:nvSpPr>
        <p:spPr>
          <a:xfrm>
            <a:off x="417713" y="127159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18297" y="1832268"/>
            <a:ext cx="5049777" cy="622806"/>
          </a:xfrm>
          <a:prstGeom prst="roundRect">
            <a:avLst>
              <a:gd name="adj" fmla="val 4405"/>
            </a:avLst>
          </a:prstGeom>
          <a:ln w="25400">
            <a:solidFill>
              <a:srgbClr val="0B7A6F"/>
            </a:solidFill>
            <a:prstDash val="solid"/>
          </a:ln>
        </p:spPr>
      </p:sp>
      <p:sp>
        <p:nvSpPr>
          <p:cNvPr id="12" name="Shape 8"/>
          <p:cNvSpPr/>
          <p:nvPr/>
        </p:nvSpPr>
        <p:spPr>
          <a:xfrm>
            <a:off x="417713" y="1731684"/>
            <a:ext cx="201168" cy="201168"/>
          </a:xfrm>
          <a:prstGeom prst="ellipse">
            <a:avLst/>
          </a:prstGeom>
          <a:solidFill>
            <a:srgbClr val="0B7A6F"/>
          </a:solidFill>
          <a:ln w="12700">
            <a:solidFill>
              <a:srgbClr val="FFFFFF"/>
            </a:solidFill>
            <a:prstDash val="solid"/>
          </a:ln>
        </p:spPr>
      </p:sp>
      <p:sp>
        <p:nvSpPr>
          <p:cNvPr id="13" name="Text 9"/>
          <p:cNvSpPr txBox="1"/>
          <p:nvPr/>
        </p:nvSpPr>
        <p:spPr>
          <a:xfrm>
            <a:off x="417713" y="17316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18297" y="2477517"/>
            <a:ext cx="5049777" cy="1094118"/>
          </a:xfrm>
          <a:prstGeom prst="roundRect">
            <a:avLst>
              <a:gd name="adj" fmla="val 2507"/>
            </a:avLst>
          </a:prstGeom>
          <a:ln w="25400">
            <a:solidFill>
              <a:srgbClr val="0B7A6F"/>
            </a:solidFill>
            <a:prstDash val="solid"/>
          </a:ln>
        </p:spPr>
      </p:sp>
      <p:sp>
        <p:nvSpPr>
          <p:cNvPr id="15" name="Shape 11"/>
          <p:cNvSpPr/>
          <p:nvPr/>
        </p:nvSpPr>
        <p:spPr>
          <a:xfrm>
            <a:off x="417713" y="237693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17713" y="237693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18297" y="3594079"/>
            <a:ext cx="5049777" cy="622806"/>
          </a:xfrm>
          <a:prstGeom prst="roundRect">
            <a:avLst>
              <a:gd name="adj" fmla="val 4405"/>
            </a:avLst>
          </a:prstGeom>
          <a:ln w="25400">
            <a:solidFill>
              <a:srgbClr val="0B7A6F"/>
            </a:solidFill>
            <a:prstDash val="solid"/>
          </a:ln>
        </p:spPr>
      </p:sp>
      <p:sp>
        <p:nvSpPr>
          <p:cNvPr id="18" name="Shape 14"/>
          <p:cNvSpPr/>
          <p:nvPr/>
        </p:nvSpPr>
        <p:spPr>
          <a:xfrm>
            <a:off x="417713" y="3493495"/>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17713" y="349349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5806440" y="1234440"/>
            <a:ext cx="292608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5934456" y="1435608"/>
            <a:ext cx="256032" cy="256032"/>
          </a:xfrm>
          <a:prstGeom prst="ellipse">
            <a:avLst/>
          </a:prstGeom>
          <a:solidFill>
            <a:srgbClr val="0B7A6F"/>
          </a:solidFill>
          <a:ln w="12700">
            <a:solidFill>
              <a:srgbClr val="0B7A6F"/>
            </a:solidFill>
            <a:prstDash val="solid"/>
          </a:ln>
        </p:spPr>
      </p:sp>
      <p:sp>
        <p:nvSpPr>
          <p:cNvPr id="22" name="Text 18"/>
          <p:cNvSpPr txBox="1"/>
          <p:nvPr/>
        </p:nvSpPr>
        <p:spPr>
          <a:xfrm>
            <a:off x="5934456"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3" name="Text 19"/>
          <p:cNvSpPr txBox="1"/>
          <p:nvPr/>
        </p:nvSpPr>
        <p:spPr>
          <a:xfrm>
            <a:off x="6309360" y="1280160"/>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 Invoice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Time has passed, not invoiced yet</a:t>
            </a:r>
            <a:endParaRPr lang="en-US" sz="1050" dirty="0"/>
          </a:p>
        </p:txBody>
      </p:sp>
      <p:sp>
        <p:nvSpPr>
          <p:cNvPr id="24" name="Shape 20"/>
          <p:cNvSpPr/>
          <p:nvPr/>
        </p:nvSpPr>
        <p:spPr>
          <a:xfrm>
            <a:off x="5806440" y="1984248"/>
            <a:ext cx="2926080" cy="658368"/>
          </a:xfrm>
          <a:prstGeom prst="roundRect">
            <a:avLst>
              <a:gd name="adj" fmla="val 11111"/>
            </a:avLst>
          </a:prstGeom>
          <a:solidFill>
            <a:srgbClr val="FFFFFF"/>
          </a:solidFill>
          <a:ln w="9525">
            <a:solidFill>
              <a:srgbClr val="DCE1E7"/>
            </a:solidFill>
            <a:prstDash val="solid"/>
          </a:ln>
        </p:spPr>
      </p:sp>
      <p:sp>
        <p:nvSpPr>
          <p:cNvPr id="25" name="Shape 21"/>
          <p:cNvSpPr/>
          <p:nvPr/>
        </p:nvSpPr>
        <p:spPr>
          <a:xfrm>
            <a:off x="5934456" y="2185416"/>
            <a:ext cx="256032" cy="256032"/>
          </a:xfrm>
          <a:prstGeom prst="ellipse">
            <a:avLst/>
          </a:prstGeom>
          <a:solidFill>
            <a:srgbClr val="0B7A6F"/>
          </a:solidFill>
          <a:ln w="12700">
            <a:solidFill>
              <a:srgbClr val="0B7A6F"/>
            </a:solidFill>
            <a:prstDash val="solid"/>
          </a:ln>
        </p:spPr>
      </p:sp>
      <p:sp>
        <p:nvSpPr>
          <p:cNvPr id="26" name="Text 22"/>
          <p:cNvSpPr txBox="1"/>
          <p:nvPr/>
        </p:nvSpPr>
        <p:spPr>
          <a:xfrm>
            <a:off x="5934456" y="21854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7" name="Text 23"/>
          <p:cNvSpPr txBox="1"/>
          <p:nvPr/>
        </p:nvSpPr>
        <p:spPr>
          <a:xfrm>
            <a:off x="6309360" y="2029968"/>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&amp; Submitted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Upcoming: waiting for a cleaner, or claimed</a:t>
            </a:r>
            <a:endParaRPr lang="en-US" sz="1050" dirty="0"/>
          </a:p>
        </p:txBody>
      </p:sp>
      <p:sp>
        <p:nvSpPr>
          <p:cNvPr id="28" name="Shape 24"/>
          <p:cNvSpPr/>
          <p:nvPr/>
        </p:nvSpPr>
        <p:spPr>
          <a:xfrm>
            <a:off x="5806440" y="2734056"/>
            <a:ext cx="2926080" cy="658368"/>
          </a:xfrm>
          <a:prstGeom prst="roundRect">
            <a:avLst>
              <a:gd name="adj" fmla="val 11111"/>
            </a:avLst>
          </a:prstGeom>
          <a:solidFill>
            <a:srgbClr val="FFFFFF"/>
          </a:solidFill>
          <a:ln w="9525">
            <a:solidFill>
              <a:srgbClr val="DCE1E7"/>
            </a:solidFill>
            <a:prstDash val="solid"/>
          </a:ln>
        </p:spPr>
      </p:sp>
      <p:sp>
        <p:nvSpPr>
          <p:cNvPr id="29" name="Shape 25"/>
          <p:cNvSpPr/>
          <p:nvPr/>
        </p:nvSpPr>
        <p:spPr>
          <a:xfrm>
            <a:off x="5934456" y="2935224"/>
            <a:ext cx="256032" cy="256032"/>
          </a:xfrm>
          <a:prstGeom prst="ellipse">
            <a:avLst/>
          </a:prstGeom>
          <a:solidFill>
            <a:srgbClr val="0B7A6F"/>
          </a:solidFill>
          <a:ln w="12700">
            <a:solidFill>
              <a:srgbClr val="0B7A6F"/>
            </a:solidFill>
            <a:prstDash val="solid"/>
          </a:ln>
        </p:spPr>
      </p:sp>
      <p:sp>
        <p:nvSpPr>
          <p:cNvPr id="30" name="Text 26"/>
          <p:cNvSpPr txBox="1"/>
          <p:nvPr/>
        </p:nvSpPr>
        <p:spPr>
          <a:xfrm>
            <a:off x="5934456" y="2935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1" name="Text 27"/>
          <p:cNvSpPr txBox="1"/>
          <p:nvPr/>
        </p:nvSpPr>
        <p:spPr>
          <a:xfrm>
            <a:off x="6309360" y="2779776"/>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Completed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Invoiced. Watch for a Failed Charge tag</a:t>
            </a:r>
            <a:endParaRPr lang="en-US" sz="1050" dirty="0"/>
          </a:p>
        </p:txBody>
      </p:sp>
      <p:sp>
        <p:nvSpPr>
          <p:cNvPr id="32" name="Shape 28"/>
          <p:cNvSpPr/>
          <p:nvPr/>
        </p:nvSpPr>
        <p:spPr>
          <a:xfrm>
            <a:off x="5806440" y="3483864"/>
            <a:ext cx="2926080" cy="658368"/>
          </a:xfrm>
          <a:prstGeom prst="roundRect">
            <a:avLst>
              <a:gd name="adj" fmla="val 11111"/>
            </a:avLst>
          </a:prstGeom>
          <a:solidFill>
            <a:srgbClr val="FFFFFF"/>
          </a:solidFill>
          <a:ln w="9525">
            <a:solidFill>
              <a:srgbClr val="DCE1E7"/>
            </a:solidFill>
            <a:prstDash val="solid"/>
          </a:ln>
        </p:spPr>
      </p:sp>
      <p:sp>
        <p:nvSpPr>
          <p:cNvPr id="33" name="Shape 29"/>
          <p:cNvSpPr/>
          <p:nvPr/>
        </p:nvSpPr>
        <p:spPr>
          <a:xfrm>
            <a:off x="5934456" y="3685032"/>
            <a:ext cx="256032" cy="256032"/>
          </a:xfrm>
          <a:prstGeom prst="ellipse">
            <a:avLst/>
          </a:prstGeom>
          <a:solidFill>
            <a:srgbClr val="0B7A6F"/>
          </a:solidFill>
          <a:ln w="12700">
            <a:solidFill>
              <a:srgbClr val="0B7A6F"/>
            </a:solidFill>
            <a:prstDash val="solid"/>
          </a:ln>
        </p:spPr>
      </p:sp>
      <p:sp>
        <p:nvSpPr>
          <p:cNvPr id="34" name="Text 30"/>
          <p:cNvSpPr txBox="1"/>
          <p:nvPr/>
        </p:nvSpPr>
        <p:spPr>
          <a:xfrm>
            <a:off x="5934456" y="36850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35" name="Text 31"/>
          <p:cNvSpPr txBox="1"/>
          <p:nvPr/>
        </p:nvSpPr>
        <p:spPr>
          <a:xfrm>
            <a:off x="6309360" y="3529584"/>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Cancelled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Cancelled at any stage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Spotting a Pending Invoice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shows in its own panel at the top of the customer's jobs.</a:t>
            </a:r>
            <a:endParaRPr lang="en-US" sz="1200" dirty="0"/>
          </a:p>
        </p:txBody>
      </p:sp>
      <p:sp>
        <p:nvSpPr>
          <p:cNvPr id="6" name="Shape 3"/>
          <p:cNvSpPr/>
          <p:nvPr/>
        </p:nvSpPr>
        <p:spPr>
          <a:xfrm>
            <a:off x="411480" y="1234440"/>
            <a:ext cx="8321040" cy="1325880"/>
          </a:xfrm>
          <a:prstGeom prst="roundRect">
            <a:avLst>
              <a:gd name="adj" fmla="val 5517"/>
            </a:avLst>
          </a:prstGeom>
          <a:solidFill>
            <a:srgbClr val="FFFFFF"/>
          </a:solidFill>
          <a:ln w="9525">
            <a:solidFill>
              <a:srgbClr val="DCE1E7"/>
            </a:solidFill>
            <a:prstDash val="solid"/>
          </a:ln>
        </p:spPr>
      </p:sp>
      <p:pic>
        <p:nvPicPr>
          <p:cNvPr id="7" name="Image 0" descr="/tmp/claude-0/-workspace-training/3ce5cff6-cccf-5f33-b0ee-0b147a55120e/scratchpad/img2/jobs_pending.png">    </p:cNvPr>
          <p:cNvPicPr>
            <a:picLocks noChangeAspect="1"/>
          </p:cNvPicPr>
          <p:nvPr/>
        </p:nvPicPr>
        <p:blipFill>
          <a:blip r:embed="rId1"/>
          <a:stretch>
            <a:fillRect/>
          </a:stretch>
        </p:blipFill>
        <p:spPr>
          <a:xfrm>
            <a:off x="484632" y="1343236"/>
            <a:ext cx="8174736" cy="1108289"/>
          </a:xfrm>
          <a:prstGeom prst="rect">
            <a:avLst/>
          </a:prstGeom>
        </p:spPr>
      </p:pic>
      <p:sp>
        <p:nvSpPr>
          <p:cNvPr id="8" name="Shape 4"/>
          <p:cNvSpPr/>
          <p:nvPr/>
        </p:nvSpPr>
        <p:spPr>
          <a:xfrm>
            <a:off x="1734781" y="1378701"/>
            <a:ext cx="257123" cy="195059"/>
          </a:xfrm>
          <a:prstGeom prst="roundRect">
            <a:avLst>
              <a:gd name="adj" fmla="val 14063"/>
            </a:avLst>
          </a:prstGeom>
          <a:ln w="25400">
            <a:solidFill>
              <a:srgbClr val="0B7A6F"/>
            </a:solidFill>
            <a:prstDash val="solid"/>
          </a:ln>
        </p:spPr>
      </p:sp>
      <p:sp>
        <p:nvSpPr>
          <p:cNvPr id="9" name="Shape 5"/>
          <p:cNvSpPr/>
          <p:nvPr/>
        </p:nvSpPr>
        <p:spPr>
          <a:xfrm>
            <a:off x="1634197" y="1278117"/>
            <a:ext cx="201168" cy="201168"/>
          </a:xfrm>
          <a:prstGeom prst="ellipse">
            <a:avLst/>
          </a:prstGeom>
          <a:solidFill>
            <a:srgbClr val="0B7A6F"/>
          </a:solidFill>
          <a:ln w="12700">
            <a:solidFill>
              <a:srgbClr val="FFFFFF"/>
            </a:solidFill>
            <a:prstDash val="solid"/>
          </a:ln>
        </p:spPr>
      </p:sp>
      <p:sp>
        <p:nvSpPr>
          <p:cNvPr id="10" name="Text 6"/>
          <p:cNvSpPr txBox="1"/>
          <p:nvPr/>
        </p:nvSpPr>
        <p:spPr>
          <a:xfrm>
            <a:off x="1634197" y="127811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12108" y="1777685"/>
            <a:ext cx="851166" cy="212791"/>
          </a:xfrm>
          <a:prstGeom prst="roundRect">
            <a:avLst>
              <a:gd name="adj" fmla="val 12892"/>
            </a:avLst>
          </a:prstGeom>
          <a:ln w="25400">
            <a:solidFill>
              <a:srgbClr val="0B7A6F"/>
            </a:solidFill>
            <a:prstDash val="solid"/>
          </a:ln>
        </p:spPr>
      </p:sp>
      <p:sp>
        <p:nvSpPr>
          <p:cNvPr id="12" name="Shape 8"/>
          <p:cNvSpPr/>
          <p:nvPr/>
        </p:nvSpPr>
        <p:spPr>
          <a:xfrm>
            <a:off x="1811524" y="1677101"/>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11524" y="167710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411480" y="2880360"/>
            <a:ext cx="4091940" cy="594360"/>
          </a:xfrm>
          <a:prstGeom prst="roundRect">
            <a:avLst>
              <a:gd name="adj" fmla="val 12308"/>
            </a:avLst>
          </a:prstGeom>
          <a:solidFill>
            <a:srgbClr val="FFFFFF"/>
          </a:solidFill>
          <a:ln w="9525">
            <a:solidFill>
              <a:srgbClr val="DCE1E7"/>
            </a:solidFill>
            <a:prstDash val="solid"/>
          </a:ln>
        </p:spPr>
      </p:sp>
      <p:sp>
        <p:nvSpPr>
          <p:cNvPr id="15" name="Shape 11"/>
          <p:cNvSpPr/>
          <p:nvPr/>
        </p:nvSpPr>
        <p:spPr>
          <a:xfrm>
            <a:off x="539496" y="3049524"/>
            <a:ext cx="256032" cy="256032"/>
          </a:xfrm>
          <a:prstGeom prst="ellipse">
            <a:avLst/>
          </a:prstGeom>
          <a:solidFill>
            <a:srgbClr val="0B7A6F"/>
          </a:solidFill>
          <a:ln w="12700">
            <a:solidFill>
              <a:srgbClr val="0B7A6F"/>
            </a:solidFill>
            <a:prstDash val="solid"/>
          </a:ln>
        </p:spPr>
      </p:sp>
      <p:sp>
        <p:nvSpPr>
          <p:cNvPr id="16" name="Text 12"/>
          <p:cNvSpPr txBox="1"/>
          <p:nvPr/>
        </p:nvSpPr>
        <p:spPr>
          <a:xfrm>
            <a:off x="5394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7" name="Text 13"/>
          <p:cNvSpPr txBox="1"/>
          <p:nvPr/>
        </p:nvSpPr>
        <p:spPr>
          <a:xfrm>
            <a:off x="9144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Count badge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How many Pending Invoice jobs the customer has</a:t>
            </a:r>
            <a:endParaRPr lang="en-US" sz="1050" dirty="0"/>
          </a:p>
        </p:txBody>
      </p:sp>
      <p:sp>
        <p:nvSpPr>
          <p:cNvPr id="18" name="Shape 14"/>
          <p:cNvSpPr/>
          <p:nvPr/>
        </p:nvSpPr>
        <p:spPr>
          <a:xfrm>
            <a:off x="4640580" y="2880360"/>
            <a:ext cx="4091940" cy="594360"/>
          </a:xfrm>
          <a:prstGeom prst="roundRect">
            <a:avLst>
              <a:gd name="adj" fmla="val 12308"/>
            </a:avLst>
          </a:prstGeom>
          <a:solidFill>
            <a:srgbClr val="FFFFFF"/>
          </a:solidFill>
          <a:ln w="9525">
            <a:solidFill>
              <a:srgbClr val="DCE1E7"/>
            </a:solidFill>
            <a:prstDash val="solid"/>
          </a:ln>
        </p:spPr>
      </p:sp>
      <p:sp>
        <p:nvSpPr>
          <p:cNvPr id="19" name="Shape 15"/>
          <p:cNvSpPr/>
          <p:nvPr/>
        </p:nvSpPr>
        <p:spPr>
          <a:xfrm>
            <a:off x="4768596" y="3049524"/>
            <a:ext cx="256032" cy="256032"/>
          </a:xfrm>
          <a:prstGeom prst="ellipse">
            <a:avLst/>
          </a:prstGeom>
          <a:solidFill>
            <a:srgbClr val="0B7A6F"/>
          </a:solidFill>
          <a:ln w="12700">
            <a:solidFill>
              <a:srgbClr val="0B7A6F"/>
            </a:solidFill>
            <a:prstDash val="solid"/>
          </a:ln>
        </p:spPr>
      </p:sp>
      <p:sp>
        <p:nvSpPr>
          <p:cNvPr id="20" name="Text 16"/>
          <p:cNvSpPr txBox="1"/>
          <p:nvPr/>
        </p:nvSpPr>
        <p:spPr>
          <a:xfrm>
            <a:off x="47685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51435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PENDING_INVOICE status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 date, hours and cleaner</a:t>
            </a:r>
            <a:endParaRPr lang="en-US" sz="1050" dirty="0"/>
          </a:p>
        </p:txBody>
      </p:sp>
      <p:sp>
        <p:nvSpPr>
          <p:cNvPr id="22" name="Shape 18"/>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3" name="Image 1"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4" name="Text 19"/>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Act on it:  </a:t>
            </a:r>
            <a:pPr indent="0" marL="0">
              <a:buNone/>
            </a:pPr>
            <a:r>
              <a:rPr lang="en-US" sz="1000" dirty="0">
                <a:solidFill>
                  <a:srgbClr val="1D1D1F"/>
                </a:solidFill>
                <a:latin typeface="SF Pro Text" pitchFamily="34" charset="0"/>
                <a:ea typeface="SF Pro Text" pitchFamily="34" charset="-122"/>
                <a:cs typeface="SF Pro Text" pitchFamily="34" charset="-120"/>
              </a:rPr>
              <a:t>a Pending Invoice job needs action, even if the customer asked about something else.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2026-10-02T17:21:46Z</dcterms:created>
  <dcterms:modified xsi:type="dcterms:W3CDTF">2026-10-02T17:21:46Z</dcterms:modified>
</cp:coreProperties>
</file>