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cpq_cash Cash Payment J 1234567 / cpq_cancel Your customer Joseph reported you cancelled their Monday Oct 9 job. Submit reactivation appeal through dashboard. / cpq_false_invoice Customer Mary reported incorrect hours charged. Submit reactivation appeal. / cpq_noshow Your customer Janis reported you didn't show up to their Monday Oct 9 job. Submit reactivation appeal through dashboard. / cpq_overcharge Customer Kyle reported incorrect hours charged. Submit reactivation appeal. / cpq_invalid_cancel Upon review, your customer cancellation report has been deemed invalid. Submit reactivation appeal through dashboard. / cpq_reschedule Your customer George reported you rescheduled their Monday Oct 9 job without permission. Submit reactivation appeal through dashboard. / HGTA 1234567.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page groups jobs into panels: Pending Invoice Jobs (past their scheduled time but not yet invoiced; a count badge shows how many), Claimed &amp; Submitted (upcoming jobs, either still waiting for a cleaner or already claimed), Completed Jobs (invoiced jobs, with type, hours requested vs invoiced, cleaner, rating and review; a Failed Charge tag shows a charge that didn't go through), and Cancelled Jobs. Each panel links to View all in admin and View job history in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Match anxiety: the customer asks if their request has been claimed, or when it will be. A submitted job is automatically upgraded to a Priority Request within 24-48 hours of the start time. 2) Last-minute job request: CS may book cleaning requests as soon as 12 hours in advance. Priority markups do not apply to jobs booked via CRM. 3) Customer wants a cleaner of a specific gender: there is no option to select a gender, but customers may request to be rematched with another cleaner any time more than 6 hours before the job start time if they don't like the cleaner who claims. Preferences can also be added to the cleaning notes. 4) Customer wants a specific cleaner for an upcoming appointment: we can change the customer's Requested CPs through the Job Admin Page, only if they explicitly request it. TRAINER NOTE: walk trainees through how to change Requested CPs on the Job Admin Page. 5) Customer has a strict schedule and can only do certain dates/times: to increase the likelihood of the job being claimed, the system may automatically add alternate start times if the job is still unclaimed 24 hours before it starts. To stop this, add the flag: New CRM &gt; Flags &gt; + Add Flags &gt; do_not_auto_add_alternate_start_times.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Job is claimed at a different date than initially booked: check the job history to see if the job was claimed at an alternate date and time, or was rescheduled by the cleaner. 2) Customer reports they received confirmations from 2 different cleaners: check the job history to see if the first cleaner cancelled or was swapped out. Remember swapping is internal: never mention it to the customer. 3) Customer wants their cleaner changed: change the cleaner from the Job Admin Page. TRAINER NOTE: demo how to change the cleaner on the Job Admin Page. 4) Customer wants the appointment rescheduled: reschedule from the C Dashboard, or cancel and rebook from the CRM if rescheduling would result in a priority fee. 5) CP cancellations: help the customer get a new cleaner if the request is still active, or offer priority cleaning if the appointment was canceled.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issue has its own process guide in the Knowledge Library, covered in later sessions. 1) Poor Cleaning Quality (PCQ): the customer is not satisfied with the cleaning; follow the Poor Cleaning Quality process guide. 2) Overcharged Hours (OCH): the customer reports an incorrect number of hours billed; follow the Overcharged Hours process guide. 3) False Invoice: the cleaner billed the customer even though they didn't show up; follow the False Invoice process guide. 4) Lockout (LO): the cleaner couldn't get into the customer's home and submitted a lockout; follow the Lockout validation process. 5) Billing Inquiry: the customer asks for an explanation of their charges; provide clarification of the charges (see C Price vs CP Pay in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customer has a Pending Invoice job, the Pending Invoice Jobs panel shows a count badge and lists the job with a PENDING_INVOICE status, date, type, hours and cleaner. CS must act on it even when it isn't the customer's stated concern; see the AG: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2.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2.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slideLayout" Target="../slideLayouts/slideLayout2.xml"/><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2.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slideLayout" Target="../slideLayouts/slideLayout2.xml"/><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you enter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reason codes and their format</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514600"/>
                <a:gridCol w="5806440"/>
              </a:tblGrid>
              <a:tr h="301752">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 for deactivation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reason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reschedule on C's behalf</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Reschedule unauthorized by the customer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look in the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jobs are grouped by status.</a:t>
            </a:r>
            <a:endParaRPr lang="en-US" sz="1200" dirty="0"/>
          </a:p>
        </p:txBody>
      </p:sp>
      <p:sp>
        <p:nvSpPr>
          <p:cNvPr id="6" name="Shape 3"/>
          <p:cNvSpPr/>
          <p:nvPr/>
        </p:nvSpPr>
        <p:spPr>
          <a:xfrm>
            <a:off x="411480" y="1234440"/>
            <a:ext cx="5257800" cy="3108960"/>
          </a:xfrm>
          <a:prstGeom prst="roundRect">
            <a:avLst>
              <a:gd name="adj" fmla="val 2353"/>
            </a:avLst>
          </a:prstGeom>
          <a:solidFill>
            <a:srgbClr val="FFFFFF"/>
          </a:solidFill>
          <a:ln w="9525">
            <a:solidFill>
              <a:srgbClr val="DCE1E7"/>
            </a:solidFill>
            <a:prstDash val="solid"/>
          </a:ln>
        </p:spPr>
      </p:sp>
      <p:pic>
        <p:nvPicPr>
          <p:cNvPr id="7" name="Image 0" descr="/tmp/claude-0/-workspace-training/3ce5cff6-cccf-5f33-b0ee-0b147a55120e/scratchpad/img2/jobs_panels.png">    </p:cNvPr>
          <p:cNvPicPr>
            <a:picLocks noChangeAspect="1"/>
          </p:cNvPicPr>
          <p:nvPr/>
        </p:nvPicPr>
        <p:blipFill>
          <a:blip r:embed="rId1"/>
          <a:stretch>
            <a:fillRect/>
          </a:stretch>
        </p:blipFill>
        <p:spPr>
          <a:xfrm>
            <a:off x="484632" y="1344123"/>
            <a:ext cx="5111496" cy="2889594"/>
          </a:xfrm>
          <a:prstGeom prst="rect">
            <a:avLst/>
          </a:prstGeom>
        </p:spPr>
      </p:pic>
      <p:sp>
        <p:nvSpPr>
          <p:cNvPr id="8" name="Shape 4"/>
          <p:cNvSpPr/>
          <p:nvPr/>
        </p:nvSpPr>
        <p:spPr>
          <a:xfrm>
            <a:off x="518297" y="1372177"/>
            <a:ext cx="5049777" cy="437647"/>
          </a:xfrm>
          <a:prstGeom prst="roundRect">
            <a:avLst>
              <a:gd name="adj" fmla="val 6268"/>
            </a:avLst>
          </a:prstGeom>
          <a:ln w="25400">
            <a:solidFill>
              <a:srgbClr val="0B7A6F"/>
            </a:solidFill>
            <a:prstDash val="solid"/>
          </a:ln>
        </p:spPr>
      </p:sp>
      <p:sp>
        <p:nvSpPr>
          <p:cNvPr id="9" name="Shape 5"/>
          <p:cNvSpPr/>
          <p:nvPr/>
        </p:nvSpPr>
        <p:spPr>
          <a:xfrm>
            <a:off x="417713" y="1271593"/>
            <a:ext cx="201168" cy="201168"/>
          </a:xfrm>
          <a:prstGeom prst="ellipse">
            <a:avLst/>
          </a:prstGeom>
          <a:solidFill>
            <a:srgbClr val="0B7A6F"/>
          </a:solidFill>
          <a:ln w="12700">
            <a:solidFill>
              <a:srgbClr val="FFFFFF"/>
            </a:solidFill>
            <a:prstDash val="solid"/>
          </a:ln>
        </p:spPr>
      </p:sp>
      <p:sp>
        <p:nvSpPr>
          <p:cNvPr id="10" name="Text 6"/>
          <p:cNvSpPr txBox="1"/>
          <p:nvPr/>
        </p:nvSpPr>
        <p:spPr>
          <a:xfrm>
            <a:off x="417713" y="127159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18297" y="1832268"/>
            <a:ext cx="5049777" cy="622806"/>
          </a:xfrm>
          <a:prstGeom prst="roundRect">
            <a:avLst>
              <a:gd name="adj" fmla="val 4405"/>
            </a:avLst>
          </a:prstGeom>
          <a:ln w="25400">
            <a:solidFill>
              <a:srgbClr val="0B7A6F"/>
            </a:solidFill>
            <a:prstDash val="solid"/>
          </a:ln>
        </p:spPr>
      </p:sp>
      <p:sp>
        <p:nvSpPr>
          <p:cNvPr id="12" name="Shape 8"/>
          <p:cNvSpPr/>
          <p:nvPr/>
        </p:nvSpPr>
        <p:spPr>
          <a:xfrm>
            <a:off x="417713" y="1731684"/>
            <a:ext cx="201168" cy="201168"/>
          </a:xfrm>
          <a:prstGeom prst="ellipse">
            <a:avLst/>
          </a:prstGeom>
          <a:solidFill>
            <a:srgbClr val="0B7A6F"/>
          </a:solidFill>
          <a:ln w="12700">
            <a:solidFill>
              <a:srgbClr val="FFFFFF"/>
            </a:solidFill>
            <a:prstDash val="solid"/>
          </a:ln>
        </p:spPr>
      </p:sp>
      <p:sp>
        <p:nvSpPr>
          <p:cNvPr id="13" name="Text 9"/>
          <p:cNvSpPr txBox="1"/>
          <p:nvPr/>
        </p:nvSpPr>
        <p:spPr>
          <a:xfrm>
            <a:off x="417713" y="17316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18297" y="2477517"/>
            <a:ext cx="5049777" cy="1094118"/>
          </a:xfrm>
          <a:prstGeom prst="roundRect">
            <a:avLst>
              <a:gd name="adj" fmla="val 2507"/>
            </a:avLst>
          </a:prstGeom>
          <a:ln w="25400">
            <a:solidFill>
              <a:srgbClr val="0B7A6F"/>
            </a:solidFill>
            <a:prstDash val="solid"/>
          </a:ln>
        </p:spPr>
      </p:sp>
      <p:sp>
        <p:nvSpPr>
          <p:cNvPr id="15" name="Shape 11"/>
          <p:cNvSpPr/>
          <p:nvPr/>
        </p:nvSpPr>
        <p:spPr>
          <a:xfrm>
            <a:off x="417713" y="237693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17713" y="237693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18297" y="3594079"/>
            <a:ext cx="5049777" cy="622806"/>
          </a:xfrm>
          <a:prstGeom prst="roundRect">
            <a:avLst>
              <a:gd name="adj" fmla="val 4405"/>
            </a:avLst>
          </a:prstGeom>
          <a:ln w="25400">
            <a:solidFill>
              <a:srgbClr val="0B7A6F"/>
            </a:solidFill>
            <a:prstDash val="solid"/>
          </a:ln>
        </p:spPr>
      </p:sp>
      <p:sp>
        <p:nvSpPr>
          <p:cNvPr id="18" name="Shape 14"/>
          <p:cNvSpPr/>
          <p:nvPr/>
        </p:nvSpPr>
        <p:spPr>
          <a:xfrm>
            <a:off x="417713" y="3493495"/>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17713" y="349349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5806440" y="1234440"/>
            <a:ext cx="292608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5934456" y="1435608"/>
            <a:ext cx="256032" cy="256032"/>
          </a:xfrm>
          <a:prstGeom prst="ellipse">
            <a:avLst/>
          </a:prstGeom>
          <a:solidFill>
            <a:srgbClr val="0B7A6F"/>
          </a:solidFill>
          <a:ln w="12700">
            <a:solidFill>
              <a:srgbClr val="0B7A6F"/>
            </a:solidFill>
            <a:prstDash val="solid"/>
          </a:ln>
        </p:spPr>
      </p:sp>
      <p:sp>
        <p:nvSpPr>
          <p:cNvPr id="22" name="Text 18"/>
          <p:cNvSpPr txBox="1"/>
          <p:nvPr/>
        </p:nvSpPr>
        <p:spPr>
          <a:xfrm>
            <a:off x="5934456"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3" name="Text 19"/>
          <p:cNvSpPr txBox="1"/>
          <p:nvPr/>
        </p:nvSpPr>
        <p:spPr>
          <a:xfrm>
            <a:off x="6309360" y="1280160"/>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 Invoice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Time has passed, not invoiced yet</a:t>
            </a:r>
            <a:endParaRPr lang="en-US" sz="1050" dirty="0"/>
          </a:p>
        </p:txBody>
      </p:sp>
      <p:sp>
        <p:nvSpPr>
          <p:cNvPr id="24" name="Shape 20"/>
          <p:cNvSpPr/>
          <p:nvPr/>
        </p:nvSpPr>
        <p:spPr>
          <a:xfrm>
            <a:off x="5806440" y="1984248"/>
            <a:ext cx="2926080" cy="658368"/>
          </a:xfrm>
          <a:prstGeom prst="roundRect">
            <a:avLst>
              <a:gd name="adj" fmla="val 11111"/>
            </a:avLst>
          </a:prstGeom>
          <a:solidFill>
            <a:srgbClr val="FFFFFF"/>
          </a:solidFill>
          <a:ln w="9525">
            <a:solidFill>
              <a:srgbClr val="DCE1E7"/>
            </a:solidFill>
            <a:prstDash val="solid"/>
          </a:ln>
        </p:spPr>
      </p:sp>
      <p:sp>
        <p:nvSpPr>
          <p:cNvPr id="25" name="Shape 21"/>
          <p:cNvSpPr/>
          <p:nvPr/>
        </p:nvSpPr>
        <p:spPr>
          <a:xfrm>
            <a:off x="5934456" y="2185416"/>
            <a:ext cx="256032" cy="256032"/>
          </a:xfrm>
          <a:prstGeom prst="ellipse">
            <a:avLst/>
          </a:prstGeom>
          <a:solidFill>
            <a:srgbClr val="0B7A6F"/>
          </a:solidFill>
          <a:ln w="12700">
            <a:solidFill>
              <a:srgbClr val="0B7A6F"/>
            </a:solidFill>
            <a:prstDash val="solid"/>
          </a:ln>
        </p:spPr>
      </p:sp>
      <p:sp>
        <p:nvSpPr>
          <p:cNvPr id="26" name="Text 22"/>
          <p:cNvSpPr txBox="1"/>
          <p:nvPr/>
        </p:nvSpPr>
        <p:spPr>
          <a:xfrm>
            <a:off x="5934456" y="21854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7" name="Text 23"/>
          <p:cNvSpPr txBox="1"/>
          <p:nvPr/>
        </p:nvSpPr>
        <p:spPr>
          <a:xfrm>
            <a:off x="6309360" y="2029968"/>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&amp; Submitted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Upcoming: waiting for a cleaner, or claimed</a:t>
            </a:r>
            <a:endParaRPr lang="en-US" sz="1050" dirty="0"/>
          </a:p>
        </p:txBody>
      </p:sp>
      <p:sp>
        <p:nvSpPr>
          <p:cNvPr id="28" name="Shape 24"/>
          <p:cNvSpPr/>
          <p:nvPr/>
        </p:nvSpPr>
        <p:spPr>
          <a:xfrm>
            <a:off x="5806440" y="2734056"/>
            <a:ext cx="2926080" cy="658368"/>
          </a:xfrm>
          <a:prstGeom prst="roundRect">
            <a:avLst>
              <a:gd name="adj" fmla="val 11111"/>
            </a:avLst>
          </a:prstGeom>
          <a:solidFill>
            <a:srgbClr val="FFFFFF"/>
          </a:solidFill>
          <a:ln w="9525">
            <a:solidFill>
              <a:srgbClr val="DCE1E7"/>
            </a:solidFill>
            <a:prstDash val="solid"/>
          </a:ln>
        </p:spPr>
      </p:sp>
      <p:sp>
        <p:nvSpPr>
          <p:cNvPr id="29" name="Shape 25"/>
          <p:cNvSpPr/>
          <p:nvPr/>
        </p:nvSpPr>
        <p:spPr>
          <a:xfrm>
            <a:off x="5934456" y="2935224"/>
            <a:ext cx="256032" cy="256032"/>
          </a:xfrm>
          <a:prstGeom prst="ellipse">
            <a:avLst/>
          </a:prstGeom>
          <a:solidFill>
            <a:srgbClr val="0B7A6F"/>
          </a:solidFill>
          <a:ln w="12700">
            <a:solidFill>
              <a:srgbClr val="0B7A6F"/>
            </a:solidFill>
            <a:prstDash val="solid"/>
          </a:ln>
        </p:spPr>
      </p:sp>
      <p:sp>
        <p:nvSpPr>
          <p:cNvPr id="30" name="Text 26"/>
          <p:cNvSpPr txBox="1"/>
          <p:nvPr/>
        </p:nvSpPr>
        <p:spPr>
          <a:xfrm>
            <a:off x="5934456" y="2935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1" name="Text 27"/>
          <p:cNvSpPr txBox="1"/>
          <p:nvPr/>
        </p:nvSpPr>
        <p:spPr>
          <a:xfrm>
            <a:off x="6309360" y="2779776"/>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Completed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Invoiced. Watch for a Failed Charge tag</a:t>
            </a:r>
            <a:endParaRPr lang="en-US" sz="1050" dirty="0"/>
          </a:p>
        </p:txBody>
      </p:sp>
      <p:sp>
        <p:nvSpPr>
          <p:cNvPr id="32" name="Shape 28"/>
          <p:cNvSpPr/>
          <p:nvPr/>
        </p:nvSpPr>
        <p:spPr>
          <a:xfrm>
            <a:off x="5806440" y="3483864"/>
            <a:ext cx="2926080" cy="658368"/>
          </a:xfrm>
          <a:prstGeom prst="roundRect">
            <a:avLst>
              <a:gd name="adj" fmla="val 11111"/>
            </a:avLst>
          </a:prstGeom>
          <a:solidFill>
            <a:srgbClr val="FFFFFF"/>
          </a:solidFill>
          <a:ln w="9525">
            <a:solidFill>
              <a:srgbClr val="DCE1E7"/>
            </a:solidFill>
            <a:prstDash val="solid"/>
          </a:ln>
        </p:spPr>
      </p:sp>
      <p:sp>
        <p:nvSpPr>
          <p:cNvPr id="33" name="Shape 29"/>
          <p:cNvSpPr/>
          <p:nvPr/>
        </p:nvSpPr>
        <p:spPr>
          <a:xfrm>
            <a:off x="5934456" y="3685032"/>
            <a:ext cx="256032" cy="256032"/>
          </a:xfrm>
          <a:prstGeom prst="ellipse">
            <a:avLst/>
          </a:prstGeom>
          <a:solidFill>
            <a:srgbClr val="0B7A6F"/>
          </a:solidFill>
          <a:ln w="12700">
            <a:solidFill>
              <a:srgbClr val="0B7A6F"/>
            </a:solidFill>
            <a:prstDash val="solid"/>
          </a:ln>
        </p:spPr>
      </p:sp>
      <p:sp>
        <p:nvSpPr>
          <p:cNvPr id="34" name="Text 30"/>
          <p:cNvSpPr txBox="1"/>
          <p:nvPr/>
        </p:nvSpPr>
        <p:spPr>
          <a:xfrm>
            <a:off x="5934456" y="36850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35" name="Text 31"/>
          <p:cNvSpPr txBox="1"/>
          <p:nvPr/>
        </p:nvSpPr>
        <p:spPr>
          <a:xfrm>
            <a:off x="6309360" y="3529584"/>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Cancelled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Cancelled at any stage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tickets: Submitted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while the job waits for a cleaner.</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Match anxiety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"Has my request been claimed? When will it be?"</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A submitted job is automatically upgraded to a Priority Request within 24–48 hours of the start time.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Last-minute job request</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CS can book a cleaning less than 12 hours in advance through the CRM. Priority markups don't apply to jobs booked via the CRM.</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cleaner of a specific gender</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There's no gender option. They can rematch any time 6+ hours before start, and add preferences to the cleaning notes.</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specific cleaner</a:t>
            </a:r>
            <a:endParaRPr lang="en-US" sz="1050" dirty="0"/>
          </a:p>
        </p:txBody>
      </p:sp>
      <p:sp>
        <p:nvSpPr>
          <p:cNvPr id="25" name="Text 22"/>
          <p:cNvSpPr txBox="1"/>
          <p:nvPr/>
        </p:nvSpPr>
        <p:spPr>
          <a:xfrm>
            <a:off x="3566160" y="33558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their Requested CPs on the Job Admin Page, only if they explicitly ask.</a:t>
            </a:r>
            <a:endParaRPr lang="en-US" sz="950" dirty="0"/>
          </a:p>
        </p:txBody>
      </p:sp>
      <p:sp>
        <p:nvSpPr>
          <p:cNvPr id="26" name="Shape 23"/>
          <p:cNvSpPr/>
          <p:nvPr/>
        </p:nvSpPr>
        <p:spPr>
          <a:xfrm>
            <a:off x="7589520" y="3538728"/>
            <a:ext cx="1005840" cy="256032"/>
          </a:xfrm>
          <a:prstGeom prst="roundRect">
            <a:avLst>
              <a:gd name="adj" fmla="val 28571"/>
            </a:avLst>
          </a:prstGeom>
          <a:solidFill>
            <a:srgbClr val="FFF3D6"/>
          </a:solidFill>
          <a:ln w="9525">
            <a:solidFill>
              <a:srgbClr val="FFF3D6"/>
            </a:solidFill>
            <a:prstDash val="solid"/>
          </a:ln>
        </p:spPr>
      </p:sp>
      <p:sp>
        <p:nvSpPr>
          <p:cNvPr id="27" name="Text 24"/>
          <p:cNvSpPr txBox="1"/>
          <p:nvPr/>
        </p:nvSpPr>
        <p:spPr>
          <a:xfrm>
            <a:off x="7589520" y="35387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Strict schedule, only certain dates/times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Unclaimed 24 hrs before start, the system may add alternate times. To stop it: New CRM › Flags › + Add Flags › do_not_auto_add_alternate_start_times.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Claimed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once a cleaner has claimed the job.</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at a different date than booked</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was it claimed at an alternate date and time, or rescheduled by the cleaner?</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Confirmations from 2 different cleaners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did the first cleaner cancel, or were they swapped out?</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their cleaner changed</a:t>
            </a:r>
            <a:endParaRPr lang="en-US" sz="1050" dirty="0"/>
          </a:p>
        </p:txBody>
      </p:sp>
      <p:sp>
        <p:nvSpPr>
          <p:cNvPr id="20" name="Text 17"/>
          <p:cNvSpPr txBox="1"/>
          <p:nvPr/>
        </p:nvSpPr>
        <p:spPr>
          <a:xfrm>
            <a:off x="3566160" y="26700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 cleaner from the Job Admin Page.</a:t>
            </a:r>
            <a:endParaRPr lang="en-US" sz="950" dirty="0"/>
          </a:p>
        </p:txBody>
      </p:sp>
      <p:sp>
        <p:nvSpPr>
          <p:cNvPr id="21" name="Shape 18"/>
          <p:cNvSpPr/>
          <p:nvPr/>
        </p:nvSpPr>
        <p:spPr>
          <a:xfrm>
            <a:off x="7589520" y="2852928"/>
            <a:ext cx="1005840" cy="256032"/>
          </a:xfrm>
          <a:prstGeom prst="roundRect">
            <a:avLst>
              <a:gd name="adj" fmla="val 28571"/>
            </a:avLst>
          </a:prstGeom>
          <a:solidFill>
            <a:srgbClr val="FFF3D6"/>
          </a:solidFill>
          <a:ln w="9525">
            <a:solidFill>
              <a:srgbClr val="FFF3D6"/>
            </a:solidFill>
            <a:prstDash val="solid"/>
          </a:ln>
        </p:spPr>
      </p:sp>
      <p:sp>
        <p:nvSpPr>
          <p:cNvPr id="22" name="Text 19"/>
          <p:cNvSpPr txBox="1"/>
          <p:nvPr/>
        </p:nvSpPr>
        <p:spPr>
          <a:xfrm>
            <a:off x="7589520" y="28529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3" name="Shape 20"/>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4" name="Shape 21"/>
          <p:cNvSpPr/>
          <p:nvPr/>
        </p:nvSpPr>
        <p:spPr>
          <a:xfrm>
            <a:off x="548640" y="3538728"/>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 appointment rescheduled</a:t>
            </a:r>
            <a:endParaRPr lang="en-US" sz="1050" dirty="0"/>
          </a:p>
        </p:txBody>
      </p:sp>
      <p:sp>
        <p:nvSpPr>
          <p:cNvPr id="27" name="Text 24"/>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Reschedule from the C Dashboard, or cancel and rebook from the CRM if rescheduling would add a priority fee.</a:t>
            </a:r>
            <a:endParaRPr lang="en-US" sz="95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CP Cancellations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Help the customer get a new cleaner if the request is still active, or offer priority cleaning if the appointment was canceled.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Invoiced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raise once the job has been charged.</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Poor Cleaning Quality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Not satisfied with the cleaning</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Poor Cleaning Quality process guide.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Overcharged Hours</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for the wrong number of hours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Overcharged Hours process guide.</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False Invoice</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but the cleaner never showed</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False Invoice process guide.</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Lockout</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Cleaner couldn't get in and filed a lockout</a:t>
            </a:r>
            <a:endParaRPr lang="en-US" sz="1050" dirty="0"/>
          </a:p>
        </p:txBody>
      </p:sp>
      <p:sp>
        <p:nvSpPr>
          <p:cNvPr id="25" name="Text 22"/>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Lockout validation process.</a:t>
            </a:r>
            <a:endParaRPr lang="en-US" sz="950" dirty="0"/>
          </a:p>
        </p:txBody>
      </p:sp>
      <p:sp>
        <p:nvSpPr>
          <p:cNvPr id="26" name="Shape 23"/>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7" name="Shape 24"/>
          <p:cNvSpPr/>
          <p:nvPr/>
        </p:nvSpPr>
        <p:spPr>
          <a:xfrm>
            <a:off x="548640" y="4224528"/>
            <a:ext cx="274320" cy="274320"/>
          </a:xfrm>
          <a:prstGeom prst="ellipse">
            <a:avLst/>
          </a:prstGeom>
          <a:solidFill>
            <a:srgbClr val="E3F4F1"/>
          </a:solidFill>
          <a:ln w="12700">
            <a:solidFill>
              <a:srgbClr val="E3F4F1"/>
            </a:solidFill>
            <a:prstDash val="solid"/>
          </a:ln>
        </p:spPr>
      </p:sp>
      <p:sp>
        <p:nvSpPr>
          <p:cNvPr id="28" name="Text 25"/>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9" name="Text 26"/>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Billing Inquiry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Wants their charges explained</a:t>
            </a:r>
            <a:endParaRPr lang="en-US" sz="1050" dirty="0"/>
          </a:p>
        </p:txBody>
      </p:sp>
      <p:sp>
        <p:nvSpPr>
          <p:cNvPr id="30" name="Text 27"/>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Provide clarification of the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Spotting a Pending Invoice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shows in its own panel at the top of the customer's jobs.</a:t>
            </a:r>
            <a:endParaRPr lang="en-US" sz="1200" dirty="0"/>
          </a:p>
        </p:txBody>
      </p:sp>
      <p:sp>
        <p:nvSpPr>
          <p:cNvPr id="6" name="Shape 3"/>
          <p:cNvSpPr/>
          <p:nvPr/>
        </p:nvSpPr>
        <p:spPr>
          <a:xfrm>
            <a:off x="411480" y="1234440"/>
            <a:ext cx="8321040" cy="1325880"/>
          </a:xfrm>
          <a:prstGeom prst="roundRect">
            <a:avLst>
              <a:gd name="adj" fmla="val 5517"/>
            </a:avLst>
          </a:prstGeom>
          <a:solidFill>
            <a:srgbClr val="FFFFFF"/>
          </a:solidFill>
          <a:ln w="9525">
            <a:solidFill>
              <a:srgbClr val="DCE1E7"/>
            </a:solidFill>
            <a:prstDash val="solid"/>
          </a:ln>
        </p:spPr>
      </p:sp>
      <p:pic>
        <p:nvPicPr>
          <p:cNvPr id="7" name="Image 0" descr="/tmp/claude-0/-workspace-training/3ce5cff6-cccf-5f33-b0ee-0b147a55120e/scratchpad/img2/jobs_pending.png">    </p:cNvPr>
          <p:cNvPicPr>
            <a:picLocks noChangeAspect="1"/>
          </p:cNvPicPr>
          <p:nvPr/>
        </p:nvPicPr>
        <p:blipFill>
          <a:blip r:embed="rId1"/>
          <a:stretch>
            <a:fillRect/>
          </a:stretch>
        </p:blipFill>
        <p:spPr>
          <a:xfrm>
            <a:off x="484632" y="1343236"/>
            <a:ext cx="8174736" cy="1108289"/>
          </a:xfrm>
          <a:prstGeom prst="rect">
            <a:avLst/>
          </a:prstGeom>
        </p:spPr>
      </p:pic>
      <p:sp>
        <p:nvSpPr>
          <p:cNvPr id="8" name="Shape 4"/>
          <p:cNvSpPr/>
          <p:nvPr/>
        </p:nvSpPr>
        <p:spPr>
          <a:xfrm>
            <a:off x="1734781" y="1378701"/>
            <a:ext cx="257123" cy="195059"/>
          </a:xfrm>
          <a:prstGeom prst="roundRect">
            <a:avLst>
              <a:gd name="adj" fmla="val 14063"/>
            </a:avLst>
          </a:prstGeom>
          <a:ln w="25400">
            <a:solidFill>
              <a:srgbClr val="0B7A6F"/>
            </a:solidFill>
            <a:prstDash val="solid"/>
          </a:ln>
        </p:spPr>
      </p:sp>
      <p:sp>
        <p:nvSpPr>
          <p:cNvPr id="9" name="Shape 5"/>
          <p:cNvSpPr/>
          <p:nvPr/>
        </p:nvSpPr>
        <p:spPr>
          <a:xfrm>
            <a:off x="1634197" y="1278117"/>
            <a:ext cx="201168" cy="201168"/>
          </a:xfrm>
          <a:prstGeom prst="ellipse">
            <a:avLst/>
          </a:prstGeom>
          <a:solidFill>
            <a:srgbClr val="0B7A6F"/>
          </a:solidFill>
          <a:ln w="12700">
            <a:solidFill>
              <a:srgbClr val="FFFFFF"/>
            </a:solidFill>
            <a:prstDash val="solid"/>
          </a:ln>
        </p:spPr>
      </p:sp>
      <p:sp>
        <p:nvSpPr>
          <p:cNvPr id="10" name="Text 6"/>
          <p:cNvSpPr txBox="1"/>
          <p:nvPr/>
        </p:nvSpPr>
        <p:spPr>
          <a:xfrm>
            <a:off x="1634197" y="127811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12108" y="1777685"/>
            <a:ext cx="851166" cy="212791"/>
          </a:xfrm>
          <a:prstGeom prst="roundRect">
            <a:avLst>
              <a:gd name="adj" fmla="val 12892"/>
            </a:avLst>
          </a:prstGeom>
          <a:ln w="25400">
            <a:solidFill>
              <a:srgbClr val="0B7A6F"/>
            </a:solidFill>
            <a:prstDash val="solid"/>
          </a:ln>
        </p:spPr>
      </p:sp>
      <p:sp>
        <p:nvSpPr>
          <p:cNvPr id="12" name="Shape 8"/>
          <p:cNvSpPr/>
          <p:nvPr/>
        </p:nvSpPr>
        <p:spPr>
          <a:xfrm>
            <a:off x="1811524" y="1677101"/>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11524" y="167710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411480" y="2880360"/>
            <a:ext cx="4091940" cy="594360"/>
          </a:xfrm>
          <a:prstGeom prst="roundRect">
            <a:avLst>
              <a:gd name="adj" fmla="val 12308"/>
            </a:avLst>
          </a:prstGeom>
          <a:solidFill>
            <a:srgbClr val="FFFFFF"/>
          </a:solidFill>
          <a:ln w="9525">
            <a:solidFill>
              <a:srgbClr val="DCE1E7"/>
            </a:solidFill>
            <a:prstDash val="solid"/>
          </a:ln>
        </p:spPr>
      </p:sp>
      <p:sp>
        <p:nvSpPr>
          <p:cNvPr id="15" name="Shape 11"/>
          <p:cNvSpPr/>
          <p:nvPr/>
        </p:nvSpPr>
        <p:spPr>
          <a:xfrm>
            <a:off x="539496" y="3049524"/>
            <a:ext cx="256032" cy="256032"/>
          </a:xfrm>
          <a:prstGeom prst="ellipse">
            <a:avLst/>
          </a:prstGeom>
          <a:solidFill>
            <a:srgbClr val="0B7A6F"/>
          </a:solidFill>
          <a:ln w="12700">
            <a:solidFill>
              <a:srgbClr val="0B7A6F"/>
            </a:solidFill>
            <a:prstDash val="solid"/>
          </a:ln>
        </p:spPr>
      </p:sp>
      <p:sp>
        <p:nvSpPr>
          <p:cNvPr id="16" name="Text 12"/>
          <p:cNvSpPr txBox="1"/>
          <p:nvPr/>
        </p:nvSpPr>
        <p:spPr>
          <a:xfrm>
            <a:off x="5394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7" name="Text 13"/>
          <p:cNvSpPr txBox="1"/>
          <p:nvPr/>
        </p:nvSpPr>
        <p:spPr>
          <a:xfrm>
            <a:off x="9144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Count badge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How many Pending Invoice jobs the customer has</a:t>
            </a:r>
            <a:endParaRPr lang="en-US" sz="1050" dirty="0"/>
          </a:p>
        </p:txBody>
      </p:sp>
      <p:sp>
        <p:nvSpPr>
          <p:cNvPr id="18" name="Shape 14"/>
          <p:cNvSpPr/>
          <p:nvPr/>
        </p:nvSpPr>
        <p:spPr>
          <a:xfrm>
            <a:off x="4640580" y="2880360"/>
            <a:ext cx="4091940" cy="594360"/>
          </a:xfrm>
          <a:prstGeom prst="roundRect">
            <a:avLst>
              <a:gd name="adj" fmla="val 12308"/>
            </a:avLst>
          </a:prstGeom>
          <a:solidFill>
            <a:srgbClr val="FFFFFF"/>
          </a:solidFill>
          <a:ln w="9525">
            <a:solidFill>
              <a:srgbClr val="DCE1E7"/>
            </a:solidFill>
            <a:prstDash val="solid"/>
          </a:ln>
        </p:spPr>
      </p:sp>
      <p:sp>
        <p:nvSpPr>
          <p:cNvPr id="19" name="Shape 15"/>
          <p:cNvSpPr/>
          <p:nvPr/>
        </p:nvSpPr>
        <p:spPr>
          <a:xfrm>
            <a:off x="4768596" y="3049524"/>
            <a:ext cx="256032" cy="256032"/>
          </a:xfrm>
          <a:prstGeom prst="ellipse">
            <a:avLst/>
          </a:prstGeom>
          <a:solidFill>
            <a:srgbClr val="0B7A6F"/>
          </a:solidFill>
          <a:ln w="12700">
            <a:solidFill>
              <a:srgbClr val="0B7A6F"/>
            </a:solidFill>
            <a:prstDash val="solid"/>
          </a:ln>
        </p:spPr>
      </p:sp>
      <p:sp>
        <p:nvSpPr>
          <p:cNvPr id="20" name="Text 16"/>
          <p:cNvSpPr txBox="1"/>
          <p:nvPr/>
        </p:nvSpPr>
        <p:spPr>
          <a:xfrm>
            <a:off x="47685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51435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PENDING_INVOICE status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 date, hours and cleaner</a:t>
            </a:r>
            <a:endParaRPr lang="en-US" sz="1050" dirty="0"/>
          </a:p>
        </p:txBody>
      </p:sp>
      <p:sp>
        <p:nvSpPr>
          <p:cNvPr id="22" name="Shape 18"/>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3" name="Image 1"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4" name="Text 19"/>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Act on it:  </a:t>
            </a:r>
            <a:pPr indent="0" marL="0">
              <a:buNone/>
            </a:pPr>
            <a:r>
              <a:rPr lang="en-US" sz="1000" dirty="0">
                <a:solidFill>
                  <a:srgbClr val="1D1D1F"/>
                </a:solidFill>
                <a:latin typeface="SF Pro Text" pitchFamily="34" charset="0"/>
                <a:ea typeface="SF Pro Text" pitchFamily="34" charset="-122"/>
                <a:cs typeface="SF Pro Text" pitchFamily="34" charset="-120"/>
              </a:rPr>
              <a:t>a Pending Invoice job needs action, even if the customer asked about something else.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2026-10-05T12:51:53Z</dcterms:created>
  <dcterms:modified xsi:type="dcterms:W3CDTF">2026-10-05T12:51:53Z</dcterms:modified>
</cp:coreProperties>
</file>