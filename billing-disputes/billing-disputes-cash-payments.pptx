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Lst>
  <p:notesMasterIdLst>
    <p:notesMasterId r:id="rId8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seven topics: Overcharged Hours, Unauthorized Addition of Hours, False Invoice, Disintermediation (Cash Payment), Cleaner Didn't Show, Cleaner Cancellation, and Unauthorized Reschedule.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 Topics 5 to 7 cover reliability issues: no-shows, cleaner cancellations, and unauthorized reschedules. Topics 8 and 9 cover the specialized escalation teams: Trust and Safety, and Service Recovery.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false invoice or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(click the Trainer demo button on the Timed Reminder box to play the video): show trainees how to add a Timed Reminder in the Legacy C CRM (Do &gt; TimedReminder &gt; Create): set it 72 hours out, assign Any CS, and paste the Action text with the real C ID, job ID and hours. TRAINER: the penalty check shows when the slide opens (30 minutes or more overcharged: add the cp_overcharged_hours flag + norequests; under 30 minutes: no flag, no penalty). Click once (Request docs) to show the Timed Reminder format; click again (Refund, then penalty check) to go back to the penalty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(its description, How to refund from CP dashboard, links to the how-to video: click it to play).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A no-show is a serious reliability failure, but only report it when you're actually confident it happened. Reporting a no-show that didn't occur penalizes a CP unfairly, based on nothing more than a customer's assumption. The bar is certainty, not just a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report a CP as a no-show via the Job Admin page if at least one is true: the customer says the CP was a no-show AND you have sufficient proof; you're 100% sure from customer/CP messages that the CP genuinely didn't show; or the customer left a review explicitly saying the CP was a no-show. Signals the system may pick up automatically (they don't confirm a no-show on their own, but are worth checking): the customer asked for the CP's ETA, or the CP sent an SMS with cancellation/reschedule intent. Reporting via the Job Admin page only works while the CP is still attached to the job (Claimed, Pending Invoice). Once the job reverts to Submitted or moves to Cancelled, there's no CP-job link to report against. If the CP was a no-show and the job is Invoiced, follow the False Invoice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CP showed an intent to reschedule before the scheduled start time, don't report it as a No Show in Job Admin. Cancel the appointment through C-CRM using the CP No Show/Reschedule code. Coaching for a no-show would normally encourage the CP to reschedule rather than cancel, and the CP already tried to, so the penalty can be waived. Before start: cancel via C-CRM (no penalty + coaching). After start: report as no-show via Job Admin (penalty + coaching). At the start time: assess whether the CP should be penalized based on the reason for rescheduling.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to all statuses: before choosing a resolution, check the Quick Reference table (next slide) for credits and free-month eligibility. Weigh the customer's emotional state, whether they're asking for a refund or hinting at cancelling, and whether they already have recent credits/vouchers. If the customer doesn't seem upset and isn't asking for a refund, consider non-credit options first (Priority Booking, blocking the C/CP pairing). Penalize per CP penalty guidance. Claimed or Pending Invoice: if the CP should be penalized, report the no-show (Job Admin Page &gt; No Show); after reporting, the job resolves to Cancelled or Submitted, so follow that column. If no penalty applies (e.g. reschedule intent before the start time), cancel the job from C-CRM with the CP No Show/Reschedule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months reminder. With service cancellation intent: agents may issue free months for unused MFs (max 3, capped at unused paid MFs or months requested, whichever is lowest). Offering is discretionary unless C names a pain point tied to the unused MFs ("I've been paying but haven't gotten a cleaning", cost concerns); then it's expected and flagged in QA if skipped. With no cancellation intent: a service issue still gets the standard response (credits + help rebooking); upgrading to a free month for unused MFs only if C names them as a pain point. Example: C mentions a no-show, has 3 unused MFs, doesn't raise them: credits + priority rebooking. Example: C adds "I've got months just sitting there unused": issue the free month instead of (or alongside)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usually sets norequests or suspended on its own. If the system penalized the CP, leave it: coach the CP and tell them about the penalty and how to appeal. If it didn't, lean towards coaching; set norequests yourself only if the CP already has a couple of no-shows or cancellations. C-side agents never suspend or add DNR for a no-show (see CP Penalty: C-Side Handling). CP-facing reason code: cpq_noshow Your customer &lt;C'S NAME&gt; reported you didn't show up to their &lt;DAY, DATE&gt; job. Submit reactivation appeal through dashboard. Macros: No show (customer-facing); No Show/Cancellation (No Request) (CP-facing, &lt;10%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Didn't Show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Cleaner Cancellation is when a CP cancels a claimed job via their dashboard, or sends the customer a cancellation-intent SMS (which the system also detects). A CP with cancellation intent is supposed to try rescheduling with the customer first; cancelling outright is the fallback if the customer declines a new time. Related: Cleaner Didn't Show is the distinct scenario where the CP silently doesn't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Cancelling through the dashboard normally affects a CP's Keep Rate. Cancelling by reporting an emergency, a safety concern, or "client wants to cancel" through the CP App does not. Treating every cancellation as equally penalizable unfairly hits CPs who were upfront about a legitimate reason. Unlike a no-show, you don't report anything manually: the job history logs the cancellation, so the Keep Rate impact lands whatever job status results. The system only penalizes a CP cancellation within 7 days of a 1st C/CP match, or within 2 days of a repeat match. Cancelling via CRM (you, on the CP's behalf) never penalizes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job start time is already in the past and there are no other alternate start times: the job becomes Cancelled. If the start time is still in the future and there's still time to match a new CP: the job becomes Submitted again. If the customer has other available alternate start times: the job is rescheduled to one of them and returns to Submitted. The same rules apply if the CP cancelled via the CP App's Report Issue and chose "I have an emergency" or "My client wants to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Attempt to rematch first, not cancel outright: if there's still a chance to match another CP, take that route so the customer still gets their cleaning. 2) Check the Quick Reference table for credits and free months, with the same judgment as any reliability issue: emotional state, cancellation/refund intent, existing credits or vouchers. 3) Offer a Priority Booking if the customer doesn't get the outcome they wanted: no reschedule option, an auto-rescheduled time they didn't choose, or the job goes to Cancelled. 4) Block the C/CP pairing. 5) Send comms to customer and CP: coach the CP on reliability, penalize as necessary. 6) CP status: cancelling from the CP Dashboard is how the system penalizes the CP; it usually sets norequests or suspended itself. If it did, leave it, coach the CP and explain the penalty. If it didn't, lean towards coaching; set norequests only if the CP already has a couple of cancellations or no-shows. C-side agents never suspend or add DNR. Reason code: cpq_cancel Your customer &lt;C'S NAME&gt; reported you cancelled their &lt;DAY, DATE&gt; job. Submit reactivation appeal through dashboard. Macros: CP Cancel &gt; Job Cancelled (customer-facing); No Show/Cancellation (No Request) (CP-facing); No Show/Cancellation (Permanent Deactivation)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has the option to reschedule: customer reschedules: Submitted; customer doesn't reschedule: Cancelled. Either way the CP's Keep Rate is still impacted since the job history is logged, which can still lead to norequests or suspended. When the customer doesn't have the option (e.g. alternate times were already added to their appointment), the job may auto-reschedule to the latest alternate time. If no alternate times exist and rescheduling isn't offered, the job changes to Cancelled, with the same Keep Rate impact. Free months reminder: not mandatory and won't fail QA either way; hold off unless there's cancellation intent or C brings up the unused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Cancellation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Different from the routine, agreed-upon reschedule covered in Rescheduling (Bookings): here the customer never agreed to the new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job still assigned to the CP who rescheduled it? No, no longer assigned: review the CP's account for prior instances and update their CP Step if warranted; send the CP coaching comms using the applicable Comms Kit macro and ban (block) the C/CP pairing; offer the customer a Priority Booking and address any other pain points. Yes, still assigned: add the cp_unauthorized_reschedule flag to the CP's account, update their CP Step if warranted, coach and ban the CP, then check how far away the original start time is. &gt;48 hours away: reschedule the job back to the original start time via the Customer Dashboard. 48 hours or less: check the customer's Priority Markup cohort (C CRM &gt; View). If the cohort is 30_to_50_pct or 50_to_100_pct, cancel the job via CRM using CP no-show/reschedule as the reason code, then rebook via CRM. Add an internal note: cp_unauthorized_reschedule cancelled J &lt;JOB ID&gt; to avoid priority_fee and recreated J &lt;JOB ID&gt;. Tell the customer their appointment was rebooked to their original preferred schedule and offer to add Alternate Start Times. If no priority fee will apply, reschedule via the Customer Dashboard instead. Already in the past: follow AG: Pending Invoice's completion-verification steps, whether the job is Pending Invoice or Claimed. Job already cancelled/invoiced: offer a Priority Booking and address any other pain points. The flag can still be added even if the CP is no longer assigned: it documents the CP's own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1st instance: warning macro, no status change. 2nd+ instance: norequests plus the warning macro. Before pausing a CP, check their messages and flags for an earlier warning. C-side agents never suspend or add DNR; repeat offenders are the CP-side team's call. CP-facing reason code: cpq_reschedule Your customer &lt;C'S NAME&gt; reported you rescheduled their &lt;DAY, DATE&gt; job without permission. Submit reactivation appeal through dashboard. Macros: Unapproved reschedule (sample 1) (customer-facing, includes a $20 credit); Unapproved reschedule (sample 2) (customer-facing, no credit: apology + coordination note); Unauthorized Reschedule (Warning) (CP-facing, 1st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Reschedule.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Most Service Issues are things Care can fully own and close out: refund it, re-clean it, coach the CP, done. Trust &amp; Safety cases are different: they involve real risk to a person's physical safety, property, or wellbeing, not just a bad service experience. Getting one wrong (moving too fast, resolving it like a routine complaint, or missing that it qualifies) creates a liability a refund can't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T&amp;S covers any situation where a customer or cleaner reports behavior that could compromise personal safety, property security, or professional conduct. If a report suggests any risk (physical, emotional, or property-related), the case gets escalated. Only the T&amp;S team is authorized to handle these situations directly. Care's responsibility is to recognize the issue and escalate it, not investigate or resolve it. T&amp;S is a separate, specially-trained track because these situations need a level of investigation and judgment a standard support resolution isn't built for. That's also why T&amp;S, not Care, gets final say on refunds, ETF and retention once a case is theirs. If you're unsure whether a case meets the bar but it feels risky, you can still raise it through the T&amp;S channel: you don't need certainty to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Escalate immediately once a T&amp;S indicator is confirmed. Don't attempt retention: T&amp;S leads the investigation and resolution. Don't issue refunds or contact the cleaner directly: T&amp;S evaluates liability, coordinates the investigation and determines the resolution (including a possible full ETF waiver). Agents must send an email to the customer when escalating a ticket to T&amp;S. Macro: Escalate report to T&amp;S. Related articles: ETF Waivers; Service Recovery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T&amp;S concerns (once escalation applies) must be routed to the T&amp;S team. Care agents must not make refund or compensation decisions for T&amp;S cases, waive or reduce ETF unless directed by T&amp;S, or attempt retention or offer membership-related incentives. T&amp;S independently investigates and owns the final resolution: refund handling is determined solely by T&amp;S after investigation; T&amp;S may waive up to the full ETF following review; no retention attempt by Care, defer to the T&amp;S outcome. If T&amp;S declines the case ("this is not a T&amp;S concern"), the ticket returns to the original agent and is handled as BAU. The T&amp;S constraints lift with it: run the normal playbook for the underlying issue and apply the ordinary ETF and retention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on this slide is an always-escalate item. Law enforcement requests also go to T&amp;S: never share customer or cleaner information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the C reaches out: 1) Respond to the C using the New CRM macro "Escalate Report to T&amp;S". 2) Post in the #new-ts-safety-reports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Safety Reports.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Unwanted communication means personal, repeated, or continuing after being asked to stop. A single job-related follow-up (confirming arrival time, asking about a forgotten item) is routine and doesn't qualify on its own. Verbal dispute: a disagreement about the cleaning itself ("you missed a spot") isn't a verbal dispute for T&amp;S purposes. It only qualifies when the interaction itself becomes heated, aggressive, or intimidating. It's different from harassment, which implies one party targeting the other; a verbal dispute is mutual or situational escalation between both parties. Workplace safety excludes homes with biohazardous conditions. Hurt during cleaning: unless the incident was caused by either party. Every item is always-escalate, except the conditional pattern on the next slides: don't assume anything else is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Theft and damage claims go to T&amp;S. Covered claims: the job was paid in full on the platform; the requester's account is in good standing with no outstanding balances (no failed or disputed charges); the claim was reported within 30 days of the cleaning; the requester hasn't violated the Terms of Service. Excluded: cleaning done outside the platform; losses of cash, third-party gift cards/vouchers and securities, as well as fine arts, antiques and jewelry; losses of pets, personal liability, damage to common areas, and sentimental or undocumented intangible value; items already recovered by the police or replaced by the cleaner; items that still work (minor cosmetic damage, scratches, ordinary wear and tear).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for policy violations and unprofessional conduct, and for theft and damage. First time the C reaches out: 1) Respond to the C using the New CRM macro "Escalate Report to T&amp;S". 2) Post in the #new-ts-nonsafety-reports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Non-Safety Reports. Safety concerns go to #new-ts-safety-reports instead (see the first-report slide).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number of situations are genuine T&amp;S concerns, but only get escalated to the T&amp;S team if the customer explicitly asks to be escalated for that reason. If the customer doesn't ask, handle it as BAU, but it still qualifies as a T&amp;S scenario for ETF waiver purposes, because the underlying safety issue is real either way. Known examples: CP brought a minor to the appointment; CP brought or sent an unauthorized/third-party person. The list isn't exhaustive: other situations may fit the same pattern (a genuine safety concern a customer mentions in passing). Before treating a new situation this way, confirm it's genuinely comparable: a real safety concern, not just something vaguely safety-adjacent. When unsure, escalate to T&amp;S rather than deciding solo. Note the difference from the always-escalate item: if C says they felt unsafe because the CP brought a helper without permission,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when the C is asking for an update, the C says they made a mistake in reporting, or the action item is just a triggered timed reminder from T&amp;S. 1) Check if a post for the ticket has already been made in the #trust-and-safety-follow-ups Slack channel. Yes: add a response to the original thread and tick "Also send to #trust-and-safety-follow-ups" to bump the message. No: create a new post using the format: Link to original escalation: / Link to the new comms received (if any): / Background: , then leave an internal note on the account containing the Slack link of your follow-up escalation. 2) Don't resolve the ticket: change the queue in New CRM to T&amp;S Follow-ups. Screenshots: a sample follow-up post, and a triggered timed reminder from T&amp;S.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Trust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T&amp;S exists because some situations carry real physical or safety risk. Service Recovery exists for a different reason: some situations carry real legal, reputational, or relationship risk. A customer unhappy enough to leave negative feedback and ask for a callback, or one invoking legal action or the FTC, needs higher-touch handling: the stakes go beyond one bad interaction. Care's role, same as with T&amp;S, is recognition and handoff, not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Recovery handles: customers who left negative CSAT survey feedback and opted in to be contacted by phone or email; and high-risk general legal threats (e.g. "I will contact a lawyer") or FTC threats, when the risk of escalation is significantly high. SR determines refund eligibility, scope and any ETF waiver for the cases they own. BBB: a BBB threat alone is handled as BAU, not escalated to SR. An actual filed BBB complaint follows the HDR Ticket Handling Process, not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 legal threats (Attorney General threat, formal legal letter, lawyer CC'd on comms, class action threat, email from a law firm, threat to join ongoing litigation, small claims court threat): no SR escalation needed. The agent waives the ETF and cancels FC immediately. See ETF Waivers &gt; Material Legal Threats for the full reasoning. General legal threats ("I'll get a lawyer," FTC mention, social media threat): handle as BAU; escalate to SR only if the risk of escalation is significant. BBB is a special case: a threat is BAU with no escalation; an actual filed complaint follows the HDR Ticket Handling Process, not 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read each message aloud and have trainees call it: material, general, or BBB. Each click reveals the next answer. Material: waive the ETF and cancel FC immediately, no SR. General: BAU, escalate to SR only if the risk is significant. BBB threat: BAU.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this issue is being escalated: submit it through the Transformation to SR Reassignment Form (the green button opens the form). Not the first time, because the C is responding to SR: no form needed. DM the previous SR agent in Slack to let them know the customer responded; if they're offline, any SR agent online (currently Avegaile "Avie" Gaco, Liz, LorraineYvone, Ann; check the SR schedule sheet linked in the Knowledge Library). Either way, don't resolve the ticket: change the queue to SWAT/Service Recovery in New CRM. Cases marked Handle as BAU or Invalid Escalation are sent back automatically via the Slack channel with SWAT notes: the original agent takes ownership back, reviews the notes (Open SWAT notes button), and proceeds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Cash Payment (job status decides the action), Cleaner Didn't Show (be certain; reschedule intent matters), Cleaner Cancellation (how they cancelled matters; rematch first), Unauthorized Reschedule (still assigned? how far is the start?), Trust and Safety (recognize and escalate, hands off), and Service Recovery (know the threat type; use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8.xml"/><Relationship Id="rId5" Type="http://schemas.openxmlformats.org/officeDocument/2006/relationships/slide" Target="slide18.xml"/><Relationship Id="rId6" Type="http://schemas.openxmlformats.org/officeDocument/2006/relationships/slide" Target="slide18.xml"/><Relationship Id="rId7" Type="http://schemas.openxmlformats.org/officeDocument/2006/relationships/slide" Target="slide26.xml"/><Relationship Id="rId8" Type="http://schemas.openxmlformats.org/officeDocument/2006/relationships/slide" Target="slide26.xml"/><Relationship Id="rId9" Type="http://schemas.openxmlformats.org/officeDocument/2006/relationships/slide" Target="slide26.xml"/><Relationship Id="rId10" Type="http://schemas.openxmlformats.org/officeDocument/2006/relationships/slide" Target="slide35.xml"/><Relationship Id="rId11" Type="http://schemas.openxmlformats.org/officeDocument/2006/relationships/slide" Target="slide35.xml"/><Relationship Id="rId12" Type="http://schemas.openxmlformats.org/officeDocument/2006/relationships/slide" Target="slide35.xml"/><Relationship Id="rId13" Type="http://schemas.openxmlformats.org/officeDocument/2006/relationships/slide" Target="slide46.xml"/><Relationship Id="rId14" Type="http://schemas.openxmlformats.org/officeDocument/2006/relationships/slide" Target="slide46.xml"/><Relationship Id="rId15" Type="http://schemas.openxmlformats.org/officeDocument/2006/relationships/slide" Target="slide46.xml"/><Relationship Id="rId16" Type="http://schemas.openxmlformats.org/officeDocument/2006/relationships/slide" Target="slide54.xml"/><Relationship Id="rId17" Type="http://schemas.openxmlformats.org/officeDocument/2006/relationships/slide" Target="slide54.xml"/><Relationship Id="rId18" Type="http://schemas.openxmlformats.org/officeDocument/2006/relationships/slide" Target="slide54.xml"/><Relationship Id="rId19" Type="http://schemas.openxmlformats.org/officeDocument/2006/relationships/slide" Target="slide61.xml"/><Relationship Id="rId20" Type="http://schemas.openxmlformats.org/officeDocument/2006/relationships/slide" Target="slide61.xml"/><Relationship Id="rId21" Type="http://schemas.openxmlformats.org/officeDocument/2006/relationships/slide" Target="slide61.xml"/><Relationship Id="rId22" Type="http://schemas.openxmlformats.org/officeDocument/2006/relationships/slide" Target="slide67.xml"/><Relationship Id="rId23" Type="http://schemas.openxmlformats.org/officeDocument/2006/relationships/slide" Target="slide67.xml"/><Relationship Id="rId24" Type="http://schemas.openxmlformats.org/officeDocument/2006/relationships/slide" Target="slide67.xml"/><Relationship Id="rId25" Type="http://schemas.openxmlformats.org/officeDocument/2006/relationships/slide" Target="slide80.xml"/><Relationship Id="rId26" Type="http://schemas.openxmlformats.org/officeDocument/2006/relationships/slide" Target="slide80.xml"/><Relationship Id="rId27" Type="http://schemas.openxmlformats.org/officeDocument/2006/relationships/slide" Target="slide80.xml"/><Relationship Id="rId28" Type="http://schemas.openxmlformats.org/officeDocument/2006/relationships/slideLayout" Target="../slideLayouts/slideLayout2.xml"/><Relationship Id="rId2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 Target="slide9.xml"/><Relationship Id="rId2" Type="http://schemas.openxmlformats.org/officeDocument/2006/relationships/hyperlink" Target="https://drive.google.com/file/d/1iPyoRBTJAQ5KWMQwxaxtWI0m-hbjzQZl/view?usp=drive_link" TargetMode="External"/><Relationship Id="rId3" Type="http://schemas.openxmlformats.org/officeDocument/2006/relationships/image" Target="../media/image-10-1.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drive.google.com/file/d/1TuwGdwdOWppyezVsG-aITCSja8J-Z0aJ/view?usp=drive_link" TargetMode="External"/><Relationship Id="rId1" Type="http://schemas.openxmlformats.org/officeDocument/2006/relationships/image" Target="../media/image-30-1.png"/><Relationship Id="rId3" Type="http://schemas.openxmlformats.org/officeDocument/2006/relationships/image" Target="../media/image-30-2.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2.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slideLayout" Target="../slideLayouts/slideLayout2.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slideLayout" Target="../slideLayouts/slideLayout2.xm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slideLayout" Target="../slideLayouts/slideLayout2.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image" Target="../media/image-71-4.png"/><Relationship Id="rId5" Type="http://schemas.openxmlformats.org/officeDocument/2006/relationships/image" Target="../media/image-71-5.png"/><Relationship Id="rId6" Type="http://schemas.openxmlformats.org/officeDocument/2006/relationships/image" Target="../media/image-71-6.png"/><Relationship Id="rId7" Type="http://schemas.openxmlformats.org/officeDocument/2006/relationships/image" Target="../media/image-71-7.png"/><Relationship Id="rId8" Type="http://schemas.openxmlformats.org/officeDocument/2006/relationships/image" Target="../media/image-71-8.png"/><Relationship Id="rId9" Type="http://schemas.openxmlformats.org/officeDocument/2006/relationships/slideLayout" Target="../slideLayouts/slideLayout2.xml"/><Relationship Id="rId10"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2.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2.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image" Target="../media/image-80-4.png"/><Relationship Id="rId5" Type="http://schemas.openxmlformats.org/officeDocument/2006/relationships/image" Target="../media/image-80-5.png"/><Relationship Id="rId6" Type="http://schemas.openxmlformats.org/officeDocument/2006/relationships/slideLayout" Target="../slideLayouts/slideLayout2.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image" Target="../media/image-81-3.png"/><Relationship Id="rId4" Type="http://schemas.openxmlformats.org/officeDocument/2006/relationships/image" Target="../media/image-81-4.png"/><Relationship Id="rId5" Type="http://schemas.openxmlformats.org/officeDocument/2006/relationships/slideLayout" Target="../slideLayouts/slideLayout2.xm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hyperlink" Target="https://forms.gle/LzPKYjneeVsAXpbf9" TargetMode="External"/><Relationship Id="rId3" Type="http://schemas.openxmlformats.org/officeDocument/2006/relationships/hyperlink" Target="https://docs.google.com/spreadsheets/d/1Fn3KZLtrux1RKbrATji5G06gs3uVLljK0xJe1rbQFfk/edit?resourcekey=&amp;gid=213718827#gid=213718827" TargetMode="External"/><Relationship Id="rId2" Type="http://schemas.openxmlformats.org/officeDocument/2006/relationships/image" Target="../media/image-84-1.png"/><Relationship Id="rId4" Type="http://schemas.openxmlformats.org/officeDocument/2006/relationships/slideLayout" Target="../slideLayouts/slideLayout2.xm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Charges for time not delivered, off-platform payments, and cleaners who don't show, cancel or reschedule.</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Nine topics. Click a topic to jump to it.</a:t>
            </a:r>
            <a:endParaRPr lang="en-US" sz="1200" dirty="0"/>
          </a:p>
        </p:txBody>
      </p:sp>
      <p:sp>
        <p:nvSpPr>
          <p:cNvPr id="6" name="Text 3">
            <a:hlinkClick r:id="rId1" tooltip="Go to Overcharged Hours (OCH)" action="ppaction://hlinksldjump"/>
          </p:cNvPr>
          <p:cNvSpPr/>
          <p:nvPr/>
        </p:nvSpPr>
        <p:spPr>
          <a:xfrm>
            <a:off x="411480" y="1325880"/>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Overcharged Hours (OCH)</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50" dirty="0"/>
          </a:p>
        </p:txBody>
      </p:sp>
      <p:sp>
        <p:nvSpPr>
          <p:cNvPr id="7" name="Text 4">
            <a:hlinkClick r:id="rId2" tooltip="Go to Overcharged Hours (OCH)" action="ppaction://hlinksldjump"/>
          </p:cNvPr>
          <p:cNvSpPr/>
          <p:nvPr/>
        </p:nvSpPr>
        <p:spPr>
          <a:xfrm>
            <a:off x="502920" y="1325880"/>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01</a:t>
            </a:r>
            <a:endParaRPr lang="en-US" sz="1200" dirty="0"/>
          </a:p>
        </p:txBody>
      </p:sp>
      <p:sp>
        <p:nvSpPr>
          <p:cNvPr id="8" name="Text 5">
            <a:hlinkClick r:id="rId3" tooltip="Go to Overcharged Hours (OCH)" action="ppaction://hlinksldjump"/>
          </p:cNvPr>
          <p:cNvSpPr/>
          <p:nvPr/>
        </p:nvSpPr>
        <p:spPr>
          <a:xfrm>
            <a:off x="4119372" y="1325880"/>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9" name="Text 6">
            <a:hlinkClick r:id="rId4" tooltip="Go to Unauthorized Addition of Hours" action="ppaction://hlinksldjump"/>
          </p:cNvPr>
          <p:cNvSpPr/>
          <p:nvPr/>
        </p:nvSpPr>
        <p:spPr>
          <a:xfrm>
            <a:off x="411480" y="1975104"/>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Unauthorized Addition of Hours</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50" dirty="0"/>
          </a:p>
        </p:txBody>
      </p:sp>
      <p:sp>
        <p:nvSpPr>
          <p:cNvPr id="10" name="Text 7">
            <a:hlinkClick r:id="rId5" tooltip="Go to Unauthorized Addition of Hours" action="ppaction://hlinksldjump"/>
          </p:cNvPr>
          <p:cNvSpPr/>
          <p:nvPr/>
        </p:nvSpPr>
        <p:spPr>
          <a:xfrm>
            <a:off x="502920" y="1975104"/>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02</a:t>
            </a:r>
            <a:endParaRPr lang="en-US" sz="1200" dirty="0"/>
          </a:p>
        </p:txBody>
      </p:sp>
      <p:sp>
        <p:nvSpPr>
          <p:cNvPr id="11" name="Text 8">
            <a:hlinkClick r:id="rId6" tooltip="Go to Unauthorized Addition of Hours" action="ppaction://hlinksldjump"/>
          </p:cNvPr>
          <p:cNvSpPr/>
          <p:nvPr/>
        </p:nvSpPr>
        <p:spPr>
          <a:xfrm>
            <a:off x="4119372" y="1975104"/>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2" name="Text 9">
            <a:hlinkClick r:id="rId7" tooltip="Go to False Invoice" action="ppaction://hlinksldjump"/>
          </p:cNvPr>
          <p:cNvSpPr/>
          <p:nvPr/>
        </p:nvSpPr>
        <p:spPr>
          <a:xfrm>
            <a:off x="411480" y="2624328"/>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False Invoice</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billed a job they never did</a:t>
            </a:r>
            <a:endParaRPr lang="en-US" sz="1150" dirty="0"/>
          </a:p>
        </p:txBody>
      </p:sp>
      <p:sp>
        <p:nvSpPr>
          <p:cNvPr id="13" name="Text 10">
            <a:hlinkClick r:id="rId8" tooltip="Go to False Invoice" action="ppaction://hlinksldjump"/>
          </p:cNvPr>
          <p:cNvSpPr/>
          <p:nvPr/>
        </p:nvSpPr>
        <p:spPr>
          <a:xfrm>
            <a:off x="502920" y="2624328"/>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03</a:t>
            </a:r>
            <a:endParaRPr lang="en-US" sz="1200" dirty="0"/>
          </a:p>
        </p:txBody>
      </p:sp>
      <p:sp>
        <p:nvSpPr>
          <p:cNvPr id="14" name="Text 11">
            <a:hlinkClick r:id="rId9" tooltip="Go to False Invoice" action="ppaction://hlinksldjump"/>
          </p:cNvPr>
          <p:cNvSpPr/>
          <p:nvPr/>
        </p:nvSpPr>
        <p:spPr>
          <a:xfrm>
            <a:off x="4119372" y="2624328"/>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5" name="Text 12">
            <a:hlinkClick r:id="rId10" tooltip="Go to Disintermediation: Cash Payment" action="ppaction://hlinksldjump"/>
          </p:cNvPr>
          <p:cNvSpPr/>
          <p:nvPr/>
        </p:nvSpPr>
        <p:spPr>
          <a:xfrm>
            <a:off x="411480" y="3273552"/>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Disintermediation: Cash Payment</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customer paid the cleaner directly</a:t>
            </a:r>
            <a:endParaRPr lang="en-US" sz="1150" dirty="0"/>
          </a:p>
        </p:txBody>
      </p:sp>
      <p:sp>
        <p:nvSpPr>
          <p:cNvPr id="16" name="Text 13">
            <a:hlinkClick r:id="rId11" tooltip="Go to Disintermediation: Cash Payment" action="ppaction://hlinksldjump"/>
          </p:cNvPr>
          <p:cNvSpPr/>
          <p:nvPr/>
        </p:nvSpPr>
        <p:spPr>
          <a:xfrm>
            <a:off x="502920" y="3273552"/>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04</a:t>
            </a:r>
            <a:endParaRPr lang="en-US" sz="1200" dirty="0"/>
          </a:p>
        </p:txBody>
      </p:sp>
      <p:sp>
        <p:nvSpPr>
          <p:cNvPr id="17" name="Text 14">
            <a:hlinkClick r:id="rId12" tooltip="Go to Disintermediation: Cash Payment" action="ppaction://hlinksldjump"/>
          </p:cNvPr>
          <p:cNvSpPr/>
          <p:nvPr/>
        </p:nvSpPr>
        <p:spPr>
          <a:xfrm>
            <a:off x="4119372" y="3273552"/>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8" name="Text 15">
            <a:hlinkClick r:id="rId13" tooltip="Go to Cleaner Didn't Show" action="ppaction://hlinksldjump"/>
          </p:cNvPr>
          <p:cNvSpPr/>
          <p:nvPr/>
        </p:nvSpPr>
        <p:spPr>
          <a:xfrm>
            <a:off x="411480" y="3922776"/>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Cleaner Didn't Show</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claimed the job but never came</a:t>
            </a:r>
            <a:endParaRPr lang="en-US" sz="1150" dirty="0"/>
          </a:p>
        </p:txBody>
      </p:sp>
      <p:sp>
        <p:nvSpPr>
          <p:cNvPr id="19" name="Text 16">
            <a:hlinkClick r:id="rId14" tooltip="Go to Cleaner Didn't Show" action="ppaction://hlinksldjump"/>
          </p:cNvPr>
          <p:cNvSpPr/>
          <p:nvPr/>
        </p:nvSpPr>
        <p:spPr>
          <a:xfrm>
            <a:off x="502920" y="3922776"/>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05</a:t>
            </a:r>
            <a:endParaRPr lang="en-US" sz="1200" dirty="0"/>
          </a:p>
        </p:txBody>
      </p:sp>
      <p:sp>
        <p:nvSpPr>
          <p:cNvPr id="20" name="Text 17">
            <a:hlinkClick r:id="rId15" tooltip="Go to Cleaner Didn't Show" action="ppaction://hlinksldjump"/>
          </p:cNvPr>
          <p:cNvSpPr/>
          <p:nvPr/>
        </p:nvSpPr>
        <p:spPr>
          <a:xfrm>
            <a:off x="4119372" y="3922776"/>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1" name="Text 18">
            <a:hlinkClick r:id="rId16" tooltip="Go to Cleaner Cancellation" action="ppaction://hlinksldjump"/>
          </p:cNvPr>
          <p:cNvSpPr/>
          <p:nvPr/>
        </p:nvSpPr>
        <p:spPr>
          <a:xfrm>
            <a:off x="4640580" y="1325880"/>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Cleaner Cancellation</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cancelled a claimed job</a:t>
            </a:r>
            <a:endParaRPr lang="en-US" sz="1150" dirty="0"/>
          </a:p>
        </p:txBody>
      </p:sp>
      <p:sp>
        <p:nvSpPr>
          <p:cNvPr id="22" name="Text 19">
            <a:hlinkClick r:id="rId17" tooltip="Go to Cleaner Cancellation" action="ppaction://hlinksldjump"/>
          </p:cNvPr>
          <p:cNvSpPr/>
          <p:nvPr/>
        </p:nvSpPr>
        <p:spPr>
          <a:xfrm>
            <a:off x="4732020" y="1325880"/>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06</a:t>
            </a:r>
            <a:endParaRPr lang="en-US" sz="1200" dirty="0"/>
          </a:p>
        </p:txBody>
      </p:sp>
      <p:sp>
        <p:nvSpPr>
          <p:cNvPr id="23" name="Text 20">
            <a:hlinkClick r:id="rId18" tooltip="Go to Cleaner Cancellation" action="ppaction://hlinksldjump"/>
          </p:cNvPr>
          <p:cNvSpPr/>
          <p:nvPr/>
        </p:nvSpPr>
        <p:spPr>
          <a:xfrm>
            <a:off x="8348472" y="1325880"/>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4" name="Text 21">
            <a:hlinkClick r:id="rId19" tooltip="Go to Unauthorized Reschedule" action="ppaction://hlinksldjump"/>
          </p:cNvPr>
          <p:cNvSpPr/>
          <p:nvPr/>
        </p:nvSpPr>
        <p:spPr>
          <a:xfrm>
            <a:off x="4640580" y="1975104"/>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Unauthorized Reschedule</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moved the job without the customer's OK</a:t>
            </a:r>
            <a:endParaRPr lang="en-US" sz="1150" dirty="0"/>
          </a:p>
        </p:txBody>
      </p:sp>
      <p:sp>
        <p:nvSpPr>
          <p:cNvPr id="25" name="Text 22">
            <a:hlinkClick r:id="rId20" tooltip="Go to Unauthorized Reschedule" action="ppaction://hlinksldjump"/>
          </p:cNvPr>
          <p:cNvSpPr/>
          <p:nvPr/>
        </p:nvSpPr>
        <p:spPr>
          <a:xfrm>
            <a:off x="4732020" y="1975104"/>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07</a:t>
            </a:r>
            <a:endParaRPr lang="en-US" sz="1200" dirty="0"/>
          </a:p>
        </p:txBody>
      </p:sp>
      <p:sp>
        <p:nvSpPr>
          <p:cNvPr id="26" name="Text 23">
            <a:hlinkClick r:id="rId21" tooltip="Go to Unauthorized Reschedule" action="ppaction://hlinksldjump"/>
          </p:cNvPr>
          <p:cNvSpPr/>
          <p:nvPr/>
        </p:nvSpPr>
        <p:spPr>
          <a:xfrm>
            <a:off x="8348472" y="1975104"/>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7" name="Text 24">
            <a:hlinkClick r:id="rId22" tooltip="Go to Trust and Safety" action="ppaction://hlinksldjump"/>
          </p:cNvPr>
          <p:cNvSpPr/>
          <p:nvPr/>
        </p:nvSpPr>
        <p:spPr>
          <a:xfrm>
            <a:off x="4640580" y="2624328"/>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Trust and Safety</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Safety, property or conduct risk: escalate it</a:t>
            </a:r>
            <a:endParaRPr lang="en-US" sz="1150" dirty="0"/>
          </a:p>
        </p:txBody>
      </p:sp>
      <p:sp>
        <p:nvSpPr>
          <p:cNvPr id="28" name="Text 25">
            <a:hlinkClick r:id="rId23" tooltip="Go to Trust and Safety" action="ppaction://hlinksldjump"/>
          </p:cNvPr>
          <p:cNvSpPr/>
          <p:nvPr/>
        </p:nvSpPr>
        <p:spPr>
          <a:xfrm>
            <a:off x="4732020" y="2624328"/>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08</a:t>
            </a:r>
            <a:endParaRPr lang="en-US" sz="1200" dirty="0"/>
          </a:p>
        </p:txBody>
      </p:sp>
      <p:sp>
        <p:nvSpPr>
          <p:cNvPr id="29" name="Text 26">
            <a:hlinkClick r:id="rId24" tooltip="Go to Trust and Safety" action="ppaction://hlinksldjump"/>
          </p:cNvPr>
          <p:cNvSpPr/>
          <p:nvPr/>
        </p:nvSpPr>
        <p:spPr>
          <a:xfrm>
            <a:off x="8348472" y="2624328"/>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30" name="Text 27">
            <a:hlinkClick r:id="rId25" tooltip="Go to Service Recovery" action="ppaction://hlinksldjump"/>
          </p:cNvPr>
          <p:cNvSpPr/>
          <p:nvPr/>
        </p:nvSpPr>
        <p:spPr>
          <a:xfrm>
            <a:off x="4640580" y="3273552"/>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Service Recovery</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Legal, reputational or relationship risk: hand off</a:t>
            </a:r>
            <a:endParaRPr lang="en-US" sz="1150" dirty="0"/>
          </a:p>
        </p:txBody>
      </p:sp>
      <p:sp>
        <p:nvSpPr>
          <p:cNvPr id="31" name="Text 28">
            <a:hlinkClick r:id="rId26" tooltip="Go to Service Recovery" action="ppaction://hlinksldjump"/>
          </p:cNvPr>
          <p:cNvSpPr/>
          <p:nvPr/>
        </p:nvSpPr>
        <p:spPr>
          <a:xfrm>
            <a:off x="4732020" y="3273552"/>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09</a:t>
            </a:r>
            <a:endParaRPr lang="en-US" sz="1200" dirty="0"/>
          </a:p>
        </p:txBody>
      </p:sp>
      <p:sp>
        <p:nvSpPr>
          <p:cNvPr id="32" name="Text 29">
            <a:hlinkClick r:id="rId27" tooltip="Go to Service Recovery" action="ppaction://hlinksldjump"/>
          </p:cNvPr>
          <p:cNvSpPr/>
          <p:nvPr/>
        </p:nvSpPr>
        <p:spPr>
          <a:xfrm>
            <a:off x="8348472" y="3273552"/>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but increased the hours</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if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false invoice or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1874520" y="2011680"/>
            <a:ext cx="3794760" cy="0"/>
          </a:xfrm>
          <a:prstGeom prst="line">
            <a:avLst/>
          </a:prstGeom>
          <a:noFill/>
          <a:ln w="12700">
            <a:solidFill>
              <a:srgbClr val="6E6E73"/>
            </a:solidFill>
            <a:prstDash val="solid"/>
          </a:ln>
        </p:spPr>
      </p:sp>
      <p:sp>
        <p:nvSpPr>
          <p:cNvPr id="10" name="Shape 7"/>
          <p:cNvSpPr/>
          <p:nvPr/>
        </p:nvSpPr>
        <p:spPr>
          <a:xfrm>
            <a:off x="1874520" y="2011680"/>
            <a:ext cx="0" cy="228600"/>
          </a:xfrm>
          <a:prstGeom prst="line">
            <a:avLst/>
          </a:prstGeom>
          <a:noFill/>
          <a:ln w="12700">
            <a:solidFill>
              <a:srgbClr val="6E6E73"/>
            </a:solidFill>
            <a:prstDash val="solid"/>
            <a:tailEnd type="triangle"/>
          </a:ln>
        </p:spPr>
      </p:sp>
      <p:sp>
        <p:nvSpPr>
          <p:cNvPr id="11" name="Shape 8"/>
          <p:cNvSpPr/>
          <p:nvPr/>
        </p:nvSpPr>
        <p:spPr>
          <a:xfrm>
            <a:off x="5669280" y="2011680"/>
            <a:ext cx="0" cy="228600"/>
          </a:xfrm>
          <a:prstGeom prst="line">
            <a:avLst/>
          </a:prstGeom>
          <a:noFill/>
          <a:ln w="12700">
            <a:solidFill>
              <a:srgbClr val="6E6E73"/>
            </a:solidFill>
            <a:prstDash val="solid"/>
            <a:tailEnd type="triangle"/>
          </a:ln>
        </p:spPr>
      </p:sp>
      <p:sp>
        <p:nvSpPr>
          <p:cNvPr id="12" name="Text 9"/>
          <p:cNvSpPr txBox="1"/>
          <p:nvPr/>
        </p:nvSpPr>
        <p:spPr>
          <a:xfrm>
            <a:off x="194767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574243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Text 11">
            <a:hlinkClick r:id="rId1" tooltip="Go to Branch A" action="ppaction://hlinksldjump"/>
          </p:cNvPr>
          <p:cNvSpPr/>
          <p:nvPr/>
        </p:nvSpPr>
        <p:spPr>
          <a:xfrm>
            <a:off x="594360" y="2240280"/>
            <a:ext cx="2560320" cy="475488"/>
          </a:xfrm>
          <a:prstGeom prst="roundRect">
            <a:avLst>
              <a:gd name="adj" fmla="val 1538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Skip to Branch A  ›</a:t>
            </a:r>
            <a:endParaRPr lang="en-US" sz="1000" dirty="0"/>
          </a:p>
        </p:txBody>
      </p:sp>
      <p:sp>
        <p:nvSpPr>
          <p:cNvPr id="15" name="Text 12"/>
          <p:cNvSpPr/>
          <p:nvPr/>
        </p:nvSpPr>
        <p:spPr>
          <a:xfrm>
            <a:off x="4389120" y="2240280"/>
            <a:ext cx="2560320" cy="475488"/>
          </a:xfrm>
          <a:prstGeom prst="roundRect">
            <a:avLst>
              <a:gd name="adj" fmla="val 15385"/>
            </a:avLst>
          </a:prstGeom>
          <a:solidFill>
            <a:srgbClr val="0B7A6F"/>
          </a:solidFill>
          <a:ln w="12700">
            <a:solidFill>
              <a:srgbClr val="0B7A6F"/>
            </a:solidFill>
          </a:ln>
        </p:spPr>
        <p:txBody>
          <a:bodyPr wrap="square"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  ›</a:t>
            </a:r>
            <a:endParaRPr lang="en-US" sz="1000" dirty="0"/>
          </a:p>
        </p:txBody>
      </p:sp>
      <p:sp>
        <p:nvSpPr>
          <p:cNvPr id="16" name="Shape 13"/>
          <p:cNvSpPr/>
          <p:nvPr/>
        </p:nvSpPr>
        <p:spPr>
          <a:xfrm>
            <a:off x="5669280" y="2715768"/>
            <a:ext cx="0" cy="137160"/>
          </a:xfrm>
          <a:prstGeom prst="line">
            <a:avLst/>
          </a:prstGeom>
          <a:noFill/>
          <a:ln w="12700">
            <a:solidFill>
              <a:srgbClr val="6E6E73"/>
            </a:solidFill>
            <a:prstDash val="solid"/>
            <a:tailEnd type="triangle"/>
          </a:ln>
        </p:spPr>
      </p:sp>
      <p:sp>
        <p:nvSpPr>
          <p:cNvPr id="17" name="Shape 14"/>
          <p:cNvSpPr/>
          <p:nvPr/>
        </p:nvSpPr>
        <p:spPr>
          <a:xfrm>
            <a:off x="4389120" y="2852928"/>
            <a:ext cx="2560320" cy="475488"/>
          </a:xfrm>
          <a:prstGeom prst="roundRect">
            <a:avLst>
              <a:gd name="adj" fmla="val 15385"/>
            </a:avLst>
          </a:prstGeom>
          <a:solidFill>
            <a:srgbClr val="FFF3D6"/>
          </a:solidFill>
          <a:ln w="12700">
            <a:solidFill>
              <a:srgbClr val="9A6410"/>
            </a:solidFill>
            <a:prstDash val="solid"/>
          </a:ln>
        </p:spPr>
      </p:sp>
      <p:sp>
        <p:nvSpPr>
          <p:cNvPr id="18" name="Text 15"/>
          <p:cNvSpPr txBox="1"/>
          <p:nvPr/>
        </p:nvSpPr>
        <p:spPr>
          <a:xfrm>
            <a:off x="4389120" y="285292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19" name="Shape 16"/>
          <p:cNvSpPr/>
          <p:nvPr/>
        </p:nvSpPr>
        <p:spPr>
          <a:xfrm>
            <a:off x="5669280" y="3328416"/>
            <a:ext cx="0" cy="182880"/>
          </a:xfrm>
          <a:prstGeom prst="line">
            <a:avLst/>
          </a:prstGeom>
          <a:noFill/>
          <a:ln w="12700">
            <a:solidFill>
              <a:srgbClr val="6E6E73"/>
            </a:solidFill>
            <a:prstDash val="solid"/>
          </a:ln>
        </p:spPr>
      </p:sp>
      <p:sp>
        <p:nvSpPr>
          <p:cNvPr id="20" name="Shape 17"/>
          <p:cNvSpPr/>
          <p:nvPr/>
        </p:nvSpPr>
        <p:spPr>
          <a:xfrm>
            <a:off x="4526280" y="3511296"/>
            <a:ext cx="2286000" cy="0"/>
          </a:xfrm>
          <a:prstGeom prst="line">
            <a:avLst/>
          </a:prstGeom>
          <a:noFill/>
          <a:ln w="12700">
            <a:solidFill>
              <a:srgbClr val="6E6E73"/>
            </a:solidFill>
            <a:prstDash val="solid"/>
          </a:ln>
        </p:spPr>
      </p:sp>
      <p:sp>
        <p:nvSpPr>
          <p:cNvPr id="21" name="Shape 18"/>
          <p:cNvSpPr/>
          <p:nvPr/>
        </p:nvSpPr>
        <p:spPr>
          <a:xfrm>
            <a:off x="4526280" y="3511296"/>
            <a:ext cx="0" cy="192024"/>
          </a:xfrm>
          <a:prstGeom prst="line">
            <a:avLst/>
          </a:prstGeom>
          <a:noFill/>
          <a:ln w="12700">
            <a:solidFill>
              <a:srgbClr val="6E6E73"/>
            </a:solidFill>
            <a:prstDash val="solid"/>
            <a:tailEnd type="triangle"/>
          </a:ln>
        </p:spPr>
      </p:sp>
      <p:sp>
        <p:nvSpPr>
          <p:cNvPr id="22" name="Shape 19"/>
          <p:cNvSpPr/>
          <p:nvPr/>
        </p:nvSpPr>
        <p:spPr>
          <a:xfrm>
            <a:off x="6812280" y="3511296"/>
            <a:ext cx="0" cy="192024"/>
          </a:xfrm>
          <a:prstGeom prst="line">
            <a:avLst/>
          </a:prstGeom>
          <a:noFill/>
          <a:ln w="12700">
            <a:solidFill>
              <a:srgbClr val="6E6E73"/>
            </a:solidFill>
            <a:prstDash val="solid"/>
            <a:tailEnd type="triangle"/>
          </a:ln>
        </p:spPr>
      </p:sp>
      <p:sp>
        <p:nvSpPr>
          <p:cNvPr id="23" name="Text 20"/>
          <p:cNvSpPr txBox="1"/>
          <p:nvPr/>
        </p:nvSpPr>
        <p:spPr>
          <a:xfrm>
            <a:off x="4599432" y="3529584"/>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4" name="Text 21"/>
          <p:cNvSpPr txBox="1"/>
          <p:nvPr/>
        </p:nvSpPr>
        <p:spPr>
          <a:xfrm>
            <a:off x="6885432" y="3529584"/>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5" name="Shape 22"/>
          <p:cNvSpPr/>
          <p:nvPr/>
        </p:nvSpPr>
        <p:spPr>
          <a:xfrm>
            <a:off x="3474720" y="3703320"/>
            <a:ext cx="2103120" cy="420624"/>
          </a:xfrm>
          <a:prstGeom prst="roundRect">
            <a:avLst>
              <a:gd name="adj" fmla="val 17391"/>
            </a:avLst>
          </a:prstGeom>
          <a:solidFill>
            <a:srgbClr val="FFFFFF"/>
          </a:solidFill>
          <a:ln w="12700">
            <a:solidFill>
              <a:srgbClr val="DCE1E7"/>
            </a:solidFill>
            <a:prstDash val="solid"/>
          </a:ln>
        </p:spPr>
      </p:sp>
      <p:sp>
        <p:nvSpPr>
          <p:cNvPr id="26" name="Text 23"/>
          <p:cNvSpPr txBox="1"/>
          <p:nvPr/>
        </p:nvSpPr>
        <p:spPr>
          <a:xfrm>
            <a:off x="3474720" y="370332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7" name="Text 24"/>
          <p:cNvSpPr/>
          <p:nvPr/>
        </p:nvSpPr>
        <p:spPr>
          <a:xfrm>
            <a:off x="5715000" y="3703320"/>
            <a:ext cx="2194560" cy="420624"/>
          </a:xfrm>
          <a:prstGeom prst="roundRect">
            <a:avLst>
              <a:gd name="adj" fmla="val 17391"/>
            </a:avLst>
          </a:prstGeom>
          <a:solidFill>
            <a:srgbClr val="1D1D1F"/>
          </a:solidFill>
          <a:ln w="25400">
            <a:solidFill>
              <a:srgbClr val="0B7A6F"/>
            </a:solidFill>
          </a:ln>
        </p:spPr>
        <p:txBody>
          <a:bodyPr wrap="square"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28" name="Penalty panel"/>
          <p:cNvSpPr/>
          <p:nvPr/>
        </p:nvSpPr>
        <p:spPr>
          <a:xfrm>
            <a:off x="411480" y="2852928"/>
            <a:ext cx="2926080" cy="1271016"/>
          </a:xfrm>
          <a:prstGeom prst="roundRect">
            <a:avLst>
              <a:gd name="adj" fmla="val 4317"/>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29" name="Shape 26"/>
          <p:cNvSpPr/>
          <p:nvPr/>
        </p:nvSpPr>
        <p:spPr>
          <a:xfrm>
            <a:off x="411480" y="2852928"/>
            <a:ext cx="2926080" cy="292608"/>
          </a:xfrm>
          <a:prstGeom prst="rect">
            <a:avLst/>
          </a:prstGeom>
          <a:solidFill>
            <a:srgbClr val="0B7A6F"/>
          </a:solidFill>
          <a:ln w="12700">
            <a:solidFill>
              <a:srgbClr val="0B7A6F"/>
            </a:solidFill>
            <a:prstDash val="solid"/>
          </a:ln>
        </p:spPr>
      </p:sp>
      <p:sp>
        <p:nvSpPr>
          <p:cNvPr id="30" name="Text 27"/>
          <p:cNvSpPr txBox="1"/>
          <p:nvPr/>
        </p:nvSpPr>
        <p:spPr>
          <a:xfrm>
            <a:off x="548640" y="2852928"/>
            <a:ext cx="26517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1" name="Text 28"/>
          <p:cNvSpPr txBox="1"/>
          <p:nvPr/>
        </p:nvSpPr>
        <p:spPr>
          <a:xfrm>
            <a:off x="548640" y="3236976"/>
            <a:ext cx="2651760" cy="813816"/>
          </a:xfrm>
          <a:prstGeom prst="rect">
            <a:avLst/>
          </a:prstGeom>
          <a:noFill/>
          <a:ln/>
        </p:spPr>
        <p:txBody>
          <a:bodyPr wrap="square" lIns="0" tIns="0" rIns="0" bIns="0" rtlCol="0" anchor="t"/>
          <a:lstStyle/>
          <a:p>
            <a:pPr indent="0" marL="0">
              <a:spcAft>
                <a:spcPts val="600"/>
              </a:spcAft>
              <a:buNone/>
            </a:pPr>
            <a:r>
              <a:rPr lang="en-US" sz="950" b="1" dirty="0">
                <a:solidFill>
                  <a:srgbClr val="0B7A6F"/>
                </a:solidFill>
                <a:latin typeface="SF Pro Text" pitchFamily="34" charset="0"/>
                <a:ea typeface="SF Pro Text" pitchFamily="34" charset="-122"/>
                <a:cs typeface="SF Pro Text" pitchFamily="34" charset="-120"/>
              </a:rPr>
              <a:t>≥ 30 minutes overcharged:  </a:t>
            </a:r>
            <a:pPr indent="0" marL="0">
              <a:spcAft>
                <a:spcPts val="600"/>
              </a:spcAft>
              <a:buNone/>
            </a:pPr>
            <a:r>
              <a:rPr lang="en-US" sz="950" dirty="0">
                <a:solidFill>
                  <a:srgbClr val="1D1D1F"/>
                </a:solidFill>
                <a:latin typeface="SF Pro Text" pitchFamily="34" charset="0"/>
                <a:ea typeface="SF Pro Text" pitchFamily="34" charset="-122"/>
                <a:cs typeface="SF Pro Text" pitchFamily="34" charset="-120"/>
              </a:rPr>
              <a:t>add flag cp_overcharged_hours + norequests</a:t>
            </a:r>
            <a:endParaRPr lang="en-US" sz="950" dirty="0"/>
          </a:p>
          <a:p>
            <a:pPr indent="0" marL="0">
              <a:spcAft>
                <a:spcPts val="600"/>
              </a:spcAft>
              <a:buNone/>
            </a:pPr>
            <a:r>
              <a:rPr lang="en-US" sz="950" b="1" dirty="0">
                <a:solidFill>
                  <a:srgbClr val="0B7A6F"/>
                </a:solidFill>
                <a:latin typeface="SF Pro Text" pitchFamily="34" charset="0"/>
                <a:ea typeface="SF Pro Text" pitchFamily="34" charset="-122"/>
                <a:cs typeface="SF Pro Text" pitchFamily="34" charset="-120"/>
              </a:rPr>
              <a:t>&lt; 30 minutes overcharged:  </a:t>
            </a:r>
            <a:pPr indent="0" marL="0">
              <a:spcAft>
                <a:spcPts val="600"/>
              </a:spcAft>
              <a:buNone/>
            </a:pPr>
            <a:r>
              <a:rPr lang="en-US" sz="950" dirty="0">
                <a:solidFill>
                  <a:srgbClr val="1D1D1F"/>
                </a:solidFill>
                <a:latin typeface="SF Pro Text" pitchFamily="34" charset="0"/>
                <a:ea typeface="SF Pro Text" pitchFamily="34" charset="-122"/>
                <a:cs typeface="SF Pro Text" pitchFamily="34" charset="-120"/>
              </a:rPr>
              <a:t>no flag, no penalty</a:t>
            </a:r>
            <a:endParaRPr lang="en-US" sz="950" dirty="0"/>
          </a:p>
        </p:txBody>
      </p:sp>
      <p:sp>
        <p:nvSpPr>
          <p:cNvPr id="32" name="pop1_2Panel"/>
          <p:cNvSpPr/>
          <p:nvPr/>
        </p:nvSpPr>
        <p:spPr>
          <a:xfrm>
            <a:off x="411480" y="2852928"/>
            <a:ext cx="2926080" cy="1271016"/>
          </a:xfrm>
          <a:prstGeom prst="roundRect">
            <a:avLst>
              <a:gd name="adj" fmla="val 4317"/>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3" name="pop1_2Title"/>
          <p:cNvSpPr txBox="1"/>
          <p:nvPr/>
        </p:nvSpPr>
        <p:spPr>
          <a:xfrm>
            <a:off x="548640" y="2898648"/>
            <a:ext cx="18288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4" name="pop1_2Tag">
            <a:hlinkClick r:id="rId2" tooltip="Play the Timed Reminder demo"/>
          </p:cNvPr>
          <p:cNvSpPr/>
          <p:nvPr/>
        </p:nvSpPr>
        <p:spPr>
          <a:xfrm>
            <a:off x="2194560" y="2916936"/>
            <a:ext cx="1051560" cy="237744"/>
          </a:xfrm>
          <a:prstGeom prst="roundRect">
            <a:avLst>
              <a:gd name="adj" fmla="val 23077"/>
            </a:avLst>
          </a:prstGeom>
          <a:solidFill>
            <a:srgbClr val="9A6410"/>
          </a:solidFill>
          <a:ln>
            <a:solidFill>
              <a:srgbClr val="9A6410"/>
            </a:solidFill>
          </a:ln>
        </p:spPr>
        <p:txBody>
          <a:bodyPr wrap="square" lIns="25400" tIns="0" rIns="25400" bIns="0" rtlCol="0" anchor="ctr"/>
          <a:lstStyle/>
          <a:p>
            <a:pPr algn="ctr" indent="0" marL="0">
              <a:buNone/>
            </a:pPr>
            <a:r>
              <a:rPr lang="en-US" sz="800" b="1" u="none" dirty="0">
                <a:solidFill>
                  <a:srgbClr val="FFFFFF"/>
                </a:solidFill>
              </a:rPr>
              <a:t>▶  Trainer demo</a:t>
            </a:r>
            <a:endParaRPr lang="en-US" sz="800" dirty="0"/>
          </a:p>
        </p:txBody>
      </p:sp>
      <p:sp>
        <p:nvSpPr>
          <p:cNvPr id="35" name="pop1_2Body"/>
          <p:cNvSpPr txBox="1"/>
          <p:nvPr/>
        </p:nvSpPr>
        <p:spPr>
          <a:xfrm>
            <a:off x="548640" y="3200400"/>
            <a:ext cx="2651760" cy="859536"/>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hape 33"/>
          <p:cNvSpPr/>
          <p:nvPr/>
        </p:nvSpPr>
        <p:spPr>
          <a:xfrm>
            <a:off x="411480" y="4315968"/>
            <a:ext cx="2926080" cy="292608"/>
          </a:xfrm>
          <a:prstGeom prst="roundRect">
            <a:avLst>
              <a:gd name="adj" fmla="val 25000"/>
            </a:avLst>
          </a:prstGeom>
          <a:solidFill>
            <a:srgbClr val="FFF3D6"/>
          </a:solidFill>
          <a:ln w="9525">
            <a:solidFill>
              <a:srgbClr val="9A6410"/>
            </a:solidFill>
            <a:prstDash val="solid"/>
          </a:ln>
        </p:spPr>
      </p:sp>
      <p:pic>
        <p:nvPicPr>
          <p:cNvPr id="37" name="Image 0" descr="preencoded.png">    </p:cNvPr>
          <p:cNvPicPr>
            <a:picLocks noChangeAspect="1"/>
          </p:cNvPicPr>
          <p:nvPr/>
        </p:nvPicPr>
        <p:blipFill>
          <a:blip r:embed="rId3"/>
          <a:stretch>
            <a:fillRect/>
          </a:stretch>
        </p:blipFill>
        <p:spPr>
          <a:xfrm>
            <a:off x="521208" y="4389120"/>
            <a:ext cx="146304" cy="146304"/>
          </a:xfrm>
          <a:prstGeom prst="rect">
            <a:avLst/>
          </a:prstGeom>
        </p:spPr>
      </p:pic>
      <p:sp>
        <p:nvSpPr>
          <p:cNvPr id="38" name="Text 34"/>
          <p:cNvSpPr txBox="1"/>
          <p:nvPr/>
        </p:nvSpPr>
        <p:spPr>
          <a:xfrm>
            <a:off x="731520" y="4315968"/>
            <a:ext cx="25603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Overcharged hrs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600"/>
                                        <p:tgtEl>
                                          <p:spTgt spid="3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600"/>
                                        <p:tgtEl>
                                          <p:spTgt spid="3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600"/>
                                        <p:tgtEl>
                                          <p:spTgt spid="3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600"/>
                                        <p:tgtEl>
                                          <p:spTgt spid="35"/>
                                        </p:tgtEl>
                                      </p:cBhvr>
                                    </p:animEffect>
                                  </p:childTnLst>
                                </p:cTn>
                              </p:par>
                            </p:childTnLst>
                          </p:cTn>
                        </p:par>
                      </p:childTnLst>
                    </p:cTn>
                  </p:par>
                  <p:par>
                    <p:cTn id="29" fill="hold">
                      <p:stCondLst>
                        <p:cond delay="indefinite"/>
                      </p:stCondLst>
                      <p:childTnLst>
                        <p:par>
                          <p:cTn id="30"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32"/>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33"/>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34"/>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3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2" grpId="1" animBg="1"/>
      <p:bldP spid="33" grpId="1" animBg="1"/>
      <p:bldP spid="34" grpId="1" animBg="1"/>
      <p:bldP spid="35"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b="1" u="sng" dirty="0">
                <a:solidFill>
                  <a:srgbClr val="0B7A6F"/>
                </a:solidFill>
                <a:latin typeface="SF Pro Text" pitchFamily="34" charset="0"/>
                <a:ea typeface="SF Pro Text" pitchFamily="34" charset="-122"/>
                <a:cs typeface="SF Pro Text" pitchFamily="34" charset="-120"/>
                <a:hlinkClick r:id="rId2" invalidUrl="" action="" tgtFrame="" tooltip="Play: how to refund from CP dashboard" history="1" highlightClick="0" endSnd="0">
                  <a:extLst>
                    <a:ext uri="{A12FA001-AC4F-418D-AE19-62706E023703}">
                      <ahyp:hlinkClr xmlns:ahyp="http://schemas.microsoft.com/office/drawing/2018/hyperlinkcolor" val="tx"/>
                    </a:ext>
                  </a:extLst>
                </a:hlinkClick>
              </a:rPr>
              <a:t>▶  How to refund from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47" name="Shape 43"/>
          <p:cNvSpPr/>
          <p:nvPr/>
        </p:nvSpPr>
        <p:spPr>
          <a:xfrm>
            <a:off x="5806440" y="4507992"/>
            <a:ext cx="2926080" cy="292608"/>
          </a:xfrm>
          <a:prstGeom prst="roundRect">
            <a:avLst>
              <a:gd name="adj" fmla="val 25000"/>
            </a:avLst>
          </a:prstGeom>
          <a:solidFill>
            <a:srgbClr val="FFF3D6"/>
          </a:solidFill>
          <a:ln w="9525">
            <a:solidFill>
              <a:srgbClr val="9A6410"/>
            </a:solidFill>
            <a:prstDash val="solid"/>
          </a:ln>
        </p:spPr>
      </p:sp>
      <p:pic>
        <p:nvPicPr>
          <p:cNvPr id="48" name="Image 1" descr="preencoded.png">    </p:cNvPr>
          <p:cNvPicPr>
            <a:picLocks noChangeAspect="1"/>
          </p:cNvPicPr>
          <p:nvPr/>
        </p:nvPicPr>
        <p:blipFill>
          <a:blip r:embed="rId3"/>
          <a:stretch>
            <a:fillRect/>
          </a:stretch>
        </p:blipFill>
        <p:spPr>
          <a:xfrm>
            <a:off x="5916168" y="4581144"/>
            <a:ext cx="146304" cy="146304"/>
          </a:xfrm>
          <a:prstGeom prst="rect">
            <a:avLst/>
          </a:prstGeom>
        </p:spPr>
      </p:pic>
      <p:sp>
        <p:nvSpPr>
          <p:cNvPr id="49" name="Text 44"/>
          <p:cNvSpPr txBox="1"/>
          <p:nvPr/>
        </p:nvSpPr>
        <p:spPr>
          <a:xfrm>
            <a:off x="6126480" y="4507992"/>
            <a:ext cx="25603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False Invoice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Cancel via C CRM: Reason code "does not want the service".</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Invoice the remaining balance instead.</a:t>
            </a:r>
            <a:endParaRPr lang="en-US" sz="7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Refund via the CP Dashboard.</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Admin refund the cash-paid portion (based on CP Pay, not C Price) + a CP Holdback for the same amount.</a:t>
            </a:r>
            <a:endParaRPr lang="en-US" sz="7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9728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08176"/>
            <a:ext cx="0" cy="91440"/>
          </a:xfrm>
          <a:prstGeom prst="line">
            <a:avLst/>
          </a:prstGeom>
          <a:noFill/>
          <a:ln w="12700">
            <a:solidFill>
              <a:srgbClr val="6E6E73"/>
            </a:solidFill>
            <a:prstDash val="solid"/>
            <a:tailEnd type="triangle"/>
          </a:ln>
        </p:spPr>
      </p:sp>
      <p:sp>
        <p:nvSpPr>
          <p:cNvPr id="11" name="Shape 7"/>
          <p:cNvSpPr/>
          <p:nvPr/>
        </p:nvSpPr>
        <p:spPr>
          <a:xfrm>
            <a:off x="3703320" y="1252728"/>
            <a:ext cx="182880" cy="0"/>
          </a:xfrm>
          <a:prstGeom prst="line">
            <a:avLst/>
          </a:prstGeom>
          <a:noFill/>
          <a:ln w="12700">
            <a:solidFill>
              <a:srgbClr val="6E6E73"/>
            </a:solidFill>
            <a:prstDash val="solid"/>
          </a:ln>
        </p:spPr>
      </p:sp>
      <p:sp>
        <p:nvSpPr>
          <p:cNvPr id="12" name="type1Desc"/>
          <p:cNvSpPr txBox="1"/>
          <p:nvPr/>
        </p:nvSpPr>
        <p:spPr>
          <a:xfrm>
            <a:off x="3977640" y="1060704"/>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499616"/>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99616"/>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10512"/>
            <a:ext cx="0" cy="91440"/>
          </a:xfrm>
          <a:prstGeom prst="line">
            <a:avLst/>
          </a:prstGeom>
          <a:noFill/>
          <a:ln w="12700">
            <a:solidFill>
              <a:srgbClr val="6E6E73"/>
            </a:solidFill>
            <a:prstDash val="solid"/>
            <a:tailEnd type="triangle"/>
          </a:ln>
        </p:spPr>
      </p:sp>
      <p:sp>
        <p:nvSpPr>
          <p:cNvPr id="16" name="Shape 12"/>
          <p:cNvSpPr/>
          <p:nvPr/>
        </p:nvSpPr>
        <p:spPr>
          <a:xfrm>
            <a:off x="3703320" y="1655064"/>
            <a:ext cx="182880" cy="0"/>
          </a:xfrm>
          <a:prstGeom prst="line">
            <a:avLst/>
          </a:prstGeom>
          <a:noFill/>
          <a:ln w="12700">
            <a:solidFill>
              <a:srgbClr val="6E6E73"/>
            </a:solidFill>
            <a:prstDash val="solid"/>
          </a:ln>
        </p:spPr>
      </p:sp>
      <p:sp>
        <p:nvSpPr>
          <p:cNvPr id="17" name="type2Desc"/>
          <p:cNvSpPr txBox="1"/>
          <p:nvPr/>
        </p:nvSpPr>
        <p:spPr>
          <a:xfrm>
            <a:off x="3977640" y="1463040"/>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report from CP. Treat it like any other unconfirmed claim.</a:t>
            </a:r>
            <a:endParaRPr lang="en-US" sz="850" dirty="0"/>
          </a:p>
        </p:txBody>
      </p:sp>
      <p:sp>
        <p:nvSpPr>
          <p:cNvPr id="18" name="Shape 14"/>
          <p:cNvSpPr/>
          <p:nvPr/>
        </p:nvSpPr>
        <p:spPr>
          <a:xfrm>
            <a:off x="457200" y="1901952"/>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9019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212848"/>
            <a:ext cx="0" cy="91440"/>
          </a:xfrm>
          <a:prstGeom prst="line">
            <a:avLst/>
          </a:prstGeom>
          <a:noFill/>
          <a:ln w="12700">
            <a:solidFill>
              <a:srgbClr val="6E6E73"/>
            </a:solidFill>
            <a:prstDash val="solid"/>
            <a:tailEnd type="triangle"/>
          </a:ln>
        </p:spPr>
      </p:sp>
      <p:sp>
        <p:nvSpPr>
          <p:cNvPr id="21" name="Shape 17"/>
          <p:cNvSpPr/>
          <p:nvPr/>
        </p:nvSpPr>
        <p:spPr>
          <a:xfrm>
            <a:off x="3703320" y="2057400"/>
            <a:ext cx="182880" cy="0"/>
          </a:xfrm>
          <a:prstGeom prst="line">
            <a:avLst/>
          </a:prstGeom>
          <a:noFill/>
          <a:ln w="12700">
            <a:solidFill>
              <a:srgbClr val="6E6E73"/>
            </a:solidFill>
            <a:prstDash val="solid"/>
          </a:ln>
        </p:spPr>
      </p:sp>
      <p:sp>
        <p:nvSpPr>
          <p:cNvPr id="22" name="type3Desc"/>
          <p:cNvSpPr txBox="1"/>
          <p:nvPr/>
        </p:nvSpPr>
        <p:spPr>
          <a:xfrm>
            <a:off x="3977640" y="1865376"/>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304288"/>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30428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615184"/>
            <a:ext cx="0" cy="91440"/>
          </a:xfrm>
          <a:prstGeom prst="line">
            <a:avLst/>
          </a:prstGeom>
          <a:noFill/>
          <a:ln w="12700">
            <a:solidFill>
              <a:srgbClr val="6E6E73"/>
            </a:solidFill>
            <a:prstDash val="solid"/>
            <a:tailEnd type="triangle"/>
          </a:ln>
        </p:spPr>
      </p:sp>
      <p:sp>
        <p:nvSpPr>
          <p:cNvPr id="26" name="Shape 22"/>
          <p:cNvSpPr/>
          <p:nvPr/>
        </p:nvSpPr>
        <p:spPr>
          <a:xfrm>
            <a:off x="3703320" y="2459736"/>
            <a:ext cx="182880" cy="0"/>
          </a:xfrm>
          <a:prstGeom prst="line">
            <a:avLst/>
          </a:prstGeom>
          <a:noFill/>
          <a:ln w="12700">
            <a:solidFill>
              <a:srgbClr val="6E6E73"/>
            </a:solidFill>
            <a:prstDash val="solid"/>
          </a:ln>
        </p:spPr>
      </p:sp>
      <p:sp>
        <p:nvSpPr>
          <p:cNvPr id="27" name="type4Desc"/>
          <p:cNvSpPr txBox="1"/>
          <p:nvPr/>
        </p:nvSpPr>
        <p:spPr>
          <a:xfrm>
            <a:off x="3977640" y="226771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706624"/>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70662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017520"/>
            <a:ext cx="0" cy="91440"/>
          </a:xfrm>
          <a:prstGeom prst="line">
            <a:avLst/>
          </a:prstGeom>
          <a:noFill/>
          <a:ln w="12700">
            <a:solidFill>
              <a:srgbClr val="6E6E73"/>
            </a:solidFill>
            <a:prstDash val="solid"/>
            <a:tailEnd type="triangle"/>
          </a:ln>
        </p:spPr>
      </p:sp>
      <p:sp>
        <p:nvSpPr>
          <p:cNvPr id="31" name="Shape 27"/>
          <p:cNvSpPr/>
          <p:nvPr/>
        </p:nvSpPr>
        <p:spPr>
          <a:xfrm>
            <a:off x="3703320" y="2862072"/>
            <a:ext cx="182880" cy="0"/>
          </a:xfrm>
          <a:prstGeom prst="line">
            <a:avLst/>
          </a:prstGeom>
          <a:noFill/>
          <a:ln w="12700">
            <a:solidFill>
              <a:srgbClr val="6E6E73"/>
            </a:solidFill>
            <a:prstDash val="solid"/>
          </a:ln>
        </p:spPr>
      </p:sp>
      <p:sp>
        <p:nvSpPr>
          <p:cNvPr id="32" name="type5Desc"/>
          <p:cNvSpPr txBox="1"/>
          <p:nvPr/>
        </p:nvSpPr>
        <p:spPr>
          <a:xfrm>
            <a:off x="3977640" y="2670048"/>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108960"/>
            <a:ext cx="3246120" cy="429768"/>
          </a:xfrm>
          <a:prstGeom prst="roundRect">
            <a:avLst>
              <a:gd name="adj" fmla="val 17021"/>
            </a:avLst>
          </a:prstGeom>
          <a:solidFill>
            <a:srgbClr val="0B7A6F"/>
          </a:solidFill>
          <a:ln w="12700">
            <a:solidFill>
              <a:srgbClr val="0B7A6F"/>
            </a:solidFill>
            <a:prstDash val="solid"/>
          </a:ln>
        </p:spPr>
      </p:sp>
      <p:sp>
        <p:nvSpPr>
          <p:cNvPr id="34" name="Text 30"/>
          <p:cNvSpPr txBox="1"/>
          <p:nvPr/>
        </p:nvSpPr>
        <p:spPr>
          <a:xfrm>
            <a:off x="457200" y="3108960"/>
            <a:ext cx="3246120" cy="4297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538728"/>
            <a:ext cx="0" cy="91440"/>
          </a:xfrm>
          <a:prstGeom prst="line">
            <a:avLst/>
          </a:prstGeom>
          <a:noFill/>
          <a:ln w="12700">
            <a:solidFill>
              <a:srgbClr val="6E6E73"/>
            </a:solidFill>
            <a:prstDash val="solid"/>
            <a:tailEnd type="triangle"/>
          </a:ln>
        </p:spPr>
      </p:sp>
      <p:sp>
        <p:nvSpPr>
          <p:cNvPr id="36" name="Shape 32"/>
          <p:cNvSpPr/>
          <p:nvPr/>
        </p:nvSpPr>
        <p:spPr>
          <a:xfrm>
            <a:off x="3703320" y="3323844"/>
            <a:ext cx="182880" cy="0"/>
          </a:xfrm>
          <a:prstGeom prst="line">
            <a:avLst/>
          </a:prstGeom>
          <a:noFill/>
          <a:ln w="12700">
            <a:solidFill>
              <a:srgbClr val="6E6E73"/>
            </a:solidFill>
            <a:prstDash val="solid"/>
          </a:ln>
        </p:spPr>
      </p:sp>
      <p:sp>
        <p:nvSpPr>
          <p:cNvPr id="37" name="type6Desc"/>
          <p:cNvSpPr txBox="1"/>
          <p:nvPr/>
        </p:nvSpPr>
        <p:spPr>
          <a:xfrm>
            <a:off x="3977640" y="3072384"/>
            <a:ext cx="4983480" cy="50292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Pending Invoice: cancel from CCRM (full) or invoice remaining balance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Invoiced: Refund from CP Dashboard (full) or admin refund + CP holdback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Hard ladder penalty</a:t>
            </a:r>
            <a:endParaRPr lang="en-US" sz="750" dirty="0"/>
          </a:p>
        </p:txBody>
      </p:sp>
      <p:sp>
        <p:nvSpPr>
          <p:cNvPr id="38" name="Shape 34"/>
          <p:cNvSpPr/>
          <p:nvPr/>
        </p:nvSpPr>
        <p:spPr>
          <a:xfrm>
            <a:off x="457200" y="3630168"/>
            <a:ext cx="3246120" cy="548640"/>
          </a:xfrm>
          <a:prstGeom prst="roundRect">
            <a:avLst>
              <a:gd name="adj" fmla="val 13333"/>
            </a:avLst>
          </a:prstGeom>
          <a:solidFill>
            <a:srgbClr val="0B7A6F"/>
          </a:solidFill>
          <a:ln w="12700">
            <a:solidFill>
              <a:srgbClr val="0B7A6F"/>
            </a:solidFill>
            <a:prstDash val="solid"/>
          </a:ln>
        </p:spPr>
      </p:sp>
      <p:sp>
        <p:nvSpPr>
          <p:cNvPr id="39" name="Text 35"/>
          <p:cNvSpPr txBox="1"/>
          <p:nvPr/>
        </p:nvSpPr>
        <p:spPr>
          <a:xfrm>
            <a:off x="457200" y="3630168"/>
            <a:ext cx="32461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 proof from C but CP admits it → soft ladder</a:t>
            </a:r>
            <a:endParaRPr lang="en-US" sz="1000" dirty="0"/>
          </a:p>
        </p:txBody>
      </p:sp>
      <p:sp>
        <p:nvSpPr>
          <p:cNvPr id="40" name="Shape 36"/>
          <p:cNvSpPr/>
          <p:nvPr/>
        </p:nvSpPr>
        <p:spPr>
          <a:xfrm>
            <a:off x="2080260" y="4178808"/>
            <a:ext cx="0" cy="91440"/>
          </a:xfrm>
          <a:prstGeom prst="line">
            <a:avLst/>
          </a:prstGeom>
          <a:noFill/>
          <a:ln w="12700">
            <a:solidFill>
              <a:srgbClr val="6E6E73"/>
            </a:solidFill>
            <a:prstDash val="solid"/>
            <a:tailEnd type="triangle"/>
          </a:ln>
        </p:spPr>
      </p:sp>
      <p:sp>
        <p:nvSpPr>
          <p:cNvPr id="41" name="Shape 37"/>
          <p:cNvSpPr/>
          <p:nvPr/>
        </p:nvSpPr>
        <p:spPr>
          <a:xfrm>
            <a:off x="3703320" y="3904488"/>
            <a:ext cx="182880" cy="0"/>
          </a:xfrm>
          <a:prstGeom prst="line">
            <a:avLst/>
          </a:prstGeom>
          <a:noFill/>
          <a:ln w="12700">
            <a:solidFill>
              <a:srgbClr val="6E6E73"/>
            </a:solidFill>
            <a:prstDash val="solid"/>
          </a:ln>
        </p:spPr>
      </p:sp>
      <p:sp>
        <p:nvSpPr>
          <p:cNvPr id="42" name="type7Desc"/>
          <p:cNvSpPr txBox="1"/>
          <p:nvPr/>
        </p:nvSpPr>
        <p:spPr>
          <a:xfrm>
            <a:off x="3977640" y="3593592"/>
            <a:ext cx="4983480" cy="621792"/>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Resolve per job status above + Soft ladder penalty.</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1st instance - coach</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2nd instance - coach + final warning</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3rd instance - suspended</a:t>
            </a:r>
            <a:endParaRPr lang="en-US" sz="750" dirty="0"/>
          </a:p>
        </p:txBody>
      </p:sp>
      <p:sp>
        <p:nvSpPr>
          <p:cNvPr id="43" name="Shape 39"/>
          <p:cNvSpPr/>
          <p:nvPr/>
        </p:nvSpPr>
        <p:spPr>
          <a:xfrm>
            <a:off x="457200" y="4270248"/>
            <a:ext cx="3246120" cy="310896"/>
          </a:xfrm>
          <a:prstGeom prst="roundRect">
            <a:avLst>
              <a:gd name="adj" fmla="val 23529"/>
            </a:avLst>
          </a:prstGeom>
          <a:solidFill>
            <a:srgbClr val="FFFFFF"/>
          </a:solidFill>
          <a:ln w="12700">
            <a:solidFill>
              <a:srgbClr val="DCE1E7"/>
            </a:solidFill>
            <a:prstDash val="solid"/>
          </a:ln>
        </p:spPr>
      </p:sp>
      <p:sp>
        <p:nvSpPr>
          <p:cNvPr id="44" name="Text 40"/>
          <p:cNvSpPr txBox="1"/>
          <p:nvPr/>
        </p:nvSpPr>
        <p:spPr>
          <a:xfrm>
            <a:off x="457200" y="4270248"/>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425696"/>
            <a:ext cx="182880" cy="0"/>
          </a:xfrm>
          <a:prstGeom prst="line">
            <a:avLst/>
          </a:prstGeom>
          <a:noFill/>
          <a:ln w="12700">
            <a:solidFill>
              <a:srgbClr val="6E6E73"/>
            </a:solidFill>
            <a:prstDash val="solid"/>
          </a:ln>
        </p:spPr>
      </p:sp>
      <p:sp>
        <p:nvSpPr>
          <p:cNvPr id="46" name="type8Desc"/>
          <p:cNvSpPr txBox="1"/>
          <p:nvPr/>
        </p:nvSpPr>
        <p:spPr>
          <a:xfrm>
            <a:off x="3977640" y="423367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Didn't Show</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claimed the job, then never communicated or never showed up.</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valid to report a no-show</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Reschedule intent vs no-show</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Handling by job status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Resolution and penalty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Certainty, not a complaint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report a no-show via the Job Admin page if at least one of these is true.</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Reported + proven</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says it, and you have sufficient proof.</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100% sure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Customer/CP messages show the CP genuinely didn't show.</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 a review</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customer's review explicitly says the CP was a no-show.</a:t>
            </a:r>
            <a:endParaRPr lang="en-US" sz="950" dirty="0"/>
          </a:p>
        </p:txBody>
      </p:sp>
      <p:sp>
        <p:nvSpPr>
          <p:cNvPr id="21" name="Shape 15"/>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127248"/>
            <a:ext cx="164592" cy="164592"/>
          </a:xfrm>
          <a:prstGeom prst="rect">
            <a:avLst/>
          </a:prstGeom>
        </p:spPr>
      </p:pic>
      <p:sp>
        <p:nvSpPr>
          <p:cNvPr id="23" name="Text 16"/>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Signals to check:  </a:t>
            </a:r>
            <a:pPr indent="0" marL="0">
              <a:buNone/>
            </a:pPr>
            <a:r>
              <a:rPr lang="en-US" sz="1000" dirty="0">
                <a:solidFill>
                  <a:srgbClr val="1D1D1F"/>
                </a:solidFill>
                <a:latin typeface="SF Pro Text" pitchFamily="34" charset="0"/>
                <a:ea typeface="SF Pro Text" pitchFamily="34" charset="-122"/>
                <a:cs typeface="SF Pro Text" pitchFamily="34" charset="-120"/>
              </a:rPr>
              <a:t>the customer asked for the CP's ETA, or the CP texted cancel/reschedule intent.</a:t>
            </a:r>
            <a:endParaRPr lang="en-US" sz="1000" dirty="0"/>
          </a:p>
        </p:txBody>
      </p:sp>
      <p:sp>
        <p:nvSpPr>
          <p:cNvPr id="24" name="Shape 17"/>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6" name="Text 18"/>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show via Admin Page:  </a:t>
            </a:r>
            <a:pPr indent="0" marL="0">
              <a:buNone/>
            </a:pPr>
            <a:r>
              <a:rPr lang="en-US" sz="1000" dirty="0">
                <a:solidFill>
                  <a:srgbClr val="1D1D1F"/>
                </a:solidFill>
                <a:latin typeface="SF Pro Text" pitchFamily="34" charset="0"/>
                <a:ea typeface="SF Pro Text" pitchFamily="34" charset="-122"/>
                <a:cs typeface="SF Pro Text" pitchFamily="34" charset="-120"/>
              </a:rPr>
              <a:t>Claimed or Pending Invoice. Already Invoiced? Follow the False Invoice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Reschedule intent or no-show?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C reports a no-show, check the C/CP messages first: when did the CP say they wanted to reschedule?</a:t>
            </a:r>
            <a:endParaRPr lang="en-US" sz="1200" dirty="0"/>
          </a:p>
        </p:txBody>
      </p:sp>
      <p:sp>
        <p:nvSpPr>
          <p:cNvPr id="6" name="Shape 3"/>
          <p:cNvSpPr/>
          <p:nvPr/>
        </p:nvSpPr>
        <p:spPr>
          <a:xfrm>
            <a:off x="411480" y="1417320"/>
            <a:ext cx="26822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Before the start time</a:t>
            </a:r>
            <a:endParaRPr lang="en-US" sz="1200" dirty="0"/>
          </a:p>
        </p:txBody>
      </p:sp>
      <p:sp>
        <p:nvSpPr>
          <p:cNvPr id="10" name="Text 6"/>
          <p:cNvSpPr txBox="1"/>
          <p:nvPr/>
        </p:nvSpPr>
        <p:spPr>
          <a:xfrm>
            <a:off x="5760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C-CRM with the CP No Show/Reschedule code. No penalty + coaching.</a:t>
            </a:r>
            <a:endParaRPr lang="en-US" sz="950" dirty="0"/>
          </a:p>
        </p:txBody>
      </p:sp>
      <p:sp>
        <p:nvSpPr>
          <p:cNvPr id="11" name="Shape 7"/>
          <p:cNvSpPr/>
          <p:nvPr/>
        </p:nvSpPr>
        <p:spPr>
          <a:xfrm>
            <a:off x="3230880" y="1417320"/>
            <a:ext cx="26822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At the start time</a:t>
            </a:r>
            <a:endParaRPr lang="en-US" sz="1200" dirty="0"/>
          </a:p>
        </p:txBody>
      </p:sp>
      <p:sp>
        <p:nvSpPr>
          <p:cNvPr id="15" name="Text 10"/>
          <p:cNvSpPr txBox="1"/>
          <p:nvPr/>
        </p:nvSpPr>
        <p:spPr>
          <a:xfrm>
            <a:off x="33954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Assess whether a penalty fits, based on the reason for rescheduling.</a:t>
            </a:r>
            <a:endParaRPr lang="en-US" sz="950" dirty="0"/>
          </a:p>
        </p:txBody>
      </p:sp>
      <p:sp>
        <p:nvSpPr>
          <p:cNvPr id="16" name="Shape 11"/>
          <p:cNvSpPr/>
          <p:nvPr/>
        </p:nvSpPr>
        <p:spPr>
          <a:xfrm>
            <a:off x="6050280" y="1417320"/>
            <a:ext cx="2682240" cy="1874520"/>
          </a:xfrm>
          <a:prstGeom prst="roundRect">
            <a:avLst>
              <a:gd name="adj" fmla="val 3902"/>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After the start time</a:t>
            </a:r>
            <a:endParaRPr lang="en-US" sz="1200" dirty="0"/>
          </a:p>
        </p:txBody>
      </p:sp>
      <p:sp>
        <p:nvSpPr>
          <p:cNvPr id="20" name="Text 14"/>
          <p:cNvSpPr txBox="1"/>
          <p:nvPr/>
        </p:nvSpPr>
        <p:spPr>
          <a:xfrm>
            <a:off x="62148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Report as a no-show via Job Admin. Penalty + coaching.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by job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NO SHOW</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850" dirty="0">
                <a:solidFill>
                  <a:srgbClr val="1D1D1F"/>
                </a:solidFill>
                <a:latin typeface="SF Pro Text" pitchFamily="34" charset="0"/>
                <a:ea typeface="SF Pro Text" pitchFamily="34" charset="-122"/>
                <a:cs typeface="SF Pro Text" pitchFamily="34" charset="-120"/>
              </a:rPr>
              <a:t>Penalize CP? Report the CP as a no-show: Job Admin Page › No Show.</a:t>
            </a:r>
            <a:endParaRPr lang="en-US" sz="850" dirty="0"/>
          </a:p>
          <a:p>
            <a:pPr algn="ctr" indent="0" marL="0">
              <a:buNone/>
            </a:pPr>
            <a:r>
              <a:rPr lang="en-US" sz="850" dirty="0">
                <a:solidFill>
                  <a:srgbClr val="1D1D1F"/>
                </a:solidFill>
                <a:latin typeface="SF Pro Text" pitchFamily="34" charset="0"/>
                <a:ea typeface="SF Pro Text" pitchFamily="34" charset="-122"/>
                <a:cs typeface="SF Pro Text" pitchFamily="34" charset="-120"/>
              </a:rPr>
              <a:t>No penalty? Cancel the job from C-CRM with the CP No Show/Reschedule code.</a:t>
            </a:r>
            <a:endParaRPr lang="en-US" sz="8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to book a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Resolution for CP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Credits and free months. The same table applies to cleaner cancellations.</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828800"/>
                <a:gridCol w="2377440"/>
                <a:gridCol w="4114800"/>
              </a:tblGrid>
              <a:tr h="384048">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Situation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Free month(s)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Non-FC member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no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(free/discounted cleaning already available)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with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Unused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FC hasn't started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FC started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Late (all cases above)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$10–25, for all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never more than asked for, max 3. Otherwise FCF: 1 if next MF within 2 weeks; DHJ: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9" name="Text 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for unused MFs:  </a:t>
            </a:r>
            <a:pPr indent="0" marL="0">
              <a:buNone/>
            </a:pPr>
            <a:r>
              <a:rPr lang="en-US" sz="1000" dirty="0">
                <a:solidFill>
                  <a:srgbClr val="1D1D1F"/>
                </a:solidFill>
                <a:latin typeface="SF Pro Text" pitchFamily="34" charset="0"/>
                <a:ea typeface="SF Pro Text" pitchFamily="34" charset="-122"/>
                <a:cs typeface="SF Pro Text" pitchFamily="34" charset="-120"/>
              </a:rPr>
              <a:t>expected only when C names them as a pain point. Otherwise optional.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Changing CP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Reporting the no-show (Job Admin › No Show) is what triggers the penalty.</a:t>
            </a:r>
            <a:endParaRPr lang="en-US" sz="1200" dirty="0"/>
          </a:p>
        </p:txBody>
      </p:sp>
      <p:sp>
        <p:nvSpPr>
          <p:cNvPr id="6" name="Shape 3"/>
          <p:cNvSpPr/>
          <p:nvPr/>
        </p:nvSpPr>
        <p:spPr>
          <a:xfrm>
            <a:off x="411480" y="1280160"/>
            <a:ext cx="40919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penalized the CP</a:t>
            </a:r>
            <a:endParaRPr lang="en-US" sz="1200" dirty="0"/>
          </a:p>
        </p:txBody>
      </p:sp>
      <p:sp>
        <p:nvSpPr>
          <p:cNvPr id="10" name="Text 6"/>
          <p:cNvSpPr txBox="1"/>
          <p:nvPr/>
        </p:nvSpPr>
        <p:spPr>
          <a:xfrm>
            <a:off x="5760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the CP, explain the penalty and how to appeal.</a:t>
            </a:r>
            <a:endParaRPr lang="en-US" sz="950" dirty="0"/>
          </a:p>
        </p:txBody>
      </p:sp>
      <p:sp>
        <p:nvSpPr>
          <p:cNvPr id="11" name="Shape 7"/>
          <p:cNvSpPr/>
          <p:nvPr/>
        </p:nvSpPr>
        <p:spPr>
          <a:xfrm>
            <a:off x="4640580" y="1280160"/>
            <a:ext cx="409194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didn't</a:t>
            </a:r>
            <a:endParaRPr lang="en-US" sz="1200" dirty="0"/>
          </a:p>
        </p:txBody>
      </p:sp>
      <p:sp>
        <p:nvSpPr>
          <p:cNvPr id="15" name="Text 10"/>
          <p:cNvSpPr txBox="1"/>
          <p:nvPr/>
        </p:nvSpPr>
        <p:spPr>
          <a:xfrm>
            <a:off x="48051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Lean towards coaching. norequests only if they already have a couple of no-shows or cancellations.</a:t>
            </a:r>
            <a:endParaRPr lang="en-US" sz="950" dirty="0"/>
          </a:p>
        </p:txBody>
      </p:sp>
      <p:sp>
        <p:nvSpPr>
          <p:cNvPr id="16" name="Shape 11"/>
          <p:cNvSpPr/>
          <p:nvPr/>
        </p:nvSpPr>
        <p:spPr>
          <a:xfrm>
            <a:off x="411480" y="2880360"/>
            <a:ext cx="8321040" cy="566928"/>
          </a:xfrm>
          <a:prstGeom prst="roundRect">
            <a:avLst>
              <a:gd name="adj" fmla="val 12903"/>
            </a:avLst>
          </a:prstGeom>
          <a:solidFill>
            <a:srgbClr val="FFFFFF"/>
          </a:solidFill>
          <a:ln w="9525">
            <a:solidFill>
              <a:srgbClr val="DCE1E7"/>
            </a:solidFill>
            <a:prstDash val="solid"/>
          </a:ln>
        </p:spPr>
      </p:sp>
      <p:sp>
        <p:nvSpPr>
          <p:cNvPr id="17" name="Text 12"/>
          <p:cNvSpPr txBox="1"/>
          <p:nvPr/>
        </p:nvSpPr>
        <p:spPr>
          <a:xfrm>
            <a:off x="594360" y="288036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9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for a no-show.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the CP didn't show. Messages show the CP asked to move it to tomorrow, 2 hours before the start. Report a no-show?</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Reschedule intent before the start time: cancel via C-CRM with the CP No Show/Reschedule code. No penalty, coach the CP.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never came, but the job is already Invoiced.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You can't report a no-show here. Follow the False Invoice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Claimed and you're sure the CP didn't show. First step?</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Job Admin Page › No Show. Then follow the status it resolves to: Submitted or Cancelled.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system didn't penalize the CP. It's their first no-show. Set norequests?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Lean towards coaching. norequests only if they already have a couple of no-shows or cancellations. Never suspend or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 certain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Proof, messages or a review. Not just an assumption.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Reschedule intent matters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Before the start: cancel via C-CRM, no penalty. After: report the no-show.</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steps</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Claimed/Pending Invoice or Cancelled. Credits per the table.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cancelled a claimed job, from their dashboard or by texting the customer.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system treats a cancellation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to the job</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handling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can reschedule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every cancellation counts the same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How the CP cancelled decides whether their Keep Rate is affected.</a:t>
            </a:r>
            <a:endParaRPr lang="en-US" sz="1200" dirty="0"/>
          </a:p>
        </p:txBody>
      </p:sp>
      <p:sp>
        <p:nvSpPr>
          <p:cNvPr id="6" name="Shape 3"/>
          <p:cNvSpPr/>
          <p:nvPr/>
        </p:nvSpPr>
        <p:spPr>
          <a:xfrm>
            <a:off x="411480" y="128016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Dashboard</a:t>
            </a:r>
            <a:endParaRPr lang="en-US" sz="1200" dirty="0"/>
          </a:p>
        </p:txBody>
      </p:sp>
      <p:sp>
        <p:nvSpPr>
          <p:cNvPr id="10" name="Text 6"/>
          <p:cNvSpPr txBox="1"/>
          <p:nvPr/>
        </p:nvSpPr>
        <p:spPr>
          <a:xfrm>
            <a:off x="5760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Counts toward Keep Rate, within 7 days (1st match) or 2 days (repeat match).</a:t>
            </a:r>
            <a:endParaRPr lang="en-US" sz="950" dirty="0"/>
          </a:p>
        </p:txBody>
      </p:sp>
      <p:sp>
        <p:nvSpPr>
          <p:cNvPr id="11" name="Shape 7"/>
          <p:cNvSpPr/>
          <p:nvPr/>
        </p:nvSpPr>
        <p:spPr>
          <a:xfrm>
            <a:off x="3230880" y="128016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App Report Issue</a:t>
            </a:r>
            <a:endParaRPr lang="en-US" sz="1200" dirty="0"/>
          </a:p>
        </p:txBody>
      </p:sp>
      <p:sp>
        <p:nvSpPr>
          <p:cNvPr id="15" name="Text 10"/>
          <p:cNvSpPr txBox="1"/>
          <p:nvPr/>
        </p:nvSpPr>
        <p:spPr>
          <a:xfrm>
            <a:off x="33954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Emergency, safety concern or "client wants to cancel": no Keep Rate impact.</a:t>
            </a:r>
            <a:endParaRPr lang="en-US" sz="950" dirty="0"/>
          </a:p>
        </p:txBody>
      </p:sp>
      <p:sp>
        <p:nvSpPr>
          <p:cNvPr id="16" name="Shape 11"/>
          <p:cNvSpPr/>
          <p:nvPr/>
        </p:nvSpPr>
        <p:spPr>
          <a:xfrm>
            <a:off x="6050280" y="128016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 via CRM</a:t>
            </a:r>
            <a:endParaRPr lang="en-US" sz="1200" dirty="0"/>
          </a:p>
        </p:txBody>
      </p:sp>
      <p:sp>
        <p:nvSpPr>
          <p:cNvPr id="20" name="Text 14"/>
          <p:cNvSpPr txBox="1"/>
          <p:nvPr/>
        </p:nvSpPr>
        <p:spPr>
          <a:xfrm>
            <a:off x="62148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cancel on the CP's behalf: never penalizes the CP.</a:t>
            </a:r>
            <a:endParaRPr lang="en-US" sz="950" dirty="0"/>
          </a:p>
        </p:txBody>
      </p:sp>
      <p:sp>
        <p:nvSpPr>
          <p:cNvPr id="21" name="Shape 15"/>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64408"/>
            <a:ext cx="164592" cy="164592"/>
          </a:xfrm>
          <a:prstGeom prst="rect">
            <a:avLst/>
          </a:prstGeom>
        </p:spPr>
      </p:pic>
      <p:sp>
        <p:nvSpPr>
          <p:cNvPr id="23" name="Text 16"/>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manual report needed: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logs the cancellation, so the Keep Rate impact lands either way.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to the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depends on timing and alternate start times.</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5120640"/>
                <a:gridCol w="3200400"/>
              </a:tblGrid>
              <a:tr h="50292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Resulting 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already passed, no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still in the future, time to match a new CP</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has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Rescheduled to one of them: 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9" name="Text 4"/>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rules:  </a:t>
            </a:r>
            <a:pPr indent="0" marL="0">
              <a:buNone/>
            </a:pPr>
            <a:r>
              <a:rPr lang="en-US" sz="1000" dirty="0">
                <a:solidFill>
                  <a:srgbClr val="1D1D1F"/>
                </a:solidFill>
                <a:latin typeface="SF Pro Text" pitchFamily="34" charset="0"/>
                <a:ea typeface="SF Pro Text" pitchFamily="34" charset="-122"/>
                <a:cs typeface="SF Pro Text" pitchFamily="34" charset="-120"/>
              </a:rPr>
              <a:t>when the CP cancels via CP App Report Issue ("emergency" or "client wants to cancel").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CANCELLATION</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Cancel via the CP Dashboard or rematch the CP.</a:t>
            </a:r>
            <a:endParaRPr lang="en-US" sz="9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the customer can reschedule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Keep Rate is impacted either way: the job history is logged.</a:t>
            </a:r>
            <a:endParaRPr lang="en-US" sz="1200" dirty="0"/>
          </a:p>
        </p:txBody>
      </p:sp>
      <p:sp>
        <p:nvSpPr>
          <p:cNvPr id="6" name="Text 3"/>
          <p:cNvSpPr txBox="1"/>
          <p:nvPr/>
        </p:nvSpPr>
        <p:spPr>
          <a:xfrm>
            <a:off x="438912" y="132588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CAN RESCHEDULE</a:t>
            </a:r>
            <a:endParaRPr lang="en-US" sz="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572768"/>
          <a:ext cx="8321040" cy="914400"/>
        </p:xfrm>
        <a:graphic>
          <a:graphicData uri="http://schemas.openxmlformats.org/drawingml/2006/table">
            <a:tbl>
              <a:tblPr/>
              <a:tblGrid>
                <a:gridCol w="2377440"/>
                <a:gridCol w="1709928"/>
              </a:tblGrid>
              <a:tr h="41148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Customer action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Reschedules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Doesn't reschedule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4640580" y="1325880"/>
            <a:ext cx="4091940" cy="1600200"/>
          </a:xfrm>
          <a:prstGeom prst="roundRect">
            <a:avLst>
              <a:gd name="adj" fmla="val 4571"/>
            </a:avLst>
          </a:prstGeom>
          <a:solidFill>
            <a:srgbClr val="FFFFFF"/>
          </a:solidFill>
          <a:ln w="9525">
            <a:solidFill>
              <a:srgbClr val="DCE1E7"/>
            </a:solidFill>
            <a:prstDash val="solid"/>
          </a:ln>
        </p:spPr>
      </p:sp>
      <p:sp>
        <p:nvSpPr>
          <p:cNvPr id="9" name="Shape 5"/>
          <p:cNvSpPr/>
          <p:nvPr/>
        </p:nvSpPr>
        <p:spPr>
          <a:xfrm>
            <a:off x="4805172" y="14904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4884176" y="1569476"/>
            <a:ext cx="171176" cy="171176"/>
          </a:xfrm>
          <a:prstGeom prst="rect">
            <a:avLst/>
          </a:prstGeom>
        </p:spPr>
      </p:pic>
      <p:sp>
        <p:nvSpPr>
          <p:cNvPr id="11" name="Text 6"/>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option to reschedule</a:t>
            </a:r>
            <a:endParaRPr lang="en-US" sz="1200" dirty="0"/>
          </a:p>
        </p:txBody>
      </p:sp>
      <p:sp>
        <p:nvSpPr>
          <p:cNvPr id="12" name="Text 7"/>
          <p:cNvSpPr txBox="1"/>
          <p:nvPr/>
        </p:nvSpPr>
        <p:spPr>
          <a:xfrm>
            <a:off x="4805172" y="222199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Alternate times already added? It may auto-reschedule to the latest one. None? The job is Cancelled.</a:t>
            </a:r>
            <a:endParaRPr lang="en-US" sz="950" dirty="0"/>
          </a:p>
        </p:txBody>
      </p:sp>
      <p:sp>
        <p:nvSpPr>
          <p:cNvPr id="13" name="Shape 8"/>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14" name="Image 1" descr="preencoded.png">    </p:cNvPr>
          <p:cNvPicPr>
            <a:picLocks noChangeAspect="1"/>
          </p:cNvPicPr>
          <p:nvPr/>
        </p:nvPicPr>
        <p:blipFill>
          <a:blip r:embed="rId2"/>
          <a:stretch>
            <a:fillRect/>
          </a:stretch>
        </p:blipFill>
        <p:spPr>
          <a:xfrm>
            <a:off x="566928" y="3264408"/>
            <a:ext cx="164592" cy="164592"/>
          </a:xfrm>
          <a:prstGeom prst="rect">
            <a:avLst/>
          </a:prstGeom>
        </p:spPr>
      </p:pic>
      <p:sp>
        <p:nvSpPr>
          <p:cNvPr id="15" name="Text 9"/>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a:t>
            </a:r>
            <a:pPr indent="0" marL="0">
              <a:buNone/>
            </a:pPr>
            <a:r>
              <a:rPr lang="en-US" sz="1000" dirty="0">
                <a:solidFill>
                  <a:srgbClr val="1D1D1F"/>
                </a:solidFill>
                <a:latin typeface="SF Pro Text" pitchFamily="34" charset="0"/>
                <a:ea typeface="SF Pro Text" pitchFamily="34" charset="-122"/>
                <a:cs typeface="SF Pro Text" pitchFamily="34" charset="-120"/>
              </a:rPr>
              <a:t>not mandatory. Hold off unless there's cancellation intent or C raises unused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cancelled from the CP App with "My client wants to cancel." Is their Keep Rate affected?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Emergency, safety concern or "client wants to cancel" via the CP App doesn't count.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You cancel the job in the CRM on the CP's behalf. Is the CP penalized?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Cancelling via CRM never penalizes the CP.</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cancels; the start time is still days away. What happens, and what's your first move?</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job goes back to Submitted. Try to rematch first so the customer still gets their cleaning.</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auto-rescheduled to an alternate time the customer didn't pick.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 Priority Booking. Block the pairing, and check the table for credits.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they cancelled matters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Dashboard counts. CP App emergency or client-cancel doesn't. CRM never does.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Then Priority Booking if the outcome isn't what the customer wanted.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before you pause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System penalty? Leave it.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Reschedule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rescheduled the appointment without the customer's consent.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checks before you act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Still assigned: the start-time table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No longer assigned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Penalty and reason code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guide</a:t>
            </a:r>
            <a:endParaRPr lang="en-US" sz="2400" dirty="0"/>
          </a:p>
        </p:txBody>
      </p:sp>
      <p:sp>
        <p:nvSpPr>
          <p:cNvPr id="5" name="Shape 2"/>
          <p:cNvSpPr/>
          <p:nvPr/>
        </p:nvSpPr>
        <p:spPr>
          <a:xfrm>
            <a:off x="2377440" y="1005840"/>
            <a:ext cx="2560320" cy="310896"/>
          </a:xfrm>
          <a:prstGeom prst="roundRect">
            <a:avLst>
              <a:gd name="adj" fmla="val 23529"/>
            </a:avLst>
          </a:prstGeom>
          <a:solidFill>
            <a:srgbClr val="1D1D1F"/>
          </a:solidFill>
          <a:ln w="12700">
            <a:solidFill>
              <a:srgbClr val="1D1D1F"/>
            </a:solidFill>
            <a:prstDash val="solid"/>
          </a:ln>
        </p:spPr>
      </p:sp>
      <p:sp>
        <p:nvSpPr>
          <p:cNvPr id="6" name="Text 3"/>
          <p:cNvSpPr txBox="1"/>
          <p:nvPr/>
        </p:nvSpPr>
        <p:spPr>
          <a:xfrm>
            <a:off x="2377440" y="1005840"/>
            <a:ext cx="25603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UNAUTHORIZED RESCHEDULE</a:t>
            </a:r>
            <a:endParaRPr lang="en-US" sz="1000" dirty="0"/>
          </a:p>
        </p:txBody>
      </p:sp>
      <p:sp>
        <p:nvSpPr>
          <p:cNvPr id="7" name="Shape 4"/>
          <p:cNvSpPr/>
          <p:nvPr/>
        </p:nvSpPr>
        <p:spPr>
          <a:xfrm>
            <a:off x="3657600" y="1316736"/>
            <a:ext cx="0" cy="146304"/>
          </a:xfrm>
          <a:prstGeom prst="line">
            <a:avLst/>
          </a:prstGeom>
          <a:noFill/>
          <a:ln w="12700">
            <a:solidFill>
              <a:srgbClr val="6E6E73"/>
            </a:solidFill>
            <a:prstDash val="solid"/>
            <a:tailEnd type="triangle"/>
          </a:ln>
        </p:spPr>
      </p:sp>
      <p:sp>
        <p:nvSpPr>
          <p:cNvPr id="8" name="Shape 5"/>
          <p:cNvSpPr/>
          <p:nvPr/>
        </p:nvSpPr>
        <p:spPr>
          <a:xfrm>
            <a:off x="2057400" y="1463040"/>
            <a:ext cx="3200400" cy="457200"/>
          </a:xfrm>
          <a:prstGeom prst="roundRect">
            <a:avLst>
              <a:gd name="adj" fmla="val 16000"/>
            </a:avLst>
          </a:prstGeom>
          <a:solidFill>
            <a:srgbClr val="FFF3D6"/>
          </a:solidFill>
          <a:ln w="12700">
            <a:solidFill>
              <a:srgbClr val="9A6410"/>
            </a:solidFill>
            <a:prstDash val="solid"/>
          </a:ln>
        </p:spPr>
      </p:sp>
      <p:sp>
        <p:nvSpPr>
          <p:cNvPr id="9" name="Text 6"/>
          <p:cNvSpPr txBox="1"/>
          <p:nvPr/>
        </p:nvSpPr>
        <p:spPr>
          <a:xfrm>
            <a:off x="2057400" y="1463040"/>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Is the job still assigned to the CP</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who rescheduled it?</a:t>
            </a:r>
            <a:endParaRPr lang="en-US" sz="1000" dirty="0"/>
          </a:p>
        </p:txBody>
      </p:sp>
      <p:sp>
        <p:nvSpPr>
          <p:cNvPr id="10" name="Shape 7"/>
          <p:cNvSpPr/>
          <p:nvPr/>
        </p:nvSpPr>
        <p:spPr>
          <a:xfrm>
            <a:off x="5257800" y="1691640"/>
            <a:ext cx="640080" cy="0"/>
          </a:xfrm>
          <a:prstGeom prst="line">
            <a:avLst/>
          </a:prstGeom>
          <a:noFill/>
          <a:ln w="12700">
            <a:solidFill>
              <a:srgbClr val="6E6E73"/>
            </a:solidFill>
            <a:prstDash val="solid"/>
            <a:tailEnd type="triangle"/>
          </a:ln>
        </p:spPr>
      </p:sp>
      <p:sp>
        <p:nvSpPr>
          <p:cNvPr id="11" name="Text 8"/>
          <p:cNvSpPr txBox="1"/>
          <p:nvPr/>
        </p:nvSpPr>
        <p:spPr>
          <a:xfrm>
            <a:off x="5349240" y="1481328"/>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2" name="Shape 9"/>
          <p:cNvSpPr/>
          <p:nvPr/>
        </p:nvSpPr>
        <p:spPr>
          <a:xfrm>
            <a:off x="5897880" y="1051560"/>
            <a:ext cx="2834640" cy="1280160"/>
          </a:xfrm>
          <a:prstGeom prst="roundRect">
            <a:avLst>
              <a:gd name="adj" fmla="val 5714"/>
            </a:avLst>
          </a:prstGeom>
          <a:solidFill>
            <a:srgbClr val="FFFFFF"/>
          </a:solidFill>
          <a:ln w="9525">
            <a:solidFill>
              <a:srgbClr val="DCE1E7"/>
            </a:solidFill>
            <a:prstDash val="solid"/>
          </a:ln>
        </p:spPr>
      </p:sp>
      <p:sp>
        <p:nvSpPr>
          <p:cNvPr id="13" name="Text 10"/>
          <p:cNvSpPr txBox="1"/>
          <p:nvPr/>
        </p:nvSpPr>
        <p:spPr>
          <a:xfrm>
            <a:off x="5989320" y="1051560"/>
            <a:ext cx="2697480" cy="128016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Update CP Step if warranted</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Coach and ban the CP</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Offer the C a Priority Booking and address any other pain points</a:t>
            </a:r>
            <a:endParaRPr lang="en-US" sz="900" dirty="0"/>
          </a:p>
        </p:txBody>
      </p:sp>
      <p:sp>
        <p:nvSpPr>
          <p:cNvPr id="14" name="Shape 11"/>
          <p:cNvSpPr/>
          <p:nvPr/>
        </p:nvSpPr>
        <p:spPr>
          <a:xfrm>
            <a:off x="3657600" y="1920240"/>
            <a:ext cx="0" cy="182880"/>
          </a:xfrm>
          <a:prstGeom prst="line">
            <a:avLst/>
          </a:prstGeom>
          <a:noFill/>
          <a:ln w="12700">
            <a:solidFill>
              <a:srgbClr val="6E6E73"/>
            </a:solidFill>
            <a:prstDash val="solid"/>
            <a:tailEnd type="triangle"/>
          </a:ln>
        </p:spPr>
      </p:sp>
      <p:sp>
        <p:nvSpPr>
          <p:cNvPr id="15" name="Text 12"/>
          <p:cNvSpPr txBox="1"/>
          <p:nvPr/>
        </p:nvSpPr>
        <p:spPr>
          <a:xfrm>
            <a:off x="3730752" y="1901952"/>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Shape 13"/>
          <p:cNvSpPr/>
          <p:nvPr/>
        </p:nvSpPr>
        <p:spPr>
          <a:xfrm>
            <a:off x="1737360" y="2103120"/>
            <a:ext cx="3840480" cy="502920"/>
          </a:xfrm>
          <a:prstGeom prst="roundRect">
            <a:avLst>
              <a:gd name="adj" fmla="val 14545"/>
            </a:avLst>
          </a:prstGeom>
          <a:solidFill>
            <a:srgbClr val="E3F4F1"/>
          </a:solidFill>
          <a:ln w="9525">
            <a:solidFill>
              <a:srgbClr val="0B7A6F"/>
            </a:solidFill>
            <a:prstDash val="solid"/>
          </a:ln>
        </p:spPr>
      </p:sp>
      <p:sp>
        <p:nvSpPr>
          <p:cNvPr id="17" name="Text 14"/>
          <p:cNvSpPr txBox="1"/>
          <p:nvPr/>
        </p:nvSpPr>
        <p:spPr>
          <a:xfrm>
            <a:off x="1828800" y="2103120"/>
            <a:ext cx="3657600" cy="50292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Add the </a:t>
            </a:r>
            <a:pPr algn="ctr" indent="0" marL="0">
              <a:buNone/>
            </a:pPr>
            <a:r>
              <a:rPr lang="en-US" sz="900" i="1" dirty="0">
                <a:solidFill>
                  <a:srgbClr val="1D1D1F"/>
                </a:solidFill>
                <a:latin typeface="SF Pro Text" pitchFamily="34" charset="0"/>
                <a:ea typeface="SF Pro Text" pitchFamily="34" charset="-122"/>
                <a:cs typeface="SF Pro Text" pitchFamily="34" charset="-120"/>
              </a:rPr>
              <a:t>cp_unauthorized_reschedule</a:t>
            </a:r>
            <a:pPr algn="ctr" indent="0" marL="0">
              <a:buNone/>
            </a:pPr>
            <a:r>
              <a:rPr lang="en-US" sz="900" dirty="0">
                <a:solidFill>
                  <a:srgbClr val="1D1D1F"/>
                </a:solidFill>
                <a:latin typeface="SF Pro Text" pitchFamily="34" charset="0"/>
                <a:ea typeface="SF Pro Text" pitchFamily="34" charset="-122"/>
                <a:cs typeface="SF Pro Text" pitchFamily="34" charset="-120"/>
              </a:rPr>
              <a:t> flag, update their CP Step if warranted, coach and ban the CP.</a:t>
            </a:r>
            <a:endParaRPr lang="en-US" sz="900" dirty="0"/>
          </a:p>
        </p:txBody>
      </p:sp>
      <p:sp>
        <p:nvSpPr>
          <p:cNvPr id="18" name="Shape 15"/>
          <p:cNvSpPr/>
          <p:nvPr/>
        </p:nvSpPr>
        <p:spPr>
          <a:xfrm>
            <a:off x="3657600" y="2606040"/>
            <a:ext cx="0" cy="137160"/>
          </a:xfrm>
          <a:prstGeom prst="line">
            <a:avLst/>
          </a:prstGeom>
          <a:noFill/>
          <a:ln w="12700">
            <a:solidFill>
              <a:srgbClr val="6E6E73"/>
            </a:solidFill>
            <a:prstDash val="solid"/>
          </a:ln>
        </p:spPr>
      </p:sp>
      <p:sp>
        <p:nvSpPr>
          <p:cNvPr id="19" name="Shape 16"/>
          <p:cNvSpPr/>
          <p:nvPr/>
        </p:nvSpPr>
        <p:spPr>
          <a:xfrm>
            <a:off x="1394460" y="2743200"/>
            <a:ext cx="6309360" cy="0"/>
          </a:xfrm>
          <a:prstGeom prst="line">
            <a:avLst/>
          </a:prstGeom>
          <a:noFill/>
          <a:ln w="12700">
            <a:solidFill>
              <a:srgbClr val="6E6E73"/>
            </a:solidFill>
            <a:prstDash val="solid"/>
          </a:ln>
        </p:spPr>
      </p:sp>
      <p:sp>
        <p:nvSpPr>
          <p:cNvPr id="20" name="Shape 17"/>
          <p:cNvSpPr/>
          <p:nvPr/>
        </p:nvSpPr>
        <p:spPr>
          <a:xfrm>
            <a:off x="1394460" y="2743200"/>
            <a:ext cx="0" cy="137160"/>
          </a:xfrm>
          <a:prstGeom prst="line">
            <a:avLst/>
          </a:prstGeom>
          <a:noFill/>
          <a:ln w="12700">
            <a:solidFill>
              <a:srgbClr val="6E6E73"/>
            </a:solidFill>
            <a:prstDash val="solid"/>
            <a:tailEnd type="triangle"/>
          </a:ln>
        </p:spPr>
      </p:sp>
      <p:sp>
        <p:nvSpPr>
          <p:cNvPr id="21" name="Shape 18"/>
          <p:cNvSpPr/>
          <p:nvPr/>
        </p:nvSpPr>
        <p:spPr>
          <a:xfrm>
            <a:off x="411480" y="2880360"/>
            <a:ext cx="1965960" cy="457200"/>
          </a:xfrm>
          <a:prstGeom prst="roundRect">
            <a:avLst>
              <a:gd name="adj" fmla="val 16000"/>
            </a:avLst>
          </a:prstGeom>
          <a:solidFill>
            <a:srgbClr val="0B7A6F"/>
          </a:solidFill>
          <a:ln w="12700">
            <a:solidFill>
              <a:srgbClr val="0B7A6F"/>
            </a:solidFill>
            <a:prstDash val="solid"/>
          </a:ln>
        </p:spPr>
      </p:sp>
      <p:sp>
        <p:nvSpPr>
          <p:cNvPr id="22" name="Text 19"/>
          <p:cNvSpPr txBox="1"/>
          <p:nvPr/>
        </p:nvSpPr>
        <p:spPr>
          <a:xfrm>
            <a:off x="41148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&gt;48 hours away</a:t>
            </a:r>
            <a:endParaRPr lang="en-US" sz="1000" dirty="0"/>
          </a:p>
        </p:txBody>
      </p:sp>
      <p:sp>
        <p:nvSpPr>
          <p:cNvPr id="23" name="Shape 20"/>
          <p:cNvSpPr/>
          <p:nvPr/>
        </p:nvSpPr>
        <p:spPr>
          <a:xfrm>
            <a:off x="411480" y="3337560"/>
            <a:ext cx="1965960" cy="1097280"/>
          </a:xfrm>
          <a:prstGeom prst="roundRect">
            <a:avLst>
              <a:gd name="adj" fmla="val 6667"/>
            </a:avLst>
          </a:prstGeom>
          <a:solidFill>
            <a:srgbClr val="E3F4F1"/>
          </a:solidFill>
          <a:ln w="9525">
            <a:solidFill>
              <a:srgbClr val="0B7A6F"/>
            </a:solidFill>
            <a:prstDash val="solid"/>
          </a:ln>
        </p:spPr>
      </p:sp>
      <p:sp>
        <p:nvSpPr>
          <p:cNvPr id="24" name="Text 21"/>
          <p:cNvSpPr txBox="1"/>
          <p:nvPr/>
        </p:nvSpPr>
        <p:spPr>
          <a:xfrm>
            <a:off x="48463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Reschedule back to the original job start time.</a:t>
            </a:r>
            <a:endParaRPr lang="en-US" sz="900" dirty="0"/>
          </a:p>
        </p:txBody>
      </p:sp>
      <p:sp>
        <p:nvSpPr>
          <p:cNvPr id="25" name="Shape 22"/>
          <p:cNvSpPr/>
          <p:nvPr/>
        </p:nvSpPr>
        <p:spPr>
          <a:xfrm>
            <a:off x="3497580" y="2743200"/>
            <a:ext cx="0" cy="137160"/>
          </a:xfrm>
          <a:prstGeom prst="line">
            <a:avLst/>
          </a:prstGeom>
          <a:noFill/>
          <a:ln w="12700">
            <a:solidFill>
              <a:srgbClr val="6E6E73"/>
            </a:solidFill>
            <a:prstDash val="solid"/>
            <a:tailEnd type="triangle"/>
          </a:ln>
        </p:spPr>
      </p:sp>
      <p:sp>
        <p:nvSpPr>
          <p:cNvPr id="26" name="Shape 23"/>
          <p:cNvSpPr/>
          <p:nvPr/>
        </p:nvSpPr>
        <p:spPr>
          <a:xfrm>
            <a:off x="2514600" y="2880360"/>
            <a:ext cx="1965960" cy="457200"/>
          </a:xfrm>
          <a:prstGeom prst="roundRect">
            <a:avLst>
              <a:gd name="adj" fmla="val 16000"/>
            </a:avLst>
          </a:prstGeom>
          <a:solidFill>
            <a:srgbClr val="0B7A6F"/>
          </a:solidFill>
          <a:ln w="12700">
            <a:solidFill>
              <a:srgbClr val="0B7A6F"/>
            </a:solidFill>
            <a:prstDash val="solid"/>
          </a:ln>
        </p:spPr>
      </p:sp>
      <p:sp>
        <p:nvSpPr>
          <p:cNvPr id="27" name="Text 24"/>
          <p:cNvSpPr txBox="1"/>
          <p:nvPr/>
        </p:nvSpPr>
        <p:spPr>
          <a:xfrm>
            <a:off x="251460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≤48 hours away</a:t>
            </a:r>
            <a:endParaRPr lang="en-US" sz="1000" dirty="0"/>
          </a:p>
        </p:txBody>
      </p:sp>
      <p:sp>
        <p:nvSpPr>
          <p:cNvPr id="28" name="Shape 25"/>
          <p:cNvSpPr/>
          <p:nvPr/>
        </p:nvSpPr>
        <p:spPr>
          <a:xfrm>
            <a:off x="2514600" y="3337560"/>
            <a:ext cx="1965960" cy="1097280"/>
          </a:xfrm>
          <a:prstGeom prst="roundRect">
            <a:avLst>
              <a:gd name="adj" fmla="val 6667"/>
            </a:avLst>
          </a:prstGeom>
          <a:solidFill>
            <a:srgbClr val="E3F4F1"/>
          </a:solidFill>
          <a:ln w="9525">
            <a:solidFill>
              <a:srgbClr val="0B7A6F"/>
            </a:solidFill>
            <a:prstDash val="solid"/>
          </a:ln>
        </p:spPr>
      </p:sp>
      <p:sp>
        <p:nvSpPr>
          <p:cNvPr id="29" name="Text 26"/>
          <p:cNvSpPr txBox="1"/>
          <p:nvPr/>
        </p:nvSpPr>
        <p:spPr>
          <a:xfrm>
            <a:off x="258775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Cancel and rebook the job via the C CRM, or reschedule via the C Dashboard if no priority fee will apply.</a:t>
            </a:r>
            <a:endParaRPr lang="en-US" sz="900" dirty="0"/>
          </a:p>
        </p:txBody>
      </p:sp>
      <p:sp>
        <p:nvSpPr>
          <p:cNvPr id="30" name="Shape 27"/>
          <p:cNvSpPr/>
          <p:nvPr/>
        </p:nvSpPr>
        <p:spPr>
          <a:xfrm>
            <a:off x="5600700" y="2743200"/>
            <a:ext cx="0" cy="137160"/>
          </a:xfrm>
          <a:prstGeom prst="line">
            <a:avLst/>
          </a:prstGeom>
          <a:noFill/>
          <a:ln w="12700">
            <a:solidFill>
              <a:srgbClr val="6E6E73"/>
            </a:solidFill>
            <a:prstDash val="solid"/>
            <a:tailEnd type="triangle"/>
          </a:ln>
        </p:spPr>
      </p:sp>
      <p:sp>
        <p:nvSpPr>
          <p:cNvPr id="31" name="Shape 28"/>
          <p:cNvSpPr/>
          <p:nvPr/>
        </p:nvSpPr>
        <p:spPr>
          <a:xfrm>
            <a:off x="4617720" y="2880360"/>
            <a:ext cx="1965960" cy="457200"/>
          </a:xfrm>
          <a:prstGeom prst="roundRect">
            <a:avLst>
              <a:gd name="adj" fmla="val 16000"/>
            </a:avLst>
          </a:prstGeom>
          <a:solidFill>
            <a:srgbClr val="0B7A6F"/>
          </a:solidFill>
          <a:ln w="12700">
            <a:solidFill>
              <a:srgbClr val="0B7A6F"/>
            </a:solidFill>
            <a:prstDash val="solid"/>
          </a:ln>
        </p:spPr>
      </p:sp>
      <p:sp>
        <p:nvSpPr>
          <p:cNvPr id="32" name="Text 29"/>
          <p:cNvSpPr txBox="1"/>
          <p:nvPr/>
        </p:nvSpPr>
        <p:spPr>
          <a:xfrm>
            <a:off x="461772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 the past</a:t>
            </a:r>
            <a:endParaRPr lang="en-US" sz="1000" dirty="0"/>
          </a:p>
        </p:txBody>
      </p:sp>
      <p:sp>
        <p:nvSpPr>
          <p:cNvPr id="33" name="Shape 30"/>
          <p:cNvSpPr/>
          <p:nvPr/>
        </p:nvSpPr>
        <p:spPr>
          <a:xfrm>
            <a:off x="4617720" y="3337560"/>
            <a:ext cx="1965960" cy="1097280"/>
          </a:xfrm>
          <a:prstGeom prst="roundRect">
            <a:avLst>
              <a:gd name="adj" fmla="val 6667"/>
            </a:avLst>
          </a:prstGeom>
          <a:solidFill>
            <a:srgbClr val="E3F4F1"/>
          </a:solidFill>
          <a:ln w="9525">
            <a:solidFill>
              <a:srgbClr val="0B7A6F"/>
            </a:solidFill>
            <a:prstDash val="solid"/>
          </a:ln>
        </p:spPr>
      </p:sp>
      <p:sp>
        <p:nvSpPr>
          <p:cNvPr id="34" name="Text 31"/>
          <p:cNvSpPr txBox="1"/>
          <p:nvPr/>
        </p:nvSpPr>
        <p:spPr>
          <a:xfrm>
            <a:off x="469087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Follow AG: Pending Invoice completion verification steps.</a:t>
            </a:r>
            <a:endParaRPr lang="en-US" sz="900" dirty="0"/>
          </a:p>
        </p:txBody>
      </p:sp>
      <p:sp>
        <p:nvSpPr>
          <p:cNvPr id="35" name="Shape 32"/>
          <p:cNvSpPr/>
          <p:nvPr/>
        </p:nvSpPr>
        <p:spPr>
          <a:xfrm>
            <a:off x="7703820" y="2743200"/>
            <a:ext cx="0" cy="137160"/>
          </a:xfrm>
          <a:prstGeom prst="line">
            <a:avLst/>
          </a:prstGeom>
          <a:noFill/>
          <a:ln w="12700">
            <a:solidFill>
              <a:srgbClr val="6E6E73"/>
            </a:solidFill>
            <a:prstDash val="solid"/>
            <a:tailEnd type="triangle"/>
          </a:ln>
        </p:spPr>
      </p:sp>
      <p:sp>
        <p:nvSpPr>
          <p:cNvPr id="36" name="Shape 33"/>
          <p:cNvSpPr/>
          <p:nvPr/>
        </p:nvSpPr>
        <p:spPr>
          <a:xfrm>
            <a:off x="6720840" y="2880360"/>
            <a:ext cx="1965960" cy="457200"/>
          </a:xfrm>
          <a:prstGeom prst="roundRect">
            <a:avLst>
              <a:gd name="adj" fmla="val 16000"/>
            </a:avLst>
          </a:prstGeom>
          <a:solidFill>
            <a:srgbClr val="0B7A6F"/>
          </a:solidFill>
          <a:ln w="12700">
            <a:solidFill>
              <a:srgbClr val="0B7A6F"/>
            </a:solidFill>
            <a:prstDash val="solid"/>
          </a:ln>
        </p:spPr>
      </p:sp>
      <p:sp>
        <p:nvSpPr>
          <p:cNvPr id="37" name="Text 34"/>
          <p:cNvSpPr txBox="1"/>
          <p:nvPr/>
        </p:nvSpPr>
        <p:spPr>
          <a:xfrm>
            <a:off x="672084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 / Invoiced</a:t>
            </a:r>
            <a:endParaRPr lang="en-US" sz="1000" dirty="0"/>
          </a:p>
        </p:txBody>
      </p:sp>
      <p:sp>
        <p:nvSpPr>
          <p:cNvPr id="38" name="Shape 35"/>
          <p:cNvSpPr/>
          <p:nvPr/>
        </p:nvSpPr>
        <p:spPr>
          <a:xfrm>
            <a:off x="6720840" y="3337560"/>
            <a:ext cx="1965960" cy="1097280"/>
          </a:xfrm>
          <a:prstGeom prst="roundRect">
            <a:avLst>
              <a:gd name="adj" fmla="val 6667"/>
            </a:avLst>
          </a:prstGeom>
          <a:solidFill>
            <a:srgbClr val="E3F4F1"/>
          </a:solidFill>
          <a:ln w="9525">
            <a:solidFill>
              <a:srgbClr val="0B7A6F"/>
            </a:solidFill>
            <a:prstDash val="solid"/>
          </a:ln>
        </p:spPr>
      </p:sp>
      <p:sp>
        <p:nvSpPr>
          <p:cNvPr id="39" name="Text 36"/>
          <p:cNvSpPr txBox="1"/>
          <p:nvPr/>
        </p:nvSpPr>
        <p:spPr>
          <a:xfrm>
            <a:off x="679399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Offer a Priority Booking and address other concerns.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and reason code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first unauthorized reschedule is coaching only.</a:t>
            </a:r>
            <a:endParaRPr lang="en-US" sz="1200" dirty="0"/>
          </a:p>
        </p:txBody>
      </p:sp>
      <p:sp>
        <p:nvSpPr>
          <p:cNvPr id="6" name="Shape 3"/>
          <p:cNvSpPr/>
          <p:nvPr/>
        </p:nvSpPr>
        <p:spPr>
          <a:xfrm>
            <a:off x="411480" y="1280160"/>
            <a:ext cx="409194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1st instance</a:t>
            </a:r>
            <a:endParaRPr lang="en-US" sz="1200" dirty="0"/>
          </a:p>
        </p:txBody>
      </p:sp>
      <p:sp>
        <p:nvSpPr>
          <p:cNvPr id="10" name="Text 7"/>
          <p:cNvSpPr txBox="1"/>
          <p:nvPr/>
        </p:nvSpPr>
        <p:spPr>
          <a:xfrm>
            <a:off x="5760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Warning macro. No status change.</a:t>
            </a:r>
            <a:endParaRPr lang="en-US" sz="950" dirty="0"/>
          </a:p>
        </p:txBody>
      </p:sp>
      <p:sp>
        <p:nvSpPr>
          <p:cNvPr id="11" name="Shape 8"/>
          <p:cNvSpPr/>
          <p:nvPr/>
        </p:nvSpPr>
        <p:spPr>
          <a:xfrm>
            <a:off x="4640580" y="1280160"/>
            <a:ext cx="4091940" cy="1417320"/>
          </a:xfrm>
          <a:prstGeom prst="roundRect">
            <a:avLst>
              <a:gd name="adj" fmla="val 5161"/>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instance</a:t>
            </a:r>
            <a:endParaRPr lang="en-US" sz="1200" dirty="0"/>
          </a:p>
        </p:txBody>
      </p:sp>
      <p:sp>
        <p:nvSpPr>
          <p:cNvPr id="15" name="Text 12"/>
          <p:cNvSpPr txBox="1"/>
          <p:nvPr/>
        </p:nvSpPr>
        <p:spPr>
          <a:xfrm>
            <a:off x="48051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plus the warning macro. Check messages and flags for an earlier warning first.</a:t>
            </a:r>
            <a:endParaRPr lang="en-US" sz="950" dirty="0"/>
          </a:p>
        </p:txBody>
      </p:sp>
      <p:sp>
        <p:nvSpPr>
          <p:cNvPr id="16" name="Shape 13"/>
          <p:cNvSpPr/>
          <p:nvPr/>
        </p:nvSpPr>
        <p:spPr>
          <a:xfrm>
            <a:off x="411480" y="2834640"/>
            <a:ext cx="8321040" cy="566928"/>
          </a:xfrm>
          <a:prstGeom prst="roundRect">
            <a:avLst>
              <a:gd name="adj" fmla="val 12903"/>
            </a:avLst>
          </a:prstGeom>
          <a:solidFill>
            <a:srgbClr val="FFFFFF"/>
          </a:solidFill>
          <a:ln w="9525">
            <a:solidFill>
              <a:srgbClr val="DCE1E7"/>
            </a:solidFill>
            <a:prstDash val="solid"/>
          </a:ln>
        </p:spPr>
      </p:sp>
      <p:sp>
        <p:nvSpPr>
          <p:cNvPr id="17" name="Text 14"/>
          <p:cNvSpPr txBox="1"/>
          <p:nvPr/>
        </p:nvSpPr>
        <p:spPr>
          <a:xfrm>
            <a:off x="594360" y="283464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950" dirty="0"/>
          </a:p>
        </p:txBody>
      </p:sp>
      <p:sp>
        <p:nvSpPr>
          <p:cNvPr id="18" name="Shape 15"/>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9"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0" name="Text 16"/>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Repeat offenders are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Whether the job is still assigned to the CP who rescheduled it.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The original start time is 4 days away.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Add the cp_unauthorized_reschedule flag, then reschedule back to the original time via the Customer Dashboard.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original start in 30 hours, cohort 50_to_100_pct.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CRM (CP no-show/reschedule), rebook via CRM, add the internal note, tell the customer, offer Alternate Start Times.</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CP's first unauthorized reschedule. Change their status?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Warning macro only. 2nd+ instance: norequests plus the warning.</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before you fix</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Still assigned? How far is the original start?</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Avoid a new Priority Fee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48 hours or less: check the cohort before rebooking.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first</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1st: warning only. 2nd+: norequests + warning.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Trust and Safety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Reports that put a person's safety, property or wellbeing at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T&amp;S covers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always escalates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must ask</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decides refunds, ETF and retention</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1.png">    </p:cNvPr>
          <p:cNvPicPr>
            <a:picLocks noChangeAspect="1"/>
          </p:cNvPicPr>
          <p:nvPr/>
        </p:nvPicPr>
        <p:blipFill>
          <a:blip r:embed="rId5"/>
          <a:stretch>
            <a:fillRect/>
          </a:stretch>
        </p:blipFill>
        <p:spPr>
          <a:xfrm>
            <a:off x="5795010" y="1517904"/>
            <a:ext cx="241858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Trust and Safety?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Any report of behavior that could compromise one of these three.</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Personal safety</a:t>
            </a:r>
            <a:endParaRPr lang="en-US" sz="1200" dirty="0"/>
          </a:p>
        </p:txBody>
      </p:sp>
      <p:sp>
        <p:nvSpPr>
          <p:cNvPr id="10" name="Text 6"/>
          <p:cNvSpPr txBox="1"/>
          <p:nvPr/>
        </p:nvSpPr>
        <p:spPr>
          <a:xfrm>
            <a:off x="5760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Physical or emotional risk to the customer or the cleaner.</a:t>
            </a:r>
            <a:endParaRPr lang="en-US" sz="950" dirty="0"/>
          </a:p>
        </p:txBody>
      </p:sp>
      <p:sp>
        <p:nvSpPr>
          <p:cNvPr id="11" name="Shape 7"/>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Property security</a:t>
            </a:r>
            <a:endParaRPr lang="en-US" sz="1200" dirty="0"/>
          </a:p>
        </p:txBody>
      </p:sp>
      <p:sp>
        <p:nvSpPr>
          <p:cNvPr id="15" name="Text 10"/>
          <p:cNvSpPr txBox="1"/>
          <p:nvPr/>
        </p:nvSpPr>
        <p:spPr>
          <a:xfrm>
            <a:off x="33954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Theft, damage, or a home left unsecured.</a:t>
            </a:r>
            <a:endParaRPr lang="en-US" sz="950" dirty="0"/>
          </a:p>
        </p:txBody>
      </p:sp>
      <p:sp>
        <p:nvSpPr>
          <p:cNvPr id="16" name="Shape 11"/>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Professional conduct</a:t>
            </a:r>
            <a:endParaRPr lang="en-US" sz="1200" dirty="0"/>
          </a:p>
        </p:txBody>
      </p:sp>
      <p:sp>
        <p:nvSpPr>
          <p:cNvPr id="20" name="Text 14"/>
          <p:cNvSpPr txBox="1"/>
          <p:nvPr/>
        </p:nvSpPr>
        <p:spPr>
          <a:xfrm>
            <a:off x="62148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Harassment, discrimination, unwanted contact, substances.</a:t>
            </a:r>
            <a:endParaRPr lang="en-US" sz="950" dirty="0"/>
          </a:p>
        </p:txBody>
      </p:sp>
      <p:sp>
        <p:nvSpPr>
          <p:cNvPr id="21" name="Shape 15"/>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18688"/>
            <a:ext cx="164592" cy="164592"/>
          </a:xfrm>
          <a:prstGeom prst="rect">
            <a:avLst/>
          </a:prstGeom>
        </p:spPr>
      </p:pic>
      <p:sp>
        <p:nvSpPr>
          <p:cNvPr id="23" name="Text 16"/>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Your role:  </a:t>
            </a:r>
            <a:pPr indent="0" marL="0">
              <a:buNone/>
            </a:pPr>
            <a:r>
              <a:rPr lang="en-US" sz="1000" dirty="0">
                <a:solidFill>
                  <a:srgbClr val="1D1D1F"/>
                </a:solidFill>
                <a:latin typeface="SF Pro Text" pitchFamily="34" charset="0"/>
                <a:ea typeface="SF Pro Text" pitchFamily="34" charset="-122"/>
                <a:cs typeface="SF Pro Text" pitchFamily="34" charset="-120"/>
              </a:rPr>
              <a:t>recognize the issue and escalate it. Don't investigate it or resolve it.</a:t>
            </a:r>
            <a:endParaRPr lang="en-US" sz="1000" dirty="0"/>
          </a:p>
        </p:txBody>
      </p:sp>
      <p:sp>
        <p:nvSpPr>
          <p:cNvPr id="24" name="Shape 17"/>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721608"/>
            <a:ext cx="164592" cy="164592"/>
          </a:xfrm>
          <a:prstGeom prst="rect">
            <a:avLst/>
          </a:prstGeom>
        </p:spPr>
      </p:pic>
      <p:sp>
        <p:nvSpPr>
          <p:cNvPr id="26" name="Text 18"/>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Unsure?  </a:t>
            </a:r>
            <a:pPr indent="0" marL="0">
              <a:buNone/>
            </a:pPr>
            <a:r>
              <a:rPr lang="en-US" sz="1000" dirty="0">
                <a:solidFill>
                  <a:srgbClr val="1D1D1F"/>
                </a:solidFill>
                <a:latin typeface="SF Pro Text" pitchFamily="34" charset="0"/>
                <a:ea typeface="SF Pro Text" pitchFamily="34" charset="-122"/>
                <a:cs typeface="SF Pro Text" pitchFamily="34" charset="-120"/>
              </a:rPr>
              <a:t>if it feels risky, escalate. You don't need certainty.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Escalate as soon as a T&amp;S indicator is confirmed.</a:t>
            </a:r>
            <a:endParaRPr lang="en-US" sz="1200" dirty="0"/>
          </a:p>
        </p:txBody>
      </p:sp>
      <p:sp>
        <p:nvSpPr>
          <p:cNvPr id="6" name="Shape 3"/>
          <p:cNvSpPr/>
          <p:nvPr/>
        </p:nvSpPr>
        <p:spPr>
          <a:xfrm>
            <a:off x="411480" y="1463040"/>
            <a:ext cx="18745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T&amp;S indicator confirmed</a:t>
            </a:r>
            <a:endParaRPr lang="en-US" sz="1000" dirty="0"/>
          </a:p>
        </p:txBody>
      </p:sp>
      <p:sp>
        <p:nvSpPr>
          <p:cNvPr id="8" name="Shape 5"/>
          <p:cNvSpPr/>
          <p:nvPr/>
        </p:nvSpPr>
        <p:spPr>
          <a:xfrm>
            <a:off x="2286000" y="1746504"/>
            <a:ext cx="274320" cy="0"/>
          </a:xfrm>
          <a:prstGeom prst="line">
            <a:avLst/>
          </a:prstGeom>
          <a:noFill/>
          <a:ln w="12700">
            <a:solidFill>
              <a:srgbClr val="6E6E73"/>
            </a:solidFill>
            <a:prstDash val="solid"/>
            <a:tailEnd type="triangle"/>
          </a:ln>
        </p:spPr>
      </p:sp>
      <p:sp>
        <p:nvSpPr>
          <p:cNvPr id="9" name="Text 6"/>
          <p:cNvSpPr txBox="1"/>
          <p:nvPr/>
        </p:nvSpPr>
        <p:spPr>
          <a:xfrm>
            <a:off x="41148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Matches an always-escalate item, or the customer asked (conditional cases).</a:t>
            </a:r>
            <a:endParaRPr lang="en-US" sz="900" dirty="0"/>
          </a:p>
        </p:txBody>
      </p:sp>
      <p:sp>
        <p:nvSpPr>
          <p:cNvPr id="10" name="Shape 7"/>
          <p:cNvSpPr/>
          <p:nvPr/>
        </p:nvSpPr>
        <p:spPr>
          <a:xfrm>
            <a:off x="2560320" y="1463040"/>
            <a:ext cx="1874520" cy="566928"/>
          </a:xfrm>
          <a:prstGeom prst="roundRect">
            <a:avLst>
              <a:gd name="adj" fmla="val 12903"/>
            </a:avLst>
          </a:prstGeom>
          <a:solidFill>
            <a:srgbClr val="0B7A6F"/>
          </a:solidFill>
          <a:ln w="12700">
            <a:solidFill>
              <a:srgbClr val="0B7A6F"/>
            </a:solidFill>
            <a:prstDash val="solid"/>
          </a:ln>
        </p:spPr>
      </p:sp>
      <p:sp>
        <p:nvSpPr>
          <p:cNvPr id="11" name="Text 8"/>
          <p:cNvSpPr txBox="1"/>
          <p:nvPr/>
        </p:nvSpPr>
        <p:spPr>
          <a:xfrm>
            <a:off x="256032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12" name="Shape 9"/>
          <p:cNvSpPr/>
          <p:nvPr/>
        </p:nvSpPr>
        <p:spPr>
          <a:xfrm>
            <a:off x="4434840" y="1746504"/>
            <a:ext cx="274320" cy="0"/>
          </a:xfrm>
          <a:prstGeom prst="line">
            <a:avLst/>
          </a:prstGeom>
          <a:noFill/>
          <a:ln w="12700">
            <a:solidFill>
              <a:srgbClr val="6E6E73"/>
            </a:solidFill>
            <a:prstDash val="solid"/>
            <a:tailEnd type="triangle"/>
          </a:ln>
        </p:spPr>
      </p:sp>
      <p:sp>
        <p:nvSpPr>
          <p:cNvPr id="13" name="Text 10"/>
          <p:cNvSpPr txBox="1"/>
          <p:nvPr/>
        </p:nvSpPr>
        <p:spPr>
          <a:xfrm>
            <a:off x="256032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Right away. Macro: Escalate report to T&amp;S.</a:t>
            </a:r>
            <a:endParaRPr lang="en-US" sz="900" dirty="0"/>
          </a:p>
        </p:txBody>
      </p:sp>
      <p:sp>
        <p:nvSpPr>
          <p:cNvPr id="14" name="Shape 11"/>
          <p:cNvSpPr/>
          <p:nvPr/>
        </p:nvSpPr>
        <p:spPr>
          <a:xfrm>
            <a:off x="4709160" y="1463040"/>
            <a:ext cx="1874520" cy="566928"/>
          </a:xfrm>
          <a:prstGeom prst="roundRect">
            <a:avLst>
              <a:gd name="adj" fmla="val 12903"/>
            </a:avLst>
          </a:prstGeom>
          <a:solidFill>
            <a:srgbClr val="0B7A6F"/>
          </a:solidFill>
          <a:ln w="12700">
            <a:solidFill>
              <a:srgbClr val="0B7A6F"/>
            </a:solidFill>
            <a:prstDash val="solid"/>
          </a:ln>
        </p:spPr>
      </p:sp>
      <p:sp>
        <p:nvSpPr>
          <p:cNvPr id="15" name="Text 12"/>
          <p:cNvSpPr txBox="1"/>
          <p:nvPr/>
        </p:nvSpPr>
        <p:spPr>
          <a:xfrm>
            <a:off x="470916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Email the customer</a:t>
            </a:r>
            <a:endParaRPr lang="en-US" sz="1000" dirty="0"/>
          </a:p>
        </p:txBody>
      </p:sp>
      <p:sp>
        <p:nvSpPr>
          <p:cNvPr id="16" name="Shape 13"/>
          <p:cNvSpPr/>
          <p:nvPr/>
        </p:nvSpPr>
        <p:spPr>
          <a:xfrm>
            <a:off x="6583680" y="1746504"/>
            <a:ext cx="274320" cy="0"/>
          </a:xfrm>
          <a:prstGeom prst="line">
            <a:avLst/>
          </a:prstGeom>
          <a:noFill/>
          <a:ln w="12700">
            <a:solidFill>
              <a:srgbClr val="6E6E73"/>
            </a:solidFill>
            <a:prstDash val="solid"/>
            <a:tailEnd type="triangle"/>
          </a:ln>
        </p:spPr>
      </p:sp>
      <p:sp>
        <p:nvSpPr>
          <p:cNvPr id="17" name="Text 14"/>
          <p:cNvSpPr txBox="1"/>
          <p:nvPr/>
        </p:nvSpPr>
        <p:spPr>
          <a:xfrm>
            <a:off x="470916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Required the first time you escalate.</a:t>
            </a:r>
            <a:endParaRPr lang="en-US" sz="900" dirty="0"/>
          </a:p>
        </p:txBody>
      </p:sp>
      <p:sp>
        <p:nvSpPr>
          <p:cNvPr id="18" name="Shape 15"/>
          <p:cNvSpPr/>
          <p:nvPr/>
        </p:nvSpPr>
        <p:spPr>
          <a:xfrm>
            <a:off x="6858000" y="1463040"/>
            <a:ext cx="1874520" cy="566928"/>
          </a:xfrm>
          <a:prstGeom prst="roundRect">
            <a:avLst>
              <a:gd name="adj" fmla="val 12903"/>
            </a:avLst>
          </a:prstGeom>
          <a:solidFill>
            <a:srgbClr val="FFFFFF"/>
          </a:solidFill>
          <a:ln w="12700">
            <a:solidFill>
              <a:srgbClr val="DCE1E7"/>
            </a:solidFill>
            <a:prstDash val="solid"/>
          </a:ln>
        </p:spPr>
      </p:sp>
      <p:sp>
        <p:nvSpPr>
          <p:cNvPr id="19" name="Text 16"/>
          <p:cNvSpPr txBox="1"/>
          <p:nvPr/>
        </p:nvSpPr>
        <p:spPr>
          <a:xfrm>
            <a:off x="6858000" y="1463040"/>
            <a:ext cx="187452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Hands off</a:t>
            </a:r>
            <a:endParaRPr lang="en-US" sz="1000" dirty="0"/>
          </a:p>
        </p:txBody>
      </p:sp>
      <p:sp>
        <p:nvSpPr>
          <p:cNvPr id="20" name="Text 17"/>
          <p:cNvSpPr txBox="1"/>
          <p:nvPr/>
        </p:nvSpPr>
        <p:spPr>
          <a:xfrm>
            <a:off x="685800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refund, no contact with the cleaner, no retention attempt.</a:t>
            </a:r>
            <a:endParaRPr lang="en-US" sz="900" dirty="0"/>
          </a:p>
        </p:txBody>
      </p:sp>
      <p:sp>
        <p:nvSpPr>
          <p:cNvPr id="21" name="Shape 18"/>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27248"/>
            <a:ext cx="164592" cy="164592"/>
          </a:xfrm>
          <a:prstGeom prst="rect">
            <a:avLst/>
          </a:prstGeom>
        </p:spPr>
      </p:pic>
      <p:sp>
        <p:nvSpPr>
          <p:cNvPr id="23" name="Text 19"/>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pPr indent="0" marL="0">
              <a:buNone/>
            </a:pPr>
            <a:r>
              <a:rPr lang="en-US" sz="1000" dirty="0">
                <a:solidFill>
                  <a:srgbClr val="1D1D1F"/>
                </a:solidFill>
                <a:latin typeface="SF Pro Text" pitchFamily="34" charset="0"/>
                <a:ea typeface="SF Pro Text" pitchFamily="34" charset="-122"/>
                <a:cs typeface="SF Pro Text" pitchFamily="34" charset="-120"/>
              </a:rPr>
              <a:t>T&amp;S evaluates liability and may waive the full ETF. Acting first can undercut that.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Who decides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Once a case is T&amp;S, they have final say.</a:t>
            </a:r>
            <a:endParaRPr lang="en-US" sz="1200" dirty="0"/>
          </a:p>
        </p:txBody>
      </p:sp>
      <p:sp>
        <p:nvSpPr>
          <p:cNvPr id="6" name="Shape 3"/>
          <p:cNvSpPr/>
          <p:nvPr/>
        </p:nvSpPr>
        <p:spPr>
          <a:xfrm>
            <a:off x="411480" y="1325880"/>
            <a:ext cx="4091940" cy="2148840"/>
          </a:xfrm>
          <a:prstGeom prst="roundRect">
            <a:avLst>
              <a:gd name="adj" fmla="val 340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Care must not</a:t>
            </a:r>
            <a:endParaRPr lang="en-US" sz="1300" dirty="0"/>
          </a:p>
        </p:txBody>
      </p:sp>
      <p:sp>
        <p:nvSpPr>
          <p:cNvPr id="10" name="Text 6"/>
          <p:cNvSpPr txBox="1"/>
          <p:nvPr/>
        </p:nvSpPr>
        <p:spPr>
          <a:xfrm>
            <a:off x="5943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Decide refunds or compensation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Waive or reduce the ETF (unless T&amp;S directs)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Attempt retention or offer membership incentives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Contact the cleaner directly</a:t>
            </a:r>
            <a:endParaRPr lang="en-US" sz="1000" dirty="0"/>
          </a:p>
        </p:txBody>
      </p:sp>
      <p:sp>
        <p:nvSpPr>
          <p:cNvPr id="11" name="Shape 7"/>
          <p:cNvSpPr/>
          <p:nvPr/>
        </p:nvSpPr>
        <p:spPr>
          <a:xfrm>
            <a:off x="4640580" y="1325880"/>
            <a:ext cx="4091940" cy="2148840"/>
          </a:xfrm>
          <a:prstGeom prst="roundRect">
            <a:avLst>
              <a:gd name="adj" fmla="val 340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T&amp;S owns</a:t>
            </a:r>
            <a:endParaRPr lang="en-US" sz="1300" dirty="0"/>
          </a:p>
        </p:txBody>
      </p:sp>
      <p:sp>
        <p:nvSpPr>
          <p:cNvPr id="15" name="Text 10"/>
          <p:cNvSpPr txBox="1"/>
          <p:nvPr/>
        </p:nvSpPr>
        <p:spPr>
          <a:xfrm>
            <a:off x="48234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scope, after investigation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ETF: may waive up to the full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Retention and membership outcome</a:t>
            </a:r>
            <a:endParaRPr lang="en-US" sz="1000" dirty="0"/>
          </a:p>
        </p:txBody>
      </p:sp>
      <p:sp>
        <p:nvSpPr>
          <p:cNvPr id="16" name="Shape 11"/>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767328"/>
            <a:ext cx="164592" cy="164592"/>
          </a:xfrm>
          <a:prstGeom prst="rect">
            <a:avLst/>
          </a:prstGeom>
        </p:spPr>
      </p:pic>
      <p:sp>
        <p:nvSpPr>
          <p:cNvPr id="18" name="Text 12"/>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T&amp;S declines?  </a:t>
            </a:r>
            <a:pPr indent="0" marL="0">
              <a:buNone/>
            </a:pPr>
            <a:r>
              <a:rPr lang="en-US" sz="10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Safety concerns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Always escalate.</a:t>
            </a:r>
            <a:endParaRPr lang="en-US" sz="1200" dirty="0"/>
          </a:p>
        </p:txBody>
      </p:sp>
      <p:sp>
        <p:nvSpPr>
          <p:cNvPr id="6" name="Shape 3"/>
          <p:cNvSpPr/>
          <p:nvPr/>
        </p:nvSpPr>
        <p:spPr>
          <a:xfrm>
            <a:off x="411480" y="1325880"/>
            <a:ext cx="409194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0817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478402"/>
            <a:ext cx="152156" cy="152156"/>
          </a:xfrm>
          <a:prstGeom prst="rect">
            <a:avLst/>
          </a:prstGeom>
        </p:spPr>
      </p:pic>
      <p:sp>
        <p:nvSpPr>
          <p:cNvPr id="9" name="Text 5"/>
          <p:cNvSpPr txBox="1"/>
          <p:nvPr/>
        </p:nvSpPr>
        <p:spPr>
          <a:xfrm>
            <a:off x="9144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On-platform death</a:t>
            </a:r>
            <a:endParaRPr lang="en-US" sz="1050" dirty="0"/>
          </a:p>
        </p:txBody>
      </p:sp>
      <p:sp>
        <p:nvSpPr>
          <p:cNvPr id="10" name="Shape 6"/>
          <p:cNvSpPr/>
          <p:nvPr/>
        </p:nvSpPr>
        <p:spPr>
          <a:xfrm>
            <a:off x="4640580" y="1325880"/>
            <a:ext cx="409194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4750308" y="1408176"/>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20534" y="1478402"/>
            <a:ext cx="152156" cy="152156"/>
          </a:xfrm>
          <a:prstGeom prst="rect">
            <a:avLst/>
          </a:prstGeom>
        </p:spPr>
      </p:pic>
      <p:sp>
        <p:nvSpPr>
          <p:cNvPr id="13" name="Text 8"/>
          <p:cNvSpPr txBox="1"/>
          <p:nvPr/>
        </p:nvSpPr>
        <p:spPr>
          <a:xfrm>
            <a:off x="51435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Physical violence or threats of violence</a:t>
            </a:r>
            <a:endParaRPr lang="en-US" sz="1050" dirty="0"/>
          </a:p>
        </p:txBody>
      </p:sp>
      <p:sp>
        <p:nvSpPr>
          <p:cNvPr id="14" name="Shape 9"/>
          <p:cNvSpPr/>
          <p:nvPr/>
        </p:nvSpPr>
        <p:spPr>
          <a:xfrm>
            <a:off x="411480" y="1874520"/>
            <a:ext cx="409194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1956816"/>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027042"/>
            <a:ext cx="152156" cy="152156"/>
          </a:xfrm>
          <a:prstGeom prst="rect">
            <a:avLst/>
          </a:prstGeom>
        </p:spPr>
      </p:pic>
      <p:sp>
        <p:nvSpPr>
          <p:cNvPr id="17" name="Text 11"/>
          <p:cNvSpPr txBox="1"/>
          <p:nvPr/>
        </p:nvSpPr>
        <p:spPr>
          <a:xfrm>
            <a:off x="9144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Unwanted physical contact</a:t>
            </a:r>
            <a:endParaRPr lang="en-US" sz="1050" dirty="0"/>
          </a:p>
        </p:txBody>
      </p:sp>
      <p:sp>
        <p:nvSpPr>
          <p:cNvPr id="18" name="Shape 12"/>
          <p:cNvSpPr/>
          <p:nvPr/>
        </p:nvSpPr>
        <p:spPr>
          <a:xfrm>
            <a:off x="4640580" y="1874520"/>
            <a:ext cx="409194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4750308" y="1956816"/>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4820534" y="2027042"/>
            <a:ext cx="152156" cy="152156"/>
          </a:xfrm>
          <a:prstGeom prst="rect">
            <a:avLst/>
          </a:prstGeom>
        </p:spPr>
      </p:pic>
      <p:sp>
        <p:nvSpPr>
          <p:cNvPr id="21" name="Text 14"/>
          <p:cNvSpPr txBox="1"/>
          <p:nvPr/>
        </p:nvSpPr>
        <p:spPr>
          <a:xfrm>
            <a:off x="51435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Any sexually related complaint</a:t>
            </a:r>
            <a:endParaRPr lang="en-US" sz="1050" dirty="0"/>
          </a:p>
        </p:txBody>
      </p:sp>
      <p:sp>
        <p:nvSpPr>
          <p:cNvPr id="22" name="Shape 15"/>
          <p:cNvSpPr/>
          <p:nvPr/>
        </p:nvSpPr>
        <p:spPr>
          <a:xfrm>
            <a:off x="411480" y="2423160"/>
            <a:ext cx="409194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2505456"/>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2575682"/>
            <a:ext cx="152156" cy="152156"/>
          </a:xfrm>
          <a:prstGeom prst="rect">
            <a:avLst/>
          </a:prstGeom>
        </p:spPr>
      </p:pic>
      <p:sp>
        <p:nvSpPr>
          <p:cNvPr id="25" name="Text 17"/>
          <p:cNvSpPr txBox="1"/>
          <p:nvPr/>
        </p:nvSpPr>
        <p:spPr>
          <a:xfrm>
            <a:off x="9144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human trafficking</a:t>
            </a:r>
            <a:endParaRPr lang="en-US" sz="1050" dirty="0"/>
          </a:p>
        </p:txBody>
      </p:sp>
      <p:sp>
        <p:nvSpPr>
          <p:cNvPr id="26" name="Shape 18"/>
          <p:cNvSpPr/>
          <p:nvPr/>
        </p:nvSpPr>
        <p:spPr>
          <a:xfrm>
            <a:off x="4640580" y="2423160"/>
            <a:ext cx="4091940" cy="457200"/>
          </a:xfrm>
          <a:prstGeom prst="roundRect">
            <a:avLst>
              <a:gd name="adj" fmla="val 16000"/>
            </a:avLst>
          </a:prstGeom>
          <a:solidFill>
            <a:srgbClr val="FFFFFF"/>
          </a:solidFill>
          <a:ln w="9525">
            <a:solidFill>
              <a:srgbClr val="DCE1E7"/>
            </a:solidFill>
            <a:prstDash val="solid"/>
          </a:ln>
        </p:spPr>
      </p:sp>
      <p:sp>
        <p:nvSpPr>
          <p:cNvPr id="27" name="Shape 19"/>
          <p:cNvSpPr/>
          <p:nvPr/>
        </p:nvSpPr>
        <p:spPr>
          <a:xfrm>
            <a:off x="4750308" y="2505456"/>
            <a:ext cx="292608" cy="292608"/>
          </a:xfrm>
          <a:prstGeom prst="ellipse">
            <a:avLst/>
          </a:prstGeom>
          <a:solidFill>
            <a:srgbClr val="E3F4F1"/>
          </a:solidFill>
          <a:ln w="12700">
            <a:solidFill>
              <a:srgbClr val="E3F4F1"/>
            </a:solidFill>
            <a:prstDash val="solid"/>
          </a:ln>
        </p:spPr>
      </p:sp>
      <p:pic>
        <p:nvPicPr>
          <p:cNvPr id="28" name="Image 5" descr="preencoded.png">    </p:cNvPr>
          <p:cNvPicPr>
            <a:picLocks noChangeAspect="1"/>
          </p:cNvPicPr>
          <p:nvPr/>
        </p:nvPicPr>
        <p:blipFill>
          <a:blip r:embed="rId6"/>
          <a:stretch>
            <a:fillRect/>
          </a:stretch>
        </p:blipFill>
        <p:spPr>
          <a:xfrm>
            <a:off x="4820534" y="2575682"/>
            <a:ext cx="152156" cy="152156"/>
          </a:xfrm>
          <a:prstGeom prst="rect">
            <a:avLst/>
          </a:prstGeom>
        </p:spPr>
      </p:pic>
      <p:sp>
        <p:nvSpPr>
          <p:cNvPr id="29" name="Text 20"/>
          <p:cNvSpPr txBox="1"/>
          <p:nvPr/>
        </p:nvSpPr>
        <p:spPr>
          <a:xfrm>
            <a:off x="51435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stalking</a:t>
            </a:r>
            <a:endParaRPr lang="en-US" sz="1050" dirty="0"/>
          </a:p>
        </p:txBody>
      </p:sp>
      <p:sp>
        <p:nvSpPr>
          <p:cNvPr id="30" name="Shape 21"/>
          <p:cNvSpPr/>
          <p:nvPr/>
        </p:nvSpPr>
        <p:spPr>
          <a:xfrm>
            <a:off x="411480" y="2971800"/>
            <a:ext cx="4091940" cy="457200"/>
          </a:xfrm>
          <a:prstGeom prst="roundRect">
            <a:avLst>
              <a:gd name="adj" fmla="val 16000"/>
            </a:avLst>
          </a:prstGeom>
          <a:solidFill>
            <a:srgbClr val="FFFFFF"/>
          </a:solidFill>
          <a:ln w="9525">
            <a:solidFill>
              <a:srgbClr val="DCE1E7"/>
            </a:solidFill>
            <a:prstDash val="solid"/>
          </a:ln>
        </p:spPr>
      </p:sp>
      <p:sp>
        <p:nvSpPr>
          <p:cNvPr id="31" name="Shape 22"/>
          <p:cNvSpPr/>
          <p:nvPr/>
        </p:nvSpPr>
        <p:spPr>
          <a:xfrm>
            <a:off x="521208" y="3054096"/>
            <a:ext cx="292608" cy="292608"/>
          </a:xfrm>
          <a:prstGeom prst="ellipse">
            <a:avLst/>
          </a:prstGeom>
          <a:solidFill>
            <a:srgbClr val="E3F4F1"/>
          </a:solidFill>
          <a:ln w="12700">
            <a:solidFill>
              <a:srgbClr val="E3F4F1"/>
            </a:solidFill>
            <a:prstDash val="solid"/>
          </a:ln>
        </p:spPr>
      </p:sp>
      <p:pic>
        <p:nvPicPr>
          <p:cNvPr id="32" name="Image 6" descr="preencoded.png">    </p:cNvPr>
          <p:cNvPicPr>
            <a:picLocks noChangeAspect="1"/>
          </p:cNvPicPr>
          <p:nvPr/>
        </p:nvPicPr>
        <p:blipFill>
          <a:blip r:embed="rId7"/>
          <a:stretch>
            <a:fillRect/>
          </a:stretch>
        </p:blipFill>
        <p:spPr>
          <a:xfrm>
            <a:off x="591434" y="3124322"/>
            <a:ext cx="152156" cy="152156"/>
          </a:xfrm>
          <a:prstGeom prst="rect">
            <a:avLst/>
          </a:prstGeom>
        </p:spPr>
      </p:pic>
      <p:sp>
        <p:nvSpPr>
          <p:cNvPr id="33" name="Text 23"/>
          <p:cNvSpPr txBox="1"/>
          <p:nvPr/>
        </p:nvSpPr>
        <p:spPr>
          <a:xfrm>
            <a:off x="914400" y="297180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Law enforcement requests</a:t>
            </a:r>
            <a:endParaRPr lang="en-US" sz="1050" dirty="0"/>
          </a:p>
        </p:txBody>
      </p:sp>
      <p:sp>
        <p:nvSpPr>
          <p:cNvPr id="34" name="Text 24"/>
          <p:cNvSpPr txBox="1"/>
          <p:nvPr/>
        </p:nvSpPr>
        <p:spPr>
          <a:xfrm>
            <a:off x="4640580" y="2971800"/>
            <a:ext cx="409194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Sexually related: solicitation, indecent exposure, inappropriate photos, sexual requests about attire, sexual messaging.</a:t>
            </a:r>
            <a:endParaRPr lang="en-US" sz="850" dirty="0"/>
          </a:p>
        </p:txBody>
      </p:sp>
      <p:sp>
        <p:nvSpPr>
          <p:cNvPr id="35" name="Shape 25"/>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36" name="Image 7" descr="preencoded.png">    </p:cNvPr>
          <p:cNvPicPr>
            <a:picLocks noChangeAspect="1"/>
          </p:cNvPicPr>
          <p:nvPr/>
        </p:nvPicPr>
        <p:blipFill>
          <a:blip r:embed="rId8"/>
          <a:stretch>
            <a:fillRect/>
          </a:stretch>
        </p:blipFill>
        <p:spPr>
          <a:xfrm>
            <a:off x="566928" y="3767328"/>
            <a:ext cx="164592" cy="164592"/>
          </a:xfrm>
          <a:prstGeom prst="rect">
            <a:avLst/>
          </a:prstGeom>
        </p:spPr>
      </p:pic>
      <p:sp>
        <p:nvSpPr>
          <p:cNvPr id="37" name="Text 26"/>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judgment call:  </a:t>
            </a:r>
            <a:pPr indent="0" marL="0">
              <a:buNone/>
            </a:pPr>
            <a:r>
              <a:rPr lang="en-US" sz="1000" dirty="0">
                <a:solidFill>
                  <a:srgbClr val="1D1D1F"/>
                </a:solidFill>
                <a:latin typeface="SF Pro Text" pitchFamily="34" charset="0"/>
                <a:ea typeface="SF Pro Text" pitchFamily="34" charset="-122"/>
                <a:cs typeface="SF Pro Text" pitchFamily="34" charset="-120"/>
              </a:rPr>
              <a:t>every item here goes straight to T&amp;S.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the first report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first time the customer reaches out about a T&amp;S concern.</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to T&amp;S 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1783080"/>
          </a:xfrm>
          <a:prstGeom prst="roundRect">
            <a:avLst>
              <a:gd name="adj" fmla="val 4103"/>
            </a:avLst>
          </a:prstGeom>
          <a:solidFill>
            <a:srgbClr val="FFFFFF"/>
          </a:solidFill>
          <a:ln w="9525">
            <a:solidFill>
              <a:srgbClr val="DCE1E7"/>
            </a:solidFill>
            <a:prstDash val="solid"/>
          </a:ln>
        </p:spPr>
      </p:sp>
      <p:pic>
        <p:nvPicPr>
          <p:cNvPr id="26" name="Image 0" descr="/tmp/claude-0/-workspace-training/3ce5cff6-cccf-5f33-b0ee-0b147a55120e/scratchpad/img4/ts_safety_report.png">    </p:cNvPr>
          <p:cNvPicPr>
            <a:picLocks noChangeAspect="1"/>
          </p:cNvPicPr>
          <p:nvPr/>
        </p:nvPicPr>
        <p:blipFill>
          <a:blip r:embed="rId1"/>
          <a:stretch>
            <a:fillRect/>
          </a:stretch>
        </p:blipFill>
        <p:spPr>
          <a:xfrm>
            <a:off x="502920" y="2417646"/>
            <a:ext cx="5394960" cy="1227180"/>
          </a:xfrm>
          <a:prstGeom prst="rect">
            <a:avLst/>
          </a:prstGeom>
        </p:spPr>
      </p:pic>
      <p:sp>
        <p:nvSpPr>
          <p:cNvPr id="27" name="Shape 23"/>
          <p:cNvSpPr/>
          <p:nvPr/>
        </p:nvSpPr>
        <p:spPr>
          <a:xfrm>
            <a:off x="502920" y="2417646"/>
            <a:ext cx="5394960" cy="1227180"/>
          </a:xfrm>
          <a:prstGeom prst="rect">
            <a:avLst/>
          </a:prstGeom>
          <a:ln w="6350">
            <a:solidFill>
              <a:srgbClr val="DCE1E7"/>
            </a:solidFill>
            <a:prstDash val="solid"/>
          </a:ln>
        </p:spPr>
      </p:sp>
      <p:sp>
        <p:nvSpPr>
          <p:cNvPr id="28" name="Text 24"/>
          <p:cNvSpPr txBox="1"/>
          <p:nvPr/>
        </p:nvSpPr>
        <p:spPr>
          <a:xfrm>
            <a:off x="502920" y="37490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#new-ts-safety-reports</a:t>
            </a:r>
            <a:endParaRPr lang="en-US" sz="800" dirty="0"/>
          </a:p>
        </p:txBody>
      </p:sp>
      <p:sp>
        <p:nvSpPr>
          <p:cNvPr id="29" name="Shape 25"/>
          <p:cNvSpPr/>
          <p:nvPr/>
        </p:nvSpPr>
        <p:spPr>
          <a:xfrm>
            <a:off x="6126480" y="2240280"/>
            <a:ext cx="2606040" cy="1783080"/>
          </a:xfrm>
          <a:prstGeom prst="roundRect">
            <a:avLst>
              <a:gd name="adj" fmla="val 4103"/>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Policy violations and conduct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Also always escalate.</a:t>
            </a:r>
            <a:endParaRPr lang="en-US" sz="1200" dirty="0"/>
          </a:p>
        </p:txBody>
      </p:sp>
      <p:sp>
        <p:nvSpPr>
          <p:cNvPr id="6" name="Shape 3"/>
          <p:cNvSpPr/>
          <p:nvPr/>
        </p:nvSpPr>
        <p:spPr>
          <a:xfrm>
            <a:off x="411480" y="1325880"/>
            <a:ext cx="4091940" cy="2240280"/>
          </a:xfrm>
          <a:prstGeom prst="roundRect">
            <a:avLst>
              <a:gd name="adj" fmla="val 3265"/>
            </a:avLst>
          </a:prstGeom>
          <a:solidFill>
            <a:srgbClr val="FFFFFF"/>
          </a:solidFill>
          <a:ln w="9525">
            <a:solidFill>
              <a:srgbClr val="DCE1E7"/>
            </a:solidFill>
            <a:prstDash val="solid"/>
          </a:ln>
        </p:spPr>
      </p:sp>
      <p:sp>
        <p:nvSpPr>
          <p:cNvPr id="7" name="Text 4"/>
          <p:cNvSpPr txBox="1"/>
          <p:nvPr/>
        </p:nvSpPr>
        <p:spPr>
          <a:xfrm>
            <a:off x="5943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CONDUCT</a:t>
            </a:r>
            <a:endParaRPr lang="en-US" sz="800" dirty="0"/>
          </a:p>
        </p:txBody>
      </p:sp>
      <p:sp>
        <p:nvSpPr>
          <p:cNvPr id="8" name="Text 5"/>
          <p:cNvSpPr txBox="1"/>
          <p:nvPr/>
        </p:nvSpPr>
        <p:spPr>
          <a:xfrm>
            <a:off x="5943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Discrimination (race, age, nationality, etc.)</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Unwanted communication, on or off platform*</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harassment (more than just rude)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Verbal dispute: raised voices, aggressive confrontation†</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Unauthorized return to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 felt unsafe: CP brought a helper without permission</a:t>
            </a:r>
            <a:endParaRPr lang="en-US" sz="950" dirty="0"/>
          </a:p>
        </p:txBody>
      </p:sp>
      <p:sp>
        <p:nvSpPr>
          <p:cNvPr id="9" name="Shape 6"/>
          <p:cNvSpPr/>
          <p:nvPr/>
        </p:nvSpPr>
        <p:spPr>
          <a:xfrm>
            <a:off x="4640580" y="1325880"/>
            <a:ext cx="4091940" cy="2240280"/>
          </a:xfrm>
          <a:prstGeom prst="roundRect">
            <a:avLst>
              <a:gd name="adj" fmla="val 3265"/>
            </a:avLst>
          </a:prstGeom>
          <a:solidFill>
            <a:srgbClr val="FFFFFF"/>
          </a:solidFill>
          <a:ln w="9525">
            <a:solidFill>
              <a:srgbClr val="DCE1E7"/>
            </a:solidFill>
            <a:prstDash val="solid"/>
          </a:ln>
        </p:spPr>
      </p:sp>
      <p:sp>
        <p:nvSpPr>
          <p:cNvPr id="10" name="Text 7"/>
          <p:cNvSpPr txBox="1"/>
          <p:nvPr/>
        </p:nvSpPr>
        <p:spPr>
          <a:xfrm>
            <a:off x="48234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SAFETY AND SUBSTANCES</a:t>
            </a:r>
            <a:endParaRPr lang="en-US" sz="800" dirty="0"/>
          </a:p>
        </p:txBody>
      </p:sp>
      <p:sp>
        <p:nvSpPr>
          <p:cNvPr id="11" name="Text 8"/>
          <p:cNvSpPr txBox="1"/>
          <p:nvPr/>
        </p:nvSpPr>
        <p:spPr>
          <a:xfrm>
            <a:off x="48234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Drugs or weapons present at the workplace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Possessing or using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Distributing (or trying to)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Soliciting or drinking alcohol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CP failed to secure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Animal involvement (bite, injury, lost animal)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hurt during cleaning</a:t>
            </a:r>
            <a:endParaRPr lang="en-US" sz="950" dirty="0"/>
          </a:p>
        </p:txBody>
      </p:sp>
      <p:sp>
        <p:nvSpPr>
          <p:cNvPr id="12" name="Text 9"/>
          <p:cNvSpPr txBox="1"/>
          <p:nvPr/>
        </p:nvSpPr>
        <p:spPr>
          <a:xfrm>
            <a:off x="411480" y="3639312"/>
            <a:ext cx="8321040" cy="411480"/>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 Not a single job-related follow-up (arrival time, forgotten item).</a:t>
            </a:r>
            <a:endParaRPr lang="en-US" sz="850" dirty="0"/>
          </a:p>
          <a:p>
            <a:pPr indent="0" marL="0">
              <a:buNone/>
            </a:pPr>
            <a:r>
              <a:rPr lang="en-US" sz="850" i="1" dirty="0">
                <a:solidFill>
                  <a:srgbClr val="6E6E73"/>
                </a:solidFill>
                <a:latin typeface="SF Pro Text" pitchFamily="34" charset="0"/>
                <a:ea typeface="SF Pro Text" pitchFamily="34" charset="-122"/>
                <a:cs typeface="SF Pro Text" pitchFamily="34" charset="-120"/>
              </a:rPr>
              <a:t>† Not a disagreement about the cleaning itself, unless it turns heated or intimidating.</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Which claims are covered.</a:t>
            </a:r>
            <a:endParaRPr lang="en-US" sz="1200" dirty="0"/>
          </a:p>
        </p:txBody>
      </p:sp>
      <p:sp>
        <p:nvSpPr>
          <p:cNvPr id="6" name="Shape 3"/>
          <p:cNvSpPr/>
          <p:nvPr/>
        </p:nvSpPr>
        <p:spPr>
          <a:xfrm>
            <a:off x="411480" y="1325880"/>
            <a:ext cx="409194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Included</a:t>
            </a:r>
            <a:endParaRPr lang="en-US" sz="1300" dirty="0"/>
          </a:p>
        </p:txBody>
      </p:sp>
      <p:sp>
        <p:nvSpPr>
          <p:cNvPr id="10" name="Text 6"/>
          <p:cNvSpPr txBox="1"/>
          <p:nvPr/>
        </p:nvSpPr>
        <p:spPr>
          <a:xfrm>
            <a:off x="5943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Job paid in full on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Account in good standing: no failed or disputed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Reported within 30 days of the cleaning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Requester hasn't violated the Terms of Service</a:t>
            </a:r>
            <a:endParaRPr lang="en-US" sz="1000" dirty="0"/>
          </a:p>
        </p:txBody>
      </p:sp>
      <p:sp>
        <p:nvSpPr>
          <p:cNvPr id="11" name="Shape 7"/>
          <p:cNvSpPr/>
          <p:nvPr/>
        </p:nvSpPr>
        <p:spPr>
          <a:xfrm>
            <a:off x="4640580" y="1325880"/>
            <a:ext cx="4091940" cy="2743200"/>
          </a:xfrm>
          <a:prstGeom prst="roundRect">
            <a:avLst>
              <a:gd name="adj" fmla="val 266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Excluded</a:t>
            </a:r>
            <a:endParaRPr lang="en-US" sz="1300" dirty="0"/>
          </a:p>
        </p:txBody>
      </p:sp>
      <p:sp>
        <p:nvSpPr>
          <p:cNvPr id="15" name="Text 10"/>
          <p:cNvSpPr txBox="1"/>
          <p:nvPr/>
        </p:nvSpPr>
        <p:spPr>
          <a:xfrm>
            <a:off x="48234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Cleaning done off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Cash, gift cards, securities, fine art, antiques, jewelry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Pets, liability, common areas, sentimental value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Already recovered by police or replaced by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Items that still work (scratches, wear and tear)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conduct, 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Policy violations, unprofessional conduct, theft and damage: the first report.</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#new-ts-nonsafety-reports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T&amp;S Non-Safety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2011680"/>
          </a:xfrm>
          <a:prstGeom prst="roundRect">
            <a:avLst>
              <a:gd name="adj" fmla="val 3636"/>
            </a:avLst>
          </a:prstGeom>
          <a:solidFill>
            <a:srgbClr val="FFFFFF"/>
          </a:solidFill>
          <a:ln w="9525">
            <a:solidFill>
              <a:srgbClr val="DCE1E7"/>
            </a:solidFill>
            <a:prstDash val="solid"/>
          </a:ln>
        </p:spPr>
      </p:sp>
      <p:pic>
        <p:nvPicPr>
          <p:cNvPr id="26" name="Image 0" descr="/tmp/claude-0/-workspace-training/3ce5cff6-cccf-5f33-b0ee-0b147a55120e/scratchpad/img4/ts_nonsafety_report.png">    </p:cNvPr>
          <p:cNvPicPr>
            <a:picLocks noChangeAspect="1"/>
          </p:cNvPicPr>
          <p:nvPr/>
        </p:nvPicPr>
        <p:blipFill>
          <a:blip r:embed="rId1"/>
          <a:stretch>
            <a:fillRect/>
          </a:stretch>
        </p:blipFill>
        <p:spPr>
          <a:xfrm>
            <a:off x="573190" y="2331720"/>
            <a:ext cx="5254421" cy="1627632"/>
          </a:xfrm>
          <a:prstGeom prst="rect">
            <a:avLst/>
          </a:prstGeom>
        </p:spPr>
      </p:pic>
      <p:sp>
        <p:nvSpPr>
          <p:cNvPr id="27" name="Shape 23"/>
          <p:cNvSpPr/>
          <p:nvPr/>
        </p:nvSpPr>
        <p:spPr>
          <a:xfrm>
            <a:off x="573190" y="2331720"/>
            <a:ext cx="5254421" cy="1627632"/>
          </a:xfrm>
          <a:prstGeom prst="rect">
            <a:avLst/>
          </a:prstGeom>
          <a:ln w="6350">
            <a:solidFill>
              <a:srgbClr val="DCE1E7"/>
            </a:solidFill>
            <a:prstDash val="solid"/>
          </a:ln>
        </p:spPr>
      </p:sp>
      <p:sp>
        <p:nvSpPr>
          <p:cNvPr id="28" name="Text 24"/>
          <p:cNvSpPr txBox="1"/>
          <p:nvPr/>
        </p:nvSpPr>
        <p:spPr>
          <a:xfrm>
            <a:off x="502920" y="39776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#new-ts-nonsafety-reports</a:t>
            </a:r>
            <a:endParaRPr lang="en-US" sz="800" dirty="0"/>
          </a:p>
        </p:txBody>
      </p:sp>
      <p:sp>
        <p:nvSpPr>
          <p:cNvPr id="29" name="Shape 25"/>
          <p:cNvSpPr/>
          <p:nvPr/>
        </p:nvSpPr>
        <p:spPr>
          <a:xfrm>
            <a:off x="6126480" y="2240280"/>
            <a:ext cx="2606040" cy="2011680"/>
          </a:xfrm>
          <a:prstGeom prst="roundRect">
            <a:avLst>
              <a:gd name="adj" fmla="val 3636"/>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Conditional escalation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few real concerns escalate only if the customer explicitly asks.</a:t>
            </a:r>
            <a:endParaRPr lang="en-US" sz="1200" dirty="0"/>
          </a:p>
        </p:txBody>
      </p:sp>
      <p:sp>
        <p:nvSpPr>
          <p:cNvPr id="6" name="Shape 3"/>
          <p:cNvSpPr/>
          <p:nvPr/>
        </p:nvSpPr>
        <p:spPr>
          <a:xfrm>
            <a:off x="2468880" y="1325880"/>
            <a:ext cx="4206240" cy="457200"/>
          </a:xfrm>
          <a:prstGeom prst="roundRect">
            <a:avLst>
              <a:gd name="adj" fmla="val 16000"/>
            </a:avLst>
          </a:prstGeom>
          <a:solidFill>
            <a:srgbClr val="1D1D1F"/>
          </a:solidFill>
          <a:ln w="12700">
            <a:solidFill>
              <a:srgbClr val="1D1D1F"/>
            </a:solidFill>
            <a:prstDash val="solid"/>
          </a:ln>
        </p:spPr>
      </p:sp>
      <p:sp>
        <p:nvSpPr>
          <p:cNvPr id="7" name="Text 4"/>
          <p:cNvSpPr txBox="1"/>
          <p:nvPr/>
        </p:nvSpPr>
        <p:spPr>
          <a:xfrm>
            <a:off x="2468880" y="1325880"/>
            <a:ext cx="42062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brought a minor, or brought/sent an unauthorized person</a:t>
            </a:r>
            <a:endParaRPr lang="en-US" sz="1000" dirty="0"/>
          </a:p>
        </p:txBody>
      </p:sp>
      <p:sp>
        <p:nvSpPr>
          <p:cNvPr id="8" name="Shape 5"/>
          <p:cNvSpPr/>
          <p:nvPr/>
        </p:nvSpPr>
        <p:spPr>
          <a:xfrm>
            <a:off x="4572000" y="1783080"/>
            <a:ext cx="0" cy="155448"/>
          </a:xfrm>
          <a:prstGeom prst="line">
            <a:avLst/>
          </a:prstGeom>
          <a:noFill/>
          <a:ln w="12700">
            <a:solidFill>
              <a:srgbClr val="6E6E73"/>
            </a:solidFill>
            <a:prstDash val="solid"/>
            <a:tailEnd type="triangle"/>
          </a:ln>
        </p:spPr>
      </p:sp>
      <p:sp>
        <p:nvSpPr>
          <p:cNvPr id="9" name="Shape 6"/>
          <p:cNvSpPr/>
          <p:nvPr/>
        </p:nvSpPr>
        <p:spPr>
          <a:xfrm>
            <a:off x="2834640" y="1938528"/>
            <a:ext cx="3474720" cy="411480"/>
          </a:xfrm>
          <a:prstGeom prst="roundRect">
            <a:avLst>
              <a:gd name="adj" fmla="val 17778"/>
            </a:avLst>
          </a:prstGeom>
          <a:solidFill>
            <a:srgbClr val="FFF3D6"/>
          </a:solidFill>
          <a:ln w="12700">
            <a:solidFill>
              <a:srgbClr val="9A6410"/>
            </a:solidFill>
            <a:prstDash val="solid"/>
          </a:ln>
        </p:spPr>
      </p:sp>
      <p:sp>
        <p:nvSpPr>
          <p:cNvPr id="10" name="Text 7"/>
          <p:cNvSpPr txBox="1"/>
          <p:nvPr/>
        </p:nvSpPr>
        <p:spPr>
          <a:xfrm>
            <a:off x="2834640" y="1938528"/>
            <a:ext cx="347472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Did the customer explicitly ask to escalate?</a:t>
            </a:r>
            <a:endParaRPr lang="en-US" sz="1000" dirty="0"/>
          </a:p>
        </p:txBody>
      </p:sp>
      <p:sp>
        <p:nvSpPr>
          <p:cNvPr id="11" name="Shape 8"/>
          <p:cNvSpPr/>
          <p:nvPr/>
        </p:nvSpPr>
        <p:spPr>
          <a:xfrm>
            <a:off x="4572000" y="2350008"/>
            <a:ext cx="0" cy="182880"/>
          </a:xfrm>
          <a:prstGeom prst="line">
            <a:avLst/>
          </a:prstGeom>
          <a:noFill/>
          <a:ln w="12700">
            <a:solidFill>
              <a:srgbClr val="6E6E73"/>
            </a:solidFill>
            <a:prstDash val="solid"/>
          </a:ln>
        </p:spPr>
      </p:sp>
      <p:sp>
        <p:nvSpPr>
          <p:cNvPr id="12" name="Shape 9"/>
          <p:cNvSpPr/>
          <p:nvPr/>
        </p:nvSpPr>
        <p:spPr>
          <a:xfrm>
            <a:off x="2331720" y="2532888"/>
            <a:ext cx="4480560" cy="0"/>
          </a:xfrm>
          <a:prstGeom prst="line">
            <a:avLst/>
          </a:prstGeom>
          <a:noFill/>
          <a:ln w="12700">
            <a:solidFill>
              <a:srgbClr val="6E6E73"/>
            </a:solidFill>
            <a:prstDash val="solid"/>
          </a:ln>
        </p:spPr>
      </p:sp>
      <p:sp>
        <p:nvSpPr>
          <p:cNvPr id="13" name="Shape 10"/>
          <p:cNvSpPr/>
          <p:nvPr/>
        </p:nvSpPr>
        <p:spPr>
          <a:xfrm>
            <a:off x="2331720" y="2532888"/>
            <a:ext cx="0" cy="210312"/>
          </a:xfrm>
          <a:prstGeom prst="line">
            <a:avLst/>
          </a:prstGeom>
          <a:noFill/>
          <a:ln w="12700">
            <a:solidFill>
              <a:srgbClr val="6E6E73"/>
            </a:solidFill>
            <a:prstDash val="solid"/>
            <a:tailEnd type="triangle"/>
          </a:ln>
        </p:spPr>
      </p:sp>
      <p:sp>
        <p:nvSpPr>
          <p:cNvPr id="14" name="Shape 11"/>
          <p:cNvSpPr/>
          <p:nvPr/>
        </p:nvSpPr>
        <p:spPr>
          <a:xfrm>
            <a:off x="6812280" y="2532888"/>
            <a:ext cx="0" cy="210312"/>
          </a:xfrm>
          <a:prstGeom prst="line">
            <a:avLst/>
          </a:prstGeom>
          <a:noFill/>
          <a:ln w="12700">
            <a:solidFill>
              <a:srgbClr val="6E6E73"/>
            </a:solidFill>
            <a:prstDash val="solid"/>
            <a:tailEnd type="triangle"/>
          </a:ln>
        </p:spPr>
      </p:sp>
      <p:sp>
        <p:nvSpPr>
          <p:cNvPr id="15" name="Text 12"/>
          <p:cNvSpPr txBox="1"/>
          <p:nvPr/>
        </p:nvSpPr>
        <p:spPr>
          <a:xfrm>
            <a:off x="240487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6" name="Text 13"/>
          <p:cNvSpPr txBox="1"/>
          <p:nvPr/>
        </p:nvSpPr>
        <p:spPr>
          <a:xfrm>
            <a:off x="688543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7" name="Shape 14"/>
          <p:cNvSpPr/>
          <p:nvPr/>
        </p:nvSpPr>
        <p:spPr>
          <a:xfrm>
            <a:off x="685800" y="2743200"/>
            <a:ext cx="3291840" cy="411480"/>
          </a:xfrm>
          <a:prstGeom prst="roundRect">
            <a:avLst>
              <a:gd name="adj" fmla="val 17778"/>
            </a:avLst>
          </a:prstGeom>
          <a:solidFill>
            <a:srgbClr val="FFFFFF"/>
          </a:solidFill>
          <a:ln w="12700">
            <a:solidFill>
              <a:srgbClr val="DCE1E7"/>
            </a:solidFill>
            <a:prstDash val="solid"/>
          </a:ln>
        </p:spPr>
      </p:sp>
      <p:sp>
        <p:nvSpPr>
          <p:cNvPr id="18" name="Text 15"/>
          <p:cNvSpPr txBox="1"/>
          <p:nvPr/>
        </p:nvSpPr>
        <p:spPr>
          <a:xfrm>
            <a:off x="685800" y="2743200"/>
            <a:ext cx="3291840" cy="4114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Handle as BAU</a:t>
            </a:r>
            <a:endParaRPr lang="en-US" sz="1000" dirty="0"/>
          </a:p>
        </p:txBody>
      </p:sp>
      <p:sp>
        <p:nvSpPr>
          <p:cNvPr id="19" name="Shape 16"/>
          <p:cNvSpPr/>
          <p:nvPr/>
        </p:nvSpPr>
        <p:spPr>
          <a:xfrm>
            <a:off x="5166360" y="2743200"/>
            <a:ext cx="3291840" cy="411480"/>
          </a:xfrm>
          <a:prstGeom prst="roundRect">
            <a:avLst>
              <a:gd name="adj" fmla="val 17778"/>
            </a:avLst>
          </a:prstGeom>
          <a:solidFill>
            <a:srgbClr val="0B7A6F"/>
          </a:solidFill>
          <a:ln w="12700">
            <a:solidFill>
              <a:srgbClr val="0B7A6F"/>
            </a:solidFill>
            <a:prstDash val="solid"/>
          </a:ln>
        </p:spPr>
      </p:sp>
      <p:sp>
        <p:nvSpPr>
          <p:cNvPr id="20" name="Text 17"/>
          <p:cNvSpPr txBox="1"/>
          <p:nvPr/>
        </p:nvSpPr>
        <p:spPr>
          <a:xfrm>
            <a:off x="5166360" y="2743200"/>
            <a:ext cx="32918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21" name="Text 18"/>
          <p:cNvSpPr txBox="1"/>
          <p:nvPr/>
        </p:nvSpPr>
        <p:spPr>
          <a:xfrm>
            <a:off x="68580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Still counts as a T&amp;S scenario for an ETF waiver.</a:t>
            </a:r>
            <a:endParaRPr lang="en-US" sz="900" dirty="0"/>
          </a:p>
        </p:txBody>
      </p:sp>
      <p:sp>
        <p:nvSpPr>
          <p:cNvPr id="22" name="Text 19"/>
          <p:cNvSpPr txBox="1"/>
          <p:nvPr/>
        </p:nvSpPr>
        <p:spPr>
          <a:xfrm>
            <a:off x="516636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T&amp;S owns the case from here.</a:t>
            </a:r>
            <a:endParaRPr lang="en-US" sz="900" dirty="0"/>
          </a:p>
        </p:txBody>
      </p:sp>
      <p:sp>
        <p:nvSpPr>
          <p:cNvPr id="23" name="Shape 20"/>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0" descr="preencoded.png">    </p:cNvPr>
          <p:cNvPicPr>
            <a:picLocks noChangeAspect="1"/>
          </p:cNvPicPr>
          <p:nvPr/>
        </p:nvPicPr>
        <p:blipFill>
          <a:blip r:embed="rId1"/>
          <a:stretch>
            <a:fillRect/>
          </a:stretch>
        </p:blipFill>
        <p:spPr>
          <a:xfrm>
            <a:off x="566928" y="3858768"/>
            <a:ext cx="164592" cy="164592"/>
          </a:xfrm>
          <a:prstGeom prst="rect">
            <a:avLst/>
          </a:prstGeom>
        </p:spPr>
      </p:pic>
      <p:sp>
        <p:nvSpPr>
          <p:cNvPr id="25" name="Text 21"/>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exhaustive:  </a:t>
            </a:r>
            <a:pPr indent="0" marL="0">
              <a:buNone/>
            </a:pPr>
            <a:r>
              <a:rPr lang="en-US" sz="1000" dirty="0">
                <a:solidFill>
                  <a:srgbClr val="1D1D1F"/>
                </a:solidFill>
                <a:latin typeface="SF Pro Text" pitchFamily="34" charset="0"/>
                <a:ea typeface="SF Pro Text" pitchFamily="34" charset="-122"/>
                <a:cs typeface="SF Pro Text" pitchFamily="34" charset="-120"/>
              </a:rPr>
              <a:t>a new case must be a real safety concern. Unsure? Escalate.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follow-ups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Updates, a report made by mistake, or a triggered T&amp;S reminder.</a:t>
            </a:r>
            <a:endParaRPr lang="en-US" sz="1200" dirty="0"/>
          </a:p>
        </p:txBody>
      </p:sp>
      <p:sp>
        <p:nvSpPr>
          <p:cNvPr id="6" name="Shape 3"/>
          <p:cNvSpPr/>
          <p:nvPr/>
        </p:nvSpPr>
        <p:spPr>
          <a:xfrm>
            <a:off x="411480" y="1280160"/>
            <a:ext cx="48463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280160"/>
            <a:ext cx="48463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asks for an update, says they reported by mistake,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 timed reminder from T&amp;S triggers</a:t>
            </a:r>
            <a:endParaRPr lang="en-US" sz="1000" dirty="0"/>
          </a:p>
        </p:txBody>
      </p:sp>
      <p:sp>
        <p:nvSpPr>
          <p:cNvPr id="8" name="Shape 5"/>
          <p:cNvSpPr/>
          <p:nvPr/>
        </p:nvSpPr>
        <p:spPr>
          <a:xfrm>
            <a:off x="2834640" y="1847088"/>
            <a:ext cx="0" cy="137160"/>
          </a:xfrm>
          <a:prstGeom prst="line">
            <a:avLst/>
          </a:prstGeom>
          <a:noFill/>
          <a:ln w="12700">
            <a:solidFill>
              <a:srgbClr val="6E6E73"/>
            </a:solidFill>
            <a:prstDash val="solid"/>
            <a:tailEnd type="triangle"/>
          </a:ln>
        </p:spPr>
      </p:sp>
      <p:sp>
        <p:nvSpPr>
          <p:cNvPr id="9" name="Shape 6"/>
          <p:cNvSpPr/>
          <p:nvPr/>
        </p:nvSpPr>
        <p:spPr>
          <a:xfrm>
            <a:off x="1234440" y="1984248"/>
            <a:ext cx="3200400" cy="457200"/>
          </a:xfrm>
          <a:prstGeom prst="roundRect">
            <a:avLst>
              <a:gd name="adj" fmla="val 16000"/>
            </a:avLst>
          </a:prstGeom>
          <a:solidFill>
            <a:srgbClr val="FFF3D6"/>
          </a:solidFill>
          <a:ln w="12700">
            <a:solidFill>
              <a:srgbClr val="9A6410"/>
            </a:solidFill>
            <a:prstDash val="solid"/>
          </a:ln>
        </p:spPr>
      </p:sp>
      <p:sp>
        <p:nvSpPr>
          <p:cNvPr id="10" name="Text 7"/>
          <p:cNvSpPr txBox="1"/>
          <p:nvPr/>
        </p:nvSpPr>
        <p:spPr>
          <a:xfrm>
            <a:off x="1234440" y="1984248"/>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posted in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#trust-and-safety-follow-ups?</a:t>
            </a:r>
            <a:endParaRPr lang="en-US" sz="1000" dirty="0"/>
          </a:p>
        </p:txBody>
      </p:sp>
      <p:sp>
        <p:nvSpPr>
          <p:cNvPr id="11" name="Shape 8"/>
          <p:cNvSpPr/>
          <p:nvPr/>
        </p:nvSpPr>
        <p:spPr>
          <a:xfrm>
            <a:off x="2834640" y="2441448"/>
            <a:ext cx="0" cy="137160"/>
          </a:xfrm>
          <a:prstGeom prst="line">
            <a:avLst/>
          </a:prstGeom>
          <a:noFill/>
          <a:ln w="12700">
            <a:solidFill>
              <a:srgbClr val="6E6E73"/>
            </a:solidFill>
            <a:prstDash val="solid"/>
          </a:ln>
        </p:spPr>
      </p:sp>
      <p:sp>
        <p:nvSpPr>
          <p:cNvPr id="12" name="Shape 9"/>
          <p:cNvSpPr/>
          <p:nvPr/>
        </p:nvSpPr>
        <p:spPr>
          <a:xfrm>
            <a:off x="1600200" y="2578608"/>
            <a:ext cx="2468880" cy="0"/>
          </a:xfrm>
          <a:prstGeom prst="line">
            <a:avLst/>
          </a:prstGeom>
          <a:noFill/>
          <a:ln w="12700">
            <a:solidFill>
              <a:srgbClr val="6E6E73"/>
            </a:solidFill>
            <a:prstDash val="solid"/>
          </a:ln>
        </p:spPr>
      </p:sp>
      <p:sp>
        <p:nvSpPr>
          <p:cNvPr id="13" name="Shape 10"/>
          <p:cNvSpPr/>
          <p:nvPr/>
        </p:nvSpPr>
        <p:spPr>
          <a:xfrm>
            <a:off x="1600200" y="2578608"/>
            <a:ext cx="0" cy="146304"/>
          </a:xfrm>
          <a:prstGeom prst="line">
            <a:avLst/>
          </a:prstGeom>
          <a:noFill/>
          <a:ln w="12700">
            <a:solidFill>
              <a:srgbClr val="6E6E73"/>
            </a:solidFill>
            <a:prstDash val="solid"/>
            <a:tailEnd type="triangle"/>
          </a:ln>
        </p:spPr>
      </p:sp>
      <p:sp>
        <p:nvSpPr>
          <p:cNvPr id="14" name="Shape 11"/>
          <p:cNvSpPr/>
          <p:nvPr/>
        </p:nvSpPr>
        <p:spPr>
          <a:xfrm>
            <a:off x="4069080" y="2578608"/>
            <a:ext cx="0" cy="146304"/>
          </a:xfrm>
          <a:prstGeom prst="line">
            <a:avLst/>
          </a:prstGeom>
          <a:noFill/>
          <a:ln w="12700">
            <a:solidFill>
              <a:srgbClr val="6E6E73"/>
            </a:solidFill>
            <a:prstDash val="solid"/>
            <a:tailEnd type="triangle"/>
          </a:ln>
        </p:spPr>
      </p:sp>
      <p:sp>
        <p:nvSpPr>
          <p:cNvPr id="15" name="Text 12"/>
          <p:cNvSpPr txBox="1"/>
          <p:nvPr/>
        </p:nvSpPr>
        <p:spPr>
          <a:xfrm>
            <a:off x="167335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Text 13"/>
          <p:cNvSpPr txBox="1"/>
          <p:nvPr/>
        </p:nvSpPr>
        <p:spPr>
          <a:xfrm>
            <a:off x="414223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7" name="Shape 14"/>
          <p:cNvSpPr/>
          <p:nvPr/>
        </p:nvSpPr>
        <p:spPr>
          <a:xfrm>
            <a:off x="434340" y="2724912"/>
            <a:ext cx="2331720" cy="777240"/>
          </a:xfrm>
          <a:prstGeom prst="roundRect">
            <a:avLst>
              <a:gd name="adj" fmla="val 9412"/>
            </a:avLst>
          </a:prstGeom>
          <a:solidFill>
            <a:srgbClr val="0B7A6F"/>
          </a:solidFill>
          <a:ln w="12700">
            <a:solidFill>
              <a:srgbClr val="0B7A6F"/>
            </a:solidFill>
            <a:prstDash val="solid"/>
          </a:ln>
        </p:spPr>
      </p:sp>
      <p:sp>
        <p:nvSpPr>
          <p:cNvPr id="18" name="Text 15"/>
          <p:cNvSpPr txBox="1"/>
          <p:nvPr/>
        </p:nvSpPr>
        <p:spPr>
          <a:xfrm>
            <a:off x="43434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Reply in the original thread.</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Tick "Also send to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#trust-and-safety-follow-ups"</a:t>
            </a:r>
            <a:endParaRPr lang="en-US" sz="1000" dirty="0"/>
          </a:p>
        </p:txBody>
      </p:sp>
      <p:sp>
        <p:nvSpPr>
          <p:cNvPr id="19" name="Shape 16"/>
          <p:cNvSpPr/>
          <p:nvPr/>
        </p:nvSpPr>
        <p:spPr>
          <a:xfrm>
            <a:off x="2903220" y="2724912"/>
            <a:ext cx="2331720" cy="777240"/>
          </a:xfrm>
          <a:prstGeom prst="roundRect">
            <a:avLst>
              <a:gd name="adj" fmla="val 9412"/>
            </a:avLst>
          </a:prstGeom>
          <a:solidFill>
            <a:srgbClr val="0B7A6F"/>
          </a:solidFill>
          <a:ln w="12700">
            <a:solidFill>
              <a:srgbClr val="0B7A6F"/>
            </a:solidFill>
            <a:prstDash val="solid"/>
          </a:ln>
        </p:spPr>
      </p:sp>
      <p:sp>
        <p:nvSpPr>
          <p:cNvPr id="20" name="Text 17"/>
          <p:cNvSpPr txBox="1"/>
          <p:nvPr/>
        </p:nvSpPr>
        <p:spPr>
          <a:xfrm>
            <a:off x="290322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post (format at right).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with the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Slack link of your post</a:t>
            </a:r>
            <a:endParaRPr lang="en-US" sz="1000" dirty="0"/>
          </a:p>
        </p:txBody>
      </p:sp>
      <p:sp>
        <p:nvSpPr>
          <p:cNvPr id="21" name="Shape 18"/>
          <p:cNvSpPr/>
          <p:nvPr/>
        </p:nvSpPr>
        <p:spPr>
          <a:xfrm>
            <a:off x="1600200" y="3502152"/>
            <a:ext cx="0" cy="155448"/>
          </a:xfrm>
          <a:prstGeom prst="line">
            <a:avLst/>
          </a:prstGeom>
          <a:noFill/>
          <a:ln w="12700">
            <a:solidFill>
              <a:srgbClr val="6E6E73"/>
            </a:solidFill>
            <a:prstDash val="solid"/>
          </a:ln>
        </p:spPr>
      </p:sp>
      <p:sp>
        <p:nvSpPr>
          <p:cNvPr id="22" name="Shape 19"/>
          <p:cNvSpPr/>
          <p:nvPr/>
        </p:nvSpPr>
        <p:spPr>
          <a:xfrm>
            <a:off x="4069080" y="3502152"/>
            <a:ext cx="0" cy="155448"/>
          </a:xfrm>
          <a:prstGeom prst="line">
            <a:avLst/>
          </a:prstGeom>
          <a:noFill/>
          <a:ln w="12700">
            <a:solidFill>
              <a:srgbClr val="6E6E73"/>
            </a:solidFill>
            <a:prstDash val="solid"/>
          </a:ln>
        </p:spPr>
      </p:sp>
      <p:sp>
        <p:nvSpPr>
          <p:cNvPr id="23" name="Shape 20"/>
          <p:cNvSpPr/>
          <p:nvPr/>
        </p:nvSpPr>
        <p:spPr>
          <a:xfrm>
            <a:off x="1600200" y="3657600"/>
            <a:ext cx="2468880" cy="0"/>
          </a:xfrm>
          <a:prstGeom prst="line">
            <a:avLst/>
          </a:prstGeom>
          <a:noFill/>
          <a:ln w="12700">
            <a:solidFill>
              <a:srgbClr val="6E6E73"/>
            </a:solidFill>
            <a:prstDash val="solid"/>
          </a:ln>
        </p:spPr>
      </p:sp>
      <p:sp>
        <p:nvSpPr>
          <p:cNvPr id="24" name="Shape 21"/>
          <p:cNvSpPr/>
          <p:nvPr/>
        </p:nvSpPr>
        <p:spPr>
          <a:xfrm>
            <a:off x="2834640" y="3657600"/>
            <a:ext cx="0" cy="137160"/>
          </a:xfrm>
          <a:prstGeom prst="line">
            <a:avLst/>
          </a:prstGeom>
          <a:noFill/>
          <a:ln w="12700">
            <a:solidFill>
              <a:srgbClr val="6E6E73"/>
            </a:solidFill>
            <a:prstDash val="solid"/>
            <a:tailEnd type="triangle"/>
          </a:ln>
        </p:spPr>
      </p:sp>
      <p:sp>
        <p:nvSpPr>
          <p:cNvPr id="25" name="Shape 22"/>
          <p:cNvSpPr/>
          <p:nvPr/>
        </p:nvSpPr>
        <p:spPr>
          <a:xfrm>
            <a:off x="411480" y="3794760"/>
            <a:ext cx="4846320" cy="438912"/>
          </a:xfrm>
          <a:prstGeom prst="roundRect">
            <a:avLst>
              <a:gd name="adj" fmla="val 16667"/>
            </a:avLst>
          </a:prstGeom>
          <a:solidFill>
            <a:srgbClr val="FFFFFF"/>
          </a:solidFill>
          <a:ln w="12700">
            <a:solidFill>
              <a:srgbClr val="DCE1E7"/>
            </a:solidFill>
            <a:prstDash val="solid"/>
          </a:ln>
        </p:spPr>
      </p:sp>
      <p:sp>
        <p:nvSpPr>
          <p:cNvPr id="26" name="Text 23"/>
          <p:cNvSpPr txBox="1"/>
          <p:nvPr/>
        </p:nvSpPr>
        <p:spPr>
          <a:xfrm>
            <a:off x="411480" y="3794760"/>
            <a:ext cx="4846320" cy="43891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 T&amp;S Follow-ups</a:t>
            </a:r>
            <a:endParaRPr lang="en-US" sz="1000" dirty="0"/>
          </a:p>
        </p:txBody>
      </p:sp>
      <p:sp>
        <p:nvSpPr>
          <p:cNvPr id="27" name="Shape 24"/>
          <p:cNvSpPr/>
          <p:nvPr/>
        </p:nvSpPr>
        <p:spPr>
          <a:xfrm>
            <a:off x="5440680" y="1280160"/>
            <a:ext cx="3291840" cy="1325880"/>
          </a:xfrm>
          <a:prstGeom prst="roundRect">
            <a:avLst>
              <a:gd name="adj" fmla="val 5517"/>
            </a:avLst>
          </a:prstGeom>
          <a:solidFill>
            <a:srgbClr val="FFFFFF"/>
          </a:solidFill>
          <a:ln w="9525">
            <a:solidFill>
              <a:srgbClr val="DCE1E7"/>
            </a:solidFill>
            <a:prstDash val="solid"/>
          </a:ln>
        </p:spPr>
      </p:sp>
      <p:pic>
        <p:nvPicPr>
          <p:cNvPr id="28" name="Image 0" descr="/tmp/claude-0/-workspace-training/3ce5cff6-cccf-5f33-b0ee-0b147a55120e/scratchpad/img4/ts_followup.png">    </p:cNvPr>
          <p:cNvPicPr>
            <a:picLocks noChangeAspect="1"/>
          </p:cNvPicPr>
          <p:nvPr/>
        </p:nvPicPr>
        <p:blipFill>
          <a:blip r:embed="rId1"/>
          <a:stretch>
            <a:fillRect/>
          </a:stretch>
        </p:blipFill>
        <p:spPr>
          <a:xfrm>
            <a:off x="5593267" y="1371600"/>
            <a:ext cx="2986665" cy="941832"/>
          </a:xfrm>
          <a:prstGeom prst="rect">
            <a:avLst/>
          </a:prstGeom>
        </p:spPr>
      </p:pic>
      <p:sp>
        <p:nvSpPr>
          <p:cNvPr id="29" name="Shape 25"/>
          <p:cNvSpPr/>
          <p:nvPr/>
        </p:nvSpPr>
        <p:spPr>
          <a:xfrm>
            <a:off x="5593267" y="1371600"/>
            <a:ext cx="2986665" cy="941832"/>
          </a:xfrm>
          <a:prstGeom prst="rect">
            <a:avLst/>
          </a:prstGeom>
          <a:ln w="6350">
            <a:solidFill>
              <a:srgbClr val="DCE1E7"/>
            </a:solidFill>
            <a:prstDash val="solid"/>
          </a:ln>
        </p:spPr>
      </p:sp>
      <p:sp>
        <p:nvSpPr>
          <p:cNvPr id="30" name="Text 26"/>
          <p:cNvSpPr txBox="1"/>
          <p:nvPr/>
        </p:nvSpPr>
        <p:spPr>
          <a:xfrm>
            <a:off x="5532120" y="2331720"/>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Follow-up post format</a:t>
            </a:r>
            <a:endParaRPr lang="en-US" sz="800" dirty="0"/>
          </a:p>
        </p:txBody>
      </p:sp>
      <p:sp>
        <p:nvSpPr>
          <p:cNvPr id="31" name="Shape 27"/>
          <p:cNvSpPr/>
          <p:nvPr/>
        </p:nvSpPr>
        <p:spPr>
          <a:xfrm>
            <a:off x="5440680" y="2743200"/>
            <a:ext cx="3291840" cy="1536192"/>
          </a:xfrm>
          <a:prstGeom prst="roundRect">
            <a:avLst>
              <a:gd name="adj" fmla="val 4762"/>
            </a:avLst>
          </a:prstGeom>
          <a:solidFill>
            <a:srgbClr val="FFFFFF"/>
          </a:solidFill>
          <a:ln w="9525">
            <a:solidFill>
              <a:srgbClr val="DCE1E7"/>
            </a:solidFill>
            <a:prstDash val="solid"/>
          </a:ln>
        </p:spPr>
      </p:sp>
      <p:pic>
        <p:nvPicPr>
          <p:cNvPr id="32" name="Image 1" descr="/tmp/claude-0/-workspace-training/3ce5cff6-cccf-5f33-b0ee-0b147a55120e/scratchpad/img4/ts_reminder.png">    </p:cNvPr>
          <p:cNvPicPr>
            <a:picLocks noChangeAspect="1"/>
          </p:cNvPicPr>
          <p:nvPr/>
        </p:nvPicPr>
        <p:blipFill>
          <a:blip r:embed="rId2"/>
          <a:stretch>
            <a:fillRect/>
          </a:stretch>
        </p:blipFill>
        <p:spPr>
          <a:xfrm>
            <a:off x="6017429" y="2834640"/>
            <a:ext cx="2138341" cy="1152144"/>
          </a:xfrm>
          <a:prstGeom prst="rect">
            <a:avLst/>
          </a:prstGeom>
        </p:spPr>
      </p:pic>
      <p:sp>
        <p:nvSpPr>
          <p:cNvPr id="33" name="Shape 28"/>
          <p:cNvSpPr/>
          <p:nvPr/>
        </p:nvSpPr>
        <p:spPr>
          <a:xfrm>
            <a:off x="6017429" y="2834640"/>
            <a:ext cx="2138341" cy="1152144"/>
          </a:xfrm>
          <a:prstGeom prst="rect">
            <a:avLst/>
          </a:prstGeom>
          <a:ln w="6350">
            <a:solidFill>
              <a:srgbClr val="DCE1E7"/>
            </a:solidFill>
            <a:prstDash val="solid"/>
          </a:ln>
        </p:spPr>
      </p:sp>
      <p:sp>
        <p:nvSpPr>
          <p:cNvPr id="34" name="Text 29"/>
          <p:cNvSpPr txBox="1"/>
          <p:nvPr/>
        </p:nvSpPr>
        <p:spPr>
          <a:xfrm>
            <a:off x="5532120" y="4005072"/>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Triggered timed reminder from T&amp;S</a:t>
            </a:r>
            <a:endParaRPr lang="en-US" sz="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mentions in passing that the CP brought their teenager along, but doesn't ask to escalate.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Handle as BAU. It still counts as a T&amp;S scenario for an ETF waiver.</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"you missed a spot" and the CP disagreed calmly. Is this a T&amp;S verbal dispute?</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disagreement about the cleaning only qualifies if it turns heated, aggressive or intimidating.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reports the CP sent sexual messages and asks for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yourself. Escalate to T&amp;S and email the customer; T&amp;S decides the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T&amp;S replies: "This is not a T&amp;S concern." Now what?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78</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escalate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Care doesn't investigate or resolve T&amp;S cases.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Hands off</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refunds, ETF changes, retention or cleaner contact.</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Unsure? Escalate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don't need certainty to raise a risk.</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Service Recovery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Cases with legal, reputational or relationship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Service Recovery handles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Material vs. general legal threats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escalate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case comes back</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0.png">    </p:cNvPr>
          <p:cNvPicPr>
            <a:picLocks noChangeAspect="1"/>
          </p:cNvPicPr>
          <p:nvPr/>
        </p:nvPicPr>
        <p:blipFill>
          <a:blip r:embed="rId5"/>
          <a:stretch>
            <a:fillRect/>
          </a:stretch>
        </p:blipFill>
        <p:spPr>
          <a:xfrm>
            <a:off x="5541264" y="1776984"/>
            <a:ext cx="2926080" cy="158496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Service Recovery handles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Care recognizes and hands off. SR decides the resolution.</a:t>
            </a:r>
            <a:endParaRPr lang="en-US" sz="1200" dirty="0"/>
          </a:p>
        </p:txBody>
      </p:sp>
      <p:sp>
        <p:nvSpPr>
          <p:cNvPr id="6" name="Shape 3"/>
          <p:cNvSpPr/>
          <p:nvPr/>
        </p:nvSpPr>
        <p:spPr>
          <a:xfrm>
            <a:off x="411480" y="1325880"/>
            <a:ext cx="40919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Negative CSAT, opted in</a:t>
            </a:r>
            <a:endParaRPr lang="en-US" sz="1200" dirty="0"/>
          </a:p>
        </p:txBody>
      </p:sp>
      <p:sp>
        <p:nvSpPr>
          <p:cNvPr id="10" name="Text 6"/>
          <p:cNvSpPr txBox="1"/>
          <p:nvPr/>
        </p:nvSpPr>
        <p:spPr>
          <a:xfrm>
            <a:off x="5760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left negative survey feedback and asked to be contacted by phone or email.</a:t>
            </a:r>
            <a:endParaRPr lang="en-US" sz="950" dirty="0"/>
          </a:p>
        </p:txBody>
      </p:sp>
      <p:sp>
        <p:nvSpPr>
          <p:cNvPr id="11" name="Shape 7"/>
          <p:cNvSpPr/>
          <p:nvPr/>
        </p:nvSpPr>
        <p:spPr>
          <a:xfrm>
            <a:off x="4640580" y="1325880"/>
            <a:ext cx="40919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High-risk legal or FTC threat</a:t>
            </a:r>
            <a:endParaRPr lang="en-US" sz="1200" dirty="0"/>
          </a:p>
        </p:txBody>
      </p:sp>
      <p:sp>
        <p:nvSpPr>
          <p:cNvPr id="15" name="Text 10"/>
          <p:cNvSpPr txBox="1"/>
          <p:nvPr/>
        </p:nvSpPr>
        <p:spPr>
          <a:xfrm>
            <a:off x="48051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or an FTC mention, when the risk of escalation is significantly high.</a:t>
            </a:r>
            <a:endParaRPr lang="en-US" sz="950" dirty="0"/>
          </a:p>
        </p:txBody>
      </p:sp>
      <p:sp>
        <p:nvSpPr>
          <p:cNvPr id="16" name="Shape 11"/>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172968"/>
            <a:ext cx="164592" cy="164592"/>
          </a:xfrm>
          <a:prstGeom prst="rect">
            <a:avLst/>
          </a:prstGeom>
        </p:spPr>
      </p:pic>
      <p:sp>
        <p:nvSpPr>
          <p:cNvPr id="18" name="Text 12"/>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SR decides:  </a:t>
            </a:r>
            <a:pPr indent="0" marL="0">
              <a:buNone/>
            </a:pPr>
            <a:r>
              <a:rPr lang="en-US" sz="1000" dirty="0">
                <a:solidFill>
                  <a:srgbClr val="1D1D1F"/>
                </a:solidFill>
                <a:latin typeface="SF Pro Text" pitchFamily="34" charset="0"/>
                <a:ea typeface="SF Pro Text" pitchFamily="34" charset="-122"/>
                <a:cs typeface="SF Pro Text" pitchFamily="34" charset="-120"/>
              </a:rPr>
              <a:t>refund eligibility, scope and any ETF waiver for the cases they own.</a:t>
            </a:r>
            <a:endParaRPr lang="en-US" sz="1000" dirty="0"/>
          </a:p>
        </p:txBody>
      </p:sp>
      <p:sp>
        <p:nvSpPr>
          <p:cNvPr id="19" name="Shape 1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3675888"/>
            <a:ext cx="164592" cy="164592"/>
          </a:xfrm>
          <a:prstGeom prst="rect">
            <a:avLst/>
          </a:prstGeom>
        </p:spPr>
      </p:pic>
      <p:sp>
        <p:nvSpPr>
          <p:cNvPr id="21" name="Text 1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BBB:  </a:t>
            </a:r>
            <a:pPr indent="0" marL="0">
              <a:buNone/>
            </a:pPr>
            <a:r>
              <a:rPr lang="en-US" sz="1000" dirty="0">
                <a:solidFill>
                  <a:srgbClr val="1D1D1F"/>
                </a:solidFill>
                <a:latin typeface="SF Pro Text" pitchFamily="34" charset="0"/>
                <a:ea typeface="SF Pro Text" pitchFamily="34" charset="-122"/>
                <a:cs typeface="SF Pro Text" pitchFamily="34" charset="-120"/>
              </a:rPr>
              <a:t>a threat is BAU. A filed complaint follows the HDR Ticket Handling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vs. general legal threats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some legal language needs Service Recovery.</a:t>
            </a:r>
            <a:endParaRPr lang="en-US" sz="12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188720"/>
                <a:gridCol w="2377440"/>
                <a:gridCol w="2377440"/>
                <a:gridCol w="2377440"/>
              </a:tblGrid>
              <a:tr h="36576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Material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BBB (special case)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11430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Examples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Attorney General, formal legal letter, lawyer CC'd, class action, email from a law firm, joining litigation, small claims court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FTC mention, social media threat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report this to the BBB" vs. an actual filed complaint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7772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What you do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SR needed. Waive the ETF and cancel FC immediately.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Handle as BAU. Escalate to SR only if the risk is significant.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Threat: BAU, no escalation. Filed complaint: HDR ticket process.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9" name="Text 4"/>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material threats skip SR. The waiver is immediate.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or general?</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each message, decide, then click to reveal.</a:t>
            </a:r>
            <a:endParaRPr lang="en-US" sz="1200" dirty="0"/>
          </a:p>
        </p:txBody>
      </p:sp>
      <p:sp>
        <p:nvSpPr>
          <p:cNvPr id="6" name="Shape 3"/>
          <p:cNvSpPr/>
          <p:nvPr/>
        </p:nvSpPr>
        <p:spPr>
          <a:xfrm>
            <a:off x="411480" y="1280160"/>
            <a:ext cx="4617720" cy="510540"/>
          </a:xfrm>
          <a:prstGeom prst="roundRect">
            <a:avLst>
              <a:gd name="adj" fmla="val 14328"/>
            </a:avLst>
          </a:prstGeom>
          <a:solidFill>
            <a:srgbClr val="FFFFFF"/>
          </a:solidFill>
          <a:ln w="9525">
            <a:solidFill>
              <a:srgbClr val="DCE1E7"/>
            </a:solidFill>
            <a:prstDash val="solid"/>
          </a:ln>
        </p:spPr>
      </p:sp>
      <p:sp>
        <p:nvSpPr>
          <p:cNvPr id="7" name="Shape 4"/>
          <p:cNvSpPr/>
          <p:nvPr/>
        </p:nvSpPr>
        <p:spPr>
          <a:xfrm>
            <a:off x="548640" y="1398270"/>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39827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going to file a complaint with the Attorney General about this."</a:t>
            </a:r>
            <a:endParaRPr lang="en-US" sz="950" dirty="0"/>
          </a:p>
        </p:txBody>
      </p:sp>
      <p:sp>
        <p:nvSpPr>
          <p:cNvPr id="10" name="Shape 7"/>
          <p:cNvSpPr/>
          <p:nvPr/>
        </p:nvSpPr>
        <p:spPr>
          <a:xfrm>
            <a:off x="5120640" y="1280160"/>
            <a:ext cx="3611880" cy="510540"/>
          </a:xfrm>
          <a:prstGeom prst="roundRect">
            <a:avLst>
              <a:gd name="adj" fmla="val 14328"/>
            </a:avLst>
          </a:prstGeom>
          <a:solidFill>
            <a:srgbClr val="E3F4F1"/>
          </a:solidFill>
          <a:ln w="9525">
            <a:solidFill>
              <a:srgbClr val="E3F4F1"/>
            </a:solidFill>
            <a:prstDash val="solid"/>
          </a:ln>
        </p:spPr>
      </p:sp>
      <p:sp>
        <p:nvSpPr>
          <p:cNvPr id="11" name="step1Ans"/>
          <p:cNvSpPr txBox="1"/>
          <p:nvPr/>
        </p:nvSpPr>
        <p:spPr>
          <a:xfrm>
            <a:off x="5257800" y="128016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12" name="Shape 9"/>
          <p:cNvSpPr/>
          <p:nvPr/>
        </p:nvSpPr>
        <p:spPr>
          <a:xfrm>
            <a:off x="411480" y="1863852"/>
            <a:ext cx="4617720" cy="510540"/>
          </a:xfrm>
          <a:prstGeom prst="roundRect">
            <a:avLst>
              <a:gd name="adj" fmla="val 14328"/>
            </a:avLst>
          </a:prstGeom>
          <a:solidFill>
            <a:srgbClr val="FFFFFF"/>
          </a:solidFill>
          <a:ln w="9525">
            <a:solidFill>
              <a:srgbClr val="DCE1E7"/>
            </a:solidFill>
            <a:prstDash val="solid"/>
          </a:ln>
        </p:spPr>
      </p:sp>
      <p:sp>
        <p:nvSpPr>
          <p:cNvPr id="13" name="Shape 10"/>
          <p:cNvSpPr/>
          <p:nvPr/>
        </p:nvSpPr>
        <p:spPr>
          <a:xfrm>
            <a:off x="548640" y="198196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198196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1863852"/>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doesn't get fixed, I'm getting a lawyer involved."</a:t>
            </a:r>
            <a:endParaRPr lang="en-US" sz="950" dirty="0"/>
          </a:p>
        </p:txBody>
      </p:sp>
      <p:sp>
        <p:nvSpPr>
          <p:cNvPr id="16" name="Shape 13"/>
          <p:cNvSpPr/>
          <p:nvPr/>
        </p:nvSpPr>
        <p:spPr>
          <a:xfrm>
            <a:off x="5120640" y="1863852"/>
            <a:ext cx="3611880" cy="510540"/>
          </a:xfrm>
          <a:prstGeom prst="roundRect">
            <a:avLst>
              <a:gd name="adj" fmla="val 14328"/>
            </a:avLst>
          </a:prstGeom>
          <a:solidFill>
            <a:srgbClr val="E3F4F1"/>
          </a:solidFill>
          <a:ln w="9525">
            <a:solidFill>
              <a:srgbClr val="E3F4F1"/>
            </a:solidFill>
            <a:prstDash val="solid"/>
          </a:ln>
        </p:spPr>
      </p:sp>
      <p:sp>
        <p:nvSpPr>
          <p:cNvPr id="17" name="step2Ans"/>
          <p:cNvSpPr txBox="1"/>
          <p:nvPr/>
        </p:nvSpPr>
        <p:spPr>
          <a:xfrm>
            <a:off x="5257800" y="1863852"/>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18" name="Shape 15"/>
          <p:cNvSpPr/>
          <p:nvPr/>
        </p:nvSpPr>
        <p:spPr>
          <a:xfrm>
            <a:off x="411480" y="2447544"/>
            <a:ext cx="4617720" cy="510540"/>
          </a:xfrm>
          <a:prstGeom prst="roundRect">
            <a:avLst>
              <a:gd name="adj" fmla="val 14328"/>
            </a:avLst>
          </a:prstGeom>
          <a:solidFill>
            <a:srgbClr val="FFFFFF"/>
          </a:solidFill>
          <a:ln w="9525">
            <a:solidFill>
              <a:srgbClr val="DCE1E7"/>
            </a:solidFill>
            <a:prstDash val="solid"/>
          </a:ln>
        </p:spPr>
      </p:sp>
      <p:sp>
        <p:nvSpPr>
          <p:cNvPr id="19" name="Shape 16"/>
          <p:cNvSpPr/>
          <p:nvPr/>
        </p:nvSpPr>
        <p:spPr>
          <a:xfrm>
            <a:off x="548640" y="256565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256565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447544"/>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"My lawyer has been CC'd on this email and will be following up."</a:t>
            </a:r>
            <a:endParaRPr lang="en-US" sz="950" dirty="0"/>
          </a:p>
        </p:txBody>
      </p:sp>
      <p:sp>
        <p:nvSpPr>
          <p:cNvPr id="22" name="Shape 19"/>
          <p:cNvSpPr/>
          <p:nvPr/>
        </p:nvSpPr>
        <p:spPr>
          <a:xfrm>
            <a:off x="5120640" y="2447544"/>
            <a:ext cx="3611880" cy="510540"/>
          </a:xfrm>
          <a:prstGeom prst="roundRect">
            <a:avLst>
              <a:gd name="adj" fmla="val 14328"/>
            </a:avLst>
          </a:prstGeom>
          <a:solidFill>
            <a:srgbClr val="E3F4F1"/>
          </a:solidFill>
          <a:ln w="9525">
            <a:solidFill>
              <a:srgbClr val="E3F4F1"/>
            </a:solidFill>
            <a:prstDash val="solid"/>
          </a:ln>
        </p:spPr>
      </p:sp>
      <p:sp>
        <p:nvSpPr>
          <p:cNvPr id="23" name="step3Ans"/>
          <p:cNvSpPr txBox="1"/>
          <p:nvPr/>
        </p:nvSpPr>
        <p:spPr>
          <a:xfrm>
            <a:off x="5257800" y="2447544"/>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24" name="Shape 21"/>
          <p:cNvSpPr/>
          <p:nvPr/>
        </p:nvSpPr>
        <p:spPr>
          <a:xfrm>
            <a:off x="411480" y="3031236"/>
            <a:ext cx="4617720" cy="510540"/>
          </a:xfrm>
          <a:prstGeom prst="roundRect">
            <a:avLst>
              <a:gd name="adj" fmla="val 14328"/>
            </a:avLst>
          </a:prstGeom>
          <a:solidFill>
            <a:srgbClr val="FFFFFF"/>
          </a:solidFill>
          <a:ln w="9525">
            <a:solidFill>
              <a:srgbClr val="DCE1E7"/>
            </a:solidFill>
            <a:prstDash val="solid"/>
          </a:ln>
        </p:spPr>
      </p:sp>
      <p:sp>
        <p:nvSpPr>
          <p:cNvPr id="25" name="Shape 22"/>
          <p:cNvSpPr/>
          <p:nvPr/>
        </p:nvSpPr>
        <p:spPr>
          <a:xfrm>
            <a:off x="548640" y="3149346"/>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314934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031236"/>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reporting this to the Better Business Bureau."</a:t>
            </a:r>
            <a:endParaRPr lang="en-US" sz="950" dirty="0"/>
          </a:p>
        </p:txBody>
      </p:sp>
      <p:sp>
        <p:nvSpPr>
          <p:cNvPr id="28" name="Shape 25"/>
          <p:cNvSpPr/>
          <p:nvPr/>
        </p:nvSpPr>
        <p:spPr>
          <a:xfrm>
            <a:off x="5120640" y="3031236"/>
            <a:ext cx="3611880" cy="510540"/>
          </a:xfrm>
          <a:prstGeom prst="roundRect">
            <a:avLst>
              <a:gd name="adj" fmla="val 14328"/>
            </a:avLst>
          </a:prstGeom>
          <a:solidFill>
            <a:srgbClr val="E3F4F1"/>
          </a:solidFill>
          <a:ln w="9525">
            <a:solidFill>
              <a:srgbClr val="E3F4F1"/>
            </a:solidFill>
            <a:prstDash val="solid"/>
          </a:ln>
        </p:spPr>
      </p:sp>
      <p:sp>
        <p:nvSpPr>
          <p:cNvPr id="29" name="step4Ans"/>
          <p:cNvSpPr txBox="1"/>
          <p:nvPr/>
        </p:nvSpPr>
        <p:spPr>
          <a:xfrm>
            <a:off x="5257800" y="3031236"/>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BBB threat. BAU, no escalation.</a:t>
            </a:r>
            <a:endParaRPr lang="en-US" sz="950" dirty="0"/>
          </a:p>
        </p:txBody>
      </p:sp>
      <p:sp>
        <p:nvSpPr>
          <p:cNvPr id="30" name="Shape 27"/>
          <p:cNvSpPr/>
          <p:nvPr/>
        </p:nvSpPr>
        <p:spPr>
          <a:xfrm>
            <a:off x="411480" y="3614928"/>
            <a:ext cx="4617720" cy="510540"/>
          </a:xfrm>
          <a:prstGeom prst="roundRect">
            <a:avLst>
              <a:gd name="adj" fmla="val 14328"/>
            </a:avLst>
          </a:prstGeom>
          <a:solidFill>
            <a:srgbClr val="FFFFFF"/>
          </a:solidFill>
          <a:ln w="9525">
            <a:solidFill>
              <a:srgbClr val="DCE1E7"/>
            </a:solidFill>
            <a:prstDash val="solid"/>
          </a:ln>
        </p:spPr>
      </p:sp>
      <p:sp>
        <p:nvSpPr>
          <p:cNvPr id="31" name="Shape 28"/>
          <p:cNvSpPr/>
          <p:nvPr/>
        </p:nvSpPr>
        <p:spPr>
          <a:xfrm>
            <a:off x="548640" y="3733038"/>
            <a:ext cx="274320" cy="274320"/>
          </a:xfrm>
          <a:prstGeom prst="ellipse">
            <a:avLst/>
          </a:prstGeom>
          <a:solidFill>
            <a:srgbClr val="E3F4F1"/>
          </a:solidFill>
          <a:ln w="12700">
            <a:solidFill>
              <a:srgbClr val="E3F4F1"/>
            </a:solidFill>
            <a:prstDash val="solid"/>
          </a:ln>
        </p:spPr>
      </p:sp>
      <p:sp>
        <p:nvSpPr>
          <p:cNvPr id="32" name="Text 29"/>
          <p:cNvSpPr txBox="1"/>
          <p:nvPr/>
        </p:nvSpPr>
        <p:spPr>
          <a:xfrm>
            <a:off x="548640" y="373303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3" name="Text 30"/>
          <p:cNvSpPr txBox="1"/>
          <p:nvPr/>
        </p:nvSpPr>
        <p:spPr>
          <a:xfrm>
            <a:off x="960120" y="3614928"/>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isn't resolved, I'm filing in small claims court."</a:t>
            </a:r>
            <a:endParaRPr lang="en-US" sz="950" dirty="0"/>
          </a:p>
        </p:txBody>
      </p:sp>
      <p:sp>
        <p:nvSpPr>
          <p:cNvPr id="34" name="Shape 31"/>
          <p:cNvSpPr/>
          <p:nvPr/>
        </p:nvSpPr>
        <p:spPr>
          <a:xfrm>
            <a:off x="5120640" y="3614928"/>
            <a:ext cx="3611880" cy="510540"/>
          </a:xfrm>
          <a:prstGeom prst="roundRect">
            <a:avLst>
              <a:gd name="adj" fmla="val 14328"/>
            </a:avLst>
          </a:prstGeom>
          <a:solidFill>
            <a:srgbClr val="E3F4F1"/>
          </a:solidFill>
          <a:ln w="9525">
            <a:solidFill>
              <a:srgbClr val="E3F4F1"/>
            </a:solidFill>
            <a:prstDash val="solid"/>
          </a:ln>
        </p:spPr>
      </p:sp>
      <p:sp>
        <p:nvSpPr>
          <p:cNvPr id="35" name="step5Ans"/>
          <p:cNvSpPr txBox="1"/>
          <p:nvPr/>
        </p:nvSpPr>
        <p:spPr>
          <a:xfrm>
            <a:off x="5257800" y="3614928"/>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36" name="Shape 33"/>
          <p:cNvSpPr/>
          <p:nvPr/>
        </p:nvSpPr>
        <p:spPr>
          <a:xfrm>
            <a:off x="411480" y="4198620"/>
            <a:ext cx="4617720" cy="510540"/>
          </a:xfrm>
          <a:prstGeom prst="roundRect">
            <a:avLst>
              <a:gd name="adj" fmla="val 14328"/>
            </a:avLst>
          </a:prstGeom>
          <a:solidFill>
            <a:srgbClr val="FFFFFF"/>
          </a:solidFill>
          <a:ln w="9525">
            <a:solidFill>
              <a:srgbClr val="DCE1E7"/>
            </a:solidFill>
            <a:prstDash val="solid"/>
          </a:ln>
        </p:spPr>
      </p:sp>
      <p:sp>
        <p:nvSpPr>
          <p:cNvPr id="37" name="Shape 34"/>
          <p:cNvSpPr/>
          <p:nvPr/>
        </p:nvSpPr>
        <p:spPr>
          <a:xfrm>
            <a:off x="548640" y="4316730"/>
            <a:ext cx="274320" cy="274320"/>
          </a:xfrm>
          <a:prstGeom prst="ellipse">
            <a:avLst/>
          </a:prstGeom>
          <a:solidFill>
            <a:srgbClr val="E3F4F1"/>
          </a:solidFill>
          <a:ln w="12700">
            <a:solidFill>
              <a:srgbClr val="E3F4F1"/>
            </a:solidFill>
            <a:prstDash val="solid"/>
          </a:ln>
        </p:spPr>
      </p:sp>
      <p:sp>
        <p:nvSpPr>
          <p:cNvPr id="38" name="Text 35"/>
          <p:cNvSpPr txBox="1"/>
          <p:nvPr/>
        </p:nvSpPr>
        <p:spPr>
          <a:xfrm>
            <a:off x="548640" y="431673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39" name="Text 36"/>
          <p:cNvSpPr txBox="1"/>
          <p:nvPr/>
        </p:nvSpPr>
        <p:spPr>
          <a:xfrm>
            <a:off x="960120" y="419862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"I'll be filing a complaint with the FTC."</a:t>
            </a:r>
            <a:endParaRPr lang="en-US" sz="950" dirty="0"/>
          </a:p>
        </p:txBody>
      </p:sp>
      <p:sp>
        <p:nvSpPr>
          <p:cNvPr id="40" name="Shape 37"/>
          <p:cNvSpPr/>
          <p:nvPr/>
        </p:nvSpPr>
        <p:spPr>
          <a:xfrm>
            <a:off x="5120640" y="4198620"/>
            <a:ext cx="3611880" cy="510540"/>
          </a:xfrm>
          <a:prstGeom prst="roundRect">
            <a:avLst>
              <a:gd name="adj" fmla="val 14328"/>
            </a:avLst>
          </a:prstGeom>
          <a:solidFill>
            <a:srgbClr val="E3F4F1"/>
          </a:solidFill>
          <a:ln w="9525">
            <a:solidFill>
              <a:srgbClr val="E3F4F1"/>
            </a:solidFill>
            <a:prstDash val="solid"/>
          </a:ln>
        </p:spPr>
      </p:sp>
      <p:sp>
        <p:nvSpPr>
          <p:cNvPr id="41" name="step6Ans"/>
          <p:cNvSpPr txBox="1"/>
          <p:nvPr/>
        </p:nvSpPr>
        <p:spPr>
          <a:xfrm>
            <a:off x="5257800" y="419862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600"/>
                                        <p:tgtEl>
                                          <p:spTgt spid="35"/>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P spid="35" grpId="0" animBg="1"/>
      <p:bldP spid="41"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escalate</a:t>
            </a:r>
            <a:endParaRPr lang="en-US" sz="2400" dirty="0"/>
          </a:p>
        </p:txBody>
      </p:sp>
      <p:sp>
        <p:nvSpPr>
          <p:cNvPr id="5" name="Shape 2"/>
          <p:cNvSpPr/>
          <p:nvPr/>
        </p:nvSpPr>
        <p:spPr>
          <a:xfrm>
            <a:off x="3291840" y="1051560"/>
            <a:ext cx="2560320" cy="347472"/>
          </a:xfrm>
          <a:prstGeom prst="roundRect">
            <a:avLst>
              <a:gd name="adj" fmla="val 21053"/>
            </a:avLst>
          </a:prstGeom>
          <a:solidFill>
            <a:srgbClr val="1D1D1F"/>
          </a:solidFill>
          <a:ln w="12700">
            <a:solidFill>
              <a:srgbClr val="1D1D1F"/>
            </a:solidFill>
            <a:prstDash val="solid"/>
          </a:ln>
        </p:spPr>
      </p:sp>
      <p:sp>
        <p:nvSpPr>
          <p:cNvPr id="6" name="Text 3"/>
          <p:cNvSpPr txBox="1"/>
          <p:nvPr/>
        </p:nvSpPr>
        <p:spPr>
          <a:xfrm>
            <a:off x="3291840" y="1051560"/>
            <a:ext cx="2560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SR</a:t>
            </a:r>
            <a:endParaRPr lang="en-US" sz="1000" dirty="0"/>
          </a:p>
        </p:txBody>
      </p:sp>
      <p:sp>
        <p:nvSpPr>
          <p:cNvPr id="7" name="Shape 4"/>
          <p:cNvSpPr/>
          <p:nvPr/>
        </p:nvSpPr>
        <p:spPr>
          <a:xfrm>
            <a:off x="4572000" y="1399032"/>
            <a:ext cx="0" cy="137160"/>
          </a:xfrm>
          <a:prstGeom prst="line">
            <a:avLst/>
          </a:prstGeom>
          <a:noFill/>
          <a:ln w="12700">
            <a:solidFill>
              <a:srgbClr val="6E6E73"/>
            </a:solidFill>
            <a:prstDash val="solid"/>
            <a:tailEnd type="triangle"/>
          </a:ln>
        </p:spPr>
      </p:sp>
      <p:sp>
        <p:nvSpPr>
          <p:cNvPr id="8" name="Shape 5"/>
          <p:cNvSpPr/>
          <p:nvPr/>
        </p:nvSpPr>
        <p:spPr>
          <a:xfrm>
            <a:off x="2788920" y="1536192"/>
            <a:ext cx="3566160" cy="411480"/>
          </a:xfrm>
          <a:prstGeom prst="roundRect">
            <a:avLst>
              <a:gd name="adj" fmla="val 17778"/>
            </a:avLst>
          </a:prstGeom>
          <a:solidFill>
            <a:srgbClr val="FFF3D6"/>
          </a:solidFill>
          <a:ln w="12700">
            <a:solidFill>
              <a:srgbClr val="9A6410"/>
            </a:solidFill>
            <a:prstDash val="solid"/>
          </a:ln>
        </p:spPr>
      </p:sp>
      <p:sp>
        <p:nvSpPr>
          <p:cNvPr id="9" name="Text 6"/>
          <p:cNvSpPr txBox="1"/>
          <p:nvPr/>
        </p:nvSpPr>
        <p:spPr>
          <a:xfrm>
            <a:off x="2788920" y="1536192"/>
            <a:ext cx="356616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1st time this issue is being escalated?</a:t>
            </a:r>
            <a:endParaRPr lang="en-US" sz="1000" dirty="0"/>
          </a:p>
        </p:txBody>
      </p:sp>
      <p:sp>
        <p:nvSpPr>
          <p:cNvPr id="10" name="Shape 7"/>
          <p:cNvSpPr/>
          <p:nvPr/>
        </p:nvSpPr>
        <p:spPr>
          <a:xfrm>
            <a:off x="4572000" y="1947672"/>
            <a:ext cx="0" cy="155448"/>
          </a:xfrm>
          <a:prstGeom prst="line">
            <a:avLst/>
          </a:prstGeom>
          <a:noFill/>
          <a:ln w="12700">
            <a:solidFill>
              <a:srgbClr val="6E6E73"/>
            </a:solidFill>
            <a:prstDash val="solid"/>
          </a:ln>
        </p:spPr>
      </p:sp>
      <p:sp>
        <p:nvSpPr>
          <p:cNvPr id="11" name="Shape 8"/>
          <p:cNvSpPr/>
          <p:nvPr/>
        </p:nvSpPr>
        <p:spPr>
          <a:xfrm>
            <a:off x="2331720" y="2103120"/>
            <a:ext cx="4480560" cy="0"/>
          </a:xfrm>
          <a:prstGeom prst="line">
            <a:avLst/>
          </a:prstGeom>
          <a:noFill/>
          <a:ln w="12700">
            <a:solidFill>
              <a:srgbClr val="6E6E73"/>
            </a:solidFill>
            <a:prstDash val="solid"/>
          </a:ln>
        </p:spPr>
      </p:sp>
      <p:sp>
        <p:nvSpPr>
          <p:cNvPr id="12" name="Shape 9"/>
          <p:cNvSpPr/>
          <p:nvPr/>
        </p:nvSpPr>
        <p:spPr>
          <a:xfrm>
            <a:off x="2331720" y="2103120"/>
            <a:ext cx="0" cy="182880"/>
          </a:xfrm>
          <a:prstGeom prst="line">
            <a:avLst/>
          </a:prstGeom>
          <a:noFill/>
          <a:ln w="12700">
            <a:solidFill>
              <a:srgbClr val="6E6E73"/>
            </a:solidFill>
            <a:prstDash val="solid"/>
            <a:tailEnd type="triangle"/>
          </a:ln>
        </p:spPr>
      </p:sp>
      <p:sp>
        <p:nvSpPr>
          <p:cNvPr id="13" name="Shape 10"/>
          <p:cNvSpPr/>
          <p:nvPr/>
        </p:nvSpPr>
        <p:spPr>
          <a:xfrm>
            <a:off x="6812280" y="2103120"/>
            <a:ext cx="0" cy="182880"/>
          </a:xfrm>
          <a:prstGeom prst="line">
            <a:avLst/>
          </a:prstGeom>
          <a:noFill/>
          <a:ln w="12700">
            <a:solidFill>
              <a:srgbClr val="6E6E73"/>
            </a:solidFill>
            <a:prstDash val="solid"/>
            <a:tailEnd type="triangle"/>
          </a:ln>
        </p:spPr>
      </p:sp>
      <p:sp>
        <p:nvSpPr>
          <p:cNvPr id="14" name="Text 11"/>
          <p:cNvSpPr txBox="1"/>
          <p:nvPr/>
        </p:nvSpPr>
        <p:spPr>
          <a:xfrm>
            <a:off x="2404872" y="212140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5" name="Text 12"/>
          <p:cNvSpPr txBox="1"/>
          <p:nvPr/>
        </p:nvSpPr>
        <p:spPr>
          <a:xfrm>
            <a:off x="6885432" y="2121408"/>
            <a:ext cx="548640" cy="201168"/>
          </a:xfrm>
          <a:prstGeom prst="rect">
            <a:avLst/>
          </a:prstGeom>
          <a:noFill/>
          <a:ln/>
        </p:spPr>
        <p:txBody>
          <a:bodyPr wrap="square" lIns="0" tIns="0" rIns="0" bIns="0" rtlCol="0" anchor="t"/>
          <a:lstStyle/>
          <a:p>
            <a:pPr indent="0" marL="0">
              <a:buNone/>
            </a:pPr>
            <a:endParaRPr lang="en-US" sz="850" dirty="0"/>
          </a:p>
        </p:txBody>
      </p:sp>
      <p:sp>
        <p:nvSpPr>
          <p:cNvPr id="16" name="Text 13"/>
          <p:cNvSpPr txBox="1"/>
          <p:nvPr/>
        </p:nvSpPr>
        <p:spPr>
          <a:xfrm>
            <a:off x="6885432" y="2121408"/>
            <a:ext cx="219456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 C is responding to SR</a:t>
            </a:r>
            <a:endParaRPr lang="en-US" sz="850" dirty="0"/>
          </a:p>
        </p:txBody>
      </p:sp>
      <p:sp>
        <p:nvSpPr>
          <p:cNvPr id="17" name="Shape 14"/>
          <p:cNvSpPr/>
          <p:nvPr/>
        </p:nvSpPr>
        <p:spPr>
          <a:xfrm>
            <a:off x="685800" y="2286000"/>
            <a:ext cx="3291840" cy="502920"/>
          </a:xfrm>
          <a:prstGeom prst="roundRect">
            <a:avLst>
              <a:gd name="adj" fmla="val 14545"/>
            </a:avLst>
          </a:prstGeom>
          <a:solidFill>
            <a:srgbClr val="0B7A6F"/>
          </a:solidFill>
          <a:ln w="12700">
            <a:solidFill>
              <a:srgbClr val="0B7A6F"/>
            </a:solidFill>
            <a:prstDash val="solid"/>
          </a:ln>
        </p:spPr>
      </p:sp>
      <p:sp>
        <p:nvSpPr>
          <p:cNvPr id="18" name="Text 15"/>
          <p:cNvSpPr txBox="1"/>
          <p:nvPr/>
        </p:nvSpPr>
        <p:spPr>
          <a:xfrm>
            <a:off x="68580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 through the Transformation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 SR Reassignment Form</a:t>
            </a:r>
            <a:endParaRPr lang="en-US" sz="1000" dirty="0"/>
          </a:p>
        </p:txBody>
      </p:sp>
      <p:sp>
        <p:nvSpPr>
          <p:cNvPr id="19" name="Text 16">
            <a:hlinkClick r:id="rId1" tooltip="Open the form  ↗"/>
          </p:cNvPr>
          <p:cNvSpPr/>
          <p:nvPr/>
        </p:nvSpPr>
        <p:spPr>
          <a:xfrm>
            <a:off x="1463040" y="2862072"/>
            <a:ext cx="173736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the form  ↗</a:t>
            </a:r>
            <a:endParaRPr lang="en-US" sz="1000" dirty="0"/>
          </a:p>
        </p:txBody>
      </p:sp>
      <p:sp>
        <p:nvSpPr>
          <p:cNvPr id="20" name="Shape 17"/>
          <p:cNvSpPr/>
          <p:nvPr/>
        </p:nvSpPr>
        <p:spPr>
          <a:xfrm>
            <a:off x="5166360" y="2286000"/>
            <a:ext cx="3291840" cy="502920"/>
          </a:xfrm>
          <a:prstGeom prst="roundRect">
            <a:avLst>
              <a:gd name="adj" fmla="val 14545"/>
            </a:avLst>
          </a:prstGeom>
          <a:solidFill>
            <a:srgbClr val="0B7A6F"/>
          </a:solidFill>
          <a:ln w="12700">
            <a:solidFill>
              <a:srgbClr val="0B7A6F"/>
            </a:solidFill>
            <a:prstDash val="solid"/>
          </a:ln>
        </p:spPr>
      </p:sp>
      <p:sp>
        <p:nvSpPr>
          <p:cNvPr id="21" name="Text 18"/>
          <p:cNvSpPr txBox="1"/>
          <p:nvPr/>
        </p:nvSpPr>
        <p:spPr>
          <a:xfrm>
            <a:off x="516636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DM the previous SR agent in Slack,</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any SR agent online</a:t>
            </a:r>
            <a:endParaRPr lang="en-US" sz="1000" dirty="0"/>
          </a:p>
        </p:txBody>
      </p:sp>
      <p:sp>
        <p:nvSpPr>
          <p:cNvPr id="22" name="Text 19"/>
          <p:cNvSpPr txBox="1"/>
          <p:nvPr/>
        </p:nvSpPr>
        <p:spPr>
          <a:xfrm>
            <a:off x="5166360" y="2852928"/>
            <a:ext cx="3291840" cy="310896"/>
          </a:xfrm>
          <a:prstGeom prst="rect">
            <a:avLst/>
          </a:prstGeom>
          <a:noFill/>
          <a:ln/>
        </p:spPr>
        <p:txBody>
          <a:bodyPr wrap="square" lIns="0" tIns="0" rIns="0" bIns="0" rtlCol="0" anchor="ctr"/>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need to submit the form.</a:t>
            </a:r>
            <a:endParaRPr lang="en-US" sz="900" dirty="0"/>
          </a:p>
        </p:txBody>
      </p:sp>
      <p:sp>
        <p:nvSpPr>
          <p:cNvPr id="23" name="Shape 20"/>
          <p:cNvSpPr/>
          <p:nvPr/>
        </p:nvSpPr>
        <p:spPr>
          <a:xfrm>
            <a:off x="2331720" y="3172968"/>
            <a:ext cx="0" cy="137160"/>
          </a:xfrm>
          <a:prstGeom prst="line">
            <a:avLst/>
          </a:prstGeom>
          <a:noFill/>
          <a:ln w="12700">
            <a:solidFill>
              <a:srgbClr val="6E6E73"/>
            </a:solidFill>
            <a:prstDash val="solid"/>
            <a:tailEnd type="triangle"/>
          </a:ln>
        </p:spPr>
      </p:sp>
      <p:sp>
        <p:nvSpPr>
          <p:cNvPr id="24" name="Shape 21"/>
          <p:cNvSpPr/>
          <p:nvPr/>
        </p:nvSpPr>
        <p:spPr>
          <a:xfrm>
            <a:off x="685800" y="3310128"/>
            <a:ext cx="3291840" cy="457200"/>
          </a:xfrm>
          <a:prstGeom prst="roundRect">
            <a:avLst>
              <a:gd name="adj" fmla="val 16000"/>
            </a:avLst>
          </a:prstGeom>
          <a:solidFill>
            <a:srgbClr val="FFFFFF"/>
          </a:solidFill>
          <a:ln w="12700">
            <a:solidFill>
              <a:srgbClr val="DCE1E7"/>
            </a:solidFill>
            <a:prstDash val="solid"/>
          </a:ln>
        </p:spPr>
      </p:sp>
      <p:sp>
        <p:nvSpPr>
          <p:cNvPr id="25" name="Text 22"/>
          <p:cNvSpPr txBox="1"/>
          <p:nvPr/>
        </p:nvSpPr>
        <p:spPr>
          <a:xfrm>
            <a:off x="68580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6" name="Shape 23"/>
          <p:cNvSpPr/>
          <p:nvPr/>
        </p:nvSpPr>
        <p:spPr>
          <a:xfrm>
            <a:off x="6812280" y="3172968"/>
            <a:ext cx="0" cy="137160"/>
          </a:xfrm>
          <a:prstGeom prst="line">
            <a:avLst/>
          </a:prstGeom>
          <a:noFill/>
          <a:ln w="12700">
            <a:solidFill>
              <a:srgbClr val="6E6E73"/>
            </a:solidFill>
            <a:prstDash val="solid"/>
            <a:tailEnd type="triangle"/>
          </a:ln>
        </p:spPr>
      </p:sp>
      <p:sp>
        <p:nvSpPr>
          <p:cNvPr id="27" name="Shape 24"/>
          <p:cNvSpPr/>
          <p:nvPr/>
        </p:nvSpPr>
        <p:spPr>
          <a:xfrm>
            <a:off x="5166360" y="3310128"/>
            <a:ext cx="3291840" cy="457200"/>
          </a:xfrm>
          <a:prstGeom prst="roundRect">
            <a:avLst>
              <a:gd name="adj" fmla="val 16000"/>
            </a:avLst>
          </a:prstGeom>
          <a:solidFill>
            <a:srgbClr val="FFFFFF"/>
          </a:solidFill>
          <a:ln w="12700">
            <a:solidFill>
              <a:srgbClr val="DCE1E7"/>
            </a:solidFill>
            <a:prstDash val="solid"/>
          </a:ln>
        </p:spPr>
      </p:sp>
      <p:sp>
        <p:nvSpPr>
          <p:cNvPr id="28" name="Text 25"/>
          <p:cNvSpPr txBox="1"/>
          <p:nvPr/>
        </p:nvSpPr>
        <p:spPr>
          <a:xfrm>
            <a:off x="516636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9" name="Shape 26"/>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30" name="Image 0"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31" name="Text 27"/>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Sent back?  </a:t>
            </a:r>
            <a:pPr indent="0" marL="0">
              <a:buNone/>
            </a:pPr>
            <a:r>
              <a:rPr lang="en-US" sz="1000" dirty="0">
                <a:solidFill>
                  <a:srgbClr val="1D1D1F"/>
                </a:solidFill>
                <a:latin typeface="SF Pro Text" pitchFamily="34" charset="0"/>
                <a:ea typeface="SF Pro Text" pitchFamily="34" charset="-122"/>
                <a:cs typeface="SF Pro Text" pitchFamily="34" charset="-120"/>
              </a:rPr>
              <a:t>"Handle as BAU" or "Invalid Escalation": it's yours again. Review the SWAT notes.</a:t>
            </a:r>
            <a:endParaRPr lang="en-US" sz="1000" dirty="0"/>
          </a:p>
        </p:txBody>
      </p:sp>
      <p:sp>
        <p:nvSpPr>
          <p:cNvPr id="32" name="Text 28">
            <a:hlinkClick r:id="rId3" tooltip="Open SWAT notes  ↗"/>
          </p:cNvPr>
          <p:cNvSpPr/>
          <p:nvPr/>
        </p:nvSpPr>
        <p:spPr>
          <a:xfrm>
            <a:off x="7086600" y="4014216"/>
            <a:ext cx="155448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SWAT notes  ↗</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left negative CSAT feedback and opted in to a call. Where does it go?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Service Recovery, via the Transformation to SR Reassignment Form.</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writes: "I'll report this to the BBB." Escalate to SR?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BBB threat is BAU. A filed complaint follows the HDR ticket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C's email CCs their lawyer. Do you escalate to SR?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It's a material threat: waive the ETF and cancel FC immediately.</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ticket says "C responded to SR." Do you fill out the form?</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DM the previous SR agent in Slack, or any SR agent online.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85</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hand off</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SR decides refunds, scope and ETF waivers.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Know the threat type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Material: waive now. General: BAU unless high risk. BBB threat: BAU.</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Use the form</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"C responded to SR": DM the last SR agent.</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87</Slides>
  <Notes>87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87</vt:i4>
      </vt:variant>
    </vt:vector>
  </HeadingPairs>
  <TitlesOfParts>
    <vt:vector size="9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2026-10-06T14:11:58Z</dcterms:created>
  <dcterms:modified xsi:type="dcterms:W3CDTF">2026-10-06T14:11:58Z</dcterms:modified>
</cp:coreProperties>
</file>