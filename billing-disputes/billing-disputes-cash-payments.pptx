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module covers four topics: Overcharged Hours, Unauthorized Addition of Hours, False Invoice, and Disintermediation (Cash Payment). Each topic ends with a knowledge check and a wrap-up with time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three topics are the "unworked hours" family: they all look the same to the customer ("I was charged for time I didn't get"), but each has a different question, different evidence and a different resolution. The fourth topic covers customers paying cleaners off the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the customer booked 3 hours, the cleaner actually cleaned for 2, but invoiced the full 3. Category: Service Issues &gt; Billing.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test isn't just "was there a heads-up". It's whether the cleaner actually worked the hours they billed. Did the cleaner show up at all? If not: False Invoice. Did they work the hours, but never get the customer's OK to add the extra time? Unauthorized Hours. Did they bill for more time than they worked? Overcharged Hours. Getting this right matters because each needs different evidence (GPS/CTJ data vs proof of a conversation) and leads to different resolutions and penalties.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Claim window: only jobs completed in the last 120 days. Exception: the window does not apply when the overcharge is already clearly proven when the customer reports it (CTJ, message history or job timestamps make it obvious; "likely" or "probably" is not enough). Then refund the difference via the CP Dashboard regardless of job age or the cleaner's status, and follow the rest of the process including the penalty ladder. Example: CTJ shows a 45-minute visit but 2 hours invoiced, reported 150 days later: refund and apply the ladder. If not clearly proven and beyond 120 days: don't request documentation or refund; close the ticket as unresolved instead of escalating (this includes cases where the only reason to refund is the CP's Suspended + DNR history). Evidence-based refund: refund only the hours the evidence supports, not automatically the full disputed amount. CP Suspended + DNR: if the cleaner is already suspended + DNR for repeated false invoice/overcharge offenses: within 120 days, refund the excess even without clear evidence, with no need to request evidence from the CP (a documented pattern removes the benefit of the doubt); beyond 120 days, refund the excess only when the issue is clearly proven.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altered or edited: for example, a GPS screenshot must clearly show the route. If GPS was on while travelling, the screenshot shows the actual route taken; a straight line usually means the location was added manually. It clearly shows arrival and departure times. It clearly shows the cleaner was at the address for the whole job. If the documentation wasn't just weak but fabricated, stop and go to AG - Fraud (CP Document Fraud): invalid evidence means the claim fails; faked evidence is a separate offence with a separate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CTJ, the customer, or the message history already gives you something valid, decide on it; don't go to the cleaner for proof you already have. Evidence from the customer counts: a Ring camera clip or timestamped photo is treated the same as a CTJ record, as long as it's legitimate. Example: a Ring clip shows the cleaner on site from 2:13pm to 3:24pm against 2 hours invoiced: refund the difference without asking the cleaner first. Check all four sources even if one looks conclusive: a CTJ mismatch might have an innocent explanation in the messages.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Branch A (clear evidence present): a straight line once you're in it: refund, check for a Premium fee, then split on the 30-minute rule. Branch B (no clear evidence present): takes longer and may span more than one contact: request documentation from the CP and resume when the Timed Reminder triggers. If CTJ matches the hours invoiced, that is clear evidence no overcharge occurred: stop, no refund, address other concerns. Known bug (Trello): do not treat an abnormally short CTJ interval (30 minutes or less between ARRIVED AT and COMPLETED AT) on its own as clear evidence; it's inconclusive unless other evidence proves the CP only stayed that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refund the overcharged hour(s) via the CP Dashboard; the evidence already settles it. Step 2: if the customer was also charged a Premium rate, refund it: a confirmed overcharge is itself the service issue, no separate request needed. Step 3: check how much was overcharged. 30 minutes or more: apply the cp_overcharged_hours flag, ban the C/CP pairing, send comms to both, then go to the Penalty section. Under 30 minutes: ban the C/CP pairing, send comms to both, done (no flag, no penalty).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overcharge amount isn't known yet, ask the customer for detail first (B1). Is the CP suspended + DNR due to multiple overcharged hours? Yes: skip documentation and treat it as valid: go to Branch A from step 1. No: request documentation. Refund the Premium Upsell fee if charged; create a 72-hour Timed Reminder on the C side; tell the customer we'll follow up in 4-5 business days and the CP is blocked from their future requests (not penalized yet); block the pairing and tell the CP documentation is due within 3 days or the alleged hours will be refunded on their behalf. When the reminder triggers: valid proof from the CP: no refund (confirm the CP stays blocked from this customer). No or insufficient proof: refund the alleged hours via the CP Dashboard, check/refund Premium, log to the Ticket Tracker, then the penalty check. Timed Reminder format: Action On: 72 hours from the time of ticket handling. Who Should Act: Any CS. Action: C &lt;C_ID&gt; reported that CP overcharged J &lt;JOB_ID&gt; for &lt;# OF OVERCHARGED HOURS&gt;. Follow When the Timed Reminder Triggers. TRAINER DEMO: show trainees how to add a Timed Reminder in the Legacy C CRM (Do &gt; TimedReminder &gt; Create): set it 72 hours out, assign Any CS, and paste the Action text with the real C ID, job ID and hours. TRAINER: click (or press the right arrow) to open the penalty check. 30 minutes or more overcharged: add the cp_overcharged_hours flag + norequests + the Overcharged Hours macro series. Under 30 minutes: no flag, no penalty + the Overcharged Hours macro series.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Was the cleaner already advised (by a previous CS) to submit documentation? If not: send comms now, give 48 hours, set a new Timed Reminder; done for this contact. If yes: did the cleaner respond with documentation proving the hours? Yes: tell the customer no refund will be issued since the cleaner proved the hours; confirm the cleaner is blocked from future bookings with this customer. No or insufficient: refund the alleged hours only via the CP Dashboard; check/refund Premium if charged; log to the Ticket Tracker. 30 minutes or more: go to the Penalty section. Under 30: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who invoiced the job before any penalty. If the customer invoiced it, there is no overcharge penalty for the cleaner: refund the difference and close the CP side with coaching if something else warrants it. Example: the customer self-invoiced 2 hours for a job the cleaner worked for 1h11m: refund, no penalty. 30 minutes or more overcharged: cp_overcharged_hours + norequests + the Overcharged Hours macro series. Check the cleaner's past OCH and false invoice history and put it in your internal note; a pattern is the CP-side team's call. C-side agents never suspend or add DNR. CP-facing reason code (use exactly): cpq_overcharge Customer &lt;C'S NAME&gt; reported incorrect hours charged. Submit reactivation appeal. Overcharged hours can also show in the cleaner's lifetime issue history alongside False Invoice: check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Applies whenever a refund is issued, in any branch. Apply the cp_overcharged_hours flag if 30 minutes or more. Check and refund the Premium fee if charged; log to the Ticket Tracker form. Block the C/CP pairing (always, unless the customer specifically wants the same cleaner). If the cleaner has a Guardian Angel/Tier 10 banner with pending action items: acknowledge the inquiry, do not clear pending items, reassign to TL Allen (allentolentino).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Cleaner refunds after being notified: treat the refund as a sign the overcharge happened unless evidence proves otherwise; if 30 minutes or more, still apply the flag (a voluntary refund confirms the violation, it doesn't erase it); if it happens before the first-response Timed Reminder triggers, invalidate that reminder; tell the customer the cleaner refunded. Spotted a likely overcharge before the customer reported it? Reach out proactively. Sample: "Just checking in to see how your recent cleaning with &lt;&lt;Cleaner Name&gt;&gt; on &lt;&lt;Date&gt;&gt; went. We also wanted to quickly confirm the number of hours worked during the visit, just to make sure everything looks right on your end. Let us know if you have any questions or if anything seems off - we're happy to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Admin courtesy voucher already on the job: the CP Dashboard full refund option may not appear, because the system treats the voucher as compensation. If the voucher was already used on another job: issue an admin refund for this job and create a CP Payment Holdback. If unused: invalidate the voucher first (this reopens the CP Dashboard refund), then issue credits so the account's total credits equal $20. Cleaner is cp-opt-out but you need to refund from their dashboard: log in to their dashboard as admin, do NOT click Reactivate My Account, change the URL to https://homeaglow.com/cp/job/&lt;JOB_ID&gt;, and process the refund as usual.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Overcharged Hours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Cleaners are allowed to update a job's duration before invoicing: that part is normal platform behavior. What's not allowed is doing it silently. Cleaners are onboarded to always set expectations and get approval before adding time. The work itself is usually genuine, but if they never got the customer's OK, the extra hours are unauthorized however well the job was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Overcharged Hours: the cleaner claims to have worked X hours, but the evidence shows less; a dispute over what happened. Example: booked 6 hours, finished in 4, billed the full 6. Unauthorized Hours: the cleaner genuinely worked the extra time but never checked with the customer before adding it; a dispute over whether permission was given. Example: booked 3 hours, the cleaner extended and finished after 5, then invoiced 5 hours without asking.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Consent required before extending: any additional hours the client did not authorize are treated as Unauthorized Hours and are refundable. Documentation exception: if the cleaner is already permanently suspended, skip requesting documentation; there's no reactivation path to justify it, so resolve directly with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descriptions are hidden. Click Show details (or press the right arrow): each click types out the next step's description. Step 1: refund only the alleged unauthorized hours via the cleaner's dashboard, not the full job; the base appointment was authorized and worked. Step 2: coach the cleaner on asking permission before extending; send comms about the action taken; give them 3 days to provide documentation proving the customer authorized the extra hours. Refunding first protects the customer's money without making them wait on an investigation. Step 3: if a Premium fee was charged, refund it; unauthorized hours is itself the service issue. Step 4: tell the customer a refund was processed on their cleaner's behalf, remind them to leave clear instructions for future cleaners, and block the C/CP pairing. Macros: Unauthorized Addition of Hours (customer refund); Unauthorized Addition of Hours &gt; CP Coaching.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real fork in this topic. Example: the customer booked 4 hours; the CP arrived with a helper, the two of them finished in 2 hours, and the CP invoiced the full 4 hours. Ask: is there evidence the customer authorized the helper and the reduced hours (for example, a message where the customer agreed)? Yes: advise the customer that records show they authorized it; address other pain points; do not penalize the CP. No: follow the main flow: refund the unauthorized hours, request documentation from the CP (3 days), and coach that helpers require permission and can't justify full-rate billing. If the CP's document wasn't just weak but faked, stop and go to AG - Fraud &gt; CP Document Fraud: invalid evidence means the claim fails; faked evidence is a separate offence with a separate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provide a live ticket for trainees to review. Give them time to investigate (job history, CTJ, C/CP messages, Premium charge), then discuss. Ask: Is it Unauthorized Hours, Overcharged Hours, or something else? Did the customer authorize the extra time? What actions will you take (refund only the added hours via the CP Dashboard, refund Premium if charged, coach the CP and request evidence within 3 days, block the C/CP pairing)? How will you respond to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Unauthorized Addition of Hours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Distinct from Overcharged Hours (the cleaner showed up but charged more than worked): here no work happened at all. Not every falsely invoiced job is the cleaner's fault, so always check who invoiced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Always check the Job History for who actually invoiced the job before doing anything else. If the customer invoiced it themselves (a system flow allows this, usually by accident), issue the refund from the CP Dashboard: we still recover the pay already issued to the cleaner since no cleaning happened, but do not penalize the cleaner. Skipping this check risks penalizing a cleaner for something they didn't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Claim window: only jobs completed in the last 120 days. Exception: the limit doesn't apply when C/CP comms or CTJ data clearly prove the cleaner never did the cleaning but invoiced anyway ("probably" isn't enough). Then issue the full refund via the CP Dashboard no matter how old the job or the cleaner's status, and follow the penalty ladder; a late discovery doesn't reduce the penalty. Example: the cleaner confirmed the appointment, the customer said they weren't proceeding, and four days later the cleaner invoiced anyway; reported after 120 days: refund in full and penalize. First-and-only-job exception (Legacy DHJ only): once refunded, the DHJ voucher is reinstated and any MFs within 120 days are auto-refunded, since the membership shouldn't have started. Doesn't apply to FCF: FCF membership starts at signup, so only the job charge is refunded and the MF stays. Consecutive false invoices: two in a row may make the customer eligible for an ETF waiver if they have cancellation intent.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Gather: customer and cleaner message histories and account activity; Job History timestamps; the cleaner's CTJ data; customer and cleaner reviews of each other. First and most important: who invoiced? Don't wait for the customer to report it: if something looks off (duration, charges, or details that don't match the booking), reach out proactively to check if the cleaning happened and the invoice is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descriptions are hidden. Click Show details (or press the right arrow): each click types out the next step's description. 1) Issue a full refund via the CP Dashboard. 2) Check the cleaner's Flags table for an existing cp_false_invoice flag on this job. 3) If the system already flagged it, validate that the Job ID matches; on the flag's Django page set Value to {"admin": "&lt;YOUR CRM NAME&gt;", "admin_flag_comments": "&lt;THE ID TRIPLET&gt;", "cp_false_invoice_job_id": &lt;THE JOB ID&gt;}. If no flag exists, add one: CP CRM &gt; Do &gt; Flag &gt; cp_false_invoice. Always include the ID triplet (Customer ID | CP ID | Job ID) and a short summary. 4) Check the Issues Table for prior false invoice / overcharge history and penalize accordingly. Reason: cpq_false_invoice Customer &lt;C'S NAME&gt; reported incorrect hours charged. Submit reactivation appeal. 5) Coach the cleaner: don't claim jobs you can't complete or invoice without working; ask the customer to reschedule, or cancel from your dashboard if they disagree. Guardian Angel or Tier 10 banner with pending items: acknowledge, don't clear, reassign to allentolentino. 6) Refund the Premium fee if charged (AG - Refund: Premium Upsell). 7) Block the C/CP pairing unless the customer wants the same cleaner. 8) Tell the customer the refund was issued and arrives in 5-10 business days; address other pain points. Macros: False Invoice (C-facing); False Invoice (With Penalty) (CP-facing). Final step: confirm the refund with the customer and offer a priority booking.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Any false invoice, first or repeat, including "the cleaner never came": set norequests and ask the cleaner what happened (the False Invoice (With Penalty) macro handles this). Already multiple false invoices and the pattern looks abusive: you may set the cleaner to suspended; never add DNR. The system auto-suspended the cleaner (new cleaners are auto-suspended at 2+ cp_false_invoice flags): leave it, coach the cleaner and tell them about the penalty. Reactivation: C-side agents don't reactivate cleaners. If the cleaner's explanation matches one of these, put it in your internal note for the CP-side team: they accidentally invoiced the wrong customer; they invoiced a Lockout job by mistake; it's not their first false invoice, but the last one was more than a year ago. If the cleaner is already permanently suspended, skip requesting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provide a live ticket for trainees to review. Give them time to investigate (job history, CTJ, C/CP messages, Premium charge), then discuss. Ask: Who invoiced the job? Is it a False Invoice, Overcharged Hours, or something else? What actions will you take (full refund via the CP Dashboard, validate or add the cp_false_invoice flag, apply the penalty, coach the CP, refund Premium if charged, block the C/CP pairing)? How will you respond to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False Invoice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Cash is the most common form, but Venmo, Zelle, Cash App and PayPal count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Cleaners can no longer tag a job as a cash job. If a cleaner receives cash, they use Report Issue to tell us. That creates a ticket for a CP-side agent; it does not leave any flag on the job. The job stays at Pending Invoice, which keeps the customer from being auto-charged. Two starting points: a CP-side agent gets the ticket directly (the expected path), or a C-side agent hears it from the customer first, either because the cleaner's report hasn't been worked yet, or the cleaner never reported it (job still Pending Invoice, or already invoiced). C-side: always check the CP CRM before assuming nothing was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customer shouldn't pay twice (cash and the platform) and the cleaner shouldn't be paid twice (cash and their payout). Pending Invoice: nothing has been charged; cancel via the C CRM with the "does not want the service" reason code so it never gets charged. Invoiced: refund from the CP Dashboard, which reverses both the customer's charge and the cleaner's payout in one action. Cancelled (the customer says the cleaning happened and they paid cash): nothing was ever charged, so there is nothing to refund. Do not recreate the job: that's how the customer ends up paying twice. Exception: the cleaner tells us separately they were never paid; then work it as a normal cash case from the job's actual status. Otherwise educate on the cash policy, cancel the RC and upcoming jobs if the customer no longer wants service, and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penalize customers for paying off-platform: they're not breaking the rules, the cleaner is. Don't act as an investigator when there's nothing to go on: with no cleaner report and no proof from the customer, focus on the customer's experience. How the cash payment was confirmed changes the tone of the coaching, not the cleaner's status. Remind the customer that payment runs through the platform, not cash, unless it's a tip: many don't realise the job still has to be invoiced, and a cash payment today can still turn into a charge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reference from the KB. Cleaner admits it (soft ladder): 1st instance coach, no status change; 2nd instance norequests. Confirmed only by customer proof (hard ladder): 1st instance coach and warn, no status change; 2nd instance norequests. Repeated instances are the CP-side team's call: put the history in your internal note. If the cleaner denies it and the customer never produces proof, nothing is confirmed: no refund, no penalty; assess for retention instead. NOTE FOR TRAINER: the KB process steps further down still say a 3rd instance (soft) and 2nd instance (hard) lead to Suspended + DNR, which conflicts with this quick reference and the key principle. Confirm the current rule before teaching.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The cleaner reports cash via Report Issue and the ticket lands in your queue. 2) Did they say how much they received? If not, pause: don't act on the job yet; contact the cleaner and get a number, or a clear "I was paid in full". 3) Check the job status: Pending Invoice: cancel via the C CRM ("does not want the service"). Invoiced: refund from the CP Dashboard. Cancelled: nothing to refund; don't recreate the job. Partial cash payment with the job still Pending Invoice: invoice on the cleaner's behalf for the remaining balance. Full vs partial is based on CP Pay, not the full C Price. 4) Apply the soft ladder (a cleaner admission). Done: no further customer action unless they reach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descriptions are hidden. Click Show details (or press the right arrow): each click types out the next step's description. Report found in the CP CRM, not yet actioned: resolve it yourself, no need to wait for the CP-side queue. Amount: did the CP say how much they received in cash? If not, contact the CP and get a number (or a clear "I got paid in full") before doing anything else, same gate as Branch A. Job status: still Pending Invoice: cancel via C CRM, reason code "does not want the service"; if it was only a partial cash payment, invoice the remaining balance instead. Already Invoiced: refund via the CP Dashboard; if partial, admin refund the customer for the cash-paid portion (based on CP Pay, not C Price) and apply a CP Holdback for the same amount, so the CP isn't paid twice. Penalty: apply the soft ladder; this is still a CP admission, just one a C-side agent is closing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descriptions are hidden. Click Show details (or press the right arrow): each click types out the next step's description. Nothing on file in the CP CRM: nothing is confirmed yet, so treat it like any other unconfirmed claim. Ask the customer for proof (encourage it, don't require it). Call the CP if it's within business hours (8AM-8PM their local time); no answer during business hours: send an SMS; outside business hours: email instead. Set a Timed Reminder for 48 hours. Customer provides proof, whatever the CP says: resolve per the job status (C CRM cancellation or CP Dashboard refund) and apply the hard ladder; the customer's documentation confirmed it, so it's treated as getting caught, not disclosing. No proof, but the CP admits it when contacted: resolve per the job status and apply the soft ladder. CP denies and the customer never produces proof: no refund and no penalty, since nothing is confirmed; assess for retention: high-value / retention-likely (multiple completed jobs, high LTNR): voucher covering the full job hours, Internal Reason: cash_payment; not high-value: $20-$50 in platform credits, Internal Reason: cash_payment.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provide a live ticket for trainees to review. Give them time to investigate (job history, CTJ, C/CP messages, Premium charge), then discuss. Ask: Did the CP already report the cash payment (check the CP CRM)? How much was paid in cash, full or partial? What is the job status? What actions will you take (cancel via C CRM, invoice the balance, refund via CP Dashboard, or admin refund + CP Holdback), and which ladder applies? How will you respond to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Cash Payment.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module. Recap: OCH (billed more than worked), Unauthorized Hours (worked but never asked), False Invoice (never showed, check who invoiced first), and Cash Payment (job status decides the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9"/>
        </a:solidFill>
      </p:bgPr>
    </p:bg>
    <p:spTree>
      <p:nvGrpSpPr>
        <p:cNvPr id="1" name=""/>
        <p:cNvGrpSpPr/>
        <p:nvPr/>
      </p:nvGrpSpPr>
      <p:grpSpPr>
        <a:xfrm>
          <a:off x="0" y="0"/>
          <a:ext cx="0" cy="0"/>
          <a:chOff x="0" y="0"/>
          <a:chExt cx="0" cy="0"/>
        </a:xfrm>
      </p:grpSpPr>
      <p:sp>
        <p:nvSpPr>
          <p:cNvPr id="2" name="Text 0"/>
          <p:cNvSpPr/>
          <p:nvPr/>
        </p:nvSpPr>
        <p:spPr>
          <a:xfrm>
            <a:off x="438912" y="4800600"/>
            <a:ext cx="3657600" cy="182880"/>
          </a:xfrm>
          <a:prstGeom prst="rect">
            <a:avLst/>
          </a:prstGeom>
          <a:noFill/>
          <a:ln/>
        </p:spPr>
        <p:txBody>
          <a:bodyPr wrap="square" lIns="0" tIns="0" rIns="0" bIns="0" rtlCol="0" anchor="ctr"/>
          <a:lstStyle/>
          <a:p>
            <a:pPr indent="0" marL="0">
              <a:buNone/>
            </a:pPr>
            <a:r>
              <a:rPr lang="en-US" sz="700" dirty="0">
                <a:solidFill>
                  <a:srgbClr val="6E6E73"/>
                </a:solidFill>
                <a:latin typeface="SF Pro Text" pitchFamily="34" charset="0"/>
                <a:ea typeface="SF Pro Text" pitchFamily="34" charset="-122"/>
                <a:cs typeface="SF Pro Text" pitchFamily="34" charset="-120"/>
              </a:rPr>
              <a:t>Homeaglow  ·  New Hire Care Training</a:t>
            </a:r>
            <a:endParaRPr lang="en-US" sz="7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6F7F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2.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2.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2.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2.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2.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2.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slideLayout" Target="../slideLayouts/slideLayout2.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slideLayout" Target="../slideLayouts/slideLayout2.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slideLayout" Target="../slideLayouts/slideLayout2.xml"/><Relationship Id="rId7"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slideLayout" Target="../slideLayouts/slideLayout2.xml"/><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slideLayout" Target="../slideLayouts/slideLayout2.xm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66928" y="54864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HOMEAGLOW  ·  NEW HIRE CARE TRAINING</a:t>
            </a:r>
            <a:endParaRPr lang="en-US" sz="800" dirty="0"/>
          </a:p>
        </p:txBody>
      </p:sp>
      <p:sp>
        <p:nvSpPr>
          <p:cNvPr id="3" name="Text 1"/>
          <p:cNvSpPr txBox="1"/>
          <p:nvPr/>
        </p:nvSpPr>
        <p:spPr>
          <a:xfrm>
            <a:off x="566928" y="914400"/>
            <a:ext cx="4480560" cy="1463040"/>
          </a:xfrm>
          <a:prstGeom prst="rect">
            <a:avLst/>
          </a:prstGeom>
          <a:noFill/>
          <a:ln/>
        </p:spPr>
        <p:txBody>
          <a:bodyPr wrap="square" lIns="0" tIns="0" rIns="0" bIns="0" rtlCol="0" anchor="t"/>
          <a:lstStyle/>
          <a:p>
            <a:pPr indent="0" marL="0">
              <a:buNone/>
            </a:pPr>
            <a:r>
              <a:rPr lang="en-US" sz="3200" b="1" dirty="0">
                <a:solidFill>
                  <a:srgbClr val="1D1D1F"/>
                </a:solidFill>
                <a:latin typeface="SF Pro Display" pitchFamily="34" charset="0"/>
                <a:ea typeface="SF Pro Display" pitchFamily="34" charset="-122"/>
                <a:cs typeface="SF Pro Display" pitchFamily="34" charset="-120"/>
              </a:rPr>
              <a:t>Billing Disputes</a:t>
            </a:r>
            <a:endParaRPr lang="en-US" sz="3200" dirty="0"/>
          </a:p>
          <a:p>
            <a:pPr indent="0" marL="0">
              <a:buNone/>
            </a:pPr>
            <a:r>
              <a:rPr lang="en-US" sz="3200" b="1" dirty="0">
                <a:solidFill>
                  <a:srgbClr val="1D1D1F"/>
                </a:solidFill>
                <a:latin typeface="SF Pro Display" pitchFamily="34" charset="0"/>
                <a:ea typeface="SF Pro Display" pitchFamily="34" charset="-122"/>
                <a:cs typeface="SF Pro Display" pitchFamily="34" charset="-120"/>
              </a:rPr>
              <a:t>&amp; Cash Payments</a:t>
            </a:r>
            <a:endParaRPr lang="en-US" sz="3200" dirty="0"/>
          </a:p>
        </p:txBody>
      </p:sp>
      <p:sp>
        <p:nvSpPr>
          <p:cNvPr id="4" name="Text 2"/>
          <p:cNvSpPr txBox="1"/>
          <p:nvPr/>
        </p:nvSpPr>
        <p:spPr>
          <a:xfrm>
            <a:off x="566928" y="2468880"/>
            <a:ext cx="4206240" cy="640080"/>
          </a:xfrm>
          <a:prstGeom prst="rect">
            <a:avLst/>
          </a:prstGeom>
          <a:noFill/>
          <a:ln/>
        </p:spPr>
        <p:txBody>
          <a:bodyPr wrap="square" lIns="0" tIns="0" rIns="0" bIns="0" rtlCol="0" anchor="t"/>
          <a:lstStyle/>
          <a:p>
            <a:pPr indent="0" marL="0">
              <a:buNone/>
            </a:pPr>
            <a:r>
              <a:rPr lang="en-US" sz="1250" dirty="0">
                <a:solidFill>
                  <a:srgbClr val="6E6E73"/>
                </a:solidFill>
                <a:latin typeface="SF Pro Text" pitchFamily="34" charset="0"/>
                <a:ea typeface="SF Pro Text" pitchFamily="34" charset="-122"/>
                <a:cs typeface="SF Pro Text" pitchFamily="34" charset="-120"/>
              </a:rPr>
              <a:t>When a customer is charged for time they didn't get, and when they pay the cleaner off the platform.</a:t>
            </a:r>
            <a:endParaRPr lang="en-US" sz="1250" dirty="0"/>
          </a:p>
        </p:txBody>
      </p:sp>
      <p:sp>
        <p:nvSpPr>
          <p:cNvPr id="5" name="Text 3"/>
          <p:cNvSpPr txBox="1"/>
          <p:nvPr/>
        </p:nvSpPr>
        <p:spPr>
          <a:xfrm>
            <a:off x="566928" y="4572000"/>
            <a:ext cx="2743200" cy="182880"/>
          </a:xfrm>
          <a:prstGeom prst="rect">
            <a:avLst/>
          </a:prstGeom>
          <a:noFill/>
          <a:ln/>
        </p:spPr>
        <p:txBody>
          <a:bodyPr wrap="square" lIns="0" tIns="0" rIns="0" bIns="0" rtlCol="0" anchor="t"/>
          <a:lstStyle/>
          <a:p>
            <a:pPr indent="0" marL="0">
              <a:buNone/>
            </a:pPr>
            <a:r>
              <a:rPr lang="en-US" sz="700" dirty="0">
                <a:solidFill>
                  <a:srgbClr val="6E6E73"/>
                </a:solidFill>
                <a:latin typeface="SF Pro Text" pitchFamily="34" charset="0"/>
                <a:ea typeface="SF Pro Text" pitchFamily="34" charset="-122"/>
                <a:cs typeface="SF Pro Text" pitchFamily="34" charset="-120"/>
              </a:rPr>
              <a:t>Internal training material</a:t>
            </a:r>
            <a:endParaRPr lang="en-US" sz="700" dirty="0"/>
          </a:p>
        </p:txBody>
      </p:sp>
      <p:sp>
        <p:nvSpPr>
          <p:cNvPr id="6" name="Shape 4"/>
          <p:cNvSpPr/>
          <p:nvPr/>
        </p:nvSpPr>
        <p:spPr>
          <a:xfrm>
            <a:off x="5312664" y="365760"/>
            <a:ext cx="3383280" cy="4407408"/>
          </a:xfrm>
          <a:prstGeom prst="roundRect">
            <a:avLst>
              <a:gd name="adj" fmla="val 2162"/>
            </a:avLst>
          </a:prstGeom>
          <a:solidFill>
            <a:srgbClr val="E3F4F1"/>
          </a:solidFill>
          <a:ln w="9525">
            <a:solidFill>
              <a:srgbClr val="E3F4F1"/>
            </a:solidFill>
            <a:prstDash val="solid"/>
          </a:ln>
        </p:spPr>
      </p:sp>
      <p:sp>
        <p:nvSpPr>
          <p:cNvPr id="7" name="Shape 5"/>
          <p:cNvSpPr/>
          <p:nvPr/>
        </p:nvSpPr>
        <p:spPr>
          <a:xfrm>
            <a:off x="5724144" y="1289304"/>
            <a:ext cx="2560320" cy="2560320"/>
          </a:xfrm>
          <a:prstGeom prst="ellipse">
            <a:avLst/>
          </a:prstGeom>
          <a:solidFill>
            <a:srgbClr val="FFFFFF"/>
          </a:solidFill>
          <a:ln w="12700">
            <a:solidFill>
              <a:srgbClr val="FFFFFF"/>
            </a:solidFill>
            <a:prstDash val="solid"/>
          </a:ln>
        </p:spPr>
      </p:sp>
      <p:pic>
        <p:nvPicPr>
          <p:cNvPr id="8" name="Image 0" descr="/tmp/claude-0/-workspace-training/3ce5cff6-cccf-5f33-b0ee-0b147a55120e/scratchpad/img4/ill6.png">    </p:cNvPr>
          <p:cNvPicPr>
            <a:picLocks noChangeAspect="1"/>
          </p:cNvPicPr>
          <p:nvPr/>
        </p:nvPicPr>
        <p:blipFill>
          <a:blip r:embed="rId1"/>
          <a:stretch>
            <a:fillRect/>
          </a:stretch>
        </p:blipFill>
        <p:spPr>
          <a:xfrm>
            <a:off x="5541264" y="1632461"/>
            <a:ext cx="2926080" cy="1874006"/>
          </a:xfrm>
          <a:prstGeom prst="rect">
            <a:avLst/>
          </a:prstGeom>
        </p:spPr>
      </p:pic>
      <p:sp>
        <p:nvSpPr>
          <p:cNvPr id="9" name="Shape 6"/>
          <p:cNvSpPr/>
          <p:nvPr/>
        </p:nvSpPr>
        <p:spPr>
          <a:xfrm>
            <a:off x="5522976" y="566928"/>
            <a:ext cx="329184" cy="329184"/>
          </a:xfrm>
          <a:prstGeom prst="ellipse">
            <a:avLst/>
          </a:prstGeom>
          <a:solidFill>
            <a:srgbClr val="FFFFFF"/>
          </a:solidFill>
          <a:ln w="12700">
            <a:solidFill>
              <a:srgbClr val="FFFFFF"/>
            </a:solidFill>
            <a:prstDash val="solid"/>
          </a:ln>
        </p:spPr>
      </p:sp>
      <p:sp>
        <p:nvSpPr>
          <p:cNvPr id="10" name="Shape 7"/>
          <p:cNvSpPr/>
          <p:nvPr/>
        </p:nvSpPr>
        <p:spPr>
          <a:xfrm>
            <a:off x="5646420" y="690372"/>
            <a:ext cx="82296" cy="82296"/>
          </a:xfrm>
          <a:prstGeom prst="ellipse">
            <a:avLst/>
          </a:prstGeom>
          <a:solidFill>
            <a:srgbClr val="0B7A6F"/>
          </a:solidFill>
          <a:ln w="12700">
            <a:solidFill>
              <a:srgbClr val="0B7A6F"/>
            </a:solidFill>
            <a:prstDash val="solid"/>
          </a:ln>
        </p:spPr>
      </p:sp>
      <p:sp>
        <p:nvSpPr>
          <p:cNvPr id="11" name="Shape 8"/>
          <p:cNvSpPr/>
          <p:nvPr/>
        </p:nvSpPr>
        <p:spPr>
          <a:xfrm>
            <a:off x="8193024" y="566928"/>
            <a:ext cx="329184" cy="329184"/>
          </a:xfrm>
          <a:prstGeom prst="ellipse">
            <a:avLst/>
          </a:prstGeom>
          <a:solidFill>
            <a:srgbClr val="FFFFFF"/>
          </a:solidFill>
          <a:ln w="12700">
            <a:solidFill>
              <a:srgbClr val="FFFFFF"/>
            </a:solidFill>
            <a:prstDash val="solid"/>
          </a:ln>
        </p:spPr>
      </p:sp>
      <p:sp>
        <p:nvSpPr>
          <p:cNvPr id="12" name="Shape 9"/>
          <p:cNvSpPr/>
          <p:nvPr/>
        </p:nvSpPr>
        <p:spPr>
          <a:xfrm>
            <a:off x="8316468" y="690372"/>
            <a:ext cx="82296" cy="82296"/>
          </a:xfrm>
          <a:prstGeom prst="ellipse">
            <a:avLst/>
          </a:prstGeom>
          <a:solidFill>
            <a:srgbClr val="0B7A6F"/>
          </a:solidFill>
          <a:ln w="12700">
            <a:solidFill>
              <a:srgbClr val="0B7A6F"/>
            </a:solidFill>
            <a:prstDash val="solid"/>
          </a:ln>
        </p:spPr>
      </p:sp>
      <p:sp>
        <p:nvSpPr>
          <p:cNvPr id="13" name="Shape 10"/>
          <p:cNvSpPr/>
          <p:nvPr/>
        </p:nvSpPr>
        <p:spPr>
          <a:xfrm>
            <a:off x="8193024" y="4242816"/>
            <a:ext cx="329184" cy="329184"/>
          </a:xfrm>
          <a:prstGeom prst="ellipse">
            <a:avLst/>
          </a:prstGeom>
          <a:solidFill>
            <a:srgbClr val="FFFFFF"/>
          </a:solidFill>
          <a:ln w="12700">
            <a:solidFill>
              <a:srgbClr val="FFFFFF"/>
            </a:solidFill>
            <a:prstDash val="solid"/>
          </a:ln>
        </p:spPr>
      </p:sp>
      <p:sp>
        <p:nvSpPr>
          <p:cNvPr id="14" name="Shape 11"/>
          <p:cNvSpPr/>
          <p:nvPr/>
        </p:nvSpPr>
        <p:spPr>
          <a:xfrm>
            <a:off x="8316468" y="4366260"/>
            <a:ext cx="82296" cy="82296"/>
          </a:xfrm>
          <a:prstGeom prst="ellipse">
            <a:avLst/>
          </a:prstGeom>
          <a:solidFill>
            <a:srgbClr val="0B7A6F"/>
          </a:solidFill>
          <a:ln w="12700">
            <a:solidFill>
              <a:srgbClr val="0B7A6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OVERVIEW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Agenda</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Four topics. Each ends with a knowledge check and time for questions.</a:t>
            </a:r>
            <a:endParaRPr lang="en-US" sz="12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11480" y="1371600"/>
          <a:ext cx="8321040" cy="914400"/>
        </p:xfrm>
        <a:graphic>
          <a:graphicData uri="http://schemas.openxmlformats.org/drawingml/2006/table">
            <a:tbl>
              <a:tblPr/>
              <a:tblGrid>
                <a:gridCol w="640080"/>
                <a:gridCol w="3108960"/>
                <a:gridCol w="4572000"/>
              </a:tblGrid>
              <a:tr h="457200">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a:t>
                      </a:r>
                      <a:endParaRPr lang="en-US" sz="110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Topic</a:t>
                      </a:r>
                      <a:endParaRPr lang="en-US" sz="110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In one line</a:t>
                      </a:r>
                      <a:endParaRPr lang="en-US" sz="110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57200">
                <a:tc>
                  <a:txBody>
                    <a:bodyPr/>
                    <a:lstStyle/>
                    <a:p>
                      <a:pPr indent="0" marL="0">
                        <a:buNone/>
                      </a:pPr>
                      <a:r>
                        <a:rPr lang="en-US" sz="1100" b="1" dirty="0">
                          <a:solidFill>
                            <a:srgbClr val="0B7A6F"/>
                          </a:solidFill>
                          <a:latin typeface="SF Pro Text" pitchFamily="34" charset="0"/>
                          <a:ea typeface="SF Pro Text" pitchFamily="34" charset="-122"/>
                          <a:cs typeface="SF Pro Text" pitchFamily="34" charset="-120"/>
                        </a:rPr>
                        <a:t>01</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Overcharged Hours (OCH)</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The cleaner billed more time than they worked</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100" b="1" dirty="0">
                          <a:solidFill>
                            <a:srgbClr val="0B7A6F"/>
                          </a:solidFill>
                          <a:latin typeface="SF Pro Text" pitchFamily="34" charset="0"/>
                          <a:ea typeface="SF Pro Text" pitchFamily="34" charset="-122"/>
                          <a:cs typeface="SF Pro Text" pitchFamily="34" charset="-120"/>
                        </a:rPr>
                        <a:t>02</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Unauthorized Addition of Hours</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The cleaner added time without the customer's OK</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100" b="1" dirty="0">
                          <a:solidFill>
                            <a:srgbClr val="0B7A6F"/>
                          </a:solidFill>
                          <a:latin typeface="SF Pro Text" pitchFamily="34" charset="0"/>
                          <a:ea typeface="SF Pro Text" pitchFamily="34" charset="-122"/>
                          <a:cs typeface="SF Pro Text" pitchFamily="34" charset="-120"/>
                        </a:rPr>
                        <a:t>03</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False Invoice</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The cleaner billed a job they never did</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100" b="1" dirty="0">
                          <a:solidFill>
                            <a:srgbClr val="0B7A6F"/>
                          </a:solidFill>
                          <a:latin typeface="SF Pro Text" pitchFamily="34" charset="0"/>
                          <a:ea typeface="SF Pro Text" pitchFamily="34" charset="-122"/>
                          <a:cs typeface="SF Pro Text" pitchFamily="34" charset="-120"/>
                        </a:rPr>
                        <a:t>04</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Disintermediation: Cash Payment</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The customer paid the cleaner directly</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01 OF 04</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Overcharged Hours (OCH)</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cleaner charged the customer for more time than they actually worked.</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OCH differs from similar issues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Policies and what counts as evidence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Branch A and Branch B</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Penalties and watch-outs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27.png">    </p:cNvPr>
          <p:cNvPicPr>
            <a:picLocks noChangeAspect="1"/>
          </p:cNvPicPr>
          <p:nvPr/>
        </p:nvPicPr>
        <p:blipFill>
          <a:blip r:embed="rId5"/>
          <a:stretch>
            <a:fillRect/>
          </a:stretch>
        </p:blipFill>
        <p:spPr>
          <a:xfrm>
            <a:off x="5928845" y="1517904"/>
            <a:ext cx="215091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"unworked hours" family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To the customer they all look the same: "I got charged for time I didn't get."</a:t>
            </a:r>
            <a:endParaRPr lang="en-US" sz="1200" dirty="0"/>
          </a:p>
        </p:txBody>
      </p:sp>
      <p:sp>
        <p:nvSpPr>
          <p:cNvPr id="6" name="Shape 3"/>
          <p:cNvSpPr/>
          <p:nvPr/>
        </p:nvSpPr>
        <p:spPr>
          <a:xfrm>
            <a:off x="411480" y="1325880"/>
            <a:ext cx="2682240" cy="1737360"/>
          </a:xfrm>
          <a:prstGeom prst="roundRect">
            <a:avLst>
              <a:gd name="adj" fmla="val 4211"/>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Didn't show up at all</a:t>
            </a:r>
            <a:endParaRPr lang="en-US" sz="1200" dirty="0"/>
          </a:p>
        </p:txBody>
      </p:sp>
      <p:sp>
        <p:nvSpPr>
          <p:cNvPr id="10" name="Text 6"/>
          <p:cNvSpPr txBox="1"/>
          <p:nvPr/>
        </p:nvSpPr>
        <p:spPr>
          <a:xfrm>
            <a:off x="576072" y="2221992"/>
            <a:ext cx="235305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False Invoice</a:t>
            </a:r>
            <a:endParaRPr lang="en-US" sz="950" dirty="0"/>
          </a:p>
        </p:txBody>
      </p:sp>
      <p:sp>
        <p:nvSpPr>
          <p:cNvPr id="11" name="Shape 7"/>
          <p:cNvSpPr/>
          <p:nvPr/>
        </p:nvSpPr>
        <p:spPr>
          <a:xfrm>
            <a:off x="3230880" y="1325880"/>
            <a:ext cx="2682240" cy="1737360"/>
          </a:xfrm>
          <a:prstGeom prst="roundRect">
            <a:avLst>
              <a:gd name="adj" fmla="val 4211"/>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Worked it, but never asked</a:t>
            </a:r>
            <a:endParaRPr lang="en-US" sz="1200" dirty="0"/>
          </a:p>
        </p:txBody>
      </p:sp>
      <p:sp>
        <p:nvSpPr>
          <p:cNvPr id="15" name="Text 10"/>
          <p:cNvSpPr txBox="1"/>
          <p:nvPr/>
        </p:nvSpPr>
        <p:spPr>
          <a:xfrm>
            <a:off x="3395472" y="2221992"/>
            <a:ext cx="235305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Unauthorized Addition of Hours</a:t>
            </a:r>
            <a:endParaRPr lang="en-US" sz="950" dirty="0"/>
          </a:p>
        </p:txBody>
      </p:sp>
      <p:sp>
        <p:nvSpPr>
          <p:cNvPr id="16" name="Shape 11"/>
          <p:cNvSpPr/>
          <p:nvPr/>
        </p:nvSpPr>
        <p:spPr>
          <a:xfrm>
            <a:off x="6050280" y="1325880"/>
            <a:ext cx="2682240" cy="1737360"/>
          </a:xfrm>
          <a:prstGeom prst="roundRect">
            <a:avLst>
              <a:gd name="adj" fmla="val 4211"/>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Billed more than worked</a:t>
            </a:r>
            <a:endParaRPr lang="en-US" sz="1200" dirty="0"/>
          </a:p>
        </p:txBody>
      </p:sp>
      <p:sp>
        <p:nvSpPr>
          <p:cNvPr id="20" name="Text 14"/>
          <p:cNvSpPr txBox="1"/>
          <p:nvPr/>
        </p:nvSpPr>
        <p:spPr>
          <a:xfrm>
            <a:off x="6214872" y="2221992"/>
            <a:ext cx="235305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Overcharged Hours: this topic</a:t>
            </a:r>
            <a:endParaRPr lang="en-US" sz="950" dirty="0"/>
          </a:p>
        </p:txBody>
      </p:sp>
      <p:sp>
        <p:nvSpPr>
          <p:cNvPr id="21" name="Shape 15"/>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401568"/>
            <a:ext cx="164592" cy="164592"/>
          </a:xfrm>
          <a:prstGeom prst="rect">
            <a:avLst/>
          </a:prstGeom>
        </p:spPr>
      </p:pic>
      <p:sp>
        <p:nvSpPr>
          <p:cNvPr id="23" name="Text 16"/>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it matters:  </a:t>
            </a:r>
            <a:pPr indent="0" marL="0">
              <a:buNone/>
            </a:pPr>
            <a:r>
              <a:rPr lang="en-US" sz="1000" dirty="0">
                <a:solidFill>
                  <a:srgbClr val="1D1D1F"/>
                </a:solidFill>
                <a:latin typeface="SF Pro Text" pitchFamily="34" charset="0"/>
                <a:ea typeface="SF Pro Text" pitchFamily="34" charset="-122"/>
                <a:cs typeface="SF Pro Text" pitchFamily="34" charset="-120"/>
              </a:rPr>
              <a:t>each one needs different evidence and leads to a different resolution and penalty.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Policies</a:t>
            </a:r>
            <a:endParaRPr lang="en-US" sz="2400" dirty="0"/>
          </a:p>
        </p:txBody>
      </p:sp>
      <p:sp>
        <p:nvSpPr>
          <p:cNvPr id="5" name="Shape 2"/>
          <p:cNvSpPr/>
          <p:nvPr/>
        </p:nvSpPr>
        <p:spPr>
          <a:xfrm>
            <a:off x="411480" y="1280160"/>
            <a:ext cx="2682240" cy="2468880"/>
          </a:xfrm>
          <a:prstGeom prst="roundRect">
            <a:avLst>
              <a:gd name="adj" fmla="val 2963"/>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120-day claim window</a:t>
            </a:r>
            <a:endParaRPr lang="en-US" sz="1200" dirty="0"/>
          </a:p>
        </p:txBody>
      </p:sp>
      <p:sp>
        <p:nvSpPr>
          <p:cNvPr id="9" name="Text 5"/>
          <p:cNvSpPr txBox="1"/>
          <p:nvPr/>
        </p:nvSpPr>
        <p:spPr>
          <a:xfrm>
            <a:off x="576072" y="2176272"/>
            <a:ext cx="2353056" cy="1481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Unless the overcharge is clearly proven when reported. Then the job's age doesn't matter.</a:t>
            </a:r>
            <a:endParaRPr lang="en-US" sz="950" dirty="0"/>
          </a:p>
        </p:txBody>
      </p:sp>
      <p:sp>
        <p:nvSpPr>
          <p:cNvPr id="10" name="Shape 6"/>
          <p:cNvSpPr/>
          <p:nvPr/>
        </p:nvSpPr>
        <p:spPr>
          <a:xfrm>
            <a:off x="3230880" y="1280160"/>
            <a:ext cx="2682240" cy="2468880"/>
          </a:xfrm>
          <a:prstGeom prst="roundRect">
            <a:avLst>
              <a:gd name="adj" fmla="val 2963"/>
            </a:avLst>
          </a:prstGeom>
          <a:solidFill>
            <a:srgbClr val="FFFFFF"/>
          </a:solidFill>
          <a:ln w="9525">
            <a:solidFill>
              <a:srgbClr val="DCE1E7"/>
            </a:solidFill>
            <a:prstDash val="solid"/>
          </a:ln>
        </p:spPr>
      </p:sp>
      <p:sp>
        <p:nvSpPr>
          <p:cNvPr id="11" name="Shape 7"/>
          <p:cNvSpPr/>
          <p:nvPr/>
        </p:nvSpPr>
        <p:spPr>
          <a:xfrm>
            <a:off x="339547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3" name="Text 8"/>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what's proven</a:t>
            </a:r>
            <a:endParaRPr lang="en-US" sz="1200" dirty="0"/>
          </a:p>
        </p:txBody>
      </p:sp>
      <p:sp>
        <p:nvSpPr>
          <p:cNvPr id="14" name="Text 9"/>
          <p:cNvSpPr txBox="1"/>
          <p:nvPr/>
        </p:nvSpPr>
        <p:spPr>
          <a:xfrm>
            <a:off x="3395472" y="2176272"/>
            <a:ext cx="2353056" cy="1481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Only the hours the evidence supports, not the full disputed amount.</a:t>
            </a:r>
            <a:endParaRPr lang="en-US" sz="950" dirty="0"/>
          </a:p>
        </p:txBody>
      </p:sp>
      <p:sp>
        <p:nvSpPr>
          <p:cNvPr id="15" name="Shape 10"/>
          <p:cNvSpPr/>
          <p:nvPr/>
        </p:nvSpPr>
        <p:spPr>
          <a:xfrm>
            <a:off x="6050280" y="1280160"/>
            <a:ext cx="2682240" cy="2468880"/>
          </a:xfrm>
          <a:prstGeom prst="roundRect">
            <a:avLst>
              <a:gd name="adj" fmla="val 2963"/>
            </a:avLst>
          </a:prstGeom>
          <a:solidFill>
            <a:srgbClr val="FFFFFF"/>
          </a:solidFill>
          <a:ln w="9525">
            <a:solidFill>
              <a:srgbClr val="DCE1E7"/>
            </a:solidFill>
            <a:prstDash val="solid"/>
          </a:ln>
        </p:spPr>
      </p:sp>
      <p:sp>
        <p:nvSpPr>
          <p:cNvPr id="16" name="Shape 11"/>
          <p:cNvSpPr/>
          <p:nvPr/>
        </p:nvSpPr>
        <p:spPr>
          <a:xfrm>
            <a:off x="62148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8" name="Text 12"/>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CP Suspended + DNR</a:t>
            </a:r>
            <a:endParaRPr lang="en-US" sz="1200" dirty="0"/>
          </a:p>
        </p:txBody>
      </p:sp>
      <p:sp>
        <p:nvSpPr>
          <p:cNvPr id="19" name="Text 13"/>
          <p:cNvSpPr txBox="1"/>
          <p:nvPr/>
        </p:nvSpPr>
        <p:spPr>
          <a:xfrm>
            <a:off x="6214872" y="2176272"/>
            <a:ext cx="2353056" cy="1481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Already DNR for repeat offenses?</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Within 120 days: </a:t>
            </a:r>
            <a:pPr indent="0" marL="0">
              <a:buNone/>
            </a:pPr>
            <a:r>
              <a:rPr lang="en-US" sz="950" dirty="0">
                <a:solidFill>
                  <a:srgbClr val="6E6E73"/>
                </a:solidFill>
                <a:latin typeface="SF Pro Text" pitchFamily="34" charset="0"/>
                <a:ea typeface="SF Pro Text" pitchFamily="34" charset="-122"/>
                <a:cs typeface="SF Pro Text" pitchFamily="34" charset="-120"/>
              </a:rPr>
              <a:t>refund the excess even without clear evidence. No need to request evidence from the CP.</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Beyond 120 days: </a:t>
            </a:r>
            <a:pPr indent="0" marL="0">
              <a:buNone/>
            </a:pPr>
            <a:r>
              <a:rPr lang="en-US" sz="950" dirty="0">
                <a:solidFill>
                  <a:srgbClr val="6E6E73"/>
                </a:solidFill>
                <a:latin typeface="SF Pro Text" pitchFamily="34" charset="0"/>
                <a:ea typeface="SF Pro Text" pitchFamily="34" charset="-122"/>
                <a:cs typeface="SF Pro Text" pitchFamily="34" charset="-120"/>
              </a:rPr>
              <a:t>refund the excess only when the issue is clearly proven.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counts as valid evidence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Documentation from the cleaner must meet all three.</a:t>
            </a:r>
            <a:endParaRPr lang="en-US" sz="1200" dirty="0"/>
          </a:p>
        </p:txBody>
      </p:sp>
      <p:sp>
        <p:nvSpPr>
          <p:cNvPr id="6" name="Shape 3"/>
          <p:cNvSpPr/>
          <p:nvPr/>
        </p:nvSpPr>
        <p:spPr>
          <a:xfrm>
            <a:off x="411480" y="1325880"/>
            <a:ext cx="26822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Not altered</a:t>
            </a:r>
            <a:endParaRPr lang="en-US" sz="1200" dirty="0"/>
          </a:p>
        </p:txBody>
      </p:sp>
      <p:sp>
        <p:nvSpPr>
          <p:cNvPr id="10" name="Text 6"/>
          <p:cNvSpPr txBox="1"/>
          <p:nvPr/>
        </p:nvSpPr>
        <p:spPr>
          <a:xfrm>
            <a:off x="5760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GPS route, not a straight line added by hand.</a:t>
            </a:r>
            <a:endParaRPr lang="en-US" sz="950" dirty="0"/>
          </a:p>
        </p:txBody>
      </p:sp>
      <p:sp>
        <p:nvSpPr>
          <p:cNvPr id="11" name="Shape 7"/>
          <p:cNvSpPr/>
          <p:nvPr/>
        </p:nvSpPr>
        <p:spPr>
          <a:xfrm>
            <a:off x="3230880" y="1325880"/>
            <a:ext cx="26822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Arrival and departure</a:t>
            </a:r>
            <a:endParaRPr lang="en-US" sz="1200" dirty="0"/>
          </a:p>
        </p:txBody>
      </p:sp>
      <p:sp>
        <p:nvSpPr>
          <p:cNvPr id="15" name="Text 10"/>
          <p:cNvSpPr txBox="1"/>
          <p:nvPr/>
        </p:nvSpPr>
        <p:spPr>
          <a:xfrm>
            <a:off x="33954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Both times are clearly shown.</a:t>
            </a:r>
            <a:endParaRPr lang="en-US" sz="950" dirty="0"/>
          </a:p>
        </p:txBody>
      </p:sp>
      <p:sp>
        <p:nvSpPr>
          <p:cNvPr id="16" name="Shape 11"/>
          <p:cNvSpPr/>
          <p:nvPr/>
        </p:nvSpPr>
        <p:spPr>
          <a:xfrm>
            <a:off x="6050280" y="1325880"/>
            <a:ext cx="2682240" cy="1691640"/>
          </a:xfrm>
          <a:prstGeom prst="roundRect">
            <a:avLst>
              <a:gd name="adj" fmla="val 4324"/>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On site the whole time</a:t>
            </a:r>
            <a:endParaRPr lang="en-US" sz="1200" dirty="0"/>
          </a:p>
        </p:txBody>
      </p:sp>
      <p:sp>
        <p:nvSpPr>
          <p:cNvPr id="20" name="Text 14"/>
          <p:cNvSpPr txBox="1"/>
          <p:nvPr/>
        </p:nvSpPr>
        <p:spPr>
          <a:xfrm>
            <a:off x="62148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At the address for the entire job.</a:t>
            </a:r>
            <a:endParaRPr lang="en-US" sz="950" dirty="0"/>
          </a:p>
        </p:txBody>
      </p:sp>
      <p:sp>
        <p:nvSpPr>
          <p:cNvPr id="21" name="Shape 15"/>
          <p:cNvSpPr/>
          <p:nvPr/>
        </p:nvSpPr>
        <p:spPr>
          <a:xfrm>
            <a:off x="411480" y="320040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310128"/>
            <a:ext cx="164592" cy="164592"/>
          </a:xfrm>
          <a:prstGeom prst="rect">
            <a:avLst/>
          </a:prstGeom>
        </p:spPr>
      </p:pic>
      <p:sp>
        <p:nvSpPr>
          <p:cNvPr id="23" name="Text 16"/>
          <p:cNvSpPr txBox="1"/>
          <p:nvPr/>
        </p:nvSpPr>
        <p:spPr>
          <a:xfrm>
            <a:off x="822960" y="33009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Faked, not just weak?  </a:t>
            </a:r>
            <a:pPr indent="0" marL="0">
              <a:buNone/>
            </a:pPr>
            <a:r>
              <a:rPr lang="en-US" sz="1000" dirty="0">
                <a:solidFill>
                  <a:srgbClr val="1D1D1F"/>
                </a:solidFill>
                <a:latin typeface="SF Pro Text" pitchFamily="34" charset="0"/>
                <a:ea typeface="SF Pro Text" pitchFamily="34" charset="-122"/>
                <a:cs typeface="SF Pro Text" pitchFamily="34" charset="-120"/>
              </a:rPr>
              <a:t>stop and go to AG – Fraud (CP Document Fraud). It's a separate offence.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Always start here: investigate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burden of proof is on the cleaner, unless valid evidence is already in front of you.</a:t>
            </a:r>
            <a:endParaRPr lang="en-US" sz="1200" dirty="0"/>
          </a:p>
        </p:txBody>
      </p:sp>
      <p:sp>
        <p:nvSpPr>
          <p:cNvPr id="6" name="Text 3"/>
          <p:cNvSpPr txBox="1"/>
          <p:nvPr/>
        </p:nvSpPr>
        <p:spPr>
          <a:xfrm>
            <a:off x="438912" y="1371600"/>
            <a:ext cx="36576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CHECK ALL FOUR SOURCES</a:t>
            </a:r>
            <a:endParaRPr lang="en-US" sz="800" dirty="0"/>
          </a:p>
        </p:txBody>
      </p:sp>
      <p:sp>
        <p:nvSpPr>
          <p:cNvPr id="7" name="Shape 4"/>
          <p:cNvSpPr/>
          <p:nvPr/>
        </p:nvSpPr>
        <p:spPr>
          <a:xfrm>
            <a:off x="411480" y="1645920"/>
            <a:ext cx="4023360" cy="502920"/>
          </a:xfrm>
          <a:prstGeom prst="roundRect">
            <a:avLst>
              <a:gd name="adj" fmla="val 14545"/>
            </a:avLst>
          </a:prstGeom>
          <a:solidFill>
            <a:srgbClr val="FFFFFF"/>
          </a:solidFill>
          <a:ln w="9525">
            <a:solidFill>
              <a:srgbClr val="DCE1E7"/>
            </a:solidFill>
            <a:prstDash val="solid"/>
          </a:ln>
        </p:spPr>
      </p:sp>
      <p:sp>
        <p:nvSpPr>
          <p:cNvPr id="8" name="Shape 5"/>
          <p:cNvSpPr/>
          <p:nvPr/>
        </p:nvSpPr>
        <p:spPr>
          <a:xfrm>
            <a:off x="521208" y="1751076"/>
            <a:ext cx="292608" cy="292608"/>
          </a:xfrm>
          <a:prstGeom prst="ellipse">
            <a:avLst/>
          </a:prstGeom>
          <a:solidFill>
            <a:srgbClr val="E3F4F1"/>
          </a:solidFill>
          <a:ln w="12700">
            <a:solidFill>
              <a:srgbClr val="E3F4F1"/>
            </a:solidFill>
            <a:prstDash val="solid"/>
          </a:ln>
        </p:spPr>
      </p:sp>
      <p:pic>
        <p:nvPicPr>
          <p:cNvPr id="9" name="Image 0" descr="preencoded.png">    </p:cNvPr>
          <p:cNvPicPr>
            <a:picLocks noChangeAspect="1"/>
          </p:cNvPicPr>
          <p:nvPr/>
        </p:nvPicPr>
        <p:blipFill>
          <a:blip r:embed="rId1"/>
          <a:stretch>
            <a:fillRect/>
          </a:stretch>
        </p:blipFill>
        <p:spPr>
          <a:xfrm>
            <a:off x="591434" y="1821302"/>
            <a:ext cx="152156" cy="152156"/>
          </a:xfrm>
          <a:prstGeom prst="rect">
            <a:avLst/>
          </a:prstGeom>
        </p:spPr>
      </p:pic>
      <p:sp>
        <p:nvSpPr>
          <p:cNvPr id="10" name="Text 6"/>
          <p:cNvSpPr txBox="1"/>
          <p:nvPr/>
        </p:nvSpPr>
        <p:spPr>
          <a:xfrm>
            <a:off x="914400" y="1645920"/>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Cleaner's Travel Journey (CTJ)</a:t>
            </a:r>
            <a:endParaRPr lang="en-US" sz="1050" dirty="0"/>
          </a:p>
        </p:txBody>
      </p:sp>
      <p:sp>
        <p:nvSpPr>
          <p:cNvPr id="11" name="Shape 7"/>
          <p:cNvSpPr/>
          <p:nvPr/>
        </p:nvSpPr>
        <p:spPr>
          <a:xfrm>
            <a:off x="411480" y="2221992"/>
            <a:ext cx="4023360" cy="502920"/>
          </a:xfrm>
          <a:prstGeom prst="roundRect">
            <a:avLst>
              <a:gd name="adj" fmla="val 14545"/>
            </a:avLst>
          </a:prstGeom>
          <a:solidFill>
            <a:srgbClr val="FFFFFF"/>
          </a:solidFill>
          <a:ln w="9525">
            <a:solidFill>
              <a:srgbClr val="DCE1E7"/>
            </a:solidFill>
            <a:prstDash val="solid"/>
          </a:ln>
        </p:spPr>
      </p:sp>
      <p:sp>
        <p:nvSpPr>
          <p:cNvPr id="12" name="Shape 8"/>
          <p:cNvSpPr/>
          <p:nvPr/>
        </p:nvSpPr>
        <p:spPr>
          <a:xfrm>
            <a:off x="521208" y="2327148"/>
            <a:ext cx="292608" cy="29260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591434" y="2397374"/>
            <a:ext cx="152156" cy="152156"/>
          </a:xfrm>
          <a:prstGeom prst="rect">
            <a:avLst/>
          </a:prstGeom>
        </p:spPr>
      </p:pic>
      <p:sp>
        <p:nvSpPr>
          <p:cNvPr id="14" name="Text 9"/>
          <p:cNvSpPr txBox="1"/>
          <p:nvPr/>
        </p:nvSpPr>
        <p:spPr>
          <a:xfrm>
            <a:off x="914400" y="2221992"/>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messages and account activity</a:t>
            </a:r>
            <a:endParaRPr lang="en-US" sz="1050" dirty="0"/>
          </a:p>
        </p:txBody>
      </p:sp>
      <p:sp>
        <p:nvSpPr>
          <p:cNvPr id="15" name="Shape 10"/>
          <p:cNvSpPr/>
          <p:nvPr/>
        </p:nvSpPr>
        <p:spPr>
          <a:xfrm>
            <a:off x="411480" y="2798064"/>
            <a:ext cx="4023360" cy="502920"/>
          </a:xfrm>
          <a:prstGeom prst="roundRect">
            <a:avLst>
              <a:gd name="adj" fmla="val 14545"/>
            </a:avLst>
          </a:prstGeom>
          <a:solidFill>
            <a:srgbClr val="FFFFFF"/>
          </a:solidFill>
          <a:ln w="9525">
            <a:solidFill>
              <a:srgbClr val="DCE1E7"/>
            </a:solidFill>
            <a:prstDash val="solid"/>
          </a:ln>
        </p:spPr>
      </p:sp>
      <p:sp>
        <p:nvSpPr>
          <p:cNvPr id="16" name="Shape 11"/>
          <p:cNvSpPr/>
          <p:nvPr/>
        </p:nvSpPr>
        <p:spPr>
          <a:xfrm>
            <a:off x="521208" y="2903220"/>
            <a:ext cx="292608" cy="292608"/>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591434" y="2973446"/>
            <a:ext cx="152156" cy="152156"/>
          </a:xfrm>
          <a:prstGeom prst="rect">
            <a:avLst/>
          </a:prstGeom>
        </p:spPr>
      </p:pic>
      <p:sp>
        <p:nvSpPr>
          <p:cNvPr id="18" name="Text 12"/>
          <p:cNvSpPr txBox="1"/>
          <p:nvPr/>
        </p:nvSpPr>
        <p:spPr>
          <a:xfrm>
            <a:off x="914400" y="2798064"/>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Job History timestamps</a:t>
            </a:r>
            <a:endParaRPr lang="en-US" sz="1050" dirty="0"/>
          </a:p>
        </p:txBody>
      </p:sp>
      <p:sp>
        <p:nvSpPr>
          <p:cNvPr id="19" name="Shape 13"/>
          <p:cNvSpPr/>
          <p:nvPr/>
        </p:nvSpPr>
        <p:spPr>
          <a:xfrm>
            <a:off x="411480" y="3374136"/>
            <a:ext cx="4023360" cy="502920"/>
          </a:xfrm>
          <a:prstGeom prst="roundRect">
            <a:avLst>
              <a:gd name="adj" fmla="val 14545"/>
            </a:avLst>
          </a:prstGeom>
          <a:solidFill>
            <a:srgbClr val="FFFFFF"/>
          </a:solidFill>
          <a:ln w="9525">
            <a:solidFill>
              <a:srgbClr val="DCE1E7"/>
            </a:solidFill>
            <a:prstDash val="solid"/>
          </a:ln>
        </p:spPr>
      </p:sp>
      <p:sp>
        <p:nvSpPr>
          <p:cNvPr id="20" name="Shape 14"/>
          <p:cNvSpPr/>
          <p:nvPr/>
        </p:nvSpPr>
        <p:spPr>
          <a:xfrm>
            <a:off x="521208" y="3479292"/>
            <a:ext cx="292608" cy="292608"/>
          </a:xfrm>
          <a:prstGeom prst="ellipse">
            <a:avLst/>
          </a:prstGeom>
          <a:solidFill>
            <a:srgbClr val="E3F4F1"/>
          </a:solidFill>
          <a:ln w="12700">
            <a:solidFill>
              <a:srgbClr val="E3F4F1"/>
            </a:solidFill>
            <a:prstDash val="solid"/>
          </a:ln>
        </p:spPr>
      </p:sp>
      <p:pic>
        <p:nvPicPr>
          <p:cNvPr id="21" name="Image 3" descr="preencoded.png">    </p:cNvPr>
          <p:cNvPicPr>
            <a:picLocks noChangeAspect="1"/>
          </p:cNvPicPr>
          <p:nvPr/>
        </p:nvPicPr>
        <p:blipFill>
          <a:blip r:embed="rId4"/>
          <a:stretch>
            <a:fillRect/>
          </a:stretch>
        </p:blipFill>
        <p:spPr>
          <a:xfrm>
            <a:off x="591434" y="3549518"/>
            <a:ext cx="152156" cy="152156"/>
          </a:xfrm>
          <a:prstGeom prst="rect">
            <a:avLst/>
          </a:prstGeom>
        </p:spPr>
      </p:pic>
      <p:sp>
        <p:nvSpPr>
          <p:cNvPr id="22" name="Text 15"/>
          <p:cNvSpPr txBox="1"/>
          <p:nvPr/>
        </p:nvSpPr>
        <p:spPr>
          <a:xfrm>
            <a:off x="914400" y="3374136"/>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reviews of each other</a:t>
            </a:r>
            <a:endParaRPr lang="en-US" sz="1050" dirty="0"/>
          </a:p>
        </p:txBody>
      </p:sp>
      <p:sp>
        <p:nvSpPr>
          <p:cNvPr id="23" name="Shape 16"/>
          <p:cNvSpPr/>
          <p:nvPr/>
        </p:nvSpPr>
        <p:spPr>
          <a:xfrm>
            <a:off x="4663440" y="1371600"/>
            <a:ext cx="4069080" cy="2148840"/>
          </a:xfrm>
          <a:prstGeom prst="roundRect">
            <a:avLst>
              <a:gd name="adj" fmla="val 3404"/>
            </a:avLst>
          </a:prstGeom>
          <a:solidFill>
            <a:srgbClr val="FFFFFF"/>
          </a:solidFill>
          <a:ln w="9525">
            <a:solidFill>
              <a:srgbClr val="DCE1E7"/>
            </a:solidFill>
            <a:prstDash val="solid"/>
          </a:ln>
        </p:spPr>
      </p:sp>
      <p:sp>
        <p:nvSpPr>
          <p:cNvPr id="24" name="Shape 17"/>
          <p:cNvSpPr/>
          <p:nvPr/>
        </p:nvSpPr>
        <p:spPr>
          <a:xfrm>
            <a:off x="4828032" y="1536192"/>
            <a:ext cx="329184" cy="329184"/>
          </a:xfrm>
          <a:prstGeom prst="ellipse">
            <a:avLst/>
          </a:prstGeom>
          <a:solidFill>
            <a:srgbClr val="E3F4F1"/>
          </a:solidFill>
          <a:ln w="12700">
            <a:solidFill>
              <a:srgbClr val="E3F4F1"/>
            </a:solidFill>
            <a:prstDash val="solid"/>
          </a:ln>
        </p:spPr>
      </p:sp>
      <p:pic>
        <p:nvPicPr>
          <p:cNvPr id="25" name="Image 4" descr="preencoded.png">    </p:cNvPr>
          <p:cNvPicPr>
            <a:picLocks noChangeAspect="1"/>
          </p:cNvPicPr>
          <p:nvPr/>
        </p:nvPicPr>
        <p:blipFill>
          <a:blip r:embed="rId5"/>
          <a:stretch>
            <a:fillRect/>
          </a:stretch>
        </p:blipFill>
        <p:spPr>
          <a:xfrm>
            <a:off x="4907036" y="1615196"/>
            <a:ext cx="171176" cy="171176"/>
          </a:xfrm>
          <a:prstGeom prst="rect">
            <a:avLst/>
          </a:prstGeom>
        </p:spPr>
      </p:pic>
      <p:sp>
        <p:nvSpPr>
          <p:cNvPr id="26" name="Text 18"/>
          <p:cNvSpPr txBox="1"/>
          <p:nvPr/>
        </p:nvSpPr>
        <p:spPr>
          <a:xfrm>
            <a:off x="4828032" y="1975104"/>
            <a:ext cx="373989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Customer evidence counts</a:t>
            </a:r>
            <a:endParaRPr lang="en-US" sz="1200" dirty="0"/>
          </a:p>
        </p:txBody>
      </p:sp>
      <p:sp>
        <p:nvSpPr>
          <p:cNvPr id="27" name="Text 19"/>
          <p:cNvSpPr txBox="1"/>
          <p:nvPr/>
        </p:nvSpPr>
        <p:spPr>
          <a:xfrm>
            <a:off x="4828032" y="2267712"/>
            <a:ext cx="3739896" cy="11612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Ring camera clip or a timestamped photo counts the same as a CTJ record, as long as it's legitimate. You don't need the cleaner's proof first.</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you find decides the branch</a:t>
            </a:r>
            <a:endParaRPr lang="en-US" sz="2400" dirty="0"/>
          </a:p>
        </p:txBody>
      </p:sp>
      <p:sp>
        <p:nvSpPr>
          <p:cNvPr id="5" name="Shape 2"/>
          <p:cNvSpPr/>
          <p:nvPr/>
        </p:nvSpPr>
        <p:spPr>
          <a:xfrm>
            <a:off x="411480" y="1051560"/>
            <a:ext cx="4983480" cy="566928"/>
          </a:xfrm>
          <a:prstGeom prst="roundRect">
            <a:avLst>
              <a:gd name="adj" fmla="val 12903"/>
            </a:avLst>
          </a:prstGeom>
          <a:solidFill>
            <a:srgbClr val="0B7A6F"/>
          </a:solidFill>
          <a:ln w="9525">
            <a:solidFill>
              <a:srgbClr val="0B7A6F"/>
            </a:solidFill>
            <a:prstDash val="solid"/>
          </a:ln>
        </p:spPr>
      </p:sp>
      <p:sp>
        <p:nvSpPr>
          <p:cNvPr id="6" name="Text 3"/>
          <p:cNvSpPr txBox="1"/>
          <p:nvPr/>
        </p:nvSpPr>
        <p:spPr>
          <a:xfrm>
            <a:off x="539496" y="1051560"/>
            <a:ext cx="4727448" cy="566928"/>
          </a:xfrm>
          <a:prstGeom prst="rect">
            <a:avLst/>
          </a:prstGeom>
          <a:noFill/>
          <a:ln/>
        </p:spPr>
        <p:txBody>
          <a:bodyPr wrap="square" lIns="0" tIns="0" rIns="0" bIns="0" rtlCol="0" anchor="ctr"/>
          <a:lstStyle/>
          <a:p>
            <a:pPr indent="0" marL="0">
              <a:buNone/>
            </a:pPr>
            <a:r>
              <a:rPr lang="en-US" sz="1150" b="1" dirty="0">
                <a:solidFill>
                  <a:srgbClr val="FFFFFF"/>
                </a:solidFill>
                <a:latin typeface="SF Pro Display" pitchFamily="34" charset="0"/>
                <a:ea typeface="SF Pro Display" pitchFamily="34" charset="-122"/>
                <a:cs typeface="SF Pro Display" pitchFamily="34" charset="-120"/>
              </a:rPr>
              <a:t>Branch A: clear evidence present</a:t>
            </a:r>
            <a:endParaRPr lang="en-US" sz="11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11480" y="1691640"/>
          <a:ext cx="4983480" cy="914400"/>
        </p:xfrm>
        <a:graphic>
          <a:graphicData uri="http://schemas.openxmlformats.org/drawingml/2006/table">
            <a:tbl>
              <a:tblPr/>
              <a:tblGrid>
                <a:gridCol w="2148840"/>
                <a:gridCol w="2834640"/>
              </a:tblGrid>
              <a:tr h="0">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you find</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it means</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CTJ shorter than hours invoiced</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Clear evidence of overcharge → go to Branch A</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Customer supplies valid evidence of the actual duration (e.g. Ring camera, timestamped photo)</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Treat it as you would a CTJ record → go to Branch A, refunding only the hours the evidence supports</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Cleaner acknowledges overcharge in messages</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Clear evidence → go to Branch A</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Cleaner already issued a refund in response to the complaint</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Supports the overcharge claim (people rarely refund for something they didn't do) → go to Branch A</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Customer claims a shorter cleaning duration than what you found during your investigation</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CTJ confirms there is an overcharge, regardless of whether it matches the hours reported by the customer → go to Branch A (only refund the hours that are clearly supported by the CTJ)</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8" name="Shape 4"/>
          <p:cNvSpPr/>
          <p:nvPr/>
        </p:nvSpPr>
        <p:spPr>
          <a:xfrm>
            <a:off x="5532120" y="1051560"/>
            <a:ext cx="3200400" cy="566928"/>
          </a:xfrm>
          <a:prstGeom prst="roundRect">
            <a:avLst>
              <a:gd name="adj" fmla="val 12903"/>
            </a:avLst>
          </a:prstGeom>
          <a:solidFill>
            <a:srgbClr val="0B7A6F"/>
          </a:solidFill>
          <a:ln w="9525">
            <a:solidFill>
              <a:srgbClr val="0B7A6F"/>
            </a:solidFill>
            <a:prstDash val="solid"/>
          </a:ln>
        </p:spPr>
      </p:sp>
      <p:sp>
        <p:nvSpPr>
          <p:cNvPr id="9" name="Text 5"/>
          <p:cNvSpPr txBox="1"/>
          <p:nvPr/>
        </p:nvSpPr>
        <p:spPr>
          <a:xfrm>
            <a:off x="5660136" y="1051560"/>
            <a:ext cx="2944368" cy="566928"/>
          </a:xfrm>
          <a:prstGeom prst="rect">
            <a:avLst/>
          </a:prstGeom>
          <a:noFill/>
          <a:ln/>
        </p:spPr>
        <p:txBody>
          <a:bodyPr wrap="square" lIns="0" tIns="0" rIns="0" bIns="0" rtlCol="0" anchor="ctr"/>
          <a:lstStyle/>
          <a:p>
            <a:pPr indent="0" marL="0">
              <a:buNone/>
            </a:pPr>
            <a:r>
              <a:rPr lang="en-US" sz="1150" b="1" dirty="0">
                <a:solidFill>
                  <a:srgbClr val="FFFFFF"/>
                </a:solidFill>
                <a:latin typeface="SF Pro Display" pitchFamily="34" charset="0"/>
                <a:ea typeface="SF Pro Display" pitchFamily="34" charset="-122"/>
                <a:cs typeface="SF Pro Display" pitchFamily="34" charset="-120"/>
              </a:rPr>
              <a:t>Branch B: no clear evidence</a:t>
            </a:r>
            <a:endParaRPr lang="en-US" sz="1150" dirty="0"/>
          </a:p>
        </p:txBody>
      </p:sp>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5532120" y="1691640"/>
          <a:ext cx="3200400" cy="914400"/>
        </p:xfrm>
        <a:graphic>
          <a:graphicData uri="http://schemas.openxmlformats.org/drawingml/2006/table">
            <a:tbl>
              <a:tblPr/>
              <a:tblGrid>
                <a:gridCol w="1417320"/>
                <a:gridCol w="1783080"/>
              </a:tblGrid>
              <a:tr h="0">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you find</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it means</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Customer claims a shorter cleaning duration than what you found during your investigation</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Job history or other information sources (e.g., C/CP message timestamps) → go to Branch B</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None of the above found</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No clear evidence → go to Branch B</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11" name="Shape 6"/>
          <p:cNvSpPr/>
          <p:nvPr/>
        </p:nvSpPr>
        <p:spPr>
          <a:xfrm>
            <a:off x="5532120" y="3703320"/>
            <a:ext cx="3200400" cy="868680"/>
          </a:xfrm>
          <a:prstGeom prst="roundRect">
            <a:avLst>
              <a:gd name="adj" fmla="val 8421"/>
            </a:avLst>
          </a:prstGeom>
          <a:solidFill>
            <a:srgbClr val="FFF3D6"/>
          </a:solidFill>
          <a:ln w="9525">
            <a:solidFill>
              <a:srgbClr val="FFF3D6"/>
            </a:solidFill>
            <a:prstDash val="solid"/>
          </a:ln>
        </p:spPr>
      </p:sp>
      <p:sp>
        <p:nvSpPr>
          <p:cNvPr id="12" name="Text 7"/>
          <p:cNvSpPr txBox="1"/>
          <p:nvPr/>
        </p:nvSpPr>
        <p:spPr>
          <a:xfrm>
            <a:off x="5641848" y="3703320"/>
            <a:ext cx="2999232" cy="868680"/>
          </a:xfrm>
          <a:prstGeom prst="rect">
            <a:avLst/>
          </a:prstGeom>
          <a:noFill/>
          <a:ln/>
        </p:spPr>
        <p:txBody>
          <a:bodyPr wrap="square" lIns="0" tIns="0" rIns="0" bIns="0" rtlCol="0" anchor="ctr"/>
          <a:lstStyle/>
          <a:p>
            <a:pPr indent="0" marL="0">
              <a:buNone/>
            </a:pPr>
            <a:r>
              <a:rPr lang="en-US" sz="850" b="1" dirty="0">
                <a:solidFill>
                  <a:srgbClr val="9A6410"/>
                </a:solidFill>
                <a:latin typeface="SF Pro Text" pitchFamily="34" charset="0"/>
                <a:ea typeface="SF Pro Text" pitchFamily="34" charset="-122"/>
                <a:cs typeface="SF Pro Text" pitchFamily="34" charset="-120"/>
              </a:rPr>
              <a:t>CTJ matches hours invoiced</a:t>
            </a:r>
            <a:endParaRPr lang="en-US" sz="850" dirty="0"/>
          </a:p>
          <a:p>
            <a:pPr indent="0" marL="0">
              <a:buNone/>
            </a:pPr>
            <a:r>
              <a:rPr lang="en-US" sz="850" dirty="0">
                <a:solidFill>
                  <a:srgbClr val="1D1D1F"/>
                </a:solidFill>
                <a:latin typeface="SF Pro Text" pitchFamily="34" charset="0"/>
                <a:ea typeface="SF Pro Text" pitchFamily="34" charset="-122"/>
                <a:cs typeface="SF Pro Text" pitchFamily="34" charset="-120"/>
              </a:rPr>
              <a:t>Clear evidence NO overcharge occurred → stop, no refund, address other concerns</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A: clear evidence present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straight line once you're in it: refund, check for a Premium fee, then split on the 30-minute rule.</a:t>
            </a:r>
            <a:endParaRPr lang="en-US" sz="1200" dirty="0"/>
          </a:p>
        </p:txBody>
      </p:sp>
      <p:sp>
        <p:nvSpPr>
          <p:cNvPr id="6" name="Shape 3"/>
          <p:cNvSpPr/>
          <p:nvPr/>
        </p:nvSpPr>
        <p:spPr>
          <a:xfrm>
            <a:off x="3337560" y="1325880"/>
            <a:ext cx="2468880" cy="420624"/>
          </a:xfrm>
          <a:prstGeom prst="roundRect">
            <a:avLst>
              <a:gd name="adj" fmla="val 17391"/>
            </a:avLst>
          </a:prstGeom>
          <a:solidFill>
            <a:srgbClr val="0B7A6F"/>
          </a:solidFill>
          <a:ln w="12700">
            <a:solidFill>
              <a:srgbClr val="0B7A6F"/>
            </a:solidFill>
            <a:prstDash val="solid"/>
          </a:ln>
        </p:spPr>
      </p:sp>
      <p:sp>
        <p:nvSpPr>
          <p:cNvPr id="7" name="Text 4"/>
          <p:cNvSpPr txBox="1"/>
          <p:nvPr/>
        </p:nvSpPr>
        <p:spPr>
          <a:xfrm>
            <a:off x="3337560" y="1325880"/>
            <a:ext cx="24688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Refund via CP Dashboard</a:t>
            </a:r>
            <a:endParaRPr lang="en-US" sz="1000" dirty="0"/>
          </a:p>
        </p:txBody>
      </p:sp>
      <p:sp>
        <p:nvSpPr>
          <p:cNvPr id="8" name="Shape 5"/>
          <p:cNvSpPr/>
          <p:nvPr/>
        </p:nvSpPr>
        <p:spPr>
          <a:xfrm>
            <a:off x="4572000" y="1746504"/>
            <a:ext cx="0" cy="155448"/>
          </a:xfrm>
          <a:prstGeom prst="line">
            <a:avLst/>
          </a:prstGeom>
          <a:noFill/>
          <a:ln w="12700">
            <a:solidFill>
              <a:srgbClr val="6E6E73"/>
            </a:solidFill>
            <a:prstDash val="solid"/>
            <a:tailEnd type="triangle"/>
          </a:ln>
        </p:spPr>
      </p:sp>
      <p:sp>
        <p:nvSpPr>
          <p:cNvPr id="9" name="Shape 6"/>
          <p:cNvSpPr/>
          <p:nvPr/>
        </p:nvSpPr>
        <p:spPr>
          <a:xfrm>
            <a:off x="3337560" y="1901952"/>
            <a:ext cx="2468880" cy="420624"/>
          </a:xfrm>
          <a:prstGeom prst="roundRect">
            <a:avLst>
              <a:gd name="adj" fmla="val 17391"/>
            </a:avLst>
          </a:prstGeom>
          <a:solidFill>
            <a:srgbClr val="0B7A6F"/>
          </a:solidFill>
          <a:ln w="12700">
            <a:solidFill>
              <a:srgbClr val="0B7A6F"/>
            </a:solidFill>
            <a:prstDash val="solid"/>
          </a:ln>
        </p:spPr>
      </p:sp>
      <p:sp>
        <p:nvSpPr>
          <p:cNvPr id="10" name="Text 7"/>
          <p:cNvSpPr txBox="1"/>
          <p:nvPr/>
        </p:nvSpPr>
        <p:spPr>
          <a:xfrm>
            <a:off x="3337560" y="1901952"/>
            <a:ext cx="24688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Check for Premium fee</a:t>
            </a:r>
            <a:endParaRPr lang="en-US" sz="1000" dirty="0"/>
          </a:p>
        </p:txBody>
      </p:sp>
      <p:sp>
        <p:nvSpPr>
          <p:cNvPr id="11" name="Shape 8"/>
          <p:cNvSpPr/>
          <p:nvPr/>
        </p:nvSpPr>
        <p:spPr>
          <a:xfrm>
            <a:off x="4572000" y="2322576"/>
            <a:ext cx="0" cy="155448"/>
          </a:xfrm>
          <a:prstGeom prst="line">
            <a:avLst/>
          </a:prstGeom>
          <a:noFill/>
          <a:ln w="12700">
            <a:solidFill>
              <a:srgbClr val="6E6E73"/>
            </a:solidFill>
            <a:prstDash val="solid"/>
            <a:tailEnd type="triangle"/>
          </a:ln>
        </p:spPr>
      </p:sp>
      <p:sp>
        <p:nvSpPr>
          <p:cNvPr id="12" name="Shape 9"/>
          <p:cNvSpPr/>
          <p:nvPr/>
        </p:nvSpPr>
        <p:spPr>
          <a:xfrm>
            <a:off x="3337560" y="2478024"/>
            <a:ext cx="2468880" cy="420624"/>
          </a:xfrm>
          <a:prstGeom prst="roundRect">
            <a:avLst>
              <a:gd name="adj" fmla="val 17391"/>
            </a:avLst>
          </a:prstGeom>
          <a:solidFill>
            <a:srgbClr val="FFF3D6"/>
          </a:solidFill>
          <a:ln w="12700">
            <a:solidFill>
              <a:srgbClr val="9A6410"/>
            </a:solidFill>
            <a:prstDash val="solid"/>
          </a:ln>
        </p:spPr>
      </p:sp>
      <p:sp>
        <p:nvSpPr>
          <p:cNvPr id="13" name="Text 10"/>
          <p:cNvSpPr txBox="1"/>
          <p:nvPr/>
        </p:nvSpPr>
        <p:spPr>
          <a:xfrm>
            <a:off x="3337560" y="2478024"/>
            <a:ext cx="2468880" cy="420624"/>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Overcharged ≥ 30 min?</a:t>
            </a:r>
            <a:endParaRPr lang="en-US" sz="1000" dirty="0"/>
          </a:p>
        </p:txBody>
      </p:sp>
      <p:sp>
        <p:nvSpPr>
          <p:cNvPr id="14" name="Shape 11"/>
          <p:cNvSpPr/>
          <p:nvPr/>
        </p:nvSpPr>
        <p:spPr>
          <a:xfrm>
            <a:off x="4572000" y="2898648"/>
            <a:ext cx="0" cy="228600"/>
          </a:xfrm>
          <a:prstGeom prst="line">
            <a:avLst/>
          </a:prstGeom>
          <a:noFill/>
          <a:ln w="12700">
            <a:solidFill>
              <a:srgbClr val="6E6E73"/>
            </a:solidFill>
            <a:prstDash val="solid"/>
          </a:ln>
        </p:spPr>
      </p:sp>
      <p:sp>
        <p:nvSpPr>
          <p:cNvPr id="15" name="Shape 12"/>
          <p:cNvSpPr/>
          <p:nvPr/>
        </p:nvSpPr>
        <p:spPr>
          <a:xfrm>
            <a:off x="2240280" y="3127248"/>
            <a:ext cx="4663440" cy="0"/>
          </a:xfrm>
          <a:prstGeom prst="line">
            <a:avLst/>
          </a:prstGeom>
          <a:noFill/>
          <a:ln w="12700">
            <a:solidFill>
              <a:srgbClr val="6E6E73"/>
            </a:solidFill>
            <a:prstDash val="solid"/>
          </a:ln>
        </p:spPr>
      </p:sp>
      <p:sp>
        <p:nvSpPr>
          <p:cNvPr id="16" name="Shape 13"/>
          <p:cNvSpPr/>
          <p:nvPr/>
        </p:nvSpPr>
        <p:spPr>
          <a:xfrm>
            <a:off x="2240280" y="3127248"/>
            <a:ext cx="0" cy="301752"/>
          </a:xfrm>
          <a:prstGeom prst="line">
            <a:avLst/>
          </a:prstGeom>
          <a:noFill/>
          <a:ln w="12700">
            <a:solidFill>
              <a:srgbClr val="6E6E73"/>
            </a:solidFill>
            <a:prstDash val="solid"/>
            <a:tailEnd type="triangle"/>
          </a:ln>
        </p:spPr>
      </p:sp>
      <p:sp>
        <p:nvSpPr>
          <p:cNvPr id="17" name="Shape 14"/>
          <p:cNvSpPr/>
          <p:nvPr/>
        </p:nvSpPr>
        <p:spPr>
          <a:xfrm>
            <a:off x="6903720" y="3127248"/>
            <a:ext cx="0" cy="301752"/>
          </a:xfrm>
          <a:prstGeom prst="line">
            <a:avLst/>
          </a:prstGeom>
          <a:noFill/>
          <a:ln w="12700">
            <a:solidFill>
              <a:srgbClr val="6E6E73"/>
            </a:solidFill>
            <a:prstDash val="solid"/>
            <a:tailEnd type="triangle"/>
          </a:ln>
        </p:spPr>
      </p:sp>
      <p:sp>
        <p:nvSpPr>
          <p:cNvPr id="18" name="Text 15"/>
          <p:cNvSpPr txBox="1"/>
          <p:nvPr/>
        </p:nvSpPr>
        <p:spPr>
          <a:xfrm>
            <a:off x="2313432" y="314553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9" name="Text 16"/>
          <p:cNvSpPr txBox="1"/>
          <p:nvPr/>
        </p:nvSpPr>
        <p:spPr>
          <a:xfrm>
            <a:off x="6976872" y="314553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20" name="Shape 17"/>
          <p:cNvSpPr/>
          <p:nvPr/>
        </p:nvSpPr>
        <p:spPr>
          <a:xfrm>
            <a:off x="1005840" y="3429000"/>
            <a:ext cx="2468880" cy="420624"/>
          </a:xfrm>
          <a:prstGeom prst="roundRect">
            <a:avLst>
              <a:gd name="adj" fmla="val 17391"/>
            </a:avLst>
          </a:prstGeom>
          <a:solidFill>
            <a:srgbClr val="1D1D1F"/>
          </a:solidFill>
          <a:ln w="12700">
            <a:solidFill>
              <a:srgbClr val="1D1D1F"/>
            </a:solidFill>
            <a:prstDash val="solid"/>
          </a:ln>
        </p:spPr>
      </p:sp>
      <p:sp>
        <p:nvSpPr>
          <p:cNvPr id="21" name="Text 18"/>
          <p:cNvSpPr txBox="1"/>
          <p:nvPr/>
        </p:nvSpPr>
        <p:spPr>
          <a:xfrm>
            <a:off x="1005840" y="3429000"/>
            <a:ext cx="24688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Flag, ban, penalize</a:t>
            </a:r>
            <a:endParaRPr lang="en-US" sz="1000" dirty="0"/>
          </a:p>
        </p:txBody>
      </p:sp>
      <p:sp>
        <p:nvSpPr>
          <p:cNvPr id="22" name="Shape 19"/>
          <p:cNvSpPr/>
          <p:nvPr/>
        </p:nvSpPr>
        <p:spPr>
          <a:xfrm>
            <a:off x="5669280" y="3429000"/>
            <a:ext cx="2468880" cy="420624"/>
          </a:xfrm>
          <a:prstGeom prst="roundRect">
            <a:avLst>
              <a:gd name="adj" fmla="val 17391"/>
            </a:avLst>
          </a:prstGeom>
          <a:solidFill>
            <a:srgbClr val="FFFFFF"/>
          </a:solidFill>
          <a:ln w="12700">
            <a:solidFill>
              <a:srgbClr val="DCE1E7"/>
            </a:solidFill>
            <a:prstDash val="solid"/>
          </a:ln>
        </p:spPr>
      </p:sp>
      <p:sp>
        <p:nvSpPr>
          <p:cNvPr id="23" name="Text 20"/>
          <p:cNvSpPr txBox="1"/>
          <p:nvPr/>
        </p:nvSpPr>
        <p:spPr>
          <a:xfrm>
            <a:off x="5669280" y="3429000"/>
            <a:ext cx="2468880" cy="420624"/>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Ban the pairing</a:t>
            </a:r>
            <a:endParaRPr lang="en-US" sz="1000" dirty="0"/>
          </a:p>
        </p:txBody>
      </p:sp>
      <p:sp>
        <p:nvSpPr>
          <p:cNvPr id="24" name="Text 21"/>
          <p:cNvSpPr txBox="1"/>
          <p:nvPr/>
        </p:nvSpPr>
        <p:spPr>
          <a:xfrm>
            <a:off x="777240" y="3904488"/>
            <a:ext cx="2926080" cy="411480"/>
          </a:xfrm>
          <a:prstGeom prst="rect">
            <a:avLst/>
          </a:prstGeom>
          <a:noFill/>
          <a:ln/>
        </p:spPr>
        <p:txBody>
          <a:bodyPr wrap="square" lIns="0" tIns="0" rIns="0" bIns="0" rtlCol="0" anchor="t"/>
          <a:lstStyle/>
          <a:p>
            <a:pPr algn="ctr" indent="0" marL="0">
              <a:buNone/>
            </a:pPr>
            <a:r>
              <a:rPr lang="en-US" sz="850" dirty="0">
                <a:solidFill>
                  <a:srgbClr val="6E6E73"/>
                </a:solidFill>
                <a:latin typeface="SF Pro Text" pitchFamily="34" charset="0"/>
                <a:ea typeface="SF Pro Text" pitchFamily="34" charset="-122"/>
                <a:cs typeface="SF Pro Text" pitchFamily="34" charset="-120"/>
              </a:rPr>
              <a:t>cp_overcharged_hours flag  → norequests status  → ban the pairing  → send comms to C &amp; CP</a:t>
            </a:r>
            <a:endParaRPr lang="en-US" sz="850" dirty="0"/>
          </a:p>
        </p:txBody>
      </p:sp>
      <p:sp>
        <p:nvSpPr>
          <p:cNvPr id="25" name="Text 22"/>
          <p:cNvSpPr txBox="1"/>
          <p:nvPr/>
        </p:nvSpPr>
        <p:spPr>
          <a:xfrm>
            <a:off x="5440680" y="3904488"/>
            <a:ext cx="2926080" cy="411480"/>
          </a:xfrm>
          <a:prstGeom prst="rect">
            <a:avLst/>
          </a:prstGeom>
          <a:noFill/>
          <a:ln/>
        </p:spPr>
        <p:txBody>
          <a:bodyPr wrap="square" lIns="0" tIns="0" rIns="0" bIns="0" rtlCol="0" anchor="t"/>
          <a:lstStyle/>
          <a:p>
            <a:pPr algn="ctr" indent="0" marL="0">
              <a:buNone/>
            </a:pPr>
            <a:r>
              <a:rPr lang="en-US" sz="850" dirty="0">
                <a:solidFill>
                  <a:srgbClr val="6E6E73"/>
                </a:solidFill>
                <a:latin typeface="SF Pro Text" pitchFamily="34" charset="0"/>
                <a:ea typeface="SF Pro Text" pitchFamily="34" charset="-122"/>
                <a:cs typeface="SF Pro Text" pitchFamily="34" charset="-120"/>
              </a:rPr>
              <a:t>Comms to both. Done: no flag, no penalty.</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no clear evidence present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Takes longer: it pauses while we wait on the CP, and picks back up when the Timed Reminder triggers.</a:t>
            </a:r>
            <a:endParaRPr lang="en-US" sz="1200" dirty="0"/>
          </a:p>
        </p:txBody>
      </p:sp>
      <p:sp>
        <p:nvSpPr>
          <p:cNvPr id="6" name="Shape 3"/>
          <p:cNvSpPr/>
          <p:nvPr/>
        </p:nvSpPr>
        <p:spPr>
          <a:xfrm>
            <a:off x="2971800" y="1298448"/>
            <a:ext cx="3200400" cy="502920"/>
          </a:xfrm>
          <a:prstGeom prst="roundRect">
            <a:avLst>
              <a:gd name="adj" fmla="val 14545"/>
            </a:avLst>
          </a:prstGeom>
          <a:solidFill>
            <a:srgbClr val="FFF3D6"/>
          </a:solidFill>
          <a:ln w="12700">
            <a:solidFill>
              <a:srgbClr val="9A6410"/>
            </a:solidFill>
            <a:prstDash val="solid"/>
          </a:ln>
        </p:spPr>
      </p:sp>
      <p:sp>
        <p:nvSpPr>
          <p:cNvPr id="7" name="Text 4"/>
          <p:cNvSpPr txBox="1"/>
          <p:nvPr/>
        </p:nvSpPr>
        <p:spPr>
          <a:xfrm>
            <a:off x="2971800" y="1298448"/>
            <a:ext cx="3200400" cy="50292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CP suspended + DNR due to multiple overcharged hours?</a:t>
            </a:r>
            <a:endParaRPr lang="en-US" sz="1000" dirty="0"/>
          </a:p>
        </p:txBody>
      </p:sp>
      <p:sp>
        <p:nvSpPr>
          <p:cNvPr id="8" name="Shape 5"/>
          <p:cNvSpPr/>
          <p:nvPr/>
        </p:nvSpPr>
        <p:spPr>
          <a:xfrm>
            <a:off x="4572000" y="1801368"/>
            <a:ext cx="0" cy="210312"/>
          </a:xfrm>
          <a:prstGeom prst="line">
            <a:avLst/>
          </a:prstGeom>
          <a:noFill/>
          <a:ln w="12700">
            <a:solidFill>
              <a:srgbClr val="6E6E73"/>
            </a:solidFill>
            <a:prstDash val="solid"/>
          </a:ln>
        </p:spPr>
      </p:sp>
      <p:sp>
        <p:nvSpPr>
          <p:cNvPr id="9" name="Shape 6"/>
          <p:cNvSpPr/>
          <p:nvPr/>
        </p:nvSpPr>
        <p:spPr>
          <a:xfrm>
            <a:off x="2743200" y="2011680"/>
            <a:ext cx="4206240" cy="0"/>
          </a:xfrm>
          <a:prstGeom prst="line">
            <a:avLst/>
          </a:prstGeom>
          <a:noFill/>
          <a:ln w="12700">
            <a:solidFill>
              <a:srgbClr val="6E6E73"/>
            </a:solidFill>
            <a:prstDash val="solid"/>
          </a:ln>
        </p:spPr>
      </p:sp>
      <p:sp>
        <p:nvSpPr>
          <p:cNvPr id="10" name="Shape 7"/>
          <p:cNvSpPr/>
          <p:nvPr/>
        </p:nvSpPr>
        <p:spPr>
          <a:xfrm>
            <a:off x="2743200" y="2011680"/>
            <a:ext cx="0" cy="228600"/>
          </a:xfrm>
          <a:prstGeom prst="line">
            <a:avLst/>
          </a:prstGeom>
          <a:noFill/>
          <a:ln w="12700">
            <a:solidFill>
              <a:srgbClr val="6E6E73"/>
            </a:solidFill>
            <a:prstDash val="solid"/>
            <a:tailEnd type="triangle"/>
          </a:ln>
        </p:spPr>
      </p:sp>
      <p:sp>
        <p:nvSpPr>
          <p:cNvPr id="11" name="Shape 8"/>
          <p:cNvSpPr/>
          <p:nvPr/>
        </p:nvSpPr>
        <p:spPr>
          <a:xfrm>
            <a:off x="6949440" y="2011680"/>
            <a:ext cx="0" cy="228600"/>
          </a:xfrm>
          <a:prstGeom prst="line">
            <a:avLst/>
          </a:prstGeom>
          <a:noFill/>
          <a:ln w="12700">
            <a:solidFill>
              <a:srgbClr val="6E6E73"/>
            </a:solidFill>
            <a:prstDash val="solid"/>
            <a:tailEnd type="triangle"/>
          </a:ln>
        </p:spPr>
      </p:sp>
      <p:sp>
        <p:nvSpPr>
          <p:cNvPr id="12" name="Text 9"/>
          <p:cNvSpPr txBox="1"/>
          <p:nvPr/>
        </p:nvSpPr>
        <p:spPr>
          <a:xfrm>
            <a:off x="2816352" y="202996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13" name="Text 10"/>
          <p:cNvSpPr txBox="1"/>
          <p:nvPr/>
        </p:nvSpPr>
        <p:spPr>
          <a:xfrm>
            <a:off x="7022592" y="202996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4" name="Shape 11"/>
          <p:cNvSpPr/>
          <p:nvPr/>
        </p:nvSpPr>
        <p:spPr>
          <a:xfrm>
            <a:off x="1463040" y="2240280"/>
            <a:ext cx="2560320" cy="475488"/>
          </a:xfrm>
          <a:prstGeom prst="roundRect">
            <a:avLst>
              <a:gd name="adj" fmla="val 15385"/>
            </a:avLst>
          </a:prstGeom>
          <a:solidFill>
            <a:srgbClr val="0B7A6F"/>
          </a:solidFill>
          <a:ln w="12700">
            <a:solidFill>
              <a:srgbClr val="0B7A6F"/>
            </a:solidFill>
            <a:prstDash val="solid"/>
          </a:ln>
        </p:spPr>
      </p:sp>
      <p:sp>
        <p:nvSpPr>
          <p:cNvPr id="15" name="Text 12"/>
          <p:cNvSpPr txBox="1"/>
          <p:nvPr/>
        </p:nvSpPr>
        <p:spPr>
          <a:xfrm>
            <a:off x="1463040" y="2240280"/>
            <a:ext cx="2560320" cy="47548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Request docs</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72-hour Timed Reminder</a:t>
            </a:r>
            <a:endParaRPr lang="en-US" sz="1000" dirty="0"/>
          </a:p>
        </p:txBody>
      </p:sp>
      <p:sp>
        <p:nvSpPr>
          <p:cNvPr id="16" name="Shape 13"/>
          <p:cNvSpPr/>
          <p:nvPr/>
        </p:nvSpPr>
        <p:spPr>
          <a:xfrm>
            <a:off x="5669280" y="2240280"/>
            <a:ext cx="2560320" cy="475488"/>
          </a:xfrm>
          <a:prstGeom prst="roundRect">
            <a:avLst>
              <a:gd name="adj" fmla="val 15385"/>
            </a:avLst>
          </a:prstGeom>
          <a:solidFill>
            <a:srgbClr val="0B7A6F"/>
          </a:solidFill>
          <a:ln w="12700">
            <a:solidFill>
              <a:srgbClr val="0B7A6F"/>
            </a:solidFill>
            <a:prstDash val="solid"/>
          </a:ln>
        </p:spPr>
      </p:sp>
      <p:sp>
        <p:nvSpPr>
          <p:cNvPr id="17" name="Text 14"/>
          <p:cNvSpPr txBox="1"/>
          <p:nvPr/>
        </p:nvSpPr>
        <p:spPr>
          <a:xfrm>
            <a:off x="5669280" y="2240280"/>
            <a:ext cx="2560320" cy="47548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Skip to Branch A</a:t>
            </a:r>
            <a:endParaRPr lang="en-US" sz="1000" dirty="0"/>
          </a:p>
        </p:txBody>
      </p:sp>
      <p:sp>
        <p:nvSpPr>
          <p:cNvPr id="18" name="Shape 15"/>
          <p:cNvSpPr/>
          <p:nvPr/>
        </p:nvSpPr>
        <p:spPr>
          <a:xfrm>
            <a:off x="2743200" y="2715768"/>
            <a:ext cx="0" cy="228600"/>
          </a:xfrm>
          <a:prstGeom prst="line">
            <a:avLst/>
          </a:prstGeom>
          <a:noFill/>
          <a:ln w="12700">
            <a:solidFill>
              <a:srgbClr val="6E6E73"/>
            </a:solidFill>
            <a:prstDash val="solid"/>
            <a:tailEnd type="triangle"/>
          </a:ln>
        </p:spPr>
      </p:sp>
      <p:sp>
        <p:nvSpPr>
          <p:cNvPr id="19" name="Shape 16"/>
          <p:cNvSpPr/>
          <p:nvPr/>
        </p:nvSpPr>
        <p:spPr>
          <a:xfrm>
            <a:off x="1463040" y="2944368"/>
            <a:ext cx="2560320" cy="475488"/>
          </a:xfrm>
          <a:prstGeom prst="roundRect">
            <a:avLst>
              <a:gd name="adj" fmla="val 15385"/>
            </a:avLst>
          </a:prstGeom>
          <a:solidFill>
            <a:srgbClr val="FFF3D6"/>
          </a:solidFill>
          <a:ln w="12700">
            <a:solidFill>
              <a:srgbClr val="9A6410"/>
            </a:solidFill>
            <a:prstDash val="solid"/>
          </a:ln>
        </p:spPr>
      </p:sp>
      <p:sp>
        <p:nvSpPr>
          <p:cNvPr id="20" name="Text 17"/>
          <p:cNvSpPr txBox="1"/>
          <p:nvPr/>
        </p:nvSpPr>
        <p:spPr>
          <a:xfrm>
            <a:off x="1463040" y="2944368"/>
            <a:ext cx="2560320" cy="47548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Reminder triggers</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CP provided valid proof?</a:t>
            </a:r>
            <a:endParaRPr lang="en-US" sz="1000" dirty="0"/>
          </a:p>
        </p:txBody>
      </p:sp>
      <p:sp>
        <p:nvSpPr>
          <p:cNvPr id="21" name="Shape 18"/>
          <p:cNvSpPr/>
          <p:nvPr/>
        </p:nvSpPr>
        <p:spPr>
          <a:xfrm>
            <a:off x="2743200" y="3419856"/>
            <a:ext cx="0" cy="219456"/>
          </a:xfrm>
          <a:prstGeom prst="line">
            <a:avLst/>
          </a:prstGeom>
          <a:noFill/>
          <a:ln w="12700">
            <a:solidFill>
              <a:srgbClr val="6E6E73"/>
            </a:solidFill>
            <a:prstDash val="solid"/>
          </a:ln>
        </p:spPr>
      </p:sp>
      <p:sp>
        <p:nvSpPr>
          <p:cNvPr id="22" name="Shape 19"/>
          <p:cNvSpPr/>
          <p:nvPr/>
        </p:nvSpPr>
        <p:spPr>
          <a:xfrm>
            <a:off x="1508760" y="3639312"/>
            <a:ext cx="2468880" cy="0"/>
          </a:xfrm>
          <a:prstGeom prst="line">
            <a:avLst/>
          </a:prstGeom>
          <a:noFill/>
          <a:ln w="12700">
            <a:solidFill>
              <a:srgbClr val="6E6E73"/>
            </a:solidFill>
            <a:prstDash val="solid"/>
          </a:ln>
        </p:spPr>
      </p:sp>
      <p:sp>
        <p:nvSpPr>
          <p:cNvPr id="23" name="Shape 20"/>
          <p:cNvSpPr/>
          <p:nvPr/>
        </p:nvSpPr>
        <p:spPr>
          <a:xfrm>
            <a:off x="1508760" y="3639312"/>
            <a:ext cx="0" cy="384048"/>
          </a:xfrm>
          <a:prstGeom prst="line">
            <a:avLst/>
          </a:prstGeom>
          <a:noFill/>
          <a:ln w="12700">
            <a:solidFill>
              <a:srgbClr val="6E6E73"/>
            </a:solidFill>
            <a:prstDash val="solid"/>
            <a:tailEnd type="triangle"/>
          </a:ln>
        </p:spPr>
      </p:sp>
      <p:sp>
        <p:nvSpPr>
          <p:cNvPr id="24" name="Shape 21"/>
          <p:cNvSpPr/>
          <p:nvPr/>
        </p:nvSpPr>
        <p:spPr>
          <a:xfrm>
            <a:off x="3977640" y="3639312"/>
            <a:ext cx="0" cy="384048"/>
          </a:xfrm>
          <a:prstGeom prst="line">
            <a:avLst/>
          </a:prstGeom>
          <a:noFill/>
          <a:ln w="12700">
            <a:solidFill>
              <a:srgbClr val="6E6E73"/>
            </a:solidFill>
            <a:prstDash val="solid"/>
            <a:tailEnd type="triangle"/>
          </a:ln>
        </p:spPr>
      </p:sp>
      <p:sp>
        <p:nvSpPr>
          <p:cNvPr id="25" name="Text 22"/>
          <p:cNvSpPr txBox="1"/>
          <p:nvPr/>
        </p:nvSpPr>
        <p:spPr>
          <a:xfrm>
            <a:off x="1581912" y="3657600"/>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26" name="Text 23"/>
          <p:cNvSpPr txBox="1"/>
          <p:nvPr/>
        </p:nvSpPr>
        <p:spPr>
          <a:xfrm>
            <a:off x="4050792" y="3657600"/>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27" name="Shape 24"/>
          <p:cNvSpPr/>
          <p:nvPr/>
        </p:nvSpPr>
        <p:spPr>
          <a:xfrm>
            <a:off x="457200" y="4023360"/>
            <a:ext cx="2103120" cy="420624"/>
          </a:xfrm>
          <a:prstGeom prst="roundRect">
            <a:avLst>
              <a:gd name="adj" fmla="val 17391"/>
            </a:avLst>
          </a:prstGeom>
          <a:solidFill>
            <a:srgbClr val="FFFFFF"/>
          </a:solidFill>
          <a:ln w="12700">
            <a:solidFill>
              <a:srgbClr val="DCE1E7"/>
            </a:solidFill>
            <a:prstDash val="solid"/>
          </a:ln>
        </p:spPr>
      </p:sp>
      <p:sp>
        <p:nvSpPr>
          <p:cNvPr id="28" name="Text 25"/>
          <p:cNvSpPr txBox="1"/>
          <p:nvPr/>
        </p:nvSpPr>
        <p:spPr>
          <a:xfrm>
            <a:off x="457200" y="4023360"/>
            <a:ext cx="2103120" cy="420624"/>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No refund</a:t>
            </a:r>
            <a:endParaRPr lang="en-US" sz="1000" dirty="0"/>
          </a:p>
        </p:txBody>
      </p:sp>
      <p:sp>
        <p:nvSpPr>
          <p:cNvPr id="29" name="Shape 26"/>
          <p:cNvSpPr/>
          <p:nvPr/>
        </p:nvSpPr>
        <p:spPr>
          <a:xfrm>
            <a:off x="2880360" y="4023360"/>
            <a:ext cx="2194560" cy="420624"/>
          </a:xfrm>
          <a:prstGeom prst="roundRect">
            <a:avLst>
              <a:gd name="adj" fmla="val 17391"/>
            </a:avLst>
          </a:prstGeom>
          <a:solidFill>
            <a:srgbClr val="1D1D1F"/>
          </a:solidFill>
          <a:ln w="25400">
            <a:solidFill>
              <a:srgbClr val="0B7A6F"/>
            </a:solidFill>
            <a:prstDash val="solid"/>
          </a:ln>
        </p:spPr>
      </p:sp>
      <p:sp>
        <p:nvSpPr>
          <p:cNvPr id="30" name="Text 27"/>
          <p:cNvSpPr txBox="1"/>
          <p:nvPr/>
        </p:nvSpPr>
        <p:spPr>
          <a:xfrm>
            <a:off x="2880360" y="4023360"/>
            <a:ext cx="219456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Refund, then penalty check  ›</a:t>
            </a:r>
            <a:endParaRPr lang="en-US" sz="1000" dirty="0"/>
          </a:p>
        </p:txBody>
      </p:sp>
      <p:sp>
        <p:nvSpPr>
          <p:cNvPr id="31" name="Shape 28"/>
          <p:cNvSpPr/>
          <p:nvPr/>
        </p:nvSpPr>
        <p:spPr>
          <a:xfrm>
            <a:off x="4434840" y="2724912"/>
            <a:ext cx="4297680" cy="1207008"/>
          </a:xfrm>
          <a:prstGeom prst="roundRect">
            <a:avLst>
              <a:gd name="adj" fmla="val 6061"/>
            </a:avLst>
          </a:prstGeom>
          <a:solidFill>
            <a:srgbClr val="FFFFFF"/>
          </a:solidFill>
          <a:ln w="9525">
            <a:solidFill>
              <a:srgbClr val="DCE1E7"/>
            </a:solidFill>
            <a:prstDash val="solid"/>
          </a:ln>
        </p:spPr>
      </p:sp>
      <p:sp>
        <p:nvSpPr>
          <p:cNvPr id="32" name="Text 29"/>
          <p:cNvSpPr txBox="1"/>
          <p:nvPr/>
        </p:nvSpPr>
        <p:spPr>
          <a:xfrm>
            <a:off x="4572000" y="2770632"/>
            <a:ext cx="2743200" cy="256032"/>
          </a:xfrm>
          <a:prstGeom prst="rect">
            <a:avLst/>
          </a:prstGeom>
          <a:noFill/>
          <a:ln/>
        </p:spPr>
        <p:txBody>
          <a:bodyPr wrap="square" lIns="0" tIns="0" rIns="0" bIns="0" rtlCol="0" anchor="ct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Timed Reminder format</a:t>
            </a:r>
            <a:endParaRPr lang="en-US" sz="1000" dirty="0"/>
          </a:p>
        </p:txBody>
      </p:sp>
      <p:sp>
        <p:nvSpPr>
          <p:cNvPr id="33" name="Shape 30"/>
          <p:cNvSpPr/>
          <p:nvPr/>
        </p:nvSpPr>
        <p:spPr>
          <a:xfrm>
            <a:off x="7635240" y="2798064"/>
            <a:ext cx="1005840" cy="219456"/>
          </a:xfrm>
          <a:prstGeom prst="roundRect">
            <a:avLst>
              <a:gd name="adj" fmla="val 33333"/>
            </a:avLst>
          </a:prstGeom>
          <a:solidFill>
            <a:srgbClr val="FFF3D6"/>
          </a:solidFill>
          <a:ln w="9525">
            <a:solidFill>
              <a:srgbClr val="FFF3D6"/>
            </a:solidFill>
            <a:prstDash val="solid"/>
          </a:ln>
        </p:spPr>
      </p:sp>
      <p:sp>
        <p:nvSpPr>
          <p:cNvPr id="34" name="Text 31"/>
          <p:cNvSpPr txBox="1"/>
          <p:nvPr/>
        </p:nvSpPr>
        <p:spPr>
          <a:xfrm>
            <a:off x="7635240" y="2798064"/>
            <a:ext cx="1005840" cy="219456"/>
          </a:xfrm>
          <a:prstGeom prst="rect">
            <a:avLst/>
          </a:prstGeom>
          <a:noFill/>
          <a:ln/>
        </p:spPr>
        <p:txBody>
          <a:bodyPr wrap="square" lIns="0" tIns="0" rIns="0" bIns="0" rtlCol="0" anchor="ctr"/>
          <a:lstStyle/>
          <a:p>
            <a:pPr algn="ctr" indent="0" marL="0">
              <a:buNone/>
            </a:pPr>
            <a:r>
              <a:rPr lang="en-US" sz="750" b="1" dirty="0">
                <a:solidFill>
                  <a:srgbClr val="9A6410"/>
                </a:solidFill>
                <a:latin typeface="SF Pro Text" pitchFamily="34" charset="0"/>
                <a:ea typeface="SF Pro Text" pitchFamily="34" charset="-122"/>
                <a:cs typeface="SF Pro Text" pitchFamily="34" charset="-120"/>
              </a:rPr>
              <a:t>Trainer demo</a:t>
            </a:r>
            <a:endParaRPr lang="en-US" sz="750" dirty="0"/>
          </a:p>
        </p:txBody>
      </p:sp>
      <p:sp>
        <p:nvSpPr>
          <p:cNvPr id="35" name="Text 32"/>
          <p:cNvSpPr txBox="1"/>
          <p:nvPr/>
        </p:nvSpPr>
        <p:spPr>
          <a:xfrm>
            <a:off x="4572000" y="3044952"/>
            <a:ext cx="4069080" cy="804672"/>
          </a:xfrm>
          <a:prstGeom prst="rect">
            <a:avLst/>
          </a:prstGeom>
          <a:noFill/>
          <a:ln/>
        </p:spPr>
        <p:txBody>
          <a:bodyPr wrap="square" lIns="0" tIns="0" rIns="0" bIns="0" rtlCol="0" anchor="t"/>
          <a:lstStyle/>
          <a:p>
            <a:pPr indent="0" marL="0">
              <a:spcAft>
                <a:spcPts val="200"/>
              </a:spcAft>
              <a:buNone/>
            </a:pPr>
            <a:r>
              <a:rPr lang="en-US" sz="850" b="1" dirty="0">
                <a:solidFill>
                  <a:srgbClr val="1D1D1F"/>
                </a:solidFill>
                <a:latin typeface="SF Pro Text" pitchFamily="34" charset="0"/>
                <a:ea typeface="SF Pro Text" pitchFamily="34" charset="-122"/>
                <a:cs typeface="SF Pro Text" pitchFamily="34" charset="-120"/>
              </a:rPr>
              <a:t>Action On  </a:t>
            </a:r>
            <a:pPr indent="0" marL="0">
              <a:spcAft>
                <a:spcPts val="200"/>
              </a:spcAft>
              <a:buNone/>
            </a:pPr>
            <a:r>
              <a:rPr lang="en-US" sz="850" dirty="0">
                <a:solidFill>
                  <a:srgbClr val="6E6E73"/>
                </a:solidFill>
                <a:latin typeface="SF Pro Text" pitchFamily="34" charset="0"/>
                <a:ea typeface="SF Pro Text" pitchFamily="34" charset="-122"/>
                <a:cs typeface="SF Pro Text" pitchFamily="34" charset="-120"/>
              </a:rPr>
              <a:t>72 hours from the time of ticket handling</a:t>
            </a:r>
            <a:endParaRPr lang="en-US" sz="850" dirty="0"/>
          </a:p>
          <a:p>
            <a:pPr indent="0" marL="0">
              <a:spcAft>
                <a:spcPts val="200"/>
              </a:spcAft>
              <a:buNone/>
            </a:pPr>
            <a:r>
              <a:rPr lang="en-US" sz="850" b="1" dirty="0">
                <a:solidFill>
                  <a:srgbClr val="1D1D1F"/>
                </a:solidFill>
                <a:latin typeface="SF Pro Text" pitchFamily="34" charset="0"/>
                <a:ea typeface="SF Pro Text" pitchFamily="34" charset="-122"/>
                <a:cs typeface="SF Pro Text" pitchFamily="34" charset="-120"/>
              </a:rPr>
              <a:t>Who Should Act  </a:t>
            </a:r>
            <a:pPr indent="0" marL="0">
              <a:spcAft>
                <a:spcPts val="200"/>
              </a:spcAft>
              <a:buNone/>
            </a:pPr>
            <a:r>
              <a:rPr lang="en-US" sz="850" dirty="0">
                <a:solidFill>
                  <a:srgbClr val="6E6E73"/>
                </a:solidFill>
                <a:latin typeface="SF Pro Text" pitchFamily="34" charset="0"/>
                <a:ea typeface="SF Pro Text" pitchFamily="34" charset="-122"/>
                <a:cs typeface="SF Pro Text" pitchFamily="34" charset="-120"/>
              </a:rPr>
              <a:t>Any CS</a:t>
            </a:r>
            <a:endParaRPr lang="en-US" sz="850" dirty="0"/>
          </a:p>
          <a:p>
            <a:pPr indent="0" marL="0">
              <a:spcAft>
                <a:spcPts val="200"/>
              </a:spcAft>
              <a:buNone/>
            </a:pPr>
            <a:r>
              <a:rPr lang="en-US" sz="850" b="1" dirty="0">
                <a:solidFill>
                  <a:srgbClr val="1D1D1F"/>
                </a:solidFill>
                <a:latin typeface="SF Pro Text" pitchFamily="34" charset="0"/>
                <a:ea typeface="SF Pro Text" pitchFamily="34" charset="-122"/>
                <a:cs typeface="SF Pro Text" pitchFamily="34" charset="-120"/>
              </a:rPr>
              <a:t>Action  </a:t>
            </a:r>
            <a:pPr indent="0" marL="0">
              <a:spcAft>
                <a:spcPts val="200"/>
              </a:spcAft>
              <a:buNone/>
            </a:pPr>
            <a:r>
              <a:rPr lang="en-US" sz="850" dirty="0">
                <a:solidFill>
                  <a:srgbClr val="6E6E73"/>
                </a:solidFill>
                <a:latin typeface="SF Pro Text" pitchFamily="34" charset="0"/>
                <a:ea typeface="SF Pro Text" pitchFamily="34" charset="-122"/>
                <a:cs typeface="SF Pro Text" pitchFamily="34" charset="-120"/>
              </a:rPr>
              <a:t>C &lt;C_ID&gt; reported that CP overcharged J &lt;JOB_ID&gt; for &lt;# OF OVERCHARGED HOURS&gt;</a:t>
            </a:r>
            <a:endParaRPr lang="en-US" sz="850" dirty="0"/>
          </a:p>
        </p:txBody>
      </p:sp>
      <p:sp>
        <p:nvSpPr>
          <p:cNvPr id="36" name="step1Panel"/>
          <p:cNvSpPr/>
          <p:nvPr/>
        </p:nvSpPr>
        <p:spPr>
          <a:xfrm>
            <a:off x="4434840" y="2724912"/>
            <a:ext cx="4297680" cy="1207008"/>
          </a:xfrm>
          <a:prstGeom prst="roundRect">
            <a:avLst>
              <a:gd name="adj" fmla="val 4545"/>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37" name="step1Head"/>
          <p:cNvSpPr/>
          <p:nvPr/>
        </p:nvSpPr>
        <p:spPr>
          <a:xfrm>
            <a:off x="4434840" y="2724912"/>
            <a:ext cx="4297680" cy="292608"/>
          </a:xfrm>
          <a:prstGeom prst="rect">
            <a:avLst/>
          </a:prstGeom>
          <a:solidFill>
            <a:srgbClr val="0B7A6F"/>
          </a:solidFill>
          <a:ln w="12700">
            <a:solidFill>
              <a:srgbClr val="0B7A6F"/>
            </a:solidFill>
            <a:prstDash val="solid"/>
          </a:ln>
        </p:spPr>
      </p:sp>
      <p:sp>
        <p:nvSpPr>
          <p:cNvPr id="38" name="step1Title"/>
          <p:cNvSpPr txBox="1"/>
          <p:nvPr/>
        </p:nvSpPr>
        <p:spPr>
          <a:xfrm>
            <a:off x="4572000" y="2724912"/>
            <a:ext cx="4023360" cy="292608"/>
          </a:xfrm>
          <a:prstGeom prst="rect">
            <a:avLst/>
          </a:prstGeom>
          <a:noFill/>
          <a:ln/>
        </p:spPr>
        <p:txBody>
          <a:bodyPr wrap="square" lIns="0" tIns="0" rIns="0" bIns="0" rtlCol="0" anchor="ctr"/>
          <a:lstStyle/>
          <a:p>
            <a:pPr indent="0" marL="0">
              <a:buNone/>
            </a:pPr>
            <a:r>
              <a:rPr lang="en-US" sz="1050" b="1" dirty="0">
                <a:solidFill>
                  <a:srgbClr val="FFFFFF"/>
                </a:solidFill>
                <a:latin typeface="SF Pro Display" pitchFamily="34" charset="0"/>
                <a:ea typeface="SF Pro Display" pitchFamily="34" charset="-122"/>
                <a:cs typeface="SF Pro Display" pitchFamily="34" charset="-120"/>
              </a:rPr>
              <a:t>Penalty check</a:t>
            </a:r>
            <a:endParaRPr lang="en-US" sz="1050" dirty="0"/>
          </a:p>
        </p:txBody>
      </p:sp>
      <p:sp>
        <p:nvSpPr>
          <p:cNvPr id="39" name="step1Body"/>
          <p:cNvSpPr txBox="1"/>
          <p:nvPr/>
        </p:nvSpPr>
        <p:spPr>
          <a:xfrm>
            <a:off x="4572000" y="3072384"/>
            <a:ext cx="4069080" cy="822960"/>
          </a:xfrm>
          <a:prstGeom prst="rect">
            <a:avLst/>
          </a:prstGeom>
          <a:noFill/>
          <a:ln/>
        </p:spPr>
        <p:txBody>
          <a:bodyPr wrap="square" lIns="0" tIns="0" rIns="0" bIns="0" rtlCol="0" anchor="t"/>
          <a:lstStyle/>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 30 minutes overcharged: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add flag cp_overcharged_hours + norequests + the Overcharged Hours macro series.</a:t>
            </a:r>
            <a:endParaRPr lang="en-US" sz="900" dirty="0"/>
          </a:p>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&lt; 30 minutes overcharged: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no flag, no penalty + the Overcharged Hours macro series.</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a:t>
            </a:fld>
            <a:endParaRPr lang="en-US"/>
          </a:p>
        </p:txBody>
      </p:sp>
    </p:spTree>
  </p:cSld>
  <p:clrMapOvr>
    <a:masterClrMapping/>
  </p:clrMapOvr>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6"/>
                                        </p:tgtEl>
                                        <p:attrNameLst>
                                          <p:attrName>style.visibility</p:attrName>
                                        </p:attrNameLst>
                                      </p:cBhvr>
                                      <p:to>
                                        <p:strVal val="visible"/>
                                      </p:to>
                                    </p:set>
                                    <p:animEffect transition="in" filter="fade">
                                      <p:cBhvr>
                                        <p:cTn id="7" dur="600"/>
                                        <p:tgtEl>
                                          <p:spTgt spid="3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7"/>
                                        </p:tgtEl>
                                        <p:attrNameLst>
                                          <p:attrName>style.visibility</p:attrName>
                                        </p:attrNameLst>
                                      </p:cBhvr>
                                      <p:to>
                                        <p:strVal val="visible"/>
                                      </p:to>
                                    </p:set>
                                    <p:animEffect transition="in" filter="fade">
                                      <p:cBhvr>
                                        <p:cTn id="10" dur="600"/>
                                        <p:tgtEl>
                                          <p:spTgt spid="3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8"/>
                                        </p:tgtEl>
                                        <p:attrNameLst>
                                          <p:attrName>style.visibility</p:attrName>
                                        </p:attrNameLst>
                                      </p:cBhvr>
                                      <p:to>
                                        <p:strVal val="visible"/>
                                      </p:to>
                                    </p:set>
                                    <p:animEffect transition="in" filter="fade">
                                      <p:cBhvr>
                                        <p:cTn id="13" dur="600"/>
                                        <p:tgtEl>
                                          <p:spTgt spid="38"/>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39"/>
                                        </p:tgtEl>
                                        <p:attrNameLst>
                                          <p:attrName>style.visibility</p:attrName>
                                        </p:attrNameLst>
                                      </p:cBhvr>
                                      <p:to>
                                        <p:strVal val="visible"/>
                                      </p:to>
                                    </p:set>
                                    <p:animEffect transition="in" filter="fade">
                                      <p:cBhvr>
                                        <p:cTn id="16" dur="6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P spid="37" grpId="0" animBg="1"/>
      <p:bldP spid="38" grpId="0" animBg="1"/>
      <p:bldP spid="39"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when the reminder triggers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new contact. Two questions.</a:t>
            </a:r>
            <a:endParaRPr lang="en-US" sz="1200" dirty="0"/>
          </a:p>
        </p:txBody>
      </p:sp>
      <p:sp>
        <p:nvSpPr>
          <p:cNvPr id="6" name="Shape 3"/>
          <p:cNvSpPr/>
          <p:nvPr/>
        </p:nvSpPr>
        <p:spPr>
          <a:xfrm>
            <a:off x="411480" y="1280160"/>
            <a:ext cx="4091940" cy="1371600"/>
          </a:xfrm>
          <a:prstGeom prst="roundRect">
            <a:avLst>
              <a:gd name="adj" fmla="val 5333"/>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Already asked for proof?</a:t>
            </a:r>
            <a:endParaRPr lang="en-US" sz="1200" dirty="0"/>
          </a:p>
        </p:txBody>
      </p:sp>
      <p:sp>
        <p:nvSpPr>
          <p:cNvPr id="10" name="Text 7"/>
          <p:cNvSpPr txBox="1"/>
          <p:nvPr/>
        </p:nvSpPr>
        <p:spPr>
          <a:xfrm>
            <a:off x="576072" y="2176272"/>
            <a:ext cx="3762756" cy="3840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send comms, give 48 hrs, set a new reminder.</a:t>
            </a:r>
            <a:endParaRPr lang="en-US" sz="950" dirty="0"/>
          </a:p>
        </p:txBody>
      </p:sp>
      <p:sp>
        <p:nvSpPr>
          <p:cNvPr id="11" name="Shape 8"/>
          <p:cNvSpPr/>
          <p:nvPr/>
        </p:nvSpPr>
        <p:spPr>
          <a:xfrm>
            <a:off x="4640580" y="1280160"/>
            <a:ext cx="4091940" cy="1371600"/>
          </a:xfrm>
          <a:prstGeom prst="roundRect">
            <a:avLst>
              <a:gd name="adj" fmla="val 5333"/>
            </a:avLst>
          </a:prstGeom>
          <a:solidFill>
            <a:srgbClr val="FFFFFF"/>
          </a:solidFill>
          <a:ln w="9525">
            <a:solidFill>
              <a:srgbClr val="DCE1E7"/>
            </a:solidFill>
            <a:prstDash val="solid"/>
          </a:ln>
        </p:spPr>
      </p:sp>
      <p:sp>
        <p:nvSpPr>
          <p:cNvPr id="12" name="Shape 9"/>
          <p:cNvSpPr/>
          <p:nvPr/>
        </p:nvSpPr>
        <p:spPr>
          <a:xfrm>
            <a:off x="480517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48051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48051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Proof received?</a:t>
            </a:r>
            <a:endParaRPr lang="en-US" sz="1200" dirty="0"/>
          </a:p>
        </p:txBody>
      </p:sp>
      <p:sp>
        <p:nvSpPr>
          <p:cNvPr id="15" name="Text 12"/>
          <p:cNvSpPr txBox="1"/>
          <p:nvPr/>
        </p:nvSpPr>
        <p:spPr>
          <a:xfrm>
            <a:off x="4805172" y="2176272"/>
            <a:ext cx="3762756" cy="3840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Check it meets all three evidence rules.</a:t>
            </a:r>
            <a:endParaRPr lang="en-US" sz="950" dirty="0"/>
          </a:p>
        </p:txBody>
      </p:sp>
      <p:sp>
        <p:nvSpPr>
          <p:cNvPr id="16" name="Shape 13"/>
          <p:cNvSpPr/>
          <p:nvPr/>
        </p:nvSpPr>
        <p:spPr>
          <a:xfrm>
            <a:off x="411480" y="2788920"/>
            <a:ext cx="4091940" cy="1417320"/>
          </a:xfrm>
          <a:prstGeom prst="roundRect">
            <a:avLst>
              <a:gd name="adj" fmla="val 5161"/>
            </a:avLst>
          </a:prstGeom>
          <a:solidFill>
            <a:srgbClr val="FFFFFF"/>
          </a:solidFill>
          <a:ln w="9525">
            <a:solidFill>
              <a:srgbClr val="DCE1E7"/>
            </a:solidFill>
            <a:prstDash val="solid"/>
          </a:ln>
        </p:spPr>
      </p:sp>
      <p:sp>
        <p:nvSpPr>
          <p:cNvPr id="17" name="Shape 14"/>
          <p:cNvSpPr/>
          <p:nvPr/>
        </p:nvSpPr>
        <p:spPr>
          <a:xfrm>
            <a:off x="576072" y="2953512"/>
            <a:ext cx="329184" cy="329184"/>
          </a:xfrm>
          <a:prstGeom prst="ellipse">
            <a:avLst/>
          </a:prstGeom>
          <a:solidFill>
            <a:srgbClr val="E3F4F1"/>
          </a:solidFill>
          <a:ln w="12700">
            <a:solidFill>
              <a:srgbClr val="E3F4F1"/>
            </a:solidFill>
            <a:prstDash val="solid"/>
          </a:ln>
        </p:spPr>
      </p:sp>
      <p:pic>
        <p:nvPicPr>
          <p:cNvPr id="18" name="Image 0" descr="preencoded.png">    </p:cNvPr>
          <p:cNvPicPr>
            <a:picLocks noChangeAspect="1"/>
          </p:cNvPicPr>
          <p:nvPr/>
        </p:nvPicPr>
        <p:blipFill>
          <a:blip r:embed="rId1"/>
          <a:stretch>
            <a:fillRect/>
          </a:stretch>
        </p:blipFill>
        <p:spPr>
          <a:xfrm>
            <a:off x="655076" y="3032516"/>
            <a:ext cx="171176" cy="171176"/>
          </a:xfrm>
          <a:prstGeom prst="rect">
            <a:avLst/>
          </a:prstGeom>
        </p:spPr>
      </p:pic>
      <p:sp>
        <p:nvSpPr>
          <p:cNvPr id="19" name="Text 15"/>
          <p:cNvSpPr txBox="1"/>
          <p:nvPr/>
        </p:nvSpPr>
        <p:spPr>
          <a:xfrm>
            <a:off x="576072" y="33924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Valid proof</a:t>
            </a:r>
            <a:endParaRPr lang="en-US" sz="1200" dirty="0"/>
          </a:p>
        </p:txBody>
      </p:sp>
      <p:sp>
        <p:nvSpPr>
          <p:cNvPr id="20" name="Text 16"/>
          <p:cNvSpPr txBox="1"/>
          <p:nvPr/>
        </p:nvSpPr>
        <p:spPr>
          <a:xfrm>
            <a:off x="576072" y="3685032"/>
            <a:ext cx="37627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refund. Confirm the cleaner stays blocked from this customer.</a:t>
            </a:r>
            <a:endParaRPr lang="en-US" sz="950" dirty="0"/>
          </a:p>
        </p:txBody>
      </p:sp>
      <p:sp>
        <p:nvSpPr>
          <p:cNvPr id="21" name="Shape 17"/>
          <p:cNvSpPr/>
          <p:nvPr/>
        </p:nvSpPr>
        <p:spPr>
          <a:xfrm>
            <a:off x="4640580" y="2788920"/>
            <a:ext cx="4091940" cy="1417320"/>
          </a:xfrm>
          <a:prstGeom prst="roundRect">
            <a:avLst>
              <a:gd name="adj" fmla="val 5161"/>
            </a:avLst>
          </a:prstGeom>
          <a:solidFill>
            <a:srgbClr val="FFFFFF"/>
          </a:solidFill>
          <a:ln w="9525">
            <a:solidFill>
              <a:srgbClr val="DCE1E7"/>
            </a:solidFill>
            <a:prstDash val="solid"/>
          </a:ln>
        </p:spPr>
      </p:sp>
      <p:sp>
        <p:nvSpPr>
          <p:cNvPr id="22" name="Shape 18"/>
          <p:cNvSpPr/>
          <p:nvPr/>
        </p:nvSpPr>
        <p:spPr>
          <a:xfrm>
            <a:off x="4805172" y="2953512"/>
            <a:ext cx="329184" cy="329184"/>
          </a:xfrm>
          <a:prstGeom prst="ellipse">
            <a:avLst/>
          </a:prstGeom>
          <a:solidFill>
            <a:srgbClr val="E3F4F1"/>
          </a:solidFill>
          <a:ln w="12700">
            <a:solidFill>
              <a:srgbClr val="E3F4F1"/>
            </a:solidFill>
            <a:prstDash val="solid"/>
          </a:ln>
        </p:spPr>
      </p:sp>
      <p:pic>
        <p:nvPicPr>
          <p:cNvPr id="23" name="Image 1" descr="preencoded.png">    </p:cNvPr>
          <p:cNvPicPr>
            <a:picLocks noChangeAspect="1"/>
          </p:cNvPicPr>
          <p:nvPr/>
        </p:nvPicPr>
        <p:blipFill>
          <a:blip r:embed="rId2"/>
          <a:stretch>
            <a:fillRect/>
          </a:stretch>
        </p:blipFill>
        <p:spPr>
          <a:xfrm>
            <a:off x="4884176" y="3032516"/>
            <a:ext cx="171176" cy="171176"/>
          </a:xfrm>
          <a:prstGeom prst="rect">
            <a:avLst/>
          </a:prstGeom>
        </p:spPr>
      </p:pic>
      <p:sp>
        <p:nvSpPr>
          <p:cNvPr id="24" name="Text 19"/>
          <p:cNvSpPr txBox="1"/>
          <p:nvPr/>
        </p:nvSpPr>
        <p:spPr>
          <a:xfrm>
            <a:off x="4805172" y="33924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 reply or not enough</a:t>
            </a:r>
            <a:endParaRPr lang="en-US" sz="1200" dirty="0"/>
          </a:p>
        </p:txBody>
      </p:sp>
      <p:sp>
        <p:nvSpPr>
          <p:cNvPr id="25" name="Text 20"/>
          <p:cNvSpPr txBox="1"/>
          <p:nvPr/>
        </p:nvSpPr>
        <p:spPr>
          <a:xfrm>
            <a:off x="4805172" y="3685032"/>
            <a:ext cx="37627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the alleged hours and Premium. 30 min or more: Penalty section.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Penalty section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Shared ending for Branch A and Branch B.</a:t>
            </a:r>
            <a:endParaRPr lang="en-US" sz="1200" dirty="0"/>
          </a:p>
        </p:txBody>
      </p:sp>
      <p:sp>
        <p:nvSpPr>
          <p:cNvPr id="6" name="Shape 3"/>
          <p:cNvSpPr/>
          <p:nvPr/>
        </p:nvSpPr>
        <p:spPr>
          <a:xfrm>
            <a:off x="411480" y="128016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Who invoiced?</a:t>
            </a:r>
            <a:endParaRPr lang="en-US" sz="1200" dirty="0"/>
          </a:p>
        </p:txBody>
      </p:sp>
      <p:sp>
        <p:nvSpPr>
          <p:cNvPr id="10" name="Text 6"/>
          <p:cNvSpPr txBox="1"/>
          <p:nvPr/>
        </p:nvSpPr>
        <p:spPr>
          <a:xfrm>
            <a:off x="5760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 invoiced it? Refund, no cleaner penalty.</a:t>
            </a:r>
            <a:endParaRPr lang="en-US" sz="950" dirty="0"/>
          </a:p>
        </p:txBody>
      </p:sp>
      <p:sp>
        <p:nvSpPr>
          <p:cNvPr id="11" name="Shape 7"/>
          <p:cNvSpPr/>
          <p:nvPr/>
        </p:nvSpPr>
        <p:spPr>
          <a:xfrm>
            <a:off x="3230880" y="1280160"/>
            <a:ext cx="2682240" cy="1600200"/>
          </a:xfrm>
          <a:prstGeom prst="roundRect">
            <a:avLst>
              <a:gd name="adj" fmla="val 4571"/>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30 min or more</a:t>
            </a:r>
            <a:endParaRPr lang="en-US" sz="1200" dirty="0"/>
          </a:p>
        </p:txBody>
      </p:sp>
      <p:sp>
        <p:nvSpPr>
          <p:cNvPr id="15" name="Text 10"/>
          <p:cNvSpPr txBox="1"/>
          <p:nvPr/>
        </p:nvSpPr>
        <p:spPr>
          <a:xfrm>
            <a:off x="33954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cp_overcharged_hours + norequests + macro series.</a:t>
            </a:r>
            <a:endParaRPr lang="en-US" sz="950" dirty="0"/>
          </a:p>
        </p:txBody>
      </p:sp>
      <p:sp>
        <p:nvSpPr>
          <p:cNvPr id="16" name="Shape 11"/>
          <p:cNvSpPr/>
          <p:nvPr/>
        </p:nvSpPr>
        <p:spPr>
          <a:xfrm>
            <a:off x="6050280" y="1280160"/>
            <a:ext cx="2682240" cy="1600200"/>
          </a:xfrm>
          <a:prstGeom prst="roundRect">
            <a:avLst>
              <a:gd name="adj" fmla="val 4571"/>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Note the history</a:t>
            </a:r>
            <a:endParaRPr lang="en-US" sz="1200" dirty="0"/>
          </a:p>
        </p:txBody>
      </p:sp>
      <p:sp>
        <p:nvSpPr>
          <p:cNvPr id="20" name="Text 14"/>
          <p:cNvSpPr txBox="1"/>
          <p:nvPr/>
        </p:nvSpPr>
        <p:spPr>
          <a:xfrm>
            <a:off x="62148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Past OCH and false invoices go in your internal note.</a:t>
            </a:r>
            <a:endParaRPr lang="en-US" sz="950" dirty="0"/>
          </a:p>
        </p:txBody>
      </p:sp>
      <p:sp>
        <p:nvSpPr>
          <p:cNvPr id="21" name="Shape 15"/>
          <p:cNvSpPr/>
          <p:nvPr/>
        </p:nvSpPr>
        <p:spPr>
          <a:xfrm>
            <a:off x="411480" y="3017520"/>
            <a:ext cx="8321040" cy="566928"/>
          </a:xfrm>
          <a:prstGeom prst="roundRect">
            <a:avLst>
              <a:gd name="adj" fmla="val 12903"/>
            </a:avLst>
          </a:prstGeom>
          <a:solidFill>
            <a:srgbClr val="FFFFFF"/>
          </a:solidFill>
          <a:ln w="9525">
            <a:solidFill>
              <a:srgbClr val="DCE1E7"/>
            </a:solidFill>
            <a:prstDash val="solid"/>
          </a:ln>
        </p:spPr>
      </p:sp>
      <p:sp>
        <p:nvSpPr>
          <p:cNvPr id="22" name="Text 16"/>
          <p:cNvSpPr txBox="1"/>
          <p:nvPr/>
        </p:nvSpPr>
        <p:spPr>
          <a:xfrm>
            <a:off x="594360" y="3017520"/>
            <a:ext cx="8046720" cy="566928"/>
          </a:xfrm>
          <a:prstGeom prst="rect">
            <a:avLst/>
          </a:prstGeom>
          <a:noFill/>
          <a:ln/>
        </p:spPr>
        <p:txBody>
          <a:bodyPr wrap="square" lIns="0" tIns="0" rIns="0" bIns="0" rtlCol="0" anchor="ct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CP-facing reason  </a:t>
            </a:r>
            <a:pPr indent="0" marL="0">
              <a:buNone/>
            </a:pPr>
            <a:r>
              <a:rPr lang="en-US" sz="1000" dirty="0">
                <a:solidFill>
                  <a:srgbClr val="1D1D1F"/>
                </a:solidFill>
                <a:latin typeface="SF Pro Text" pitchFamily="34" charset="0"/>
                <a:ea typeface="SF Pro Text" pitchFamily="34" charset="-122"/>
                <a:cs typeface="SF Pro Text" pitchFamily="34" charset="-120"/>
              </a:rPr>
              <a:t>cpq_overcharge Customer &lt;C'S NAME&gt; reported incorrect hours charged. Submit reactivation appeal.</a:t>
            </a:r>
            <a:endParaRPr lang="en-US" sz="1000" dirty="0"/>
          </a:p>
        </p:txBody>
      </p:sp>
      <p:sp>
        <p:nvSpPr>
          <p:cNvPr id="23" name="Shape 17"/>
          <p:cNvSpPr/>
          <p:nvPr/>
        </p:nvSpPr>
        <p:spPr>
          <a:xfrm>
            <a:off x="411480" y="3749040"/>
            <a:ext cx="8321040" cy="384048"/>
          </a:xfrm>
          <a:prstGeom prst="roundRect">
            <a:avLst>
              <a:gd name="adj" fmla="val 19048"/>
            </a:avLst>
          </a:prstGeom>
          <a:solidFill>
            <a:srgbClr val="FFF3D6"/>
          </a:solidFill>
          <a:ln w="9525">
            <a:solidFill>
              <a:srgbClr val="FFF3D6"/>
            </a:solidFill>
            <a:prstDash val="solid"/>
          </a:ln>
        </p:spPr>
      </p:sp>
      <p:pic>
        <p:nvPicPr>
          <p:cNvPr id="24" name="Image 3" descr="preencoded.png">    </p:cNvPr>
          <p:cNvPicPr>
            <a:picLocks noChangeAspect="1"/>
          </p:cNvPicPr>
          <p:nvPr/>
        </p:nvPicPr>
        <p:blipFill>
          <a:blip r:embed="rId4"/>
          <a:stretch>
            <a:fillRect/>
          </a:stretch>
        </p:blipFill>
        <p:spPr>
          <a:xfrm>
            <a:off x="566928" y="3858768"/>
            <a:ext cx="164592" cy="164592"/>
          </a:xfrm>
          <a:prstGeom prst="rect">
            <a:avLst/>
          </a:prstGeom>
        </p:spPr>
      </p:pic>
      <p:sp>
        <p:nvSpPr>
          <p:cNvPr id="25" name="Text 18"/>
          <p:cNvSpPr txBox="1"/>
          <p:nvPr/>
        </p:nvSpPr>
        <p:spPr>
          <a:xfrm>
            <a:off x="822960" y="38496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Never:  </a:t>
            </a:r>
            <a:pPr indent="0" marL="0">
              <a:buNone/>
            </a:pPr>
            <a:r>
              <a:rPr lang="en-US" sz="1000" dirty="0">
                <a:solidFill>
                  <a:srgbClr val="1D1D1F"/>
                </a:solidFill>
                <a:latin typeface="SF Pro Text" pitchFamily="34" charset="0"/>
                <a:ea typeface="SF Pro Text" pitchFamily="34" charset="-122"/>
                <a:cs typeface="SF Pro Text" pitchFamily="34" charset="-120"/>
              </a:rPr>
              <a:t>C-side agents never suspend or add DNR. A pattern is the CP-side team's call.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Every refund: the checklist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Not a sequence. Check each one off.</a:t>
            </a:r>
            <a:endParaRPr lang="en-US" sz="1200" dirty="0"/>
          </a:p>
        </p:txBody>
      </p:sp>
      <p:sp>
        <p:nvSpPr>
          <p:cNvPr id="6" name="Shape 3"/>
          <p:cNvSpPr/>
          <p:nvPr/>
        </p:nvSpPr>
        <p:spPr>
          <a:xfrm>
            <a:off x="411480" y="1280160"/>
            <a:ext cx="197739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Flag</a:t>
            </a:r>
            <a:endParaRPr lang="en-US" sz="1200" dirty="0"/>
          </a:p>
        </p:txBody>
      </p:sp>
      <p:sp>
        <p:nvSpPr>
          <p:cNvPr id="10" name="Text 6"/>
          <p:cNvSpPr txBox="1"/>
          <p:nvPr/>
        </p:nvSpPr>
        <p:spPr>
          <a:xfrm>
            <a:off x="5760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cp_overcharged_hours if 30 min or more.</a:t>
            </a:r>
            <a:endParaRPr lang="en-US" sz="950" dirty="0"/>
          </a:p>
        </p:txBody>
      </p:sp>
      <p:sp>
        <p:nvSpPr>
          <p:cNvPr id="11" name="Shape 7"/>
          <p:cNvSpPr/>
          <p:nvPr/>
        </p:nvSpPr>
        <p:spPr>
          <a:xfrm>
            <a:off x="2526030" y="1280160"/>
            <a:ext cx="197739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269062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2769626" y="1523756"/>
            <a:ext cx="171176" cy="171176"/>
          </a:xfrm>
          <a:prstGeom prst="rect">
            <a:avLst/>
          </a:prstGeom>
        </p:spPr>
      </p:pic>
      <p:sp>
        <p:nvSpPr>
          <p:cNvPr id="14" name="Text 9"/>
          <p:cNvSpPr txBox="1"/>
          <p:nvPr/>
        </p:nvSpPr>
        <p:spPr>
          <a:xfrm>
            <a:off x="26906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Premium</a:t>
            </a:r>
            <a:endParaRPr lang="en-US" sz="1200" dirty="0"/>
          </a:p>
        </p:txBody>
      </p:sp>
      <p:sp>
        <p:nvSpPr>
          <p:cNvPr id="15" name="Text 10"/>
          <p:cNvSpPr txBox="1"/>
          <p:nvPr/>
        </p:nvSpPr>
        <p:spPr>
          <a:xfrm>
            <a:off x="26906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it if charged. Log to the Ticket Tracker.</a:t>
            </a:r>
            <a:endParaRPr lang="en-US" sz="950" dirty="0"/>
          </a:p>
        </p:txBody>
      </p:sp>
      <p:sp>
        <p:nvSpPr>
          <p:cNvPr id="16" name="Shape 11"/>
          <p:cNvSpPr/>
          <p:nvPr/>
        </p:nvSpPr>
        <p:spPr>
          <a:xfrm>
            <a:off x="4640580" y="1280160"/>
            <a:ext cx="1977390" cy="1828800"/>
          </a:xfrm>
          <a:prstGeom prst="roundRect">
            <a:avLst>
              <a:gd name="adj" fmla="val 4000"/>
            </a:avLst>
          </a:prstGeom>
          <a:solidFill>
            <a:srgbClr val="FFFFFF"/>
          </a:solidFill>
          <a:ln w="9525">
            <a:solidFill>
              <a:srgbClr val="DCE1E7"/>
            </a:solidFill>
            <a:prstDash val="solid"/>
          </a:ln>
        </p:spPr>
      </p:sp>
      <p:sp>
        <p:nvSpPr>
          <p:cNvPr id="17" name="Shape 12"/>
          <p:cNvSpPr/>
          <p:nvPr/>
        </p:nvSpPr>
        <p:spPr>
          <a:xfrm>
            <a:off x="48051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4884176" y="1523756"/>
            <a:ext cx="171176" cy="171176"/>
          </a:xfrm>
          <a:prstGeom prst="rect">
            <a:avLst/>
          </a:prstGeom>
        </p:spPr>
      </p:pic>
      <p:sp>
        <p:nvSpPr>
          <p:cNvPr id="19" name="Text 13"/>
          <p:cNvSpPr txBox="1"/>
          <p:nvPr/>
        </p:nvSpPr>
        <p:spPr>
          <a:xfrm>
            <a:off x="48051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Block the pairing</a:t>
            </a:r>
            <a:endParaRPr lang="en-US" sz="1200" dirty="0"/>
          </a:p>
        </p:txBody>
      </p:sp>
      <p:sp>
        <p:nvSpPr>
          <p:cNvPr id="20" name="Text 14"/>
          <p:cNvSpPr txBox="1"/>
          <p:nvPr/>
        </p:nvSpPr>
        <p:spPr>
          <a:xfrm>
            <a:off x="48051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Always, unless the customer wants the same cleaner.</a:t>
            </a:r>
            <a:endParaRPr lang="en-US" sz="950" dirty="0"/>
          </a:p>
        </p:txBody>
      </p:sp>
      <p:sp>
        <p:nvSpPr>
          <p:cNvPr id="21" name="Shape 15"/>
          <p:cNvSpPr/>
          <p:nvPr/>
        </p:nvSpPr>
        <p:spPr>
          <a:xfrm>
            <a:off x="6755130" y="1280160"/>
            <a:ext cx="1977390" cy="1828800"/>
          </a:xfrm>
          <a:prstGeom prst="roundRect">
            <a:avLst>
              <a:gd name="adj" fmla="val 4000"/>
            </a:avLst>
          </a:prstGeom>
          <a:solidFill>
            <a:srgbClr val="FFFFFF"/>
          </a:solidFill>
          <a:ln w="9525">
            <a:solidFill>
              <a:srgbClr val="DCE1E7"/>
            </a:solidFill>
            <a:prstDash val="solid"/>
          </a:ln>
        </p:spPr>
      </p:sp>
      <p:sp>
        <p:nvSpPr>
          <p:cNvPr id="22" name="Shape 16"/>
          <p:cNvSpPr/>
          <p:nvPr/>
        </p:nvSpPr>
        <p:spPr>
          <a:xfrm>
            <a:off x="6919722" y="1444752"/>
            <a:ext cx="329184" cy="329184"/>
          </a:xfrm>
          <a:prstGeom prst="ellipse">
            <a:avLst/>
          </a:prstGeom>
          <a:solidFill>
            <a:srgbClr val="E3F4F1"/>
          </a:solidFill>
          <a:ln w="12700">
            <a:solidFill>
              <a:srgbClr val="E3F4F1"/>
            </a:solidFill>
            <a:prstDash val="solid"/>
          </a:ln>
        </p:spPr>
      </p:sp>
      <p:pic>
        <p:nvPicPr>
          <p:cNvPr id="23" name="Image 3" descr="preencoded.png">    </p:cNvPr>
          <p:cNvPicPr>
            <a:picLocks noChangeAspect="1"/>
          </p:cNvPicPr>
          <p:nvPr/>
        </p:nvPicPr>
        <p:blipFill>
          <a:blip r:embed="rId4"/>
          <a:stretch>
            <a:fillRect/>
          </a:stretch>
        </p:blipFill>
        <p:spPr>
          <a:xfrm>
            <a:off x="6998726" y="1523756"/>
            <a:ext cx="171176" cy="171176"/>
          </a:xfrm>
          <a:prstGeom prst="rect">
            <a:avLst/>
          </a:prstGeom>
        </p:spPr>
      </p:pic>
      <p:sp>
        <p:nvSpPr>
          <p:cNvPr id="24" name="Text 17"/>
          <p:cNvSpPr txBox="1"/>
          <p:nvPr/>
        </p:nvSpPr>
        <p:spPr>
          <a:xfrm>
            <a:off x="69197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GA / Tier 10 banner</a:t>
            </a:r>
            <a:endParaRPr lang="en-US" sz="1200" dirty="0"/>
          </a:p>
        </p:txBody>
      </p:sp>
      <p:sp>
        <p:nvSpPr>
          <p:cNvPr id="25" name="Text 18"/>
          <p:cNvSpPr txBox="1"/>
          <p:nvPr/>
        </p:nvSpPr>
        <p:spPr>
          <a:xfrm>
            <a:off x="69197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Don't clear pending items. Reassign to TL Allen.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Related scenarios</a:t>
            </a:r>
            <a:endParaRPr lang="en-US" sz="2400" dirty="0"/>
          </a:p>
        </p:txBody>
      </p:sp>
      <p:sp>
        <p:nvSpPr>
          <p:cNvPr id="5" name="Shape 2"/>
          <p:cNvSpPr/>
          <p:nvPr/>
        </p:nvSpPr>
        <p:spPr>
          <a:xfrm>
            <a:off x="411480" y="1188720"/>
            <a:ext cx="4091940" cy="2743200"/>
          </a:xfrm>
          <a:prstGeom prst="roundRect">
            <a:avLst>
              <a:gd name="adj" fmla="val 2667"/>
            </a:avLst>
          </a:prstGeom>
          <a:solidFill>
            <a:srgbClr val="FFFFFF"/>
          </a:solidFill>
          <a:ln w="9525">
            <a:solidFill>
              <a:srgbClr val="DCE1E7"/>
            </a:solidFill>
            <a:prstDash val="solid"/>
          </a:ln>
        </p:spPr>
      </p:sp>
      <p:sp>
        <p:nvSpPr>
          <p:cNvPr id="6" name="Shape 3"/>
          <p:cNvSpPr/>
          <p:nvPr/>
        </p:nvSpPr>
        <p:spPr>
          <a:xfrm>
            <a:off x="576072" y="135331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432316"/>
            <a:ext cx="171176" cy="171176"/>
          </a:xfrm>
          <a:prstGeom prst="rect">
            <a:avLst/>
          </a:prstGeom>
        </p:spPr>
      </p:pic>
      <p:sp>
        <p:nvSpPr>
          <p:cNvPr id="8" name="Text 4"/>
          <p:cNvSpPr txBox="1"/>
          <p:nvPr/>
        </p:nvSpPr>
        <p:spPr>
          <a:xfrm>
            <a:off x="576072" y="17922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refunds first</a:t>
            </a:r>
            <a:endParaRPr lang="en-US" sz="1200" dirty="0"/>
          </a:p>
        </p:txBody>
      </p:sp>
      <p:sp>
        <p:nvSpPr>
          <p:cNvPr id="9" name="Text 5"/>
          <p:cNvSpPr txBox="1"/>
          <p:nvPr/>
        </p:nvSpPr>
        <p:spPr>
          <a:xfrm>
            <a:off x="576072" y="2084832"/>
            <a:ext cx="376275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 refunds after being told about the report.</a:t>
            </a:r>
            <a:endParaRPr lang="en-US" sz="950" dirty="0"/>
          </a:p>
          <a:p>
            <a:pPr indent="0" marL="0">
              <a:buNone/>
            </a:pPr>
            <a:r>
              <a:rPr lang="en-US" sz="950" dirty="0">
                <a:solidFill>
                  <a:srgbClr val="6E6E73"/>
                </a:solidFill>
                <a:latin typeface="SF Pro Text" pitchFamily="34" charset="0"/>
                <a:ea typeface="SF Pro Text" pitchFamily="34" charset="-122"/>
                <a:cs typeface="SF Pro Text" pitchFamily="34" charset="-120"/>
              </a:rPr>
              <a:t>Treat the refund as confirmation the overcharge happened, unless evidence proves otherwise.</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30 min or more: </a:t>
            </a:r>
            <a:pPr indent="0" marL="0">
              <a:buNone/>
            </a:pPr>
            <a:r>
              <a:rPr lang="en-US" sz="950" dirty="0">
                <a:solidFill>
                  <a:srgbClr val="6E6E73"/>
                </a:solidFill>
                <a:latin typeface="SF Pro Text" pitchFamily="34" charset="0"/>
                <a:ea typeface="SF Pro Text" pitchFamily="34" charset="-122"/>
                <a:cs typeface="SF Pro Text" pitchFamily="34" charset="-120"/>
              </a:rPr>
              <a:t>still apply the cp_overcharged_hours flag.</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Before the first-response Timed Reminder triggers: </a:t>
            </a:r>
            <a:pPr indent="0" marL="0">
              <a:buNone/>
            </a:pPr>
            <a:r>
              <a:rPr lang="en-US" sz="950" dirty="0">
                <a:solidFill>
                  <a:srgbClr val="6E6E73"/>
                </a:solidFill>
                <a:latin typeface="SF Pro Text" pitchFamily="34" charset="0"/>
                <a:ea typeface="SF Pro Text" pitchFamily="34" charset="-122"/>
                <a:cs typeface="SF Pro Text" pitchFamily="34" charset="-120"/>
              </a:rPr>
              <a:t>invalidate that reminder. Tell the customer the cleaner refunded.</a:t>
            </a:r>
            <a:endParaRPr lang="en-US" sz="950" dirty="0"/>
          </a:p>
        </p:txBody>
      </p:sp>
      <p:sp>
        <p:nvSpPr>
          <p:cNvPr id="10" name="Shape 6"/>
          <p:cNvSpPr/>
          <p:nvPr/>
        </p:nvSpPr>
        <p:spPr>
          <a:xfrm>
            <a:off x="4640580" y="1188720"/>
            <a:ext cx="4091940" cy="2743200"/>
          </a:xfrm>
          <a:prstGeom prst="roundRect">
            <a:avLst>
              <a:gd name="adj" fmla="val 2667"/>
            </a:avLst>
          </a:prstGeom>
          <a:solidFill>
            <a:srgbClr val="FFFFFF"/>
          </a:solidFill>
          <a:ln w="9525">
            <a:solidFill>
              <a:srgbClr val="DCE1E7"/>
            </a:solidFill>
            <a:prstDash val="solid"/>
          </a:ln>
        </p:spPr>
      </p:sp>
      <p:sp>
        <p:nvSpPr>
          <p:cNvPr id="11" name="Shape 7"/>
          <p:cNvSpPr/>
          <p:nvPr/>
        </p:nvSpPr>
        <p:spPr>
          <a:xfrm>
            <a:off x="4805172" y="135331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884176" y="1432316"/>
            <a:ext cx="171176" cy="171176"/>
          </a:xfrm>
          <a:prstGeom prst="rect">
            <a:avLst/>
          </a:prstGeom>
        </p:spPr>
      </p:pic>
      <p:sp>
        <p:nvSpPr>
          <p:cNvPr id="13" name="Text 8"/>
          <p:cNvSpPr txBox="1"/>
          <p:nvPr/>
        </p:nvSpPr>
        <p:spPr>
          <a:xfrm>
            <a:off x="4805172" y="17922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You spot it first</a:t>
            </a:r>
            <a:endParaRPr lang="en-US" sz="1200" dirty="0"/>
          </a:p>
        </p:txBody>
      </p:sp>
      <p:sp>
        <p:nvSpPr>
          <p:cNvPr id="14" name="Text 9"/>
          <p:cNvSpPr txBox="1"/>
          <p:nvPr/>
        </p:nvSpPr>
        <p:spPr>
          <a:xfrm>
            <a:off x="4805172" y="2084832"/>
            <a:ext cx="376275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job looks overcharged, but the customer hasn't contacted us.</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Don't wait: </a:t>
            </a:r>
            <a:pPr indent="0" marL="0">
              <a:buNone/>
            </a:pPr>
            <a:r>
              <a:rPr lang="en-US" sz="950" dirty="0">
                <a:solidFill>
                  <a:srgbClr val="6E6E73"/>
                </a:solidFill>
                <a:latin typeface="SF Pro Text" pitchFamily="34" charset="0"/>
                <a:ea typeface="SF Pro Text" pitchFamily="34" charset="-122"/>
                <a:cs typeface="SF Pro Text" pitchFamily="34" charset="-120"/>
              </a:rPr>
              <a:t>reach out to check how the cleaning went and confirm the number of hours worked.</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Why: </a:t>
            </a:r>
            <a:pPr indent="0" marL="0">
              <a:buNone/>
            </a:pPr>
            <a:r>
              <a:rPr lang="en-US" sz="950" dirty="0">
                <a:solidFill>
                  <a:srgbClr val="6E6E73"/>
                </a:solidFill>
                <a:latin typeface="SF Pro Text" pitchFamily="34" charset="0"/>
                <a:ea typeface="SF Pro Text" pitchFamily="34" charset="-122"/>
                <a:cs typeface="SF Pro Text" pitchFamily="34" charset="-120"/>
              </a:rPr>
              <a:t>it builds trust and catches the discrepancy before it becomes a dispute.</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Watch-outs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System quirks that can block a refund.</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11480" y="1280160"/>
          <a:ext cx="8321040" cy="914400"/>
        </p:xfrm>
        <a:graphic>
          <a:graphicData uri="http://schemas.openxmlformats.org/drawingml/2006/table">
            <a:tbl>
              <a:tblPr/>
              <a:tblGrid>
                <a:gridCol w="2926080"/>
                <a:gridCol w="5394960"/>
              </a:tblGrid>
              <a:tr h="457200">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Admin courtesy voucher on the job</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What to do</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Already used on another job</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Admin refund this job, and create a CP Payment Holdback</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Unused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Invalidate it first (reopens the CP Dashboard refund), then top credits up to $20</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2743200"/>
            <a:ext cx="8321040" cy="1188720"/>
          </a:xfrm>
          <a:prstGeom prst="roundRect">
            <a:avLst>
              <a:gd name="adj" fmla="val 6154"/>
            </a:avLst>
          </a:prstGeom>
          <a:solidFill>
            <a:srgbClr val="FFFFFF"/>
          </a:solidFill>
          <a:ln w="9525">
            <a:solidFill>
              <a:srgbClr val="DCE1E7"/>
            </a:solidFill>
            <a:prstDash val="solid"/>
          </a:ln>
        </p:spPr>
      </p:sp>
      <p:sp>
        <p:nvSpPr>
          <p:cNvPr id="8" name="Shape 4"/>
          <p:cNvSpPr/>
          <p:nvPr/>
        </p:nvSpPr>
        <p:spPr>
          <a:xfrm>
            <a:off x="576072" y="2907792"/>
            <a:ext cx="329184" cy="329184"/>
          </a:xfrm>
          <a:prstGeom prst="ellipse">
            <a:avLst/>
          </a:prstGeom>
          <a:solidFill>
            <a:srgbClr val="E3F4F1"/>
          </a:solidFill>
          <a:ln w="12700">
            <a:solidFill>
              <a:srgbClr val="E3F4F1"/>
            </a:solidFill>
            <a:prstDash val="solid"/>
          </a:ln>
        </p:spPr>
      </p:sp>
      <p:pic>
        <p:nvPicPr>
          <p:cNvPr id="9" name="Image 0" descr="preencoded.png">    </p:cNvPr>
          <p:cNvPicPr>
            <a:picLocks noChangeAspect="1"/>
          </p:cNvPicPr>
          <p:nvPr/>
        </p:nvPicPr>
        <p:blipFill>
          <a:blip r:embed="rId1"/>
          <a:stretch>
            <a:fillRect/>
          </a:stretch>
        </p:blipFill>
        <p:spPr>
          <a:xfrm>
            <a:off x="655076" y="2986796"/>
            <a:ext cx="171176" cy="171176"/>
          </a:xfrm>
          <a:prstGeom prst="rect">
            <a:avLst/>
          </a:prstGeom>
        </p:spPr>
      </p:pic>
      <p:sp>
        <p:nvSpPr>
          <p:cNvPr id="10" name="Text 5"/>
          <p:cNvSpPr txBox="1"/>
          <p:nvPr/>
        </p:nvSpPr>
        <p:spPr>
          <a:xfrm>
            <a:off x="576072" y="3346704"/>
            <a:ext cx="79918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is cp-opt-out?</a:t>
            </a:r>
            <a:endParaRPr lang="en-US" sz="1200" dirty="0"/>
          </a:p>
        </p:txBody>
      </p:sp>
      <p:sp>
        <p:nvSpPr>
          <p:cNvPr id="11" name="Text 6"/>
          <p:cNvSpPr txBox="1"/>
          <p:nvPr/>
        </p:nvSpPr>
        <p:spPr>
          <a:xfrm>
            <a:off x="576072" y="3639312"/>
            <a:ext cx="7991856" cy="2011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Log in to their dashboard as admin. Don't click Reactivate. Go to homeaglow.com/cp/job/&lt;JOB_ID&gt; and refund as usual.</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Booked and invoiced 3 hrs. CTJ shows the cleaner on site for 1 hr 40 min. Which branch, and what happens?</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Branch A. Refund 1 hr 20 min via the CP Dashboard (and Premium if charged). It's 30 min or more: flag, ban the pairing, comms to both, Penalty section.</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No CTJ or other evidence. The customer says the cleaner left an hour early. What now?</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Branch B. Refund Premium if charged, set a 72-hr Timed Reminder, tell the customer 4–5 business days, block the pairing, give the cleaner 3 days for proof.</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job is 150 days old, but CTJ clearly shows 45 minutes against 2 hours invoiced. Refund?</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Yes. Clearly proven, so the 120-day window doesn't apply. Refund the difference and follow the penalty ladder.</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self-invoiced 2 hrs for a job the cleaner worked 1 hr 11 min. Penalize the cleaner?</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Just refund the difference. The customer billed the hours, so this is not the cleaner’s fault.</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16</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Find the right issue</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Billed more than worked is OCH. Didn't show or didn't ask are different issues.</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Evidence picks the branch</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Clear evidence: Branch A. None: Branch B and ask the cleaner for proof.</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only what's proven</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30 min or more adds the flag and norequests. Never suspend or DNR.</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02 OF 04</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Unauthorized Addition of Hours</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cleaner extended the job before invoicing, without the customer's OK.</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it differs from OCH</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consent rule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four-step process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helper scenario</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24.png">    </p:cNvPr>
          <p:cNvPicPr>
            <a:picLocks noChangeAspect="1"/>
          </p:cNvPicPr>
          <p:nvPr/>
        </p:nvPicPr>
        <p:blipFill>
          <a:blip r:embed="rId5"/>
          <a:stretch>
            <a:fillRect/>
          </a:stretch>
        </p:blipFill>
        <p:spPr>
          <a:xfrm>
            <a:off x="5658307" y="1517904"/>
            <a:ext cx="269199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Not the same as OCH</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Both feel like "I was billed more than I expected." They're resolved differently.</a:t>
            </a:r>
            <a:endParaRPr lang="en-US" sz="1200" dirty="0"/>
          </a:p>
        </p:txBody>
      </p:sp>
      <p:sp>
        <p:nvSpPr>
          <p:cNvPr id="6" name="Shape 3"/>
          <p:cNvSpPr/>
          <p:nvPr/>
        </p:nvSpPr>
        <p:spPr>
          <a:xfrm>
            <a:off x="411480" y="1325880"/>
            <a:ext cx="40919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Overcharged Hours</a:t>
            </a:r>
            <a:endParaRPr lang="en-US" sz="1300" dirty="0"/>
          </a:p>
        </p:txBody>
      </p:sp>
      <p:sp>
        <p:nvSpPr>
          <p:cNvPr id="10" name="Text 6"/>
          <p:cNvSpPr txBox="1"/>
          <p:nvPr/>
        </p:nvSpPr>
        <p:spPr>
          <a:xfrm>
            <a:off x="594360" y="203911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 dispute over what happened</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Booked 6 hrs, worked 4, billed 6</a:t>
            </a:r>
            <a:endParaRPr lang="en-US" sz="1000" dirty="0"/>
          </a:p>
        </p:txBody>
      </p:sp>
      <p:sp>
        <p:nvSpPr>
          <p:cNvPr id="11" name="Shape 7"/>
          <p:cNvSpPr/>
          <p:nvPr/>
        </p:nvSpPr>
        <p:spPr>
          <a:xfrm>
            <a:off x="4640580" y="1325880"/>
            <a:ext cx="40919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Unauthorized Hours</a:t>
            </a:r>
            <a:endParaRPr lang="en-US" sz="1300" dirty="0"/>
          </a:p>
        </p:txBody>
      </p:sp>
      <p:sp>
        <p:nvSpPr>
          <p:cNvPr id="15" name="Text 10"/>
          <p:cNvSpPr txBox="1"/>
          <p:nvPr/>
        </p:nvSpPr>
        <p:spPr>
          <a:xfrm>
            <a:off x="4823460" y="203911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 dispute over whether permission was given</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Booked 3 hrs, worked 5, billed 5 without asking</a:t>
            </a:r>
            <a:endParaRPr lang="en-US" sz="1000" dirty="0"/>
          </a:p>
        </p:txBody>
      </p:sp>
      <p:sp>
        <p:nvSpPr>
          <p:cNvPr id="16" name="Shape 11"/>
          <p:cNvSpPr/>
          <p:nvPr/>
        </p:nvSpPr>
        <p:spPr>
          <a:xfrm>
            <a:off x="411480" y="338328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93008"/>
            <a:ext cx="164592" cy="164592"/>
          </a:xfrm>
          <a:prstGeom prst="rect">
            <a:avLst/>
          </a:prstGeom>
        </p:spPr>
      </p:pic>
      <p:sp>
        <p:nvSpPr>
          <p:cNvPr id="18" name="Text 12"/>
          <p:cNvSpPr txBox="1"/>
          <p:nvPr/>
        </p:nvSpPr>
        <p:spPr>
          <a:xfrm>
            <a:off x="822960" y="34838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Cleaners can update the duration before invoicing.  </a:t>
            </a:r>
            <a:pPr indent="0" marL="0">
              <a:buNone/>
            </a:pPr>
            <a:r>
              <a:rPr lang="en-US" sz="1000" dirty="0">
                <a:solidFill>
                  <a:srgbClr val="1D1D1F"/>
                </a:solidFill>
                <a:latin typeface="SF Pro Text" pitchFamily="34" charset="0"/>
                <a:ea typeface="SF Pro Text" pitchFamily="34" charset="-122"/>
                <a:cs typeface="SF Pro Text" pitchFamily="34" charset="-120"/>
              </a:rPr>
              <a:t>Doing it without the customer's OK is the problem.</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Policies</a:t>
            </a:r>
            <a:endParaRPr lang="en-US" sz="2400" dirty="0"/>
          </a:p>
        </p:txBody>
      </p:sp>
      <p:sp>
        <p:nvSpPr>
          <p:cNvPr id="5" name="Shape 2"/>
          <p:cNvSpPr/>
          <p:nvPr/>
        </p:nvSpPr>
        <p:spPr>
          <a:xfrm>
            <a:off x="411480" y="1325880"/>
            <a:ext cx="4091940" cy="1828800"/>
          </a:xfrm>
          <a:prstGeom prst="roundRect">
            <a:avLst>
              <a:gd name="adj" fmla="val 4000"/>
            </a:avLst>
          </a:prstGeom>
          <a:solidFill>
            <a:srgbClr val="FFFFFF"/>
          </a:solidFill>
          <a:ln w="9525">
            <a:solidFill>
              <a:srgbClr val="DCE1E7"/>
            </a:solidFill>
            <a:prstDash val="solid"/>
          </a:ln>
        </p:spPr>
      </p:sp>
      <p:sp>
        <p:nvSpPr>
          <p:cNvPr id="6" name="Shape 3"/>
          <p:cNvSpPr/>
          <p:nvPr/>
        </p:nvSpPr>
        <p:spPr>
          <a:xfrm>
            <a:off x="576072" y="149047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8" name="Text 4"/>
          <p:cNvSpPr txBox="1"/>
          <p:nvPr/>
        </p:nvSpPr>
        <p:spPr>
          <a:xfrm>
            <a:off x="5760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Consent first</a:t>
            </a:r>
            <a:endParaRPr lang="en-US" sz="1200" dirty="0"/>
          </a:p>
        </p:txBody>
      </p:sp>
      <p:sp>
        <p:nvSpPr>
          <p:cNvPr id="9" name="Text 5"/>
          <p:cNvSpPr txBox="1"/>
          <p:nvPr/>
        </p:nvSpPr>
        <p:spPr>
          <a:xfrm>
            <a:off x="5760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Any hours the customer didn't authorize are refundable.</a:t>
            </a:r>
            <a:endParaRPr lang="en-US" sz="950" dirty="0"/>
          </a:p>
        </p:txBody>
      </p:sp>
      <p:sp>
        <p:nvSpPr>
          <p:cNvPr id="10" name="Shape 6"/>
          <p:cNvSpPr/>
          <p:nvPr/>
        </p:nvSpPr>
        <p:spPr>
          <a:xfrm>
            <a:off x="4640580" y="1325880"/>
            <a:ext cx="4091940" cy="1828800"/>
          </a:xfrm>
          <a:prstGeom prst="roundRect">
            <a:avLst>
              <a:gd name="adj" fmla="val 4000"/>
            </a:avLst>
          </a:prstGeom>
          <a:solidFill>
            <a:srgbClr val="FFFFFF"/>
          </a:solidFill>
          <a:ln w="9525">
            <a:solidFill>
              <a:srgbClr val="DCE1E7"/>
            </a:solidFill>
            <a:prstDash val="solid"/>
          </a:ln>
        </p:spPr>
      </p:sp>
      <p:sp>
        <p:nvSpPr>
          <p:cNvPr id="11" name="Shape 7"/>
          <p:cNvSpPr/>
          <p:nvPr/>
        </p:nvSpPr>
        <p:spPr>
          <a:xfrm>
            <a:off x="4805172" y="149047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884176" y="1569476"/>
            <a:ext cx="171176" cy="171176"/>
          </a:xfrm>
          <a:prstGeom prst="rect">
            <a:avLst/>
          </a:prstGeom>
        </p:spPr>
      </p:pic>
      <p:sp>
        <p:nvSpPr>
          <p:cNvPr id="13" name="Text 8"/>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Permanently suspended?</a:t>
            </a:r>
            <a:endParaRPr lang="en-US" sz="1200" dirty="0"/>
          </a:p>
        </p:txBody>
      </p:sp>
      <p:sp>
        <p:nvSpPr>
          <p:cNvPr id="14" name="Text 9"/>
          <p:cNvSpPr txBox="1"/>
          <p:nvPr/>
        </p:nvSpPr>
        <p:spPr>
          <a:xfrm>
            <a:off x="48051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Skip asking the cleaner for proof. Resolve directly with the customer.</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process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Refund first, verify after.</a:t>
            </a:r>
            <a:endParaRPr lang="en-US" sz="1200" dirty="0"/>
          </a:p>
        </p:txBody>
      </p:sp>
      <p:sp>
        <p:nvSpPr>
          <p:cNvPr id="6" name="Shape 3"/>
          <p:cNvSpPr/>
          <p:nvPr/>
        </p:nvSpPr>
        <p:spPr>
          <a:xfrm>
            <a:off x="6949440" y="868680"/>
            <a:ext cx="1783080" cy="365760"/>
          </a:xfrm>
          <a:prstGeom prst="roundRect">
            <a:avLst>
              <a:gd name="adj" fmla="val 20000"/>
            </a:avLst>
          </a:prstGeom>
          <a:solidFill>
            <a:srgbClr val="0B7A6F"/>
          </a:solidFill>
          <a:ln w="12700">
            <a:solidFill>
              <a:srgbClr val="0B7A6F"/>
            </a:solidFill>
            <a:prstDash val="solid"/>
          </a:ln>
        </p:spPr>
      </p:sp>
      <p:pic>
        <p:nvPicPr>
          <p:cNvPr id="7" name="Image 0" descr="preencoded.png">    </p:cNvPr>
          <p:cNvPicPr>
            <a:picLocks noChangeAspect="1"/>
          </p:cNvPicPr>
          <p:nvPr/>
        </p:nvPicPr>
        <p:blipFill>
          <a:blip r:embed="rId1"/>
          <a:stretch>
            <a:fillRect/>
          </a:stretch>
        </p:blipFill>
        <p:spPr>
          <a:xfrm>
            <a:off x="7086600" y="960120"/>
            <a:ext cx="182880" cy="182880"/>
          </a:xfrm>
          <a:prstGeom prst="rect">
            <a:avLst/>
          </a:prstGeom>
        </p:spPr>
      </p:pic>
      <p:sp>
        <p:nvSpPr>
          <p:cNvPr id="8" name="Text 4"/>
          <p:cNvSpPr txBox="1"/>
          <p:nvPr/>
        </p:nvSpPr>
        <p:spPr>
          <a:xfrm>
            <a:off x="7333488" y="868680"/>
            <a:ext cx="1325880" cy="365760"/>
          </a:xfrm>
          <a:prstGeom prst="rect">
            <a:avLst/>
          </a:prstGeom>
          <a:noFill/>
          <a:ln/>
        </p:spPr>
        <p:txBody>
          <a:bodyPr wrap="square" lIns="0" tIns="0" rIns="0" bIns="0" rtlCol="0" anchor="ctr"/>
          <a:lstStyle/>
          <a:p>
            <a:pPr indent="0" marL="0">
              <a:buNone/>
            </a:pPr>
            <a:r>
              <a:rPr lang="en-US" sz="1100" b="1" dirty="0">
                <a:solidFill>
                  <a:srgbClr val="FFFFFF"/>
                </a:solidFill>
                <a:latin typeface="SF Pro Display" pitchFamily="34" charset="0"/>
                <a:ea typeface="SF Pro Display" pitchFamily="34" charset="-122"/>
                <a:cs typeface="SF Pro Display" pitchFamily="34" charset="-120"/>
              </a:rPr>
              <a:t>Show details</a:t>
            </a:r>
            <a:endParaRPr lang="en-US" sz="1100" dirty="0"/>
          </a:p>
        </p:txBody>
      </p:sp>
      <p:sp>
        <p:nvSpPr>
          <p:cNvPr id="9" name="Shape 5"/>
          <p:cNvSpPr/>
          <p:nvPr/>
        </p:nvSpPr>
        <p:spPr>
          <a:xfrm>
            <a:off x="548640" y="1371600"/>
            <a:ext cx="2926080" cy="548640"/>
          </a:xfrm>
          <a:prstGeom prst="roundRect">
            <a:avLst>
              <a:gd name="adj" fmla="val 13333"/>
            </a:avLst>
          </a:prstGeom>
          <a:solidFill>
            <a:srgbClr val="0B7A6F"/>
          </a:solidFill>
          <a:ln w="12700">
            <a:solidFill>
              <a:srgbClr val="0B7A6F"/>
            </a:solidFill>
            <a:prstDash val="solid"/>
          </a:ln>
        </p:spPr>
      </p:sp>
      <p:sp>
        <p:nvSpPr>
          <p:cNvPr id="10" name="Text 6"/>
          <p:cNvSpPr txBox="1"/>
          <p:nvPr/>
        </p:nvSpPr>
        <p:spPr>
          <a:xfrm>
            <a:off x="548640" y="1371600"/>
            <a:ext cx="292608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Refund the unauthorized hours only</a:t>
            </a:r>
            <a:endParaRPr lang="en-US" sz="1000" dirty="0"/>
          </a:p>
        </p:txBody>
      </p:sp>
      <p:sp>
        <p:nvSpPr>
          <p:cNvPr id="11" name="Shape 7"/>
          <p:cNvSpPr/>
          <p:nvPr/>
        </p:nvSpPr>
        <p:spPr>
          <a:xfrm>
            <a:off x="2011680" y="1920240"/>
            <a:ext cx="0" cy="246888"/>
          </a:xfrm>
          <a:prstGeom prst="line">
            <a:avLst/>
          </a:prstGeom>
          <a:noFill/>
          <a:ln w="12700">
            <a:solidFill>
              <a:srgbClr val="6E6E73"/>
            </a:solidFill>
            <a:prstDash val="solid"/>
            <a:tailEnd type="triangle"/>
          </a:ln>
        </p:spPr>
      </p:sp>
      <p:sp>
        <p:nvSpPr>
          <p:cNvPr id="12" name="Shape 8"/>
          <p:cNvSpPr/>
          <p:nvPr/>
        </p:nvSpPr>
        <p:spPr>
          <a:xfrm>
            <a:off x="3474720" y="1645920"/>
            <a:ext cx="274320" cy="0"/>
          </a:xfrm>
          <a:prstGeom prst="line">
            <a:avLst/>
          </a:prstGeom>
          <a:noFill/>
          <a:ln w="12700">
            <a:solidFill>
              <a:srgbClr val="6E6E73"/>
            </a:solidFill>
            <a:prstDash val="solid"/>
          </a:ln>
        </p:spPr>
      </p:sp>
      <p:sp>
        <p:nvSpPr>
          <p:cNvPr id="13" name="type1Desc"/>
          <p:cNvSpPr txBox="1"/>
          <p:nvPr/>
        </p:nvSpPr>
        <p:spPr>
          <a:xfrm>
            <a:off x="3840480" y="1371600"/>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Refund via the CP Dashboard for the alleged unauthorized hours only, not the full job.</a:t>
            </a:r>
            <a:endParaRPr lang="en-US" sz="950" dirty="0"/>
          </a:p>
        </p:txBody>
      </p:sp>
      <p:sp>
        <p:nvSpPr>
          <p:cNvPr id="14" name="Shape 10"/>
          <p:cNvSpPr/>
          <p:nvPr/>
        </p:nvSpPr>
        <p:spPr>
          <a:xfrm>
            <a:off x="548640" y="2167128"/>
            <a:ext cx="2926080" cy="548640"/>
          </a:xfrm>
          <a:prstGeom prst="roundRect">
            <a:avLst>
              <a:gd name="adj" fmla="val 13333"/>
            </a:avLst>
          </a:prstGeom>
          <a:solidFill>
            <a:srgbClr val="0B7A6F"/>
          </a:solidFill>
          <a:ln w="12700">
            <a:solidFill>
              <a:srgbClr val="0B7A6F"/>
            </a:solidFill>
            <a:prstDash val="solid"/>
          </a:ln>
        </p:spPr>
      </p:sp>
      <p:sp>
        <p:nvSpPr>
          <p:cNvPr id="15" name="Text 11"/>
          <p:cNvSpPr txBox="1"/>
          <p:nvPr/>
        </p:nvSpPr>
        <p:spPr>
          <a:xfrm>
            <a:off x="548640" y="2167128"/>
            <a:ext cx="292608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Coach CP + request evidence</a:t>
            </a:r>
            <a:endParaRPr lang="en-US" sz="1000" dirty="0"/>
          </a:p>
        </p:txBody>
      </p:sp>
      <p:sp>
        <p:nvSpPr>
          <p:cNvPr id="16" name="Shape 12"/>
          <p:cNvSpPr/>
          <p:nvPr/>
        </p:nvSpPr>
        <p:spPr>
          <a:xfrm>
            <a:off x="2011680" y="2715768"/>
            <a:ext cx="0" cy="246888"/>
          </a:xfrm>
          <a:prstGeom prst="line">
            <a:avLst/>
          </a:prstGeom>
          <a:noFill/>
          <a:ln w="12700">
            <a:solidFill>
              <a:srgbClr val="6E6E73"/>
            </a:solidFill>
            <a:prstDash val="solid"/>
            <a:tailEnd type="triangle"/>
          </a:ln>
        </p:spPr>
      </p:sp>
      <p:sp>
        <p:nvSpPr>
          <p:cNvPr id="17" name="Shape 13"/>
          <p:cNvSpPr/>
          <p:nvPr/>
        </p:nvSpPr>
        <p:spPr>
          <a:xfrm>
            <a:off x="3474720" y="2441448"/>
            <a:ext cx="274320" cy="0"/>
          </a:xfrm>
          <a:prstGeom prst="line">
            <a:avLst/>
          </a:prstGeom>
          <a:noFill/>
          <a:ln w="12700">
            <a:solidFill>
              <a:srgbClr val="6E6E73"/>
            </a:solidFill>
            <a:prstDash val="solid"/>
          </a:ln>
        </p:spPr>
      </p:sp>
      <p:sp>
        <p:nvSpPr>
          <p:cNvPr id="18" name="type2Desc"/>
          <p:cNvSpPr txBox="1"/>
          <p:nvPr/>
        </p:nvSpPr>
        <p:spPr>
          <a:xfrm>
            <a:off x="3840480" y="2167128"/>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Send coaching comms to the CP. The CP has 3 days to prove the customer authorized the extra hours.</a:t>
            </a:r>
            <a:endParaRPr lang="en-US" sz="950" dirty="0"/>
          </a:p>
        </p:txBody>
      </p:sp>
      <p:sp>
        <p:nvSpPr>
          <p:cNvPr id="19" name="Shape 15"/>
          <p:cNvSpPr/>
          <p:nvPr/>
        </p:nvSpPr>
        <p:spPr>
          <a:xfrm>
            <a:off x="548640" y="2962656"/>
            <a:ext cx="2926080" cy="548640"/>
          </a:xfrm>
          <a:prstGeom prst="roundRect">
            <a:avLst>
              <a:gd name="adj" fmla="val 13333"/>
            </a:avLst>
          </a:prstGeom>
          <a:solidFill>
            <a:srgbClr val="FFF3D6"/>
          </a:solidFill>
          <a:ln w="12700">
            <a:solidFill>
              <a:srgbClr val="9A6410"/>
            </a:solidFill>
            <a:prstDash val="solid"/>
          </a:ln>
        </p:spPr>
      </p:sp>
      <p:sp>
        <p:nvSpPr>
          <p:cNvPr id="20" name="Text 16"/>
          <p:cNvSpPr txBox="1"/>
          <p:nvPr/>
        </p:nvSpPr>
        <p:spPr>
          <a:xfrm>
            <a:off x="548640" y="2962656"/>
            <a:ext cx="2926080" cy="54864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Check for Premium charge</a:t>
            </a:r>
            <a:endParaRPr lang="en-US" sz="1000" dirty="0"/>
          </a:p>
        </p:txBody>
      </p:sp>
      <p:sp>
        <p:nvSpPr>
          <p:cNvPr id="21" name="Shape 17"/>
          <p:cNvSpPr/>
          <p:nvPr/>
        </p:nvSpPr>
        <p:spPr>
          <a:xfrm>
            <a:off x="2011680" y="3511296"/>
            <a:ext cx="0" cy="246888"/>
          </a:xfrm>
          <a:prstGeom prst="line">
            <a:avLst/>
          </a:prstGeom>
          <a:noFill/>
          <a:ln w="12700">
            <a:solidFill>
              <a:srgbClr val="6E6E73"/>
            </a:solidFill>
            <a:prstDash val="solid"/>
            <a:tailEnd type="triangle"/>
          </a:ln>
        </p:spPr>
      </p:sp>
      <p:sp>
        <p:nvSpPr>
          <p:cNvPr id="22" name="Shape 18"/>
          <p:cNvSpPr/>
          <p:nvPr/>
        </p:nvSpPr>
        <p:spPr>
          <a:xfrm>
            <a:off x="3474720" y="3236976"/>
            <a:ext cx="274320" cy="0"/>
          </a:xfrm>
          <a:prstGeom prst="line">
            <a:avLst/>
          </a:prstGeom>
          <a:noFill/>
          <a:ln w="12700">
            <a:solidFill>
              <a:srgbClr val="6E6E73"/>
            </a:solidFill>
            <a:prstDash val="solid"/>
          </a:ln>
        </p:spPr>
      </p:sp>
      <p:sp>
        <p:nvSpPr>
          <p:cNvPr id="23" name="type3Desc"/>
          <p:cNvSpPr txBox="1"/>
          <p:nvPr/>
        </p:nvSpPr>
        <p:spPr>
          <a:xfrm>
            <a:off x="3840480" y="2962656"/>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If a Premium fee was charged, refund it.</a:t>
            </a:r>
            <a:endParaRPr lang="en-US" sz="950" dirty="0"/>
          </a:p>
        </p:txBody>
      </p:sp>
      <p:sp>
        <p:nvSpPr>
          <p:cNvPr id="24" name="Shape 20"/>
          <p:cNvSpPr/>
          <p:nvPr/>
        </p:nvSpPr>
        <p:spPr>
          <a:xfrm>
            <a:off x="548640" y="3758184"/>
            <a:ext cx="2926080" cy="548640"/>
          </a:xfrm>
          <a:prstGeom prst="roundRect">
            <a:avLst>
              <a:gd name="adj" fmla="val 13333"/>
            </a:avLst>
          </a:prstGeom>
          <a:solidFill>
            <a:srgbClr val="1D1D1F"/>
          </a:solidFill>
          <a:ln w="12700">
            <a:solidFill>
              <a:srgbClr val="1D1D1F"/>
            </a:solidFill>
            <a:prstDash val="solid"/>
          </a:ln>
        </p:spPr>
      </p:sp>
      <p:sp>
        <p:nvSpPr>
          <p:cNvPr id="25" name="Text 21"/>
          <p:cNvSpPr txBox="1"/>
          <p:nvPr/>
        </p:nvSpPr>
        <p:spPr>
          <a:xfrm>
            <a:off x="548640" y="3758184"/>
            <a:ext cx="292608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Close the loop with the customer, done</a:t>
            </a:r>
            <a:endParaRPr lang="en-US" sz="1000" dirty="0"/>
          </a:p>
        </p:txBody>
      </p:sp>
      <p:sp>
        <p:nvSpPr>
          <p:cNvPr id="26" name="Shape 22"/>
          <p:cNvSpPr/>
          <p:nvPr/>
        </p:nvSpPr>
        <p:spPr>
          <a:xfrm>
            <a:off x="3474720" y="4032504"/>
            <a:ext cx="274320" cy="0"/>
          </a:xfrm>
          <a:prstGeom prst="line">
            <a:avLst/>
          </a:prstGeom>
          <a:noFill/>
          <a:ln w="12700">
            <a:solidFill>
              <a:srgbClr val="6E6E73"/>
            </a:solidFill>
            <a:prstDash val="solid"/>
          </a:ln>
        </p:spPr>
      </p:sp>
      <p:sp>
        <p:nvSpPr>
          <p:cNvPr id="27" name="type4Desc"/>
          <p:cNvSpPr txBox="1"/>
          <p:nvPr/>
        </p:nvSpPr>
        <p:spPr>
          <a:xfrm>
            <a:off x="3840480" y="3758184"/>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Tell the customer the refund was processed on their cleaner's behalf. Remind them to leave clear instructions for future cleaners. Block the C/CP pairing.</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21</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type="lt">
                                    <p:tmAbs val="40"/>
                                  </p:iterate>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type="lt">
                                    <p:tmAbs val="40"/>
                                  </p:iterate>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type="lt">
                                    <p:tmAbs val="40"/>
                                  </p:iterate>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iterate type="lt">
                                    <p:tmAbs val="40"/>
                                  </p:iterate>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8" grpId="0" animBg="1"/>
      <p:bldP spid="23" grpId="0" animBg="1"/>
      <p:bldP spid="27"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Scenario: the helper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CP brought a helper, worked half the duration, and charged in full.</a:t>
            </a:r>
            <a:endParaRPr lang="en-US" sz="1200" dirty="0"/>
          </a:p>
        </p:txBody>
      </p:sp>
      <p:sp>
        <p:nvSpPr>
          <p:cNvPr id="6" name="Shape 3"/>
          <p:cNvSpPr/>
          <p:nvPr/>
        </p:nvSpPr>
        <p:spPr>
          <a:xfrm>
            <a:off x="2971800" y="1234440"/>
            <a:ext cx="3200400" cy="530352"/>
          </a:xfrm>
          <a:prstGeom prst="roundRect">
            <a:avLst>
              <a:gd name="adj" fmla="val 13793"/>
            </a:avLst>
          </a:prstGeom>
          <a:solidFill>
            <a:srgbClr val="FFF3D6"/>
          </a:solidFill>
          <a:ln w="12700">
            <a:solidFill>
              <a:srgbClr val="9A6410"/>
            </a:solidFill>
            <a:prstDash val="solid"/>
          </a:ln>
        </p:spPr>
      </p:sp>
      <p:sp>
        <p:nvSpPr>
          <p:cNvPr id="7" name="Text 4"/>
          <p:cNvSpPr txBox="1"/>
          <p:nvPr/>
        </p:nvSpPr>
        <p:spPr>
          <a:xfrm>
            <a:off x="2971800" y="1234440"/>
            <a:ext cx="3200400" cy="530352"/>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Evidence says C authorized</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helper + reduced hours?</a:t>
            </a:r>
            <a:endParaRPr lang="en-US" sz="1000" dirty="0"/>
          </a:p>
        </p:txBody>
      </p:sp>
      <p:sp>
        <p:nvSpPr>
          <p:cNvPr id="8" name="Shape 5"/>
          <p:cNvSpPr/>
          <p:nvPr/>
        </p:nvSpPr>
        <p:spPr>
          <a:xfrm>
            <a:off x="4572000" y="1764792"/>
            <a:ext cx="0" cy="292608"/>
          </a:xfrm>
          <a:prstGeom prst="line">
            <a:avLst/>
          </a:prstGeom>
          <a:noFill/>
          <a:ln w="12700">
            <a:solidFill>
              <a:srgbClr val="6E6E73"/>
            </a:solidFill>
            <a:prstDash val="solid"/>
          </a:ln>
        </p:spPr>
      </p:sp>
      <p:sp>
        <p:nvSpPr>
          <p:cNvPr id="9" name="Shape 6"/>
          <p:cNvSpPr/>
          <p:nvPr/>
        </p:nvSpPr>
        <p:spPr>
          <a:xfrm>
            <a:off x="2331720" y="2057400"/>
            <a:ext cx="4480560" cy="0"/>
          </a:xfrm>
          <a:prstGeom prst="line">
            <a:avLst/>
          </a:prstGeom>
          <a:noFill/>
          <a:ln w="12700">
            <a:solidFill>
              <a:srgbClr val="6E6E73"/>
            </a:solidFill>
            <a:prstDash val="solid"/>
          </a:ln>
        </p:spPr>
      </p:sp>
      <p:sp>
        <p:nvSpPr>
          <p:cNvPr id="10" name="Shape 7"/>
          <p:cNvSpPr/>
          <p:nvPr/>
        </p:nvSpPr>
        <p:spPr>
          <a:xfrm>
            <a:off x="2331720" y="2057400"/>
            <a:ext cx="0" cy="320040"/>
          </a:xfrm>
          <a:prstGeom prst="line">
            <a:avLst/>
          </a:prstGeom>
          <a:noFill/>
          <a:ln w="12700">
            <a:solidFill>
              <a:srgbClr val="6E6E73"/>
            </a:solidFill>
            <a:prstDash val="solid"/>
            <a:tailEnd type="triangle"/>
          </a:ln>
        </p:spPr>
      </p:sp>
      <p:sp>
        <p:nvSpPr>
          <p:cNvPr id="11" name="Shape 8"/>
          <p:cNvSpPr/>
          <p:nvPr/>
        </p:nvSpPr>
        <p:spPr>
          <a:xfrm>
            <a:off x="6812280" y="2057400"/>
            <a:ext cx="0" cy="320040"/>
          </a:xfrm>
          <a:prstGeom prst="line">
            <a:avLst/>
          </a:prstGeom>
          <a:noFill/>
          <a:ln w="12700">
            <a:solidFill>
              <a:srgbClr val="6E6E73"/>
            </a:solidFill>
            <a:prstDash val="solid"/>
            <a:tailEnd type="triangle"/>
          </a:ln>
        </p:spPr>
      </p:sp>
      <p:sp>
        <p:nvSpPr>
          <p:cNvPr id="12" name="Text 9"/>
          <p:cNvSpPr txBox="1"/>
          <p:nvPr/>
        </p:nvSpPr>
        <p:spPr>
          <a:xfrm>
            <a:off x="2404872" y="207568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3" name="Text 10"/>
          <p:cNvSpPr txBox="1"/>
          <p:nvPr/>
        </p:nvSpPr>
        <p:spPr>
          <a:xfrm>
            <a:off x="6885432" y="207568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14" name="Shape 11"/>
          <p:cNvSpPr/>
          <p:nvPr/>
        </p:nvSpPr>
        <p:spPr>
          <a:xfrm>
            <a:off x="868680" y="2377440"/>
            <a:ext cx="2926080" cy="502920"/>
          </a:xfrm>
          <a:prstGeom prst="roundRect">
            <a:avLst>
              <a:gd name="adj" fmla="val 14545"/>
            </a:avLst>
          </a:prstGeom>
          <a:solidFill>
            <a:srgbClr val="FFFFFF"/>
          </a:solidFill>
          <a:ln w="12700">
            <a:solidFill>
              <a:srgbClr val="DCE1E7"/>
            </a:solidFill>
            <a:prstDash val="solid"/>
          </a:ln>
        </p:spPr>
      </p:sp>
      <p:sp>
        <p:nvSpPr>
          <p:cNvPr id="15" name="Text 12"/>
          <p:cNvSpPr txBox="1"/>
          <p:nvPr/>
        </p:nvSpPr>
        <p:spPr>
          <a:xfrm>
            <a:off x="868680" y="2377440"/>
            <a:ext cx="2926080" cy="50292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No penalty</a:t>
            </a:r>
            <a:endParaRPr lang="en-US" sz="1000" dirty="0"/>
          </a:p>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C agreed to this</a:t>
            </a:r>
            <a:endParaRPr lang="en-US" sz="1000" dirty="0"/>
          </a:p>
        </p:txBody>
      </p:sp>
      <p:sp>
        <p:nvSpPr>
          <p:cNvPr id="16" name="Shape 13"/>
          <p:cNvSpPr/>
          <p:nvPr/>
        </p:nvSpPr>
        <p:spPr>
          <a:xfrm>
            <a:off x="5349240" y="2377440"/>
            <a:ext cx="2926080" cy="502920"/>
          </a:xfrm>
          <a:prstGeom prst="roundRect">
            <a:avLst>
              <a:gd name="adj" fmla="val 14545"/>
            </a:avLst>
          </a:prstGeom>
          <a:solidFill>
            <a:srgbClr val="1D1D1F"/>
          </a:solidFill>
          <a:ln w="12700">
            <a:solidFill>
              <a:srgbClr val="1D1D1F"/>
            </a:solidFill>
            <a:prstDash val="solid"/>
          </a:ln>
        </p:spPr>
      </p:sp>
      <p:sp>
        <p:nvSpPr>
          <p:cNvPr id="17" name="Text 14"/>
          <p:cNvSpPr txBox="1"/>
          <p:nvPr/>
        </p:nvSpPr>
        <p:spPr>
          <a:xfrm>
            <a:off x="5349240" y="2377440"/>
            <a:ext cx="2926080" cy="50292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Request documentation</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Same as the main flow</a:t>
            </a:r>
            <a:endParaRPr lang="en-US" sz="1000" dirty="0"/>
          </a:p>
        </p:txBody>
      </p:sp>
      <p:sp>
        <p:nvSpPr>
          <p:cNvPr id="18" name="Text 15"/>
          <p:cNvSpPr txBox="1"/>
          <p:nvPr/>
        </p:nvSpPr>
        <p:spPr>
          <a:xfrm>
            <a:off x="868680" y="2999232"/>
            <a:ext cx="2926080" cy="1143000"/>
          </a:xfrm>
          <a:prstGeom prst="rect">
            <a:avLst/>
          </a:prstGeom>
          <a:noFill/>
          <a:ln/>
        </p:spPr>
        <p:txBody>
          <a:bodyPr wrap="square" lIns="0" tIns="0" rIns="0" bIns="0" rtlCol="0" anchor="t"/>
          <a:lstStyle/>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Tell the customer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records show they authorized the helper and the shorter time.</a:t>
            </a: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Address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any other pain points.</a:t>
            </a: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Don't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penalize the CP.</a:t>
            </a:r>
            <a:endParaRPr lang="en-US" sz="900" dirty="0"/>
          </a:p>
        </p:txBody>
      </p:sp>
      <p:sp>
        <p:nvSpPr>
          <p:cNvPr id="19" name="Text 16"/>
          <p:cNvSpPr txBox="1"/>
          <p:nvPr/>
        </p:nvSpPr>
        <p:spPr>
          <a:xfrm>
            <a:off x="5349240" y="2999232"/>
            <a:ext cx="2926080" cy="1143000"/>
          </a:xfrm>
          <a:prstGeom prst="rect">
            <a:avLst/>
          </a:prstGeom>
          <a:noFill/>
          <a:ln/>
        </p:spPr>
        <p:txBody>
          <a:bodyPr wrap="square" lIns="0" tIns="0" rIns="0" bIns="0" rtlCol="0" anchor="t"/>
          <a:lstStyle/>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Follow Branch B.</a:t>
            </a:r>
            <a:pPr indent="0" marL="0">
              <a:spcAft>
                <a:spcPts val="300"/>
              </a:spcAft>
              <a:buNone/>
            </a:pP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Request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documentation from the CP (3 days).</a:t>
            </a: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Coach: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helpers need permission and can't justify full-rate billing.</a:t>
            </a:r>
            <a:endParaRPr lang="en-US" sz="900" dirty="0"/>
          </a:p>
        </p:txBody>
      </p:sp>
      <p:sp>
        <p:nvSpPr>
          <p:cNvPr id="20" name="Shape 17"/>
          <p:cNvSpPr/>
          <p:nvPr/>
        </p:nvSpPr>
        <p:spPr>
          <a:xfrm>
            <a:off x="411480" y="4206240"/>
            <a:ext cx="8321040" cy="384048"/>
          </a:xfrm>
          <a:prstGeom prst="roundRect">
            <a:avLst>
              <a:gd name="adj" fmla="val 19048"/>
            </a:avLst>
          </a:prstGeom>
          <a:solidFill>
            <a:srgbClr val="FFF3D6"/>
          </a:solidFill>
          <a:ln w="9525">
            <a:solidFill>
              <a:srgbClr val="FFF3D6"/>
            </a:solidFill>
            <a:prstDash val="solid"/>
          </a:ln>
        </p:spPr>
      </p:sp>
      <p:pic>
        <p:nvPicPr>
          <p:cNvPr id="21" name="Image 0" descr="preencoded.png">    </p:cNvPr>
          <p:cNvPicPr>
            <a:picLocks noChangeAspect="1"/>
          </p:cNvPicPr>
          <p:nvPr/>
        </p:nvPicPr>
        <p:blipFill>
          <a:blip r:embed="rId1"/>
          <a:stretch>
            <a:fillRect/>
          </a:stretch>
        </p:blipFill>
        <p:spPr>
          <a:xfrm>
            <a:off x="566928" y="4315968"/>
            <a:ext cx="164592" cy="164592"/>
          </a:xfrm>
          <a:prstGeom prst="rect">
            <a:avLst/>
          </a:prstGeom>
        </p:spPr>
      </p:pic>
      <p:sp>
        <p:nvSpPr>
          <p:cNvPr id="22" name="Text 18"/>
          <p:cNvSpPr txBox="1"/>
          <p:nvPr/>
        </p:nvSpPr>
        <p:spPr>
          <a:xfrm>
            <a:off x="822960" y="4306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Faked documents?  </a:t>
            </a:r>
            <a:pPr indent="0" marL="0">
              <a:buNone/>
            </a:pPr>
            <a:r>
              <a:rPr lang="en-US" sz="1000" dirty="0">
                <a:solidFill>
                  <a:srgbClr val="1D1D1F"/>
                </a:solidFill>
                <a:latin typeface="SF Pro Text" pitchFamily="34" charset="0"/>
                <a:ea typeface="SF Pro Text" pitchFamily="34" charset="-122"/>
                <a:cs typeface="SF Pro Text" pitchFamily="34" charset="-120"/>
              </a:rPr>
              <a:t>stop and go to AG – Fraud (CP Document Fraud). It's a separate offence.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Booked 3 hrs. The cleaner worked 5 hrs and invoiced 5 without asking. OCH or Unauthorized Hours?</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Unauthorized Hours. The work was real, but the customer never gave permission.</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What do you refund?</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Only the 2 added hours, via the CP Dashboard. Plus Premium if charged. Not the full job.</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Do you wait for the cleaner's proof before refunding?</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Refund first. The cleaner then has 3 days to prove the customer authorized it.</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cleaner is permanently suspended. Do you request documentation?</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There's no reactivation path, so resolve directly with the customer.</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23</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practice!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325880"/>
            <a:ext cx="3566160" cy="2743200"/>
          </a:xfrm>
          <a:prstGeom prst="roundRect">
            <a:avLst>
              <a:gd name="adj" fmla="val 2667"/>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23697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Live ticket</a:t>
            </a:r>
            <a:endParaRPr lang="en-US" sz="1200" dirty="0"/>
          </a:p>
        </p:txBody>
      </p:sp>
      <p:sp>
        <p:nvSpPr>
          <p:cNvPr id="10" name="Text 6"/>
          <p:cNvSpPr txBox="1"/>
          <p:nvPr/>
        </p:nvSpPr>
        <p:spPr>
          <a:xfrm>
            <a:off x="576072" y="2221992"/>
            <a:ext cx="323697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950" dirty="0"/>
          </a:p>
        </p:txBody>
      </p:sp>
      <p:sp>
        <p:nvSpPr>
          <p:cNvPr id="11" name="Shape 7"/>
          <p:cNvSpPr/>
          <p:nvPr/>
        </p:nvSpPr>
        <p:spPr>
          <a:xfrm>
            <a:off x="594360" y="3520440"/>
            <a:ext cx="1234440" cy="274320"/>
          </a:xfrm>
          <a:prstGeom prst="roundRect">
            <a:avLst>
              <a:gd name="adj" fmla="val 26667"/>
            </a:avLst>
          </a:prstGeom>
          <a:solidFill>
            <a:srgbClr val="FFF3D6"/>
          </a:solidFill>
          <a:ln w="9525">
            <a:solidFill>
              <a:srgbClr val="FFF3D6"/>
            </a:solidFill>
            <a:prstDash val="solid"/>
          </a:ln>
        </p:spPr>
      </p:sp>
      <p:sp>
        <p:nvSpPr>
          <p:cNvPr id="12" name="Text 8"/>
          <p:cNvSpPr txBox="1"/>
          <p:nvPr/>
        </p:nvSpPr>
        <p:spPr>
          <a:xfrm>
            <a:off x="594360" y="3520440"/>
            <a:ext cx="1234440" cy="274320"/>
          </a:xfrm>
          <a:prstGeom prst="rect">
            <a:avLst/>
          </a:prstGeom>
          <a:no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Trainer provides</a:t>
            </a:r>
            <a:endParaRPr lang="en-US" sz="800" dirty="0"/>
          </a:p>
        </p:txBody>
      </p:sp>
      <p:sp>
        <p:nvSpPr>
          <p:cNvPr id="13" name="Shape 9"/>
          <p:cNvSpPr/>
          <p:nvPr/>
        </p:nvSpPr>
        <p:spPr>
          <a:xfrm>
            <a:off x="4114800" y="1325880"/>
            <a:ext cx="4617720" cy="1298448"/>
          </a:xfrm>
          <a:prstGeom prst="roundRect">
            <a:avLst>
              <a:gd name="adj" fmla="val 5634"/>
            </a:avLst>
          </a:prstGeom>
          <a:solidFill>
            <a:srgbClr val="FFFFFF"/>
          </a:solidFill>
          <a:ln w="9525">
            <a:solidFill>
              <a:srgbClr val="DCE1E7"/>
            </a:solidFill>
            <a:prstDash val="solid"/>
          </a:ln>
        </p:spPr>
      </p:sp>
      <p:sp>
        <p:nvSpPr>
          <p:cNvPr id="14" name="Shape 10"/>
          <p:cNvSpPr/>
          <p:nvPr/>
        </p:nvSpPr>
        <p:spPr>
          <a:xfrm>
            <a:off x="4279392" y="1508760"/>
            <a:ext cx="274320" cy="274320"/>
          </a:xfrm>
          <a:prstGeom prst="ellipse">
            <a:avLst/>
          </a:prstGeom>
          <a:solidFill>
            <a:srgbClr val="E3F4F1"/>
          </a:solidFill>
          <a:ln w="12700">
            <a:solidFill>
              <a:srgbClr val="E3F4F1"/>
            </a:solidFill>
            <a:prstDash val="solid"/>
          </a:ln>
        </p:spPr>
      </p:sp>
      <p:sp>
        <p:nvSpPr>
          <p:cNvPr id="15" name="Text 11"/>
          <p:cNvSpPr txBox="1"/>
          <p:nvPr/>
        </p:nvSpPr>
        <p:spPr>
          <a:xfrm>
            <a:off x="427939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6" name="Text 12"/>
          <p:cNvSpPr txBox="1"/>
          <p:nvPr/>
        </p:nvSpPr>
        <p:spPr>
          <a:xfrm>
            <a:off x="4279392" y="1929384"/>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What will be your actions?</a:t>
            </a:r>
            <a:endParaRPr lang="en-US" sz="1200" dirty="0"/>
          </a:p>
        </p:txBody>
      </p:sp>
      <p:sp>
        <p:nvSpPr>
          <p:cNvPr id="17" name="Text 13"/>
          <p:cNvSpPr txBox="1"/>
          <p:nvPr/>
        </p:nvSpPr>
        <p:spPr>
          <a:xfrm>
            <a:off x="4279392" y="2221992"/>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Which issue is it, and what will you do on the account?</a:t>
            </a:r>
            <a:endParaRPr lang="en-US" sz="950" dirty="0"/>
          </a:p>
        </p:txBody>
      </p:sp>
      <p:sp>
        <p:nvSpPr>
          <p:cNvPr id="18" name="Shape 14"/>
          <p:cNvSpPr/>
          <p:nvPr/>
        </p:nvSpPr>
        <p:spPr>
          <a:xfrm>
            <a:off x="4114800" y="2770632"/>
            <a:ext cx="4617720" cy="1298448"/>
          </a:xfrm>
          <a:prstGeom prst="roundRect">
            <a:avLst>
              <a:gd name="adj" fmla="val 5634"/>
            </a:avLst>
          </a:prstGeom>
          <a:solidFill>
            <a:srgbClr val="FFFFFF"/>
          </a:solidFill>
          <a:ln w="9525">
            <a:solidFill>
              <a:srgbClr val="DCE1E7"/>
            </a:solidFill>
            <a:prstDash val="solid"/>
          </a:ln>
        </p:spPr>
      </p:sp>
      <p:sp>
        <p:nvSpPr>
          <p:cNvPr id="19" name="Shape 15"/>
          <p:cNvSpPr/>
          <p:nvPr/>
        </p:nvSpPr>
        <p:spPr>
          <a:xfrm>
            <a:off x="4279392" y="2953512"/>
            <a:ext cx="274320" cy="274320"/>
          </a:xfrm>
          <a:prstGeom prst="ellipse">
            <a:avLst/>
          </a:prstGeom>
          <a:solidFill>
            <a:srgbClr val="E3F4F1"/>
          </a:solidFill>
          <a:ln w="12700">
            <a:solidFill>
              <a:srgbClr val="E3F4F1"/>
            </a:solidFill>
            <a:prstDash val="solid"/>
          </a:ln>
        </p:spPr>
      </p:sp>
      <p:sp>
        <p:nvSpPr>
          <p:cNvPr id="20" name="Text 16"/>
          <p:cNvSpPr txBox="1"/>
          <p:nvPr/>
        </p:nvSpPr>
        <p:spPr>
          <a:xfrm>
            <a:off x="4279392" y="295351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1" name="Text 17"/>
          <p:cNvSpPr txBox="1"/>
          <p:nvPr/>
        </p:nvSpPr>
        <p:spPr>
          <a:xfrm>
            <a:off x="4279392" y="3374136"/>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How will you respond to the customer?</a:t>
            </a:r>
            <a:endParaRPr lang="en-US" sz="1200" dirty="0"/>
          </a:p>
        </p:txBody>
      </p:sp>
      <p:sp>
        <p:nvSpPr>
          <p:cNvPr id="22" name="Text 18"/>
          <p:cNvSpPr txBox="1"/>
          <p:nvPr/>
        </p:nvSpPr>
        <p:spPr>
          <a:xfrm>
            <a:off x="4279392" y="3666744"/>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Write the reply you would send.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Permission is the question</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work was real. What's missing is the customer's OK.</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first, verify after</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Only the added hours, plus Premium if charged.</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Coach and close the loop</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3 days for proof. Block the pairing.</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03 OF 04</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False Invoice</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cleaner clearly did no cleaning at all, but invoiced the job and the customer was charged.</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first check: who invoiced?</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Policies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Investigation and the 8 steps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penalty ladder</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14.png">    </p:cNvPr>
          <p:cNvPicPr>
            <a:picLocks noChangeAspect="1"/>
          </p:cNvPicPr>
          <p:nvPr/>
        </p:nvPicPr>
        <p:blipFill>
          <a:blip r:embed="rId5"/>
          <a:stretch>
            <a:fillRect/>
          </a:stretch>
        </p:blipFill>
        <p:spPr>
          <a:xfrm>
            <a:off x="5541264" y="1519076"/>
            <a:ext cx="2926080" cy="2100775"/>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First check: who invoiced?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This fork starts every False Invoice ticket.</a:t>
            </a:r>
            <a:endParaRPr lang="en-US" sz="1200" dirty="0"/>
          </a:p>
        </p:txBody>
      </p:sp>
      <p:sp>
        <p:nvSpPr>
          <p:cNvPr id="6" name="Shape 3"/>
          <p:cNvSpPr/>
          <p:nvPr/>
        </p:nvSpPr>
        <p:spPr>
          <a:xfrm>
            <a:off x="411480" y="1325880"/>
            <a:ext cx="40919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The customer invoiced it</a:t>
            </a:r>
            <a:endParaRPr lang="en-US" sz="1200" dirty="0"/>
          </a:p>
        </p:txBody>
      </p:sp>
      <p:sp>
        <p:nvSpPr>
          <p:cNvPr id="10" name="Text 6"/>
          <p:cNvSpPr txBox="1"/>
          <p:nvPr/>
        </p:nvSpPr>
        <p:spPr>
          <a:xfrm>
            <a:off x="5760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via the CP Dashboard. We recover the cleaner's pay. No penalty.</a:t>
            </a:r>
            <a:endParaRPr lang="en-US" sz="950" dirty="0"/>
          </a:p>
        </p:txBody>
      </p:sp>
      <p:sp>
        <p:nvSpPr>
          <p:cNvPr id="11" name="Shape 7"/>
          <p:cNvSpPr/>
          <p:nvPr/>
        </p:nvSpPr>
        <p:spPr>
          <a:xfrm>
            <a:off x="4640580" y="1325880"/>
            <a:ext cx="40919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48051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569476"/>
            <a:ext cx="171176" cy="171176"/>
          </a:xfrm>
          <a:prstGeom prst="rect">
            <a:avLst/>
          </a:prstGeom>
        </p:spPr>
      </p:pic>
      <p:sp>
        <p:nvSpPr>
          <p:cNvPr id="14" name="Text 9"/>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The cleaner invoiced it</a:t>
            </a:r>
            <a:endParaRPr lang="en-US" sz="1200" dirty="0"/>
          </a:p>
        </p:txBody>
      </p:sp>
      <p:sp>
        <p:nvSpPr>
          <p:cNvPr id="15" name="Text 10"/>
          <p:cNvSpPr txBox="1"/>
          <p:nvPr/>
        </p:nvSpPr>
        <p:spPr>
          <a:xfrm>
            <a:off x="48051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valid False Invoice. Follow the full process and penalty ladder.</a:t>
            </a:r>
            <a:endParaRPr lang="en-US" sz="950" dirty="0"/>
          </a:p>
        </p:txBody>
      </p:sp>
      <p:sp>
        <p:nvSpPr>
          <p:cNvPr id="16" name="Shape 11"/>
          <p:cNvSpPr/>
          <p:nvPr/>
        </p:nvSpPr>
        <p:spPr>
          <a:xfrm>
            <a:off x="411480" y="333756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47288"/>
            <a:ext cx="164592" cy="164592"/>
          </a:xfrm>
          <a:prstGeom prst="rect">
            <a:avLst/>
          </a:prstGeom>
        </p:spPr>
      </p:pic>
      <p:sp>
        <p:nvSpPr>
          <p:cNvPr id="18" name="Text 12"/>
          <p:cNvSpPr txBox="1"/>
          <p:nvPr/>
        </p:nvSpPr>
        <p:spPr>
          <a:xfrm>
            <a:off x="822960" y="34381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Where to look:  </a:t>
            </a:r>
            <a:pPr indent="0" marL="0">
              <a:buNone/>
            </a:pPr>
            <a:r>
              <a:rPr lang="en-US" sz="1000" dirty="0">
                <a:solidFill>
                  <a:srgbClr val="1D1D1F"/>
                </a:solidFill>
                <a:latin typeface="SF Pro Text" pitchFamily="34" charset="0"/>
                <a:ea typeface="SF Pro Text" pitchFamily="34" charset="-122"/>
                <a:cs typeface="SF Pro Text" pitchFamily="34" charset="-120"/>
              </a:rPr>
              <a:t>the Job History shows who invoiced the job.</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Policies</a:t>
            </a:r>
            <a:endParaRPr lang="en-US" sz="2400" dirty="0"/>
          </a:p>
        </p:txBody>
      </p:sp>
      <p:sp>
        <p:nvSpPr>
          <p:cNvPr id="5" name="Shape 2"/>
          <p:cNvSpPr/>
          <p:nvPr/>
        </p:nvSpPr>
        <p:spPr>
          <a:xfrm>
            <a:off x="411480" y="1280160"/>
            <a:ext cx="2682240" cy="2057400"/>
          </a:xfrm>
          <a:prstGeom prst="roundRect">
            <a:avLst>
              <a:gd name="adj" fmla="val 3556"/>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120-day window</a:t>
            </a:r>
            <a:endParaRPr lang="en-US" sz="1200" dirty="0"/>
          </a:p>
        </p:txBody>
      </p:sp>
      <p:sp>
        <p:nvSpPr>
          <p:cNvPr id="9" name="Text 5"/>
          <p:cNvSpPr txBox="1"/>
          <p:nvPr/>
        </p:nvSpPr>
        <p:spPr>
          <a:xfrm>
            <a:off x="576072" y="2176272"/>
            <a:ext cx="235305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Unless comms or CTJ clearly prove no cleaning happened.</a:t>
            </a:r>
            <a:endParaRPr lang="en-US" sz="950" dirty="0"/>
          </a:p>
        </p:txBody>
      </p:sp>
      <p:sp>
        <p:nvSpPr>
          <p:cNvPr id="10" name="Shape 6"/>
          <p:cNvSpPr/>
          <p:nvPr/>
        </p:nvSpPr>
        <p:spPr>
          <a:xfrm>
            <a:off x="3230880" y="1280160"/>
            <a:ext cx="2682240" cy="2057400"/>
          </a:xfrm>
          <a:prstGeom prst="roundRect">
            <a:avLst>
              <a:gd name="adj" fmla="val 3556"/>
            </a:avLst>
          </a:prstGeom>
          <a:solidFill>
            <a:srgbClr val="FFFFFF"/>
          </a:solidFill>
          <a:ln w="9525">
            <a:solidFill>
              <a:srgbClr val="DCE1E7"/>
            </a:solidFill>
            <a:prstDash val="solid"/>
          </a:ln>
        </p:spPr>
      </p:sp>
      <p:sp>
        <p:nvSpPr>
          <p:cNvPr id="11" name="Shape 7"/>
          <p:cNvSpPr/>
          <p:nvPr/>
        </p:nvSpPr>
        <p:spPr>
          <a:xfrm>
            <a:off x="339547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3" name="Text 8"/>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First and only job</a:t>
            </a:r>
            <a:endParaRPr lang="en-US" sz="1200" dirty="0"/>
          </a:p>
        </p:txBody>
      </p:sp>
      <p:sp>
        <p:nvSpPr>
          <p:cNvPr id="14" name="Text 9"/>
          <p:cNvSpPr txBox="1"/>
          <p:nvPr/>
        </p:nvSpPr>
        <p:spPr>
          <a:xfrm>
            <a:off x="3395472" y="2176272"/>
            <a:ext cx="235305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Legacy DHJ only: voucher reinstated, MFs auto-refunded. Not FCF.</a:t>
            </a:r>
            <a:endParaRPr lang="en-US" sz="950" dirty="0"/>
          </a:p>
        </p:txBody>
      </p:sp>
      <p:sp>
        <p:nvSpPr>
          <p:cNvPr id="15" name="Shape 10"/>
          <p:cNvSpPr/>
          <p:nvPr/>
        </p:nvSpPr>
        <p:spPr>
          <a:xfrm>
            <a:off x="6050280" y="1280160"/>
            <a:ext cx="2682240" cy="2057400"/>
          </a:xfrm>
          <a:prstGeom prst="roundRect">
            <a:avLst>
              <a:gd name="adj" fmla="val 3556"/>
            </a:avLst>
          </a:prstGeom>
          <a:solidFill>
            <a:srgbClr val="FFFFFF"/>
          </a:solidFill>
          <a:ln w="9525">
            <a:solidFill>
              <a:srgbClr val="DCE1E7"/>
            </a:solidFill>
            <a:prstDash val="solid"/>
          </a:ln>
        </p:spPr>
      </p:sp>
      <p:sp>
        <p:nvSpPr>
          <p:cNvPr id="16" name="Shape 11"/>
          <p:cNvSpPr/>
          <p:nvPr/>
        </p:nvSpPr>
        <p:spPr>
          <a:xfrm>
            <a:off x="62148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8" name="Text 12"/>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Two in a row</a:t>
            </a:r>
            <a:endParaRPr lang="en-US" sz="1200" dirty="0"/>
          </a:p>
        </p:txBody>
      </p:sp>
      <p:sp>
        <p:nvSpPr>
          <p:cNvPr id="19" name="Text 13"/>
          <p:cNvSpPr txBox="1"/>
          <p:nvPr/>
        </p:nvSpPr>
        <p:spPr>
          <a:xfrm>
            <a:off x="6214872" y="2176272"/>
            <a:ext cx="235305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 may be eligible for an ETF waiver if they want to cancel.</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Investigate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Gather everything before you act.</a:t>
            </a:r>
            <a:endParaRPr lang="en-US" sz="1200" dirty="0"/>
          </a:p>
        </p:txBody>
      </p:sp>
      <p:sp>
        <p:nvSpPr>
          <p:cNvPr id="6" name="Shape 3"/>
          <p:cNvSpPr/>
          <p:nvPr/>
        </p:nvSpPr>
        <p:spPr>
          <a:xfrm>
            <a:off x="411480" y="1325880"/>
            <a:ext cx="4023360" cy="502920"/>
          </a:xfrm>
          <a:prstGeom prst="roundRect">
            <a:avLst>
              <a:gd name="adj" fmla="val 14545"/>
            </a:avLst>
          </a:prstGeom>
          <a:solidFill>
            <a:srgbClr val="FFFFFF"/>
          </a:solidFill>
          <a:ln w="9525">
            <a:solidFill>
              <a:srgbClr val="DCE1E7"/>
            </a:solidFill>
            <a:prstDash val="solid"/>
          </a:ln>
        </p:spPr>
      </p:sp>
      <p:sp>
        <p:nvSpPr>
          <p:cNvPr id="7" name="Shape 4"/>
          <p:cNvSpPr/>
          <p:nvPr/>
        </p:nvSpPr>
        <p:spPr>
          <a:xfrm>
            <a:off x="521208" y="1431036"/>
            <a:ext cx="292608" cy="29260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591434" y="1501262"/>
            <a:ext cx="152156" cy="152156"/>
          </a:xfrm>
          <a:prstGeom prst="rect">
            <a:avLst/>
          </a:prstGeom>
        </p:spPr>
      </p:pic>
      <p:sp>
        <p:nvSpPr>
          <p:cNvPr id="9" name="Text 5"/>
          <p:cNvSpPr txBox="1"/>
          <p:nvPr/>
        </p:nvSpPr>
        <p:spPr>
          <a:xfrm>
            <a:off x="914400" y="1325880"/>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messages and account activity</a:t>
            </a:r>
            <a:endParaRPr lang="en-US" sz="1050" dirty="0"/>
          </a:p>
        </p:txBody>
      </p:sp>
      <p:sp>
        <p:nvSpPr>
          <p:cNvPr id="10" name="Shape 6"/>
          <p:cNvSpPr/>
          <p:nvPr/>
        </p:nvSpPr>
        <p:spPr>
          <a:xfrm>
            <a:off x="411480" y="1901952"/>
            <a:ext cx="4023360" cy="502920"/>
          </a:xfrm>
          <a:prstGeom prst="roundRect">
            <a:avLst>
              <a:gd name="adj" fmla="val 14545"/>
            </a:avLst>
          </a:prstGeom>
          <a:solidFill>
            <a:srgbClr val="FFFFFF"/>
          </a:solidFill>
          <a:ln w="9525">
            <a:solidFill>
              <a:srgbClr val="DCE1E7"/>
            </a:solidFill>
            <a:prstDash val="solid"/>
          </a:ln>
        </p:spPr>
      </p:sp>
      <p:sp>
        <p:nvSpPr>
          <p:cNvPr id="11" name="Shape 7"/>
          <p:cNvSpPr/>
          <p:nvPr/>
        </p:nvSpPr>
        <p:spPr>
          <a:xfrm>
            <a:off x="521208" y="2007108"/>
            <a:ext cx="292608" cy="292608"/>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591434" y="2077334"/>
            <a:ext cx="152156" cy="152156"/>
          </a:xfrm>
          <a:prstGeom prst="rect">
            <a:avLst/>
          </a:prstGeom>
        </p:spPr>
      </p:pic>
      <p:sp>
        <p:nvSpPr>
          <p:cNvPr id="13" name="Text 8"/>
          <p:cNvSpPr txBox="1"/>
          <p:nvPr/>
        </p:nvSpPr>
        <p:spPr>
          <a:xfrm>
            <a:off x="914400" y="1901952"/>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Job History timestamps</a:t>
            </a:r>
            <a:endParaRPr lang="en-US" sz="1050" dirty="0"/>
          </a:p>
        </p:txBody>
      </p:sp>
      <p:sp>
        <p:nvSpPr>
          <p:cNvPr id="14" name="Shape 9"/>
          <p:cNvSpPr/>
          <p:nvPr/>
        </p:nvSpPr>
        <p:spPr>
          <a:xfrm>
            <a:off x="411480" y="2478024"/>
            <a:ext cx="4023360" cy="502920"/>
          </a:xfrm>
          <a:prstGeom prst="roundRect">
            <a:avLst>
              <a:gd name="adj" fmla="val 14545"/>
            </a:avLst>
          </a:prstGeom>
          <a:solidFill>
            <a:srgbClr val="FFFFFF"/>
          </a:solidFill>
          <a:ln w="9525">
            <a:solidFill>
              <a:srgbClr val="DCE1E7"/>
            </a:solidFill>
            <a:prstDash val="solid"/>
          </a:ln>
        </p:spPr>
      </p:sp>
      <p:sp>
        <p:nvSpPr>
          <p:cNvPr id="15" name="Shape 10"/>
          <p:cNvSpPr/>
          <p:nvPr/>
        </p:nvSpPr>
        <p:spPr>
          <a:xfrm>
            <a:off x="521208" y="2583180"/>
            <a:ext cx="292608" cy="292608"/>
          </a:xfrm>
          <a:prstGeom prst="ellipse">
            <a:avLst/>
          </a:prstGeom>
          <a:solidFill>
            <a:srgbClr val="E3F4F1"/>
          </a:solidFill>
          <a:ln w="12700">
            <a:solidFill>
              <a:srgbClr val="E3F4F1"/>
            </a:solidFill>
            <a:prstDash val="solid"/>
          </a:ln>
        </p:spPr>
      </p:sp>
      <p:pic>
        <p:nvPicPr>
          <p:cNvPr id="16" name="Image 2" descr="preencoded.png">    </p:cNvPr>
          <p:cNvPicPr>
            <a:picLocks noChangeAspect="1"/>
          </p:cNvPicPr>
          <p:nvPr/>
        </p:nvPicPr>
        <p:blipFill>
          <a:blip r:embed="rId3"/>
          <a:stretch>
            <a:fillRect/>
          </a:stretch>
        </p:blipFill>
        <p:spPr>
          <a:xfrm>
            <a:off x="591434" y="2653406"/>
            <a:ext cx="152156" cy="152156"/>
          </a:xfrm>
          <a:prstGeom prst="rect">
            <a:avLst/>
          </a:prstGeom>
        </p:spPr>
      </p:pic>
      <p:sp>
        <p:nvSpPr>
          <p:cNvPr id="17" name="Text 11"/>
          <p:cNvSpPr txBox="1"/>
          <p:nvPr/>
        </p:nvSpPr>
        <p:spPr>
          <a:xfrm>
            <a:off x="914400" y="2478024"/>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Cleaner's Travel Journey (CTJ)</a:t>
            </a:r>
            <a:endParaRPr lang="en-US" sz="1050" dirty="0"/>
          </a:p>
        </p:txBody>
      </p:sp>
      <p:sp>
        <p:nvSpPr>
          <p:cNvPr id="18" name="Shape 12"/>
          <p:cNvSpPr/>
          <p:nvPr/>
        </p:nvSpPr>
        <p:spPr>
          <a:xfrm>
            <a:off x="411480" y="3054096"/>
            <a:ext cx="4023360" cy="502920"/>
          </a:xfrm>
          <a:prstGeom prst="roundRect">
            <a:avLst>
              <a:gd name="adj" fmla="val 14545"/>
            </a:avLst>
          </a:prstGeom>
          <a:solidFill>
            <a:srgbClr val="FFFFFF"/>
          </a:solidFill>
          <a:ln w="9525">
            <a:solidFill>
              <a:srgbClr val="DCE1E7"/>
            </a:solidFill>
            <a:prstDash val="solid"/>
          </a:ln>
        </p:spPr>
      </p:sp>
      <p:sp>
        <p:nvSpPr>
          <p:cNvPr id="19" name="Shape 13"/>
          <p:cNvSpPr/>
          <p:nvPr/>
        </p:nvSpPr>
        <p:spPr>
          <a:xfrm>
            <a:off x="521208" y="3159252"/>
            <a:ext cx="292608" cy="292608"/>
          </a:xfrm>
          <a:prstGeom prst="ellipse">
            <a:avLst/>
          </a:prstGeom>
          <a:solidFill>
            <a:srgbClr val="E3F4F1"/>
          </a:solidFill>
          <a:ln w="12700">
            <a:solidFill>
              <a:srgbClr val="E3F4F1"/>
            </a:solidFill>
            <a:prstDash val="solid"/>
          </a:ln>
        </p:spPr>
      </p:sp>
      <p:pic>
        <p:nvPicPr>
          <p:cNvPr id="20" name="Image 3" descr="preencoded.png">    </p:cNvPr>
          <p:cNvPicPr>
            <a:picLocks noChangeAspect="1"/>
          </p:cNvPicPr>
          <p:nvPr/>
        </p:nvPicPr>
        <p:blipFill>
          <a:blip r:embed="rId4"/>
          <a:stretch>
            <a:fillRect/>
          </a:stretch>
        </p:blipFill>
        <p:spPr>
          <a:xfrm>
            <a:off x="591434" y="3229478"/>
            <a:ext cx="152156" cy="152156"/>
          </a:xfrm>
          <a:prstGeom prst="rect">
            <a:avLst/>
          </a:prstGeom>
        </p:spPr>
      </p:pic>
      <p:sp>
        <p:nvSpPr>
          <p:cNvPr id="21" name="Text 14"/>
          <p:cNvSpPr txBox="1"/>
          <p:nvPr/>
        </p:nvSpPr>
        <p:spPr>
          <a:xfrm>
            <a:off x="914400" y="3054096"/>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reviews of each other</a:t>
            </a:r>
            <a:endParaRPr lang="en-US" sz="1050" dirty="0"/>
          </a:p>
        </p:txBody>
      </p:sp>
      <p:sp>
        <p:nvSpPr>
          <p:cNvPr id="22" name="Shape 15"/>
          <p:cNvSpPr/>
          <p:nvPr/>
        </p:nvSpPr>
        <p:spPr>
          <a:xfrm>
            <a:off x="4663440" y="1325880"/>
            <a:ext cx="4069080" cy="2011680"/>
          </a:xfrm>
          <a:prstGeom prst="roundRect">
            <a:avLst>
              <a:gd name="adj" fmla="val 3636"/>
            </a:avLst>
          </a:prstGeom>
          <a:solidFill>
            <a:srgbClr val="FFFFFF"/>
          </a:solidFill>
          <a:ln w="9525">
            <a:solidFill>
              <a:srgbClr val="DCE1E7"/>
            </a:solidFill>
            <a:prstDash val="solid"/>
          </a:ln>
        </p:spPr>
      </p:sp>
      <p:sp>
        <p:nvSpPr>
          <p:cNvPr id="23" name="Shape 16"/>
          <p:cNvSpPr/>
          <p:nvPr/>
        </p:nvSpPr>
        <p:spPr>
          <a:xfrm>
            <a:off x="4828032" y="1490472"/>
            <a:ext cx="329184" cy="329184"/>
          </a:xfrm>
          <a:prstGeom prst="ellipse">
            <a:avLst/>
          </a:prstGeom>
          <a:solidFill>
            <a:srgbClr val="E3F4F1"/>
          </a:solidFill>
          <a:ln w="12700">
            <a:solidFill>
              <a:srgbClr val="E3F4F1"/>
            </a:solidFill>
            <a:prstDash val="solid"/>
          </a:ln>
        </p:spPr>
      </p:sp>
      <p:pic>
        <p:nvPicPr>
          <p:cNvPr id="24" name="Image 4" descr="preencoded.png">    </p:cNvPr>
          <p:cNvPicPr>
            <a:picLocks noChangeAspect="1"/>
          </p:cNvPicPr>
          <p:nvPr/>
        </p:nvPicPr>
        <p:blipFill>
          <a:blip r:embed="rId5"/>
          <a:stretch>
            <a:fillRect/>
          </a:stretch>
        </p:blipFill>
        <p:spPr>
          <a:xfrm>
            <a:off x="4907036" y="1569476"/>
            <a:ext cx="171176" cy="171176"/>
          </a:xfrm>
          <a:prstGeom prst="rect">
            <a:avLst/>
          </a:prstGeom>
        </p:spPr>
      </p:pic>
      <p:sp>
        <p:nvSpPr>
          <p:cNvPr id="25" name="Text 17"/>
          <p:cNvSpPr txBox="1"/>
          <p:nvPr/>
        </p:nvSpPr>
        <p:spPr>
          <a:xfrm>
            <a:off x="4828032" y="1929384"/>
            <a:ext cx="373989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Spot it first</a:t>
            </a:r>
            <a:endParaRPr lang="en-US" sz="1200" dirty="0"/>
          </a:p>
        </p:txBody>
      </p:sp>
      <p:sp>
        <p:nvSpPr>
          <p:cNvPr id="26" name="Text 18"/>
          <p:cNvSpPr txBox="1"/>
          <p:nvPr/>
        </p:nvSpPr>
        <p:spPr>
          <a:xfrm>
            <a:off x="4828032" y="2221992"/>
            <a:ext cx="3739896" cy="10241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Duration or charges don't match the booking? Reach out to the customer before they complain.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Confirmed false invoice: the process</a:t>
            </a:r>
            <a:endParaRPr lang="en-US" sz="2400" dirty="0"/>
          </a:p>
        </p:txBody>
      </p:sp>
      <p:sp>
        <p:nvSpPr>
          <p:cNvPr id="5" name="Shape 2"/>
          <p:cNvSpPr/>
          <p:nvPr/>
        </p:nvSpPr>
        <p:spPr>
          <a:xfrm>
            <a:off x="6949440" y="502920"/>
            <a:ext cx="1783080" cy="365760"/>
          </a:xfrm>
          <a:prstGeom prst="roundRect">
            <a:avLst>
              <a:gd name="adj" fmla="val 20000"/>
            </a:avLst>
          </a:prstGeom>
          <a:solidFill>
            <a:srgbClr val="0B7A6F"/>
          </a:solidFill>
          <a:ln w="12700">
            <a:solidFill>
              <a:srgbClr val="0B7A6F"/>
            </a:solidFill>
            <a:prstDash val="solid"/>
          </a:ln>
        </p:spPr>
      </p:sp>
      <p:pic>
        <p:nvPicPr>
          <p:cNvPr id="6" name="Image 0" descr="preencoded.png">    </p:cNvPr>
          <p:cNvPicPr>
            <a:picLocks noChangeAspect="1"/>
          </p:cNvPicPr>
          <p:nvPr/>
        </p:nvPicPr>
        <p:blipFill>
          <a:blip r:embed="rId1"/>
          <a:stretch>
            <a:fillRect/>
          </a:stretch>
        </p:blipFill>
        <p:spPr>
          <a:xfrm>
            <a:off x="7086600" y="594360"/>
            <a:ext cx="182880" cy="182880"/>
          </a:xfrm>
          <a:prstGeom prst="rect">
            <a:avLst/>
          </a:prstGeom>
        </p:spPr>
      </p:pic>
      <p:sp>
        <p:nvSpPr>
          <p:cNvPr id="7" name="Text 3"/>
          <p:cNvSpPr txBox="1"/>
          <p:nvPr/>
        </p:nvSpPr>
        <p:spPr>
          <a:xfrm>
            <a:off x="7333488" y="502920"/>
            <a:ext cx="1325880" cy="365760"/>
          </a:xfrm>
          <a:prstGeom prst="rect">
            <a:avLst/>
          </a:prstGeom>
          <a:noFill/>
          <a:ln/>
        </p:spPr>
        <p:txBody>
          <a:bodyPr wrap="square" lIns="0" tIns="0" rIns="0" bIns="0" rtlCol="0" anchor="ctr"/>
          <a:lstStyle/>
          <a:p>
            <a:pPr indent="0" marL="0">
              <a:buNone/>
            </a:pPr>
            <a:r>
              <a:rPr lang="en-US" sz="1100" b="1" dirty="0">
                <a:solidFill>
                  <a:srgbClr val="FFFFFF"/>
                </a:solidFill>
                <a:latin typeface="SF Pro Display" pitchFamily="34" charset="0"/>
                <a:ea typeface="SF Pro Display" pitchFamily="34" charset="-122"/>
                <a:cs typeface="SF Pro Display" pitchFamily="34" charset="-120"/>
              </a:rPr>
              <a:t>Show details</a:t>
            </a:r>
            <a:endParaRPr lang="en-US" sz="1100" dirty="0"/>
          </a:p>
        </p:txBody>
      </p:sp>
      <p:sp>
        <p:nvSpPr>
          <p:cNvPr id="8" name="Shape 4"/>
          <p:cNvSpPr/>
          <p:nvPr/>
        </p:nvSpPr>
        <p:spPr>
          <a:xfrm>
            <a:off x="457200" y="1051560"/>
            <a:ext cx="3246120" cy="347472"/>
          </a:xfrm>
          <a:prstGeom prst="roundRect">
            <a:avLst>
              <a:gd name="adj" fmla="val 21053"/>
            </a:avLst>
          </a:prstGeom>
          <a:solidFill>
            <a:srgbClr val="1D1D1F"/>
          </a:solidFill>
          <a:ln w="12700">
            <a:solidFill>
              <a:srgbClr val="1D1D1F"/>
            </a:solidFill>
            <a:prstDash val="solid"/>
          </a:ln>
        </p:spPr>
      </p:sp>
      <p:sp>
        <p:nvSpPr>
          <p:cNvPr id="9" name="Text 5"/>
          <p:cNvSpPr txBox="1"/>
          <p:nvPr/>
        </p:nvSpPr>
        <p:spPr>
          <a:xfrm>
            <a:off x="457200" y="1051560"/>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FALSE INVOICE (CP-fault)</a:t>
            </a:r>
            <a:endParaRPr lang="en-US" sz="1000" dirty="0"/>
          </a:p>
        </p:txBody>
      </p:sp>
      <p:sp>
        <p:nvSpPr>
          <p:cNvPr id="10" name="Shape 6"/>
          <p:cNvSpPr/>
          <p:nvPr/>
        </p:nvSpPr>
        <p:spPr>
          <a:xfrm>
            <a:off x="2080260" y="1399032"/>
            <a:ext cx="0" cy="91440"/>
          </a:xfrm>
          <a:prstGeom prst="line">
            <a:avLst/>
          </a:prstGeom>
          <a:noFill/>
          <a:ln w="12700">
            <a:solidFill>
              <a:srgbClr val="6E6E73"/>
            </a:solidFill>
            <a:prstDash val="solid"/>
            <a:tailEnd type="triangle"/>
          </a:ln>
        </p:spPr>
      </p:sp>
      <p:sp>
        <p:nvSpPr>
          <p:cNvPr id="11" name="Shape 7"/>
          <p:cNvSpPr/>
          <p:nvPr/>
        </p:nvSpPr>
        <p:spPr>
          <a:xfrm>
            <a:off x="3703320" y="1225296"/>
            <a:ext cx="182880" cy="0"/>
          </a:xfrm>
          <a:prstGeom prst="line">
            <a:avLst/>
          </a:prstGeom>
          <a:noFill/>
          <a:ln w="12700">
            <a:solidFill>
              <a:srgbClr val="6E6E73"/>
            </a:solidFill>
            <a:prstDash val="solid"/>
          </a:ln>
        </p:spPr>
      </p:sp>
      <p:sp>
        <p:nvSpPr>
          <p:cNvPr id="12" name="type1Desc"/>
          <p:cNvSpPr txBox="1"/>
          <p:nvPr/>
        </p:nvSpPr>
        <p:spPr>
          <a:xfrm>
            <a:off x="3977640" y="1024128"/>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Confirm if it was the CP who invoiced the job.</a:t>
            </a:r>
            <a:endParaRPr lang="en-US" sz="850" dirty="0"/>
          </a:p>
        </p:txBody>
      </p:sp>
      <p:sp>
        <p:nvSpPr>
          <p:cNvPr id="13" name="Shape 9"/>
          <p:cNvSpPr/>
          <p:nvPr/>
        </p:nvSpPr>
        <p:spPr>
          <a:xfrm>
            <a:off x="457200" y="1490472"/>
            <a:ext cx="3246120" cy="347472"/>
          </a:xfrm>
          <a:prstGeom prst="roundRect">
            <a:avLst>
              <a:gd name="adj" fmla="val 21053"/>
            </a:avLst>
          </a:prstGeom>
          <a:solidFill>
            <a:srgbClr val="0B7A6F"/>
          </a:solidFill>
          <a:ln w="12700">
            <a:solidFill>
              <a:srgbClr val="0B7A6F"/>
            </a:solidFill>
            <a:prstDash val="solid"/>
          </a:ln>
        </p:spPr>
      </p:sp>
      <p:sp>
        <p:nvSpPr>
          <p:cNvPr id="14" name="Text 10"/>
          <p:cNvSpPr txBox="1"/>
          <p:nvPr/>
        </p:nvSpPr>
        <p:spPr>
          <a:xfrm>
            <a:off x="457200" y="1490472"/>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Issue a full refund via the CP dashboard</a:t>
            </a:r>
            <a:endParaRPr lang="en-US" sz="1000" dirty="0"/>
          </a:p>
        </p:txBody>
      </p:sp>
      <p:sp>
        <p:nvSpPr>
          <p:cNvPr id="15" name="Shape 11"/>
          <p:cNvSpPr/>
          <p:nvPr/>
        </p:nvSpPr>
        <p:spPr>
          <a:xfrm>
            <a:off x="2080260" y="1837944"/>
            <a:ext cx="0" cy="91440"/>
          </a:xfrm>
          <a:prstGeom prst="line">
            <a:avLst/>
          </a:prstGeom>
          <a:noFill/>
          <a:ln w="12700">
            <a:solidFill>
              <a:srgbClr val="6E6E73"/>
            </a:solidFill>
            <a:prstDash val="solid"/>
            <a:tailEnd type="triangle"/>
          </a:ln>
        </p:spPr>
      </p:sp>
      <p:sp>
        <p:nvSpPr>
          <p:cNvPr id="16" name="Shape 12"/>
          <p:cNvSpPr/>
          <p:nvPr/>
        </p:nvSpPr>
        <p:spPr>
          <a:xfrm>
            <a:off x="3703320" y="1664208"/>
            <a:ext cx="182880" cy="0"/>
          </a:xfrm>
          <a:prstGeom prst="line">
            <a:avLst/>
          </a:prstGeom>
          <a:noFill/>
          <a:ln w="12700">
            <a:solidFill>
              <a:srgbClr val="6E6E73"/>
            </a:solidFill>
            <a:prstDash val="solid"/>
          </a:ln>
        </p:spPr>
      </p:sp>
      <p:sp>
        <p:nvSpPr>
          <p:cNvPr id="17" name="type2Desc"/>
          <p:cNvSpPr txBox="1"/>
          <p:nvPr/>
        </p:nvSpPr>
        <p:spPr>
          <a:xfrm>
            <a:off x="3977640" y="1463040"/>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Full refund of the job via the CP Dashboard.</a:t>
            </a:r>
            <a:endParaRPr lang="en-US" sz="850" dirty="0"/>
          </a:p>
        </p:txBody>
      </p:sp>
      <p:sp>
        <p:nvSpPr>
          <p:cNvPr id="18" name="Shape 14"/>
          <p:cNvSpPr/>
          <p:nvPr/>
        </p:nvSpPr>
        <p:spPr>
          <a:xfrm>
            <a:off x="457200" y="1929384"/>
            <a:ext cx="3246120" cy="347472"/>
          </a:xfrm>
          <a:prstGeom prst="roundRect">
            <a:avLst>
              <a:gd name="adj" fmla="val 21053"/>
            </a:avLst>
          </a:prstGeom>
          <a:solidFill>
            <a:srgbClr val="FFF3D6"/>
          </a:solidFill>
          <a:ln w="12700">
            <a:solidFill>
              <a:srgbClr val="9A6410"/>
            </a:solidFill>
            <a:prstDash val="solid"/>
          </a:ln>
        </p:spPr>
      </p:sp>
      <p:sp>
        <p:nvSpPr>
          <p:cNvPr id="19" name="Text 15"/>
          <p:cNvSpPr txBox="1"/>
          <p:nvPr/>
        </p:nvSpPr>
        <p:spPr>
          <a:xfrm>
            <a:off x="457200" y="1929384"/>
            <a:ext cx="3246120" cy="347472"/>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Check for cp_false_invoice flag (Validate or Add)</a:t>
            </a:r>
            <a:endParaRPr lang="en-US" sz="1000" dirty="0"/>
          </a:p>
        </p:txBody>
      </p:sp>
      <p:sp>
        <p:nvSpPr>
          <p:cNvPr id="20" name="Shape 16"/>
          <p:cNvSpPr/>
          <p:nvPr/>
        </p:nvSpPr>
        <p:spPr>
          <a:xfrm>
            <a:off x="2080260" y="2276856"/>
            <a:ext cx="0" cy="91440"/>
          </a:xfrm>
          <a:prstGeom prst="line">
            <a:avLst/>
          </a:prstGeom>
          <a:noFill/>
          <a:ln w="12700">
            <a:solidFill>
              <a:srgbClr val="6E6E73"/>
            </a:solidFill>
            <a:prstDash val="solid"/>
            <a:tailEnd type="triangle"/>
          </a:ln>
        </p:spPr>
      </p:sp>
      <p:sp>
        <p:nvSpPr>
          <p:cNvPr id="21" name="Shape 17"/>
          <p:cNvSpPr/>
          <p:nvPr/>
        </p:nvSpPr>
        <p:spPr>
          <a:xfrm>
            <a:off x="3703320" y="2103120"/>
            <a:ext cx="182880" cy="0"/>
          </a:xfrm>
          <a:prstGeom prst="line">
            <a:avLst/>
          </a:prstGeom>
          <a:noFill/>
          <a:ln w="12700">
            <a:solidFill>
              <a:srgbClr val="6E6E73"/>
            </a:solidFill>
            <a:prstDash val="solid"/>
          </a:ln>
        </p:spPr>
      </p:sp>
      <p:sp>
        <p:nvSpPr>
          <p:cNvPr id="22" name="type3Desc"/>
          <p:cNvSpPr txBox="1"/>
          <p:nvPr/>
        </p:nvSpPr>
        <p:spPr>
          <a:xfrm>
            <a:off x="3977640" y="1901952"/>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Already flagged? Check the Job ID matches. No flag? CP CRM › Do › Flag › cp_false_invoice. Include the ID triplet (C | CP | Job).</a:t>
            </a:r>
            <a:endParaRPr lang="en-US" sz="850" dirty="0"/>
          </a:p>
        </p:txBody>
      </p:sp>
      <p:sp>
        <p:nvSpPr>
          <p:cNvPr id="23" name="Shape 19"/>
          <p:cNvSpPr/>
          <p:nvPr/>
        </p:nvSpPr>
        <p:spPr>
          <a:xfrm>
            <a:off x="457200" y="2368296"/>
            <a:ext cx="3246120" cy="347472"/>
          </a:xfrm>
          <a:prstGeom prst="roundRect">
            <a:avLst>
              <a:gd name="adj" fmla="val 21053"/>
            </a:avLst>
          </a:prstGeom>
          <a:solidFill>
            <a:srgbClr val="0B7A6F"/>
          </a:solidFill>
          <a:ln w="12700">
            <a:solidFill>
              <a:srgbClr val="0B7A6F"/>
            </a:solidFill>
            <a:prstDash val="solid"/>
          </a:ln>
        </p:spPr>
      </p:sp>
      <p:sp>
        <p:nvSpPr>
          <p:cNvPr id="24" name="Text 20"/>
          <p:cNvSpPr txBox="1"/>
          <p:nvPr/>
        </p:nvSpPr>
        <p:spPr>
          <a:xfrm>
            <a:off x="457200" y="2368296"/>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Apply penalty</a:t>
            </a:r>
            <a:endParaRPr lang="en-US" sz="1000" dirty="0"/>
          </a:p>
        </p:txBody>
      </p:sp>
      <p:sp>
        <p:nvSpPr>
          <p:cNvPr id="25" name="Shape 21"/>
          <p:cNvSpPr/>
          <p:nvPr/>
        </p:nvSpPr>
        <p:spPr>
          <a:xfrm>
            <a:off x="2080260" y="2715768"/>
            <a:ext cx="0" cy="91440"/>
          </a:xfrm>
          <a:prstGeom prst="line">
            <a:avLst/>
          </a:prstGeom>
          <a:noFill/>
          <a:ln w="12700">
            <a:solidFill>
              <a:srgbClr val="6E6E73"/>
            </a:solidFill>
            <a:prstDash val="solid"/>
            <a:tailEnd type="triangle"/>
          </a:ln>
        </p:spPr>
      </p:sp>
      <p:sp>
        <p:nvSpPr>
          <p:cNvPr id="26" name="Shape 22"/>
          <p:cNvSpPr/>
          <p:nvPr/>
        </p:nvSpPr>
        <p:spPr>
          <a:xfrm>
            <a:off x="3703320" y="2542032"/>
            <a:ext cx="182880" cy="0"/>
          </a:xfrm>
          <a:prstGeom prst="line">
            <a:avLst/>
          </a:prstGeom>
          <a:noFill/>
          <a:ln w="12700">
            <a:solidFill>
              <a:srgbClr val="6E6E73"/>
            </a:solidFill>
            <a:prstDash val="solid"/>
          </a:ln>
        </p:spPr>
      </p:sp>
      <p:sp>
        <p:nvSpPr>
          <p:cNvPr id="27" name="type4Desc"/>
          <p:cNvSpPr txBox="1"/>
          <p:nvPr/>
        </p:nvSpPr>
        <p:spPr>
          <a:xfrm>
            <a:off x="3977640" y="2340864"/>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If CP invoiced: penalty (cp facing reason cpq_false_invoice Customer &lt;C'S NAME&gt; reported incorrect hours charged) + false invoice flag</a:t>
            </a:r>
            <a:endParaRPr lang="en-US" sz="850" dirty="0"/>
          </a:p>
        </p:txBody>
      </p:sp>
      <p:sp>
        <p:nvSpPr>
          <p:cNvPr id="28" name="Shape 24"/>
          <p:cNvSpPr/>
          <p:nvPr/>
        </p:nvSpPr>
        <p:spPr>
          <a:xfrm>
            <a:off x="457200" y="2807208"/>
            <a:ext cx="3246120" cy="347472"/>
          </a:xfrm>
          <a:prstGeom prst="roundRect">
            <a:avLst>
              <a:gd name="adj" fmla="val 21053"/>
            </a:avLst>
          </a:prstGeom>
          <a:solidFill>
            <a:srgbClr val="0B7A6F"/>
          </a:solidFill>
          <a:ln w="12700">
            <a:solidFill>
              <a:srgbClr val="0B7A6F"/>
            </a:solidFill>
            <a:prstDash val="solid"/>
          </a:ln>
        </p:spPr>
      </p:sp>
      <p:sp>
        <p:nvSpPr>
          <p:cNvPr id="29" name="Text 25"/>
          <p:cNvSpPr txBox="1"/>
          <p:nvPr/>
        </p:nvSpPr>
        <p:spPr>
          <a:xfrm>
            <a:off x="457200" y="2807208"/>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Coach / penalize the CP</a:t>
            </a:r>
            <a:endParaRPr lang="en-US" sz="1000" dirty="0"/>
          </a:p>
        </p:txBody>
      </p:sp>
      <p:sp>
        <p:nvSpPr>
          <p:cNvPr id="30" name="Shape 26"/>
          <p:cNvSpPr/>
          <p:nvPr/>
        </p:nvSpPr>
        <p:spPr>
          <a:xfrm>
            <a:off x="2080260" y="3154680"/>
            <a:ext cx="0" cy="91440"/>
          </a:xfrm>
          <a:prstGeom prst="line">
            <a:avLst/>
          </a:prstGeom>
          <a:noFill/>
          <a:ln w="12700">
            <a:solidFill>
              <a:srgbClr val="6E6E73"/>
            </a:solidFill>
            <a:prstDash val="solid"/>
            <a:tailEnd type="triangle"/>
          </a:ln>
        </p:spPr>
      </p:sp>
      <p:sp>
        <p:nvSpPr>
          <p:cNvPr id="31" name="Shape 27"/>
          <p:cNvSpPr/>
          <p:nvPr/>
        </p:nvSpPr>
        <p:spPr>
          <a:xfrm>
            <a:off x="3703320" y="2980944"/>
            <a:ext cx="182880" cy="0"/>
          </a:xfrm>
          <a:prstGeom prst="line">
            <a:avLst/>
          </a:prstGeom>
          <a:noFill/>
          <a:ln w="12700">
            <a:solidFill>
              <a:srgbClr val="6E6E73"/>
            </a:solidFill>
            <a:prstDash val="solid"/>
          </a:ln>
        </p:spPr>
      </p:sp>
      <p:sp>
        <p:nvSpPr>
          <p:cNvPr id="32" name="type5Desc"/>
          <p:cNvSpPr txBox="1"/>
          <p:nvPr/>
        </p:nvSpPr>
        <p:spPr>
          <a:xfrm>
            <a:off x="3977640" y="2779776"/>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Send coaching comms to CP</a:t>
            </a:r>
            <a:endParaRPr lang="en-US" sz="850" dirty="0"/>
          </a:p>
        </p:txBody>
      </p:sp>
      <p:sp>
        <p:nvSpPr>
          <p:cNvPr id="33" name="Shape 29"/>
          <p:cNvSpPr/>
          <p:nvPr/>
        </p:nvSpPr>
        <p:spPr>
          <a:xfrm>
            <a:off x="457200" y="3246120"/>
            <a:ext cx="3246120" cy="347472"/>
          </a:xfrm>
          <a:prstGeom prst="roundRect">
            <a:avLst>
              <a:gd name="adj" fmla="val 21053"/>
            </a:avLst>
          </a:prstGeom>
          <a:solidFill>
            <a:srgbClr val="0B7A6F"/>
          </a:solidFill>
          <a:ln w="12700">
            <a:solidFill>
              <a:srgbClr val="0B7A6F"/>
            </a:solidFill>
            <a:prstDash val="solid"/>
          </a:ln>
        </p:spPr>
      </p:sp>
      <p:sp>
        <p:nvSpPr>
          <p:cNvPr id="34" name="Text 30"/>
          <p:cNvSpPr txBox="1"/>
          <p:nvPr/>
        </p:nvSpPr>
        <p:spPr>
          <a:xfrm>
            <a:off x="457200" y="3246120"/>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Check for Premium fee and refund accordingly</a:t>
            </a:r>
            <a:endParaRPr lang="en-US" sz="1000" dirty="0"/>
          </a:p>
        </p:txBody>
      </p:sp>
      <p:sp>
        <p:nvSpPr>
          <p:cNvPr id="35" name="Shape 31"/>
          <p:cNvSpPr/>
          <p:nvPr/>
        </p:nvSpPr>
        <p:spPr>
          <a:xfrm>
            <a:off x="2080260" y="3593592"/>
            <a:ext cx="0" cy="91440"/>
          </a:xfrm>
          <a:prstGeom prst="line">
            <a:avLst/>
          </a:prstGeom>
          <a:noFill/>
          <a:ln w="12700">
            <a:solidFill>
              <a:srgbClr val="6E6E73"/>
            </a:solidFill>
            <a:prstDash val="solid"/>
            <a:tailEnd type="triangle"/>
          </a:ln>
        </p:spPr>
      </p:sp>
      <p:sp>
        <p:nvSpPr>
          <p:cNvPr id="36" name="Shape 32"/>
          <p:cNvSpPr/>
          <p:nvPr/>
        </p:nvSpPr>
        <p:spPr>
          <a:xfrm>
            <a:off x="3703320" y="3419856"/>
            <a:ext cx="182880" cy="0"/>
          </a:xfrm>
          <a:prstGeom prst="line">
            <a:avLst/>
          </a:prstGeom>
          <a:noFill/>
          <a:ln w="12700">
            <a:solidFill>
              <a:srgbClr val="6E6E73"/>
            </a:solidFill>
            <a:prstDash val="solid"/>
          </a:ln>
        </p:spPr>
      </p:sp>
      <p:sp>
        <p:nvSpPr>
          <p:cNvPr id="37" name="type6Desc"/>
          <p:cNvSpPr txBox="1"/>
          <p:nvPr/>
        </p:nvSpPr>
        <p:spPr>
          <a:xfrm>
            <a:off x="3977640" y="3218688"/>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If the customer paid a Premium fee, refund it (AG – Refund: Premium Upsell).</a:t>
            </a:r>
            <a:endParaRPr lang="en-US" sz="850" dirty="0"/>
          </a:p>
        </p:txBody>
      </p:sp>
      <p:sp>
        <p:nvSpPr>
          <p:cNvPr id="38" name="Shape 34"/>
          <p:cNvSpPr/>
          <p:nvPr/>
        </p:nvSpPr>
        <p:spPr>
          <a:xfrm>
            <a:off x="457200" y="3685032"/>
            <a:ext cx="3246120" cy="347472"/>
          </a:xfrm>
          <a:prstGeom prst="roundRect">
            <a:avLst>
              <a:gd name="adj" fmla="val 21053"/>
            </a:avLst>
          </a:prstGeom>
          <a:solidFill>
            <a:srgbClr val="0B7A6F"/>
          </a:solidFill>
          <a:ln w="12700">
            <a:solidFill>
              <a:srgbClr val="0B7A6F"/>
            </a:solidFill>
            <a:prstDash val="solid"/>
          </a:ln>
        </p:spPr>
      </p:sp>
      <p:sp>
        <p:nvSpPr>
          <p:cNvPr id="39" name="Text 35"/>
          <p:cNvSpPr txBox="1"/>
          <p:nvPr/>
        </p:nvSpPr>
        <p:spPr>
          <a:xfrm>
            <a:off x="457200" y="3685032"/>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Ban the C/CP pairing</a:t>
            </a:r>
            <a:endParaRPr lang="en-US" sz="1000" dirty="0"/>
          </a:p>
        </p:txBody>
      </p:sp>
      <p:sp>
        <p:nvSpPr>
          <p:cNvPr id="40" name="Shape 36"/>
          <p:cNvSpPr/>
          <p:nvPr/>
        </p:nvSpPr>
        <p:spPr>
          <a:xfrm>
            <a:off x="2080260" y="4032504"/>
            <a:ext cx="0" cy="91440"/>
          </a:xfrm>
          <a:prstGeom prst="line">
            <a:avLst/>
          </a:prstGeom>
          <a:noFill/>
          <a:ln w="12700">
            <a:solidFill>
              <a:srgbClr val="6E6E73"/>
            </a:solidFill>
            <a:prstDash val="solid"/>
            <a:tailEnd type="triangle"/>
          </a:ln>
        </p:spPr>
      </p:sp>
      <p:sp>
        <p:nvSpPr>
          <p:cNvPr id="41" name="Shape 37"/>
          <p:cNvSpPr/>
          <p:nvPr/>
        </p:nvSpPr>
        <p:spPr>
          <a:xfrm>
            <a:off x="3703320" y="3858768"/>
            <a:ext cx="182880" cy="0"/>
          </a:xfrm>
          <a:prstGeom prst="line">
            <a:avLst/>
          </a:prstGeom>
          <a:noFill/>
          <a:ln w="12700">
            <a:solidFill>
              <a:srgbClr val="6E6E73"/>
            </a:solidFill>
            <a:prstDash val="solid"/>
          </a:ln>
        </p:spPr>
      </p:sp>
      <p:sp>
        <p:nvSpPr>
          <p:cNvPr id="42" name="type7Desc"/>
          <p:cNvSpPr txBox="1"/>
          <p:nvPr/>
        </p:nvSpPr>
        <p:spPr>
          <a:xfrm>
            <a:off x="3977640" y="3657600"/>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Always, unless the customer wants to keep the same CP.</a:t>
            </a:r>
            <a:endParaRPr lang="en-US" sz="850" dirty="0"/>
          </a:p>
        </p:txBody>
      </p:sp>
      <p:sp>
        <p:nvSpPr>
          <p:cNvPr id="43" name="Shape 39"/>
          <p:cNvSpPr/>
          <p:nvPr/>
        </p:nvSpPr>
        <p:spPr>
          <a:xfrm>
            <a:off x="457200" y="4123944"/>
            <a:ext cx="3246120" cy="347472"/>
          </a:xfrm>
          <a:prstGeom prst="roundRect">
            <a:avLst>
              <a:gd name="adj" fmla="val 21053"/>
            </a:avLst>
          </a:prstGeom>
          <a:solidFill>
            <a:srgbClr val="FFFFFF"/>
          </a:solidFill>
          <a:ln w="12700">
            <a:solidFill>
              <a:srgbClr val="DCE1E7"/>
            </a:solidFill>
            <a:prstDash val="solid"/>
          </a:ln>
        </p:spPr>
      </p:sp>
      <p:sp>
        <p:nvSpPr>
          <p:cNvPr id="44" name="Text 40"/>
          <p:cNvSpPr txBox="1"/>
          <p:nvPr/>
        </p:nvSpPr>
        <p:spPr>
          <a:xfrm>
            <a:off x="457200" y="4123944"/>
            <a:ext cx="3246120" cy="347472"/>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Confirm refund with C + offer priority booking</a:t>
            </a:r>
            <a:endParaRPr lang="en-US" sz="1000" dirty="0"/>
          </a:p>
        </p:txBody>
      </p:sp>
      <p:sp>
        <p:nvSpPr>
          <p:cNvPr id="45" name="Shape 41"/>
          <p:cNvSpPr/>
          <p:nvPr/>
        </p:nvSpPr>
        <p:spPr>
          <a:xfrm>
            <a:off x="3703320" y="4297680"/>
            <a:ext cx="182880" cy="0"/>
          </a:xfrm>
          <a:prstGeom prst="line">
            <a:avLst/>
          </a:prstGeom>
          <a:noFill/>
          <a:ln w="12700">
            <a:solidFill>
              <a:srgbClr val="6E6E73"/>
            </a:solidFill>
            <a:prstDash val="solid"/>
          </a:ln>
        </p:spPr>
      </p:sp>
      <p:sp>
        <p:nvSpPr>
          <p:cNvPr id="46" name="type8Desc"/>
          <p:cNvSpPr txBox="1"/>
          <p:nvPr/>
        </p:nvSpPr>
        <p:spPr>
          <a:xfrm>
            <a:off x="3977640" y="4096512"/>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Refund arrives in 5–10 business days. Address any other pain points.</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30</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type="lt">
                                    <p:tmAbs val="40"/>
                                  </p:iterate>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type="lt">
                                    <p:tmAbs val="40"/>
                                  </p:iterate>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type="lt">
                                    <p:tmAbs val="40"/>
                                  </p:iterate>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iterate type="lt">
                                    <p:tmAbs val="40"/>
                                  </p:iterate>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iterate type="lt">
                                    <p:tmAbs val="40"/>
                                  </p:iterate>
                                  <p:childTnLst>
                                    <p:set>
                                      <p:cBhvr>
                                        <p:cTn id="22" dur="1" fill="hold">
                                          <p:stCondLst>
                                            <p:cond delay="0"/>
                                          </p:stCondLst>
                                        </p:cTn>
                                        <p:tgtEl>
                                          <p:spTgt spid="3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iterate type="lt">
                                    <p:tmAbs val="40"/>
                                  </p:iterate>
                                  <p:childTnLst>
                                    <p:set>
                                      <p:cBhvr>
                                        <p:cTn id="26" dur="1" fill="hold">
                                          <p:stCondLst>
                                            <p:cond delay="0"/>
                                          </p:stCondLst>
                                        </p:cTn>
                                        <p:tgtEl>
                                          <p:spTgt spid="3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iterate type="lt">
                                    <p:tmAbs val="40"/>
                                  </p:iterate>
                                  <p:childTnLst>
                                    <p:set>
                                      <p:cBhvr>
                                        <p:cTn id="30" dur="1" fill="hold">
                                          <p:stCondLst>
                                            <p:cond delay="0"/>
                                          </p:stCondLst>
                                        </p:cTn>
                                        <p:tgtEl>
                                          <p:spTgt spid="4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iterate type="lt">
                                    <p:tmAbs val="40"/>
                                  </p:iterate>
                                  <p:childTnLst>
                                    <p:set>
                                      <p:cBhvr>
                                        <p:cTn id="34" dur="1" fill="hold">
                                          <p:stCondLst>
                                            <p:cond delay="0"/>
                                          </p:stCondLst>
                                        </p:cTn>
                                        <p:tgtEl>
                                          <p:spTgt spid="4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7" grpId="0" animBg="1"/>
      <p:bldP spid="22" grpId="0" animBg="1"/>
      <p:bldP spid="27" grpId="0" animBg="1"/>
      <p:bldP spid="32" grpId="0" animBg="1"/>
      <p:bldP spid="37" grpId="0" animBg="1"/>
      <p:bldP spid="42" grpId="0" animBg="1"/>
      <p:bldP spid="46"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penalty ladder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C-side agents never add DNR.</a:t>
            </a:r>
            <a:endParaRPr lang="en-US" sz="1200" dirty="0"/>
          </a:p>
        </p:txBody>
      </p:sp>
      <p:sp>
        <p:nvSpPr>
          <p:cNvPr id="6" name="Shape 3"/>
          <p:cNvSpPr/>
          <p:nvPr/>
        </p:nvSpPr>
        <p:spPr>
          <a:xfrm>
            <a:off x="411480" y="1280160"/>
            <a:ext cx="2682240" cy="1783080"/>
          </a:xfrm>
          <a:prstGeom prst="roundRect">
            <a:avLst>
              <a:gd name="adj" fmla="val 4103"/>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Any false invoice</a:t>
            </a:r>
            <a:endParaRPr lang="en-US" sz="1200" dirty="0"/>
          </a:p>
        </p:txBody>
      </p:sp>
      <p:sp>
        <p:nvSpPr>
          <p:cNvPr id="10" name="Text 6"/>
          <p:cNvSpPr txBox="1"/>
          <p:nvPr/>
        </p:nvSpPr>
        <p:spPr>
          <a:xfrm>
            <a:off x="5760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norequests, and ask what happened.</a:t>
            </a:r>
            <a:endParaRPr lang="en-US" sz="950" dirty="0"/>
          </a:p>
        </p:txBody>
      </p:sp>
      <p:sp>
        <p:nvSpPr>
          <p:cNvPr id="11" name="Shape 7"/>
          <p:cNvSpPr/>
          <p:nvPr/>
        </p:nvSpPr>
        <p:spPr>
          <a:xfrm>
            <a:off x="3230880" y="1280160"/>
            <a:ext cx="2682240" cy="1783080"/>
          </a:xfrm>
          <a:prstGeom prst="roundRect">
            <a:avLst>
              <a:gd name="adj" fmla="val 4103"/>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Repeated and abusive</a:t>
            </a:r>
            <a:endParaRPr lang="en-US" sz="1200" dirty="0"/>
          </a:p>
        </p:txBody>
      </p:sp>
      <p:sp>
        <p:nvSpPr>
          <p:cNvPr id="15" name="Text 10"/>
          <p:cNvSpPr txBox="1"/>
          <p:nvPr/>
        </p:nvSpPr>
        <p:spPr>
          <a:xfrm>
            <a:off x="33954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 may suspend. Never add DNR.</a:t>
            </a:r>
            <a:endParaRPr lang="en-US" sz="950" dirty="0"/>
          </a:p>
        </p:txBody>
      </p:sp>
      <p:sp>
        <p:nvSpPr>
          <p:cNvPr id="16" name="Shape 11"/>
          <p:cNvSpPr/>
          <p:nvPr/>
        </p:nvSpPr>
        <p:spPr>
          <a:xfrm>
            <a:off x="6050280" y="1280160"/>
            <a:ext cx="2682240" cy="1783080"/>
          </a:xfrm>
          <a:prstGeom prst="roundRect">
            <a:avLst>
              <a:gd name="adj" fmla="val 4103"/>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System auto-suspended</a:t>
            </a:r>
            <a:endParaRPr lang="en-US" sz="1200" dirty="0"/>
          </a:p>
        </p:txBody>
      </p:sp>
      <p:sp>
        <p:nvSpPr>
          <p:cNvPr id="20" name="Text 14"/>
          <p:cNvSpPr txBox="1"/>
          <p:nvPr/>
        </p:nvSpPr>
        <p:spPr>
          <a:xfrm>
            <a:off x="62148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Leave it. Coach and explain the penalty.</a:t>
            </a:r>
            <a:endParaRPr lang="en-US" sz="950" dirty="0"/>
          </a:p>
        </p:txBody>
      </p:sp>
      <p:sp>
        <p:nvSpPr>
          <p:cNvPr id="21" name="Shape 15"/>
          <p:cNvSpPr/>
          <p:nvPr/>
        </p:nvSpPr>
        <p:spPr>
          <a:xfrm>
            <a:off x="411480" y="324612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355848"/>
            <a:ext cx="164592" cy="164592"/>
          </a:xfrm>
          <a:prstGeom prst="rect">
            <a:avLst/>
          </a:prstGeom>
        </p:spPr>
      </p:pic>
      <p:sp>
        <p:nvSpPr>
          <p:cNvPr id="23" name="Text 16"/>
          <p:cNvSpPr txBox="1"/>
          <p:nvPr/>
        </p:nvSpPr>
        <p:spPr>
          <a:xfrm>
            <a:off x="822960" y="33467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Reactivation is the CP-side team's call.  </a:t>
            </a:r>
            <a:pPr indent="0" marL="0">
              <a:buNone/>
            </a:pPr>
            <a:r>
              <a:rPr lang="en-US" sz="1000" dirty="0">
                <a:solidFill>
                  <a:srgbClr val="1D1D1F"/>
                </a:solidFill>
                <a:latin typeface="SF Pro Text" pitchFamily="34" charset="0"/>
                <a:ea typeface="SF Pro Text" pitchFamily="34" charset="-122"/>
                <a:cs typeface="SF Pro Text" pitchFamily="34" charset="-120"/>
              </a:rPr>
              <a:t>Note any wrong-customer or Lockout mix-up in your internal note.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What's the first thing you check on a False Invoice ticket?</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Who invoiced the job: check the Job History.</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invoiced it by accident. What do you do?</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Refund via the CP Dashboard. We recover the cleaner's pay, but don't penalize the cleaner.</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It was a Legacy DHJ customer's first and only job. What happens after the refund?</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The DHJ voucher is reinstated and MFs within 120 days are auto-refunded. On FCF, only the job is refunded.</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It's the cleaner's first false invoice. What status do you set?</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norequests, using the False Invoice (With Penalty) macro. Never add DNR.</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32</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practice!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325880"/>
            <a:ext cx="3566160" cy="2743200"/>
          </a:xfrm>
          <a:prstGeom prst="roundRect">
            <a:avLst>
              <a:gd name="adj" fmla="val 2667"/>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23697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Live ticket</a:t>
            </a:r>
            <a:endParaRPr lang="en-US" sz="1200" dirty="0"/>
          </a:p>
        </p:txBody>
      </p:sp>
      <p:sp>
        <p:nvSpPr>
          <p:cNvPr id="10" name="Text 6"/>
          <p:cNvSpPr txBox="1"/>
          <p:nvPr/>
        </p:nvSpPr>
        <p:spPr>
          <a:xfrm>
            <a:off x="576072" y="2221992"/>
            <a:ext cx="323697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950" dirty="0"/>
          </a:p>
        </p:txBody>
      </p:sp>
      <p:sp>
        <p:nvSpPr>
          <p:cNvPr id="11" name="Shape 7"/>
          <p:cNvSpPr/>
          <p:nvPr/>
        </p:nvSpPr>
        <p:spPr>
          <a:xfrm>
            <a:off x="594360" y="3520440"/>
            <a:ext cx="1234440" cy="274320"/>
          </a:xfrm>
          <a:prstGeom prst="roundRect">
            <a:avLst>
              <a:gd name="adj" fmla="val 26667"/>
            </a:avLst>
          </a:prstGeom>
          <a:solidFill>
            <a:srgbClr val="FFF3D6"/>
          </a:solidFill>
          <a:ln w="9525">
            <a:solidFill>
              <a:srgbClr val="FFF3D6"/>
            </a:solidFill>
            <a:prstDash val="solid"/>
          </a:ln>
        </p:spPr>
      </p:sp>
      <p:sp>
        <p:nvSpPr>
          <p:cNvPr id="12" name="Text 8"/>
          <p:cNvSpPr txBox="1"/>
          <p:nvPr/>
        </p:nvSpPr>
        <p:spPr>
          <a:xfrm>
            <a:off x="594360" y="3520440"/>
            <a:ext cx="1234440" cy="274320"/>
          </a:xfrm>
          <a:prstGeom prst="rect">
            <a:avLst/>
          </a:prstGeom>
          <a:no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Trainer provides</a:t>
            </a:r>
            <a:endParaRPr lang="en-US" sz="800" dirty="0"/>
          </a:p>
        </p:txBody>
      </p:sp>
      <p:sp>
        <p:nvSpPr>
          <p:cNvPr id="13" name="Shape 9"/>
          <p:cNvSpPr/>
          <p:nvPr/>
        </p:nvSpPr>
        <p:spPr>
          <a:xfrm>
            <a:off x="4114800" y="1325880"/>
            <a:ext cx="4617720" cy="1298448"/>
          </a:xfrm>
          <a:prstGeom prst="roundRect">
            <a:avLst>
              <a:gd name="adj" fmla="val 5634"/>
            </a:avLst>
          </a:prstGeom>
          <a:solidFill>
            <a:srgbClr val="FFFFFF"/>
          </a:solidFill>
          <a:ln w="9525">
            <a:solidFill>
              <a:srgbClr val="DCE1E7"/>
            </a:solidFill>
            <a:prstDash val="solid"/>
          </a:ln>
        </p:spPr>
      </p:sp>
      <p:sp>
        <p:nvSpPr>
          <p:cNvPr id="14" name="Shape 10"/>
          <p:cNvSpPr/>
          <p:nvPr/>
        </p:nvSpPr>
        <p:spPr>
          <a:xfrm>
            <a:off x="4279392" y="1508760"/>
            <a:ext cx="274320" cy="274320"/>
          </a:xfrm>
          <a:prstGeom prst="ellipse">
            <a:avLst/>
          </a:prstGeom>
          <a:solidFill>
            <a:srgbClr val="E3F4F1"/>
          </a:solidFill>
          <a:ln w="12700">
            <a:solidFill>
              <a:srgbClr val="E3F4F1"/>
            </a:solidFill>
            <a:prstDash val="solid"/>
          </a:ln>
        </p:spPr>
      </p:sp>
      <p:sp>
        <p:nvSpPr>
          <p:cNvPr id="15" name="Text 11"/>
          <p:cNvSpPr txBox="1"/>
          <p:nvPr/>
        </p:nvSpPr>
        <p:spPr>
          <a:xfrm>
            <a:off x="427939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6" name="Text 12"/>
          <p:cNvSpPr txBox="1"/>
          <p:nvPr/>
        </p:nvSpPr>
        <p:spPr>
          <a:xfrm>
            <a:off x="4279392" y="1929384"/>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What will be your actions?</a:t>
            </a:r>
            <a:endParaRPr lang="en-US" sz="1200" dirty="0"/>
          </a:p>
        </p:txBody>
      </p:sp>
      <p:sp>
        <p:nvSpPr>
          <p:cNvPr id="17" name="Text 13"/>
          <p:cNvSpPr txBox="1"/>
          <p:nvPr/>
        </p:nvSpPr>
        <p:spPr>
          <a:xfrm>
            <a:off x="4279392" y="2221992"/>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Which issue is it, and what will you do on the account?</a:t>
            </a:r>
            <a:endParaRPr lang="en-US" sz="950" dirty="0"/>
          </a:p>
        </p:txBody>
      </p:sp>
      <p:sp>
        <p:nvSpPr>
          <p:cNvPr id="18" name="Shape 14"/>
          <p:cNvSpPr/>
          <p:nvPr/>
        </p:nvSpPr>
        <p:spPr>
          <a:xfrm>
            <a:off x="4114800" y="2770632"/>
            <a:ext cx="4617720" cy="1298448"/>
          </a:xfrm>
          <a:prstGeom prst="roundRect">
            <a:avLst>
              <a:gd name="adj" fmla="val 5634"/>
            </a:avLst>
          </a:prstGeom>
          <a:solidFill>
            <a:srgbClr val="FFFFFF"/>
          </a:solidFill>
          <a:ln w="9525">
            <a:solidFill>
              <a:srgbClr val="DCE1E7"/>
            </a:solidFill>
            <a:prstDash val="solid"/>
          </a:ln>
        </p:spPr>
      </p:sp>
      <p:sp>
        <p:nvSpPr>
          <p:cNvPr id="19" name="Shape 15"/>
          <p:cNvSpPr/>
          <p:nvPr/>
        </p:nvSpPr>
        <p:spPr>
          <a:xfrm>
            <a:off x="4279392" y="2953512"/>
            <a:ext cx="274320" cy="274320"/>
          </a:xfrm>
          <a:prstGeom prst="ellipse">
            <a:avLst/>
          </a:prstGeom>
          <a:solidFill>
            <a:srgbClr val="E3F4F1"/>
          </a:solidFill>
          <a:ln w="12700">
            <a:solidFill>
              <a:srgbClr val="E3F4F1"/>
            </a:solidFill>
            <a:prstDash val="solid"/>
          </a:ln>
        </p:spPr>
      </p:sp>
      <p:sp>
        <p:nvSpPr>
          <p:cNvPr id="20" name="Text 16"/>
          <p:cNvSpPr txBox="1"/>
          <p:nvPr/>
        </p:nvSpPr>
        <p:spPr>
          <a:xfrm>
            <a:off x="4279392" y="295351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1" name="Text 17"/>
          <p:cNvSpPr txBox="1"/>
          <p:nvPr/>
        </p:nvSpPr>
        <p:spPr>
          <a:xfrm>
            <a:off x="4279392" y="3374136"/>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How will you respond to the customer?</a:t>
            </a:r>
            <a:endParaRPr lang="en-US" sz="1200" dirty="0"/>
          </a:p>
        </p:txBody>
      </p:sp>
      <p:sp>
        <p:nvSpPr>
          <p:cNvPr id="22" name="Text 18"/>
          <p:cNvSpPr txBox="1"/>
          <p:nvPr/>
        </p:nvSpPr>
        <p:spPr>
          <a:xfrm>
            <a:off x="4279392" y="3666744"/>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Write the reply you would send.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Who invoiced, first</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 invoiced it? Refund, no penalty.</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Full refund, then flag</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cp_false_invoice with the ID triplet. Block the pairing.</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norequests, never DNR</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Repeated abuse may be suspended. Reactivation is CP-side.</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04 OF 04</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Disintermediation: Cash Payment</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customer paid the cleaner directly instead of through the platform.</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it is and how it's reported</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Key principles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penalty ladder</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CP-side and C-side paths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_pay.png">    </p:cNvPr>
          <p:cNvPicPr>
            <a:picLocks noChangeAspect="1"/>
          </p:cNvPicPr>
          <p:nvPr/>
        </p:nvPicPr>
        <p:blipFill>
          <a:blip r:embed="rId5"/>
          <a:stretch>
            <a:fillRect/>
          </a:stretch>
        </p:blipFill>
        <p:spPr>
          <a:xfrm>
            <a:off x="5541264" y="1540190"/>
            <a:ext cx="2926080" cy="2058549"/>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it looks like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Cash, Venmo, Zelle, Cash App or PayPal: any payment outside the platform.</a:t>
            </a:r>
            <a:endParaRPr lang="en-US" sz="1200" dirty="0"/>
          </a:p>
        </p:txBody>
      </p:sp>
      <p:sp>
        <p:nvSpPr>
          <p:cNvPr id="6" name="Shape 3"/>
          <p:cNvSpPr/>
          <p:nvPr/>
        </p:nvSpPr>
        <p:spPr>
          <a:xfrm>
            <a:off x="411480" y="1280160"/>
            <a:ext cx="2682240" cy="1463040"/>
          </a:xfrm>
          <a:prstGeom prst="roundRect">
            <a:avLst>
              <a:gd name="adj" fmla="val 5000"/>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uses Report Issue</a:t>
            </a:r>
            <a:endParaRPr lang="en-US" sz="1200" dirty="0"/>
          </a:p>
        </p:txBody>
      </p:sp>
      <p:sp>
        <p:nvSpPr>
          <p:cNvPr id="10" name="Text 7"/>
          <p:cNvSpPr txBox="1"/>
          <p:nvPr/>
        </p:nvSpPr>
        <p:spPr>
          <a:xfrm>
            <a:off x="576072" y="2176272"/>
            <a:ext cx="23530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They tell us they received cash.</a:t>
            </a:r>
            <a:endParaRPr lang="en-US" sz="950" dirty="0"/>
          </a:p>
        </p:txBody>
      </p:sp>
      <p:sp>
        <p:nvSpPr>
          <p:cNvPr id="11" name="Shape 8"/>
          <p:cNvSpPr/>
          <p:nvPr/>
        </p:nvSpPr>
        <p:spPr>
          <a:xfrm>
            <a:off x="3230880" y="1280160"/>
            <a:ext cx="2682240" cy="1463040"/>
          </a:xfrm>
          <a:prstGeom prst="roundRect">
            <a:avLst>
              <a:gd name="adj" fmla="val 5000"/>
            </a:avLst>
          </a:prstGeom>
          <a:solidFill>
            <a:srgbClr val="FFFFFF"/>
          </a:solidFill>
          <a:ln w="9525">
            <a:solidFill>
              <a:srgbClr val="DCE1E7"/>
            </a:solidFill>
            <a:prstDash val="solid"/>
          </a:ln>
        </p:spPr>
      </p:sp>
      <p:sp>
        <p:nvSpPr>
          <p:cNvPr id="12" name="Shape 9"/>
          <p:cNvSpPr/>
          <p:nvPr/>
        </p:nvSpPr>
        <p:spPr>
          <a:xfrm>
            <a:off x="339547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 CP-side ticket is created</a:t>
            </a:r>
            <a:endParaRPr lang="en-US" sz="1200" dirty="0"/>
          </a:p>
        </p:txBody>
      </p:sp>
      <p:sp>
        <p:nvSpPr>
          <p:cNvPr id="15" name="Text 12"/>
          <p:cNvSpPr txBox="1"/>
          <p:nvPr/>
        </p:nvSpPr>
        <p:spPr>
          <a:xfrm>
            <a:off x="3395472" y="2176272"/>
            <a:ext cx="23530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flag is left on the job itself.</a:t>
            </a:r>
            <a:endParaRPr lang="en-US" sz="950" dirty="0"/>
          </a:p>
        </p:txBody>
      </p:sp>
      <p:sp>
        <p:nvSpPr>
          <p:cNvPr id="16" name="Shape 13"/>
          <p:cNvSpPr/>
          <p:nvPr/>
        </p:nvSpPr>
        <p:spPr>
          <a:xfrm>
            <a:off x="6050280" y="1280160"/>
            <a:ext cx="2682240" cy="1463040"/>
          </a:xfrm>
          <a:prstGeom prst="roundRect">
            <a:avLst>
              <a:gd name="adj" fmla="val 5000"/>
            </a:avLst>
          </a:prstGeom>
          <a:solidFill>
            <a:srgbClr val="FFFFFF"/>
          </a:solidFill>
          <a:ln w="9525">
            <a:solidFill>
              <a:srgbClr val="DCE1E7"/>
            </a:solidFill>
            <a:prstDash val="solid"/>
          </a:ln>
        </p:spPr>
      </p:sp>
      <p:sp>
        <p:nvSpPr>
          <p:cNvPr id="17" name="Shape 14"/>
          <p:cNvSpPr/>
          <p:nvPr/>
        </p:nvSpPr>
        <p:spPr>
          <a:xfrm>
            <a:off x="6214872" y="146304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Job stays Pending Invoice</a:t>
            </a:r>
            <a:endParaRPr lang="en-US" sz="1200" dirty="0"/>
          </a:p>
        </p:txBody>
      </p:sp>
      <p:sp>
        <p:nvSpPr>
          <p:cNvPr id="20" name="Text 17"/>
          <p:cNvSpPr txBox="1"/>
          <p:nvPr/>
        </p:nvSpPr>
        <p:spPr>
          <a:xfrm>
            <a:off x="6214872" y="2176272"/>
            <a:ext cx="23530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So the customer isn't auto-charged.</a:t>
            </a:r>
            <a:endParaRPr lang="en-US" sz="950" dirty="0"/>
          </a:p>
        </p:txBody>
      </p:sp>
      <p:sp>
        <p:nvSpPr>
          <p:cNvPr id="21" name="Shape 18"/>
          <p:cNvSpPr/>
          <p:nvPr/>
        </p:nvSpPr>
        <p:spPr>
          <a:xfrm>
            <a:off x="411480" y="2971800"/>
            <a:ext cx="8321040" cy="384048"/>
          </a:xfrm>
          <a:prstGeom prst="roundRect">
            <a:avLst>
              <a:gd name="adj" fmla="val 19048"/>
            </a:avLst>
          </a:prstGeom>
          <a:solidFill>
            <a:srgbClr val="FFF3D6"/>
          </a:solidFill>
          <a:ln w="9525">
            <a:solidFill>
              <a:srgbClr val="FFF3D6"/>
            </a:solidFill>
            <a:prstDash val="solid"/>
          </a:ln>
        </p:spPr>
      </p:sp>
      <p:pic>
        <p:nvPicPr>
          <p:cNvPr id="22" name="Image 0" descr="preencoded.png">    </p:cNvPr>
          <p:cNvPicPr>
            <a:picLocks noChangeAspect="1"/>
          </p:cNvPicPr>
          <p:nvPr/>
        </p:nvPicPr>
        <p:blipFill>
          <a:blip r:embed="rId1"/>
          <a:stretch>
            <a:fillRect/>
          </a:stretch>
        </p:blipFill>
        <p:spPr>
          <a:xfrm>
            <a:off x="566928" y="3081528"/>
            <a:ext cx="164592" cy="164592"/>
          </a:xfrm>
          <a:prstGeom prst="rect">
            <a:avLst/>
          </a:prstGeom>
        </p:spPr>
      </p:pic>
      <p:sp>
        <p:nvSpPr>
          <p:cNvPr id="23" name="Text 19"/>
          <p:cNvSpPr txBox="1"/>
          <p:nvPr/>
        </p:nvSpPr>
        <p:spPr>
          <a:xfrm>
            <a:off x="822960" y="30723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C-side agent?  </a:t>
            </a:r>
            <a:pPr indent="0" marL="0">
              <a:buNone/>
            </a:pPr>
            <a:r>
              <a:rPr lang="en-US" sz="1000" dirty="0">
                <a:solidFill>
                  <a:srgbClr val="1D1D1F"/>
                </a:solidFill>
                <a:latin typeface="SF Pro Text" pitchFamily="34" charset="0"/>
                <a:ea typeface="SF Pro Text" pitchFamily="34" charset="-122"/>
                <a:cs typeface="SF Pro Text" pitchFamily="34" charset="-120"/>
              </a:rPr>
              <a:t>always check the CP CRM first. The cleaner may already have reported it.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job status decides the action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Nobody should pay twice, and nobody should be paid twice.</a:t>
            </a:r>
            <a:endParaRPr lang="en-US" sz="1200" dirty="0"/>
          </a:p>
        </p:txBody>
      </p:sp>
      <p:sp>
        <p:nvSpPr>
          <p:cNvPr id="6" name="Shape 3"/>
          <p:cNvSpPr/>
          <p:nvPr/>
        </p:nvSpPr>
        <p:spPr>
          <a:xfrm>
            <a:off x="411480" y="1280160"/>
            <a:ext cx="26822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Pending Invoice</a:t>
            </a:r>
            <a:endParaRPr lang="en-US" sz="1200" dirty="0"/>
          </a:p>
        </p:txBody>
      </p:sp>
      <p:sp>
        <p:nvSpPr>
          <p:cNvPr id="10" name="Text 6"/>
          <p:cNvSpPr txBox="1"/>
          <p:nvPr/>
        </p:nvSpPr>
        <p:spPr>
          <a:xfrm>
            <a:off x="576072" y="217627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Cancel via the C CRM: "does not want the service".</a:t>
            </a:r>
            <a:endParaRPr lang="en-US" sz="950" dirty="0"/>
          </a:p>
        </p:txBody>
      </p:sp>
      <p:sp>
        <p:nvSpPr>
          <p:cNvPr id="11" name="Shape 7"/>
          <p:cNvSpPr/>
          <p:nvPr/>
        </p:nvSpPr>
        <p:spPr>
          <a:xfrm>
            <a:off x="3230880" y="1280160"/>
            <a:ext cx="26822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Invoiced</a:t>
            </a:r>
            <a:endParaRPr lang="en-US" sz="1200" dirty="0"/>
          </a:p>
        </p:txBody>
      </p:sp>
      <p:sp>
        <p:nvSpPr>
          <p:cNvPr id="15" name="Text 10"/>
          <p:cNvSpPr txBox="1"/>
          <p:nvPr/>
        </p:nvSpPr>
        <p:spPr>
          <a:xfrm>
            <a:off x="3395472" y="217627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from the CP Dashboard. Reverses both sides.</a:t>
            </a:r>
            <a:endParaRPr lang="en-US" sz="950" dirty="0"/>
          </a:p>
        </p:txBody>
      </p:sp>
      <p:sp>
        <p:nvSpPr>
          <p:cNvPr id="16" name="Shape 11"/>
          <p:cNvSpPr/>
          <p:nvPr/>
        </p:nvSpPr>
        <p:spPr>
          <a:xfrm>
            <a:off x="6050280" y="1280160"/>
            <a:ext cx="2682240" cy="1828800"/>
          </a:xfrm>
          <a:prstGeom prst="roundRect">
            <a:avLst>
              <a:gd name="adj" fmla="val 4000"/>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Cancelled</a:t>
            </a:r>
            <a:endParaRPr lang="en-US" sz="1200" dirty="0"/>
          </a:p>
        </p:txBody>
      </p:sp>
      <p:sp>
        <p:nvSpPr>
          <p:cNvPr id="20" name="Text 14"/>
          <p:cNvSpPr txBox="1"/>
          <p:nvPr/>
        </p:nvSpPr>
        <p:spPr>
          <a:xfrm>
            <a:off x="6214872" y="217627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Nothing to refund. Don't recreate the job.</a:t>
            </a:r>
            <a:endParaRPr lang="en-US" sz="950" dirty="0"/>
          </a:p>
        </p:txBody>
      </p:sp>
      <p:sp>
        <p:nvSpPr>
          <p:cNvPr id="21" name="Shape 15"/>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401568"/>
            <a:ext cx="164592" cy="164592"/>
          </a:xfrm>
          <a:prstGeom prst="rect">
            <a:avLst/>
          </a:prstGeom>
        </p:spPr>
      </p:pic>
      <p:sp>
        <p:nvSpPr>
          <p:cNvPr id="23" name="Text 16"/>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Partial cash payment?  </a:t>
            </a:r>
            <a:pPr indent="0" marL="0">
              <a:buNone/>
            </a:pPr>
            <a:r>
              <a:rPr lang="en-US" sz="1000" dirty="0">
                <a:solidFill>
                  <a:srgbClr val="1D1D1F"/>
                </a:solidFill>
                <a:latin typeface="SF Pro Text" pitchFamily="34" charset="0"/>
                <a:ea typeface="SF Pro Text" pitchFamily="34" charset="-122"/>
                <a:cs typeface="SF Pro Text" pitchFamily="34" charset="-120"/>
              </a:rPr>
              <a:t>invoice (or refund) only the difference, based on CP Pay, not the C Price.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Key principles</a:t>
            </a:r>
            <a:endParaRPr lang="en-US" sz="2400" dirty="0"/>
          </a:p>
        </p:txBody>
      </p:sp>
      <p:sp>
        <p:nvSpPr>
          <p:cNvPr id="5" name="Shape 2"/>
          <p:cNvSpPr/>
          <p:nvPr/>
        </p:nvSpPr>
        <p:spPr>
          <a:xfrm>
            <a:off x="411480" y="1280160"/>
            <a:ext cx="1977390" cy="2377440"/>
          </a:xfrm>
          <a:prstGeom prst="roundRect">
            <a:avLst>
              <a:gd name="adj" fmla="val 3699"/>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1648206" cy="841248"/>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Don’t penalize the  customer</a:t>
            </a:r>
            <a:endParaRPr lang="en-US" sz="1200" dirty="0"/>
          </a:p>
        </p:txBody>
      </p:sp>
      <p:sp>
        <p:nvSpPr>
          <p:cNvPr id="9" name="Text 5"/>
          <p:cNvSpPr txBox="1"/>
          <p:nvPr/>
        </p:nvSpPr>
        <p:spPr>
          <a:xfrm>
            <a:off x="576072" y="2788920"/>
            <a:ext cx="1648206" cy="82296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 broke the rule, not them.</a:t>
            </a:r>
            <a:endParaRPr lang="en-US" sz="950" dirty="0"/>
          </a:p>
        </p:txBody>
      </p:sp>
      <p:sp>
        <p:nvSpPr>
          <p:cNvPr id="10" name="Shape 6"/>
          <p:cNvSpPr/>
          <p:nvPr/>
        </p:nvSpPr>
        <p:spPr>
          <a:xfrm>
            <a:off x="2526030" y="1280160"/>
            <a:ext cx="1977390" cy="2377440"/>
          </a:xfrm>
          <a:prstGeom prst="roundRect">
            <a:avLst>
              <a:gd name="adj" fmla="val 3699"/>
            </a:avLst>
          </a:prstGeom>
          <a:solidFill>
            <a:srgbClr val="FFFFFF"/>
          </a:solidFill>
          <a:ln w="9525">
            <a:solidFill>
              <a:srgbClr val="DCE1E7"/>
            </a:solidFill>
            <a:prstDash val="solid"/>
          </a:ln>
        </p:spPr>
      </p:sp>
      <p:sp>
        <p:nvSpPr>
          <p:cNvPr id="11" name="Shape 7"/>
          <p:cNvSpPr/>
          <p:nvPr/>
        </p:nvSpPr>
        <p:spPr>
          <a:xfrm>
            <a:off x="269062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2769626" y="1523756"/>
            <a:ext cx="171176" cy="171176"/>
          </a:xfrm>
          <a:prstGeom prst="rect">
            <a:avLst/>
          </a:prstGeom>
        </p:spPr>
      </p:pic>
      <p:sp>
        <p:nvSpPr>
          <p:cNvPr id="13" name="Text 8"/>
          <p:cNvSpPr txBox="1"/>
          <p:nvPr/>
        </p:nvSpPr>
        <p:spPr>
          <a:xfrm>
            <a:off x="2690622" y="1883664"/>
            <a:ext cx="1648206" cy="841248"/>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Don’t act as investigator</a:t>
            </a:r>
            <a:endParaRPr lang="en-US" sz="1200" dirty="0"/>
          </a:p>
        </p:txBody>
      </p:sp>
      <p:sp>
        <p:nvSpPr>
          <p:cNvPr id="14" name="Text 9"/>
          <p:cNvSpPr txBox="1"/>
          <p:nvPr/>
        </p:nvSpPr>
        <p:spPr>
          <a:xfrm>
            <a:off x="2690622" y="2788920"/>
            <a:ext cx="1648206" cy="82296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Nothing to go on? Focus on the customer's experience.</a:t>
            </a:r>
            <a:endParaRPr lang="en-US" sz="950" dirty="0"/>
          </a:p>
        </p:txBody>
      </p:sp>
      <p:sp>
        <p:nvSpPr>
          <p:cNvPr id="15" name="Shape 10"/>
          <p:cNvSpPr/>
          <p:nvPr/>
        </p:nvSpPr>
        <p:spPr>
          <a:xfrm>
            <a:off x="4640580" y="1280160"/>
            <a:ext cx="1977390" cy="2377440"/>
          </a:xfrm>
          <a:prstGeom prst="roundRect">
            <a:avLst>
              <a:gd name="adj" fmla="val 3699"/>
            </a:avLst>
          </a:prstGeom>
          <a:solidFill>
            <a:srgbClr val="FFFFFF"/>
          </a:solidFill>
          <a:ln w="9525">
            <a:solidFill>
              <a:srgbClr val="DCE1E7"/>
            </a:solidFill>
            <a:prstDash val="solid"/>
          </a:ln>
        </p:spPr>
      </p:sp>
      <p:sp>
        <p:nvSpPr>
          <p:cNvPr id="16" name="Shape 11"/>
          <p:cNvSpPr/>
          <p:nvPr/>
        </p:nvSpPr>
        <p:spPr>
          <a:xfrm>
            <a:off x="48051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4884176" y="1523756"/>
            <a:ext cx="171176" cy="171176"/>
          </a:xfrm>
          <a:prstGeom prst="rect">
            <a:avLst/>
          </a:prstGeom>
        </p:spPr>
      </p:pic>
      <p:sp>
        <p:nvSpPr>
          <p:cNvPr id="18" name="Text 12"/>
          <p:cNvSpPr txBox="1"/>
          <p:nvPr/>
        </p:nvSpPr>
        <p:spPr>
          <a:xfrm>
            <a:off x="4805172" y="1883664"/>
            <a:ext cx="1648206" cy="841248"/>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Coaching tone - based on how cash payment was confirmed</a:t>
            </a:r>
            <a:endParaRPr lang="en-US" sz="1200" dirty="0"/>
          </a:p>
        </p:txBody>
      </p:sp>
      <p:sp>
        <p:nvSpPr>
          <p:cNvPr id="19" name="Text 13"/>
          <p:cNvSpPr txBox="1"/>
          <p:nvPr/>
        </p:nvSpPr>
        <p:spPr>
          <a:xfrm>
            <a:off x="4805172" y="2788920"/>
            <a:ext cx="1648206" cy="82296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How it was confirmed changes the coaching tone.</a:t>
            </a:r>
            <a:endParaRPr lang="en-US" sz="950" dirty="0"/>
          </a:p>
        </p:txBody>
      </p:sp>
      <p:sp>
        <p:nvSpPr>
          <p:cNvPr id="20" name="Shape 14"/>
          <p:cNvSpPr/>
          <p:nvPr/>
        </p:nvSpPr>
        <p:spPr>
          <a:xfrm>
            <a:off x="6755130" y="1280160"/>
            <a:ext cx="1977390" cy="2377440"/>
          </a:xfrm>
          <a:prstGeom prst="roundRect">
            <a:avLst>
              <a:gd name="adj" fmla="val 3699"/>
            </a:avLst>
          </a:prstGeom>
          <a:solidFill>
            <a:srgbClr val="FFFFFF"/>
          </a:solidFill>
          <a:ln w="9525">
            <a:solidFill>
              <a:srgbClr val="DCE1E7"/>
            </a:solidFill>
            <a:prstDash val="solid"/>
          </a:ln>
        </p:spPr>
      </p:sp>
      <p:sp>
        <p:nvSpPr>
          <p:cNvPr id="21" name="Shape 15"/>
          <p:cNvSpPr/>
          <p:nvPr/>
        </p:nvSpPr>
        <p:spPr>
          <a:xfrm>
            <a:off x="6919722" y="1444752"/>
            <a:ext cx="329184" cy="329184"/>
          </a:xfrm>
          <a:prstGeom prst="ellipse">
            <a:avLst/>
          </a:prstGeom>
          <a:solidFill>
            <a:srgbClr val="E3F4F1"/>
          </a:solidFill>
          <a:ln w="12700">
            <a:solidFill>
              <a:srgbClr val="E3F4F1"/>
            </a:solidFill>
            <a:prstDash val="solid"/>
          </a:ln>
        </p:spPr>
      </p:sp>
      <p:pic>
        <p:nvPicPr>
          <p:cNvPr id="22" name="Image 3" descr="preencoded.png">    </p:cNvPr>
          <p:cNvPicPr>
            <a:picLocks noChangeAspect="1"/>
          </p:cNvPicPr>
          <p:nvPr/>
        </p:nvPicPr>
        <p:blipFill>
          <a:blip r:embed="rId4"/>
          <a:stretch>
            <a:fillRect/>
          </a:stretch>
        </p:blipFill>
        <p:spPr>
          <a:xfrm>
            <a:off x="6998726" y="1523756"/>
            <a:ext cx="171176" cy="171176"/>
          </a:xfrm>
          <a:prstGeom prst="rect">
            <a:avLst/>
          </a:prstGeom>
        </p:spPr>
      </p:pic>
      <p:sp>
        <p:nvSpPr>
          <p:cNvPr id="23" name="Text 16"/>
          <p:cNvSpPr txBox="1"/>
          <p:nvPr/>
        </p:nvSpPr>
        <p:spPr>
          <a:xfrm>
            <a:off x="6919722" y="1883664"/>
            <a:ext cx="1648206" cy="841248"/>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Remind the customer where payment runs</a:t>
            </a:r>
            <a:endParaRPr lang="en-US" sz="1200" dirty="0"/>
          </a:p>
        </p:txBody>
      </p:sp>
      <p:sp>
        <p:nvSpPr>
          <p:cNvPr id="24" name="Text 17"/>
          <p:cNvSpPr txBox="1"/>
          <p:nvPr/>
        </p:nvSpPr>
        <p:spPr>
          <a:xfrm>
            <a:off x="6919722" y="2788920"/>
            <a:ext cx="1648206" cy="82296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Pay through the platform. Cash is only for tips.</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penalty ladder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C-side agents never suspend or add DNR for cash.</a:t>
            </a:r>
            <a:endParaRPr lang="en-US" sz="12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280160"/>
                <a:gridCol w="3520440"/>
                <a:gridCol w="3520440"/>
              </a:tblGrid>
              <a:tr h="502920">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Instance</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Cleaner admits it (soft ladder)</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Only customer proof (hard ladder)</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02920">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1st</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Coach. No status change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Coach and warn. No status change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2nd</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norequests</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norequests</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06324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172968"/>
            <a:ext cx="164592" cy="164592"/>
          </a:xfrm>
          <a:prstGeom prst="rect">
            <a:avLst/>
          </a:prstGeom>
        </p:spPr>
      </p:pic>
      <p:sp>
        <p:nvSpPr>
          <p:cNvPr id="9" name="Text 4"/>
          <p:cNvSpPr txBox="1"/>
          <p:nvPr/>
        </p:nvSpPr>
        <p:spPr>
          <a:xfrm>
            <a:off x="822960" y="3163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Denied and no proof?  </a:t>
            </a:r>
            <a:pPr indent="0" marL="0">
              <a:buNone/>
            </a:pPr>
            <a:r>
              <a:rPr lang="en-US" sz="1000" dirty="0">
                <a:solidFill>
                  <a:srgbClr val="1D1D1F"/>
                </a:solidFill>
                <a:latin typeface="SF Pro Text" pitchFamily="34" charset="0"/>
                <a:ea typeface="SF Pro Text" pitchFamily="34" charset="-122"/>
                <a:cs typeface="SF Pro Text" pitchFamily="34" charset="-120"/>
              </a:rPr>
              <a:t>nothing is confirmed: no refund, no penalty. Assess for retention.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A: the cleaner reported it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CP-side agent. This is the path most cases take.</a:t>
            </a:r>
            <a:endParaRPr lang="en-US" sz="1200" dirty="0"/>
          </a:p>
        </p:txBody>
      </p:sp>
      <p:sp>
        <p:nvSpPr>
          <p:cNvPr id="6" name="Shape 3"/>
          <p:cNvSpPr/>
          <p:nvPr/>
        </p:nvSpPr>
        <p:spPr>
          <a:xfrm>
            <a:off x="411480" y="1280160"/>
            <a:ext cx="197739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Ticket arrives</a:t>
            </a:r>
            <a:endParaRPr lang="en-US" sz="1200" dirty="0"/>
          </a:p>
        </p:txBody>
      </p:sp>
      <p:sp>
        <p:nvSpPr>
          <p:cNvPr id="10" name="Text 7"/>
          <p:cNvSpPr txBox="1"/>
          <p:nvPr/>
        </p:nvSpPr>
        <p:spPr>
          <a:xfrm>
            <a:off x="5760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 used Report Issue.</a:t>
            </a:r>
            <a:endParaRPr lang="en-US" sz="950" dirty="0"/>
          </a:p>
        </p:txBody>
      </p:sp>
      <p:sp>
        <p:nvSpPr>
          <p:cNvPr id="11" name="Shape 8"/>
          <p:cNvSpPr/>
          <p:nvPr/>
        </p:nvSpPr>
        <p:spPr>
          <a:xfrm>
            <a:off x="2526030" y="1280160"/>
            <a:ext cx="1977390" cy="1828800"/>
          </a:xfrm>
          <a:prstGeom prst="roundRect">
            <a:avLst>
              <a:gd name="adj" fmla="val 4000"/>
            </a:avLst>
          </a:prstGeom>
          <a:solidFill>
            <a:srgbClr val="FFFFFF"/>
          </a:solidFill>
          <a:ln w="9525">
            <a:solidFill>
              <a:srgbClr val="DCE1E7"/>
            </a:solidFill>
            <a:prstDash val="solid"/>
          </a:ln>
        </p:spPr>
      </p:sp>
      <p:sp>
        <p:nvSpPr>
          <p:cNvPr id="12" name="Shape 9"/>
          <p:cNvSpPr/>
          <p:nvPr/>
        </p:nvSpPr>
        <p:spPr>
          <a:xfrm>
            <a:off x="269062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269062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26906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Get the amount</a:t>
            </a:r>
            <a:endParaRPr lang="en-US" sz="1200" dirty="0"/>
          </a:p>
        </p:txBody>
      </p:sp>
      <p:sp>
        <p:nvSpPr>
          <p:cNvPr id="15" name="Text 12"/>
          <p:cNvSpPr txBox="1"/>
          <p:nvPr/>
        </p:nvSpPr>
        <p:spPr>
          <a:xfrm>
            <a:off x="26906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amount? Pause and ask the cleaner first.</a:t>
            </a:r>
            <a:endParaRPr lang="en-US" sz="950" dirty="0"/>
          </a:p>
        </p:txBody>
      </p:sp>
      <p:sp>
        <p:nvSpPr>
          <p:cNvPr id="16" name="Shape 13"/>
          <p:cNvSpPr/>
          <p:nvPr/>
        </p:nvSpPr>
        <p:spPr>
          <a:xfrm>
            <a:off x="4640580" y="1280160"/>
            <a:ext cx="1977390" cy="1828800"/>
          </a:xfrm>
          <a:prstGeom prst="roundRect">
            <a:avLst>
              <a:gd name="adj" fmla="val 4000"/>
            </a:avLst>
          </a:prstGeom>
          <a:solidFill>
            <a:srgbClr val="FFFFFF"/>
          </a:solidFill>
          <a:ln w="9525">
            <a:solidFill>
              <a:srgbClr val="DCE1E7"/>
            </a:solidFill>
            <a:prstDash val="solid"/>
          </a:ln>
        </p:spPr>
      </p:sp>
      <p:sp>
        <p:nvSpPr>
          <p:cNvPr id="17" name="Shape 14"/>
          <p:cNvSpPr/>
          <p:nvPr/>
        </p:nvSpPr>
        <p:spPr>
          <a:xfrm>
            <a:off x="4805172" y="146304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48051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48051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Act on the status</a:t>
            </a:r>
            <a:endParaRPr lang="en-US" sz="1200" dirty="0"/>
          </a:p>
        </p:txBody>
      </p:sp>
      <p:sp>
        <p:nvSpPr>
          <p:cNvPr id="20" name="Text 17"/>
          <p:cNvSpPr txBox="1"/>
          <p:nvPr/>
        </p:nvSpPr>
        <p:spPr>
          <a:xfrm>
            <a:off x="48051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Cancel, refund, or nothing if already cancelled.</a:t>
            </a:r>
            <a:endParaRPr lang="en-US" sz="950" dirty="0"/>
          </a:p>
        </p:txBody>
      </p:sp>
      <p:sp>
        <p:nvSpPr>
          <p:cNvPr id="21" name="Shape 18"/>
          <p:cNvSpPr/>
          <p:nvPr/>
        </p:nvSpPr>
        <p:spPr>
          <a:xfrm>
            <a:off x="6755130" y="1280160"/>
            <a:ext cx="1977390" cy="1828800"/>
          </a:xfrm>
          <a:prstGeom prst="roundRect">
            <a:avLst>
              <a:gd name="adj" fmla="val 4000"/>
            </a:avLst>
          </a:prstGeom>
          <a:solidFill>
            <a:srgbClr val="FFFFFF"/>
          </a:solidFill>
          <a:ln w="9525">
            <a:solidFill>
              <a:srgbClr val="DCE1E7"/>
            </a:solidFill>
            <a:prstDash val="solid"/>
          </a:ln>
        </p:spPr>
      </p:sp>
      <p:sp>
        <p:nvSpPr>
          <p:cNvPr id="22" name="Shape 19"/>
          <p:cNvSpPr/>
          <p:nvPr/>
        </p:nvSpPr>
        <p:spPr>
          <a:xfrm>
            <a:off x="6919722" y="1463040"/>
            <a:ext cx="274320" cy="274320"/>
          </a:xfrm>
          <a:prstGeom prst="ellipse">
            <a:avLst/>
          </a:prstGeom>
          <a:solidFill>
            <a:srgbClr val="E3F4F1"/>
          </a:solidFill>
          <a:ln w="12700">
            <a:solidFill>
              <a:srgbClr val="E3F4F1"/>
            </a:solidFill>
            <a:prstDash val="solid"/>
          </a:ln>
        </p:spPr>
      </p:sp>
      <p:sp>
        <p:nvSpPr>
          <p:cNvPr id="23" name="Text 20"/>
          <p:cNvSpPr txBox="1"/>
          <p:nvPr/>
        </p:nvSpPr>
        <p:spPr>
          <a:xfrm>
            <a:off x="691972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4" name="Text 21"/>
          <p:cNvSpPr txBox="1"/>
          <p:nvPr/>
        </p:nvSpPr>
        <p:spPr>
          <a:xfrm>
            <a:off x="69197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Soft ladder</a:t>
            </a:r>
            <a:endParaRPr lang="en-US" sz="1200" dirty="0"/>
          </a:p>
        </p:txBody>
      </p:sp>
      <p:sp>
        <p:nvSpPr>
          <p:cNvPr id="25" name="Text 22"/>
          <p:cNvSpPr txBox="1"/>
          <p:nvPr/>
        </p:nvSpPr>
        <p:spPr>
          <a:xfrm>
            <a:off x="69197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It's an admission: coach first.</a:t>
            </a:r>
            <a:endParaRPr lang="en-US" sz="950" dirty="0"/>
          </a:p>
        </p:txBody>
      </p:sp>
      <p:sp>
        <p:nvSpPr>
          <p:cNvPr id="26" name="Shape 23"/>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7" name="Image 0" descr="preencoded.png">    </p:cNvPr>
          <p:cNvPicPr>
            <a:picLocks noChangeAspect="1"/>
          </p:cNvPicPr>
          <p:nvPr/>
        </p:nvPicPr>
        <p:blipFill>
          <a:blip r:embed="rId1"/>
          <a:stretch>
            <a:fillRect/>
          </a:stretch>
        </p:blipFill>
        <p:spPr>
          <a:xfrm>
            <a:off x="566928" y="3401568"/>
            <a:ext cx="164592" cy="164592"/>
          </a:xfrm>
          <a:prstGeom prst="rect">
            <a:avLst/>
          </a:prstGeom>
        </p:spPr>
      </p:pic>
      <p:sp>
        <p:nvSpPr>
          <p:cNvPr id="28" name="Text 24"/>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Partial payment, still Pending Invoice?  </a:t>
            </a:r>
            <a:pPr indent="0" marL="0">
              <a:buNone/>
            </a:pPr>
            <a:r>
              <a:rPr lang="en-US" sz="1000" dirty="0">
                <a:solidFill>
                  <a:srgbClr val="1D1D1F"/>
                </a:solidFill>
                <a:latin typeface="SF Pro Text" pitchFamily="34" charset="0"/>
                <a:ea typeface="SF Pro Text" pitchFamily="34" charset="-122"/>
                <a:cs typeface="SF Pro Text" pitchFamily="34" charset="-120"/>
              </a:rPr>
              <a:t>invoice the remaining balance, based on CP Pay.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report on file</a:t>
            </a:r>
            <a:endParaRPr lang="en-US" sz="2400" dirty="0"/>
          </a:p>
        </p:txBody>
      </p:sp>
      <p:sp>
        <p:nvSpPr>
          <p:cNvPr id="5" name="Shape 2"/>
          <p:cNvSpPr/>
          <p:nvPr/>
        </p:nvSpPr>
        <p:spPr>
          <a:xfrm>
            <a:off x="6949440" y="502920"/>
            <a:ext cx="1783080" cy="365760"/>
          </a:xfrm>
          <a:prstGeom prst="roundRect">
            <a:avLst>
              <a:gd name="adj" fmla="val 20000"/>
            </a:avLst>
          </a:prstGeom>
          <a:solidFill>
            <a:srgbClr val="0B7A6F"/>
          </a:solidFill>
          <a:ln w="12700">
            <a:solidFill>
              <a:srgbClr val="0B7A6F"/>
            </a:solidFill>
            <a:prstDash val="solid"/>
          </a:ln>
        </p:spPr>
      </p:sp>
      <p:pic>
        <p:nvPicPr>
          <p:cNvPr id="6" name="Image 0" descr="preencoded.png">    </p:cNvPr>
          <p:cNvPicPr>
            <a:picLocks noChangeAspect="1"/>
          </p:cNvPicPr>
          <p:nvPr/>
        </p:nvPicPr>
        <p:blipFill>
          <a:blip r:embed="rId1"/>
          <a:stretch>
            <a:fillRect/>
          </a:stretch>
        </p:blipFill>
        <p:spPr>
          <a:xfrm>
            <a:off x="7086600" y="594360"/>
            <a:ext cx="182880" cy="182880"/>
          </a:xfrm>
          <a:prstGeom prst="rect">
            <a:avLst/>
          </a:prstGeom>
        </p:spPr>
      </p:pic>
      <p:sp>
        <p:nvSpPr>
          <p:cNvPr id="7" name="Text 3"/>
          <p:cNvSpPr txBox="1"/>
          <p:nvPr/>
        </p:nvSpPr>
        <p:spPr>
          <a:xfrm>
            <a:off x="7333488" y="502920"/>
            <a:ext cx="1325880" cy="365760"/>
          </a:xfrm>
          <a:prstGeom prst="rect">
            <a:avLst/>
          </a:prstGeom>
          <a:noFill/>
          <a:ln/>
        </p:spPr>
        <p:txBody>
          <a:bodyPr wrap="square" lIns="0" tIns="0" rIns="0" bIns="0" rtlCol="0" anchor="ctr"/>
          <a:lstStyle/>
          <a:p>
            <a:pPr indent="0" marL="0">
              <a:buNone/>
            </a:pPr>
            <a:r>
              <a:rPr lang="en-US" sz="1100" b="1" dirty="0">
                <a:solidFill>
                  <a:srgbClr val="FFFFFF"/>
                </a:solidFill>
                <a:latin typeface="SF Pro Display" pitchFamily="34" charset="0"/>
                <a:ea typeface="SF Pro Display" pitchFamily="34" charset="-122"/>
                <a:cs typeface="SF Pro Display" pitchFamily="34" charset="-120"/>
              </a:rPr>
              <a:t>Show details</a:t>
            </a:r>
            <a:endParaRPr lang="en-US" sz="1100" dirty="0"/>
          </a:p>
        </p:txBody>
      </p:sp>
      <p:sp>
        <p:nvSpPr>
          <p:cNvPr id="8" name="Shape 4"/>
          <p:cNvSpPr/>
          <p:nvPr/>
        </p:nvSpPr>
        <p:spPr>
          <a:xfrm>
            <a:off x="457200" y="1097280"/>
            <a:ext cx="3246120" cy="384048"/>
          </a:xfrm>
          <a:prstGeom prst="roundRect">
            <a:avLst>
              <a:gd name="adj" fmla="val 19048"/>
            </a:avLst>
          </a:prstGeom>
          <a:solidFill>
            <a:srgbClr val="1D1D1F"/>
          </a:solidFill>
          <a:ln w="12700">
            <a:solidFill>
              <a:srgbClr val="1D1D1F"/>
            </a:solidFill>
            <a:prstDash val="solid"/>
          </a:ln>
        </p:spPr>
      </p:sp>
      <p:sp>
        <p:nvSpPr>
          <p:cNvPr id="9" name="Text 5"/>
          <p:cNvSpPr txBox="1"/>
          <p:nvPr/>
        </p:nvSpPr>
        <p:spPr>
          <a:xfrm>
            <a:off x="457200" y="1097280"/>
            <a:ext cx="3246120"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Customer says they paid the CP cash</a:t>
            </a:r>
            <a:endParaRPr lang="en-US" sz="1000" dirty="0"/>
          </a:p>
        </p:txBody>
      </p:sp>
      <p:sp>
        <p:nvSpPr>
          <p:cNvPr id="10" name="Shape 6"/>
          <p:cNvSpPr/>
          <p:nvPr/>
        </p:nvSpPr>
        <p:spPr>
          <a:xfrm>
            <a:off x="2080260" y="1481328"/>
            <a:ext cx="0" cy="91440"/>
          </a:xfrm>
          <a:prstGeom prst="line">
            <a:avLst/>
          </a:prstGeom>
          <a:noFill/>
          <a:ln w="12700">
            <a:solidFill>
              <a:srgbClr val="6E6E73"/>
            </a:solidFill>
            <a:prstDash val="solid"/>
            <a:tailEnd type="triangle"/>
          </a:ln>
        </p:spPr>
      </p:sp>
      <p:sp>
        <p:nvSpPr>
          <p:cNvPr id="11" name="Shape 7"/>
          <p:cNvSpPr/>
          <p:nvPr/>
        </p:nvSpPr>
        <p:spPr>
          <a:xfrm>
            <a:off x="3703320" y="1289304"/>
            <a:ext cx="182880" cy="0"/>
          </a:xfrm>
          <a:prstGeom prst="line">
            <a:avLst/>
          </a:prstGeom>
          <a:noFill/>
          <a:ln w="12700">
            <a:solidFill>
              <a:srgbClr val="6E6E73"/>
            </a:solidFill>
            <a:prstDash val="solid"/>
          </a:ln>
        </p:spPr>
      </p:sp>
      <p:sp>
        <p:nvSpPr>
          <p:cNvPr id="12" name="type1Desc"/>
          <p:cNvSpPr txBox="1"/>
          <p:nvPr/>
        </p:nvSpPr>
        <p:spPr>
          <a:xfrm>
            <a:off x="3977640" y="1060704"/>
            <a:ext cx="498348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C-side agent: the customer contacted us first. The CP-side ticket may not be worked yet, or the CP never reported it.</a:t>
            </a:r>
            <a:endParaRPr lang="en-US" sz="850" dirty="0"/>
          </a:p>
        </p:txBody>
      </p:sp>
      <p:sp>
        <p:nvSpPr>
          <p:cNvPr id="13" name="Shape 9"/>
          <p:cNvSpPr/>
          <p:nvPr/>
        </p:nvSpPr>
        <p:spPr>
          <a:xfrm>
            <a:off x="457200" y="1572768"/>
            <a:ext cx="3246120" cy="384048"/>
          </a:xfrm>
          <a:prstGeom prst="roundRect">
            <a:avLst>
              <a:gd name="adj" fmla="val 19048"/>
            </a:avLst>
          </a:prstGeom>
          <a:solidFill>
            <a:srgbClr val="FFF3D6"/>
          </a:solidFill>
          <a:ln w="12700">
            <a:solidFill>
              <a:srgbClr val="9A6410"/>
            </a:solidFill>
            <a:prstDash val="solid"/>
          </a:ln>
        </p:spPr>
      </p:sp>
      <p:sp>
        <p:nvSpPr>
          <p:cNvPr id="14" name="Text 10"/>
          <p:cNvSpPr txBox="1"/>
          <p:nvPr/>
        </p:nvSpPr>
        <p:spPr>
          <a:xfrm>
            <a:off x="457200" y="1572768"/>
            <a:ext cx="3246120" cy="38404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Check CP CRM: report found</a:t>
            </a:r>
            <a:endParaRPr lang="en-US" sz="1000" dirty="0"/>
          </a:p>
        </p:txBody>
      </p:sp>
      <p:sp>
        <p:nvSpPr>
          <p:cNvPr id="15" name="Shape 11"/>
          <p:cNvSpPr/>
          <p:nvPr/>
        </p:nvSpPr>
        <p:spPr>
          <a:xfrm>
            <a:off x="2080260" y="1956816"/>
            <a:ext cx="0" cy="91440"/>
          </a:xfrm>
          <a:prstGeom prst="line">
            <a:avLst/>
          </a:prstGeom>
          <a:noFill/>
          <a:ln w="12700">
            <a:solidFill>
              <a:srgbClr val="6E6E73"/>
            </a:solidFill>
            <a:prstDash val="solid"/>
            <a:tailEnd type="triangle"/>
          </a:ln>
        </p:spPr>
      </p:sp>
      <p:sp>
        <p:nvSpPr>
          <p:cNvPr id="16" name="Shape 12"/>
          <p:cNvSpPr/>
          <p:nvPr/>
        </p:nvSpPr>
        <p:spPr>
          <a:xfrm>
            <a:off x="3703320" y="1764792"/>
            <a:ext cx="182880" cy="0"/>
          </a:xfrm>
          <a:prstGeom prst="line">
            <a:avLst/>
          </a:prstGeom>
          <a:noFill/>
          <a:ln w="12700">
            <a:solidFill>
              <a:srgbClr val="6E6E73"/>
            </a:solidFill>
            <a:prstDash val="solid"/>
          </a:ln>
        </p:spPr>
      </p:sp>
      <p:sp>
        <p:nvSpPr>
          <p:cNvPr id="17" name="type2Desc"/>
          <p:cNvSpPr txBox="1"/>
          <p:nvPr/>
        </p:nvSpPr>
        <p:spPr>
          <a:xfrm>
            <a:off x="3977640" y="1536192"/>
            <a:ext cx="498348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A cash-payment report is on file but not yet actioned. Resolve it yourself: no need to wait for the CP-side queue.</a:t>
            </a:r>
            <a:endParaRPr lang="en-US" sz="850" dirty="0"/>
          </a:p>
        </p:txBody>
      </p:sp>
      <p:sp>
        <p:nvSpPr>
          <p:cNvPr id="18" name="Shape 14"/>
          <p:cNvSpPr/>
          <p:nvPr/>
        </p:nvSpPr>
        <p:spPr>
          <a:xfrm>
            <a:off x="457200" y="2048256"/>
            <a:ext cx="3246120" cy="384048"/>
          </a:xfrm>
          <a:prstGeom prst="roundRect">
            <a:avLst>
              <a:gd name="adj" fmla="val 19048"/>
            </a:avLst>
          </a:prstGeom>
          <a:solidFill>
            <a:srgbClr val="0B7A6F"/>
          </a:solidFill>
          <a:ln w="12700">
            <a:solidFill>
              <a:srgbClr val="0B7A6F"/>
            </a:solidFill>
            <a:prstDash val="solid"/>
          </a:ln>
        </p:spPr>
      </p:sp>
      <p:sp>
        <p:nvSpPr>
          <p:cNvPr id="19" name="Text 15"/>
          <p:cNvSpPr txBox="1"/>
          <p:nvPr/>
        </p:nvSpPr>
        <p:spPr>
          <a:xfrm>
            <a:off x="457200" y="2048256"/>
            <a:ext cx="3246120"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Get the cash amount</a:t>
            </a:r>
            <a:endParaRPr lang="en-US" sz="1000" dirty="0"/>
          </a:p>
        </p:txBody>
      </p:sp>
      <p:sp>
        <p:nvSpPr>
          <p:cNvPr id="20" name="Shape 16"/>
          <p:cNvSpPr/>
          <p:nvPr/>
        </p:nvSpPr>
        <p:spPr>
          <a:xfrm>
            <a:off x="2080260" y="2432304"/>
            <a:ext cx="0" cy="91440"/>
          </a:xfrm>
          <a:prstGeom prst="line">
            <a:avLst/>
          </a:prstGeom>
          <a:noFill/>
          <a:ln w="12700">
            <a:solidFill>
              <a:srgbClr val="6E6E73"/>
            </a:solidFill>
            <a:prstDash val="solid"/>
            <a:tailEnd type="triangle"/>
          </a:ln>
        </p:spPr>
      </p:sp>
      <p:sp>
        <p:nvSpPr>
          <p:cNvPr id="21" name="Shape 17"/>
          <p:cNvSpPr/>
          <p:nvPr/>
        </p:nvSpPr>
        <p:spPr>
          <a:xfrm>
            <a:off x="3703320" y="2240280"/>
            <a:ext cx="182880" cy="0"/>
          </a:xfrm>
          <a:prstGeom prst="line">
            <a:avLst/>
          </a:prstGeom>
          <a:noFill/>
          <a:ln w="12700">
            <a:solidFill>
              <a:srgbClr val="6E6E73"/>
            </a:solidFill>
            <a:prstDash val="solid"/>
          </a:ln>
        </p:spPr>
      </p:sp>
      <p:sp>
        <p:nvSpPr>
          <p:cNvPr id="22" name="type3Desc"/>
          <p:cNvSpPr txBox="1"/>
          <p:nvPr/>
        </p:nvSpPr>
        <p:spPr>
          <a:xfrm>
            <a:off x="3977640" y="2011680"/>
            <a:ext cx="498348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Did the CP say how much they received? If not, contact the CP for a number (or a clear "paid in full") before doing anything else.</a:t>
            </a:r>
            <a:endParaRPr lang="en-US" sz="850" dirty="0"/>
          </a:p>
        </p:txBody>
      </p:sp>
      <p:sp>
        <p:nvSpPr>
          <p:cNvPr id="23" name="Shape 19"/>
          <p:cNvSpPr/>
          <p:nvPr/>
        </p:nvSpPr>
        <p:spPr>
          <a:xfrm>
            <a:off x="457200" y="2523744"/>
            <a:ext cx="3246120" cy="384048"/>
          </a:xfrm>
          <a:prstGeom prst="roundRect">
            <a:avLst>
              <a:gd name="adj" fmla="val 19048"/>
            </a:avLst>
          </a:prstGeom>
          <a:solidFill>
            <a:srgbClr val="FFF3D6"/>
          </a:solidFill>
          <a:ln w="12700">
            <a:solidFill>
              <a:srgbClr val="9A6410"/>
            </a:solidFill>
            <a:prstDash val="solid"/>
          </a:ln>
        </p:spPr>
      </p:sp>
      <p:sp>
        <p:nvSpPr>
          <p:cNvPr id="24" name="Text 20"/>
          <p:cNvSpPr txBox="1"/>
          <p:nvPr/>
        </p:nvSpPr>
        <p:spPr>
          <a:xfrm>
            <a:off x="457200" y="2523744"/>
            <a:ext cx="3246120" cy="38404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Still Pending Invoice?</a:t>
            </a:r>
            <a:endParaRPr lang="en-US" sz="1000" dirty="0"/>
          </a:p>
        </p:txBody>
      </p:sp>
      <p:sp>
        <p:nvSpPr>
          <p:cNvPr id="25" name="Shape 21"/>
          <p:cNvSpPr/>
          <p:nvPr/>
        </p:nvSpPr>
        <p:spPr>
          <a:xfrm>
            <a:off x="2080260" y="2907792"/>
            <a:ext cx="0" cy="91440"/>
          </a:xfrm>
          <a:prstGeom prst="line">
            <a:avLst/>
          </a:prstGeom>
          <a:noFill/>
          <a:ln w="12700">
            <a:solidFill>
              <a:srgbClr val="6E6E73"/>
            </a:solidFill>
            <a:prstDash val="solid"/>
            <a:tailEnd type="triangle"/>
          </a:ln>
        </p:spPr>
      </p:sp>
      <p:sp>
        <p:nvSpPr>
          <p:cNvPr id="26" name="Shape 22"/>
          <p:cNvSpPr/>
          <p:nvPr/>
        </p:nvSpPr>
        <p:spPr>
          <a:xfrm>
            <a:off x="3703320" y="2715768"/>
            <a:ext cx="182880" cy="0"/>
          </a:xfrm>
          <a:prstGeom prst="line">
            <a:avLst/>
          </a:prstGeom>
          <a:noFill/>
          <a:ln w="12700">
            <a:solidFill>
              <a:srgbClr val="6E6E73"/>
            </a:solidFill>
            <a:prstDash val="solid"/>
          </a:ln>
        </p:spPr>
      </p:sp>
      <p:sp>
        <p:nvSpPr>
          <p:cNvPr id="27" name="type4Desc"/>
          <p:cNvSpPr txBox="1"/>
          <p:nvPr/>
        </p:nvSpPr>
        <p:spPr>
          <a:xfrm>
            <a:off x="3977640" y="2487168"/>
            <a:ext cx="4983480" cy="457200"/>
          </a:xfrm>
          <a:prstGeom prst="rect">
            <a:avLst/>
          </a:prstGeom>
          <a:noFill/>
          <a:ln/>
        </p:spPr>
        <p:txBody>
          <a:bodyPr wrap="square" lIns="0" tIns="0" rIns="0" bIns="0" rtlCol="0" anchor="ctr"/>
          <a:lstStyle/>
          <a:p>
            <a:pPr indent="0" marL="0">
              <a:buNone/>
            </a:pPr>
            <a:r>
              <a:rPr lang="en-US" sz="750" dirty="0">
                <a:solidFill>
                  <a:srgbClr val="6E6E73"/>
                </a:solidFill>
                <a:latin typeface="SF Pro Text" pitchFamily="34" charset="0"/>
                <a:ea typeface="SF Pro Text" pitchFamily="34" charset="-122"/>
                <a:cs typeface="SF Pro Text" pitchFamily="34" charset="-120"/>
              </a:rPr>
              <a:t>Fully paid in cash? Cancel via C CRM: Reason code "does not want the service".</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Partial payment? Invoice the remaining balance instead.</a:t>
            </a:r>
            <a:endParaRPr lang="en-US" sz="750" dirty="0"/>
          </a:p>
        </p:txBody>
      </p:sp>
      <p:sp>
        <p:nvSpPr>
          <p:cNvPr id="28" name="Shape 24"/>
          <p:cNvSpPr/>
          <p:nvPr/>
        </p:nvSpPr>
        <p:spPr>
          <a:xfrm>
            <a:off x="457200" y="2999232"/>
            <a:ext cx="3246120" cy="384048"/>
          </a:xfrm>
          <a:prstGeom prst="roundRect">
            <a:avLst>
              <a:gd name="adj" fmla="val 19048"/>
            </a:avLst>
          </a:prstGeom>
          <a:solidFill>
            <a:srgbClr val="FFF3D6"/>
          </a:solidFill>
          <a:ln w="12700">
            <a:solidFill>
              <a:srgbClr val="9A6410"/>
            </a:solidFill>
            <a:prstDash val="solid"/>
          </a:ln>
        </p:spPr>
      </p:sp>
      <p:sp>
        <p:nvSpPr>
          <p:cNvPr id="29" name="Text 25"/>
          <p:cNvSpPr txBox="1"/>
          <p:nvPr/>
        </p:nvSpPr>
        <p:spPr>
          <a:xfrm>
            <a:off x="457200" y="2999232"/>
            <a:ext cx="3246120" cy="38404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Already Invoiced?</a:t>
            </a:r>
            <a:endParaRPr lang="en-US" sz="1000" dirty="0"/>
          </a:p>
        </p:txBody>
      </p:sp>
      <p:sp>
        <p:nvSpPr>
          <p:cNvPr id="30" name="Shape 26"/>
          <p:cNvSpPr/>
          <p:nvPr/>
        </p:nvSpPr>
        <p:spPr>
          <a:xfrm>
            <a:off x="2080260" y="3383280"/>
            <a:ext cx="0" cy="91440"/>
          </a:xfrm>
          <a:prstGeom prst="line">
            <a:avLst/>
          </a:prstGeom>
          <a:noFill/>
          <a:ln w="12700">
            <a:solidFill>
              <a:srgbClr val="6E6E73"/>
            </a:solidFill>
            <a:prstDash val="solid"/>
            <a:tailEnd type="triangle"/>
          </a:ln>
        </p:spPr>
      </p:sp>
      <p:sp>
        <p:nvSpPr>
          <p:cNvPr id="31" name="Shape 27"/>
          <p:cNvSpPr/>
          <p:nvPr/>
        </p:nvSpPr>
        <p:spPr>
          <a:xfrm>
            <a:off x="3703320" y="3191256"/>
            <a:ext cx="182880" cy="0"/>
          </a:xfrm>
          <a:prstGeom prst="line">
            <a:avLst/>
          </a:prstGeom>
          <a:noFill/>
          <a:ln w="12700">
            <a:solidFill>
              <a:srgbClr val="6E6E73"/>
            </a:solidFill>
            <a:prstDash val="solid"/>
          </a:ln>
        </p:spPr>
      </p:sp>
      <p:sp>
        <p:nvSpPr>
          <p:cNvPr id="32" name="type5Desc"/>
          <p:cNvSpPr txBox="1"/>
          <p:nvPr/>
        </p:nvSpPr>
        <p:spPr>
          <a:xfrm>
            <a:off x="3977640" y="2962656"/>
            <a:ext cx="4983480" cy="457200"/>
          </a:xfrm>
          <a:prstGeom prst="rect">
            <a:avLst/>
          </a:prstGeom>
          <a:noFill/>
          <a:ln/>
        </p:spPr>
        <p:txBody>
          <a:bodyPr wrap="square" lIns="0" tIns="0" rIns="0" bIns="0" rtlCol="0" anchor="ctr"/>
          <a:lstStyle/>
          <a:p>
            <a:pPr indent="0" marL="0">
              <a:buNone/>
            </a:pPr>
            <a:r>
              <a:rPr lang="en-US" sz="750" dirty="0">
                <a:solidFill>
                  <a:srgbClr val="6E6E73"/>
                </a:solidFill>
                <a:latin typeface="SF Pro Text" pitchFamily="34" charset="0"/>
                <a:ea typeface="SF Pro Text" pitchFamily="34" charset="-122"/>
                <a:cs typeface="SF Pro Text" pitchFamily="34" charset="-120"/>
              </a:rPr>
              <a:t>Fully paid in cash? Refund via the CP Dashboard.</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Partial payment? Admin refund the cash-paid portion (based on CP Pay, not C Price) + a CP Holdback for the same amount.</a:t>
            </a:r>
            <a:endParaRPr lang="en-US" sz="750" dirty="0"/>
          </a:p>
        </p:txBody>
      </p:sp>
      <p:sp>
        <p:nvSpPr>
          <p:cNvPr id="33" name="Shape 29"/>
          <p:cNvSpPr/>
          <p:nvPr/>
        </p:nvSpPr>
        <p:spPr>
          <a:xfrm>
            <a:off x="457200" y="3474720"/>
            <a:ext cx="3246120" cy="384048"/>
          </a:xfrm>
          <a:prstGeom prst="roundRect">
            <a:avLst>
              <a:gd name="adj" fmla="val 19048"/>
            </a:avLst>
          </a:prstGeom>
          <a:solidFill>
            <a:srgbClr val="FFFFFF"/>
          </a:solidFill>
          <a:ln w="12700">
            <a:solidFill>
              <a:srgbClr val="DCE1E7"/>
            </a:solidFill>
            <a:prstDash val="solid"/>
          </a:ln>
        </p:spPr>
      </p:sp>
      <p:sp>
        <p:nvSpPr>
          <p:cNvPr id="34" name="Text 30"/>
          <p:cNvSpPr txBox="1"/>
          <p:nvPr/>
        </p:nvSpPr>
        <p:spPr>
          <a:xfrm>
            <a:off x="457200" y="3474720"/>
            <a:ext cx="3246120" cy="384048"/>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Apply the soft ladder</a:t>
            </a:r>
            <a:endParaRPr lang="en-US" sz="1000" dirty="0"/>
          </a:p>
        </p:txBody>
      </p:sp>
      <p:sp>
        <p:nvSpPr>
          <p:cNvPr id="35" name="Shape 31"/>
          <p:cNvSpPr/>
          <p:nvPr/>
        </p:nvSpPr>
        <p:spPr>
          <a:xfrm>
            <a:off x="3703320" y="3666744"/>
            <a:ext cx="182880" cy="0"/>
          </a:xfrm>
          <a:prstGeom prst="line">
            <a:avLst/>
          </a:prstGeom>
          <a:noFill/>
          <a:ln w="12700">
            <a:solidFill>
              <a:srgbClr val="6E6E73"/>
            </a:solidFill>
            <a:prstDash val="solid"/>
          </a:ln>
        </p:spPr>
      </p:sp>
      <p:sp>
        <p:nvSpPr>
          <p:cNvPr id="36" name="type6Desc"/>
          <p:cNvSpPr txBox="1"/>
          <p:nvPr/>
        </p:nvSpPr>
        <p:spPr>
          <a:xfrm>
            <a:off x="3977640" y="3438144"/>
            <a:ext cx="498348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It's a CP admission, just one a C-side agent is closing out. Use the soft ladder on the penalty ladder slide.</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41</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type="lt">
                                    <p:tmAbs val="40"/>
                                  </p:iterate>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type="lt">
                                    <p:tmAbs val="40"/>
                                  </p:iterate>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type="lt">
                                    <p:tmAbs val="40"/>
                                  </p:iterate>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iterate type="lt">
                                    <p:tmAbs val="40"/>
                                  </p:iterate>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iterate type="lt">
                                    <p:tmAbs val="40"/>
                                  </p:iterate>
                                  <p:childTnLst>
                                    <p:set>
                                      <p:cBhvr>
                                        <p:cTn id="22" dur="1" fill="hold">
                                          <p:stCondLst>
                                            <p:cond delay="0"/>
                                          </p:stCondLst>
                                        </p:cTn>
                                        <p:tgtEl>
                                          <p:spTgt spid="3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iterate type="lt">
                                    <p:tmAbs val="40"/>
                                  </p:iterate>
                                  <p:childTnLst>
                                    <p:set>
                                      <p:cBhvr>
                                        <p:cTn id="26"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7" grpId="0" animBg="1"/>
      <p:bldP spid="22" grpId="0" animBg="1"/>
      <p:bldP spid="27" grpId="0" animBg="1"/>
      <p:bldP spid="32" grpId="0" animBg="1"/>
      <p:bldP spid="36"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nothing on file</a:t>
            </a:r>
            <a:endParaRPr lang="en-US" sz="2400" dirty="0"/>
          </a:p>
        </p:txBody>
      </p:sp>
      <p:sp>
        <p:nvSpPr>
          <p:cNvPr id="5" name="Shape 2"/>
          <p:cNvSpPr/>
          <p:nvPr/>
        </p:nvSpPr>
        <p:spPr>
          <a:xfrm>
            <a:off x="6949440" y="502920"/>
            <a:ext cx="1783080" cy="365760"/>
          </a:xfrm>
          <a:prstGeom prst="roundRect">
            <a:avLst>
              <a:gd name="adj" fmla="val 20000"/>
            </a:avLst>
          </a:prstGeom>
          <a:solidFill>
            <a:srgbClr val="0B7A6F"/>
          </a:solidFill>
          <a:ln w="12700">
            <a:solidFill>
              <a:srgbClr val="0B7A6F"/>
            </a:solidFill>
            <a:prstDash val="solid"/>
          </a:ln>
        </p:spPr>
      </p:sp>
      <p:pic>
        <p:nvPicPr>
          <p:cNvPr id="6" name="Image 0" descr="preencoded.png">    </p:cNvPr>
          <p:cNvPicPr>
            <a:picLocks noChangeAspect="1"/>
          </p:cNvPicPr>
          <p:nvPr/>
        </p:nvPicPr>
        <p:blipFill>
          <a:blip r:embed="rId1"/>
          <a:stretch>
            <a:fillRect/>
          </a:stretch>
        </p:blipFill>
        <p:spPr>
          <a:xfrm>
            <a:off x="7086600" y="594360"/>
            <a:ext cx="182880" cy="182880"/>
          </a:xfrm>
          <a:prstGeom prst="rect">
            <a:avLst/>
          </a:prstGeom>
        </p:spPr>
      </p:pic>
      <p:sp>
        <p:nvSpPr>
          <p:cNvPr id="7" name="Text 3"/>
          <p:cNvSpPr txBox="1"/>
          <p:nvPr/>
        </p:nvSpPr>
        <p:spPr>
          <a:xfrm>
            <a:off x="7333488" y="502920"/>
            <a:ext cx="1325880" cy="365760"/>
          </a:xfrm>
          <a:prstGeom prst="rect">
            <a:avLst/>
          </a:prstGeom>
          <a:noFill/>
          <a:ln/>
        </p:spPr>
        <p:txBody>
          <a:bodyPr wrap="square" lIns="0" tIns="0" rIns="0" bIns="0" rtlCol="0" anchor="ctr"/>
          <a:lstStyle/>
          <a:p>
            <a:pPr indent="0" marL="0">
              <a:buNone/>
            </a:pPr>
            <a:r>
              <a:rPr lang="en-US" sz="1100" b="1" dirty="0">
                <a:solidFill>
                  <a:srgbClr val="FFFFFF"/>
                </a:solidFill>
                <a:latin typeface="SF Pro Display" pitchFamily="34" charset="0"/>
                <a:ea typeface="SF Pro Display" pitchFamily="34" charset="-122"/>
                <a:cs typeface="SF Pro Display" pitchFamily="34" charset="-120"/>
              </a:rPr>
              <a:t>Show details</a:t>
            </a:r>
            <a:endParaRPr lang="en-US" sz="1100" dirty="0"/>
          </a:p>
        </p:txBody>
      </p:sp>
      <p:sp>
        <p:nvSpPr>
          <p:cNvPr id="8" name="Shape 4"/>
          <p:cNvSpPr/>
          <p:nvPr/>
        </p:nvSpPr>
        <p:spPr>
          <a:xfrm>
            <a:off x="457200" y="1097280"/>
            <a:ext cx="3246120" cy="310896"/>
          </a:xfrm>
          <a:prstGeom prst="roundRect">
            <a:avLst>
              <a:gd name="adj" fmla="val 23529"/>
            </a:avLst>
          </a:prstGeom>
          <a:solidFill>
            <a:srgbClr val="1D1D1F"/>
          </a:solidFill>
          <a:ln w="12700">
            <a:solidFill>
              <a:srgbClr val="1D1D1F"/>
            </a:solidFill>
            <a:prstDash val="solid"/>
          </a:ln>
        </p:spPr>
      </p:sp>
      <p:sp>
        <p:nvSpPr>
          <p:cNvPr id="9" name="Text 5"/>
          <p:cNvSpPr txBox="1"/>
          <p:nvPr/>
        </p:nvSpPr>
        <p:spPr>
          <a:xfrm>
            <a:off x="457200" y="1097280"/>
            <a:ext cx="324612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Customer says they paid the CP cash</a:t>
            </a:r>
            <a:endParaRPr lang="en-US" sz="1000" dirty="0"/>
          </a:p>
        </p:txBody>
      </p:sp>
      <p:sp>
        <p:nvSpPr>
          <p:cNvPr id="10" name="Shape 6"/>
          <p:cNvSpPr/>
          <p:nvPr/>
        </p:nvSpPr>
        <p:spPr>
          <a:xfrm>
            <a:off x="2080260" y="1408176"/>
            <a:ext cx="0" cy="91440"/>
          </a:xfrm>
          <a:prstGeom prst="line">
            <a:avLst/>
          </a:prstGeom>
          <a:noFill/>
          <a:ln w="12700">
            <a:solidFill>
              <a:srgbClr val="6E6E73"/>
            </a:solidFill>
            <a:prstDash val="solid"/>
            <a:tailEnd type="triangle"/>
          </a:ln>
        </p:spPr>
      </p:sp>
      <p:sp>
        <p:nvSpPr>
          <p:cNvPr id="11" name="Shape 7"/>
          <p:cNvSpPr/>
          <p:nvPr/>
        </p:nvSpPr>
        <p:spPr>
          <a:xfrm>
            <a:off x="3703320" y="1252728"/>
            <a:ext cx="182880" cy="0"/>
          </a:xfrm>
          <a:prstGeom prst="line">
            <a:avLst/>
          </a:prstGeom>
          <a:noFill/>
          <a:ln w="12700">
            <a:solidFill>
              <a:srgbClr val="6E6E73"/>
            </a:solidFill>
            <a:prstDash val="solid"/>
          </a:ln>
        </p:spPr>
      </p:sp>
      <p:sp>
        <p:nvSpPr>
          <p:cNvPr id="12" name="type1Desc"/>
          <p:cNvSpPr txBox="1"/>
          <p:nvPr/>
        </p:nvSpPr>
        <p:spPr>
          <a:xfrm>
            <a:off x="3977640" y="1060704"/>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C-side agent: the customer contacted us first. The CP-side ticket may not be worked yet, or the CP never reported it.</a:t>
            </a:r>
            <a:endParaRPr lang="en-US" sz="850" dirty="0"/>
          </a:p>
        </p:txBody>
      </p:sp>
      <p:sp>
        <p:nvSpPr>
          <p:cNvPr id="13" name="Shape 9"/>
          <p:cNvSpPr/>
          <p:nvPr/>
        </p:nvSpPr>
        <p:spPr>
          <a:xfrm>
            <a:off x="457200" y="1499616"/>
            <a:ext cx="3246120" cy="310896"/>
          </a:xfrm>
          <a:prstGeom prst="roundRect">
            <a:avLst>
              <a:gd name="adj" fmla="val 23529"/>
            </a:avLst>
          </a:prstGeom>
          <a:solidFill>
            <a:srgbClr val="FFF3D6"/>
          </a:solidFill>
          <a:ln w="12700">
            <a:solidFill>
              <a:srgbClr val="9A6410"/>
            </a:solidFill>
            <a:prstDash val="solid"/>
          </a:ln>
        </p:spPr>
      </p:sp>
      <p:sp>
        <p:nvSpPr>
          <p:cNvPr id="14" name="Text 10"/>
          <p:cNvSpPr txBox="1"/>
          <p:nvPr/>
        </p:nvSpPr>
        <p:spPr>
          <a:xfrm>
            <a:off x="457200" y="1499616"/>
            <a:ext cx="3246120" cy="310896"/>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Check CP CRM: nothing on file</a:t>
            </a:r>
            <a:endParaRPr lang="en-US" sz="1000" dirty="0"/>
          </a:p>
        </p:txBody>
      </p:sp>
      <p:sp>
        <p:nvSpPr>
          <p:cNvPr id="15" name="Shape 11"/>
          <p:cNvSpPr/>
          <p:nvPr/>
        </p:nvSpPr>
        <p:spPr>
          <a:xfrm>
            <a:off x="2080260" y="1810512"/>
            <a:ext cx="0" cy="91440"/>
          </a:xfrm>
          <a:prstGeom prst="line">
            <a:avLst/>
          </a:prstGeom>
          <a:noFill/>
          <a:ln w="12700">
            <a:solidFill>
              <a:srgbClr val="6E6E73"/>
            </a:solidFill>
            <a:prstDash val="solid"/>
            <a:tailEnd type="triangle"/>
          </a:ln>
        </p:spPr>
      </p:sp>
      <p:sp>
        <p:nvSpPr>
          <p:cNvPr id="16" name="Shape 12"/>
          <p:cNvSpPr/>
          <p:nvPr/>
        </p:nvSpPr>
        <p:spPr>
          <a:xfrm>
            <a:off x="3703320" y="1655064"/>
            <a:ext cx="182880" cy="0"/>
          </a:xfrm>
          <a:prstGeom prst="line">
            <a:avLst/>
          </a:prstGeom>
          <a:noFill/>
          <a:ln w="12700">
            <a:solidFill>
              <a:srgbClr val="6E6E73"/>
            </a:solidFill>
            <a:prstDash val="solid"/>
          </a:ln>
        </p:spPr>
      </p:sp>
      <p:sp>
        <p:nvSpPr>
          <p:cNvPr id="17" name="type2Desc"/>
          <p:cNvSpPr txBox="1"/>
          <p:nvPr/>
        </p:nvSpPr>
        <p:spPr>
          <a:xfrm>
            <a:off x="3977640" y="1463040"/>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No report from CP. Treat it like any other unconfirmed claim.</a:t>
            </a:r>
            <a:endParaRPr lang="en-US" sz="850" dirty="0"/>
          </a:p>
        </p:txBody>
      </p:sp>
      <p:sp>
        <p:nvSpPr>
          <p:cNvPr id="18" name="Shape 14"/>
          <p:cNvSpPr/>
          <p:nvPr/>
        </p:nvSpPr>
        <p:spPr>
          <a:xfrm>
            <a:off x="457200" y="1901952"/>
            <a:ext cx="3246120" cy="310896"/>
          </a:xfrm>
          <a:prstGeom prst="roundRect">
            <a:avLst>
              <a:gd name="adj" fmla="val 23529"/>
            </a:avLst>
          </a:prstGeom>
          <a:solidFill>
            <a:srgbClr val="0B7A6F"/>
          </a:solidFill>
          <a:ln w="12700">
            <a:solidFill>
              <a:srgbClr val="0B7A6F"/>
            </a:solidFill>
            <a:prstDash val="solid"/>
          </a:ln>
        </p:spPr>
      </p:sp>
      <p:sp>
        <p:nvSpPr>
          <p:cNvPr id="19" name="Text 15"/>
          <p:cNvSpPr txBox="1"/>
          <p:nvPr/>
        </p:nvSpPr>
        <p:spPr>
          <a:xfrm>
            <a:off x="457200" y="1901952"/>
            <a:ext cx="324612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Ask C for proof</a:t>
            </a:r>
            <a:endParaRPr lang="en-US" sz="1000" dirty="0"/>
          </a:p>
        </p:txBody>
      </p:sp>
      <p:sp>
        <p:nvSpPr>
          <p:cNvPr id="20" name="Shape 16"/>
          <p:cNvSpPr/>
          <p:nvPr/>
        </p:nvSpPr>
        <p:spPr>
          <a:xfrm>
            <a:off x="2080260" y="2212848"/>
            <a:ext cx="0" cy="91440"/>
          </a:xfrm>
          <a:prstGeom prst="line">
            <a:avLst/>
          </a:prstGeom>
          <a:noFill/>
          <a:ln w="12700">
            <a:solidFill>
              <a:srgbClr val="6E6E73"/>
            </a:solidFill>
            <a:prstDash val="solid"/>
            <a:tailEnd type="triangle"/>
          </a:ln>
        </p:spPr>
      </p:sp>
      <p:sp>
        <p:nvSpPr>
          <p:cNvPr id="21" name="Shape 17"/>
          <p:cNvSpPr/>
          <p:nvPr/>
        </p:nvSpPr>
        <p:spPr>
          <a:xfrm>
            <a:off x="3703320" y="2057400"/>
            <a:ext cx="182880" cy="0"/>
          </a:xfrm>
          <a:prstGeom prst="line">
            <a:avLst/>
          </a:prstGeom>
          <a:noFill/>
          <a:ln w="12700">
            <a:solidFill>
              <a:srgbClr val="6E6E73"/>
            </a:solidFill>
            <a:prstDash val="solid"/>
          </a:ln>
        </p:spPr>
      </p:sp>
      <p:sp>
        <p:nvSpPr>
          <p:cNvPr id="22" name="type3Desc"/>
          <p:cNvSpPr txBox="1"/>
          <p:nvPr/>
        </p:nvSpPr>
        <p:spPr>
          <a:xfrm>
            <a:off x="3977640" y="1865376"/>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Encourage proof, don't require it.</a:t>
            </a:r>
            <a:endParaRPr lang="en-US" sz="850" dirty="0"/>
          </a:p>
        </p:txBody>
      </p:sp>
      <p:sp>
        <p:nvSpPr>
          <p:cNvPr id="23" name="Shape 19"/>
          <p:cNvSpPr/>
          <p:nvPr/>
        </p:nvSpPr>
        <p:spPr>
          <a:xfrm>
            <a:off x="457200" y="2304288"/>
            <a:ext cx="3246120" cy="310896"/>
          </a:xfrm>
          <a:prstGeom prst="roundRect">
            <a:avLst>
              <a:gd name="adj" fmla="val 23529"/>
            </a:avLst>
          </a:prstGeom>
          <a:solidFill>
            <a:srgbClr val="0B7A6F"/>
          </a:solidFill>
          <a:ln w="12700">
            <a:solidFill>
              <a:srgbClr val="0B7A6F"/>
            </a:solidFill>
            <a:prstDash val="solid"/>
          </a:ln>
        </p:spPr>
      </p:sp>
      <p:sp>
        <p:nvSpPr>
          <p:cNvPr id="24" name="Text 20"/>
          <p:cNvSpPr txBox="1"/>
          <p:nvPr/>
        </p:nvSpPr>
        <p:spPr>
          <a:xfrm>
            <a:off x="457200" y="2304288"/>
            <a:ext cx="324612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Contact the CP</a:t>
            </a:r>
            <a:endParaRPr lang="en-US" sz="1000" dirty="0"/>
          </a:p>
        </p:txBody>
      </p:sp>
      <p:sp>
        <p:nvSpPr>
          <p:cNvPr id="25" name="Shape 21"/>
          <p:cNvSpPr/>
          <p:nvPr/>
        </p:nvSpPr>
        <p:spPr>
          <a:xfrm>
            <a:off x="2080260" y="2615184"/>
            <a:ext cx="0" cy="91440"/>
          </a:xfrm>
          <a:prstGeom prst="line">
            <a:avLst/>
          </a:prstGeom>
          <a:noFill/>
          <a:ln w="12700">
            <a:solidFill>
              <a:srgbClr val="6E6E73"/>
            </a:solidFill>
            <a:prstDash val="solid"/>
            <a:tailEnd type="triangle"/>
          </a:ln>
        </p:spPr>
      </p:sp>
      <p:sp>
        <p:nvSpPr>
          <p:cNvPr id="26" name="Shape 22"/>
          <p:cNvSpPr/>
          <p:nvPr/>
        </p:nvSpPr>
        <p:spPr>
          <a:xfrm>
            <a:off x="3703320" y="2459736"/>
            <a:ext cx="182880" cy="0"/>
          </a:xfrm>
          <a:prstGeom prst="line">
            <a:avLst/>
          </a:prstGeom>
          <a:noFill/>
          <a:ln w="12700">
            <a:solidFill>
              <a:srgbClr val="6E6E73"/>
            </a:solidFill>
            <a:prstDash val="solid"/>
          </a:ln>
        </p:spPr>
      </p:sp>
      <p:sp>
        <p:nvSpPr>
          <p:cNvPr id="27" name="type4Desc"/>
          <p:cNvSpPr txBox="1"/>
          <p:nvPr/>
        </p:nvSpPr>
        <p:spPr>
          <a:xfrm>
            <a:off x="3977640" y="2267712"/>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Call within business hours (8AM–8PM CP local time). No answer: SMS. Outside business hours: email.</a:t>
            </a:r>
            <a:endParaRPr lang="en-US" sz="850" dirty="0"/>
          </a:p>
        </p:txBody>
      </p:sp>
      <p:sp>
        <p:nvSpPr>
          <p:cNvPr id="28" name="Shape 24"/>
          <p:cNvSpPr/>
          <p:nvPr/>
        </p:nvSpPr>
        <p:spPr>
          <a:xfrm>
            <a:off x="457200" y="2706624"/>
            <a:ext cx="3246120" cy="310896"/>
          </a:xfrm>
          <a:prstGeom prst="roundRect">
            <a:avLst>
              <a:gd name="adj" fmla="val 23529"/>
            </a:avLst>
          </a:prstGeom>
          <a:solidFill>
            <a:srgbClr val="0B7A6F"/>
          </a:solidFill>
          <a:ln w="12700">
            <a:solidFill>
              <a:srgbClr val="0B7A6F"/>
            </a:solidFill>
            <a:prstDash val="solid"/>
          </a:ln>
        </p:spPr>
      </p:sp>
      <p:sp>
        <p:nvSpPr>
          <p:cNvPr id="29" name="Text 25"/>
          <p:cNvSpPr txBox="1"/>
          <p:nvPr/>
        </p:nvSpPr>
        <p:spPr>
          <a:xfrm>
            <a:off x="457200" y="2706624"/>
            <a:ext cx="324612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Set a 48-hour Timed Reminder</a:t>
            </a:r>
            <a:endParaRPr lang="en-US" sz="1000" dirty="0"/>
          </a:p>
        </p:txBody>
      </p:sp>
      <p:sp>
        <p:nvSpPr>
          <p:cNvPr id="30" name="Shape 26"/>
          <p:cNvSpPr/>
          <p:nvPr/>
        </p:nvSpPr>
        <p:spPr>
          <a:xfrm>
            <a:off x="2080260" y="3017520"/>
            <a:ext cx="0" cy="91440"/>
          </a:xfrm>
          <a:prstGeom prst="line">
            <a:avLst/>
          </a:prstGeom>
          <a:noFill/>
          <a:ln w="12700">
            <a:solidFill>
              <a:srgbClr val="6E6E73"/>
            </a:solidFill>
            <a:prstDash val="solid"/>
            <a:tailEnd type="triangle"/>
          </a:ln>
        </p:spPr>
      </p:sp>
      <p:sp>
        <p:nvSpPr>
          <p:cNvPr id="31" name="Shape 27"/>
          <p:cNvSpPr/>
          <p:nvPr/>
        </p:nvSpPr>
        <p:spPr>
          <a:xfrm>
            <a:off x="3703320" y="2862072"/>
            <a:ext cx="182880" cy="0"/>
          </a:xfrm>
          <a:prstGeom prst="line">
            <a:avLst/>
          </a:prstGeom>
          <a:noFill/>
          <a:ln w="12700">
            <a:solidFill>
              <a:srgbClr val="6E6E73"/>
            </a:solidFill>
            <a:prstDash val="solid"/>
          </a:ln>
        </p:spPr>
      </p:sp>
      <p:sp>
        <p:nvSpPr>
          <p:cNvPr id="32" name="type5Desc"/>
          <p:cNvSpPr txBox="1"/>
          <p:nvPr/>
        </p:nvSpPr>
        <p:spPr>
          <a:xfrm>
            <a:off x="3977640" y="2670048"/>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Pick the ticket back up when it triggers.</a:t>
            </a:r>
            <a:endParaRPr lang="en-US" sz="850" dirty="0"/>
          </a:p>
        </p:txBody>
      </p:sp>
      <p:sp>
        <p:nvSpPr>
          <p:cNvPr id="33" name="Shape 29"/>
          <p:cNvSpPr/>
          <p:nvPr/>
        </p:nvSpPr>
        <p:spPr>
          <a:xfrm>
            <a:off x="457200" y="3108960"/>
            <a:ext cx="3246120" cy="429768"/>
          </a:xfrm>
          <a:prstGeom prst="roundRect">
            <a:avLst>
              <a:gd name="adj" fmla="val 17021"/>
            </a:avLst>
          </a:prstGeom>
          <a:solidFill>
            <a:srgbClr val="0B7A6F"/>
          </a:solidFill>
          <a:ln w="12700">
            <a:solidFill>
              <a:srgbClr val="0B7A6F"/>
            </a:solidFill>
            <a:prstDash val="solid"/>
          </a:ln>
        </p:spPr>
      </p:sp>
      <p:sp>
        <p:nvSpPr>
          <p:cNvPr id="34" name="Text 30"/>
          <p:cNvSpPr txBox="1"/>
          <p:nvPr/>
        </p:nvSpPr>
        <p:spPr>
          <a:xfrm>
            <a:off x="457200" y="3108960"/>
            <a:ext cx="3246120" cy="42976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 provides proof → hard ladder</a:t>
            </a:r>
            <a:endParaRPr lang="en-US" sz="1000" dirty="0"/>
          </a:p>
        </p:txBody>
      </p:sp>
      <p:sp>
        <p:nvSpPr>
          <p:cNvPr id="35" name="Shape 31"/>
          <p:cNvSpPr/>
          <p:nvPr/>
        </p:nvSpPr>
        <p:spPr>
          <a:xfrm>
            <a:off x="2080260" y="3538728"/>
            <a:ext cx="0" cy="91440"/>
          </a:xfrm>
          <a:prstGeom prst="line">
            <a:avLst/>
          </a:prstGeom>
          <a:noFill/>
          <a:ln w="12700">
            <a:solidFill>
              <a:srgbClr val="6E6E73"/>
            </a:solidFill>
            <a:prstDash val="solid"/>
            <a:tailEnd type="triangle"/>
          </a:ln>
        </p:spPr>
      </p:sp>
      <p:sp>
        <p:nvSpPr>
          <p:cNvPr id="36" name="Shape 32"/>
          <p:cNvSpPr/>
          <p:nvPr/>
        </p:nvSpPr>
        <p:spPr>
          <a:xfrm>
            <a:off x="3703320" y="3323844"/>
            <a:ext cx="182880" cy="0"/>
          </a:xfrm>
          <a:prstGeom prst="line">
            <a:avLst/>
          </a:prstGeom>
          <a:noFill/>
          <a:ln w="12700">
            <a:solidFill>
              <a:srgbClr val="6E6E73"/>
            </a:solidFill>
            <a:prstDash val="solid"/>
          </a:ln>
        </p:spPr>
      </p:sp>
      <p:sp>
        <p:nvSpPr>
          <p:cNvPr id="37" name="type6Desc"/>
          <p:cNvSpPr txBox="1"/>
          <p:nvPr/>
        </p:nvSpPr>
        <p:spPr>
          <a:xfrm>
            <a:off x="3977640" y="3072384"/>
            <a:ext cx="4983480" cy="502920"/>
          </a:xfrm>
          <a:prstGeom prst="rect">
            <a:avLst/>
          </a:prstGeom>
          <a:noFill/>
          <a:ln/>
        </p:spPr>
        <p:txBody>
          <a:bodyPr wrap="square" lIns="0" tIns="0" rIns="0" bIns="0" rtlCol="0" anchor="ctr"/>
          <a:lstStyle/>
          <a:p>
            <a:pPr indent="0" marL="0">
              <a:buNone/>
            </a:pPr>
            <a:r>
              <a:rPr lang="en-US" sz="750" dirty="0">
                <a:solidFill>
                  <a:srgbClr val="6E6E73"/>
                </a:solidFill>
                <a:latin typeface="SF Pro Text" pitchFamily="34" charset="0"/>
                <a:ea typeface="SF Pro Text" pitchFamily="34" charset="-122"/>
                <a:cs typeface="SF Pro Text" pitchFamily="34" charset="-120"/>
              </a:rPr>
              <a:t>Pending Invoice: cancel from CCRM (full) or invoice remaining balance (partial)</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Invoiced: Refund from CP Dashboard (full) or admin refund + CP holdback (partial)</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Hard ladder penalty</a:t>
            </a:r>
            <a:endParaRPr lang="en-US" sz="750" dirty="0"/>
          </a:p>
        </p:txBody>
      </p:sp>
      <p:sp>
        <p:nvSpPr>
          <p:cNvPr id="38" name="Shape 34"/>
          <p:cNvSpPr/>
          <p:nvPr/>
        </p:nvSpPr>
        <p:spPr>
          <a:xfrm>
            <a:off x="457200" y="3630168"/>
            <a:ext cx="3246120" cy="548640"/>
          </a:xfrm>
          <a:prstGeom prst="roundRect">
            <a:avLst>
              <a:gd name="adj" fmla="val 13333"/>
            </a:avLst>
          </a:prstGeom>
          <a:solidFill>
            <a:srgbClr val="0B7A6F"/>
          </a:solidFill>
          <a:ln w="12700">
            <a:solidFill>
              <a:srgbClr val="0B7A6F"/>
            </a:solidFill>
            <a:prstDash val="solid"/>
          </a:ln>
        </p:spPr>
      </p:sp>
      <p:sp>
        <p:nvSpPr>
          <p:cNvPr id="39" name="Text 35"/>
          <p:cNvSpPr txBox="1"/>
          <p:nvPr/>
        </p:nvSpPr>
        <p:spPr>
          <a:xfrm>
            <a:off x="457200" y="3630168"/>
            <a:ext cx="324612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No proof from C but CP admits it → soft ladder</a:t>
            </a:r>
            <a:endParaRPr lang="en-US" sz="1000" dirty="0"/>
          </a:p>
        </p:txBody>
      </p:sp>
      <p:sp>
        <p:nvSpPr>
          <p:cNvPr id="40" name="Shape 36"/>
          <p:cNvSpPr/>
          <p:nvPr/>
        </p:nvSpPr>
        <p:spPr>
          <a:xfrm>
            <a:off x="2080260" y="4178808"/>
            <a:ext cx="0" cy="91440"/>
          </a:xfrm>
          <a:prstGeom prst="line">
            <a:avLst/>
          </a:prstGeom>
          <a:noFill/>
          <a:ln w="12700">
            <a:solidFill>
              <a:srgbClr val="6E6E73"/>
            </a:solidFill>
            <a:prstDash val="solid"/>
            <a:tailEnd type="triangle"/>
          </a:ln>
        </p:spPr>
      </p:sp>
      <p:sp>
        <p:nvSpPr>
          <p:cNvPr id="41" name="Shape 37"/>
          <p:cNvSpPr/>
          <p:nvPr/>
        </p:nvSpPr>
        <p:spPr>
          <a:xfrm>
            <a:off x="3703320" y="3904488"/>
            <a:ext cx="182880" cy="0"/>
          </a:xfrm>
          <a:prstGeom prst="line">
            <a:avLst/>
          </a:prstGeom>
          <a:noFill/>
          <a:ln w="12700">
            <a:solidFill>
              <a:srgbClr val="6E6E73"/>
            </a:solidFill>
            <a:prstDash val="solid"/>
          </a:ln>
        </p:spPr>
      </p:sp>
      <p:sp>
        <p:nvSpPr>
          <p:cNvPr id="42" name="type7Desc"/>
          <p:cNvSpPr txBox="1"/>
          <p:nvPr/>
        </p:nvSpPr>
        <p:spPr>
          <a:xfrm>
            <a:off x="3977640" y="3593592"/>
            <a:ext cx="4983480" cy="621792"/>
          </a:xfrm>
          <a:prstGeom prst="rect">
            <a:avLst/>
          </a:prstGeom>
          <a:noFill/>
          <a:ln/>
        </p:spPr>
        <p:txBody>
          <a:bodyPr wrap="square" lIns="0" tIns="0" rIns="0" bIns="0" rtlCol="0" anchor="ctr"/>
          <a:lstStyle/>
          <a:p>
            <a:pPr indent="0" marL="0">
              <a:buNone/>
            </a:pPr>
            <a:r>
              <a:rPr lang="en-US" sz="750" dirty="0">
                <a:solidFill>
                  <a:srgbClr val="6E6E73"/>
                </a:solidFill>
                <a:latin typeface="SF Pro Text" pitchFamily="34" charset="0"/>
                <a:ea typeface="SF Pro Text" pitchFamily="34" charset="-122"/>
                <a:cs typeface="SF Pro Text" pitchFamily="34" charset="-120"/>
              </a:rPr>
              <a:t>Resolve per job status above + Soft ladder penalty.</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1st instance - coach</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2nd instance - coach + final warning</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3rd instance - suspended</a:t>
            </a:r>
            <a:endParaRPr lang="en-US" sz="750" dirty="0"/>
          </a:p>
        </p:txBody>
      </p:sp>
      <p:sp>
        <p:nvSpPr>
          <p:cNvPr id="43" name="Shape 39"/>
          <p:cNvSpPr/>
          <p:nvPr/>
        </p:nvSpPr>
        <p:spPr>
          <a:xfrm>
            <a:off x="457200" y="4270248"/>
            <a:ext cx="3246120" cy="310896"/>
          </a:xfrm>
          <a:prstGeom prst="roundRect">
            <a:avLst>
              <a:gd name="adj" fmla="val 23529"/>
            </a:avLst>
          </a:prstGeom>
          <a:solidFill>
            <a:srgbClr val="FFFFFF"/>
          </a:solidFill>
          <a:ln w="12700">
            <a:solidFill>
              <a:srgbClr val="DCE1E7"/>
            </a:solidFill>
            <a:prstDash val="solid"/>
          </a:ln>
        </p:spPr>
      </p:sp>
      <p:sp>
        <p:nvSpPr>
          <p:cNvPr id="44" name="Text 40"/>
          <p:cNvSpPr txBox="1"/>
          <p:nvPr/>
        </p:nvSpPr>
        <p:spPr>
          <a:xfrm>
            <a:off x="457200" y="4270248"/>
            <a:ext cx="3246120" cy="310896"/>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CP denies, no proof → retention</a:t>
            </a:r>
            <a:endParaRPr lang="en-US" sz="1000" dirty="0"/>
          </a:p>
        </p:txBody>
      </p:sp>
      <p:sp>
        <p:nvSpPr>
          <p:cNvPr id="45" name="Shape 41"/>
          <p:cNvSpPr/>
          <p:nvPr/>
        </p:nvSpPr>
        <p:spPr>
          <a:xfrm>
            <a:off x="3703320" y="4425696"/>
            <a:ext cx="182880" cy="0"/>
          </a:xfrm>
          <a:prstGeom prst="line">
            <a:avLst/>
          </a:prstGeom>
          <a:noFill/>
          <a:ln w="12700">
            <a:solidFill>
              <a:srgbClr val="6E6E73"/>
            </a:solidFill>
            <a:prstDash val="solid"/>
          </a:ln>
        </p:spPr>
      </p:sp>
      <p:sp>
        <p:nvSpPr>
          <p:cNvPr id="46" name="type8Desc"/>
          <p:cNvSpPr txBox="1"/>
          <p:nvPr/>
        </p:nvSpPr>
        <p:spPr>
          <a:xfrm>
            <a:off x="3977640" y="4233672"/>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No refund, no penalty. High value: voucher for the full job hours. Otherwise $20–$50 credits. Reason: cash_payment.</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42</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type="lt">
                                    <p:tmAbs val="40"/>
                                  </p:iterate>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type="lt">
                                    <p:tmAbs val="40"/>
                                  </p:iterate>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type="lt">
                                    <p:tmAbs val="40"/>
                                  </p:iterate>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iterate type="lt">
                                    <p:tmAbs val="40"/>
                                  </p:iterate>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iterate type="lt">
                                    <p:tmAbs val="40"/>
                                  </p:iterate>
                                  <p:childTnLst>
                                    <p:set>
                                      <p:cBhvr>
                                        <p:cTn id="22" dur="1" fill="hold">
                                          <p:stCondLst>
                                            <p:cond delay="0"/>
                                          </p:stCondLst>
                                        </p:cTn>
                                        <p:tgtEl>
                                          <p:spTgt spid="3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iterate type="lt">
                                    <p:tmAbs val="40"/>
                                  </p:iterate>
                                  <p:childTnLst>
                                    <p:set>
                                      <p:cBhvr>
                                        <p:cTn id="26" dur="1" fill="hold">
                                          <p:stCondLst>
                                            <p:cond delay="0"/>
                                          </p:stCondLst>
                                        </p:cTn>
                                        <p:tgtEl>
                                          <p:spTgt spid="3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iterate type="lt">
                                    <p:tmAbs val="40"/>
                                  </p:iterate>
                                  <p:childTnLst>
                                    <p:set>
                                      <p:cBhvr>
                                        <p:cTn id="30" dur="1" fill="hold">
                                          <p:stCondLst>
                                            <p:cond delay="0"/>
                                          </p:stCondLst>
                                        </p:cTn>
                                        <p:tgtEl>
                                          <p:spTgt spid="4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iterate type="lt">
                                    <p:tmAbs val="40"/>
                                  </p:iterate>
                                  <p:childTnLst>
                                    <p:set>
                                      <p:cBhvr>
                                        <p:cTn id="34" dur="1" fill="hold">
                                          <p:stCondLst>
                                            <p:cond delay="0"/>
                                          </p:stCondLst>
                                        </p:cTn>
                                        <p:tgtEl>
                                          <p:spTgt spid="4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7" grpId="0" animBg="1"/>
      <p:bldP spid="22" grpId="0" animBg="1"/>
      <p:bldP spid="27" grpId="0" animBg="1"/>
      <p:bldP spid="32" grpId="0" animBg="1"/>
      <p:bldP spid="37" grpId="0" animBg="1"/>
      <p:bldP spid="42" grpId="0" animBg="1"/>
      <p:bldP spid="46" grpId="0" animBg="1"/>
    </p:bldLst>
  </p:timing>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cleaner reported full cash payment. The job is still Pending Invoice. What do you do?</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Cancel via the C CRM with "does not want the service". Nothing was charged, so nothing to refund.</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Same case, but the job was already invoiced.</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Refund from the CP Dashboard. It reverses the customer's charge and the cleaner's payout.</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job shows Cancelled, but the customer says they paid cash. Recreate the job?</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Nothing was charged. Recreating it would make the customer pay twice.</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cleaner denies it and the customer has no proof. What now?</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refund, no penalty. Assess retention: voucher (high value) or $20–$50 credits, reason cash_payment.</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43</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practice!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325880"/>
            <a:ext cx="3566160" cy="2743200"/>
          </a:xfrm>
          <a:prstGeom prst="roundRect">
            <a:avLst>
              <a:gd name="adj" fmla="val 2667"/>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23697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Live ticket</a:t>
            </a:r>
            <a:endParaRPr lang="en-US" sz="1200" dirty="0"/>
          </a:p>
        </p:txBody>
      </p:sp>
      <p:sp>
        <p:nvSpPr>
          <p:cNvPr id="10" name="Text 6"/>
          <p:cNvSpPr txBox="1"/>
          <p:nvPr/>
        </p:nvSpPr>
        <p:spPr>
          <a:xfrm>
            <a:off x="576072" y="2221992"/>
            <a:ext cx="323697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950" dirty="0"/>
          </a:p>
        </p:txBody>
      </p:sp>
      <p:sp>
        <p:nvSpPr>
          <p:cNvPr id="11" name="Shape 7"/>
          <p:cNvSpPr/>
          <p:nvPr/>
        </p:nvSpPr>
        <p:spPr>
          <a:xfrm>
            <a:off x="594360" y="3520440"/>
            <a:ext cx="1234440" cy="274320"/>
          </a:xfrm>
          <a:prstGeom prst="roundRect">
            <a:avLst>
              <a:gd name="adj" fmla="val 26667"/>
            </a:avLst>
          </a:prstGeom>
          <a:solidFill>
            <a:srgbClr val="FFF3D6"/>
          </a:solidFill>
          <a:ln w="9525">
            <a:solidFill>
              <a:srgbClr val="FFF3D6"/>
            </a:solidFill>
            <a:prstDash val="solid"/>
          </a:ln>
        </p:spPr>
      </p:sp>
      <p:sp>
        <p:nvSpPr>
          <p:cNvPr id="12" name="Text 8"/>
          <p:cNvSpPr txBox="1"/>
          <p:nvPr/>
        </p:nvSpPr>
        <p:spPr>
          <a:xfrm>
            <a:off x="594360" y="3520440"/>
            <a:ext cx="1234440" cy="274320"/>
          </a:xfrm>
          <a:prstGeom prst="rect">
            <a:avLst/>
          </a:prstGeom>
          <a:no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Trainer provides</a:t>
            </a:r>
            <a:endParaRPr lang="en-US" sz="800" dirty="0"/>
          </a:p>
        </p:txBody>
      </p:sp>
      <p:sp>
        <p:nvSpPr>
          <p:cNvPr id="13" name="Shape 9"/>
          <p:cNvSpPr/>
          <p:nvPr/>
        </p:nvSpPr>
        <p:spPr>
          <a:xfrm>
            <a:off x="4114800" y="1325880"/>
            <a:ext cx="4617720" cy="1298448"/>
          </a:xfrm>
          <a:prstGeom prst="roundRect">
            <a:avLst>
              <a:gd name="adj" fmla="val 5634"/>
            </a:avLst>
          </a:prstGeom>
          <a:solidFill>
            <a:srgbClr val="FFFFFF"/>
          </a:solidFill>
          <a:ln w="9525">
            <a:solidFill>
              <a:srgbClr val="DCE1E7"/>
            </a:solidFill>
            <a:prstDash val="solid"/>
          </a:ln>
        </p:spPr>
      </p:sp>
      <p:sp>
        <p:nvSpPr>
          <p:cNvPr id="14" name="Shape 10"/>
          <p:cNvSpPr/>
          <p:nvPr/>
        </p:nvSpPr>
        <p:spPr>
          <a:xfrm>
            <a:off x="4279392" y="1508760"/>
            <a:ext cx="274320" cy="274320"/>
          </a:xfrm>
          <a:prstGeom prst="ellipse">
            <a:avLst/>
          </a:prstGeom>
          <a:solidFill>
            <a:srgbClr val="E3F4F1"/>
          </a:solidFill>
          <a:ln w="12700">
            <a:solidFill>
              <a:srgbClr val="E3F4F1"/>
            </a:solidFill>
            <a:prstDash val="solid"/>
          </a:ln>
        </p:spPr>
      </p:sp>
      <p:sp>
        <p:nvSpPr>
          <p:cNvPr id="15" name="Text 11"/>
          <p:cNvSpPr txBox="1"/>
          <p:nvPr/>
        </p:nvSpPr>
        <p:spPr>
          <a:xfrm>
            <a:off x="427939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6" name="Text 12"/>
          <p:cNvSpPr txBox="1"/>
          <p:nvPr/>
        </p:nvSpPr>
        <p:spPr>
          <a:xfrm>
            <a:off x="4279392" y="1929384"/>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What will be your actions?</a:t>
            </a:r>
            <a:endParaRPr lang="en-US" sz="1200" dirty="0"/>
          </a:p>
        </p:txBody>
      </p:sp>
      <p:sp>
        <p:nvSpPr>
          <p:cNvPr id="17" name="Text 13"/>
          <p:cNvSpPr txBox="1"/>
          <p:nvPr/>
        </p:nvSpPr>
        <p:spPr>
          <a:xfrm>
            <a:off x="4279392" y="2221992"/>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Which issue is it, and what will you do on the account?</a:t>
            </a:r>
            <a:endParaRPr lang="en-US" sz="950" dirty="0"/>
          </a:p>
        </p:txBody>
      </p:sp>
      <p:sp>
        <p:nvSpPr>
          <p:cNvPr id="18" name="Shape 14"/>
          <p:cNvSpPr/>
          <p:nvPr/>
        </p:nvSpPr>
        <p:spPr>
          <a:xfrm>
            <a:off x="4114800" y="2770632"/>
            <a:ext cx="4617720" cy="1298448"/>
          </a:xfrm>
          <a:prstGeom prst="roundRect">
            <a:avLst>
              <a:gd name="adj" fmla="val 5634"/>
            </a:avLst>
          </a:prstGeom>
          <a:solidFill>
            <a:srgbClr val="FFFFFF"/>
          </a:solidFill>
          <a:ln w="9525">
            <a:solidFill>
              <a:srgbClr val="DCE1E7"/>
            </a:solidFill>
            <a:prstDash val="solid"/>
          </a:ln>
        </p:spPr>
      </p:sp>
      <p:sp>
        <p:nvSpPr>
          <p:cNvPr id="19" name="Shape 15"/>
          <p:cNvSpPr/>
          <p:nvPr/>
        </p:nvSpPr>
        <p:spPr>
          <a:xfrm>
            <a:off x="4279392" y="2953512"/>
            <a:ext cx="274320" cy="274320"/>
          </a:xfrm>
          <a:prstGeom prst="ellipse">
            <a:avLst/>
          </a:prstGeom>
          <a:solidFill>
            <a:srgbClr val="E3F4F1"/>
          </a:solidFill>
          <a:ln w="12700">
            <a:solidFill>
              <a:srgbClr val="E3F4F1"/>
            </a:solidFill>
            <a:prstDash val="solid"/>
          </a:ln>
        </p:spPr>
      </p:sp>
      <p:sp>
        <p:nvSpPr>
          <p:cNvPr id="20" name="Text 16"/>
          <p:cNvSpPr txBox="1"/>
          <p:nvPr/>
        </p:nvSpPr>
        <p:spPr>
          <a:xfrm>
            <a:off x="4279392" y="295351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1" name="Text 17"/>
          <p:cNvSpPr txBox="1"/>
          <p:nvPr/>
        </p:nvSpPr>
        <p:spPr>
          <a:xfrm>
            <a:off x="4279392" y="3374136"/>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How will you respond to the customer?</a:t>
            </a:r>
            <a:endParaRPr lang="en-US" sz="1200" dirty="0"/>
          </a:p>
        </p:txBody>
      </p:sp>
      <p:sp>
        <p:nvSpPr>
          <p:cNvPr id="22" name="Text 18"/>
          <p:cNvSpPr txBox="1"/>
          <p:nvPr/>
        </p:nvSpPr>
        <p:spPr>
          <a:xfrm>
            <a:off x="4279392" y="3666744"/>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Write the reply you would send.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Status decides the action</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Pending Invoice: cancel. Invoiced: refund. Cancelled: don't recreate.</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Get the amount first</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Full vs partial is based on CP Pay, not the C Price.</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Never penalize the customer</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Coach the cleaner. C-side never suspends or adds DNR.</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txBox="1"/>
          <p:nvPr/>
        </p:nvSpPr>
        <p:spPr>
          <a:xfrm>
            <a:off x="566928" y="173736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WRAP-UP</a:t>
            </a:r>
            <a:endParaRPr lang="en-US" sz="800" dirty="0"/>
          </a:p>
        </p:txBody>
      </p:sp>
      <p:sp>
        <p:nvSpPr>
          <p:cNvPr id="3" name="Text 1"/>
          <p:cNvSpPr txBox="1"/>
          <p:nvPr/>
        </p:nvSpPr>
        <p:spPr>
          <a:xfrm>
            <a:off x="566928" y="1965960"/>
            <a:ext cx="4572000" cy="685800"/>
          </a:xfrm>
          <a:prstGeom prst="rect">
            <a:avLst/>
          </a:prstGeom>
          <a:noFill/>
          <a:ln/>
        </p:spPr>
        <p:txBody>
          <a:bodyPr wrap="square" lIns="0" tIns="0" rIns="0" bIns="0" rtlCol="0" anchor="t"/>
          <a:lstStyle/>
          <a:p>
            <a:pPr indent="0" marL="0">
              <a:buNone/>
            </a:pPr>
            <a:r>
              <a:rPr lang="en-US" sz="3400" b="1" dirty="0">
                <a:solidFill>
                  <a:srgbClr val="1D1D1F"/>
                </a:solidFill>
                <a:latin typeface="SF Pro Display" pitchFamily="34" charset="0"/>
                <a:ea typeface="SF Pro Display" pitchFamily="34" charset="-122"/>
                <a:cs typeface="SF Pro Display" pitchFamily="34" charset="-120"/>
              </a:rPr>
              <a:t>Thank you!</a:t>
            </a:r>
            <a:endParaRPr lang="en-US" sz="3400" dirty="0"/>
          </a:p>
        </p:txBody>
      </p:sp>
      <p:sp>
        <p:nvSpPr>
          <p:cNvPr id="4" name="Text 2"/>
          <p:cNvSpPr txBox="1"/>
          <p:nvPr/>
        </p:nvSpPr>
        <p:spPr>
          <a:xfrm>
            <a:off x="566928" y="2697480"/>
            <a:ext cx="4206240" cy="45720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in doubt, check the Knowledge Library or ask your Trainer or Team Lead.</a:t>
            </a:r>
            <a:endParaRPr lang="en-US" sz="1200" dirty="0"/>
          </a:p>
        </p:txBody>
      </p:sp>
      <p:sp>
        <p:nvSpPr>
          <p:cNvPr id="5" name="Shape 3"/>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6" name="Shape 4"/>
          <p:cNvSpPr/>
          <p:nvPr/>
        </p:nvSpPr>
        <p:spPr>
          <a:xfrm>
            <a:off x="5724144" y="1289304"/>
            <a:ext cx="2560320" cy="2560320"/>
          </a:xfrm>
          <a:prstGeom prst="ellipse">
            <a:avLst/>
          </a:prstGeom>
          <a:solidFill>
            <a:srgbClr val="FFFFFF"/>
          </a:solidFill>
          <a:ln w="12700">
            <a:solidFill>
              <a:srgbClr val="FFFFFF"/>
            </a:solidFill>
            <a:prstDash val="solid"/>
          </a:ln>
        </p:spPr>
      </p:sp>
      <p:pic>
        <p:nvPicPr>
          <p:cNvPr id="7" name="Image 0" descr="/tmp/claude-0/-workspace-training/3ce5cff6-cccf-5f33-b0ee-0b147a55120e/scratchpad/img4/ill9.png">    </p:cNvPr>
          <p:cNvPicPr>
            <a:picLocks noChangeAspect="1"/>
          </p:cNvPicPr>
          <p:nvPr/>
        </p:nvPicPr>
        <p:blipFill>
          <a:blip r:embed="rId1"/>
          <a:stretch>
            <a:fillRect/>
          </a:stretch>
        </p:blipFill>
        <p:spPr>
          <a:xfrm>
            <a:off x="5541264" y="1695208"/>
            <a:ext cx="2926080" cy="1748511"/>
          </a:xfrm>
          <a:prstGeom prst="rect">
            <a:avLst/>
          </a:prstGeom>
        </p:spPr>
      </p:pic>
      <p:sp>
        <p:nvSpPr>
          <p:cNvPr id="8" name="Shape 5"/>
          <p:cNvSpPr/>
          <p:nvPr/>
        </p:nvSpPr>
        <p:spPr>
          <a:xfrm>
            <a:off x="5522976" y="822960"/>
            <a:ext cx="329184" cy="329184"/>
          </a:xfrm>
          <a:prstGeom prst="ellipse">
            <a:avLst/>
          </a:prstGeom>
          <a:solidFill>
            <a:srgbClr val="FFFFFF"/>
          </a:solidFill>
          <a:ln w="12700">
            <a:solidFill>
              <a:srgbClr val="FFFFFF"/>
            </a:solidFill>
            <a:prstDash val="solid"/>
          </a:ln>
        </p:spPr>
      </p:sp>
      <p:sp>
        <p:nvSpPr>
          <p:cNvPr id="9" name="Shape 6"/>
          <p:cNvSpPr/>
          <p:nvPr/>
        </p:nvSpPr>
        <p:spPr>
          <a:xfrm>
            <a:off x="5646420" y="946404"/>
            <a:ext cx="82296" cy="82296"/>
          </a:xfrm>
          <a:prstGeom prst="ellipse">
            <a:avLst/>
          </a:prstGeom>
          <a:solidFill>
            <a:srgbClr val="0B7A6F"/>
          </a:solidFill>
          <a:ln w="12700">
            <a:solidFill>
              <a:srgbClr val="0B7A6F"/>
            </a:solidFill>
            <a:prstDash val="solid"/>
          </a:ln>
        </p:spPr>
      </p:sp>
      <p:sp>
        <p:nvSpPr>
          <p:cNvPr id="10" name="Shape 7"/>
          <p:cNvSpPr/>
          <p:nvPr/>
        </p:nvSpPr>
        <p:spPr>
          <a:xfrm>
            <a:off x="8193024" y="822960"/>
            <a:ext cx="329184" cy="329184"/>
          </a:xfrm>
          <a:prstGeom prst="ellipse">
            <a:avLst/>
          </a:prstGeom>
          <a:solidFill>
            <a:srgbClr val="FFFFFF"/>
          </a:solidFill>
          <a:ln w="12700">
            <a:solidFill>
              <a:srgbClr val="FFFFFF"/>
            </a:solidFill>
            <a:prstDash val="solid"/>
          </a:ln>
        </p:spPr>
      </p:sp>
      <p:sp>
        <p:nvSpPr>
          <p:cNvPr id="11" name="Shape 8"/>
          <p:cNvSpPr/>
          <p:nvPr/>
        </p:nvSpPr>
        <p:spPr>
          <a:xfrm>
            <a:off x="8316468" y="946404"/>
            <a:ext cx="82296" cy="82296"/>
          </a:xfrm>
          <a:prstGeom prst="ellipse">
            <a:avLst/>
          </a:prstGeom>
          <a:solidFill>
            <a:srgbClr val="0B7A6F"/>
          </a:solidFill>
          <a:ln w="12700">
            <a:solidFill>
              <a:srgbClr val="0B7A6F"/>
            </a:solidFill>
            <a:prstDash val="solid"/>
          </a:ln>
        </p:spPr>
      </p:sp>
      <p:sp>
        <p:nvSpPr>
          <p:cNvPr id="12" name="Shape 9"/>
          <p:cNvSpPr/>
          <p:nvPr/>
        </p:nvSpPr>
        <p:spPr>
          <a:xfrm>
            <a:off x="8193024" y="3986784"/>
            <a:ext cx="329184" cy="329184"/>
          </a:xfrm>
          <a:prstGeom prst="ellipse">
            <a:avLst/>
          </a:prstGeom>
          <a:solidFill>
            <a:srgbClr val="FFFFFF"/>
          </a:solidFill>
          <a:ln w="12700">
            <a:solidFill>
              <a:srgbClr val="FFFFFF"/>
            </a:solidFill>
            <a:prstDash val="solid"/>
          </a:ln>
        </p:spPr>
      </p:sp>
      <p:sp>
        <p:nvSpPr>
          <p:cNvPr id="13" name="Shape 10"/>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Billing Disputes &amp; Cash Payments</dc:title>
  <dc:subject>PptxGenJS Presentation</dc:subject>
  <dc:creator>PptxGenJS</dc:creator>
  <cp:lastModifiedBy>PptxGenJS</cp:lastModifiedBy>
  <cp:revision>1</cp:revision>
  <dcterms:created xsi:type="dcterms:W3CDTF">2026-10-05T17:46:47Z</dcterms:created>
  <dcterms:modified xsi:type="dcterms:W3CDTF">2026-10-05T17:46:47Z</dcterms:modified>
</cp:coreProperties>
</file>