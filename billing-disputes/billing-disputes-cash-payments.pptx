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Lst>
  <p:notesMasterIdLst>
    <p:notesMasterId r:id="rId8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 Topics 8 and 9 cover the specialized escalation teams: Trust and Safety, and Service Recovery.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false invoice or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(click the Trainer demo button on the Timed Reminder box to play the video): show trainees how to add a Timed Reminder in the Legacy C CRM (Do &gt; TimedReminder &gt; Create): set it 72 hours out, assign Any CS, and paste the Action text with the real C ID, job ID and hours. TRAINER: the penalty check shows when the slide opens (30 minutes or more overcharged: add the cp_overcharged_hours flag + norequests; under 30 minutes: no flag, no penalty). Click once (Request docs) to show the Timed Reminder format; click again (Refund, then penalty check) to go back to the penalty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 Claimed or Pending Invoice: if the CP should be penalized, report the no-show (Job Admin Page &gt; No Show); after reporting, the job resolves to Cancelled or Submitted, so follow that column. If no penalty applies (e.g. reschedule intent before the start time), cancel the job from C-CRM with the CP No Show/Reschedule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job still assigned to the CP who rescheduled it? No, no longer assigned: review the CP's account for prior instances and update their CP Step if warranted; send the CP coaching comms using the applicable Comms Kit macro and ban (block) the C/CP pairing; offer the customer a Priority Booking and address any other pain points. Yes, still assigned: add the cp_unauthorized_reschedule flag to the CP's account, update their CP Step if warranted, coach and ban the CP, then check how far away the original start time is. &gt;48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If no priority fee will apply, reschedule via the Customer Dashboard instead. Already in the past: follow AG: Pending Invoice's completion-verification steps, whether the job is Pending Invoice or Claimed. Job already cancelled/invoiced: offer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Most Service Issues are things Care can fully own and close out: refund it, re-clean it, coach the CP, done. Trust &amp; Safety cases are different: they involve real risk to a person's physical safety, property, or wellbeing, not just a bad service experience. Getting one wrong (moving too fast, resolving it like a routine complaint, or missing that it qualifies) creates a liability a refund can't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T&amp;S covers any situation where a customer or cleaner reports behavior that could compromise personal safety, property security, or professional conduct. If a report suggests any risk (physical, emotional, or property-related), the case gets escalated. Only the T&amp;S team is authorized to handle these situations directly. Care's responsibility is to recognize the issue and escalate it, not investigate or resolve it. T&amp;S is a separate, specially-trained track because these situations need a level of investigation and judgment a standard support resolution isn't built for. That's also why T&amp;S, not Care, gets final say on refunds, ETF and retention once a case is theirs. If you're unsure whether a case meets the bar but it feels risky, you can still raise it through the T&amp;S channel: you don't need certainty to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Escalate immediately once a T&amp;S indicator is confirmed. Don't attempt retention: T&amp;S leads the investigation and resolution. Don't issue refunds or contact the cleaner directly: T&amp;S evaluates liability, coordinates the investigation and determines the resolution (including a possible full ETF waiver). Agents must send an email to the customer when escalating a ticket to T&amp;S. Macro: Escalate report to T&amp;S. Related articles: ETF Waivers; Service Recovery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T&amp;S concerns (once escalation applies) must be routed to the T&amp;S team. Care agents must not make refund or compensation decisions for T&amp;S cases, waive or reduce ETF unless directed by T&amp;S, or attempt retention or offer membership-related incentives. T&amp;S independently investigates and owns the final resolution: refund handling is determined solely by T&amp;S after investigation; T&amp;S may waive up to the full ETF following review; no retention attempt by Care, defer to the T&amp;S outcome. If T&amp;S declines the case ("this is not a T&amp;S concern"), the ticket returns to the original agent and is handled as BAU. The T&amp;S constraints lift with it: run the normal playbook for the underlying issue and apply the ordinary ETF and retention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on this slide is an always-escalate item. Law enforcement requests also go to T&amp;S: never share customer or cleaner information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the C reaches out: 1) Respond to the C using the New CRM macro "Escalate Report to T&amp;S". 2) Post in the #new-ts-safety-reports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Safety Reports.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Unwanted communication means personal, repeated, or continuing after being asked to stop. A single job-related follow-up (confirming arrival time, asking about a forgotten item) is routine and doesn't qualify on its own. Verbal dispute: a disagreement about the cleaning itself ("you missed a spot") isn't a verbal dispute for T&amp;S purposes. It only qualifies when the interaction itself becomes heated, aggressive, or intimidating. It's different from harassment, which implies one party targeting the other; a verbal dispute is mutual or situational escalation between both parties. Workplace safety excludes homes with biohazardous conditions. Hurt during cleaning: unless the incident was caused by either party. Every item is always-escalate, except the conditional pattern on the next slides: don't assume anything else is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Theft and damage claims go to T&amp;S. Covered claims: the job was paid in full on the platform; the requester's account is in good standing with no outstanding balances (no failed or disputed charges); the claim was reported within 30 days of the cleaning; the requester hasn't violated the Terms of Service. Excluded: cleaning done outside the platform; losses of cash, third-party gift cards/vouchers and securities, as well as fine arts, antiques and jewelry; losses of pets, personal liability, damage to common areas, and sentimental or undocumented intangible value; items already recovered by the police or replaced by the cleaner; items that still work (minor cosmetic damage, scratches, ordinary wear and tear).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for policy violations and unprofessional conduct, and for theft and damage. First time the C reaches out: 1) Respond to the C using the New CRM macro "Escalate Report to T&amp;S". 2) Post in the #new-ts-nonsafety-reports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Non-Safety Reports. Safety concerns go to #new-ts-safety-reports instead (see the first-report slide).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number of situations are genuine T&amp;S concerns, but only get escalated to the T&amp;S team if the customer explicitly asks to be escalated for that reason. If the customer doesn't ask, handle it as BAU, but it still qualifies as a T&amp;S scenario for ETF waiver purposes, because the underlying safety issue is real either way. Known examples: CP brought a minor to the appointment; CP brought or sent an unauthorized/third-party person. The list isn't exhaustive: other situations may fit the same pattern (a genuine safety concern a customer mentions in passing). Before treating a new situation this way, confirm it's genuinely comparable: a real safety concern, not just something vaguely safety-adjacent. When unsure, escalate to T&amp;S rather than deciding solo. Note the difference from the always-escalate item: if C says they felt unsafe because the CP brought a helper without permission,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when the C is asking for an update, the C says they made a mistake in reporting, or the action item is just a triggered timed reminder from T&amp;S. 1) Check if a post for the ticket has already been made in the #trust-and-safety-follow-ups Slack channel. Yes: add a response to the original thread and tick "Also send to #trust-and-safety-follow-ups" to bump the message. No: create a new post using the format: Link to original escalation: / Link to the new comms received (if any): / Background: , then leave an internal note on the account containing the Slack link of your follow-up escalation. 2) Don't resolve the ticket: change the queue in New CRM to T&amp;S Follow-ups. Screenshots: a sample follow-up post, and a triggered timed reminder from T&amp;S.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Trust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T&amp;S exists because some situations carry real physical or safety risk. Service Recovery exists for a different reason: some situations carry real legal, reputational, or relationship risk. A customer unhappy enough to leave negative feedback and ask for a callback, or one invoking legal action or the FTC, needs higher-touch handling: the stakes go beyond one bad interaction. Care's role, same as with T&amp;S, is recognition and handoff, not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Recovery handles: customers who left negative CSAT survey feedback and opted in to be contacted by phone or email; and high-risk general legal threats (e.g. "I will contact a lawyer") or FTC threats, when the risk of escalation is significantly high. SR determines refund eligibility, scope and any ETF waiver for the cases they own. BBB: a BBB threat alone is handled as BAU, not escalated to SR. An actual filed BBB complaint follows the HDR Ticket Handling Process, not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legal threats (Attorney General threat, formal legal letter, lawyer CC'd on comms, class action threat, email from a law firm, threat to join ongoing litigation, small claims court threat): no SR escalation needed. The agent waives the ETF and cancels FC immediately. See ETF Waivers &gt; Material Legal Threats for the full reasoning. General legal threats ("I'll get a lawyer," FTC mention, social media threat): handle as BAU; escalate to SR only if the risk of escalation is significant. BBB is a special case: a threat is BAU with no escalation; an actual filed complaint follows the HDR Ticket Handling Process, not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read each message aloud and have trainees call it: material, general, or BBB. Each click reveals the next answer. Material: waive the ETF and cancel FC immediately, no SR. General: BAU, escalate to SR only if the risk is significant. BBB threat: BAU.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this issue is being escalated: submit it through the Transformation to SR Reassignment Form (the green button opens the form). Not the first time, because the C is responding to SR: no form needed. DM the previous SR agent in Slack to let them know the customer responded; if they're offline, any SR agent online (currently Avegaile "Avie" Gaco, Liz, LorraineYvone, Ann; check the SR schedule sheet linked in the Knowledge Library). Either way, don't resolve the ticket: change the queue to SWAT/Service Recovery in New CRM. Cases marked Handle as BAU or Invalid Escalation are sent back automatically via the Slack channel with SWAT notes: the original agent takes ownership back, reviews the notes (Open SWAT notes button), and proceeds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Unauthorized Reschedule (still assigned? how far is the start?), Trust and Safety (recognize and escalate, hands off), and Service Recovery (know the threat type; use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8.xml"/><Relationship Id="rId5" Type="http://schemas.openxmlformats.org/officeDocument/2006/relationships/slide" Target="slide18.xml"/><Relationship Id="rId6" Type="http://schemas.openxmlformats.org/officeDocument/2006/relationships/slide" Target="slide18.xml"/><Relationship Id="rId7" Type="http://schemas.openxmlformats.org/officeDocument/2006/relationships/slide" Target="slide26.xml"/><Relationship Id="rId8" Type="http://schemas.openxmlformats.org/officeDocument/2006/relationships/slide" Target="slide26.xml"/><Relationship Id="rId9" Type="http://schemas.openxmlformats.org/officeDocument/2006/relationships/slide" Target="slide26.xml"/><Relationship Id="rId10" Type="http://schemas.openxmlformats.org/officeDocument/2006/relationships/slide" Target="slide35.xml"/><Relationship Id="rId11" Type="http://schemas.openxmlformats.org/officeDocument/2006/relationships/slide" Target="slide35.xml"/><Relationship Id="rId12" Type="http://schemas.openxmlformats.org/officeDocument/2006/relationships/slide" Target="slide35.xml"/><Relationship Id="rId13" Type="http://schemas.openxmlformats.org/officeDocument/2006/relationships/slide" Target="slide46.xml"/><Relationship Id="rId14" Type="http://schemas.openxmlformats.org/officeDocument/2006/relationships/slide" Target="slide46.xml"/><Relationship Id="rId15" Type="http://schemas.openxmlformats.org/officeDocument/2006/relationships/slide" Target="slide46.xml"/><Relationship Id="rId16" Type="http://schemas.openxmlformats.org/officeDocument/2006/relationships/slide" Target="slide54.xml"/><Relationship Id="rId17" Type="http://schemas.openxmlformats.org/officeDocument/2006/relationships/slide" Target="slide54.xml"/><Relationship Id="rId18" Type="http://schemas.openxmlformats.org/officeDocument/2006/relationships/slide" Target="slide54.xml"/><Relationship Id="rId19" Type="http://schemas.openxmlformats.org/officeDocument/2006/relationships/slide" Target="slide61.xml"/><Relationship Id="rId20" Type="http://schemas.openxmlformats.org/officeDocument/2006/relationships/slide" Target="slide61.xml"/><Relationship Id="rId21" Type="http://schemas.openxmlformats.org/officeDocument/2006/relationships/slide" Target="slide61.xml"/><Relationship Id="rId22" Type="http://schemas.openxmlformats.org/officeDocument/2006/relationships/slide" Target="slide67.xml"/><Relationship Id="rId23" Type="http://schemas.openxmlformats.org/officeDocument/2006/relationships/slide" Target="slide67.xml"/><Relationship Id="rId24" Type="http://schemas.openxmlformats.org/officeDocument/2006/relationships/slide" Target="slide67.xml"/><Relationship Id="rId25" Type="http://schemas.openxmlformats.org/officeDocument/2006/relationships/slide" Target="slide80.xml"/><Relationship Id="rId26" Type="http://schemas.openxmlformats.org/officeDocument/2006/relationships/slide" Target="slide80.xml"/><Relationship Id="rId27" Type="http://schemas.openxmlformats.org/officeDocument/2006/relationships/slide" Target="slide80.xml"/><Relationship Id="rId28" Type="http://schemas.openxmlformats.org/officeDocument/2006/relationships/slideLayout" Target="../slideLayouts/slideLayout2.xml"/><Relationship Id="rId2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 Target="slide9.xml"/><Relationship Id="rId2" Type="http://schemas.openxmlformats.org/officeDocument/2006/relationships/hyperlink" Target="https://drive.google.com/file/d/1iPyoRBTJAQ5KWMQwxaxtWI0m-hbjzQZl/view?usp=drive_link" TargetMode="External"/><Relationship Id="rId3" Type="http://schemas.openxmlformats.org/officeDocument/2006/relationships/image" Target="../media/image-10-1.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slideLayout" Target="../slideLayouts/slideLayout2.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slideLayout" Target="../slideLayouts/slideLayout2.xm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2.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image" Target="../media/image-71-5.png"/><Relationship Id="rId6" Type="http://schemas.openxmlformats.org/officeDocument/2006/relationships/image" Target="../media/image-71-6.png"/><Relationship Id="rId7" Type="http://schemas.openxmlformats.org/officeDocument/2006/relationships/image" Target="../media/image-71-7.png"/><Relationship Id="rId8" Type="http://schemas.openxmlformats.org/officeDocument/2006/relationships/image" Target="../media/image-71-8.png"/><Relationship Id="rId9" Type="http://schemas.openxmlformats.org/officeDocument/2006/relationships/slideLayout" Target="../slideLayouts/slideLayout2.xml"/><Relationship Id="rId10"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2.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2.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image" Target="../media/image-80-5.png"/><Relationship Id="rId6" Type="http://schemas.openxmlformats.org/officeDocument/2006/relationships/slideLayout" Target="../slideLayouts/slideLayout2.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slideLayout" Target="../slideLayouts/slideLayout2.xm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hyperlink" Target="https://forms.gle/LzPKYjneeVsAXpbf9" TargetMode="External"/><Relationship Id="rId3" Type="http://schemas.openxmlformats.org/officeDocument/2006/relationships/hyperlink" Target="https://docs.google.com/spreadsheets/d/1Fn3KZLtrux1RKbrATji5G06gs3uVLljK0xJe1rbQFfk/edit?resourcekey=&amp;gid=213718827#gid=213718827" TargetMode="External"/><Relationship Id="rId2" Type="http://schemas.openxmlformats.org/officeDocument/2006/relationships/image" Target="../media/image-84-1.png"/><Relationship Id="rId4" Type="http://schemas.openxmlformats.org/officeDocument/2006/relationships/slideLayout" Target="../slideLayouts/slideLayout2.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Nine topics. Click a topic to jump to it.</a:t>
            </a:r>
            <a:endParaRPr lang="en-US" sz="1200" dirty="0"/>
          </a:p>
        </p:txBody>
      </p:sp>
      <p:sp>
        <p:nvSpPr>
          <p:cNvPr id="6" name="Text 3">
            <a:hlinkClick r:id="rId1" tooltip="Go to Overcharged Hours (OCH)" action="ppaction://hlinksldjump"/>
          </p:cNvPr>
          <p:cNvSpPr/>
          <p:nvPr/>
        </p:nvSpPr>
        <p:spPr>
          <a:xfrm>
            <a:off x="4114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Overcharged Hours (OCH)</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50" dirty="0"/>
          </a:p>
        </p:txBody>
      </p:sp>
      <p:sp>
        <p:nvSpPr>
          <p:cNvPr id="7" name="Text 4">
            <a:hlinkClick r:id="rId2" tooltip="Go to Overcharged Hours (OCH)" action="ppaction://hlinksldjump"/>
          </p:cNvPr>
          <p:cNvSpPr/>
          <p:nvPr/>
        </p:nvSpPr>
        <p:spPr>
          <a:xfrm>
            <a:off x="5029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01</a:t>
            </a:r>
            <a:endParaRPr lang="en-US" sz="1200" dirty="0"/>
          </a:p>
        </p:txBody>
      </p:sp>
      <p:sp>
        <p:nvSpPr>
          <p:cNvPr id="8" name="Text 5">
            <a:hlinkClick r:id="rId3" tooltip="Go to Overcharged Hours (OCH)" action="ppaction://hlinksldjump"/>
          </p:cNvPr>
          <p:cNvSpPr/>
          <p:nvPr/>
        </p:nvSpPr>
        <p:spPr>
          <a:xfrm>
            <a:off x="41193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9" name="Text 6">
            <a:hlinkClick r:id="rId4" tooltip="Go to Unauthorized Addition of Hours" action="ppaction://hlinksldjump"/>
          </p:cNvPr>
          <p:cNvSpPr/>
          <p:nvPr/>
        </p:nvSpPr>
        <p:spPr>
          <a:xfrm>
            <a:off x="4114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Addition of Hours</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50" dirty="0"/>
          </a:p>
        </p:txBody>
      </p:sp>
      <p:sp>
        <p:nvSpPr>
          <p:cNvPr id="10" name="Text 7">
            <a:hlinkClick r:id="rId5" tooltip="Go to Unauthorized Addition of Hours" action="ppaction://hlinksldjump"/>
          </p:cNvPr>
          <p:cNvSpPr/>
          <p:nvPr/>
        </p:nvSpPr>
        <p:spPr>
          <a:xfrm>
            <a:off x="5029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02</a:t>
            </a:r>
            <a:endParaRPr lang="en-US" sz="1200" dirty="0"/>
          </a:p>
        </p:txBody>
      </p:sp>
      <p:sp>
        <p:nvSpPr>
          <p:cNvPr id="11" name="Text 8">
            <a:hlinkClick r:id="rId6" tooltip="Go to Unauthorized Addition of Hours" action="ppaction://hlinksldjump"/>
          </p:cNvPr>
          <p:cNvSpPr/>
          <p:nvPr/>
        </p:nvSpPr>
        <p:spPr>
          <a:xfrm>
            <a:off x="41193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2" name="Text 9">
            <a:hlinkClick r:id="rId7" tooltip="Go to False Invoice" action="ppaction://hlinksldjump"/>
          </p:cNvPr>
          <p:cNvSpPr/>
          <p:nvPr/>
        </p:nvSpPr>
        <p:spPr>
          <a:xfrm>
            <a:off x="4114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False Invoice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a job they never did</a:t>
            </a:r>
            <a:endParaRPr lang="en-US" sz="1150" dirty="0"/>
          </a:p>
        </p:txBody>
      </p:sp>
      <p:sp>
        <p:nvSpPr>
          <p:cNvPr id="13" name="Text 10">
            <a:hlinkClick r:id="rId8" tooltip="Go to False Invoice" action="ppaction://hlinksldjump"/>
          </p:cNvPr>
          <p:cNvSpPr/>
          <p:nvPr/>
        </p:nvSpPr>
        <p:spPr>
          <a:xfrm>
            <a:off x="5029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03</a:t>
            </a:r>
            <a:endParaRPr lang="en-US" sz="1200" dirty="0"/>
          </a:p>
        </p:txBody>
      </p:sp>
      <p:sp>
        <p:nvSpPr>
          <p:cNvPr id="14" name="Text 11">
            <a:hlinkClick r:id="rId9" tooltip="Go to False Invoice" action="ppaction://hlinksldjump"/>
          </p:cNvPr>
          <p:cNvSpPr/>
          <p:nvPr/>
        </p:nvSpPr>
        <p:spPr>
          <a:xfrm>
            <a:off x="41193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5" name="Text 12">
            <a:hlinkClick r:id="rId10" tooltip="Go to Disintermediation: Cash Payment" action="ppaction://hlinksldjump"/>
          </p:cNvPr>
          <p:cNvSpPr/>
          <p:nvPr/>
        </p:nvSpPr>
        <p:spPr>
          <a:xfrm>
            <a:off x="4114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Disintermediation: Cash Payment</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customer paid the cleaner directly</a:t>
            </a:r>
            <a:endParaRPr lang="en-US" sz="1150" dirty="0"/>
          </a:p>
        </p:txBody>
      </p:sp>
      <p:sp>
        <p:nvSpPr>
          <p:cNvPr id="16" name="Text 13">
            <a:hlinkClick r:id="rId11" tooltip="Go to Disintermediation: Cash Payment" action="ppaction://hlinksldjump"/>
          </p:cNvPr>
          <p:cNvSpPr/>
          <p:nvPr/>
        </p:nvSpPr>
        <p:spPr>
          <a:xfrm>
            <a:off x="5029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04</a:t>
            </a:r>
            <a:endParaRPr lang="en-US" sz="1200" dirty="0"/>
          </a:p>
        </p:txBody>
      </p:sp>
      <p:sp>
        <p:nvSpPr>
          <p:cNvPr id="17" name="Text 14">
            <a:hlinkClick r:id="rId12" tooltip="Go to Disintermediation: Cash Payment" action="ppaction://hlinksldjump"/>
          </p:cNvPr>
          <p:cNvSpPr/>
          <p:nvPr/>
        </p:nvSpPr>
        <p:spPr>
          <a:xfrm>
            <a:off x="41193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8" name="Text 15">
            <a:hlinkClick r:id="rId13" tooltip="Go to Cleaner Didn't Show" action="ppaction://hlinksldjump"/>
          </p:cNvPr>
          <p:cNvSpPr/>
          <p:nvPr/>
        </p:nvSpPr>
        <p:spPr>
          <a:xfrm>
            <a:off x="411480" y="3922776"/>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Didn't Show</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claimed the job but never came</a:t>
            </a:r>
            <a:endParaRPr lang="en-US" sz="1150" dirty="0"/>
          </a:p>
        </p:txBody>
      </p:sp>
      <p:sp>
        <p:nvSpPr>
          <p:cNvPr id="19" name="Text 16">
            <a:hlinkClick r:id="rId14" tooltip="Go to Cleaner Didn't Show" action="ppaction://hlinksldjump"/>
          </p:cNvPr>
          <p:cNvSpPr/>
          <p:nvPr/>
        </p:nvSpPr>
        <p:spPr>
          <a:xfrm>
            <a:off x="502920" y="3922776"/>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05</a:t>
            </a:r>
            <a:endParaRPr lang="en-US" sz="1200" dirty="0"/>
          </a:p>
        </p:txBody>
      </p:sp>
      <p:sp>
        <p:nvSpPr>
          <p:cNvPr id="20" name="Text 17">
            <a:hlinkClick r:id="rId15" tooltip="Go to Cleaner Didn't Show" action="ppaction://hlinksldjump"/>
          </p:cNvPr>
          <p:cNvSpPr/>
          <p:nvPr/>
        </p:nvSpPr>
        <p:spPr>
          <a:xfrm>
            <a:off x="4119372" y="3922776"/>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1" name="Text 18">
            <a:hlinkClick r:id="rId16" tooltip="Go to Cleaner Cancellation" action="ppaction://hlinksldjump"/>
          </p:cNvPr>
          <p:cNvSpPr/>
          <p:nvPr/>
        </p:nvSpPr>
        <p:spPr>
          <a:xfrm>
            <a:off x="46405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Cancellation</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cancelled a claimed job</a:t>
            </a:r>
            <a:endParaRPr lang="en-US" sz="1150" dirty="0"/>
          </a:p>
        </p:txBody>
      </p:sp>
      <p:sp>
        <p:nvSpPr>
          <p:cNvPr id="22" name="Text 19">
            <a:hlinkClick r:id="rId17" tooltip="Go to Cleaner Cancellation" action="ppaction://hlinksldjump"/>
          </p:cNvPr>
          <p:cNvSpPr/>
          <p:nvPr/>
        </p:nvSpPr>
        <p:spPr>
          <a:xfrm>
            <a:off x="47320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06</a:t>
            </a:r>
            <a:endParaRPr lang="en-US" sz="1200" dirty="0"/>
          </a:p>
        </p:txBody>
      </p:sp>
      <p:sp>
        <p:nvSpPr>
          <p:cNvPr id="23" name="Text 20">
            <a:hlinkClick r:id="rId18" tooltip="Go to Cleaner Cancellation" action="ppaction://hlinksldjump"/>
          </p:cNvPr>
          <p:cNvSpPr/>
          <p:nvPr/>
        </p:nvSpPr>
        <p:spPr>
          <a:xfrm>
            <a:off x="83484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4" name="Text 21">
            <a:hlinkClick r:id="rId19" tooltip="Go to Unauthorized Reschedule" action="ppaction://hlinksldjump"/>
          </p:cNvPr>
          <p:cNvSpPr/>
          <p:nvPr/>
        </p:nvSpPr>
        <p:spPr>
          <a:xfrm>
            <a:off x="46405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Reschedule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150" dirty="0"/>
          </a:p>
        </p:txBody>
      </p:sp>
      <p:sp>
        <p:nvSpPr>
          <p:cNvPr id="25" name="Text 22">
            <a:hlinkClick r:id="rId20" tooltip="Go to Unauthorized Reschedule" action="ppaction://hlinksldjump"/>
          </p:cNvPr>
          <p:cNvSpPr/>
          <p:nvPr/>
        </p:nvSpPr>
        <p:spPr>
          <a:xfrm>
            <a:off x="47320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07</a:t>
            </a:r>
            <a:endParaRPr lang="en-US" sz="1200" dirty="0"/>
          </a:p>
        </p:txBody>
      </p:sp>
      <p:sp>
        <p:nvSpPr>
          <p:cNvPr id="26" name="Text 23">
            <a:hlinkClick r:id="rId21" tooltip="Go to Unauthorized Reschedule" action="ppaction://hlinksldjump"/>
          </p:cNvPr>
          <p:cNvSpPr/>
          <p:nvPr/>
        </p:nvSpPr>
        <p:spPr>
          <a:xfrm>
            <a:off x="83484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7" name="Text 24">
            <a:hlinkClick r:id="rId22" tooltip="Go to Trust and Safety" action="ppaction://hlinksldjump"/>
          </p:cNvPr>
          <p:cNvSpPr/>
          <p:nvPr/>
        </p:nvSpPr>
        <p:spPr>
          <a:xfrm>
            <a:off x="46405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Trust and Safety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Safety, property or conduct risk: escalate it</a:t>
            </a:r>
            <a:endParaRPr lang="en-US" sz="1150" dirty="0"/>
          </a:p>
        </p:txBody>
      </p:sp>
      <p:sp>
        <p:nvSpPr>
          <p:cNvPr id="28" name="Text 25">
            <a:hlinkClick r:id="rId23" tooltip="Go to Trust and Safety" action="ppaction://hlinksldjump"/>
          </p:cNvPr>
          <p:cNvSpPr/>
          <p:nvPr/>
        </p:nvSpPr>
        <p:spPr>
          <a:xfrm>
            <a:off x="47320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08</a:t>
            </a:r>
            <a:endParaRPr lang="en-US" sz="1200" dirty="0"/>
          </a:p>
        </p:txBody>
      </p:sp>
      <p:sp>
        <p:nvSpPr>
          <p:cNvPr id="29" name="Text 26">
            <a:hlinkClick r:id="rId24" tooltip="Go to Trust and Safety" action="ppaction://hlinksldjump"/>
          </p:cNvPr>
          <p:cNvSpPr/>
          <p:nvPr/>
        </p:nvSpPr>
        <p:spPr>
          <a:xfrm>
            <a:off x="83484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30" name="Text 27">
            <a:hlinkClick r:id="rId25" tooltip="Go to Service Recovery" action="ppaction://hlinksldjump"/>
          </p:cNvPr>
          <p:cNvSpPr/>
          <p:nvPr/>
        </p:nvSpPr>
        <p:spPr>
          <a:xfrm>
            <a:off x="46405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Service Recovery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Legal, reputational or relationship risk: hand off</a:t>
            </a:r>
            <a:endParaRPr lang="en-US" sz="1150" dirty="0"/>
          </a:p>
        </p:txBody>
      </p:sp>
      <p:sp>
        <p:nvSpPr>
          <p:cNvPr id="31" name="Text 28">
            <a:hlinkClick r:id="rId26" tooltip="Go to Service Recovery" action="ppaction://hlinksldjump"/>
          </p:cNvPr>
          <p:cNvSpPr/>
          <p:nvPr/>
        </p:nvSpPr>
        <p:spPr>
          <a:xfrm>
            <a:off x="47320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09</a:t>
            </a:r>
            <a:endParaRPr lang="en-US" sz="1200" dirty="0"/>
          </a:p>
        </p:txBody>
      </p:sp>
      <p:sp>
        <p:nvSpPr>
          <p:cNvPr id="32" name="Text 29">
            <a:hlinkClick r:id="rId27" tooltip="Go to Service Recovery" action="ppaction://hlinksldjump"/>
          </p:cNvPr>
          <p:cNvSpPr/>
          <p:nvPr/>
        </p:nvSpPr>
        <p:spPr>
          <a:xfrm>
            <a:off x="83484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but increased the hours</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if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false invoice or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1874520" y="2011680"/>
            <a:ext cx="3794760" cy="0"/>
          </a:xfrm>
          <a:prstGeom prst="line">
            <a:avLst/>
          </a:prstGeom>
          <a:noFill/>
          <a:ln w="12700">
            <a:solidFill>
              <a:srgbClr val="6E6E73"/>
            </a:solidFill>
            <a:prstDash val="solid"/>
          </a:ln>
        </p:spPr>
      </p:sp>
      <p:sp>
        <p:nvSpPr>
          <p:cNvPr id="10" name="Shape 7"/>
          <p:cNvSpPr/>
          <p:nvPr/>
        </p:nvSpPr>
        <p:spPr>
          <a:xfrm>
            <a:off x="1874520" y="2011680"/>
            <a:ext cx="0" cy="228600"/>
          </a:xfrm>
          <a:prstGeom prst="line">
            <a:avLst/>
          </a:prstGeom>
          <a:noFill/>
          <a:ln w="12700">
            <a:solidFill>
              <a:srgbClr val="6E6E73"/>
            </a:solidFill>
            <a:prstDash val="solid"/>
            <a:tailEnd type="triangle"/>
          </a:ln>
        </p:spPr>
      </p:sp>
      <p:sp>
        <p:nvSpPr>
          <p:cNvPr id="11" name="Shape 8"/>
          <p:cNvSpPr/>
          <p:nvPr/>
        </p:nvSpPr>
        <p:spPr>
          <a:xfrm>
            <a:off x="5669280" y="2011680"/>
            <a:ext cx="0" cy="228600"/>
          </a:xfrm>
          <a:prstGeom prst="line">
            <a:avLst/>
          </a:prstGeom>
          <a:noFill/>
          <a:ln w="12700">
            <a:solidFill>
              <a:srgbClr val="6E6E73"/>
            </a:solidFill>
            <a:prstDash val="solid"/>
            <a:tailEnd type="triangle"/>
          </a:ln>
        </p:spPr>
      </p:sp>
      <p:sp>
        <p:nvSpPr>
          <p:cNvPr id="12" name="Text 9"/>
          <p:cNvSpPr txBox="1"/>
          <p:nvPr/>
        </p:nvSpPr>
        <p:spPr>
          <a:xfrm>
            <a:off x="194767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574243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Text 11">
            <a:hlinkClick r:id="rId1" tooltip="Go to Branch A" action="ppaction://hlinksldjump"/>
          </p:cNvPr>
          <p:cNvSpPr/>
          <p:nvPr/>
        </p:nvSpPr>
        <p:spPr>
          <a:xfrm>
            <a:off x="594360" y="2240280"/>
            <a:ext cx="2560320" cy="475488"/>
          </a:xfrm>
          <a:prstGeom prst="roundRect">
            <a:avLst>
              <a:gd name="adj" fmla="val 1538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Skip to Branch A  ›</a:t>
            </a:r>
            <a:endParaRPr lang="en-US" sz="1000" dirty="0"/>
          </a:p>
        </p:txBody>
      </p:sp>
      <p:sp>
        <p:nvSpPr>
          <p:cNvPr id="15" name="Text 12"/>
          <p:cNvSpPr/>
          <p:nvPr/>
        </p:nvSpPr>
        <p:spPr>
          <a:xfrm>
            <a:off x="4389120" y="2240280"/>
            <a:ext cx="2560320" cy="475488"/>
          </a:xfrm>
          <a:prstGeom prst="roundRect">
            <a:avLst>
              <a:gd name="adj" fmla="val 15385"/>
            </a:avLst>
          </a:prstGeom>
          <a:solidFill>
            <a:srgbClr val="0B7A6F"/>
          </a:solidFill>
          <a:ln w="12700">
            <a:solidFill>
              <a:srgbClr val="0B7A6F"/>
            </a:solidFill>
          </a:ln>
        </p:spPr>
        <p:txBody>
          <a:bodyPr wrap="square"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  ›</a:t>
            </a:r>
            <a:endParaRPr lang="en-US" sz="1000" dirty="0"/>
          </a:p>
        </p:txBody>
      </p:sp>
      <p:sp>
        <p:nvSpPr>
          <p:cNvPr id="16" name="Shape 13"/>
          <p:cNvSpPr/>
          <p:nvPr/>
        </p:nvSpPr>
        <p:spPr>
          <a:xfrm>
            <a:off x="5669280" y="2715768"/>
            <a:ext cx="0" cy="137160"/>
          </a:xfrm>
          <a:prstGeom prst="line">
            <a:avLst/>
          </a:prstGeom>
          <a:noFill/>
          <a:ln w="12700">
            <a:solidFill>
              <a:srgbClr val="6E6E73"/>
            </a:solidFill>
            <a:prstDash val="solid"/>
            <a:tailEnd type="triangle"/>
          </a:ln>
        </p:spPr>
      </p:sp>
      <p:sp>
        <p:nvSpPr>
          <p:cNvPr id="17" name="Shape 14"/>
          <p:cNvSpPr/>
          <p:nvPr/>
        </p:nvSpPr>
        <p:spPr>
          <a:xfrm>
            <a:off x="4389120" y="2852928"/>
            <a:ext cx="2560320" cy="475488"/>
          </a:xfrm>
          <a:prstGeom prst="roundRect">
            <a:avLst>
              <a:gd name="adj" fmla="val 15385"/>
            </a:avLst>
          </a:prstGeom>
          <a:solidFill>
            <a:srgbClr val="FFF3D6"/>
          </a:solidFill>
          <a:ln w="12700">
            <a:solidFill>
              <a:srgbClr val="9A6410"/>
            </a:solidFill>
            <a:prstDash val="solid"/>
          </a:ln>
        </p:spPr>
      </p:sp>
      <p:sp>
        <p:nvSpPr>
          <p:cNvPr id="18" name="Text 15"/>
          <p:cNvSpPr txBox="1"/>
          <p:nvPr/>
        </p:nvSpPr>
        <p:spPr>
          <a:xfrm>
            <a:off x="4389120" y="285292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19" name="Shape 16"/>
          <p:cNvSpPr/>
          <p:nvPr/>
        </p:nvSpPr>
        <p:spPr>
          <a:xfrm>
            <a:off x="5669280" y="3328416"/>
            <a:ext cx="0" cy="182880"/>
          </a:xfrm>
          <a:prstGeom prst="line">
            <a:avLst/>
          </a:prstGeom>
          <a:noFill/>
          <a:ln w="12700">
            <a:solidFill>
              <a:srgbClr val="6E6E73"/>
            </a:solidFill>
            <a:prstDash val="solid"/>
          </a:ln>
        </p:spPr>
      </p:sp>
      <p:sp>
        <p:nvSpPr>
          <p:cNvPr id="20" name="Shape 17"/>
          <p:cNvSpPr/>
          <p:nvPr/>
        </p:nvSpPr>
        <p:spPr>
          <a:xfrm>
            <a:off x="4526280" y="3511296"/>
            <a:ext cx="2286000" cy="0"/>
          </a:xfrm>
          <a:prstGeom prst="line">
            <a:avLst/>
          </a:prstGeom>
          <a:noFill/>
          <a:ln w="12700">
            <a:solidFill>
              <a:srgbClr val="6E6E73"/>
            </a:solidFill>
            <a:prstDash val="solid"/>
          </a:ln>
        </p:spPr>
      </p:sp>
      <p:sp>
        <p:nvSpPr>
          <p:cNvPr id="21" name="Shape 18"/>
          <p:cNvSpPr/>
          <p:nvPr/>
        </p:nvSpPr>
        <p:spPr>
          <a:xfrm>
            <a:off x="4526280" y="3511296"/>
            <a:ext cx="0" cy="192024"/>
          </a:xfrm>
          <a:prstGeom prst="line">
            <a:avLst/>
          </a:prstGeom>
          <a:noFill/>
          <a:ln w="12700">
            <a:solidFill>
              <a:srgbClr val="6E6E73"/>
            </a:solidFill>
            <a:prstDash val="solid"/>
            <a:tailEnd type="triangle"/>
          </a:ln>
        </p:spPr>
      </p:sp>
      <p:sp>
        <p:nvSpPr>
          <p:cNvPr id="22" name="Shape 19"/>
          <p:cNvSpPr/>
          <p:nvPr/>
        </p:nvSpPr>
        <p:spPr>
          <a:xfrm>
            <a:off x="6812280" y="3511296"/>
            <a:ext cx="0" cy="192024"/>
          </a:xfrm>
          <a:prstGeom prst="line">
            <a:avLst/>
          </a:prstGeom>
          <a:noFill/>
          <a:ln w="12700">
            <a:solidFill>
              <a:srgbClr val="6E6E73"/>
            </a:solidFill>
            <a:prstDash val="solid"/>
            <a:tailEnd type="triangle"/>
          </a:ln>
        </p:spPr>
      </p:sp>
      <p:sp>
        <p:nvSpPr>
          <p:cNvPr id="23" name="Text 20"/>
          <p:cNvSpPr txBox="1"/>
          <p:nvPr/>
        </p:nvSpPr>
        <p:spPr>
          <a:xfrm>
            <a:off x="4599432" y="3529584"/>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4" name="Text 21"/>
          <p:cNvSpPr txBox="1"/>
          <p:nvPr/>
        </p:nvSpPr>
        <p:spPr>
          <a:xfrm>
            <a:off x="6885432" y="3529584"/>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5" name="Shape 22"/>
          <p:cNvSpPr/>
          <p:nvPr/>
        </p:nvSpPr>
        <p:spPr>
          <a:xfrm>
            <a:off x="3474720" y="3703320"/>
            <a:ext cx="2103120" cy="420624"/>
          </a:xfrm>
          <a:prstGeom prst="roundRect">
            <a:avLst>
              <a:gd name="adj" fmla="val 17391"/>
            </a:avLst>
          </a:prstGeom>
          <a:solidFill>
            <a:srgbClr val="FFFFFF"/>
          </a:solidFill>
          <a:ln w="12700">
            <a:solidFill>
              <a:srgbClr val="DCE1E7"/>
            </a:solidFill>
            <a:prstDash val="solid"/>
          </a:ln>
        </p:spPr>
      </p:sp>
      <p:sp>
        <p:nvSpPr>
          <p:cNvPr id="26" name="Text 23"/>
          <p:cNvSpPr txBox="1"/>
          <p:nvPr/>
        </p:nvSpPr>
        <p:spPr>
          <a:xfrm>
            <a:off x="3474720" y="370332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7" name="Text 24"/>
          <p:cNvSpPr/>
          <p:nvPr/>
        </p:nvSpPr>
        <p:spPr>
          <a:xfrm>
            <a:off x="5715000" y="3703320"/>
            <a:ext cx="2194560" cy="420624"/>
          </a:xfrm>
          <a:prstGeom prst="roundRect">
            <a:avLst>
              <a:gd name="adj" fmla="val 17391"/>
            </a:avLst>
          </a:prstGeom>
          <a:solidFill>
            <a:srgbClr val="1D1D1F"/>
          </a:solidFill>
          <a:ln w="25400">
            <a:solidFill>
              <a:srgbClr val="0B7A6F"/>
            </a:solidFill>
          </a:ln>
        </p:spPr>
        <p:txBody>
          <a:bodyPr wrap="square"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28" name="Penalty panel"/>
          <p:cNvSpPr/>
          <p:nvPr/>
        </p:nvSpPr>
        <p:spPr>
          <a:xfrm>
            <a:off x="411480" y="2852928"/>
            <a:ext cx="2926080" cy="1271016"/>
          </a:xfrm>
          <a:prstGeom prst="roundRect">
            <a:avLst>
              <a:gd name="adj" fmla="val 4317"/>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29" name="Shape 26"/>
          <p:cNvSpPr/>
          <p:nvPr/>
        </p:nvSpPr>
        <p:spPr>
          <a:xfrm>
            <a:off x="411480" y="2852928"/>
            <a:ext cx="2926080" cy="292608"/>
          </a:xfrm>
          <a:prstGeom prst="rect">
            <a:avLst/>
          </a:prstGeom>
          <a:solidFill>
            <a:srgbClr val="0B7A6F"/>
          </a:solidFill>
          <a:ln w="12700">
            <a:solidFill>
              <a:srgbClr val="0B7A6F"/>
            </a:solidFill>
            <a:prstDash val="solid"/>
          </a:ln>
        </p:spPr>
      </p:sp>
      <p:sp>
        <p:nvSpPr>
          <p:cNvPr id="30" name="Text 27"/>
          <p:cNvSpPr txBox="1"/>
          <p:nvPr/>
        </p:nvSpPr>
        <p:spPr>
          <a:xfrm>
            <a:off x="548640" y="2852928"/>
            <a:ext cx="26517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1" name="Text 28"/>
          <p:cNvSpPr txBox="1"/>
          <p:nvPr/>
        </p:nvSpPr>
        <p:spPr>
          <a:xfrm>
            <a:off x="548640" y="3236976"/>
            <a:ext cx="2651760" cy="813816"/>
          </a:xfrm>
          <a:prstGeom prst="rect">
            <a:avLst/>
          </a:prstGeom>
          <a:noFill/>
          <a:ln/>
        </p:spPr>
        <p:txBody>
          <a:bodyPr wrap="square" lIns="0" tIns="0" rIns="0" bIns="0" rtlCol="0" anchor="t"/>
          <a:lstStyle/>
          <a:p>
            <a:pPr indent="0" marL="0">
              <a:spcAft>
                <a:spcPts val="600"/>
              </a:spcAft>
              <a:buNone/>
            </a:pPr>
            <a:r>
              <a:rPr lang="en-US" sz="950" b="1" dirty="0">
                <a:solidFill>
                  <a:srgbClr val="0B7A6F"/>
                </a:solidFill>
                <a:latin typeface="SF Pro Text" pitchFamily="34" charset="0"/>
                <a:ea typeface="SF Pro Text" pitchFamily="34" charset="-122"/>
                <a:cs typeface="SF Pro Text" pitchFamily="34" charset="-120"/>
              </a:rPr>
              <a:t>≥ 30 minutes overcharged:  </a:t>
            </a:r>
            <a:pPr indent="0" marL="0">
              <a:spcAft>
                <a:spcPts val="600"/>
              </a:spcAft>
              <a:buNone/>
            </a:pPr>
            <a:r>
              <a:rPr lang="en-US" sz="950" dirty="0">
                <a:solidFill>
                  <a:srgbClr val="1D1D1F"/>
                </a:solidFill>
                <a:latin typeface="SF Pro Text" pitchFamily="34" charset="0"/>
                <a:ea typeface="SF Pro Text" pitchFamily="34" charset="-122"/>
                <a:cs typeface="SF Pro Text" pitchFamily="34" charset="-120"/>
              </a:rPr>
              <a:t>add flag cp_overcharged_hours + norequests</a:t>
            </a:r>
            <a:endParaRPr lang="en-US" sz="950" dirty="0"/>
          </a:p>
          <a:p>
            <a:pPr indent="0" marL="0">
              <a:spcAft>
                <a:spcPts val="600"/>
              </a:spcAft>
              <a:buNone/>
            </a:pPr>
            <a:r>
              <a:rPr lang="en-US" sz="950" b="1" dirty="0">
                <a:solidFill>
                  <a:srgbClr val="0B7A6F"/>
                </a:solidFill>
                <a:latin typeface="SF Pro Text" pitchFamily="34" charset="0"/>
                <a:ea typeface="SF Pro Text" pitchFamily="34" charset="-122"/>
                <a:cs typeface="SF Pro Text" pitchFamily="34" charset="-120"/>
              </a:rPr>
              <a:t>&lt; 30 minutes overcharged:  </a:t>
            </a:r>
            <a:pPr indent="0" marL="0">
              <a:spcAft>
                <a:spcPts val="600"/>
              </a:spcAft>
              <a:buNone/>
            </a:pPr>
            <a:r>
              <a:rPr lang="en-US" sz="950" dirty="0">
                <a:solidFill>
                  <a:srgbClr val="1D1D1F"/>
                </a:solidFill>
                <a:latin typeface="SF Pro Text" pitchFamily="34" charset="0"/>
                <a:ea typeface="SF Pro Text" pitchFamily="34" charset="-122"/>
                <a:cs typeface="SF Pro Text" pitchFamily="34" charset="-120"/>
              </a:rPr>
              <a:t>no flag, no penalty</a:t>
            </a:r>
            <a:endParaRPr lang="en-US" sz="950" dirty="0"/>
          </a:p>
        </p:txBody>
      </p:sp>
      <p:sp>
        <p:nvSpPr>
          <p:cNvPr id="32" name="pop1_2Panel"/>
          <p:cNvSpPr/>
          <p:nvPr/>
        </p:nvSpPr>
        <p:spPr>
          <a:xfrm>
            <a:off x="411480" y="2852928"/>
            <a:ext cx="2926080" cy="1271016"/>
          </a:xfrm>
          <a:prstGeom prst="roundRect">
            <a:avLst>
              <a:gd name="adj" fmla="val 4317"/>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3" name="pop1_2Title"/>
          <p:cNvSpPr txBox="1"/>
          <p:nvPr/>
        </p:nvSpPr>
        <p:spPr>
          <a:xfrm>
            <a:off x="548640" y="2898648"/>
            <a:ext cx="18288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4" name="pop1_2Tag">
            <a:hlinkClick r:id="rId2" tooltip="Play the Timed Reminder demo"/>
          </p:cNvPr>
          <p:cNvSpPr/>
          <p:nvPr/>
        </p:nvSpPr>
        <p:spPr>
          <a:xfrm>
            <a:off x="2194560" y="2916936"/>
            <a:ext cx="1051560" cy="237744"/>
          </a:xfrm>
          <a:prstGeom prst="roundRect">
            <a:avLst>
              <a:gd name="adj" fmla="val 23077"/>
            </a:avLst>
          </a:prstGeom>
          <a:solidFill>
            <a:srgbClr val="9A6410"/>
          </a:solidFill>
          <a:ln>
            <a:solidFill>
              <a:srgbClr val="9A6410"/>
            </a:solidFill>
          </a:ln>
        </p:spPr>
        <p:txBody>
          <a:bodyPr wrap="square" lIns="25400" tIns="0" rIns="25400" bIns="0" rtlCol="0" anchor="ctr"/>
          <a:lstStyle/>
          <a:p>
            <a:pPr algn="ctr" indent="0" marL="0">
              <a:buNone/>
            </a:pPr>
            <a:r>
              <a:rPr lang="en-US" sz="800" b="1" u="none" dirty="0">
                <a:solidFill>
                  <a:srgbClr val="FFFFFF"/>
                </a:solidFill>
              </a:rPr>
              <a:t>▶  Trainer demo</a:t>
            </a:r>
            <a:endParaRPr lang="en-US" sz="800" dirty="0"/>
          </a:p>
        </p:txBody>
      </p:sp>
      <p:sp>
        <p:nvSpPr>
          <p:cNvPr id="35" name="pop1_2Body"/>
          <p:cNvSpPr txBox="1"/>
          <p:nvPr/>
        </p:nvSpPr>
        <p:spPr>
          <a:xfrm>
            <a:off x="548640" y="3200400"/>
            <a:ext cx="2651760" cy="859536"/>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hape 33"/>
          <p:cNvSpPr/>
          <p:nvPr/>
        </p:nvSpPr>
        <p:spPr>
          <a:xfrm>
            <a:off x="411480" y="4315968"/>
            <a:ext cx="2926080" cy="292608"/>
          </a:xfrm>
          <a:prstGeom prst="roundRect">
            <a:avLst>
              <a:gd name="adj" fmla="val 25000"/>
            </a:avLst>
          </a:prstGeom>
          <a:solidFill>
            <a:srgbClr val="FFF3D6"/>
          </a:solidFill>
          <a:ln w="9525">
            <a:solidFill>
              <a:srgbClr val="9A6410"/>
            </a:solidFill>
            <a:prstDash val="solid"/>
          </a:ln>
        </p:spPr>
      </p:sp>
      <p:pic>
        <p:nvPicPr>
          <p:cNvPr id="37" name="Image 0" descr="preencoded.png">    </p:cNvPr>
          <p:cNvPicPr>
            <a:picLocks noChangeAspect="1"/>
          </p:cNvPicPr>
          <p:nvPr/>
        </p:nvPicPr>
        <p:blipFill>
          <a:blip r:embed="rId3"/>
          <a:stretch>
            <a:fillRect/>
          </a:stretch>
        </p:blipFill>
        <p:spPr>
          <a:xfrm>
            <a:off x="521208" y="4389120"/>
            <a:ext cx="146304" cy="146304"/>
          </a:xfrm>
          <a:prstGeom prst="rect">
            <a:avLst/>
          </a:prstGeom>
        </p:spPr>
      </p:pic>
      <p:sp>
        <p:nvSpPr>
          <p:cNvPr id="38" name="Text 34"/>
          <p:cNvSpPr txBox="1"/>
          <p:nvPr/>
        </p:nvSpPr>
        <p:spPr>
          <a:xfrm>
            <a:off x="731520" y="4315968"/>
            <a:ext cx="25603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Overcharged hrs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600"/>
                                        <p:tgtEl>
                                          <p:spTgt spid="3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600"/>
                                        <p:tgtEl>
                                          <p:spTgt spid="3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600"/>
                                        <p:tgtEl>
                                          <p:spTgt spid="3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600"/>
                                        <p:tgtEl>
                                          <p:spTgt spid="35"/>
                                        </p:tgtEl>
                                      </p:cBhvr>
                                    </p:animEffect>
                                  </p:childTnLst>
                                </p:cTn>
                              </p:par>
                            </p:childTnLst>
                          </p:cTn>
                        </p:par>
                      </p:childTnLst>
                    </p:cTn>
                  </p:par>
                  <p:par>
                    <p:cTn id="29" fill="hold">
                      <p:stCondLst>
                        <p:cond delay="indefinite"/>
                      </p:stCondLst>
                      <p:childTnLst>
                        <p:par>
                          <p:cTn id="30"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32"/>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33"/>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34"/>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3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2" grpId="1" animBg="1"/>
      <p:bldP spid="33" grpId="1" animBg="1"/>
      <p:bldP spid="34" grpId="1" animBg="1"/>
      <p:bldP spid="35"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show via Admin Page: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NO SHOW</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850" dirty="0">
                <a:solidFill>
                  <a:srgbClr val="1D1D1F"/>
                </a:solidFill>
                <a:latin typeface="SF Pro Text" pitchFamily="34" charset="0"/>
                <a:ea typeface="SF Pro Text" pitchFamily="34" charset="-122"/>
                <a:cs typeface="SF Pro Text" pitchFamily="34" charset="-120"/>
              </a:rPr>
              <a:t>Penalize CP? Report the CP as a no-show: Job Admin Page › No Show.</a:t>
            </a:r>
            <a:endParaRPr lang="en-US" sz="850" dirty="0"/>
          </a:p>
          <a:p>
            <a:pPr algn="ctr" indent="0" marL="0">
              <a:buNone/>
            </a:pPr>
            <a:r>
              <a:rPr lang="en-US" sz="850" dirty="0">
                <a:solidFill>
                  <a:srgbClr val="1D1D1F"/>
                </a:solidFill>
                <a:latin typeface="SF Pro Text" pitchFamily="34" charset="0"/>
                <a:ea typeface="SF Pro Text" pitchFamily="34" charset="-122"/>
                <a:cs typeface="SF Pro Text" pitchFamily="34" charset="-120"/>
              </a:rPr>
              <a:t>No penalty? Cancel the job from C-CRM with the CP No Show/Reschedule code.</a:t>
            </a:r>
            <a:endParaRPr lang="en-US" sz="8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to book a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CANCELLATION</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Cancel via the CP Dashboard or rematch the CP.</a:t>
            </a:r>
            <a:endParaRPr lang="en-US" sz="9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5" name="Shape 2"/>
          <p:cNvSpPr/>
          <p:nvPr/>
        </p:nvSpPr>
        <p:spPr>
          <a:xfrm>
            <a:off x="2377440" y="1005840"/>
            <a:ext cx="2560320" cy="310896"/>
          </a:xfrm>
          <a:prstGeom prst="roundRect">
            <a:avLst>
              <a:gd name="adj" fmla="val 23529"/>
            </a:avLst>
          </a:prstGeom>
          <a:solidFill>
            <a:srgbClr val="1D1D1F"/>
          </a:solidFill>
          <a:ln w="12700">
            <a:solidFill>
              <a:srgbClr val="1D1D1F"/>
            </a:solidFill>
            <a:prstDash val="solid"/>
          </a:ln>
        </p:spPr>
      </p:sp>
      <p:sp>
        <p:nvSpPr>
          <p:cNvPr id="6" name="Text 3"/>
          <p:cNvSpPr txBox="1"/>
          <p:nvPr/>
        </p:nvSpPr>
        <p:spPr>
          <a:xfrm>
            <a:off x="2377440" y="1005840"/>
            <a:ext cx="25603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UNAUTHORIZED RESCHEDULE</a:t>
            </a:r>
            <a:endParaRPr lang="en-US" sz="1000" dirty="0"/>
          </a:p>
        </p:txBody>
      </p:sp>
      <p:sp>
        <p:nvSpPr>
          <p:cNvPr id="7" name="Shape 4"/>
          <p:cNvSpPr/>
          <p:nvPr/>
        </p:nvSpPr>
        <p:spPr>
          <a:xfrm>
            <a:off x="3657600" y="1316736"/>
            <a:ext cx="0" cy="146304"/>
          </a:xfrm>
          <a:prstGeom prst="line">
            <a:avLst/>
          </a:prstGeom>
          <a:noFill/>
          <a:ln w="12700">
            <a:solidFill>
              <a:srgbClr val="6E6E73"/>
            </a:solidFill>
            <a:prstDash val="solid"/>
            <a:tailEnd type="triangle"/>
          </a:ln>
        </p:spPr>
      </p:sp>
      <p:sp>
        <p:nvSpPr>
          <p:cNvPr id="8" name="Shape 5"/>
          <p:cNvSpPr/>
          <p:nvPr/>
        </p:nvSpPr>
        <p:spPr>
          <a:xfrm>
            <a:off x="2057400" y="1463040"/>
            <a:ext cx="3200400" cy="457200"/>
          </a:xfrm>
          <a:prstGeom prst="roundRect">
            <a:avLst>
              <a:gd name="adj" fmla="val 16000"/>
            </a:avLst>
          </a:prstGeom>
          <a:solidFill>
            <a:srgbClr val="FFF3D6"/>
          </a:solidFill>
          <a:ln w="12700">
            <a:solidFill>
              <a:srgbClr val="9A6410"/>
            </a:solidFill>
            <a:prstDash val="solid"/>
          </a:ln>
        </p:spPr>
      </p:sp>
      <p:sp>
        <p:nvSpPr>
          <p:cNvPr id="9" name="Text 6"/>
          <p:cNvSpPr txBox="1"/>
          <p:nvPr/>
        </p:nvSpPr>
        <p:spPr>
          <a:xfrm>
            <a:off x="2057400" y="1463040"/>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Is the 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10" name="Shape 7"/>
          <p:cNvSpPr/>
          <p:nvPr/>
        </p:nvSpPr>
        <p:spPr>
          <a:xfrm>
            <a:off x="5257800" y="1691640"/>
            <a:ext cx="640080" cy="0"/>
          </a:xfrm>
          <a:prstGeom prst="line">
            <a:avLst/>
          </a:prstGeom>
          <a:noFill/>
          <a:ln w="12700">
            <a:solidFill>
              <a:srgbClr val="6E6E73"/>
            </a:solidFill>
            <a:prstDash val="solid"/>
            <a:tailEnd type="triangle"/>
          </a:ln>
        </p:spPr>
      </p:sp>
      <p:sp>
        <p:nvSpPr>
          <p:cNvPr id="11" name="Text 8"/>
          <p:cNvSpPr txBox="1"/>
          <p:nvPr/>
        </p:nvSpPr>
        <p:spPr>
          <a:xfrm>
            <a:off x="5349240" y="1481328"/>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2" name="Shape 9"/>
          <p:cNvSpPr/>
          <p:nvPr/>
        </p:nvSpPr>
        <p:spPr>
          <a:xfrm>
            <a:off x="5897880" y="1051560"/>
            <a:ext cx="2834640" cy="1280160"/>
          </a:xfrm>
          <a:prstGeom prst="roundRect">
            <a:avLst>
              <a:gd name="adj" fmla="val 5714"/>
            </a:avLst>
          </a:prstGeom>
          <a:solidFill>
            <a:srgbClr val="FFFFFF"/>
          </a:solidFill>
          <a:ln w="9525">
            <a:solidFill>
              <a:srgbClr val="DCE1E7"/>
            </a:solidFill>
            <a:prstDash val="solid"/>
          </a:ln>
        </p:spPr>
      </p:sp>
      <p:sp>
        <p:nvSpPr>
          <p:cNvPr id="13" name="Text 10"/>
          <p:cNvSpPr txBox="1"/>
          <p:nvPr/>
        </p:nvSpPr>
        <p:spPr>
          <a:xfrm>
            <a:off x="5989320" y="1051560"/>
            <a:ext cx="2697480" cy="128016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Update CP Step if warranted</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Coach and ban the CP</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Offer the C a Priority Booking and address any other pain points</a:t>
            </a:r>
            <a:endParaRPr lang="en-US" sz="900" dirty="0"/>
          </a:p>
        </p:txBody>
      </p:sp>
      <p:sp>
        <p:nvSpPr>
          <p:cNvPr id="14" name="Shape 11"/>
          <p:cNvSpPr/>
          <p:nvPr/>
        </p:nvSpPr>
        <p:spPr>
          <a:xfrm>
            <a:off x="3657600" y="1920240"/>
            <a:ext cx="0" cy="182880"/>
          </a:xfrm>
          <a:prstGeom prst="line">
            <a:avLst/>
          </a:prstGeom>
          <a:noFill/>
          <a:ln w="12700">
            <a:solidFill>
              <a:srgbClr val="6E6E73"/>
            </a:solidFill>
            <a:prstDash val="solid"/>
            <a:tailEnd type="triangle"/>
          </a:ln>
        </p:spPr>
      </p:sp>
      <p:sp>
        <p:nvSpPr>
          <p:cNvPr id="15" name="Text 12"/>
          <p:cNvSpPr txBox="1"/>
          <p:nvPr/>
        </p:nvSpPr>
        <p:spPr>
          <a:xfrm>
            <a:off x="3730752" y="1901952"/>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Shape 13"/>
          <p:cNvSpPr/>
          <p:nvPr/>
        </p:nvSpPr>
        <p:spPr>
          <a:xfrm>
            <a:off x="1737360" y="2103120"/>
            <a:ext cx="3840480" cy="502920"/>
          </a:xfrm>
          <a:prstGeom prst="roundRect">
            <a:avLst>
              <a:gd name="adj" fmla="val 14545"/>
            </a:avLst>
          </a:prstGeom>
          <a:solidFill>
            <a:srgbClr val="E3F4F1"/>
          </a:solidFill>
          <a:ln w="9525">
            <a:solidFill>
              <a:srgbClr val="0B7A6F"/>
            </a:solidFill>
            <a:prstDash val="solid"/>
          </a:ln>
        </p:spPr>
      </p:sp>
      <p:sp>
        <p:nvSpPr>
          <p:cNvPr id="17" name="Text 14"/>
          <p:cNvSpPr txBox="1"/>
          <p:nvPr/>
        </p:nvSpPr>
        <p:spPr>
          <a:xfrm>
            <a:off x="1828800" y="2103120"/>
            <a:ext cx="3657600" cy="50292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Add the </a:t>
            </a:r>
            <a:pPr algn="ctr" indent="0" marL="0">
              <a:buNone/>
            </a:pPr>
            <a:r>
              <a:rPr lang="en-US" sz="900" i="1" dirty="0">
                <a:solidFill>
                  <a:srgbClr val="1D1D1F"/>
                </a:solidFill>
                <a:latin typeface="SF Pro Text" pitchFamily="34" charset="0"/>
                <a:ea typeface="SF Pro Text" pitchFamily="34" charset="-122"/>
                <a:cs typeface="SF Pro Text" pitchFamily="34" charset="-120"/>
              </a:rPr>
              <a:t>cp_unauthorized_reschedule</a:t>
            </a:r>
            <a:pPr algn="ctr" indent="0" marL="0">
              <a:buNone/>
            </a:pPr>
            <a:r>
              <a:rPr lang="en-US" sz="900" dirty="0">
                <a:solidFill>
                  <a:srgbClr val="1D1D1F"/>
                </a:solidFill>
                <a:latin typeface="SF Pro Text" pitchFamily="34" charset="0"/>
                <a:ea typeface="SF Pro Text" pitchFamily="34" charset="-122"/>
                <a:cs typeface="SF Pro Text" pitchFamily="34" charset="-120"/>
              </a:rPr>
              <a:t> flag, update their CP Step if warranted, coach and ban the CP.</a:t>
            </a:r>
            <a:endParaRPr lang="en-US" sz="900" dirty="0"/>
          </a:p>
        </p:txBody>
      </p:sp>
      <p:sp>
        <p:nvSpPr>
          <p:cNvPr id="18" name="Shape 15"/>
          <p:cNvSpPr/>
          <p:nvPr/>
        </p:nvSpPr>
        <p:spPr>
          <a:xfrm>
            <a:off x="3657600" y="2606040"/>
            <a:ext cx="0" cy="137160"/>
          </a:xfrm>
          <a:prstGeom prst="line">
            <a:avLst/>
          </a:prstGeom>
          <a:noFill/>
          <a:ln w="12700">
            <a:solidFill>
              <a:srgbClr val="6E6E73"/>
            </a:solidFill>
            <a:prstDash val="solid"/>
          </a:ln>
        </p:spPr>
      </p:sp>
      <p:sp>
        <p:nvSpPr>
          <p:cNvPr id="19" name="Shape 16"/>
          <p:cNvSpPr/>
          <p:nvPr/>
        </p:nvSpPr>
        <p:spPr>
          <a:xfrm>
            <a:off x="1394460" y="2743200"/>
            <a:ext cx="6309360" cy="0"/>
          </a:xfrm>
          <a:prstGeom prst="line">
            <a:avLst/>
          </a:prstGeom>
          <a:noFill/>
          <a:ln w="12700">
            <a:solidFill>
              <a:srgbClr val="6E6E73"/>
            </a:solidFill>
            <a:prstDash val="solid"/>
          </a:ln>
        </p:spPr>
      </p:sp>
      <p:sp>
        <p:nvSpPr>
          <p:cNvPr id="20" name="Shape 17"/>
          <p:cNvSpPr/>
          <p:nvPr/>
        </p:nvSpPr>
        <p:spPr>
          <a:xfrm>
            <a:off x="1394460" y="2743200"/>
            <a:ext cx="0" cy="137160"/>
          </a:xfrm>
          <a:prstGeom prst="line">
            <a:avLst/>
          </a:prstGeom>
          <a:noFill/>
          <a:ln w="12700">
            <a:solidFill>
              <a:srgbClr val="6E6E73"/>
            </a:solidFill>
            <a:prstDash val="solid"/>
            <a:tailEnd type="triangle"/>
          </a:ln>
        </p:spPr>
      </p:sp>
      <p:sp>
        <p:nvSpPr>
          <p:cNvPr id="21" name="Shape 18"/>
          <p:cNvSpPr/>
          <p:nvPr/>
        </p:nvSpPr>
        <p:spPr>
          <a:xfrm>
            <a:off x="411480" y="2880360"/>
            <a:ext cx="1965960" cy="457200"/>
          </a:xfrm>
          <a:prstGeom prst="roundRect">
            <a:avLst>
              <a:gd name="adj" fmla="val 16000"/>
            </a:avLst>
          </a:prstGeom>
          <a:solidFill>
            <a:srgbClr val="0B7A6F"/>
          </a:solidFill>
          <a:ln w="12700">
            <a:solidFill>
              <a:srgbClr val="0B7A6F"/>
            </a:solidFill>
            <a:prstDash val="solid"/>
          </a:ln>
        </p:spPr>
      </p:sp>
      <p:sp>
        <p:nvSpPr>
          <p:cNvPr id="22" name="Text 19"/>
          <p:cNvSpPr txBox="1"/>
          <p:nvPr/>
        </p:nvSpPr>
        <p:spPr>
          <a:xfrm>
            <a:off x="41148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&gt;48 hours away</a:t>
            </a:r>
            <a:endParaRPr lang="en-US" sz="1000" dirty="0"/>
          </a:p>
        </p:txBody>
      </p:sp>
      <p:sp>
        <p:nvSpPr>
          <p:cNvPr id="23" name="Shape 20"/>
          <p:cNvSpPr/>
          <p:nvPr/>
        </p:nvSpPr>
        <p:spPr>
          <a:xfrm>
            <a:off x="411480" y="3337560"/>
            <a:ext cx="1965960" cy="1097280"/>
          </a:xfrm>
          <a:prstGeom prst="roundRect">
            <a:avLst>
              <a:gd name="adj" fmla="val 6667"/>
            </a:avLst>
          </a:prstGeom>
          <a:solidFill>
            <a:srgbClr val="E3F4F1"/>
          </a:solidFill>
          <a:ln w="9525">
            <a:solidFill>
              <a:srgbClr val="0B7A6F"/>
            </a:solidFill>
            <a:prstDash val="solid"/>
          </a:ln>
        </p:spPr>
      </p:sp>
      <p:sp>
        <p:nvSpPr>
          <p:cNvPr id="24" name="Text 21"/>
          <p:cNvSpPr txBox="1"/>
          <p:nvPr/>
        </p:nvSpPr>
        <p:spPr>
          <a:xfrm>
            <a:off x="48463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Reschedule back to the original job start time.</a:t>
            </a:r>
            <a:endParaRPr lang="en-US" sz="900" dirty="0"/>
          </a:p>
        </p:txBody>
      </p:sp>
      <p:sp>
        <p:nvSpPr>
          <p:cNvPr id="25" name="Shape 22"/>
          <p:cNvSpPr/>
          <p:nvPr/>
        </p:nvSpPr>
        <p:spPr>
          <a:xfrm>
            <a:off x="3497580" y="2743200"/>
            <a:ext cx="0" cy="137160"/>
          </a:xfrm>
          <a:prstGeom prst="line">
            <a:avLst/>
          </a:prstGeom>
          <a:noFill/>
          <a:ln w="12700">
            <a:solidFill>
              <a:srgbClr val="6E6E73"/>
            </a:solidFill>
            <a:prstDash val="solid"/>
            <a:tailEnd type="triangle"/>
          </a:ln>
        </p:spPr>
      </p:sp>
      <p:sp>
        <p:nvSpPr>
          <p:cNvPr id="26" name="Shape 23"/>
          <p:cNvSpPr/>
          <p:nvPr/>
        </p:nvSpPr>
        <p:spPr>
          <a:xfrm>
            <a:off x="2514600" y="2880360"/>
            <a:ext cx="1965960" cy="457200"/>
          </a:xfrm>
          <a:prstGeom prst="roundRect">
            <a:avLst>
              <a:gd name="adj" fmla="val 16000"/>
            </a:avLst>
          </a:prstGeom>
          <a:solidFill>
            <a:srgbClr val="0B7A6F"/>
          </a:solidFill>
          <a:ln w="12700">
            <a:solidFill>
              <a:srgbClr val="0B7A6F"/>
            </a:solidFill>
            <a:prstDash val="solid"/>
          </a:ln>
        </p:spPr>
      </p:sp>
      <p:sp>
        <p:nvSpPr>
          <p:cNvPr id="27" name="Text 24"/>
          <p:cNvSpPr txBox="1"/>
          <p:nvPr/>
        </p:nvSpPr>
        <p:spPr>
          <a:xfrm>
            <a:off x="251460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≤48 hours away</a:t>
            </a:r>
            <a:endParaRPr lang="en-US" sz="1000" dirty="0"/>
          </a:p>
        </p:txBody>
      </p:sp>
      <p:sp>
        <p:nvSpPr>
          <p:cNvPr id="28" name="Shape 25"/>
          <p:cNvSpPr/>
          <p:nvPr/>
        </p:nvSpPr>
        <p:spPr>
          <a:xfrm>
            <a:off x="2514600" y="3337560"/>
            <a:ext cx="1965960" cy="1097280"/>
          </a:xfrm>
          <a:prstGeom prst="roundRect">
            <a:avLst>
              <a:gd name="adj" fmla="val 6667"/>
            </a:avLst>
          </a:prstGeom>
          <a:solidFill>
            <a:srgbClr val="E3F4F1"/>
          </a:solidFill>
          <a:ln w="9525">
            <a:solidFill>
              <a:srgbClr val="0B7A6F"/>
            </a:solidFill>
            <a:prstDash val="solid"/>
          </a:ln>
        </p:spPr>
      </p:sp>
      <p:sp>
        <p:nvSpPr>
          <p:cNvPr id="29" name="Text 26"/>
          <p:cNvSpPr txBox="1"/>
          <p:nvPr/>
        </p:nvSpPr>
        <p:spPr>
          <a:xfrm>
            <a:off x="258775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Cancel and rebook the job via the C CRM, or reschedule via the C Dashboard if no priority fee will apply.</a:t>
            </a:r>
            <a:endParaRPr lang="en-US" sz="900" dirty="0"/>
          </a:p>
        </p:txBody>
      </p:sp>
      <p:sp>
        <p:nvSpPr>
          <p:cNvPr id="30" name="Shape 27"/>
          <p:cNvSpPr/>
          <p:nvPr/>
        </p:nvSpPr>
        <p:spPr>
          <a:xfrm>
            <a:off x="5600700" y="2743200"/>
            <a:ext cx="0" cy="137160"/>
          </a:xfrm>
          <a:prstGeom prst="line">
            <a:avLst/>
          </a:prstGeom>
          <a:noFill/>
          <a:ln w="12700">
            <a:solidFill>
              <a:srgbClr val="6E6E73"/>
            </a:solidFill>
            <a:prstDash val="solid"/>
            <a:tailEnd type="triangle"/>
          </a:ln>
        </p:spPr>
      </p:sp>
      <p:sp>
        <p:nvSpPr>
          <p:cNvPr id="31" name="Shape 28"/>
          <p:cNvSpPr/>
          <p:nvPr/>
        </p:nvSpPr>
        <p:spPr>
          <a:xfrm>
            <a:off x="4617720" y="2880360"/>
            <a:ext cx="1965960" cy="457200"/>
          </a:xfrm>
          <a:prstGeom prst="roundRect">
            <a:avLst>
              <a:gd name="adj" fmla="val 16000"/>
            </a:avLst>
          </a:prstGeom>
          <a:solidFill>
            <a:srgbClr val="0B7A6F"/>
          </a:solidFill>
          <a:ln w="12700">
            <a:solidFill>
              <a:srgbClr val="0B7A6F"/>
            </a:solidFill>
            <a:prstDash val="solid"/>
          </a:ln>
        </p:spPr>
      </p:sp>
      <p:sp>
        <p:nvSpPr>
          <p:cNvPr id="32" name="Text 29"/>
          <p:cNvSpPr txBox="1"/>
          <p:nvPr/>
        </p:nvSpPr>
        <p:spPr>
          <a:xfrm>
            <a:off x="461772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 the past</a:t>
            </a:r>
            <a:endParaRPr lang="en-US" sz="1000" dirty="0"/>
          </a:p>
        </p:txBody>
      </p:sp>
      <p:sp>
        <p:nvSpPr>
          <p:cNvPr id="33" name="Shape 30"/>
          <p:cNvSpPr/>
          <p:nvPr/>
        </p:nvSpPr>
        <p:spPr>
          <a:xfrm>
            <a:off x="4617720" y="3337560"/>
            <a:ext cx="1965960" cy="1097280"/>
          </a:xfrm>
          <a:prstGeom prst="roundRect">
            <a:avLst>
              <a:gd name="adj" fmla="val 6667"/>
            </a:avLst>
          </a:prstGeom>
          <a:solidFill>
            <a:srgbClr val="E3F4F1"/>
          </a:solidFill>
          <a:ln w="9525">
            <a:solidFill>
              <a:srgbClr val="0B7A6F"/>
            </a:solidFill>
            <a:prstDash val="solid"/>
          </a:ln>
        </p:spPr>
      </p:sp>
      <p:sp>
        <p:nvSpPr>
          <p:cNvPr id="34" name="Text 31"/>
          <p:cNvSpPr txBox="1"/>
          <p:nvPr/>
        </p:nvSpPr>
        <p:spPr>
          <a:xfrm>
            <a:off x="469087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Follow AG: Pending Invoice completion verification steps.</a:t>
            </a:r>
            <a:endParaRPr lang="en-US" sz="900" dirty="0"/>
          </a:p>
        </p:txBody>
      </p:sp>
      <p:sp>
        <p:nvSpPr>
          <p:cNvPr id="35" name="Shape 32"/>
          <p:cNvSpPr/>
          <p:nvPr/>
        </p:nvSpPr>
        <p:spPr>
          <a:xfrm>
            <a:off x="7703820" y="2743200"/>
            <a:ext cx="0" cy="137160"/>
          </a:xfrm>
          <a:prstGeom prst="line">
            <a:avLst/>
          </a:prstGeom>
          <a:noFill/>
          <a:ln w="12700">
            <a:solidFill>
              <a:srgbClr val="6E6E73"/>
            </a:solidFill>
            <a:prstDash val="solid"/>
            <a:tailEnd type="triangle"/>
          </a:ln>
        </p:spPr>
      </p:sp>
      <p:sp>
        <p:nvSpPr>
          <p:cNvPr id="36" name="Shape 33"/>
          <p:cNvSpPr/>
          <p:nvPr/>
        </p:nvSpPr>
        <p:spPr>
          <a:xfrm>
            <a:off x="6720840" y="2880360"/>
            <a:ext cx="1965960" cy="457200"/>
          </a:xfrm>
          <a:prstGeom prst="roundRect">
            <a:avLst>
              <a:gd name="adj" fmla="val 16000"/>
            </a:avLst>
          </a:prstGeom>
          <a:solidFill>
            <a:srgbClr val="0B7A6F"/>
          </a:solidFill>
          <a:ln w="12700">
            <a:solidFill>
              <a:srgbClr val="0B7A6F"/>
            </a:solidFill>
            <a:prstDash val="solid"/>
          </a:ln>
        </p:spPr>
      </p:sp>
      <p:sp>
        <p:nvSpPr>
          <p:cNvPr id="37" name="Text 34"/>
          <p:cNvSpPr txBox="1"/>
          <p:nvPr/>
        </p:nvSpPr>
        <p:spPr>
          <a:xfrm>
            <a:off x="672084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 / Invoiced</a:t>
            </a:r>
            <a:endParaRPr lang="en-US" sz="1000" dirty="0"/>
          </a:p>
        </p:txBody>
      </p:sp>
      <p:sp>
        <p:nvSpPr>
          <p:cNvPr id="38" name="Shape 35"/>
          <p:cNvSpPr/>
          <p:nvPr/>
        </p:nvSpPr>
        <p:spPr>
          <a:xfrm>
            <a:off x="6720840" y="3337560"/>
            <a:ext cx="1965960" cy="1097280"/>
          </a:xfrm>
          <a:prstGeom prst="roundRect">
            <a:avLst>
              <a:gd name="adj" fmla="val 6667"/>
            </a:avLst>
          </a:prstGeom>
          <a:solidFill>
            <a:srgbClr val="E3F4F1"/>
          </a:solidFill>
          <a:ln w="9525">
            <a:solidFill>
              <a:srgbClr val="0B7A6F"/>
            </a:solidFill>
            <a:prstDash val="solid"/>
          </a:ln>
        </p:spPr>
      </p:sp>
      <p:sp>
        <p:nvSpPr>
          <p:cNvPr id="39" name="Text 36"/>
          <p:cNvSpPr txBox="1"/>
          <p:nvPr/>
        </p:nvSpPr>
        <p:spPr>
          <a:xfrm>
            <a:off x="679399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Offer a Priority Booking and address other concerns.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Trust and Safety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Reports that put a person's safety, property or wellbeing at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T&amp;S covers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always escalates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must ask</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decides refunds, ETF and retention</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1.png">    </p:cNvPr>
          <p:cNvPicPr>
            <a:picLocks noChangeAspect="1"/>
          </p:cNvPicPr>
          <p:nvPr/>
        </p:nvPicPr>
        <p:blipFill>
          <a:blip r:embed="rId5"/>
          <a:stretch>
            <a:fillRect/>
          </a:stretch>
        </p:blipFill>
        <p:spPr>
          <a:xfrm>
            <a:off x="5795010" y="1517904"/>
            <a:ext cx="241858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Trust and Safety?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Any report of behavior that could compromise one of these three.</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Personal safety</a:t>
            </a:r>
            <a:endParaRPr lang="en-US" sz="1200" dirty="0"/>
          </a:p>
        </p:txBody>
      </p:sp>
      <p:sp>
        <p:nvSpPr>
          <p:cNvPr id="10" name="Text 6"/>
          <p:cNvSpPr txBox="1"/>
          <p:nvPr/>
        </p:nvSpPr>
        <p:spPr>
          <a:xfrm>
            <a:off x="5760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Physical or emotional risk to the customer or the cleaner.</a:t>
            </a:r>
            <a:endParaRPr lang="en-US" sz="950" dirty="0"/>
          </a:p>
        </p:txBody>
      </p:sp>
      <p:sp>
        <p:nvSpPr>
          <p:cNvPr id="11" name="Shape 7"/>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Property security</a:t>
            </a:r>
            <a:endParaRPr lang="en-US" sz="1200" dirty="0"/>
          </a:p>
        </p:txBody>
      </p:sp>
      <p:sp>
        <p:nvSpPr>
          <p:cNvPr id="15" name="Text 10"/>
          <p:cNvSpPr txBox="1"/>
          <p:nvPr/>
        </p:nvSpPr>
        <p:spPr>
          <a:xfrm>
            <a:off x="33954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Theft, damage, or a home left unsecured.</a:t>
            </a:r>
            <a:endParaRPr lang="en-US" sz="950" dirty="0"/>
          </a:p>
        </p:txBody>
      </p:sp>
      <p:sp>
        <p:nvSpPr>
          <p:cNvPr id="16" name="Shape 11"/>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Professional conduct</a:t>
            </a:r>
            <a:endParaRPr lang="en-US" sz="1200" dirty="0"/>
          </a:p>
        </p:txBody>
      </p:sp>
      <p:sp>
        <p:nvSpPr>
          <p:cNvPr id="20" name="Text 14"/>
          <p:cNvSpPr txBox="1"/>
          <p:nvPr/>
        </p:nvSpPr>
        <p:spPr>
          <a:xfrm>
            <a:off x="62148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Harassment, discrimination, unwanted contact, substances.</a:t>
            </a:r>
            <a:endParaRPr lang="en-US" sz="950" dirty="0"/>
          </a:p>
        </p:txBody>
      </p:sp>
      <p:sp>
        <p:nvSpPr>
          <p:cNvPr id="21" name="Shape 15"/>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18688"/>
            <a:ext cx="164592" cy="164592"/>
          </a:xfrm>
          <a:prstGeom prst="rect">
            <a:avLst/>
          </a:prstGeom>
        </p:spPr>
      </p:pic>
      <p:sp>
        <p:nvSpPr>
          <p:cNvPr id="23" name="Text 16"/>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Your role:  </a:t>
            </a:r>
            <a:pPr indent="0" marL="0">
              <a:buNone/>
            </a:pPr>
            <a:r>
              <a:rPr lang="en-US" sz="1000" dirty="0">
                <a:solidFill>
                  <a:srgbClr val="1D1D1F"/>
                </a:solidFill>
                <a:latin typeface="SF Pro Text" pitchFamily="34" charset="0"/>
                <a:ea typeface="SF Pro Text" pitchFamily="34" charset="-122"/>
                <a:cs typeface="SF Pro Text" pitchFamily="34" charset="-120"/>
              </a:rPr>
              <a:t>recognize the issue and escalate it. Don't investigate it or resolve it.</a:t>
            </a:r>
            <a:endParaRPr lang="en-US" sz="1000" dirty="0"/>
          </a:p>
        </p:txBody>
      </p:sp>
      <p:sp>
        <p:nvSpPr>
          <p:cNvPr id="24" name="Shape 17"/>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721608"/>
            <a:ext cx="164592" cy="164592"/>
          </a:xfrm>
          <a:prstGeom prst="rect">
            <a:avLst/>
          </a:prstGeom>
        </p:spPr>
      </p:pic>
      <p:sp>
        <p:nvSpPr>
          <p:cNvPr id="26" name="Text 18"/>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Unsure?  </a:t>
            </a:r>
            <a:pPr indent="0" marL="0">
              <a:buNone/>
            </a:pPr>
            <a:r>
              <a:rPr lang="en-US" sz="1000" dirty="0">
                <a:solidFill>
                  <a:srgbClr val="1D1D1F"/>
                </a:solidFill>
                <a:latin typeface="SF Pro Text" pitchFamily="34" charset="0"/>
                <a:ea typeface="SF Pro Text" pitchFamily="34" charset="-122"/>
                <a:cs typeface="SF Pro Text" pitchFamily="34" charset="-120"/>
              </a:rPr>
              <a:t>if it feels risky, escalate. You don't need certainty.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Escalate as soon as a T&amp;S indicator is confirmed.</a:t>
            </a:r>
            <a:endParaRPr lang="en-US" sz="1200" dirty="0"/>
          </a:p>
        </p:txBody>
      </p:sp>
      <p:sp>
        <p:nvSpPr>
          <p:cNvPr id="6" name="Shape 3"/>
          <p:cNvSpPr/>
          <p:nvPr/>
        </p:nvSpPr>
        <p:spPr>
          <a:xfrm>
            <a:off x="411480" y="1463040"/>
            <a:ext cx="18745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T&amp;S indicator confirmed</a:t>
            </a:r>
            <a:endParaRPr lang="en-US" sz="1000" dirty="0"/>
          </a:p>
        </p:txBody>
      </p:sp>
      <p:sp>
        <p:nvSpPr>
          <p:cNvPr id="8" name="Shape 5"/>
          <p:cNvSpPr/>
          <p:nvPr/>
        </p:nvSpPr>
        <p:spPr>
          <a:xfrm>
            <a:off x="2286000" y="1746504"/>
            <a:ext cx="274320" cy="0"/>
          </a:xfrm>
          <a:prstGeom prst="line">
            <a:avLst/>
          </a:prstGeom>
          <a:noFill/>
          <a:ln w="12700">
            <a:solidFill>
              <a:srgbClr val="6E6E73"/>
            </a:solidFill>
            <a:prstDash val="solid"/>
            <a:tailEnd type="triangle"/>
          </a:ln>
        </p:spPr>
      </p:sp>
      <p:sp>
        <p:nvSpPr>
          <p:cNvPr id="9" name="Text 6"/>
          <p:cNvSpPr txBox="1"/>
          <p:nvPr/>
        </p:nvSpPr>
        <p:spPr>
          <a:xfrm>
            <a:off x="41148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Matches an always-escalate item, or the customer asked (conditional cases).</a:t>
            </a:r>
            <a:endParaRPr lang="en-US" sz="900" dirty="0"/>
          </a:p>
        </p:txBody>
      </p:sp>
      <p:sp>
        <p:nvSpPr>
          <p:cNvPr id="10" name="Shape 7"/>
          <p:cNvSpPr/>
          <p:nvPr/>
        </p:nvSpPr>
        <p:spPr>
          <a:xfrm>
            <a:off x="2560320" y="1463040"/>
            <a:ext cx="1874520" cy="566928"/>
          </a:xfrm>
          <a:prstGeom prst="roundRect">
            <a:avLst>
              <a:gd name="adj" fmla="val 12903"/>
            </a:avLst>
          </a:prstGeom>
          <a:solidFill>
            <a:srgbClr val="0B7A6F"/>
          </a:solidFill>
          <a:ln w="12700">
            <a:solidFill>
              <a:srgbClr val="0B7A6F"/>
            </a:solidFill>
            <a:prstDash val="solid"/>
          </a:ln>
        </p:spPr>
      </p:sp>
      <p:sp>
        <p:nvSpPr>
          <p:cNvPr id="11" name="Text 8"/>
          <p:cNvSpPr txBox="1"/>
          <p:nvPr/>
        </p:nvSpPr>
        <p:spPr>
          <a:xfrm>
            <a:off x="256032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12" name="Shape 9"/>
          <p:cNvSpPr/>
          <p:nvPr/>
        </p:nvSpPr>
        <p:spPr>
          <a:xfrm>
            <a:off x="4434840" y="1746504"/>
            <a:ext cx="274320" cy="0"/>
          </a:xfrm>
          <a:prstGeom prst="line">
            <a:avLst/>
          </a:prstGeom>
          <a:noFill/>
          <a:ln w="12700">
            <a:solidFill>
              <a:srgbClr val="6E6E73"/>
            </a:solidFill>
            <a:prstDash val="solid"/>
            <a:tailEnd type="triangle"/>
          </a:ln>
        </p:spPr>
      </p:sp>
      <p:sp>
        <p:nvSpPr>
          <p:cNvPr id="13" name="Text 10"/>
          <p:cNvSpPr txBox="1"/>
          <p:nvPr/>
        </p:nvSpPr>
        <p:spPr>
          <a:xfrm>
            <a:off x="256032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Right away. Macro: Escalate report to T&amp;S.</a:t>
            </a:r>
            <a:endParaRPr lang="en-US" sz="900" dirty="0"/>
          </a:p>
        </p:txBody>
      </p:sp>
      <p:sp>
        <p:nvSpPr>
          <p:cNvPr id="14" name="Shape 11"/>
          <p:cNvSpPr/>
          <p:nvPr/>
        </p:nvSpPr>
        <p:spPr>
          <a:xfrm>
            <a:off x="4709160" y="1463040"/>
            <a:ext cx="1874520" cy="566928"/>
          </a:xfrm>
          <a:prstGeom prst="roundRect">
            <a:avLst>
              <a:gd name="adj" fmla="val 12903"/>
            </a:avLst>
          </a:prstGeom>
          <a:solidFill>
            <a:srgbClr val="0B7A6F"/>
          </a:solidFill>
          <a:ln w="12700">
            <a:solidFill>
              <a:srgbClr val="0B7A6F"/>
            </a:solidFill>
            <a:prstDash val="solid"/>
          </a:ln>
        </p:spPr>
      </p:sp>
      <p:sp>
        <p:nvSpPr>
          <p:cNvPr id="15" name="Text 12"/>
          <p:cNvSpPr txBox="1"/>
          <p:nvPr/>
        </p:nvSpPr>
        <p:spPr>
          <a:xfrm>
            <a:off x="470916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Email the customer</a:t>
            </a:r>
            <a:endParaRPr lang="en-US" sz="1000" dirty="0"/>
          </a:p>
        </p:txBody>
      </p:sp>
      <p:sp>
        <p:nvSpPr>
          <p:cNvPr id="16" name="Shape 13"/>
          <p:cNvSpPr/>
          <p:nvPr/>
        </p:nvSpPr>
        <p:spPr>
          <a:xfrm>
            <a:off x="6583680" y="1746504"/>
            <a:ext cx="274320" cy="0"/>
          </a:xfrm>
          <a:prstGeom prst="line">
            <a:avLst/>
          </a:prstGeom>
          <a:noFill/>
          <a:ln w="12700">
            <a:solidFill>
              <a:srgbClr val="6E6E73"/>
            </a:solidFill>
            <a:prstDash val="solid"/>
            <a:tailEnd type="triangle"/>
          </a:ln>
        </p:spPr>
      </p:sp>
      <p:sp>
        <p:nvSpPr>
          <p:cNvPr id="17" name="Text 14"/>
          <p:cNvSpPr txBox="1"/>
          <p:nvPr/>
        </p:nvSpPr>
        <p:spPr>
          <a:xfrm>
            <a:off x="470916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Required the first time you escalate.</a:t>
            </a:r>
            <a:endParaRPr lang="en-US" sz="900" dirty="0"/>
          </a:p>
        </p:txBody>
      </p:sp>
      <p:sp>
        <p:nvSpPr>
          <p:cNvPr id="18" name="Shape 15"/>
          <p:cNvSpPr/>
          <p:nvPr/>
        </p:nvSpPr>
        <p:spPr>
          <a:xfrm>
            <a:off x="6858000" y="1463040"/>
            <a:ext cx="1874520" cy="566928"/>
          </a:xfrm>
          <a:prstGeom prst="roundRect">
            <a:avLst>
              <a:gd name="adj" fmla="val 12903"/>
            </a:avLst>
          </a:prstGeom>
          <a:solidFill>
            <a:srgbClr val="FFFFFF"/>
          </a:solidFill>
          <a:ln w="12700">
            <a:solidFill>
              <a:srgbClr val="DCE1E7"/>
            </a:solidFill>
            <a:prstDash val="solid"/>
          </a:ln>
        </p:spPr>
      </p:sp>
      <p:sp>
        <p:nvSpPr>
          <p:cNvPr id="19" name="Text 16"/>
          <p:cNvSpPr txBox="1"/>
          <p:nvPr/>
        </p:nvSpPr>
        <p:spPr>
          <a:xfrm>
            <a:off x="6858000" y="1463040"/>
            <a:ext cx="187452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Hands off</a:t>
            </a:r>
            <a:endParaRPr lang="en-US" sz="1000" dirty="0"/>
          </a:p>
        </p:txBody>
      </p:sp>
      <p:sp>
        <p:nvSpPr>
          <p:cNvPr id="20" name="Text 17"/>
          <p:cNvSpPr txBox="1"/>
          <p:nvPr/>
        </p:nvSpPr>
        <p:spPr>
          <a:xfrm>
            <a:off x="685800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refund, no contact with the cleaner, no retention attempt.</a:t>
            </a:r>
            <a:endParaRPr lang="en-US" sz="900" dirty="0"/>
          </a:p>
        </p:txBody>
      </p:sp>
      <p:sp>
        <p:nvSpPr>
          <p:cNvPr id="21" name="Shape 18"/>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23" name="Text 19"/>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T&amp;S evaluates liability and may waive the full ETF. Acting first can undercut that.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Who decides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a case is T&amp;S, they have final say.</a:t>
            </a:r>
            <a:endParaRPr lang="en-US" sz="1200" dirty="0"/>
          </a:p>
        </p:txBody>
      </p:sp>
      <p:sp>
        <p:nvSpPr>
          <p:cNvPr id="6" name="Shape 3"/>
          <p:cNvSpPr/>
          <p:nvPr/>
        </p:nvSpPr>
        <p:spPr>
          <a:xfrm>
            <a:off x="411480" y="1325880"/>
            <a:ext cx="4091940" cy="2148840"/>
          </a:xfrm>
          <a:prstGeom prst="roundRect">
            <a:avLst>
              <a:gd name="adj" fmla="val 340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Care must not</a:t>
            </a:r>
            <a:endParaRPr lang="en-US" sz="1300" dirty="0"/>
          </a:p>
        </p:txBody>
      </p:sp>
      <p:sp>
        <p:nvSpPr>
          <p:cNvPr id="10" name="Text 6"/>
          <p:cNvSpPr txBox="1"/>
          <p:nvPr/>
        </p:nvSpPr>
        <p:spPr>
          <a:xfrm>
            <a:off x="5943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Decide refunds or compensation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Waive or reduce the ETF (unless T&amp;S directs)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Attempt retention or offer membership incentives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Contact the cleaner directly</a:t>
            </a:r>
            <a:endParaRPr lang="en-US" sz="1000" dirty="0"/>
          </a:p>
        </p:txBody>
      </p:sp>
      <p:sp>
        <p:nvSpPr>
          <p:cNvPr id="11" name="Shape 7"/>
          <p:cNvSpPr/>
          <p:nvPr/>
        </p:nvSpPr>
        <p:spPr>
          <a:xfrm>
            <a:off x="4640580" y="1325880"/>
            <a:ext cx="4091940" cy="2148840"/>
          </a:xfrm>
          <a:prstGeom prst="roundRect">
            <a:avLst>
              <a:gd name="adj" fmla="val 340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T&amp;S owns</a:t>
            </a:r>
            <a:endParaRPr lang="en-US" sz="1300" dirty="0"/>
          </a:p>
        </p:txBody>
      </p:sp>
      <p:sp>
        <p:nvSpPr>
          <p:cNvPr id="15" name="Text 10"/>
          <p:cNvSpPr txBox="1"/>
          <p:nvPr/>
        </p:nvSpPr>
        <p:spPr>
          <a:xfrm>
            <a:off x="48234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scope, after investigation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ETF: may waive up to the full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Retention and membership outcome</a:t>
            </a:r>
            <a:endParaRPr lang="en-US" sz="1000" dirty="0"/>
          </a:p>
        </p:txBody>
      </p:sp>
      <p:sp>
        <p:nvSpPr>
          <p:cNvPr id="16" name="Shape 11"/>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767328"/>
            <a:ext cx="164592" cy="164592"/>
          </a:xfrm>
          <a:prstGeom prst="rect">
            <a:avLst/>
          </a:prstGeom>
        </p:spPr>
      </p:pic>
      <p:sp>
        <p:nvSpPr>
          <p:cNvPr id="18" name="Text 12"/>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T&amp;S declines?  </a:t>
            </a:r>
            <a:pPr indent="0" marL="0">
              <a:buNone/>
            </a:pPr>
            <a:r>
              <a:rPr lang="en-US" sz="10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Safety concerns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Always escalate.</a:t>
            </a:r>
            <a:endParaRPr lang="en-US" sz="1200" dirty="0"/>
          </a:p>
        </p:txBody>
      </p:sp>
      <p:sp>
        <p:nvSpPr>
          <p:cNvPr id="6" name="Shape 3"/>
          <p:cNvSpPr/>
          <p:nvPr/>
        </p:nvSpPr>
        <p:spPr>
          <a:xfrm>
            <a:off x="411480" y="1325880"/>
            <a:ext cx="409194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0817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478402"/>
            <a:ext cx="152156" cy="152156"/>
          </a:xfrm>
          <a:prstGeom prst="rect">
            <a:avLst/>
          </a:prstGeom>
        </p:spPr>
      </p:pic>
      <p:sp>
        <p:nvSpPr>
          <p:cNvPr id="9" name="Text 5"/>
          <p:cNvSpPr txBox="1"/>
          <p:nvPr/>
        </p:nvSpPr>
        <p:spPr>
          <a:xfrm>
            <a:off x="9144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On-platform death</a:t>
            </a:r>
            <a:endParaRPr lang="en-US" sz="1050" dirty="0"/>
          </a:p>
        </p:txBody>
      </p:sp>
      <p:sp>
        <p:nvSpPr>
          <p:cNvPr id="10" name="Shape 6"/>
          <p:cNvSpPr/>
          <p:nvPr/>
        </p:nvSpPr>
        <p:spPr>
          <a:xfrm>
            <a:off x="4640580" y="1325880"/>
            <a:ext cx="409194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4750308" y="1408176"/>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20534" y="1478402"/>
            <a:ext cx="152156" cy="152156"/>
          </a:xfrm>
          <a:prstGeom prst="rect">
            <a:avLst/>
          </a:prstGeom>
        </p:spPr>
      </p:pic>
      <p:sp>
        <p:nvSpPr>
          <p:cNvPr id="13" name="Text 8"/>
          <p:cNvSpPr txBox="1"/>
          <p:nvPr/>
        </p:nvSpPr>
        <p:spPr>
          <a:xfrm>
            <a:off x="51435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Physical violence or threats of violence</a:t>
            </a:r>
            <a:endParaRPr lang="en-US" sz="1050" dirty="0"/>
          </a:p>
        </p:txBody>
      </p:sp>
      <p:sp>
        <p:nvSpPr>
          <p:cNvPr id="14" name="Shape 9"/>
          <p:cNvSpPr/>
          <p:nvPr/>
        </p:nvSpPr>
        <p:spPr>
          <a:xfrm>
            <a:off x="411480" y="1874520"/>
            <a:ext cx="409194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1956816"/>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027042"/>
            <a:ext cx="152156" cy="152156"/>
          </a:xfrm>
          <a:prstGeom prst="rect">
            <a:avLst/>
          </a:prstGeom>
        </p:spPr>
      </p:pic>
      <p:sp>
        <p:nvSpPr>
          <p:cNvPr id="17" name="Text 11"/>
          <p:cNvSpPr txBox="1"/>
          <p:nvPr/>
        </p:nvSpPr>
        <p:spPr>
          <a:xfrm>
            <a:off x="9144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Unwanted physical contact</a:t>
            </a:r>
            <a:endParaRPr lang="en-US" sz="1050" dirty="0"/>
          </a:p>
        </p:txBody>
      </p:sp>
      <p:sp>
        <p:nvSpPr>
          <p:cNvPr id="18" name="Shape 12"/>
          <p:cNvSpPr/>
          <p:nvPr/>
        </p:nvSpPr>
        <p:spPr>
          <a:xfrm>
            <a:off x="4640580" y="1874520"/>
            <a:ext cx="409194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4750308" y="1956816"/>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4820534" y="2027042"/>
            <a:ext cx="152156" cy="152156"/>
          </a:xfrm>
          <a:prstGeom prst="rect">
            <a:avLst/>
          </a:prstGeom>
        </p:spPr>
      </p:pic>
      <p:sp>
        <p:nvSpPr>
          <p:cNvPr id="21" name="Text 14"/>
          <p:cNvSpPr txBox="1"/>
          <p:nvPr/>
        </p:nvSpPr>
        <p:spPr>
          <a:xfrm>
            <a:off x="51435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Any sexually related complaint</a:t>
            </a:r>
            <a:endParaRPr lang="en-US" sz="1050" dirty="0"/>
          </a:p>
        </p:txBody>
      </p:sp>
      <p:sp>
        <p:nvSpPr>
          <p:cNvPr id="22" name="Shape 15"/>
          <p:cNvSpPr/>
          <p:nvPr/>
        </p:nvSpPr>
        <p:spPr>
          <a:xfrm>
            <a:off x="411480" y="2423160"/>
            <a:ext cx="409194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2505456"/>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2575682"/>
            <a:ext cx="152156" cy="152156"/>
          </a:xfrm>
          <a:prstGeom prst="rect">
            <a:avLst/>
          </a:prstGeom>
        </p:spPr>
      </p:pic>
      <p:sp>
        <p:nvSpPr>
          <p:cNvPr id="25" name="Text 17"/>
          <p:cNvSpPr txBox="1"/>
          <p:nvPr/>
        </p:nvSpPr>
        <p:spPr>
          <a:xfrm>
            <a:off x="9144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human trafficking</a:t>
            </a:r>
            <a:endParaRPr lang="en-US" sz="1050" dirty="0"/>
          </a:p>
        </p:txBody>
      </p:sp>
      <p:sp>
        <p:nvSpPr>
          <p:cNvPr id="26" name="Shape 18"/>
          <p:cNvSpPr/>
          <p:nvPr/>
        </p:nvSpPr>
        <p:spPr>
          <a:xfrm>
            <a:off x="4640580" y="2423160"/>
            <a:ext cx="4091940" cy="457200"/>
          </a:xfrm>
          <a:prstGeom prst="roundRect">
            <a:avLst>
              <a:gd name="adj" fmla="val 16000"/>
            </a:avLst>
          </a:prstGeom>
          <a:solidFill>
            <a:srgbClr val="FFFFFF"/>
          </a:solidFill>
          <a:ln w="9525">
            <a:solidFill>
              <a:srgbClr val="DCE1E7"/>
            </a:solidFill>
            <a:prstDash val="solid"/>
          </a:ln>
        </p:spPr>
      </p:sp>
      <p:sp>
        <p:nvSpPr>
          <p:cNvPr id="27" name="Shape 19"/>
          <p:cNvSpPr/>
          <p:nvPr/>
        </p:nvSpPr>
        <p:spPr>
          <a:xfrm>
            <a:off x="4750308" y="2505456"/>
            <a:ext cx="292608" cy="292608"/>
          </a:xfrm>
          <a:prstGeom prst="ellipse">
            <a:avLst/>
          </a:prstGeom>
          <a:solidFill>
            <a:srgbClr val="E3F4F1"/>
          </a:solidFill>
          <a:ln w="12700">
            <a:solidFill>
              <a:srgbClr val="E3F4F1"/>
            </a:solidFill>
            <a:prstDash val="solid"/>
          </a:ln>
        </p:spPr>
      </p:sp>
      <p:pic>
        <p:nvPicPr>
          <p:cNvPr id="28" name="Image 5" descr="preencoded.png">    </p:cNvPr>
          <p:cNvPicPr>
            <a:picLocks noChangeAspect="1"/>
          </p:cNvPicPr>
          <p:nvPr/>
        </p:nvPicPr>
        <p:blipFill>
          <a:blip r:embed="rId6"/>
          <a:stretch>
            <a:fillRect/>
          </a:stretch>
        </p:blipFill>
        <p:spPr>
          <a:xfrm>
            <a:off x="4820534" y="2575682"/>
            <a:ext cx="152156" cy="152156"/>
          </a:xfrm>
          <a:prstGeom prst="rect">
            <a:avLst/>
          </a:prstGeom>
        </p:spPr>
      </p:pic>
      <p:sp>
        <p:nvSpPr>
          <p:cNvPr id="29" name="Text 20"/>
          <p:cNvSpPr txBox="1"/>
          <p:nvPr/>
        </p:nvSpPr>
        <p:spPr>
          <a:xfrm>
            <a:off x="51435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stalking</a:t>
            </a:r>
            <a:endParaRPr lang="en-US" sz="1050" dirty="0"/>
          </a:p>
        </p:txBody>
      </p:sp>
      <p:sp>
        <p:nvSpPr>
          <p:cNvPr id="30" name="Shape 21"/>
          <p:cNvSpPr/>
          <p:nvPr/>
        </p:nvSpPr>
        <p:spPr>
          <a:xfrm>
            <a:off x="411480" y="2971800"/>
            <a:ext cx="4091940" cy="457200"/>
          </a:xfrm>
          <a:prstGeom prst="roundRect">
            <a:avLst>
              <a:gd name="adj" fmla="val 16000"/>
            </a:avLst>
          </a:prstGeom>
          <a:solidFill>
            <a:srgbClr val="FFFFFF"/>
          </a:solidFill>
          <a:ln w="9525">
            <a:solidFill>
              <a:srgbClr val="DCE1E7"/>
            </a:solidFill>
            <a:prstDash val="solid"/>
          </a:ln>
        </p:spPr>
      </p:sp>
      <p:sp>
        <p:nvSpPr>
          <p:cNvPr id="31" name="Shape 22"/>
          <p:cNvSpPr/>
          <p:nvPr/>
        </p:nvSpPr>
        <p:spPr>
          <a:xfrm>
            <a:off x="521208" y="3054096"/>
            <a:ext cx="292608" cy="292608"/>
          </a:xfrm>
          <a:prstGeom prst="ellipse">
            <a:avLst/>
          </a:prstGeom>
          <a:solidFill>
            <a:srgbClr val="E3F4F1"/>
          </a:solidFill>
          <a:ln w="12700">
            <a:solidFill>
              <a:srgbClr val="E3F4F1"/>
            </a:solidFill>
            <a:prstDash val="solid"/>
          </a:ln>
        </p:spPr>
      </p:sp>
      <p:pic>
        <p:nvPicPr>
          <p:cNvPr id="32" name="Image 6" descr="preencoded.png">    </p:cNvPr>
          <p:cNvPicPr>
            <a:picLocks noChangeAspect="1"/>
          </p:cNvPicPr>
          <p:nvPr/>
        </p:nvPicPr>
        <p:blipFill>
          <a:blip r:embed="rId7"/>
          <a:stretch>
            <a:fillRect/>
          </a:stretch>
        </p:blipFill>
        <p:spPr>
          <a:xfrm>
            <a:off x="591434" y="3124322"/>
            <a:ext cx="152156" cy="152156"/>
          </a:xfrm>
          <a:prstGeom prst="rect">
            <a:avLst/>
          </a:prstGeom>
        </p:spPr>
      </p:pic>
      <p:sp>
        <p:nvSpPr>
          <p:cNvPr id="33" name="Text 23"/>
          <p:cNvSpPr txBox="1"/>
          <p:nvPr/>
        </p:nvSpPr>
        <p:spPr>
          <a:xfrm>
            <a:off x="914400" y="297180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Law enforcement requests</a:t>
            </a:r>
            <a:endParaRPr lang="en-US" sz="1050" dirty="0"/>
          </a:p>
        </p:txBody>
      </p:sp>
      <p:sp>
        <p:nvSpPr>
          <p:cNvPr id="34" name="Text 24"/>
          <p:cNvSpPr txBox="1"/>
          <p:nvPr/>
        </p:nvSpPr>
        <p:spPr>
          <a:xfrm>
            <a:off x="4640580" y="2971800"/>
            <a:ext cx="409194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Sexually related: solicitation, indecent exposure, inappropriate photos, sexual requests about attire, sexual messaging.</a:t>
            </a:r>
            <a:endParaRPr lang="en-US" sz="850" dirty="0"/>
          </a:p>
        </p:txBody>
      </p:sp>
      <p:sp>
        <p:nvSpPr>
          <p:cNvPr id="35" name="Shape 2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36" name="Image 7" descr="preencoded.png">    </p:cNvPr>
          <p:cNvPicPr>
            <a:picLocks noChangeAspect="1"/>
          </p:cNvPicPr>
          <p:nvPr/>
        </p:nvPicPr>
        <p:blipFill>
          <a:blip r:embed="rId8"/>
          <a:stretch>
            <a:fillRect/>
          </a:stretch>
        </p:blipFill>
        <p:spPr>
          <a:xfrm>
            <a:off x="566928" y="3767328"/>
            <a:ext cx="164592" cy="164592"/>
          </a:xfrm>
          <a:prstGeom prst="rect">
            <a:avLst/>
          </a:prstGeom>
        </p:spPr>
      </p:pic>
      <p:sp>
        <p:nvSpPr>
          <p:cNvPr id="37" name="Text 2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judgment call:  </a:t>
            </a:r>
            <a:pPr indent="0" marL="0">
              <a:buNone/>
            </a:pPr>
            <a:r>
              <a:rPr lang="en-US" sz="1000" dirty="0">
                <a:solidFill>
                  <a:srgbClr val="1D1D1F"/>
                </a:solidFill>
                <a:latin typeface="SF Pro Text" pitchFamily="34" charset="0"/>
                <a:ea typeface="SF Pro Text" pitchFamily="34" charset="-122"/>
                <a:cs typeface="SF Pro Text" pitchFamily="34" charset="-120"/>
              </a:rPr>
              <a:t>every item here goes straight to T&amp;S.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the first report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first time the customer reaches out about a T&amp;S concern.</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to T&amp;S 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1783080"/>
          </a:xfrm>
          <a:prstGeom prst="roundRect">
            <a:avLst>
              <a:gd name="adj" fmla="val 4103"/>
            </a:avLst>
          </a:prstGeom>
          <a:solidFill>
            <a:srgbClr val="FFFFFF"/>
          </a:solidFill>
          <a:ln w="9525">
            <a:solidFill>
              <a:srgbClr val="DCE1E7"/>
            </a:solidFill>
            <a:prstDash val="solid"/>
          </a:ln>
        </p:spPr>
      </p:sp>
      <p:pic>
        <p:nvPicPr>
          <p:cNvPr id="26" name="Image 0" descr="/tmp/claude-0/-workspace-training/3ce5cff6-cccf-5f33-b0ee-0b147a55120e/scratchpad/img4/ts_safety_report.png">    </p:cNvPr>
          <p:cNvPicPr>
            <a:picLocks noChangeAspect="1"/>
          </p:cNvPicPr>
          <p:nvPr/>
        </p:nvPicPr>
        <p:blipFill>
          <a:blip r:embed="rId1"/>
          <a:stretch>
            <a:fillRect/>
          </a:stretch>
        </p:blipFill>
        <p:spPr>
          <a:xfrm>
            <a:off x="502920" y="2417646"/>
            <a:ext cx="5394960" cy="1227180"/>
          </a:xfrm>
          <a:prstGeom prst="rect">
            <a:avLst/>
          </a:prstGeom>
        </p:spPr>
      </p:pic>
      <p:sp>
        <p:nvSpPr>
          <p:cNvPr id="27" name="Shape 23"/>
          <p:cNvSpPr/>
          <p:nvPr/>
        </p:nvSpPr>
        <p:spPr>
          <a:xfrm>
            <a:off x="502920" y="2417646"/>
            <a:ext cx="5394960" cy="1227180"/>
          </a:xfrm>
          <a:prstGeom prst="rect">
            <a:avLst/>
          </a:prstGeom>
          <a:ln w="6350">
            <a:solidFill>
              <a:srgbClr val="DCE1E7"/>
            </a:solidFill>
            <a:prstDash val="solid"/>
          </a:ln>
        </p:spPr>
      </p:sp>
      <p:sp>
        <p:nvSpPr>
          <p:cNvPr id="28" name="Text 24"/>
          <p:cNvSpPr txBox="1"/>
          <p:nvPr/>
        </p:nvSpPr>
        <p:spPr>
          <a:xfrm>
            <a:off x="502920" y="37490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#new-ts-safety-reports</a:t>
            </a:r>
            <a:endParaRPr lang="en-US" sz="800" dirty="0"/>
          </a:p>
        </p:txBody>
      </p:sp>
      <p:sp>
        <p:nvSpPr>
          <p:cNvPr id="29" name="Shape 25"/>
          <p:cNvSpPr/>
          <p:nvPr/>
        </p:nvSpPr>
        <p:spPr>
          <a:xfrm>
            <a:off x="6126480" y="2240280"/>
            <a:ext cx="2606040" cy="1783080"/>
          </a:xfrm>
          <a:prstGeom prst="roundRect">
            <a:avLst>
              <a:gd name="adj" fmla="val 4103"/>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Policy violations and conduct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Also always escalate.</a:t>
            </a:r>
            <a:endParaRPr lang="en-US" sz="1200" dirty="0"/>
          </a:p>
        </p:txBody>
      </p:sp>
      <p:sp>
        <p:nvSpPr>
          <p:cNvPr id="6" name="Shape 3"/>
          <p:cNvSpPr/>
          <p:nvPr/>
        </p:nvSpPr>
        <p:spPr>
          <a:xfrm>
            <a:off x="411480" y="1325880"/>
            <a:ext cx="4091940" cy="2240280"/>
          </a:xfrm>
          <a:prstGeom prst="roundRect">
            <a:avLst>
              <a:gd name="adj" fmla="val 3265"/>
            </a:avLst>
          </a:prstGeom>
          <a:solidFill>
            <a:srgbClr val="FFFFFF"/>
          </a:solidFill>
          <a:ln w="9525">
            <a:solidFill>
              <a:srgbClr val="DCE1E7"/>
            </a:solidFill>
            <a:prstDash val="solid"/>
          </a:ln>
        </p:spPr>
      </p:sp>
      <p:sp>
        <p:nvSpPr>
          <p:cNvPr id="7" name="Text 4"/>
          <p:cNvSpPr txBox="1"/>
          <p:nvPr/>
        </p:nvSpPr>
        <p:spPr>
          <a:xfrm>
            <a:off x="5943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CONDUCT</a:t>
            </a:r>
            <a:endParaRPr lang="en-US" sz="800" dirty="0"/>
          </a:p>
        </p:txBody>
      </p:sp>
      <p:sp>
        <p:nvSpPr>
          <p:cNvPr id="8" name="Text 5"/>
          <p:cNvSpPr txBox="1"/>
          <p:nvPr/>
        </p:nvSpPr>
        <p:spPr>
          <a:xfrm>
            <a:off x="5943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Discrimination (race, age, nationality, etc.)</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Unwanted communication, on or off platform*</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harassment (more than just rude)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Verbal dispute: raised voices, aggressive confrontation†</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Unauthorized return to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 felt unsafe: CP brought a helper without permission</a:t>
            </a:r>
            <a:endParaRPr lang="en-US" sz="950" dirty="0"/>
          </a:p>
        </p:txBody>
      </p:sp>
      <p:sp>
        <p:nvSpPr>
          <p:cNvPr id="9" name="Shape 6"/>
          <p:cNvSpPr/>
          <p:nvPr/>
        </p:nvSpPr>
        <p:spPr>
          <a:xfrm>
            <a:off x="4640580" y="1325880"/>
            <a:ext cx="4091940" cy="2240280"/>
          </a:xfrm>
          <a:prstGeom prst="roundRect">
            <a:avLst>
              <a:gd name="adj" fmla="val 3265"/>
            </a:avLst>
          </a:prstGeom>
          <a:solidFill>
            <a:srgbClr val="FFFFFF"/>
          </a:solidFill>
          <a:ln w="9525">
            <a:solidFill>
              <a:srgbClr val="DCE1E7"/>
            </a:solidFill>
            <a:prstDash val="solid"/>
          </a:ln>
        </p:spPr>
      </p:sp>
      <p:sp>
        <p:nvSpPr>
          <p:cNvPr id="10" name="Text 7"/>
          <p:cNvSpPr txBox="1"/>
          <p:nvPr/>
        </p:nvSpPr>
        <p:spPr>
          <a:xfrm>
            <a:off x="48234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SAFETY AND SUBSTANCES</a:t>
            </a:r>
            <a:endParaRPr lang="en-US" sz="800" dirty="0"/>
          </a:p>
        </p:txBody>
      </p:sp>
      <p:sp>
        <p:nvSpPr>
          <p:cNvPr id="11" name="Text 8"/>
          <p:cNvSpPr txBox="1"/>
          <p:nvPr/>
        </p:nvSpPr>
        <p:spPr>
          <a:xfrm>
            <a:off x="48234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Drugs or weapons present at the workplace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Possessing or using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Distributing (or trying to)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Soliciting or drinking alcohol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CP failed to secure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Animal involvement (bite, injury, lost animal)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hurt during cleaning</a:t>
            </a:r>
            <a:endParaRPr lang="en-US" sz="950" dirty="0"/>
          </a:p>
        </p:txBody>
      </p:sp>
      <p:sp>
        <p:nvSpPr>
          <p:cNvPr id="12" name="Text 9"/>
          <p:cNvSpPr txBox="1"/>
          <p:nvPr/>
        </p:nvSpPr>
        <p:spPr>
          <a:xfrm>
            <a:off x="411480" y="3639312"/>
            <a:ext cx="8321040" cy="411480"/>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 Not a single job-related follow-up (arrival time, forgotten item).</a:t>
            </a:r>
            <a:endParaRPr lang="en-US" sz="850" dirty="0"/>
          </a:p>
          <a:p>
            <a:pPr indent="0" marL="0">
              <a:buNone/>
            </a:pPr>
            <a:r>
              <a:rPr lang="en-US" sz="850" i="1" dirty="0">
                <a:solidFill>
                  <a:srgbClr val="6E6E73"/>
                </a:solidFill>
                <a:latin typeface="SF Pro Text" pitchFamily="34" charset="0"/>
                <a:ea typeface="SF Pro Text" pitchFamily="34" charset="-122"/>
                <a:cs typeface="SF Pro Text" pitchFamily="34" charset="-120"/>
              </a:rPr>
              <a:t>† Not a disagreement about the cleaning itself, unless it turns heated or intimidating.</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Which claims are covered.</a:t>
            </a:r>
            <a:endParaRPr lang="en-US" sz="1200" dirty="0"/>
          </a:p>
        </p:txBody>
      </p:sp>
      <p:sp>
        <p:nvSpPr>
          <p:cNvPr id="6" name="Shape 3"/>
          <p:cNvSpPr/>
          <p:nvPr/>
        </p:nvSpPr>
        <p:spPr>
          <a:xfrm>
            <a:off x="411480" y="1325880"/>
            <a:ext cx="409194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Included</a:t>
            </a:r>
            <a:endParaRPr lang="en-US" sz="1300" dirty="0"/>
          </a:p>
        </p:txBody>
      </p:sp>
      <p:sp>
        <p:nvSpPr>
          <p:cNvPr id="10" name="Text 6"/>
          <p:cNvSpPr txBox="1"/>
          <p:nvPr/>
        </p:nvSpPr>
        <p:spPr>
          <a:xfrm>
            <a:off x="5943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Job paid in full on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Account in good standing: no failed or disputed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Reported within 30 days of the cleaning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Requester hasn't violated the Terms of Service</a:t>
            </a:r>
            <a:endParaRPr lang="en-US" sz="1000" dirty="0"/>
          </a:p>
        </p:txBody>
      </p:sp>
      <p:sp>
        <p:nvSpPr>
          <p:cNvPr id="11" name="Shape 7"/>
          <p:cNvSpPr/>
          <p:nvPr/>
        </p:nvSpPr>
        <p:spPr>
          <a:xfrm>
            <a:off x="4640580" y="1325880"/>
            <a:ext cx="4091940" cy="2743200"/>
          </a:xfrm>
          <a:prstGeom prst="roundRect">
            <a:avLst>
              <a:gd name="adj" fmla="val 266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Excluded</a:t>
            </a:r>
            <a:endParaRPr lang="en-US" sz="1300" dirty="0"/>
          </a:p>
        </p:txBody>
      </p:sp>
      <p:sp>
        <p:nvSpPr>
          <p:cNvPr id="15" name="Text 10"/>
          <p:cNvSpPr txBox="1"/>
          <p:nvPr/>
        </p:nvSpPr>
        <p:spPr>
          <a:xfrm>
            <a:off x="48234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Cleaning done off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Cash, gift cards, securities, fine art, antiques, jewelry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Pets, liability, common areas, sentimental value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Already recovered by police or replaced by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Items that still work (scratches, wear and tear)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conduct, 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Policy violations, unprofessional conduct, theft and damage: the first report.</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#new-ts-nonsafety-reports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T&amp;S Non-Safety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2011680"/>
          </a:xfrm>
          <a:prstGeom prst="roundRect">
            <a:avLst>
              <a:gd name="adj" fmla="val 3636"/>
            </a:avLst>
          </a:prstGeom>
          <a:solidFill>
            <a:srgbClr val="FFFFFF"/>
          </a:solidFill>
          <a:ln w="9525">
            <a:solidFill>
              <a:srgbClr val="DCE1E7"/>
            </a:solidFill>
            <a:prstDash val="solid"/>
          </a:ln>
        </p:spPr>
      </p:sp>
      <p:pic>
        <p:nvPicPr>
          <p:cNvPr id="26" name="Image 0" descr="/tmp/claude-0/-workspace-training/3ce5cff6-cccf-5f33-b0ee-0b147a55120e/scratchpad/img4/ts_nonsafety_report.png">    </p:cNvPr>
          <p:cNvPicPr>
            <a:picLocks noChangeAspect="1"/>
          </p:cNvPicPr>
          <p:nvPr/>
        </p:nvPicPr>
        <p:blipFill>
          <a:blip r:embed="rId1"/>
          <a:stretch>
            <a:fillRect/>
          </a:stretch>
        </p:blipFill>
        <p:spPr>
          <a:xfrm>
            <a:off x="573190" y="2331720"/>
            <a:ext cx="5254421" cy="1627632"/>
          </a:xfrm>
          <a:prstGeom prst="rect">
            <a:avLst/>
          </a:prstGeom>
        </p:spPr>
      </p:pic>
      <p:sp>
        <p:nvSpPr>
          <p:cNvPr id="27" name="Shape 23"/>
          <p:cNvSpPr/>
          <p:nvPr/>
        </p:nvSpPr>
        <p:spPr>
          <a:xfrm>
            <a:off x="573190" y="2331720"/>
            <a:ext cx="5254421" cy="1627632"/>
          </a:xfrm>
          <a:prstGeom prst="rect">
            <a:avLst/>
          </a:prstGeom>
          <a:ln w="6350">
            <a:solidFill>
              <a:srgbClr val="DCE1E7"/>
            </a:solidFill>
            <a:prstDash val="solid"/>
          </a:ln>
        </p:spPr>
      </p:sp>
      <p:sp>
        <p:nvSpPr>
          <p:cNvPr id="28" name="Text 24"/>
          <p:cNvSpPr txBox="1"/>
          <p:nvPr/>
        </p:nvSpPr>
        <p:spPr>
          <a:xfrm>
            <a:off x="502920" y="39776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#new-ts-nonsafety-reports</a:t>
            </a:r>
            <a:endParaRPr lang="en-US" sz="800" dirty="0"/>
          </a:p>
        </p:txBody>
      </p:sp>
      <p:sp>
        <p:nvSpPr>
          <p:cNvPr id="29" name="Shape 25"/>
          <p:cNvSpPr/>
          <p:nvPr/>
        </p:nvSpPr>
        <p:spPr>
          <a:xfrm>
            <a:off x="6126480" y="2240280"/>
            <a:ext cx="2606040" cy="2011680"/>
          </a:xfrm>
          <a:prstGeom prst="roundRect">
            <a:avLst>
              <a:gd name="adj" fmla="val 3636"/>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Conditional escalation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few real concerns escalate only if the customer explicitly asks.</a:t>
            </a:r>
            <a:endParaRPr lang="en-US" sz="1200" dirty="0"/>
          </a:p>
        </p:txBody>
      </p:sp>
      <p:sp>
        <p:nvSpPr>
          <p:cNvPr id="6" name="Shape 3"/>
          <p:cNvSpPr/>
          <p:nvPr/>
        </p:nvSpPr>
        <p:spPr>
          <a:xfrm>
            <a:off x="2468880" y="1325880"/>
            <a:ext cx="4206240" cy="457200"/>
          </a:xfrm>
          <a:prstGeom prst="roundRect">
            <a:avLst>
              <a:gd name="adj" fmla="val 16000"/>
            </a:avLst>
          </a:prstGeom>
          <a:solidFill>
            <a:srgbClr val="1D1D1F"/>
          </a:solidFill>
          <a:ln w="12700">
            <a:solidFill>
              <a:srgbClr val="1D1D1F"/>
            </a:solidFill>
            <a:prstDash val="solid"/>
          </a:ln>
        </p:spPr>
      </p:sp>
      <p:sp>
        <p:nvSpPr>
          <p:cNvPr id="7" name="Text 4"/>
          <p:cNvSpPr txBox="1"/>
          <p:nvPr/>
        </p:nvSpPr>
        <p:spPr>
          <a:xfrm>
            <a:off x="2468880" y="1325880"/>
            <a:ext cx="42062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brought a minor, or brought/sent an unauthorized person</a:t>
            </a:r>
            <a:endParaRPr lang="en-US" sz="1000" dirty="0"/>
          </a:p>
        </p:txBody>
      </p:sp>
      <p:sp>
        <p:nvSpPr>
          <p:cNvPr id="8" name="Shape 5"/>
          <p:cNvSpPr/>
          <p:nvPr/>
        </p:nvSpPr>
        <p:spPr>
          <a:xfrm>
            <a:off x="4572000" y="1783080"/>
            <a:ext cx="0" cy="155448"/>
          </a:xfrm>
          <a:prstGeom prst="line">
            <a:avLst/>
          </a:prstGeom>
          <a:noFill/>
          <a:ln w="12700">
            <a:solidFill>
              <a:srgbClr val="6E6E73"/>
            </a:solidFill>
            <a:prstDash val="solid"/>
            <a:tailEnd type="triangle"/>
          </a:ln>
        </p:spPr>
      </p:sp>
      <p:sp>
        <p:nvSpPr>
          <p:cNvPr id="9" name="Shape 6"/>
          <p:cNvSpPr/>
          <p:nvPr/>
        </p:nvSpPr>
        <p:spPr>
          <a:xfrm>
            <a:off x="2834640" y="1938528"/>
            <a:ext cx="3474720" cy="411480"/>
          </a:xfrm>
          <a:prstGeom prst="roundRect">
            <a:avLst>
              <a:gd name="adj" fmla="val 17778"/>
            </a:avLst>
          </a:prstGeom>
          <a:solidFill>
            <a:srgbClr val="FFF3D6"/>
          </a:solidFill>
          <a:ln w="12700">
            <a:solidFill>
              <a:srgbClr val="9A6410"/>
            </a:solidFill>
            <a:prstDash val="solid"/>
          </a:ln>
        </p:spPr>
      </p:sp>
      <p:sp>
        <p:nvSpPr>
          <p:cNvPr id="10" name="Text 7"/>
          <p:cNvSpPr txBox="1"/>
          <p:nvPr/>
        </p:nvSpPr>
        <p:spPr>
          <a:xfrm>
            <a:off x="2834640" y="1938528"/>
            <a:ext cx="347472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the customer explicitly ask to escalate?</a:t>
            </a:r>
            <a:endParaRPr lang="en-US" sz="1000" dirty="0"/>
          </a:p>
        </p:txBody>
      </p:sp>
      <p:sp>
        <p:nvSpPr>
          <p:cNvPr id="11" name="Shape 8"/>
          <p:cNvSpPr/>
          <p:nvPr/>
        </p:nvSpPr>
        <p:spPr>
          <a:xfrm>
            <a:off x="4572000" y="2350008"/>
            <a:ext cx="0" cy="182880"/>
          </a:xfrm>
          <a:prstGeom prst="line">
            <a:avLst/>
          </a:prstGeom>
          <a:noFill/>
          <a:ln w="12700">
            <a:solidFill>
              <a:srgbClr val="6E6E73"/>
            </a:solidFill>
            <a:prstDash val="solid"/>
          </a:ln>
        </p:spPr>
      </p:sp>
      <p:sp>
        <p:nvSpPr>
          <p:cNvPr id="12" name="Shape 9"/>
          <p:cNvSpPr/>
          <p:nvPr/>
        </p:nvSpPr>
        <p:spPr>
          <a:xfrm>
            <a:off x="2331720" y="2532888"/>
            <a:ext cx="4480560" cy="0"/>
          </a:xfrm>
          <a:prstGeom prst="line">
            <a:avLst/>
          </a:prstGeom>
          <a:noFill/>
          <a:ln w="12700">
            <a:solidFill>
              <a:srgbClr val="6E6E73"/>
            </a:solidFill>
            <a:prstDash val="solid"/>
          </a:ln>
        </p:spPr>
      </p:sp>
      <p:sp>
        <p:nvSpPr>
          <p:cNvPr id="13" name="Shape 10"/>
          <p:cNvSpPr/>
          <p:nvPr/>
        </p:nvSpPr>
        <p:spPr>
          <a:xfrm>
            <a:off x="2331720" y="2532888"/>
            <a:ext cx="0" cy="210312"/>
          </a:xfrm>
          <a:prstGeom prst="line">
            <a:avLst/>
          </a:prstGeom>
          <a:noFill/>
          <a:ln w="12700">
            <a:solidFill>
              <a:srgbClr val="6E6E73"/>
            </a:solidFill>
            <a:prstDash val="solid"/>
            <a:tailEnd type="triangle"/>
          </a:ln>
        </p:spPr>
      </p:sp>
      <p:sp>
        <p:nvSpPr>
          <p:cNvPr id="14" name="Shape 11"/>
          <p:cNvSpPr/>
          <p:nvPr/>
        </p:nvSpPr>
        <p:spPr>
          <a:xfrm>
            <a:off x="6812280" y="2532888"/>
            <a:ext cx="0" cy="210312"/>
          </a:xfrm>
          <a:prstGeom prst="line">
            <a:avLst/>
          </a:prstGeom>
          <a:noFill/>
          <a:ln w="12700">
            <a:solidFill>
              <a:srgbClr val="6E6E73"/>
            </a:solidFill>
            <a:prstDash val="solid"/>
            <a:tailEnd type="triangle"/>
          </a:ln>
        </p:spPr>
      </p:sp>
      <p:sp>
        <p:nvSpPr>
          <p:cNvPr id="15" name="Text 12"/>
          <p:cNvSpPr txBox="1"/>
          <p:nvPr/>
        </p:nvSpPr>
        <p:spPr>
          <a:xfrm>
            <a:off x="240487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6" name="Text 13"/>
          <p:cNvSpPr txBox="1"/>
          <p:nvPr/>
        </p:nvSpPr>
        <p:spPr>
          <a:xfrm>
            <a:off x="688543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7" name="Shape 14"/>
          <p:cNvSpPr/>
          <p:nvPr/>
        </p:nvSpPr>
        <p:spPr>
          <a:xfrm>
            <a:off x="685800" y="2743200"/>
            <a:ext cx="3291840" cy="411480"/>
          </a:xfrm>
          <a:prstGeom prst="roundRect">
            <a:avLst>
              <a:gd name="adj" fmla="val 17778"/>
            </a:avLst>
          </a:prstGeom>
          <a:solidFill>
            <a:srgbClr val="FFFFFF"/>
          </a:solidFill>
          <a:ln w="12700">
            <a:solidFill>
              <a:srgbClr val="DCE1E7"/>
            </a:solidFill>
            <a:prstDash val="solid"/>
          </a:ln>
        </p:spPr>
      </p:sp>
      <p:sp>
        <p:nvSpPr>
          <p:cNvPr id="18" name="Text 15"/>
          <p:cNvSpPr txBox="1"/>
          <p:nvPr/>
        </p:nvSpPr>
        <p:spPr>
          <a:xfrm>
            <a:off x="685800" y="2743200"/>
            <a:ext cx="3291840" cy="4114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Handle as BAU</a:t>
            </a:r>
            <a:endParaRPr lang="en-US" sz="1000" dirty="0"/>
          </a:p>
        </p:txBody>
      </p:sp>
      <p:sp>
        <p:nvSpPr>
          <p:cNvPr id="19" name="Shape 16"/>
          <p:cNvSpPr/>
          <p:nvPr/>
        </p:nvSpPr>
        <p:spPr>
          <a:xfrm>
            <a:off x="5166360" y="2743200"/>
            <a:ext cx="3291840" cy="411480"/>
          </a:xfrm>
          <a:prstGeom prst="roundRect">
            <a:avLst>
              <a:gd name="adj" fmla="val 17778"/>
            </a:avLst>
          </a:prstGeom>
          <a:solidFill>
            <a:srgbClr val="0B7A6F"/>
          </a:solidFill>
          <a:ln w="12700">
            <a:solidFill>
              <a:srgbClr val="0B7A6F"/>
            </a:solidFill>
            <a:prstDash val="solid"/>
          </a:ln>
        </p:spPr>
      </p:sp>
      <p:sp>
        <p:nvSpPr>
          <p:cNvPr id="20" name="Text 17"/>
          <p:cNvSpPr txBox="1"/>
          <p:nvPr/>
        </p:nvSpPr>
        <p:spPr>
          <a:xfrm>
            <a:off x="5166360" y="2743200"/>
            <a:ext cx="32918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21" name="Text 18"/>
          <p:cNvSpPr txBox="1"/>
          <p:nvPr/>
        </p:nvSpPr>
        <p:spPr>
          <a:xfrm>
            <a:off x="68580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Still counts as a T&amp;S scenario for an ETF waiver.</a:t>
            </a:r>
            <a:endParaRPr lang="en-US" sz="900" dirty="0"/>
          </a:p>
        </p:txBody>
      </p:sp>
      <p:sp>
        <p:nvSpPr>
          <p:cNvPr id="22" name="Text 19"/>
          <p:cNvSpPr txBox="1"/>
          <p:nvPr/>
        </p:nvSpPr>
        <p:spPr>
          <a:xfrm>
            <a:off x="516636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T&amp;S owns the case from here.</a:t>
            </a:r>
            <a:endParaRPr lang="en-US" sz="900" dirty="0"/>
          </a:p>
        </p:txBody>
      </p:sp>
      <p:sp>
        <p:nvSpPr>
          <p:cNvPr id="23" name="Shape 20"/>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0" descr="preencoded.png">    </p:cNvPr>
          <p:cNvPicPr>
            <a:picLocks noChangeAspect="1"/>
          </p:cNvPicPr>
          <p:nvPr/>
        </p:nvPicPr>
        <p:blipFill>
          <a:blip r:embed="rId1"/>
          <a:stretch>
            <a:fillRect/>
          </a:stretch>
        </p:blipFill>
        <p:spPr>
          <a:xfrm>
            <a:off x="566928" y="3858768"/>
            <a:ext cx="164592" cy="164592"/>
          </a:xfrm>
          <a:prstGeom prst="rect">
            <a:avLst/>
          </a:prstGeom>
        </p:spPr>
      </p:pic>
      <p:sp>
        <p:nvSpPr>
          <p:cNvPr id="25" name="Text 21"/>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exhaustive:  </a:t>
            </a:r>
            <a:pPr indent="0" marL="0">
              <a:buNone/>
            </a:pPr>
            <a:r>
              <a:rPr lang="en-US" sz="1000" dirty="0">
                <a:solidFill>
                  <a:srgbClr val="1D1D1F"/>
                </a:solidFill>
                <a:latin typeface="SF Pro Text" pitchFamily="34" charset="0"/>
                <a:ea typeface="SF Pro Text" pitchFamily="34" charset="-122"/>
                <a:cs typeface="SF Pro Text" pitchFamily="34" charset="-120"/>
              </a:rPr>
              <a:t>a new case must be a real safety concern. Unsure? Escalate.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follow-ups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Updates, a report made by mistake, or a triggered T&amp;S reminder.</a:t>
            </a:r>
            <a:endParaRPr lang="en-US" sz="1200" dirty="0"/>
          </a:p>
        </p:txBody>
      </p:sp>
      <p:sp>
        <p:nvSpPr>
          <p:cNvPr id="6" name="Shape 3"/>
          <p:cNvSpPr/>
          <p:nvPr/>
        </p:nvSpPr>
        <p:spPr>
          <a:xfrm>
            <a:off x="411480" y="1280160"/>
            <a:ext cx="48463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280160"/>
            <a:ext cx="48463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asks for an update, says they reported by mistake,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 timed reminder from T&amp;S triggers</a:t>
            </a:r>
            <a:endParaRPr lang="en-US" sz="1000" dirty="0"/>
          </a:p>
        </p:txBody>
      </p:sp>
      <p:sp>
        <p:nvSpPr>
          <p:cNvPr id="8" name="Shape 5"/>
          <p:cNvSpPr/>
          <p:nvPr/>
        </p:nvSpPr>
        <p:spPr>
          <a:xfrm>
            <a:off x="2834640" y="1847088"/>
            <a:ext cx="0" cy="137160"/>
          </a:xfrm>
          <a:prstGeom prst="line">
            <a:avLst/>
          </a:prstGeom>
          <a:noFill/>
          <a:ln w="12700">
            <a:solidFill>
              <a:srgbClr val="6E6E73"/>
            </a:solidFill>
            <a:prstDash val="solid"/>
            <a:tailEnd type="triangle"/>
          </a:ln>
        </p:spPr>
      </p:sp>
      <p:sp>
        <p:nvSpPr>
          <p:cNvPr id="9" name="Shape 6"/>
          <p:cNvSpPr/>
          <p:nvPr/>
        </p:nvSpPr>
        <p:spPr>
          <a:xfrm>
            <a:off x="1234440" y="1984248"/>
            <a:ext cx="3200400" cy="457200"/>
          </a:xfrm>
          <a:prstGeom prst="roundRect">
            <a:avLst>
              <a:gd name="adj" fmla="val 16000"/>
            </a:avLst>
          </a:prstGeom>
          <a:solidFill>
            <a:srgbClr val="FFF3D6"/>
          </a:solidFill>
          <a:ln w="12700">
            <a:solidFill>
              <a:srgbClr val="9A6410"/>
            </a:solidFill>
            <a:prstDash val="solid"/>
          </a:ln>
        </p:spPr>
      </p:sp>
      <p:sp>
        <p:nvSpPr>
          <p:cNvPr id="10" name="Text 7"/>
          <p:cNvSpPr txBox="1"/>
          <p:nvPr/>
        </p:nvSpPr>
        <p:spPr>
          <a:xfrm>
            <a:off x="1234440" y="1984248"/>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posted in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#trust-and-safety-follow-ups?</a:t>
            </a:r>
            <a:endParaRPr lang="en-US" sz="1000" dirty="0"/>
          </a:p>
        </p:txBody>
      </p:sp>
      <p:sp>
        <p:nvSpPr>
          <p:cNvPr id="11" name="Shape 8"/>
          <p:cNvSpPr/>
          <p:nvPr/>
        </p:nvSpPr>
        <p:spPr>
          <a:xfrm>
            <a:off x="2834640" y="2441448"/>
            <a:ext cx="0" cy="137160"/>
          </a:xfrm>
          <a:prstGeom prst="line">
            <a:avLst/>
          </a:prstGeom>
          <a:noFill/>
          <a:ln w="12700">
            <a:solidFill>
              <a:srgbClr val="6E6E73"/>
            </a:solidFill>
            <a:prstDash val="solid"/>
          </a:ln>
        </p:spPr>
      </p:sp>
      <p:sp>
        <p:nvSpPr>
          <p:cNvPr id="12" name="Shape 9"/>
          <p:cNvSpPr/>
          <p:nvPr/>
        </p:nvSpPr>
        <p:spPr>
          <a:xfrm>
            <a:off x="1600200" y="2578608"/>
            <a:ext cx="2468880" cy="0"/>
          </a:xfrm>
          <a:prstGeom prst="line">
            <a:avLst/>
          </a:prstGeom>
          <a:noFill/>
          <a:ln w="12700">
            <a:solidFill>
              <a:srgbClr val="6E6E73"/>
            </a:solidFill>
            <a:prstDash val="solid"/>
          </a:ln>
        </p:spPr>
      </p:sp>
      <p:sp>
        <p:nvSpPr>
          <p:cNvPr id="13" name="Shape 10"/>
          <p:cNvSpPr/>
          <p:nvPr/>
        </p:nvSpPr>
        <p:spPr>
          <a:xfrm>
            <a:off x="1600200" y="2578608"/>
            <a:ext cx="0" cy="146304"/>
          </a:xfrm>
          <a:prstGeom prst="line">
            <a:avLst/>
          </a:prstGeom>
          <a:noFill/>
          <a:ln w="12700">
            <a:solidFill>
              <a:srgbClr val="6E6E73"/>
            </a:solidFill>
            <a:prstDash val="solid"/>
            <a:tailEnd type="triangle"/>
          </a:ln>
        </p:spPr>
      </p:sp>
      <p:sp>
        <p:nvSpPr>
          <p:cNvPr id="14" name="Shape 11"/>
          <p:cNvSpPr/>
          <p:nvPr/>
        </p:nvSpPr>
        <p:spPr>
          <a:xfrm>
            <a:off x="4069080" y="2578608"/>
            <a:ext cx="0" cy="146304"/>
          </a:xfrm>
          <a:prstGeom prst="line">
            <a:avLst/>
          </a:prstGeom>
          <a:noFill/>
          <a:ln w="12700">
            <a:solidFill>
              <a:srgbClr val="6E6E73"/>
            </a:solidFill>
            <a:prstDash val="solid"/>
            <a:tailEnd type="triangle"/>
          </a:ln>
        </p:spPr>
      </p:sp>
      <p:sp>
        <p:nvSpPr>
          <p:cNvPr id="15" name="Text 12"/>
          <p:cNvSpPr txBox="1"/>
          <p:nvPr/>
        </p:nvSpPr>
        <p:spPr>
          <a:xfrm>
            <a:off x="167335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Text 13"/>
          <p:cNvSpPr txBox="1"/>
          <p:nvPr/>
        </p:nvSpPr>
        <p:spPr>
          <a:xfrm>
            <a:off x="414223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7" name="Shape 14"/>
          <p:cNvSpPr/>
          <p:nvPr/>
        </p:nvSpPr>
        <p:spPr>
          <a:xfrm>
            <a:off x="434340" y="2724912"/>
            <a:ext cx="2331720" cy="777240"/>
          </a:xfrm>
          <a:prstGeom prst="roundRect">
            <a:avLst>
              <a:gd name="adj" fmla="val 9412"/>
            </a:avLst>
          </a:prstGeom>
          <a:solidFill>
            <a:srgbClr val="0B7A6F"/>
          </a:solidFill>
          <a:ln w="12700">
            <a:solidFill>
              <a:srgbClr val="0B7A6F"/>
            </a:solidFill>
            <a:prstDash val="solid"/>
          </a:ln>
        </p:spPr>
      </p:sp>
      <p:sp>
        <p:nvSpPr>
          <p:cNvPr id="18" name="Text 15"/>
          <p:cNvSpPr txBox="1"/>
          <p:nvPr/>
        </p:nvSpPr>
        <p:spPr>
          <a:xfrm>
            <a:off x="43434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Reply in the original thread.</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Tick "Also send to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#trust-and-safety-follow-ups"</a:t>
            </a:r>
            <a:endParaRPr lang="en-US" sz="1000" dirty="0"/>
          </a:p>
        </p:txBody>
      </p:sp>
      <p:sp>
        <p:nvSpPr>
          <p:cNvPr id="19" name="Shape 16"/>
          <p:cNvSpPr/>
          <p:nvPr/>
        </p:nvSpPr>
        <p:spPr>
          <a:xfrm>
            <a:off x="2903220" y="2724912"/>
            <a:ext cx="2331720" cy="777240"/>
          </a:xfrm>
          <a:prstGeom prst="roundRect">
            <a:avLst>
              <a:gd name="adj" fmla="val 9412"/>
            </a:avLst>
          </a:prstGeom>
          <a:solidFill>
            <a:srgbClr val="0B7A6F"/>
          </a:solidFill>
          <a:ln w="12700">
            <a:solidFill>
              <a:srgbClr val="0B7A6F"/>
            </a:solidFill>
            <a:prstDash val="solid"/>
          </a:ln>
        </p:spPr>
      </p:sp>
      <p:sp>
        <p:nvSpPr>
          <p:cNvPr id="20" name="Text 17"/>
          <p:cNvSpPr txBox="1"/>
          <p:nvPr/>
        </p:nvSpPr>
        <p:spPr>
          <a:xfrm>
            <a:off x="290322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post (format at right).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with the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Slack link of your post</a:t>
            </a:r>
            <a:endParaRPr lang="en-US" sz="1000" dirty="0"/>
          </a:p>
        </p:txBody>
      </p:sp>
      <p:sp>
        <p:nvSpPr>
          <p:cNvPr id="21" name="Shape 18"/>
          <p:cNvSpPr/>
          <p:nvPr/>
        </p:nvSpPr>
        <p:spPr>
          <a:xfrm>
            <a:off x="1600200" y="3502152"/>
            <a:ext cx="0" cy="155448"/>
          </a:xfrm>
          <a:prstGeom prst="line">
            <a:avLst/>
          </a:prstGeom>
          <a:noFill/>
          <a:ln w="12700">
            <a:solidFill>
              <a:srgbClr val="6E6E73"/>
            </a:solidFill>
            <a:prstDash val="solid"/>
          </a:ln>
        </p:spPr>
      </p:sp>
      <p:sp>
        <p:nvSpPr>
          <p:cNvPr id="22" name="Shape 19"/>
          <p:cNvSpPr/>
          <p:nvPr/>
        </p:nvSpPr>
        <p:spPr>
          <a:xfrm>
            <a:off x="4069080" y="3502152"/>
            <a:ext cx="0" cy="155448"/>
          </a:xfrm>
          <a:prstGeom prst="line">
            <a:avLst/>
          </a:prstGeom>
          <a:noFill/>
          <a:ln w="12700">
            <a:solidFill>
              <a:srgbClr val="6E6E73"/>
            </a:solidFill>
            <a:prstDash val="solid"/>
          </a:ln>
        </p:spPr>
      </p:sp>
      <p:sp>
        <p:nvSpPr>
          <p:cNvPr id="23" name="Shape 20"/>
          <p:cNvSpPr/>
          <p:nvPr/>
        </p:nvSpPr>
        <p:spPr>
          <a:xfrm>
            <a:off x="1600200" y="3657600"/>
            <a:ext cx="2468880" cy="0"/>
          </a:xfrm>
          <a:prstGeom prst="line">
            <a:avLst/>
          </a:prstGeom>
          <a:noFill/>
          <a:ln w="12700">
            <a:solidFill>
              <a:srgbClr val="6E6E73"/>
            </a:solidFill>
            <a:prstDash val="solid"/>
          </a:ln>
        </p:spPr>
      </p:sp>
      <p:sp>
        <p:nvSpPr>
          <p:cNvPr id="24" name="Shape 21"/>
          <p:cNvSpPr/>
          <p:nvPr/>
        </p:nvSpPr>
        <p:spPr>
          <a:xfrm>
            <a:off x="2834640" y="3657600"/>
            <a:ext cx="0" cy="137160"/>
          </a:xfrm>
          <a:prstGeom prst="line">
            <a:avLst/>
          </a:prstGeom>
          <a:noFill/>
          <a:ln w="12700">
            <a:solidFill>
              <a:srgbClr val="6E6E73"/>
            </a:solidFill>
            <a:prstDash val="solid"/>
            <a:tailEnd type="triangle"/>
          </a:ln>
        </p:spPr>
      </p:sp>
      <p:sp>
        <p:nvSpPr>
          <p:cNvPr id="25" name="Shape 22"/>
          <p:cNvSpPr/>
          <p:nvPr/>
        </p:nvSpPr>
        <p:spPr>
          <a:xfrm>
            <a:off x="411480" y="3794760"/>
            <a:ext cx="4846320" cy="438912"/>
          </a:xfrm>
          <a:prstGeom prst="roundRect">
            <a:avLst>
              <a:gd name="adj" fmla="val 16667"/>
            </a:avLst>
          </a:prstGeom>
          <a:solidFill>
            <a:srgbClr val="FFFFFF"/>
          </a:solidFill>
          <a:ln w="12700">
            <a:solidFill>
              <a:srgbClr val="DCE1E7"/>
            </a:solidFill>
            <a:prstDash val="solid"/>
          </a:ln>
        </p:spPr>
      </p:sp>
      <p:sp>
        <p:nvSpPr>
          <p:cNvPr id="26" name="Text 23"/>
          <p:cNvSpPr txBox="1"/>
          <p:nvPr/>
        </p:nvSpPr>
        <p:spPr>
          <a:xfrm>
            <a:off x="411480" y="3794760"/>
            <a:ext cx="4846320" cy="43891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 T&amp;S Follow-ups</a:t>
            </a:r>
            <a:endParaRPr lang="en-US" sz="1000" dirty="0"/>
          </a:p>
        </p:txBody>
      </p:sp>
      <p:sp>
        <p:nvSpPr>
          <p:cNvPr id="27" name="Shape 24"/>
          <p:cNvSpPr/>
          <p:nvPr/>
        </p:nvSpPr>
        <p:spPr>
          <a:xfrm>
            <a:off x="5440680" y="1280160"/>
            <a:ext cx="3291840" cy="1325880"/>
          </a:xfrm>
          <a:prstGeom prst="roundRect">
            <a:avLst>
              <a:gd name="adj" fmla="val 5517"/>
            </a:avLst>
          </a:prstGeom>
          <a:solidFill>
            <a:srgbClr val="FFFFFF"/>
          </a:solidFill>
          <a:ln w="9525">
            <a:solidFill>
              <a:srgbClr val="DCE1E7"/>
            </a:solidFill>
            <a:prstDash val="solid"/>
          </a:ln>
        </p:spPr>
      </p:sp>
      <p:pic>
        <p:nvPicPr>
          <p:cNvPr id="28" name="Image 0" descr="/tmp/claude-0/-workspace-training/3ce5cff6-cccf-5f33-b0ee-0b147a55120e/scratchpad/img4/ts_followup.png">    </p:cNvPr>
          <p:cNvPicPr>
            <a:picLocks noChangeAspect="1"/>
          </p:cNvPicPr>
          <p:nvPr/>
        </p:nvPicPr>
        <p:blipFill>
          <a:blip r:embed="rId1"/>
          <a:stretch>
            <a:fillRect/>
          </a:stretch>
        </p:blipFill>
        <p:spPr>
          <a:xfrm>
            <a:off x="5593267" y="1371600"/>
            <a:ext cx="2986665" cy="941832"/>
          </a:xfrm>
          <a:prstGeom prst="rect">
            <a:avLst/>
          </a:prstGeom>
        </p:spPr>
      </p:pic>
      <p:sp>
        <p:nvSpPr>
          <p:cNvPr id="29" name="Shape 25"/>
          <p:cNvSpPr/>
          <p:nvPr/>
        </p:nvSpPr>
        <p:spPr>
          <a:xfrm>
            <a:off x="5593267" y="1371600"/>
            <a:ext cx="2986665" cy="941832"/>
          </a:xfrm>
          <a:prstGeom prst="rect">
            <a:avLst/>
          </a:prstGeom>
          <a:ln w="6350">
            <a:solidFill>
              <a:srgbClr val="DCE1E7"/>
            </a:solidFill>
            <a:prstDash val="solid"/>
          </a:ln>
        </p:spPr>
      </p:sp>
      <p:sp>
        <p:nvSpPr>
          <p:cNvPr id="30" name="Text 26"/>
          <p:cNvSpPr txBox="1"/>
          <p:nvPr/>
        </p:nvSpPr>
        <p:spPr>
          <a:xfrm>
            <a:off x="5532120" y="2331720"/>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Follow-up post format</a:t>
            </a:r>
            <a:endParaRPr lang="en-US" sz="800" dirty="0"/>
          </a:p>
        </p:txBody>
      </p:sp>
      <p:sp>
        <p:nvSpPr>
          <p:cNvPr id="31" name="Shape 27"/>
          <p:cNvSpPr/>
          <p:nvPr/>
        </p:nvSpPr>
        <p:spPr>
          <a:xfrm>
            <a:off x="5440680" y="2743200"/>
            <a:ext cx="3291840" cy="1536192"/>
          </a:xfrm>
          <a:prstGeom prst="roundRect">
            <a:avLst>
              <a:gd name="adj" fmla="val 4762"/>
            </a:avLst>
          </a:prstGeom>
          <a:solidFill>
            <a:srgbClr val="FFFFFF"/>
          </a:solidFill>
          <a:ln w="9525">
            <a:solidFill>
              <a:srgbClr val="DCE1E7"/>
            </a:solidFill>
            <a:prstDash val="solid"/>
          </a:ln>
        </p:spPr>
      </p:sp>
      <p:pic>
        <p:nvPicPr>
          <p:cNvPr id="32" name="Image 1" descr="/tmp/claude-0/-workspace-training/3ce5cff6-cccf-5f33-b0ee-0b147a55120e/scratchpad/img4/ts_reminder.png">    </p:cNvPr>
          <p:cNvPicPr>
            <a:picLocks noChangeAspect="1"/>
          </p:cNvPicPr>
          <p:nvPr/>
        </p:nvPicPr>
        <p:blipFill>
          <a:blip r:embed="rId2"/>
          <a:stretch>
            <a:fillRect/>
          </a:stretch>
        </p:blipFill>
        <p:spPr>
          <a:xfrm>
            <a:off x="6017429" y="2834640"/>
            <a:ext cx="2138341" cy="1152144"/>
          </a:xfrm>
          <a:prstGeom prst="rect">
            <a:avLst/>
          </a:prstGeom>
        </p:spPr>
      </p:pic>
      <p:sp>
        <p:nvSpPr>
          <p:cNvPr id="33" name="Shape 28"/>
          <p:cNvSpPr/>
          <p:nvPr/>
        </p:nvSpPr>
        <p:spPr>
          <a:xfrm>
            <a:off x="6017429" y="2834640"/>
            <a:ext cx="2138341" cy="1152144"/>
          </a:xfrm>
          <a:prstGeom prst="rect">
            <a:avLst/>
          </a:prstGeom>
          <a:ln w="6350">
            <a:solidFill>
              <a:srgbClr val="DCE1E7"/>
            </a:solidFill>
            <a:prstDash val="solid"/>
          </a:ln>
        </p:spPr>
      </p:sp>
      <p:sp>
        <p:nvSpPr>
          <p:cNvPr id="34" name="Text 29"/>
          <p:cNvSpPr txBox="1"/>
          <p:nvPr/>
        </p:nvSpPr>
        <p:spPr>
          <a:xfrm>
            <a:off x="5532120" y="4005072"/>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Triggered timed reminder from T&amp;S</a:t>
            </a:r>
            <a:endParaRPr lang="en-US" sz="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mentions in passing that the CP brought their teenager along, but doesn't ask to escalate.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Handle as BAU. It still counts as a T&amp;S scenario for an ETF waiver.</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"you missed a spot" and the CP disagreed calmly. Is this a T&amp;S verbal dispute?</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disagreement about the cleaning only qualifies if it turns heated, aggressive or intimidating.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reports the CP sent sexual messages and asks for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yourself. Escalate to T&amp;S and email the customer; T&amp;S decides the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T&amp;S replies: "This is not a T&amp;S concern." Now what?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78</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escalate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Care doesn't investigate or resolve T&amp;S cases.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Hands off</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refunds, ETF changes, retention or cleaner contact.</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Unsure? Escalate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don't need certainty to raise a risk.</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Service Recovery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Cases with legal, reputational or relationship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Service Recovery handles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Material vs. general legal threats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escalate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case comes back</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0.png">    </p:cNvPr>
          <p:cNvPicPr>
            <a:picLocks noChangeAspect="1"/>
          </p:cNvPicPr>
          <p:nvPr/>
        </p:nvPicPr>
        <p:blipFill>
          <a:blip r:embed="rId5"/>
          <a:stretch>
            <a:fillRect/>
          </a:stretch>
        </p:blipFill>
        <p:spPr>
          <a:xfrm>
            <a:off x="5541264" y="1776984"/>
            <a:ext cx="2926080" cy="158496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Service Recovery handles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Care recognizes and hands off. SR decides the resolution.</a:t>
            </a:r>
            <a:endParaRPr lang="en-US" sz="1200" dirty="0"/>
          </a:p>
        </p:txBody>
      </p:sp>
      <p:sp>
        <p:nvSpPr>
          <p:cNvPr id="6" name="Shape 3"/>
          <p:cNvSpPr/>
          <p:nvPr/>
        </p:nvSpPr>
        <p:spPr>
          <a:xfrm>
            <a:off x="411480" y="1325880"/>
            <a:ext cx="40919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Negative CSAT, opted in</a:t>
            </a:r>
            <a:endParaRPr lang="en-US" sz="1200" dirty="0"/>
          </a:p>
        </p:txBody>
      </p:sp>
      <p:sp>
        <p:nvSpPr>
          <p:cNvPr id="10" name="Text 6"/>
          <p:cNvSpPr txBox="1"/>
          <p:nvPr/>
        </p:nvSpPr>
        <p:spPr>
          <a:xfrm>
            <a:off x="5760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left negative survey feedback and asked to be contacted by phone or email.</a:t>
            </a:r>
            <a:endParaRPr lang="en-US" sz="950" dirty="0"/>
          </a:p>
        </p:txBody>
      </p:sp>
      <p:sp>
        <p:nvSpPr>
          <p:cNvPr id="11" name="Shape 7"/>
          <p:cNvSpPr/>
          <p:nvPr/>
        </p:nvSpPr>
        <p:spPr>
          <a:xfrm>
            <a:off x="4640580" y="1325880"/>
            <a:ext cx="40919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High-risk legal or FTC threat</a:t>
            </a:r>
            <a:endParaRPr lang="en-US" sz="1200" dirty="0"/>
          </a:p>
        </p:txBody>
      </p:sp>
      <p:sp>
        <p:nvSpPr>
          <p:cNvPr id="15" name="Text 10"/>
          <p:cNvSpPr txBox="1"/>
          <p:nvPr/>
        </p:nvSpPr>
        <p:spPr>
          <a:xfrm>
            <a:off x="48051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or an FTC mention, when the risk of escalation is significantly high.</a:t>
            </a:r>
            <a:endParaRPr lang="en-US" sz="950" dirty="0"/>
          </a:p>
        </p:txBody>
      </p:sp>
      <p:sp>
        <p:nvSpPr>
          <p:cNvPr id="16" name="Shape 11"/>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172968"/>
            <a:ext cx="164592" cy="164592"/>
          </a:xfrm>
          <a:prstGeom prst="rect">
            <a:avLst/>
          </a:prstGeom>
        </p:spPr>
      </p:pic>
      <p:sp>
        <p:nvSpPr>
          <p:cNvPr id="18" name="Text 12"/>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SR decides:  </a:t>
            </a:r>
            <a:pPr indent="0" marL="0">
              <a:buNone/>
            </a:pPr>
            <a:r>
              <a:rPr lang="en-US" sz="1000" dirty="0">
                <a:solidFill>
                  <a:srgbClr val="1D1D1F"/>
                </a:solidFill>
                <a:latin typeface="SF Pro Text" pitchFamily="34" charset="0"/>
                <a:ea typeface="SF Pro Text" pitchFamily="34" charset="-122"/>
                <a:cs typeface="SF Pro Text" pitchFamily="34" charset="-120"/>
              </a:rPr>
              <a:t>refund eligibility, scope and any ETF waiver for the cases they own.</a:t>
            </a:r>
            <a:endParaRPr lang="en-US" sz="1000" dirty="0"/>
          </a:p>
        </p:txBody>
      </p:sp>
      <p:sp>
        <p:nvSpPr>
          <p:cNvPr id="19" name="Shape 1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3675888"/>
            <a:ext cx="164592" cy="164592"/>
          </a:xfrm>
          <a:prstGeom prst="rect">
            <a:avLst/>
          </a:prstGeom>
        </p:spPr>
      </p:pic>
      <p:sp>
        <p:nvSpPr>
          <p:cNvPr id="21" name="Text 1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BBB:  </a:t>
            </a:r>
            <a:pPr indent="0" marL="0">
              <a:buNone/>
            </a:pPr>
            <a:r>
              <a:rPr lang="en-US" sz="1000" dirty="0">
                <a:solidFill>
                  <a:srgbClr val="1D1D1F"/>
                </a:solidFill>
                <a:latin typeface="SF Pro Text" pitchFamily="34" charset="0"/>
                <a:ea typeface="SF Pro Text" pitchFamily="34" charset="-122"/>
                <a:cs typeface="SF Pro Text" pitchFamily="34" charset="-120"/>
              </a:rPr>
              <a:t>a threat is BAU. A filed complaint follows the HDR Ticket Handling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vs. general legal threats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some legal language needs Service Recovery.</a:t>
            </a:r>
            <a:endParaRPr lang="en-US" sz="12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188720"/>
                <a:gridCol w="2377440"/>
                <a:gridCol w="2377440"/>
                <a:gridCol w="2377440"/>
              </a:tblGrid>
              <a:tr h="36576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Material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BBB (special case)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11430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Examples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Attorney General, formal legal letter, lawyer CC'd, class action, email from a law firm, joining litigation, small claims court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FTC mention, social media threat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report this to the BBB" vs. an actual filed complaint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7772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What you do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SR needed. Waive the ETF and cancel FC immediately.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Handle as BAU. Escalate to SR only if the risk is significant.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Threat: BAU, no escalation. Filed complaint: HDR ticket process.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9" name="Text 4"/>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material threats skip SR. The waiver is immediate.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or general?</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each message, decide, then click to reveal.</a:t>
            </a:r>
            <a:endParaRPr lang="en-US" sz="1200" dirty="0"/>
          </a:p>
        </p:txBody>
      </p:sp>
      <p:sp>
        <p:nvSpPr>
          <p:cNvPr id="6" name="Shape 3"/>
          <p:cNvSpPr/>
          <p:nvPr/>
        </p:nvSpPr>
        <p:spPr>
          <a:xfrm>
            <a:off x="411480" y="1280160"/>
            <a:ext cx="4617720" cy="510540"/>
          </a:xfrm>
          <a:prstGeom prst="roundRect">
            <a:avLst>
              <a:gd name="adj" fmla="val 14328"/>
            </a:avLst>
          </a:prstGeom>
          <a:solidFill>
            <a:srgbClr val="FFFFFF"/>
          </a:solidFill>
          <a:ln w="9525">
            <a:solidFill>
              <a:srgbClr val="DCE1E7"/>
            </a:solidFill>
            <a:prstDash val="solid"/>
          </a:ln>
        </p:spPr>
      </p:sp>
      <p:sp>
        <p:nvSpPr>
          <p:cNvPr id="7" name="Shape 4"/>
          <p:cNvSpPr/>
          <p:nvPr/>
        </p:nvSpPr>
        <p:spPr>
          <a:xfrm>
            <a:off x="548640" y="1398270"/>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39827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going to file a complaint with the Attorney General about this."</a:t>
            </a:r>
            <a:endParaRPr lang="en-US" sz="950" dirty="0"/>
          </a:p>
        </p:txBody>
      </p:sp>
      <p:sp>
        <p:nvSpPr>
          <p:cNvPr id="10" name="Shape 7"/>
          <p:cNvSpPr/>
          <p:nvPr/>
        </p:nvSpPr>
        <p:spPr>
          <a:xfrm>
            <a:off x="5120640" y="1280160"/>
            <a:ext cx="3611880" cy="510540"/>
          </a:xfrm>
          <a:prstGeom prst="roundRect">
            <a:avLst>
              <a:gd name="adj" fmla="val 14328"/>
            </a:avLst>
          </a:prstGeom>
          <a:solidFill>
            <a:srgbClr val="E3F4F1"/>
          </a:solidFill>
          <a:ln w="9525">
            <a:solidFill>
              <a:srgbClr val="E3F4F1"/>
            </a:solidFill>
            <a:prstDash val="solid"/>
          </a:ln>
        </p:spPr>
      </p:sp>
      <p:sp>
        <p:nvSpPr>
          <p:cNvPr id="11" name="step1Ans"/>
          <p:cNvSpPr txBox="1"/>
          <p:nvPr/>
        </p:nvSpPr>
        <p:spPr>
          <a:xfrm>
            <a:off x="5257800" y="128016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12" name="Shape 9"/>
          <p:cNvSpPr/>
          <p:nvPr/>
        </p:nvSpPr>
        <p:spPr>
          <a:xfrm>
            <a:off x="411480" y="1863852"/>
            <a:ext cx="4617720" cy="510540"/>
          </a:xfrm>
          <a:prstGeom prst="roundRect">
            <a:avLst>
              <a:gd name="adj" fmla="val 14328"/>
            </a:avLst>
          </a:prstGeom>
          <a:solidFill>
            <a:srgbClr val="FFFFFF"/>
          </a:solidFill>
          <a:ln w="9525">
            <a:solidFill>
              <a:srgbClr val="DCE1E7"/>
            </a:solidFill>
            <a:prstDash val="solid"/>
          </a:ln>
        </p:spPr>
      </p:sp>
      <p:sp>
        <p:nvSpPr>
          <p:cNvPr id="13" name="Shape 10"/>
          <p:cNvSpPr/>
          <p:nvPr/>
        </p:nvSpPr>
        <p:spPr>
          <a:xfrm>
            <a:off x="548640" y="198196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198196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1863852"/>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doesn't get fixed, I'm getting a lawyer involved."</a:t>
            </a:r>
            <a:endParaRPr lang="en-US" sz="950" dirty="0"/>
          </a:p>
        </p:txBody>
      </p:sp>
      <p:sp>
        <p:nvSpPr>
          <p:cNvPr id="16" name="Shape 13"/>
          <p:cNvSpPr/>
          <p:nvPr/>
        </p:nvSpPr>
        <p:spPr>
          <a:xfrm>
            <a:off x="5120640" y="1863852"/>
            <a:ext cx="3611880" cy="510540"/>
          </a:xfrm>
          <a:prstGeom prst="roundRect">
            <a:avLst>
              <a:gd name="adj" fmla="val 14328"/>
            </a:avLst>
          </a:prstGeom>
          <a:solidFill>
            <a:srgbClr val="E3F4F1"/>
          </a:solidFill>
          <a:ln w="9525">
            <a:solidFill>
              <a:srgbClr val="E3F4F1"/>
            </a:solidFill>
            <a:prstDash val="solid"/>
          </a:ln>
        </p:spPr>
      </p:sp>
      <p:sp>
        <p:nvSpPr>
          <p:cNvPr id="17" name="step2Ans"/>
          <p:cNvSpPr txBox="1"/>
          <p:nvPr/>
        </p:nvSpPr>
        <p:spPr>
          <a:xfrm>
            <a:off x="5257800" y="1863852"/>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18" name="Shape 15"/>
          <p:cNvSpPr/>
          <p:nvPr/>
        </p:nvSpPr>
        <p:spPr>
          <a:xfrm>
            <a:off x="411480" y="2447544"/>
            <a:ext cx="4617720" cy="510540"/>
          </a:xfrm>
          <a:prstGeom prst="roundRect">
            <a:avLst>
              <a:gd name="adj" fmla="val 14328"/>
            </a:avLst>
          </a:prstGeom>
          <a:solidFill>
            <a:srgbClr val="FFFFFF"/>
          </a:solidFill>
          <a:ln w="9525">
            <a:solidFill>
              <a:srgbClr val="DCE1E7"/>
            </a:solidFill>
            <a:prstDash val="solid"/>
          </a:ln>
        </p:spPr>
      </p:sp>
      <p:sp>
        <p:nvSpPr>
          <p:cNvPr id="19" name="Shape 16"/>
          <p:cNvSpPr/>
          <p:nvPr/>
        </p:nvSpPr>
        <p:spPr>
          <a:xfrm>
            <a:off x="548640" y="256565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256565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447544"/>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"My lawyer has been CC'd on this email and will be following up."</a:t>
            </a:r>
            <a:endParaRPr lang="en-US" sz="950" dirty="0"/>
          </a:p>
        </p:txBody>
      </p:sp>
      <p:sp>
        <p:nvSpPr>
          <p:cNvPr id="22" name="Shape 19"/>
          <p:cNvSpPr/>
          <p:nvPr/>
        </p:nvSpPr>
        <p:spPr>
          <a:xfrm>
            <a:off x="5120640" y="2447544"/>
            <a:ext cx="3611880" cy="510540"/>
          </a:xfrm>
          <a:prstGeom prst="roundRect">
            <a:avLst>
              <a:gd name="adj" fmla="val 14328"/>
            </a:avLst>
          </a:prstGeom>
          <a:solidFill>
            <a:srgbClr val="E3F4F1"/>
          </a:solidFill>
          <a:ln w="9525">
            <a:solidFill>
              <a:srgbClr val="E3F4F1"/>
            </a:solidFill>
            <a:prstDash val="solid"/>
          </a:ln>
        </p:spPr>
      </p:sp>
      <p:sp>
        <p:nvSpPr>
          <p:cNvPr id="23" name="step3Ans"/>
          <p:cNvSpPr txBox="1"/>
          <p:nvPr/>
        </p:nvSpPr>
        <p:spPr>
          <a:xfrm>
            <a:off x="5257800" y="2447544"/>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24" name="Shape 21"/>
          <p:cNvSpPr/>
          <p:nvPr/>
        </p:nvSpPr>
        <p:spPr>
          <a:xfrm>
            <a:off x="411480" y="3031236"/>
            <a:ext cx="4617720" cy="510540"/>
          </a:xfrm>
          <a:prstGeom prst="roundRect">
            <a:avLst>
              <a:gd name="adj" fmla="val 14328"/>
            </a:avLst>
          </a:prstGeom>
          <a:solidFill>
            <a:srgbClr val="FFFFFF"/>
          </a:solidFill>
          <a:ln w="9525">
            <a:solidFill>
              <a:srgbClr val="DCE1E7"/>
            </a:solidFill>
            <a:prstDash val="solid"/>
          </a:ln>
        </p:spPr>
      </p:sp>
      <p:sp>
        <p:nvSpPr>
          <p:cNvPr id="25" name="Shape 22"/>
          <p:cNvSpPr/>
          <p:nvPr/>
        </p:nvSpPr>
        <p:spPr>
          <a:xfrm>
            <a:off x="548640" y="3149346"/>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314934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031236"/>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reporting this to the Better Business Bureau."</a:t>
            </a:r>
            <a:endParaRPr lang="en-US" sz="950" dirty="0"/>
          </a:p>
        </p:txBody>
      </p:sp>
      <p:sp>
        <p:nvSpPr>
          <p:cNvPr id="28" name="Shape 25"/>
          <p:cNvSpPr/>
          <p:nvPr/>
        </p:nvSpPr>
        <p:spPr>
          <a:xfrm>
            <a:off x="5120640" y="3031236"/>
            <a:ext cx="3611880" cy="510540"/>
          </a:xfrm>
          <a:prstGeom prst="roundRect">
            <a:avLst>
              <a:gd name="adj" fmla="val 14328"/>
            </a:avLst>
          </a:prstGeom>
          <a:solidFill>
            <a:srgbClr val="E3F4F1"/>
          </a:solidFill>
          <a:ln w="9525">
            <a:solidFill>
              <a:srgbClr val="E3F4F1"/>
            </a:solidFill>
            <a:prstDash val="solid"/>
          </a:ln>
        </p:spPr>
      </p:sp>
      <p:sp>
        <p:nvSpPr>
          <p:cNvPr id="29" name="step4Ans"/>
          <p:cNvSpPr txBox="1"/>
          <p:nvPr/>
        </p:nvSpPr>
        <p:spPr>
          <a:xfrm>
            <a:off x="5257800" y="3031236"/>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BBB threat. BAU, no escalation.</a:t>
            </a:r>
            <a:endParaRPr lang="en-US" sz="950" dirty="0"/>
          </a:p>
        </p:txBody>
      </p:sp>
      <p:sp>
        <p:nvSpPr>
          <p:cNvPr id="30" name="Shape 27"/>
          <p:cNvSpPr/>
          <p:nvPr/>
        </p:nvSpPr>
        <p:spPr>
          <a:xfrm>
            <a:off x="411480" y="3614928"/>
            <a:ext cx="4617720" cy="510540"/>
          </a:xfrm>
          <a:prstGeom prst="roundRect">
            <a:avLst>
              <a:gd name="adj" fmla="val 14328"/>
            </a:avLst>
          </a:prstGeom>
          <a:solidFill>
            <a:srgbClr val="FFFFFF"/>
          </a:solidFill>
          <a:ln w="9525">
            <a:solidFill>
              <a:srgbClr val="DCE1E7"/>
            </a:solidFill>
            <a:prstDash val="solid"/>
          </a:ln>
        </p:spPr>
      </p:sp>
      <p:sp>
        <p:nvSpPr>
          <p:cNvPr id="31" name="Shape 28"/>
          <p:cNvSpPr/>
          <p:nvPr/>
        </p:nvSpPr>
        <p:spPr>
          <a:xfrm>
            <a:off x="548640" y="3733038"/>
            <a:ext cx="274320" cy="274320"/>
          </a:xfrm>
          <a:prstGeom prst="ellipse">
            <a:avLst/>
          </a:prstGeom>
          <a:solidFill>
            <a:srgbClr val="E3F4F1"/>
          </a:solidFill>
          <a:ln w="12700">
            <a:solidFill>
              <a:srgbClr val="E3F4F1"/>
            </a:solidFill>
            <a:prstDash val="solid"/>
          </a:ln>
        </p:spPr>
      </p:sp>
      <p:sp>
        <p:nvSpPr>
          <p:cNvPr id="32" name="Text 29"/>
          <p:cNvSpPr txBox="1"/>
          <p:nvPr/>
        </p:nvSpPr>
        <p:spPr>
          <a:xfrm>
            <a:off x="548640" y="373303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3" name="Text 30"/>
          <p:cNvSpPr txBox="1"/>
          <p:nvPr/>
        </p:nvSpPr>
        <p:spPr>
          <a:xfrm>
            <a:off x="960120" y="3614928"/>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isn't resolved, I'm filing in small claims court."</a:t>
            </a:r>
            <a:endParaRPr lang="en-US" sz="950" dirty="0"/>
          </a:p>
        </p:txBody>
      </p:sp>
      <p:sp>
        <p:nvSpPr>
          <p:cNvPr id="34" name="Shape 31"/>
          <p:cNvSpPr/>
          <p:nvPr/>
        </p:nvSpPr>
        <p:spPr>
          <a:xfrm>
            <a:off x="5120640" y="3614928"/>
            <a:ext cx="3611880" cy="510540"/>
          </a:xfrm>
          <a:prstGeom prst="roundRect">
            <a:avLst>
              <a:gd name="adj" fmla="val 14328"/>
            </a:avLst>
          </a:prstGeom>
          <a:solidFill>
            <a:srgbClr val="E3F4F1"/>
          </a:solidFill>
          <a:ln w="9525">
            <a:solidFill>
              <a:srgbClr val="E3F4F1"/>
            </a:solidFill>
            <a:prstDash val="solid"/>
          </a:ln>
        </p:spPr>
      </p:sp>
      <p:sp>
        <p:nvSpPr>
          <p:cNvPr id="35" name="step5Ans"/>
          <p:cNvSpPr txBox="1"/>
          <p:nvPr/>
        </p:nvSpPr>
        <p:spPr>
          <a:xfrm>
            <a:off x="5257800" y="3614928"/>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36" name="Shape 33"/>
          <p:cNvSpPr/>
          <p:nvPr/>
        </p:nvSpPr>
        <p:spPr>
          <a:xfrm>
            <a:off x="411480" y="4198620"/>
            <a:ext cx="4617720" cy="510540"/>
          </a:xfrm>
          <a:prstGeom prst="roundRect">
            <a:avLst>
              <a:gd name="adj" fmla="val 14328"/>
            </a:avLst>
          </a:prstGeom>
          <a:solidFill>
            <a:srgbClr val="FFFFFF"/>
          </a:solidFill>
          <a:ln w="9525">
            <a:solidFill>
              <a:srgbClr val="DCE1E7"/>
            </a:solidFill>
            <a:prstDash val="solid"/>
          </a:ln>
        </p:spPr>
      </p:sp>
      <p:sp>
        <p:nvSpPr>
          <p:cNvPr id="37" name="Shape 34"/>
          <p:cNvSpPr/>
          <p:nvPr/>
        </p:nvSpPr>
        <p:spPr>
          <a:xfrm>
            <a:off x="548640" y="4316730"/>
            <a:ext cx="274320" cy="274320"/>
          </a:xfrm>
          <a:prstGeom prst="ellipse">
            <a:avLst/>
          </a:prstGeom>
          <a:solidFill>
            <a:srgbClr val="E3F4F1"/>
          </a:solidFill>
          <a:ln w="12700">
            <a:solidFill>
              <a:srgbClr val="E3F4F1"/>
            </a:solidFill>
            <a:prstDash val="solid"/>
          </a:ln>
        </p:spPr>
      </p:sp>
      <p:sp>
        <p:nvSpPr>
          <p:cNvPr id="38" name="Text 35"/>
          <p:cNvSpPr txBox="1"/>
          <p:nvPr/>
        </p:nvSpPr>
        <p:spPr>
          <a:xfrm>
            <a:off x="548640" y="431673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9" name="Text 36"/>
          <p:cNvSpPr txBox="1"/>
          <p:nvPr/>
        </p:nvSpPr>
        <p:spPr>
          <a:xfrm>
            <a:off x="960120" y="419862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"I'll be filing a complaint with the FTC."</a:t>
            </a:r>
            <a:endParaRPr lang="en-US" sz="950" dirty="0"/>
          </a:p>
        </p:txBody>
      </p:sp>
      <p:sp>
        <p:nvSpPr>
          <p:cNvPr id="40" name="Shape 37"/>
          <p:cNvSpPr/>
          <p:nvPr/>
        </p:nvSpPr>
        <p:spPr>
          <a:xfrm>
            <a:off x="5120640" y="4198620"/>
            <a:ext cx="3611880" cy="510540"/>
          </a:xfrm>
          <a:prstGeom prst="roundRect">
            <a:avLst>
              <a:gd name="adj" fmla="val 14328"/>
            </a:avLst>
          </a:prstGeom>
          <a:solidFill>
            <a:srgbClr val="E3F4F1"/>
          </a:solidFill>
          <a:ln w="9525">
            <a:solidFill>
              <a:srgbClr val="E3F4F1"/>
            </a:solidFill>
            <a:prstDash val="solid"/>
          </a:ln>
        </p:spPr>
      </p:sp>
      <p:sp>
        <p:nvSpPr>
          <p:cNvPr id="41" name="step6Ans"/>
          <p:cNvSpPr txBox="1"/>
          <p:nvPr/>
        </p:nvSpPr>
        <p:spPr>
          <a:xfrm>
            <a:off x="5257800" y="419862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600"/>
                                        <p:tgtEl>
                                          <p:spTgt spid="35"/>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P spid="35" grpId="0" animBg="1"/>
      <p:bldP spid="41"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escalate</a:t>
            </a:r>
            <a:endParaRPr lang="en-US" sz="2400" dirty="0"/>
          </a:p>
        </p:txBody>
      </p:sp>
      <p:sp>
        <p:nvSpPr>
          <p:cNvPr id="5" name="Shape 2"/>
          <p:cNvSpPr/>
          <p:nvPr/>
        </p:nvSpPr>
        <p:spPr>
          <a:xfrm>
            <a:off x="3291840" y="1051560"/>
            <a:ext cx="2560320" cy="347472"/>
          </a:xfrm>
          <a:prstGeom prst="roundRect">
            <a:avLst>
              <a:gd name="adj" fmla="val 21053"/>
            </a:avLst>
          </a:prstGeom>
          <a:solidFill>
            <a:srgbClr val="1D1D1F"/>
          </a:solidFill>
          <a:ln w="12700">
            <a:solidFill>
              <a:srgbClr val="1D1D1F"/>
            </a:solidFill>
            <a:prstDash val="solid"/>
          </a:ln>
        </p:spPr>
      </p:sp>
      <p:sp>
        <p:nvSpPr>
          <p:cNvPr id="6" name="Text 3"/>
          <p:cNvSpPr txBox="1"/>
          <p:nvPr/>
        </p:nvSpPr>
        <p:spPr>
          <a:xfrm>
            <a:off x="3291840" y="1051560"/>
            <a:ext cx="2560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SR</a:t>
            </a:r>
            <a:endParaRPr lang="en-US" sz="1000" dirty="0"/>
          </a:p>
        </p:txBody>
      </p:sp>
      <p:sp>
        <p:nvSpPr>
          <p:cNvPr id="7" name="Shape 4"/>
          <p:cNvSpPr/>
          <p:nvPr/>
        </p:nvSpPr>
        <p:spPr>
          <a:xfrm>
            <a:off x="4572000" y="1399032"/>
            <a:ext cx="0" cy="137160"/>
          </a:xfrm>
          <a:prstGeom prst="line">
            <a:avLst/>
          </a:prstGeom>
          <a:noFill/>
          <a:ln w="12700">
            <a:solidFill>
              <a:srgbClr val="6E6E73"/>
            </a:solidFill>
            <a:prstDash val="solid"/>
            <a:tailEnd type="triangle"/>
          </a:ln>
        </p:spPr>
      </p:sp>
      <p:sp>
        <p:nvSpPr>
          <p:cNvPr id="8" name="Shape 5"/>
          <p:cNvSpPr/>
          <p:nvPr/>
        </p:nvSpPr>
        <p:spPr>
          <a:xfrm>
            <a:off x="2788920" y="1536192"/>
            <a:ext cx="3566160" cy="411480"/>
          </a:xfrm>
          <a:prstGeom prst="roundRect">
            <a:avLst>
              <a:gd name="adj" fmla="val 17778"/>
            </a:avLst>
          </a:prstGeom>
          <a:solidFill>
            <a:srgbClr val="FFF3D6"/>
          </a:solidFill>
          <a:ln w="12700">
            <a:solidFill>
              <a:srgbClr val="9A6410"/>
            </a:solidFill>
            <a:prstDash val="solid"/>
          </a:ln>
        </p:spPr>
      </p:sp>
      <p:sp>
        <p:nvSpPr>
          <p:cNvPr id="9" name="Text 6"/>
          <p:cNvSpPr txBox="1"/>
          <p:nvPr/>
        </p:nvSpPr>
        <p:spPr>
          <a:xfrm>
            <a:off x="2788920" y="1536192"/>
            <a:ext cx="356616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1st time this issue is being escalated?</a:t>
            </a:r>
            <a:endParaRPr lang="en-US" sz="1000" dirty="0"/>
          </a:p>
        </p:txBody>
      </p:sp>
      <p:sp>
        <p:nvSpPr>
          <p:cNvPr id="10" name="Shape 7"/>
          <p:cNvSpPr/>
          <p:nvPr/>
        </p:nvSpPr>
        <p:spPr>
          <a:xfrm>
            <a:off x="4572000" y="1947672"/>
            <a:ext cx="0" cy="155448"/>
          </a:xfrm>
          <a:prstGeom prst="line">
            <a:avLst/>
          </a:prstGeom>
          <a:noFill/>
          <a:ln w="12700">
            <a:solidFill>
              <a:srgbClr val="6E6E73"/>
            </a:solidFill>
            <a:prstDash val="solid"/>
          </a:ln>
        </p:spPr>
      </p:sp>
      <p:sp>
        <p:nvSpPr>
          <p:cNvPr id="11" name="Shape 8"/>
          <p:cNvSpPr/>
          <p:nvPr/>
        </p:nvSpPr>
        <p:spPr>
          <a:xfrm>
            <a:off x="2331720" y="2103120"/>
            <a:ext cx="4480560" cy="0"/>
          </a:xfrm>
          <a:prstGeom prst="line">
            <a:avLst/>
          </a:prstGeom>
          <a:noFill/>
          <a:ln w="12700">
            <a:solidFill>
              <a:srgbClr val="6E6E73"/>
            </a:solidFill>
            <a:prstDash val="solid"/>
          </a:ln>
        </p:spPr>
      </p:sp>
      <p:sp>
        <p:nvSpPr>
          <p:cNvPr id="12" name="Shape 9"/>
          <p:cNvSpPr/>
          <p:nvPr/>
        </p:nvSpPr>
        <p:spPr>
          <a:xfrm>
            <a:off x="2331720" y="2103120"/>
            <a:ext cx="0" cy="182880"/>
          </a:xfrm>
          <a:prstGeom prst="line">
            <a:avLst/>
          </a:prstGeom>
          <a:noFill/>
          <a:ln w="12700">
            <a:solidFill>
              <a:srgbClr val="6E6E73"/>
            </a:solidFill>
            <a:prstDash val="solid"/>
            <a:tailEnd type="triangle"/>
          </a:ln>
        </p:spPr>
      </p:sp>
      <p:sp>
        <p:nvSpPr>
          <p:cNvPr id="13" name="Shape 10"/>
          <p:cNvSpPr/>
          <p:nvPr/>
        </p:nvSpPr>
        <p:spPr>
          <a:xfrm>
            <a:off x="6812280" y="2103120"/>
            <a:ext cx="0" cy="182880"/>
          </a:xfrm>
          <a:prstGeom prst="line">
            <a:avLst/>
          </a:prstGeom>
          <a:noFill/>
          <a:ln w="12700">
            <a:solidFill>
              <a:srgbClr val="6E6E73"/>
            </a:solidFill>
            <a:prstDash val="solid"/>
            <a:tailEnd type="triangle"/>
          </a:ln>
        </p:spPr>
      </p:sp>
      <p:sp>
        <p:nvSpPr>
          <p:cNvPr id="14" name="Text 11"/>
          <p:cNvSpPr txBox="1"/>
          <p:nvPr/>
        </p:nvSpPr>
        <p:spPr>
          <a:xfrm>
            <a:off x="2404872" y="212140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5" name="Text 12"/>
          <p:cNvSpPr txBox="1"/>
          <p:nvPr/>
        </p:nvSpPr>
        <p:spPr>
          <a:xfrm>
            <a:off x="6885432" y="2121408"/>
            <a:ext cx="548640" cy="201168"/>
          </a:xfrm>
          <a:prstGeom prst="rect">
            <a:avLst/>
          </a:prstGeom>
          <a:noFill/>
          <a:ln/>
        </p:spPr>
        <p:txBody>
          <a:bodyPr wrap="square" lIns="0" tIns="0" rIns="0" bIns="0" rtlCol="0" anchor="t"/>
          <a:lstStyle/>
          <a:p>
            <a:pPr indent="0" marL="0">
              <a:buNone/>
            </a:pPr>
            <a:endParaRPr lang="en-US" sz="850" dirty="0"/>
          </a:p>
        </p:txBody>
      </p:sp>
      <p:sp>
        <p:nvSpPr>
          <p:cNvPr id="16" name="Text 13"/>
          <p:cNvSpPr txBox="1"/>
          <p:nvPr/>
        </p:nvSpPr>
        <p:spPr>
          <a:xfrm>
            <a:off x="6885432" y="2121408"/>
            <a:ext cx="219456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 C is responding to SR</a:t>
            </a:r>
            <a:endParaRPr lang="en-US" sz="850" dirty="0"/>
          </a:p>
        </p:txBody>
      </p:sp>
      <p:sp>
        <p:nvSpPr>
          <p:cNvPr id="17" name="Shape 14"/>
          <p:cNvSpPr/>
          <p:nvPr/>
        </p:nvSpPr>
        <p:spPr>
          <a:xfrm>
            <a:off x="685800" y="2286000"/>
            <a:ext cx="3291840" cy="502920"/>
          </a:xfrm>
          <a:prstGeom prst="roundRect">
            <a:avLst>
              <a:gd name="adj" fmla="val 14545"/>
            </a:avLst>
          </a:prstGeom>
          <a:solidFill>
            <a:srgbClr val="0B7A6F"/>
          </a:solidFill>
          <a:ln w="12700">
            <a:solidFill>
              <a:srgbClr val="0B7A6F"/>
            </a:solidFill>
            <a:prstDash val="solid"/>
          </a:ln>
        </p:spPr>
      </p:sp>
      <p:sp>
        <p:nvSpPr>
          <p:cNvPr id="18" name="Text 15"/>
          <p:cNvSpPr txBox="1"/>
          <p:nvPr/>
        </p:nvSpPr>
        <p:spPr>
          <a:xfrm>
            <a:off x="68580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 through the Transformation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SR Reassignment Form</a:t>
            </a:r>
            <a:endParaRPr lang="en-US" sz="1000" dirty="0"/>
          </a:p>
        </p:txBody>
      </p:sp>
      <p:sp>
        <p:nvSpPr>
          <p:cNvPr id="19" name="Text 16">
            <a:hlinkClick r:id="rId1" tooltip="Open the form  ↗"/>
          </p:cNvPr>
          <p:cNvSpPr/>
          <p:nvPr/>
        </p:nvSpPr>
        <p:spPr>
          <a:xfrm>
            <a:off x="1463040" y="2862072"/>
            <a:ext cx="173736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the form  ↗</a:t>
            </a:r>
            <a:endParaRPr lang="en-US" sz="1000" dirty="0"/>
          </a:p>
        </p:txBody>
      </p:sp>
      <p:sp>
        <p:nvSpPr>
          <p:cNvPr id="20" name="Shape 17"/>
          <p:cNvSpPr/>
          <p:nvPr/>
        </p:nvSpPr>
        <p:spPr>
          <a:xfrm>
            <a:off x="5166360" y="2286000"/>
            <a:ext cx="3291840" cy="502920"/>
          </a:xfrm>
          <a:prstGeom prst="roundRect">
            <a:avLst>
              <a:gd name="adj" fmla="val 14545"/>
            </a:avLst>
          </a:prstGeom>
          <a:solidFill>
            <a:srgbClr val="0B7A6F"/>
          </a:solidFill>
          <a:ln w="12700">
            <a:solidFill>
              <a:srgbClr val="0B7A6F"/>
            </a:solidFill>
            <a:prstDash val="solid"/>
          </a:ln>
        </p:spPr>
      </p:sp>
      <p:sp>
        <p:nvSpPr>
          <p:cNvPr id="21" name="Text 18"/>
          <p:cNvSpPr txBox="1"/>
          <p:nvPr/>
        </p:nvSpPr>
        <p:spPr>
          <a:xfrm>
            <a:off x="516636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DM the previous SR agent in Slack,</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any SR agent online</a:t>
            </a:r>
            <a:endParaRPr lang="en-US" sz="1000" dirty="0"/>
          </a:p>
        </p:txBody>
      </p:sp>
      <p:sp>
        <p:nvSpPr>
          <p:cNvPr id="22" name="Text 19"/>
          <p:cNvSpPr txBox="1"/>
          <p:nvPr/>
        </p:nvSpPr>
        <p:spPr>
          <a:xfrm>
            <a:off x="5166360" y="2852928"/>
            <a:ext cx="3291840" cy="310896"/>
          </a:xfrm>
          <a:prstGeom prst="rect">
            <a:avLst/>
          </a:prstGeom>
          <a:noFill/>
          <a:ln/>
        </p:spPr>
        <p:txBody>
          <a:bodyPr wrap="square" lIns="0" tIns="0" rIns="0" bIns="0" rtlCol="0" anchor="ctr"/>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need to submit the form.</a:t>
            </a:r>
            <a:endParaRPr lang="en-US" sz="900" dirty="0"/>
          </a:p>
        </p:txBody>
      </p:sp>
      <p:sp>
        <p:nvSpPr>
          <p:cNvPr id="23" name="Shape 20"/>
          <p:cNvSpPr/>
          <p:nvPr/>
        </p:nvSpPr>
        <p:spPr>
          <a:xfrm>
            <a:off x="2331720" y="3172968"/>
            <a:ext cx="0" cy="137160"/>
          </a:xfrm>
          <a:prstGeom prst="line">
            <a:avLst/>
          </a:prstGeom>
          <a:noFill/>
          <a:ln w="12700">
            <a:solidFill>
              <a:srgbClr val="6E6E73"/>
            </a:solidFill>
            <a:prstDash val="solid"/>
            <a:tailEnd type="triangle"/>
          </a:ln>
        </p:spPr>
      </p:sp>
      <p:sp>
        <p:nvSpPr>
          <p:cNvPr id="24" name="Shape 21"/>
          <p:cNvSpPr/>
          <p:nvPr/>
        </p:nvSpPr>
        <p:spPr>
          <a:xfrm>
            <a:off x="685800" y="3310128"/>
            <a:ext cx="3291840" cy="457200"/>
          </a:xfrm>
          <a:prstGeom prst="roundRect">
            <a:avLst>
              <a:gd name="adj" fmla="val 16000"/>
            </a:avLst>
          </a:prstGeom>
          <a:solidFill>
            <a:srgbClr val="FFFFFF"/>
          </a:solidFill>
          <a:ln w="12700">
            <a:solidFill>
              <a:srgbClr val="DCE1E7"/>
            </a:solidFill>
            <a:prstDash val="solid"/>
          </a:ln>
        </p:spPr>
      </p:sp>
      <p:sp>
        <p:nvSpPr>
          <p:cNvPr id="25" name="Text 22"/>
          <p:cNvSpPr txBox="1"/>
          <p:nvPr/>
        </p:nvSpPr>
        <p:spPr>
          <a:xfrm>
            <a:off x="68580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6" name="Shape 23"/>
          <p:cNvSpPr/>
          <p:nvPr/>
        </p:nvSpPr>
        <p:spPr>
          <a:xfrm>
            <a:off x="6812280" y="3172968"/>
            <a:ext cx="0" cy="137160"/>
          </a:xfrm>
          <a:prstGeom prst="line">
            <a:avLst/>
          </a:prstGeom>
          <a:noFill/>
          <a:ln w="12700">
            <a:solidFill>
              <a:srgbClr val="6E6E73"/>
            </a:solidFill>
            <a:prstDash val="solid"/>
            <a:tailEnd type="triangle"/>
          </a:ln>
        </p:spPr>
      </p:sp>
      <p:sp>
        <p:nvSpPr>
          <p:cNvPr id="27" name="Shape 24"/>
          <p:cNvSpPr/>
          <p:nvPr/>
        </p:nvSpPr>
        <p:spPr>
          <a:xfrm>
            <a:off x="5166360" y="3310128"/>
            <a:ext cx="3291840" cy="457200"/>
          </a:xfrm>
          <a:prstGeom prst="roundRect">
            <a:avLst>
              <a:gd name="adj" fmla="val 16000"/>
            </a:avLst>
          </a:prstGeom>
          <a:solidFill>
            <a:srgbClr val="FFFFFF"/>
          </a:solidFill>
          <a:ln w="12700">
            <a:solidFill>
              <a:srgbClr val="DCE1E7"/>
            </a:solidFill>
            <a:prstDash val="solid"/>
          </a:ln>
        </p:spPr>
      </p:sp>
      <p:sp>
        <p:nvSpPr>
          <p:cNvPr id="28" name="Text 25"/>
          <p:cNvSpPr txBox="1"/>
          <p:nvPr/>
        </p:nvSpPr>
        <p:spPr>
          <a:xfrm>
            <a:off x="516636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9" name="Shape 26"/>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30" name="Image 0"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31" name="Text 27"/>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Sent back?  </a:t>
            </a:r>
            <a:pPr indent="0" marL="0">
              <a:buNone/>
            </a:pPr>
            <a:r>
              <a:rPr lang="en-US" sz="1000" dirty="0">
                <a:solidFill>
                  <a:srgbClr val="1D1D1F"/>
                </a:solidFill>
                <a:latin typeface="SF Pro Text" pitchFamily="34" charset="0"/>
                <a:ea typeface="SF Pro Text" pitchFamily="34" charset="-122"/>
                <a:cs typeface="SF Pro Text" pitchFamily="34" charset="-120"/>
              </a:rPr>
              <a:t>"Handle as BAU" or "Invalid Escalation": it's yours again. Review the SWAT notes.</a:t>
            </a:r>
            <a:endParaRPr lang="en-US" sz="1000" dirty="0"/>
          </a:p>
        </p:txBody>
      </p:sp>
      <p:sp>
        <p:nvSpPr>
          <p:cNvPr id="32" name="Text 28">
            <a:hlinkClick r:id="rId3" tooltip="Open SWAT notes  ↗"/>
          </p:cNvPr>
          <p:cNvSpPr/>
          <p:nvPr/>
        </p:nvSpPr>
        <p:spPr>
          <a:xfrm>
            <a:off x="7086600" y="4014216"/>
            <a:ext cx="155448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SWAT notes  ↗</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left negative CSAT feedback and opted in to a call. Where does it go?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Service Recovery, via the Transformation to SR Reassignment Form.</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writes: "I'll report this to the BBB." Escalate to SR?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BBB threat is BAU. A filed complaint follows the HDR ticket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C's email CCs their lawyer. Do you escalate to SR?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It's a material threat: waive the ETF and cancel FC immediately.</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ticket says "C responded to SR." Do you fill out the form?</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DM the previous SR agent in Slack, or any SR agent online.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hand off</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SR decides refunds, scope and ETF waivers.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Know the threat type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Material: waive now. General: BAU unless high risk. BBB threat: BAU.</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Use the form</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"C responded to SR": DM the last SR agent.</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87</Slides>
  <Notes>87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87</vt:i4>
      </vt:variant>
    </vt:vector>
  </HeadingPairs>
  <TitlesOfParts>
    <vt:vector size="9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2026-10-06T13:45:46Z</dcterms:created>
  <dcterms:modified xsi:type="dcterms:W3CDTF">2026-10-06T13:45:46Z</dcterms:modified>
</cp:coreProperties>
</file>