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module covers seven topics: Overcharged Hours, Unauthorized Addition of Hours, False Invoice, Disintermediation (Cash Payment), Cleaner Didn't Show, Cleaner Cancellation, and Unauthorized Reschedule. Each topic ends with a knowledge check and a wrap-up with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topics are the "unworked hours" family: they all look the same to the customer ("I was charged for time I didn't get"), but each has a different question, different evidence and a different resolution. The fourth topic covers customers paying cleaners off the platform. Topics 5 to 7 cover reliability issues: no-shows, cleaner cancellations, and unauthorized reschedules.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customer booked 3 hours, the cleaner actually cleaned for 2, but invoiced the full 3. Category: Service Issues &gt; Billing.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isn't just "was there a heads-up". It's whether the cleaner actually worked the hours they billed. Did the cleaner show up at all? If not: False Invoice. Did they work the hours, but never get the customer's OK to add the extra time? Unauthorized Hours. Did they bill for more time than they worked? Overcharged Hours. Getting this right matters because each needs different evidence (GPS/CTJ data vs proof of a conversation) and leads to different resolutions and penalties.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 window: only jobs completed in the last 120 days. Exception: the window does not apply when the overcharge is already clearly proven when the customer reports it (CTJ, message history or job timestamps make it obvious; "likely" or "probably" is not enough). Then refund the difference via the CP Dashboard regardless of job age or the cleaner's status, and follow the rest of the process including the penalty ladder. Example: CTJ shows a 45-minute visit but 2 hours invoiced, reported 150 days later: refund and apply the ladder. If not clearly proven and beyond 120 days: don't request documentation or refund; close the ticket as unresolved instead of escalating (this includes cases where the only reason to refund is the CP's Suspended + DNR history). Evidence-based refund: refund only the hours the evidence supports, not automatically the full disputed amount. CP Suspended + DNR: if the cleaner is already suspended + DNR for repeated false invoice/overcharge offenses: within 120 days, refund the excess even without clear evidence, with no need to request evidence from the CP (a documented pattern removes the benefit of the doubt); beyond 120 days, refund the excess only when the issue is clearly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altered or edited: for example, a GPS screenshot must clearly show the route. If GPS was on while travelling, the screenshot shows the actual route taken; a straight line usually means the location was added manually. It clearly shows arrival and departure times. It clearly shows the cleaner was at the address for the whole job. If the documentation wasn't just weak but fabricated, stop and go to AG - Fraud (CP Document Fraud): invalid evidence means the claim fails; faked evidence is a separate offence with a separate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CTJ, the customer, or the message history already gives you something valid, decide on it; don't go to the cleaner for proof you already have. Evidence from the customer counts: a Ring camera clip or timestamped photo is treated the same as a CTJ record, as long as it's legitimate. Example: a Ring clip shows the cleaner on site from 2:13pm to 3:24pm against 2 hours invoiced: refund the difference without asking the cleaner first. Check all four sources even if one looks conclusive: a CTJ mismatch might have an innocent explanation in the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 A (clear evidence present): a straight line once you're in it: refund, check for a Premium fee, then split on the 30-minute rule. Branch B (no clear evidence present): takes longer and may span more than one contact: request documentation from the CP and resume when the Timed Reminder triggers. If CTJ matches the hours invoiced, that is clear evidence no overcharge occurred: stop, no refund, address other concerns. Known bug (Trello): do not treat an abnormally short CTJ interval (30 minutes or less between ARRIVED AT and COMPLETED AT) on its own as clear evidence; it's inconclusive unless other evidence proves the CP only stayed that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refund the overcharged hour(s) via the CP Dashboard; the evidence already settles it. Step 2: if the customer was also charged a Premium rate, refund it: a confirmed overcharge is itself the service issue, no separate request needed. Step 3: check how much was overcharged. 30 minutes or more: apply the cp_overcharged_hours flag, ban the C/CP pairing, send comms to both, then go to the Penalty section. Under 30 minutes: ban the C/CP pairing, send comms to both, done (no flag, no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overcharge amount isn't known yet, ask the customer for detail first (B1). Is the CP suspended + DNR due to multiple overcharged hours? Yes: skip documentation and treat it as valid: go to Branch A from step 1. No: request documentation. Refund the Premium Upsell fee if charged; create a 72-hour Timed Reminder on the C side; tell the customer we'll follow up in 4-5 business days and the CP is blocked from their future requests (not penalized yet); block the pairing and tell the CP documentation is due within 3 days or the alleged hours will be refunded on their behalf. When the reminder triggers: valid proof from the CP: no refund (confirm the CP stays blocked from this customer). No or insufficient proof: refund the alleged hours via the CP Dashboard, check/refund Premium, log to the Ticket Tracker, then the penalty check. Timed Reminder format: Action On: 72 hours from the time of ticket handling. Who Should Act: Any CS. Action: C &lt;C_ID&gt; reported that CP overcharged J &lt;JOB_ID&gt; for &lt;# OF OVERCHARGED HOURS&gt;. Follow When the Timed Reminder Triggers. TRAINER DEMO: show trainees how to add a Timed Reminder in the Legacy C CRM (Do &gt; TimedReminder &gt; Create): set it 72 hours out, assign Any CS, and paste the Action text with the real C ID, job ID and hours. TRAINER: click (or press the right arrow) to open the penalty check. 30 minutes or more overcharged: add the cp_overcharged_hours flag + norequests + the Overcharged Hours macro series. Under 30 minutes: no flag, no penalty + the Overcharged Hours macro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the cleaner already advised (by a previous CS) to submit documentation? If not: send comms now, give 48 hours, set a new Timed Reminder; done for this contact. If yes: did the cleaner respond with documentation proving the hours? Yes: tell the customer no refund will be issued since the cleaner proved the hours; confirm the cleaner is blocked from future bookings with this customer. No or insufficient: refund the alleged hours only via the CP Dashboard; check/refund Premium if charged; log to the Ticket Tracker. 30 minutes or more: go to the Penalty section. Under 30: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who invoiced the job before any penalty. If the customer invoiced it, there is no overcharge penalty for the cleaner: refund the difference and close the CP side with coaching if something else warrants it. Example: the customer self-invoiced 2 hours for a job the cleaner worked for 1h11m: refund, no penalty. 30 minutes or more overcharged: cp_overcharged_hours + norequests + the Overcharged Hours macro series. Check the cleaner's past OCH and false invoice history and put it in your internal note; a pattern is the CP-side team's call. C-side agents never suspend or add DNR. CP-facing reason code (use exactly): cpq_overcharge Customer &lt;C'S NAME&gt; reported incorrect hours charged. Submit reactivation appeal. Overcharged hours can also show in the cleaner's lifetime issue history alongside False Invoice: check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Applies whenever a refund is issued, in any branch. Apply the cp_overcharged_hours flag if 30 minutes or more. Check and refund the Premium fee if charged; log to the Ticket Tracker form. Block the C/CP pairing (always, unless the customer specifically wants the same cleaner). If the cleaner has a Guardian Angel/Tier 10 banner with pending action items: acknowledge the inquiry, do not clear pending items, reassign to TL Allen (allentolentino).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Cleaner refunds after being notified: treat the refund as a sign the overcharge happened unless evidence proves otherwise; if 30 minutes or more, still apply the flag (a voluntary refund confirms the violation, it doesn't erase it); if it happens before the first-response Timed Reminder triggers, invalidate that reminder; tell the customer the cleaner refunded. Spotted a likely overcharge before the customer reported it? Reach out proactively. Sample: "Just checking in to see how your recent cleaning with &lt;&lt;Cleaner Name&gt;&gt; on &lt;&lt;Date&gt;&gt; went. We also wanted to quickly confirm the number of hours worked during the visit, just to make sure everything looks right on your end. Let us know if you have any questions or if anything seems off - we're happy to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courtesy voucher already on the job: the CP Dashboard full refund option may not appear, because the system treats the voucher as compensation. If the voucher was already used on another job: issue an admin refund for this job and create a CP Payment Holdback. If unused: invalidate the voucher first (this reopens the CP Dashboard refund), then issue credits so the account's total credits equal $20. Cleaner is cp-opt-out but you need to refund from their dashboard: log in to their dashboard as admin, do NOT click Reactivate My Account, change the URL to https://homeaglow.com/cp/job/&lt;JOB_ID&gt;, and process the refund as 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Overcharged Hours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Cleaners are allowed to update a job's duration before invoicing: that part is normal platform behavior. What's not allowed is doing it silently. Cleaners are onboarded to always set expectations and get approval before adding time. The work itself is usually genuine, but if they never got the customer's OK, the extra hours are unauthorized however well the job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Overcharged Hours: the cleaner claims to have worked X hours, but the evidence shows less; a dispute over what happened. Example: booked 6 hours, finished in 4, billed the full 6. Unauthorized Hours: the cleaner genuinely worked the extra time but never checked with the customer before adding it; a dispute over whether permission was given. Example: booked 3 hours, the cleaner extended and finished after 5, then invoiced 5 hours without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 required before extending: any additional hours the client did not authorize are treated as Unauthorized Hours and are refundable. Documentation exception: if the cleaner is already permanently suspended, skip requesting documentation; there's no reactivation path to justify it, so resolve directly with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descriptions are hidden. Click Show details (or press the right arrow): each click types out the next step's description. Step 1: refund only the alleged unauthorized hours via the cleaner's dashboard, not the full job; the base appointment was authorized and worked. Step 2: coach the cleaner on asking permission before extending; send comms about the action taken; give them 3 days to provide documentation proving the customer authorized the extra hours. Refunding first protects the customer's money without making them wait on an investigation. Step 3: if a Premium fee was charged, refund it; unauthorized hours is itself the service issue. Step 4: tell the customer a refund was processed on their cleaner's behalf, remind them to leave clear instructions for future cleaners, and block the C/CP pairing. Macros: Unauthorized Addition of Hours (customer refund); Unauthorized Addition of Hours &gt; CP Coaching.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real fork in this topic. Example: the customer booked 4 hours; the CP arrived with a helper, the two of them finished in 2 hours, and the CP invoiced the full 4 hours. Ask: is there evidence the customer authorized the helper and the reduced hours (for example, a message where the customer agreed)? Yes: advise the customer that records show they authorized it; address other pain points; do not penalize the CP. No: follow the main flow: refund the unauthorized hours, request documentation from the CP (3 days), and coach that helpers require permission and can't justify full-rate billing. If the CP's document wasn't just weak but faked, stop and go to AG - Fraud &gt; CP Document Fraud: invalid evidence means the claim fails; faked evidence is a separate offence with a separate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provide a live ticket for trainees to review. Give them time to investigate (job history, CTJ, C/CP messages, Premium charge), then discuss. Ask: Is it Unauthorized Hours, Overcharged Hours, or something else? Did the customer authorize the extra time? What actions will you take (refund only the added hours via the CP Dashboard, refund Premium if charged, coach the CP and request evidence within 3 days, block the C/CP pairing)? How will you respond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Unauthorized Addition of Hours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 from Overcharged Hours (the cleaner showed up but charged more than worked): here no work happened at all. Not every falsely invoiced job is the cleaner's fault, so always check who invoiced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check the Job History for who actually invoiced the job before doing anything else. If the customer invoiced it themselves (a system flow allows this, usually by accident), issue the refund from the CP Dashboard: we still recover the pay already issued to the cleaner since no cleaning happened, but do not penalize the cleaner. Skipping this check risks penalizing a cleaner for something they didn't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 window: only jobs completed in the last 120 days. Exception: the limit doesn't apply when C/CP comms or CTJ data clearly prove the cleaner never did the cleaning but invoiced anyway ("probably" isn't enough). Then issue the full refund via the CP Dashboard no matter how old the job or the cleaner's status, and follow the penalty ladder; a late discovery doesn't reduce the penalty. Example: the cleaner confirmed the appointment, the customer said they weren't proceeding, and four days later the cleaner invoiced anyway; reported after 120 days: refund in full and penalize. First-and-only-job exception (Legacy DHJ only): once refunded, the DHJ voucher is reinstated and any MFs within 120 days are auto-refunded, since the membership shouldn't have started. Doesn't apply to FCF: FCF membership starts at signup, so only the job charge is refunded and the MF stays. Consecutive false invoices: two in a row may make the customer eligible for an ETF waiver if they have cancellation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Gather: customer and cleaner message histories and account activity; Job History timestamps; the cleaner's CTJ data; customer and cleaner reviews of each other. First and most important: who invoiced? Don't wait for the customer to report it: if something looks off (duration, charges, or details that don't match the booking), reach out proactively to check if the cleaning happened and the invoice is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descriptions are hidden. Click Show details (or press the right arrow): each click types out the next step's description. 1) Issue a full refund via the CP Dashboard. 2) Check the cleaner's Flags table for an existing cp_false_invoice flag on this job. 3) If the system already flagged it, validate that the Job ID matches; on the flag's Django page set Value to {"admin": "&lt;YOUR CRM NAME&gt;", "admin_flag_comments": "&lt;THE ID TRIPLET&gt;", "cp_false_invoice_job_id": &lt;THE JOB ID&gt;}. If no flag exists, add one: CP CRM &gt; Do &gt; Flag &gt; cp_false_invoice. Always include the ID triplet (Customer ID | CP ID | Job ID) and a short summary. 4) Check the Issues Table for prior false invoice / overcharge history and penalize accordingly. Reason: cpq_false_invoice Customer &lt;C'S NAME&gt; reported incorrect hours charged. Submit reactivation appeal. 5) Coach the cleaner: don't claim jobs you can't complete or invoice without working; ask the customer to reschedule, or cancel from your dashboard if they disagree. Guardian Angel or Tier 10 banner with pending items: acknowledge, don't clear, reassign to allentolentino. 6) Refund the Premium fee if charged (AG - Refund: Premium Upsell). 7) Block the C/CP pairing unless the customer wants the same cleaner. 8) Tell the customer the refund was issued and arrives in 5-10 business days; address other pain points. Macros: False Invoice (C-facing); False Invoice (With Penalty) (CP-facing). Final step: confirm the refund with the customer and offer a priority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false invoice, first or repeat, including "the cleaner never came": set norequests and ask the cleaner what happened (the False Invoice (With Penalty) macro handles this). Already multiple false invoices and the pattern looks abusive: you may set the cleaner to suspended; never add DNR. The system auto-suspended the cleaner (new cleaners are auto-suspended at 2+ cp_false_invoice flags): leave it, coach the cleaner and tell them about the penalty. Reactivation: C-side agents don't reactivate cleaners. If the cleaner's explanation matches one of these, put it in your internal note for the CP-side team: they accidentally invoiced the wrong customer; they invoiced a Lockout job by mistake; it's not their first false invoice, but the last one was more than a year ago. If the cleaner is already permanently suspended, skip requesting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provide a live ticket for trainees to review. Give them time to investigate (job history, CTJ, C/CP messages, Premium charge), then discuss. Ask: Who invoiced the job? Is it a False Invoice, Overcharged Hours, or something else? What actions will you take (full refund via the CP Dashboard, validate or add the cp_false_invoice flag, apply the penalty, coach the CP, refund Premium if charged, block the C/CP pairing)? How will you respond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False Invoice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 is the most common form, but Venmo, Zelle, Cash App and PayPal count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Cleaners can no longer tag a job as a cash job. If a cleaner receives cash, they use Report Issue to tell us. That creates a ticket for a CP-side agent; it does not leave any flag on the job. The job stays at Pending Invoice, which keeps the customer from being auto-charged. Two starting points: a CP-side agent gets the ticket directly (the expected path), or a C-side agent hears it from the customer first, either because the cleaner's report hasn't been worked yet, or the cleaner never reported it (job still Pending Invoice, or already invoiced). C-side: always check the CP CRM before assuming nothing was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shouldn't pay twice (cash and the platform) and the cleaner shouldn't be paid twice (cash and their payout). Pending Invoice: nothing has been charged; cancel via the C CRM with the "does not want the service" reason code so it never gets charged. Invoiced: refund from the CP Dashboard, which reverses both the customer's charge and the cleaner's payout in one action. Cancelled (the customer says the cleaning happened and they paid cash): nothing was ever charged, so there is nothing to refund. Do not recreate the job: that's how the customer ends up paying twice. Exception: the cleaner tells us separately they were never paid; then work it as a normal cash case from the job's actual status. Otherwise educate on the cash policy, cancel the RC and upcoming jobs if the customer no longer wants service, and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penalize customers for paying off-platform: they're not breaking the rules, the cleaner is. Don't act as an investigator when there's nothing to go on: with no cleaner report and no proof from the customer, focus on the customer's experience. How the cash payment was confirmed changes the tone of the coaching, not the cleaner's status. Remind the customer that payment runs through the platform, not cash, unless it's a tip: many don't realise the job still has to be invoiced, and a cash payment today can still turn into a charge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reference from the KB. Cleaner admits it (soft ladder): 1st instance coach, no status change; 2nd instance norequests. Confirmed only by customer proof (hard ladder): 1st instance coach and warn, no status change; 2nd instance norequests. Repeated instances are the CP-side team's call: put the history in your internal note. If the cleaner denies it and the customer never produces proof, nothing is confirmed: no refund, no penalty; assess for retention instead. NOTE FOR TRAINER: the KB process steps further down still say a 3rd instance (soft) and 2nd instance (hard) lead to Suspended + DNR, which conflicts with this quick reference and the key principle. Confirm the current rule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cleaner reports cash via Report Issue and the ticket lands in your queue. 2) Did they say how much they received? If not, pause: don't act on the job yet; contact the cleaner and get a number, or a clear "I was paid in full". 3) Check the job status: Pending Invoice: cancel via the C CRM ("does not want the service"). Invoiced: refund from the CP Dashboard. Cancelled: nothing to refund; don't recreate the job. Partial cash payment with the job still Pending Invoice: invoice on the cleaner's behalf for the remaining balance. Full vs partial is based on CP Pay, not the full C Price. 4) Apply the soft ladder (a cleaner admission). Done: no further customer action unless they reach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descriptions are hidden. Click Show details (or press the right arrow): each click types out the next step's description. Report found in the CP CRM, not yet actioned: resolve it yourself, no need to wait for the CP-side queue. Amount: did the CP say how much they received in cash? If not, contact the CP and get a number (or a clear "I got paid in full") before doing anything else, same gate as Branch A. Job status: still Pending Invoice: cancel via C CRM, reason code "does not want the service"; if it was only a partial cash payment, invoice the remaining balance instead. Already Invoiced: refund via the CP Dashboard; if partial, admin refund the customer for the cash-paid portion (based on CP Pay, not C Price) and apply a CP Holdback for the same amount, so the CP isn't paid twice. Penalty: apply the soft ladder; this is still a CP admission, just one a C-side agent is closing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descriptions are hidden. Click Show details (or press the right arrow): each click types out the next step's description. Nothing on file in the CP CRM: nothing is confirmed yet, so treat it like any other unconfirmed claim. Ask the customer for proof (encourage it, don't require it). Call the CP if it's within business hours (8AM-8PM their local time); no answer during business hours: send an SMS; outside business hours: email instead. Set a Timed Reminder for 48 hours. Customer provides proof, whatever the CP says: resolve per the job status (C CRM cancellation or CP Dashboard refund) and apply the hard ladder; the customer's documentation confirmed it, so it's treated as getting caught, not disclosing. No proof, but the CP admits it when contacted: resolve per the job status and apply the soft ladder. CP denies and the customer never produces proof: no refund and no penalty, since nothing is confirmed; assess for retention: high-value / retention-likely (multiple completed jobs, high LTNR): voucher covering the full job hours, Internal Reason: cash_payment; not high-value: $20-$50 in platform credits, Internal Reason: cash_payment.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provide a live ticket for trainees to review. Give them time to investigate (job history, CTJ, C/CP messages, Premium charge), then discuss. Ask: Did the CP already report the cash payment (check the CP CRM)? How much was paid in cash, full or partial? What is the job status? What actions will you take (cancel via C CRM, invoice the balance, refund via CP Dashboard, or admin refund + CP Holdback), and which ladder applies? How will you respond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Cash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Service Issues &gt; Reliability. A no-show is a serious reliability failure, but only report it when you're actually confident it happened. Reporting a no-show that didn't occur penalizes a CP unfairly, based on nothing more than a customer's assumption. The bar is certainty, not just a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report a CP as a no-show via the Job Admin page if at least one is true: the customer says the CP was a no-show AND you have sufficient proof; you're 100% sure from customer/CP messages that the CP genuinely didn't show; or the customer left a review explicitly saying the CP was a no-show. Signals the system may pick up automatically (they don't confirm a no-show on their own, but are worth checking): the customer asked for the CP's ETA, or the CP sent an SMS with cancellation/reschedule intent. Reporting via the Job Admin page only works while the CP is still attached to the job (Claimed, Pending Invoice). Once the job reverts to Submitted or moves to Cancelled, there's no CP-job link to report against. If the CP was a no-show and the job is Invoiced, follow the False Invoice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CP showed an intent to reschedule before the scheduled start time, don't report it as a No Show in Job Admin. Cancel the appointment through C-CRM using the CP No Show/Reschedule code. Coaching for a no-show would normally encourage the CP to reschedule rather than cancel, and the CP already tried to, so the penalty can be waived. Before start: cancel via C-CRM (no penalty + coaching). After start: report as no-show via Job Admin (penalty + coaching). At the start time: assess whether the CP should be penalized based on the reason for rescheduling.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Applies to all statuses: before choosing a resolution, check the Quick Reference table (next slide) for credits and free-month eligibility. Weigh the customer's emotional state, whether they're asking for a refund or hinting at cancelling, and whether they already have recent credits/vouchers. If the customer doesn't seem upset and isn't asking for a refund, consider non-credit options first (Priority Booking, blocking the C/CP pairing). Penalize per CP penalty guidance. Claimed or Pending Invoice: if the CP should be penalized, report the no-show (Job Admin Page &gt; No Show); after reporting, the job resolves to Cancelled or Submitted, so follow that column. If no penalty applies (e.g. reschedule intent before the start time), cancel the job from C-CRM with the CP No Show/Reschedule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months reminder. With service cancellation intent: agents may issue free months for unused MFs (max 3, capped at unused paid MFs or months requested, whichever is lowest). Offering is discretionary unless C names a pain point tied to the unused MFs ("I've been paying but haven't gotten a cleaning", cost concerns); then it's expected and flagged in QA if skipped. With no cancellation intent: a service issue still gets the standard response (credits + help rebooking); upgrading to a free month for unused MFs only if C names them as a pain point. Example: C mentions a no-show, has 3 unused MFs, doesn't raise them: credits + priority rebooking. Example: C adds "I've got months just sitting there unused": issue the free month instead of (or alongside)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usually sets norequests or suspended on its own. If the system penalized the CP, leave it: coach the CP and tell them about the penalty and how to appeal. If it didn't, lean towards coaching; set norequests yourself only if the CP already has a couple of no-shows or cancellations. C-side agents never suspend or add DNR for a no-show (see CP Penalty: C-Side Handling). CP-facing reason code: cpq_noshow Your customer &lt;C'S NAME&gt; reported you didn't show up to their &lt;DAY, DATE&gt; job. Submit reactivation appeal through dashboard. Macros: No show (customer-facing); No Show/Cancellation (No Request) (CP-facing, &lt;10%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Cleaner Didn't Show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Service Issues &gt; Reliability. Cleaner Cancellation is when a CP cancels a claimed job via their dashboard, or sends the customer a cancellation-intent SMS (which the system also detects). A CP with cancellation intent is supposed to try rescheduling with the customer first; cancelling outright is the fallback if the customer declines a new time. Related: Cleaner Didn't Show is the distinct scenario where the CP silently doesn't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Cancelling through the dashboard normally affects a CP's Keep Rate. Cancelling by reporting an emergency, a safety concern, or "client wants to cancel" through the CP App does not. Treating every cancellation as equally penalizable unfairly hits CPs who were upfront about a legitimate reason. Unlike a no-show, you don't report anything manually: the job history logs the cancellation, so the Keep Rate impact lands whatever job status results. The system only penalizes a CP cancellation within 7 days of a 1st C/CP match, or within 2 days of a repeat match. Cancelling via CRM (you, on the CP's behalf) never penalizes the 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job start time is already in the past and there are no other alternate start times: the job becomes Cancelled. If the start time is still in the future and there's still time to match a new CP: the job becomes Submitted again. If the customer has other available alternate start times: the job is rescheduled to one of them and returns to Submitted. The same rules apply if the CP cancelled via the CP App's Report Issue and chose "I have an emergency" or "My client wants to cancel."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Attempt to rematch first, not cancel outright: if there's still a chance to match another CP, take that route so the customer still gets their cleaning. 2) Check the Quick Reference table for credits and free months, with the same judgment as any reliability issue: emotional state, cancellation/refund intent, existing credits or vouchers. 3) Offer a Priority Booking if the customer doesn't get the outcome they wanted: no reschedule option, an auto-rescheduled time they didn't choose, or the job goes to Cancelled. 4) Block the C/CP pairing. 5) Send comms to customer and CP: coach the CP on reliability, penalize as necessary. 6) CP status: cancelling from the CP Dashboard is how the system penalizes the CP; it usually sets norequests or suspended itself. If it did, leave it, coach the CP and explain the penalty. If it didn't, lean towards coaching; set norequests only if the CP already has a couple of cancellations or no-shows. C-side agents never suspend or add DNR. Reason code: cpq_cancel Your customer &lt;C'S NAME&gt; reported you cancelled their &lt;DAY, DATE&gt; job. Submit reactivation appeal through dashboard. Macros: CP Cancel &gt; Job Cancelled (customer-facing); No Show/Cancellation (No Request) (CP-facing); No Show/Cancellation (Permanent Deactivation) (CP-facing).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customer has the option to reschedule: customer reschedules: Submitted; customer doesn't reschedule: Cancelled. Either way the CP's Keep Rate is still impacted since the job history is logged, which can still lead to norequests or suspended. When the customer doesn't have the option (e.g. alternate times were already added to their appointment), the job may auto-reschedule to the latest alternate time. If no alternate times exist and rescheduling isn't offered, the job changes to Cancelled, with the same Keep Rate impact. Free months reminder: not mandatory and won't fail QA either way; hold off unless there's cancellation intent or C brings up the unused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Cleaner Cancellation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Service Issues &gt; Reliability. Different from the routine, agreed-upon reschedule covered in Rescheduling (Bookings): here the customer never agreed to the new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the job still assigned to the CP who rescheduled it? No, no longer assigned: review the CP's account for prior instances and update their CP Step if warranted; send the CP coaching comms using the applicable Comms Kit macro and ban (block) the C/CP pairing; offer the customer a Priority Booking and address any other pain points. Yes, still assigned: add the cp_unauthorized_reschedule flag to the CP's account, update their CP Step if warranted, coach and ban the CP, then check how far away the original start time is. &gt;48 hours away: reschedule the job back to the original start time via the Customer Dashboard. 48 hours or less: check the customer's Priority Markup cohort (C CRM &gt; View). If the cohort is 30_to_50_pct or 50_to_100_pct, cancel the job via CRM using CP no-show/reschedule as the reason code, then rebook via CRM. Add an internal note: cp_unauthorized_reschedule cancelled J &lt;JOB ID&gt; to avoid priority_fee and recreated J &lt;JOB ID&gt;. Tell the customer their appointment was rebooked to their original preferred schedule and offer to add Alternate Start Times. If no priority fee will apply, reschedule via the Customer Dashboard instead. Already in the past: follow AG: Pending Invoice's completion-verification steps, whether the job is Pending Invoice or Claimed. Job already cancelled/invoiced: offer a Priority Booking and address any other pain points. The flag can still be added even if the CP is no longer assigned: it documents the CP's own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1st instance: warning macro, no status change. 2nd+ instance: norequests plus the warning macro. Before pausing a CP, check their messages and flags for an earlier warning. C-side agents never suspend or add DNR; repeat offenders are the CP-side team's call. CP-facing reason code: cpq_reschedule Your customer &lt;C'S NAME&gt; reported you rescheduled their &lt;DAY, DATE&gt; job without permission. Submit reactivation appeal through dashboard. Macros: Unapproved reschedule (sample 1) (customer-facing, includes a $20 credit); Unapproved reschedule (sample 2) (customer-facing, no credit: apology + coordination note); Unauthorized Reschedule (Warning) (CP-facing, 1st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provide a live ticket for trainees to review. Give them time to investigate (job history, CTJ, C/CP messages, Premium charge), then discuss. Ask: Did the CP already report the cash payment (check the CP CRM)? How much was paid in cash, full or partial? What is the job status? What actions will you take (cancel via C CRM, invoice the balance, refund via CP Dashboard, or admin refund + CP Holdback), and which ladder applies? How will you respond to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Unauthorized Reschedule.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Specialized Escalation Teams. Most Service Issues are things Care can fully own and close out: refund it, re-clean it, coach the CP, done. Trust &amp; Safety cases are different: they involve real risk to a person's physical safety, property, or wellbeing, not just a bad service experience. Getting one wrong (moving too fast, resolving it like a routine complaint, or missing that it qualifies) creates a liability a refund can't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T&amp;S covers any situation where a customer or cleaner reports behavior that could compromise personal safety, property security, or professional conduct. If a report suggests any risk (physical, emotional, or property-related), the case gets escalated. Only the T&amp;S team is authorized to handle these situations directly. Care's responsibility is to recognize the issue and escalate it, not investigate or resolve it. T&amp;S is a separate, specially-trained track because these situations need a level of investigation and judgment a standard support resolution isn't built for. That's also why T&amp;S, not Care, gets final say on refunds, ETF and retention once a case is theirs. If you're unsure whether a case meets the bar but it feels risky, you can still raise it through the T&amp;S channel: you don't need certainty to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Escalate immediately once a T&amp;S indicator is confirmed. Don't attempt retention: T&amp;S leads the investigation and resolution. Don't issue refunds or contact the cleaner directly: T&amp;S evaluates liability, coordinates the investigation and determines the resolution (including a possible full ETF waiver). Agents must send an email to the customer when escalating a ticket to T&amp;S. Macro: Escalate report to T&amp;S. Related articles: ETF Waivers; Service Recovery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T&amp;S concerns (once escalation applies) must be routed to the T&amp;S team. Care agents must not make refund or compensation decisions for T&amp;S cases, waive or reduce ETF unless directed by T&amp;S, or attempt retention or offer membership-related incentives. T&amp;S independently investigates and owns the final resolution: refund handling is determined solely by T&amp;S after investigation; T&amp;S may waive up to the full ETF following review; no retention attempt by Care, defer to the T&amp;S outcome. If T&amp;S declines the case ("this is not a T&amp;S concern"), the ticket returns to the original agent and is handled as BAU. The T&amp;S constraints lift with it: run the normal playbook for the underlying issue and apply the ordinary ETF and retention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on this slide is an always-escalate item. Law enforcement requests also go to T&amp;S: never share customer or cleaner information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time the C reaches out: 1) Respond to the C using the New CRM macro "Escalate Report to T&amp;S". 2) Post in the #new-ts-safety-reports Slack channel using the format: Ticket Link: / CID | Job ID | CP ID / Background: (a short summary of what the customer reported). 3) Leave an internal note on the C account containing the Slack link of your escalation. 4) Don't resolve the ticket: change the queue in New CRM to T&amp;S Safety Reports. The screenshot shows a sample post (IDs are training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Unwanted communication means personal, repeated, or continuing after being asked to stop. A single job-related follow-up (confirming arrival time, asking about a forgotten item) is routine and doesn't qualify on its own. Verbal dispute: a disagreement about the cleaning itself ("you missed a spot") isn't a verbal dispute for T&amp;S purposes. It only qualifies when the interaction itself becomes heated, aggressive, or intimidating. It's different from harassment, which implies one party targeting the other; a verbal dispute is mutual or situational escalation between both parties. Workplace safety excludes homes with biohazardous conditions. Hurt during cleaning: unless the incident was caused by either party. Every item is always-escalate, except the conditional pattern on the next slides: don't assume anything else is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Theft and damage claims go to T&amp;S. Covered claims: the job was paid in full on the platform; the requester's account is in good standing with no outstanding balances (no failed or disputed charges); the claim was reported within 30 days of the cleaning; the requester hasn't violated the Terms of Service. Excluded: cleaning done outside the platform; losses of cash, third-party gift cards/vouchers and securities, as well as fine arts, antiques and jewelry; losses of pets, personal liability, damage to common areas, and sentimental or undocumented intangible value; items already recovered by the police or replaced by the cleaner; items that still work (minor cosmetic damage, scratches, ordinary wear and tear).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flow for policy violations and unprofessional conduct, and for theft and damage. First time the C reaches out: 1) Respond to the C using the New CRM macro "Escalate Report to T&amp;S". 2) Post in the #new-ts-nonsafety-reports Slack channel using the format: Ticket Link: / CID | Job ID | CP ID / Background: (a short summary of what the customer reported). 3) Leave an internal note on the C account containing the Slack link of your escalation. 4) Don't resolve the ticket: change the queue in New CRM to T&amp;S Non-Safety Reports. Safety concerns go to #new-ts-safety-reports instead (see the first-report slide). The screenshot shows a sample post (IDs are training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number of situations are genuine T&amp;S concerns, but only get escalated to the T&amp;S team if the customer explicitly asks to be escalated for that reason. If the customer doesn't ask, handle it as BAU, but it still qualifies as a T&amp;S scenario for ETF waiver purposes, because the underlying safety issue is real either way. Known examples: CP brought a minor to the appointment; CP brought or sent an unauthorized/third-party person. The list isn't exhaustive: other situations may fit the same pattern (a genuine safety concern a customer mentions in passing). Before treating a new situation this way, confirm it's genuinely comparable: a real safety concern, not just something vaguely safety-adjacent. When unsure, escalate to T&amp;S rather than deciding solo. Note the difference from the always-escalate item: if C says they felt unsafe because the CP brought a helper without permission,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flow when the C is asking for an update, the C says they made a mistake in reporting, or the action item is just a triggered timed reminder from T&amp;S. 1) Check if a post for the ticket has already been made in the #trust-and-safety-follow-ups Slack channel. Yes: add a response to the original thread and tick "Also send to #trust-and-safety-follow-ups" to bump the message. No: create a new post using the format: Link to original escalation: / Link to the new comms received (if any): / Background: , then leave an internal note on the account containing the Slack link of your follow-up escalation. 2) Don't resolve the ticket: change the queue in New CRM to T&amp;S Follow-ups. Screenshots: a sample follow-up post, and a triggered timed reminder from 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Trust and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Category: Specialized Escalation Teams. T&amp;S exists because some situations carry real physical or safety risk. Service Recovery exists for a different reason: some situations carry real legal, reputational, or relationship risk. A customer unhappy enough to leave negative feedback and ask for a callback, or one invoking legal action or the FTC, needs higher-touch handling: the stakes go beyond one bad interaction. Care's role, same as with T&amp;S, is recognition and handoff, not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Recovery handles: customers who left negative CSAT survey feedback and opted in to be contacted by phone or email; and high-risk general legal threats (e.g. "I will contact a lawyer") or FTC threats, when the risk of escalation is significantly high. SR determines refund eligibility, scope and any ETF waiver for the cases they own. BBB: a BBB threat alone is handled as BAU, not escalated to SR. An actual filed BBB complaint follows the HDR Ticket Handling Process, not Service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legal threats (Attorney General threat, formal legal letter, lawyer CC'd on comms, class action threat, email from a law firm, threat to join ongoing litigation, small claims court threat): no SR escalation needed. The agent waives the ETF and cancels FC immediately. See ETF Waivers &gt; Material Legal Threats for the full reasoning. General legal threats ("I'll get a lawyer," FTC mention, social media threat): handle as BAU; escalate to SR only if the risk of escalation is significant. BBB is a special case: a threat is BAU with no escalation; an actual filed complaint follows the HDR Ticket Handling Process, not 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read each message aloud and have trainees call it: material, general, or BBB. Each click reveals the next answer. Material: waive the ETF and cancel FC immediately, no SR. General: BAU, escalate to SR only if the risk is significant. BBB threat: BAU.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Escalate by submitting the Transformation to SR Reassignment Form. Exemption: if the ticket is "C responded to SR," no form is needed: message/DM the last SR agent who handled it to let them know the customer responded. If that agent is offline, reach out to any available SR agent on shift (currently Avegaile "Avie" Gaco, Liz, LorraineYvone, Ann); check the SR schedule sheet linked in the Knowledge Library. Cases marked Handle as BAU or Invalid Escalation are sent back automatically via the Slack channel with SWAT notes: the original agent takes ownership back, reviews the notes, and proceeds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let trainees answer before revealing. Each click reveals the next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recap the three takeaways, then open the floor for questions on Service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Recap: OCH (billed more than worked), Unauthorized Hours (worked but never asked), False Invoice (never showed, check who invoiced first), Cash Payment (job status decides the action), Cleaner Didn't Show (be certain; reschedule intent matters), Cleaner Cancellation (how they cancelled matters; rematch first), Unauthorized Reschedule (still assigned? how far is the start?), Trust and Safety (recognize and escalate, hands off), and Service Recovery (know the threat type; use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9"/>
        </a:solidFill>
      </p:bgPr>
    </p:bg>
    <p:spTree>
      <p:nvGrpSpPr>
        <p:cNvPr id="1" name=""/>
        <p:cNvGrpSpPr/>
        <p:nvPr/>
      </p:nvGrpSpPr>
      <p:grpSpPr>
        <a:xfrm>
          <a:off x="0" y="0"/>
          <a:ext cx="0" cy="0"/>
          <a:chOff x="0" y="0"/>
          <a:chExt cx="0" cy="0"/>
        </a:xfrm>
      </p:grpSpPr>
      <p:sp>
        <p:nvSpPr>
          <p:cNvPr id="2" name="Text 0"/>
          <p:cNvSpPr/>
          <p:nvPr/>
        </p:nvSpPr>
        <p:spPr>
          <a:xfrm>
            <a:off x="438912" y="4800600"/>
            <a:ext cx="3657600" cy="182880"/>
          </a:xfrm>
          <a:prstGeom prst="rect">
            <a:avLst/>
          </a:prstGeom>
          <a:noFill/>
          <a:ln/>
        </p:spPr>
        <p:txBody>
          <a:bodyPr wrap="square" lIns="0" tIns="0" rIns="0" bIns="0" rtlCol="0" anchor="ctr"/>
          <a:lstStyle/>
          <a:p>
            <a:pPr indent="0" marL="0">
              <a:buNone/>
            </a:pPr>
            <a:r>
              <a:rPr lang="en-US" sz="700" dirty="0">
                <a:solidFill>
                  <a:srgbClr val="6E6E73"/>
                </a:solidFill>
                <a:latin typeface="SF Pro Text" pitchFamily="34" charset="0"/>
                <a:ea typeface="SF Pro Text" pitchFamily="34" charset="-122"/>
                <a:cs typeface="SF Pro Text" pitchFamily="34" charset="-120"/>
              </a:rPr>
              <a:t>Homeaglow  ·  New Hire Care Training</a:t>
            </a:r>
            <a:endParaRPr lang="en-US" sz="7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6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2.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2.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2.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2.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2.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2.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2.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2.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slideLayout" Target="../slideLayouts/slideLayout2.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2.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2.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slideLayout" Target="../slideLayouts/slideLayout2.xml"/><Relationship Id="rId7"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slideLayout" Target="../slideLayouts/slideLayout2.xml"/><Relationship Id="rId7"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slideLayout" Target="../slideLayouts/slideLayout2.xml"/><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2.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image" Target="../media/image-71-6.png"/><Relationship Id="rId7" Type="http://schemas.openxmlformats.org/officeDocument/2006/relationships/image" Target="../media/image-71-7.png"/><Relationship Id="rId8" Type="http://schemas.openxmlformats.org/officeDocument/2006/relationships/image" Target="../media/image-71-8.png"/><Relationship Id="rId9" Type="http://schemas.openxmlformats.org/officeDocument/2006/relationships/slideLayout" Target="../slideLayouts/slideLayout2.xml"/><Relationship Id="rId10"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2.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slideLayout" Target="../slideLayouts/slideLayout2.xml"/><Relationship Id="rId7"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2.xm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2.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2.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54864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HOMEAGLOW  ·  NEW HIRE CARE TRAINING</a:t>
            </a:r>
            <a:endParaRPr lang="en-US" sz="800" dirty="0"/>
          </a:p>
        </p:txBody>
      </p:sp>
      <p:sp>
        <p:nvSpPr>
          <p:cNvPr id="3" name="Text 1"/>
          <p:cNvSpPr txBox="1"/>
          <p:nvPr/>
        </p:nvSpPr>
        <p:spPr>
          <a:xfrm>
            <a:off x="566928" y="914400"/>
            <a:ext cx="4480560" cy="1463040"/>
          </a:xfrm>
          <a:prstGeom prst="rect">
            <a:avLst/>
          </a:prstGeom>
          <a:noFill/>
          <a:ln/>
        </p:spPr>
        <p:txBody>
          <a:bodyPr wrap="square" lIns="0" tIns="0" rIns="0" bIns="0" rtlCol="0" anchor="t"/>
          <a:lstStyle/>
          <a:p>
            <a:pPr indent="0" marL="0">
              <a:buNone/>
            </a:pPr>
            <a:r>
              <a:rPr lang="en-US" sz="3200" b="1" dirty="0">
                <a:solidFill>
                  <a:srgbClr val="1D1D1F"/>
                </a:solidFill>
                <a:latin typeface="SF Pro Display" pitchFamily="34" charset="0"/>
                <a:ea typeface="SF Pro Display" pitchFamily="34" charset="-122"/>
                <a:cs typeface="SF Pro Display" pitchFamily="34" charset="-120"/>
              </a:rPr>
              <a:t>Billing Disputes</a:t>
            </a:r>
            <a:endParaRPr lang="en-US" sz="3200" dirty="0"/>
          </a:p>
          <a:p>
            <a:pPr indent="0" marL="0">
              <a:buNone/>
            </a:pPr>
            <a:r>
              <a:rPr lang="en-US" sz="3200" b="1" dirty="0">
                <a:solidFill>
                  <a:srgbClr val="1D1D1F"/>
                </a:solidFill>
                <a:latin typeface="SF Pro Display" pitchFamily="34" charset="0"/>
                <a:ea typeface="SF Pro Display" pitchFamily="34" charset="-122"/>
                <a:cs typeface="SF Pro Display" pitchFamily="34" charset="-120"/>
              </a:rPr>
              <a:t>&amp; Cash Payments</a:t>
            </a:r>
            <a:endParaRPr lang="en-US" sz="3200" dirty="0"/>
          </a:p>
        </p:txBody>
      </p:sp>
      <p:sp>
        <p:nvSpPr>
          <p:cNvPr id="4" name="Text 2"/>
          <p:cNvSpPr txBox="1"/>
          <p:nvPr/>
        </p:nvSpPr>
        <p:spPr>
          <a:xfrm>
            <a:off x="566928" y="2468880"/>
            <a:ext cx="4206240" cy="640080"/>
          </a:xfrm>
          <a:prstGeom prst="rect">
            <a:avLst/>
          </a:prstGeom>
          <a:noFill/>
          <a:ln/>
        </p:spPr>
        <p:txBody>
          <a:bodyPr wrap="square" lIns="0" tIns="0" rIns="0" bIns="0" rtlCol="0" anchor="t"/>
          <a:lstStyle/>
          <a:p>
            <a:pPr indent="0" marL="0">
              <a:buNone/>
            </a:pPr>
            <a:r>
              <a:rPr lang="en-US" sz="1250" dirty="0">
                <a:solidFill>
                  <a:srgbClr val="6E6E73"/>
                </a:solidFill>
                <a:latin typeface="SF Pro Text" pitchFamily="34" charset="0"/>
                <a:ea typeface="SF Pro Text" pitchFamily="34" charset="-122"/>
                <a:cs typeface="SF Pro Text" pitchFamily="34" charset="-120"/>
              </a:rPr>
              <a:t>Charges for time not delivered, off-platform payments, and cleaners who don't show, cancel or reschedule.</a:t>
            </a:r>
            <a:endParaRPr lang="en-US" sz="1250" dirty="0"/>
          </a:p>
        </p:txBody>
      </p:sp>
      <p:sp>
        <p:nvSpPr>
          <p:cNvPr id="5" name="Text 3"/>
          <p:cNvSpPr txBox="1"/>
          <p:nvPr/>
        </p:nvSpPr>
        <p:spPr>
          <a:xfrm>
            <a:off x="566928" y="4572000"/>
            <a:ext cx="2743200" cy="182880"/>
          </a:xfrm>
          <a:prstGeom prst="rect">
            <a:avLst/>
          </a:prstGeom>
          <a:noFill/>
          <a:ln/>
        </p:spPr>
        <p:txBody>
          <a:bodyPr wrap="square" lIns="0" tIns="0" rIns="0" bIns="0" rtlCol="0" anchor="t"/>
          <a:lstStyle/>
          <a:p>
            <a:pPr indent="0" marL="0">
              <a:buNone/>
            </a:pPr>
            <a:r>
              <a:rPr lang="en-US" sz="700" dirty="0">
                <a:solidFill>
                  <a:srgbClr val="6E6E73"/>
                </a:solidFill>
                <a:latin typeface="SF Pro Text" pitchFamily="34" charset="0"/>
                <a:ea typeface="SF Pro Text" pitchFamily="34" charset="-122"/>
                <a:cs typeface="SF Pro Text" pitchFamily="34" charset="-120"/>
              </a:rPr>
              <a:t>Internal training material</a:t>
            </a:r>
            <a:endParaRPr lang="en-US" sz="700" dirty="0"/>
          </a:p>
        </p:txBody>
      </p:sp>
      <p:sp>
        <p:nvSpPr>
          <p:cNvPr id="6" name="Shape 4"/>
          <p:cNvSpPr/>
          <p:nvPr/>
        </p:nvSpPr>
        <p:spPr>
          <a:xfrm>
            <a:off x="5312664" y="365760"/>
            <a:ext cx="3383280" cy="4407408"/>
          </a:xfrm>
          <a:prstGeom prst="roundRect">
            <a:avLst>
              <a:gd name="adj" fmla="val 2162"/>
            </a:avLst>
          </a:prstGeom>
          <a:solidFill>
            <a:srgbClr val="E3F4F1"/>
          </a:solidFill>
          <a:ln w="9525">
            <a:solidFill>
              <a:srgbClr val="E3F4F1"/>
            </a:solidFill>
            <a:prstDash val="solid"/>
          </a:ln>
        </p:spPr>
      </p:sp>
      <p:sp>
        <p:nvSpPr>
          <p:cNvPr id="7" name="Shape 5"/>
          <p:cNvSpPr/>
          <p:nvPr/>
        </p:nvSpPr>
        <p:spPr>
          <a:xfrm>
            <a:off x="5724144" y="1289304"/>
            <a:ext cx="2560320" cy="2560320"/>
          </a:xfrm>
          <a:prstGeom prst="ellipse">
            <a:avLst/>
          </a:prstGeom>
          <a:solidFill>
            <a:srgbClr val="FFFFFF"/>
          </a:solidFill>
          <a:ln w="12700">
            <a:solidFill>
              <a:srgbClr val="FFFFFF"/>
            </a:solidFill>
            <a:prstDash val="solid"/>
          </a:ln>
        </p:spPr>
      </p:sp>
      <p:pic>
        <p:nvPicPr>
          <p:cNvPr id="8" name="Image 0" descr="/tmp/claude-0/-workspace-training/3ce5cff6-cccf-5f33-b0ee-0b147a55120e/scratchpad/img4/ill6.png">    </p:cNvPr>
          <p:cNvPicPr>
            <a:picLocks noChangeAspect="1"/>
          </p:cNvPicPr>
          <p:nvPr/>
        </p:nvPicPr>
        <p:blipFill>
          <a:blip r:embed="rId1"/>
          <a:stretch>
            <a:fillRect/>
          </a:stretch>
        </p:blipFill>
        <p:spPr>
          <a:xfrm>
            <a:off x="5541264" y="1632461"/>
            <a:ext cx="2926080" cy="1874006"/>
          </a:xfrm>
          <a:prstGeom prst="rect">
            <a:avLst/>
          </a:prstGeom>
        </p:spPr>
      </p:pic>
      <p:sp>
        <p:nvSpPr>
          <p:cNvPr id="9" name="Shape 6"/>
          <p:cNvSpPr/>
          <p:nvPr/>
        </p:nvSpPr>
        <p:spPr>
          <a:xfrm>
            <a:off x="5522976" y="566928"/>
            <a:ext cx="329184" cy="329184"/>
          </a:xfrm>
          <a:prstGeom prst="ellipse">
            <a:avLst/>
          </a:prstGeom>
          <a:solidFill>
            <a:srgbClr val="FFFFFF"/>
          </a:solidFill>
          <a:ln w="12700">
            <a:solidFill>
              <a:srgbClr val="FFFFFF"/>
            </a:solidFill>
            <a:prstDash val="solid"/>
          </a:ln>
        </p:spPr>
      </p:sp>
      <p:sp>
        <p:nvSpPr>
          <p:cNvPr id="10" name="Shape 7"/>
          <p:cNvSpPr/>
          <p:nvPr/>
        </p:nvSpPr>
        <p:spPr>
          <a:xfrm>
            <a:off x="5646420" y="690372"/>
            <a:ext cx="82296" cy="82296"/>
          </a:xfrm>
          <a:prstGeom prst="ellipse">
            <a:avLst/>
          </a:prstGeom>
          <a:solidFill>
            <a:srgbClr val="0B7A6F"/>
          </a:solidFill>
          <a:ln w="12700">
            <a:solidFill>
              <a:srgbClr val="0B7A6F"/>
            </a:solidFill>
            <a:prstDash val="solid"/>
          </a:ln>
        </p:spPr>
      </p:sp>
      <p:sp>
        <p:nvSpPr>
          <p:cNvPr id="11" name="Shape 8"/>
          <p:cNvSpPr/>
          <p:nvPr/>
        </p:nvSpPr>
        <p:spPr>
          <a:xfrm>
            <a:off x="8193024" y="566928"/>
            <a:ext cx="329184" cy="329184"/>
          </a:xfrm>
          <a:prstGeom prst="ellipse">
            <a:avLst/>
          </a:prstGeom>
          <a:solidFill>
            <a:srgbClr val="FFFFFF"/>
          </a:solidFill>
          <a:ln w="12700">
            <a:solidFill>
              <a:srgbClr val="FFFFFF"/>
            </a:solidFill>
            <a:prstDash val="solid"/>
          </a:ln>
        </p:spPr>
      </p:sp>
      <p:sp>
        <p:nvSpPr>
          <p:cNvPr id="12" name="Shape 9"/>
          <p:cNvSpPr/>
          <p:nvPr/>
        </p:nvSpPr>
        <p:spPr>
          <a:xfrm>
            <a:off x="8316468" y="690372"/>
            <a:ext cx="82296" cy="82296"/>
          </a:xfrm>
          <a:prstGeom prst="ellipse">
            <a:avLst/>
          </a:prstGeom>
          <a:solidFill>
            <a:srgbClr val="0B7A6F"/>
          </a:solidFill>
          <a:ln w="12700">
            <a:solidFill>
              <a:srgbClr val="0B7A6F"/>
            </a:solidFill>
            <a:prstDash val="solid"/>
          </a:ln>
        </p:spPr>
      </p:sp>
      <p:sp>
        <p:nvSpPr>
          <p:cNvPr id="13" name="Shape 10"/>
          <p:cNvSpPr/>
          <p:nvPr/>
        </p:nvSpPr>
        <p:spPr>
          <a:xfrm>
            <a:off x="8193024" y="4242816"/>
            <a:ext cx="329184" cy="329184"/>
          </a:xfrm>
          <a:prstGeom prst="ellipse">
            <a:avLst/>
          </a:prstGeom>
          <a:solidFill>
            <a:srgbClr val="FFFFFF"/>
          </a:solidFill>
          <a:ln w="12700">
            <a:solidFill>
              <a:srgbClr val="FFFFFF"/>
            </a:solidFill>
            <a:prstDash val="solid"/>
          </a:ln>
        </p:spPr>
      </p:sp>
      <p:sp>
        <p:nvSpPr>
          <p:cNvPr id="14" name="Shape 11"/>
          <p:cNvSpPr/>
          <p:nvPr/>
        </p:nvSpPr>
        <p:spPr>
          <a:xfrm>
            <a:off x="8316468" y="4366260"/>
            <a:ext cx="82296" cy="82296"/>
          </a:xfrm>
          <a:prstGeom prst="ellipse">
            <a:avLst/>
          </a:prstGeom>
          <a:solidFill>
            <a:srgbClr val="0B7A6F"/>
          </a:solidFill>
          <a:ln w="12700">
            <a:solidFill>
              <a:srgbClr val="0B7A6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OVERVIEW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Agenda</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Seven topics. Each ends with a knowledge check and time for questions.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640080"/>
                <a:gridCol w="3108960"/>
                <a:gridCol w="4572000"/>
              </a:tblGrid>
              <a:tr h="384048">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a:t>
                      </a:r>
                      <a:endParaRPr lang="en-US" sz="10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Topic</a:t>
                      </a:r>
                      <a:endParaRPr lang="en-US" sz="10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In one line</a:t>
                      </a:r>
                      <a:endParaRPr lang="en-US" sz="1050" dirty="0">
                        <a:latin typeface="SF Pro Display" charset="0"/>
                        <a:ea typeface="SF Pro Display" charset="0"/>
                        <a:cs typeface="SF Pro Display"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01</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Overcharged Hours (OCH)</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cleaner billed more time than they worked</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02</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Unauthorized Addition of Hours</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cleaner added time without the customer's OK</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03</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False Invoice</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cleaner billed a job they never did</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04</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Disintermediation: Cash Payment</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customer paid the cleaner directly</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05</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Cleaner Didn't Show</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cleaner claimed the job but never came</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06</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Cleaner Cancellation</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cleaner cancelled a claimed job</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0B7A6F"/>
                          </a:solidFill>
                          <a:latin typeface="SF Pro Text" pitchFamily="34" charset="0"/>
                          <a:ea typeface="SF Pro Text" pitchFamily="34" charset="-122"/>
                          <a:cs typeface="SF Pro Text" pitchFamily="34" charset="-120"/>
                        </a:rPr>
                        <a:t>07</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Unauthorized Reschedule</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The cleaner moved the job without the customer's OK</a:t>
                      </a:r>
                      <a:endParaRPr lang="en-US" sz="1050" dirty="0">
                        <a:latin typeface="SF Pro Text" charset="0"/>
                        <a:ea typeface="SF Pro Text" charset="0"/>
                        <a:cs typeface="SF Pro Text" charset="0"/>
                      </a:endParaRPr>
                    </a:p>
                  </a:txBody>
                  <a:tcPr marL="128016" marR="128016" marT="0" marB="0"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01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Overcharged Hours (OCH)</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cleaner charged the customer for more time than they actually worked.</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OCH differs from similar issues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Policies and what counts as evidence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Branch A and Branch B</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Penalties and watch-outs</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27.png">    </p:cNvPr>
          <p:cNvPicPr>
            <a:picLocks noChangeAspect="1"/>
          </p:cNvPicPr>
          <p:nvPr/>
        </p:nvPicPr>
        <p:blipFill>
          <a:blip r:embed="rId5"/>
          <a:stretch>
            <a:fillRect/>
          </a:stretch>
        </p:blipFill>
        <p:spPr>
          <a:xfrm>
            <a:off x="5928845" y="1517904"/>
            <a:ext cx="2150918"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"unworked hours" family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To the customer they all look the same: "I got charged for time I didn't get."</a:t>
            </a:r>
            <a:endParaRPr lang="en-US" sz="1200" dirty="0"/>
          </a:p>
        </p:txBody>
      </p:sp>
      <p:sp>
        <p:nvSpPr>
          <p:cNvPr id="6" name="Shape 3"/>
          <p:cNvSpPr/>
          <p:nvPr/>
        </p:nvSpPr>
        <p:spPr>
          <a:xfrm>
            <a:off x="411480" y="1325880"/>
            <a:ext cx="2682240" cy="1737360"/>
          </a:xfrm>
          <a:prstGeom prst="roundRect">
            <a:avLst>
              <a:gd name="adj" fmla="val 4211"/>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Didn't show up at all</a:t>
            </a:r>
            <a:endParaRPr lang="en-US" sz="1200" dirty="0"/>
          </a:p>
        </p:txBody>
      </p:sp>
      <p:sp>
        <p:nvSpPr>
          <p:cNvPr id="10" name="Text 6"/>
          <p:cNvSpPr txBox="1"/>
          <p:nvPr/>
        </p:nvSpPr>
        <p:spPr>
          <a:xfrm>
            <a:off x="576072" y="2221992"/>
            <a:ext cx="235305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False Invoice</a:t>
            </a:r>
            <a:endParaRPr lang="en-US" sz="950" dirty="0"/>
          </a:p>
        </p:txBody>
      </p:sp>
      <p:sp>
        <p:nvSpPr>
          <p:cNvPr id="11" name="Shape 7"/>
          <p:cNvSpPr/>
          <p:nvPr/>
        </p:nvSpPr>
        <p:spPr>
          <a:xfrm>
            <a:off x="3230880" y="1325880"/>
            <a:ext cx="2682240" cy="1737360"/>
          </a:xfrm>
          <a:prstGeom prst="roundRect">
            <a:avLst>
              <a:gd name="adj" fmla="val 4211"/>
            </a:avLst>
          </a:prstGeom>
          <a:solidFill>
            <a:srgbClr val="FFFFFF"/>
          </a:solidFill>
          <a:ln w="9525">
            <a:solidFill>
              <a:srgbClr val="DCE1E7"/>
            </a:solidFill>
            <a:prstDash val="solid"/>
          </a:ln>
        </p:spPr>
      </p:sp>
      <p:sp>
        <p:nvSpPr>
          <p:cNvPr id="12" name="Shape 8"/>
          <p:cNvSpPr/>
          <p:nvPr/>
        </p:nvSpPr>
        <p:spPr>
          <a:xfrm>
            <a:off x="3395472" y="14904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69476"/>
            <a:ext cx="171176" cy="171176"/>
          </a:xfrm>
          <a:prstGeom prst="rect">
            <a:avLst/>
          </a:prstGeom>
        </p:spPr>
      </p:pic>
      <p:sp>
        <p:nvSpPr>
          <p:cNvPr id="14" name="Text 9"/>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Worked it, but never asked</a:t>
            </a:r>
            <a:endParaRPr lang="en-US" sz="1200" dirty="0"/>
          </a:p>
        </p:txBody>
      </p:sp>
      <p:sp>
        <p:nvSpPr>
          <p:cNvPr id="15" name="Text 10"/>
          <p:cNvSpPr txBox="1"/>
          <p:nvPr/>
        </p:nvSpPr>
        <p:spPr>
          <a:xfrm>
            <a:off x="3395472" y="2221992"/>
            <a:ext cx="235305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Unauthorized Addition of Hours</a:t>
            </a:r>
            <a:endParaRPr lang="en-US" sz="950" dirty="0"/>
          </a:p>
        </p:txBody>
      </p:sp>
      <p:sp>
        <p:nvSpPr>
          <p:cNvPr id="16" name="Shape 11"/>
          <p:cNvSpPr/>
          <p:nvPr/>
        </p:nvSpPr>
        <p:spPr>
          <a:xfrm>
            <a:off x="6050280" y="1325880"/>
            <a:ext cx="2682240" cy="1737360"/>
          </a:xfrm>
          <a:prstGeom prst="roundRect">
            <a:avLst>
              <a:gd name="adj" fmla="val 4211"/>
            </a:avLst>
          </a:prstGeom>
          <a:solidFill>
            <a:srgbClr val="FFFFFF"/>
          </a:solidFill>
          <a:ln w="9525">
            <a:solidFill>
              <a:srgbClr val="DCE1E7"/>
            </a:solidFill>
            <a:prstDash val="solid"/>
          </a:ln>
        </p:spPr>
      </p:sp>
      <p:sp>
        <p:nvSpPr>
          <p:cNvPr id="17" name="Shape 12"/>
          <p:cNvSpPr/>
          <p:nvPr/>
        </p:nvSpPr>
        <p:spPr>
          <a:xfrm>
            <a:off x="6214872" y="149047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69476"/>
            <a:ext cx="171176" cy="171176"/>
          </a:xfrm>
          <a:prstGeom prst="rect">
            <a:avLst/>
          </a:prstGeom>
        </p:spPr>
      </p:pic>
      <p:sp>
        <p:nvSpPr>
          <p:cNvPr id="19" name="Text 13"/>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Billed more than worked</a:t>
            </a:r>
            <a:endParaRPr lang="en-US" sz="1200" dirty="0"/>
          </a:p>
        </p:txBody>
      </p:sp>
      <p:sp>
        <p:nvSpPr>
          <p:cNvPr id="20" name="Text 14"/>
          <p:cNvSpPr txBox="1"/>
          <p:nvPr/>
        </p:nvSpPr>
        <p:spPr>
          <a:xfrm>
            <a:off x="6214872" y="2221992"/>
            <a:ext cx="2353056" cy="7498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Overcharged Hours: this topic</a:t>
            </a:r>
            <a:endParaRPr lang="en-US" sz="950" dirty="0"/>
          </a:p>
        </p:txBody>
      </p:sp>
      <p:sp>
        <p:nvSpPr>
          <p:cNvPr id="21" name="Shape 15"/>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401568"/>
            <a:ext cx="164592" cy="164592"/>
          </a:xfrm>
          <a:prstGeom prst="rect">
            <a:avLst/>
          </a:prstGeom>
        </p:spPr>
      </p:pic>
      <p:sp>
        <p:nvSpPr>
          <p:cNvPr id="23" name="Text 16"/>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it matters:  </a:t>
            </a:r>
            <a:pPr indent="0" marL="0">
              <a:buNone/>
            </a:pPr>
            <a:r>
              <a:rPr lang="en-US" sz="1000" dirty="0">
                <a:solidFill>
                  <a:srgbClr val="1D1D1F"/>
                </a:solidFill>
                <a:latin typeface="SF Pro Text" pitchFamily="34" charset="0"/>
                <a:ea typeface="SF Pro Text" pitchFamily="34" charset="-122"/>
                <a:cs typeface="SF Pro Text" pitchFamily="34" charset="-120"/>
              </a:rPr>
              <a:t>each one needs different evidence and leads to a different resolution and penalty.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Policies</a:t>
            </a:r>
            <a:endParaRPr lang="en-US" sz="2400" dirty="0"/>
          </a:p>
        </p:txBody>
      </p:sp>
      <p:sp>
        <p:nvSpPr>
          <p:cNvPr id="5" name="Shape 2"/>
          <p:cNvSpPr/>
          <p:nvPr/>
        </p:nvSpPr>
        <p:spPr>
          <a:xfrm>
            <a:off x="411480" y="1280160"/>
            <a:ext cx="2682240" cy="2468880"/>
          </a:xfrm>
          <a:prstGeom prst="roundRect">
            <a:avLst>
              <a:gd name="adj" fmla="val 2963"/>
            </a:avLst>
          </a:prstGeom>
          <a:solidFill>
            <a:srgbClr val="FFFFFF"/>
          </a:solidFill>
          <a:ln w="9525">
            <a:solidFill>
              <a:srgbClr val="DCE1E7"/>
            </a:solidFill>
            <a:prstDash val="solid"/>
          </a:ln>
        </p:spPr>
      </p:sp>
      <p:sp>
        <p:nvSpPr>
          <p:cNvPr id="6" name="Shape 3"/>
          <p:cNvSpPr/>
          <p:nvPr/>
        </p:nvSpPr>
        <p:spPr>
          <a:xfrm>
            <a:off x="576072" y="144475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8" name="Text 4"/>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120-day claim window</a:t>
            </a:r>
            <a:endParaRPr lang="en-US" sz="1200" dirty="0"/>
          </a:p>
        </p:txBody>
      </p:sp>
      <p:sp>
        <p:nvSpPr>
          <p:cNvPr id="9" name="Text 5"/>
          <p:cNvSpPr txBox="1"/>
          <p:nvPr/>
        </p:nvSpPr>
        <p:spPr>
          <a:xfrm>
            <a:off x="576072" y="2176272"/>
            <a:ext cx="2353056" cy="1481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Unless the overcharge is clearly proven when reported. Then the job's age doesn't matter.</a:t>
            </a:r>
            <a:endParaRPr lang="en-US" sz="950" dirty="0"/>
          </a:p>
        </p:txBody>
      </p:sp>
      <p:sp>
        <p:nvSpPr>
          <p:cNvPr id="10" name="Shape 6"/>
          <p:cNvSpPr/>
          <p:nvPr/>
        </p:nvSpPr>
        <p:spPr>
          <a:xfrm>
            <a:off x="3230880" y="1280160"/>
            <a:ext cx="2682240" cy="2468880"/>
          </a:xfrm>
          <a:prstGeom prst="roundRect">
            <a:avLst>
              <a:gd name="adj" fmla="val 2963"/>
            </a:avLst>
          </a:prstGeom>
          <a:solidFill>
            <a:srgbClr val="FFFFFF"/>
          </a:solidFill>
          <a:ln w="9525">
            <a:solidFill>
              <a:srgbClr val="DCE1E7"/>
            </a:solidFill>
            <a:prstDash val="solid"/>
          </a:ln>
        </p:spPr>
      </p:sp>
      <p:sp>
        <p:nvSpPr>
          <p:cNvPr id="11" name="Shape 7"/>
          <p:cNvSpPr/>
          <p:nvPr/>
        </p:nvSpPr>
        <p:spPr>
          <a:xfrm>
            <a:off x="3395472" y="144475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3" name="Text 8"/>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Refund what's proven</a:t>
            </a:r>
            <a:endParaRPr lang="en-US" sz="1200" dirty="0"/>
          </a:p>
        </p:txBody>
      </p:sp>
      <p:sp>
        <p:nvSpPr>
          <p:cNvPr id="14" name="Text 9"/>
          <p:cNvSpPr txBox="1"/>
          <p:nvPr/>
        </p:nvSpPr>
        <p:spPr>
          <a:xfrm>
            <a:off x="3395472" y="2176272"/>
            <a:ext cx="2353056" cy="1481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Only the hours the evidence supports, not the full disputed amount.</a:t>
            </a:r>
            <a:endParaRPr lang="en-US" sz="950" dirty="0"/>
          </a:p>
        </p:txBody>
      </p:sp>
      <p:sp>
        <p:nvSpPr>
          <p:cNvPr id="15" name="Shape 10"/>
          <p:cNvSpPr/>
          <p:nvPr/>
        </p:nvSpPr>
        <p:spPr>
          <a:xfrm>
            <a:off x="6050280" y="1280160"/>
            <a:ext cx="2682240" cy="2468880"/>
          </a:xfrm>
          <a:prstGeom prst="roundRect">
            <a:avLst>
              <a:gd name="adj" fmla="val 2963"/>
            </a:avLst>
          </a:prstGeom>
          <a:solidFill>
            <a:srgbClr val="FFFFFF"/>
          </a:solidFill>
          <a:ln w="9525">
            <a:solidFill>
              <a:srgbClr val="DCE1E7"/>
            </a:solidFill>
            <a:prstDash val="solid"/>
          </a:ln>
        </p:spPr>
      </p:sp>
      <p:sp>
        <p:nvSpPr>
          <p:cNvPr id="16" name="Shape 11"/>
          <p:cNvSpPr/>
          <p:nvPr/>
        </p:nvSpPr>
        <p:spPr>
          <a:xfrm>
            <a:off x="6214872" y="1444752"/>
            <a:ext cx="329184" cy="329184"/>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8" name="Text 12"/>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CP Suspended + DNR</a:t>
            </a:r>
            <a:endParaRPr lang="en-US" sz="1200" dirty="0"/>
          </a:p>
        </p:txBody>
      </p:sp>
      <p:sp>
        <p:nvSpPr>
          <p:cNvPr id="19" name="Text 13"/>
          <p:cNvSpPr txBox="1"/>
          <p:nvPr/>
        </p:nvSpPr>
        <p:spPr>
          <a:xfrm>
            <a:off x="6214872" y="2176272"/>
            <a:ext cx="2353056" cy="1481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Already DNR for repeat offenses?</a:t>
            </a:r>
            <a:endParaRPr lang="en-US" sz="950" dirty="0"/>
          </a:p>
          <a:p>
            <a:pPr indent="0" marL="0">
              <a:buNone/>
            </a:pPr>
            <a:r>
              <a:rPr lang="en-US" sz="950" b="1" dirty="0">
                <a:solidFill>
                  <a:srgbClr val="1D1D1F"/>
                </a:solidFill>
                <a:latin typeface="SF Pro Text" pitchFamily="34" charset="0"/>
                <a:ea typeface="SF Pro Text" pitchFamily="34" charset="-122"/>
                <a:cs typeface="SF Pro Text" pitchFamily="34" charset="-120"/>
              </a:rPr>
              <a:t>Within 120 days: </a:t>
            </a:r>
            <a:pPr indent="0" marL="0">
              <a:buNone/>
            </a:pPr>
            <a:r>
              <a:rPr lang="en-US" sz="950" dirty="0">
                <a:solidFill>
                  <a:srgbClr val="6E6E73"/>
                </a:solidFill>
                <a:latin typeface="SF Pro Text" pitchFamily="34" charset="0"/>
                <a:ea typeface="SF Pro Text" pitchFamily="34" charset="-122"/>
                <a:cs typeface="SF Pro Text" pitchFamily="34" charset="-120"/>
              </a:rPr>
              <a:t>refund the excess even without clear evidence. No need to request evidence from the CP.</a:t>
            </a:r>
            <a:endParaRPr lang="en-US" sz="950" dirty="0"/>
          </a:p>
          <a:p>
            <a:pPr indent="0" marL="0">
              <a:buNone/>
            </a:pPr>
            <a:r>
              <a:rPr lang="en-US" sz="950" b="1" dirty="0">
                <a:solidFill>
                  <a:srgbClr val="1D1D1F"/>
                </a:solidFill>
                <a:latin typeface="SF Pro Text" pitchFamily="34" charset="0"/>
                <a:ea typeface="SF Pro Text" pitchFamily="34" charset="-122"/>
                <a:cs typeface="SF Pro Text" pitchFamily="34" charset="-120"/>
              </a:rPr>
              <a:t>Beyond 120 days: </a:t>
            </a:r>
            <a:pPr indent="0" marL="0">
              <a:buNone/>
            </a:pPr>
            <a:r>
              <a:rPr lang="en-US" sz="950" dirty="0">
                <a:solidFill>
                  <a:srgbClr val="6E6E73"/>
                </a:solidFill>
                <a:latin typeface="SF Pro Text" pitchFamily="34" charset="0"/>
                <a:ea typeface="SF Pro Text" pitchFamily="34" charset="-122"/>
                <a:cs typeface="SF Pro Text" pitchFamily="34" charset="-120"/>
              </a:rPr>
              <a:t>refund the excess only when the issue is clearly proven.</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counts as valid evidence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Documentation from the cleaner must meet all three.</a:t>
            </a:r>
            <a:endParaRPr lang="en-US" sz="1200" dirty="0"/>
          </a:p>
        </p:txBody>
      </p:sp>
      <p:sp>
        <p:nvSpPr>
          <p:cNvPr id="6" name="Shape 3"/>
          <p:cNvSpPr/>
          <p:nvPr/>
        </p:nvSpPr>
        <p:spPr>
          <a:xfrm>
            <a:off x="411480" y="1325880"/>
            <a:ext cx="26822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Not altered</a:t>
            </a:r>
            <a:endParaRPr lang="en-US" sz="1200" dirty="0"/>
          </a:p>
        </p:txBody>
      </p:sp>
      <p:sp>
        <p:nvSpPr>
          <p:cNvPr id="10" name="Text 6"/>
          <p:cNvSpPr txBox="1"/>
          <p:nvPr/>
        </p:nvSpPr>
        <p:spPr>
          <a:xfrm>
            <a:off x="576072" y="222199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GPS route, not a straight line added by hand.</a:t>
            </a:r>
            <a:endParaRPr lang="en-US" sz="950" dirty="0"/>
          </a:p>
        </p:txBody>
      </p:sp>
      <p:sp>
        <p:nvSpPr>
          <p:cNvPr id="11" name="Shape 7"/>
          <p:cNvSpPr/>
          <p:nvPr/>
        </p:nvSpPr>
        <p:spPr>
          <a:xfrm>
            <a:off x="3230880" y="1325880"/>
            <a:ext cx="2682240" cy="1691640"/>
          </a:xfrm>
          <a:prstGeom prst="roundRect">
            <a:avLst>
              <a:gd name="adj" fmla="val 4324"/>
            </a:avLst>
          </a:prstGeom>
          <a:solidFill>
            <a:srgbClr val="FFFFFF"/>
          </a:solidFill>
          <a:ln w="9525">
            <a:solidFill>
              <a:srgbClr val="DCE1E7"/>
            </a:solidFill>
            <a:prstDash val="solid"/>
          </a:ln>
        </p:spPr>
      </p:sp>
      <p:sp>
        <p:nvSpPr>
          <p:cNvPr id="12" name="Shape 8"/>
          <p:cNvSpPr/>
          <p:nvPr/>
        </p:nvSpPr>
        <p:spPr>
          <a:xfrm>
            <a:off x="3395472" y="14904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69476"/>
            <a:ext cx="171176" cy="171176"/>
          </a:xfrm>
          <a:prstGeom prst="rect">
            <a:avLst/>
          </a:prstGeom>
        </p:spPr>
      </p:pic>
      <p:sp>
        <p:nvSpPr>
          <p:cNvPr id="14" name="Text 9"/>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Arrival and departure</a:t>
            </a:r>
            <a:endParaRPr lang="en-US" sz="1200" dirty="0"/>
          </a:p>
        </p:txBody>
      </p:sp>
      <p:sp>
        <p:nvSpPr>
          <p:cNvPr id="15" name="Text 10"/>
          <p:cNvSpPr txBox="1"/>
          <p:nvPr/>
        </p:nvSpPr>
        <p:spPr>
          <a:xfrm>
            <a:off x="3395472" y="222199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Both times are clearly shown.</a:t>
            </a:r>
            <a:endParaRPr lang="en-US" sz="950" dirty="0"/>
          </a:p>
        </p:txBody>
      </p:sp>
      <p:sp>
        <p:nvSpPr>
          <p:cNvPr id="16" name="Shape 11"/>
          <p:cNvSpPr/>
          <p:nvPr/>
        </p:nvSpPr>
        <p:spPr>
          <a:xfrm>
            <a:off x="6050280" y="1325880"/>
            <a:ext cx="2682240" cy="1691640"/>
          </a:xfrm>
          <a:prstGeom prst="roundRect">
            <a:avLst>
              <a:gd name="adj" fmla="val 4324"/>
            </a:avLst>
          </a:prstGeom>
          <a:solidFill>
            <a:srgbClr val="FFFFFF"/>
          </a:solidFill>
          <a:ln w="9525">
            <a:solidFill>
              <a:srgbClr val="DCE1E7"/>
            </a:solidFill>
            <a:prstDash val="solid"/>
          </a:ln>
        </p:spPr>
      </p:sp>
      <p:sp>
        <p:nvSpPr>
          <p:cNvPr id="17" name="Shape 12"/>
          <p:cNvSpPr/>
          <p:nvPr/>
        </p:nvSpPr>
        <p:spPr>
          <a:xfrm>
            <a:off x="6214872" y="149047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69476"/>
            <a:ext cx="171176" cy="171176"/>
          </a:xfrm>
          <a:prstGeom prst="rect">
            <a:avLst/>
          </a:prstGeom>
        </p:spPr>
      </p:pic>
      <p:sp>
        <p:nvSpPr>
          <p:cNvPr id="19" name="Text 13"/>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On site the whole time</a:t>
            </a:r>
            <a:endParaRPr lang="en-US" sz="1200" dirty="0"/>
          </a:p>
        </p:txBody>
      </p:sp>
      <p:sp>
        <p:nvSpPr>
          <p:cNvPr id="20" name="Text 14"/>
          <p:cNvSpPr txBox="1"/>
          <p:nvPr/>
        </p:nvSpPr>
        <p:spPr>
          <a:xfrm>
            <a:off x="6214872" y="222199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At the address for the entire job.</a:t>
            </a:r>
            <a:endParaRPr lang="en-US" sz="950" dirty="0"/>
          </a:p>
        </p:txBody>
      </p:sp>
      <p:sp>
        <p:nvSpPr>
          <p:cNvPr id="21" name="Shape 15"/>
          <p:cNvSpPr/>
          <p:nvPr/>
        </p:nvSpPr>
        <p:spPr>
          <a:xfrm>
            <a:off x="411480" y="320040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310128"/>
            <a:ext cx="164592" cy="164592"/>
          </a:xfrm>
          <a:prstGeom prst="rect">
            <a:avLst/>
          </a:prstGeom>
        </p:spPr>
      </p:pic>
      <p:sp>
        <p:nvSpPr>
          <p:cNvPr id="23" name="Text 16"/>
          <p:cNvSpPr txBox="1"/>
          <p:nvPr/>
        </p:nvSpPr>
        <p:spPr>
          <a:xfrm>
            <a:off x="822960" y="33009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Faked, not just weak?  </a:t>
            </a:r>
            <a:pPr indent="0" marL="0">
              <a:buNone/>
            </a:pPr>
            <a:r>
              <a:rPr lang="en-US" sz="1000" dirty="0">
                <a:solidFill>
                  <a:srgbClr val="1D1D1F"/>
                </a:solidFill>
                <a:latin typeface="SF Pro Text" pitchFamily="34" charset="0"/>
                <a:ea typeface="SF Pro Text" pitchFamily="34" charset="-122"/>
                <a:cs typeface="SF Pro Text" pitchFamily="34" charset="-120"/>
              </a:rPr>
              <a:t>stop and go to AG – Fraud (CP Document Fraud). It's a separate offence.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Always start here: investigate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burden of proof is on the cleaner, unless valid evidence is already in front of you.</a:t>
            </a:r>
            <a:endParaRPr lang="en-US" sz="1200" dirty="0"/>
          </a:p>
        </p:txBody>
      </p:sp>
      <p:sp>
        <p:nvSpPr>
          <p:cNvPr id="6" name="Text 3"/>
          <p:cNvSpPr txBox="1"/>
          <p:nvPr/>
        </p:nvSpPr>
        <p:spPr>
          <a:xfrm>
            <a:off x="438912" y="1371600"/>
            <a:ext cx="36576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CHECK ALL FOUR SOURCES</a:t>
            </a:r>
            <a:endParaRPr lang="en-US" sz="800" dirty="0"/>
          </a:p>
        </p:txBody>
      </p:sp>
      <p:sp>
        <p:nvSpPr>
          <p:cNvPr id="7" name="Shape 4"/>
          <p:cNvSpPr/>
          <p:nvPr/>
        </p:nvSpPr>
        <p:spPr>
          <a:xfrm>
            <a:off x="411480" y="1645920"/>
            <a:ext cx="4023360" cy="502920"/>
          </a:xfrm>
          <a:prstGeom prst="roundRect">
            <a:avLst>
              <a:gd name="adj" fmla="val 14545"/>
            </a:avLst>
          </a:prstGeom>
          <a:solidFill>
            <a:srgbClr val="FFFFFF"/>
          </a:solidFill>
          <a:ln w="9525">
            <a:solidFill>
              <a:srgbClr val="DCE1E7"/>
            </a:solidFill>
            <a:prstDash val="solid"/>
          </a:ln>
        </p:spPr>
      </p:sp>
      <p:sp>
        <p:nvSpPr>
          <p:cNvPr id="8" name="Shape 5"/>
          <p:cNvSpPr/>
          <p:nvPr/>
        </p:nvSpPr>
        <p:spPr>
          <a:xfrm>
            <a:off x="521208" y="1751076"/>
            <a:ext cx="292608" cy="292608"/>
          </a:xfrm>
          <a:prstGeom prst="ellipse">
            <a:avLst/>
          </a:prstGeom>
          <a:solidFill>
            <a:srgbClr val="E3F4F1"/>
          </a:solidFill>
          <a:ln w="12700">
            <a:solidFill>
              <a:srgbClr val="E3F4F1"/>
            </a:solidFill>
            <a:prstDash val="solid"/>
          </a:ln>
        </p:spPr>
      </p:sp>
      <p:pic>
        <p:nvPicPr>
          <p:cNvPr id="9" name="Image 0" descr="preencoded.png">    </p:cNvPr>
          <p:cNvPicPr>
            <a:picLocks noChangeAspect="1"/>
          </p:cNvPicPr>
          <p:nvPr/>
        </p:nvPicPr>
        <p:blipFill>
          <a:blip r:embed="rId1"/>
          <a:stretch>
            <a:fillRect/>
          </a:stretch>
        </p:blipFill>
        <p:spPr>
          <a:xfrm>
            <a:off x="591434" y="1821302"/>
            <a:ext cx="152156" cy="152156"/>
          </a:xfrm>
          <a:prstGeom prst="rect">
            <a:avLst/>
          </a:prstGeom>
        </p:spPr>
      </p:pic>
      <p:sp>
        <p:nvSpPr>
          <p:cNvPr id="10" name="Text 6"/>
          <p:cNvSpPr txBox="1"/>
          <p:nvPr/>
        </p:nvSpPr>
        <p:spPr>
          <a:xfrm>
            <a:off x="914400" y="1645920"/>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Cleaner's Travel Journey (CTJ)</a:t>
            </a:r>
            <a:endParaRPr lang="en-US" sz="1050" dirty="0"/>
          </a:p>
        </p:txBody>
      </p:sp>
      <p:sp>
        <p:nvSpPr>
          <p:cNvPr id="11" name="Shape 7"/>
          <p:cNvSpPr/>
          <p:nvPr/>
        </p:nvSpPr>
        <p:spPr>
          <a:xfrm>
            <a:off x="411480" y="2221992"/>
            <a:ext cx="4023360" cy="502920"/>
          </a:xfrm>
          <a:prstGeom prst="roundRect">
            <a:avLst>
              <a:gd name="adj" fmla="val 14545"/>
            </a:avLst>
          </a:prstGeom>
          <a:solidFill>
            <a:srgbClr val="FFFFFF"/>
          </a:solidFill>
          <a:ln w="9525">
            <a:solidFill>
              <a:srgbClr val="DCE1E7"/>
            </a:solidFill>
            <a:prstDash val="solid"/>
          </a:ln>
        </p:spPr>
      </p:sp>
      <p:sp>
        <p:nvSpPr>
          <p:cNvPr id="12" name="Shape 8"/>
          <p:cNvSpPr/>
          <p:nvPr/>
        </p:nvSpPr>
        <p:spPr>
          <a:xfrm>
            <a:off x="521208" y="2327148"/>
            <a:ext cx="292608" cy="29260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591434" y="2397374"/>
            <a:ext cx="152156" cy="152156"/>
          </a:xfrm>
          <a:prstGeom prst="rect">
            <a:avLst/>
          </a:prstGeom>
        </p:spPr>
      </p:pic>
      <p:sp>
        <p:nvSpPr>
          <p:cNvPr id="14" name="Text 9"/>
          <p:cNvSpPr txBox="1"/>
          <p:nvPr/>
        </p:nvSpPr>
        <p:spPr>
          <a:xfrm>
            <a:off x="914400" y="2221992"/>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C/CP messages and account activity</a:t>
            </a:r>
            <a:endParaRPr lang="en-US" sz="1050" dirty="0"/>
          </a:p>
        </p:txBody>
      </p:sp>
      <p:sp>
        <p:nvSpPr>
          <p:cNvPr id="15" name="Shape 10"/>
          <p:cNvSpPr/>
          <p:nvPr/>
        </p:nvSpPr>
        <p:spPr>
          <a:xfrm>
            <a:off x="411480" y="2798064"/>
            <a:ext cx="4023360" cy="502920"/>
          </a:xfrm>
          <a:prstGeom prst="roundRect">
            <a:avLst>
              <a:gd name="adj" fmla="val 14545"/>
            </a:avLst>
          </a:prstGeom>
          <a:solidFill>
            <a:srgbClr val="FFFFFF"/>
          </a:solidFill>
          <a:ln w="9525">
            <a:solidFill>
              <a:srgbClr val="DCE1E7"/>
            </a:solidFill>
            <a:prstDash val="solid"/>
          </a:ln>
        </p:spPr>
      </p:sp>
      <p:sp>
        <p:nvSpPr>
          <p:cNvPr id="16" name="Shape 11"/>
          <p:cNvSpPr/>
          <p:nvPr/>
        </p:nvSpPr>
        <p:spPr>
          <a:xfrm>
            <a:off x="521208" y="2903220"/>
            <a:ext cx="292608" cy="292608"/>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591434" y="2973446"/>
            <a:ext cx="152156" cy="152156"/>
          </a:xfrm>
          <a:prstGeom prst="rect">
            <a:avLst/>
          </a:prstGeom>
        </p:spPr>
      </p:pic>
      <p:sp>
        <p:nvSpPr>
          <p:cNvPr id="18" name="Text 12"/>
          <p:cNvSpPr txBox="1"/>
          <p:nvPr/>
        </p:nvSpPr>
        <p:spPr>
          <a:xfrm>
            <a:off x="914400" y="2798064"/>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Job History timestamps</a:t>
            </a:r>
            <a:endParaRPr lang="en-US" sz="1050" dirty="0"/>
          </a:p>
        </p:txBody>
      </p:sp>
      <p:sp>
        <p:nvSpPr>
          <p:cNvPr id="19" name="Shape 13"/>
          <p:cNvSpPr/>
          <p:nvPr/>
        </p:nvSpPr>
        <p:spPr>
          <a:xfrm>
            <a:off x="411480" y="3374136"/>
            <a:ext cx="4023360" cy="502920"/>
          </a:xfrm>
          <a:prstGeom prst="roundRect">
            <a:avLst>
              <a:gd name="adj" fmla="val 14545"/>
            </a:avLst>
          </a:prstGeom>
          <a:solidFill>
            <a:srgbClr val="FFFFFF"/>
          </a:solidFill>
          <a:ln w="9525">
            <a:solidFill>
              <a:srgbClr val="DCE1E7"/>
            </a:solidFill>
            <a:prstDash val="solid"/>
          </a:ln>
        </p:spPr>
      </p:sp>
      <p:sp>
        <p:nvSpPr>
          <p:cNvPr id="20" name="Shape 14"/>
          <p:cNvSpPr/>
          <p:nvPr/>
        </p:nvSpPr>
        <p:spPr>
          <a:xfrm>
            <a:off x="521208" y="3479292"/>
            <a:ext cx="292608" cy="292608"/>
          </a:xfrm>
          <a:prstGeom prst="ellipse">
            <a:avLst/>
          </a:prstGeom>
          <a:solidFill>
            <a:srgbClr val="E3F4F1"/>
          </a:solidFill>
          <a:ln w="12700">
            <a:solidFill>
              <a:srgbClr val="E3F4F1"/>
            </a:solidFill>
            <a:prstDash val="solid"/>
          </a:ln>
        </p:spPr>
      </p:sp>
      <p:pic>
        <p:nvPicPr>
          <p:cNvPr id="21" name="Image 3" descr="preencoded.png">    </p:cNvPr>
          <p:cNvPicPr>
            <a:picLocks noChangeAspect="1"/>
          </p:cNvPicPr>
          <p:nvPr/>
        </p:nvPicPr>
        <p:blipFill>
          <a:blip r:embed="rId4"/>
          <a:stretch>
            <a:fillRect/>
          </a:stretch>
        </p:blipFill>
        <p:spPr>
          <a:xfrm>
            <a:off x="591434" y="3549518"/>
            <a:ext cx="152156" cy="152156"/>
          </a:xfrm>
          <a:prstGeom prst="rect">
            <a:avLst/>
          </a:prstGeom>
        </p:spPr>
      </p:pic>
      <p:sp>
        <p:nvSpPr>
          <p:cNvPr id="22" name="Text 15"/>
          <p:cNvSpPr txBox="1"/>
          <p:nvPr/>
        </p:nvSpPr>
        <p:spPr>
          <a:xfrm>
            <a:off x="914400" y="3374136"/>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C/CP reviews of each other</a:t>
            </a:r>
            <a:endParaRPr lang="en-US" sz="1050" dirty="0"/>
          </a:p>
        </p:txBody>
      </p:sp>
      <p:sp>
        <p:nvSpPr>
          <p:cNvPr id="23" name="Shape 16"/>
          <p:cNvSpPr/>
          <p:nvPr/>
        </p:nvSpPr>
        <p:spPr>
          <a:xfrm>
            <a:off x="4663440" y="1371600"/>
            <a:ext cx="4069080" cy="2148840"/>
          </a:xfrm>
          <a:prstGeom prst="roundRect">
            <a:avLst>
              <a:gd name="adj" fmla="val 3404"/>
            </a:avLst>
          </a:prstGeom>
          <a:solidFill>
            <a:srgbClr val="FFFFFF"/>
          </a:solidFill>
          <a:ln w="9525">
            <a:solidFill>
              <a:srgbClr val="DCE1E7"/>
            </a:solidFill>
            <a:prstDash val="solid"/>
          </a:ln>
        </p:spPr>
      </p:sp>
      <p:sp>
        <p:nvSpPr>
          <p:cNvPr id="24" name="Shape 17"/>
          <p:cNvSpPr/>
          <p:nvPr/>
        </p:nvSpPr>
        <p:spPr>
          <a:xfrm>
            <a:off x="4828032" y="1536192"/>
            <a:ext cx="329184" cy="329184"/>
          </a:xfrm>
          <a:prstGeom prst="ellipse">
            <a:avLst/>
          </a:prstGeom>
          <a:solidFill>
            <a:srgbClr val="E3F4F1"/>
          </a:solidFill>
          <a:ln w="12700">
            <a:solidFill>
              <a:srgbClr val="E3F4F1"/>
            </a:solidFill>
            <a:prstDash val="solid"/>
          </a:ln>
        </p:spPr>
      </p:sp>
      <p:pic>
        <p:nvPicPr>
          <p:cNvPr id="25" name="Image 4" descr="preencoded.png">    </p:cNvPr>
          <p:cNvPicPr>
            <a:picLocks noChangeAspect="1"/>
          </p:cNvPicPr>
          <p:nvPr/>
        </p:nvPicPr>
        <p:blipFill>
          <a:blip r:embed="rId5"/>
          <a:stretch>
            <a:fillRect/>
          </a:stretch>
        </p:blipFill>
        <p:spPr>
          <a:xfrm>
            <a:off x="4907036" y="1615196"/>
            <a:ext cx="171176" cy="171176"/>
          </a:xfrm>
          <a:prstGeom prst="rect">
            <a:avLst/>
          </a:prstGeom>
        </p:spPr>
      </p:pic>
      <p:sp>
        <p:nvSpPr>
          <p:cNvPr id="26" name="Text 18"/>
          <p:cNvSpPr txBox="1"/>
          <p:nvPr/>
        </p:nvSpPr>
        <p:spPr>
          <a:xfrm>
            <a:off x="4828032" y="1975104"/>
            <a:ext cx="373989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Customer evidence counts</a:t>
            </a:r>
            <a:endParaRPr lang="en-US" sz="1200" dirty="0"/>
          </a:p>
        </p:txBody>
      </p:sp>
      <p:sp>
        <p:nvSpPr>
          <p:cNvPr id="27" name="Text 19"/>
          <p:cNvSpPr txBox="1"/>
          <p:nvPr/>
        </p:nvSpPr>
        <p:spPr>
          <a:xfrm>
            <a:off x="4828032" y="2267712"/>
            <a:ext cx="3739896" cy="11612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Ring camera clip or a timestamped photo counts the same as a CTJ record, as long as it's legitimate. You don't need the cleaner's proof first.</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you find decides the branch</a:t>
            </a:r>
            <a:endParaRPr lang="en-US" sz="2400" dirty="0"/>
          </a:p>
        </p:txBody>
      </p:sp>
      <p:sp>
        <p:nvSpPr>
          <p:cNvPr id="5" name="Shape 2"/>
          <p:cNvSpPr/>
          <p:nvPr/>
        </p:nvSpPr>
        <p:spPr>
          <a:xfrm>
            <a:off x="411480" y="1051560"/>
            <a:ext cx="4983480" cy="566928"/>
          </a:xfrm>
          <a:prstGeom prst="roundRect">
            <a:avLst>
              <a:gd name="adj" fmla="val 12903"/>
            </a:avLst>
          </a:prstGeom>
          <a:solidFill>
            <a:srgbClr val="0B7A6F"/>
          </a:solidFill>
          <a:ln w="9525">
            <a:solidFill>
              <a:srgbClr val="0B7A6F"/>
            </a:solidFill>
            <a:prstDash val="solid"/>
          </a:ln>
        </p:spPr>
      </p:sp>
      <p:sp>
        <p:nvSpPr>
          <p:cNvPr id="6" name="Text 3"/>
          <p:cNvSpPr txBox="1"/>
          <p:nvPr/>
        </p:nvSpPr>
        <p:spPr>
          <a:xfrm>
            <a:off x="539496" y="1051560"/>
            <a:ext cx="4727448" cy="566928"/>
          </a:xfrm>
          <a:prstGeom prst="rect">
            <a:avLst/>
          </a:prstGeom>
          <a:noFill/>
          <a:ln/>
        </p:spPr>
        <p:txBody>
          <a:bodyPr wrap="square" lIns="0" tIns="0" rIns="0" bIns="0" rtlCol="0" anchor="ctr"/>
          <a:lstStyle/>
          <a:p>
            <a:pPr indent="0" marL="0">
              <a:buNone/>
            </a:pPr>
            <a:r>
              <a:rPr lang="en-US" sz="1150" b="1" dirty="0">
                <a:solidFill>
                  <a:srgbClr val="FFFFFF"/>
                </a:solidFill>
                <a:latin typeface="SF Pro Display" pitchFamily="34" charset="0"/>
                <a:ea typeface="SF Pro Display" pitchFamily="34" charset="-122"/>
                <a:cs typeface="SF Pro Display" pitchFamily="34" charset="-120"/>
              </a:rPr>
              <a:t>Branch A: clear evidence present</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691640"/>
          <a:ext cx="4983480" cy="914400"/>
        </p:xfrm>
        <a:graphic>
          <a:graphicData uri="http://schemas.openxmlformats.org/drawingml/2006/table">
            <a:tbl>
              <a:tblPr/>
              <a:tblGrid>
                <a:gridCol w="2148840"/>
                <a:gridCol w="2834640"/>
              </a:tblGrid>
              <a:tr h="0">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What you find</a:t>
                      </a:r>
                      <a:endParaRPr lang="en-US" sz="800" dirty="0">
                        <a:latin typeface="SF Pro Display" charset="0"/>
                        <a:ea typeface="SF Pro Display" charset="0"/>
                        <a:cs typeface="SF Pro Display"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What it means</a:t>
                      </a:r>
                      <a:endParaRPr lang="en-US" sz="800" dirty="0">
                        <a:latin typeface="SF Pro Display" charset="0"/>
                        <a:ea typeface="SF Pro Display" charset="0"/>
                        <a:cs typeface="SF Pro Display"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CTJ shorter than hours invoiced</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Clear evidence of overcharge → go to Branch A</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Customer supplies valid evidence of the actual duration (e.g. Ring camera, timestamped photo)</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Treat it as you would a CTJ record → go to Branch A, refunding only the hours the evidence supports</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Cleaner acknowledges overcharge in messages</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Clear evidence → go to Branch A</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Cleaner already issued a refund in response to the complaint</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Supports the overcharge claim (people rarely refund for something they didn't do) → go to Branch A</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Customer claims a shorter cleaning duration than what you found during your investigation</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CTJ confirms there is an overcharge, regardless of whether it matches the hours reported by the customer → go to Branch A (only refund the hours that are clearly supported by the CTJ)</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8" name="Shape 4"/>
          <p:cNvSpPr/>
          <p:nvPr/>
        </p:nvSpPr>
        <p:spPr>
          <a:xfrm>
            <a:off x="5532120" y="1051560"/>
            <a:ext cx="3200400" cy="566928"/>
          </a:xfrm>
          <a:prstGeom prst="roundRect">
            <a:avLst>
              <a:gd name="adj" fmla="val 12903"/>
            </a:avLst>
          </a:prstGeom>
          <a:solidFill>
            <a:srgbClr val="0B7A6F"/>
          </a:solidFill>
          <a:ln w="9525">
            <a:solidFill>
              <a:srgbClr val="0B7A6F"/>
            </a:solidFill>
            <a:prstDash val="solid"/>
          </a:ln>
        </p:spPr>
      </p:sp>
      <p:sp>
        <p:nvSpPr>
          <p:cNvPr id="9" name="Text 5"/>
          <p:cNvSpPr txBox="1"/>
          <p:nvPr/>
        </p:nvSpPr>
        <p:spPr>
          <a:xfrm>
            <a:off x="5660136" y="1051560"/>
            <a:ext cx="2944368" cy="566928"/>
          </a:xfrm>
          <a:prstGeom prst="rect">
            <a:avLst/>
          </a:prstGeom>
          <a:noFill/>
          <a:ln/>
        </p:spPr>
        <p:txBody>
          <a:bodyPr wrap="square" lIns="0" tIns="0" rIns="0" bIns="0" rtlCol="0" anchor="ctr"/>
          <a:lstStyle/>
          <a:p>
            <a:pPr indent="0" marL="0">
              <a:buNone/>
            </a:pPr>
            <a:r>
              <a:rPr lang="en-US" sz="1150" b="1" dirty="0">
                <a:solidFill>
                  <a:srgbClr val="FFFFFF"/>
                </a:solidFill>
                <a:latin typeface="SF Pro Display" pitchFamily="34" charset="0"/>
                <a:ea typeface="SF Pro Display" pitchFamily="34" charset="-122"/>
                <a:cs typeface="SF Pro Display" pitchFamily="34" charset="-120"/>
              </a:rPr>
              <a:t>Branch B: no clear evidence</a:t>
            </a:r>
            <a:endParaRPr lang="en-US" sz="11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532120" y="1691640"/>
          <a:ext cx="3200400" cy="914400"/>
        </p:xfrm>
        <a:graphic>
          <a:graphicData uri="http://schemas.openxmlformats.org/drawingml/2006/table">
            <a:tbl>
              <a:tblPr/>
              <a:tblGrid>
                <a:gridCol w="1417320"/>
                <a:gridCol w="1783080"/>
              </a:tblGrid>
              <a:tr h="0">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What you find</a:t>
                      </a:r>
                      <a:endParaRPr lang="en-US" sz="800" dirty="0">
                        <a:latin typeface="SF Pro Display" charset="0"/>
                        <a:ea typeface="SF Pro Display" charset="0"/>
                        <a:cs typeface="SF Pro Display"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00" b="1" dirty="0">
                          <a:solidFill>
                            <a:srgbClr val="0B7A6F"/>
                          </a:solidFill>
                          <a:latin typeface="SF Pro Display" pitchFamily="34" charset="0"/>
                          <a:ea typeface="SF Pro Display" pitchFamily="34" charset="-122"/>
                          <a:cs typeface="SF Pro Display" pitchFamily="34" charset="-120"/>
                        </a:rPr>
                        <a:t>What it means</a:t>
                      </a:r>
                      <a:endParaRPr lang="en-US" sz="800" dirty="0">
                        <a:latin typeface="SF Pro Display" charset="0"/>
                        <a:ea typeface="SF Pro Display" charset="0"/>
                        <a:cs typeface="SF Pro Display"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Customer claims a shorter cleaning duration than what you found during your investigation</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Job history or other information sources (e.g., C/CP message timestamps) → go to Branch B</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1D1D1F"/>
                          </a:solidFill>
                          <a:latin typeface="SF Pro Text" pitchFamily="34" charset="0"/>
                          <a:ea typeface="SF Pro Text" pitchFamily="34" charset="-122"/>
                          <a:cs typeface="SF Pro Text" pitchFamily="34" charset="-120"/>
                        </a:rPr>
                        <a:t>None of the above found</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00" dirty="0">
                          <a:solidFill>
                            <a:srgbClr val="6E6E73"/>
                          </a:solidFill>
                          <a:latin typeface="SF Pro Text" pitchFamily="34" charset="0"/>
                          <a:ea typeface="SF Pro Text" pitchFamily="34" charset="-122"/>
                          <a:cs typeface="SF Pro Text" pitchFamily="34" charset="-120"/>
                        </a:rPr>
                        <a:t>No clear evidence → go to Branch B</a:t>
                      </a:r>
                      <a:endParaRPr lang="en-US" sz="800" dirty="0">
                        <a:latin typeface="SF Pro Text" charset="0"/>
                        <a:ea typeface="SF Pro Text" charset="0"/>
                        <a:cs typeface="SF Pro Text" charset="0"/>
                      </a:endParaRPr>
                    </a:p>
                  </a:txBody>
                  <a:tcPr marL="73152" marR="73152"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11" name="Shape 6"/>
          <p:cNvSpPr/>
          <p:nvPr/>
        </p:nvSpPr>
        <p:spPr>
          <a:xfrm>
            <a:off x="5532120" y="3703320"/>
            <a:ext cx="3200400" cy="868680"/>
          </a:xfrm>
          <a:prstGeom prst="roundRect">
            <a:avLst>
              <a:gd name="adj" fmla="val 8421"/>
            </a:avLst>
          </a:prstGeom>
          <a:solidFill>
            <a:srgbClr val="FFF3D6"/>
          </a:solidFill>
          <a:ln w="9525">
            <a:solidFill>
              <a:srgbClr val="FFF3D6"/>
            </a:solidFill>
            <a:prstDash val="solid"/>
          </a:ln>
        </p:spPr>
      </p:sp>
      <p:sp>
        <p:nvSpPr>
          <p:cNvPr id="12" name="Text 7"/>
          <p:cNvSpPr txBox="1"/>
          <p:nvPr/>
        </p:nvSpPr>
        <p:spPr>
          <a:xfrm>
            <a:off x="5641848" y="3703320"/>
            <a:ext cx="2999232" cy="868680"/>
          </a:xfrm>
          <a:prstGeom prst="rect">
            <a:avLst/>
          </a:prstGeom>
          <a:noFill/>
          <a:ln/>
        </p:spPr>
        <p:txBody>
          <a:bodyPr wrap="square" lIns="0" tIns="0" rIns="0" bIns="0" rtlCol="0" anchor="ctr"/>
          <a:lstStyle/>
          <a:p>
            <a:pPr indent="0" marL="0">
              <a:buNone/>
            </a:pPr>
            <a:r>
              <a:rPr lang="en-US" sz="850" b="1" dirty="0">
                <a:solidFill>
                  <a:srgbClr val="9A6410"/>
                </a:solidFill>
                <a:latin typeface="SF Pro Text" pitchFamily="34" charset="0"/>
                <a:ea typeface="SF Pro Text" pitchFamily="34" charset="-122"/>
                <a:cs typeface="SF Pro Text" pitchFamily="34" charset="-120"/>
              </a:rPr>
              <a:t>CTJ matches hours invoiced</a:t>
            </a:r>
            <a:endParaRPr lang="en-US" sz="850" dirty="0"/>
          </a:p>
          <a:p>
            <a:pPr indent="0" marL="0">
              <a:buNone/>
            </a:pPr>
            <a:r>
              <a:rPr lang="en-US" sz="850" dirty="0">
                <a:solidFill>
                  <a:srgbClr val="1D1D1F"/>
                </a:solidFill>
                <a:latin typeface="SF Pro Text" pitchFamily="34" charset="0"/>
                <a:ea typeface="SF Pro Text" pitchFamily="34" charset="-122"/>
                <a:cs typeface="SF Pro Text" pitchFamily="34" charset="-120"/>
              </a:rPr>
              <a:t>Clear evidence NO overcharge occurred → stop, no refund, address other concerns</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Branch A: clear evidence present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straight line once you're in it: refund, check for a Premium fee, then split on the 30-minute rule.</a:t>
            </a:r>
            <a:endParaRPr lang="en-US" sz="1200" dirty="0"/>
          </a:p>
        </p:txBody>
      </p:sp>
      <p:sp>
        <p:nvSpPr>
          <p:cNvPr id="6" name="Shape 3"/>
          <p:cNvSpPr/>
          <p:nvPr/>
        </p:nvSpPr>
        <p:spPr>
          <a:xfrm>
            <a:off x="3337560" y="1325880"/>
            <a:ext cx="2468880" cy="420624"/>
          </a:xfrm>
          <a:prstGeom prst="roundRect">
            <a:avLst>
              <a:gd name="adj" fmla="val 17391"/>
            </a:avLst>
          </a:prstGeom>
          <a:solidFill>
            <a:srgbClr val="0B7A6F"/>
          </a:solidFill>
          <a:ln w="12700">
            <a:solidFill>
              <a:srgbClr val="0B7A6F"/>
            </a:solidFill>
            <a:prstDash val="solid"/>
          </a:ln>
        </p:spPr>
      </p:sp>
      <p:sp>
        <p:nvSpPr>
          <p:cNvPr id="7" name="Text 4"/>
          <p:cNvSpPr txBox="1"/>
          <p:nvPr/>
        </p:nvSpPr>
        <p:spPr>
          <a:xfrm>
            <a:off x="3337560" y="1325880"/>
            <a:ext cx="2468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Refund via CP Dashboard</a:t>
            </a:r>
            <a:endParaRPr lang="en-US" sz="1000" dirty="0"/>
          </a:p>
        </p:txBody>
      </p:sp>
      <p:sp>
        <p:nvSpPr>
          <p:cNvPr id="8" name="Shape 5"/>
          <p:cNvSpPr/>
          <p:nvPr/>
        </p:nvSpPr>
        <p:spPr>
          <a:xfrm>
            <a:off x="4572000" y="1746504"/>
            <a:ext cx="0" cy="155448"/>
          </a:xfrm>
          <a:prstGeom prst="line">
            <a:avLst/>
          </a:prstGeom>
          <a:noFill/>
          <a:ln w="12700">
            <a:solidFill>
              <a:srgbClr val="6E6E73"/>
            </a:solidFill>
            <a:prstDash val="solid"/>
            <a:tailEnd type="triangle"/>
          </a:ln>
        </p:spPr>
      </p:sp>
      <p:sp>
        <p:nvSpPr>
          <p:cNvPr id="9" name="Shape 6"/>
          <p:cNvSpPr/>
          <p:nvPr/>
        </p:nvSpPr>
        <p:spPr>
          <a:xfrm>
            <a:off x="3337560" y="1901952"/>
            <a:ext cx="2468880" cy="420624"/>
          </a:xfrm>
          <a:prstGeom prst="roundRect">
            <a:avLst>
              <a:gd name="adj" fmla="val 17391"/>
            </a:avLst>
          </a:prstGeom>
          <a:solidFill>
            <a:srgbClr val="0B7A6F"/>
          </a:solidFill>
          <a:ln w="12700">
            <a:solidFill>
              <a:srgbClr val="0B7A6F"/>
            </a:solidFill>
            <a:prstDash val="solid"/>
          </a:ln>
        </p:spPr>
      </p:sp>
      <p:sp>
        <p:nvSpPr>
          <p:cNvPr id="10" name="Text 7"/>
          <p:cNvSpPr txBox="1"/>
          <p:nvPr/>
        </p:nvSpPr>
        <p:spPr>
          <a:xfrm>
            <a:off x="3337560" y="1901952"/>
            <a:ext cx="2468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Check for Premium fee</a:t>
            </a:r>
            <a:endParaRPr lang="en-US" sz="1000" dirty="0"/>
          </a:p>
        </p:txBody>
      </p:sp>
      <p:sp>
        <p:nvSpPr>
          <p:cNvPr id="11" name="Shape 8"/>
          <p:cNvSpPr/>
          <p:nvPr/>
        </p:nvSpPr>
        <p:spPr>
          <a:xfrm>
            <a:off x="4572000" y="2322576"/>
            <a:ext cx="0" cy="155448"/>
          </a:xfrm>
          <a:prstGeom prst="line">
            <a:avLst/>
          </a:prstGeom>
          <a:noFill/>
          <a:ln w="12700">
            <a:solidFill>
              <a:srgbClr val="6E6E73"/>
            </a:solidFill>
            <a:prstDash val="solid"/>
            <a:tailEnd type="triangle"/>
          </a:ln>
        </p:spPr>
      </p:sp>
      <p:sp>
        <p:nvSpPr>
          <p:cNvPr id="12" name="Shape 9"/>
          <p:cNvSpPr/>
          <p:nvPr/>
        </p:nvSpPr>
        <p:spPr>
          <a:xfrm>
            <a:off x="3337560" y="2478024"/>
            <a:ext cx="2468880" cy="420624"/>
          </a:xfrm>
          <a:prstGeom prst="roundRect">
            <a:avLst>
              <a:gd name="adj" fmla="val 17391"/>
            </a:avLst>
          </a:prstGeom>
          <a:solidFill>
            <a:srgbClr val="FFF3D6"/>
          </a:solidFill>
          <a:ln w="12700">
            <a:solidFill>
              <a:srgbClr val="9A6410"/>
            </a:solidFill>
            <a:prstDash val="solid"/>
          </a:ln>
        </p:spPr>
      </p:sp>
      <p:sp>
        <p:nvSpPr>
          <p:cNvPr id="13" name="Text 10"/>
          <p:cNvSpPr txBox="1"/>
          <p:nvPr/>
        </p:nvSpPr>
        <p:spPr>
          <a:xfrm>
            <a:off x="3337560" y="2478024"/>
            <a:ext cx="2468880" cy="420624"/>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Overcharged ≥ 30 min?</a:t>
            </a:r>
            <a:endParaRPr lang="en-US" sz="1000" dirty="0"/>
          </a:p>
        </p:txBody>
      </p:sp>
      <p:sp>
        <p:nvSpPr>
          <p:cNvPr id="14" name="Shape 11"/>
          <p:cNvSpPr/>
          <p:nvPr/>
        </p:nvSpPr>
        <p:spPr>
          <a:xfrm>
            <a:off x="4572000" y="2898648"/>
            <a:ext cx="0" cy="228600"/>
          </a:xfrm>
          <a:prstGeom prst="line">
            <a:avLst/>
          </a:prstGeom>
          <a:noFill/>
          <a:ln w="12700">
            <a:solidFill>
              <a:srgbClr val="6E6E73"/>
            </a:solidFill>
            <a:prstDash val="solid"/>
          </a:ln>
        </p:spPr>
      </p:sp>
      <p:sp>
        <p:nvSpPr>
          <p:cNvPr id="15" name="Shape 12"/>
          <p:cNvSpPr/>
          <p:nvPr/>
        </p:nvSpPr>
        <p:spPr>
          <a:xfrm>
            <a:off x="2240280" y="3127248"/>
            <a:ext cx="4663440" cy="0"/>
          </a:xfrm>
          <a:prstGeom prst="line">
            <a:avLst/>
          </a:prstGeom>
          <a:noFill/>
          <a:ln w="12700">
            <a:solidFill>
              <a:srgbClr val="6E6E73"/>
            </a:solidFill>
            <a:prstDash val="solid"/>
          </a:ln>
        </p:spPr>
      </p:sp>
      <p:sp>
        <p:nvSpPr>
          <p:cNvPr id="16" name="Shape 13"/>
          <p:cNvSpPr/>
          <p:nvPr/>
        </p:nvSpPr>
        <p:spPr>
          <a:xfrm>
            <a:off x="2240280" y="3127248"/>
            <a:ext cx="0" cy="301752"/>
          </a:xfrm>
          <a:prstGeom prst="line">
            <a:avLst/>
          </a:prstGeom>
          <a:noFill/>
          <a:ln w="12700">
            <a:solidFill>
              <a:srgbClr val="6E6E73"/>
            </a:solidFill>
            <a:prstDash val="solid"/>
            <a:tailEnd type="triangle"/>
          </a:ln>
        </p:spPr>
      </p:sp>
      <p:sp>
        <p:nvSpPr>
          <p:cNvPr id="17" name="Shape 14"/>
          <p:cNvSpPr/>
          <p:nvPr/>
        </p:nvSpPr>
        <p:spPr>
          <a:xfrm>
            <a:off x="6903720" y="3127248"/>
            <a:ext cx="0" cy="301752"/>
          </a:xfrm>
          <a:prstGeom prst="line">
            <a:avLst/>
          </a:prstGeom>
          <a:noFill/>
          <a:ln w="12700">
            <a:solidFill>
              <a:srgbClr val="6E6E73"/>
            </a:solidFill>
            <a:prstDash val="solid"/>
            <a:tailEnd type="triangle"/>
          </a:ln>
        </p:spPr>
      </p:sp>
      <p:sp>
        <p:nvSpPr>
          <p:cNvPr id="18" name="Text 15"/>
          <p:cNvSpPr txBox="1"/>
          <p:nvPr/>
        </p:nvSpPr>
        <p:spPr>
          <a:xfrm>
            <a:off x="2313432" y="3145536"/>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9" name="Text 16"/>
          <p:cNvSpPr txBox="1"/>
          <p:nvPr/>
        </p:nvSpPr>
        <p:spPr>
          <a:xfrm>
            <a:off x="6976872" y="3145536"/>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20" name="Shape 17"/>
          <p:cNvSpPr/>
          <p:nvPr/>
        </p:nvSpPr>
        <p:spPr>
          <a:xfrm>
            <a:off x="1005840" y="3429000"/>
            <a:ext cx="2468880" cy="420624"/>
          </a:xfrm>
          <a:prstGeom prst="roundRect">
            <a:avLst>
              <a:gd name="adj" fmla="val 17391"/>
            </a:avLst>
          </a:prstGeom>
          <a:solidFill>
            <a:srgbClr val="1D1D1F"/>
          </a:solidFill>
          <a:ln w="12700">
            <a:solidFill>
              <a:srgbClr val="1D1D1F"/>
            </a:solidFill>
            <a:prstDash val="solid"/>
          </a:ln>
        </p:spPr>
      </p:sp>
      <p:sp>
        <p:nvSpPr>
          <p:cNvPr id="21" name="Text 18"/>
          <p:cNvSpPr txBox="1"/>
          <p:nvPr/>
        </p:nvSpPr>
        <p:spPr>
          <a:xfrm>
            <a:off x="1005840" y="3429000"/>
            <a:ext cx="2468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Flag, ban, penalize</a:t>
            </a:r>
            <a:endParaRPr lang="en-US" sz="1000" dirty="0"/>
          </a:p>
        </p:txBody>
      </p:sp>
      <p:sp>
        <p:nvSpPr>
          <p:cNvPr id="22" name="Shape 19"/>
          <p:cNvSpPr/>
          <p:nvPr/>
        </p:nvSpPr>
        <p:spPr>
          <a:xfrm>
            <a:off x="5669280" y="3429000"/>
            <a:ext cx="2468880" cy="420624"/>
          </a:xfrm>
          <a:prstGeom prst="roundRect">
            <a:avLst>
              <a:gd name="adj" fmla="val 17391"/>
            </a:avLst>
          </a:prstGeom>
          <a:solidFill>
            <a:srgbClr val="FFFFFF"/>
          </a:solidFill>
          <a:ln w="12700">
            <a:solidFill>
              <a:srgbClr val="DCE1E7"/>
            </a:solidFill>
            <a:prstDash val="solid"/>
          </a:ln>
        </p:spPr>
      </p:sp>
      <p:sp>
        <p:nvSpPr>
          <p:cNvPr id="23" name="Text 20"/>
          <p:cNvSpPr txBox="1"/>
          <p:nvPr/>
        </p:nvSpPr>
        <p:spPr>
          <a:xfrm>
            <a:off x="5669280" y="3429000"/>
            <a:ext cx="2468880" cy="420624"/>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Ban the pairing</a:t>
            </a:r>
            <a:endParaRPr lang="en-US" sz="1000" dirty="0"/>
          </a:p>
        </p:txBody>
      </p:sp>
      <p:sp>
        <p:nvSpPr>
          <p:cNvPr id="24" name="Text 21"/>
          <p:cNvSpPr txBox="1"/>
          <p:nvPr/>
        </p:nvSpPr>
        <p:spPr>
          <a:xfrm>
            <a:off x="777240" y="3904488"/>
            <a:ext cx="2926080" cy="411480"/>
          </a:xfrm>
          <a:prstGeom prst="rect">
            <a:avLst/>
          </a:prstGeom>
          <a:noFill/>
          <a:ln/>
        </p:spPr>
        <p:txBody>
          <a:bodyPr wrap="square" lIns="0" tIns="0" rIns="0" bIns="0" rtlCol="0" anchor="t"/>
          <a:lstStyle/>
          <a:p>
            <a:pPr algn="ctr" indent="0" marL="0">
              <a:buNone/>
            </a:pPr>
            <a:r>
              <a:rPr lang="en-US" sz="850" dirty="0">
                <a:solidFill>
                  <a:srgbClr val="6E6E73"/>
                </a:solidFill>
                <a:latin typeface="SF Pro Text" pitchFamily="34" charset="0"/>
                <a:ea typeface="SF Pro Text" pitchFamily="34" charset="-122"/>
                <a:cs typeface="SF Pro Text" pitchFamily="34" charset="-120"/>
              </a:rPr>
              <a:t>cp_overcharged_hours flag  → norequests status  → ban the pairing  → send comms to C &amp; CP</a:t>
            </a:r>
            <a:endParaRPr lang="en-US" sz="850" dirty="0"/>
          </a:p>
        </p:txBody>
      </p:sp>
      <p:sp>
        <p:nvSpPr>
          <p:cNvPr id="25" name="Text 22"/>
          <p:cNvSpPr txBox="1"/>
          <p:nvPr/>
        </p:nvSpPr>
        <p:spPr>
          <a:xfrm>
            <a:off x="5440680" y="3904488"/>
            <a:ext cx="2926080" cy="411480"/>
          </a:xfrm>
          <a:prstGeom prst="rect">
            <a:avLst/>
          </a:prstGeom>
          <a:noFill/>
          <a:ln/>
        </p:spPr>
        <p:txBody>
          <a:bodyPr wrap="square" lIns="0" tIns="0" rIns="0" bIns="0" rtlCol="0" anchor="t"/>
          <a:lstStyle/>
          <a:p>
            <a:pPr algn="ctr" indent="0" marL="0">
              <a:buNone/>
            </a:pPr>
            <a:r>
              <a:rPr lang="en-US" sz="850" dirty="0">
                <a:solidFill>
                  <a:srgbClr val="6E6E73"/>
                </a:solidFill>
                <a:latin typeface="SF Pro Text" pitchFamily="34" charset="0"/>
                <a:ea typeface="SF Pro Text" pitchFamily="34" charset="-122"/>
                <a:cs typeface="SF Pro Text" pitchFamily="34" charset="-120"/>
              </a:rPr>
              <a:t>Comms to both. Done: no flag, no penalty.</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Branch B: no clear evidence present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Takes longer: it pauses while we wait on the CP, and picks back up when the Timed Reminder triggers.</a:t>
            </a:r>
            <a:endParaRPr lang="en-US" sz="1200" dirty="0"/>
          </a:p>
        </p:txBody>
      </p:sp>
      <p:sp>
        <p:nvSpPr>
          <p:cNvPr id="6" name="Shape 3"/>
          <p:cNvSpPr/>
          <p:nvPr/>
        </p:nvSpPr>
        <p:spPr>
          <a:xfrm>
            <a:off x="2971800" y="1298448"/>
            <a:ext cx="3200400" cy="502920"/>
          </a:xfrm>
          <a:prstGeom prst="roundRect">
            <a:avLst>
              <a:gd name="adj" fmla="val 14545"/>
            </a:avLst>
          </a:prstGeom>
          <a:solidFill>
            <a:srgbClr val="FFF3D6"/>
          </a:solidFill>
          <a:ln w="12700">
            <a:solidFill>
              <a:srgbClr val="9A6410"/>
            </a:solidFill>
            <a:prstDash val="solid"/>
          </a:ln>
        </p:spPr>
      </p:sp>
      <p:sp>
        <p:nvSpPr>
          <p:cNvPr id="7" name="Text 4"/>
          <p:cNvSpPr txBox="1"/>
          <p:nvPr/>
        </p:nvSpPr>
        <p:spPr>
          <a:xfrm>
            <a:off x="2971800" y="1298448"/>
            <a:ext cx="3200400" cy="50292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CP suspended + DNR due to multiple overcharged hours?</a:t>
            </a:r>
            <a:endParaRPr lang="en-US" sz="1000" dirty="0"/>
          </a:p>
        </p:txBody>
      </p:sp>
      <p:sp>
        <p:nvSpPr>
          <p:cNvPr id="8" name="Shape 5"/>
          <p:cNvSpPr/>
          <p:nvPr/>
        </p:nvSpPr>
        <p:spPr>
          <a:xfrm>
            <a:off x="4572000" y="1801368"/>
            <a:ext cx="0" cy="210312"/>
          </a:xfrm>
          <a:prstGeom prst="line">
            <a:avLst/>
          </a:prstGeom>
          <a:noFill/>
          <a:ln w="12700">
            <a:solidFill>
              <a:srgbClr val="6E6E73"/>
            </a:solidFill>
            <a:prstDash val="solid"/>
          </a:ln>
        </p:spPr>
      </p:sp>
      <p:sp>
        <p:nvSpPr>
          <p:cNvPr id="9" name="Shape 6"/>
          <p:cNvSpPr/>
          <p:nvPr/>
        </p:nvSpPr>
        <p:spPr>
          <a:xfrm>
            <a:off x="2743200" y="2011680"/>
            <a:ext cx="4206240" cy="0"/>
          </a:xfrm>
          <a:prstGeom prst="line">
            <a:avLst/>
          </a:prstGeom>
          <a:noFill/>
          <a:ln w="12700">
            <a:solidFill>
              <a:srgbClr val="6E6E73"/>
            </a:solidFill>
            <a:prstDash val="solid"/>
          </a:ln>
        </p:spPr>
      </p:sp>
      <p:sp>
        <p:nvSpPr>
          <p:cNvPr id="10" name="Shape 7"/>
          <p:cNvSpPr/>
          <p:nvPr/>
        </p:nvSpPr>
        <p:spPr>
          <a:xfrm>
            <a:off x="2743200" y="2011680"/>
            <a:ext cx="0" cy="228600"/>
          </a:xfrm>
          <a:prstGeom prst="line">
            <a:avLst/>
          </a:prstGeom>
          <a:noFill/>
          <a:ln w="12700">
            <a:solidFill>
              <a:srgbClr val="6E6E73"/>
            </a:solidFill>
            <a:prstDash val="solid"/>
            <a:tailEnd type="triangle"/>
          </a:ln>
        </p:spPr>
      </p:sp>
      <p:sp>
        <p:nvSpPr>
          <p:cNvPr id="11" name="Shape 8"/>
          <p:cNvSpPr/>
          <p:nvPr/>
        </p:nvSpPr>
        <p:spPr>
          <a:xfrm>
            <a:off x="6949440" y="2011680"/>
            <a:ext cx="0" cy="228600"/>
          </a:xfrm>
          <a:prstGeom prst="line">
            <a:avLst/>
          </a:prstGeom>
          <a:noFill/>
          <a:ln w="12700">
            <a:solidFill>
              <a:srgbClr val="6E6E73"/>
            </a:solidFill>
            <a:prstDash val="solid"/>
            <a:tailEnd type="triangle"/>
          </a:ln>
        </p:spPr>
      </p:sp>
      <p:sp>
        <p:nvSpPr>
          <p:cNvPr id="12" name="Text 9"/>
          <p:cNvSpPr txBox="1"/>
          <p:nvPr/>
        </p:nvSpPr>
        <p:spPr>
          <a:xfrm>
            <a:off x="2816352" y="2029968"/>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13" name="Text 10"/>
          <p:cNvSpPr txBox="1"/>
          <p:nvPr/>
        </p:nvSpPr>
        <p:spPr>
          <a:xfrm>
            <a:off x="7022592" y="2029968"/>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4" name="Shape 11"/>
          <p:cNvSpPr/>
          <p:nvPr/>
        </p:nvSpPr>
        <p:spPr>
          <a:xfrm>
            <a:off x="1463040" y="2240280"/>
            <a:ext cx="2560320" cy="475488"/>
          </a:xfrm>
          <a:prstGeom prst="roundRect">
            <a:avLst>
              <a:gd name="adj" fmla="val 15385"/>
            </a:avLst>
          </a:prstGeom>
          <a:solidFill>
            <a:srgbClr val="0B7A6F"/>
          </a:solidFill>
          <a:ln w="12700">
            <a:solidFill>
              <a:srgbClr val="0B7A6F"/>
            </a:solidFill>
            <a:prstDash val="solid"/>
          </a:ln>
        </p:spPr>
      </p:sp>
      <p:sp>
        <p:nvSpPr>
          <p:cNvPr id="15" name="Text 12"/>
          <p:cNvSpPr txBox="1"/>
          <p:nvPr/>
        </p:nvSpPr>
        <p:spPr>
          <a:xfrm>
            <a:off x="1463040" y="2240280"/>
            <a:ext cx="25603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Request docs</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72-hour Timed Reminder</a:t>
            </a:r>
            <a:endParaRPr lang="en-US" sz="1000" dirty="0"/>
          </a:p>
        </p:txBody>
      </p:sp>
      <p:sp>
        <p:nvSpPr>
          <p:cNvPr id="16" name="Shape 13"/>
          <p:cNvSpPr/>
          <p:nvPr/>
        </p:nvSpPr>
        <p:spPr>
          <a:xfrm>
            <a:off x="5669280" y="2240280"/>
            <a:ext cx="2560320" cy="475488"/>
          </a:xfrm>
          <a:prstGeom prst="roundRect">
            <a:avLst>
              <a:gd name="adj" fmla="val 15385"/>
            </a:avLst>
          </a:prstGeom>
          <a:solidFill>
            <a:srgbClr val="0B7A6F"/>
          </a:solidFill>
          <a:ln w="12700">
            <a:solidFill>
              <a:srgbClr val="0B7A6F"/>
            </a:solidFill>
            <a:prstDash val="solid"/>
          </a:ln>
        </p:spPr>
      </p:sp>
      <p:sp>
        <p:nvSpPr>
          <p:cNvPr id="17" name="Text 14"/>
          <p:cNvSpPr txBox="1"/>
          <p:nvPr/>
        </p:nvSpPr>
        <p:spPr>
          <a:xfrm>
            <a:off x="5669280" y="2240280"/>
            <a:ext cx="256032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Skip to Branch A</a:t>
            </a:r>
            <a:endParaRPr lang="en-US" sz="1000" dirty="0"/>
          </a:p>
        </p:txBody>
      </p:sp>
      <p:sp>
        <p:nvSpPr>
          <p:cNvPr id="18" name="Shape 15"/>
          <p:cNvSpPr/>
          <p:nvPr/>
        </p:nvSpPr>
        <p:spPr>
          <a:xfrm>
            <a:off x="2743200" y="2715768"/>
            <a:ext cx="0" cy="228600"/>
          </a:xfrm>
          <a:prstGeom prst="line">
            <a:avLst/>
          </a:prstGeom>
          <a:noFill/>
          <a:ln w="12700">
            <a:solidFill>
              <a:srgbClr val="6E6E73"/>
            </a:solidFill>
            <a:prstDash val="solid"/>
            <a:tailEnd type="triangle"/>
          </a:ln>
        </p:spPr>
      </p:sp>
      <p:sp>
        <p:nvSpPr>
          <p:cNvPr id="19" name="Shape 16"/>
          <p:cNvSpPr/>
          <p:nvPr/>
        </p:nvSpPr>
        <p:spPr>
          <a:xfrm>
            <a:off x="1463040" y="2944368"/>
            <a:ext cx="2560320" cy="475488"/>
          </a:xfrm>
          <a:prstGeom prst="roundRect">
            <a:avLst>
              <a:gd name="adj" fmla="val 15385"/>
            </a:avLst>
          </a:prstGeom>
          <a:solidFill>
            <a:srgbClr val="FFF3D6"/>
          </a:solidFill>
          <a:ln w="12700">
            <a:solidFill>
              <a:srgbClr val="9A6410"/>
            </a:solidFill>
            <a:prstDash val="solid"/>
          </a:ln>
        </p:spPr>
      </p:sp>
      <p:sp>
        <p:nvSpPr>
          <p:cNvPr id="20" name="Text 17"/>
          <p:cNvSpPr txBox="1"/>
          <p:nvPr/>
        </p:nvSpPr>
        <p:spPr>
          <a:xfrm>
            <a:off x="1463040" y="2944368"/>
            <a:ext cx="2560320" cy="475488"/>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Reminder triggers</a:t>
            </a:r>
            <a:endParaRPr lang="en-US" sz="1000" dirty="0"/>
          </a:p>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CP provided valid proof?</a:t>
            </a:r>
            <a:endParaRPr lang="en-US" sz="1000" dirty="0"/>
          </a:p>
        </p:txBody>
      </p:sp>
      <p:sp>
        <p:nvSpPr>
          <p:cNvPr id="21" name="Shape 18"/>
          <p:cNvSpPr/>
          <p:nvPr/>
        </p:nvSpPr>
        <p:spPr>
          <a:xfrm>
            <a:off x="2743200" y="3419856"/>
            <a:ext cx="0" cy="219456"/>
          </a:xfrm>
          <a:prstGeom prst="line">
            <a:avLst/>
          </a:prstGeom>
          <a:noFill/>
          <a:ln w="12700">
            <a:solidFill>
              <a:srgbClr val="6E6E73"/>
            </a:solidFill>
            <a:prstDash val="solid"/>
          </a:ln>
        </p:spPr>
      </p:sp>
      <p:sp>
        <p:nvSpPr>
          <p:cNvPr id="22" name="Shape 19"/>
          <p:cNvSpPr/>
          <p:nvPr/>
        </p:nvSpPr>
        <p:spPr>
          <a:xfrm>
            <a:off x="1508760" y="3639312"/>
            <a:ext cx="2468880" cy="0"/>
          </a:xfrm>
          <a:prstGeom prst="line">
            <a:avLst/>
          </a:prstGeom>
          <a:noFill/>
          <a:ln w="12700">
            <a:solidFill>
              <a:srgbClr val="6E6E73"/>
            </a:solidFill>
            <a:prstDash val="solid"/>
          </a:ln>
        </p:spPr>
      </p:sp>
      <p:sp>
        <p:nvSpPr>
          <p:cNvPr id="23" name="Shape 20"/>
          <p:cNvSpPr/>
          <p:nvPr/>
        </p:nvSpPr>
        <p:spPr>
          <a:xfrm>
            <a:off x="1508760" y="3639312"/>
            <a:ext cx="0" cy="384048"/>
          </a:xfrm>
          <a:prstGeom prst="line">
            <a:avLst/>
          </a:prstGeom>
          <a:noFill/>
          <a:ln w="12700">
            <a:solidFill>
              <a:srgbClr val="6E6E73"/>
            </a:solidFill>
            <a:prstDash val="solid"/>
            <a:tailEnd type="triangle"/>
          </a:ln>
        </p:spPr>
      </p:sp>
      <p:sp>
        <p:nvSpPr>
          <p:cNvPr id="24" name="Shape 21"/>
          <p:cNvSpPr/>
          <p:nvPr/>
        </p:nvSpPr>
        <p:spPr>
          <a:xfrm>
            <a:off x="3977640" y="3639312"/>
            <a:ext cx="0" cy="384048"/>
          </a:xfrm>
          <a:prstGeom prst="line">
            <a:avLst/>
          </a:prstGeom>
          <a:noFill/>
          <a:ln w="12700">
            <a:solidFill>
              <a:srgbClr val="6E6E73"/>
            </a:solidFill>
            <a:prstDash val="solid"/>
            <a:tailEnd type="triangle"/>
          </a:ln>
        </p:spPr>
      </p:sp>
      <p:sp>
        <p:nvSpPr>
          <p:cNvPr id="25" name="Text 22"/>
          <p:cNvSpPr txBox="1"/>
          <p:nvPr/>
        </p:nvSpPr>
        <p:spPr>
          <a:xfrm>
            <a:off x="1581912" y="3657600"/>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26" name="Text 23"/>
          <p:cNvSpPr txBox="1"/>
          <p:nvPr/>
        </p:nvSpPr>
        <p:spPr>
          <a:xfrm>
            <a:off x="4050792" y="3657600"/>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27" name="Shape 24"/>
          <p:cNvSpPr/>
          <p:nvPr/>
        </p:nvSpPr>
        <p:spPr>
          <a:xfrm>
            <a:off x="457200" y="4023360"/>
            <a:ext cx="2103120" cy="420624"/>
          </a:xfrm>
          <a:prstGeom prst="roundRect">
            <a:avLst>
              <a:gd name="adj" fmla="val 17391"/>
            </a:avLst>
          </a:prstGeom>
          <a:solidFill>
            <a:srgbClr val="FFFFFF"/>
          </a:solidFill>
          <a:ln w="12700">
            <a:solidFill>
              <a:srgbClr val="DCE1E7"/>
            </a:solidFill>
            <a:prstDash val="solid"/>
          </a:ln>
        </p:spPr>
      </p:sp>
      <p:sp>
        <p:nvSpPr>
          <p:cNvPr id="28" name="Text 25"/>
          <p:cNvSpPr txBox="1"/>
          <p:nvPr/>
        </p:nvSpPr>
        <p:spPr>
          <a:xfrm>
            <a:off x="457200" y="4023360"/>
            <a:ext cx="2103120" cy="420624"/>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No refund</a:t>
            </a:r>
            <a:endParaRPr lang="en-US" sz="1000" dirty="0"/>
          </a:p>
        </p:txBody>
      </p:sp>
      <p:sp>
        <p:nvSpPr>
          <p:cNvPr id="29" name="Shape 26"/>
          <p:cNvSpPr/>
          <p:nvPr/>
        </p:nvSpPr>
        <p:spPr>
          <a:xfrm>
            <a:off x="2880360" y="4023360"/>
            <a:ext cx="2194560" cy="420624"/>
          </a:xfrm>
          <a:prstGeom prst="roundRect">
            <a:avLst>
              <a:gd name="adj" fmla="val 17391"/>
            </a:avLst>
          </a:prstGeom>
          <a:solidFill>
            <a:srgbClr val="1D1D1F"/>
          </a:solidFill>
          <a:ln w="25400">
            <a:solidFill>
              <a:srgbClr val="0B7A6F"/>
            </a:solidFill>
            <a:prstDash val="solid"/>
          </a:ln>
        </p:spPr>
      </p:sp>
      <p:sp>
        <p:nvSpPr>
          <p:cNvPr id="30" name="Text 27"/>
          <p:cNvSpPr txBox="1"/>
          <p:nvPr/>
        </p:nvSpPr>
        <p:spPr>
          <a:xfrm>
            <a:off x="2880360" y="4023360"/>
            <a:ext cx="219456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Refund, then penalty check  ›</a:t>
            </a:r>
            <a:endParaRPr lang="en-US" sz="1000" dirty="0"/>
          </a:p>
        </p:txBody>
      </p:sp>
      <p:sp>
        <p:nvSpPr>
          <p:cNvPr id="31" name="Shape 28"/>
          <p:cNvSpPr/>
          <p:nvPr/>
        </p:nvSpPr>
        <p:spPr>
          <a:xfrm>
            <a:off x="4434840" y="2724912"/>
            <a:ext cx="4297680" cy="1207008"/>
          </a:xfrm>
          <a:prstGeom prst="roundRect">
            <a:avLst>
              <a:gd name="adj" fmla="val 6061"/>
            </a:avLst>
          </a:prstGeom>
          <a:solidFill>
            <a:srgbClr val="FFFFFF"/>
          </a:solidFill>
          <a:ln w="9525">
            <a:solidFill>
              <a:srgbClr val="DCE1E7"/>
            </a:solidFill>
            <a:prstDash val="solid"/>
          </a:ln>
        </p:spPr>
      </p:sp>
      <p:sp>
        <p:nvSpPr>
          <p:cNvPr id="32" name="Text 29"/>
          <p:cNvSpPr txBox="1"/>
          <p:nvPr/>
        </p:nvSpPr>
        <p:spPr>
          <a:xfrm>
            <a:off x="4572000" y="2770632"/>
            <a:ext cx="2743200" cy="256032"/>
          </a:xfrm>
          <a:prstGeom prst="rect">
            <a:avLst/>
          </a:prstGeom>
          <a:noFill/>
          <a:ln/>
        </p:spPr>
        <p:txBody>
          <a:bodyPr wrap="square" lIns="0" tIns="0" rIns="0" bIns="0" rtlCol="0" anchor="ct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Timed Reminder format</a:t>
            </a:r>
            <a:endParaRPr lang="en-US" sz="1000" dirty="0"/>
          </a:p>
        </p:txBody>
      </p:sp>
      <p:sp>
        <p:nvSpPr>
          <p:cNvPr id="33" name="Shape 30"/>
          <p:cNvSpPr/>
          <p:nvPr/>
        </p:nvSpPr>
        <p:spPr>
          <a:xfrm>
            <a:off x="7635240" y="2798064"/>
            <a:ext cx="1005840" cy="219456"/>
          </a:xfrm>
          <a:prstGeom prst="roundRect">
            <a:avLst>
              <a:gd name="adj" fmla="val 33333"/>
            </a:avLst>
          </a:prstGeom>
          <a:solidFill>
            <a:srgbClr val="FFF3D6"/>
          </a:solidFill>
          <a:ln w="9525">
            <a:solidFill>
              <a:srgbClr val="FFF3D6"/>
            </a:solidFill>
            <a:prstDash val="solid"/>
          </a:ln>
        </p:spPr>
      </p:sp>
      <p:sp>
        <p:nvSpPr>
          <p:cNvPr id="34" name="Text 31"/>
          <p:cNvSpPr txBox="1"/>
          <p:nvPr/>
        </p:nvSpPr>
        <p:spPr>
          <a:xfrm>
            <a:off x="7635240" y="2798064"/>
            <a:ext cx="1005840" cy="219456"/>
          </a:xfrm>
          <a:prstGeom prst="rect">
            <a:avLst/>
          </a:prstGeom>
          <a:noFill/>
          <a:ln/>
        </p:spPr>
        <p:txBody>
          <a:bodyPr wrap="square" lIns="0" tIns="0" rIns="0" bIns="0" rtlCol="0" anchor="ctr"/>
          <a:lstStyle/>
          <a:p>
            <a:pPr algn="ctr" indent="0" marL="0">
              <a:buNone/>
            </a:pPr>
            <a:r>
              <a:rPr lang="en-US" sz="750" b="1" dirty="0">
                <a:solidFill>
                  <a:srgbClr val="9A6410"/>
                </a:solidFill>
                <a:latin typeface="SF Pro Text" pitchFamily="34" charset="0"/>
                <a:ea typeface="SF Pro Text" pitchFamily="34" charset="-122"/>
                <a:cs typeface="SF Pro Text" pitchFamily="34" charset="-120"/>
              </a:rPr>
              <a:t>Trainer demo</a:t>
            </a:r>
            <a:endParaRPr lang="en-US" sz="750" dirty="0"/>
          </a:p>
        </p:txBody>
      </p:sp>
      <p:sp>
        <p:nvSpPr>
          <p:cNvPr id="35" name="Text 32"/>
          <p:cNvSpPr txBox="1"/>
          <p:nvPr/>
        </p:nvSpPr>
        <p:spPr>
          <a:xfrm>
            <a:off x="4572000" y="3044952"/>
            <a:ext cx="4069080" cy="804672"/>
          </a:xfrm>
          <a:prstGeom prst="rect">
            <a:avLst/>
          </a:prstGeom>
          <a:noFill/>
          <a:ln/>
        </p:spPr>
        <p:txBody>
          <a:bodyPr wrap="square" lIns="0" tIns="0" rIns="0" bIns="0" rtlCol="0" anchor="t"/>
          <a:lstStyle/>
          <a:p>
            <a:pPr indent="0" marL="0">
              <a:spcAft>
                <a:spcPts val="200"/>
              </a:spcAft>
              <a:buNone/>
            </a:pPr>
            <a:r>
              <a:rPr lang="en-US" sz="850" b="1" dirty="0">
                <a:solidFill>
                  <a:srgbClr val="1D1D1F"/>
                </a:solidFill>
                <a:latin typeface="SF Pro Text" pitchFamily="34" charset="0"/>
                <a:ea typeface="SF Pro Text" pitchFamily="34" charset="-122"/>
                <a:cs typeface="SF Pro Text" pitchFamily="34" charset="-120"/>
              </a:rPr>
              <a:t>Action On  </a:t>
            </a:r>
            <a:pPr indent="0" marL="0">
              <a:spcAft>
                <a:spcPts val="200"/>
              </a:spcAft>
              <a:buNone/>
            </a:pPr>
            <a:r>
              <a:rPr lang="en-US" sz="850" dirty="0">
                <a:solidFill>
                  <a:srgbClr val="6E6E73"/>
                </a:solidFill>
                <a:latin typeface="SF Pro Text" pitchFamily="34" charset="0"/>
                <a:ea typeface="SF Pro Text" pitchFamily="34" charset="-122"/>
                <a:cs typeface="SF Pro Text" pitchFamily="34" charset="-120"/>
              </a:rPr>
              <a:t>72 hours from the time of ticket handling</a:t>
            </a:r>
            <a:endParaRPr lang="en-US" sz="850" dirty="0"/>
          </a:p>
          <a:p>
            <a:pPr indent="0" marL="0">
              <a:spcAft>
                <a:spcPts val="200"/>
              </a:spcAft>
              <a:buNone/>
            </a:pPr>
            <a:r>
              <a:rPr lang="en-US" sz="850" b="1" dirty="0">
                <a:solidFill>
                  <a:srgbClr val="1D1D1F"/>
                </a:solidFill>
                <a:latin typeface="SF Pro Text" pitchFamily="34" charset="0"/>
                <a:ea typeface="SF Pro Text" pitchFamily="34" charset="-122"/>
                <a:cs typeface="SF Pro Text" pitchFamily="34" charset="-120"/>
              </a:rPr>
              <a:t>Who Should Act  </a:t>
            </a:r>
            <a:pPr indent="0" marL="0">
              <a:spcAft>
                <a:spcPts val="200"/>
              </a:spcAft>
              <a:buNone/>
            </a:pPr>
            <a:r>
              <a:rPr lang="en-US" sz="850" dirty="0">
                <a:solidFill>
                  <a:srgbClr val="6E6E73"/>
                </a:solidFill>
                <a:latin typeface="SF Pro Text" pitchFamily="34" charset="0"/>
                <a:ea typeface="SF Pro Text" pitchFamily="34" charset="-122"/>
                <a:cs typeface="SF Pro Text" pitchFamily="34" charset="-120"/>
              </a:rPr>
              <a:t>Any CS</a:t>
            </a:r>
            <a:endParaRPr lang="en-US" sz="850" dirty="0"/>
          </a:p>
          <a:p>
            <a:pPr indent="0" marL="0">
              <a:spcAft>
                <a:spcPts val="200"/>
              </a:spcAft>
              <a:buNone/>
            </a:pPr>
            <a:r>
              <a:rPr lang="en-US" sz="850" b="1" dirty="0">
                <a:solidFill>
                  <a:srgbClr val="1D1D1F"/>
                </a:solidFill>
                <a:latin typeface="SF Pro Text" pitchFamily="34" charset="0"/>
                <a:ea typeface="SF Pro Text" pitchFamily="34" charset="-122"/>
                <a:cs typeface="SF Pro Text" pitchFamily="34" charset="-120"/>
              </a:rPr>
              <a:t>Action  </a:t>
            </a:r>
            <a:pPr indent="0" marL="0">
              <a:spcAft>
                <a:spcPts val="200"/>
              </a:spcAft>
              <a:buNone/>
            </a:pPr>
            <a:r>
              <a:rPr lang="en-US" sz="850" dirty="0">
                <a:solidFill>
                  <a:srgbClr val="6E6E73"/>
                </a:solidFill>
                <a:latin typeface="SF Pro Text" pitchFamily="34" charset="0"/>
                <a:ea typeface="SF Pro Text" pitchFamily="34" charset="-122"/>
                <a:cs typeface="SF Pro Text" pitchFamily="34" charset="-120"/>
              </a:rPr>
              <a:t>C &lt;C_ID&gt; reported that CP overcharged J &lt;JOB_ID&gt; for &lt;# OF OVERCHARGED HOURS&gt;</a:t>
            </a:r>
            <a:endParaRPr lang="en-US" sz="850" dirty="0"/>
          </a:p>
        </p:txBody>
      </p:sp>
      <p:sp>
        <p:nvSpPr>
          <p:cNvPr id="36" name="step1Panel"/>
          <p:cNvSpPr/>
          <p:nvPr/>
        </p:nvSpPr>
        <p:spPr>
          <a:xfrm>
            <a:off x="4434840" y="2724912"/>
            <a:ext cx="4297680" cy="1207008"/>
          </a:xfrm>
          <a:prstGeom prst="roundRect">
            <a:avLst>
              <a:gd name="adj" fmla="val 4545"/>
            </a:avLst>
          </a:prstGeom>
          <a:solidFill>
            <a:srgbClr val="FFFFFF"/>
          </a:solidFill>
          <a:ln w="19050">
            <a:solidFill>
              <a:srgbClr val="0B7A6F"/>
            </a:solidFill>
            <a:prstDash val="solid"/>
          </a:ln>
          <a:effectLst>
            <a:outerShdw sx="100000" sy="100000" kx="0" ky="0" algn="bl" rotWithShape="0" blurRad="76200" dist="25400" dir="5400000">
              <a:srgbClr val="000000">
                <a:alpha val="18000"/>
              </a:srgbClr>
            </a:outerShdw>
          </a:effectLst>
        </p:spPr>
      </p:sp>
      <p:sp>
        <p:nvSpPr>
          <p:cNvPr id="37" name="step1Head"/>
          <p:cNvSpPr/>
          <p:nvPr/>
        </p:nvSpPr>
        <p:spPr>
          <a:xfrm>
            <a:off x="4434840" y="2724912"/>
            <a:ext cx="4297680" cy="292608"/>
          </a:xfrm>
          <a:prstGeom prst="rect">
            <a:avLst/>
          </a:prstGeom>
          <a:solidFill>
            <a:srgbClr val="0B7A6F"/>
          </a:solidFill>
          <a:ln w="12700">
            <a:solidFill>
              <a:srgbClr val="0B7A6F"/>
            </a:solidFill>
            <a:prstDash val="solid"/>
          </a:ln>
        </p:spPr>
      </p:sp>
      <p:sp>
        <p:nvSpPr>
          <p:cNvPr id="38" name="step1Title"/>
          <p:cNvSpPr txBox="1"/>
          <p:nvPr/>
        </p:nvSpPr>
        <p:spPr>
          <a:xfrm>
            <a:off x="4572000" y="2724912"/>
            <a:ext cx="4023360" cy="292608"/>
          </a:xfrm>
          <a:prstGeom prst="rect">
            <a:avLst/>
          </a:prstGeom>
          <a:noFill/>
          <a:ln/>
        </p:spPr>
        <p:txBody>
          <a:bodyPr wrap="square" lIns="0" tIns="0" rIns="0" bIns="0" rtlCol="0" anchor="ctr"/>
          <a:lstStyle/>
          <a:p>
            <a:pPr indent="0" marL="0">
              <a:buNone/>
            </a:pPr>
            <a:r>
              <a:rPr lang="en-US" sz="1050" b="1" dirty="0">
                <a:solidFill>
                  <a:srgbClr val="FFFFFF"/>
                </a:solidFill>
                <a:latin typeface="SF Pro Display" pitchFamily="34" charset="0"/>
                <a:ea typeface="SF Pro Display" pitchFamily="34" charset="-122"/>
                <a:cs typeface="SF Pro Display" pitchFamily="34" charset="-120"/>
              </a:rPr>
              <a:t>Penalty check</a:t>
            </a:r>
            <a:endParaRPr lang="en-US" sz="1050" dirty="0"/>
          </a:p>
        </p:txBody>
      </p:sp>
      <p:sp>
        <p:nvSpPr>
          <p:cNvPr id="39" name="step1Body"/>
          <p:cNvSpPr txBox="1"/>
          <p:nvPr/>
        </p:nvSpPr>
        <p:spPr>
          <a:xfrm>
            <a:off x="4572000" y="3072384"/>
            <a:ext cx="4069080" cy="822960"/>
          </a:xfrm>
          <a:prstGeom prst="rect">
            <a:avLst/>
          </a:prstGeom>
          <a:noFill/>
          <a:ln/>
        </p:spPr>
        <p:txBody>
          <a:bodyPr wrap="square" lIns="0" tIns="0" rIns="0" bIns="0" rtlCol="0" anchor="t"/>
          <a:lstStyle/>
          <a:p>
            <a:pPr indent="0" marL="0">
              <a:spcAft>
                <a:spcPts val="500"/>
              </a:spcAft>
              <a:buNone/>
            </a:pPr>
            <a:r>
              <a:rPr lang="en-US" sz="900" b="1" dirty="0">
                <a:solidFill>
                  <a:srgbClr val="0B7A6F"/>
                </a:solidFill>
                <a:latin typeface="SF Pro Text" pitchFamily="34" charset="0"/>
                <a:ea typeface="SF Pro Text" pitchFamily="34" charset="-122"/>
                <a:cs typeface="SF Pro Text" pitchFamily="34" charset="-120"/>
              </a:rPr>
              <a:t>≥ 30 minutes overcharged:  </a:t>
            </a:r>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add flag cp_overcharged_hours + norequests + the Overcharged Hours macro series.</a:t>
            </a:r>
            <a:endParaRPr lang="en-US" sz="900" dirty="0"/>
          </a:p>
          <a:p>
            <a:pPr indent="0" marL="0">
              <a:spcAft>
                <a:spcPts val="500"/>
              </a:spcAft>
              <a:buNone/>
            </a:pPr>
            <a:r>
              <a:rPr lang="en-US" sz="900" b="1" dirty="0">
                <a:solidFill>
                  <a:srgbClr val="0B7A6F"/>
                </a:solidFill>
                <a:latin typeface="SF Pro Text" pitchFamily="34" charset="0"/>
                <a:ea typeface="SF Pro Text" pitchFamily="34" charset="-122"/>
                <a:cs typeface="SF Pro Text" pitchFamily="34" charset="-120"/>
              </a:rPr>
              <a:t>&lt; 30 minutes overcharged:  </a:t>
            </a:r>
            <a:pPr indent="0" marL="0">
              <a:spcAft>
                <a:spcPts val="500"/>
              </a:spcAft>
              <a:buNone/>
            </a:pPr>
            <a:r>
              <a:rPr lang="en-US" sz="900" dirty="0">
                <a:solidFill>
                  <a:srgbClr val="1D1D1F"/>
                </a:solidFill>
                <a:latin typeface="SF Pro Text" pitchFamily="34" charset="0"/>
                <a:ea typeface="SF Pro Text" pitchFamily="34" charset="-122"/>
                <a:cs typeface="SF Pro Text" pitchFamily="34" charset="-120"/>
              </a:rPr>
              <a:t>no flag, no penalty + the Overcharged Hours macro series.</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6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6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6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6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Branch B: when the reminder triggers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new contact. Two questions.</a:t>
            </a:r>
            <a:endParaRPr lang="en-US" sz="1200" dirty="0"/>
          </a:p>
        </p:txBody>
      </p:sp>
      <p:sp>
        <p:nvSpPr>
          <p:cNvPr id="6" name="Shape 3"/>
          <p:cNvSpPr/>
          <p:nvPr/>
        </p:nvSpPr>
        <p:spPr>
          <a:xfrm>
            <a:off x="411480" y="1280160"/>
            <a:ext cx="4091940" cy="1371600"/>
          </a:xfrm>
          <a:prstGeom prst="roundRect">
            <a:avLst>
              <a:gd name="adj" fmla="val 5333"/>
            </a:avLst>
          </a:prstGeom>
          <a:solidFill>
            <a:srgbClr val="FFFFFF"/>
          </a:solidFill>
          <a:ln w="9525">
            <a:solidFill>
              <a:srgbClr val="DCE1E7"/>
            </a:solidFill>
            <a:prstDash val="solid"/>
          </a:ln>
        </p:spPr>
      </p:sp>
      <p:sp>
        <p:nvSpPr>
          <p:cNvPr id="7" name="Shape 4"/>
          <p:cNvSpPr/>
          <p:nvPr/>
        </p:nvSpPr>
        <p:spPr>
          <a:xfrm>
            <a:off x="576072" y="146304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Already asked for proof?</a:t>
            </a:r>
            <a:endParaRPr lang="en-US" sz="1200" dirty="0"/>
          </a:p>
        </p:txBody>
      </p:sp>
      <p:sp>
        <p:nvSpPr>
          <p:cNvPr id="10" name="Text 7"/>
          <p:cNvSpPr txBox="1"/>
          <p:nvPr/>
        </p:nvSpPr>
        <p:spPr>
          <a:xfrm>
            <a:off x="576072" y="2176272"/>
            <a:ext cx="3762756" cy="3840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send comms, give 48 hrs, set a new reminder.</a:t>
            </a:r>
            <a:endParaRPr lang="en-US" sz="950" dirty="0"/>
          </a:p>
        </p:txBody>
      </p:sp>
      <p:sp>
        <p:nvSpPr>
          <p:cNvPr id="11" name="Shape 8"/>
          <p:cNvSpPr/>
          <p:nvPr/>
        </p:nvSpPr>
        <p:spPr>
          <a:xfrm>
            <a:off x="4640580" y="1280160"/>
            <a:ext cx="4091940" cy="1371600"/>
          </a:xfrm>
          <a:prstGeom prst="roundRect">
            <a:avLst>
              <a:gd name="adj" fmla="val 5333"/>
            </a:avLst>
          </a:prstGeom>
          <a:solidFill>
            <a:srgbClr val="FFFFFF"/>
          </a:solidFill>
          <a:ln w="9525">
            <a:solidFill>
              <a:srgbClr val="DCE1E7"/>
            </a:solidFill>
            <a:prstDash val="solid"/>
          </a:ln>
        </p:spPr>
      </p:sp>
      <p:sp>
        <p:nvSpPr>
          <p:cNvPr id="12" name="Shape 9"/>
          <p:cNvSpPr/>
          <p:nvPr/>
        </p:nvSpPr>
        <p:spPr>
          <a:xfrm>
            <a:off x="4805172" y="146304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48051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48051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Proof received?</a:t>
            </a:r>
            <a:endParaRPr lang="en-US" sz="1200" dirty="0"/>
          </a:p>
        </p:txBody>
      </p:sp>
      <p:sp>
        <p:nvSpPr>
          <p:cNvPr id="15" name="Text 12"/>
          <p:cNvSpPr txBox="1"/>
          <p:nvPr/>
        </p:nvSpPr>
        <p:spPr>
          <a:xfrm>
            <a:off x="4805172" y="2176272"/>
            <a:ext cx="3762756" cy="3840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Check it meets all three evidence rules.</a:t>
            </a:r>
            <a:endParaRPr lang="en-US" sz="950" dirty="0"/>
          </a:p>
        </p:txBody>
      </p:sp>
      <p:sp>
        <p:nvSpPr>
          <p:cNvPr id="16" name="Shape 13"/>
          <p:cNvSpPr/>
          <p:nvPr/>
        </p:nvSpPr>
        <p:spPr>
          <a:xfrm>
            <a:off x="411480" y="2788920"/>
            <a:ext cx="4091940" cy="1417320"/>
          </a:xfrm>
          <a:prstGeom prst="roundRect">
            <a:avLst>
              <a:gd name="adj" fmla="val 5161"/>
            </a:avLst>
          </a:prstGeom>
          <a:solidFill>
            <a:srgbClr val="FFFFFF"/>
          </a:solidFill>
          <a:ln w="9525">
            <a:solidFill>
              <a:srgbClr val="DCE1E7"/>
            </a:solidFill>
            <a:prstDash val="solid"/>
          </a:ln>
        </p:spPr>
      </p:sp>
      <p:sp>
        <p:nvSpPr>
          <p:cNvPr id="17" name="Shape 14"/>
          <p:cNvSpPr/>
          <p:nvPr/>
        </p:nvSpPr>
        <p:spPr>
          <a:xfrm>
            <a:off x="576072" y="2953512"/>
            <a:ext cx="329184" cy="329184"/>
          </a:xfrm>
          <a:prstGeom prst="ellipse">
            <a:avLst/>
          </a:prstGeom>
          <a:solidFill>
            <a:srgbClr val="E3F4F1"/>
          </a:solidFill>
          <a:ln w="12700">
            <a:solidFill>
              <a:srgbClr val="E3F4F1"/>
            </a:solidFill>
            <a:prstDash val="solid"/>
          </a:ln>
        </p:spPr>
      </p:sp>
      <p:pic>
        <p:nvPicPr>
          <p:cNvPr id="18" name="Image 0" descr="preencoded.png">    </p:cNvPr>
          <p:cNvPicPr>
            <a:picLocks noChangeAspect="1"/>
          </p:cNvPicPr>
          <p:nvPr/>
        </p:nvPicPr>
        <p:blipFill>
          <a:blip r:embed="rId1"/>
          <a:stretch>
            <a:fillRect/>
          </a:stretch>
        </p:blipFill>
        <p:spPr>
          <a:xfrm>
            <a:off x="655076" y="3032516"/>
            <a:ext cx="171176" cy="171176"/>
          </a:xfrm>
          <a:prstGeom prst="rect">
            <a:avLst/>
          </a:prstGeom>
        </p:spPr>
      </p:pic>
      <p:sp>
        <p:nvSpPr>
          <p:cNvPr id="19" name="Text 15"/>
          <p:cNvSpPr txBox="1"/>
          <p:nvPr/>
        </p:nvSpPr>
        <p:spPr>
          <a:xfrm>
            <a:off x="576072" y="33924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Valid proof</a:t>
            </a:r>
            <a:endParaRPr lang="en-US" sz="1200" dirty="0"/>
          </a:p>
        </p:txBody>
      </p:sp>
      <p:sp>
        <p:nvSpPr>
          <p:cNvPr id="20" name="Text 16"/>
          <p:cNvSpPr txBox="1"/>
          <p:nvPr/>
        </p:nvSpPr>
        <p:spPr>
          <a:xfrm>
            <a:off x="576072" y="3685032"/>
            <a:ext cx="37627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refund. Confirm the cleaner stays blocked from this customer.</a:t>
            </a:r>
            <a:endParaRPr lang="en-US" sz="950" dirty="0"/>
          </a:p>
        </p:txBody>
      </p:sp>
      <p:sp>
        <p:nvSpPr>
          <p:cNvPr id="21" name="Shape 17"/>
          <p:cNvSpPr/>
          <p:nvPr/>
        </p:nvSpPr>
        <p:spPr>
          <a:xfrm>
            <a:off x="4640580" y="2788920"/>
            <a:ext cx="4091940" cy="1417320"/>
          </a:xfrm>
          <a:prstGeom prst="roundRect">
            <a:avLst>
              <a:gd name="adj" fmla="val 5161"/>
            </a:avLst>
          </a:prstGeom>
          <a:solidFill>
            <a:srgbClr val="FFFFFF"/>
          </a:solidFill>
          <a:ln w="9525">
            <a:solidFill>
              <a:srgbClr val="DCE1E7"/>
            </a:solidFill>
            <a:prstDash val="solid"/>
          </a:ln>
        </p:spPr>
      </p:sp>
      <p:sp>
        <p:nvSpPr>
          <p:cNvPr id="22" name="Shape 18"/>
          <p:cNvSpPr/>
          <p:nvPr/>
        </p:nvSpPr>
        <p:spPr>
          <a:xfrm>
            <a:off x="4805172" y="2953512"/>
            <a:ext cx="329184" cy="329184"/>
          </a:xfrm>
          <a:prstGeom prst="ellipse">
            <a:avLst/>
          </a:prstGeom>
          <a:solidFill>
            <a:srgbClr val="E3F4F1"/>
          </a:solidFill>
          <a:ln w="12700">
            <a:solidFill>
              <a:srgbClr val="E3F4F1"/>
            </a:solidFill>
            <a:prstDash val="solid"/>
          </a:ln>
        </p:spPr>
      </p:sp>
      <p:pic>
        <p:nvPicPr>
          <p:cNvPr id="23" name="Image 1" descr="preencoded.png">    </p:cNvPr>
          <p:cNvPicPr>
            <a:picLocks noChangeAspect="1"/>
          </p:cNvPicPr>
          <p:nvPr/>
        </p:nvPicPr>
        <p:blipFill>
          <a:blip r:embed="rId2"/>
          <a:stretch>
            <a:fillRect/>
          </a:stretch>
        </p:blipFill>
        <p:spPr>
          <a:xfrm>
            <a:off x="4884176" y="3032516"/>
            <a:ext cx="171176" cy="171176"/>
          </a:xfrm>
          <a:prstGeom prst="rect">
            <a:avLst/>
          </a:prstGeom>
        </p:spPr>
      </p:pic>
      <p:sp>
        <p:nvSpPr>
          <p:cNvPr id="24" name="Text 19"/>
          <p:cNvSpPr txBox="1"/>
          <p:nvPr/>
        </p:nvSpPr>
        <p:spPr>
          <a:xfrm>
            <a:off x="4805172" y="33924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 reply or not enough</a:t>
            </a:r>
            <a:endParaRPr lang="en-US" sz="1200" dirty="0"/>
          </a:p>
        </p:txBody>
      </p:sp>
      <p:sp>
        <p:nvSpPr>
          <p:cNvPr id="25" name="Text 20"/>
          <p:cNvSpPr txBox="1"/>
          <p:nvPr/>
        </p:nvSpPr>
        <p:spPr>
          <a:xfrm>
            <a:off x="4805172" y="3685032"/>
            <a:ext cx="37627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Refund the alleged hours and Premium. 30 min or more: Penalty section.</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Penalty section</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Shared ending for Branch A and Branch B.</a:t>
            </a:r>
            <a:endParaRPr lang="en-US" sz="1200" dirty="0"/>
          </a:p>
        </p:txBody>
      </p:sp>
      <p:sp>
        <p:nvSpPr>
          <p:cNvPr id="6" name="Shape 3"/>
          <p:cNvSpPr/>
          <p:nvPr/>
        </p:nvSpPr>
        <p:spPr>
          <a:xfrm>
            <a:off x="411480" y="128016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Who invoiced?</a:t>
            </a:r>
            <a:endParaRPr lang="en-US" sz="1200" dirty="0"/>
          </a:p>
        </p:txBody>
      </p:sp>
      <p:sp>
        <p:nvSpPr>
          <p:cNvPr id="10" name="Text 6"/>
          <p:cNvSpPr txBox="1"/>
          <p:nvPr/>
        </p:nvSpPr>
        <p:spPr>
          <a:xfrm>
            <a:off x="576072" y="217627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Customer invoiced it? Refund, no cleaner penalty.</a:t>
            </a:r>
            <a:endParaRPr lang="en-US" sz="950" dirty="0"/>
          </a:p>
        </p:txBody>
      </p:sp>
      <p:sp>
        <p:nvSpPr>
          <p:cNvPr id="11" name="Shape 7"/>
          <p:cNvSpPr/>
          <p:nvPr/>
        </p:nvSpPr>
        <p:spPr>
          <a:xfrm>
            <a:off x="3230880" y="1280160"/>
            <a:ext cx="2682240" cy="1600200"/>
          </a:xfrm>
          <a:prstGeom prst="roundRect">
            <a:avLst>
              <a:gd name="adj" fmla="val 4571"/>
            </a:avLst>
          </a:prstGeom>
          <a:solidFill>
            <a:srgbClr val="FFFFFF"/>
          </a:solidFill>
          <a:ln w="9525">
            <a:solidFill>
              <a:srgbClr val="DCE1E7"/>
            </a:solidFill>
            <a:prstDash val="solid"/>
          </a:ln>
        </p:spPr>
      </p:sp>
      <p:sp>
        <p:nvSpPr>
          <p:cNvPr id="12" name="Shape 8"/>
          <p:cNvSpPr/>
          <p:nvPr/>
        </p:nvSpPr>
        <p:spPr>
          <a:xfrm>
            <a:off x="339547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4" name="Text 9"/>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30 min or more</a:t>
            </a:r>
            <a:endParaRPr lang="en-US" sz="1200" dirty="0"/>
          </a:p>
        </p:txBody>
      </p:sp>
      <p:sp>
        <p:nvSpPr>
          <p:cNvPr id="15" name="Text 10"/>
          <p:cNvSpPr txBox="1"/>
          <p:nvPr/>
        </p:nvSpPr>
        <p:spPr>
          <a:xfrm>
            <a:off x="3395472" y="217627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cp_overcharged_hours + norequests + macro series.</a:t>
            </a:r>
            <a:endParaRPr lang="en-US" sz="950" dirty="0"/>
          </a:p>
        </p:txBody>
      </p:sp>
      <p:sp>
        <p:nvSpPr>
          <p:cNvPr id="16" name="Shape 11"/>
          <p:cNvSpPr/>
          <p:nvPr/>
        </p:nvSpPr>
        <p:spPr>
          <a:xfrm>
            <a:off x="6050280" y="1280160"/>
            <a:ext cx="2682240" cy="1600200"/>
          </a:xfrm>
          <a:prstGeom prst="roundRect">
            <a:avLst>
              <a:gd name="adj" fmla="val 4571"/>
            </a:avLst>
          </a:prstGeom>
          <a:solidFill>
            <a:srgbClr val="FFFFFF"/>
          </a:solidFill>
          <a:ln w="9525">
            <a:solidFill>
              <a:srgbClr val="DCE1E7"/>
            </a:solidFill>
            <a:prstDash val="solid"/>
          </a:ln>
        </p:spPr>
      </p:sp>
      <p:sp>
        <p:nvSpPr>
          <p:cNvPr id="17" name="Shape 12"/>
          <p:cNvSpPr/>
          <p:nvPr/>
        </p:nvSpPr>
        <p:spPr>
          <a:xfrm>
            <a:off x="6214872" y="144475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9" name="Text 13"/>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Note the history</a:t>
            </a:r>
            <a:endParaRPr lang="en-US" sz="1200" dirty="0"/>
          </a:p>
        </p:txBody>
      </p:sp>
      <p:sp>
        <p:nvSpPr>
          <p:cNvPr id="20" name="Text 14"/>
          <p:cNvSpPr txBox="1"/>
          <p:nvPr/>
        </p:nvSpPr>
        <p:spPr>
          <a:xfrm>
            <a:off x="6214872" y="217627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Past OCH and false invoices go in your internal note.</a:t>
            </a:r>
            <a:endParaRPr lang="en-US" sz="950" dirty="0"/>
          </a:p>
        </p:txBody>
      </p:sp>
      <p:sp>
        <p:nvSpPr>
          <p:cNvPr id="21" name="Shape 15"/>
          <p:cNvSpPr/>
          <p:nvPr/>
        </p:nvSpPr>
        <p:spPr>
          <a:xfrm>
            <a:off x="411480" y="3017520"/>
            <a:ext cx="8321040" cy="566928"/>
          </a:xfrm>
          <a:prstGeom prst="roundRect">
            <a:avLst>
              <a:gd name="adj" fmla="val 12903"/>
            </a:avLst>
          </a:prstGeom>
          <a:solidFill>
            <a:srgbClr val="FFFFFF"/>
          </a:solidFill>
          <a:ln w="9525">
            <a:solidFill>
              <a:srgbClr val="DCE1E7"/>
            </a:solidFill>
            <a:prstDash val="solid"/>
          </a:ln>
        </p:spPr>
      </p:sp>
      <p:sp>
        <p:nvSpPr>
          <p:cNvPr id="22" name="Text 16"/>
          <p:cNvSpPr txBox="1"/>
          <p:nvPr/>
        </p:nvSpPr>
        <p:spPr>
          <a:xfrm>
            <a:off x="594360" y="3017520"/>
            <a:ext cx="8046720" cy="566928"/>
          </a:xfrm>
          <a:prstGeom prst="rect">
            <a:avLst/>
          </a:prstGeom>
          <a:noFill/>
          <a:ln/>
        </p:spPr>
        <p:txBody>
          <a:bodyPr wrap="square" lIns="0" tIns="0" rIns="0" bIns="0" rtlCol="0" anchor="ct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CP-facing reason  </a:t>
            </a:r>
            <a:pPr indent="0" marL="0">
              <a:buNone/>
            </a:pPr>
            <a:r>
              <a:rPr lang="en-US" sz="1000" dirty="0">
                <a:solidFill>
                  <a:srgbClr val="1D1D1F"/>
                </a:solidFill>
                <a:latin typeface="SF Pro Text" pitchFamily="34" charset="0"/>
                <a:ea typeface="SF Pro Text" pitchFamily="34" charset="-122"/>
                <a:cs typeface="SF Pro Text" pitchFamily="34" charset="-120"/>
              </a:rPr>
              <a:t>cpq_overcharge Customer &lt;C'S NAME&gt; reported incorrect hours charged. Submit reactivation appeal.</a:t>
            </a:r>
            <a:endParaRPr lang="en-US" sz="1000" dirty="0"/>
          </a:p>
        </p:txBody>
      </p:sp>
      <p:sp>
        <p:nvSpPr>
          <p:cNvPr id="23" name="Shape 17"/>
          <p:cNvSpPr/>
          <p:nvPr/>
        </p:nvSpPr>
        <p:spPr>
          <a:xfrm>
            <a:off x="411480" y="3749040"/>
            <a:ext cx="8321040" cy="384048"/>
          </a:xfrm>
          <a:prstGeom prst="roundRect">
            <a:avLst>
              <a:gd name="adj" fmla="val 19048"/>
            </a:avLst>
          </a:prstGeom>
          <a:solidFill>
            <a:srgbClr val="FFF3D6"/>
          </a:solidFill>
          <a:ln w="9525">
            <a:solidFill>
              <a:srgbClr val="FFF3D6"/>
            </a:solidFill>
            <a:prstDash val="solid"/>
          </a:ln>
        </p:spPr>
      </p:sp>
      <p:pic>
        <p:nvPicPr>
          <p:cNvPr id="24" name="Image 3" descr="preencoded.png">    </p:cNvPr>
          <p:cNvPicPr>
            <a:picLocks noChangeAspect="1"/>
          </p:cNvPicPr>
          <p:nvPr/>
        </p:nvPicPr>
        <p:blipFill>
          <a:blip r:embed="rId4"/>
          <a:stretch>
            <a:fillRect/>
          </a:stretch>
        </p:blipFill>
        <p:spPr>
          <a:xfrm>
            <a:off x="566928" y="3858768"/>
            <a:ext cx="164592" cy="164592"/>
          </a:xfrm>
          <a:prstGeom prst="rect">
            <a:avLst/>
          </a:prstGeom>
        </p:spPr>
      </p:pic>
      <p:sp>
        <p:nvSpPr>
          <p:cNvPr id="25" name="Text 18"/>
          <p:cNvSpPr txBox="1"/>
          <p:nvPr/>
        </p:nvSpPr>
        <p:spPr>
          <a:xfrm>
            <a:off x="822960" y="38496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Never:  </a:t>
            </a:r>
            <a:pPr indent="0" marL="0">
              <a:buNone/>
            </a:pPr>
            <a:r>
              <a:rPr lang="en-US" sz="1000" dirty="0">
                <a:solidFill>
                  <a:srgbClr val="1D1D1F"/>
                </a:solidFill>
                <a:latin typeface="SF Pro Text" pitchFamily="34" charset="0"/>
                <a:ea typeface="SF Pro Text" pitchFamily="34" charset="-122"/>
                <a:cs typeface="SF Pro Text" pitchFamily="34" charset="-120"/>
              </a:rPr>
              <a:t>C-side agents never suspend or add DNR. A pattern is the CP-side team's call.</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Every refund: the checklist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Not a sequence. Check each one off.</a:t>
            </a:r>
            <a:endParaRPr lang="en-US" sz="1200" dirty="0"/>
          </a:p>
        </p:txBody>
      </p:sp>
      <p:sp>
        <p:nvSpPr>
          <p:cNvPr id="6" name="Shape 3"/>
          <p:cNvSpPr/>
          <p:nvPr/>
        </p:nvSpPr>
        <p:spPr>
          <a:xfrm>
            <a:off x="411480" y="1280160"/>
            <a:ext cx="197739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Flag</a:t>
            </a:r>
            <a:endParaRPr lang="en-US" sz="1200" dirty="0"/>
          </a:p>
        </p:txBody>
      </p:sp>
      <p:sp>
        <p:nvSpPr>
          <p:cNvPr id="10" name="Text 6"/>
          <p:cNvSpPr txBox="1"/>
          <p:nvPr/>
        </p:nvSpPr>
        <p:spPr>
          <a:xfrm>
            <a:off x="57607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cp_overcharged_hours if 30 min or more.</a:t>
            </a:r>
            <a:endParaRPr lang="en-US" sz="950" dirty="0"/>
          </a:p>
        </p:txBody>
      </p:sp>
      <p:sp>
        <p:nvSpPr>
          <p:cNvPr id="11" name="Shape 7"/>
          <p:cNvSpPr/>
          <p:nvPr/>
        </p:nvSpPr>
        <p:spPr>
          <a:xfrm>
            <a:off x="2526030" y="1280160"/>
            <a:ext cx="197739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269062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2769626" y="1523756"/>
            <a:ext cx="171176" cy="171176"/>
          </a:xfrm>
          <a:prstGeom prst="rect">
            <a:avLst/>
          </a:prstGeom>
        </p:spPr>
      </p:pic>
      <p:sp>
        <p:nvSpPr>
          <p:cNvPr id="14" name="Text 9"/>
          <p:cNvSpPr txBox="1"/>
          <p:nvPr/>
        </p:nvSpPr>
        <p:spPr>
          <a:xfrm>
            <a:off x="269062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Premium</a:t>
            </a:r>
            <a:endParaRPr lang="en-US" sz="1200" dirty="0"/>
          </a:p>
        </p:txBody>
      </p:sp>
      <p:sp>
        <p:nvSpPr>
          <p:cNvPr id="15" name="Text 10"/>
          <p:cNvSpPr txBox="1"/>
          <p:nvPr/>
        </p:nvSpPr>
        <p:spPr>
          <a:xfrm>
            <a:off x="269062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Refund it if charged. Log to the Ticket Tracker.</a:t>
            </a:r>
            <a:endParaRPr lang="en-US" sz="950" dirty="0"/>
          </a:p>
        </p:txBody>
      </p:sp>
      <p:sp>
        <p:nvSpPr>
          <p:cNvPr id="16" name="Shape 11"/>
          <p:cNvSpPr/>
          <p:nvPr/>
        </p:nvSpPr>
        <p:spPr>
          <a:xfrm>
            <a:off x="4640580" y="1280160"/>
            <a:ext cx="1977390" cy="1828800"/>
          </a:xfrm>
          <a:prstGeom prst="roundRect">
            <a:avLst>
              <a:gd name="adj" fmla="val 4000"/>
            </a:avLst>
          </a:prstGeom>
          <a:solidFill>
            <a:srgbClr val="FFFFFF"/>
          </a:solidFill>
          <a:ln w="9525">
            <a:solidFill>
              <a:srgbClr val="DCE1E7"/>
            </a:solidFill>
            <a:prstDash val="solid"/>
          </a:ln>
        </p:spPr>
      </p:sp>
      <p:sp>
        <p:nvSpPr>
          <p:cNvPr id="17" name="Shape 12"/>
          <p:cNvSpPr/>
          <p:nvPr/>
        </p:nvSpPr>
        <p:spPr>
          <a:xfrm>
            <a:off x="4805172" y="144475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4884176" y="1523756"/>
            <a:ext cx="171176" cy="171176"/>
          </a:xfrm>
          <a:prstGeom prst="rect">
            <a:avLst/>
          </a:prstGeom>
        </p:spPr>
      </p:pic>
      <p:sp>
        <p:nvSpPr>
          <p:cNvPr id="19" name="Text 13"/>
          <p:cNvSpPr txBox="1"/>
          <p:nvPr/>
        </p:nvSpPr>
        <p:spPr>
          <a:xfrm>
            <a:off x="480517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Block the pairing</a:t>
            </a:r>
            <a:endParaRPr lang="en-US" sz="1200" dirty="0"/>
          </a:p>
        </p:txBody>
      </p:sp>
      <p:sp>
        <p:nvSpPr>
          <p:cNvPr id="20" name="Text 14"/>
          <p:cNvSpPr txBox="1"/>
          <p:nvPr/>
        </p:nvSpPr>
        <p:spPr>
          <a:xfrm>
            <a:off x="480517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Always, unless the customer wants the same cleaner.</a:t>
            </a:r>
            <a:endParaRPr lang="en-US" sz="950" dirty="0"/>
          </a:p>
        </p:txBody>
      </p:sp>
      <p:sp>
        <p:nvSpPr>
          <p:cNvPr id="21" name="Shape 15"/>
          <p:cNvSpPr/>
          <p:nvPr/>
        </p:nvSpPr>
        <p:spPr>
          <a:xfrm>
            <a:off x="6755130" y="1280160"/>
            <a:ext cx="1977390" cy="1828800"/>
          </a:xfrm>
          <a:prstGeom prst="roundRect">
            <a:avLst>
              <a:gd name="adj" fmla="val 4000"/>
            </a:avLst>
          </a:prstGeom>
          <a:solidFill>
            <a:srgbClr val="FFFFFF"/>
          </a:solidFill>
          <a:ln w="9525">
            <a:solidFill>
              <a:srgbClr val="DCE1E7"/>
            </a:solidFill>
            <a:prstDash val="solid"/>
          </a:ln>
        </p:spPr>
      </p:sp>
      <p:sp>
        <p:nvSpPr>
          <p:cNvPr id="22" name="Shape 16"/>
          <p:cNvSpPr/>
          <p:nvPr/>
        </p:nvSpPr>
        <p:spPr>
          <a:xfrm>
            <a:off x="6919722" y="1444752"/>
            <a:ext cx="329184" cy="329184"/>
          </a:xfrm>
          <a:prstGeom prst="ellipse">
            <a:avLst/>
          </a:prstGeom>
          <a:solidFill>
            <a:srgbClr val="E3F4F1"/>
          </a:solidFill>
          <a:ln w="12700">
            <a:solidFill>
              <a:srgbClr val="E3F4F1"/>
            </a:solidFill>
            <a:prstDash val="solid"/>
          </a:ln>
        </p:spPr>
      </p:sp>
      <p:pic>
        <p:nvPicPr>
          <p:cNvPr id="23" name="Image 3" descr="preencoded.png">    </p:cNvPr>
          <p:cNvPicPr>
            <a:picLocks noChangeAspect="1"/>
          </p:cNvPicPr>
          <p:nvPr/>
        </p:nvPicPr>
        <p:blipFill>
          <a:blip r:embed="rId4"/>
          <a:stretch>
            <a:fillRect/>
          </a:stretch>
        </p:blipFill>
        <p:spPr>
          <a:xfrm>
            <a:off x="6998726" y="1523756"/>
            <a:ext cx="171176" cy="171176"/>
          </a:xfrm>
          <a:prstGeom prst="rect">
            <a:avLst/>
          </a:prstGeom>
        </p:spPr>
      </p:pic>
      <p:sp>
        <p:nvSpPr>
          <p:cNvPr id="24" name="Text 17"/>
          <p:cNvSpPr txBox="1"/>
          <p:nvPr/>
        </p:nvSpPr>
        <p:spPr>
          <a:xfrm>
            <a:off x="691972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GA / Tier 10 banner</a:t>
            </a:r>
            <a:endParaRPr lang="en-US" sz="1200" dirty="0"/>
          </a:p>
        </p:txBody>
      </p:sp>
      <p:sp>
        <p:nvSpPr>
          <p:cNvPr id="25" name="Text 18"/>
          <p:cNvSpPr txBox="1"/>
          <p:nvPr/>
        </p:nvSpPr>
        <p:spPr>
          <a:xfrm>
            <a:off x="691972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Don't clear pending items. Reassign to TL Allen.</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Related scenarios</a:t>
            </a:r>
            <a:endParaRPr lang="en-US" sz="2400" dirty="0"/>
          </a:p>
        </p:txBody>
      </p:sp>
      <p:sp>
        <p:nvSpPr>
          <p:cNvPr id="5" name="Shape 2"/>
          <p:cNvSpPr/>
          <p:nvPr/>
        </p:nvSpPr>
        <p:spPr>
          <a:xfrm>
            <a:off x="411480" y="1188720"/>
            <a:ext cx="4091940" cy="2743200"/>
          </a:xfrm>
          <a:prstGeom prst="roundRect">
            <a:avLst>
              <a:gd name="adj" fmla="val 2667"/>
            </a:avLst>
          </a:prstGeom>
          <a:solidFill>
            <a:srgbClr val="FFFFFF"/>
          </a:solidFill>
          <a:ln w="9525">
            <a:solidFill>
              <a:srgbClr val="DCE1E7"/>
            </a:solidFill>
            <a:prstDash val="solid"/>
          </a:ln>
        </p:spPr>
      </p:sp>
      <p:sp>
        <p:nvSpPr>
          <p:cNvPr id="6" name="Shape 3"/>
          <p:cNvSpPr/>
          <p:nvPr/>
        </p:nvSpPr>
        <p:spPr>
          <a:xfrm>
            <a:off x="576072" y="135331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432316"/>
            <a:ext cx="171176" cy="171176"/>
          </a:xfrm>
          <a:prstGeom prst="rect">
            <a:avLst/>
          </a:prstGeom>
        </p:spPr>
      </p:pic>
      <p:sp>
        <p:nvSpPr>
          <p:cNvPr id="8" name="Text 4"/>
          <p:cNvSpPr txBox="1"/>
          <p:nvPr/>
        </p:nvSpPr>
        <p:spPr>
          <a:xfrm>
            <a:off x="576072" y="17922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refunds first</a:t>
            </a:r>
            <a:endParaRPr lang="en-US" sz="1200" dirty="0"/>
          </a:p>
        </p:txBody>
      </p:sp>
      <p:sp>
        <p:nvSpPr>
          <p:cNvPr id="9" name="Text 5"/>
          <p:cNvSpPr txBox="1"/>
          <p:nvPr/>
        </p:nvSpPr>
        <p:spPr>
          <a:xfrm>
            <a:off x="576072" y="2084832"/>
            <a:ext cx="3762756" cy="1755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 refunds after being told about the report.</a:t>
            </a:r>
            <a:endParaRPr lang="en-US" sz="950" dirty="0"/>
          </a:p>
          <a:p>
            <a:pPr indent="0" marL="0">
              <a:buNone/>
            </a:pPr>
            <a:r>
              <a:rPr lang="en-US" sz="950" dirty="0">
                <a:solidFill>
                  <a:srgbClr val="6E6E73"/>
                </a:solidFill>
                <a:latin typeface="SF Pro Text" pitchFamily="34" charset="0"/>
                <a:ea typeface="SF Pro Text" pitchFamily="34" charset="-122"/>
                <a:cs typeface="SF Pro Text" pitchFamily="34" charset="-120"/>
              </a:rPr>
              <a:t>Treat the refund as confirmation the overcharge happened, unless evidence proves otherwise.</a:t>
            </a:r>
            <a:endParaRPr lang="en-US" sz="950" dirty="0"/>
          </a:p>
          <a:p>
            <a:pPr indent="0" marL="0">
              <a:buNone/>
            </a:pPr>
            <a:r>
              <a:rPr lang="en-US" sz="950" b="1" dirty="0">
                <a:solidFill>
                  <a:srgbClr val="1D1D1F"/>
                </a:solidFill>
                <a:latin typeface="SF Pro Text" pitchFamily="34" charset="0"/>
                <a:ea typeface="SF Pro Text" pitchFamily="34" charset="-122"/>
                <a:cs typeface="SF Pro Text" pitchFamily="34" charset="-120"/>
              </a:rPr>
              <a:t>30 min or more: </a:t>
            </a:r>
            <a:pPr indent="0" marL="0">
              <a:buNone/>
            </a:pPr>
            <a:r>
              <a:rPr lang="en-US" sz="950" dirty="0">
                <a:solidFill>
                  <a:srgbClr val="6E6E73"/>
                </a:solidFill>
                <a:latin typeface="SF Pro Text" pitchFamily="34" charset="0"/>
                <a:ea typeface="SF Pro Text" pitchFamily="34" charset="-122"/>
                <a:cs typeface="SF Pro Text" pitchFamily="34" charset="-120"/>
              </a:rPr>
              <a:t>still apply the cp_overcharged_hours flag.</a:t>
            </a:r>
            <a:endParaRPr lang="en-US" sz="950" dirty="0"/>
          </a:p>
          <a:p>
            <a:pPr indent="0" marL="0">
              <a:buNone/>
            </a:pPr>
            <a:r>
              <a:rPr lang="en-US" sz="950" b="1" dirty="0">
                <a:solidFill>
                  <a:srgbClr val="1D1D1F"/>
                </a:solidFill>
                <a:latin typeface="SF Pro Text" pitchFamily="34" charset="0"/>
                <a:ea typeface="SF Pro Text" pitchFamily="34" charset="-122"/>
                <a:cs typeface="SF Pro Text" pitchFamily="34" charset="-120"/>
              </a:rPr>
              <a:t>Before the first-response Timed Reminder triggers: </a:t>
            </a:r>
            <a:pPr indent="0" marL="0">
              <a:buNone/>
            </a:pPr>
            <a:r>
              <a:rPr lang="en-US" sz="950" dirty="0">
                <a:solidFill>
                  <a:srgbClr val="6E6E73"/>
                </a:solidFill>
                <a:latin typeface="SF Pro Text" pitchFamily="34" charset="0"/>
                <a:ea typeface="SF Pro Text" pitchFamily="34" charset="-122"/>
                <a:cs typeface="SF Pro Text" pitchFamily="34" charset="-120"/>
              </a:rPr>
              <a:t>invalidate that reminder. Tell the customer the cleaner refunded.</a:t>
            </a:r>
            <a:endParaRPr lang="en-US" sz="950" dirty="0"/>
          </a:p>
        </p:txBody>
      </p:sp>
      <p:sp>
        <p:nvSpPr>
          <p:cNvPr id="10" name="Shape 6"/>
          <p:cNvSpPr/>
          <p:nvPr/>
        </p:nvSpPr>
        <p:spPr>
          <a:xfrm>
            <a:off x="4640580" y="1188720"/>
            <a:ext cx="4091940" cy="2743200"/>
          </a:xfrm>
          <a:prstGeom prst="roundRect">
            <a:avLst>
              <a:gd name="adj" fmla="val 2667"/>
            </a:avLst>
          </a:prstGeom>
          <a:solidFill>
            <a:srgbClr val="FFFFFF"/>
          </a:solidFill>
          <a:ln w="9525">
            <a:solidFill>
              <a:srgbClr val="DCE1E7"/>
            </a:solidFill>
            <a:prstDash val="solid"/>
          </a:ln>
        </p:spPr>
      </p:sp>
      <p:sp>
        <p:nvSpPr>
          <p:cNvPr id="11" name="Shape 7"/>
          <p:cNvSpPr/>
          <p:nvPr/>
        </p:nvSpPr>
        <p:spPr>
          <a:xfrm>
            <a:off x="4805172" y="135331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4884176" y="1432316"/>
            <a:ext cx="171176" cy="171176"/>
          </a:xfrm>
          <a:prstGeom prst="rect">
            <a:avLst/>
          </a:prstGeom>
        </p:spPr>
      </p:pic>
      <p:sp>
        <p:nvSpPr>
          <p:cNvPr id="13" name="Text 8"/>
          <p:cNvSpPr txBox="1"/>
          <p:nvPr/>
        </p:nvSpPr>
        <p:spPr>
          <a:xfrm>
            <a:off x="4805172" y="17922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You spot it first</a:t>
            </a:r>
            <a:endParaRPr lang="en-US" sz="1200" dirty="0"/>
          </a:p>
        </p:txBody>
      </p:sp>
      <p:sp>
        <p:nvSpPr>
          <p:cNvPr id="14" name="Text 9"/>
          <p:cNvSpPr txBox="1"/>
          <p:nvPr/>
        </p:nvSpPr>
        <p:spPr>
          <a:xfrm>
            <a:off x="4805172" y="2084832"/>
            <a:ext cx="3762756" cy="1755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job looks overcharged, but the customer hasn't contacted us.</a:t>
            </a:r>
            <a:endParaRPr lang="en-US" sz="950" dirty="0"/>
          </a:p>
          <a:p>
            <a:pPr indent="0" marL="0">
              <a:buNone/>
            </a:pPr>
            <a:r>
              <a:rPr lang="en-US" sz="950" b="1" dirty="0">
                <a:solidFill>
                  <a:srgbClr val="1D1D1F"/>
                </a:solidFill>
                <a:latin typeface="SF Pro Text" pitchFamily="34" charset="0"/>
                <a:ea typeface="SF Pro Text" pitchFamily="34" charset="-122"/>
                <a:cs typeface="SF Pro Text" pitchFamily="34" charset="-120"/>
              </a:rPr>
              <a:t>Don't wait: </a:t>
            </a:r>
            <a:pPr indent="0" marL="0">
              <a:buNone/>
            </a:pPr>
            <a:r>
              <a:rPr lang="en-US" sz="950" dirty="0">
                <a:solidFill>
                  <a:srgbClr val="6E6E73"/>
                </a:solidFill>
                <a:latin typeface="SF Pro Text" pitchFamily="34" charset="0"/>
                <a:ea typeface="SF Pro Text" pitchFamily="34" charset="-122"/>
                <a:cs typeface="SF Pro Text" pitchFamily="34" charset="-120"/>
              </a:rPr>
              <a:t>reach out to check how the cleaning went and confirm the number of hours worked.</a:t>
            </a:r>
            <a:endParaRPr lang="en-US" sz="950" dirty="0"/>
          </a:p>
          <a:p>
            <a:pPr indent="0" marL="0">
              <a:buNone/>
            </a:pPr>
            <a:r>
              <a:rPr lang="en-US" sz="950" b="1" dirty="0">
                <a:solidFill>
                  <a:srgbClr val="1D1D1F"/>
                </a:solidFill>
                <a:latin typeface="SF Pro Text" pitchFamily="34" charset="0"/>
                <a:ea typeface="SF Pro Text" pitchFamily="34" charset="-122"/>
                <a:cs typeface="SF Pro Text" pitchFamily="34" charset="-120"/>
              </a:rPr>
              <a:t>Why: </a:t>
            </a:r>
            <a:pPr indent="0" marL="0">
              <a:buNone/>
            </a:pPr>
            <a:r>
              <a:rPr lang="en-US" sz="950" dirty="0">
                <a:solidFill>
                  <a:srgbClr val="6E6E73"/>
                </a:solidFill>
                <a:latin typeface="SF Pro Text" pitchFamily="34" charset="0"/>
                <a:ea typeface="SF Pro Text" pitchFamily="34" charset="-122"/>
                <a:cs typeface="SF Pro Text" pitchFamily="34" charset="-120"/>
              </a:rPr>
              <a:t>it builds trust and catches the discrepancy before it becomes a dispute.</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Watch-outs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System quirks that can block a refund.</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2926080"/>
                <a:gridCol w="5394960"/>
              </a:tblGrid>
              <a:tr h="457200">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Admin courtesy voucher on the job</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What to do</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5720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Already used on another job</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Admin refund this job, and create a CP Payment Holdback</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Unused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Invalidate it first (reopens the CP Dashboard refund), then top credits up to $20</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2743200"/>
            <a:ext cx="8321040" cy="1188720"/>
          </a:xfrm>
          <a:prstGeom prst="roundRect">
            <a:avLst>
              <a:gd name="adj" fmla="val 6154"/>
            </a:avLst>
          </a:prstGeom>
          <a:solidFill>
            <a:srgbClr val="FFFFFF"/>
          </a:solidFill>
          <a:ln w="9525">
            <a:solidFill>
              <a:srgbClr val="DCE1E7"/>
            </a:solidFill>
            <a:prstDash val="solid"/>
          </a:ln>
        </p:spPr>
      </p:sp>
      <p:sp>
        <p:nvSpPr>
          <p:cNvPr id="8" name="Shape 4"/>
          <p:cNvSpPr/>
          <p:nvPr/>
        </p:nvSpPr>
        <p:spPr>
          <a:xfrm>
            <a:off x="576072" y="2907792"/>
            <a:ext cx="329184" cy="329184"/>
          </a:xfrm>
          <a:prstGeom prst="ellipse">
            <a:avLst/>
          </a:prstGeom>
          <a:solidFill>
            <a:srgbClr val="E3F4F1"/>
          </a:solidFill>
          <a:ln w="12700">
            <a:solidFill>
              <a:srgbClr val="E3F4F1"/>
            </a:solidFill>
            <a:prstDash val="solid"/>
          </a:ln>
        </p:spPr>
      </p:sp>
      <p:pic>
        <p:nvPicPr>
          <p:cNvPr id="9" name="Image 0" descr="preencoded.png">    </p:cNvPr>
          <p:cNvPicPr>
            <a:picLocks noChangeAspect="1"/>
          </p:cNvPicPr>
          <p:nvPr/>
        </p:nvPicPr>
        <p:blipFill>
          <a:blip r:embed="rId1"/>
          <a:stretch>
            <a:fillRect/>
          </a:stretch>
        </p:blipFill>
        <p:spPr>
          <a:xfrm>
            <a:off x="655076" y="2986796"/>
            <a:ext cx="171176" cy="171176"/>
          </a:xfrm>
          <a:prstGeom prst="rect">
            <a:avLst/>
          </a:prstGeom>
        </p:spPr>
      </p:pic>
      <p:sp>
        <p:nvSpPr>
          <p:cNvPr id="10" name="Text 5"/>
          <p:cNvSpPr txBox="1"/>
          <p:nvPr/>
        </p:nvSpPr>
        <p:spPr>
          <a:xfrm>
            <a:off x="576072" y="3346704"/>
            <a:ext cx="79918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is cp-opt-out?</a:t>
            </a:r>
            <a:endParaRPr lang="en-US" sz="1200" dirty="0"/>
          </a:p>
        </p:txBody>
      </p:sp>
      <p:sp>
        <p:nvSpPr>
          <p:cNvPr id="11" name="Text 6"/>
          <p:cNvSpPr txBox="1"/>
          <p:nvPr/>
        </p:nvSpPr>
        <p:spPr>
          <a:xfrm>
            <a:off x="576072" y="3639312"/>
            <a:ext cx="7991856" cy="2011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Log in to their dashboard as admin. Don't click Reactivate. Go to homeaglow.com/cp/job/&lt;JOB_ID&gt; and refund as usual.</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Booked and invoiced 3 hrs. CTJ shows the cleaner on site for 1 hr 40 min. Which branch, and what happens?</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Branch A. Refund 1 hr 20 min via the CP Dashboard (and Premium if charged). It's 30 min or more: flag, ban the pairing, comms to both, Penalty section.</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No CTJ or other evidence. The customer says the cleaner left an hour early. What now?</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Branch B. Refund Premium if charged, set a 72-hr Timed Reminder, tell the customer 4–5 business days, block the pairing, give the cleaner 3 days for proof.</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job is 150 days old, but CTJ clearly shows 45 minutes against 2 hours invoiced. Refund?</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Yes. Clearly proven, so the 120-day window doesn't apply. Refund the difference and follow the penalty ladder.</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customer self-invoiced 2 hrs for a job the cleaner worked 1 hr 11 min. Penalize the cleaner?</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Just refund the difference. The customer billed the hours, so this is not the cleaner’s fault.</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OVERCHARGED HOURS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Find the right issue</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Billed more than worked is OCH. Didn't show or didn't ask are different issues.</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Evidence picks the branch</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Clear evidence: Branch A. None: Branch B and ask the cleaner for proof.</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Refund only what's proven</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30 min or more adds the flag and norequests. Never suspend or DNR.</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02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Unauthorized Addition of Hours</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cleaner extended the job before invoicing, without the customer's OK.</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it differs from OCH</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consent rule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four-step process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helper scenario</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24.png">    </p:cNvPr>
          <p:cNvPicPr>
            <a:picLocks noChangeAspect="1"/>
          </p:cNvPicPr>
          <p:nvPr/>
        </p:nvPicPr>
        <p:blipFill>
          <a:blip r:embed="rId5"/>
          <a:stretch>
            <a:fillRect/>
          </a:stretch>
        </p:blipFill>
        <p:spPr>
          <a:xfrm>
            <a:off x="5658307" y="1517904"/>
            <a:ext cx="2691994"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Not the same as OCH</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Both feel like "I was billed more than I expected." They're resolved differently.</a:t>
            </a:r>
            <a:endParaRPr lang="en-US" sz="1200" dirty="0"/>
          </a:p>
        </p:txBody>
      </p:sp>
      <p:sp>
        <p:nvSpPr>
          <p:cNvPr id="6" name="Shape 3"/>
          <p:cNvSpPr/>
          <p:nvPr/>
        </p:nvSpPr>
        <p:spPr>
          <a:xfrm>
            <a:off x="411480" y="1325880"/>
            <a:ext cx="409194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Overcharged Hours</a:t>
            </a:r>
            <a:endParaRPr lang="en-US" sz="1300" dirty="0"/>
          </a:p>
        </p:txBody>
      </p:sp>
      <p:sp>
        <p:nvSpPr>
          <p:cNvPr id="10" name="Text 6"/>
          <p:cNvSpPr txBox="1"/>
          <p:nvPr/>
        </p:nvSpPr>
        <p:spPr>
          <a:xfrm>
            <a:off x="594360" y="2039112"/>
            <a:ext cx="3726180" cy="10058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 dispute over what happened</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Booked 6 hrs, worked 4, billed 6</a:t>
            </a:r>
            <a:endParaRPr lang="en-US" sz="1000" dirty="0"/>
          </a:p>
        </p:txBody>
      </p:sp>
      <p:sp>
        <p:nvSpPr>
          <p:cNvPr id="11" name="Shape 7"/>
          <p:cNvSpPr/>
          <p:nvPr/>
        </p:nvSpPr>
        <p:spPr>
          <a:xfrm>
            <a:off x="4640580" y="1325880"/>
            <a:ext cx="409194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Unauthorized Hours</a:t>
            </a:r>
            <a:endParaRPr lang="en-US" sz="1300" dirty="0"/>
          </a:p>
        </p:txBody>
      </p:sp>
      <p:sp>
        <p:nvSpPr>
          <p:cNvPr id="15" name="Text 10"/>
          <p:cNvSpPr txBox="1"/>
          <p:nvPr/>
        </p:nvSpPr>
        <p:spPr>
          <a:xfrm>
            <a:off x="4823460" y="2039112"/>
            <a:ext cx="3726180" cy="10058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 dispute over whether permission was given</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Booked 3 hrs, worked 5, billed 5 without asking</a:t>
            </a:r>
            <a:endParaRPr lang="en-US" sz="1000" dirty="0"/>
          </a:p>
        </p:txBody>
      </p:sp>
      <p:sp>
        <p:nvSpPr>
          <p:cNvPr id="16" name="Shape 11"/>
          <p:cNvSpPr/>
          <p:nvPr/>
        </p:nvSpPr>
        <p:spPr>
          <a:xfrm>
            <a:off x="411480" y="338328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93008"/>
            <a:ext cx="164592" cy="164592"/>
          </a:xfrm>
          <a:prstGeom prst="rect">
            <a:avLst/>
          </a:prstGeom>
        </p:spPr>
      </p:pic>
      <p:sp>
        <p:nvSpPr>
          <p:cNvPr id="18" name="Text 12"/>
          <p:cNvSpPr txBox="1"/>
          <p:nvPr/>
        </p:nvSpPr>
        <p:spPr>
          <a:xfrm>
            <a:off x="822960" y="34838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Cleaners can update the duration before invoicing.  </a:t>
            </a:r>
            <a:pPr indent="0" marL="0">
              <a:buNone/>
            </a:pPr>
            <a:r>
              <a:rPr lang="en-US" sz="1000" dirty="0">
                <a:solidFill>
                  <a:srgbClr val="1D1D1F"/>
                </a:solidFill>
                <a:latin typeface="SF Pro Text" pitchFamily="34" charset="0"/>
                <a:ea typeface="SF Pro Text" pitchFamily="34" charset="-122"/>
                <a:cs typeface="SF Pro Text" pitchFamily="34" charset="-120"/>
              </a:rPr>
              <a:t>Doing it without the customer's OK is the problem.</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Policies</a:t>
            </a:r>
            <a:endParaRPr lang="en-US" sz="2400" dirty="0"/>
          </a:p>
        </p:txBody>
      </p:sp>
      <p:sp>
        <p:nvSpPr>
          <p:cNvPr id="5" name="Shape 2"/>
          <p:cNvSpPr/>
          <p:nvPr/>
        </p:nvSpPr>
        <p:spPr>
          <a:xfrm>
            <a:off x="411480" y="1325880"/>
            <a:ext cx="4091940" cy="1828800"/>
          </a:xfrm>
          <a:prstGeom prst="roundRect">
            <a:avLst>
              <a:gd name="adj" fmla="val 4000"/>
            </a:avLst>
          </a:prstGeom>
          <a:solidFill>
            <a:srgbClr val="FFFFFF"/>
          </a:solidFill>
          <a:ln w="9525">
            <a:solidFill>
              <a:srgbClr val="DCE1E7"/>
            </a:solidFill>
            <a:prstDash val="solid"/>
          </a:ln>
        </p:spPr>
      </p:sp>
      <p:sp>
        <p:nvSpPr>
          <p:cNvPr id="6" name="Shape 3"/>
          <p:cNvSpPr/>
          <p:nvPr/>
        </p:nvSpPr>
        <p:spPr>
          <a:xfrm>
            <a:off x="576072" y="149047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8" name="Text 4"/>
          <p:cNvSpPr txBox="1"/>
          <p:nvPr/>
        </p:nvSpPr>
        <p:spPr>
          <a:xfrm>
            <a:off x="5760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Consent first</a:t>
            </a:r>
            <a:endParaRPr lang="en-US" sz="1200" dirty="0"/>
          </a:p>
        </p:txBody>
      </p:sp>
      <p:sp>
        <p:nvSpPr>
          <p:cNvPr id="9" name="Text 5"/>
          <p:cNvSpPr txBox="1"/>
          <p:nvPr/>
        </p:nvSpPr>
        <p:spPr>
          <a:xfrm>
            <a:off x="576072" y="2221992"/>
            <a:ext cx="37627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Any hours the customer didn't authorize are refundable.</a:t>
            </a:r>
            <a:endParaRPr lang="en-US" sz="950" dirty="0"/>
          </a:p>
        </p:txBody>
      </p:sp>
      <p:sp>
        <p:nvSpPr>
          <p:cNvPr id="10" name="Shape 6"/>
          <p:cNvSpPr/>
          <p:nvPr/>
        </p:nvSpPr>
        <p:spPr>
          <a:xfrm>
            <a:off x="4640580" y="1325880"/>
            <a:ext cx="4091940" cy="1828800"/>
          </a:xfrm>
          <a:prstGeom prst="roundRect">
            <a:avLst>
              <a:gd name="adj" fmla="val 4000"/>
            </a:avLst>
          </a:prstGeom>
          <a:solidFill>
            <a:srgbClr val="FFFFFF"/>
          </a:solidFill>
          <a:ln w="9525">
            <a:solidFill>
              <a:srgbClr val="DCE1E7"/>
            </a:solidFill>
            <a:prstDash val="solid"/>
          </a:ln>
        </p:spPr>
      </p:sp>
      <p:sp>
        <p:nvSpPr>
          <p:cNvPr id="11" name="Shape 7"/>
          <p:cNvSpPr/>
          <p:nvPr/>
        </p:nvSpPr>
        <p:spPr>
          <a:xfrm>
            <a:off x="4805172" y="149047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4884176" y="1569476"/>
            <a:ext cx="171176" cy="171176"/>
          </a:xfrm>
          <a:prstGeom prst="rect">
            <a:avLst/>
          </a:prstGeom>
        </p:spPr>
      </p:pic>
      <p:sp>
        <p:nvSpPr>
          <p:cNvPr id="13" name="Text 8"/>
          <p:cNvSpPr txBox="1"/>
          <p:nvPr/>
        </p:nvSpPr>
        <p:spPr>
          <a:xfrm>
            <a:off x="48051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Permanently suspended?</a:t>
            </a:r>
            <a:endParaRPr lang="en-US" sz="1200" dirty="0"/>
          </a:p>
        </p:txBody>
      </p:sp>
      <p:sp>
        <p:nvSpPr>
          <p:cNvPr id="14" name="Text 9"/>
          <p:cNvSpPr txBox="1"/>
          <p:nvPr/>
        </p:nvSpPr>
        <p:spPr>
          <a:xfrm>
            <a:off x="4805172" y="2221992"/>
            <a:ext cx="37627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Skip asking the cleaner for proof. Resolve directly with the customer.</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process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Refund first, verify after.</a:t>
            </a:r>
            <a:endParaRPr lang="en-US" sz="1200" dirty="0"/>
          </a:p>
        </p:txBody>
      </p:sp>
      <p:sp>
        <p:nvSpPr>
          <p:cNvPr id="6" name="Shape 3"/>
          <p:cNvSpPr/>
          <p:nvPr/>
        </p:nvSpPr>
        <p:spPr>
          <a:xfrm>
            <a:off x="6949440" y="868680"/>
            <a:ext cx="1783080" cy="365760"/>
          </a:xfrm>
          <a:prstGeom prst="roundRect">
            <a:avLst>
              <a:gd name="adj" fmla="val 20000"/>
            </a:avLst>
          </a:prstGeom>
          <a:solidFill>
            <a:srgbClr val="0B7A6F"/>
          </a:solidFill>
          <a:ln w="12700">
            <a:solidFill>
              <a:srgbClr val="0B7A6F"/>
            </a:solidFill>
            <a:prstDash val="solid"/>
          </a:ln>
        </p:spPr>
      </p:sp>
      <p:pic>
        <p:nvPicPr>
          <p:cNvPr id="7" name="Image 0" descr="preencoded.png">    </p:cNvPr>
          <p:cNvPicPr>
            <a:picLocks noChangeAspect="1"/>
          </p:cNvPicPr>
          <p:nvPr/>
        </p:nvPicPr>
        <p:blipFill>
          <a:blip r:embed="rId1"/>
          <a:stretch>
            <a:fillRect/>
          </a:stretch>
        </p:blipFill>
        <p:spPr>
          <a:xfrm>
            <a:off x="7086600" y="960120"/>
            <a:ext cx="182880" cy="182880"/>
          </a:xfrm>
          <a:prstGeom prst="rect">
            <a:avLst/>
          </a:prstGeom>
        </p:spPr>
      </p:pic>
      <p:sp>
        <p:nvSpPr>
          <p:cNvPr id="8" name="Text 4"/>
          <p:cNvSpPr txBox="1"/>
          <p:nvPr/>
        </p:nvSpPr>
        <p:spPr>
          <a:xfrm>
            <a:off x="7333488" y="868680"/>
            <a:ext cx="1325880" cy="365760"/>
          </a:xfrm>
          <a:prstGeom prst="rect">
            <a:avLst/>
          </a:prstGeom>
          <a:noFill/>
          <a:ln/>
        </p:spPr>
        <p:txBody>
          <a:bodyPr wrap="square" lIns="0" tIns="0" rIns="0" bIns="0" rtlCol="0" anchor="ctr"/>
          <a:lstStyle/>
          <a:p>
            <a:pPr indent="0" marL="0">
              <a:buNone/>
            </a:pPr>
            <a:r>
              <a:rPr lang="en-US" sz="1100" b="1" dirty="0">
                <a:solidFill>
                  <a:srgbClr val="FFFFFF"/>
                </a:solidFill>
                <a:latin typeface="SF Pro Display" pitchFamily="34" charset="0"/>
                <a:ea typeface="SF Pro Display" pitchFamily="34" charset="-122"/>
                <a:cs typeface="SF Pro Display" pitchFamily="34" charset="-120"/>
              </a:rPr>
              <a:t>Show details</a:t>
            </a:r>
            <a:endParaRPr lang="en-US" sz="1100" dirty="0"/>
          </a:p>
        </p:txBody>
      </p:sp>
      <p:sp>
        <p:nvSpPr>
          <p:cNvPr id="9" name="Shape 5"/>
          <p:cNvSpPr/>
          <p:nvPr/>
        </p:nvSpPr>
        <p:spPr>
          <a:xfrm>
            <a:off x="548640" y="1371600"/>
            <a:ext cx="2926080" cy="548640"/>
          </a:xfrm>
          <a:prstGeom prst="roundRect">
            <a:avLst>
              <a:gd name="adj" fmla="val 13333"/>
            </a:avLst>
          </a:prstGeom>
          <a:solidFill>
            <a:srgbClr val="0B7A6F"/>
          </a:solidFill>
          <a:ln w="12700">
            <a:solidFill>
              <a:srgbClr val="0B7A6F"/>
            </a:solidFill>
            <a:prstDash val="solid"/>
          </a:ln>
        </p:spPr>
      </p:sp>
      <p:sp>
        <p:nvSpPr>
          <p:cNvPr id="10" name="Text 6"/>
          <p:cNvSpPr txBox="1"/>
          <p:nvPr/>
        </p:nvSpPr>
        <p:spPr>
          <a:xfrm>
            <a:off x="548640" y="1371600"/>
            <a:ext cx="2926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Refund the unauthorized hours only</a:t>
            </a:r>
            <a:endParaRPr lang="en-US" sz="1000" dirty="0"/>
          </a:p>
        </p:txBody>
      </p:sp>
      <p:sp>
        <p:nvSpPr>
          <p:cNvPr id="11" name="Shape 7"/>
          <p:cNvSpPr/>
          <p:nvPr/>
        </p:nvSpPr>
        <p:spPr>
          <a:xfrm>
            <a:off x="2011680" y="1920240"/>
            <a:ext cx="0" cy="246888"/>
          </a:xfrm>
          <a:prstGeom prst="line">
            <a:avLst/>
          </a:prstGeom>
          <a:noFill/>
          <a:ln w="12700">
            <a:solidFill>
              <a:srgbClr val="6E6E73"/>
            </a:solidFill>
            <a:prstDash val="solid"/>
            <a:tailEnd type="triangle"/>
          </a:ln>
        </p:spPr>
      </p:sp>
      <p:sp>
        <p:nvSpPr>
          <p:cNvPr id="12" name="Shape 8"/>
          <p:cNvSpPr/>
          <p:nvPr/>
        </p:nvSpPr>
        <p:spPr>
          <a:xfrm>
            <a:off x="3474720" y="1645920"/>
            <a:ext cx="274320" cy="0"/>
          </a:xfrm>
          <a:prstGeom prst="line">
            <a:avLst/>
          </a:prstGeom>
          <a:noFill/>
          <a:ln w="12700">
            <a:solidFill>
              <a:srgbClr val="6E6E73"/>
            </a:solidFill>
            <a:prstDash val="solid"/>
          </a:ln>
        </p:spPr>
      </p:sp>
      <p:sp>
        <p:nvSpPr>
          <p:cNvPr id="13" name="type1Desc"/>
          <p:cNvSpPr txBox="1"/>
          <p:nvPr/>
        </p:nvSpPr>
        <p:spPr>
          <a:xfrm>
            <a:off x="3840480" y="1371600"/>
            <a:ext cx="4709160" cy="548640"/>
          </a:xfrm>
          <a:prstGeom prst="rect">
            <a:avLst/>
          </a:prstGeom>
          <a:noFill/>
          <a:ln/>
        </p:spPr>
        <p:txBody>
          <a:bodyPr wrap="square" lIns="0" tIns="0" rIns="0" bIns="0" rtlCol="0" anchor="ctr"/>
          <a:lstStyle/>
          <a:p>
            <a:pPr indent="0" marL="0">
              <a:buNone/>
            </a:pPr>
            <a:r>
              <a:rPr lang="en-US" sz="950" dirty="0">
                <a:solidFill>
                  <a:srgbClr val="6E6E73"/>
                </a:solidFill>
                <a:latin typeface="SF Pro Text" pitchFamily="34" charset="0"/>
                <a:ea typeface="SF Pro Text" pitchFamily="34" charset="-122"/>
                <a:cs typeface="SF Pro Text" pitchFamily="34" charset="-120"/>
              </a:rPr>
              <a:t>Refund via the CP Dashboard for the alleged unauthorized hours only, not the full job.</a:t>
            </a:r>
            <a:endParaRPr lang="en-US" sz="950" dirty="0"/>
          </a:p>
        </p:txBody>
      </p:sp>
      <p:sp>
        <p:nvSpPr>
          <p:cNvPr id="14" name="Shape 10"/>
          <p:cNvSpPr/>
          <p:nvPr/>
        </p:nvSpPr>
        <p:spPr>
          <a:xfrm>
            <a:off x="548640" y="2167128"/>
            <a:ext cx="2926080" cy="548640"/>
          </a:xfrm>
          <a:prstGeom prst="roundRect">
            <a:avLst>
              <a:gd name="adj" fmla="val 13333"/>
            </a:avLst>
          </a:prstGeom>
          <a:solidFill>
            <a:srgbClr val="0B7A6F"/>
          </a:solidFill>
          <a:ln w="12700">
            <a:solidFill>
              <a:srgbClr val="0B7A6F"/>
            </a:solidFill>
            <a:prstDash val="solid"/>
          </a:ln>
        </p:spPr>
      </p:sp>
      <p:sp>
        <p:nvSpPr>
          <p:cNvPr id="15" name="Text 11"/>
          <p:cNvSpPr txBox="1"/>
          <p:nvPr/>
        </p:nvSpPr>
        <p:spPr>
          <a:xfrm>
            <a:off x="548640" y="2167128"/>
            <a:ext cx="2926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Coach CP + request evidence</a:t>
            </a:r>
            <a:endParaRPr lang="en-US" sz="1000" dirty="0"/>
          </a:p>
        </p:txBody>
      </p:sp>
      <p:sp>
        <p:nvSpPr>
          <p:cNvPr id="16" name="Shape 12"/>
          <p:cNvSpPr/>
          <p:nvPr/>
        </p:nvSpPr>
        <p:spPr>
          <a:xfrm>
            <a:off x="2011680" y="2715768"/>
            <a:ext cx="0" cy="246888"/>
          </a:xfrm>
          <a:prstGeom prst="line">
            <a:avLst/>
          </a:prstGeom>
          <a:noFill/>
          <a:ln w="12700">
            <a:solidFill>
              <a:srgbClr val="6E6E73"/>
            </a:solidFill>
            <a:prstDash val="solid"/>
            <a:tailEnd type="triangle"/>
          </a:ln>
        </p:spPr>
      </p:sp>
      <p:sp>
        <p:nvSpPr>
          <p:cNvPr id="17" name="Shape 13"/>
          <p:cNvSpPr/>
          <p:nvPr/>
        </p:nvSpPr>
        <p:spPr>
          <a:xfrm>
            <a:off x="3474720" y="2441448"/>
            <a:ext cx="274320" cy="0"/>
          </a:xfrm>
          <a:prstGeom prst="line">
            <a:avLst/>
          </a:prstGeom>
          <a:noFill/>
          <a:ln w="12700">
            <a:solidFill>
              <a:srgbClr val="6E6E73"/>
            </a:solidFill>
            <a:prstDash val="solid"/>
          </a:ln>
        </p:spPr>
      </p:sp>
      <p:sp>
        <p:nvSpPr>
          <p:cNvPr id="18" name="type2Desc"/>
          <p:cNvSpPr txBox="1"/>
          <p:nvPr/>
        </p:nvSpPr>
        <p:spPr>
          <a:xfrm>
            <a:off x="3840480" y="2167128"/>
            <a:ext cx="4709160" cy="548640"/>
          </a:xfrm>
          <a:prstGeom prst="rect">
            <a:avLst/>
          </a:prstGeom>
          <a:noFill/>
          <a:ln/>
        </p:spPr>
        <p:txBody>
          <a:bodyPr wrap="square" lIns="0" tIns="0" rIns="0" bIns="0" rtlCol="0" anchor="ctr"/>
          <a:lstStyle/>
          <a:p>
            <a:pPr indent="0" marL="0">
              <a:buNone/>
            </a:pPr>
            <a:r>
              <a:rPr lang="en-US" sz="950" dirty="0">
                <a:solidFill>
                  <a:srgbClr val="6E6E73"/>
                </a:solidFill>
                <a:latin typeface="SF Pro Text" pitchFamily="34" charset="0"/>
                <a:ea typeface="SF Pro Text" pitchFamily="34" charset="-122"/>
                <a:cs typeface="SF Pro Text" pitchFamily="34" charset="-120"/>
              </a:rPr>
              <a:t>Send coaching comms to the CP. The CP has 3 days to prove the customer authorized the extra hours.</a:t>
            </a:r>
            <a:endParaRPr lang="en-US" sz="950" dirty="0"/>
          </a:p>
        </p:txBody>
      </p:sp>
      <p:sp>
        <p:nvSpPr>
          <p:cNvPr id="19" name="Shape 15"/>
          <p:cNvSpPr/>
          <p:nvPr/>
        </p:nvSpPr>
        <p:spPr>
          <a:xfrm>
            <a:off x="548640" y="2962656"/>
            <a:ext cx="2926080" cy="548640"/>
          </a:xfrm>
          <a:prstGeom prst="roundRect">
            <a:avLst>
              <a:gd name="adj" fmla="val 13333"/>
            </a:avLst>
          </a:prstGeom>
          <a:solidFill>
            <a:srgbClr val="FFF3D6"/>
          </a:solidFill>
          <a:ln w="12700">
            <a:solidFill>
              <a:srgbClr val="9A6410"/>
            </a:solidFill>
            <a:prstDash val="solid"/>
          </a:ln>
        </p:spPr>
      </p:sp>
      <p:sp>
        <p:nvSpPr>
          <p:cNvPr id="20" name="Text 16"/>
          <p:cNvSpPr txBox="1"/>
          <p:nvPr/>
        </p:nvSpPr>
        <p:spPr>
          <a:xfrm>
            <a:off x="548640" y="2962656"/>
            <a:ext cx="2926080" cy="54864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Check for Premium charge</a:t>
            </a:r>
            <a:endParaRPr lang="en-US" sz="1000" dirty="0"/>
          </a:p>
        </p:txBody>
      </p:sp>
      <p:sp>
        <p:nvSpPr>
          <p:cNvPr id="21" name="Shape 17"/>
          <p:cNvSpPr/>
          <p:nvPr/>
        </p:nvSpPr>
        <p:spPr>
          <a:xfrm>
            <a:off x="2011680" y="3511296"/>
            <a:ext cx="0" cy="246888"/>
          </a:xfrm>
          <a:prstGeom prst="line">
            <a:avLst/>
          </a:prstGeom>
          <a:noFill/>
          <a:ln w="12700">
            <a:solidFill>
              <a:srgbClr val="6E6E73"/>
            </a:solidFill>
            <a:prstDash val="solid"/>
            <a:tailEnd type="triangle"/>
          </a:ln>
        </p:spPr>
      </p:sp>
      <p:sp>
        <p:nvSpPr>
          <p:cNvPr id="22" name="Shape 18"/>
          <p:cNvSpPr/>
          <p:nvPr/>
        </p:nvSpPr>
        <p:spPr>
          <a:xfrm>
            <a:off x="3474720" y="3236976"/>
            <a:ext cx="274320" cy="0"/>
          </a:xfrm>
          <a:prstGeom prst="line">
            <a:avLst/>
          </a:prstGeom>
          <a:noFill/>
          <a:ln w="12700">
            <a:solidFill>
              <a:srgbClr val="6E6E73"/>
            </a:solidFill>
            <a:prstDash val="solid"/>
          </a:ln>
        </p:spPr>
      </p:sp>
      <p:sp>
        <p:nvSpPr>
          <p:cNvPr id="23" name="type3Desc"/>
          <p:cNvSpPr txBox="1"/>
          <p:nvPr/>
        </p:nvSpPr>
        <p:spPr>
          <a:xfrm>
            <a:off x="3840480" y="2962656"/>
            <a:ext cx="4709160" cy="548640"/>
          </a:xfrm>
          <a:prstGeom prst="rect">
            <a:avLst/>
          </a:prstGeom>
          <a:noFill/>
          <a:ln/>
        </p:spPr>
        <p:txBody>
          <a:bodyPr wrap="square" lIns="0" tIns="0" rIns="0" bIns="0" rtlCol="0" anchor="ctr"/>
          <a:lstStyle/>
          <a:p>
            <a:pPr indent="0" marL="0">
              <a:buNone/>
            </a:pPr>
            <a:r>
              <a:rPr lang="en-US" sz="950" dirty="0">
                <a:solidFill>
                  <a:srgbClr val="6E6E73"/>
                </a:solidFill>
                <a:latin typeface="SF Pro Text" pitchFamily="34" charset="0"/>
                <a:ea typeface="SF Pro Text" pitchFamily="34" charset="-122"/>
                <a:cs typeface="SF Pro Text" pitchFamily="34" charset="-120"/>
              </a:rPr>
              <a:t>If a Premium fee was charged, refund it.</a:t>
            </a:r>
            <a:endParaRPr lang="en-US" sz="950" dirty="0"/>
          </a:p>
        </p:txBody>
      </p:sp>
      <p:sp>
        <p:nvSpPr>
          <p:cNvPr id="24" name="Shape 20"/>
          <p:cNvSpPr/>
          <p:nvPr/>
        </p:nvSpPr>
        <p:spPr>
          <a:xfrm>
            <a:off x="548640" y="3758184"/>
            <a:ext cx="2926080" cy="548640"/>
          </a:xfrm>
          <a:prstGeom prst="roundRect">
            <a:avLst>
              <a:gd name="adj" fmla="val 13333"/>
            </a:avLst>
          </a:prstGeom>
          <a:solidFill>
            <a:srgbClr val="1D1D1F"/>
          </a:solidFill>
          <a:ln w="12700">
            <a:solidFill>
              <a:srgbClr val="1D1D1F"/>
            </a:solidFill>
            <a:prstDash val="solid"/>
          </a:ln>
        </p:spPr>
      </p:sp>
      <p:sp>
        <p:nvSpPr>
          <p:cNvPr id="25" name="Text 21"/>
          <p:cNvSpPr txBox="1"/>
          <p:nvPr/>
        </p:nvSpPr>
        <p:spPr>
          <a:xfrm>
            <a:off x="548640" y="3758184"/>
            <a:ext cx="292608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Close the loop with the customer, done</a:t>
            </a:r>
            <a:endParaRPr lang="en-US" sz="1000" dirty="0"/>
          </a:p>
        </p:txBody>
      </p:sp>
      <p:sp>
        <p:nvSpPr>
          <p:cNvPr id="26" name="Shape 22"/>
          <p:cNvSpPr/>
          <p:nvPr/>
        </p:nvSpPr>
        <p:spPr>
          <a:xfrm>
            <a:off x="3474720" y="4032504"/>
            <a:ext cx="274320" cy="0"/>
          </a:xfrm>
          <a:prstGeom prst="line">
            <a:avLst/>
          </a:prstGeom>
          <a:noFill/>
          <a:ln w="12700">
            <a:solidFill>
              <a:srgbClr val="6E6E73"/>
            </a:solidFill>
            <a:prstDash val="solid"/>
          </a:ln>
        </p:spPr>
      </p:sp>
      <p:sp>
        <p:nvSpPr>
          <p:cNvPr id="27" name="type4Desc"/>
          <p:cNvSpPr txBox="1"/>
          <p:nvPr/>
        </p:nvSpPr>
        <p:spPr>
          <a:xfrm>
            <a:off x="3840480" y="3758184"/>
            <a:ext cx="4709160" cy="548640"/>
          </a:xfrm>
          <a:prstGeom prst="rect">
            <a:avLst/>
          </a:prstGeom>
          <a:noFill/>
          <a:ln/>
        </p:spPr>
        <p:txBody>
          <a:bodyPr wrap="square" lIns="0" tIns="0" rIns="0" bIns="0" rtlCol="0" anchor="ctr"/>
          <a:lstStyle/>
          <a:p>
            <a:pPr indent="0" marL="0">
              <a:buNone/>
            </a:pPr>
            <a:r>
              <a:rPr lang="en-US" sz="950" dirty="0">
                <a:solidFill>
                  <a:srgbClr val="6E6E73"/>
                </a:solidFill>
                <a:latin typeface="SF Pro Text" pitchFamily="34" charset="0"/>
                <a:ea typeface="SF Pro Text" pitchFamily="34" charset="-122"/>
                <a:cs typeface="SF Pro Text" pitchFamily="34" charset="-120"/>
              </a:rPr>
              <a:t>Tell the customer the refund was processed on their cleaner's behalf. Remind them to leave clear instructions for future cleaners. Block the C/CP pairing.</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40"/>
                                  </p:iterate>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40"/>
                                  </p:iterate>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40"/>
                                  </p:iterate>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40"/>
                                  </p:iterate>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8" grpId="0" animBg="1"/>
      <p:bldP spid="23"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Scenario: the helper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CP brought a helper, worked half the duration, and charged in full.</a:t>
            </a:r>
            <a:endParaRPr lang="en-US" sz="1200" dirty="0"/>
          </a:p>
        </p:txBody>
      </p:sp>
      <p:sp>
        <p:nvSpPr>
          <p:cNvPr id="6" name="Shape 3"/>
          <p:cNvSpPr/>
          <p:nvPr/>
        </p:nvSpPr>
        <p:spPr>
          <a:xfrm>
            <a:off x="2971800" y="1234440"/>
            <a:ext cx="3200400" cy="530352"/>
          </a:xfrm>
          <a:prstGeom prst="roundRect">
            <a:avLst>
              <a:gd name="adj" fmla="val 13793"/>
            </a:avLst>
          </a:prstGeom>
          <a:solidFill>
            <a:srgbClr val="FFF3D6"/>
          </a:solidFill>
          <a:ln w="12700">
            <a:solidFill>
              <a:srgbClr val="9A6410"/>
            </a:solidFill>
            <a:prstDash val="solid"/>
          </a:ln>
        </p:spPr>
      </p:sp>
      <p:sp>
        <p:nvSpPr>
          <p:cNvPr id="7" name="Text 4"/>
          <p:cNvSpPr txBox="1"/>
          <p:nvPr/>
        </p:nvSpPr>
        <p:spPr>
          <a:xfrm>
            <a:off x="2971800" y="1234440"/>
            <a:ext cx="3200400" cy="530352"/>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Evidence says C authorized</a:t>
            </a:r>
            <a:endParaRPr lang="en-US" sz="1000" dirty="0"/>
          </a:p>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helper + reduced hours?</a:t>
            </a:r>
            <a:endParaRPr lang="en-US" sz="1000" dirty="0"/>
          </a:p>
        </p:txBody>
      </p:sp>
      <p:sp>
        <p:nvSpPr>
          <p:cNvPr id="8" name="Shape 5"/>
          <p:cNvSpPr/>
          <p:nvPr/>
        </p:nvSpPr>
        <p:spPr>
          <a:xfrm>
            <a:off x="4572000" y="1764792"/>
            <a:ext cx="0" cy="292608"/>
          </a:xfrm>
          <a:prstGeom prst="line">
            <a:avLst/>
          </a:prstGeom>
          <a:noFill/>
          <a:ln w="12700">
            <a:solidFill>
              <a:srgbClr val="6E6E73"/>
            </a:solidFill>
            <a:prstDash val="solid"/>
          </a:ln>
        </p:spPr>
      </p:sp>
      <p:sp>
        <p:nvSpPr>
          <p:cNvPr id="9" name="Shape 6"/>
          <p:cNvSpPr/>
          <p:nvPr/>
        </p:nvSpPr>
        <p:spPr>
          <a:xfrm>
            <a:off x="2331720" y="2057400"/>
            <a:ext cx="4480560" cy="0"/>
          </a:xfrm>
          <a:prstGeom prst="line">
            <a:avLst/>
          </a:prstGeom>
          <a:noFill/>
          <a:ln w="12700">
            <a:solidFill>
              <a:srgbClr val="6E6E73"/>
            </a:solidFill>
            <a:prstDash val="solid"/>
          </a:ln>
        </p:spPr>
      </p:sp>
      <p:sp>
        <p:nvSpPr>
          <p:cNvPr id="10" name="Shape 7"/>
          <p:cNvSpPr/>
          <p:nvPr/>
        </p:nvSpPr>
        <p:spPr>
          <a:xfrm>
            <a:off x="2331720" y="2057400"/>
            <a:ext cx="0" cy="320040"/>
          </a:xfrm>
          <a:prstGeom prst="line">
            <a:avLst/>
          </a:prstGeom>
          <a:noFill/>
          <a:ln w="12700">
            <a:solidFill>
              <a:srgbClr val="6E6E73"/>
            </a:solidFill>
            <a:prstDash val="solid"/>
            <a:tailEnd type="triangle"/>
          </a:ln>
        </p:spPr>
      </p:sp>
      <p:sp>
        <p:nvSpPr>
          <p:cNvPr id="11" name="Shape 8"/>
          <p:cNvSpPr/>
          <p:nvPr/>
        </p:nvSpPr>
        <p:spPr>
          <a:xfrm>
            <a:off x="6812280" y="2057400"/>
            <a:ext cx="0" cy="320040"/>
          </a:xfrm>
          <a:prstGeom prst="line">
            <a:avLst/>
          </a:prstGeom>
          <a:noFill/>
          <a:ln w="12700">
            <a:solidFill>
              <a:srgbClr val="6E6E73"/>
            </a:solidFill>
            <a:prstDash val="solid"/>
            <a:tailEnd type="triangle"/>
          </a:ln>
        </p:spPr>
      </p:sp>
      <p:sp>
        <p:nvSpPr>
          <p:cNvPr id="12" name="Text 9"/>
          <p:cNvSpPr txBox="1"/>
          <p:nvPr/>
        </p:nvSpPr>
        <p:spPr>
          <a:xfrm>
            <a:off x="2404872" y="2075688"/>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3" name="Text 10"/>
          <p:cNvSpPr txBox="1"/>
          <p:nvPr/>
        </p:nvSpPr>
        <p:spPr>
          <a:xfrm>
            <a:off x="6885432" y="2075688"/>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14" name="Shape 11"/>
          <p:cNvSpPr/>
          <p:nvPr/>
        </p:nvSpPr>
        <p:spPr>
          <a:xfrm>
            <a:off x="868680" y="2377440"/>
            <a:ext cx="2926080" cy="502920"/>
          </a:xfrm>
          <a:prstGeom prst="roundRect">
            <a:avLst>
              <a:gd name="adj" fmla="val 14545"/>
            </a:avLst>
          </a:prstGeom>
          <a:solidFill>
            <a:srgbClr val="FFFFFF"/>
          </a:solidFill>
          <a:ln w="12700">
            <a:solidFill>
              <a:srgbClr val="DCE1E7"/>
            </a:solidFill>
            <a:prstDash val="solid"/>
          </a:ln>
        </p:spPr>
      </p:sp>
      <p:sp>
        <p:nvSpPr>
          <p:cNvPr id="15" name="Text 12"/>
          <p:cNvSpPr txBox="1"/>
          <p:nvPr/>
        </p:nvSpPr>
        <p:spPr>
          <a:xfrm>
            <a:off x="868680" y="2377440"/>
            <a:ext cx="2926080" cy="502920"/>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No penalty</a:t>
            </a:r>
            <a:endParaRPr lang="en-US" sz="1000" dirty="0"/>
          </a:p>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C agreed to this</a:t>
            </a:r>
            <a:endParaRPr lang="en-US" sz="1000" dirty="0"/>
          </a:p>
        </p:txBody>
      </p:sp>
      <p:sp>
        <p:nvSpPr>
          <p:cNvPr id="16" name="Shape 13"/>
          <p:cNvSpPr/>
          <p:nvPr/>
        </p:nvSpPr>
        <p:spPr>
          <a:xfrm>
            <a:off x="5349240" y="2377440"/>
            <a:ext cx="2926080" cy="502920"/>
          </a:xfrm>
          <a:prstGeom prst="roundRect">
            <a:avLst>
              <a:gd name="adj" fmla="val 14545"/>
            </a:avLst>
          </a:prstGeom>
          <a:solidFill>
            <a:srgbClr val="1D1D1F"/>
          </a:solidFill>
          <a:ln w="12700">
            <a:solidFill>
              <a:srgbClr val="1D1D1F"/>
            </a:solidFill>
            <a:prstDash val="solid"/>
          </a:ln>
        </p:spPr>
      </p:sp>
      <p:sp>
        <p:nvSpPr>
          <p:cNvPr id="17" name="Text 14"/>
          <p:cNvSpPr txBox="1"/>
          <p:nvPr/>
        </p:nvSpPr>
        <p:spPr>
          <a:xfrm>
            <a:off x="5349240" y="2377440"/>
            <a:ext cx="2926080"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Request documentation</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Same as the main flow</a:t>
            </a:r>
            <a:endParaRPr lang="en-US" sz="1000" dirty="0"/>
          </a:p>
        </p:txBody>
      </p:sp>
      <p:sp>
        <p:nvSpPr>
          <p:cNvPr id="18" name="Text 15"/>
          <p:cNvSpPr txBox="1"/>
          <p:nvPr/>
        </p:nvSpPr>
        <p:spPr>
          <a:xfrm>
            <a:off x="868680" y="2999232"/>
            <a:ext cx="2926080" cy="1143000"/>
          </a:xfrm>
          <a:prstGeom prst="rect">
            <a:avLst/>
          </a:prstGeom>
          <a:noFill/>
          <a:ln/>
        </p:spPr>
        <p:txBody>
          <a:bodyPr wrap="square" lIns="0" tIns="0" rIns="0" bIns="0" rtlCol="0" anchor="t"/>
          <a:lstStyle/>
          <a:p>
            <a:pPr indent="0" marL="0">
              <a:spcAft>
                <a:spcPts val="300"/>
              </a:spcAft>
              <a:buNone/>
            </a:pPr>
            <a:r>
              <a:rPr lang="en-US" sz="900" b="1" dirty="0">
                <a:solidFill>
                  <a:srgbClr val="1D1D1F"/>
                </a:solidFill>
                <a:latin typeface="SF Pro Text" pitchFamily="34" charset="0"/>
                <a:ea typeface="SF Pro Text" pitchFamily="34" charset="-122"/>
                <a:cs typeface="SF Pro Text" pitchFamily="34" charset="-120"/>
              </a:rPr>
              <a:t>Tell the customer </a:t>
            </a:r>
            <a:pPr indent="0" marL="0">
              <a:spcAft>
                <a:spcPts val="300"/>
              </a:spcAft>
              <a:buNone/>
            </a:pPr>
            <a:r>
              <a:rPr lang="en-US" sz="900" dirty="0">
                <a:solidFill>
                  <a:srgbClr val="6E6E73"/>
                </a:solidFill>
                <a:latin typeface="SF Pro Text" pitchFamily="34" charset="0"/>
                <a:ea typeface="SF Pro Text" pitchFamily="34" charset="-122"/>
                <a:cs typeface="SF Pro Text" pitchFamily="34" charset="-120"/>
              </a:rPr>
              <a:t>records show they authorized the helper and the shorter time.</a:t>
            </a:r>
            <a:endParaRPr lang="en-US" sz="900" dirty="0"/>
          </a:p>
          <a:p>
            <a:pPr indent="0" marL="0">
              <a:spcAft>
                <a:spcPts val="300"/>
              </a:spcAft>
              <a:buNone/>
            </a:pPr>
            <a:r>
              <a:rPr lang="en-US" sz="900" b="1" dirty="0">
                <a:solidFill>
                  <a:srgbClr val="1D1D1F"/>
                </a:solidFill>
                <a:latin typeface="SF Pro Text" pitchFamily="34" charset="0"/>
                <a:ea typeface="SF Pro Text" pitchFamily="34" charset="-122"/>
                <a:cs typeface="SF Pro Text" pitchFamily="34" charset="-120"/>
              </a:rPr>
              <a:t>Address </a:t>
            </a:r>
            <a:pPr indent="0" marL="0">
              <a:spcAft>
                <a:spcPts val="300"/>
              </a:spcAft>
              <a:buNone/>
            </a:pPr>
            <a:r>
              <a:rPr lang="en-US" sz="900" dirty="0">
                <a:solidFill>
                  <a:srgbClr val="6E6E73"/>
                </a:solidFill>
                <a:latin typeface="SF Pro Text" pitchFamily="34" charset="0"/>
                <a:ea typeface="SF Pro Text" pitchFamily="34" charset="-122"/>
                <a:cs typeface="SF Pro Text" pitchFamily="34" charset="-120"/>
              </a:rPr>
              <a:t>any other pain points.</a:t>
            </a:r>
            <a:endParaRPr lang="en-US" sz="900" dirty="0"/>
          </a:p>
          <a:p>
            <a:pPr indent="0" marL="0">
              <a:spcAft>
                <a:spcPts val="300"/>
              </a:spcAft>
              <a:buNone/>
            </a:pPr>
            <a:r>
              <a:rPr lang="en-US" sz="900" b="1" dirty="0">
                <a:solidFill>
                  <a:srgbClr val="1D1D1F"/>
                </a:solidFill>
                <a:latin typeface="SF Pro Text" pitchFamily="34" charset="0"/>
                <a:ea typeface="SF Pro Text" pitchFamily="34" charset="-122"/>
                <a:cs typeface="SF Pro Text" pitchFamily="34" charset="-120"/>
              </a:rPr>
              <a:t>Don't </a:t>
            </a:r>
            <a:pPr indent="0" marL="0">
              <a:spcAft>
                <a:spcPts val="300"/>
              </a:spcAft>
              <a:buNone/>
            </a:pPr>
            <a:r>
              <a:rPr lang="en-US" sz="900" dirty="0">
                <a:solidFill>
                  <a:srgbClr val="6E6E73"/>
                </a:solidFill>
                <a:latin typeface="SF Pro Text" pitchFamily="34" charset="0"/>
                <a:ea typeface="SF Pro Text" pitchFamily="34" charset="-122"/>
                <a:cs typeface="SF Pro Text" pitchFamily="34" charset="-120"/>
              </a:rPr>
              <a:t>penalize the CP.</a:t>
            </a:r>
            <a:endParaRPr lang="en-US" sz="900" dirty="0"/>
          </a:p>
        </p:txBody>
      </p:sp>
      <p:sp>
        <p:nvSpPr>
          <p:cNvPr id="19" name="Text 16"/>
          <p:cNvSpPr txBox="1"/>
          <p:nvPr/>
        </p:nvSpPr>
        <p:spPr>
          <a:xfrm>
            <a:off x="5349240" y="2999232"/>
            <a:ext cx="2926080" cy="1143000"/>
          </a:xfrm>
          <a:prstGeom prst="rect">
            <a:avLst/>
          </a:prstGeom>
          <a:noFill/>
          <a:ln/>
        </p:spPr>
        <p:txBody>
          <a:bodyPr wrap="square" lIns="0" tIns="0" rIns="0" bIns="0" rtlCol="0" anchor="t"/>
          <a:lstStyle/>
          <a:p>
            <a:pPr indent="0" marL="0">
              <a:spcAft>
                <a:spcPts val="300"/>
              </a:spcAft>
              <a:buNone/>
            </a:pPr>
            <a:r>
              <a:rPr lang="en-US" sz="900" b="1" dirty="0">
                <a:solidFill>
                  <a:srgbClr val="1D1D1F"/>
                </a:solidFill>
                <a:latin typeface="SF Pro Text" pitchFamily="34" charset="0"/>
                <a:ea typeface="SF Pro Text" pitchFamily="34" charset="-122"/>
                <a:cs typeface="SF Pro Text" pitchFamily="34" charset="-120"/>
              </a:rPr>
              <a:t>Follow Branch B.</a:t>
            </a:r>
            <a:pPr indent="0" marL="0">
              <a:spcAft>
                <a:spcPts val="300"/>
              </a:spcAft>
              <a:buNone/>
            </a:pPr>
            <a:endParaRPr lang="en-US" sz="900" dirty="0"/>
          </a:p>
          <a:p>
            <a:pPr indent="0" marL="0">
              <a:spcAft>
                <a:spcPts val="300"/>
              </a:spcAft>
              <a:buNone/>
            </a:pPr>
            <a:r>
              <a:rPr lang="en-US" sz="900" b="1" dirty="0">
                <a:solidFill>
                  <a:srgbClr val="1D1D1F"/>
                </a:solidFill>
                <a:latin typeface="SF Pro Text" pitchFamily="34" charset="0"/>
                <a:ea typeface="SF Pro Text" pitchFamily="34" charset="-122"/>
                <a:cs typeface="SF Pro Text" pitchFamily="34" charset="-120"/>
              </a:rPr>
              <a:t>Request </a:t>
            </a:r>
            <a:pPr indent="0" marL="0">
              <a:spcAft>
                <a:spcPts val="300"/>
              </a:spcAft>
              <a:buNone/>
            </a:pPr>
            <a:r>
              <a:rPr lang="en-US" sz="900" dirty="0">
                <a:solidFill>
                  <a:srgbClr val="6E6E73"/>
                </a:solidFill>
                <a:latin typeface="SF Pro Text" pitchFamily="34" charset="0"/>
                <a:ea typeface="SF Pro Text" pitchFamily="34" charset="-122"/>
                <a:cs typeface="SF Pro Text" pitchFamily="34" charset="-120"/>
              </a:rPr>
              <a:t>documentation from the CP (3 days).</a:t>
            </a:r>
            <a:endParaRPr lang="en-US" sz="900" dirty="0"/>
          </a:p>
          <a:p>
            <a:pPr indent="0" marL="0">
              <a:spcAft>
                <a:spcPts val="300"/>
              </a:spcAft>
              <a:buNone/>
            </a:pPr>
            <a:r>
              <a:rPr lang="en-US" sz="900" b="1" dirty="0">
                <a:solidFill>
                  <a:srgbClr val="1D1D1F"/>
                </a:solidFill>
                <a:latin typeface="SF Pro Text" pitchFamily="34" charset="0"/>
                <a:ea typeface="SF Pro Text" pitchFamily="34" charset="-122"/>
                <a:cs typeface="SF Pro Text" pitchFamily="34" charset="-120"/>
              </a:rPr>
              <a:t>Coach: </a:t>
            </a:r>
            <a:pPr indent="0" marL="0">
              <a:spcAft>
                <a:spcPts val="300"/>
              </a:spcAft>
              <a:buNone/>
            </a:pPr>
            <a:r>
              <a:rPr lang="en-US" sz="900" dirty="0">
                <a:solidFill>
                  <a:srgbClr val="6E6E73"/>
                </a:solidFill>
                <a:latin typeface="SF Pro Text" pitchFamily="34" charset="0"/>
                <a:ea typeface="SF Pro Text" pitchFamily="34" charset="-122"/>
                <a:cs typeface="SF Pro Text" pitchFamily="34" charset="-120"/>
              </a:rPr>
              <a:t>helpers need permission and can't justify full-rate billing.</a:t>
            </a:r>
            <a:endParaRPr lang="en-US" sz="900" dirty="0"/>
          </a:p>
        </p:txBody>
      </p:sp>
      <p:sp>
        <p:nvSpPr>
          <p:cNvPr id="20" name="Shape 17"/>
          <p:cNvSpPr/>
          <p:nvPr/>
        </p:nvSpPr>
        <p:spPr>
          <a:xfrm>
            <a:off x="411480" y="4206240"/>
            <a:ext cx="8321040" cy="384048"/>
          </a:xfrm>
          <a:prstGeom prst="roundRect">
            <a:avLst>
              <a:gd name="adj" fmla="val 19048"/>
            </a:avLst>
          </a:prstGeom>
          <a:solidFill>
            <a:srgbClr val="FFF3D6"/>
          </a:solidFill>
          <a:ln w="9525">
            <a:solidFill>
              <a:srgbClr val="FFF3D6"/>
            </a:solidFill>
            <a:prstDash val="solid"/>
          </a:ln>
        </p:spPr>
      </p:sp>
      <p:pic>
        <p:nvPicPr>
          <p:cNvPr id="21" name="Image 0" descr="preencoded.png">    </p:cNvPr>
          <p:cNvPicPr>
            <a:picLocks noChangeAspect="1"/>
          </p:cNvPicPr>
          <p:nvPr/>
        </p:nvPicPr>
        <p:blipFill>
          <a:blip r:embed="rId1"/>
          <a:stretch>
            <a:fillRect/>
          </a:stretch>
        </p:blipFill>
        <p:spPr>
          <a:xfrm>
            <a:off x="566928" y="4315968"/>
            <a:ext cx="164592" cy="164592"/>
          </a:xfrm>
          <a:prstGeom prst="rect">
            <a:avLst/>
          </a:prstGeom>
        </p:spPr>
      </p:pic>
      <p:sp>
        <p:nvSpPr>
          <p:cNvPr id="22" name="Text 18"/>
          <p:cNvSpPr txBox="1"/>
          <p:nvPr/>
        </p:nvSpPr>
        <p:spPr>
          <a:xfrm>
            <a:off x="822960" y="43068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Faked documents?  </a:t>
            </a:r>
            <a:pPr indent="0" marL="0">
              <a:buNone/>
            </a:pPr>
            <a:r>
              <a:rPr lang="en-US" sz="1000" dirty="0">
                <a:solidFill>
                  <a:srgbClr val="1D1D1F"/>
                </a:solidFill>
                <a:latin typeface="SF Pro Text" pitchFamily="34" charset="0"/>
                <a:ea typeface="SF Pro Text" pitchFamily="34" charset="-122"/>
                <a:cs typeface="SF Pro Text" pitchFamily="34" charset="-120"/>
              </a:rPr>
              <a:t>stop and go to AG – Fraud (CP Document Fraud). It's a separate offence.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Booked 3 hrs. The cleaner worked 5 hrs and invoiced 5 without asking. OCH or Unauthorized Hours?</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Unauthorized Hours. The work was real, but the customer never gave permission.</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What do you refund?</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Only the 2 added hours, via the CP Dashboard. Plus Premium if charged. Not the full job.</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Do you wait for the cleaner's proof before refunding?</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Refund first. The cleaner then has 3 days to prove the customer authorized it.</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cleaner is permanently suspended. Do you request documentation?</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There's no reactivation path, so resolve directly with the customer.</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practice!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325880"/>
            <a:ext cx="3566160" cy="2743200"/>
          </a:xfrm>
          <a:prstGeom prst="roundRect">
            <a:avLst>
              <a:gd name="adj" fmla="val 2667"/>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323697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Live ticket</a:t>
            </a:r>
            <a:endParaRPr lang="en-US" sz="1200" dirty="0"/>
          </a:p>
        </p:txBody>
      </p:sp>
      <p:sp>
        <p:nvSpPr>
          <p:cNvPr id="10" name="Text 6"/>
          <p:cNvSpPr txBox="1"/>
          <p:nvPr/>
        </p:nvSpPr>
        <p:spPr>
          <a:xfrm>
            <a:off x="576072" y="2221992"/>
            <a:ext cx="3236976" cy="1755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950" dirty="0"/>
          </a:p>
        </p:txBody>
      </p:sp>
      <p:sp>
        <p:nvSpPr>
          <p:cNvPr id="11" name="Shape 7"/>
          <p:cNvSpPr/>
          <p:nvPr/>
        </p:nvSpPr>
        <p:spPr>
          <a:xfrm>
            <a:off x="594360" y="3520440"/>
            <a:ext cx="1234440" cy="274320"/>
          </a:xfrm>
          <a:prstGeom prst="roundRect">
            <a:avLst>
              <a:gd name="adj" fmla="val 26667"/>
            </a:avLst>
          </a:prstGeom>
          <a:solidFill>
            <a:srgbClr val="FFF3D6"/>
          </a:solidFill>
          <a:ln w="9525">
            <a:solidFill>
              <a:srgbClr val="FFF3D6"/>
            </a:solidFill>
            <a:prstDash val="solid"/>
          </a:ln>
        </p:spPr>
      </p:sp>
      <p:sp>
        <p:nvSpPr>
          <p:cNvPr id="12" name="Text 8"/>
          <p:cNvSpPr txBox="1"/>
          <p:nvPr/>
        </p:nvSpPr>
        <p:spPr>
          <a:xfrm>
            <a:off x="594360" y="3520440"/>
            <a:ext cx="1234440" cy="274320"/>
          </a:xfrm>
          <a:prstGeom prst="rect">
            <a:avLst/>
          </a:prstGeom>
          <a:no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Trainer provides</a:t>
            </a:r>
            <a:endParaRPr lang="en-US" sz="800" dirty="0"/>
          </a:p>
        </p:txBody>
      </p:sp>
      <p:sp>
        <p:nvSpPr>
          <p:cNvPr id="13" name="Shape 9"/>
          <p:cNvSpPr/>
          <p:nvPr/>
        </p:nvSpPr>
        <p:spPr>
          <a:xfrm>
            <a:off x="4114800" y="1325880"/>
            <a:ext cx="4617720" cy="1298448"/>
          </a:xfrm>
          <a:prstGeom prst="roundRect">
            <a:avLst>
              <a:gd name="adj" fmla="val 5634"/>
            </a:avLst>
          </a:prstGeom>
          <a:solidFill>
            <a:srgbClr val="FFFFFF"/>
          </a:solidFill>
          <a:ln w="9525">
            <a:solidFill>
              <a:srgbClr val="DCE1E7"/>
            </a:solidFill>
            <a:prstDash val="solid"/>
          </a:ln>
        </p:spPr>
      </p:sp>
      <p:sp>
        <p:nvSpPr>
          <p:cNvPr id="14" name="Shape 10"/>
          <p:cNvSpPr/>
          <p:nvPr/>
        </p:nvSpPr>
        <p:spPr>
          <a:xfrm>
            <a:off x="4279392" y="1508760"/>
            <a:ext cx="274320" cy="274320"/>
          </a:xfrm>
          <a:prstGeom prst="ellipse">
            <a:avLst/>
          </a:prstGeom>
          <a:solidFill>
            <a:srgbClr val="E3F4F1"/>
          </a:solidFill>
          <a:ln w="12700">
            <a:solidFill>
              <a:srgbClr val="E3F4F1"/>
            </a:solidFill>
            <a:prstDash val="solid"/>
          </a:ln>
        </p:spPr>
      </p:sp>
      <p:sp>
        <p:nvSpPr>
          <p:cNvPr id="15" name="Text 11"/>
          <p:cNvSpPr txBox="1"/>
          <p:nvPr/>
        </p:nvSpPr>
        <p:spPr>
          <a:xfrm>
            <a:off x="427939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6" name="Text 12"/>
          <p:cNvSpPr txBox="1"/>
          <p:nvPr/>
        </p:nvSpPr>
        <p:spPr>
          <a:xfrm>
            <a:off x="4279392" y="1929384"/>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What will be your actions?</a:t>
            </a:r>
            <a:endParaRPr lang="en-US" sz="1200" dirty="0"/>
          </a:p>
        </p:txBody>
      </p:sp>
      <p:sp>
        <p:nvSpPr>
          <p:cNvPr id="17" name="Text 13"/>
          <p:cNvSpPr txBox="1"/>
          <p:nvPr/>
        </p:nvSpPr>
        <p:spPr>
          <a:xfrm>
            <a:off x="4279392" y="2221992"/>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Which issue is it, and what will you do on the account?</a:t>
            </a:r>
            <a:endParaRPr lang="en-US" sz="950" dirty="0"/>
          </a:p>
        </p:txBody>
      </p:sp>
      <p:sp>
        <p:nvSpPr>
          <p:cNvPr id="18" name="Shape 14"/>
          <p:cNvSpPr/>
          <p:nvPr/>
        </p:nvSpPr>
        <p:spPr>
          <a:xfrm>
            <a:off x="4114800" y="2770632"/>
            <a:ext cx="4617720" cy="1298448"/>
          </a:xfrm>
          <a:prstGeom prst="roundRect">
            <a:avLst>
              <a:gd name="adj" fmla="val 5634"/>
            </a:avLst>
          </a:prstGeom>
          <a:solidFill>
            <a:srgbClr val="FFFFFF"/>
          </a:solidFill>
          <a:ln w="9525">
            <a:solidFill>
              <a:srgbClr val="DCE1E7"/>
            </a:solidFill>
            <a:prstDash val="solid"/>
          </a:ln>
        </p:spPr>
      </p:sp>
      <p:sp>
        <p:nvSpPr>
          <p:cNvPr id="19" name="Shape 15"/>
          <p:cNvSpPr/>
          <p:nvPr/>
        </p:nvSpPr>
        <p:spPr>
          <a:xfrm>
            <a:off x="4279392" y="2953512"/>
            <a:ext cx="274320" cy="274320"/>
          </a:xfrm>
          <a:prstGeom prst="ellipse">
            <a:avLst/>
          </a:prstGeom>
          <a:solidFill>
            <a:srgbClr val="E3F4F1"/>
          </a:solidFill>
          <a:ln w="12700">
            <a:solidFill>
              <a:srgbClr val="E3F4F1"/>
            </a:solidFill>
            <a:prstDash val="solid"/>
          </a:ln>
        </p:spPr>
      </p:sp>
      <p:sp>
        <p:nvSpPr>
          <p:cNvPr id="20" name="Text 16"/>
          <p:cNvSpPr txBox="1"/>
          <p:nvPr/>
        </p:nvSpPr>
        <p:spPr>
          <a:xfrm>
            <a:off x="4279392" y="295351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1" name="Text 17"/>
          <p:cNvSpPr txBox="1"/>
          <p:nvPr/>
        </p:nvSpPr>
        <p:spPr>
          <a:xfrm>
            <a:off x="4279392" y="3374136"/>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How will you respond to the customer?</a:t>
            </a:r>
            <a:endParaRPr lang="en-US" sz="1200" dirty="0"/>
          </a:p>
        </p:txBody>
      </p:sp>
      <p:sp>
        <p:nvSpPr>
          <p:cNvPr id="22" name="Text 18"/>
          <p:cNvSpPr txBox="1"/>
          <p:nvPr/>
        </p:nvSpPr>
        <p:spPr>
          <a:xfrm>
            <a:off x="4279392" y="3666744"/>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Write the reply you would send.</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HOURS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Permission is the question</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work was real. What's missing is the customer's OK.</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Refund first, verify after</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Only the added hours, plus Premium if charged.</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Coach and close the loop</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3 days for proof. Block the pairing.</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03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False Invoice</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cleaner clearly did no cleaning at all, but invoiced the job and the customer was charged.</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first check: who invoiced?</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Policies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Investigation and the 8 steps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penalty ladder</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14.png">    </p:cNvPr>
          <p:cNvPicPr>
            <a:picLocks noChangeAspect="1"/>
          </p:cNvPicPr>
          <p:nvPr/>
        </p:nvPicPr>
        <p:blipFill>
          <a:blip r:embed="rId5"/>
          <a:stretch>
            <a:fillRect/>
          </a:stretch>
        </p:blipFill>
        <p:spPr>
          <a:xfrm>
            <a:off x="5541264" y="1519076"/>
            <a:ext cx="2926080" cy="2100775"/>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First check: who invoiced?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This fork starts every False Invoice ticket.</a:t>
            </a:r>
            <a:endParaRPr lang="en-US" sz="1200" dirty="0"/>
          </a:p>
        </p:txBody>
      </p:sp>
      <p:sp>
        <p:nvSpPr>
          <p:cNvPr id="6" name="Shape 3"/>
          <p:cNvSpPr/>
          <p:nvPr/>
        </p:nvSpPr>
        <p:spPr>
          <a:xfrm>
            <a:off x="411480" y="1325880"/>
            <a:ext cx="409194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The customer invoiced it</a:t>
            </a:r>
            <a:endParaRPr lang="en-US" sz="1200" dirty="0"/>
          </a:p>
        </p:txBody>
      </p:sp>
      <p:sp>
        <p:nvSpPr>
          <p:cNvPr id="10" name="Text 6"/>
          <p:cNvSpPr txBox="1"/>
          <p:nvPr/>
        </p:nvSpPr>
        <p:spPr>
          <a:xfrm>
            <a:off x="576072" y="2221992"/>
            <a:ext cx="37627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Refund via the CP Dashboard. We recover the cleaner's pay. No penalty.</a:t>
            </a:r>
            <a:endParaRPr lang="en-US" sz="950" dirty="0"/>
          </a:p>
        </p:txBody>
      </p:sp>
      <p:sp>
        <p:nvSpPr>
          <p:cNvPr id="11" name="Shape 7"/>
          <p:cNvSpPr/>
          <p:nvPr/>
        </p:nvSpPr>
        <p:spPr>
          <a:xfrm>
            <a:off x="4640580" y="1325880"/>
            <a:ext cx="409194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4805172" y="14904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84176" y="1569476"/>
            <a:ext cx="171176" cy="171176"/>
          </a:xfrm>
          <a:prstGeom prst="rect">
            <a:avLst/>
          </a:prstGeom>
        </p:spPr>
      </p:pic>
      <p:sp>
        <p:nvSpPr>
          <p:cNvPr id="14" name="Text 9"/>
          <p:cNvSpPr txBox="1"/>
          <p:nvPr/>
        </p:nvSpPr>
        <p:spPr>
          <a:xfrm>
            <a:off x="48051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The cleaner invoiced it</a:t>
            </a:r>
            <a:endParaRPr lang="en-US" sz="1200" dirty="0"/>
          </a:p>
        </p:txBody>
      </p:sp>
      <p:sp>
        <p:nvSpPr>
          <p:cNvPr id="15" name="Text 10"/>
          <p:cNvSpPr txBox="1"/>
          <p:nvPr/>
        </p:nvSpPr>
        <p:spPr>
          <a:xfrm>
            <a:off x="4805172" y="2221992"/>
            <a:ext cx="37627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 valid False Invoice. Follow the full process and penalty ladder.</a:t>
            </a:r>
            <a:endParaRPr lang="en-US" sz="950" dirty="0"/>
          </a:p>
        </p:txBody>
      </p:sp>
      <p:sp>
        <p:nvSpPr>
          <p:cNvPr id="16" name="Shape 11"/>
          <p:cNvSpPr/>
          <p:nvPr/>
        </p:nvSpPr>
        <p:spPr>
          <a:xfrm>
            <a:off x="411480" y="333756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47288"/>
            <a:ext cx="164592" cy="164592"/>
          </a:xfrm>
          <a:prstGeom prst="rect">
            <a:avLst/>
          </a:prstGeom>
        </p:spPr>
      </p:pic>
      <p:sp>
        <p:nvSpPr>
          <p:cNvPr id="18" name="Text 12"/>
          <p:cNvSpPr txBox="1"/>
          <p:nvPr/>
        </p:nvSpPr>
        <p:spPr>
          <a:xfrm>
            <a:off x="822960" y="34381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Where to look:  </a:t>
            </a:r>
            <a:pPr indent="0" marL="0">
              <a:buNone/>
            </a:pPr>
            <a:r>
              <a:rPr lang="en-US" sz="1000" dirty="0">
                <a:solidFill>
                  <a:srgbClr val="1D1D1F"/>
                </a:solidFill>
                <a:latin typeface="SF Pro Text" pitchFamily="34" charset="0"/>
                <a:ea typeface="SF Pro Text" pitchFamily="34" charset="-122"/>
                <a:cs typeface="SF Pro Text" pitchFamily="34" charset="-120"/>
              </a:rPr>
              <a:t>the Job History shows who invoiced the job.</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Policies</a:t>
            </a:r>
            <a:endParaRPr lang="en-US" sz="2400" dirty="0"/>
          </a:p>
        </p:txBody>
      </p:sp>
      <p:sp>
        <p:nvSpPr>
          <p:cNvPr id="5" name="Shape 2"/>
          <p:cNvSpPr/>
          <p:nvPr/>
        </p:nvSpPr>
        <p:spPr>
          <a:xfrm>
            <a:off x="411480" y="1280160"/>
            <a:ext cx="2682240" cy="2057400"/>
          </a:xfrm>
          <a:prstGeom prst="roundRect">
            <a:avLst>
              <a:gd name="adj" fmla="val 3556"/>
            </a:avLst>
          </a:prstGeom>
          <a:solidFill>
            <a:srgbClr val="FFFFFF"/>
          </a:solidFill>
          <a:ln w="9525">
            <a:solidFill>
              <a:srgbClr val="DCE1E7"/>
            </a:solidFill>
            <a:prstDash val="solid"/>
          </a:ln>
        </p:spPr>
      </p:sp>
      <p:sp>
        <p:nvSpPr>
          <p:cNvPr id="6" name="Shape 3"/>
          <p:cNvSpPr/>
          <p:nvPr/>
        </p:nvSpPr>
        <p:spPr>
          <a:xfrm>
            <a:off x="576072" y="144475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8" name="Text 4"/>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120-day window</a:t>
            </a:r>
            <a:endParaRPr lang="en-US" sz="1200" dirty="0"/>
          </a:p>
        </p:txBody>
      </p:sp>
      <p:sp>
        <p:nvSpPr>
          <p:cNvPr id="9" name="Text 5"/>
          <p:cNvSpPr txBox="1"/>
          <p:nvPr/>
        </p:nvSpPr>
        <p:spPr>
          <a:xfrm>
            <a:off x="576072" y="2176272"/>
            <a:ext cx="2353056" cy="10698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Unless comms or CTJ clearly prove no cleaning happened.</a:t>
            </a:r>
            <a:endParaRPr lang="en-US" sz="950" dirty="0"/>
          </a:p>
        </p:txBody>
      </p:sp>
      <p:sp>
        <p:nvSpPr>
          <p:cNvPr id="10" name="Shape 6"/>
          <p:cNvSpPr/>
          <p:nvPr/>
        </p:nvSpPr>
        <p:spPr>
          <a:xfrm>
            <a:off x="3230880" y="1280160"/>
            <a:ext cx="2682240" cy="2057400"/>
          </a:xfrm>
          <a:prstGeom prst="roundRect">
            <a:avLst>
              <a:gd name="adj" fmla="val 3556"/>
            </a:avLst>
          </a:prstGeom>
          <a:solidFill>
            <a:srgbClr val="FFFFFF"/>
          </a:solidFill>
          <a:ln w="9525">
            <a:solidFill>
              <a:srgbClr val="DCE1E7"/>
            </a:solidFill>
            <a:prstDash val="solid"/>
          </a:ln>
        </p:spPr>
      </p:sp>
      <p:sp>
        <p:nvSpPr>
          <p:cNvPr id="11" name="Shape 7"/>
          <p:cNvSpPr/>
          <p:nvPr/>
        </p:nvSpPr>
        <p:spPr>
          <a:xfrm>
            <a:off x="3395472" y="144475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3" name="Text 8"/>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First and only job</a:t>
            </a:r>
            <a:endParaRPr lang="en-US" sz="1200" dirty="0"/>
          </a:p>
        </p:txBody>
      </p:sp>
      <p:sp>
        <p:nvSpPr>
          <p:cNvPr id="14" name="Text 9"/>
          <p:cNvSpPr txBox="1"/>
          <p:nvPr/>
        </p:nvSpPr>
        <p:spPr>
          <a:xfrm>
            <a:off x="3395472" y="2176272"/>
            <a:ext cx="2353056" cy="10698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Legacy DHJ only: voucher reinstated, MFs auto-refunded. Not FCF.</a:t>
            </a:r>
            <a:endParaRPr lang="en-US" sz="950" dirty="0"/>
          </a:p>
        </p:txBody>
      </p:sp>
      <p:sp>
        <p:nvSpPr>
          <p:cNvPr id="15" name="Shape 10"/>
          <p:cNvSpPr/>
          <p:nvPr/>
        </p:nvSpPr>
        <p:spPr>
          <a:xfrm>
            <a:off x="6050280" y="1280160"/>
            <a:ext cx="2682240" cy="2057400"/>
          </a:xfrm>
          <a:prstGeom prst="roundRect">
            <a:avLst>
              <a:gd name="adj" fmla="val 3556"/>
            </a:avLst>
          </a:prstGeom>
          <a:solidFill>
            <a:srgbClr val="FFFFFF"/>
          </a:solidFill>
          <a:ln w="9525">
            <a:solidFill>
              <a:srgbClr val="DCE1E7"/>
            </a:solidFill>
            <a:prstDash val="solid"/>
          </a:ln>
        </p:spPr>
      </p:sp>
      <p:sp>
        <p:nvSpPr>
          <p:cNvPr id="16" name="Shape 11"/>
          <p:cNvSpPr/>
          <p:nvPr/>
        </p:nvSpPr>
        <p:spPr>
          <a:xfrm>
            <a:off x="6214872" y="1444752"/>
            <a:ext cx="329184" cy="329184"/>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8" name="Text 12"/>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Two in a row</a:t>
            </a:r>
            <a:endParaRPr lang="en-US" sz="1200" dirty="0"/>
          </a:p>
        </p:txBody>
      </p:sp>
      <p:sp>
        <p:nvSpPr>
          <p:cNvPr id="19" name="Text 13"/>
          <p:cNvSpPr txBox="1"/>
          <p:nvPr/>
        </p:nvSpPr>
        <p:spPr>
          <a:xfrm>
            <a:off x="6214872" y="2176272"/>
            <a:ext cx="2353056" cy="10698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Customer may be eligible for an ETF waiver if they want to cancel.</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Investigate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Gather everything before you act.</a:t>
            </a:r>
            <a:endParaRPr lang="en-US" sz="1200" dirty="0"/>
          </a:p>
        </p:txBody>
      </p:sp>
      <p:sp>
        <p:nvSpPr>
          <p:cNvPr id="6" name="Shape 3"/>
          <p:cNvSpPr/>
          <p:nvPr/>
        </p:nvSpPr>
        <p:spPr>
          <a:xfrm>
            <a:off x="411480" y="1325880"/>
            <a:ext cx="4023360" cy="502920"/>
          </a:xfrm>
          <a:prstGeom prst="roundRect">
            <a:avLst>
              <a:gd name="adj" fmla="val 14545"/>
            </a:avLst>
          </a:prstGeom>
          <a:solidFill>
            <a:srgbClr val="FFFFFF"/>
          </a:solidFill>
          <a:ln w="9525">
            <a:solidFill>
              <a:srgbClr val="DCE1E7"/>
            </a:solidFill>
            <a:prstDash val="solid"/>
          </a:ln>
        </p:spPr>
      </p:sp>
      <p:sp>
        <p:nvSpPr>
          <p:cNvPr id="7" name="Shape 4"/>
          <p:cNvSpPr/>
          <p:nvPr/>
        </p:nvSpPr>
        <p:spPr>
          <a:xfrm>
            <a:off x="521208" y="1431036"/>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501262"/>
            <a:ext cx="152156" cy="152156"/>
          </a:xfrm>
          <a:prstGeom prst="rect">
            <a:avLst/>
          </a:prstGeom>
        </p:spPr>
      </p:pic>
      <p:sp>
        <p:nvSpPr>
          <p:cNvPr id="9" name="Text 5"/>
          <p:cNvSpPr txBox="1"/>
          <p:nvPr/>
        </p:nvSpPr>
        <p:spPr>
          <a:xfrm>
            <a:off x="914400" y="1325880"/>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C/CP messages and account activity</a:t>
            </a:r>
            <a:endParaRPr lang="en-US" sz="1050" dirty="0"/>
          </a:p>
        </p:txBody>
      </p:sp>
      <p:sp>
        <p:nvSpPr>
          <p:cNvPr id="10" name="Shape 6"/>
          <p:cNvSpPr/>
          <p:nvPr/>
        </p:nvSpPr>
        <p:spPr>
          <a:xfrm>
            <a:off x="411480" y="1901952"/>
            <a:ext cx="4023360" cy="502920"/>
          </a:xfrm>
          <a:prstGeom prst="roundRect">
            <a:avLst>
              <a:gd name="adj" fmla="val 14545"/>
            </a:avLst>
          </a:prstGeom>
          <a:solidFill>
            <a:srgbClr val="FFFFFF"/>
          </a:solidFill>
          <a:ln w="9525">
            <a:solidFill>
              <a:srgbClr val="DCE1E7"/>
            </a:solidFill>
            <a:prstDash val="solid"/>
          </a:ln>
        </p:spPr>
      </p:sp>
      <p:sp>
        <p:nvSpPr>
          <p:cNvPr id="11" name="Shape 7"/>
          <p:cNvSpPr/>
          <p:nvPr/>
        </p:nvSpPr>
        <p:spPr>
          <a:xfrm>
            <a:off x="521208" y="2007108"/>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591434" y="2077334"/>
            <a:ext cx="152156" cy="152156"/>
          </a:xfrm>
          <a:prstGeom prst="rect">
            <a:avLst/>
          </a:prstGeom>
        </p:spPr>
      </p:pic>
      <p:sp>
        <p:nvSpPr>
          <p:cNvPr id="13" name="Text 8"/>
          <p:cNvSpPr txBox="1"/>
          <p:nvPr/>
        </p:nvSpPr>
        <p:spPr>
          <a:xfrm>
            <a:off x="914400" y="1901952"/>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Job History timestamps</a:t>
            </a:r>
            <a:endParaRPr lang="en-US" sz="1050" dirty="0"/>
          </a:p>
        </p:txBody>
      </p:sp>
      <p:sp>
        <p:nvSpPr>
          <p:cNvPr id="14" name="Shape 9"/>
          <p:cNvSpPr/>
          <p:nvPr/>
        </p:nvSpPr>
        <p:spPr>
          <a:xfrm>
            <a:off x="411480" y="2478024"/>
            <a:ext cx="4023360" cy="502920"/>
          </a:xfrm>
          <a:prstGeom prst="roundRect">
            <a:avLst>
              <a:gd name="adj" fmla="val 14545"/>
            </a:avLst>
          </a:prstGeom>
          <a:solidFill>
            <a:srgbClr val="FFFFFF"/>
          </a:solidFill>
          <a:ln w="9525">
            <a:solidFill>
              <a:srgbClr val="DCE1E7"/>
            </a:solidFill>
            <a:prstDash val="solid"/>
          </a:ln>
        </p:spPr>
      </p:sp>
      <p:sp>
        <p:nvSpPr>
          <p:cNvPr id="15" name="Shape 10"/>
          <p:cNvSpPr/>
          <p:nvPr/>
        </p:nvSpPr>
        <p:spPr>
          <a:xfrm>
            <a:off x="521208" y="2583180"/>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653406"/>
            <a:ext cx="152156" cy="152156"/>
          </a:xfrm>
          <a:prstGeom prst="rect">
            <a:avLst/>
          </a:prstGeom>
        </p:spPr>
      </p:pic>
      <p:sp>
        <p:nvSpPr>
          <p:cNvPr id="17" name="Text 11"/>
          <p:cNvSpPr txBox="1"/>
          <p:nvPr/>
        </p:nvSpPr>
        <p:spPr>
          <a:xfrm>
            <a:off x="914400" y="2478024"/>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Cleaner's Travel Journey (CTJ)</a:t>
            </a:r>
            <a:endParaRPr lang="en-US" sz="1050" dirty="0"/>
          </a:p>
        </p:txBody>
      </p:sp>
      <p:sp>
        <p:nvSpPr>
          <p:cNvPr id="18" name="Shape 12"/>
          <p:cNvSpPr/>
          <p:nvPr/>
        </p:nvSpPr>
        <p:spPr>
          <a:xfrm>
            <a:off x="411480" y="3054096"/>
            <a:ext cx="4023360" cy="502920"/>
          </a:xfrm>
          <a:prstGeom prst="roundRect">
            <a:avLst>
              <a:gd name="adj" fmla="val 14545"/>
            </a:avLst>
          </a:prstGeom>
          <a:solidFill>
            <a:srgbClr val="FFFFFF"/>
          </a:solidFill>
          <a:ln w="9525">
            <a:solidFill>
              <a:srgbClr val="DCE1E7"/>
            </a:solidFill>
            <a:prstDash val="solid"/>
          </a:ln>
        </p:spPr>
      </p:sp>
      <p:sp>
        <p:nvSpPr>
          <p:cNvPr id="19" name="Shape 13"/>
          <p:cNvSpPr/>
          <p:nvPr/>
        </p:nvSpPr>
        <p:spPr>
          <a:xfrm>
            <a:off x="521208" y="3159252"/>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591434" y="3229478"/>
            <a:ext cx="152156" cy="152156"/>
          </a:xfrm>
          <a:prstGeom prst="rect">
            <a:avLst/>
          </a:prstGeom>
        </p:spPr>
      </p:pic>
      <p:sp>
        <p:nvSpPr>
          <p:cNvPr id="21" name="Text 14"/>
          <p:cNvSpPr txBox="1"/>
          <p:nvPr/>
        </p:nvSpPr>
        <p:spPr>
          <a:xfrm>
            <a:off x="914400" y="3054096"/>
            <a:ext cx="3429000" cy="50292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C/CP reviews of each other</a:t>
            </a:r>
            <a:endParaRPr lang="en-US" sz="1050" dirty="0"/>
          </a:p>
        </p:txBody>
      </p:sp>
      <p:sp>
        <p:nvSpPr>
          <p:cNvPr id="22" name="Shape 15"/>
          <p:cNvSpPr/>
          <p:nvPr/>
        </p:nvSpPr>
        <p:spPr>
          <a:xfrm>
            <a:off x="4663440" y="1325880"/>
            <a:ext cx="4069080" cy="2011680"/>
          </a:xfrm>
          <a:prstGeom prst="roundRect">
            <a:avLst>
              <a:gd name="adj" fmla="val 3636"/>
            </a:avLst>
          </a:prstGeom>
          <a:solidFill>
            <a:srgbClr val="FFFFFF"/>
          </a:solidFill>
          <a:ln w="9525">
            <a:solidFill>
              <a:srgbClr val="DCE1E7"/>
            </a:solidFill>
            <a:prstDash val="solid"/>
          </a:ln>
        </p:spPr>
      </p:sp>
      <p:sp>
        <p:nvSpPr>
          <p:cNvPr id="23" name="Shape 16"/>
          <p:cNvSpPr/>
          <p:nvPr/>
        </p:nvSpPr>
        <p:spPr>
          <a:xfrm>
            <a:off x="4828032" y="1490472"/>
            <a:ext cx="329184" cy="329184"/>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4907036" y="1569476"/>
            <a:ext cx="171176" cy="171176"/>
          </a:xfrm>
          <a:prstGeom prst="rect">
            <a:avLst/>
          </a:prstGeom>
        </p:spPr>
      </p:pic>
      <p:sp>
        <p:nvSpPr>
          <p:cNvPr id="25" name="Text 17"/>
          <p:cNvSpPr txBox="1"/>
          <p:nvPr/>
        </p:nvSpPr>
        <p:spPr>
          <a:xfrm>
            <a:off x="4828032" y="1929384"/>
            <a:ext cx="373989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Spot it first</a:t>
            </a:r>
            <a:endParaRPr lang="en-US" sz="1200" dirty="0"/>
          </a:p>
        </p:txBody>
      </p:sp>
      <p:sp>
        <p:nvSpPr>
          <p:cNvPr id="26" name="Text 18"/>
          <p:cNvSpPr txBox="1"/>
          <p:nvPr/>
        </p:nvSpPr>
        <p:spPr>
          <a:xfrm>
            <a:off x="4828032" y="2221992"/>
            <a:ext cx="3739896" cy="10241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Duration or charges don't match the booking? Reach out to the customer before they complain.</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Confirmed false invoice: the process</a:t>
            </a:r>
            <a:endParaRPr lang="en-US" sz="2400" dirty="0"/>
          </a:p>
        </p:txBody>
      </p:sp>
      <p:sp>
        <p:nvSpPr>
          <p:cNvPr id="5" name="Shape 2"/>
          <p:cNvSpPr/>
          <p:nvPr/>
        </p:nvSpPr>
        <p:spPr>
          <a:xfrm>
            <a:off x="6949440" y="502920"/>
            <a:ext cx="1783080" cy="365760"/>
          </a:xfrm>
          <a:prstGeom prst="roundRect">
            <a:avLst>
              <a:gd name="adj" fmla="val 20000"/>
            </a:avLst>
          </a:prstGeom>
          <a:solidFill>
            <a:srgbClr val="0B7A6F"/>
          </a:solidFill>
          <a:ln w="12700">
            <a:solidFill>
              <a:srgbClr val="0B7A6F"/>
            </a:solidFill>
            <a:prstDash val="solid"/>
          </a:ln>
        </p:spPr>
      </p:sp>
      <p:pic>
        <p:nvPicPr>
          <p:cNvPr id="6" name="Image 0" descr="preencoded.png">    </p:cNvPr>
          <p:cNvPicPr>
            <a:picLocks noChangeAspect="1"/>
          </p:cNvPicPr>
          <p:nvPr/>
        </p:nvPicPr>
        <p:blipFill>
          <a:blip r:embed="rId1"/>
          <a:stretch>
            <a:fillRect/>
          </a:stretch>
        </p:blipFill>
        <p:spPr>
          <a:xfrm>
            <a:off x="7086600" y="594360"/>
            <a:ext cx="182880" cy="182880"/>
          </a:xfrm>
          <a:prstGeom prst="rect">
            <a:avLst/>
          </a:prstGeom>
        </p:spPr>
      </p:pic>
      <p:sp>
        <p:nvSpPr>
          <p:cNvPr id="7" name="Text 3"/>
          <p:cNvSpPr txBox="1"/>
          <p:nvPr/>
        </p:nvSpPr>
        <p:spPr>
          <a:xfrm>
            <a:off x="7333488" y="502920"/>
            <a:ext cx="1325880" cy="365760"/>
          </a:xfrm>
          <a:prstGeom prst="rect">
            <a:avLst/>
          </a:prstGeom>
          <a:noFill/>
          <a:ln/>
        </p:spPr>
        <p:txBody>
          <a:bodyPr wrap="square" lIns="0" tIns="0" rIns="0" bIns="0" rtlCol="0" anchor="ctr"/>
          <a:lstStyle/>
          <a:p>
            <a:pPr indent="0" marL="0">
              <a:buNone/>
            </a:pPr>
            <a:r>
              <a:rPr lang="en-US" sz="1100" b="1" dirty="0">
                <a:solidFill>
                  <a:srgbClr val="FFFFFF"/>
                </a:solidFill>
                <a:latin typeface="SF Pro Display" pitchFamily="34" charset="0"/>
                <a:ea typeface="SF Pro Display" pitchFamily="34" charset="-122"/>
                <a:cs typeface="SF Pro Display" pitchFamily="34" charset="-120"/>
              </a:rPr>
              <a:t>Show details</a:t>
            </a:r>
            <a:endParaRPr lang="en-US" sz="1100" dirty="0"/>
          </a:p>
        </p:txBody>
      </p:sp>
      <p:sp>
        <p:nvSpPr>
          <p:cNvPr id="8" name="Shape 4"/>
          <p:cNvSpPr/>
          <p:nvPr/>
        </p:nvSpPr>
        <p:spPr>
          <a:xfrm>
            <a:off x="457200" y="1051560"/>
            <a:ext cx="3246120" cy="347472"/>
          </a:xfrm>
          <a:prstGeom prst="roundRect">
            <a:avLst>
              <a:gd name="adj" fmla="val 21053"/>
            </a:avLst>
          </a:prstGeom>
          <a:solidFill>
            <a:srgbClr val="1D1D1F"/>
          </a:solidFill>
          <a:ln w="12700">
            <a:solidFill>
              <a:srgbClr val="1D1D1F"/>
            </a:solidFill>
            <a:prstDash val="solid"/>
          </a:ln>
        </p:spPr>
      </p:sp>
      <p:sp>
        <p:nvSpPr>
          <p:cNvPr id="9" name="Text 5"/>
          <p:cNvSpPr txBox="1"/>
          <p:nvPr/>
        </p:nvSpPr>
        <p:spPr>
          <a:xfrm>
            <a:off x="457200" y="1051560"/>
            <a:ext cx="32461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FALSE INVOICE (CP-fault)</a:t>
            </a:r>
            <a:endParaRPr lang="en-US" sz="1000" dirty="0"/>
          </a:p>
        </p:txBody>
      </p:sp>
      <p:sp>
        <p:nvSpPr>
          <p:cNvPr id="10" name="Shape 6"/>
          <p:cNvSpPr/>
          <p:nvPr/>
        </p:nvSpPr>
        <p:spPr>
          <a:xfrm>
            <a:off x="2080260" y="1399032"/>
            <a:ext cx="0" cy="91440"/>
          </a:xfrm>
          <a:prstGeom prst="line">
            <a:avLst/>
          </a:prstGeom>
          <a:noFill/>
          <a:ln w="12700">
            <a:solidFill>
              <a:srgbClr val="6E6E73"/>
            </a:solidFill>
            <a:prstDash val="solid"/>
            <a:tailEnd type="triangle"/>
          </a:ln>
        </p:spPr>
      </p:sp>
      <p:sp>
        <p:nvSpPr>
          <p:cNvPr id="11" name="Shape 7"/>
          <p:cNvSpPr/>
          <p:nvPr/>
        </p:nvSpPr>
        <p:spPr>
          <a:xfrm>
            <a:off x="3703320" y="1225296"/>
            <a:ext cx="182880" cy="0"/>
          </a:xfrm>
          <a:prstGeom prst="line">
            <a:avLst/>
          </a:prstGeom>
          <a:noFill/>
          <a:ln w="12700">
            <a:solidFill>
              <a:srgbClr val="6E6E73"/>
            </a:solidFill>
            <a:prstDash val="solid"/>
          </a:ln>
        </p:spPr>
      </p:sp>
      <p:sp>
        <p:nvSpPr>
          <p:cNvPr id="12" name="type1Desc"/>
          <p:cNvSpPr txBox="1"/>
          <p:nvPr/>
        </p:nvSpPr>
        <p:spPr>
          <a:xfrm>
            <a:off x="3977640" y="1024128"/>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Confirm if it was the CP who invoiced the job.</a:t>
            </a:r>
            <a:endParaRPr lang="en-US" sz="850" dirty="0"/>
          </a:p>
        </p:txBody>
      </p:sp>
      <p:sp>
        <p:nvSpPr>
          <p:cNvPr id="13" name="Shape 9"/>
          <p:cNvSpPr/>
          <p:nvPr/>
        </p:nvSpPr>
        <p:spPr>
          <a:xfrm>
            <a:off x="457200" y="1490472"/>
            <a:ext cx="3246120" cy="347472"/>
          </a:xfrm>
          <a:prstGeom prst="roundRect">
            <a:avLst>
              <a:gd name="adj" fmla="val 21053"/>
            </a:avLst>
          </a:prstGeom>
          <a:solidFill>
            <a:srgbClr val="0B7A6F"/>
          </a:solidFill>
          <a:ln w="12700">
            <a:solidFill>
              <a:srgbClr val="0B7A6F"/>
            </a:solidFill>
            <a:prstDash val="solid"/>
          </a:ln>
        </p:spPr>
      </p:sp>
      <p:sp>
        <p:nvSpPr>
          <p:cNvPr id="14" name="Text 10"/>
          <p:cNvSpPr txBox="1"/>
          <p:nvPr/>
        </p:nvSpPr>
        <p:spPr>
          <a:xfrm>
            <a:off x="457200" y="1490472"/>
            <a:ext cx="32461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Issue a full refund via the CP dashboard</a:t>
            </a:r>
            <a:endParaRPr lang="en-US" sz="1000" dirty="0"/>
          </a:p>
        </p:txBody>
      </p:sp>
      <p:sp>
        <p:nvSpPr>
          <p:cNvPr id="15" name="Shape 11"/>
          <p:cNvSpPr/>
          <p:nvPr/>
        </p:nvSpPr>
        <p:spPr>
          <a:xfrm>
            <a:off x="2080260" y="1837944"/>
            <a:ext cx="0" cy="91440"/>
          </a:xfrm>
          <a:prstGeom prst="line">
            <a:avLst/>
          </a:prstGeom>
          <a:noFill/>
          <a:ln w="12700">
            <a:solidFill>
              <a:srgbClr val="6E6E73"/>
            </a:solidFill>
            <a:prstDash val="solid"/>
            <a:tailEnd type="triangle"/>
          </a:ln>
        </p:spPr>
      </p:sp>
      <p:sp>
        <p:nvSpPr>
          <p:cNvPr id="16" name="Shape 12"/>
          <p:cNvSpPr/>
          <p:nvPr/>
        </p:nvSpPr>
        <p:spPr>
          <a:xfrm>
            <a:off x="3703320" y="1664208"/>
            <a:ext cx="182880" cy="0"/>
          </a:xfrm>
          <a:prstGeom prst="line">
            <a:avLst/>
          </a:prstGeom>
          <a:noFill/>
          <a:ln w="12700">
            <a:solidFill>
              <a:srgbClr val="6E6E73"/>
            </a:solidFill>
            <a:prstDash val="solid"/>
          </a:ln>
        </p:spPr>
      </p:sp>
      <p:sp>
        <p:nvSpPr>
          <p:cNvPr id="17" name="type2Desc"/>
          <p:cNvSpPr txBox="1"/>
          <p:nvPr/>
        </p:nvSpPr>
        <p:spPr>
          <a:xfrm>
            <a:off x="3977640" y="1463040"/>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Full refund of the job via the CP Dashboard.</a:t>
            </a:r>
            <a:endParaRPr lang="en-US" sz="850" dirty="0"/>
          </a:p>
        </p:txBody>
      </p:sp>
      <p:sp>
        <p:nvSpPr>
          <p:cNvPr id="18" name="Shape 14"/>
          <p:cNvSpPr/>
          <p:nvPr/>
        </p:nvSpPr>
        <p:spPr>
          <a:xfrm>
            <a:off x="457200" y="1929384"/>
            <a:ext cx="3246120" cy="347472"/>
          </a:xfrm>
          <a:prstGeom prst="roundRect">
            <a:avLst>
              <a:gd name="adj" fmla="val 21053"/>
            </a:avLst>
          </a:prstGeom>
          <a:solidFill>
            <a:srgbClr val="FFF3D6"/>
          </a:solidFill>
          <a:ln w="12700">
            <a:solidFill>
              <a:srgbClr val="9A6410"/>
            </a:solidFill>
            <a:prstDash val="solid"/>
          </a:ln>
        </p:spPr>
      </p:sp>
      <p:sp>
        <p:nvSpPr>
          <p:cNvPr id="19" name="Text 15"/>
          <p:cNvSpPr txBox="1"/>
          <p:nvPr/>
        </p:nvSpPr>
        <p:spPr>
          <a:xfrm>
            <a:off x="457200" y="1929384"/>
            <a:ext cx="3246120" cy="347472"/>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Check for cp_false_invoice flag (Validate or Add)</a:t>
            </a:r>
            <a:endParaRPr lang="en-US" sz="1000" dirty="0"/>
          </a:p>
        </p:txBody>
      </p:sp>
      <p:sp>
        <p:nvSpPr>
          <p:cNvPr id="20" name="Shape 16"/>
          <p:cNvSpPr/>
          <p:nvPr/>
        </p:nvSpPr>
        <p:spPr>
          <a:xfrm>
            <a:off x="2080260" y="2276856"/>
            <a:ext cx="0" cy="91440"/>
          </a:xfrm>
          <a:prstGeom prst="line">
            <a:avLst/>
          </a:prstGeom>
          <a:noFill/>
          <a:ln w="12700">
            <a:solidFill>
              <a:srgbClr val="6E6E73"/>
            </a:solidFill>
            <a:prstDash val="solid"/>
            <a:tailEnd type="triangle"/>
          </a:ln>
        </p:spPr>
      </p:sp>
      <p:sp>
        <p:nvSpPr>
          <p:cNvPr id="21" name="Shape 17"/>
          <p:cNvSpPr/>
          <p:nvPr/>
        </p:nvSpPr>
        <p:spPr>
          <a:xfrm>
            <a:off x="3703320" y="2103120"/>
            <a:ext cx="182880" cy="0"/>
          </a:xfrm>
          <a:prstGeom prst="line">
            <a:avLst/>
          </a:prstGeom>
          <a:noFill/>
          <a:ln w="12700">
            <a:solidFill>
              <a:srgbClr val="6E6E73"/>
            </a:solidFill>
            <a:prstDash val="solid"/>
          </a:ln>
        </p:spPr>
      </p:sp>
      <p:sp>
        <p:nvSpPr>
          <p:cNvPr id="22" name="type3Desc"/>
          <p:cNvSpPr txBox="1"/>
          <p:nvPr/>
        </p:nvSpPr>
        <p:spPr>
          <a:xfrm>
            <a:off x="3977640" y="1901952"/>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Already flagged? Check the Job ID matches. No flag? CP CRM › Do › Flag › cp_false_invoice. Include the ID triplet (C | CP | Job).</a:t>
            </a:r>
            <a:endParaRPr lang="en-US" sz="850" dirty="0"/>
          </a:p>
        </p:txBody>
      </p:sp>
      <p:sp>
        <p:nvSpPr>
          <p:cNvPr id="23" name="Shape 19"/>
          <p:cNvSpPr/>
          <p:nvPr/>
        </p:nvSpPr>
        <p:spPr>
          <a:xfrm>
            <a:off x="457200" y="2368296"/>
            <a:ext cx="3246120" cy="347472"/>
          </a:xfrm>
          <a:prstGeom prst="roundRect">
            <a:avLst>
              <a:gd name="adj" fmla="val 21053"/>
            </a:avLst>
          </a:prstGeom>
          <a:solidFill>
            <a:srgbClr val="0B7A6F"/>
          </a:solidFill>
          <a:ln w="12700">
            <a:solidFill>
              <a:srgbClr val="0B7A6F"/>
            </a:solidFill>
            <a:prstDash val="solid"/>
          </a:ln>
        </p:spPr>
      </p:sp>
      <p:sp>
        <p:nvSpPr>
          <p:cNvPr id="24" name="Text 20"/>
          <p:cNvSpPr txBox="1"/>
          <p:nvPr/>
        </p:nvSpPr>
        <p:spPr>
          <a:xfrm>
            <a:off x="457200" y="2368296"/>
            <a:ext cx="32461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Apply penalty</a:t>
            </a:r>
            <a:endParaRPr lang="en-US" sz="1000" dirty="0"/>
          </a:p>
        </p:txBody>
      </p:sp>
      <p:sp>
        <p:nvSpPr>
          <p:cNvPr id="25" name="Shape 21"/>
          <p:cNvSpPr/>
          <p:nvPr/>
        </p:nvSpPr>
        <p:spPr>
          <a:xfrm>
            <a:off x="2080260" y="2715768"/>
            <a:ext cx="0" cy="91440"/>
          </a:xfrm>
          <a:prstGeom prst="line">
            <a:avLst/>
          </a:prstGeom>
          <a:noFill/>
          <a:ln w="12700">
            <a:solidFill>
              <a:srgbClr val="6E6E73"/>
            </a:solidFill>
            <a:prstDash val="solid"/>
            <a:tailEnd type="triangle"/>
          </a:ln>
        </p:spPr>
      </p:sp>
      <p:sp>
        <p:nvSpPr>
          <p:cNvPr id="26" name="Shape 22"/>
          <p:cNvSpPr/>
          <p:nvPr/>
        </p:nvSpPr>
        <p:spPr>
          <a:xfrm>
            <a:off x="3703320" y="2542032"/>
            <a:ext cx="182880" cy="0"/>
          </a:xfrm>
          <a:prstGeom prst="line">
            <a:avLst/>
          </a:prstGeom>
          <a:noFill/>
          <a:ln w="12700">
            <a:solidFill>
              <a:srgbClr val="6E6E73"/>
            </a:solidFill>
            <a:prstDash val="solid"/>
          </a:ln>
        </p:spPr>
      </p:sp>
      <p:sp>
        <p:nvSpPr>
          <p:cNvPr id="27" name="type4Desc"/>
          <p:cNvSpPr txBox="1"/>
          <p:nvPr/>
        </p:nvSpPr>
        <p:spPr>
          <a:xfrm>
            <a:off x="3977640" y="2340864"/>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If CP invoiced: penalty (cp facing reason cpq_false_invoice Customer &lt;C'S NAME&gt; reported incorrect hours charged) + false invoice flag</a:t>
            </a:r>
            <a:endParaRPr lang="en-US" sz="850" dirty="0"/>
          </a:p>
        </p:txBody>
      </p:sp>
      <p:sp>
        <p:nvSpPr>
          <p:cNvPr id="28" name="Shape 24"/>
          <p:cNvSpPr/>
          <p:nvPr/>
        </p:nvSpPr>
        <p:spPr>
          <a:xfrm>
            <a:off x="457200" y="2807208"/>
            <a:ext cx="3246120" cy="347472"/>
          </a:xfrm>
          <a:prstGeom prst="roundRect">
            <a:avLst>
              <a:gd name="adj" fmla="val 21053"/>
            </a:avLst>
          </a:prstGeom>
          <a:solidFill>
            <a:srgbClr val="0B7A6F"/>
          </a:solidFill>
          <a:ln w="12700">
            <a:solidFill>
              <a:srgbClr val="0B7A6F"/>
            </a:solidFill>
            <a:prstDash val="solid"/>
          </a:ln>
        </p:spPr>
      </p:sp>
      <p:sp>
        <p:nvSpPr>
          <p:cNvPr id="29" name="Text 25"/>
          <p:cNvSpPr txBox="1"/>
          <p:nvPr/>
        </p:nvSpPr>
        <p:spPr>
          <a:xfrm>
            <a:off x="457200" y="2807208"/>
            <a:ext cx="32461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Coach / penalize the CP</a:t>
            </a:r>
            <a:endParaRPr lang="en-US" sz="1000" dirty="0"/>
          </a:p>
        </p:txBody>
      </p:sp>
      <p:sp>
        <p:nvSpPr>
          <p:cNvPr id="30" name="Shape 26"/>
          <p:cNvSpPr/>
          <p:nvPr/>
        </p:nvSpPr>
        <p:spPr>
          <a:xfrm>
            <a:off x="2080260" y="3154680"/>
            <a:ext cx="0" cy="91440"/>
          </a:xfrm>
          <a:prstGeom prst="line">
            <a:avLst/>
          </a:prstGeom>
          <a:noFill/>
          <a:ln w="12700">
            <a:solidFill>
              <a:srgbClr val="6E6E73"/>
            </a:solidFill>
            <a:prstDash val="solid"/>
            <a:tailEnd type="triangle"/>
          </a:ln>
        </p:spPr>
      </p:sp>
      <p:sp>
        <p:nvSpPr>
          <p:cNvPr id="31" name="Shape 27"/>
          <p:cNvSpPr/>
          <p:nvPr/>
        </p:nvSpPr>
        <p:spPr>
          <a:xfrm>
            <a:off x="3703320" y="2980944"/>
            <a:ext cx="182880" cy="0"/>
          </a:xfrm>
          <a:prstGeom prst="line">
            <a:avLst/>
          </a:prstGeom>
          <a:noFill/>
          <a:ln w="12700">
            <a:solidFill>
              <a:srgbClr val="6E6E73"/>
            </a:solidFill>
            <a:prstDash val="solid"/>
          </a:ln>
        </p:spPr>
      </p:sp>
      <p:sp>
        <p:nvSpPr>
          <p:cNvPr id="32" name="type5Desc"/>
          <p:cNvSpPr txBox="1"/>
          <p:nvPr/>
        </p:nvSpPr>
        <p:spPr>
          <a:xfrm>
            <a:off x="3977640" y="2779776"/>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Send coaching comms to CP</a:t>
            </a:r>
            <a:endParaRPr lang="en-US" sz="850" dirty="0"/>
          </a:p>
        </p:txBody>
      </p:sp>
      <p:sp>
        <p:nvSpPr>
          <p:cNvPr id="33" name="Shape 29"/>
          <p:cNvSpPr/>
          <p:nvPr/>
        </p:nvSpPr>
        <p:spPr>
          <a:xfrm>
            <a:off x="457200" y="3246120"/>
            <a:ext cx="3246120" cy="347472"/>
          </a:xfrm>
          <a:prstGeom prst="roundRect">
            <a:avLst>
              <a:gd name="adj" fmla="val 21053"/>
            </a:avLst>
          </a:prstGeom>
          <a:solidFill>
            <a:srgbClr val="0B7A6F"/>
          </a:solidFill>
          <a:ln w="12700">
            <a:solidFill>
              <a:srgbClr val="0B7A6F"/>
            </a:solidFill>
            <a:prstDash val="solid"/>
          </a:ln>
        </p:spPr>
      </p:sp>
      <p:sp>
        <p:nvSpPr>
          <p:cNvPr id="34" name="Text 30"/>
          <p:cNvSpPr txBox="1"/>
          <p:nvPr/>
        </p:nvSpPr>
        <p:spPr>
          <a:xfrm>
            <a:off x="457200" y="3246120"/>
            <a:ext cx="32461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Check for Premium fee and refund accordingly</a:t>
            </a:r>
            <a:endParaRPr lang="en-US" sz="1000" dirty="0"/>
          </a:p>
        </p:txBody>
      </p:sp>
      <p:sp>
        <p:nvSpPr>
          <p:cNvPr id="35" name="Shape 31"/>
          <p:cNvSpPr/>
          <p:nvPr/>
        </p:nvSpPr>
        <p:spPr>
          <a:xfrm>
            <a:off x="2080260" y="3593592"/>
            <a:ext cx="0" cy="91440"/>
          </a:xfrm>
          <a:prstGeom prst="line">
            <a:avLst/>
          </a:prstGeom>
          <a:noFill/>
          <a:ln w="12700">
            <a:solidFill>
              <a:srgbClr val="6E6E73"/>
            </a:solidFill>
            <a:prstDash val="solid"/>
            <a:tailEnd type="triangle"/>
          </a:ln>
        </p:spPr>
      </p:sp>
      <p:sp>
        <p:nvSpPr>
          <p:cNvPr id="36" name="Shape 32"/>
          <p:cNvSpPr/>
          <p:nvPr/>
        </p:nvSpPr>
        <p:spPr>
          <a:xfrm>
            <a:off x="3703320" y="3419856"/>
            <a:ext cx="182880" cy="0"/>
          </a:xfrm>
          <a:prstGeom prst="line">
            <a:avLst/>
          </a:prstGeom>
          <a:noFill/>
          <a:ln w="12700">
            <a:solidFill>
              <a:srgbClr val="6E6E73"/>
            </a:solidFill>
            <a:prstDash val="solid"/>
          </a:ln>
        </p:spPr>
      </p:sp>
      <p:sp>
        <p:nvSpPr>
          <p:cNvPr id="37" name="type6Desc"/>
          <p:cNvSpPr txBox="1"/>
          <p:nvPr/>
        </p:nvSpPr>
        <p:spPr>
          <a:xfrm>
            <a:off x="3977640" y="3218688"/>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If the customer paid a Premium fee, refund it (AG – Refund: Premium Upsell).</a:t>
            </a:r>
            <a:endParaRPr lang="en-US" sz="850" dirty="0"/>
          </a:p>
        </p:txBody>
      </p:sp>
      <p:sp>
        <p:nvSpPr>
          <p:cNvPr id="38" name="Shape 34"/>
          <p:cNvSpPr/>
          <p:nvPr/>
        </p:nvSpPr>
        <p:spPr>
          <a:xfrm>
            <a:off x="457200" y="3685032"/>
            <a:ext cx="3246120" cy="347472"/>
          </a:xfrm>
          <a:prstGeom prst="roundRect">
            <a:avLst>
              <a:gd name="adj" fmla="val 21053"/>
            </a:avLst>
          </a:prstGeom>
          <a:solidFill>
            <a:srgbClr val="0B7A6F"/>
          </a:solidFill>
          <a:ln w="12700">
            <a:solidFill>
              <a:srgbClr val="0B7A6F"/>
            </a:solidFill>
            <a:prstDash val="solid"/>
          </a:ln>
        </p:spPr>
      </p:sp>
      <p:sp>
        <p:nvSpPr>
          <p:cNvPr id="39" name="Text 35"/>
          <p:cNvSpPr txBox="1"/>
          <p:nvPr/>
        </p:nvSpPr>
        <p:spPr>
          <a:xfrm>
            <a:off x="457200" y="3685032"/>
            <a:ext cx="32461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Ban the C/CP pairing</a:t>
            </a:r>
            <a:endParaRPr lang="en-US" sz="1000" dirty="0"/>
          </a:p>
        </p:txBody>
      </p:sp>
      <p:sp>
        <p:nvSpPr>
          <p:cNvPr id="40" name="Shape 36"/>
          <p:cNvSpPr/>
          <p:nvPr/>
        </p:nvSpPr>
        <p:spPr>
          <a:xfrm>
            <a:off x="2080260" y="4032504"/>
            <a:ext cx="0" cy="91440"/>
          </a:xfrm>
          <a:prstGeom prst="line">
            <a:avLst/>
          </a:prstGeom>
          <a:noFill/>
          <a:ln w="12700">
            <a:solidFill>
              <a:srgbClr val="6E6E73"/>
            </a:solidFill>
            <a:prstDash val="solid"/>
            <a:tailEnd type="triangle"/>
          </a:ln>
        </p:spPr>
      </p:sp>
      <p:sp>
        <p:nvSpPr>
          <p:cNvPr id="41" name="Shape 37"/>
          <p:cNvSpPr/>
          <p:nvPr/>
        </p:nvSpPr>
        <p:spPr>
          <a:xfrm>
            <a:off x="3703320" y="3858768"/>
            <a:ext cx="182880" cy="0"/>
          </a:xfrm>
          <a:prstGeom prst="line">
            <a:avLst/>
          </a:prstGeom>
          <a:noFill/>
          <a:ln w="12700">
            <a:solidFill>
              <a:srgbClr val="6E6E73"/>
            </a:solidFill>
            <a:prstDash val="solid"/>
          </a:ln>
        </p:spPr>
      </p:sp>
      <p:sp>
        <p:nvSpPr>
          <p:cNvPr id="42" name="type7Desc"/>
          <p:cNvSpPr txBox="1"/>
          <p:nvPr/>
        </p:nvSpPr>
        <p:spPr>
          <a:xfrm>
            <a:off x="3977640" y="3657600"/>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Always, unless the customer wants to keep the same CP.</a:t>
            </a:r>
            <a:endParaRPr lang="en-US" sz="850" dirty="0"/>
          </a:p>
        </p:txBody>
      </p:sp>
      <p:sp>
        <p:nvSpPr>
          <p:cNvPr id="43" name="Shape 39"/>
          <p:cNvSpPr/>
          <p:nvPr/>
        </p:nvSpPr>
        <p:spPr>
          <a:xfrm>
            <a:off x="457200" y="4123944"/>
            <a:ext cx="3246120" cy="347472"/>
          </a:xfrm>
          <a:prstGeom prst="roundRect">
            <a:avLst>
              <a:gd name="adj" fmla="val 21053"/>
            </a:avLst>
          </a:prstGeom>
          <a:solidFill>
            <a:srgbClr val="FFFFFF"/>
          </a:solidFill>
          <a:ln w="12700">
            <a:solidFill>
              <a:srgbClr val="DCE1E7"/>
            </a:solidFill>
            <a:prstDash val="solid"/>
          </a:ln>
        </p:spPr>
      </p:sp>
      <p:sp>
        <p:nvSpPr>
          <p:cNvPr id="44" name="Text 40"/>
          <p:cNvSpPr txBox="1"/>
          <p:nvPr/>
        </p:nvSpPr>
        <p:spPr>
          <a:xfrm>
            <a:off x="457200" y="4123944"/>
            <a:ext cx="3246120" cy="347472"/>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Confirm refund with C + offer priority booking</a:t>
            </a:r>
            <a:endParaRPr lang="en-US" sz="1000" dirty="0"/>
          </a:p>
        </p:txBody>
      </p:sp>
      <p:sp>
        <p:nvSpPr>
          <p:cNvPr id="45" name="Shape 41"/>
          <p:cNvSpPr/>
          <p:nvPr/>
        </p:nvSpPr>
        <p:spPr>
          <a:xfrm>
            <a:off x="3703320" y="4297680"/>
            <a:ext cx="182880" cy="0"/>
          </a:xfrm>
          <a:prstGeom prst="line">
            <a:avLst/>
          </a:prstGeom>
          <a:noFill/>
          <a:ln w="12700">
            <a:solidFill>
              <a:srgbClr val="6E6E73"/>
            </a:solidFill>
            <a:prstDash val="solid"/>
          </a:ln>
        </p:spPr>
      </p:sp>
      <p:sp>
        <p:nvSpPr>
          <p:cNvPr id="46" name="type8Desc"/>
          <p:cNvSpPr txBox="1"/>
          <p:nvPr/>
        </p:nvSpPr>
        <p:spPr>
          <a:xfrm>
            <a:off x="3977640" y="4096512"/>
            <a:ext cx="4983480" cy="402336"/>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Refund arrives in 5–10 business days. Address any other pain points.</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40"/>
                                  </p:iterate>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40"/>
                                  </p:iterate>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40"/>
                                  </p:iterate>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40"/>
                                  </p:iterate>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40"/>
                                  </p:iterate>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40"/>
                                  </p:iterate>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40"/>
                                  </p:iterate>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40"/>
                                  </p:iterate>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2" grpId="0" animBg="1"/>
      <p:bldP spid="27" grpId="0" animBg="1"/>
      <p:bldP spid="32" grpId="0" animBg="1"/>
      <p:bldP spid="37" grpId="0" animBg="1"/>
      <p:bldP spid="42" grpId="0" animBg="1"/>
      <p:bldP spid="4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penalty ladder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C-side agents never add DNR.</a:t>
            </a:r>
            <a:endParaRPr lang="en-US" sz="1200" dirty="0"/>
          </a:p>
        </p:txBody>
      </p:sp>
      <p:sp>
        <p:nvSpPr>
          <p:cNvPr id="6" name="Shape 3"/>
          <p:cNvSpPr/>
          <p:nvPr/>
        </p:nvSpPr>
        <p:spPr>
          <a:xfrm>
            <a:off x="411480" y="1280160"/>
            <a:ext cx="2682240" cy="1783080"/>
          </a:xfrm>
          <a:prstGeom prst="roundRect">
            <a:avLst>
              <a:gd name="adj" fmla="val 4103"/>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Any false invoice</a:t>
            </a:r>
            <a:endParaRPr lang="en-US" sz="1200" dirty="0"/>
          </a:p>
        </p:txBody>
      </p:sp>
      <p:sp>
        <p:nvSpPr>
          <p:cNvPr id="10" name="Text 6"/>
          <p:cNvSpPr txBox="1"/>
          <p:nvPr/>
        </p:nvSpPr>
        <p:spPr>
          <a:xfrm>
            <a:off x="576072" y="2176272"/>
            <a:ext cx="235305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norequests, and ask what happened.</a:t>
            </a:r>
            <a:endParaRPr lang="en-US" sz="950" dirty="0"/>
          </a:p>
        </p:txBody>
      </p:sp>
      <p:sp>
        <p:nvSpPr>
          <p:cNvPr id="11" name="Shape 7"/>
          <p:cNvSpPr/>
          <p:nvPr/>
        </p:nvSpPr>
        <p:spPr>
          <a:xfrm>
            <a:off x="3230880" y="1280160"/>
            <a:ext cx="2682240" cy="1783080"/>
          </a:xfrm>
          <a:prstGeom prst="roundRect">
            <a:avLst>
              <a:gd name="adj" fmla="val 4103"/>
            </a:avLst>
          </a:prstGeom>
          <a:solidFill>
            <a:srgbClr val="FFFFFF"/>
          </a:solidFill>
          <a:ln w="9525">
            <a:solidFill>
              <a:srgbClr val="DCE1E7"/>
            </a:solidFill>
            <a:prstDash val="solid"/>
          </a:ln>
        </p:spPr>
      </p:sp>
      <p:sp>
        <p:nvSpPr>
          <p:cNvPr id="12" name="Shape 8"/>
          <p:cNvSpPr/>
          <p:nvPr/>
        </p:nvSpPr>
        <p:spPr>
          <a:xfrm>
            <a:off x="339547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4" name="Text 9"/>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Repeated and abusive</a:t>
            </a:r>
            <a:endParaRPr lang="en-US" sz="1200" dirty="0"/>
          </a:p>
        </p:txBody>
      </p:sp>
      <p:sp>
        <p:nvSpPr>
          <p:cNvPr id="15" name="Text 10"/>
          <p:cNvSpPr txBox="1"/>
          <p:nvPr/>
        </p:nvSpPr>
        <p:spPr>
          <a:xfrm>
            <a:off x="3395472" y="2176272"/>
            <a:ext cx="235305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 may suspend. Never add DNR.</a:t>
            </a:r>
            <a:endParaRPr lang="en-US" sz="950" dirty="0"/>
          </a:p>
        </p:txBody>
      </p:sp>
      <p:sp>
        <p:nvSpPr>
          <p:cNvPr id="16" name="Shape 11"/>
          <p:cNvSpPr/>
          <p:nvPr/>
        </p:nvSpPr>
        <p:spPr>
          <a:xfrm>
            <a:off x="6050280" y="1280160"/>
            <a:ext cx="2682240" cy="1783080"/>
          </a:xfrm>
          <a:prstGeom prst="roundRect">
            <a:avLst>
              <a:gd name="adj" fmla="val 4103"/>
            </a:avLst>
          </a:prstGeom>
          <a:solidFill>
            <a:srgbClr val="FFFFFF"/>
          </a:solidFill>
          <a:ln w="9525">
            <a:solidFill>
              <a:srgbClr val="DCE1E7"/>
            </a:solidFill>
            <a:prstDash val="solid"/>
          </a:ln>
        </p:spPr>
      </p:sp>
      <p:sp>
        <p:nvSpPr>
          <p:cNvPr id="17" name="Shape 12"/>
          <p:cNvSpPr/>
          <p:nvPr/>
        </p:nvSpPr>
        <p:spPr>
          <a:xfrm>
            <a:off x="6214872" y="144475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9" name="Text 13"/>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System auto-suspended</a:t>
            </a:r>
            <a:endParaRPr lang="en-US" sz="1200" dirty="0"/>
          </a:p>
        </p:txBody>
      </p:sp>
      <p:sp>
        <p:nvSpPr>
          <p:cNvPr id="20" name="Text 14"/>
          <p:cNvSpPr txBox="1"/>
          <p:nvPr/>
        </p:nvSpPr>
        <p:spPr>
          <a:xfrm>
            <a:off x="6214872" y="2176272"/>
            <a:ext cx="235305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Leave it. Coach and explain the penalty.</a:t>
            </a:r>
            <a:endParaRPr lang="en-US" sz="950" dirty="0"/>
          </a:p>
        </p:txBody>
      </p:sp>
      <p:sp>
        <p:nvSpPr>
          <p:cNvPr id="21" name="Shape 15"/>
          <p:cNvSpPr/>
          <p:nvPr/>
        </p:nvSpPr>
        <p:spPr>
          <a:xfrm>
            <a:off x="411480" y="324612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355848"/>
            <a:ext cx="164592" cy="164592"/>
          </a:xfrm>
          <a:prstGeom prst="rect">
            <a:avLst/>
          </a:prstGeom>
        </p:spPr>
      </p:pic>
      <p:sp>
        <p:nvSpPr>
          <p:cNvPr id="23" name="Text 16"/>
          <p:cNvSpPr txBox="1"/>
          <p:nvPr/>
        </p:nvSpPr>
        <p:spPr>
          <a:xfrm>
            <a:off x="822960" y="33467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Reactivation is the CP-side team's call.  </a:t>
            </a:r>
            <a:pPr indent="0" marL="0">
              <a:buNone/>
            </a:pPr>
            <a:r>
              <a:rPr lang="en-US" sz="1000" dirty="0">
                <a:solidFill>
                  <a:srgbClr val="1D1D1F"/>
                </a:solidFill>
                <a:latin typeface="SF Pro Text" pitchFamily="34" charset="0"/>
                <a:ea typeface="SF Pro Text" pitchFamily="34" charset="-122"/>
                <a:cs typeface="SF Pro Text" pitchFamily="34" charset="-120"/>
              </a:rPr>
              <a:t>Note any wrong-customer or Lockout mix-up in your internal note.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What's the first thing you check on a False Invoice ticket?</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Who invoiced the job: check the Job History.</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customer invoiced it by accident. What do you do?</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Refund via the CP Dashboard. We recover the cleaner's pay, but don't penalize the cleaner.</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It was a Legacy DHJ customer's first and only job. What happens after the refund?</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The DHJ voucher is reinstated and MFs within 120 days are auto-refunded. On FCF, only the job is refunded.</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It's the cleaner's first false invoice. What status do you set?</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norequests, using the False Invoice (With Penalty) macro. Never add DNR.</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32</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practice!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325880"/>
            <a:ext cx="3566160" cy="2743200"/>
          </a:xfrm>
          <a:prstGeom prst="roundRect">
            <a:avLst>
              <a:gd name="adj" fmla="val 2667"/>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323697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Live ticket</a:t>
            </a:r>
            <a:endParaRPr lang="en-US" sz="1200" dirty="0"/>
          </a:p>
        </p:txBody>
      </p:sp>
      <p:sp>
        <p:nvSpPr>
          <p:cNvPr id="10" name="Text 6"/>
          <p:cNvSpPr txBox="1"/>
          <p:nvPr/>
        </p:nvSpPr>
        <p:spPr>
          <a:xfrm>
            <a:off x="576072" y="2221992"/>
            <a:ext cx="3236976" cy="1755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950" dirty="0"/>
          </a:p>
        </p:txBody>
      </p:sp>
      <p:sp>
        <p:nvSpPr>
          <p:cNvPr id="11" name="Shape 7"/>
          <p:cNvSpPr/>
          <p:nvPr/>
        </p:nvSpPr>
        <p:spPr>
          <a:xfrm>
            <a:off x="594360" y="3520440"/>
            <a:ext cx="1234440" cy="274320"/>
          </a:xfrm>
          <a:prstGeom prst="roundRect">
            <a:avLst>
              <a:gd name="adj" fmla="val 26667"/>
            </a:avLst>
          </a:prstGeom>
          <a:solidFill>
            <a:srgbClr val="FFF3D6"/>
          </a:solidFill>
          <a:ln w="9525">
            <a:solidFill>
              <a:srgbClr val="FFF3D6"/>
            </a:solidFill>
            <a:prstDash val="solid"/>
          </a:ln>
        </p:spPr>
      </p:sp>
      <p:sp>
        <p:nvSpPr>
          <p:cNvPr id="12" name="Text 8"/>
          <p:cNvSpPr txBox="1"/>
          <p:nvPr/>
        </p:nvSpPr>
        <p:spPr>
          <a:xfrm>
            <a:off x="594360" y="3520440"/>
            <a:ext cx="1234440" cy="274320"/>
          </a:xfrm>
          <a:prstGeom prst="rect">
            <a:avLst/>
          </a:prstGeom>
          <a:no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Trainer provides</a:t>
            </a:r>
            <a:endParaRPr lang="en-US" sz="800" dirty="0"/>
          </a:p>
        </p:txBody>
      </p:sp>
      <p:sp>
        <p:nvSpPr>
          <p:cNvPr id="13" name="Shape 9"/>
          <p:cNvSpPr/>
          <p:nvPr/>
        </p:nvSpPr>
        <p:spPr>
          <a:xfrm>
            <a:off x="4114800" y="1325880"/>
            <a:ext cx="4617720" cy="1298448"/>
          </a:xfrm>
          <a:prstGeom prst="roundRect">
            <a:avLst>
              <a:gd name="adj" fmla="val 5634"/>
            </a:avLst>
          </a:prstGeom>
          <a:solidFill>
            <a:srgbClr val="FFFFFF"/>
          </a:solidFill>
          <a:ln w="9525">
            <a:solidFill>
              <a:srgbClr val="DCE1E7"/>
            </a:solidFill>
            <a:prstDash val="solid"/>
          </a:ln>
        </p:spPr>
      </p:sp>
      <p:sp>
        <p:nvSpPr>
          <p:cNvPr id="14" name="Shape 10"/>
          <p:cNvSpPr/>
          <p:nvPr/>
        </p:nvSpPr>
        <p:spPr>
          <a:xfrm>
            <a:off x="4279392" y="1508760"/>
            <a:ext cx="274320" cy="274320"/>
          </a:xfrm>
          <a:prstGeom prst="ellipse">
            <a:avLst/>
          </a:prstGeom>
          <a:solidFill>
            <a:srgbClr val="E3F4F1"/>
          </a:solidFill>
          <a:ln w="12700">
            <a:solidFill>
              <a:srgbClr val="E3F4F1"/>
            </a:solidFill>
            <a:prstDash val="solid"/>
          </a:ln>
        </p:spPr>
      </p:sp>
      <p:sp>
        <p:nvSpPr>
          <p:cNvPr id="15" name="Text 11"/>
          <p:cNvSpPr txBox="1"/>
          <p:nvPr/>
        </p:nvSpPr>
        <p:spPr>
          <a:xfrm>
            <a:off x="427939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6" name="Text 12"/>
          <p:cNvSpPr txBox="1"/>
          <p:nvPr/>
        </p:nvSpPr>
        <p:spPr>
          <a:xfrm>
            <a:off x="4279392" y="1929384"/>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What will be your actions?</a:t>
            </a:r>
            <a:endParaRPr lang="en-US" sz="1200" dirty="0"/>
          </a:p>
        </p:txBody>
      </p:sp>
      <p:sp>
        <p:nvSpPr>
          <p:cNvPr id="17" name="Text 13"/>
          <p:cNvSpPr txBox="1"/>
          <p:nvPr/>
        </p:nvSpPr>
        <p:spPr>
          <a:xfrm>
            <a:off x="4279392" y="2221992"/>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Which issue is it, and what will you do on the account?</a:t>
            </a:r>
            <a:endParaRPr lang="en-US" sz="950" dirty="0"/>
          </a:p>
        </p:txBody>
      </p:sp>
      <p:sp>
        <p:nvSpPr>
          <p:cNvPr id="18" name="Shape 14"/>
          <p:cNvSpPr/>
          <p:nvPr/>
        </p:nvSpPr>
        <p:spPr>
          <a:xfrm>
            <a:off x="4114800" y="2770632"/>
            <a:ext cx="4617720" cy="1298448"/>
          </a:xfrm>
          <a:prstGeom prst="roundRect">
            <a:avLst>
              <a:gd name="adj" fmla="val 5634"/>
            </a:avLst>
          </a:prstGeom>
          <a:solidFill>
            <a:srgbClr val="FFFFFF"/>
          </a:solidFill>
          <a:ln w="9525">
            <a:solidFill>
              <a:srgbClr val="DCE1E7"/>
            </a:solidFill>
            <a:prstDash val="solid"/>
          </a:ln>
        </p:spPr>
      </p:sp>
      <p:sp>
        <p:nvSpPr>
          <p:cNvPr id="19" name="Shape 15"/>
          <p:cNvSpPr/>
          <p:nvPr/>
        </p:nvSpPr>
        <p:spPr>
          <a:xfrm>
            <a:off x="4279392" y="2953512"/>
            <a:ext cx="274320" cy="274320"/>
          </a:xfrm>
          <a:prstGeom prst="ellipse">
            <a:avLst/>
          </a:prstGeom>
          <a:solidFill>
            <a:srgbClr val="E3F4F1"/>
          </a:solidFill>
          <a:ln w="12700">
            <a:solidFill>
              <a:srgbClr val="E3F4F1"/>
            </a:solidFill>
            <a:prstDash val="solid"/>
          </a:ln>
        </p:spPr>
      </p:sp>
      <p:sp>
        <p:nvSpPr>
          <p:cNvPr id="20" name="Text 16"/>
          <p:cNvSpPr txBox="1"/>
          <p:nvPr/>
        </p:nvSpPr>
        <p:spPr>
          <a:xfrm>
            <a:off x="4279392" y="295351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1" name="Text 17"/>
          <p:cNvSpPr txBox="1"/>
          <p:nvPr/>
        </p:nvSpPr>
        <p:spPr>
          <a:xfrm>
            <a:off x="4279392" y="3374136"/>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How will you respond to the customer?</a:t>
            </a:r>
            <a:endParaRPr lang="en-US" sz="1200" dirty="0"/>
          </a:p>
        </p:txBody>
      </p:sp>
      <p:sp>
        <p:nvSpPr>
          <p:cNvPr id="22" name="Text 18"/>
          <p:cNvSpPr txBox="1"/>
          <p:nvPr/>
        </p:nvSpPr>
        <p:spPr>
          <a:xfrm>
            <a:off x="4279392" y="3666744"/>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Write the reply you would send.</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FALSE INVOICE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Who invoiced, first</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Customer invoiced it? Refund, no penalty.</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Full refund, then flag</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cp_false_invoice with the ID triplet. Block the pairing.</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norequests, never DNR</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Repeated abuse may be suspended. Reactivation is CP-side.</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04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Disintermediation: Cash Payment</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customer paid the cleaner directly instead of through the platform.</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it is and how it's reported</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Key principles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penalty ladder</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CP-side and C-side paths</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_pay.png">    </p:cNvPr>
          <p:cNvPicPr>
            <a:picLocks noChangeAspect="1"/>
          </p:cNvPicPr>
          <p:nvPr/>
        </p:nvPicPr>
        <p:blipFill>
          <a:blip r:embed="rId5"/>
          <a:stretch>
            <a:fillRect/>
          </a:stretch>
        </p:blipFill>
        <p:spPr>
          <a:xfrm>
            <a:off x="5541264" y="1540190"/>
            <a:ext cx="2926080" cy="2058549"/>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it looks like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Cash, Venmo, Zelle, Cash App or PayPal: any payment outside the platform.</a:t>
            </a:r>
            <a:endParaRPr lang="en-US" sz="1200" dirty="0"/>
          </a:p>
        </p:txBody>
      </p:sp>
      <p:sp>
        <p:nvSpPr>
          <p:cNvPr id="6" name="Shape 3"/>
          <p:cNvSpPr/>
          <p:nvPr/>
        </p:nvSpPr>
        <p:spPr>
          <a:xfrm>
            <a:off x="411480" y="1280160"/>
            <a:ext cx="2682240" cy="1463040"/>
          </a:xfrm>
          <a:prstGeom prst="roundRect">
            <a:avLst>
              <a:gd name="adj" fmla="val 5000"/>
            </a:avLst>
          </a:prstGeom>
          <a:solidFill>
            <a:srgbClr val="FFFFFF"/>
          </a:solidFill>
          <a:ln w="9525">
            <a:solidFill>
              <a:srgbClr val="DCE1E7"/>
            </a:solidFill>
            <a:prstDash val="solid"/>
          </a:ln>
        </p:spPr>
      </p:sp>
      <p:sp>
        <p:nvSpPr>
          <p:cNvPr id="7" name="Shape 4"/>
          <p:cNvSpPr/>
          <p:nvPr/>
        </p:nvSpPr>
        <p:spPr>
          <a:xfrm>
            <a:off x="576072" y="146304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uses Report Issue</a:t>
            </a:r>
            <a:endParaRPr lang="en-US" sz="1200" dirty="0"/>
          </a:p>
        </p:txBody>
      </p:sp>
      <p:sp>
        <p:nvSpPr>
          <p:cNvPr id="10" name="Text 7"/>
          <p:cNvSpPr txBox="1"/>
          <p:nvPr/>
        </p:nvSpPr>
        <p:spPr>
          <a:xfrm>
            <a:off x="576072" y="2176272"/>
            <a:ext cx="23530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They tell us they received cash.</a:t>
            </a:r>
            <a:endParaRPr lang="en-US" sz="950" dirty="0"/>
          </a:p>
        </p:txBody>
      </p:sp>
      <p:sp>
        <p:nvSpPr>
          <p:cNvPr id="11" name="Shape 8"/>
          <p:cNvSpPr/>
          <p:nvPr/>
        </p:nvSpPr>
        <p:spPr>
          <a:xfrm>
            <a:off x="3230880" y="1280160"/>
            <a:ext cx="2682240" cy="1463040"/>
          </a:xfrm>
          <a:prstGeom prst="roundRect">
            <a:avLst>
              <a:gd name="adj" fmla="val 5000"/>
            </a:avLst>
          </a:prstGeom>
          <a:solidFill>
            <a:srgbClr val="FFFFFF"/>
          </a:solidFill>
          <a:ln w="9525">
            <a:solidFill>
              <a:srgbClr val="DCE1E7"/>
            </a:solidFill>
            <a:prstDash val="solid"/>
          </a:ln>
        </p:spPr>
      </p:sp>
      <p:sp>
        <p:nvSpPr>
          <p:cNvPr id="12" name="Shape 9"/>
          <p:cNvSpPr/>
          <p:nvPr/>
        </p:nvSpPr>
        <p:spPr>
          <a:xfrm>
            <a:off x="3395472" y="146304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 CP-side ticket is created</a:t>
            </a:r>
            <a:endParaRPr lang="en-US" sz="1200" dirty="0"/>
          </a:p>
        </p:txBody>
      </p:sp>
      <p:sp>
        <p:nvSpPr>
          <p:cNvPr id="15" name="Text 12"/>
          <p:cNvSpPr txBox="1"/>
          <p:nvPr/>
        </p:nvSpPr>
        <p:spPr>
          <a:xfrm>
            <a:off x="3395472" y="2176272"/>
            <a:ext cx="23530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flag is left on the job itself.</a:t>
            </a:r>
            <a:endParaRPr lang="en-US" sz="950" dirty="0"/>
          </a:p>
        </p:txBody>
      </p:sp>
      <p:sp>
        <p:nvSpPr>
          <p:cNvPr id="16" name="Shape 13"/>
          <p:cNvSpPr/>
          <p:nvPr/>
        </p:nvSpPr>
        <p:spPr>
          <a:xfrm>
            <a:off x="6050280" y="1280160"/>
            <a:ext cx="2682240" cy="1463040"/>
          </a:xfrm>
          <a:prstGeom prst="roundRect">
            <a:avLst>
              <a:gd name="adj" fmla="val 5000"/>
            </a:avLst>
          </a:prstGeom>
          <a:solidFill>
            <a:srgbClr val="FFFFFF"/>
          </a:solidFill>
          <a:ln w="9525">
            <a:solidFill>
              <a:srgbClr val="DCE1E7"/>
            </a:solidFill>
            <a:prstDash val="solid"/>
          </a:ln>
        </p:spPr>
      </p:sp>
      <p:sp>
        <p:nvSpPr>
          <p:cNvPr id="17" name="Shape 14"/>
          <p:cNvSpPr/>
          <p:nvPr/>
        </p:nvSpPr>
        <p:spPr>
          <a:xfrm>
            <a:off x="6214872" y="146304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Job stays Pending Invoice</a:t>
            </a:r>
            <a:endParaRPr lang="en-US" sz="1200" dirty="0"/>
          </a:p>
        </p:txBody>
      </p:sp>
      <p:sp>
        <p:nvSpPr>
          <p:cNvPr id="20" name="Text 17"/>
          <p:cNvSpPr txBox="1"/>
          <p:nvPr/>
        </p:nvSpPr>
        <p:spPr>
          <a:xfrm>
            <a:off x="6214872" y="2176272"/>
            <a:ext cx="23530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So the customer isn't auto-charged.</a:t>
            </a:r>
            <a:endParaRPr lang="en-US" sz="950" dirty="0"/>
          </a:p>
        </p:txBody>
      </p:sp>
      <p:sp>
        <p:nvSpPr>
          <p:cNvPr id="21" name="Shape 18"/>
          <p:cNvSpPr/>
          <p:nvPr/>
        </p:nvSpPr>
        <p:spPr>
          <a:xfrm>
            <a:off x="411480" y="2971800"/>
            <a:ext cx="8321040" cy="384048"/>
          </a:xfrm>
          <a:prstGeom prst="roundRect">
            <a:avLst>
              <a:gd name="adj" fmla="val 19048"/>
            </a:avLst>
          </a:prstGeom>
          <a:solidFill>
            <a:srgbClr val="FFF3D6"/>
          </a:solidFill>
          <a:ln w="9525">
            <a:solidFill>
              <a:srgbClr val="FFF3D6"/>
            </a:solidFill>
            <a:prstDash val="solid"/>
          </a:ln>
        </p:spPr>
      </p:sp>
      <p:pic>
        <p:nvPicPr>
          <p:cNvPr id="22" name="Image 0" descr="preencoded.png">    </p:cNvPr>
          <p:cNvPicPr>
            <a:picLocks noChangeAspect="1"/>
          </p:cNvPicPr>
          <p:nvPr/>
        </p:nvPicPr>
        <p:blipFill>
          <a:blip r:embed="rId1"/>
          <a:stretch>
            <a:fillRect/>
          </a:stretch>
        </p:blipFill>
        <p:spPr>
          <a:xfrm>
            <a:off x="566928" y="3081528"/>
            <a:ext cx="164592" cy="164592"/>
          </a:xfrm>
          <a:prstGeom prst="rect">
            <a:avLst/>
          </a:prstGeom>
        </p:spPr>
      </p:pic>
      <p:sp>
        <p:nvSpPr>
          <p:cNvPr id="23" name="Text 19"/>
          <p:cNvSpPr txBox="1"/>
          <p:nvPr/>
        </p:nvSpPr>
        <p:spPr>
          <a:xfrm>
            <a:off x="822960" y="30723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C-side agent?  </a:t>
            </a:r>
            <a:pPr indent="0" marL="0">
              <a:buNone/>
            </a:pPr>
            <a:r>
              <a:rPr lang="en-US" sz="1000" dirty="0">
                <a:solidFill>
                  <a:srgbClr val="1D1D1F"/>
                </a:solidFill>
                <a:latin typeface="SF Pro Text" pitchFamily="34" charset="0"/>
                <a:ea typeface="SF Pro Text" pitchFamily="34" charset="-122"/>
                <a:cs typeface="SF Pro Text" pitchFamily="34" charset="-120"/>
              </a:rPr>
              <a:t>always check the CP CRM first. The cleaner may already have reported it.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job status decides the action</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Nobody should pay twice, and nobody should be paid twice.</a:t>
            </a:r>
            <a:endParaRPr lang="en-US" sz="1200" dirty="0"/>
          </a:p>
        </p:txBody>
      </p:sp>
      <p:sp>
        <p:nvSpPr>
          <p:cNvPr id="6" name="Shape 3"/>
          <p:cNvSpPr/>
          <p:nvPr/>
        </p:nvSpPr>
        <p:spPr>
          <a:xfrm>
            <a:off x="411480" y="1280160"/>
            <a:ext cx="268224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Pending Invoice</a:t>
            </a:r>
            <a:endParaRPr lang="en-US" sz="1200" dirty="0"/>
          </a:p>
        </p:txBody>
      </p:sp>
      <p:sp>
        <p:nvSpPr>
          <p:cNvPr id="10" name="Text 6"/>
          <p:cNvSpPr txBox="1"/>
          <p:nvPr/>
        </p:nvSpPr>
        <p:spPr>
          <a:xfrm>
            <a:off x="576072" y="2176272"/>
            <a:ext cx="23530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Cancel via the C CRM: "does not want the service".</a:t>
            </a:r>
            <a:endParaRPr lang="en-US" sz="950" dirty="0"/>
          </a:p>
        </p:txBody>
      </p:sp>
      <p:sp>
        <p:nvSpPr>
          <p:cNvPr id="11" name="Shape 7"/>
          <p:cNvSpPr/>
          <p:nvPr/>
        </p:nvSpPr>
        <p:spPr>
          <a:xfrm>
            <a:off x="3230880" y="1280160"/>
            <a:ext cx="2682240" cy="1828800"/>
          </a:xfrm>
          <a:prstGeom prst="roundRect">
            <a:avLst>
              <a:gd name="adj" fmla="val 4000"/>
            </a:avLst>
          </a:prstGeom>
          <a:solidFill>
            <a:srgbClr val="FFFFFF"/>
          </a:solidFill>
          <a:ln w="9525">
            <a:solidFill>
              <a:srgbClr val="DCE1E7"/>
            </a:solidFill>
            <a:prstDash val="solid"/>
          </a:ln>
        </p:spPr>
      </p:sp>
      <p:sp>
        <p:nvSpPr>
          <p:cNvPr id="12" name="Shape 8"/>
          <p:cNvSpPr/>
          <p:nvPr/>
        </p:nvSpPr>
        <p:spPr>
          <a:xfrm>
            <a:off x="339547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4" name="Text 9"/>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Invoiced</a:t>
            </a:r>
            <a:endParaRPr lang="en-US" sz="1200" dirty="0"/>
          </a:p>
        </p:txBody>
      </p:sp>
      <p:sp>
        <p:nvSpPr>
          <p:cNvPr id="15" name="Text 10"/>
          <p:cNvSpPr txBox="1"/>
          <p:nvPr/>
        </p:nvSpPr>
        <p:spPr>
          <a:xfrm>
            <a:off x="3395472" y="2176272"/>
            <a:ext cx="23530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Refund from the CP Dashboard. Reverses both sides.</a:t>
            </a:r>
            <a:endParaRPr lang="en-US" sz="950" dirty="0"/>
          </a:p>
        </p:txBody>
      </p:sp>
      <p:sp>
        <p:nvSpPr>
          <p:cNvPr id="16" name="Shape 11"/>
          <p:cNvSpPr/>
          <p:nvPr/>
        </p:nvSpPr>
        <p:spPr>
          <a:xfrm>
            <a:off x="6050280" y="1280160"/>
            <a:ext cx="2682240" cy="1828800"/>
          </a:xfrm>
          <a:prstGeom prst="roundRect">
            <a:avLst>
              <a:gd name="adj" fmla="val 4000"/>
            </a:avLst>
          </a:prstGeom>
          <a:solidFill>
            <a:srgbClr val="FFFFFF"/>
          </a:solidFill>
          <a:ln w="9525">
            <a:solidFill>
              <a:srgbClr val="DCE1E7"/>
            </a:solidFill>
            <a:prstDash val="solid"/>
          </a:ln>
        </p:spPr>
      </p:sp>
      <p:sp>
        <p:nvSpPr>
          <p:cNvPr id="17" name="Shape 12"/>
          <p:cNvSpPr/>
          <p:nvPr/>
        </p:nvSpPr>
        <p:spPr>
          <a:xfrm>
            <a:off x="6214872" y="144475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9" name="Text 13"/>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Cancelled</a:t>
            </a:r>
            <a:endParaRPr lang="en-US" sz="1200" dirty="0"/>
          </a:p>
        </p:txBody>
      </p:sp>
      <p:sp>
        <p:nvSpPr>
          <p:cNvPr id="20" name="Text 14"/>
          <p:cNvSpPr txBox="1"/>
          <p:nvPr/>
        </p:nvSpPr>
        <p:spPr>
          <a:xfrm>
            <a:off x="6214872" y="2176272"/>
            <a:ext cx="235305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Nothing to refund. Don't recreate the job.</a:t>
            </a:r>
            <a:endParaRPr lang="en-US" sz="950" dirty="0"/>
          </a:p>
        </p:txBody>
      </p:sp>
      <p:sp>
        <p:nvSpPr>
          <p:cNvPr id="21" name="Shape 15"/>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401568"/>
            <a:ext cx="164592" cy="164592"/>
          </a:xfrm>
          <a:prstGeom prst="rect">
            <a:avLst/>
          </a:prstGeom>
        </p:spPr>
      </p:pic>
      <p:sp>
        <p:nvSpPr>
          <p:cNvPr id="23" name="Text 16"/>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Partial cash payment?  </a:t>
            </a:r>
            <a:pPr indent="0" marL="0">
              <a:buNone/>
            </a:pPr>
            <a:r>
              <a:rPr lang="en-US" sz="1000" dirty="0">
                <a:solidFill>
                  <a:srgbClr val="1D1D1F"/>
                </a:solidFill>
                <a:latin typeface="SF Pro Text" pitchFamily="34" charset="0"/>
                <a:ea typeface="SF Pro Text" pitchFamily="34" charset="-122"/>
                <a:cs typeface="SF Pro Text" pitchFamily="34" charset="-120"/>
              </a:rPr>
              <a:t>invoice (or refund) only the difference, based on CP Pay, not the C Price.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Key principles</a:t>
            </a:r>
            <a:endParaRPr lang="en-US" sz="2400" dirty="0"/>
          </a:p>
        </p:txBody>
      </p:sp>
      <p:sp>
        <p:nvSpPr>
          <p:cNvPr id="5" name="Shape 2"/>
          <p:cNvSpPr/>
          <p:nvPr/>
        </p:nvSpPr>
        <p:spPr>
          <a:xfrm>
            <a:off x="411480" y="1280160"/>
            <a:ext cx="1977390" cy="2377440"/>
          </a:xfrm>
          <a:prstGeom prst="roundRect">
            <a:avLst>
              <a:gd name="adj" fmla="val 3699"/>
            </a:avLst>
          </a:prstGeom>
          <a:solidFill>
            <a:srgbClr val="FFFFFF"/>
          </a:solidFill>
          <a:ln w="9525">
            <a:solidFill>
              <a:srgbClr val="DCE1E7"/>
            </a:solidFill>
            <a:prstDash val="solid"/>
          </a:ln>
        </p:spPr>
      </p:sp>
      <p:sp>
        <p:nvSpPr>
          <p:cNvPr id="6" name="Shape 3"/>
          <p:cNvSpPr/>
          <p:nvPr/>
        </p:nvSpPr>
        <p:spPr>
          <a:xfrm>
            <a:off x="576072" y="144475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8" name="Text 4"/>
          <p:cNvSpPr txBox="1"/>
          <p:nvPr/>
        </p:nvSpPr>
        <p:spPr>
          <a:xfrm>
            <a:off x="576072" y="1883664"/>
            <a:ext cx="1648206" cy="841248"/>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Don’t penalize the  customer</a:t>
            </a:r>
            <a:endParaRPr lang="en-US" sz="1200" dirty="0"/>
          </a:p>
        </p:txBody>
      </p:sp>
      <p:sp>
        <p:nvSpPr>
          <p:cNvPr id="9" name="Text 5"/>
          <p:cNvSpPr txBox="1"/>
          <p:nvPr/>
        </p:nvSpPr>
        <p:spPr>
          <a:xfrm>
            <a:off x="576072" y="2788920"/>
            <a:ext cx="1648206" cy="82296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 broke the rule, not them.</a:t>
            </a:r>
            <a:endParaRPr lang="en-US" sz="950" dirty="0"/>
          </a:p>
        </p:txBody>
      </p:sp>
      <p:sp>
        <p:nvSpPr>
          <p:cNvPr id="10" name="Shape 6"/>
          <p:cNvSpPr/>
          <p:nvPr/>
        </p:nvSpPr>
        <p:spPr>
          <a:xfrm>
            <a:off x="2526030" y="1280160"/>
            <a:ext cx="1977390" cy="2377440"/>
          </a:xfrm>
          <a:prstGeom prst="roundRect">
            <a:avLst>
              <a:gd name="adj" fmla="val 3699"/>
            </a:avLst>
          </a:prstGeom>
          <a:solidFill>
            <a:srgbClr val="FFFFFF"/>
          </a:solidFill>
          <a:ln w="9525">
            <a:solidFill>
              <a:srgbClr val="DCE1E7"/>
            </a:solidFill>
            <a:prstDash val="solid"/>
          </a:ln>
        </p:spPr>
      </p:sp>
      <p:sp>
        <p:nvSpPr>
          <p:cNvPr id="11" name="Shape 7"/>
          <p:cNvSpPr/>
          <p:nvPr/>
        </p:nvSpPr>
        <p:spPr>
          <a:xfrm>
            <a:off x="2690622" y="144475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2769626" y="1523756"/>
            <a:ext cx="171176" cy="171176"/>
          </a:xfrm>
          <a:prstGeom prst="rect">
            <a:avLst/>
          </a:prstGeom>
        </p:spPr>
      </p:pic>
      <p:sp>
        <p:nvSpPr>
          <p:cNvPr id="13" name="Text 8"/>
          <p:cNvSpPr txBox="1"/>
          <p:nvPr/>
        </p:nvSpPr>
        <p:spPr>
          <a:xfrm>
            <a:off x="2690622" y="1883664"/>
            <a:ext cx="1648206" cy="841248"/>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Don’t act as investigator</a:t>
            </a:r>
            <a:endParaRPr lang="en-US" sz="1200" dirty="0"/>
          </a:p>
        </p:txBody>
      </p:sp>
      <p:sp>
        <p:nvSpPr>
          <p:cNvPr id="14" name="Text 9"/>
          <p:cNvSpPr txBox="1"/>
          <p:nvPr/>
        </p:nvSpPr>
        <p:spPr>
          <a:xfrm>
            <a:off x="2690622" y="2788920"/>
            <a:ext cx="1648206" cy="82296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Nothing to go on? Focus on the customer's experience.</a:t>
            </a:r>
            <a:endParaRPr lang="en-US" sz="950" dirty="0"/>
          </a:p>
        </p:txBody>
      </p:sp>
      <p:sp>
        <p:nvSpPr>
          <p:cNvPr id="15" name="Shape 10"/>
          <p:cNvSpPr/>
          <p:nvPr/>
        </p:nvSpPr>
        <p:spPr>
          <a:xfrm>
            <a:off x="4640580" y="1280160"/>
            <a:ext cx="1977390" cy="2377440"/>
          </a:xfrm>
          <a:prstGeom prst="roundRect">
            <a:avLst>
              <a:gd name="adj" fmla="val 3699"/>
            </a:avLst>
          </a:prstGeom>
          <a:solidFill>
            <a:srgbClr val="FFFFFF"/>
          </a:solidFill>
          <a:ln w="9525">
            <a:solidFill>
              <a:srgbClr val="DCE1E7"/>
            </a:solidFill>
            <a:prstDash val="solid"/>
          </a:ln>
        </p:spPr>
      </p:sp>
      <p:sp>
        <p:nvSpPr>
          <p:cNvPr id="16" name="Shape 11"/>
          <p:cNvSpPr/>
          <p:nvPr/>
        </p:nvSpPr>
        <p:spPr>
          <a:xfrm>
            <a:off x="4805172" y="1444752"/>
            <a:ext cx="329184" cy="329184"/>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4884176" y="1523756"/>
            <a:ext cx="171176" cy="171176"/>
          </a:xfrm>
          <a:prstGeom prst="rect">
            <a:avLst/>
          </a:prstGeom>
        </p:spPr>
      </p:pic>
      <p:sp>
        <p:nvSpPr>
          <p:cNvPr id="18" name="Text 12"/>
          <p:cNvSpPr txBox="1"/>
          <p:nvPr/>
        </p:nvSpPr>
        <p:spPr>
          <a:xfrm>
            <a:off x="4805172" y="1883664"/>
            <a:ext cx="1648206" cy="841248"/>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Coaching tone - based on how cash payment was confirmed</a:t>
            </a:r>
            <a:endParaRPr lang="en-US" sz="1200" dirty="0"/>
          </a:p>
        </p:txBody>
      </p:sp>
      <p:sp>
        <p:nvSpPr>
          <p:cNvPr id="19" name="Text 13"/>
          <p:cNvSpPr txBox="1"/>
          <p:nvPr/>
        </p:nvSpPr>
        <p:spPr>
          <a:xfrm>
            <a:off x="4805172" y="2788920"/>
            <a:ext cx="1648206" cy="82296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How it was confirmed changes the coaching tone.</a:t>
            </a:r>
            <a:endParaRPr lang="en-US" sz="950" dirty="0"/>
          </a:p>
        </p:txBody>
      </p:sp>
      <p:sp>
        <p:nvSpPr>
          <p:cNvPr id="20" name="Shape 14"/>
          <p:cNvSpPr/>
          <p:nvPr/>
        </p:nvSpPr>
        <p:spPr>
          <a:xfrm>
            <a:off x="6755130" y="1280160"/>
            <a:ext cx="1977390" cy="2377440"/>
          </a:xfrm>
          <a:prstGeom prst="roundRect">
            <a:avLst>
              <a:gd name="adj" fmla="val 3699"/>
            </a:avLst>
          </a:prstGeom>
          <a:solidFill>
            <a:srgbClr val="FFFFFF"/>
          </a:solidFill>
          <a:ln w="9525">
            <a:solidFill>
              <a:srgbClr val="DCE1E7"/>
            </a:solidFill>
            <a:prstDash val="solid"/>
          </a:ln>
        </p:spPr>
      </p:sp>
      <p:sp>
        <p:nvSpPr>
          <p:cNvPr id="21" name="Shape 15"/>
          <p:cNvSpPr/>
          <p:nvPr/>
        </p:nvSpPr>
        <p:spPr>
          <a:xfrm>
            <a:off x="6919722" y="1444752"/>
            <a:ext cx="329184" cy="329184"/>
          </a:xfrm>
          <a:prstGeom prst="ellipse">
            <a:avLst/>
          </a:prstGeom>
          <a:solidFill>
            <a:srgbClr val="E3F4F1"/>
          </a:solidFill>
          <a:ln w="12700">
            <a:solidFill>
              <a:srgbClr val="E3F4F1"/>
            </a:solidFill>
            <a:prstDash val="solid"/>
          </a:ln>
        </p:spPr>
      </p:sp>
      <p:pic>
        <p:nvPicPr>
          <p:cNvPr id="22" name="Image 3" descr="preencoded.png">    </p:cNvPr>
          <p:cNvPicPr>
            <a:picLocks noChangeAspect="1"/>
          </p:cNvPicPr>
          <p:nvPr/>
        </p:nvPicPr>
        <p:blipFill>
          <a:blip r:embed="rId4"/>
          <a:stretch>
            <a:fillRect/>
          </a:stretch>
        </p:blipFill>
        <p:spPr>
          <a:xfrm>
            <a:off x="6998726" y="1523756"/>
            <a:ext cx="171176" cy="171176"/>
          </a:xfrm>
          <a:prstGeom prst="rect">
            <a:avLst/>
          </a:prstGeom>
        </p:spPr>
      </p:pic>
      <p:sp>
        <p:nvSpPr>
          <p:cNvPr id="23" name="Text 16"/>
          <p:cNvSpPr txBox="1"/>
          <p:nvPr/>
        </p:nvSpPr>
        <p:spPr>
          <a:xfrm>
            <a:off x="6919722" y="1883664"/>
            <a:ext cx="1648206" cy="841248"/>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Remind the customer where payment runs</a:t>
            </a:r>
            <a:endParaRPr lang="en-US" sz="1200" dirty="0"/>
          </a:p>
        </p:txBody>
      </p:sp>
      <p:sp>
        <p:nvSpPr>
          <p:cNvPr id="24" name="Text 17"/>
          <p:cNvSpPr txBox="1"/>
          <p:nvPr/>
        </p:nvSpPr>
        <p:spPr>
          <a:xfrm>
            <a:off x="6919722" y="2788920"/>
            <a:ext cx="1648206" cy="822960"/>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Pay through the platform. Cash is only for tips.</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penalty ladder</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C-side agents never suspend or add DNR for cash.</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280160"/>
                <a:gridCol w="3520440"/>
                <a:gridCol w="3520440"/>
              </a:tblGrid>
              <a:tr h="502920">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Instance</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Cleaner admits it (soft ladder)</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Only customer proof (hard ladder)</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502920">
                <a:tc>
                  <a:txBody>
                    <a:bodyPr/>
                    <a:lstStyle/>
                    <a:p>
                      <a:pPr indent="0" marL="0">
                        <a:buNone/>
                      </a:pPr>
                      <a:r>
                        <a:rPr lang="en-US" sz="1100" b="1" dirty="0">
                          <a:solidFill>
                            <a:srgbClr val="1D1D1F"/>
                          </a:solidFill>
                          <a:latin typeface="SF Pro Text" pitchFamily="34" charset="0"/>
                          <a:ea typeface="SF Pro Text" pitchFamily="34" charset="-122"/>
                          <a:cs typeface="SF Pro Text" pitchFamily="34" charset="-120"/>
                        </a:rPr>
                        <a:t>1st</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Coach. No status change</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Coach and warn. No status change</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D1D1F"/>
                          </a:solidFill>
                          <a:latin typeface="SF Pro Text" pitchFamily="34" charset="0"/>
                          <a:ea typeface="SF Pro Text" pitchFamily="34" charset="-122"/>
                          <a:cs typeface="SF Pro Text" pitchFamily="34" charset="-120"/>
                        </a:rPr>
                        <a:t>2nd</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norequests</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norequests</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306324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3172968"/>
            <a:ext cx="164592" cy="164592"/>
          </a:xfrm>
          <a:prstGeom prst="rect">
            <a:avLst/>
          </a:prstGeom>
        </p:spPr>
      </p:pic>
      <p:sp>
        <p:nvSpPr>
          <p:cNvPr id="9" name="Text 4"/>
          <p:cNvSpPr txBox="1"/>
          <p:nvPr/>
        </p:nvSpPr>
        <p:spPr>
          <a:xfrm>
            <a:off x="822960" y="31638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Denied and no proof?  </a:t>
            </a:r>
            <a:pPr indent="0" marL="0">
              <a:buNone/>
            </a:pPr>
            <a:r>
              <a:rPr lang="en-US" sz="1000" dirty="0">
                <a:solidFill>
                  <a:srgbClr val="1D1D1F"/>
                </a:solidFill>
                <a:latin typeface="SF Pro Text" pitchFamily="34" charset="0"/>
                <a:ea typeface="SF Pro Text" pitchFamily="34" charset="-122"/>
                <a:cs typeface="SF Pro Text" pitchFamily="34" charset="-120"/>
              </a:rPr>
              <a:t>nothing is confirmed: no refund, no penalty. Assess for retention.</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Branch A: the cleaner reported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CP-side agent. This is the path most cases take.</a:t>
            </a:r>
            <a:endParaRPr lang="en-US" sz="1200" dirty="0"/>
          </a:p>
        </p:txBody>
      </p:sp>
      <p:sp>
        <p:nvSpPr>
          <p:cNvPr id="6" name="Shape 3"/>
          <p:cNvSpPr/>
          <p:nvPr/>
        </p:nvSpPr>
        <p:spPr>
          <a:xfrm>
            <a:off x="411480" y="1280160"/>
            <a:ext cx="1977390" cy="1828800"/>
          </a:xfrm>
          <a:prstGeom prst="roundRect">
            <a:avLst>
              <a:gd name="adj" fmla="val 4000"/>
            </a:avLst>
          </a:prstGeom>
          <a:solidFill>
            <a:srgbClr val="FFFFFF"/>
          </a:solidFill>
          <a:ln w="9525">
            <a:solidFill>
              <a:srgbClr val="DCE1E7"/>
            </a:solidFill>
            <a:prstDash val="solid"/>
          </a:ln>
        </p:spPr>
      </p:sp>
      <p:sp>
        <p:nvSpPr>
          <p:cNvPr id="7" name="Shape 4"/>
          <p:cNvSpPr/>
          <p:nvPr/>
        </p:nvSpPr>
        <p:spPr>
          <a:xfrm>
            <a:off x="576072" y="146304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Ticket arrives</a:t>
            </a:r>
            <a:endParaRPr lang="en-US" sz="1200" dirty="0"/>
          </a:p>
        </p:txBody>
      </p:sp>
      <p:sp>
        <p:nvSpPr>
          <p:cNvPr id="10" name="Text 7"/>
          <p:cNvSpPr txBox="1"/>
          <p:nvPr/>
        </p:nvSpPr>
        <p:spPr>
          <a:xfrm>
            <a:off x="57607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 used Report Issue.</a:t>
            </a:r>
            <a:endParaRPr lang="en-US" sz="950" dirty="0"/>
          </a:p>
        </p:txBody>
      </p:sp>
      <p:sp>
        <p:nvSpPr>
          <p:cNvPr id="11" name="Shape 8"/>
          <p:cNvSpPr/>
          <p:nvPr/>
        </p:nvSpPr>
        <p:spPr>
          <a:xfrm>
            <a:off x="2526030" y="1280160"/>
            <a:ext cx="1977390" cy="1828800"/>
          </a:xfrm>
          <a:prstGeom prst="roundRect">
            <a:avLst>
              <a:gd name="adj" fmla="val 4000"/>
            </a:avLst>
          </a:prstGeom>
          <a:solidFill>
            <a:srgbClr val="FFFFFF"/>
          </a:solidFill>
          <a:ln w="9525">
            <a:solidFill>
              <a:srgbClr val="DCE1E7"/>
            </a:solidFill>
            <a:prstDash val="solid"/>
          </a:ln>
        </p:spPr>
      </p:sp>
      <p:sp>
        <p:nvSpPr>
          <p:cNvPr id="12" name="Shape 9"/>
          <p:cNvSpPr/>
          <p:nvPr/>
        </p:nvSpPr>
        <p:spPr>
          <a:xfrm>
            <a:off x="2690622" y="146304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269062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269062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Get the amount</a:t>
            </a:r>
            <a:endParaRPr lang="en-US" sz="1200" dirty="0"/>
          </a:p>
        </p:txBody>
      </p:sp>
      <p:sp>
        <p:nvSpPr>
          <p:cNvPr id="15" name="Text 12"/>
          <p:cNvSpPr txBox="1"/>
          <p:nvPr/>
        </p:nvSpPr>
        <p:spPr>
          <a:xfrm>
            <a:off x="269062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amount? Pause and ask the cleaner first.</a:t>
            </a:r>
            <a:endParaRPr lang="en-US" sz="950" dirty="0"/>
          </a:p>
        </p:txBody>
      </p:sp>
      <p:sp>
        <p:nvSpPr>
          <p:cNvPr id="16" name="Shape 13"/>
          <p:cNvSpPr/>
          <p:nvPr/>
        </p:nvSpPr>
        <p:spPr>
          <a:xfrm>
            <a:off x="4640580" y="1280160"/>
            <a:ext cx="1977390" cy="1828800"/>
          </a:xfrm>
          <a:prstGeom prst="roundRect">
            <a:avLst>
              <a:gd name="adj" fmla="val 4000"/>
            </a:avLst>
          </a:prstGeom>
          <a:solidFill>
            <a:srgbClr val="FFFFFF"/>
          </a:solidFill>
          <a:ln w="9525">
            <a:solidFill>
              <a:srgbClr val="DCE1E7"/>
            </a:solidFill>
            <a:prstDash val="solid"/>
          </a:ln>
        </p:spPr>
      </p:sp>
      <p:sp>
        <p:nvSpPr>
          <p:cNvPr id="17" name="Shape 14"/>
          <p:cNvSpPr/>
          <p:nvPr/>
        </p:nvSpPr>
        <p:spPr>
          <a:xfrm>
            <a:off x="4805172" y="146304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48051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480517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Act on the status</a:t>
            </a:r>
            <a:endParaRPr lang="en-US" sz="1200" dirty="0"/>
          </a:p>
        </p:txBody>
      </p:sp>
      <p:sp>
        <p:nvSpPr>
          <p:cNvPr id="20" name="Text 17"/>
          <p:cNvSpPr txBox="1"/>
          <p:nvPr/>
        </p:nvSpPr>
        <p:spPr>
          <a:xfrm>
            <a:off x="480517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Cancel, refund, or nothing if already cancelled.</a:t>
            </a:r>
            <a:endParaRPr lang="en-US" sz="950" dirty="0"/>
          </a:p>
        </p:txBody>
      </p:sp>
      <p:sp>
        <p:nvSpPr>
          <p:cNvPr id="21" name="Shape 18"/>
          <p:cNvSpPr/>
          <p:nvPr/>
        </p:nvSpPr>
        <p:spPr>
          <a:xfrm>
            <a:off x="6755130" y="1280160"/>
            <a:ext cx="1977390" cy="1828800"/>
          </a:xfrm>
          <a:prstGeom prst="roundRect">
            <a:avLst>
              <a:gd name="adj" fmla="val 4000"/>
            </a:avLst>
          </a:prstGeom>
          <a:solidFill>
            <a:srgbClr val="FFFFFF"/>
          </a:solidFill>
          <a:ln w="9525">
            <a:solidFill>
              <a:srgbClr val="DCE1E7"/>
            </a:solidFill>
            <a:prstDash val="solid"/>
          </a:ln>
        </p:spPr>
      </p:sp>
      <p:sp>
        <p:nvSpPr>
          <p:cNvPr id="22" name="Shape 19"/>
          <p:cNvSpPr/>
          <p:nvPr/>
        </p:nvSpPr>
        <p:spPr>
          <a:xfrm>
            <a:off x="6919722" y="1463040"/>
            <a:ext cx="274320" cy="274320"/>
          </a:xfrm>
          <a:prstGeom prst="ellipse">
            <a:avLst/>
          </a:prstGeom>
          <a:solidFill>
            <a:srgbClr val="E3F4F1"/>
          </a:solidFill>
          <a:ln w="12700">
            <a:solidFill>
              <a:srgbClr val="E3F4F1"/>
            </a:solidFill>
            <a:prstDash val="solid"/>
          </a:ln>
        </p:spPr>
      </p:sp>
      <p:sp>
        <p:nvSpPr>
          <p:cNvPr id="23" name="Text 20"/>
          <p:cNvSpPr txBox="1"/>
          <p:nvPr/>
        </p:nvSpPr>
        <p:spPr>
          <a:xfrm>
            <a:off x="691972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4" name="Text 21"/>
          <p:cNvSpPr txBox="1"/>
          <p:nvPr/>
        </p:nvSpPr>
        <p:spPr>
          <a:xfrm>
            <a:off x="6919722" y="1883664"/>
            <a:ext cx="164820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Soft ladder</a:t>
            </a:r>
            <a:endParaRPr lang="en-US" sz="1200" dirty="0"/>
          </a:p>
        </p:txBody>
      </p:sp>
      <p:sp>
        <p:nvSpPr>
          <p:cNvPr id="25" name="Text 22"/>
          <p:cNvSpPr txBox="1"/>
          <p:nvPr/>
        </p:nvSpPr>
        <p:spPr>
          <a:xfrm>
            <a:off x="6919722" y="2176272"/>
            <a:ext cx="1648206" cy="8412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It's an admission: coach first.</a:t>
            </a:r>
            <a:endParaRPr lang="en-US" sz="950" dirty="0"/>
          </a:p>
        </p:txBody>
      </p:sp>
      <p:sp>
        <p:nvSpPr>
          <p:cNvPr id="26" name="Shape 23"/>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7" name="Image 0" descr="preencoded.png">    </p:cNvPr>
          <p:cNvPicPr>
            <a:picLocks noChangeAspect="1"/>
          </p:cNvPicPr>
          <p:nvPr/>
        </p:nvPicPr>
        <p:blipFill>
          <a:blip r:embed="rId1"/>
          <a:stretch>
            <a:fillRect/>
          </a:stretch>
        </p:blipFill>
        <p:spPr>
          <a:xfrm>
            <a:off x="566928" y="3401568"/>
            <a:ext cx="164592" cy="164592"/>
          </a:xfrm>
          <a:prstGeom prst="rect">
            <a:avLst/>
          </a:prstGeom>
        </p:spPr>
      </p:pic>
      <p:sp>
        <p:nvSpPr>
          <p:cNvPr id="28" name="Text 24"/>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Partial payment, still Pending Invoice?  </a:t>
            </a:r>
            <a:pPr indent="0" marL="0">
              <a:buNone/>
            </a:pPr>
            <a:r>
              <a:rPr lang="en-US" sz="1000" dirty="0">
                <a:solidFill>
                  <a:srgbClr val="1D1D1F"/>
                </a:solidFill>
                <a:latin typeface="SF Pro Text" pitchFamily="34" charset="0"/>
                <a:ea typeface="SF Pro Text" pitchFamily="34" charset="-122"/>
                <a:cs typeface="SF Pro Text" pitchFamily="34" charset="-120"/>
              </a:rPr>
              <a:t>invoice the remaining balance, based on CP Pay.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Branch B: report on file</a:t>
            </a:r>
            <a:endParaRPr lang="en-US" sz="2400" dirty="0"/>
          </a:p>
        </p:txBody>
      </p:sp>
      <p:sp>
        <p:nvSpPr>
          <p:cNvPr id="5" name="Shape 2"/>
          <p:cNvSpPr/>
          <p:nvPr/>
        </p:nvSpPr>
        <p:spPr>
          <a:xfrm>
            <a:off x="6949440" y="502920"/>
            <a:ext cx="1783080" cy="365760"/>
          </a:xfrm>
          <a:prstGeom prst="roundRect">
            <a:avLst>
              <a:gd name="adj" fmla="val 20000"/>
            </a:avLst>
          </a:prstGeom>
          <a:solidFill>
            <a:srgbClr val="0B7A6F"/>
          </a:solidFill>
          <a:ln w="12700">
            <a:solidFill>
              <a:srgbClr val="0B7A6F"/>
            </a:solidFill>
            <a:prstDash val="solid"/>
          </a:ln>
        </p:spPr>
      </p:sp>
      <p:pic>
        <p:nvPicPr>
          <p:cNvPr id="6" name="Image 0" descr="preencoded.png">    </p:cNvPr>
          <p:cNvPicPr>
            <a:picLocks noChangeAspect="1"/>
          </p:cNvPicPr>
          <p:nvPr/>
        </p:nvPicPr>
        <p:blipFill>
          <a:blip r:embed="rId1"/>
          <a:stretch>
            <a:fillRect/>
          </a:stretch>
        </p:blipFill>
        <p:spPr>
          <a:xfrm>
            <a:off x="7086600" y="594360"/>
            <a:ext cx="182880" cy="182880"/>
          </a:xfrm>
          <a:prstGeom prst="rect">
            <a:avLst/>
          </a:prstGeom>
        </p:spPr>
      </p:pic>
      <p:sp>
        <p:nvSpPr>
          <p:cNvPr id="7" name="Text 3"/>
          <p:cNvSpPr txBox="1"/>
          <p:nvPr/>
        </p:nvSpPr>
        <p:spPr>
          <a:xfrm>
            <a:off x="7333488" y="502920"/>
            <a:ext cx="1325880" cy="365760"/>
          </a:xfrm>
          <a:prstGeom prst="rect">
            <a:avLst/>
          </a:prstGeom>
          <a:noFill/>
          <a:ln/>
        </p:spPr>
        <p:txBody>
          <a:bodyPr wrap="square" lIns="0" tIns="0" rIns="0" bIns="0" rtlCol="0" anchor="ctr"/>
          <a:lstStyle/>
          <a:p>
            <a:pPr indent="0" marL="0">
              <a:buNone/>
            </a:pPr>
            <a:r>
              <a:rPr lang="en-US" sz="1100" b="1" dirty="0">
                <a:solidFill>
                  <a:srgbClr val="FFFFFF"/>
                </a:solidFill>
                <a:latin typeface="SF Pro Display" pitchFamily="34" charset="0"/>
                <a:ea typeface="SF Pro Display" pitchFamily="34" charset="-122"/>
                <a:cs typeface="SF Pro Display" pitchFamily="34" charset="-120"/>
              </a:rPr>
              <a:t>Show details</a:t>
            </a:r>
            <a:endParaRPr lang="en-US" sz="1100" dirty="0"/>
          </a:p>
        </p:txBody>
      </p:sp>
      <p:sp>
        <p:nvSpPr>
          <p:cNvPr id="8" name="Shape 4"/>
          <p:cNvSpPr/>
          <p:nvPr/>
        </p:nvSpPr>
        <p:spPr>
          <a:xfrm>
            <a:off x="457200" y="1097280"/>
            <a:ext cx="3246120" cy="384048"/>
          </a:xfrm>
          <a:prstGeom prst="roundRect">
            <a:avLst>
              <a:gd name="adj" fmla="val 19048"/>
            </a:avLst>
          </a:prstGeom>
          <a:solidFill>
            <a:srgbClr val="1D1D1F"/>
          </a:solidFill>
          <a:ln w="12700">
            <a:solidFill>
              <a:srgbClr val="1D1D1F"/>
            </a:solidFill>
            <a:prstDash val="solid"/>
          </a:ln>
        </p:spPr>
      </p:sp>
      <p:sp>
        <p:nvSpPr>
          <p:cNvPr id="9" name="Text 5"/>
          <p:cNvSpPr txBox="1"/>
          <p:nvPr/>
        </p:nvSpPr>
        <p:spPr>
          <a:xfrm>
            <a:off x="457200" y="1097280"/>
            <a:ext cx="3246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Customer says they paid the CP cash</a:t>
            </a:r>
            <a:endParaRPr lang="en-US" sz="1000" dirty="0"/>
          </a:p>
        </p:txBody>
      </p:sp>
      <p:sp>
        <p:nvSpPr>
          <p:cNvPr id="10" name="Shape 6"/>
          <p:cNvSpPr/>
          <p:nvPr/>
        </p:nvSpPr>
        <p:spPr>
          <a:xfrm>
            <a:off x="2080260" y="1481328"/>
            <a:ext cx="0" cy="91440"/>
          </a:xfrm>
          <a:prstGeom prst="line">
            <a:avLst/>
          </a:prstGeom>
          <a:noFill/>
          <a:ln w="12700">
            <a:solidFill>
              <a:srgbClr val="6E6E73"/>
            </a:solidFill>
            <a:prstDash val="solid"/>
            <a:tailEnd type="triangle"/>
          </a:ln>
        </p:spPr>
      </p:sp>
      <p:sp>
        <p:nvSpPr>
          <p:cNvPr id="11" name="Shape 7"/>
          <p:cNvSpPr/>
          <p:nvPr/>
        </p:nvSpPr>
        <p:spPr>
          <a:xfrm>
            <a:off x="3703320" y="1289304"/>
            <a:ext cx="182880" cy="0"/>
          </a:xfrm>
          <a:prstGeom prst="line">
            <a:avLst/>
          </a:prstGeom>
          <a:noFill/>
          <a:ln w="12700">
            <a:solidFill>
              <a:srgbClr val="6E6E73"/>
            </a:solidFill>
            <a:prstDash val="solid"/>
          </a:ln>
        </p:spPr>
      </p:sp>
      <p:sp>
        <p:nvSpPr>
          <p:cNvPr id="12" name="type1Desc"/>
          <p:cNvSpPr txBox="1"/>
          <p:nvPr/>
        </p:nvSpPr>
        <p:spPr>
          <a:xfrm>
            <a:off x="3977640" y="1060704"/>
            <a:ext cx="4983480" cy="457200"/>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C-side agent: the customer contacted us first. The CP-side ticket may not be worked yet, or the CP never reported it.</a:t>
            </a:r>
            <a:endParaRPr lang="en-US" sz="850" dirty="0"/>
          </a:p>
        </p:txBody>
      </p:sp>
      <p:sp>
        <p:nvSpPr>
          <p:cNvPr id="13" name="Shape 9"/>
          <p:cNvSpPr/>
          <p:nvPr/>
        </p:nvSpPr>
        <p:spPr>
          <a:xfrm>
            <a:off x="457200" y="1572768"/>
            <a:ext cx="3246120" cy="384048"/>
          </a:xfrm>
          <a:prstGeom prst="roundRect">
            <a:avLst>
              <a:gd name="adj" fmla="val 19048"/>
            </a:avLst>
          </a:prstGeom>
          <a:solidFill>
            <a:srgbClr val="FFF3D6"/>
          </a:solidFill>
          <a:ln w="12700">
            <a:solidFill>
              <a:srgbClr val="9A6410"/>
            </a:solidFill>
            <a:prstDash val="solid"/>
          </a:ln>
        </p:spPr>
      </p:sp>
      <p:sp>
        <p:nvSpPr>
          <p:cNvPr id="14" name="Text 10"/>
          <p:cNvSpPr txBox="1"/>
          <p:nvPr/>
        </p:nvSpPr>
        <p:spPr>
          <a:xfrm>
            <a:off x="457200" y="1572768"/>
            <a:ext cx="3246120" cy="384048"/>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Check CP CRM: report found</a:t>
            </a:r>
            <a:endParaRPr lang="en-US" sz="1000" dirty="0"/>
          </a:p>
        </p:txBody>
      </p:sp>
      <p:sp>
        <p:nvSpPr>
          <p:cNvPr id="15" name="Shape 11"/>
          <p:cNvSpPr/>
          <p:nvPr/>
        </p:nvSpPr>
        <p:spPr>
          <a:xfrm>
            <a:off x="2080260" y="1956816"/>
            <a:ext cx="0" cy="91440"/>
          </a:xfrm>
          <a:prstGeom prst="line">
            <a:avLst/>
          </a:prstGeom>
          <a:noFill/>
          <a:ln w="12700">
            <a:solidFill>
              <a:srgbClr val="6E6E73"/>
            </a:solidFill>
            <a:prstDash val="solid"/>
            <a:tailEnd type="triangle"/>
          </a:ln>
        </p:spPr>
      </p:sp>
      <p:sp>
        <p:nvSpPr>
          <p:cNvPr id="16" name="Shape 12"/>
          <p:cNvSpPr/>
          <p:nvPr/>
        </p:nvSpPr>
        <p:spPr>
          <a:xfrm>
            <a:off x="3703320" y="1764792"/>
            <a:ext cx="182880" cy="0"/>
          </a:xfrm>
          <a:prstGeom prst="line">
            <a:avLst/>
          </a:prstGeom>
          <a:noFill/>
          <a:ln w="12700">
            <a:solidFill>
              <a:srgbClr val="6E6E73"/>
            </a:solidFill>
            <a:prstDash val="solid"/>
          </a:ln>
        </p:spPr>
      </p:sp>
      <p:sp>
        <p:nvSpPr>
          <p:cNvPr id="17" name="type2Desc"/>
          <p:cNvSpPr txBox="1"/>
          <p:nvPr/>
        </p:nvSpPr>
        <p:spPr>
          <a:xfrm>
            <a:off x="3977640" y="1536192"/>
            <a:ext cx="4983480" cy="457200"/>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A cash-payment report is on file but not yet actioned. Resolve it yourself: no need to wait for the CP-side queue.</a:t>
            </a:r>
            <a:endParaRPr lang="en-US" sz="850" dirty="0"/>
          </a:p>
        </p:txBody>
      </p:sp>
      <p:sp>
        <p:nvSpPr>
          <p:cNvPr id="18" name="Shape 14"/>
          <p:cNvSpPr/>
          <p:nvPr/>
        </p:nvSpPr>
        <p:spPr>
          <a:xfrm>
            <a:off x="457200" y="2048256"/>
            <a:ext cx="3246120" cy="384048"/>
          </a:xfrm>
          <a:prstGeom prst="roundRect">
            <a:avLst>
              <a:gd name="adj" fmla="val 19048"/>
            </a:avLst>
          </a:prstGeom>
          <a:solidFill>
            <a:srgbClr val="0B7A6F"/>
          </a:solidFill>
          <a:ln w="12700">
            <a:solidFill>
              <a:srgbClr val="0B7A6F"/>
            </a:solidFill>
            <a:prstDash val="solid"/>
          </a:ln>
        </p:spPr>
      </p:sp>
      <p:sp>
        <p:nvSpPr>
          <p:cNvPr id="19" name="Text 15"/>
          <p:cNvSpPr txBox="1"/>
          <p:nvPr/>
        </p:nvSpPr>
        <p:spPr>
          <a:xfrm>
            <a:off x="457200" y="2048256"/>
            <a:ext cx="32461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Get the cash amount</a:t>
            </a:r>
            <a:endParaRPr lang="en-US" sz="1000" dirty="0"/>
          </a:p>
        </p:txBody>
      </p:sp>
      <p:sp>
        <p:nvSpPr>
          <p:cNvPr id="20" name="Shape 16"/>
          <p:cNvSpPr/>
          <p:nvPr/>
        </p:nvSpPr>
        <p:spPr>
          <a:xfrm>
            <a:off x="2080260" y="2432304"/>
            <a:ext cx="0" cy="91440"/>
          </a:xfrm>
          <a:prstGeom prst="line">
            <a:avLst/>
          </a:prstGeom>
          <a:noFill/>
          <a:ln w="12700">
            <a:solidFill>
              <a:srgbClr val="6E6E73"/>
            </a:solidFill>
            <a:prstDash val="solid"/>
            <a:tailEnd type="triangle"/>
          </a:ln>
        </p:spPr>
      </p:sp>
      <p:sp>
        <p:nvSpPr>
          <p:cNvPr id="21" name="Shape 17"/>
          <p:cNvSpPr/>
          <p:nvPr/>
        </p:nvSpPr>
        <p:spPr>
          <a:xfrm>
            <a:off x="3703320" y="2240280"/>
            <a:ext cx="182880" cy="0"/>
          </a:xfrm>
          <a:prstGeom prst="line">
            <a:avLst/>
          </a:prstGeom>
          <a:noFill/>
          <a:ln w="12700">
            <a:solidFill>
              <a:srgbClr val="6E6E73"/>
            </a:solidFill>
            <a:prstDash val="solid"/>
          </a:ln>
        </p:spPr>
      </p:sp>
      <p:sp>
        <p:nvSpPr>
          <p:cNvPr id="22" name="type3Desc"/>
          <p:cNvSpPr txBox="1"/>
          <p:nvPr/>
        </p:nvSpPr>
        <p:spPr>
          <a:xfrm>
            <a:off x="3977640" y="2011680"/>
            <a:ext cx="4983480" cy="457200"/>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Did the CP say how much they received? If not, contact the CP for a number (or a clear "paid in full") before doing anything else.</a:t>
            </a:r>
            <a:endParaRPr lang="en-US" sz="850" dirty="0"/>
          </a:p>
        </p:txBody>
      </p:sp>
      <p:sp>
        <p:nvSpPr>
          <p:cNvPr id="23" name="Shape 19"/>
          <p:cNvSpPr/>
          <p:nvPr/>
        </p:nvSpPr>
        <p:spPr>
          <a:xfrm>
            <a:off x="457200" y="2523744"/>
            <a:ext cx="3246120" cy="384048"/>
          </a:xfrm>
          <a:prstGeom prst="roundRect">
            <a:avLst>
              <a:gd name="adj" fmla="val 19048"/>
            </a:avLst>
          </a:prstGeom>
          <a:solidFill>
            <a:srgbClr val="FFF3D6"/>
          </a:solidFill>
          <a:ln w="12700">
            <a:solidFill>
              <a:srgbClr val="9A6410"/>
            </a:solidFill>
            <a:prstDash val="solid"/>
          </a:ln>
        </p:spPr>
      </p:sp>
      <p:sp>
        <p:nvSpPr>
          <p:cNvPr id="24" name="Text 20"/>
          <p:cNvSpPr txBox="1"/>
          <p:nvPr/>
        </p:nvSpPr>
        <p:spPr>
          <a:xfrm>
            <a:off x="457200" y="2523744"/>
            <a:ext cx="3246120" cy="384048"/>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Still Pending Invoice?</a:t>
            </a:r>
            <a:endParaRPr lang="en-US" sz="1000" dirty="0"/>
          </a:p>
        </p:txBody>
      </p:sp>
      <p:sp>
        <p:nvSpPr>
          <p:cNvPr id="25" name="Shape 21"/>
          <p:cNvSpPr/>
          <p:nvPr/>
        </p:nvSpPr>
        <p:spPr>
          <a:xfrm>
            <a:off x="2080260" y="2907792"/>
            <a:ext cx="0" cy="91440"/>
          </a:xfrm>
          <a:prstGeom prst="line">
            <a:avLst/>
          </a:prstGeom>
          <a:noFill/>
          <a:ln w="12700">
            <a:solidFill>
              <a:srgbClr val="6E6E73"/>
            </a:solidFill>
            <a:prstDash val="solid"/>
            <a:tailEnd type="triangle"/>
          </a:ln>
        </p:spPr>
      </p:sp>
      <p:sp>
        <p:nvSpPr>
          <p:cNvPr id="26" name="Shape 22"/>
          <p:cNvSpPr/>
          <p:nvPr/>
        </p:nvSpPr>
        <p:spPr>
          <a:xfrm>
            <a:off x="3703320" y="2715768"/>
            <a:ext cx="182880" cy="0"/>
          </a:xfrm>
          <a:prstGeom prst="line">
            <a:avLst/>
          </a:prstGeom>
          <a:noFill/>
          <a:ln w="12700">
            <a:solidFill>
              <a:srgbClr val="6E6E73"/>
            </a:solidFill>
            <a:prstDash val="solid"/>
          </a:ln>
        </p:spPr>
      </p:sp>
      <p:sp>
        <p:nvSpPr>
          <p:cNvPr id="27" name="type4Desc"/>
          <p:cNvSpPr txBox="1"/>
          <p:nvPr/>
        </p:nvSpPr>
        <p:spPr>
          <a:xfrm>
            <a:off x="3977640" y="2487168"/>
            <a:ext cx="4983480" cy="457200"/>
          </a:xfrm>
          <a:prstGeom prst="rect">
            <a:avLst/>
          </a:prstGeom>
          <a:noFill/>
          <a:ln/>
        </p:spPr>
        <p:txBody>
          <a:bodyPr wrap="square" lIns="0" tIns="0" rIns="0" bIns="0" rtlCol="0" anchor="ctr"/>
          <a:lstStyle/>
          <a:p>
            <a:pPr indent="0" marL="0">
              <a:buNone/>
            </a:pPr>
            <a:r>
              <a:rPr lang="en-US" sz="750" dirty="0">
                <a:solidFill>
                  <a:srgbClr val="6E6E73"/>
                </a:solidFill>
                <a:latin typeface="SF Pro Text" pitchFamily="34" charset="0"/>
                <a:ea typeface="SF Pro Text" pitchFamily="34" charset="-122"/>
                <a:cs typeface="SF Pro Text" pitchFamily="34" charset="-120"/>
              </a:rPr>
              <a:t>Fully paid in cash? Cancel via C CRM: Reason code "does not want the service".</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Partial payment? Invoice the remaining balance instead.</a:t>
            </a:r>
            <a:endParaRPr lang="en-US" sz="750" dirty="0"/>
          </a:p>
        </p:txBody>
      </p:sp>
      <p:sp>
        <p:nvSpPr>
          <p:cNvPr id="28" name="Shape 24"/>
          <p:cNvSpPr/>
          <p:nvPr/>
        </p:nvSpPr>
        <p:spPr>
          <a:xfrm>
            <a:off x="457200" y="2999232"/>
            <a:ext cx="3246120" cy="384048"/>
          </a:xfrm>
          <a:prstGeom prst="roundRect">
            <a:avLst>
              <a:gd name="adj" fmla="val 19048"/>
            </a:avLst>
          </a:prstGeom>
          <a:solidFill>
            <a:srgbClr val="FFF3D6"/>
          </a:solidFill>
          <a:ln w="12700">
            <a:solidFill>
              <a:srgbClr val="9A6410"/>
            </a:solidFill>
            <a:prstDash val="solid"/>
          </a:ln>
        </p:spPr>
      </p:sp>
      <p:sp>
        <p:nvSpPr>
          <p:cNvPr id="29" name="Text 25"/>
          <p:cNvSpPr txBox="1"/>
          <p:nvPr/>
        </p:nvSpPr>
        <p:spPr>
          <a:xfrm>
            <a:off x="457200" y="2999232"/>
            <a:ext cx="3246120" cy="384048"/>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Already Invoiced?</a:t>
            </a:r>
            <a:endParaRPr lang="en-US" sz="1000" dirty="0"/>
          </a:p>
        </p:txBody>
      </p:sp>
      <p:sp>
        <p:nvSpPr>
          <p:cNvPr id="30" name="Shape 26"/>
          <p:cNvSpPr/>
          <p:nvPr/>
        </p:nvSpPr>
        <p:spPr>
          <a:xfrm>
            <a:off x="2080260" y="3383280"/>
            <a:ext cx="0" cy="91440"/>
          </a:xfrm>
          <a:prstGeom prst="line">
            <a:avLst/>
          </a:prstGeom>
          <a:noFill/>
          <a:ln w="12700">
            <a:solidFill>
              <a:srgbClr val="6E6E73"/>
            </a:solidFill>
            <a:prstDash val="solid"/>
            <a:tailEnd type="triangle"/>
          </a:ln>
        </p:spPr>
      </p:sp>
      <p:sp>
        <p:nvSpPr>
          <p:cNvPr id="31" name="Shape 27"/>
          <p:cNvSpPr/>
          <p:nvPr/>
        </p:nvSpPr>
        <p:spPr>
          <a:xfrm>
            <a:off x="3703320" y="3191256"/>
            <a:ext cx="182880" cy="0"/>
          </a:xfrm>
          <a:prstGeom prst="line">
            <a:avLst/>
          </a:prstGeom>
          <a:noFill/>
          <a:ln w="12700">
            <a:solidFill>
              <a:srgbClr val="6E6E73"/>
            </a:solidFill>
            <a:prstDash val="solid"/>
          </a:ln>
        </p:spPr>
      </p:sp>
      <p:sp>
        <p:nvSpPr>
          <p:cNvPr id="32" name="type5Desc"/>
          <p:cNvSpPr txBox="1"/>
          <p:nvPr/>
        </p:nvSpPr>
        <p:spPr>
          <a:xfrm>
            <a:off x="3977640" y="2962656"/>
            <a:ext cx="4983480" cy="457200"/>
          </a:xfrm>
          <a:prstGeom prst="rect">
            <a:avLst/>
          </a:prstGeom>
          <a:noFill/>
          <a:ln/>
        </p:spPr>
        <p:txBody>
          <a:bodyPr wrap="square" lIns="0" tIns="0" rIns="0" bIns="0" rtlCol="0" anchor="ctr"/>
          <a:lstStyle/>
          <a:p>
            <a:pPr indent="0" marL="0">
              <a:buNone/>
            </a:pPr>
            <a:r>
              <a:rPr lang="en-US" sz="750" dirty="0">
                <a:solidFill>
                  <a:srgbClr val="6E6E73"/>
                </a:solidFill>
                <a:latin typeface="SF Pro Text" pitchFamily="34" charset="0"/>
                <a:ea typeface="SF Pro Text" pitchFamily="34" charset="-122"/>
                <a:cs typeface="SF Pro Text" pitchFamily="34" charset="-120"/>
              </a:rPr>
              <a:t>Fully paid in cash? Refund via the CP Dashboard.</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Partial payment? Admin refund the cash-paid portion (based on CP Pay, not C Price) + a CP Holdback for the same amount.</a:t>
            </a:r>
            <a:endParaRPr lang="en-US" sz="750" dirty="0"/>
          </a:p>
        </p:txBody>
      </p:sp>
      <p:sp>
        <p:nvSpPr>
          <p:cNvPr id="33" name="Shape 29"/>
          <p:cNvSpPr/>
          <p:nvPr/>
        </p:nvSpPr>
        <p:spPr>
          <a:xfrm>
            <a:off x="457200" y="3474720"/>
            <a:ext cx="3246120" cy="384048"/>
          </a:xfrm>
          <a:prstGeom prst="roundRect">
            <a:avLst>
              <a:gd name="adj" fmla="val 19048"/>
            </a:avLst>
          </a:prstGeom>
          <a:solidFill>
            <a:srgbClr val="FFFFFF"/>
          </a:solidFill>
          <a:ln w="12700">
            <a:solidFill>
              <a:srgbClr val="DCE1E7"/>
            </a:solidFill>
            <a:prstDash val="solid"/>
          </a:ln>
        </p:spPr>
      </p:sp>
      <p:sp>
        <p:nvSpPr>
          <p:cNvPr id="34" name="Text 30"/>
          <p:cNvSpPr txBox="1"/>
          <p:nvPr/>
        </p:nvSpPr>
        <p:spPr>
          <a:xfrm>
            <a:off x="457200" y="3474720"/>
            <a:ext cx="3246120" cy="384048"/>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Apply the soft ladder</a:t>
            </a:r>
            <a:endParaRPr lang="en-US" sz="1000" dirty="0"/>
          </a:p>
        </p:txBody>
      </p:sp>
      <p:sp>
        <p:nvSpPr>
          <p:cNvPr id="35" name="Shape 31"/>
          <p:cNvSpPr/>
          <p:nvPr/>
        </p:nvSpPr>
        <p:spPr>
          <a:xfrm>
            <a:off x="3703320" y="3666744"/>
            <a:ext cx="182880" cy="0"/>
          </a:xfrm>
          <a:prstGeom prst="line">
            <a:avLst/>
          </a:prstGeom>
          <a:noFill/>
          <a:ln w="12700">
            <a:solidFill>
              <a:srgbClr val="6E6E73"/>
            </a:solidFill>
            <a:prstDash val="solid"/>
          </a:ln>
        </p:spPr>
      </p:sp>
      <p:sp>
        <p:nvSpPr>
          <p:cNvPr id="36" name="type6Desc"/>
          <p:cNvSpPr txBox="1"/>
          <p:nvPr/>
        </p:nvSpPr>
        <p:spPr>
          <a:xfrm>
            <a:off x="3977640" y="3438144"/>
            <a:ext cx="4983480" cy="457200"/>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It's a CP admission, just one a C-side agent is closing out. Use the soft ladder on the penalty ladder slide.</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40"/>
                                  </p:iterate>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40"/>
                                  </p:iterate>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40"/>
                                  </p:iterate>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40"/>
                                  </p:iterate>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40"/>
                                  </p:iterate>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40"/>
                                  </p:iterate>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2" grpId="0" animBg="1"/>
      <p:bldP spid="27" grpId="0" animBg="1"/>
      <p:bldP spid="32" grpId="0" animBg="1"/>
      <p:bldP spid="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Branch B: nothing on file</a:t>
            </a:r>
            <a:endParaRPr lang="en-US" sz="2400" dirty="0"/>
          </a:p>
        </p:txBody>
      </p:sp>
      <p:sp>
        <p:nvSpPr>
          <p:cNvPr id="5" name="Shape 2"/>
          <p:cNvSpPr/>
          <p:nvPr/>
        </p:nvSpPr>
        <p:spPr>
          <a:xfrm>
            <a:off x="6949440" y="502920"/>
            <a:ext cx="1783080" cy="365760"/>
          </a:xfrm>
          <a:prstGeom prst="roundRect">
            <a:avLst>
              <a:gd name="adj" fmla="val 20000"/>
            </a:avLst>
          </a:prstGeom>
          <a:solidFill>
            <a:srgbClr val="0B7A6F"/>
          </a:solidFill>
          <a:ln w="12700">
            <a:solidFill>
              <a:srgbClr val="0B7A6F"/>
            </a:solidFill>
            <a:prstDash val="solid"/>
          </a:ln>
        </p:spPr>
      </p:sp>
      <p:pic>
        <p:nvPicPr>
          <p:cNvPr id="6" name="Image 0" descr="preencoded.png">    </p:cNvPr>
          <p:cNvPicPr>
            <a:picLocks noChangeAspect="1"/>
          </p:cNvPicPr>
          <p:nvPr/>
        </p:nvPicPr>
        <p:blipFill>
          <a:blip r:embed="rId1"/>
          <a:stretch>
            <a:fillRect/>
          </a:stretch>
        </p:blipFill>
        <p:spPr>
          <a:xfrm>
            <a:off x="7086600" y="594360"/>
            <a:ext cx="182880" cy="182880"/>
          </a:xfrm>
          <a:prstGeom prst="rect">
            <a:avLst/>
          </a:prstGeom>
        </p:spPr>
      </p:pic>
      <p:sp>
        <p:nvSpPr>
          <p:cNvPr id="7" name="Text 3"/>
          <p:cNvSpPr txBox="1"/>
          <p:nvPr/>
        </p:nvSpPr>
        <p:spPr>
          <a:xfrm>
            <a:off x="7333488" y="502920"/>
            <a:ext cx="1325880" cy="365760"/>
          </a:xfrm>
          <a:prstGeom prst="rect">
            <a:avLst/>
          </a:prstGeom>
          <a:noFill/>
          <a:ln/>
        </p:spPr>
        <p:txBody>
          <a:bodyPr wrap="square" lIns="0" tIns="0" rIns="0" bIns="0" rtlCol="0" anchor="ctr"/>
          <a:lstStyle/>
          <a:p>
            <a:pPr indent="0" marL="0">
              <a:buNone/>
            </a:pPr>
            <a:r>
              <a:rPr lang="en-US" sz="1100" b="1" dirty="0">
                <a:solidFill>
                  <a:srgbClr val="FFFFFF"/>
                </a:solidFill>
                <a:latin typeface="SF Pro Display" pitchFamily="34" charset="0"/>
                <a:ea typeface="SF Pro Display" pitchFamily="34" charset="-122"/>
                <a:cs typeface="SF Pro Display" pitchFamily="34" charset="-120"/>
              </a:rPr>
              <a:t>Show details</a:t>
            </a:r>
            <a:endParaRPr lang="en-US" sz="1100" dirty="0"/>
          </a:p>
        </p:txBody>
      </p:sp>
      <p:sp>
        <p:nvSpPr>
          <p:cNvPr id="8" name="Shape 4"/>
          <p:cNvSpPr/>
          <p:nvPr/>
        </p:nvSpPr>
        <p:spPr>
          <a:xfrm>
            <a:off x="457200" y="1097280"/>
            <a:ext cx="3246120" cy="310896"/>
          </a:xfrm>
          <a:prstGeom prst="roundRect">
            <a:avLst>
              <a:gd name="adj" fmla="val 23529"/>
            </a:avLst>
          </a:prstGeom>
          <a:solidFill>
            <a:srgbClr val="1D1D1F"/>
          </a:solidFill>
          <a:ln w="12700">
            <a:solidFill>
              <a:srgbClr val="1D1D1F"/>
            </a:solidFill>
            <a:prstDash val="solid"/>
          </a:ln>
        </p:spPr>
      </p:sp>
      <p:sp>
        <p:nvSpPr>
          <p:cNvPr id="9" name="Text 5"/>
          <p:cNvSpPr txBox="1"/>
          <p:nvPr/>
        </p:nvSpPr>
        <p:spPr>
          <a:xfrm>
            <a:off x="457200" y="1097280"/>
            <a:ext cx="3246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Customer says they paid the CP cash</a:t>
            </a:r>
            <a:endParaRPr lang="en-US" sz="1000" dirty="0"/>
          </a:p>
        </p:txBody>
      </p:sp>
      <p:sp>
        <p:nvSpPr>
          <p:cNvPr id="10" name="Shape 6"/>
          <p:cNvSpPr/>
          <p:nvPr/>
        </p:nvSpPr>
        <p:spPr>
          <a:xfrm>
            <a:off x="2080260" y="1408176"/>
            <a:ext cx="0" cy="91440"/>
          </a:xfrm>
          <a:prstGeom prst="line">
            <a:avLst/>
          </a:prstGeom>
          <a:noFill/>
          <a:ln w="12700">
            <a:solidFill>
              <a:srgbClr val="6E6E73"/>
            </a:solidFill>
            <a:prstDash val="solid"/>
            <a:tailEnd type="triangle"/>
          </a:ln>
        </p:spPr>
      </p:sp>
      <p:sp>
        <p:nvSpPr>
          <p:cNvPr id="11" name="Shape 7"/>
          <p:cNvSpPr/>
          <p:nvPr/>
        </p:nvSpPr>
        <p:spPr>
          <a:xfrm>
            <a:off x="3703320" y="1252728"/>
            <a:ext cx="182880" cy="0"/>
          </a:xfrm>
          <a:prstGeom prst="line">
            <a:avLst/>
          </a:prstGeom>
          <a:noFill/>
          <a:ln w="12700">
            <a:solidFill>
              <a:srgbClr val="6E6E73"/>
            </a:solidFill>
            <a:prstDash val="solid"/>
          </a:ln>
        </p:spPr>
      </p:sp>
      <p:sp>
        <p:nvSpPr>
          <p:cNvPr id="12" name="type1Desc"/>
          <p:cNvSpPr txBox="1"/>
          <p:nvPr/>
        </p:nvSpPr>
        <p:spPr>
          <a:xfrm>
            <a:off x="3977640" y="1060704"/>
            <a:ext cx="4983480" cy="384048"/>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C-side agent: the customer contacted us first. The CP-side ticket may not be worked yet, or the CP never reported it.</a:t>
            </a:r>
            <a:endParaRPr lang="en-US" sz="850" dirty="0"/>
          </a:p>
        </p:txBody>
      </p:sp>
      <p:sp>
        <p:nvSpPr>
          <p:cNvPr id="13" name="Shape 9"/>
          <p:cNvSpPr/>
          <p:nvPr/>
        </p:nvSpPr>
        <p:spPr>
          <a:xfrm>
            <a:off x="457200" y="1499616"/>
            <a:ext cx="3246120" cy="310896"/>
          </a:xfrm>
          <a:prstGeom prst="roundRect">
            <a:avLst>
              <a:gd name="adj" fmla="val 23529"/>
            </a:avLst>
          </a:prstGeom>
          <a:solidFill>
            <a:srgbClr val="FFF3D6"/>
          </a:solidFill>
          <a:ln w="12700">
            <a:solidFill>
              <a:srgbClr val="9A6410"/>
            </a:solidFill>
            <a:prstDash val="solid"/>
          </a:ln>
        </p:spPr>
      </p:sp>
      <p:sp>
        <p:nvSpPr>
          <p:cNvPr id="14" name="Text 10"/>
          <p:cNvSpPr txBox="1"/>
          <p:nvPr/>
        </p:nvSpPr>
        <p:spPr>
          <a:xfrm>
            <a:off x="457200" y="1499616"/>
            <a:ext cx="3246120" cy="310896"/>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Check CP CRM: nothing on file</a:t>
            </a:r>
            <a:endParaRPr lang="en-US" sz="1000" dirty="0"/>
          </a:p>
        </p:txBody>
      </p:sp>
      <p:sp>
        <p:nvSpPr>
          <p:cNvPr id="15" name="Shape 11"/>
          <p:cNvSpPr/>
          <p:nvPr/>
        </p:nvSpPr>
        <p:spPr>
          <a:xfrm>
            <a:off x="2080260" y="1810512"/>
            <a:ext cx="0" cy="91440"/>
          </a:xfrm>
          <a:prstGeom prst="line">
            <a:avLst/>
          </a:prstGeom>
          <a:noFill/>
          <a:ln w="12700">
            <a:solidFill>
              <a:srgbClr val="6E6E73"/>
            </a:solidFill>
            <a:prstDash val="solid"/>
            <a:tailEnd type="triangle"/>
          </a:ln>
        </p:spPr>
      </p:sp>
      <p:sp>
        <p:nvSpPr>
          <p:cNvPr id="16" name="Shape 12"/>
          <p:cNvSpPr/>
          <p:nvPr/>
        </p:nvSpPr>
        <p:spPr>
          <a:xfrm>
            <a:off x="3703320" y="1655064"/>
            <a:ext cx="182880" cy="0"/>
          </a:xfrm>
          <a:prstGeom prst="line">
            <a:avLst/>
          </a:prstGeom>
          <a:noFill/>
          <a:ln w="12700">
            <a:solidFill>
              <a:srgbClr val="6E6E73"/>
            </a:solidFill>
            <a:prstDash val="solid"/>
          </a:ln>
        </p:spPr>
      </p:sp>
      <p:sp>
        <p:nvSpPr>
          <p:cNvPr id="17" name="type2Desc"/>
          <p:cNvSpPr txBox="1"/>
          <p:nvPr/>
        </p:nvSpPr>
        <p:spPr>
          <a:xfrm>
            <a:off x="3977640" y="1463040"/>
            <a:ext cx="4983480" cy="384048"/>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No report from CP. Treat it like any other unconfirmed claim.</a:t>
            </a:r>
            <a:endParaRPr lang="en-US" sz="850" dirty="0"/>
          </a:p>
        </p:txBody>
      </p:sp>
      <p:sp>
        <p:nvSpPr>
          <p:cNvPr id="18" name="Shape 14"/>
          <p:cNvSpPr/>
          <p:nvPr/>
        </p:nvSpPr>
        <p:spPr>
          <a:xfrm>
            <a:off x="457200" y="1901952"/>
            <a:ext cx="3246120" cy="310896"/>
          </a:xfrm>
          <a:prstGeom prst="roundRect">
            <a:avLst>
              <a:gd name="adj" fmla="val 23529"/>
            </a:avLst>
          </a:prstGeom>
          <a:solidFill>
            <a:srgbClr val="0B7A6F"/>
          </a:solidFill>
          <a:ln w="12700">
            <a:solidFill>
              <a:srgbClr val="0B7A6F"/>
            </a:solidFill>
            <a:prstDash val="solid"/>
          </a:ln>
        </p:spPr>
      </p:sp>
      <p:sp>
        <p:nvSpPr>
          <p:cNvPr id="19" name="Text 15"/>
          <p:cNvSpPr txBox="1"/>
          <p:nvPr/>
        </p:nvSpPr>
        <p:spPr>
          <a:xfrm>
            <a:off x="457200" y="1901952"/>
            <a:ext cx="3246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Ask C for proof</a:t>
            </a:r>
            <a:endParaRPr lang="en-US" sz="1000" dirty="0"/>
          </a:p>
        </p:txBody>
      </p:sp>
      <p:sp>
        <p:nvSpPr>
          <p:cNvPr id="20" name="Shape 16"/>
          <p:cNvSpPr/>
          <p:nvPr/>
        </p:nvSpPr>
        <p:spPr>
          <a:xfrm>
            <a:off x="2080260" y="2212848"/>
            <a:ext cx="0" cy="91440"/>
          </a:xfrm>
          <a:prstGeom prst="line">
            <a:avLst/>
          </a:prstGeom>
          <a:noFill/>
          <a:ln w="12700">
            <a:solidFill>
              <a:srgbClr val="6E6E73"/>
            </a:solidFill>
            <a:prstDash val="solid"/>
            <a:tailEnd type="triangle"/>
          </a:ln>
        </p:spPr>
      </p:sp>
      <p:sp>
        <p:nvSpPr>
          <p:cNvPr id="21" name="Shape 17"/>
          <p:cNvSpPr/>
          <p:nvPr/>
        </p:nvSpPr>
        <p:spPr>
          <a:xfrm>
            <a:off x="3703320" y="2057400"/>
            <a:ext cx="182880" cy="0"/>
          </a:xfrm>
          <a:prstGeom prst="line">
            <a:avLst/>
          </a:prstGeom>
          <a:noFill/>
          <a:ln w="12700">
            <a:solidFill>
              <a:srgbClr val="6E6E73"/>
            </a:solidFill>
            <a:prstDash val="solid"/>
          </a:ln>
        </p:spPr>
      </p:sp>
      <p:sp>
        <p:nvSpPr>
          <p:cNvPr id="22" name="type3Desc"/>
          <p:cNvSpPr txBox="1"/>
          <p:nvPr/>
        </p:nvSpPr>
        <p:spPr>
          <a:xfrm>
            <a:off x="3977640" y="1865376"/>
            <a:ext cx="4983480" cy="384048"/>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Encourage proof, don't require it.</a:t>
            </a:r>
            <a:endParaRPr lang="en-US" sz="850" dirty="0"/>
          </a:p>
        </p:txBody>
      </p:sp>
      <p:sp>
        <p:nvSpPr>
          <p:cNvPr id="23" name="Shape 19"/>
          <p:cNvSpPr/>
          <p:nvPr/>
        </p:nvSpPr>
        <p:spPr>
          <a:xfrm>
            <a:off x="457200" y="2304288"/>
            <a:ext cx="3246120" cy="310896"/>
          </a:xfrm>
          <a:prstGeom prst="roundRect">
            <a:avLst>
              <a:gd name="adj" fmla="val 23529"/>
            </a:avLst>
          </a:prstGeom>
          <a:solidFill>
            <a:srgbClr val="0B7A6F"/>
          </a:solidFill>
          <a:ln w="12700">
            <a:solidFill>
              <a:srgbClr val="0B7A6F"/>
            </a:solidFill>
            <a:prstDash val="solid"/>
          </a:ln>
        </p:spPr>
      </p:sp>
      <p:sp>
        <p:nvSpPr>
          <p:cNvPr id="24" name="Text 20"/>
          <p:cNvSpPr txBox="1"/>
          <p:nvPr/>
        </p:nvSpPr>
        <p:spPr>
          <a:xfrm>
            <a:off x="457200" y="2304288"/>
            <a:ext cx="3246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Contact the CP</a:t>
            </a:r>
            <a:endParaRPr lang="en-US" sz="1000" dirty="0"/>
          </a:p>
        </p:txBody>
      </p:sp>
      <p:sp>
        <p:nvSpPr>
          <p:cNvPr id="25" name="Shape 21"/>
          <p:cNvSpPr/>
          <p:nvPr/>
        </p:nvSpPr>
        <p:spPr>
          <a:xfrm>
            <a:off x="2080260" y="2615184"/>
            <a:ext cx="0" cy="91440"/>
          </a:xfrm>
          <a:prstGeom prst="line">
            <a:avLst/>
          </a:prstGeom>
          <a:noFill/>
          <a:ln w="12700">
            <a:solidFill>
              <a:srgbClr val="6E6E73"/>
            </a:solidFill>
            <a:prstDash val="solid"/>
            <a:tailEnd type="triangle"/>
          </a:ln>
        </p:spPr>
      </p:sp>
      <p:sp>
        <p:nvSpPr>
          <p:cNvPr id="26" name="Shape 22"/>
          <p:cNvSpPr/>
          <p:nvPr/>
        </p:nvSpPr>
        <p:spPr>
          <a:xfrm>
            <a:off x="3703320" y="2459736"/>
            <a:ext cx="182880" cy="0"/>
          </a:xfrm>
          <a:prstGeom prst="line">
            <a:avLst/>
          </a:prstGeom>
          <a:noFill/>
          <a:ln w="12700">
            <a:solidFill>
              <a:srgbClr val="6E6E73"/>
            </a:solidFill>
            <a:prstDash val="solid"/>
          </a:ln>
        </p:spPr>
      </p:sp>
      <p:sp>
        <p:nvSpPr>
          <p:cNvPr id="27" name="type4Desc"/>
          <p:cNvSpPr txBox="1"/>
          <p:nvPr/>
        </p:nvSpPr>
        <p:spPr>
          <a:xfrm>
            <a:off x="3977640" y="2267712"/>
            <a:ext cx="4983480" cy="384048"/>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Call within business hours (8AM–8PM CP local time). No answer: SMS. Outside business hours: email.</a:t>
            </a:r>
            <a:endParaRPr lang="en-US" sz="850" dirty="0"/>
          </a:p>
        </p:txBody>
      </p:sp>
      <p:sp>
        <p:nvSpPr>
          <p:cNvPr id="28" name="Shape 24"/>
          <p:cNvSpPr/>
          <p:nvPr/>
        </p:nvSpPr>
        <p:spPr>
          <a:xfrm>
            <a:off x="457200" y="2706624"/>
            <a:ext cx="3246120" cy="310896"/>
          </a:xfrm>
          <a:prstGeom prst="roundRect">
            <a:avLst>
              <a:gd name="adj" fmla="val 23529"/>
            </a:avLst>
          </a:prstGeom>
          <a:solidFill>
            <a:srgbClr val="0B7A6F"/>
          </a:solidFill>
          <a:ln w="12700">
            <a:solidFill>
              <a:srgbClr val="0B7A6F"/>
            </a:solidFill>
            <a:prstDash val="solid"/>
          </a:ln>
        </p:spPr>
      </p:sp>
      <p:sp>
        <p:nvSpPr>
          <p:cNvPr id="29" name="Text 25"/>
          <p:cNvSpPr txBox="1"/>
          <p:nvPr/>
        </p:nvSpPr>
        <p:spPr>
          <a:xfrm>
            <a:off x="457200" y="2706624"/>
            <a:ext cx="3246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Set a 48-hour Timed Reminder</a:t>
            </a:r>
            <a:endParaRPr lang="en-US" sz="1000" dirty="0"/>
          </a:p>
        </p:txBody>
      </p:sp>
      <p:sp>
        <p:nvSpPr>
          <p:cNvPr id="30" name="Shape 26"/>
          <p:cNvSpPr/>
          <p:nvPr/>
        </p:nvSpPr>
        <p:spPr>
          <a:xfrm>
            <a:off x="2080260" y="3017520"/>
            <a:ext cx="0" cy="91440"/>
          </a:xfrm>
          <a:prstGeom prst="line">
            <a:avLst/>
          </a:prstGeom>
          <a:noFill/>
          <a:ln w="12700">
            <a:solidFill>
              <a:srgbClr val="6E6E73"/>
            </a:solidFill>
            <a:prstDash val="solid"/>
            <a:tailEnd type="triangle"/>
          </a:ln>
        </p:spPr>
      </p:sp>
      <p:sp>
        <p:nvSpPr>
          <p:cNvPr id="31" name="Shape 27"/>
          <p:cNvSpPr/>
          <p:nvPr/>
        </p:nvSpPr>
        <p:spPr>
          <a:xfrm>
            <a:off x="3703320" y="2862072"/>
            <a:ext cx="182880" cy="0"/>
          </a:xfrm>
          <a:prstGeom prst="line">
            <a:avLst/>
          </a:prstGeom>
          <a:noFill/>
          <a:ln w="12700">
            <a:solidFill>
              <a:srgbClr val="6E6E73"/>
            </a:solidFill>
            <a:prstDash val="solid"/>
          </a:ln>
        </p:spPr>
      </p:sp>
      <p:sp>
        <p:nvSpPr>
          <p:cNvPr id="32" name="type5Desc"/>
          <p:cNvSpPr txBox="1"/>
          <p:nvPr/>
        </p:nvSpPr>
        <p:spPr>
          <a:xfrm>
            <a:off x="3977640" y="2670048"/>
            <a:ext cx="4983480" cy="384048"/>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Pick the ticket back up when it triggers.</a:t>
            </a:r>
            <a:endParaRPr lang="en-US" sz="850" dirty="0"/>
          </a:p>
        </p:txBody>
      </p:sp>
      <p:sp>
        <p:nvSpPr>
          <p:cNvPr id="33" name="Shape 29"/>
          <p:cNvSpPr/>
          <p:nvPr/>
        </p:nvSpPr>
        <p:spPr>
          <a:xfrm>
            <a:off x="457200" y="3108960"/>
            <a:ext cx="3246120" cy="429768"/>
          </a:xfrm>
          <a:prstGeom prst="roundRect">
            <a:avLst>
              <a:gd name="adj" fmla="val 17021"/>
            </a:avLst>
          </a:prstGeom>
          <a:solidFill>
            <a:srgbClr val="0B7A6F"/>
          </a:solidFill>
          <a:ln w="12700">
            <a:solidFill>
              <a:srgbClr val="0B7A6F"/>
            </a:solidFill>
            <a:prstDash val="solid"/>
          </a:ln>
        </p:spPr>
      </p:sp>
      <p:sp>
        <p:nvSpPr>
          <p:cNvPr id="34" name="Text 30"/>
          <p:cNvSpPr txBox="1"/>
          <p:nvPr/>
        </p:nvSpPr>
        <p:spPr>
          <a:xfrm>
            <a:off x="457200" y="3108960"/>
            <a:ext cx="3246120" cy="4297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 provides proof → hard ladder</a:t>
            </a:r>
            <a:endParaRPr lang="en-US" sz="1000" dirty="0"/>
          </a:p>
        </p:txBody>
      </p:sp>
      <p:sp>
        <p:nvSpPr>
          <p:cNvPr id="35" name="Shape 31"/>
          <p:cNvSpPr/>
          <p:nvPr/>
        </p:nvSpPr>
        <p:spPr>
          <a:xfrm>
            <a:off x="2080260" y="3538728"/>
            <a:ext cx="0" cy="91440"/>
          </a:xfrm>
          <a:prstGeom prst="line">
            <a:avLst/>
          </a:prstGeom>
          <a:noFill/>
          <a:ln w="12700">
            <a:solidFill>
              <a:srgbClr val="6E6E73"/>
            </a:solidFill>
            <a:prstDash val="solid"/>
            <a:tailEnd type="triangle"/>
          </a:ln>
        </p:spPr>
      </p:sp>
      <p:sp>
        <p:nvSpPr>
          <p:cNvPr id="36" name="Shape 32"/>
          <p:cNvSpPr/>
          <p:nvPr/>
        </p:nvSpPr>
        <p:spPr>
          <a:xfrm>
            <a:off x="3703320" y="3323844"/>
            <a:ext cx="182880" cy="0"/>
          </a:xfrm>
          <a:prstGeom prst="line">
            <a:avLst/>
          </a:prstGeom>
          <a:noFill/>
          <a:ln w="12700">
            <a:solidFill>
              <a:srgbClr val="6E6E73"/>
            </a:solidFill>
            <a:prstDash val="solid"/>
          </a:ln>
        </p:spPr>
      </p:sp>
      <p:sp>
        <p:nvSpPr>
          <p:cNvPr id="37" name="type6Desc"/>
          <p:cNvSpPr txBox="1"/>
          <p:nvPr/>
        </p:nvSpPr>
        <p:spPr>
          <a:xfrm>
            <a:off x="3977640" y="3072384"/>
            <a:ext cx="4983480" cy="502920"/>
          </a:xfrm>
          <a:prstGeom prst="rect">
            <a:avLst/>
          </a:prstGeom>
          <a:noFill/>
          <a:ln/>
        </p:spPr>
        <p:txBody>
          <a:bodyPr wrap="square" lIns="0" tIns="0" rIns="0" bIns="0" rtlCol="0" anchor="ctr"/>
          <a:lstStyle/>
          <a:p>
            <a:pPr indent="0" marL="0">
              <a:buNone/>
            </a:pPr>
            <a:r>
              <a:rPr lang="en-US" sz="750" dirty="0">
                <a:solidFill>
                  <a:srgbClr val="6E6E73"/>
                </a:solidFill>
                <a:latin typeface="SF Pro Text" pitchFamily="34" charset="0"/>
                <a:ea typeface="SF Pro Text" pitchFamily="34" charset="-122"/>
                <a:cs typeface="SF Pro Text" pitchFamily="34" charset="-120"/>
              </a:rPr>
              <a:t>Pending Invoice: cancel from CCRM (full) or invoice remaining balance (partial)</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Invoiced: Refund from CP Dashboard (full) or admin refund + CP holdback (partial)</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Hard ladder penalty</a:t>
            </a:r>
            <a:endParaRPr lang="en-US" sz="750" dirty="0"/>
          </a:p>
        </p:txBody>
      </p:sp>
      <p:sp>
        <p:nvSpPr>
          <p:cNvPr id="38" name="Shape 34"/>
          <p:cNvSpPr/>
          <p:nvPr/>
        </p:nvSpPr>
        <p:spPr>
          <a:xfrm>
            <a:off x="457200" y="3630168"/>
            <a:ext cx="3246120" cy="548640"/>
          </a:xfrm>
          <a:prstGeom prst="roundRect">
            <a:avLst>
              <a:gd name="adj" fmla="val 13333"/>
            </a:avLst>
          </a:prstGeom>
          <a:solidFill>
            <a:srgbClr val="0B7A6F"/>
          </a:solidFill>
          <a:ln w="12700">
            <a:solidFill>
              <a:srgbClr val="0B7A6F"/>
            </a:solidFill>
            <a:prstDash val="solid"/>
          </a:ln>
        </p:spPr>
      </p:sp>
      <p:sp>
        <p:nvSpPr>
          <p:cNvPr id="39" name="Text 35"/>
          <p:cNvSpPr txBox="1"/>
          <p:nvPr/>
        </p:nvSpPr>
        <p:spPr>
          <a:xfrm>
            <a:off x="457200" y="3630168"/>
            <a:ext cx="324612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No proof from C but CP admits it → soft ladder</a:t>
            </a:r>
            <a:endParaRPr lang="en-US" sz="1000" dirty="0"/>
          </a:p>
        </p:txBody>
      </p:sp>
      <p:sp>
        <p:nvSpPr>
          <p:cNvPr id="40" name="Shape 36"/>
          <p:cNvSpPr/>
          <p:nvPr/>
        </p:nvSpPr>
        <p:spPr>
          <a:xfrm>
            <a:off x="2080260" y="4178808"/>
            <a:ext cx="0" cy="91440"/>
          </a:xfrm>
          <a:prstGeom prst="line">
            <a:avLst/>
          </a:prstGeom>
          <a:noFill/>
          <a:ln w="12700">
            <a:solidFill>
              <a:srgbClr val="6E6E73"/>
            </a:solidFill>
            <a:prstDash val="solid"/>
            <a:tailEnd type="triangle"/>
          </a:ln>
        </p:spPr>
      </p:sp>
      <p:sp>
        <p:nvSpPr>
          <p:cNvPr id="41" name="Shape 37"/>
          <p:cNvSpPr/>
          <p:nvPr/>
        </p:nvSpPr>
        <p:spPr>
          <a:xfrm>
            <a:off x="3703320" y="3904488"/>
            <a:ext cx="182880" cy="0"/>
          </a:xfrm>
          <a:prstGeom prst="line">
            <a:avLst/>
          </a:prstGeom>
          <a:noFill/>
          <a:ln w="12700">
            <a:solidFill>
              <a:srgbClr val="6E6E73"/>
            </a:solidFill>
            <a:prstDash val="solid"/>
          </a:ln>
        </p:spPr>
      </p:sp>
      <p:sp>
        <p:nvSpPr>
          <p:cNvPr id="42" name="type7Desc"/>
          <p:cNvSpPr txBox="1"/>
          <p:nvPr/>
        </p:nvSpPr>
        <p:spPr>
          <a:xfrm>
            <a:off x="3977640" y="3593592"/>
            <a:ext cx="4983480" cy="621792"/>
          </a:xfrm>
          <a:prstGeom prst="rect">
            <a:avLst/>
          </a:prstGeom>
          <a:noFill/>
          <a:ln/>
        </p:spPr>
        <p:txBody>
          <a:bodyPr wrap="square" lIns="0" tIns="0" rIns="0" bIns="0" rtlCol="0" anchor="ctr"/>
          <a:lstStyle/>
          <a:p>
            <a:pPr indent="0" marL="0">
              <a:buNone/>
            </a:pPr>
            <a:r>
              <a:rPr lang="en-US" sz="750" dirty="0">
                <a:solidFill>
                  <a:srgbClr val="6E6E73"/>
                </a:solidFill>
                <a:latin typeface="SF Pro Text" pitchFamily="34" charset="0"/>
                <a:ea typeface="SF Pro Text" pitchFamily="34" charset="-122"/>
                <a:cs typeface="SF Pro Text" pitchFamily="34" charset="-120"/>
              </a:rPr>
              <a:t>Resolve per job status above + Soft ladder penalty.</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1st instance - coach</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2nd instance - coach + final warning</a:t>
            </a:r>
            <a:endParaRPr lang="en-US" sz="750" dirty="0"/>
          </a:p>
          <a:p>
            <a:pPr indent="0" marL="0">
              <a:buNone/>
            </a:pPr>
            <a:r>
              <a:rPr lang="en-US" sz="750" dirty="0">
                <a:solidFill>
                  <a:srgbClr val="6E6E73"/>
                </a:solidFill>
                <a:latin typeface="SF Pro Text" pitchFamily="34" charset="0"/>
                <a:ea typeface="SF Pro Text" pitchFamily="34" charset="-122"/>
                <a:cs typeface="SF Pro Text" pitchFamily="34" charset="-120"/>
              </a:rPr>
              <a:t>3rd instance - suspended</a:t>
            </a:r>
            <a:endParaRPr lang="en-US" sz="750" dirty="0"/>
          </a:p>
        </p:txBody>
      </p:sp>
      <p:sp>
        <p:nvSpPr>
          <p:cNvPr id="43" name="Shape 39"/>
          <p:cNvSpPr/>
          <p:nvPr/>
        </p:nvSpPr>
        <p:spPr>
          <a:xfrm>
            <a:off x="457200" y="4270248"/>
            <a:ext cx="3246120" cy="310896"/>
          </a:xfrm>
          <a:prstGeom prst="roundRect">
            <a:avLst>
              <a:gd name="adj" fmla="val 23529"/>
            </a:avLst>
          </a:prstGeom>
          <a:solidFill>
            <a:srgbClr val="FFFFFF"/>
          </a:solidFill>
          <a:ln w="12700">
            <a:solidFill>
              <a:srgbClr val="DCE1E7"/>
            </a:solidFill>
            <a:prstDash val="solid"/>
          </a:ln>
        </p:spPr>
      </p:sp>
      <p:sp>
        <p:nvSpPr>
          <p:cNvPr id="44" name="Text 40"/>
          <p:cNvSpPr txBox="1"/>
          <p:nvPr/>
        </p:nvSpPr>
        <p:spPr>
          <a:xfrm>
            <a:off x="457200" y="4270248"/>
            <a:ext cx="3246120" cy="310896"/>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CP denies, no proof → retention</a:t>
            </a:r>
            <a:endParaRPr lang="en-US" sz="1000" dirty="0"/>
          </a:p>
        </p:txBody>
      </p:sp>
      <p:sp>
        <p:nvSpPr>
          <p:cNvPr id="45" name="Shape 41"/>
          <p:cNvSpPr/>
          <p:nvPr/>
        </p:nvSpPr>
        <p:spPr>
          <a:xfrm>
            <a:off x="3703320" y="4425696"/>
            <a:ext cx="182880" cy="0"/>
          </a:xfrm>
          <a:prstGeom prst="line">
            <a:avLst/>
          </a:prstGeom>
          <a:noFill/>
          <a:ln w="12700">
            <a:solidFill>
              <a:srgbClr val="6E6E73"/>
            </a:solidFill>
            <a:prstDash val="solid"/>
          </a:ln>
        </p:spPr>
      </p:sp>
      <p:sp>
        <p:nvSpPr>
          <p:cNvPr id="46" name="type8Desc"/>
          <p:cNvSpPr txBox="1"/>
          <p:nvPr/>
        </p:nvSpPr>
        <p:spPr>
          <a:xfrm>
            <a:off x="3977640" y="4233672"/>
            <a:ext cx="4983480" cy="384048"/>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No refund, no penalty. High value: voucher for the full job hours. Otherwise $20–$50 credits. Reason: cash_payment.</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40"/>
                                  </p:iterate>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40"/>
                                  </p:iterate>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type="lt">
                                    <p:tmAbs val="40"/>
                                  </p:iterate>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40"/>
                                  </p:iterate>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40"/>
                                  </p:iterate>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40"/>
                                  </p:iterate>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iterate type="lt">
                                    <p:tmAbs val="40"/>
                                  </p:iterate>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iterate type="lt">
                                    <p:tmAbs val="40"/>
                                  </p:iterate>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22" grpId="0" animBg="1"/>
      <p:bldP spid="27" grpId="0" animBg="1"/>
      <p:bldP spid="32" grpId="0" animBg="1"/>
      <p:bldP spid="37" grpId="0" animBg="1"/>
      <p:bldP spid="42" grpId="0" animBg="1"/>
      <p:bldP spid="4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cleaner reported full cash payment. The job is still Pending Invoice. What do you do?</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Cancel via the C CRM with "does not want the service". Nothing was charged, so nothing to refund.</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Same case, but the job was already invoiced.</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Refund from the CP Dashboard. It reverses the customer's charge and the cleaner's payout.</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job shows Cancelled, but the customer says they paid cash. Recreate the job?</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Nothing was charged. Recreating it would make the customer pay twice.</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cleaner denies it and the customer has no proof. What now?</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refund, no penalty. Assess retention: voucher (high value) or $20–$50 credits, reason cash_payment.</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43</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practice!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325880"/>
            <a:ext cx="3566160" cy="2743200"/>
          </a:xfrm>
          <a:prstGeom prst="roundRect">
            <a:avLst>
              <a:gd name="adj" fmla="val 2667"/>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323697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Live ticket</a:t>
            </a:r>
            <a:endParaRPr lang="en-US" sz="1200" dirty="0"/>
          </a:p>
        </p:txBody>
      </p:sp>
      <p:sp>
        <p:nvSpPr>
          <p:cNvPr id="10" name="Text 6"/>
          <p:cNvSpPr txBox="1"/>
          <p:nvPr/>
        </p:nvSpPr>
        <p:spPr>
          <a:xfrm>
            <a:off x="576072" y="2221992"/>
            <a:ext cx="3236976" cy="1755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950" dirty="0"/>
          </a:p>
        </p:txBody>
      </p:sp>
      <p:sp>
        <p:nvSpPr>
          <p:cNvPr id="11" name="Shape 7"/>
          <p:cNvSpPr/>
          <p:nvPr/>
        </p:nvSpPr>
        <p:spPr>
          <a:xfrm>
            <a:off x="594360" y="3520440"/>
            <a:ext cx="1234440" cy="274320"/>
          </a:xfrm>
          <a:prstGeom prst="roundRect">
            <a:avLst>
              <a:gd name="adj" fmla="val 26667"/>
            </a:avLst>
          </a:prstGeom>
          <a:solidFill>
            <a:srgbClr val="FFF3D6"/>
          </a:solidFill>
          <a:ln w="9525">
            <a:solidFill>
              <a:srgbClr val="FFF3D6"/>
            </a:solidFill>
            <a:prstDash val="solid"/>
          </a:ln>
        </p:spPr>
      </p:sp>
      <p:sp>
        <p:nvSpPr>
          <p:cNvPr id="12" name="Text 8"/>
          <p:cNvSpPr txBox="1"/>
          <p:nvPr/>
        </p:nvSpPr>
        <p:spPr>
          <a:xfrm>
            <a:off x="594360" y="3520440"/>
            <a:ext cx="1234440" cy="274320"/>
          </a:xfrm>
          <a:prstGeom prst="rect">
            <a:avLst/>
          </a:prstGeom>
          <a:no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Trainer provides</a:t>
            </a:r>
            <a:endParaRPr lang="en-US" sz="800" dirty="0"/>
          </a:p>
        </p:txBody>
      </p:sp>
      <p:sp>
        <p:nvSpPr>
          <p:cNvPr id="13" name="Shape 9"/>
          <p:cNvSpPr/>
          <p:nvPr/>
        </p:nvSpPr>
        <p:spPr>
          <a:xfrm>
            <a:off x="4114800" y="1325880"/>
            <a:ext cx="4617720" cy="1298448"/>
          </a:xfrm>
          <a:prstGeom prst="roundRect">
            <a:avLst>
              <a:gd name="adj" fmla="val 5634"/>
            </a:avLst>
          </a:prstGeom>
          <a:solidFill>
            <a:srgbClr val="FFFFFF"/>
          </a:solidFill>
          <a:ln w="9525">
            <a:solidFill>
              <a:srgbClr val="DCE1E7"/>
            </a:solidFill>
            <a:prstDash val="solid"/>
          </a:ln>
        </p:spPr>
      </p:sp>
      <p:sp>
        <p:nvSpPr>
          <p:cNvPr id="14" name="Shape 10"/>
          <p:cNvSpPr/>
          <p:nvPr/>
        </p:nvSpPr>
        <p:spPr>
          <a:xfrm>
            <a:off x="4279392" y="1508760"/>
            <a:ext cx="274320" cy="274320"/>
          </a:xfrm>
          <a:prstGeom prst="ellipse">
            <a:avLst/>
          </a:prstGeom>
          <a:solidFill>
            <a:srgbClr val="E3F4F1"/>
          </a:solidFill>
          <a:ln w="12700">
            <a:solidFill>
              <a:srgbClr val="E3F4F1"/>
            </a:solidFill>
            <a:prstDash val="solid"/>
          </a:ln>
        </p:spPr>
      </p:sp>
      <p:sp>
        <p:nvSpPr>
          <p:cNvPr id="15" name="Text 11"/>
          <p:cNvSpPr txBox="1"/>
          <p:nvPr/>
        </p:nvSpPr>
        <p:spPr>
          <a:xfrm>
            <a:off x="427939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6" name="Text 12"/>
          <p:cNvSpPr txBox="1"/>
          <p:nvPr/>
        </p:nvSpPr>
        <p:spPr>
          <a:xfrm>
            <a:off x="4279392" y="1929384"/>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What will be your actions?</a:t>
            </a:r>
            <a:endParaRPr lang="en-US" sz="1200" dirty="0"/>
          </a:p>
        </p:txBody>
      </p:sp>
      <p:sp>
        <p:nvSpPr>
          <p:cNvPr id="17" name="Text 13"/>
          <p:cNvSpPr txBox="1"/>
          <p:nvPr/>
        </p:nvSpPr>
        <p:spPr>
          <a:xfrm>
            <a:off x="4279392" y="2221992"/>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Which issue is it, and what will you do on the account?</a:t>
            </a:r>
            <a:endParaRPr lang="en-US" sz="950" dirty="0"/>
          </a:p>
        </p:txBody>
      </p:sp>
      <p:sp>
        <p:nvSpPr>
          <p:cNvPr id="18" name="Shape 14"/>
          <p:cNvSpPr/>
          <p:nvPr/>
        </p:nvSpPr>
        <p:spPr>
          <a:xfrm>
            <a:off x="4114800" y="2770632"/>
            <a:ext cx="4617720" cy="1298448"/>
          </a:xfrm>
          <a:prstGeom prst="roundRect">
            <a:avLst>
              <a:gd name="adj" fmla="val 5634"/>
            </a:avLst>
          </a:prstGeom>
          <a:solidFill>
            <a:srgbClr val="FFFFFF"/>
          </a:solidFill>
          <a:ln w="9525">
            <a:solidFill>
              <a:srgbClr val="DCE1E7"/>
            </a:solidFill>
            <a:prstDash val="solid"/>
          </a:ln>
        </p:spPr>
      </p:sp>
      <p:sp>
        <p:nvSpPr>
          <p:cNvPr id="19" name="Shape 15"/>
          <p:cNvSpPr/>
          <p:nvPr/>
        </p:nvSpPr>
        <p:spPr>
          <a:xfrm>
            <a:off x="4279392" y="2953512"/>
            <a:ext cx="274320" cy="274320"/>
          </a:xfrm>
          <a:prstGeom prst="ellipse">
            <a:avLst/>
          </a:prstGeom>
          <a:solidFill>
            <a:srgbClr val="E3F4F1"/>
          </a:solidFill>
          <a:ln w="12700">
            <a:solidFill>
              <a:srgbClr val="E3F4F1"/>
            </a:solidFill>
            <a:prstDash val="solid"/>
          </a:ln>
        </p:spPr>
      </p:sp>
      <p:sp>
        <p:nvSpPr>
          <p:cNvPr id="20" name="Text 16"/>
          <p:cNvSpPr txBox="1"/>
          <p:nvPr/>
        </p:nvSpPr>
        <p:spPr>
          <a:xfrm>
            <a:off x="4279392" y="295351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1" name="Text 17"/>
          <p:cNvSpPr txBox="1"/>
          <p:nvPr/>
        </p:nvSpPr>
        <p:spPr>
          <a:xfrm>
            <a:off x="4279392" y="3374136"/>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How will you respond to the customer?</a:t>
            </a:r>
            <a:endParaRPr lang="en-US" sz="1200" dirty="0"/>
          </a:p>
        </p:txBody>
      </p:sp>
      <p:sp>
        <p:nvSpPr>
          <p:cNvPr id="22" name="Text 18"/>
          <p:cNvSpPr txBox="1"/>
          <p:nvPr/>
        </p:nvSpPr>
        <p:spPr>
          <a:xfrm>
            <a:off x="4279392" y="3666744"/>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Write the reply you would send.</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Status decides the action</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Pending Invoice: cancel. Invoiced: refund. Cancelled: don't recreate.</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Get the amount first</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Full vs partial is based on CP Pay, not the C Price.</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Never penalize the customer</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Coach the cleaner. C-side never suspends or adds DNR.</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05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Cleaner Didn't Show</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CP claimed the job, then never communicated or never showed up.</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it's valid to report a no-show</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Reschedule intent vs no-show</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Handling by job status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Resolution and penalty</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7.png">    </p:cNvPr>
          <p:cNvPicPr>
            <a:picLocks noChangeAspect="1"/>
          </p:cNvPicPr>
          <p:nvPr/>
        </p:nvPicPr>
        <p:blipFill>
          <a:blip r:embed="rId5"/>
          <a:stretch>
            <a:fillRect/>
          </a:stretch>
        </p:blipFill>
        <p:spPr>
          <a:xfrm>
            <a:off x="5541264" y="1783080"/>
            <a:ext cx="2926080" cy="1572768"/>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Certainty, not a complaint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Only report a no-show via the Job Admin page if at least one of these is true.</a:t>
            </a:r>
            <a:endParaRPr lang="en-US" sz="1200" dirty="0"/>
          </a:p>
        </p:txBody>
      </p:sp>
      <p:sp>
        <p:nvSpPr>
          <p:cNvPr id="6" name="Shape 3"/>
          <p:cNvSpPr/>
          <p:nvPr/>
        </p:nvSpPr>
        <p:spPr>
          <a:xfrm>
            <a:off x="411480" y="128016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Reported + proven</a:t>
            </a:r>
            <a:endParaRPr lang="en-US" sz="1200" dirty="0"/>
          </a:p>
        </p:txBody>
      </p:sp>
      <p:sp>
        <p:nvSpPr>
          <p:cNvPr id="10" name="Text 6"/>
          <p:cNvSpPr txBox="1"/>
          <p:nvPr/>
        </p:nvSpPr>
        <p:spPr>
          <a:xfrm>
            <a:off x="576072" y="217627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customer says it, and you have sufficient proof.</a:t>
            </a:r>
            <a:endParaRPr lang="en-US" sz="950" dirty="0"/>
          </a:p>
        </p:txBody>
      </p:sp>
      <p:sp>
        <p:nvSpPr>
          <p:cNvPr id="11" name="Shape 7"/>
          <p:cNvSpPr/>
          <p:nvPr/>
        </p:nvSpPr>
        <p:spPr>
          <a:xfrm>
            <a:off x="3230880" y="1280160"/>
            <a:ext cx="2682240" cy="1600200"/>
          </a:xfrm>
          <a:prstGeom prst="roundRect">
            <a:avLst>
              <a:gd name="adj" fmla="val 4571"/>
            </a:avLst>
          </a:prstGeom>
          <a:solidFill>
            <a:srgbClr val="FFFFFF"/>
          </a:solidFill>
          <a:ln w="9525">
            <a:solidFill>
              <a:srgbClr val="DCE1E7"/>
            </a:solidFill>
            <a:prstDash val="solid"/>
          </a:ln>
        </p:spPr>
      </p:sp>
      <p:sp>
        <p:nvSpPr>
          <p:cNvPr id="12" name="Shape 8"/>
          <p:cNvSpPr/>
          <p:nvPr/>
        </p:nvSpPr>
        <p:spPr>
          <a:xfrm>
            <a:off x="339547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4" name="Text 9"/>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100% sure</a:t>
            </a:r>
            <a:endParaRPr lang="en-US" sz="1200" dirty="0"/>
          </a:p>
        </p:txBody>
      </p:sp>
      <p:sp>
        <p:nvSpPr>
          <p:cNvPr id="15" name="Text 10"/>
          <p:cNvSpPr txBox="1"/>
          <p:nvPr/>
        </p:nvSpPr>
        <p:spPr>
          <a:xfrm>
            <a:off x="3395472" y="217627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Customer/CP messages show the CP genuinely didn't show.</a:t>
            </a:r>
            <a:endParaRPr lang="en-US" sz="950" dirty="0"/>
          </a:p>
        </p:txBody>
      </p:sp>
      <p:sp>
        <p:nvSpPr>
          <p:cNvPr id="16" name="Shape 11"/>
          <p:cNvSpPr/>
          <p:nvPr/>
        </p:nvSpPr>
        <p:spPr>
          <a:xfrm>
            <a:off x="6050280" y="1280160"/>
            <a:ext cx="2682240" cy="1600200"/>
          </a:xfrm>
          <a:prstGeom prst="roundRect">
            <a:avLst>
              <a:gd name="adj" fmla="val 4571"/>
            </a:avLst>
          </a:prstGeom>
          <a:solidFill>
            <a:srgbClr val="FFFFFF"/>
          </a:solidFill>
          <a:ln w="9525">
            <a:solidFill>
              <a:srgbClr val="DCE1E7"/>
            </a:solidFill>
            <a:prstDash val="solid"/>
          </a:ln>
        </p:spPr>
      </p:sp>
      <p:sp>
        <p:nvSpPr>
          <p:cNvPr id="17" name="Shape 12"/>
          <p:cNvSpPr/>
          <p:nvPr/>
        </p:nvSpPr>
        <p:spPr>
          <a:xfrm>
            <a:off x="6214872" y="144475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9" name="Text 13"/>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In a review</a:t>
            </a:r>
            <a:endParaRPr lang="en-US" sz="1200" dirty="0"/>
          </a:p>
        </p:txBody>
      </p:sp>
      <p:sp>
        <p:nvSpPr>
          <p:cNvPr id="20" name="Text 14"/>
          <p:cNvSpPr txBox="1"/>
          <p:nvPr/>
        </p:nvSpPr>
        <p:spPr>
          <a:xfrm>
            <a:off x="6214872" y="217627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customer's review explicitly says the CP was a no-show.</a:t>
            </a:r>
            <a:endParaRPr lang="en-US" sz="950" dirty="0"/>
          </a:p>
        </p:txBody>
      </p:sp>
      <p:sp>
        <p:nvSpPr>
          <p:cNvPr id="21" name="Shape 15"/>
          <p:cNvSpPr/>
          <p:nvPr/>
        </p:nvSpPr>
        <p:spPr>
          <a:xfrm>
            <a:off x="411480" y="301752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127248"/>
            <a:ext cx="164592" cy="164592"/>
          </a:xfrm>
          <a:prstGeom prst="rect">
            <a:avLst/>
          </a:prstGeom>
        </p:spPr>
      </p:pic>
      <p:sp>
        <p:nvSpPr>
          <p:cNvPr id="23" name="Text 16"/>
          <p:cNvSpPr txBox="1"/>
          <p:nvPr/>
        </p:nvSpPr>
        <p:spPr>
          <a:xfrm>
            <a:off x="822960" y="31181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Signals to check:  </a:t>
            </a:r>
            <a:pPr indent="0" marL="0">
              <a:buNone/>
            </a:pPr>
            <a:r>
              <a:rPr lang="en-US" sz="1000" dirty="0">
                <a:solidFill>
                  <a:srgbClr val="1D1D1F"/>
                </a:solidFill>
                <a:latin typeface="SF Pro Text" pitchFamily="34" charset="0"/>
                <a:ea typeface="SF Pro Text" pitchFamily="34" charset="-122"/>
                <a:cs typeface="SF Pro Text" pitchFamily="34" charset="-120"/>
              </a:rPr>
              <a:t>the customer asked for the CP's ETA, or the CP texted cancel/reschedule intent.</a:t>
            </a:r>
            <a:endParaRPr lang="en-US" sz="1000" dirty="0"/>
          </a:p>
        </p:txBody>
      </p:sp>
      <p:sp>
        <p:nvSpPr>
          <p:cNvPr id="24" name="Shape 17"/>
          <p:cNvSpPr/>
          <p:nvPr/>
        </p:nvSpPr>
        <p:spPr>
          <a:xfrm>
            <a:off x="411480" y="3520440"/>
            <a:ext cx="8321040" cy="384048"/>
          </a:xfrm>
          <a:prstGeom prst="roundRect">
            <a:avLst>
              <a:gd name="adj" fmla="val 19048"/>
            </a:avLst>
          </a:prstGeom>
          <a:solidFill>
            <a:srgbClr val="FFF3D6"/>
          </a:solidFill>
          <a:ln w="9525">
            <a:solidFill>
              <a:srgbClr val="FFF3D6"/>
            </a:solidFill>
            <a:prstDash val="solid"/>
          </a:ln>
        </p:spPr>
      </p:sp>
      <p:pic>
        <p:nvPicPr>
          <p:cNvPr id="25" name="Image 4" descr="preencoded.png">    </p:cNvPr>
          <p:cNvPicPr>
            <a:picLocks noChangeAspect="1"/>
          </p:cNvPicPr>
          <p:nvPr/>
        </p:nvPicPr>
        <p:blipFill>
          <a:blip r:embed="rId5"/>
          <a:stretch>
            <a:fillRect/>
          </a:stretch>
        </p:blipFill>
        <p:spPr>
          <a:xfrm>
            <a:off x="566928" y="3630168"/>
            <a:ext cx="164592" cy="164592"/>
          </a:xfrm>
          <a:prstGeom prst="rect">
            <a:avLst/>
          </a:prstGeom>
        </p:spPr>
      </p:pic>
      <p:sp>
        <p:nvSpPr>
          <p:cNvPr id="26" name="Text 18"/>
          <p:cNvSpPr txBox="1"/>
          <p:nvPr/>
        </p:nvSpPr>
        <p:spPr>
          <a:xfrm>
            <a:off x="822960" y="36210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 show via Admin Page:  </a:t>
            </a:r>
            <a:pPr indent="0" marL="0">
              <a:buNone/>
            </a:pPr>
            <a:r>
              <a:rPr lang="en-US" sz="1000" dirty="0">
                <a:solidFill>
                  <a:srgbClr val="1D1D1F"/>
                </a:solidFill>
                <a:latin typeface="SF Pro Text" pitchFamily="34" charset="0"/>
                <a:ea typeface="SF Pro Text" pitchFamily="34" charset="-122"/>
                <a:cs typeface="SF Pro Text" pitchFamily="34" charset="-120"/>
              </a:rPr>
              <a:t>Claimed or Pending Invoice. Already Invoiced? Follow the False Invoice process.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Reschedule intent or no-show?</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If C reports a no-show, check the C/CP messages first: when did the CP say they wanted to reschedule?</a:t>
            </a:r>
            <a:endParaRPr lang="en-US" sz="1200" dirty="0"/>
          </a:p>
        </p:txBody>
      </p:sp>
      <p:sp>
        <p:nvSpPr>
          <p:cNvPr id="6" name="Shape 3"/>
          <p:cNvSpPr/>
          <p:nvPr/>
        </p:nvSpPr>
        <p:spPr>
          <a:xfrm>
            <a:off x="411480" y="1417320"/>
            <a:ext cx="2682240" cy="1874520"/>
          </a:xfrm>
          <a:prstGeom prst="roundRect">
            <a:avLst>
              <a:gd name="adj" fmla="val 3902"/>
            </a:avLst>
          </a:prstGeom>
          <a:solidFill>
            <a:srgbClr val="FFFFFF"/>
          </a:solidFill>
          <a:ln w="9525">
            <a:solidFill>
              <a:srgbClr val="DCE1E7"/>
            </a:solidFill>
            <a:prstDash val="solid"/>
          </a:ln>
        </p:spPr>
      </p:sp>
      <p:sp>
        <p:nvSpPr>
          <p:cNvPr id="7" name="Shape 4"/>
          <p:cNvSpPr/>
          <p:nvPr/>
        </p:nvSpPr>
        <p:spPr>
          <a:xfrm>
            <a:off x="576072" y="158191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660916"/>
            <a:ext cx="171176" cy="171176"/>
          </a:xfrm>
          <a:prstGeom prst="rect">
            <a:avLst/>
          </a:prstGeom>
        </p:spPr>
      </p:pic>
      <p:sp>
        <p:nvSpPr>
          <p:cNvPr id="9" name="Text 5"/>
          <p:cNvSpPr txBox="1"/>
          <p:nvPr/>
        </p:nvSpPr>
        <p:spPr>
          <a:xfrm>
            <a:off x="576072" y="202082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Before the start time</a:t>
            </a:r>
            <a:endParaRPr lang="en-US" sz="1200" dirty="0"/>
          </a:p>
        </p:txBody>
      </p:sp>
      <p:sp>
        <p:nvSpPr>
          <p:cNvPr id="10" name="Text 6"/>
          <p:cNvSpPr txBox="1"/>
          <p:nvPr/>
        </p:nvSpPr>
        <p:spPr>
          <a:xfrm>
            <a:off x="576072" y="2313432"/>
            <a:ext cx="2353056" cy="8869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Cancel via C-CRM with the CP No Show/Reschedule code. No penalty + coaching.</a:t>
            </a:r>
            <a:endParaRPr lang="en-US" sz="950" dirty="0"/>
          </a:p>
        </p:txBody>
      </p:sp>
      <p:sp>
        <p:nvSpPr>
          <p:cNvPr id="11" name="Shape 7"/>
          <p:cNvSpPr/>
          <p:nvPr/>
        </p:nvSpPr>
        <p:spPr>
          <a:xfrm>
            <a:off x="3230880" y="1417320"/>
            <a:ext cx="2682240" cy="1874520"/>
          </a:xfrm>
          <a:prstGeom prst="roundRect">
            <a:avLst>
              <a:gd name="adj" fmla="val 3902"/>
            </a:avLst>
          </a:prstGeom>
          <a:solidFill>
            <a:srgbClr val="FFFFFF"/>
          </a:solidFill>
          <a:ln w="9525">
            <a:solidFill>
              <a:srgbClr val="DCE1E7"/>
            </a:solidFill>
            <a:prstDash val="solid"/>
          </a:ln>
        </p:spPr>
      </p:sp>
      <p:sp>
        <p:nvSpPr>
          <p:cNvPr id="12" name="Shape 8"/>
          <p:cNvSpPr/>
          <p:nvPr/>
        </p:nvSpPr>
        <p:spPr>
          <a:xfrm>
            <a:off x="3395472" y="158191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660916"/>
            <a:ext cx="171176" cy="171176"/>
          </a:xfrm>
          <a:prstGeom prst="rect">
            <a:avLst/>
          </a:prstGeom>
        </p:spPr>
      </p:pic>
      <p:sp>
        <p:nvSpPr>
          <p:cNvPr id="14" name="Text 9"/>
          <p:cNvSpPr txBox="1"/>
          <p:nvPr/>
        </p:nvSpPr>
        <p:spPr>
          <a:xfrm>
            <a:off x="3395472" y="202082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At the start time</a:t>
            </a:r>
            <a:endParaRPr lang="en-US" sz="1200" dirty="0"/>
          </a:p>
        </p:txBody>
      </p:sp>
      <p:sp>
        <p:nvSpPr>
          <p:cNvPr id="15" name="Text 10"/>
          <p:cNvSpPr txBox="1"/>
          <p:nvPr/>
        </p:nvSpPr>
        <p:spPr>
          <a:xfrm>
            <a:off x="3395472" y="2313432"/>
            <a:ext cx="2353056" cy="8869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Assess whether a penalty fits, based on the reason for rescheduling.</a:t>
            </a:r>
            <a:endParaRPr lang="en-US" sz="950" dirty="0"/>
          </a:p>
        </p:txBody>
      </p:sp>
      <p:sp>
        <p:nvSpPr>
          <p:cNvPr id="16" name="Shape 11"/>
          <p:cNvSpPr/>
          <p:nvPr/>
        </p:nvSpPr>
        <p:spPr>
          <a:xfrm>
            <a:off x="6050280" y="1417320"/>
            <a:ext cx="2682240" cy="1874520"/>
          </a:xfrm>
          <a:prstGeom prst="roundRect">
            <a:avLst>
              <a:gd name="adj" fmla="val 3902"/>
            </a:avLst>
          </a:prstGeom>
          <a:solidFill>
            <a:srgbClr val="FFFFFF"/>
          </a:solidFill>
          <a:ln w="9525">
            <a:solidFill>
              <a:srgbClr val="DCE1E7"/>
            </a:solidFill>
            <a:prstDash val="solid"/>
          </a:ln>
        </p:spPr>
      </p:sp>
      <p:sp>
        <p:nvSpPr>
          <p:cNvPr id="17" name="Shape 12"/>
          <p:cNvSpPr/>
          <p:nvPr/>
        </p:nvSpPr>
        <p:spPr>
          <a:xfrm>
            <a:off x="6214872" y="158191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660916"/>
            <a:ext cx="171176" cy="171176"/>
          </a:xfrm>
          <a:prstGeom prst="rect">
            <a:avLst/>
          </a:prstGeom>
        </p:spPr>
      </p:pic>
      <p:sp>
        <p:nvSpPr>
          <p:cNvPr id="19" name="Text 13"/>
          <p:cNvSpPr txBox="1"/>
          <p:nvPr/>
        </p:nvSpPr>
        <p:spPr>
          <a:xfrm>
            <a:off x="6214872" y="202082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After the start time</a:t>
            </a:r>
            <a:endParaRPr lang="en-US" sz="1200" dirty="0"/>
          </a:p>
        </p:txBody>
      </p:sp>
      <p:sp>
        <p:nvSpPr>
          <p:cNvPr id="20" name="Text 14"/>
          <p:cNvSpPr txBox="1"/>
          <p:nvPr/>
        </p:nvSpPr>
        <p:spPr>
          <a:xfrm>
            <a:off x="6214872" y="2313432"/>
            <a:ext cx="2353056" cy="8869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Report as a no-show via Job Admin. Penalty + coaching.</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Handling by job status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Then, for every status: check the resolution table, fix the unreliability issue, and send comms.</a:t>
            </a:r>
            <a:endParaRPr lang="en-US" sz="1200" dirty="0"/>
          </a:p>
        </p:txBody>
      </p:sp>
      <p:sp>
        <p:nvSpPr>
          <p:cNvPr id="6" name="Shape 3"/>
          <p:cNvSpPr/>
          <p:nvPr/>
        </p:nvSpPr>
        <p:spPr>
          <a:xfrm>
            <a:off x="3291840" y="1325880"/>
            <a:ext cx="2560320" cy="384048"/>
          </a:xfrm>
          <a:prstGeom prst="roundRect">
            <a:avLst>
              <a:gd name="adj" fmla="val 19048"/>
            </a:avLst>
          </a:prstGeom>
          <a:solidFill>
            <a:srgbClr val="1D1D1F"/>
          </a:solidFill>
          <a:ln w="12700">
            <a:solidFill>
              <a:srgbClr val="1D1D1F"/>
            </a:solidFill>
            <a:prstDash val="solid"/>
          </a:ln>
        </p:spPr>
      </p:sp>
      <p:sp>
        <p:nvSpPr>
          <p:cNvPr id="7" name="Text 4"/>
          <p:cNvSpPr txBox="1"/>
          <p:nvPr/>
        </p:nvSpPr>
        <p:spPr>
          <a:xfrm>
            <a:off x="3291840" y="1325880"/>
            <a:ext cx="25603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CLEANER NO SHOW</a:t>
            </a:r>
            <a:endParaRPr lang="en-US" sz="1000" dirty="0"/>
          </a:p>
        </p:txBody>
      </p:sp>
      <p:sp>
        <p:nvSpPr>
          <p:cNvPr id="8" name="Shape 5"/>
          <p:cNvSpPr/>
          <p:nvPr/>
        </p:nvSpPr>
        <p:spPr>
          <a:xfrm>
            <a:off x="4572000" y="1709928"/>
            <a:ext cx="0" cy="182880"/>
          </a:xfrm>
          <a:prstGeom prst="line">
            <a:avLst/>
          </a:prstGeom>
          <a:noFill/>
          <a:ln w="12700">
            <a:solidFill>
              <a:srgbClr val="6E6E73"/>
            </a:solidFill>
            <a:prstDash val="solid"/>
          </a:ln>
        </p:spPr>
      </p:sp>
      <p:sp>
        <p:nvSpPr>
          <p:cNvPr id="9" name="Shape 6"/>
          <p:cNvSpPr/>
          <p:nvPr/>
        </p:nvSpPr>
        <p:spPr>
          <a:xfrm>
            <a:off x="1600200" y="1892808"/>
            <a:ext cx="5943600" cy="0"/>
          </a:xfrm>
          <a:prstGeom prst="line">
            <a:avLst/>
          </a:prstGeom>
          <a:noFill/>
          <a:ln w="12700">
            <a:solidFill>
              <a:srgbClr val="6E6E73"/>
            </a:solidFill>
            <a:prstDash val="solid"/>
          </a:ln>
        </p:spPr>
      </p:sp>
      <p:sp>
        <p:nvSpPr>
          <p:cNvPr id="10" name="Shape 7"/>
          <p:cNvSpPr/>
          <p:nvPr/>
        </p:nvSpPr>
        <p:spPr>
          <a:xfrm>
            <a:off x="1600200" y="1892808"/>
            <a:ext cx="0" cy="164592"/>
          </a:xfrm>
          <a:prstGeom prst="line">
            <a:avLst/>
          </a:prstGeom>
          <a:noFill/>
          <a:ln w="12700">
            <a:solidFill>
              <a:srgbClr val="6E6E73"/>
            </a:solidFill>
            <a:prstDash val="solid"/>
            <a:tailEnd type="triangle"/>
          </a:ln>
        </p:spPr>
      </p:sp>
      <p:sp>
        <p:nvSpPr>
          <p:cNvPr id="11" name="Shape 8"/>
          <p:cNvSpPr/>
          <p:nvPr/>
        </p:nvSpPr>
        <p:spPr>
          <a:xfrm>
            <a:off x="228600" y="2057400"/>
            <a:ext cx="2743200" cy="347472"/>
          </a:xfrm>
          <a:prstGeom prst="roundRect">
            <a:avLst>
              <a:gd name="adj" fmla="val 21053"/>
            </a:avLst>
          </a:prstGeom>
          <a:solidFill>
            <a:srgbClr val="0B7A6F"/>
          </a:solidFill>
          <a:ln w="12700">
            <a:solidFill>
              <a:srgbClr val="0B7A6F"/>
            </a:solidFill>
            <a:prstDash val="solid"/>
          </a:ln>
        </p:spPr>
      </p:sp>
      <p:sp>
        <p:nvSpPr>
          <p:cNvPr id="12" name="Text 9"/>
          <p:cNvSpPr txBox="1"/>
          <p:nvPr/>
        </p:nvSpPr>
        <p:spPr>
          <a:xfrm>
            <a:off x="228600" y="2057400"/>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SUBMITTED</a:t>
            </a:r>
            <a:endParaRPr lang="en-US" sz="1000" dirty="0"/>
          </a:p>
        </p:txBody>
      </p:sp>
      <p:sp>
        <p:nvSpPr>
          <p:cNvPr id="13" name="Shape 10"/>
          <p:cNvSpPr/>
          <p:nvPr/>
        </p:nvSpPr>
        <p:spPr>
          <a:xfrm>
            <a:off x="228600" y="2404872"/>
            <a:ext cx="2743200" cy="841248"/>
          </a:xfrm>
          <a:prstGeom prst="roundRect">
            <a:avLst>
              <a:gd name="adj" fmla="val 8696"/>
            </a:avLst>
          </a:prstGeom>
          <a:solidFill>
            <a:srgbClr val="E3F4F1"/>
          </a:solidFill>
          <a:ln w="9525">
            <a:solidFill>
              <a:srgbClr val="0B7A6F"/>
            </a:solidFill>
            <a:prstDash val="solid"/>
          </a:ln>
        </p:spPr>
      </p:sp>
      <p:sp>
        <p:nvSpPr>
          <p:cNvPr id="14" name="Text 11"/>
          <p:cNvSpPr txBox="1"/>
          <p:nvPr/>
        </p:nvSpPr>
        <p:spPr>
          <a:xfrm>
            <a:off x="320040" y="2404872"/>
            <a:ext cx="2560320" cy="841248"/>
          </a:xfrm>
          <a:prstGeom prst="rect">
            <a:avLst/>
          </a:prstGeom>
          <a:noFill/>
          <a:ln/>
        </p:spPr>
        <p:txBody>
          <a:bodyPr wrap="square" lIns="0" tIns="0" rIns="0" bIns="0" rtlCol="0" anchor="ctr"/>
          <a:lstStyle/>
          <a:p>
            <a:pPr algn="ctr" indent="0" marL="0">
              <a:buNone/>
            </a:pPr>
            <a:r>
              <a:rPr lang="en-US" sz="950" dirty="0">
                <a:solidFill>
                  <a:srgbClr val="1D1D1F"/>
                </a:solidFill>
                <a:latin typeface="SF Pro Text" pitchFamily="34" charset="0"/>
                <a:ea typeface="SF Pro Text" pitchFamily="34" charset="-122"/>
                <a:cs typeface="SF Pro Text" pitchFamily="34" charset="-120"/>
              </a:rPr>
              <a:t>Advise that we're matching them with a new cleaner.</a:t>
            </a:r>
            <a:endParaRPr lang="en-US" sz="950" dirty="0"/>
          </a:p>
        </p:txBody>
      </p:sp>
      <p:sp>
        <p:nvSpPr>
          <p:cNvPr id="15" name="Shape 12"/>
          <p:cNvSpPr/>
          <p:nvPr/>
        </p:nvSpPr>
        <p:spPr>
          <a:xfrm>
            <a:off x="1600200" y="3246120"/>
            <a:ext cx="0" cy="155448"/>
          </a:xfrm>
          <a:prstGeom prst="line">
            <a:avLst/>
          </a:prstGeom>
          <a:noFill/>
          <a:ln w="12700">
            <a:solidFill>
              <a:srgbClr val="6E6E73"/>
            </a:solidFill>
            <a:prstDash val="solid"/>
          </a:ln>
        </p:spPr>
      </p:sp>
      <p:sp>
        <p:nvSpPr>
          <p:cNvPr id="16" name="Shape 13"/>
          <p:cNvSpPr/>
          <p:nvPr/>
        </p:nvSpPr>
        <p:spPr>
          <a:xfrm>
            <a:off x="4572000" y="1892808"/>
            <a:ext cx="0" cy="164592"/>
          </a:xfrm>
          <a:prstGeom prst="line">
            <a:avLst/>
          </a:prstGeom>
          <a:noFill/>
          <a:ln w="12700">
            <a:solidFill>
              <a:srgbClr val="6E6E73"/>
            </a:solidFill>
            <a:prstDash val="solid"/>
            <a:tailEnd type="triangle"/>
          </a:ln>
        </p:spPr>
      </p:sp>
      <p:sp>
        <p:nvSpPr>
          <p:cNvPr id="17" name="Shape 14"/>
          <p:cNvSpPr/>
          <p:nvPr/>
        </p:nvSpPr>
        <p:spPr>
          <a:xfrm>
            <a:off x="3200400" y="2057400"/>
            <a:ext cx="2743200" cy="347472"/>
          </a:xfrm>
          <a:prstGeom prst="roundRect">
            <a:avLst>
              <a:gd name="adj" fmla="val 21053"/>
            </a:avLst>
          </a:prstGeom>
          <a:solidFill>
            <a:srgbClr val="0B7A6F"/>
          </a:solidFill>
          <a:ln w="12700">
            <a:solidFill>
              <a:srgbClr val="0B7A6F"/>
            </a:solidFill>
            <a:prstDash val="solid"/>
          </a:ln>
        </p:spPr>
      </p:sp>
      <p:sp>
        <p:nvSpPr>
          <p:cNvPr id="18" name="Text 15"/>
          <p:cNvSpPr txBox="1"/>
          <p:nvPr/>
        </p:nvSpPr>
        <p:spPr>
          <a:xfrm>
            <a:off x="3200400" y="2057400"/>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CLAIMED / PENDING INVOICE</a:t>
            </a:r>
            <a:endParaRPr lang="en-US" sz="1000" dirty="0"/>
          </a:p>
        </p:txBody>
      </p:sp>
      <p:sp>
        <p:nvSpPr>
          <p:cNvPr id="19" name="Shape 16"/>
          <p:cNvSpPr/>
          <p:nvPr/>
        </p:nvSpPr>
        <p:spPr>
          <a:xfrm>
            <a:off x="3200400" y="2404872"/>
            <a:ext cx="2743200" cy="841248"/>
          </a:xfrm>
          <a:prstGeom prst="roundRect">
            <a:avLst>
              <a:gd name="adj" fmla="val 8696"/>
            </a:avLst>
          </a:prstGeom>
          <a:solidFill>
            <a:srgbClr val="E3F4F1"/>
          </a:solidFill>
          <a:ln w="9525">
            <a:solidFill>
              <a:srgbClr val="0B7A6F"/>
            </a:solidFill>
            <a:prstDash val="solid"/>
          </a:ln>
        </p:spPr>
      </p:sp>
      <p:sp>
        <p:nvSpPr>
          <p:cNvPr id="20" name="Text 17"/>
          <p:cNvSpPr txBox="1"/>
          <p:nvPr/>
        </p:nvSpPr>
        <p:spPr>
          <a:xfrm>
            <a:off x="3291840" y="2404872"/>
            <a:ext cx="2560320" cy="841248"/>
          </a:xfrm>
          <a:prstGeom prst="rect">
            <a:avLst/>
          </a:prstGeom>
          <a:noFill/>
          <a:ln/>
        </p:spPr>
        <p:txBody>
          <a:bodyPr wrap="square" lIns="0" tIns="0" rIns="0" bIns="0" rtlCol="0" anchor="ctr"/>
          <a:lstStyle/>
          <a:p>
            <a:pPr algn="ctr" indent="0" marL="0">
              <a:buNone/>
            </a:pPr>
            <a:r>
              <a:rPr lang="en-US" sz="850" dirty="0">
                <a:solidFill>
                  <a:srgbClr val="1D1D1F"/>
                </a:solidFill>
                <a:latin typeface="SF Pro Text" pitchFamily="34" charset="0"/>
                <a:ea typeface="SF Pro Text" pitchFamily="34" charset="-122"/>
                <a:cs typeface="SF Pro Text" pitchFamily="34" charset="-120"/>
              </a:rPr>
              <a:t>Penalize CP? Report the CP as a no-show: Job Admin Page › No Show.</a:t>
            </a:r>
            <a:endParaRPr lang="en-US" sz="850" dirty="0"/>
          </a:p>
          <a:p>
            <a:pPr algn="ctr" indent="0" marL="0">
              <a:buNone/>
            </a:pPr>
            <a:r>
              <a:rPr lang="en-US" sz="850" dirty="0">
                <a:solidFill>
                  <a:srgbClr val="1D1D1F"/>
                </a:solidFill>
                <a:latin typeface="SF Pro Text" pitchFamily="34" charset="0"/>
                <a:ea typeface="SF Pro Text" pitchFamily="34" charset="-122"/>
                <a:cs typeface="SF Pro Text" pitchFamily="34" charset="-120"/>
              </a:rPr>
              <a:t>No penalty? Cancel the job from C-CRM with the CP No Show/Reschedule code.</a:t>
            </a:r>
            <a:endParaRPr lang="en-US" sz="850" dirty="0"/>
          </a:p>
        </p:txBody>
      </p:sp>
      <p:sp>
        <p:nvSpPr>
          <p:cNvPr id="21" name="Shape 18"/>
          <p:cNvSpPr/>
          <p:nvPr/>
        </p:nvSpPr>
        <p:spPr>
          <a:xfrm>
            <a:off x="4572000" y="3246120"/>
            <a:ext cx="0" cy="155448"/>
          </a:xfrm>
          <a:prstGeom prst="line">
            <a:avLst/>
          </a:prstGeom>
          <a:noFill/>
          <a:ln w="12700">
            <a:solidFill>
              <a:srgbClr val="6E6E73"/>
            </a:solidFill>
            <a:prstDash val="solid"/>
          </a:ln>
        </p:spPr>
      </p:sp>
      <p:sp>
        <p:nvSpPr>
          <p:cNvPr id="22" name="Shape 19"/>
          <p:cNvSpPr/>
          <p:nvPr/>
        </p:nvSpPr>
        <p:spPr>
          <a:xfrm>
            <a:off x="7543800" y="1892808"/>
            <a:ext cx="0" cy="164592"/>
          </a:xfrm>
          <a:prstGeom prst="line">
            <a:avLst/>
          </a:prstGeom>
          <a:noFill/>
          <a:ln w="12700">
            <a:solidFill>
              <a:srgbClr val="6E6E73"/>
            </a:solidFill>
            <a:prstDash val="solid"/>
            <a:tailEnd type="triangle"/>
          </a:ln>
        </p:spPr>
      </p:sp>
      <p:sp>
        <p:nvSpPr>
          <p:cNvPr id="23" name="Shape 20"/>
          <p:cNvSpPr/>
          <p:nvPr/>
        </p:nvSpPr>
        <p:spPr>
          <a:xfrm>
            <a:off x="6172200" y="2057400"/>
            <a:ext cx="2743200" cy="347472"/>
          </a:xfrm>
          <a:prstGeom prst="roundRect">
            <a:avLst>
              <a:gd name="adj" fmla="val 21053"/>
            </a:avLst>
          </a:prstGeom>
          <a:solidFill>
            <a:srgbClr val="0B7A6F"/>
          </a:solidFill>
          <a:ln w="12700">
            <a:solidFill>
              <a:srgbClr val="0B7A6F"/>
            </a:solidFill>
            <a:prstDash val="solid"/>
          </a:ln>
        </p:spPr>
      </p:sp>
      <p:sp>
        <p:nvSpPr>
          <p:cNvPr id="24" name="Text 21"/>
          <p:cNvSpPr txBox="1"/>
          <p:nvPr/>
        </p:nvSpPr>
        <p:spPr>
          <a:xfrm>
            <a:off x="6172200" y="2057400"/>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CANCELLED</a:t>
            </a:r>
            <a:endParaRPr lang="en-US" sz="1000" dirty="0"/>
          </a:p>
        </p:txBody>
      </p:sp>
      <p:sp>
        <p:nvSpPr>
          <p:cNvPr id="25" name="Shape 22"/>
          <p:cNvSpPr/>
          <p:nvPr/>
        </p:nvSpPr>
        <p:spPr>
          <a:xfrm>
            <a:off x="6172200" y="2404872"/>
            <a:ext cx="2743200" cy="841248"/>
          </a:xfrm>
          <a:prstGeom prst="roundRect">
            <a:avLst>
              <a:gd name="adj" fmla="val 8696"/>
            </a:avLst>
          </a:prstGeom>
          <a:solidFill>
            <a:srgbClr val="E3F4F1"/>
          </a:solidFill>
          <a:ln w="9525">
            <a:solidFill>
              <a:srgbClr val="0B7A6F"/>
            </a:solidFill>
            <a:prstDash val="solid"/>
          </a:ln>
        </p:spPr>
      </p:sp>
      <p:sp>
        <p:nvSpPr>
          <p:cNvPr id="26" name="Text 23"/>
          <p:cNvSpPr txBox="1"/>
          <p:nvPr/>
        </p:nvSpPr>
        <p:spPr>
          <a:xfrm>
            <a:off x="6263640" y="2404872"/>
            <a:ext cx="2560320" cy="841248"/>
          </a:xfrm>
          <a:prstGeom prst="rect">
            <a:avLst/>
          </a:prstGeom>
          <a:noFill/>
          <a:ln/>
        </p:spPr>
        <p:txBody>
          <a:bodyPr wrap="square" lIns="0" tIns="0" rIns="0" bIns="0" rtlCol="0" anchor="ctr"/>
          <a:lstStyle/>
          <a:p>
            <a:pPr algn="ctr" indent="0" marL="0">
              <a:buNone/>
            </a:pPr>
            <a:r>
              <a:rPr lang="en-US" sz="950" dirty="0">
                <a:solidFill>
                  <a:srgbClr val="1D1D1F"/>
                </a:solidFill>
                <a:latin typeface="SF Pro Text" pitchFamily="34" charset="0"/>
                <a:ea typeface="SF Pro Text" pitchFamily="34" charset="-122"/>
                <a:cs typeface="SF Pro Text" pitchFamily="34" charset="-120"/>
              </a:rPr>
              <a:t>Offer Priority Booking.</a:t>
            </a:r>
            <a:endParaRPr lang="en-US" sz="950" dirty="0"/>
          </a:p>
        </p:txBody>
      </p:sp>
      <p:sp>
        <p:nvSpPr>
          <p:cNvPr id="27" name="Shape 24"/>
          <p:cNvSpPr/>
          <p:nvPr/>
        </p:nvSpPr>
        <p:spPr>
          <a:xfrm>
            <a:off x="7543800" y="3246120"/>
            <a:ext cx="0" cy="155448"/>
          </a:xfrm>
          <a:prstGeom prst="line">
            <a:avLst/>
          </a:prstGeom>
          <a:noFill/>
          <a:ln w="12700">
            <a:solidFill>
              <a:srgbClr val="6E6E73"/>
            </a:solidFill>
            <a:prstDash val="solid"/>
          </a:ln>
        </p:spPr>
      </p:sp>
      <p:sp>
        <p:nvSpPr>
          <p:cNvPr id="28" name="Shape 25"/>
          <p:cNvSpPr/>
          <p:nvPr/>
        </p:nvSpPr>
        <p:spPr>
          <a:xfrm>
            <a:off x="1600200" y="3401568"/>
            <a:ext cx="5943600" cy="0"/>
          </a:xfrm>
          <a:prstGeom prst="line">
            <a:avLst/>
          </a:prstGeom>
          <a:noFill/>
          <a:ln w="12700">
            <a:solidFill>
              <a:srgbClr val="6E6E73"/>
            </a:solidFill>
            <a:prstDash val="solid"/>
          </a:ln>
        </p:spPr>
      </p:sp>
      <p:sp>
        <p:nvSpPr>
          <p:cNvPr id="29" name="Shape 26"/>
          <p:cNvSpPr/>
          <p:nvPr/>
        </p:nvSpPr>
        <p:spPr>
          <a:xfrm>
            <a:off x="4572000" y="3401568"/>
            <a:ext cx="0" cy="146304"/>
          </a:xfrm>
          <a:prstGeom prst="line">
            <a:avLst/>
          </a:prstGeom>
          <a:noFill/>
          <a:ln w="12700">
            <a:solidFill>
              <a:srgbClr val="6E6E73"/>
            </a:solidFill>
            <a:prstDash val="solid"/>
            <a:tailEnd type="triangle"/>
          </a:ln>
        </p:spPr>
      </p:sp>
      <p:sp>
        <p:nvSpPr>
          <p:cNvPr id="30" name="Shape 27"/>
          <p:cNvSpPr/>
          <p:nvPr/>
        </p:nvSpPr>
        <p:spPr>
          <a:xfrm>
            <a:off x="1463040" y="3547872"/>
            <a:ext cx="6217920" cy="1051560"/>
          </a:xfrm>
          <a:prstGeom prst="roundRect">
            <a:avLst>
              <a:gd name="adj" fmla="val 6957"/>
            </a:avLst>
          </a:prstGeom>
          <a:solidFill>
            <a:srgbClr val="FFF3D6"/>
          </a:solidFill>
          <a:ln w="9525">
            <a:solidFill>
              <a:srgbClr val="9A6410"/>
            </a:solidFill>
            <a:prstDash val="solid"/>
          </a:ln>
        </p:spPr>
      </p:sp>
      <p:sp>
        <p:nvSpPr>
          <p:cNvPr id="31" name="Text 28"/>
          <p:cNvSpPr txBox="1"/>
          <p:nvPr/>
        </p:nvSpPr>
        <p:spPr>
          <a:xfrm>
            <a:off x="1645920" y="3566160"/>
            <a:ext cx="5897880" cy="100584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See the quick reference for credits / free months</a:t>
            </a:r>
            <a:endParaRPr lang="en-US" sz="950" dirty="0"/>
          </a:p>
          <a:p>
            <a:pPr marL="342900" indent="-3429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Address the unreliability issue: ban the C/CP pairing, penalize as necessary, offer to book a Priority Booking</a:t>
            </a:r>
            <a:endParaRPr lang="en-US" sz="950" dirty="0"/>
          </a:p>
          <a:p>
            <a:pPr marL="342900" indent="-3429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Send comms to C and CP</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Resolution for CP issues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Credits and free months. The same table applies to cleaner cancellations.</a:t>
            </a:r>
            <a:endParaRPr lang="en-US" sz="12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8321040" cy="914400"/>
        </p:xfrm>
        <a:graphic>
          <a:graphicData uri="http://schemas.openxmlformats.org/drawingml/2006/table">
            <a:tbl>
              <a:tblPr/>
              <a:tblGrid>
                <a:gridCol w="1828800"/>
                <a:gridCol w="2377440"/>
                <a:gridCol w="4114800"/>
              </a:tblGrid>
              <a:tr h="384048">
                <a:tc>
                  <a:txBody>
                    <a:bodyPr/>
                    <a:lstStyle/>
                    <a:p>
                      <a:pPr indent="0" marL="0">
                        <a:buNone/>
                      </a:pPr>
                      <a:r>
                        <a:rPr lang="en-US" sz="850" b="1" dirty="0">
                          <a:solidFill>
                            <a:srgbClr val="0B7A6F"/>
                          </a:solidFill>
                          <a:latin typeface="SF Pro Display" pitchFamily="34" charset="0"/>
                          <a:ea typeface="SF Pro Display" pitchFamily="34" charset="-122"/>
                          <a:cs typeface="SF Pro Display" pitchFamily="34" charset="-120"/>
                        </a:rPr>
                        <a:t>Situation</a:t>
                      </a:r>
                      <a:endParaRPr lang="en-US" sz="8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50" b="1" dirty="0">
                          <a:solidFill>
                            <a:srgbClr val="0B7A6F"/>
                          </a:solidFill>
                          <a:latin typeface="SF Pro Display" pitchFamily="34" charset="0"/>
                          <a:ea typeface="SF Pro Display" pitchFamily="34" charset="-122"/>
                          <a:cs typeface="SF Pro Display" pitchFamily="34" charset="-120"/>
                        </a:rPr>
                        <a:t>Credits</a:t>
                      </a:r>
                      <a:endParaRPr lang="en-US" sz="8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850" b="1" dirty="0">
                          <a:solidFill>
                            <a:srgbClr val="0B7A6F"/>
                          </a:solidFill>
                          <a:latin typeface="SF Pro Display" pitchFamily="34" charset="0"/>
                          <a:ea typeface="SF Pro Display" pitchFamily="34" charset="-122"/>
                          <a:cs typeface="SF Pro Display" pitchFamily="34" charset="-120"/>
                        </a:rPr>
                        <a:t>Free month(s)</a:t>
                      </a:r>
                      <a:endParaRPr lang="en-US" sz="8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84048">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Non-FC member</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$10–20 (encourage booking)</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FCF, no completed job</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None (free/discounted cleaning already available)</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Unused MFs: free months for those, max 3. Otherwise 1 if next MF is within 2 weeks</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FCF, with completed job</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$10–20 (encourage booking)</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Unused MFs: free months for those, max 3. Otherwise 1 if next MF is within 2 weeks</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Unused DHJ</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$10–20 (encourage booking)</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None: FC hasn't started yet</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DHJ, FC started</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$10–20 (encourage booking)</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Unused MFs: free months for those, max 3. Otherwise 1 if next MF is within 1 week</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84048">
                <a:tc>
                  <a:txBody>
                    <a:bodyPr/>
                    <a:lstStyle/>
                    <a:p>
                      <a:pPr indent="0" marL="0">
                        <a:buNone/>
                      </a:pPr>
                      <a:r>
                        <a:rPr lang="en-US" sz="850" b="1" dirty="0">
                          <a:solidFill>
                            <a:srgbClr val="1D1D1F"/>
                          </a:solidFill>
                          <a:latin typeface="SF Pro Text" pitchFamily="34" charset="0"/>
                          <a:ea typeface="SF Pro Text" pitchFamily="34" charset="-122"/>
                          <a:cs typeface="SF Pro Text" pitchFamily="34" charset="-120"/>
                        </a:rPr>
                        <a:t>Late (all cases above)</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$10–25, for all</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850" dirty="0">
                          <a:solidFill>
                            <a:srgbClr val="6E6E73"/>
                          </a:solidFill>
                          <a:latin typeface="SF Pro Text" pitchFamily="34" charset="0"/>
                          <a:ea typeface="SF Pro Text" pitchFamily="34" charset="-122"/>
                          <a:cs typeface="SF Pro Text" pitchFamily="34" charset="-120"/>
                        </a:rPr>
                        <a:t>Unused MFs: never more than asked for, max 3. Otherwise FCF: 1 if next MF within 2 weeks; DHJ: within 1 week</a:t>
                      </a:r>
                      <a:endParaRPr lang="en-US" sz="8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406908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4178808"/>
            <a:ext cx="164592" cy="164592"/>
          </a:xfrm>
          <a:prstGeom prst="rect">
            <a:avLst/>
          </a:prstGeom>
        </p:spPr>
      </p:pic>
      <p:sp>
        <p:nvSpPr>
          <p:cNvPr id="9" name="Text 4"/>
          <p:cNvSpPr txBox="1"/>
          <p:nvPr/>
        </p:nvSpPr>
        <p:spPr>
          <a:xfrm>
            <a:off x="822960" y="41696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Free months for unused MFs:  </a:t>
            </a:r>
            <a:pPr indent="0" marL="0">
              <a:buNone/>
            </a:pPr>
            <a:r>
              <a:rPr lang="en-US" sz="1000" dirty="0">
                <a:solidFill>
                  <a:srgbClr val="1D1D1F"/>
                </a:solidFill>
                <a:latin typeface="SF Pro Text" pitchFamily="34" charset="0"/>
                <a:ea typeface="SF Pro Text" pitchFamily="34" charset="-122"/>
                <a:cs typeface="SF Pro Text" pitchFamily="34" charset="-120"/>
              </a:rPr>
              <a:t>expected only when C names them as a pain point. Otherwise optional.</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Changing CP status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Reporting the no-show (Job Admin › No Show) is what triggers the penalty.</a:t>
            </a:r>
            <a:endParaRPr lang="en-US" sz="1200" dirty="0"/>
          </a:p>
        </p:txBody>
      </p:sp>
      <p:sp>
        <p:nvSpPr>
          <p:cNvPr id="6" name="Shape 3"/>
          <p:cNvSpPr/>
          <p:nvPr/>
        </p:nvSpPr>
        <p:spPr>
          <a:xfrm>
            <a:off x="411480" y="1280160"/>
            <a:ext cx="4091940" cy="1463040"/>
          </a:xfrm>
          <a:prstGeom prst="roundRect">
            <a:avLst>
              <a:gd name="adj" fmla="val 5000"/>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System penalized the CP</a:t>
            </a:r>
            <a:endParaRPr lang="en-US" sz="1200" dirty="0"/>
          </a:p>
        </p:txBody>
      </p:sp>
      <p:sp>
        <p:nvSpPr>
          <p:cNvPr id="10" name="Text 6"/>
          <p:cNvSpPr txBox="1"/>
          <p:nvPr/>
        </p:nvSpPr>
        <p:spPr>
          <a:xfrm>
            <a:off x="576072" y="2176272"/>
            <a:ext cx="37627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Leave it. Coach the CP, explain the penalty and how to appeal.</a:t>
            </a:r>
            <a:endParaRPr lang="en-US" sz="950" dirty="0"/>
          </a:p>
        </p:txBody>
      </p:sp>
      <p:sp>
        <p:nvSpPr>
          <p:cNvPr id="11" name="Shape 7"/>
          <p:cNvSpPr/>
          <p:nvPr/>
        </p:nvSpPr>
        <p:spPr>
          <a:xfrm>
            <a:off x="4640580" y="1280160"/>
            <a:ext cx="4091940" cy="1463040"/>
          </a:xfrm>
          <a:prstGeom prst="roundRect">
            <a:avLst>
              <a:gd name="adj" fmla="val 5000"/>
            </a:avLst>
          </a:prstGeom>
          <a:solidFill>
            <a:srgbClr val="FFFFFF"/>
          </a:solidFill>
          <a:ln w="9525">
            <a:solidFill>
              <a:srgbClr val="DCE1E7"/>
            </a:solidFill>
            <a:prstDash val="solid"/>
          </a:ln>
        </p:spPr>
      </p:sp>
      <p:sp>
        <p:nvSpPr>
          <p:cNvPr id="12" name="Shape 8"/>
          <p:cNvSpPr/>
          <p:nvPr/>
        </p:nvSpPr>
        <p:spPr>
          <a:xfrm>
            <a:off x="480517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84176" y="1523756"/>
            <a:ext cx="171176" cy="171176"/>
          </a:xfrm>
          <a:prstGeom prst="rect">
            <a:avLst/>
          </a:prstGeom>
        </p:spPr>
      </p:pic>
      <p:sp>
        <p:nvSpPr>
          <p:cNvPr id="14" name="Text 9"/>
          <p:cNvSpPr txBox="1"/>
          <p:nvPr/>
        </p:nvSpPr>
        <p:spPr>
          <a:xfrm>
            <a:off x="48051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System didn't</a:t>
            </a:r>
            <a:endParaRPr lang="en-US" sz="1200" dirty="0"/>
          </a:p>
        </p:txBody>
      </p:sp>
      <p:sp>
        <p:nvSpPr>
          <p:cNvPr id="15" name="Text 10"/>
          <p:cNvSpPr txBox="1"/>
          <p:nvPr/>
        </p:nvSpPr>
        <p:spPr>
          <a:xfrm>
            <a:off x="4805172" y="2176272"/>
            <a:ext cx="3762756" cy="4754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Lean towards coaching. norequests only if they already have a couple of no-shows or cancellations.</a:t>
            </a:r>
            <a:endParaRPr lang="en-US" sz="950" dirty="0"/>
          </a:p>
        </p:txBody>
      </p:sp>
      <p:sp>
        <p:nvSpPr>
          <p:cNvPr id="16" name="Shape 11"/>
          <p:cNvSpPr/>
          <p:nvPr/>
        </p:nvSpPr>
        <p:spPr>
          <a:xfrm>
            <a:off x="411480" y="2880360"/>
            <a:ext cx="8321040" cy="566928"/>
          </a:xfrm>
          <a:prstGeom prst="roundRect">
            <a:avLst>
              <a:gd name="adj" fmla="val 12903"/>
            </a:avLst>
          </a:prstGeom>
          <a:solidFill>
            <a:srgbClr val="FFFFFF"/>
          </a:solidFill>
          <a:ln w="9525">
            <a:solidFill>
              <a:srgbClr val="DCE1E7"/>
            </a:solidFill>
            <a:prstDash val="solid"/>
          </a:ln>
        </p:spPr>
      </p:sp>
      <p:sp>
        <p:nvSpPr>
          <p:cNvPr id="17" name="Text 12"/>
          <p:cNvSpPr txBox="1"/>
          <p:nvPr/>
        </p:nvSpPr>
        <p:spPr>
          <a:xfrm>
            <a:off x="594360" y="2880360"/>
            <a:ext cx="8046720" cy="566928"/>
          </a:xfrm>
          <a:prstGeom prst="rect">
            <a:avLst/>
          </a:prstGeom>
          <a:noFill/>
          <a:ln/>
        </p:spPr>
        <p:txBody>
          <a:bodyPr wrap="square" lIns="0" tIns="0" rIns="0" bIns="0" rtlCol="0" anchor="ct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CP-facing reason  </a:t>
            </a:r>
            <a:pPr indent="0" marL="0">
              <a:buNone/>
            </a:pPr>
            <a:r>
              <a:rPr lang="en-US" sz="950" dirty="0">
                <a:solidFill>
                  <a:srgbClr val="1D1D1F"/>
                </a:solidFill>
                <a:latin typeface="SF Pro Text" pitchFamily="34" charset="0"/>
                <a:ea typeface="SF Pro Text" pitchFamily="34" charset="-122"/>
                <a:cs typeface="SF Pro Text" pitchFamily="34" charset="-120"/>
              </a:rPr>
              <a:t>cpq_noshow Your customer &lt;C'S NAME&gt; reported you didn't show up to their &lt;DAY, DATE&gt; job. Submit reactivation appeal through dashboard.</a:t>
            </a:r>
            <a:endParaRPr lang="en-US" sz="950" dirty="0"/>
          </a:p>
        </p:txBody>
      </p:sp>
      <p:sp>
        <p:nvSpPr>
          <p:cNvPr id="18" name="Shape 13"/>
          <p:cNvSpPr/>
          <p:nvPr/>
        </p:nvSpPr>
        <p:spPr>
          <a:xfrm>
            <a:off x="411480" y="3611880"/>
            <a:ext cx="8321040" cy="384048"/>
          </a:xfrm>
          <a:prstGeom prst="roundRect">
            <a:avLst>
              <a:gd name="adj" fmla="val 19048"/>
            </a:avLst>
          </a:prstGeom>
          <a:solidFill>
            <a:srgbClr val="FFF3D6"/>
          </a:solidFill>
          <a:ln w="9525">
            <a:solidFill>
              <a:srgbClr val="FFF3D6"/>
            </a:solidFill>
            <a:prstDash val="solid"/>
          </a:ln>
        </p:spPr>
      </p:sp>
      <p:pic>
        <p:nvPicPr>
          <p:cNvPr id="19" name="Image 2" descr="preencoded.png">    </p:cNvPr>
          <p:cNvPicPr>
            <a:picLocks noChangeAspect="1"/>
          </p:cNvPicPr>
          <p:nvPr/>
        </p:nvPicPr>
        <p:blipFill>
          <a:blip r:embed="rId3"/>
          <a:stretch>
            <a:fillRect/>
          </a:stretch>
        </p:blipFill>
        <p:spPr>
          <a:xfrm>
            <a:off x="566928" y="3721608"/>
            <a:ext cx="164592" cy="164592"/>
          </a:xfrm>
          <a:prstGeom prst="rect">
            <a:avLst/>
          </a:prstGeom>
        </p:spPr>
      </p:pic>
      <p:sp>
        <p:nvSpPr>
          <p:cNvPr id="20" name="Text 14"/>
          <p:cNvSpPr txBox="1"/>
          <p:nvPr/>
        </p:nvSpPr>
        <p:spPr>
          <a:xfrm>
            <a:off x="822960" y="37124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Never:  </a:t>
            </a:r>
            <a:pPr indent="0" marL="0">
              <a:buNone/>
            </a:pPr>
            <a:r>
              <a:rPr lang="en-US" sz="1000" dirty="0">
                <a:solidFill>
                  <a:srgbClr val="1D1D1F"/>
                </a:solidFill>
                <a:latin typeface="SF Pro Text" pitchFamily="34" charset="0"/>
                <a:ea typeface="SF Pro Text" pitchFamily="34" charset="-122"/>
                <a:cs typeface="SF Pro Text" pitchFamily="34" charset="-120"/>
              </a:rPr>
              <a:t>C-side agents never suspend or add DNR for a no-show.</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 says the CP didn't show. Messages show the CP asked to move it to tomorrow, 2 hours before the start. Report a no-show?</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Reschedule intent before the start time: cancel via C-CRM with the CP No Show/Reschedule code. No penalty, coach the CP.</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CP never came, but the job is already Invoiced. What now?</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You can't report a no-show here. Follow the False Invoice process.</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job is Claimed and you're sure the CP didn't show. First step?</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Job Admin Page › No Show. Then follow the status it resolves to: Submitted or Cancelled.</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system didn't penalize the CP. It's their first no-show. Set norequests?</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Lean towards coaching. norequests only if they already have a couple of no-shows or cancellations. Never suspend or DNR.</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52</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DIDN'T SHOW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Be certain first</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Proof, messages or a review. Not just an assumption.</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Reschedule intent matters</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Before the start: cancel via C-CRM, no penalty. After: report the no-show.</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Status decides the steps</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Submitted, Claimed/Pending Invoice or Cancelled. Credits per the table.</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06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Cleaner Cancellation</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CP cancelled a claimed job, from their dashboard or by texting the customer.</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the system treats a cancellation</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happens to the job</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handling process</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the customer can reschedule</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30.png">    </p:cNvPr>
          <p:cNvPicPr>
            <a:picLocks noChangeAspect="1"/>
          </p:cNvPicPr>
          <p:nvPr/>
        </p:nvPicPr>
        <p:blipFill>
          <a:blip r:embed="rId5"/>
          <a:stretch>
            <a:fillRect/>
          </a:stretch>
        </p:blipFill>
        <p:spPr>
          <a:xfrm>
            <a:off x="5577187" y="1517904"/>
            <a:ext cx="2854234"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Not every cancellation counts the same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How the CP cancelled decides whether their Keep Rate is affected.</a:t>
            </a:r>
            <a:endParaRPr lang="en-US" sz="1200" dirty="0"/>
          </a:p>
        </p:txBody>
      </p:sp>
      <p:sp>
        <p:nvSpPr>
          <p:cNvPr id="6" name="Shape 3"/>
          <p:cNvSpPr/>
          <p:nvPr/>
        </p:nvSpPr>
        <p:spPr>
          <a:xfrm>
            <a:off x="411480" y="1280160"/>
            <a:ext cx="26822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76072" y="144475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9" name="Text 5"/>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CP Dashboard</a:t>
            </a:r>
            <a:endParaRPr lang="en-US" sz="1200" dirty="0"/>
          </a:p>
        </p:txBody>
      </p:sp>
      <p:sp>
        <p:nvSpPr>
          <p:cNvPr id="10" name="Text 6"/>
          <p:cNvSpPr txBox="1"/>
          <p:nvPr/>
        </p:nvSpPr>
        <p:spPr>
          <a:xfrm>
            <a:off x="576072" y="217627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Counts toward Keep Rate, within 7 days (1st match) or 2 days (repeat match).</a:t>
            </a:r>
            <a:endParaRPr lang="en-US" sz="950" dirty="0"/>
          </a:p>
        </p:txBody>
      </p:sp>
      <p:sp>
        <p:nvSpPr>
          <p:cNvPr id="11" name="Shape 7"/>
          <p:cNvSpPr/>
          <p:nvPr/>
        </p:nvSpPr>
        <p:spPr>
          <a:xfrm>
            <a:off x="3230880" y="1280160"/>
            <a:ext cx="2682240" cy="1691640"/>
          </a:xfrm>
          <a:prstGeom prst="roundRect">
            <a:avLst>
              <a:gd name="adj" fmla="val 4324"/>
            </a:avLst>
          </a:prstGeom>
          <a:solidFill>
            <a:srgbClr val="FFFFFF"/>
          </a:solidFill>
          <a:ln w="9525">
            <a:solidFill>
              <a:srgbClr val="DCE1E7"/>
            </a:solidFill>
            <a:prstDash val="solid"/>
          </a:ln>
        </p:spPr>
      </p:sp>
      <p:sp>
        <p:nvSpPr>
          <p:cNvPr id="12" name="Shape 8"/>
          <p:cNvSpPr/>
          <p:nvPr/>
        </p:nvSpPr>
        <p:spPr>
          <a:xfrm>
            <a:off x="3395472" y="144475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4" name="Text 9"/>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CP App Report Issue</a:t>
            </a:r>
            <a:endParaRPr lang="en-US" sz="1200" dirty="0"/>
          </a:p>
        </p:txBody>
      </p:sp>
      <p:sp>
        <p:nvSpPr>
          <p:cNvPr id="15" name="Text 10"/>
          <p:cNvSpPr txBox="1"/>
          <p:nvPr/>
        </p:nvSpPr>
        <p:spPr>
          <a:xfrm>
            <a:off x="3395472" y="217627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Emergency, safety concern or "client wants to cancel": no Keep Rate impact.</a:t>
            </a:r>
            <a:endParaRPr lang="en-US" sz="950" dirty="0"/>
          </a:p>
        </p:txBody>
      </p:sp>
      <p:sp>
        <p:nvSpPr>
          <p:cNvPr id="16" name="Shape 11"/>
          <p:cNvSpPr/>
          <p:nvPr/>
        </p:nvSpPr>
        <p:spPr>
          <a:xfrm>
            <a:off x="6050280" y="1280160"/>
            <a:ext cx="2682240" cy="1691640"/>
          </a:xfrm>
          <a:prstGeom prst="roundRect">
            <a:avLst>
              <a:gd name="adj" fmla="val 4324"/>
            </a:avLst>
          </a:prstGeom>
          <a:solidFill>
            <a:srgbClr val="FFFFFF"/>
          </a:solidFill>
          <a:ln w="9525">
            <a:solidFill>
              <a:srgbClr val="DCE1E7"/>
            </a:solidFill>
            <a:prstDash val="solid"/>
          </a:ln>
        </p:spPr>
      </p:sp>
      <p:sp>
        <p:nvSpPr>
          <p:cNvPr id="17" name="Shape 12"/>
          <p:cNvSpPr/>
          <p:nvPr/>
        </p:nvSpPr>
        <p:spPr>
          <a:xfrm>
            <a:off x="6214872" y="144475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9" name="Text 13"/>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Cancelled via CRM</a:t>
            </a:r>
            <a:endParaRPr lang="en-US" sz="1200" dirty="0"/>
          </a:p>
        </p:txBody>
      </p:sp>
      <p:sp>
        <p:nvSpPr>
          <p:cNvPr id="20" name="Text 14"/>
          <p:cNvSpPr txBox="1"/>
          <p:nvPr/>
        </p:nvSpPr>
        <p:spPr>
          <a:xfrm>
            <a:off x="6214872" y="217627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 cancel on the CP's behalf: never penalizes the CP.</a:t>
            </a:r>
            <a:endParaRPr lang="en-US" sz="950" dirty="0"/>
          </a:p>
        </p:txBody>
      </p:sp>
      <p:sp>
        <p:nvSpPr>
          <p:cNvPr id="21" name="Shape 15"/>
          <p:cNvSpPr/>
          <p:nvPr/>
        </p:nvSpPr>
        <p:spPr>
          <a:xfrm>
            <a:off x="411480" y="315468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264408"/>
            <a:ext cx="164592" cy="164592"/>
          </a:xfrm>
          <a:prstGeom prst="rect">
            <a:avLst/>
          </a:prstGeom>
        </p:spPr>
      </p:pic>
      <p:sp>
        <p:nvSpPr>
          <p:cNvPr id="23" name="Text 16"/>
          <p:cNvSpPr txBox="1"/>
          <p:nvPr/>
        </p:nvSpPr>
        <p:spPr>
          <a:xfrm>
            <a:off x="822960" y="32552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 manual report needed:  </a:t>
            </a:r>
            <a:pPr indent="0" marL="0">
              <a:buNone/>
            </a:pPr>
            <a:r>
              <a:rPr lang="en-US" sz="1000" dirty="0">
                <a:solidFill>
                  <a:srgbClr val="1D1D1F"/>
                </a:solidFill>
                <a:latin typeface="SF Pro Text" pitchFamily="34" charset="0"/>
                <a:ea typeface="SF Pro Text" pitchFamily="34" charset="-122"/>
                <a:cs typeface="SF Pro Text" pitchFamily="34" charset="-120"/>
              </a:rPr>
              <a:t>the job history logs the cancellation, so the Keep Rate impact lands either way.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happens to the job</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It depends on timing and alternate start times.</a:t>
            </a:r>
            <a:endParaRPr lang="en-US" sz="12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5120640"/>
                <a:gridCol w="3200400"/>
              </a:tblGrid>
              <a:tr h="502920">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Situation</a:t>
                      </a:r>
                      <a:endParaRPr lang="en-US" sz="10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Resulting job status</a:t>
                      </a:r>
                      <a:endParaRPr lang="en-US" sz="10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502920">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Start time already passed, no other alternate start times</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Cancelled</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Start time still in the future, time to match a new CP</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Submitted</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Customer has other alternate start times</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Rescheduled to one of them: Submitted</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352044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3630168"/>
            <a:ext cx="164592" cy="164592"/>
          </a:xfrm>
          <a:prstGeom prst="rect">
            <a:avLst/>
          </a:prstGeom>
        </p:spPr>
      </p:pic>
      <p:sp>
        <p:nvSpPr>
          <p:cNvPr id="9" name="Text 4"/>
          <p:cNvSpPr txBox="1"/>
          <p:nvPr/>
        </p:nvSpPr>
        <p:spPr>
          <a:xfrm>
            <a:off x="822960" y="36210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Same rules:  </a:t>
            </a:r>
            <a:pPr indent="0" marL="0">
              <a:buNone/>
            </a:pPr>
            <a:r>
              <a:rPr lang="en-US" sz="1000" dirty="0">
                <a:solidFill>
                  <a:srgbClr val="1D1D1F"/>
                </a:solidFill>
                <a:latin typeface="SF Pro Text" pitchFamily="34" charset="0"/>
                <a:ea typeface="SF Pro Text" pitchFamily="34" charset="-122"/>
                <a:cs typeface="SF Pro Text" pitchFamily="34" charset="-120"/>
              </a:rPr>
              <a:t>when the CP cancels via CP App Report Issue ("emergency" or "client wants to cancel").</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handling process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Then, for every status: check the resolution table, fix the unreliability issue, and send comms.</a:t>
            </a:r>
            <a:endParaRPr lang="en-US" sz="1200" dirty="0"/>
          </a:p>
        </p:txBody>
      </p:sp>
      <p:sp>
        <p:nvSpPr>
          <p:cNvPr id="6" name="Shape 3"/>
          <p:cNvSpPr/>
          <p:nvPr/>
        </p:nvSpPr>
        <p:spPr>
          <a:xfrm>
            <a:off x="3291840" y="1325880"/>
            <a:ext cx="2560320" cy="384048"/>
          </a:xfrm>
          <a:prstGeom prst="roundRect">
            <a:avLst>
              <a:gd name="adj" fmla="val 19048"/>
            </a:avLst>
          </a:prstGeom>
          <a:solidFill>
            <a:srgbClr val="1D1D1F"/>
          </a:solidFill>
          <a:ln w="12700">
            <a:solidFill>
              <a:srgbClr val="1D1D1F"/>
            </a:solidFill>
            <a:prstDash val="solid"/>
          </a:ln>
        </p:spPr>
      </p:sp>
      <p:sp>
        <p:nvSpPr>
          <p:cNvPr id="7" name="Text 4"/>
          <p:cNvSpPr txBox="1"/>
          <p:nvPr/>
        </p:nvSpPr>
        <p:spPr>
          <a:xfrm>
            <a:off x="3291840" y="1325880"/>
            <a:ext cx="256032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CLEANER CANCELLATION</a:t>
            </a:r>
            <a:endParaRPr lang="en-US" sz="1000" dirty="0"/>
          </a:p>
        </p:txBody>
      </p:sp>
      <p:sp>
        <p:nvSpPr>
          <p:cNvPr id="8" name="Shape 5"/>
          <p:cNvSpPr/>
          <p:nvPr/>
        </p:nvSpPr>
        <p:spPr>
          <a:xfrm>
            <a:off x="4572000" y="1709928"/>
            <a:ext cx="0" cy="182880"/>
          </a:xfrm>
          <a:prstGeom prst="line">
            <a:avLst/>
          </a:prstGeom>
          <a:noFill/>
          <a:ln w="12700">
            <a:solidFill>
              <a:srgbClr val="6E6E73"/>
            </a:solidFill>
            <a:prstDash val="solid"/>
          </a:ln>
        </p:spPr>
      </p:sp>
      <p:sp>
        <p:nvSpPr>
          <p:cNvPr id="9" name="Shape 6"/>
          <p:cNvSpPr/>
          <p:nvPr/>
        </p:nvSpPr>
        <p:spPr>
          <a:xfrm>
            <a:off x="1600200" y="1892808"/>
            <a:ext cx="5943600" cy="0"/>
          </a:xfrm>
          <a:prstGeom prst="line">
            <a:avLst/>
          </a:prstGeom>
          <a:noFill/>
          <a:ln w="12700">
            <a:solidFill>
              <a:srgbClr val="6E6E73"/>
            </a:solidFill>
            <a:prstDash val="solid"/>
          </a:ln>
        </p:spPr>
      </p:sp>
      <p:sp>
        <p:nvSpPr>
          <p:cNvPr id="10" name="Shape 7"/>
          <p:cNvSpPr/>
          <p:nvPr/>
        </p:nvSpPr>
        <p:spPr>
          <a:xfrm>
            <a:off x="1600200" y="1892808"/>
            <a:ext cx="0" cy="164592"/>
          </a:xfrm>
          <a:prstGeom prst="line">
            <a:avLst/>
          </a:prstGeom>
          <a:noFill/>
          <a:ln w="12700">
            <a:solidFill>
              <a:srgbClr val="6E6E73"/>
            </a:solidFill>
            <a:prstDash val="solid"/>
            <a:tailEnd type="triangle"/>
          </a:ln>
        </p:spPr>
      </p:sp>
      <p:sp>
        <p:nvSpPr>
          <p:cNvPr id="11" name="Shape 8"/>
          <p:cNvSpPr/>
          <p:nvPr/>
        </p:nvSpPr>
        <p:spPr>
          <a:xfrm>
            <a:off x="228600" y="2057400"/>
            <a:ext cx="2743200" cy="347472"/>
          </a:xfrm>
          <a:prstGeom prst="roundRect">
            <a:avLst>
              <a:gd name="adj" fmla="val 21053"/>
            </a:avLst>
          </a:prstGeom>
          <a:solidFill>
            <a:srgbClr val="0B7A6F"/>
          </a:solidFill>
          <a:ln w="12700">
            <a:solidFill>
              <a:srgbClr val="0B7A6F"/>
            </a:solidFill>
            <a:prstDash val="solid"/>
          </a:ln>
        </p:spPr>
      </p:sp>
      <p:sp>
        <p:nvSpPr>
          <p:cNvPr id="12" name="Text 9"/>
          <p:cNvSpPr txBox="1"/>
          <p:nvPr/>
        </p:nvSpPr>
        <p:spPr>
          <a:xfrm>
            <a:off x="228600" y="2057400"/>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SUBMITTED</a:t>
            </a:r>
            <a:endParaRPr lang="en-US" sz="1000" dirty="0"/>
          </a:p>
        </p:txBody>
      </p:sp>
      <p:sp>
        <p:nvSpPr>
          <p:cNvPr id="13" name="Shape 10"/>
          <p:cNvSpPr/>
          <p:nvPr/>
        </p:nvSpPr>
        <p:spPr>
          <a:xfrm>
            <a:off x="228600" y="2404872"/>
            <a:ext cx="2743200" cy="841248"/>
          </a:xfrm>
          <a:prstGeom prst="roundRect">
            <a:avLst>
              <a:gd name="adj" fmla="val 8696"/>
            </a:avLst>
          </a:prstGeom>
          <a:solidFill>
            <a:srgbClr val="E3F4F1"/>
          </a:solidFill>
          <a:ln w="9525">
            <a:solidFill>
              <a:srgbClr val="0B7A6F"/>
            </a:solidFill>
            <a:prstDash val="solid"/>
          </a:ln>
        </p:spPr>
      </p:sp>
      <p:sp>
        <p:nvSpPr>
          <p:cNvPr id="14" name="Text 11"/>
          <p:cNvSpPr txBox="1"/>
          <p:nvPr/>
        </p:nvSpPr>
        <p:spPr>
          <a:xfrm>
            <a:off x="320040" y="2404872"/>
            <a:ext cx="2560320" cy="841248"/>
          </a:xfrm>
          <a:prstGeom prst="rect">
            <a:avLst/>
          </a:prstGeom>
          <a:noFill/>
          <a:ln/>
        </p:spPr>
        <p:txBody>
          <a:bodyPr wrap="square" lIns="0" tIns="0" rIns="0" bIns="0" rtlCol="0" anchor="ctr"/>
          <a:lstStyle/>
          <a:p>
            <a:pPr algn="ctr" indent="0" marL="0">
              <a:buNone/>
            </a:pPr>
            <a:r>
              <a:rPr lang="en-US" sz="950" dirty="0">
                <a:solidFill>
                  <a:srgbClr val="1D1D1F"/>
                </a:solidFill>
                <a:latin typeface="SF Pro Text" pitchFamily="34" charset="0"/>
                <a:ea typeface="SF Pro Text" pitchFamily="34" charset="-122"/>
                <a:cs typeface="SF Pro Text" pitchFamily="34" charset="-120"/>
              </a:rPr>
              <a:t>Advise that we're matching them with a new cleaner.</a:t>
            </a:r>
            <a:endParaRPr lang="en-US" sz="950" dirty="0"/>
          </a:p>
        </p:txBody>
      </p:sp>
      <p:sp>
        <p:nvSpPr>
          <p:cNvPr id="15" name="Shape 12"/>
          <p:cNvSpPr/>
          <p:nvPr/>
        </p:nvSpPr>
        <p:spPr>
          <a:xfrm>
            <a:off x="1600200" y="3246120"/>
            <a:ext cx="0" cy="155448"/>
          </a:xfrm>
          <a:prstGeom prst="line">
            <a:avLst/>
          </a:prstGeom>
          <a:noFill/>
          <a:ln w="12700">
            <a:solidFill>
              <a:srgbClr val="6E6E73"/>
            </a:solidFill>
            <a:prstDash val="solid"/>
          </a:ln>
        </p:spPr>
      </p:sp>
      <p:sp>
        <p:nvSpPr>
          <p:cNvPr id="16" name="Shape 13"/>
          <p:cNvSpPr/>
          <p:nvPr/>
        </p:nvSpPr>
        <p:spPr>
          <a:xfrm>
            <a:off x="4572000" y="1892808"/>
            <a:ext cx="0" cy="164592"/>
          </a:xfrm>
          <a:prstGeom prst="line">
            <a:avLst/>
          </a:prstGeom>
          <a:noFill/>
          <a:ln w="12700">
            <a:solidFill>
              <a:srgbClr val="6E6E73"/>
            </a:solidFill>
            <a:prstDash val="solid"/>
            <a:tailEnd type="triangle"/>
          </a:ln>
        </p:spPr>
      </p:sp>
      <p:sp>
        <p:nvSpPr>
          <p:cNvPr id="17" name="Shape 14"/>
          <p:cNvSpPr/>
          <p:nvPr/>
        </p:nvSpPr>
        <p:spPr>
          <a:xfrm>
            <a:off x="3200400" y="2057400"/>
            <a:ext cx="2743200" cy="347472"/>
          </a:xfrm>
          <a:prstGeom prst="roundRect">
            <a:avLst>
              <a:gd name="adj" fmla="val 21053"/>
            </a:avLst>
          </a:prstGeom>
          <a:solidFill>
            <a:srgbClr val="0B7A6F"/>
          </a:solidFill>
          <a:ln w="12700">
            <a:solidFill>
              <a:srgbClr val="0B7A6F"/>
            </a:solidFill>
            <a:prstDash val="solid"/>
          </a:ln>
        </p:spPr>
      </p:sp>
      <p:sp>
        <p:nvSpPr>
          <p:cNvPr id="18" name="Text 15"/>
          <p:cNvSpPr txBox="1"/>
          <p:nvPr/>
        </p:nvSpPr>
        <p:spPr>
          <a:xfrm>
            <a:off x="3200400" y="2057400"/>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CLAIMED / PENDING INVOICE</a:t>
            </a:r>
            <a:endParaRPr lang="en-US" sz="1000" dirty="0"/>
          </a:p>
        </p:txBody>
      </p:sp>
      <p:sp>
        <p:nvSpPr>
          <p:cNvPr id="19" name="Shape 16"/>
          <p:cNvSpPr/>
          <p:nvPr/>
        </p:nvSpPr>
        <p:spPr>
          <a:xfrm>
            <a:off x="3200400" y="2404872"/>
            <a:ext cx="2743200" cy="841248"/>
          </a:xfrm>
          <a:prstGeom prst="roundRect">
            <a:avLst>
              <a:gd name="adj" fmla="val 8696"/>
            </a:avLst>
          </a:prstGeom>
          <a:solidFill>
            <a:srgbClr val="E3F4F1"/>
          </a:solidFill>
          <a:ln w="9525">
            <a:solidFill>
              <a:srgbClr val="0B7A6F"/>
            </a:solidFill>
            <a:prstDash val="solid"/>
          </a:ln>
        </p:spPr>
      </p:sp>
      <p:sp>
        <p:nvSpPr>
          <p:cNvPr id="20" name="Text 17"/>
          <p:cNvSpPr txBox="1"/>
          <p:nvPr/>
        </p:nvSpPr>
        <p:spPr>
          <a:xfrm>
            <a:off x="3291840" y="2404872"/>
            <a:ext cx="2560320" cy="841248"/>
          </a:xfrm>
          <a:prstGeom prst="rect">
            <a:avLst/>
          </a:prstGeom>
          <a:noFill/>
          <a:ln/>
        </p:spPr>
        <p:txBody>
          <a:bodyPr wrap="square" lIns="0" tIns="0" rIns="0" bIns="0" rtlCol="0" anchor="ctr"/>
          <a:lstStyle/>
          <a:p>
            <a:pPr algn="ctr" indent="0" marL="0">
              <a:buNone/>
            </a:pPr>
            <a:r>
              <a:rPr lang="en-US" sz="950" dirty="0">
                <a:solidFill>
                  <a:srgbClr val="1D1D1F"/>
                </a:solidFill>
                <a:latin typeface="SF Pro Text" pitchFamily="34" charset="0"/>
                <a:ea typeface="SF Pro Text" pitchFamily="34" charset="-122"/>
                <a:cs typeface="SF Pro Text" pitchFamily="34" charset="-120"/>
              </a:rPr>
              <a:t>Cancel via the CP Dashboard or rematch the CP.</a:t>
            </a:r>
            <a:endParaRPr lang="en-US" sz="950" dirty="0"/>
          </a:p>
        </p:txBody>
      </p:sp>
      <p:sp>
        <p:nvSpPr>
          <p:cNvPr id="21" name="Shape 18"/>
          <p:cNvSpPr/>
          <p:nvPr/>
        </p:nvSpPr>
        <p:spPr>
          <a:xfrm>
            <a:off x="4572000" y="3246120"/>
            <a:ext cx="0" cy="155448"/>
          </a:xfrm>
          <a:prstGeom prst="line">
            <a:avLst/>
          </a:prstGeom>
          <a:noFill/>
          <a:ln w="12700">
            <a:solidFill>
              <a:srgbClr val="6E6E73"/>
            </a:solidFill>
            <a:prstDash val="solid"/>
          </a:ln>
        </p:spPr>
      </p:sp>
      <p:sp>
        <p:nvSpPr>
          <p:cNvPr id="22" name="Shape 19"/>
          <p:cNvSpPr/>
          <p:nvPr/>
        </p:nvSpPr>
        <p:spPr>
          <a:xfrm>
            <a:off x="7543800" y="1892808"/>
            <a:ext cx="0" cy="164592"/>
          </a:xfrm>
          <a:prstGeom prst="line">
            <a:avLst/>
          </a:prstGeom>
          <a:noFill/>
          <a:ln w="12700">
            <a:solidFill>
              <a:srgbClr val="6E6E73"/>
            </a:solidFill>
            <a:prstDash val="solid"/>
            <a:tailEnd type="triangle"/>
          </a:ln>
        </p:spPr>
      </p:sp>
      <p:sp>
        <p:nvSpPr>
          <p:cNvPr id="23" name="Shape 20"/>
          <p:cNvSpPr/>
          <p:nvPr/>
        </p:nvSpPr>
        <p:spPr>
          <a:xfrm>
            <a:off x="6172200" y="2057400"/>
            <a:ext cx="2743200" cy="347472"/>
          </a:xfrm>
          <a:prstGeom prst="roundRect">
            <a:avLst>
              <a:gd name="adj" fmla="val 21053"/>
            </a:avLst>
          </a:prstGeom>
          <a:solidFill>
            <a:srgbClr val="0B7A6F"/>
          </a:solidFill>
          <a:ln w="12700">
            <a:solidFill>
              <a:srgbClr val="0B7A6F"/>
            </a:solidFill>
            <a:prstDash val="solid"/>
          </a:ln>
        </p:spPr>
      </p:sp>
      <p:sp>
        <p:nvSpPr>
          <p:cNvPr id="24" name="Text 21"/>
          <p:cNvSpPr txBox="1"/>
          <p:nvPr/>
        </p:nvSpPr>
        <p:spPr>
          <a:xfrm>
            <a:off x="6172200" y="2057400"/>
            <a:ext cx="274320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CANCELLED</a:t>
            </a:r>
            <a:endParaRPr lang="en-US" sz="1000" dirty="0"/>
          </a:p>
        </p:txBody>
      </p:sp>
      <p:sp>
        <p:nvSpPr>
          <p:cNvPr id="25" name="Shape 22"/>
          <p:cNvSpPr/>
          <p:nvPr/>
        </p:nvSpPr>
        <p:spPr>
          <a:xfrm>
            <a:off x="6172200" y="2404872"/>
            <a:ext cx="2743200" cy="841248"/>
          </a:xfrm>
          <a:prstGeom prst="roundRect">
            <a:avLst>
              <a:gd name="adj" fmla="val 8696"/>
            </a:avLst>
          </a:prstGeom>
          <a:solidFill>
            <a:srgbClr val="E3F4F1"/>
          </a:solidFill>
          <a:ln w="9525">
            <a:solidFill>
              <a:srgbClr val="0B7A6F"/>
            </a:solidFill>
            <a:prstDash val="solid"/>
          </a:ln>
        </p:spPr>
      </p:sp>
      <p:sp>
        <p:nvSpPr>
          <p:cNvPr id="26" name="Text 23"/>
          <p:cNvSpPr txBox="1"/>
          <p:nvPr/>
        </p:nvSpPr>
        <p:spPr>
          <a:xfrm>
            <a:off x="6263640" y="2404872"/>
            <a:ext cx="2560320" cy="841248"/>
          </a:xfrm>
          <a:prstGeom prst="rect">
            <a:avLst/>
          </a:prstGeom>
          <a:noFill/>
          <a:ln/>
        </p:spPr>
        <p:txBody>
          <a:bodyPr wrap="square" lIns="0" tIns="0" rIns="0" bIns="0" rtlCol="0" anchor="ctr"/>
          <a:lstStyle/>
          <a:p>
            <a:pPr algn="ctr" indent="0" marL="0">
              <a:buNone/>
            </a:pPr>
            <a:r>
              <a:rPr lang="en-US" sz="950" dirty="0">
                <a:solidFill>
                  <a:srgbClr val="1D1D1F"/>
                </a:solidFill>
                <a:latin typeface="SF Pro Text" pitchFamily="34" charset="0"/>
                <a:ea typeface="SF Pro Text" pitchFamily="34" charset="-122"/>
                <a:cs typeface="SF Pro Text" pitchFamily="34" charset="-120"/>
              </a:rPr>
              <a:t>Offer Priority Booking.</a:t>
            </a:r>
            <a:endParaRPr lang="en-US" sz="950" dirty="0"/>
          </a:p>
        </p:txBody>
      </p:sp>
      <p:sp>
        <p:nvSpPr>
          <p:cNvPr id="27" name="Shape 24"/>
          <p:cNvSpPr/>
          <p:nvPr/>
        </p:nvSpPr>
        <p:spPr>
          <a:xfrm>
            <a:off x="7543800" y="3246120"/>
            <a:ext cx="0" cy="155448"/>
          </a:xfrm>
          <a:prstGeom prst="line">
            <a:avLst/>
          </a:prstGeom>
          <a:noFill/>
          <a:ln w="12700">
            <a:solidFill>
              <a:srgbClr val="6E6E73"/>
            </a:solidFill>
            <a:prstDash val="solid"/>
          </a:ln>
        </p:spPr>
      </p:sp>
      <p:sp>
        <p:nvSpPr>
          <p:cNvPr id="28" name="Shape 25"/>
          <p:cNvSpPr/>
          <p:nvPr/>
        </p:nvSpPr>
        <p:spPr>
          <a:xfrm>
            <a:off x="1600200" y="3401568"/>
            <a:ext cx="5943600" cy="0"/>
          </a:xfrm>
          <a:prstGeom prst="line">
            <a:avLst/>
          </a:prstGeom>
          <a:noFill/>
          <a:ln w="12700">
            <a:solidFill>
              <a:srgbClr val="6E6E73"/>
            </a:solidFill>
            <a:prstDash val="solid"/>
          </a:ln>
        </p:spPr>
      </p:sp>
      <p:sp>
        <p:nvSpPr>
          <p:cNvPr id="29" name="Shape 26"/>
          <p:cNvSpPr/>
          <p:nvPr/>
        </p:nvSpPr>
        <p:spPr>
          <a:xfrm>
            <a:off x="4572000" y="3401568"/>
            <a:ext cx="0" cy="146304"/>
          </a:xfrm>
          <a:prstGeom prst="line">
            <a:avLst/>
          </a:prstGeom>
          <a:noFill/>
          <a:ln w="12700">
            <a:solidFill>
              <a:srgbClr val="6E6E73"/>
            </a:solidFill>
            <a:prstDash val="solid"/>
            <a:tailEnd type="triangle"/>
          </a:ln>
        </p:spPr>
      </p:sp>
      <p:sp>
        <p:nvSpPr>
          <p:cNvPr id="30" name="Shape 27"/>
          <p:cNvSpPr/>
          <p:nvPr/>
        </p:nvSpPr>
        <p:spPr>
          <a:xfrm>
            <a:off x="1463040" y="3547872"/>
            <a:ext cx="6217920" cy="1051560"/>
          </a:xfrm>
          <a:prstGeom prst="roundRect">
            <a:avLst>
              <a:gd name="adj" fmla="val 6957"/>
            </a:avLst>
          </a:prstGeom>
          <a:solidFill>
            <a:srgbClr val="FFF3D6"/>
          </a:solidFill>
          <a:ln w="9525">
            <a:solidFill>
              <a:srgbClr val="9A6410"/>
            </a:solidFill>
            <a:prstDash val="solid"/>
          </a:ln>
        </p:spPr>
      </p:sp>
      <p:sp>
        <p:nvSpPr>
          <p:cNvPr id="31" name="Text 28"/>
          <p:cNvSpPr txBox="1"/>
          <p:nvPr/>
        </p:nvSpPr>
        <p:spPr>
          <a:xfrm>
            <a:off x="1645920" y="3566160"/>
            <a:ext cx="5897880" cy="100584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See the quick reference for credits / free months</a:t>
            </a:r>
            <a:endParaRPr lang="en-US" sz="950" dirty="0"/>
          </a:p>
          <a:p>
            <a:pPr marL="342900" indent="-3429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Address the unreliability issue: ban the C/CP pairing, penalize as necessary, offer Priority Booking</a:t>
            </a:r>
            <a:endParaRPr lang="en-US" sz="950" dirty="0"/>
          </a:p>
          <a:p>
            <a:pPr marL="342900" indent="-3429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Send comms to C and CP</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CANCELLATION</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When the customer can reschedule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CP's Keep Rate is impacted either way: the job history is logged.</a:t>
            </a:r>
            <a:endParaRPr lang="en-US" sz="1200" dirty="0"/>
          </a:p>
        </p:txBody>
      </p:sp>
      <p:sp>
        <p:nvSpPr>
          <p:cNvPr id="6" name="Text 3"/>
          <p:cNvSpPr txBox="1"/>
          <p:nvPr/>
        </p:nvSpPr>
        <p:spPr>
          <a:xfrm>
            <a:off x="438912" y="1325880"/>
            <a:ext cx="36576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CUSTOMER CAN RESCHEDULE</a:t>
            </a:r>
            <a:endParaRPr lang="en-US" sz="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11480" y="1572768"/>
          <a:ext cx="8321040" cy="914400"/>
        </p:xfrm>
        <a:graphic>
          <a:graphicData uri="http://schemas.openxmlformats.org/drawingml/2006/table">
            <a:tbl>
              <a:tblPr/>
              <a:tblGrid>
                <a:gridCol w="2377440"/>
                <a:gridCol w="1709928"/>
              </a:tblGrid>
              <a:tr h="411480">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Customer action</a:t>
                      </a:r>
                      <a:endParaRPr lang="en-US" sz="10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50" b="1" dirty="0">
                          <a:solidFill>
                            <a:srgbClr val="0B7A6F"/>
                          </a:solidFill>
                          <a:latin typeface="SF Pro Display" pitchFamily="34" charset="0"/>
                          <a:ea typeface="SF Pro Display" pitchFamily="34" charset="-122"/>
                          <a:cs typeface="SF Pro Display" pitchFamily="34" charset="-120"/>
                        </a:rPr>
                        <a:t>Job status</a:t>
                      </a:r>
                      <a:endParaRPr lang="en-US" sz="10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11480">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Reschedules</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Submitted</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1050" b="1" dirty="0">
                          <a:solidFill>
                            <a:srgbClr val="1D1D1F"/>
                          </a:solidFill>
                          <a:latin typeface="SF Pro Text" pitchFamily="34" charset="0"/>
                          <a:ea typeface="SF Pro Text" pitchFamily="34" charset="-122"/>
                          <a:cs typeface="SF Pro Text" pitchFamily="34" charset="-120"/>
                        </a:rPr>
                        <a:t>Doesn't reschedule</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6E6E73"/>
                          </a:solidFill>
                          <a:latin typeface="SF Pro Text" pitchFamily="34" charset="0"/>
                          <a:ea typeface="SF Pro Text" pitchFamily="34" charset="-122"/>
                          <a:cs typeface="SF Pro Text" pitchFamily="34" charset="-120"/>
                        </a:rPr>
                        <a:t>Cancelled</a:t>
                      </a:r>
                      <a:endParaRPr lang="en-US" sz="10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8" name="Shape 4"/>
          <p:cNvSpPr/>
          <p:nvPr/>
        </p:nvSpPr>
        <p:spPr>
          <a:xfrm>
            <a:off x="4640580" y="1325880"/>
            <a:ext cx="4091940" cy="1600200"/>
          </a:xfrm>
          <a:prstGeom prst="roundRect">
            <a:avLst>
              <a:gd name="adj" fmla="val 4571"/>
            </a:avLst>
          </a:prstGeom>
          <a:solidFill>
            <a:srgbClr val="FFFFFF"/>
          </a:solidFill>
          <a:ln w="9525">
            <a:solidFill>
              <a:srgbClr val="DCE1E7"/>
            </a:solidFill>
            <a:prstDash val="solid"/>
          </a:ln>
        </p:spPr>
      </p:sp>
      <p:sp>
        <p:nvSpPr>
          <p:cNvPr id="9" name="Shape 5"/>
          <p:cNvSpPr/>
          <p:nvPr/>
        </p:nvSpPr>
        <p:spPr>
          <a:xfrm>
            <a:off x="4805172" y="1490472"/>
            <a:ext cx="329184" cy="329184"/>
          </a:xfrm>
          <a:prstGeom prst="ellipse">
            <a:avLst/>
          </a:prstGeom>
          <a:solidFill>
            <a:srgbClr val="E3F4F1"/>
          </a:solidFill>
          <a:ln w="12700">
            <a:solidFill>
              <a:srgbClr val="E3F4F1"/>
            </a:solidFill>
            <a:prstDash val="solid"/>
          </a:ln>
        </p:spPr>
      </p:sp>
      <p:pic>
        <p:nvPicPr>
          <p:cNvPr id="10" name="Image 0" descr="preencoded.png">    </p:cNvPr>
          <p:cNvPicPr>
            <a:picLocks noChangeAspect="1"/>
          </p:cNvPicPr>
          <p:nvPr/>
        </p:nvPicPr>
        <p:blipFill>
          <a:blip r:embed="rId1"/>
          <a:stretch>
            <a:fillRect/>
          </a:stretch>
        </p:blipFill>
        <p:spPr>
          <a:xfrm>
            <a:off x="4884176" y="1569476"/>
            <a:ext cx="171176" cy="171176"/>
          </a:xfrm>
          <a:prstGeom prst="rect">
            <a:avLst/>
          </a:prstGeom>
        </p:spPr>
      </p:pic>
      <p:sp>
        <p:nvSpPr>
          <p:cNvPr id="11" name="Text 6"/>
          <p:cNvSpPr txBox="1"/>
          <p:nvPr/>
        </p:nvSpPr>
        <p:spPr>
          <a:xfrm>
            <a:off x="48051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No option to reschedule</a:t>
            </a:r>
            <a:endParaRPr lang="en-US" sz="1200" dirty="0"/>
          </a:p>
        </p:txBody>
      </p:sp>
      <p:sp>
        <p:nvSpPr>
          <p:cNvPr id="12" name="Text 7"/>
          <p:cNvSpPr txBox="1"/>
          <p:nvPr/>
        </p:nvSpPr>
        <p:spPr>
          <a:xfrm>
            <a:off x="4805172" y="2221992"/>
            <a:ext cx="37627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Alternate times already added? It may auto-reschedule to the latest one. None? The job is Cancelled.</a:t>
            </a:r>
            <a:endParaRPr lang="en-US" sz="950" dirty="0"/>
          </a:p>
        </p:txBody>
      </p:sp>
      <p:sp>
        <p:nvSpPr>
          <p:cNvPr id="13" name="Shape 8"/>
          <p:cNvSpPr/>
          <p:nvPr/>
        </p:nvSpPr>
        <p:spPr>
          <a:xfrm>
            <a:off x="411480" y="3154680"/>
            <a:ext cx="8321040" cy="384048"/>
          </a:xfrm>
          <a:prstGeom prst="roundRect">
            <a:avLst>
              <a:gd name="adj" fmla="val 19048"/>
            </a:avLst>
          </a:prstGeom>
          <a:solidFill>
            <a:srgbClr val="FFF3D6"/>
          </a:solidFill>
          <a:ln w="9525">
            <a:solidFill>
              <a:srgbClr val="FFF3D6"/>
            </a:solidFill>
            <a:prstDash val="solid"/>
          </a:ln>
        </p:spPr>
      </p:sp>
      <p:pic>
        <p:nvPicPr>
          <p:cNvPr id="14" name="Image 1" descr="preencoded.png">    </p:cNvPr>
          <p:cNvPicPr>
            <a:picLocks noChangeAspect="1"/>
          </p:cNvPicPr>
          <p:nvPr/>
        </p:nvPicPr>
        <p:blipFill>
          <a:blip r:embed="rId2"/>
          <a:stretch>
            <a:fillRect/>
          </a:stretch>
        </p:blipFill>
        <p:spPr>
          <a:xfrm>
            <a:off x="566928" y="3264408"/>
            <a:ext cx="164592" cy="164592"/>
          </a:xfrm>
          <a:prstGeom prst="rect">
            <a:avLst/>
          </a:prstGeom>
        </p:spPr>
      </p:pic>
      <p:sp>
        <p:nvSpPr>
          <p:cNvPr id="15" name="Text 9"/>
          <p:cNvSpPr txBox="1"/>
          <p:nvPr/>
        </p:nvSpPr>
        <p:spPr>
          <a:xfrm>
            <a:off x="822960" y="32552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Free months:  </a:t>
            </a:r>
            <a:pPr indent="0" marL="0">
              <a:buNone/>
            </a:pPr>
            <a:r>
              <a:rPr lang="en-US" sz="1000" dirty="0">
                <a:solidFill>
                  <a:srgbClr val="1D1D1F"/>
                </a:solidFill>
                <a:latin typeface="SF Pro Text" pitchFamily="34" charset="0"/>
                <a:ea typeface="SF Pro Text" pitchFamily="34" charset="-122"/>
                <a:cs typeface="SF Pro Text" pitchFamily="34" charset="-120"/>
              </a:rPr>
              <a:t>not mandatory. Hold off unless there's cancellation intent or C raises unused months.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CANCELLATION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CP cancelled from the CP App with "My client wants to cancel." Is their Keep Rate affected?</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Emergency, safety concern or "client wants to cancel" via the CP App doesn't count.</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You cancel the job in the CRM on the CP's behalf. Is the CP penalized?</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Cancelling via CRM never penalizes the CP.</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CP cancels; the start time is still days away. What happens, and what's your first move?</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The job goes back to Submitted. Try to rematch first so the customer still gets their cleaning.</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job auto-rescheduled to an alternate time the customer didn't pick. What do you offer?</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A Priority Booking. Block the pairing, and check the table for credits.</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59</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CLEANER CANCELLATION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How they cancelled matters</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Dashboard counts. CP App emergency or client-cancel doesn't. CRM never does.</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Rematch first</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Then Priority Booking if the outcome isn't what the customer wanted.</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Coach before you pause</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System penalty? Leave it. Never suspend or DNR.</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07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Unauthorized Reschedule</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CP rescheduled the appointment without the customer's consent.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Two checks before you act</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Still assigned: the start-time table</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No longer assigned</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Penalty and reason code</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22.png">    </p:cNvPr>
          <p:cNvPicPr>
            <a:picLocks noChangeAspect="1"/>
          </p:cNvPicPr>
          <p:nvPr/>
        </p:nvPicPr>
        <p:blipFill>
          <a:blip r:embed="rId5"/>
          <a:stretch>
            <a:fillRect/>
          </a:stretch>
        </p:blipFill>
        <p:spPr>
          <a:xfrm>
            <a:off x="5717320" y="1517904"/>
            <a:ext cx="2573968"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RESCHEDULE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Handling guide</a:t>
            </a:r>
            <a:endParaRPr lang="en-US" sz="2400" dirty="0"/>
          </a:p>
        </p:txBody>
      </p:sp>
      <p:sp>
        <p:nvSpPr>
          <p:cNvPr id="5" name="Shape 2"/>
          <p:cNvSpPr/>
          <p:nvPr/>
        </p:nvSpPr>
        <p:spPr>
          <a:xfrm>
            <a:off x="2377440" y="1005840"/>
            <a:ext cx="2560320" cy="310896"/>
          </a:xfrm>
          <a:prstGeom prst="roundRect">
            <a:avLst>
              <a:gd name="adj" fmla="val 23529"/>
            </a:avLst>
          </a:prstGeom>
          <a:solidFill>
            <a:srgbClr val="1D1D1F"/>
          </a:solidFill>
          <a:ln w="12700">
            <a:solidFill>
              <a:srgbClr val="1D1D1F"/>
            </a:solidFill>
            <a:prstDash val="solid"/>
          </a:ln>
        </p:spPr>
      </p:sp>
      <p:sp>
        <p:nvSpPr>
          <p:cNvPr id="6" name="Text 3"/>
          <p:cNvSpPr txBox="1"/>
          <p:nvPr/>
        </p:nvSpPr>
        <p:spPr>
          <a:xfrm>
            <a:off x="2377440" y="100584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UNAUTHORIZED RESCHEDULE</a:t>
            </a:r>
            <a:endParaRPr lang="en-US" sz="1000" dirty="0"/>
          </a:p>
        </p:txBody>
      </p:sp>
      <p:sp>
        <p:nvSpPr>
          <p:cNvPr id="7" name="Shape 4"/>
          <p:cNvSpPr/>
          <p:nvPr/>
        </p:nvSpPr>
        <p:spPr>
          <a:xfrm>
            <a:off x="3657600" y="1316736"/>
            <a:ext cx="0" cy="146304"/>
          </a:xfrm>
          <a:prstGeom prst="line">
            <a:avLst/>
          </a:prstGeom>
          <a:noFill/>
          <a:ln w="12700">
            <a:solidFill>
              <a:srgbClr val="6E6E73"/>
            </a:solidFill>
            <a:prstDash val="solid"/>
            <a:tailEnd type="triangle"/>
          </a:ln>
        </p:spPr>
      </p:sp>
      <p:sp>
        <p:nvSpPr>
          <p:cNvPr id="8" name="Shape 5"/>
          <p:cNvSpPr/>
          <p:nvPr/>
        </p:nvSpPr>
        <p:spPr>
          <a:xfrm>
            <a:off x="2057400" y="1463040"/>
            <a:ext cx="3200400" cy="457200"/>
          </a:xfrm>
          <a:prstGeom prst="roundRect">
            <a:avLst>
              <a:gd name="adj" fmla="val 16000"/>
            </a:avLst>
          </a:prstGeom>
          <a:solidFill>
            <a:srgbClr val="FFF3D6"/>
          </a:solidFill>
          <a:ln w="12700">
            <a:solidFill>
              <a:srgbClr val="9A6410"/>
            </a:solidFill>
            <a:prstDash val="solid"/>
          </a:ln>
        </p:spPr>
      </p:sp>
      <p:sp>
        <p:nvSpPr>
          <p:cNvPr id="9" name="Text 6"/>
          <p:cNvSpPr txBox="1"/>
          <p:nvPr/>
        </p:nvSpPr>
        <p:spPr>
          <a:xfrm>
            <a:off x="2057400" y="1463040"/>
            <a:ext cx="3200400" cy="45720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Is the job still assigned to the CP</a:t>
            </a:r>
            <a:endParaRPr lang="en-US" sz="1000" dirty="0"/>
          </a:p>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who rescheduled it?</a:t>
            </a:r>
            <a:endParaRPr lang="en-US" sz="1000" dirty="0"/>
          </a:p>
        </p:txBody>
      </p:sp>
      <p:sp>
        <p:nvSpPr>
          <p:cNvPr id="10" name="Shape 7"/>
          <p:cNvSpPr/>
          <p:nvPr/>
        </p:nvSpPr>
        <p:spPr>
          <a:xfrm>
            <a:off x="5257800" y="1691640"/>
            <a:ext cx="640080" cy="0"/>
          </a:xfrm>
          <a:prstGeom prst="line">
            <a:avLst/>
          </a:prstGeom>
          <a:noFill/>
          <a:ln w="12700">
            <a:solidFill>
              <a:srgbClr val="6E6E73"/>
            </a:solidFill>
            <a:prstDash val="solid"/>
            <a:tailEnd type="triangle"/>
          </a:ln>
        </p:spPr>
      </p:sp>
      <p:sp>
        <p:nvSpPr>
          <p:cNvPr id="11" name="Text 8"/>
          <p:cNvSpPr txBox="1"/>
          <p:nvPr/>
        </p:nvSpPr>
        <p:spPr>
          <a:xfrm>
            <a:off x="5349240" y="1481328"/>
            <a:ext cx="45720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12" name="Shape 9"/>
          <p:cNvSpPr/>
          <p:nvPr/>
        </p:nvSpPr>
        <p:spPr>
          <a:xfrm>
            <a:off x="5897880" y="1051560"/>
            <a:ext cx="2834640" cy="1280160"/>
          </a:xfrm>
          <a:prstGeom prst="roundRect">
            <a:avLst>
              <a:gd name="adj" fmla="val 5714"/>
            </a:avLst>
          </a:prstGeom>
          <a:solidFill>
            <a:srgbClr val="FFFFFF"/>
          </a:solidFill>
          <a:ln w="9525">
            <a:solidFill>
              <a:srgbClr val="DCE1E7"/>
            </a:solidFill>
            <a:prstDash val="solid"/>
          </a:ln>
        </p:spPr>
      </p:sp>
      <p:sp>
        <p:nvSpPr>
          <p:cNvPr id="13" name="Text 10"/>
          <p:cNvSpPr txBox="1"/>
          <p:nvPr/>
        </p:nvSpPr>
        <p:spPr>
          <a:xfrm>
            <a:off x="5989320" y="1051560"/>
            <a:ext cx="2697480" cy="128016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Update CP Step if warranted</a:t>
            </a:r>
            <a:endParaRPr lang="en-US" sz="900" dirty="0"/>
          </a:p>
          <a:p>
            <a:pPr marL="342900" indent="-3429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Coach and ban the CP</a:t>
            </a:r>
            <a:endParaRPr lang="en-US" sz="900" dirty="0"/>
          </a:p>
          <a:p>
            <a:pPr marL="342900" indent="-342900">
              <a:spcAft>
                <a:spcPts val="300"/>
              </a:spcAft>
              <a:buSzPct val="100000"/>
              <a:buChar char="•"/>
            </a:pPr>
            <a:r>
              <a:rPr lang="en-US" sz="900" dirty="0">
                <a:solidFill>
                  <a:srgbClr val="1D1D1F"/>
                </a:solidFill>
                <a:latin typeface="SF Pro Text" pitchFamily="34" charset="0"/>
                <a:ea typeface="SF Pro Text" pitchFamily="34" charset="-122"/>
                <a:cs typeface="SF Pro Text" pitchFamily="34" charset="-120"/>
              </a:rPr>
              <a:t>Offer the C a Priority Booking and address any other pain points</a:t>
            </a:r>
            <a:endParaRPr lang="en-US" sz="900" dirty="0"/>
          </a:p>
        </p:txBody>
      </p:sp>
      <p:sp>
        <p:nvSpPr>
          <p:cNvPr id="14" name="Shape 11"/>
          <p:cNvSpPr/>
          <p:nvPr/>
        </p:nvSpPr>
        <p:spPr>
          <a:xfrm>
            <a:off x="3657600" y="1920240"/>
            <a:ext cx="0" cy="182880"/>
          </a:xfrm>
          <a:prstGeom prst="line">
            <a:avLst/>
          </a:prstGeom>
          <a:noFill/>
          <a:ln w="12700">
            <a:solidFill>
              <a:srgbClr val="6E6E73"/>
            </a:solidFill>
            <a:prstDash val="solid"/>
            <a:tailEnd type="triangle"/>
          </a:ln>
        </p:spPr>
      </p:sp>
      <p:sp>
        <p:nvSpPr>
          <p:cNvPr id="15" name="Text 12"/>
          <p:cNvSpPr txBox="1"/>
          <p:nvPr/>
        </p:nvSpPr>
        <p:spPr>
          <a:xfrm>
            <a:off x="3730752" y="1901952"/>
            <a:ext cx="45720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6" name="Shape 13"/>
          <p:cNvSpPr/>
          <p:nvPr/>
        </p:nvSpPr>
        <p:spPr>
          <a:xfrm>
            <a:off x="1737360" y="2103120"/>
            <a:ext cx="3840480" cy="502920"/>
          </a:xfrm>
          <a:prstGeom prst="roundRect">
            <a:avLst>
              <a:gd name="adj" fmla="val 14545"/>
            </a:avLst>
          </a:prstGeom>
          <a:solidFill>
            <a:srgbClr val="E3F4F1"/>
          </a:solidFill>
          <a:ln w="9525">
            <a:solidFill>
              <a:srgbClr val="0B7A6F"/>
            </a:solidFill>
            <a:prstDash val="solid"/>
          </a:ln>
        </p:spPr>
      </p:sp>
      <p:sp>
        <p:nvSpPr>
          <p:cNvPr id="17" name="Text 14"/>
          <p:cNvSpPr txBox="1"/>
          <p:nvPr/>
        </p:nvSpPr>
        <p:spPr>
          <a:xfrm>
            <a:off x="1828800" y="2103120"/>
            <a:ext cx="3657600" cy="502920"/>
          </a:xfrm>
          <a:prstGeom prst="rect">
            <a:avLst/>
          </a:prstGeom>
          <a:noFill/>
          <a:ln/>
        </p:spPr>
        <p:txBody>
          <a:bodyPr wrap="square" lIns="0" tIns="0" rIns="0" bIns="0" rtlCol="0" anchor="ctr"/>
          <a:lstStyle/>
          <a:p>
            <a:pPr algn="ctr" indent="0" marL="0">
              <a:buNone/>
            </a:pPr>
            <a:r>
              <a:rPr lang="en-US" sz="900" dirty="0">
                <a:solidFill>
                  <a:srgbClr val="1D1D1F"/>
                </a:solidFill>
                <a:latin typeface="SF Pro Text" pitchFamily="34" charset="0"/>
                <a:ea typeface="SF Pro Text" pitchFamily="34" charset="-122"/>
                <a:cs typeface="SF Pro Text" pitchFamily="34" charset="-120"/>
              </a:rPr>
              <a:t>Add the </a:t>
            </a:r>
            <a:pPr algn="ctr" indent="0" marL="0">
              <a:buNone/>
            </a:pPr>
            <a:r>
              <a:rPr lang="en-US" sz="900" i="1" dirty="0">
                <a:solidFill>
                  <a:srgbClr val="1D1D1F"/>
                </a:solidFill>
                <a:latin typeface="SF Pro Text" pitchFamily="34" charset="0"/>
                <a:ea typeface="SF Pro Text" pitchFamily="34" charset="-122"/>
                <a:cs typeface="SF Pro Text" pitchFamily="34" charset="-120"/>
              </a:rPr>
              <a:t>cp_unauthorized_reschedule</a:t>
            </a:r>
            <a:pPr algn="ctr" indent="0" marL="0">
              <a:buNone/>
            </a:pPr>
            <a:r>
              <a:rPr lang="en-US" sz="900" dirty="0">
                <a:solidFill>
                  <a:srgbClr val="1D1D1F"/>
                </a:solidFill>
                <a:latin typeface="SF Pro Text" pitchFamily="34" charset="0"/>
                <a:ea typeface="SF Pro Text" pitchFamily="34" charset="-122"/>
                <a:cs typeface="SF Pro Text" pitchFamily="34" charset="-120"/>
              </a:rPr>
              <a:t> flag, update their CP Step if warranted, coach and ban the CP.</a:t>
            </a:r>
            <a:endParaRPr lang="en-US" sz="900" dirty="0"/>
          </a:p>
        </p:txBody>
      </p:sp>
      <p:sp>
        <p:nvSpPr>
          <p:cNvPr id="18" name="Shape 15"/>
          <p:cNvSpPr/>
          <p:nvPr/>
        </p:nvSpPr>
        <p:spPr>
          <a:xfrm>
            <a:off x="3657600" y="2606040"/>
            <a:ext cx="0" cy="137160"/>
          </a:xfrm>
          <a:prstGeom prst="line">
            <a:avLst/>
          </a:prstGeom>
          <a:noFill/>
          <a:ln w="12700">
            <a:solidFill>
              <a:srgbClr val="6E6E73"/>
            </a:solidFill>
            <a:prstDash val="solid"/>
          </a:ln>
        </p:spPr>
      </p:sp>
      <p:sp>
        <p:nvSpPr>
          <p:cNvPr id="19" name="Shape 16"/>
          <p:cNvSpPr/>
          <p:nvPr/>
        </p:nvSpPr>
        <p:spPr>
          <a:xfrm>
            <a:off x="1394460" y="2743200"/>
            <a:ext cx="6309360" cy="0"/>
          </a:xfrm>
          <a:prstGeom prst="line">
            <a:avLst/>
          </a:prstGeom>
          <a:noFill/>
          <a:ln w="12700">
            <a:solidFill>
              <a:srgbClr val="6E6E73"/>
            </a:solidFill>
            <a:prstDash val="solid"/>
          </a:ln>
        </p:spPr>
      </p:sp>
      <p:sp>
        <p:nvSpPr>
          <p:cNvPr id="20" name="Shape 17"/>
          <p:cNvSpPr/>
          <p:nvPr/>
        </p:nvSpPr>
        <p:spPr>
          <a:xfrm>
            <a:off x="1394460" y="2743200"/>
            <a:ext cx="0" cy="137160"/>
          </a:xfrm>
          <a:prstGeom prst="line">
            <a:avLst/>
          </a:prstGeom>
          <a:noFill/>
          <a:ln w="12700">
            <a:solidFill>
              <a:srgbClr val="6E6E73"/>
            </a:solidFill>
            <a:prstDash val="solid"/>
            <a:tailEnd type="triangle"/>
          </a:ln>
        </p:spPr>
      </p:sp>
      <p:sp>
        <p:nvSpPr>
          <p:cNvPr id="21" name="Shape 18"/>
          <p:cNvSpPr/>
          <p:nvPr/>
        </p:nvSpPr>
        <p:spPr>
          <a:xfrm>
            <a:off x="411480" y="2880360"/>
            <a:ext cx="1965960" cy="457200"/>
          </a:xfrm>
          <a:prstGeom prst="roundRect">
            <a:avLst>
              <a:gd name="adj" fmla="val 16000"/>
            </a:avLst>
          </a:prstGeom>
          <a:solidFill>
            <a:srgbClr val="0B7A6F"/>
          </a:solidFill>
          <a:ln w="12700">
            <a:solidFill>
              <a:srgbClr val="0B7A6F"/>
            </a:solidFill>
            <a:prstDash val="solid"/>
          </a:ln>
        </p:spPr>
      </p:sp>
      <p:sp>
        <p:nvSpPr>
          <p:cNvPr id="22" name="Text 19"/>
          <p:cNvSpPr txBox="1"/>
          <p:nvPr/>
        </p:nvSpPr>
        <p:spPr>
          <a:xfrm>
            <a:off x="411480" y="2880360"/>
            <a:ext cx="19659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Original start time is</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&gt;48 hours away</a:t>
            </a:r>
            <a:endParaRPr lang="en-US" sz="1000" dirty="0"/>
          </a:p>
        </p:txBody>
      </p:sp>
      <p:sp>
        <p:nvSpPr>
          <p:cNvPr id="23" name="Shape 20"/>
          <p:cNvSpPr/>
          <p:nvPr/>
        </p:nvSpPr>
        <p:spPr>
          <a:xfrm>
            <a:off x="411480" y="3337560"/>
            <a:ext cx="1965960" cy="1097280"/>
          </a:xfrm>
          <a:prstGeom prst="roundRect">
            <a:avLst>
              <a:gd name="adj" fmla="val 6667"/>
            </a:avLst>
          </a:prstGeom>
          <a:solidFill>
            <a:srgbClr val="E3F4F1"/>
          </a:solidFill>
          <a:ln w="9525">
            <a:solidFill>
              <a:srgbClr val="0B7A6F"/>
            </a:solidFill>
            <a:prstDash val="solid"/>
          </a:ln>
        </p:spPr>
      </p:sp>
      <p:sp>
        <p:nvSpPr>
          <p:cNvPr id="24" name="Text 21"/>
          <p:cNvSpPr txBox="1"/>
          <p:nvPr/>
        </p:nvSpPr>
        <p:spPr>
          <a:xfrm>
            <a:off x="484632" y="3337560"/>
            <a:ext cx="1819656" cy="1097280"/>
          </a:xfrm>
          <a:prstGeom prst="rect">
            <a:avLst/>
          </a:prstGeom>
          <a:noFill/>
          <a:ln/>
        </p:spPr>
        <p:txBody>
          <a:bodyPr wrap="square" lIns="0" tIns="0" rIns="0" bIns="0" rtlCol="0" anchor="ctr"/>
          <a:lstStyle/>
          <a:p>
            <a:pPr algn="ctr" indent="0" marL="0">
              <a:buNone/>
            </a:pPr>
            <a:r>
              <a:rPr lang="en-US" sz="900" dirty="0">
                <a:solidFill>
                  <a:srgbClr val="1D1D1F"/>
                </a:solidFill>
                <a:latin typeface="SF Pro Text" pitchFamily="34" charset="0"/>
                <a:ea typeface="SF Pro Text" pitchFamily="34" charset="-122"/>
                <a:cs typeface="SF Pro Text" pitchFamily="34" charset="-120"/>
              </a:rPr>
              <a:t>Reschedule back to the original job start time.</a:t>
            </a:r>
            <a:endParaRPr lang="en-US" sz="900" dirty="0"/>
          </a:p>
        </p:txBody>
      </p:sp>
      <p:sp>
        <p:nvSpPr>
          <p:cNvPr id="25" name="Shape 22"/>
          <p:cNvSpPr/>
          <p:nvPr/>
        </p:nvSpPr>
        <p:spPr>
          <a:xfrm>
            <a:off x="3497580" y="2743200"/>
            <a:ext cx="0" cy="137160"/>
          </a:xfrm>
          <a:prstGeom prst="line">
            <a:avLst/>
          </a:prstGeom>
          <a:noFill/>
          <a:ln w="12700">
            <a:solidFill>
              <a:srgbClr val="6E6E73"/>
            </a:solidFill>
            <a:prstDash val="solid"/>
            <a:tailEnd type="triangle"/>
          </a:ln>
        </p:spPr>
      </p:sp>
      <p:sp>
        <p:nvSpPr>
          <p:cNvPr id="26" name="Shape 23"/>
          <p:cNvSpPr/>
          <p:nvPr/>
        </p:nvSpPr>
        <p:spPr>
          <a:xfrm>
            <a:off x="2514600" y="2880360"/>
            <a:ext cx="1965960" cy="457200"/>
          </a:xfrm>
          <a:prstGeom prst="roundRect">
            <a:avLst>
              <a:gd name="adj" fmla="val 16000"/>
            </a:avLst>
          </a:prstGeom>
          <a:solidFill>
            <a:srgbClr val="0B7A6F"/>
          </a:solidFill>
          <a:ln w="12700">
            <a:solidFill>
              <a:srgbClr val="0B7A6F"/>
            </a:solidFill>
            <a:prstDash val="solid"/>
          </a:ln>
        </p:spPr>
      </p:sp>
      <p:sp>
        <p:nvSpPr>
          <p:cNvPr id="27" name="Text 24"/>
          <p:cNvSpPr txBox="1"/>
          <p:nvPr/>
        </p:nvSpPr>
        <p:spPr>
          <a:xfrm>
            <a:off x="2514600" y="2880360"/>
            <a:ext cx="19659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Original start time is</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≤48 hours away</a:t>
            </a:r>
            <a:endParaRPr lang="en-US" sz="1000" dirty="0"/>
          </a:p>
        </p:txBody>
      </p:sp>
      <p:sp>
        <p:nvSpPr>
          <p:cNvPr id="28" name="Shape 25"/>
          <p:cNvSpPr/>
          <p:nvPr/>
        </p:nvSpPr>
        <p:spPr>
          <a:xfrm>
            <a:off x="2514600" y="3337560"/>
            <a:ext cx="1965960" cy="1097280"/>
          </a:xfrm>
          <a:prstGeom prst="roundRect">
            <a:avLst>
              <a:gd name="adj" fmla="val 6667"/>
            </a:avLst>
          </a:prstGeom>
          <a:solidFill>
            <a:srgbClr val="E3F4F1"/>
          </a:solidFill>
          <a:ln w="9525">
            <a:solidFill>
              <a:srgbClr val="0B7A6F"/>
            </a:solidFill>
            <a:prstDash val="solid"/>
          </a:ln>
        </p:spPr>
      </p:sp>
      <p:sp>
        <p:nvSpPr>
          <p:cNvPr id="29" name="Text 26"/>
          <p:cNvSpPr txBox="1"/>
          <p:nvPr/>
        </p:nvSpPr>
        <p:spPr>
          <a:xfrm>
            <a:off x="2587752" y="3337560"/>
            <a:ext cx="1819656" cy="1097280"/>
          </a:xfrm>
          <a:prstGeom prst="rect">
            <a:avLst/>
          </a:prstGeom>
          <a:noFill/>
          <a:ln/>
        </p:spPr>
        <p:txBody>
          <a:bodyPr wrap="square" lIns="0" tIns="0" rIns="0" bIns="0" rtlCol="0" anchor="ctr"/>
          <a:lstStyle/>
          <a:p>
            <a:pPr algn="ctr" indent="0" marL="0">
              <a:buNone/>
            </a:pPr>
            <a:r>
              <a:rPr lang="en-US" sz="900" dirty="0">
                <a:solidFill>
                  <a:srgbClr val="1D1D1F"/>
                </a:solidFill>
                <a:latin typeface="SF Pro Text" pitchFamily="34" charset="0"/>
                <a:ea typeface="SF Pro Text" pitchFamily="34" charset="-122"/>
                <a:cs typeface="SF Pro Text" pitchFamily="34" charset="-120"/>
              </a:rPr>
              <a:t>Cancel and rebook the job via the C CRM, or reschedule via the C Dashboard if no priority fee will apply.</a:t>
            </a:r>
            <a:endParaRPr lang="en-US" sz="900" dirty="0"/>
          </a:p>
        </p:txBody>
      </p:sp>
      <p:sp>
        <p:nvSpPr>
          <p:cNvPr id="30" name="Shape 27"/>
          <p:cNvSpPr/>
          <p:nvPr/>
        </p:nvSpPr>
        <p:spPr>
          <a:xfrm>
            <a:off x="5600700" y="2743200"/>
            <a:ext cx="0" cy="137160"/>
          </a:xfrm>
          <a:prstGeom prst="line">
            <a:avLst/>
          </a:prstGeom>
          <a:noFill/>
          <a:ln w="12700">
            <a:solidFill>
              <a:srgbClr val="6E6E73"/>
            </a:solidFill>
            <a:prstDash val="solid"/>
            <a:tailEnd type="triangle"/>
          </a:ln>
        </p:spPr>
      </p:sp>
      <p:sp>
        <p:nvSpPr>
          <p:cNvPr id="31" name="Shape 28"/>
          <p:cNvSpPr/>
          <p:nvPr/>
        </p:nvSpPr>
        <p:spPr>
          <a:xfrm>
            <a:off x="4617720" y="2880360"/>
            <a:ext cx="1965960" cy="457200"/>
          </a:xfrm>
          <a:prstGeom prst="roundRect">
            <a:avLst>
              <a:gd name="adj" fmla="val 16000"/>
            </a:avLst>
          </a:prstGeom>
          <a:solidFill>
            <a:srgbClr val="0B7A6F"/>
          </a:solidFill>
          <a:ln w="12700">
            <a:solidFill>
              <a:srgbClr val="0B7A6F"/>
            </a:solidFill>
            <a:prstDash val="solid"/>
          </a:ln>
        </p:spPr>
      </p:sp>
      <p:sp>
        <p:nvSpPr>
          <p:cNvPr id="32" name="Text 29"/>
          <p:cNvSpPr txBox="1"/>
          <p:nvPr/>
        </p:nvSpPr>
        <p:spPr>
          <a:xfrm>
            <a:off x="4617720" y="2880360"/>
            <a:ext cx="19659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Original start time is</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in the past</a:t>
            </a:r>
            <a:endParaRPr lang="en-US" sz="1000" dirty="0"/>
          </a:p>
        </p:txBody>
      </p:sp>
      <p:sp>
        <p:nvSpPr>
          <p:cNvPr id="33" name="Shape 30"/>
          <p:cNvSpPr/>
          <p:nvPr/>
        </p:nvSpPr>
        <p:spPr>
          <a:xfrm>
            <a:off x="4617720" y="3337560"/>
            <a:ext cx="1965960" cy="1097280"/>
          </a:xfrm>
          <a:prstGeom prst="roundRect">
            <a:avLst>
              <a:gd name="adj" fmla="val 6667"/>
            </a:avLst>
          </a:prstGeom>
          <a:solidFill>
            <a:srgbClr val="E3F4F1"/>
          </a:solidFill>
          <a:ln w="9525">
            <a:solidFill>
              <a:srgbClr val="0B7A6F"/>
            </a:solidFill>
            <a:prstDash val="solid"/>
          </a:ln>
        </p:spPr>
      </p:sp>
      <p:sp>
        <p:nvSpPr>
          <p:cNvPr id="34" name="Text 31"/>
          <p:cNvSpPr txBox="1"/>
          <p:nvPr/>
        </p:nvSpPr>
        <p:spPr>
          <a:xfrm>
            <a:off x="4690872" y="3337560"/>
            <a:ext cx="1819656" cy="1097280"/>
          </a:xfrm>
          <a:prstGeom prst="rect">
            <a:avLst/>
          </a:prstGeom>
          <a:noFill/>
          <a:ln/>
        </p:spPr>
        <p:txBody>
          <a:bodyPr wrap="square" lIns="0" tIns="0" rIns="0" bIns="0" rtlCol="0" anchor="ctr"/>
          <a:lstStyle/>
          <a:p>
            <a:pPr algn="ctr" indent="0" marL="0">
              <a:buNone/>
            </a:pPr>
            <a:r>
              <a:rPr lang="en-US" sz="900" dirty="0">
                <a:solidFill>
                  <a:srgbClr val="1D1D1F"/>
                </a:solidFill>
                <a:latin typeface="SF Pro Text" pitchFamily="34" charset="0"/>
                <a:ea typeface="SF Pro Text" pitchFamily="34" charset="-122"/>
                <a:cs typeface="SF Pro Text" pitchFamily="34" charset="-120"/>
              </a:rPr>
              <a:t>Follow AG: Pending Invoice completion verification steps.</a:t>
            </a:r>
            <a:endParaRPr lang="en-US" sz="900" dirty="0"/>
          </a:p>
        </p:txBody>
      </p:sp>
      <p:sp>
        <p:nvSpPr>
          <p:cNvPr id="35" name="Shape 32"/>
          <p:cNvSpPr/>
          <p:nvPr/>
        </p:nvSpPr>
        <p:spPr>
          <a:xfrm>
            <a:off x="7703820" y="2743200"/>
            <a:ext cx="0" cy="137160"/>
          </a:xfrm>
          <a:prstGeom prst="line">
            <a:avLst/>
          </a:prstGeom>
          <a:noFill/>
          <a:ln w="12700">
            <a:solidFill>
              <a:srgbClr val="6E6E73"/>
            </a:solidFill>
            <a:prstDash val="solid"/>
            <a:tailEnd type="triangle"/>
          </a:ln>
        </p:spPr>
      </p:sp>
      <p:sp>
        <p:nvSpPr>
          <p:cNvPr id="36" name="Shape 33"/>
          <p:cNvSpPr/>
          <p:nvPr/>
        </p:nvSpPr>
        <p:spPr>
          <a:xfrm>
            <a:off x="6720840" y="2880360"/>
            <a:ext cx="1965960" cy="457200"/>
          </a:xfrm>
          <a:prstGeom prst="roundRect">
            <a:avLst>
              <a:gd name="adj" fmla="val 16000"/>
            </a:avLst>
          </a:prstGeom>
          <a:solidFill>
            <a:srgbClr val="0B7A6F"/>
          </a:solidFill>
          <a:ln w="12700">
            <a:solidFill>
              <a:srgbClr val="0B7A6F"/>
            </a:solidFill>
            <a:prstDash val="solid"/>
          </a:ln>
        </p:spPr>
      </p:sp>
      <p:sp>
        <p:nvSpPr>
          <p:cNvPr id="37" name="Text 34"/>
          <p:cNvSpPr txBox="1"/>
          <p:nvPr/>
        </p:nvSpPr>
        <p:spPr>
          <a:xfrm>
            <a:off x="6720840" y="2880360"/>
            <a:ext cx="19659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Cancelled / Invoiced</a:t>
            </a:r>
            <a:endParaRPr lang="en-US" sz="1000" dirty="0"/>
          </a:p>
        </p:txBody>
      </p:sp>
      <p:sp>
        <p:nvSpPr>
          <p:cNvPr id="38" name="Shape 35"/>
          <p:cNvSpPr/>
          <p:nvPr/>
        </p:nvSpPr>
        <p:spPr>
          <a:xfrm>
            <a:off x="6720840" y="3337560"/>
            <a:ext cx="1965960" cy="1097280"/>
          </a:xfrm>
          <a:prstGeom prst="roundRect">
            <a:avLst>
              <a:gd name="adj" fmla="val 6667"/>
            </a:avLst>
          </a:prstGeom>
          <a:solidFill>
            <a:srgbClr val="E3F4F1"/>
          </a:solidFill>
          <a:ln w="9525">
            <a:solidFill>
              <a:srgbClr val="0B7A6F"/>
            </a:solidFill>
            <a:prstDash val="solid"/>
          </a:ln>
        </p:spPr>
      </p:sp>
      <p:sp>
        <p:nvSpPr>
          <p:cNvPr id="39" name="Text 36"/>
          <p:cNvSpPr txBox="1"/>
          <p:nvPr/>
        </p:nvSpPr>
        <p:spPr>
          <a:xfrm>
            <a:off x="6793992" y="3337560"/>
            <a:ext cx="1819656" cy="1097280"/>
          </a:xfrm>
          <a:prstGeom prst="rect">
            <a:avLst/>
          </a:prstGeom>
          <a:noFill/>
          <a:ln/>
        </p:spPr>
        <p:txBody>
          <a:bodyPr wrap="square" lIns="0" tIns="0" rIns="0" bIns="0" rtlCol="0" anchor="ctr"/>
          <a:lstStyle/>
          <a:p>
            <a:pPr algn="ctr" indent="0" marL="0">
              <a:buNone/>
            </a:pPr>
            <a:r>
              <a:rPr lang="en-US" sz="900" dirty="0">
                <a:solidFill>
                  <a:srgbClr val="1D1D1F"/>
                </a:solidFill>
                <a:latin typeface="SF Pro Text" pitchFamily="34" charset="0"/>
                <a:ea typeface="SF Pro Text" pitchFamily="34" charset="-122"/>
                <a:cs typeface="SF Pro Text" pitchFamily="34" charset="-120"/>
              </a:rPr>
              <a:t>Offer a Priority Booking and address other concerns.</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RESCHEDULE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Penalty and reason code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first unauthorized reschedule is coaching only.</a:t>
            </a:r>
            <a:endParaRPr lang="en-US" sz="1200" dirty="0"/>
          </a:p>
        </p:txBody>
      </p:sp>
      <p:sp>
        <p:nvSpPr>
          <p:cNvPr id="6" name="Shape 3"/>
          <p:cNvSpPr/>
          <p:nvPr/>
        </p:nvSpPr>
        <p:spPr>
          <a:xfrm>
            <a:off x="411480" y="1280160"/>
            <a:ext cx="4091940" cy="1417320"/>
          </a:xfrm>
          <a:prstGeom prst="roundRect">
            <a:avLst>
              <a:gd name="adj" fmla="val 5161"/>
            </a:avLst>
          </a:prstGeom>
          <a:solidFill>
            <a:srgbClr val="FFFFFF"/>
          </a:solidFill>
          <a:ln w="9525">
            <a:solidFill>
              <a:srgbClr val="DCE1E7"/>
            </a:solidFill>
            <a:prstDash val="solid"/>
          </a:ln>
        </p:spPr>
      </p:sp>
      <p:sp>
        <p:nvSpPr>
          <p:cNvPr id="7" name="Shape 4"/>
          <p:cNvSpPr/>
          <p:nvPr/>
        </p:nvSpPr>
        <p:spPr>
          <a:xfrm>
            <a:off x="576072" y="146304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1st instance</a:t>
            </a:r>
            <a:endParaRPr lang="en-US" sz="1200" dirty="0"/>
          </a:p>
        </p:txBody>
      </p:sp>
      <p:sp>
        <p:nvSpPr>
          <p:cNvPr id="10" name="Text 7"/>
          <p:cNvSpPr txBox="1"/>
          <p:nvPr/>
        </p:nvSpPr>
        <p:spPr>
          <a:xfrm>
            <a:off x="576072" y="2176272"/>
            <a:ext cx="37627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Warning macro. No status change.</a:t>
            </a:r>
            <a:endParaRPr lang="en-US" sz="950" dirty="0"/>
          </a:p>
        </p:txBody>
      </p:sp>
      <p:sp>
        <p:nvSpPr>
          <p:cNvPr id="11" name="Shape 8"/>
          <p:cNvSpPr/>
          <p:nvPr/>
        </p:nvSpPr>
        <p:spPr>
          <a:xfrm>
            <a:off x="4640580" y="1280160"/>
            <a:ext cx="4091940" cy="1417320"/>
          </a:xfrm>
          <a:prstGeom prst="roundRect">
            <a:avLst>
              <a:gd name="adj" fmla="val 5161"/>
            </a:avLst>
          </a:prstGeom>
          <a:solidFill>
            <a:srgbClr val="FFFFFF"/>
          </a:solidFill>
          <a:ln w="9525">
            <a:solidFill>
              <a:srgbClr val="DCE1E7"/>
            </a:solidFill>
            <a:prstDash val="solid"/>
          </a:ln>
        </p:spPr>
      </p:sp>
      <p:sp>
        <p:nvSpPr>
          <p:cNvPr id="12" name="Shape 9"/>
          <p:cNvSpPr/>
          <p:nvPr/>
        </p:nvSpPr>
        <p:spPr>
          <a:xfrm>
            <a:off x="4805172" y="146304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4805172" y="146304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4805172" y="188366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2nd+ instance</a:t>
            </a:r>
            <a:endParaRPr lang="en-US" sz="1200" dirty="0"/>
          </a:p>
        </p:txBody>
      </p:sp>
      <p:sp>
        <p:nvSpPr>
          <p:cNvPr id="15" name="Text 12"/>
          <p:cNvSpPr txBox="1"/>
          <p:nvPr/>
        </p:nvSpPr>
        <p:spPr>
          <a:xfrm>
            <a:off x="4805172" y="2176272"/>
            <a:ext cx="37627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norequests plus the warning macro. Check messages and flags for an earlier warning first.</a:t>
            </a:r>
            <a:endParaRPr lang="en-US" sz="950" dirty="0"/>
          </a:p>
        </p:txBody>
      </p:sp>
      <p:sp>
        <p:nvSpPr>
          <p:cNvPr id="16" name="Shape 13"/>
          <p:cNvSpPr/>
          <p:nvPr/>
        </p:nvSpPr>
        <p:spPr>
          <a:xfrm>
            <a:off x="411480" y="2834640"/>
            <a:ext cx="8321040" cy="566928"/>
          </a:xfrm>
          <a:prstGeom prst="roundRect">
            <a:avLst>
              <a:gd name="adj" fmla="val 12903"/>
            </a:avLst>
          </a:prstGeom>
          <a:solidFill>
            <a:srgbClr val="FFFFFF"/>
          </a:solidFill>
          <a:ln w="9525">
            <a:solidFill>
              <a:srgbClr val="DCE1E7"/>
            </a:solidFill>
            <a:prstDash val="solid"/>
          </a:ln>
        </p:spPr>
      </p:sp>
      <p:sp>
        <p:nvSpPr>
          <p:cNvPr id="17" name="Text 14"/>
          <p:cNvSpPr txBox="1"/>
          <p:nvPr/>
        </p:nvSpPr>
        <p:spPr>
          <a:xfrm>
            <a:off x="594360" y="2834640"/>
            <a:ext cx="8046720" cy="566928"/>
          </a:xfrm>
          <a:prstGeom prst="rect">
            <a:avLst/>
          </a:prstGeom>
          <a:noFill/>
          <a:ln/>
        </p:spPr>
        <p:txBody>
          <a:bodyPr wrap="square" lIns="0" tIns="0" rIns="0" bIns="0" rtlCol="0" anchor="ct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CP-facing reason  </a:t>
            </a:r>
            <a:pPr indent="0" marL="0">
              <a:buNone/>
            </a:pPr>
            <a:r>
              <a:rPr lang="en-US" sz="950" dirty="0">
                <a:solidFill>
                  <a:srgbClr val="1D1D1F"/>
                </a:solidFill>
                <a:latin typeface="SF Pro Text" pitchFamily="34" charset="0"/>
                <a:ea typeface="SF Pro Text" pitchFamily="34" charset="-122"/>
                <a:cs typeface="SF Pro Text" pitchFamily="34" charset="-120"/>
              </a:rPr>
              <a:t>cpq_reschedule Your customer &lt;C'S NAME&gt; reported you rescheduled their &lt;DAY, DATE&gt; job without permission. Submit reactivation appeal through dashboard.</a:t>
            </a:r>
            <a:endParaRPr lang="en-US" sz="950" dirty="0"/>
          </a:p>
        </p:txBody>
      </p:sp>
      <p:sp>
        <p:nvSpPr>
          <p:cNvPr id="18" name="Shape 15"/>
          <p:cNvSpPr/>
          <p:nvPr/>
        </p:nvSpPr>
        <p:spPr>
          <a:xfrm>
            <a:off x="411480" y="3566160"/>
            <a:ext cx="8321040" cy="384048"/>
          </a:xfrm>
          <a:prstGeom prst="roundRect">
            <a:avLst>
              <a:gd name="adj" fmla="val 19048"/>
            </a:avLst>
          </a:prstGeom>
          <a:solidFill>
            <a:srgbClr val="FFF3D6"/>
          </a:solidFill>
          <a:ln w="9525">
            <a:solidFill>
              <a:srgbClr val="FFF3D6"/>
            </a:solidFill>
            <a:prstDash val="solid"/>
          </a:ln>
        </p:spPr>
      </p:sp>
      <p:pic>
        <p:nvPicPr>
          <p:cNvPr id="19" name="Image 0" descr="preencoded.png">    </p:cNvPr>
          <p:cNvPicPr>
            <a:picLocks noChangeAspect="1"/>
          </p:cNvPicPr>
          <p:nvPr/>
        </p:nvPicPr>
        <p:blipFill>
          <a:blip r:embed="rId1"/>
          <a:stretch>
            <a:fillRect/>
          </a:stretch>
        </p:blipFill>
        <p:spPr>
          <a:xfrm>
            <a:off x="566928" y="3675888"/>
            <a:ext cx="164592" cy="164592"/>
          </a:xfrm>
          <a:prstGeom prst="rect">
            <a:avLst/>
          </a:prstGeom>
        </p:spPr>
      </p:pic>
      <p:sp>
        <p:nvSpPr>
          <p:cNvPr id="20" name="Text 16"/>
          <p:cNvSpPr txBox="1"/>
          <p:nvPr/>
        </p:nvSpPr>
        <p:spPr>
          <a:xfrm>
            <a:off x="822960" y="36667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Never:  </a:t>
            </a:r>
            <a:pPr indent="0" marL="0">
              <a:buNone/>
            </a:pPr>
            <a:r>
              <a:rPr lang="en-US" sz="1000" dirty="0">
                <a:solidFill>
                  <a:srgbClr val="1D1D1F"/>
                </a:solidFill>
                <a:latin typeface="SF Pro Text" pitchFamily="34" charset="0"/>
                <a:ea typeface="SF Pro Text" pitchFamily="34" charset="-122"/>
                <a:cs typeface="SF Pro Text" pitchFamily="34" charset="-120"/>
              </a:rPr>
              <a:t>C-side agents never suspend or add DNR. Repeat offenders are the CP-side team's call.</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RESCHEDULE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What's the first thing you check?</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Whether the job is still assigned to the CP who rescheduled it.</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Still assigned. The original start time is 4 days away. What do you do?</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Add the cp_unauthorized_reschedule flag, then reschedule back to the original time via the Customer Dashboard.</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Still assigned, original start in 30 hours, cohort 50_to_100_pct. What do you do?</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Cancel via CRM (CP no-show/reschedule), rebook via CRM, add the internal note, tell the customer, offer Alternate Start Times.</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It's the CP's first unauthorized reschedule. Change their status?</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Warning macro only. 2nd+ instance: norequests plus the warning.</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64</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CASH PAYMENT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Let's practice!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Review the live ticket and investigate.</a:t>
            </a:r>
            <a:endParaRPr lang="en-US" sz="1200" dirty="0"/>
          </a:p>
        </p:txBody>
      </p:sp>
      <p:sp>
        <p:nvSpPr>
          <p:cNvPr id="6" name="Shape 3"/>
          <p:cNvSpPr/>
          <p:nvPr/>
        </p:nvSpPr>
        <p:spPr>
          <a:xfrm>
            <a:off x="411480" y="1325880"/>
            <a:ext cx="3566160" cy="2743200"/>
          </a:xfrm>
          <a:prstGeom prst="roundRect">
            <a:avLst>
              <a:gd name="adj" fmla="val 2667"/>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323697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Live ticket</a:t>
            </a:r>
            <a:endParaRPr lang="en-US" sz="1200" dirty="0"/>
          </a:p>
        </p:txBody>
      </p:sp>
      <p:sp>
        <p:nvSpPr>
          <p:cNvPr id="10" name="Text 6"/>
          <p:cNvSpPr txBox="1"/>
          <p:nvPr/>
        </p:nvSpPr>
        <p:spPr>
          <a:xfrm>
            <a:off x="576072" y="2221992"/>
            <a:ext cx="3236976" cy="1755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Your trainer will provide a live ticket. Review it and investigate before you decide anything.</a:t>
            </a:r>
            <a:endParaRPr lang="en-US" sz="950" dirty="0"/>
          </a:p>
        </p:txBody>
      </p:sp>
      <p:sp>
        <p:nvSpPr>
          <p:cNvPr id="11" name="Shape 7"/>
          <p:cNvSpPr/>
          <p:nvPr/>
        </p:nvSpPr>
        <p:spPr>
          <a:xfrm>
            <a:off x="594360" y="3520440"/>
            <a:ext cx="1234440" cy="274320"/>
          </a:xfrm>
          <a:prstGeom prst="roundRect">
            <a:avLst>
              <a:gd name="adj" fmla="val 26667"/>
            </a:avLst>
          </a:prstGeom>
          <a:solidFill>
            <a:srgbClr val="FFF3D6"/>
          </a:solidFill>
          <a:ln w="9525">
            <a:solidFill>
              <a:srgbClr val="FFF3D6"/>
            </a:solidFill>
            <a:prstDash val="solid"/>
          </a:ln>
        </p:spPr>
      </p:sp>
      <p:sp>
        <p:nvSpPr>
          <p:cNvPr id="12" name="Text 8"/>
          <p:cNvSpPr txBox="1"/>
          <p:nvPr/>
        </p:nvSpPr>
        <p:spPr>
          <a:xfrm>
            <a:off x="594360" y="3520440"/>
            <a:ext cx="1234440" cy="274320"/>
          </a:xfrm>
          <a:prstGeom prst="rect">
            <a:avLst/>
          </a:prstGeom>
          <a:noFill/>
          <a:ln/>
        </p:spPr>
        <p:txBody>
          <a:bodyPr wrap="square" lIns="0" tIns="0" rIns="0" bIns="0" rtlCol="0" anchor="ctr"/>
          <a:lstStyle/>
          <a:p>
            <a:pPr algn="ctr" indent="0" marL="0">
              <a:buNone/>
            </a:pPr>
            <a:r>
              <a:rPr lang="en-US" sz="800" b="1" dirty="0">
                <a:solidFill>
                  <a:srgbClr val="9A6410"/>
                </a:solidFill>
                <a:latin typeface="SF Pro Text" pitchFamily="34" charset="0"/>
                <a:ea typeface="SF Pro Text" pitchFamily="34" charset="-122"/>
                <a:cs typeface="SF Pro Text" pitchFamily="34" charset="-120"/>
              </a:rPr>
              <a:t>Trainer provides</a:t>
            </a:r>
            <a:endParaRPr lang="en-US" sz="800" dirty="0"/>
          </a:p>
        </p:txBody>
      </p:sp>
      <p:sp>
        <p:nvSpPr>
          <p:cNvPr id="13" name="Shape 9"/>
          <p:cNvSpPr/>
          <p:nvPr/>
        </p:nvSpPr>
        <p:spPr>
          <a:xfrm>
            <a:off x="4114800" y="1325880"/>
            <a:ext cx="4617720" cy="1298448"/>
          </a:xfrm>
          <a:prstGeom prst="roundRect">
            <a:avLst>
              <a:gd name="adj" fmla="val 5634"/>
            </a:avLst>
          </a:prstGeom>
          <a:solidFill>
            <a:srgbClr val="FFFFFF"/>
          </a:solidFill>
          <a:ln w="9525">
            <a:solidFill>
              <a:srgbClr val="DCE1E7"/>
            </a:solidFill>
            <a:prstDash val="solid"/>
          </a:ln>
        </p:spPr>
      </p:sp>
      <p:sp>
        <p:nvSpPr>
          <p:cNvPr id="14" name="Shape 10"/>
          <p:cNvSpPr/>
          <p:nvPr/>
        </p:nvSpPr>
        <p:spPr>
          <a:xfrm>
            <a:off x="4279392" y="1508760"/>
            <a:ext cx="274320" cy="274320"/>
          </a:xfrm>
          <a:prstGeom prst="ellipse">
            <a:avLst/>
          </a:prstGeom>
          <a:solidFill>
            <a:srgbClr val="E3F4F1"/>
          </a:solidFill>
          <a:ln w="12700">
            <a:solidFill>
              <a:srgbClr val="E3F4F1"/>
            </a:solidFill>
            <a:prstDash val="solid"/>
          </a:ln>
        </p:spPr>
      </p:sp>
      <p:sp>
        <p:nvSpPr>
          <p:cNvPr id="15" name="Text 11"/>
          <p:cNvSpPr txBox="1"/>
          <p:nvPr/>
        </p:nvSpPr>
        <p:spPr>
          <a:xfrm>
            <a:off x="427939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6" name="Text 12"/>
          <p:cNvSpPr txBox="1"/>
          <p:nvPr/>
        </p:nvSpPr>
        <p:spPr>
          <a:xfrm>
            <a:off x="4279392" y="1929384"/>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What will be your actions?</a:t>
            </a:r>
            <a:endParaRPr lang="en-US" sz="1200" dirty="0"/>
          </a:p>
        </p:txBody>
      </p:sp>
      <p:sp>
        <p:nvSpPr>
          <p:cNvPr id="17" name="Text 13"/>
          <p:cNvSpPr txBox="1"/>
          <p:nvPr/>
        </p:nvSpPr>
        <p:spPr>
          <a:xfrm>
            <a:off x="4279392" y="2221992"/>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Which issue is it, and what will you do on the account?</a:t>
            </a:r>
            <a:endParaRPr lang="en-US" sz="950" dirty="0"/>
          </a:p>
        </p:txBody>
      </p:sp>
      <p:sp>
        <p:nvSpPr>
          <p:cNvPr id="18" name="Shape 14"/>
          <p:cNvSpPr/>
          <p:nvPr/>
        </p:nvSpPr>
        <p:spPr>
          <a:xfrm>
            <a:off x="4114800" y="2770632"/>
            <a:ext cx="4617720" cy="1298448"/>
          </a:xfrm>
          <a:prstGeom prst="roundRect">
            <a:avLst>
              <a:gd name="adj" fmla="val 5634"/>
            </a:avLst>
          </a:prstGeom>
          <a:solidFill>
            <a:srgbClr val="FFFFFF"/>
          </a:solidFill>
          <a:ln w="9525">
            <a:solidFill>
              <a:srgbClr val="DCE1E7"/>
            </a:solidFill>
            <a:prstDash val="solid"/>
          </a:ln>
        </p:spPr>
      </p:sp>
      <p:sp>
        <p:nvSpPr>
          <p:cNvPr id="19" name="Shape 15"/>
          <p:cNvSpPr/>
          <p:nvPr/>
        </p:nvSpPr>
        <p:spPr>
          <a:xfrm>
            <a:off x="4279392" y="2953512"/>
            <a:ext cx="274320" cy="274320"/>
          </a:xfrm>
          <a:prstGeom prst="ellipse">
            <a:avLst/>
          </a:prstGeom>
          <a:solidFill>
            <a:srgbClr val="E3F4F1"/>
          </a:solidFill>
          <a:ln w="12700">
            <a:solidFill>
              <a:srgbClr val="E3F4F1"/>
            </a:solidFill>
            <a:prstDash val="solid"/>
          </a:ln>
        </p:spPr>
      </p:sp>
      <p:sp>
        <p:nvSpPr>
          <p:cNvPr id="20" name="Text 16"/>
          <p:cNvSpPr txBox="1"/>
          <p:nvPr/>
        </p:nvSpPr>
        <p:spPr>
          <a:xfrm>
            <a:off x="4279392" y="295351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21" name="Text 17"/>
          <p:cNvSpPr txBox="1"/>
          <p:nvPr/>
        </p:nvSpPr>
        <p:spPr>
          <a:xfrm>
            <a:off x="4279392" y="3374136"/>
            <a:ext cx="428853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How will you respond to the customer?</a:t>
            </a:r>
            <a:endParaRPr lang="en-US" sz="1200" dirty="0"/>
          </a:p>
        </p:txBody>
      </p:sp>
      <p:sp>
        <p:nvSpPr>
          <p:cNvPr id="22" name="Text 18"/>
          <p:cNvSpPr txBox="1"/>
          <p:nvPr/>
        </p:nvSpPr>
        <p:spPr>
          <a:xfrm>
            <a:off x="4279392" y="3666744"/>
            <a:ext cx="4288536" cy="310896"/>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Write the reply you would send.</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UNAUTHORIZED RESCHEDULE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Check before you fix</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Still assigned? How far is the original start?</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Avoid a new Priority Fee</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48 hours or less: check the cohort before rebooking.</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Coach first</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1st: warning only. 2nd+: norequests + warning.</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08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Trust and Safety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Reports that put a person's safety, property or wellbeing at risk.</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T&amp;S covers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always escalates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the customer must ask</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Who decides refunds, ETF and retention</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11.png">    </p:cNvPr>
          <p:cNvPicPr>
            <a:picLocks noChangeAspect="1"/>
          </p:cNvPicPr>
          <p:nvPr/>
        </p:nvPicPr>
        <p:blipFill>
          <a:blip r:embed="rId5"/>
          <a:stretch>
            <a:fillRect/>
          </a:stretch>
        </p:blipFill>
        <p:spPr>
          <a:xfrm>
            <a:off x="5795010" y="1517904"/>
            <a:ext cx="2418588"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is Trust and Safety?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Any report of behavior that could compromise one of these three.</a:t>
            </a:r>
            <a:endParaRPr lang="en-US" sz="1200" dirty="0"/>
          </a:p>
        </p:txBody>
      </p:sp>
      <p:sp>
        <p:nvSpPr>
          <p:cNvPr id="6" name="Shape 3"/>
          <p:cNvSpPr/>
          <p:nvPr/>
        </p:nvSpPr>
        <p:spPr>
          <a:xfrm>
            <a:off x="411480" y="1325880"/>
            <a:ext cx="2682240" cy="1554480"/>
          </a:xfrm>
          <a:prstGeom prst="roundRect">
            <a:avLst>
              <a:gd name="adj" fmla="val 4706"/>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Personal safety</a:t>
            </a:r>
            <a:endParaRPr lang="en-US" sz="1200" dirty="0"/>
          </a:p>
        </p:txBody>
      </p:sp>
      <p:sp>
        <p:nvSpPr>
          <p:cNvPr id="10" name="Text 6"/>
          <p:cNvSpPr txBox="1"/>
          <p:nvPr/>
        </p:nvSpPr>
        <p:spPr>
          <a:xfrm>
            <a:off x="576072" y="2221992"/>
            <a:ext cx="2353056" cy="5669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Physical or emotional risk to the customer or the cleaner.</a:t>
            </a:r>
            <a:endParaRPr lang="en-US" sz="950" dirty="0"/>
          </a:p>
        </p:txBody>
      </p:sp>
      <p:sp>
        <p:nvSpPr>
          <p:cNvPr id="11" name="Shape 7"/>
          <p:cNvSpPr/>
          <p:nvPr/>
        </p:nvSpPr>
        <p:spPr>
          <a:xfrm>
            <a:off x="3230880" y="1325880"/>
            <a:ext cx="2682240" cy="1554480"/>
          </a:xfrm>
          <a:prstGeom prst="roundRect">
            <a:avLst>
              <a:gd name="adj" fmla="val 4706"/>
            </a:avLst>
          </a:prstGeom>
          <a:solidFill>
            <a:srgbClr val="FFFFFF"/>
          </a:solidFill>
          <a:ln w="9525">
            <a:solidFill>
              <a:srgbClr val="DCE1E7"/>
            </a:solidFill>
            <a:prstDash val="solid"/>
          </a:ln>
        </p:spPr>
      </p:sp>
      <p:sp>
        <p:nvSpPr>
          <p:cNvPr id="12" name="Shape 8"/>
          <p:cNvSpPr/>
          <p:nvPr/>
        </p:nvSpPr>
        <p:spPr>
          <a:xfrm>
            <a:off x="3395472" y="14904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1569476"/>
            <a:ext cx="171176" cy="171176"/>
          </a:xfrm>
          <a:prstGeom prst="rect">
            <a:avLst/>
          </a:prstGeom>
        </p:spPr>
      </p:pic>
      <p:sp>
        <p:nvSpPr>
          <p:cNvPr id="14" name="Text 9"/>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Property security</a:t>
            </a:r>
            <a:endParaRPr lang="en-US" sz="1200" dirty="0"/>
          </a:p>
        </p:txBody>
      </p:sp>
      <p:sp>
        <p:nvSpPr>
          <p:cNvPr id="15" name="Text 10"/>
          <p:cNvSpPr txBox="1"/>
          <p:nvPr/>
        </p:nvSpPr>
        <p:spPr>
          <a:xfrm>
            <a:off x="3395472" y="2221992"/>
            <a:ext cx="2353056" cy="5669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Theft, damage, or a home left unsecured.</a:t>
            </a:r>
            <a:endParaRPr lang="en-US" sz="950" dirty="0"/>
          </a:p>
        </p:txBody>
      </p:sp>
      <p:sp>
        <p:nvSpPr>
          <p:cNvPr id="16" name="Shape 11"/>
          <p:cNvSpPr/>
          <p:nvPr/>
        </p:nvSpPr>
        <p:spPr>
          <a:xfrm>
            <a:off x="6050280" y="1325880"/>
            <a:ext cx="2682240" cy="1554480"/>
          </a:xfrm>
          <a:prstGeom prst="roundRect">
            <a:avLst>
              <a:gd name="adj" fmla="val 4706"/>
            </a:avLst>
          </a:prstGeom>
          <a:solidFill>
            <a:srgbClr val="FFFFFF"/>
          </a:solidFill>
          <a:ln w="9525">
            <a:solidFill>
              <a:srgbClr val="DCE1E7"/>
            </a:solidFill>
            <a:prstDash val="solid"/>
          </a:ln>
        </p:spPr>
      </p:sp>
      <p:sp>
        <p:nvSpPr>
          <p:cNvPr id="17" name="Shape 12"/>
          <p:cNvSpPr/>
          <p:nvPr/>
        </p:nvSpPr>
        <p:spPr>
          <a:xfrm>
            <a:off x="6214872" y="149047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1569476"/>
            <a:ext cx="171176" cy="171176"/>
          </a:xfrm>
          <a:prstGeom prst="rect">
            <a:avLst/>
          </a:prstGeom>
        </p:spPr>
      </p:pic>
      <p:sp>
        <p:nvSpPr>
          <p:cNvPr id="19" name="Text 13"/>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Professional conduct</a:t>
            </a:r>
            <a:endParaRPr lang="en-US" sz="1200" dirty="0"/>
          </a:p>
        </p:txBody>
      </p:sp>
      <p:sp>
        <p:nvSpPr>
          <p:cNvPr id="20" name="Text 14"/>
          <p:cNvSpPr txBox="1"/>
          <p:nvPr/>
        </p:nvSpPr>
        <p:spPr>
          <a:xfrm>
            <a:off x="6214872" y="2221992"/>
            <a:ext cx="2353056" cy="5669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Harassment, discrimination, unwanted contact, substances.</a:t>
            </a:r>
            <a:endParaRPr lang="en-US" sz="950" dirty="0"/>
          </a:p>
        </p:txBody>
      </p:sp>
      <p:sp>
        <p:nvSpPr>
          <p:cNvPr id="21" name="Shape 15"/>
          <p:cNvSpPr/>
          <p:nvPr/>
        </p:nvSpPr>
        <p:spPr>
          <a:xfrm>
            <a:off x="411480" y="310896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218688"/>
            <a:ext cx="164592" cy="164592"/>
          </a:xfrm>
          <a:prstGeom prst="rect">
            <a:avLst/>
          </a:prstGeom>
        </p:spPr>
      </p:pic>
      <p:sp>
        <p:nvSpPr>
          <p:cNvPr id="23" name="Text 16"/>
          <p:cNvSpPr txBox="1"/>
          <p:nvPr/>
        </p:nvSpPr>
        <p:spPr>
          <a:xfrm>
            <a:off x="822960" y="32095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Your role:  </a:t>
            </a:r>
            <a:pPr indent="0" marL="0">
              <a:buNone/>
            </a:pPr>
            <a:r>
              <a:rPr lang="en-US" sz="1000" dirty="0">
                <a:solidFill>
                  <a:srgbClr val="1D1D1F"/>
                </a:solidFill>
                <a:latin typeface="SF Pro Text" pitchFamily="34" charset="0"/>
                <a:ea typeface="SF Pro Text" pitchFamily="34" charset="-122"/>
                <a:cs typeface="SF Pro Text" pitchFamily="34" charset="-120"/>
              </a:rPr>
              <a:t>recognize the issue and escalate it. Don't investigate it or resolve it.</a:t>
            </a:r>
            <a:endParaRPr lang="en-US" sz="1000" dirty="0"/>
          </a:p>
        </p:txBody>
      </p:sp>
      <p:sp>
        <p:nvSpPr>
          <p:cNvPr id="24" name="Shape 17"/>
          <p:cNvSpPr/>
          <p:nvPr/>
        </p:nvSpPr>
        <p:spPr>
          <a:xfrm>
            <a:off x="411480" y="3611880"/>
            <a:ext cx="8321040" cy="384048"/>
          </a:xfrm>
          <a:prstGeom prst="roundRect">
            <a:avLst>
              <a:gd name="adj" fmla="val 19048"/>
            </a:avLst>
          </a:prstGeom>
          <a:solidFill>
            <a:srgbClr val="FFF3D6"/>
          </a:solidFill>
          <a:ln w="9525">
            <a:solidFill>
              <a:srgbClr val="FFF3D6"/>
            </a:solidFill>
            <a:prstDash val="solid"/>
          </a:ln>
        </p:spPr>
      </p:sp>
      <p:pic>
        <p:nvPicPr>
          <p:cNvPr id="25" name="Image 4" descr="preencoded.png">    </p:cNvPr>
          <p:cNvPicPr>
            <a:picLocks noChangeAspect="1"/>
          </p:cNvPicPr>
          <p:nvPr/>
        </p:nvPicPr>
        <p:blipFill>
          <a:blip r:embed="rId5"/>
          <a:stretch>
            <a:fillRect/>
          </a:stretch>
        </p:blipFill>
        <p:spPr>
          <a:xfrm>
            <a:off x="566928" y="3721608"/>
            <a:ext cx="164592" cy="164592"/>
          </a:xfrm>
          <a:prstGeom prst="rect">
            <a:avLst/>
          </a:prstGeom>
        </p:spPr>
      </p:pic>
      <p:sp>
        <p:nvSpPr>
          <p:cNvPr id="26" name="Text 18"/>
          <p:cNvSpPr txBox="1"/>
          <p:nvPr/>
        </p:nvSpPr>
        <p:spPr>
          <a:xfrm>
            <a:off x="822960" y="37124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Unsure?  </a:t>
            </a:r>
            <a:pPr indent="0" marL="0">
              <a:buNone/>
            </a:pPr>
            <a:r>
              <a:rPr lang="en-US" sz="1000" dirty="0">
                <a:solidFill>
                  <a:srgbClr val="1D1D1F"/>
                </a:solidFill>
                <a:latin typeface="SF Pro Text" pitchFamily="34" charset="0"/>
                <a:ea typeface="SF Pro Text" pitchFamily="34" charset="-122"/>
                <a:cs typeface="SF Pro Text" pitchFamily="34" charset="-120"/>
              </a:rPr>
              <a:t>if it feels risky, escalate. You don't need certainty.</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handling process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Escalate as soon as a T&amp;S indicator is confirmed.</a:t>
            </a:r>
            <a:endParaRPr lang="en-US" sz="1200" dirty="0"/>
          </a:p>
        </p:txBody>
      </p:sp>
      <p:sp>
        <p:nvSpPr>
          <p:cNvPr id="6" name="Shape 3"/>
          <p:cNvSpPr/>
          <p:nvPr/>
        </p:nvSpPr>
        <p:spPr>
          <a:xfrm>
            <a:off x="411480" y="1463040"/>
            <a:ext cx="1874520" cy="566928"/>
          </a:xfrm>
          <a:prstGeom prst="roundRect">
            <a:avLst>
              <a:gd name="adj" fmla="val 12903"/>
            </a:avLst>
          </a:prstGeom>
          <a:solidFill>
            <a:srgbClr val="1D1D1F"/>
          </a:solidFill>
          <a:ln w="12700">
            <a:solidFill>
              <a:srgbClr val="1D1D1F"/>
            </a:solidFill>
            <a:prstDash val="solid"/>
          </a:ln>
        </p:spPr>
      </p:sp>
      <p:sp>
        <p:nvSpPr>
          <p:cNvPr id="7" name="Text 4"/>
          <p:cNvSpPr txBox="1"/>
          <p:nvPr/>
        </p:nvSpPr>
        <p:spPr>
          <a:xfrm>
            <a:off x="411480" y="1463040"/>
            <a:ext cx="187452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T&amp;S indicator confirmed</a:t>
            </a:r>
            <a:endParaRPr lang="en-US" sz="1000" dirty="0"/>
          </a:p>
        </p:txBody>
      </p:sp>
      <p:sp>
        <p:nvSpPr>
          <p:cNvPr id="8" name="Shape 5"/>
          <p:cNvSpPr/>
          <p:nvPr/>
        </p:nvSpPr>
        <p:spPr>
          <a:xfrm>
            <a:off x="2286000" y="1746504"/>
            <a:ext cx="274320" cy="0"/>
          </a:xfrm>
          <a:prstGeom prst="line">
            <a:avLst/>
          </a:prstGeom>
          <a:noFill/>
          <a:ln w="12700">
            <a:solidFill>
              <a:srgbClr val="6E6E73"/>
            </a:solidFill>
            <a:prstDash val="solid"/>
            <a:tailEnd type="triangle"/>
          </a:ln>
        </p:spPr>
      </p:sp>
      <p:sp>
        <p:nvSpPr>
          <p:cNvPr id="9" name="Text 6"/>
          <p:cNvSpPr txBox="1"/>
          <p:nvPr/>
        </p:nvSpPr>
        <p:spPr>
          <a:xfrm>
            <a:off x="411480" y="2121408"/>
            <a:ext cx="1874520" cy="11887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Matches an always-escalate item, or the customer asked (conditional cases).</a:t>
            </a:r>
            <a:endParaRPr lang="en-US" sz="900" dirty="0"/>
          </a:p>
        </p:txBody>
      </p:sp>
      <p:sp>
        <p:nvSpPr>
          <p:cNvPr id="10" name="Shape 7"/>
          <p:cNvSpPr/>
          <p:nvPr/>
        </p:nvSpPr>
        <p:spPr>
          <a:xfrm>
            <a:off x="2560320" y="1463040"/>
            <a:ext cx="1874520" cy="566928"/>
          </a:xfrm>
          <a:prstGeom prst="roundRect">
            <a:avLst>
              <a:gd name="adj" fmla="val 12903"/>
            </a:avLst>
          </a:prstGeom>
          <a:solidFill>
            <a:srgbClr val="0B7A6F"/>
          </a:solidFill>
          <a:ln w="12700">
            <a:solidFill>
              <a:srgbClr val="0B7A6F"/>
            </a:solidFill>
            <a:prstDash val="solid"/>
          </a:ln>
        </p:spPr>
      </p:sp>
      <p:sp>
        <p:nvSpPr>
          <p:cNvPr id="11" name="Text 8"/>
          <p:cNvSpPr txBox="1"/>
          <p:nvPr/>
        </p:nvSpPr>
        <p:spPr>
          <a:xfrm>
            <a:off x="2560320" y="1463040"/>
            <a:ext cx="187452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Escalate to T&amp;S</a:t>
            </a:r>
            <a:endParaRPr lang="en-US" sz="1000" dirty="0"/>
          </a:p>
        </p:txBody>
      </p:sp>
      <p:sp>
        <p:nvSpPr>
          <p:cNvPr id="12" name="Shape 9"/>
          <p:cNvSpPr/>
          <p:nvPr/>
        </p:nvSpPr>
        <p:spPr>
          <a:xfrm>
            <a:off x="4434840" y="1746504"/>
            <a:ext cx="274320" cy="0"/>
          </a:xfrm>
          <a:prstGeom prst="line">
            <a:avLst/>
          </a:prstGeom>
          <a:noFill/>
          <a:ln w="12700">
            <a:solidFill>
              <a:srgbClr val="6E6E73"/>
            </a:solidFill>
            <a:prstDash val="solid"/>
            <a:tailEnd type="triangle"/>
          </a:ln>
        </p:spPr>
      </p:sp>
      <p:sp>
        <p:nvSpPr>
          <p:cNvPr id="13" name="Text 10"/>
          <p:cNvSpPr txBox="1"/>
          <p:nvPr/>
        </p:nvSpPr>
        <p:spPr>
          <a:xfrm>
            <a:off x="2560320" y="2121408"/>
            <a:ext cx="1874520" cy="11887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Right away. Macro: Escalate report to T&amp;S.</a:t>
            </a:r>
            <a:endParaRPr lang="en-US" sz="900" dirty="0"/>
          </a:p>
        </p:txBody>
      </p:sp>
      <p:sp>
        <p:nvSpPr>
          <p:cNvPr id="14" name="Shape 11"/>
          <p:cNvSpPr/>
          <p:nvPr/>
        </p:nvSpPr>
        <p:spPr>
          <a:xfrm>
            <a:off x="4709160" y="1463040"/>
            <a:ext cx="1874520" cy="566928"/>
          </a:xfrm>
          <a:prstGeom prst="roundRect">
            <a:avLst>
              <a:gd name="adj" fmla="val 12903"/>
            </a:avLst>
          </a:prstGeom>
          <a:solidFill>
            <a:srgbClr val="0B7A6F"/>
          </a:solidFill>
          <a:ln w="12700">
            <a:solidFill>
              <a:srgbClr val="0B7A6F"/>
            </a:solidFill>
            <a:prstDash val="solid"/>
          </a:ln>
        </p:spPr>
      </p:sp>
      <p:sp>
        <p:nvSpPr>
          <p:cNvPr id="15" name="Text 12"/>
          <p:cNvSpPr txBox="1"/>
          <p:nvPr/>
        </p:nvSpPr>
        <p:spPr>
          <a:xfrm>
            <a:off x="4709160" y="1463040"/>
            <a:ext cx="187452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Email the customer</a:t>
            </a:r>
            <a:endParaRPr lang="en-US" sz="1000" dirty="0"/>
          </a:p>
        </p:txBody>
      </p:sp>
      <p:sp>
        <p:nvSpPr>
          <p:cNvPr id="16" name="Shape 13"/>
          <p:cNvSpPr/>
          <p:nvPr/>
        </p:nvSpPr>
        <p:spPr>
          <a:xfrm>
            <a:off x="6583680" y="1746504"/>
            <a:ext cx="274320" cy="0"/>
          </a:xfrm>
          <a:prstGeom prst="line">
            <a:avLst/>
          </a:prstGeom>
          <a:noFill/>
          <a:ln w="12700">
            <a:solidFill>
              <a:srgbClr val="6E6E73"/>
            </a:solidFill>
            <a:prstDash val="solid"/>
            <a:tailEnd type="triangle"/>
          </a:ln>
        </p:spPr>
      </p:sp>
      <p:sp>
        <p:nvSpPr>
          <p:cNvPr id="17" name="Text 14"/>
          <p:cNvSpPr txBox="1"/>
          <p:nvPr/>
        </p:nvSpPr>
        <p:spPr>
          <a:xfrm>
            <a:off x="4709160" y="2121408"/>
            <a:ext cx="1874520" cy="11887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Required every time you escalate.</a:t>
            </a:r>
            <a:endParaRPr lang="en-US" sz="900" dirty="0"/>
          </a:p>
        </p:txBody>
      </p:sp>
      <p:sp>
        <p:nvSpPr>
          <p:cNvPr id="18" name="Shape 15"/>
          <p:cNvSpPr/>
          <p:nvPr/>
        </p:nvSpPr>
        <p:spPr>
          <a:xfrm>
            <a:off x="6858000" y="1463040"/>
            <a:ext cx="1874520" cy="566928"/>
          </a:xfrm>
          <a:prstGeom prst="roundRect">
            <a:avLst>
              <a:gd name="adj" fmla="val 12903"/>
            </a:avLst>
          </a:prstGeom>
          <a:solidFill>
            <a:srgbClr val="FFFFFF"/>
          </a:solidFill>
          <a:ln w="12700">
            <a:solidFill>
              <a:srgbClr val="DCE1E7"/>
            </a:solidFill>
            <a:prstDash val="solid"/>
          </a:ln>
        </p:spPr>
      </p:sp>
      <p:sp>
        <p:nvSpPr>
          <p:cNvPr id="19" name="Text 16"/>
          <p:cNvSpPr txBox="1"/>
          <p:nvPr/>
        </p:nvSpPr>
        <p:spPr>
          <a:xfrm>
            <a:off x="6858000" y="1463040"/>
            <a:ext cx="1874520" cy="566928"/>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Hands off</a:t>
            </a:r>
            <a:endParaRPr lang="en-US" sz="1000" dirty="0"/>
          </a:p>
        </p:txBody>
      </p:sp>
      <p:sp>
        <p:nvSpPr>
          <p:cNvPr id="20" name="Text 17"/>
          <p:cNvSpPr txBox="1"/>
          <p:nvPr/>
        </p:nvSpPr>
        <p:spPr>
          <a:xfrm>
            <a:off x="6858000" y="2121408"/>
            <a:ext cx="1874520" cy="11887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No refund, no contact with the cleaner, no retention attempt.</a:t>
            </a:r>
            <a:endParaRPr lang="en-US" sz="900" dirty="0"/>
          </a:p>
        </p:txBody>
      </p:sp>
      <p:sp>
        <p:nvSpPr>
          <p:cNvPr id="21" name="Shape 18"/>
          <p:cNvSpPr/>
          <p:nvPr/>
        </p:nvSpPr>
        <p:spPr>
          <a:xfrm>
            <a:off x="411480" y="3017520"/>
            <a:ext cx="8321040" cy="384048"/>
          </a:xfrm>
          <a:prstGeom prst="roundRect">
            <a:avLst>
              <a:gd name="adj" fmla="val 19048"/>
            </a:avLst>
          </a:prstGeom>
          <a:solidFill>
            <a:srgbClr val="FFF3D6"/>
          </a:solidFill>
          <a:ln w="9525">
            <a:solidFill>
              <a:srgbClr val="FFF3D6"/>
            </a:solidFill>
            <a:prstDash val="solid"/>
          </a:ln>
        </p:spPr>
      </p:sp>
      <p:pic>
        <p:nvPicPr>
          <p:cNvPr id="22" name="Image 0" descr="preencoded.png">    </p:cNvPr>
          <p:cNvPicPr>
            <a:picLocks noChangeAspect="1"/>
          </p:cNvPicPr>
          <p:nvPr/>
        </p:nvPicPr>
        <p:blipFill>
          <a:blip r:embed="rId1"/>
          <a:stretch>
            <a:fillRect/>
          </a:stretch>
        </p:blipFill>
        <p:spPr>
          <a:xfrm>
            <a:off x="566928" y="3127248"/>
            <a:ext cx="164592" cy="164592"/>
          </a:xfrm>
          <a:prstGeom prst="rect">
            <a:avLst/>
          </a:prstGeom>
        </p:spPr>
      </p:pic>
      <p:sp>
        <p:nvSpPr>
          <p:cNvPr id="23" name="Text 19"/>
          <p:cNvSpPr txBox="1"/>
          <p:nvPr/>
        </p:nvSpPr>
        <p:spPr>
          <a:xfrm>
            <a:off x="822960" y="31181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a:t>
            </a:r>
            <a:pPr indent="0" marL="0">
              <a:buNone/>
            </a:pPr>
            <a:r>
              <a:rPr lang="en-US" sz="1000" dirty="0">
                <a:solidFill>
                  <a:srgbClr val="1D1D1F"/>
                </a:solidFill>
                <a:latin typeface="SF Pro Text" pitchFamily="34" charset="0"/>
                <a:ea typeface="SF Pro Text" pitchFamily="34" charset="-122"/>
                <a:cs typeface="SF Pro Text" pitchFamily="34" charset="-120"/>
              </a:rPr>
              <a:t>T&amp;S evaluates liability and may waive the full ETF. Acting first can undercut that.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Who decides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Once a case is T&amp;S, they have final say.</a:t>
            </a:r>
            <a:endParaRPr lang="en-US" sz="1200" dirty="0"/>
          </a:p>
        </p:txBody>
      </p:sp>
      <p:sp>
        <p:nvSpPr>
          <p:cNvPr id="6" name="Shape 3"/>
          <p:cNvSpPr/>
          <p:nvPr/>
        </p:nvSpPr>
        <p:spPr>
          <a:xfrm>
            <a:off x="411480" y="1325880"/>
            <a:ext cx="4091940" cy="2148840"/>
          </a:xfrm>
          <a:prstGeom prst="roundRect">
            <a:avLst>
              <a:gd name="adj" fmla="val 3404"/>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Care must not</a:t>
            </a:r>
            <a:endParaRPr lang="en-US" sz="1300" dirty="0"/>
          </a:p>
        </p:txBody>
      </p:sp>
      <p:sp>
        <p:nvSpPr>
          <p:cNvPr id="10" name="Text 6"/>
          <p:cNvSpPr txBox="1"/>
          <p:nvPr/>
        </p:nvSpPr>
        <p:spPr>
          <a:xfrm>
            <a:off x="594360" y="2039112"/>
            <a:ext cx="3726180" cy="13258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Decide refunds or compensation</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Waive or reduce the ETF (unless T&amp;S directs)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Attempt retention or offer membership incentives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Contact the cleaner directly</a:t>
            </a:r>
            <a:endParaRPr lang="en-US" sz="1000" dirty="0"/>
          </a:p>
        </p:txBody>
      </p:sp>
      <p:sp>
        <p:nvSpPr>
          <p:cNvPr id="11" name="Shape 7"/>
          <p:cNvSpPr/>
          <p:nvPr/>
        </p:nvSpPr>
        <p:spPr>
          <a:xfrm>
            <a:off x="4640580" y="1325880"/>
            <a:ext cx="4091940" cy="2148840"/>
          </a:xfrm>
          <a:prstGeom prst="roundRect">
            <a:avLst>
              <a:gd name="adj" fmla="val 3404"/>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T&amp;S owns</a:t>
            </a:r>
            <a:endParaRPr lang="en-US" sz="1300" dirty="0"/>
          </a:p>
        </p:txBody>
      </p:sp>
      <p:sp>
        <p:nvSpPr>
          <p:cNvPr id="15" name="Text 10"/>
          <p:cNvSpPr txBox="1"/>
          <p:nvPr/>
        </p:nvSpPr>
        <p:spPr>
          <a:xfrm>
            <a:off x="4823460" y="2039112"/>
            <a:ext cx="3726180" cy="132588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Refund scope, after investigation</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ETF: may waive up to the full amount</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Retention and membership outcome</a:t>
            </a:r>
            <a:endParaRPr lang="en-US" sz="1000" dirty="0"/>
          </a:p>
        </p:txBody>
      </p:sp>
      <p:sp>
        <p:nvSpPr>
          <p:cNvPr id="16" name="Shape 11"/>
          <p:cNvSpPr/>
          <p:nvPr/>
        </p:nvSpPr>
        <p:spPr>
          <a:xfrm>
            <a:off x="411480" y="365760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767328"/>
            <a:ext cx="164592" cy="164592"/>
          </a:xfrm>
          <a:prstGeom prst="rect">
            <a:avLst/>
          </a:prstGeom>
        </p:spPr>
      </p:pic>
      <p:sp>
        <p:nvSpPr>
          <p:cNvPr id="18" name="Text 12"/>
          <p:cNvSpPr txBox="1"/>
          <p:nvPr/>
        </p:nvSpPr>
        <p:spPr>
          <a:xfrm>
            <a:off x="822960" y="37581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T&amp;S declines?  </a:t>
            </a:r>
            <a:pPr indent="0" marL="0">
              <a:buNone/>
            </a:pPr>
            <a:r>
              <a:rPr lang="en-US" sz="1000" dirty="0">
                <a:solidFill>
                  <a:srgbClr val="1D1D1F"/>
                </a:solidFill>
                <a:latin typeface="SF Pro Text" pitchFamily="34" charset="0"/>
                <a:ea typeface="SF Pro Text" pitchFamily="34" charset="-122"/>
                <a:cs typeface="SF Pro Text" pitchFamily="34" charset="-120"/>
              </a:rPr>
              <a:t>it's yours again as BAU: normal playbook, ordinary ETF and retention rules.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Safety concerns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Always escalate.</a:t>
            </a:r>
            <a:endParaRPr lang="en-US" sz="1200" dirty="0"/>
          </a:p>
        </p:txBody>
      </p:sp>
      <p:sp>
        <p:nvSpPr>
          <p:cNvPr id="6" name="Shape 3"/>
          <p:cNvSpPr/>
          <p:nvPr/>
        </p:nvSpPr>
        <p:spPr>
          <a:xfrm>
            <a:off x="411480" y="1325880"/>
            <a:ext cx="4091940" cy="457200"/>
          </a:xfrm>
          <a:prstGeom prst="roundRect">
            <a:avLst>
              <a:gd name="adj" fmla="val 16000"/>
            </a:avLst>
          </a:prstGeom>
          <a:solidFill>
            <a:srgbClr val="FFFFFF"/>
          </a:solidFill>
          <a:ln w="9525">
            <a:solidFill>
              <a:srgbClr val="DCE1E7"/>
            </a:solidFill>
            <a:prstDash val="solid"/>
          </a:ln>
        </p:spPr>
      </p:sp>
      <p:sp>
        <p:nvSpPr>
          <p:cNvPr id="7" name="Shape 4"/>
          <p:cNvSpPr/>
          <p:nvPr/>
        </p:nvSpPr>
        <p:spPr>
          <a:xfrm>
            <a:off x="521208" y="1408176"/>
            <a:ext cx="292608" cy="29260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591434" y="1478402"/>
            <a:ext cx="152156" cy="152156"/>
          </a:xfrm>
          <a:prstGeom prst="rect">
            <a:avLst/>
          </a:prstGeom>
        </p:spPr>
      </p:pic>
      <p:sp>
        <p:nvSpPr>
          <p:cNvPr id="9" name="Text 5"/>
          <p:cNvSpPr txBox="1"/>
          <p:nvPr/>
        </p:nvSpPr>
        <p:spPr>
          <a:xfrm>
            <a:off x="914400" y="132588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On-platform death</a:t>
            </a:r>
            <a:endParaRPr lang="en-US" sz="1050" dirty="0"/>
          </a:p>
        </p:txBody>
      </p:sp>
      <p:sp>
        <p:nvSpPr>
          <p:cNvPr id="10" name="Shape 6"/>
          <p:cNvSpPr/>
          <p:nvPr/>
        </p:nvSpPr>
        <p:spPr>
          <a:xfrm>
            <a:off x="4640580" y="1325880"/>
            <a:ext cx="4091940" cy="457200"/>
          </a:xfrm>
          <a:prstGeom prst="roundRect">
            <a:avLst>
              <a:gd name="adj" fmla="val 16000"/>
            </a:avLst>
          </a:prstGeom>
          <a:solidFill>
            <a:srgbClr val="FFFFFF"/>
          </a:solidFill>
          <a:ln w="9525">
            <a:solidFill>
              <a:srgbClr val="DCE1E7"/>
            </a:solidFill>
            <a:prstDash val="solid"/>
          </a:ln>
        </p:spPr>
      </p:sp>
      <p:sp>
        <p:nvSpPr>
          <p:cNvPr id="11" name="Shape 7"/>
          <p:cNvSpPr/>
          <p:nvPr/>
        </p:nvSpPr>
        <p:spPr>
          <a:xfrm>
            <a:off x="4750308" y="1408176"/>
            <a:ext cx="292608" cy="292608"/>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4820534" y="1478402"/>
            <a:ext cx="152156" cy="152156"/>
          </a:xfrm>
          <a:prstGeom prst="rect">
            <a:avLst/>
          </a:prstGeom>
        </p:spPr>
      </p:pic>
      <p:sp>
        <p:nvSpPr>
          <p:cNvPr id="13" name="Text 8"/>
          <p:cNvSpPr txBox="1"/>
          <p:nvPr/>
        </p:nvSpPr>
        <p:spPr>
          <a:xfrm>
            <a:off x="5143500" y="132588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Physical violence or threats of violence</a:t>
            </a:r>
            <a:endParaRPr lang="en-US" sz="1050" dirty="0"/>
          </a:p>
        </p:txBody>
      </p:sp>
      <p:sp>
        <p:nvSpPr>
          <p:cNvPr id="14" name="Shape 9"/>
          <p:cNvSpPr/>
          <p:nvPr/>
        </p:nvSpPr>
        <p:spPr>
          <a:xfrm>
            <a:off x="411480" y="1874520"/>
            <a:ext cx="4091940" cy="457200"/>
          </a:xfrm>
          <a:prstGeom prst="roundRect">
            <a:avLst>
              <a:gd name="adj" fmla="val 16000"/>
            </a:avLst>
          </a:prstGeom>
          <a:solidFill>
            <a:srgbClr val="FFFFFF"/>
          </a:solidFill>
          <a:ln w="9525">
            <a:solidFill>
              <a:srgbClr val="DCE1E7"/>
            </a:solidFill>
            <a:prstDash val="solid"/>
          </a:ln>
        </p:spPr>
      </p:sp>
      <p:sp>
        <p:nvSpPr>
          <p:cNvPr id="15" name="Shape 10"/>
          <p:cNvSpPr/>
          <p:nvPr/>
        </p:nvSpPr>
        <p:spPr>
          <a:xfrm>
            <a:off x="521208" y="1956816"/>
            <a:ext cx="292608" cy="29260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591434" y="2027042"/>
            <a:ext cx="152156" cy="152156"/>
          </a:xfrm>
          <a:prstGeom prst="rect">
            <a:avLst/>
          </a:prstGeom>
        </p:spPr>
      </p:pic>
      <p:sp>
        <p:nvSpPr>
          <p:cNvPr id="17" name="Text 11"/>
          <p:cNvSpPr txBox="1"/>
          <p:nvPr/>
        </p:nvSpPr>
        <p:spPr>
          <a:xfrm>
            <a:off x="914400" y="187452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Unwanted physical contact</a:t>
            </a:r>
            <a:endParaRPr lang="en-US" sz="1050" dirty="0"/>
          </a:p>
        </p:txBody>
      </p:sp>
      <p:sp>
        <p:nvSpPr>
          <p:cNvPr id="18" name="Shape 12"/>
          <p:cNvSpPr/>
          <p:nvPr/>
        </p:nvSpPr>
        <p:spPr>
          <a:xfrm>
            <a:off x="4640580" y="1874520"/>
            <a:ext cx="4091940" cy="457200"/>
          </a:xfrm>
          <a:prstGeom prst="roundRect">
            <a:avLst>
              <a:gd name="adj" fmla="val 16000"/>
            </a:avLst>
          </a:prstGeom>
          <a:solidFill>
            <a:srgbClr val="FFFFFF"/>
          </a:solidFill>
          <a:ln w="9525">
            <a:solidFill>
              <a:srgbClr val="DCE1E7"/>
            </a:solidFill>
            <a:prstDash val="solid"/>
          </a:ln>
        </p:spPr>
      </p:sp>
      <p:sp>
        <p:nvSpPr>
          <p:cNvPr id="19" name="Shape 13"/>
          <p:cNvSpPr/>
          <p:nvPr/>
        </p:nvSpPr>
        <p:spPr>
          <a:xfrm>
            <a:off x="4750308" y="1956816"/>
            <a:ext cx="292608" cy="292608"/>
          </a:xfrm>
          <a:prstGeom prst="ellipse">
            <a:avLst/>
          </a:prstGeom>
          <a:solidFill>
            <a:srgbClr val="E3F4F1"/>
          </a:solidFill>
          <a:ln w="12700">
            <a:solidFill>
              <a:srgbClr val="E3F4F1"/>
            </a:solidFill>
            <a:prstDash val="solid"/>
          </a:ln>
        </p:spPr>
      </p:sp>
      <p:pic>
        <p:nvPicPr>
          <p:cNvPr id="20" name="Image 3" descr="preencoded.png">    </p:cNvPr>
          <p:cNvPicPr>
            <a:picLocks noChangeAspect="1"/>
          </p:cNvPicPr>
          <p:nvPr/>
        </p:nvPicPr>
        <p:blipFill>
          <a:blip r:embed="rId4"/>
          <a:stretch>
            <a:fillRect/>
          </a:stretch>
        </p:blipFill>
        <p:spPr>
          <a:xfrm>
            <a:off x="4820534" y="2027042"/>
            <a:ext cx="152156" cy="152156"/>
          </a:xfrm>
          <a:prstGeom prst="rect">
            <a:avLst/>
          </a:prstGeom>
        </p:spPr>
      </p:pic>
      <p:sp>
        <p:nvSpPr>
          <p:cNvPr id="21" name="Text 14"/>
          <p:cNvSpPr txBox="1"/>
          <p:nvPr/>
        </p:nvSpPr>
        <p:spPr>
          <a:xfrm>
            <a:off x="5143500" y="187452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Any sexually related complaint</a:t>
            </a:r>
            <a:endParaRPr lang="en-US" sz="1050" dirty="0"/>
          </a:p>
        </p:txBody>
      </p:sp>
      <p:sp>
        <p:nvSpPr>
          <p:cNvPr id="22" name="Shape 15"/>
          <p:cNvSpPr/>
          <p:nvPr/>
        </p:nvSpPr>
        <p:spPr>
          <a:xfrm>
            <a:off x="411480" y="2423160"/>
            <a:ext cx="4091940" cy="457200"/>
          </a:xfrm>
          <a:prstGeom prst="roundRect">
            <a:avLst>
              <a:gd name="adj" fmla="val 16000"/>
            </a:avLst>
          </a:prstGeom>
          <a:solidFill>
            <a:srgbClr val="FFFFFF"/>
          </a:solidFill>
          <a:ln w="9525">
            <a:solidFill>
              <a:srgbClr val="DCE1E7"/>
            </a:solidFill>
            <a:prstDash val="solid"/>
          </a:ln>
        </p:spPr>
      </p:sp>
      <p:sp>
        <p:nvSpPr>
          <p:cNvPr id="23" name="Shape 16"/>
          <p:cNvSpPr/>
          <p:nvPr/>
        </p:nvSpPr>
        <p:spPr>
          <a:xfrm>
            <a:off x="521208" y="2505456"/>
            <a:ext cx="292608" cy="292608"/>
          </a:xfrm>
          <a:prstGeom prst="ellipse">
            <a:avLst/>
          </a:prstGeom>
          <a:solidFill>
            <a:srgbClr val="E3F4F1"/>
          </a:solidFill>
          <a:ln w="12700">
            <a:solidFill>
              <a:srgbClr val="E3F4F1"/>
            </a:solidFill>
            <a:prstDash val="solid"/>
          </a:ln>
        </p:spPr>
      </p:sp>
      <p:pic>
        <p:nvPicPr>
          <p:cNvPr id="24" name="Image 4" descr="preencoded.png">    </p:cNvPr>
          <p:cNvPicPr>
            <a:picLocks noChangeAspect="1"/>
          </p:cNvPicPr>
          <p:nvPr/>
        </p:nvPicPr>
        <p:blipFill>
          <a:blip r:embed="rId5"/>
          <a:stretch>
            <a:fillRect/>
          </a:stretch>
        </p:blipFill>
        <p:spPr>
          <a:xfrm>
            <a:off x="591434" y="2575682"/>
            <a:ext cx="152156" cy="152156"/>
          </a:xfrm>
          <a:prstGeom prst="rect">
            <a:avLst/>
          </a:prstGeom>
        </p:spPr>
      </p:pic>
      <p:sp>
        <p:nvSpPr>
          <p:cNvPr id="25" name="Text 17"/>
          <p:cNvSpPr txBox="1"/>
          <p:nvPr/>
        </p:nvSpPr>
        <p:spPr>
          <a:xfrm>
            <a:off x="914400" y="242316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Reports of human trafficking</a:t>
            </a:r>
            <a:endParaRPr lang="en-US" sz="1050" dirty="0"/>
          </a:p>
        </p:txBody>
      </p:sp>
      <p:sp>
        <p:nvSpPr>
          <p:cNvPr id="26" name="Shape 18"/>
          <p:cNvSpPr/>
          <p:nvPr/>
        </p:nvSpPr>
        <p:spPr>
          <a:xfrm>
            <a:off x="4640580" y="2423160"/>
            <a:ext cx="4091940" cy="457200"/>
          </a:xfrm>
          <a:prstGeom prst="roundRect">
            <a:avLst>
              <a:gd name="adj" fmla="val 16000"/>
            </a:avLst>
          </a:prstGeom>
          <a:solidFill>
            <a:srgbClr val="FFFFFF"/>
          </a:solidFill>
          <a:ln w="9525">
            <a:solidFill>
              <a:srgbClr val="DCE1E7"/>
            </a:solidFill>
            <a:prstDash val="solid"/>
          </a:ln>
        </p:spPr>
      </p:sp>
      <p:sp>
        <p:nvSpPr>
          <p:cNvPr id="27" name="Shape 19"/>
          <p:cNvSpPr/>
          <p:nvPr/>
        </p:nvSpPr>
        <p:spPr>
          <a:xfrm>
            <a:off x="4750308" y="2505456"/>
            <a:ext cx="292608" cy="292608"/>
          </a:xfrm>
          <a:prstGeom prst="ellipse">
            <a:avLst/>
          </a:prstGeom>
          <a:solidFill>
            <a:srgbClr val="E3F4F1"/>
          </a:solidFill>
          <a:ln w="12700">
            <a:solidFill>
              <a:srgbClr val="E3F4F1"/>
            </a:solidFill>
            <a:prstDash val="solid"/>
          </a:ln>
        </p:spPr>
      </p:sp>
      <p:pic>
        <p:nvPicPr>
          <p:cNvPr id="28" name="Image 5" descr="preencoded.png">    </p:cNvPr>
          <p:cNvPicPr>
            <a:picLocks noChangeAspect="1"/>
          </p:cNvPicPr>
          <p:nvPr/>
        </p:nvPicPr>
        <p:blipFill>
          <a:blip r:embed="rId6"/>
          <a:stretch>
            <a:fillRect/>
          </a:stretch>
        </p:blipFill>
        <p:spPr>
          <a:xfrm>
            <a:off x="4820534" y="2575682"/>
            <a:ext cx="152156" cy="152156"/>
          </a:xfrm>
          <a:prstGeom prst="rect">
            <a:avLst/>
          </a:prstGeom>
        </p:spPr>
      </p:pic>
      <p:sp>
        <p:nvSpPr>
          <p:cNvPr id="29" name="Text 20"/>
          <p:cNvSpPr txBox="1"/>
          <p:nvPr/>
        </p:nvSpPr>
        <p:spPr>
          <a:xfrm>
            <a:off x="5143500" y="242316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Reports of stalking</a:t>
            </a:r>
            <a:endParaRPr lang="en-US" sz="1050" dirty="0"/>
          </a:p>
        </p:txBody>
      </p:sp>
      <p:sp>
        <p:nvSpPr>
          <p:cNvPr id="30" name="Shape 21"/>
          <p:cNvSpPr/>
          <p:nvPr/>
        </p:nvSpPr>
        <p:spPr>
          <a:xfrm>
            <a:off x="411480" y="2971800"/>
            <a:ext cx="4091940" cy="457200"/>
          </a:xfrm>
          <a:prstGeom prst="roundRect">
            <a:avLst>
              <a:gd name="adj" fmla="val 16000"/>
            </a:avLst>
          </a:prstGeom>
          <a:solidFill>
            <a:srgbClr val="FFFFFF"/>
          </a:solidFill>
          <a:ln w="9525">
            <a:solidFill>
              <a:srgbClr val="DCE1E7"/>
            </a:solidFill>
            <a:prstDash val="solid"/>
          </a:ln>
        </p:spPr>
      </p:sp>
      <p:sp>
        <p:nvSpPr>
          <p:cNvPr id="31" name="Shape 22"/>
          <p:cNvSpPr/>
          <p:nvPr/>
        </p:nvSpPr>
        <p:spPr>
          <a:xfrm>
            <a:off x="521208" y="3054096"/>
            <a:ext cx="292608" cy="292608"/>
          </a:xfrm>
          <a:prstGeom prst="ellipse">
            <a:avLst/>
          </a:prstGeom>
          <a:solidFill>
            <a:srgbClr val="E3F4F1"/>
          </a:solidFill>
          <a:ln w="12700">
            <a:solidFill>
              <a:srgbClr val="E3F4F1"/>
            </a:solidFill>
            <a:prstDash val="solid"/>
          </a:ln>
        </p:spPr>
      </p:sp>
      <p:pic>
        <p:nvPicPr>
          <p:cNvPr id="32" name="Image 6" descr="preencoded.png">    </p:cNvPr>
          <p:cNvPicPr>
            <a:picLocks noChangeAspect="1"/>
          </p:cNvPicPr>
          <p:nvPr/>
        </p:nvPicPr>
        <p:blipFill>
          <a:blip r:embed="rId7"/>
          <a:stretch>
            <a:fillRect/>
          </a:stretch>
        </p:blipFill>
        <p:spPr>
          <a:xfrm>
            <a:off x="591434" y="3124322"/>
            <a:ext cx="152156" cy="152156"/>
          </a:xfrm>
          <a:prstGeom prst="rect">
            <a:avLst/>
          </a:prstGeom>
        </p:spPr>
      </p:pic>
      <p:sp>
        <p:nvSpPr>
          <p:cNvPr id="33" name="Text 23"/>
          <p:cNvSpPr txBox="1"/>
          <p:nvPr/>
        </p:nvSpPr>
        <p:spPr>
          <a:xfrm>
            <a:off x="914400" y="2971800"/>
            <a:ext cx="349758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Law enforcement requests</a:t>
            </a:r>
            <a:endParaRPr lang="en-US" sz="1050" dirty="0"/>
          </a:p>
        </p:txBody>
      </p:sp>
      <p:sp>
        <p:nvSpPr>
          <p:cNvPr id="34" name="Text 24"/>
          <p:cNvSpPr txBox="1"/>
          <p:nvPr/>
        </p:nvSpPr>
        <p:spPr>
          <a:xfrm>
            <a:off x="4640580" y="2971800"/>
            <a:ext cx="4091940" cy="457200"/>
          </a:xfrm>
          <a:prstGeom prst="rect">
            <a:avLst/>
          </a:prstGeom>
          <a:noFill/>
          <a:ln/>
        </p:spPr>
        <p:txBody>
          <a:bodyPr wrap="square" lIns="0" tIns="0" rIns="0" bIns="0" rtlCol="0" anchor="ctr"/>
          <a:lstStyle/>
          <a:p>
            <a:pPr indent="0" marL="0">
              <a:buNone/>
            </a:pPr>
            <a:r>
              <a:rPr lang="en-US" sz="850" dirty="0">
                <a:solidFill>
                  <a:srgbClr val="6E6E73"/>
                </a:solidFill>
                <a:latin typeface="SF Pro Text" pitchFamily="34" charset="0"/>
                <a:ea typeface="SF Pro Text" pitchFamily="34" charset="-122"/>
                <a:cs typeface="SF Pro Text" pitchFamily="34" charset="-120"/>
              </a:rPr>
              <a:t>Sexually related: solicitation, indecent exposure, inappropriate photos, sexual requests about attire, sexual messaging.</a:t>
            </a:r>
            <a:endParaRPr lang="en-US" sz="850" dirty="0"/>
          </a:p>
        </p:txBody>
      </p:sp>
      <p:sp>
        <p:nvSpPr>
          <p:cNvPr id="35" name="Shape 25"/>
          <p:cNvSpPr/>
          <p:nvPr/>
        </p:nvSpPr>
        <p:spPr>
          <a:xfrm>
            <a:off x="411480" y="3657600"/>
            <a:ext cx="8321040" cy="384048"/>
          </a:xfrm>
          <a:prstGeom prst="roundRect">
            <a:avLst>
              <a:gd name="adj" fmla="val 19048"/>
            </a:avLst>
          </a:prstGeom>
          <a:solidFill>
            <a:srgbClr val="FFF3D6"/>
          </a:solidFill>
          <a:ln w="9525">
            <a:solidFill>
              <a:srgbClr val="FFF3D6"/>
            </a:solidFill>
            <a:prstDash val="solid"/>
          </a:ln>
        </p:spPr>
      </p:sp>
      <p:pic>
        <p:nvPicPr>
          <p:cNvPr id="36" name="Image 7" descr="preencoded.png">    </p:cNvPr>
          <p:cNvPicPr>
            <a:picLocks noChangeAspect="1"/>
          </p:cNvPicPr>
          <p:nvPr/>
        </p:nvPicPr>
        <p:blipFill>
          <a:blip r:embed="rId8"/>
          <a:stretch>
            <a:fillRect/>
          </a:stretch>
        </p:blipFill>
        <p:spPr>
          <a:xfrm>
            <a:off x="566928" y="3767328"/>
            <a:ext cx="164592" cy="164592"/>
          </a:xfrm>
          <a:prstGeom prst="rect">
            <a:avLst/>
          </a:prstGeom>
        </p:spPr>
      </p:pic>
      <p:sp>
        <p:nvSpPr>
          <p:cNvPr id="37" name="Text 26"/>
          <p:cNvSpPr txBox="1"/>
          <p:nvPr/>
        </p:nvSpPr>
        <p:spPr>
          <a:xfrm>
            <a:off x="822960" y="37581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 judgment call:  </a:t>
            </a:r>
            <a:pPr indent="0" marL="0">
              <a:buNone/>
            </a:pPr>
            <a:r>
              <a:rPr lang="en-US" sz="1000" dirty="0">
                <a:solidFill>
                  <a:srgbClr val="1D1D1F"/>
                </a:solidFill>
                <a:latin typeface="SF Pro Text" pitchFamily="34" charset="0"/>
                <a:ea typeface="SF Pro Text" pitchFamily="34" charset="-122"/>
                <a:cs typeface="SF Pro Text" pitchFamily="34" charset="-120"/>
              </a:rPr>
              <a:t>every item here goes straight to T&amp;S.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Escalating: the first report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The first time the customer reaches out about a T&amp;S concern.</a:t>
            </a:r>
            <a:endParaRPr lang="en-US" sz="1200" dirty="0"/>
          </a:p>
        </p:txBody>
      </p:sp>
      <p:sp>
        <p:nvSpPr>
          <p:cNvPr id="6" name="Shape 3"/>
          <p:cNvSpPr/>
          <p:nvPr/>
        </p:nvSpPr>
        <p:spPr>
          <a:xfrm>
            <a:off x="411480" y="1371600"/>
            <a:ext cx="1908810" cy="658368"/>
          </a:xfrm>
          <a:prstGeom prst="roundRect">
            <a:avLst>
              <a:gd name="adj" fmla="val 11111"/>
            </a:avLst>
          </a:prstGeom>
          <a:solidFill>
            <a:srgbClr val="0B7A6F"/>
          </a:solidFill>
          <a:ln w="12700">
            <a:solidFill>
              <a:srgbClr val="0B7A6F"/>
            </a:solidFill>
            <a:prstDash val="solid"/>
          </a:ln>
        </p:spPr>
      </p:sp>
      <p:sp>
        <p:nvSpPr>
          <p:cNvPr id="7" name="Text 4"/>
          <p:cNvSpPr txBox="1"/>
          <p:nvPr/>
        </p:nvSpPr>
        <p:spPr>
          <a:xfrm>
            <a:off x="411480" y="1371600"/>
            <a:ext cx="190881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New CRM macro:</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"Escalate Report to T&amp;S"</a:t>
            </a:r>
            <a:endParaRPr lang="en-US" sz="1000" dirty="0"/>
          </a:p>
        </p:txBody>
      </p:sp>
      <p:sp>
        <p:nvSpPr>
          <p:cNvPr id="8" name="Shape 5"/>
          <p:cNvSpPr/>
          <p:nvPr/>
        </p:nvSpPr>
        <p:spPr>
          <a:xfrm>
            <a:off x="338328" y="1261872"/>
            <a:ext cx="274320" cy="274320"/>
          </a:xfrm>
          <a:prstGeom prst="ellipse">
            <a:avLst/>
          </a:prstGeom>
          <a:solidFill>
            <a:srgbClr val="E3F4F1"/>
          </a:solidFill>
          <a:ln w="12700">
            <a:solidFill>
              <a:srgbClr val="E3F4F1"/>
            </a:solidFill>
            <a:prstDash val="solid"/>
          </a:ln>
        </p:spPr>
      </p:sp>
      <p:sp>
        <p:nvSpPr>
          <p:cNvPr id="9" name="Text 6"/>
          <p:cNvSpPr txBox="1"/>
          <p:nvPr/>
        </p:nvSpPr>
        <p:spPr>
          <a:xfrm>
            <a:off x="33832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0" name="Shape 7"/>
          <p:cNvSpPr/>
          <p:nvPr/>
        </p:nvSpPr>
        <p:spPr>
          <a:xfrm>
            <a:off x="2320290" y="1700784"/>
            <a:ext cx="228600" cy="0"/>
          </a:xfrm>
          <a:prstGeom prst="line">
            <a:avLst/>
          </a:prstGeom>
          <a:noFill/>
          <a:ln w="12700">
            <a:solidFill>
              <a:srgbClr val="6E6E73"/>
            </a:solidFill>
            <a:prstDash val="solid"/>
            <a:tailEnd type="triangle"/>
          </a:ln>
        </p:spPr>
      </p:sp>
      <p:sp>
        <p:nvSpPr>
          <p:cNvPr id="11" name="Shape 8"/>
          <p:cNvSpPr/>
          <p:nvPr/>
        </p:nvSpPr>
        <p:spPr>
          <a:xfrm>
            <a:off x="2548890" y="1371600"/>
            <a:ext cx="1908810" cy="658368"/>
          </a:xfrm>
          <a:prstGeom prst="roundRect">
            <a:avLst>
              <a:gd name="adj" fmla="val 11111"/>
            </a:avLst>
          </a:prstGeom>
          <a:solidFill>
            <a:srgbClr val="0B7A6F"/>
          </a:solidFill>
          <a:ln w="12700">
            <a:solidFill>
              <a:srgbClr val="0B7A6F"/>
            </a:solidFill>
            <a:prstDash val="solid"/>
          </a:ln>
        </p:spPr>
      </p:sp>
      <p:sp>
        <p:nvSpPr>
          <p:cNvPr id="12" name="Text 9"/>
          <p:cNvSpPr txBox="1"/>
          <p:nvPr/>
        </p:nvSpPr>
        <p:spPr>
          <a:xfrm>
            <a:off x="2548890" y="1371600"/>
            <a:ext cx="190881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Post in</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#new-ts-safety-reports</a:t>
            </a:r>
            <a:endParaRPr lang="en-US" sz="1000" dirty="0"/>
          </a:p>
        </p:txBody>
      </p:sp>
      <p:sp>
        <p:nvSpPr>
          <p:cNvPr id="13" name="Shape 10"/>
          <p:cNvSpPr/>
          <p:nvPr/>
        </p:nvSpPr>
        <p:spPr>
          <a:xfrm>
            <a:off x="2475738" y="1261872"/>
            <a:ext cx="274320" cy="274320"/>
          </a:xfrm>
          <a:prstGeom prst="ellipse">
            <a:avLst/>
          </a:prstGeom>
          <a:solidFill>
            <a:srgbClr val="E3F4F1"/>
          </a:solidFill>
          <a:ln w="12700">
            <a:solidFill>
              <a:srgbClr val="E3F4F1"/>
            </a:solidFill>
            <a:prstDash val="solid"/>
          </a:ln>
        </p:spPr>
      </p:sp>
      <p:sp>
        <p:nvSpPr>
          <p:cNvPr id="14" name="Text 11"/>
          <p:cNvSpPr txBox="1"/>
          <p:nvPr/>
        </p:nvSpPr>
        <p:spPr>
          <a:xfrm>
            <a:off x="247573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Shape 12"/>
          <p:cNvSpPr/>
          <p:nvPr/>
        </p:nvSpPr>
        <p:spPr>
          <a:xfrm>
            <a:off x="4457700" y="1700784"/>
            <a:ext cx="228600" cy="0"/>
          </a:xfrm>
          <a:prstGeom prst="line">
            <a:avLst/>
          </a:prstGeom>
          <a:noFill/>
          <a:ln w="12700">
            <a:solidFill>
              <a:srgbClr val="6E6E73"/>
            </a:solidFill>
            <a:prstDash val="solid"/>
            <a:tailEnd type="triangle"/>
          </a:ln>
        </p:spPr>
      </p:sp>
      <p:sp>
        <p:nvSpPr>
          <p:cNvPr id="16" name="Shape 13"/>
          <p:cNvSpPr/>
          <p:nvPr/>
        </p:nvSpPr>
        <p:spPr>
          <a:xfrm>
            <a:off x="4686300" y="1371600"/>
            <a:ext cx="1908810" cy="658368"/>
          </a:xfrm>
          <a:prstGeom prst="roundRect">
            <a:avLst>
              <a:gd name="adj" fmla="val 11111"/>
            </a:avLst>
          </a:prstGeom>
          <a:solidFill>
            <a:srgbClr val="0B7A6F"/>
          </a:solidFill>
          <a:ln w="12700">
            <a:solidFill>
              <a:srgbClr val="0B7A6F"/>
            </a:solidFill>
            <a:prstDash val="solid"/>
          </a:ln>
        </p:spPr>
      </p:sp>
      <p:sp>
        <p:nvSpPr>
          <p:cNvPr id="17" name="Text 14"/>
          <p:cNvSpPr txBox="1"/>
          <p:nvPr/>
        </p:nvSpPr>
        <p:spPr>
          <a:xfrm>
            <a:off x="4686300" y="1371600"/>
            <a:ext cx="190881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Internal note on the C account</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with your Slack post link</a:t>
            </a:r>
            <a:endParaRPr lang="en-US" sz="1000" dirty="0"/>
          </a:p>
        </p:txBody>
      </p:sp>
      <p:sp>
        <p:nvSpPr>
          <p:cNvPr id="18" name="Shape 15"/>
          <p:cNvSpPr/>
          <p:nvPr/>
        </p:nvSpPr>
        <p:spPr>
          <a:xfrm>
            <a:off x="4613148" y="1261872"/>
            <a:ext cx="274320" cy="274320"/>
          </a:xfrm>
          <a:prstGeom prst="ellipse">
            <a:avLst/>
          </a:prstGeom>
          <a:solidFill>
            <a:srgbClr val="E3F4F1"/>
          </a:solidFill>
          <a:ln w="12700">
            <a:solidFill>
              <a:srgbClr val="E3F4F1"/>
            </a:solidFill>
            <a:prstDash val="solid"/>
          </a:ln>
        </p:spPr>
      </p:sp>
      <p:sp>
        <p:nvSpPr>
          <p:cNvPr id="19" name="Text 16"/>
          <p:cNvSpPr txBox="1"/>
          <p:nvPr/>
        </p:nvSpPr>
        <p:spPr>
          <a:xfrm>
            <a:off x="461314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0" name="Shape 17"/>
          <p:cNvSpPr/>
          <p:nvPr/>
        </p:nvSpPr>
        <p:spPr>
          <a:xfrm>
            <a:off x="6595110" y="1700784"/>
            <a:ext cx="228600" cy="0"/>
          </a:xfrm>
          <a:prstGeom prst="line">
            <a:avLst/>
          </a:prstGeom>
          <a:noFill/>
          <a:ln w="12700">
            <a:solidFill>
              <a:srgbClr val="6E6E73"/>
            </a:solidFill>
            <a:prstDash val="solid"/>
            <a:tailEnd type="triangle"/>
          </a:ln>
        </p:spPr>
      </p:sp>
      <p:sp>
        <p:nvSpPr>
          <p:cNvPr id="21" name="Shape 18"/>
          <p:cNvSpPr/>
          <p:nvPr/>
        </p:nvSpPr>
        <p:spPr>
          <a:xfrm>
            <a:off x="6823710" y="1371600"/>
            <a:ext cx="1908810" cy="658368"/>
          </a:xfrm>
          <a:prstGeom prst="roundRect">
            <a:avLst>
              <a:gd name="adj" fmla="val 11111"/>
            </a:avLst>
          </a:prstGeom>
          <a:solidFill>
            <a:srgbClr val="FFFFFF"/>
          </a:solidFill>
          <a:ln w="12700">
            <a:solidFill>
              <a:srgbClr val="DCE1E7"/>
            </a:solidFill>
            <a:prstDash val="solid"/>
          </a:ln>
        </p:spPr>
      </p:sp>
      <p:sp>
        <p:nvSpPr>
          <p:cNvPr id="22" name="Text 19"/>
          <p:cNvSpPr txBox="1"/>
          <p:nvPr/>
        </p:nvSpPr>
        <p:spPr>
          <a:xfrm>
            <a:off x="6823710" y="1371600"/>
            <a:ext cx="1908810" cy="658368"/>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Don't resolve. Change queue</a:t>
            </a:r>
            <a:endParaRPr lang="en-US" sz="1000" dirty="0"/>
          </a:p>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to T&amp;S Safety Reports</a:t>
            </a:r>
            <a:endParaRPr lang="en-US" sz="1000" dirty="0"/>
          </a:p>
        </p:txBody>
      </p:sp>
      <p:sp>
        <p:nvSpPr>
          <p:cNvPr id="23" name="Shape 20"/>
          <p:cNvSpPr/>
          <p:nvPr/>
        </p:nvSpPr>
        <p:spPr>
          <a:xfrm>
            <a:off x="6750558" y="1261872"/>
            <a:ext cx="274320" cy="274320"/>
          </a:xfrm>
          <a:prstGeom prst="ellipse">
            <a:avLst/>
          </a:prstGeom>
          <a:solidFill>
            <a:srgbClr val="E3F4F1"/>
          </a:solidFill>
          <a:ln w="12700">
            <a:solidFill>
              <a:srgbClr val="E3F4F1"/>
            </a:solidFill>
            <a:prstDash val="solid"/>
          </a:ln>
        </p:spPr>
      </p:sp>
      <p:sp>
        <p:nvSpPr>
          <p:cNvPr id="24" name="Text 21"/>
          <p:cNvSpPr txBox="1"/>
          <p:nvPr/>
        </p:nvSpPr>
        <p:spPr>
          <a:xfrm>
            <a:off x="675055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5" name="Shape 22"/>
          <p:cNvSpPr/>
          <p:nvPr/>
        </p:nvSpPr>
        <p:spPr>
          <a:xfrm>
            <a:off x="411480" y="2240280"/>
            <a:ext cx="5577840" cy="1783080"/>
          </a:xfrm>
          <a:prstGeom prst="roundRect">
            <a:avLst>
              <a:gd name="adj" fmla="val 4103"/>
            </a:avLst>
          </a:prstGeom>
          <a:solidFill>
            <a:srgbClr val="FFFFFF"/>
          </a:solidFill>
          <a:ln w="9525">
            <a:solidFill>
              <a:srgbClr val="DCE1E7"/>
            </a:solidFill>
            <a:prstDash val="solid"/>
          </a:ln>
        </p:spPr>
      </p:sp>
      <p:pic>
        <p:nvPicPr>
          <p:cNvPr id="26" name="Image 0" descr="/tmp/claude-0/-workspace-training/3ce5cff6-cccf-5f33-b0ee-0b147a55120e/scratchpad/img4/ts_safety_report.png">    </p:cNvPr>
          <p:cNvPicPr>
            <a:picLocks noChangeAspect="1"/>
          </p:cNvPicPr>
          <p:nvPr/>
        </p:nvPicPr>
        <p:blipFill>
          <a:blip r:embed="rId1"/>
          <a:stretch>
            <a:fillRect/>
          </a:stretch>
        </p:blipFill>
        <p:spPr>
          <a:xfrm>
            <a:off x="502920" y="2417646"/>
            <a:ext cx="5394960" cy="1227180"/>
          </a:xfrm>
          <a:prstGeom prst="rect">
            <a:avLst/>
          </a:prstGeom>
        </p:spPr>
      </p:pic>
      <p:sp>
        <p:nvSpPr>
          <p:cNvPr id="27" name="Shape 23"/>
          <p:cNvSpPr/>
          <p:nvPr/>
        </p:nvSpPr>
        <p:spPr>
          <a:xfrm>
            <a:off x="502920" y="2417646"/>
            <a:ext cx="5394960" cy="1227180"/>
          </a:xfrm>
          <a:prstGeom prst="rect">
            <a:avLst/>
          </a:prstGeom>
          <a:ln w="6350">
            <a:solidFill>
              <a:srgbClr val="DCE1E7"/>
            </a:solidFill>
            <a:prstDash val="solid"/>
          </a:ln>
        </p:spPr>
      </p:sp>
      <p:sp>
        <p:nvSpPr>
          <p:cNvPr id="28" name="Text 24"/>
          <p:cNvSpPr txBox="1"/>
          <p:nvPr/>
        </p:nvSpPr>
        <p:spPr>
          <a:xfrm>
            <a:off x="502920" y="3749040"/>
            <a:ext cx="539496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Sample post in #new-ts-safety-reports</a:t>
            </a:r>
            <a:endParaRPr lang="en-US" sz="800" dirty="0"/>
          </a:p>
        </p:txBody>
      </p:sp>
      <p:sp>
        <p:nvSpPr>
          <p:cNvPr id="29" name="Shape 25"/>
          <p:cNvSpPr/>
          <p:nvPr/>
        </p:nvSpPr>
        <p:spPr>
          <a:xfrm>
            <a:off x="6126480" y="2240280"/>
            <a:ext cx="2606040" cy="1783080"/>
          </a:xfrm>
          <a:prstGeom prst="roundRect">
            <a:avLst>
              <a:gd name="adj" fmla="val 4103"/>
            </a:avLst>
          </a:prstGeom>
          <a:solidFill>
            <a:srgbClr val="FFFFFF"/>
          </a:solidFill>
          <a:ln w="9525">
            <a:solidFill>
              <a:srgbClr val="DCE1E7"/>
            </a:solidFill>
            <a:prstDash val="solid"/>
          </a:ln>
        </p:spPr>
      </p:sp>
      <p:sp>
        <p:nvSpPr>
          <p:cNvPr id="30" name="Text 26"/>
          <p:cNvSpPr txBox="1"/>
          <p:nvPr/>
        </p:nvSpPr>
        <p:spPr>
          <a:xfrm>
            <a:off x="6309360" y="2395728"/>
            <a:ext cx="2286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POST FORMAT</a:t>
            </a:r>
            <a:endParaRPr lang="en-US" sz="800" dirty="0"/>
          </a:p>
        </p:txBody>
      </p:sp>
      <p:sp>
        <p:nvSpPr>
          <p:cNvPr id="31" name="Text 27"/>
          <p:cNvSpPr txBox="1"/>
          <p:nvPr/>
        </p:nvSpPr>
        <p:spPr>
          <a:xfrm>
            <a:off x="6309360" y="2697480"/>
            <a:ext cx="2331720" cy="1097280"/>
          </a:xfrm>
          <a:prstGeom prst="rect">
            <a:avLst/>
          </a:prstGeom>
          <a:noFill/>
          <a:ln/>
        </p:spPr>
        <p:txBody>
          <a:bodyPr wrap="square" lIns="0" tIns="0" rIns="0" bIns="0" rtlCol="0" anchor="t"/>
          <a:lstStyle/>
          <a:p>
            <a:pPr indent="0" marL="0">
              <a:spcAft>
                <a:spcPts val="800"/>
              </a:spcAft>
              <a:buNone/>
            </a:pPr>
            <a:r>
              <a:rPr lang="en-US" sz="1050" dirty="0">
                <a:solidFill>
                  <a:srgbClr val="1D1D1F"/>
                </a:solidFill>
                <a:latin typeface="Courier New" pitchFamily="34" charset="0"/>
                <a:ea typeface="Courier New" pitchFamily="34" charset="-122"/>
                <a:cs typeface="Courier New" pitchFamily="34" charset="-120"/>
              </a:rPr>
              <a:t>Ticket Link:</a:t>
            </a:r>
            <a:endParaRPr lang="en-US" sz="1050" dirty="0"/>
          </a:p>
          <a:p>
            <a:pPr indent="0" marL="0">
              <a:spcAft>
                <a:spcPts val="800"/>
              </a:spcAft>
              <a:buNone/>
            </a:pPr>
            <a:r>
              <a:rPr lang="en-US" sz="1050" dirty="0">
                <a:solidFill>
                  <a:srgbClr val="1D1D1F"/>
                </a:solidFill>
                <a:latin typeface="Courier New" pitchFamily="34" charset="0"/>
                <a:ea typeface="Courier New" pitchFamily="34" charset="-122"/>
                <a:cs typeface="Courier New" pitchFamily="34" charset="-120"/>
              </a:rPr>
              <a:t>CID | Job ID | CP ID</a:t>
            </a:r>
            <a:endParaRPr lang="en-US" sz="1050" dirty="0"/>
          </a:p>
          <a:p>
            <a:pPr indent="0" marL="0">
              <a:spcAft>
                <a:spcPts val="800"/>
              </a:spcAft>
              <a:buNone/>
            </a:pPr>
            <a:r>
              <a:rPr lang="en-US" sz="1050" dirty="0">
                <a:solidFill>
                  <a:srgbClr val="1D1D1F"/>
                </a:solidFill>
                <a:latin typeface="Courier New" pitchFamily="34" charset="0"/>
                <a:ea typeface="Courier New" pitchFamily="34" charset="-122"/>
                <a:cs typeface="Courier New" pitchFamily="34" charset="-120"/>
              </a:rPr>
              <a:t>Background:</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Policy violations and conduct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Also always escalate.</a:t>
            </a:r>
            <a:endParaRPr lang="en-US" sz="1200" dirty="0"/>
          </a:p>
        </p:txBody>
      </p:sp>
      <p:sp>
        <p:nvSpPr>
          <p:cNvPr id="6" name="Shape 3"/>
          <p:cNvSpPr/>
          <p:nvPr/>
        </p:nvSpPr>
        <p:spPr>
          <a:xfrm>
            <a:off x="411480" y="1325880"/>
            <a:ext cx="4091940" cy="2240280"/>
          </a:xfrm>
          <a:prstGeom prst="roundRect">
            <a:avLst>
              <a:gd name="adj" fmla="val 3265"/>
            </a:avLst>
          </a:prstGeom>
          <a:solidFill>
            <a:srgbClr val="FFFFFF"/>
          </a:solidFill>
          <a:ln w="9525">
            <a:solidFill>
              <a:srgbClr val="DCE1E7"/>
            </a:solidFill>
            <a:prstDash val="solid"/>
          </a:ln>
        </p:spPr>
      </p:sp>
      <p:sp>
        <p:nvSpPr>
          <p:cNvPr id="7" name="Text 4"/>
          <p:cNvSpPr txBox="1"/>
          <p:nvPr/>
        </p:nvSpPr>
        <p:spPr>
          <a:xfrm>
            <a:off x="594360" y="1472184"/>
            <a:ext cx="372618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CONDUCT</a:t>
            </a:r>
            <a:endParaRPr lang="en-US" sz="800" dirty="0"/>
          </a:p>
        </p:txBody>
      </p:sp>
      <p:sp>
        <p:nvSpPr>
          <p:cNvPr id="8" name="Text 5"/>
          <p:cNvSpPr txBox="1"/>
          <p:nvPr/>
        </p:nvSpPr>
        <p:spPr>
          <a:xfrm>
            <a:off x="594360" y="1737360"/>
            <a:ext cx="3726180" cy="173736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Discrimination (race, age, nationality, etc.)</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Unwanted communication, on or off platform*</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C/CP harassment (more than just rude)</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Verbal dispute: raised voices, aggressive confrontation†</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Unauthorized return to C's residence</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C felt unsafe: CP brought a helper without permission</a:t>
            </a:r>
            <a:endParaRPr lang="en-US" sz="950" dirty="0"/>
          </a:p>
        </p:txBody>
      </p:sp>
      <p:sp>
        <p:nvSpPr>
          <p:cNvPr id="9" name="Shape 6"/>
          <p:cNvSpPr/>
          <p:nvPr/>
        </p:nvSpPr>
        <p:spPr>
          <a:xfrm>
            <a:off x="4640580" y="1325880"/>
            <a:ext cx="4091940" cy="2240280"/>
          </a:xfrm>
          <a:prstGeom prst="roundRect">
            <a:avLst>
              <a:gd name="adj" fmla="val 3265"/>
            </a:avLst>
          </a:prstGeom>
          <a:solidFill>
            <a:srgbClr val="FFFFFF"/>
          </a:solidFill>
          <a:ln w="9525">
            <a:solidFill>
              <a:srgbClr val="DCE1E7"/>
            </a:solidFill>
            <a:prstDash val="solid"/>
          </a:ln>
        </p:spPr>
      </p:sp>
      <p:sp>
        <p:nvSpPr>
          <p:cNvPr id="10" name="Text 7"/>
          <p:cNvSpPr txBox="1"/>
          <p:nvPr/>
        </p:nvSpPr>
        <p:spPr>
          <a:xfrm>
            <a:off x="4823460" y="1472184"/>
            <a:ext cx="372618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SAFETY AND SUBSTANCES</a:t>
            </a:r>
            <a:endParaRPr lang="en-US" sz="800" dirty="0"/>
          </a:p>
        </p:txBody>
      </p:sp>
      <p:sp>
        <p:nvSpPr>
          <p:cNvPr id="11" name="Text 8"/>
          <p:cNvSpPr txBox="1"/>
          <p:nvPr/>
        </p:nvSpPr>
        <p:spPr>
          <a:xfrm>
            <a:off x="4823460" y="1737360"/>
            <a:ext cx="3726180" cy="173736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Drugs or weapons present at the workplace</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Possessing or using illegal substances</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Distributing (or trying to) illegal substances</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Soliciting or drinking alcohol</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CP failed to secure C's residence</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Animal involvement (bite, injury, lost animal)</a:t>
            </a:r>
            <a:endParaRPr lang="en-US" sz="950" dirty="0"/>
          </a:p>
          <a:p>
            <a:pPr marL="127000" indent="-127000">
              <a:spcAft>
                <a:spcPts val="300"/>
              </a:spcAft>
              <a:buSzPct val="100000"/>
              <a:buChar char="•"/>
            </a:pPr>
            <a:r>
              <a:rPr lang="en-US" sz="950" dirty="0">
                <a:solidFill>
                  <a:srgbClr val="1D1D1F"/>
                </a:solidFill>
                <a:latin typeface="SF Pro Text" pitchFamily="34" charset="0"/>
                <a:ea typeface="SF Pro Text" pitchFamily="34" charset="-122"/>
                <a:cs typeface="SF Pro Text" pitchFamily="34" charset="-120"/>
              </a:rPr>
              <a:t>C/CP hurt during cleaning</a:t>
            </a:r>
            <a:endParaRPr lang="en-US" sz="950" dirty="0"/>
          </a:p>
        </p:txBody>
      </p:sp>
      <p:sp>
        <p:nvSpPr>
          <p:cNvPr id="12" name="Text 9"/>
          <p:cNvSpPr txBox="1"/>
          <p:nvPr/>
        </p:nvSpPr>
        <p:spPr>
          <a:xfrm>
            <a:off x="411480" y="3639312"/>
            <a:ext cx="8321040" cy="411480"/>
          </a:xfrm>
          <a:prstGeom prst="rect">
            <a:avLst/>
          </a:prstGeom>
          <a:noFill/>
          <a:ln/>
        </p:spPr>
        <p:txBody>
          <a:bodyPr wrap="square" lIns="0" tIns="0" rIns="0" bIns="0" rtlCol="0" anchor="t"/>
          <a:lstStyle/>
          <a:p>
            <a:pPr indent="0" marL="0">
              <a:buNone/>
            </a:pPr>
            <a:r>
              <a:rPr lang="en-US" sz="850" i="1" dirty="0">
                <a:solidFill>
                  <a:srgbClr val="6E6E73"/>
                </a:solidFill>
                <a:latin typeface="SF Pro Text" pitchFamily="34" charset="0"/>
                <a:ea typeface="SF Pro Text" pitchFamily="34" charset="-122"/>
                <a:cs typeface="SF Pro Text" pitchFamily="34" charset="-120"/>
              </a:rPr>
              <a:t>* Not a single job-related follow-up (arrival time, forgotten item).</a:t>
            </a:r>
            <a:endParaRPr lang="en-US" sz="850" dirty="0"/>
          </a:p>
          <a:p>
            <a:pPr indent="0" marL="0">
              <a:buNone/>
            </a:pPr>
            <a:r>
              <a:rPr lang="en-US" sz="850" i="1" dirty="0">
                <a:solidFill>
                  <a:srgbClr val="6E6E73"/>
                </a:solidFill>
                <a:latin typeface="SF Pro Text" pitchFamily="34" charset="0"/>
                <a:ea typeface="SF Pro Text" pitchFamily="34" charset="-122"/>
                <a:cs typeface="SF Pro Text" pitchFamily="34" charset="-120"/>
              </a:rPr>
              <a:t>† Not a disagreement about the cleaning itself, unless it turns heated or intimidating.</a:t>
            </a:r>
            <a:endParaRPr lang="en-US" sz="8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Theft and damage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Which claims are covered.</a:t>
            </a:r>
            <a:endParaRPr lang="en-US" sz="1200" dirty="0"/>
          </a:p>
        </p:txBody>
      </p:sp>
      <p:sp>
        <p:nvSpPr>
          <p:cNvPr id="6" name="Shape 3"/>
          <p:cNvSpPr/>
          <p:nvPr/>
        </p:nvSpPr>
        <p:spPr>
          <a:xfrm>
            <a:off x="411480" y="1325880"/>
            <a:ext cx="4091940" cy="2743200"/>
          </a:xfrm>
          <a:prstGeom prst="roundRect">
            <a:avLst>
              <a:gd name="adj" fmla="val 2667"/>
            </a:avLst>
          </a:prstGeom>
          <a:solidFill>
            <a:srgbClr val="FFFFFF"/>
          </a:solidFill>
          <a:ln w="9525">
            <a:solidFill>
              <a:srgbClr val="DCE1E7"/>
            </a:solidFill>
            <a:prstDash val="solid"/>
          </a:ln>
        </p:spPr>
      </p:sp>
      <p:sp>
        <p:nvSpPr>
          <p:cNvPr id="7" name="Shape 4"/>
          <p:cNvSpPr/>
          <p:nvPr/>
        </p:nvSpPr>
        <p:spPr>
          <a:xfrm>
            <a:off x="594360" y="1508760"/>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600932"/>
            <a:ext cx="199705" cy="199705"/>
          </a:xfrm>
          <a:prstGeom prst="rect">
            <a:avLst/>
          </a:prstGeom>
        </p:spPr>
      </p:pic>
      <p:sp>
        <p:nvSpPr>
          <p:cNvPr id="9" name="Text 5"/>
          <p:cNvSpPr txBox="1"/>
          <p:nvPr/>
        </p:nvSpPr>
        <p:spPr>
          <a:xfrm>
            <a:off x="10972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Included</a:t>
            </a:r>
            <a:endParaRPr lang="en-US" sz="1300" dirty="0"/>
          </a:p>
        </p:txBody>
      </p:sp>
      <p:sp>
        <p:nvSpPr>
          <p:cNvPr id="10" name="Text 6"/>
          <p:cNvSpPr txBox="1"/>
          <p:nvPr/>
        </p:nvSpPr>
        <p:spPr>
          <a:xfrm>
            <a:off x="594360" y="2039112"/>
            <a:ext cx="3726180" cy="19202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Job paid in full on the platform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Account in good standing: no failed or disputed charges</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Reported within 30 days of the cleaning</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Requester hasn't violated the Terms of Service</a:t>
            </a:r>
            <a:endParaRPr lang="en-US" sz="1000" dirty="0"/>
          </a:p>
        </p:txBody>
      </p:sp>
      <p:sp>
        <p:nvSpPr>
          <p:cNvPr id="11" name="Shape 7"/>
          <p:cNvSpPr/>
          <p:nvPr/>
        </p:nvSpPr>
        <p:spPr>
          <a:xfrm>
            <a:off x="4640580" y="1325880"/>
            <a:ext cx="4091940" cy="2743200"/>
          </a:xfrm>
          <a:prstGeom prst="roundRect">
            <a:avLst>
              <a:gd name="adj" fmla="val 2667"/>
            </a:avLst>
          </a:prstGeom>
          <a:solidFill>
            <a:srgbClr val="FFFFFF"/>
          </a:solidFill>
          <a:ln w="9525">
            <a:solidFill>
              <a:srgbClr val="DCE1E7"/>
            </a:solidFill>
            <a:prstDash val="solid"/>
          </a:ln>
        </p:spPr>
      </p:sp>
      <p:sp>
        <p:nvSpPr>
          <p:cNvPr id="12" name="Shape 8"/>
          <p:cNvSpPr/>
          <p:nvPr/>
        </p:nvSpPr>
        <p:spPr>
          <a:xfrm>
            <a:off x="4823460" y="1508760"/>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915632" y="1600932"/>
            <a:ext cx="199705" cy="199705"/>
          </a:xfrm>
          <a:prstGeom prst="rect">
            <a:avLst/>
          </a:prstGeom>
        </p:spPr>
      </p:pic>
      <p:sp>
        <p:nvSpPr>
          <p:cNvPr id="14" name="Text 9"/>
          <p:cNvSpPr txBox="1"/>
          <p:nvPr/>
        </p:nvSpPr>
        <p:spPr>
          <a:xfrm>
            <a:off x="5326380" y="15087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Excluded</a:t>
            </a:r>
            <a:endParaRPr lang="en-US" sz="1300" dirty="0"/>
          </a:p>
        </p:txBody>
      </p:sp>
      <p:sp>
        <p:nvSpPr>
          <p:cNvPr id="15" name="Text 10"/>
          <p:cNvSpPr txBox="1"/>
          <p:nvPr/>
        </p:nvSpPr>
        <p:spPr>
          <a:xfrm>
            <a:off x="4823460" y="2039112"/>
            <a:ext cx="3726180" cy="19202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Cleaning done off the platform</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Cash, gift cards, securities, fine art, antiques, jewelry</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Pets, liability, common areas, sentimental value</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Already recovered by police or replaced by the CP</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Items that still work (scratches, wear and tear)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Escalating: conduct, theft and damage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Policy violations, unprofessional conduct, theft and damage: the first report.</a:t>
            </a:r>
            <a:endParaRPr lang="en-US" sz="1200" dirty="0"/>
          </a:p>
        </p:txBody>
      </p:sp>
      <p:sp>
        <p:nvSpPr>
          <p:cNvPr id="6" name="Shape 3"/>
          <p:cNvSpPr/>
          <p:nvPr/>
        </p:nvSpPr>
        <p:spPr>
          <a:xfrm>
            <a:off x="411480" y="1371600"/>
            <a:ext cx="1908810" cy="658368"/>
          </a:xfrm>
          <a:prstGeom prst="roundRect">
            <a:avLst>
              <a:gd name="adj" fmla="val 11111"/>
            </a:avLst>
          </a:prstGeom>
          <a:solidFill>
            <a:srgbClr val="0B7A6F"/>
          </a:solidFill>
          <a:ln w="12700">
            <a:solidFill>
              <a:srgbClr val="0B7A6F"/>
            </a:solidFill>
            <a:prstDash val="solid"/>
          </a:ln>
        </p:spPr>
      </p:sp>
      <p:sp>
        <p:nvSpPr>
          <p:cNvPr id="7" name="Text 4"/>
          <p:cNvSpPr txBox="1"/>
          <p:nvPr/>
        </p:nvSpPr>
        <p:spPr>
          <a:xfrm>
            <a:off x="411480" y="1371600"/>
            <a:ext cx="190881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New CRM macro:</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"Escalate Report to T&amp;S"</a:t>
            </a:r>
            <a:endParaRPr lang="en-US" sz="1000" dirty="0"/>
          </a:p>
        </p:txBody>
      </p:sp>
      <p:sp>
        <p:nvSpPr>
          <p:cNvPr id="8" name="Shape 5"/>
          <p:cNvSpPr/>
          <p:nvPr/>
        </p:nvSpPr>
        <p:spPr>
          <a:xfrm>
            <a:off x="338328" y="1261872"/>
            <a:ext cx="274320" cy="274320"/>
          </a:xfrm>
          <a:prstGeom prst="ellipse">
            <a:avLst/>
          </a:prstGeom>
          <a:solidFill>
            <a:srgbClr val="E3F4F1"/>
          </a:solidFill>
          <a:ln w="12700">
            <a:solidFill>
              <a:srgbClr val="E3F4F1"/>
            </a:solidFill>
            <a:prstDash val="solid"/>
          </a:ln>
        </p:spPr>
      </p:sp>
      <p:sp>
        <p:nvSpPr>
          <p:cNvPr id="9" name="Text 6"/>
          <p:cNvSpPr txBox="1"/>
          <p:nvPr/>
        </p:nvSpPr>
        <p:spPr>
          <a:xfrm>
            <a:off x="33832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10" name="Shape 7"/>
          <p:cNvSpPr/>
          <p:nvPr/>
        </p:nvSpPr>
        <p:spPr>
          <a:xfrm>
            <a:off x="2320290" y="1700784"/>
            <a:ext cx="228600" cy="0"/>
          </a:xfrm>
          <a:prstGeom prst="line">
            <a:avLst/>
          </a:prstGeom>
          <a:noFill/>
          <a:ln w="12700">
            <a:solidFill>
              <a:srgbClr val="6E6E73"/>
            </a:solidFill>
            <a:prstDash val="solid"/>
            <a:tailEnd type="triangle"/>
          </a:ln>
        </p:spPr>
      </p:sp>
      <p:sp>
        <p:nvSpPr>
          <p:cNvPr id="11" name="Shape 8"/>
          <p:cNvSpPr/>
          <p:nvPr/>
        </p:nvSpPr>
        <p:spPr>
          <a:xfrm>
            <a:off x="2548890" y="1371600"/>
            <a:ext cx="1908810" cy="658368"/>
          </a:xfrm>
          <a:prstGeom prst="roundRect">
            <a:avLst>
              <a:gd name="adj" fmla="val 11111"/>
            </a:avLst>
          </a:prstGeom>
          <a:solidFill>
            <a:srgbClr val="0B7A6F"/>
          </a:solidFill>
          <a:ln w="12700">
            <a:solidFill>
              <a:srgbClr val="0B7A6F"/>
            </a:solidFill>
            <a:prstDash val="solid"/>
          </a:ln>
        </p:spPr>
      </p:sp>
      <p:sp>
        <p:nvSpPr>
          <p:cNvPr id="12" name="Text 9"/>
          <p:cNvSpPr txBox="1"/>
          <p:nvPr/>
        </p:nvSpPr>
        <p:spPr>
          <a:xfrm>
            <a:off x="2548890" y="1371600"/>
            <a:ext cx="190881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Post in</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#new-ts-nonsafety-reports</a:t>
            </a:r>
            <a:endParaRPr lang="en-US" sz="1000" dirty="0"/>
          </a:p>
        </p:txBody>
      </p:sp>
      <p:sp>
        <p:nvSpPr>
          <p:cNvPr id="13" name="Shape 10"/>
          <p:cNvSpPr/>
          <p:nvPr/>
        </p:nvSpPr>
        <p:spPr>
          <a:xfrm>
            <a:off x="2475738" y="1261872"/>
            <a:ext cx="274320" cy="274320"/>
          </a:xfrm>
          <a:prstGeom prst="ellipse">
            <a:avLst/>
          </a:prstGeom>
          <a:solidFill>
            <a:srgbClr val="E3F4F1"/>
          </a:solidFill>
          <a:ln w="12700">
            <a:solidFill>
              <a:srgbClr val="E3F4F1"/>
            </a:solidFill>
            <a:prstDash val="solid"/>
          </a:ln>
        </p:spPr>
      </p:sp>
      <p:sp>
        <p:nvSpPr>
          <p:cNvPr id="14" name="Text 11"/>
          <p:cNvSpPr txBox="1"/>
          <p:nvPr/>
        </p:nvSpPr>
        <p:spPr>
          <a:xfrm>
            <a:off x="247573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Shape 12"/>
          <p:cNvSpPr/>
          <p:nvPr/>
        </p:nvSpPr>
        <p:spPr>
          <a:xfrm>
            <a:off x="4457700" y="1700784"/>
            <a:ext cx="228600" cy="0"/>
          </a:xfrm>
          <a:prstGeom prst="line">
            <a:avLst/>
          </a:prstGeom>
          <a:noFill/>
          <a:ln w="12700">
            <a:solidFill>
              <a:srgbClr val="6E6E73"/>
            </a:solidFill>
            <a:prstDash val="solid"/>
            <a:tailEnd type="triangle"/>
          </a:ln>
        </p:spPr>
      </p:sp>
      <p:sp>
        <p:nvSpPr>
          <p:cNvPr id="16" name="Shape 13"/>
          <p:cNvSpPr/>
          <p:nvPr/>
        </p:nvSpPr>
        <p:spPr>
          <a:xfrm>
            <a:off x="4686300" y="1371600"/>
            <a:ext cx="1908810" cy="658368"/>
          </a:xfrm>
          <a:prstGeom prst="roundRect">
            <a:avLst>
              <a:gd name="adj" fmla="val 11111"/>
            </a:avLst>
          </a:prstGeom>
          <a:solidFill>
            <a:srgbClr val="0B7A6F"/>
          </a:solidFill>
          <a:ln w="12700">
            <a:solidFill>
              <a:srgbClr val="0B7A6F"/>
            </a:solidFill>
            <a:prstDash val="solid"/>
          </a:ln>
        </p:spPr>
      </p:sp>
      <p:sp>
        <p:nvSpPr>
          <p:cNvPr id="17" name="Text 14"/>
          <p:cNvSpPr txBox="1"/>
          <p:nvPr/>
        </p:nvSpPr>
        <p:spPr>
          <a:xfrm>
            <a:off x="4686300" y="1371600"/>
            <a:ext cx="190881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Internal note on the C account</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with your Slack post link</a:t>
            </a:r>
            <a:endParaRPr lang="en-US" sz="1000" dirty="0"/>
          </a:p>
        </p:txBody>
      </p:sp>
      <p:sp>
        <p:nvSpPr>
          <p:cNvPr id="18" name="Shape 15"/>
          <p:cNvSpPr/>
          <p:nvPr/>
        </p:nvSpPr>
        <p:spPr>
          <a:xfrm>
            <a:off x="4613148" y="1261872"/>
            <a:ext cx="274320" cy="274320"/>
          </a:xfrm>
          <a:prstGeom prst="ellipse">
            <a:avLst/>
          </a:prstGeom>
          <a:solidFill>
            <a:srgbClr val="E3F4F1"/>
          </a:solidFill>
          <a:ln w="12700">
            <a:solidFill>
              <a:srgbClr val="E3F4F1"/>
            </a:solidFill>
            <a:prstDash val="solid"/>
          </a:ln>
        </p:spPr>
      </p:sp>
      <p:sp>
        <p:nvSpPr>
          <p:cNvPr id="19" name="Text 16"/>
          <p:cNvSpPr txBox="1"/>
          <p:nvPr/>
        </p:nvSpPr>
        <p:spPr>
          <a:xfrm>
            <a:off x="461314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0" name="Shape 17"/>
          <p:cNvSpPr/>
          <p:nvPr/>
        </p:nvSpPr>
        <p:spPr>
          <a:xfrm>
            <a:off x="6595110" y="1700784"/>
            <a:ext cx="228600" cy="0"/>
          </a:xfrm>
          <a:prstGeom prst="line">
            <a:avLst/>
          </a:prstGeom>
          <a:noFill/>
          <a:ln w="12700">
            <a:solidFill>
              <a:srgbClr val="6E6E73"/>
            </a:solidFill>
            <a:prstDash val="solid"/>
            <a:tailEnd type="triangle"/>
          </a:ln>
        </p:spPr>
      </p:sp>
      <p:sp>
        <p:nvSpPr>
          <p:cNvPr id="21" name="Shape 18"/>
          <p:cNvSpPr/>
          <p:nvPr/>
        </p:nvSpPr>
        <p:spPr>
          <a:xfrm>
            <a:off x="6823710" y="1371600"/>
            <a:ext cx="1908810" cy="658368"/>
          </a:xfrm>
          <a:prstGeom prst="roundRect">
            <a:avLst>
              <a:gd name="adj" fmla="val 11111"/>
            </a:avLst>
          </a:prstGeom>
          <a:solidFill>
            <a:srgbClr val="FFFFFF"/>
          </a:solidFill>
          <a:ln w="12700">
            <a:solidFill>
              <a:srgbClr val="DCE1E7"/>
            </a:solidFill>
            <a:prstDash val="solid"/>
          </a:ln>
        </p:spPr>
      </p:sp>
      <p:sp>
        <p:nvSpPr>
          <p:cNvPr id="22" name="Text 19"/>
          <p:cNvSpPr txBox="1"/>
          <p:nvPr/>
        </p:nvSpPr>
        <p:spPr>
          <a:xfrm>
            <a:off x="6823710" y="1371600"/>
            <a:ext cx="1908810" cy="658368"/>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Don't resolve. Queue:</a:t>
            </a:r>
            <a:endParaRPr lang="en-US" sz="1000" dirty="0"/>
          </a:p>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T&amp;S Non-Safety Reports</a:t>
            </a:r>
            <a:endParaRPr lang="en-US" sz="1000" dirty="0"/>
          </a:p>
        </p:txBody>
      </p:sp>
      <p:sp>
        <p:nvSpPr>
          <p:cNvPr id="23" name="Shape 20"/>
          <p:cNvSpPr/>
          <p:nvPr/>
        </p:nvSpPr>
        <p:spPr>
          <a:xfrm>
            <a:off x="6750558" y="1261872"/>
            <a:ext cx="274320" cy="274320"/>
          </a:xfrm>
          <a:prstGeom prst="ellipse">
            <a:avLst/>
          </a:prstGeom>
          <a:solidFill>
            <a:srgbClr val="E3F4F1"/>
          </a:solidFill>
          <a:ln w="12700">
            <a:solidFill>
              <a:srgbClr val="E3F4F1"/>
            </a:solidFill>
            <a:prstDash val="solid"/>
          </a:ln>
        </p:spPr>
      </p:sp>
      <p:sp>
        <p:nvSpPr>
          <p:cNvPr id="24" name="Text 21"/>
          <p:cNvSpPr txBox="1"/>
          <p:nvPr/>
        </p:nvSpPr>
        <p:spPr>
          <a:xfrm>
            <a:off x="6750558" y="126187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5" name="Shape 22"/>
          <p:cNvSpPr/>
          <p:nvPr/>
        </p:nvSpPr>
        <p:spPr>
          <a:xfrm>
            <a:off x="411480" y="2240280"/>
            <a:ext cx="5577840" cy="2011680"/>
          </a:xfrm>
          <a:prstGeom prst="roundRect">
            <a:avLst>
              <a:gd name="adj" fmla="val 3636"/>
            </a:avLst>
          </a:prstGeom>
          <a:solidFill>
            <a:srgbClr val="FFFFFF"/>
          </a:solidFill>
          <a:ln w="9525">
            <a:solidFill>
              <a:srgbClr val="DCE1E7"/>
            </a:solidFill>
            <a:prstDash val="solid"/>
          </a:ln>
        </p:spPr>
      </p:sp>
      <p:pic>
        <p:nvPicPr>
          <p:cNvPr id="26" name="Image 0" descr="/tmp/claude-0/-workspace-training/3ce5cff6-cccf-5f33-b0ee-0b147a55120e/scratchpad/img4/ts_nonsafety_report.png">    </p:cNvPr>
          <p:cNvPicPr>
            <a:picLocks noChangeAspect="1"/>
          </p:cNvPicPr>
          <p:nvPr/>
        </p:nvPicPr>
        <p:blipFill>
          <a:blip r:embed="rId1"/>
          <a:stretch>
            <a:fillRect/>
          </a:stretch>
        </p:blipFill>
        <p:spPr>
          <a:xfrm>
            <a:off x="573190" y="2331720"/>
            <a:ext cx="5254421" cy="1627632"/>
          </a:xfrm>
          <a:prstGeom prst="rect">
            <a:avLst/>
          </a:prstGeom>
        </p:spPr>
      </p:pic>
      <p:sp>
        <p:nvSpPr>
          <p:cNvPr id="27" name="Shape 23"/>
          <p:cNvSpPr/>
          <p:nvPr/>
        </p:nvSpPr>
        <p:spPr>
          <a:xfrm>
            <a:off x="573190" y="2331720"/>
            <a:ext cx="5254421" cy="1627632"/>
          </a:xfrm>
          <a:prstGeom prst="rect">
            <a:avLst/>
          </a:prstGeom>
          <a:ln w="6350">
            <a:solidFill>
              <a:srgbClr val="DCE1E7"/>
            </a:solidFill>
            <a:prstDash val="solid"/>
          </a:ln>
        </p:spPr>
      </p:sp>
      <p:sp>
        <p:nvSpPr>
          <p:cNvPr id="28" name="Text 24"/>
          <p:cNvSpPr txBox="1"/>
          <p:nvPr/>
        </p:nvSpPr>
        <p:spPr>
          <a:xfrm>
            <a:off x="502920" y="3977640"/>
            <a:ext cx="539496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Sample post in #new-ts-nonsafety-reports</a:t>
            </a:r>
            <a:endParaRPr lang="en-US" sz="800" dirty="0"/>
          </a:p>
        </p:txBody>
      </p:sp>
      <p:sp>
        <p:nvSpPr>
          <p:cNvPr id="29" name="Shape 25"/>
          <p:cNvSpPr/>
          <p:nvPr/>
        </p:nvSpPr>
        <p:spPr>
          <a:xfrm>
            <a:off x="6126480" y="2240280"/>
            <a:ext cx="2606040" cy="2011680"/>
          </a:xfrm>
          <a:prstGeom prst="roundRect">
            <a:avLst>
              <a:gd name="adj" fmla="val 3636"/>
            </a:avLst>
          </a:prstGeom>
          <a:solidFill>
            <a:srgbClr val="FFFFFF"/>
          </a:solidFill>
          <a:ln w="9525">
            <a:solidFill>
              <a:srgbClr val="DCE1E7"/>
            </a:solidFill>
            <a:prstDash val="solid"/>
          </a:ln>
        </p:spPr>
      </p:sp>
      <p:sp>
        <p:nvSpPr>
          <p:cNvPr id="30" name="Text 26"/>
          <p:cNvSpPr txBox="1"/>
          <p:nvPr/>
        </p:nvSpPr>
        <p:spPr>
          <a:xfrm>
            <a:off x="6309360" y="2395728"/>
            <a:ext cx="2286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POST FORMAT</a:t>
            </a:r>
            <a:endParaRPr lang="en-US" sz="800" dirty="0"/>
          </a:p>
        </p:txBody>
      </p:sp>
      <p:sp>
        <p:nvSpPr>
          <p:cNvPr id="31" name="Text 27"/>
          <p:cNvSpPr txBox="1"/>
          <p:nvPr/>
        </p:nvSpPr>
        <p:spPr>
          <a:xfrm>
            <a:off x="6309360" y="2697480"/>
            <a:ext cx="2331720" cy="1097280"/>
          </a:xfrm>
          <a:prstGeom prst="rect">
            <a:avLst/>
          </a:prstGeom>
          <a:noFill/>
          <a:ln/>
        </p:spPr>
        <p:txBody>
          <a:bodyPr wrap="square" lIns="0" tIns="0" rIns="0" bIns="0" rtlCol="0" anchor="t"/>
          <a:lstStyle/>
          <a:p>
            <a:pPr indent="0" marL="0">
              <a:spcAft>
                <a:spcPts val="800"/>
              </a:spcAft>
              <a:buNone/>
            </a:pPr>
            <a:r>
              <a:rPr lang="en-US" sz="1050" dirty="0">
                <a:solidFill>
                  <a:srgbClr val="1D1D1F"/>
                </a:solidFill>
                <a:latin typeface="Courier New" pitchFamily="34" charset="0"/>
                <a:ea typeface="Courier New" pitchFamily="34" charset="-122"/>
                <a:cs typeface="Courier New" pitchFamily="34" charset="-120"/>
              </a:rPr>
              <a:t>Ticket Link:</a:t>
            </a:r>
            <a:endParaRPr lang="en-US" sz="1050" dirty="0"/>
          </a:p>
          <a:p>
            <a:pPr indent="0" marL="0">
              <a:spcAft>
                <a:spcPts val="800"/>
              </a:spcAft>
              <a:buNone/>
            </a:pPr>
            <a:r>
              <a:rPr lang="en-US" sz="1050" dirty="0">
                <a:solidFill>
                  <a:srgbClr val="1D1D1F"/>
                </a:solidFill>
                <a:latin typeface="Courier New" pitchFamily="34" charset="0"/>
                <a:ea typeface="Courier New" pitchFamily="34" charset="-122"/>
                <a:cs typeface="Courier New" pitchFamily="34" charset="-120"/>
              </a:rPr>
              <a:t>CID | Job ID | CP ID</a:t>
            </a:r>
            <a:endParaRPr lang="en-US" sz="1050" dirty="0"/>
          </a:p>
          <a:p>
            <a:pPr indent="0" marL="0">
              <a:spcAft>
                <a:spcPts val="800"/>
              </a:spcAft>
              <a:buNone/>
            </a:pPr>
            <a:r>
              <a:rPr lang="en-US" sz="1050" dirty="0">
                <a:solidFill>
                  <a:srgbClr val="1D1D1F"/>
                </a:solidFill>
                <a:latin typeface="Courier New" pitchFamily="34" charset="0"/>
                <a:ea typeface="Courier New" pitchFamily="34" charset="-122"/>
                <a:cs typeface="Courier New" pitchFamily="34" charset="-120"/>
              </a:rPr>
              <a:t>Background:</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Conditional escalation</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few real concerns escalate only if the customer explicitly asks.</a:t>
            </a:r>
            <a:endParaRPr lang="en-US" sz="1200" dirty="0"/>
          </a:p>
        </p:txBody>
      </p:sp>
      <p:sp>
        <p:nvSpPr>
          <p:cNvPr id="6" name="Shape 3"/>
          <p:cNvSpPr/>
          <p:nvPr/>
        </p:nvSpPr>
        <p:spPr>
          <a:xfrm>
            <a:off x="2468880" y="1325880"/>
            <a:ext cx="4206240" cy="457200"/>
          </a:xfrm>
          <a:prstGeom prst="roundRect">
            <a:avLst>
              <a:gd name="adj" fmla="val 16000"/>
            </a:avLst>
          </a:prstGeom>
          <a:solidFill>
            <a:srgbClr val="1D1D1F"/>
          </a:solidFill>
          <a:ln w="12700">
            <a:solidFill>
              <a:srgbClr val="1D1D1F"/>
            </a:solidFill>
            <a:prstDash val="solid"/>
          </a:ln>
        </p:spPr>
      </p:sp>
      <p:sp>
        <p:nvSpPr>
          <p:cNvPr id="7" name="Text 4"/>
          <p:cNvSpPr txBox="1"/>
          <p:nvPr/>
        </p:nvSpPr>
        <p:spPr>
          <a:xfrm>
            <a:off x="2468880" y="1325880"/>
            <a:ext cx="4206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CP brought a minor, or brought/sent an unauthorized person</a:t>
            </a:r>
            <a:endParaRPr lang="en-US" sz="1000" dirty="0"/>
          </a:p>
        </p:txBody>
      </p:sp>
      <p:sp>
        <p:nvSpPr>
          <p:cNvPr id="8" name="Shape 5"/>
          <p:cNvSpPr/>
          <p:nvPr/>
        </p:nvSpPr>
        <p:spPr>
          <a:xfrm>
            <a:off x="4572000" y="1783080"/>
            <a:ext cx="0" cy="155448"/>
          </a:xfrm>
          <a:prstGeom prst="line">
            <a:avLst/>
          </a:prstGeom>
          <a:noFill/>
          <a:ln w="12700">
            <a:solidFill>
              <a:srgbClr val="6E6E73"/>
            </a:solidFill>
            <a:prstDash val="solid"/>
            <a:tailEnd type="triangle"/>
          </a:ln>
        </p:spPr>
      </p:sp>
      <p:sp>
        <p:nvSpPr>
          <p:cNvPr id="9" name="Shape 6"/>
          <p:cNvSpPr/>
          <p:nvPr/>
        </p:nvSpPr>
        <p:spPr>
          <a:xfrm>
            <a:off x="2834640" y="1938528"/>
            <a:ext cx="3474720" cy="411480"/>
          </a:xfrm>
          <a:prstGeom prst="roundRect">
            <a:avLst>
              <a:gd name="adj" fmla="val 17778"/>
            </a:avLst>
          </a:prstGeom>
          <a:solidFill>
            <a:srgbClr val="FFF3D6"/>
          </a:solidFill>
          <a:ln w="12700">
            <a:solidFill>
              <a:srgbClr val="9A6410"/>
            </a:solidFill>
            <a:prstDash val="solid"/>
          </a:ln>
        </p:spPr>
      </p:sp>
      <p:sp>
        <p:nvSpPr>
          <p:cNvPr id="10" name="Text 7"/>
          <p:cNvSpPr txBox="1"/>
          <p:nvPr/>
        </p:nvSpPr>
        <p:spPr>
          <a:xfrm>
            <a:off x="2834640" y="1938528"/>
            <a:ext cx="3474720" cy="41148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Did the customer explicitly ask to escalate?</a:t>
            </a:r>
            <a:endParaRPr lang="en-US" sz="1000" dirty="0"/>
          </a:p>
        </p:txBody>
      </p:sp>
      <p:sp>
        <p:nvSpPr>
          <p:cNvPr id="11" name="Shape 8"/>
          <p:cNvSpPr/>
          <p:nvPr/>
        </p:nvSpPr>
        <p:spPr>
          <a:xfrm>
            <a:off x="4572000" y="2350008"/>
            <a:ext cx="0" cy="182880"/>
          </a:xfrm>
          <a:prstGeom prst="line">
            <a:avLst/>
          </a:prstGeom>
          <a:noFill/>
          <a:ln w="12700">
            <a:solidFill>
              <a:srgbClr val="6E6E73"/>
            </a:solidFill>
            <a:prstDash val="solid"/>
          </a:ln>
        </p:spPr>
      </p:sp>
      <p:sp>
        <p:nvSpPr>
          <p:cNvPr id="12" name="Shape 9"/>
          <p:cNvSpPr/>
          <p:nvPr/>
        </p:nvSpPr>
        <p:spPr>
          <a:xfrm>
            <a:off x="2331720" y="2532888"/>
            <a:ext cx="4480560" cy="0"/>
          </a:xfrm>
          <a:prstGeom prst="line">
            <a:avLst/>
          </a:prstGeom>
          <a:noFill/>
          <a:ln w="12700">
            <a:solidFill>
              <a:srgbClr val="6E6E73"/>
            </a:solidFill>
            <a:prstDash val="solid"/>
          </a:ln>
        </p:spPr>
      </p:sp>
      <p:sp>
        <p:nvSpPr>
          <p:cNvPr id="13" name="Shape 10"/>
          <p:cNvSpPr/>
          <p:nvPr/>
        </p:nvSpPr>
        <p:spPr>
          <a:xfrm>
            <a:off x="2331720" y="2532888"/>
            <a:ext cx="0" cy="210312"/>
          </a:xfrm>
          <a:prstGeom prst="line">
            <a:avLst/>
          </a:prstGeom>
          <a:noFill/>
          <a:ln w="12700">
            <a:solidFill>
              <a:srgbClr val="6E6E73"/>
            </a:solidFill>
            <a:prstDash val="solid"/>
            <a:tailEnd type="triangle"/>
          </a:ln>
        </p:spPr>
      </p:sp>
      <p:sp>
        <p:nvSpPr>
          <p:cNvPr id="14" name="Shape 11"/>
          <p:cNvSpPr/>
          <p:nvPr/>
        </p:nvSpPr>
        <p:spPr>
          <a:xfrm>
            <a:off x="6812280" y="2532888"/>
            <a:ext cx="0" cy="210312"/>
          </a:xfrm>
          <a:prstGeom prst="line">
            <a:avLst/>
          </a:prstGeom>
          <a:noFill/>
          <a:ln w="12700">
            <a:solidFill>
              <a:srgbClr val="6E6E73"/>
            </a:solidFill>
            <a:prstDash val="solid"/>
            <a:tailEnd type="triangle"/>
          </a:ln>
        </p:spPr>
      </p:sp>
      <p:sp>
        <p:nvSpPr>
          <p:cNvPr id="15" name="Text 12"/>
          <p:cNvSpPr txBox="1"/>
          <p:nvPr/>
        </p:nvSpPr>
        <p:spPr>
          <a:xfrm>
            <a:off x="2404872" y="2551176"/>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16" name="Text 13"/>
          <p:cNvSpPr txBox="1"/>
          <p:nvPr/>
        </p:nvSpPr>
        <p:spPr>
          <a:xfrm>
            <a:off x="6885432" y="2551176"/>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7" name="Shape 14"/>
          <p:cNvSpPr/>
          <p:nvPr/>
        </p:nvSpPr>
        <p:spPr>
          <a:xfrm>
            <a:off x="685800" y="2743200"/>
            <a:ext cx="3291840" cy="411480"/>
          </a:xfrm>
          <a:prstGeom prst="roundRect">
            <a:avLst>
              <a:gd name="adj" fmla="val 17778"/>
            </a:avLst>
          </a:prstGeom>
          <a:solidFill>
            <a:srgbClr val="FFFFFF"/>
          </a:solidFill>
          <a:ln w="12700">
            <a:solidFill>
              <a:srgbClr val="DCE1E7"/>
            </a:solidFill>
            <a:prstDash val="solid"/>
          </a:ln>
        </p:spPr>
      </p:sp>
      <p:sp>
        <p:nvSpPr>
          <p:cNvPr id="18" name="Text 15"/>
          <p:cNvSpPr txBox="1"/>
          <p:nvPr/>
        </p:nvSpPr>
        <p:spPr>
          <a:xfrm>
            <a:off x="685800" y="2743200"/>
            <a:ext cx="3291840" cy="411480"/>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Handle as BAU</a:t>
            </a:r>
            <a:endParaRPr lang="en-US" sz="1000" dirty="0"/>
          </a:p>
        </p:txBody>
      </p:sp>
      <p:sp>
        <p:nvSpPr>
          <p:cNvPr id="19" name="Shape 16"/>
          <p:cNvSpPr/>
          <p:nvPr/>
        </p:nvSpPr>
        <p:spPr>
          <a:xfrm>
            <a:off x="5166360" y="2743200"/>
            <a:ext cx="3291840" cy="411480"/>
          </a:xfrm>
          <a:prstGeom prst="roundRect">
            <a:avLst>
              <a:gd name="adj" fmla="val 17778"/>
            </a:avLst>
          </a:prstGeom>
          <a:solidFill>
            <a:srgbClr val="0B7A6F"/>
          </a:solidFill>
          <a:ln w="12700">
            <a:solidFill>
              <a:srgbClr val="0B7A6F"/>
            </a:solidFill>
            <a:prstDash val="solid"/>
          </a:ln>
        </p:spPr>
      </p:sp>
      <p:sp>
        <p:nvSpPr>
          <p:cNvPr id="20" name="Text 17"/>
          <p:cNvSpPr txBox="1"/>
          <p:nvPr/>
        </p:nvSpPr>
        <p:spPr>
          <a:xfrm>
            <a:off x="5166360" y="2743200"/>
            <a:ext cx="329184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Escalate to T&amp;S</a:t>
            </a:r>
            <a:endParaRPr lang="en-US" sz="1000" dirty="0"/>
          </a:p>
        </p:txBody>
      </p:sp>
      <p:sp>
        <p:nvSpPr>
          <p:cNvPr id="21" name="Text 18"/>
          <p:cNvSpPr txBox="1"/>
          <p:nvPr/>
        </p:nvSpPr>
        <p:spPr>
          <a:xfrm>
            <a:off x="685800" y="3200400"/>
            <a:ext cx="3291840" cy="2743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Still counts as a T&amp;S scenario for an ETF waiver.</a:t>
            </a:r>
            <a:endParaRPr lang="en-US" sz="900" dirty="0"/>
          </a:p>
        </p:txBody>
      </p:sp>
      <p:sp>
        <p:nvSpPr>
          <p:cNvPr id="22" name="Text 19"/>
          <p:cNvSpPr txBox="1"/>
          <p:nvPr/>
        </p:nvSpPr>
        <p:spPr>
          <a:xfrm>
            <a:off x="5166360" y="3200400"/>
            <a:ext cx="3291840" cy="27432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T&amp;S owns the case from here.</a:t>
            </a:r>
            <a:endParaRPr lang="en-US" sz="900" dirty="0"/>
          </a:p>
        </p:txBody>
      </p:sp>
      <p:sp>
        <p:nvSpPr>
          <p:cNvPr id="23" name="Shape 20"/>
          <p:cNvSpPr/>
          <p:nvPr/>
        </p:nvSpPr>
        <p:spPr>
          <a:xfrm>
            <a:off x="411480" y="3749040"/>
            <a:ext cx="8321040" cy="384048"/>
          </a:xfrm>
          <a:prstGeom prst="roundRect">
            <a:avLst>
              <a:gd name="adj" fmla="val 19048"/>
            </a:avLst>
          </a:prstGeom>
          <a:solidFill>
            <a:srgbClr val="FFF3D6"/>
          </a:solidFill>
          <a:ln w="9525">
            <a:solidFill>
              <a:srgbClr val="FFF3D6"/>
            </a:solidFill>
            <a:prstDash val="solid"/>
          </a:ln>
        </p:spPr>
      </p:sp>
      <p:pic>
        <p:nvPicPr>
          <p:cNvPr id="24" name="Image 0" descr="preencoded.png">    </p:cNvPr>
          <p:cNvPicPr>
            <a:picLocks noChangeAspect="1"/>
          </p:cNvPicPr>
          <p:nvPr/>
        </p:nvPicPr>
        <p:blipFill>
          <a:blip r:embed="rId1"/>
          <a:stretch>
            <a:fillRect/>
          </a:stretch>
        </p:blipFill>
        <p:spPr>
          <a:xfrm>
            <a:off x="566928" y="3858768"/>
            <a:ext cx="164592" cy="164592"/>
          </a:xfrm>
          <a:prstGeom prst="rect">
            <a:avLst/>
          </a:prstGeom>
        </p:spPr>
      </p:pic>
      <p:sp>
        <p:nvSpPr>
          <p:cNvPr id="25" name="Text 21"/>
          <p:cNvSpPr txBox="1"/>
          <p:nvPr/>
        </p:nvSpPr>
        <p:spPr>
          <a:xfrm>
            <a:off x="822960" y="38496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Not exhaustive:  </a:t>
            </a:r>
            <a:pPr indent="0" marL="0">
              <a:buNone/>
            </a:pPr>
            <a:r>
              <a:rPr lang="en-US" sz="1000" dirty="0">
                <a:solidFill>
                  <a:srgbClr val="1D1D1F"/>
                </a:solidFill>
                <a:latin typeface="SF Pro Text" pitchFamily="34" charset="0"/>
                <a:ea typeface="SF Pro Text" pitchFamily="34" charset="-122"/>
                <a:cs typeface="SF Pro Text" pitchFamily="34" charset="-120"/>
              </a:rPr>
              <a:t>a new case must be a real safety concern. Unsure? Escalate.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Escalating: follow-ups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Updates, a report made by mistake, or a triggered T&amp;S reminder.</a:t>
            </a:r>
            <a:endParaRPr lang="en-US" sz="1200" dirty="0"/>
          </a:p>
        </p:txBody>
      </p:sp>
      <p:sp>
        <p:nvSpPr>
          <p:cNvPr id="6" name="Shape 3"/>
          <p:cNvSpPr/>
          <p:nvPr/>
        </p:nvSpPr>
        <p:spPr>
          <a:xfrm>
            <a:off x="411480" y="1280160"/>
            <a:ext cx="4846320" cy="566928"/>
          </a:xfrm>
          <a:prstGeom prst="roundRect">
            <a:avLst>
              <a:gd name="adj" fmla="val 12903"/>
            </a:avLst>
          </a:prstGeom>
          <a:solidFill>
            <a:srgbClr val="1D1D1F"/>
          </a:solidFill>
          <a:ln w="12700">
            <a:solidFill>
              <a:srgbClr val="1D1D1F"/>
            </a:solidFill>
            <a:prstDash val="solid"/>
          </a:ln>
        </p:spPr>
      </p:sp>
      <p:sp>
        <p:nvSpPr>
          <p:cNvPr id="7" name="Text 4"/>
          <p:cNvSpPr txBox="1"/>
          <p:nvPr/>
        </p:nvSpPr>
        <p:spPr>
          <a:xfrm>
            <a:off x="411480" y="1280160"/>
            <a:ext cx="4846320"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C asks for an update, says they reported by mistake,</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or a timed reminder from T&amp;S triggers</a:t>
            </a:r>
            <a:endParaRPr lang="en-US" sz="1000" dirty="0"/>
          </a:p>
        </p:txBody>
      </p:sp>
      <p:sp>
        <p:nvSpPr>
          <p:cNvPr id="8" name="Shape 5"/>
          <p:cNvSpPr/>
          <p:nvPr/>
        </p:nvSpPr>
        <p:spPr>
          <a:xfrm>
            <a:off x="2834640" y="1847088"/>
            <a:ext cx="0" cy="137160"/>
          </a:xfrm>
          <a:prstGeom prst="line">
            <a:avLst/>
          </a:prstGeom>
          <a:noFill/>
          <a:ln w="12700">
            <a:solidFill>
              <a:srgbClr val="6E6E73"/>
            </a:solidFill>
            <a:prstDash val="solid"/>
            <a:tailEnd type="triangle"/>
          </a:ln>
        </p:spPr>
      </p:sp>
      <p:sp>
        <p:nvSpPr>
          <p:cNvPr id="9" name="Shape 6"/>
          <p:cNvSpPr/>
          <p:nvPr/>
        </p:nvSpPr>
        <p:spPr>
          <a:xfrm>
            <a:off x="1234440" y="1984248"/>
            <a:ext cx="3200400" cy="457200"/>
          </a:xfrm>
          <a:prstGeom prst="roundRect">
            <a:avLst>
              <a:gd name="adj" fmla="val 16000"/>
            </a:avLst>
          </a:prstGeom>
          <a:solidFill>
            <a:srgbClr val="FFF3D6"/>
          </a:solidFill>
          <a:ln w="12700">
            <a:solidFill>
              <a:srgbClr val="9A6410"/>
            </a:solidFill>
            <a:prstDash val="solid"/>
          </a:ln>
        </p:spPr>
      </p:sp>
      <p:sp>
        <p:nvSpPr>
          <p:cNvPr id="10" name="Text 7"/>
          <p:cNvSpPr txBox="1"/>
          <p:nvPr/>
        </p:nvSpPr>
        <p:spPr>
          <a:xfrm>
            <a:off x="1234440" y="1984248"/>
            <a:ext cx="3200400" cy="45720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Already posted in</a:t>
            </a:r>
            <a:endParaRPr lang="en-US" sz="1000" dirty="0"/>
          </a:p>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#trust-and-safety-follow-ups?</a:t>
            </a:r>
            <a:endParaRPr lang="en-US" sz="1000" dirty="0"/>
          </a:p>
        </p:txBody>
      </p:sp>
      <p:sp>
        <p:nvSpPr>
          <p:cNvPr id="11" name="Shape 8"/>
          <p:cNvSpPr/>
          <p:nvPr/>
        </p:nvSpPr>
        <p:spPr>
          <a:xfrm>
            <a:off x="2834640" y="2441448"/>
            <a:ext cx="0" cy="137160"/>
          </a:xfrm>
          <a:prstGeom prst="line">
            <a:avLst/>
          </a:prstGeom>
          <a:noFill/>
          <a:ln w="12700">
            <a:solidFill>
              <a:srgbClr val="6E6E73"/>
            </a:solidFill>
            <a:prstDash val="solid"/>
          </a:ln>
        </p:spPr>
      </p:sp>
      <p:sp>
        <p:nvSpPr>
          <p:cNvPr id="12" name="Shape 9"/>
          <p:cNvSpPr/>
          <p:nvPr/>
        </p:nvSpPr>
        <p:spPr>
          <a:xfrm>
            <a:off x="1600200" y="2578608"/>
            <a:ext cx="2468880" cy="0"/>
          </a:xfrm>
          <a:prstGeom prst="line">
            <a:avLst/>
          </a:prstGeom>
          <a:noFill/>
          <a:ln w="12700">
            <a:solidFill>
              <a:srgbClr val="6E6E73"/>
            </a:solidFill>
            <a:prstDash val="solid"/>
          </a:ln>
        </p:spPr>
      </p:sp>
      <p:sp>
        <p:nvSpPr>
          <p:cNvPr id="13" name="Shape 10"/>
          <p:cNvSpPr/>
          <p:nvPr/>
        </p:nvSpPr>
        <p:spPr>
          <a:xfrm>
            <a:off x="1600200" y="2578608"/>
            <a:ext cx="0" cy="146304"/>
          </a:xfrm>
          <a:prstGeom prst="line">
            <a:avLst/>
          </a:prstGeom>
          <a:noFill/>
          <a:ln w="12700">
            <a:solidFill>
              <a:srgbClr val="6E6E73"/>
            </a:solidFill>
            <a:prstDash val="solid"/>
            <a:tailEnd type="triangle"/>
          </a:ln>
        </p:spPr>
      </p:sp>
      <p:sp>
        <p:nvSpPr>
          <p:cNvPr id="14" name="Shape 11"/>
          <p:cNvSpPr/>
          <p:nvPr/>
        </p:nvSpPr>
        <p:spPr>
          <a:xfrm>
            <a:off x="4069080" y="2578608"/>
            <a:ext cx="0" cy="146304"/>
          </a:xfrm>
          <a:prstGeom prst="line">
            <a:avLst/>
          </a:prstGeom>
          <a:noFill/>
          <a:ln w="12700">
            <a:solidFill>
              <a:srgbClr val="6E6E73"/>
            </a:solidFill>
            <a:prstDash val="solid"/>
            <a:tailEnd type="triangle"/>
          </a:ln>
        </p:spPr>
      </p:sp>
      <p:sp>
        <p:nvSpPr>
          <p:cNvPr id="15" name="Text 12"/>
          <p:cNvSpPr txBox="1"/>
          <p:nvPr/>
        </p:nvSpPr>
        <p:spPr>
          <a:xfrm>
            <a:off x="1673352" y="2596896"/>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6" name="Text 13"/>
          <p:cNvSpPr txBox="1"/>
          <p:nvPr/>
        </p:nvSpPr>
        <p:spPr>
          <a:xfrm>
            <a:off x="4142232" y="2596896"/>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17" name="Shape 14"/>
          <p:cNvSpPr/>
          <p:nvPr/>
        </p:nvSpPr>
        <p:spPr>
          <a:xfrm>
            <a:off x="434340" y="2724912"/>
            <a:ext cx="2331720" cy="777240"/>
          </a:xfrm>
          <a:prstGeom prst="roundRect">
            <a:avLst>
              <a:gd name="adj" fmla="val 9412"/>
            </a:avLst>
          </a:prstGeom>
          <a:solidFill>
            <a:srgbClr val="0B7A6F"/>
          </a:solidFill>
          <a:ln w="12700">
            <a:solidFill>
              <a:srgbClr val="0B7A6F"/>
            </a:solidFill>
            <a:prstDash val="solid"/>
          </a:ln>
        </p:spPr>
      </p:sp>
      <p:sp>
        <p:nvSpPr>
          <p:cNvPr id="18" name="Text 15"/>
          <p:cNvSpPr txBox="1"/>
          <p:nvPr/>
        </p:nvSpPr>
        <p:spPr>
          <a:xfrm>
            <a:off x="434340" y="2724912"/>
            <a:ext cx="23317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Reply in the original thread.</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Tick "Also send to</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#trust-and-safety-follow-ups"</a:t>
            </a:r>
            <a:endParaRPr lang="en-US" sz="1000" dirty="0"/>
          </a:p>
        </p:txBody>
      </p:sp>
      <p:sp>
        <p:nvSpPr>
          <p:cNvPr id="19" name="Shape 16"/>
          <p:cNvSpPr/>
          <p:nvPr/>
        </p:nvSpPr>
        <p:spPr>
          <a:xfrm>
            <a:off x="2903220" y="2724912"/>
            <a:ext cx="2331720" cy="777240"/>
          </a:xfrm>
          <a:prstGeom prst="roundRect">
            <a:avLst>
              <a:gd name="adj" fmla="val 9412"/>
            </a:avLst>
          </a:prstGeom>
          <a:solidFill>
            <a:srgbClr val="0B7A6F"/>
          </a:solidFill>
          <a:ln w="12700">
            <a:solidFill>
              <a:srgbClr val="0B7A6F"/>
            </a:solidFill>
            <a:prstDash val="solid"/>
          </a:ln>
        </p:spPr>
      </p:sp>
      <p:sp>
        <p:nvSpPr>
          <p:cNvPr id="20" name="Text 17"/>
          <p:cNvSpPr txBox="1"/>
          <p:nvPr/>
        </p:nvSpPr>
        <p:spPr>
          <a:xfrm>
            <a:off x="2903220" y="2724912"/>
            <a:ext cx="233172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New post (format at right).</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Internal note with the</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Slack link of your post</a:t>
            </a:r>
            <a:endParaRPr lang="en-US" sz="1000" dirty="0"/>
          </a:p>
        </p:txBody>
      </p:sp>
      <p:sp>
        <p:nvSpPr>
          <p:cNvPr id="21" name="Shape 18"/>
          <p:cNvSpPr/>
          <p:nvPr/>
        </p:nvSpPr>
        <p:spPr>
          <a:xfrm>
            <a:off x="1600200" y="3502152"/>
            <a:ext cx="0" cy="155448"/>
          </a:xfrm>
          <a:prstGeom prst="line">
            <a:avLst/>
          </a:prstGeom>
          <a:noFill/>
          <a:ln w="12700">
            <a:solidFill>
              <a:srgbClr val="6E6E73"/>
            </a:solidFill>
            <a:prstDash val="solid"/>
          </a:ln>
        </p:spPr>
      </p:sp>
      <p:sp>
        <p:nvSpPr>
          <p:cNvPr id="22" name="Shape 19"/>
          <p:cNvSpPr/>
          <p:nvPr/>
        </p:nvSpPr>
        <p:spPr>
          <a:xfrm>
            <a:off x="4069080" y="3502152"/>
            <a:ext cx="0" cy="155448"/>
          </a:xfrm>
          <a:prstGeom prst="line">
            <a:avLst/>
          </a:prstGeom>
          <a:noFill/>
          <a:ln w="12700">
            <a:solidFill>
              <a:srgbClr val="6E6E73"/>
            </a:solidFill>
            <a:prstDash val="solid"/>
          </a:ln>
        </p:spPr>
      </p:sp>
      <p:sp>
        <p:nvSpPr>
          <p:cNvPr id="23" name="Shape 20"/>
          <p:cNvSpPr/>
          <p:nvPr/>
        </p:nvSpPr>
        <p:spPr>
          <a:xfrm>
            <a:off x="1600200" y="3657600"/>
            <a:ext cx="2468880" cy="0"/>
          </a:xfrm>
          <a:prstGeom prst="line">
            <a:avLst/>
          </a:prstGeom>
          <a:noFill/>
          <a:ln w="12700">
            <a:solidFill>
              <a:srgbClr val="6E6E73"/>
            </a:solidFill>
            <a:prstDash val="solid"/>
          </a:ln>
        </p:spPr>
      </p:sp>
      <p:sp>
        <p:nvSpPr>
          <p:cNvPr id="24" name="Shape 21"/>
          <p:cNvSpPr/>
          <p:nvPr/>
        </p:nvSpPr>
        <p:spPr>
          <a:xfrm>
            <a:off x="2834640" y="3657600"/>
            <a:ext cx="0" cy="137160"/>
          </a:xfrm>
          <a:prstGeom prst="line">
            <a:avLst/>
          </a:prstGeom>
          <a:noFill/>
          <a:ln w="12700">
            <a:solidFill>
              <a:srgbClr val="6E6E73"/>
            </a:solidFill>
            <a:prstDash val="solid"/>
            <a:tailEnd type="triangle"/>
          </a:ln>
        </p:spPr>
      </p:sp>
      <p:sp>
        <p:nvSpPr>
          <p:cNvPr id="25" name="Shape 22"/>
          <p:cNvSpPr/>
          <p:nvPr/>
        </p:nvSpPr>
        <p:spPr>
          <a:xfrm>
            <a:off x="411480" y="3794760"/>
            <a:ext cx="4846320" cy="438912"/>
          </a:xfrm>
          <a:prstGeom prst="roundRect">
            <a:avLst>
              <a:gd name="adj" fmla="val 16667"/>
            </a:avLst>
          </a:prstGeom>
          <a:solidFill>
            <a:srgbClr val="FFFFFF"/>
          </a:solidFill>
          <a:ln w="12700">
            <a:solidFill>
              <a:srgbClr val="DCE1E7"/>
            </a:solidFill>
            <a:prstDash val="solid"/>
          </a:ln>
        </p:spPr>
      </p:sp>
      <p:sp>
        <p:nvSpPr>
          <p:cNvPr id="26" name="Text 23"/>
          <p:cNvSpPr txBox="1"/>
          <p:nvPr/>
        </p:nvSpPr>
        <p:spPr>
          <a:xfrm>
            <a:off x="411480" y="3794760"/>
            <a:ext cx="4846320" cy="438912"/>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Don't resolve. Change the queue to T&amp;S Follow-ups</a:t>
            </a:r>
            <a:endParaRPr lang="en-US" sz="1000" dirty="0"/>
          </a:p>
        </p:txBody>
      </p:sp>
      <p:sp>
        <p:nvSpPr>
          <p:cNvPr id="27" name="Shape 24"/>
          <p:cNvSpPr/>
          <p:nvPr/>
        </p:nvSpPr>
        <p:spPr>
          <a:xfrm>
            <a:off x="5440680" y="1280160"/>
            <a:ext cx="3291840" cy="1325880"/>
          </a:xfrm>
          <a:prstGeom prst="roundRect">
            <a:avLst>
              <a:gd name="adj" fmla="val 5517"/>
            </a:avLst>
          </a:prstGeom>
          <a:solidFill>
            <a:srgbClr val="FFFFFF"/>
          </a:solidFill>
          <a:ln w="9525">
            <a:solidFill>
              <a:srgbClr val="DCE1E7"/>
            </a:solidFill>
            <a:prstDash val="solid"/>
          </a:ln>
        </p:spPr>
      </p:sp>
      <p:pic>
        <p:nvPicPr>
          <p:cNvPr id="28" name="Image 0" descr="/tmp/claude-0/-workspace-training/3ce5cff6-cccf-5f33-b0ee-0b147a55120e/scratchpad/img4/ts_followup.png">    </p:cNvPr>
          <p:cNvPicPr>
            <a:picLocks noChangeAspect="1"/>
          </p:cNvPicPr>
          <p:nvPr/>
        </p:nvPicPr>
        <p:blipFill>
          <a:blip r:embed="rId1"/>
          <a:stretch>
            <a:fillRect/>
          </a:stretch>
        </p:blipFill>
        <p:spPr>
          <a:xfrm>
            <a:off x="5593267" y="1371600"/>
            <a:ext cx="2986665" cy="941832"/>
          </a:xfrm>
          <a:prstGeom prst="rect">
            <a:avLst/>
          </a:prstGeom>
        </p:spPr>
      </p:pic>
      <p:sp>
        <p:nvSpPr>
          <p:cNvPr id="29" name="Shape 25"/>
          <p:cNvSpPr/>
          <p:nvPr/>
        </p:nvSpPr>
        <p:spPr>
          <a:xfrm>
            <a:off x="5593267" y="1371600"/>
            <a:ext cx="2986665" cy="941832"/>
          </a:xfrm>
          <a:prstGeom prst="rect">
            <a:avLst/>
          </a:prstGeom>
          <a:ln w="6350">
            <a:solidFill>
              <a:srgbClr val="DCE1E7"/>
            </a:solidFill>
            <a:prstDash val="solid"/>
          </a:ln>
        </p:spPr>
      </p:sp>
      <p:sp>
        <p:nvSpPr>
          <p:cNvPr id="30" name="Text 26"/>
          <p:cNvSpPr txBox="1"/>
          <p:nvPr/>
        </p:nvSpPr>
        <p:spPr>
          <a:xfrm>
            <a:off x="5532120" y="2331720"/>
            <a:ext cx="310896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Follow-up post format</a:t>
            </a:r>
            <a:endParaRPr lang="en-US" sz="800" dirty="0"/>
          </a:p>
        </p:txBody>
      </p:sp>
      <p:sp>
        <p:nvSpPr>
          <p:cNvPr id="31" name="Shape 27"/>
          <p:cNvSpPr/>
          <p:nvPr/>
        </p:nvSpPr>
        <p:spPr>
          <a:xfrm>
            <a:off x="5440680" y="2743200"/>
            <a:ext cx="3291840" cy="1536192"/>
          </a:xfrm>
          <a:prstGeom prst="roundRect">
            <a:avLst>
              <a:gd name="adj" fmla="val 4762"/>
            </a:avLst>
          </a:prstGeom>
          <a:solidFill>
            <a:srgbClr val="FFFFFF"/>
          </a:solidFill>
          <a:ln w="9525">
            <a:solidFill>
              <a:srgbClr val="DCE1E7"/>
            </a:solidFill>
            <a:prstDash val="solid"/>
          </a:ln>
        </p:spPr>
      </p:sp>
      <p:pic>
        <p:nvPicPr>
          <p:cNvPr id="32" name="Image 1" descr="/tmp/claude-0/-workspace-training/3ce5cff6-cccf-5f33-b0ee-0b147a55120e/scratchpad/img4/ts_reminder.png">    </p:cNvPr>
          <p:cNvPicPr>
            <a:picLocks noChangeAspect="1"/>
          </p:cNvPicPr>
          <p:nvPr/>
        </p:nvPicPr>
        <p:blipFill>
          <a:blip r:embed="rId2"/>
          <a:stretch>
            <a:fillRect/>
          </a:stretch>
        </p:blipFill>
        <p:spPr>
          <a:xfrm>
            <a:off x="6017429" y="2834640"/>
            <a:ext cx="2138341" cy="1152144"/>
          </a:xfrm>
          <a:prstGeom prst="rect">
            <a:avLst/>
          </a:prstGeom>
        </p:spPr>
      </p:pic>
      <p:sp>
        <p:nvSpPr>
          <p:cNvPr id="33" name="Shape 28"/>
          <p:cNvSpPr/>
          <p:nvPr/>
        </p:nvSpPr>
        <p:spPr>
          <a:xfrm>
            <a:off x="6017429" y="2834640"/>
            <a:ext cx="2138341" cy="1152144"/>
          </a:xfrm>
          <a:prstGeom prst="rect">
            <a:avLst/>
          </a:prstGeom>
          <a:ln w="6350">
            <a:solidFill>
              <a:srgbClr val="DCE1E7"/>
            </a:solidFill>
            <a:prstDash val="solid"/>
          </a:ln>
        </p:spPr>
      </p:sp>
      <p:sp>
        <p:nvSpPr>
          <p:cNvPr id="34" name="Text 29"/>
          <p:cNvSpPr txBox="1"/>
          <p:nvPr/>
        </p:nvSpPr>
        <p:spPr>
          <a:xfrm>
            <a:off x="5532120" y="4005072"/>
            <a:ext cx="3108960" cy="182880"/>
          </a:xfrm>
          <a:prstGeom prst="rect">
            <a:avLst/>
          </a:prstGeom>
          <a:noFill/>
          <a:ln/>
        </p:spPr>
        <p:txBody>
          <a:bodyPr wrap="square" lIns="0" tIns="0" rIns="0" bIns="0" rtlCol="0" anchor="t"/>
          <a:lstStyle/>
          <a:p>
            <a:pPr algn="ctr" indent="0" marL="0">
              <a:buNone/>
            </a:pPr>
            <a:r>
              <a:rPr lang="en-US" sz="800" i="1" dirty="0">
                <a:solidFill>
                  <a:srgbClr val="6E6E73"/>
                </a:solidFill>
                <a:latin typeface="SF Pro Text" pitchFamily="34" charset="0"/>
                <a:ea typeface="SF Pro Text" pitchFamily="34" charset="-122"/>
                <a:cs typeface="SF Pro Text" pitchFamily="34" charset="-120"/>
              </a:rPr>
              <a:t>Triggered timed reminder from T&amp;S</a:t>
            </a:r>
            <a:endParaRPr lang="en-US" sz="8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 mentions in passing that the CP brought their teenager along, but doesn't ask to escalate. What do you do?</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Handle as BAU. It still counts as a T&amp;S scenario for an ETF waiver.</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 says "you missed a spot" and the CP disagreed calmly. Is this a T&amp;S verbal dispute?</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A disagreement about the cleaning only qualifies if it turns heated, aggressive or intimidating.</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 reports the CP sent sexual messages and asks for a refund. What do you offer?</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Nothing yourself. Escalate to T&amp;S and email the customer; T&amp;S decides the refund.</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T&amp;S replies: "This is not a T&amp;S concern." Now what?</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It's yours again as BAU: normal playbook, ordinary ETF and retention rules.</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78</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TRUST AND SAFETY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Recognize and escalate</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Care doesn't investigate or resolve T&amp;S cases.</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Hands off</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No refunds, ETF changes, retention or cleaner contact.</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Unsure? Escalate</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You don't need certainty to raise a risk.</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09 OF 09</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Service Recovery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Cases with legal, reputational or relationship risk.</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What Service Recovery handles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Material vs. general legal threats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to escalate</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a case comes back</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4/ill10.png">    </p:cNvPr>
          <p:cNvPicPr>
            <a:picLocks noChangeAspect="1"/>
          </p:cNvPicPr>
          <p:nvPr/>
        </p:nvPicPr>
        <p:blipFill>
          <a:blip r:embed="rId5"/>
          <a:stretch>
            <a:fillRect/>
          </a:stretch>
        </p:blipFill>
        <p:spPr>
          <a:xfrm>
            <a:off x="5541264" y="1776984"/>
            <a:ext cx="2926080" cy="158496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SERVICE RECOVERY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Service Recovery handles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Care recognizes and hands off. SR decides the resolution.</a:t>
            </a:r>
            <a:endParaRPr lang="en-US" sz="1200" dirty="0"/>
          </a:p>
        </p:txBody>
      </p:sp>
      <p:sp>
        <p:nvSpPr>
          <p:cNvPr id="6" name="Shape 3"/>
          <p:cNvSpPr/>
          <p:nvPr/>
        </p:nvSpPr>
        <p:spPr>
          <a:xfrm>
            <a:off x="411480" y="1325880"/>
            <a:ext cx="4091940" cy="1554480"/>
          </a:xfrm>
          <a:prstGeom prst="roundRect">
            <a:avLst>
              <a:gd name="adj" fmla="val 4706"/>
            </a:avLst>
          </a:prstGeom>
          <a:solidFill>
            <a:srgbClr val="FFFFFF"/>
          </a:solidFill>
          <a:ln w="9525">
            <a:solidFill>
              <a:srgbClr val="DCE1E7"/>
            </a:solidFill>
            <a:prstDash val="solid"/>
          </a:ln>
        </p:spPr>
      </p:sp>
      <p:sp>
        <p:nvSpPr>
          <p:cNvPr id="7" name="Shape 4"/>
          <p:cNvSpPr/>
          <p:nvPr/>
        </p:nvSpPr>
        <p:spPr>
          <a:xfrm>
            <a:off x="576072" y="14904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569476"/>
            <a:ext cx="171176" cy="171176"/>
          </a:xfrm>
          <a:prstGeom prst="rect">
            <a:avLst/>
          </a:prstGeom>
        </p:spPr>
      </p:pic>
      <p:sp>
        <p:nvSpPr>
          <p:cNvPr id="9" name="Text 5"/>
          <p:cNvSpPr txBox="1"/>
          <p:nvPr/>
        </p:nvSpPr>
        <p:spPr>
          <a:xfrm>
            <a:off x="5760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Negative CSAT, opted in</a:t>
            </a:r>
            <a:endParaRPr lang="en-US" sz="1200" dirty="0"/>
          </a:p>
        </p:txBody>
      </p:sp>
      <p:sp>
        <p:nvSpPr>
          <p:cNvPr id="10" name="Text 6"/>
          <p:cNvSpPr txBox="1"/>
          <p:nvPr/>
        </p:nvSpPr>
        <p:spPr>
          <a:xfrm>
            <a:off x="576072" y="2221992"/>
            <a:ext cx="3762756" cy="5669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customer left negative survey feedback and asked to be contacted by phone or email.</a:t>
            </a:r>
            <a:endParaRPr lang="en-US" sz="950" dirty="0"/>
          </a:p>
        </p:txBody>
      </p:sp>
      <p:sp>
        <p:nvSpPr>
          <p:cNvPr id="11" name="Shape 7"/>
          <p:cNvSpPr/>
          <p:nvPr/>
        </p:nvSpPr>
        <p:spPr>
          <a:xfrm>
            <a:off x="4640580" y="1325880"/>
            <a:ext cx="4091940" cy="1554480"/>
          </a:xfrm>
          <a:prstGeom prst="roundRect">
            <a:avLst>
              <a:gd name="adj" fmla="val 4706"/>
            </a:avLst>
          </a:prstGeom>
          <a:solidFill>
            <a:srgbClr val="FFFFFF"/>
          </a:solidFill>
          <a:ln w="9525">
            <a:solidFill>
              <a:srgbClr val="DCE1E7"/>
            </a:solidFill>
            <a:prstDash val="solid"/>
          </a:ln>
        </p:spPr>
      </p:sp>
      <p:sp>
        <p:nvSpPr>
          <p:cNvPr id="12" name="Shape 8"/>
          <p:cNvSpPr/>
          <p:nvPr/>
        </p:nvSpPr>
        <p:spPr>
          <a:xfrm>
            <a:off x="4805172" y="14904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84176" y="1569476"/>
            <a:ext cx="171176" cy="171176"/>
          </a:xfrm>
          <a:prstGeom prst="rect">
            <a:avLst/>
          </a:prstGeom>
        </p:spPr>
      </p:pic>
      <p:sp>
        <p:nvSpPr>
          <p:cNvPr id="14" name="Text 9"/>
          <p:cNvSpPr txBox="1"/>
          <p:nvPr/>
        </p:nvSpPr>
        <p:spPr>
          <a:xfrm>
            <a:off x="4805172" y="192938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High-risk legal or FTC threat</a:t>
            </a:r>
            <a:endParaRPr lang="en-US" sz="1200" dirty="0"/>
          </a:p>
        </p:txBody>
      </p:sp>
      <p:sp>
        <p:nvSpPr>
          <p:cNvPr id="15" name="Text 10"/>
          <p:cNvSpPr txBox="1"/>
          <p:nvPr/>
        </p:nvSpPr>
        <p:spPr>
          <a:xfrm>
            <a:off x="4805172" y="2221992"/>
            <a:ext cx="3762756" cy="5669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"I'll get a lawyer" or an FTC mention, when the risk of escalation is significantly high.</a:t>
            </a:r>
            <a:endParaRPr lang="en-US" sz="950" dirty="0"/>
          </a:p>
        </p:txBody>
      </p:sp>
      <p:sp>
        <p:nvSpPr>
          <p:cNvPr id="16" name="Shape 11"/>
          <p:cNvSpPr/>
          <p:nvPr/>
        </p:nvSpPr>
        <p:spPr>
          <a:xfrm>
            <a:off x="411480" y="306324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172968"/>
            <a:ext cx="164592" cy="164592"/>
          </a:xfrm>
          <a:prstGeom prst="rect">
            <a:avLst/>
          </a:prstGeom>
        </p:spPr>
      </p:pic>
      <p:sp>
        <p:nvSpPr>
          <p:cNvPr id="18" name="Text 12"/>
          <p:cNvSpPr txBox="1"/>
          <p:nvPr/>
        </p:nvSpPr>
        <p:spPr>
          <a:xfrm>
            <a:off x="822960" y="31638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SR decides:  </a:t>
            </a:r>
            <a:pPr indent="0" marL="0">
              <a:buNone/>
            </a:pPr>
            <a:r>
              <a:rPr lang="en-US" sz="1000" dirty="0">
                <a:solidFill>
                  <a:srgbClr val="1D1D1F"/>
                </a:solidFill>
                <a:latin typeface="SF Pro Text" pitchFamily="34" charset="0"/>
                <a:ea typeface="SF Pro Text" pitchFamily="34" charset="-122"/>
                <a:cs typeface="SF Pro Text" pitchFamily="34" charset="-120"/>
              </a:rPr>
              <a:t>refund eligibility, scope and any ETF waiver for the cases they own.</a:t>
            </a:r>
            <a:endParaRPr lang="en-US" sz="1000" dirty="0"/>
          </a:p>
        </p:txBody>
      </p:sp>
      <p:sp>
        <p:nvSpPr>
          <p:cNvPr id="19" name="Shape 13"/>
          <p:cNvSpPr/>
          <p:nvPr/>
        </p:nvSpPr>
        <p:spPr>
          <a:xfrm>
            <a:off x="411480" y="3566160"/>
            <a:ext cx="8321040" cy="384048"/>
          </a:xfrm>
          <a:prstGeom prst="roundRect">
            <a:avLst>
              <a:gd name="adj" fmla="val 19048"/>
            </a:avLst>
          </a:prstGeom>
          <a:solidFill>
            <a:srgbClr val="FFF3D6"/>
          </a:solidFill>
          <a:ln w="9525">
            <a:solidFill>
              <a:srgbClr val="FFF3D6"/>
            </a:solidFill>
            <a:prstDash val="solid"/>
          </a:ln>
        </p:spPr>
      </p:sp>
      <p:pic>
        <p:nvPicPr>
          <p:cNvPr id="20" name="Image 3" descr="preencoded.png">    </p:cNvPr>
          <p:cNvPicPr>
            <a:picLocks noChangeAspect="1"/>
          </p:cNvPicPr>
          <p:nvPr/>
        </p:nvPicPr>
        <p:blipFill>
          <a:blip r:embed="rId4"/>
          <a:stretch>
            <a:fillRect/>
          </a:stretch>
        </p:blipFill>
        <p:spPr>
          <a:xfrm>
            <a:off x="566928" y="3675888"/>
            <a:ext cx="164592" cy="164592"/>
          </a:xfrm>
          <a:prstGeom prst="rect">
            <a:avLst/>
          </a:prstGeom>
        </p:spPr>
      </p:pic>
      <p:sp>
        <p:nvSpPr>
          <p:cNvPr id="21" name="Text 14"/>
          <p:cNvSpPr txBox="1"/>
          <p:nvPr/>
        </p:nvSpPr>
        <p:spPr>
          <a:xfrm>
            <a:off x="822960" y="36667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BBB:  </a:t>
            </a:r>
            <a:pPr indent="0" marL="0">
              <a:buNone/>
            </a:pPr>
            <a:r>
              <a:rPr lang="en-US" sz="1000" dirty="0">
                <a:solidFill>
                  <a:srgbClr val="1D1D1F"/>
                </a:solidFill>
                <a:latin typeface="SF Pro Text" pitchFamily="34" charset="0"/>
                <a:ea typeface="SF Pro Text" pitchFamily="34" charset="-122"/>
                <a:cs typeface="SF Pro Text" pitchFamily="34" charset="-120"/>
              </a:rPr>
              <a:t>a threat is BAU. A filed complaint follows the HDR Ticket Handling Process.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SERVICE RECOVERY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Material vs. general legal threats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Only some legal language needs Service Recovery.</a:t>
            </a:r>
            <a:endParaRPr lang="en-US" sz="12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188720"/>
                <a:gridCol w="2377440"/>
                <a:gridCol w="2377440"/>
                <a:gridCol w="2377440"/>
              </a:tblGrid>
              <a:tr h="365760">
                <a:tc>
                  <a:txBody>
                    <a:bodyPr/>
                    <a:lstStyle/>
                    <a:p>
                      <a:pPr indent="0" marL="0">
                        <a:buNone/>
                      </a:pP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Material legal threat</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General legal threat</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BBB (special case)</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114300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Examples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Attorney General, formal legal letter, lawyer CC'd, class action, email from a law firm, joining litigation, small claims court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"I'll get a lawyer," FTC mention, social media threat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"I'll report this to the BBB" vs. an actual filed complaint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777240">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What you do</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No SR needed. Waive the ETF and cancel FC immediately.</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Handle as BAU. Escalate to SR only if the risk is significant.</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Threat: BAU, no escalation. Filed complaint: HDR ticket process.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388620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3995928"/>
            <a:ext cx="164592" cy="164592"/>
          </a:xfrm>
          <a:prstGeom prst="rect">
            <a:avLst/>
          </a:prstGeom>
        </p:spPr>
      </p:pic>
      <p:sp>
        <p:nvSpPr>
          <p:cNvPr id="9" name="Text 4"/>
          <p:cNvSpPr txBox="1"/>
          <p:nvPr/>
        </p:nvSpPr>
        <p:spPr>
          <a:xfrm>
            <a:off x="822960" y="39867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Remember:  </a:t>
            </a:r>
            <a:pPr indent="0" marL="0">
              <a:buNone/>
            </a:pPr>
            <a:r>
              <a:rPr lang="en-US" sz="1000" dirty="0">
                <a:solidFill>
                  <a:srgbClr val="1D1D1F"/>
                </a:solidFill>
                <a:latin typeface="SF Pro Text" pitchFamily="34" charset="0"/>
                <a:ea typeface="SF Pro Text" pitchFamily="34" charset="-122"/>
                <a:cs typeface="SF Pro Text" pitchFamily="34" charset="-120"/>
              </a:rPr>
              <a:t>material threats skip SR. The waiver is immediate.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SERVICE RECOVERY  ·  PRACTICE</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Material or general?</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Read each message, decide, then click to reveal.</a:t>
            </a:r>
            <a:endParaRPr lang="en-US" sz="1200" dirty="0"/>
          </a:p>
        </p:txBody>
      </p:sp>
      <p:sp>
        <p:nvSpPr>
          <p:cNvPr id="6" name="Shape 3"/>
          <p:cNvSpPr/>
          <p:nvPr/>
        </p:nvSpPr>
        <p:spPr>
          <a:xfrm>
            <a:off x="411480" y="1280160"/>
            <a:ext cx="4617720" cy="510540"/>
          </a:xfrm>
          <a:prstGeom prst="roundRect">
            <a:avLst>
              <a:gd name="adj" fmla="val 14328"/>
            </a:avLst>
          </a:prstGeom>
          <a:solidFill>
            <a:srgbClr val="FFFFFF"/>
          </a:solidFill>
          <a:ln w="9525">
            <a:solidFill>
              <a:srgbClr val="DCE1E7"/>
            </a:solidFill>
            <a:prstDash val="solid"/>
          </a:ln>
        </p:spPr>
      </p:sp>
      <p:sp>
        <p:nvSpPr>
          <p:cNvPr id="7" name="Shape 4"/>
          <p:cNvSpPr/>
          <p:nvPr/>
        </p:nvSpPr>
        <p:spPr>
          <a:xfrm>
            <a:off x="548640" y="1398270"/>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39827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510540"/>
          </a:xfrm>
          <a:prstGeom prst="rect">
            <a:avLst/>
          </a:prstGeom>
          <a:noFill/>
          <a:ln/>
        </p:spPr>
        <p:txBody>
          <a:bodyPr wrap="square" lIns="0" tIns="0" rIns="0" bIns="0" rtlCol="0" anchor="ctr"/>
          <a:lstStyle/>
          <a:p>
            <a:pPr indent="0" marL="0">
              <a:buNone/>
            </a:pPr>
            <a:r>
              <a:rPr lang="en-US" sz="950" i="1" dirty="0">
                <a:solidFill>
                  <a:srgbClr val="1D1D1F"/>
                </a:solidFill>
                <a:latin typeface="SF Pro Text" pitchFamily="34" charset="0"/>
                <a:ea typeface="SF Pro Text" pitchFamily="34" charset="-122"/>
                <a:cs typeface="SF Pro Text" pitchFamily="34" charset="-120"/>
              </a:rPr>
              <a:t>"I'm going to file a complaint with the Attorney General about this."</a:t>
            </a:r>
            <a:endParaRPr lang="en-US" sz="950" dirty="0"/>
          </a:p>
        </p:txBody>
      </p:sp>
      <p:sp>
        <p:nvSpPr>
          <p:cNvPr id="10" name="Shape 7"/>
          <p:cNvSpPr/>
          <p:nvPr/>
        </p:nvSpPr>
        <p:spPr>
          <a:xfrm>
            <a:off x="5120640" y="1280160"/>
            <a:ext cx="3611880" cy="510540"/>
          </a:xfrm>
          <a:prstGeom prst="roundRect">
            <a:avLst>
              <a:gd name="adj" fmla="val 14328"/>
            </a:avLst>
          </a:prstGeom>
          <a:solidFill>
            <a:srgbClr val="E3F4F1"/>
          </a:solidFill>
          <a:ln w="9525">
            <a:solidFill>
              <a:srgbClr val="E3F4F1"/>
            </a:solidFill>
            <a:prstDash val="solid"/>
          </a:ln>
        </p:spPr>
      </p:sp>
      <p:sp>
        <p:nvSpPr>
          <p:cNvPr id="11" name="step1Ans"/>
          <p:cNvSpPr txBox="1"/>
          <p:nvPr/>
        </p:nvSpPr>
        <p:spPr>
          <a:xfrm>
            <a:off x="5257800" y="1280160"/>
            <a:ext cx="3383280" cy="510540"/>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Material. Waive the ETF, cancel FC. No SR.</a:t>
            </a:r>
            <a:endParaRPr lang="en-US" sz="950" dirty="0"/>
          </a:p>
        </p:txBody>
      </p:sp>
      <p:sp>
        <p:nvSpPr>
          <p:cNvPr id="12" name="Shape 9"/>
          <p:cNvSpPr/>
          <p:nvPr/>
        </p:nvSpPr>
        <p:spPr>
          <a:xfrm>
            <a:off x="411480" y="1863852"/>
            <a:ext cx="4617720" cy="510540"/>
          </a:xfrm>
          <a:prstGeom prst="roundRect">
            <a:avLst>
              <a:gd name="adj" fmla="val 14328"/>
            </a:avLst>
          </a:prstGeom>
          <a:solidFill>
            <a:srgbClr val="FFFFFF"/>
          </a:solidFill>
          <a:ln w="9525">
            <a:solidFill>
              <a:srgbClr val="DCE1E7"/>
            </a:solidFill>
            <a:prstDash val="solid"/>
          </a:ln>
        </p:spPr>
      </p:sp>
      <p:sp>
        <p:nvSpPr>
          <p:cNvPr id="13" name="Shape 10"/>
          <p:cNvSpPr/>
          <p:nvPr/>
        </p:nvSpPr>
        <p:spPr>
          <a:xfrm>
            <a:off x="548640" y="1981962"/>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198196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1863852"/>
            <a:ext cx="3977640" cy="510540"/>
          </a:xfrm>
          <a:prstGeom prst="rect">
            <a:avLst/>
          </a:prstGeom>
          <a:noFill/>
          <a:ln/>
        </p:spPr>
        <p:txBody>
          <a:bodyPr wrap="square" lIns="0" tIns="0" rIns="0" bIns="0" rtlCol="0" anchor="ctr"/>
          <a:lstStyle/>
          <a:p>
            <a:pPr indent="0" marL="0">
              <a:buNone/>
            </a:pPr>
            <a:r>
              <a:rPr lang="en-US" sz="950" i="1" dirty="0">
                <a:solidFill>
                  <a:srgbClr val="1D1D1F"/>
                </a:solidFill>
                <a:latin typeface="SF Pro Text" pitchFamily="34" charset="0"/>
                <a:ea typeface="SF Pro Text" pitchFamily="34" charset="-122"/>
                <a:cs typeface="SF Pro Text" pitchFamily="34" charset="-120"/>
              </a:rPr>
              <a:t>"If this doesn't get fixed, I'm getting a lawyer involved."</a:t>
            </a:r>
            <a:endParaRPr lang="en-US" sz="950" dirty="0"/>
          </a:p>
        </p:txBody>
      </p:sp>
      <p:sp>
        <p:nvSpPr>
          <p:cNvPr id="16" name="Shape 13"/>
          <p:cNvSpPr/>
          <p:nvPr/>
        </p:nvSpPr>
        <p:spPr>
          <a:xfrm>
            <a:off x="5120640" y="1863852"/>
            <a:ext cx="3611880" cy="510540"/>
          </a:xfrm>
          <a:prstGeom prst="roundRect">
            <a:avLst>
              <a:gd name="adj" fmla="val 14328"/>
            </a:avLst>
          </a:prstGeom>
          <a:solidFill>
            <a:srgbClr val="E3F4F1"/>
          </a:solidFill>
          <a:ln w="9525">
            <a:solidFill>
              <a:srgbClr val="E3F4F1"/>
            </a:solidFill>
            <a:prstDash val="solid"/>
          </a:ln>
        </p:spPr>
      </p:sp>
      <p:sp>
        <p:nvSpPr>
          <p:cNvPr id="17" name="step2Ans"/>
          <p:cNvSpPr txBox="1"/>
          <p:nvPr/>
        </p:nvSpPr>
        <p:spPr>
          <a:xfrm>
            <a:off x="5257800" y="1863852"/>
            <a:ext cx="3383280" cy="510540"/>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General. BAU; SR only if the risk is significant.</a:t>
            </a:r>
            <a:endParaRPr lang="en-US" sz="950" dirty="0"/>
          </a:p>
        </p:txBody>
      </p:sp>
      <p:sp>
        <p:nvSpPr>
          <p:cNvPr id="18" name="Shape 15"/>
          <p:cNvSpPr/>
          <p:nvPr/>
        </p:nvSpPr>
        <p:spPr>
          <a:xfrm>
            <a:off x="411480" y="2447544"/>
            <a:ext cx="4617720" cy="510540"/>
          </a:xfrm>
          <a:prstGeom prst="roundRect">
            <a:avLst>
              <a:gd name="adj" fmla="val 14328"/>
            </a:avLst>
          </a:prstGeom>
          <a:solidFill>
            <a:srgbClr val="FFFFFF"/>
          </a:solidFill>
          <a:ln w="9525">
            <a:solidFill>
              <a:srgbClr val="DCE1E7"/>
            </a:solidFill>
            <a:prstDash val="solid"/>
          </a:ln>
        </p:spPr>
      </p:sp>
      <p:sp>
        <p:nvSpPr>
          <p:cNvPr id="19" name="Shape 16"/>
          <p:cNvSpPr/>
          <p:nvPr/>
        </p:nvSpPr>
        <p:spPr>
          <a:xfrm>
            <a:off x="548640" y="256565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256565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447544"/>
            <a:ext cx="3977640" cy="510540"/>
          </a:xfrm>
          <a:prstGeom prst="rect">
            <a:avLst/>
          </a:prstGeom>
          <a:noFill/>
          <a:ln/>
        </p:spPr>
        <p:txBody>
          <a:bodyPr wrap="square" lIns="0" tIns="0" rIns="0" bIns="0" rtlCol="0" anchor="ctr"/>
          <a:lstStyle/>
          <a:p>
            <a:pPr indent="0" marL="0">
              <a:buNone/>
            </a:pPr>
            <a:r>
              <a:rPr lang="en-US" sz="950" i="1" dirty="0">
                <a:solidFill>
                  <a:srgbClr val="1D1D1F"/>
                </a:solidFill>
                <a:latin typeface="SF Pro Text" pitchFamily="34" charset="0"/>
                <a:ea typeface="SF Pro Text" pitchFamily="34" charset="-122"/>
                <a:cs typeface="SF Pro Text" pitchFamily="34" charset="-120"/>
              </a:rPr>
              <a:t>"My lawyer has been CC'd on this email and will be following up."</a:t>
            </a:r>
            <a:endParaRPr lang="en-US" sz="950" dirty="0"/>
          </a:p>
        </p:txBody>
      </p:sp>
      <p:sp>
        <p:nvSpPr>
          <p:cNvPr id="22" name="Shape 19"/>
          <p:cNvSpPr/>
          <p:nvPr/>
        </p:nvSpPr>
        <p:spPr>
          <a:xfrm>
            <a:off x="5120640" y="2447544"/>
            <a:ext cx="3611880" cy="510540"/>
          </a:xfrm>
          <a:prstGeom prst="roundRect">
            <a:avLst>
              <a:gd name="adj" fmla="val 14328"/>
            </a:avLst>
          </a:prstGeom>
          <a:solidFill>
            <a:srgbClr val="E3F4F1"/>
          </a:solidFill>
          <a:ln w="9525">
            <a:solidFill>
              <a:srgbClr val="E3F4F1"/>
            </a:solidFill>
            <a:prstDash val="solid"/>
          </a:ln>
        </p:spPr>
      </p:sp>
      <p:sp>
        <p:nvSpPr>
          <p:cNvPr id="23" name="step3Ans"/>
          <p:cNvSpPr txBox="1"/>
          <p:nvPr/>
        </p:nvSpPr>
        <p:spPr>
          <a:xfrm>
            <a:off x="5257800" y="2447544"/>
            <a:ext cx="3383280" cy="510540"/>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Material. Waive the ETF, cancel FC. No SR.</a:t>
            </a:r>
            <a:endParaRPr lang="en-US" sz="950" dirty="0"/>
          </a:p>
        </p:txBody>
      </p:sp>
      <p:sp>
        <p:nvSpPr>
          <p:cNvPr id="24" name="Shape 21"/>
          <p:cNvSpPr/>
          <p:nvPr/>
        </p:nvSpPr>
        <p:spPr>
          <a:xfrm>
            <a:off x="411480" y="3031236"/>
            <a:ext cx="4617720" cy="510540"/>
          </a:xfrm>
          <a:prstGeom prst="roundRect">
            <a:avLst>
              <a:gd name="adj" fmla="val 14328"/>
            </a:avLst>
          </a:prstGeom>
          <a:solidFill>
            <a:srgbClr val="FFFFFF"/>
          </a:solidFill>
          <a:ln w="9525">
            <a:solidFill>
              <a:srgbClr val="DCE1E7"/>
            </a:solidFill>
            <a:prstDash val="solid"/>
          </a:ln>
        </p:spPr>
      </p:sp>
      <p:sp>
        <p:nvSpPr>
          <p:cNvPr id="25" name="Shape 22"/>
          <p:cNvSpPr/>
          <p:nvPr/>
        </p:nvSpPr>
        <p:spPr>
          <a:xfrm>
            <a:off x="548640" y="3149346"/>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3149346"/>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031236"/>
            <a:ext cx="3977640" cy="510540"/>
          </a:xfrm>
          <a:prstGeom prst="rect">
            <a:avLst/>
          </a:prstGeom>
          <a:noFill/>
          <a:ln/>
        </p:spPr>
        <p:txBody>
          <a:bodyPr wrap="square" lIns="0" tIns="0" rIns="0" bIns="0" rtlCol="0" anchor="ctr"/>
          <a:lstStyle/>
          <a:p>
            <a:pPr indent="0" marL="0">
              <a:buNone/>
            </a:pPr>
            <a:r>
              <a:rPr lang="en-US" sz="950" i="1" dirty="0">
                <a:solidFill>
                  <a:srgbClr val="1D1D1F"/>
                </a:solidFill>
                <a:latin typeface="SF Pro Text" pitchFamily="34" charset="0"/>
                <a:ea typeface="SF Pro Text" pitchFamily="34" charset="-122"/>
                <a:cs typeface="SF Pro Text" pitchFamily="34" charset="-120"/>
              </a:rPr>
              <a:t>"I'm reporting this to the Better Business Bureau."</a:t>
            </a:r>
            <a:endParaRPr lang="en-US" sz="950" dirty="0"/>
          </a:p>
        </p:txBody>
      </p:sp>
      <p:sp>
        <p:nvSpPr>
          <p:cNvPr id="28" name="Shape 25"/>
          <p:cNvSpPr/>
          <p:nvPr/>
        </p:nvSpPr>
        <p:spPr>
          <a:xfrm>
            <a:off x="5120640" y="3031236"/>
            <a:ext cx="3611880" cy="510540"/>
          </a:xfrm>
          <a:prstGeom prst="roundRect">
            <a:avLst>
              <a:gd name="adj" fmla="val 14328"/>
            </a:avLst>
          </a:prstGeom>
          <a:solidFill>
            <a:srgbClr val="E3F4F1"/>
          </a:solidFill>
          <a:ln w="9525">
            <a:solidFill>
              <a:srgbClr val="E3F4F1"/>
            </a:solidFill>
            <a:prstDash val="solid"/>
          </a:ln>
        </p:spPr>
      </p:sp>
      <p:sp>
        <p:nvSpPr>
          <p:cNvPr id="29" name="step4Ans"/>
          <p:cNvSpPr txBox="1"/>
          <p:nvPr/>
        </p:nvSpPr>
        <p:spPr>
          <a:xfrm>
            <a:off x="5257800" y="3031236"/>
            <a:ext cx="3383280" cy="510540"/>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BBB threat. BAU, no escalation.</a:t>
            </a:r>
            <a:endParaRPr lang="en-US" sz="950" dirty="0"/>
          </a:p>
        </p:txBody>
      </p:sp>
      <p:sp>
        <p:nvSpPr>
          <p:cNvPr id="30" name="Shape 27"/>
          <p:cNvSpPr/>
          <p:nvPr/>
        </p:nvSpPr>
        <p:spPr>
          <a:xfrm>
            <a:off x="411480" y="3614928"/>
            <a:ext cx="4617720" cy="510540"/>
          </a:xfrm>
          <a:prstGeom prst="roundRect">
            <a:avLst>
              <a:gd name="adj" fmla="val 14328"/>
            </a:avLst>
          </a:prstGeom>
          <a:solidFill>
            <a:srgbClr val="FFFFFF"/>
          </a:solidFill>
          <a:ln w="9525">
            <a:solidFill>
              <a:srgbClr val="DCE1E7"/>
            </a:solidFill>
            <a:prstDash val="solid"/>
          </a:ln>
        </p:spPr>
      </p:sp>
      <p:sp>
        <p:nvSpPr>
          <p:cNvPr id="31" name="Shape 28"/>
          <p:cNvSpPr/>
          <p:nvPr/>
        </p:nvSpPr>
        <p:spPr>
          <a:xfrm>
            <a:off x="548640" y="3733038"/>
            <a:ext cx="274320" cy="274320"/>
          </a:xfrm>
          <a:prstGeom prst="ellipse">
            <a:avLst/>
          </a:prstGeom>
          <a:solidFill>
            <a:srgbClr val="E3F4F1"/>
          </a:solidFill>
          <a:ln w="12700">
            <a:solidFill>
              <a:srgbClr val="E3F4F1"/>
            </a:solidFill>
            <a:prstDash val="solid"/>
          </a:ln>
        </p:spPr>
      </p:sp>
      <p:sp>
        <p:nvSpPr>
          <p:cNvPr id="32" name="Text 29"/>
          <p:cNvSpPr txBox="1"/>
          <p:nvPr/>
        </p:nvSpPr>
        <p:spPr>
          <a:xfrm>
            <a:off x="548640" y="373303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5</a:t>
            </a:r>
            <a:endParaRPr lang="en-US" sz="900" dirty="0"/>
          </a:p>
        </p:txBody>
      </p:sp>
      <p:sp>
        <p:nvSpPr>
          <p:cNvPr id="33" name="Text 30"/>
          <p:cNvSpPr txBox="1"/>
          <p:nvPr/>
        </p:nvSpPr>
        <p:spPr>
          <a:xfrm>
            <a:off x="960120" y="3614928"/>
            <a:ext cx="3977640" cy="510540"/>
          </a:xfrm>
          <a:prstGeom prst="rect">
            <a:avLst/>
          </a:prstGeom>
          <a:noFill/>
          <a:ln/>
        </p:spPr>
        <p:txBody>
          <a:bodyPr wrap="square" lIns="0" tIns="0" rIns="0" bIns="0" rtlCol="0" anchor="ctr"/>
          <a:lstStyle/>
          <a:p>
            <a:pPr indent="0" marL="0">
              <a:buNone/>
            </a:pPr>
            <a:r>
              <a:rPr lang="en-US" sz="950" i="1" dirty="0">
                <a:solidFill>
                  <a:srgbClr val="1D1D1F"/>
                </a:solidFill>
                <a:latin typeface="SF Pro Text" pitchFamily="34" charset="0"/>
                <a:ea typeface="SF Pro Text" pitchFamily="34" charset="-122"/>
                <a:cs typeface="SF Pro Text" pitchFamily="34" charset="-120"/>
              </a:rPr>
              <a:t>"If this isn't resolved, I'm filing in small claims court."</a:t>
            </a:r>
            <a:endParaRPr lang="en-US" sz="950" dirty="0"/>
          </a:p>
        </p:txBody>
      </p:sp>
      <p:sp>
        <p:nvSpPr>
          <p:cNvPr id="34" name="Shape 31"/>
          <p:cNvSpPr/>
          <p:nvPr/>
        </p:nvSpPr>
        <p:spPr>
          <a:xfrm>
            <a:off x="5120640" y="3614928"/>
            <a:ext cx="3611880" cy="510540"/>
          </a:xfrm>
          <a:prstGeom prst="roundRect">
            <a:avLst>
              <a:gd name="adj" fmla="val 14328"/>
            </a:avLst>
          </a:prstGeom>
          <a:solidFill>
            <a:srgbClr val="E3F4F1"/>
          </a:solidFill>
          <a:ln w="9525">
            <a:solidFill>
              <a:srgbClr val="E3F4F1"/>
            </a:solidFill>
            <a:prstDash val="solid"/>
          </a:ln>
        </p:spPr>
      </p:sp>
      <p:sp>
        <p:nvSpPr>
          <p:cNvPr id="35" name="step5Ans"/>
          <p:cNvSpPr txBox="1"/>
          <p:nvPr/>
        </p:nvSpPr>
        <p:spPr>
          <a:xfrm>
            <a:off x="5257800" y="3614928"/>
            <a:ext cx="3383280" cy="510540"/>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Material. Waive the ETF, cancel FC. No SR.</a:t>
            </a:r>
            <a:endParaRPr lang="en-US" sz="950" dirty="0"/>
          </a:p>
        </p:txBody>
      </p:sp>
      <p:sp>
        <p:nvSpPr>
          <p:cNvPr id="36" name="Shape 33"/>
          <p:cNvSpPr/>
          <p:nvPr/>
        </p:nvSpPr>
        <p:spPr>
          <a:xfrm>
            <a:off x="411480" y="4198620"/>
            <a:ext cx="4617720" cy="510540"/>
          </a:xfrm>
          <a:prstGeom prst="roundRect">
            <a:avLst>
              <a:gd name="adj" fmla="val 14328"/>
            </a:avLst>
          </a:prstGeom>
          <a:solidFill>
            <a:srgbClr val="FFFFFF"/>
          </a:solidFill>
          <a:ln w="9525">
            <a:solidFill>
              <a:srgbClr val="DCE1E7"/>
            </a:solidFill>
            <a:prstDash val="solid"/>
          </a:ln>
        </p:spPr>
      </p:sp>
      <p:sp>
        <p:nvSpPr>
          <p:cNvPr id="37" name="Shape 34"/>
          <p:cNvSpPr/>
          <p:nvPr/>
        </p:nvSpPr>
        <p:spPr>
          <a:xfrm>
            <a:off x="548640" y="4316730"/>
            <a:ext cx="274320" cy="274320"/>
          </a:xfrm>
          <a:prstGeom prst="ellipse">
            <a:avLst/>
          </a:prstGeom>
          <a:solidFill>
            <a:srgbClr val="E3F4F1"/>
          </a:solidFill>
          <a:ln w="12700">
            <a:solidFill>
              <a:srgbClr val="E3F4F1"/>
            </a:solidFill>
            <a:prstDash val="solid"/>
          </a:ln>
        </p:spPr>
      </p:sp>
      <p:sp>
        <p:nvSpPr>
          <p:cNvPr id="38" name="Text 35"/>
          <p:cNvSpPr txBox="1"/>
          <p:nvPr/>
        </p:nvSpPr>
        <p:spPr>
          <a:xfrm>
            <a:off x="548640" y="431673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6</a:t>
            </a:r>
            <a:endParaRPr lang="en-US" sz="900" dirty="0"/>
          </a:p>
        </p:txBody>
      </p:sp>
      <p:sp>
        <p:nvSpPr>
          <p:cNvPr id="39" name="Text 36"/>
          <p:cNvSpPr txBox="1"/>
          <p:nvPr/>
        </p:nvSpPr>
        <p:spPr>
          <a:xfrm>
            <a:off x="960120" y="4198620"/>
            <a:ext cx="3977640" cy="510540"/>
          </a:xfrm>
          <a:prstGeom prst="rect">
            <a:avLst/>
          </a:prstGeom>
          <a:noFill/>
          <a:ln/>
        </p:spPr>
        <p:txBody>
          <a:bodyPr wrap="square" lIns="0" tIns="0" rIns="0" bIns="0" rtlCol="0" anchor="ctr"/>
          <a:lstStyle/>
          <a:p>
            <a:pPr indent="0" marL="0">
              <a:buNone/>
            </a:pPr>
            <a:r>
              <a:rPr lang="en-US" sz="950" i="1" dirty="0">
                <a:solidFill>
                  <a:srgbClr val="1D1D1F"/>
                </a:solidFill>
                <a:latin typeface="SF Pro Text" pitchFamily="34" charset="0"/>
                <a:ea typeface="SF Pro Text" pitchFamily="34" charset="-122"/>
                <a:cs typeface="SF Pro Text" pitchFamily="34" charset="-120"/>
              </a:rPr>
              <a:t>"I'll be filing a complaint with the FTC."</a:t>
            </a:r>
            <a:endParaRPr lang="en-US" sz="950" dirty="0"/>
          </a:p>
        </p:txBody>
      </p:sp>
      <p:sp>
        <p:nvSpPr>
          <p:cNvPr id="40" name="Shape 37"/>
          <p:cNvSpPr/>
          <p:nvPr/>
        </p:nvSpPr>
        <p:spPr>
          <a:xfrm>
            <a:off x="5120640" y="4198620"/>
            <a:ext cx="3611880" cy="510540"/>
          </a:xfrm>
          <a:prstGeom prst="roundRect">
            <a:avLst>
              <a:gd name="adj" fmla="val 14328"/>
            </a:avLst>
          </a:prstGeom>
          <a:solidFill>
            <a:srgbClr val="E3F4F1"/>
          </a:solidFill>
          <a:ln w="9525">
            <a:solidFill>
              <a:srgbClr val="E3F4F1"/>
            </a:solidFill>
            <a:prstDash val="solid"/>
          </a:ln>
        </p:spPr>
      </p:sp>
      <p:sp>
        <p:nvSpPr>
          <p:cNvPr id="41" name="step6Ans"/>
          <p:cNvSpPr txBox="1"/>
          <p:nvPr/>
        </p:nvSpPr>
        <p:spPr>
          <a:xfrm>
            <a:off x="5257800" y="4198620"/>
            <a:ext cx="3383280" cy="510540"/>
          </a:xfrm>
          <a:prstGeom prst="rect">
            <a:avLst/>
          </a:prstGeom>
          <a:noFill/>
          <a:ln/>
        </p:spPr>
        <p:txBody>
          <a:bodyPr wrap="square" lIns="0" tIns="0" rIns="0" bIns="0" rtlCol="0" anchor="ctr"/>
          <a:lstStyle/>
          <a:p>
            <a:pPr indent="0" marL="0">
              <a:buNone/>
            </a:pPr>
            <a:r>
              <a:rPr lang="en-US" sz="950" dirty="0">
                <a:solidFill>
                  <a:srgbClr val="1D1D1F"/>
                </a:solidFill>
                <a:latin typeface="SF Pro Text" pitchFamily="34" charset="0"/>
                <a:ea typeface="SF Pro Text" pitchFamily="34" charset="-122"/>
                <a:cs typeface="SF Pro Text" pitchFamily="34" charset="-120"/>
              </a:rPr>
              <a:t>General. BAU; SR only if the risk is significant.</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83</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6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P spid="35" grpId="0" animBg="1"/>
      <p:bldP spid="4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SERVICE RECOVERY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How to escalate</a:t>
            </a:r>
            <a:endParaRPr lang="en-US" sz="2400" dirty="0"/>
          </a:p>
        </p:txBody>
      </p:sp>
      <p:sp>
        <p:nvSpPr>
          <p:cNvPr id="5" name="Shape 2"/>
          <p:cNvSpPr/>
          <p:nvPr/>
        </p:nvSpPr>
        <p:spPr>
          <a:xfrm>
            <a:off x="3291840" y="1051560"/>
            <a:ext cx="2560320" cy="347472"/>
          </a:xfrm>
          <a:prstGeom prst="roundRect">
            <a:avLst>
              <a:gd name="adj" fmla="val 21053"/>
            </a:avLst>
          </a:prstGeom>
          <a:solidFill>
            <a:srgbClr val="1D1D1F"/>
          </a:solidFill>
          <a:ln w="12700">
            <a:solidFill>
              <a:srgbClr val="1D1D1F"/>
            </a:solidFill>
            <a:prstDash val="solid"/>
          </a:ln>
        </p:spPr>
      </p:sp>
      <p:sp>
        <p:nvSpPr>
          <p:cNvPr id="6" name="Text 3"/>
          <p:cNvSpPr txBox="1"/>
          <p:nvPr/>
        </p:nvSpPr>
        <p:spPr>
          <a:xfrm>
            <a:off x="3291840" y="1051560"/>
            <a:ext cx="2560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ESCALATE TO SR</a:t>
            </a:r>
            <a:endParaRPr lang="en-US" sz="1000" dirty="0"/>
          </a:p>
        </p:txBody>
      </p:sp>
      <p:sp>
        <p:nvSpPr>
          <p:cNvPr id="7" name="Shape 4"/>
          <p:cNvSpPr/>
          <p:nvPr/>
        </p:nvSpPr>
        <p:spPr>
          <a:xfrm>
            <a:off x="4572000" y="1399032"/>
            <a:ext cx="0" cy="155448"/>
          </a:xfrm>
          <a:prstGeom prst="line">
            <a:avLst/>
          </a:prstGeom>
          <a:noFill/>
          <a:ln w="12700">
            <a:solidFill>
              <a:srgbClr val="6E6E73"/>
            </a:solidFill>
            <a:prstDash val="solid"/>
            <a:tailEnd type="triangle"/>
          </a:ln>
        </p:spPr>
      </p:sp>
      <p:sp>
        <p:nvSpPr>
          <p:cNvPr id="8" name="Shape 5"/>
          <p:cNvSpPr/>
          <p:nvPr/>
        </p:nvSpPr>
        <p:spPr>
          <a:xfrm>
            <a:off x="2834640" y="1554480"/>
            <a:ext cx="3474720" cy="411480"/>
          </a:xfrm>
          <a:prstGeom prst="roundRect">
            <a:avLst>
              <a:gd name="adj" fmla="val 17778"/>
            </a:avLst>
          </a:prstGeom>
          <a:solidFill>
            <a:srgbClr val="FFF3D6"/>
          </a:solidFill>
          <a:ln w="12700">
            <a:solidFill>
              <a:srgbClr val="9A6410"/>
            </a:solidFill>
            <a:prstDash val="solid"/>
          </a:ln>
        </p:spPr>
      </p:sp>
      <p:sp>
        <p:nvSpPr>
          <p:cNvPr id="9" name="Text 6"/>
          <p:cNvSpPr txBox="1"/>
          <p:nvPr/>
        </p:nvSpPr>
        <p:spPr>
          <a:xfrm>
            <a:off x="2834640" y="1554480"/>
            <a:ext cx="3474720" cy="411480"/>
          </a:xfrm>
          <a:prstGeom prst="rect">
            <a:avLst/>
          </a:prstGeom>
          <a:noFill/>
          <a:ln/>
        </p:spPr>
        <p:txBody>
          <a:bodyPr wrap="square" lIns="0" tIns="0" rIns="0" bIns="0" rtlCol="0" anchor="ctr"/>
          <a:lstStyle/>
          <a:p>
            <a:pPr algn="ctr" indent="0" marL="0">
              <a:buNone/>
            </a:pPr>
            <a:r>
              <a:rPr lang="en-US" sz="1000" b="1" dirty="0">
                <a:solidFill>
                  <a:srgbClr val="9A6410"/>
                </a:solidFill>
                <a:latin typeface="SF Pro Display" pitchFamily="34" charset="0"/>
                <a:ea typeface="SF Pro Display" pitchFamily="34" charset="-122"/>
                <a:cs typeface="SF Pro Display" pitchFamily="34" charset="-120"/>
              </a:rPr>
              <a:t>Is the ticket "C responded to SR"?</a:t>
            </a:r>
            <a:endParaRPr lang="en-US" sz="1000" dirty="0"/>
          </a:p>
        </p:txBody>
      </p:sp>
      <p:sp>
        <p:nvSpPr>
          <p:cNvPr id="10" name="Shape 7"/>
          <p:cNvSpPr/>
          <p:nvPr/>
        </p:nvSpPr>
        <p:spPr>
          <a:xfrm>
            <a:off x="4572000" y="1965960"/>
            <a:ext cx="0" cy="182880"/>
          </a:xfrm>
          <a:prstGeom prst="line">
            <a:avLst/>
          </a:prstGeom>
          <a:noFill/>
          <a:ln w="12700">
            <a:solidFill>
              <a:srgbClr val="6E6E73"/>
            </a:solidFill>
            <a:prstDash val="solid"/>
          </a:ln>
        </p:spPr>
      </p:sp>
      <p:sp>
        <p:nvSpPr>
          <p:cNvPr id="11" name="Shape 8"/>
          <p:cNvSpPr/>
          <p:nvPr/>
        </p:nvSpPr>
        <p:spPr>
          <a:xfrm>
            <a:off x="2331720" y="2148840"/>
            <a:ext cx="4480560" cy="0"/>
          </a:xfrm>
          <a:prstGeom prst="line">
            <a:avLst/>
          </a:prstGeom>
          <a:noFill/>
          <a:ln w="12700">
            <a:solidFill>
              <a:srgbClr val="6E6E73"/>
            </a:solidFill>
            <a:prstDash val="solid"/>
          </a:ln>
        </p:spPr>
      </p:sp>
      <p:sp>
        <p:nvSpPr>
          <p:cNvPr id="12" name="Shape 9"/>
          <p:cNvSpPr/>
          <p:nvPr/>
        </p:nvSpPr>
        <p:spPr>
          <a:xfrm>
            <a:off x="2331720" y="2148840"/>
            <a:ext cx="0" cy="182880"/>
          </a:xfrm>
          <a:prstGeom prst="line">
            <a:avLst/>
          </a:prstGeom>
          <a:noFill/>
          <a:ln w="12700">
            <a:solidFill>
              <a:srgbClr val="6E6E73"/>
            </a:solidFill>
            <a:prstDash val="solid"/>
            <a:tailEnd type="triangle"/>
          </a:ln>
        </p:spPr>
      </p:sp>
      <p:sp>
        <p:nvSpPr>
          <p:cNvPr id="13" name="Shape 10"/>
          <p:cNvSpPr/>
          <p:nvPr/>
        </p:nvSpPr>
        <p:spPr>
          <a:xfrm>
            <a:off x="6812280" y="2148840"/>
            <a:ext cx="0" cy="182880"/>
          </a:xfrm>
          <a:prstGeom prst="line">
            <a:avLst/>
          </a:prstGeom>
          <a:noFill/>
          <a:ln w="12700">
            <a:solidFill>
              <a:srgbClr val="6E6E73"/>
            </a:solidFill>
            <a:prstDash val="solid"/>
            <a:tailEnd type="triangle"/>
          </a:ln>
        </p:spPr>
      </p:sp>
      <p:sp>
        <p:nvSpPr>
          <p:cNvPr id="14" name="Text 11"/>
          <p:cNvSpPr txBox="1"/>
          <p:nvPr/>
        </p:nvSpPr>
        <p:spPr>
          <a:xfrm>
            <a:off x="2404872" y="2167128"/>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No</a:t>
            </a:r>
            <a:endParaRPr lang="en-US" sz="850" dirty="0"/>
          </a:p>
        </p:txBody>
      </p:sp>
      <p:sp>
        <p:nvSpPr>
          <p:cNvPr id="15" name="Text 12"/>
          <p:cNvSpPr txBox="1"/>
          <p:nvPr/>
        </p:nvSpPr>
        <p:spPr>
          <a:xfrm>
            <a:off x="6885432" y="2167128"/>
            <a:ext cx="548640" cy="201168"/>
          </a:xfrm>
          <a:prstGeom prst="rect">
            <a:avLst/>
          </a:prstGeom>
          <a:noFill/>
          <a:ln/>
        </p:spPr>
        <p:txBody>
          <a:bodyPr wrap="square" lIns="0" tIns="0" rIns="0" bIns="0" rtlCol="0" anchor="t"/>
          <a:lstStyle/>
          <a:p>
            <a:pPr indent="0" marL="0">
              <a:buNone/>
            </a:pPr>
            <a:r>
              <a:rPr lang="en-US" sz="850" b="1" dirty="0">
                <a:solidFill>
                  <a:srgbClr val="6E6E73"/>
                </a:solidFill>
                <a:latin typeface="SF Pro Text" pitchFamily="34" charset="0"/>
                <a:ea typeface="SF Pro Text" pitchFamily="34" charset="-122"/>
                <a:cs typeface="SF Pro Text" pitchFamily="34" charset="-120"/>
              </a:rPr>
              <a:t>Yes</a:t>
            </a:r>
            <a:endParaRPr lang="en-US" sz="850" dirty="0"/>
          </a:p>
        </p:txBody>
      </p:sp>
      <p:sp>
        <p:nvSpPr>
          <p:cNvPr id="16" name="Shape 13"/>
          <p:cNvSpPr/>
          <p:nvPr/>
        </p:nvSpPr>
        <p:spPr>
          <a:xfrm>
            <a:off x="685800" y="2331720"/>
            <a:ext cx="3291840" cy="457200"/>
          </a:xfrm>
          <a:prstGeom prst="roundRect">
            <a:avLst>
              <a:gd name="adj" fmla="val 16000"/>
            </a:avLst>
          </a:prstGeom>
          <a:solidFill>
            <a:srgbClr val="0B7A6F"/>
          </a:solidFill>
          <a:ln w="12700">
            <a:solidFill>
              <a:srgbClr val="0B7A6F"/>
            </a:solidFill>
            <a:prstDash val="solid"/>
          </a:ln>
        </p:spPr>
      </p:sp>
      <p:sp>
        <p:nvSpPr>
          <p:cNvPr id="17" name="Text 14"/>
          <p:cNvSpPr txBox="1"/>
          <p:nvPr/>
        </p:nvSpPr>
        <p:spPr>
          <a:xfrm>
            <a:off x="685800" y="2331720"/>
            <a:ext cx="32918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Submit the Transformation to</a:t>
            </a:r>
            <a:endParaRPr lang="en-US" sz="1000" dirty="0"/>
          </a:p>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SR Reassignment Form</a:t>
            </a:r>
            <a:endParaRPr lang="en-US" sz="1000" dirty="0"/>
          </a:p>
        </p:txBody>
      </p:sp>
      <p:sp>
        <p:nvSpPr>
          <p:cNvPr id="18" name="Shape 15"/>
          <p:cNvSpPr/>
          <p:nvPr/>
        </p:nvSpPr>
        <p:spPr>
          <a:xfrm>
            <a:off x="5166360" y="2331720"/>
            <a:ext cx="3291840" cy="457200"/>
          </a:xfrm>
          <a:prstGeom prst="roundRect">
            <a:avLst>
              <a:gd name="adj" fmla="val 16000"/>
            </a:avLst>
          </a:prstGeom>
          <a:solidFill>
            <a:srgbClr val="0B7A6F"/>
          </a:solidFill>
          <a:ln w="12700">
            <a:solidFill>
              <a:srgbClr val="0B7A6F"/>
            </a:solidFill>
            <a:prstDash val="solid"/>
          </a:ln>
        </p:spPr>
      </p:sp>
      <p:sp>
        <p:nvSpPr>
          <p:cNvPr id="19" name="Text 16"/>
          <p:cNvSpPr txBox="1"/>
          <p:nvPr/>
        </p:nvSpPr>
        <p:spPr>
          <a:xfrm>
            <a:off x="5166360" y="2331720"/>
            <a:ext cx="32918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SF Pro Display" pitchFamily="34" charset="0"/>
                <a:ea typeface="SF Pro Display" pitchFamily="34" charset="-122"/>
                <a:cs typeface="SF Pro Display" pitchFamily="34" charset="-120"/>
              </a:rPr>
              <a:t>DM the last SR agent who handled it</a:t>
            </a:r>
            <a:endParaRPr lang="en-US" sz="1000" dirty="0"/>
          </a:p>
        </p:txBody>
      </p:sp>
      <p:sp>
        <p:nvSpPr>
          <p:cNvPr id="20" name="Shape 17"/>
          <p:cNvSpPr/>
          <p:nvPr/>
        </p:nvSpPr>
        <p:spPr>
          <a:xfrm>
            <a:off x="6812280" y="2788920"/>
            <a:ext cx="0" cy="155448"/>
          </a:xfrm>
          <a:prstGeom prst="line">
            <a:avLst/>
          </a:prstGeom>
          <a:noFill/>
          <a:ln w="12700">
            <a:solidFill>
              <a:srgbClr val="6E6E73"/>
            </a:solidFill>
            <a:prstDash val="solid"/>
            <a:tailEnd type="triangle"/>
          </a:ln>
        </p:spPr>
      </p:sp>
      <p:sp>
        <p:nvSpPr>
          <p:cNvPr id="21" name="Shape 18"/>
          <p:cNvSpPr/>
          <p:nvPr/>
        </p:nvSpPr>
        <p:spPr>
          <a:xfrm>
            <a:off x="5166360" y="2944368"/>
            <a:ext cx="3291840" cy="411480"/>
          </a:xfrm>
          <a:prstGeom prst="roundRect">
            <a:avLst>
              <a:gd name="adj" fmla="val 17778"/>
            </a:avLst>
          </a:prstGeom>
          <a:solidFill>
            <a:srgbClr val="FFFFFF"/>
          </a:solidFill>
          <a:ln w="12700">
            <a:solidFill>
              <a:srgbClr val="DCE1E7"/>
            </a:solidFill>
            <a:prstDash val="solid"/>
          </a:ln>
        </p:spPr>
      </p:sp>
      <p:sp>
        <p:nvSpPr>
          <p:cNvPr id="22" name="Text 19"/>
          <p:cNvSpPr txBox="1"/>
          <p:nvPr/>
        </p:nvSpPr>
        <p:spPr>
          <a:xfrm>
            <a:off x="5166360" y="2944368"/>
            <a:ext cx="3291840" cy="411480"/>
          </a:xfrm>
          <a:prstGeom prst="rect">
            <a:avLst/>
          </a:prstGeom>
          <a:noFill/>
          <a:ln/>
        </p:spPr>
        <p:txBody>
          <a:bodyPr wrap="square" lIns="0" tIns="0" rIns="0" bIns="0" rtlCol="0" anchor="ctr"/>
          <a:lstStyle/>
          <a:p>
            <a:pPr algn="ctr" indent="0" marL="0">
              <a:buNone/>
            </a:pPr>
            <a:r>
              <a:rPr lang="en-US" sz="1000" b="1" dirty="0">
                <a:solidFill>
                  <a:srgbClr val="1D1D1F"/>
                </a:solidFill>
                <a:latin typeface="SF Pro Display" pitchFamily="34" charset="0"/>
                <a:ea typeface="SF Pro Display" pitchFamily="34" charset="-122"/>
                <a:cs typeface="SF Pro Display" pitchFamily="34" charset="-120"/>
              </a:rPr>
              <a:t>Offline? Any SR agent on shift</a:t>
            </a:r>
            <a:endParaRPr lang="en-US" sz="1000" dirty="0"/>
          </a:p>
        </p:txBody>
      </p:sp>
      <p:sp>
        <p:nvSpPr>
          <p:cNvPr id="23" name="Text 20"/>
          <p:cNvSpPr txBox="1"/>
          <p:nvPr/>
        </p:nvSpPr>
        <p:spPr>
          <a:xfrm>
            <a:off x="685800" y="2852928"/>
            <a:ext cx="3291840" cy="457200"/>
          </a:xfrm>
          <a:prstGeom prst="rect">
            <a:avLst/>
          </a:prstGeom>
          <a:noFill/>
          <a:ln/>
        </p:spPr>
        <p:txBody>
          <a:bodyPr wrap="square" lIns="0" tIns="0" rIns="0" bIns="0" rtlCol="0" anchor="t"/>
          <a:lstStyle/>
          <a:p>
            <a:pPr algn="ctr" indent="0" marL="0">
              <a:buNone/>
            </a:pPr>
            <a:r>
              <a:rPr lang="en-US" sz="900" dirty="0">
                <a:solidFill>
                  <a:srgbClr val="6E6E73"/>
                </a:solidFill>
                <a:latin typeface="SF Pro Text" pitchFamily="34" charset="0"/>
                <a:ea typeface="SF Pro Text" pitchFamily="34" charset="-122"/>
                <a:cs typeface="SF Pro Text" pitchFamily="34" charset="-120"/>
              </a:rPr>
              <a:t>No form needed: just let them know the customer responded.</a:t>
            </a:r>
            <a:endParaRPr lang="en-US" sz="900" dirty="0"/>
          </a:p>
        </p:txBody>
      </p:sp>
      <p:sp>
        <p:nvSpPr>
          <p:cNvPr id="24" name="Shape 21"/>
          <p:cNvSpPr/>
          <p:nvPr/>
        </p:nvSpPr>
        <p:spPr>
          <a:xfrm>
            <a:off x="411480" y="3657600"/>
            <a:ext cx="8321040" cy="384048"/>
          </a:xfrm>
          <a:prstGeom prst="roundRect">
            <a:avLst>
              <a:gd name="adj" fmla="val 19048"/>
            </a:avLst>
          </a:prstGeom>
          <a:solidFill>
            <a:srgbClr val="FFF3D6"/>
          </a:solidFill>
          <a:ln w="9525">
            <a:solidFill>
              <a:srgbClr val="FFF3D6"/>
            </a:solidFill>
            <a:prstDash val="solid"/>
          </a:ln>
        </p:spPr>
      </p:sp>
      <p:pic>
        <p:nvPicPr>
          <p:cNvPr id="25" name="Image 0" descr="preencoded.png">    </p:cNvPr>
          <p:cNvPicPr>
            <a:picLocks noChangeAspect="1"/>
          </p:cNvPicPr>
          <p:nvPr/>
        </p:nvPicPr>
        <p:blipFill>
          <a:blip r:embed="rId1"/>
          <a:stretch>
            <a:fillRect/>
          </a:stretch>
        </p:blipFill>
        <p:spPr>
          <a:xfrm>
            <a:off x="566928" y="3767328"/>
            <a:ext cx="164592" cy="164592"/>
          </a:xfrm>
          <a:prstGeom prst="rect">
            <a:avLst/>
          </a:prstGeom>
        </p:spPr>
      </p:pic>
      <p:sp>
        <p:nvSpPr>
          <p:cNvPr id="26" name="Text 22"/>
          <p:cNvSpPr txBox="1"/>
          <p:nvPr/>
        </p:nvSpPr>
        <p:spPr>
          <a:xfrm>
            <a:off x="822960" y="375818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Sent back?  </a:t>
            </a:r>
            <a:pPr indent="0" marL="0">
              <a:buNone/>
            </a:pPr>
            <a:r>
              <a:rPr lang="en-US" sz="1000" dirty="0">
                <a:solidFill>
                  <a:srgbClr val="1D1D1F"/>
                </a:solidFill>
                <a:latin typeface="SF Pro Text" pitchFamily="34" charset="0"/>
                <a:ea typeface="SF Pro Text" pitchFamily="34" charset="-122"/>
                <a:cs typeface="SF Pro Text" pitchFamily="34" charset="-120"/>
              </a:rPr>
              <a:t>"Handle as BAU" or "Invalid Escalation": it's yours again. Review the SWAT notes and proceed.</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SERVICE RECOVERY  ·  KNOWLEDGE CHECK</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Knowledge check</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Ask each question, then click to reveal the answer.</a:t>
            </a:r>
            <a:endParaRPr lang="en-US" sz="1200" dirty="0"/>
          </a:p>
        </p:txBody>
      </p:sp>
      <p:sp>
        <p:nvSpPr>
          <p:cNvPr id="6" name="Shape 3"/>
          <p:cNvSpPr/>
          <p:nvPr/>
        </p:nvSpPr>
        <p:spPr>
          <a:xfrm>
            <a:off x="411480" y="1280160"/>
            <a:ext cx="4617720" cy="786384"/>
          </a:xfrm>
          <a:prstGeom prst="roundRect">
            <a:avLst>
              <a:gd name="adj" fmla="val 9302"/>
            </a:avLst>
          </a:prstGeom>
          <a:solidFill>
            <a:srgbClr val="FFFFFF"/>
          </a:solidFill>
          <a:ln w="9525">
            <a:solidFill>
              <a:srgbClr val="DCE1E7"/>
            </a:solidFill>
            <a:prstDash val="solid"/>
          </a:ln>
        </p:spPr>
      </p:sp>
      <p:sp>
        <p:nvSpPr>
          <p:cNvPr id="7" name="Shape 4"/>
          <p:cNvSpPr/>
          <p:nvPr/>
        </p:nvSpPr>
        <p:spPr>
          <a:xfrm>
            <a:off x="548640" y="1536192"/>
            <a:ext cx="274320" cy="274320"/>
          </a:xfrm>
          <a:prstGeom prst="ellipse">
            <a:avLst/>
          </a:prstGeom>
          <a:solidFill>
            <a:srgbClr val="E3F4F1"/>
          </a:solidFill>
          <a:ln w="12700">
            <a:solidFill>
              <a:srgbClr val="E3F4F1"/>
            </a:solidFill>
            <a:prstDash val="solid"/>
          </a:ln>
        </p:spPr>
      </p:sp>
      <p:sp>
        <p:nvSpPr>
          <p:cNvPr id="8" name="Text 5"/>
          <p:cNvSpPr txBox="1"/>
          <p:nvPr/>
        </p:nvSpPr>
        <p:spPr>
          <a:xfrm>
            <a:off x="548640" y="1536192"/>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960120" y="1280160"/>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 left negative CSAT feedback and opted in to a call. Where does it go?</a:t>
            </a:r>
            <a:endParaRPr lang="en-US" sz="1000" dirty="0"/>
          </a:p>
        </p:txBody>
      </p:sp>
      <p:sp>
        <p:nvSpPr>
          <p:cNvPr id="10" name="Shape 7"/>
          <p:cNvSpPr/>
          <p:nvPr/>
        </p:nvSpPr>
        <p:spPr>
          <a:xfrm>
            <a:off x="5120640" y="1280160"/>
            <a:ext cx="3611880" cy="786384"/>
          </a:xfrm>
          <a:prstGeom prst="roundRect">
            <a:avLst>
              <a:gd name="adj" fmla="val 9302"/>
            </a:avLst>
          </a:prstGeom>
          <a:solidFill>
            <a:srgbClr val="E3F4F1"/>
          </a:solidFill>
          <a:ln w="9525">
            <a:solidFill>
              <a:srgbClr val="E3F4F1"/>
            </a:solidFill>
            <a:prstDash val="solid"/>
          </a:ln>
        </p:spPr>
      </p:sp>
      <p:sp>
        <p:nvSpPr>
          <p:cNvPr id="11" name="step1Ans"/>
          <p:cNvSpPr txBox="1"/>
          <p:nvPr/>
        </p:nvSpPr>
        <p:spPr>
          <a:xfrm>
            <a:off x="5257800" y="1280160"/>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Service Recovery, via the Transformation to SR Reassignment Form.</a:t>
            </a:r>
            <a:endParaRPr lang="en-US" sz="900" dirty="0"/>
          </a:p>
        </p:txBody>
      </p:sp>
      <p:sp>
        <p:nvSpPr>
          <p:cNvPr id="12" name="Shape 9"/>
          <p:cNvSpPr/>
          <p:nvPr/>
        </p:nvSpPr>
        <p:spPr>
          <a:xfrm>
            <a:off x="411480" y="2139696"/>
            <a:ext cx="4617720" cy="786384"/>
          </a:xfrm>
          <a:prstGeom prst="roundRect">
            <a:avLst>
              <a:gd name="adj" fmla="val 9302"/>
            </a:avLst>
          </a:prstGeom>
          <a:solidFill>
            <a:srgbClr val="FFFFFF"/>
          </a:solidFill>
          <a:ln w="9525">
            <a:solidFill>
              <a:srgbClr val="DCE1E7"/>
            </a:solidFill>
            <a:prstDash val="solid"/>
          </a:ln>
        </p:spPr>
      </p:sp>
      <p:sp>
        <p:nvSpPr>
          <p:cNvPr id="13" name="Shape 10"/>
          <p:cNvSpPr/>
          <p:nvPr/>
        </p:nvSpPr>
        <p:spPr>
          <a:xfrm>
            <a:off x="548640" y="2395728"/>
            <a:ext cx="274320" cy="274320"/>
          </a:xfrm>
          <a:prstGeom prst="ellipse">
            <a:avLst/>
          </a:prstGeom>
          <a:solidFill>
            <a:srgbClr val="E3F4F1"/>
          </a:solidFill>
          <a:ln w="12700">
            <a:solidFill>
              <a:srgbClr val="E3F4F1"/>
            </a:solidFill>
            <a:prstDash val="solid"/>
          </a:ln>
        </p:spPr>
      </p:sp>
      <p:sp>
        <p:nvSpPr>
          <p:cNvPr id="14" name="Text 11"/>
          <p:cNvSpPr txBox="1"/>
          <p:nvPr/>
        </p:nvSpPr>
        <p:spPr>
          <a:xfrm>
            <a:off x="548640" y="2395728"/>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5" name="Text 12"/>
          <p:cNvSpPr txBox="1"/>
          <p:nvPr/>
        </p:nvSpPr>
        <p:spPr>
          <a:xfrm>
            <a:off x="960120" y="2139696"/>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 writes: "I'll report this to the BBB." Escalate to SR?</a:t>
            </a:r>
            <a:endParaRPr lang="en-US" sz="1000" dirty="0"/>
          </a:p>
        </p:txBody>
      </p:sp>
      <p:sp>
        <p:nvSpPr>
          <p:cNvPr id="16" name="Shape 13"/>
          <p:cNvSpPr/>
          <p:nvPr/>
        </p:nvSpPr>
        <p:spPr>
          <a:xfrm>
            <a:off x="5120640" y="2139696"/>
            <a:ext cx="3611880" cy="786384"/>
          </a:xfrm>
          <a:prstGeom prst="roundRect">
            <a:avLst>
              <a:gd name="adj" fmla="val 9302"/>
            </a:avLst>
          </a:prstGeom>
          <a:solidFill>
            <a:srgbClr val="E3F4F1"/>
          </a:solidFill>
          <a:ln w="9525">
            <a:solidFill>
              <a:srgbClr val="E3F4F1"/>
            </a:solidFill>
            <a:prstDash val="solid"/>
          </a:ln>
        </p:spPr>
      </p:sp>
      <p:sp>
        <p:nvSpPr>
          <p:cNvPr id="17" name="step2Ans"/>
          <p:cNvSpPr txBox="1"/>
          <p:nvPr/>
        </p:nvSpPr>
        <p:spPr>
          <a:xfrm>
            <a:off x="5257800" y="2139696"/>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A BBB threat is BAU. A filed complaint follows the HDR ticket process.</a:t>
            </a:r>
            <a:endParaRPr lang="en-US" sz="900" dirty="0"/>
          </a:p>
        </p:txBody>
      </p:sp>
      <p:sp>
        <p:nvSpPr>
          <p:cNvPr id="18" name="Shape 15"/>
          <p:cNvSpPr/>
          <p:nvPr/>
        </p:nvSpPr>
        <p:spPr>
          <a:xfrm>
            <a:off x="411480" y="2999232"/>
            <a:ext cx="4617720" cy="786384"/>
          </a:xfrm>
          <a:prstGeom prst="roundRect">
            <a:avLst>
              <a:gd name="adj" fmla="val 9302"/>
            </a:avLst>
          </a:prstGeom>
          <a:solidFill>
            <a:srgbClr val="FFFFFF"/>
          </a:solidFill>
          <a:ln w="9525">
            <a:solidFill>
              <a:srgbClr val="DCE1E7"/>
            </a:solidFill>
            <a:prstDash val="solid"/>
          </a:ln>
        </p:spPr>
      </p:sp>
      <p:sp>
        <p:nvSpPr>
          <p:cNvPr id="19" name="Shape 16"/>
          <p:cNvSpPr/>
          <p:nvPr/>
        </p:nvSpPr>
        <p:spPr>
          <a:xfrm>
            <a:off x="548640" y="3255264"/>
            <a:ext cx="274320" cy="274320"/>
          </a:xfrm>
          <a:prstGeom prst="ellipse">
            <a:avLst/>
          </a:prstGeom>
          <a:solidFill>
            <a:srgbClr val="E3F4F1"/>
          </a:solidFill>
          <a:ln w="12700">
            <a:solidFill>
              <a:srgbClr val="E3F4F1"/>
            </a:solidFill>
            <a:prstDash val="solid"/>
          </a:ln>
        </p:spPr>
      </p:sp>
      <p:sp>
        <p:nvSpPr>
          <p:cNvPr id="20" name="Text 17"/>
          <p:cNvSpPr txBox="1"/>
          <p:nvPr/>
        </p:nvSpPr>
        <p:spPr>
          <a:xfrm>
            <a:off x="548640" y="3255264"/>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21" name="Text 18"/>
          <p:cNvSpPr txBox="1"/>
          <p:nvPr/>
        </p:nvSpPr>
        <p:spPr>
          <a:xfrm>
            <a:off x="960120" y="2999232"/>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C's email CCs their lawyer. Do you escalate to SR?</a:t>
            </a:r>
            <a:endParaRPr lang="en-US" sz="1000" dirty="0"/>
          </a:p>
        </p:txBody>
      </p:sp>
      <p:sp>
        <p:nvSpPr>
          <p:cNvPr id="22" name="Shape 19"/>
          <p:cNvSpPr/>
          <p:nvPr/>
        </p:nvSpPr>
        <p:spPr>
          <a:xfrm>
            <a:off x="5120640" y="2999232"/>
            <a:ext cx="3611880" cy="786384"/>
          </a:xfrm>
          <a:prstGeom prst="roundRect">
            <a:avLst>
              <a:gd name="adj" fmla="val 9302"/>
            </a:avLst>
          </a:prstGeom>
          <a:solidFill>
            <a:srgbClr val="E3F4F1"/>
          </a:solidFill>
          <a:ln w="9525">
            <a:solidFill>
              <a:srgbClr val="E3F4F1"/>
            </a:solidFill>
            <a:prstDash val="solid"/>
          </a:ln>
        </p:spPr>
      </p:sp>
      <p:sp>
        <p:nvSpPr>
          <p:cNvPr id="23" name="step3Ans"/>
          <p:cNvSpPr txBox="1"/>
          <p:nvPr/>
        </p:nvSpPr>
        <p:spPr>
          <a:xfrm>
            <a:off x="5257800" y="2999232"/>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It's a material threat: waive the ETF and cancel FC immediately.</a:t>
            </a:r>
            <a:endParaRPr lang="en-US" sz="900" dirty="0"/>
          </a:p>
        </p:txBody>
      </p:sp>
      <p:sp>
        <p:nvSpPr>
          <p:cNvPr id="24" name="Shape 21"/>
          <p:cNvSpPr/>
          <p:nvPr/>
        </p:nvSpPr>
        <p:spPr>
          <a:xfrm>
            <a:off x="411480" y="3858768"/>
            <a:ext cx="4617720" cy="786384"/>
          </a:xfrm>
          <a:prstGeom prst="roundRect">
            <a:avLst>
              <a:gd name="adj" fmla="val 9302"/>
            </a:avLst>
          </a:prstGeom>
          <a:solidFill>
            <a:srgbClr val="FFFFFF"/>
          </a:solidFill>
          <a:ln w="9525">
            <a:solidFill>
              <a:srgbClr val="DCE1E7"/>
            </a:solidFill>
            <a:prstDash val="solid"/>
          </a:ln>
        </p:spPr>
      </p:sp>
      <p:sp>
        <p:nvSpPr>
          <p:cNvPr id="25" name="Shape 22"/>
          <p:cNvSpPr/>
          <p:nvPr/>
        </p:nvSpPr>
        <p:spPr>
          <a:xfrm>
            <a:off x="548640" y="4114800"/>
            <a:ext cx="274320" cy="274320"/>
          </a:xfrm>
          <a:prstGeom prst="ellipse">
            <a:avLst/>
          </a:prstGeom>
          <a:solidFill>
            <a:srgbClr val="E3F4F1"/>
          </a:solidFill>
          <a:ln w="12700">
            <a:solidFill>
              <a:srgbClr val="E3F4F1"/>
            </a:solidFill>
            <a:prstDash val="solid"/>
          </a:ln>
        </p:spPr>
      </p:sp>
      <p:sp>
        <p:nvSpPr>
          <p:cNvPr id="26" name="Text 23"/>
          <p:cNvSpPr txBox="1"/>
          <p:nvPr/>
        </p:nvSpPr>
        <p:spPr>
          <a:xfrm>
            <a:off x="548640" y="411480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4</a:t>
            </a:r>
            <a:endParaRPr lang="en-US" sz="900" dirty="0"/>
          </a:p>
        </p:txBody>
      </p:sp>
      <p:sp>
        <p:nvSpPr>
          <p:cNvPr id="27" name="Text 24"/>
          <p:cNvSpPr txBox="1"/>
          <p:nvPr/>
        </p:nvSpPr>
        <p:spPr>
          <a:xfrm>
            <a:off x="960120" y="3858768"/>
            <a:ext cx="3977640" cy="786384"/>
          </a:xfrm>
          <a:prstGeom prst="rect">
            <a:avLst/>
          </a:prstGeom>
          <a:noFill/>
          <a:ln/>
        </p:spPr>
        <p:txBody>
          <a:bodyPr wrap="square" lIns="0" tIns="0" rIns="0" bIns="0" rtlCol="0" anchor="ctr"/>
          <a:lstStyle/>
          <a:p>
            <a:pPr indent="0" marL="0">
              <a:buNone/>
            </a:pPr>
            <a:r>
              <a:rPr lang="en-US" sz="1000" dirty="0">
                <a:solidFill>
                  <a:srgbClr val="1D1D1F"/>
                </a:solidFill>
                <a:latin typeface="SF Pro Text" pitchFamily="34" charset="0"/>
                <a:ea typeface="SF Pro Text" pitchFamily="34" charset="-122"/>
                <a:cs typeface="SF Pro Text" pitchFamily="34" charset="-120"/>
              </a:rPr>
              <a:t>The ticket says "C responded to SR." Do you fill out the form?</a:t>
            </a:r>
            <a:endParaRPr lang="en-US" sz="1000" dirty="0"/>
          </a:p>
        </p:txBody>
      </p:sp>
      <p:sp>
        <p:nvSpPr>
          <p:cNvPr id="28" name="Shape 25"/>
          <p:cNvSpPr/>
          <p:nvPr/>
        </p:nvSpPr>
        <p:spPr>
          <a:xfrm>
            <a:off x="5120640" y="3858768"/>
            <a:ext cx="3611880" cy="786384"/>
          </a:xfrm>
          <a:prstGeom prst="roundRect">
            <a:avLst>
              <a:gd name="adj" fmla="val 9302"/>
            </a:avLst>
          </a:prstGeom>
          <a:solidFill>
            <a:srgbClr val="E3F4F1"/>
          </a:solidFill>
          <a:ln w="9525">
            <a:solidFill>
              <a:srgbClr val="E3F4F1"/>
            </a:solidFill>
            <a:prstDash val="solid"/>
          </a:ln>
        </p:spPr>
      </p:sp>
      <p:sp>
        <p:nvSpPr>
          <p:cNvPr id="29" name="step4Ans"/>
          <p:cNvSpPr txBox="1"/>
          <p:nvPr/>
        </p:nvSpPr>
        <p:spPr>
          <a:xfrm>
            <a:off x="5257800" y="3858768"/>
            <a:ext cx="3383280" cy="786384"/>
          </a:xfrm>
          <a:prstGeom prst="rect">
            <a:avLst/>
          </a:prstGeom>
          <a:noFill/>
          <a:ln/>
        </p:spPr>
        <p:txBody>
          <a:bodyPr wrap="square" lIns="0" tIns="0" rIns="0" bIns="0" rtlCol="0" anchor="ctr"/>
          <a:lstStyle/>
          <a:p>
            <a:pPr indent="0" marL="0">
              <a:buNone/>
            </a:pPr>
            <a:r>
              <a:rPr lang="en-US" sz="900" dirty="0">
                <a:solidFill>
                  <a:srgbClr val="1D1D1F"/>
                </a:solidFill>
                <a:latin typeface="SF Pro Text" pitchFamily="34" charset="0"/>
                <a:ea typeface="SF Pro Text" pitchFamily="34" charset="-122"/>
                <a:cs typeface="SF Pro Text" pitchFamily="34" charset="-120"/>
              </a:rPr>
              <a:t>No. DM the last SR agent who handled it; if offline, any SR agent on shift.</a:t>
            </a:r>
            <a:endParaRPr lang="en-US" sz="9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85</a:t>
            </a:fld>
            <a:endParaRPr lang="en-US"/>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6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6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6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3" grpId="0" animBg="1"/>
      <p:bldP spid="29"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SERVICE RECOVERY  ·  WRAP-UP</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Wrap-up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Key takeaways before we move on.</a:t>
            </a:r>
            <a:endParaRPr lang="en-US" sz="1200" dirty="0"/>
          </a:p>
        </p:txBody>
      </p:sp>
      <p:sp>
        <p:nvSpPr>
          <p:cNvPr id="6" name="Shape 3"/>
          <p:cNvSpPr/>
          <p:nvPr/>
        </p:nvSpPr>
        <p:spPr>
          <a:xfrm>
            <a:off x="411480" y="1325880"/>
            <a:ext cx="2682240" cy="1600200"/>
          </a:xfrm>
          <a:prstGeom prst="roundRect">
            <a:avLst>
              <a:gd name="adj" fmla="val 4571"/>
            </a:avLst>
          </a:prstGeom>
          <a:solidFill>
            <a:srgbClr val="FFFFFF"/>
          </a:solidFill>
          <a:ln w="9525">
            <a:solidFill>
              <a:srgbClr val="DCE1E7"/>
            </a:solidFill>
            <a:prstDash val="solid"/>
          </a:ln>
        </p:spPr>
      </p:sp>
      <p:sp>
        <p:nvSpPr>
          <p:cNvPr id="7" name="Shape 4"/>
          <p:cNvSpPr/>
          <p:nvPr/>
        </p:nvSpPr>
        <p:spPr>
          <a:xfrm>
            <a:off x="576072" y="150876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Recognize and hand off</a:t>
            </a:r>
            <a:endParaRPr lang="en-US" sz="1200" dirty="0"/>
          </a:p>
        </p:txBody>
      </p:sp>
      <p:sp>
        <p:nvSpPr>
          <p:cNvPr id="10" name="Text 7"/>
          <p:cNvSpPr txBox="1"/>
          <p:nvPr/>
        </p:nvSpPr>
        <p:spPr>
          <a:xfrm>
            <a:off x="5760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SR decides refunds, scope and ETF waivers.</a:t>
            </a:r>
            <a:endParaRPr lang="en-US" sz="950" dirty="0"/>
          </a:p>
        </p:txBody>
      </p:sp>
      <p:sp>
        <p:nvSpPr>
          <p:cNvPr id="11" name="Shape 8"/>
          <p:cNvSpPr/>
          <p:nvPr/>
        </p:nvSpPr>
        <p:spPr>
          <a:xfrm>
            <a:off x="3230880" y="1325880"/>
            <a:ext cx="2682240" cy="1600200"/>
          </a:xfrm>
          <a:prstGeom prst="roundRect">
            <a:avLst>
              <a:gd name="adj" fmla="val 4571"/>
            </a:avLst>
          </a:prstGeom>
          <a:solidFill>
            <a:srgbClr val="FFFFFF"/>
          </a:solidFill>
          <a:ln w="9525">
            <a:solidFill>
              <a:srgbClr val="DCE1E7"/>
            </a:solidFill>
            <a:prstDash val="solid"/>
          </a:ln>
        </p:spPr>
      </p:sp>
      <p:sp>
        <p:nvSpPr>
          <p:cNvPr id="12" name="Shape 9"/>
          <p:cNvSpPr/>
          <p:nvPr/>
        </p:nvSpPr>
        <p:spPr>
          <a:xfrm>
            <a:off x="3395472" y="150876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Know the threat type</a:t>
            </a:r>
            <a:endParaRPr lang="en-US" sz="1200" dirty="0"/>
          </a:p>
        </p:txBody>
      </p:sp>
      <p:sp>
        <p:nvSpPr>
          <p:cNvPr id="15" name="Text 12"/>
          <p:cNvSpPr txBox="1"/>
          <p:nvPr/>
        </p:nvSpPr>
        <p:spPr>
          <a:xfrm>
            <a:off x="33954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Material: waive now. General: BAU unless high risk. BBB threat: BAU.</a:t>
            </a:r>
            <a:endParaRPr lang="en-US" sz="950" dirty="0"/>
          </a:p>
        </p:txBody>
      </p:sp>
      <p:sp>
        <p:nvSpPr>
          <p:cNvPr id="16" name="Shape 13"/>
          <p:cNvSpPr/>
          <p:nvPr/>
        </p:nvSpPr>
        <p:spPr>
          <a:xfrm>
            <a:off x="6050280" y="1325880"/>
            <a:ext cx="2682240" cy="1600200"/>
          </a:xfrm>
          <a:prstGeom prst="roundRect">
            <a:avLst>
              <a:gd name="adj" fmla="val 4571"/>
            </a:avLst>
          </a:prstGeom>
          <a:solidFill>
            <a:srgbClr val="FFFFFF"/>
          </a:solidFill>
          <a:ln w="9525">
            <a:solidFill>
              <a:srgbClr val="DCE1E7"/>
            </a:solidFill>
            <a:prstDash val="solid"/>
          </a:ln>
        </p:spPr>
      </p:sp>
      <p:sp>
        <p:nvSpPr>
          <p:cNvPr id="17" name="Shape 14"/>
          <p:cNvSpPr/>
          <p:nvPr/>
        </p:nvSpPr>
        <p:spPr>
          <a:xfrm>
            <a:off x="6214872" y="150876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0876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293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Use the form</a:t>
            </a:r>
            <a:endParaRPr lang="en-US" sz="1200" dirty="0"/>
          </a:p>
        </p:txBody>
      </p:sp>
      <p:sp>
        <p:nvSpPr>
          <p:cNvPr id="20" name="Text 17"/>
          <p:cNvSpPr txBox="1"/>
          <p:nvPr/>
        </p:nvSpPr>
        <p:spPr>
          <a:xfrm>
            <a:off x="6214872" y="2221992"/>
            <a:ext cx="23530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Except "C responded to SR": DM the last SR agent.</a:t>
            </a:r>
            <a:endParaRPr lang="en-US" sz="950" dirty="0"/>
          </a:p>
        </p:txBody>
      </p:sp>
      <p:sp>
        <p:nvSpPr>
          <p:cNvPr id="21" name="Shape 18"/>
          <p:cNvSpPr/>
          <p:nvPr/>
        </p:nvSpPr>
        <p:spPr>
          <a:xfrm>
            <a:off x="411480" y="3108960"/>
            <a:ext cx="8321040" cy="914400"/>
          </a:xfrm>
          <a:prstGeom prst="roundRect">
            <a:avLst>
              <a:gd name="adj" fmla="val 8000"/>
            </a:avLst>
          </a:prstGeom>
          <a:solidFill>
            <a:srgbClr val="0B7A6F"/>
          </a:solidFill>
          <a:ln w="9525">
            <a:solidFill>
              <a:srgbClr val="0B7A6F"/>
            </a:solidFill>
            <a:prstDash val="solid"/>
          </a:ln>
        </p:spPr>
      </p:sp>
      <p:pic>
        <p:nvPicPr>
          <p:cNvPr id="22" name="Image 0" descr="preencoded.png">    </p:cNvPr>
          <p:cNvPicPr>
            <a:picLocks noChangeAspect="1"/>
          </p:cNvPicPr>
          <p:nvPr/>
        </p:nvPicPr>
        <p:blipFill>
          <a:blip r:embed="rId1"/>
          <a:stretch>
            <a:fillRect/>
          </a:stretch>
        </p:blipFill>
        <p:spPr>
          <a:xfrm>
            <a:off x="731520" y="3383280"/>
            <a:ext cx="365760" cy="365760"/>
          </a:xfrm>
          <a:prstGeom prst="rect">
            <a:avLst/>
          </a:prstGeom>
        </p:spPr>
      </p:pic>
      <p:sp>
        <p:nvSpPr>
          <p:cNvPr id="23" name="Text 19"/>
          <p:cNvSpPr txBox="1"/>
          <p:nvPr/>
        </p:nvSpPr>
        <p:spPr>
          <a:xfrm>
            <a:off x="1325880" y="3108960"/>
            <a:ext cx="7223760" cy="914400"/>
          </a:xfrm>
          <a:prstGeom prst="rect">
            <a:avLst/>
          </a:prstGeom>
          <a:noFill/>
          <a:ln/>
        </p:spPr>
        <p:txBody>
          <a:bodyPr wrap="square" lIns="0" tIns="0" rIns="0" bIns="0" rtlCol="0" anchor="ctr"/>
          <a:lstStyle/>
          <a:p>
            <a:pPr indent="0" marL="0">
              <a:buNone/>
            </a:pPr>
            <a:r>
              <a:rPr lang="en-US" sz="2000" b="1" dirty="0">
                <a:solidFill>
                  <a:srgbClr val="FFFFFF"/>
                </a:solidFill>
                <a:latin typeface="SF Pro Display" pitchFamily="34" charset="0"/>
                <a:ea typeface="SF Pro Display" pitchFamily="34" charset="-122"/>
                <a:cs typeface="SF Pro Display" pitchFamily="34" charset="-120"/>
              </a:rPr>
              <a:t>Questions?</a:t>
            </a:r>
            <a:endParaRPr lang="en-US" sz="2000" dirty="0"/>
          </a:p>
          <a:p>
            <a:pPr indent="0" marL="0">
              <a:buNone/>
            </a:pPr>
            <a:r>
              <a:rPr lang="en-US" sz="1100" dirty="0">
                <a:solidFill>
                  <a:srgbClr val="FFFFFF"/>
                </a:solidFill>
                <a:latin typeface="SF Pro Text" pitchFamily="34" charset="0"/>
                <a:ea typeface="SF Pro Text" pitchFamily="34" charset="-122"/>
                <a:cs typeface="SF Pro Text" pitchFamily="34" charset="-120"/>
              </a:rPr>
              <a:t>Open the floor before we move to the next topic.</a:t>
            </a:r>
            <a:endParaRPr lang="en-US" sz="2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txBox="1"/>
          <p:nvPr/>
        </p:nvSpPr>
        <p:spPr>
          <a:xfrm>
            <a:off x="566928" y="173736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WRAP-UP</a:t>
            </a:r>
            <a:endParaRPr lang="en-US" sz="800" dirty="0"/>
          </a:p>
        </p:txBody>
      </p:sp>
      <p:sp>
        <p:nvSpPr>
          <p:cNvPr id="3" name="Text 1"/>
          <p:cNvSpPr txBox="1"/>
          <p:nvPr/>
        </p:nvSpPr>
        <p:spPr>
          <a:xfrm>
            <a:off x="566928" y="1965960"/>
            <a:ext cx="4572000" cy="685800"/>
          </a:xfrm>
          <a:prstGeom prst="rect">
            <a:avLst/>
          </a:prstGeom>
          <a:noFill/>
          <a:ln/>
        </p:spPr>
        <p:txBody>
          <a:bodyPr wrap="square" lIns="0" tIns="0" rIns="0" bIns="0" rtlCol="0" anchor="t"/>
          <a:lstStyle/>
          <a:p>
            <a:pPr indent="0" marL="0">
              <a:buNone/>
            </a:pPr>
            <a:r>
              <a:rPr lang="en-US" sz="3400" b="1" dirty="0">
                <a:solidFill>
                  <a:srgbClr val="1D1D1F"/>
                </a:solidFill>
                <a:latin typeface="SF Pro Display" pitchFamily="34" charset="0"/>
                <a:ea typeface="SF Pro Display" pitchFamily="34" charset="-122"/>
                <a:cs typeface="SF Pro Display" pitchFamily="34" charset="-120"/>
              </a:rPr>
              <a:t>Thank you!</a:t>
            </a:r>
            <a:endParaRPr lang="en-US" sz="3400" dirty="0"/>
          </a:p>
        </p:txBody>
      </p:sp>
      <p:sp>
        <p:nvSpPr>
          <p:cNvPr id="4" name="Text 2"/>
          <p:cNvSpPr txBox="1"/>
          <p:nvPr/>
        </p:nvSpPr>
        <p:spPr>
          <a:xfrm>
            <a:off x="566928" y="2697480"/>
            <a:ext cx="4206240" cy="45720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When in doubt, check the Knowledge Library or ask your Trainer or Team Lead.</a:t>
            </a:r>
            <a:endParaRPr lang="en-US" sz="1200" dirty="0"/>
          </a:p>
        </p:txBody>
      </p:sp>
      <p:sp>
        <p:nvSpPr>
          <p:cNvPr id="5" name="Shape 3"/>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6" name="Shape 4"/>
          <p:cNvSpPr/>
          <p:nvPr/>
        </p:nvSpPr>
        <p:spPr>
          <a:xfrm>
            <a:off x="5724144" y="1289304"/>
            <a:ext cx="2560320" cy="2560320"/>
          </a:xfrm>
          <a:prstGeom prst="ellipse">
            <a:avLst/>
          </a:prstGeom>
          <a:solidFill>
            <a:srgbClr val="FFFFFF"/>
          </a:solidFill>
          <a:ln w="12700">
            <a:solidFill>
              <a:srgbClr val="FFFFFF"/>
            </a:solidFill>
            <a:prstDash val="solid"/>
          </a:ln>
        </p:spPr>
      </p:sp>
      <p:pic>
        <p:nvPicPr>
          <p:cNvPr id="7" name="Image 0" descr="/tmp/claude-0/-workspace-training/3ce5cff6-cccf-5f33-b0ee-0b147a55120e/scratchpad/img4/ill9.png">    </p:cNvPr>
          <p:cNvPicPr>
            <a:picLocks noChangeAspect="1"/>
          </p:cNvPicPr>
          <p:nvPr/>
        </p:nvPicPr>
        <p:blipFill>
          <a:blip r:embed="rId1"/>
          <a:stretch>
            <a:fillRect/>
          </a:stretch>
        </p:blipFill>
        <p:spPr>
          <a:xfrm>
            <a:off x="5541264" y="1695208"/>
            <a:ext cx="2926080" cy="1748511"/>
          </a:xfrm>
          <a:prstGeom prst="rect">
            <a:avLst/>
          </a:prstGeom>
        </p:spPr>
      </p:pic>
      <p:sp>
        <p:nvSpPr>
          <p:cNvPr id="8" name="Shape 5"/>
          <p:cNvSpPr/>
          <p:nvPr/>
        </p:nvSpPr>
        <p:spPr>
          <a:xfrm>
            <a:off x="5522976" y="822960"/>
            <a:ext cx="329184" cy="329184"/>
          </a:xfrm>
          <a:prstGeom prst="ellipse">
            <a:avLst/>
          </a:prstGeom>
          <a:solidFill>
            <a:srgbClr val="FFFFFF"/>
          </a:solidFill>
          <a:ln w="12700">
            <a:solidFill>
              <a:srgbClr val="FFFFFF"/>
            </a:solidFill>
            <a:prstDash val="solid"/>
          </a:ln>
        </p:spPr>
      </p:sp>
      <p:sp>
        <p:nvSpPr>
          <p:cNvPr id="9" name="Shape 6"/>
          <p:cNvSpPr/>
          <p:nvPr/>
        </p:nvSpPr>
        <p:spPr>
          <a:xfrm>
            <a:off x="5646420" y="946404"/>
            <a:ext cx="82296" cy="82296"/>
          </a:xfrm>
          <a:prstGeom prst="ellipse">
            <a:avLst/>
          </a:prstGeom>
          <a:solidFill>
            <a:srgbClr val="0B7A6F"/>
          </a:solidFill>
          <a:ln w="12700">
            <a:solidFill>
              <a:srgbClr val="0B7A6F"/>
            </a:solidFill>
            <a:prstDash val="solid"/>
          </a:ln>
        </p:spPr>
      </p:sp>
      <p:sp>
        <p:nvSpPr>
          <p:cNvPr id="10" name="Shape 7"/>
          <p:cNvSpPr/>
          <p:nvPr/>
        </p:nvSpPr>
        <p:spPr>
          <a:xfrm>
            <a:off x="8193024" y="822960"/>
            <a:ext cx="329184" cy="329184"/>
          </a:xfrm>
          <a:prstGeom prst="ellipse">
            <a:avLst/>
          </a:prstGeom>
          <a:solidFill>
            <a:srgbClr val="FFFFFF"/>
          </a:solidFill>
          <a:ln w="12700">
            <a:solidFill>
              <a:srgbClr val="FFFFFF"/>
            </a:solidFill>
            <a:prstDash val="solid"/>
          </a:ln>
        </p:spPr>
      </p:sp>
      <p:sp>
        <p:nvSpPr>
          <p:cNvPr id="11" name="Shape 8"/>
          <p:cNvSpPr/>
          <p:nvPr/>
        </p:nvSpPr>
        <p:spPr>
          <a:xfrm>
            <a:off x="8316468" y="946404"/>
            <a:ext cx="82296" cy="82296"/>
          </a:xfrm>
          <a:prstGeom prst="ellipse">
            <a:avLst/>
          </a:prstGeom>
          <a:solidFill>
            <a:srgbClr val="0B7A6F"/>
          </a:solidFill>
          <a:ln w="12700">
            <a:solidFill>
              <a:srgbClr val="0B7A6F"/>
            </a:solidFill>
            <a:prstDash val="solid"/>
          </a:ln>
        </p:spPr>
      </p:sp>
      <p:sp>
        <p:nvSpPr>
          <p:cNvPr id="12" name="Shape 9"/>
          <p:cNvSpPr/>
          <p:nvPr/>
        </p:nvSpPr>
        <p:spPr>
          <a:xfrm>
            <a:off x="8193024" y="3986784"/>
            <a:ext cx="329184" cy="329184"/>
          </a:xfrm>
          <a:prstGeom prst="ellipse">
            <a:avLst/>
          </a:prstGeom>
          <a:solidFill>
            <a:srgbClr val="FFFFFF"/>
          </a:solidFill>
          <a:ln w="12700">
            <a:solidFill>
              <a:srgbClr val="FFFFFF"/>
            </a:solidFill>
            <a:prstDash val="solid"/>
          </a:ln>
        </p:spPr>
      </p:sp>
      <p:sp>
        <p:nvSpPr>
          <p:cNvPr id="13" name="Shape 10"/>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Billing Disputes &amp; Cash Payments</dc:title>
  <dc:subject>PptxGenJS Presentation</dc:subject>
  <dc:creator>PptxGenJS</dc:creator>
  <cp:lastModifiedBy>PptxGenJS</cp:lastModifiedBy>
  <cp:revision>1</cp:revision>
  <dcterms:created xsi:type="dcterms:W3CDTF">2026-10-05T19:51:29Z</dcterms:created>
  <dcterms:modified xsi:type="dcterms:W3CDTF">2026-10-05T19:51:29Z</dcterms:modified>
</cp:coreProperties>
</file>