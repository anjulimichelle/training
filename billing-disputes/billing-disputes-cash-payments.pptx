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brought a helper, worked half the duration, charged in full: if the customer authorized it, tell them records show they did, address other pain points, don't penalize. If not, go to Branch B: request documentation and coach that helpers need permission and can't justify full-rate billing. 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evidence the customer authorized the helper and the reduced hours? Yes: tell the customer records show they authorized it, address other pain points, don't penalize the cleaner. No: follow the main flow: request documentation from the cleaner and coach that helpers require permission and can't justify full-rate billing. If the cleaner's document wasn't just weak but faked, stop and go to AG - Fraud &gt; CP Document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a:p>
            <a:pPr indent="0" marL="0">
              <a:buNone/>
            </a:pPr>
            <a:r>
              <a:rPr lang="en-US" sz="850" dirty="0">
                <a:solidFill>
                  <a:srgbClr val="FFFFFF"/>
                </a:solidFill>
                <a:latin typeface="SF Pro Text" pitchFamily="34" charset="0"/>
                <a:ea typeface="SF Pro Text" pitchFamily="34" charset="-122"/>
                <a:cs typeface="SF Pro Text" pitchFamily="34" charset="-120"/>
              </a:rPr>
              <a:t>Refund, check for a Premium fee, then the 30-minute rule.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 present</a:t>
            </a:r>
            <a:endParaRPr lang="en-US" sz="1150" dirty="0"/>
          </a:p>
          <a:p>
            <a:pPr indent="0" marL="0">
              <a:buNone/>
            </a:pPr>
            <a:r>
              <a:rPr lang="en-US" sz="850" dirty="0">
                <a:solidFill>
                  <a:srgbClr val="FFFFFF"/>
                </a:solidFill>
                <a:latin typeface="SF Pro Text" pitchFamily="34" charset="0"/>
                <a:ea typeface="SF Pro Text" pitchFamily="34" charset="-122"/>
                <a:cs typeface="SF Pro Text" pitchFamily="34" charset="-120"/>
              </a:rPr>
              <a:t>Request documentation, then wait for the Timed Reminder.</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ban the pairing, comms to both → Penalty section</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tep1Panel"/>
          <p:cNvSpPr/>
          <p:nvPr/>
        </p:nvSpPr>
        <p:spPr>
          <a:xfrm>
            <a:off x="5349240" y="2852928"/>
            <a:ext cx="3383280" cy="1691640"/>
          </a:xfrm>
          <a:prstGeom prst="roundRect">
            <a:avLst>
              <a:gd name="adj" fmla="val 3243"/>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2" name="step1Head"/>
          <p:cNvSpPr/>
          <p:nvPr/>
        </p:nvSpPr>
        <p:spPr>
          <a:xfrm>
            <a:off x="5349240" y="2852928"/>
            <a:ext cx="3383280" cy="347472"/>
          </a:xfrm>
          <a:prstGeom prst="rect">
            <a:avLst/>
          </a:prstGeom>
          <a:solidFill>
            <a:srgbClr val="0B7A6F"/>
          </a:solidFill>
          <a:ln w="12700">
            <a:solidFill>
              <a:srgbClr val="0B7A6F"/>
            </a:solidFill>
            <a:prstDash val="solid"/>
          </a:ln>
        </p:spPr>
      </p:sp>
      <p:sp>
        <p:nvSpPr>
          <p:cNvPr id="33" name="step1Title"/>
          <p:cNvSpPr txBox="1"/>
          <p:nvPr/>
        </p:nvSpPr>
        <p:spPr>
          <a:xfrm>
            <a:off x="5486400" y="2852928"/>
            <a:ext cx="3108960" cy="347472"/>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Penalty check</a:t>
            </a:r>
            <a:endParaRPr lang="en-US" sz="1100" dirty="0"/>
          </a:p>
        </p:txBody>
      </p:sp>
      <p:sp>
        <p:nvSpPr>
          <p:cNvPr id="34" name="step1Body"/>
          <p:cNvSpPr txBox="1"/>
          <p:nvPr/>
        </p:nvSpPr>
        <p:spPr>
          <a:xfrm>
            <a:off x="5486400" y="3246120"/>
            <a:ext cx="3154680" cy="1261872"/>
          </a:xfrm>
          <a:prstGeom prst="rect">
            <a:avLst/>
          </a:prstGeom>
          <a:noFill/>
          <a:ln/>
        </p:spPr>
        <p:txBody>
          <a:bodyPr wrap="square" lIns="0" tIns="0" rIns="0" bIns="0" rtlCol="0" anchor="t"/>
          <a:lstStyle/>
          <a:p>
            <a:pPr indent="0" marL="0">
              <a:spcAft>
                <a:spcPts val="300"/>
              </a:spcAft>
              <a:buNone/>
            </a:pPr>
            <a:r>
              <a:rPr lang="en-US" sz="900" b="1" dirty="0">
                <a:solidFill>
                  <a:srgbClr val="0B7A6F"/>
                </a:solidFill>
                <a:latin typeface="SF Pro Text" pitchFamily="34" charset="0"/>
                <a:ea typeface="SF Pro Text" pitchFamily="34" charset="-122"/>
                <a:cs typeface="SF Pro Text" pitchFamily="34" charset="-120"/>
              </a:rPr>
              <a:t>≥ 30 minutes overcharged</a:t>
            </a:r>
            <a:endParaRPr lang="en-US" sz="900" dirty="0"/>
          </a:p>
          <a:p>
            <a:pPr indent="0" marL="0">
              <a:spcAft>
                <a:spcPts val="3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300"/>
              </a:spcAft>
              <a:buNone/>
            </a:pPr>
            <a:r>
              <a:rPr lang="en-US" sz="900" b="1" dirty="0">
                <a:solidFill>
                  <a:srgbClr val="0B7A6F"/>
                </a:solidFill>
                <a:latin typeface="SF Pro Text" pitchFamily="34" charset="0"/>
                <a:ea typeface="SF Pro Text" pitchFamily="34" charset="-122"/>
                <a:cs typeface="SF Pro Text" pitchFamily="34" charset="-120"/>
              </a:rPr>
              <a:t>&lt; 30 minutes overcharged</a:t>
            </a:r>
            <a:endParaRPr lang="en-US" sz="900" dirty="0"/>
          </a:p>
          <a:p>
            <a:pPr indent="0" marL="0">
              <a:spcAft>
                <a:spcPts val="3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600"/>
                                        <p:tgtEl>
                                          <p:spTgt spid="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6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600"/>
                                        <p:tgtEl>
                                          <p:spTgt spid="3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280160"/>
            <a:ext cx="268224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Helper, full charge</a:t>
            </a:r>
            <a:endParaRPr lang="en-US" sz="1200" dirty="0"/>
          </a:p>
        </p:txBody>
      </p:sp>
      <p:sp>
        <p:nvSpPr>
          <p:cNvPr id="9" name="Text 5"/>
          <p:cNvSpPr txBox="1"/>
          <p:nvPr/>
        </p:nvSpPr>
        <p:spPr>
          <a:xfrm>
            <a:off x="576072" y="2176272"/>
            <a:ext cx="2353056" cy="12070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authorized it? No penalty. If not: Branch B, and coach the cleaner.</a:t>
            </a:r>
            <a:endParaRPr lang="en-US" sz="950" dirty="0"/>
          </a:p>
        </p:txBody>
      </p:sp>
      <p:sp>
        <p:nvSpPr>
          <p:cNvPr id="10" name="Shape 6"/>
          <p:cNvSpPr/>
          <p:nvPr/>
        </p:nvSpPr>
        <p:spPr>
          <a:xfrm>
            <a:off x="3230880" y="1280160"/>
            <a:ext cx="2682240" cy="2194560"/>
          </a:xfrm>
          <a:prstGeom prst="roundRect">
            <a:avLst>
              <a:gd name="adj" fmla="val 333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14" name="Text 9"/>
          <p:cNvSpPr txBox="1"/>
          <p:nvPr/>
        </p:nvSpPr>
        <p:spPr>
          <a:xfrm>
            <a:off x="3395472" y="2176272"/>
            <a:ext cx="2353056" cy="12070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Treat it as confirmation. 30 min or more still gets the flag.</a:t>
            </a:r>
            <a:endParaRPr lang="en-US" sz="950" dirty="0"/>
          </a:p>
        </p:txBody>
      </p:sp>
      <p:sp>
        <p:nvSpPr>
          <p:cNvPr id="15" name="Shape 10"/>
          <p:cNvSpPr/>
          <p:nvPr/>
        </p:nvSpPr>
        <p:spPr>
          <a:xfrm>
            <a:off x="6050280" y="1280160"/>
            <a:ext cx="2682240" cy="2194560"/>
          </a:xfrm>
          <a:prstGeom prst="roundRect">
            <a:avLst>
              <a:gd name="adj" fmla="val 333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9" name="Text 13"/>
          <p:cNvSpPr txBox="1"/>
          <p:nvPr/>
        </p:nvSpPr>
        <p:spPr>
          <a:xfrm>
            <a:off x="6214872" y="2176272"/>
            <a:ext cx="2353056" cy="12070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Reach out proactively to confirm the hours worked.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the difference. The customer entered the hours, so there's no penalty for the cleaner.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411480" y="1280160"/>
            <a:ext cx="1977390" cy="2011680"/>
          </a:xfrm>
          <a:prstGeom prst="roundRect">
            <a:avLst>
              <a:gd name="adj" fmla="val 3699"/>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added hours</a:t>
            </a:r>
            <a:endParaRPr lang="en-US" sz="1200" dirty="0"/>
          </a:p>
        </p:txBody>
      </p:sp>
      <p:sp>
        <p:nvSpPr>
          <p:cNvPr id="10" name="Text 7"/>
          <p:cNvSpPr txBox="1"/>
          <p:nvPr/>
        </p:nvSpPr>
        <p:spPr>
          <a:xfrm>
            <a:off x="57607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 Only the added time, not the full job.</a:t>
            </a:r>
            <a:endParaRPr lang="en-US" sz="950" dirty="0"/>
          </a:p>
        </p:txBody>
      </p:sp>
      <p:sp>
        <p:nvSpPr>
          <p:cNvPr id="11" name="Shape 8"/>
          <p:cNvSpPr/>
          <p:nvPr/>
        </p:nvSpPr>
        <p:spPr>
          <a:xfrm>
            <a:off x="2526030" y="1280160"/>
            <a:ext cx="1977390" cy="2011680"/>
          </a:xfrm>
          <a:prstGeom prst="roundRect">
            <a:avLst>
              <a:gd name="adj" fmla="val 3699"/>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15" name="Text 12"/>
          <p:cNvSpPr txBox="1"/>
          <p:nvPr/>
        </p:nvSpPr>
        <p:spPr>
          <a:xfrm>
            <a:off x="269062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first, every time. They have 3 days to prove consent.</a:t>
            </a:r>
            <a:endParaRPr lang="en-US" sz="950" dirty="0"/>
          </a:p>
        </p:txBody>
      </p:sp>
      <p:sp>
        <p:nvSpPr>
          <p:cNvPr id="16" name="Shape 13"/>
          <p:cNvSpPr/>
          <p:nvPr/>
        </p:nvSpPr>
        <p:spPr>
          <a:xfrm>
            <a:off x="4640580" y="1280160"/>
            <a:ext cx="1977390" cy="2011680"/>
          </a:xfrm>
          <a:prstGeom prst="roundRect">
            <a:avLst>
              <a:gd name="adj" fmla="val 3699"/>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20" name="Text 17"/>
          <p:cNvSpPr txBox="1"/>
          <p:nvPr/>
        </p:nvSpPr>
        <p:spPr>
          <a:xfrm>
            <a:off x="480517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 No separate request needed.</a:t>
            </a:r>
            <a:endParaRPr lang="en-US" sz="950" dirty="0"/>
          </a:p>
        </p:txBody>
      </p:sp>
      <p:sp>
        <p:nvSpPr>
          <p:cNvPr id="21" name="Shape 18"/>
          <p:cNvSpPr/>
          <p:nvPr/>
        </p:nvSpPr>
        <p:spPr>
          <a:xfrm>
            <a:off x="6755130" y="1280160"/>
            <a:ext cx="1977390" cy="2011680"/>
          </a:xfrm>
          <a:prstGeom prst="roundRect">
            <a:avLst>
              <a:gd name="adj" fmla="val 3699"/>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Close the loop</a:t>
            </a:r>
            <a:endParaRPr lang="en-US" sz="1200" dirty="0"/>
          </a:p>
        </p:txBody>
      </p:sp>
      <p:sp>
        <p:nvSpPr>
          <p:cNvPr id="25" name="Text 22"/>
          <p:cNvSpPr txBox="1"/>
          <p:nvPr/>
        </p:nvSpPr>
        <p:spPr>
          <a:xfrm>
            <a:off x="691972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remind them to leave clear notes, block the pairing.</a:t>
            </a:r>
            <a:endParaRPr lang="en-US" sz="950" dirty="0"/>
          </a:p>
        </p:txBody>
      </p:sp>
      <p:sp>
        <p:nvSpPr>
          <p:cNvPr id="26" name="Shape 23"/>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584448"/>
            <a:ext cx="164592" cy="164592"/>
          </a:xfrm>
          <a:prstGeom prst="rect">
            <a:avLst/>
          </a:prstGeom>
        </p:spPr>
      </p:pic>
      <p:sp>
        <p:nvSpPr>
          <p:cNvPr id="28" name="Text 24"/>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refund first?  </a:t>
            </a:r>
            <a:pPr indent="0" marL="0">
              <a:buNone/>
            </a:pPr>
            <a:r>
              <a:rPr lang="en-US" sz="1000" dirty="0">
                <a:solidFill>
                  <a:srgbClr val="1D1D1F"/>
                </a:solidFill>
                <a:latin typeface="SF Pro Text" pitchFamily="34" charset="0"/>
                <a:ea typeface="SF Pro Text" pitchFamily="34" charset="-122"/>
                <a:cs typeface="SF Pro Text" pitchFamily="34" charset="-120"/>
              </a:rPr>
              <a:t>it protects the customer's money without making them wait on an investigation.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brought a helper, worked half the duration, and charged in full.</a:t>
            </a:r>
            <a:endParaRPr lang="en-US" sz="1200" dirty="0"/>
          </a:p>
        </p:txBody>
      </p:sp>
      <p:sp>
        <p:nvSpPr>
          <p:cNvPr id="6" name="Shape 3"/>
          <p:cNvSpPr/>
          <p:nvPr/>
        </p:nvSpPr>
        <p:spPr>
          <a:xfrm>
            <a:off x="411480" y="1325880"/>
            <a:ext cx="40919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authorized it</a:t>
            </a:r>
            <a:endParaRPr lang="en-US" sz="1200" dirty="0"/>
          </a:p>
        </p:txBody>
      </p:sp>
      <p:sp>
        <p:nvSpPr>
          <p:cNvPr id="10" name="Text 6"/>
          <p:cNvSpPr txBox="1"/>
          <p:nvPr/>
        </p:nvSpPr>
        <p:spPr>
          <a:xfrm>
            <a:off x="576072" y="2221992"/>
            <a:ext cx="37627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them records show they did. Address other pain points. No penalty.</a:t>
            </a:r>
            <a:endParaRPr lang="en-US" sz="950" dirty="0"/>
          </a:p>
        </p:txBody>
      </p:sp>
      <p:sp>
        <p:nvSpPr>
          <p:cNvPr id="11" name="Shape 7"/>
          <p:cNvSpPr/>
          <p:nvPr/>
        </p:nvSpPr>
        <p:spPr>
          <a:xfrm>
            <a:off x="4640580" y="1325880"/>
            <a:ext cx="40919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authorization</a:t>
            </a:r>
            <a:endParaRPr lang="en-US" sz="1200" dirty="0"/>
          </a:p>
        </p:txBody>
      </p:sp>
      <p:sp>
        <p:nvSpPr>
          <p:cNvPr id="15" name="Text 10"/>
          <p:cNvSpPr txBox="1"/>
          <p:nvPr/>
        </p:nvSpPr>
        <p:spPr>
          <a:xfrm>
            <a:off x="4805172" y="2221992"/>
            <a:ext cx="37627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Main flow: request documentation. Coach: helpers need permission.</a:t>
            </a:r>
            <a:endParaRPr lang="en-US" sz="950" dirty="0"/>
          </a:p>
        </p:txBody>
      </p:sp>
      <p:sp>
        <p:nvSpPr>
          <p:cNvPr id="16" name="Shape 11"/>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355848"/>
            <a:ext cx="164592" cy="164592"/>
          </a:xfrm>
          <a:prstGeom prst="rect">
            <a:avLst/>
          </a:prstGeom>
        </p:spPr>
      </p:pic>
      <p:sp>
        <p:nvSpPr>
          <p:cNvPr id="18" name="Text 12"/>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(cleaner-caused): 8 steps</a:t>
            </a:r>
            <a:endParaRPr lang="en-US" sz="2400" dirty="0"/>
          </a:p>
        </p:txBody>
      </p:sp>
      <p:sp>
        <p:nvSpPr>
          <p:cNvPr id="5" name="Shape 2"/>
          <p:cNvSpPr/>
          <p:nvPr/>
        </p:nvSpPr>
        <p:spPr>
          <a:xfrm>
            <a:off x="411480" y="114300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2588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a:t>
            </a:r>
            <a:endParaRPr lang="en-US" sz="1200" dirty="0"/>
          </a:p>
        </p:txBody>
      </p:sp>
      <p:sp>
        <p:nvSpPr>
          <p:cNvPr id="9" name="Text 6"/>
          <p:cNvSpPr txBox="1"/>
          <p:nvPr/>
        </p:nvSpPr>
        <p:spPr>
          <a:xfrm>
            <a:off x="5760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a:t>
            </a:r>
            <a:endParaRPr lang="en-US" sz="950" dirty="0"/>
          </a:p>
        </p:txBody>
      </p:sp>
      <p:sp>
        <p:nvSpPr>
          <p:cNvPr id="10" name="Shape 7"/>
          <p:cNvSpPr/>
          <p:nvPr/>
        </p:nvSpPr>
        <p:spPr>
          <a:xfrm>
            <a:off x="2526030" y="1143000"/>
            <a:ext cx="1977390" cy="1600200"/>
          </a:xfrm>
          <a:prstGeom prst="roundRect">
            <a:avLst>
              <a:gd name="adj" fmla="val 4571"/>
            </a:avLst>
          </a:prstGeom>
          <a:solidFill>
            <a:srgbClr val="FFFFFF"/>
          </a:solidFill>
          <a:ln w="9525">
            <a:solidFill>
              <a:srgbClr val="DCE1E7"/>
            </a:solidFill>
            <a:prstDash val="solid"/>
          </a:ln>
        </p:spPr>
      </p:sp>
      <p:sp>
        <p:nvSpPr>
          <p:cNvPr id="11" name="Shape 8"/>
          <p:cNvSpPr/>
          <p:nvPr/>
        </p:nvSpPr>
        <p:spPr>
          <a:xfrm>
            <a:off x="2690622" y="1325880"/>
            <a:ext cx="274320" cy="274320"/>
          </a:xfrm>
          <a:prstGeom prst="ellipse">
            <a:avLst/>
          </a:prstGeom>
          <a:solidFill>
            <a:srgbClr val="E3F4F1"/>
          </a:solidFill>
          <a:ln w="12700">
            <a:solidFill>
              <a:srgbClr val="E3F4F1"/>
            </a:solidFill>
            <a:prstDash val="solid"/>
          </a:ln>
        </p:spPr>
      </p:sp>
      <p:sp>
        <p:nvSpPr>
          <p:cNvPr id="12" name="Text 9"/>
          <p:cNvSpPr txBox="1"/>
          <p:nvPr/>
        </p:nvSpPr>
        <p:spPr>
          <a:xfrm>
            <a:off x="26906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26906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flag</a:t>
            </a:r>
            <a:endParaRPr lang="en-US" sz="1200" dirty="0"/>
          </a:p>
        </p:txBody>
      </p:sp>
      <p:sp>
        <p:nvSpPr>
          <p:cNvPr id="14" name="Text 11"/>
          <p:cNvSpPr txBox="1"/>
          <p:nvPr/>
        </p:nvSpPr>
        <p:spPr>
          <a:xfrm>
            <a:off x="26906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on this job?</a:t>
            </a:r>
            <a:endParaRPr lang="en-US" sz="950" dirty="0"/>
          </a:p>
        </p:txBody>
      </p:sp>
      <p:sp>
        <p:nvSpPr>
          <p:cNvPr id="15" name="Shape 12"/>
          <p:cNvSpPr/>
          <p:nvPr/>
        </p:nvSpPr>
        <p:spPr>
          <a:xfrm>
            <a:off x="4640580" y="1143000"/>
            <a:ext cx="1977390" cy="1600200"/>
          </a:xfrm>
          <a:prstGeom prst="roundRect">
            <a:avLst>
              <a:gd name="adj" fmla="val 4571"/>
            </a:avLst>
          </a:prstGeom>
          <a:solidFill>
            <a:srgbClr val="FFFFFF"/>
          </a:solidFill>
          <a:ln w="9525">
            <a:solidFill>
              <a:srgbClr val="DCE1E7"/>
            </a:solidFill>
            <a:prstDash val="solid"/>
          </a:ln>
        </p:spPr>
      </p:sp>
      <p:sp>
        <p:nvSpPr>
          <p:cNvPr id="16" name="Shape 13"/>
          <p:cNvSpPr/>
          <p:nvPr/>
        </p:nvSpPr>
        <p:spPr>
          <a:xfrm>
            <a:off x="4805172" y="1325880"/>
            <a:ext cx="274320" cy="274320"/>
          </a:xfrm>
          <a:prstGeom prst="ellipse">
            <a:avLst/>
          </a:prstGeom>
          <a:solidFill>
            <a:srgbClr val="E3F4F1"/>
          </a:solidFill>
          <a:ln w="12700">
            <a:solidFill>
              <a:srgbClr val="E3F4F1"/>
            </a:solidFill>
            <a:prstDash val="solid"/>
          </a:ln>
        </p:spPr>
      </p:sp>
      <p:sp>
        <p:nvSpPr>
          <p:cNvPr id="17" name="Text 14"/>
          <p:cNvSpPr txBox="1"/>
          <p:nvPr/>
        </p:nvSpPr>
        <p:spPr>
          <a:xfrm>
            <a:off x="48051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8" name="Text 15"/>
          <p:cNvSpPr txBox="1"/>
          <p:nvPr/>
        </p:nvSpPr>
        <p:spPr>
          <a:xfrm>
            <a:off x="48051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or add it</a:t>
            </a:r>
            <a:endParaRPr lang="en-US" sz="1200" dirty="0"/>
          </a:p>
        </p:txBody>
      </p:sp>
      <p:sp>
        <p:nvSpPr>
          <p:cNvPr id="19" name="Text 16"/>
          <p:cNvSpPr txBox="1"/>
          <p:nvPr/>
        </p:nvSpPr>
        <p:spPr>
          <a:xfrm>
            <a:off x="48051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Include the ID triplet</a:t>
            </a:r>
            <a:endParaRPr lang="en-US" sz="950" dirty="0"/>
          </a:p>
        </p:txBody>
      </p:sp>
      <p:sp>
        <p:nvSpPr>
          <p:cNvPr id="20" name="Shape 17"/>
          <p:cNvSpPr/>
          <p:nvPr/>
        </p:nvSpPr>
        <p:spPr>
          <a:xfrm>
            <a:off x="6755130" y="1143000"/>
            <a:ext cx="1977390" cy="1600200"/>
          </a:xfrm>
          <a:prstGeom prst="roundRect">
            <a:avLst>
              <a:gd name="adj" fmla="val 4571"/>
            </a:avLst>
          </a:prstGeom>
          <a:solidFill>
            <a:srgbClr val="FFFFFF"/>
          </a:solidFill>
          <a:ln w="9525">
            <a:solidFill>
              <a:srgbClr val="DCE1E7"/>
            </a:solidFill>
            <a:prstDash val="solid"/>
          </a:ln>
        </p:spPr>
      </p:sp>
      <p:sp>
        <p:nvSpPr>
          <p:cNvPr id="21" name="Shape 18"/>
          <p:cNvSpPr/>
          <p:nvPr/>
        </p:nvSpPr>
        <p:spPr>
          <a:xfrm>
            <a:off x="6919722" y="1325880"/>
            <a:ext cx="274320" cy="274320"/>
          </a:xfrm>
          <a:prstGeom prst="ellipse">
            <a:avLst/>
          </a:prstGeom>
          <a:solidFill>
            <a:srgbClr val="E3F4F1"/>
          </a:solidFill>
          <a:ln w="12700">
            <a:solidFill>
              <a:srgbClr val="E3F4F1"/>
            </a:solidFill>
            <a:prstDash val="solid"/>
          </a:ln>
        </p:spPr>
      </p:sp>
      <p:sp>
        <p:nvSpPr>
          <p:cNvPr id="22" name="Text 19"/>
          <p:cNvSpPr txBox="1"/>
          <p:nvPr/>
        </p:nvSpPr>
        <p:spPr>
          <a:xfrm>
            <a:off x="69197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20"/>
          <p:cNvSpPr txBox="1"/>
          <p:nvPr/>
        </p:nvSpPr>
        <p:spPr>
          <a:xfrm>
            <a:off x="69197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Penalize</a:t>
            </a:r>
            <a:endParaRPr lang="en-US" sz="1200" dirty="0"/>
          </a:p>
        </p:txBody>
      </p:sp>
      <p:sp>
        <p:nvSpPr>
          <p:cNvPr id="24" name="Text 21"/>
          <p:cNvSpPr txBox="1"/>
          <p:nvPr/>
        </p:nvSpPr>
        <p:spPr>
          <a:xfrm>
            <a:off x="69197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Issues Table first</a:t>
            </a:r>
            <a:endParaRPr lang="en-US" sz="950" dirty="0"/>
          </a:p>
        </p:txBody>
      </p:sp>
      <p:sp>
        <p:nvSpPr>
          <p:cNvPr id="25" name="Shape 22"/>
          <p:cNvSpPr/>
          <p:nvPr/>
        </p:nvSpPr>
        <p:spPr>
          <a:xfrm>
            <a:off x="411480" y="2880360"/>
            <a:ext cx="1977390" cy="1600200"/>
          </a:xfrm>
          <a:prstGeom prst="roundRect">
            <a:avLst>
              <a:gd name="adj" fmla="val 4571"/>
            </a:avLst>
          </a:prstGeom>
          <a:solidFill>
            <a:srgbClr val="FFFFFF"/>
          </a:solidFill>
          <a:ln w="9525">
            <a:solidFill>
              <a:srgbClr val="DCE1E7"/>
            </a:solidFill>
            <a:prstDash val="solid"/>
          </a:ln>
        </p:spPr>
      </p:sp>
      <p:sp>
        <p:nvSpPr>
          <p:cNvPr id="26" name="Shape 23"/>
          <p:cNvSpPr/>
          <p:nvPr/>
        </p:nvSpPr>
        <p:spPr>
          <a:xfrm>
            <a:off x="576072" y="3063240"/>
            <a:ext cx="274320" cy="274320"/>
          </a:xfrm>
          <a:prstGeom prst="ellipse">
            <a:avLst/>
          </a:prstGeom>
          <a:solidFill>
            <a:srgbClr val="E3F4F1"/>
          </a:solidFill>
          <a:ln w="12700">
            <a:solidFill>
              <a:srgbClr val="E3F4F1"/>
            </a:solidFill>
            <a:prstDash val="solid"/>
          </a:ln>
        </p:spPr>
      </p:sp>
      <p:sp>
        <p:nvSpPr>
          <p:cNvPr id="27" name="Text 24"/>
          <p:cNvSpPr txBox="1"/>
          <p:nvPr/>
        </p:nvSpPr>
        <p:spPr>
          <a:xfrm>
            <a:off x="5760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8" name="Text 25"/>
          <p:cNvSpPr txBox="1"/>
          <p:nvPr/>
        </p:nvSpPr>
        <p:spPr>
          <a:xfrm>
            <a:off x="5760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29" name="Text 26"/>
          <p:cNvSpPr txBox="1"/>
          <p:nvPr/>
        </p:nvSpPr>
        <p:spPr>
          <a:xfrm>
            <a:off x="5760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or cancel, never invoice</a:t>
            </a:r>
            <a:endParaRPr lang="en-US" sz="950" dirty="0"/>
          </a:p>
        </p:txBody>
      </p:sp>
      <p:sp>
        <p:nvSpPr>
          <p:cNvPr id="30" name="Shape 27"/>
          <p:cNvSpPr/>
          <p:nvPr/>
        </p:nvSpPr>
        <p:spPr>
          <a:xfrm>
            <a:off x="2526030" y="2880360"/>
            <a:ext cx="1977390" cy="1600200"/>
          </a:xfrm>
          <a:prstGeom prst="roundRect">
            <a:avLst>
              <a:gd name="adj" fmla="val 4571"/>
            </a:avLst>
          </a:prstGeom>
          <a:solidFill>
            <a:srgbClr val="FFFFFF"/>
          </a:solidFill>
          <a:ln w="9525">
            <a:solidFill>
              <a:srgbClr val="DCE1E7"/>
            </a:solidFill>
            <a:prstDash val="solid"/>
          </a:ln>
        </p:spPr>
      </p:sp>
      <p:sp>
        <p:nvSpPr>
          <p:cNvPr id="31" name="Shape 28"/>
          <p:cNvSpPr/>
          <p:nvPr/>
        </p:nvSpPr>
        <p:spPr>
          <a:xfrm>
            <a:off x="2690622" y="3063240"/>
            <a:ext cx="274320" cy="274320"/>
          </a:xfrm>
          <a:prstGeom prst="ellipse">
            <a:avLst/>
          </a:prstGeom>
          <a:solidFill>
            <a:srgbClr val="E3F4F1"/>
          </a:solidFill>
          <a:ln w="12700">
            <a:solidFill>
              <a:srgbClr val="E3F4F1"/>
            </a:solidFill>
            <a:prstDash val="solid"/>
          </a:ln>
        </p:spPr>
      </p:sp>
      <p:sp>
        <p:nvSpPr>
          <p:cNvPr id="32" name="Text 29"/>
          <p:cNvSpPr txBox="1"/>
          <p:nvPr/>
        </p:nvSpPr>
        <p:spPr>
          <a:xfrm>
            <a:off x="26906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3" name="Text 30"/>
          <p:cNvSpPr txBox="1"/>
          <p:nvPr/>
        </p:nvSpPr>
        <p:spPr>
          <a:xfrm>
            <a:off x="26906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34" name="Text 31"/>
          <p:cNvSpPr txBox="1"/>
          <p:nvPr/>
        </p:nvSpPr>
        <p:spPr>
          <a:xfrm>
            <a:off x="26906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a:t>
            </a:r>
            <a:endParaRPr lang="en-US" sz="950" dirty="0"/>
          </a:p>
        </p:txBody>
      </p:sp>
      <p:sp>
        <p:nvSpPr>
          <p:cNvPr id="35" name="Shape 32"/>
          <p:cNvSpPr/>
          <p:nvPr/>
        </p:nvSpPr>
        <p:spPr>
          <a:xfrm>
            <a:off x="4640580" y="2880360"/>
            <a:ext cx="1977390" cy="1600200"/>
          </a:xfrm>
          <a:prstGeom prst="roundRect">
            <a:avLst>
              <a:gd name="adj" fmla="val 4571"/>
            </a:avLst>
          </a:prstGeom>
          <a:solidFill>
            <a:srgbClr val="FFFFFF"/>
          </a:solidFill>
          <a:ln w="9525">
            <a:solidFill>
              <a:srgbClr val="DCE1E7"/>
            </a:solidFill>
            <a:prstDash val="solid"/>
          </a:ln>
        </p:spPr>
      </p:sp>
      <p:sp>
        <p:nvSpPr>
          <p:cNvPr id="36" name="Shape 33"/>
          <p:cNvSpPr/>
          <p:nvPr/>
        </p:nvSpPr>
        <p:spPr>
          <a:xfrm>
            <a:off x="4805172" y="3063240"/>
            <a:ext cx="274320" cy="274320"/>
          </a:xfrm>
          <a:prstGeom prst="ellipse">
            <a:avLst/>
          </a:prstGeom>
          <a:solidFill>
            <a:srgbClr val="E3F4F1"/>
          </a:solidFill>
          <a:ln w="12700">
            <a:solidFill>
              <a:srgbClr val="E3F4F1"/>
            </a:solidFill>
            <a:prstDash val="solid"/>
          </a:ln>
        </p:spPr>
      </p:sp>
      <p:sp>
        <p:nvSpPr>
          <p:cNvPr id="37" name="Text 34"/>
          <p:cNvSpPr txBox="1"/>
          <p:nvPr/>
        </p:nvSpPr>
        <p:spPr>
          <a:xfrm>
            <a:off x="48051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38" name="Text 35"/>
          <p:cNvSpPr txBox="1"/>
          <p:nvPr/>
        </p:nvSpPr>
        <p:spPr>
          <a:xfrm>
            <a:off x="48051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39" name="Text 36"/>
          <p:cNvSpPr txBox="1"/>
          <p:nvPr/>
        </p:nvSpPr>
        <p:spPr>
          <a:xfrm>
            <a:off x="48051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customer wants them</a:t>
            </a:r>
            <a:endParaRPr lang="en-US" sz="950" dirty="0"/>
          </a:p>
        </p:txBody>
      </p:sp>
      <p:sp>
        <p:nvSpPr>
          <p:cNvPr id="40" name="Shape 37"/>
          <p:cNvSpPr/>
          <p:nvPr/>
        </p:nvSpPr>
        <p:spPr>
          <a:xfrm>
            <a:off x="6755130" y="2880360"/>
            <a:ext cx="1977390" cy="1600200"/>
          </a:xfrm>
          <a:prstGeom prst="roundRect">
            <a:avLst>
              <a:gd name="adj" fmla="val 4571"/>
            </a:avLst>
          </a:prstGeom>
          <a:solidFill>
            <a:srgbClr val="FFFFFF"/>
          </a:solidFill>
          <a:ln w="9525">
            <a:solidFill>
              <a:srgbClr val="DCE1E7"/>
            </a:solidFill>
            <a:prstDash val="solid"/>
          </a:ln>
        </p:spPr>
      </p:sp>
      <p:sp>
        <p:nvSpPr>
          <p:cNvPr id="41" name="Shape 38"/>
          <p:cNvSpPr/>
          <p:nvPr/>
        </p:nvSpPr>
        <p:spPr>
          <a:xfrm>
            <a:off x="6919722" y="3063240"/>
            <a:ext cx="274320" cy="274320"/>
          </a:xfrm>
          <a:prstGeom prst="ellipse">
            <a:avLst/>
          </a:prstGeom>
          <a:solidFill>
            <a:srgbClr val="E3F4F1"/>
          </a:solidFill>
          <a:ln w="12700">
            <a:solidFill>
              <a:srgbClr val="E3F4F1"/>
            </a:solidFill>
            <a:prstDash val="solid"/>
          </a:ln>
        </p:spPr>
      </p:sp>
      <p:sp>
        <p:nvSpPr>
          <p:cNvPr id="42" name="Text 39"/>
          <p:cNvSpPr txBox="1"/>
          <p:nvPr/>
        </p:nvSpPr>
        <p:spPr>
          <a:xfrm>
            <a:off x="69197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8</a:t>
            </a:r>
            <a:endParaRPr lang="en-US" sz="900" dirty="0"/>
          </a:p>
        </p:txBody>
      </p:sp>
      <p:sp>
        <p:nvSpPr>
          <p:cNvPr id="43" name="Text 40"/>
          <p:cNvSpPr txBox="1"/>
          <p:nvPr/>
        </p:nvSpPr>
        <p:spPr>
          <a:xfrm>
            <a:off x="69197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Tell the customer</a:t>
            </a:r>
            <a:endParaRPr lang="en-US" sz="1200" dirty="0"/>
          </a:p>
        </p:txBody>
      </p:sp>
      <p:sp>
        <p:nvSpPr>
          <p:cNvPr id="44" name="Text 41"/>
          <p:cNvSpPr txBox="1"/>
          <p:nvPr/>
        </p:nvSpPr>
        <p:spPr>
          <a:xfrm>
            <a:off x="69197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in 5–10 business days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2026-10-05T15:21:46Z</dcterms:created>
  <dcterms:modified xsi:type="dcterms:W3CDTF">2026-10-05T15:21:46Z</dcterms:modified>
</cp:coreProperties>
</file>