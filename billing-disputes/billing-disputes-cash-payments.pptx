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right response depends on two things you check before deciding anything: is the CP who rescheduled still assigned to the job, and how far away is the original start time now? Skipping these can mean rebooking into a slot that creates a new Priority Fee, or penalizing a CP who has already been swapped off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still assigned: add the cp_unauthorized_reschedule flag to the CP's account and update their CP Step if warranted, then check how far away the original start time is (next slide). No, no longer assigned: review the CP's account for prior instances and update their CP Step if warranted; send the CP coaching comms using the applicable Comms Kit macro; offer the customer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Already in the past: follow AG: Pending Invoice's completion-verification steps, whether the job is Pending Invoice or Claimed. Job already cancelled/invoiced: offer a Priority Booking and address any other pain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and Unauthorized Reschedule (still assigned? how far is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to book a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cancelled the job</a:t>
            </a:r>
            <a:endParaRPr lang="en-US" sz="1000" dirty="0"/>
          </a:p>
        </p:txBody>
      </p:sp>
      <p:sp>
        <p:nvSpPr>
          <p:cNvPr id="10" name="Shape 6"/>
          <p:cNvSpPr/>
          <p:nvPr/>
        </p:nvSpPr>
        <p:spPr>
          <a:xfrm>
            <a:off x="2080260" y="1481328"/>
            <a:ext cx="0" cy="109728"/>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From the CP Dashboard, or by texting the customer cancellation intent.</a:t>
            </a:r>
            <a:endParaRPr lang="en-US" sz="850" dirty="0"/>
          </a:p>
        </p:txBody>
      </p:sp>
      <p:sp>
        <p:nvSpPr>
          <p:cNvPr id="13" name="Shape 9"/>
          <p:cNvSpPr/>
          <p:nvPr/>
        </p:nvSpPr>
        <p:spPr>
          <a:xfrm>
            <a:off x="457200" y="1591056"/>
            <a:ext cx="3246120" cy="384048"/>
          </a:xfrm>
          <a:prstGeom prst="roundRect">
            <a:avLst>
              <a:gd name="adj" fmla="val 19048"/>
            </a:avLst>
          </a:prstGeom>
          <a:solidFill>
            <a:srgbClr val="0B7A6F"/>
          </a:solidFill>
          <a:ln w="12700">
            <a:solidFill>
              <a:srgbClr val="0B7A6F"/>
            </a:solidFill>
            <a:prstDash val="solid"/>
          </a:ln>
        </p:spPr>
      </p:sp>
      <p:sp>
        <p:nvSpPr>
          <p:cNvPr id="14" name="Text 10"/>
          <p:cNvSpPr txBox="1"/>
          <p:nvPr/>
        </p:nvSpPr>
        <p:spPr>
          <a:xfrm>
            <a:off x="457200" y="15910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Attempt to rematch first</a:t>
            </a:r>
            <a:endParaRPr lang="en-US" sz="1000" dirty="0"/>
          </a:p>
        </p:txBody>
      </p:sp>
      <p:sp>
        <p:nvSpPr>
          <p:cNvPr id="15" name="Shape 11"/>
          <p:cNvSpPr/>
          <p:nvPr/>
        </p:nvSpPr>
        <p:spPr>
          <a:xfrm>
            <a:off x="2080260" y="1975104"/>
            <a:ext cx="0" cy="109728"/>
          </a:xfrm>
          <a:prstGeom prst="line">
            <a:avLst/>
          </a:prstGeom>
          <a:noFill/>
          <a:ln w="12700">
            <a:solidFill>
              <a:srgbClr val="6E6E73"/>
            </a:solidFill>
            <a:prstDash val="solid"/>
            <a:tailEnd type="triangle"/>
          </a:ln>
        </p:spPr>
      </p:sp>
      <p:sp>
        <p:nvSpPr>
          <p:cNvPr id="16" name="Shape 12"/>
          <p:cNvSpPr/>
          <p:nvPr/>
        </p:nvSpPr>
        <p:spPr>
          <a:xfrm>
            <a:off x="3703320" y="1783080"/>
            <a:ext cx="182880" cy="0"/>
          </a:xfrm>
          <a:prstGeom prst="line">
            <a:avLst/>
          </a:prstGeom>
          <a:noFill/>
          <a:ln w="12700">
            <a:solidFill>
              <a:srgbClr val="6E6E73"/>
            </a:solidFill>
            <a:prstDash val="solid"/>
          </a:ln>
        </p:spPr>
      </p:sp>
      <p:sp>
        <p:nvSpPr>
          <p:cNvPr id="17" name="type2Desc"/>
          <p:cNvSpPr txBox="1"/>
          <p:nvPr/>
        </p:nvSpPr>
        <p:spPr>
          <a:xfrm>
            <a:off x="3977640" y="15544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Still a chance to match another CP? Take that route so the customer still gets their cleaning.</a:t>
            </a:r>
            <a:endParaRPr lang="en-US" sz="850" dirty="0"/>
          </a:p>
        </p:txBody>
      </p:sp>
      <p:sp>
        <p:nvSpPr>
          <p:cNvPr id="18" name="Shape 14"/>
          <p:cNvSpPr/>
          <p:nvPr/>
        </p:nvSpPr>
        <p:spPr>
          <a:xfrm>
            <a:off x="457200" y="2084832"/>
            <a:ext cx="3246120" cy="384048"/>
          </a:xfrm>
          <a:prstGeom prst="roundRect">
            <a:avLst>
              <a:gd name="adj" fmla="val 19048"/>
            </a:avLst>
          </a:prstGeom>
          <a:solidFill>
            <a:srgbClr val="FFF3D6"/>
          </a:solidFill>
          <a:ln w="12700">
            <a:solidFill>
              <a:srgbClr val="9A6410"/>
            </a:solidFill>
            <a:prstDash val="solid"/>
          </a:ln>
        </p:spPr>
      </p:sp>
      <p:sp>
        <p:nvSpPr>
          <p:cNvPr id="19" name="Text 15"/>
          <p:cNvSpPr txBox="1"/>
          <p:nvPr/>
        </p:nvSpPr>
        <p:spPr>
          <a:xfrm>
            <a:off x="457200" y="20848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the resolution table</a:t>
            </a:r>
            <a:endParaRPr lang="en-US" sz="1000" dirty="0"/>
          </a:p>
        </p:txBody>
      </p:sp>
      <p:sp>
        <p:nvSpPr>
          <p:cNvPr id="20" name="Shape 16"/>
          <p:cNvSpPr/>
          <p:nvPr/>
        </p:nvSpPr>
        <p:spPr>
          <a:xfrm>
            <a:off x="2080260" y="2468880"/>
            <a:ext cx="0" cy="109728"/>
          </a:xfrm>
          <a:prstGeom prst="line">
            <a:avLst/>
          </a:prstGeom>
          <a:noFill/>
          <a:ln w="12700">
            <a:solidFill>
              <a:srgbClr val="6E6E73"/>
            </a:solidFill>
            <a:prstDash val="solid"/>
            <a:tailEnd type="triangle"/>
          </a:ln>
        </p:spPr>
      </p:sp>
      <p:sp>
        <p:nvSpPr>
          <p:cNvPr id="21" name="Shape 17"/>
          <p:cNvSpPr/>
          <p:nvPr/>
        </p:nvSpPr>
        <p:spPr>
          <a:xfrm>
            <a:off x="3703320" y="2276856"/>
            <a:ext cx="182880" cy="0"/>
          </a:xfrm>
          <a:prstGeom prst="line">
            <a:avLst/>
          </a:prstGeom>
          <a:noFill/>
          <a:ln w="12700">
            <a:solidFill>
              <a:srgbClr val="6E6E73"/>
            </a:solidFill>
            <a:prstDash val="solid"/>
          </a:ln>
        </p:spPr>
      </p:sp>
      <p:sp>
        <p:nvSpPr>
          <p:cNvPr id="22" name="type3Desc"/>
          <p:cNvSpPr txBox="1"/>
          <p:nvPr/>
        </p:nvSpPr>
        <p:spPr>
          <a:xfrm>
            <a:off x="3977640" y="2048256"/>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Credits and free months, weighed against emotional state, refund/cancel intent and existing credits or vouchers.</a:t>
            </a:r>
            <a:endParaRPr lang="en-US" sz="850" dirty="0"/>
          </a:p>
        </p:txBody>
      </p:sp>
      <p:sp>
        <p:nvSpPr>
          <p:cNvPr id="23" name="Shape 19"/>
          <p:cNvSpPr/>
          <p:nvPr/>
        </p:nvSpPr>
        <p:spPr>
          <a:xfrm>
            <a:off x="457200" y="2578608"/>
            <a:ext cx="3246120" cy="384048"/>
          </a:xfrm>
          <a:prstGeom prst="roundRect">
            <a:avLst>
              <a:gd name="adj" fmla="val 19048"/>
            </a:avLst>
          </a:prstGeom>
          <a:solidFill>
            <a:srgbClr val="0B7A6F"/>
          </a:solidFill>
          <a:ln w="12700">
            <a:solidFill>
              <a:srgbClr val="0B7A6F"/>
            </a:solidFill>
            <a:prstDash val="solid"/>
          </a:ln>
        </p:spPr>
      </p:sp>
      <p:sp>
        <p:nvSpPr>
          <p:cNvPr id="24" name="Text 20"/>
          <p:cNvSpPr txBox="1"/>
          <p:nvPr/>
        </p:nvSpPr>
        <p:spPr>
          <a:xfrm>
            <a:off x="457200" y="2578608"/>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Offer a Priority Booking</a:t>
            </a:r>
            <a:endParaRPr lang="en-US" sz="1000" dirty="0"/>
          </a:p>
        </p:txBody>
      </p:sp>
      <p:sp>
        <p:nvSpPr>
          <p:cNvPr id="25" name="Shape 21"/>
          <p:cNvSpPr/>
          <p:nvPr/>
        </p:nvSpPr>
        <p:spPr>
          <a:xfrm>
            <a:off x="2080260" y="2962656"/>
            <a:ext cx="0" cy="109728"/>
          </a:xfrm>
          <a:prstGeom prst="line">
            <a:avLst/>
          </a:prstGeom>
          <a:noFill/>
          <a:ln w="12700">
            <a:solidFill>
              <a:srgbClr val="6E6E73"/>
            </a:solidFill>
            <a:prstDash val="solid"/>
            <a:tailEnd type="triangle"/>
          </a:ln>
        </p:spPr>
      </p:sp>
      <p:sp>
        <p:nvSpPr>
          <p:cNvPr id="26" name="Shape 22"/>
          <p:cNvSpPr/>
          <p:nvPr/>
        </p:nvSpPr>
        <p:spPr>
          <a:xfrm>
            <a:off x="3703320" y="2770632"/>
            <a:ext cx="182880" cy="0"/>
          </a:xfrm>
          <a:prstGeom prst="line">
            <a:avLst/>
          </a:prstGeom>
          <a:noFill/>
          <a:ln w="12700">
            <a:solidFill>
              <a:srgbClr val="6E6E73"/>
            </a:solidFill>
            <a:prstDash val="solid"/>
          </a:ln>
        </p:spPr>
      </p:sp>
      <p:sp>
        <p:nvSpPr>
          <p:cNvPr id="27" name="type4Desc"/>
          <p:cNvSpPr txBox="1"/>
          <p:nvPr/>
        </p:nvSpPr>
        <p:spPr>
          <a:xfrm>
            <a:off x="3977640" y="254203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didn't get the outcome they wanted: no reschedule option, an auto-picked time, or the job was cancelled.</a:t>
            </a:r>
            <a:endParaRPr lang="en-US" sz="850" dirty="0"/>
          </a:p>
        </p:txBody>
      </p:sp>
      <p:sp>
        <p:nvSpPr>
          <p:cNvPr id="28" name="Shape 24"/>
          <p:cNvSpPr/>
          <p:nvPr/>
        </p:nvSpPr>
        <p:spPr>
          <a:xfrm>
            <a:off x="457200" y="3072384"/>
            <a:ext cx="3246120" cy="384048"/>
          </a:xfrm>
          <a:prstGeom prst="roundRect">
            <a:avLst>
              <a:gd name="adj" fmla="val 19048"/>
            </a:avLst>
          </a:prstGeom>
          <a:solidFill>
            <a:srgbClr val="0B7A6F"/>
          </a:solidFill>
          <a:ln w="12700">
            <a:solidFill>
              <a:srgbClr val="0B7A6F"/>
            </a:solidFill>
            <a:prstDash val="solid"/>
          </a:ln>
        </p:spPr>
      </p:sp>
      <p:sp>
        <p:nvSpPr>
          <p:cNvPr id="29" name="Text 25"/>
          <p:cNvSpPr txBox="1"/>
          <p:nvPr/>
        </p:nvSpPr>
        <p:spPr>
          <a:xfrm>
            <a:off x="457200" y="3072384"/>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Block the C/CP pairing</a:t>
            </a:r>
            <a:endParaRPr lang="en-US" sz="1000" dirty="0"/>
          </a:p>
        </p:txBody>
      </p:sp>
      <p:sp>
        <p:nvSpPr>
          <p:cNvPr id="30" name="Shape 26"/>
          <p:cNvSpPr/>
          <p:nvPr/>
        </p:nvSpPr>
        <p:spPr>
          <a:xfrm>
            <a:off x="2080260" y="3456432"/>
            <a:ext cx="0" cy="109728"/>
          </a:xfrm>
          <a:prstGeom prst="line">
            <a:avLst/>
          </a:prstGeom>
          <a:noFill/>
          <a:ln w="12700">
            <a:solidFill>
              <a:srgbClr val="6E6E73"/>
            </a:solidFill>
            <a:prstDash val="solid"/>
            <a:tailEnd type="triangle"/>
          </a:ln>
        </p:spPr>
      </p:sp>
      <p:sp>
        <p:nvSpPr>
          <p:cNvPr id="31" name="Shape 27"/>
          <p:cNvSpPr/>
          <p:nvPr/>
        </p:nvSpPr>
        <p:spPr>
          <a:xfrm>
            <a:off x="3703320" y="3264408"/>
            <a:ext cx="182880" cy="0"/>
          </a:xfrm>
          <a:prstGeom prst="line">
            <a:avLst/>
          </a:prstGeom>
          <a:noFill/>
          <a:ln w="12700">
            <a:solidFill>
              <a:srgbClr val="6E6E73"/>
            </a:solidFill>
            <a:prstDash val="solid"/>
          </a:ln>
        </p:spPr>
      </p:sp>
      <p:sp>
        <p:nvSpPr>
          <p:cNvPr id="32" name="type5Desc"/>
          <p:cNvSpPr txBox="1"/>
          <p:nvPr/>
        </p:nvSpPr>
        <p:spPr>
          <a:xfrm>
            <a:off x="3977640" y="3035808"/>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So this CP can't claim the customer's jobs again.</a:t>
            </a:r>
            <a:endParaRPr lang="en-US" sz="850" dirty="0"/>
          </a:p>
        </p:txBody>
      </p:sp>
      <p:sp>
        <p:nvSpPr>
          <p:cNvPr id="33" name="Shape 29"/>
          <p:cNvSpPr/>
          <p:nvPr/>
        </p:nvSpPr>
        <p:spPr>
          <a:xfrm>
            <a:off x="457200" y="3566160"/>
            <a:ext cx="3246120" cy="384048"/>
          </a:xfrm>
          <a:prstGeom prst="roundRect">
            <a:avLst>
              <a:gd name="adj" fmla="val 19048"/>
            </a:avLst>
          </a:prstGeom>
          <a:solidFill>
            <a:srgbClr val="0B7A6F"/>
          </a:solidFill>
          <a:ln w="12700">
            <a:solidFill>
              <a:srgbClr val="0B7A6F"/>
            </a:solidFill>
            <a:prstDash val="solid"/>
          </a:ln>
        </p:spPr>
      </p:sp>
      <p:sp>
        <p:nvSpPr>
          <p:cNvPr id="34" name="Text 30"/>
          <p:cNvSpPr txBox="1"/>
          <p:nvPr/>
        </p:nvSpPr>
        <p:spPr>
          <a:xfrm>
            <a:off x="457200" y="356616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Send comms to C and CP</a:t>
            </a:r>
            <a:endParaRPr lang="en-US" sz="1000" dirty="0"/>
          </a:p>
        </p:txBody>
      </p:sp>
      <p:sp>
        <p:nvSpPr>
          <p:cNvPr id="35" name="Shape 31"/>
          <p:cNvSpPr/>
          <p:nvPr/>
        </p:nvSpPr>
        <p:spPr>
          <a:xfrm>
            <a:off x="2080260" y="3950208"/>
            <a:ext cx="0" cy="109728"/>
          </a:xfrm>
          <a:prstGeom prst="line">
            <a:avLst/>
          </a:prstGeom>
          <a:noFill/>
          <a:ln w="12700">
            <a:solidFill>
              <a:srgbClr val="6E6E73"/>
            </a:solidFill>
            <a:prstDash val="solid"/>
            <a:tailEnd type="triangle"/>
          </a:ln>
        </p:spPr>
      </p:sp>
      <p:sp>
        <p:nvSpPr>
          <p:cNvPr id="36" name="Shape 32"/>
          <p:cNvSpPr/>
          <p:nvPr/>
        </p:nvSpPr>
        <p:spPr>
          <a:xfrm>
            <a:off x="3703320" y="3758184"/>
            <a:ext cx="182880" cy="0"/>
          </a:xfrm>
          <a:prstGeom prst="line">
            <a:avLst/>
          </a:prstGeom>
          <a:noFill/>
          <a:ln w="12700">
            <a:solidFill>
              <a:srgbClr val="6E6E73"/>
            </a:solidFill>
            <a:prstDash val="solid"/>
          </a:ln>
        </p:spPr>
      </p:sp>
      <p:sp>
        <p:nvSpPr>
          <p:cNvPr id="37" name="type6Desc"/>
          <p:cNvSpPr txBox="1"/>
          <p:nvPr/>
        </p:nvSpPr>
        <p:spPr>
          <a:xfrm>
            <a:off x="3977640" y="352958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Coach the CP on reliability. Penalize as necessary.</a:t>
            </a:r>
            <a:endParaRPr lang="en-US" sz="850" dirty="0"/>
          </a:p>
        </p:txBody>
      </p:sp>
      <p:sp>
        <p:nvSpPr>
          <p:cNvPr id="38" name="Shape 34"/>
          <p:cNvSpPr/>
          <p:nvPr/>
        </p:nvSpPr>
        <p:spPr>
          <a:xfrm>
            <a:off x="457200" y="4059936"/>
            <a:ext cx="3246120" cy="384048"/>
          </a:xfrm>
          <a:prstGeom prst="roundRect">
            <a:avLst>
              <a:gd name="adj" fmla="val 19048"/>
            </a:avLst>
          </a:prstGeom>
          <a:solidFill>
            <a:srgbClr val="FFFFFF"/>
          </a:solidFill>
          <a:ln w="12700">
            <a:solidFill>
              <a:srgbClr val="DCE1E7"/>
            </a:solidFill>
            <a:prstDash val="solid"/>
          </a:ln>
        </p:spPr>
      </p:sp>
      <p:sp>
        <p:nvSpPr>
          <p:cNvPr id="39" name="Text 35"/>
          <p:cNvSpPr txBox="1"/>
          <p:nvPr/>
        </p:nvSpPr>
        <p:spPr>
          <a:xfrm>
            <a:off x="457200" y="4059936"/>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Check the CP's status</a:t>
            </a:r>
            <a:endParaRPr lang="en-US" sz="1000" dirty="0"/>
          </a:p>
        </p:txBody>
      </p:sp>
      <p:sp>
        <p:nvSpPr>
          <p:cNvPr id="40" name="Shape 36"/>
          <p:cNvSpPr/>
          <p:nvPr/>
        </p:nvSpPr>
        <p:spPr>
          <a:xfrm>
            <a:off x="3703320" y="4251960"/>
            <a:ext cx="182880" cy="0"/>
          </a:xfrm>
          <a:prstGeom prst="line">
            <a:avLst/>
          </a:prstGeom>
          <a:noFill/>
          <a:ln w="12700">
            <a:solidFill>
              <a:srgbClr val="6E6E73"/>
            </a:solidFill>
            <a:prstDash val="solid"/>
          </a:ln>
        </p:spPr>
      </p:sp>
      <p:sp>
        <p:nvSpPr>
          <p:cNvPr id="41" name="type7Desc"/>
          <p:cNvSpPr txBox="1"/>
          <p:nvPr/>
        </p:nvSpPr>
        <p:spPr>
          <a:xfrm>
            <a:off x="3977640" y="402336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System penalized? Leave it and coach. If not, coach; norequests only after a couple of cancellations or no-shows. Reason: cpq_cancel.</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1"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two things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Skipping straight to a fix can create a new Priority Fee, or penalize the wrong CP.</a:t>
            </a:r>
            <a:endParaRPr lang="en-US" sz="1200" dirty="0"/>
          </a:p>
        </p:txBody>
      </p:sp>
      <p:sp>
        <p:nvSpPr>
          <p:cNvPr id="6" name="Shape 3"/>
          <p:cNvSpPr/>
          <p:nvPr/>
        </p:nvSpPr>
        <p:spPr>
          <a:xfrm>
            <a:off x="411480" y="132588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Is the CP still assigned?</a:t>
            </a:r>
            <a:endParaRPr lang="en-US" sz="1200" dirty="0"/>
          </a:p>
        </p:txBody>
      </p:sp>
      <p:sp>
        <p:nvSpPr>
          <p:cNvPr id="10" name="Text 7"/>
          <p:cNvSpPr txBox="1"/>
          <p:nvPr/>
        </p:nvSpPr>
        <p:spPr>
          <a:xfrm>
            <a:off x="5760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Is the job still with the CP who rescheduled it?</a:t>
            </a:r>
            <a:endParaRPr lang="en-US" sz="950" dirty="0"/>
          </a:p>
        </p:txBody>
      </p:sp>
      <p:sp>
        <p:nvSpPr>
          <p:cNvPr id="11" name="Shape 8"/>
          <p:cNvSpPr/>
          <p:nvPr/>
        </p:nvSpPr>
        <p:spPr>
          <a:xfrm>
            <a:off x="4640580" y="1325880"/>
            <a:ext cx="4091940" cy="1691640"/>
          </a:xfrm>
          <a:prstGeom prst="roundRect">
            <a:avLst>
              <a:gd name="adj" fmla="val 4324"/>
            </a:avLst>
          </a:prstGeom>
          <a:solidFill>
            <a:srgbClr val="FFFFFF"/>
          </a:solidFill>
          <a:ln w="9525">
            <a:solidFill>
              <a:srgbClr val="DCE1E7"/>
            </a:solidFill>
            <a:prstDash val="solid"/>
          </a:ln>
        </p:spPr>
      </p:sp>
      <p:sp>
        <p:nvSpPr>
          <p:cNvPr id="12" name="Shape 9"/>
          <p:cNvSpPr/>
          <p:nvPr/>
        </p:nvSpPr>
        <p:spPr>
          <a:xfrm>
            <a:off x="48051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far is the original start?</a:t>
            </a:r>
            <a:endParaRPr lang="en-US" sz="1200" dirty="0"/>
          </a:p>
        </p:txBody>
      </p:sp>
      <p:sp>
        <p:nvSpPr>
          <p:cNvPr id="15" name="Text 12"/>
          <p:cNvSpPr txBox="1"/>
          <p:nvPr/>
        </p:nvSpPr>
        <p:spPr>
          <a:xfrm>
            <a:off x="4805172" y="222199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48 hours, 48 hours or less, already past, or the job is closed?</a:t>
            </a:r>
            <a:endParaRPr lang="en-US" sz="950" dirty="0"/>
          </a:p>
        </p:txBody>
      </p:sp>
      <p:sp>
        <p:nvSpPr>
          <p:cNvPr id="16" name="Shape 13"/>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7"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8" name="Text 14"/>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avoid creating a new Priority Fee, and don't penalize a CP who was already swapped off.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Step 1: is the job still assigned to the CP who rescheduled it?</a:t>
            </a:r>
            <a:endParaRPr lang="en-US" sz="1200" dirty="0"/>
          </a:p>
        </p:txBody>
      </p:sp>
      <p:sp>
        <p:nvSpPr>
          <p:cNvPr id="6" name="Shape 3"/>
          <p:cNvSpPr/>
          <p:nvPr/>
        </p:nvSpPr>
        <p:spPr>
          <a:xfrm>
            <a:off x="2834640" y="1280160"/>
            <a:ext cx="347472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834640" y="1280160"/>
            <a:ext cx="347472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8" name="Shape 5"/>
          <p:cNvSpPr/>
          <p:nvPr/>
        </p:nvSpPr>
        <p:spPr>
          <a:xfrm>
            <a:off x="4572000" y="1783080"/>
            <a:ext cx="0" cy="274320"/>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685800" y="2377440"/>
            <a:ext cx="3291840" cy="457200"/>
          </a:xfrm>
          <a:prstGeom prst="roundRect">
            <a:avLst>
              <a:gd name="adj" fmla="val 16000"/>
            </a:avLst>
          </a:prstGeom>
          <a:solidFill>
            <a:srgbClr val="0B7A6F"/>
          </a:solidFill>
          <a:ln w="12700">
            <a:solidFill>
              <a:srgbClr val="0B7A6F"/>
            </a:solidFill>
            <a:prstDash val="solid"/>
          </a:ln>
        </p:spPr>
      </p:sp>
      <p:sp>
        <p:nvSpPr>
          <p:cNvPr id="15" name="Text 12"/>
          <p:cNvSpPr txBox="1"/>
          <p:nvPr/>
        </p:nvSpPr>
        <p:spPr>
          <a:xfrm>
            <a:off x="68580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Add flag + check the start time</a:t>
            </a:r>
            <a:endParaRPr lang="en-US" sz="1000" dirty="0"/>
          </a:p>
        </p:txBody>
      </p:sp>
      <p:sp>
        <p:nvSpPr>
          <p:cNvPr id="16" name="Shape 13"/>
          <p:cNvSpPr/>
          <p:nvPr/>
        </p:nvSpPr>
        <p:spPr>
          <a:xfrm>
            <a:off x="5166360" y="2377440"/>
            <a:ext cx="3291840" cy="457200"/>
          </a:xfrm>
          <a:prstGeom prst="roundRect">
            <a:avLst>
              <a:gd name="adj" fmla="val 16000"/>
            </a:avLst>
          </a:prstGeom>
          <a:solidFill>
            <a:srgbClr val="1D1D1F"/>
          </a:solidFill>
          <a:ln w="12700">
            <a:solidFill>
              <a:srgbClr val="1D1D1F"/>
            </a:solidFill>
            <a:prstDash val="solid"/>
          </a:ln>
        </p:spPr>
      </p:sp>
      <p:sp>
        <p:nvSpPr>
          <p:cNvPr id="17" name="Text 14"/>
          <p:cNvSpPr txBox="1"/>
          <p:nvPr/>
        </p:nvSpPr>
        <p:spPr>
          <a:xfrm>
            <a:off x="5166360" y="2377440"/>
            <a:ext cx="32918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the CP + Priority Booking</a:t>
            </a:r>
            <a:endParaRPr lang="en-US" sz="1000" dirty="0"/>
          </a:p>
        </p:txBody>
      </p:sp>
      <p:sp>
        <p:nvSpPr>
          <p:cNvPr id="18" name="Text 15"/>
          <p:cNvSpPr txBox="1"/>
          <p:nvPr/>
        </p:nvSpPr>
        <p:spPr>
          <a:xfrm>
            <a:off x="68580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cp_unauthorized_reschedule flag.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Check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how far away the original start time is (next slide).</a:t>
            </a:r>
            <a:endParaRPr lang="en-US" sz="900" dirty="0"/>
          </a:p>
        </p:txBody>
      </p:sp>
      <p:sp>
        <p:nvSpPr>
          <p:cNvPr id="19" name="Text 16"/>
          <p:cNvSpPr txBox="1"/>
          <p:nvPr/>
        </p:nvSpPr>
        <p:spPr>
          <a:xfrm>
            <a:off x="5166360" y="2944368"/>
            <a:ext cx="3291840" cy="13716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Review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CP's account for prior instances. Update the CP Step if warranted.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Send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coaching comms (Comms Kit macro).</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Offer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customer a Priority Booking and address other pain points.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Still assigned: the original start time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the original start time sits now decides the fix.</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286000"/>
                <a:gridCol w="6035040"/>
              </a:tblGrid>
              <a:tr h="50292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Original start time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More than 48 hours away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back to the original start time via the Customer Dashboard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48 hours or less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Priority Markup cohort (C CRM › View). 30_to_50_pct or 50_to_100_pct: cancel via CRM (CP no-show/reschedule), rebook via CRM, add the internal note, tell the customer, offer Alternate Start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Already in the past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Follow AG: Pending Invoice's completion-verification steps (Pending Invoice or Claimed)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already cancelled or invoiced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Offer a Priority Booking and address any other pain points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502920"/>
          </a:xfrm>
          <a:prstGeom prst="roundRect">
            <a:avLst>
              <a:gd name="adj" fmla="val 14545"/>
            </a:avLst>
          </a:prstGeom>
          <a:solidFill>
            <a:srgbClr val="FFFFFF"/>
          </a:solidFill>
          <a:ln w="9525">
            <a:solidFill>
              <a:srgbClr val="DCE1E7"/>
            </a:solidFill>
            <a:prstDash val="solid"/>
          </a:ln>
        </p:spPr>
      </p:sp>
      <p:sp>
        <p:nvSpPr>
          <p:cNvPr id="8" name="Text 4"/>
          <p:cNvSpPr txBox="1"/>
          <p:nvPr/>
        </p:nvSpPr>
        <p:spPr>
          <a:xfrm>
            <a:off x="594360" y="4069080"/>
            <a:ext cx="8046720" cy="502920"/>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Internal note  </a:t>
            </a:r>
            <a:pPr indent="0" marL="0">
              <a:buNone/>
            </a:pPr>
            <a:r>
              <a:rPr lang="en-US" sz="950" dirty="0">
                <a:solidFill>
                  <a:srgbClr val="1D1D1F"/>
                </a:solidFill>
                <a:latin typeface="SF Pro Text" pitchFamily="34" charset="0"/>
                <a:ea typeface="SF Pro Text" pitchFamily="34" charset="-122"/>
                <a:cs typeface="SF Pro Text" pitchFamily="34" charset="-120"/>
              </a:rPr>
              <a:t>cp_unauthorized_reschedule cancelled J &lt;JOB ID&gt; to avoid priority_fee and recreated J &lt;JOB ID&gt;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2026-10-05T18:06:17Z</dcterms:created>
  <dcterms:modified xsi:type="dcterms:W3CDTF">2026-10-05T18:06:17Z</dcterms:modified>
</cp:coreProperties>
</file>