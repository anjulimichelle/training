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brought a helper, worked half the duration, charged in full: if the customer authorized it, tell them records show they did, address other pain points, don't penalize. If not, go to Branch B: request documentation and coach that helpers need permission and can't justify full-rate billing. 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there evidence the customer authorized the helper and the reduced hours? Yes: tell the customer records show they authorized it, address other pain points, don't penalize the cleaner. No: follow the main flow: request documentation from the cleaner and coach that helpers require permission and can't justify full-rate billing. If the cleaner's document wasn't just weak but faked, stop and go to AG - Fraud &gt; CP Document 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found, not yet actioned: resolve it yourself, no need to wait for the CP-side queue. Same amount gate as Branch A. Pending Invoice: cancel via the C CRM ("does not want the service"); if partial, invoice the remaining balance. Invoiced: refund via the CP Dashboard; if partial, admin refund the customer for the cash-paid portion (based on CP Pay) and apply a CP Holdback for the same amount. Soft ladder. Nothing on file: ask the customer for proof (encourage, don't require). Call the cleaner within business hours (8AM-8PM their local time); no answer, send an SMS; outside business hours, email. Set a 48-hour Timed Reminder. Customer provides proof: resolve per the job status, hard ladder. No proof but the cleaner admits it: resolve per the job status, soft ladder. Cleaner denies and no proof: no refund, no penalty; assess for retention: high-value or retention-likely (multiple completed jobs, high LTNR): voucher covering the full job hours; otherwise $20-$50 in platform credits; Internal Reason: cash_payment. Macros: Accepted Cash (Coaching); Accepted Cash (Warning + Account Adjustment); Refund confirmation: credit card refund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2682240" cy="342900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Helper, half the time</a:t>
            </a:r>
            <a:endParaRPr lang="en-US" sz="1200" dirty="0"/>
          </a:p>
        </p:txBody>
      </p:sp>
      <p:sp>
        <p:nvSpPr>
          <p:cNvPr id="9" name="Text 5"/>
          <p:cNvSpPr txBox="1"/>
          <p:nvPr/>
        </p:nvSpPr>
        <p:spPr>
          <a:xfrm>
            <a:off x="576072" y="2084832"/>
            <a:ext cx="2353056" cy="24414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brought a helper, worked half the duration, and charged in full.</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Customer authorized it: </a:t>
            </a:r>
            <a:pPr indent="0" marL="0">
              <a:buNone/>
            </a:pPr>
            <a:r>
              <a:rPr lang="en-US" sz="950" dirty="0">
                <a:solidFill>
                  <a:srgbClr val="6E6E73"/>
                </a:solidFill>
                <a:latin typeface="SF Pro Text" pitchFamily="34" charset="0"/>
                <a:ea typeface="SF Pro Text" pitchFamily="34" charset="-122"/>
                <a:cs typeface="SF Pro Text" pitchFamily="34" charset="-120"/>
              </a:rPr>
              <a:t>tell them records show they did, address other pain points. Don't penalize the cleaner.</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Not authorized: </a:t>
            </a:r>
            <a:pPr indent="0" marL="0">
              <a:buNone/>
            </a:pPr>
            <a:r>
              <a:rPr lang="en-US" sz="950" dirty="0">
                <a:solidFill>
                  <a:srgbClr val="6E6E73"/>
                </a:solidFill>
                <a:latin typeface="SF Pro Text" pitchFamily="34" charset="0"/>
                <a:ea typeface="SF Pro Text" pitchFamily="34" charset="-122"/>
                <a:cs typeface="SF Pro Text" pitchFamily="34" charset="-120"/>
              </a:rPr>
              <a:t>go to Branch B and request documentation. Coach that helpers need permission and can't justify full-rate billing.</a:t>
            </a:r>
            <a:endParaRPr lang="en-US" sz="950" dirty="0"/>
          </a:p>
        </p:txBody>
      </p:sp>
      <p:sp>
        <p:nvSpPr>
          <p:cNvPr id="10" name="Shape 6"/>
          <p:cNvSpPr/>
          <p:nvPr/>
        </p:nvSpPr>
        <p:spPr>
          <a:xfrm>
            <a:off x="3230880" y="1188720"/>
            <a:ext cx="2682240" cy="342900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432316"/>
            <a:ext cx="171176" cy="171176"/>
          </a:xfrm>
          <a:prstGeom prst="rect">
            <a:avLst/>
          </a:prstGeom>
        </p:spPr>
      </p:pic>
      <p:sp>
        <p:nvSpPr>
          <p:cNvPr id="13" name="Text 8"/>
          <p:cNvSpPr txBox="1"/>
          <p:nvPr/>
        </p:nvSpPr>
        <p:spPr>
          <a:xfrm>
            <a:off x="3395472" y="17922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14" name="Text 9"/>
          <p:cNvSpPr txBox="1"/>
          <p:nvPr/>
        </p:nvSpPr>
        <p:spPr>
          <a:xfrm>
            <a:off x="3395472" y="2084832"/>
            <a:ext cx="2353056" cy="24414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5" name="Shape 10"/>
          <p:cNvSpPr/>
          <p:nvPr/>
        </p:nvSpPr>
        <p:spPr>
          <a:xfrm>
            <a:off x="6050280" y="1188720"/>
            <a:ext cx="2682240" cy="342900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35331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432316"/>
            <a:ext cx="171176" cy="171176"/>
          </a:xfrm>
          <a:prstGeom prst="rect">
            <a:avLst/>
          </a:prstGeom>
        </p:spPr>
      </p:pic>
      <p:sp>
        <p:nvSpPr>
          <p:cNvPr id="18" name="Text 12"/>
          <p:cNvSpPr txBox="1"/>
          <p:nvPr/>
        </p:nvSpPr>
        <p:spPr>
          <a:xfrm>
            <a:off x="6214872" y="17922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9" name="Text 13"/>
          <p:cNvSpPr txBox="1"/>
          <p:nvPr/>
        </p:nvSpPr>
        <p:spPr>
          <a:xfrm>
            <a:off x="6214872" y="2084832"/>
            <a:ext cx="2353056" cy="24414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411480" y="1280160"/>
            <a:ext cx="1977390" cy="2011680"/>
          </a:xfrm>
          <a:prstGeom prst="roundRect">
            <a:avLst>
              <a:gd name="adj" fmla="val 3699"/>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added hours</a:t>
            </a:r>
            <a:endParaRPr lang="en-US" sz="1200" dirty="0"/>
          </a:p>
        </p:txBody>
      </p:sp>
      <p:sp>
        <p:nvSpPr>
          <p:cNvPr id="10" name="Text 7"/>
          <p:cNvSpPr txBox="1"/>
          <p:nvPr/>
        </p:nvSpPr>
        <p:spPr>
          <a:xfrm>
            <a:off x="57607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 Only the added time, not the full job.</a:t>
            </a:r>
            <a:endParaRPr lang="en-US" sz="950" dirty="0"/>
          </a:p>
        </p:txBody>
      </p:sp>
      <p:sp>
        <p:nvSpPr>
          <p:cNvPr id="11" name="Shape 8"/>
          <p:cNvSpPr/>
          <p:nvPr/>
        </p:nvSpPr>
        <p:spPr>
          <a:xfrm>
            <a:off x="2526030" y="1280160"/>
            <a:ext cx="1977390" cy="2011680"/>
          </a:xfrm>
          <a:prstGeom prst="roundRect">
            <a:avLst>
              <a:gd name="adj" fmla="val 3699"/>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the cleaner</a:t>
            </a:r>
            <a:endParaRPr lang="en-US" sz="1200" dirty="0"/>
          </a:p>
        </p:txBody>
      </p:sp>
      <p:sp>
        <p:nvSpPr>
          <p:cNvPr id="15" name="Text 12"/>
          <p:cNvSpPr txBox="1"/>
          <p:nvPr/>
        </p:nvSpPr>
        <p:spPr>
          <a:xfrm>
            <a:off x="269062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first, every time. They have 3 days to prove consent.</a:t>
            </a:r>
            <a:endParaRPr lang="en-US" sz="950" dirty="0"/>
          </a:p>
        </p:txBody>
      </p:sp>
      <p:sp>
        <p:nvSpPr>
          <p:cNvPr id="16" name="Shape 13"/>
          <p:cNvSpPr/>
          <p:nvPr/>
        </p:nvSpPr>
        <p:spPr>
          <a:xfrm>
            <a:off x="4640580" y="1280160"/>
            <a:ext cx="1977390" cy="2011680"/>
          </a:xfrm>
          <a:prstGeom prst="roundRect">
            <a:avLst>
              <a:gd name="adj" fmla="val 3699"/>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20" name="Text 17"/>
          <p:cNvSpPr txBox="1"/>
          <p:nvPr/>
        </p:nvSpPr>
        <p:spPr>
          <a:xfrm>
            <a:off x="480517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 No separate request needed.</a:t>
            </a:r>
            <a:endParaRPr lang="en-US" sz="950" dirty="0"/>
          </a:p>
        </p:txBody>
      </p:sp>
      <p:sp>
        <p:nvSpPr>
          <p:cNvPr id="21" name="Shape 18"/>
          <p:cNvSpPr/>
          <p:nvPr/>
        </p:nvSpPr>
        <p:spPr>
          <a:xfrm>
            <a:off x="6755130" y="1280160"/>
            <a:ext cx="1977390" cy="2011680"/>
          </a:xfrm>
          <a:prstGeom prst="roundRect">
            <a:avLst>
              <a:gd name="adj" fmla="val 3699"/>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Close the loop</a:t>
            </a:r>
            <a:endParaRPr lang="en-US" sz="1200" dirty="0"/>
          </a:p>
        </p:txBody>
      </p:sp>
      <p:sp>
        <p:nvSpPr>
          <p:cNvPr id="25" name="Text 22"/>
          <p:cNvSpPr txBox="1"/>
          <p:nvPr/>
        </p:nvSpPr>
        <p:spPr>
          <a:xfrm>
            <a:off x="691972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remind them to leave clear notes, block the pairing.</a:t>
            </a:r>
            <a:endParaRPr lang="en-US" sz="950" dirty="0"/>
          </a:p>
        </p:txBody>
      </p:sp>
      <p:sp>
        <p:nvSpPr>
          <p:cNvPr id="26" name="Shape 23"/>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584448"/>
            <a:ext cx="164592" cy="164592"/>
          </a:xfrm>
          <a:prstGeom prst="rect">
            <a:avLst/>
          </a:prstGeom>
        </p:spPr>
      </p:pic>
      <p:sp>
        <p:nvSpPr>
          <p:cNvPr id="28" name="Text 24"/>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refund first?  </a:t>
            </a:r>
            <a:pPr indent="0" marL="0">
              <a:buNone/>
            </a:pPr>
            <a:r>
              <a:rPr lang="en-US" sz="1000" dirty="0">
                <a:solidFill>
                  <a:srgbClr val="1D1D1F"/>
                </a:solidFill>
                <a:latin typeface="SF Pro Text" pitchFamily="34" charset="0"/>
                <a:ea typeface="SF Pro Text" pitchFamily="34" charset="-122"/>
                <a:cs typeface="SF Pro Text" pitchFamily="34" charset="-120"/>
              </a:rPr>
              <a:t>it protects the customer's money without making them wait on an investigation.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brought a helper, worked half the duration, and charged in full.</a:t>
            </a:r>
            <a:endParaRPr lang="en-US" sz="1200" dirty="0"/>
          </a:p>
        </p:txBody>
      </p:sp>
      <p:sp>
        <p:nvSpPr>
          <p:cNvPr id="6" name="Shape 3"/>
          <p:cNvSpPr/>
          <p:nvPr/>
        </p:nvSpPr>
        <p:spPr>
          <a:xfrm>
            <a:off x="411480" y="1325880"/>
            <a:ext cx="40919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authorized it</a:t>
            </a:r>
            <a:endParaRPr lang="en-US" sz="1200" dirty="0"/>
          </a:p>
        </p:txBody>
      </p:sp>
      <p:sp>
        <p:nvSpPr>
          <p:cNvPr id="10" name="Text 6"/>
          <p:cNvSpPr txBox="1"/>
          <p:nvPr/>
        </p:nvSpPr>
        <p:spPr>
          <a:xfrm>
            <a:off x="576072" y="2221992"/>
            <a:ext cx="37627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them records show they did. Address other pain points. No penalty.</a:t>
            </a:r>
            <a:endParaRPr lang="en-US" sz="950" dirty="0"/>
          </a:p>
        </p:txBody>
      </p:sp>
      <p:sp>
        <p:nvSpPr>
          <p:cNvPr id="11" name="Shape 7"/>
          <p:cNvSpPr/>
          <p:nvPr/>
        </p:nvSpPr>
        <p:spPr>
          <a:xfrm>
            <a:off x="4640580" y="1325880"/>
            <a:ext cx="40919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authorization</a:t>
            </a:r>
            <a:endParaRPr lang="en-US" sz="1200" dirty="0"/>
          </a:p>
        </p:txBody>
      </p:sp>
      <p:sp>
        <p:nvSpPr>
          <p:cNvPr id="15" name="Text 10"/>
          <p:cNvSpPr txBox="1"/>
          <p:nvPr/>
        </p:nvSpPr>
        <p:spPr>
          <a:xfrm>
            <a:off x="4805172" y="2221992"/>
            <a:ext cx="37627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Main flow: request documentation. Coach: helpers need permission.</a:t>
            </a:r>
            <a:endParaRPr lang="en-US" sz="950" dirty="0"/>
          </a:p>
        </p:txBody>
      </p:sp>
      <p:sp>
        <p:nvSpPr>
          <p:cNvPr id="16" name="Shape 11"/>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355848"/>
            <a:ext cx="164592" cy="164592"/>
          </a:xfrm>
          <a:prstGeom prst="rect">
            <a:avLst/>
          </a:prstGeom>
        </p:spPr>
      </p:pic>
      <p:sp>
        <p:nvSpPr>
          <p:cNvPr id="18" name="Text 12"/>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(cleaner-caused): 8 steps</a:t>
            </a:r>
            <a:endParaRPr lang="en-US" sz="2400" dirty="0"/>
          </a:p>
        </p:txBody>
      </p:sp>
      <p:sp>
        <p:nvSpPr>
          <p:cNvPr id="5" name="Shape 2"/>
          <p:cNvSpPr/>
          <p:nvPr/>
        </p:nvSpPr>
        <p:spPr>
          <a:xfrm>
            <a:off x="411480" y="114300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2588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a:t>
            </a:r>
            <a:endParaRPr lang="en-US" sz="1200" dirty="0"/>
          </a:p>
        </p:txBody>
      </p:sp>
      <p:sp>
        <p:nvSpPr>
          <p:cNvPr id="9" name="Text 6"/>
          <p:cNvSpPr txBox="1"/>
          <p:nvPr/>
        </p:nvSpPr>
        <p:spPr>
          <a:xfrm>
            <a:off x="5760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a:t>
            </a:r>
            <a:endParaRPr lang="en-US" sz="950" dirty="0"/>
          </a:p>
        </p:txBody>
      </p:sp>
      <p:sp>
        <p:nvSpPr>
          <p:cNvPr id="10" name="Shape 7"/>
          <p:cNvSpPr/>
          <p:nvPr/>
        </p:nvSpPr>
        <p:spPr>
          <a:xfrm>
            <a:off x="2526030" y="1143000"/>
            <a:ext cx="1977390" cy="1600200"/>
          </a:xfrm>
          <a:prstGeom prst="roundRect">
            <a:avLst>
              <a:gd name="adj" fmla="val 4571"/>
            </a:avLst>
          </a:prstGeom>
          <a:solidFill>
            <a:srgbClr val="FFFFFF"/>
          </a:solidFill>
          <a:ln w="9525">
            <a:solidFill>
              <a:srgbClr val="DCE1E7"/>
            </a:solidFill>
            <a:prstDash val="solid"/>
          </a:ln>
        </p:spPr>
      </p:sp>
      <p:sp>
        <p:nvSpPr>
          <p:cNvPr id="11" name="Shape 8"/>
          <p:cNvSpPr/>
          <p:nvPr/>
        </p:nvSpPr>
        <p:spPr>
          <a:xfrm>
            <a:off x="2690622" y="1325880"/>
            <a:ext cx="274320" cy="274320"/>
          </a:xfrm>
          <a:prstGeom prst="ellipse">
            <a:avLst/>
          </a:prstGeom>
          <a:solidFill>
            <a:srgbClr val="E3F4F1"/>
          </a:solidFill>
          <a:ln w="12700">
            <a:solidFill>
              <a:srgbClr val="E3F4F1"/>
            </a:solidFill>
            <a:prstDash val="solid"/>
          </a:ln>
        </p:spPr>
      </p:sp>
      <p:sp>
        <p:nvSpPr>
          <p:cNvPr id="12" name="Text 9"/>
          <p:cNvSpPr txBox="1"/>
          <p:nvPr/>
        </p:nvSpPr>
        <p:spPr>
          <a:xfrm>
            <a:off x="26906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26906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flag</a:t>
            </a:r>
            <a:endParaRPr lang="en-US" sz="1200" dirty="0"/>
          </a:p>
        </p:txBody>
      </p:sp>
      <p:sp>
        <p:nvSpPr>
          <p:cNvPr id="14" name="Text 11"/>
          <p:cNvSpPr txBox="1"/>
          <p:nvPr/>
        </p:nvSpPr>
        <p:spPr>
          <a:xfrm>
            <a:off x="26906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on this job?</a:t>
            </a:r>
            <a:endParaRPr lang="en-US" sz="950" dirty="0"/>
          </a:p>
        </p:txBody>
      </p:sp>
      <p:sp>
        <p:nvSpPr>
          <p:cNvPr id="15" name="Shape 12"/>
          <p:cNvSpPr/>
          <p:nvPr/>
        </p:nvSpPr>
        <p:spPr>
          <a:xfrm>
            <a:off x="4640580" y="1143000"/>
            <a:ext cx="1977390" cy="1600200"/>
          </a:xfrm>
          <a:prstGeom prst="roundRect">
            <a:avLst>
              <a:gd name="adj" fmla="val 4571"/>
            </a:avLst>
          </a:prstGeom>
          <a:solidFill>
            <a:srgbClr val="FFFFFF"/>
          </a:solidFill>
          <a:ln w="9525">
            <a:solidFill>
              <a:srgbClr val="DCE1E7"/>
            </a:solidFill>
            <a:prstDash val="solid"/>
          </a:ln>
        </p:spPr>
      </p:sp>
      <p:sp>
        <p:nvSpPr>
          <p:cNvPr id="16" name="Shape 13"/>
          <p:cNvSpPr/>
          <p:nvPr/>
        </p:nvSpPr>
        <p:spPr>
          <a:xfrm>
            <a:off x="4805172" y="1325880"/>
            <a:ext cx="274320" cy="274320"/>
          </a:xfrm>
          <a:prstGeom prst="ellipse">
            <a:avLst/>
          </a:prstGeom>
          <a:solidFill>
            <a:srgbClr val="E3F4F1"/>
          </a:solidFill>
          <a:ln w="12700">
            <a:solidFill>
              <a:srgbClr val="E3F4F1"/>
            </a:solidFill>
            <a:prstDash val="solid"/>
          </a:ln>
        </p:spPr>
      </p:sp>
      <p:sp>
        <p:nvSpPr>
          <p:cNvPr id="17" name="Text 14"/>
          <p:cNvSpPr txBox="1"/>
          <p:nvPr/>
        </p:nvSpPr>
        <p:spPr>
          <a:xfrm>
            <a:off x="48051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8" name="Text 15"/>
          <p:cNvSpPr txBox="1"/>
          <p:nvPr/>
        </p:nvSpPr>
        <p:spPr>
          <a:xfrm>
            <a:off x="48051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or add it</a:t>
            </a:r>
            <a:endParaRPr lang="en-US" sz="1200" dirty="0"/>
          </a:p>
        </p:txBody>
      </p:sp>
      <p:sp>
        <p:nvSpPr>
          <p:cNvPr id="19" name="Text 16"/>
          <p:cNvSpPr txBox="1"/>
          <p:nvPr/>
        </p:nvSpPr>
        <p:spPr>
          <a:xfrm>
            <a:off x="48051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Include the ID triplet</a:t>
            </a:r>
            <a:endParaRPr lang="en-US" sz="950" dirty="0"/>
          </a:p>
        </p:txBody>
      </p:sp>
      <p:sp>
        <p:nvSpPr>
          <p:cNvPr id="20" name="Shape 17"/>
          <p:cNvSpPr/>
          <p:nvPr/>
        </p:nvSpPr>
        <p:spPr>
          <a:xfrm>
            <a:off x="6755130" y="1143000"/>
            <a:ext cx="1977390" cy="1600200"/>
          </a:xfrm>
          <a:prstGeom prst="roundRect">
            <a:avLst>
              <a:gd name="adj" fmla="val 4571"/>
            </a:avLst>
          </a:prstGeom>
          <a:solidFill>
            <a:srgbClr val="FFFFFF"/>
          </a:solidFill>
          <a:ln w="9525">
            <a:solidFill>
              <a:srgbClr val="DCE1E7"/>
            </a:solidFill>
            <a:prstDash val="solid"/>
          </a:ln>
        </p:spPr>
      </p:sp>
      <p:sp>
        <p:nvSpPr>
          <p:cNvPr id="21" name="Shape 18"/>
          <p:cNvSpPr/>
          <p:nvPr/>
        </p:nvSpPr>
        <p:spPr>
          <a:xfrm>
            <a:off x="6919722" y="1325880"/>
            <a:ext cx="274320" cy="274320"/>
          </a:xfrm>
          <a:prstGeom prst="ellipse">
            <a:avLst/>
          </a:prstGeom>
          <a:solidFill>
            <a:srgbClr val="E3F4F1"/>
          </a:solidFill>
          <a:ln w="12700">
            <a:solidFill>
              <a:srgbClr val="E3F4F1"/>
            </a:solidFill>
            <a:prstDash val="solid"/>
          </a:ln>
        </p:spPr>
      </p:sp>
      <p:sp>
        <p:nvSpPr>
          <p:cNvPr id="22" name="Text 19"/>
          <p:cNvSpPr txBox="1"/>
          <p:nvPr/>
        </p:nvSpPr>
        <p:spPr>
          <a:xfrm>
            <a:off x="69197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20"/>
          <p:cNvSpPr txBox="1"/>
          <p:nvPr/>
        </p:nvSpPr>
        <p:spPr>
          <a:xfrm>
            <a:off x="69197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Penalize</a:t>
            </a:r>
            <a:endParaRPr lang="en-US" sz="1200" dirty="0"/>
          </a:p>
        </p:txBody>
      </p:sp>
      <p:sp>
        <p:nvSpPr>
          <p:cNvPr id="24" name="Text 21"/>
          <p:cNvSpPr txBox="1"/>
          <p:nvPr/>
        </p:nvSpPr>
        <p:spPr>
          <a:xfrm>
            <a:off x="69197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Issues Table first</a:t>
            </a:r>
            <a:endParaRPr lang="en-US" sz="950" dirty="0"/>
          </a:p>
        </p:txBody>
      </p:sp>
      <p:sp>
        <p:nvSpPr>
          <p:cNvPr id="25" name="Shape 22"/>
          <p:cNvSpPr/>
          <p:nvPr/>
        </p:nvSpPr>
        <p:spPr>
          <a:xfrm>
            <a:off x="411480" y="2880360"/>
            <a:ext cx="1977390" cy="1600200"/>
          </a:xfrm>
          <a:prstGeom prst="roundRect">
            <a:avLst>
              <a:gd name="adj" fmla="val 4571"/>
            </a:avLst>
          </a:prstGeom>
          <a:solidFill>
            <a:srgbClr val="FFFFFF"/>
          </a:solidFill>
          <a:ln w="9525">
            <a:solidFill>
              <a:srgbClr val="DCE1E7"/>
            </a:solidFill>
            <a:prstDash val="solid"/>
          </a:ln>
        </p:spPr>
      </p:sp>
      <p:sp>
        <p:nvSpPr>
          <p:cNvPr id="26" name="Shape 23"/>
          <p:cNvSpPr/>
          <p:nvPr/>
        </p:nvSpPr>
        <p:spPr>
          <a:xfrm>
            <a:off x="576072" y="3063240"/>
            <a:ext cx="274320" cy="274320"/>
          </a:xfrm>
          <a:prstGeom prst="ellipse">
            <a:avLst/>
          </a:prstGeom>
          <a:solidFill>
            <a:srgbClr val="E3F4F1"/>
          </a:solidFill>
          <a:ln w="12700">
            <a:solidFill>
              <a:srgbClr val="E3F4F1"/>
            </a:solidFill>
            <a:prstDash val="solid"/>
          </a:ln>
        </p:spPr>
      </p:sp>
      <p:sp>
        <p:nvSpPr>
          <p:cNvPr id="27" name="Text 24"/>
          <p:cNvSpPr txBox="1"/>
          <p:nvPr/>
        </p:nvSpPr>
        <p:spPr>
          <a:xfrm>
            <a:off x="5760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8" name="Text 25"/>
          <p:cNvSpPr txBox="1"/>
          <p:nvPr/>
        </p:nvSpPr>
        <p:spPr>
          <a:xfrm>
            <a:off x="5760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the cleaner</a:t>
            </a:r>
            <a:endParaRPr lang="en-US" sz="1200" dirty="0"/>
          </a:p>
        </p:txBody>
      </p:sp>
      <p:sp>
        <p:nvSpPr>
          <p:cNvPr id="29" name="Text 26"/>
          <p:cNvSpPr txBox="1"/>
          <p:nvPr/>
        </p:nvSpPr>
        <p:spPr>
          <a:xfrm>
            <a:off x="5760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or cancel, never invoice</a:t>
            </a:r>
            <a:endParaRPr lang="en-US" sz="950" dirty="0"/>
          </a:p>
        </p:txBody>
      </p:sp>
      <p:sp>
        <p:nvSpPr>
          <p:cNvPr id="30" name="Shape 27"/>
          <p:cNvSpPr/>
          <p:nvPr/>
        </p:nvSpPr>
        <p:spPr>
          <a:xfrm>
            <a:off x="2526030" y="2880360"/>
            <a:ext cx="1977390" cy="1600200"/>
          </a:xfrm>
          <a:prstGeom prst="roundRect">
            <a:avLst>
              <a:gd name="adj" fmla="val 4571"/>
            </a:avLst>
          </a:prstGeom>
          <a:solidFill>
            <a:srgbClr val="FFFFFF"/>
          </a:solidFill>
          <a:ln w="9525">
            <a:solidFill>
              <a:srgbClr val="DCE1E7"/>
            </a:solidFill>
            <a:prstDash val="solid"/>
          </a:ln>
        </p:spPr>
      </p:sp>
      <p:sp>
        <p:nvSpPr>
          <p:cNvPr id="31" name="Shape 28"/>
          <p:cNvSpPr/>
          <p:nvPr/>
        </p:nvSpPr>
        <p:spPr>
          <a:xfrm>
            <a:off x="2690622" y="3063240"/>
            <a:ext cx="274320" cy="274320"/>
          </a:xfrm>
          <a:prstGeom prst="ellipse">
            <a:avLst/>
          </a:prstGeom>
          <a:solidFill>
            <a:srgbClr val="E3F4F1"/>
          </a:solidFill>
          <a:ln w="12700">
            <a:solidFill>
              <a:srgbClr val="E3F4F1"/>
            </a:solidFill>
            <a:prstDash val="solid"/>
          </a:ln>
        </p:spPr>
      </p:sp>
      <p:sp>
        <p:nvSpPr>
          <p:cNvPr id="32" name="Text 29"/>
          <p:cNvSpPr txBox="1"/>
          <p:nvPr/>
        </p:nvSpPr>
        <p:spPr>
          <a:xfrm>
            <a:off x="26906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3" name="Text 30"/>
          <p:cNvSpPr txBox="1"/>
          <p:nvPr/>
        </p:nvSpPr>
        <p:spPr>
          <a:xfrm>
            <a:off x="26906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34" name="Text 31"/>
          <p:cNvSpPr txBox="1"/>
          <p:nvPr/>
        </p:nvSpPr>
        <p:spPr>
          <a:xfrm>
            <a:off x="26906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a:t>
            </a:r>
            <a:endParaRPr lang="en-US" sz="950" dirty="0"/>
          </a:p>
        </p:txBody>
      </p:sp>
      <p:sp>
        <p:nvSpPr>
          <p:cNvPr id="35" name="Shape 32"/>
          <p:cNvSpPr/>
          <p:nvPr/>
        </p:nvSpPr>
        <p:spPr>
          <a:xfrm>
            <a:off x="4640580" y="2880360"/>
            <a:ext cx="1977390" cy="1600200"/>
          </a:xfrm>
          <a:prstGeom prst="roundRect">
            <a:avLst>
              <a:gd name="adj" fmla="val 4571"/>
            </a:avLst>
          </a:prstGeom>
          <a:solidFill>
            <a:srgbClr val="FFFFFF"/>
          </a:solidFill>
          <a:ln w="9525">
            <a:solidFill>
              <a:srgbClr val="DCE1E7"/>
            </a:solidFill>
            <a:prstDash val="solid"/>
          </a:ln>
        </p:spPr>
      </p:sp>
      <p:sp>
        <p:nvSpPr>
          <p:cNvPr id="36" name="Shape 33"/>
          <p:cNvSpPr/>
          <p:nvPr/>
        </p:nvSpPr>
        <p:spPr>
          <a:xfrm>
            <a:off x="4805172" y="3063240"/>
            <a:ext cx="274320" cy="274320"/>
          </a:xfrm>
          <a:prstGeom prst="ellipse">
            <a:avLst/>
          </a:prstGeom>
          <a:solidFill>
            <a:srgbClr val="E3F4F1"/>
          </a:solidFill>
          <a:ln w="12700">
            <a:solidFill>
              <a:srgbClr val="E3F4F1"/>
            </a:solidFill>
            <a:prstDash val="solid"/>
          </a:ln>
        </p:spPr>
      </p:sp>
      <p:sp>
        <p:nvSpPr>
          <p:cNvPr id="37" name="Text 34"/>
          <p:cNvSpPr txBox="1"/>
          <p:nvPr/>
        </p:nvSpPr>
        <p:spPr>
          <a:xfrm>
            <a:off x="48051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7</a:t>
            </a:r>
            <a:endParaRPr lang="en-US" sz="900" dirty="0"/>
          </a:p>
        </p:txBody>
      </p:sp>
      <p:sp>
        <p:nvSpPr>
          <p:cNvPr id="38" name="Text 35"/>
          <p:cNvSpPr txBox="1"/>
          <p:nvPr/>
        </p:nvSpPr>
        <p:spPr>
          <a:xfrm>
            <a:off x="48051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39" name="Text 36"/>
          <p:cNvSpPr txBox="1"/>
          <p:nvPr/>
        </p:nvSpPr>
        <p:spPr>
          <a:xfrm>
            <a:off x="48051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customer wants them</a:t>
            </a:r>
            <a:endParaRPr lang="en-US" sz="950" dirty="0"/>
          </a:p>
        </p:txBody>
      </p:sp>
      <p:sp>
        <p:nvSpPr>
          <p:cNvPr id="40" name="Shape 37"/>
          <p:cNvSpPr/>
          <p:nvPr/>
        </p:nvSpPr>
        <p:spPr>
          <a:xfrm>
            <a:off x="6755130" y="2880360"/>
            <a:ext cx="1977390" cy="1600200"/>
          </a:xfrm>
          <a:prstGeom prst="roundRect">
            <a:avLst>
              <a:gd name="adj" fmla="val 4571"/>
            </a:avLst>
          </a:prstGeom>
          <a:solidFill>
            <a:srgbClr val="FFFFFF"/>
          </a:solidFill>
          <a:ln w="9525">
            <a:solidFill>
              <a:srgbClr val="DCE1E7"/>
            </a:solidFill>
            <a:prstDash val="solid"/>
          </a:ln>
        </p:spPr>
      </p:sp>
      <p:sp>
        <p:nvSpPr>
          <p:cNvPr id="41" name="Shape 38"/>
          <p:cNvSpPr/>
          <p:nvPr/>
        </p:nvSpPr>
        <p:spPr>
          <a:xfrm>
            <a:off x="6919722" y="3063240"/>
            <a:ext cx="274320" cy="274320"/>
          </a:xfrm>
          <a:prstGeom prst="ellipse">
            <a:avLst/>
          </a:prstGeom>
          <a:solidFill>
            <a:srgbClr val="E3F4F1"/>
          </a:solidFill>
          <a:ln w="12700">
            <a:solidFill>
              <a:srgbClr val="E3F4F1"/>
            </a:solidFill>
            <a:prstDash val="solid"/>
          </a:ln>
        </p:spPr>
      </p:sp>
      <p:sp>
        <p:nvSpPr>
          <p:cNvPr id="42" name="Text 39"/>
          <p:cNvSpPr txBox="1"/>
          <p:nvPr/>
        </p:nvSpPr>
        <p:spPr>
          <a:xfrm>
            <a:off x="69197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8</a:t>
            </a:r>
            <a:endParaRPr lang="en-US" sz="900" dirty="0"/>
          </a:p>
        </p:txBody>
      </p:sp>
      <p:sp>
        <p:nvSpPr>
          <p:cNvPr id="43" name="Text 40"/>
          <p:cNvSpPr txBox="1"/>
          <p:nvPr/>
        </p:nvSpPr>
        <p:spPr>
          <a:xfrm>
            <a:off x="69197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Tell the customer</a:t>
            </a:r>
            <a:endParaRPr lang="en-US" sz="1200" dirty="0"/>
          </a:p>
        </p:txBody>
      </p:sp>
      <p:sp>
        <p:nvSpPr>
          <p:cNvPr id="44" name="Text 41"/>
          <p:cNvSpPr txBox="1"/>
          <p:nvPr/>
        </p:nvSpPr>
        <p:spPr>
          <a:xfrm>
            <a:off x="69197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in 5–10 business days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05740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the customer</a:t>
            </a:r>
            <a:endParaRPr lang="en-US" sz="1200" dirty="0"/>
          </a:p>
        </p:txBody>
      </p:sp>
      <p:sp>
        <p:nvSpPr>
          <p:cNvPr id="9" name="Text 5"/>
          <p:cNvSpPr txBox="1"/>
          <p:nvPr/>
        </p:nvSpPr>
        <p:spPr>
          <a:xfrm>
            <a:off x="5760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05740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to go on?</a:t>
            </a:r>
            <a:endParaRPr lang="en-US" sz="1200" dirty="0"/>
          </a:p>
        </p:txBody>
      </p:sp>
      <p:sp>
        <p:nvSpPr>
          <p:cNvPr id="14" name="Text 9"/>
          <p:cNvSpPr txBox="1"/>
          <p:nvPr/>
        </p:nvSpPr>
        <p:spPr>
          <a:xfrm>
            <a:off x="26906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05740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Tone, not status</a:t>
            </a:r>
            <a:endParaRPr lang="en-US" sz="1200" dirty="0"/>
          </a:p>
        </p:txBody>
      </p:sp>
      <p:sp>
        <p:nvSpPr>
          <p:cNvPr id="19" name="Text 13"/>
          <p:cNvSpPr txBox="1"/>
          <p:nvPr/>
        </p:nvSpPr>
        <p:spPr>
          <a:xfrm>
            <a:off x="48051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05740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a:t>
            </a:r>
            <a:endParaRPr lang="en-US" sz="1200" dirty="0"/>
          </a:p>
        </p:txBody>
      </p:sp>
      <p:sp>
        <p:nvSpPr>
          <p:cNvPr id="24" name="Text 17"/>
          <p:cNvSpPr txBox="1"/>
          <p:nvPr/>
        </p:nvSpPr>
        <p:spPr>
          <a:xfrm>
            <a:off x="69197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the customer told us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 Check the CP CRM before anything else.</a:t>
            </a:r>
            <a:endParaRPr lang="en-US" sz="1200" dirty="0"/>
          </a:p>
        </p:txBody>
      </p:sp>
      <p:sp>
        <p:nvSpPr>
          <p:cNvPr id="6" name="Shape 3"/>
          <p:cNvSpPr/>
          <p:nvPr/>
        </p:nvSpPr>
        <p:spPr>
          <a:xfrm>
            <a:off x="411480" y="1280160"/>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 on file</a:t>
            </a:r>
            <a:endParaRPr lang="en-US" sz="1200" dirty="0"/>
          </a:p>
        </p:txBody>
      </p:sp>
      <p:sp>
        <p:nvSpPr>
          <p:cNvPr id="10" name="Text 6"/>
          <p:cNvSpPr txBox="1"/>
          <p:nvPr/>
        </p:nvSpPr>
        <p:spPr>
          <a:xfrm>
            <a:off x="5760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it yourself. Get the amount, act on the status, soft ladder.</a:t>
            </a:r>
            <a:endParaRPr lang="en-US" sz="950" dirty="0"/>
          </a:p>
        </p:txBody>
      </p:sp>
      <p:sp>
        <p:nvSpPr>
          <p:cNvPr id="11" name="Shape 7"/>
          <p:cNvSpPr/>
          <p:nvPr/>
        </p:nvSpPr>
        <p:spPr>
          <a:xfrm>
            <a:off x="4640580" y="1280160"/>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on file</a:t>
            </a:r>
            <a:endParaRPr lang="en-US" sz="1200" dirty="0"/>
          </a:p>
        </p:txBody>
      </p:sp>
      <p:sp>
        <p:nvSpPr>
          <p:cNvPr id="15" name="Text 10"/>
          <p:cNvSpPr txBox="1"/>
          <p:nvPr/>
        </p:nvSpPr>
        <p:spPr>
          <a:xfrm>
            <a:off x="48051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the customer for proof. Call or text the cleaner. 48-hr Timed Reminder.</a:t>
            </a:r>
            <a:endParaRPr 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560320"/>
                <a:gridCol w="5760720"/>
              </a:tblGrid>
              <a:tr h="36576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provides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Hard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admits it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Soft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denies, no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no penalty. Retention: voucher (high value) or $20–$50 credits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2026-10-05T15:51:40Z</dcterms:created>
  <dcterms:modified xsi:type="dcterms:W3CDTF">2026-10-05T15:51:40Z</dcterms:modified>
</cp:coreProperties>
</file>