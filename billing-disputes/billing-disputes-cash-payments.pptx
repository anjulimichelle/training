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Cancel via C CRM, reason code "does not want the service". Partial cash: invoice the remaining balance instead.</a:t>
            </a:r>
            <a:endParaRPr lang="en-US" sz="8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via the CP Dashboard. Partial cash: admin refund the cash-paid portion (based on CP Pay, not C Price) + a CP Holdback for the same amount.</a:t>
            </a:r>
            <a:endParaRPr lang="en-US" sz="8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48615"/>
          </a:xfrm>
          <a:prstGeom prst="roundRect">
            <a:avLst>
              <a:gd name="adj" fmla="val 20984"/>
            </a:avLst>
          </a:prstGeom>
          <a:solidFill>
            <a:srgbClr val="1D1D1F"/>
          </a:solidFill>
          <a:ln w="12700">
            <a:solidFill>
              <a:srgbClr val="1D1D1F"/>
            </a:solidFill>
            <a:prstDash val="solid"/>
          </a:ln>
        </p:spPr>
      </p:sp>
      <p:sp>
        <p:nvSpPr>
          <p:cNvPr id="9" name="Text 5"/>
          <p:cNvSpPr txBox="1"/>
          <p:nvPr/>
        </p:nvSpPr>
        <p:spPr>
          <a:xfrm>
            <a:off x="457200" y="1097280"/>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45895"/>
            <a:ext cx="0" cy="91440"/>
          </a:xfrm>
          <a:prstGeom prst="line">
            <a:avLst/>
          </a:prstGeom>
          <a:noFill/>
          <a:ln w="12700">
            <a:solidFill>
              <a:srgbClr val="6E6E73"/>
            </a:solidFill>
            <a:prstDash val="solid"/>
            <a:tailEnd type="triangle"/>
          </a:ln>
        </p:spPr>
      </p:sp>
      <p:sp>
        <p:nvSpPr>
          <p:cNvPr id="11" name="Shape 7"/>
          <p:cNvSpPr/>
          <p:nvPr/>
        </p:nvSpPr>
        <p:spPr>
          <a:xfrm>
            <a:off x="3703320" y="1271588"/>
            <a:ext cx="182880" cy="0"/>
          </a:xfrm>
          <a:prstGeom prst="line">
            <a:avLst/>
          </a:prstGeom>
          <a:noFill/>
          <a:ln w="12700">
            <a:solidFill>
              <a:srgbClr val="6E6E73"/>
            </a:solidFill>
            <a:prstDash val="solid"/>
          </a:ln>
        </p:spPr>
      </p:sp>
      <p:sp>
        <p:nvSpPr>
          <p:cNvPr id="12" name="type1Desc"/>
          <p:cNvSpPr txBox="1"/>
          <p:nvPr/>
        </p:nvSpPr>
        <p:spPr>
          <a:xfrm>
            <a:off x="3977640" y="1060704"/>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37335"/>
            <a:ext cx="3246120" cy="348615"/>
          </a:xfrm>
          <a:prstGeom prst="roundRect">
            <a:avLst>
              <a:gd name="adj" fmla="val 20984"/>
            </a:avLst>
          </a:prstGeom>
          <a:solidFill>
            <a:srgbClr val="FFF3D6"/>
          </a:solidFill>
          <a:ln w="12700">
            <a:solidFill>
              <a:srgbClr val="9A6410"/>
            </a:solidFill>
            <a:prstDash val="solid"/>
          </a:ln>
        </p:spPr>
      </p:sp>
      <p:sp>
        <p:nvSpPr>
          <p:cNvPr id="14" name="Text 10"/>
          <p:cNvSpPr txBox="1"/>
          <p:nvPr/>
        </p:nvSpPr>
        <p:spPr>
          <a:xfrm>
            <a:off x="457200" y="1537335"/>
            <a:ext cx="3246120" cy="348615"/>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85950"/>
            <a:ext cx="0" cy="91440"/>
          </a:xfrm>
          <a:prstGeom prst="line">
            <a:avLst/>
          </a:prstGeom>
          <a:noFill/>
          <a:ln w="12700">
            <a:solidFill>
              <a:srgbClr val="6E6E73"/>
            </a:solidFill>
            <a:prstDash val="solid"/>
            <a:tailEnd type="triangle"/>
          </a:ln>
        </p:spPr>
      </p:sp>
      <p:sp>
        <p:nvSpPr>
          <p:cNvPr id="16" name="Shape 12"/>
          <p:cNvSpPr/>
          <p:nvPr/>
        </p:nvSpPr>
        <p:spPr>
          <a:xfrm>
            <a:off x="3703320" y="1711643"/>
            <a:ext cx="182880" cy="0"/>
          </a:xfrm>
          <a:prstGeom prst="line">
            <a:avLst/>
          </a:prstGeom>
          <a:noFill/>
          <a:ln w="12700">
            <a:solidFill>
              <a:srgbClr val="6E6E73"/>
            </a:solidFill>
            <a:prstDash val="solid"/>
          </a:ln>
        </p:spPr>
      </p:sp>
      <p:sp>
        <p:nvSpPr>
          <p:cNvPr id="17" name="type2Desc"/>
          <p:cNvSpPr txBox="1"/>
          <p:nvPr/>
        </p:nvSpPr>
        <p:spPr>
          <a:xfrm>
            <a:off x="3977640" y="1500759"/>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Nothing is confirmed yet. Treat it like any other unconfirmed claim.</a:t>
            </a:r>
            <a:endParaRPr lang="en-US" sz="850" dirty="0"/>
          </a:p>
        </p:txBody>
      </p:sp>
      <p:sp>
        <p:nvSpPr>
          <p:cNvPr id="18" name="Shape 14"/>
          <p:cNvSpPr/>
          <p:nvPr/>
        </p:nvSpPr>
        <p:spPr>
          <a:xfrm>
            <a:off x="457200" y="1977390"/>
            <a:ext cx="3246120" cy="348615"/>
          </a:xfrm>
          <a:prstGeom prst="roundRect">
            <a:avLst>
              <a:gd name="adj" fmla="val 20984"/>
            </a:avLst>
          </a:prstGeom>
          <a:solidFill>
            <a:srgbClr val="0B7A6F"/>
          </a:solidFill>
          <a:ln w="12700">
            <a:solidFill>
              <a:srgbClr val="0B7A6F"/>
            </a:solidFill>
            <a:prstDash val="solid"/>
          </a:ln>
        </p:spPr>
      </p:sp>
      <p:sp>
        <p:nvSpPr>
          <p:cNvPr id="19" name="Text 15"/>
          <p:cNvSpPr txBox="1"/>
          <p:nvPr/>
        </p:nvSpPr>
        <p:spPr>
          <a:xfrm>
            <a:off x="457200" y="1977390"/>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326005"/>
            <a:ext cx="0" cy="91440"/>
          </a:xfrm>
          <a:prstGeom prst="line">
            <a:avLst/>
          </a:prstGeom>
          <a:noFill/>
          <a:ln w="12700">
            <a:solidFill>
              <a:srgbClr val="6E6E73"/>
            </a:solidFill>
            <a:prstDash val="solid"/>
            <a:tailEnd type="triangle"/>
          </a:ln>
        </p:spPr>
      </p:sp>
      <p:sp>
        <p:nvSpPr>
          <p:cNvPr id="21" name="Shape 17"/>
          <p:cNvSpPr/>
          <p:nvPr/>
        </p:nvSpPr>
        <p:spPr>
          <a:xfrm>
            <a:off x="3703320" y="2151697"/>
            <a:ext cx="182880" cy="0"/>
          </a:xfrm>
          <a:prstGeom prst="line">
            <a:avLst/>
          </a:prstGeom>
          <a:noFill/>
          <a:ln w="12700">
            <a:solidFill>
              <a:srgbClr val="6E6E73"/>
            </a:solidFill>
            <a:prstDash val="solid"/>
          </a:ln>
        </p:spPr>
      </p:sp>
      <p:sp>
        <p:nvSpPr>
          <p:cNvPr id="22" name="type3Desc"/>
          <p:cNvSpPr txBox="1"/>
          <p:nvPr/>
        </p:nvSpPr>
        <p:spPr>
          <a:xfrm>
            <a:off x="3977640" y="1940814"/>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417445"/>
            <a:ext cx="3246120" cy="348615"/>
          </a:xfrm>
          <a:prstGeom prst="roundRect">
            <a:avLst>
              <a:gd name="adj" fmla="val 20984"/>
            </a:avLst>
          </a:prstGeom>
          <a:solidFill>
            <a:srgbClr val="0B7A6F"/>
          </a:solidFill>
          <a:ln w="12700">
            <a:solidFill>
              <a:srgbClr val="0B7A6F"/>
            </a:solidFill>
            <a:prstDash val="solid"/>
          </a:ln>
        </p:spPr>
      </p:sp>
      <p:sp>
        <p:nvSpPr>
          <p:cNvPr id="24" name="Text 20"/>
          <p:cNvSpPr txBox="1"/>
          <p:nvPr/>
        </p:nvSpPr>
        <p:spPr>
          <a:xfrm>
            <a:off x="457200" y="2417445"/>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766060"/>
            <a:ext cx="0" cy="91440"/>
          </a:xfrm>
          <a:prstGeom prst="line">
            <a:avLst/>
          </a:prstGeom>
          <a:noFill/>
          <a:ln w="12700">
            <a:solidFill>
              <a:srgbClr val="6E6E73"/>
            </a:solidFill>
            <a:prstDash val="solid"/>
            <a:tailEnd type="triangle"/>
          </a:ln>
        </p:spPr>
      </p:sp>
      <p:sp>
        <p:nvSpPr>
          <p:cNvPr id="26" name="Shape 22"/>
          <p:cNvSpPr/>
          <p:nvPr/>
        </p:nvSpPr>
        <p:spPr>
          <a:xfrm>
            <a:off x="3703320" y="2591752"/>
            <a:ext cx="182880" cy="0"/>
          </a:xfrm>
          <a:prstGeom prst="line">
            <a:avLst/>
          </a:prstGeom>
          <a:noFill/>
          <a:ln w="12700">
            <a:solidFill>
              <a:srgbClr val="6E6E73"/>
            </a:solidFill>
            <a:prstDash val="solid"/>
          </a:ln>
        </p:spPr>
      </p:sp>
      <p:sp>
        <p:nvSpPr>
          <p:cNvPr id="27" name="type4Desc"/>
          <p:cNvSpPr txBox="1"/>
          <p:nvPr/>
        </p:nvSpPr>
        <p:spPr>
          <a:xfrm>
            <a:off x="3977640" y="2380869"/>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857500"/>
            <a:ext cx="3246120" cy="348615"/>
          </a:xfrm>
          <a:prstGeom prst="roundRect">
            <a:avLst>
              <a:gd name="adj" fmla="val 20984"/>
            </a:avLst>
          </a:prstGeom>
          <a:solidFill>
            <a:srgbClr val="0B7A6F"/>
          </a:solidFill>
          <a:ln w="12700">
            <a:solidFill>
              <a:srgbClr val="0B7A6F"/>
            </a:solidFill>
            <a:prstDash val="solid"/>
          </a:ln>
        </p:spPr>
      </p:sp>
      <p:sp>
        <p:nvSpPr>
          <p:cNvPr id="29" name="Text 25"/>
          <p:cNvSpPr txBox="1"/>
          <p:nvPr/>
        </p:nvSpPr>
        <p:spPr>
          <a:xfrm>
            <a:off x="457200" y="2857500"/>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206115"/>
            <a:ext cx="0" cy="91440"/>
          </a:xfrm>
          <a:prstGeom prst="line">
            <a:avLst/>
          </a:prstGeom>
          <a:noFill/>
          <a:ln w="12700">
            <a:solidFill>
              <a:srgbClr val="6E6E73"/>
            </a:solidFill>
            <a:prstDash val="solid"/>
            <a:tailEnd type="triangle"/>
          </a:ln>
        </p:spPr>
      </p:sp>
      <p:sp>
        <p:nvSpPr>
          <p:cNvPr id="31" name="Shape 27"/>
          <p:cNvSpPr/>
          <p:nvPr/>
        </p:nvSpPr>
        <p:spPr>
          <a:xfrm>
            <a:off x="3703320" y="3031808"/>
            <a:ext cx="182880" cy="0"/>
          </a:xfrm>
          <a:prstGeom prst="line">
            <a:avLst/>
          </a:prstGeom>
          <a:noFill/>
          <a:ln w="12700">
            <a:solidFill>
              <a:srgbClr val="6E6E73"/>
            </a:solidFill>
            <a:prstDash val="solid"/>
          </a:ln>
        </p:spPr>
      </p:sp>
      <p:sp>
        <p:nvSpPr>
          <p:cNvPr id="32" name="type5Desc"/>
          <p:cNvSpPr txBox="1"/>
          <p:nvPr/>
        </p:nvSpPr>
        <p:spPr>
          <a:xfrm>
            <a:off x="3977640" y="2820924"/>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297555"/>
            <a:ext cx="3246120" cy="348615"/>
          </a:xfrm>
          <a:prstGeom prst="roundRect">
            <a:avLst>
              <a:gd name="adj" fmla="val 20984"/>
            </a:avLst>
          </a:prstGeom>
          <a:solidFill>
            <a:srgbClr val="0B7A6F"/>
          </a:solidFill>
          <a:ln w="12700">
            <a:solidFill>
              <a:srgbClr val="0B7A6F"/>
            </a:solidFill>
            <a:prstDash val="solid"/>
          </a:ln>
        </p:spPr>
      </p:sp>
      <p:sp>
        <p:nvSpPr>
          <p:cNvPr id="34" name="Text 30"/>
          <p:cNvSpPr txBox="1"/>
          <p:nvPr/>
        </p:nvSpPr>
        <p:spPr>
          <a:xfrm>
            <a:off x="457200" y="3297555"/>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646170"/>
            <a:ext cx="0" cy="91440"/>
          </a:xfrm>
          <a:prstGeom prst="line">
            <a:avLst/>
          </a:prstGeom>
          <a:noFill/>
          <a:ln w="12700">
            <a:solidFill>
              <a:srgbClr val="6E6E73"/>
            </a:solidFill>
            <a:prstDash val="solid"/>
            <a:tailEnd type="triangle"/>
          </a:ln>
        </p:spPr>
      </p:sp>
      <p:sp>
        <p:nvSpPr>
          <p:cNvPr id="36" name="Shape 32"/>
          <p:cNvSpPr/>
          <p:nvPr/>
        </p:nvSpPr>
        <p:spPr>
          <a:xfrm>
            <a:off x="3703320" y="3471863"/>
            <a:ext cx="182880" cy="0"/>
          </a:xfrm>
          <a:prstGeom prst="line">
            <a:avLst/>
          </a:prstGeom>
          <a:noFill/>
          <a:ln w="12700">
            <a:solidFill>
              <a:srgbClr val="6E6E73"/>
            </a:solidFill>
            <a:prstDash val="solid"/>
          </a:ln>
        </p:spPr>
      </p:sp>
      <p:sp>
        <p:nvSpPr>
          <p:cNvPr id="37" name="type6Desc"/>
          <p:cNvSpPr txBox="1"/>
          <p:nvPr/>
        </p:nvSpPr>
        <p:spPr>
          <a:xfrm>
            <a:off x="3977640" y="3260979"/>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Resolve per job status, whatever the CP says. It's treated as getting caught, not disclosing.</a:t>
            </a:r>
            <a:endParaRPr lang="en-US" sz="850" dirty="0"/>
          </a:p>
        </p:txBody>
      </p:sp>
      <p:sp>
        <p:nvSpPr>
          <p:cNvPr id="38" name="Shape 34"/>
          <p:cNvSpPr/>
          <p:nvPr/>
        </p:nvSpPr>
        <p:spPr>
          <a:xfrm>
            <a:off x="457200" y="3737610"/>
            <a:ext cx="3246120" cy="348615"/>
          </a:xfrm>
          <a:prstGeom prst="roundRect">
            <a:avLst>
              <a:gd name="adj" fmla="val 20984"/>
            </a:avLst>
          </a:prstGeom>
          <a:solidFill>
            <a:srgbClr val="0B7A6F"/>
          </a:solidFill>
          <a:ln w="12700">
            <a:solidFill>
              <a:srgbClr val="0B7A6F"/>
            </a:solidFill>
            <a:prstDash val="solid"/>
          </a:ln>
        </p:spPr>
      </p:sp>
      <p:sp>
        <p:nvSpPr>
          <p:cNvPr id="39" name="Text 35"/>
          <p:cNvSpPr txBox="1"/>
          <p:nvPr/>
        </p:nvSpPr>
        <p:spPr>
          <a:xfrm>
            <a:off x="457200" y="3737610"/>
            <a:ext cx="3246120" cy="348615"/>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admits it → soft ladder</a:t>
            </a:r>
            <a:endParaRPr lang="en-US" sz="1000" dirty="0"/>
          </a:p>
        </p:txBody>
      </p:sp>
      <p:sp>
        <p:nvSpPr>
          <p:cNvPr id="40" name="Shape 36"/>
          <p:cNvSpPr/>
          <p:nvPr/>
        </p:nvSpPr>
        <p:spPr>
          <a:xfrm>
            <a:off x="2080260" y="4086225"/>
            <a:ext cx="0" cy="91440"/>
          </a:xfrm>
          <a:prstGeom prst="line">
            <a:avLst/>
          </a:prstGeom>
          <a:noFill/>
          <a:ln w="12700">
            <a:solidFill>
              <a:srgbClr val="6E6E73"/>
            </a:solidFill>
            <a:prstDash val="solid"/>
            <a:tailEnd type="triangle"/>
          </a:ln>
        </p:spPr>
      </p:sp>
      <p:sp>
        <p:nvSpPr>
          <p:cNvPr id="41" name="Shape 37"/>
          <p:cNvSpPr/>
          <p:nvPr/>
        </p:nvSpPr>
        <p:spPr>
          <a:xfrm>
            <a:off x="3703320" y="3911917"/>
            <a:ext cx="182880" cy="0"/>
          </a:xfrm>
          <a:prstGeom prst="line">
            <a:avLst/>
          </a:prstGeom>
          <a:noFill/>
          <a:ln w="12700">
            <a:solidFill>
              <a:srgbClr val="6E6E73"/>
            </a:solidFill>
            <a:prstDash val="solid"/>
          </a:ln>
        </p:spPr>
      </p:sp>
      <p:sp>
        <p:nvSpPr>
          <p:cNvPr id="42" name="type7Desc"/>
          <p:cNvSpPr txBox="1"/>
          <p:nvPr/>
        </p:nvSpPr>
        <p:spPr>
          <a:xfrm>
            <a:off x="3977640" y="3701034"/>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Resolve per job status. It's still an admission, just a later one.</a:t>
            </a:r>
            <a:endParaRPr lang="en-US" sz="850" dirty="0"/>
          </a:p>
        </p:txBody>
      </p:sp>
      <p:sp>
        <p:nvSpPr>
          <p:cNvPr id="43" name="Shape 39"/>
          <p:cNvSpPr/>
          <p:nvPr/>
        </p:nvSpPr>
        <p:spPr>
          <a:xfrm>
            <a:off x="457200" y="4177665"/>
            <a:ext cx="3246120" cy="348615"/>
          </a:xfrm>
          <a:prstGeom prst="roundRect">
            <a:avLst>
              <a:gd name="adj" fmla="val 20984"/>
            </a:avLst>
          </a:prstGeom>
          <a:solidFill>
            <a:srgbClr val="FFFFFF"/>
          </a:solidFill>
          <a:ln w="12700">
            <a:solidFill>
              <a:srgbClr val="DCE1E7"/>
            </a:solidFill>
            <a:prstDash val="solid"/>
          </a:ln>
        </p:spPr>
      </p:sp>
      <p:sp>
        <p:nvSpPr>
          <p:cNvPr id="44" name="Text 40"/>
          <p:cNvSpPr txBox="1"/>
          <p:nvPr/>
        </p:nvSpPr>
        <p:spPr>
          <a:xfrm>
            <a:off x="457200" y="4177665"/>
            <a:ext cx="3246120" cy="348615"/>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351972"/>
            <a:ext cx="182880" cy="0"/>
          </a:xfrm>
          <a:prstGeom prst="line">
            <a:avLst/>
          </a:prstGeom>
          <a:noFill/>
          <a:ln w="12700">
            <a:solidFill>
              <a:srgbClr val="6E6E73"/>
            </a:solidFill>
            <a:prstDash val="solid"/>
          </a:ln>
        </p:spPr>
      </p:sp>
      <p:sp>
        <p:nvSpPr>
          <p:cNvPr id="46" name="type8Desc"/>
          <p:cNvSpPr txBox="1"/>
          <p:nvPr/>
        </p:nvSpPr>
        <p:spPr>
          <a:xfrm>
            <a:off x="3977640" y="4141089"/>
            <a:ext cx="4983480" cy="421767"/>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2026-10-05T17:24:09Z</dcterms:created>
  <dcterms:modified xsi:type="dcterms:W3CDTF">2026-10-05T17:24:09Z</dcterms:modified>
</cp:coreProperties>
</file>