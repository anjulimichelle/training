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found, not yet actioned: resolve it yourself, no need to wait for the CP-side queue. Same amount gate as Branch A. Pending Invoice: cancel via the C CRM ("does not want the service"); if partial, invoice the remaining balance. Invoiced: refund via the CP Dashboard; if partial, admin refund the customer for the cash-paid portion (based on CP Pay) and apply a CP Holdback for the same amount. Soft ladder. Nothing on file: ask the customer for proof (encourage, don't require). Call the cleaner within business hours (8AM-8PM their local time); no answer, send an SMS; outside business hours, email. Set a 48-hour Timed Reminder. Customer provides proof: resolve per the job status, hard ladder. No proof but the cleaner admits it: resolve per the job status, soft ladder. Cleaner denies and no proof: no refund, no penalty; assess for retention: high-value or retention-likely (multiple completed jobs, high LTNR): voucher covering the full job hours; otherwise $20-$50 in platform credits; Internal Reason: cash_payment. Macros: Accepted Cash (Coaching); Accepted Cash (Warning + Account Adjustment); Refund confirmation: credit card refund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2.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2.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2.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2.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7" name="Text 4"/>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8" name="Shape 5"/>
          <p:cNvSpPr/>
          <p:nvPr/>
        </p:nvSpPr>
        <p:spPr>
          <a:xfrm>
            <a:off x="2011680" y="1920240"/>
            <a:ext cx="0" cy="246888"/>
          </a:xfrm>
          <a:prstGeom prst="line">
            <a:avLst/>
          </a:prstGeom>
          <a:noFill/>
          <a:ln w="12700">
            <a:solidFill>
              <a:srgbClr val="6E6E73"/>
            </a:solidFill>
            <a:prstDash val="solid"/>
            <a:tailEnd type="triangle"/>
          </a:ln>
        </p:spPr>
      </p:sp>
      <p:sp>
        <p:nvSpPr>
          <p:cNvPr id="9" name="Shape 6"/>
          <p:cNvSpPr/>
          <p:nvPr/>
        </p:nvSpPr>
        <p:spPr>
          <a:xfrm>
            <a:off x="3474720" y="1645920"/>
            <a:ext cx="274320" cy="0"/>
          </a:xfrm>
          <a:prstGeom prst="line">
            <a:avLst/>
          </a:prstGeom>
          <a:noFill/>
          <a:ln w="12700">
            <a:solidFill>
              <a:srgbClr val="6E6E73"/>
            </a:solidFill>
            <a:prstDash val="solid"/>
          </a:ln>
        </p:spPr>
      </p:sp>
      <p:sp>
        <p:nvSpPr>
          <p:cNvPr id="10" name="Text 7"/>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 The booked time was authorized and worked.</a:t>
            </a:r>
            <a:endParaRPr lang="en-US" sz="950" dirty="0"/>
          </a:p>
        </p:txBody>
      </p:sp>
      <p:sp>
        <p:nvSpPr>
          <p:cNvPr id="11" name="Shape 8"/>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2" name="Text 9"/>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3" name="Shape 10"/>
          <p:cNvSpPr/>
          <p:nvPr/>
        </p:nvSpPr>
        <p:spPr>
          <a:xfrm>
            <a:off x="2011680" y="2715768"/>
            <a:ext cx="0" cy="246888"/>
          </a:xfrm>
          <a:prstGeom prst="line">
            <a:avLst/>
          </a:prstGeom>
          <a:noFill/>
          <a:ln w="12700">
            <a:solidFill>
              <a:srgbClr val="6E6E73"/>
            </a:solidFill>
            <a:prstDash val="solid"/>
            <a:tailEnd type="triangle"/>
          </a:ln>
        </p:spPr>
      </p:sp>
      <p:sp>
        <p:nvSpPr>
          <p:cNvPr id="14" name="Shape 11"/>
          <p:cNvSpPr/>
          <p:nvPr/>
        </p:nvSpPr>
        <p:spPr>
          <a:xfrm>
            <a:off x="3474720" y="2441448"/>
            <a:ext cx="274320" cy="0"/>
          </a:xfrm>
          <a:prstGeom prst="line">
            <a:avLst/>
          </a:prstGeom>
          <a:noFill/>
          <a:ln w="12700">
            <a:solidFill>
              <a:srgbClr val="6E6E73"/>
            </a:solidFill>
            <a:prstDash val="solid"/>
          </a:ln>
        </p:spPr>
      </p:sp>
      <p:sp>
        <p:nvSpPr>
          <p:cNvPr id="15" name="Text 12"/>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CP to ask before extending. Send comms about the action taken. The CP has 3 days to prove the customer authorized the extra hours.</a:t>
            </a:r>
            <a:endParaRPr lang="en-US" sz="950" dirty="0"/>
          </a:p>
        </p:txBody>
      </p:sp>
      <p:sp>
        <p:nvSpPr>
          <p:cNvPr id="16" name="Shape 13"/>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17" name="Text 14"/>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18" name="Shape 15"/>
          <p:cNvSpPr/>
          <p:nvPr/>
        </p:nvSpPr>
        <p:spPr>
          <a:xfrm>
            <a:off x="2011680" y="3511296"/>
            <a:ext cx="0" cy="246888"/>
          </a:xfrm>
          <a:prstGeom prst="line">
            <a:avLst/>
          </a:prstGeom>
          <a:noFill/>
          <a:ln w="12700">
            <a:solidFill>
              <a:srgbClr val="6E6E73"/>
            </a:solidFill>
            <a:prstDash val="solid"/>
            <a:tailEnd type="triangle"/>
          </a:ln>
        </p:spPr>
      </p:sp>
      <p:sp>
        <p:nvSpPr>
          <p:cNvPr id="19" name="Shape 16"/>
          <p:cNvSpPr/>
          <p:nvPr/>
        </p:nvSpPr>
        <p:spPr>
          <a:xfrm>
            <a:off x="3474720" y="3236976"/>
            <a:ext cx="274320" cy="0"/>
          </a:xfrm>
          <a:prstGeom prst="line">
            <a:avLst/>
          </a:prstGeom>
          <a:noFill/>
          <a:ln w="12700">
            <a:solidFill>
              <a:srgbClr val="6E6E73"/>
            </a:solidFill>
            <a:prstDash val="solid"/>
          </a:ln>
        </p:spPr>
      </p:sp>
      <p:sp>
        <p:nvSpPr>
          <p:cNvPr id="20" name="Text 17"/>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 Unauthorized hours is itself the service issue, so the customer doesn't need to ask.</a:t>
            </a:r>
            <a:endParaRPr lang="en-US" sz="950" dirty="0"/>
          </a:p>
        </p:txBody>
      </p:sp>
      <p:sp>
        <p:nvSpPr>
          <p:cNvPr id="21" name="Shape 18"/>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2" name="Text 19"/>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3" name="Shape 20"/>
          <p:cNvSpPr/>
          <p:nvPr/>
        </p:nvSpPr>
        <p:spPr>
          <a:xfrm>
            <a:off x="3474720" y="4032504"/>
            <a:ext cx="274320" cy="0"/>
          </a:xfrm>
          <a:prstGeom prst="line">
            <a:avLst/>
          </a:prstGeom>
          <a:noFill/>
          <a:ln w="12700">
            <a:solidFill>
              <a:srgbClr val="6E6E73"/>
            </a:solidFill>
            <a:prstDash val="solid"/>
          </a:ln>
        </p:spPr>
      </p:sp>
      <p:sp>
        <p:nvSpPr>
          <p:cNvPr id="24" name="Text 21"/>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Refund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the unauthorized hours via the CP Dashboard.</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(cleaner-caused): 8 steps</a:t>
            </a:r>
            <a:endParaRPr lang="en-US" sz="2400" dirty="0"/>
          </a:p>
        </p:txBody>
      </p:sp>
      <p:sp>
        <p:nvSpPr>
          <p:cNvPr id="5" name="Shape 2"/>
          <p:cNvSpPr/>
          <p:nvPr/>
        </p:nvSpPr>
        <p:spPr>
          <a:xfrm>
            <a:off x="411480" y="1143000"/>
            <a:ext cx="1977390" cy="1600200"/>
          </a:xfrm>
          <a:prstGeom prst="roundRect">
            <a:avLst>
              <a:gd name="adj" fmla="val 4571"/>
            </a:avLst>
          </a:prstGeom>
          <a:solidFill>
            <a:srgbClr val="FFFFFF"/>
          </a:solidFill>
          <a:ln w="9525">
            <a:solidFill>
              <a:srgbClr val="DCE1E7"/>
            </a:solidFill>
            <a:prstDash val="solid"/>
          </a:ln>
        </p:spPr>
      </p:sp>
      <p:sp>
        <p:nvSpPr>
          <p:cNvPr id="6" name="Shape 3"/>
          <p:cNvSpPr/>
          <p:nvPr/>
        </p:nvSpPr>
        <p:spPr>
          <a:xfrm>
            <a:off x="576072" y="132588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a:t>
            </a:r>
            <a:endParaRPr lang="en-US" sz="1200" dirty="0"/>
          </a:p>
        </p:txBody>
      </p:sp>
      <p:sp>
        <p:nvSpPr>
          <p:cNvPr id="9" name="Text 6"/>
          <p:cNvSpPr txBox="1"/>
          <p:nvPr/>
        </p:nvSpPr>
        <p:spPr>
          <a:xfrm>
            <a:off x="5760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Via the CP Dashboard</a:t>
            </a:r>
            <a:endParaRPr lang="en-US" sz="950" dirty="0"/>
          </a:p>
        </p:txBody>
      </p:sp>
      <p:sp>
        <p:nvSpPr>
          <p:cNvPr id="10" name="Shape 7"/>
          <p:cNvSpPr/>
          <p:nvPr/>
        </p:nvSpPr>
        <p:spPr>
          <a:xfrm>
            <a:off x="2526030" y="1143000"/>
            <a:ext cx="1977390" cy="1600200"/>
          </a:xfrm>
          <a:prstGeom prst="roundRect">
            <a:avLst>
              <a:gd name="adj" fmla="val 4571"/>
            </a:avLst>
          </a:prstGeom>
          <a:solidFill>
            <a:srgbClr val="FFFFFF"/>
          </a:solidFill>
          <a:ln w="9525">
            <a:solidFill>
              <a:srgbClr val="DCE1E7"/>
            </a:solidFill>
            <a:prstDash val="solid"/>
          </a:ln>
        </p:spPr>
      </p:sp>
      <p:sp>
        <p:nvSpPr>
          <p:cNvPr id="11" name="Shape 8"/>
          <p:cNvSpPr/>
          <p:nvPr/>
        </p:nvSpPr>
        <p:spPr>
          <a:xfrm>
            <a:off x="2690622" y="1325880"/>
            <a:ext cx="274320" cy="274320"/>
          </a:xfrm>
          <a:prstGeom prst="ellipse">
            <a:avLst/>
          </a:prstGeom>
          <a:solidFill>
            <a:srgbClr val="E3F4F1"/>
          </a:solidFill>
          <a:ln w="12700">
            <a:solidFill>
              <a:srgbClr val="E3F4F1"/>
            </a:solidFill>
            <a:prstDash val="solid"/>
          </a:ln>
        </p:spPr>
      </p:sp>
      <p:sp>
        <p:nvSpPr>
          <p:cNvPr id="12" name="Text 9"/>
          <p:cNvSpPr txBox="1"/>
          <p:nvPr/>
        </p:nvSpPr>
        <p:spPr>
          <a:xfrm>
            <a:off x="26906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26906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flag</a:t>
            </a:r>
            <a:endParaRPr lang="en-US" sz="1200" dirty="0"/>
          </a:p>
        </p:txBody>
      </p:sp>
      <p:sp>
        <p:nvSpPr>
          <p:cNvPr id="14" name="Text 11"/>
          <p:cNvSpPr txBox="1"/>
          <p:nvPr/>
        </p:nvSpPr>
        <p:spPr>
          <a:xfrm>
            <a:off x="26906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on this job?</a:t>
            </a:r>
            <a:endParaRPr lang="en-US" sz="950" dirty="0"/>
          </a:p>
        </p:txBody>
      </p:sp>
      <p:sp>
        <p:nvSpPr>
          <p:cNvPr id="15" name="Shape 12"/>
          <p:cNvSpPr/>
          <p:nvPr/>
        </p:nvSpPr>
        <p:spPr>
          <a:xfrm>
            <a:off x="4640580" y="1143000"/>
            <a:ext cx="1977390" cy="1600200"/>
          </a:xfrm>
          <a:prstGeom prst="roundRect">
            <a:avLst>
              <a:gd name="adj" fmla="val 4571"/>
            </a:avLst>
          </a:prstGeom>
          <a:solidFill>
            <a:srgbClr val="FFFFFF"/>
          </a:solidFill>
          <a:ln w="9525">
            <a:solidFill>
              <a:srgbClr val="DCE1E7"/>
            </a:solidFill>
            <a:prstDash val="solid"/>
          </a:ln>
        </p:spPr>
      </p:sp>
      <p:sp>
        <p:nvSpPr>
          <p:cNvPr id="16" name="Shape 13"/>
          <p:cNvSpPr/>
          <p:nvPr/>
        </p:nvSpPr>
        <p:spPr>
          <a:xfrm>
            <a:off x="4805172" y="1325880"/>
            <a:ext cx="274320" cy="274320"/>
          </a:xfrm>
          <a:prstGeom prst="ellipse">
            <a:avLst/>
          </a:prstGeom>
          <a:solidFill>
            <a:srgbClr val="E3F4F1"/>
          </a:solidFill>
          <a:ln w="12700">
            <a:solidFill>
              <a:srgbClr val="E3F4F1"/>
            </a:solidFill>
            <a:prstDash val="solid"/>
          </a:ln>
        </p:spPr>
      </p:sp>
      <p:sp>
        <p:nvSpPr>
          <p:cNvPr id="17" name="Text 14"/>
          <p:cNvSpPr txBox="1"/>
          <p:nvPr/>
        </p:nvSpPr>
        <p:spPr>
          <a:xfrm>
            <a:off x="480517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8" name="Text 15"/>
          <p:cNvSpPr txBox="1"/>
          <p:nvPr/>
        </p:nvSpPr>
        <p:spPr>
          <a:xfrm>
            <a:off x="480517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or add it</a:t>
            </a:r>
            <a:endParaRPr lang="en-US" sz="1200" dirty="0"/>
          </a:p>
        </p:txBody>
      </p:sp>
      <p:sp>
        <p:nvSpPr>
          <p:cNvPr id="19" name="Text 16"/>
          <p:cNvSpPr txBox="1"/>
          <p:nvPr/>
        </p:nvSpPr>
        <p:spPr>
          <a:xfrm>
            <a:off x="480517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Include the ID triplet</a:t>
            </a:r>
            <a:endParaRPr lang="en-US" sz="950" dirty="0"/>
          </a:p>
        </p:txBody>
      </p:sp>
      <p:sp>
        <p:nvSpPr>
          <p:cNvPr id="20" name="Shape 17"/>
          <p:cNvSpPr/>
          <p:nvPr/>
        </p:nvSpPr>
        <p:spPr>
          <a:xfrm>
            <a:off x="6755130" y="1143000"/>
            <a:ext cx="1977390" cy="1600200"/>
          </a:xfrm>
          <a:prstGeom prst="roundRect">
            <a:avLst>
              <a:gd name="adj" fmla="val 4571"/>
            </a:avLst>
          </a:prstGeom>
          <a:solidFill>
            <a:srgbClr val="FFFFFF"/>
          </a:solidFill>
          <a:ln w="9525">
            <a:solidFill>
              <a:srgbClr val="DCE1E7"/>
            </a:solidFill>
            <a:prstDash val="solid"/>
          </a:ln>
        </p:spPr>
      </p:sp>
      <p:sp>
        <p:nvSpPr>
          <p:cNvPr id="21" name="Shape 18"/>
          <p:cNvSpPr/>
          <p:nvPr/>
        </p:nvSpPr>
        <p:spPr>
          <a:xfrm>
            <a:off x="6919722" y="1325880"/>
            <a:ext cx="274320" cy="274320"/>
          </a:xfrm>
          <a:prstGeom prst="ellipse">
            <a:avLst/>
          </a:prstGeom>
          <a:solidFill>
            <a:srgbClr val="E3F4F1"/>
          </a:solidFill>
          <a:ln w="12700">
            <a:solidFill>
              <a:srgbClr val="E3F4F1"/>
            </a:solidFill>
            <a:prstDash val="solid"/>
          </a:ln>
        </p:spPr>
      </p:sp>
      <p:sp>
        <p:nvSpPr>
          <p:cNvPr id="22" name="Text 19"/>
          <p:cNvSpPr txBox="1"/>
          <p:nvPr/>
        </p:nvSpPr>
        <p:spPr>
          <a:xfrm>
            <a:off x="6919722" y="13258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3" name="Text 20"/>
          <p:cNvSpPr txBox="1"/>
          <p:nvPr/>
        </p:nvSpPr>
        <p:spPr>
          <a:xfrm>
            <a:off x="6919722" y="17465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Penalize</a:t>
            </a:r>
            <a:endParaRPr lang="en-US" sz="1200" dirty="0"/>
          </a:p>
        </p:txBody>
      </p:sp>
      <p:sp>
        <p:nvSpPr>
          <p:cNvPr id="24" name="Text 21"/>
          <p:cNvSpPr txBox="1"/>
          <p:nvPr/>
        </p:nvSpPr>
        <p:spPr>
          <a:xfrm>
            <a:off x="6919722" y="203911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Issues Table first</a:t>
            </a:r>
            <a:endParaRPr lang="en-US" sz="950" dirty="0"/>
          </a:p>
        </p:txBody>
      </p:sp>
      <p:sp>
        <p:nvSpPr>
          <p:cNvPr id="25" name="Shape 22"/>
          <p:cNvSpPr/>
          <p:nvPr/>
        </p:nvSpPr>
        <p:spPr>
          <a:xfrm>
            <a:off x="411480" y="2880360"/>
            <a:ext cx="1977390" cy="1600200"/>
          </a:xfrm>
          <a:prstGeom prst="roundRect">
            <a:avLst>
              <a:gd name="adj" fmla="val 4571"/>
            </a:avLst>
          </a:prstGeom>
          <a:solidFill>
            <a:srgbClr val="FFFFFF"/>
          </a:solidFill>
          <a:ln w="9525">
            <a:solidFill>
              <a:srgbClr val="DCE1E7"/>
            </a:solidFill>
            <a:prstDash val="solid"/>
          </a:ln>
        </p:spPr>
      </p:sp>
      <p:sp>
        <p:nvSpPr>
          <p:cNvPr id="26" name="Shape 23"/>
          <p:cNvSpPr/>
          <p:nvPr/>
        </p:nvSpPr>
        <p:spPr>
          <a:xfrm>
            <a:off x="576072" y="3063240"/>
            <a:ext cx="274320" cy="274320"/>
          </a:xfrm>
          <a:prstGeom prst="ellipse">
            <a:avLst/>
          </a:prstGeom>
          <a:solidFill>
            <a:srgbClr val="E3F4F1"/>
          </a:solidFill>
          <a:ln w="12700">
            <a:solidFill>
              <a:srgbClr val="E3F4F1"/>
            </a:solidFill>
            <a:prstDash val="solid"/>
          </a:ln>
        </p:spPr>
      </p:sp>
      <p:sp>
        <p:nvSpPr>
          <p:cNvPr id="27" name="Text 24"/>
          <p:cNvSpPr txBox="1"/>
          <p:nvPr/>
        </p:nvSpPr>
        <p:spPr>
          <a:xfrm>
            <a:off x="5760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8" name="Text 25"/>
          <p:cNvSpPr txBox="1"/>
          <p:nvPr/>
        </p:nvSpPr>
        <p:spPr>
          <a:xfrm>
            <a:off x="5760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the cleaner</a:t>
            </a:r>
            <a:endParaRPr lang="en-US" sz="1200" dirty="0"/>
          </a:p>
        </p:txBody>
      </p:sp>
      <p:sp>
        <p:nvSpPr>
          <p:cNvPr id="29" name="Text 26"/>
          <p:cNvSpPr txBox="1"/>
          <p:nvPr/>
        </p:nvSpPr>
        <p:spPr>
          <a:xfrm>
            <a:off x="5760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 or cancel, never invoice</a:t>
            </a:r>
            <a:endParaRPr lang="en-US" sz="950" dirty="0"/>
          </a:p>
        </p:txBody>
      </p:sp>
      <p:sp>
        <p:nvSpPr>
          <p:cNvPr id="30" name="Shape 27"/>
          <p:cNvSpPr/>
          <p:nvPr/>
        </p:nvSpPr>
        <p:spPr>
          <a:xfrm>
            <a:off x="2526030" y="2880360"/>
            <a:ext cx="1977390" cy="1600200"/>
          </a:xfrm>
          <a:prstGeom prst="roundRect">
            <a:avLst>
              <a:gd name="adj" fmla="val 4571"/>
            </a:avLst>
          </a:prstGeom>
          <a:solidFill>
            <a:srgbClr val="FFFFFF"/>
          </a:solidFill>
          <a:ln w="9525">
            <a:solidFill>
              <a:srgbClr val="DCE1E7"/>
            </a:solidFill>
            <a:prstDash val="solid"/>
          </a:ln>
        </p:spPr>
      </p:sp>
      <p:sp>
        <p:nvSpPr>
          <p:cNvPr id="31" name="Shape 28"/>
          <p:cNvSpPr/>
          <p:nvPr/>
        </p:nvSpPr>
        <p:spPr>
          <a:xfrm>
            <a:off x="2690622" y="3063240"/>
            <a:ext cx="274320" cy="274320"/>
          </a:xfrm>
          <a:prstGeom prst="ellipse">
            <a:avLst/>
          </a:prstGeom>
          <a:solidFill>
            <a:srgbClr val="E3F4F1"/>
          </a:solidFill>
          <a:ln w="12700">
            <a:solidFill>
              <a:srgbClr val="E3F4F1"/>
            </a:solidFill>
            <a:prstDash val="solid"/>
          </a:ln>
        </p:spPr>
      </p:sp>
      <p:sp>
        <p:nvSpPr>
          <p:cNvPr id="32" name="Text 29"/>
          <p:cNvSpPr txBox="1"/>
          <p:nvPr/>
        </p:nvSpPr>
        <p:spPr>
          <a:xfrm>
            <a:off x="26906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3" name="Text 30"/>
          <p:cNvSpPr txBox="1"/>
          <p:nvPr/>
        </p:nvSpPr>
        <p:spPr>
          <a:xfrm>
            <a:off x="26906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Premium</a:t>
            </a:r>
            <a:endParaRPr lang="en-US" sz="1200" dirty="0"/>
          </a:p>
        </p:txBody>
      </p:sp>
      <p:sp>
        <p:nvSpPr>
          <p:cNvPr id="34" name="Text 31"/>
          <p:cNvSpPr txBox="1"/>
          <p:nvPr/>
        </p:nvSpPr>
        <p:spPr>
          <a:xfrm>
            <a:off x="26906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charged</a:t>
            </a:r>
            <a:endParaRPr lang="en-US" sz="950" dirty="0"/>
          </a:p>
        </p:txBody>
      </p:sp>
      <p:sp>
        <p:nvSpPr>
          <p:cNvPr id="35" name="Shape 32"/>
          <p:cNvSpPr/>
          <p:nvPr/>
        </p:nvSpPr>
        <p:spPr>
          <a:xfrm>
            <a:off x="4640580" y="2880360"/>
            <a:ext cx="1977390" cy="1600200"/>
          </a:xfrm>
          <a:prstGeom prst="roundRect">
            <a:avLst>
              <a:gd name="adj" fmla="val 4571"/>
            </a:avLst>
          </a:prstGeom>
          <a:solidFill>
            <a:srgbClr val="FFFFFF"/>
          </a:solidFill>
          <a:ln w="9525">
            <a:solidFill>
              <a:srgbClr val="DCE1E7"/>
            </a:solidFill>
            <a:prstDash val="solid"/>
          </a:ln>
        </p:spPr>
      </p:sp>
      <p:sp>
        <p:nvSpPr>
          <p:cNvPr id="36" name="Shape 33"/>
          <p:cNvSpPr/>
          <p:nvPr/>
        </p:nvSpPr>
        <p:spPr>
          <a:xfrm>
            <a:off x="4805172" y="3063240"/>
            <a:ext cx="274320" cy="274320"/>
          </a:xfrm>
          <a:prstGeom prst="ellipse">
            <a:avLst/>
          </a:prstGeom>
          <a:solidFill>
            <a:srgbClr val="E3F4F1"/>
          </a:solidFill>
          <a:ln w="12700">
            <a:solidFill>
              <a:srgbClr val="E3F4F1"/>
            </a:solidFill>
            <a:prstDash val="solid"/>
          </a:ln>
        </p:spPr>
      </p:sp>
      <p:sp>
        <p:nvSpPr>
          <p:cNvPr id="37" name="Text 34"/>
          <p:cNvSpPr txBox="1"/>
          <p:nvPr/>
        </p:nvSpPr>
        <p:spPr>
          <a:xfrm>
            <a:off x="480517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7</a:t>
            </a:r>
            <a:endParaRPr lang="en-US" sz="900" dirty="0"/>
          </a:p>
        </p:txBody>
      </p:sp>
      <p:sp>
        <p:nvSpPr>
          <p:cNvPr id="38" name="Text 35"/>
          <p:cNvSpPr txBox="1"/>
          <p:nvPr/>
        </p:nvSpPr>
        <p:spPr>
          <a:xfrm>
            <a:off x="480517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39" name="Text 36"/>
          <p:cNvSpPr txBox="1"/>
          <p:nvPr/>
        </p:nvSpPr>
        <p:spPr>
          <a:xfrm>
            <a:off x="480517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customer wants them</a:t>
            </a:r>
            <a:endParaRPr lang="en-US" sz="950" dirty="0"/>
          </a:p>
        </p:txBody>
      </p:sp>
      <p:sp>
        <p:nvSpPr>
          <p:cNvPr id="40" name="Shape 37"/>
          <p:cNvSpPr/>
          <p:nvPr/>
        </p:nvSpPr>
        <p:spPr>
          <a:xfrm>
            <a:off x="6755130" y="2880360"/>
            <a:ext cx="1977390" cy="1600200"/>
          </a:xfrm>
          <a:prstGeom prst="roundRect">
            <a:avLst>
              <a:gd name="adj" fmla="val 4571"/>
            </a:avLst>
          </a:prstGeom>
          <a:solidFill>
            <a:srgbClr val="FFFFFF"/>
          </a:solidFill>
          <a:ln w="9525">
            <a:solidFill>
              <a:srgbClr val="DCE1E7"/>
            </a:solidFill>
            <a:prstDash val="solid"/>
          </a:ln>
        </p:spPr>
      </p:sp>
      <p:sp>
        <p:nvSpPr>
          <p:cNvPr id="41" name="Shape 38"/>
          <p:cNvSpPr/>
          <p:nvPr/>
        </p:nvSpPr>
        <p:spPr>
          <a:xfrm>
            <a:off x="6919722" y="3063240"/>
            <a:ext cx="274320" cy="274320"/>
          </a:xfrm>
          <a:prstGeom prst="ellipse">
            <a:avLst/>
          </a:prstGeom>
          <a:solidFill>
            <a:srgbClr val="E3F4F1"/>
          </a:solidFill>
          <a:ln w="12700">
            <a:solidFill>
              <a:srgbClr val="E3F4F1"/>
            </a:solidFill>
            <a:prstDash val="solid"/>
          </a:ln>
        </p:spPr>
      </p:sp>
      <p:sp>
        <p:nvSpPr>
          <p:cNvPr id="42" name="Text 39"/>
          <p:cNvSpPr txBox="1"/>
          <p:nvPr/>
        </p:nvSpPr>
        <p:spPr>
          <a:xfrm>
            <a:off x="6919722" y="30632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8</a:t>
            </a:r>
            <a:endParaRPr lang="en-US" sz="900" dirty="0"/>
          </a:p>
        </p:txBody>
      </p:sp>
      <p:sp>
        <p:nvSpPr>
          <p:cNvPr id="43" name="Text 40"/>
          <p:cNvSpPr txBox="1"/>
          <p:nvPr/>
        </p:nvSpPr>
        <p:spPr>
          <a:xfrm>
            <a:off x="6919722" y="34838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Tell the customer</a:t>
            </a:r>
            <a:endParaRPr lang="en-US" sz="1200" dirty="0"/>
          </a:p>
        </p:txBody>
      </p:sp>
      <p:sp>
        <p:nvSpPr>
          <p:cNvPr id="44" name="Text 41"/>
          <p:cNvSpPr txBox="1"/>
          <p:nvPr/>
        </p:nvSpPr>
        <p:spPr>
          <a:xfrm>
            <a:off x="6919722" y="3776472"/>
            <a:ext cx="164820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in 5–10 business days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05740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the customer</a:t>
            </a:r>
            <a:endParaRPr lang="en-US" sz="1200" dirty="0"/>
          </a:p>
        </p:txBody>
      </p:sp>
      <p:sp>
        <p:nvSpPr>
          <p:cNvPr id="9" name="Text 5"/>
          <p:cNvSpPr txBox="1"/>
          <p:nvPr/>
        </p:nvSpPr>
        <p:spPr>
          <a:xfrm>
            <a:off x="5760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05740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to go on?</a:t>
            </a:r>
            <a:endParaRPr lang="en-US" sz="1200" dirty="0"/>
          </a:p>
        </p:txBody>
      </p:sp>
      <p:sp>
        <p:nvSpPr>
          <p:cNvPr id="14" name="Text 9"/>
          <p:cNvSpPr txBox="1"/>
          <p:nvPr/>
        </p:nvSpPr>
        <p:spPr>
          <a:xfrm>
            <a:off x="26906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05740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Tone, not status</a:t>
            </a:r>
            <a:endParaRPr lang="en-US" sz="1200" dirty="0"/>
          </a:p>
        </p:txBody>
      </p:sp>
      <p:sp>
        <p:nvSpPr>
          <p:cNvPr id="19" name="Text 13"/>
          <p:cNvSpPr txBox="1"/>
          <p:nvPr/>
        </p:nvSpPr>
        <p:spPr>
          <a:xfrm>
            <a:off x="480517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05740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a:t>
            </a:r>
            <a:endParaRPr lang="en-US" sz="1200" dirty="0"/>
          </a:p>
        </p:txBody>
      </p:sp>
      <p:sp>
        <p:nvSpPr>
          <p:cNvPr id="24" name="Text 17"/>
          <p:cNvSpPr txBox="1"/>
          <p:nvPr/>
        </p:nvSpPr>
        <p:spPr>
          <a:xfrm>
            <a:off x="6919722" y="2176272"/>
            <a:ext cx="164820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the customer told us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 Check the CP CRM before anything else.</a:t>
            </a:r>
            <a:endParaRPr lang="en-US" sz="1200" dirty="0"/>
          </a:p>
        </p:txBody>
      </p:sp>
      <p:sp>
        <p:nvSpPr>
          <p:cNvPr id="6" name="Shape 3"/>
          <p:cNvSpPr/>
          <p:nvPr/>
        </p:nvSpPr>
        <p:spPr>
          <a:xfrm>
            <a:off x="411480" y="1280160"/>
            <a:ext cx="4091940" cy="1325880"/>
          </a:xfrm>
          <a:prstGeom prst="roundRect">
            <a:avLst>
              <a:gd name="adj" fmla="val 5517"/>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 on file</a:t>
            </a:r>
            <a:endParaRPr lang="en-US" sz="1200" dirty="0"/>
          </a:p>
        </p:txBody>
      </p:sp>
      <p:sp>
        <p:nvSpPr>
          <p:cNvPr id="10" name="Text 6"/>
          <p:cNvSpPr txBox="1"/>
          <p:nvPr/>
        </p:nvSpPr>
        <p:spPr>
          <a:xfrm>
            <a:off x="5760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it yourself. Get the amount, act on the status, soft ladder.</a:t>
            </a:r>
            <a:endParaRPr lang="en-US" sz="950" dirty="0"/>
          </a:p>
        </p:txBody>
      </p:sp>
      <p:sp>
        <p:nvSpPr>
          <p:cNvPr id="11" name="Shape 7"/>
          <p:cNvSpPr/>
          <p:nvPr/>
        </p:nvSpPr>
        <p:spPr>
          <a:xfrm>
            <a:off x="4640580" y="1280160"/>
            <a:ext cx="4091940" cy="1325880"/>
          </a:xfrm>
          <a:prstGeom prst="roundRect">
            <a:avLst>
              <a:gd name="adj" fmla="val 5517"/>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Nothing on file</a:t>
            </a:r>
            <a:endParaRPr lang="en-US" sz="1200" dirty="0"/>
          </a:p>
        </p:txBody>
      </p:sp>
      <p:sp>
        <p:nvSpPr>
          <p:cNvPr id="15" name="Text 10"/>
          <p:cNvSpPr txBox="1"/>
          <p:nvPr/>
        </p:nvSpPr>
        <p:spPr>
          <a:xfrm>
            <a:off x="4805172" y="2176272"/>
            <a:ext cx="3762756" cy="338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Ask the customer for proof. Call or text the cleaner. 48-hr Timed Reminder.</a:t>
            </a:r>
            <a:endParaRPr lang="en-US" sz="9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2743200"/>
          <a:ext cx="8321040" cy="914400"/>
        </p:xfrm>
        <a:graphic>
          <a:graphicData uri="http://schemas.openxmlformats.org/drawingml/2006/table">
            <a:tbl>
              <a:tblPr/>
              <a:tblGrid>
                <a:gridCol w="2560320"/>
                <a:gridCol w="5760720"/>
              </a:tblGrid>
              <a:tr h="36576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Customer provides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Hard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admits it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Resolve per job status. Soft ladder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6576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denies, no proof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no penalty. Retention: voucher (high value) or $20–$50 credits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2026-10-05T16:02:27Z</dcterms:created>
  <dcterms:modified xsi:type="dcterms:W3CDTF">2026-10-05T16:02:27Z</dcterms:modified>
</cp:coreProperties>
</file>