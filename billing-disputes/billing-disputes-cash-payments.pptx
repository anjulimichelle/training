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Suspended + DNR exemption: if the cleaner is already suspended + DNR for repeated false invoice/overcharge offenses, refund the excess hours even without clear evidence; a documented pattern removes the benefit of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claims a shorter duration than what you found: if CTJ confirms an overcharge, go to Branch A and refund only what CTJ supports, even if it doesn't match what the customer reported. If only job history or other sources (e.g. C/CP message timestamps) suggest it, go to Branch B. Known bug (Trello): don't treat an abnormally short CTJ interval (30 minutes or less between ARRIVED AT and COMPLETED AT) on its own as clear evidence; it's inconclusive unless other evidence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do we know how much was allegedly overcharged? If not, ask the customer for detail and address other pain points; done for this contact. B2: is the cleaner suspended + DNR for multiple overcharged hours? If yes, skip documentation and treat it as valid: go to Branch A from step 1. If not, B3: request documentation. 1) Refund the Premium Upsell fee if charged. 2) Create a Timed Reminder on the C side: 72 hours (Action On: 72 hours from handling; Who Should Act: Any CS; Action: C &lt;C_ID&gt; reported that CP overcharged J &lt;JOB_ID&gt; for &lt;# OF OVERCHARGED HOURS&gt;. Follow When the Timed Reminder Triggers). 3) Tell the customer we'll follow up in 4-5 business days and the cleaner is blocked from their future requests (not penalized yet). 4) Block the pairing and tell the cleaner documentation is due within 3 days, or the alleged hours will be refunded on their behalf. Done for this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brought a helper, worked half the duration, charged in full: if the customer authorized it, tell them records show they did, address other pain points, don't penalize. If not, go to Branch B: request documentation and coach that helpers need permission and can't justify full-rate billing. 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the customer authorized the helper and the reduced hours? Yes: tell the customer records show they authorized it, address other pain points, don't penalize the cleaner. No: follow the main flow: request documentation from the cleaner and coach that helpers require permission and can't justify full-rate billing. If the cleaner's document wasn't just weak but faked, stop and go to AG - Fraud &gt; CP Document Fraud.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1965960"/>
          </a:xfrm>
          <a:prstGeom prst="roundRect">
            <a:avLst>
              <a:gd name="adj" fmla="val 3721"/>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1965960"/>
          </a:xfrm>
          <a:prstGeom prst="roundRect">
            <a:avLst>
              <a:gd name="adj" fmla="val 3721"/>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1965960"/>
          </a:xfrm>
          <a:prstGeom prst="roundRect">
            <a:avLst>
              <a:gd name="adj" fmla="val 3721"/>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Suspended + DNR</a:t>
            </a:r>
            <a:endParaRPr lang="en-US" sz="1200" dirty="0"/>
          </a:p>
        </p:txBody>
      </p:sp>
      <p:sp>
        <p:nvSpPr>
          <p:cNvPr id="19" name="Text 13"/>
          <p:cNvSpPr txBox="1"/>
          <p:nvPr/>
        </p:nvSpPr>
        <p:spPr>
          <a:xfrm>
            <a:off x="6214872" y="2176272"/>
            <a:ext cx="235305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 Refund the excess even without clear evidence.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5486400"/>
                <a:gridCol w="2834640"/>
              </a:tblGrid>
              <a:tr h="384048">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you find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Go to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CTJ shorter than the hours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A</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sends valid proof of the actual duration (Ring clip, timestamped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A: refund only what it supports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the overcharge in messages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A</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already refunded after the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A</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CTJ matches the hours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Stop: no refund. Address other concerns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Customer's claim backed only by job history or message timestamps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B</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None of the above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Branch B</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6052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70248"/>
            <a:ext cx="164592" cy="164592"/>
          </a:xfrm>
          <a:prstGeom prst="rect">
            <a:avLst/>
          </a:prstGeom>
        </p:spPr>
      </p:pic>
      <p:sp>
        <p:nvSpPr>
          <p:cNvPr id="8" name="Text 3"/>
          <p:cNvSpPr txBox="1"/>
          <p:nvPr/>
        </p:nvSpPr>
        <p:spPr>
          <a:xfrm>
            <a:off x="822960" y="4261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Known bug:  </a:t>
            </a:r>
            <a:pPr indent="0" marL="0">
              <a:buNone/>
            </a:pPr>
            <a:r>
              <a:rPr lang="en-US" sz="1000" dirty="0">
                <a:solidFill>
                  <a:srgbClr val="1D1D1F"/>
                </a:solidFill>
                <a:latin typeface="SF Pro Text" pitchFamily="34" charset="0"/>
                <a:ea typeface="SF Pro Text" pitchFamily="34" charset="-122"/>
                <a:cs typeface="SF Pro Text" pitchFamily="34" charset="-120"/>
              </a:rPr>
              <a:t>a very short CTJ visit (30 min or less) alone is inconclusive, not clear evidence.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refund, check Premium, then the 30-minute rule.</a:t>
            </a:r>
            <a:endParaRPr lang="en-US" sz="1200" dirty="0"/>
          </a:p>
        </p:txBody>
      </p:sp>
      <p:sp>
        <p:nvSpPr>
          <p:cNvPr id="6" name="Shape 3"/>
          <p:cNvSpPr/>
          <p:nvPr/>
        </p:nvSpPr>
        <p:spPr>
          <a:xfrm>
            <a:off x="411480" y="1280160"/>
            <a:ext cx="26822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the hours</a:t>
            </a:r>
            <a:endParaRPr lang="en-US" sz="1200" dirty="0"/>
          </a:p>
        </p:txBody>
      </p:sp>
      <p:sp>
        <p:nvSpPr>
          <p:cNvPr id="10" name="Text 7"/>
          <p:cNvSpPr txBox="1"/>
          <p:nvPr/>
        </p:nvSpPr>
        <p:spPr>
          <a:xfrm>
            <a:off x="576072" y="2176272"/>
            <a:ext cx="23530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1" name="Shape 8"/>
          <p:cNvSpPr/>
          <p:nvPr/>
        </p:nvSpPr>
        <p:spPr>
          <a:xfrm>
            <a:off x="3230880" y="1280160"/>
            <a:ext cx="26822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15" name="Text 12"/>
          <p:cNvSpPr txBox="1"/>
          <p:nvPr/>
        </p:nvSpPr>
        <p:spPr>
          <a:xfrm>
            <a:off x="3395472" y="2176272"/>
            <a:ext cx="23530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 No separate request needed.</a:t>
            </a:r>
            <a:endParaRPr lang="en-US" sz="950" dirty="0"/>
          </a:p>
        </p:txBody>
      </p:sp>
      <p:sp>
        <p:nvSpPr>
          <p:cNvPr id="16" name="Shape 13"/>
          <p:cNvSpPr/>
          <p:nvPr/>
        </p:nvSpPr>
        <p:spPr>
          <a:xfrm>
            <a:off x="6050280" y="1280160"/>
            <a:ext cx="2682240" cy="1371600"/>
          </a:xfrm>
          <a:prstGeom prst="roundRect">
            <a:avLst>
              <a:gd name="adj" fmla="val 5333"/>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much?</a:t>
            </a:r>
            <a:endParaRPr lang="en-US" sz="1200" dirty="0"/>
          </a:p>
        </p:txBody>
      </p:sp>
      <p:sp>
        <p:nvSpPr>
          <p:cNvPr id="20" name="Text 17"/>
          <p:cNvSpPr txBox="1"/>
          <p:nvPr/>
        </p:nvSpPr>
        <p:spPr>
          <a:xfrm>
            <a:off x="6214872" y="2176272"/>
            <a:ext cx="23530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30-minute rule decides what's next.</a:t>
            </a:r>
            <a:endParaRPr lang="en-US" sz="950" dirty="0"/>
          </a:p>
        </p:txBody>
      </p:sp>
      <p:sp>
        <p:nvSpPr>
          <p:cNvPr id="21" name="Shape 18"/>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22" name="Shape 19"/>
          <p:cNvSpPr/>
          <p:nvPr/>
        </p:nvSpPr>
        <p:spPr>
          <a:xfrm>
            <a:off x="576072" y="2953512"/>
            <a:ext cx="329184" cy="329184"/>
          </a:xfrm>
          <a:prstGeom prst="ellipse">
            <a:avLst/>
          </a:prstGeom>
          <a:solidFill>
            <a:srgbClr val="E3F4F1"/>
          </a:solidFill>
          <a:ln w="12700">
            <a:solidFill>
              <a:srgbClr val="E3F4F1"/>
            </a:solidFill>
            <a:prstDash val="solid"/>
          </a:ln>
        </p:spPr>
      </p:sp>
      <p:pic>
        <p:nvPicPr>
          <p:cNvPr id="23"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24" name="Text 20"/>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25" name="Text 21"/>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flag, ban the pairing, comms to both, then the Penalty section.</a:t>
            </a:r>
            <a:endParaRPr lang="en-US" sz="950" dirty="0"/>
          </a:p>
        </p:txBody>
      </p:sp>
      <p:sp>
        <p:nvSpPr>
          <p:cNvPr id="26" name="Shape 22"/>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7" name="Shape 23"/>
          <p:cNvSpPr/>
          <p:nvPr/>
        </p:nvSpPr>
        <p:spPr>
          <a:xfrm>
            <a:off x="4805172" y="2953512"/>
            <a:ext cx="329184" cy="329184"/>
          </a:xfrm>
          <a:prstGeom prst="ellipse">
            <a:avLst/>
          </a:prstGeom>
          <a:solidFill>
            <a:srgbClr val="E3F4F1"/>
          </a:solidFill>
          <a:ln w="12700">
            <a:solidFill>
              <a:srgbClr val="E3F4F1"/>
            </a:solidFill>
            <a:prstDash val="solid"/>
          </a:ln>
        </p:spPr>
      </p:sp>
      <p:pic>
        <p:nvPicPr>
          <p:cNvPr id="28"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9" name="Text 24"/>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Under 30 min</a:t>
            </a:r>
            <a:endParaRPr lang="en-US" sz="1200" dirty="0"/>
          </a:p>
        </p:txBody>
      </p:sp>
      <p:sp>
        <p:nvSpPr>
          <p:cNvPr id="30" name="Text 25"/>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Ban the pairing, comms to both. Done: no flag, no penalty.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May span more than one contact with the customer.</a:t>
            </a:r>
            <a:endParaRPr lang="en-US" sz="1200" dirty="0"/>
          </a:p>
        </p:txBody>
      </p:sp>
      <p:sp>
        <p:nvSpPr>
          <p:cNvPr id="6" name="Shape 3"/>
          <p:cNvSpPr/>
          <p:nvPr/>
        </p:nvSpPr>
        <p:spPr>
          <a:xfrm>
            <a:off x="411480" y="1280160"/>
            <a:ext cx="26822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amount?</a:t>
            </a:r>
            <a:endParaRPr lang="en-US" sz="1200" dirty="0"/>
          </a:p>
        </p:txBody>
      </p:sp>
      <p:sp>
        <p:nvSpPr>
          <p:cNvPr id="10" name="Text 7"/>
          <p:cNvSpPr txBox="1"/>
          <p:nvPr/>
        </p:nvSpPr>
        <p:spPr>
          <a:xfrm>
            <a:off x="576072" y="217627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ask the customer, then wait.</a:t>
            </a:r>
            <a:endParaRPr lang="en-US" sz="950" dirty="0"/>
          </a:p>
        </p:txBody>
      </p:sp>
      <p:sp>
        <p:nvSpPr>
          <p:cNvPr id="11" name="Shape 8"/>
          <p:cNvSpPr/>
          <p:nvPr/>
        </p:nvSpPr>
        <p:spPr>
          <a:xfrm>
            <a:off x="3230880" y="1280160"/>
            <a:ext cx="2682240" cy="1325880"/>
          </a:xfrm>
          <a:prstGeom prst="roundRect">
            <a:avLst>
              <a:gd name="adj" fmla="val 5517"/>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Suspended + DNR?</a:t>
            </a:r>
            <a:endParaRPr lang="en-US" sz="1200" dirty="0"/>
          </a:p>
        </p:txBody>
      </p:sp>
      <p:sp>
        <p:nvSpPr>
          <p:cNvPr id="15" name="Text 12"/>
          <p:cNvSpPr txBox="1"/>
          <p:nvPr/>
        </p:nvSpPr>
        <p:spPr>
          <a:xfrm>
            <a:off x="3395472" y="217627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Yes: treat as valid, go to Branch A.</a:t>
            </a:r>
            <a:endParaRPr lang="en-US" sz="950" dirty="0"/>
          </a:p>
        </p:txBody>
      </p:sp>
      <p:sp>
        <p:nvSpPr>
          <p:cNvPr id="16" name="Shape 13"/>
          <p:cNvSpPr/>
          <p:nvPr/>
        </p:nvSpPr>
        <p:spPr>
          <a:xfrm>
            <a:off x="6050280" y="1280160"/>
            <a:ext cx="2682240" cy="1325880"/>
          </a:xfrm>
          <a:prstGeom prst="roundRect">
            <a:avLst>
              <a:gd name="adj" fmla="val 5517"/>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Request proof</a:t>
            </a:r>
            <a:endParaRPr lang="en-US" sz="1200" dirty="0"/>
          </a:p>
        </p:txBody>
      </p:sp>
      <p:sp>
        <p:nvSpPr>
          <p:cNvPr id="20" name="Text 17"/>
          <p:cNvSpPr txBox="1"/>
          <p:nvPr/>
        </p:nvSpPr>
        <p:spPr>
          <a:xfrm>
            <a:off x="6214872" y="2176272"/>
            <a:ext cx="23530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 has 3 days to send documentation.</a:t>
            </a:r>
            <a:endParaRPr lang="en-US" sz="950" dirty="0"/>
          </a:p>
        </p:txBody>
      </p:sp>
      <p:sp>
        <p:nvSpPr>
          <p:cNvPr id="21" name="Text 18"/>
          <p:cNvSpPr txBox="1"/>
          <p:nvPr/>
        </p:nvSpPr>
        <p:spPr>
          <a:xfrm>
            <a:off x="438912" y="27889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WHEN YOU REQUEST PROOF</a:t>
            </a:r>
            <a:endParaRPr lang="en-US" sz="800" dirty="0"/>
          </a:p>
        </p:txBody>
      </p:sp>
      <p:sp>
        <p:nvSpPr>
          <p:cNvPr id="22" name="Shape 19"/>
          <p:cNvSpPr/>
          <p:nvPr/>
        </p:nvSpPr>
        <p:spPr>
          <a:xfrm>
            <a:off x="411480" y="3035808"/>
            <a:ext cx="4114800" cy="457200"/>
          </a:xfrm>
          <a:prstGeom prst="roundRect">
            <a:avLst>
              <a:gd name="adj" fmla="val 16000"/>
            </a:avLst>
          </a:prstGeom>
          <a:solidFill>
            <a:srgbClr val="FFFFFF"/>
          </a:solidFill>
          <a:ln w="9525">
            <a:solidFill>
              <a:srgbClr val="DCE1E7"/>
            </a:solidFill>
            <a:prstDash val="solid"/>
          </a:ln>
        </p:spPr>
      </p:sp>
      <p:sp>
        <p:nvSpPr>
          <p:cNvPr id="23" name="Shape 20"/>
          <p:cNvSpPr/>
          <p:nvPr/>
        </p:nvSpPr>
        <p:spPr>
          <a:xfrm>
            <a:off x="521208" y="3118104"/>
            <a:ext cx="292608" cy="292608"/>
          </a:xfrm>
          <a:prstGeom prst="ellipse">
            <a:avLst/>
          </a:prstGeom>
          <a:solidFill>
            <a:srgbClr val="E3F4F1"/>
          </a:solidFill>
          <a:ln w="12700">
            <a:solidFill>
              <a:srgbClr val="E3F4F1"/>
            </a:solidFill>
            <a:prstDash val="solid"/>
          </a:ln>
        </p:spPr>
      </p:sp>
      <p:pic>
        <p:nvPicPr>
          <p:cNvPr id="24" name="Image 0" descr="preencoded.png">    </p:cNvPr>
          <p:cNvPicPr>
            <a:picLocks noChangeAspect="1"/>
          </p:cNvPicPr>
          <p:nvPr/>
        </p:nvPicPr>
        <p:blipFill>
          <a:blip r:embed="rId1"/>
          <a:stretch>
            <a:fillRect/>
          </a:stretch>
        </p:blipFill>
        <p:spPr>
          <a:xfrm>
            <a:off x="591434" y="3188330"/>
            <a:ext cx="152156" cy="152156"/>
          </a:xfrm>
          <a:prstGeom prst="rect">
            <a:avLst/>
          </a:prstGeom>
        </p:spPr>
      </p:pic>
      <p:sp>
        <p:nvSpPr>
          <p:cNvPr id="25" name="Text 21"/>
          <p:cNvSpPr txBox="1"/>
          <p:nvPr/>
        </p:nvSpPr>
        <p:spPr>
          <a:xfrm>
            <a:off x="914400" y="3035808"/>
            <a:ext cx="35204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Refund Premium Upsell, if charged</a:t>
            </a:r>
            <a:endParaRPr lang="en-US" sz="1050" dirty="0"/>
          </a:p>
        </p:txBody>
      </p:sp>
      <p:sp>
        <p:nvSpPr>
          <p:cNvPr id="26" name="Shape 22"/>
          <p:cNvSpPr/>
          <p:nvPr/>
        </p:nvSpPr>
        <p:spPr>
          <a:xfrm>
            <a:off x="411480" y="3566160"/>
            <a:ext cx="4114800" cy="457200"/>
          </a:xfrm>
          <a:prstGeom prst="roundRect">
            <a:avLst>
              <a:gd name="adj" fmla="val 16000"/>
            </a:avLst>
          </a:prstGeom>
          <a:solidFill>
            <a:srgbClr val="FFFFFF"/>
          </a:solidFill>
          <a:ln w="9525">
            <a:solidFill>
              <a:srgbClr val="DCE1E7"/>
            </a:solidFill>
            <a:prstDash val="solid"/>
          </a:ln>
        </p:spPr>
      </p:sp>
      <p:sp>
        <p:nvSpPr>
          <p:cNvPr id="27" name="Shape 23"/>
          <p:cNvSpPr/>
          <p:nvPr/>
        </p:nvSpPr>
        <p:spPr>
          <a:xfrm>
            <a:off x="521208" y="3648456"/>
            <a:ext cx="292608" cy="292608"/>
          </a:xfrm>
          <a:prstGeom prst="ellipse">
            <a:avLst/>
          </a:prstGeom>
          <a:solidFill>
            <a:srgbClr val="E3F4F1"/>
          </a:solidFill>
          <a:ln w="12700">
            <a:solidFill>
              <a:srgbClr val="E3F4F1"/>
            </a:solidFill>
            <a:prstDash val="solid"/>
          </a:ln>
        </p:spPr>
      </p:sp>
      <p:pic>
        <p:nvPicPr>
          <p:cNvPr id="28" name="Image 1" descr="preencoded.png">    </p:cNvPr>
          <p:cNvPicPr>
            <a:picLocks noChangeAspect="1"/>
          </p:cNvPicPr>
          <p:nvPr/>
        </p:nvPicPr>
        <p:blipFill>
          <a:blip r:embed="rId2"/>
          <a:stretch>
            <a:fillRect/>
          </a:stretch>
        </p:blipFill>
        <p:spPr>
          <a:xfrm>
            <a:off x="591434" y="3718682"/>
            <a:ext cx="152156" cy="152156"/>
          </a:xfrm>
          <a:prstGeom prst="rect">
            <a:avLst/>
          </a:prstGeom>
        </p:spPr>
      </p:pic>
      <p:sp>
        <p:nvSpPr>
          <p:cNvPr id="29" name="Text 24"/>
          <p:cNvSpPr txBox="1"/>
          <p:nvPr/>
        </p:nvSpPr>
        <p:spPr>
          <a:xfrm>
            <a:off x="914400" y="3566160"/>
            <a:ext cx="35204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Timed Reminder on the C side: 72 hrs</a:t>
            </a:r>
            <a:endParaRPr lang="en-US" sz="1050" dirty="0"/>
          </a:p>
        </p:txBody>
      </p:sp>
      <p:sp>
        <p:nvSpPr>
          <p:cNvPr id="30" name="Shape 25"/>
          <p:cNvSpPr/>
          <p:nvPr/>
        </p:nvSpPr>
        <p:spPr>
          <a:xfrm>
            <a:off x="4617720" y="3035808"/>
            <a:ext cx="4114800" cy="457200"/>
          </a:xfrm>
          <a:prstGeom prst="roundRect">
            <a:avLst>
              <a:gd name="adj" fmla="val 16000"/>
            </a:avLst>
          </a:prstGeom>
          <a:solidFill>
            <a:srgbClr val="FFFFFF"/>
          </a:solidFill>
          <a:ln w="9525">
            <a:solidFill>
              <a:srgbClr val="DCE1E7"/>
            </a:solidFill>
            <a:prstDash val="solid"/>
          </a:ln>
        </p:spPr>
      </p:sp>
      <p:sp>
        <p:nvSpPr>
          <p:cNvPr id="31" name="Shape 26"/>
          <p:cNvSpPr/>
          <p:nvPr/>
        </p:nvSpPr>
        <p:spPr>
          <a:xfrm>
            <a:off x="4727448" y="3118104"/>
            <a:ext cx="292608" cy="292608"/>
          </a:xfrm>
          <a:prstGeom prst="ellipse">
            <a:avLst/>
          </a:prstGeom>
          <a:solidFill>
            <a:srgbClr val="E3F4F1"/>
          </a:solidFill>
          <a:ln w="12700">
            <a:solidFill>
              <a:srgbClr val="E3F4F1"/>
            </a:solidFill>
            <a:prstDash val="solid"/>
          </a:ln>
        </p:spPr>
      </p:sp>
      <p:pic>
        <p:nvPicPr>
          <p:cNvPr id="32" name="Image 2" descr="preencoded.png">    </p:cNvPr>
          <p:cNvPicPr>
            <a:picLocks noChangeAspect="1"/>
          </p:cNvPicPr>
          <p:nvPr/>
        </p:nvPicPr>
        <p:blipFill>
          <a:blip r:embed="rId3"/>
          <a:stretch>
            <a:fillRect/>
          </a:stretch>
        </p:blipFill>
        <p:spPr>
          <a:xfrm>
            <a:off x="4797674" y="3188330"/>
            <a:ext cx="152156" cy="152156"/>
          </a:xfrm>
          <a:prstGeom prst="rect">
            <a:avLst/>
          </a:prstGeom>
        </p:spPr>
      </p:pic>
      <p:sp>
        <p:nvSpPr>
          <p:cNvPr id="33" name="Text 27"/>
          <p:cNvSpPr txBox="1"/>
          <p:nvPr/>
        </p:nvSpPr>
        <p:spPr>
          <a:xfrm>
            <a:off x="5120640" y="3035808"/>
            <a:ext cx="35204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Tell the customer: 4–5 business days</a:t>
            </a:r>
            <a:endParaRPr lang="en-US" sz="1050" dirty="0"/>
          </a:p>
        </p:txBody>
      </p:sp>
      <p:sp>
        <p:nvSpPr>
          <p:cNvPr id="34" name="Shape 28"/>
          <p:cNvSpPr/>
          <p:nvPr/>
        </p:nvSpPr>
        <p:spPr>
          <a:xfrm>
            <a:off x="4617720" y="3566160"/>
            <a:ext cx="4114800" cy="457200"/>
          </a:xfrm>
          <a:prstGeom prst="roundRect">
            <a:avLst>
              <a:gd name="adj" fmla="val 16000"/>
            </a:avLst>
          </a:prstGeom>
          <a:solidFill>
            <a:srgbClr val="FFFFFF"/>
          </a:solidFill>
          <a:ln w="9525">
            <a:solidFill>
              <a:srgbClr val="DCE1E7"/>
            </a:solidFill>
            <a:prstDash val="solid"/>
          </a:ln>
        </p:spPr>
      </p:sp>
      <p:sp>
        <p:nvSpPr>
          <p:cNvPr id="35" name="Shape 29"/>
          <p:cNvSpPr/>
          <p:nvPr/>
        </p:nvSpPr>
        <p:spPr>
          <a:xfrm>
            <a:off x="4727448" y="3648456"/>
            <a:ext cx="292608" cy="292608"/>
          </a:xfrm>
          <a:prstGeom prst="ellipse">
            <a:avLst/>
          </a:prstGeom>
          <a:solidFill>
            <a:srgbClr val="E3F4F1"/>
          </a:solidFill>
          <a:ln w="12700">
            <a:solidFill>
              <a:srgbClr val="E3F4F1"/>
            </a:solidFill>
            <a:prstDash val="solid"/>
          </a:ln>
        </p:spPr>
      </p:sp>
      <p:pic>
        <p:nvPicPr>
          <p:cNvPr id="36" name="Image 3" descr="preencoded.png">    </p:cNvPr>
          <p:cNvPicPr>
            <a:picLocks noChangeAspect="1"/>
          </p:cNvPicPr>
          <p:nvPr/>
        </p:nvPicPr>
        <p:blipFill>
          <a:blip r:embed="rId4"/>
          <a:stretch>
            <a:fillRect/>
          </a:stretch>
        </p:blipFill>
        <p:spPr>
          <a:xfrm>
            <a:off x="4797674" y="3718682"/>
            <a:ext cx="152156" cy="152156"/>
          </a:xfrm>
          <a:prstGeom prst="rect">
            <a:avLst/>
          </a:prstGeom>
        </p:spPr>
      </p:pic>
      <p:sp>
        <p:nvSpPr>
          <p:cNvPr id="37" name="Text 30"/>
          <p:cNvSpPr txBox="1"/>
          <p:nvPr/>
        </p:nvSpPr>
        <p:spPr>
          <a:xfrm>
            <a:off x="5120640" y="3566160"/>
            <a:ext cx="35204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Block the pairing, ask the cleaner (3 days)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280160"/>
            <a:ext cx="2682240" cy="2194560"/>
          </a:xfrm>
          <a:prstGeom prst="roundRect">
            <a:avLst>
              <a:gd name="adj" fmla="val 333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Helper, full charge</a:t>
            </a:r>
            <a:endParaRPr lang="en-US" sz="1200" dirty="0"/>
          </a:p>
        </p:txBody>
      </p:sp>
      <p:sp>
        <p:nvSpPr>
          <p:cNvPr id="9" name="Text 5"/>
          <p:cNvSpPr txBox="1"/>
          <p:nvPr/>
        </p:nvSpPr>
        <p:spPr>
          <a:xfrm>
            <a:off x="5760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authorized it? No penalty. If not: Branch B, and coach the cleaner.</a:t>
            </a:r>
            <a:endParaRPr lang="en-US" sz="950" dirty="0"/>
          </a:p>
        </p:txBody>
      </p:sp>
      <p:sp>
        <p:nvSpPr>
          <p:cNvPr id="10" name="Shape 6"/>
          <p:cNvSpPr/>
          <p:nvPr/>
        </p:nvSpPr>
        <p:spPr>
          <a:xfrm>
            <a:off x="3230880" y="1280160"/>
            <a:ext cx="2682240" cy="2194560"/>
          </a:xfrm>
          <a:prstGeom prst="roundRect">
            <a:avLst>
              <a:gd name="adj" fmla="val 333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14" name="Text 9"/>
          <p:cNvSpPr txBox="1"/>
          <p:nvPr/>
        </p:nvSpPr>
        <p:spPr>
          <a:xfrm>
            <a:off x="33954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Treat it as confirmation. 30 min or more still gets the flag.</a:t>
            </a:r>
            <a:endParaRPr lang="en-US" sz="950" dirty="0"/>
          </a:p>
        </p:txBody>
      </p:sp>
      <p:sp>
        <p:nvSpPr>
          <p:cNvPr id="15" name="Shape 10"/>
          <p:cNvSpPr/>
          <p:nvPr/>
        </p:nvSpPr>
        <p:spPr>
          <a:xfrm>
            <a:off x="6050280" y="1280160"/>
            <a:ext cx="2682240" cy="2194560"/>
          </a:xfrm>
          <a:prstGeom prst="roundRect">
            <a:avLst>
              <a:gd name="adj" fmla="val 333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9" name="Text 13"/>
          <p:cNvSpPr txBox="1"/>
          <p:nvPr/>
        </p:nvSpPr>
        <p:spPr>
          <a:xfrm>
            <a:off x="6214872" y="2176272"/>
            <a:ext cx="2353056" cy="12070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Reach out proactively to confirm the hours worked.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the difference. The customer entered the hours, so there's no penalty for the cleaner.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411480" y="1280160"/>
            <a:ext cx="1977390" cy="2011680"/>
          </a:xfrm>
          <a:prstGeom prst="roundRect">
            <a:avLst>
              <a:gd name="adj" fmla="val 3699"/>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added hours</a:t>
            </a:r>
            <a:endParaRPr lang="en-US" sz="1200" dirty="0"/>
          </a:p>
        </p:txBody>
      </p:sp>
      <p:sp>
        <p:nvSpPr>
          <p:cNvPr id="10" name="Text 7"/>
          <p:cNvSpPr txBox="1"/>
          <p:nvPr/>
        </p:nvSpPr>
        <p:spPr>
          <a:xfrm>
            <a:off x="5760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 Only the added time, not the full job.</a:t>
            </a:r>
            <a:endParaRPr lang="en-US" sz="950" dirty="0"/>
          </a:p>
        </p:txBody>
      </p:sp>
      <p:sp>
        <p:nvSpPr>
          <p:cNvPr id="11" name="Shape 8"/>
          <p:cNvSpPr/>
          <p:nvPr/>
        </p:nvSpPr>
        <p:spPr>
          <a:xfrm>
            <a:off x="2526030" y="1280160"/>
            <a:ext cx="1977390" cy="2011680"/>
          </a:xfrm>
          <a:prstGeom prst="roundRect">
            <a:avLst>
              <a:gd name="adj" fmla="val 3699"/>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15" name="Text 12"/>
          <p:cNvSpPr txBox="1"/>
          <p:nvPr/>
        </p:nvSpPr>
        <p:spPr>
          <a:xfrm>
            <a:off x="26906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first, every time. They have 3 days to prove consent.</a:t>
            </a:r>
            <a:endParaRPr lang="en-US" sz="950" dirty="0"/>
          </a:p>
        </p:txBody>
      </p:sp>
      <p:sp>
        <p:nvSpPr>
          <p:cNvPr id="16" name="Shape 13"/>
          <p:cNvSpPr/>
          <p:nvPr/>
        </p:nvSpPr>
        <p:spPr>
          <a:xfrm>
            <a:off x="4640580" y="1280160"/>
            <a:ext cx="1977390" cy="2011680"/>
          </a:xfrm>
          <a:prstGeom prst="roundRect">
            <a:avLst>
              <a:gd name="adj" fmla="val 3699"/>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20" name="Text 17"/>
          <p:cNvSpPr txBox="1"/>
          <p:nvPr/>
        </p:nvSpPr>
        <p:spPr>
          <a:xfrm>
            <a:off x="480517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 No separate request needed.</a:t>
            </a:r>
            <a:endParaRPr lang="en-US" sz="950" dirty="0"/>
          </a:p>
        </p:txBody>
      </p:sp>
      <p:sp>
        <p:nvSpPr>
          <p:cNvPr id="21" name="Shape 18"/>
          <p:cNvSpPr/>
          <p:nvPr/>
        </p:nvSpPr>
        <p:spPr>
          <a:xfrm>
            <a:off x="6755130" y="1280160"/>
            <a:ext cx="1977390" cy="2011680"/>
          </a:xfrm>
          <a:prstGeom prst="roundRect">
            <a:avLst>
              <a:gd name="adj" fmla="val 3699"/>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Close the loop</a:t>
            </a:r>
            <a:endParaRPr lang="en-US" sz="1200" dirty="0"/>
          </a:p>
        </p:txBody>
      </p:sp>
      <p:sp>
        <p:nvSpPr>
          <p:cNvPr id="25" name="Text 22"/>
          <p:cNvSpPr txBox="1"/>
          <p:nvPr/>
        </p:nvSpPr>
        <p:spPr>
          <a:xfrm>
            <a:off x="6919722" y="2176272"/>
            <a:ext cx="164820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remind them to leave clear notes, block the pairing.</a:t>
            </a:r>
            <a:endParaRPr lang="en-US" sz="950" dirty="0"/>
          </a:p>
        </p:txBody>
      </p:sp>
      <p:sp>
        <p:nvSpPr>
          <p:cNvPr id="26" name="Shape 23"/>
          <p:cNvSpPr/>
          <p:nvPr/>
        </p:nvSpPr>
        <p:spPr>
          <a:xfrm>
            <a:off x="411480" y="347472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584448"/>
            <a:ext cx="164592" cy="164592"/>
          </a:xfrm>
          <a:prstGeom prst="rect">
            <a:avLst/>
          </a:prstGeom>
        </p:spPr>
      </p:pic>
      <p:sp>
        <p:nvSpPr>
          <p:cNvPr id="28" name="Text 24"/>
          <p:cNvSpPr txBox="1"/>
          <p:nvPr/>
        </p:nvSpPr>
        <p:spPr>
          <a:xfrm>
            <a:off x="822960" y="35753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refund first?  </a:t>
            </a:r>
            <a:pPr indent="0" marL="0">
              <a:buNone/>
            </a:pPr>
            <a:r>
              <a:rPr lang="en-US" sz="1000" dirty="0">
                <a:solidFill>
                  <a:srgbClr val="1D1D1F"/>
                </a:solidFill>
                <a:latin typeface="SF Pro Text" pitchFamily="34" charset="0"/>
                <a:ea typeface="SF Pro Text" pitchFamily="34" charset="-122"/>
                <a:cs typeface="SF Pro Text" pitchFamily="34" charset="-120"/>
              </a:rPr>
              <a:t>it protects the customer's money without making them wait on an investigation.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brought a helper, worked half the duration, and charged in full.</a:t>
            </a:r>
            <a:endParaRPr lang="en-US" sz="1200" dirty="0"/>
          </a:p>
        </p:txBody>
      </p:sp>
      <p:sp>
        <p:nvSpPr>
          <p:cNvPr id="6" name="Shape 3"/>
          <p:cNvSpPr/>
          <p:nvPr/>
        </p:nvSpPr>
        <p:spPr>
          <a:xfrm>
            <a:off x="411480" y="1325880"/>
            <a:ext cx="40919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authorized it</a:t>
            </a:r>
            <a:endParaRPr lang="en-US" sz="1200" dirty="0"/>
          </a:p>
        </p:txBody>
      </p:sp>
      <p:sp>
        <p:nvSpPr>
          <p:cNvPr id="10" name="Text 6"/>
          <p:cNvSpPr txBox="1"/>
          <p:nvPr/>
        </p:nvSpPr>
        <p:spPr>
          <a:xfrm>
            <a:off x="5760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them records show they did. Address other pain points. No penalty.</a:t>
            </a:r>
            <a:endParaRPr lang="en-US" sz="950" dirty="0"/>
          </a:p>
        </p:txBody>
      </p:sp>
      <p:sp>
        <p:nvSpPr>
          <p:cNvPr id="11" name="Shape 7"/>
          <p:cNvSpPr/>
          <p:nvPr/>
        </p:nvSpPr>
        <p:spPr>
          <a:xfrm>
            <a:off x="4640580" y="1325880"/>
            <a:ext cx="40919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authorization</a:t>
            </a:r>
            <a:endParaRPr lang="en-US" sz="1200" dirty="0"/>
          </a:p>
        </p:txBody>
      </p:sp>
      <p:sp>
        <p:nvSpPr>
          <p:cNvPr id="15" name="Text 10"/>
          <p:cNvSpPr txBox="1"/>
          <p:nvPr/>
        </p:nvSpPr>
        <p:spPr>
          <a:xfrm>
            <a:off x="4805172" y="2221992"/>
            <a:ext cx="37627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Main flow: request documentation. Coach: helpers need permission.</a:t>
            </a:r>
            <a:endParaRPr lang="en-US" sz="950" dirty="0"/>
          </a:p>
        </p:txBody>
      </p:sp>
      <p:sp>
        <p:nvSpPr>
          <p:cNvPr id="16" name="Shape 11"/>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355848"/>
            <a:ext cx="164592" cy="164592"/>
          </a:xfrm>
          <a:prstGeom prst="rect">
            <a:avLst/>
          </a:prstGeom>
        </p:spPr>
      </p:pic>
      <p:sp>
        <p:nvSpPr>
          <p:cNvPr id="18" name="Text 12"/>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(cleaner-caused): 8 steps</a:t>
            </a:r>
            <a:endParaRPr lang="en-US" sz="2400" dirty="0"/>
          </a:p>
        </p:txBody>
      </p:sp>
      <p:sp>
        <p:nvSpPr>
          <p:cNvPr id="5" name="Shape 2"/>
          <p:cNvSpPr/>
          <p:nvPr/>
        </p:nvSpPr>
        <p:spPr>
          <a:xfrm>
            <a:off x="411480" y="114300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2588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a:t>
            </a:r>
            <a:endParaRPr lang="en-US" sz="1200" dirty="0"/>
          </a:p>
        </p:txBody>
      </p:sp>
      <p:sp>
        <p:nvSpPr>
          <p:cNvPr id="9" name="Text 6"/>
          <p:cNvSpPr txBox="1"/>
          <p:nvPr/>
        </p:nvSpPr>
        <p:spPr>
          <a:xfrm>
            <a:off x="5760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0" name="Shape 7"/>
          <p:cNvSpPr/>
          <p:nvPr/>
        </p:nvSpPr>
        <p:spPr>
          <a:xfrm>
            <a:off x="2526030" y="1143000"/>
            <a:ext cx="1977390" cy="1600200"/>
          </a:xfrm>
          <a:prstGeom prst="roundRect">
            <a:avLst>
              <a:gd name="adj" fmla="val 4571"/>
            </a:avLst>
          </a:prstGeom>
          <a:solidFill>
            <a:srgbClr val="FFFFFF"/>
          </a:solidFill>
          <a:ln w="9525">
            <a:solidFill>
              <a:srgbClr val="DCE1E7"/>
            </a:solidFill>
            <a:prstDash val="solid"/>
          </a:ln>
        </p:spPr>
      </p:sp>
      <p:sp>
        <p:nvSpPr>
          <p:cNvPr id="11" name="Shape 8"/>
          <p:cNvSpPr/>
          <p:nvPr/>
        </p:nvSpPr>
        <p:spPr>
          <a:xfrm>
            <a:off x="2690622" y="1325880"/>
            <a:ext cx="274320" cy="274320"/>
          </a:xfrm>
          <a:prstGeom prst="ellipse">
            <a:avLst/>
          </a:prstGeom>
          <a:solidFill>
            <a:srgbClr val="E3F4F1"/>
          </a:solidFill>
          <a:ln w="12700">
            <a:solidFill>
              <a:srgbClr val="E3F4F1"/>
            </a:solidFill>
            <a:prstDash val="solid"/>
          </a:ln>
        </p:spPr>
      </p:sp>
      <p:sp>
        <p:nvSpPr>
          <p:cNvPr id="12" name="Text 9"/>
          <p:cNvSpPr txBox="1"/>
          <p:nvPr/>
        </p:nvSpPr>
        <p:spPr>
          <a:xfrm>
            <a:off x="26906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26906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flag</a:t>
            </a:r>
            <a:endParaRPr lang="en-US" sz="1200" dirty="0"/>
          </a:p>
        </p:txBody>
      </p:sp>
      <p:sp>
        <p:nvSpPr>
          <p:cNvPr id="14" name="Text 11"/>
          <p:cNvSpPr txBox="1"/>
          <p:nvPr/>
        </p:nvSpPr>
        <p:spPr>
          <a:xfrm>
            <a:off x="26906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on this job?</a:t>
            </a:r>
            <a:endParaRPr lang="en-US" sz="950" dirty="0"/>
          </a:p>
        </p:txBody>
      </p:sp>
      <p:sp>
        <p:nvSpPr>
          <p:cNvPr id="15" name="Shape 12"/>
          <p:cNvSpPr/>
          <p:nvPr/>
        </p:nvSpPr>
        <p:spPr>
          <a:xfrm>
            <a:off x="4640580" y="1143000"/>
            <a:ext cx="1977390" cy="1600200"/>
          </a:xfrm>
          <a:prstGeom prst="roundRect">
            <a:avLst>
              <a:gd name="adj" fmla="val 4571"/>
            </a:avLst>
          </a:prstGeom>
          <a:solidFill>
            <a:srgbClr val="FFFFFF"/>
          </a:solidFill>
          <a:ln w="9525">
            <a:solidFill>
              <a:srgbClr val="DCE1E7"/>
            </a:solidFill>
            <a:prstDash val="solid"/>
          </a:ln>
        </p:spPr>
      </p:sp>
      <p:sp>
        <p:nvSpPr>
          <p:cNvPr id="16" name="Shape 13"/>
          <p:cNvSpPr/>
          <p:nvPr/>
        </p:nvSpPr>
        <p:spPr>
          <a:xfrm>
            <a:off x="4805172" y="1325880"/>
            <a:ext cx="274320" cy="274320"/>
          </a:xfrm>
          <a:prstGeom prst="ellipse">
            <a:avLst/>
          </a:prstGeom>
          <a:solidFill>
            <a:srgbClr val="E3F4F1"/>
          </a:solidFill>
          <a:ln w="12700">
            <a:solidFill>
              <a:srgbClr val="E3F4F1"/>
            </a:solidFill>
            <a:prstDash val="solid"/>
          </a:ln>
        </p:spPr>
      </p:sp>
      <p:sp>
        <p:nvSpPr>
          <p:cNvPr id="17" name="Text 14"/>
          <p:cNvSpPr txBox="1"/>
          <p:nvPr/>
        </p:nvSpPr>
        <p:spPr>
          <a:xfrm>
            <a:off x="48051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8" name="Text 15"/>
          <p:cNvSpPr txBox="1"/>
          <p:nvPr/>
        </p:nvSpPr>
        <p:spPr>
          <a:xfrm>
            <a:off x="48051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or add it</a:t>
            </a:r>
            <a:endParaRPr lang="en-US" sz="1200" dirty="0"/>
          </a:p>
        </p:txBody>
      </p:sp>
      <p:sp>
        <p:nvSpPr>
          <p:cNvPr id="19" name="Text 16"/>
          <p:cNvSpPr txBox="1"/>
          <p:nvPr/>
        </p:nvSpPr>
        <p:spPr>
          <a:xfrm>
            <a:off x="48051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Include the ID triplet</a:t>
            </a:r>
            <a:endParaRPr lang="en-US" sz="950" dirty="0"/>
          </a:p>
        </p:txBody>
      </p:sp>
      <p:sp>
        <p:nvSpPr>
          <p:cNvPr id="20" name="Shape 17"/>
          <p:cNvSpPr/>
          <p:nvPr/>
        </p:nvSpPr>
        <p:spPr>
          <a:xfrm>
            <a:off x="6755130" y="1143000"/>
            <a:ext cx="1977390" cy="1600200"/>
          </a:xfrm>
          <a:prstGeom prst="roundRect">
            <a:avLst>
              <a:gd name="adj" fmla="val 4571"/>
            </a:avLst>
          </a:prstGeom>
          <a:solidFill>
            <a:srgbClr val="FFFFFF"/>
          </a:solidFill>
          <a:ln w="9525">
            <a:solidFill>
              <a:srgbClr val="DCE1E7"/>
            </a:solidFill>
            <a:prstDash val="solid"/>
          </a:ln>
        </p:spPr>
      </p:sp>
      <p:sp>
        <p:nvSpPr>
          <p:cNvPr id="21" name="Shape 18"/>
          <p:cNvSpPr/>
          <p:nvPr/>
        </p:nvSpPr>
        <p:spPr>
          <a:xfrm>
            <a:off x="6919722" y="132588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69197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20"/>
          <p:cNvSpPr txBox="1"/>
          <p:nvPr/>
        </p:nvSpPr>
        <p:spPr>
          <a:xfrm>
            <a:off x="69197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Penalize</a:t>
            </a:r>
            <a:endParaRPr lang="en-US" sz="1200" dirty="0"/>
          </a:p>
        </p:txBody>
      </p:sp>
      <p:sp>
        <p:nvSpPr>
          <p:cNvPr id="24" name="Text 21"/>
          <p:cNvSpPr txBox="1"/>
          <p:nvPr/>
        </p:nvSpPr>
        <p:spPr>
          <a:xfrm>
            <a:off x="69197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Issues Table first</a:t>
            </a:r>
            <a:endParaRPr lang="en-US" sz="950" dirty="0"/>
          </a:p>
        </p:txBody>
      </p:sp>
      <p:sp>
        <p:nvSpPr>
          <p:cNvPr id="25" name="Shape 22"/>
          <p:cNvSpPr/>
          <p:nvPr/>
        </p:nvSpPr>
        <p:spPr>
          <a:xfrm>
            <a:off x="411480" y="2880360"/>
            <a:ext cx="1977390" cy="1600200"/>
          </a:xfrm>
          <a:prstGeom prst="roundRect">
            <a:avLst>
              <a:gd name="adj" fmla="val 4571"/>
            </a:avLst>
          </a:prstGeom>
          <a:solidFill>
            <a:srgbClr val="FFFFFF"/>
          </a:solidFill>
          <a:ln w="9525">
            <a:solidFill>
              <a:srgbClr val="DCE1E7"/>
            </a:solidFill>
            <a:prstDash val="solid"/>
          </a:ln>
        </p:spPr>
      </p:sp>
      <p:sp>
        <p:nvSpPr>
          <p:cNvPr id="26" name="Shape 23"/>
          <p:cNvSpPr/>
          <p:nvPr/>
        </p:nvSpPr>
        <p:spPr>
          <a:xfrm>
            <a:off x="576072" y="3063240"/>
            <a:ext cx="274320" cy="274320"/>
          </a:xfrm>
          <a:prstGeom prst="ellipse">
            <a:avLst/>
          </a:prstGeom>
          <a:solidFill>
            <a:srgbClr val="E3F4F1"/>
          </a:solidFill>
          <a:ln w="12700">
            <a:solidFill>
              <a:srgbClr val="E3F4F1"/>
            </a:solidFill>
            <a:prstDash val="solid"/>
          </a:ln>
        </p:spPr>
      </p:sp>
      <p:sp>
        <p:nvSpPr>
          <p:cNvPr id="27" name="Text 24"/>
          <p:cNvSpPr txBox="1"/>
          <p:nvPr/>
        </p:nvSpPr>
        <p:spPr>
          <a:xfrm>
            <a:off x="5760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8" name="Text 25"/>
          <p:cNvSpPr txBox="1"/>
          <p:nvPr/>
        </p:nvSpPr>
        <p:spPr>
          <a:xfrm>
            <a:off x="5760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29" name="Text 26"/>
          <p:cNvSpPr txBox="1"/>
          <p:nvPr/>
        </p:nvSpPr>
        <p:spPr>
          <a:xfrm>
            <a:off x="5760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or cancel, never invoice</a:t>
            </a:r>
            <a:endParaRPr lang="en-US" sz="950" dirty="0"/>
          </a:p>
        </p:txBody>
      </p:sp>
      <p:sp>
        <p:nvSpPr>
          <p:cNvPr id="30" name="Shape 27"/>
          <p:cNvSpPr/>
          <p:nvPr/>
        </p:nvSpPr>
        <p:spPr>
          <a:xfrm>
            <a:off x="2526030" y="2880360"/>
            <a:ext cx="1977390" cy="1600200"/>
          </a:xfrm>
          <a:prstGeom prst="roundRect">
            <a:avLst>
              <a:gd name="adj" fmla="val 4571"/>
            </a:avLst>
          </a:prstGeom>
          <a:solidFill>
            <a:srgbClr val="FFFFFF"/>
          </a:solidFill>
          <a:ln w="9525">
            <a:solidFill>
              <a:srgbClr val="DCE1E7"/>
            </a:solidFill>
            <a:prstDash val="solid"/>
          </a:ln>
        </p:spPr>
      </p:sp>
      <p:sp>
        <p:nvSpPr>
          <p:cNvPr id="31" name="Shape 28"/>
          <p:cNvSpPr/>
          <p:nvPr/>
        </p:nvSpPr>
        <p:spPr>
          <a:xfrm>
            <a:off x="2690622" y="30632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26906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3" name="Text 30"/>
          <p:cNvSpPr txBox="1"/>
          <p:nvPr/>
        </p:nvSpPr>
        <p:spPr>
          <a:xfrm>
            <a:off x="26906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34" name="Text 31"/>
          <p:cNvSpPr txBox="1"/>
          <p:nvPr/>
        </p:nvSpPr>
        <p:spPr>
          <a:xfrm>
            <a:off x="26906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a:t>
            </a:r>
            <a:endParaRPr lang="en-US" sz="950" dirty="0"/>
          </a:p>
        </p:txBody>
      </p:sp>
      <p:sp>
        <p:nvSpPr>
          <p:cNvPr id="35" name="Shape 32"/>
          <p:cNvSpPr/>
          <p:nvPr/>
        </p:nvSpPr>
        <p:spPr>
          <a:xfrm>
            <a:off x="4640580" y="2880360"/>
            <a:ext cx="1977390" cy="1600200"/>
          </a:xfrm>
          <a:prstGeom prst="roundRect">
            <a:avLst>
              <a:gd name="adj" fmla="val 4571"/>
            </a:avLst>
          </a:prstGeom>
          <a:solidFill>
            <a:srgbClr val="FFFFFF"/>
          </a:solidFill>
          <a:ln w="9525">
            <a:solidFill>
              <a:srgbClr val="DCE1E7"/>
            </a:solidFill>
            <a:prstDash val="solid"/>
          </a:ln>
        </p:spPr>
      </p:sp>
      <p:sp>
        <p:nvSpPr>
          <p:cNvPr id="36" name="Shape 33"/>
          <p:cNvSpPr/>
          <p:nvPr/>
        </p:nvSpPr>
        <p:spPr>
          <a:xfrm>
            <a:off x="4805172" y="3063240"/>
            <a:ext cx="274320" cy="274320"/>
          </a:xfrm>
          <a:prstGeom prst="ellipse">
            <a:avLst/>
          </a:prstGeom>
          <a:solidFill>
            <a:srgbClr val="E3F4F1"/>
          </a:solidFill>
          <a:ln w="12700">
            <a:solidFill>
              <a:srgbClr val="E3F4F1"/>
            </a:solidFill>
            <a:prstDash val="solid"/>
          </a:ln>
        </p:spPr>
      </p:sp>
      <p:sp>
        <p:nvSpPr>
          <p:cNvPr id="37" name="Text 34"/>
          <p:cNvSpPr txBox="1"/>
          <p:nvPr/>
        </p:nvSpPr>
        <p:spPr>
          <a:xfrm>
            <a:off x="48051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8" name="Text 35"/>
          <p:cNvSpPr txBox="1"/>
          <p:nvPr/>
        </p:nvSpPr>
        <p:spPr>
          <a:xfrm>
            <a:off x="48051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39" name="Text 36"/>
          <p:cNvSpPr txBox="1"/>
          <p:nvPr/>
        </p:nvSpPr>
        <p:spPr>
          <a:xfrm>
            <a:off x="48051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customer wants them</a:t>
            </a:r>
            <a:endParaRPr lang="en-US" sz="950" dirty="0"/>
          </a:p>
        </p:txBody>
      </p:sp>
      <p:sp>
        <p:nvSpPr>
          <p:cNvPr id="40" name="Shape 37"/>
          <p:cNvSpPr/>
          <p:nvPr/>
        </p:nvSpPr>
        <p:spPr>
          <a:xfrm>
            <a:off x="6755130" y="2880360"/>
            <a:ext cx="1977390" cy="1600200"/>
          </a:xfrm>
          <a:prstGeom prst="roundRect">
            <a:avLst>
              <a:gd name="adj" fmla="val 4571"/>
            </a:avLst>
          </a:prstGeom>
          <a:solidFill>
            <a:srgbClr val="FFFFFF"/>
          </a:solidFill>
          <a:ln w="9525">
            <a:solidFill>
              <a:srgbClr val="DCE1E7"/>
            </a:solidFill>
            <a:prstDash val="solid"/>
          </a:ln>
        </p:spPr>
      </p:sp>
      <p:sp>
        <p:nvSpPr>
          <p:cNvPr id="41" name="Shape 38"/>
          <p:cNvSpPr/>
          <p:nvPr/>
        </p:nvSpPr>
        <p:spPr>
          <a:xfrm>
            <a:off x="6919722" y="3063240"/>
            <a:ext cx="274320" cy="274320"/>
          </a:xfrm>
          <a:prstGeom prst="ellipse">
            <a:avLst/>
          </a:prstGeom>
          <a:solidFill>
            <a:srgbClr val="E3F4F1"/>
          </a:solidFill>
          <a:ln w="12700">
            <a:solidFill>
              <a:srgbClr val="E3F4F1"/>
            </a:solidFill>
            <a:prstDash val="solid"/>
          </a:ln>
        </p:spPr>
      </p:sp>
      <p:sp>
        <p:nvSpPr>
          <p:cNvPr id="42" name="Text 39"/>
          <p:cNvSpPr txBox="1"/>
          <p:nvPr/>
        </p:nvSpPr>
        <p:spPr>
          <a:xfrm>
            <a:off x="69197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43" name="Text 40"/>
          <p:cNvSpPr txBox="1"/>
          <p:nvPr/>
        </p:nvSpPr>
        <p:spPr>
          <a:xfrm>
            <a:off x="69197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Tell the customer</a:t>
            </a:r>
            <a:endParaRPr lang="en-US" sz="1200" dirty="0"/>
          </a:p>
        </p:txBody>
      </p:sp>
      <p:sp>
        <p:nvSpPr>
          <p:cNvPr id="44" name="Text 41"/>
          <p:cNvSpPr txBox="1"/>
          <p:nvPr/>
        </p:nvSpPr>
        <p:spPr>
          <a:xfrm>
            <a:off x="69197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in 5–10 business days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2026-10-05T14:19:32Z</dcterms:created>
  <dcterms:modified xsi:type="dcterms:W3CDTF">2026-10-05T14:19:32Z</dcterms:modified>
</cp:coreProperties>
</file>