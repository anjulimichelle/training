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four topics: Overcharged Hours, Unauthorized Addition of Hours, False Invoice, and Disintermediation (Cash Payment).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not yet actioned: resolve it yourself, no need to wait for the CP-side queue. Same amount gate as Branch A. Pending Invoice: cancel via the C CRM ("does not want the service"); if partial, invoice the remaining balance. Invoiced: refund via the CP Dashboard; if partial, admin refund the customer for the cash-paid portion (based on CP Pay) and apply a CP Holdback for the same amount. Soft ladder. Nothing on file: ask the customer for proof (encourage, don't require). Call the cleaner within business hours (8AM-8PM their local time); no answer, send an SMS; outside business hours, email. Set a 48-hour Timed Reminder. Customer provides proof: resolve per the job status, hard ladder. No proof but the cleaner admits it: resolve per the job status, soft ladder. Cleaner denies and no proof: no refund, no penalty; assess for retention: high-value or retention-likely (multiple completed jobs, high LTNR): voucher covering the full job hours; otherwise $20-$50 in platform credits; Internal Reason: cash_payment. Macros: Accepted Cash (Coaching); Accepted Cash (Warning + Account Adjustment); Refund confirmation: credit card refund processed.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and Cash Payment (job status decides the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When a customer is charged for time they didn't get, and when they pay the cleaner off the platform.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Four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45720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Topic</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 one line</a:t>
                      </a:r>
                      <a:endParaRPr lang="en-US" sz="110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01</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Overcharged Hours (OCH)</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02</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Unauthorized Addition of Hours</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03</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False Invoice</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cleaner billed a job they never did</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B7A6F"/>
                          </a:solidFill>
                          <a:latin typeface="SF Pro Text" pitchFamily="34" charset="0"/>
                          <a:ea typeface="SF Pro Text" pitchFamily="34" charset="-122"/>
                          <a:cs typeface="SF Pro Text" pitchFamily="34" charset="-120"/>
                        </a:rPr>
                        <a:t>04</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Disintermediation: Cash Payment</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The customer paid the cleaner directly</a:t>
                      </a:r>
                      <a:endParaRPr lang="en-US" sz="110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04</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the customer told us first</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5156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362456"/>
            <a:ext cx="0" cy="73152"/>
          </a:xfrm>
          <a:prstGeom prst="line">
            <a:avLst/>
          </a:prstGeom>
          <a:noFill/>
          <a:ln w="12700">
            <a:solidFill>
              <a:srgbClr val="6E6E73"/>
            </a:solidFill>
            <a:prstDash val="solid"/>
            <a:tailEnd type="triangle"/>
          </a:ln>
        </p:spPr>
      </p:sp>
      <p:sp>
        <p:nvSpPr>
          <p:cNvPr id="11" name="Shape 7"/>
          <p:cNvSpPr/>
          <p:nvPr/>
        </p:nvSpPr>
        <p:spPr>
          <a:xfrm>
            <a:off x="3703320" y="1207008"/>
            <a:ext cx="182880" cy="0"/>
          </a:xfrm>
          <a:prstGeom prst="line">
            <a:avLst/>
          </a:prstGeom>
          <a:noFill/>
          <a:ln w="12700">
            <a:solidFill>
              <a:srgbClr val="6E6E73"/>
            </a:solidFill>
            <a:prstDash val="solid"/>
          </a:ln>
        </p:spPr>
      </p:sp>
      <p:sp>
        <p:nvSpPr>
          <p:cNvPr id="12" name="type1Desc"/>
          <p:cNvSpPr txBox="1"/>
          <p:nvPr/>
        </p:nvSpPr>
        <p:spPr>
          <a:xfrm>
            <a:off x="3977640" y="1014984"/>
            <a:ext cx="4983480" cy="384048"/>
          </a:xfrm>
          <a:prstGeom prst="rect">
            <a:avLst/>
          </a:prstGeom>
          <a:noFill/>
          <a:ln/>
        </p:spPr>
        <p:txBody>
          <a:bodyPr wrap="square" lIns="0" tIns="0" rIns="0" bIns="0" rtlCol="0" anchor="ctr"/>
          <a:lstStyle/>
          <a:p>
            <a:pPr indent="0" marL="0">
              <a:buNone/>
            </a:pPr>
            <a:r>
              <a:rPr lang="en-US" sz="80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00" dirty="0"/>
          </a:p>
        </p:txBody>
      </p:sp>
      <p:sp>
        <p:nvSpPr>
          <p:cNvPr id="13" name="Shape 9"/>
          <p:cNvSpPr/>
          <p:nvPr/>
        </p:nvSpPr>
        <p:spPr>
          <a:xfrm>
            <a:off x="457200" y="1435608"/>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35608"/>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for a cash report</a:t>
            </a:r>
            <a:endParaRPr lang="en-US" sz="1000" dirty="0"/>
          </a:p>
        </p:txBody>
      </p:sp>
      <p:sp>
        <p:nvSpPr>
          <p:cNvPr id="15" name="Shape 11"/>
          <p:cNvSpPr/>
          <p:nvPr/>
        </p:nvSpPr>
        <p:spPr>
          <a:xfrm>
            <a:off x="2080260" y="1746504"/>
            <a:ext cx="0" cy="73152"/>
          </a:xfrm>
          <a:prstGeom prst="line">
            <a:avLst/>
          </a:prstGeom>
          <a:noFill/>
          <a:ln w="12700">
            <a:solidFill>
              <a:srgbClr val="6E6E73"/>
            </a:solidFill>
            <a:prstDash val="solid"/>
            <a:tailEnd type="triangle"/>
          </a:ln>
        </p:spPr>
      </p:sp>
      <p:sp>
        <p:nvSpPr>
          <p:cNvPr id="16" name="Shape 12"/>
          <p:cNvSpPr/>
          <p:nvPr/>
        </p:nvSpPr>
        <p:spPr>
          <a:xfrm>
            <a:off x="3703320" y="1591056"/>
            <a:ext cx="182880" cy="0"/>
          </a:xfrm>
          <a:prstGeom prst="line">
            <a:avLst/>
          </a:prstGeom>
          <a:noFill/>
          <a:ln w="12700">
            <a:solidFill>
              <a:srgbClr val="6E6E73"/>
            </a:solidFill>
            <a:prstDash val="solid"/>
          </a:ln>
        </p:spPr>
      </p:sp>
      <p:sp>
        <p:nvSpPr>
          <p:cNvPr id="17" name="type2Desc"/>
          <p:cNvSpPr txBox="1"/>
          <p:nvPr/>
        </p:nvSpPr>
        <p:spPr>
          <a:xfrm>
            <a:off x="3977640" y="1399032"/>
            <a:ext cx="4983480" cy="384048"/>
          </a:xfrm>
          <a:prstGeom prst="rect">
            <a:avLst/>
          </a:prstGeom>
          <a:noFill/>
          <a:ln/>
        </p:spPr>
        <p:txBody>
          <a:bodyPr wrap="square" lIns="0" tIns="0" rIns="0" bIns="0" rtlCol="0" anchor="ctr"/>
          <a:lstStyle/>
          <a:p>
            <a:pPr indent="0" marL="0">
              <a:buNone/>
            </a:pPr>
            <a:r>
              <a:rPr lang="en-US" sz="800" dirty="0">
                <a:solidFill>
                  <a:srgbClr val="6E6E73"/>
                </a:solidFill>
                <a:latin typeface="SF Pro Text" pitchFamily="34" charset="0"/>
                <a:ea typeface="SF Pro Text" pitchFamily="34" charset="-122"/>
                <a:cs typeface="SF Pro Text" pitchFamily="34" charset="-120"/>
              </a:rPr>
              <a:t>Look for an existing cash-payment report on this job/CP before doing anything else.</a:t>
            </a:r>
            <a:endParaRPr lang="en-US" sz="800" dirty="0"/>
          </a:p>
        </p:txBody>
      </p:sp>
      <p:sp>
        <p:nvSpPr>
          <p:cNvPr id="18" name="Shape 14"/>
          <p:cNvSpPr/>
          <p:nvPr/>
        </p:nvSpPr>
        <p:spPr>
          <a:xfrm>
            <a:off x="457200" y="1819656"/>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819656"/>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Report on file, but not yet actioned</a:t>
            </a:r>
            <a:endParaRPr lang="en-US" sz="1000" dirty="0"/>
          </a:p>
        </p:txBody>
      </p:sp>
      <p:sp>
        <p:nvSpPr>
          <p:cNvPr id="20" name="Shape 16"/>
          <p:cNvSpPr/>
          <p:nvPr/>
        </p:nvSpPr>
        <p:spPr>
          <a:xfrm>
            <a:off x="2080260" y="2130552"/>
            <a:ext cx="0" cy="73152"/>
          </a:xfrm>
          <a:prstGeom prst="line">
            <a:avLst/>
          </a:prstGeom>
          <a:noFill/>
          <a:ln w="12700">
            <a:solidFill>
              <a:srgbClr val="6E6E73"/>
            </a:solidFill>
            <a:prstDash val="solid"/>
            <a:tailEnd type="triangle"/>
          </a:ln>
        </p:spPr>
      </p:sp>
      <p:sp>
        <p:nvSpPr>
          <p:cNvPr id="21" name="Shape 17"/>
          <p:cNvSpPr/>
          <p:nvPr/>
        </p:nvSpPr>
        <p:spPr>
          <a:xfrm>
            <a:off x="3703320" y="1975104"/>
            <a:ext cx="182880" cy="0"/>
          </a:xfrm>
          <a:prstGeom prst="line">
            <a:avLst/>
          </a:prstGeom>
          <a:noFill/>
          <a:ln w="12700">
            <a:solidFill>
              <a:srgbClr val="6E6E73"/>
            </a:solidFill>
            <a:prstDash val="solid"/>
          </a:ln>
        </p:spPr>
      </p:sp>
      <p:sp>
        <p:nvSpPr>
          <p:cNvPr id="22" name="type3Desc"/>
          <p:cNvSpPr txBox="1"/>
          <p:nvPr/>
        </p:nvSpPr>
        <p:spPr>
          <a:xfrm>
            <a:off x="3977640" y="1783080"/>
            <a:ext cx="4983480" cy="384048"/>
          </a:xfrm>
          <a:prstGeom prst="rect">
            <a:avLst/>
          </a:prstGeom>
          <a:noFill/>
          <a:ln/>
        </p:spPr>
        <p:txBody>
          <a:bodyPr wrap="square" lIns="0" tIns="0" rIns="0" bIns="0" rtlCol="0" anchor="ctr"/>
          <a:lstStyle/>
          <a:p>
            <a:pPr indent="0" marL="0">
              <a:buNone/>
            </a:pPr>
            <a:r>
              <a:rPr lang="en-US" sz="800" dirty="0">
                <a:solidFill>
                  <a:srgbClr val="6E6E73"/>
                </a:solidFill>
                <a:latin typeface="SF Pro Text" pitchFamily="34" charset="0"/>
                <a:ea typeface="SF Pro Text" pitchFamily="34" charset="-122"/>
                <a:cs typeface="SF Pro Text" pitchFamily="34" charset="-120"/>
              </a:rPr>
              <a:t>Resolve it yourself. Get the amount first (or a clear "paid in full"). Pending Invoice: cancel via C CRM, or invoice the balance if partial. Invoiced: refund via CP Dashboard. Soft ladder.</a:t>
            </a:r>
            <a:endParaRPr lang="en-US" sz="800" dirty="0"/>
          </a:p>
        </p:txBody>
      </p:sp>
      <p:sp>
        <p:nvSpPr>
          <p:cNvPr id="23" name="Shape 19"/>
          <p:cNvSpPr/>
          <p:nvPr/>
        </p:nvSpPr>
        <p:spPr>
          <a:xfrm>
            <a:off x="457200" y="2203704"/>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20370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Nothing on file: ask C for proof</a:t>
            </a:r>
            <a:endParaRPr lang="en-US" sz="1000" dirty="0"/>
          </a:p>
        </p:txBody>
      </p:sp>
      <p:sp>
        <p:nvSpPr>
          <p:cNvPr id="25" name="Shape 21"/>
          <p:cNvSpPr/>
          <p:nvPr/>
        </p:nvSpPr>
        <p:spPr>
          <a:xfrm>
            <a:off x="2080260" y="2514600"/>
            <a:ext cx="0" cy="73152"/>
          </a:xfrm>
          <a:prstGeom prst="line">
            <a:avLst/>
          </a:prstGeom>
          <a:noFill/>
          <a:ln w="12700">
            <a:solidFill>
              <a:srgbClr val="6E6E73"/>
            </a:solidFill>
            <a:prstDash val="solid"/>
            <a:tailEnd type="triangle"/>
          </a:ln>
        </p:spPr>
      </p:sp>
      <p:sp>
        <p:nvSpPr>
          <p:cNvPr id="26" name="Shape 22"/>
          <p:cNvSpPr/>
          <p:nvPr/>
        </p:nvSpPr>
        <p:spPr>
          <a:xfrm>
            <a:off x="3703320" y="2359152"/>
            <a:ext cx="182880" cy="0"/>
          </a:xfrm>
          <a:prstGeom prst="line">
            <a:avLst/>
          </a:prstGeom>
          <a:noFill/>
          <a:ln w="12700">
            <a:solidFill>
              <a:srgbClr val="6E6E73"/>
            </a:solidFill>
            <a:prstDash val="solid"/>
          </a:ln>
        </p:spPr>
      </p:sp>
      <p:sp>
        <p:nvSpPr>
          <p:cNvPr id="27" name="type4Desc"/>
          <p:cNvSpPr txBox="1"/>
          <p:nvPr/>
        </p:nvSpPr>
        <p:spPr>
          <a:xfrm>
            <a:off x="3977640" y="2167128"/>
            <a:ext cx="4983480" cy="384048"/>
          </a:xfrm>
          <a:prstGeom prst="rect">
            <a:avLst/>
          </a:prstGeom>
          <a:noFill/>
          <a:ln/>
        </p:spPr>
        <p:txBody>
          <a:bodyPr wrap="square" lIns="0" tIns="0" rIns="0" bIns="0" rtlCol="0" anchor="ctr"/>
          <a:lstStyle/>
          <a:p>
            <a:pPr indent="0" marL="0">
              <a:buNone/>
            </a:pPr>
            <a:r>
              <a:rPr lang="en-US" sz="800" dirty="0">
                <a:solidFill>
                  <a:srgbClr val="6E6E73"/>
                </a:solidFill>
                <a:latin typeface="SF Pro Text" pitchFamily="34" charset="0"/>
                <a:ea typeface="SF Pro Text" pitchFamily="34" charset="-122"/>
                <a:cs typeface="SF Pro Text" pitchFamily="34" charset="-120"/>
              </a:rPr>
              <a:t>Encourage proof, don't require it.</a:t>
            </a:r>
            <a:endParaRPr lang="en-US" sz="800" dirty="0"/>
          </a:p>
        </p:txBody>
      </p:sp>
      <p:sp>
        <p:nvSpPr>
          <p:cNvPr id="28" name="Shape 24"/>
          <p:cNvSpPr/>
          <p:nvPr/>
        </p:nvSpPr>
        <p:spPr>
          <a:xfrm>
            <a:off x="457200" y="2587752"/>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5877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30" name="Shape 26"/>
          <p:cNvSpPr/>
          <p:nvPr/>
        </p:nvSpPr>
        <p:spPr>
          <a:xfrm>
            <a:off x="2080260" y="2898648"/>
            <a:ext cx="0" cy="73152"/>
          </a:xfrm>
          <a:prstGeom prst="line">
            <a:avLst/>
          </a:prstGeom>
          <a:noFill/>
          <a:ln w="12700">
            <a:solidFill>
              <a:srgbClr val="6E6E73"/>
            </a:solidFill>
            <a:prstDash val="solid"/>
            <a:tailEnd type="triangle"/>
          </a:ln>
        </p:spPr>
      </p:sp>
      <p:sp>
        <p:nvSpPr>
          <p:cNvPr id="31" name="Shape 27"/>
          <p:cNvSpPr/>
          <p:nvPr/>
        </p:nvSpPr>
        <p:spPr>
          <a:xfrm>
            <a:off x="3703320" y="2743200"/>
            <a:ext cx="182880" cy="0"/>
          </a:xfrm>
          <a:prstGeom prst="line">
            <a:avLst/>
          </a:prstGeom>
          <a:noFill/>
          <a:ln w="12700">
            <a:solidFill>
              <a:srgbClr val="6E6E73"/>
            </a:solidFill>
            <a:prstDash val="solid"/>
          </a:ln>
        </p:spPr>
      </p:sp>
      <p:sp>
        <p:nvSpPr>
          <p:cNvPr id="32" name="type5Desc"/>
          <p:cNvSpPr txBox="1"/>
          <p:nvPr/>
        </p:nvSpPr>
        <p:spPr>
          <a:xfrm>
            <a:off x="3977640" y="2551176"/>
            <a:ext cx="4983480" cy="384048"/>
          </a:xfrm>
          <a:prstGeom prst="rect">
            <a:avLst/>
          </a:prstGeom>
          <a:noFill/>
          <a:ln/>
        </p:spPr>
        <p:txBody>
          <a:bodyPr wrap="square" lIns="0" tIns="0" rIns="0" bIns="0" rtlCol="0" anchor="ctr"/>
          <a:lstStyle/>
          <a:p>
            <a:pPr indent="0" marL="0">
              <a:buNone/>
            </a:pPr>
            <a:r>
              <a:rPr lang="en-US" sz="80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00" dirty="0"/>
          </a:p>
        </p:txBody>
      </p:sp>
      <p:sp>
        <p:nvSpPr>
          <p:cNvPr id="33" name="Shape 29"/>
          <p:cNvSpPr/>
          <p:nvPr/>
        </p:nvSpPr>
        <p:spPr>
          <a:xfrm>
            <a:off x="457200" y="2971800"/>
            <a:ext cx="3246120" cy="310896"/>
          </a:xfrm>
          <a:prstGeom prst="roundRect">
            <a:avLst>
              <a:gd name="adj" fmla="val 23529"/>
            </a:avLst>
          </a:prstGeom>
          <a:solidFill>
            <a:srgbClr val="0B7A6F"/>
          </a:solidFill>
          <a:ln w="12700">
            <a:solidFill>
              <a:srgbClr val="0B7A6F"/>
            </a:solidFill>
            <a:prstDash val="solid"/>
          </a:ln>
        </p:spPr>
      </p:sp>
      <p:sp>
        <p:nvSpPr>
          <p:cNvPr id="34" name="Text 30"/>
          <p:cNvSpPr txBox="1"/>
          <p:nvPr/>
        </p:nvSpPr>
        <p:spPr>
          <a:xfrm>
            <a:off x="457200" y="297180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5" name="Shape 31"/>
          <p:cNvSpPr/>
          <p:nvPr/>
        </p:nvSpPr>
        <p:spPr>
          <a:xfrm>
            <a:off x="2080260" y="3282696"/>
            <a:ext cx="0" cy="73152"/>
          </a:xfrm>
          <a:prstGeom prst="line">
            <a:avLst/>
          </a:prstGeom>
          <a:noFill/>
          <a:ln w="12700">
            <a:solidFill>
              <a:srgbClr val="6E6E73"/>
            </a:solidFill>
            <a:prstDash val="solid"/>
            <a:tailEnd type="triangle"/>
          </a:ln>
        </p:spPr>
      </p:sp>
      <p:sp>
        <p:nvSpPr>
          <p:cNvPr id="36" name="Shape 32"/>
          <p:cNvSpPr/>
          <p:nvPr/>
        </p:nvSpPr>
        <p:spPr>
          <a:xfrm>
            <a:off x="3703320" y="3127248"/>
            <a:ext cx="182880" cy="0"/>
          </a:xfrm>
          <a:prstGeom prst="line">
            <a:avLst/>
          </a:prstGeom>
          <a:noFill/>
          <a:ln w="12700">
            <a:solidFill>
              <a:srgbClr val="6E6E73"/>
            </a:solidFill>
            <a:prstDash val="solid"/>
          </a:ln>
        </p:spPr>
      </p:sp>
      <p:sp>
        <p:nvSpPr>
          <p:cNvPr id="37" name="type6Desc"/>
          <p:cNvSpPr txBox="1"/>
          <p:nvPr/>
        </p:nvSpPr>
        <p:spPr>
          <a:xfrm>
            <a:off x="3977640" y="2935224"/>
            <a:ext cx="4983480" cy="384048"/>
          </a:xfrm>
          <a:prstGeom prst="rect">
            <a:avLst/>
          </a:prstGeom>
          <a:noFill/>
          <a:ln/>
        </p:spPr>
        <p:txBody>
          <a:bodyPr wrap="square" lIns="0" tIns="0" rIns="0" bIns="0" rtlCol="0" anchor="ctr"/>
          <a:lstStyle/>
          <a:p>
            <a:pPr indent="0" marL="0">
              <a:buNone/>
            </a:pPr>
            <a:r>
              <a:rPr lang="en-US" sz="800" dirty="0">
                <a:solidFill>
                  <a:srgbClr val="6E6E73"/>
                </a:solidFill>
                <a:latin typeface="SF Pro Text" pitchFamily="34" charset="0"/>
                <a:ea typeface="SF Pro Text" pitchFamily="34" charset="-122"/>
                <a:cs typeface="SF Pro Text" pitchFamily="34" charset="-120"/>
              </a:rPr>
              <a:t>Pick the ticket back up when it triggers.</a:t>
            </a:r>
            <a:endParaRPr lang="en-US" sz="800" dirty="0"/>
          </a:p>
        </p:txBody>
      </p:sp>
      <p:sp>
        <p:nvSpPr>
          <p:cNvPr id="38" name="Shape 34"/>
          <p:cNvSpPr/>
          <p:nvPr/>
        </p:nvSpPr>
        <p:spPr>
          <a:xfrm>
            <a:off x="457200" y="3355848"/>
            <a:ext cx="3246120" cy="310896"/>
          </a:xfrm>
          <a:prstGeom prst="roundRect">
            <a:avLst>
              <a:gd name="adj" fmla="val 23529"/>
            </a:avLst>
          </a:prstGeom>
          <a:solidFill>
            <a:srgbClr val="0B7A6F"/>
          </a:solidFill>
          <a:ln w="12700">
            <a:solidFill>
              <a:srgbClr val="0B7A6F"/>
            </a:solidFill>
            <a:prstDash val="solid"/>
          </a:ln>
        </p:spPr>
      </p:sp>
      <p:sp>
        <p:nvSpPr>
          <p:cNvPr id="39" name="Text 35"/>
          <p:cNvSpPr txBox="1"/>
          <p:nvPr/>
        </p:nvSpPr>
        <p:spPr>
          <a:xfrm>
            <a:off x="457200" y="335584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40" name="Shape 36"/>
          <p:cNvSpPr/>
          <p:nvPr/>
        </p:nvSpPr>
        <p:spPr>
          <a:xfrm>
            <a:off x="2080260" y="3666744"/>
            <a:ext cx="0" cy="73152"/>
          </a:xfrm>
          <a:prstGeom prst="line">
            <a:avLst/>
          </a:prstGeom>
          <a:noFill/>
          <a:ln w="12700">
            <a:solidFill>
              <a:srgbClr val="6E6E73"/>
            </a:solidFill>
            <a:prstDash val="solid"/>
            <a:tailEnd type="triangle"/>
          </a:ln>
        </p:spPr>
      </p:sp>
      <p:sp>
        <p:nvSpPr>
          <p:cNvPr id="41" name="Shape 37"/>
          <p:cNvSpPr/>
          <p:nvPr/>
        </p:nvSpPr>
        <p:spPr>
          <a:xfrm>
            <a:off x="3703320" y="3511296"/>
            <a:ext cx="182880" cy="0"/>
          </a:xfrm>
          <a:prstGeom prst="line">
            <a:avLst/>
          </a:prstGeom>
          <a:noFill/>
          <a:ln w="12700">
            <a:solidFill>
              <a:srgbClr val="6E6E73"/>
            </a:solidFill>
            <a:prstDash val="solid"/>
          </a:ln>
        </p:spPr>
      </p:sp>
      <p:sp>
        <p:nvSpPr>
          <p:cNvPr id="42" name="type7Desc"/>
          <p:cNvSpPr txBox="1"/>
          <p:nvPr/>
        </p:nvSpPr>
        <p:spPr>
          <a:xfrm>
            <a:off x="3977640" y="3319272"/>
            <a:ext cx="4983480" cy="384048"/>
          </a:xfrm>
          <a:prstGeom prst="rect">
            <a:avLst/>
          </a:prstGeom>
          <a:noFill/>
          <a:ln/>
        </p:spPr>
        <p:txBody>
          <a:bodyPr wrap="square" lIns="0" tIns="0" rIns="0" bIns="0" rtlCol="0" anchor="ctr"/>
          <a:lstStyle/>
          <a:p>
            <a:pPr indent="0" marL="0">
              <a:buNone/>
            </a:pPr>
            <a:r>
              <a:rPr lang="en-US" sz="800" dirty="0">
                <a:solidFill>
                  <a:srgbClr val="6E6E73"/>
                </a:solidFill>
                <a:latin typeface="SF Pro Text" pitchFamily="34" charset="0"/>
                <a:ea typeface="SF Pro Text" pitchFamily="34" charset="-122"/>
                <a:cs typeface="SF Pro Text" pitchFamily="34" charset="-120"/>
              </a:rPr>
              <a:t>Resolve per job status, whatever the CP says. It's treated as getting caught, not disclosing.</a:t>
            </a:r>
            <a:endParaRPr lang="en-US" sz="800" dirty="0"/>
          </a:p>
        </p:txBody>
      </p:sp>
      <p:sp>
        <p:nvSpPr>
          <p:cNvPr id="43" name="Shape 39"/>
          <p:cNvSpPr/>
          <p:nvPr/>
        </p:nvSpPr>
        <p:spPr>
          <a:xfrm>
            <a:off x="457200" y="3739896"/>
            <a:ext cx="3246120" cy="310896"/>
          </a:xfrm>
          <a:prstGeom prst="roundRect">
            <a:avLst>
              <a:gd name="adj" fmla="val 23529"/>
            </a:avLst>
          </a:prstGeom>
          <a:solidFill>
            <a:srgbClr val="0B7A6F"/>
          </a:solidFill>
          <a:ln w="12700">
            <a:solidFill>
              <a:srgbClr val="0B7A6F"/>
            </a:solidFill>
            <a:prstDash val="solid"/>
          </a:ln>
        </p:spPr>
      </p:sp>
      <p:sp>
        <p:nvSpPr>
          <p:cNvPr id="44" name="Text 40"/>
          <p:cNvSpPr txBox="1"/>
          <p:nvPr/>
        </p:nvSpPr>
        <p:spPr>
          <a:xfrm>
            <a:off x="457200" y="3739896"/>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CP admits it → soft ladder</a:t>
            </a:r>
            <a:endParaRPr lang="en-US" sz="1000" dirty="0"/>
          </a:p>
        </p:txBody>
      </p:sp>
      <p:sp>
        <p:nvSpPr>
          <p:cNvPr id="45" name="Shape 41"/>
          <p:cNvSpPr/>
          <p:nvPr/>
        </p:nvSpPr>
        <p:spPr>
          <a:xfrm>
            <a:off x="2080260" y="4050792"/>
            <a:ext cx="0" cy="73152"/>
          </a:xfrm>
          <a:prstGeom prst="line">
            <a:avLst/>
          </a:prstGeom>
          <a:noFill/>
          <a:ln w="12700">
            <a:solidFill>
              <a:srgbClr val="6E6E73"/>
            </a:solidFill>
            <a:prstDash val="solid"/>
            <a:tailEnd type="triangle"/>
          </a:ln>
        </p:spPr>
      </p:sp>
      <p:sp>
        <p:nvSpPr>
          <p:cNvPr id="46" name="Shape 42"/>
          <p:cNvSpPr/>
          <p:nvPr/>
        </p:nvSpPr>
        <p:spPr>
          <a:xfrm>
            <a:off x="3703320" y="3895344"/>
            <a:ext cx="182880" cy="0"/>
          </a:xfrm>
          <a:prstGeom prst="line">
            <a:avLst/>
          </a:prstGeom>
          <a:noFill/>
          <a:ln w="12700">
            <a:solidFill>
              <a:srgbClr val="6E6E73"/>
            </a:solidFill>
            <a:prstDash val="solid"/>
          </a:ln>
        </p:spPr>
      </p:sp>
      <p:sp>
        <p:nvSpPr>
          <p:cNvPr id="47" name="type8Desc"/>
          <p:cNvSpPr txBox="1"/>
          <p:nvPr/>
        </p:nvSpPr>
        <p:spPr>
          <a:xfrm>
            <a:off x="3977640" y="3703320"/>
            <a:ext cx="4983480" cy="384048"/>
          </a:xfrm>
          <a:prstGeom prst="rect">
            <a:avLst/>
          </a:prstGeom>
          <a:noFill/>
          <a:ln/>
        </p:spPr>
        <p:txBody>
          <a:bodyPr wrap="square" lIns="0" tIns="0" rIns="0" bIns="0" rtlCol="0" anchor="ctr"/>
          <a:lstStyle/>
          <a:p>
            <a:pPr indent="0" marL="0">
              <a:buNone/>
            </a:pPr>
            <a:r>
              <a:rPr lang="en-US" sz="800" dirty="0">
                <a:solidFill>
                  <a:srgbClr val="6E6E73"/>
                </a:solidFill>
                <a:latin typeface="SF Pro Text" pitchFamily="34" charset="0"/>
                <a:ea typeface="SF Pro Text" pitchFamily="34" charset="-122"/>
                <a:cs typeface="SF Pro Text" pitchFamily="34" charset="-120"/>
              </a:rPr>
              <a:t>Resolve per job status. It's still an admission, just a later one.</a:t>
            </a:r>
            <a:endParaRPr lang="en-US" sz="800" dirty="0"/>
          </a:p>
        </p:txBody>
      </p:sp>
      <p:sp>
        <p:nvSpPr>
          <p:cNvPr id="48" name="Shape 44"/>
          <p:cNvSpPr/>
          <p:nvPr/>
        </p:nvSpPr>
        <p:spPr>
          <a:xfrm>
            <a:off x="457200" y="4123944"/>
            <a:ext cx="3246120" cy="310896"/>
          </a:xfrm>
          <a:prstGeom prst="roundRect">
            <a:avLst>
              <a:gd name="adj" fmla="val 23529"/>
            </a:avLst>
          </a:prstGeom>
          <a:solidFill>
            <a:srgbClr val="FFFFFF"/>
          </a:solidFill>
          <a:ln w="12700">
            <a:solidFill>
              <a:srgbClr val="DCE1E7"/>
            </a:solidFill>
            <a:prstDash val="solid"/>
          </a:ln>
        </p:spPr>
      </p:sp>
      <p:sp>
        <p:nvSpPr>
          <p:cNvPr id="49" name="Text 45"/>
          <p:cNvSpPr txBox="1"/>
          <p:nvPr/>
        </p:nvSpPr>
        <p:spPr>
          <a:xfrm>
            <a:off x="457200" y="4123944"/>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50" name="Shape 46"/>
          <p:cNvSpPr/>
          <p:nvPr/>
        </p:nvSpPr>
        <p:spPr>
          <a:xfrm>
            <a:off x="3703320" y="4279392"/>
            <a:ext cx="182880" cy="0"/>
          </a:xfrm>
          <a:prstGeom prst="line">
            <a:avLst/>
          </a:prstGeom>
          <a:noFill/>
          <a:ln w="12700">
            <a:solidFill>
              <a:srgbClr val="6E6E73"/>
            </a:solidFill>
            <a:prstDash val="solid"/>
          </a:ln>
        </p:spPr>
      </p:sp>
      <p:sp>
        <p:nvSpPr>
          <p:cNvPr id="51" name="type9Desc"/>
          <p:cNvSpPr txBox="1"/>
          <p:nvPr/>
        </p:nvSpPr>
        <p:spPr>
          <a:xfrm>
            <a:off x="3977640" y="4087368"/>
            <a:ext cx="4983480" cy="384048"/>
          </a:xfrm>
          <a:prstGeom prst="rect">
            <a:avLst/>
          </a:prstGeom>
          <a:noFill/>
          <a:ln/>
        </p:spPr>
        <p:txBody>
          <a:bodyPr wrap="square" lIns="0" tIns="0" rIns="0" bIns="0" rtlCol="0" anchor="ctr"/>
          <a:lstStyle/>
          <a:p>
            <a:pPr indent="0" marL="0">
              <a:buNone/>
            </a:pPr>
            <a:r>
              <a:rPr lang="en-US" sz="80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iterate type="lt">
                                    <p:tmAbs val="40"/>
                                  </p:iterate>
                                  <p:childTnLst>
                                    <p:set>
                                      <p:cBhvr>
                                        <p:cTn id="3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7" grpId="0" animBg="1"/>
      <p:bldP spid="51"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2026-10-05T17:19:50Z</dcterms:created>
  <dcterms:modified xsi:type="dcterms:W3CDTF">2026-10-05T17:19:50Z</dcterms:modified>
</cp:coreProperties>
</file>