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seven topics: Overcharged Hours, Unauthorized Addition of Hours, False Invoice, Disintermediation (Cash Payment), Cleaner Didn't Show, Cleaner Cancellation, and Unauthorized Reschedule.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 Topics 5 to 7 cover reliability issues: no-shows, cleaner cancellations, and unauthorized reschedules.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A no-show is a serious reliability failure, but only report it when you're actually confident it happened. Reporting a no-show that didn't occur penalizes a CP unfairly, based on nothing more than a customer's assumption. The bar is certainty, not just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report a CP as a no-show via the Job Admin page if at least one is true: the customer says the CP was a no-show AND you have sufficient proof; you're 100% sure from customer/CP messages that the CP genuinely didn't show; or the customer left a review explicitly saying the CP was a no-show. Signals the system may pick up automatically (they don't confirm a no-show on their own, but are worth checking): the customer asked for the CP's ETA, or the CP sent an SMS with cancellation/reschedule intent. Reporting via the Job Admin page only works while the CP is still attached to the job (Claimed, Pending Invoice). Once the job reverts to Submitted or moves to Cancelled, there's no CP-job link to report against. If the CP was a no-show and the job is Invoiced, follow the False Invoice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CP showed an intent to reschedule before the scheduled start time, don't report it as a No Show in Job Admin. Cancel the appointment through C-CRM using the CP No Show/Reschedule code. Coaching for a no-show would normally encourage the CP to reschedule rather than cancel, and the CP already tried to, so the penalty can be waived. Before start: cancel via C-CRM (no penalty + coaching). After start: report as no-show via Job Admin (penalty + coaching). At the start time: assess whether the CP should be penalized based on the reason for rescheduling.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all statuses: before choosing a resolution, check the Quick Reference table (next slide) for credits and free-month eligibility. Weigh the customer's emotional state, whether they're asking for a refund or hinting at cancelling, and whether they already have recent credits/vouchers. If the customer doesn't seem upset and isn't asking for a refund, consider non-credit options first (Priority Booking, blocking the C/CP pairing). Penalize per CP penalty guidance. Claimed or Pending Invoice: if the CP should be penalized, report the no-show (Job Admin Page &gt; No Show); after reporting, the job resolves to Cancelled or Submitted, so follow that column. If no penalty applies (e.g. reschedule intent before the start time), cancel the job from C-CRM with the CP No Show/Reschedule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months reminder. With service cancellation intent: agents may issue free months for unused MFs (max 3, capped at unused paid MFs or months requested, whichever is lowest). Offering is discretionary unless C names a pain point tied to the unused MFs ("I've been paying but haven't gotten a cleaning", cost concerns); then it's expected and flagged in QA if skipped. With no cancellation intent: a service issue still gets the standard response (credits + help rebooking); upgrading to a free month for unused MFs only if C names them as a pain point. Example: C mentions a no-show, has 3 unused MFs, doesn't raise them: credits + priority rebooking. Example: C adds "I've got months just sitting there unused": issue the free month instead of (or alongside)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usually sets norequests or suspended on its own. If the system penalized the CP, leave it: coach the CP and tell them about the penalty and how to appeal. If it didn't, lean towards coaching; set norequests yourself only if the CP already has a couple of no-shows or cancellations. C-side agents never suspend or add DNR for a no-show (see CP Penalty: C-Side Handling). CP-facing reason code: cpq_noshow Your customer &lt;C'S NAME&gt; reported you didn't show up to their &lt;DAY, DATE&gt; job. Submit reactivation appeal through dashboard. Macros: No show (customer-facing); No Show/Cancellation (No Request) (CP-facing, &lt;10%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Didn't Show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Cleaner Cancellation is when a CP cancels a claimed job via their dashboard, or sends the customer a cancellation-intent SMS (which the system also detects). A CP with cancellation intent is supposed to try rescheduling with the customer first; cancelling outright is the fallback if the customer declines a new time. Related: Cleaner Didn't Show is the distinct scenario where the CP silently doesn't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Cancelling through the dashboard normally affects a CP's Keep Rate. Cancelling by reporting an emergency, a safety concern, or "client wants to cancel" through the CP App does not. Treating every cancellation as equally penalizable unfairly hits CPs who were upfront about a legitimate reason. Unlike a no-show, you don't report anything manually: the job history logs the cancellation, so the Keep Rate impact lands whatever job status results. The system only penalizes a CP cancellation within 7 days of a 1st C/CP match, or within 2 days of a repeat match. Cancelling via CRM (you, on the CP's behalf) never penalizes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job start time is already in the past and there are no other alternate start times: the job becomes Cancelled. If the start time is still in the future and there's still time to match a new CP: the job becomes Submitted again. If the customer has other available alternate start times: the job is rescheduled to one of them and returns to Submitted. The same rules apply if the CP cancelled via the CP App's Report Issue and chose "I have an emergency" or "My client wants to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Attempt to rematch first, not cancel outright: if there's still a chance to match another CP, take that route so the customer still gets their cleaning. 2) Check the Quick Reference table for credits and free months, with the same judgment as any reliability issue: emotional state, cancellation/refund intent, existing credits or vouchers. 3) Offer a Priority Booking if the customer doesn't get the outcome they wanted: no reschedule option, an auto-rescheduled time they didn't choose, or the job goes to Cancelled. 4) Block the C/CP pairing. 5) Send comms to customer and CP: coach the CP on reliability, penalize as necessary. 6) CP status: cancelling from the CP Dashboard is how the system penalizes the CP; it usually sets norequests or suspended itself. If it did, leave it, coach the CP and explain the penalty. If it didn't, lean towards coaching; set norequests only if the CP already has a couple of cancellations or no-shows. C-side agents never suspend or add DNR. Reason code: cpq_cancel Your customer &lt;C'S NAME&gt; reported you cancelled their &lt;DAY, DATE&gt; job. Submit reactivation appeal through dashboard. Macros: CP Cancel &gt; Job Cancelled (customer-facing); No Show/Cancellation (No Request) (CP-facing); No Show/Cancellation (Permanent Deactivation)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has the option to reschedule: customer reschedules: Submitted; customer doesn't reschedule: Cancelled. Either way the CP's Keep Rate is still impacted since the job history is logged, which can still lead to norequests or suspended. When the customer doesn't have the option (e.g. alternate times were already added to their appointment), the job may auto-reschedule to the latest alternate time. If no alternate times exist and rescheduling isn't offered, the job changes to Cancelled, with the same Keep Rate impact. Free months reminder: not mandatory and won't fail QA either way; hold off unless there's cancellation intent or C brings up the unused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Cancellation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Different from the routine, agreed-upon reschedule covered in Rescheduling (Bookings): here the customer never agreed to the new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right response depends on two things you check before deciding anything: is the CP who rescheduled still assigned to the job, and how far away is the original start time now? Skipping these can mean rebooking into a slot that creates a new Priority Fee, or penalizing a CP who has already been swapped off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still assigned: add the cp_unauthorized_reschedule flag to the CP's account and update their CP Step if warranted, then check how far away the original start time is (next slide). No, no longer assigned: review the CP's account for prior instances and update their CP Step if warranted; send the CP coaching comms using the applicable Comms Kit macro; offer the customer a Priority Booking and address any other pain points. The flag can still be added even if the CP is no longer assigned: it documents the CP's own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&gt;48 hours away: reschedule the job back to the original start time via the Customer Dashboard. 48 hours or less: check the customer's Priority Markup cohort (C CRM &gt; View). If the cohort is 30_to_50_pct or 50_to_100_pct, cancel the job via CRM using CP no-show/reschedule as the reason code, then rebook via CRM. Add an internal note: cp_unauthorized_reschedule cancelled J &lt;JOB ID&gt; to avoid priority_fee and recreated J &lt;JOB ID&gt;. Tell the customer their appointment was rebooked to their original preferred schedule and offer to add Alternate Start Times. Already in the past: follow AG: Pending Invoice's completion-verification steps, whether the job is Pending Invoice or Claimed. Job already cancelled/invoiced: offer a Priority Booking and address any other pain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1st instance: warning macro, no status change. 2nd+ instance: norequests plus the warning macro. Before pausing a CP, check their messages and flags for an earlier warning. C-side agents never suspend or add DNR; repeat offenders are the CP-side team's call. CP-facing reason code: cpq_reschedule Your customer &lt;C'S NAME&gt; reported you rescheduled their &lt;DAY, DATE&gt; job without permission. Submit reactivation appeal through dashboard. Macros: Unapproved reschedule (sample 1) (customer-facing, includes a $20 credit); Unapproved reschedule (sample 2) (customer-facing, no credit: apology + coordination note); Unauthorized Reschedule (Warning) (CP-facing, 1st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Reschedule.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Cash Payment (job status decides the action), Cleaner Didn't Show (be certain; reschedule intent matters), Cleaner Cancellation (how they cancelled matters; rematch first), and Unauthorized Reschedule (still assigned? how far is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Charges for time not delivered, off-platform payments, and cleaners who don't show, cancel or reschedule.</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Seven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384048">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Topic</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In one line</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01</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Overcharged Hours (OCH)</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02</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Unauthorized Addition of Hours</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03</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False Invoice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billed a job they never did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04</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Disintermediation: Cash Payment</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customer paid the cleaner directly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05</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Cleaner Didn't Show</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claimed the job but never came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06</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Cleaner Cancellation</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cancelled a claimed job</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07</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Unauthorized Reschedule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moved the job without the customer's OK</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Didn't Show</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claimed the job, then never communicated or never showed up.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valid to report a no-show</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Reschedule intent vs no-show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Handling by job status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Resolution and penalty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Certainty, not a complaint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report a no-show via the Job Admin page if at least one of these is true.</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Reported + proven</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says it, and you have sufficient proof.</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100% sure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Customer/CP messages show the CP genuinely didn't show.</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 a review</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customer's review explicitly says the CP was a no-show.</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Signals to check:  </a:t>
            </a:r>
            <a:pPr indent="0" marL="0">
              <a:buNone/>
            </a:pPr>
            <a:r>
              <a:rPr lang="en-US" sz="1000" dirty="0">
                <a:solidFill>
                  <a:srgbClr val="1D1D1F"/>
                </a:solidFill>
                <a:latin typeface="SF Pro Text" pitchFamily="34" charset="0"/>
                <a:ea typeface="SF Pro Text" pitchFamily="34" charset="-122"/>
                <a:cs typeface="SF Pro Text" pitchFamily="34" charset="-120"/>
              </a:rPr>
              <a:t>the customer asked for the CP's ETA, or the CP texted cancel/reschedule intent.</a:t>
            </a:r>
            <a:endParaRPr lang="en-US" sz="1000" dirty="0"/>
          </a:p>
        </p:txBody>
      </p:sp>
      <p:sp>
        <p:nvSpPr>
          <p:cNvPr id="24" name="Shape 17"/>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6" name="Text 18"/>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show via Admin Page:  </a:t>
            </a:r>
            <a:pPr indent="0" marL="0">
              <a:buNone/>
            </a:pPr>
            <a:r>
              <a:rPr lang="en-US" sz="1000" dirty="0">
                <a:solidFill>
                  <a:srgbClr val="1D1D1F"/>
                </a:solidFill>
                <a:latin typeface="SF Pro Text" pitchFamily="34" charset="0"/>
                <a:ea typeface="SF Pro Text" pitchFamily="34" charset="-122"/>
                <a:cs typeface="SF Pro Text" pitchFamily="34" charset="-120"/>
              </a:rPr>
              <a:t>Claimed or Pending Invoice. Already Invoiced? Follow the False Invoice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Reschedule intent or no-show?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C reports a no-show, check the C/CP messages first: when did the CP say they wanted to reschedule?</a:t>
            </a:r>
            <a:endParaRPr lang="en-US" sz="1200" dirty="0"/>
          </a:p>
        </p:txBody>
      </p:sp>
      <p:sp>
        <p:nvSpPr>
          <p:cNvPr id="6" name="Shape 3"/>
          <p:cNvSpPr/>
          <p:nvPr/>
        </p:nvSpPr>
        <p:spPr>
          <a:xfrm>
            <a:off x="411480" y="1417320"/>
            <a:ext cx="26822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Before the start time</a:t>
            </a:r>
            <a:endParaRPr lang="en-US" sz="1200" dirty="0"/>
          </a:p>
        </p:txBody>
      </p:sp>
      <p:sp>
        <p:nvSpPr>
          <p:cNvPr id="10" name="Text 6"/>
          <p:cNvSpPr txBox="1"/>
          <p:nvPr/>
        </p:nvSpPr>
        <p:spPr>
          <a:xfrm>
            <a:off x="5760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C-CRM with the CP No Show/Reschedule code. No penalty + coaching.</a:t>
            </a:r>
            <a:endParaRPr lang="en-US" sz="950" dirty="0"/>
          </a:p>
        </p:txBody>
      </p:sp>
      <p:sp>
        <p:nvSpPr>
          <p:cNvPr id="11" name="Shape 7"/>
          <p:cNvSpPr/>
          <p:nvPr/>
        </p:nvSpPr>
        <p:spPr>
          <a:xfrm>
            <a:off x="3230880" y="1417320"/>
            <a:ext cx="26822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At the start time</a:t>
            </a:r>
            <a:endParaRPr lang="en-US" sz="1200" dirty="0"/>
          </a:p>
        </p:txBody>
      </p:sp>
      <p:sp>
        <p:nvSpPr>
          <p:cNvPr id="15" name="Text 10"/>
          <p:cNvSpPr txBox="1"/>
          <p:nvPr/>
        </p:nvSpPr>
        <p:spPr>
          <a:xfrm>
            <a:off x="33954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Assess whether a penalty fits, based on the reason for rescheduling.</a:t>
            </a:r>
            <a:endParaRPr lang="en-US" sz="950" dirty="0"/>
          </a:p>
        </p:txBody>
      </p:sp>
      <p:sp>
        <p:nvSpPr>
          <p:cNvPr id="16" name="Shape 11"/>
          <p:cNvSpPr/>
          <p:nvPr/>
        </p:nvSpPr>
        <p:spPr>
          <a:xfrm>
            <a:off x="6050280" y="1417320"/>
            <a:ext cx="2682240" cy="1874520"/>
          </a:xfrm>
          <a:prstGeom prst="roundRect">
            <a:avLst>
              <a:gd name="adj" fmla="val 3902"/>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After the start time</a:t>
            </a:r>
            <a:endParaRPr lang="en-US" sz="1200" dirty="0"/>
          </a:p>
        </p:txBody>
      </p:sp>
      <p:sp>
        <p:nvSpPr>
          <p:cNvPr id="20" name="Text 14"/>
          <p:cNvSpPr txBox="1"/>
          <p:nvPr/>
        </p:nvSpPr>
        <p:spPr>
          <a:xfrm>
            <a:off x="62148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Report as a no-show via Job Admin. Penalty + coaching.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by job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NO SHOW</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850" dirty="0">
                <a:solidFill>
                  <a:srgbClr val="1D1D1F"/>
                </a:solidFill>
                <a:latin typeface="SF Pro Text" pitchFamily="34" charset="0"/>
                <a:ea typeface="SF Pro Text" pitchFamily="34" charset="-122"/>
                <a:cs typeface="SF Pro Text" pitchFamily="34" charset="-120"/>
              </a:rPr>
              <a:t>Penalize CP? Report the CP as a no-show: Job Admin Page › No Show.</a:t>
            </a:r>
            <a:endParaRPr lang="en-US" sz="850" dirty="0"/>
          </a:p>
          <a:p>
            <a:pPr algn="ctr" indent="0" marL="0">
              <a:buNone/>
            </a:pPr>
            <a:r>
              <a:rPr lang="en-US" sz="850" dirty="0">
                <a:solidFill>
                  <a:srgbClr val="1D1D1F"/>
                </a:solidFill>
                <a:latin typeface="SF Pro Text" pitchFamily="34" charset="0"/>
                <a:ea typeface="SF Pro Text" pitchFamily="34" charset="-122"/>
                <a:cs typeface="SF Pro Text" pitchFamily="34" charset="-120"/>
              </a:rPr>
              <a:t>No penalty? Cancel the job from C-CRM with the CP No Show/Reschedule code.</a:t>
            </a:r>
            <a:endParaRPr lang="en-US" sz="8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to book a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Resolution for CP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Credits and free months. The same table applies to cleaner cancellations.</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828800"/>
                <a:gridCol w="2377440"/>
                <a:gridCol w="4114800"/>
              </a:tblGrid>
              <a:tr h="384048">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Situation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Free month(s)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Non-FC member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no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(free/discounted cleaning already available)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with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Unused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FC hasn't started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FC started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Late (all cases above)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$10–25, for all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never more than asked for, max 3. Otherwise FCF: 1 if next MF within 2 weeks; DHJ: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9" name="Text 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for unused MFs:  </a:t>
            </a:r>
            <a:pPr indent="0" marL="0">
              <a:buNone/>
            </a:pPr>
            <a:r>
              <a:rPr lang="en-US" sz="1000" dirty="0">
                <a:solidFill>
                  <a:srgbClr val="1D1D1F"/>
                </a:solidFill>
                <a:latin typeface="SF Pro Text" pitchFamily="34" charset="0"/>
                <a:ea typeface="SF Pro Text" pitchFamily="34" charset="-122"/>
                <a:cs typeface="SF Pro Text" pitchFamily="34" charset="-120"/>
              </a:rPr>
              <a:t>expected only when C names them as a pain point. Otherwise optional.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CP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Reporting the no-show (Job Admin › No Show) is what triggers the penalty.</a:t>
            </a:r>
            <a:endParaRPr lang="en-US" sz="1200" dirty="0"/>
          </a:p>
        </p:txBody>
      </p:sp>
      <p:sp>
        <p:nvSpPr>
          <p:cNvPr id="6" name="Shape 3"/>
          <p:cNvSpPr/>
          <p:nvPr/>
        </p:nvSpPr>
        <p:spPr>
          <a:xfrm>
            <a:off x="411480" y="1280160"/>
            <a:ext cx="40919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penalized the CP</a:t>
            </a:r>
            <a:endParaRPr lang="en-US" sz="1200" dirty="0"/>
          </a:p>
        </p:txBody>
      </p:sp>
      <p:sp>
        <p:nvSpPr>
          <p:cNvPr id="10" name="Text 6"/>
          <p:cNvSpPr txBox="1"/>
          <p:nvPr/>
        </p:nvSpPr>
        <p:spPr>
          <a:xfrm>
            <a:off x="5760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the CP, explain the penalty and how to appeal.</a:t>
            </a:r>
            <a:endParaRPr lang="en-US" sz="950" dirty="0"/>
          </a:p>
        </p:txBody>
      </p:sp>
      <p:sp>
        <p:nvSpPr>
          <p:cNvPr id="11" name="Shape 7"/>
          <p:cNvSpPr/>
          <p:nvPr/>
        </p:nvSpPr>
        <p:spPr>
          <a:xfrm>
            <a:off x="4640580" y="1280160"/>
            <a:ext cx="40919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didn't</a:t>
            </a:r>
            <a:endParaRPr lang="en-US" sz="1200" dirty="0"/>
          </a:p>
        </p:txBody>
      </p:sp>
      <p:sp>
        <p:nvSpPr>
          <p:cNvPr id="15" name="Text 10"/>
          <p:cNvSpPr txBox="1"/>
          <p:nvPr/>
        </p:nvSpPr>
        <p:spPr>
          <a:xfrm>
            <a:off x="48051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Lean towards coaching. norequests only if they already have a couple of no-shows or cancellations.</a:t>
            </a:r>
            <a:endParaRPr lang="en-US" sz="950" dirty="0"/>
          </a:p>
        </p:txBody>
      </p:sp>
      <p:sp>
        <p:nvSpPr>
          <p:cNvPr id="16" name="Shape 11"/>
          <p:cNvSpPr/>
          <p:nvPr/>
        </p:nvSpPr>
        <p:spPr>
          <a:xfrm>
            <a:off x="411480" y="2880360"/>
            <a:ext cx="8321040" cy="566928"/>
          </a:xfrm>
          <a:prstGeom prst="roundRect">
            <a:avLst>
              <a:gd name="adj" fmla="val 12903"/>
            </a:avLst>
          </a:prstGeom>
          <a:solidFill>
            <a:srgbClr val="FFFFFF"/>
          </a:solidFill>
          <a:ln w="9525">
            <a:solidFill>
              <a:srgbClr val="DCE1E7"/>
            </a:solidFill>
            <a:prstDash val="solid"/>
          </a:ln>
        </p:spPr>
      </p:sp>
      <p:sp>
        <p:nvSpPr>
          <p:cNvPr id="17" name="Text 12"/>
          <p:cNvSpPr txBox="1"/>
          <p:nvPr/>
        </p:nvSpPr>
        <p:spPr>
          <a:xfrm>
            <a:off x="594360" y="288036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9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for a no-show.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the CP didn't show. Messages show the CP asked to move it to tomorrow, 2 hours before the start. Report a no-show?</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Reschedule intent before the start time: cancel via C-CRM with the CP No Show/Reschedule code. No penalty, coach the CP.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never came, but the job is already Invoiced.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You can't report a no-show here. Follow the False Invoice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Claimed and you're sure the CP didn't show. First step?</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Job Admin Page › No Show. Then follow the status it resolves to: Submitted or Cancelled.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system didn't penalize the CP. It's their first no-show. Set norequests?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Lean towards coaching. norequests only if they already have a couple of no-shows or cancellations. Never suspend or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 certain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Proof, messages or a review. Not just an assumption.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Reschedule intent matters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Before the start: cancel via C-CRM, no penalty. After: report the no-show.</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steps</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Claimed/Pending Invoice or Cancelled. Credits per the table.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cancelled a claimed job, from their dashboard or by texting the customer.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system treats a cancellation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to the job</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handling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can reschedule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every cancellation counts the same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the CP cancelled decides whether their Keep Rate is affected.</a:t>
            </a:r>
            <a:endParaRPr lang="en-US" sz="1200" dirty="0"/>
          </a:p>
        </p:txBody>
      </p:sp>
      <p:sp>
        <p:nvSpPr>
          <p:cNvPr id="6" name="Shape 3"/>
          <p:cNvSpPr/>
          <p:nvPr/>
        </p:nvSpPr>
        <p:spPr>
          <a:xfrm>
            <a:off x="411480" y="128016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Dashboard</a:t>
            </a:r>
            <a:endParaRPr lang="en-US" sz="1200" dirty="0"/>
          </a:p>
        </p:txBody>
      </p:sp>
      <p:sp>
        <p:nvSpPr>
          <p:cNvPr id="10" name="Text 6"/>
          <p:cNvSpPr txBox="1"/>
          <p:nvPr/>
        </p:nvSpPr>
        <p:spPr>
          <a:xfrm>
            <a:off x="5760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Counts toward Keep Rate, within 7 days (1st match) or 2 days (repeat match).</a:t>
            </a:r>
            <a:endParaRPr lang="en-US" sz="950" dirty="0"/>
          </a:p>
        </p:txBody>
      </p:sp>
      <p:sp>
        <p:nvSpPr>
          <p:cNvPr id="11" name="Shape 7"/>
          <p:cNvSpPr/>
          <p:nvPr/>
        </p:nvSpPr>
        <p:spPr>
          <a:xfrm>
            <a:off x="3230880" y="128016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App Report Issue</a:t>
            </a:r>
            <a:endParaRPr lang="en-US" sz="1200" dirty="0"/>
          </a:p>
        </p:txBody>
      </p:sp>
      <p:sp>
        <p:nvSpPr>
          <p:cNvPr id="15" name="Text 10"/>
          <p:cNvSpPr txBox="1"/>
          <p:nvPr/>
        </p:nvSpPr>
        <p:spPr>
          <a:xfrm>
            <a:off x="33954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Emergency, safety concern or "client wants to cancel": no Keep Rate impact.</a:t>
            </a:r>
            <a:endParaRPr lang="en-US" sz="950" dirty="0"/>
          </a:p>
        </p:txBody>
      </p:sp>
      <p:sp>
        <p:nvSpPr>
          <p:cNvPr id="16" name="Shape 11"/>
          <p:cNvSpPr/>
          <p:nvPr/>
        </p:nvSpPr>
        <p:spPr>
          <a:xfrm>
            <a:off x="6050280" y="128016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 via CRM</a:t>
            </a:r>
            <a:endParaRPr lang="en-US" sz="1200" dirty="0"/>
          </a:p>
        </p:txBody>
      </p:sp>
      <p:sp>
        <p:nvSpPr>
          <p:cNvPr id="20" name="Text 14"/>
          <p:cNvSpPr txBox="1"/>
          <p:nvPr/>
        </p:nvSpPr>
        <p:spPr>
          <a:xfrm>
            <a:off x="62148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cancel on the CP's behalf: never penalizes the CP.</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manual report needed: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logs the cancellation, so the Keep Rate impact lands either way.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to the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depends on timing and alternate start times.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120640"/>
                <a:gridCol w="3200400"/>
              </a:tblGrid>
              <a:tr h="50292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Resulting 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already passed, no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still in the future, time to match a new CP</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has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Rescheduled to one of them: 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rules:  </a:t>
            </a:r>
            <a:pPr indent="0" marL="0">
              <a:buNone/>
            </a:pPr>
            <a:r>
              <a:rPr lang="en-US" sz="1000" dirty="0">
                <a:solidFill>
                  <a:srgbClr val="1D1D1F"/>
                </a:solidFill>
                <a:latin typeface="SF Pro Text" pitchFamily="34" charset="0"/>
                <a:ea typeface="SF Pro Text" pitchFamily="34" charset="-122"/>
                <a:cs typeface="SF Pro Text" pitchFamily="34" charset="-120"/>
              </a:rPr>
              <a:t>when the CP cancels via CP App Report Issue ("emergency" or "client wants to cancel").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CANCELLATION</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Cancel via the CP Dashboard or rematch the CP.</a:t>
            </a:r>
            <a:endParaRPr lang="en-US" sz="9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the customer can reschedule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Keep Rate is impacted either way: the job history is logged.</a:t>
            </a:r>
            <a:endParaRPr lang="en-US" sz="1200" dirty="0"/>
          </a:p>
        </p:txBody>
      </p:sp>
      <p:sp>
        <p:nvSpPr>
          <p:cNvPr id="6" name="Text 3"/>
          <p:cNvSpPr txBox="1"/>
          <p:nvPr/>
        </p:nvSpPr>
        <p:spPr>
          <a:xfrm>
            <a:off x="438912" y="132588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CAN RESCHEDULE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572768"/>
          <a:ext cx="8321040" cy="914400"/>
        </p:xfrm>
        <a:graphic>
          <a:graphicData uri="http://schemas.openxmlformats.org/drawingml/2006/table">
            <a:tbl>
              <a:tblPr/>
              <a:tblGrid>
                <a:gridCol w="2377440"/>
                <a:gridCol w="1709928"/>
              </a:tblGrid>
              <a:tr h="41148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Customer action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Reschedules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Doesn't reschedule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4640580" y="1325880"/>
            <a:ext cx="4091940" cy="1600200"/>
          </a:xfrm>
          <a:prstGeom prst="roundRect">
            <a:avLst>
              <a:gd name="adj" fmla="val 4571"/>
            </a:avLst>
          </a:prstGeom>
          <a:solidFill>
            <a:srgbClr val="FFFFFF"/>
          </a:solidFill>
          <a:ln w="9525">
            <a:solidFill>
              <a:srgbClr val="DCE1E7"/>
            </a:solidFill>
            <a:prstDash val="solid"/>
          </a:ln>
        </p:spPr>
      </p:sp>
      <p:sp>
        <p:nvSpPr>
          <p:cNvPr id="9" name="Shape 5"/>
          <p:cNvSpPr/>
          <p:nvPr/>
        </p:nvSpPr>
        <p:spPr>
          <a:xfrm>
            <a:off x="4805172" y="14904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4884176" y="1569476"/>
            <a:ext cx="171176" cy="171176"/>
          </a:xfrm>
          <a:prstGeom prst="rect">
            <a:avLst/>
          </a:prstGeom>
        </p:spPr>
      </p:pic>
      <p:sp>
        <p:nvSpPr>
          <p:cNvPr id="11" name="Text 6"/>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option to reschedule</a:t>
            </a:r>
            <a:endParaRPr lang="en-US" sz="1200" dirty="0"/>
          </a:p>
        </p:txBody>
      </p:sp>
      <p:sp>
        <p:nvSpPr>
          <p:cNvPr id="12" name="Text 7"/>
          <p:cNvSpPr txBox="1"/>
          <p:nvPr/>
        </p:nvSpPr>
        <p:spPr>
          <a:xfrm>
            <a:off x="4805172" y="222199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Alternate times already added? It may auto-reschedule to the latest one. None? The job is Cancelled.</a:t>
            </a:r>
            <a:endParaRPr lang="en-US" sz="950" dirty="0"/>
          </a:p>
        </p:txBody>
      </p:sp>
      <p:sp>
        <p:nvSpPr>
          <p:cNvPr id="13" name="Shape 8"/>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14" name="Image 1" descr="preencoded.png">    </p:cNvPr>
          <p:cNvPicPr>
            <a:picLocks noChangeAspect="1"/>
          </p:cNvPicPr>
          <p:nvPr/>
        </p:nvPicPr>
        <p:blipFill>
          <a:blip r:embed="rId2"/>
          <a:stretch>
            <a:fillRect/>
          </a:stretch>
        </p:blipFill>
        <p:spPr>
          <a:xfrm>
            <a:off x="566928" y="3264408"/>
            <a:ext cx="164592" cy="164592"/>
          </a:xfrm>
          <a:prstGeom prst="rect">
            <a:avLst/>
          </a:prstGeom>
        </p:spPr>
      </p:pic>
      <p:sp>
        <p:nvSpPr>
          <p:cNvPr id="15" name="Text 9"/>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a:t>
            </a:r>
            <a:pPr indent="0" marL="0">
              <a:buNone/>
            </a:pPr>
            <a:r>
              <a:rPr lang="en-US" sz="1000" dirty="0">
                <a:solidFill>
                  <a:srgbClr val="1D1D1F"/>
                </a:solidFill>
                <a:latin typeface="SF Pro Text" pitchFamily="34" charset="0"/>
                <a:ea typeface="SF Pro Text" pitchFamily="34" charset="-122"/>
                <a:cs typeface="SF Pro Text" pitchFamily="34" charset="-120"/>
              </a:rPr>
              <a:t>not mandatory. Hold off unless there's cancellation intent or C raises unused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cancelled from the CP App with "My client wants to cancel." Is their Keep Rate affected?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Emergency, safety concern or "client wants to cancel" via the CP App doesn't count.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You cancel the job in the CRM on the CP's behalf. Is the CP penalized?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Cancelling via CRM never penalizes the CP.</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cancels; the start time is still days away. What happens, and what's your first move?</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job goes back to Submitted. Try to rematch first so the customer still gets their cleaning.</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auto-rescheduled to an alternate time the customer didn't pick.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 Priority Booking. Block the pairing, and check the table for credits.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they cancelled matters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Dashboard counts. CP App emergency or client-cancel doesn't. CRM never does.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Then Priority Booking if the outcome isn't what the customer wanted.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before you pause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System penalty? Leave it.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Reschedule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rescheduled the appointment without the customer's consent.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checks before you act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Still assigned: the start-time table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No longer assigned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Penalty and reason code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Check two things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Skipping straight to a fix can create a new Priority Fee, or penalize the wrong CP.</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Is the CP still assigned?</a:t>
            </a:r>
            <a:endParaRPr lang="en-US" sz="1200" dirty="0"/>
          </a:p>
        </p:txBody>
      </p:sp>
      <p:sp>
        <p:nvSpPr>
          <p:cNvPr id="10" name="Text 7"/>
          <p:cNvSpPr txBox="1"/>
          <p:nvPr/>
        </p:nvSpPr>
        <p:spPr>
          <a:xfrm>
            <a:off x="576072" y="222199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 the job still with the CP who rescheduled it?</a:t>
            </a:r>
            <a:endParaRPr lang="en-US" sz="950" dirty="0"/>
          </a:p>
        </p:txBody>
      </p:sp>
      <p:sp>
        <p:nvSpPr>
          <p:cNvPr id="11" name="Shape 8"/>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9"/>
          <p:cNvSpPr/>
          <p:nvPr/>
        </p:nvSpPr>
        <p:spPr>
          <a:xfrm>
            <a:off x="48051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far is the original start?</a:t>
            </a:r>
            <a:endParaRPr lang="en-US" sz="1200" dirty="0"/>
          </a:p>
        </p:txBody>
      </p:sp>
      <p:sp>
        <p:nvSpPr>
          <p:cNvPr id="15" name="Text 12"/>
          <p:cNvSpPr txBox="1"/>
          <p:nvPr/>
        </p:nvSpPr>
        <p:spPr>
          <a:xfrm>
            <a:off x="4805172" y="222199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48 hours, 48 hours or less, already past, or the job is closed?</a:t>
            </a:r>
            <a:endParaRPr lang="en-US" sz="950" dirty="0"/>
          </a:p>
        </p:txBody>
      </p:sp>
      <p:sp>
        <p:nvSpPr>
          <p:cNvPr id="16" name="Shape 13"/>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17" name="Image 0" descr="preencoded.png">    </p:cNvPr>
          <p:cNvPicPr>
            <a:picLocks noChangeAspect="1"/>
          </p:cNvPicPr>
          <p:nvPr/>
        </p:nvPicPr>
        <p:blipFill>
          <a:blip r:embed="rId1"/>
          <a:stretch>
            <a:fillRect/>
          </a:stretch>
        </p:blipFill>
        <p:spPr>
          <a:xfrm>
            <a:off x="566928" y="3310128"/>
            <a:ext cx="164592" cy="164592"/>
          </a:xfrm>
          <a:prstGeom prst="rect">
            <a:avLst/>
          </a:prstGeom>
        </p:spPr>
      </p:pic>
      <p:sp>
        <p:nvSpPr>
          <p:cNvPr id="18" name="Text 14"/>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avoid creating a new Priority Fee, and don't penalize a CP who was already swapped off.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guide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Step 1: is the job still assigned to the CP who rescheduled it?</a:t>
            </a:r>
            <a:endParaRPr lang="en-US" sz="1200" dirty="0"/>
          </a:p>
        </p:txBody>
      </p:sp>
      <p:sp>
        <p:nvSpPr>
          <p:cNvPr id="6" name="Shape 3"/>
          <p:cNvSpPr/>
          <p:nvPr/>
        </p:nvSpPr>
        <p:spPr>
          <a:xfrm>
            <a:off x="2834640" y="1280160"/>
            <a:ext cx="347472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834640" y="1280160"/>
            <a:ext cx="347472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Job still assigned to the CP</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who rescheduled it?</a:t>
            </a:r>
            <a:endParaRPr lang="en-US" sz="1000" dirty="0"/>
          </a:p>
        </p:txBody>
      </p:sp>
      <p:sp>
        <p:nvSpPr>
          <p:cNvPr id="8" name="Shape 5"/>
          <p:cNvSpPr/>
          <p:nvPr/>
        </p:nvSpPr>
        <p:spPr>
          <a:xfrm>
            <a:off x="4572000" y="1783080"/>
            <a:ext cx="0" cy="274320"/>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685800" y="2377440"/>
            <a:ext cx="3291840" cy="457200"/>
          </a:xfrm>
          <a:prstGeom prst="roundRect">
            <a:avLst>
              <a:gd name="adj" fmla="val 16000"/>
            </a:avLst>
          </a:prstGeom>
          <a:solidFill>
            <a:srgbClr val="0B7A6F"/>
          </a:solidFill>
          <a:ln w="12700">
            <a:solidFill>
              <a:srgbClr val="0B7A6F"/>
            </a:solidFill>
            <a:prstDash val="solid"/>
          </a:ln>
        </p:spPr>
      </p:sp>
      <p:sp>
        <p:nvSpPr>
          <p:cNvPr id="15" name="Text 12"/>
          <p:cNvSpPr txBox="1"/>
          <p:nvPr/>
        </p:nvSpPr>
        <p:spPr>
          <a:xfrm>
            <a:off x="685800" y="2377440"/>
            <a:ext cx="32918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Add flag + check the start time</a:t>
            </a:r>
            <a:endParaRPr lang="en-US" sz="1000" dirty="0"/>
          </a:p>
        </p:txBody>
      </p:sp>
      <p:sp>
        <p:nvSpPr>
          <p:cNvPr id="16" name="Shape 13"/>
          <p:cNvSpPr/>
          <p:nvPr/>
        </p:nvSpPr>
        <p:spPr>
          <a:xfrm>
            <a:off x="5166360" y="2377440"/>
            <a:ext cx="3291840" cy="457200"/>
          </a:xfrm>
          <a:prstGeom prst="roundRect">
            <a:avLst>
              <a:gd name="adj" fmla="val 16000"/>
            </a:avLst>
          </a:prstGeom>
          <a:solidFill>
            <a:srgbClr val="1D1D1F"/>
          </a:solidFill>
          <a:ln w="12700">
            <a:solidFill>
              <a:srgbClr val="1D1D1F"/>
            </a:solidFill>
            <a:prstDash val="solid"/>
          </a:ln>
        </p:spPr>
      </p:sp>
      <p:sp>
        <p:nvSpPr>
          <p:cNvPr id="17" name="Text 14"/>
          <p:cNvSpPr txBox="1"/>
          <p:nvPr/>
        </p:nvSpPr>
        <p:spPr>
          <a:xfrm>
            <a:off x="5166360" y="2377440"/>
            <a:ext cx="32918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the CP + Priority Booking</a:t>
            </a:r>
            <a:endParaRPr lang="en-US" sz="1000" dirty="0"/>
          </a:p>
        </p:txBody>
      </p:sp>
      <p:sp>
        <p:nvSpPr>
          <p:cNvPr id="18" name="Text 15"/>
          <p:cNvSpPr txBox="1"/>
          <p:nvPr/>
        </p:nvSpPr>
        <p:spPr>
          <a:xfrm>
            <a:off x="685800" y="2944368"/>
            <a:ext cx="3291840" cy="13716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the cp_unauthorized_reschedule flag. Update the CP Step if warranted.</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Check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how far away the original start time is (next slide).</a:t>
            </a:r>
            <a:endParaRPr lang="en-US" sz="900" dirty="0"/>
          </a:p>
        </p:txBody>
      </p:sp>
      <p:sp>
        <p:nvSpPr>
          <p:cNvPr id="19" name="Text 16"/>
          <p:cNvSpPr txBox="1"/>
          <p:nvPr/>
        </p:nvSpPr>
        <p:spPr>
          <a:xfrm>
            <a:off x="5166360" y="2944368"/>
            <a:ext cx="3291840" cy="13716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Review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the CP's account for prior instances. Update the CP Step if warranted.</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Send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coaching comms (Comms Kit macro).</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Offer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the customer a Priority Booking and address other pain points.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Still assigned: the original start time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the original start time sits now decides the fix.</a:t>
            </a:r>
            <a:endParaRPr lang="en-US" sz="12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286000"/>
                <a:gridCol w="6035040"/>
              </a:tblGrid>
              <a:tr h="50292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Original start time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More than 48 hours away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 back to the original start time via the Customer Dashboard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48 hours or less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Priority Markup cohort (C CRM › View). 30_to_50_pct or 50_to_100_pct: cancel via CRM (CP no-show/reschedule), rebook via CRM, add the internal note, tell the customer, offer Alternate Start Times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Already in the past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Follow AG: Pending Invoice's completion-verification steps (Pending Invoice or Claimed)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Job already cancelled or invoiced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Offer a Priority Booking and address any other pain points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502920"/>
          </a:xfrm>
          <a:prstGeom prst="roundRect">
            <a:avLst>
              <a:gd name="adj" fmla="val 14545"/>
            </a:avLst>
          </a:prstGeom>
          <a:solidFill>
            <a:srgbClr val="FFFFFF"/>
          </a:solidFill>
          <a:ln w="9525">
            <a:solidFill>
              <a:srgbClr val="DCE1E7"/>
            </a:solidFill>
            <a:prstDash val="solid"/>
          </a:ln>
        </p:spPr>
      </p:sp>
      <p:sp>
        <p:nvSpPr>
          <p:cNvPr id="8" name="Text 4"/>
          <p:cNvSpPr txBox="1"/>
          <p:nvPr/>
        </p:nvSpPr>
        <p:spPr>
          <a:xfrm>
            <a:off x="594360" y="4069080"/>
            <a:ext cx="8046720" cy="502920"/>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Internal note  </a:t>
            </a:r>
            <a:pPr indent="0" marL="0">
              <a:buNone/>
            </a:pPr>
            <a:r>
              <a:rPr lang="en-US" sz="950" dirty="0">
                <a:solidFill>
                  <a:srgbClr val="1D1D1F"/>
                </a:solidFill>
                <a:latin typeface="SF Pro Text" pitchFamily="34" charset="0"/>
                <a:ea typeface="SF Pro Text" pitchFamily="34" charset="-122"/>
                <a:cs typeface="SF Pro Text" pitchFamily="34" charset="-120"/>
              </a:rPr>
              <a:t>cp_unauthorized_reschedule cancelled J &lt;JOB ID&gt; to avoid priority_fee and recreated J &lt;JOB ID&gt;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and reason code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first unauthorized reschedule is coaching only.</a:t>
            </a:r>
            <a:endParaRPr lang="en-US" sz="1200" dirty="0"/>
          </a:p>
        </p:txBody>
      </p:sp>
      <p:sp>
        <p:nvSpPr>
          <p:cNvPr id="6" name="Shape 3"/>
          <p:cNvSpPr/>
          <p:nvPr/>
        </p:nvSpPr>
        <p:spPr>
          <a:xfrm>
            <a:off x="411480" y="1280160"/>
            <a:ext cx="409194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1st instance</a:t>
            </a:r>
            <a:endParaRPr lang="en-US" sz="1200" dirty="0"/>
          </a:p>
        </p:txBody>
      </p:sp>
      <p:sp>
        <p:nvSpPr>
          <p:cNvPr id="10" name="Text 7"/>
          <p:cNvSpPr txBox="1"/>
          <p:nvPr/>
        </p:nvSpPr>
        <p:spPr>
          <a:xfrm>
            <a:off x="5760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Warning macro. No status change.</a:t>
            </a:r>
            <a:endParaRPr lang="en-US" sz="950" dirty="0"/>
          </a:p>
        </p:txBody>
      </p:sp>
      <p:sp>
        <p:nvSpPr>
          <p:cNvPr id="11" name="Shape 8"/>
          <p:cNvSpPr/>
          <p:nvPr/>
        </p:nvSpPr>
        <p:spPr>
          <a:xfrm>
            <a:off x="4640580" y="1280160"/>
            <a:ext cx="4091940" cy="1417320"/>
          </a:xfrm>
          <a:prstGeom prst="roundRect">
            <a:avLst>
              <a:gd name="adj" fmla="val 5161"/>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instance</a:t>
            </a:r>
            <a:endParaRPr lang="en-US" sz="1200" dirty="0"/>
          </a:p>
        </p:txBody>
      </p:sp>
      <p:sp>
        <p:nvSpPr>
          <p:cNvPr id="15" name="Text 12"/>
          <p:cNvSpPr txBox="1"/>
          <p:nvPr/>
        </p:nvSpPr>
        <p:spPr>
          <a:xfrm>
            <a:off x="48051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plus the warning macro. Check messages and flags for an earlier warning first.</a:t>
            </a:r>
            <a:endParaRPr lang="en-US" sz="950" dirty="0"/>
          </a:p>
        </p:txBody>
      </p:sp>
      <p:sp>
        <p:nvSpPr>
          <p:cNvPr id="16" name="Shape 13"/>
          <p:cNvSpPr/>
          <p:nvPr/>
        </p:nvSpPr>
        <p:spPr>
          <a:xfrm>
            <a:off x="411480" y="2834640"/>
            <a:ext cx="8321040" cy="566928"/>
          </a:xfrm>
          <a:prstGeom prst="roundRect">
            <a:avLst>
              <a:gd name="adj" fmla="val 12903"/>
            </a:avLst>
          </a:prstGeom>
          <a:solidFill>
            <a:srgbClr val="FFFFFF"/>
          </a:solidFill>
          <a:ln w="9525">
            <a:solidFill>
              <a:srgbClr val="DCE1E7"/>
            </a:solidFill>
            <a:prstDash val="solid"/>
          </a:ln>
        </p:spPr>
      </p:sp>
      <p:sp>
        <p:nvSpPr>
          <p:cNvPr id="17" name="Text 14"/>
          <p:cNvSpPr txBox="1"/>
          <p:nvPr/>
        </p:nvSpPr>
        <p:spPr>
          <a:xfrm>
            <a:off x="594360" y="283464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950" dirty="0"/>
          </a:p>
        </p:txBody>
      </p:sp>
      <p:sp>
        <p:nvSpPr>
          <p:cNvPr id="18" name="Shape 15"/>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9"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0" name="Text 16"/>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Repeat offenders are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Whether the job is still assigned to the CP who rescheduled it.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The original start time is 4 days away.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Add the cp_unauthorized_reschedule flag, then reschedule back to the original time via the Customer Dashboard.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original start in 30 hours, cohort 50_to_100_pct.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CRM (CP no-show/reschedule), rebook via CRM, add the internal note, tell the customer, offer Alternate Start Times.</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CP's first unauthorized reschedule. Change their status?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Warning macro only. 2nd+ instance: norequests plus the warning.</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before you fix</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Still assigned? How far is the original start?</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Avoid a new Priority Fee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48 hours or less: check the cohort before rebooking.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first</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1st: warning only. 2nd+: norequests + warning.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2026-10-05T18:21:10Z</dcterms:created>
  <dcterms:modified xsi:type="dcterms:W3CDTF">2026-10-05T18:21:10Z</dcterms:modified>
</cp:coreProperties>
</file>