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5"/>
    <p:sldMasterId id="214748365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Lst>
  <p:sldSz cy="5143500" cx="9144000"/>
  <p:notesSz cx="6858000" cy="9144000"/>
  <p:embeddedFontLst>
    <p:embeddedFont>
      <p:font typeface="Play"/>
      <p:regular r:id="rId99"/>
      <p:bold r:id="rId100"/>
    </p:embeddedFont>
    <p:embeddedFont>
      <p:font typeface="Roboto"/>
      <p:regular r:id="rId101"/>
      <p:bold r:id="rId102"/>
      <p:italic r:id="rId103"/>
      <p:boldItalic r:id="rId10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10B021-F78A-4E02-AF73-8366E27A90AE}">
  <a:tblStyle styleId="{1110B021-F78A-4E02-AF73-8366E27A90AE}"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4" Type="http://schemas.openxmlformats.org/officeDocument/2006/relationships/font" Target="fonts/Roboto-bold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Roboto-italic.fntdata"/><Relationship Id="rId102" Type="http://schemas.openxmlformats.org/officeDocument/2006/relationships/font" Target="fonts/Roboto-bold.fntdata"/><Relationship Id="rId101" Type="http://schemas.openxmlformats.org/officeDocument/2006/relationships/font" Target="fonts/Roboto-regular.fntdata"/><Relationship Id="rId100" Type="http://schemas.openxmlformats.org/officeDocument/2006/relationships/font" Target="fonts/Play-bold.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font" Target="fonts/Play-regular.fntdata"/><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1" Type="http://schemas.openxmlformats.org/officeDocument/2006/relationships/hyperlink" Target="https://www.homeaglow.com/nocm/homeaglow/jobhistory/?job=13017704" TargetMode="External"/><Relationship Id="rId10" Type="http://schemas.openxmlformats.org/officeDocument/2006/relationships/hyperlink" Target="https://www.homeaglow.com/nocm/homeaglow/jobhistory/?job=13185262" TargetMode="External"/><Relationship Id="rId13" Type="http://schemas.openxmlformats.org/officeDocument/2006/relationships/hyperlink" Target="https://www.homeaglow.com/nocm/homeaglow/jobhistory/?job=13141708" TargetMode="External"/><Relationship Id="rId12" Type="http://schemas.openxmlformats.org/officeDocument/2006/relationships/hyperlink" Target="https://www.homeaglow.com/nocm/homeaglow/jobhistory/?job=12237744" TargetMode="External"/><Relationship Id="rId1" Type="http://schemas.openxmlformats.org/officeDocument/2006/relationships/notesMaster" Target="../notesMasters/notesMaster1.xml"/><Relationship Id="rId2" Type="http://schemas.openxmlformats.org/officeDocument/2006/relationships/hyperlink" Target="https://www.homeaglow.com/nocm/homeaglow/jobhistory/?job=12764874" TargetMode="External"/><Relationship Id="rId3" Type="http://schemas.openxmlformats.org/officeDocument/2006/relationships/hyperlink" Target="https://www.homeaglow.com/nocm/homeaglow/jobhistory/?job=12597056" TargetMode="External"/><Relationship Id="rId4" Type="http://schemas.openxmlformats.org/officeDocument/2006/relationships/hyperlink" Target="https://www.homeaglow.com/nocm/homeaglow/jobhistory/?job=12743197" TargetMode="External"/><Relationship Id="rId9" Type="http://schemas.openxmlformats.org/officeDocument/2006/relationships/hyperlink" Target="https://www.homeaglow.com/nocm/homeaglow/jobhistory/?job=12649542" TargetMode="External"/><Relationship Id="rId15" Type="http://schemas.openxmlformats.org/officeDocument/2006/relationships/hyperlink" Target="https://www.homeaglow.com/nocm/homeaglow/jobhistory/?job=13177674" TargetMode="External"/><Relationship Id="rId14" Type="http://schemas.openxmlformats.org/officeDocument/2006/relationships/hyperlink" Target="https://www.homeaglow.com/nocm/homeaglow/jobhistory/?job=13253648" TargetMode="External"/><Relationship Id="rId16" Type="http://schemas.openxmlformats.org/officeDocument/2006/relationships/hyperlink" Target="https://www.homeaglow.com/nocm/homeaglow/jobhistory/?job=12344303" TargetMode="External"/><Relationship Id="rId5" Type="http://schemas.openxmlformats.org/officeDocument/2006/relationships/hyperlink" Target="https://www.homeaglow.com/nocm/homeaglow/jobhistory/?job=12850470" TargetMode="External"/><Relationship Id="rId6" Type="http://schemas.openxmlformats.org/officeDocument/2006/relationships/hyperlink" Target="https://www.homeaglow.com/nocm/homeaglow/jobhistory/?job=13336222" TargetMode="External"/><Relationship Id="rId7" Type="http://schemas.openxmlformats.org/officeDocument/2006/relationships/hyperlink" Target="https://www.homeaglow.com/nocm/homeaglow/jobhistory/?job=12975033" TargetMode="External"/><Relationship Id="rId8" Type="http://schemas.openxmlformats.org/officeDocument/2006/relationships/hyperlink" Target="https://www.homeaglow.com/nocm/homeaglow/jobhistory/?job=13011864"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Welcome. This module covers Understanding Job History, Callback Handling, and C Price vs CP Pay. More topics will be added to this deck.</a:t>
            </a:r>
            <a:endParaRPr/>
          </a:p>
        </p:txBody>
      </p:sp>
      <p:sp>
        <p:nvSpPr>
          <p:cNvPr id="22" name="Google Shape;22;p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 name="Google Shape;39;p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Walk through today's agenda. In slideshow mode, click any topic to jump straight to it.</a:t>
            </a:r>
            <a:endParaRPr/>
          </a:p>
        </p:txBody>
      </p:sp>
      <p:sp>
        <p:nvSpPr>
          <p:cNvPr id="40" name="Google Shape;40;p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There are times we can't tell the full story of what happened to a job from the C/CP comms alone. The job history records every change made to the job, so we can understand how its status changed and what caused it.</a:t>
            </a:r>
            <a:endParaRPr/>
          </a:p>
        </p:txBody>
      </p:sp>
      <p:sp>
        <p:nvSpPr>
          <p:cNvPr id="89" name="Google Shape;89;p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There are instances where we cannot tell the full story of what happened to the job if we solely refer to the C/CP comms. The job history records any changes done within the job, so we can understand how the job status changed and what caused it. Check the job history whenever you're investigating a particular job, so you give the correct resolution.</a:t>
            </a:r>
            <a:endParaRPr/>
          </a:p>
        </p:txBody>
      </p:sp>
      <p:sp>
        <p:nvSpPr>
          <p:cNvPr id="120" name="Google Shape;120;p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On the customer's page in the New C CRM, every job in the jobs panels (Claimed &amp; Submitted, Completed Jobs and so on) has a small ⓘ icon next to the job ID. Clicking it opens that job's history. Names in the screenshot are sample training details.</a:t>
            </a:r>
            <a:endParaRPr/>
          </a:p>
        </p:txBody>
      </p:sp>
      <p:sp>
        <p:nvSpPr>
          <p:cNvPr id="146" name="Google Shape;146;p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TRAINER: each click (on a number or anywhere on the slide) reveals the next column description, 1 to 7, while the job history stays on screen. 1 Job Start: the job start time and date at the time the action was made. 2 Job Start After Action: the job start time after the action was made. 3 Action On: the time the action was taken. 4 Job Status Before Action: the status of the job before the action was taken. 5 Actor: the one who took the action (it can be the C, CP, CS, or system). 6 Action: the action taken on the job; actions are written in a very self-explanatory manner. 7 Comment: logs any essential detail to the action. The first column (ID) is the action ID, mostly used by product or support to edit the action in Django; CS doesn't use it. Names are sample training details.</a:t>
            </a:r>
            <a:endParaRPr/>
          </a:p>
        </p:txBody>
      </p:sp>
      <p:sp>
        <p:nvSpPr>
          <p:cNvPr id="168" name="Google Shape;168;p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Read the job history from bottom to top. Dates and times are in CT (Central Time): our system time is CT, and customers may be in a different time zone. The time formula in the upper-left corner of the CRM helps you convert (e.g. PDT -2, MDT -1, CDT 0, EDT +1).</a:t>
            </a:r>
            <a:endParaRPr/>
          </a:p>
        </p:txBody>
      </p:sp>
      <p:sp>
        <p:nvSpPr>
          <p:cNvPr id="202" name="Google Shape;202;p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TRAINER: let trainees read the job history first (bottom to top). Then click The Story (or press the right arrow) to reveal the story one line at a time, staying on this slide. Story: On Sept 7, 2026, the system booked a cleaning for C Anjuli Kintanar scheduled for Sept 21 10AM CT through the recurring cleaning plan. On Sept 14, CP Truffle Wuffle claimed the job as scheduled. On Sept 21 9:19AM CT, CP Truffle Wuffle rescheduled the appointment from Sept 21, 10AM CT to Sept 22, 11AM. On Sept 21 9:50 AM CT, CP Truffle Wuffle rescheduled the appointment again from Sept 22, 11AM to Sept 24, 12:30 PM CT. On Sept 24, 4:09 PM CT, CP Truffle Wuffle invoiced the appointment and the system logged it in snapshot.</a:t>
            </a:r>
            <a:br>
              <a:rPr lang="en"/>
            </a:br>
            <a:endParaRPr sz="8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
        <p:nvSpPr>
          <p:cNvPr id="227" name="Google Shape;227;p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TRAINER NOTE: Open the practice job history during the slideshow using the button (https://www.homeaglow.com/nocm/homeaglow/jobhistory/?job=12685237). Give trainees time to answer, then go through the answers together, row by row from the bottom up.</a:t>
            </a:r>
            <a:br>
              <a:rPr lang="en"/>
            </a:br>
            <a:br>
              <a:rPr lang="en"/>
            </a:br>
            <a:br>
              <a:rPr lang="en">
                <a:solidFill>
                  <a:schemeClr val="dk1"/>
                </a:solidFill>
              </a:rPr>
            </a:br>
            <a:r>
              <a:rPr lang="en" sz="800">
                <a:solidFill>
                  <a:schemeClr val="dk1"/>
                </a:solidFill>
                <a:latin typeface="Roboto"/>
                <a:ea typeface="Roboto"/>
                <a:cs typeface="Roboto"/>
                <a:sym typeface="Roboto"/>
              </a:rPr>
              <a:t>Job History Activity</a:t>
            </a:r>
            <a:endParaRPr sz="800">
              <a:solidFill>
                <a:schemeClr val="dk1"/>
              </a:solidFill>
              <a:latin typeface="Roboto"/>
              <a:ea typeface="Roboto"/>
              <a:cs typeface="Roboto"/>
              <a:sym typeface="Roboto"/>
            </a:endParaRPr>
          </a:p>
          <a:p>
            <a:pPr indent="-279400" lvl="0" marL="457200" rtl="0" algn="l">
              <a:lnSpc>
                <a:spcPct val="115000"/>
              </a:lnSpc>
              <a:spcBef>
                <a:spcPts val="100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2"/>
              </a:rPr>
              <a:t>Ticket 1</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3"/>
              </a:rPr>
              <a:t>Ticket 2</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4"/>
              </a:rPr>
              <a:t>Ticket 3</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5"/>
              </a:rPr>
              <a:t>Ticket 4</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6"/>
              </a:rPr>
              <a:t>Ticket 5</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7"/>
              </a:rPr>
              <a:t>Ticket 6</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8"/>
              </a:rPr>
              <a:t>Ticket 7</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9"/>
              </a:rPr>
              <a:t>Ticket 8</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10"/>
              </a:rPr>
              <a:t>Ticket 9</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11"/>
              </a:rPr>
              <a:t>Ticket 10</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12"/>
              </a:rPr>
              <a:t>Ticket 11</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13"/>
              </a:rPr>
              <a:t>Ticket 12</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14"/>
              </a:rPr>
              <a:t>Ticket 13</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15"/>
              </a:rPr>
              <a:t>Ticket 14</a:t>
            </a:r>
            <a:endParaRPr sz="800">
              <a:solidFill>
                <a:schemeClr val="dk1"/>
              </a:solidFill>
              <a:latin typeface="Roboto"/>
              <a:ea typeface="Roboto"/>
              <a:cs typeface="Roboto"/>
              <a:sym typeface="Roboto"/>
            </a:endParaRPr>
          </a:p>
          <a:p>
            <a:pPr indent="-279400" lvl="0" marL="457200" rtl="0" algn="l">
              <a:lnSpc>
                <a:spcPct val="115000"/>
              </a:lnSpc>
              <a:spcBef>
                <a:spcPts val="0"/>
              </a:spcBef>
              <a:spcAft>
                <a:spcPts val="0"/>
              </a:spcAft>
              <a:buClr>
                <a:schemeClr val="dk1"/>
              </a:buClr>
              <a:buSzPts val="800"/>
              <a:buFont typeface="Roboto"/>
              <a:buChar char="●"/>
            </a:pPr>
            <a:r>
              <a:rPr lang="en" sz="800">
                <a:solidFill>
                  <a:schemeClr val="hlink"/>
                </a:solidFill>
                <a:uFill>
                  <a:noFill/>
                </a:uFill>
                <a:latin typeface="Roboto"/>
                <a:ea typeface="Roboto"/>
                <a:cs typeface="Roboto"/>
                <a:sym typeface="Roboto"/>
                <a:hlinkClick r:id="rId16"/>
              </a:rPr>
              <a:t>Ticket 15</a:t>
            </a:r>
            <a:endParaRPr/>
          </a:p>
        </p:txBody>
      </p:sp>
      <p:sp>
        <p:nvSpPr>
          <p:cNvPr id="245" name="Google Shape;245;p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a:t>
            </a:r>
            <a:endParaRPr/>
          </a:p>
        </p:txBody>
      </p:sp>
      <p:sp>
        <p:nvSpPr>
          <p:cNvPr id="272" name="Google Shape;272;p1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We don't have inbound phone support, but outbound calls are a tool we use whenever a customer asks for one, or when something needs an immediate answer (like confirming a double-booking). Category: Platform &amp; Operating Mechanics.</a:t>
            </a:r>
            <a:endParaRPr/>
          </a:p>
        </p:txBody>
      </p:sp>
      <p:sp>
        <p:nvSpPr>
          <p:cNvPr id="290" name="Google Shape;290;p1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Agent Do: if a customer requests a callback within business hours (8 AM - 8 PM, customer local time), call them right away. No LTV risk or escalation is needed to justify it; the request is enough. Why: the customer's preferred communication method is respected regardless of how serious the ticket looks, and consistent steps (timed reminders, endorsement) keep a promised callback from falling through between shifts. Outbound calls are also used when something needs an immediate answer, like confirming a double-booking.</a:t>
            </a:r>
            <a:endParaRPr/>
          </a:p>
        </p:txBody>
      </p:sp>
      <p:sp>
        <p:nvSpPr>
          <p:cNvPr id="321" name="Google Shape;321;p1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Step 1: did the customer request a callback? If not, this article doesn't apply; handle the ticket through normal channels. Step 2: within business hours (8 AM-8 PM customer local time)? Yes: attempt to call. No: address the concern via email and ask for their availability for a callback. Step 3: attempt to call up to 3 times, in this order: Primary CRM, then Google Voice, then Secondary CRM.</a:t>
            </a:r>
            <a:endParaRPr/>
          </a:p>
        </p:txBody>
      </p:sp>
      <p:sp>
        <p:nvSpPr>
          <p:cNvPr id="343" name="Google Shape;343;p1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Call options at the top right of Customer Information: 1 Callbox with the primary number; 2 GVoice (Google Voice); 3 Callbox with the secondary number (same Callbox button, choose the Secondary Phone in the From list). Call order: Primary CRM, then Google Voice, then Secondary CRM. TRAINER: click Show screens (or press the right arrow) to reveal each screen in order. Important: check the customer's Local Time before making a call (8 AM - 8 PM their time). Customer details are sample training data.</a:t>
            </a:r>
            <a:endParaRPr/>
          </a:p>
        </p:txBody>
      </p:sp>
      <p:sp>
        <p:nvSpPr>
          <p:cNvPr id="374" name="Google Shape;374;p1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Answered: attempt to resolve the issue on the call, send an email summary of what was discussed/resolved, and log an internal note about the conversation (calls are not recorded, so the next agents need to know what happened). Not answered: address the concern via email and ask for their availability for a callback. Voicemail: leave a voicemail if applicable, send email + SMS, then apply the 10-minute buffer rule: after sending the SMS, wait 10 minutes and check the ticket again. If the customer replies asking for an immediate callback, call right away, buffer or not. The buffer exists so we don't call back-to-back with no sign the customer has seen our message.</a:t>
            </a:r>
            <a:endParaRPr/>
          </a:p>
        </p:txBody>
      </p:sp>
      <p:sp>
        <p:nvSpPr>
          <p:cNvPr id="428" name="Google Shape;428;p1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1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After the customer provides availability, create a timed reminder assigned to "Any CS". If you're on shift at the scheduled time: set a calendar reminder and include the ticket link in the invite so you can jump straight back in. If you're not on shift: log the ticket in the Callback Requests Tracker (Google Sheet). This two-path structure keeps a promised callback from getting lost across a shift change.</a:t>
            </a:r>
            <a:endParaRPr/>
          </a:p>
        </p:txBody>
      </p:sp>
      <p:sp>
        <p:nvSpPr>
          <p:cNvPr id="455" name="Google Shape;455;p1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1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Sample email if outside business hours: "Hi &lt;&lt;Name&gt;&gt;, I'd be happy to hop on a call to discuss this with you. Please let me know what days and times generally work best for this week. In the meantime, I pulled up your account and &lt;&lt;address surface-level issues/resolutions&gt;&gt;. &lt;&lt;If applicable&gt;&gt; Let me know if that fully resolves your concerns! Otherwise, just reply with your availability and I'll get you scheduled." Sample text if a callback attempt was missed: "This is &lt;&lt;Name&gt;&gt; from Homeaglow. I tried calling but it went to voicemail — no worries, I've already addressed your concern over email. If you'd still like to hop on a call, just text me back with your availability and we'll set it up."</a:t>
            </a:r>
            <a:endParaRPr/>
          </a:p>
        </p:txBody>
      </p:sp>
      <p:sp>
        <p:nvSpPr>
          <p:cNvPr id="480" name="Google Shape;480;p1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1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1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a:t>
            </a:r>
            <a:endParaRPr/>
          </a:p>
        </p:txBody>
      </p:sp>
      <p:sp>
        <p:nvSpPr>
          <p:cNvPr id="501" name="Google Shape;501;p1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p1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 customer's price includes platform fees and taxes that don't go to the CP. The CP's pay depends on their own hourly rate and their operating model. Billing disputes are some of the most common tickets, and this is the formula reference behind Overcharged Hours, False Invoice and ETF calculations.</a:t>
            </a:r>
            <a:endParaRPr/>
          </a:p>
        </p:txBody>
      </p:sp>
      <p:sp>
        <p:nvSpPr>
          <p:cNvPr id="519" name="Google Shape;519;p1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2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Customer price includes platform fees and taxes that don't go to the CP. CP pay depends on the CP's own hourly rate and operating model. Billing disputes are among the most common tickets; this is the formula reference that Overcharged Hours, False Invoice and ETF calculations draw from.</a:t>
            </a:r>
            <a:endParaRPr/>
          </a:p>
        </p:txBody>
      </p:sp>
      <p:sp>
        <p:nvSpPr>
          <p:cNvPr id="550" name="Google Shape;550;p2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2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2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Non-FC customer: $15.00/hr platform fee, 5% processing fee, sales tax varies by state. FC customer: no platform fee, 15% processing fee, sales tax varies. Deactivated FC customer: $30.00/hr platform fee, 5% processing fee, sales tax varies.</a:t>
            </a:r>
            <a:endParaRPr/>
          </a:p>
        </p:txBody>
      </p:sp>
      <p:sp>
        <p:nvSpPr>
          <p:cNvPr id="572" name="Google Shape;572;p2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2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Cleaning Price = (CP Hourly Rate + Platform Hourly Rate) x Job Duration + Processing Fee + Sales Tax + Premium Fee. If the customer has an active voucher, voucher hours are deducted from the job duration before this calculation runs. If they have active credits, those are subtracted from the final total.</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Note: charges show on the customer’s card as 2 smaller charges (initial cleaning bill and transaction fee). If there’s a premium fee, it also shows as a separate charge on the customer’s credit card</a:t>
            </a:r>
            <a:endParaRPr/>
          </a:p>
        </p:txBody>
      </p:sp>
      <p:sp>
        <p:nvSpPr>
          <p:cNvPr id="582" name="Google Shape;582;p2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2" name="Google Shape;602;p2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TRAINER: give trainees time to calculate, then click Show Answers (or press the right arrow). Each click reveals one cohort. Working: billable hours = 4 - 1.5 voucher = 2.5. FC: $25 x 2.5 = $62.50; + 15% processing = $71.88; + 8% tax = $77.63; - $12 credits = $65.63. Non-FC: ($25 + $15) x 2.5 = $100.00; + 5% = $105.00; + 8% = $113.40; - $12 = $101.40. Deactivated (cancelled) FC: ($25 + $30) x 2.5 = $137.50; + 5% = $144.38; + 8% = $155.93; - $12 = $143.93.</a:t>
            </a:r>
            <a:endParaRPr/>
          </a:p>
        </p:txBody>
      </p:sp>
      <p:sp>
        <p:nvSpPr>
          <p:cNvPr id="603" name="Google Shape;603;p2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24: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a:t>
            </a:r>
            <a:endParaRPr/>
          </a:p>
        </p:txBody>
      </p:sp>
      <p:sp>
        <p:nvSpPr>
          <p:cNvPr id="637" name="Google Shape;637;p24: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2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4" name="Google Shape;654;p2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CA/CAWA: CP's hourly rate x duration + tips + surge bonus, for first-time and repeat clients. General: first-time client (CP's hourly rate - $5.00 match fee) x duration + tips + surge bonus; repeat client CP's hourly rate x duration + tips + surge bonus. Key point: Homeaglow pays the CP directly via direct deposit regardless of whether the customer's own charge succeeds; a failed card, voucher or credits never affects CP pay. Tips: 100% go to the CP. Surge bonus: an extra $1-$50 Homeaglow may pay on certain jobs upon invoicing, positioned to CPs as "Homeaglow is especially busy."</a:t>
            </a:r>
            <a:endParaRPr/>
          </a:p>
        </p:txBody>
      </p:sp>
      <p:sp>
        <p:nvSpPr>
          <p:cNvPr id="655" name="Google Shape;655;p2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2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8" name="Google Shape;678;p2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FC, General, first C/CP pairing: customer pays the CP's rate; the platform fee line is the $5/hr marketing fee deducted from the cleaner's pay, not an extra cost to the customer. FC, General, repeat pairing: nothing. FC, CA/CAWA, CP sets different first and repeat rates: customer pays the higher of the two whichever pairing it is; the line is the difference; the CP is paid their applicable rate and the difference goes to Homeaglow. FC, CA/CAWA, one rate: nothing. Non-FC or deactivated FC: customer pays the max CP rate, not the CP's actual rate; the line is the cohort platform fee ($15/hr non-FC, $30/hr deactivated FC) plus the gap between max rate and the CP's actual rate. Why the models differ: no marketing fee in CA/CAWA (state regulation); in exchange CPs may set separate first-pairing and repeat rates and we charge the higher.</a:t>
            </a:r>
            <a:endParaRPr/>
          </a:p>
        </p:txBody>
      </p:sp>
      <p:sp>
        <p:nvSpPr>
          <p:cNvPr id="679" name="Google Shape;679;p2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2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Deactivated-FC customer, max rate $25, claiming CP's rate $15, platform fee shows $40/hr. That is the $30/hr deactivated-FC platform fee plus the $10/hr gap. The charge is correct: do not reprice it and do not refund the difference. Max rate behaves differently by membership: FC customers have a max rate too, but are charged the CP's actual rate; non-FC and deactivated-FC customers are charged the max rate while the CP is paid their own rate.</a:t>
            </a:r>
            <a:endParaRPr/>
          </a:p>
        </p:txBody>
      </p:sp>
      <p:sp>
        <p:nvSpPr>
          <p:cNvPr id="692" name="Google Shape;692;p2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4" name="Google Shape;71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p2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1" name="Google Shape;731;p2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For non-FC customers, pricing follows the highest hourly rate among all the CPs they requested, not whichever CP claims. Example: the customer requests Mona ($25/hr), Cassandra ($30/hr) and Yolanda ($23/hr); the max requested rate is $30/hr. If a requested CP claims (say Mona), the customer is charged Mona's actual rate ($25/hr). If a non-requested CP claims (say Jeff at $18/hr), the customer is still charged $30/hr; Jeff is paid $18/hr and the difference goes to Homeaglow. Why: requesting Cassandra signals willingness to pay her rate, so it becomes their ceiling.</a:t>
            </a:r>
            <a:endParaRPr/>
          </a:p>
        </p:txBody>
      </p:sp>
      <p:sp>
        <p:nvSpPr>
          <p:cNvPr id="732" name="Google Shape;732;p2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3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3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Before explaining or refunding any platform-fee line, establish the operating model, the membership status, and whether it is that CP's first job with this customer. Those three answers decide which row of the platform fee table you are in.</a:t>
            </a:r>
            <a:endParaRPr/>
          </a:p>
          <a:p>
            <a:pPr indent="0" lvl="0" marL="0" rtl="0" algn="l">
              <a:lnSpc>
                <a:spcPct val="115000"/>
              </a:lnSpc>
              <a:spcBef>
                <a:spcPts val="0"/>
              </a:spcBef>
              <a:spcAft>
                <a:spcPts val="0"/>
              </a:spcAft>
              <a:buClr>
                <a:schemeClr val="dk1"/>
              </a:buClr>
              <a:buSzPts val="1100"/>
              <a:buFont typeface="Arial"/>
              <a:buNone/>
            </a:pPr>
            <a:r>
              <a:rPr b="1" lang="en" sz="1400">
                <a:solidFill>
                  <a:schemeClr val="dk1"/>
                </a:solidFill>
                <a:latin typeface="Roboto"/>
                <a:ea typeface="Roboto"/>
                <a:cs typeface="Roboto"/>
                <a:sym typeface="Roboto"/>
              </a:rPr>
              <a:t>Note:</a:t>
            </a:r>
            <a:r>
              <a:rPr lang="en" sz="1400">
                <a:solidFill>
                  <a:schemeClr val="dk1"/>
                </a:solidFill>
                <a:latin typeface="Roboto"/>
                <a:ea typeface="Roboto"/>
                <a:cs typeface="Roboto"/>
                <a:sym typeface="Roboto"/>
              </a:rPr>
              <a:t> To avoid manipulation in pay rate and promote fairness among clients and cleaners, while the CP can change their pay rate anytime, the CP’s pay rate will depend on:</a:t>
            </a:r>
            <a:endParaRPr sz="14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Requested CP: Their pay rate at the time the job was booked</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Non-requested CP: Their pay rate at the time the job was claimed</a:t>
            </a:r>
            <a:endParaRPr/>
          </a:p>
        </p:txBody>
      </p:sp>
      <p:sp>
        <p:nvSpPr>
          <p:cNvPr id="763" name="Google Shape;763;p3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3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Scenario: C is a repeat client and books a cleaning for 5 hours. C has a 3-hour cleaning voucher that will be applied to the job. Calculate the total job pay of CP Sarah and CP Gab if the job also has a $12.50 surge bonus and a $10.00 tip. TRAINER: click Show Answers (or press the right arrow); each click reveals one answer, then the key takeaway. Working: the voucher only changes what the customer pays. The CP is paid for all 5 hours (Homeaglow pays the CP regardless of vouchers, credits or failed charges). Sarah (CA/CAWA, repeat rate $28): $28 x 5 = $140 + $12.50 surge + $10 tip = $162.50. Gab (General, repeat client so no $5 match fee): $24 x 5 = $120 + $12.50 + $10 = $142.50.</a:t>
            </a:r>
            <a:endParaRPr/>
          </a:p>
        </p:txBody>
      </p:sp>
      <p:sp>
        <p:nvSpPr>
          <p:cNvPr id="790" name="Google Shape;790;p3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3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4" name="Google Shape;824;p32: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a:t>
            </a:r>
            <a:endParaRPr/>
          </a:p>
        </p:txBody>
      </p:sp>
      <p:sp>
        <p:nvSpPr>
          <p:cNvPr id="825" name="Google Shape;825;p32: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2" name="Google Shape;84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pre-authorization holds. The common mental model, that a pre-auth is just a hold that will release, is usually right but not always. By the end, trainees can tell which scenario they are in before they explain a hold to a customer.</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2" name="Google Shape;872;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A pre-auth is a temporary hold on the customer's card placed at booking. It confirms the card is valid and funded, but it isn't a charge. If the job is invoiced normally, it converts into the real charge. If the job doesn't proceed (cancelled, never claimed), it releases, typically within about 7 days, though timing depends on the bank and is outside our control. The standard customer-facing macro is written for this case and is accurate for it. The warning: don't reach for the macro without checking the scenario.</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8" name="Google Shape;898;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Walk the three rows. The standard macro is accurate for non-FC jobs and any job where a real charge is expected. The exception is a DHJ customer whose first job is fully covered by the voucher: the system still creates a $59 pre-auth, and it is used to charge the first Monthly Fee when the job completes, so it does not release independently. If any job is cancelled before completion, the pre-auth is released normally, DHJ included.</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7" name="Google Shape;907;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Explain why the exception exists. Under DHJ the membership fee doesn't start until the first job is completed. When the voucher fully covers the job there is no job charge for the pre-auth to convert into, so the system uses that same $59 for the first MF instead of releasing it and charging separately. Telling the customer the hold will just release is telling them something that won't happen, and generates a confused or upset follow-up ticket a few days later. What to say: the $59 hold is what their first ForeverClean monthly fee will be charged against once their voucher-covered cleaning is completed.</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3" name="Google Shape;933;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Three habits. First, check which scenario applies before explaining. Second, if a customer questions a pre-auth charge because they expected a release and it didn't happen, check whether they are a DHJ customer on their first job before assuming something went wrong, since it may be expected behavior. Third, if the job is cancelled before completion, release it normally. Also: when a customer wants to cancel because they don't agree to a pre-auth charge, don't cancel the job right away. Explain the pre-auth first, and proceed to cancel only if they still want to. The related macro is 'Pre-authorization hold: explain how it works'.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p3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9" name="Google Shape;959;p38: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a:t>
            </a:r>
            <a:endParaRPr/>
          </a:p>
        </p:txBody>
      </p:sp>
      <p:sp>
        <p:nvSpPr>
          <p:cNvPr id="960" name="Google Shape;960;p38: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3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7" name="Google Shape;977;p39: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Vouchers show up constantly in refund, cancellation and retention tickets. Getting the type wrong leads to real mistakes, like invalidating a voucher that should have been refundable, or telling a customer their gift card triggers a membership when it does not.</a:t>
            </a:r>
            <a:endParaRPr/>
          </a:p>
        </p:txBody>
      </p:sp>
      <p:sp>
        <p:nvSpPr>
          <p:cNvPr id="978" name="Google Shape;978;p39: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4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8" name="Google Shape;1008;p4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Depending on how a customer signed up, they may have paid for it directly (Legacy DHJ), received it automatically when signing up for a membership (FCF), got it through a referral or gift, or received one from Care as a courtesy. Vouchers are the entry point for Legacy DHJ memberships: the customer's first interaction is "I bought a voucher." For FCF it is the reverse: the customer signs up for a membership directly, and the system issues a free DHJ voucher behind the scenes. All new customers move to FCF from August 3, 2026, so most new sign-ups won't have "bought a voucher" from their own perspective, even though a voucher exists on their account.</a:t>
            </a:r>
            <a:endParaRPr/>
          </a:p>
        </p:txBody>
      </p:sp>
      <p:sp>
        <p:nvSpPr>
          <p:cNvPr id="1009" name="Google Shape;1009;p4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4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0" name="Google Shape;1040;p4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Voucher hours are deducted from a cleaning's total hours regardless of the CP's hourly rate. If the customer books longer than the voucher, the extra hours are charged at Homeaglow's standard rate. Customers redeem a voucher at &lt;&lt;Brand Name&gt;&gt;.com/redeem and must enter Zip code, Email and Voucher Code. One voucher per household: we generally allow one paid voucher per household; the system detects a paid voucher on the registered address and blocks another purchase.</a:t>
            </a:r>
            <a:endParaRPr/>
          </a:p>
        </p:txBody>
      </p:sp>
      <p:sp>
        <p:nvSpPr>
          <p:cNvPr id="1041" name="Google Shape;1041;p4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4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8" name="Google Shape;1068;p4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Walk through each column. Code: the 16-letter redemption code (e.g. ABCD-EFGH-IJKL-MNOP). Merchant: the voucher type, e.g. dhj, dhj_gift, groupon. Price and Hours: what was paid and the voucher duration; free FCF DHJ vouchers have no price. Purchased and Expires. FC and Refund. Use "+ Issue voucher" to issue one, and "View all in legacy CRM" for the full voucher history. In the legacy CRM the voucher sits below the card logo in an orange box; an applied voucher shows a green box with a check mark, job ID and appointment date; canceled, invalidated or expired vouchers are grayed out with the reason next to the code.</a:t>
            </a:r>
            <a:endParaRPr/>
          </a:p>
        </p:txBody>
      </p:sp>
      <p:sp>
        <p:nvSpPr>
          <p:cNvPr id="1069" name="Google Shape;1069;p4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9" name="Shape 1119"/>
        <p:cNvGrpSpPr/>
        <p:nvPr/>
      </p:nvGrpSpPr>
      <p:grpSpPr>
        <a:xfrm>
          <a:off x="0" y="0"/>
          <a:ext cx="0" cy="0"/>
          <a:chOff x="0" y="0"/>
          <a:chExt cx="0" cy="0"/>
        </a:xfrm>
      </p:grpSpPr>
      <p:sp>
        <p:nvSpPr>
          <p:cNvPr id="1120" name="Google Shape;1120;p4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1" name="Google Shape;1121;p4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Unused (issued or redeemed): assigned to the account and will apply to the next invoiced job, shown in an orange box with duration, type, price and the 16-letter code. Applied (used): a green box with a check mark, the job ID and the appointment date and time. Grayed out: canceled/invalidated (removed through a refund, dispute or admin invalidation), converted (turned into credits equal to the purchase price), or expired. The reason usually appears beside the code. Refunded: refunded to the customer's card on file. Examples on the slide: an unused 3hr DHJ ($19.00) sitting below the card on file; a 3hr DHJ applied to Job 12242911 on 10/31/25 (green tag); a 2hr DHJ ($9.00) grayed out with the reason admin_refund on 5/1/26.</a:t>
            </a:r>
            <a:endParaRPr/>
          </a:p>
        </p:txBody>
      </p:sp>
      <p:sp>
        <p:nvSpPr>
          <p:cNvPr id="1122" name="Google Shape;1122;p4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4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1" name="Google Shape;1151;p4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Use this table before you invalidate, refund or explain any voucher. DHJ refunds can be done from the C Dashboard if purchased one year ago or less, or from the CRM. A DHJ converts to credits if an unqualified customer tries to redeem a second DHJ. Third-party merchant vouchers convert to credits on expiry. Legacy DHJ is deprecated: all new customers are on the new membership model from August 3, 2026, except those who bought a DHJ before the flip and customers who came from an AD.</a:t>
            </a:r>
            <a:endParaRPr/>
          </a:p>
        </p:txBody>
      </p:sp>
      <p:sp>
        <p:nvSpPr>
          <p:cNvPr id="1152" name="Google Shape;1152;p4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p4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0" name="Google Shape;1160;p4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Walk through each type and point to how it looks in the CRM. DHJ (Deals at Homejoy): the customer buys the voucher; the FC membership is only triggered once the voucher is used. Free DHJ (new membership model, all new customers from August 3, 2026): instead of buying a voucher, the customer signs up for a membership and is charged a $19 discounted first MF upfront; the system issues a free 3-hour DHJ voucher (or a discount on a longer first cleaning). Free DHJs have no price indicator in the CRM ($0.00 in the new CRM, no price on the legacy tag). DHJ Gift: shown as dhj_gift on the guest's account; single use, only the first guest can redeem it; triggers FC once used; expires in 90 days. Third-party merchant (Groupon, Living Social, Gilt City): no membership; expires 90 days after redemption; can't be split across appointments, and no admin courtesy voucher is issued for unused hours; converts to credits on expiry.</a:t>
            </a:r>
            <a:endParaRPr/>
          </a:p>
        </p:txBody>
      </p:sp>
      <p:sp>
        <p:nvSpPr>
          <p:cNvPr id="1161" name="Google Shape;1161;p4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8" name="Shape 1198"/>
        <p:cNvGrpSpPr/>
        <p:nvPr/>
      </p:nvGrpSpPr>
      <p:grpSpPr>
        <a:xfrm>
          <a:off x="0" y="0"/>
          <a:ext cx="0" cy="0"/>
          <a:chOff x="0" y="0"/>
          <a:chExt cx="0" cy="0"/>
        </a:xfrm>
      </p:grpSpPr>
      <p:sp>
        <p:nvSpPr>
          <p:cNvPr id="1199" name="Google Shape;1199;p4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0" name="Google Shape;1200;p4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Admin Courtesy: issued manually by CS or automatically by the system for refund requests, unworked hours, reviews or retention; expires in 60 days. The legacy example shows it applied to a job (green tag). Homeaglow Gift Card (launched December 2025): a one-time cleaning bought as a gift; does not trigger FC and isn't tied to the buyer's account; valid for 2 years. Second brand voucher (homeaglow_second_voucher): offered to customers who bought a third-party voucher, at the same cost as the third-party merchant; non-membership.</a:t>
            </a:r>
            <a:endParaRPr/>
          </a:p>
        </p:txBody>
      </p:sp>
      <p:sp>
        <p:nvSpPr>
          <p:cNvPr id="1201" name="Google Shape;1201;p4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4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1" name="Google Shape;1231;p4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Groupon: determine the reason (e.g. no show, cleaning quality) and address it; use the "Refund voucher (groupon)" macro in the comms kit for self-refund instructions; invalidate the voucher, otherwise Groupon may be unable to refund. Second &lt;&lt;BRAND&gt;&gt; voucher: first response, address the reason, encourage them to keep it, and give the self-refund link and instructions; second response, refund via C CRM &gt; Do &gt; Voucher &gt; Refund &gt; 2nd Voucher and let the customer know. Homeaglow Gift Card: first response, address the reason, remind them the card is valid for 2 years and can be gifted later, point them to the purchase confirmation email for the code, and invite them to reach out again; second response, escalate to your department's CSQ sheet so the charge is refunded via Stripe.</a:t>
            </a:r>
            <a:endParaRPr/>
          </a:p>
        </p:txBody>
      </p:sp>
      <p:sp>
        <p:nvSpPr>
          <p:cNvPr id="1232" name="Google Shape;1232;p4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4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4" name="Google Shape;1244;p4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Scenario 1: two Groupon vouchers, the second converts to credits. Scenario 2: Groupon or second brand voucher applied to a shorter job, no admin courtesy voucher for unused hours (unlike DHJ). Scenario 3: DHJ voucher or active FC, then a Groupon, the Groupon converts to credits. Scenario 4: past invoiced job, then a Groupon, converts to credits because third-party vouchers are for new customers only. Scenario 5: Groupon first then DHJ: allowed, so we can convert them to FC; the DHJ is applied first; both can be used on separate appointments. Scenario 6: active FC customers can buy a 2nd DHJ if only one is true: booking address previously serviced by a DHJ, a card tied to a previous DHJ, or a used DHJ on the account. Scenario 7: deactivated FC customers can buy a new DHJ via the /deals page if they have no unused vouchers, no active FC, and none of the flags disputed_stripe_charge_id, customer_disputed_voucher, known_customer_fraud.</a:t>
            </a:r>
            <a:endParaRPr/>
          </a:p>
        </p:txBody>
      </p:sp>
      <p:sp>
        <p:nvSpPr>
          <p:cNvPr id="1245" name="Google Shape;1245;p4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p4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6" name="Google Shape;1276;p4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a:t>
            </a:r>
            <a:endParaRPr/>
          </a:p>
        </p:txBody>
      </p:sp>
      <p:sp>
        <p:nvSpPr>
          <p:cNvPr id="1277" name="Google Shape;1277;p4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2" name="Shape 1292"/>
        <p:cNvGrpSpPr/>
        <p:nvPr/>
      </p:nvGrpSpPr>
      <p:grpSpPr>
        <a:xfrm>
          <a:off x="0" y="0"/>
          <a:ext cx="0" cy="0"/>
          <a:chOff x="0" y="0"/>
          <a:chExt cx="0" cy="0"/>
        </a:xfrm>
      </p:grpSpPr>
      <p:sp>
        <p:nvSpPr>
          <p:cNvPr id="1293" name="Google Shape;1293;p50: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4" name="Google Shape;1294;p50: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Someone submits a ticket, usually via a public contact form or the Help Center, using an email address that already belongs to a registered customer. They haven't logged in, and may not actually be that customer.</a:t>
            </a:r>
            <a:endParaRPr/>
          </a:p>
        </p:txBody>
      </p:sp>
      <p:sp>
        <p:nvSpPr>
          <p:cNvPr id="1295" name="Google Shape;1295;p50: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0" name="Shape 1320"/>
        <p:cNvGrpSpPr/>
        <p:nvPr/>
      </p:nvGrpSpPr>
      <p:grpSpPr>
        <a:xfrm>
          <a:off x="0" y="0"/>
          <a:ext cx="0" cy="0"/>
          <a:chOff x="0" y="0"/>
          <a:chExt cx="0" cy="0"/>
        </a:xfrm>
      </p:grpSpPr>
      <p:sp>
        <p:nvSpPr>
          <p:cNvPr id="1321" name="Google Shape;1321;p5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2" name="Google Shape;1322;p5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Point out: 1) the Triggered ticket badge and the source (Help Center); 2) the system note: "A non-logged in visitor submitted the below ticket using this user's email address. To avoid leaking sensitive information, ask the user to log in and re-submit a ticket as appropriate."; 3) the visitor's actual message. A matching email does not prove the person is the account owner. Anyone can type an email address into a form.</a:t>
            </a:r>
            <a:endParaRPr/>
          </a:p>
        </p:txBody>
      </p:sp>
      <p:sp>
        <p:nvSpPr>
          <p:cNvPr id="1323" name="Google Shape;1323;p5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5" name="Shape 1355"/>
        <p:cNvGrpSpPr/>
        <p:nvPr/>
      </p:nvGrpSpPr>
      <p:grpSpPr>
        <a:xfrm>
          <a:off x="0" y="0"/>
          <a:ext cx="0" cy="0"/>
          <a:chOff x="0" y="0"/>
          <a:chExt cx="0" cy="0"/>
        </a:xfrm>
      </p:grpSpPr>
      <p:sp>
        <p:nvSpPr>
          <p:cNvPr id="1356" name="Google Shape;1356;p52: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7" name="Google Shape;1357;p52: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Two different customers, or a customer and someone impersonating them, could share visibility into the same account if you respond to the wrong party as if they were the account owner. Treat verifying identity as the first step, not an afterthought.</a:t>
            </a:r>
            <a:endParaRPr/>
          </a:p>
        </p:txBody>
      </p:sp>
      <p:sp>
        <p:nvSpPr>
          <p:cNvPr id="1358" name="Google Shape;1358;p52: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9" name="Shape 1379"/>
        <p:cNvGrpSpPr/>
        <p:nvPr/>
      </p:nvGrpSpPr>
      <p:grpSpPr>
        <a:xfrm>
          <a:off x="0" y="0"/>
          <a:ext cx="0" cy="0"/>
          <a:chOff x="0" y="0"/>
          <a:chExt cx="0" cy="0"/>
        </a:xfrm>
      </p:grpSpPr>
      <p:sp>
        <p:nvSpPr>
          <p:cNvPr id="1380" name="Google Shape;1380;p53: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1" name="Google Shape;1381;p53: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Step 1: don't assume the submitter is the account owner just because the email matches. Step 2: check the account for identifying details, such as recent job details, the address, or an issue description that matches what's on file. Confirmed (their description matches account history, they reference specifics only the owner would know): proceed normally, no extra hoops for a genuinely verified customer. Can't confirm: respond generically; don't confirm account details, upcoming appointments or charges; ask them to log in to their dashboard or give a couple of identifying details first. Clearly not the owner (mismatched details, or asking something the real owner wouldn't need to ask): treat it as an unverified inquiry and share nothing account-specific.</a:t>
            </a:r>
            <a:endParaRPr/>
          </a:p>
        </p:txBody>
      </p:sp>
      <p:sp>
        <p:nvSpPr>
          <p:cNvPr id="1382" name="Google Shape;1382;p53: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p54: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1" name="Google Shape;1411;p54: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An agent can set a maximum hourly rate on a customer's behalf. It's a pricing lever with real trade-offs: a lower cap protects the customer's wallet, but shrinks the pool of cleaners who can claim their jobs, possibly including their current cleaner.</a:t>
            </a:r>
            <a:endParaRPr/>
          </a:p>
        </p:txBody>
      </p:sp>
      <p:sp>
        <p:nvSpPr>
          <p:cNvPr id="1412" name="Google Shape;1412;p54: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0" name="Shape 1440"/>
        <p:cNvGrpSpPr/>
        <p:nvPr/>
      </p:nvGrpSpPr>
      <p:grpSpPr>
        <a:xfrm>
          <a:off x="0" y="0"/>
          <a:ext cx="0" cy="0"/>
          <a:chOff x="0" y="0"/>
          <a:chExt cx="0" cy="0"/>
        </a:xfrm>
      </p:grpSpPr>
      <p:sp>
        <p:nvSpPr>
          <p:cNvPr id="1441" name="Google Shape;1441;p55: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2" name="Google Shape;1442;p55: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 sz="1200" u="none" cap="none" strike="noStrike">
                <a:solidFill>
                  <a:schemeClr val="dk1"/>
                </a:solidFill>
                <a:latin typeface="Calibri"/>
                <a:ea typeface="Calibri"/>
                <a:cs typeface="Calibri"/>
                <a:sym typeface="Calibri"/>
              </a:rPr>
              <a:t>An agent can set a maximum hourly rate on a customer’s behalf in the CRM. It caps the rate of the cleaners who can receive and claim the customer’s jobs, going forward: cleaning requests only go to cleaners whose rates don’t exceed the cap. Steps on the slide (also in the video): 1) In the CRM, under Customer Information, find Max rate (it shows "Not set" when there is no cap) and click Set. 2) In the "Set max rate cap" box, enter the customer’s preferred hourly rate and click Save. 3) Max rate now shows the amount with a Hard cap tag; click Edit to change it. The hard cap applies to future submitted and claimed jobs. TRAINER: in slideshow mode, click the video thumbnail to play the tutorial. Trade-off: a lower cap protects the customer's wallet, but shrinks the pool of CPs who can claim, possibly including their current CP if that CP's rate is above the new cap. Setting it without understanding how it interacts with booked jobs, rescheduling and admin-locked jobs is how a well-intentioned cap turns into an unclaimed-job ticket a week later.</a:t>
            </a:r>
            <a:endParaRPr/>
          </a:p>
        </p:txBody>
      </p:sp>
      <p:sp>
        <p:nvSpPr>
          <p:cNvPr id="1443" name="Google Shape;1443;p55: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9" name="Shape 1469"/>
        <p:cNvGrpSpPr/>
        <p:nvPr/>
      </p:nvGrpSpPr>
      <p:grpSpPr>
        <a:xfrm>
          <a:off x="0" y="0"/>
          <a:ext cx="0" cy="0"/>
          <a:chOff x="0" y="0"/>
          <a:chExt cx="0" cy="0"/>
        </a:xfrm>
      </p:grpSpPr>
      <p:sp>
        <p:nvSpPr>
          <p:cNvPr id="1470" name="Google Shape;1470;p56: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1" name="Google Shape;1471;p56: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CPs set their own rates, so a lower cap can mean losing access to some of the platform's best cleaners, including the customer's current CP if that CP's rate is above the new cap. Setting it too low can mean jobs go unclaimed, especially in areas with fewer CPs at that price point. Most customers ask for $19-23/hr. Before setting the cap, check the customer's dashboard to see what CPs in their area actually charge. Don't set a number blind.</a:t>
            </a:r>
            <a:endParaRPr/>
          </a:p>
        </p:txBody>
      </p:sp>
      <p:sp>
        <p:nvSpPr>
          <p:cNvPr id="1472" name="Google Shape;1472;p56: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6" name="Shape 1496"/>
        <p:cNvGrpSpPr/>
        <p:nvPr/>
      </p:nvGrpSpPr>
      <p:grpSpPr>
        <a:xfrm>
          <a:off x="0" y="0"/>
          <a:ext cx="0" cy="0"/>
          <a:chOff x="0" y="0"/>
          <a:chExt cx="0" cy="0"/>
        </a:xfrm>
      </p:grpSpPr>
      <p:sp>
        <p:nvSpPr>
          <p:cNvPr id="1497" name="Google Shape;1497;p57: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8" name="Google Shape;1498;p57: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The two easiest mistakes: assuming raising a cap will correct an existing job's rate (it won't; a cap can never raise a rate), and forgetting that admin-locked jobs (rate set via the Django job page) bypass the cap and the nightly sweep entirely. So a customer saying "I set a cap and this job still charged more" isn't necessarily wrong. Check whether that job was set via Django first.</a:t>
            </a:r>
            <a:endParaRPr/>
          </a:p>
        </p:txBody>
      </p:sp>
      <p:sp>
        <p:nvSpPr>
          <p:cNvPr id="1499" name="Google Shape;1499;p57: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9" name="Shape 1509"/>
        <p:cNvGrpSpPr/>
        <p:nvPr/>
      </p:nvGrpSpPr>
      <p:grpSpPr>
        <a:xfrm>
          <a:off x="0" y="0"/>
          <a:ext cx="0" cy="0"/>
          <a:chOff x="0" y="0"/>
          <a:chExt cx="0" cy="0"/>
        </a:xfrm>
      </p:grpSpPr>
      <p:sp>
        <p:nvSpPr>
          <p:cNvPr id="1510" name="Google Shape;1510;p58: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1" name="Google Shape;1511;p58: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Jobs are matched to CPs at or below their selected rate whenever possible; avoid "only" or "guaranteed" language. An invoice estimate shows on their dashboard right away once a CP claims the job. They can request a rematch up to 6 hours before the appointment. If they are lowering their cap, tell them it may affect upcoming jobs they've already booked, not just future ones; this is the part that most contradicts intuition. Don't guarantee: this is a newly shipped feature still being monitored for edge cases, and admin-locked jobs bypass the cap. Terminology: don't say "max CP rate" or "max rate" to the customer; use plain language, e.g. "the highest rate a cleaner can charge for your jobs".</a:t>
            </a:r>
            <a:endParaRPr/>
          </a:p>
        </p:txBody>
      </p:sp>
      <p:sp>
        <p:nvSpPr>
          <p:cNvPr id="1512" name="Google Shape;1512;p58: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1" name="Shape 1541"/>
        <p:cNvGrpSpPr/>
        <p:nvPr/>
      </p:nvGrpSpPr>
      <p:grpSpPr>
        <a:xfrm>
          <a:off x="0" y="0"/>
          <a:ext cx="0" cy="0"/>
          <a:chOff x="0" y="0"/>
          <a:chExt cx="0" cy="0"/>
        </a:xfrm>
      </p:grpSpPr>
      <p:sp>
        <p:nvSpPr>
          <p:cNvPr id="1542" name="Google Shape;1542;p59: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3" name="Google Shape;1543;p59:notes"/>
          <p:cNvSpPr txBox="1"/>
          <p:nvPr>
            <p:ph idx="1" type="body"/>
          </p:nvPr>
        </p:nvSpPr>
        <p:spPr>
          <a:xfrm>
            <a:off x="914400" y="4400550"/>
            <a:ext cx="73152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t>Open the floor for questions.</a:t>
            </a:r>
            <a:endParaRPr/>
          </a:p>
        </p:txBody>
      </p:sp>
      <p:sp>
        <p:nvSpPr>
          <p:cNvPr id="1544" name="Google Shape;1544;p59:notes"/>
          <p:cNvSpPr txBox="1"/>
          <p:nvPr>
            <p:ph idx="12" type="sldNum"/>
          </p:nvPr>
        </p:nvSpPr>
        <p:spPr>
          <a:xfrm>
            <a:off x="5179484" y="8685213"/>
            <a:ext cx="39624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6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1" name="Google Shape;1561;p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ForeverClean, the membership at the center of most billing, cancellation and retention conversations. By the end, trainees can tell which enrollment model a customer is on, explain when membership starts, and walk through fees, the minimum commitment term (MCT) and the early termination fee (ETF).</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p6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1" name="Google Shape;1591;p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Start with the framing: ForeverClean is a membership, not a one-time cleaning product. The first cleaning gets the attention, but it is only one benefit. That is why recurring billing, MCT and ETF exist. Two models are live: DHJ (legacy, the customer buys a voucher) and FCF (current, the customer joins the membership and gets a free first cleaning). The quickest check is the FCF banner in the New CRM or Legacy CRM. No banner means treat the customer as DHJ. From August 3, 2026 all new sign-ups are FCF. Experiments may change how accounts are handled, so if something doesn't match the KB, check for a newer update before assuming the KB is wrong.</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5" name="Shape 1615"/>
        <p:cNvGrpSpPr/>
        <p:nvPr/>
      </p:nvGrpSpPr>
      <p:grpSpPr>
        <a:xfrm>
          <a:off x="0" y="0"/>
          <a:ext cx="0" cy="0"/>
          <a:chOff x="0" y="0"/>
          <a:chExt cx="0" cy="0"/>
        </a:xfrm>
      </p:grpSpPr>
      <p:sp>
        <p:nvSpPr>
          <p:cNvPr id="1616" name="Google Shape;1616;p6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7" name="Google Shape;1617;p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is the single most important concept. In DHJ the first purchase is a voucher, so membership only begins after the first cleaning is completed. In FCF the customer joins the membership first, so it starts at sign-up. Anything that depends on an active membership (monthly billing, MCT, self-service features) follows that start date. Encourage trainees to ask 'has this customer's membership started yet?' instead of memorizing each difference.</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p6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3" name="Google Shape;1643;p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Walk the table row by row. FCF customers pay a discounted $19 first membership fee at sign-up, plus $19 more for a 4-hour first cleaning ($38 total) or $59 more for a 6-hour one ($78 total), before tax. DHJ customers pay only the voucher price, and the first $59 fee bills after the first completed cleaning. MCT is 6 months in both models but starts at different points. ETF applies in both only after a completed job and before MCT ends. Stress the language rule: never describe an FCF sign-up as 'purchasing a voucher'.</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p6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5" name="Google Shape;1655;p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Self-service follows the membership start. DHJ customers can't self-cancel or get a cancellation link before the first completed cleaning because the membership hasn't started. FCF customers can, right after sign-up. Lockout on the first job: a DHJ membership is paused and un-pauses once the 2nd job is invoiced (lockouts count), while an FCF membership keeps renewing because the customer is already a paying member. For refunds, DHJ customers can self-refund the voucher and the agent must invalidate the 'Refunded but Valid' voucher. FCF refunds are handled by Care under the applicable policy, and the voucher invalidates automatically on cancellation unless the system missed it.</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2" name="Shape 1662"/>
        <p:cNvGrpSpPr/>
        <p:nvPr/>
      </p:nvGrpSpPr>
      <p:grpSpPr>
        <a:xfrm>
          <a:off x="0" y="0"/>
          <a:ext cx="0" cy="0"/>
          <a:chOff x="0" y="0"/>
          <a:chExt cx="0" cy="0"/>
        </a:xfrm>
      </p:grpSpPr>
      <p:sp>
        <p:nvSpPr>
          <p:cNvPr id="1663" name="Google Shape;1663;p6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4" name="Google Shape;1664;p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first-charge timing is the point. DHJ: $59/month starting once the first cleaning completes, nothing before. FCF: the customer pays at sign-up, then settles into $59/month. Remind trainees to avoid marketing phrases such as 'cleanings start at $X/hour'. The job is to help the customer understand their account, so explain what applies to their booking or membership.</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4" name="Shape 1674"/>
        <p:cNvGrpSpPr/>
        <p:nvPr/>
      </p:nvGrpSpPr>
      <p:grpSpPr>
        <a:xfrm>
          <a:off x="0" y="0"/>
          <a:ext cx="0" cy="0"/>
          <a:chOff x="0" y="0"/>
          <a:chExt cx="0" cy="0"/>
        </a:xfrm>
      </p:grpSpPr>
      <p:sp>
        <p:nvSpPr>
          <p:cNvPr id="1675" name="Google Shape;1675;p6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6" name="Google Shape;1676;p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MCT is 6 months in both models. It is the flip side of the heavily discounted first cleaning, so the discount isn't a one-time freebie. The clock starts after the first completed cleaning for DHJ and at sign-up for FCF. Key nuance for FCF: the MCT clock and the ETF clock are different clocks. A customer can be 3 months into MCT with no completed cleaning, and cancelling then triggers no ETF because ETF liability only exists once a job has been completed. Washington customers are not held to the 6-month term under either model.</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0" name="Shape 1700"/>
        <p:cNvGrpSpPr/>
        <p:nvPr/>
      </p:nvGrpSpPr>
      <p:grpSpPr>
        <a:xfrm>
          <a:off x="0" y="0"/>
          <a:ext cx="0" cy="0"/>
          <a:chOff x="0" y="0"/>
          <a:chExt cx="0" cy="0"/>
        </a:xfrm>
      </p:grpSpPr>
      <p:sp>
        <p:nvSpPr>
          <p:cNvPr id="1701" name="Google Shape;1701;p6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2" name="Google Shape;1702;p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Explain why the ETF exists, not just the formula. The first cleaning was free or heavily discounted and the cleaner is still paid in full. The ETF is what makes that offer sustainable. It is not a punishment, so never apologize for it. Formula: $35/hour x duration of the first cleaning, for both models. It applies only after a completed job and before MCT ends. Important handling rule: never charge the ETF before the customer understands it. The one exception is when the customer already understands it and explicitly agrees. Silence or no objection is not agreement.</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6" name="Shape 1726"/>
        <p:cNvGrpSpPr/>
        <p:nvPr/>
      </p:nvGrpSpPr>
      <p:grpSpPr>
        <a:xfrm>
          <a:off x="0" y="0"/>
          <a:ext cx="0" cy="0"/>
          <a:chOff x="0" y="0"/>
          <a:chExt cx="0" cy="0"/>
        </a:xfrm>
      </p:grpSpPr>
      <p:sp>
        <p:nvSpPr>
          <p:cNvPr id="1727" name="Google Shape;1727;p6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8" name="Google Shape;1728;p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Cover the edge cases. Some older DHJ customers on a $49 fee have an ETF computed with the non-FC cleaning price formula, so check the FC table, which is the source of truth. Washington customers have no MCT and no ETF: never bring up ETF or waivers, go straight to a no-charge cancellation. Pending cancellation means the ETF charge failed. The customer isn't charged further monthly fees, the system retries, and FC moves to deactivated once it succeeds. The agent can also cancel manually in the CRM. For waivers or reductions, point trainees to ETF Waivers in the Knowledge Library.</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p6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9" name="Google Shape;1759;p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4" name="Shape 1774"/>
        <p:cNvGrpSpPr/>
        <p:nvPr/>
      </p:nvGrpSpPr>
      <p:grpSpPr>
        <a:xfrm>
          <a:off x="0" y="0"/>
          <a:ext cx="0" cy="0"/>
          <a:chOff x="0" y="0"/>
          <a:chExt cx="0" cy="0"/>
        </a:xfrm>
      </p:grpSpPr>
      <p:sp>
        <p:nvSpPr>
          <p:cNvPr id="1775" name="Google Shape;1775;p7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6" name="Google Shape;1776;p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is about how to talk about what ForeverClean is worth. The membership mechanics tell an agent what is true. This module is about how to say it so it lands as fair rather than defensive.</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p7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6" name="Google Shape;1806;p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A customer asking 'why am I paying this' is really asking 'what am I getting'. Answering with only the formula, percentage or date often reads as deflection. Lead with value, then give mechanics. Members get bookings with background-checked, vetted cleaners, lower hourly rates than one-time bookings, Customer Service and Trust &amp; Safety support, and booking and scheduling tools. Give trainees the one-line explanation on the slide to practice. Suggested macros: Membership details: ForeverClean overview; FCF - Membership Explanation.</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p7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3" name="Google Shape;1833;p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Role-play these three. When a customer thought it was only $19, the DHJ and FCF explanations differ: DHJ is a heavily discounted voucher that comes with a membership; FCF is the discounted first month's membership fee that renews at $59/month. When a customer only wanted a one-time cleaning, acknowledge that one-time cleanings exist at a higher hourly rate, give the total using the FC Sales Calculator, and explain the membership can be more cost-effective for regular bookings.</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0" name="Shape 1840"/>
        <p:cNvGrpSpPr/>
        <p:nvPr/>
      </p:nvGrpSpPr>
      <p:grpSpPr>
        <a:xfrm>
          <a:off x="0" y="0"/>
          <a:ext cx="0" cy="0"/>
          <a:chOff x="0" y="0"/>
          <a:chExt cx="0" cy="0"/>
        </a:xfrm>
      </p:grpSpPr>
      <p:sp>
        <p:nvSpPr>
          <p:cNvPr id="1841" name="Google Shape;1841;p7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2" name="Google Shape;1842;p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Walk through the three steps. Start with willingness to help, not defensiveness. Explain what the fee covers (DHJ: the membership that comes with the voucher; FCF: the membership that gave access to the first cleaning and keeps rates discounted). Acknowledge usage if relevant, then offer a genuinely helpful next step such as free months, rebooking help, or schedule changes. Two agent-do rules: don't apologize for or validate frustration about the monthly fee, and skip 'I understand you weren't aware', going straight to willingness to help.</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6" name="Shape 1866"/>
        <p:cNvGrpSpPr/>
        <p:nvPr/>
      </p:nvGrpSpPr>
      <p:grpSpPr>
        <a:xfrm>
          <a:off x="0" y="0"/>
          <a:ext cx="0" cy="0"/>
          <a:chOff x="0" y="0"/>
          <a:chExt cx="0" cy="0"/>
        </a:xfrm>
      </p:grpSpPr>
      <p:sp>
        <p:nvSpPr>
          <p:cNvPr id="1867" name="Google Shape;1867;p7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8" name="Google Shape;1868;p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The fee is not based on usage. The membership stays active month to month, whether or not a cleaning happened. When a customer says they never used it, offer free months. Two rules every time: state the exact end date of the free period and the exact date the monthly fee resumes, and clarify that free months do not count toward the MCT, so the customer isn't left thinking their commitment shortened. Then offer to help schedule the next cleaning. Suggested macro: [Fragment] Free month offer.</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3" name="Shape 1893"/>
        <p:cNvGrpSpPr/>
        <p:nvPr/>
      </p:nvGrpSpPr>
      <p:grpSpPr>
        <a:xfrm>
          <a:off x="0" y="0"/>
          <a:ext cx="0" cy="0"/>
          <a:chOff x="0" y="0"/>
          <a:chExt cx="0" cy="0"/>
        </a:xfrm>
      </p:grpSpPr>
      <p:sp>
        <p:nvSpPr>
          <p:cNvPr id="1894" name="Google Shape;1894;p7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5" name="Google Shape;1895;p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The ETF exists because the first cleaning is free or heavily discounted, the cleaner is still paid their full rate, and the ETF covers the cost of that discount if the membership ends early. Frame it as a way to ensure the cleaner is paid fairly, never as a penalty. After the explanation, pivot to the customer's experience with their recent cleaning, since that often reveals the real reason for the cancellation. Suggested macro: [Fragment] ETF terms explanation.</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0" name="Shape 1920"/>
        <p:cNvGrpSpPr/>
        <p:nvPr/>
      </p:nvGrpSpPr>
      <p:grpSpPr>
        <a:xfrm>
          <a:off x="0" y="0"/>
          <a:ext cx="0" cy="0"/>
          <a:chOff x="0" y="0"/>
          <a:chExt cx="0" cy="0"/>
        </a:xfrm>
      </p:grpSpPr>
      <p:sp>
        <p:nvSpPr>
          <p:cNvPr id="1921" name="Google Shape;1921;p7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2" name="Google Shape;1922;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Summarize the tone. Do be friendly and conversational, lead with empathy, focus on membership value, offer solutions and help the customer get value. Avoid sounding defensive, suggesting the customer should have read the terms more carefully, or making the customer feel at fault.</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p7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1" name="Google Shape;1931;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5-minute writing challenge. Context: a DHJ voucher deals customer just received their 1st cleaning and was charged the first $59 MF. Customer's message: "I have a voucher. Why did you charge me again?" Give trainees 5 minutes to write their reply, read a few aloud, then click to reveal the sample CS response. What a good reply does: starts with willingness (no apology for the fee), explains that the voucher came with a ForeverClean membership billed separately at $59/month, leads with the value (background-checked cleaners at lower hourly rates), and pivots to the experience ("how did your cleaning go?"). Sample response: "I'm happy to clarify! The $59 charge you're seeing is for your ForeverClean membership. Your first cleaning was heavily discounted because your voucher came with a membership, which costs $59/month and is billed separately from your cleanings. It gives you access to background-checked cleaners at lower hourly rates. If you're planning to book cleanings regularly, it can be a good way to save on each visit! I'd also love to hear how your cleaning went! If there's anything else I can help you with, just let me know."</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5" name="Shape 1945"/>
        <p:cNvGrpSpPr/>
        <p:nvPr/>
      </p:nvGrpSpPr>
      <p:grpSpPr>
        <a:xfrm>
          <a:off x="0" y="0"/>
          <a:ext cx="0" cy="0"/>
          <a:chOff x="0" y="0"/>
          <a:chExt cx="0" cy="0"/>
        </a:xfrm>
      </p:grpSpPr>
      <p:sp>
        <p:nvSpPr>
          <p:cNvPr id="1946" name="Google Shape;1946;p7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7" name="Google Shape;1947;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p7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4" name="Google Shape;1964;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Poor Cleaning Quality (PCQ) where the customer has not said they want to cancel. By the end, trainees can investigate a PCQ complaint, choose the right recovery offer, handle refund request questions, and know when to switch to the PCQ Retention Framework.</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2" name="Shape 1992"/>
        <p:cNvGrpSpPr/>
        <p:nvPr/>
      </p:nvGrpSpPr>
      <p:grpSpPr>
        <a:xfrm>
          <a:off x="0" y="0"/>
          <a:ext cx="0" cy="0"/>
          <a:chOff x="0" y="0"/>
          <a:chExt cx="0" cy="0"/>
        </a:xfrm>
      </p:grpSpPr>
      <p:sp>
        <p:nvSpPr>
          <p:cNvPr id="1993" name="Google Shape;1993;p8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4" name="Google Shape;1994;p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PCQ means the cleaning didn't meet professional standards: missed areas, incomplete tasks, visibly dirty areas, or a CP who brought incomplete supplies and the quality suffered. It is a service failure, not a billing issue. The goal is to restore confidence and get the home cleaned properly, with credits, vouchers and re-cleans as tools. Scope matters: this page applies only when there is no cancellation intent. The moment the customer wants to cancel, for any reason, stop and move to the PCQ Retention Framework, where ETF, waivers and cancellation offers live.</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p8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0" name="Google Shape;2020;p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Go through the six points. Gather facts before offering anything. Treat offers as tools. Be specific in empathy. Probe only when the story is vague, and don't probe when the customer already gave detail. The trap to emphasize: with no cancellation intent there is no ETF or cancellation talk of any kind. Hinting at a future waiver plants the idea of cancelling before the customer has asked.</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9" name="Shape 2049"/>
        <p:cNvGrpSpPr/>
        <p:nvPr/>
      </p:nvGrpSpPr>
      <p:grpSpPr>
        <a:xfrm>
          <a:off x="0" y="0"/>
          <a:ext cx="0" cy="0"/>
          <a:chOff x="0" y="0"/>
          <a:chExt cx="0" cy="0"/>
        </a:xfrm>
      </p:grpSpPr>
      <p:sp>
        <p:nvSpPr>
          <p:cNvPr id="2050" name="Google Shape;2050;p8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1" name="Google Shape;2051;p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Before deciding on a resolution, check: job admin and job history (which job, hours invoiced, CP identity, workload and ratings), the messages, supplies overlap (still PCQ if the cleaning was actually poor), refund status and whether the 72-hour window is open, whether an admin courtesy voucher was auto-issued, and whether this connects to a prior PCQ job. A pattern alone is not cancellation intent.</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p8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2" name="Google Shape;2082;p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Customers can self-submit a refund request within 72 hours of invoice from the dashboard. The system technically allows up to 96 hours, but that is internal only and must never be disclosed (disclosing it is a ZTP Level 2 violation). Don't advise a refund request when the job was invoiced over 72 hours ago, an active voucher exists for the job (the refund button is blocked), the customer has 2 or more existing refund requests tagged cleaning quality or speed, or the customer has said they don't want a refund. A 3-hour admin courtesy voucher is auto-issued for a rating of 3 stars or less, or 'I want a different cleaner', which can limit refund options. Non-consecutive PCQ is general dissatisfaction.</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2" name="Shape 2092"/>
        <p:cNvGrpSpPr/>
        <p:nvPr/>
      </p:nvGrpSpPr>
      <p:grpSpPr>
        <a:xfrm>
          <a:off x="0" y="0"/>
          <a:ext cx="0" cy="0"/>
          <a:chOff x="0" y="0"/>
          <a:chExt cx="0" cy="0"/>
        </a:xfrm>
      </p:grpSpPr>
      <p:sp>
        <p:nvSpPr>
          <p:cNvPr id="2093" name="Google Shape;2093;p8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4" name="Google Shape;2094;p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Use this as the checklist. Customer: specific empathy, probe if vague. Resolution: check refund eligibility and blockers, refund the Premium Upsell Fee if a service issue is confirmed even without refund intent, refund the Priority Markup Fee only if the customer asks. Account: flag the job customer_unsatisfied if no review yet (for jobs over 30 days, block comms first, ensure the auto-message is blocked, then remove the block), block the C/CP pairing unless the customer wants the same CP, and cancel upcoming appointments or RC only if the customer no longer wants the service. CP: coach or penalize, and handle any supplies issue.</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1" name="Shape 2101"/>
        <p:cNvGrpSpPr/>
        <p:nvPr/>
      </p:nvGrpSpPr>
      <p:grpSpPr>
        <a:xfrm>
          <a:off x="0" y="0"/>
          <a:ext cx="0" cy="0"/>
          <a:chOff x="0" y="0"/>
          <a:chExt cx="0" cy="0"/>
        </a:xfrm>
      </p:grpSpPr>
      <p:sp>
        <p:nvSpPr>
          <p:cNvPr id="2102" name="Google Shape;2102;p8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3" name="Google Shape;2103;p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Start with the recovery objective, not the offer. Offers are not automatic entitlements. Voucher or credits may be offered even without cancellation intent only when there is a confirmed service issue and the customer is upset, hesitant or has lost confidence. Read the matrix: under 4 hours is a 1-hour voucher (DHJ and FCF) or 1-hour voucher or $20 credits (Non-FC); 4 hours or more is a 2-hour voucher for DHJ and FCF. With cancellation intent, DHJ gets standard recovery plus an ETF waiver if the next consecutive cleaning also has a serious issue, and FCF adds one free month. High-loyalty customers (for example 13 invoiced jobs and 9 paid months) get a full admin refund.</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3" name="Shape 2113"/>
        <p:cNvGrpSpPr/>
        <p:nvPr/>
      </p:nvGrpSpPr>
      <p:grpSpPr>
        <a:xfrm>
          <a:off x="0" y="0"/>
          <a:ext cx="0" cy="0"/>
          <a:chOff x="0" y="0"/>
          <a:chExt cx="0" cy="0"/>
        </a:xfrm>
      </p:grpSpPr>
      <p:sp>
        <p:nvSpPr>
          <p:cNvPr id="2114" name="Google Shape;2114;p8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5" name="Google Shape;2115;p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Explain the reasoning so trainees don't just memorize numbers. Non-FC customers have no active membership, so recovery fixes the affected cleaning. FCF membership begins at purchase, so a poor first experience means lost membership value and the free month restores it. The ETF waiver follows 'retain first, waive second': give another chance with a different cleaner and waive the ETF if the next consecutive cleaning also has a confirmed serious issue. High-loyalty customers have trusted us repeatedly, so a full admin refund preserves a relationship worth more than another attempt. Longer jobs get a stronger recovery because the customer's investment is bigger.</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9" name="Shape 2139"/>
        <p:cNvGrpSpPr/>
        <p:nvPr/>
      </p:nvGrpSpPr>
      <p:grpSpPr>
        <a:xfrm>
          <a:off x="0" y="0"/>
          <a:ext cx="0" cy="0"/>
          <a:chOff x="0" y="0"/>
          <a:chExt cx="0" cy="0"/>
        </a:xfrm>
      </p:grpSpPr>
      <p:sp>
        <p:nvSpPr>
          <p:cNvPr id="2140" name="Google Shape;2140;p8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1" name="Google Shape;2141;p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Two refunds that are not interchangeable. A refund request is the cleaner's call: the customer submits it within 72 hours, CPs are independent contractors who may accept or decline, they have 7 days to respond, and after that the system may issue a courtesy voucher. Never promise it. An admin refund is ours: it comes out of Homeaglow's pocket and the CP is still paid in full. We don't refund a completed job charge because the cleaner was paid. What the agent controls is the recovery: voucher, priority cleaning with a different cleaner, blocking the pairing, coaching the CP.</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5" name="Shape 2165"/>
        <p:cNvGrpSpPr/>
        <p:nvPr/>
      </p:nvGrpSpPr>
      <p:grpSpPr>
        <a:xfrm>
          <a:off x="0" y="0"/>
          <a:ext cx="0" cy="0"/>
          <a:chOff x="0" y="0"/>
          <a:chExt cx="0" cy="0"/>
        </a:xfrm>
      </p:grpSpPr>
      <p:sp>
        <p:nvSpPr>
          <p:cNvPr id="2166" name="Google Shape;2166;p8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7" name="Google Shape;2167;p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Supplies depend on the CP's operating model. CA/CA-WA: do not penalize, encourage complete supplies and check Cleaning Notes. General: add the require_new_cleaning_supplies_photo flag (CP CRM &gt; Do &gt; Issue), which sets the CP to norequests until a new photo is approved, and confirm the status changed. Skip it if the supplies cohort shows false or the CP is already suspended + DNR. If the customer only mentions supplies with no quality complaint, it is not PCQ and not an issue job: offer a $20 credit, encourage rebooking, and still do the CP-side steps. Always confirm whether there is a real quality issue first.</a:t>
            </a: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1" name="Shape 2191"/>
        <p:cNvGrpSpPr/>
        <p:nvPr/>
      </p:nvGrpSpPr>
      <p:grpSpPr>
        <a:xfrm>
          <a:off x="0" y="0"/>
          <a:ext cx="0" cy="0"/>
          <a:chOff x="0" y="0"/>
          <a:chExt cx="0" cy="0"/>
        </a:xfrm>
      </p:grpSpPr>
      <p:sp>
        <p:nvSpPr>
          <p:cNvPr id="2192" name="Google Shape;2192;p8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3" name="Google Shape;2193;p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Quick knowledge check: KB - Poor Cleaning Quality. Ask each question and let trainees answer before revealing. Each click reveals the next answer. 1) This KB covers a customer unhappy about a specific cleaning with no cancel intent. The moment they want to cancel, for any reason, move to the PCQ Retention Framework; ETF and waivers live there only. 2) Customers can self-submit a refund request within 72 hours of invoice. The system allows up to 96 hours, but that is internal only: disclosing it is a ZTP Level 2 violation. 3) Recovery matrix: PCQ on a job under 4 hours: 1 hr voucher (DHJ and FCF; non-FC: 1 hr voucher or $20 credits); 4 hours or more: 2 hr voucher. Offer only with a confirmed service issue and a customer who is clearly upset, hesitant to continue, or has lost confidence. 4) A refund request is the cleaner's call: the customer submits within 72 hours, the CP may accept or decline and has 7 days to respond; never promise it. An admin refund comes from Homeaglow and the CP is still paid in full. 5) High-loyalty customers (e.g. 13 invoiced jobs, 9 paid months): full admin refund. 6) CA / CA-WA CPs aren't required to bring complete supplies: don't penalize; encourage it and check Cleaning Notes for the customer's preference.</a:t>
            </a: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9" name="Shape 2229"/>
        <p:cNvGrpSpPr/>
        <p:nvPr/>
      </p:nvGrpSpPr>
      <p:grpSpPr>
        <a:xfrm>
          <a:off x="0" y="0"/>
          <a:ext cx="0" cy="0"/>
          <a:chOff x="0" y="0"/>
          <a:chExt cx="0" cy="0"/>
        </a:xfrm>
      </p:grpSpPr>
      <p:sp>
        <p:nvSpPr>
          <p:cNvPr id="2230" name="Google Shape;2230;p9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1" name="Google Shape;2231;p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TRAINER: share a live PCQ ticket. Give trainees a few minutes to review it on their own, then work through it together. 1) Is it PCQ (missed areas, incomplete tasks, visibly dirty areas, incomplete supplies that hurt the job)? Any cancel intent? If so, it moves to the PCQ Retention Framework. 2) What do you check first? Job admin and history, customer-CP and customer-Care messages, supplies overlap, refund request status and the 72-hour window, voucher status (admin courtesy voucher), and whether it's isolated or a pattern. 3) What actions and offer? Use the recovery matrix (only for a confirmed issue and a clearly upset customer), check refund request rules and blockers, refund the Premium Upsell Fee if charged, flag customer_unsatisfied, block the pairing, and coach or penalize the CP. Then move to Questions.</a:t>
            </a: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3" name="Shape 2253"/>
        <p:cNvGrpSpPr/>
        <p:nvPr/>
      </p:nvGrpSpPr>
      <p:grpSpPr>
        <a:xfrm>
          <a:off x="0" y="0"/>
          <a:ext cx="0" cy="0"/>
          <a:chOff x="0" y="0"/>
          <a:chExt cx="0" cy="0"/>
        </a:xfrm>
      </p:grpSpPr>
      <p:sp>
        <p:nvSpPr>
          <p:cNvPr id="2254" name="Google Shape;2254;p9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5" name="Google Shape;2255;p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6F7F9"/>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6F7F9"/>
        </a:solidFill>
      </p:bgPr>
    </p:bg>
    <p:spTree>
      <p:nvGrpSpPr>
        <p:cNvPr id="8" name="Shape 8"/>
        <p:cNvGrpSpPr/>
        <p:nvPr/>
      </p:nvGrpSpPr>
      <p:grpSpPr>
        <a:xfrm>
          <a:off x="0" y="0"/>
          <a:ext cx="0" cy="0"/>
          <a:chOff x="0" y="0"/>
          <a:chExt cx="0" cy="0"/>
        </a:xfrm>
      </p:grpSpPr>
      <p:sp>
        <p:nvSpPr>
          <p:cNvPr id="9" name="Google Shape;9;p3"/>
          <p:cNvSpPr/>
          <p:nvPr/>
        </p:nvSpPr>
        <p:spPr>
          <a:xfrm>
            <a:off x="438912" y="4800600"/>
            <a:ext cx="3657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 sz="700" u="none" cap="none" strike="noStrike">
                <a:solidFill>
                  <a:srgbClr val="6E6E73"/>
                </a:solidFill>
                <a:latin typeface="Arial"/>
                <a:ea typeface="Arial"/>
                <a:cs typeface="Arial"/>
                <a:sym typeface="Arial"/>
              </a:rPr>
              <a:t>Homeaglow  ·  New Hire Care Training</a:t>
            </a:r>
            <a:endParaRPr b="0" i="0" sz="700" u="none" cap="none" strike="noStrike">
              <a:solidFill>
                <a:schemeClr val="dk1"/>
              </a:solidFill>
              <a:latin typeface="Calibri"/>
              <a:ea typeface="Calibri"/>
              <a:cs typeface="Calibri"/>
              <a:sym typeface="Calibri"/>
            </a:endParaRPr>
          </a:p>
        </p:txBody>
      </p:sp>
      <p:sp>
        <p:nvSpPr>
          <p:cNvPr id="10" name="Google Shape;10;p3"/>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6F7F9"/>
        </a:solidFill>
      </p:bgPr>
    </p:bg>
    <p:spTree>
      <p:nvGrpSpPr>
        <p:cNvPr id="14" name="Shape 14"/>
        <p:cNvGrpSpPr/>
        <p:nvPr/>
      </p:nvGrpSpPr>
      <p:grpSpPr>
        <a:xfrm>
          <a:off x="0" y="0"/>
          <a:ext cx="0" cy="0"/>
          <a:chOff x="0" y="0"/>
          <a:chExt cx="0" cy="0"/>
        </a:xfrm>
      </p:grpSpPr>
      <p:sp>
        <p:nvSpPr>
          <p:cNvPr id="15" name="Google Shape;15;p6"/>
          <p:cNvSpPr/>
          <p:nvPr/>
        </p:nvSpPr>
        <p:spPr>
          <a:xfrm>
            <a:off x="438912" y="4800600"/>
            <a:ext cx="3657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 sz="700" u="none" cap="none" strike="noStrike">
                <a:solidFill>
                  <a:srgbClr val="6E6E73"/>
                </a:solidFill>
                <a:latin typeface="Arial"/>
                <a:ea typeface="Arial"/>
                <a:cs typeface="Arial"/>
                <a:sym typeface="Arial"/>
              </a:rPr>
              <a:t>Homeaglow  ·  New Hire Care Training</a:t>
            </a:r>
            <a:endParaRPr b="0" i="0" sz="700" u="none" cap="none" strike="noStrike">
              <a:solidFill>
                <a:schemeClr val="dk1"/>
              </a:solidFill>
              <a:latin typeface="Calibri"/>
              <a:ea typeface="Calibri"/>
              <a:cs typeface="Calibri"/>
              <a:sym typeface="Calibri"/>
            </a:endParaRPr>
          </a:p>
        </p:txBody>
      </p:sp>
      <p:sp>
        <p:nvSpPr>
          <p:cNvPr id="16" name="Google Shape;16;p6"/>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6F7F9"/>
        </a:solidFill>
      </p:bgPr>
    </p:bg>
    <p:spTree>
      <p:nvGrpSpPr>
        <p:cNvPr id="17" name="Shape 17"/>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1"/>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 name="Shape 12"/>
        <p:cNvGrpSpPr/>
        <p:nvPr/>
      </p:nvGrpSpPr>
      <p:grpSpPr>
        <a:xfrm>
          <a:off x="0" y="0"/>
          <a:ext cx="0" cy="0"/>
          <a:chOff x="0" y="0"/>
          <a:chExt cx="0" cy="0"/>
        </a:xfrm>
      </p:grpSpPr>
      <p:sp>
        <p:nvSpPr>
          <p:cNvPr id="13" name="Google Shape;13;p5"/>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40" Type="http://schemas.openxmlformats.org/officeDocument/2006/relationships/slide" Target="/ppt/slides/slide54.xml"/><Relationship Id="rId42" Type="http://schemas.openxmlformats.org/officeDocument/2006/relationships/slide" Target="/ppt/slides/slide54.xml"/><Relationship Id="rId41" Type="http://schemas.openxmlformats.org/officeDocument/2006/relationships/slide" Target="/ppt/slides/slide54.xml"/><Relationship Id="rId44" Type="http://schemas.openxmlformats.org/officeDocument/2006/relationships/slide" Target="/ppt/slides/slide54.xml"/><Relationship Id="rId43" Type="http://schemas.openxmlformats.org/officeDocument/2006/relationships/slide" Target="/ppt/slides/slide54.xml"/><Relationship Id="rId46" Type="http://schemas.openxmlformats.org/officeDocument/2006/relationships/slide" Target="/ppt/slides/slide60.xml"/><Relationship Id="rId45" Type="http://schemas.openxmlformats.org/officeDocument/2006/relationships/slide" Target="/ppt/slides/slide60.xml"/><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3.xml"/><Relationship Id="rId9" Type="http://schemas.openxmlformats.org/officeDocument/2006/relationships/slide" Target="/ppt/slides/slide11.xml"/><Relationship Id="rId48" Type="http://schemas.openxmlformats.org/officeDocument/2006/relationships/slide" Target="/ppt/slides/slide60.xml"/><Relationship Id="rId47" Type="http://schemas.openxmlformats.org/officeDocument/2006/relationships/slide" Target="/ppt/slides/slide60.xml"/><Relationship Id="rId49" Type="http://schemas.openxmlformats.org/officeDocument/2006/relationships/slide" Target="/ppt/slides/slide60.xml"/><Relationship Id="rId5" Type="http://schemas.openxmlformats.org/officeDocument/2006/relationships/slide" Target="/ppt/slides/slide3.xml"/><Relationship Id="rId6" Type="http://schemas.openxmlformats.org/officeDocument/2006/relationships/slide" Target="/ppt/slides/slide3.xml"/><Relationship Id="rId7" Type="http://schemas.openxmlformats.org/officeDocument/2006/relationships/slide" Target="/ppt/slides/slide3.xml"/><Relationship Id="rId8" Type="http://schemas.openxmlformats.org/officeDocument/2006/relationships/slide" Target="/ppt/slides/slide3.xml"/><Relationship Id="rId31" Type="http://schemas.openxmlformats.org/officeDocument/2006/relationships/slide" Target="/ppt/slides/slide39.xml"/><Relationship Id="rId30" Type="http://schemas.openxmlformats.org/officeDocument/2006/relationships/slide" Target="/ppt/slides/slide39.xml"/><Relationship Id="rId33" Type="http://schemas.openxmlformats.org/officeDocument/2006/relationships/slide" Target="/ppt/slides/slide50.xml"/><Relationship Id="rId32" Type="http://schemas.openxmlformats.org/officeDocument/2006/relationships/slide" Target="/ppt/slides/slide39.xml"/><Relationship Id="rId35" Type="http://schemas.openxmlformats.org/officeDocument/2006/relationships/slide" Target="/ppt/slides/slide50.xml"/><Relationship Id="rId34" Type="http://schemas.openxmlformats.org/officeDocument/2006/relationships/slide" Target="/ppt/slides/slide50.xml"/><Relationship Id="rId37" Type="http://schemas.openxmlformats.org/officeDocument/2006/relationships/slide" Target="/ppt/slides/slide50.xml"/><Relationship Id="rId36" Type="http://schemas.openxmlformats.org/officeDocument/2006/relationships/slide" Target="/ppt/slides/slide50.xml"/><Relationship Id="rId39" Type="http://schemas.openxmlformats.org/officeDocument/2006/relationships/slide" Target="/ppt/slides/slide54.xml"/><Relationship Id="rId38" Type="http://schemas.openxmlformats.org/officeDocument/2006/relationships/slide" Target="/ppt/slides/slide50.xml"/><Relationship Id="rId62" Type="http://schemas.openxmlformats.org/officeDocument/2006/relationships/slide" Target="/ppt/slides/slide79.xml"/><Relationship Id="rId61" Type="http://schemas.openxmlformats.org/officeDocument/2006/relationships/slide" Target="/ppt/slides/slide79.xml"/><Relationship Id="rId20" Type="http://schemas.openxmlformats.org/officeDocument/2006/relationships/slide" Target="/ppt/slides/slide19.xml"/><Relationship Id="rId22" Type="http://schemas.openxmlformats.org/officeDocument/2006/relationships/slide" Target="/ppt/slides/slide33.xml"/><Relationship Id="rId21" Type="http://schemas.openxmlformats.org/officeDocument/2006/relationships/slide" Target="/ppt/slides/slide33.xml"/><Relationship Id="rId24" Type="http://schemas.openxmlformats.org/officeDocument/2006/relationships/slide" Target="/ppt/slides/slide33.xml"/><Relationship Id="rId23" Type="http://schemas.openxmlformats.org/officeDocument/2006/relationships/slide" Target="/ppt/slides/slide33.xml"/><Relationship Id="rId60" Type="http://schemas.openxmlformats.org/officeDocument/2006/relationships/slide" Target="/ppt/slides/slide79.xml"/><Relationship Id="rId26" Type="http://schemas.openxmlformats.org/officeDocument/2006/relationships/slide" Target="/ppt/slides/slide33.xml"/><Relationship Id="rId25" Type="http://schemas.openxmlformats.org/officeDocument/2006/relationships/slide" Target="/ppt/slides/slide33.xml"/><Relationship Id="rId28" Type="http://schemas.openxmlformats.org/officeDocument/2006/relationships/slide" Target="/ppt/slides/slide39.xml"/><Relationship Id="rId27" Type="http://schemas.openxmlformats.org/officeDocument/2006/relationships/slide" Target="/ppt/slides/slide39.xml"/><Relationship Id="rId29" Type="http://schemas.openxmlformats.org/officeDocument/2006/relationships/slide" Target="/ppt/slides/slide39.xml"/><Relationship Id="rId51" Type="http://schemas.openxmlformats.org/officeDocument/2006/relationships/slide" Target="/ppt/slides/slide70.xml"/><Relationship Id="rId50" Type="http://schemas.openxmlformats.org/officeDocument/2006/relationships/slide" Target="/ppt/slides/slide60.xml"/><Relationship Id="rId53" Type="http://schemas.openxmlformats.org/officeDocument/2006/relationships/slide" Target="/ppt/slides/slide70.xml"/><Relationship Id="rId52" Type="http://schemas.openxmlformats.org/officeDocument/2006/relationships/slide" Target="/ppt/slides/slide70.xml"/><Relationship Id="rId11" Type="http://schemas.openxmlformats.org/officeDocument/2006/relationships/slide" Target="/ppt/slides/slide11.xml"/><Relationship Id="rId55" Type="http://schemas.openxmlformats.org/officeDocument/2006/relationships/slide" Target="/ppt/slides/slide70.xml"/><Relationship Id="rId10" Type="http://schemas.openxmlformats.org/officeDocument/2006/relationships/slide" Target="/ppt/slides/slide11.xml"/><Relationship Id="rId54" Type="http://schemas.openxmlformats.org/officeDocument/2006/relationships/slide" Target="/ppt/slides/slide70.xml"/><Relationship Id="rId13" Type="http://schemas.openxmlformats.org/officeDocument/2006/relationships/slide" Target="/ppt/slides/slide11.xml"/><Relationship Id="rId57" Type="http://schemas.openxmlformats.org/officeDocument/2006/relationships/slide" Target="/ppt/slides/slide79.xml"/><Relationship Id="rId12" Type="http://schemas.openxmlformats.org/officeDocument/2006/relationships/slide" Target="/ppt/slides/slide11.xml"/><Relationship Id="rId56" Type="http://schemas.openxmlformats.org/officeDocument/2006/relationships/slide" Target="/ppt/slides/slide70.xml"/><Relationship Id="rId15" Type="http://schemas.openxmlformats.org/officeDocument/2006/relationships/slide" Target="/ppt/slides/slide19.xml"/><Relationship Id="rId59" Type="http://schemas.openxmlformats.org/officeDocument/2006/relationships/slide" Target="/ppt/slides/slide79.xml"/><Relationship Id="rId14" Type="http://schemas.openxmlformats.org/officeDocument/2006/relationships/slide" Target="/ppt/slides/slide11.xml"/><Relationship Id="rId58" Type="http://schemas.openxmlformats.org/officeDocument/2006/relationships/slide" Target="/ppt/slides/slide79.xml"/><Relationship Id="rId17" Type="http://schemas.openxmlformats.org/officeDocument/2006/relationships/slide" Target="/ppt/slides/slide19.xml"/><Relationship Id="rId16" Type="http://schemas.openxmlformats.org/officeDocument/2006/relationships/slide" Target="/ppt/slides/slide19.xml"/><Relationship Id="rId19" Type="http://schemas.openxmlformats.org/officeDocument/2006/relationships/slide" Target="/ppt/slides/slide19.xml"/><Relationship Id="rId18" Type="http://schemas.openxmlformats.org/officeDocument/2006/relationships/slide" Target="/ppt/slides/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s://www.homeaglow.com/nocm/homeaglow/jobhistory/?job=12685237" TargetMode="External"/><Relationship Id="rId4" Type="http://schemas.openxmlformats.org/officeDocument/2006/relationships/image" Target="../media/image10.png"/><Relationship Id="rId5" Type="http://schemas.openxmlformats.org/officeDocument/2006/relationships/hyperlink" Target="https://www.homeaglow.com/nocm/homeaglow/jobhistory/?job=12685237"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13.png"/><Relationship Id="rId6" Type="http://schemas.openxmlformats.org/officeDocument/2006/relationships/image" Target="../media/image21.png"/><Relationship Id="rId7"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20.png"/><Relationship Id="rId7" Type="http://schemas.openxmlformats.org/officeDocument/2006/relationships/image" Target="../media/image35.png"/><Relationship Id="rId8"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6.png"/><Relationship Id="rId4" Type="http://schemas.openxmlformats.org/officeDocument/2006/relationships/image" Target="../media/image23.png"/><Relationship Id="rId5" Type="http://schemas.openxmlformats.org/officeDocument/2006/relationships/image" Target="../media/image33.png"/><Relationship Id="rId6"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36.png"/><Relationship Id="rId5" Type="http://schemas.openxmlformats.org/officeDocument/2006/relationships/image" Target="../media/image41.png"/><Relationship Id="rId6"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4.png"/><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2.png"/><Relationship Id="rId4" Type="http://schemas.openxmlformats.org/officeDocument/2006/relationships/image" Target="../media/image39.pn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0.png"/><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1.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49.png"/><Relationship Id="rId4" Type="http://schemas.openxmlformats.org/officeDocument/2006/relationships/image" Target="../media/image43.png"/><Relationship Id="rId5" Type="http://schemas.openxmlformats.org/officeDocument/2006/relationships/image" Target="../media/image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46.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53.png"/><Relationship Id="rId4" Type="http://schemas.openxmlformats.org/officeDocument/2006/relationships/image" Target="../media/image42.png"/><Relationship Id="rId5"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5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6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9.png"/><Relationship Id="rId4" Type="http://schemas.openxmlformats.org/officeDocument/2006/relationships/image" Target="../media/image65.png"/><Relationship Id="rId5" Type="http://schemas.openxmlformats.org/officeDocument/2006/relationships/image" Target="../media/image57.png"/><Relationship Id="rId6" Type="http://schemas.openxmlformats.org/officeDocument/2006/relationships/image" Target="../media/image43.png"/><Relationship Id="rId7" Type="http://schemas.openxmlformats.org/officeDocument/2006/relationships/image" Target="../media/image6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3.png"/><Relationship Id="rId4" Type="http://schemas.openxmlformats.org/officeDocument/2006/relationships/image" Target="../media/image61.png"/><Relationship Id="rId5" Type="http://schemas.openxmlformats.org/officeDocument/2006/relationships/image" Target="../media/image66.png"/><Relationship Id="rId6" Type="http://schemas.openxmlformats.org/officeDocument/2006/relationships/image" Target="../media/image5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6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0.png"/><Relationship Id="rId4" Type="http://schemas.openxmlformats.org/officeDocument/2006/relationships/image" Target="../media/image75.png"/><Relationship Id="rId9" Type="http://schemas.openxmlformats.org/officeDocument/2006/relationships/image" Target="../media/image91.png"/><Relationship Id="rId5" Type="http://schemas.openxmlformats.org/officeDocument/2006/relationships/image" Target="../media/image62.png"/><Relationship Id="rId6" Type="http://schemas.openxmlformats.org/officeDocument/2006/relationships/image" Target="../media/image60.png"/><Relationship Id="rId7" Type="http://schemas.openxmlformats.org/officeDocument/2006/relationships/image" Target="../media/image67.png"/><Relationship Id="rId8" Type="http://schemas.openxmlformats.org/officeDocument/2006/relationships/image" Target="../media/image7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70.png"/><Relationship Id="rId4" Type="http://schemas.openxmlformats.org/officeDocument/2006/relationships/image" Target="../media/image74.png"/><Relationship Id="rId5" Type="http://schemas.openxmlformats.org/officeDocument/2006/relationships/image" Target="../media/image71.png"/><Relationship Id="rId6" Type="http://schemas.openxmlformats.org/officeDocument/2006/relationships/image" Target="../media/image68.png"/><Relationship Id="rId7" Type="http://schemas.openxmlformats.org/officeDocument/2006/relationships/image" Target="../media/image72.png"/><Relationship Id="rId8" Type="http://schemas.openxmlformats.org/officeDocument/2006/relationships/image" Target="../media/image8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78.png"/><Relationship Id="rId4" Type="http://schemas.openxmlformats.org/officeDocument/2006/relationships/image" Target="../media/image80.png"/><Relationship Id="rId5" Type="http://schemas.openxmlformats.org/officeDocument/2006/relationships/image" Target="../media/image89.png"/><Relationship Id="rId6" Type="http://schemas.openxmlformats.org/officeDocument/2006/relationships/image" Target="../media/image8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77.png"/><Relationship Id="rId4" Type="http://schemas.openxmlformats.org/officeDocument/2006/relationships/image" Target="../media/image84.png"/><Relationship Id="rId5" Type="http://schemas.openxmlformats.org/officeDocument/2006/relationships/image" Target="../media/image79.png"/><Relationship Id="rId6" Type="http://schemas.openxmlformats.org/officeDocument/2006/relationships/image" Target="../media/image86.png"/><Relationship Id="rId7" Type="http://schemas.openxmlformats.org/officeDocument/2006/relationships/image" Target="../media/image76.png"/><Relationship Id="rId8" Type="http://schemas.openxmlformats.org/officeDocument/2006/relationships/image" Target="../media/image4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png"/><Relationship Id="rId4" Type="http://schemas.openxmlformats.org/officeDocument/2006/relationships/image" Target="../media/image8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83.pn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44.png"/><Relationship Id="rId4" Type="http://schemas.openxmlformats.org/officeDocument/2006/relationships/image" Target="../media/image94.png"/><Relationship Id="rId5" Type="http://schemas.openxmlformats.org/officeDocument/2006/relationships/image" Target="../media/image4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88.png"/><Relationship Id="rId4" Type="http://schemas.openxmlformats.org/officeDocument/2006/relationships/image" Target="../media/image62.png"/><Relationship Id="rId5" Type="http://schemas.openxmlformats.org/officeDocument/2006/relationships/image" Target="../media/image19.png"/><Relationship Id="rId6" Type="http://schemas.openxmlformats.org/officeDocument/2006/relationships/image" Target="../media/image87.png"/><Relationship Id="rId7" Type="http://schemas.openxmlformats.org/officeDocument/2006/relationships/image" Target="../media/image9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5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image" Target="../media/image39.png"/><Relationship Id="rId4" Type="http://schemas.openxmlformats.org/officeDocument/2006/relationships/image" Target="../media/image90.png"/><Relationship Id="rId5" Type="http://schemas.openxmlformats.org/officeDocument/2006/relationships/hyperlink" Target="https://drive.google.com/file/d/1N35RMwNuPAozUBaDhkn1XMxqfPUmpbu_/view?usp=drive_link" TargetMode="External"/><Relationship Id="rId6" Type="http://schemas.openxmlformats.org/officeDocument/2006/relationships/image" Target="../media/image96.png"/><Relationship Id="rId7" Type="http://schemas.openxmlformats.org/officeDocument/2006/relationships/hyperlink" Target="https://drive.google.com/file/d/1N35RMwNuPAozUBaDhkn1XMxqfPUmpbu_/view?usp=drive_link"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9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90.png"/><Relationship Id="rId4" Type="http://schemas.openxmlformats.org/officeDocument/2006/relationships/image" Target="../media/image41.png"/><Relationship Id="rId5" Type="http://schemas.openxmlformats.org/officeDocument/2006/relationships/image" Target="../media/image24.png"/><Relationship Id="rId6" Type="http://schemas.openxmlformats.org/officeDocument/2006/relationships/image" Target="../media/image93.png"/><Relationship Id="rId7" Type="http://schemas.openxmlformats.org/officeDocument/2006/relationships/image" Target="../media/image6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1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1.png"/><Relationship Id="rId4" Type="http://schemas.openxmlformats.org/officeDocument/2006/relationships/image" Target="../media/image5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9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9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77.png"/><Relationship Id="rId4" Type="http://schemas.openxmlformats.org/officeDocument/2006/relationships/image" Target="../media/image84.png"/><Relationship Id="rId5" Type="http://schemas.openxmlformats.org/officeDocument/2006/relationships/image" Target="../media/image79.png"/><Relationship Id="rId6" Type="http://schemas.openxmlformats.org/officeDocument/2006/relationships/image" Target="../media/image86.png"/><Relationship Id="rId7" Type="http://schemas.openxmlformats.org/officeDocument/2006/relationships/image" Target="../media/image76.png"/><Relationship Id="rId8" Type="http://schemas.openxmlformats.org/officeDocument/2006/relationships/image" Target="../media/image4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1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1.png"/><Relationship Id="rId4" Type="http://schemas.openxmlformats.org/officeDocument/2006/relationships/image" Target="../media/image5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1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1.png"/><Relationship Id="rId4" Type="http://schemas.openxmlformats.org/officeDocument/2006/relationships/image" Target="../media/image56.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77.png"/><Relationship Id="rId4" Type="http://schemas.openxmlformats.org/officeDocument/2006/relationships/image" Target="../media/image84.png"/><Relationship Id="rId5" Type="http://schemas.openxmlformats.org/officeDocument/2006/relationships/image" Target="../media/image79.png"/><Relationship Id="rId6" Type="http://schemas.openxmlformats.org/officeDocument/2006/relationships/image" Target="../media/image86.png"/><Relationship Id="rId7" Type="http://schemas.openxmlformats.org/officeDocument/2006/relationships/image" Target="../media/image76.png"/><Relationship Id="rId8" Type="http://schemas.openxmlformats.org/officeDocument/2006/relationships/image" Target="../media/image4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77.png"/><Relationship Id="rId4" Type="http://schemas.openxmlformats.org/officeDocument/2006/relationships/image" Target="../media/image84.png"/><Relationship Id="rId5" Type="http://schemas.openxmlformats.org/officeDocument/2006/relationships/image" Target="../media/image79.png"/><Relationship Id="rId6" Type="http://schemas.openxmlformats.org/officeDocument/2006/relationships/image" Target="../media/image86.png"/><Relationship Id="rId7" Type="http://schemas.openxmlformats.org/officeDocument/2006/relationships/image" Target="../media/image76.png"/><Relationship Id="rId8" Type="http://schemas.openxmlformats.org/officeDocument/2006/relationships/image" Target="../media/image4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9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9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54.png"/><Relationship Id="rId4" Type="http://schemas.openxmlformats.org/officeDocument/2006/relationships/image" Target="../media/image36.png"/><Relationship Id="rId5" Type="http://schemas.openxmlformats.org/officeDocument/2006/relationships/image" Target="../media/image55.png"/><Relationship Id="rId6" Type="http://schemas.openxmlformats.org/officeDocument/2006/relationships/image" Target="../media/image1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9"/>
          <p:cNvSpPr txBox="1"/>
          <p:nvPr/>
        </p:nvSpPr>
        <p:spPr>
          <a:xfrm>
            <a:off x="566928" y="54864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HOMEAGLOW  ·  NEW HIRE CARE TRAINING</a:t>
            </a:r>
            <a:endParaRPr b="0" i="0" sz="800" u="none" cap="none" strike="noStrike">
              <a:solidFill>
                <a:schemeClr val="dk1"/>
              </a:solidFill>
              <a:latin typeface="Calibri"/>
              <a:ea typeface="Calibri"/>
              <a:cs typeface="Calibri"/>
              <a:sym typeface="Calibri"/>
            </a:endParaRPr>
          </a:p>
        </p:txBody>
      </p:sp>
      <p:sp>
        <p:nvSpPr>
          <p:cNvPr id="25" name="Google Shape;25;p9"/>
          <p:cNvSpPr txBox="1"/>
          <p:nvPr/>
        </p:nvSpPr>
        <p:spPr>
          <a:xfrm>
            <a:off x="566928" y="914400"/>
            <a:ext cx="4480560"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200"/>
              <a:buFont typeface="Play"/>
              <a:buNone/>
            </a:pPr>
            <a:r>
              <a:rPr b="1" i="0" lang="en" sz="3200" u="none" cap="none" strike="noStrike">
                <a:solidFill>
                  <a:srgbClr val="1D1D1F"/>
                </a:solidFill>
                <a:latin typeface="Play"/>
                <a:ea typeface="Play"/>
                <a:cs typeface="Play"/>
                <a:sym typeface="Play"/>
              </a:rPr>
              <a:t>Platform &amp;</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3200"/>
              <a:buFont typeface="Play"/>
              <a:buNone/>
            </a:pPr>
            <a:r>
              <a:rPr b="1" i="0" lang="en" sz="3200" u="none" cap="none" strike="noStrike">
                <a:solidFill>
                  <a:srgbClr val="1D1D1F"/>
                </a:solidFill>
                <a:latin typeface="Play"/>
                <a:ea typeface="Play"/>
                <a:cs typeface="Play"/>
                <a:sym typeface="Play"/>
              </a:rPr>
              <a:t>Operating Mechanics</a:t>
            </a:r>
            <a:endParaRPr b="0" i="0" sz="3200" u="none" cap="none" strike="noStrike">
              <a:solidFill>
                <a:schemeClr val="dk1"/>
              </a:solidFill>
              <a:latin typeface="Calibri"/>
              <a:ea typeface="Calibri"/>
              <a:cs typeface="Calibri"/>
              <a:sym typeface="Calibri"/>
            </a:endParaRPr>
          </a:p>
        </p:txBody>
      </p:sp>
      <p:sp>
        <p:nvSpPr>
          <p:cNvPr id="26" name="Google Shape;26;p9"/>
          <p:cNvSpPr txBox="1"/>
          <p:nvPr/>
        </p:nvSpPr>
        <p:spPr>
          <a:xfrm>
            <a:off x="566928" y="2468880"/>
            <a:ext cx="4206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50"/>
              <a:buFont typeface="Arial"/>
              <a:buNone/>
            </a:pPr>
            <a:r>
              <a:rPr b="0" i="0" lang="en" sz="1250" u="none" cap="none" strike="noStrike">
                <a:solidFill>
                  <a:srgbClr val="6E6E73"/>
                </a:solidFill>
                <a:latin typeface="Arial"/>
                <a:ea typeface="Arial"/>
                <a:cs typeface="Arial"/>
                <a:sym typeface="Arial"/>
              </a:rPr>
              <a:t>How to read what happened to a job, handle callbacks, and explain what customers pay and cleaners earn.</a:t>
            </a:r>
            <a:endParaRPr b="0" i="0" sz="1250" u="none" cap="none" strike="noStrike">
              <a:solidFill>
                <a:schemeClr val="dk1"/>
              </a:solidFill>
              <a:latin typeface="Calibri"/>
              <a:ea typeface="Calibri"/>
              <a:cs typeface="Calibri"/>
              <a:sym typeface="Calibri"/>
            </a:endParaRPr>
          </a:p>
        </p:txBody>
      </p:sp>
      <p:sp>
        <p:nvSpPr>
          <p:cNvPr id="27" name="Google Shape;27;p9"/>
          <p:cNvSpPr txBox="1"/>
          <p:nvPr/>
        </p:nvSpPr>
        <p:spPr>
          <a:xfrm>
            <a:off x="566928" y="4572000"/>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 sz="700" u="none" cap="none" strike="noStrike">
                <a:solidFill>
                  <a:srgbClr val="6E6E73"/>
                </a:solidFill>
                <a:latin typeface="Arial"/>
                <a:ea typeface="Arial"/>
                <a:cs typeface="Arial"/>
                <a:sym typeface="Arial"/>
              </a:rPr>
              <a:t>Internal training material</a:t>
            </a:r>
            <a:endParaRPr b="0" i="0" sz="700" u="none" cap="none" strike="noStrike">
              <a:solidFill>
                <a:schemeClr val="dk1"/>
              </a:solidFill>
              <a:latin typeface="Calibri"/>
              <a:ea typeface="Calibri"/>
              <a:cs typeface="Calibri"/>
              <a:sym typeface="Calibri"/>
            </a:endParaRPr>
          </a:p>
        </p:txBody>
      </p:sp>
      <p:sp>
        <p:nvSpPr>
          <p:cNvPr id="28" name="Google Shape;28;p9"/>
          <p:cNvSpPr/>
          <p:nvPr/>
        </p:nvSpPr>
        <p:spPr>
          <a:xfrm>
            <a:off x="5312664" y="365760"/>
            <a:ext cx="3383280" cy="4407408"/>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9"/>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6.png" id="30" name="Google Shape;30;p9"/>
          <p:cNvPicPr preferRelativeResize="0"/>
          <p:nvPr/>
        </p:nvPicPr>
        <p:blipFill rotWithShape="1">
          <a:blip r:embed="rId3">
            <a:alphaModFix/>
          </a:blip>
          <a:srcRect b="0" l="0" r="0" t="0"/>
          <a:stretch/>
        </p:blipFill>
        <p:spPr>
          <a:xfrm>
            <a:off x="5541264" y="1632461"/>
            <a:ext cx="2926080" cy="1874006"/>
          </a:xfrm>
          <a:prstGeom prst="rect">
            <a:avLst/>
          </a:prstGeom>
          <a:noFill/>
          <a:ln>
            <a:noFill/>
          </a:ln>
        </p:spPr>
      </p:pic>
      <p:sp>
        <p:nvSpPr>
          <p:cNvPr id="31" name="Google Shape;31;p9"/>
          <p:cNvSpPr/>
          <p:nvPr/>
        </p:nvSpPr>
        <p:spPr>
          <a:xfrm>
            <a:off x="5522976"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9"/>
          <p:cNvSpPr/>
          <p:nvPr/>
        </p:nvSpPr>
        <p:spPr>
          <a:xfrm>
            <a:off x="5646420"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9"/>
          <p:cNvSpPr/>
          <p:nvPr/>
        </p:nvSpPr>
        <p:spPr>
          <a:xfrm>
            <a:off x="8193024"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p:nvPr/>
        </p:nvSpPr>
        <p:spPr>
          <a:xfrm>
            <a:off x="8316468"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9"/>
          <p:cNvSpPr/>
          <p:nvPr/>
        </p:nvSpPr>
        <p:spPr>
          <a:xfrm>
            <a:off x="8193024" y="4242816"/>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9"/>
          <p:cNvSpPr/>
          <p:nvPr/>
        </p:nvSpPr>
        <p:spPr>
          <a:xfrm>
            <a:off x="8316468" y="4366260"/>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10"/>
          <p:cNvSpPr txBox="1"/>
          <p:nvPr/>
        </p:nvSpPr>
        <p:spPr>
          <a:xfrm>
            <a:off x="438912" y="274320"/>
            <a:ext cx="82296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OVERVIEW</a:t>
            </a:r>
            <a:endParaRPr b="0" i="0" sz="800" u="none" cap="none" strike="noStrike">
              <a:solidFill>
                <a:schemeClr val="dk1"/>
              </a:solidFill>
              <a:latin typeface="Calibri"/>
              <a:ea typeface="Calibri"/>
              <a:cs typeface="Calibri"/>
              <a:sym typeface="Calibri"/>
            </a:endParaRPr>
          </a:p>
        </p:txBody>
      </p:sp>
      <p:sp>
        <p:nvSpPr>
          <p:cNvPr id="43" name="Google Shape;43;p1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Agenda</a:t>
            </a:r>
            <a:endParaRPr b="0" i="0" sz="2400" u="none" cap="none" strike="noStrike">
              <a:solidFill>
                <a:schemeClr val="dk1"/>
              </a:solidFill>
              <a:latin typeface="Calibri"/>
              <a:ea typeface="Calibri"/>
              <a:cs typeface="Calibri"/>
              <a:sym typeface="Calibri"/>
            </a:endParaRPr>
          </a:p>
        </p:txBody>
      </p:sp>
      <p:sp>
        <p:nvSpPr>
          <p:cNvPr id="44" name="Google Shape;44;p10"/>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45" name="Google Shape;45;p10"/>
          <p:cNvSpPr txBox="1"/>
          <p:nvPr/>
        </p:nvSpPr>
        <p:spPr>
          <a:xfrm>
            <a:off x="406400" y="914400"/>
            <a:ext cx="8318400" cy="254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6E6E73"/>
                </a:solidFill>
                <a:latin typeface="Arial"/>
                <a:ea typeface="Arial"/>
                <a:cs typeface="Arial"/>
                <a:sym typeface="Arial"/>
              </a:rPr>
              <a:t>Click a topic to jump to it.</a:t>
            </a:r>
            <a:endParaRPr b="0" i="0" sz="1100" u="none" cap="none" strike="noStrike">
              <a:solidFill>
                <a:srgbClr val="6E6E73"/>
              </a:solidFill>
              <a:latin typeface="Arial"/>
              <a:ea typeface="Arial"/>
              <a:cs typeface="Arial"/>
              <a:sym typeface="Arial"/>
            </a:endParaRPr>
          </a:p>
        </p:txBody>
      </p:sp>
      <p:sp>
        <p:nvSpPr>
          <p:cNvPr id="46" name="Google Shape;46;p10">
            <a:hlinkClick action="ppaction://hlinksldjump" r:id="rId3"/>
          </p:cNvPr>
          <p:cNvSpPr/>
          <p:nvPr/>
        </p:nvSpPr>
        <p:spPr>
          <a:xfrm>
            <a:off x="406400" y="12954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0">
            <a:hlinkClick action="ppaction://hlinksldjump" r:id="rId4"/>
          </p:cNvPr>
          <p:cNvSpPr/>
          <p:nvPr/>
        </p:nvSpPr>
        <p:spPr>
          <a:xfrm>
            <a:off x="558800" y="14351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1</a:t>
            </a:r>
            <a:endParaRPr b="1" i="0" sz="1000" u="none" cap="none" strike="noStrike">
              <a:solidFill>
                <a:srgbClr val="0B7A6F"/>
              </a:solidFill>
              <a:latin typeface="Play"/>
              <a:ea typeface="Play"/>
              <a:cs typeface="Play"/>
              <a:sym typeface="Play"/>
            </a:endParaRPr>
          </a:p>
        </p:txBody>
      </p:sp>
      <p:sp>
        <p:nvSpPr>
          <p:cNvPr id="48" name="Google Shape;48;p10">
            <a:hlinkClick action="ppaction://hlinksldjump" r:id="rId5"/>
          </p:cNvPr>
          <p:cNvSpPr txBox="1"/>
          <p:nvPr/>
        </p:nvSpPr>
        <p:spPr>
          <a:xfrm>
            <a:off x="990600" y="12954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6"/>
              </a:rPr>
              <a:t>Understanding Job History</a:t>
            </a:r>
            <a:endParaRPr b="1" i="0" sz="1200" u="none" cap="none" strike="noStrike">
              <a:solidFill>
                <a:srgbClr val="1D1D1F"/>
              </a:solidFill>
              <a:latin typeface="Play"/>
              <a:ea typeface="Play"/>
              <a:cs typeface="Play"/>
              <a:sym typeface="Play"/>
            </a:endParaRPr>
          </a:p>
        </p:txBody>
      </p:sp>
      <p:sp>
        <p:nvSpPr>
          <p:cNvPr id="49" name="Google Shape;49;p10">
            <a:hlinkClick action="ppaction://hlinksldjump" r:id="rId7"/>
          </p:cNvPr>
          <p:cNvSpPr txBox="1"/>
          <p:nvPr/>
        </p:nvSpPr>
        <p:spPr>
          <a:xfrm>
            <a:off x="4089400" y="12954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8"/>
              </a:rPr>
              <a:t>›</a:t>
            </a:r>
            <a:endParaRPr b="1" i="0" sz="1800" u="none" cap="none" strike="noStrike">
              <a:solidFill>
                <a:srgbClr val="0B7A6F"/>
              </a:solidFill>
              <a:latin typeface="Play"/>
              <a:ea typeface="Play"/>
              <a:cs typeface="Play"/>
              <a:sym typeface="Play"/>
            </a:endParaRPr>
          </a:p>
        </p:txBody>
      </p:sp>
      <p:sp>
        <p:nvSpPr>
          <p:cNvPr id="50" name="Google Shape;50;p10">
            <a:hlinkClick action="ppaction://hlinksldjump" r:id="rId9"/>
          </p:cNvPr>
          <p:cNvSpPr/>
          <p:nvPr/>
        </p:nvSpPr>
        <p:spPr>
          <a:xfrm>
            <a:off x="406400" y="19812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10">
            <a:hlinkClick action="ppaction://hlinksldjump" r:id="rId10"/>
          </p:cNvPr>
          <p:cNvSpPr/>
          <p:nvPr/>
        </p:nvSpPr>
        <p:spPr>
          <a:xfrm>
            <a:off x="558800" y="21209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2</a:t>
            </a:r>
            <a:endParaRPr b="1" i="0" sz="1000" u="none" cap="none" strike="noStrike">
              <a:solidFill>
                <a:srgbClr val="0B7A6F"/>
              </a:solidFill>
              <a:latin typeface="Play"/>
              <a:ea typeface="Play"/>
              <a:cs typeface="Play"/>
              <a:sym typeface="Play"/>
            </a:endParaRPr>
          </a:p>
        </p:txBody>
      </p:sp>
      <p:sp>
        <p:nvSpPr>
          <p:cNvPr id="52" name="Google Shape;52;p10">
            <a:hlinkClick action="ppaction://hlinksldjump" r:id="rId11"/>
          </p:cNvPr>
          <p:cNvSpPr txBox="1"/>
          <p:nvPr/>
        </p:nvSpPr>
        <p:spPr>
          <a:xfrm>
            <a:off x="990600" y="19812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12"/>
              </a:rPr>
              <a:t>Callback Handling</a:t>
            </a:r>
            <a:endParaRPr b="1" i="0" sz="1200" u="none" cap="none" strike="noStrike">
              <a:solidFill>
                <a:srgbClr val="1D1D1F"/>
              </a:solidFill>
              <a:latin typeface="Play"/>
              <a:ea typeface="Play"/>
              <a:cs typeface="Play"/>
              <a:sym typeface="Play"/>
            </a:endParaRPr>
          </a:p>
        </p:txBody>
      </p:sp>
      <p:sp>
        <p:nvSpPr>
          <p:cNvPr id="53" name="Google Shape;53;p10">
            <a:hlinkClick action="ppaction://hlinksldjump" r:id="rId13"/>
          </p:cNvPr>
          <p:cNvSpPr txBox="1"/>
          <p:nvPr/>
        </p:nvSpPr>
        <p:spPr>
          <a:xfrm>
            <a:off x="4089400" y="19812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14"/>
              </a:rPr>
              <a:t>›</a:t>
            </a:r>
            <a:endParaRPr b="1" i="0" sz="1800" u="none" cap="none" strike="noStrike">
              <a:solidFill>
                <a:srgbClr val="0B7A6F"/>
              </a:solidFill>
              <a:latin typeface="Play"/>
              <a:ea typeface="Play"/>
              <a:cs typeface="Play"/>
              <a:sym typeface="Play"/>
            </a:endParaRPr>
          </a:p>
        </p:txBody>
      </p:sp>
      <p:sp>
        <p:nvSpPr>
          <p:cNvPr id="54" name="Google Shape;54;p10">
            <a:hlinkClick action="ppaction://hlinksldjump" r:id="rId15"/>
          </p:cNvPr>
          <p:cNvSpPr/>
          <p:nvPr/>
        </p:nvSpPr>
        <p:spPr>
          <a:xfrm>
            <a:off x="406400" y="26670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0">
            <a:hlinkClick action="ppaction://hlinksldjump" r:id="rId16"/>
          </p:cNvPr>
          <p:cNvSpPr/>
          <p:nvPr/>
        </p:nvSpPr>
        <p:spPr>
          <a:xfrm>
            <a:off x="558800" y="28067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3</a:t>
            </a:r>
            <a:endParaRPr b="1" i="0" sz="1000" u="none" cap="none" strike="noStrike">
              <a:solidFill>
                <a:srgbClr val="0B7A6F"/>
              </a:solidFill>
              <a:latin typeface="Play"/>
              <a:ea typeface="Play"/>
              <a:cs typeface="Play"/>
              <a:sym typeface="Play"/>
            </a:endParaRPr>
          </a:p>
        </p:txBody>
      </p:sp>
      <p:sp>
        <p:nvSpPr>
          <p:cNvPr id="56" name="Google Shape;56;p10">
            <a:hlinkClick action="ppaction://hlinksldjump" r:id="rId17"/>
          </p:cNvPr>
          <p:cNvSpPr txBox="1"/>
          <p:nvPr/>
        </p:nvSpPr>
        <p:spPr>
          <a:xfrm>
            <a:off x="990600" y="26670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18"/>
              </a:rPr>
              <a:t>C Price vs CP Pay</a:t>
            </a:r>
            <a:endParaRPr b="1" i="0" sz="1200" u="none" cap="none" strike="noStrike">
              <a:solidFill>
                <a:srgbClr val="1D1D1F"/>
              </a:solidFill>
              <a:latin typeface="Play"/>
              <a:ea typeface="Play"/>
              <a:cs typeface="Play"/>
              <a:sym typeface="Play"/>
            </a:endParaRPr>
          </a:p>
        </p:txBody>
      </p:sp>
      <p:sp>
        <p:nvSpPr>
          <p:cNvPr id="57" name="Google Shape;57;p10">
            <a:hlinkClick action="ppaction://hlinksldjump" r:id="rId19"/>
          </p:cNvPr>
          <p:cNvSpPr txBox="1"/>
          <p:nvPr/>
        </p:nvSpPr>
        <p:spPr>
          <a:xfrm>
            <a:off x="4089400" y="26670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20"/>
              </a:rPr>
              <a:t>›</a:t>
            </a:r>
            <a:endParaRPr b="1" i="0" sz="1800" u="none" cap="none" strike="noStrike">
              <a:solidFill>
                <a:srgbClr val="0B7A6F"/>
              </a:solidFill>
              <a:latin typeface="Play"/>
              <a:ea typeface="Play"/>
              <a:cs typeface="Play"/>
              <a:sym typeface="Play"/>
            </a:endParaRPr>
          </a:p>
        </p:txBody>
      </p:sp>
      <p:sp>
        <p:nvSpPr>
          <p:cNvPr id="58" name="Google Shape;58;p10">
            <a:hlinkClick action="ppaction://hlinksldjump" r:id="rId21"/>
          </p:cNvPr>
          <p:cNvSpPr/>
          <p:nvPr/>
        </p:nvSpPr>
        <p:spPr>
          <a:xfrm>
            <a:off x="406400" y="33528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0">
            <a:hlinkClick action="ppaction://hlinksldjump" r:id="rId22"/>
          </p:cNvPr>
          <p:cNvSpPr/>
          <p:nvPr/>
        </p:nvSpPr>
        <p:spPr>
          <a:xfrm>
            <a:off x="558800" y="34925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4</a:t>
            </a:r>
            <a:endParaRPr b="1" i="0" sz="1000" u="none" cap="none" strike="noStrike">
              <a:solidFill>
                <a:srgbClr val="0B7A6F"/>
              </a:solidFill>
              <a:latin typeface="Play"/>
              <a:ea typeface="Play"/>
              <a:cs typeface="Play"/>
              <a:sym typeface="Play"/>
            </a:endParaRPr>
          </a:p>
        </p:txBody>
      </p:sp>
      <p:sp>
        <p:nvSpPr>
          <p:cNvPr id="60" name="Google Shape;60;p10">
            <a:hlinkClick action="ppaction://hlinksldjump" r:id="rId23"/>
          </p:cNvPr>
          <p:cNvSpPr txBox="1"/>
          <p:nvPr/>
        </p:nvSpPr>
        <p:spPr>
          <a:xfrm>
            <a:off x="990600" y="33528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24"/>
              </a:rPr>
              <a:t>Pre-authorization Hold</a:t>
            </a:r>
            <a:endParaRPr b="1" i="0" sz="1200" u="none" cap="none" strike="noStrike">
              <a:solidFill>
                <a:srgbClr val="1D1D1F"/>
              </a:solidFill>
              <a:latin typeface="Play"/>
              <a:ea typeface="Play"/>
              <a:cs typeface="Play"/>
              <a:sym typeface="Play"/>
            </a:endParaRPr>
          </a:p>
        </p:txBody>
      </p:sp>
      <p:sp>
        <p:nvSpPr>
          <p:cNvPr id="61" name="Google Shape;61;p10">
            <a:hlinkClick action="ppaction://hlinksldjump" r:id="rId25"/>
          </p:cNvPr>
          <p:cNvSpPr txBox="1"/>
          <p:nvPr/>
        </p:nvSpPr>
        <p:spPr>
          <a:xfrm>
            <a:off x="4089400" y="33528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26"/>
              </a:rPr>
              <a:t>›</a:t>
            </a:r>
            <a:endParaRPr b="1" i="0" sz="1800" u="none" cap="none" strike="noStrike">
              <a:solidFill>
                <a:srgbClr val="0B7A6F"/>
              </a:solidFill>
              <a:latin typeface="Play"/>
              <a:ea typeface="Play"/>
              <a:cs typeface="Play"/>
              <a:sym typeface="Play"/>
            </a:endParaRPr>
          </a:p>
        </p:txBody>
      </p:sp>
      <p:sp>
        <p:nvSpPr>
          <p:cNvPr id="62" name="Google Shape;62;p10">
            <a:hlinkClick action="ppaction://hlinksldjump" r:id="rId27"/>
          </p:cNvPr>
          <p:cNvSpPr/>
          <p:nvPr/>
        </p:nvSpPr>
        <p:spPr>
          <a:xfrm>
            <a:off x="406400" y="40386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0">
            <a:hlinkClick action="ppaction://hlinksldjump" r:id="rId28"/>
          </p:cNvPr>
          <p:cNvSpPr/>
          <p:nvPr/>
        </p:nvSpPr>
        <p:spPr>
          <a:xfrm>
            <a:off x="558800" y="41783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5</a:t>
            </a:r>
            <a:endParaRPr b="1" i="0" sz="1000" u="none" cap="none" strike="noStrike">
              <a:solidFill>
                <a:srgbClr val="0B7A6F"/>
              </a:solidFill>
              <a:latin typeface="Play"/>
              <a:ea typeface="Play"/>
              <a:cs typeface="Play"/>
              <a:sym typeface="Play"/>
            </a:endParaRPr>
          </a:p>
        </p:txBody>
      </p:sp>
      <p:sp>
        <p:nvSpPr>
          <p:cNvPr id="64" name="Google Shape;64;p10">
            <a:hlinkClick action="ppaction://hlinksldjump" r:id="rId29"/>
          </p:cNvPr>
          <p:cNvSpPr txBox="1"/>
          <p:nvPr/>
        </p:nvSpPr>
        <p:spPr>
          <a:xfrm>
            <a:off x="990600" y="40386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30"/>
              </a:rPr>
              <a:t>Vouchers in CRM</a:t>
            </a:r>
            <a:endParaRPr b="1" i="0" sz="1200" u="none" cap="none" strike="noStrike">
              <a:solidFill>
                <a:srgbClr val="1D1D1F"/>
              </a:solidFill>
              <a:latin typeface="Play"/>
              <a:ea typeface="Play"/>
              <a:cs typeface="Play"/>
              <a:sym typeface="Play"/>
            </a:endParaRPr>
          </a:p>
        </p:txBody>
      </p:sp>
      <p:sp>
        <p:nvSpPr>
          <p:cNvPr id="65" name="Google Shape;65;p10">
            <a:hlinkClick action="ppaction://hlinksldjump" r:id="rId31"/>
          </p:cNvPr>
          <p:cNvSpPr txBox="1"/>
          <p:nvPr/>
        </p:nvSpPr>
        <p:spPr>
          <a:xfrm>
            <a:off x="4089400" y="40386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32"/>
              </a:rPr>
              <a:t>›</a:t>
            </a:r>
            <a:endParaRPr b="1" i="0" sz="1800" u="none" cap="none" strike="noStrike">
              <a:solidFill>
                <a:srgbClr val="0B7A6F"/>
              </a:solidFill>
              <a:latin typeface="Play"/>
              <a:ea typeface="Play"/>
              <a:cs typeface="Play"/>
              <a:sym typeface="Play"/>
            </a:endParaRPr>
          </a:p>
        </p:txBody>
      </p:sp>
      <p:sp>
        <p:nvSpPr>
          <p:cNvPr id="66" name="Google Shape;66;p10">
            <a:hlinkClick action="ppaction://hlinksldjump" r:id="rId33"/>
          </p:cNvPr>
          <p:cNvSpPr/>
          <p:nvPr/>
        </p:nvSpPr>
        <p:spPr>
          <a:xfrm>
            <a:off x="4660900" y="12954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0">
            <a:hlinkClick action="ppaction://hlinksldjump" r:id="rId34"/>
          </p:cNvPr>
          <p:cNvSpPr/>
          <p:nvPr/>
        </p:nvSpPr>
        <p:spPr>
          <a:xfrm>
            <a:off x="4813300" y="14351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6</a:t>
            </a:r>
            <a:endParaRPr b="1" i="0" sz="1000" u="none" cap="none" strike="noStrike">
              <a:solidFill>
                <a:srgbClr val="0B7A6F"/>
              </a:solidFill>
              <a:latin typeface="Play"/>
              <a:ea typeface="Play"/>
              <a:cs typeface="Play"/>
              <a:sym typeface="Play"/>
            </a:endParaRPr>
          </a:p>
        </p:txBody>
      </p:sp>
      <p:sp>
        <p:nvSpPr>
          <p:cNvPr id="68" name="Google Shape;68;p10">
            <a:hlinkClick action="ppaction://hlinksldjump" r:id="rId35"/>
          </p:cNvPr>
          <p:cNvSpPr txBox="1"/>
          <p:nvPr/>
        </p:nvSpPr>
        <p:spPr>
          <a:xfrm>
            <a:off x="5245100" y="12954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chemeClr val="hlink"/>
                </a:solidFill>
                <a:uFill>
                  <a:noFill/>
                </a:uFill>
                <a:latin typeface="Play"/>
                <a:ea typeface="Play"/>
                <a:cs typeface="Play"/>
                <a:sym typeface="Play"/>
                <a:hlinkClick action="ppaction://hlinksldjump" r:id="rId36"/>
              </a:rPr>
              <a:t>Non-Logged-In Visitor Submitted a Ticket Using an Existing Customer's Email</a:t>
            </a:r>
            <a:endParaRPr b="1" i="0" sz="1000" u="none" cap="none" strike="noStrike">
              <a:solidFill>
                <a:srgbClr val="1D1D1F"/>
              </a:solidFill>
              <a:latin typeface="Play"/>
              <a:ea typeface="Play"/>
              <a:cs typeface="Play"/>
              <a:sym typeface="Play"/>
            </a:endParaRPr>
          </a:p>
        </p:txBody>
      </p:sp>
      <p:sp>
        <p:nvSpPr>
          <p:cNvPr id="69" name="Google Shape;69;p10">
            <a:hlinkClick action="ppaction://hlinksldjump" r:id="rId37"/>
          </p:cNvPr>
          <p:cNvSpPr txBox="1"/>
          <p:nvPr/>
        </p:nvSpPr>
        <p:spPr>
          <a:xfrm>
            <a:off x="8343900" y="12954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38"/>
              </a:rPr>
              <a:t>›</a:t>
            </a:r>
            <a:endParaRPr b="1" i="0" sz="1800" u="none" cap="none" strike="noStrike">
              <a:solidFill>
                <a:srgbClr val="0B7A6F"/>
              </a:solidFill>
              <a:latin typeface="Play"/>
              <a:ea typeface="Play"/>
              <a:cs typeface="Play"/>
              <a:sym typeface="Play"/>
            </a:endParaRPr>
          </a:p>
        </p:txBody>
      </p:sp>
      <p:sp>
        <p:nvSpPr>
          <p:cNvPr id="70" name="Google Shape;70;p10">
            <a:hlinkClick action="ppaction://hlinksldjump" r:id="rId39"/>
          </p:cNvPr>
          <p:cNvSpPr/>
          <p:nvPr/>
        </p:nvSpPr>
        <p:spPr>
          <a:xfrm>
            <a:off x="4660900" y="19812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0">
            <a:hlinkClick action="ppaction://hlinksldjump" r:id="rId40"/>
          </p:cNvPr>
          <p:cNvSpPr/>
          <p:nvPr/>
        </p:nvSpPr>
        <p:spPr>
          <a:xfrm>
            <a:off x="4813300" y="21209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7</a:t>
            </a:r>
            <a:endParaRPr b="1" i="0" sz="1000" u="none" cap="none" strike="noStrike">
              <a:solidFill>
                <a:srgbClr val="0B7A6F"/>
              </a:solidFill>
              <a:latin typeface="Play"/>
              <a:ea typeface="Play"/>
              <a:cs typeface="Play"/>
              <a:sym typeface="Play"/>
            </a:endParaRPr>
          </a:p>
        </p:txBody>
      </p:sp>
      <p:sp>
        <p:nvSpPr>
          <p:cNvPr id="72" name="Google Shape;72;p10">
            <a:hlinkClick action="ppaction://hlinksldjump" r:id="rId41"/>
          </p:cNvPr>
          <p:cNvSpPr txBox="1"/>
          <p:nvPr/>
        </p:nvSpPr>
        <p:spPr>
          <a:xfrm>
            <a:off x="5245100" y="19812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42"/>
              </a:rPr>
              <a:t>Max CP Rate (C-Facing Rate Cap)</a:t>
            </a:r>
            <a:endParaRPr b="1" i="0" sz="1200" u="none" cap="none" strike="noStrike">
              <a:solidFill>
                <a:srgbClr val="1D1D1F"/>
              </a:solidFill>
              <a:latin typeface="Play"/>
              <a:ea typeface="Play"/>
              <a:cs typeface="Play"/>
              <a:sym typeface="Play"/>
            </a:endParaRPr>
          </a:p>
        </p:txBody>
      </p:sp>
      <p:sp>
        <p:nvSpPr>
          <p:cNvPr id="73" name="Google Shape;73;p10">
            <a:hlinkClick action="ppaction://hlinksldjump" r:id="rId43"/>
          </p:cNvPr>
          <p:cNvSpPr txBox="1"/>
          <p:nvPr/>
        </p:nvSpPr>
        <p:spPr>
          <a:xfrm>
            <a:off x="8343900" y="19812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44"/>
              </a:rPr>
              <a:t>›</a:t>
            </a:r>
            <a:endParaRPr b="1" i="0" sz="1800" u="none" cap="none" strike="noStrike">
              <a:solidFill>
                <a:srgbClr val="0B7A6F"/>
              </a:solidFill>
              <a:latin typeface="Play"/>
              <a:ea typeface="Play"/>
              <a:cs typeface="Play"/>
              <a:sym typeface="Play"/>
            </a:endParaRPr>
          </a:p>
        </p:txBody>
      </p:sp>
      <p:sp>
        <p:nvSpPr>
          <p:cNvPr id="74" name="Google Shape;74;p10">
            <a:hlinkClick action="ppaction://hlinksldjump" r:id="rId45"/>
          </p:cNvPr>
          <p:cNvSpPr/>
          <p:nvPr/>
        </p:nvSpPr>
        <p:spPr>
          <a:xfrm>
            <a:off x="4660900" y="26670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0">
            <a:hlinkClick action="ppaction://hlinksldjump" r:id="rId46"/>
          </p:cNvPr>
          <p:cNvSpPr/>
          <p:nvPr/>
        </p:nvSpPr>
        <p:spPr>
          <a:xfrm>
            <a:off x="4813300" y="28067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8</a:t>
            </a:r>
            <a:endParaRPr b="1" i="0" sz="1000" u="none" cap="none" strike="noStrike">
              <a:solidFill>
                <a:srgbClr val="0B7A6F"/>
              </a:solidFill>
              <a:latin typeface="Play"/>
              <a:ea typeface="Play"/>
              <a:cs typeface="Play"/>
              <a:sym typeface="Play"/>
            </a:endParaRPr>
          </a:p>
        </p:txBody>
      </p:sp>
      <p:sp>
        <p:nvSpPr>
          <p:cNvPr id="76" name="Google Shape;76;p10">
            <a:hlinkClick action="ppaction://hlinksldjump" r:id="rId47"/>
          </p:cNvPr>
          <p:cNvSpPr txBox="1"/>
          <p:nvPr/>
        </p:nvSpPr>
        <p:spPr>
          <a:xfrm>
            <a:off x="5245100" y="26670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48"/>
              </a:rPr>
              <a:t>ForeverClean Membership</a:t>
            </a:r>
            <a:endParaRPr b="1" i="0" sz="1200" u="none" cap="none" strike="noStrike">
              <a:solidFill>
                <a:srgbClr val="1D1D1F"/>
              </a:solidFill>
              <a:latin typeface="Play"/>
              <a:ea typeface="Play"/>
              <a:cs typeface="Play"/>
              <a:sym typeface="Play"/>
            </a:endParaRPr>
          </a:p>
        </p:txBody>
      </p:sp>
      <p:sp>
        <p:nvSpPr>
          <p:cNvPr id="77" name="Google Shape;77;p10">
            <a:hlinkClick action="ppaction://hlinksldjump" r:id="rId49"/>
          </p:cNvPr>
          <p:cNvSpPr txBox="1"/>
          <p:nvPr/>
        </p:nvSpPr>
        <p:spPr>
          <a:xfrm>
            <a:off x="8343900" y="26670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50"/>
              </a:rPr>
              <a:t>›</a:t>
            </a:r>
            <a:endParaRPr b="1" i="0" sz="1800" u="none" cap="none" strike="noStrike">
              <a:solidFill>
                <a:srgbClr val="0B7A6F"/>
              </a:solidFill>
              <a:latin typeface="Play"/>
              <a:ea typeface="Play"/>
              <a:cs typeface="Play"/>
              <a:sym typeface="Play"/>
            </a:endParaRPr>
          </a:p>
        </p:txBody>
      </p:sp>
      <p:sp>
        <p:nvSpPr>
          <p:cNvPr id="78" name="Google Shape;78;p10">
            <a:hlinkClick action="ppaction://hlinksldjump" r:id="rId51"/>
          </p:cNvPr>
          <p:cNvSpPr/>
          <p:nvPr/>
        </p:nvSpPr>
        <p:spPr>
          <a:xfrm>
            <a:off x="4660900" y="33528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10">
            <a:hlinkClick action="ppaction://hlinksldjump" r:id="rId52"/>
          </p:cNvPr>
          <p:cNvSpPr/>
          <p:nvPr/>
        </p:nvSpPr>
        <p:spPr>
          <a:xfrm>
            <a:off x="4813300" y="34925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9</a:t>
            </a:r>
            <a:endParaRPr b="1" i="0" sz="1000" u="none" cap="none" strike="noStrike">
              <a:solidFill>
                <a:srgbClr val="0B7A6F"/>
              </a:solidFill>
              <a:latin typeface="Play"/>
              <a:ea typeface="Play"/>
              <a:cs typeface="Play"/>
              <a:sym typeface="Play"/>
            </a:endParaRPr>
          </a:p>
        </p:txBody>
      </p:sp>
      <p:sp>
        <p:nvSpPr>
          <p:cNvPr id="80" name="Google Shape;80;p10">
            <a:hlinkClick action="ppaction://hlinksldjump" r:id="rId53"/>
          </p:cNvPr>
          <p:cNvSpPr txBox="1"/>
          <p:nvPr/>
        </p:nvSpPr>
        <p:spPr>
          <a:xfrm>
            <a:off x="5245100" y="33528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54"/>
              </a:rPr>
              <a:t>Value of ForeverClean</a:t>
            </a:r>
            <a:endParaRPr b="1" i="0" sz="1200" u="none" cap="none" strike="noStrike">
              <a:solidFill>
                <a:srgbClr val="1D1D1F"/>
              </a:solidFill>
              <a:latin typeface="Play"/>
              <a:ea typeface="Play"/>
              <a:cs typeface="Play"/>
              <a:sym typeface="Play"/>
            </a:endParaRPr>
          </a:p>
        </p:txBody>
      </p:sp>
      <p:sp>
        <p:nvSpPr>
          <p:cNvPr id="81" name="Google Shape;81;p10">
            <a:hlinkClick action="ppaction://hlinksldjump" r:id="rId55"/>
          </p:cNvPr>
          <p:cNvSpPr txBox="1"/>
          <p:nvPr/>
        </p:nvSpPr>
        <p:spPr>
          <a:xfrm>
            <a:off x="8343900" y="33528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56"/>
              </a:rPr>
              <a:t>›</a:t>
            </a:r>
            <a:endParaRPr b="1" i="0" sz="1800" u="none" cap="none" strike="noStrike">
              <a:solidFill>
                <a:srgbClr val="0B7A6F"/>
              </a:solidFill>
              <a:latin typeface="Play"/>
              <a:ea typeface="Play"/>
              <a:cs typeface="Play"/>
              <a:sym typeface="Play"/>
            </a:endParaRPr>
          </a:p>
        </p:txBody>
      </p:sp>
      <p:sp>
        <p:nvSpPr>
          <p:cNvPr id="82" name="Google Shape;82;p10">
            <a:hlinkClick action="ppaction://hlinksldjump" r:id="rId57"/>
          </p:cNvPr>
          <p:cNvSpPr/>
          <p:nvPr/>
        </p:nvSpPr>
        <p:spPr>
          <a:xfrm>
            <a:off x="4660900" y="4038600"/>
            <a:ext cx="4064100" cy="584100"/>
          </a:xfrm>
          <a:prstGeom prst="roundRect">
            <a:avLst>
              <a:gd fmla="val 1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0">
            <a:hlinkClick action="ppaction://hlinksldjump" r:id="rId58"/>
          </p:cNvPr>
          <p:cNvSpPr/>
          <p:nvPr/>
        </p:nvSpPr>
        <p:spPr>
          <a:xfrm>
            <a:off x="4813300" y="4178300"/>
            <a:ext cx="304800" cy="304800"/>
          </a:xfrm>
          <a:prstGeom prst="ellipse">
            <a:avLst/>
          </a:prstGeom>
          <a:solidFill>
            <a:srgbClr val="E3F4F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Play"/>
                <a:ea typeface="Play"/>
                <a:cs typeface="Play"/>
                <a:sym typeface="Play"/>
              </a:rPr>
              <a:t>10</a:t>
            </a:r>
            <a:endParaRPr b="1" i="0" sz="1000" u="none" cap="none" strike="noStrike">
              <a:solidFill>
                <a:srgbClr val="0B7A6F"/>
              </a:solidFill>
              <a:latin typeface="Play"/>
              <a:ea typeface="Play"/>
              <a:cs typeface="Play"/>
              <a:sym typeface="Play"/>
            </a:endParaRPr>
          </a:p>
        </p:txBody>
      </p:sp>
      <p:sp>
        <p:nvSpPr>
          <p:cNvPr id="84" name="Google Shape;84;p10">
            <a:hlinkClick action="ppaction://hlinksldjump" r:id="rId59"/>
          </p:cNvPr>
          <p:cNvSpPr txBox="1"/>
          <p:nvPr/>
        </p:nvSpPr>
        <p:spPr>
          <a:xfrm>
            <a:off x="5245100" y="4038600"/>
            <a:ext cx="30987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chemeClr val="hlink"/>
                </a:solidFill>
                <a:uFill>
                  <a:noFill/>
                </a:uFill>
                <a:latin typeface="Play"/>
                <a:ea typeface="Play"/>
                <a:cs typeface="Play"/>
                <a:sym typeface="Play"/>
                <a:hlinkClick action="ppaction://hlinksldjump" r:id="rId60"/>
              </a:rPr>
              <a:t>KB - Poor Cleaning Quality (PCQ)</a:t>
            </a:r>
            <a:endParaRPr b="1" i="0" sz="1200" u="none" cap="none" strike="noStrike">
              <a:solidFill>
                <a:srgbClr val="1D1D1F"/>
              </a:solidFill>
              <a:latin typeface="Play"/>
              <a:ea typeface="Play"/>
              <a:cs typeface="Play"/>
              <a:sym typeface="Play"/>
            </a:endParaRPr>
          </a:p>
        </p:txBody>
      </p:sp>
      <p:sp>
        <p:nvSpPr>
          <p:cNvPr id="85" name="Google Shape;85;p10">
            <a:hlinkClick action="ppaction://hlinksldjump" r:id="rId61"/>
          </p:cNvPr>
          <p:cNvSpPr txBox="1"/>
          <p:nvPr/>
        </p:nvSpPr>
        <p:spPr>
          <a:xfrm>
            <a:off x="8343900" y="4038600"/>
            <a:ext cx="279300" cy="584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hlink"/>
                </a:solidFill>
                <a:uFill>
                  <a:noFill/>
                </a:uFill>
                <a:latin typeface="Play"/>
                <a:ea typeface="Play"/>
                <a:cs typeface="Play"/>
                <a:sym typeface="Play"/>
                <a:hlinkClick action="ppaction://hlinksldjump" r:id="rId62"/>
              </a:rPr>
              <a:t>›</a:t>
            </a:r>
            <a:endParaRPr b="1" i="0" sz="1800" u="none" cap="none" strike="noStrike">
              <a:solidFill>
                <a:srgbClr val="0B7A6F"/>
              </a:solidFill>
              <a:latin typeface="Play"/>
              <a:ea typeface="Play"/>
              <a:cs typeface="Play"/>
              <a:sym typeface="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1"/>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01</a:t>
            </a:r>
            <a:endParaRPr b="0" i="0" sz="800" u="none" cap="none" strike="noStrike">
              <a:solidFill>
                <a:schemeClr val="dk1"/>
              </a:solidFill>
              <a:latin typeface="Calibri"/>
              <a:ea typeface="Calibri"/>
              <a:cs typeface="Calibri"/>
              <a:sym typeface="Calibri"/>
            </a:endParaRPr>
          </a:p>
        </p:txBody>
      </p:sp>
      <p:sp>
        <p:nvSpPr>
          <p:cNvPr id="92" name="Google Shape;92;p11"/>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Understanding Job History</a:t>
            </a:r>
            <a:endParaRPr b="0" i="0" sz="2800" u="none" cap="none" strike="noStrike">
              <a:solidFill>
                <a:schemeClr val="dk1"/>
              </a:solidFill>
              <a:latin typeface="Calibri"/>
              <a:ea typeface="Calibri"/>
              <a:cs typeface="Calibri"/>
              <a:sym typeface="Calibri"/>
            </a:endParaRPr>
          </a:p>
        </p:txBody>
      </p:sp>
      <p:sp>
        <p:nvSpPr>
          <p:cNvPr id="93" name="Google Shape;93;p11"/>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The record of every change made to a job, and what caused it.</a:t>
            </a:r>
            <a:endParaRPr b="0" i="0" sz="1150" u="none" cap="none" strike="noStrike">
              <a:solidFill>
                <a:schemeClr val="dk1"/>
              </a:solidFill>
              <a:latin typeface="Calibri"/>
              <a:ea typeface="Calibri"/>
              <a:cs typeface="Calibri"/>
              <a:sym typeface="Calibri"/>
            </a:endParaRPr>
          </a:p>
        </p:txBody>
      </p:sp>
      <p:sp>
        <p:nvSpPr>
          <p:cNvPr id="94" name="Google Shape;94;p11"/>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95" name="Google Shape;95;p11"/>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6" name="Google Shape;96;p11"/>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97" name="Google Shape;97;p11"/>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Why you always check it</a:t>
            </a:r>
            <a:endParaRPr b="0" i="0" sz="1050" u="none" cap="none" strike="noStrike">
              <a:solidFill>
                <a:schemeClr val="dk1"/>
              </a:solidFill>
              <a:latin typeface="Calibri"/>
              <a:ea typeface="Calibri"/>
              <a:cs typeface="Calibri"/>
              <a:sym typeface="Calibri"/>
            </a:endParaRPr>
          </a:p>
        </p:txBody>
      </p:sp>
      <p:sp>
        <p:nvSpPr>
          <p:cNvPr id="98" name="Google Shape;98;p11"/>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9" name="Google Shape;99;p11"/>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00" name="Google Shape;100;p11"/>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Where to find it</a:t>
            </a:r>
            <a:endParaRPr b="0" i="0" sz="1050" u="none" cap="none" strike="noStrike">
              <a:solidFill>
                <a:schemeClr val="dk1"/>
              </a:solidFill>
              <a:latin typeface="Calibri"/>
              <a:ea typeface="Calibri"/>
              <a:cs typeface="Calibri"/>
              <a:sym typeface="Calibri"/>
            </a:endParaRPr>
          </a:p>
        </p:txBody>
      </p:sp>
      <p:sp>
        <p:nvSpPr>
          <p:cNvPr id="101" name="Google Shape;101;p11"/>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2" name="Google Shape;102;p11"/>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03" name="Google Shape;103;p11"/>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How to read the columns</a:t>
            </a:r>
            <a:endParaRPr b="0" i="0" sz="1050" u="none" cap="none" strike="noStrike">
              <a:solidFill>
                <a:schemeClr val="dk1"/>
              </a:solidFill>
              <a:latin typeface="Calibri"/>
              <a:ea typeface="Calibri"/>
              <a:cs typeface="Calibri"/>
              <a:sym typeface="Calibri"/>
            </a:endParaRPr>
          </a:p>
        </p:txBody>
      </p:sp>
      <p:sp>
        <p:nvSpPr>
          <p:cNvPr id="104" name="Google Shape;104;p11"/>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5" name="Google Shape;105;p11"/>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06" name="Google Shape;106;p11"/>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Practice reading one</a:t>
            </a:r>
            <a:endParaRPr b="0" i="0" sz="1050" u="none" cap="none" strike="noStrike">
              <a:solidFill>
                <a:schemeClr val="dk1"/>
              </a:solidFill>
              <a:latin typeface="Calibri"/>
              <a:ea typeface="Calibri"/>
              <a:cs typeface="Calibri"/>
              <a:sym typeface="Calibri"/>
            </a:endParaRPr>
          </a:p>
        </p:txBody>
      </p:sp>
      <p:sp>
        <p:nvSpPr>
          <p:cNvPr id="107" name="Google Shape;107;p11"/>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11"/>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1.png" id="109" name="Google Shape;109;p11"/>
          <p:cNvPicPr preferRelativeResize="0"/>
          <p:nvPr/>
        </p:nvPicPr>
        <p:blipFill rotWithShape="1">
          <a:blip r:embed="rId4">
            <a:alphaModFix/>
          </a:blip>
          <a:srcRect b="0" l="0" r="0" t="0"/>
          <a:stretch/>
        </p:blipFill>
        <p:spPr>
          <a:xfrm>
            <a:off x="5806694" y="1517904"/>
            <a:ext cx="2395220" cy="2103120"/>
          </a:xfrm>
          <a:prstGeom prst="rect">
            <a:avLst/>
          </a:prstGeom>
          <a:noFill/>
          <a:ln>
            <a:noFill/>
          </a:ln>
        </p:spPr>
      </p:pic>
      <p:sp>
        <p:nvSpPr>
          <p:cNvPr id="110" name="Google Shape;110;p11"/>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1"/>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1"/>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1"/>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11"/>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11"/>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UNDERSTANDING JOB HISTORY</a:t>
            </a:r>
            <a:endParaRPr b="0" i="0" sz="800" u="none" cap="none" strike="noStrike">
              <a:solidFill>
                <a:schemeClr val="dk1"/>
              </a:solidFill>
              <a:latin typeface="Calibri"/>
              <a:ea typeface="Calibri"/>
              <a:cs typeface="Calibri"/>
              <a:sym typeface="Calibri"/>
            </a:endParaRPr>
          </a:p>
        </p:txBody>
      </p:sp>
      <p:sp>
        <p:nvSpPr>
          <p:cNvPr id="123" name="Google Shape;123;p1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Why you always check it</a:t>
            </a:r>
            <a:endParaRPr b="0" i="0" sz="2400" u="none" cap="none" strike="noStrike">
              <a:solidFill>
                <a:schemeClr val="dk1"/>
              </a:solidFill>
              <a:latin typeface="Calibri"/>
              <a:ea typeface="Calibri"/>
              <a:cs typeface="Calibri"/>
              <a:sym typeface="Calibri"/>
            </a:endParaRPr>
          </a:p>
        </p:txBody>
      </p:sp>
      <p:sp>
        <p:nvSpPr>
          <p:cNvPr id="124" name="Google Shape;124;p12"/>
          <p:cNvSpPr/>
          <p:nvPr/>
        </p:nvSpPr>
        <p:spPr>
          <a:xfrm>
            <a:off x="411480" y="1280160"/>
            <a:ext cx="2682240" cy="1783080"/>
          </a:xfrm>
          <a:prstGeom prst="roundRect">
            <a:avLst>
              <a:gd fmla="val 41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12"/>
          <p:cNvSpPr/>
          <p:nvPr/>
        </p:nvSpPr>
        <p:spPr>
          <a:xfrm>
            <a:off x="57607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6" name="Google Shape;126;p12"/>
          <p:cNvPicPr preferRelativeResize="0"/>
          <p:nvPr/>
        </p:nvPicPr>
        <p:blipFill rotWithShape="1">
          <a:blip r:embed="rId3">
            <a:alphaModFix/>
          </a:blip>
          <a:srcRect b="0" l="0" r="0" t="0"/>
          <a:stretch/>
        </p:blipFill>
        <p:spPr>
          <a:xfrm>
            <a:off x="655076" y="1523756"/>
            <a:ext cx="171176" cy="171176"/>
          </a:xfrm>
          <a:prstGeom prst="rect">
            <a:avLst/>
          </a:prstGeom>
          <a:noFill/>
          <a:ln>
            <a:noFill/>
          </a:ln>
        </p:spPr>
      </p:pic>
      <p:sp>
        <p:nvSpPr>
          <p:cNvPr id="127" name="Google Shape;127;p12"/>
          <p:cNvSpPr txBox="1"/>
          <p:nvPr/>
        </p:nvSpPr>
        <p:spPr>
          <a:xfrm>
            <a:off x="576072" y="188366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Comms aren't enough</a:t>
            </a:r>
            <a:endParaRPr b="0" i="0" sz="1200" u="none" cap="none" strike="noStrike">
              <a:solidFill>
                <a:schemeClr val="dk1"/>
              </a:solidFill>
              <a:latin typeface="Calibri"/>
              <a:ea typeface="Calibri"/>
              <a:cs typeface="Calibri"/>
              <a:sym typeface="Calibri"/>
            </a:endParaRPr>
          </a:p>
        </p:txBody>
      </p:sp>
      <p:sp>
        <p:nvSpPr>
          <p:cNvPr id="128" name="Google Shape;128;p12"/>
          <p:cNvSpPr txBox="1"/>
          <p:nvPr/>
        </p:nvSpPr>
        <p:spPr>
          <a:xfrm>
            <a:off x="576072" y="2176272"/>
            <a:ext cx="2353056" cy="7955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 and CP messages don't always tell the full story of a job.</a:t>
            </a:r>
            <a:endParaRPr b="0" i="0" sz="950" u="none" cap="none" strike="noStrike">
              <a:solidFill>
                <a:schemeClr val="dk1"/>
              </a:solidFill>
              <a:latin typeface="Calibri"/>
              <a:ea typeface="Calibri"/>
              <a:cs typeface="Calibri"/>
              <a:sym typeface="Calibri"/>
            </a:endParaRPr>
          </a:p>
        </p:txBody>
      </p:sp>
      <p:sp>
        <p:nvSpPr>
          <p:cNvPr id="129" name="Google Shape;129;p12"/>
          <p:cNvSpPr/>
          <p:nvPr/>
        </p:nvSpPr>
        <p:spPr>
          <a:xfrm>
            <a:off x="3230880" y="1280160"/>
            <a:ext cx="2682240" cy="1783080"/>
          </a:xfrm>
          <a:prstGeom prst="roundRect">
            <a:avLst>
              <a:gd fmla="val 41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12"/>
          <p:cNvSpPr/>
          <p:nvPr/>
        </p:nvSpPr>
        <p:spPr>
          <a:xfrm>
            <a:off x="339547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1" name="Google Shape;131;p12"/>
          <p:cNvPicPr preferRelativeResize="0"/>
          <p:nvPr/>
        </p:nvPicPr>
        <p:blipFill rotWithShape="1">
          <a:blip r:embed="rId4">
            <a:alphaModFix/>
          </a:blip>
          <a:srcRect b="0" l="0" r="0" t="0"/>
          <a:stretch/>
        </p:blipFill>
        <p:spPr>
          <a:xfrm>
            <a:off x="3474476" y="1523756"/>
            <a:ext cx="171176" cy="171176"/>
          </a:xfrm>
          <a:prstGeom prst="rect">
            <a:avLst/>
          </a:prstGeom>
          <a:noFill/>
          <a:ln>
            <a:noFill/>
          </a:ln>
        </p:spPr>
      </p:pic>
      <p:sp>
        <p:nvSpPr>
          <p:cNvPr id="132" name="Google Shape;132;p12"/>
          <p:cNvSpPr txBox="1"/>
          <p:nvPr/>
        </p:nvSpPr>
        <p:spPr>
          <a:xfrm>
            <a:off x="3395472" y="188366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Every change is logged</a:t>
            </a:r>
            <a:endParaRPr b="0" i="0" sz="1200" u="none" cap="none" strike="noStrike">
              <a:solidFill>
                <a:schemeClr val="dk1"/>
              </a:solidFill>
              <a:latin typeface="Calibri"/>
              <a:ea typeface="Calibri"/>
              <a:cs typeface="Calibri"/>
              <a:sym typeface="Calibri"/>
            </a:endParaRPr>
          </a:p>
        </p:txBody>
      </p:sp>
      <p:sp>
        <p:nvSpPr>
          <p:cNvPr id="133" name="Google Shape;133;p12"/>
          <p:cNvSpPr txBox="1"/>
          <p:nvPr/>
        </p:nvSpPr>
        <p:spPr>
          <a:xfrm>
            <a:off x="3395472" y="2176272"/>
            <a:ext cx="2353056" cy="7955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How the status changed, and what caused it.</a:t>
            </a:r>
            <a:endParaRPr b="0" i="0" sz="950" u="none" cap="none" strike="noStrike">
              <a:solidFill>
                <a:schemeClr val="dk1"/>
              </a:solidFill>
              <a:latin typeface="Calibri"/>
              <a:ea typeface="Calibri"/>
              <a:cs typeface="Calibri"/>
              <a:sym typeface="Calibri"/>
            </a:endParaRPr>
          </a:p>
        </p:txBody>
      </p:sp>
      <p:sp>
        <p:nvSpPr>
          <p:cNvPr id="134" name="Google Shape;134;p12"/>
          <p:cNvSpPr/>
          <p:nvPr/>
        </p:nvSpPr>
        <p:spPr>
          <a:xfrm>
            <a:off x="6050280" y="1280160"/>
            <a:ext cx="2682240" cy="1783080"/>
          </a:xfrm>
          <a:prstGeom prst="roundRect">
            <a:avLst>
              <a:gd fmla="val 41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12"/>
          <p:cNvSpPr/>
          <p:nvPr/>
        </p:nvSpPr>
        <p:spPr>
          <a:xfrm>
            <a:off x="621487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6" name="Google Shape;136;p12"/>
          <p:cNvPicPr preferRelativeResize="0"/>
          <p:nvPr/>
        </p:nvPicPr>
        <p:blipFill rotWithShape="1">
          <a:blip r:embed="rId5">
            <a:alphaModFix/>
          </a:blip>
          <a:srcRect b="0" l="0" r="0" t="0"/>
          <a:stretch/>
        </p:blipFill>
        <p:spPr>
          <a:xfrm>
            <a:off x="6293876" y="1523756"/>
            <a:ext cx="171176" cy="171176"/>
          </a:xfrm>
          <a:prstGeom prst="rect">
            <a:avLst/>
          </a:prstGeom>
          <a:noFill/>
          <a:ln>
            <a:noFill/>
          </a:ln>
        </p:spPr>
      </p:pic>
      <p:sp>
        <p:nvSpPr>
          <p:cNvPr id="137" name="Google Shape;137;p12"/>
          <p:cNvSpPr txBox="1"/>
          <p:nvPr/>
        </p:nvSpPr>
        <p:spPr>
          <a:xfrm>
            <a:off x="6214872" y="188366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Check it every time</a:t>
            </a:r>
            <a:endParaRPr b="0" i="0" sz="1200" u="none" cap="none" strike="noStrike">
              <a:solidFill>
                <a:schemeClr val="dk1"/>
              </a:solidFill>
              <a:latin typeface="Calibri"/>
              <a:ea typeface="Calibri"/>
              <a:cs typeface="Calibri"/>
              <a:sym typeface="Calibri"/>
            </a:endParaRPr>
          </a:p>
        </p:txBody>
      </p:sp>
      <p:sp>
        <p:nvSpPr>
          <p:cNvPr id="138" name="Google Shape;138;p12"/>
          <p:cNvSpPr txBox="1"/>
          <p:nvPr/>
        </p:nvSpPr>
        <p:spPr>
          <a:xfrm>
            <a:off x="6214872" y="2176272"/>
            <a:ext cx="2353056" cy="7955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Whenever you investigate a job, before you decide on a resolution.</a:t>
            </a:r>
            <a:endParaRPr b="0" i="0" sz="950" u="none" cap="none" strike="noStrike">
              <a:solidFill>
                <a:schemeClr val="dk1"/>
              </a:solidFill>
              <a:latin typeface="Calibri"/>
              <a:ea typeface="Calibri"/>
              <a:cs typeface="Calibri"/>
              <a:sym typeface="Calibri"/>
            </a:endParaRPr>
          </a:p>
        </p:txBody>
      </p:sp>
      <p:sp>
        <p:nvSpPr>
          <p:cNvPr id="139" name="Google Shape;139;p12"/>
          <p:cNvSpPr/>
          <p:nvPr/>
        </p:nvSpPr>
        <p:spPr>
          <a:xfrm>
            <a:off x="411480" y="32918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0" name="Google Shape;140;p12"/>
          <p:cNvPicPr preferRelativeResize="0"/>
          <p:nvPr/>
        </p:nvPicPr>
        <p:blipFill rotWithShape="1">
          <a:blip r:embed="rId6">
            <a:alphaModFix/>
          </a:blip>
          <a:srcRect b="0" l="0" r="0" t="0"/>
          <a:stretch/>
        </p:blipFill>
        <p:spPr>
          <a:xfrm>
            <a:off x="566928" y="3401568"/>
            <a:ext cx="164592" cy="164592"/>
          </a:xfrm>
          <a:prstGeom prst="rect">
            <a:avLst/>
          </a:prstGeom>
          <a:noFill/>
          <a:ln>
            <a:noFill/>
          </a:ln>
        </p:spPr>
      </p:pic>
      <p:sp>
        <p:nvSpPr>
          <p:cNvPr id="141" name="Google Shape;141;p12"/>
          <p:cNvSpPr txBox="1"/>
          <p:nvPr/>
        </p:nvSpPr>
        <p:spPr>
          <a:xfrm>
            <a:off x="822960" y="33924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Rule:  </a:t>
            </a:r>
            <a:r>
              <a:rPr b="0" i="0" lang="en" sz="1000" u="none" cap="none" strike="noStrike">
                <a:solidFill>
                  <a:srgbClr val="1D1D1F"/>
                </a:solidFill>
                <a:latin typeface="Arial"/>
                <a:ea typeface="Arial"/>
                <a:cs typeface="Arial"/>
                <a:sym typeface="Arial"/>
              </a:rPr>
              <a:t>investigating a job? Open its job history before you resolve the ticket.</a:t>
            </a:r>
            <a:endParaRPr b="0" i="0" sz="1000" u="none" cap="none" strike="noStrike">
              <a:solidFill>
                <a:schemeClr val="dk1"/>
              </a:solidFill>
              <a:latin typeface="Calibri"/>
              <a:ea typeface="Calibri"/>
              <a:cs typeface="Calibri"/>
              <a:sym typeface="Calibri"/>
            </a:endParaRPr>
          </a:p>
        </p:txBody>
      </p:sp>
      <p:sp>
        <p:nvSpPr>
          <p:cNvPr id="142" name="Google Shape;142;p1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UNDERSTANDING JOB HISTORY</a:t>
            </a:r>
            <a:endParaRPr b="0" i="0" sz="800" u="none" cap="none" strike="noStrike">
              <a:solidFill>
                <a:schemeClr val="dk1"/>
              </a:solidFill>
              <a:latin typeface="Calibri"/>
              <a:ea typeface="Calibri"/>
              <a:cs typeface="Calibri"/>
              <a:sym typeface="Calibri"/>
            </a:endParaRPr>
          </a:p>
        </p:txBody>
      </p:sp>
      <p:sp>
        <p:nvSpPr>
          <p:cNvPr id="149" name="Google Shape;149;p1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Where to find it</a:t>
            </a:r>
            <a:endParaRPr b="0" i="0" sz="2400" u="none" cap="none" strike="noStrike">
              <a:solidFill>
                <a:schemeClr val="dk1"/>
              </a:solidFill>
              <a:latin typeface="Calibri"/>
              <a:ea typeface="Calibri"/>
              <a:cs typeface="Calibri"/>
              <a:sym typeface="Calibri"/>
            </a:endParaRPr>
          </a:p>
        </p:txBody>
      </p:sp>
      <p:sp>
        <p:nvSpPr>
          <p:cNvPr id="150" name="Google Shape;150;p1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Click the ⓘ icon next to a job ID to open its job history.</a:t>
            </a:r>
            <a:endParaRPr b="0" i="0" sz="1200" u="none" cap="none" strike="noStrike">
              <a:solidFill>
                <a:schemeClr val="dk1"/>
              </a:solidFill>
              <a:latin typeface="Calibri"/>
              <a:ea typeface="Calibri"/>
              <a:cs typeface="Calibri"/>
              <a:sym typeface="Calibri"/>
            </a:endParaRPr>
          </a:p>
        </p:txBody>
      </p:sp>
      <p:sp>
        <p:nvSpPr>
          <p:cNvPr id="151" name="Google Shape;151;p13"/>
          <p:cNvSpPr/>
          <p:nvPr/>
        </p:nvSpPr>
        <p:spPr>
          <a:xfrm>
            <a:off x="411480" y="1280160"/>
            <a:ext cx="5577840" cy="2514600"/>
          </a:xfrm>
          <a:prstGeom prst="roundRect">
            <a:avLst>
              <a:gd fmla="val 290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jh_open.png" id="152" name="Google Shape;152;p13"/>
          <p:cNvPicPr preferRelativeResize="0"/>
          <p:nvPr/>
        </p:nvPicPr>
        <p:blipFill rotWithShape="1">
          <a:blip r:embed="rId3">
            <a:alphaModFix/>
          </a:blip>
          <a:srcRect b="0" l="0" r="0" t="0"/>
          <a:stretch/>
        </p:blipFill>
        <p:spPr>
          <a:xfrm>
            <a:off x="484632" y="1389742"/>
            <a:ext cx="5431536" cy="2295435"/>
          </a:xfrm>
          <a:prstGeom prst="rect">
            <a:avLst/>
          </a:prstGeom>
          <a:noFill/>
          <a:ln>
            <a:noFill/>
          </a:ln>
        </p:spPr>
      </p:pic>
      <p:sp>
        <p:nvSpPr>
          <p:cNvPr id="153" name="Google Shape;153;p13"/>
          <p:cNvSpPr/>
          <p:nvPr/>
        </p:nvSpPr>
        <p:spPr>
          <a:xfrm>
            <a:off x="6126480" y="1280160"/>
            <a:ext cx="2606040" cy="777240"/>
          </a:xfrm>
          <a:prstGeom prst="roundRect">
            <a:avLst>
              <a:gd fmla="val 941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3"/>
          <p:cNvSpPr/>
          <p:nvPr/>
        </p:nvSpPr>
        <p:spPr>
          <a:xfrm>
            <a:off x="6254496" y="154076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3"/>
          <p:cNvSpPr txBox="1"/>
          <p:nvPr/>
        </p:nvSpPr>
        <p:spPr>
          <a:xfrm>
            <a:off x="6254496" y="154076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i</a:t>
            </a:r>
            <a:endParaRPr b="0" i="0" sz="900" u="none" cap="none" strike="noStrike">
              <a:solidFill>
                <a:schemeClr val="dk1"/>
              </a:solidFill>
              <a:latin typeface="Calibri"/>
              <a:ea typeface="Calibri"/>
              <a:cs typeface="Calibri"/>
              <a:sym typeface="Calibri"/>
            </a:endParaRPr>
          </a:p>
        </p:txBody>
      </p:sp>
      <p:sp>
        <p:nvSpPr>
          <p:cNvPr id="156" name="Google Shape;156;p13"/>
          <p:cNvSpPr txBox="1"/>
          <p:nvPr/>
        </p:nvSpPr>
        <p:spPr>
          <a:xfrm>
            <a:off x="6629400" y="1325880"/>
            <a:ext cx="20116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The ⓘ icon</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Next to each job ID, in every jobs panel</a:t>
            </a:r>
            <a:endParaRPr b="0" i="0" sz="1050" u="none" cap="none" strike="noStrike">
              <a:solidFill>
                <a:schemeClr val="dk1"/>
              </a:solidFill>
              <a:latin typeface="Calibri"/>
              <a:ea typeface="Calibri"/>
              <a:cs typeface="Calibri"/>
              <a:sym typeface="Calibri"/>
            </a:endParaRPr>
          </a:p>
        </p:txBody>
      </p:sp>
      <p:sp>
        <p:nvSpPr>
          <p:cNvPr id="157" name="Google Shape;157;p13"/>
          <p:cNvSpPr/>
          <p:nvPr/>
        </p:nvSpPr>
        <p:spPr>
          <a:xfrm>
            <a:off x="6126480" y="2148840"/>
            <a:ext cx="2606040" cy="777240"/>
          </a:xfrm>
          <a:prstGeom prst="roundRect">
            <a:avLst>
              <a:gd fmla="val 941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3"/>
          <p:cNvSpPr/>
          <p:nvPr/>
        </p:nvSpPr>
        <p:spPr>
          <a:xfrm>
            <a:off x="6254496" y="240944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3"/>
          <p:cNvSpPr txBox="1"/>
          <p:nvPr/>
        </p:nvSpPr>
        <p:spPr>
          <a:xfrm>
            <a:off x="6254496" y="240944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a:t>
            </a:r>
            <a:endParaRPr b="0" i="0" sz="900" u="none" cap="none" strike="noStrike">
              <a:solidFill>
                <a:schemeClr val="dk1"/>
              </a:solidFill>
              <a:latin typeface="Calibri"/>
              <a:ea typeface="Calibri"/>
              <a:cs typeface="Calibri"/>
              <a:sym typeface="Calibri"/>
            </a:endParaRPr>
          </a:p>
        </p:txBody>
      </p:sp>
      <p:sp>
        <p:nvSpPr>
          <p:cNvPr id="160" name="Google Shape;160;p13"/>
          <p:cNvSpPr txBox="1"/>
          <p:nvPr/>
        </p:nvSpPr>
        <p:spPr>
          <a:xfrm>
            <a:off x="6629400" y="2194560"/>
            <a:ext cx="20116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Click it</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The job's history opens</a:t>
            </a:r>
            <a:endParaRPr b="0" i="0" sz="1050" u="none" cap="none" strike="noStrike">
              <a:solidFill>
                <a:schemeClr val="dk1"/>
              </a:solidFill>
              <a:latin typeface="Calibri"/>
              <a:ea typeface="Calibri"/>
              <a:cs typeface="Calibri"/>
              <a:sym typeface="Calibri"/>
            </a:endParaRPr>
          </a:p>
        </p:txBody>
      </p:sp>
      <p:sp>
        <p:nvSpPr>
          <p:cNvPr id="161" name="Google Shape;161;p13"/>
          <p:cNvSpPr/>
          <p:nvPr/>
        </p:nvSpPr>
        <p:spPr>
          <a:xfrm>
            <a:off x="411480" y="39776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2" name="Google Shape;162;p13"/>
          <p:cNvPicPr preferRelativeResize="0"/>
          <p:nvPr/>
        </p:nvPicPr>
        <p:blipFill rotWithShape="1">
          <a:blip r:embed="rId4">
            <a:alphaModFix/>
          </a:blip>
          <a:srcRect b="0" l="0" r="0" t="0"/>
          <a:stretch/>
        </p:blipFill>
        <p:spPr>
          <a:xfrm>
            <a:off x="566928" y="4087368"/>
            <a:ext cx="164592" cy="164592"/>
          </a:xfrm>
          <a:prstGeom prst="rect">
            <a:avLst/>
          </a:prstGeom>
          <a:noFill/>
          <a:ln>
            <a:noFill/>
          </a:ln>
        </p:spPr>
      </p:pic>
      <p:sp>
        <p:nvSpPr>
          <p:cNvPr id="163" name="Google Shape;163;p13"/>
          <p:cNvSpPr txBox="1"/>
          <p:nvPr/>
        </p:nvSpPr>
        <p:spPr>
          <a:xfrm>
            <a:off x="822960" y="40782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Tip:  </a:t>
            </a:r>
            <a:r>
              <a:rPr b="0" i="0" lang="en" sz="1000" u="none" cap="none" strike="noStrike">
                <a:solidFill>
                  <a:srgbClr val="1D1D1F"/>
                </a:solidFill>
                <a:latin typeface="Arial"/>
                <a:ea typeface="Arial"/>
                <a:cs typeface="Arial"/>
                <a:sym typeface="Arial"/>
              </a:rPr>
              <a:t>investigating a job? Open its history before you decide on a resolution.</a:t>
            </a:r>
            <a:endParaRPr b="0" i="0" sz="1000" u="none" cap="none" strike="noStrike">
              <a:solidFill>
                <a:schemeClr val="dk1"/>
              </a:solidFill>
              <a:latin typeface="Calibri"/>
              <a:ea typeface="Calibri"/>
              <a:cs typeface="Calibri"/>
              <a:sym typeface="Calibri"/>
            </a:endParaRPr>
          </a:p>
        </p:txBody>
      </p:sp>
      <p:sp>
        <p:nvSpPr>
          <p:cNvPr id="164" name="Google Shape;164;p1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UNDERSTANDING JOB HISTORY</a:t>
            </a:r>
            <a:endParaRPr b="0" i="0" sz="800" u="none" cap="none" strike="noStrike">
              <a:solidFill>
                <a:schemeClr val="dk1"/>
              </a:solidFill>
              <a:latin typeface="Calibri"/>
              <a:ea typeface="Calibri"/>
              <a:cs typeface="Calibri"/>
              <a:sym typeface="Calibri"/>
            </a:endParaRPr>
          </a:p>
        </p:txBody>
      </p:sp>
      <p:sp>
        <p:nvSpPr>
          <p:cNvPr id="171" name="Google Shape;171;p1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job history</a:t>
            </a:r>
            <a:endParaRPr b="0" i="0" sz="2400" u="none" cap="none" strike="noStrike">
              <a:solidFill>
                <a:schemeClr val="dk1"/>
              </a:solidFill>
              <a:latin typeface="Calibri"/>
              <a:ea typeface="Calibri"/>
              <a:cs typeface="Calibri"/>
              <a:sym typeface="Calibri"/>
            </a:endParaRPr>
          </a:p>
        </p:txBody>
      </p:sp>
      <p:sp>
        <p:nvSpPr>
          <p:cNvPr id="172" name="Google Shape;172;p1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that column tells you:</a:t>
            </a:r>
            <a:endParaRPr b="0" i="0" sz="1200" u="none" cap="none" strike="noStrike">
              <a:solidFill>
                <a:schemeClr val="dk1"/>
              </a:solidFill>
              <a:latin typeface="Calibri"/>
              <a:ea typeface="Calibri"/>
              <a:cs typeface="Calibri"/>
              <a:sym typeface="Calibri"/>
            </a:endParaRPr>
          </a:p>
        </p:txBody>
      </p:sp>
      <p:sp>
        <p:nvSpPr>
          <p:cNvPr id="173" name="Google Shape;173;p14"/>
          <p:cNvSpPr/>
          <p:nvPr/>
        </p:nvSpPr>
        <p:spPr>
          <a:xfrm>
            <a:off x="411480" y="1188720"/>
            <a:ext cx="5440680" cy="3520440"/>
          </a:xfrm>
          <a:prstGeom prst="roundRect">
            <a:avLst>
              <a:gd fmla="val 207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jh_table_hdr.png" id="174" name="Google Shape;174;p14"/>
          <p:cNvPicPr preferRelativeResize="0"/>
          <p:nvPr/>
        </p:nvPicPr>
        <p:blipFill rotWithShape="1">
          <a:blip r:embed="rId3">
            <a:alphaModFix/>
          </a:blip>
          <a:srcRect b="0" l="0" r="0" t="0"/>
          <a:stretch/>
        </p:blipFill>
        <p:spPr>
          <a:xfrm>
            <a:off x="484632" y="1730783"/>
            <a:ext cx="5294376" cy="2436314"/>
          </a:xfrm>
          <a:prstGeom prst="rect">
            <a:avLst/>
          </a:prstGeom>
          <a:noFill/>
          <a:ln>
            <a:noFill/>
          </a:ln>
        </p:spPr>
      </p:pic>
      <p:sp>
        <p:nvSpPr>
          <p:cNvPr id="175" name="Google Shape;175;p14"/>
          <p:cNvSpPr/>
          <p:nvPr/>
        </p:nvSpPr>
        <p:spPr>
          <a:xfrm>
            <a:off x="861339" y="1984651"/>
            <a:ext cx="491357" cy="77798"/>
          </a:xfrm>
          <a:prstGeom prst="roundRect">
            <a:avLst>
              <a:gd fmla="val 23507" name="adj"/>
            </a:avLst>
          </a:prstGeom>
          <a:noFill/>
          <a:ln cap="flat" cmpd="sng" w="1905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4"/>
          <p:cNvSpPr/>
          <p:nvPr/>
        </p:nvSpPr>
        <p:spPr>
          <a:xfrm>
            <a:off x="1015578" y="1774339"/>
            <a:ext cx="182880" cy="182880"/>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4"/>
          <p:cNvSpPr txBox="1"/>
          <p:nvPr/>
        </p:nvSpPr>
        <p:spPr>
          <a:xfrm>
            <a:off x="1015578" y="1774339"/>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Play"/>
              <a:buNone/>
            </a:pPr>
            <a:r>
              <a:rPr b="1" i="0" lang="en" sz="750" u="none" cap="none" strike="noStrike">
                <a:solidFill>
                  <a:srgbClr val="FFFFFF"/>
                </a:solidFill>
                <a:latin typeface="Play"/>
                <a:ea typeface="Play"/>
                <a:cs typeface="Play"/>
                <a:sym typeface="Play"/>
              </a:rPr>
              <a:t>1</a:t>
            </a:r>
            <a:endParaRPr b="0" i="0" sz="750" u="none" cap="none" strike="noStrike">
              <a:solidFill>
                <a:schemeClr val="dk1"/>
              </a:solidFill>
              <a:latin typeface="Calibri"/>
              <a:ea typeface="Calibri"/>
              <a:cs typeface="Calibri"/>
              <a:sym typeface="Calibri"/>
            </a:endParaRPr>
          </a:p>
        </p:txBody>
      </p:sp>
      <p:sp>
        <p:nvSpPr>
          <p:cNvPr id="178" name="Google Shape;178;p14"/>
          <p:cNvSpPr/>
          <p:nvPr/>
        </p:nvSpPr>
        <p:spPr>
          <a:xfrm>
            <a:off x="1381359" y="1984651"/>
            <a:ext cx="466790" cy="77798"/>
          </a:xfrm>
          <a:prstGeom prst="roundRect">
            <a:avLst>
              <a:gd fmla="val 23507" name="adj"/>
            </a:avLst>
          </a:prstGeom>
          <a:noFill/>
          <a:ln cap="flat" cmpd="sng" w="1905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4"/>
          <p:cNvSpPr/>
          <p:nvPr/>
        </p:nvSpPr>
        <p:spPr>
          <a:xfrm>
            <a:off x="1523314" y="1774339"/>
            <a:ext cx="182880" cy="182880"/>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txBox="1"/>
          <p:nvPr/>
        </p:nvSpPr>
        <p:spPr>
          <a:xfrm>
            <a:off x="1523314" y="1774339"/>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Play"/>
              <a:buNone/>
            </a:pPr>
            <a:r>
              <a:rPr b="1" i="0" lang="en" sz="750" u="none" cap="none" strike="noStrike">
                <a:solidFill>
                  <a:srgbClr val="FFFFFF"/>
                </a:solidFill>
                <a:latin typeface="Play"/>
                <a:ea typeface="Play"/>
                <a:cs typeface="Play"/>
                <a:sym typeface="Play"/>
              </a:rPr>
              <a:t>2</a:t>
            </a:r>
            <a:endParaRPr b="0" i="0" sz="750" u="none" cap="none" strike="noStrike">
              <a:solidFill>
                <a:schemeClr val="dk1"/>
              </a:solidFill>
              <a:latin typeface="Calibri"/>
              <a:ea typeface="Calibri"/>
              <a:cs typeface="Calibri"/>
              <a:sym typeface="Calibri"/>
            </a:endParaRPr>
          </a:p>
        </p:txBody>
      </p:sp>
      <p:sp>
        <p:nvSpPr>
          <p:cNvPr id="181" name="Google Shape;181;p14"/>
          <p:cNvSpPr/>
          <p:nvPr/>
        </p:nvSpPr>
        <p:spPr>
          <a:xfrm>
            <a:off x="1885001" y="1984651"/>
            <a:ext cx="237489" cy="77798"/>
          </a:xfrm>
          <a:prstGeom prst="roundRect">
            <a:avLst>
              <a:gd fmla="val 23507" name="adj"/>
            </a:avLst>
          </a:prstGeom>
          <a:noFill/>
          <a:ln cap="flat" cmpd="sng" w="1905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4"/>
          <p:cNvSpPr/>
          <p:nvPr/>
        </p:nvSpPr>
        <p:spPr>
          <a:xfrm>
            <a:off x="1912305" y="1774339"/>
            <a:ext cx="182880" cy="182880"/>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4"/>
          <p:cNvSpPr txBox="1"/>
          <p:nvPr/>
        </p:nvSpPr>
        <p:spPr>
          <a:xfrm>
            <a:off x="1912305" y="1774339"/>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Play"/>
              <a:buNone/>
            </a:pPr>
            <a:r>
              <a:rPr b="1" i="0" lang="en" sz="750" u="none" cap="none" strike="noStrike">
                <a:solidFill>
                  <a:srgbClr val="FFFFFF"/>
                </a:solidFill>
                <a:latin typeface="Play"/>
                <a:ea typeface="Play"/>
                <a:cs typeface="Play"/>
                <a:sym typeface="Play"/>
              </a:rPr>
              <a:t>3</a:t>
            </a:r>
            <a:endParaRPr b="0" i="0" sz="750" u="none" cap="none" strike="noStrike">
              <a:solidFill>
                <a:schemeClr val="dk1"/>
              </a:solidFill>
              <a:latin typeface="Calibri"/>
              <a:ea typeface="Calibri"/>
              <a:cs typeface="Calibri"/>
              <a:sym typeface="Calibri"/>
            </a:endParaRPr>
          </a:p>
        </p:txBody>
      </p:sp>
      <p:sp>
        <p:nvSpPr>
          <p:cNvPr id="184" name="Google Shape;184;p14"/>
          <p:cNvSpPr/>
          <p:nvPr/>
        </p:nvSpPr>
        <p:spPr>
          <a:xfrm>
            <a:off x="2376358" y="1984651"/>
            <a:ext cx="515925" cy="77798"/>
          </a:xfrm>
          <a:prstGeom prst="roundRect">
            <a:avLst>
              <a:gd fmla="val 23507" name="adj"/>
            </a:avLst>
          </a:prstGeom>
          <a:noFill/>
          <a:ln cap="flat" cmpd="sng" w="1905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4"/>
          <p:cNvSpPr/>
          <p:nvPr/>
        </p:nvSpPr>
        <p:spPr>
          <a:xfrm>
            <a:off x="2542881" y="1774339"/>
            <a:ext cx="182880" cy="182880"/>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4"/>
          <p:cNvSpPr txBox="1"/>
          <p:nvPr/>
        </p:nvSpPr>
        <p:spPr>
          <a:xfrm>
            <a:off x="2542881" y="1774339"/>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Play"/>
              <a:buNone/>
            </a:pPr>
            <a:r>
              <a:rPr b="1" i="0" lang="en" sz="750" u="none" cap="none" strike="noStrike">
                <a:solidFill>
                  <a:srgbClr val="FFFFFF"/>
                </a:solidFill>
                <a:latin typeface="Play"/>
                <a:ea typeface="Play"/>
                <a:cs typeface="Play"/>
                <a:sym typeface="Play"/>
              </a:rPr>
              <a:t>4</a:t>
            </a:r>
            <a:endParaRPr b="0" i="0" sz="750" u="none" cap="none" strike="noStrike">
              <a:solidFill>
                <a:schemeClr val="dk1"/>
              </a:solidFill>
              <a:latin typeface="Calibri"/>
              <a:ea typeface="Calibri"/>
              <a:cs typeface="Calibri"/>
              <a:sym typeface="Calibri"/>
            </a:endParaRPr>
          </a:p>
        </p:txBody>
      </p:sp>
      <p:sp>
        <p:nvSpPr>
          <p:cNvPr id="187" name="Google Shape;187;p14"/>
          <p:cNvSpPr/>
          <p:nvPr/>
        </p:nvSpPr>
        <p:spPr>
          <a:xfrm>
            <a:off x="2916851" y="1984651"/>
            <a:ext cx="163786" cy="77798"/>
          </a:xfrm>
          <a:prstGeom prst="roundRect">
            <a:avLst>
              <a:gd fmla="val 23507" name="adj"/>
            </a:avLst>
          </a:prstGeom>
          <a:noFill/>
          <a:ln cap="flat" cmpd="sng" w="1905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4"/>
          <p:cNvSpPr/>
          <p:nvPr/>
        </p:nvSpPr>
        <p:spPr>
          <a:xfrm>
            <a:off x="2907304" y="1774339"/>
            <a:ext cx="182880" cy="182880"/>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4"/>
          <p:cNvSpPr txBox="1"/>
          <p:nvPr/>
        </p:nvSpPr>
        <p:spPr>
          <a:xfrm>
            <a:off x="2907304" y="1774339"/>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Play"/>
              <a:buNone/>
            </a:pPr>
            <a:r>
              <a:rPr b="1" i="0" lang="en" sz="750" u="none" cap="none" strike="noStrike">
                <a:solidFill>
                  <a:srgbClr val="FFFFFF"/>
                </a:solidFill>
                <a:latin typeface="Play"/>
                <a:ea typeface="Play"/>
                <a:cs typeface="Play"/>
                <a:sym typeface="Play"/>
              </a:rPr>
              <a:t>5</a:t>
            </a:r>
            <a:endParaRPr b="0" i="0" sz="750" u="none" cap="none" strike="noStrike">
              <a:solidFill>
                <a:schemeClr val="dk1"/>
              </a:solidFill>
              <a:latin typeface="Calibri"/>
              <a:ea typeface="Calibri"/>
              <a:cs typeface="Calibri"/>
              <a:sym typeface="Calibri"/>
            </a:endParaRPr>
          </a:p>
        </p:txBody>
      </p:sp>
      <p:sp>
        <p:nvSpPr>
          <p:cNvPr id="190" name="Google Shape;190;p14"/>
          <p:cNvSpPr/>
          <p:nvPr/>
        </p:nvSpPr>
        <p:spPr>
          <a:xfrm>
            <a:off x="3109299" y="1984651"/>
            <a:ext cx="241584" cy="77798"/>
          </a:xfrm>
          <a:prstGeom prst="roundRect">
            <a:avLst>
              <a:gd fmla="val 23507" name="adj"/>
            </a:avLst>
          </a:prstGeom>
          <a:noFill/>
          <a:ln cap="flat" cmpd="sng" w="1905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4"/>
          <p:cNvSpPr/>
          <p:nvPr/>
        </p:nvSpPr>
        <p:spPr>
          <a:xfrm>
            <a:off x="3138651" y="1774339"/>
            <a:ext cx="182880" cy="182880"/>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4"/>
          <p:cNvSpPr txBox="1"/>
          <p:nvPr/>
        </p:nvSpPr>
        <p:spPr>
          <a:xfrm>
            <a:off x="3138651" y="1774339"/>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Play"/>
              <a:buNone/>
            </a:pPr>
            <a:r>
              <a:rPr b="1" i="0" lang="en" sz="750" u="none" cap="none" strike="noStrike">
                <a:solidFill>
                  <a:srgbClr val="FFFFFF"/>
                </a:solidFill>
                <a:latin typeface="Play"/>
                <a:ea typeface="Play"/>
                <a:cs typeface="Play"/>
                <a:sym typeface="Play"/>
              </a:rPr>
              <a:t>6</a:t>
            </a:r>
            <a:endParaRPr b="0" i="0" sz="750" u="none" cap="none" strike="noStrike">
              <a:solidFill>
                <a:schemeClr val="dk1"/>
              </a:solidFill>
              <a:latin typeface="Calibri"/>
              <a:ea typeface="Calibri"/>
              <a:cs typeface="Calibri"/>
              <a:sym typeface="Calibri"/>
            </a:endParaRPr>
          </a:p>
        </p:txBody>
      </p:sp>
      <p:sp>
        <p:nvSpPr>
          <p:cNvPr id="193" name="Google Shape;193;p14"/>
          <p:cNvSpPr/>
          <p:nvPr/>
        </p:nvSpPr>
        <p:spPr>
          <a:xfrm>
            <a:off x="5156622" y="1984651"/>
            <a:ext cx="225205" cy="77798"/>
          </a:xfrm>
          <a:prstGeom prst="roundRect">
            <a:avLst>
              <a:gd fmla="val 23507" name="adj"/>
            </a:avLst>
          </a:prstGeom>
          <a:noFill/>
          <a:ln cap="flat" cmpd="sng" w="1905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4"/>
          <p:cNvSpPr/>
          <p:nvPr/>
        </p:nvSpPr>
        <p:spPr>
          <a:xfrm>
            <a:off x="5177785" y="1774339"/>
            <a:ext cx="182880" cy="182880"/>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4"/>
          <p:cNvSpPr txBox="1"/>
          <p:nvPr/>
        </p:nvSpPr>
        <p:spPr>
          <a:xfrm>
            <a:off x="5177785" y="1774339"/>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Play"/>
              <a:buNone/>
            </a:pPr>
            <a:r>
              <a:rPr b="1" i="0" lang="en" sz="750" u="none" cap="none" strike="noStrike">
                <a:solidFill>
                  <a:srgbClr val="FFFFFF"/>
                </a:solidFill>
                <a:latin typeface="Play"/>
                <a:ea typeface="Play"/>
                <a:cs typeface="Play"/>
                <a:sym typeface="Play"/>
              </a:rPr>
              <a:t>7</a:t>
            </a:r>
            <a:endParaRPr b="0" i="0" sz="750" u="none" cap="none" strike="noStrike">
              <a:solidFill>
                <a:schemeClr val="dk1"/>
              </a:solidFill>
              <a:latin typeface="Calibri"/>
              <a:ea typeface="Calibri"/>
              <a:cs typeface="Calibri"/>
              <a:sym typeface="Calibri"/>
            </a:endParaRPr>
          </a:p>
        </p:txBody>
      </p:sp>
      <p:sp>
        <p:nvSpPr>
          <p:cNvPr id="196" name="Google Shape;196;p14"/>
          <p:cNvSpPr/>
          <p:nvPr/>
        </p:nvSpPr>
        <p:spPr>
          <a:xfrm>
            <a:off x="5989320" y="1188720"/>
            <a:ext cx="2743200" cy="3520440"/>
          </a:xfrm>
          <a:prstGeom prst="roundRect">
            <a:avLst>
              <a:gd fmla="val 2667"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4"/>
          <p:cNvSpPr txBox="1"/>
          <p:nvPr/>
        </p:nvSpPr>
        <p:spPr>
          <a:xfrm>
            <a:off x="6108192" y="1298448"/>
            <a:ext cx="2514600" cy="3291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50"/>
              <a:buFont typeface="Arial"/>
              <a:buNone/>
            </a:pPr>
            <a:r>
              <a:rPr b="1" i="0" lang="en" sz="850" u="none" cap="none" strike="noStrike">
                <a:solidFill>
                  <a:srgbClr val="0B7A6F"/>
                </a:solidFill>
                <a:latin typeface="Arial"/>
                <a:ea typeface="Arial"/>
                <a:cs typeface="Arial"/>
                <a:sym typeface="Arial"/>
              </a:rPr>
              <a:t>1  Job Start Before Action: </a:t>
            </a:r>
            <a:r>
              <a:rPr b="0" i="0" lang="en" sz="850" u="none" cap="none" strike="noStrike">
                <a:solidFill>
                  <a:srgbClr val="1D1D1F"/>
                </a:solidFill>
                <a:latin typeface="Arial"/>
                <a:ea typeface="Arial"/>
                <a:cs typeface="Arial"/>
                <a:sym typeface="Arial"/>
              </a:rPr>
              <a:t>the job start time and date at the time the action was made</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B7A6F"/>
              </a:buClr>
              <a:buSzPts val="850"/>
              <a:buFont typeface="Arial"/>
              <a:buNone/>
            </a:pPr>
            <a:r>
              <a:rPr b="1" i="0" lang="en" sz="850" u="none" cap="none" strike="noStrike">
                <a:solidFill>
                  <a:srgbClr val="0B7A6F"/>
                </a:solidFill>
                <a:latin typeface="Arial"/>
                <a:ea typeface="Arial"/>
                <a:cs typeface="Arial"/>
                <a:sym typeface="Arial"/>
              </a:rPr>
              <a:t>2  Job Start After Action: </a:t>
            </a:r>
            <a:r>
              <a:rPr b="0" i="0" lang="en" sz="850" u="none" cap="none" strike="noStrike">
                <a:solidFill>
                  <a:srgbClr val="1D1D1F"/>
                </a:solidFill>
                <a:latin typeface="Arial"/>
                <a:ea typeface="Arial"/>
                <a:cs typeface="Arial"/>
                <a:sym typeface="Arial"/>
              </a:rPr>
              <a:t>the job start time and date after the action was made</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B7A6F"/>
              </a:buClr>
              <a:buSzPts val="850"/>
              <a:buFont typeface="Arial"/>
              <a:buNone/>
            </a:pPr>
            <a:r>
              <a:rPr b="1" i="0" lang="en" sz="850" u="none" cap="none" strike="noStrike">
                <a:solidFill>
                  <a:srgbClr val="0B7A6F"/>
                </a:solidFill>
                <a:latin typeface="Arial"/>
                <a:ea typeface="Arial"/>
                <a:cs typeface="Arial"/>
                <a:sym typeface="Arial"/>
              </a:rPr>
              <a:t>3  Action On: </a:t>
            </a:r>
            <a:r>
              <a:rPr b="0" i="0" lang="en" sz="850" u="none" cap="none" strike="noStrike">
                <a:solidFill>
                  <a:srgbClr val="1D1D1F"/>
                </a:solidFill>
                <a:latin typeface="Arial"/>
                <a:ea typeface="Arial"/>
                <a:cs typeface="Arial"/>
                <a:sym typeface="Arial"/>
              </a:rPr>
              <a:t>the time the action was taken</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B7A6F"/>
              </a:buClr>
              <a:buSzPts val="850"/>
              <a:buFont typeface="Arial"/>
              <a:buNone/>
            </a:pPr>
            <a:r>
              <a:rPr b="1" i="0" lang="en" sz="850" u="none" cap="none" strike="noStrike">
                <a:solidFill>
                  <a:srgbClr val="0B7A6F"/>
                </a:solidFill>
                <a:latin typeface="Arial"/>
                <a:ea typeface="Arial"/>
                <a:cs typeface="Arial"/>
                <a:sym typeface="Arial"/>
              </a:rPr>
              <a:t>4  Job Status Before Action: </a:t>
            </a:r>
            <a:r>
              <a:rPr b="0" i="0" lang="en" sz="850" u="none" cap="none" strike="noStrike">
                <a:solidFill>
                  <a:srgbClr val="1D1D1F"/>
                </a:solidFill>
                <a:latin typeface="Arial"/>
                <a:ea typeface="Arial"/>
                <a:cs typeface="Arial"/>
                <a:sym typeface="Arial"/>
              </a:rPr>
              <a:t>the status of the job before the action was taken</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B7A6F"/>
              </a:buClr>
              <a:buSzPts val="850"/>
              <a:buFont typeface="Arial"/>
              <a:buNone/>
            </a:pPr>
            <a:r>
              <a:rPr b="1" i="0" lang="en" sz="850" u="none" cap="none" strike="noStrike">
                <a:solidFill>
                  <a:srgbClr val="0B7A6F"/>
                </a:solidFill>
                <a:latin typeface="Arial"/>
                <a:ea typeface="Arial"/>
                <a:cs typeface="Arial"/>
                <a:sym typeface="Arial"/>
              </a:rPr>
              <a:t>5  Actor: </a:t>
            </a:r>
            <a:r>
              <a:rPr b="0" i="0" lang="en" sz="850" u="none" cap="none" strike="noStrike">
                <a:solidFill>
                  <a:srgbClr val="1D1D1F"/>
                </a:solidFill>
                <a:latin typeface="Arial"/>
                <a:ea typeface="Arial"/>
                <a:cs typeface="Arial"/>
                <a:sym typeface="Arial"/>
              </a:rPr>
              <a:t>the one who took the action: the C, CP, CS, or system</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B7A6F"/>
              </a:buClr>
              <a:buSzPts val="850"/>
              <a:buFont typeface="Arial"/>
              <a:buNone/>
            </a:pPr>
            <a:r>
              <a:rPr b="1" i="0" lang="en" sz="850" u="none" cap="none" strike="noStrike">
                <a:solidFill>
                  <a:srgbClr val="0B7A6F"/>
                </a:solidFill>
                <a:latin typeface="Arial"/>
                <a:ea typeface="Arial"/>
                <a:cs typeface="Arial"/>
                <a:sym typeface="Arial"/>
              </a:rPr>
              <a:t>6  Action: </a:t>
            </a:r>
            <a:r>
              <a:rPr b="0" i="0" lang="en" sz="850" u="none" cap="none" strike="noStrike">
                <a:solidFill>
                  <a:srgbClr val="1D1D1F"/>
                </a:solidFill>
                <a:latin typeface="Arial"/>
                <a:ea typeface="Arial"/>
                <a:cs typeface="Arial"/>
                <a:sym typeface="Arial"/>
              </a:rPr>
              <a:t>the action taken on the job. Written to be self-explanatory</a:t>
            </a:r>
            <a:endParaRPr b="0" i="0" sz="85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0B7A6F"/>
              </a:buClr>
              <a:buSzPts val="850"/>
              <a:buFont typeface="Arial"/>
              <a:buNone/>
            </a:pPr>
            <a:r>
              <a:rPr b="1" i="0" lang="en" sz="850" u="none" cap="none" strike="noStrike">
                <a:solidFill>
                  <a:srgbClr val="0B7A6F"/>
                </a:solidFill>
                <a:latin typeface="Arial"/>
                <a:ea typeface="Arial"/>
                <a:cs typeface="Arial"/>
                <a:sym typeface="Arial"/>
              </a:rPr>
              <a:t>7  Comment: </a:t>
            </a:r>
            <a:r>
              <a:rPr b="0" i="0" lang="en" sz="850" u="none" cap="none" strike="noStrike">
                <a:solidFill>
                  <a:srgbClr val="1D1D1F"/>
                </a:solidFill>
                <a:latin typeface="Arial"/>
                <a:ea typeface="Arial"/>
                <a:cs typeface="Arial"/>
                <a:sym typeface="Arial"/>
              </a:rPr>
              <a:t>logs any essential detail to the action</a:t>
            </a:r>
            <a:endParaRPr b="0" i="0" sz="850" u="none" cap="none" strike="noStrike">
              <a:solidFill>
                <a:schemeClr val="dk1"/>
              </a:solidFill>
              <a:latin typeface="Calibri"/>
              <a:ea typeface="Calibri"/>
              <a:cs typeface="Calibri"/>
              <a:sym typeface="Calibri"/>
            </a:endParaRPr>
          </a:p>
        </p:txBody>
      </p:sp>
      <p:sp>
        <p:nvSpPr>
          <p:cNvPr id="198" name="Google Shape;198;p1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12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1200"/>
                                        <p:tgtEl>
                                          <p:spTgt spid="1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2" st="2"/>
                                            </p:txEl>
                                          </p:spTgt>
                                        </p:tgtEl>
                                        <p:attrNameLst>
                                          <p:attrName>style.visibility</p:attrName>
                                        </p:attrNameLst>
                                      </p:cBhvr>
                                      <p:to>
                                        <p:strVal val="visible"/>
                                      </p:to>
                                    </p:set>
                                    <p:animEffect filter="fade" transition="in">
                                      <p:cBhvr>
                                        <p:cTn dur="1200"/>
                                        <p:tgtEl>
                                          <p:spTgt spid="1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3" st="3"/>
                                            </p:txEl>
                                          </p:spTgt>
                                        </p:tgtEl>
                                        <p:attrNameLst>
                                          <p:attrName>style.visibility</p:attrName>
                                        </p:attrNameLst>
                                      </p:cBhvr>
                                      <p:to>
                                        <p:strVal val="visible"/>
                                      </p:to>
                                    </p:set>
                                    <p:animEffect filter="fade" transition="in">
                                      <p:cBhvr>
                                        <p:cTn dur="1200"/>
                                        <p:tgtEl>
                                          <p:spTgt spid="1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4" st="4"/>
                                            </p:txEl>
                                          </p:spTgt>
                                        </p:tgtEl>
                                        <p:attrNameLst>
                                          <p:attrName>style.visibility</p:attrName>
                                        </p:attrNameLst>
                                      </p:cBhvr>
                                      <p:to>
                                        <p:strVal val="visible"/>
                                      </p:to>
                                    </p:set>
                                    <p:animEffect filter="fade" transition="in">
                                      <p:cBhvr>
                                        <p:cTn dur="1200"/>
                                        <p:tgtEl>
                                          <p:spTgt spid="1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5" st="5"/>
                                            </p:txEl>
                                          </p:spTgt>
                                        </p:tgtEl>
                                        <p:attrNameLst>
                                          <p:attrName>style.visibility</p:attrName>
                                        </p:attrNameLst>
                                      </p:cBhvr>
                                      <p:to>
                                        <p:strVal val="visible"/>
                                      </p:to>
                                    </p:set>
                                    <p:animEffect filter="fade" transition="in">
                                      <p:cBhvr>
                                        <p:cTn dur="1200"/>
                                        <p:tgtEl>
                                          <p:spTgt spid="19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6" st="6"/>
                                            </p:txEl>
                                          </p:spTgt>
                                        </p:tgtEl>
                                        <p:attrNameLst>
                                          <p:attrName>style.visibility</p:attrName>
                                        </p:attrNameLst>
                                      </p:cBhvr>
                                      <p:to>
                                        <p:strVal val="visible"/>
                                      </p:to>
                                    </p:set>
                                    <p:animEffect filter="fade" transition="in">
                                      <p:cBhvr>
                                        <p:cTn dur="1200"/>
                                        <p:tgtEl>
                                          <p:spTgt spid="19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UNDERSTANDING JOB HISTORY</a:t>
            </a:r>
            <a:endParaRPr b="0" i="0" sz="800" u="none" cap="none" strike="noStrike">
              <a:solidFill>
                <a:schemeClr val="dk1"/>
              </a:solidFill>
              <a:latin typeface="Calibri"/>
              <a:ea typeface="Calibri"/>
              <a:cs typeface="Calibri"/>
              <a:sym typeface="Calibri"/>
            </a:endParaRPr>
          </a:p>
        </p:txBody>
      </p:sp>
      <p:sp>
        <p:nvSpPr>
          <p:cNvPr id="205" name="Google Shape;205;p1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Two things to remember</a:t>
            </a:r>
            <a:endParaRPr b="0" i="0" sz="2400" u="none" cap="none" strike="noStrike">
              <a:solidFill>
                <a:schemeClr val="dk1"/>
              </a:solidFill>
              <a:latin typeface="Calibri"/>
              <a:ea typeface="Calibri"/>
              <a:cs typeface="Calibri"/>
              <a:sym typeface="Calibri"/>
            </a:endParaRPr>
          </a:p>
        </p:txBody>
      </p:sp>
      <p:sp>
        <p:nvSpPr>
          <p:cNvPr id="206" name="Google Shape;206;p15"/>
          <p:cNvSpPr/>
          <p:nvPr/>
        </p:nvSpPr>
        <p:spPr>
          <a:xfrm>
            <a:off x="411480" y="1234440"/>
            <a:ext cx="40919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15"/>
          <p:cNvSpPr/>
          <p:nvPr/>
        </p:nvSpPr>
        <p:spPr>
          <a:xfrm>
            <a:off x="576072" y="139903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8" name="Google Shape;208;p15"/>
          <p:cNvPicPr preferRelativeResize="0"/>
          <p:nvPr/>
        </p:nvPicPr>
        <p:blipFill rotWithShape="1">
          <a:blip r:embed="rId3">
            <a:alphaModFix/>
          </a:blip>
          <a:srcRect b="0" l="0" r="0" t="0"/>
          <a:stretch/>
        </p:blipFill>
        <p:spPr>
          <a:xfrm>
            <a:off x="655076" y="1478036"/>
            <a:ext cx="171176" cy="171176"/>
          </a:xfrm>
          <a:prstGeom prst="rect">
            <a:avLst/>
          </a:prstGeom>
          <a:noFill/>
          <a:ln>
            <a:noFill/>
          </a:ln>
        </p:spPr>
      </p:pic>
      <p:sp>
        <p:nvSpPr>
          <p:cNvPr id="209" name="Google Shape;209;p15"/>
          <p:cNvSpPr txBox="1"/>
          <p:nvPr/>
        </p:nvSpPr>
        <p:spPr>
          <a:xfrm>
            <a:off x="576072" y="183794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Read bottom to top</a:t>
            </a:r>
            <a:endParaRPr b="0" i="0" sz="1200" u="none" cap="none" strike="noStrike">
              <a:solidFill>
                <a:schemeClr val="dk1"/>
              </a:solidFill>
              <a:latin typeface="Calibri"/>
              <a:ea typeface="Calibri"/>
              <a:cs typeface="Calibri"/>
              <a:sym typeface="Calibri"/>
            </a:endParaRPr>
          </a:p>
        </p:txBody>
      </p:sp>
      <p:sp>
        <p:nvSpPr>
          <p:cNvPr id="210" name="Google Shape;210;p15"/>
          <p:cNvSpPr txBox="1"/>
          <p:nvPr/>
        </p:nvSpPr>
        <p:spPr>
          <a:xfrm>
            <a:off x="576072" y="2130552"/>
            <a:ext cx="37627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oldest action is at the bottom. The newest is at the top.</a:t>
            </a:r>
            <a:endParaRPr b="0" i="0" sz="950" u="none" cap="none" strike="noStrike">
              <a:solidFill>
                <a:schemeClr val="dk1"/>
              </a:solidFill>
              <a:latin typeface="Calibri"/>
              <a:ea typeface="Calibri"/>
              <a:cs typeface="Calibri"/>
              <a:sym typeface="Calibri"/>
            </a:endParaRPr>
          </a:p>
        </p:txBody>
      </p:sp>
      <p:sp>
        <p:nvSpPr>
          <p:cNvPr id="211" name="Google Shape;211;p15"/>
          <p:cNvSpPr/>
          <p:nvPr/>
        </p:nvSpPr>
        <p:spPr>
          <a:xfrm>
            <a:off x="4640580" y="1234440"/>
            <a:ext cx="40919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5"/>
          <p:cNvSpPr/>
          <p:nvPr/>
        </p:nvSpPr>
        <p:spPr>
          <a:xfrm>
            <a:off x="4805172" y="139903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3" name="Google Shape;213;p15"/>
          <p:cNvPicPr preferRelativeResize="0"/>
          <p:nvPr/>
        </p:nvPicPr>
        <p:blipFill rotWithShape="1">
          <a:blip r:embed="rId4">
            <a:alphaModFix/>
          </a:blip>
          <a:srcRect b="0" l="0" r="0" t="0"/>
          <a:stretch/>
        </p:blipFill>
        <p:spPr>
          <a:xfrm>
            <a:off x="4884176" y="1478036"/>
            <a:ext cx="171176" cy="171176"/>
          </a:xfrm>
          <a:prstGeom prst="rect">
            <a:avLst/>
          </a:prstGeom>
          <a:noFill/>
          <a:ln>
            <a:noFill/>
          </a:ln>
        </p:spPr>
      </p:pic>
      <p:sp>
        <p:nvSpPr>
          <p:cNvPr id="214" name="Google Shape;214;p15"/>
          <p:cNvSpPr txBox="1"/>
          <p:nvPr/>
        </p:nvSpPr>
        <p:spPr>
          <a:xfrm>
            <a:off x="4805172" y="183794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Times are in CT</a:t>
            </a:r>
            <a:endParaRPr b="0" i="0" sz="1200" u="none" cap="none" strike="noStrike">
              <a:solidFill>
                <a:schemeClr val="dk1"/>
              </a:solidFill>
              <a:latin typeface="Calibri"/>
              <a:ea typeface="Calibri"/>
              <a:cs typeface="Calibri"/>
              <a:sym typeface="Calibri"/>
            </a:endParaRPr>
          </a:p>
        </p:txBody>
      </p:sp>
      <p:sp>
        <p:nvSpPr>
          <p:cNvPr id="215" name="Google Shape;215;p15"/>
          <p:cNvSpPr txBox="1"/>
          <p:nvPr/>
        </p:nvSpPr>
        <p:spPr>
          <a:xfrm>
            <a:off x="4805172" y="2130552"/>
            <a:ext cx="376275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Our system time is Central Time. The customer may be in another time zone.</a:t>
            </a:r>
            <a:endParaRPr b="0" i="0" sz="950" u="none" cap="none" strike="noStrike">
              <a:solidFill>
                <a:schemeClr val="dk1"/>
              </a:solidFill>
              <a:latin typeface="Calibri"/>
              <a:ea typeface="Calibri"/>
              <a:cs typeface="Calibri"/>
              <a:sym typeface="Calibri"/>
            </a:endParaRPr>
          </a:p>
        </p:txBody>
      </p:sp>
      <p:sp>
        <p:nvSpPr>
          <p:cNvPr id="216" name="Google Shape;216;p15"/>
          <p:cNvSpPr txBox="1"/>
          <p:nvPr/>
        </p:nvSpPr>
        <p:spPr>
          <a:xfrm>
            <a:off x="438912" y="30175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CONVERT WITH THE TIME FORMULA, UPPER LEFT OF THE CRM</a:t>
            </a:r>
            <a:endParaRPr b="0" i="0" sz="800" u="none" cap="none" strike="noStrike">
              <a:solidFill>
                <a:schemeClr val="dk1"/>
              </a:solidFill>
              <a:latin typeface="Calibri"/>
              <a:ea typeface="Calibri"/>
              <a:cs typeface="Calibri"/>
              <a:sym typeface="Calibri"/>
            </a:endParaRPr>
          </a:p>
        </p:txBody>
      </p:sp>
      <p:sp>
        <p:nvSpPr>
          <p:cNvPr id="217" name="Google Shape;217;p15"/>
          <p:cNvSpPr/>
          <p:nvPr/>
        </p:nvSpPr>
        <p:spPr>
          <a:xfrm>
            <a:off x="411480" y="3246120"/>
            <a:ext cx="365760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legacy_time.png" id="218" name="Google Shape;218;p15"/>
          <p:cNvPicPr preferRelativeResize="0"/>
          <p:nvPr/>
        </p:nvPicPr>
        <p:blipFill rotWithShape="1">
          <a:blip r:embed="rId5">
            <a:alphaModFix/>
          </a:blip>
          <a:srcRect b="0" l="0" r="0" t="0"/>
          <a:stretch/>
        </p:blipFill>
        <p:spPr>
          <a:xfrm>
            <a:off x="484632" y="3462833"/>
            <a:ext cx="3511296" cy="526694"/>
          </a:xfrm>
          <a:prstGeom prst="rect">
            <a:avLst/>
          </a:prstGeom>
          <a:noFill/>
          <a:ln>
            <a:noFill/>
          </a:ln>
        </p:spPr>
      </p:pic>
      <p:sp>
        <p:nvSpPr>
          <p:cNvPr id="219" name="Google Shape;219;p15"/>
          <p:cNvSpPr/>
          <p:nvPr/>
        </p:nvSpPr>
        <p:spPr>
          <a:xfrm>
            <a:off x="923544" y="3477463"/>
            <a:ext cx="2633472" cy="482803"/>
          </a:xfrm>
          <a:prstGeom prst="roundRect">
            <a:avLst>
              <a:gd fmla="val 5682"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5"/>
          <p:cNvSpPr/>
          <p:nvPr/>
        </p:nvSpPr>
        <p:spPr>
          <a:xfrm>
            <a:off x="822960" y="3376879"/>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15"/>
          <p:cNvSpPr txBox="1"/>
          <p:nvPr/>
        </p:nvSpPr>
        <p:spPr>
          <a:xfrm>
            <a:off x="822960" y="3376879"/>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
        <p:nvSpPr>
          <p:cNvPr id="222" name="Google Shape;222;p15"/>
          <p:cNvSpPr txBox="1"/>
          <p:nvPr/>
        </p:nvSpPr>
        <p:spPr>
          <a:xfrm>
            <a:off x="4297680" y="3337560"/>
            <a:ext cx="443484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1" i="0" lang="en" sz="1050" u="none" cap="none" strike="noStrike">
                <a:solidFill>
                  <a:srgbClr val="1D1D1F"/>
                </a:solidFill>
                <a:latin typeface="Arial"/>
                <a:ea typeface="Arial"/>
                <a:cs typeface="Arial"/>
                <a:sym typeface="Arial"/>
              </a:rPr>
              <a:t>Example: </a:t>
            </a:r>
            <a:r>
              <a:rPr b="0" i="0" lang="en" sz="1050" u="none" cap="none" strike="noStrike">
                <a:solidFill>
                  <a:srgbClr val="1D1D1F"/>
                </a:solidFill>
                <a:latin typeface="Arial"/>
                <a:ea typeface="Arial"/>
                <a:cs typeface="Arial"/>
                <a:sym typeface="Arial"/>
              </a:rPr>
              <a:t>8:23 AM CDT is 6:23 AM in Pacific time (PDT −2) and 9:23 AM in Eastern time (EDT +1).</a:t>
            </a:r>
            <a:endParaRPr b="0" i="0" sz="1050" u="none" cap="none" strike="noStrike">
              <a:solidFill>
                <a:schemeClr val="dk1"/>
              </a:solidFill>
              <a:latin typeface="Calibri"/>
              <a:ea typeface="Calibri"/>
              <a:cs typeface="Calibri"/>
              <a:sym typeface="Calibri"/>
            </a:endParaRPr>
          </a:p>
        </p:txBody>
      </p:sp>
      <p:sp>
        <p:nvSpPr>
          <p:cNvPr id="223" name="Google Shape;223;p1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UNDERSTANDING JOB HISTORY</a:t>
            </a:r>
            <a:endParaRPr b="0" i="0" sz="800" u="none" cap="none" strike="noStrike">
              <a:solidFill>
                <a:schemeClr val="dk1"/>
              </a:solidFill>
              <a:latin typeface="Calibri"/>
              <a:ea typeface="Calibri"/>
              <a:cs typeface="Calibri"/>
              <a:sym typeface="Calibri"/>
            </a:endParaRPr>
          </a:p>
        </p:txBody>
      </p:sp>
      <p:sp>
        <p:nvSpPr>
          <p:cNvPr id="230" name="Google Shape;230;p1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Reading the example</a:t>
            </a:r>
            <a:endParaRPr b="0" i="0" sz="2400" u="none" cap="none" strike="noStrike">
              <a:solidFill>
                <a:schemeClr val="dk1"/>
              </a:solidFill>
              <a:latin typeface="Calibri"/>
              <a:ea typeface="Calibri"/>
              <a:cs typeface="Calibri"/>
              <a:sym typeface="Calibri"/>
            </a:endParaRPr>
          </a:p>
        </p:txBody>
      </p:sp>
      <p:sp>
        <p:nvSpPr>
          <p:cNvPr id="231" name="Google Shape;231;p1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Read the job history from the bottom up. </a:t>
            </a:r>
            <a:endParaRPr b="0" i="0" sz="1200" u="none" cap="none" strike="noStrike">
              <a:solidFill>
                <a:schemeClr val="dk1"/>
              </a:solidFill>
              <a:latin typeface="Calibri"/>
              <a:ea typeface="Calibri"/>
              <a:cs typeface="Calibri"/>
              <a:sym typeface="Calibri"/>
            </a:endParaRPr>
          </a:p>
        </p:txBody>
      </p:sp>
      <p:sp>
        <p:nvSpPr>
          <p:cNvPr id="232" name="Google Shape;232;p16"/>
          <p:cNvSpPr/>
          <p:nvPr/>
        </p:nvSpPr>
        <p:spPr>
          <a:xfrm>
            <a:off x="411480" y="1188720"/>
            <a:ext cx="5257800" cy="2651760"/>
          </a:xfrm>
          <a:prstGeom prst="roundRect">
            <a:avLst>
              <a:gd fmla="val 275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jh_table.png" id="233" name="Google Shape;233;p16"/>
          <p:cNvPicPr preferRelativeResize="0"/>
          <p:nvPr/>
        </p:nvPicPr>
        <p:blipFill rotWithShape="1">
          <a:blip r:embed="rId3">
            <a:alphaModFix/>
          </a:blip>
          <a:srcRect b="0" l="0" r="0" t="0"/>
          <a:stretch/>
        </p:blipFill>
        <p:spPr>
          <a:xfrm>
            <a:off x="484632" y="1298989"/>
            <a:ext cx="5111496" cy="2431222"/>
          </a:xfrm>
          <a:prstGeom prst="rect">
            <a:avLst/>
          </a:prstGeom>
          <a:noFill/>
          <a:ln>
            <a:noFill/>
          </a:ln>
        </p:spPr>
      </p:pic>
      <p:pic>
        <p:nvPicPr>
          <p:cNvPr descr="preencoded.png" id="234" name="Google Shape;234;p16"/>
          <p:cNvPicPr preferRelativeResize="0"/>
          <p:nvPr/>
        </p:nvPicPr>
        <p:blipFill rotWithShape="1">
          <a:blip r:embed="rId4">
            <a:alphaModFix/>
          </a:blip>
          <a:srcRect b="0" l="0" r="0" t="0"/>
          <a:stretch/>
        </p:blipFill>
        <p:spPr>
          <a:xfrm>
            <a:off x="502920" y="3931920"/>
            <a:ext cx="182880" cy="182880"/>
          </a:xfrm>
          <a:prstGeom prst="rect">
            <a:avLst/>
          </a:prstGeom>
          <a:noFill/>
          <a:ln>
            <a:noFill/>
          </a:ln>
        </p:spPr>
      </p:pic>
      <p:sp>
        <p:nvSpPr>
          <p:cNvPr id="235" name="Google Shape;235;p16"/>
          <p:cNvSpPr txBox="1"/>
          <p:nvPr/>
        </p:nvSpPr>
        <p:spPr>
          <a:xfrm>
            <a:off x="731520" y="3904488"/>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950"/>
              <a:buFont typeface="Arial"/>
              <a:buNone/>
            </a:pPr>
            <a:r>
              <a:rPr b="1" i="0" lang="en" sz="950" u="none" cap="none" strike="noStrike">
                <a:solidFill>
                  <a:srgbClr val="0B7A6F"/>
                </a:solidFill>
                <a:latin typeface="Arial"/>
                <a:ea typeface="Arial"/>
                <a:cs typeface="Arial"/>
                <a:sym typeface="Arial"/>
              </a:rPr>
              <a:t>Read bottom to top</a:t>
            </a:r>
            <a:endParaRPr b="0" i="0" sz="950" u="none" cap="none" strike="noStrike">
              <a:solidFill>
                <a:schemeClr val="dk1"/>
              </a:solidFill>
              <a:latin typeface="Calibri"/>
              <a:ea typeface="Calibri"/>
              <a:cs typeface="Calibri"/>
              <a:sym typeface="Calibri"/>
            </a:endParaRPr>
          </a:p>
        </p:txBody>
      </p:sp>
      <p:sp>
        <p:nvSpPr>
          <p:cNvPr id="236" name="Google Shape;236;p16"/>
          <p:cNvSpPr/>
          <p:nvPr/>
        </p:nvSpPr>
        <p:spPr>
          <a:xfrm>
            <a:off x="5806440" y="1188720"/>
            <a:ext cx="2926080" cy="457200"/>
          </a:xfrm>
          <a:prstGeom prst="roundRect">
            <a:avLst>
              <a:gd fmla="val 20000"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37" name="Google Shape;237;p16"/>
          <p:cNvPicPr preferRelativeResize="0"/>
          <p:nvPr/>
        </p:nvPicPr>
        <p:blipFill rotWithShape="1">
          <a:blip r:embed="rId5">
            <a:alphaModFix/>
          </a:blip>
          <a:srcRect b="0" l="0" r="0" t="0"/>
          <a:stretch/>
        </p:blipFill>
        <p:spPr>
          <a:xfrm>
            <a:off x="5989320" y="1307592"/>
            <a:ext cx="219456" cy="219456"/>
          </a:xfrm>
          <a:prstGeom prst="rect">
            <a:avLst/>
          </a:prstGeom>
          <a:noFill/>
          <a:ln>
            <a:noFill/>
          </a:ln>
        </p:spPr>
      </p:pic>
      <p:sp>
        <p:nvSpPr>
          <p:cNvPr id="238" name="Google Shape;238;p16"/>
          <p:cNvSpPr txBox="1"/>
          <p:nvPr/>
        </p:nvSpPr>
        <p:spPr>
          <a:xfrm>
            <a:off x="6309360" y="1188720"/>
            <a:ext cx="22860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Play"/>
              <a:buNone/>
            </a:pPr>
            <a:r>
              <a:rPr b="1" i="0" lang="en" sz="1300" u="none" cap="none" strike="noStrike">
                <a:solidFill>
                  <a:srgbClr val="FFFFFF"/>
                </a:solidFill>
                <a:latin typeface="Play"/>
                <a:ea typeface="Play"/>
                <a:cs typeface="Play"/>
                <a:sym typeface="Play"/>
              </a:rPr>
              <a:t>The Story</a:t>
            </a:r>
            <a:endParaRPr b="0" i="0" sz="1300" u="none" cap="none" strike="noStrike">
              <a:solidFill>
                <a:schemeClr val="dk1"/>
              </a:solidFill>
              <a:latin typeface="Calibri"/>
              <a:ea typeface="Calibri"/>
              <a:cs typeface="Calibri"/>
              <a:sym typeface="Calibri"/>
            </a:endParaRPr>
          </a:p>
        </p:txBody>
      </p:sp>
      <p:sp>
        <p:nvSpPr>
          <p:cNvPr id="239" name="Google Shape;239;p16"/>
          <p:cNvSpPr/>
          <p:nvPr/>
        </p:nvSpPr>
        <p:spPr>
          <a:xfrm>
            <a:off x="5806440" y="1737360"/>
            <a:ext cx="2926080" cy="2971800"/>
          </a:xfrm>
          <a:prstGeom prst="roundRect">
            <a:avLst>
              <a:gd fmla="val 25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6"/>
          <p:cNvSpPr txBox="1"/>
          <p:nvPr/>
        </p:nvSpPr>
        <p:spPr>
          <a:xfrm>
            <a:off x="5943600" y="1847088"/>
            <a:ext cx="2651760" cy="2788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900"/>
              <a:buFont typeface="Arial"/>
              <a:buNone/>
            </a:pPr>
            <a:r>
              <a:rPr b="1" i="0" lang="en" sz="900" u="none" cap="none" strike="noStrike">
                <a:solidFill>
                  <a:srgbClr val="0B7A6F"/>
                </a:solidFill>
                <a:latin typeface="Arial"/>
                <a:ea typeface="Arial"/>
                <a:cs typeface="Arial"/>
                <a:sym typeface="Arial"/>
              </a:rPr>
              <a:t>Sept 7, 2026: </a:t>
            </a:r>
            <a:r>
              <a:rPr b="0" i="0" lang="en" sz="900" u="none" cap="none" strike="noStrike">
                <a:solidFill>
                  <a:srgbClr val="1D1D1F"/>
                </a:solidFill>
                <a:latin typeface="Arial"/>
                <a:ea typeface="Arial"/>
                <a:cs typeface="Arial"/>
                <a:sym typeface="Arial"/>
              </a:rPr>
              <a:t>the system booked a cleaning for C Anjuli Kintanar for Sept 21, 10 AM CT, through the recurring cleaning plan.</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Clr>
                <a:srgbClr val="0B7A6F"/>
              </a:buClr>
              <a:buSzPts val="900"/>
              <a:buFont typeface="Arial"/>
              <a:buNone/>
            </a:pPr>
            <a:r>
              <a:rPr b="1" i="0" lang="en" sz="900" u="none" cap="none" strike="noStrike">
                <a:solidFill>
                  <a:srgbClr val="0B7A6F"/>
                </a:solidFill>
                <a:latin typeface="Arial"/>
                <a:ea typeface="Arial"/>
                <a:cs typeface="Arial"/>
                <a:sym typeface="Arial"/>
              </a:rPr>
              <a:t>Sept 14: </a:t>
            </a:r>
            <a:r>
              <a:rPr b="0" i="0" lang="en" sz="900" u="none" cap="none" strike="noStrike">
                <a:solidFill>
                  <a:srgbClr val="1D1D1F"/>
                </a:solidFill>
                <a:latin typeface="Arial"/>
                <a:ea typeface="Arial"/>
                <a:cs typeface="Arial"/>
                <a:sym typeface="Arial"/>
              </a:rPr>
              <a:t>CP Truffle Wuffle claimed the job as scheduled.</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Clr>
                <a:srgbClr val="0B7A6F"/>
              </a:buClr>
              <a:buSzPts val="900"/>
              <a:buFont typeface="Arial"/>
              <a:buNone/>
            </a:pPr>
            <a:r>
              <a:rPr b="1" i="0" lang="en" sz="900" u="none" cap="none" strike="noStrike">
                <a:solidFill>
                  <a:srgbClr val="0B7A6F"/>
                </a:solidFill>
                <a:latin typeface="Arial"/>
                <a:ea typeface="Arial"/>
                <a:cs typeface="Arial"/>
                <a:sym typeface="Arial"/>
              </a:rPr>
              <a:t>Sept 21, 9:19 AM CT: </a:t>
            </a:r>
            <a:r>
              <a:rPr b="0" i="0" lang="en" sz="900" u="none" cap="none" strike="noStrike">
                <a:solidFill>
                  <a:srgbClr val="1D1D1F"/>
                </a:solidFill>
                <a:latin typeface="Arial"/>
                <a:ea typeface="Arial"/>
                <a:cs typeface="Arial"/>
                <a:sym typeface="Arial"/>
              </a:rPr>
              <a:t>CP Truffle Wuffle rescheduled the job from Sept 21, 10 AM CT to Sept 22, 11 AM.</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Clr>
                <a:srgbClr val="0B7A6F"/>
              </a:buClr>
              <a:buSzPts val="900"/>
              <a:buFont typeface="Arial"/>
              <a:buNone/>
            </a:pPr>
            <a:r>
              <a:rPr b="1" i="0" lang="en" sz="900" u="none" cap="none" strike="noStrike">
                <a:solidFill>
                  <a:srgbClr val="0B7A6F"/>
                </a:solidFill>
                <a:latin typeface="Arial"/>
                <a:ea typeface="Arial"/>
                <a:cs typeface="Arial"/>
                <a:sym typeface="Arial"/>
              </a:rPr>
              <a:t>Sept 21, 9:50 AM CT: </a:t>
            </a:r>
            <a:r>
              <a:rPr b="0" i="0" lang="en" sz="900" u="none" cap="none" strike="noStrike">
                <a:solidFill>
                  <a:srgbClr val="1D1D1F"/>
                </a:solidFill>
                <a:latin typeface="Arial"/>
                <a:ea typeface="Arial"/>
                <a:cs typeface="Arial"/>
                <a:sym typeface="Arial"/>
              </a:rPr>
              <a:t>CP Truffle Wuffle rescheduled the job again, from Sept 22, 11 AM to Sept 24, 12:30 PM CT.</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500"/>
              </a:spcBef>
              <a:spcAft>
                <a:spcPts val="0"/>
              </a:spcAft>
              <a:buClr>
                <a:srgbClr val="0B7A6F"/>
              </a:buClr>
              <a:buSzPts val="900"/>
              <a:buFont typeface="Arial"/>
              <a:buNone/>
            </a:pPr>
            <a:r>
              <a:rPr b="1" i="0" lang="en" sz="900" u="none" cap="none" strike="noStrike">
                <a:solidFill>
                  <a:srgbClr val="0B7A6F"/>
                </a:solidFill>
                <a:latin typeface="Arial"/>
                <a:ea typeface="Arial"/>
                <a:cs typeface="Arial"/>
                <a:sym typeface="Arial"/>
              </a:rPr>
              <a:t>Sept 24, 4:09 PM CT: </a:t>
            </a:r>
            <a:r>
              <a:rPr b="0" i="0" lang="en" sz="900" u="none" cap="none" strike="noStrike">
                <a:solidFill>
                  <a:srgbClr val="1D1D1F"/>
                </a:solidFill>
                <a:latin typeface="Arial"/>
                <a:ea typeface="Arial"/>
                <a:cs typeface="Arial"/>
                <a:sym typeface="Arial"/>
              </a:rPr>
              <a:t>CP Truffle Wuffle invoiced the job and the system logged it in snapshot.</a:t>
            </a:r>
            <a:endParaRPr b="0" i="0" sz="900" u="none" cap="none" strike="noStrike">
              <a:solidFill>
                <a:schemeClr val="dk1"/>
              </a:solidFill>
              <a:latin typeface="Calibri"/>
              <a:ea typeface="Calibri"/>
              <a:cs typeface="Calibri"/>
              <a:sym typeface="Calibri"/>
            </a:endParaRPr>
          </a:p>
        </p:txBody>
      </p:sp>
      <p:sp>
        <p:nvSpPr>
          <p:cNvPr id="241" name="Google Shape;241;p1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animEffect filter="fade" transition="in">
                                      <p:cBhvr>
                                        <p:cTn dur="1200"/>
                                        <p:tgtEl>
                                          <p:spTgt spid="2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1" st="1"/>
                                            </p:txEl>
                                          </p:spTgt>
                                        </p:tgtEl>
                                        <p:attrNameLst>
                                          <p:attrName>style.visibility</p:attrName>
                                        </p:attrNameLst>
                                      </p:cBhvr>
                                      <p:to>
                                        <p:strVal val="visible"/>
                                      </p:to>
                                    </p:set>
                                    <p:animEffect filter="fade" transition="in">
                                      <p:cBhvr>
                                        <p:cTn dur="1200"/>
                                        <p:tgtEl>
                                          <p:spTgt spid="2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2" st="2"/>
                                            </p:txEl>
                                          </p:spTgt>
                                        </p:tgtEl>
                                        <p:attrNameLst>
                                          <p:attrName>style.visibility</p:attrName>
                                        </p:attrNameLst>
                                      </p:cBhvr>
                                      <p:to>
                                        <p:strVal val="visible"/>
                                      </p:to>
                                    </p:set>
                                    <p:animEffect filter="fade" transition="in">
                                      <p:cBhvr>
                                        <p:cTn dur="1200"/>
                                        <p:tgtEl>
                                          <p:spTgt spid="2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3" st="3"/>
                                            </p:txEl>
                                          </p:spTgt>
                                        </p:tgtEl>
                                        <p:attrNameLst>
                                          <p:attrName>style.visibility</p:attrName>
                                        </p:attrNameLst>
                                      </p:cBhvr>
                                      <p:to>
                                        <p:strVal val="visible"/>
                                      </p:to>
                                    </p:set>
                                    <p:animEffect filter="fade" transition="in">
                                      <p:cBhvr>
                                        <p:cTn dur="1200"/>
                                        <p:tgtEl>
                                          <p:spTgt spid="2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4" st="4"/>
                                            </p:txEl>
                                          </p:spTgt>
                                        </p:tgtEl>
                                        <p:attrNameLst>
                                          <p:attrName>style.visibility</p:attrName>
                                        </p:attrNameLst>
                                      </p:cBhvr>
                                      <p:to>
                                        <p:strVal val="visible"/>
                                      </p:to>
                                    </p:set>
                                    <p:animEffect filter="fade" transition="in">
                                      <p:cBhvr>
                                        <p:cTn dur="1200"/>
                                        <p:tgtEl>
                                          <p:spTgt spid="24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UNDERSTANDING JOB HISTORY</a:t>
            </a:r>
            <a:endParaRPr b="0" i="0" sz="800" u="none" cap="none" strike="noStrike">
              <a:solidFill>
                <a:schemeClr val="dk1"/>
              </a:solidFill>
              <a:latin typeface="Calibri"/>
              <a:ea typeface="Calibri"/>
              <a:cs typeface="Calibri"/>
              <a:sym typeface="Calibri"/>
            </a:endParaRPr>
          </a:p>
        </p:txBody>
      </p:sp>
      <p:sp>
        <p:nvSpPr>
          <p:cNvPr id="248" name="Google Shape;248;p1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Practice: read a job history</a:t>
            </a:r>
            <a:endParaRPr b="0" i="0" sz="2400" u="none" cap="none" strike="noStrike">
              <a:solidFill>
                <a:schemeClr val="dk1"/>
              </a:solidFill>
              <a:latin typeface="Calibri"/>
              <a:ea typeface="Calibri"/>
              <a:cs typeface="Calibri"/>
              <a:sym typeface="Calibri"/>
            </a:endParaRPr>
          </a:p>
        </p:txBody>
      </p:sp>
      <p:sp>
        <p:nvSpPr>
          <p:cNvPr id="249" name="Google Shape;249;p1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Open the practice ticket and answer these four questions.</a:t>
            </a:r>
            <a:endParaRPr b="0" i="0" sz="1200" u="none" cap="none" strike="noStrike">
              <a:solidFill>
                <a:schemeClr val="dk1"/>
              </a:solidFill>
              <a:latin typeface="Calibri"/>
              <a:ea typeface="Calibri"/>
              <a:cs typeface="Calibri"/>
              <a:sym typeface="Calibri"/>
            </a:endParaRPr>
          </a:p>
        </p:txBody>
      </p:sp>
      <p:pic>
        <p:nvPicPr>
          <p:cNvPr descr="preencoded.png" id="250" name="Google Shape;250;p17">
            <a:hlinkClick r:id="rId3"/>
          </p:cNvPr>
          <p:cNvPicPr preferRelativeResize="0"/>
          <p:nvPr/>
        </p:nvPicPr>
        <p:blipFill rotWithShape="1">
          <a:blip r:embed="rId4">
            <a:alphaModFix/>
          </a:blip>
          <a:srcRect b="0" l="0" r="0" t="0"/>
          <a:stretch/>
        </p:blipFill>
        <p:spPr>
          <a:xfrm>
            <a:off x="411480" y="1325880"/>
            <a:ext cx="2834640" cy="548640"/>
          </a:xfrm>
          <a:prstGeom prst="rect">
            <a:avLst/>
          </a:prstGeom>
          <a:noFill/>
          <a:ln>
            <a:noFill/>
          </a:ln>
        </p:spPr>
      </p:pic>
      <p:sp>
        <p:nvSpPr>
          <p:cNvPr id="251" name="Google Shape;251;p17"/>
          <p:cNvSpPr txBox="1"/>
          <p:nvPr/>
        </p:nvSpPr>
        <p:spPr>
          <a:xfrm>
            <a:off x="3429000" y="1463040"/>
            <a:ext cx="2743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1000"/>
              <a:buFont typeface="Arial"/>
              <a:buNone/>
            </a:pPr>
            <a:r>
              <a:rPr b="0" i="0" lang="en" sz="1000" u="sng" cap="none" strike="noStrike">
                <a:solidFill>
                  <a:schemeClr val="hlink"/>
                </a:solidFill>
                <a:latin typeface="Arial"/>
                <a:ea typeface="Arial"/>
                <a:cs typeface="Arial"/>
                <a:sym typeface="Arial"/>
                <a:hlinkClick r:id="rId5"/>
              </a:rPr>
              <a:t>Job 12685237</a:t>
            </a:r>
            <a:endParaRPr b="0" i="0" sz="1000" u="none" cap="none" strike="noStrike">
              <a:solidFill>
                <a:schemeClr val="dk1"/>
              </a:solidFill>
              <a:latin typeface="Calibri"/>
              <a:ea typeface="Calibri"/>
              <a:cs typeface="Calibri"/>
              <a:sym typeface="Calibri"/>
            </a:endParaRPr>
          </a:p>
        </p:txBody>
      </p:sp>
      <p:sp>
        <p:nvSpPr>
          <p:cNvPr id="252" name="Google Shape;252;p17"/>
          <p:cNvSpPr/>
          <p:nvPr/>
        </p:nvSpPr>
        <p:spPr>
          <a:xfrm>
            <a:off x="411480" y="2103120"/>
            <a:ext cx="4091940" cy="1097280"/>
          </a:xfrm>
          <a:prstGeom prst="roundRect">
            <a:avLst>
              <a:gd fmla="val 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7"/>
          <p:cNvSpPr/>
          <p:nvPr/>
        </p:nvSpPr>
        <p:spPr>
          <a:xfrm>
            <a:off x="576072" y="22860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7"/>
          <p:cNvSpPr txBox="1"/>
          <p:nvPr/>
        </p:nvSpPr>
        <p:spPr>
          <a:xfrm>
            <a:off x="576072" y="22860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255" name="Google Shape;255;p17"/>
          <p:cNvSpPr txBox="1"/>
          <p:nvPr/>
        </p:nvSpPr>
        <p:spPr>
          <a:xfrm>
            <a:off x="1005840" y="2240280"/>
            <a:ext cx="33147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Who booked the appointment?</a:t>
            </a:r>
            <a:endParaRPr b="0" i="0" sz="1050" u="none" cap="none" strike="noStrike">
              <a:solidFill>
                <a:schemeClr val="dk1"/>
              </a:solidFill>
              <a:latin typeface="Calibri"/>
              <a:ea typeface="Calibri"/>
              <a:cs typeface="Calibri"/>
              <a:sym typeface="Calibri"/>
            </a:endParaRPr>
          </a:p>
        </p:txBody>
      </p:sp>
      <p:sp>
        <p:nvSpPr>
          <p:cNvPr id="256" name="Google Shape;256;p17"/>
          <p:cNvSpPr/>
          <p:nvPr/>
        </p:nvSpPr>
        <p:spPr>
          <a:xfrm>
            <a:off x="4640580" y="2103120"/>
            <a:ext cx="4091940" cy="1097280"/>
          </a:xfrm>
          <a:prstGeom prst="roundRect">
            <a:avLst>
              <a:gd fmla="val 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7"/>
          <p:cNvSpPr/>
          <p:nvPr/>
        </p:nvSpPr>
        <p:spPr>
          <a:xfrm>
            <a:off x="4805172" y="22860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7"/>
          <p:cNvSpPr txBox="1"/>
          <p:nvPr/>
        </p:nvSpPr>
        <p:spPr>
          <a:xfrm>
            <a:off x="4805172" y="22860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259" name="Google Shape;259;p17"/>
          <p:cNvSpPr txBox="1"/>
          <p:nvPr/>
        </p:nvSpPr>
        <p:spPr>
          <a:xfrm>
            <a:off x="5234940" y="2240280"/>
            <a:ext cx="33147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When was the appointment initially scheduled for?</a:t>
            </a:r>
            <a:endParaRPr b="0" i="0" sz="1050" u="none" cap="none" strike="noStrike">
              <a:solidFill>
                <a:schemeClr val="dk1"/>
              </a:solidFill>
              <a:latin typeface="Calibri"/>
              <a:ea typeface="Calibri"/>
              <a:cs typeface="Calibri"/>
              <a:sym typeface="Calibri"/>
            </a:endParaRPr>
          </a:p>
        </p:txBody>
      </p:sp>
      <p:sp>
        <p:nvSpPr>
          <p:cNvPr id="260" name="Google Shape;260;p17"/>
          <p:cNvSpPr/>
          <p:nvPr/>
        </p:nvSpPr>
        <p:spPr>
          <a:xfrm>
            <a:off x="411480" y="3337560"/>
            <a:ext cx="4091940" cy="1097280"/>
          </a:xfrm>
          <a:prstGeom prst="roundRect">
            <a:avLst>
              <a:gd fmla="val 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7"/>
          <p:cNvSpPr/>
          <p:nvPr/>
        </p:nvSpPr>
        <p:spPr>
          <a:xfrm>
            <a:off x="576072" y="352044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7"/>
          <p:cNvSpPr txBox="1"/>
          <p:nvPr/>
        </p:nvSpPr>
        <p:spPr>
          <a:xfrm>
            <a:off x="576072" y="35204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263" name="Google Shape;263;p17"/>
          <p:cNvSpPr txBox="1"/>
          <p:nvPr/>
        </p:nvSpPr>
        <p:spPr>
          <a:xfrm>
            <a:off x="1005840" y="3474720"/>
            <a:ext cx="33147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customer writes: "I initially booked for Jan 12 at 1 PM, but I received a notification that I am booked for 2 PM. Why is that?"</a:t>
            </a:r>
            <a:endParaRPr b="0" i="0" sz="1050" u="none" cap="none" strike="noStrike">
              <a:solidFill>
                <a:schemeClr val="dk1"/>
              </a:solidFill>
              <a:latin typeface="Calibri"/>
              <a:ea typeface="Calibri"/>
              <a:cs typeface="Calibri"/>
              <a:sym typeface="Calibri"/>
            </a:endParaRPr>
          </a:p>
        </p:txBody>
      </p:sp>
      <p:sp>
        <p:nvSpPr>
          <p:cNvPr id="264" name="Google Shape;264;p17"/>
          <p:cNvSpPr/>
          <p:nvPr/>
        </p:nvSpPr>
        <p:spPr>
          <a:xfrm>
            <a:off x="4640580" y="3337560"/>
            <a:ext cx="4091940" cy="1097280"/>
          </a:xfrm>
          <a:prstGeom prst="roundRect">
            <a:avLst>
              <a:gd fmla="val 666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7"/>
          <p:cNvSpPr/>
          <p:nvPr/>
        </p:nvSpPr>
        <p:spPr>
          <a:xfrm>
            <a:off x="4805172" y="352044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7"/>
          <p:cNvSpPr txBox="1"/>
          <p:nvPr/>
        </p:nvSpPr>
        <p:spPr>
          <a:xfrm>
            <a:off x="4805172" y="352044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267" name="Google Shape;267;p17"/>
          <p:cNvSpPr txBox="1"/>
          <p:nvPr/>
        </p:nvSpPr>
        <p:spPr>
          <a:xfrm>
            <a:off x="5234940" y="3474720"/>
            <a:ext cx="331470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happened on Jan 8 at 5:58 PM?</a:t>
            </a:r>
            <a:endParaRPr b="0" i="0" sz="1050" u="none" cap="none" strike="noStrike">
              <a:solidFill>
                <a:schemeClr val="dk1"/>
              </a:solidFill>
              <a:latin typeface="Calibri"/>
              <a:ea typeface="Calibri"/>
              <a:cs typeface="Calibri"/>
              <a:sym typeface="Calibri"/>
            </a:endParaRPr>
          </a:p>
        </p:txBody>
      </p:sp>
      <p:sp>
        <p:nvSpPr>
          <p:cNvPr id="268" name="Google Shape;268;p1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8"/>
          <p:cNvSpPr txBox="1"/>
          <p:nvPr/>
        </p:nvSpPr>
        <p:spPr>
          <a:xfrm>
            <a:off x="566928" y="173736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275" name="Google Shape;275;p18"/>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276" name="Google Shape;276;p18"/>
          <p:cNvSpPr txBox="1"/>
          <p:nvPr/>
        </p:nvSpPr>
        <p:spPr>
          <a:xfrm>
            <a:off x="566928" y="26974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277" name="Google Shape;277;p18"/>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8"/>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279" name="Google Shape;279;p18"/>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280" name="Google Shape;280;p18"/>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8"/>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8"/>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8"/>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8"/>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8"/>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9"/>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02</a:t>
            </a:r>
            <a:endParaRPr b="0" i="0" sz="800" u="none" cap="none" strike="noStrike">
              <a:solidFill>
                <a:schemeClr val="dk1"/>
              </a:solidFill>
              <a:latin typeface="Calibri"/>
              <a:ea typeface="Calibri"/>
              <a:cs typeface="Calibri"/>
              <a:sym typeface="Calibri"/>
            </a:endParaRPr>
          </a:p>
        </p:txBody>
      </p:sp>
      <p:sp>
        <p:nvSpPr>
          <p:cNvPr id="293" name="Google Shape;293;p19"/>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Callback Handling</a:t>
            </a:r>
            <a:endParaRPr b="0" i="0" sz="2800" u="none" cap="none" strike="noStrike">
              <a:solidFill>
                <a:schemeClr val="dk1"/>
              </a:solidFill>
              <a:latin typeface="Calibri"/>
              <a:ea typeface="Calibri"/>
              <a:cs typeface="Calibri"/>
              <a:sym typeface="Calibri"/>
            </a:endParaRPr>
          </a:p>
        </p:txBody>
      </p:sp>
      <p:sp>
        <p:nvSpPr>
          <p:cNvPr id="294" name="Google Shape;294;p19"/>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When to call a customer back, how many times to try, and what to do next.</a:t>
            </a:r>
            <a:endParaRPr b="0" i="0" sz="1150" u="none" cap="none" strike="noStrike">
              <a:solidFill>
                <a:schemeClr val="dk1"/>
              </a:solidFill>
              <a:latin typeface="Calibri"/>
              <a:ea typeface="Calibri"/>
              <a:cs typeface="Calibri"/>
              <a:sym typeface="Calibri"/>
            </a:endParaRPr>
          </a:p>
        </p:txBody>
      </p:sp>
      <p:sp>
        <p:nvSpPr>
          <p:cNvPr id="295" name="Google Shape;295;p19"/>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296" name="Google Shape;296;p19"/>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7" name="Google Shape;297;p19"/>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298" name="Google Shape;298;p19"/>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When to call</a:t>
            </a:r>
            <a:endParaRPr b="0" i="0" sz="1050" u="none" cap="none" strike="noStrike">
              <a:solidFill>
                <a:schemeClr val="dk1"/>
              </a:solidFill>
              <a:latin typeface="Calibri"/>
              <a:ea typeface="Calibri"/>
              <a:cs typeface="Calibri"/>
              <a:sym typeface="Calibri"/>
            </a:endParaRPr>
          </a:p>
        </p:txBody>
      </p:sp>
      <p:sp>
        <p:nvSpPr>
          <p:cNvPr id="299" name="Google Shape;299;p19"/>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00" name="Google Shape;300;p19"/>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301" name="Google Shape;301;p19"/>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call steps</a:t>
            </a:r>
            <a:endParaRPr b="0" i="0" sz="1050" u="none" cap="none" strike="noStrike">
              <a:solidFill>
                <a:schemeClr val="dk1"/>
              </a:solidFill>
              <a:latin typeface="Calibri"/>
              <a:ea typeface="Calibri"/>
              <a:cs typeface="Calibri"/>
              <a:sym typeface="Calibri"/>
            </a:endParaRPr>
          </a:p>
        </p:txBody>
      </p:sp>
      <p:sp>
        <p:nvSpPr>
          <p:cNvPr id="302" name="Google Shape;302;p19"/>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03" name="Google Shape;303;p19"/>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304" name="Google Shape;304;p19"/>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Answered, missed or voicemail</a:t>
            </a:r>
            <a:endParaRPr b="0" i="0" sz="1050" u="none" cap="none" strike="noStrike">
              <a:solidFill>
                <a:schemeClr val="dk1"/>
              </a:solidFill>
              <a:latin typeface="Calibri"/>
              <a:ea typeface="Calibri"/>
              <a:cs typeface="Calibri"/>
              <a:sym typeface="Calibri"/>
            </a:endParaRPr>
          </a:p>
        </p:txBody>
      </p:sp>
      <p:sp>
        <p:nvSpPr>
          <p:cNvPr id="305" name="Google Shape;305;p19"/>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06" name="Google Shape;306;p19"/>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307" name="Google Shape;307;p19"/>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Keeping callbacks from slipping</a:t>
            </a:r>
            <a:endParaRPr b="0" i="0" sz="1050" u="none" cap="none" strike="noStrike">
              <a:solidFill>
                <a:schemeClr val="dk1"/>
              </a:solidFill>
              <a:latin typeface="Calibri"/>
              <a:ea typeface="Calibri"/>
              <a:cs typeface="Calibri"/>
              <a:sym typeface="Calibri"/>
            </a:endParaRPr>
          </a:p>
        </p:txBody>
      </p:sp>
      <p:sp>
        <p:nvSpPr>
          <p:cNvPr id="308" name="Google Shape;308;p19"/>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9"/>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30.png" id="310" name="Google Shape;310;p19"/>
          <p:cNvPicPr preferRelativeResize="0"/>
          <p:nvPr/>
        </p:nvPicPr>
        <p:blipFill rotWithShape="1">
          <a:blip r:embed="rId4">
            <a:alphaModFix/>
          </a:blip>
          <a:srcRect b="0" l="0" r="0" t="0"/>
          <a:stretch/>
        </p:blipFill>
        <p:spPr>
          <a:xfrm>
            <a:off x="5577187" y="1517904"/>
            <a:ext cx="2854234" cy="2103120"/>
          </a:xfrm>
          <a:prstGeom prst="rect">
            <a:avLst/>
          </a:prstGeom>
          <a:noFill/>
          <a:ln>
            <a:noFill/>
          </a:ln>
        </p:spPr>
      </p:pic>
      <p:sp>
        <p:nvSpPr>
          <p:cNvPr id="311" name="Google Shape;311;p19"/>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9"/>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19"/>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9"/>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9"/>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19"/>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CALLBACK HANDLING</a:t>
            </a:r>
            <a:endParaRPr b="0" i="0" sz="800" u="none" cap="none" strike="noStrike">
              <a:solidFill>
                <a:schemeClr val="dk1"/>
              </a:solidFill>
              <a:latin typeface="Calibri"/>
              <a:ea typeface="Calibri"/>
              <a:cs typeface="Calibri"/>
              <a:sym typeface="Calibri"/>
            </a:endParaRPr>
          </a:p>
        </p:txBody>
      </p:sp>
      <p:sp>
        <p:nvSpPr>
          <p:cNvPr id="324" name="Google Shape;324;p2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Asked for a call? Call them.</a:t>
            </a:r>
            <a:endParaRPr b="0" i="0" sz="2400" u="none" cap="none" strike="noStrike">
              <a:solidFill>
                <a:schemeClr val="dk1"/>
              </a:solidFill>
              <a:latin typeface="Calibri"/>
              <a:ea typeface="Calibri"/>
              <a:cs typeface="Calibri"/>
              <a:sym typeface="Calibri"/>
            </a:endParaRPr>
          </a:p>
        </p:txBody>
      </p:sp>
      <p:sp>
        <p:nvSpPr>
          <p:cNvPr id="325" name="Google Shape;325;p2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We don't take inbound calls, but we call out when a customer asks, or when something needs an answer now.</a:t>
            </a:r>
            <a:endParaRPr b="0" i="0" sz="1200" u="none" cap="none" strike="noStrike">
              <a:solidFill>
                <a:schemeClr val="dk1"/>
              </a:solidFill>
              <a:latin typeface="Calibri"/>
              <a:ea typeface="Calibri"/>
              <a:cs typeface="Calibri"/>
              <a:sym typeface="Calibri"/>
            </a:endParaRPr>
          </a:p>
        </p:txBody>
      </p:sp>
      <p:sp>
        <p:nvSpPr>
          <p:cNvPr id="326" name="Google Shape;326;p20"/>
          <p:cNvSpPr/>
          <p:nvPr/>
        </p:nvSpPr>
        <p:spPr>
          <a:xfrm>
            <a:off x="411480" y="1371600"/>
            <a:ext cx="8321040" cy="1005840"/>
          </a:xfrm>
          <a:prstGeom prst="roundRect">
            <a:avLst>
              <a:gd fmla="val 7273"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20"/>
          <p:cNvSpPr txBox="1"/>
          <p:nvPr/>
        </p:nvSpPr>
        <p:spPr>
          <a:xfrm>
            <a:off x="685800" y="1490472"/>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AGENT DO</a:t>
            </a:r>
            <a:endParaRPr b="0" i="0" sz="800" u="none" cap="none" strike="noStrike">
              <a:solidFill>
                <a:schemeClr val="dk1"/>
              </a:solidFill>
              <a:latin typeface="Calibri"/>
              <a:ea typeface="Calibri"/>
              <a:cs typeface="Calibri"/>
              <a:sym typeface="Calibri"/>
            </a:endParaRPr>
          </a:p>
        </p:txBody>
      </p:sp>
      <p:sp>
        <p:nvSpPr>
          <p:cNvPr id="328" name="Google Shape;328;p20"/>
          <p:cNvSpPr txBox="1"/>
          <p:nvPr/>
        </p:nvSpPr>
        <p:spPr>
          <a:xfrm>
            <a:off x="685800" y="1719072"/>
            <a:ext cx="786384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 sz="1400" u="none" cap="none" strike="noStrike">
                <a:solidFill>
                  <a:srgbClr val="FFFFFF"/>
                </a:solidFill>
                <a:latin typeface="Play"/>
                <a:ea typeface="Play"/>
                <a:cs typeface="Play"/>
                <a:sym typeface="Play"/>
              </a:rPr>
              <a:t>Callback request between 8 AM and 8 PM (customer's local time)? Call right away. The request is enough.</a:t>
            </a:r>
            <a:endParaRPr b="0" i="0" sz="1400" u="none" cap="none" strike="noStrike">
              <a:solidFill>
                <a:schemeClr val="dk1"/>
              </a:solidFill>
              <a:latin typeface="Calibri"/>
              <a:ea typeface="Calibri"/>
              <a:cs typeface="Calibri"/>
              <a:sym typeface="Calibri"/>
            </a:endParaRPr>
          </a:p>
        </p:txBody>
      </p:sp>
      <p:sp>
        <p:nvSpPr>
          <p:cNvPr id="329" name="Google Shape;329;p20"/>
          <p:cNvSpPr/>
          <p:nvPr/>
        </p:nvSpPr>
        <p:spPr>
          <a:xfrm>
            <a:off x="411480" y="2560320"/>
            <a:ext cx="4091940" cy="1508760"/>
          </a:xfrm>
          <a:prstGeom prst="roundRect">
            <a:avLst>
              <a:gd fmla="val 484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20"/>
          <p:cNvSpPr/>
          <p:nvPr/>
        </p:nvSpPr>
        <p:spPr>
          <a:xfrm>
            <a:off x="576072" y="2724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1" name="Google Shape;331;p20"/>
          <p:cNvPicPr preferRelativeResize="0"/>
          <p:nvPr/>
        </p:nvPicPr>
        <p:blipFill rotWithShape="1">
          <a:blip r:embed="rId3">
            <a:alphaModFix/>
          </a:blip>
          <a:srcRect b="0" l="0" r="0" t="0"/>
          <a:stretch/>
        </p:blipFill>
        <p:spPr>
          <a:xfrm>
            <a:off x="655076" y="2803916"/>
            <a:ext cx="171176" cy="171176"/>
          </a:xfrm>
          <a:prstGeom prst="rect">
            <a:avLst/>
          </a:prstGeom>
          <a:noFill/>
          <a:ln>
            <a:noFill/>
          </a:ln>
        </p:spPr>
      </p:pic>
      <p:sp>
        <p:nvSpPr>
          <p:cNvPr id="332" name="Google Shape;332;p20"/>
          <p:cNvSpPr txBox="1"/>
          <p:nvPr/>
        </p:nvSpPr>
        <p:spPr>
          <a:xfrm>
            <a:off x="576072" y="316382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Respect their choice</a:t>
            </a:r>
            <a:endParaRPr b="0" i="0" sz="1200" u="none" cap="none" strike="noStrike">
              <a:solidFill>
                <a:schemeClr val="dk1"/>
              </a:solidFill>
              <a:latin typeface="Calibri"/>
              <a:ea typeface="Calibri"/>
              <a:cs typeface="Calibri"/>
              <a:sym typeface="Calibri"/>
            </a:endParaRPr>
          </a:p>
        </p:txBody>
      </p:sp>
      <p:sp>
        <p:nvSpPr>
          <p:cNvPr id="333" name="Google Shape;333;p20"/>
          <p:cNvSpPr txBox="1"/>
          <p:nvPr/>
        </p:nvSpPr>
        <p:spPr>
          <a:xfrm>
            <a:off x="576072" y="3456432"/>
            <a:ext cx="3762756" cy="5212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They asked for a call, so they get one, however minor the ticket looks.</a:t>
            </a:r>
            <a:endParaRPr b="0" i="0" sz="950" u="none" cap="none" strike="noStrike">
              <a:solidFill>
                <a:schemeClr val="dk1"/>
              </a:solidFill>
              <a:latin typeface="Calibri"/>
              <a:ea typeface="Calibri"/>
              <a:cs typeface="Calibri"/>
              <a:sym typeface="Calibri"/>
            </a:endParaRPr>
          </a:p>
        </p:txBody>
      </p:sp>
      <p:sp>
        <p:nvSpPr>
          <p:cNvPr id="334" name="Google Shape;334;p20"/>
          <p:cNvSpPr/>
          <p:nvPr/>
        </p:nvSpPr>
        <p:spPr>
          <a:xfrm>
            <a:off x="4640580" y="2560320"/>
            <a:ext cx="4091940" cy="1508760"/>
          </a:xfrm>
          <a:prstGeom prst="roundRect">
            <a:avLst>
              <a:gd fmla="val 484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20"/>
          <p:cNvSpPr/>
          <p:nvPr/>
        </p:nvSpPr>
        <p:spPr>
          <a:xfrm>
            <a:off x="4805172" y="27249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6" name="Google Shape;336;p20"/>
          <p:cNvPicPr preferRelativeResize="0"/>
          <p:nvPr/>
        </p:nvPicPr>
        <p:blipFill rotWithShape="1">
          <a:blip r:embed="rId4">
            <a:alphaModFix/>
          </a:blip>
          <a:srcRect b="0" l="0" r="0" t="0"/>
          <a:stretch/>
        </p:blipFill>
        <p:spPr>
          <a:xfrm>
            <a:off x="4884176" y="2803916"/>
            <a:ext cx="171176" cy="171176"/>
          </a:xfrm>
          <a:prstGeom prst="rect">
            <a:avLst/>
          </a:prstGeom>
          <a:noFill/>
          <a:ln>
            <a:noFill/>
          </a:ln>
        </p:spPr>
      </p:pic>
      <p:sp>
        <p:nvSpPr>
          <p:cNvPr id="337" name="Google Shape;337;p20"/>
          <p:cNvSpPr txBox="1"/>
          <p:nvPr/>
        </p:nvSpPr>
        <p:spPr>
          <a:xfrm>
            <a:off x="4805172" y="316382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Never lose a callback</a:t>
            </a:r>
            <a:endParaRPr b="0" i="0" sz="1200" u="none" cap="none" strike="noStrike">
              <a:solidFill>
                <a:schemeClr val="dk1"/>
              </a:solidFill>
              <a:latin typeface="Calibri"/>
              <a:ea typeface="Calibri"/>
              <a:cs typeface="Calibri"/>
              <a:sym typeface="Calibri"/>
            </a:endParaRPr>
          </a:p>
        </p:txBody>
      </p:sp>
      <p:sp>
        <p:nvSpPr>
          <p:cNvPr id="338" name="Google Shape;338;p20"/>
          <p:cNvSpPr txBox="1"/>
          <p:nvPr/>
        </p:nvSpPr>
        <p:spPr>
          <a:xfrm>
            <a:off x="4805172" y="3456432"/>
            <a:ext cx="3762756" cy="5212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Reminders and the tracker keep promises from slipping between shifts.</a:t>
            </a:r>
            <a:endParaRPr b="0" i="0" sz="950" u="none" cap="none" strike="noStrike">
              <a:solidFill>
                <a:schemeClr val="dk1"/>
              </a:solidFill>
              <a:latin typeface="Calibri"/>
              <a:ea typeface="Calibri"/>
              <a:cs typeface="Calibri"/>
              <a:sym typeface="Calibri"/>
            </a:endParaRPr>
          </a:p>
        </p:txBody>
      </p:sp>
      <p:sp>
        <p:nvSpPr>
          <p:cNvPr id="339" name="Google Shape;339;p2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CALLBACK HANDLING</a:t>
            </a:r>
            <a:endParaRPr b="0" i="0" sz="800" u="none" cap="none" strike="noStrike">
              <a:solidFill>
                <a:schemeClr val="dk1"/>
              </a:solidFill>
              <a:latin typeface="Calibri"/>
              <a:ea typeface="Calibri"/>
              <a:cs typeface="Calibri"/>
              <a:sym typeface="Calibri"/>
            </a:endParaRPr>
          </a:p>
        </p:txBody>
      </p:sp>
      <p:sp>
        <p:nvSpPr>
          <p:cNvPr id="346" name="Google Shape;346;p2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call steps</a:t>
            </a:r>
            <a:endParaRPr b="0" i="0" sz="2400" u="none" cap="none" strike="noStrike">
              <a:solidFill>
                <a:schemeClr val="dk1"/>
              </a:solidFill>
              <a:latin typeface="Calibri"/>
              <a:ea typeface="Calibri"/>
              <a:cs typeface="Calibri"/>
              <a:sym typeface="Calibri"/>
            </a:endParaRPr>
          </a:p>
        </p:txBody>
      </p:sp>
      <p:sp>
        <p:nvSpPr>
          <p:cNvPr id="347" name="Google Shape;347;p21"/>
          <p:cNvSpPr/>
          <p:nvPr/>
        </p:nvSpPr>
        <p:spPr>
          <a:xfrm>
            <a:off x="411480" y="1280160"/>
            <a:ext cx="2468880" cy="2194560"/>
          </a:xfrm>
          <a:prstGeom prst="roundRect">
            <a:avLst>
              <a:gd fmla="val 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21"/>
          <p:cNvSpPr/>
          <p:nvPr/>
        </p:nvSpPr>
        <p:spPr>
          <a:xfrm>
            <a:off x="1371600" y="1463040"/>
            <a:ext cx="548640" cy="54864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49" name="Google Shape;349;p21"/>
          <p:cNvPicPr preferRelativeResize="0"/>
          <p:nvPr/>
        </p:nvPicPr>
        <p:blipFill rotWithShape="1">
          <a:blip r:embed="rId3">
            <a:alphaModFix/>
          </a:blip>
          <a:srcRect b="0" l="0" r="0" t="0"/>
          <a:stretch/>
        </p:blipFill>
        <p:spPr>
          <a:xfrm>
            <a:off x="1503274" y="1594714"/>
            <a:ext cx="285293" cy="285293"/>
          </a:xfrm>
          <a:prstGeom prst="rect">
            <a:avLst/>
          </a:prstGeom>
          <a:noFill/>
          <a:ln>
            <a:noFill/>
          </a:ln>
        </p:spPr>
      </p:pic>
      <p:sp>
        <p:nvSpPr>
          <p:cNvPr id="350" name="Google Shape;350;p21"/>
          <p:cNvSpPr txBox="1"/>
          <p:nvPr/>
        </p:nvSpPr>
        <p:spPr>
          <a:xfrm>
            <a:off x="411480" y="2121408"/>
            <a:ext cx="2468880"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STEP 1</a:t>
            </a:r>
            <a:endParaRPr b="0" i="0" sz="800" u="none" cap="none" strike="noStrike">
              <a:solidFill>
                <a:schemeClr val="dk1"/>
              </a:solidFill>
              <a:latin typeface="Calibri"/>
              <a:ea typeface="Calibri"/>
              <a:cs typeface="Calibri"/>
              <a:sym typeface="Calibri"/>
            </a:endParaRPr>
          </a:p>
        </p:txBody>
      </p:sp>
      <p:sp>
        <p:nvSpPr>
          <p:cNvPr id="351" name="Google Shape;351;p21"/>
          <p:cNvSpPr txBox="1"/>
          <p:nvPr/>
        </p:nvSpPr>
        <p:spPr>
          <a:xfrm>
            <a:off x="548640" y="2331720"/>
            <a:ext cx="219456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D1D1F"/>
              </a:buClr>
              <a:buSzPts val="1250"/>
              <a:buFont typeface="Play"/>
              <a:buNone/>
            </a:pPr>
            <a:r>
              <a:rPr b="1" i="0" lang="en" sz="1250" u="none" cap="none" strike="noStrike">
                <a:solidFill>
                  <a:srgbClr val="1D1D1F"/>
                </a:solidFill>
                <a:latin typeface="Play"/>
                <a:ea typeface="Play"/>
                <a:cs typeface="Play"/>
                <a:sym typeface="Play"/>
              </a:rPr>
              <a:t>Callback requested?</a:t>
            </a:r>
            <a:endParaRPr b="0" i="0" sz="1250" u="none" cap="none" strike="noStrike">
              <a:solidFill>
                <a:schemeClr val="dk1"/>
              </a:solidFill>
              <a:latin typeface="Calibri"/>
              <a:ea typeface="Calibri"/>
              <a:cs typeface="Calibri"/>
              <a:sym typeface="Calibri"/>
            </a:endParaRPr>
          </a:p>
        </p:txBody>
      </p:sp>
      <p:sp>
        <p:nvSpPr>
          <p:cNvPr id="352" name="Google Shape;352;p21"/>
          <p:cNvSpPr txBox="1"/>
          <p:nvPr/>
        </p:nvSpPr>
        <p:spPr>
          <a:xfrm>
            <a:off x="548640" y="2697480"/>
            <a:ext cx="219456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No: handle the ticket as usual</a:t>
            </a:r>
            <a:endParaRPr b="0" i="0" sz="1000" u="none" cap="none" strike="noStrike">
              <a:solidFill>
                <a:srgbClr val="6E6E73"/>
              </a:solidFill>
              <a:latin typeface="Arial"/>
              <a:ea typeface="Arial"/>
              <a:cs typeface="Arial"/>
              <a:sym typeface="Arial"/>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Yes: Proceed to Step 2 </a:t>
            </a:r>
            <a:endParaRPr b="0" i="0" sz="1000" u="none" cap="none" strike="noStrike">
              <a:solidFill>
                <a:srgbClr val="6E6E73"/>
              </a:solidFill>
              <a:latin typeface="Arial"/>
              <a:ea typeface="Arial"/>
              <a:cs typeface="Arial"/>
              <a:sym typeface="Arial"/>
            </a:endParaRPr>
          </a:p>
        </p:txBody>
      </p:sp>
      <p:pic>
        <p:nvPicPr>
          <p:cNvPr descr="preencoded.png" id="353" name="Google Shape;353;p21"/>
          <p:cNvPicPr preferRelativeResize="0"/>
          <p:nvPr/>
        </p:nvPicPr>
        <p:blipFill rotWithShape="1">
          <a:blip r:embed="rId4">
            <a:alphaModFix/>
          </a:blip>
          <a:srcRect b="0" l="0" r="0" t="0"/>
          <a:stretch/>
        </p:blipFill>
        <p:spPr>
          <a:xfrm>
            <a:off x="2999232" y="2240280"/>
            <a:ext cx="219456" cy="219456"/>
          </a:xfrm>
          <a:prstGeom prst="rect">
            <a:avLst/>
          </a:prstGeom>
          <a:noFill/>
          <a:ln>
            <a:noFill/>
          </a:ln>
        </p:spPr>
      </p:pic>
      <p:sp>
        <p:nvSpPr>
          <p:cNvPr id="354" name="Google Shape;354;p21"/>
          <p:cNvSpPr/>
          <p:nvPr/>
        </p:nvSpPr>
        <p:spPr>
          <a:xfrm>
            <a:off x="3337560" y="1280160"/>
            <a:ext cx="2468880" cy="2194560"/>
          </a:xfrm>
          <a:prstGeom prst="roundRect">
            <a:avLst>
              <a:gd fmla="val 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21"/>
          <p:cNvSpPr/>
          <p:nvPr/>
        </p:nvSpPr>
        <p:spPr>
          <a:xfrm>
            <a:off x="4297680" y="1463040"/>
            <a:ext cx="548640" cy="54864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6" name="Google Shape;356;p21"/>
          <p:cNvPicPr preferRelativeResize="0"/>
          <p:nvPr/>
        </p:nvPicPr>
        <p:blipFill rotWithShape="1">
          <a:blip r:embed="rId5">
            <a:alphaModFix/>
          </a:blip>
          <a:srcRect b="0" l="0" r="0" t="0"/>
          <a:stretch/>
        </p:blipFill>
        <p:spPr>
          <a:xfrm>
            <a:off x="4429354" y="1594714"/>
            <a:ext cx="285293" cy="285293"/>
          </a:xfrm>
          <a:prstGeom prst="rect">
            <a:avLst/>
          </a:prstGeom>
          <a:noFill/>
          <a:ln>
            <a:noFill/>
          </a:ln>
        </p:spPr>
      </p:pic>
      <p:sp>
        <p:nvSpPr>
          <p:cNvPr id="357" name="Google Shape;357;p21"/>
          <p:cNvSpPr txBox="1"/>
          <p:nvPr/>
        </p:nvSpPr>
        <p:spPr>
          <a:xfrm>
            <a:off x="3337560" y="2121408"/>
            <a:ext cx="2468880"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STEP 2</a:t>
            </a:r>
            <a:endParaRPr b="0" i="0" sz="800" u="none" cap="none" strike="noStrike">
              <a:solidFill>
                <a:schemeClr val="dk1"/>
              </a:solidFill>
              <a:latin typeface="Calibri"/>
              <a:ea typeface="Calibri"/>
              <a:cs typeface="Calibri"/>
              <a:sym typeface="Calibri"/>
            </a:endParaRPr>
          </a:p>
        </p:txBody>
      </p:sp>
      <p:sp>
        <p:nvSpPr>
          <p:cNvPr id="358" name="Google Shape;358;p21"/>
          <p:cNvSpPr txBox="1"/>
          <p:nvPr/>
        </p:nvSpPr>
        <p:spPr>
          <a:xfrm>
            <a:off x="3474720" y="2331720"/>
            <a:ext cx="219456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D1D1F"/>
              </a:buClr>
              <a:buSzPts val="1250"/>
              <a:buFont typeface="Play"/>
              <a:buNone/>
            </a:pPr>
            <a:r>
              <a:rPr b="1" i="0" lang="en" sz="1250" u="none" cap="none" strike="noStrike">
                <a:solidFill>
                  <a:srgbClr val="1D1D1F"/>
                </a:solidFill>
                <a:latin typeface="Play"/>
                <a:ea typeface="Play"/>
                <a:cs typeface="Play"/>
                <a:sym typeface="Play"/>
              </a:rPr>
              <a:t>8 AM – 8 PM their time?</a:t>
            </a:r>
            <a:endParaRPr b="0" i="0" sz="1250" u="none" cap="none" strike="noStrike">
              <a:solidFill>
                <a:schemeClr val="dk1"/>
              </a:solidFill>
              <a:latin typeface="Calibri"/>
              <a:ea typeface="Calibri"/>
              <a:cs typeface="Calibri"/>
              <a:sym typeface="Calibri"/>
            </a:endParaRPr>
          </a:p>
        </p:txBody>
      </p:sp>
      <p:sp>
        <p:nvSpPr>
          <p:cNvPr id="359" name="Google Shape;359;p21"/>
          <p:cNvSpPr txBox="1"/>
          <p:nvPr/>
        </p:nvSpPr>
        <p:spPr>
          <a:xfrm>
            <a:off x="3474720" y="2697480"/>
            <a:ext cx="219456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No: email, address issue and ask for their availability</a:t>
            </a:r>
            <a:endParaRPr b="0" i="0" sz="1000" u="none" cap="none" strike="noStrike">
              <a:solidFill>
                <a:srgbClr val="6E6E73"/>
              </a:solidFill>
              <a:latin typeface="Arial"/>
              <a:ea typeface="Arial"/>
              <a:cs typeface="Arial"/>
              <a:sym typeface="Arial"/>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Yes: Proceed to Step 3</a:t>
            </a:r>
            <a:endParaRPr b="0" i="0" sz="1000" u="none" cap="none" strike="noStrike">
              <a:solidFill>
                <a:srgbClr val="6E6E73"/>
              </a:solidFill>
              <a:latin typeface="Arial"/>
              <a:ea typeface="Arial"/>
              <a:cs typeface="Arial"/>
              <a:sym typeface="Arial"/>
            </a:endParaRPr>
          </a:p>
        </p:txBody>
      </p:sp>
      <p:pic>
        <p:nvPicPr>
          <p:cNvPr descr="preencoded.png" id="360" name="Google Shape;360;p21"/>
          <p:cNvPicPr preferRelativeResize="0"/>
          <p:nvPr/>
        </p:nvPicPr>
        <p:blipFill rotWithShape="1">
          <a:blip r:embed="rId4">
            <a:alphaModFix/>
          </a:blip>
          <a:srcRect b="0" l="0" r="0" t="0"/>
          <a:stretch/>
        </p:blipFill>
        <p:spPr>
          <a:xfrm>
            <a:off x="5925312" y="2240280"/>
            <a:ext cx="219456" cy="219456"/>
          </a:xfrm>
          <a:prstGeom prst="rect">
            <a:avLst/>
          </a:prstGeom>
          <a:noFill/>
          <a:ln>
            <a:noFill/>
          </a:ln>
        </p:spPr>
      </p:pic>
      <p:sp>
        <p:nvSpPr>
          <p:cNvPr id="361" name="Google Shape;361;p21"/>
          <p:cNvSpPr/>
          <p:nvPr/>
        </p:nvSpPr>
        <p:spPr>
          <a:xfrm>
            <a:off x="6263640" y="1280160"/>
            <a:ext cx="2468880" cy="2194560"/>
          </a:xfrm>
          <a:prstGeom prst="roundRect">
            <a:avLst>
              <a:gd fmla="val 3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1"/>
          <p:cNvSpPr/>
          <p:nvPr/>
        </p:nvSpPr>
        <p:spPr>
          <a:xfrm>
            <a:off x="7223760" y="1463040"/>
            <a:ext cx="548640" cy="54864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3" name="Google Shape;363;p21"/>
          <p:cNvPicPr preferRelativeResize="0"/>
          <p:nvPr/>
        </p:nvPicPr>
        <p:blipFill rotWithShape="1">
          <a:blip r:embed="rId6">
            <a:alphaModFix/>
          </a:blip>
          <a:srcRect b="0" l="0" r="0" t="0"/>
          <a:stretch/>
        </p:blipFill>
        <p:spPr>
          <a:xfrm>
            <a:off x="7355434" y="1594714"/>
            <a:ext cx="285293" cy="285293"/>
          </a:xfrm>
          <a:prstGeom prst="rect">
            <a:avLst/>
          </a:prstGeom>
          <a:noFill/>
          <a:ln>
            <a:noFill/>
          </a:ln>
        </p:spPr>
      </p:pic>
      <p:sp>
        <p:nvSpPr>
          <p:cNvPr id="364" name="Google Shape;364;p21"/>
          <p:cNvSpPr txBox="1"/>
          <p:nvPr/>
        </p:nvSpPr>
        <p:spPr>
          <a:xfrm>
            <a:off x="6263640" y="2121408"/>
            <a:ext cx="2468880" cy="1828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STEP 3</a:t>
            </a:r>
            <a:endParaRPr b="0" i="0" sz="800" u="none" cap="none" strike="noStrike">
              <a:solidFill>
                <a:schemeClr val="dk1"/>
              </a:solidFill>
              <a:latin typeface="Calibri"/>
              <a:ea typeface="Calibri"/>
              <a:cs typeface="Calibri"/>
              <a:sym typeface="Calibri"/>
            </a:endParaRPr>
          </a:p>
        </p:txBody>
      </p:sp>
      <p:sp>
        <p:nvSpPr>
          <p:cNvPr id="365" name="Google Shape;365;p21"/>
          <p:cNvSpPr txBox="1"/>
          <p:nvPr/>
        </p:nvSpPr>
        <p:spPr>
          <a:xfrm>
            <a:off x="6400800" y="2331720"/>
            <a:ext cx="2194560"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D1D1F"/>
              </a:buClr>
              <a:buSzPts val="1250"/>
              <a:buFont typeface="Play"/>
              <a:buNone/>
            </a:pPr>
            <a:r>
              <a:rPr b="1" i="0" lang="en" sz="1250" u="none" cap="none" strike="noStrike">
                <a:solidFill>
                  <a:srgbClr val="1D1D1F"/>
                </a:solidFill>
                <a:latin typeface="Play"/>
                <a:ea typeface="Play"/>
                <a:cs typeface="Play"/>
                <a:sym typeface="Play"/>
              </a:rPr>
              <a:t>Call up to 3 times</a:t>
            </a:r>
            <a:endParaRPr b="0" i="0" sz="1250" u="none" cap="none" strike="noStrike">
              <a:solidFill>
                <a:schemeClr val="dk1"/>
              </a:solidFill>
              <a:latin typeface="Calibri"/>
              <a:ea typeface="Calibri"/>
              <a:cs typeface="Calibri"/>
              <a:sym typeface="Calibri"/>
            </a:endParaRPr>
          </a:p>
        </p:txBody>
      </p:sp>
      <p:sp>
        <p:nvSpPr>
          <p:cNvPr id="366" name="Google Shape;366;p21"/>
          <p:cNvSpPr txBox="1"/>
          <p:nvPr/>
        </p:nvSpPr>
        <p:spPr>
          <a:xfrm>
            <a:off x="6400800" y="2697480"/>
            <a:ext cx="2194560" cy="6400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Primary CRM, then Google Voice, then Secondary CRM</a:t>
            </a:r>
            <a:endParaRPr b="0" i="0" sz="1000" u="none" cap="none" strike="noStrike">
              <a:solidFill>
                <a:schemeClr val="dk1"/>
              </a:solidFill>
              <a:latin typeface="Calibri"/>
              <a:ea typeface="Calibri"/>
              <a:cs typeface="Calibri"/>
              <a:sym typeface="Calibri"/>
            </a:endParaRPr>
          </a:p>
        </p:txBody>
      </p:sp>
      <p:sp>
        <p:nvSpPr>
          <p:cNvPr id="367" name="Google Shape;367;p21"/>
          <p:cNvSpPr/>
          <p:nvPr/>
        </p:nvSpPr>
        <p:spPr>
          <a:xfrm>
            <a:off x="411480" y="37033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8" name="Google Shape;368;p21"/>
          <p:cNvPicPr preferRelativeResize="0"/>
          <p:nvPr/>
        </p:nvPicPr>
        <p:blipFill rotWithShape="1">
          <a:blip r:embed="rId7">
            <a:alphaModFix/>
          </a:blip>
          <a:srcRect b="0" l="0" r="0" t="0"/>
          <a:stretch/>
        </p:blipFill>
        <p:spPr>
          <a:xfrm>
            <a:off x="566928" y="3813048"/>
            <a:ext cx="164592" cy="164592"/>
          </a:xfrm>
          <a:prstGeom prst="rect">
            <a:avLst/>
          </a:prstGeom>
          <a:noFill/>
          <a:ln>
            <a:noFill/>
          </a:ln>
        </p:spPr>
      </p:pic>
      <p:sp>
        <p:nvSpPr>
          <p:cNvPr id="369" name="Google Shape;369;p21"/>
          <p:cNvSpPr txBox="1"/>
          <p:nvPr/>
        </p:nvSpPr>
        <p:spPr>
          <a:xfrm>
            <a:off x="822960" y="38039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Call order:  </a:t>
            </a:r>
            <a:r>
              <a:rPr b="0" i="0" lang="en" sz="1000" u="none" cap="none" strike="noStrike">
                <a:solidFill>
                  <a:srgbClr val="1D1D1F"/>
                </a:solidFill>
                <a:latin typeface="Arial"/>
                <a:ea typeface="Arial"/>
                <a:cs typeface="Arial"/>
                <a:sym typeface="Arial"/>
              </a:rPr>
              <a:t>Primary CRM, then Google Voice, then Secondary CRM.</a:t>
            </a:r>
            <a:endParaRPr b="0" i="0" sz="1000" u="none" cap="none" strike="noStrike">
              <a:solidFill>
                <a:schemeClr val="dk1"/>
              </a:solidFill>
              <a:latin typeface="Calibri"/>
              <a:ea typeface="Calibri"/>
              <a:cs typeface="Calibri"/>
              <a:sym typeface="Calibri"/>
            </a:endParaRPr>
          </a:p>
        </p:txBody>
      </p:sp>
      <p:sp>
        <p:nvSpPr>
          <p:cNvPr id="370" name="Google Shape;370;p2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2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CALLBACK HANDLING</a:t>
            </a:r>
            <a:endParaRPr b="0" i="0" sz="800" u="none" cap="none" strike="noStrike">
              <a:solidFill>
                <a:schemeClr val="dk1"/>
              </a:solidFill>
              <a:latin typeface="Calibri"/>
              <a:ea typeface="Calibri"/>
              <a:cs typeface="Calibri"/>
              <a:sym typeface="Calibri"/>
            </a:endParaRPr>
          </a:p>
        </p:txBody>
      </p:sp>
      <p:sp>
        <p:nvSpPr>
          <p:cNvPr id="377" name="Google Shape;377;p2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Where to call from</a:t>
            </a:r>
            <a:endParaRPr b="0" i="0" sz="2400" u="none" cap="none" strike="noStrike">
              <a:solidFill>
                <a:schemeClr val="dk1"/>
              </a:solidFill>
              <a:latin typeface="Calibri"/>
              <a:ea typeface="Calibri"/>
              <a:cs typeface="Calibri"/>
              <a:sym typeface="Calibri"/>
            </a:endParaRPr>
          </a:p>
        </p:txBody>
      </p:sp>
      <p:sp>
        <p:nvSpPr>
          <p:cNvPr id="378" name="Google Shape;378;p2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On the customer's page in the New C CRM.</a:t>
            </a:r>
            <a:endParaRPr b="0" i="0" sz="1200" u="none" cap="none" strike="noStrike">
              <a:solidFill>
                <a:schemeClr val="dk1"/>
              </a:solidFill>
              <a:latin typeface="Calibri"/>
              <a:ea typeface="Calibri"/>
              <a:cs typeface="Calibri"/>
              <a:sym typeface="Calibri"/>
            </a:endParaRPr>
          </a:p>
        </p:txBody>
      </p:sp>
      <p:sp>
        <p:nvSpPr>
          <p:cNvPr id="379" name="Google Shape;379;p22"/>
          <p:cNvSpPr/>
          <p:nvPr/>
        </p:nvSpPr>
        <p:spPr>
          <a:xfrm>
            <a:off x="411480" y="1234440"/>
            <a:ext cx="3977640" cy="1143000"/>
          </a:xfrm>
          <a:prstGeom prst="roundRect">
            <a:avLst>
              <a:gd fmla="val 64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callback_crm_half.png" id="380" name="Google Shape;380;p22"/>
          <p:cNvPicPr preferRelativeResize="0"/>
          <p:nvPr/>
        </p:nvPicPr>
        <p:blipFill rotWithShape="1">
          <a:blip r:embed="rId3">
            <a:alphaModFix/>
          </a:blip>
          <a:srcRect b="0" l="0" r="0" t="0"/>
          <a:stretch/>
        </p:blipFill>
        <p:spPr>
          <a:xfrm>
            <a:off x="484632" y="1335645"/>
            <a:ext cx="3831336" cy="940590"/>
          </a:xfrm>
          <a:prstGeom prst="rect">
            <a:avLst/>
          </a:prstGeom>
          <a:noFill/>
          <a:ln>
            <a:noFill/>
          </a:ln>
        </p:spPr>
      </p:pic>
      <p:sp>
        <p:nvSpPr>
          <p:cNvPr id="381" name="Google Shape;381;p22"/>
          <p:cNvSpPr/>
          <p:nvPr/>
        </p:nvSpPr>
        <p:spPr>
          <a:xfrm>
            <a:off x="3870755" y="1366998"/>
            <a:ext cx="388777" cy="156765"/>
          </a:xfrm>
          <a:prstGeom prst="roundRect">
            <a:avLst>
              <a:gd fmla="val 17499"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22"/>
          <p:cNvSpPr/>
          <p:nvPr/>
        </p:nvSpPr>
        <p:spPr>
          <a:xfrm>
            <a:off x="3770171" y="1266414"/>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22"/>
          <p:cNvSpPr txBox="1"/>
          <p:nvPr/>
        </p:nvSpPr>
        <p:spPr>
          <a:xfrm>
            <a:off x="3770171" y="1266414"/>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
        <p:nvSpPr>
          <p:cNvPr id="384" name="Google Shape;384;p22"/>
          <p:cNvSpPr/>
          <p:nvPr/>
        </p:nvSpPr>
        <p:spPr>
          <a:xfrm>
            <a:off x="3469437" y="1366998"/>
            <a:ext cx="395048" cy="156765"/>
          </a:xfrm>
          <a:prstGeom prst="roundRect">
            <a:avLst>
              <a:gd fmla="val 17499"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22"/>
          <p:cNvSpPr/>
          <p:nvPr/>
        </p:nvSpPr>
        <p:spPr>
          <a:xfrm>
            <a:off x="3368853" y="1266414"/>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22"/>
          <p:cNvSpPr txBox="1"/>
          <p:nvPr/>
        </p:nvSpPr>
        <p:spPr>
          <a:xfrm>
            <a:off x="3368853" y="1266414"/>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2</a:t>
            </a:r>
            <a:endParaRPr b="0" i="0" sz="800" u="none" cap="none" strike="noStrike">
              <a:solidFill>
                <a:schemeClr val="dk1"/>
              </a:solidFill>
              <a:latin typeface="Calibri"/>
              <a:ea typeface="Calibri"/>
              <a:cs typeface="Calibri"/>
              <a:sym typeface="Calibri"/>
            </a:endParaRPr>
          </a:p>
        </p:txBody>
      </p:sp>
      <p:sp>
        <p:nvSpPr>
          <p:cNvPr id="387" name="Google Shape;387;p22"/>
          <p:cNvSpPr/>
          <p:nvPr/>
        </p:nvSpPr>
        <p:spPr>
          <a:xfrm>
            <a:off x="2484953" y="1937623"/>
            <a:ext cx="733660" cy="112871"/>
          </a:xfrm>
          <a:prstGeom prst="roundRect">
            <a:avLst>
              <a:gd fmla="val 24304"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22"/>
          <p:cNvSpPr/>
          <p:nvPr/>
        </p:nvSpPr>
        <p:spPr>
          <a:xfrm>
            <a:off x="2384369" y="1837039"/>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22"/>
          <p:cNvSpPr txBox="1"/>
          <p:nvPr/>
        </p:nvSpPr>
        <p:spPr>
          <a:xfrm>
            <a:off x="2384369" y="1837039"/>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a:t>
            </a:r>
            <a:endParaRPr b="0" i="0" sz="800" u="none" cap="none" strike="noStrike">
              <a:solidFill>
                <a:schemeClr val="dk1"/>
              </a:solidFill>
              <a:latin typeface="Calibri"/>
              <a:ea typeface="Calibri"/>
              <a:cs typeface="Calibri"/>
              <a:sym typeface="Calibri"/>
            </a:endParaRPr>
          </a:p>
        </p:txBody>
      </p:sp>
      <p:sp>
        <p:nvSpPr>
          <p:cNvPr id="390" name="Google Shape;390;p22"/>
          <p:cNvSpPr/>
          <p:nvPr/>
        </p:nvSpPr>
        <p:spPr>
          <a:xfrm>
            <a:off x="411480" y="2514600"/>
            <a:ext cx="397764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22"/>
          <p:cNvSpPr/>
          <p:nvPr/>
        </p:nvSpPr>
        <p:spPr>
          <a:xfrm>
            <a:off x="539496" y="261518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22"/>
          <p:cNvSpPr txBox="1"/>
          <p:nvPr/>
        </p:nvSpPr>
        <p:spPr>
          <a:xfrm>
            <a:off x="539496" y="261518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393" name="Google Shape;393;p22"/>
          <p:cNvSpPr txBox="1"/>
          <p:nvPr/>
        </p:nvSpPr>
        <p:spPr>
          <a:xfrm>
            <a:off x="914400" y="2560320"/>
            <a:ext cx="3383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Callbox: primary number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Call 1st, from the primary number</a:t>
            </a:r>
            <a:endParaRPr b="0" i="0" sz="1050" u="none" cap="none" strike="noStrike">
              <a:solidFill>
                <a:schemeClr val="dk1"/>
              </a:solidFill>
              <a:latin typeface="Calibri"/>
              <a:ea typeface="Calibri"/>
              <a:cs typeface="Calibri"/>
              <a:sym typeface="Calibri"/>
            </a:endParaRPr>
          </a:p>
        </p:txBody>
      </p:sp>
      <p:sp>
        <p:nvSpPr>
          <p:cNvPr id="394" name="Google Shape;394;p22"/>
          <p:cNvSpPr/>
          <p:nvPr/>
        </p:nvSpPr>
        <p:spPr>
          <a:xfrm>
            <a:off x="411480" y="3063240"/>
            <a:ext cx="397764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5" name="Google Shape;395;p22"/>
          <p:cNvSpPr/>
          <p:nvPr/>
        </p:nvSpPr>
        <p:spPr>
          <a:xfrm>
            <a:off x="539496" y="316382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22"/>
          <p:cNvSpPr txBox="1"/>
          <p:nvPr/>
        </p:nvSpPr>
        <p:spPr>
          <a:xfrm>
            <a:off x="539496" y="316382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397" name="Google Shape;397;p22"/>
          <p:cNvSpPr txBox="1"/>
          <p:nvPr/>
        </p:nvSpPr>
        <p:spPr>
          <a:xfrm>
            <a:off x="914400" y="3108960"/>
            <a:ext cx="3383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GVoice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Call 2nd, with Google Voice</a:t>
            </a:r>
            <a:endParaRPr b="0" i="0" sz="1050" u="none" cap="none" strike="noStrike">
              <a:solidFill>
                <a:schemeClr val="dk1"/>
              </a:solidFill>
              <a:latin typeface="Calibri"/>
              <a:ea typeface="Calibri"/>
              <a:cs typeface="Calibri"/>
              <a:sym typeface="Calibri"/>
            </a:endParaRPr>
          </a:p>
        </p:txBody>
      </p:sp>
      <p:sp>
        <p:nvSpPr>
          <p:cNvPr id="398" name="Google Shape;398;p22"/>
          <p:cNvSpPr/>
          <p:nvPr/>
        </p:nvSpPr>
        <p:spPr>
          <a:xfrm>
            <a:off x="411480" y="3611880"/>
            <a:ext cx="397764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22"/>
          <p:cNvSpPr/>
          <p:nvPr/>
        </p:nvSpPr>
        <p:spPr>
          <a:xfrm>
            <a:off x="539496" y="371246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2"/>
          <p:cNvSpPr txBox="1"/>
          <p:nvPr/>
        </p:nvSpPr>
        <p:spPr>
          <a:xfrm>
            <a:off x="539496" y="371246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401" name="Google Shape;401;p22"/>
          <p:cNvSpPr txBox="1"/>
          <p:nvPr/>
        </p:nvSpPr>
        <p:spPr>
          <a:xfrm>
            <a:off x="914400" y="3657600"/>
            <a:ext cx="33832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Callbox: secondary number</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Call 3rd, same Callbox button, Secondary Phone</a:t>
            </a:r>
            <a:endParaRPr b="0" i="0" sz="1050" u="none" cap="none" strike="noStrike">
              <a:solidFill>
                <a:schemeClr val="dk1"/>
              </a:solidFill>
              <a:latin typeface="Calibri"/>
              <a:ea typeface="Calibri"/>
              <a:cs typeface="Calibri"/>
              <a:sym typeface="Calibri"/>
            </a:endParaRPr>
          </a:p>
        </p:txBody>
      </p:sp>
      <p:sp>
        <p:nvSpPr>
          <p:cNvPr id="402" name="Google Shape;402;p22"/>
          <p:cNvSpPr/>
          <p:nvPr/>
        </p:nvSpPr>
        <p:spPr>
          <a:xfrm>
            <a:off x="411480" y="4160520"/>
            <a:ext cx="3977640" cy="548640"/>
          </a:xfrm>
          <a:prstGeom prst="roundRect">
            <a:avLst>
              <a:gd fmla="val 13333"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3" name="Google Shape;403;p22"/>
          <p:cNvPicPr preferRelativeResize="0"/>
          <p:nvPr/>
        </p:nvPicPr>
        <p:blipFill rotWithShape="1">
          <a:blip r:embed="rId4">
            <a:alphaModFix/>
          </a:blip>
          <a:srcRect b="0" l="0" r="0" t="0"/>
          <a:stretch/>
        </p:blipFill>
        <p:spPr>
          <a:xfrm>
            <a:off x="548640" y="4334256"/>
            <a:ext cx="201168" cy="201168"/>
          </a:xfrm>
          <a:prstGeom prst="rect">
            <a:avLst/>
          </a:prstGeom>
          <a:noFill/>
          <a:ln>
            <a:noFill/>
          </a:ln>
        </p:spPr>
      </p:pic>
      <p:sp>
        <p:nvSpPr>
          <p:cNvPr id="404" name="Google Shape;404;p22"/>
          <p:cNvSpPr txBox="1"/>
          <p:nvPr/>
        </p:nvSpPr>
        <p:spPr>
          <a:xfrm>
            <a:off x="841248" y="4160520"/>
            <a:ext cx="34747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A6410"/>
              </a:buClr>
              <a:buSzPts val="950"/>
              <a:buFont typeface="Arial"/>
              <a:buNone/>
            </a:pPr>
            <a:r>
              <a:rPr b="1" i="0" lang="en" sz="950" u="none" cap="none" strike="noStrike">
                <a:solidFill>
                  <a:srgbClr val="9A6410"/>
                </a:solidFill>
                <a:latin typeface="Arial"/>
                <a:ea typeface="Arial"/>
                <a:cs typeface="Arial"/>
                <a:sym typeface="Arial"/>
              </a:rPr>
              <a:t>Important:  </a:t>
            </a:r>
            <a:r>
              <a:rPr b="0" i="0" lang="en" sz="950" u="none" cap="none" strike="noStrike">
                <a:solidFill>
                  <a:srgbClr val="1D1D1F"/>
                </a:solidFill>
                <a:latin typeface="Arial"/>
                <a:ea typeface="Arial"/>
                <a:cs typeface="Arial"/>
                <a:sym typeface="Arial"/>
              </a:rPr>
              <a:t>check Local Time (!) before making a call. 8 AM – 8 PM their time.</a:t>
            </a:r>
            <a:endParaRPr b="0" i="0" sz="950" u="none" cap="none" strike="noStrike">
              <a:solidFill>
                <a:schemeClr val="dk1"/>
              </a:solidFill>
              <a:latin typeface="Calibri"/>
              <a:ea typeface="Calibri"/>
              <a:cs typeface="Calibri"/>
              <a:sym typeface="Calibri"/>
            </a:endParaRPr>
          </a:p>
        </p:txBody>
      </p:sp>
      <p:sp>
        <p:nvSpPr>
          <p:cNvPr id="405" name="Google Shape;405;p22"/>
          <p:cNvSpPr/>
          <p:nvPr/>
        </p:nvSpPr>
        <p:spPr>
          <a:xfrm>
            <a:off x="4526280" y="1234440"/>
            <a:ext cx="4206240" cy="411480"/>
          </a:xfrm>
          <a:prstGeom prst="roundRect">
            <a:avLst>
              <a:gd fmla="val 22222"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6" name="Google Shape;406;p22"/>
          <p:cNvPicPr preferRelativeResize="0"/>
          <p:nvPr/>
        </p:nvPicPr>
        <p:blipFill rotWithShape="1">
          <a:blip r:embed="rId5">
            <a:alphaModFix/>
          </a:blip>
          <a:srcRect b="0" l="0" r="0" t="0"/>
          <a:stretch/>
        </p:blipFill>
        <p:spPr>
          <a:xfrm>
            <a:off x="4681728" y="1339596"/>
            <a:ext cx="201168" cy="201168"/>
          </a:xfrm>
          <a:prstGeom prst="rect">
            <a:avLst/>
          </a:prstGeom>
          <a:noFill/>
          <a:ln>
            <a:noFill/>
          </a:ln>
        </p:spPr>
      </p:pic>
      <p:sp>
        <p:nvSpPr>
          <p:cNvPr id="407" name="Google Shape;407;p22"/>
          <p:cNvSpPr txBox="1"/>
          <p:nvPr/>
        </p:nvSpPr>
        <p:spPr>
          <a:xfrm>
            <a:off x="4983480" y="1234440"/>
            <a:ext cx="347472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250"/>
              <a:buFont typeface="Play"/>
              <a:buNone/>
            </a:pPr>
            <a:r>
              <a:rPr b="1" i="0" lang="en" sz="1250" u="none" cap="none" strike="noStrike">
                <a:solidFill>
                  <a:srgbClr val="FFFFFF"/>
                </a:solidFill>
                <a:latin typeface="Play"/>
                <a:ea typeface="Play"/>
                <a:cs typeface="Play"/>
                <a:sym typeface="Play"/>
              </a:rPr>
              <a:t>Show screens</a:t>
            </a:r>
            <a:endParaRPr b="0" i="0" sz="1250" u="none" cap="none" strike="noStrike">
              <a:solidFill>
                <a:schemeClr val="dk1"/>
              </a:solidFill>
              <a:latin typeface="Calibri"/>
              <a:ea typeface="Calibri"/>
              <a:cs typeface="Calibri"/>
              <a:sym typeface="Calibri"/>
            </a:endParaRPr>
          </a:p>
        </p:txBody>
      </p:sp>
      <p:sp>
        <p:nvSpPr>
          <p:cNvPr id="408" name="Google Shape;408;p22"/>
          <p:cNvSpPr/>
          <p:nvPr/>
        </p:nvSpPr>
        <p:spPr>
          <a:xfrm>
            <a:off x="4526280" y="1737360"/>
            <a:ext cx="4206240" cy="2971800"/>
          </a:xfrm>
          <a:prstGeom prst="roundRect">
            <a:avLst>
              <a:gd fmla="val 24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22"/>
          <p:cNvSpPr/>
          <p:nvPr/>
        </p:nvSpPr>
        <p:spPr>
          <a:xfrm>
            <a:off x="4636008" y="1819656"/>
            <a:ext cx="182880" cy="18288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p22"/>
          <p:cNvSpPr txBox="1"/>
          <p:nvPr/>
        </p:nvSpPr>
        <p:spPr>
          <a:xfrm>
            <a:off x="4636008" y="1819656"/>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 sz="750" u="none" cap="none" strike="noStrike">
                <a:solidFill>
                  <a:srgbClr val="FFFFFF"/>
                </a:solidFill>
                <a:latin typeface="Arial"/>
                <a:ea typeface="Arial"/>
                <a:cs typeface="Arial"/>
                <a:sym typeface="Arial"/>
              </a:rPr>
              <a:t>1</a:t>
            </a:r>
            <a:endParaRPr b="0" i="0" sz="750" u="none" cap="none" strike="noStrike">
              <a:solidFill>
                <a:schemeClr val="dk1"/>
              </a:solidFill>
              <a:latin typeface="Calibri"/>
              <a:ea typeface="Calibri"/>
              <a:cs typeface="Calibri"/>
              <a:sym typeface="Calibri"/>
            </a:endParaRPr>
          </a:p>
        </p:txBody>
      </p:sp>
      <p:sp>
        <p:nvSpPr>
          <p:cNvPr id="411" name="Google Shape;411;p22"/>
          <p:cNvSpPr txBox="1"/>
          <p:nvPr/>
        </p:nvSpPr>
        <p:spPr>
          <a:xfrm>
            <a:off x="4892040" y="1810512"/>
            <a:ext cx="37490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900"/>
              <a:buFont typeface="Arial"/>
              <a:buNone/>
            </a:pPr>
            <a:r>
              <a:rPr b="1" i="0" lang="en" sz="900" u="none" cap="none" strike="noStrike">
                <a:solidFill>
                  <a:srgbClr val="0B7A6F"/>
                </a:solidFill>
                <a:latin typeface="Arial"/>
                <a:ea typeface="Arial"/>
                <a:cs typeface="Arial"/>
                <a:sym typeface="Arial"/>
              </a:rPr>
              <a:t>Callbox: primary number  </a:t>
            </a:r>
            <a:r>
              <a:rPr b="0" i="0" lang="en" sz="900" u="none" cap="none" strike="noStrike">
                <a:solidFill>
                  <a:srgbClr val="6E6E73"/>
                </a:solidFill>
                <a:latin typeface="Arial"/>
                <a:ea typeface="Arial"/>
                <a:cs typeface="Arial"/>
                <a:sym typeface="Arial"/>
              </a:rPr>
              <a:t>From list set to the primary number</a:t>
            </a:r>
            <a:endParaRPr b="0" i="0" sz="900" u="none" cap="none" strike="noStrike">
              <a:solidFill>
                <a:schemeClr val="dk1"/>
              </a:solidFill>
              <a:latin typeface="Calibri"/>
              <a:ea typeface="Calibri"/>
              <a:cs typeface="Calibri"/>
              <a:sym typeface="Calibri"/>
            </a:endParaRPr>
          </a:p>
        </p:txBody>
      </p:sp>
      <p:sp>
        <p:nvSpPr>
          <p:cNvPr id="412" name="Google Shape;412;p22"/>
          <p:cNvSpPr/>
          <p:nvPr/>
        </p:nvSpPr>
        <p:spPr>
          <a:xfrm>
            <a:off x="4636008" y="2048256"/>
            <a:ext cx="3986784" cy="676656"/>
          </a:xfrm>
          <a:prstGeom prst="rect">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call_primary_crop.png" id="413" name="Google Shape;413;p22"/>
          <p:cNvPicPr preferRelativeResize="0"/>
          <p:nvPr/>
        </p:nvPicPr>
        <p:blipFill rotWithShape="1">
          <a:blip r:embed="rId6">
            <a:alphaModFix/>
          </a:blip>
          <a:srcRect b="0" l="0" r="0" t="0"/>
          <a:stretch/>
        </p:blipFill>
        <p:spPr>
          <a:xfrm>
            <a:off x="5283448" y="2075688"/>
            <a:ext cx="2691904" cy="621792"/>
          </a:xfrm>
          <a:prstGeom prst="rect">
            <a:avLst/>
          </a:prstGeom>
          <a:noFill/>
          <a:ln>
            <a:noFill/>
          </a:ln>
        </p:spPr>
      </p:pic>
      <p:sp>
        <p:nvSpPr>
          <p:cNvPr id="414" name="Google Shape;414;p22"/>
          <p:cNvSpPr/>
          <p:nvPr/>
        </p:nvSpPr>
        <p:spPr>
          <a:xfrm>
            <a:off x="4636008" y="2788920"/>
            <a:ext cx="182880" cy="18288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22"/>
          <p:cNvSpPr txBox="1"/>
          <p:nvPr/>
        </p:nvSpPr>
        <p:spPr>
          <a:xfrm>
            <a:off x="4636008" y="2788920"/>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 sz="750" u="none" cap="none" strike="noStrike">
                <a:solidFill>
                  <a:srgbClr val="FFFFFF"/>
                </a:solidFill>
                <a:latin typeface="Arial"/>
                <a:ea typeface="Arial"/>
                <a:cs typeface="Arial"/>
                <a:sym typeface="Arial"/>
              </a:rPr>
              <a:t>2</a:t>
            </a:r>
            <a:endParaRPr b="0" i="0" sz="750" u="none" cap="none" strike="noStrike">
              <a:solidFill>
                <a:schemeClr val="dk1"/>
              </a:solidFill>
              <a:latin typeface="Calibri"/>
              <a:ea typeface="Calibri"/>
              <a:cs typeface="Calibri"/>
              <a:sym typeface="Calibri"/>
            </a:endParaRPr>
          </a:p>
        </p:txBody>
      </p:sp>
      <p:sp>
        <p:nvSpPr>
          <p:cNvPr id="416" name="Google Shape;416;p22"/>
          <p:cNvSpPr txBox="1"/>
          <p:nvPr/>
        </p:nvSpPr>
        <p:spPr>
          <a:xfrm>
            <a:off x="4892040" y="2779776"/>
            <a:ext cx="37490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900"/>
              <a:buFont typeface="Arial"/>
              <a:buNone/>
            </a:pPr>
            <a:r>
              <a:rPr b="1" i="0" lang="en" sz="900" u="none" cap="none" strike="noStrike">
                <a:solidFill>
                  <a:srgbClr val="0B7A6F"/>
                </a:solidFill>
                <a:latin typeface="Arial"/>
                <a:ea typeface="Arial"/>
                <a:cs typeface="Arial"/>
                <a:sym typeface="Arial"/>
              </a:rPr>
              <a:t>GVoice  </a:t>
            </a:r>
            <a:r>
              <a:rPr b="0" i="0" lang="en" sz="900" u="none" cap="none" strike="noStrike">
                <a:solidFill>
                  <a:srgbClr val="6E6E73"/>
                </a:solidFill>
                <a:latin typeface="Arial"/>
                <a:ea typeface="Arial"/>
                <a:cs typeface="Arial"/>
                <a:sym typeface="Arial"/>
              </a:rPr>
              <a:t>Sign in with the shared Homeaglow account</a:t>
            </a:r>
            <a:endParaRPr b="0" i="0" sz="900" u="none" cap="none" strike="noStrike">
              <a:solidFill>
                <a:schemeClr val="dk1"/>
              </a:solidFill>
              <a:latin typeface="Calibri"/>
              <a:ea typeface="Calibri"/>
              <a:cs typeface="Calibri"/>
              <a:sym typeface="Calibri"/>
            </a:endParaRPr>
          </a:p>
        </p:txBody>
      </p:sp>
      <p:sp>
        <p:nvSpPr>
          <p:cNvPr id="417" name="Google Shape;417;p22"/>
          <p:cNvSpPr/>
          <p:nvPr/>
        </p:nvSpPr>
        <p:spPr>
          <a:xfrm>
            <a:off x="4636008" y="3017520"/>
            <a:ext cx="3986784" cy="676656"/>
          </a:xfrm>
          <a:prstGeom prst="rect">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call_gvoice_crop.png" id="418" name="Google Shape;418;p22"/>
          <p:cNvPicPr preferRelativeResize="0"/>
          <p:nvPr/>
        </p:nvPicPr>
        <p:blipFill rotWithShape="1">
          <a:blip r:embed="rId7">
            <a:alphaModFix/>
          </a:blip>
          <a:srcRect b="0" l="0" r="0" t="0"/>
          <a:stretch/>
        </p:blipFill>
        <p:spPr>
          <a:xfrm>
            <a:off x="4835086" y="3044952"/>
            <a:ext cx="3588628" cy="621792"/>
          </a:xfrm>
          <a:prstGeom prst="rect">
            <a:avLst/>
          </a:prstGeom>
          <a:noFill/>
          <a:ln>
            <a:noFill/>
          </a:ln>
        </p:spPr>
      </p:pic>
      <p:sp>
        <p:nvSpPr>
          <p:cNvPr id="419" name="Google Shape;419;p22"/>
          <p:cNvSpPr/>
          <p:nvPr/>
        </p:nvSpPr>
        <p:spPr>
          <a:xfrm>
            <a:off x="4636008" y="3758184"/>
            <a:ext cx="182880" cy="18288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2"/>
          <p:cNvSpPr txBox="1"/>
          <p:nvPr/>
        </p:nvSpPr>
        <p:spPr>
          <a:xfrm>
            <a:off x="4636008" y="3758184"/>
            <a:ext cx="1828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750"/>
              <a:buFont typeface="Arial"/>
              <a:buNone/>
            </a:pPr>
            <a:r>
              <a:rPr b="1" i="0" lang="en" sz="750" u="none" cap="none" strike="noStrike">
                <a:solidFill>
                  <a:srgbClr val="FFFFFF"/>
                </a:solidFill>
                <a:latin typeface="Arial"/>
                <a:ea typeface="Arial"/>
                <a:cs typeface="Arial"/>
                <a:sym typeface="Arial"/>
              </a:rPr>
              <a:t>3</a:t>
            </a:r>
            <a:endParaRPr b="0" i="0" sz="750" u="none" cap="none" strike="noStrike">
              <a:solidFill>
                <a:schemeClr val="dk1"/>
              </a:solidFill>
              <a:latin typeface="Calibri"/>
              <a:ea typeface="Calibri"/>
              <a:cs typeface="Calibri"/>
              <a:sym typeface="Calibri"/>
            </a:endParaRPr>
          </a:p>
        </p:txBody>
      </p:sp>
      <p:sp>
        <p:nvSpPr>
          <p:cNvPr id="421" name="Google Shape;421;p22"/>
          <p:cNvSpPr txBox="1"/>
          <p:nvPr/>
        </p:nvSpPr>
        <p:spPr>
          <a:xfrm>
            <a:off x="4892040" y="3749040"/>
            <a:ext cx="37490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900"/>
              <a:buFont typeface="Arial"/>
              <a:buNone/>
            </a:pPr>
            <a:r>
              <a:rPr b="1" i="0" lang="en" sz="900" u="none" cap="none" strike="noStrike">
                <a:solidFill>
                  <a:srgbClr val="0B7A6F"/>
                </a:solidFill>
                <a:latin typeface="Arial"/>
                <a:ea typeface="Arial"/>
                <a:cs typeface="Arial"/>
                <a:sym typeface="Arial"/>
              </a:rPr>
              <a:t>Callbox: secondary number  </a:t>
            </a:r>
            <a:r>
              <a:rPr b="0" i="0" lang="en" sz="900" u="none" cap="none" strike="noStrike">
                <a:solidFill>
                  <a:srgbClr val="6E6E73"/>
                </a:solidFill>
                <a:latin typeface="Arial"/>
                <a:ea typeface="Arial"/>
                <a:cs typeface="Arial"/>
                <a:sym typeface="Arial"/>
              </a:rPr>
              <a:t>From list set to the Secondary Phone</a:t>
            </a:r>
            <a:endParaRPr b="0" i="0" sz="900" u="none" cap="none" strike="noStrike">
              <a:solidFill>
                <a:schemeClr val="dk1"/>
              </a:solidFill>
              <a:latin typeface="Calibri"/>
              <a:ea typeface="Calibri"/>
              <a:cs typeface="Calibri"/>
              <a:sym typeface="Calibri"/>
            </a:endParaRPr>
          </a:p>
        </p:txBody>
      </p:sp>
      <p:sp>
        <p:nvSpPr>
          <p:cNvPr id="422" name="Google Shape;422;p22"/>
          <p:cNvSpPr/>
          <p:nvPr/>
        </p:nvSpPr>
        <p:spPr>
          <a:xfrm>
            <a:off x="4636008" y="3986784"/>
            <a:ext cx="3986784" cy="676656"/>
          </a:xfrm>
          <a:prstGeom prst="rect">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call_secondary_crop.png" id="423" name="Google Shape;423;p22"/>
          <p:cNvPicPr preferRelativeResize="0"/>
          <p:nvPr/>
        </p:nvPicPr>
        <p:blipFill rotWithShape="1">
          <a:blip r:embed="rId8">
            <a:alphaModFix/>
          </a:blip>
          <a:srcRect b="0" l="0" r="0" t="0"/>
          <a:stretch/>
        </p:blipFill>
        <p:spPr>
          <a:xfrm>
            <a:off x="5436506" y="4014216"/>
            <a:ext cx="2385789" cy="621792"/>
          </a:xfrm>
          <a:prstGeom prst="rect">
            <a:avLst/>
          </a:prstGeom>
          <a:noFill/>
          <a:ln>
            <a:noFill/>
          </a:ln>
        </p:spPr>
      </p:pic>
      <p:sp>
        <p:nvSpPr>
          <p:cNvPr id="424" name="Google Shape;424;p2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600"/>
                                        <p:tgtEl>
                                          <p:spTgt spid="409"/>
                                        </p:tgtEl>
                                      </p:cBhvr>
                                    </p:animEffect>
                                  </p:childTnLst>
                                </p:cTn>
                              </p:par>
                              <p:par>
                                <p:cTn fill="hold" nodeType="with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600"/>
                                        <p:tgtEl>
                                          <p:spTgt spid="410"/>
                                        </p:tgtEl>
                                      </p:cBhvr>
                                    </p:animEffect>
                                  </p:childTnLst>
                                </p:cTn>
                              </p:par>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600"/>
                                        <p:tgtEl>
                                          <p:spTgt spid="411"/>
                                        </p:tgtEl>
                                      </p:cBhvr>
                                    </p:animEffect>
                                  </p:childTnLst>
                                </p:cTn>
                              </p:par>
                              <p:par>
                                <p:cTn fill="hold" nodeType="with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600"/>
                                        <p:tgtEl>
                                          <p:spTgt spid="412"/>
                                        </p:tgtEl>
                                      </p:cBhvr>
                                    </p:animEffect>
                                  </p:childTnLst>
                                </p:cTn>
                              </p:par>
                              <p:par>
                                <p:cTn fill="hold" nodeType="with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600"/>
                                        <p:tgtEl>
                                          <p:spTgt spid="4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600"/>
                                        <p:tgtEl>
                                          <p:spTgt spid="414"/>
                                        </p:tgtEl>
                                      </p:cBhvr>
                                    </p:animEffect>
                                  </p:childTnLst>
                                </p:cTn>
                              </p:par>
                              <p:par>
                                <p:cTn fill="hold" nodeType="with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600"/>
                                        <p:tgtEl>
                                          <p:spTgt spid="415"/>
                                        </p:tgtEl>
                                      </p:cBhvr>
                                    </p:animEffect>
                                  </p:childTnLst>
                                </p:cTn>
                              </p:par>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600"/>
                                        <p:tgtEl>
                                          <p:spTgt spid="416"/>
                                        </p:tgtEl>
                                      </p:cBhvr>
                                    </p:animEffect>
                                  </p:childTnLst>
                                </p:cTn>
                              </p:par>
                              <p:par>
                                <p:cTn fill="hold" nodeType="withEffect" presetClass="entr" presetID="10" presetSubtype="0">
                                  <p:stCondLst>
                                    <p:cond delay="0"/>
                                  </p:stCondLst>
                                  <p:childTnLst>
                                    <p:set>
                                      <p:cBhvr>
                                        <p:cTn dur="1" fill="hold">
                                          <p:stCondLst>
                                            <p:cond delay="0"/>
                                          </p:stCondLst>
                                        </p:cTn>
                                        <p:tgtEl>
                                          <p:spTgt spid="417"/>
                                        </p:tgtEl>
                                        <p:attrNameLst>
                                          <p:attrName>style.visibility</p:attrName>
                                        </p:attrNameLst>
                                      </p:cBhvr>
                                      <p:to>
                                        <p:strVal val="visible"/>
                                      </p:to>
                                    </p:set>
                                    <p:animEffect filter="fade" transition="in">
                                      <p:cBhvr>
                                        <p:cTn dur="600"/>
                                        <p:tgtEl>
                                          <p:spTgt spid="417"/>
                                        </p:tgtEl>
                                      </p:cBhvr>
                                    </p:animEffect>
                                  </p:childTnLst>
                                </p:cTn>
                              </p:par>
                              <p:par>
                                <p:cTn fill="hold" nodeType="withEffect" presetClass="entr" presetID="10" presetSubtype="0">
                                  <p:stCondLst>
                                    <p:cond delay="0"/>
                                  </p:stCondLst>
                                  <p:childTnLst>
                                    <p:set>
                                      <p:cBhvr>
                                        <p:cTn dur="1" fill="hold">
                                          <p:stCondLst>
                                            <p:cond delay="0"/>
                                          </p:stCondLst>
                                        </p:cTn>
                                        <p:tgtEl>
                                          <p:spTgt spid="418"/>
                                        </p:tgtEl>
                                        <p:attrNameLst>
                                          <p:attrName>style.visibility</p:attrName>
                                        </p:attrNameLst>
                                      </p:cBhvr>
                                      <p:to>
                                        <p:strVal val="visible"/>
                                      </p:to>
                                    </p:set>
                                    <p:animEffect filter="fade" transition="in">
                                      <p:cBhvr>
                                        <p:cTn dur="600"/>
                                        <p:tgtEl>
                                          <p:spTgt spid="4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600"/>
                                        <p:tgtEl>
                                          <p:spTgt spid="419"/>
                                        </p:tgtEl>
                                      </p:cBhvr>
                                    </p:animEffect>
                                  </p:childTnLst>
                                </p:cTn>
                              </p:par>
                              <p:par>
                                <p:cTn fill="hold" nodeType="withEffect" presetClass="entr" presetID="10" presetSubtype="0">
                                  <p:stCondLst>
                                    <p:cond delay="0"/>
                                  </p:stCondLst>
                                  <p:childTnLst>
                                    <p:set>
                                      <p:cBhvr>
                                        <p:cTn dur="1" fill="hold">
                                          <p:stCondLst>
                                            <p:cond delay="0"/>
                                          </p:stCondLst>
                                        </p:cTn>
                                        <p:tgtEl>
                                          <p:spTgt spid="420"/>
                                        </p:tgtEl>
                                        <p:attrNameLst>
                                          <p:attrName>style.visibility</p:attrName>
                                        </p:attrNameLst>
                                      </p:cBhvr>
                                      <p:to>
                                        <p:strVal val="visible"/>
                                      </p:to>
                                    </p:set>
                                    <p:animEffect filter="fade" transition="in">
                                      <p:cBhvr>
                                        <p:cTn dur="600"/>
                                        <p:tgtEl>
                                          <p:spTgt spid="420"/>
                                        </p:tgtEl>
                                      </p:cBhvr>
                                    </p:animEffect>
                                  </p:childTnLst>
                                </p:cTn>
                              </p:par>
                              <p:par>
                                <p:cTn fill="hold" nodeType="withEffect" presetClass="entr" presetID="10" presetSubtype="0">
                                  <p:stCondLst>
                                    <p:cond delay="0"/>
                                  </p:stCondLst>
                                  <p:childTnLst>
                                    <p:set>
                                      <p:cBhvr>
                                        <p:cTn dur="1" fill="hold">
                                          <p:stCondLst>
                                            <p:cond delay="0"/>
                                          </p:stCondLst>
                                        </p:cTn>
                                        <p:tgtEl>
                                          <p:spTgt spid="421"/>
                                        </p:tgtEl>
                                        <p:attrNameLst>
                                          <p:attrName>style.visibility</p:attrName>
                                        </p:attrNameLst>
                                      </p:cBhvr>
                                      <p:to>
                                        <p:strVal val="visible"/>
                                      </p:to>
                                    </p:set>
                                    <p:animEffect filter="fade" transition="in">
                                      <p:cBhvr>
                                        <p:cTn dur="600"/>
                                        <p:tgtEl>
                                          <p:spTgt spid="421"/>
                                        </p:tgtEl>
                                      </p:cBhvr>
                                    </p:animEffect>
                                  </p:childTnLst>
                                </p:cTn>
                              </p:par>
                              <p:par>
                                <p:cTn fill="hold" nodeType="with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600"/>
                                        <p:tgtEl>
                                          <p:spTgt spid="422"/>
                                        </p:tgtEl>
                                      </p:cBhvr>
                                    </p:animEffect>
                                  </p:childTnLst>
                                </p:cTn>
                              </p:par>
                              <p:par>
                                <p:cTn fill="hold" nodeType="withEffect" presetClass="entr" presetID="10" presetSubtype="0">
                                  <p:stCondLst>
                                    <p:cond delay="0"/>
                                  </p:stCondLst>
                                  <p:childTnLst>
                                    <p:set>
                                      <p:cBhvr>
                                        <p:cTn dur="1" fill="hold">
                                          <p:stCondLst>
                                            <p:cond delay="0"/>
                                          </p:stCondLst>
                                        </p:cTn>
                                        <p:tgtEl>
                                          <p:spTgt spid="423"/>
                                        </p:tgtEl>
                                        <p:attrNameLst>
                                          <p:attrName>style.visibility</p:attrName>
                                        </p:attrNameLst>
                                      </p:cBhvr>
                                      <p:to>
                                        <p:strVal val="visible"/>
                                      </p:to>
                                    </p:set>
                                    <p:animEffect filter="fade" transition="in">
                                      <p:cBhvr>
                                        <p:cTn dur="600"/>
                                        <p:tgtEl>
                                          <p:spTgt spid="4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CALLBACK HANDLING</a:t>
            </a:r>
            <a:endParaRPr b="0" i="0" sz="800" u="none" cap="none" strike="noStrike">
              <a:solidFill>
                <a:schemeClr val="dk1"/>
              </a:solidFill>
              <a:latin typeface="Calibri"/>
              <a:ea typeface="Calibri"/>
              <a:cs typeface="Calibri"/>
              <a:sym typeface="Calibri"/>
            </a:endParaRPr>
          </a:p>
        </p:txBody>
      </p:sp>
      <p:sp>
        <p:nvSpPr>
          <p:cNvPr id="431" name="Google Shape;431;p2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happens next</a:t>
            </a:r>
            <a:endParaRPr b="0" i="0" sz="2400" u="none" cap="none" strike="noStrike">
              <a:solidFill>
                <a:schemeClr val="dk1"/>
              </a:solidFill>
              <a:latin typeface="Calibri"/>
              <a:ea typeface="Calibri"/>
              <a:cs typeface="Calibri"/>
              <a:sym typeface="Calibri"/>
            </a:endParaRPr>
          </a:p>
        </p:txBody>
      </p:sp>
      <p:sp>
        <p:nvSpPr>
          <p:cNvPr id="432" name="Google Shape;432;p2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Every call ends one of three ways.</a:t>
            </a:r>
            <a:endParaRPr b="0" i="0" sz="1200" u="none" cap="none" strike="noStrike">
              <a:solidFill>
                <a:schemeClr val="dk1"/>
              </a:solidFill>
              <a:latin typeface="Calibri"/>
              <a:ea typeface="Calibri"/>
              <a:cs typeface="Calibri"/>
              <a:sym typeface="Calibri"/>
            </a:endParaRPr>
          </a:p>
        </p:txBody>
      </p:sp>
      <p:sp>
        <p:nvSpPr>
          <p:cNvPr id="433" name="Google Shape;433;p23"/>
          <p:cNvSpPr/>
          <p:nvPr/>
        </p:nvSpPr>
        <p:spPr>
          <a:xfrm>
            <a:off x="411480" y="1325880"/>
            <a:ext cx="2682240" cy="2331720"/>
          </a:xfrm>
          <a:prstGeom prst="roundRect">
            <a:avLst>
              <a:gd fmla="val 313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23"/>
          <p:cNvSpPr/>
          <p:nvPr/>
        </p:nvSpPr>
        <p:spPr>
          <a:xfrm>
            <a:off x="576072"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35" name="Google Shape;435;p23"/>
          <p:cNvPicPr preferRelativeResize="0"/>
          <p:nvPr/>
        </p:nvPicPr>
        <p:blipFill rotWithShape="1">
          <a:blip r:embed="rId3">
            <a:alphaModFix/>
          </a:blip>
          <a:srcRect b="0" l="0" r="0" t="0"/>
          <a:stretch/>
        </p:blipFill>
        <p:spPr>
          <a:xfrm>
            <a:off x="668244" y="1573500"/>
            <a:ext cx="199705" cy="199705"/>
          </a:xfrm>
          <a:prstGeom prst="rect">
            <a:avLst/>
          </a:prstGeom>
          <a:noFill/>
          <a:ln>
            <a:noFill/>
          </a:ln>
        </p:spPr>
      </p:pic>
      <p:sp>
        <p:nvSpPr>
          <p:cNvPr id="436" name="Google Shape;436;p23"/>
          <p:cNvSpPr txBox="1"/>
          <p:nvPr/>
        </p:nvSpPr>
        <p:spPr>
          <a:xfrm>
            <a:off x="1069848" y="1481328"/>
            <a:ext cx="19050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Answered</a:t>
            </a:r>
            <a:endParaRPr b="0" i="0" sz="1300" u="none" cap="none" strike="noStrike">
              <a:solidFill>
                <a:schemeClr val="dk1"/>
              </a:solidFill>
              <a:latin typeface="Calibri"/>
              <a:ea typeface="Calibri"/>
              <a:cs typeface="Calibri"/>
              <a:sym typeface="Calibri"/>
            </a:endParaRPr>
          </a:p>
        </p:txBody>
      </p:sp>
      <p:sp>
        <p:nvSpPr>
          <p:cNvPr id="437" name="Google Shape;437;p23"/>
          <p:cNvSpPr txBox="1"/>
          <p:nvPr/>
        </p:nvSpPr>
        <p:spPr>
          <a:xfrm>
            <a:off x="576072" y="2011680"/>
            <a:ext cx="2353056" cy="155448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Try to resolve it on the call</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6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Email a summary of what was discussed</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6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Log an internal note with full call details. Calls aren't recorded</a:t>
            </a:r>
            <a:endParaRPr b="0" i="0" sz="1000" u="none" cap="none" strike="noStrike">
              <a:solidFill>
                <a:schemeClr val="dk1"/>
              </a:solidFill>
              <a:latin typeface="Calibri"/>
              <a:ea typeface="Calibri"/>
              <a:cs typeface="Calibri"/>
              <a:sym typeface="Calibri"/>
            </a:endParaRPr>
          </a:p>
        </p:txBody>
      </p:sp>
      <p:sp>
        <p:nvSpPr>
          <p:cNvPr id="438" name="Google Shape;438;p23"/>
          <p:cNvSpPr/>
          <p:nvPr/>
        </p:nvSpPr>
        <p:spPr>
          <a:xfrm>
            <a:off x="3230880" y="1325880"/>
            <a:ext cx="2682240" cy="2331720"/>
          </a:xfrm>
          <a:prstGeom prst="roundRect">
            <a:avLst>
              <a:gd fmla="val 313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23"/>
          <p:cNvSpPr/>
          <p:nvPr/>
        </p:nvSpPr>
        <p:spPr>
          <a:xfrm>
            <a:off x="3395472"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0" name="Google Shape;440;p23"/>
          <p:cNvPicPr preferRelativeResize="0"/>
          <p:nvPr/>
        </p:nvPicPr>
        <p:blipFill rotWithShape="1">
          <a:blip r:embed="rId4">
            <a:alphaModFix/>
          </a:blip>
          <a:srcRect b="0" l="0" r="0" t="0"/>
          <a:stretch/>
        </p:blipFill>
        <p:spPr>
          <a:xfrm>
            <a:off x="3487644" y="1573500"/>
            <a:ext cx="199705" cy="199705"/>
          </a:xfrm>
          <a:prstGeom prst="rect">
            <a:avLst/>
          </a:prstGeom>
          <a:noFill/>
          <a:ln>
            <a:noFill/>
          </a:ln>
        </p:spPr>
      </p:pic>
      <p:sp>
        <p:nvSpPr>
          <p:cNvPr id="441" name="Google Shape;441;p23"/>
          <p:cNvSpPr txBox="1"/>
          <p:nvPr/>
        </p:nvSpPr>
        <p:spPr>
          <a:xfrm>
            <a:off x="3889248" y="1481328"/>
            <a:ext cx="19050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Not answered</a:t>
            </a:r>
            <a:endParaRPr b="0" i="0" sz="1300" u="none" cap="none" strike="noStrike">
              <a:solidFill>
                <a:schemeClr val="dk1"/>
              </a:solidFill>
              <a:latin typeface="Calibri"/>
              <a:ea typeface="Calibri"/>
              <a:cs typeface="Calibri"/>
              <a:sym typeface="Calibri"/>
            </a:endParaRPr>
          </a:p>
        </p:txBody>
      </p:sp>
      <p:sp>
        <p:nvSpPr>
          <p:cNvPr id="442" name="Google Shape;442;p23"/>
          <p:cNvSpPr txBox="1"/>
          <p:nvPr/>
        </p:nvSpPr>
        <p:spPr>
          <a:xfrm>
            <a:off x="3395472" y="2011680"/>
            <a:ext cx="2353056" cy="155448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Address the concern by email</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6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Ask for their availability for a callback</a:t>
            </a:r>
            <a:endParaRPr b="0" i="0" sz="1000" u="none" cap="none" strike="noStrike">
              <a:solidFill>
                <a:schemeClr val="dk1"/>
              </a:solidFill>
              <a:latin typeface="Calibri"/>
              <a:ea typeface="Calibri"/>
              <a:cs typeface="Calibri"/>
              <a:sym typeface="Calibri"/>
            </a:endParaRPr>
          </a:p>
        </p:txBody>
      </p:sp>
      <p:sp>
        <p:nvSpPr>
          <p:cNvPr id="443" name="Google Shape;443;p23"/>
          <p:cNvSpPr/>
          <p:nvPr/>
        </p:nvSpPr>
        <p:spPr>
          <a:xfrm>
            <a:off x="6050280" y="1325880"/>
            <a:ext cx="2682240" cy="2331720"/>
          </a:xfrm>
          <a:prstGeom prst="roundRect">
            <a:avLst>
              <a:gd fmla="val 313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4" name="Google Shape;444;p23"/>
          <p:cNvSpPr/>
          <p:nvPr/>
        </p:nvSpPr>
        <p:spPr>
          <a:xfrm>
            <a:off x="6214872" y="148132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5" name="Google Shape;445;p23"/>
          <p:cNvPicPr preferRelativeResize="0"/>
          <p:nvPr/>
        </p:nvPicPr>
        <p:blipFill rotWithShape="1">
          <a:blip r:embed="rId5">
            <a:alphaModFix/>
          </a:blip>
          <a:srcRect b="0" l="0" r="0" t="0"/>
          <a:stretch/>
        </p:blipFill>
        <p:spPr>
          <a:xfrm>
            <a:off x="6307044" y="1573500"/>
            <a:ext cx="199705" cy="199705"/>
          </a:xfrm>
          <a:prstGeom prst="rect">
            <a:avLst/>
          </a:prstGeom>
          <a:noFill/>
          <a:ln>
            <a:noFill/>
          </a:ln>
        </p:spPr>
      </p:pic>
      <p:sp>
        <p:nvSpPr>
          <p:cNvPr id="446" name="Google Shape;446;p23"/>
          <p:cNvSpPr txBox="1"/>
          <p:nvPr/>
        </p:nvSpPr>
        <p:spPr>
          <a:xfrm>
            <a:off x="6708648" y="1481328"/>
            <a:ext cx="190500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Voicemail</a:t>
            </a:r>
            <a:endParaRPr b="0" i="0" sz="1300" u="none" cap="none" strike="noStrike">
              <a:solidFill>
                <a:schemeClr val="dk1"/>
              </a:solidFill>
              <a:latin typeface="Calibri"/>
              <a:ea typeface="Calibri"/>
              <a:cs typeface="Calibri"/>
              <a:sym typeface="Calibri"/>
            </a:endParaRPr>
          </a:p>
        </p:txBody>
      </p:sp>
      <p:sp>
        <p:nvSpPr>
          <p:cNvPr id="447" name="Google Shape;447;p23"/>
          <p:cNvSpPr txBox="1"/>
          <p:nvPr/>
        </p:nvSpPr>
        <p:spPr>
          <a:xfrm>
            <a:off x="6214872" y="2011680"/>
            <a:ext cx="2353056" cy="155448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Leave a voicemail, if applicable</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6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Send an email and an SMS</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6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Wait 10 minutes, then check the ticket again</a:t>
            </a:r>
            <a:endParaRPr b="0" i="0" sz="1000" u="none" cap="none" strike="noStrike">
              <a:solidFill>
                <a:schemeClr val="dk1"/>
              </a:solidFill>
              <a:latin typeface="Calibri"/>
              <a:ea typeface="Calibri"/>
              <a:cs typeface="Calibri"/>
              <a:sym typeface="Calibri"/>
            </a:endParaRPr>
          </a:p>
        </p:txBody>
      </p:sp>
      <p:sp>
        <p:nvSpPr>
          <p:cNvPr id="448" name="Google Shape;448;p23"/>
          <p:cNvSpPr/>
          <p:nvPr/>
        </p:nvSpPr>
        <p:spPr>
          <a:xfrm>
            <a:off x="411480" y="38404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9" name="Google Shape;449;p23"/>
          <p:cNvPicPr preferRelativeResize="0"/>
          <p:nvPr/>
        </p:nvPicPr>
        <p:blipFill rotWithShape="1">
          <a:blip r:embed="rId6">
            <a:alphaModFix/>
          </a:blip>
          <a:srcRect b="0" l="0" r="0" t="0"/>
          <a:stretch/>
        </p:blipFill>
        <p:spPr>
          <a:xfrm>
            <a:off x="566928" y="3950208"/>
            <a:ext cx="164592" cy="164592"/>
          </a:xfrm>
          <a:prstGeom prst="rect">
            <a:avLst/>
          </a:prstGeom>
          <a:noFill/>
          <a:ln>
            <a:noFill/>
          </a:ln>
        </p:spPr>
      </p:pic>
      <p:sp>
        <p:nvSpPr>
          <p:cNvPr id="450" name="Google Shape;450;p23"/>
          <p:cNvSpPr txBox="1"/>
          <p:nvPr/>
        </p:nvSpPr>
        <p:spPr>
          <a:xfrm>
            <a:off x="822960" y="39410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"Call me now"?  </a:t>
            </a:r>
            <a:r>
              <a:rPr b="0" i="0" lang="en" sz="1000" u="none" cap="none" strike="noStrike">
                <a:solidFill>
                  <a:srgbClr val="1D1D1F"/>
                </a:solidFill>
                <a:latin typeface="Arial"/>
                <a:ea typeface="Arial"/>
                <a:cs typeface="Arial"/>
                <a:sym typeface="Arial"/>
              </a:rPr>
              <a:t>if they reply asking for an immediate call, call right away, even inside the 10 minutes.</a:t>
            </a:r>
            <a:endParaRPr b="0" i="0" sz="1000" u="none" cap="none" strike="noStrike">
              <a:solidFill>
                <a:schemeClr val="dk1"/>
              </a:solidFill>
              <a:latin typeface="Calibri"/>
              <a:ea typeface="Calibri"/>
              <a:cs typeface="Calibri"/>
              <a:sym typeface="Calibri"/>
            </a:endParaRPr>
          </a:p>
        </p:txBody>
      </p:sp>
      <p:sp>
        <p:nvSpPr>
          <p:cNvPr id="451" name="Google Shape;451;p2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CALLBACK HANDLING</a:t>
            </a:r>
            <a:endParaRPr b="0" i="0" sz="800" u="none" cap="none" strike="noStrike">
              <a:solidFill>
                <a:schemeClr val="dk1"/>
              </a:solidFill>
              <a:latin typeface="Calibri"/>
              <a:ea typeface="Calibri"/>
              <a:cs typeface="Calibri"/>
              <a:sym typeface="Calibri"/>
            </a:endParaRPr>
          </a:p>
        </p:txBody>
      </p:sp>
      <p:sp>
        <p:nvSpPr>
          <p:cNvPr id="458" name="Google Shape;458;p2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Once they share their availability</a:t>
            </a:r>
            <a:endParaRPr b="0" i="0" sz="2400" u="none" cap="none" strike="noStrike">
              <a:solidFill>
                <a:schemeClr val="dk1"/>
              </a:solidFill>
              <a:latin typeface="Calibri"/>
              <a:ea typeface="Calibri"/>
              <a:cs typeface="Calibri"/>
              <a:sym typeface="Calibri"/>
            </a:endParaRPr>
          </a:p>
        </p:txBody>
      </p:sp>
      <p:sp>
        <p:nvSpPr>
          <p:cNvPr id="459" name="Google Shape;459;p2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Create a timed reminder assigned to "Any CS", then pick your path.</a:t>
            </a:r>
            <a:endParaRPr b="0" i="0" sz="1200" u="none" cap="none" strike="noStrike">
              <a:solidFill>
                <a:schemeClr val="dk1"/>
              </a:solidFill>
              <a:latin typeface="Calibri"/>
              <a:ea typeface="Calibri"/>
              <a:cs typeface="Calibri"/>
              <a:sym typeface="Calibri"/>
            </a:endParaRPr>
          </a:p>
        </p:txBody>
      </p:sp>
      <p:sp>
        <p:nvSpPr>
          <p:cNvPr id="460" name="Google Shape;460;p24"/>
          <p:cNvSpPr/>
          <p:nvPr/>
        </p:nvSpPr>
        <p:spPr>
          <a:xfrm>
            <a:off x="411480" y="1371600"/>
            <a:ext cx="8321040" cy="685800"/>
          </a:xfrm>
          <a:prstGeom prst="roundRect">
            <a:avLst>
              <a:gd fmla="val 10667"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61" name="Google Shape;461;p24"/>
          <p:cNvPicPr preferRelativeResize="0"/>
          <p:nvPr/>
        </p:nvPicPr>
        <p:blipFill rotWithShape="1">
          <a:blip r:embed="rId3">
            <a:alphaModFix/>
          </a:blip>
          <a:srcRect b="0" l="0" r="0" t="0"/>
          <a:stretch/>
        </p:blipFill>
        <p:spPr>
          <a:xfrm>
            <a:off x="685800" y="1563624"/>
            <a:ext cx="292608" cy="292608"/>
          </a:xfrm>
          <a:prstGeom prst="rect">
            <a:avLst/>
          </a:prstGeom>
          <a:noFill/>
          <a:ln>
            <a:noFill/>
          </a:ln>
        </p:spPr>
      </p:pic>
      <p:sp>
        <p:nvSpPr>
          <p:cNvPr id="462" name="Google Shape;462;p24"/>
          <p:cNvSpPr txBox="1"/>
          <p:nvPr/>
        </p:nvSpPr>
        <p:spPr>
          <a:xfrm>
            <a:off x="1143000" y="1371600"/>
            <a:ext cx="731520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Play"/>
              <a:buNone/>
            </a:pPr>
            <a:r>
              <a:rPr b="1" i="0" lang="en" sz="1400" u="none" cap="none" strike="noStrike">
                <a:solidFill>
                  <a:srgbClr val="FFFFFF"/>
                </a:solidFill>
                <a:latin typeface="Play"/>
                <a:ea typeface="Play"/>
                <a:cs typeface="Play"/>
                <a:sym typeface="Play"/>
              </a:rPr>
              <a:t>Create a timed reminder, assigned to "Any CS"</a:t>
            </a:r>
            <a:endParaRPr b="0" i="0" sz="1400" u="none" cap="none" strike="noStrike">
              <a:solidFill>
                <a:schemeClr val="dk1"/>
              </a:solidFill>
              <a:latin typeface="Calibri"/>
              <a:ea typeface="Calibri"/>
              <a:cs typeface="Calibri"/>
              <a:sym typeface="Calibri"/>
            </a:endParaRPr>
          </a:p>
        </p:txBody>
      </p:sp>
      <p:sp>
        <p:nvSpPr>
          <p:cNvPr id="463" name="Google Shape;463;p24"/>
          <p:cNvSpPr/>
          <p:nvPr/>
        </p:nvSpPr>
        <p:spPr>
          <a:xfrm>
            <a:off x="411480" y="2240280"/>
            <a:ext cx="40919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24"/>
          <p:cNvSpPr/>
          <p:nvPr/>
        </p:nvSpPr>
        <p:spPr>
          <a:xfrm>
            <a:off x="594360" y="242316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65" name="Google Shape;465;p24"/>
          <p:cNvPicPr preferRelativeResize="0"/>
          <p:nvPr/>
        </p:nvPicPr>
        <p:blipFill rotWithShape="1">
          <a:blip r:embed="rId4">
            <a:alphaModFix/>
          </a:blip>
          <a:srcRect b="0" l="0" r="0" t="0"/>
          <a:stretch/>
        </p:blipFill>
        <p:spPr>
          <a:xfrm>
            <a:off x="686532" y="2515332"/>
            <a:ext cx="199705" cy="199705"/>
          </a:xfrm>
          <a:prstGeom prst="rect">
            <a:avLst/>
          </a:prstGeom>
          <a:noFill/>
          <a:ln>
            <a:noFill/>
          </a:ln>
        </p:spPr>
      </p:pic>
      <p:sp>
        <p:nvSpPr>
          <p:cNvPr id="466" name="Google Shape;466;p24"/>
          <p:cNvSpPr txBox="1"/>
          <p:nvPr/>
        </p:nvSpPr>
        <p:spPr>
          <a:xfrm>
            <a:off x="1097280" y="242316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On shift at that time</a:t>
            </a:r>
            <a:endParaRPr b="0" i="0" sz="1300" u="none" cap="none" strike="noStrike">
              <a:solidFill>
                <a:schemeClr val="dk1"/>
              </a:solidFill>
              <a:latin typeface="Calibri"/>
              <a:ea typeface="Calibri"/>
              <a:cs typeface="Calibri"/>
              <a:sym typeface="Calibri"/>
            </a:endParaRPr>
          </a:p>
        </p:txBody>
      </p:sp>
      <p:sp>
        <p:nvSpPr>
          <p:cNvPr id="467" name="Google Shape;467;p24"/>
          <p:cNvSpPr txBox="1"/>
          <p:nvPr/>
        </p:nvSpPr>
        <p:spPr>
          <a:xfrm>
            <a:off x="594360" y="2953512"/>
            <a:ext cx="3726180" cy="7772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Set a calendar reminder</a:t>
            </a:r>
            <a:endParaRPr b="0" i="0" sz="1000" u="none" cap="none" strike="noStrike">
              <a:solidFill>
                <a:schemeClr val="dk1"/>
              </a:solidFill>
              <a:latin typeface="Calibri"/>
              <a:ea typeface="Calibri"/>
              <a:cs typeface="Calibri"/>
              <a:sym typeface="Calibri"/>
            </a:endParaRPr>
          </a:p>
          <a:p>
            <a:pPr indent="-127000" lvl="0" marL="127000" marR="0" rtl="0" algn="l">
              <a:lnSpc>
                <a:spcPct val="100000"/>
              </a:lnSpc>
              <a:spcBef>
                <a:spcPts val="50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Put the ticket link in the invite</a:t>
            </a:r>
            <a:endParaRPr b="0" i="0" sz="1000" u="none" cap="none" strike="noStrike">
              <a:solidFill>
                <a:schemeClr val="dk1"/>
              </a:solidFill>
              <a:latin typeface="Calibri"/>
              <a:ea typeface="Calibri"/>
              <a:cs typeface="Calibri"/>
              <a:sym typeface="Calibri"/>
            </a:endParaRPr>
          </a:p>
        </p:txBody>
      </p:sp>
      <p:sp>
        <p:nvSpPr>
          <p:cNvPr id="468" name="Google Shape;468;p24"/>
          <p:cNvSpPr/>
          <p:nvPr/>
        </p:nvSpPr>
        <p:spPr>
          <a:xfrm>
            <a:off x="4640580" y="2240280"/>
            <a:ext cx="40919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p24"/>
          <p:cNvSpPr/>
          <p:nvPr/>
        </p:nvSpPr>
        <p:spPr>
          <a:xfrm>
            <a:off x="4823460" y="242316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70" name="Google Shape;470;p24"/>
          <p:cNvPicPr preferRelativeResize="0"/>
          <p:nvPr/>
        </p:nvPicPr>
        <p:blipFill rotWithShape="1">
          <a:blip r:embed="rId5">
            <a:alphaModFix/>
          </a:blip>
          <a:srcRect b="0" l="0" r="0" t="0"/>
          <a:stretch/>
        </p:blipFill>
        <p:spPr>
          <a:xfrm>
            <a:off x="4915632" y="2515332"/>
            <a:ext cx="199705" cy="199705"/>
          </a:xfrm>
          <a:prstGeom prst="rect">
            <a:avLst/>
          </a:prstGeom>
          <a:noFill/>
          <a:ln>
            <a:noFill/>
          </a:ln>
        </p:spPr>
      </p:pic>
      <p:sp>
        <p:nvSpPr>
          <p:cNvPr id="471" name="Google Shape;471;p24"/>
          <p:cNvSpPr txBox="1"/>
          <p:nvPr/>
        </p:nvSpPr>
        <p:spPr>
          <a:xfrm>
            <a:off x="5326380" y="2423160"/>
            <a:ext cx="32232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300"/>
              <a:buFont typeface="Play"/>
              <a:buNone/>
            </a:pPr>
            <a:r>
              <a:rPr b="1" i="0" lang="en" sz="1300" u="none" cap="none" strike="noStrike">
                <a:solidFill>
                  <a:srgbClr val="1D1D1F"/>
                </a:solidFill>
                <a:latin typeface="Play"/>
                <a:ea typeface="Play"/>
                <a:cs typeface="Play"/>
                <a:sym typeface="Play"/>
              </a:rPr>
              <a:t>Not on shift</a:t>
            </a:r>
            <a:endParaRPr b="0" i="0" sz="1300" u="none" cap="none" strike="noStrike">
              <a:solidFill>
                <a:schemeClr val="dk1"/>
              </a:solidFill>
              <a:latin typeface="Calibri"/>
              <a:ea typeface="Calibri"/>
              <a:cs typeface="Calibri"/>
              <a:sym typeface="Calibri"/>
            </a:endParaRPr>
          </a:p>
        </p:txBody>
      </p:sp>
      <p:sp>
        <p:nvSpPr>
          <p:cNvPr id="472" name="Google Shape;472;p24"/>
          <p:cNvSpPr txBox="1"/>
          <p:nvPr/>
        </p:nvSpPr>
        <p:spPr>
          <a:xfrm>
            <a:off x="4823460" y="2953512"/>
            <a:ext cx="3726180" cy="777240"/>
          </a:xfrm>
          <a:prstGeom prst="rect">
            <a:avLst/>
          </a:prstGeom>
          <a:noFill/>
          <a:ln>
            <a:noFill/>
          </a:ln>
        </p:spPr>
        <p:txBody>
          <a:bodyPr anchorCtr="0" anchor="t" bIns="0" lIns="0" spcFirstLastPara="1" rIns="0" wrap="square" tIns="0">
            <a:noAutofit/>
          </a:bodyPr>
          <a:lstStyle/>
          <a:p>
            <a:pPr indent="-127000" lvl="0" marL="127000" marR="0" rtl="0" algn="l">
              <a:lnSpc>
                <a:spcPct val="100000"/>
              </a:lnSpc>
              <a:spcBef>
                <a:spcPts val="0"/>
              </a:spcBef>
              <a:spcAft>
                <a:spcPts val="0"/>
              </a:spcAft>
              <a:buClr>
                <a:srgbClr val="1D1D1F"/>
              </a:buClr>
              <a:buSzPts val="1000"/>
              <a:buFont typeface="Arial"/>
              <a:buChar char="•"/>
            </a:pPr>
            <a:r>
              <a:rPr b="0" i="0" lang="en" sz="1000" u="none" cap="none" strike="noStrike">
                <a:solidFill>
                  <a:srgbClr val="1D1D1F"/>
                </a:solidFill>
                <a:latin typeface="Arial"/>
                <a:ea typeface="Arial"/>
                <a:cs typeface="Arial"/>
                <a:sym typeface="Arial"/>
              </a:rPr>
              <a:t>Log the ticket in the Callback Requests Tracker</a:t>
            </a:r>
            <a:endParaRPr b="0" i="0" sz="1000" u="none" cap="none" strike="noStrike">
              <a:solidFill>
                <a:schemeClr val="dk1"/>
              </a:solidFill>
              <a:latin typeface="Calibri"/>
              <a:ea typeface="Calibri"/>
              <a:cs typeface="Calibri"/>
              <a:sym typeface="Calibri"/>
            </a:endParaRPr>
          </a:p>
        </p:txBody>
      </p:sp>
      <p:sp>
        <p:nvSpPr>
          <p:cNvPr id="473" name="Google Shape;473;p24"/>
          <p:cNvSpPr/>
          <p:nvPr/>
        </p:nvSpPr>
        <p:spPr>
          <a:xfrm>
            <a:off x="411480" y="40233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74" name="Google Shape;474;p24"/>
          <p:cNvPicPr preferRelativeResize="0"/>
          <p:nvPr/>
        </p:nvPicPr>
        <p:blipFill rotWithShape="1">
          <a:blip r:embed="rId6">
            <a:alphaModFix/>
          </a:blip>
          <a:srcRect b="0" l="0" r="0" t="0"/>
          <a:stretch/>
        </p:blipFill>
        <p:spPr>
          <a:xfrm>
            <a:off x="566928" y="4133088"/>
            <a:ext cx="164592" cy="164592"/>
          </a:xfrm>
          <a:prstGeom prst="rect">
            <a:avLst/>
          </a:prstGeom>
          <a:noFill/>
          <a:ln>
            <a:noFill/>
          </a:ln>
        </p:spPr>
      </p:pic>
      <p:sp>
        <p:nvSpPr>
          <p:cNvPr id="475" name="Google Shape;475;p24"/>
          <p:cNvSpPr txBox="1"/>
          <p:nvPr/>
        </p:nvSpPr>
        <p:spPr>
          <a:xfrm>
            <a:off x="822960" y="41239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Why two paths:  </a:t>
            </a:r>
            <a:r>
              <a:rPr b="0" i="0" lang="en" sz="1000" u="none" cap="none" strike="noStrike">
                <a:solidFill>
                  <a:srgbClr val="1D1D1F"/>
                </a:solidFill>
                <a:latin typeface="Arial"/>
                <a:ea typeface="Arial"/>
                <a:cs typeface="Arial"/>
                <a:sym typeface="Arial"/>
              </a:rPr>
              <a:t>a promised callback never gets lost across a shift change.</a:t>
            </a:r>
            <a:endParaRPr b="0" i="0" sz="1000" u="none" cap="none" strike="noStrike">
              <a:solidFill>
                <a:schemeClr val="dk1"/>
              </a:solidFill>
              <a:latin typeface="Calibri"/>
              <a:ea typeface="Calibri"/>
              <a:cs typeface="Calibri"/>
              <a:sym typeface="Calibri"/>
            </a:endParaRPr>
          </a:p>
        </p:txBody>
      </p:sp>
      <p:sp>
        <p:nvSpPr>
          <p:cNvPr id="476" name="Google Shape;476;p2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2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CALLBACK HANDLING</a:t>
            </a:r>
            <a:endParaRPr b="0" i="0" sz="800" u="none" cap="none" strike="noStrike">
              <a:solidFill>
                <a:schemeClr val="dk1"/>
              </a:solidFill>
              <a:latin typeface="Calibri"/>
              <a:ea typeface="Calibri"/>
              <a:cs typeface="Calibri"/>
              <a:sym typeface="Calibri"/>
            </a:endParaRPr>
          </a:p>
        </p:txBody>
      </p:sp>
      <p:sp>
        <p:nvSpPr>
          <p:cNvPr id="483" name="Google Shape;483;p2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to send</a:t>
            </a:r>
            <a:endParaRPr b="0" i="0" sz="2400" u="none" cap="none" strike="noStrike">
              <a:solidFill>
                <a:schemeClr val="dk1"/>
              </a:solidFill>
              <a:latin typeface="Calibri"/>
              <a:ea typeface="Calibri"/>
              <a:cs typeface="Calibri"/>
              <a:sym typeface="Calibri"/>
            </a:endParaRPr>
          </a:p>
        </p:txBody>
      </p:sp>
      <p:sp>
        <p:nvSpPr>
          <p:cNvPr id="484" name="Google Shape;484;p2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Adapt these samples to the customer.</a:t>
            </a:r>
            <a:endParaRPr b="0" i="0" sz="1200" u="none" cap="none" strike="noStrike">
              <a:solidFill>
                <a:schemeClr val="dk1"/>
              </a:solidFill>
              <a:latin typeface="Calibri"/>
              <a:ea typeface="Calibri"/>
              <a:cs typeface="Calibri"/>
              <a:sym typeface="Calibri"/>
            </a:endParaRPr>
          </a:p>
        </p:txBody>
      </p:sp>
      <p:sp>
        <p:nvSpPr>
          <p:cNvPr id="485" name="Google Shape;485;p25"/>
          <p:cNvSpPr/>
          <p:nvPr/>
        </p:nvSpPr>
        <p:spPr>
          <a:xfrm>
            <a:off x="411480" y="1280160"/>
            <a:ext cx="4091940" cy="3017520"/>
          </a:xfrm>
          <a:prstGeom prst="roundRect">
            <a:avLst>
              <a:gd fmla="val 24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p25"/>
          <p:cNvSpPr/>
          <p:nvPr/>
        </p:nvSpPr>
        <p:spPr>
          <a:xfrm>
            <a:off x="594360" y="1444752"/>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87" name="Google Shape;487;p25"/>
          <p:cNvPicPr preferRelativeResize="0"/>
          <p:nvPr/>
        </p:nvPicPr>
        <p:blipFill rotWithShape="1">
          <a:blip r:embed="rId3">
            <a:alphaModFix/>
          </a:blip>
          <a:srcRect b="0" l="0" r="0" t="0"/>
          <a:stretch/>
        </p:blipFill>
        <p:spPr>
          <a:xfrm>
            <a:off x="686532" y="1536924"/>
            <a:ext cx="199705" cy="199705"/>
          </a:xfrm>
          <a:prstGeom prst="rect">
            <a:avLst/>
          </a:prstGeom>
          <a:noFill/>
          <a:ln>
            <a:noFill/>
          </a:ln>
        </p:spPr>
      </p:pic>
      <p:sp>
        <p:nvSpPr>
          <p:cNvPr id="488" name="Google Shape;488;p25"/>
          <p:cNvSpPr txBox="1"/>
          <p:nvPr/>
        </p:nvSpPr>
        <p:spPr>
          <a:xfrm>
            <a:off x="1097280" y="1444752"/>
            <a:ext cx="32689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 sz="1250" u="none" cap="none" strike="noStrike">
                <a:solidFill>
                  <a:srgbClr val="1D1D1F"/>
                </a:solidFill>
                <a:latin typeface="Play"/>
                <a:ea typeface="Play"/>
                <a:cs typeface="Play"/>
                <a:sym typeface="Play"/>
              </a:rPr>
              <a:t>Email: outside business hours</a:t>
            </a:r>
            <a:endParaRPr b="0" i="0" sz="1250" u="none" cap="none" strike="noStrike">
              <a:solidFill>
                <a:schemeClr val="dk1"/>
              </a:solidFill>
              <a:latin typeface="Calibri"/>
              <a:ea typeface="Calibri"/>
              <a:cs typeface="Calibri"/>
              <a:sym typeface="Calibri"/>
            </a:endParaRPr>
          </a:p>
        </p:txBody>
      </p:sp>
      <p:sp>
        <p:nvSpPr>
          <p:cNvPr id="489" name="Google Shape;489;p25"/>
          <p:cNvSpPr/>
          <p:nvPr/>
        </p:nvSpPr>
        <p:spPr>
          <a:xfrm>
            <a:off x="594360" y="1965960"/>
            <a:ext cx="3726180" cy="2148840"/>
          </a:xfrm>
          <a:prstGeom prst="roundRect">
            <a:avLst>
              <a:gd fmla="val 3404"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0" name="Google Shape;490;p25"/>
          <p:cNvSpPr txBox="1"/>
          <p:nvPr/>
        </p:nvSpPr>
        <p:spPr>
          <a:xfrm>
            <a:off x="758952" y="2075688"/>
            <a:ext cx="3396996" cy="1965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1" lang="en" sz="950" u="none" cap="none" strike="noStrike">
                <a:solidFill>
                  <a:srgbClr val="1D1D1F"/>
                </a:solidFill>
                <a:latin typeface="Arial"/>
                <a:ea typeface="Arial"/>
                <a:cs typeface="Arial"/>
                <a:sym typeface="Arial"/>
              </a:rPr>
              <a:t>"Hi &lt;&lt;Name&gt;&gt;, I'd be happy to hop on a call to discuss this with you. Please let me know what days and times generally work best for this week. In the meantime, I pulled up your account and &lt;&lt;address surface-level issues/resolutions&gt;&gt;. Let me know if that fully resolves your concerns! Otherwise, just reply with your availability and I'll get you scheduled."</a:t>
            </a:r>
            <a:endParaRPr b="0" i="0" sz="950" u="none" cap="none" strike="noStrike">
              <a:solidFill>
                <a:schemeClr val="dk1"/>
              </a:solidFill>
              <a:latin typeface="Calibri"/>
              <a:ea typeface="Calibri"/>
              <a:cs typeface="Calibri"/>
              <a:sym typeface="Calibri"/>
            </a:endParaRPr>
          </a:p>
        </p:txBody>
      </p:sp>
      <p:sp>
        <p:nvSpPr>
          <p:cNvPr id="491" name="Google Shape;491;p25"/>
          <p:cNvSpPr/>
          <p:nvPr/>
        </p:nvSpPr>
        <p:spPr>
          <a:xfrm>
            <a:off x="4640580" y="1280160"/>
            <a:ext cx="4091940" cy="3017520"/>
          </a:xfrm>
          <a:prstGeom prst="roundRect">
            <a:avLst>
              <a:gd fmla="val 24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25"/>
          <p:cNvSpPr/>
          <p:nvPr/>
        </p:nvSpPr>
        <p:spPr>
          <a:xfrm>
            <a:off x="4823460" y="1444752"/>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93" name="Google Shape;493;p25"/>
          <p:cNvPicPr preferRelativeResize="0"/>
          <p:nvPr/>
        </p:nvPicPr>
        <p:blipFill rotWithShape="1">
          <a:blip r:embed="rId4">
            <a:alphaModFix/>
          </a:blip>
          <a:srcRect b="0" l="0" r="0" t="0"/>
          <a:stretch/>
        </p:blipFill>
        <p:spPr>
          <a:xfrm>
            <a:off x="4915632" y="1536924"/>
            <a:ext cx="199705" cy="199705"/>
          </a:xfrm>
          <a:prstGeom prst="rect">
            <a:avLst/>
          </a:prstGeom>
          <a:noFill/>
          <a:ln>
            <a:noFill/>
          </a:ln>
        </p:spPr>
      </p:pic>
      <p:sp>
        <p:nvSpPr>
          <p:cNvPr id="494" name="Google Shape;494;p25"/>
          <p:cNvSpPr txBox="1"/>
          <p:nvPr/>
        </p:nvSpPr>
        <p:spPr>
          <a:xfrm>
            <a:off x="5326380" y="1444752"/>
            <a:ext cx="326898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 sz="1250" u="none" cap="none" strike="noStrike">
                <a:solidFill>
                  <a:srgbClr val="1D1D1F"/>
                </a:solidFill>
                <a:latin typeface="Play"/>
                <a:ea typeface="Play"/>
                <a:cs typeface="Play"/>
                <a:sym typeface="Play"/>
              </a:rPr>
              <a:t>Text: missed callback</a:t>
            </a:r>
            <a:endParaRPr b="0" i="0" sz="1250" u="none" cap="none" strike="noStrike">
              <a:solidFill>
                <a:schemeClr val="dk1"/>
              </a:solidFill>
              <a:latin typeface="Calibri"/>
              <a:ea typeface="Calibri"/>
              <a:cs typeface="Calibri"/>
              <a:sym typeface="Calibri"/>
            </a:endParaRPr>
          </a:p>
        </p:txBody>
      </p:sp>
      <p:sp>
        <p:nvSpPr>
          <p:cNvPr id="495" name="Google Shape;495;p25"/>
          <p:cNvSpPr/>
          <p:nvPr/>
        </p:nvSpPr>
        <p:spPr>
          <a:xfrm>
            <a:off x="4823460" y="1965960"/>
            <a:ext cx="3726180" cy="2148840"/>
          </a:xfrm>
          <a:prstGeom prst="roundRect">
            <a:avLst>
              <a:gd fmla="val 3404"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p25"/>
          <p:cNvSpPr txBox="1"/>
          <p:nvPr/>
        </p:nvSpPr>
        <p:spPr>
          <a:xfrm>
            <a:off x="4988052" y="2075688"/>
            <a:ext cx="3396996" cy="1965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50"/>
              <a:buFont typeface="Arial"/>
              <a:buNone/>
            </a:pPr>
            <a:r>
              <a:rPr b="0" i="1" lang="en" sz="950" u="none" cap="none" strike="noStrike">
                <a:solidFill>
                  <a:srgbClr val="1D1D1F"/>
                </a:solidFill>
                <a:latin typeface="Arial"/>
                <a:ea typeface="Arial"/>
                <a:cs typeface="Arial"/>
                <a:sym typeface="Arial"/>
              </a:rPr>
              <a:t>"This is &lt;&lt;Name&gt;&gt; from Homeaglow. I tried calling but it went to voicemail — no worries, I've already addressed your concern over email. If you'd still like to hop on a call, just text me back with your availability and we'll set it up."</a:t>
            </a:r>
            <a:endParaRPr b="0" i="0" sz="950" u="none" cap="none" strike="noStrike">
              <a:solidFill>
                <a:schemeClr val="dk1"/>
              </a:solidFill>
              <a:latin typeface="Calibri"/>
              <a:ea typeface="Calibri"/>
              <a:cs typeface="Calibri"/>
              <a:sym typeface="Calibri"/>
            </a:endParaRPr>
          </a:p>
        </p:txBody>
      </p:sp>
      <p:sp>
        <p:nvSpPr>
          <p:cNvPr id="497" name="Google Shape;497;p2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26"/>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504" name="Google Shape;504;p26"/>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505" name="Google Shape;505;p26"/>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506" name="Google Shape;506;p26"/>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26"/>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508" name="Google Shape;508;p26"/>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509" name="Google Shape;509;p26"/>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p26"/>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26"/>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26"/>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26"/>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26"/>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26"/>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7"/>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03</a:t>
            </a:r>
            <a:endParaRPr b="0" i="0" sz="800" u="none" cap="none" strike="noStrike">
              <a:solidFill>
                <a:schemeClr val="dk1"/>
              </a:solidFill>
              <a:latin typeface="Calibri"/>
              <a:ea typeface="Calibri"/>
              <a:cs typeface="Calibri"/>
              <a:sym typeface="Calibri"/>
            </a:endParaRPr>
          </a:p>
        </p:txBody>
      </p:sp>
      <p:sp>
        <p:nvSpPr>
          <p:cNvPr id="522" name="Google Shape;522;p27"/>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C Price vs CP Pay</a:t>
            </a:r>
            <a:endParaRPr b="0" i="0" sz="2800" u="none" cap="none" strike="noStrike">
              <a:solidFill>
                <a:schemeClr val="dk1"/>
              </a:solidFill>
              <a:latin typeface="Calibri"/>
              <a:ea typeface="Calibri"/>
              <a:cs typeface="Calibri"/>
              <a:sym typeface="Calibri"/>
            </a:endParaRPr>
          </a:p>
        </p:txBody>
      </p:sp>
      <p:sp>
        <p:nvSpPr>
          <p:cNvPr id="523" name="Google Shape;523;p27"/>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What a customer is charged, and what the cleaner is paid. Related, but calculated separately.</a:t>
            </a:r>
            <a:endParaRPr b="0" i="0" sz="1150" u="none" cap="none" strike="noStrike">
              <a:solidFill>
                <a:schemeClr val="dk1"/>
              </a:solidFill>
              <a:latin typeface="Calibri"/>
              <a:ea typeface="Calibri"/>
              <a:cs typeface="Calibri"/>
              <a:sym typeface="Calibri"/>
            </a:endParaRPr>
          </a:p>
        </p:txBody>
      </p:sp>
      <p:sp>
        <p:nvSpPr>
          <p:cNvPr id="524" name="Google Shape;524;p27"/>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525" name="Google Shape;525;p27"/>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6" name="Google Shape;526;p27"/>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527" name="Google Shape;527;p27"/>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three pricing cohorts</a:t>
            </a:r>
            <a:endParaRPr b="0" i="0" sz="1050" u="none" cap="none" strike="noStrike">
              <a:solidFill>
                <a:schemeClr val="dk1"/>
              </a:solidFill>
              <a:latin typeface="Calibri"/>
              <a:ea typeface="Calibri"/>
              <a:cs typeface="Calibri"/>
              <a:sym typeface="Calibri"/>
            </a:endParaRPr>
          </a:p>
        </p:txBody>
      </p:sp>
      <p:sp>
        <p:nvSpPr>
          <p:cNvPr id="528" name="Google Shape;528;p27"/>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9" name="Google Shape;529;p27"/>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530" name="Google Shape;530;p27"/>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How the price is built</a:t>
            </a:r>
            <a:endParaRPr b="0" i="0" sz="1050" u="none" cap="none" strike="noStrike">
              <a:solidFill>
                <a:schemeClr val="dk1"/>
              </a:solidFill>
              <a:latin typeface="Calibri"/>
              <a:ea typeface="Calibri"/>
              <a:cs typeface="Calibri"/>
              <a:sym typeface="Calibri"/>
            </a:endParaRPr>
          </a:p>
        </p:txBody>
      </p:sp>
      <p:sp>
        <p:nvSpPr>
          <p:cNvPr id="531" name="Google Shape;531;p27"/>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32" name="Google Shape;532;p27"/>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533" name="Google Shape;533;p27"/>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How the cleaner is paid</a:t>
            </a:r>
            <a:endParaRPr b="0" i="0" sz="1050" u="none" cap="none" strike="noStrike">
              <a:solidFill>
                <a:schemeClr val="dk1"/>
              </a:solidFill>
              <a:latin typeface="Calibri"/>
              <a:ea typeface="Calibri"/>
              <a:cs typeface="Calibri"/>
              <a:sym typeface="Calibri"/>
            </a:endParaRPr>
          </a:p>
        </p:txBody>
      </p:sp>
      <p:sp>
        <p:nvSpPr>
          <p:cNvPr id="534" name="Google Shape;534;p27"/>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35" name="Google Shape;535;p27"/>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536" name="Google Shape;536;p27"/>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When a "platform fee" shows up</a:t>
            </a:r>
            <a:endParaRPr b="0" i="0" sz="1050" u="none" cap="none" strike="noStrike">
              <a:solidFill>
                <a:schemeClr val="dk1"/>
              </a:solidFill>
              <a:latin typeface="Calibri"/>
              <a:ea typeface="Calibri"/>
              <a:cs typeface="Calibri"/>
              <a:sym typeface="Calibri"/>
            </a:endParaRPr>
          </a:p>
        </p:txBody>
      </p:sp>
      <p:sp>
        <p:nvSpPr>
          <p:cNvPr id="537" name="Google Shape;537;p27"/>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27"/>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_pay.png" id="539" name="Google Shape;539;p27"/>
          <p:cNvPicPr preferRelativeResize="0"/>
          <p:nvPr/>
        </p:nvPicPr>
        <p:blipFill rotWithShape="1">
          <a:blip r:embed="rId4">
            <a:alphaModFix/>
          </a:blip>
          <a:srcRect b="0" l="0" r="0" t="0"/>
          <a:stretch/>
        </p:blipFill>
        <p:spPr>
          <a:xfrm>
            <a:off x="5541264" y="1540190"/>
            <a:ext cx="2926080" cy="2058549"/>
          </a:xfrm>
          <a:prstGeom prst="rect">
            <a:avLst/>
          </a:prstGeom>
          <a:noFill/>
          <a:ln>
            <a:noFill/>
          </a:ln>
        </p:spPr>
      </p:pic>
      <p:sp>
        <p:nvSpPr>
          <p:cNvPr id="540" name="Google Shape;540;p27"/>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27"/>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27"/>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27"/>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27"/>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27"/>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2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2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 PRICE VS CP PAY</a:t>
            </a:r>
            <a:endParaRPr b="0" i="0" sz="800" u="none" cap="none" strike="noStrike">
              <a:solidFill>
                <a:schemeClr val="dk1"/>
              </a:solidFill>
              <a:latin typeface="Calibri"/>
              <a:ea typeface="Calibri"/>
              <a:cs typeface="Calibri"/>
              <a:sym typeface="Calibri"/>
            </a:endParaRPr>
          </a:p>
        </p:txBody>
      </p:sp>
      <p:sp>
        <p:nvSpPr>
          <p:cNvPr id="553" name="Google Shape;553;p2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Two separate calculations</a:t>
            </a:r>
            <a:endParaRPr b="0" i="0" sz="2400" u="none" cap="none" strike="noStrike">
              <a:solidFill>
                <a:schemeClr val="dk1"/>
              </a:solidFill>
              <a:latin typeface="Calibri"/>
              <a:ea typeface="Calibri"/>
              <a:cs typeface="Calibri"/>
              <a:sym typeface="Calibri"/>
            </a:endParaRPr>
          </a:p>
        </p:txBody>
      </p:sp>
      <p:sp>
        <p:nvSpPr>
          <p:cNvPr id="554" name="Google Shape;554;p2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You can't judge whether a charge is fair until you know how it's built.</a:t>
            </a:r>
            <a:endParaRPr b="0" i="0" sz="1200" u="none" cap="none" strike="noStrike">
              <a:solidFill>
                <a:schemeClr val="dk1"/>
              </a:solidFill>
              <a:latin typeface="Calibri"/>
              <a:ea typeface="Calibri"/>
              <a:cs typeface="Calibri"/>
              <a:sym typeface="Calibri"/>
            </a:endParaRPr>
          </a:p>
        </p:txBody>
      </p:sp>
      <p:sp>
        <p:nvSpPr>
          <p:cNvPr id="555" name="Google Shape;555;p28"/>
          <p:cNvSpPr/>
          <p:nvPr/>
        </p:nvSpPr>
        <p:spPr>
          <a:xfrm>
            <a:off x="411480" y="1371600"/>
            <a:ext cx="40919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28"/>
          <p:cNvSpPr/>
          <p:nvPr/>
        </p:nvSpPr>
        <p:spPr>
          <a:xfrm>
            <a:off x="576072" y="153619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7" name="Google Shape;557;p28"/>
          <p:cNvPicPr preferRelativeResize="0"/>
          <p:nvPr/>
        </p:nvPicPr>
        <p:blipFill rotWithShape="1">
          <a:blip r:embed="rId3">
            <a:alphaModFix/>
          </a:blip>
          <a:srcRect b="0" l="0" r="0" t="0"/>
          <a:stretch/>
        </p:blipFill>
        <p:spPr>
          <a:xfrm>
            <a:off x="655076" y="1615196"/>
            <a:ext cx="171176" cy="171176"/>
          </a:xfrm>
          <a:prstGeom prst="rect">
            <a:avLst/>
          </a:prstGeom>
          <a:noFill/>
          <a:ln>
            <a:noFill/>
          </a:ln>
        </p:spPr>
      </p:pic>
      <p:sp>
        <p:nvSpPr>
          <p:cNvPr id="558" name="Google Shape;558;p28"/>
          <p:cNvSpPr txBox="1"/>
          <p:nvPr/>
        </p:nvSpPr>
        <p:spPr>
          <a:xfrm>
            <a:off x="576072" y="197510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Customer price</a:t>
            </a:r>
            <a:endParaRPr b="0" i="0" sz="1200" u="none" cap="none" strike="noStrike">
              <a:solidFill>
                <a:schemeClr val="dk1"/>
              </a:solidFill>
              <a:latin typeface="Calibri"/>
              <a:ea typeface="Calibri"/>
              <a:cs typeface="Calibri"/>
              <a:sym typeface="Calibri"/>
            </a:endParaRPr>
          </a:p>
        </p:txBody>
      </p:sp>
      <p:sp>
        <p:nvSpPr>
          <p:cNvPr id="559" name="Google Shape;559;p28"/>
          <p:cNvSpPr txBox="1"/>
          <p:nvPr/>
        </p:nvSpPr>
        <p:spPr>
          <a:xfrm>
            <a:off x="576072" y="2267712"/>
            <a:ext cx="37627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cleaner's rate plus platform fees and taxes that don't go to the cleaner.</a:t>
            </a:r>
            <a:endParaRPr b="0" i="0" sz="950" u="none" cap="none" strike="noStrike">
              <a:solidFill>
                <a:schemeClr val="dk1"/>
              </a:solidFill>
              <a:latin typeface="Calibri"/>
              <a:ea typeface="Calibri"/>
              <a:cs typeface="Calibri"/>
              <a:sym typeface="Calibri"/>
            </a:endParaRPr>
          </a:p>
        </p:txBody>
      </p:sp>
      <p:sp>
        <p:nvSpPr>
          <p:cNvPr id="560" name="Google Shape;560;p28"/>
          <p:cNvSpPr/>
          <p:nvPr/>
        </p:nvSpPr>
        <p:spPr>
          <a:xfrm>
            <a:off x="4640580" y="1371600"/>
            <a:ext cx="40919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8"/>
          <p:cNvSpPr/>
          <p:nvPr/>
        </p:nvSpPr>
        <p:spPr>
          <a:xfrm>
            <a:off x="4805172" y="153619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62" name="Google Shape;562;p28"/>
          <p:cNvPicPr preferRelativeResize="0"/>
          <p:nvPr/>
        </p:nvPicPr>
        <p:blipFill rotWithShape="1">
          <a:blip r:embed="rId4">
            <a:alphaModFix/>
          </a:blip>
          <a:srcRect b="0" l="0" r="0" t="0"/>
          <a:stretch/>
        </p:blipFill>
        <p:spPr>
          <a:xfrm>
            <a:off x="4884176" y="1615196"/>
            <a:ext cx="171176" cy="171176"/>
          </a:xfrm>
          <a:prstGeom prst="rect">
            <a:avLst/>
          </a:prstGeom>
          <a:noFill/>
          <a:ln>
            <a:noFill/>
          </a:ln>
        </p:spPr>
      </p:pic>
      <p:sp>
        <p:nvSpPr>
          <p:cNvPr id="563" name="Google Shape;563;p28"/>
          <p:cNvSpPr txBox="1"/>
          <p:nvPr/>
        </p:nvSpPr>
        <p:spPr>
          <a:xfrm>
            <a:off x="4805172" y="197510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Cleaner pay</a:t>
            </a:r>
            <a:endParaRPr b="0" i="0" sz="1200" u="none" cap="none" strike="noStrike">
              <a:solidFill>
                <a:schemeClr val="dk1"/>
              </a:solidFill>
              <a:latin typeface="Calibri"/>
              <a:ea typeface="Calibri"/>
              <a:cs typeface="Calibri"/>
              <a:sym typeface="Calibri"/>
            </a:endParaRPr>
          </a:p>
        </p:txBody>
      </p:sp>
      <p:sp>
        <p:nvSpPr>
          <p:cNvPr id="564" name="Google Shape;564;p28"/>
          <p:cNvSpPr txBox="1"/>
          <p:nvPr/>
        </p:nvSpPr>
        <p:spPr>
          <a:xfrm>
            <a:off x="4805172" y="2267712"/>
            <a:ext cx="37627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Based on the cleaner's own hourly rate and their operating model.</a:t>
            </a:r>
            <a:endParaRPr b="0" i="0" sz="950" u="none" cap="none" strike="noStrike">
              <a:solidFill>
                <a:schemeClr val="dk1"/>
              </a:solidFill>
              <a:latin typeface="Calibri"/>
              <a:ea typeface="Calibri"/>
              <a:cs typeface="Calibri"/>
              <a:sym typeface="Calibri"/>
            </a:endParaRPr>
          </a:p>
        </p:txBody>
      </p:sp>
      <p:sp>
        <p:nvSpPr>
          <p:cNvPr id="565" name="Google Shape;565;p28"/>
          <p:cNvSpPr/>
          <p:nvPr/>
        </p:nvSpPr>
        <p:spPr>
          <a:xfrm>
            <a:off x="411480" y="32918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66" name="Google Shape;566;p28"/>
          <p:cNvPicPr preferRelativeResize="0"/>
          <p:nvPr/>
        </p:nvPicPr>
        <p:blipFill rotWithShape="1">
          <a:blip r:embed="rId5">
            <a:alphaModFix/>
          </a:blip>
          <a:srcRect b="0" l="0" r="0" t="0"/>
          <a:stretch/>
        </p:blipFill>
        <p:spPr>
          <a:xfrm>
            <a:off x="566928" y="3401568"/>
            <a:ext cx="164592" cy="164592"/>
          </a:xfrm>
          <a:prstGeom prst="rect">
            <a:avLst/>
          </a:prstGeom>
          <a:noFill/>
          <a:ln>
            <a:noFill/>
          </a:ln>
        </p:spPr>
      </p:pic>
      <p:sp>
        <p:nvSpPr>
          <p:cNvPr id="567" name="Google Shape;567;p28"/>
          <p:cNvSpPr txBox="1"/>
          <p:nvPr/>
        </p:nvSpPr>
        <p:spPr>
          <a:xfrm>
            <a:off x="822960" y="33924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Used everywhere:  </a:t>
            </a:r>
            <a:r>
              <a:rPr b="0" i="0" lang="en" sz="1000" u="none" cap="none" strike="noStrike">
                <a:solidFill>
                  <a:srgbClr val="1D1D1F"/>
                </a:solidFill>
                <a:latin typeface="Arial"/>
                <a:ea typeface="Arial"/>
                <a:cs typeface="Arial"/>
                <a:sym typeface="Arial"/>
              </a:rPr>
              <a:t>Overcharged Hours, False Invoice and ETF calculations all start from these formulas.</a:t>
            </a:r>
            <a:endParaRPr b="0" i="0" sz="1000" u="none" cap="none" strike="noStrike">
              <a:solidFill>
                <a:schemeClr val="dk1"/>
              </a:solidFill>
              <a:latin typeface="Calibri"/>
              <a:ea typeface="Calibri"/>
              <a:cs typeface="Calibri"/>
              <a:sym typeface="Calibri"/>
            </a:endParaRPr>
          </a:p>
        </p:txBody>
      </p:sp>
      <p:sp>
        <p:nvSpPr>
          <p:cNvPr id="568" name="Google Shape;568;p2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 PRICE VS CP PAY</a:t>
            </a:r>
            <a:endParaRPr b="0" i="0" sz="800" u="none" cap="none" strike="noStrike">
              <a:solidFill>
                <a:schemeClr val="dk1"/>
              </a:solidFill>
              <a:latin typeface="Calibri"/>
              <a:ea typeface="Calibri"/>
              <a:cs typeface="Calibri"/>
              <a:sym typeface="Calibri"/>
            </a:endParaRPr>
          </a:p>
        </p:txBody>
      </p:sp>
      <p:sp>
        <p:nvSpPr>
          <p:cNvPr id="575" name="Google Shape;575;p2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Three pricing cohorts</a:t>
            </a:r>
            <a:endParaRPr b="0" i="0" sz="2400" u="none" cap="none" strike="noStrike">
              <a:solidFill>
                <a:schemeClr val="dk1"/>
              </a:solidFill>
              <a:latin typeface="Calibri"/>
              <a:ea typeface="Calibri"/>
              <a:cs typeface="Calibri"/>
              <a:sym typeface="Calibri"/>
            </a:endParaRPr>
          </a:p>
        </p:txBody>
      </p:sp>
      <p:sp>
        <p:nvSpPr>
          <p:cNvPr id="576" name="Google Shape;576;p2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a customer pays on top of the cleaner's rate depends on their membership.</a:t>
            </a:r>
            <a:endParaRPr b="0" i="0" sz="1200" u="none" cap="none" strike="noStrike">
              <a:solidFill>
                <a:schemeClr val="dk1"/>
              </a:solidFill>
              <a:latin typeface="Calibri"/>
              <a:ea typeface="Calibri"/>
              <a:cs typeface="Calibri"/>
              <a:sym typeface="Calibri"/>
            </a:endParaRPr>
          </a:p>
        </p:txBody>
      </p:sp>
      <p:graphicFrame>
        <p:nvGraphicFramePr>
          <p:cNvPr id="577" name="Google Shape;577;p29"/>
          <p:cNvGraphicFramePr/>
          <p:nvPr/>
        </p:nvGraphicFramePr>
        <p:xfrm>
          <a:off x="411480" y="1371600"/>
          <a:ext cx="3000000" cy="3000000"/>
        </p:xfrm>
        <a:graphic>
          <a:graphicData uri="http://schemas.openxmlformats.org/drawingml/2006/table">
            <a:tbl>
              <a:tblPr>
                <a:noFill/>
                <a:tableStyleId>{1110B021-F78A-4E02-AF73-8366E27A90AE}</a:tableStyleId>
              </a:tblPr>
              <a:tblGrid>
                <a:gridCol w="2560325"/>
                <a:gridCol w="1920250"/>
                <a:gridCol w="1920250"/>
                <a:gridCol w="1920250"/>
              </a:tblGrid>
              <a:tr h="502925">
                <a:tc>
                  <a:txBody>
                    <a:bodyPr/>
                    <a:lstStyle/>
                    <a:p>
                      <a:pPr indent="0" lvl="0" marL="0" marR="0" rtl="0" algn="l">
                        <a:lnSpc>
                          <a:spcPct val="100000"/>
                        </a:lnSpc>
                        <a:spcBef>
                          <a:spcPts val="0"/>
                        </a:spcBef>
                        <a:spcAft>
                          <a:spcPts val="0"/>
                        </a:spcAft>
                        <a:buClr>
                          <a:srgbClr val="0B7A6F"/>
                        </a:buClr>
                        <a:buSzPts val="1100"/>
                        <a:buFont typeface="Play"/>
                        <a:buNone/>
                      </a:pPr>
                      <a:r>
                        <a:rPr b="1" lang="en" sz="1100" u="none" cap="none" strike="noStrike">
                          <a:solidFill>
                            <a:srgbClr val="0B7A6F"/>
                          </a:solidFill>
                          <a:latin typeface="Play"/>
                          <a:ea typeface="Play"/>
                          <a:cs typeface="Play"/>
                          <a:sym typeface="Play"/>
                        </a:rPr>
                        <a:t>Cohort</a:t>
                      </a:r>
                      <a:endParaRPr sz="11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100"/>
                        <a:buFont typeface="Play"/>
                        <a:buNone/>
                      </a:pPr>
                      <a:r>
                        <a:rPr b="1" lang="en" sz="1100" u="none" cap="none" strike="noStrike">
                          <a:solidFill>
                            <a:srgbClr val="0B7A6F"/>
                          </a:solidFill>
                          <a:latin typeface="Play"/>
                          <a:ea typeface="Play"/>
                          <a:cs typeface="Play"/>
                          <a:sym typeface="Play"/>
                        </a:rPr>
                        <a:t>Platform fee / hr</a:t>
                      </a:r>
                      <a:endParaRPr sz="11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100"/>
                        <a:buFont typeface="Play"/>
                        <a:buNone/>
                      </a:pPr>
                      <a:r>
                        <a:rPr b="1" lang="en" sz="1100" u="none" cap="none" strike="noStrike">
                          <a:solidFill>
                            <a:srgbClr val="0B7A6F"/>
                          </a:solidFill>
                          <a:latin typeface="Play"/>
                          <a:ea typeface="Play"/>
                          <a:cs typeface="Play"/>
                          <a:sym typeface="Play"/>
                        </a:rPr>
                        <a:t>Processing fee</a:t>
                      </a:r>
                      <a:endParaRPr sz="11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100"/>
                        <a:buFont typeface="Play"/>
                        <a:buNone/>
                      </a:pPr>
                      <a:r>
                        <a:rPr b="1" lang="en" sz="1100" u="none" cap="none" strike="noStrike">
                          <a:solidFill>
                            <a:srgbClr val="0B7A6F"/>
                          </a:solidFill>
                          <a:latin typeface="Play"/>
                          <a:ea typeface="Play"/>
                          <a:cs typeface="Play"/>
                          <a:sym typeface="Play"/>
                        </a:rPr>
                        <a:t>Sales tax</a:t>
                      </a:r>
                      <a:endParaRPr sz="11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502925">
                <a:tc>
                  <a:txBody>
                    <a:bodyPr/>
                    <a:lstStyle/>
                    <a:p>
                      <a:pPr indent="0" lvl="0" marL="0" marR="0" rtl="0" algn="l">
                        <a:lnSpc>
                          <a:spcPct val="100000"/>
                        </a:lnSpc>
                        <a:spcBef>
                          <a:spcPts val="0"/>
                        </a:spcBef>
                        <a:spcAft>
                          <a:spcPts val="0"/>
                        </a:spcAft>
                        <a:buClr>
                          <a:srgbClr val="1D1D1F"/>
                        </a:buClr>
                        <a:buSzPts val="1100"/>
                        <a:buFont typeface="Arial"/>
                        <a:buNone/>
                      </a:pPr>
                      <a:r>
                        <a:rPr b="1" lang="en" sz="1100" u="none" cap="none" strike="noStrike">
                          <a:solidFill>
                            <a:srgbClr val="1D1D1F"/>
                          </a:solidFill>
                          <a:latin typeface="Arial"/>
                          <a:ea typeface="Arial"/>
                          <a:cs typeface="Arial"/>
                          <a:sym typeface="Arial"/>
                        </a:rPr>
                        <a:t>Non-FC customer</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100"/>
                        <a:buFont typeface="Arial"/>
                        <a:buNone/>
                      </a:pPr>
                      <a:r>
                        <a:rPr lang="en" sz="1100" u="none" cap="none" strike="noStrike">
                          <a:solidFill>
                            <a:srgbClr val="6E6E73"/>
                          </a:solidFill>
                          <a:latin typeface="Arial"/>
                          <a:ea typeface="Arial"/>
                          <a:cs typeface="Arial"/>
                          <a:sym typeface="Arial"/>
                        </a:rPr>
                        <a:t>$15.00</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100"/>
                        <a:buFont typeface="Arial"/>
                        <a:buNone/>
                      </a:pPr>
                      <a:r>
                        <a:rPr lang="en" sz="1100" u="none" cap="none" strike="noStrike">
                          <a:solidFill>
                            <a:srgbClr val="6E6E73"/>
                          </a:solidFill>
                          <a:latin typeface="Arial"/>
                          <a:ea typeface="Arial"/>
                          <a:cs typeface="Arial"/>
                          <a:sym typeface="Arial"/>
                        </a:rPr>
                        <a:t>5%</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100"/>
                        <a:buFont typeface="Arial"/>
                        <a:buNone/>
                      </a:pPr>
                      <a:r>
                        <a:rPr lang="en" sz="1100" u="none" cap="none" strike="noStrike">
                          <a:solidFill>
                            <a:srgbClr val="6E6E73"/>
                          </a:solidFill>
                          <a:latin typeface="Arial"/>
                          <a:ea typeface="Arial"/>
                          <a:cs typeface="Arial"/>
                          <a:sym typeface="Arial"/>
                        </a:rPr>
                        <a:t>Varies by state</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502925">
                <a:tc>
                  <a:txBody>
                    <a:bodyPr/>
                    <a:lstStyle/>
                    <a:p>
                      <a:pPr indent="0" lvl="0" marL="0" marR="0" rtl="0" algn="l">
                        <a:lnSpc>
                          <a:spcPct val="100000"/>
                        </a:lnSpc>
                        <a:spcBef>
                          <a:spcPts val="0"/>
                        </a:spcBef>
                        <a:spcAft>
                          <a:spcPts val="0"/>
                        </a:spcAft>
                        <a:buClr>
                          <a:srgbClr val="1D1D1F"/>
                        </a:buClr>
                        <a:buSzPts val="1100"/>
                        <a:buFont typeface="Arial"/>
                        <a:buNone/>
                      </a:pPr>
                      <a:r>
                        <a:rPr b="1" lang="en" sz="1100" u="none" cap="none" strike="noStrike">
                          <a:solidFill>
                            <a:srgbClr val="1D1D1F"/>
                          </a:solidFill>
                          <a:latin typeface="Arial"/>
                          <a:ea typeface="Arial"/>
                          <a:cs typeface="Arial"/>
                          <a:sym typeface="Arial"/>
                        </a:rPr>
                        <a:t>FC customer</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100"/>
                        <a:buFont typeface="Arial"/>
                        <a:buNone/>
                      </a:pPr>
                      <a:r>
                        <a:rPr lang="en" sz="1100" u="none" cap="none" strike="noStrike">
                          <a:solidFill>
                            <a:srgbClr val="6E6E73"/>
                          </a:solidFill>
                          <a:latin typeface="Arial"/>
                          <a:ea typeface="Arial"/>
                          <a:cs typeface="Arial"/>
                          <a:sym typeface="Arial"/>
                        </a:rPr>
                        <a:t>None</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100"/>
                        <a:buFont typeface="Arial"/>
                        <a:buNone/>
                      </a:pPr>
                      <a:r>
                        <a:rPr lang="en" sz="1100" u="none" cap="none" strike="noStrike">
                          <a:solidFill>
                            <a:srgbClr val="6E6E73"/>
                          </a:solidFill>
                          <a:latin typeface="Arial"/>
                          <a:ea typeface="Arial"/>
                          <a:cs typeface="Arial"/>
                          <a:sym typeface="Arial"/>
                        </a:rPr>
                        <a:t>15%</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100"/>
                        <a:buFont typeface="Arial"/>
                        <a:buNone/>
                      </a:pPr>
                      <a:r>
                        <a:rPr lang="en" sz="1100" u="none" cap="none" strike="noStrike">
                          <a:solidFill>
                            <a:srgbClr val="6E6E73"/>
                          </a:solidFill>
                          <a:latin typeface="Arial"/>
                          <a:ea typeface="Arial"/>
                          <a:cs typeface="Arial"/>
                          <a:sym typeface="Arial"/>
                        </a:rPr>
                        <a:t>Varies by state</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502925">
                <a:tc>
                  <a:txBody>
                    <a:bodyPr/>
                    <a:lstStyle/>
                    <a:p>
                      <a:pPr indent="0" lvl="0" marL="0" marR="0" rtl="0" algn="l">
                        <a:lnSpc>
                          <a:spcPct val="100000"/>
                        </a:lnSpc>
                        <a:spcBef>
                          <a:spcPts val="0"/>
                        </a:spcBef>
                        <a:spcAft>
                          <a:spcPts val="0"/>
                        </a:spcAft>
                        <a:buClr>
                          <a:srgbClr val="1D1D1F"/>
                        </a:buClr>
                        <a:buSzPts val="1100"/>
                        <a:buFont typeface="Arial"/>
                        <a:buNone/>
                      </a:pPr>
                      <a:r>
                        <a:rPr b="1" lang="en" sz="1100" u="none" cap="none" strike="noStrike">
                          <a:solidFill>
                            <a:srgbClr val="1D1D1F"/>
                          </a:solidFill>
                          <a:latin typeface="Arial"/>
                          <a:ea typeface="Arial"/>
                          <a:cs typeface="Arial"/>
                          <a:sym typeface="Arial"/>
                        </a:rPr>
                        <a:t>Deactivated FC customer</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100"/>
                        <a:buFont typeface="Arial"/>
                        <a:buNone/>
                      </a:pPr>
                      <a:r>
                        <a:rPr lang="en" sz="1100" u="none" cap="none" strike="noStrike">
                          <a:solidFill>
                            <a:srgbClr val="6E6E73"/>
                          </a:solidFill>
                          <a:latin typeface="Arial"/>
                          <a:ea typeface="Arial"/>
                          <a:cs typeface="Arial"/>
                          <a:sym typeface="Arial"/>
                        </a:rPr>
                        <a:t>$30.00</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100"/>
                        <a:buFont typeface="Arial"/>
                        <a:buNone/>
                      </a:pPr>
                      <a:r>
                        <a:rPr lang="en" sz="1100" u="none" cap="none" strike="noStrike">
                          <a:solidFill>
                            <a:srgbClr val="6E6E73"/>
                          </a:solidFill>
                          <a:latin typeface="Arial"/>
                          <a:ea typeface="Arial"/>
                          <a:cs typeface="Arial"/>
                          <a:sym typeface="Arial"/>
                        </a:rPr>
                        <a:t>5%</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100"/>
                        <a:buFont typeface="Arial"/>
                        <a:buNone/>
                      </a:pPr>
                      <a:r>
                        <a:rPr lang="en" sz="1100" u="none" cap="none" strike="noStrike">
                          <a:solidFill>
                            <a:srgbClr val="6E6E73"/>
                          </a:solidFill>
                          <a:latin typeface="Arial"/>
                          <a:ea typeface="Arial"/>
                          <a:cs typeface="Arial"/>
                          <a:sym typeface="Arial"/>
                        </a:rPr>
                        <a:t>Varies by state</a:t>
                      </a:r>
                      <a:endParaRPr sz="11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578" name="Google Shape;578;p2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3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 PRICE VS CP PAY</a:t>
            </a:r>
            <a:endParaRPr b="0" i="0" sz="800" u="none" cap="none" strike="noStrike">
              <a:solidFill>
                <a:schemeClr val="dk1"/>
              </a:solidFill>
              <a:latin typeface="Calibri"/>
              <a:ea typeface="Calibri"/>
              <a:cs typeface="Calibri"/>
              <a:sym typeface="Calibri"/>
            </a:endParaRPr>
          </a:p>
        </p:txBody>
      </p:sp>
      <p:sp>
        <p:nvSpPr>
          <p:cNvPr id="585" name="Google Shape;585;p3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How the cleaning price is built</a:t>
            </a:r>
            <a:endParaRPr b="0" i="0" sz="2400" u="none" cap="none" strike="noStrike">
              <a:solidFill>
                <a:schemeClr val="dk1"/>
              </a:solidFill>
              <a:latin typeface="Calibri"/>
              <a:ea typeface="Calibri"/>
              <a:cs typeface="Calibri"/>
              <a:sym typeface="Calibri"/>
            </a:endParaRPr>
          </a:p>
        </p:txBody>
      </p:sp>
      <p:sp>
        <p:nvSpPr>
          <p:cNvPr id="586" name="Google Shape;586;p30"/>
          <p:cNvSpPr/>
          <p:nvPr/>
        </p:nvSpPr>
        <p:spPr>
          <a:xfrm>
            <a:off x="411480" y="1234440"/>
            <a:ext cx="8321040" cy="1371600"/>
          </a:xfrm>
          <a:prstGeom prst="roundRect">
            <a:avLst>
              <a:gd fmla="val 5333"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30"/>
          <p:cNvSpPr txBox="1"/>
          <p:nvPr/>
        </p:nvSpPr>
        <p:spPr>
          <a:xfrm>
            <a:off x="685800" y="137160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CLEANING PRICE</a:t>
            </a:r>
            <a:endParaRPr b="0" i="0" sz="800" u="none" cap="none" strike="noStrike">
              <a:solidFill>
                <a:schemeClr val="dk1"/>
              </a:solidFill>
              <a:latin typeface="Calibri"/>
              <a:ea typeface="Calibri"/>
              <a:cs typeface="Calibri"/>
              <a:sym typeface="Calibri"/>
            </a:endParaRPr>
          </a:p>
        </p:txBody>
      </p:sp>
      <p:sp>
        <p:nvSpPr>
          <p:cNvPr id="588" name="Google Shape;588;p30"/>
          <p:cNvSpPr txBox="1"/>
          <p:nvPr/>
        </p:nvSpPr>
        <p:spPr>
          <a:xfrm>
            <a:off x="685800" y="1627632"/>
            <a:ext cx="7863840"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600"/>
              <a:buFont typeface="Play"/>
              <a:buNone/>
            </a:pPr>
            <a:r>
              <a:rPr b="1" i="0" lang="en" sz="1600" u="none" cap="none" strike="noStrike">
                <a:solidFill>
                  <a:srgbClr val="FFFFFF"/>
                </a:solidFill>
                <a:latin typeface="Play"/>
                <a:ea typeface="Play"/>
                <a:cs typeface="Play"/>
                <a:sym typeface="Play"/>
              </a:rPr>
              <a:t>(CP hourly rate + Platform hourly rate) × Job duration</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FFFFFF"/>
              </a:buClr>
              <a:buSzPts val="1600"/>
              <a:buFont typeface="Play"/>
              <a:buNone/>
            </a:pPr>
            <a:r>
              <a:rPr b="1" i="0" lang="en" sz="1600" u="none" cap="none" strike="noStrike">
                <a:solidFill>
                  <a:srgbClr val="FFFFFF"/>
                </a:solidFill>
                <a:latin typeface="Play"/>
                <a:ea typeface="Play"/>
                <a:cs typeface="Play"/>
                <a:sym typeface="Play"/>
              </a:rPr>
              <a:t>+ Processing fee + **Premium fee </a:t>
            </a:r>
            <a:r>
              <a:rPr b="1" i="0" lang="en" sz="1600" u="none" cap="none" strike="noStrike">
                <a:solidFill>
                  <a:schemeClr val="lt1"/>
                </a:solidFill>
                <a:latin typeface="Play"/>
                <a:ea typeface="Play"/>
                <a:cs typeface="Play"/>
                <a:sym typeface="Play"/>
              </a:rPr>
              <a:t>+ **Sales tax - **credits </a:t>
            </a:r>
            <a:endParaRPr b="1" i="0" sz="1600" u="none" cap="none" strike="noStrike">
              <a:solidFill>
                <a:schemeClr val="lt1"/>
              </a:solidFill>
              <a:latin typeface="Play"/>
              <a:ea typeface="Play"/>
              <a:cs typeface="Play"/>
              <a:sym typeface="Play"/>
            </a:endParaRPr>
          </a:p>
          <a:p>
            <a:pPr indent="0" lvl="0" marL="0" marR="0" rtl="0" algn="l">
              <a:lnSpc>
                <a:spcPct val="100000"/>
              </a:lnSpc>
              <a:spcBef>
                <a:spcPts val="0"/>
              </a:spcBef>
              <a:spcAft>
                <a:spcPts val="0"/>
              </a:spcAft>
              <a:buClr>
                <a:srgbClr val="FFFFFF"/>
              </a:buClr>
              <a:buSzPts val="1600"/>
              <a:buFont typeface="Play"/>
              <a:buNone/>
            </a:pPr>
            <a:r>
              <a:rPr b="0" i="0" lang="en" sz="1000" u="none" cap="none" strike="noStrike">
                <a:solidFill>
                  <a:srgbClr val="B7B7B7"/>
                </a:solidFill>
                <a:latin typeface="Play"/>
                <a:ea typeface="Play"/>
                <a:cs typeface="Play"/>
                <a:sym typeface="Play"/>
              </a:rPr>
              <a:t>NOTE: **If applicable only</a:t>
            </a:r>
            <a:r>
              <a:rPr b="1" i="0" lang="en" sz="1600" u="none" cap="none" strike="noStrike">
                <a:solidFill>
                  <a:schemeClr val="lt1"/>
                </a:solidFill>
                <a:latin typeface="Play"/>
                <a:ea typeface="Play"/>
                <a:cs typeface="Play"/>
                <a:sym typeface="Play"/>
              </a:rPr>
              <a:t> </a:t>
            </a:r>
            <a:endParaRPr b="1" i="0" sz="1600" u="none" cap="none" strike="noStrike">
              <a:solidFill>
                <a:schemeClr val="lt1"/>
              </a:solidFill>
              <a:latin typeface="Play"/>
              <a:ea typeface="Play"/>
              <a:cs typeface="Play"/>
              <a:sym typeface="Play"/>
            </a:endParaRPr>
          </a:p>
          <a:p>
            <a:pPr indent="0" lvl="0" marL="0" marR="0" rtl="0" algn="l">
              <a:lnSpc>
                <a:spcPct val="100000"/>
              </a:lnSpc>
              <a:spcBef>
                <a:spcPts val="0"/>
              </a:spcBef>
              <a:spcAft>
                <a:spcPts val="0"/>
              </a:spcAft>
              <a:buClr>
                <a:srgbClr val="FFFFFF"/>
              </a:buClr>
              <a:buSzPts val="1600"/>
              <a:buFont typeface="Play"/>
              <a:buNone/>
            </a:pPr>
            <a:r>
              <a:t/>
            </a:r>
            <a:endParaRPr b="1" i="0" sz="1600" u="none" cap="none" strike="noStrike">
              <a:solidFill>
                <a:schemeClr val="lt1"/>
              </a:solidFill>
              <a:latin typeface="Play"/>
              <a:ea typeface="Play"/>
              <a:cs typeface="Play"/>
              <a:sym typeface="Play"/>
            </a:endParaRPr>
          </a:p>
          <a:p>
            <a:pPr indent="0" lvl="0" marL="0" marR="0" rtl="0" algn="l">
              <a:lnSpc>
                <a:spcPct val="100000"/>
              </a:lnSpc>
              <a:spcBef>
                <a:spcPts val="0"/>
              </a:spcBef>
              <a:spcAft>
                <a:spcPts val="0"/>
              </a:spcAft>
              <a:buClr>
                <a:srgbClr val="FFFFFF"/>
              </a:buClr>
              <a:buSzPts val="1600"/>
              <a:buFont typeface="Play"/>
              <a:buNone/>
            </a:pPr>
            <a:r>
              <a:t/>
            </a:r>
            <a:endParaRPr b="1" i="0" sz="1600" u="none" cap="none" strike="noStrike">
              <a:solidFill>
                <a:schemeClr val="lt1"/>
              </a:solidFill>
              <a:latin typeface="Play"/>
              <a:ea typeface="Play"/>
              <a:cs typeface="Play"/>
              <a:sym typeface="Play"/>
            </a:endParaRPr>
          </a:p>
        </p:txBody>
      </p:sp>
      <p:sp>
        <p:nvSpPr>
          <p:cNvPr id="589" name="Google Shape;589;p30"/>
          <p:cNvSpPr/>
          <p:nvPr/>
        </p:nvSpPr>
        <p:spPr>
          <a:xfrm>
            <a:off x="411480" y="2788920"/>
            <a:ext cx="4091940" cy="1371600"/>
          </a:xfrm>
          <a:prstGeom prst="roundRect">
            <a:avLst>
              <a:gd fmla="val 5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30"/>
          <p:cNvSpPr/>
          <p:nvPr/>
        </p:nvSpPr>
        <p:spPr>
          <a:xfrm>
            <a:off x="576072" y="29535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91" name="Google Shape;591;p30"/>
          <p:cNvPicPr preferRelativeResize="0"/>
          <p:nvPr/>
        </p:nvPicPr>
        <p:blipFill rotWithShape="1">
          <a:blip r:embed="rId3">
            <a:alphaModFix/>
          </a:blip>
          <a:srcRect b="0" l="0" r="0" t="0"/>
          <a:stretch/>
        </p:blipFill>
        <p:spPr>
          <a:xfrm>
            <a:off x="655076" y="3032516"/>
            <a:ext cx="171176" cy="171176"/>
          </a:xfrm>
          <a:prstGeom prst="rect">
            <a:avLst/>
          </a:prstGeom>
          <a:noFill/>
          <a:ln>
            <a:noFill/>
          </a:ln>
        </p:spPr>
      </p:pic>
      <p:sp>
        <p:nvSpPr>
          <p:cNvPr id="592" name="Google Shape;592;p30"/>
          <p:cNvSpPr txBox="1"/>
          <p:nvPr/>
        </p:nvSpPr>
        <p:spPr>
          <a:xfrm>
            <a:off x="576072" y="339242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Active voucher</a:t>
            </a:r>
            <a:endParaRPr b="0" i="0" sz="1200" u="none" cap="none" strike="noStrike">
              <a:solidFill>
                <a:schemeClr val="dk1"/>
              </a:solidFill>
              <a:latin typeface="Calibri"/>
              <a:ea typeface="Calibri"/>
              <a:cs typeface="Calibri"/>
              <a:sym typeface="Calibri"/>
            </a:endParaRPr>
          </a:p>
        </p:txBody>
      </p:sp>
      <p:sp>
        <p:nvSpPr>
          <p:cNvPr id="593" name="Google Shape;593;p30"/>
          <p:cNvSpPr txBox="1"/>
          <p:nvPr/>
        </p:nvSpPr>
        <p:spPr>
          <a:xfrm>
            <a:off x="576072" y="3685032"/>
            <a:ext cx="3762756" cy="3840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Voucher hours come off the job duration before the price is calculated.</a:t>
            </a:r>
            <a:endParaRPr b="0" i="0" sz="950" u="none" cap="none" strike="noStrike">
              <a:solidFill>
                <a:schemeClr val="dk1"/>
              </a:solidFill>
              <a:latin typeface="Calibri"/>
              <a:ea typeface="Calibri"/>
              <a:cs typeface="Calibri"/>
              <a:sym typeface="Calibri"/>
            </a:endParaRPr>
          </a:p>
        </p:txBody>
      </p:sp>
      <p:sp>
        <p:nvSpPr>
          <p:cNvPr id="594" name="Google Shape;594;p30"/>
          <p:cNvSpPr/>
          <p:nvPr/>
        </p:nvSpPr>
        <p:spPr>
          <a:xfrm>
            <a:off x="4640580" y="2788920"/>
            <a:ext cx="4091940" cy="1371600"/>
          </a:xfrm>
          <a:prstGeom prst="roundRect">
            <a:avLst>
              <a:gd fmla="val 533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5" name="Google Shape;595;p30"/>
          <p:cNvSpPr/>
          <p:nvPr/>
        </p:nvSpPr>
        <p:spPr>
          <a:xfrm>
            <a:off x="4805172" y="29535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96" name="Google Shape;596;p30"/>
          <p:cNvPicPr preferRelativeResize="0"/>
          <p:nvPr/>
        </p:nvPicPr>
        <p:blipFill rotWithShape="1">
          <a:blip r:embed="rId4">
            <a:alphaModFix/>
          </a:blip>
          <a:srcRect b="0" l="0" r="0" t="0"/>
          <a:stretch/>
        </p:blipFill>
        <p:spPr>
          <a:xfrm>
            <a:off x="4884176" y="3032516"/>
            <a:ext cx="171176" cy="171176"/>
          </a:xfrm>
          <a:prstGeom prst="rect">
            <a:avLst/>
          </a:prstGeom>
          <a:noFill/>
          <a:ln>
            <a:noFill/>
          </a:ln>
        </p:spPr>
      </p:pic>
      <p:sp>
        <p:nvSpPr>
          <p:cNvPr id="597" name="Google Shape;597;p30"/>
          <p:cNvSpPr txBox="1"/>
          <p:nvPr/>
        </p:nvSpPr>
        <p:spPr>
          <a:xfrm>
            <a:off x="4805172" y="3392424"/>
            <a:ext cx="37627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Active credits</a:t>
            </a:r>
            <a:endParaRPr b="0" i="0" sz="1200" u="none" cap="none" strike="noStrike">
              <a:solidFill>
                <a:schemeClr val="dk1"/>
              </a:solidFill>
              <a:latin typeface="Calibri"/>
              <a:ea typeface="Calibri"/>
              <a:cs typeface="Calibri"/>
              <a:sym typeface="Calibri"/>
            </a:endParaRPr>
          </a:p>
        </p:txBody>
      </p:sp>
      <p:sp>
        <p:nvSpPr>
          <p:cNvPr id="598" name="Google Shape;598;p30"/>
          <p:cNvSpPr txBox="1"/>
          <p:nvPr/>
        </p:nvSpPr>
        <p:spPr>
          <a:xfrm>
            <a:off x="4805172" y="3685032"/>
            <a:ext cx="3762756" cy="3840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Credits come off the final total.</a:t>
            </a:r>
            <a:endParaRPr b="0" i="0" sz="950" u="none" cap="none" strike="noStrike">
              <a:solidFill>
                <a:schemeClr val="dk1"/>
              </a:solidFill>
              <a:latin typeface="Calibri"/>
              <a:ea typeface="Calibri"/>
              <a:cs typeface="Calibri"/>
              <a:sym typeface="Calibri"/>
            </a:endParaRPr>
          </a:p>
        </p:txBody>
      </p:sp>
      <p:sp>
        <p:nvSpPr>
          <p:cNvPr id="599" name="Google Shape;599;p3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 PRICE VS CP PAY</a:t>
            </a:r>
            <a:endParaRPr b="0" i="0" sz="800" u="none" cap="none" strike="noStrike">
              <a:solidFill>
                <a:schemeClr val="dk1"/>
              </a:solidFill>
              <a:latin typeface="Calibri"/>
              <a:ea typeface="Calibri"/>
              <a:cs typeface="Calibri"/>
              <a:sym typeface="Calibri"/>
            </a:endParaRPr>
          </a:p>
        </p:txBody>
      </p:sp>
      <p:sp>
        <p:nvSpPr>
          <p:cNvPr id="606" name="Google Shape;606;p3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Let's practice!</a:t>
            </a:r>
            <a:endParaRPr b="0" i="0" sz="2400" u="none" cap="none" strike="noStrike">
              <a:solidFill>
                <a:schemeClr val="dk1"/>
              </a:solidFill>
              <a:latin typeface="Calibri"/>
              <a:ea typeface="Calibri"/>
              <a:cs typeface="Calibri"/>
              <a:sym typeface="Calibri"/>
            </a:endParaRPr>
          </a:p>
        </p:txBody>
      </p:sp>
      <p:sp>
        <p:nvSpPr>
          <p:cNvPr id="607" name="Google Shape;607;p3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Calculate the job cost for all 3 customer pricing cohorts using the details below.</a:t>
            </a:r>
            <a:endParaRPr b="0" i="0" sz="1200" u="none" cap="none" strike="noStrike">
              <a:solidFill>
                <a:schemeClr val="dk1"/>
              </a:solidFill>
              <a:latin typeface="Calibri"/>
              <a:ea typeface="Calibri"/>
              <a:cs typeface="Calibri"/>
              <a:sym typeface="Calibri"/>
            </a:endParaRPr>
          </a:p>
        </p:txBody>
      </p:sp>
      <p:sp>
        <p:nvSpPr>
          <p:cNvPr id="608" name="Google Shape;608;p31"/>
          <p:cNvSpPr/>
          <p:nvPr/>
        </p:nvSpPr>
        <p:spPr>
          <a:xfrm>
            <a:off x="411480" y="1280160"/>
            <a:ext cx="3017520" cy="3383280"/>
          </a:xfrm>
          <a:prstGeom prst="roundRect">
            <a:avLst>
              <a:gd fmla="val 24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31"/>
          <p:cNvSpPr/>
          <p:nvPr/>
        </p:nvSpPr>
        <p:spPr>
          <a:xfrm>
            <a:off x="594360" y="1444752"/>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10" name="Google Shape;610;p31"/>
          <p:cNvPicPr preferRelativeResize="0"/>
          <p:nvPr/>
        </p:nvPicPr>
        <p:blipFill rotWithShape="1">
          <a:blip r:embed="rId3">
            <a:alphaModFix/>
          </a:blip>
          <a:srcRect b="0" l="0" r="0" t="0"/>
          <a:stretch/>
        </p:blipFill>
        <p:spPr>
          <a:xfrm>
            <a:off x="686532" y="1536924"/>
            <a:ext cx="199705" cy="199705"/>
          </a:xfrm>
          <a:prstGeom prst="rect">
            <a:avLst/>
          </a:prstGeom>
          <a:noFill/>
          <a:ln>
            <a:noFill/>
          </a:ln>
        </p:spPr>
      </p:pic>
      <p:sp>
        <p:nvSpPr>
          <p:cNvPr id="611" name="Google Shape;611;p31"/>
          <p:cNvSpPr txBox="1"/>
          <p:nvPr/>
        </p:nvSpPr>
        <p:spPr>
          <a:xfrm>
            <a:off x="1097280" y="1444752"/>
            <a:ext cx="21945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400"/>
              <a:buFont typeface="Play"/>
              <a:buNone/>
            </a:pPr>
            <a:r>
              <a:rPr b="1" i="0" lang="en" sz="1400" u="none" cap="none" strike="noStrike">
                <a:solidFill>
                  <a:srgbClr val="1D1D1F"/>
                </a:solidFill>
                <a:latin typeface="Play"/>
                <a:ea typeface="Play"/>
                <a:cs typeface="Play"/>
                <a:sym typeface="Play"/>
              </a:rPr>
              <a:t>Scenario</a:t>
            </a:r>
            <a:endParaRPr b="0" i="0" sz="1400" u="none" cap="none" strike="noStrike">
              <a:solidFill>
                <a:schemeClr val="dk1"/>
              </a:solidFill>
              <a:latin typeface="Calibri"/>
              <a:ea typeface="Calibri"/>
              <a:cs typeface="Calibri"/>
              <a:sym typeface="Calibri"/>
            </a:endParaRPr>
          </a:p>
        </p:txBody>
      </p:sp>
      <p:sp>
        <p:nvSpPr>
          <p:cNvPr id="612" name="Google Shape;612;p31"/>
          <p:cNvSpPr/>
          <p:nvPr/>
        </p:nvSpPr>
        <p:spPr>
          <a:xfrm>
            <a:off x="594360" y="2011680"/>
            <a:ext cx="2651760" cy="384048"/>
          </a:xfrm>
          <a:prstGeom prst="roundRect">
            <a:avLst>
              <a:gd fmla="val 19048" name="adj"/>
            </a:avLst>
          </a:prstGeom>
          <a:solidFill>
            <a:srgbClr val="F6F7F9"/>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31"/>
          <p:cNvSpPr txBox="1"/>
          <p:nvPr/>
        </p:nvSpPr>
        <p:spPr>
          <a:xfrm>
            <a:off x="731520" y="2011680"/>
            <a:ext cx="11887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 sz="1050" u="none" cap="none" strike="noStrike">
                <a:solidFill>
                  <a:srgbClr val="6E6E73"/>
                </a:solidFill>
                <a:latin typeface="Arial"/>
                <a:ea typeface="Arial"/>
                <a:cs typeface="Arial"/>
                <a:sym typeface="Arial"/>
              </a:rPr>
              <a:t>CP rate</a:t>
            </a:r>
            <a:endParaRPr b="0" i="0" sz="1050" u="none" cap="none" strike="noStrike">
              <a:solidFill>
                <a:schemeClr val="dk1"/>
              </a:solidFill>
              <a:latin typeface="Calibri"/>
              <a:ea typeface="Calibri"/>
              <a:cs typeface="Calibri"/>
              <a:sym typeface="Calibri"/>
            </a:endParaRPr>
          </a:p>
        </p:txBody>
      </p:sp>
      <p:sp>
        <p:nvSpPr>
          <p:cNvPr id="614" name="Google Shape;614;p31"/>
          <p:cNvSpPr txBox="1"/>
          <p:nvPr/>
        </p:nvSpPr>
        <p:spPr>
          <a:xfrm>
            <a:off x="1828800" y="2011680"/>
            <a:ext cx="1325880" cy="3840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$25.00/hr</a:t>
            </a:r>
            <a:endParaRPr b="0" i="0" sz="1200" u="none" cap="none" strike="noStrike">
              <a:solidFill>
                <a:schemeClr val="dk1"/>
              </a:solidFill>
              <a:latin typeface="Calibri"/>
              <a:ea typeface="Calibri"/>
              <a:cs typeface="Calibri"/>
              <a:sym typeface="Calibri"/>
            </a:endParaRPr>
          </a:p>
        </p:txBody>
      </p:sp>
      <p:sp>
        <p:nvSpPr>
          <p:cNvPr id="615" name="Google Shape;615;p31"/>
          <p:cNvSpPr/>
          <p:nvPr/>
        </p:nvSpPr>
        <p:spPr>
          <a:xfrm>
            <a:off x="594360" y="2487168"/>
            <a:ext cx="2651760" cy="384048"/>
          </a:xfrm>
          <a:prstGeom prst="roundRect">
            <a:avLst>
              <a:gd fmla="val 1904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31"/>
          <p:cNvSpPr txBox="1"/>
          <p:nvPr/>
        </p:nvSpPr>
        <p:spPr>
          <a:xfrm>
            <a:off x="731520" y="2487168"/>
            <a:ext cx="11887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 sz="1050" u="none" cap="none" strike="noStrike">
                <a:solidFill>
                  <a:srgbClr val="6E6E73"/>
                </a:solidFill>
                <a:latin typeface="Arial"/>
                <a:ea typeface="Arial"/>
                <a:cs typeface="Arial"/>
                <a:sym typeface="Arial"/>
              </a:rPr>
              <a:t>Duration</a:t>
            </a:r>
            <a:endParaRPr b="0" i="0" sz="1050" u="none" cap="none" strike="noStrike">
              <a:solidFill>
                <a:schemeClr val="dk1"/>
              </a:solidFill>
              <a:latin typeface="Calibri"/>
              <a:ea typeface="Calibri"/>
              <a:cs typeface="Calibri"/>
              <a:sym typeface="Calibri"/>
            </a:endParaRPr>
          </a:p>
        </p:txBody>
      </p:sp>
      <p:sp>
        <p:nvSpPr>
          <p:cNvPr id="617" name="Google Shape;617;p31"/>
          <p:cNvSpPr txBox="1"/>
          <p:nvPr/>
        </p:nvSpPr>
        <p:spPr>
          <a:xfrm>
            <a:off x="1828800" y="2487168"/>
            <a:ext cx="1325880" cy="3840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4 hours</a:t>
            </a:r>
            <a:endParaRPr b="0" i="0" sz="1200" u="none" cap="none" strike="noStrike">
              <a:solidFill>
                <a:schemeClr val="dk1"/>
              </a:solidFill>
              <a:latin typeface="Calibri"/>
              <a:ea typeface="Calibri"/>
              <a:cs typeface="Calibri"/>
              <a:sym typeface="Calibri"/>
            </a:endParaRPr>
          </a:p>
        </p:txBody>
      </p:sp>
      <p:sp>
        <p:nvSpPr>
          <p:cNvPr id="618" name="Google Shape;618;p31"/>
          <p:cNvSpPr/>
          <p:nvPr/>
        </p:nvSpPr>
        <p:spPr>
          <a:xfrm>
            <a:off x="594360" y="2962656"/>
            <a:ext cx="2651760" cy="384048"/>
          </a:xfrm>
          <a:prstGeom prst="roundRect">
            <a:avLst>
              <a:gd fmla="val 19048" name="adj"/>
            </a:avLst>
          </a:prstGeom>
          <a:solidFill>
            <a:srgbClr val="F6F7F9"/>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31"/>
          <p:cNvSpPr txBox="1"/>
          <p:nvPr/>
        </p:nvSpPr>
        <p:spPr>
          <a:xfrm>
            <a:off x="731520" y="2962656"/>
            <a:ext cx="11887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 sz="1050" u="none" cap="none" strike="noStrike">
                <a:solidFill>
                  <a:srgbClr val="6E6E73"/>
                </a:solidFill>
                <a:latin typeface="Arial"/>
                <a:ea typeface="Arial"/>
                <a:cs typeface="Arial"/>
                <a:sym typeface="Arial"/>
              </a:rPr>
              <a:t>Voucher</a:t>
            </a:r>
            <a:endParaRPr b="0" i="0" sz="1050" u="none" cap="none" strike="noStrike">
              <a:solidFill>
                <a:schemeClr val="dk1"/>
              </a:solidFill>
              <a:latin typeface="Calibri"/>
              <a:ea typeface="Calibri"/>
              <a:cs typeface="Calibri"/>
              <a:sym typeface="Calibri"/>
            </a:endParaRPr>
          </a:p>
        </p:txBody>
      </p:sp>
      <p:sp>
        <p:nvSpPr>
          <p:cNvPr id="620" name="Google Shape;620;p31"/>
          <p:cNvSpPr txBox="1"/>
          <p:nvPr/>
        </p:nvSpPr>
        <p:spPr>
          <a:xfrm>
            <a:off x="1828800" y="2962656"/>
            <a:ext cx="1325880" cy="3840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1.5 hours</a:t>
            </a:r>
            <a:endParaRPr b="0" i="0" sz="1200" u="none" cap="none" strike="noStrike">
              <a:solidFill>
                <a:schemeClr val="dk1"/>
              </a:solidFill>
              <a:latin typeface="Calibri"/>
              <a:ea typeface="Calibri"/>
              <a:cs typeface="Calibri"/>
              <a:sym typeface="Calibri"/>
            </a:endParaRPr>
          </a:p>
        </p:txBody>
      </p:sp>
      <p:sp>
        <p:nvSpPr>
          <p:cNvPr id="621" name="Google Shape;621;p31"/>
          <p:cNvSpPr/>
          <p:nvPr/>
        </p:nvSpPr>
        <p:spPr>
          <a:xfrm>
            <a:off x="594360" y="3438144"/>
            <a:ext cx="2651760" cy="384048"/>
          </a:xfrm>
          <a:prstGeom prst="roundRect">
            <a:avLst>
              <a:gd fmla="val 1904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31"/>
          <p:cNvSpPr txBox="1"/>
          <p:nvPr/>
        </p:nvSpPr>
        <p:spPr>
          <a:xfrm>
            <a:off x="731520" y="3438144"/>
            <a:ext cx="11887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 sz="1050" u="none" cap="none" strike="noStrike">
                <a:solidFill>
                  <a:srgbClr val="6E6E73"/>
                </a:solidFill>
                <a:latin typeface="Arial"/>
                <a:ea typeface="Arial"/>
                <a:cs typeface="Arial"/>
                <a:sym typeface="Arial"/>
              </a:rPr>
              <a:t>Sales tax</a:t>
            </a:r>
            <a:endParaRPr b="0" i="0" sz="1050" u="none" cap="none" strike="noStrike">
              <a:solidFill>
                <a:schemeClr val="dk1"/>
              </a:solidFill>
              <a:latin typeface="Calibri"/>
              <a:ea typeface="Calibri"/>
              <a:cs typeface="Calibri"/>
              <a:sym typeface="Calibri"/>
            </a:endParaRPr>
          </a:p>
        </p:txBody>
      </p:sp>
      <p:sp>
        <p:nvSpPr>
          <p:cNvPr id="623" name="Google Shape;623;p31"/>
          <p:cNvSpPr txBox="1"/>
          <p:nvPr/>
        </p:nvSpPr>
        <p:spPr>
          <a:xfrm>
            <a:off x="1828800" y="3438144"/>
            <a:ext cx="1325880" cy="3840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8%</a:t>
            </a:r>
            <a:endParaRPr b="0" i="0" sz="1200" u="none" cap="none" strike="noStrike">
              <a:solidFill>
                <a:schemeClr val="dk1"/>
              </a:solidFill>
              <a:latin typeface="Calibri"/>
              <a:ea typeface="Calibri"/>
              <a:cs typeface="Calibri"/>
              <a:sym typeface="Calibri"/>
            </a:endParaRPr>
          </a:p>
        </p:txBody>
      </p:sp>
      <p:sp>
        <p:nvSpPr>
          <p:cNvPr id="624" name="Google Shape;624;p31"/>
          <p:cNvSpPr/>
          <p:nvPr/>
        </p:nvSpPr>
        <p:spPr>
          <a:xfrm>
            <a:off x="594360" y="3913632"/>
            <a:ext cx="2651760" cy="384048"/>
          </a:xfrm>
          <a:prstGeom prst="roundRect">
            <a:avLst>
              <a:gd fmla="val 19048" name="adj"/>
            </a:avLst>
          </a:prstGeom>
          <a:solidFill>
            <a:srgbClr val="F6F7F9"/>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31"/>
          <p:cNvSpPr txBox="1"/>
          <p:nvPr/>
        </p:nvSpPr>
        <p:spPr>
          <a:xfrm>
            <a:off x="731520" y="3913632"/>
            <a:ext cx="11887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 sz="1050" u="none" cap="none" strike="noStrike">
                <a:solidFill>
                  <a:srgbClr val="6E6E73"/>
                </a:solidFill>
                <a:latin typeface="Arial"/>
                <a:ea typeface="Arial"/>
                <a:cs typeface="Arial"/>
                <a:sym typeface="Arial"/>
              </a:rPr>
              <a:t>Credits</a:t>
            </a:r>
            <a:endParaRPr b="0" i="0" sz="1050" u="none" cap="none" strike="noStrike">
              <a:solidFill>
                <a:schemeClr val="dk1"/>
              </a:solidFill>
              <a:latin typeface="Calibri"/>
              <a:ea typeface="Calibri"/>
              <a:cs typeface="Calibri"/>
              <a:sym typeface="Calibri"/>
            </a:endParaRPr>
          </a:p>
        </p:txBody>
      </p:sp>
      <p:sp>
        <p:nvSpPr>
          <p:cNvPr id="626" name="Google Shape;626;p31"/>
          <p:cNvSpPr txBox="1"/>
          <p:nvPr/>
        </p:nvSpPr>
        <p:spPr>
          <a:xfrm>
            <a:off x="1828800" y="3913632"/>
            <a:ext cx="1325880" cy="3840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$12.00</a:t>
            </a:r>
            <a:endParaRPr b="0" i="0" sz="1200" u="none" cap="none" strike="noStrike">
              <a:solidFill>
                <a:schemeClr val="dk1"/>
              </a:solidFill>
              <a:latin typeface="Calibri"/>
              <a:ea typeface="Calibri"/>
              <a:cs typeface="Calibri"/>
              <a:sym typeface="Calibri"/>
            </a:endParaRPr>
          </a:p>
        </p:txBody>
      </p:sp>
      <p:sp>
        <p:nvSpPr>
          <p:cNvPr id="627" name="Google Shape;627;p31"/>
          <p:cNvSpPr/>
          <p:nvPr/>
        </p:nvSpPr>
        <p:spPr>
          <a:xfrm>
            <a:off x="3611880" y="1280160"/>
            <a:ext cx="5120640" cy="457200"/>
          </a:xfrm>
          <a:prstGeom prst="roundRect">
            <a:avLst>
              <a:gd fmla="val 20000"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28" name="Google Shape;628;p31"/>
          <p:cNvPicPr preferRelativeResize="0"/>
          <p:nvPr/>
        </p:nvPicPr>
        <p:blipFill rotWithShape="1">
          <a:blip r:embed="rId4">
            <a:alphaModFix/>
          </a:blip>
          <a:srcRect b="0" l="0" r="0" t="0"/>
          <a:stretch/>
        </p:blipFill>
        <p:spPr>
          <a:xfrm>
            <a:off x="3794760" y="1399032"/>
            <a:ext cx="219456" cy="219456"/>
          </a:xfrm>
          <a:prstGeom prst="rect">
            <a:avLst/>
          </a:prstGeom>
          <a:noFill/>
          <a:ln>
            <a:noFill/>
          </a:ln>
        </p:spPr>
      </p:pic>
      <p:sp>
        <p:nvSpPr>
          <p:cNvPr id="629" name="Google Shape;629;p31"/>
          <p:cNvSpPr txBox="1"/>
          <p:nvPr/>
        </p:nvSpPr>
        <p:spPr>
          <a:xfrm>
            <a:off x="4114800" y="1280160"/>
            <a:ext cx="41148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Play"/>
              <a:buNone/>
            </a:pPr>
            <a:r>
              <a:rPr b="1" i="0" lang="en" sz="1300" u="none" cap="none" strike="noStrike">
                <a:solidFill>
                  <a:srgbClr val="FFFFFF"/>
                </a:solidFill>
                <a:latin typeface="Play"/>
                <a:ea typeface="Play"/>
                <a:cs typeface="Play"/>
                <a:sym typeface="Play"/>
              </a:rPr>
              <a:t>Show Answers</a:t>
            </a:r>
            <a:endParaRPr b="0" i="0" sz="1300" u="none" cap="none" strike="noStrike">
              <a:solidFill>
                <a:schemeClr val="dk1"/>
              </a:solidFill>
              <a:latin typeface="Calibri"/>
              <a:ea typeface="Calibri"/>
              <a:cs typeface="Calibri"/>
              <a:sym typeface="Calibri"/>
            </a:endParaRPr>
          </a:p>
        </p:txBody>
      </p:sp>
      <p:sp>
        <p:nvSpPr>
          <p:cNvPr id="630" name="Google Shape;630;p31"/>
          <p:cNvSpPr/>
          <p:nvPr/>
        </p:nvSpPr>
        <p:spPr>
          <a:xfrm>
            <a:off x="3611880" y="1828800"/>
            <a:ext cx="5120640" cy="2834640"/>
          </a:xfrm>
          <a:prstGeom prst="roundRect">
            <a:avLst>
              <a:gd fmla="val 2581"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p31"/>
          <p:cNvSpPr txBox="1"/>
          <p:nvPr/>
        </p:nvSpPr>
        <p:spPr>
          <a:xfrm>
            <a:off x="3794760" y="1965960"/>
            <a:ext cx="4754880" cy="2606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1250"/>
              <a:buFont typeface="Play"/>
              <a:buNone/>
            </a:pPr>
            <a:r>
              <a:rPr b="1" i="0" lang="en" sz="1250" u="none" cap="none" strike="noStrike">
                <a:solidFill>
                  <a:srgbClr val="0B7A6F"/>
                </a:solidFill>
                <a:latin typeface="Play"/>
                <a:ea typeface="Play"/>
                <a:cs typeface="Play"/>
                <a:sym typeface="Play"/>
              </a:rPr>
              <a:t>FC customer:  $65.63</a:t>
            </a:r>
            <a:br>
              <a:rPr b="0" i="0" lang="en" sz="1800" u="none" cap="none" strike="noStrike">
                <a:solidFill>
                  <a:schemeClr val="dk1"/>
                </a:solidFill>
                <a:latin typeface="Calibri"/>
                <a:ea typeface="Calibri"/>
                <a:cs typeface="Calibri"/>
                <a:sym typeface="Calibri"/>
              </a:rPr>
            </a:br>
            <a:r>
              <a:rPr b="0" i="0" lang="en" sz="950" u="none" cap="none" strike="noStrike">
                <a:solidFill>
                  <a:srgbClr val="1D1D1F"/>
                </a:solidFill>
                <a:latin typeface="Arial"/>
                <a:ea typeface="Arial"/>
                <a:cs typeface="Arial"/>
                <a:sym typeface="Arial"/>
              </a:rPr>
              <a:t>$25/hr CP rate × 2.5 hrs + 15% processing fee + 8% tax − $12 credits</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0B7A6F"/>
              </a:buClr>
              <a:buSzPts val="1250"/>
              <a:buFont typeface="Play"/>
              <a:buNone/>
            </a:pPr>
            <a:r>
              <a:rPr b="1" i="0" lang="en" sz="1250" u="none" cap="none" strike="noStrike">
                <a:solidFill>
                  <a:srgbClr val="0B7A6F"/>
                </a:solidFill>
                <a:latin typeface="Play"/>
                <a:ea typeface="Play"/>
                <a:cs typeface="Play"/>
                <a:sym typeface="Play"/>
              </a:rPr>
              <a:t>Non-FC customer:  $101.40</a:t>
            </a:r>
            <a:br>
              <a:rPr b="0" i="0" lang="en" sz="1800" u="none" cap="none" strike="noStrike">
                <a:solidFill>
                  <a:schemeClr val="dk1"/>
                </a:solidFill>
                <a:latin typeface="Calibri"/>
                <a:ea typeface="Calibri"/>
                <a:cs typeface="Calibri"/>
                <a:sym typeface="Calibri"/>
              </a:rPr>
            </a:br>
            <a:r>
              <a:rPr b="0" i="0" lang="en" sz="950" u="none" cap="none" strike="noStrike">
                <a:solidFill>
                  <a:srgbClr val="1D1D1F"/>
                </a:solidFill>
                <a:latin typeface="Arial"/>
                <a:ea typeface="Arial"/>
                <a:cs typeface="Arial"/>
                <a:sym typeface="Arial"/>
              </a:rPr>
              <a:t>($25/hr CP rate + $15/hr platform fee) × 2.5 hrs + 5% processing fee + 8% tax − $12 credits</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0B7A6F"/>
              </a:buClr>
              <a:buSzPts val="1250"/>
              <a:buFont typeface="Play"/>
              <a:buNone/>
            </a:pPr>
            <a:r>
              <a:rPr b="1" i="0" lang="en" sz="1250" u="none" cap="none" strike="noStrike">
                <a:solidFill>
                  <a:srgbClr val="0B7A6F"/>
                </a:solidFill>
                <a:latin typeface="Play"/>
                <a:ea typeface="Play"/>
                <a:cs typeface="Play"/>
                <a:sym typeface="Play"/>
              </a:rPr>
              <a:t>Deactivated (cancelled) FC customer:  $143.93</a:t>
            </a:r>
            <a:br>
              <a:rPr b="0" i="0" lang="en" sz="1800" u="none" cap="none" strike="noStrike">
                <a:solidFill>
                  <a:schemeClr val="dk1"/>
                </a:solidFill>
                <a:latin typeface="Calibri"/>
                <a:ea typeface="Calibri"/>
                <a:cs typeface="Calibri"/>
                <a:sym typeface="Calibri"/>
              </a:rPr>
            </a:br>
            <a:r>
              <a:rPr b="0" i="0" lang="en" sz="950" u="none" cap="none" strike="noStrike">
                <a:solidFill>
                  <a:srgbClr val="1D1D1F"/>
                </a:solidFill>
                <a:latin typeface="Arial"/>
                <a:ea typeface="Arial"/>
                <a:cs typeface="Arial"/>
                <a:sym typeface="Arial"/>
              </a:rPr>
              <a:t>($25/hr CP rate + $30/hr platform fee) × 2.5 hrs + 5% processing fee + 8% tax − $12 credits</a:t>
            </a:r>
            <a:endParaRPr b="0" i="0" sz="1250" u="none" cap="none" strike="noStrike">
              <a:solidFill>
                <a:schemeClr val="dk1"/>
              </a:solidFill>
              <a:latin typeface="Calibri"/>
              <a:ea typeface="Calibri"/>
              <a:cs typeface="Calibri"/>
              <a:sym typeface="Calibri"/>
            </a:endParaRPr>
          </a:p>
        </p:txBody>
      </p:sp>
      <p:sp>
        <p:nvSpPr>
          <p:cNvPr id="632" name="Google Shape;632;p31"/>
          <p:cNvSpPr txBox="1"/>
          <p:nvPr/>
        </p:nvSpPr>
        <p:spPr>
          <a:xfrm>
            <a:off x="594360" y="4389120"/>
            <a:ext cx="27432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50"/>
              <a:buFont typeface="Arial"/>
              <a:buNone/>
            </a:pPr>
            <a:r>
              <a:rPr b="0" i="1" lang="en" sz="850" u="none" cap="none" strike="noStrike">
                <a:solidFill>
                  <a:srgbClr val="6E6E73"/>
                </a:solidFill>
                <a:latin typeface="Arial"/>
                <a:ea typeface="Arial"/>
                <a:cs typeface="Arial"/>
                <a:sym typeface="Arial"/>
              </a:rPr>
              <a:t>Hint: take the voucher hours off the duration first.</a:t>
            </a:r>
            <a:endParaRPr b="0" i="0" sz="850" u="none" cap="none" strike="noStrike">
              <a:solidFill>
                <a:schemeClr val="dk1"/>
              </a:solidFill>
              <a:latin typeface="Calibri"/>
              <a:ea typeface="Calibri"/>
              <a:cs typeface="Calibri"/>
              <a:sym typeface="Calibri"/>
            </a:endParaRPr>
          </a:p>
        </p:txBody>
      </p:sp>
      <p:sp>
        <p:nvSpPr>
          <p:cNvPr id="633" name="Google Shape;633;p3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xEl>
                                              <p:pRg end="0" st="0"/>
                                            </p:txEl>
                                          </p:spTgt>
                                        </p:tgtEl>
                                        <p:attrNameLst>
                                          <p:attrName>style.visibility</p:attrName>
                                        </p:attrNameLst>
                                      </p:cBhvr>
                                      <p:to>
                                        <p:strVal val="visible"/>
                                      </p:to>
                                    </p:set>
                                    <p:animEffect filter="fade" transition="in">
                                      <p:cBhvr>
                                        <p:cTn dur="600"/>
                                        <p:tgtEl>
                                          <p:spTgt spid="6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xEl>
                                              <p:pRg end="1" st="1"/>
                                            </p:txEl>
                                          </p:spTgt>
                                        </p:tgtEl>
                                        <p:attrNameLst>
                                          <p:attrName>style.visibility</p:attrName>
                                        </p:attrNameLst>
                                      </p:cBhvr>
                                      <p:to>
                                        <p:strVal val="visible"/>
                                      </p:to>
                                    </p:set>
                                    <p:animEffect filter="fade" transition="in">
                                      <p:cBhvr>
                                        <p:cTn dur="600"/>
                                        <p:tgtEl>
                                          <p:spTgt spid="6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1">
                                            <p:txEl>
                                              <p:pRg end="2" st="2"/>
                                            </p:txEl>
                                          </p:spTgt>
                                        </p:tgtEl>
                                        <p:attrNameLst>
                                          <p:attrName>style.visibility</p:attrName>
                                        </p:attrNameLst>
                                      </p:cBhvr>
                                      <p:to>
                                        <p:strVal val="visible"/>
                                      </p:to>
                                    </p:set>
                                    <p:animEffect filter="fade" transition="in">
                                      <p:cBhvr>
                                        <p:cTn dur="600"/>
                                        <p:tgtEl>
                                          <p:spTgt spid="631">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2"/>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640" name="Google Shape;640;p32"/>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641" name="Google Shape;641;p32"/>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642" name="Google Shape;642;p32"/>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32"/>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644" name="Google Shape;644;p32"/>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645" name="Google Shape;645;p32"/>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32"/>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32"/>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32"/>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p32"/>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p32"/>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32"/>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3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 PRICE VS CP PAY</a:t>
            </a:r>
            <a:endParaRPr b="0" i="0" sz="800" u="none" cap="none" strike="noStrike">
              <a:solidFill>
                <a:schemeClr val="dk1"/>
              </a:solidFill>
              <a:latin typeface="Calibri"/>
              <a:ea typeface="Calibri"/>
              <a:cs typeface="Calibri"/>
              <a:sym typeface="Calibri"/>
            </a:endParaRPr>
          </a:p>
        </p:txBody>
      </p:sp>
      <p:sp>
        <p:nvSpPr>
          <p:cNvPr id="658" name="Google Shape;658;p3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How the cleaner is paid</a:t>
            </a:r>
            <a:endParaRPr b="0" i="0" sz="2400" u="none" cap="none" strike="noStrike">
              <a:solidFill>
                <a:schemeClr val="dk1"/>
              </a:solidFill>
              <a:latin typeface="Calibri"/>
              <a:ea typeface="Calibri"/>
              <a:cs typeface="Calibri"/>
              <a:sym typeface="Calibri"/>
            </a:endParaRPr>
          </a:p>
        </p:txBody>
      </p:sp>
      <p:graphicFrame>
        <p:nvGraphicFramePr>
          <p:cNvPr id="659" name="Google Shape;659;p33"/>
          <p:cNvGraphicFramePr/>
          <p:nvPr/>
        </p:nvGraphicFramePr>
        <p:xfrm>
          <a:off x="411480" y="1188720"/>
          <a:ext cx="3000000" cy="3000000"/>
        </p:xfrm>
        <a:graphic>
          <a:graphicData uri="http://schemas.openxmlformats.org/drawingml/2006/table">
            <a:tbl>
              <a:tblPr>
                <a:noFill/>
                <a:tableStyleId>{1110B021-F78A-4E02-AF73-8366E27A90AE}</a:tableStyleId>
              </a:tblPr>
              <a:tblGrid>
                <a:gridCol w="1737350"/>
                <a:gridCol w="3657600"/>
                <a:gridCol w="2926075"/>
              </a:tblGrid>
              <a:tr h="457200">
                <a:tc>
                  <a:txBody>
                    <a:bodyPr/>
                    <a:lstStyle/>
                    <a:p>
                      <a:pPr indent="0" lvl="0" marL="0" marR="0" rtl="0" algn="l">
                        <a:lnSpc>
                          <a:spcPct val="100000"/>
                        </a:lnSpc>
                        <a:spcBef>
                          <a:spcPts val="0"/>
                        </a:spcBef>
                        <a:spcAft>
                          <a:spcPts val="0"/>
                        </a:spcAft>
                        <a:buClr>
                          <a:srgbClr val="0B7A6F"/>
                        </a:buClr>
                        <a:buSzPts val="1000"/>
                        <a:buFont typeface="Play"/>
                        <a:buNone/>
                      </a:pPr>
                      <a:r>
                        <a:rPr b="1" lang="en" sz="1000" u="none" cap="none" strike="noStrike">
                          <a:solidFill>
                            <a:srgbClr val="0B7A6F"/>
                          </a:solidFill>
                          <a:latin typeface="Play"/>
                          <a:ea typeface="Play"/>
                          <a:cs typeface="Play"/>
                          <a:sym typeface="Play"/>
                        </a:rPr>
                        <a:t>Operating model</a:t>
                      </a:r>
                      <a:endParaRPr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000"/>
                        <a:buFont typeface="Play"/>
                        <a:buNone/>
                      </a:pPr>
                      <a:r>
                        <a:rPr b="1" lang="en" sz="1000" u="none" cap="none" strike="noStrike">
                          <a:solidFill>
                            <a:srgbClr val="0B7A6F"/>
                          </a:solidFill>
                          <a:latin typeface="Play"/>
                          <a:ea typeface="Play"/>
                          <a:cs typeface="Play"/>
                          <a:sym typeface="Play"/>
                        </a:rPr>
                        <a:t>First-time client</a:t>
                      </a:r>
                      <a:endParaRPr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1000"/>
                        <a:buFont typeface="Play"/>
                        <a:buNone/>
                      </a:pPr>
                      <a:r>
                        <a:rPr b="1" lang="en" sz="1000" u="none" cap="none" strike="noStrike">
                          <a:solidFill>
                            <a:srgbClr val="0B7A6F"/>
                          </a:solidFill>
                          <a:latin typeface="Play"/>
                          <a:ea typeface="Play"/>
                          <a:cs typeface="Play"/>
                          <a:sym typeface="Play"/>
                        </a:rPr>
                        <a:t>Repeat client</a:t>
                      </a:r>
                      <a:endParaRPr sz="10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457200">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CA / CA-WA</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Rate × duration + tips + surge bonus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Same</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57200">
                <a:tc>
                  <a:txBody>
                    <a:bodyPr/>
                    <a:lstStyle/>
                    <a:p>
                      <a:pPr indent="0" lvl="0" marL="0" marR="0" rtl="0" algn="l">
                        <a:lnSpc>
                          <a:spcPct val="100000"/>
                        </a:lnSpc>
                        <a:spcBef>
                          <a:spcPts val="0"/>
                        </a:spcBef>
                        <a:spcAft>
                          <a:spcPts val="0"/>
                        </a:spcAft>
                        <a:buClr>
                          <a:srgbClr val="1D1D1F"/>
                        </a:buClr>
                        <a:buSzPts val="1000"/>
                        <a:buFont typeface="Arial"/>
                        <a:buNone/>
                      </a:pPr>
                      <a:r>
                        <a:rPr b="1" lang="en" sz="1000" u="none" cap="none" strike="noStrike">
                          <a:solidFill>
                            <a:srgbClr val="1D1D1F"/>
                          </a:solidFill>
                          <a:latin typeface="Arial"/>
                          <a:ea typeface="Arial"/>
                          <a:cs typeface="Arial"/>
                          <a:sym typeface="Arial"/>
                        </a:rPr>
                        <a:t>General</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(Rate − $5 match fee) × duration + tips + surge bonus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1000"/>
                        <a:buFont typeface="Arial"/>
                        <a:buNone/>
                      </a:pPr>
                      <a:r>
                        <a:rPr lang="en" sz="1000" u="none" cap="none" strike="noStrike">
                          <a:solidFill>
                            <a:srgbClr val="6E6E73"/>
                          </a:solidFill>
                          <a:latin typeface="Arial"/>
                          <a:ea typeface="Arial"/>
                          <a:cs typeface="Arial"/>
                          <a:sym typeface="Arial"/>
                        </a:rPr>
                        <a:t>Rate × duration + tips + surge bonus</a:t>
                      </a:r>
                      <a:endParaRPr sz="10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660" name="Google Shape;660;p33"/>
          <p:cNvSpPr/>
          <p:nvPr/>
        </p:nvSpPr>
        <p:spPr>
          <a:xfrm>
            <a:off x="411480" y="2697480"/>
            <a:ext cx="268224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33"/>
          <p:cNvSpPr/>
          <p:nvPr/>
        </p:nvSpPr>
        <p:spPr>
          <a:xfrm>
            <a:off x="576072" y="28620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62" name="Google Shape;662;p33"/>
          <p:cNvPicPr preferRelativeResize="0"/>
          <p:nvPr/>
        </p:nvPicPr>
        <p:blipFill rotWithShape="1">
          <a:blip r:embed="rId3">
            <a:alphaModFix/>
          </a:blip>
          <a:srcRect b="0" l="0" r="0" t="0"/>
          <a:stretch/>
        </p:blipFill>
        <p:spPr>
          <a:xfrm>
            <a:off x="655076" y="2941076"/>
            <a:ext cx="171176" cy="171176"/>
          </a:xfrm>
          <a:prstGeom prst="rect">
            <a:avLst/>
          </a:prstGeom>
          <a:noFill/>
          <a:ln>
            <a:noFill/>
          </a:ln>
        </p:spPr>
      </p:pic>
      <p:sp>
        <p:nvSpPr>
          <p:cNvPr id="663" name="Google Shape;663;p33"/>
          <p:cNvSpPr txBox="1"/>
          <p:nvPr/>
        </p:nvSpPr>
        <p:spPr>
          <a:xfrm>
            <a:off x="576072" y="33009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Always paid</a:t>
            </a:r>
            <a:endParaRPr b="0" i="0" sz="1200" u="none" cap="none" strike="noStrike">
              <a:solidFill>
                <a:schemeClr val="dk1"/>
              </a:solidFill>
              <a:latin typeface="Calibri"/>
              <a:ea typeface="Calibri"/>
              <a:cs typeface="Calibri"/>
              <a:sym typeface="Calibri"/>
            </a:endParaRPr>
          </a:p>
        </p:txBody>
      </p:sp>
      <p:sp>
        <p:nvSpPr>
          <p:cNvPr id="664" name="Google Shape;664;p33"/>
          <p:cNvSpPr txBox="1"/>
          <p:nvPr/>
        </p:nvSpPr>
        <p:spPr>
          <a:xfrm>
            <a:off x="576072" y="3593592"/>
            <a:ext cx="2353056" cy="4297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Even if the customer's card, voucher or credits fail.</a:t>
            </a:r>
            <a:endParaRPr b="0" i="0" sz="950" u="none" cap="none" strike="noStrike">
              <a:solidFill>
                <a:schemeClr val="dk1"/>
              </a:solidFill>
              <a:latin typeface="Calibri"/>
              <a:ea typeface="Calibri"/>
              <a:cs typeface="Calibri"/>
              <a:sym typeface="Calibri"/>
            </a:endParaRPr>
          </a:p>
        </p:txBody>
      </p:sp>
      <p:sp>
        <p:nvSpPr>
          <p:cNvPr id="665" name="Google Shape;665;p33"/>
          <p:cNvSpPr/>
          <p:nvPr/>
        </p:nvSpPr>
        <p:spPr>
          <a:xfrm>
            <a:off x="3230880" y="2697480"/>
            <a:ext cx="268224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33"/>
          <p:cNvSpPr/>
          <p:nvPr/>
        </p:nvSpPr>
        <p:spPr>
          <a:xfrm>
            <a:off x="3395472" y="28620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67" name="Google Shape;667;p33"/>
          <p:cNvPicPr preferRelativeResize="0"/>
          <p:nvPr/>
        </p:nvPicPr>
        <p:blipFill rotWithShape="1">
          <a:blip r:embed="rId4">
            <a:alphaModFix/>
          </a:blip>
          <a:srcRect b="0" l="0" r="0" t="0"/>
          <a:stretch/>
        </p:blipFill>
        <p:spPr>
          <a:xfrm>
            <a:off x="3474476" y="2941076"/>
            <a:ext cx="171176" cy="171176"/>
          </a:xfrm>
          <a:prstGeom prst="rect">
            <a:avLst/>
          </a:prstGeom>
          <a:noFill/>
          <a:ln>
            <a:noFill/>
          </a:ln>
        </p:spPr>
      </p:pic>
      <p:sp>
        <p:nvSpPr>
          <p:cNvPr id="668" name="Google Shape;668;p33"/>
          <p:cNvSpPr txBox="1"/>
          <p:nvPr/>
        </p:nvSpPr>
        <p:spPr>
          <a:xfrm>
            <a:off x="3395472" y="33009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Tips</a:t>
            </a:r>
            <a:endParaRPr b="0" i="0" sz="1200" u="none" cap="none" strike="noStrike">
              <a:solidFill>
                <a:schemeClr val="dk1"/>
              </a:solidFill>
              <a:latin typeface="Calibri"/>
              <a:ea typeface="Calibri"/>
              <a:cs typeface="Calibri"/>
              <a:sym typeface="Calibri"/>
            </a:endParaRPr>
          </a:p>
        </p:txBody>
      </p:sp>
      <p:sp>
        <p:nvSpPr>
          <p:cNvPr id="669" name="Google Shape;669;p33"/>
          <p:cNvSpPr txBox="1"/>
          <p:nvPr/>
        </p:nvSpPr>
        <p:spPr>
          <a:xfrm>
            <a:off x="3395472" y="3593592"/>
            <a:ext cx="2353056" cy="4297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100% of every tip goes to the cleaner.</a:t>
            </a:r>
            <a:endParaRPr b="0" i="0" sz="950" u="none" cap="none" strike="noStrike">
              <a:solidFill>
                <a:schemeClr val="dk1"/>
              </a:solidFill>
              <a:latin typeface="Calibri"/>
              <a:ea typeface="Calibri"/>
              <a:cs typeface="Calibri"/>
              <a:sym typeface="Calibri"/>
            </a:endParaRPr>
          </a:p>
        </p:txBody>
      </p:sp>
      <p:sp>
        <p:nvSpPr>
          <p:cNvPr id="670" name="Google Shape;670;p33"/>
          <p:cNvSpPr/>
          <p:nvPr/>
        </p:nvSpPr>
        <p:spPr>
          <a:xfrm>
            <a:off x="6050280" y="2697480"/>
            <a:ext cx="268224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33"/>
          <p:cNvSpPr/>
          <p:nvPr/>
        </p:nvSpPr>
        <p:spPr>
          <a:xfrm>
            <a:off x="6214872" y="28620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72" name="Google Shape;672;p33"/>
          <p:cNvPicPr preferRelativeResize="0"/>
          <p:nvPr/>
        </p:nvPicPr>
        <p:blipFill rotWithShape="1">
          <a:blip r:embed="rId5">
            <a:alphaModFix/>
          </a:blip>
          <a:srcRect b="0" l="0" r="0" t="0"/>
          <a:stretch/>
        </p:blipFill>
        <p:spPr>
          <a:xfrm>
            <a:off x="6293876" y="2941076"/>
            <a:ext cx="171176" cy="171176"/>
          </a:xfrm>
          <a:prstGeom prst="rect">
            <a:avLst/>
          </a:prstGeom>
          <a:noFill/>
          <a:ln>
            <a:noFill/>
          </a:ln>
        </p:spPr>
      </p:pic>
      <p:sp>
        <p:nvSpPr>
          <p:cNvPr id="673" name="Google Shape;673;p33"/>
          <p:cNvSpPr txBox="1"/>
          <p:nvPr/>
        </p:nvSpPr>
        <p:spPr>
          <a:xfrm>
            <a:off x="6214872" y="33009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Surge bonus</a:t>
            </a:r>
            <a:endParaRPr b="0" i="0" sz="1200" u="none" cap="none" strike="noStrike">
              <a:solidFill>
                <a:schemeClr val="dk1"/>
              </a:solidFill>
              <a:latin typeface="Calibri"/>
              <a:ea typeface="Calibri"/>
              <a:cs typeface="Calibri"/>
              <a:sym typeface="Calibri"/>
            </a:endParaRPr>
          </a:p>
        </p:txBody>
      </p:sp>
      <p:sp>
        <p:nvSpPr>
          <p:cNvPr id="674" name="Google Shape;674;p33"/>
          <p:cNvSpPr txBox="1"/>
          <p:nvPr/>
        </p:nvSpPr>
        <p:spPr>
          <a:xfrm>
            <a:off x="6214872" y="3593592"/>
            <a:ext cx="2353056" cy="4297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$1–$50 extra on some jobs, at invoicing.</a:t>
            </a:r>
            <a:endParaRPr b="0" i="0" sz="950" u="none" cap="none" strike="noStrike">
              <a:solidFill>
                <a:schemeClr val="dk1"/>
              </a:solidFill>
              <a:latin typeface="Calibri"/>
              <a:ea typeface="Calibri"/>
              <a:cs typeface="Calibri"/>
              <a:sym typeface="Calibri"/>
            </a:endParaRPr>
          </a:p>
        </p:txBody>
      </p:sp>
      <p:sp>
        <p:nvSpPr>
          <p:cNvPr id="675" name="Google Shape;675;p3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3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 PRICE VS CP PAY</a:t>
            </a:r>
            <a:endParaRPr b="0" i="0" sz="800" u="none" cap="none" strike="noStrike">
              <a:solidFill>
                <a:schemeClr val="dk1"/>
              </a:solidFill>
              <a:latin typeface="Calibri"/>
              <a:ea typeface="Calibri"/>
              <a:cs typeface="Calibri"/>
              <a:sym typeface="Calibri"/>
            </a:endParaRPr>
          </a:p>
        </p:txBody>
      </p:sp>
      <p:sp>
        <p:nvSpPr>
          <p:cNvPr id="682" name="Google Shape;682;p3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When a "platform fee" shows up</a:t>
            </a:r>
            <a:endParaRPr b="0" i="0" sz="2400" u="none" cap="none" strike="noStrike">
              <a:solidFill>
                <a:schemeClr val="dk1"/>
              </a:solidFill>
              <a:latin typeface="Calibri"/>
              <a:ea typeface="Calibri"/>
              <a:cs typeface="Calibri"/>
              <a:sym typeface="Calibri"/>
            </a:endParaRPr>
          </a:p>
        </p:txBody>
      </p:sp>
      <p:sp>
        <p:nvSpPr>
          <p:cNvPr id="683" name="Google Shape;683;p3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FC customers have no platform fee. If one shows on an FC invoice, it's one of these cases. Not an error.</a:t>
            </a:r>
            <a:endParaRPr b="0" i="0" sz="1200" u="none" cap="none" strike="noStrike">
              <a:solidFill>
                <a:schemeClr val="dk1"/>
              </a:solidFill>
              <a:latin typeface="Calibri"/>
              <a:ea typeface="Calibri"/>
              <a:cs typeface="Calibri"/>
              <a:sym typeface="Calibri"/>
            </a:endParaRPr>
          </a:p>
        </p:txBody>
      </p:sp>
      <p:graphicFrame>
        <p:nvGraphicFramePr>
          <p:cNvPr id="684" name="Google Shape;684;p34"/>
          <p:cNvGraphicFramePr/>
          <p:nvPr/>
        </p:nvGraphicFramePr>
        <p:xfrm>
          <a:off x="411480" y="1325880"/>
          <a:ext cx="3000000" cy="3000000"/>
        </p:xfrm>
        <a:graphic>
          <a:graphicData uri="http://schemas.openxmlformats.org/drawingml/2006/table">
            <a:tbl>
              <a:tblPr>
                <a:noFill/>
                <a:tableStyleId>{1110B021-F78A-4E02-AF73-8366E27A90AE}</a:tableStyleId>
              </a:tblPr>
              <a:tblGrid>
                <a:gridCol w="2468875"/>
                <a:gridCol w="2194550"/>
                <a:gridCol w="3657600"/>
              </a:tblGrid>
              <a:tr h="402325">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Situation</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Customer pays</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The "platform fee" line is</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40232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FC · General · first pairing</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The cleaner's rate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The $5/hr marketing fee, taken from the cleaner's pay</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FC · General · repeat pairing</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The cleaner's rate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Nothing</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FC · CA/CA-WA · two rates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The higher of the two rates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The difference between the rates</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FC · CA/CA-WA · one rate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The cleaner's rate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Nothing</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Non-FC or deactivated FC</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The max CP rate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Cohort fee ($15 or $30/hr) + gap to the cleaner's rate</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685" name="Google Shape;685;p34"/>
          <p:cNvSpPr/>
          <p:nvPr/>
        </p:nvSpPr>
        <p:spPr>
          <a:xfrm>
            <a:off x="411480" y="40233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86" name="Google Shape;686;p34"/>
          <p:cNvPicPr preferRelativeResize="0"/>
          <p:nvPr/>
        </p:nvPicPr>
        <p:blipFill rotWithShape="1">
          <a:blip r:embed="rId3">
            <a:alphaModFix/>
          </a:blip>
          <a:srcRect b="0" l="0" r="0" t="0"/>
          <a:stretch/>
        </p:blipFill>
        <p:spPr>
          <a:xfrm>
            <a:off x="566928" y="4133088"/>
            <a:ext cx="164592" cy="164592"/>
          </a:xfrm>
          <a:prstGeom prst="rect">
            <a:avLst/>
          </a:prstGeom>
          <a:noFill/>
          <a:ln>
            <a:noFill/>
          </a:ln>
        </p:spPr>
      </p:pic>
      <p:sp>
        <p:nvSpPr>
          <p:cNvPr id="687" name="Google Shape;687;p34"/>
          <p:cNvSpPr txBox="1"/>
          <p:nvPr/>
        </p:nvSpPr>
        <p:spPr>
          <a:xfrm>
            <a:off x="822960" y="41239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The principle:  </a:t>
            </a:r>
            <a:r>
              <a:rPr b="0" i="0" lang="en" sz="1000" u="none" cap="none" strike="noStrike">
                <a:solidFill>
                  <a:srgbClr val="1D1D1F"/>
                </a:solidFill>
                <a:latin typeface="Arial"/>
                <a:ea typeface="Arial"/>
                <a:cs typeface="Arial"/>
                <a:sym typeface="Arial"/>
              </a:rPr>
              <a:t>if the customer pays more than the cleaner's rate, the cleaner still gets their rate. The rest goes to Homeaglow.</a:t>
            </a:r>
            <a:endParaRPr b="0" i="0" sz="1000" u="none" cap="none" strike="noStrike">
              <a:solidFill>
                <a:schemeClr val="dk1"/>
              </a:solidFill>
              <a:latin typeface="Calibri"/>
              <a:ea typeface="Calibri"/>
              <a:cs typeface="Calibri"/>
              <a:sym typeface="Calibri"/>
            </a:endParaRPr>
          </a:p>
        </p:txBody>
      </p:sp>
      <p:sp>
        <p:nvSpPr>
          <p:cNvPr id="688" name="Google Shape;688;p3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3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 PRICE VS CP PAY</a:t>
            </a:r>
            <a:endParaRPr b="0" i="0" sz="800" u="none" cap="none" strike="noStrike">
              <a:solidFill>
                <a:schemeClr val="dk1"/>
              </a:solidFill>
              <a:latin typeface="Calibri"/>
              <a:ea typeface="Calibri"/>
              <a:cs typeface="Calibri"/>
              <a:sym typeface="Calibri"/>
            </a:endParaRPr>
          </a:p>
        </p:txBody>
      </p:sp>
      <p:sp>
        <p:nvSpPr>
          <p:cNvPr id="695" name="Google Shape;695;p3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Worked example</a:t>
            </a:r>
            <a:endParaRPr b="0" i="0" sz="2400" u="none" cap="none" strike="noStrike">
              <a:solidFill>
                <a:schemeClr val="dk1"/>
              </a:solidFill>
              <a:latin typeface="Calibri"/>
              <a:ea typeface="Calibri"/>
              <a:cs typeface="Calibri"/>
              <a:sym typeface="Calibri"/>
            </a:endParaRPr>
          </a:p>
        </p:txBody>
      </p:sp>
      <p:sp>
        <p:nvSpPr>
          <p:cNvPr id="696" name="Google Shape;696;p3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 deactivated FC customer sees a $40/hr platform fee. Is it right?</a:t>
            </a:r>
            <a:endParaRPr b="0" i="0" sz="1200" u="none" cap="none" strike="noStrike">
              <a:solidFill>
                <a:schemeClr val="dk1"/>
              </a:solidFill>
              <a:latin typeface="Calibri"/>
              <a:ea typeface="Calibri"/>
              <a:cs typeface="Calibri"/>
              <a:sym typeface="Calibri"/>
            </a:endParaRPr>
          </a:p>
        </p:txBody>
      </p:sp>
      <p:sp>
        <p:nvSpPr>
          <p:cNvPr id="697" name="Google Shape;697;p35"/>
          <p:cNvSpPr/>
          <p:nvPr/>
        </p:nvSpPr>
        <p:spPr>
          <a:xfrm>
            <a:off x="594360" y="1371600"/>
            <a:ext cx="219456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35"/>
          <p:cNvSpPr txBox="1"/>
          <p:nvPr/>
        </p:nvSpPr>
        <p:spPr>
          <a:xfrm>
            <a:off x="594360" y="1508760"/>
            <a:ext cx="219456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2800"/>
              <a:buFont typeface="Play"/>
              <a:buNone/>
            </a:pPr>
            <a:r>
              <a:rPr b="1" i="0" lang="en" sz="2800" u="none" cap="none" strike="noStrike">
                <a:solidFill>
                  <a:srgbClr val="0B7A6F"/>
                </a:solidFill>
                <a:latin typeface="Play"/>
                <a:ea typeface="Play"/>
                <a:cs typeface="Play"/>
                <a:sym typeface="Play"/>
              </a:rPr>
              <a:t>$30/hr</a:t>
            </a:r>
            <a:endParaRPr b="0" i="0" sz="2800" u="none" cap="none" strike="noStrike">
              <a:solidFill>
                <a:schemeClr val="dk1"/>
              </a:solidFill>
              <a:latin typeface="Calibri"/>
              <a:ea typeface="Calibri"/>
              <a:cs typeface="Calibri"/>
              <a:sym typeface="Calibri"/>
            </a:endParaRPr>
          </a:p>
        </p:txBody>
      </p:sp>
      <p:sp>
        <p:nvSpPr>
          <p:cNvPr id="699" name="Google Shape;699;p35"/>
          <p:cNvSpPr txBox="1"/>
          <p:nvPr/>
        </p:nvSpPr>
        <p:spPr>
          <a:xfrm>
            <a:off x="594360" y="2194560"/>
            <a:ext cx="2194560" cy="6400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Deactivated FC</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platform fee</a:t>
            </a:r>
            <a:endParaRPr b="0" i="0" sz="1000" u="none" cap="none" strike="noStrike">
              <a:solidFill>
                <a:schemeClr val="dk1"/>
              </a:solidFill>
              <a:latin typeface="Calibri"/>
              <a:ea typeface="Calibri"/>
              <a:cs typeface="Calibri"/>
              <a:sym typeface="Calibri"/>
            </a:endParaRPr>
          </a:p>
        </p:txBody>
      </p:sp>
      <p:sp>
        <p:nvSpPr>
          <p:cNvPr id="700" name="Google Shape;700;p35"/>
          <p:cNvSpPr txBox="1"/>
          <p:nvPr/>
        </p:nvSpPr>
        <p:spPr>
          <a:xfrm>
            <a:off x="2880360" y="1371600"/>
            <a:ext cx="457200" cy="160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6E73"/>
              </a:buClr>
              <a:buSzPts val="2600"/>
              <a:buFont typeface="Play"/>
              <a:buNone/>
            </a:pPr>
            <a:r>
              <a:rPr b="1" i="0" lang="en" sz="2600" u="none" cap="none" strike="noStrike">
                <a:solidFill>
                  <a:srgbClr val="6E6E73"/>
                </a:solidFill>
                <a:latin typeface="Play"/>
                <a:ea typeface="Play"/>
                <a:cs typeface="Play"/>
                <a:sym typeface="Play"/>
              </a:rPr>
              <a:t>+</a:t>
            </a:r>
            <a:endParaRPr b="0" i="0" sz="2600" u="none" cap="none" strike="noStrike">
              <a:solidFill>
                <a:schemeClr val="dk1"/>
              </a:solidFill>
              <a:latin typeface="Calibri"/>
              <a:ea typeface="Calibri"/>
              <a:cs typeface="Calibri"/>
              <a:sym typeface="Calibri"/>
            </a:endParaRPr>
          </a:p>
        </p:txBody>
      </p:sp>
      <p:sp>
        <p:nvSpPr>
          <p:cNvPr id="701" name="Google Shape;701;p35"/>
          <p:cNvSpPr/>
          <p:nvPr/>
        </p:nvSpPr>
        <p:spPr>
          <a:xfrm>
            <a:off x="3429000" y="1371600"/>
            <a:ext cx="219456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2" name="Google Shape;702;p35"/>
          <p:cNvSpPr txBox="1"/>
          <p:nvPr/>
        </p:nvSpPr>
        <p:spPr>
          <a:xfrm>
            <a:off x="3429000" y="1508760"/>
            <a:ext cx="219456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2800"/>
              <a:buFont typeface="Play"/>
              <a:buNone/>
            </a:pPr>
            <a:r>
              <a:rPr b="1" i="0" lang="en" sz="2800" u="none" cap="none" strike="noStrike">
                <a:solidFill>
                  <a:srgbClr val="0B7A6F"/>
                </a:solidFill>
                <a:latin typeface="Play"/>
                <a:ea typeface="Play"/>
                <a:cs typeface="Play"/>
                <a:sym typeface="Play"/>
              </a:rPr>
              <a:t>$10/hr</a:t>
            </a:r>
            <a:endParaRPr b="0" i="0" sz="2800" u="none" cap="none" strike="noStrike">
              <a:solidFill>
                <a:schemeClr val="dk1"/>
              </a:solidFill>
              <a:latin typeface="Calibri"/>
              <a:ea typeface="Calibri"/>
              <a:cs typeface="Calibri"/>
              <a:sym typeface="Calibri"/>
            </a:endParaRPr>
          </a:p>
        </p:txBody>
      </p:sp>
      <p:sp>
        <p:nvSpPr>
          <p:cNvPr id="703" name="Google Shape;703;p35"/>
          <p:cNvSpPr txBox="1"/>
          <p:nvPr/>
        </p:nvSpPr>
        <p:spPr>
          <a:xfrm>
            <a:off x="3429000" y="2194560"/>
            <a:ext cx="2194560" cy="6400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Max rate $25 −</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cleaner's rate $15</a:t>
            </a:r>
            <a:endParaRPr b="0" i="0" sz="1000" u="none" cap="none" strike="noStrike">
              <a:solidFill>
                <a:schemeClr val="dk1"/>
              </a:solidFill>
              <a:latin typeface="Calibri"/>
              <a:ea typeface="Calibri"/>
              <a:cs typeface="Calibri"/>
              <a:sym typeface="Calibri"/>
            </a:endParaRPr>
          </a:p>
        </p:txBody>
      </p:sp>
      <p:sp>
        <p:nvSpPr>
          <p:cNvPr id="704" name="Google Shape;704;p35"/>
          <p:cNvSpPr txBox="1"/>
          <p:nvPr/>
        </p:nvSpPr>
        <p:spPr>
          <a:xfrm>
            <a:off x="5715000" y="1371600"/>
            <a:ext cx="457200" cy="160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6E73"/>
              </a:buClr>
              <a:buSzPts val="2600"/>
              <a:buFont typeface="Play"/>
              <a:buNone/>
            </a:pPr>
            <a:r>
              <a:rPr b="1" i="0" lang="en" sz="2600" u="none" cap="none" strike="noStrike">
                <a:solidFill>
                  <a:srgbClr val="6E6E73"/>
                </a:solidFill>
                <a:latin typeface="Play"/>
                <a:ea typeface="Play"/>
                <a:cs typeface="Play"/>
                <a:sym typeface="Play"/>
              </a:rPr>
              <a:t>=</a:t>
            </a:r>
            <a:endParaRPr b="0" i="0" sz="2600" u="none" cap="none" strike="noStrike">
              <a:solidFill>
                <a:schemeClr val="dk1"/>
              </a:solidFill>
              <a:latin typeface="Calibri"/>
              <a:ea typeface="Calibri"/>
              <a:cs typeface="Calibri"/>
              <a:sym typeface="Calibri"/>
            </a:endParaRPr>
          </a:p>
        </p:txBody>
      </p:sp>
      <p:sp>
        <p:nvSpPr>
          <p:cNvPr id="705" name="Google Shape;705;p35"/>
          <p:cNvSpPr/>
          <p:nvPr/>
        </p:nvSpPr>
        <p:spPr>
          <a:xfrm>
            <a:off x="6263640" y="1371600"/>
            <a:ext cx="2194560" cy="1600200"/>
          </a:xfrm>
          <a:prstGeom prst="roundRect">
            <a:avLst>
              <a:gd fmla="val 4571"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35"/>
          <p:cNvSpPr txBox="1"/>
          <p:nvPr/>
        </p:nvSpPr>
        <p:spPr>
          <a:xfrm>
            <a:off x="6263640" y="1508760"/>
            <a:ext cx="2194560" cy="6400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2800"/>
              <a:buFont typeface="Play"/>
              <a:buNone/>
            </a:pPr>
            <a:r>
              <a:rPr b="1" i="0" lang="en" sz="2800" u="none" cap="none" strike="noStrike">
                <a:solidFill>
                  <a:srgbClr val="FFFFFF"/>
                </a:solidFill>
                <a:latin typeface="Play"/>
                <a:ea typeface="Play"/>
                <a:cs typeface="Play"/>
                <a:sym typeface="Play"/>
              </a:rPr>
              <a:t>$40/hr</a:t>
            </a:r>
            <a:endParaRPr b="0" i="0" sz="2800" u="none" cap="none" strike="noStrike">
              <a:solidFill>
                <a:schemeClr val="dk1"/>
              </a:solidFill>
              <a:latin typeface="Calibri"/>
              <a:ea typeface="Calibri"/>
              <a:cs typeface="Calibri"/>
              <a:sym typeface="Calibri"/>
            </a:endParaRPr>
          </a:p>
        </p:txBody>
      </p:sp>
      <p:sp>
        <p:nvSpPr>
          <p:cNvPr id="707" name="Google Shape;707;p35"/>
          <p:cNvSpPr txBox="1"/>
          <p:nvPr/>
        </p:nvSpPr>
        <p:spPr>
          <a:xfrm>
            <a:off x="6263640" y="2194560"/>
            <a:ext cx="2194560" cy="6400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000"/>
              <a:buFont typeface="Arial"/>
              <a:buNone/>
            </a:pPr>
            <a:r>
              <a:rPr b="0" i="0" lang="en" sz="1000" u="none" cap="none" strike="noStrike">
                <a:solidFill>
                  <a:srgbClr val="FFFFFF"/>
                </a:solidFill>
                <a:latin typeface="Arial"/>
                <a:ea typeface="Arial"/>
                <a:cs typeface="Arial"/>
                <a:sym typeface="Arial"/>
              </a:rPr>
              <a:t>Platform fee</a:t>
            </a:r>
            <a:endParaRPr b="0" i="0" sz="10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FFFFFF"/>
              </a:buClr>
              <a:buSzPts val="1000"/>
              <a:buFont typeface="Arial"/>
              <a:buNone/>
            </a:pPr>
            <a:r>
              <a:rPr b="0" i="0" lang="en" sz="1000" u="none" cap="none" strike="noStrike">
                <a:solidFill>
                  <a:srgbClr val="FFFFFF"/>
                </a:solidFill>
                <a:latin typeface="Arial"/>
                <a:ea typeface="Arial"/>
                <a:cs typeface="Arial"/>
                <a:sym typeface="Arial"/>
              </a:rPr>
              <a:t>on the invoice</a:t>
            </a:r>
            <a:endParaRPr b="0" i="0" sz="1000" u="none" cap="none" strike="noStrike">
              <a:solidFill>
                <a:schemeClr val="dk1"/>
              </a:solidFill>
              <a:latin typeface="Calibri"/>
              <a:ea typeface="Calibri"/>
              <a:cs typeface="Calibri"/>
              <a:sym typeface="Calibri"/>
            </a:endParaRPr>
          </a:p>
        </p:txBody>
      </p:sp>
      <p:sp>
        <p:nvSpPr>
          <p:cNvPr id="708" name="Google Shape;708;p35"/>
          <p:cNvSpPr/>
          <p:nvPr/>
        </p:nvSpPr>
        <p:spPr>
          <a:xfrm>
            <a:off x="411480" y="32461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09" name="Google Shape;709;p35"/>
          <p:cNvPicPr preferRelativeResize="0"/>
          <p:nvPr/>
        </p:nvPicPr>
        <p:blipFill rotWithShape="1">
          <a:blip r:embed="rId3">
            <a:alphaModFix/>
          </a:blip>
          <a:srcRect b="0" l="0" r="0" t="0"/>
          <a:stretch/>
        </p:blipFill>
        <p:spPr>
          <a:xfrm>
            <a:off x="566928" y="3355848"/>
            <a:ext cx="164592" cy="164592"/>
          </a:xfrm>
          <a:prstGeom prst="rect">
            <a:avLst/>
          </a:prstGeom>
          <a:noFill/>
          <a:ln>
            <a:noFill/>
          </a:ln>
        </p:spPr>
      </p:pic>
      <p:sp>
        <p:nvSpPr>
          <p:cNvPr id="710" name="Google Shape;710;p35"/>
          <p:cNvSpPr txBox="1"/>
          <p:nvPr/>
        </p:nvSpPr>
        <p:spPr>
          <a:xfrm>
            <a:off x="822960" y="33467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Correct charge:  </a:t>
            </a:r>
            <a:r>
              <a:rPr b="0" i="0" lang="en" sz="1000" u="none" cap="none" strike="noStrike">
                <a:solidFill>
                  <a:srgbClr val="1D1D1F"/>
                </a:solidFill>
                <a:latin typeface="Arial"/>
                <a:ea typeface="Arial"/>
                <a:cs typeface="Arial"/>
                <a:sym typeface="Arial"/>
              </a:rPr>
              <a:t>don't reprice it and don't refund the difference. The cleaner is still paid $15/hr.</a:t>
            </a:r>
            <a:endParaRPr b="0" i="0" sz="1000" u="none" cap="none" strike="noStrike">
              <a:solidFill>
                <a:schemeClr val="dk1"/>
              </a:solidFill>
              <a:latin typeface="Calibri"/>
              <a:ea typeface="Calibri"/>
              <a:cs typeface="Calibri"/>
              <a:sym typeface="Calibri"/>
            </a:endParaRPr>
          </a:p>
        </p:txBody>
      </p:sp>
      <p:sp>
        <p:nvSpPr>
          <p:cNvPr id="711" name="Google Shape;711;p3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36"/>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717" name="Google Shape;717;p36"/>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718" name="Google Shape;718;p36"/>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719" name="Google Shape;719;p36"/>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0" name="Google Shape;720;p36"/>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721" name="Google Shape;721;p36"/>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722" name="Google Shape;722;p36"/>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36"/>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4" name="Google Shape;724;p36"/>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36"/>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6" name="Google Shape;726;p36"/>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7" name="Google Shape;727;p36"/>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36"/>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3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 PRICE VS CP PAY</a:t>
            </a:r>
            <a:endParaRPr b="0" i="0" sz="800" u="none" cap="none" strike="noStrike">
              <a:solidFill>
                <a:schemeClr val="dk1"/>
              </a:solidFill>
              <a:latin typeface="Calibri"/>
              <a:ea typeface="Calibri"/>
              <a:cs typeface="Calibri"/>
              <a:sym typeface="Calibri"/>
            </a:endParaRPr>
          </a:p>
        </p:txBody>
      </p:sp>
      <p:sp>
        <p:nvSpPr>
          <p:cNvPr id="735" name="Google Shape;735;p3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Max requested rate</a:t>
            </a:r>
            <a:endParaRPr b="0" i="0" sz="2400" u="none" cap="none" strike="noStrike">
              <a:solidFill>
                <a:schemeClr val="dk1"/>
              </a:solidFill>
              <a:latin typeface="Calibri"/>
              <a:ea typeface="Calibri"/>
              <a:cs typeface="Calibri"/>
              <a:sym typeface="Calibri"/>
            </a:endParaRPr>
          </a:p>
        </p:txBody>
      </p:sp>
      <p:sp>
        <p:nvSpPr>
          <p:cNvPr id="736" name="Google Shape;736;p3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Non-FC and deactivated FC customers are priced at the highest rate among the cleaners they requested.</a:t>
            </a:r>
            <a:endParaRPr b="0" i="0" sz="1200" u="none" cap="none" strike="noStrike">
              <a:solidFill>
                <a:schemeClr val="dk1"/>
              </a:solidFill>
              <a:latin typeface="Calibri"/>
              <a:ea typeface="Calibri"/>
              <a:cs typeface="Calibri"/>
              <a:sym typeface="Calibri"/>
            </a:endParaRPr>
          </a:p>
        </p:txBody>
      </p:sp>
      <p:sp>
        <p:nvSpPr>
          <p:cNvPr id="737" name="Google Shape;737;p37"/>
          <p:cNvSpPr txBox="1"/>
          <p:nvPr/>
        </p:nvSpPr>
        <p:spPr>
          <a:xfrm>
            <a:off x="438912" y="132588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REQUESTED CLEANERS</a:t>
            </a:r>
            <a:endParaRPr b="0" i="0" sz="800" u="none" cap="none" strike="noStrike">
              <a:solidFill>
                <a:schemeClr val="dk1"/>
              </a:solidFill>
              <a:latin typeface="Calibri"/>
              <a:ea typeface="Calibri"/>
              <a:cs typeface="Calibri"/>
              <a:sym typeface="Calibri"/>
            </a:endParaRPr>
          </a:p>
        </p:txBody>
      </p:sp>
      <p:sp>
        <p:nvSpPr>
          <p:cNvPr id="738" name="Google Shape;738;p37"/>
          <p:cNvSpPr/>
          <p:nvPr/>
        </p:nvSpPr>
        <p:spPr>
          <a:xfrm>
            <a:off x="411480" y="1572768"/>
            <a:ext cx="1261872" cy="91440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37"/>
          <p:cNvSpPr txBox="1"/>
          <p:nvPr/>
        </p:nvSpPr>
        <p:spPr>
          <a:xfrm>
            <a:off x="411480" y="1645920"/>
            <a:ext cx="1261872"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Mona</a:t>
            </a:r>
            <a:endParaRPr b="0" i="0" sz="1200" u="none" cap="none" strike="noStrike">
              <a:solidFill>
                <a:schemeClr val="dk1"/>
              </a:solidFill>
              <a:latin typeface="Calibri"/>
              <a:ea typeface="Calibri"/>
              <a:cs typeface="Calibri"/>
              <a:sym typeface="Calibri"/>
            </a:endParaRPr>
          </a:p>
        </p:txBody>
      </p:sp>
      <p:sp>
        <p:nvSpPr>
          <p:cNvPr id="740" name="Google Shape;740;p37"/>
          <p:cNvSpPr txBox="1"/>
          <p:nvPr/>
        </p:nvSpPr>
        <p:spPr>
          <a:xfrm>
            <a:off x="411480" y="1965960"/>
            <a:ext cx="1261872"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1500"/>
              <a:buFont typeface="Play"/>
              <a:buNone/>
            </a:pPr>
            <a:r>
              <a:rPr b="1" i="0" lang="en" sz="1500" u="none" cap="none" strike="noStrike">
                <a:solidFill>
                  <a:srgbClr val="0B7A6F"/>
                </a:solidFill>
                <a:latin typeface="Play"/>
                <a:ea typeface="Play"/>
                <a:cs typeface="Play"/>
                <a:sym typeface="Play"/>
              </a:rPr>
              <a:t>$25/hr</a:t>
            </a:r>
            <a:endParaRPr b="0" i="0" sz="1500" u="none" cap="none" strike="noStrike">
              <a:solidFill>
                <a:schemeClr val="dk1"/>
              </a:solidFill>
              <a:latin typeface="Calibri"/>
              <a:ea typeface="Calibri"/>
              <a:cs typeface="Calibri"/>
              <a:sym typeface="Calibri"/>
            </a:endParaRPr>
          </a:p>
        </p:txBody>
      </p:sp>
      <p:sp>
        <p:nvSpPr>
          <p:cNvPr id="741" name="Google Shape;741;p37"/>
          <p:cNvSpPr/>
          <p:nvPr/>
        </p:nvSpPr>
        <p:spPr>
          <a:xfrm>
            <a:off x="1783080" y="1572768"/>
            <a:ext cx="1261872" cy="914400"/>
          </a:xfrm>
          <a:prstGeom prst="roundRect">
            <a:avLst>
              <a:gd fmla="val 8000"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2" name="Google Shape;742;p37"/>
          <p:cNvSpPr txBox="1"/>
          <p:nvPr/>
        </p:nvSpPr>
        <p:spPr>
          <a:xfrm>
            <a:off x="1783080" y="1645920"/>
            <a:ext cx="1261872"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200"/>
              <a:buFont typeface="Play"/>
              <a:buNone/>
            </a:pPr>
            <a:r>
              <a:rPr b="1" i="0" lang="en" sz="1200" u="none" cap="none" strike="noStrike">
                <a:solidFill>
                  <a:srgbClr val="FFFFFF"/>
                </a:solidFill>
                <a:latin typeface="Play"/>
                <a:ea typeface="Play"/>
                <a:cs typeface="Play"/>
                <a:sym typeface="Play"/>
              </a:rPr>
              <a:t>Cassandra</a:t>
            </a:r>
            <a:endParaRPr b="0" i="0" sz="1200" u="none" cap="none" strike="noStrike">
              <a:solidFill>
                <a:schemeClr val="dk1"/>
              </a:solidFill>
              <a:latin typeface="Calibri"/>
              <a:ea typeface="Calibri"/>
              <a:cs typeface="Calibri"/>
              <a:sym typeface="Calibri"/>
            </a:endParaRPr>
          </a:p>
        </p:txBody>
      </p:sp>
      <p:sp>
        <p:nvSpPr>
          <p:cNvPr id="743" name="Google Shape;743;p37"/>
          <p:cNvSpPr txBox="1"/>
          <p:nvPr/>
        </p:nvSpPr>
        <p:spPr>
          <a:xfrm>
            <a:off x="1783080" y="1965960"/>
            <a:ext cx="1261872"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SzPts val="1500"/>
              <a:buFont typeface="Play"/>
              <a:buNone/>
            </a:pPr>
            <a:r>
              <a:rPr b="1" i="0" lang="en" sz="1500" u="none" cap="none" strike="noStrike">
                <a:solidFill>
                  <a:srgbClr val="FFFFFF"/>
                </a:solidFill>
                <a:latin typeface="Play"/>
                <a:ea typeface="Play"/>
                <a:cs typeface="Play"/>
                <a:sym typeface="Play"/>
              </a:rPr>
              <a:t>$30/hr</a:t>
            </a:r>
            <a:endParaRPr b="0" i="0" sz="1500" u="none" cap="none" strike="noStrike">
              <a:solidFill>
                <a:schemeClr val="dk1"/>
              </a:solidFill>
              <a:latin typeface="Calibri"/>
              <a:ea typeface="Calibri"/>
              <a:cs typeface="Calibri"/>
              <a:sym typeface="Calibri"/>
            </a:endParaRPr>
          </a:p>
        </p:txBody>
      </p:sp>
      <p:sp>
        <p:nvSpPr>
          <p:cNvPr id="744" name="Google Shape;744;p37"/>
          <p:cNvSpPr/>
          <p:nvPr/>
        </p:nvSpPr>
        <p:spPr>
          <a:xfrm>
            <a:off x="3154680" y="1572768"/>
            <a:ext cx="1261872" cy="91440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5" name="Google Shape;745;p37"/>
          <p:cNvSpPr txBox="1"/>
          <p:nvPr/>
        </p:nvSpPr>
        <p:spPr>
          <a:xfrm>
            <a:off x="3154680" y="1645920"/>
            <a:ext cx="1261872" cy="32004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Yolanda</a:t>
            </a:r>
            <a:endParaRPr b="0" i="0" sz="1200" u="none" cap="none" strike="noStrike">
              <a:solidFill>
                <a:schemeClr val="dk1"/>
              </a:solidFill>
              <a:latin typeface="Calibri"/>
              <a:ea typeface="Calibri"/>
              <a:cs typeface="Calibri"/>
              <a:sym typeface="Calibri"/>
            </a:endParaRPr>
          </a:p>
        </p:txBody>
      </p:sp>
      <p:sp>
        <p:nvSpPr>
          <p:cNvPr id="746" name="Google Shape;746;p37"/>
          <p:cNvSpPr txBox="1"/>
          <p:nvPr/>
        </p:nvSpPr>
        <p:spPr>
          <a:xfrm>
            <a:off x="3154680" y="1965960"/>
            <a:ext cx="1261872" cy="36576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B7A6F"/>
              </a:buClr>
              <a:buSzPts val="1500"/>
              <a:buFont typeface="Play"/>
              <a:buNone/>
            </a:pPr>
            <a:r>
              <a:rPr b="1" i="0" lang="en" sz="1500" u="none" cap="none" strike="noStrike">
                <a:solidFill>
                  <a:srgbClr val="0B7A6F"/>
                </a:solidFill>
                <a:latin typeface="Play"/>
                <a:ea typeface="Play"/>
                <a:cs typeface="Play"/>
                <a:sym typeface="Play"/>
              </a:rPr>
              <a:t>$23/hr</a:t>
            </a:r>
            <a:endParaRPr b="0" i="0" sz="1500" u="none" cap="none" strike="noStrike">
              <a:solidFill>
                <a:schemeClr val="dk1"/>
              </a:solidFill>
              <a:latin typeface="Calibri"/>
              <a:ea typeface="Calibri"/>
              <a:cs typeface="Calibri"/>
              <a:sym typeface="Calibri"/>
            </a:endParaRPr>
          </a:p>
        </p:txBody>
      </p:sp>
      <p:sp>
        <p:nvSpPr>
          <p:cNvPr id="747" name="Google Shape;747;p37"/>
          <p:cNvSpPr txBox="1"/>
          <p:nvPr/>
        </p:nvSpPr>
        <p:spPr>
          <a:xfrm>
            <a:off x="438912" y="2606040"/>
            <a:ext cx="4023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1200"/>
              <a:buFont typeface="Play"/>
              <a:buNone/>
            </a:pPr>
            <a:r>
              <a:rPr b="1" i="0" lang="en" sz="1200" u="none" cap="none" strike="noStrike">
                <a:solidFill>
                  <a:srgbClr val="0B7A6F"/>
                </a:solidFill>
                <a:latin typeface="Play"/>
                <a:ea typeface="Play"/>
                <a:cs typeface="Play"/>
                <a:sym typeface="Play"/>
              </a:rPr>
              <a:t>Max requested rate: $30/hr</a:t>
            </a:r>
            <a:endParaRPr b="0" i="0" sz="1200" u="none" cap="none" strike="noStrike">
              <a:solidFill>
                <a:schemeClr val="dk1"/>
              </a:solidFill>
              <a:latin typeface="Calibri"/>
              <a:ea typeface="Calibri"/>
              <a:cs typeface="Calibri"/>
              <a:sym typeface="Calibri"/>
            </a:endParaRPr>
          </a:p>
        </p:txBody>
      </p:sp>
      <p:sp>
        <p:nvSpPr>
          <p:cNvPr id="748" name="Google Shape;748;p37"/>
          <p:cNvSpPr/>
          <p:nvPr/>
        </p:nvSpPr>
        <p:spPr>
          <a:xfrm>
            <a:off x="4663440" y="1325880"/>
            <a:ext cx="4069080" cy="1325880"/>
          </a:xfrm>
          <a:prstGeom prst="roundRect">
            <a:avLst>
              <a:gd fmla="val 551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9" name="Google Shape;749;p37"/>
          <p:cNvSpPr/>
          <p:nvPr/>
        </p:nvSpPr>
        <p:spPr>
          <a:xfrm>
            <a:off x="482803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50" name="Google Shape;750;p37"/>
          <p:cNvPicPr preferRelativeResize="0"/>
          <p:nvPr/>
        </p:nvPicPr>
        <p:blipFill rotWithShape="1">
          <a:blip r:embed="rId3">
            <a:alphaModFix/>
          </a:blip>
          <a:srcRect b="0" l="0" r="0" t="0"/>
          <a:stretch/>
        </p:blipFill>
        <p:spPr>
          <a:xfrm>
            <a:off x="4907036" y="1569476"/>
            <a:ext cx="171176" cy="171176"/>
          </a:xfrm>
          <a:prstGeom prst="rect">
            <a:avLst/>
          </a:prstGeom>
          <a:noFill/>
          <a:ln>
            <a:noFill/>
          </a:ln>
        </p:spPr>
      </p:pic>
      <p:sp>
        <p:nvSpPr>
          <p:cNvPr id="751" name="Google Shape;751;p37"/>
          <p:cNvSpPr txBox="1"/>
          <p:nvPr/>
        </p:nvSpPr>
        <p:spPr>
          <a:xfrm>
            <a:off x="4828032" y="1929384"/>
            <a:ext cx="373989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 requested cleaner claims</a:t>
            </a:r>
            <a:endParaRPr b="0" i="0" sz="1200" u="none" cap="none" strike="noStrike">
              <a:solidFill>
                <a:schemeClr val="dk1"/>
              </a:solidFill>
              <a:latin typeface="Calibri"/>
              <a:ea typeface="Calibri"/>
              <a:cs typeface="Calibri"/>
              <a:sym typeface="Calibri"/>
            </a:endParaRPr>
          </a:p>
        </p:txBody>
      </p:sp>
      <p:sp>
        <p:nvSpPr>
          <p:cNvPr id="752" name="Google Shape;752;p37"/>
          <p:cNvSpPr txBox="1"/>
          <p:nvPr/>
        </p:nvSpPr>
        <p:spPr>
          <a:xfrm>
            <a:off x="4828032" y="2221992"/>
            <a:ext cx="3739896" cy="3383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Mona claims: the customer pays Mona's rate, $25/hr.</a:t>
            </a:r>
            <a:endParaRPr b="0" i="0" sz="950" u="none" cap="none" strike="noStrike">
              <a:solidFill>
                <a:schemeClr val="dk1"/>
              </a:solidFill>
              <a:latin typeface="Calibri"/>
              <a:ea typeface="Calibri"/>
              <a:cs typeface="Calibri"/>
              <a:sym typeface="Calibri"/>
            </a:endParaRPr>
          </a:p>
        </p:txBody>
      </p:sp>
      <p:sp>
        <p:nvSpPr>
          <p:cNvPr id="753" name="Google Shape;753;p37"/>
          <p:cNvSpPr/>
          <p:nvPr/>
        </p:nvSpPr>
        <p:spPr>
          <a:xfrm>
            <a:off x="4663440" y="2743200"/>
            <a:ext cx="4069080" cy="1325880"/>
          </a:xfrm>
          <a:prstGeom prst="roundRect">
            <a:avLst>
              <a:gd fmla="val 5517"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37"/>
          <p:cNvSpPr/>
          <p:nvPr/>
        </p:nvSpPr>
        <p:spPr>
          <a:xfrm>
            <a:off x="4828032" y="290779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55" name="Google Shape;755;p37"/>
          <p:cNvPicPr preferRelativeResize="0"/>
          <p:nvPr/>
        </p:nvPicPr>
        <p:blipFill rotWithShape="1">
          <a:blip r:embed="rId4">
            <a:alphaModFix/>
          </a:blip>
          <a:srcRect b="0" l="0" r="0" t="0"/>
          <a:stretch/>
        </p:blipFill>
        <p:spPr>
          <a:xfrm>
            <a:off x="4907036" y="2986796"/>
            <a:ext cx="171176" cy="171176"/>
          </a:xfrm>
          <a:prstGeom prst="rect">
            <a:avLst/>
          </a:prstGeom>
          <a:noFill/>
          <a:ln>
            <a:noFill/>
          </a:ln>
        </p:spPr>
      </p:pic>
      <p:sp>
        <p:nvSpPr>
          <p:cNvPr id="756" name="Google Shape;756;p37"/>
          <p:cNvSpPr txBox="1"/>
          <p:nvPr/>
        </p:nvSpPr>
        <p:spPr>
          <a:xfrm>
            <a:off x="4828032" y="3346704"/>
            <a:ext cx="373989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Someone else claims</a:t>
            </a:r>
            <a:endParaRPr b="0" i="0" sz="1200" u="none" cap="none" strike="noStrike">
              <a:solidFill>
                <a:schemeClr val="dk1"/>
              </a:solidFill>
              <a:latin typeface="Calibri"/>
              <a:ea typeface="Calibri"/>
              <a:cs typeface="Calibri"/>
              <a:sym typeface="Calibri"/>
            </a:endParaRPr>
          </a:p>
        </p:txBody>
      </p:sp>
      <p:sp>
        <p:nvSpPr>
          <p:cNvPr id="757" name="Google Shape;757;p37"/>
          <p:cNvSpPr txBox="1"/>
          <p:nvPr/>
        </p:nvSpPr>
        <p:spPr>
          <a:xfrm>
            <a:off x="4828032" y="3639312"/>
            <a:ext cx="3739896" cy="3383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Jeff ($18/hr) claims: the customer pays $30/hr. Jeff gets $18/hr.</a:t>
            </a:r>
            <a:endParaRPr b="0" i="0" sz="950" u="none" cap="none" strike="noStrike">
              <a:solidFill>
                <a:schemeClr val="dk1"/>
              </a:solidFill>
              <a:latin typeface="Calibri"/>
              <a:ea typeface="Calibri"/>
              <a:cs typeface="Calibri"/>
              <a:sym typeface="Calibri"/>
            </a:endParaRPr>
          </a:p>
        </p:txBody>
      </p:sp>
      <p:sp>
        <p:nvSpPr>
          <p:cNvPr id="758" name="Google Shape;758;p37"/>
          <p:cNvSpPr txBox="1"/>
          <p:nvPr/>
        </p:nvSpPr>
        <p:spPr>
          <a:xfrm>
            <a:off x="438912" y="3017520"/>
            <a:ext cx="402336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050"/>
              <a:buFont typeface="Arial"/>
              <a:buNone/>
            </a:pPr>
            <a:r>
              <a:rPr b="0" i="0" lang="en" sz="1050" u="none" cap="none" strike="noStrike">
                <a:solidFill>
                  <a:srgbClr val="6E6E73"/>
                </a:solidFill>
                <a:latin typeface="Arial"/>
                <a:ea typeface="Arial"/>
                <a:cs typeface="Arial"/>
                <a:sym typeface="Arial"/>
              </a:rPr>
              <a:t>Requesting Cassandra shows the customer is willing to pay her rate, so it becomes their ceiling.</a:t>
            </a:r>
            <a:endParaRPr b="0" i="0" sz="1050" u="none" cap="none" strike="noStrike">
              <a:solidFill>
                <a:schemeClr val="dk1"/>
              </a:solidFill>
              <a:latin typeface="Calibri"/>
              <a:ea typeface="Calibri"/>
              <a:cs typeface="Calibri"/>
              <a:sym typeface="Calibri"/>
            </a:endParaRPr>
          </a:p>
        </p:txBody>
      </p:sp>
      <p:sp>
        <p:nvSpPr>
          <p:cNvPr id="759" name="Google Shape;759;p3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3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 PRICE VS CP PAY</a:t>
            </a:r>
            <a:endParaRPr b="0" i="0" sz="800" u="none" cap="none" strike="noStrike">
              <a:solidFill>
                <a:schemeClr val="dk1"/>
              </a:solidFill>
              <a:latin typeface="Calibri"/>
              <a:ea typeface="Calibri"/>
              <a:cs typeface="Calibri"/>
              <a:sym typeface="Calibri"/>
            </a:endParaRPr>
          </a:p>
        </p:txBody>
      </p:sp>
      <p:sp>
        <p:nvSpPr>
          <p:cNvPr id="766" name="Google Shape;766;p3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Before you explain or refund a fee</a:t>
            </a:r>
            <a:endParaRPr b="0" i="0" sz="2400" u="none" cap="none" strike="noStrike">
              <a:solidFill>
                <a:schemeClr val="dk1"/>
              </a:solidFill>
              <a:latin typeface="Calibri"/>
              <a:ea typeface="Calibri"/>
              <a:cs typeface="Calibri"/>
              <a:sym typeface="Calibri"/>
            </a:endParaRPr>
          </a:p>
        </p:txBody>
      </p:sp>
      <p:sp>
        <p:nvSpPr>
          <p:cNvPr id="767" name="Google Shape;767;p3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Three answers tell you which case you're in.</a:t>
            </a:r>
            <a:endParaRPr b="0" i="0" sz="1200" u="none" cap="none" strike="noStrike">
              <a:solidFill>
                <a:schemeClr val="dk1"/>
              </a:solidFill>
              <a:latin typeface="Calibri"/>
              <a:ea typeface="Calibri"/>
              <a:cs typeface="Calibri"/>
              <a:sym typeface="Calibri"/>
            </a:endParaRPr>
          </a:p>
        </p:txBody>
      </p:sp>
      <p:sp>
        <p:nvSpPr>
          <p:cNvPr id="768" name="Google Shape;768;p38"/>
          <p:cNvSpPr/>
          <p:nvPr/>
        </p:nvSpPr>
        <p:spPr>
          <a:xfrm>
            <a:off x="411480" y="137160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38"/>
          <p:cNvSpPr/>
          <p:nvPr/>
        </p:nvSpPr>
        <p:spPr>
          <a:xfrm>
            <a:off x="576072"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38"/>
          <p:cNvSpPr txBox="1"/>
          <p:nvPr/>
        </p:nvSpPr>
        <p:spPr>
          <a:xfrm>
            <a:off x="576072"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771" name="Google Shape;771;p38"/>
          <p:cNvSpPr txBox="1"/>
          <p:nvPr/>
        </p:nvSpPr>
        <p:spPr>
          <a:xfrm>
            <a:off x="576072" y="197510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Operating model</a:t>
            </a:r>
            <a:endParaRPr b="0" i="0" sz="1200" u="none" cap="none" strike="noStrike">
              <a:solidFill>
                <a:schemeClr val="dk1"/>
              </a:solidFill>
              <a:latin typeface="Calibri"/>
              <a:ea typeface="Calibri"/>
              <a:cs typeface="Calibri"/>
              <a:sym typeface="Calibri"/>
            </a:endParaRPr>
          </a:p>
        </p:txBody>
      </p:sp>
      <p:sp>
        <p:nvSpPr>
          <p:cNvPr id="772" name="Google Shape;772;p38"/>
          <p:cNvSpPr txBox="1"/>
          <p:nvPr/>
        </p:nvSpPr>
        <p:spPr>
          <a:xfrm>
            <a:off x="576072" y="226771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CA/CA-WA or General? Look for the banner.</a:t>
            </a:r>
            <a:endParaRPr b="0" i="0" sz="950" u="none" cap="none" strike="noStrike">
              <a:solidFill>
                <a:schemeClr val="dk1"/>
              </a:solidFill>
              <a:latin typeface="Calibri"/>
              <a:ea typeface="Calibri"/>
              <a:cs typeface="Calibri"/>
              <a:sym typeface="Calibri"/>
            </a:endParaRPr>
          </a:p>
        </p:txBody>
      </p:sp>
      <p:sp>
        <p:nvSpPr>
          <p:cNvPr id="773" name="Google Shape;773;p38"/>
          <p:cNvSpPr/>
          <p:nvPr/>
        </p:nvSpPr>
        <p:spPr>
          <a:xfrm>
            <a:off x="3230880" y="137160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4" name="Google Shape;774;p38"/>
          <p:cNvSpPr/>
          <p:nvPr/>
        </p:nvSpPr>
        <p:spPr>
          <a:xfrm>
            <a:off x="3395472"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5" name="Google Shape;775;p38"/>
          <p:cNvSpPr txBox="1"/>
          <p:nvPr/>
        </p:nvSpPr>
        <p:spPr>
          <a:xfrm>
            <a:off x="3395472"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776" name="Google Shape;776;p38"/>
          <p:cNvSpPr txBox="1"/>
          <p:nvPr/>
        </p:nvSpPr>
        <p:spPr>
          <a:xfrm>
            <a:off x="3395472" y="197510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Membership status</a:t>
            </a:r>
            <a:endParaRPr b="0" i="0" sz="1200" u="none" cap="none" strike="noStrike">
              <a:solidFill>
                <a:schemeClr val="dk1"/>
              </a:solidFill>
              <a:latin typeface="Calibri"/>
              <a:ea typeface="Calibri"/>
              <a:cs typeface="Calibri"/>
              <a:sym typeface="Calibri"/>
            </a:endParaRPr>
          </a:p>
        </p:txBody>
      </p:sp>
      <p:sp>
        <p:nvSpPr>
          <p:cNvPr id="777" name="Google Shape;777;p38"/>
          <p:cNvSpPr txBox="1"/>
          <p:nvPr/>
        </p:nvSpPr>
        <p:spPr>
          <a:xfrm>
            <a:off x="3395472" y="226771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FC, non-FC, or deactivated FC?</a:t>
            </a:r>
            <a:endParaRPr b="0" i="0" sz="950" u="none" cap="none" strike="noStrike">
              <a:solidFill>
                <a:schemeClr val="dk1"/>
              </a:solidFill>
              <a:latin typeface="Calibri"/>
              <a:ea typeface="Calibri"/>
              <a:cs typeface="Calibri"/>
              <a:sym typeface="Calibri"/>
            </a:endParaRPr>
          </a:p>
        </p:txBody>
      </p:sp>
      <p:sp>
        <p:nvSpPr>
          <p:cNvPr id="778" name="Google Shape;778;p38"/>
          <p:cNvSpPr/>
          <p:nvPr/>
        </p:nvSpPr>
        <p:spPr>
          <a:xfrm>
            <a:off x="6050280" y="137160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38"/>
          <p:cNvSpPr/>
          <p:nvPr/>
        </p:nvSpPr>
        <p:spPr>
          <a:xfrm>
            <a:off x="6214872" y="155448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38"/>
          <p:cNvSpPr txBox="1"/>
          <p:nvPr/>
        </p:nvSpPr>
        <p:spPr>
          <a:xfrm>
            <a:off x="6214872" y="155448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781" name="Google Shape;781;p38"/>
          <p:cNvSpPr txBox="1"/>
          <p:nvPr/>
        </p:nvSpPr>
        <p:spPr>
          <a:xfrm>
            <a:off x="6214872" y="197510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First job together?</a:t>
            </a:r>
            <a:endParaRPr b="0" i="0" sz="1200" u="none" cap="none" strike="noStrike">
              <a:solidFill>
                <a:schemeClr val="dk1"/>
              </a:solidFill>
              <a:latin typeface="Calibri"/>
              <a:ea typeface="Calibri"/>
              <a:cs typeface="Calibri"/>
              <a:sym typeface="Calibri"/>
            </a:endParaRPr>
          </a:p>
        </p:txBody>
      </p:sp>
      <p:sp>
        <p:nvSpPr>
          <p:cNvPr id="782" name="Google Shape;782;p38"/>
          <p:cNvSpPr txBox="1"/>
          <p:nvPr/>
        </p:nvSpPr>
        <p:spPr>
          <a:xfrm>
            <a:off x="6214872" y="226771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Is this the cleaner's first job with this customer?</a:t>
            </a:r>
            <a:endParaRPr b="0" i="0" sz="950" u="none" cap="none" strike="noStrike">
              <a:solidFill>
                <a:schemeClr val="dk1"/>
              </a:solidFill>
              <a:latin typeface="Calibri"/>
              <a:ea typeface="Calibri"/>
              <a:cs typeface="Calibri"/>
              <a:sym typeface="Calibri"/>
            </a:endParaRPr>
          </a:p>
        </p:txBody>
      </p:sp>
      <p:sp>
        <p:nvSpPr>
          <p:cNvPr id="783" name="Google Shape;783;p38"/>
          <p:cNvSpPr/>
          <p:nvPr/>
        </p:nvSpPr>
        <p:spPr>
          <a:xfrm>
            <a:off x="411480" y="32918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84" name="Google Shape;784;p38"/>
          <p:cNvPicPr preferRelativeResize="0"/>
          <p:nvPr/>
        </p:nvPicPr>
        <p:blipFill rotWithShape="1">
          <a:blip r:embed="rId3">
            <a:alphaModFix/>
          </a:blip>
          <a:srcRect b="0" l="0" r="0" t="0"/>
          <a:stretch/>
        </p:blipFill>
        <p:spPr>
          <a:xfrm>
            <a:off x="566928" y="3401568"/>
            <a:ext cx="164592" cy="164592"/>
          </a:xfrm>
          <a:prstGeom prst="rect">
            <a:avLst/>
          </a:prstGeom>
          <a:noFill/>
          <a:ln>
            <a:noFill/>
          </a:ln>
        </p:spPr>
      </p:pic>
      <p:sp>
        <p:nvSpPr>
          <p:cNvPr id="785" name="Google Shape;785;p38"/>
          <p:cNvSpPr txBox="1"/>
          <p:nvPr/>
        </p:nvSpPr>
        <p:spPr>
          <a:xfrm>
            <a:off x="822960" y="33924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Then:  </a:t>
            </a:r>
            <a:r>
              <a:rPr b="0" i="0" lang="en" sz="1000" u="none" cap="none" strike="noStrike">
                <a:solidFill>
                  <a:srgbClr val="1D1D1F"/>
                </a:solidFill>
                <a:latin typeface="Arial"/>
                <a:ea typeface="Arial"/>
                <a:cs typeface="Arial"/>
                <a:sym typeface="Arial"/>
              </a:rPr>
              <a:t>find the matching row in the platform fee table before you explain or refund anything.</a:t>
            </a:r>
            <a:endParaRPr b="0" i="0" sz="1000" u="none" cap="none" strike="noStrike">
              <a:solidFill>
                <a:schemeClr val="dk1"/>
              </a:solidFill>
              <a:latin typeface="Calibri"/>
              <a:ea typeface="Calibri"/>
              <a:cs typeface="Calibri"/>
              <a:sym typeface="Calibri"/>
            </a:endParaRPr>
          </a:p>
        </p:txBody>
      </p:sp>
      <p:sp>
        <p:nvSpPr>
          <p:cNvPr id="786" name="Google Shape;786;p3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3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C PRICE VS CP PAY</a:t>
            </a:r>
            <a:endParaRPr b="0" i="0" sz="800" u="none" cap="none" strike="noStrike">
              <a:solidFill>
                <a:schemeClr val="dk1"/>
              </a:solidFill>
              <a:latin typeface="Calibri"/>
              <a:ea typeface="Calibri"/>
              <a:cs typeface="Calibri"/>
              <a:sym typeface="Calibri"/>
            </a:endParaRPr>
          </a:p>
        </p:txBody>
      </p:sp>
      <p:sp>
        <p:nvSpPr>
          <p:cNvPr id="793" name="Google Shape;793;p3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Let's practice!</a:t>
            </a:r>
            <a:endParaRPr b="0" i="0" sz="2400" u="none" cap="none" strike="noStrike">
              <a:solidFill>
                <a:schemeClr val="dk1"/>
              </a:solidFill>
              <a:latin typeface="Calibri"/>
              <a:ea typeface="Calibri"/>
              <a:cs typeface="Calibri"/>
              <a:sym typeface="Calibri"/>
            </a:endParaRPr>
          </a:p>
        </p:txBody>
      </p:sp>
      <p:sp>
        <p:nvSpPr>
          <p:cNvPr id="794" name="Google Shape;794;p3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Determine the CP pay in this scenario.</a:t>
            </a:r>
            <a:endParaRPr b="0" i="0" sz="1200" u="none" cap="none" strike="noStrike">
              <a:solidFill>
                <a:schemeClr val="dk1"/>
              </a:solidFill>
              <a:latin typeface="Calibri"/>
              <a:ea typeface="Calibri"/>
              <a:cs typeface="Calibri"/>
              <a:sym typeface="Calibri"/>
            </a:endParaRPr>
          </a:p>
        </p:txBody>
      </p:sp>
      <p:sp>
        <p:nvSpPr>
          <p:cNvPr id="795" name="Google Shape;795;p39"/>
          <p:cNvSpPr/>
          <p:nvPr/>
        </p:nvSpPr>
        <p:spPr>
          <a:xfrm>
            <a:off x="411480" y="1234440"/>
            <a:ext cx="4023360" cy="1417320"/>
          </a:xfrm>
          <a:prstGeom prst="roundRect">
            <a:avLst>
              <a:gd fmla="val 516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39"/>
          <p:cNvSpPr/>
          <p:nvPr/>
        </p:nvSpPr>
        <p:spPr>
          <a:xfrm>
            <a:off x="566928" y="135331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97" name="Google Shape;797;p39"/>
          <p:cNvPicPr preferRelativeResize="0"/>
          <p:nvPr/>
        </p:nvPicPr>
        <p:blipFill rotWithShape="1">
          <a:blip r:embed="rId3">
            <a:alphaModFix/>
          </a:blip>
          <a:srcRect b="0" l="0" r="0" t="0"/>
          <a:stretch/>
        </p:blipFill>
        <p:spPr>
          <a:xfrm>
            <a:off x="645932" y="1432316"/>
            <a:ext cx="171176" cy="171176"/>
          </a:xfrm>
          <a:prstGeom prst="rect">
            <a:avLst/>
          </a:prstGeom>
          <a:noFill/>
          <a:ln>
            <a:noFill/>
          </a:ln>
        </p:spPr>
      </p:pic>
      <p:sp>
        <p:nvSpPr>
          <p:cNvPr id="798" name="Google Shape;798;p39"/>
          <p:cNvSpPr txBox="1"/>
          <p:nvPr/>
        </p:nvSpPr>
        <p:spPr>
          <a:xfrm>
            <a:off x="987552" y="1353312"/>
            <a:ext cx="27432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 sz="1250" u="none" cap="none" strike="noStrike">
                <a:solidFill>
                  <a:srgbClr val="1D1D1F"/>
                </a:solidFill>
                <a:latin typeface="Play"/>
                <a:ea typeface="Play"/>
                <a:cs typeface="Play"/>
                <a:sym typeface="Play"/>
              </a:rPr>
              <a:t>The job</a:t>
            </a:r>
            <a:endParaRPr b="0" i="0" sz="1250" u="none" cap="none" strike="noStrike">
              <a:solidFill>
                <a:schemeClr val="dk1"/>
              </a:solidFill>
              <a:latin typeface="Calibri"/>
              <a:ea typeface="Calibri"/>
              <a:cs typeface="Calibri"/>
              <a:sym typeface="Calibri"/>
            </a:endParaRPr>
          </a:p>
        </p:txBody>
      </p:sp>
      <p:sp>
        <p:nvSpPr>
          <p:cNvPr id="799" name="Google Shape;799;p39"/>
          <p:cNvSpPr txBox="1"/>
          <p:nvPr/>
        </p:nvSpPr>
        <p:spPr>
          <a:xfrm>
            <a:off x="566928" y="1783080"/>
            <a:ext cx="1234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Client  </a:t>
            </a:r>
            <a:r>
              <a:rPr b="1" i="0" lang="en" sz="1100" u="none" cap="none" strike="noStrike">
                <a:solidFill>
                  <a:srgbClr val="1D1D1F"/>
                </a:solidFill>
                <a:latin typeface="Play"/>
                <a:ea typeface="Play"/>
                <a:cs typeface="Play"/>
                <a:sym typeface="Play"/>
              </a:rPr>
              <a:t>Repeat</a:t>
            </a:r>
            <a:endParaRPr b="0" i="0" sz="900" u="none" cap="none" strike="noStrike">
              <a:solidFill>
                <a:schemeClr val="dk1"/>
              </a:solidFill>
              <a:latin typeface="Calibri"/>
              <a:ea typeface="Calibri"/>
              <a:cs typeface="Calibri"/>
              <a:sym typeface="Calibri"/>
            </a:endParaRPr>
          </a:p>
        </p:txBody>
      </p:sp>
      <p:sp>
        <p:nvSpPr>
          <p:cNvPr id="800" name="Google Shape;800;p39"/>
          <p:cNvSpPr txBox="1"/>
          <p:nvPr/>
        </p:nvSpPr>
        <p:spPr>
          <a:xfrm>
            <a:off x="1828800" y="1783080"/>
            <a:ext cx="1234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Booked  </a:t>
            </a:r>
            <a:r>
              <a:rPr b="1" i="0" lang="en" sz="1100" u="none" cap="none" strike="noStrike">
                <a:solidFill>
                  <a:srgbClr val="1D1D1F"/>
                </a:solidFill>
                <a:latin typeface="Play"/>
                <a:ea typeface="Play"/>
                <a:cs typeface="Play"/>
                <a:sym typeface="Play"/>
              </a:rPr>
              <a:t>5 hours</a:t>
            </a:r>
            <a:endParaRPr b="0" i="0" sz="900" u="none" cap="none" strike="noStrike">
              <a:solidFill>
                <a:schemeClr val="dk1"/>
              </a:solidFill>
              <a:latin typeface="Calibri"/>
              <a:ea typeface="Calibri"/>
              <a:cs typeface="Calibri"/>
              <a:sym typeface="Calibri"/>
            </a:endParaRPr>
          </a:p>
        </p:txBody>
      </p:sp>
      <p:sp>
        <p:nvSpPr>
          <p:cNvPr id="801" name="Google Shape;801;p39"/>
          <p:cNvSpPr txBox="1"/>
          <p:nvPr/>
        </p:nvSpPr>
        <p:spPr>
          <a:xfrm>
            <a:off x="3090672" y="1783080"/>
            <a:ext cx="1234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Voucher  </a:t>
            </a:r>
            <a:r>
              <a:rPr b="1" i="0" lang="en" sz="1100" u="none" cap="none" strike="noStrike">
                <a:solidFill>
                  <a:srgbClr val="1D1D1F"/>
                </a:solidFill>
                <a:latin typeface="Play"/>
                <a:ea typeface="Play"/>
                <a:cs typeface="Play"/>
                <a:sym typeface="Play"/>
              </a:rPr>
              <a:t>3 hours</a:t>
            </a:r>
            <a:endParaRPr b="0" i="0" sz="900" u="none" cap="none" strike="noStrike">
              <a:solidFill>
                <a:schemeClr val="dk1"/>
              </a:solidFill>
              <a:latin typeface="Calibri"/>
              <a:ea typeface="Calibri"/>
              <a:cs typeface="Calibri"/>
              <a:sym typeface="Calibri"/>
            </a:endParaRPr>
          </a:p>
        </p:txBody>
      </p:sp>
      <p:sp>
        <p:nvSpPr>
          <p:cNvPr id="802" name="Google Shape;802;p39"/>
          <p:cNvSpPr txBox="1"/>
          <p:nvPr/>
        </p:nvSpPr>
        <p:spPr>
          <a:xfrm>
            <a:off x="566928" y="2194560"/>
            <a:ext cx="1234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Surge bonus  </a:t>
            </a:r>
            <a:r>
              <a:rPr b="1" i="0" lang="en" sz="1100" u="none" cap="none" strike="noStrike">
                <a:solidFill>
                  <a:srgbClr val="1D1D1F"/>
                </a:solidFill>
                <a:latin typeface="Play"/>
                <a:ea typeface="Play"/>
                <a:cs typeface="Play"/>
                <a:sym typeface="Play"/>
              </a:rPr>
              <a:t>$12.50</a:t>
            </a:r>
            <a:endParaRPr b="0" i="0" sz="900" u="none" cap="none" strike="noStrike">
              <a:solidFill>
                <a:schemeClr val="dk1"/>
              </a:solidFill>
              <a:latin typeface="Calibri"/>
              <a:ea typeface="Calibri"/>
              <a:cs typeface="Calibri"/>
              <a:sym typeface="Calibri"/>
            </a:endParaRPr>
          </a:p>
        </p:txBody>
      </p:sp>
      <p:sp>
        <p:nvSpPr>
          <p:cNvPr id="803" name="Google Shape;803;p39"/>
          <p:cNvSpPr txBox="1"/>
          <p:nvPr/>
        </p:nvSpPr>
        <p:spPr>
          <a:xfrm>
            <a:off x="1828800" y="2194560"/>
            <a:ext cx="123444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Tip  </a:t>
            </a:r>
            <a:r>
              <a:rPr b="1" i="0" lang="en" sz="1100" u="none" cap="none" strike="noStrike">
                <a:solidFill>
                  <a:srgbClr val="1D1D1F"/>
                </a:solidFill>
                <a:latin typeface="Play"/>
                <a:ea typeface="Play"/>
                <a:cs typeface="Play"/>
                <a:sym typeface="Play"/>
              </a:rPr>
              <a:t>$10.00</a:t>
            </a:r>
            <a:endParaRPr b="0" i="0" sz="900" u="none" cap="none" strike="noStrike">
              <a:solidFill>
                <a:schemeClr val="dk1"/>
              </a:solidFill>
              <a:latin typeface="Calibri"/>
              <a:ea typeface="Calibri"/>
              <a:cs typeface="Calibri"/>
              <a:sym typeface="Calibri"/>
            </a:endParaRPr>
          </a:p>
        </p:txBody>
      </p:sp>
      <p:sp>
        <p:nvSpPr>
          <p:cNvPr id="804" name="Google Shape;804;p39"/>
          <p:cNvSpPr/>
          <p:nvPr/>
        </p:nvSpPr>
        <p:spPr>
          <a:xfrm>
            <a:off x="411480" y="2788920"/>
            <a:ext cx="1965960" cy="1920240"/>
          </a:xfrm>
          <a:prstGeom prst="roundRect">
            <a:avLst>
              <a:gd fmla="val 381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39"/>
          <p:cNvSpPr/>
          <p:nvPr/>
        </p:nvSpPr>
        <p:spPr>
          <a:xfrm>
            <a:off x="548640" y="2907792"/>
            <a:ext cx="411480" cy="41148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06" name="Google Shape;806;p39"/>
          <p:cNvPicPr preferRelativeResize="0"/>
          <p:nvPr/>
        </p:nvPicPr>
        <p:blipFill rotWithShape="1">
          <a:blip r:embed="rId4">
            <a:alphaModFix/>
          </a:blip>
          <a:srcRect b="0" l="0" r="0" t="0"/>
          <a:stretch/>
        </p:blipFill>
        <p:spPr>
          <a:xfrm>
            <a:off x="647395" y="3006547"/>
            <a:ext cx="213970" cy="213970"/>
          </a:xfrm>
          <a:prstGeom prst="rect">
            <a:avLst/>
          </a:prstGeom>
          <a:noFill/>
          <a:ln>
            <a:noFill/>
          </a:ln>
        </p:spPr>
      </p:pic>
      <p:sp>
        <p:nvSpPr>
          <p:cNvPr id="807" name="Google Shape;807;p39"/>
          <p:cNvSpPr txBox="1"/>
          <p:nvPr/>
        </p:nvSpPr>
        <p:spPr>
          <a:xfrm>
            <a:off x="1051560" y="2907792"/>
            <a:ext cx="12801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 sz="1250" u="none" cap="none" strike="noStrike">
                <a:solidFill>
                  <a:srgbClr val="1D1D1F"/>
                </a:solidFill>
                <a:latin typeface="Play"/>
                <a:ea typeface="Play"/>
                <a:cs typeface="Play"/>
                <a:sym typeface="Play"/>
              </a:rPr>
              <a:t>CP Sarah</a:t>
            </a:r>
            <a:endParaRPr b="0" i="0" sz="1250" u="none" cap="none" strike="noStrike">
              <a:solidFill>
                <a:schemeClr val="dk1"/>
              </a:solidFill>
              <a:latin typeface="Calibri"/>
              <a:ea typeface="Calibri"/>
              <a:cs typeface="Calibri"/>
              <a:sym typeface="Calibri"/>
            </a:endParaRPr>
          </a:p>
        </p:txBody>
      </p:sp>
      <p:sp>
        <p:nvSpPr>
          <p:cNvPr id="808" name="Google Shape;808;p39"/>
          <p:cNvSpPr txBox="1"/>
          <p:nvPr/>
        </p:nvSpPr>
        <p:spPr>
          <a:xfrm>
            <a:off x="548640" y="3401568"/>
            <a:ext cx="1737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900"/>
              <a:buFont typeface="Arial"/>
              <a:buNone/>
            </a:pPr>
            <a:r>
              <a:rPr b="1" i="0" lang="en" sz="900" u="none" cap="none" strike="noStrike">
                <a:solidFill>
                  <a:srgbClr val="0B7A6F"/>
                </a:solidFill>
                <a:latin typeface="Arial"/>
                <a:ea typeface="Arial"/>
                <a:cs typeface="Arial"/>
                <a:sym typeface="Arial"/>
              </a:rPr>
              <a:t>CA/CA-WA Operating Model</a:t>
            </a:r>
            <a:endParaRPr b="0" i="0" sz="900" u="none" cap="none" strike="noStrike">
              <a:solidFill>
                <a:schemeClr val="dk1"/>
              </a:solidFill>
              <a:latin typeface="Calibri"/>
              <a:ea typeface="Calibri"/>
              <a:cs typeface="Calibri"/>
              <a:sym typeface="Calibri"/>
            </a:endParaRPr>
          </a:p>
        </p:txBody>
      </p:sp>
      <p:sp>
        <p:nvSpPr>
          <p:cNvPr id="809" name="Google Shape;809;p39"/>
          <p:cNvSpPr txBox="1"/>
          <p:nvPr/>
        </p:nvSpPr>
        <p:spPr>
          <a:xfrm>
            <a:off x="548640" y="3703320"/>
            <a:ext cx="173736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$30.00/hr  first-time C/CP pair</a:t>
            </a:r>
            <a:endParaRPr b="0" i="0" sz="900" u="none" cap="none" strike="noStrik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$28.00/hr  repeat C/CP pair</a:t>
            </a:r>
            <a:endParaRPr b="0" i="0" sz="900" u="none" cap="none" strike="noStrike">
              <a:solidFill>
                <a:schemeClr val="dk1"/>
              </a:solidFill>
              <a:latin typeface="Calibri"/>
              <a:ea typeface="Calibri"/>
              <a:cs typeface="Calibri"/>
              <a:sym typeface="Calibri"/>
            </a:endParaRPr>
          </a:p>
        </p:txBody>
      </p:sp>
      <p:sp>
        <p:nvSpPr>
          <p:cNvPr id="810" name="Google Shape;810;p39"/>
          <p:cNvSpPr/>
          <p:nvPr/>
        </p:nvSpPr>
        <p:spPr>
          <a:xfrm>
            <a:off x="2468880" y="2788920"/>
            <a:ext cx="1965960" cy="1920240"/>
          </a:xfrm>
          <a:prstGeom prst="roundRect">
            <a:avLst>
              <a:gd fmla="val 381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39"/>
          <p:cNvSpPr/>
          <p:nvPr/>
        </p:nvSpPr>
        <p:spPr>
          <a:xfrm>
            <a:off x="2606040" y="2907792"/>
            <a:ext cx="411480" cy="41148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12" name="Google Shape;812;p39"/>
          <p:cNvPicPr preferRelativeResize="0"/>
          <p:nvPr/>
        </p:nvPicPr>
        <p:blipFill rotWithShape="1">
          <a:blip r:embed="rId4">
            <a:alphaModFix/>
          </a:blip>
          <a:srcRect b="0" l="0" r="0" t="0"/>
          <a:stretch/>
        </p:blipFill>
        <p:spPr>
          <a:xfrm>
            <a:off x="2704795" y="3006547"/>
            <a:ext cx="213970" cy="213970"/>
          </a:xfrm>
          <a:prstGeom prst="rect">
            <a:avLst/>
          </a:prstGeom>
          <a:noFill/>
          <a:ln>
            <a:noFill/>
          </a:ln>
        </p:spPr>
      </p:pic>
      <p:sp>
        <p:nvSpPr>
          <p:cNvPr id="813" name="Google Shape;813;p39"/>
          <p:cNvSpPr txBox="1"/>
          <p:nvPr/>
        </p:nvSpPr>
        <p:spPr>
          <a:xfrm>
            <a:off x="3108960" y="2907792"/>
            <a:ext cx="12801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50"/>
              <a:buFont typeface="Play"/>
              <a:buNone/>
            </a:pPr>
            <a:r>
              <a:rPr b="1" i="0" lang="en" sz="1250" u="none" cap="none" strike="noStrike">
                <a:solidFill>
                  <a:srgbClr val="1D1D1F"/>
                </a:solidFill>
                <a:latin typeface="Play"/>
                <a:ea typeface="Play"/>
                <a:cs typeface="Play"/>
                <a:sym typeface="Play"/>
              </a:rPr>
              <a:t>CP Gab</a:t>
            </a:r>
            <a:endParaRPr b="0" i="0" sz="1250" u="none" cap="none" strike="noStrike">
              <a:solidFill>
                <a:schemeClr val="dk1"/>
              </a:solidFill>
              <a:latin typeface="Calibri"/>
              <a:ea typeface="Calibri"/>
              <a:cs typeface="Calibri"/>
              <a:sym typeface="Calibri"/>
            </a:endParaRPr>
          </a:p>
        </p:txBody>
      </p:sp>
      <p:sp>
        <p:nvSpPr>
          <p:cNvPr id="814" name="Google Shape;814;p39"/>
          <p:cNvSpPr txBox="1"/>
          <p:nvPr/>
        </p:nvSpPr>
        <p:spPr>
          <a:xfrm>
            <a:off x="2606040" y="3401568"/>
            <a:ext cx="17373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900"/>
              <a:buFont typeface="Arial"/>
              <a:buNone/>
            </a:pPr>
            <a:r>
              <a:rPr b="1" i="0" lang="en" sz="900" u="none" cap="none" strike="noStrike">
                <a:solidFill>
                  <a:srgbClr val="0B7A6F"/>
                </a:solidFill>
                <a:latin typeface="Arial"/>
                <a:ea typeface="Arial"/>
                <a:cs typeface="Arial"/>
                <a:sym typeface="Arial"/>
              </a:rPr>
              <a:t>General Operating Model</a:t>
            </a:r>
            <a:endParaRPr b="0" i="0" sz="900" u="none" cap="none" strike="noStrike">
              <a:solidFill>
                <a:schemeClr val="dk1"/>
              </a:solidFill>
              <a:latin typeface="Calibri"/>
              <a:ea typeface="Calibri"/>
              <a:cs typeface="Calibri"/>
              <a:sym typeface="Calibri"/>
            </a:endParaRPr>
          </a:p>
        </p:txBody>
      </p:sp>
      <p:sp>
        <p:nvSpPr>
          <p:cNvPr id="815" name="Google Shape;815;p39"/>
          <p:cNvSpPr txBox="1"/>
          <p:nvPr/>
        </p:nvSpPr>
        <p:spPr>
          <a:xfrm>
            <a:off x="2606040" y="3703320"/>
            <a:ext cx="173736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900"/>
              <a:buFont typeface="Arial"/>
              <a:buNone/>
            </a:pPr>
            <a:r>
              <a:rPr b="0" i="0" lang="en" sz="900" u="none" cap="none" strike="noStrike">
                <a:solidFill>
                  <a:srgbClr val="1D1D1F"/>
                </a:solidFill>
                <a:latin typeface="Arial"/>
                <a:ea typeface="Arial"/>
                <a:cs typeface="Arial"/>
                <a:sym typeface="Arial"/>
              </a:rPr>
              <a:t>$24.00/hr  one rate</a:t>
            </a:r>
            <a:endParaRPr b="0" i="0" sz="900" u="none" cap="none" strike="noStrike">
              <a:solidFill>
                <a:schemeClr val="dk1"/>
              </a:solidFill>
              <a:latin typeface="Calibri"/>
              <a:ea typeface="Calibri"/>
              <a:cs typeface="Calibri"/>
              <a:sym typeface="Calibri"/>
            </a:endParaRPr>
          </a:p>
        </p:txBody>
      </p:sp>
      <p:sp>
        <p:nvSpPr>
          <p:cNvPr id="816" name="Google Shape;816;p39"/>
          <p:cNvSpPr/>
          <p:nvPr/>
        </p:nvSpPr>
        <p:spPr>
          <a:xfrm>
            <a:off x="4572000" y="1234440"/>
            <a:ext cx="4160520" cy="457200"/>
          </a:xfrm>
          <a:prstGeom prst="roundRect">
            <a:avLst>
              <a:gd fmla="val 20000" name="adj"/>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17" name="Google Shape;817;p39"/>
          <p:cNvPicPr preferRelativeResize="0"/>
          <p:nvPr/>
        </p:nvPicPr>
        <p:blipFill rotWithShape="1">
          <a:blip r:embed="rId5">
            <a:alphaModFix/>
          </a:blip>
          <a:srcRect b="0" l="0" r="0" t="0"/>
          <a:stretch/>
        </p:blipFill>
        <p:spPr>
          <a:xfrm>
            <a:off x="4754880" y="1353312"/>
            <a:ext cx="219456" cy="219456"/>
          </a:xfrm>
          <a:prstGeom prst="rect">
            <a:avLst/>
          </a:prstGeom>
          <a:noFill/>
          <a:ln>
            <a:noFill/>
          </a:ln>
        </p:spPr>
      </p:pic>
      <p:sp>
        <p:nvSpPr>
          <p:cNvPr id="818" name="Google Shape;818;p39"/>
          <p:cNvSpPr txBox="1"/>
          <p:nvPr/>
        </p:nvSpPr>
        <p:spPr>
          <a:xfrm>
            <a:off x="5074920" y="1234440"/>
            <a:ext cx="3474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0"/>
              <a:buFont typeface="Play"/>
              <a:buNone/>
            </a:pPr>
            <a:r>
              <a:rPr b="1" i="0" lang="en" sz="1300" u="none" cap="none" strike="noStrike">
                <a:solidFill>
                  <a:srgbClr val="FFFFFF"/>
                </a:solidFill>
                <a:latin typeface="Play"/>
                <a:ea typeface="Play"/>
                <a:cs typeface="Play"/>
                <a:sym typeface="Play"/>
              </a:rPr>
              <a:t>Show Answers</a:t>
            </a:r>
            <a:endParaRPr b="0" i="0" sz="1300" u="none" cap="none" strike="noStrike">
              <a:solidFill>
                <a:schemeClr val="dk1"/>
              </a:solidFill>
              <a:latin typeface="Calibri"/>
              <a:ea typeface="Calibri"/>
              <a:cs typeface="Calibri"/>
              <a:sym typeface="Calibri"/>
            </a:endParaRPr>
          </a:p>
        </p:txBody>
      </p:sp>
      <p:sp>
        <p:nvSpPr>
          <p:cNvPr id="819" name="Google Shape;819;p39"/>
          <p:cNvSpPr/>
          <p:nvPr/>
        </p:nvSpPr>
        <p:spPr>
          <a:xfrm>
            <a:off x="4572000" y="1783080"/>
            <a:ext cx="4160520" cy="2926080"/>
          </a:xfrm>
          <a:prstGeom prst="roundRect">
            <a:avLst>
              <a:gd fmla="val 2500"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0" name="Google Shape;820;p39"/>
          <p:cNvSpPr txBox="1"/>
          <p:nvPr/>
        </p:nvSpPr>
        <p:spPr>
          <a:xfrm>
            <a:off x="4754880" y="1920240"/>
            <a:ext cx="3794760" cy="2697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1250"/>
              <a:buFont typeface="Play"/>
              <a:buNone/>
            </a:pPr>
            <a:r>
              <a:rPr b="1" i="0" lang="en" sz="1250" u="none" cap="none" strike="noStrike">
                <a:solidFill>
                  <a:srgbClr val="0B7A6F"/>
                </a:solidFill>
                <a:latin typeface="Play"/>
                <a:ea typeface="Play"/>
                <a:cs typeface="Play"/>
                <a:sym typeface="Play"/>
              </a:rPr>
              <a:t>CP Sarah:  $162.50</a:t>
            </a:r>
            <a:br>
              <a:rPr b="0" i="0" lang="en" sz="1800" u="none" cap="none" strike="noStrike">
                <a:solidFill>
                  <a:schemeClr val="dk1"/>
                </a:solidFill>
                <a:latin typeface="Calibri"/>
                <a:ea typeface="Calibri"/>
                <a:cs typeface="Calibri"/>
                <a:sym typeface="Calibri"/>
              </a:rPr>
            </a:br>
            <a:r>
              <a:rPr b="0" i="0" lang="en" sz="950" u="none" cap="none" strike="noStrike">
                <a:solidFill>
                  <a:srgbClr val="1D1D1F"/>
                </a:solidFill>
                <a:latin typeface="Arial"/>
                <a:ea typeface="Arial"/>
                <a:cs typeface="Arial"/>
                <a:sym typeface="Arial"/>
              </a:rPr>
              <a:t>$28/hr repeat rate × 5 hrs + $12.50 surge bonus + $10.00 tip</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B7A6F"/>
              </a:buClr>
              <a:buSzPts val="1250"/>
              <a:buFont typeface="Play"/>
              <a:buNone/>
            </a:pPr>
            <a:r>
              <a:rPr b="1" i="0" lang="en" sz="1250" u="none" cap="none" strike="noStrike">
                <a:solidFill>
                  <a:srgbClr val="0B7A6F"/>
                </a:solidFill>
                <a:latin typeface="Play"/>
                <a:ea typeface="Play"/>
                <a:cs typeface="Play"/>
                <a:sym typeface="Play"/>
              </a:rPr>
              <a:t>CP Gab:  $142.50</a:t>
            </a:r>
            <a:br>
              <a:rPr b="0" i="0" lang="en" sz="1800" u="none" cap="none" strike="noStrike">
                <a:solidFill>
                  <a:schemeClr val="dk1"/>
                </a:solidFill>
                <a:latin typeface="Calibri"/>
                <a:ea typeface="Calibri"/>
                <a:cs typeface="Calibri"/>
                <a:sym typeface="Calibri"/>
              </a:rPr>
            </a:br>
            <a:r>
              <a:rPr b="0" i="0" lang="en" sz="950" u="none" cap="none" strike="noStrike">
                <a:solidFill>
                  <a:srgbClr val="1D1D1F"/>
                </a:solidFill>
                <a:latin typeface="Arial"/>
                <a:ea typeface="Arial"/>
                <a:cs typeface="Arial"/>
                <a:sym typeface="Arial"/>
              </a:rPr>
              <a:t>$24/hr × 5 hrs + $12.50 surge bonus + $10.00 tip (repeat client, so no $5 match fee)</a:t>
            </a:r>
            <a:endParaRPr b="0" i="0" sz="125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B7A6F"/>
              </a:buClr>
              <a:buSzPts val="1250"/>
              <a:buFont typeface="Play"/>
              <a:buNone/>
            </a:pPr>
            <a:r>
              <a:rPr b="1" i="0" lang="en" sz="1250" u="none" cap="none" strike="noStrike">
                <a:solidFill>
                  <a:srgbClr val="0B7A6F"/>
                </a:solidFill>
                <a:latin typeface="Play"/>
                <a:ea typeface="Play"/>
                <a:cs typeface="Play"/>
                <a:sym typeface="Play"/>
              </a:rPr>
              <a:t>Key point</a:t>
            </a:r>
            <a:br>
              <a:rPr b="0" i="0" lang="en" sz="1800" u="none" cap="none" strike="noStrike">
                <a:solidFill>
                  <a:schemeClr val="dk1"/>
                </a:solidFill>
                <a:latin typeface="Calibri"/>
                <a:ea typeface="Calibri"/>
                <a:cs typeface="Calibri"/>
                <a:sym typeface="Calibri"/>
              </a:rPr>
            </a:br>
            <a:r>
              <a:rPr b="0" i="0" lang="en" sz="950" u="none" cap="none" strike="noStrike">
                <a:solidFill>
                  <a:srgbClr val="1D1D1F"/>
                </a:solidFill>
                <a:latin typeface="Arial"/>
                <a:ea typeface="Arial"/>
                <a:cs typeface="Arial"/>
                <a:sym typeface="Arial"/>
              </a:rPr>
              <a:t>The 3-hour voucher only lowers what the customer pays. The cleaner is still paid for all 5 hours.</a:t>
            </a:r>
            <a:endParaRPr b="0" i="0" sz="1250" u="none" cap="none" strike="noStrike">
              <a:solidFill>
                <a:schemeClr val="dk1"/>
              </a:solidFill>
              <a:latin typeface="Calibri"/>
              <a:ea typeface="Calibri"/>
              <a:cs typeface="Calibri"/>
              <a:sym typeface="Calibri"/>
            </a:endParaRPr>
          </a:p>
        </p:txBody>
      </p:sp>
      <p:sp>
        <p:nvSpPr>
          <p:cNvPr id="821" name="Google Shape;821;p3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0">
                                            <p:txEl>
                                              <p:pRg end="0" st="0"/>
                                            </p:txEl>
                                          </p:spTgt>
                                        </p:tgtEl>
                                        <p:attrNameLst>
                                          <p:attrName>style.visibility</p:attrName>
                                        </p:attrNameLst>
                                      </p:cBhvr>
                                      <p:to>
                                        <p:strVal val="visible"/>
                                      </p:to>
                                    </p:set>
                                    <p:animEffect filter="fade" transition="in">
                                      <p:cBhvr>
                                        <p:cTn dur="600"/>
                                        <p:tgtEl>
                                          <p:spTgt spid="8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0">
                                            <p:txEl>
                                              <p:pRg end="1" st="1"/>
                                            </p:txEl>
                                          </p:spTgt>
                                        </p:tgtEl>
                                        <p:attrNameLst>
                                          <p:attrName>style.visibility</p:attrName>
                                        </p:attrNameLst>
                                      </p:cBhvr>
                                      <p:to>
                                        <p:strVal val="visible"/>
                                      </p:to>
                                    </p:set>
                                    <p:animEffect filter="fade" transition="in">
                                      <p:cBhvr>
                                        <p:cTn dur="600"/>
                                        <p:tgtEl>
                                          <p:spTgt spid="8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0">
                                            <p:txEl>
                                              <p:pRg end="2" st="2"/>
                                            </p:txEl>
                                          </p:spTgt>
                                        </p:tgtEl>
                                        <p:attrNameLst>
                                          <p:attrName>style.visibility</p:attrName>
                                        </p:attrNameLst>
                                      </p:cBhvr>
                                      <p:to>
                                        <p:strVal val="visible"/>
                                      </p:to>
                                    </p:set>
                                    <p:animEffect filter="fade" transition="in">
                                      <p:cBhvr>
                                        <p:cTn dur="600"/>
                                        <p:tgtEl>
                                          <p:spTgt spid="820">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40"/>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828" name="Google Shape;828;p40"/>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829" name="Google Shape;829;p40"/>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830" name="Google Shape;830;p40"/>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p40"/>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832" name="Google Shape;832;p40"/>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833" name="Google Shape;833;p40"/>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4" name="Google Shape;834;p40"/>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5" name="Google Shape;835;p40"/>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6" name="Google Shape;836;p40"/>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40"/>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40"/>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40"/>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41"/>
          <p:cNvSpPr txBox="1"/>
          <p:nvPr/>
        </p:nvSpPr>
        <p:spPr>
          <a:xfrm>
            <a:off x="566928" y="1207008"/>
            <a:ext cx="41148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4</a:t>
            </a:r>
            <a:endParaRPr b="1" i="0" sz="800" u="none" cap="none" strike="noStrike">
              <a:solidFill>
                <a:srgbClr val="0B7A6F"/>
              </a:solidFill>
              <a:latin typeface="Play"/>
              <a:ea typeface="Play"/>
              <a:cs typeface="Play"/>
              <a:sym typeface="Play"/>
            </a:endParaRPr>
          </a:p>
          <a:p>
            <a:pPr indent="0" lvl="0" marL="0" marR="0" rtl="0" algn="l">
              <a:lnSpc>
                <a:spcPct val="100000"/>
              </a:lnSpc>
              <a:spcBef>
                <a:spcPts val="0"/>
              </a:spcBef>
              <a:spcAft>
                <a:spcPts val="0"/>
              </a:spcAft>
              <a:buClr>
                <a:srgbClr val="0B7A6F"/>
              </a:buClr>
              <a:buSzPts val="800"/>
              <a:buFont typeface="Play"/>
              <a:buNone/>
            </a:pPr>
            <a:r>
              <a:t/>
            </a:r>
            <a:endParaRPr b="1" i="0" sz="800" u="none" cap="none" strike="noStrike">
              <a:solidFill>
                <a:srgbClr val="0B7A6F"/>
              </a:solidFill>
              <a:latin typeface="Play"/>
              <a:ea typeface="Play"/>
              <a:cs typeface="Play"/>
              <a:sym typeface="Play"/>
            </a:endParaRPr>
          </a:p>
        </p:txBody>
      </p:sp>
      <p:sp>
        <p:nvSpPr>
          <p:cNvPr id="845" name="Google Shape;845;p41"/>
          <p:cNvSpPr txBox="1"/>
          <p:nvPr/>
        </p:nvSpPr>
        <p:spPr>
          <a:xfrm>
            <a:off x="566928" y="1463040"/>
            <a:ext cx="438900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Pre-Authorization Holds</a:t>
            </a:r>
            <a:endParaRPr b="0" i="0" sz="2800" u="none" cap="none" strike="noStrike">
              <a:solidFill>
                <a:schemeClr val="dk1"/>
              </a:solidFill>
              <a:latin typeface="Calibri"/>
              <a:ea typeface="Calibri"/>
              <a:cs typeface="Calibri"/>
              <a:sym typeface="Calibri"/>
            </a:endParaRPr>
          </a:p>
        </p:txBody>
      </p:sp>
      <p:sp>
        <p:nvSpPr>
          <p:cNvPr id="846" name="Google Shape;846;p41"/>
          <p:cNvSpPr txBox="1"/>
          <p:nvPr/>
        </p:nvSpPr>
        <p:spPr>
          <a:xfrm>
            <a:off x="566928" y="24688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What a pre-auth is, when it releases, and the DHJ exception that turns it into the first membership fee.</a:t>
            </a:r>
            <a:endParaRPr b="0" i="0" sz="1150" u="none" cap="none" strike="noStrike">
              <a:solidFill>
                <a:schemeClr val="dk1"/>
              </a:solidFill>
              <a:latin typeface="Calibri"/>
              <a:ea typeface="Calibri"/>
              <a:cs typeface="Calibri"/>
              <a:sym typeface="Calibri"/>
            </a:endParaRPr>
          </a:p>
        </p:txBody>
      </p:sp>
      <p:sp>
        <p:nvSpPr>
          <p:cNvPr id="847" name="Google Shape;847;p41"/>
          <p:cNvSpPr txBox="1"/>
          <p:nvPr/>
        </p:nvSpPr>
        <p:spPr>
          <a:xfrm>
            <a:off x="566928" y="2999232"/>
            <a:ext cx="27432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848" name="Google Shape;848;p41"/>
          <p:cNvSpPr/>
          <p:nvPr/>
        </p:nvSpPr>
        <p:spPr>
          <a:xfrm>
            <a:off x="566928" y="3264408"/>
            <a:ext cx="155400" cy="1554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49" name="Google Shape;849;p41"/>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850" name="Google Shape;850;p41"/>
          <p:cNvSpPr txBox="1"/>
          <p:nvPr/>
        </p:nvSpPr>
        <p:spPr>
          <a:xfrm>
            <a:off x="822960" y="3246120"/>
            <a:ext cx="39318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a pre-auth is</a:t>
            </a:r>
            <a:endParaRPr b="0" i="0" sz="1050" u="none" cap="none" strike="noStrike">
              <a:solidFill>
                <a:schemeClr val="dk1"/>
              </a:solidFill>
              <a:latin typeface="Calibri"/>
              <a:ea typeface="Calibri"/>
              <a:cs typeface="Calibri"/>
              <a:sym typeface="Calibri"/>
            </a:endParaRPr>
          </a:p>
        </p:txBody>
      </p:sp>
      <p:sp>
        <p:nvSpPr>
          <p:cNvPr id="851" name="Google Shape;851;p41"/>
          <p:cNvSpPr/>
          <p:nvPr/>
        </p:nvSpPr>
        <p:spPr>
          <a:xfrm>
            <a:off x="566928" y="3538728"/>
            <a:ext cx="155400" cy="1554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52" name="Google Shape;852;p41"/>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853" name="Google Shape;853;p41"/>
          <p:cNvSpPr txBox="1"/>
          <p:nvPr/>
        </p:nvSpPr>
        <p:spPr>
          <a:xfrm>
            <a:off x="822960" y="3520440"/>
            <a:ext cx="39318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Standard behavior</a:t>
            </a:r>
            <a:endParaRPr b="0" i="0" sz="1050" u="none" cap="none" strike="noStrike">
              <a:solidFill>
                <a:schemeClr val="dk1"/>
              </a:solidFill>
              <a:latin typeface="Calibri"/>
              <a:ea typeface="Calibri"/>
              <a:cs typeface="Calibri"/>
              <a:sym typeface="Calibri"/>
            </a:endParaRPr>
          </a:p>
        </p:txBody>
      </p:sp>
      <p:sp>
        <p:nvSpPr>
          <p:cNvPr id="854" name="Google Shape;854;p41"/>
          <p:cNvSpPr/>
          <p:nvPr/>
        </p:nvSpPr>
        <p:spPr>
          <a:xfrm>
            <a:off x="566928" y="3813048"/>
            <a:ext cx="155400" cy="1554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55" name="Google Shape;855;p41"/>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856" name="Google Shape;856;p41"/>
          <p:cNvSpPr txBox="1"/>
          <p:nvPr/>
        </p:nvSpPr>
        <p:spPr>
          <a:xfrm>
            <a:off x="822960" y="3794760"/>
            <a:ext cx="39318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The DHJ exception</a:t>
            </a:r>
            <a:endParaRPr b="0" i="0" sz="1050" u="none" cap="none" strike="noStrike">
              <a:solidFill>
                <a:schemeClr val="dk1"/>
              </a:solidFill>
              <a:latin typeface="Calibri"/>
              <a:ea typeface="Calibri"/>
              <a:cs typeface="Calibri"/>
              <a:sym typeface="Calibri"/>
            </a:endParaRPr>
          </a:p>
        </p:txBody>
      </p:sp>
      <p:sp>
        <p:nvSpPr>
          <p:cNvPr id="857" name="Google Shape;857;p41"/>
          <p:cNvSpPr/>
          <p:nvPr/>
        </p:nvSpPr>
        <p:spPr>
          <a:xfrm>
            <a:off x="566928" y="4087368"/>
            <a:ext cx="155400" cy="1554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58" name="Google Shape;858;p41"/>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859" name="Google Shape;859;p41"/>
          <p:cNvSpPr txBox="1"/>
          <p:nvPr/>
        </p:nvSpPr>
        <p:spPr>
          <a:xfrm>
            <a:off x="822960" y="4069080"/>
            <a:ext cx="39318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to tell the customer</a:t>
            </a:r>
            <a:endParaRPr b="0" i="0" sz="1050" u="none" cap="none" strike="noStrike">
              <a:solidFill>
                <a:schemeClr val="dk1"/>
              </a:solidFill>
              <a:latin typeface="Calibri"/>
              <a:ea typeface="Calibri"/>
              <a:cs typeface="Calibri"/>
              <a:sym typeface="Calibri"/>
            </a:endParaRPr>
          </a:p>
        </p:txBody>
      </p:sp>
      <p:sp>
        <p:nvSpPr>
          <p:cNvPr id="860" name="Google Shape;860;p41"/>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41"/>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862" name="Google Shape;862;p41"/>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863" name="Google Shape;863;p41"/>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41"/>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41"/>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6" name="Google Shape;866;p41"/>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p41"/>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8" name="Google Shape;868;p41"/>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9" name="Google Shape;869;p41"/>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42"/>
          <p:cNvSpPr txBox="1"/>
          <p:nvPr/>
        </p:nvSpPr>
        <p:spPr>
          <a:xfrm>
            <a:off x="438912" y="274320"/>
            <a:ext cx="82296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PRE-AUTHORIZATION HOLDS</a:t>
            </a:r>
            <a:endParaRPr b="0" i="0" sz="800" u="none" cap="none" strike="noStrike">
              <a:solidFill>
                <a:schemeClr val="dk1"/>
              </a:solidFill>
              <a:latin typeface="Calibri"/>
              <a:ea typeface="Calibri"/>
              <a:cs typeface="Calibri"/>
              <a:sym typeface="Calibri"/>
            </a:endParaRPr>
          </a:p>
        </p:txBody>
      </p:sp>
      <p:sp>
        <p:nvSpPr>
          <p:cNvPr id="875" name="Google Shape;875;p4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a pre-auth?</a:t>
            </a:r>
            <a:endParaRPr b="0" i="0" sz="2400" u="none" cap="none" strike="noStrike">
              <a:solidFill>
                <a:schemeClr val="dk1"/>
              </a:solidFill>
              <a:latin typeface="Calibri"/>
              <a:ea typeface="Calibri"/>
              <a:cs typeface="Calibri"/>
              <a:sym typeface="Calibri"/>
            </a:endParaRPr>
          </a:p>
        </p:txBody>
      </p:sp>
      <p:sp>
        <p:nvSpPr>
          <p:cNvPr id="876" name="Google Shape;876;p42"/>
          <p:cNvSpPr txBox="1"/>
          <p:nvPr/>
        </p:nvSpPr>
        <p:spPr>
          <a:xfrm>
            <a:off x="438912" y="960120"/>
            <a:ext cx="82296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 temporary hold on the customer's card, not a charge.</a:t>
            </a:r>
            <a:endParaRPr b="0" i="0" sz="1200" u="none" cap="none" strike="noStrike">
              <a:solidFill>
                <a:schemeClr val="dk1"/>
              </a:solidFill>
              <a:latin typeface="Calibri"/>
              <a:ea typeface="Calibri"/>
              <a:cs typeface="Calibri"/>
              <a:sym typeface="Calibri"/>
            </a:endParaRPr>
          </a:p>
        </p:txBody>
      </p:sp>
      <p:sp>
        <p:nvSpPr>
          <p:cNvPr id="877" name="Google Shape;877;p42"/>
          <p:cNvSpPr/>
          <p:nvPr/>
        </p:nvSpPr>
        <p:spPr>
          <a:xfrm>
            <a:off x="411480" y="132588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8" name="Google Shape;878;p42"/>
          <p:cNvSpPr/>
          <p:nvPr/>
        </p:nvSpPr>
        <p:spPr>
          <a:xfrm>
            <a:off x="576072" y="149047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79" name="Google Shape;879;p42"/>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880" name="Google Shape;880;p42"/>
          <p:cNvSpPr txBox="1"/>
          <p:nvPr/>
        </p:nvSpPr>
        <p:spPr>
          <a:xfrm>
            <a:off x="576072" y="192938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Confirms the card</a:t>
            </a:r>
            <a:endParaRPr b="0" i="0" sz="1200" u="none" cap="none" strike="noStrike">
              <a:solidFill>
                <a:schemeClr val="dk1"/>
              </a:solidFill>
              <a:latin typeface="Calibri"/>
              <a:ea typeface="Calibri"/>
              <a:cs typeface="Calibri"/>
              <a:sym typeface="Calibri"/>
            </a:endParaRPr>
          </a:p>
        </p:txBody>
      </p:sp>
      <p:sp>
        <p:nvSpPr>
          <p:cNvPr id="881" name="Google Shape;881;p42"/>
          <p:cNvSpPr txBox="1"/>
          <p:nvPr/>
        </p:nvSpPr>
        <p:spPr>
          <a:xfrm>
            <a:off x="576072" y="222199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It checks the card is valid and has available funds. It is placed at booking.</a:t>
            </a:r>
            <a:endParaRPr b="0" i="0" sz="950" u="none" cap="none" strike="noStrike">
              <a:solidFill>
                <a:schemeClr val="dk1"/>
              </a:solidFill>
              <a:latin typeface="Calibri"/>
              <a:ea typeface="Calibri"/>
              <a:cs typeface="Calibri"/>
              <a:sym typeface="Calibri"/>
            </a:endParaRPr>
          </a:p>
        </p:txBody>
      </p:sp>
      <p:sp>
        <p:nvSpPr>
          <p:cNvPr id="882" name="Google Shape;882;p42"/>
          <p:cNvSpPr/>
          <p:nvPr/>
        </p:nvSpPr>
        <p:spPr>
          <a:xfrm>
            <a:off x="3230880" y="132588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p42"/>
          <p:cNvSpPr/>
          <p:nvPr/>
        </p:nvSpPr>
        <p:spPr>
          <a:xfrm>
            <a:off x="3395472" y="149047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84" name="Google Shape;884;p42"/>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885" name="Google Shape;885;p42"/>
          <p:cNvSpPr txBox="1"/>
          <p:nvPr/>
        </p:nvSpPr>
        <p:spPr>
          <a:xfrm>
            <a:off x="3395472" y="192938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Two normal outcomes</a:t>
            </a:r>
            <a:endParaRPr b="0" i="0" sz="1200" u="none" cap="none" strike="noStrike">
              <a:solidFill>
                <a:schemeClr val="dk1"/>
              </a:solidFill>
              <a:latin typeface="Calibri"/>
              <a:ea typeface="Calibri"/>
              <a:cs typeface="Calibri"/>
              <a:sym typeface="Calibri"/>
            </a:endParaRPr>
          </a:p>
        </p:txBody>
      </p:sp>
      <p:sp>
        <p:nvSpPr>
          <p:cNvPr id="886" name="Google Shape;886;p42"/>
          <p:cNvSpPr txBox="1"/>
          <p:nvPr/>
        </p:nvSpPr>
        <p:spPr>
          <a:xfrm>
            <a:off x="3395472" y="222199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If the job is invoiced, the pre-auth converts into the real charge. If the job doesn't proceed, it releases.</a:t>
            </a:r>
            <a:endParaRPr b="0" i="0" sz="950" u="none" cap="none" strike="noStrike">
              <a:solidFill>
                <a:schemeClr val="dk1"/>
              </a:solidFill>
              <a:latin typeface="Calibri"/>
              <a:ea typeface="Calibri"/>
              <a:cs typeface="Calibri"/>
              <a:sym typeface="Calibri"/>
            </a:endParaRPr>
          </a:p>
        </p:txBody>
      </p:sp>
      <p:sp>
        <p:nvSpPr>
          <p:cNvPr id="887" name="Google Shape;887;p42"/>
          <p:cNvSpPr/>
          <p:nvPr/>
        </p:nvSpPr>
        <p:spPr>
          <a:xfrm>
            <a:off x="6050280" y="132588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8" name="Google Shape;888;p42"/>
          <p:cNvSpPr/>
          <p:nvPr/>
        </p:nvSpPr>
        <p:spPr>
          <a:xfrm>
            <a:off x="6214872" y="149047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89" name="Google Shape;889;p42"/>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890" name="Google Shape;890;p42"/>
          <p:cNvSpPr txBox="1"/>
          <p:nvPr/>
        </p:nvSpPr>
        <p:spPr>
          <a:xfrm>
            <a:off x="6214872" y="192938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Release timing</a:t>
            </a:r>
            <a:endParaRPr b="0" i="0" sz="1200" u="none" cap="none" strike="noStrike">
              <a:solidFill>
                <a:schemeClr val="dk1"/>
              </a:solidFill>
              <a:latin typeface="Calibri"/>
              <a:ea typeface="Calibri"/>
              <a:cs typeface="Calibri"/>
              <a:sym typeface="Calibri"/>
            </a:endParaRPr>
          </a:p>
        </p:txBody>
      </p:sp>
      <p:sp>
        <p:nvSpPr>
          <p:cNvPr id="891" name="Google Shape;891;p42"/>
          <p:cNvSpPr txBox="1"/>
          <p:nvPr/>
        </p:nvSpPr>
        <p:spPr>
          <a:xfrm>
            <a:off x="6214872" y="222199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Typically within about 7 days. It is bank-dependent and outside our control.</a:t>
            </a:r>
            <a:endParaRPr b="0" i="0" sz="950" u="none" cap="none" strike="noStrike">
              <a:solidFill>
                <a:schemeClr val="dk1"/>
              </a:solidFill>
              <a:latin typeface="Calibri"/>
              <a:ea typeface="Calibri"/>
              <a:cs typeface="Calibri"/>
              <a:sym typeface="Calibri"/>
            </a:endParaRPr>
          </a:p>
        </p:txBody>
      </p:sp>
      <p:sp>
        <p:nvSpPr>
          <p:cNvPr id="892" name="Google Shape;892;p42"/>
          <p:cNvSpPr/>
          <p:nvPr/>
        </p:nvSpPr>
        <p:spPr>
          <a:xfrm>
            <a:off x="411480" y="3200400"/>
            <a:ext cx="8321100" cy="384000"/>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93" name="Google Shape;893;p42"/>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894" name="Google Shape;894;p42"/>
          <p:cNvSpPr txBox="1"/>
          <p:nvPr/>
        </p:nvSpPr>
        <p:spPr>
          <a:xfrm>
            <a:off x="822960" y="3300984"/>
            <a:ext cx="77724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Watch out:</a:t>
            </a:r>
            <a:r>
              <a:rPr b="0" i="0" lang="en" sz="1000" u="none" cap="none" strike="noStrike">
                <a:solidFill>
                  <a:srgbClr val="1D1D1F"/>
                </a:solidFill>
                <a:latin typeface="Arial"/>
                <a:ea typeface="Arial"/>
                <a:cs typeface="Arial"/>
                <a:sym typeface="Arial"/>
              </a:rPr>
              <a:t>"it's just a hold, it will release" is usually true but not always. Check the scenario before you reach for the standard macro.</a:t>
            </a:r>
            <a:endParaRPr b="0" i="0" sz="1000" u="none" cap="none" strike="noStrike">
              <a:solidFill>
                <a:schemeClr val="dk1"/>
              </a:solidFill>
              <a:latin typeface="Calibri"/>
              <a:ea typeface="Calibri"/>
              <a:cs typeface="Calibri"/>
              <a:sym typeface="Calibri"/>
            </a:endParaRPr>
          </a:p>
        </p:txBody>
      </p:sp>
      <p:sp>
        <p:nvSpPr>
          <p:cNvPr id="895" name="Google Shape;895;p42"/>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43"/>
          <p:cNvSpPr txBox="1"/>
          <p:nvPr/>
        </p:nvSpPr>
        <p:spPr>
          <a:xfrm>
            <a:off x="438912" y="274320"/>
            <a:ext cx="82296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PRE-AUTHORIZATION HOLDS</a:t>
            </a:r>
            <a:endParaRPr b="0" i="0" sz="800" u="none" cap="none" strike="noStrike">
              <a:solidFill>
                <a:schemeClr val="dk1"/>
              </a:solidFill>
              <a:latin typeface="Calibri"/>
              <a:ea typeface="Calibri"/>
              <a:cs typeface="Calibri"/>
              <a:sym typeface="Calibri"/>
            </a:endParaRPr>
          </a:p>
        </p:txBody>
      </p:sp>
      <p:sp>
        <p:nvSpPr>
          <p:cNvPr id="901" name="Google Shape;901;p4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Standard vs exception</a:t>
            </a:r>
            <a:endParaRPr b="0" i="0" sz="2400" u="none" cap="none" strike="noStrike">
              <a:solidFill>
                <a:schemeClr val="dk1"/>
              </a:solidFill>
              <a:latin typeface="Calibri"/>
              <a:ea typeface="Calibri"/>
              <a:cs typeface="Calibri"/>
              <a:sym typeface="Calibri"/>
            </a:endParaRPr>
          </a:p>
        </p:txBody>
      </p:sp>
      <p:sp>
        <p:nvSpPr>
          <p:cNvPr id="902" name="Google Shape;902;p43"/>
          <p:cNvSpPr txBox="1"/>
          <p:nvPr/>
        </p:nvSpPr>
        <p:spPr>
          <a:xfrm>
            <a:off x="438912" y="960120"/>
            <a:ext cx="82296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Which scenario applies decides what you tell the customer.</a:t>
            </a:r>
            <a:endParaRPr b="0" i="0" sz="1200" u="none" cap="none" strike="noStrike">
              <a:solidFill>
                <a:schemeClr val="dk1"/>
              </a:solidFill>
              <a:latin typeface="Calibri"/>
              <a:ea typeface="Calibri"/>
              <a:cs typeface="Calibri"/>
              <a:sym typeface="Calibri"/>
            </a:endParaRPr>
          </a:p>
        </p:txBody>
      </p:sp>
      <p:graphicFrame>
        <p:nvGraphicFramePr>
          <p:cNvPr id="903" name="Google Shape;903;p43"/>
          <p:cNvGraphicFramePr/>
          <p:nvPr/>
        </p:nvGraphicFramePr>
        <p:xfrm>
          <a:off x="411480" y="1234440"/>
          <a:ext cx="3000000" cy="3000000"/>
        </p:xfrm>
        <a:graphic>
          <a:graphicData uri="http://schemas.openxmlformats.org/drawingml/2006/table">
            <a:tbl>
              <a:tblPr>
                <a:noFill/>
                <a:tableStyleId>{1110B021-F78A-4E02-AF73-8366E27A90AE}</a:tableStyleId>
              </a:tblPr>
              <a:tblGrid>
                <a:gridCol w="2500000"/>
                <a:gridCol w="3200000"/>
                <a:gridCol w="26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Scenario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What happens to the pre-auth</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What to tell the customer</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Non-FC job, or any job with a real charge expected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Converts into the real charge when invoiced. Releases if the job is cancelled or never claimed.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The standard pre-auth macro is accurate.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DHJ, first job, fully covered by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 $59 pre-auth is still created. It is used to charge the first Monthly Fee once the job completes.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Do not say it will just release. It becomes the first MF charge.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Any job cancelled before completion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Released normally, including in the DHJ case.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It will release, bank timing permitting.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904" name="Google Shape;904;p43"/>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8" name="Shape 908"/>
        <p:cNvGrpSpPr/>
        <p:nvPr/>
      </p:nvGrpSpPr>
      <p:grpSpPr>
        <a:xfrm>
          <a:off x="0" y="0"/>
          <a:ext cx="0" cy="0"/>
          <a:chOff x="0" y="0"/>
          <a:chExt cx="0" cy="0"/>
        </a:xfrm>
      </p:grpSpPr>
      <p:sp>
        <p:nvSpPr>
          <p:cNvPr id="909" name="Google Shape;909;p44"/>
          <p:cNvSpPr txBox="1"/>
          <p:nvPr/>
        </p:nvSpPr>
        <p:spPr>
          <a:xfrm>
            <a:off x="438912" y="274320"/>
            <a:ext cx="82296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PRE-AUTHORIZATION HOLDS</a:t>
            </a:r>
            <a:endParaRPr b="0" i="0" sz="800" u="none" cap="none" strike="noStrike">
              <a:solidFill>
                <a:schemeClr val="dk1"/>
              </a:solidFill>
              <a:latin typeface="Calibri"/>
              <a:ea typeface="Calibri"/>
              <a:cs typeface="Calibri"/>
              <a:sym typeface="Calibri"/>
            </a:endParaRPr>
          </a:p>
        </p:txBody>
      </p:sp>
      <p:sp>
        <p:nvSpPr>
          <p:cNvPr id="910" name="Google Shape;910;p4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The DHJ exception</a:t>
            </a:r>
            <a:endParaRPr b="0" i="0" sz="2400" u="none" cap="none" strike="noStrike">
              <a:solidFill>
                <a:schemeClr val="dk1"/>
              </a:solidFill>
              <a:latin typeface="Calibri"/>
              <a:ea typeface="Calibri"/>
              <a:cs typeface="Calibri"/>
              <a:sym typeface="Calibri"/>
            </a:endParaRPr>
          </a:p>
        </p:txBody>
      </p:sp>
      <p:sp>
        <p:nvSpPr>
          <p:cNvPr id="911" name="Google Shape;911;p44"/>
          <p:cNvSpPr txBox="1"/>
          <p:nvPr/>
        </p:nvSpPr>
        <p:spPr>
          <a:xfrm>
            <a:off x="438912" y="960120"/>
            <a:ext cx="82296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Why the $59 hold does not just disappear.</a:t>
            </a:r>
            <a:endParaRPr b="0" i="0" sz="1200" u="none" cap="none" strike="noStrike">
              <a:solidFill>
                <a:schemeClr val="dk1"/>
              </a:solidFill>
              <a:latin typeface="Calibri"/>
              <a:ea typeface="Calibri"/>
              <a:cs typeface="Calibri"/>
              <a:sym typeface="Calibri"/>
            </a:endParaRPr>
          </a:p>
        </p:txBody>
      </p:sp>
      <p:sp>
        <p:nvSpPr>
          <p:cNvPr id="912" name="Google Shape;912;p44"/>
          <p:cNvSpPr/>
          <p:nvPr/>
        </p:nvSpPr>
        <p:spPr>
          <a:xfrm>
            <a:off x="411480" y="132588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3" name="Google Shape;913;p44"/>
          <p:cNvSpPr/>
          <p:nvPr/>
        </p:nvSpPr>
        <p:spPr>
          <a:xfrm>
            <a:off x="576072" y="149047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14" name="Google Shape;914;p44"/>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915" name="Google Shape;915;p44"/>
          <p:cNvSpPr txBox="1"/>
          <p:nvPr/>
        </p:nvSpPr>
        <p:spPr>
          <a:xfrm>
            <a:off x="576072" y="192938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What happens</a:t>
            </a:r>
            <a:endParaRPr b="0" i="0" sz="1200" u="none" cap="none" strike="noStrike">
              <a:solidFill>
                <a:schemeClr val="dk1"/>
              </a:solidFill>
              <a:latin typeface="Calibri"/>
              <a:ea typeface="Calibri"/>
              <a:cs typeface="Calibri"/>
              <a:sym typeface="Calibri"/>
            </a:endParaRPr>
          </a:p>
        </p:txBody>
      </p:sp>
      <p:sp>
        <p:nvSpPr>
          <p:cNvPr id="916" name="Google Shape;916;p44"/>
          <p:cNvSpPr txBox="1"/>
          <p:nvPr/>
        </p:nvSpPr>
        <p:spPr>
          <a:xfrm>
            <a:off x="576072" y="222199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Even when the voucher covers the whole first job, the system creates a $59 pre-auth at booking.</a:t>
            </a:r>
            <a:endParaRPr b="0" i="0" sz="950" u="none" cap="none" strike="noStrike">
              <a:solidFill>
                <a:schemeClr val="dk1"/>
              </a:solidFill>
              <a:latin typeface="Calibri"/>
              <a:ea typeface="Calibri"/>
              <a:cs typeface="Calibri"/>
              <a:sym typeface="Calibri"/>
            </a:endParaRPr>
          </a:p>
        </p:txBody>
      </p:sp>
      <p:sp>
        <p:nvSpPr>
          <p:cNvPr id="917" name="Google Shape;917;p44"/>
          <p:cNvSpPr/>
          <p:nvPr/>
        </p:nvSpPr>
        <p:spPr>
          <a:xfrm>
            <a:off x="3230880" y="132588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44"/>
          <p:cNvSpPr/>
          <p:nvPr/>
        </p:nvSpPr>
        <p:spPr>
          <a:xfrm>
            <a:off x="3395472" y="149047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19" name="Google Shape;919;p44"/>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920" name="Google Shape;920;p44"/>
          <p:cNvSpPr txBox="1"/>
          <p:nvPr/>
        </p:nvSpPr>
        <p:spPr>
          <a:xfrm>
            <a:off x="3395472" y="192938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Why it stays</a:t>
            </a:r>
            <a:endParaRPr b="0" i="0" sz="1200" u="none" cap="none" strike="noStrike">
              <a:solidFill>
                <a:schemeClr val="dk1"/>
              </a:solidFill>
              <a:latin typeface="Calibri"/>
              <a:ea typeface="Calibri"/>
              <a:cs typeface="Calibri"/>
              <a:sym typeface="Calibri"/>
            </a:endParaRPr>
          </a:p>
        </p:txBody>
      </p:sp>
      <p:sp>
        <p:nvSpPr>
          <p:cNvPr id="921" name="Google Shape;921;p44"/>
          <p:cNvSpPr txBox="1"/>
          <p:nvPr/>
        </p:nvSpPr>
        <p:spPr>
          <a:xfrm>
            <a:off x="3395472" y="222199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DHJ membership starts after the first completed job. With no job charge to use, the system uses the same $59 for the first MF.</a:t>
            </a:r>
            <a:endParaRPr b="0" i="0" sz="950" u="none" cap="none" strike="noStrike">
              <a:solidFill>
                <a:schemeClr val="dk1"/>
              </a:solidFill>
              <a:latin typeface="Calibri"/>
              <a:ea typeface="Calibri"/>
              <a:cs typeface="Calibri"/>
              <a:sym typeface="Calibri"/>
            </a:endParaRPr>
          </a:p>
        </p:txBody>
      </p:sp>
      <p:sp>
        <p:nvSpPr>
          <p:cNvPr id="922" name="Google Shape;922;p44"/>
          <p:cNvSpPr/>
          <p:nvPr/>
        </p:nvSpPr>
        <p:spPr>
          <a:xfrm>
            <a:off x="6050280" y="132588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3" name="Google Shape;923;p44"/>
          <p:cNvSpPr/>
          <p:nvPr/>
        </p:nvSpPr>
        <p:spPr>
          <a:xfrm>
            <a:off x="6214872" y="149047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4" name="Google Shape;924;p44"/>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925" name="Google Shape;925;p44"/>
          <p:cNvSpPr txBox="1"/>
          <p:nvPr/>
        </p:nvSpPr>
        <p:spPr>
          <a:xfrm>
            <a:off x="6214872" y="192938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Why it matters</a:t>
            </a:r>
            <a:endParaRPr b="0" i="0" sz="1200" u="none" cap="none" strike="noStrike">
              <a:solidFill>
                <a:schemeClr val="dk1"/>
              </a:solidFill>
              <a:latin typeface="Calibri"/>
              <a:ea typeface="Calibri"/>
              <a:cs typeface="Calibri"/>
              <a:sym typeface="Calibri"/>
            </a:endParaRPr>
          </a:p>
        </p:txBody>
      </p:sp>
      <p:sp>
        <p:nvSpPr>
          <p:cNvPr id="926" name="Google Shape;926;p44"/>
          <p:cNvSpPr txBox="1"/>
          <p:nvPr/>
        </p:nvSpPr>
        <p:spPr>
          <a:xfrm>
            <a:off x="6214872" y="222199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Telling the customer "it will release" is wrong. It sets up a confused or upset follow-up ticket days later.</a:t>
            </a:r>
            <a:endParaRPr b="0" i="0" sz="950" u="none" cap="none" strike="noStrike">
              <a:solidFill>
                <a:schemeClr val="dk1"/>
              </a:solidFill>
              <a:latin typeface="Calibri"/>
              <a:ea typeface="Calibri"/>
              <a:cs typeface="Calibri"/>
              <a:sym typeface="Calibri"/>
            </a:endParaRPr>
          </a:p>
        </p:txBody>
      </p:sp>
      <p:sp>
        <p:nvSpPr>
          <p:cNvPr id="927" name="Google Shape;927;p44"/>
          <p:cNvSpPr/>
          <p:nvPr/>
        </p:nvSpPr>
        <p:spPr>
          <a:xfrm>
            <a:off x="411480" y="3200400"/>
            <a:ext cx="8321100" cy="384000"/>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28" name="Google Shape;928;p44"/>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929" name="Google Shape;929;p44"/>
          <p:cNvSpPr txBox="1"/>
          <p:nvPr/>
        </p:nvSpPr>
        <p:spPr>
          <a:xfrm>
            <a:off x="822960" y="3300984"/>
            <a:ext cx="77724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Tell them:</a:t>
            </a:r>
            <a:r>
              <a:rPr b="0" i="0" lang="en" sz="1000" u="none" cap="none" strike="noStrike">
                <a:solidFill>
                  <a:srgbClr val="1D1D1F"/>
                </a:solidFill>
                <a:latin typeface="Arial"/>
                <a:ea typeface="Arial"/>
                <a:cs typeface="Arial"/>
                <a:sym typeface="Arial"/>
              </a:rPr>
              <a:t>the $59 hold is what their first ForeverClean monthly fee will be charged against once their voucher-covered cleaning is completed.</a:t>
            </a:r>
            <a:endParaRPr b="0" i="0" sz="1000" u="none" cap="none" strike="noStrike">
              <a:solidFill>
                <a:schemeClr val="dk1"/>
              </a:solidFill>
              <a:latin typeface="Calibri"/>
              <a:ea typeface="Calibri"/>
              <a:cs typeface="Calibri"/>
              <a:sym typeface="Calibri"/>
            </a:endParaRPr>
          </a:p>
        </p:txBody>
      </p:sp>
      <p:sp>
        <p:nvSpPr>
          <p:cNvPr id="930" name="Google Shape;930;p44"/>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45"/>
          <p:cNvSpPr txBox="1"/>
          <p:nvPr/>
        </p:nvSpPr>
        <p:spPr>
          <a:xfrm>
            <a:off x="438912" y="274320"/>
            <a:ext cx="82296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PRE-AUTHORIZATION HOLDS</a:t>
            </a:r>
            <a:endParaRPr b="0" i="0" sz="800" u="none" cap="none" strike="noStrike">
              <a:solidFill>
                <a:schemeClr val="dk1"/>
              </a:solidFill>
              <a:latin typeface="Calibri"/>
              <a:ea typeface="Calibri"/>
              <a:cs typeface="Calibri"/>
              <a:sym typeface="Calibri"/>
            </a:endParaRPr>
          </a:p>
        </p:txBody>
      </p:sp>
      <p:sp>
        <p:nvSpPr>
          <p:cNvPr id="936" name="Google Shape;936;p4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Before you explain a pre-auth</a:t>
            </a:r>
            <a:endParaRPr b="0" i="0" sz="2400" u="none" cap="none" strike="noStrike">
              <a:solidFill>
                <a:schemeClr val="dk1"/>
              </a:solidFill>
              <a:latin typeface="Calibri"/>
              <a:ea typeface="Calibri"/>
              <a:cs typeface="Calibri"/>
              <a:sym typeface="Calibri"/>
            </a:endParaRPr>
          </a:p>
        </p:txBody>
      </p:sp>
      <p:sp>
        <p:nvSpPr>
          <p:cNvPr id="937" name="Google Shape;937;p45"/>
          <p:cNvSpPr txBox="1"/>
          <p:nvPr/>
        </p:nvSpPr>
        <p:spPr>
          <a:xfrm>
            <a:off x="438912" y="960120"/>
            <a:ext cx="82296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Check first, then choose your words.</a:t>
            </a:r>
            <a:endParaRPr b="0" i="0" sz="1200" u="none" cap="none" strike="noStrike">
              <a:solidFill>
                <a:schemeClr val="dk1"/>
              </a:solidFill>
              <a:latin typeface="Calibri"/>
              <a:ea typeface="Calibri"/>
              <a:cs typeface="Calibri"/>
              <a:sym typeface="Calibri"/>
            </a:endParaRPr>
          </a:p>
        </p:txBody>
      </p:sp>
      <p:sp>
        <p:nvSpPr>
          <p:cNvPr id="938" name="Google Shape;938;p45"/>
          <p:cNvSpPr/>
          <p:nvPr/>
        </p:nvSpPr>
        <p:spPr>
          <a:xfrm>
            <a:off x="411480" y="132588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p45"/>
          <p:cNvSpPr/>
          <p:nvPr/>
        </p:nvSpPr>
        <p:spPr>
          <a:xfrm>
            <a:off x="576072" y="149047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40" name="Google Shape;940;p4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941" name="Google Shape;941;p45"/>
          <p:cNvSpPr txBox="1"/>
          <p:nvPr/>
        </p:nvSpPr>
        <p:spPr>
          <a:xfrm>
            <a:off x="576072" y="192938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1  Check the scenario</a:t>
            </a:r>
            <a:endParaRPr b="0" i="0" sz="1200" u="none" cap="none" strike="noStrike">
              <a:solidFill>
                <a:schemeClr val="dk1"/>
              </a:solidFill>
              <a:latin typeface="Calibri"/>
              <a:ea typeface="Calibri"/>
              <a:cs typeface="Calibri"/>
              <a:sym typeface="Calibri"/>
            </a:endParaRPr>
          </a:p>
        </p:txBody>
      </p:sp>
      <p:sp>
        <p:nvSpPr>
          <p:cNvPr id="942" name="Google Shape;942;p45"/>
          <p:cNvSpPr txBox="1"/>
          <p:nvPr/>
        </p:nvSpPr>
        <p:spPr>
          <a:xfrm>
            <a:off x="576072" y="222199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Non-FC or a real charge expected: use the standard macro. DHJ, first job, fully voucher-covered: use the exception.</a:t>
            </a:r>
            <a:endParaRPr b="0" i="0" sz="950" u="none" cap="none" strike="noStrike">
              <a:solidFill>
                <a:schemeClr val="dk1"/>
              </a:solidFill>
              <a:latin typeface="Calibri"/>
              <a:ea typeface="Calibri"/>
              <a:cs typeface="Calibri"/>
              <a:sym typeface="Calibri"/>
            </a:endParaRPr>
          </a:p>
        </p:txBody>
      </p:sp>
      <p:sp>
        <p:nvSpPr>
          <p:cNvPr id="943" name="Google Shape;943;p45"/>
          <p:cNvSpPr/>
          <p:nvPr/>
        </p:nvSpPr>
        <p:spPr>
          <a:xfrm>
            <a:off x="3230880" y="132588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4" name="Google Shape;944;p45"/>
          <p:cNvSpPr/>
          <p:nvPr/>
        </p:nvSpPr>
        <p:spPr>
          <a:xfrm>
            <a:off x="3395472" y="149047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45" name="Google Shape;945;p4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946" name="Google Shape;946;p45"/>
          <p:cNvSpPr txBox="1"/>
          <p:nvPr/>
        </p:nvSpPr>
        <p:spPr>
          <a:xfrm>
            <a:off x="3395472" y="192938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2  Customer disputes it</a:t>
            </a:r>
            <a:endParaRPr b="0" i="0" sz="1200" u="none" cap="none" strike="noStrike">
              <a:solidFill>
                <a:schemeClr val="dk1"/>
              </a:solidFill>
              <a:latin typeface="Calibri"/>
              <a:ea typeface="Calibri"/>
              <a:cs typeface="Calibri"/>
              <a:sym typeface="Calibri"/>
            </a:endParaRPr>
          </a:p>
        </p:txBody>
      </p:sp>
      <p:sp>
        <p:nvSpPr>
          <p:cNvPr id="947" name="Google Shape;947;p45"/>
          <p:cNvSpPr txBox="1"/>
          <p:nvPr/>
        </p:nvSpPr>
        <p:spPr>
          <a:xfrm>
            <a:off x="3395472" y="222199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They expected a release and it didn't happen? Check if they are DHJ on their first job before assuming an error.</a:t>
            </a:r>
            <a:endParaRPr b="0" i="0" sz="950" u="none" cap="none" strike="noStrike">
              <a:solidFill>
                <a:schemeClr val="dk1"/>
              </a:solidFill>
              <a:latin typeface="Calibri"/>
              <a:ea typeface="Calibri"/>
              <a:cs typeface="Calibri"/>
              <a:sym typeface="Calibri"/>
            </a:endParaRPr>
          </a:p>
        </p:txBody>
      </p:sp>
      <p:sp>
        <p:nvSpPr>
          <p:cNvPr id="948" name="Google Shape;948;p45"/>
          <p:cNvSpPr/>
          <p:nvPr/>
        </p:nvSpPr>
        <p:spPr>
          <a:xfrm>
            <a:off x="6050280" y="132588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9" name="Google Shape;949;p45"/>
          <p:cNvSpPr/>
          <p:nvPr/>
        </p:nvSpPr>
        <p:spPr>
          <a:xfrm>
            <a:off x="6214872" y="149047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50" name="Google Shape;950;p4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951" name="Google Shape;951;p45"/>
          <p:cNvSpPr txBox="1"/>
          <p:nvPr/>
        </p:nvSpPr>
        <p:spPr>
          <a:xfrm>
            <a:off x="6214872" y="192938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3  Job cancelled</a:t>
            </a:r>
            <a:endParaRPr b="0" i="0" sz="1200" u="none" cap="none" strike="noStrike">
              <a:solidFill>
                <a:schemeClr val="dk1"/>
              </a:solidFill>
              <a:latin typeface="Calibri"/>
              <a:ea typeface="Calibri"/>
              <a:cs typeface="Calibri"/>
              <a:sym typeface="Calibri"/>
            </a:endParaRPr>
          </a:p>
        </p:txBody>
      </p:sp>
      <p:sp>
        <p:nvSpPr>
          <p:cNvPr id="952" name="Google Shape;952;p45"/>
          <p:cNvSpPr txBox="1"/>
          <p:nvPr/>
        </p:nvSpPr>
        <p:spPr>
          <a:xfrm>
            <a:off x="6214872" y="222199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Release it normally. The exception applies only to the path where the job completes.</a:t>
            </a:r>
            <a:endParaRPr b="0" i="0" sz="950" u="none" cap="none" strike="noStrike">
              <a:solidFill>
                <a:schemeClr val="dk1"/>
              </a:solidFill>
              <a:latin typeface="Calibri"/>
              <a:ea typeface="Calibri"/>
              <a:cs typeface="Calibri"/>
              <a:sym typeface="Calibri"/>
            </a:endParaRPr>
          </a:p>
        </p:txBody>
      </p:sp>
      <p:sp>
        <p:nvSpPr>
          <p:cNvPr id="953" name="Google Shape;953;p45"/>
          <p:cNvSpPr/>
          <p:nvPr/>
        </p:nvSpPr>
        <p:spPr>
          <a:xfrm>
            <a:off x="411480" y="3200400"/>
            <a:ext cx="8321100" cy="384000"/>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54" name="Google Shape;954;p45"/>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955" name="Google Shape;955;p45"/>
          <p:cNvSpPr txBox="1"/>
          <p:nvPr/>
        </p:nvSpPr>
        <p:spPr>
          <a:xfrm>
            <a:off x="822960" y="3300984"/>
            <a:ext cx="7772400" cy="20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Cancel request:</a:t>
            </a:r>
            <a:r>
              <a:rPr b="0" i="0" lang="en" sz="1000" u="none" cap="none" strike="noStrike">
                <a:solidFill>
                  <a:srgbClr val="1D1D1F"/>
                </a:solidFill>
                <a:latin typeface="Arial"/>
                <a:ea typeface="Arial"/>
                <a:cs typeface="Arial"/>
                <a:sym typeface="Arial"/>
              </a:rPr>
              <a:t>if a customer wants to cancel because they don't agree to a pre-auth, explain it first. Cancel only if they still want to after the explanation.</a:t>
            </a:r>
            <a:endParaRPr b="0" i="0" sz="1000" u="none" cap="none" strike="noStrike">
              <a:solidFill>
                <a:schemeClr val="dk1"/>
              </a:solidFill>
              <a:latin typeface="Calibri"/>
              <a:ea typeface="Calibri"/>
              <a:cs typeface="Calibri"/>
              <a:sym typeface="Calibri"/>
            </a:endParaRPr>
          </a:p>
        </p:txBody>
      </p:sp>
      <p:sp>
        <p:nvSpPr>
          <p:cNvPr id="956" name="Google Shape;956;p45"/>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46"/>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963" name="Google Shape;963;p46"/>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964" name="Google Shape;964;p46"/>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965" name="Google Shape;965;p46"/>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6" name="Google Shape;966;p46"/>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967" name="Google Shape;967;p46"/>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968" name="Google Shape;968;p46"/>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9" name="Google Shape;969;p46"/>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46"/>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1" name="Google Shape;971;p46"/>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46"/>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46"/>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4" name="Google Shape;974;p46"/>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47"/>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05</a:t>
            </a:r>
            <a:endParaRPr b="0" i="0" sz="800" u="none" cap="none" strike="noStrike">
              <a:solidFill>
                <a:schemeClr val="dk1"/>
              </a:solidFill>
              <a:latin typeface="Calibri"/>
              <a:ea typeface="Calibri"/>
              <a:cs typeface="Calibri"/>
              <a:sym typeface="Calibri"/>
            </a:endParaRPr>
          </a:p>
        </p:txBody>
      </p:sp>
      <p:sp>
        <p:nvSpPr>
          <p:cNvPr id="981" name="Google Shape;981;p47"/>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Vouchers in CRM</a:t>
            </a:r>
            <a:endParaRPr b="0" i="0" sz="2800" u="none" cap="none" strike="noStrike">
              <a:solidFill>
                <a:schemeClr val="dk1"/>
              </a:solidFill>
              <a:latin typeface="Calibri"/>
              <a:ea typeface="Calibri"/>
              <a:cs typeface="Calibri"/>
              <a:sym typeface="Calibri"/>
            </a:endParaRPr>
          </a:p>
        </p:txBody>
      </p:sp>
      <p:sp>
        <p:nvSpPr>
          <p:cNvPr id="982" name="Google Shape;982;p47"/>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What a voucher is, how to read it in the CRM, and how each type behaves.</a:t>
            </a:r>
            <a:endParaRPr b="0" i="0" sz="1150" u="none" cap="none" strike="noStrike">
              <a:solidFill>
                <a:schemeClr val="dk1"/>
              </a:solidFill>
              <a:latin typeface="Calibri"/>
              <a:ea typeface="Calibri"/>
              <a:cs typeface="Calibri"/>
              <a:sym typeface="Calibri"/>
            </a:endParaRPr>
          </a:p>
        </p:txBody>
      </p:sp>
      <p:sp>
        <p:nvSpPr>
          <p:cNvPr id="983" name="Google Shape;983;p47"/>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984" name="Google Shape;984;p47"/>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85" name="Google Shape;985;p47"/>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986" name="Google Shape;986;p47"/>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a voucher is</a:t>
            </a:r>
            <a:endParaRPr b="0" i="0" sz="1050" u="none" cap="none" strike="noStrike">
              <a:solidFill>
                <a:schemeClr val="dk1"/>
              </a:solidFill>
              <a:latin typeface="Calibri"/>
              <a:ea typeface="Calibri"/>
              <a:cs typeface="Calibri"/>
              <a:sym typeface="Calibri"/>
            </a:endParaRPr>
          </a:p>
        </p:txBody>
      </p:sp>
      <p:sp>
        <p:nvSpPr>
          <p:cNvPr id="987" name="Google Shape;987;p47"/>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88" name="Google Shape;988;p47"/>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989" name="Google Shape;989;p47"/>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How vouchers work</a:t>
            </a:r>
            <a:endParaRPr b="0" i="0" sz="1050" u="none" cap="none" strike="noStrike">
              <a:solidFill>
                <a:schemeClr val="dk1"/>
              </a:solidFill>
              <a:latin typeface="Calibri"/>
              <a:ea typeface="Calibri"/>
              <a:cs typeface="Calibri"/>
              <a:sym typeface="Calibri"/>
            </a:endParaRPr>
          </a:p>
        </p:txBody>
      </p:sp>
      <p:sp>
        <p:nvSpPr>
          <p:cNvPr id="990" name="Google Shape;990;p47"/>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91" name="Google Shape;991;p47"/>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992" name="Google Shape;992;p47"/>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Reading a voucher in the CRM</a:t>
            </a:r>
            <a:endParaRPr b="0" i="0" sz="1050" u="none" cap="none" strike="noStrike">
              <a:solidFill>
                <a:schemeClr val="dk1"/>
              </a:solidFill>
              <a:latin typeface="Calibri"/>
              <a:ea typeface="Calibri"/>
              <a:cs typeface="Calibri"/>
              <a:sym typeface="Calibri"/>
            </a:endParaRPr>
          </a:p>
        </p:txBody>
      </p:sp>
      <p:sp>
        <p:nvSpPr>
          <p:cNvPr id="993" name="Google Shape;993;p47"/>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94" name="Google Shape;994;p47"/>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995" name="Google Shape;995;p47"/>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Voucher types at a glance</a:t>
            </a:r>
            <a:endParaRPr b="0" i="0" sz="1050" u="none" cap="none" strike="noStrike">
              <a:solidFill>
                <a:schemeClr val="dk1"/>
              </a:solidFill>
              <a:latin typeface="Calibri"/>
              <a:ea typeface="Calibri"/>
              <a:cs typeface="Calibri"/>
              <a:sym typeface="Calibri"/>
            </a:endParaRPr>
          </a:p>
        </p:txBody>
      </p:sp>
      <p:sp>
        <p:nvSpPr>
          <p:cNvPr id="996" name="Google Shape;996;p47"/>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7" name="Google Shape;997;p47"/>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4.png" id="998" name="Google Shape;998;p47"/>
          <p:cNvPicPr preferRelativeResize="0"/>
          <p:nvPr/>
        </p:nvPicPr>
        <p:blipFill rotWithShape="1">
          <a:blip r:embed="rId4">
            <a:alphaModFix/>
          </a:blip>
          <a:srcRect b="0" l="0" r="0" t="0"/>
          <a:stretch/>
        </p:blipFill>
        <p:spPr>
          <a:xfrm>
            <a:off x="5658307" y="1517904"/>
            <a:ext cx="2691994" cy="2103120"/>
          </a:xfrm>
          <a:prstGeom prst="rect">
            <a:avLst/>
          </a:prstGeom>
          <a:noFill/>
          <a:ln>
            <a:noFill/>
          </a:ln>
        </p:spPr>
      </p:pic>
      <p:sp>
        <p:nvSpPr>
          <p:cNvPr id="999" name="Google Shape;999;p47"/>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0" name="Google Shape;1000;p47"/>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47"/>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2" name="Google Shape;1002;p47"/>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47"/>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4" name="Google Shape;1004;p47"/>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4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4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VOUCHERS IN CRM</a:t>
            </a:r>
            <a:endParaRPr b="0" i="0" sz="800" u="none" cap="none" strike="noStrike">
              <a:solidFill>
                <a:schemeClr val="dk1"/>
              </a:solidFill>
              <a:latin typeface="Calibri"/>
              <a:ea typeface="Calibri"/>
              <a:cs typeface="Calibri"/>
              <a:sym typeface="Calibri"/>
            </a:endParaRPr>
          </a:p>
        </p:txBody>
      </p:sp>
      <p:sp>
        <p:nvSpPr>
          <p:cNvPr id="1012" name="Google Shape;1012;p4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a voucher?</a:t>
            </a:r>
            <a:endParaRPr b="0" i="0" sz="2400" u="none" cap="none" strike="noStrike">
              <a:solidFill>
                <a:schemeClr val="dk1"/>
              </a:solidFill>
              <a:latin typeface="Calibri"/>
              <a:ea typeface="Calibri"/>
              <a:cs typeface="Calibri"/>
              <a:sym typeface="Calibri"/>
            </a:endParaRPr>
          </a:p>
        </p:txBody>
      </p:sp>
      <p:sp>
        <p:nvSpPr>
          <p:cNvPr id="1013" name="Google Shape;1013;p4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 discount on a customer's cleaning, redeemed with a code and tied to their account.</a:t>
            </a:r>
            <a:endParaRPr b="0" i="0" sz="1200" u="none" cap="none" strike="noStrike">
              <a:solidFill>
                <a:schemeClr val="dk1"/>
              </a:solidFill>
              <a:latin typeface="Calibri"/>
              <a:ea typeface="Calibri"/>
              <a:cs typeface="Calibri"/>
              <a:sym typeface="Calibri"/>
            </a:endParaRPr>
          </a:p>
        </p:txBody>
      </p:sp>
      <p:sp>
        <p:nvSpPr>
          <p:cNvPr id="1014" name="Google Shape;1014;p48"/>
          <p:cNvSpPr/>
          <p:nvPr/>
        </p:nvSpPr>
        <p:spPr>
          <a:xfrm>
            <a:off x="411480" y="1325880"/>
            <a:ext cx="197739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48"/>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16" name="Google Shape;1016;p48"/>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017" name="Google Shape;1017;p48"/>
          <p:cNvSpPr txBox="1"/>
          <p:nvPr/>
        </p:nvSpPr>
        <p:spPr>
          <a:xfrm>
            <a:off x="576072" y="192938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Bought it</a:t>
            </a:r>
            <a:endParaRPr b="0" i="0" sz="1200" u="none" cap="none" strike="noStrike">
              <a:solidFill>
                <a:schemeClr val="dk1"/>
              </a:solidFill>
              <a:latin typeface="Calibri"/>
              <a:ea typeface="Calibri"/>
              <a:cs typeface="Calibri"/>
              <a:sym typeface="Calibri"/>
            </a:endParaRPr>
          </a:p>
        </p:txBody>
      </p:sp>
      <p:sp>
        <p:nvSpPr>
          <p:cNvPr id="1018" name="Google Shape;1018;p48"/>
          <p:cNvSpPr txBox="1"/>
          <p:nvPr/>
        </p:nvSpPr>
        <p:spPr>
          <a:xfrm>
            <a:off x="576072" y="2221992"/>
            <a:ext cx="164820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Legacy DHJ: the customer paid for the voucher.</a:t>
            </a:r>
            <a:endParaRPr b="0" i="0" sz="950" u="none" cap="none" strike="noStrike">
              <a:solidFill>
                <a:schemeClr val="dk1"/>
              </a:solidFill>
              <a:latin typeface="Calibri"/>
              <a:ea typeface="Calibri"/>
              <a:cs typeface="Calibri"/>
              <a:sym typeface="Calibri"/>
            </a:endParaRPr>
          </a:p>
        </p:txBody>
      </p:sp>
      <p:sp>
        <p:nvSpPr>
          <p:cNvPr id="1019" name="Google Shape;1019;p48"/>
          <p:cNvSpPr/>
          <p:nvPr/>
        </p:nvSpPr>
        <p:spPr>
          <a:xfrm>
            <a:off x="2526030" y="1325880"/>
            <a:ext cx="197739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0" name="Google Shape;1020;p48"/>
          <p:cNvSpPr/>
          <p:nvPr/>
        </p:nvSpPr>
        <p:spPr>
          <a:xfrm>
            <a:off x="269062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21" name="Google Shape;1021;p48"/>
          <p:cNvPicPr preferRelativeResize="0"/>
          <p:nvPr/>
        </p:nvPicPr>
        <p:blipFill rotWithShape="1">
          <a:blip r:embed="rId4">
            <a:alphaModFix/>
          </a:blip>
          <a:srcRect b="0" l="0" r="0" t="0"/>
          <a:stretch/>
        </p:blipFill>
        <p:spPr>
          <a:xfrm>
            <a:off x="2769626" y="1569476"/>
            <a:ext cx="171176" cy="171176"/>
          </a:xfrm>
          <a:prstGeom prst="rect">
            <a:avLst/>
          </a:prstGeom>
          <a:noFill/>
          <a:ln>
            <a:noFill/>
          </a:ln>
        </p:spPr>
      </p:pic>
      <p:sp>
        <p:nvSpPr>
          <p:cNvPr id="1022" name="Google Shape;1022;p48"/>
          <p:cNvSpPr txBox="1"/>
          <p:nvPr/>
        </p:nvSpPr>
        <p:spPr>
          <a:xfrm>
            <a:off x="2690622" y="192938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With membership</a:t>
            </a:r>
            <a:endParaRPr b="0" i="0" sz="1200" u="none" cap="none" strike="noStrike">
              <a:solidFill>
                <a:schemeClr val="dk1"/>
              </a:solidFill>
              <a:latin typeface="Calibri"/>
              <a:ea typeface="Calibri"/>
              <a:cs typeface="Calibri"/>
              <a:sym typeface="Calibri"/>
            </a:endParaRPr>
          </a:p>
        </p:txBody>
      </p:sp>
      <p:sp>
        <p:nvSpPr>
          <p:cNvPr id="1023" name="Google Shape;1023;p48"/>
          <p:cNvSpPr txBox="1"/>
          <p:nvPr/>
        </p:nvSpPr>
        <p:spPr>
          <a:xfrm>
            <a:off x="2690622" y="2221992"/>
            <a:ext cx="164820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FCF: issued free when they signed up.</a:t>
            </a:r>
            <a:endParaRPr b="0" i="0" sz="950" u="none" cap="none" strike="noStrike">
              <a:solidFill>
                <a:schemeClr val="dk1"/>
              </a:solidFill>
              <a:latin typeface="Calibri"/>
              <a:ea typeface="Calibri"/>
              <a:cs typeface="Calibri"/>
              <a:sym typeface="Calibri"/>
            </a:endParaRPr>
          </a:p>
        </p:txBody>
      </p:sp>
      <p:sp>
        <p:nvSpPr>
          <p:cNvPr id="1024" name="Google Shape;1024;p48"/>
          <p:cNvSpPr/>
          <p:nvPr/>
        </p:nvSpPr>
        <p:spPr>
          <a:xfrm>
            <a:off x="4640580" y="1325880"/>
            <a:ext cx="197739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5" name="Google Shape;1025;p48"/>
          <p:cNvSpPr/>
          <p:nvPr/>
        </p:nvSpPr>
        <p:spPr>
          <a:xfrm>
            <a:off x="48051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26" name="Google Shape;1026;p48"/>
          <p:cNvPicPr preferRelativeResize="0"/>
          <p:nvPr/>
        </p:nvPicPr>
        <p:blipFill rotWithShape="1">
          <a:blip r:embed="rId5">
            <a:alphaModFix/>
          </a:blip>
          <a:srcRect b="0" l="0" r="0" t="0"/>
          <a:stretch/>
        </p:blipFill>
        <p:spPr>
          <a:xfrm>
            <a:off x="4884176" y="1569476"/>
            <a:ext cx="171176" cy="171176"/>
          </a:xfrm>
          <a:prstGeom prst="rect">
            <a:avLst/>
          </a:prstGeom>
          <a:noFill/>
          <a:ln>
            <a:noFill/>
          </a:ln>
        </p:spPr>
      </p:pic>
      <p:sp>
        <p:nvSpPr>
          <p:cNvPr id="1027" name="Google Shape;1027;p48"/>
          <p:cNvSpPr txBox="1"/>
          <p:nvPr/>
        </p:nvSpPr>
        <p:spPr>
          <a:xfrm>
            <a:off x="4805172" y="192938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Gift or referral</a:t>
            </a:r>
            <a:endParaRPr b="0" i="0" sz="1200" u="none" cap="none" strike="noStrike">
              <a:solidFill>
                <a:schemeClr val="dk1"/>
              </a:solidFill>
              <a:latin typeface="Calibri"/>
              <a:ea typeface="Calibri"/>
              <a:cs typeface="Calibri"/>
              <a:sym typeface="Calibri"/>
            </a:endParaRPr>
          </a:p>
        </p:txBody>
      </p:sp>
      <p:sp>
        <p:nvSpPr>
          <p:cNvPr id="1028" name="Google Shape;1028;p48"/>
          <p:cNvSpPr txBox="1"/>
          <p:nvPr/>
        </p:nvSpPr>
        <p:spPr>
          <a:xfrm>
            <a:off x="4805172" y="2221992"/>
            <a:ext cx="164820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Sent by a friend, or bought as a gift card.</a:t>
            </a:r>
            <a:endParaRPr b="0" i="0" sz="950" u="none" cap="none" strike="noStrike">
              <a:solidFill>
                <a:schemeClr val="dk1"/>
              </a:solidFill>
              <a:latin typeface="Calibri"/>
              <a:ea typeface="Calibri"/>
              <a:cs typeface="Calibri"/>
              <a:sym typeface="Calibri"/>
            </a:endParaRPr>
          </a:p>
        </p:txBody>
      </p:sp>
      <p:sp>
        <p:nvSpPr>
          <p:cNvPr id="1029" name="Google Shape;1029;p48"/>
          <p:cNvSpPr/>
          <p:nvPr/>
        </p:nvSpPr>
        <p:spPr>
          <a:xfrm>
            <a:off x="6755130" y="1325880"/>
            <a:ext cx="1977390" cy="1463040"/>
          </a:xfrm>
          <a:prstGeom prst="roundRect">
            <a:avLst>
              <a:gd fmla="val 5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0" name="Google Shape;1030;p48"/>
          <p:cNvSpPr/>
          <p:nvPr/>
        </p:nvSpPr>
        <p:spPr>
          <a:xfrm>
            <a:off x="691972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31" name="Google Shape;1031;p48"/>
          <p:cNvPicPr preferRelativeResize="0"/>
          <p:nvPr/>
        </p:nvPicPr>
        <p:blipFill rotWithShape="1">
          <a:blip r:embed="rId6">
            <a:alphaModFix/>
          </a:blip>
          <a:srcRect b="0" l="0" r="0" t="0"/>
          <a:stretch/>
        </p:blipFill>
        <p:spPr>
          <a:xfrm>
            <a:off x="6998726" y="1569476"/>
            <a:ext cx="171176" cy="171176"/>
          </a:xfrm>
          <a:prstGeom prst="rect">
            <a:avLst/>
          </a:prstGeom>
          <a:noFill/>
          <a:ln>
            <a:noFill/>
          </a:ln>
        </p:spPr>
      </p:pic>
      <p:sp>
        <p:nvSpPr>
          <p:cNvPr id="1032" name="Google Shape;1032;p48"/>
          <p:cNvSpPr txBox="1"/>
          <p:nvPr/>
        </p:nvSpPr>
        <p:spPr>
          <a:xfrm>
            <a:off x="6919722" y="192938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From Care</a:t>
            </a:r>
            <a:endParaRPr b="0" i="0" sz="1200" u="none" cap="none" strike="noStrike">
              <a:solidFill>
                <a:schemeClr val="dk1"/>
              </a:solidFill>
              <a:latin typeface="Calibri"/>
              <a:ea typeface="Calibri"/>
              <a:cs typeface="Calibri"/>
              <a:sym typeface="Calibri"/>
            </a:endParaRPr>
          </a:p>
        </p:txBody>
      </p:sp>
      <p:sp>
        <p:nvSpPr>
          <p:cNvPr id="1033" name="Google Shape;1033;p48"/>
          <p:cNvSpPr txBox="1"/>
          <p:nvPr/>
        </p:nvSpPr>
        <p:spPr>
          <a:xfrm>
            <a:off x="6919722" y="2221992"/>
            <a:ext cx="1648206"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An admin courtesy voucher issued by us.</a:t>
            </a:r>
            <a:endParaRPr b="0" i="0" sz="950" u="none" cap="none" strike="noStrike">
              <a:solidFill>
                <a:schemeClr val="dk1"/>
              </a:solidFill>
              <a:latin typeface="Calibri"/>
              <a:ea typeface="Calibri"/>
              <a:cs typeface="Calibri"/>
              <a:sym typeface="Calibri"/>
            </a:endParaRPr>
          </a:p>
        </p:txBody>
      </p:sp>
      <p:sp>
        <p:nvSpPr>
          <p:cNvPr id="1034" name="Google Shape;1034;p48"/>
          <p:cNvSpPr/>
          <p:nvPr/>
        </p:nvSpPr>
        <p:spPr>
          <a:xfrm>
            <a:off x="411480" y="301752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35" name="Google Shape;1035;p48"/>
          <p:cNvPicPr preferRelativeResize="0"/>
          <p:nvPr/>
        </p:nvPicPr>
        <p:blipFill rotWithShape="1">
          <a:blip r:embed="rId7">
            <a:alphaModFix/>
          </a:blip>
          <a:srcRect b="0" l="0" r="0" t="0"/>
          <a:stretch/>
        </p:blipFill>
        <p:spPr>
          <a:xfrm>
            <a:off x="566928" y="3127248"/>
            <a:ext cx="164592" cy="164592"/>
          </a:xfrm>
          <a:prstGeom prst="rect">
            <a:avLst/>
          </a:prstGeom>
          <a:noFill/>
          <a:ln>
            <a:noFill/>
          </a:ln>
        </p:spPr>
      </p:pic>
      <p:sp>
        <p:nvSpPr>
          <p:cNvPr id="1036" name="Google Shape;1036;p48"/>
          <p:cNvSpPr txBox="1"/>
          <p:nvPr/>
        </p:nvSpPr>
        <p:spPr>
          <a:xfrm>
            <a:off x="822960" y="311810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Watch your words:  </a:t>
            </a:r>
            <a:r>
              <a:rPr b="0" i="0" lang="en" sz="1000" u="none" cap="none" strike="noStrike">
                <a:solidFill>
                  <a:srgbClr val="1D1D1F"/>
                </a:solidFill>
                <a:latin typeface="Arial"/>
                <a:ea typeface="Arial"/>
                <a:cs typeface="Arial"/>
                <a:sym typeface="Arial"/>
              </a:rPr>
              <a:t>an FCF customer who says "I never bought a voucher" is right. Don't contradict them.</a:t>
            </a:r>
            <a:endParaRPr b="0" i="0" sz="1000" u="none" cap="none" strike="noStrike">
              <a:solidFill>
                <a:schemeClr val="dk1"/>
              </a:solidFill>
              <a:latin typeface="Calibri"/>
              <a:ea typeface="Calibri"/>
              <a:cs typeface="Calibri"/>
              <a:sym typeface="Calibri"/>
            </a:endParaRPr>
          </a:p>
        </p:txBody>
      </p:sp>
      <p:sp>
        <p:nvSpPr>
          <p:cNvPr id="1037" name="Google Shape;1037;p4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4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VOUCHERS IN CRM</a:t>
            </a:r>
            <a:endParaRPr b="0" i="0" sz="800" u="none" cap="none" strike="noStrike">
              <a:solidFill>
                <a:schemeClr val="dk1"/>
              </a:solidFill>
              <a:latin typeface="Calibri"/>
              <a:ea typeface="Calibri"/>
              <a:cs typeface="Calibri"/>
              <a:sym typeface="Calibri"/>
            </a:endParaRPr>
          </a:p>
        </p:txBody>
      </p:sp>
      <p:sp>
        <p:nvSpPr>
          <p:cNvPr id="1044" name="Google Shape;1044;p4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How vouchers work</a:t>
            </a:r>
            <a:endParaRPr b="0" i="0" sz="2400" u="none" cap="none" strike="noStrike">
              <a:solidFill>
                <a:schemeClr val="dk1"/>
              </a:solidFill>
              <a:latin typeface="Calibri"/>
              <a:ea typeface="Calibri"/>
              <a:cs typeface="Calibri"/>
              <a:sym typeface="Calibri"/>
            </a:endParaRPr>
          </a:p>
        </p:txBody>
      </p:sp>
      <p:sp>
        <p:nvSpPr>
          <p:cNvPr id="1045" name="Google Shape;1045;p49"/>
          <p:cNvSpPr/>
          <p:nvPr/>
        </p:nvSpPr>
        <p:spPr>
          <a:xfrm>
            <a:off x="411480" y="1280160"/>
            <a:ext cx="197739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6" name="Google Shape;1046;p49"/>
          <p:cNvSpPr/>
          <p:nvPr/>
        </p:nvSpPr>
        <p:spPr>
          <a:xfrm>
            <a:off x="57607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47" name="Google Shape;1047;p49"/>
          <p:cNvPicPr preferRelativeResize="0"/>
          <p:nvPr/>
        </p:nvPicPr>
        <p:blipFill rotWithShape="1">
          <a:blip r:embed="rId3">
            <a:alphaModFix/>
          </a:blip>
          <a:srcRect b="0" l="0" r="0" t="0"/>
          <a:stretch/>
        </p:blipFill>
        <p:spPr>
          <a:xfrm>
            <a:off x="655076" y="1523756"/>
            <a:ext cx="171176" cy="171176"/>
          </a:xfrm>
          <a:prstGeom prst="rect">
            <a:avLst/>
          </a:prstGeom>
          <a:noFill/>
          <a:ln>
            <a:noFill/>
          </a:ln>
        </p:spPr>
      </p:pic>
      <p:sp>
        <p:nvSpPr>
          <p:cNvPr id="1048" name="Google Shape;1048;p49"/>
          <p:cNvSpPr txBox="1"/>
          <p:nvPr/>
        </p:nvSpPr>
        <p:spPr>
          <a:xfrm>
            <a:off x="57607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Hours, not dollars</a:t>
            </a:r>
            <a:endParaRPr b="0" i="0" sz="1200" u="none" cap="none" strike="noStrike">
              <a:solidFill>
                <a:schemeClr val="dk1"/>
              </a:solidFill>
              <a:latin typeface="Calibri"/>
              <a:ea typeface="Calibri"/>
              <a:cs typeface="Calibri"/>
              <a:sym typeface="Calibri"/>
            </a:endParaRPr>
          </a:p>
        </p:txBody>
      </p:sp>
      <p:sp>
        <p:nvSpPr>
          <p:cNvPr id="1049" name="Google Shape;1049;p49"/>
          <p:cNvSpPr txBox="1"/>
          <p:nvPr/>
        </p:nvSpPr>
        <p:spPr>
          <a:xfrm>
            <a:off x="576072" y="2176272"/>
            <a:ext cx="164820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Voucher hours come off the job, whatever the cleaner's rate.</a:t>
            </a:r>
            <a:endParaRPr b="0" i="0" sz="950" u="none" cap="none" strike="noStrike">
              <a:solidFill>
                <a:schemeClr val="dk1"/>
              </a:solidFill>
              <a:latin typeface="Calibri"/>
              <a:ea typeface="Calibri"/>
              <a:cs typeface="Calibri"/>
              <a:sym typeface="Calibri"/>
            </a:endParaRPr>
          </a:p>
        </p:txBody>
      </p:sp>
      <p:sp>
        <p:nvSpPr>
          <p:cNvPr id="1050" name="Google Shape;1050;p49"/>
          <p:cNvSpPr/>
          <p:nvPr/>
        </p:nvSpPr>
        <p:spPr>
          <a:xfrm>
            <a:off x="2526030" y="1280160"/>
            <a:ext cx="197739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1" name="Google Shape;1051;p49"/>
          <p:cNvSpPr/>
          <p:nvPr/>
        </p:nvSpPr>
        <p:spPr>
          <a:xfrm>
            <a:off x="269062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52" name="Google Shape;1052;p49"/>
          <p:cNvPicPr preferRelativeResize="0"/>
          <p:nvPr/>
        </p:nvPicPr>
        <p:blipFill rotWithShape="1">
          <a:blip r:embed="rId4">
            <a:alphaModFix/>
          </a:blip>
          <a:srcRect b="0" l="0" r="0" t="0"/>
          <a:stretch/>
        </p:blipFill>
        <p:spPr>
          <a:xfrm>
            <a:off x="2769626" y="1523756"/>
            <a:ext cx="171176" cy="171176"/>
          </a:xfrm>
          <a:prstGeom prst="rect">
            <a:avLst/>
          </a:prstGeom>
          <a:noFill/>
          <a:ln>
            <a:noFill/>
          </a:ln>
        </p:spPr>
      </p:pic>
      <p:sp>
        <p:nvSpPr>
          <p:cNvPr id="1053" name="Google Shape;1053;p49"/>
          <p:cNvSpPr txBox="1"/>
          <p:nvPr/>
        </p:nvSpPr>
        <p:spPr>
          <a:xfrm>
            <a:off x="269062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Longer job?</a:t>
            </a:r>
            <a:endParaRPr b="0" i="0" sz="1200" u="none" cap="none" strike="noStrike">
              <a:solidFill>
                <a:schemeClr val="dk1"/>
              </a:solidFill>
              <a:latin typeface="Calibri"/>
              <a:ea typeface="Calibri"/>
              <a:cs typeface="Calibri"/>
              <a:sym typeface="Calibri"/>
            </a:endParaRPr>
          </a:p>
        </p:txBody>
      </p:sp>
      <p:sp>
        <p:nvSpPr>
          <p:cNvPr id="1054" name="Google Shape;1054;p49"/>
          <p:cNvSpPr txBox="1"/>
          <p:nvPr/>
        </p:nvSpPr>
        <p:spPr>
          <a:xfrm>
            <a:off x="2690622" y="2176272"/>
            <a:ext cx="164820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Extra hours are charged at Homeaglow's standard rate.</a:t>
            </a:r>
            <a:endParaRPr b="0" i="0" sz="950" u="none" cap="none" strike="noStrike">
              <a:solidFill>
                <a:schemeClr val="dk1"/>
              </a:solidFill>
              <a:latin typeface="Calibri"/>
              <a:ea typeface="Calibri"/>
              <a:cs typeface="Calibri"/>
              <a:sym typeface="Calibri"/>
            </a:endParaRPr>
          </a:p>
        </p:txBody>
      </p:sp>
      <p:sp>
        <p:nvSpPr>
          <p:cNvPr id="1055" name="Google Shape;1055;p49"/>
          <p:cNvSpPr/>
          <p:nvPr/>
        </p:nvSpPr>
        <p:spPr>
          <a:xfrm>
            <a:off x="4640580" y="1280160"/>
            <a:ext cx="197739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p49"/>
          <p:cNvSpPr/>
          <p:nvPr/>
        </p:nvSpPr>
        <p:spPr>
          <a:xfrm>
            <a:off x="480517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57" name="Google Shape;1057;p49"/>
          <p:cNvPicPr preferRelativeResize="0"/>
          <p:nvPr/>
        </p:nvPicPr>
        <p:blipFill rotWithShape="1">
          <a:blip r:embed="rId5">
            <a:alphaModFix/>
          </a:blip>
          <a:srcRect b="0" l="0" r="0" t="0"/>
          <a:stretch/>
        </p:blipFill>
        <p:spPr>
          <a:xfrm>
            <a:off x="4884176" y="1523756"/>
            <a:ext cx="171176" cy="171176"/>
          </a:xfrm>
          <a:prstGeom prst="rect">
            <a:avLst/>
          </a:prstGeom>
          <a:noFill/>
          <a:ln>
            <a:noFill/>
          </a:ln>
        </p:spPr>
      </p:pic>
      <p:sp>
        <p:nvSpPr>
          <p:cNvPr id="1058" name="Google Shape;1058;p49"/>
          <p:cNvSpPr txBox="1"/>
          <p:nvPr/>
        </p:nvSpPr>
        <p:spPr>
          <a:xfrm>
            <a:off x="480517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Redeem online</a:t>
            </a:r>
            <a:endParaRPr b="0" i="0" sz="1200" u="none" cap="none" strike="noStrike">
              <a:solidFill>
                <a:schemeClr val="dk1"/>
              </a:solidFill>
              <a:latin typeface="Calibri"/>
              <a:ea typeface="Calibri"/>
              <a:cs typeface="Calibri"/>
              <a:sym typeface="Calibri"/>
            </a:endParaRPr>
          </a:p>
        </p:txBody>
      </p:sp>
      <p:sp>
        <p:nvSpPr>
          <p:cNvPr id="1059" name="Google Shape;1059;p49"/>
          <p:cNvSpPr txBox="1"/>
          <p:nvPr/>
        </p:nvSpPr>
        <p:spPr>
          <a:xfrm>
            <a:off x="4805172" y="2176272"/>
            <a:ext cx="164820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brand.com/redeem with zip code, email and voucher code.</a:t>
            </a:r>
            <a:endParaRPr b="0" i="0" sz="950" u="none" cap="none" strike="noStrike">
              <a:solidFill>
                <a:schemeClr val="dk1"/>
              </a:solidFill>
              <a:latin typeface="Calibri"/>
              <a:ea typeface="Calibri"/>
              <a:cs typeface="Calibri"/>
              <a:sym typeface="Calibri"/>
            </a:endParaRPr>
          </a:p>
        </p:txBody>
      </p:sp>
      <p:sp>
        <p:nvSpPr>
          <p:cNvPr id="1060" name="Google Shape;1060;p49"/>
          <p:cNvSpPr/>
          <p:nvPr/>
        </p:nvSpPr>
        <p:spPr>
          <a:xfrm>
            <a:off x="6755130" y="1280160"/>
            <a:ext cx="197739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1" name="Google Shape;1061;p49"/>
          <p:cNvSpPr/>
          <p:nvPr/>
        </p:nvSpPr>
        <p:spPr>
          <a:xfrm>
            <a:off x="691972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62" name="Google Shape;1062;p49"/>
          <p:cNvPicPr preferRelativeResize="0"/>
          <p:nvPr/>
        </p:nvPicPr>
        <p:blipFill rotWithShape="1">
          <a:blip r:embed="rId6">
            <a:alphaModFix/>
          </a:blip>
          <a:srcRect b="0" l="0" r="0" t="0"/>
          <a:stretch/>
        </p:blipFill>
        <p:spPr>
          <a:xfrm>
            <a:off x="6998726" y="1523756"/>
            <a:ext cx="171176" cy="171176"/>
          </a:xfrm>
          <a:prstGeom prst="rect">
            <a:avLst/>
          </a:prstGeom>
          <a:noFill/>
          <a:ln>
            <a:noFill/>
          </a:ln>
        </p:spPr>
      </p:pic>
      <p:sp>
        <p:nvSpPr>
          <p:cNvPr id="1063" name="Google Shape;1063;p49"/>
          <p:cNvSpPr txBox="1"/>
          <p:nvPr/>
        </p:nvSpPr>
        <p:spPr>
          <a:xfrm>
            <a:off x="691972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One per household</a:t>
            </a:r>
            <a:endParaRPr b="0" i="0" sz="1200" u="none" cap="none" strike="noStrike">
              <a:solidFill>
                <a:schemeClr val="dk1"/>
              </a:solidFill>
              <a:latin typeface="Calibri"/>
              <a:ea typeface="Calibri"/>
              <a:cs typeface="Calibri"/>
              <a:sym typeface="Calibri"/>
            </a:endParaRPr>
          </a:p>
        </p:txBody>
      </p:sp>
      <p:sp>
        <p:nvSpPr>
          <p:cNvPr id="1064" name="Google Shape;1064;p49"/>
          <p:cNvSpPr txBox="1"/>
          <p:nvPr/>
        </p:nvSpPr>
        <p:spPr>
          <a:xfrm>
            <a:off x="6919722" y="2176272"/>
            <a:ext cx="164820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Only one paid voucher per address.</a:t>
            </a:r>
            <a:endParaRPr b="0" i="0" sz="950" u="none" cap="none" strike="noStrike">
              <a:solidFill>
                <a:schemeClr val="dk1"/>
              </a:solidFill>
              <a:latin typeface="Calibri"/>
              <a:ea typeface="Calibri"/>
              <a:cs typeface="Calibri"/>
              <a:sym typeface="Calibri"/>
            </a:endParaRPr>
          </a:p>
        </p:txBody>
      </p:sp>
      <p:sp>
        <p:nvSpPr>
          <p:cNvPr id="1065" name="Google Shape;1065;p4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sp>
        <p:nvSpPr>
          <p:cNvPr id="1071" name="Google Shape;1071;p5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VOUCHERS IN CRM</a:t>
            </a:r>
            <a:endParaRPr b="0" i="0" sz="800" u="none" cap="none" strike="noStrike">
              <a:solidFill>
                <a:schemeClr val="dk1"/>
              </a:solidFill>
              <a:latin typeface="Calibri"/>
              <a:ea typeface="Calibri"/>
              <a:cs typeface="Calibri"/>
              <a:sym typeface="Calibri"/>
            </a:endParaRPr>
          </a:p>
        </p:txBody>
      </p:sp>
      <p:sp>
        <p:nvSpPr>
          <p:cNvPr id="1072" name="Google Shape;1072;p5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Reading a voucher in the new CRM</a:t>
            </a:r>
            <a:endParaRPr b="0" i="0" sz="2400" u="none" cap="none" strike="noStrike">
              <a:solidFill>
                <a:schemeClr val="dk1"/>
              </a:solidFill>
              <a:latin typeface="Calibri"/>
              <a:ea typeface="Calibri"/>
              <a:cs typeface="Calibri"/>
              <a:sym typeface="Calibri"/>
            </a:endParaRPr>
          </a:p>
        </p:txBody>
      </p:sp>
      <p:sp>
        <p:nvSpPr>
          <p:cNvPr id="1073" name="Google Shape;1073;p5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Once redeemed, the voucher shows on the customer's account.</a:t>
            </a:r>
            <a:endParaRPr b="0" i="0" sz="1200" u="none" cap="none" strike="noStrike">
              <a:solidFill>
                <a:schemeClr val="dk1"/>
              </a:solidFill>
              <a:latin typeface="Calibri"/>
              <a:ea typeface="Calibri"/>
              <a:cs typeface="Calibri"/>
              <a:sym typeface="Calibri"/>
            </a:endParaRPr>
          </a:p>
        </p:txBody>
      </p:sp>
      <p:sp>
        <p:nvSpPr>
          <p:cNvPr id="1074" name="Google Shape;1074;p50"/>
          <p:cNvSpPr/>
          <p:nvPr/>
        </p:nvSpPr>
        <p:spPr>
          <a:xfrm>
            <a:off x="411480" y="1325880"/>
            <a:ext cx="8321040" cy="1965960"/>
          </a:xfrm>
          <a:prstGeom prst="roundRect">
            <a:avLst>
              <a:gd fmla="val 372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vouchers_newcrm.png" id="1075" name="Google Shape;1075;p50"/>
          <p:cNvPicPr preferRelativeResize="0"/>
          <p:nvPr/>
        </p:nvPicPr>
        <p:blipFill rotWithShape="1">
          <a:blip r:embed="rId3">
            <a:alphaModFix/>
          </a:blip>
          <a:srcRect b="0" l="0" r="0" t="0"/>
          <a:stretch/>
        </p:blipFill>
        <p:spPr>
          <a:xfrm>
            <a:off x="484632" y="1404334"/>
            <a:ext cx="8174736" cy="1809051"/>
          </a:xfrm>
          <a:prstGeom prst="rect">
            <a:avLst/>
          </a:prstGeom>
          <a:noFill/>
          <a:ln>
            <a:noFill/>
          </a:ln>
        </p:spPr>
      </p:pic>
      <p:sp>
        <p:nvSpPr>
          <p:cNvPr id="1076" name="Google Shape;1076;p50"/>
          <p:cNvSpPr/>
          <p:nvPr/>
        </p:nvSpPr>
        <p:spPr>
          <a:xfrm>
            <a:off x="634253" y="1921206"/>
            <a:ext cx="2026682" cy="652891"/>
          </a:xfrm>
          <a:prstGeom prst="roundRect">
            <a:avLst>
              <a:gd fmla="val 4202"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50"/>
          <p:cNvSpPr/>
          <p:nvPr/>
        </p:nvSpPr>
        <p:spPr>
          <a:xfrm>
            <a:off x="533669" y="1820622"/>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50"/>
          <p:cNvSpPr txBox="1"/>
          <p:nvPr/>
        </p:nvSpPr>
        <p:spPr>
          <a:xfrm>
            <a:off x="533669" y="1820622"/>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
        <p:nvSpPr>
          <p:cNvPr id="1079" name="Google Shape;1079;p50"/>
          <p:cNvSpPr/>
          <p:nvPr/>
        </p:nvSpPr>
        <p:spPr>
          <a:xfrm>
            <a:off x="2660934" y="1921206"/>
            <a:ext cx="979336" cy="652891"/>
          </a:xfrm>
          <a:prstGeom prst="roundRect">
            <a:avLst>
              <a:gd fmla="val 4202"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p50"/>
          <p:cNvSpPr/>
          <p:nvPr/>
        </p:nvSpPr>
        <p:spPr>
          <a:xfrm>
            <a:off x="2560350" y="1820622"/>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1" name="Google Shape;1081;p50"/>
          <p:cNvSpPr txBox="1"/>
          <p:nvPr/>
        </p:nvSpPr>
        <p:spPr>
          <a:xfrm>
            <a:off x="2560350" y="1820622"/>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2</a:t>
            </a:r>
            <a:endParaRPr b="0" i="0" sz="800" u="none" cap="none" strike="noStrike">
              <a:solidFill>
                <a:schemeClr val="dk1"/>
              </a:solidFill>
              <a:latin typeface="Calibri"/>
              <a:ea typeface="Calibri"/>
              <a:cs typeface="Calibri"/>
              <a:sym typeface="Calibri"/>
            </a:endParaRPr>
          </a:p>
        </p:txBody>
      </p:sp>
      <p:sp>
        <p:nvSpPr>
          <p:cNvPr id="1082" name="Google Shape;1082;p50"/>
          <p:cNvSpPr/>
          <p:nvPr/>
        </p:nvSpPr>
        <p:spPr>
          <a:xfrm>
            <a:off x="3640271" y="1921206"/>
            <a:ext cx="1441800" cy="652891"/>
          </a:xfrm>
          <a:prstGeom prst="roundRect">
            <a:avLst>
              <a:gd fmla="val 4202"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3" name="Google Shape;1083;p50"/>
          <p:cNvSpPr/>
          <p:nvPr/>
        </p:nvSpPr>
        <p:spPr>
          <a:xfrm>
            <a:off x="3539687" y="1820622"/>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p50"/>
          <p:cNvSpPr txBox="1"/>
          <p:nvPr/>
        </p:nvSpPr>
        <p:spPr>
          <a:xfrm>
            <a:off x="3539687" y="1820622"/>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3</a:t>
            </a:r>
            <a:endParaRPr b="0" i="0" sz="800" u="none" cap="none" strike="noStrike">
              <a:solidFill>
                <a:schemeClr val="dk1"/>
              </a:solidFill>
              <a:latin typeface="Calibri"/>
              <a:ea typeface="Calibri"/>
              <a:cs typeface="Calibri"/>
              <a:sym typeface="Calibri"/>
            </a:endParaRPr>
          </a:p>
        </p:txBody>
      </p:sp>
      <p:sp>
        <p:nvSpPr>
          <p:cNvPr id="1085" name="Google Shape;1085;p50"/>
          <p:cNvSpPr/>
          <p:nvPr/>
        </p:nvSpPr>
        <p:spPr>
          <a:xfrm>
            <a:off x="5082071" y="1921206"/>
            <a:ext cx="2067487" cy="748104"/>
          </a:xfrm>
          <a:prstGeom prst="roundRect">
            <a:avLst>
              <a:gd fmla="val 3667"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p50"/>
          <p:cNvSpPr/>
          <p:nvPr/>
        </p:nvSpPr>
        <p:spPr>
          <a:xfrm>
            <a:off x="4981487" y="1820622"/>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7" name="Google Shape;1087;p50"/>
          <p:cNvSpPr txBox="1"/>
          <p:nvPr/>
        </p:nvSpPr>
        <p:spPr>
          <a:xfrm>
            <a:off x="4981487" y="1820622"/>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4</a:t>
            </a:r>
            <a:endParaRPr b="0" i="0" sz="800" u="none" cap="none" strike="noStrike">
              <a:solidFill>
                <a:schemeClr val="dk1"/>
              </a:solidFill>
              <a:latin typeface="Calibri"/>
              <a:ea typeface="Calibri"/>
              <a:cs typeface="Calibri"/>
              <a:sym typeface="Calibri"/>
            </a:endParaRPr>
          </a:p>
        </p:txBody>
      </p:sp>
      <p:sp>
        <p:nvSpPr>
          <p:cNvPr id="1088" name="Google Shape;1088;p50"/>
          <p:cNvSpPr/>
          <p:nvPr/>
        </p:nvSpPr>
        <p:spPr>
          <a:xfrm>
            <a:off x="7149558" y="1921206"/>
            <a:ext cx="1428198" cy="652891"/>
          </a:xfrm>
          <a:prstGeom prst="roundRect">
            <a:avLst>
              <a:gd fmla="val 4202"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9" name="Google Shape;1089;p50"/>
          <p:cNvSpPr/>
          <p:nvPr/>
        </p:nvSpPr>
        <p:spPr>
          <a:xfrm>
            <a:off x="7048974" y="1820622"/>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50"/>
          <p:cNvSpPr txBox="1"/>
          <p:nvPr/>
        </p:nvSpPr>
        <p:spPr>
          <a:xfrm>
            <a:off x="7048974" y="1820622"/>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5</a:t>
            </a:r>
            <a:endParaRPr b="0" i="0" sz="800" u="none" cap="none" strike="noStrike">
              <a:solidFill>
                <a:schemeClr val="dk1"/>
              </a:solidFill>
              <a:latin typeface="Calibri"/>
              <a:ea typeface="Calibri"/>
              <a:cs typeface="Calibri"/>
              <a:sym typeface="Calibri"/>
            </a:endParaRPr>
          </a:p>
        </p:txBody>
      </p:sp>
      <p:sp>
        <p:nvSpPr>
          <p:cNvPr id="1091" name="Google Shape;1091;p50"/>
          <p:cNvSpPr/>
          <p:nvPr/>
        </p:nvSpPr>
        <p:spPr>
          <a:xfrm>
            <a:off x="607049" y="2642106"/>
            <a:ext cx="2597961" cy="258436"/>
          </a:xfrm>
          <a:prstGeom prst="roundRect">
            <a:avLst>
              <a:gd fmla="val 10615"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p50"/>
          <p:cNvSpPr/>
          <p:nvPr/>
        </p:nvSpPr>
        <p:spPr>
          <a:xfrm>
            <a:off x="506465" y="2541522"/>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3" name="Google Shape;1093;p50"/>
          <p:cNvSpPr txBox="1"/>
          <p:nvPr/>
        </p:nvSpPr>
        <p:spPr>
          <a:xfrm>
            <a:off x="506465" y="2541522"/>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6</a:t>
            </a:r>
            <a:endParaRPr b="0" i="0" sz="800" u="none" cap="none" strike="noStrike">
              <a:solidFill>
                <a:schemeClr val="dk1"/>
              </a:solidFill>
              <a:latin typeface="Calibri"/>
              <a:ea typeface="Calibri"/>
              <a:cs typeface="Calibri"/>
              <a:sym typeface="Calibri"/>
            </a:endParaRPr>
          </a:p>
        </p:txBody>
      </p:sp>
      <p:sp>
        <p:nvSpPr>
          <p:cNvPr id="1094" name="Google Shape;1094;p50"/>
          <p:cNvSpPr/>
          <p:nvPr/>
        </p:nvSpPr>
        <p:spPr>
          <a:xfrm>
            <a:off x="411480" y="3429000"/>
            <a:ext cx="269748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5" name="Google Shape;1095;p50"/>
          <p:cNvSpPr/>
          <p:nvPr/>
        </p:nvSpPr>
        <p:spPr>
          <a:xfrm>
            <a:off x="539496" y="352958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p50"/>
          <p:cNvSpPr txBox="1"/>
          <p:nvPr/>
        </p:nvSpPr>
        <p:spPr>
          <a:xfrm>
            <a:off x="539496" y="352958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097" name="Google Shape;1097;p50"/>
          <p:cNvSpPr txBox="1"/>
          <p:nvPr/>
        </p:nvSpPr>
        <p:spPr>
          <a:xfrm>
            <a:off x="914400" y="3474720"/>
            <a:ext cx="2103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Code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16-letter redemption code</a:t>
            </a:r>
            <a:endParaRPr b="0" i="0" sz="1050" u="none" cap="none" strike="noStrike">
              <a:solidFill>
                <a:schemeClr val="dk1"/>
              </a:solidFill>
              <a:latin typeface="Calibri"/>
              <a:ea typeface="Calibri"/>
              <a:cs typeface="Calibri"/>
              <a:sym typeface="Calibri"/>
            </a:endParaRPr>
          </a:p>
        </p:txBody>
      </p:sp>
      <p:sp>
        <p:nvSpPr>
          <p:cNvPr id="1098" name="Google Shape;1098;p50"/>
          <p:cNvSpPr/>
          <p:nvPr/>
        </p:nvSpPr>
        <p:spPr>
          <a:xfrm>
            <a:off x="411480" y="3977640"/>
            <a:ext cx="269748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p50"/>
          <p:cNvSpPr/>
          <p:nvPr/>
        </p:nvSpPr>
        <p:spPr>
          <a:xfrm>
            <a:off x="539496" y="407822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0" name="Google Shape;1100;p50"/>
          <p:cNvSpPr txBox="1"/>
          <p:nvPr/>
        </p:nvSpPr>
        <p:spPr>
          <a:xfrm>
            <a:off x="539496" y="407822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101" name="Google Shape;1101;p50"/>
          <p:cNvSpPr txBox="1"/>
          <p:nvPr/>
        </p:nvSpPr>
        <p:spPr>
          <a:xfrm>
            <a:off x="914400" y="4023360"/>
            <a:ext cx="2103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Merchant</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The voucher type (dhj, groupon…)</a:t>
            </a:r>
            <a:endParaRPr b="0" i="0" sz="1050" u="none" cap="none" strike="noStrike">
              <a:solidFill>
                <a:schemeClr val="dk1"/>
              </a:solidFill>
              <a:latin typeface="Calibri"/>
              <a:ea typeface="Calibri"/>
              <a:cs typeface="Calibri"/>
              <a:sym typeface="Calibri"/>
            </a:endParaRPr>
          </a:p>
        </p:txBody>
      </p:sp>
      <p:sp>
        <p:nvSpPr>
          <p:cNvPr id="1102" name="Google Shape;1102;p50"/>
          <p:cNvSpPr/>
          <p:nvPr/>
        </p:nvSpPr>
        <p:spPr>
          <a:xfrm>
            <a:off x="3227832" y="3429000"/>
            <a:ext cx="269748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3" name="Google Shape;1103;p50"/>
          <p:cNvSpPr/>
          <p:nvPr/>
        </p:nvSpPr>
        <p:spPr>
          <a:xfrm>
            <a:off x="3355848" y="352958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50"/>
          <p:cNvSpPr txBox="1"/>
          <p:nvPr/>
        </p:nvSpPr>
        <p:spPr>
          <a:xfrm>
            <a:off x="3355848" y="352958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105" name="Google Shape;1105;p50"/>
          <p:cNvSpPr txBox="1"/>
          <p:nvPr/>
        </p:nvSpPr>
        <p:spPr>
          <a:xfrm>
            <a:off x="3730752" y="3474720"/>
            <a:ext cx="2103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Price &amp; hours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Paid amount and duration</a:t>
            </a:r>
            <a:endParaRPr b="0" i="0" sz="1050" u="none" cap="none" strike="noStrike">
              <a:solidFill>
                <a:schemeClr val="dk1"/>
              </a:solidFill>
              <a:latin typeface="Calibri"/>
              <a:ea typeface="Calibri"/>
              <a:cs typeface="Calibri"/>
              <a:sym typeface="Calibri"/>
            </a:endParaRPr>
          </a:p>
        </p:txBody>
      </p:sp>
      <p:sp>
        <p:nvSpPr>
          <p:cNvPr id="1106" name="Google Shape;1106;p50"/>
          <p:cNvSpPr/>
          <p:nvPr/>
        </p:nvSpPr>
        <p:spPr>
          <a:xfrm>
            <a:off x="3227832" y="3977640"/>
            <a:ext cx="269748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7" name="Google Shape;1107;p50"/>
          <p:cNvSpPr/>
          <p:nvPr/>
        </p:nvSpPr>
        <p:spPr>
          <a:xfrm>
            <a:off x="3355848" y="407822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8" name="Google Shape;1108;p50"/>
          <p:cNvSpPr txBox="1"/>
          <p:nvPr/>
        </p:nvSpPr>
        <p:spPr>
          <a:xfrm>
            <a:off x="3355848" y="407822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1109" name="Google Shape;1109;p50"/>
          <p:cNvSpPr txBox="1"/>
          <p:nvPr/>
        </p:nvSpPr>
        <p:spPr>
          <a:xfrm>
            <a:off x="3730752" y="4023360"/>
            <a:ext cx="2103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Purchased &amp; expires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When it was bought, when it ends</a:t>
            </a:r>
            <a:endParaRPr b="0" i="0" sz="1050" u="none" cap="none" strike="noStrike">
              <a:solidFill>
                <a:schemeClr val="dk1"/>
              </a:solidFill>
              <a:latin typeface="Calibri"/>
              <a:ea typeface="Calibri"/>
              <a:cs typeface="Calibri"/>
              <a:sym typeface="Calibri"/>
            </a:endParaRPr>
          </a:p>
        </p:txBody>
      </p:sp>
      <p:sp>
        <p:nvSpPr>
          <p:cNvPr id="1110" name="Google Shape;1110;p50"/>
          <p:cNvSpPr/>
          <p:nvPr/>
        </p:nvSpPr>
        <p:spPr>
          <a:xfrm>
            <a:off x="6035040" y="3429000"/>
            <a:ext cx="269748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p50"/>
          <p:cNvSpPr/>
          <p:nvPr/>
        </p:nvSpPr>
        <p:spPr>
          <a:xfrm>
            <a:off x="6163056" y="352958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50"/>
          <p:cNvSpPr txBox="1"/>
          <p:nvPr/>
        </p:nvSpPr>
        <p:spPr>
          <a:xfrm>
            <a:off x="6163056" y="352958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5</a:t>
            </a:r>
            <a:endParaRPr b="0" i="0" sz="900" u="none" cap="none" strike="noStrike">
              <a:solidFill>
                <a:schemeClr val="dk1"/>
              </a:solidFill>
              <a:latin typeface="Calibri"/>
              <a:ea typeface="Calibri"/>
              <a:cs typeface="Calibri"/>
              <a:sym typeface="Calibri"/>
            </a:endParaRPr>
          </a:p>
        </p:txBody>
      </p:sp>
      <p:sp>
        <p:nvSpPr>
          <p:cNvPr id="1113" name="Google Shape;1113;p50"/>
          <p:cNvSpPr txBox="1"/>
          <p:nvPr/>
        </p:nvSpPr>
        <p:spPr>
          <a:xfrm>
            <a:off x="6537960" y="3474720"/>
            <a:ext cx="2103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FC &amp; refund</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Tied to FC? Refunded?</a:t>
            </a:r>
            <a:endParaRPr b="0" i="0" sz="1050" u="none" cap="none" strike="noStrike">
              <a:solidFill>
                <a:schemeClr val="dk1"/>
              </a:solidFill>
              <a:latin typeface="Calibri"/>
              <a:ea typeface="Calibri"/>
              <a:cs typeface="Calibri"/>
              <a:sym typeface="Calibri"/>
            </a:endParaRPr>
          </a:p>
        </p:txBody>
      </p:sp>
      <p:sp>
        <p:nvSpPr>
          <p:cNvPr id="1114" name="Google Shape;1114;p50"/>
          <p:cNvSpPr/>
          <p:nvPr/>
        </p:nvSpPr>
        <p:spPr>
          <a:xfrm>
            <a:off x="6035040" y="3977640"/>
            <a:ext cx="2697480" cy="457200"/>
          </a:xfrm>
          <a:prstGeom prst="roundRect">
            <a:avLst>
              <a:gd fmla="val 16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5" name="Google Shape;1115;p50"/>
          <p:cNvSpPr/>
          <p:nvPr/>
        </p:nvSpPr>
        <p:spPr>
          <a:xfrm>
            <a:off x="6163056" y="4078224"/>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6" name="Google Shape;1116;p50"/>
          <p:cNvSpPr txBox="1"/>
          <p:nvPr/>
        </p:nvSpPr>
        <p:spPr>
          <a:xfrm>
            <a:off x="6163056" y="4078224"/>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6</a:t>
            </a:r>
            <a:endParaRPr b="0" i="0" sz="900" u="none" cap="none" strike="noStrike">
              <a:solidFill>
                <a:schemeClr val="dk1"/>
              </a:solidFill>
              <a:latin typeface="Calibri"/>
              <a:ea typeface="Calibri"/>
              <a:cs typeface="Calibri"/>
              <a:sym typeface="Calibri"/>
            </a:endParaRPr>
          </a:p>
        </p:txBody>
      </p:sp>
      <p:sp>
        <p:nvSpPr>
          <p:cNvPr id="1117" name="Google Shape;1117;p50"/>
          <p:cNvSpPr txBox="1"/>
          <p:nvPr/>
        </p:nvSpPr>
        <p:spPr>
          <a:xfrm>
            <a:off x="6537960" y="4023360"/>
            <a:ext cx="21031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Actions</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Issue a voucher, or open legacy CRM</a:t>
            </a:r>
            <a:endParaRPr b="0" i="0" sz="1050" u="none" cap="none" strike="noStrike">
              <a:solidFill>
                <a:schemeClr val="dk1"/>
              </a:solidFill>
              <a:latin typeface="Calibri"/>
              <a:ea typeface="Calibri"/>
              <a:cs typeface="Calibri"/>
              <a:sym typeface="Calibri"/>
            </a:endParaRPr>
          </a:p>
        </p:txBody>
      </p:sp>
      <p:sp>
        <p:nvSpPr>
          <p:cNvPr id="1118" name="Google Shape;1118;p5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5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VOUCHERS IN CRM</a:t>
            </a:r>
            <a:endParaRPr b="0" i="0" sz="800" u="none" cap="none" strike="noStrike">
              <a:solidFill>
                <a:schemeClr val="dk1"/>
              </a:solidFill>
              <a:latin typeface="Calibri"/>
              <a:ea typeface="Calibri"/>
              <a:cs typeface="Calibri"/>
              <a:sym typeface="Calibri"/>
            </a:endParaRPr>
          </a:p>
        </p:txBody>
      </p:sp>
      <p:sp>
        <p:nvSpPr>
          <p:cNvPr id="1125" name="Google Shape;1125;p5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Voucher status</a:t>
            </a:r>
            <a:endParaRPr b="0" i="0" sz="2400" u="none" cap="none" strike="noStrike">
              <a:solidFill>
                <a:schemeClr val="dk1"/>
              </a:solidFill>
              <a:latin typeface="Calibri"/>
              <a:ea typeface="Calibri"/>
              <a:cs typeface="Calibri"/>
              <a:sym typeface="Calibri"/>
            </a:endParaRPr>
          </a:p>
        </p:txBody>
      </p:sp>
      <p:sp>
        <p:nvSpPr>
          <p:cNvPr id="1126" name="Google Shape;1126;p5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In the legacy CRM, the color tells you where the voucher stands.</a:t>
            </a:r>
            <a:endParaRPr b="0" i="0" sz="1200" u="none" cap="none" strike="noStrike">
              <a:solidFill>
                <a:schemeClr val="dk1"/>
              </a:solidFill>
              <a:latin typeface="Calibri"/>
              <a:ea typeface="Calibri"/>
              <a:cs typeface="Calibri"/>
              <a:sym typeface="Calibri"/>
            </a:endParaRPr>
          </a:p>
        </p:txBody>
      </p:sp>
      <p:sp>
        <p:nvSpPr>
          <p:cNvPr id="1127" name="Google Shape;1127;p51"/>
          <p:cNvSpPr/>
          <p:nvPr/>
        </p:nvSpPr>
        <p:spPr>
          <a:xfrm>
            <a:off x="411480" y="1325880"/>
            <a:ext cx="2606040"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8" name="Google Shape;1128;p51"/>
          <p:cNvSpPr/>
          <p:nvPr/>
        </p:nvSpPr>
        <p:spPr>
          <a:xfrm>
            <a:off x="548640" y="15544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29" name="Google Shape;1129;p51"/>
          <p:cNvPicPr preferRelativeResize="0"/>
          <p:nvPr/>
        </p:nvPicPr>
        <p:blipFill rotWithShape="1">
          <a:blip r:embed="rId3">
            <a:alphaModFix/>
          </a:blip>
          <a:srcRect b="0" l="0" r="0" t="0"/>
          <a:stretch/>
        </p:blipFill>
        <p:spPr>
          <a:xfrm>
            <a:off x="640812" y="1646652"/>
            <a:ext cx="199705" cy="199705"/>
          </a:xfrm>
          <a:prstGeom prst="rect">
            <a:avLst/>
          </a:prstGeom>
          <a:noFill/>
          <a:ln>
            <a:noFill/>
          </a:ln>
        </p:spPr>
      </p:pic>
      <p:sp>
        <p:nvSpPr>
          <p:cNvPr id="1130" name="Google Shape;1130;p51"/>
          <p:cNvSpPr txBox="1"/>
          <p:nvPr/>
        </p:nvSpPr>
        <p:spPr>
          <a:xfrm>
            <a:off x="1024128" y="1380744"/>
            <a:ext cx="19202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Unused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Orange tag. Applies to the next invoiced job.</a:t>
            </a:r>
            <a:endParaRPr b="0" i="0" sz="1200" u="none" cap="none" strike="noStrike">
              <a:solidFill>
                <a:schemeClr val="dk1"/>
              </a:solidFill>
              <a:latin typeface="Calibri"/>
              <a:ea typeface="Calibri"/>
              <a:cs typeface="Calibri"/>
              <a:sym typeface="Calibri"/>
            </a:endParaRPr>
          </a:p>
        </p:txBody>
      </p:sp>
      <p:sp>
        <p:nvSpPr>
          <p:cNvPr id="1131" name="Google Shape;1131;p51"/>
          <p:cNvSpPr/>
          <p:nvPr/>
        </p:nvSpPr>
        <p:spPr>
          <a:xfrm>
            <a:off x="3127248" y="1325880"/>
            <a:ext cx="5605272"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v_unused.png" id="1132" name="Google Shape;1132;p51"/>
          <p:cNvPicPr preferRelativeResize="0"/>
          <p:nvPr/>
        </p:nvPicPr>
        <p:blipFill rotWithShape="1">
          <a:blip r:embed="rId4">
            <a:alphaModFix/>
          </a:blip>
          <a:srcRect b="0" l="0" r="0" t="0"/>
          <a:stretch/>
        </p:blipFill>
        <p:spPr>
          <a:xfrm>
            <a:off x="3236976" y="1399032"/>
            <a:ext cx="3722234" cy="694944"/>
          </a:xfrm>
          <a:prstGeom prst="rect">
            <a:avLst/>
          </a:prstGeom>
          <a:noFill/>
          <a:ln>
            <a:noFill/>
          </a:ln>
        </p:spPr>
      </p:pic>
      <p:sp>
        <p:nvSpPr>
          <p:cNvPr id="1133" name="Google Shape;1133;p51"/>
          <p:cNvSpPr/>
          <p:nvPr/>
        </p:nvSpPr>
        <p:spPr>
          <a:xfrm>
            <a:off x="411480" y="2258568"/>
            <a:ext cx="2606040"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4" name="Google Shape;1134;p51"/>
          <p:cNvSpPr/>
          <p:nvPr/>
        </p:nvSpPr>
        <p:spPr>
          <a:xfrm>
            <a:off x="548640" y="2487168"/>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35" name="Google Shape;1135;p51"/>
          <p:cNvPicPr preferRelativeResize="0"/>
          <p:nvPr/>
        </p:nvPicPr>
        <p:blipFill rotWithShape="1">
          <a:blip r:embed="rId5">
            <a:alphaModFix/>
          </a:blip>
          <a:srcRect b="0" l="0" r="0" t="0"/>
          <a:stretch/>
        </p:blipFill>
        <p:spPr>
          <a:xfrm>
            <a:off x="640812" y="2579340"/>
            <a:ext cx="199705" cy="199705"/>
          </a:xfrm>
          <a:prstGeom prst="rect">
            <a:avLst/>
          </a:prstGeom>
          <a:noFill/>
          <a:ln>
            <a:noFill/>
          </a:ln>
        </p:spPr>
      </p:pic>
      <p:sp>
        <p:nvSpPr>
          <p:cNvPr id="1136" name="Google Shape;1136;p51"/>
          <p:cNvSpPr txBox="1"/>
          <p:nvPr/>
        </p:nvSpPr>
        <p:spPr>
          <a:xfrm>
            <a:off x="1024128" y="2313432"/>
            <a:ext cx="19202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Applied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Green tag with a check mark, job ID and date.</a:t>
            </a:r>
            <a:endParaRPr b="0" i="0" sz="1200" u="none" cap="none" strike="noStrike">
              <a:solidFill>
                <a:schemeClr val="dk1"/>
              </a:solidFill>
              <a:latin typeface="Calibri"/>
              <a:ea typeface="Calibri"/>
              <a:cs typeface="Calibri"/>
              <a:sym typeface="Calibri"/>
            </a:endParaRPr>
          </a:p>
        </p:txBody>
      </p:sp>
      <p:sp>
        <p:nvSpPr>
          <p:cNvPr id="1137" name="Google Shape;1137;p51"/>
          <p:cNvSpPr/>
          <p:nvPr/>
        </p:nvSpPr>
        <p:spPr>
          <a:xfrm>
            <a:off x="3127248" y="2258568"/>
            <a:ext cx="5605272"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v_applied.png" id="1138" name="Google Shape;1138;p51"/>
          <p:cNvPicPr preferRelativeResize="0"/>
          <p:nvPr/>
        </p:nvPicPr>
        <p:blipFill rotWithShape="1">
          <a:blip r:embed="rId6">
            <a:alphaModFix/>
          </a:blip>
          <a:srcRect b="0" l="0" r="0" t="0"/>
          <a:stretch/>
        </p:blipFill>
        <p:spPr>
          <a:xfrm>
            <a:off x="3236976" y="2372079"/>
            <a:ext cx="5394960" cy="614227"/>
          </a:xfrm>
          <a:prstGeom prst="rect">
            <a:avLst/>
          </a:prstGeom>
          <a:noFill/>
          <a:ln>
            <a:noFill/>
          </a:ln>
        </p:spPr>
      </p:pic>
      <p:sp>
        <p:nvSpPr>
          <p:cNvPr id="1139" name="Google Shape;1139;p51"/>
          <p:cNvSpPr/>
          <p:nvPr/>
        </p:nvSpPr>
        <p:spPr>
          <a:xfrm>
            <a:off x="411480" y="3191256"/>
            <a:ext cx="2606040"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0" name="Google Shape;1140;p51"/>
          <p:cNvSpPr/>
          <p:nvPr/>
        </p:nvSpPr>
        <p:spPr>
          <a:xfrm>
            <a:off x="548640" y="3419856"/>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41" name="Google Shape;1141;p51"/>
          <p:cNvPicPr preferRelativeResize="0"/>
          <p:nvPr/>
        </p:nvPicPr>
        <p:blipFill rotWithShape="1">
          <a:blip r:embed="rId7">
            <a:alphaModFix/>
          </a:blip>
          <a:srcRect b="0" l="0" r="0" t="0"/>
          <a:stretch/>
        </p:blipFill>
        <p:spPr>
          <a:xfrm>
            <a:off x="640812" y="3512028"/>
            <a:ext cx="199705" cy="199705"/>
          </a:xfrm>
          <a:prstGeom prst="rect">
            <a:avLst/>
          </a:prstGeom>
          <a:noFill/>
          <a:ln>
            <a:noFill/>
          </a:ln>
        </p:spPr>
      </p:pic>
      <p:sp>
        <p:nvSpPr>
          <p:cNvPr id="1142" name="Google Shape;1142;p51"/>
          <p:cNvSpPr txBox="1"/>
          <p:nvPr/>
        </p:nvSpPr>
        <p:spPr>
          <a:xfrm>
            <a:off x="1024128" y="3246120"/>
            <a:ext cx="192024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Grayed out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Canceled, invalidated, converted or expired. Reason next to the code.</a:t>
            </a:r>
            <a:endParaRPr b="0" i="0" sz="1200" u="none" cap="none" strike="noStrike">
              <a:solidFill>
                <a:schemeClr val="dk1"/>
              </a:solidFill>
              <a:latin typeface="Calibri"/>
              <a:ea typeface="Calibri"/>
              <a:cs typeface="Calibri"/>
              <a:sym typeface="Calibri"/>
            </a:endParaRPr>
          </a:p>
        </p:txBody>
      </p:sp>
      <p:sp>
        <p:nvSpPr>
          <p:cNvPr id="1143" name="Google Shape;1143;p51"/>
          <p:cNvSpPr/>
          <p:nvPr/>
        </p:nvSpPr>
        <p:spPr>
          <a:xfrm>
            <a:off x="3127248" y="3191256"/>
            <a:ext cx="5605272"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v_grayed.png" id="1144" name="Google Shape;1144;p51"/>
          <p:cNvPicPr preferRelativeResize="0"/>
          <p:nvPr/>
        </p:nvPicPr>
        <p:blipFill rotWithShape="1">
          <a:blip r:embed="rId8">
            <a:alphaModFix/>
          </a:blip>
          <a:srcRect b="0" l="0" r="0" t="0"/>
          <a:stretch/>
        </p:blipFill>
        <p:spPr>
          <a:xfrm>
            <a:off x="3236976" y="3264408"/>
            <a:ext cx="4552387" cy="694944"/>
          </a:xfrm>
          <a:prstGeom prst="rect">
            <a:avLst/>
          </a:prstGeom>
          <a:noFill/>
          <a:ln>
            <a:noFill/>
          </a:ln>
        </p:spPr>
      </p:pic>
      <p:sp>
        <p:nvSpPr>
          <p:cNvPr id="1145" name="Google Shape;1145;p51"/>
          <p:cNvSpPr/>
          <p:nvPr/>
        </p:nvSpPr>
        <p:spPr>
          <a:xfrm>
            <a:off x="411480" y="42062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46" name="Google Shape;1146;p51"/>
          <p:cNvPicPr preferRelativeResize="0"/>
          <p:nvPr/>
        </p:nvPicPr>
        <p:blipFill rotWithShape="1">
          <a:blip r:embed="rId9">
            <a:alphaModFix/>
          </a:blip>
          <a:srcRect b="0" l="0" r="0" t="0"/>
          <a:stretch/>
        </p:blipFill>
        <p:spPr>
          <a:xfrm>
            <a:off x="566928" y="4315968"/>
            <a:ext cx="164592" cy="164592"/>
          </a:xfrm>
          <a:prstGeom prst="rect">
            <a:avLst/>
          </a:prstGeom>
          <a:noFill/>
          <a:ln>
            <a:noFill/>
          </a:ln>
        </p:spPr>
      </p:pic>
      <p:sp>
        <p:nvSpPr>
          <p:cNvPr id="1147" name="Google Shape;1147;p51"/>
          <p:cNvSpPr txBox="1"/>
          <p:nvPr/>
        </p:nvSpPr>
        <p:spPr>
          <a:xfrm>
            <a:off x="822960" y="43068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Converted?  </a:t>
            </a:r>
            <a:r>
              <a:rPr b="0" i="0" lang="en" sz="1000" u="none" cap="none" strike="noStrike">
                <a:solidFill>
                  <a:srgbClr val="1D1D1F"/>
                </a:solidFill>
                <a:latin typeface="Arial"/>
                <a:ea typeface="Arial"/>
                <a:cs typeface="Arial"/>
                <a:sym typeface="Arial"/>
              </a:rPr>
              <a:t>the voucher was turned into credits equal to what the customer paid for it.</a:t>
            </a:r>
            <a:endParaRPr b="0" i="0" sz="1000" u="none" cap="none" strike="noStrike">
              <a:solidFill>
                <a:schemeClr val="dk1"/>
              </a:solidFill>
              <a:latin typeface="Calibri"/>
              <a:ea typeface="Calibri"/>
              <a:cs typeface="Calibri"/>
              <a:sym typeface="Calibri"/>
            </a:endParaRPr>
          </a:p>
        </p:txBody>
      </p:sp>
      <p:sp>
        <p:nvSpPr>
          <p:cNvPr id="1148" name="Google Shape;1148;p5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3" name="Shape 1153"/>
        <p:cNvGrpSpPr/>
        <p:nvPr/>
      </p:nvGrpSpPr>
      <p:grpSpPr>
        <a:xfrm>
          <a:off x="0" y="0"/>
          <a:ext cx="0" cy="0"/>
          <a:chOff x="0" y="0"/>
          <a:chExt cx="0" cy="0"/>
        </a:xfrm>
      </p:grpSpPr>
      <p:sp>
        <p:nvSpPr>
          <p:cNvPr id="1154" name="Google Shape;1154;p5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VOUCHERS IN CRM</a:t>
            </a:r>
            <a:endParaRPr b="0" i="0" sz="800" u="none" cap="none" strike="noStrike">
              <a:solidFill>
                <a:schemeClr val="dk1"/>
              </a:solidFill>
              <a:latin typeface="Calibri"/>
              <a:ea typeface="Calibri"/>
              <a:cs typeface="Calibri"/>
              <a:sym typeface="Calibri"/>
            </a:endParaRPr>
          </a:p>
        </p:txBody>
      </p:sp>
      <p:sp>
        <p:nvSpPr>
          <p:cNvPr id="1155" name="Google Shape;1155;p5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Voucher types at a glance</a:t>
            </a:r>
            <a:endParaRPr b="0" i="0" sz="2400" u="none" cap="none" strike="noStrike">
              <a:solidFill>
                <a:schemeClr val="dk1"/>
              </a:solidFill>
              <a:latin typeface="Calibri"/>
              <a:ea typeface="Calibri"/>
              <a:cs typeface="Calibri"/>
              <a:sym typeface="Calibri"/>
            </a:endParaRPr>
          </a:p>
        </p:txBody>
      </p:sp>
      <p:graphicFrame>
        <p:nvGraphicFramePr>
          <p:cNvPr id="1156" name="Google Shape;1156;p52"/>
          <p:cNvGraphicFramePr/>
          <p:nvPr/>
        </p:nvGraphicFramePr>
        <p:xfrm>
          <a:off x="411480" y="1097280"/>
          <a:ext cx="3000000" cy="3000000"/>
        </p:xfrm>
        <a:graphic>
          <a:graphicData uri="http://schemas.openxmlformats.org/drawingml/2006/table">
            <a:tbl>
              <a:tblPr>
                <a:noFill/>
                <a:tableStyleId>{1110B021-F78A-4E02-AF73-8366E27A90AE}</a:tableStyleId>
              </a:tblPr>
              <a:tblGrid>
                <a:gridCol w="1691650"/>
                <a:gridCol w="1417325"/>
                <a:gridCol w="1097275"/>
                <a:gridCol w="1920250"/>
                <a:gridCol w="914400"/>
                <a:gridCol w="1280150"/>
              </a:tblGrid>
              <a:tr h="329175">
                <a:tc>
                  <a:txBody>
                    <a:bodyPr/>
                    <a:lstStyle/>
                    <a:p>
                      <a:pPr indent="0" lvl="0" marL="0" marR="0" rtl="0" algn="l">
                        <a:lnSpc>
                          <a:spcPct val="100000"/>
                        </a:lnSpc>
                        <a:spcBef>
                          <a:spcPts val="0"/>
                        </a:spcBef>
                        <a:spcAft>
                          <a:spcPts val="0"/>
                        </a:spcAft>
                        <a:buClr>
                          <a:srgbClr val="0B7A6F"/>
                        </a:buClr>
                        <a:buSzPts val="850"/>
                        <a:buFont typeface="Play"/>
                        <a:buNone/>
                      </a:pPr>
                      <a:r>
                        <a:rPr b="1" lang="en" sz="850" u="none" cap="none" strike="noStrike">
                          <a:solidFill>
                            <a:srgbClr val="0B7A6F"/>
                          </a:solidFill>
                          <a:latin typeface="Play"/>
                          <a:ea typeface="Play"/>
                          <a:cs typeface="Play"/>
                          <a:sym typeface="Play"/>
                        </a:rPr>
                        <a:t>Type</a:t>
                      </a:r>
                      <a:endParaRPr sz="8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850"/>
                        <a:buFont typeface="Play"/>
                        <a:buNone/>
                      </a:pPr>
                      <a:r>
                        <a:rPr b="1" lang="en" sz="850" u="none" cap="none" strike="noStrike">
                          <a:solidFill>
                            <a:srgbClr val="0B7A6F"/>
                          </a:solidFill>
                          <a:latin typeface="Play"/>
                          <a:ea typeface="Play"/>
                          <a:cs typeface="Play"/>
                          <a:sym typeface="Play"/>
                        </a:rPr>
                        <a:t>Comes from</a:t>
                      </a:r>
                      <a:endParaRPr sz="8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850"/>
                        <a:buFont typeface="Play"/>
                        <a:buNone/>
                      </a:pPr>
                      <a:r>
                        <a:rPr b="1" lang="en" sz="850" u="none" cap="none" strike="noStrike">
                          <a:solidFill>
                            <a:srgbClr val="0B7A6F"/>
                          </a:solidFill>
                          <a:latin typeface="Play"/>
                          <a:ea typeface="Play"/>
                          <a:cs typeface="Play"/>
                          <a:sym typeface="Play"/>
                        </a:rPr>
                        <a:t>Invalidate?</a:t>
                      </a:r>
                      <a:endParaRPr sz="8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850"/>
                        <a:buFont typeface="Play"/>
                        <a:buNone/>
                      </a:pPr>
                      <a:r>
                        <a:rPr b="1" lang="en" sz="850" u="none" cap="none" strike="noStrike">
                          <a:solidFill>
                            <a:srgbClr val="0B7A6F"/>
                          </a:solidFill>
                          <a:latin typeface="Play"/>
                          <a:ea typeface="Play"/>
                          <a:cs typeface="Play"/>
                          <a:sym typeface="Play"/>
                        </a:rPr>
                        <a:t>Refund?</a:t>
                      </a:r>
                      <a:endParaRPr sz="8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850"/>
                        <a:buFont typeface="Play"/>
                        <a:buNone/>
                      </a:pPr>
                      <a:r>
                        <a:rPr b="1" lang="en" sz="850" u="none" cap="none" strike="noStrike">
                          <a:solidFill>
                            <a:srgbClr val="0B7A6F"/>
                          </a:solidFill>
                          <a:latin typeface="Play"/>
                          <a:ea typeface="Play"/>
                          <a:cs typeface="Play"/>
                          <a:sym typeface="Play"/>
                        </a:rPr>
                        <a:t>Expires</a:t>
                      </a:r>
                      <a:endParaRPr sz="8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850"/>
                        <a:buFont typeface="Play"/>
                        <a:buNone/>
                      </a:pPr>
                      <a:r>
                        <a:rPr b="1" lang="en" sz="850" u="none" cap="none" strike="noStrike">
                          <a:solidFill>
                            <a:srgbClr val="0B7A6F"/>
                          </a:solidFill>
                          <a:latin typeface="Play"/>
                          <a:ea typeface="Play"/>
                          <a:cs typeface="Play"/>
                          <a:sym typeface="Play"/>
                        </a:rPr>
                        <a:t>To credits?</a:t>
                      </a:r>
                      <a:endParaRPr sz="8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DHJ</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Customer purchase</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 (CRM)</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 (Dashboard ≤1 yr, CRM)</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Never</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 2nd DHJ</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DHJ Gift</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Referral</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 (CRM)</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No</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90 days</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No</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First-Time</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System</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 (CRM)</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No</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Never</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N/A</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Third-party (Groupon)</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Customer purchase</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90 days</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 on expiry</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HG 2nd</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Customer purchase</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No</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1 year</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Admin Courtesy</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CS / System</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 (CRM)</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No</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60 days</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No</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850"/>
                        <a:buFont typeface="Arial"/>
                        <a:buNone/>
                      </a:pPr>
                      <a:r>
                        <a:rPr b="1" lang="en" sz="850" u="none" cap="none" strike="noStrike">
                          <a:solidFill>
                            <a:srgbClr val="1D1D1F"/>
                          </a:solidFill>
                          <a:latin typeface="Arial"/>
                          <a:ea typeface="Arial"/>
                          <a:cs typeface="Arial"/>
                          <a:sym typeface="Arial"/>
                        </a:rPr>
                        <a:t>Homeaglow Gift Card</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Customer purchase</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 (CRM)</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Yes</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2 years</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850"/>
                        <a:buFont typeface="Arial"/>
                        <a:buNone/>
                      </a:pPr>
                      <a:r>
                        <a:rPr lang="en" sz="850" u="none" cap="none" strike="noStrike">
                          <a:solidFill>
                            <a:srgbClr val="6E6E73"/>
                          </a:solidFill>
                          <a:latin typeface="Arial"/>
                          <a:ea typeface="Arial"/>
                          <a:cs typeface="Arial"/>
                          <a:sym typeface="Arial"/>
                        </a:rPr>
                        <a:t>No</a:t>
                      </a:r>
                      <a:endParaRPr sz="8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157" name="Google Shape;1157;p5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5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VOUCHERS IN CRM</a:t>
            </a:r>
            <a:endParaRPr b="0" i="0" sz="800" u="none" cap="none" strike="noStrike">
              <a:solidFill>
                <a:schemeClr val="dk1"/>
              </a:solidFill>
              <a:latin typeface="Calibri"/>
              <a:ea typeface="Calibri"/>
              <a:cs typeface="Calibri"/>
              <a:sym typeface="Calibri"/>
            </a:endParaRPr>
          </a:p>
        </p:txBody>
      </p:sp>
      <p:sp>
        <p:nvSpPr>
          <p:cNvPr id="1164" name="Google Shape;1164;p5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Voucher types in the CRM (1 of 2)</a:t>
            </a:r>
            <a:endParaRPr b="0" i="0" sz="2400" u="none" cap="none" strike="noStrike">
              <a:solidFill>
                <a:schemeClr val="dk1"/>
              </a:solidFill>
              <a:latin typeface="Calibri"/>
              <a:ea typeface="Calibri"/>
              <a:cs typeface="Calibri"/>
              <a:sym typeface="Calibri"/>
            </a:endParaRPr>
          </a:p>
        </p:txBody>
      </p:sp>
      <p:sp>
        <p:nvSpPr>
          <p:cNvPr id="1165" name="Google Shape;1165;p53"/>
          <p:cNvSpPr/>
          <p:nvPr/>
        </p:nvSpPr>
        <p:spPr>
          <a:xfrm>
            <a:off x="411480" y="1097280"/>
            <a:ext cx="3246120"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6" name="Google Shape;1166;p53"/>
          <p:cNvSpPr/>
          <p:nvPr/>
        </p:nvSpPr>
        <p:spPr>
          <a:xfrm>
            <a:off x="548640" y="1371600"/>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7" name="Google Shape;1167;p53"/>
          <p:cNvSpPr txBox="1"/>
          <p:nvPr/>
        </p:nvSpPr>
        <p:spPr>
          <a:xfrm>
            <a:off x="548640" y="1371600"/>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168" name="Google Shape;1168;p53"/>
          <p:cNvSpPr txBox="1"/>
          <p:nvPr/>
        </p:nvSpPr>
        <p:spPr>
          <a:xfrm>
            <a:off x="960120" y="1133856"/>
            <a:ext cx="2633472" cy="7680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DHJ voucher</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Comes with a membership. The membership is only triggered once the voucher is used.</a:t>
            </a:r>
            <a:endParaRPr b="0" i="0" sz="1100" u="none" cap="none" strike="noStrike">
              <a:solidFill>
                <a:schemeClr val="dk1"/>
              </a:solidFill>
              <a:latin typeface="Calibri"/>
              <a:ea typeface="Calibri"/>
              <a:cs typeface="Calibri"/>
              <a:sym typeface="Calibri"/>
            </a:endParaRPr>
          </a:p>
        </p:txBody>
      </p:sp>
      <p:sp>
        <p:nvSpPr>
          <p:cNvPr id="1169" name="Google Shape;1169;p53"/>
          <p:cNvSpPr/>
          <p:nvPr/>
        </p:nvSpPr>
        <p:spPr>
          <a:xfrm>
            <a:off x="3749040" y="1097280"/>
            <a:ext cx="4983480"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0" name="Google Shape;1170;p53"/>
          <p:cNvSpPr txBox="1"/>
          <p:nvPr/>
        </p:nvSpPr>
        <p:spPr>
          <a:xfrm>
            <a:off x="3822192" y="1152144"/>
            <a:ext cx="658368" cy="338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750"/>
              <a:buFont typeface="Arial"/>
              <a:buNone/>
            </a:pPr>
            <a:r>
              <a:rPr b="1" i="0" lang="en" sz="750" u="none" cap="none" strike="noStrike">
                <a:solidFill>
                  <a:srgbClr val="0B7A6F"/>
                </a:solidFill>
                <a:latin typeface="Arial"/>
                <a:ea typeface="Arial"/>
                <a:cs typeface="Arial"/>
                <a:sym typeface="Arial"/>
              </a:rPr>
              <a:t>New CRM</a:t>
            </a:r>
            <a:endParaRPr b="0" i="0" sz="750" u="none" cap="none" strike="noStrike">
              <a:solidFill>
                <a:schemeClr val="dk1"/>
              </a:solidFill>
              <a:latin typeface="Calibri"/>
              <a:ea typeface="Calibri"/>
              <a:cs typeface="Calibri"/>
              <a:sym typeface="Calibri"/>
            </a:endParaRPr>
          </a:p>
        </p:txBody>
      </p:sp>
      <p:sp>
        <p:nvSpPr>
          <p:cNvPr id="1171" name="Google Shape;1171;p53"/>
          <p:cNvSpPr txBox="1"/>
          <p:nvPr/>
        </p:nvSpPr>
        <p:spPr>
          <a:xfrm>
            <a:off x="3822192" y="1545336"/>
            <a:ext cx="658368" cy="338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750"/>
              <a:buFont typeface="Arial"/>
              <a:buNone/>
            </a:pPr>
            <a:r>
              <a:rPr b="1" i="0" lang="en" sz="750" u="none" cap="none" strike="noStrike">
                <a:solidFill>
                  <a:srgbClr val="0B7A6F"/>
                </a:solidFill>
                <a:latin typeface="Arial"/>
                <a:ea typeface="Arial"/>
                <a:cs typeface="Arial"/>
                <a:sym typeface="Arial"/>
              </a:rPr>
              <a:t>Legacy</a:t>
            </a:r>
            <a:endParaRPr b="0" i="0" sz="750" u="none" cap="none" strike="noStrike">
              <a:solidFill>
                <a:schemeClr val="dk1"/>
              </a:solidFill>
              <a:latin typeface="Calibri"/>
              <a:ea typeface="Calibri"/>
              <a:cs typeface="Calibri"/>
              <a:sym typeface="Calibri"/>
            </a:endParaRPr>
          </a:p>
        </p:txBody>
      </p:sp>
      <p:sp>
        <p:nvSpPr>
          <p:cNvPr id="1172" name="Google Shape;1172;p53"/>
          <p:cNvSpPr/>
          <p:nvPr/>
        </p:nvSpPr>
        <p:spPr>
          <a:xfrm>
            <a:off x="411480" y="2002536"/>
            <a:ext cx="3246120"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53"/>
          <p:cNvSpPr/>
          <p:nvPr/>
        </p:nvSpPr>
        <p:spPr>
          <a:xfrm>
            <a:off x="548640" y="2276856"/>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53"/>
          <p:cNvSpPr txBox="1"/>
          <p:nvPr/>
        </p:nvSpPr>
        <p:spPr>
          <a:xfrm>
            <a:off x="548640" y="2276856"/>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175" name="Google Shape;1175;p53"/>
          <p:cNvSpPr txBox="1"/>
          <p:nvPr/>
        </p:nvSpPr>
        <p:spPr>
          <a:xfrm>
            <a:off x="960120" y="2039112"/>
            <a:ext cx="2633472" cy="7680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Free DHJ (new membership model)</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Membership starts at sign-up: $19 discounted first MF, a free 3-hour cleaning, or a discounted first cleaning for longer jobs.</a:t>
            </a:r>
            <a:endParaRPr b="0" i="0" sz="1100" u="none" cap="none" strike="noStrike">
              <a:solidFill>
                <a:schemeClr val="dk1"/>
              </a:solidFill>
              <a:latin typeface="Calibri"/>
              <a:ea typeface="Calibri"/>
              <a:cs typeface="Calibri"/>
              <a:sym typeface="Calibri"/>
            </a:endParaRPr>
          </a:p>
        </p:txBody>
      </p:sp>
      <p:sp>
        <p:nvSpPr>
          <p:cNvPr id="1176" name="Google Shape;1176;p53"/>
          <p:cNvSpPr/>
          <p:nvPr/>
        </p:nvSpPr>
        <p:spPr>
          <a:xfrm>
            <a:off x="3749040" y="2002536"/>
            <a:ext cx="4983480"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7" name="Google Shape;1177;p53"/>
          <p:cNvSpPr txBox="1"/>
          <p:nvPr/>
        </p:nvSpPr>
        <p:spPr>
          <a:xfrm>
            <a:off x="3822192" y="2057400"/>
            <a:ext cx="658368" cy="338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750"/>
              <a:buFont typeface="Arial"/>
              <a:buNone/>
            </a:pPr>
            <a:r>
              <a:rPr b="1" i="0" lang="en" sz="750" u="none" cap="none" strike="noStrike">
                <a:solidFill>
                  <a:srgbClr val="0B7A6F"/>
                </a:solidFill>
                <a:latin typeface="Arial"/>
                <a:ea typeface="Arial"/>
                <a:cs typeface="Arial"/>
                <a:sym typeface="Arial"/>
              </a:rPr>
              <a:t>New CRM</a:t>
            </a:r>
            <a:endParaRPr b="0" i="0" sz="750" u="none" cap="none" strike="noStrike">
              <a:solidFill>
                <a:schemeClr val="dk1"/>
              </a:solidFill>
              <a:latin typeface="Calibri"/>
              <a:ea typeface="Calibri"/>
              <a:cs typeface="Calibri"/>
              <a:sym typeface="Calibri"/>
            </a:endParaRPr>
          </a:p>
        </p:txBody>
      </p:sp>
      <p:sp>
        <p:nvSpPr>
          <p:cNvPr id="1178" name="Google Shape;1178;p53"/>
          <p:cNvSpPr txBox="1"/>
          <p:nvPr/>
        </p:nvSpPr>
        <p:spPr>
          <a:xfrm>
            <a:off x="3822192" y="2450592"/>
            <a:ext cx="658368" cy="3383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750"/>
              <a:buFont typeface="Arial"/>
              <a:buNone/>
            </a:pPr>
            <a:r>
              <a:rPr b="1" i="0" lang="en" sz="750" u="none" cap="none" strike="noStrike">
                <a:solidFill>
                  <a:srgbClr val="0B7A6F"/>
                </a:solidFill>
                <a:latin typeface="Arial"/>
                <a:ea typeface="Arial"/>
                <a:cs typeface="Arial"/>
                <a:sym typeface="Arial"/>
              </a:rPr>
              <a:t>Legacy</a:t>
            </a:r>
            <a:endParaRPr b="0" i="0" sz="750" u="none" cap="none" strike="noStrike">
              <a:solidFill>
                <a:schemeClr val="dk1"/>
              </a:solidFill>
              <a:latin typeface="Calibri"/>
              <a:ea typeface="Calibri"/>
              <a:cs typeface="Calibri"/>
              <a:sym typeface="Calibri"/>
            </a:endParaRPr>
          </a:p>
        </p:txBody>
      </p:sp>
      <p:sp>
        <p:nvSpPr>
          <p:cNvPr id="1179" name="Google Shape;1179;p53"/>
          <p:cNvSpPr/>
          <p:nvPr/>
        </p:nvSpPr>
        <p:spPr>
          <a:xfrm>
            <a:off x="411480" y="2907792"/>
            <a:ext cx="3246120"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53"/>
          <p:cNvSpPr/>
          <p:nvPr/>
        </p:nvSpPr>
        <p:spPr>
          <a:xfrm>
            <a:off x="548640" y="3182112"/>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1" name="Google Shape;1181;p53"/>
          <p:cNvSpPr txBox="1"/>
          <p:nvPr/>
        </p:nvSpPr>
        <p:spPr>
          <a:xfrm>
            <a:off x="548640" y="3182112"/>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182" name="Google Shape;1182;p53"/>
          <p:cNvSpPr txBox="1"/>
          <p:nvPr/>
        </p:nvSpPr>
        <p:spPr>
          <a:xfrm>
            <a:off x="960120" y="2944368"/>
            <a:ext cx="2633472" cy="7680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DHJ Gift</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Single use. Triggers a membership. Expires in 90 days if unused.</a:t>
            </a:r>
            <a:endParaRPr b="0" i="0" sz="1100" u="none" cap="none" strike="noStrike">
              <a:solidFill>
                <a:schemeClr val="dk1"/>
              </a:solidFill>
              <a:latin typeface="Calibri"/>
              <a:ea typeface="Calibri"/>
              <a:cs typeface="Calibri"/>
              <a:sym typeface="Calibri"/>
            </a:endParaRPr>
          </a:p>
        </p:txBody>
      </p:sp>
      <p:sp>
        <p:nvSpPr>
          <p:cNvPr id="1183" name="Google Shape;1183;p53"/>
          <p:cNvSpPr/>
          <p:nvPr/>
        </p:nvSpPr>
        <p:spPr>
          <a:xfrm>
            <a:off x="3749040" y="2907792"/>
            <a:ext cx="4983600" cy="841200"/>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4" name="Google Shape;1184;p53"/>
          <p:cNvSpPr txBox="1"/>
          <p:nvPr/>
        </p:nvSpPr>
        <p:spPr>
          <a:xfrm>
            <a:off x="3822192" y="2962656"/>
            <a:ext cx="658368"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750"/>
              <a:buFont typeface="Arial"/>
              <a:buNone/>
            </a:pPr>
            <a:r>
              <a:rPr b="1" i="0" lang="en" sz="750" u="none" cap="none" strike="noStrike">
                <a:solidFill>
                  <a:srgbClr val="0B7A6F"/>
                </a:solidFill>
                <a:latin typeface="Arial"/>
                <a:ea typeface="Arial"/>
                <a:cs typeface="Arial"/>
                <a:sym typeface="Arial"/>
              </a:rPr>
              <a:t>Legacy</a:t>
            </a:r>
            <a:endParaRPr b="0" i="0" sz="750" u="none" cap="none" strike="noStrike">
              <a:solidFill>
                <a:schemeClr val="dk1"/>
              </a:solidFill>
              <a:latin typeface="Calibri"/>
              <a:ea typeface="Calibri"/>
              <a:cs typeface="Calibri"/>
              <a:sym typeface="Calibri"/>
            </a:endParaRPr>
          </a:p>
        </p:txBody>
      </p:sp>
      <p:pic>
        <p:nvPicPr>
          <p:cNvPr descr="/tmp/claude-0/-workspace-training/3ce5cff6-cccf-5f33-b0ee-0b147a55120e/scratchpad/img3/vt_gift.png" id="1185" name="Google Shape;1185;p53"/>
          <p:cNvPicPr preferRelativeResize="0"/>
          <p:nvPr/>
        </p:nvPicPr>
        <p:blipFill rotWithShape="1">
          <a:blip r:embed="rId3">
            <a:alphaModFix/>
          </a:blip>
          <a:srcRect b="0" l="0" r="0" t="0"/>
          <a:stretch/>
        </p:blipFill>
        <p:spPr>
          <a:xfrm>
            <a:off x="4526280" y="3232329"/>
            <a:ext cx="4114801" cy="192175"/>
          </a:xfrm>
          <a:prstGeom prst="rect">
            <a:avLst/>
          </a:prstGeom>
          <a:noFill/>
          <a:ln>
            <a:noFill/>
          </a:ln>
        </p:spPr>
      </p:pic>
      <p:sp>
        <p:nvSpPr>
          <p:cNvPr id="1186" name="Google Shape;1186;p53"/>
          <p:cNvSpPr/>
          <p:nvPr/>
        </p:nvSpPr>
        <p:spPr>
          <a:xfrm>
            <a:off x="411480" y="3813048"/>
            <a:ext cx="3246120"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7" name="Google Shape;1187;p53"/>
          <p:cNvSpPr/>
          <p:nvPr/>
        </p:nvSpPr>
        <p:spPr>
          <a:xfrm>
            <a:off x="548640" y="40873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8" name="Google Shape;1188;p53"/>
          <p:cNvSpPr txBox="1"/>
          <p:nvPr/>
        </p:nvSpPr>
        <p:spPr>
          <a:xfrm>
            <a:off x="548640" y="40873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4</a:t>
            </a:r>
            <a:endParaRPr b="0" i="0" sz="900" u="none" cap="none" strike="noStrike">
              <a:solidFill>
                <a:schemeClr val="dk1"/>
              </a:solidFill>
              <a:latin typeface="Calibri"/>
              <a:ea typeface="Calibri"/>
              <a:cs typeface="Calibri"/>
              <a:sym typeface="Calibri"/>
            </a:endParaRPr>
          </a:p>
        </p:txBody>
      </p:sp>
      <p:sp>
        <p:nvSpPr>
          <p:cNvPr id="1189" name="Google Shape;1189;p53"/>
          <p:cNvSpPr txBox="1"/>
          <p:nvPr/>
        </p:nvSpPr>
        <p:spPr>
          <a:xfrm>
            <a:off x="960120" y="3849624"/>
            <a:ext cx="2633472" cy="7680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Third-party (Groupon)</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No membership. Can't be split, and converts to credits on expiry.</a:t>
            </a:r>
            <a:endParaRPr b="0" i="0" sz="1100" u="none" cap="none" strike="noStrike">
              <a:solidFill>
                <a:schemeClr val="dk1"/>
              </a:solidFill>
              <a:latin typeface="Calibri"/>
              <a:ea typeface="Calibri"/>
              <a:cs typeface="Calibri"/>
              <a:sym typeface="Calibri"/>
            </a:endParaRPr>
          </a:p>
        </p:txBody>
      </p:sp>
      <p:sp>
        <p:nvSpPr>
          <p:cNvPr id="1190" name="Google Shape;1190;p53"/>
          <p:cNvSpPr/>
          <p:nvPr/>
        </p:nvSpPr>
        <p:spPr>
          <a:xfrm>
            <a:off x="3749040" y="3813048"/>
            <a:ext cx="4983480" cy="841248"/>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1" name="Google Shape;1191;p53"/>
          <p:cNvSpPr txBox="1"/>
          <p:nvPr/>
        </p:nvSpPr>
        <p:spPr>
          <a:xfrm>
            <a:off x="3822192" y="3867912"/>
            <a:ext cx="658368"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750"/>
              <a:buFont typeface="Arial"/>
              <a:buNone/>
            </a:pPr>
            <a:r>
              <a:rPr b="1" i="0" lang="en" sz="750" u="none" cap="none" strike="noStrike">
                <a:solidFill>
                  <a:srgbClr val="0B7A6F"/>
                </a:solidFill>
                <a:latin typeface="Arial"/>
                <a:ea typeface="Arial"/>
                <a:cs typeface="Arial"/>
                <a:sym typeface="Arial"/>
              </a:rPr>
              <a:t>Legacy</a:t>
            </a:r>
            <a:endParaRPr b="0" i="0" sz="750" u="none" cap="none" strike="noStrike">
              <a:solidFill>
                <a:schemeClr val="dk1"/>
              </a:solidFill>
              <a:latin typeface="Calibri"/>
              <a:ea typeface="Calibri"/>
              <a:cs typeface="Calibri"/>
              <a:sym typeface="Calibri"/>
            </a:endParaRPr>
          </a:p>
        </p:txBody>
      </p:sp>
      <p:pic>
        <p:nvPicPr>
          <p:cNvPr descr="/tmp/claude-0/-workspace-training/3ce5cff6-cccf-5f33-b0ee-0b147a55120e/scratchpad/img3/vt_groupon.png" id="1192" name="Google Shape;1192;p53"/>
          <p:cNvPicPr preferRelativeResize="0"/>
          <p:nvPr/>
        </p:nvPicPr>
        <p:blipFill rotWithShape="1">
          <a:blip r:embed="rId4">
            <a:alphaModFix/>
          </a:blip>
          <a:srcRect b="0" l="0" r="0" t="0"/>
          <a:stretch/>
        </p:blipFill>
        <p:spPr>
          <a:xfrm>
            <a:off x="4526280" y="4098432"/>
            <a:ext cx="3007096" cy="270480"/>
          </a:xfrm>
          <a:prstGeom prst="rect">
            <a:avLst/>
          </a:prstGeom>
          <a:noFill/>
          <a:ln>
            <a:noFill/>
          </a:ln>
        </p:spPr>
      </p:pic>
      <p:sp>
        <p:nvSpPr>
          <p:cNvPr id="1193" name="Google Shape;1193;p5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pic>
        <p:nvPicPr>
          <p:cNvPr id="1194" name="Google Shape;1194;p53"/>
          <p:cNvPicPr preferRelativeResize="0"/>
          <p:nvPr/>
        </p:nvPicPr>
        <p:blipFill rotWithShape="1">
          <a:blip r:embed="rId5">
            <a:alphaModFix/>
          </a:blip>
          <a:srcRect b="0" l="0" r="0" t="0"/>
          <a:stretch/>
        </p:blipFill>
        <p:spPr>
          <a:xfrm>
            <a:off x="4430225" y="2057401"/>
            <a:ext cx="4210840" cy="393230"/>
          </a:xfrm>
          <a:prstGeom prst="rect">
            <a:avLst/>
          </a:prstGeom>
          <a:noFill/>
          <a:ln>
            <a:noFill/>
          </a:ln>
        </p:spPr>
      </p:pic>
      <p:pic>
        <p:nvPicPr>
          <p:cNvPr id="1195" name="Google Shape;1195;p53"/>
          <p:cNvPicPr preferRelativeResize="0"/>
          <p:nvPr/>
        </p:nvPicPr>
        <p:blipFill rotWithShape="1">
          <a:blip r:embed="rId6">
            <a:alphaModFix/>
          </a:blip>
          <a:srcRect b="20619" l="0" r="-2333" t="9318"/>
          <a:stretch/>
        </p:blipFill>
        <p:spPr>
          <a:xfrm>
            <a:off x="4526275" y="2568200"/>
            <a:ext cx="4062349" cy="187800"/>
          </a:xfrm>
          <a:prstGeom prst="rect">
            <a:avLst/>
          </a:prstGeom>
          <a:solidFill>
            <a:srgbClr val="FFFFFF"/>
          </a:solidFill>
          <a:ln cap="flat" cmpd="sng" w="9525">
            <a:solidFill>
              <a:srgbClr val="DCE1E7"/>
            </a:solidFill>
            <a:prstDash val="solid"/>
            <a:round/>
            <a:headEnd len="sm" w="sm" type="none"/>
            <a:tailEnd len="sm" w="sm" type="none"/>
          </a:ln>
        </p:spPr>
      </p:pic>
      <p:pic>
        <p:nvPicPr>
          <p:cNvPr id="1196" name="Google Shape;1196;p53"/>
          <p:cNvPicPr preferRelativeResize="0"/>
          <p:nvPr/>
        </p:nvPicPr>
        <p:blipFill rotWithShape="1">
          <a:blip r:embed="rId7">
            <a:alphaModFix/>
          </a:blip>
          <a:srcRect b="0" l="0" r="0" t="0"/>
          <a:stretch/>
        </p:blipFill>
        <p:spPr>
          <a:xfrm>
            <a:off x="4430825" y="1207000"/>
            <a:ext cx="4209649" cy="338325"/>
          </a:xfrm>
          <a:prstGeom prst="rect">
            <a:avLst/>
          </a:prstGeom>
          <a:noFill/>
          <a:ln>
            <a:noFill/>
          </a:ln>
        </p:spPr>
      </p:pic>
      <p:pic>
        <p:nvPicPr>
          <p:cNvPr id="1197" name="Google Shape;1197;p53"/>
          <p:cNvPicPr preferRelativeResize="0"/>
          <p:nvPr/>
        </p:nvPicPr>
        <p:blipFill rotWithShape="1">
          <a:blip r:embed="rId8">
            <a:alphaModFix/>
          </a:blip>
          <a:srcRect b="0" l="0" r="0" t="0"/>
          <a:stretch/>
        </p:blipFill>
        <p:spPr>
          <a:xfrm>
            <a:off x="4430824" y="1632200"/>
            <a:ext cx="4157800" cy="2286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5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VOUCHERS IN CRM</a:t>
            </a:r>
            <a:endParaRPr b="0" i="0" sz="800" u="none" cap="none" strike="noStrike">
              <a:solidFill>
                <a:schemeClr val="dk1"/>
              </a:solidFill>
              <a:latin typeface="Calibri"/>
              <a:ea typeface="Calibri"/>
              <a:cs typeface="Calibri"/>
              <a:sym typeface="Calibri"/>
            </a:endParaRPr>
          </a:p>
        </p:txBody>
      </p:sp>
      <p:sp>
        <p:nvSpPr>
          <p:cNvPr id="1204" name="Google Shape;1204;p5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Voucher types in the CRM (2 of 2)</a:t>
            </a:r>
            <a:endParaRPr b="0" i="0" sz="2400" u="none" cap="none" strike="noStrike">
              <a:solidFill>
                <a:schemeClr val="dk1"/>
              </a:solidFill>
              <a:latin typeface="Calibri"/>
              <a:ea typeface="Calibri"/>
              <a:cs typeface="Calibri"/>
              <a:sym typeface="Calibri"/>
            </a:endParaRPr>
          </a:p>
        </p:txBody>
      </p:sp>
      <p:sp>
        <p:nvSpPr>
          <p:cNvPr id="1205" name="Google Shape;1205;p54"/>
          <p:cNvSpPr/>
          <p:nvPr/>
        </p:nvSpPr>
        <p:spPr>
          <a:xfrm>
            <a:off x="393118" y="1095549"/>
            <a:ext cx="3246000" cy="841200"/>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6" name="Google Shape;1206;p54"/>
          <p:cNvSpPr/>
          <p:nvPr/>
        </p:nvSpPr>
        <p:spPr>
          <a:xfrm>
            <a:off x="530278" y="1369869"/>
            <a:ext cx="274200" cy="2742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54"/>
          <p:cNvSpPr txBox="1"/>
          <p:nvPr/>
        </p:nvSpPr>
        <p:spPr>
          <a:xfrm>
            <a:off x="530278" y="1369869"/>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5</a:t>
            </a:r>
            <a:endParaRPr b="1" i="0" sz="900" u="none" cap="none" strike="noStrike">
              <a:solidFill>
                <a:srgbClr val="0B7A6F"/>
              </a:solidFill>
              <a:latin typeface="Play"/>
              <a:ea typeface="Play"/>
              <a:cs typeface="Play"/>
              <a:sym typeface="Play"/>
            </a:endParaRPr>
          </a:p>
        </p:txBody>
      </p:sp>
      <p:sp>
        <p:nvSpPr>
          <p:cNvPr id="1208" name="Google Shape;1208;p54"/>
          <p:cNvSpPr txBox="1"/>
          <p:nvPr/>
        </p:nvSpPr>
        <p:spPr>
          <a:xfrm>
            <a:off x="941758" y="1132125"/>
            <a:ext cx="2633400" cy="76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Admin Courtesy</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Issued by CS or the system. Expires in 60 days.</a:t>
            </a:r>
            <a:endParaRPr b="0" i="0" sz="1100" u="none" cap="none" strike="noStrike">
              <a:solidFill>
                <a:schemeClr val="dk1"/>
              </a:solidFill>
              <a:latin typeface="Calibri"/>
              <a:ea typeface="Calibri"/>
              <a:cs typeface="Calibri"/>
              <a:sym typeface="Calibri"/>
            </a:endParaRPr>
          </a:p>
        </p:txBody>
      </p:sp>
      <p:sp>
        <p:nvSpPr>
          <p:cNvPr id="1209" name="Google Shape;1209;p54"/>
          <p:cNvSpPr/>
          <p:nvPr/>
        </p:nvSpPr>
        <p:spPr>
          <a:xfrm>
            <a:off x="3730678" y="1095549"/>
            <a:ext cx="4983600" cy="841200"/>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54"/>
          <p:cNvSpPr txBox="1"/>
          <p:nvPr/>
        </p:nvSpPr>
        <p:spPr>
          <a:xfrm>
            <a:off x="3803830" y="1150413"/>
            <a:ext cx="658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750"/>
              <a:buFont typeface="Arial"/>
              <a:buNone/>
            </a:pPr>
            <a:r>
              <a:rPr b="1" i="0" lang="en" sz="750" u="none" cap="none" strike="noStrike">
                <a:solidFill>
                  <a:srgbClr val="0B7A6F"/>
                </a:solidFill>
                <a:latin typeface="Arial"/>
                <a:ea typeface="Arial"/>
                <a:cs typeface="Arial"/>
                <a:sym typeface="Arial"/>
              </a:rPr>
              <a:t>New CRM</a:t>
            </a:r>
            <a:endParaRPr b="0" i="0" sz="750" u="none" cap="none" strike="noStrike">
              <a:solidFill>
                <a:schemeClr val="dk1"/>
              </a:solidFill>
              <a:latin typeface="Calibri"/>
              <a:ea typeface="Calibri"/>
              <a:cs typeface="Calibri"/>
              <a:sym typeface="Calibri"/>
            </a:endParaRPr>
          </a:p>
        </p:txBody>
      </p:sp>
      <p:pic>
        <p:nvPicPr>
          <p:cNvPr descr="/tmp/claude-0/-workspace-training/3ce5cff6-cccf-5f33-b0ee-0b147a55120e/scratchpad/img3/vt_admin_new.png" id="1211" name="Google Shape;1211;p54"/>
          <p:cNvPicPr preferRelativeResize="0"/>
          <p:nvPr/>
        </p:nvPicPr>
        <p:blipFill rotWithShape="1">
          <a:blip r:embed="rId3">
            <a:alphaModFix/>
          </a:blip>
          <a:srcRect b="0" l="0" r="0" t="0"/>
          <a:stretch/>
        </p:blipFill>
        <p:spPr>
          <a:xfrm>
            <a:off x="4507918" y="1168701"/>
            <a:ext cx="4114800" cy="301752"/>
          </a:xfrm>
          <a:prstGeom prst="rect">
            <a:avLst/>
          </a:prstGeom>
          <a:noFill/>
          <a:ln>
            <a:noFill/>
          </a:ln>
        </p:spPr>
      </p:pic>
      <p:sp>
        <p:nvSpPr>
          <p:cNvPr id="1212" name="Google Shape;1212;p54"/>
          <p:cNvSpPr txBox="1"/>
          <p:nvPr/>
        </p:nvSpPr>
        <p:spPr>
          <a:xfrm>
            <a:off x="3803830" y="1543604"/>
            <a:ext cx="658500" cy="338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750"/>
              <a:buFont typeface="Arial"/>
              <a:buNone/>
            </a:pPr>
            <a:r>
              <a:rPr b="1" i="0" lang="en" sz="750" u="none" cap="none" strike="noStrike">
                <a:solidFill>
                  <a:srgbClr val="0B7A6F"/>
                </a:solidFill>
                <a:latin typeface="Arial"/>
                <a:ea typeface="Arial"/>
                <a:cs typeface="Arial"/>
                <a:sym typeface="Arial"/>
              </a:rPr>
              <a:t>Legacy</a:t>
            </a:r>
            <a:endParaRPr b="0" i="0" sz="750" u="none" cap="none" strike="noStrike">
              <a:solidFill>
                <a:schemeClr val="dk1"/>
              </a:solidFill>
              <a:latin typeface="Calibri"/>
              <a:ea typeface="Calibri"/>
              <a:cs typeface="Calibri"/>
              <a:sym typeface="Calibri"/>
            </a:endParaRPr>
          </a:p>
        </p:txBody>
      </p:sp>
      <p:pic>
        <p:nvPicPr>
          <p:cNvPr descr="/tmp/claude-0/-workspace-training/3ce5cff6-cccf-5f33-b0ee-0b147a55120e/scratchpad/img3/vt_admin_legacy.png" id="1213" name="Google Shape;1213;p54"/>
          <p:cNvPicPr preferRelativeResize="0"/>
          <p:nvPr/>
        </p:nvPicPr>
        <p:blipFill rotWithShape="1">
          <a:blip r:embed="rId4">
            <a:alphaModFix/>
          </a:blip>
          <a:srcRect b="0" l="0" r="0" t="0"/>
          <a:stretch/>
        </p:blipFill>
        <p:spPr>
          <a:xfrm>
            <a:off x="4507918" y="1602222"/>
            <a:ext cx="4114799" cy="221094"/>
          </a:xfrm>
          <a:prstGeom prst="rect">
            <a:avLst/>
          </a:prstGeom>
          <a:noFill/>
          <a:ln>
            <a:noFill/>
          </a:ln>
        </p:spPr>
      </p:pic>
      <p:sp>
        <p:nvSpPr>
          <p:cNvPr id="1214" name="Google Shape;1214;p54"/>
          <p:cNvSpPr/>
          <p:nvPr/>
        </p:nvSpPr>
        <p:spPr>
          <a:xfrm>
            <a:off x="393118" y="2000805"/>
            <a:ext cx="3246000" cy="841200"/>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54"/>
          <p:cNvSpPr/>
          <p:nvPr/>
        </p:nvSpPr>
        <p:spPr>
          <a:xfrm>
            <a:off x="530278" y="2275125"/>
            <a:ext cx="274200" cy="2742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6" name="Google Shape;1216;p54"/>
          <p:cNvSpPr txBox="1"/>
          <p:nvPr/>
        </p:nvSpPr>
        <p:spPr>
          <a:xfrm>
            <a:off x="530278" y="2275125"/>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6</a:t>
            </a:r>
            <a:endParaRPr b="0" i="0" sz="900" u="none" cap="none" strike="noStrike">
              <a:solidFill>
                <a:schemeClr val="dk1"/>
              </a:solidFill>
              <a:latin typeface="Calibri"/>
              <a:ea typeface="Calibri"/>
              <a:cs typeface="Calibri"/>
              <a:sym typeface="Calibri"/>
            </a:endParaRPr>
          </a:p>
        </p:txBody>
      </p:sp>
      <p:sp>
        <p:nvSpPr>
          <p:cNvPr id="1217" name="Google Shape;1217;p54"/>
          <p:cNvSpPr txBox="1"/>
          <p:nvPr/>
        </p:nvSpPr>
        <p:spPr>
          <a:xfrm>
            <a:off x="941758" y="2037381"/>
            <a:ext cx="2633400" cy="76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Homeaglow Gift Card</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No membership. Valid for 2 years.</a:t>
            </a:r>
            <a:endParaRPr b="0" i="0" sz="1100" u="none" cap="none" strike="noStrike">
              <a:solidFill>
                <a:schemeClr val="dk1"/>
              </a:solidFill>
              <a:latin typeface="Calibri"/>
              <a:ea typeface="Calibri"/>
              <a:cs typeface="Calibri"/>
              <a:sym typeface="Calibri"/>
            </a:endParaRPr>
          </a:p>
        </p:txBody>
      </p:sp>
      <p:sp>
        <p:nvSpPr>
          <p:cNvPr id="1218" name="Google Shape;1218;p54"/>
          <p:cNvSpPr/>
          <p:nvPr/>
        </p:nvSpPr>
        <p:spPr>
          <a:xfrm>
            <a:off x="3730678" y="2000805"/>
            <a:ext cx="4983600" cy="841200"/>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9" name="Google Shape;1219;p54"/>
          <p:cNvSpPr txBox="1"/>
          <p:nvPr/>
        </p:nvSpPr>
        <p:spPr>
          <a:xfrm>
            <a:off x="3803830" y="2055669"/>
            <a:ext cx="6585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750"/>
              <a:buFont typeface="Arial"/>
              <a:buNone/>
            </a:pPr>
            <a:r>
              <a:rPr b="1" i="0" lang="en" sz="750" u="none" cap="none" strike="noStrike">
                <a:solidFill>
                  <a:srgbClr val="0B7A6F"/>
                </a:solidFill>
                <a:latin typeface="Arial"/>
                <a:ea typeface="Arial"/>
                <a:cs typeface="Arial"/>
                <a:sym typeface="Arial"/>
              </a:rPr>
              <a:t>Legacy</a:t>
            </a:r>
            <a:endParaRPr b="0" i="0" sz="750" u="none" cap="none" strike="noStrike">
              <a:solidFill>
                <a:schemeClr val="dk1"/>
              </a:solidFill>
              <a:latin typeface="Calibri"/>
              <a:ea typeface="Calibri"/>
              <a:cs typeface="Calibri"/>
              <a:sym typeface="Calibri"/>
            </a:endParaRPr>
          </a:p>
        </p:txBody>
      </p:sp>
      <p:pic>
        <p:nvPicPr>
          <p:cNvPr descr="/tmp/claude-0/-workspace-training/3ce5cff6-cccf-5f33-b0ee-0b147a55120e/scratchpad/img3/vt_giftcard.png" id="1220" name="Google Shape;1220;p54"/>
          <p:cNvPicPr preferRelativeResize="0"/>
          <p:nvPr/>
        </p:nvPicPr>
        <p:blipFill rotWithShape="1">
          <a:blip r:embed="rId5">
            <a:alphaModFix/>
          </a:blip>
          <a:srcRect b="0" l="0" r="0" t="0"/>
          <a:stretch/>
        </p:blipFill>
        <p:spPr>
          <a:xfrm>
            <a:off x="4507925" y="2254375"/>
            <a:ext cx="2596206" cy="257175"/>
          </a:xfrm>
          <a:prstGeom prst="rect">
            <a:avLst/>
          </a:prstGeom>
          <a:noFill/>
          <a:ln>
            <a:noFill/>
          </a:ln>
        </p:spPr>
      </p:pic>
      <p:sp>
        <p:nvSpPr>
          <p:cNvPr id="1221" name="Google Shape;1221;p54"/>
          <p:cNvSpPr/>
          <p:nvPr/>
        </p:nvSpPr>
        <p:spPr>
          <a:xfrm>
            <a:off x="393118" y="2906060"/>
            <a:ext cx="3246000" cy="841200"/>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54"/>
          <p:cNvSpPr/>
          <p:nvPr/>
        </p:nvSpPr>
        <p:spPr>
          <a:xfrm>
            <a:off x="530278" y="3180381"/>
            <a:ext cx="274200" cy="2742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3" name="Google Shape;1223;p54"/>
          <p:cNvSpPr txBox="1"/>
          <p:nvPr/>
        </p:nvSpPr>
        <p:spPr>
          <a:xfrm>
            <a:off x="530278" y="3180381"/>
            <a:ext cx="2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7</a:t>
            </a:r>
            <a:endParaRPr b="0" i="0" sz="900" u="none" cap="none" strike="noStrike">
              <a:solidFill>
                <a:schemeClr val="dk1"/>
              </a:solidFill>
              <a:latin typeface="Calibri"/>
              <a:ea typeface="Calibri"/>
              <a:cs typeface="Calibri"/>
              <a:sym typeface="Calibri"/>
            </a:endParaRPr>
          </a:p>
        </p:txBody>
      </p:sp>
      <p:sp>
        <p:nvSpPr>
          <p:cNvPr id="1224" name="Google Shape;1224;p54"/>
          <p:cNvSpPr txBox="1"/>
          <p:nvPr/>
        </p:nvSpPr>
        <p:spPr>
          <a:xfrm>
            <a:off x="941758" y="2942637"/>
            <a:ext cx="2633400" cy="76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00"/>
              <a:buFont typeface="Play"/>
              <a:buNone/>
            </a:pPr>
            <a:r>
              <a:rPr b="1" i="0" lang="en" sz="1100" u="none" cap="none" strike="noStrike">
                <a:solidFill>
                  <a:srgbClr val="1D1D1F"/>
                </a:solidFill>
                <a:latin typeface="Play"/>
                <a:ea typeface="Play"/>
                <a:cs typeface="Play"/>
                <a:sym typeface="Play"/>
              </a:rPr>
              <a:t>Second Brand Voucher</a:t>
            </a:r>
            <a:endParaRPr b="0" i="0" sz="1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850"/>
              <a:buFont typeface="Arial"/>
              <a:buNone/>
            </a:pPr>
            <a:r>
              <a:rPr b="0" i="0" lang="en" sz="850" u="none" cap="none" strike="noStrike">
                <a:solidFill>
                  <a:srgbClr val="6E6E73"/>
                </a:solidFill>
                <a:latin typeface="Arial"/>
                <a:ea typeface="Arial"/>
                <a:cs typeface="Arial"/>
                <a:sym typeface="Arial"/>
              </a:rPr>
              <a:t>No membership. An identical voucher bought from Homeaglow, at the same cost as the third-party merchant's.</a:t>
            </a:r>
            <a:endParaRPr b="0" i="0" sz="1100" u="none" cap="none" strike="noStrike">
              <a:solidFill>
                <a:schemeClr val="dk1"/>
              </a:solidFill>
              <a:latin typeface="Calibri"/>
              <a:ea typeface="Calibri"/>
              <a:cs typeface="Calibri"/>
              <a:sym typeface="Calibri"/>
            </a:endParaRPr>
          </a:p>
        </p:txBody>
      </p:sp>
      <p:sp>
        <p:nvSpPr>
          <p:cNvPr id="1225" name="Google Shape;1225;p54"/>
          <p:cNvSpPr/>
          <p:nvPr/>
        </p:nvSpPr>
        <p:spPr>
          <a:xfrm>
            <a:off x="3730678" y="2906060"/>
            <a:ext cx="4983600" cy="841200"/>
          </a:xfrm>
          <a:prstGeom prst="roundRect">
            <a:avLst>
              <a:gd fmla="val 8696"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54"/>
          <p:cNvSpPr txBox="1"/>
          <p:nvPr/>
        </p:nvSpPr>
        <p:spPr>
          <a:xfrm>
            <a:off x="3803830" y="2960924"/>
            <a:ext cx="658500" cy="731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B7A6F"/>
              </a:buClr>
              <a:buSzPts val="750"/>
              <a:buFont typeface="Arial"/>
              <a:buNone/>
            </a:pPr>
            <a:r>
              <a:rPr b="1" i="0" lang="en" sz="750" u="none" cap="none" strike="noStrike">
                <a:solidFill>
                  <a:srgbClr val="0B7A6F"/>
                </a:solidFill>
                <a:latin typeface="Arial"/>
                <a:ea typeface="Arial"/>
                <a:cs typeface="Arial"/>
                <a:sym typeface="Arial"/>
              </a:rPr>
              <a:t>Legacy</a:t>
            </a:r>
            <a:endParaRPr b="0" i="0" sz="750" u="none" cap="none" strike="noStrike">
              <a:solidFill>
                <a:schemeClr val="dk1"/>
              </a:solidFill>
              <a:latin typeface="Calibri"/>
              <a:ea typeface="Calibri"/>
              <a:cs typeface="Calibri"/>
              <a:sym typeface="Calibri"/>
            </a:endParaRPr>
          </a:p>
        </p:txBody>
      </p:sp>
      <p:pic>
        <p:nvPicPr>
          <p:cNvPr descr="/tmp/claude-0/-workspace-training/3ce5cff6-cccf-5f33-b0ee-0b147a55120e/scratchpad/img3/vt_second.png" id="1227" name="Google Shape;1227;p54"/>
          <p:cNvPicPr preferRelativeResize="0"/>
          <p:nvPr/>
        </p:nvPicPr>
        <p:blipFill rotWithShape="1">
          <a:blip r:embed="rId6">
            <a:alphaModFix/>
          </a:blip>
          <a:srcRect b="0" l="0" r="0" t="0"/>
          <a:stretch/>
        </p:blipFill>
        <p:spPr>
          <a:xfrm>
            <a:off x="4507925" y="3198100"/>
            <a:ext cx="3246000" cy="202875"/>
          </a:xfrm>
          <a:prstGeom prst="rect">
            <a:avLst/>
          </a:prstGeom>
          <a:noFill/>
          <a:ln>
            <a:noFill/>
          </a:ln>
        </p:spPr>
      </p:pic>
      <p:sp>
        <p:nvSpPr>
          <p:cNvPr id="1228" name="Google Shape;1228;p5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3" name="Shape 1233"/>
        <p:cNvGrpSpPr/>
        <p:nvPr/>
      </p:nvGrpSpPr>
      <p:grpSpPr>
        <a:xfrm>
          <a:off x="0" y="0"/>
          <a:ext cx="0" cy="0"/>
          <a:chOff x="0" y="0"/>
          <a:chExt cx="0" cy="0"/>
        </a:xfrm>
      </p:grpSpPr>
      <p:sp>
        <p:nvSpPr>
          <p:cNvPr id="1234" name="Google Shape;1234;p5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VOUCHERS IN CRM</a:t>
            </a:r>
            <a:endParaRPr b="0" i="0" sz="800" u="none" cap="none" strike="noStrike">
              <a:solidFill>
                <a:schemeClr val="dk1"/>
              </a:solidFill>
              <a:latin typeface="Calibri"/>
              <a:ea typeface="Calibri"/>
              <a:cs typeface="Calibri"/>
              <a:sym typeface="Calibri"/>
            </a:endParaRPr>
          </a:p>
        </p:txBody>
      </p:sp>
      <p:sp>
        <p:nvSpPr>
          <p:cNvPr id="1235" name="Google Shape;1235;p5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When a customer wants a refund</a:t>
            </a:r>
            <a:endParaRPr b="0" i="0" sz="2400" u="none" cap="none" strike="noStrike">
              <a:solidFill>
                <a:schemeClr val="dk1"/>
              </a:solidFill>
              <a:latin typeface="Calibri"/>
              <a:ea typeface="Calibri"/>
              <a:cs typeface="Calibri"/>
              <a:sym typeface="Calibri"/>
            </a:endParaRPr>
          </a:p>
        </p:txBody>
      </p:sp>
      <p:sp>
        <p:nvSpPr>
          <p:cNvPr id="1236" name="Google Shape;1236;p5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Always find and fix the reason first.</a:t>
            </a:r>
            <a:endParaRPr b="0" i="0" sz="1200" u="none" cap="none" strike="noStrike">
              <a:solidFill>
                <a:schemeClr val="dk1"/>
              </a:solidFill>
              <a:latin typeface="Calibri"/>
              <a:ea typeface="Calibri"/>
              <a:cs typeface="Calibri"/>
              <a:sym typeface="Calibri"/>
            </a:endParaRPr>
          </a:p>
        </p:txBody>
      </p:sp>
      <p:graphicFrame>
        <p:nvGraphicFramePr>
          <p:cNvPr id="1237" name="Google Shape;1237;p55"/>
          <p:cNvGraphicFramePr/>
          <p:nvPr/>
        </p:nvGraphicFramePr>
        <p:xfrm>
          <a:off x="411480" y="1371600"/>
          <a:ext cx="3000000" cy="3000000"/>
        </p:xfrm>
        <a:graphic>
          <a:graphicData uri="http://schemas.openxmlformats.org/drawingml/2006/table">
            <a:tbl>
              <a:tblPr>
                <a:noFill/>
                <a:tableStyleId>{1110B021-F78A-4E02-AF73-8366E27A90AE}</a:tableStyleId>
              </a:tblPr>
              <a:tblGrid>
                <a:gridCol w="1920250"/>
                <a:gridCol w="3291850"/>
                <a:gridCol w="3108950"/>
              </a:tblGrid>
              <a:tr h="566925">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Voucher</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First response</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50"/>
                        <a:buFont typeface="Play"/>
                        <a:buNone/>
                      </a:pPr>
                      <a:r>
                        <a:rPr b="1" lang="en" sz="950" u="none" cap="none" strike="noStrike">
                          <a:solidFill>
                            <a:srgbClr val="0B7A6F"/>
                          </a:solidFill>
                          <a:latin typeface="Play"/>
                          <a:ea typeface="Play"/>
                          <a:cs typeface="Play"/>
                          <a:sym typeface="Play"/>
                        </a:rPr>
                        <a:t>If they ask again</a:t>
                      </a:r>
                      <a:endParaRPr sz="95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56692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Groupon</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Fix the reason, send self-refund steps (comms kit macro)</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Invalidate the voucher so Groupon can refund</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56692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Second brand voucher</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Fix the reason, encourage them to keep it, send the self-refund link</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Refund it: C CRM › Do › Voucher › Refund › 2nd Voucher</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566925">
                <a:tc>
                  <a:txBody>
                    <a:bodyPr/>
                    <a:lstStyle/>
                    <a:p>
                      <a:pPr indent="0" lvl="0" marL="0" marR="0" rtl="0" algn="l">
                        <a:lnSpc>
                          <a:spcPct val="100000"/>
                        </a:lnSpc>
                        <a:spcBef>
                          <a:spcPts val="0"/>
                        </a:spcBef>
                        <a:spcAft>
                          <a:spcPts val="0"/>
                        </a:spcAft>
                        <a:buClr>
                          <a:srgbClr val="1D1D1F"/>
                        </a:buClr>
                        <a:buSzPts val="950"/>
                        <a:buFont typeface="Arial"/>
                        <a:buNone/>
                      </a:pPr>
                      <a:r>
                        <a:rPr b="1" lang="en" sz="950" u="none" cap="none" strike="noStrike">
                          <a:solidFill>
                            <a:srgbClr val="1D1D1F"/>
                          </a:solidFill>
                          <a:latin typeface="Arial"/>
                          <a:ea typeface="Arial"/>
                          <a:cs typeface="Arial"/>
                          <a:sym typeface="Arial"/>
                        </a:rPr>
                        <a:t>Homeaglow Gift Card</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Fix the reason. Valid for 2 years, code is in the confirmation email</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50"/>
                        <a:buFont typeface="Arial"/>
                        <a:buNone/>
                      </a:pPr>
                      <a:r>
                        <a:rPr lang="en" sz="950" u="none" cap="none" strike="noStrike">
                          <a:solidFill>
                            <a:srgbClr val="6E6E73"/>
                          </a:solidFill>
                          <a:latin typeface="Arial"/>
                          <a:ea typeface="Arial"/>
                          <a:cs typeface="Arial"/>
                          <a:sym typeface="Arial"/>
                        </a:rPr>
                        <a:t>Escalate to your CSQ sheet for a Stripe refund</a:t>
                      </a:r>
                      <a:endParaRPr sz="95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238" name="Google Shape;1238;p55"/>
          <p:cNvSpPr/>
          <p:nvPr/>
        </p:nvSpPr>
        <p:spPr>
          <a:xfrm>
            <a:off x="411480" y="37947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39" name="Google Shape;1239;p55"/>
          <p:cNvPicPr preferRelativeResize="0"/>
          <p:nvPr/>
        </p:nvPicPr>
        <p:blipFill rotWithShape="1">
          <a:blip r:embed="rId3">
            <a:alphaModFix/>
          </a:blip>
          <a:srcRect b="0" l="0" r="0" t="0"/>
          <a:stretch/>
        </p:blipFill>
        <p:spPr>
          <a:xfrm>
            <a:off x="566928" y="3904488"/>
            <a:ext cx="164592" cy="164592"/>
          </a:xfrm>
          <a:prstGeom prst="rect">
            <a:avLst/>
          </a:prstGeom>
          <a:noFill/>
          <a:ln>
            <a:noFill/>
          </a:ln>
        </p:spPr>
      </p:pic>
      <p:sp>
        <p:nvSpPr>
          <p:cNvPr id="1240" name="Google Shape;1240;p55"/>
          <p:cNvSpPr txBox="1"/>
          <p:nvPr/>
        </p:nvSpPr>
        <p:spPr>
          <a:xfrm>
            <a:off x="822960" y="38953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Groupon:  </a:t>
            </a:r>
            <a:r>
              <a:rPr b="0" i="0" lang="en" sz="1000" u="none" cap="none" strike="noStrike">
                <a:solidFill>
                  <a:srgbClr val="1D1D1F"/>
                </a:solidFill>
                <a:latin typeface="Arial"/>
                <a:ea typeface="Arial"/>
                <a:cs typeface="Arial"/>
                <a:sym typeface="Arial"/>
              </a:rPr>
              <a:t>invalidate the voucher, or Groupon may not be able to refund it.</a:t>
            </a:r>
            <a:endParaRPr b="0" i="0" sz="1000" u="none" cap="none" strike="noStrike">
              <a:solidFill>
                <a:schemeClr val="dk1"/>
              </a:solidFill>
              <a:latin typeface="Calibri"/>
              <a:ea typeface="Calibri"/>
              <a:cs typeface="Calibri"/>
              <a:sym typeface="Calibri"/>
            </a:endParaRPr>
          </a:p>
        </p:txBody>
      </p:sp>
      <p:sp>
        <p:nvSpPr>
          <p:cNvPr id="1241" name="Google Shape;1241;p5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5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VOUCHERS IN CRM</a:t>
            </a:r>
            <a:endParaRPr b="0" i="0" sz="800" u="none" cap="none" strike="noStrike">
              <a:solidFill>
                <a:schemeClr val="dk1"/>
              </a:solidFill>
              <a:latin typeface="Calibri"/>
              <a:ea typeface="Calibri"/>
              <a:cs typeface="Calibri"/>
              <a:sym typeface="Calibri"/>
            </a:endParaRPr>
          </a:p>
        </p:txBody>
      </p:sp>
      <p:sp>
        <p:nvSpPr>
          <p:cNvPr id="1248" name="Google Shape;1248;p5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How the system handles combos</a:t>
            </a:r>
            <a:endParaRPr b="0" i="0" sz="2400" u="none" cap="none" strike="noStrike">
              <a:solidFill>
                <a:schemeClr val="dk1"/>
              </a:solidFill>
              <a:latin typeface="Calibri"/>
              <a:ea typeface="Calibri"/>
              <a:cs typeface="Calibri"/>
              <a:sym typeface="Calibri"/>
            </a:endParaRPr>
          </a:p>
        </p:txBody>
      </p:sp>
      <p:sp>
        <p:nvSpPr>
          <p:cNvPr id="1249" name="Google Shape;1249;p56"/>
          <p:cNvSpPr/>
          <p:nvPr/>
        </p:nvSpPr>
        <p:spPr>
          <a:xfrm>
            <a:off x="4114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56"/>
          <p:cNvSpPr/>
          <p:nvPr/>
        </p:nvSpPr>
        <p:spPr>
          <a:xfrm>
            <a:off x="5760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51" name="Google Shape;1251;p56"/>
          <p:cNvPicPr preferRelativeResize="0"/>
          <p:nvPr/>
        </p:nvPicPr>
        <p:blipFill rotWithShape="1">
          <a:blip r:embed="rId3">
            <a:alphaModFix/>
          </a:blip>
          <a:srcRect b="0" l="0" r="0" t="0"/>
          <a:stretch/>
        </p:blipFill>
        <p:spPr>
          <a:xfrm>
            <a:off x="668244" y="1509492"/>
            <a:ext cx="199705" cy="199705"/>
          </a:xfrm>
          <a:prstGeom prst="rect">
            <a:avLst/>
          </a:prstGeom>
          <a:noFill/>
          <a:ln>
            <a:noFill/>
          </a:ln>
        </p:spPr>
      </p:pic>
      <p:sp>
        <p:nvSpPr>
          <p:cNvPr id="1252" name="Google Shape;1252;p56"/>
          <p:cNvSpPr txBox="1"/>
          <p:nvPr/>
        </p:nvSpPr>
        <p:spPr>
          <a:xfrm>
            <a:off x="11247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Two Groupons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The second one converts to credits.</a:t>
            </a:r>
            <a:endParaRPr b="0" i="0" sz="1200" u="none" cap="none" strike="noStrike">
              <a:solidFill>
                <a:schemeClr val="dk1"/>
              </a:solidFill>
              <a:latin typeface="Calibri"/>
              <a:ea typeface="Calibri"/>
              <a:cs typeface="Calibri"/>
              <a:sym typeface="Calibri"/>
            </a:endParaRPr>
          </a:p>
        </p:txBody>
      </p:sp>
      <p:sp>
        <p:nvSpPr>
          <p:cNvPr id="1253" name="Google Shape;1253;p56"/>
          <p:cNvSpPr/>
          <p:nvPr/>
        </p:nvSpPr>
        <p:spPr>
          <a:xfrm>
            <a:off x="46405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56"/>
          <p:cNvSpPr/>
          <p:nvPr/>
        </p:nvSpPr>
        <p:spPr>
          <a:xfrm>
            <a:off x="48051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55" name="Google Shape;1255;p56"/>
          <p:cNvPicPr preferRelativeResize="0"/>
          <p:nvPr/>
        </p:nvPicPr>
        <p:blipFill rotWithShape="1">
          <a:blip r:embed="rId4">
            <a:alphaModFix/>
          </a:blip>
          <a:srcRect b="0" l="0" r="0" t="0"/>
          <a:stretch/>
        </p:blipFill>
        <p:spPr>
          <a:xfrm>
            <a:off x="4897344" y="1509492"/>
            <a:ext cx="199705" cy="199705"/>
          </a:xfrm>
          <a:prstGeom prst="rect">
            <a:avLst/>
          </a:prstGeom>
          <a:noFill/>
          <a:ln>
            <a:noFill/>
          </a:ln>
        </p:spPr>
      </p:pic>
      <p:sp>
        <p:nvSpPr>
          <p:cNvPr id="1256" name="Google Shape;1256;p56"/>
          <p:cNvSpPr txBox="1"/>
          <p:nvPr/>
        </p:nvSpPr>
        <p:spPr>
          <a:xfrm>
            <a:off x="53538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Short job on a Groupon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No courtesy voucher for the unused hours.</a:t>
            </a:r>
            <a:endParaRPr b="0" i="0" sz="1200" u="none" cap="none" strike="noStrike">
              <a:solidFill>
                <a:schemeClr val="dk1"/>
              </a:solidFill>
              <a:latin typeface="Calibri"/>
              <a:ea typeface="Calibri"/>
              <a:cs typeface="Calibri"/>
              <a:sym typeface="Calibri"/>
            </a:endParaRPr>
          </a:p>
        </p:txBody>
      </p:sp>
      <p:sp>
        <p:nvSpPr>
          <p:cNvPr id="1257" name="Google Shape;1257;p56"/>
          <p:cNvSpPr/>
          <p:nvPr/>
        </p:nvSpPr>
        <p:spPr>
          <a:xfrm>
            <a:off x="4114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8" name="Google Shape;1258;p56"/>
          <p:cNvSpPr/>
          <p:nvPr/>
        </p:nvSpPr>
        <p:spPr>
          <a:xfrm>
            <a:off x="5760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59" name="Google Shape;1259;p56"/>
          <p:cNvPicPr preferRelativeResize="0"/>
          <p:nvPr/>
        </p:nvPicPr>
        <p:blipFill rotWithShape="1">
          <a:blip r:embed="rId5">
            <a:alphaModFix/>
          </a:blip>
          <a:srcRect b="0" l="0" r="0" t="0"/>
          <a:stretch/>
        </p:blipFill>
        <p:spPr>
          <a:xfrm>
            <a:off x="668244" y="2606772"/>
            <a:ext cx="199705" cy="199705"/>
          </a:xfrm>
          <a:prstGeom prst="rect">
            <a:avLst/>
          </a:prstGeom>
          <a:noFill/>
          <a:ln>
            <a:noFill/>
          </a:ln>
        </p:spPr>
      </p:pic>
      <p:sp>
        <p:nvSpPr>
          <p:cNvPr id="1260" name="Google Shape;1260;p56"/>
          <p:cNvSpPr txBox="1"/>
          <p:nvPr/>
        </p:nvSpPr>
        <p:spPr>
          <a:xfrm>
            <a:off x="11247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DHJ or FCF, then Groupon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The Groupon converts to credits.</a:t>
            </a:r>
            <a:endParaRPr b="0" i="0" sz="1200" u="none" cap="none" strike="noStrike">
              <a:solidFill>
                <a:schemeClr val="dk1"/>
              </a:solidFill>
              <a:latin typeface="Calibri"/>
              <a:ea typeface="Calibri"/>
              <a:cs typeface="Calibri"/>
              <a:sym typeface="Calibri"/>
            </a:endParaRPr>
          </a:p>
        </p:txBody>
      </p:sp>
      <p:sp>
        <p:nvSpPr>
          <p:cNvPr id="1261" name="Google Shape;1261;p56"/>
          <p:cNvSpPr/>
          <p:nvPr/>
        </p:nvSpPr>
        <p:spPr>
          <a:xfrm>
            <a:off x="46405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2" name="Google Shape;1262;p56"/>
          <p:cNvSpPr/>
          <p:nvPr/>
        </p:nvSpPr>
        <p:spPr>
          <a:xfrm>
            <a:off x="48051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63" name="Google Shape;1263;p56"/>
          <p:cNvPicPr preferRelativeResize="0"/>
          <p:nvPr/>
        </p:nvPicPr>
        <p:blipFill rotWithShape="1">
          <a:blip r:embed="rId6">
            <a:alphaModFix/>
          </a:blip>
          <a:srcRect b="0" l="0" r="0" t="0"/>
          <a:stretch/>
        </p:blipFill>
        <p:spPr>
          <a:xfrm>
            <a:off x="4897344" y="2606772"/>
            <a:ext cx="199705" cy="199705"/>
          </a:xfrm>
          <a:prstGeom prst="rect">
            <a:avLst/>
          </a:prstGeom>
          <a:noFill/>
          <a:ln>
            <a:noFill/>
          </a:ln>
        </p:spPr>
      </p:pic>
      <p:sp>
        <p:nvSpPr>
          <p:cNvPr id="1264" name="Google Shape;1264;p56"/>
          <p:cNvSpPr txBox="1"/>
          <p:nvPr/>
        </p:nvSpPr>
        <p:spPr>
          <a:xfrm>
            <a:off x="53538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Past job, then Groupon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Converts to credits. New customers only.</a:t>
            </a:r>
            <a:endParaRPr b="0" i="0" sz="1200" u="none" cap="none" strike="noStrike">
              <a:solidFill>
                <a:schemeClr val="dk1"/>
              </a:solidFill>
              <a:latin typeface="Calibri"/>
              <a:ea typeface="Calibri"/>
              <a:cs typeface="Calibri"/>
              <a:sym typeface="Calibri"/>
            </a:endParaRPr>
          </a:p>
        </p:txBody>
      </p:sp>
      <p:sp>
        <p:nvSpPr>
          <p:cNvPr id="1265" name="Google Shape;1265;p56"/>
          <p:cNvSpPr/>
          <p:nvPr/>
        </p:nvSpPr>
        <p:spPr>
          <a:xfrm>
            <a:off x="4114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6" name="Google Shape;1266;p56"/>
          <p:cNvSpPr/>
          <p:nvPr/>
        </p:nvSpPr>
        <p:spPr>
          <a:xfrm>
            <a:off x="5760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67" name="Google Shape;1267;p56"/>
          <p:cNvPicPr preferRelativeResize="0"/>
          <p:nvPr/>
        </p:nvPicPr>
        <p:blipFill rotWithShape="1">
          <a:blip r:embed="rId7">
            <a:alphaModFix/>
          </a:blip>
          <a:srcRect b="0" l="0" r="0" t="0"/>
          <a:stretch/>
        </p:blipFill>
        <p:spPr>
          <a:xfrm>
            <a:off x="668244" y="3704052"/>
            <a:ext cx="199705" cy="199705"/>
          </a:xfrm>
          <a:prstGeom prst="rect">
            <a:avLst/>
          </a:prstGeom>
          <a:noFill/>
          <a:ln>
            <a:noFill/>
          </a:ln>
        </p:spPr>
      </p:pic>
      <p:sp>
        <p:nvSpPr>
          <p:cNvPr id="1268" name="Google Shape;1268;p56"/>
          <p:cNvSpPr txBox="1"/>
          <p:nvPr/>
        </p:nvSpPr>
        <p:spPr>
          <a:xfrm>
            <a:off x="11247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Groupon, then DHJ</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Allowed. DHJ is applied first.</a:t>
            </a:r>
            <a:endParaRPr b="0" i="0" sz="1200" u="none" cap="none" strike="noStrike">
              <a:solidFill>
                <a:schemeClr val="dk1"/>
              </a:solidFill>
              <a:latin typeface="Calibri"/>
              <a:ea typeface="Calibri"/>
              <a:cs typeface="Calibri"/>
              <a:sym typeface="Calibri"/>
            </a:endParaRPr>
          </a:p>
        </p:txBody>
      </p:sp>
      <p:sp>
        <p:nvSpPr>
          <p:cNvPr id="1269" name="Google Shape;1269;p56"/>
          <p:cNvSpPr/>
          <p:nvPr/>
        </p:nvSpPr>
        <p:spPr>
          <a:xfrm>
            <a:off x="46405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0" name="Google Shape;1270;p56"/>
          <p:cNvSpPr/>
          <p:nvPr/>
        </p:nvSpPr>
        <p:spPr>
          <a:xfrm>
            <a:off x="48051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71" name="Google Shape;1271;p56"/>
          <p:cNvPicPr preferRelativeResize="0"/>
          <p:nvPr/>
        </p:nvPicPr>
        <p:blipFill rotWithShape="1">
          <a:blip r:embed="rId8">
            <a:alphaModFix/>
          </a:blip>
          <a:srcRect b="0" l="0" r="0" t="0"/>
          <a:stretch/>
        </p:blipFill>
        <p:spPr>
          <a:xfrm>
            <a:off x="4897344" y="3704052"/>
            <a:ext cx="199705" cy="199705"/>
          </a:xfrm>
          <a:prstGeom prst="rect">
            <a:avLst/>
          </a:prstGeom>
          <a:noFill/>
          <a:ln>
            <a:noFill/>
          </a:ln>
        </p:spPr>
      </p:pic>
      <p:sp>
        <p:nvSpPr>
          <p:cNvPr id="1272" name="Google Shape;1272;p56"/>
          <p:cNvSpPr txBox="1"/>
          <p:nvPr/>
        </p:nvSpPr>
        <p:spPr>
          <a:xfrm>
            <a:off x="53538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2nd DHJ</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Possible for some active or deactivated FC customers.</a:t>
            </a:r>
            <a:endParaRPr b="0" i="0" sz="1200" u="none" cap="none" strike="noStrike">
              <a:solidFill>
                <a:schemeClr val="dk1"/>
              </a:solidFill>
              <a:latin typeface="Calibri"/>
              <a:ea typeface="Calibri"/>
              <a:cs typeface="Calibri"/>
              <a:sym typeface="Calibri"/>
            </a:endParaRPr>
          </a:p>
        </p:txBody>
      </p:sp>
      <p:sp>
        <p:nvSpPr>
          <p:cNvPr id="1273" name="Google Shape;1273;p5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8" name="Shape 1278"/>
        <p:cNvGrpSpPr/>
        <p:nvPr/>
      </p:nvGrpSpPr>
      <p:grpSpPr>
        <a:xfrm>
          <a:off x="0" y="0"/>
          <a:ext cx="0" cy="0"/>
          <a:chOff x="0" y="0"/>
          <a:chExt cx="0" cy="0"/>
        </a:xfrm>
      </p:grpSpPr>
      <p:sp>
        <p:nvSpPr>
          <p:cNvPr id="1279" name="Google Shape;1279;p57"/>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1280" name="Google Shape;1280;p57"/>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1281" name="Google Shape;1281;p57"/>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1282" name="Google Shape;1282;p57"/>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57"/>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1284" name="Google Shape;1284;p57"/>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1285" name="Google Shape;1285;p57"/>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6" name="Google Shape;1286;p57"/>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57"/>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8" name="Google Shape;1288;p57"/>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57"/>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0" name="Google Shape;1290;p57"/>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57"/>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6" name="Shape 1296"/>
        <p:cNvGrpSpPr/>
        <p:nvPr/>
      </p:nvGrpSpPr>
      <p:grpSpPr>
        <a:xfrm>
          <a:off x="0" y="0"/>
          <a:ext cx="0" cy="0"/>
          <a:chOff x="0" y="0"/>
          <a:chExt cx="0" cy="0"/>
        </a:xfrm>
      </p:grpSpPr>
      <p:sp>
        <p:nvSpPr>
          <p:cNvPr id="1297" name="Google Shape;1297;p58"/>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06</a:t>
            </a:r>
            <a:endParaRPr b="0" i="0" sz="800" u="none" cap="none" strike="noStrike">
              <a:solidFill>
                <a:schemeClr val="dk1"/>
              </a:solidFill>
              <a:latin typeface="Calibri"/>
              <a:ea typeface="Calibri"/>
              <a:cs typeface="Calibri"/>
              <a:sym typeface="Calibri"/>
            </a:endParaRPr>
          </a:p>
        </p:txBody>
      </p:sp>
      <p:sp>
        <p:nvSpPr>
          <p:cNvPr id="1298" name="Google Shape;1298;p58"/>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Non-Logged-In Visitor Tickets</a:t>
            </a:r>
            <a:endParaRPr b="0" i="0" sz="2800" u="none" cap="none" strike="noStrike">
              <a:solidFill>
                <a:schemeClr val="dk1"/>
              </a:solidFill>
              <a:latin typeface="Calibri"/>
              <a:ea typeface="Calibri"/>
              <a:cs typeface="Calibri"/>
              <a:sym typeface="Calibri"/>
            </a:endParaRPr>
          </a:p>
        </p:txBody>
      </p:sp>
      <p:sp>
        <p:nvSpPr>
          <p:cNvPr id="1299" name="Google Shape;1299;p58"/>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Someone used an existing customer's email, but wasn't logged in.</a:t>
            </a:r>
            <a:endParaRPr b="0" i="0" sz="1150" u="none" cap="none" strike="noStrike">
              <a:solidFill>
                <a:schemeClr val="dk1"/>
              </a:solidFill>
              <a:latin typeface="Calibri"/>
              <a:ea typeface="Calibri"/>
              <a:cs typeface="Calibri"/>
              <a:sym typeface="Calibri"/>
            </a:endParaRPr>
          </a:p>
        </p:txBody>
      </p:sp>
      <p:sp>
        <p:nvSpPr>
          <p:cNvPr id="1300" name="Google Shape;1300;p58"/>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301" name="Google Shape;1301;p58"/>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02" name="Google Shape;1302;p58"/>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303" name="Google Shape;1303;p58"/>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the ticket looks like</a:t>
            </a:r>
            <a:endParaRPr b="0" i="0" sz="1050" u="none" cap="none" strike="noStrike">
              <a:solidFill>
                <a:schemeClr val="dk1"/>
              </a:solidFill>
              <a:latin typeface="Calibri"/>
              <a:ea typeface="Calibri"/>
              <a:cs typeface="Calibri"/>
              <a:sym typeface="Calibri"/>
            </a:endParaRPr>
          </a:p>
        </p:txBody>
      </p:sp>
      <p:sp>
        <p:nvSpPr>
          <p:cNvPr id="1304" name="Google Shape;1304;p58"/>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05" name="Google Shape;1305;p58"/>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306" name="Google Shape;1306;p58"/>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Why it's a security checkpoint</a:t>
            </a:r>
            <a:endParaRPr b="0" i="0" sz="1050" u="none" cap="none" strike="noStrike">
              <a:solidFill>
                <a:schemeClr val="dk1"/>
              </a:solidFill>
              <a:latin typeface="Calibri"/>
              <a:ea typeface="Calibri"/>
              <a:cs typeface="Calibri"/>
              <a:sym typeface="Calibri"/>
            </a:endParaRPr>
          </a:p>
        </p:txBody>
      </p:sp>
      <p:sp>
        <p:nvSpPr>
          <p:cNvPr id="1307" name="Google Shape;1307;p58"/>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08" name="Google Shape;1308;p58"/>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309" name="Google Shape;1309;p58"/>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How to respond</a:t>
            </a:r>
            <a:endParaRPr b="0" i="0" sz="1050" u="none" cap="none" strike="noStrike">
              <a:solidFill>
                <a:schemeClr val="dk1"/>
              </a:solidFill>
              <a:latin typeface="Calibri"/>
              <a:ea typeface="Calibri"/>
              <a:cs typeface="Calibri"/>
              <a:sym typeface="Calibri"/>
            </a:endParaRPr>
          </a:p>
        </p:txBody>
      </p:sp>
      <p:sp>
        <p:nvSpPr>
          <p:cNvPr id="1310" name="Google Shape;1310;p58"/>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58"/>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14.png" id="1312" name="Google Shape;1312;p58"/>
          <p:cNvPicPr preferRelativeResize="0"/>
          <p:nvPr/>
        </p:nvPicPr>
        <p:blipFill rotWithShape="1">
          <a:blip r:embed="rId4">
            <a:alphaModFix/>
          </a:blip>
          <a:srcRect b="0" l="0" r="0" t="0"/>
          <a:stretch/>
        </p:blipFill>
        <p:spPr>
          <a:xfrm>
            <a:off x="5541264" y="1519076"/>
            <a:ext cx="2926080" cy="2100775"/>
          </a:xfrm>
          <a:prstGeom prst="rect">
            <a:avLst/>
          </a:prstGeom>
          <a:noFill/>
          <a:ln>
            <a:noFill/>
          </a:ln>
        </p:spPr>
      </p:pic>
      <p:sp>
        <p:nvSpPr>
          <p:cNvPr id="1313" name="Google Shape;1313;p58"/>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4" name="Google Shape;1314;p58"/>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58"/>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58"/>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58"/>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58"/>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9" name="Google Shape;1319;p5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4" name="Shape 1324"/>
        <p:cNvGrpSpPr/>
        <p:nvPr/>
      </p:nvGrpSpPr>
      <p:grpSpPr>
        <a:xfrm>
          <a:off x="0" y="0"/>
          <a:ext cx="0" cy="0"/>
          <a:chOff x="0" y="0"/>
          <a:chExt cx="0" cy="0"/>
        </a:xfrm>
      </p:grpSpPr>
      <p:sp>
        <p:nvSpPr>
          <p:cNvPr id="1325" name="Google Shape;1325;p5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NON-LOGGED-IN VISITOR TICKETS</a:t>
            </a:r>
            <a:endParaRPr b="0" i="0" sz="800" u="none" cap="none" strike="noStrike">
              <a:solidFill>
                <a:schemeClr val="dk1"/>
              </a:solidFill>
              <a:latin typeface="Calibri"/>
              <a:ea typeface="Calibri"/>
              <a:cs typeface="Calibri"/>
              <a:sym typeface="Calibri"/>
            </a:endParaRPr>
          </a:p>
        </p:txBody>
      </p:sp>
      <p:sp>
        <p:nvSpPr>
          <p:cNvPr id="1326" name="Google Shape;1326;p5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it looks like</a:t>
            </a:r>
            <a:endParaRPr b="0" i="0" sz="2400" u="none" cap="none" strike="noStrike">
              <a:solidFill>
                <a:schemeClr val="dk1"/>
              </a:solidFill>
              <a:latin typeface="Calibri"/>
              <a:ea typeface="Calibri"/>
              <a:cs typeface="Calibri"/>
              <a:sym typeface="Calibri"/>
            </a:endParaRPr>
          </a:p>
        </p:txBody>
      </p:sp>
      <p:sp>
        <p:nvSpPr>
          <p:cNvPr id="1327" name="Google Shape;1327;p5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new CRM flags these tickets for you.</a:t>
            </a:r>
            <a:endParaRPr b="0" i="0" sz="1200" u="none" cap="none" strike="noStrike">
              <a:solidFill>
                <a:schemeClr val="dk1"/>
              </a:solidFill>
              <a:latin typeface="Calibri"/>
              <a:ea typeface="Calibri"/>
              <a:cs typeface="Calibri"/>
              <a:sym typeface="Calibri"/>
            </a:endParaRPr>
          </a:p>
        </p:txBody>
      </p:sp>
      <p:sp>
        <p:nvSpPr>
          <p:cNvPr id="1328" name="Google Shape;1328;p59"/>
          <p:cNvSpPr/>
          <p:nvPr/>
        </p:nvSpPr>
        <p:spPr>
          <a:xfrm>
            <a:off x="411480" y="1325880"/>
            <a:ext cx="8321040" cy="1508760"/>
          </a:xfrm>
          <a:prstGeom prst="roundRect">
            <a:avLst>
              <a:gd fmla="val 4848"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ticket_nonlogged.png" id="1329" name="Google Shape;1329;p59"/>
          <p:cNvPicPr preferRelativeResize="0"/>
          <p:nvPr/>
        </p:nvPicPr>
        <p:blipFill rotWithShape="1">
          <a:blip r:embed="rId3">
            <a:alphaModFix/>
          </a:blip>
          <a:srcRect b="0" l="0" r="0" t="0"/>
          <a:stretch/>
        </p:blipFill>
        <p:spPr>
          <a:xfrm>
            <a:off x="484632" y="1437303"/>
            <a:ext cx="8174736" cy="1285914"/>
          </a:xfrm>
          <a:prstGeom prst="rect">
            <a:avLst/>
          </a:prstGeom>
          <a:noFill/>
          <a:ln>
            <a:noFill/>
          </a:ln>
        </p:spPr>
      </p:pic>
      <p:sp>
        <p:nvSpPr>
          <p:cNvPr id="1330" name="Google Shape;1330;p59"/>
          <p:cNvSpPr/>
          <p:nvPr/>
        </p:nvSpPr>
        <p:spPr>
          <a:xfrm>
            <a:off x="2792388" y="1483229"/>
            <a:ext cx="2204423" cy="298516"/>
          </a:xfrm>
          <a:prstGeom prst="roundRect">
            <a:avLst>
              <a:gd fmla="val 9189"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1" name="Google Shape;1331;p59"/>
          <p:cNvSpPr/>
          <p:nvPr/>
        </p:nvSpPr>
        <p:spPr>
          <a:xfrm>
            <a:off x="2691804" y="1382645"/>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2" name="Google Shape;1332;p59"/>
          <p:cNvSpPr txBox="1"/>
          <p:nvPr/>
        </p:nvSpPr>
        <p:spPr>
          <a:xfrm>
            <a:off x="2691804" y="1382645"/>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1</a:t>
            </a:r>
            <a:endParaRPr b="0" i="0" sz="800" u="none" cap="none" strike="noStrike">
              <a:solidFill>
                <a:schemeClr val="dk1"/>
              </a:solidFill>
              <a:latin typeface="Calibri"/>
              <a:ea typeface="Calibri"/>
              <a:cs typeface="Calibri"/>
              <a:sym typeface="Calibri"/>
            </a:endParaRPr>
          </a:p>
        </p:txBody>
      </p:sp>
      <p:sp>
        <p:nvSpPr>
          <p:cNvPr id="1333" name="Google Shape;1333;p59"/>
          <p:cNvSpPr/>
          <p:nvPr/>
        </p:nvSpPr>
        <p:spPr>
          <a:xfrm>
            <a:off x="610927" y="1839151"/>
            <a:ext cx="7910664" cy="332960"/>
          </a:xfrm>
          <a:prstGeom prst="roundRect">
            <a:avLst>
              <a:gd fmla="val 8239"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4" name="Google Shape;1334;p59"/>
          <p:cNvSpPr/>
          <p:nvPr/>
        </p:nvSpPr>
        <p:spPr>
          <a:xfrm>
            <a:off x="510343" y="1738567"/>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59"/>
          <p:cNvSpPr txBox="1"/>
          <p:nvPr/>
        </p:nvSpPr>
        <p:spPr>
          <a:xfrm>
            <a:off x="510343" y="1738567"/>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2</a:t>
            </a:r>
            <a:endParaRPr b="0" i="0" sz="800" u="none" cap="none" strike="noStrike">
              <a:solidFill>
                <a:schemeClr val="dk1"/>
              </a:solidFill>
              <a:latin typeface="Calibri"/>
              <a:ea typeface="Calibri"/>
              <a:cs typeface="Calibri"/>
              <a:sym typeface="Calibri"/>
            </a:endParaRPr>
          </a:p>
        </p:txBody>
      </p:sp>
      <p:sp>
        <p:nvSpPr>
          <p:cNvPr id="1336" name="Google Shape;1336;p59"/>
          <p:cNvSpPr/>
          <p:nvPr/>
        </p:nvSpPr>
        <p:spPr>
          <a:xfrm>
            <a:off x="610927" y="2252481"/>
            <a:ext cx="3605150" cy="218146"/>
          </a:xfrm>
          <a:prstGeom prst="roundRect">
            <a:avLst>
              <a:gd fmla="val 12575" name="adj"/>
            </a:avLst>
          </a:prstGeom>
          <a:noFill/>
          <a:ln cap="flat" cmpd="sng" w="254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7" name="Google Shape;1337;p59"/>
          <p:cNvSpPr/>
          <p:nvPr/>
        </p:nvSpPr>
        <p:spPr>
          <a:xfrm>
            <a:off x="510343" y="2151897"/>
            <a:ext cx="201168" cy="201168"/>
          </a:xfrm>
          <a:prstGeom prst="ellipse">
            <a:avLst/>
          </a:prstGeom>
          <a:solidFill>
            <a:srgbClr val="0B7A6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8" name="Google Shape;1338;p59"/>
          <p:cNvSpPr txBox="1"/>
          <p:nvPr/>
        </p:nvSpPr>
        <p:spPr>
          <a:xfrm>
            <a:off x="510343" y="2151897"/>
            <a:ext cx="201168"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00"/>
              <a:buFont typeface="Play"/>
              <a:buNone/>
            </a:pPr>
            <a:r>
              <a:rPr b="1" i="0" lang="en" sz="800" u="none" cap="none" strike="noStrike">
                <a:solidFill>
                  <a:srgbClr val="FFFFFF"/>
                </a:solidFill>
                <a:latin typeface="Play"/>
                <a:ea typeface="Play"/>
                <a:cs typeface="Play"/>
                <a:sym typeface="Play"/>
              </a:rPr>
              <a:t>3</a:t>
            </a:r>
            <a:endParaRPr b="0" i="0" sz="800" u="none" cap="none" strike="noStrike">
              <a:solidFill>
                <a:schemeClr val="dk1"/>
              </a:solidFill>
              <a:latin typeface="Calibri"/>
              <a:ea typeface="Calibri"/>
              <a:cs typeface="Calibri"/>
              <a:sym typeface="Calibri"/>
            </a:endParaRPr>
          </a:p>
        </p:txBody>
      </p:sp>
      <p:sp>
        <p:nvSpPr>
          <p:cNvPr id="1339" name="Google Shape;1339;p59"/>
          <p:cNvSpPr/>
          <p:nvPr/>
        </p:nvSpPr>
        <p:spPr>
          <a:xfrm>
            <a:off x="411480" y="3017520"/>
            <a:ext cx="269748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59"/>
          <p:cNvSpPr/>
          <p:nvPr/>
        </p:nvSpPr>
        <p:spPr>
          <a:xfrm>
            <a:off x="539496" y="3172968"/>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1" name="Google Shape;1341;p59"/>
          <p:cNvSpPr txBox="1"/>
          <p:nvPr/>
        </p:nvSpPr>
        <p:spPr>
          <a:xfrm>
            <a:off x="539496" y="3172968"/>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342" name="Google Shape;1342;p59"/>
          <p:cNvSpPr txBox="1"/>
          <p:nvPr/>
        </p:nvSpPr>
        <p:spPr>
          <a:xfrm>
            <a:off x="914400" y="3063240"/>
            <a:ext cx="21031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Triggered ticket</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Came in from the Help Center</a:t>
            </a:r>
            <a:endParaRPr b="0" i="0" sz="1050" u="none" cap="none" strike="noStrike">
              <a:solidFill>
                <a:schemeClr val="dk1"/>
              </a:solidFill>
              <a:latin typeface="Calibri"/>
              <a:ea typeface="Calibri"/>
              <a:cs typeface="Calibri"/>
              <a:sym typeface="Calibri"/>
            </a:endParaRPr>
          </a:p>
        </p:txBody>
      </p:sp>
      <p:sp>
        <p:nvSpPr>
          <p:cNvPr id="1343" name="Google Shape;1343;p59"/>
          <p:cNvSpPr/>
          <p:nvPr/>
        </p:nvSpPr>
        <p:spPr>
          <a:xfrm>
            <a:off x="3227832" y="3017520"/>
            <a:ext cx="269748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59"/>
          <p:cNvSpPr/>
          <p:nvPr/>
        </p:nvSpPr>
        <p:spPr>
          <a:xfrm>
            <a:off x="3355848" y="3172968"/>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59"/>
          <p:cNvSpPr txBox="1"/>
          <p:nvPr/>
        </p:nvSpPr>
        <p:spPr>
          <a:xfrm>
            <a:off x="3355848" y="3172968"/>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346" name="Google Shape;1346;p59"/>
          <p:cNvSpPr txBox="1"/>
          <p:nvPr/>
        </p:nvSpPr>
        <p:spPr>
          <a:xfrm>
            <a:off x="3730752" y="3063240"/>
            <a:ext cx="21031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System note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Sender wasn't logged in</a:t>
            </a:r>
            <a:endParaRPr b="0" i="0" sz="1050" u="none" cap="none" strike="noStrike">
              <a:solidFill>
                <a:schemeClr val="dk1"/>
              </a:solidFill>
              <a:latin typeface="Calibri"/>
              <a:ea typeface="Calibri"/>
              <a:cs typeface="Calibri"/>
              <a:sym typeface="Calibri"/>
            </a:endParaRPr>
          </a:p>
        </p:txBody>
      </p:sp>
      <p:sp>
        <p:nvSpPr>
          <p:cNvPr id="1347" name="Google Shape;1347;p59"/>
          <p:cNvSpPr/>
          <p:nvPr/>
        </p:nvSpPr>
        <p:spPr>
          <a:xfrm>
            <a:off x="6035040" y="3017520"/>
            <a:ext cx="2697480" cy="566928"/>
          </a:xfrm>
          <a:prstGeom prst="roundRect">
            <a:avLst>
              <a:gd fmla="val 12903"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8" name="Google Shape;1348;p59"/>
          <p:cNvSpPr/>
          <p:nvPr/>
        </p:nvSpPr>
        <p:spPr>
          <a:xfrm>
            <a:off x="6163056" y="3172968"/>
            <a:ext cx="256032" cy="256032"/>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9" name="Google Shape;1349;p59"/>
          <p:cNvSpPr txBox="1"/>
          <p:nvPr/>
        </p:nvSpPr>
        <p:spPr>
          <a:xfrm>
            <a:off x="6163056" y="3172968"/>
            <a:ext cx="25603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900"/>
              <a:buFont typeface="Play"/>
              <a:buNone/>
            </a:pPr>
            <a:r>
              <a:rPr b="1" i="0" lang="en" sz="900" u="none" cap="none" strike="noStrike">
                <a:solidFill>
                  <a:srgbClr val="FFFFF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350" name="Google Shape;1350;p59"/>
          <p:cNvSpPr txBox="1"/>
          <p:nvPr/>
        </p:nvSpPr>
        <p:spPr>
          <a:xfrm>
            <a:off x="6537960" y="3063240"/>
            <a:ext cx="2103120" cy="47548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Their message</a:t>
            </a:r>
            <a:endParaRPr b="0" i="0" sz="10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00"/>
              <a:buFont typeface="Arial"/>
              <a:buNone/>
            </a:pPr>
            <a:r>
              <a:rPr b="0" i="0" lang="en" sz="900" u="none" cap="none" strike="noStrike">
                <a:solidFill>
                  <a:srgbClr val="6E6E73"/>
                </a:solidFill>
                <a:latin typeface="Arial"/>
                <a:ea typeface="Arial"/>
                <a:cs typeface="Arial"/>
                <a:sym typeface="Arial"/>
              </a:rPr>
              <a:t>What the visitor is asking</a:t>
            </a:r>
            <a:endParaRPr b="0" i="0" sz="1050" u="none" cap="none" strike="noStrike">
              <a:solidFill>
                <a:schemeClr val="dk1"/>
              </a:solidFill>
              <a:latin typeface="Calibri"/>
              <a:ea typeface="Calibri"/>
              <a:cs typeface="Calibri"/>
              <a:sym typeface="Calibri"/>
            </a:endParaRPr>
          </a:p>
        </p:txBody>
      </p:sp>
      <p:sp>
        <p:nvSpPr>
          <p:cNvPr id="1351" name="Google Shape;1351;p59"/>
          <p:cNvSpPr/>
          <p:nvPr/>
        </p:nvSpPr>
        <p:spPr>
          <a:xfrm>
            <a:off x="411480" y="379476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52" name="Google Shape;1352;p59"/>
          <p:cNvPicPr preferRelativeResize="0"/>
          <p:nvPr/>
        </p:nvPicPr>
        <p:blipFill rotWithShape="1">
          <a:blip r:embed="rId4">
            <a:alphaModFix/>
          </a:blip>
          <a:srcRect b="0" l="0" r="0" t="0"/>
          <a:stretch/>
        </p:blipFill>
        <p:spPr>
          <a:xfrm>
            <a:off x="566928" y="3904488"/>
            <a:ext cx="164592" cy="164592"/>
          </a:xfrm>
          <a:prstGeom prst="rect">
            <a:avLst/>
          </a:prstGeom>
          <a:noFill/>
          <a:ln>
            <a:noFill/>
          </a:ln>
        </p:spPr>
      </p:pic>
      <p:sp>
        <p:nvSpPr>
          <p:cNvPr id="1353" name="Google Shape;1353;p59"/>
          <p:cNvSpPr txBox="1"/>
          <p:nvPr/>
        </p:nvSpPr>
        <p:spPr>
          <a:xfrm>
            <a:off x="822960" y="389534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Remember:  </a:t>
            </a:r>
            <a:r>
              <a:rPr b="0" i="0" lang="en" sz="1000" u="none" cap="none" strike="noStrike">
                <a:solidFill>
                  <a:srgbClr val="1D1D1F"/>
                </a:solidFill>
                <a:latin typeface="Arial"/>
                <a:ea typeface="Arial"/>
                <a:cs typeface="Arial"/>
                <a:sym typeface="Arial"/>
              </a:rPr>
              <a:t>a matching email isn't proof. Anyone can type an email into a form.</a:t>
            </a:r>
            <a:endParaRPr b="0" i="0" sz="1000" u="none" cap="none" strike="noStrike">
              <a:solidFill>
                <a:schemeClr val="dk1"/>
              </a:solidFill>
              <a:latin typeface="Calibri"/>
              <a:ea typeface="Calibri"/>
              <a:cs typeface="Calibri"/>
              <a:sym typeface="Calibri"/>
            </a:endParaRPr>
          </a:p>
        </p:txBody>
      </p:sp>
      <p:sp>
        <p:nvSpPr>
          <p:cNvPr id="1354" name="Google Shape;1354;p5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6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NON-LOGGED-IN VISITOR TICKETS</a:t>
            </a:r>
            <a:endParaRPr b="0" i="0" sz="800" u="none" cap="none" strike="noStrike">
              <a:solidFill>
                <a:schemeClr val="dk1"/>
              </a:solidFill>
              <a:latin typeface="Calibri"/>
              <a:ea typeface="Calibri"/>
              <a:cs typeface="Calibri"/>
              <a:sym typeface="Calibri"/>
            </a:endParaRPr>
          </a:p>
        </p:txBody>
      </p:sp>
      <p:sp>
        <p:nvSpPr>
          <p:cNvPr id="1361" name="Google Shape;1361;p6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Why it matters</a:t>
            </a:r>
            <a:endParaRPr b="0" i="0" sz="2400" u="none" cap="none" strike="noStrike">
              <a:solidFill>
                <a:schemeClr val="dk1"/>
              </a:solidFill>
              <a:latin typeface="Calibri"/>
              <a:ea typeface="Calibri"/>
              <a:cs typeface="Calibri"/>
              <a:sym typeface="Calibri"/>
            </a:endParaRPr>
          </a:p>
        </p:txBody>
      </p:sp>
      <p:sp>
        <p:nvSpPr>
          <p:cNvPr id="1362" name="Google Shape;1362;p6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This is a security and privacy checkpoint, not a routine ticket.</a:t>
            </a:r>
            <a:endParaRPr b="0" i="0" sz="1200" u="none" cap="none" strike="noStrike">
              <a:solidFill>
                <a:schemeClr val="dk1"/>
              </a:solidFill>
              <a:latin typeface="Calibri"/>
              <a:ea typeface="Calibri"/>
              <a:cs typeface="Calibri"/>
              <a:sym typeface="Calibri"/>
            </a:endParaRPr>
          </a:p>
        </p:txBody>
      </p:sp>
      <p:sp>
        <p:nvSpPr>
          <p:cNvPr id="1363" name="Google Shape;1363;p60"/>
          <p:cNvSpPr/>
          <p:nvPr/>
        </p:nvSpPr>
        <p:spPr>
          <a:xfrm>
            <a:off x="411480" y="137160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4" name="Google Shape;1364;p60"/>
          <p:cNvSpPr/>
          <p:nvPr/>
        </p:nvSpPr>
        <p:spPr>
          <a:xfrm>
            <a:off x="576072" y="153619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65" name="Google Shape;1365;p60"/>
          <p:cNvPicPr preferRelativeResize="0"/>
          <p:nvPr/>
        </p:nvPicPr>
        <p:blipFill rotWithShape="1">
          <a:blip r:embed="rId3">
            <a:alphaModFix/>
          </a:blip>
          <a:srcRect b="0" l="0" r="0" t="0"/>
          <a:stretch/>
        </p:blipFill>
        <p:spPr>
          <a:xfrm>
            <a:off x="655076" y="1615196"/>
            <a:ext cx="171176" cy="171176"/>
          </a:xfrm>
          <a:prstGeom prst="rect">
            <a:avLst/>
          </a:prstGeom>
          <a:noFill/>
          <a:ln>
            <a:noFill/>
          </a:ln>
        </p:spPr>
      </p:pic>
      <p:sp>
        <p:nvSpPr>
          <p:cNvPr id="1366" name="Google Shape;1366;p60"/>
          <p:cNvSpPr txBox="1"/>
          <p:nvPr/>
        </p:nvSpPr>
        <p:spPr>
          <a:xfrm>
            <a:off x="576072" y="197510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Anyone can type an email</a:t>
            </a:r>
            <a:endParaRPr b="0" i="0" sz="1200" u="none" cap="none" strike="noStrike">
              <a:solidFill>
                <a:schemeClr val="dk1"/>
              </a:solidFill>
              <a:latin typeface="Calibri"/>
              <a:ea typeface="Calibri"/>
              <a:cs typeface="Calibri"/>
              <a:sym typeface="Calibri"/>
            </a:endParaRPr>
          </a:p>
        </p:txBody>
      </p:sp>
      <p:sp>
        <p:nvSpPr>
          <p:cNvPr id="1367" name="Google Shape;1367;p60"/>
          <p:cNvSpPr txBox="1"/>
          <p:nvPr/>
        </p:nvSpPr>
        <p:spPr>
          <a:xfrm>
            <a:off x="576072" y="226771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 match doesn't mean it's the account owner.</a:t>
            </a:r>
            <a:endParaRPr b="0" i="0" sz="950" u="none" cap="none" strike="noStrike">
              <a:solidFill>
                <a:schemeClr val="dk1"/>
              </a:solidFill>
              <a:latin typeface="Calibri"/>
              <a:ea typeface="Calibri"/>
              <a:cs typeface="Calibri"/>
              <a:sym typeface="Calibri"/>
            </a:endParaRPr>
          </a:p>
        </p:txBody>
      </p:sp>
      <p:sp>
        <p:nvSpPr>
          <p:cNvPr id="1368" name="Google Shape;1368;p60"/>
          <p:cNvSpPr/>
          <p:nvPr/>
        </p:nvSpPr>
        <p:spPr>
          <a:xfrm>
            <a:off x="3230880" y="137160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9" name="Google Shape;1369;p60"/>
          <p:cNvSpPr/>
          <p:nvPr/>
        </p:nvSpPr>
        <p:spPr>
          <a:xfrm>
            <a:off x="3395472" y="153619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70" name="Google Shape;1370;p60"/>
          <p:cNvPicPr preferRelativeResize="0"/>
          <p:nvPr/>
        </p:nvPicPr>
        <p:blipFill rotWithShape="1">
          <a:blip r:embed="rId4">
            <a:alphaModFix/>
          </a:blip>
          <a:srcRect b="0" l="0" r="0" t="0"/>
          <a:stretch/>
        </p:blipFill>
        <p:spPr>
          <a:xfrm>
            <a:off x="3474476" y="1615196"/>
            <a:ext cx="171176" cy="171176"/>
          </a:xfrm>
          <a:prstGeom prst="rect">
            <a:avLst/>
          </a:prstGeom>
          <a:noFill/>
          <a:ln>
            <a:noFill/>
          </a:ln>
        </p:spPr>
      </p:pic>
      <p:sp>
        <p:nvSpPr>
          <p:cNvPr id="1371" name="Google Shape;1371;p60"/>
          <p:cNvSpPr txBox="1"/>
          <p:nvPr/>
        </p:nvSpPr>
        <p:spPr>
          <a:xfrm>
            <a:off x="3395472" y="197510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Wrong person, real data</a:t>
            </a:r>
            <a:endParaRPr b="0" i="0" sz="1200" u="none" cap="none" strike="noStrike">
              <a:solidFill>
                <a:schemeClr val="dk1"/>
              </a:solidFill>
              <a:latin typeface="Calibri"/>
              <a:ea typeface="Calibri"/>
              <a:cs typeface="Calibri"/>
              <a:sym typeface="Calibri"/>
            </a:endParaRPr>
          </a:p>
        </p:txBody>
      </p:sp>
      <p:sp>
        <p:nvSpPr>
          <p:cNvPr id="1372" name="Google Shape;1372;p60"/>
          <p:cNvSpPr txBox="1"/>
          <p:nvPr/>
        </p:nvSpPr>
        <p:spPr>
          <a:xfrm>
            <a:off x="3395472" y="226771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Replying to the wrong person exposes the account.</a:t>
            </a:r>
            <a:endParaRPr b="0" i="0" sz="950" u="none" cap="none" strike="noStrike">
              <a:solidFill>
                <a:schemeClr val="dk1"/>
              </a:solidFill>
              <a:latin typeface="Calibri"/>
              <a:ea typeface="Calibri"/>
              <a:cs typeface="Calibri"/>
              <a:sym typeface="Calibri"/>
            </a:endParaRPr>
          </a:p>
        </p:txBody>
      </p:sp>
      <p:sp>
        <p:nvSpPr>
          <p:cNvPr id="1373" name="Google Shape;1373;p60"/>
          <p:cNvSpPr/>
          <p:nvPr/>
        </p:nvSpPr>
        <p:spPr>
          <a:xfrm>
            <a:off x="6050280" y="1371600"/>
            <a:ext cx="2682300" cy="169170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60"/>
          <p:cNvSpPr/>
          <p:nvPr/>
        </p:nvSpPr>
        <p:spPr>
          <a:xfrm>
            <a:off x="6214872" y="1536192"/>
            <a:ext cx="329100" cy="32910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75" name="Google Shape;1375;p60"/>
          <p:cNvPicPr preferRelativeResize="0"/>
          <p:nvPr/>
        </p:nvPicPr>
        <p:blipFill rotWithShape="1">
          <a:blip r:embed="rId5">
            <a:alphaModFix/>
          </a:blip>
          <a:srcRect b="0" l="0" r="0" t="0"/>
          <a:stretch/>
        </p:blipFill>
        <p:spPr>
          <a:xfrm>
            <a:off x="6293876" y="1615196"/>
            <a:ext cx="171176" cy="171176"/>
          </a:xfrm>
          <a:prstGeom prst="rect">
            <a:avLst/>
          </a:prstGeom>
          <a:noFill/>
          <a:ln>
            <a:noFill/>
          </a:ln>
        </p:spPr>
      </p:pic>
      <p:sp>
        <p:nvSpPr>
          <p:cNvPr id="1376" name="Google Shape;1376;p60"/>
          <p:cNvSpPr txBox="1"/>
          <p:nvPr/>
        </p:nvSpPr>
        <p:spPr>
          <a:xfrm>
            <a:off x="6214872" y="1975104"/>
            <a:ext cx="2353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Verify first</a:t>
            </a:r>
            <a:endParaRPr b="0" i="0" sz="1200" u="none" cap="none" strike="noStrike">
              <a:solidFill>
                <a:schemeClr val="dk1"/>
              </a:solidFill>
              <a:latin typeface="Calibri"/>
              <a:ea typeface="Calibri"/>
              <a:cs typeface="Calibri"/>
              <a:sym typeface="Calibri"/>
            </a:endParaRPr>
          </a:p>
        </p:txBody>
      </p:sp>
      <p:sp>
        <p:nvSpPr>
          <p:cNvPr id="1377" name="Google Shape;1377;p60"/>
          <p:cNvSpPr txBox="1"/>
          <p:nvPr/>
        </p:nvSpPr>
        <p:spPr>
          <a:xfrm>
            <a:off x="6214872" y="2267712"/>
            <a:ext cx="2353200" cy="70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Confirm who you're talking to before you share anything.</a:t>
            </a:r>
            <a:endParaRPr b="0" i="0" sz="950" u="none" cap="none" strike="noStrike">
              <a:solidFill>
                <a:schemeClr val="dk1"/>
              </a:solidFill>
              <a:latin typeface="Calibri"/>
              <a:ea typeface="Calibri"/>
              <a:cs typeface="Calibri"/>
              <a:sym typeface="Calibri"/>
            </a:endParaRPr>
          </a:p>
        </p:txBody>
      </p:sp>
      <p:sp>
        <p:nvSpPr>
          <p:cNvPr id="1378" name="Google Shape;1378;p6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6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NON-LOGGED-IN VISITOR TICKETS</a:t>
            </a:r>
            <a:endParaRPr b="0" i="0" sz="800" u="none" cap="none" strike="noStrike">
              <a:solidFill>
                <a:schemeClr val="dk1"/>
              </a:solidFill>
              <a:latin typeface="Calibri"/>
              <a:ea typeface="Calibri"/>
              <a:cs typeface="Calibri"/>
              <a:sym typeface="Calibri"/>
            </a:endParaRPr>
          </a:p>
        </p:txBody>
      </p:sp>
      <p:sp>
        <p:nvSpPr>
          <p:cNvPr id="1385" name="Google Shape;1385;p6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How to respond</a:t>
            </a:r>
            <a:endParaRPr b="0" i="0" sz="2400" u="none" cap="none" strike="noStrike">
              <a:solidFill>
                <a:schemeClr val="dk1"/>
              </a:solidFill>
              <a:latin typeface="Calibri"/>
              <a:ea typeface="Calibri"/>
              <a:cs typeface="Calibri"/>
              <a:sym typeface="Calibri"/>
            </a:endParaRPr>
          </a:p>
        </p:txBody>
      </p:sp>
      <p:sp>
        <p:nvSpPr>
          <p:cNvPr id="1386" name="Google Shape;1386;p6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Check the account first. What you find decides your reply.</a:t>
            </a:r>
            <a:endParaRPr b="0" i="0" sz="1200" u="none" cap="none" strike="noStrike">
              <a:solidFill>
                <a:schemeClr val="dk1"/>
              </a:solidFill>
              <a:latin typeface="Calibri"/>
              <a:ea typeface="Calibri"/>
              <a:cs typeface="Calibri"/>
              <a:sym typeface="Calibri"/>
            </a:endParaRPr>
          </a:p>
        </p:txBody>
      </p:sp>
      <p:sp>
        <p:nvSpPr>
          <p:cNvPr id="1387" name="Google Shape;1387;p61"/>
          <p:cNvSpPr/>
          <p:nvPr/>
        </p:nvSpPr>
        <p:spPr>
          <a:xfrm>
            <a:off x="411480" y="1325880"/>
            <a:ext cx="8321040" cy="566928"/>
          </a:xfrm>
          <a:prstGeom prst="roundRect">
            <a:avLst>
              <a:gd fmla="val 12903" name="adj"/>
            </a:avLst>
          </a:prstGeom>
          <a:solidFill>
            <a:srgbClr val="0B7A6F"/>
          </a:solidFill>
          <a:ln cap="flat" cmpd="sng" w="9525">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88" name="Google Shape;1388;p61"/>
          <p:cNvPicPr preferRelativeResize="0"/>
          <p:nvPr/>
        </p:nvPicPr>
        <p:blipFill rotWithShape="1">
          <a:blip r:embed="rId3">
            <a:alphaModFix/>
          </a:blip>
          <a:srcRect b="0" l="0" r="0" t="0"/>
          <a:stretch/>
        </p:blipFill>
        <p:spPr>
          <a:xfrm>
            <a:off x="621792" y="1490472"/>
            <a:ext cx="237744" cy="237744"/>
          </a:xfrm>
          <a:prstGeom prst="rect">
            <a:avLst/>
          </a:prstGeom>
          <a:noFill/>
          <a:ln>
            <a:noFill/>
          </a:ln>
        </p:spPr>
      </p:pic>
      <p:sp>
        <p:nvSpPr>
          <p:cNvPr id="1389" name="Google Shape;1389;p61"/>
          <p:cNvSpPr txBox="1"/>
          <p:nvPr/>
        </p:nvSpPr>
        <p:spPr>
          <a:xfrm>
            <a:off x="987552" y="1325880"/>
            <a:ext cx="7589520"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50"/>
              <a:buFont typeface="Play"/>
              <a:buNone/>
            </a:pPr>
            <a:r>
              <a:rPr b="1" i="0" lang="en" sz="1150" u="none" cap="none" strike="noStrike">
                <a:solidFill>
                  <a:srgbClr val="FFFFFF"/>
                </a:solidFill>
                <a:latin typeface="Play"/>
                <a:ea typeface="Play"/>
                <a:cs typeface="Play"/>
                <a:sym typeface="Play"/>
              </a:rPr>
              <a:t>First, check the account:  </a:t>
            </a:r>
            <a:r>
              <a:rPr b="0" i="0" lang="en" sz="1150" u="none" cap="none" strike="noStrike">
                <a:solidFill>
                  <a:srgbClr val="FFFFFF"/>
                </a:solidFill>
                <a:latin typeface="Arial"/>
                <a:ea typeface="Arial"/>
                <a:cs typeface="Arial"/>
                <a:sym typeface="Arial"/>
              </a:rPr>
              <a:t>recent jobs, address, and whether their issue matches what's on file.</a:t>
            </a:r>
            <a:endParaRPr b="0" i="0" sz="1150" u="none" cap="none" strike="noStrike">
              <a:solidFill>
                <a:schemeClr val="dk1"/>
              </a:solidFill>
              <a:latin typeface="Calibri"/>
              <a:ea typeface="Calibri"/>
              <a:cs typeface="Calibri"/>
              <a:sym typeface="Calibri"/>
            </a:endParaRPr>
          </a:p>
        </p:txBody>
      </p:sp>
      <p:sp>
        <p:nvSpPr>
          <p:cNvPr id="1390" name="Google Shape;1390;p61"/>
          <p:cNvSpPr/>
          <p:nvPr/>
        </p:nvSpPr>
        <p:spPr>
          <a:xfrm>
            <a:off x="411480" y="2057400"/>
            <a:ext cx="2682240" cy="1828800"/>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1" name="Google Shape;1391;p61"/>
          <p:cNvSpPr/>
          <p:nvPr/>
        </p:nvSpPr>
        <p:spPr>
          <a:xfrm>
            <a:off x="576072" y="222199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92" name="Google Shape;1392;p61"/>
          <p:cNvPicPr preferRelativeResize="0"/>
          <p:nvPr/>
        </p:nvPicPr>
        <p:blipFill rotWithShape="1">
          <a:blip r:embed="rId4">
            <a:alphaModFix/>
          </a:blip>
          <a:srcRect b="0" l="0" r="0" t="0"/>
          <a:stretch/>
        </p:blipFill>
        <p:spPr>
          <a:xfrm>
            <a:off x="655076" y="2300996"/>
            <a:ext cx="171176" cy="171176"/>
          </a:xfrm>
          <a:prstGeom prst="rect">
            <a:avLst/>
          </a:prstGeom>
          <a:noFill/>
          <a:ln>
            <a:noFill/>
          </a:ln>
        </p:spPr>
      </p:pic>
      <p:sp>
        <p:nvSpPr>
          <p:cNvPr id="1393" name="Google Shape;1393;p61"/>
          <p:cNvSpPr txBox="1"/>
          <p:nvPr/>
        </p:nvSpPr>
        <p:spPr>
          <a:xfrm>
            <a:off x="576072" y="266090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Details match</a:t>
            </a:r>
            <a:endParaRPr b="0" i="0" sz="1200" u="none" cap="none" strike="noStrike">
              <a:solidFill>
                <a:schemeClr val="dk1"/>
              </a:solidFill>
              <a:latin typeface="Calibri"/>
              <a:ea typeface="Calibri"/>
              <a:cs typeface="Calibri"/>
              <a:sym typeface="Calibri"/>
            </a:endParaRPr>
          </a:p>
        </p:txBody>
      </p:sp>
      <p:sp>
        <p:nvSpPr>
          <p:cNvPr id="1394" name="Google Shape;1394;p61"/>
          <p:cNvSpPr txBox="1"/>
          <p:nvPr/>
        </p:nvSpPr>
        <p:spPr>
          <a:xfrm>
            <a:off x="576072" y="2953512"/>
            <a:ext cx="2353056" cy="8412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Proceed as normal. No extra hoops for a verified customer.</a:t>
            </a:r>
            <a:endParaRPr b="0" i="0" sz="950" u="none" cap="none" strike="noStrike">
              <a:solidFill>
                <a:schemeClr val="dk1"/>
              </a:solidFill>
              <a:latin typeface="Calibri"/>
              <a:ea typeface="Calibri"/>
              <a:cs typeface="Calibri"/>
              <a:sym typeface="Calibri"/>
            </a:endParaRPr>
          </a:p>
        </p:txBody>
      </p:sp>
      <p:sp>
        <p:nvSpPr>
          <p:cNvPr id="1395" name="Google Shape;1395;p61"/>
          <p:cNvSpPr/>
          <p:nvPr/>
        </p:nvSpPr>
        <p:spPr>
          <a:xfrm>
            <a:off x="3230880" y="2057400"/>
            <a:ext cx="2682240" cy="1828800"/>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61"/>
          <p:cNvSpPr/>
          <p:nvPr/>
        </p:nvSpPr>
        <p:spPr>
          <a:xfrm>
            <a:off x="3395472" y="222199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97" name="Google Shape;1397;p61"/>
          <p:cNvPicPr preferRelativeResize="0"/>
          <p:nvPr/>
        </p:nvPicPr>
        <p:blipFill rotWithShape="1">
          <a:blip r:embed="rId5">
            <a:alphaModFix/>
          </a:blip>
          <a:srcRect b="0" l="0" r="0" t="0"/>
          <a:stretch/>
        </p:blipFill>
        <p:spPr>
          <a:xfrm>
            <a:off x="3474476" y="2300996"/>
            <a:ext cx="171176" cy="171176"/>
          </a:xfrm>
          <a:prstGeom prst="rect">
            <a:avLst/>
          </a:prstGeom>
          <a:noFill/>
          <a:ln>
            <a:noFill/>
          </a:ln>
        </p:spPr>
      </p:pic>
      <p:sp>
        <p:nvSpPr>
          <p:cNvPr id="1398" name="Google Shape;1398;p61"/>
          <p:cNvSpPr txBox="1"/>
          <p:nvPr/>
        </p:nvSpPr>
        <p:spPr>
          <a:xfrm>
            <a:off x="3395472" y="266090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Can't tell</a:t>
            </a:r>
            <a:endParaRPr b="0" i="0" sz="1200" u="none" cap="none" strike="noStrike">
              <a:solidFill>
                <a:schemeClr val="dk1"/>
              </a:solidFill>
              <a:latin typeface="Calibri"/>
              <a:ea typeface="Calibri"/>
              <a:cs typeface="Calibri"/>
              <a:sym typeface="Calibri"/>
            </a:endParaRPr>
          </a:p>
        </p:txBody>
      </p:sp>
      <p:sp>
        <p:nvSpPr>
          <p:cNvPr id="1399" name="Google Shape;1399;p61"/>
          <p:cNvSpPr txBox="1"/>
          <p:nvPr/>
        </p:nvSpPr>
        <p:spPr>
          <a:xfrm>
            <a:off x="3395472" y="2953512"/>
            <a:ext cx="2353056" cy="8412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Reply generically. Ask them to log in, or share a couple of identifying details.</a:t>
            </a:r>
            <a:endParaRPr b="0" i="0" sz="950" u="none" cap="none" strike="noStrike">
              <a:solidFill>
                <a:schemeClr val="dk1"/>
              </a:solidFill>
              <a:latin typeface="Calibri"/>
              <a:ea typeface="Calibri"/>
              <a:cs typeface="Calibri"/>
              <a:sym typeface="Calibri"/>
            </a:endParaRPr>
          </a:p>
        </p:txBody>
      </p:sp>
      <p:sp>
        <p:nvSpPr>
          <p:cNvPr id="1400" name="Google Shape;1400;p61"/>
          <p:cNvSpPr/>
          <p:nvPr/>
        </p:nvSpPr>
        <p:spPr>
          <a:xfrm>
            <a:off x="6050280" y="2057400"/>
            <a:ext cx="2682240" cy="1828800"/>
          </a:xfrm>
          <a:prstGeom prst="roundRect">
            <a:avLst>
              <a:gd fmla="val 4000"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61"/>
          <p:cNvSpPr/>
          <p:nvPr/>
        </p:nvSpPr>
        <p:spPr>
          <a:xfrm>
            <a:off x="6214872" y="222199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02" name="Google Shape;1402;p61"/>
          <p:cNvPicPr preferRelativeResize="0"/>
          <p:nvPr/>
        </p:nvPicPr>
        <p:blipFill rotWithShape="1">
          <a:blip r:embed="rId6">
            <a:alphaModFix/>
          </a:blip>
          <a:srcRect b="0" l="0" r="0" t="0"/>
          <a:stretch/>
        </p:blipFill>
        <p:spPr>
          <a:xfrm>
            <a:off x="6293876" y="2300996"/>
            <a:ext cx="171176" cy="171176"/>
          </a:xfrm>
          <a:prstGeom prst="rect">
            <a:avLst/>
          </a:prstGeom>
          <a:noFill/>
          <a:ln>
            <a:noFill/>
          </a:ln>
        </p:spPr>
      </p:pic>
      <p:sp>
        <p:nvSpPr>
          <p:cNvPr id="1403" name="Google Shape;1403;p61"/>
          <p:cNvSpPr txBox="1"/>
          <p:nvPr/>
        </p:nvSpPr>
        <p:spPr>
          <a:xfrm>
            <a:off x="6214872" y="266090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Clearly not them</a:t>
            </a:r>
            <a:endParaRPr b="0" i="0" sz="1200" u="none" cap="none" strike="noStrike">
              <a:solidFill>
                <a:schemeClr val="dk1"/>
              </a:solidFill>
              <a:latin typeface="Calibri"/>
              <a:ea typeface="Calibri"/>
              <a:cs typeface="Calibri"/>
              <a:sym typeface="Calibri"/>
            </a:endParaRPr>
          </a:p>
        </p:txBody>
      </p:sp>
      <p:sp>
        <p:nvSpPr>
          <p:cNvPr id="1404" name="Google Shape;1404;p61"/>
          <p:cNvSpPr txBox="1"/>
          <p:nvPr/>
        </p:nvSpPr>
        <p:spPr>
          <a:xfrm>
            <a:off x="6214872" y="2953512"/>
            <a:ext cx="2353056" cy="8412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Treat it as unverified. Share nothing about the account.</a:t>
            </a:r>
            <a:endParaRPr b="0" i="0" sz="950" u="none" cap="none" strike="noStrike">
              <a:solidFill>
                <a:schemeClr val="dk1"/>
              </a:solidFill>
              <a:latin typeface="Calibri"/>
              <a:ea typeface="Calibri"/>
              <a:cs typeface="Calibri"/>
              <a:sym typeface="Calibri"/>
            </a:endParaRPr>
          </a:p>
        </p:txBody>
      </p:sp>
      <p:sp>
        <p:nvSpPr>
          <p:cNvPr id="1405" name="Google Shape;1405;p61"/>
          <p:cNvSpPr/>
          <p:nvPr/>
        </p:nvSpPr>
        <p:spPr>
          <a:xfrm>
            <a:off x="411480" y="406908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06" name="Google Shape;1406;p61"/>
          <p:cNvPicPr preferRelativeResize="0"/>
          <p:nvPr/>
        </p:nvPicPr>
        <p:blipFill rotWithShape="1">
          <a:blip r:embed="rId7">
            <a:alphaModFix/>
          </a:blip>
          <a:srcRect b="0" l="0" r="0" t="0"/>
          <a:stretch/>
        </p:blipFill>
        <p:spPr>
          <a:xfrm>
            <a:off x="566928" y="4178808"/>
            <a:ext cx="164592" cy="164592"/>
          </a:xfrm>
          <a:prstGeom prst="rect">
            <a:avLst/>
          </a:prstGeom>
          <a:noFill/>
          <a:ln>
            <a:noFill/>
          </a:ln>
        </p:spPr>
      </p:pic>
      <p:sp>
        <p:nvSpPr>
          <p:cNvPr id="1407" name="Google Shape;1407;p61"/>
          <p:cNvSpPr txBox="1"/>
          <p:nvPr/>
        </p:nvSpPr>
        <p:spPr>
          <a:xfrm>
            <a:off x="822960" y="416966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Until verified:  </a:t>
            </a:r>
            <a:r>
              <a:rPr b="0" i="0" lang="en" sz="1000" u="none" cap="none" strike="noStrike">
                <a:solidFill>
                  <a:srgbClr val="1D1D1F"/>
                </a:solidFill>
                <a:latin typeface="Arial"/>
                <a:ea typeface="Arial"/>
                <a:cs typeface="Arial"/>
                <a:sym typeface="Arial"/>
              </a:rPr>
              <a:t>never confirm account details, upcoming appointments or charges.</a:t>
            </a:r>
            <a:endParaRPr b="0" i="0" sz="1000" u="none" cap="none" strike="noStrike">
              <a:solidFill>
                <a:schemeClr val="dk1"/>
              </a:solidFill>
              <a:latin typeface="Calibri"/>
              <a:ea typeface="Calibri"/>
              <a:cs typeface="Calibri"/>
              <a:sym typeface="Calibri"/>
            </a:endParaRPr>
          </a:p>
        </p:txBody>
      </p:sp>
      <p:sp>
        <p:nvSpPr>
          <p:cNvPr id="1408" name="Google Shape;1408;p6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62"/>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06</a:t>
            </a:r>
            <a:endParaRPr b="0" i="0" sz="800" u="none" cap="none" strike="noStrike">
              <a:solidFill>
                <a:schemeClr val="dk1"/>
              </a:solidFill>
              <a:latin typeface="Calibri"/>
              <a:ea typeface="Calibri"/>
              <a:cs typeface="Calibri"/>
              <a:sym typeface="Calibri"/>
            </a:endParaRPr>
          </a:p>
        </p:txBody>
      </p:sp>
      <p:sp>
        <p:nvSpPr>
          <p:cNvPr id="1415" name="Google Shape;1415;p62"/>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Max CP Rate</a:t>
            </a:r>
            <a:endParaRPr b="0" i="0" sz="2800" u="none" cap="none" strike="noStrike">
              <a:solidFill>
                <a:schemeClr val="dk1"/>
              </a:solidFill>
              <a:latin typeface="Calibri"/>
              <a:ea typeface="Calibri"/>
              <a:cs typeface="Calibri"/>
              <a:sym typeface="Calibri"/>
            </a:endParaRPr>
          </a:p>
        </p:txBody>
      </p:sp>
      <p:sp>
        <p:nvSpPr>
          <p:cNvPr id="1416" name="Google Shape;1416;p62"/>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The C-facing rate cap: the highest hourly rate a cleaner can claim this customer's jobs at.</a:t>
            </a:r>
            <a:endParaRPr b="0" i="0" sz="1150" u="none" cap="none" strike="noStrike">
              <a:solidFill>
                <a:schemeClr val="dk1"/>
              </a:solidFill>
              <a:latin typeface="Calibri"/>
              <a:ea typeface="Calibri"/>
              <a:cs typeface="Calibri"/>
              <a:sym typeface="Calibri"/>
            </a:endParaRPr>
          </a:p>
        </p:txBody>
      </p:sp>
      <p:sp>
        <p:nvSpPr>
          <p:cNvPr id="1417" name="Google Shape;1417;p62"/>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418" name="Google Shape;1418;p62"/>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19" name="Google Shape;1419;p62"/>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420" name="Google Shape;1420;p62"/>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the cap does</a:t>
            </a:r>
            <a:endParaRPr b="0" i="0" sz="1050" u="none" cap="none" strike="noStrike">
              <a:solidFill>
                <a:schemeClr val="dk1"/>
              </a:solidFill>
              <a:latin typeface="Calibri"/>
              <a:ea typeface="Calibri"/>
              <a:cs typeface="Calibri"/>
              <a:sym typeface="Calibri"/>
            </a:endParaRPr>
          </a:p>
        </p:txBody>
      </p:sp>
      <p:sp>
        <p:nvSpPr>
          <p:cNvPr id="1421" name="Google Shape;1421;p62"/>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22" name="Google Shape;1422;p62"/>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423" name="Google Shape;1423;p62"/>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to flag before setting it</a:t>
            </a:r>
            <a:endParaRPr b="0" i="0" sz="1050" u="none" cap="none" strike="noStrike">
              <a:solidFill>
                <a:schemeClr val="dk1"/>
              </a:solidFill>
              <a:latin typeface="Calibri"/>
              <a:ea typeface="Calibri"/>
              <a:cs typeface="Calibri"/>
              <a:sym typeface="Calibri"/>
            </a:endParaRPr>
          </a:p>
        </p:txBody>
      </p:sp>
      <p:sp>
        <p:nvSpPr>
          <p:cNvPr id="1424" name="Google Shape;1424;p62"/>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25" name="Google Shape;1425;p62"/>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426" name="Google Shape;1426;p62"/>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How the cap behaves</a:t>
            </a:r>
            <a:endParaRPr b="0" i="0" sz="1050" u="none" cap="none" strike="noStrike">
              <a:solidFill>
                <a:schemeClr val="dk1"/>
              </a:solidFill>
              <a:latin typeface="Calibri"/>
              <a:ea typeface="Calibri"/>
              <a:cs typeface="Calibri"/>
              <a:sym typeface="Calibri"/>
            </a:endParaRPr>
          </a:p>
        </p:txBody>
      </p:sp>
      <p:sp>
        <p:nvSpPr>
          <p:cNvPr id="1427" name="Google Shape;1427;p62"/>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28" name="Google Shape;1428;p62"/>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429" name="Google Shape;1429;p62"/>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to tell the customer</a:t>
            </a:r>
            <a:endParaRPr b="0" i="0" sz="1050" u="none" cap="none" strike="noStrike">
              <a:solidFill>
                <a:schemeClr val="dk1"/>
              </a:solidFill>
              <a:latin typeface="Calibri"/>
              <a:ea typeface="Calibri"/>
              <a:cs typeface="Calibri"/>
              <a:sym typeface="Calibri"/>
            </a:endParaRPr>
          </a:p>
        </p:txBody>
      </p:sp>
      <p:sp>
        <p:nvSpPr>
          <p:cNvPr id="1430" name="Google Shape;1430;p62"/>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62"/>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1432" name="Google Shape;1432;p62"/>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1433" name="Google Shape;1433;p62"/>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4" name="Google Shape;1434;p62"/>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5" name="Google Shape;1435;p62"/>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6" name="Google Shape;1436;p62"/>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7" name="Google Shape;1437;p62"/>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62"/>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9" name="Google Shape;1439;p6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4" name="Shape 1444"/>
        <p:cNvGrpSpPr/>
        <p:nvPr/>
      </p:nvGrpSpPr>
      <p:grpSpPr>
        <a:xfrm>
          <a:off x="0" y="0"/>
          <a:ext cx="0" cy="0"/>
          <a:chOff x="0" y="0"/>
          <a:chExt cx="0" cy="0"/>
        </a:xfrm>
      </p:grpSpPr>
      <p:sp>
        <p:nvSpPr>
          <p:cNvPr id="1445" name="Google Shape;1445;p6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MAX CP RATE</a:t>
            </a:r>
            <a:endParaRPr b="0" i="0" sz="800" u="none" cap="none" strike="noStrike">
              <a:solidFill>
                <a:schemeClr val="dk1"/>
              </a:solidFill>
              <a:latin typeface="Calibri"/>
              <a:ea typeface="Calibri"/>
              <a:cs typeface="Calibri"/>
              <a:sym typeface="Calibri"/>
            </a:endParaRPr>
          </a:p>
        </p:txBody>
      </p:sp>
      <p:sp>
        <p:nvSpPr>
          <p:cNvPr id="1446" name="Google Shape;1446;p6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the cap does</a:t>
            </a:r>
            <a:endParaRPr b="0" i="0" sz="2400" u="none" cap="none" strike="noStrike">
              <a:solidFill>
                <a:schemeClr val="dk1"/>
              </a:solidFill>
              <a:latin typeface="Calibri"/>
              <a:ea typeface="Calibri"/>
              <a:cs typeface="Calibri"/>
              <a:sym typeface="Calibri"/>
            </a:endParaRPr>
          </a:p>
        </p:txBody>
      </p:sp>
      <p:sp>
        <p:nvSpPr>
          <p:cNvPr id="1447" name="Google Shape;1447;p6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Set in the CRM: Customer Information › Max rate › Set.</a:t>
            </a:r>
            <a:endParaRPr b="0" i="0" sz="1200" u="none" cap="none" strike="noStrike">
              <a:solidFill>
                <a:schemeClr val="dk1"/>
              </a:solidFill>
              <a:latin typeface="Calibri"/>
              <a:ea typeface="Calibri"/>
              <a:cs typeface="Calibri"/>
              <a:sym typeface="Calibri"/>
            </a:endParaRPr>
          </a:p>
        </p:txBody>
      </p:sp>
      <p:sp>
        <p:nvSpPr>
          <p:cNvPr id="1448" name="Google Shape;1448;p63"/>
          <p:cNvSpPr/>
          <p:nvPr/>
        </p:nvSpPr>
        <p:spPr>
          <a:xfrm>
            <a:off x="411480" y="13441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9" name="Google Shape;1449;p63"/>
          <p:cNvSpPr txBox="1"/>
          <p:nvPr/>
        </p:nvSpPr>
        <p:spPr>
          <a:xfrm>
            <a:off x="411480" y="13441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1</a:t>
            </a:r>
            <a:endParaRPr b="0" i="0" sz="900" u="none" cap="none" strike="noStrike">
              <a:solidFill>
                <a:schemeClr val="dk1"/>
              </a:solidFill>
              <a:latin typeface="Calibri"/>
              <a:ea typeface="Calibri"/>
              <a:cs typeface="Calibri"/>
              <a:sym typeface="Calibri"/>
            </a:endParaRPr>
          </a:p>
        </p:txBody>
      </p:sp>
      <p:sp>
        <p:nvSpPr>
          <p:cNvPr id="1450" name="Google Shape;1450;p63"/>
          <p:cNvSpPr txBox="1"/>
          <p:nvPr/>
        </p:nvSpPr>
        <p:spPr>
          <a:xfrm>
            <a:off x="822960" y="1280160"/>
            <a:ext cx="2270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Under Customer Information, find Max rate and click Set</a:t>
            </a:r>
            <a:endParaRPr b="0" i="0" sz="1050" u="none" cap="none" strike="noStrike">
              <a:solidFill>
                <a:schemeClr val="dk1"/>
              </a:solidFill>
              <a:latin typeface="Calibri"/>
              <a:ea typeface="Calibri"/>
              <a:cs typeface="Calibri"/>
              <a:sym typeface="Calibri"/>
            </a:endParaRPr>
          </a:p>
        </p:txBody>
      </p:sp>
      <p:sp>
        <p:nvSpPr>
          <p:cNvPr id="1451" name="Google Shape;1451;p63"/>
          <p:cNvSpPr/>
          <p:nvPr/>
        </p:nvSpPr>
        <p:spPr>
          <a:xfrm>
            <a:off x="411480" y="1810512"/>
            <a:ext cx="832104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2" name="Google Shape;1452;p63"/>
          <p:cNvSpPr/>
          <p:nvPr/>
        </p:nvSpPr>
        <p:spPr>
          <a:xfrm>
            <a:off x="3230880" y="13441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3" name="Google Shape;1453;p63"/>
          <p:cNvSpPr txBox="1"/>
          <p:nvPr/>
        </p:nvSpPr>
        <p:spPr>
          <a:xfrm>
            <a:off x="3230880" y="13441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2</a:t>
            </a:r>
            <a:endParaRPr b="0" i="0" sz="900" u="none" cap="none" strike="noStrike">
              <a:solidFill>
                <a:schemeClr val="dk1"/>
              </a:solidFill>
              <a:latin typeface="Calibri"/>
              <a:ea typeface="Calibri"/>
              <a:cs typeface="Calibri"/>
              <a:sym typeface="Calibri"/>
            </a:endParaRPr>
          </a:p>
        </p:txBody>
      </p:sp>
      <p:sp>
        <p:nvSpPr>
          <p:cNvPr id="1454" name="Google Shape;1454;p63"/>
          <p:cNvSpPr txBox="1"/>
          <p:nvPr/>
        </p:nvSpPr>
        <p:spPr>
          <a:xfrm>
            <a:off x="3642360" y="1280160"/>
            <a:ext cx="2270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Enter the preferred hourly rate and click Save</a:t>
            </a:r>
            <a:endParaRPr b="0" i="0" sz="1050" u="none" cap="none" strike="noStrike">
              <a:solidFill>
                <a:schemeClr val="dk1"/>
              </a:solidFill>
              <a:latin typeface="Calibri"/>
              <a:ea typeface="Calibri"/>
              <a:cs typeface="Calibri"/>
              <a:sym typeface="Calibri"/>
            </a:endParaRPr>
          </a:p>
        </p:txBody>
      </p:sp>
      <p:sp>
        <p:nvSpPr>
          <p:cNvPr id="1455" name="Google Shape;1455;p63"/>
          <p:cNvSpPr/>
          <p:nvPr/>
        </p:nvSpPr>
        <p:spPr>
          <a:xfrm>
            <a:off x="6050280" y="1344168"/>
            <a:ext cx="274320" cy="274320"/>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6" name="Google Shape;1456;p63"/>
          <p:cNvSpPr txBox="1"/>
          <p:nvPr/>
        </p:nvSpPr>
        <p:spPr>
          <a:xfrm>
            <a:off x="6050280" y="1344168"/>
            <a:ext cx="2743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B7A6F"/>
              </a:buClr>
              <a:buSzPts val="900"/>
              <a:buFont typeface="Play"/>
              <a:buNone/>
            </a:pPr>
            <a:r>
              <a:rPr b="1" i="0" lang="en" sz="900" u="none" cap="none" strike="noStrike">
                <a:solidFill>
                  <a:srgbClr val="0B7A6F"/>
                </a:solidFill>
                <a:latin typeface="Play"/>
                <a:ea typeface="Play"/>
                <a:cs typeface="Play"/>
                <a:sym typeface="Play"/>
              </a:rPr>
              <a:t>3</a:t>
            </a:r>
            <a:endParaRPr b="0" i="0" sz="900" u="none" cap="none" strike="noStrike">
              <a:solidFill>
                <a:schemeClr val="dk1"/>
              </a:solidFill>
              <a:latin typeface="Calibri"/>
              <a:ea typeface="Calibri"/>
              <a:cs typeface="Calibri"/>
              <a:sym typeface="Calibri"/>
            </a:endParaRPr>
          </a:p>
        </p:txBody>
      </p:sp>
      <p:sp>
        <p:nvSpPr>
          <p:cNvPr id="1457" name="Google Shape;1457;p63"/>
          <p:cNvSpPr txBox="1"/>
          <p:nvPr/>
        </p:nvSpPr>
        <p:spPr>
          <a:xfrm>
            <a:off x="6461760" y="1280160"/>
            <a:ext cx="227076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Play"/>
              <a:buNone/>
            </a:pPr>
            <a:r>
              <a:rPr b="1" i="0" lang="en" sz="1050" u="none" cap="none" strike="noStrike">
                <a:solidFill>
                  <a:srgbClr val="1D1D1F"/>
                </a:solidFill>
                <a:latin typeface="Play"/>
                <a:ea typeface="Play"/>
                <a:cs typeface="Play"/>
                <a:sym typeface="Play"/>
              </a:rPr>
              <a:t>Max rate now shows the amount with a Hard cap tag</a:t>
            </a:r>
            <a:endParaRPr b="0" i="0" sz="1050" u="none" cap="none" strike="noStrike">
              <a:solidFill>
                <a:schemeClr val="dk1"/>
              </a:solidFill>
              <a:latin typeface="Calibri"/>
              <a:ea typeface="Calibri"/>
              <a:cs typeface="Calibri"/>
              <a:sym typeface="Calibri"/>
            </a:endParaRPr>
          </a:p>
        </p:txBody>
      </p:sp>
      <p:sp>
        <p:nvSpPr>
          <p:cNvPr id="1458" name="Google Shape;1458;p63"/>
          <p:cNvSpPr/>
          <p:nvPr/>
        </p:nvSpPr>
        <p:spPr>
          <a:xfrm>
            <a:off x="411480" y="3566160"/>
            <a:ext cx="4091940" cy="777240"/>
          </a:xfrm>
          <a:prstGeom prst="roundRect">
            <a:avLst>
              <a:gd fmla="val 941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63"/>
          <p:cNvSpPr/>
          <p:nvPr/>
        </p:nvSpPr>
        <p:spPr>
          <a:xfrm>
            <a:off x="576072" y="3758184"/>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60" name="Google Shape;1460;p63"/>
          <p:cNvPicPr preferRelativeResize="0"/>
          <p:nvPr/>
        </p:nvPicPr>
        <p:blipFill rotWithShape="1">
          <a:blip r:embed="rId3">
            <a:alphaModFix/>
          </a:blip>
          <a:srcRect b="0" l="0" r="0" t="0"/>
          <a:stretch/>
        </p:blipFill>
        <p:spPr>
          <a:xfrm>
            <a:off x="668244" y="3850356"/>
            <a:ext cx="199705" cy="199705"/>
          </a:xfrm>
          <a:prstGeom prst="rect">
            <a:avLst/>
          </a:prstGeom>
          <a:noFill/>
          <a:ln>
            <a:noFill/>
          </a:ln>
        </p:spPr>
      </p:pic>
      <p:sp>
        <p:nvSpPr>
          <p:cNvPr id="1461" name="Google Shape;1461;p63"/>
          <p:cNvSpPr txBox="1"/>
          <p:nvPr/>
        </p:nvSpPr>
        <p:spPr>
          <a:xfrm>
            <a:off x="1097280" y="3611880"/>
            <a:ext cx="32689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Play"/>
              <a:buNone/>
            </a:pPr>
            <a:r>
              <a:rPr b="1" i="0" lang="en" sz="1150" u="none" cap="none" strike="noStrike">
                <a:solidFill>
                  <a:srgbClr val="1D1D1F"/>
                </a:solidFill>
                <a:latin typeface="Play"/>
                <a:ea typeface="Play"/>
                <a:cs typeface="Play"/>
                <a:sym typeface="Play"/>
              </a:rPr>
              <a:t>Protects the customer's wallet</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Cleaning requests only go to cleaners whose rates don’t exceed the cap.</a:t>
            </a:r>
            <a:endParaRPr b="0" i="0" sz="1150" u="none" cap="none" strike="noStrike">
              <a:solidFill>
                <a:schemeClr val="dk1"/>
              </a:solidFill>
              <a:latin typeface="Calibri"/>
              <a:ea typeface="Calibri"/>
              <a:cs typeface="Calibri"/>
              <a:sym typeface="Calibri"/>
            </a:endParaRPr>
          </a:p>
        </p:txBody>
      </p:sp>
      <p:sp>
        <p:nvSpPr>
          <p:cNvPr id="1462" name="Google Shape;1462;p63"/>
          <p:cNvSpPr/>
          <p:nvPr/>
        </p:nvSpPr>
        <p:spPr>
          <a:xfrm>
            <a:off x="4640580" y="3566160"/>
            <a:ext cx="4091940" cy="777240"/>
          </a:xfrm>
          <a:prstGeom prst="roundRect">
            <a:avLst>
              <a:gd fmla="val 9412"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63"/>
          <p:cNvSpPr/>
          <p:nvPr/>
        </p:nvSpPr>
        <p:spPr>
          <a:xfrm>
            <a:off x="4805172" y="3758184"/>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64" name="Google Shape;1464;p63"/>
          <p:cNvPicPr preferRelativeResize="0"/>
          <p:nvPr/>
        </p:nvPicPr>
        <p:blipFill rotWithShape="1">
          <a:blip r:embed="rId4">
            <a:alphaModFix/>
          </a:blip>
          <a:srcRect b="0" l="0" r="0" t="0"/>
          <a:stretch/>
        </p:blipFill>
        <p:spPr>
          <a:xfrm>
            <a:off x="4897344" y="3850356"/>
            <a:ext cx="199705" cy="199705"/>
          </a:xfrm>
          <a:prstGeom prst="rect">
            <a:avLst/>
          </a:prstGeom>
          <a:noFill/>
          <a:ln>
            <a:noFill/>
          </a:ln>
        </p:spPr>
      </p:pic>
      <p:sp>
        <p:nvSpPr>
          <p:cNvPr id="1465" name="Google Shape;1465;p63"/>
          <p:cNvSpPr txBox="1"/>
          <p:nvPr/>
        </p:nvSpPr>
        <p:spPr>
          <a:xfrm>
            <a:off x="5326380" y="3611880"/>
            <a:ext cx="3268980" cy="68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150"/>
              <a:buFont typeface="Play"/>
              <a:buNone/>
            </a:pPr>
            <a:r>
              <a:rPr b="1" i="0" lang="en" sz="1150" u="none" cap="none" strike="noStrike">
                <a:solidFill>
                  <a:srgbClr val="1D1D1F"/>
                </a:solidFill>
                <a:latin typeface="Play"/>
                <a:ea typeface="Play"/>
                <a:cs typeface="Play"/>
                <a:sym typeface="Play"/>
              </a:rPr>
              <a:t>Shrinks the cleaner pool</a:t>
            </a: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Their current cleaner may be above it. Too low, and jobs go unclaimed.</a:t>
            </a:r>
            <a:endParaRPr b="0" i="0" sz="1150" u="none" cap="none" strike="noStrike">
              <a:solidFill>
                <a:schemeClr val="dk1"/>
              </a:solidFill>
              <a:latin typeface="Calibri"/>
              <a:ea typeface="Calibri"/>
              <a:cs typeface="Calibri"/>
              <a:sym typeface="Calibri"/>
            </a:endParaRPr>
          </a:p>
        </p:txBody>
      </p:sp>
      <p:sp>
        <p:nvSpPr>
          <p:cNvPr id="1466" name="Google Shape;1466;p6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pic>
        <p:nvPicPr>
          <p:cNvPr descr="thumb.png" id="1467" name="Google Shape;1467;p63">
            <a:hlinkClick r:id="rId5"/>
          </p:cNvPr>
          <p:cNvPicPr preferRelativeResize="0"/>
          <p:nvPr/>
        </p:nvPicPr>
        <p:blipFill rotWithShape="1">
          <a:blip r:embed="rId6">
            <a:alphaModFix/>
          </a:blip>
          <a:srcRect b="0" l="0" r="0" t="0"/>
          <a:stretch/>
        </p:blipFill>
        <p:spPr>
          <a:xfrm>
            <a:off x="502920" y="1901952"/>
            <a:ext cx="2175586" cy="1417320"/>
          </a:xfrm>
          <a:prstGeom prst="rect">
            <a:avLst/>
          </a:prstGeom>
          <a:noFill/>
          <a:ln cap="flat" cmpd="sng" w="9525">
            <a:solidFill>
              <a:srgbClr val="DCE1E7"/>
            </a:solidFill>
            <a:prstDash val="solid"/>
            <a:round/>
            <a:headEnd len="sm" w="sm" type="none"/>
            <a:tailEnd len="sm" w="sm" type="none"/>
          </a:ln>
        </p:spPr>
      </p:pic>
      <p:sp>
        <p:nvSpPr>
          <p:cNvPr id="1468" name="Google Shape;1468;p63">
            <a:hlinkClick r:id="rId7"/>
          </p:cNvPr>
          <p:cNvSpPr txBox="1"/>
          <p:nvPr/>
        </p:nvSpPr>
        <p:spPr>
          <a:xfrm>
            <a:off x="2952826" y="1901952"/>
            <a:ext cx="5688253" cy="14173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B7A6F"/>
                </a:solidFill>
                <a:latin typeface="Play"/>
                <a:ea typeface="Play"/>
                <a:cs typeface="Play"/>
                <a:sym typeface="Play"/>
              </a:rPr>
              <a:t>▶  Watch &amp; Learn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150"/>
              <a:buFont typeface="Arial"/>
              <a:buNone/>
            </a:pPr>
            <a:r>
              <a:rPr b="1" i="0" lang="en" sz="1150" u="none" cap="none" strike="noStrike">
                <a:solidFill>
                  <a:srgbClr val="1D1D1F"/>
                </a:solidFill>
                <a:latin typeface="Play"/>
                <a:ea typeface="Play"/>
                <a:cs typeface="Play"/>
                <a:sym typeface="Play"/>
              </a:rPr>
              <a:t>How to set the Max CP Rate in the CRM (29 sec)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950"/>
              <a:buFont typeface="Arial"/>
              <a:buNone/>
            </a:pPr>
            <a:r>
              <a:rPr b="0" i="0" lang="en" sz="950" u="none" cap="none" strike="noStrike">
                <a:solidFill>
                  <a:srgbClr val="6E6E73"/>
                </a:solidFill>
                <a:latin typeface="Arial"/>
                <a:ea typeface="Arial"/>
                <a:cs typeface="Arial"/>
                <a:sym typeface="Arial"/>
              </a:rPr>
              <a:t>Click the video to play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950"/>
              <a:buFont typeface="Arial"/>
              <a:buNone/>
            </a:pPr>
            <a:r>
              <a:rPr b="0" i="0" lang="en" sz="950" u="none" cap="none" strike="noStrike">
                <a:solidFill>
                  <a:srgbClr val="6E6E73"/>
                </a:solidFill>
                <a:latin typeface="Arial"/>
                <a:ea typeface="Arial"/>
                <a:cs typeface="Arial"/>
                <a:sym typeface="Arial"/>
              </a:rPr>
              <a:t>The hard cap applies to future submitted and claimed jobs.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6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MAX CP RATE</a:t>
            </a:r>
            <a:endParaRPr b="0" i="0" sz="800" u="none" cap="none" strike="noStrike">
              <a:solidFill>
                <a:schemeClr val="dk1"/>
              </a:solidFill>
              <a:latin typeface="Calibri"/>
              <a:ea typeface="Calibri"/>
              <a:cs typeface="Calibri"/>
              <a:sym typeface="Calibri"/>
            </a:endParaRPr>
          </a:p>
        </p:txBody>
      </p:sp>
      <p:sp>
        <p:nvSpPr>
          <p:cNvPr id="1475" name="Google Shape;1475;p6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Before you set a cap</a:t>
            </a:r>
            <a:endParaRPr b="0" i="0" sz="2400" u="none" cap="none" strike="noStrike">
              <a:solidFill>
                <a:schemeClr val="dk1"/>
              </a:solidFill>
              <a:latin typeface="Calibri"/>
              <a:ea typeface="Calibri"/>
              <a:cs typeface="Calibri"/>
              <a:sym typeface="Calibri"/>
            </a:endParaRPr>
          </a:p>
        </p:txBody>
      </p:sp>
      <p:sp>
        <p:nvSpPr>
          <p:cNvPr id="1476" name="Google Shape;1476;p6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Flag these to the customer first.</a:t>
            </a:r>
            <a:endParaRPr b="0" i="0" sz="1200" u="none" cap="none" strike="noStrike">
              <a:solidFill>
                <a:schemeClr val="dk1"/>
              </a:solidFill>
              <a:latin typeface="Calibri"/>
              <a:ea typeface="Calibri"/>
              <a:cs typeface="Calibri"/>
              <a:sym typeface="Calibri"/>
            </a:endParaRPr>
          </a:p>
        </p:txBody>
      </p:sp>
      <p:sp>
        <p:nvSpPr>
          <p:cNvPr id="1477" name="Google Shape;1477;p64"/>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8" name="Google Shape;1478;p64"/>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79" name="Google Shape;1479;p64"/>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480" name="Google Shape;1480;p64"/>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They may lose their cleaner</a:t>
            </a:r>
            <a:endParaRPr b="0" i="0" sz="1200" u="none" cap="none" strike="noStrike">
              <a:solidFill>
                <a:schemeClr val="dk1"/>
              </a:solidFill>
              <a:latin typeface="Calibri"/>
              <a:ea typeface="Calibri"/>
              <a:cs typeface="Calibri"/>
              <a:sym typeface="Calibri"/>
            </a:endParaRPr>
          </a:p>
        </p:txBody>
      </p:sp>
      <p:sp>
        <p:nvSpPr>
          <p:cNvPr id="1481" name="Google Shape;1481;p64"/>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Cleaners set their own rates. Theirs may be above the cap.</a:t>
            </a:r>
            <a:endParaRPr b="0" i="0" sz="950" u="none" cap="none" strike="noStrike">
              <a:solidFill>
                <a:schemeClr val="dk1"/>
              </a:solidFill>
              <a:latin typeface="Calibri"/>
              <a:ea typeface="Calibri"/>
              <a:cs typeface="Calibri"/>
              <a:sym typeface="Calibri"/>
            </a:endParaRPr>
          </a:p>
        </p:txBody>
      </p:sp>
      <p:sp>
        <p:nvSpPr>
          <p:cNvPr id="1482" name="Google Shape;1482;p64"/>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64"/>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84" name="Google Shape;1484;p64"/>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485" name="Google Shape;1485;p64"/>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Jobs may go unclaimed</a:t>
            </a:r>
            <a:endParaRPr b="0" i="0" sz="1200" u="none" cap="none" strike="noStrike">
              <a:solidFill>
                <a:schemeClr val="dk1"/>
              </a:solidFill>
              <a:latin typeface="Calibri"/>
              <a:ea typeface="Calibri"/>
              <a:cs typeface="Calibri"/>
              <a:sym typeface="Calibri"/>
            </a:endParaRPr>
          </a:p>
        </p:txBody>
      </p:sp>
      <p:sp>
        <p:nvSpPr>
          <p:cNvPr id="1486" name="Google Shape;1486;p64"/>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Especially where few cleaners charge that little.</a:t>
            </a:r>
            <a:endParaRPr b="0" i="0" sz="950" u="none" cap="none" strike="noStrike">
              <a:solidFill>
                <a:schemeClr val="dk1"/>
              </a:solidFill>
              <a:latin typeface="Calibri"/>
              <a:ea typeface="Calibri"/>
              <a:cs typeface="Calibri"/>
              <a:sym typeface="Calibri"/>
            </a:endParaRPr>
          </a:p>
        </p:txBody>
      </p:sp>
      <p:sp>
        <p:nvSpPr>
          <p:cNvPr id="1487" name="Google Shape;1487;p64"/>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8" name="Google Shape;1488;p64"/>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89" name="Google Shape;1489;p64"/>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490" name="Google Shape;1490;p64"/>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Check the area first</a:t>
            </a:r>
            <a:endParaRPr b="0" i="0" sz="1200" u="none" cap="none" strike="noStrike">
              <a:solidFill>
                <a:schemeClr val="dk1"/>
              </a:solidFill>
              <a:latin typeface="Calibri"/>
              <a:ea typeface="Calibri"/>
              <a:cs typeface="Calibri"/>
              <a:sym typeface="Calibri"/>
            </a:endParaRPr>
          </a:p>
        </p:txBody>
      </p:sp>
      <p:sp>
        <p:nvSpPr>
          <p:cNvPr id="1491" name="Google Shape;1491;p64"/>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Look at what cleaners near them charge on their dashboard.</a:t>
            </a:r>
            <a:endParaRPr b="0" i="0" sz="950" u="none" cap="none" strike="noStrike">
              <a:solidFill>
                <a:schemeClr val="dk1"/>
              </a:solidFill>
              <a:latin typeface="Calibri"/>
              <a:ea typeface="Calibri"/>
              <a:cs typeface="Calibri"/>
              <a:sym typeface="Calibri"/>
            </a:endParaRPr>
          </a:p>
        </p:txBody>
      </p:sp>
      <p:sp>
        <p:nvSpPr>
          <p:cNvPr id="1492" name="Google Shape;1492;p64"/>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93" name="Google Shape;1493;p64"/>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494" name="Google Shape;1494;p64"/>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Typical ask:  </a:t>
            </a:r>
            <a:r>
              <a:rPr b="0" i="0" lang="en" sz="1000" u="none" cap="none" strike="noStrike">
                <a:solidFill>
                  <a:srgbClr val="1D1D1F"/>
                </a:solidFill>
                <a:latin typeface="Arial"/>
                <a:ea typeface="Arial"/>
                <a:cs typeface="Arial"/>
                <a:sym typeface="Arial"/>
              </a:rPr>
              <a:t>most customers ask for $19–23/hr. Don't set a number blind.</a:t>
            </a:r>
            <a:endParaRPr b="0" i="0" sz="1000" u="none" cap="none" strike="noStrike">
              <a:solidFill>
                <a:schemeClr val="dk1"/>
              </a:solidFill>
              <a:latin typeface="Calibri"/>
              <a:ea typeface="Calibri"/>
              <a:cs typeface="Calibri"/>
              <a:sym typeface="Calibri"/>
            </a:endParaRPr>
          </a:p>
        </p:txBody>
      </p:sp>
      <p:sp>
        <p:nvSpPr>
          <p:cNvPr id="1495" name="Google Shape;1495;p6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0" name="Shape 1500"/>
        <p:cNvGrpSpPr/>
        <p:nvPr/>
      </p:nvGrpSpPr>
      <p:grpSpPr>
        <a:xfrm>
          <a:off x="0" y="0"/>
          <a:ext cx="0" cy="0"/>
          <a:chOff x="0" y="0"/>
          <a:chExt cx="0" cy="0"/>
        </a:xfrm>
      </p:grpSpPr>
      <p:sp>
        <p:nvSpPr>
          <p:cNvPr id="1501" name="Google Shape;1501;p6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MAX CP RATE</a:t>
            </a:r>
            <a:endParaRPr b="0" i="0" sz="800" u="none" cap="none" strike="noStrike">
              <a:solidFill>
                <a:schemeClr val="dk1"/>
              </a:solidFill>
              <a:latin typeface="Calibri"/>
              <a:ea typeface="Calibri"/>
              <a:cs typeface="Calibri"/>
              <a:sym typeface="Calibri"/>
            </a:endParaRPr>
          </a:p>
        </p:txBody>
      </p:sp>
      <p:sp>
        <p:nvSpPr>
          <p:cNvPr id="1502" name="Google Shape;1502;p6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How the cap behaves</a:t>
            </a:r>
            <a:endParaRPr b="0" i="0" sz="2400" u="none" cap="none" strike="noStrike">
              <a:solidFill>
                <a:schemeClr val="dk1"/>
              </a:solidFill>
              <a:latin typeface="Calibri"/>
              <a:ea typeface="Calibri"/>
              <a:cs typeface="Calibri"/>
              <a:sym typeface="Calibri"/>
            </a:endParaRPr>
          </a:p>
        </p:txBody>
      </p:sp>
      <p:sp>
        <p:nvSpPr>
          <p:cNvPr id="1503" name="Google Shape;1503;p6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Several of these aren't what you'd expect.</a:t>
            </a:r>
            <a:endParaRPr b="0" i="0" sz="1200" u="none" cap="none" strike="noStrike">
              <a:solidFill>
                <a:schemeClr val="dk1"/>
              </a:solidFill>
              <a:latin typeface="Calibri"/>
              <a:ea typeface="Calibri"/>
              <a:cs typeface="Calibri"/>
              <a:sym typeface="Calibri"/>
            </a:endParaRPr>
          </a:p>
        </p:txBody>
      </p:sp>
      <p:graphicFrame>
        <p:nvGraphicFramePr>
          <p:cNvPr id="1504" name="Google Shape;1504;p65"/>
          <p:cNvGraphicFramePr/>
          <p:nvPr/>
        </p:nvGraphicFramePr>
        <p:xfrm>
          <a:off x="411480" y="1234440"/>
          <a:ext cx="3000000" cy="3000000"/>
        </p:xfrm>
        <a:graphic>
          <a:graphicData uri="http://schemas.openxmlformats.org/drawingml/2006/table">
            <a:tbl>
              <a:tblPr>
                <a:noFill/>
                <a:tableStyleId>{1110B021-F78A-4E02-AF73-8366E27A90AE}</a:tableStyleId>
              </a:tblPr>
              <a:tblGrid>
                <a:gridCol w="2743200"/>
                <a:gridCol w="557785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Scenario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What happens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Lowering the cap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Immediately lowers the rate on booked future jobs (submitted or claimed)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Raising the cap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Does nothing to existing jobs. A cap can never raise a rate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Customer reschedules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The job keeps its rate. The nightly recalculation can't push it above the cap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New job booked after the cap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Prices at or below the cap automatically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Cleaner tries to claim above it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Can't. The cap blocks the claim</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Customer taps Standard / Premium</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The cap stays in effect either way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Rate set on the Django job page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Admin-locked: skips the cap and the nightly sweep entirely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505" name="Google Shape;1505;p65"/>
          <p:cNvSpPr/>
          <p:nvPr/>
        </p:nvSpPr>
        <p:spPr>
          <a:xfrm>
            <a:off x="411480" y="42062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06" name="Google Shape;1506;p65"/>
          <p:cNvPicPr preferRelativeResize="0"/>
          <p:nvPr/>
        </p:nvPicPr>
        <p:blipFill rotWithShape="1">
          <a:blip r:embed="rId3">
            <a:alphaModFix/>
          </a:blip>
          <a:srcRect b="0" l="0" r="0" t="0"/>
          <a:stretch/>
        </p:blipFill>
        <p:spPr>
          <a:xfrm>
            <a:off x="566928" y="4315968"/>
            <a:ext cx="164592" cy="164592"/>
          </a:xfrm>
          <a:prstGeom prst="rect">
            <a:avLst/>
          </a:prstGeom>
          <a:noFill/>
          <a:ln>
            <a:noFill/>
          </a:ln>
        </p:spPr>
      </p:pic>
      <p:sp>
        <p:nvSpPr>
          <p:cNvPr id="1507" name="Google Shape;1507;p65"/>
          <p:cNvSpPr txBox="1"/>
          <p:nvPr/>
        </p:nvSpPr>
        <p:spPr>
          <a:xfrm>
            <a:off x="822960" y="43068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Charged above the cap?  </a:t>
            </a:r>
            <a:r>
              <a:rPr b="0" i="0" lang="en" sz="1000" u="none" cap="none" strike="noStrike">
                <a:solidFill>
                  <a:srgbClr val="1D1D1F"/>
                </a:solidFill>
                <a:latin typeface="Arial"/>
                <a:ea typeface="Arial"/>
                <a:cs typeface="Arial"/>
                <a:sym typeface="Arial"/>
              </a:rPr>
              <a:t>check whether that job's rate was set via Django first.</a:t>
            </a:r>
            <a:endParaRPr b="0" i="0" sz="1000" u="none" cap="none" strike="noStrike">
              <a:solidFill>
                <a:schemeClr val="dk1"/>
              </a:solidFill>
              <a:latin typeface="Calibri"/>
              <a:ea typeface="Calibri"/>
              <a:cs typeface="Calibri"/>
              <a:sym typeface="Calibri"/>
            </a:endParaRPr>
          </a:p>
        </p:txBody>
      </p:sp>
      <p:sp>
        <p:nvSpPr>
          <p:cNvPr id="1508" name="Google Shape;1508;p6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3" name="Shape 1513"/>
        <p:cNvGrpSpPr/>
        <p:nvPr/>
      </p:nvGrpSpPr>
      <p:grpSpPr>
        <a:xfrm>
          <a:off x="0" y="0"/>
          <a:ext cx="0" cy="0"/>
          <a:chOff x="0" y="0"/>
          <a:chExt cx="0" cy="0"/>
        </a:xfrm>
      </p:grpSpPr>
      <p:sp>
        <p:nvSpPr>
          <p:cNvPr id="1514" name="Google Shape;1514;p6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MAX CP RATE</a:t>
            </a:r>
            <a:endParaRPr b="0" i="0" sz="800" u="none" cap="none" strike="noStrike">
              <a:solidFill>
                <a:schemeClr val="dk1"/>
              </a:solidFill>
              <a:latin typeface="Calibri"/>
              <a:ea typeface="Calibri"/>
              <a:cs typeface="Calibri"/>
              <a:sym typeface="Calibri"/>
            </a:endParaRPr>
          </a:p>
        </p:txBody>
      </p:sp>
      <p:sp>
        <p:nvSpPr>
          <p:cNvPr id="1515" name="Google Shape;1515;p6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to tell the customer</a:t>
            </a:r>
            <a:endParaRPr b="0" i="0" sz="2400" u="none" cap="none" strike="noStrike">
              <a:solidFill>
                <a:schemeClr val="dk1"/>
              </a:solidFill>
              <a:latin typeface="Calibri"/>
              <a:ea typeface="Calibri"/>
              <a:cs typeface="Calibri"/>
              <a:sym typeface="Calibri"/>
            </a:endParaRPr>
          </a:p>
        </p:txBody>
      </p:sp>
      <p:sp>
        <p:nvSpPr>
          <p:cNvPr id="1516" name="Google Shape;1516;p6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After the cap is set.</a:t>
            </a:r>
            <a:endParaRPr b="0" i="0" sz="1200" u="none" cap="none" strike="noStrike">
              <a:solidFill>
                <a:schemeClr val="dk1"/>
              </a:solidFill>
              <a:latin typeface="Calibri"/>
              <a:ea typeface="Calibri"/>
              <a:cs typeface="Calibri"/>
              <a:sym typeface="Calibri"/>
            </a:endParaRPr>
          </a:p>
        </p:txBody>
      </p:sp>
      <p:sp>
        <p:nvSpPr>
          <p:cNvPr id="1517" name="Google Shape;1517;p66"/>
          <p:cNvSpPr/>
          <p:nvPr/>
        </p:nvSpPr>
        <p:spPr>
          <a:xfrm>
            <a:off x="411480" y="1280160"/>
            <a:ext cx="197739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8" name="Google Shape;1518;p66"/>
          <p:cNvSpPr/>
          <p:nvPr/>
        </p:nvSpPr>
        <p:spPr>
          <a:xfrm>
            <a:off x="57607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19" name="Google Shape;1519;p66"/>
          <p:cNvPicPr preferRelativeResize="0"/>
          <p:nvPr/>
        </p:nvPicPr>
        <p:blipFill rotWithShape="1">
          <a:blip r:embed="rId3">
            <a:alphaModFix/>
          </a:blip>
          <a:srcRect b="0" l="0" r="0" t="0"/>
          <a:stretch/>
        </p:blipFill>
        <p:spPr>
          <a:xfrm>
            <a:off x="655076" y="1523756"/>
            <a:ext cx="171176" cy="171176"/>
          </a:xfrm>
          <a:prstGeom prst="rect">
            <a:avLst/>
          </a:prstGeom>
          <a:noFill/>
          <a:ln>
            <a:noFill/>
          </a:ln>
        </p:spPr>
      </p:pic>
      <p:sp>
        <p:nvSpPr>
          <p:cNvPr id="1520" name="Google Shape;1520;p66"/>
          <p:cNvSpPr txBox="1"/>
          <p:nvPr/>
        </p:nvSpPr>
        <p:spPr>
          <a:xfrm>
            <a:off x="57607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Best match</a:t>
            </a:r>
            <a:endParaRPr b="0" i="0" sz="1200" u="none" cap="none" strike="noStrike">
              <a:solidFill>
                <a:schemeClr val="dk1"/>
              </a:solidFill>
              <a:latin typeface="Calibri"/>
              <a:ea typeface="Calibri"/>
              <a:cs typeface="Calibri"/>
              <a:sym typeface="Calibri"/>
            </a:endParaRPr>
          </a:p>
        </p:txBody>
      </p:sp>
      <p:sp>
        <p:nvSpPr>
          <p:cNvPr id="1521" name="Google Shape;1521;p66"/>
          <p:cNvSpPr txBox="1"/>
          <p:nvPr/>
        </p:nvSpPr>
        <p:spPr>
          <a:xfrm>
            <a:off x="576072" y="2176272"/>
            <a:ext cx="164820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To cleaners at or below their rate. Never "only" or "guaranteed".</a:t>
            </a:r>
            <a:endParaRPr b="0" i="0" sz="950" u="none" cap="none" strike="noStrike">
              <a:solidFill>
                <a:schemeClr val="dk1"/>
              </a:solidFill>
              <a:latin typeface="Calibri"/>
              <a:ea typeface="Calibri"/>
              <a:cs typeface="Calibri"/>
              <a:sym typeface="Calibri"/>
            </a:endParaRPr>
          </a:p>
        </p:txBody>
      </p:sp>
      <p:sp>
        <p:nvSpPr>
          <p:cNvPr id="1522" name="Google Shape;1522;p66"/>
          <p:cNvSpPr/>
          <p:nvPr/>
        </p:nvSpPr>
        <p:spPr>
          <a:xfrm>
            <a:off x="2526030" y="1280160"/>
            <a:ext cx="197739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3" name="Google Shape;1523;p66"/>
          <p:cNvSpPr/>
          <p:nvPr/>
        </p:nvSpPr>
        <p:spPr>
          <a:xfrm>
            <a:off x="269062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24" name="Google Shape;1524;p66"/>
          <p:cNvPicPr preferRelativeResize="0"/>
          <p:nvPr/>
        </p:nvPicPr>
        <p:blipFill rotWithShape="1">
          <a:blip r:embed="rId4">
            <a:alphaModFix/>
          </a:blip>
          <a:srcRect b="0" l="0" r="0" t="0"/>
          <a:stretch/>
        </p:blipFill>
        <p:spPr>
          <a:xfrm>
            <a:off x="2769626" y="1523756"/>
            <a:ext cx="171176" cy="171176"/>
          </a:xfrm>
          <a:prstGeom prst="rect">
            <a:avLst/>
          </a:prstGeom>
          <a:noFill/>
          <a:ln>
            <a:noFill/>
          </a:ln>
        </p:spPr>
      </p:pic>
      <p:sp>
        <p:nvSpPr>
          <p:cNvPr id="1525" name="Google Shape;1525;p66"/>
          <p:cNvSpPr txBox="1"/>
          <p:nvPr/>
        </p:nvSpPr>
        <p:spPr>
          <a:xfrm>
            <a:off x="269062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Estimate on claim</a:t>
            </a:r>
            <a:endParaRPr b="0" i="0" sz="1200" u="none" cap="none" strike="noStrike">
              <a:solidFill>
                <a:schemeClr val="dk1"/>
              </a:solidFill>
              <a:latin typeface="Calibri"/>
              <a:ea typeface="Calibri"/>
              <a:cs typeface="Calibri"/>
              <a:sym typeface="Calibri"/>
            </a:endParaRPr>
          </a:p>
        </p:txBody>
      </p:sp>
      <p:sp>
        <p:nvSpPr>
          <p:cNvPr id="1526" name="Google Shape;1526;p66"/>
          <p:cNvSpPr txBox="1"/>
          <p:nvPr/>
        </p:nvSpPr>
        <p:spPr>
          <a:xfrm>
            <a:off x="2690622" y="2176272"/>
            <a:ext cx="164820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invoice estimate shows on their dashboard right away.</a:t>
            </a:r>
            <a:endParaRPr b="0" i="0" sz="950" u="none" cap="none" strike="noStrike">
              <a:solidFill>
                <a:schemeClr val="dk1"/>
              </a:solidFill>
              <a:latin typeface="Calibri"/>
              <a:ea typeface="Calibri"/>
              <a:cs typeface="Calibri"/>
              <a:sym typeface="Calibri"/>
            </a:endParaRPr>
          </a:p>
        </p:txBody>
      </p:sp>
      <p:sp>
        <p:nvSpPr>
          <p:cNvPr id="1527" name="Google Shape;1527;p66"/>
          <p:cNvSpPr/>
          <p:nvPr/>
        </p:nvSpPr>
        <p:spPr>
          <a:xfrm>
            <a:off x="4640580" y="1280160"/>
            <a:ext cx="197739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8" name="Google Shape;1528;p66"/>
          <p:cNvSpPr/>
          <p:nvPr/>
        </p:nvSpPr>
        <p:spPr>
          <a:xfrm>
            <a:off x="480517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29" name="Google Shape;1529;p66"/>
          <p:cNvPicPr preferRelativeResize="0"/>
          <p:nvPr/>
        </p:nvPicPr>
        <p:blipFill rotWithShape="1">
          <a:blip r:embed="rId5">
            <a:alphaModFix/>
          </a:blip>
          <a:srcRect b="0" l="0" r="0" t="0"/>
          <a:stretch/>
        </p:blipFill>
        <p:spPr>
          <a:xfrm>
            <a:off x="4884176" y="1523756"/>
            <a:ext cx="171176" cy="171176"/>
          </a:xfrm>
          <a:prstGeom prst="rect">
            <a:avLst/>
          </a:prstGeom>
          <a:noFill/>
          <a:ln>
            <a:noFill/>
          </a:ln>
        </p:spPr>
      </p:pic>
      <p:sp>
        <p:nvSpPr>
          <p:cNvPr id="1530" name="Google Shape;1530;p66"/>
          <p:cNvSpPr txBox="1"/>
          <p:nvPr/>
        </p:nvSpPr>
        <p:spPr>
          <a:xfrm>
            <a:off x="480517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Rematch</a:t>
            </a:r>
            <a:endParaRPr b="0" i="0" sz="1200" u="none" cap="none" strike="noStrike">
              <a:solidFill>
                <a:schemeClr val="dk1"/>
              </a:solidFill>
              <a:latin typeface="Calibri"/>
              <a:ea typeface="Calibri"/>
              <a:cs typeface="Calibri"/>
              <a:sym typeface="Calibri"/>
            </a:endParaRPr>
          </a:p>
        </p:txBody>
      </p:sp>
      <p:sp>
        <p:nvSpPr>
          <p:cNvPr id="1531" name="Google Shape;1531;p66"/>
          <p:cNvSpPr txBox="1"/>
          <p:nvPr/>
        </p:nvSpPr>
        <p:spPr>
          <a:xfrm>
            <a:off x="4805172" y="2176272"/>
            <a:ext cx="164820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They can request one up to 6 hours before the appointment.</a:t>
            </a:r>
            <a:endParaRPr b="0" i="0" sz="950" u="none" cap="none" strike="noStrike">
              <a:solidFill>
                <a:schemeClr val="dk1"/>
              </a:solidFill>
              <a:latin typeface="Calibri"/>
              <a:ea typeface="Calibri"/>
              <a:cs typeface="Calibri"/>
              <a:sym typeface="Calibri"/>
            </a:endParaRPr>
          </a:p>
        </p:txBody>
      </p:sp>
      <p:sp>
        <p:nvSpPr>
          <p:cNvPr id="1532" name="Google Shape;1532;p66"/>
          <p:cNvSpPr/>
          <p:nvPr/>
        </p:nvSpPr>
        <p:spPr>
          <a:xfrm>
            <a:off x="6755130" y="1280160"/>
            <a:ext cx="1977390" cy="1600200"/>
          </a:xfrm>
          <a:prstGeom prst="roundRect">
            <a:avLst>
              <a:gd fmla="val 4571"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3" name="Google Shape;1533;p66"/>
          <p:cNvSpPr/>
          <p:nvPr/>
        </p:nvSpPr>
        <p:spPr>
          <a:xfrm>
            <a:off x="6919722" y="144475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34" name="Google Shape;1534;p66"/>
          <p:cNvPicPr preferRelativeResize="0"/>
          <p:nvPr/>
        </p:nvPicPr>
        <p:blipFill rotWithShape="1">
          <a:blip r:embed="rId6">
            <a:alphaModFix/>
          </a:blip>
          <a:srcRect b="0" l="0" r="0" t="0"/>
          <a:stretch/>
        </p:blipFill>
        <p:spPr>
          <a:xfrm>
            <a:off x="6998726" y="1523756"/>
            <a:ext cx="171176" cy="171176"/>
          </a:xfrm>
          <a:prstGeom prst="rect">
            <a:avLst/>
          </a:prstGeom>
          <a:noFill/>
          <a:ln>
            <a:noFill/>
          </a:ln>
        </p:spPr>
      </p:pic>
      <p:sp>
        <p:nvSpPr>
          <p:cNvPr id="1535" name="Google Shape;1535;p66"/>
          <p:cNvSpPr txBox="1"/>
          <p:nvPr/>
        </p:nvSpPr>
        <p:spPr>
          <a:xfrm>
            <a:off x="6919722" y="1883664"/>
            <a:ext cx="164820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Lowering it?</a:t>
            </a:r>
            <a:endParaRPr b="0" i="0" sz="1200" u="none" cap="none" strike="noStrike">
              <a:solidFill>
                <a:schemeClr val="dk1"/>
              </a:solidFill>
              <a:latin typeface="Calibri"/>
              <a:ea typeface="Calibri"/>
              <a:cs typeface="Calibri"/>
              <a:sym typeface="Calibri"/>
            </a:endParaRPr>
          </a:p>
        </p:txBody>
      </p:sp>
      <p:sp>
        <p:nvSpPr>
          <p:cNvPr id="1536" name="Google Shape;1536;p66"/>
          <p:cNvSpPr txBox="1"/>
          <p:nvPr/>
        </p:nvSpPr>
        <p:spPr>
          <a:xfrm>
            <a:off x="6919722" y="2176272"/>
            <a:ext cx="1648206" cy="6126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It can change jobs they've already booked too.</a:t>
            </a:r>
            <a:endParaRPr b="0" i="0" sz="950" u="none" cap="none" strike="noStrike">
              <a:solidFill>
                <a:schemeClr val="dk1"/>
              </a:solidFill>
              <a:latin typeface="Calibri"/>
              <a:ea typeface="Calibri"/>
              <a:cs typeface="Calibri"/>
              <a:sym typeface="Calibri"/>
            </a:endParaRPr>
          </a:p>
        </p:txBody>
      </p:sp>
      <p:sp>
        <p:nvSpPr>
          <p:cNvPr id="1537" name="Google Shape;1537;p66"/>
          <p:cNvSpPr/>
          <p:nvPr/>
        </p:nvSpPr>
        <p:spPr>
          <a:xfrm>
            <a:off x="411480" y="306324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38" name="Google Shape;1538;p66"/>
          <p:cNvPicPr preferRelativeResize="0"/>
          <p:nvPr/>
        </p:nvPicPr>
        <p:blipFill rotWithShape="1">
          <a:blip r:embed="rId7">
            <a:alphaModFix/>
          </a:blip>
          <a:srcRect b="0" l="0" r="0" t="0"/>
          <a:stretch/>
        </p:blipFill>
        <p:spPr>
          <a:xfrm>
            <a:off x="566928" y="3172968"/>
            <a:ext cx="164592" cy="164592"/>
          </a:xfrm>
          <a:prstGeom prst="rect">
            <a:avLst/>
          </a:prstGeom>
          <a:noFill/>
          <a:ln>
            <a:noFill/>
          </a:ln>
        </p:spPr>
      </p:pic>
      <p:sp>
        <p:nvSpPr>
          <p:cNvPr id="1539" name="Google Shape;1539;p66"/>
          <p:cNvSpPr txBox="1"/>
          <p:nvPr/>
        </p:nvSpPr>
        <p:spPr>
          <a:xfrm>
            <a:off x="822960" y="316382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Say it plainly:  </a:t>
            </a:r>
            <a:r>
              <a:rPr b="0" i="0" lang="en" sz="1000" u="none" cap="none" strike="noStrike">
                <a:solidFill>
                  <a:srgbClr val="1D1D1F"/>
                </a:solidFill>
                <a:latin typeface="Arial"/>
                <a:ea typeface="Arial"/>
                <a:cs typeface="Arial"/>
                <a:sym typeface="Arial"/>
              </a:rPr>
              <a:t>"the highest rate a cleaner can charge for your jobs", not "max CP rate".</a:t>
            </a:r>
            <a:endParaRPr b="0" i="0" sz="1000" u="none" cap="none" strike="noStrike">
              <a:solidFill>
                <a:schemeClr val="dk1"/>
              </a:solidFill>
              <a:latin typeface="Calibri"/>
              <a:ea typeface="Calibri"/>
              <a:cs typeface="Calibri"/>
              <a:sym typeface="Calibri"/>
            </a:endParaRPr>
          </a:p>
        </p:txBody>
      </p:sp>
      <p:sp>
        <p:nvSpPr>
          <p:cNvPr id="1540" name="Google Shape;1540;p6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sp>
        <p:nvSpPr>
          <p:cNvPr id="1546" name="Google Shape;1546;p67"/>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1547" name="Google Shape;1547;p67"/>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1548" name="Google Shape;1548;p67"/>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1549" name="Google Shape;1549;p67"/>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67"/>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1551" name="Google Shape;1551;p67"/>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1552" name="Google Shape;1552;p67"/>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3" name="Google Shape;1553;p67"/>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4" name="Google Shape;1554;p67"/>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5" name="Google Shape;1555;p67"/>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6" name="Google Shape;1556;p67"/>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7" name="Google Shape;1557;p67"/>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8" name="Google Shape;1558;p67"/>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2" name="Shape 1562"/>
        <p:cNvGrpSpPr/>
        <p:nvPr/>
      </p:nvGrpSpPr>
      <p:grpSpPr>
        <a:xfrm>
          <a:off x="0" y="0"/>
          <a:ext cx="0" cy="0"/>
          <a:chOff x="0" y="0"/>
          <a:chExt cx="0" cy="0"/>
        </a:xfrm>
      </p:grpSpPr>
      <p:sp>
        <p:nvSpPr>
          <p:cNvPr id="1563" name="Google Shape;1563;p68"/>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07</a:t>
            </a:r>
            <a:endParaRPr b="0" i="0" sz="800" u="none" cap="none" strike="noStrike">
              <a:solidFill>
                <a:schemeClr val="dk1"/>
              </a:solidFill>
              <a:latin typeface="Calibri"/>
              <a:ea typeface="Calibri"/>
              <a:cs typeface="Calibri"/>
              <a:sym typeface="Calibri"/>
            </a:endParaRPr>
          </a:p>
        </p:txBody>
      </p:sp>
      <p:sp>
        <p:nvSpPr>
          <p:cNvPr id="1564" name="Google Shape;1564;p68"/>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ForeverClean Membership</a:t>
            </a:r>
            <a:endParaRPr b="0" i="0" sz="2800" u="none" cap="none" strike="noStrike">
              <a:solidFill>
                <a:schemeClr val="dk1"/>
              </a:solidFill>
              <a:latin typeface="Calibri"/>
              <a:ea typeface="Calibri"/>
              <a:cs typeface="Calibri"/>
              <a:sym typeface="Calibri"/>
            </a:endParaRPr>
          </a:p>
        </p:txBody>
      </p:sp>
      <p:sp>
        <p:nvSpPr>
          <p:cNvPr id="1565" name="Google Shape;1565;p68"/>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What ForeverClean is, how the two enrollment models differ, and how fees, the commitment term and the ETF fit together.</a:t>
            </a:r>
            <a:endParaRPr b="0" i="0" sz="1150" u="none" cap="none" strike="noStrike">
              <a:solidFill>
                <a:schemeClr val="dk1"/>
              </a:solidFill>
              <a:latin typeface="Calibri"/>
              <a:ea typeface="Calibri"/>
              <a:cs typeface="Calibri"/>
              <a:sym typeface="Calibri"/>
            </a:endParaRPr>
          </a:p>
        </p:txBody>
      </p:sp>
      <p:sp>
        <p:nvSpPr>
          <p:cNvPr id="1566" name="Google Shape;1566;p68"/>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567" name="Google Shape;1567;p68"/>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68" name="Google Shape;1568;p68"/>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569" name="Google Shape;1569;p68"/>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ForeverClean is</a:t>
            </a:r>
            <a:endParaRPr b="0" i="0" sz="1050" u="none" cap="none" strike="noStrike">
              <a:solidFill>
                <a:schemeClr val="dk1"/>
              </a:solidFill>
              <a:latin typeface="Calibri"/>
              <a:ea typeface="Calibri"/>
              <a:cs typeface="Calibri"/>
              <a:sym typeface="Calibri"/>
            </a:endParaRPr>
          </a:p>
        </p:txBody>
      </p:sp>
      <p:sp>
        <p:nvSpPr>
          <p:cNvPr id="1570" name="Google Shape;1570;p68"/>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71" name="Google Shape;1571;p68"/>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572" name="Google Shape;1572;p68"/>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DHJ vs FCF</a:t>
            </a:r>
            <a:endParaRPr b="0" i="0" sz="1050" u="none" cap="none" strike="noStrike">
              <a:solidFill>
                <a:schemeClr val="dk1"/>
              </a:solidFill>
              <a:latin typeface="Calibri"/>
              <a:ea typeface="Calibri"/>
              <a:cs typeface="Calibri"/>
              <a:sym typeface="Calibri"/>
            </a:endParaRPr>
          </a:p>
        </p:txBody>
      </p:sp>
      <p:sp>
        <p:nvSpPr>
          <p:cNvPr id="1573" name="Google Shape;1573;p68"/>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74" name="Google Shape;1574;p68"/>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575" name="Google Shape;1575;p68"/>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Fees, MCT and ETF</a:t>
            </a:r>
            <a:endParaRPr b="0" i="0" sz="1050" u="none" cap="none" strike="noStrike">
              <a:solidFill>
                <a:schemeClr val="dk1"/>
              </a:solidFill>
              <a:latin typeface="Calibri"/>
              <a:ea typeface="Calibri"/>
              <a:cs typeface="Calibri"/>
              <a:sym typeface="Calibri"/>
            </a:endParaRPr>
          </a:p>
        </p:txBody>
      </p:sp>
      <p:sp>
        <p:nvSpPr>
          <p:cNvPr id="1576" name="Google Shape;1576;p68"/>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77" name="Google Shape;1577;p68"/>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578" name="Google Shape;1578;p68"/>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Washington and edge cases</a:t>
            </a:r>
            <a:endParaRPr b="0" i="0" sz="1050" u="none" cap="none" strike="noStrike">
              <a:solidFill>
                <a:schemeClr val="dk1"/>
              </a:solidFill>
              <a:latin typeface="Calibri"/>
              <a:ea typeface="Calibri"/>
              <a:cs typeface="Calibri"/>
              <a:sym typeface="Calibri"/>
            </a:endParaRPr>
          </a:p>
        </p:txBody>
      </p:sp>
      <p:sp>
        <p:nvSpPr>
          <p:cNvPr id="1579" name="Google Shape;1579;p68"/>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0" name="Google Shape;1580;p68"/>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1581" name="Google Shape;1581;p68"/>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1582" name="Google Shape;1582;p68"/>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68"/>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68"/>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68"/>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6" name="Google Shape;1586;p68"/>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7" name="Google Shape;1587;p68"/>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8" name="Google Shape;1588;p6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sp>
        <p:nvSpPr>
          <p:cNvPr id="1593" name="Google Shape;1593;p6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FOREVERCLEAN MEMBERSHIP</a:t>
            </a:r>
            <a:endParaRPr b="0" i="0" sz="800" u="none" cap="none" strike="noStrike">
              <a:solidFill>
                <a:schemeClr val="dk1"/>
              </a:solidFill>
              <a:latin typeface="Calibri"/>
              <a:ea typeface="Calibri"/>
              <a:cs typeface="Calibri"/>
              <a:sym typeface="Calibri"/>
            </a:endParaRPr>
          </a:p>
        </p:txBody>
      </p:sp>
      <p:sp>
        <p:nvSpPr>
          <p:cNvPr id="1594" name="Google Shape;1594;p6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ForeverClean?</a:t>
            </a:r>
            <a:endParaRPr b="0" i="0" sz="2400" u="none" cap="none" strike="noStrike">
              <a:solidFill>
                <a:schemeClr val="dk1"/>
              </a:solidFill>
              <a:latin typeface="Calibri"/>
              <a:ea typeface="Calibri"/>
              <a:cs typeface="Calibri"/>
              <a:sym typeface="Calibri"/>
            </a:endParaRPr>
          </a:p>
        </p:txBody>
      </p:sp>
      <p:sp>
        <p:nvSpPr>
          <p:cNvPr id="1595" name="Google Shape;1595;p6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 membership, not a one-time cleaning product.</a:t>
            </a:r>
            <a:endParaRPr b="0" i="0" sz="1200" u="none" cap="none" strike="noStrike">
              <a:solidFill>
                <a:schemeClr val="dk1"/>
              </a:solidFill>
              <a:latin typeface="Calibri"/>
              <a:ea typeface="Calibri"/>
              <a:cs typeface="Calibri"/>
              <a:sym typeface="Calibri"/>
            </a:endParaRPr>
          </a:p>
        </p:txBody>
      </p:sp>
      <p:sp>
        <p:nvSpPr>
          <p:cNvPr id="1596" name="Google Shape;1596;p69"/>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7" name="Google Shape;1597;p69"/>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98" name="Google Shape;1598;p69"/>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599" name="Google Shape;1599;p69"/>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 membership</a:t>
            </a:r>
            <a:endParaRPr b="0" i="0" sz="1200" u="none" cap="none" strike="noStrike">
              <a:solidFill>
                <a:schemeClr val="dk1"/>
              </a:solidFill>
              <a:latin typeface="Calibri"/>
              <a:ea typeface="Calibri"/>
              <a:cs typeface="Calibri"/>
              <a:sym typeface="Calibri"/>
            </a:endParaRPr>
          </a:p>
        </p:txBody>
      </p:sp>
      <p:sp>
        <p:nvSpPr>
          <p:cNvPr id="1600" name="Google Shape;1600;p69"/>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Customers pay a recurring Membership Fee for ongoing benefits, including discounted rates. The first cleaning is one benefit.</a:t>
            </a:r>
            <a:endParaRPr b="0" i="0" sz="950" u="none" cap="none" strike="noStrike">
              <a:solidFill>
                <a:schemeClr val="dk1"/>
              </a:solidFill>
              <a:latin typeface="Calibri"/>
              <a:ea typeface="Calibri"/>
              <a:cs typeface="Calibri"/>
              <a:sym typeface="Calibri"/>
            </a:endParaRPr>
          </a:p>
        </p:txBody>
      </p:sp>
      <p:sp>
        <p:nvSpPr>
          <p:cNvPr id="1601" name="Google Shape;1601;p69"/>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2" name="Google Shape;1602;p69"/>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03" name="Google Shape;1603;p69"/>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604" name="Google Shape;1604;p69"/>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Two enrollment models</a:t>
            </a:r>
            <a:endParaRPr b="0" i="0" sz="1200" u="none" cap="none" strike="noStrike">
              <a:solidFill>
                <a:schemeClr val="dk1"/>
              </a:solidFill>
              <a:latin typeface="Calibri"/>
              <a:ea typeface="Calibri"/>
              <a:cs typeface="Calibri"/>
              <a:sym typeface="Calibri"/>
            </a:endParaRPr>
          </a:p>
        </p:txBody>
      </p:sp>
      <p:sp>
        <p:nvSpPr>
          <p:cNvPr id="1605" name="Google Shape;1605;p69"/>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DHJ (Deals at HomeJoy) is the legacy model. FCF (First Cleaning Free) is the current model.</a:t>
            </a:r>
            <a:endParaRPr b="0" i="0" sz="950" u="none" cap="none" strike="noStrike">
              <a:solidFill>
                <a:schemeClr val="dk1"/>
              </a:solidFill>
              <a:latin typeface="Calibri"/>
              <a:ea typeface="Calibri"/>
              <a:cs typeface="Calibri"/>
              <a:sym typeface="Calibri"/>
            </a:endParaRPr>
          </a:p>
        </p:txBody>
      </p:sp>
      <p:sp>
        <p:nvSpPr>
          <p:cNvPr id="1606" name="Google Shape;1606;p69"/>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7" name="Google Shape;1607;p69"/>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08" name="Google Shape;1608;p69"/>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609" name="Google Shape;1609;p69"/>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Which one is it?</a:t>
            </a:r>
            <a:endParaRPr b="0" i="0" sz="1200" u="none" cap="none" strike="noStrike">
              <a:solidFill>
                <a:schemeClr val="dk1"/>
              </a:solidFill>
              <a:latin typeface="Calibri"/>
              <a:ea typeface="Calibri"/>
              <a:cs typeface="Calibri"/>
              <a:sym typeface="Calibri"/>
            </a:endParaRPr>
          </a:p>
        </p:txBody>
      </p:sp>
      <p:sp>
        <p:nvSpPr>
          <p:cNvPr id="1610" name="Google Shape;1610;p69"/>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Look for the FCF banner in the New CRM or Legacy CRM. No banner? Treat the customer as DHJ.</a:t>
            </a:r>
            <a:endParaRPr b="0" i="0" sz="950" u="none" cap="none" strike="noStrike">
              <a:solidFill>
                <a:schemeClr val="dk1"/>
              </a:solidFill>
              <a:latin typeface="Calibri"/>
              <a:ea typeface="Calibri"/>
              <a:cs typeface="Calibri"/>
              <a:sym typeface="Calibri"/>
            </a:endParaRPr>
          </a:p>
        </p:txBody>
      </p:sp>
      <p:sp>
        <p:nvSpPr>
          <p:cNvPr id="1611" name="Google Shape;1611;p69"/>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12" name="Google Shape;1612;p69"/>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613" name="Google Shape;1613;p69"/>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Transition:</a:t>
            </a:r>
            <a:r>
              <a:rPr b="0" i="0" lang="en" sz="1000" u="none" cap="none" strike="noStrike">
                <a:solidFill>
                  <a:srgbClr val="1D1D1F"/>
                </a:solidFill>
                <a:latin typeface="Arial"/>
                <a:ea typeface="Arial"/>
                <a:cs typeface="Arial"/>
                <a:sym typeface="Arial"/>
              </a:rPr>
              <a:t>from August 3, 2026 all new sign-ups are FCF. Both models are still active, so identify the model before you apply any membership policy.</a:t>
            </a:r>
            <a:endParaRPr b="0" i="0" sz="1000" u="none" cap="none" strike="noStrike">
              <a:solidFill>
                <a:schemeClr val="dk1"/>
              </a:solidFill>
              <a:latin typeface="Calibri"/>
              <a:ea typeface="Calibri"/>
              <a:cs typeface="Calibri"/>
              <a:sym typeface="Calibri"/>
            </a:endParaRPr>
          </a:p>
        </p:txBody>
      </p:sp>
      <p:sp>
        <p:nvSpPr>
          <p:cNvPr id="1614" name="Google Shape;1614;p6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8" name="Shape 1618"/>
        <p:cNvGrpSpPr/>
        <p:nvPr/>
      </p:nvGrpSpPr>
      <p:grpSpPr>
        <a:xfrm>
          <a:off x="0" y="0"/>
          <a:ext cx="0" cy="0"/>
          <a:chOff x="0" y="0"/>
          <a:chExt cx="0" cy="0"/>
        </a:xfrm>
      </p:grpSpPr>
      <p:sp>
        <p:nvSpPr>
          <p:cNvPr id="1619" name="Google Shape;1619;p7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FOREVERCLEAN MEMBERSHIP</a:t>
            </a:r>
            <a:endParaRPr b="0" i="0" sz="800" u="none" cap="none" strike="noStrike">
              <a:solidFill>
                <a:schemeClr val="dk1"/>
              </a:solidFill>
              <a:latin typeface="Calibri"/>
              <a:ea typeface="Calibri"/>
              <a:cs typeface="Calibri"/>
              <a:sym typeface="Calibri"/>
            </a:endParaRPr>
          </a:p>
        </p:txBody>
      </p:sp>
      <p:sp>
        <p:nvSpPr>
          <p:cNvPr id="1620" name="Google Shape;1620;p7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When does membership begin?</a:t>
            </a:r>
            <a:endParaRPr b="0" i="0" sz="2400" u="none" cap="none" strike="noStrike">
              <a:solidFill>
                <a:schemeClr val="dk1"/>
              </a:solidFill>
              <a:latin typeface="Calibri"/>
              <a:ea typeface="Calibri"/>
              <a:cs typeface="Calibri"/>
              <a:sym typeface="Calibri"/>
            </a:endParaRPr>
          </a:p>
        </p:txBody>
      </p:sp>
      <p:sp>
        <p:nvSpPr>
          <p:cNvPr id="1621" name="Google Shape;1621;p7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This one idea explains most DHJ vs FCF differences.</a:t>
            </a:r>
            <a:endParaRPr b="0" i="0" sz="1200" u="none" cap="none" strike="noStrike">
              <a:solidFill>
                <a:schemeClr val="dk1"/>
              </a:solidFill>
              <a:latin typeface="Calibri"/>
              <a:ea typeface="Calibri"/>
              <a:cs typeface="Calibri"/>
              <a:sym typeface="Calibri"/>
            </a:endParaRPr>
          </a:p>
        </p:txBody>
      </p:sp>
      <p:sp>
        <p:nvSpPr>
          <p:cNvPr id="1622" name="Google Shape;1622;p70"/>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p70"/>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24" name="Google Shape;1624;p70"/>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625" name="Google Shape;1625;p70"/>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DHJ</a:t>
            </a:r>
            <a:endParaRPr b="0" i="0" sz="1200" u="none" cap="none" strike="noStrike">
              <a:solidFill>
                <a:schemeClr val="dk1"/>
              </a:solidFill>
              <a:latin typeface="Calibri"/>
              <a:ea typeface="Calibri"/>
              <a:cs typeface="Calibri"/>
              <a:sym typeface="Calibri"/>
            </a:endParaRPr>
          </a:p>
        </p:txBody>
      </p:sp>
      <p:sp>
        <p:nvSpPr>
          <p:cNvPr id="1626" name="Google Shape;1626;p70"/>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customer buys a voucher. Membership starts only after the first cleaning is completed.</a:t>
            </a:r>
            <a:endParaRPr b="0" i="0" sz="950" u="none" cap="none" strike="noStrike">
              <a:solidFill>
                <a:schemeClr val="dk1"/>
              </a:solidFill>
              <a:latin typeface="Calibri"/>
              <a:ea typeface="Calibri"/>
              <a:cs typeface="Calibri"/>
              <a:sym typeface="Calibri"/>
            </a:endParaRPr>
          </a:p>
        </p:txBody>
      </p:sp>
      <p:sp>
        <p:nvSpPr>
          <p:cNvPr id="1627" name="Google Shape;1627;p70"/>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8" name="Google Shape;1628;p70"/>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29" name="Google Shape;1629;p70"/>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630" name="Google Shape;1630;p70"/>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FCF</a:t>
            </a:r>
            <a:endParaRPr b="0" i="0" sz="1200" u="none" cap="none" strike="noStrike">
              <a:solidFill>
                <a:schemeClr val="dk1"/>
              </a:solidFill>
              <a:latin typeface="Calibri"/>
              <a:ea typeface="Calibri"/>
              <a:cs typeface="Calibri"/>
              <a:sym typeface="Calibri"/>
            </a:endParaRPr>
          </a:p>
        </p:txBody>
      </p:sp>
      <p:sp>
        <p:nvSpPr>
          <p:cNvPr id="1631" name="Google Shape;1631;p70"/>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customer joins the membership first. It starts immediately at sign-up, with a free first cleaning as a benefit.</a:t>
            </a:r>
            <a:endParaRPr b="0" i="0" sz="950" u="none" cap="none" strike="noStrike">
              <a:solidFill>
                <a:schemeClr val="dk1"/>
              </a:solidFill>
              <a:latin typeface="Calibri"/>
              <a:ea typeface="Calibri"/>
              <a:cs typeface="Calibri"/>
              <a:sym typeface="Calibri"/>
            </a:endParaRPr>
          </a:p>
        </p:txBody>
      </p:sp>
      <p:sp>
        <p:nvSpPr>
          <p:cNvPr id="1632" name="Google Shape;1632;p70"/>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70"/>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34" name="Google Shape;1634;p70"/>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635" name="Google Shape;1635;p70"/>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What follows the start</a:t>
            </a:r>
            <a:endParaRPr b="0" i="0" sz="1200" u="none" cap="none" strike="noStrike">
              <a:solidFill>
                <a:schemeClr val="dk1"/>
              </a:solidFill>
              <a:latin typeface="Calibri"/>
              <a:ea typeface="Calibri"/>
              <a:cs typeface="Calibri"/>
              <a:sym typeface="Calibri"/>
            </a:endParaRPr>
          </a:p>
        </p:txBody>
      </p:sp>
      <p:sp>
        <p:nvSpPr>
          <p:cNvPr id="1636" name="Google Shape;1636;p70"/>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Monthly billing, the Minimum Commitment Term and self-service features all begin when membership begins.</a:t>
            </a:r>
            <a:endParaRPr b="0" i="0" sz="950" u="none" cap="none" strike="noStrike">
              <a:solidFill>
                <a:schemeClr val="dk1"/>
              </a:solidFill>
              <a:latin typeface="Calibri"/>
              <a:ea typeface="Calibri"/>
              <a:cs typeface="Calibri"/>
              <a:sym typeface="Calibri"/>
            </a:endParaRPr>
          </a:p>
        </p:txBody>
      </p:sp>
      <p:sp>
        <p:nvSpPr>
          <p:cNvPr id="1637" name="Google Shape;1637;p70"/>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38" name="Google Shape;1638;p70"/>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639" name="Google Shape;1639;p70"/>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Remember:</a:t>
            </a:r>
            <a:r>
              <a:rPr b="0" i="0" lang="en" sz="1000" u="none" cap="none" strike="noStrike">
                <a:solidFill>
                  <a:srgbClr val="1D1D1F"/>
                </a:solidFill>
                <a:latin typeface="Arial"/>
                <a:ea typeface="Arial"/>
                <a:cs typeface="Arial"/>
                <a:sym typeface="Arial"/>
              </a:rPr>
              <a:t>don't memorize each difference as a separate rule. Ask "has this customer's membership started yet?"</a:t>
            </a:r>
            <a:endParaRPr b="0" i="0" sz="1000" u="none" cap="none" strike="noStrike">
              <a:solidFill>
                <a:schemeClr val="dk1"/>
              </a:solidFill>
              <a:latin typeface="Calibri"/>
              <a:ea typeface="Calibri"/>
              <a:cs typeface="Calibri"/>
              <a:sym typeface="Calibri"/>
            </a:endParaRPr>
          </a:p>
        </p:txBody>
      </p:sp>
      <p:sp>
        <p:nvSpPr>
          <p:cNvPr id="1640" name="Google Shape;1640;p7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4" name="Shape 1644"/>
        <p:cNvGrpSpPr/>
        <p:nvPr/>
      </p:nvGrpSpPr>
      <p:grpSpPr>
        <a:xfrm>
          <a:off x="0" y="0"/>
          <a:ext cx="0" cy="0"/>
          <a:chOff x="0" y="0"/>
          <a:chExt cx="0" cy="0"/>
        </a:xfrm>
      </p:grpSpPr>
      <p:sp>
        <p:nvSpPr>
          <p:cNvPr id="1645" name="Google Shape;1645;p7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FOREVERCLEAN MEMBERSHIP</a:t>
            </a:r>
            <a:endParaRPr b="0" i="0" sz="800" u="none" cap="none" strike="noStrike">
              <a:solidFill>
                <a:schemeClr val="dk1"/>
              </a:solidFill>
              <a:latin typeface="Calibri"/>
              <a:ea typeface="Calibri"/>
              <a:cs typeface="Calibri"/>
              <a:sym typeface="Calibri"/>
            </a:endParaRPr>
          </a:p>
        </p:txBody>
      </p:sp>
      <p:sp>
        <p:nvSpPr>
          <p:cNvPr id="1646" name="Google Shape;1646;p7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DHJ vs FCF: sign-up and billing</a:t>
            </a:r>
            <a:endParaRPr b="0" i="0" sz="2400" u="none" cap="none" strike="noStrike">
              <a:solidFill>
                <a:schemeClr val="dk1"/>
              </a:solidFill>
              <a:latin typeface="Calibri"/>
              <a:ea typeface="Calibri"/>
              <a:cs typeface="Calibri"/>
              <a:sym typeface="Calibri"/>
            </a:endParaRPr>
          </a:p>
        </p:txBody>
      </p:sp>
      <p:sp>
        <p:nvSpPr>
          <p:cNvPr id="1647" name="Google Shape;1647;p7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Same program, different enrollment experience.</a:t>
            </a:r>
            <a:endParaRPr b="0" i="0" sz="1200" u="none" cap="none" strike="noStrike">
              <a:solidFill>
                <a:schemeClr val="dk1"/>
              </a:solidFill>
              <a:latin typeface="Calibri"/>
              <a:ea typeface="Calibri"/>
              <a:cs typeface="Calibri"/>
              <a:sym typeface="Calibri"/>
            </a:endParaRPr>
          </a:p>
        </p:txBody>
      </p:sp>
      <p:graphicFrame>
        <p:nvGraphicFramePr>
          <p:cNvPr id="1648" name="Google Shape;1648;p71"/>
          <p:cNvGraphicFramePr/>
          <p:nvPr/>
        </p:nvGraphicFramePr>
        <p:xfrm>
          <a:off x="411480" y="1234440"/>
          <a:ext cx="3000000" cy="3000000"/>
        </p:xfrm>
        <a:graphic>
          <a:graphicData uri="http://schemas.openxmlformats.org/drawingml/2006/table">
            <a:tbl>
              <a:tblPr>
                <a:noFill/>
                <a:tableStyleId>{1110B021-F78A-4E02-AF73-8366E27A90AE}</a:tableStyleId>
              </a:tblPr>
              <a:tblGrid>
                <a:gridCol w="2000000"/>
                <a:gridCol w="3160000"/>
                <a:gridCol w="316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Topic</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DHJ (legacy)</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FCF (current)</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Primary product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Customer purchases a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Customer signs up for a membership with a free 2-3 hour first cleaning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Payment at sign-up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Voucher price only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$19 discounted first membership fee; +$19 for a 4-hr cleaning ($38), +$59 for a 6-hr ($78), before tax</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Membership starts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After the first completed cleaning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Immediately at sign-up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Monthly fee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$59/month after the first completed cleaning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$19 at sign-up, then $59/month</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MCT starts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After the first completed cleaning (6 months)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At sign-up (6 months)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ETF applies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After first completed cleaning, before MCT ends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Same condition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649" name="Google Shape;1649;p71"/>
          <p:cNvSpPr/>
          <p:nvPr/>
        </p:nvSpPr>
        <p:spPr>
          <a:xfrm>
            <a:off x="411480" y="3700315"/>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50" name="Google Shape;1650;p71"/>
          <p:cNvPicPr preferRelativeResize="0"/>
          <p:nvPr/>
        </p:nvPicPr>
        <p:blipFill rotWithShape="1">
          <a:blip r:embed="rId3">
            <a:alphaModFix/>
          </a:blip>
          <a:srcRect b="0" l="0" r="0" t="0"/>
          <a:stretch/>
        </p:blipFill>
        <p:spPr>
          <a:xfrm>
            <a:off x="566928" y="3810043"/>
            <a:ext cx="164592" cy="164592"/>
          </a:xfrm>
          <a:prstGeom prst="rect">
            <a:avLst/>
          </a:prstGeom>
          <a:noFill/>
          <a:ln>
            <a:noFill/>
          </a:ln>
        </p:spPr>
      </p:pic>
      <p:sp>
        <p:nvSpPr>
          <p:cNvPr id="1651" name="Google Shape;1651;p71"/>
          <p:cNvSpPr txBox="1"/>
          <p:nvPr/>
        </p:nvSpPr>
        <p:spPr>
          <a:xfrm>
            <a:off x="822960" y="3800899"/>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Never say it:</a:t>
            </a:r>
            <a:r>
              <a:rPr b="0" i="0" lang="en" sz="1000" u="none" cap="none" strike="noStrike">
                <a:solidFill>
                  <a:srgbClr val="1D1D1F"/>
                </a:solidFill>
                <a:latin typeface="Arial"/>
                <a:ea typeface="Arial"/>
                <a:cs typeface="Arial"/>
                <a:sym typeface="Arial"/>
              </a:rPr>
              <a:t>don't call an FCF sign-up "purchasing a voucher". They enrolled in a membership that includes a free first cleaning.</a:t>
            </a:r>
            <a:endParaRPr b="0" i="0" sz="1000" u="none" cap="none" strike="noStrike">
              <a:solidFill>
                <a:schemeClr val="dk1"/>
              </a:solidFill>
              <a:latin typeface="Calibri"/>
              <a:ea typeface="Calibri"/>
              <a:cs typeface="Calibri"/>
              <a:sym typeface="Calibri"/>
            </a:endParaRPr>
          </a:p>
        </p:txBody>
      </p:sp>
      <p:sp>
        <p:nvSpPr>
          <p:cNvPr id="1652" name="Google Shape;1652;p7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6" name="Shape 1656"/>
        <p:cNvGrpSpPr/>
        <p:nvPr/>
      </p:nvGrpSpPr>
      <p:grpSpPr>
        <a:xfrm>
          <a:off x="0" y="0"/>
          <a:ext cx="0" cy="0"/>
          <a:chOff x="0" y="0"/>
          <a:chExt cx="0" cy="0"/>
        </a:xfrm>
      </p:grpSpPr>
      <p:sp>
        <p:nvSpPr>
          <p:cNvPr id="1657" name="Google Shape;1657;p7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FOREVERCLEAN MEMBERSHIP</a:t>
            </a:r>
            <a:endParaRPr b="0" i="0" sz="800" u="none" cap="none" strike="noStrike">
              <a:solidFill>
                <a:schemeClr val="dk1"/>
              </a:solidFill>
              <a:latin typeface="Calibri"/>
              <a:ea typeface="Calibri"/>
              <a:cs typeface="Calibri"/>
              <a:sym typeface="Calibri"/>
            </a:endParaRPr>
          </a:p>
        </p:txBody>
      </p:sp>
      <p:sp>
        <p:nvSpPr>
          <p:cNvPr id="1658" name="Google Shape;1658;p7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DHJ vs FCF: self-service and refunds</a:t>
            </a:r>
            <a:endParaRPr b="0" i="0" sz="2400" u="none" cap="none" strike="noStrike">
              <a:solidFill>
                <a:schemeClr val="dk1"/>
              </a:solidFill>
              <a:latin typeface="Calibri"/>
              <a:ea typeface="Calibri"/>
              <a:cs typeface="Calibri"/>
              <a:sym typeface="Calibri"/>
            </a:endParaRPr>
          </a:p>
        </p:txBody>
      </p:sp>
      <p:sp>
        <p:nvSpPr>
          <p:cNvPr id="1659" name="Google Shape;1659;p7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the customer can do on their own depends on when membership starts.</a:t>
            </a:r>
            <a:endParaRPr b="0" i="0" sz="1200" u="none" cap="none" strike="noStrike">
              <a:solidFill>
                <a:schemeClr val="dk1"/>
              </a:solidFill>
              <a:latin typeface="Calibri"/>
              <a:ea typeface="Calibri"/>
              <a:cs typeface="Calibri"/>
              <a:sym typeface="Calibri"/>
            </a:endParaRPr>
          </a:p>
        </p:txBody>
      </p:sp>
      <p:graphicFrame>
        <p:nvGraphicFramePr>
          <p:cNvPr id="1660" name="Google Shape;1660;p72"/>
          <p:cNvGraphicFramePr/>
          <p:nvPr/>
        </p:nvGraphicFramePr>
        <p:xfrm>
          <a:off x="411480" y="1234440"/>
          <a:ext cx="3000000" cy="3000000"/>
        </p:xfrm>
        <a:graphic>
          <a:graphicData uri="http://schemas.openxmlformats.org/drawingml/2006/table">
            <a:tbl>
              <a:tblPr>
                <a:noFill/>
                <a:tableStyleId>{1110B021-F78A-4E02-AF73-8366E27A90AE}</a:tableStyleId>
              </a:tblPr>
              <a:tblGrid>
                <a:gridCol w="2000000"/>
                <a:gridCol w="3160000"/>
                <a:gridCol w="316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Topic</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DHJ (legacy)</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FCF (current)</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1st job is a lockout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Membership is paused. It un-pauses once the 2nd job is invoiced (lockouts count)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Membership keeps renewing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Customer self-cancel</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Not available before the first completed cleaning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Available right after sign-up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Cancellation link</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Not applicable before the first completed cleaning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 be provided immediately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Refund requests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Customer can self-refund the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Handled by Care under the applicable policy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Voucher after refund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Becomes "Refunded but Valid": the agent must invalidate it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Voucher invalidates automatically when membership is cancelled. Invalidate manually if the system missed it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661" name="Google Shape;1661;p7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5" name="Shape 1665"/>
        <p:cNvGrpSpPr/>
        <p:nvPr/>
      </p:nvGrpSpPr>
      <p:grpSpPr>
        <a:xfrm>
          <a:off x="0" y="0"/>
          <a:ext cx="0" cy="0"/>
          <a:chOff x="0" y="0"/>
          <a:chExt cx="0" cy="0"/>
        </a:xfrm>
      </p:grpSpPr>
      <p:sp>
        <p:nvSpPr>
          <p:cNvPr id="1666" name="Google Shape;1666;p7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FOREVERCLEAN MEMBERSHIP</a:t>
            </a:r>
            <a:endParaRPr b="0" i="0" sz="800" u="none" cap="none" strike="noStrike">
              <a:solidFill>
                <a:schemeClr val="dk1"/>
              </a:solidFill>
              <a:latin typeface="Calibri"/>
              <a:ea typeface="Calibri"/>
              <a:cs typeface="Calibri"/>
              <a:sym typeface="Calibri"/>
            </a:endParaRPr>
          </a:p>
        </p:txBody>
      </p:sp>
      <p:sp>
        <p:nvSpPr>
          <p:cNvPr id="1667" name="Google Shape;1667;p7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Membership fees (MF)</a:t>
            </a:r>
            <a:endParaRPr b="0" i="0" sz="2400" u="none" cap="none" strike="noStrike">
              <a:solidFill>
                <a:schemeClr val="dk1"/>
              </a:solidFill>
              <a:latin typeface="Calibri"/>
              <a:ea typeface="Calibri"/>
              <a:cs typeface="Calibri"/>
              <a:sym typeface="Calibri"/>
            </a:endParaRPr>
          </a:p>
        </p:txBody>
      </p:sp>
      <p:sp>
        <p:nvSpPr>
          <p:cNvPr id="1668" name="Google Shape;1668;p7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the first charge happens depends on when membership starts.</a:t>
            </a:r>
            <a:endParaRPr b="0" i="0" sz="1200" u="none" cap="none" strike="noStrike">
              <a:solidFill>
                <a:schemeClr val="dk1"/>
              </a:solidFill>
              <a:latin typeface="Calibri"/>
              <a:ea typeface="Calibri"/>
              <a:cs typeface="Calibri"/>
              <a:sym typeface="Calibri"/>
            </a:endParaRPr>
          </a:p>
        </p:txBody>
      </p:sp>
      <p:graphicFrame>
        <p:nvGraphicFramePr>
          <p:cNvPr id="1669" name="Google Shape;1669;p73"/>
          <p:cNvGraphicFramePr/>
          <p:nvPr/>
        </p:nvGraphicFramePr>
        <p:xfrm>
          <a:off x="411480" y="1234440"/>
          <a:ext cx="3000000" cy="3000000"/>
        </p:xfrm>
        <a:graphic>
          <a:graphicData uri="http://schemas.openxmlformats.org/drawingml/2006/table">
            <a:tbl>
              <a:tblPr>
                <a:noFill/>
                <a:tableStyleId>{1110B021-F78A-4E02-AF73-8366E27A90AE}</a:tableStyleId>
              </a:tblPr>
              <a:tblGrid>
                <a:gridCol w="2000000"/>
                <a:gridCol w="3160000"/>
                <a:gridCol w="3160000"/>
              </a:tblGrid>
              <a:tr h="329175">
                <a:tc>
                  <a:txBody>
                    <a:bodyPr/>
                    <a:lstStyle/>
                    <a:p>
                      <a:pPr indent="0" lvl="0" marL="0" marR="0" rtl="0" algn="l">
                        <a:lnSpc>
                          <a:spcPct val="100000"/>
                        </a:lnSpc>
                        <a:spcBef>
                          <a:spcPts val="0"/>
                        </a:spcBef>
                        <a:spcAft>
                          <a:spcPts val="0"/>
                        </a:spcAft>
                        <a:buClr>
                          <a:srgbClr val="0B7A6F"/>
                        </a:buClr>
                        <a:buSzPts val="900"/>
                        <a:buFont typeface="Play"/>
                        <a:buNone/>
                      </a:pPr>
                      <a:r>
                        <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DHJ (legacy)</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FCF (current)</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First charge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$59/month, once the first cleaning is completed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$19 at sign-up (+$19 for 4-hr, +$59 for 6-hr first cleaning)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Recurring charge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$59/month thereafter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$59/month after the initial charge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Before any cleaning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 membership fee bills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Customer has already paid and is an active member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670" name="Google Shape;1670;p73"/>
          <p:cNvSpPr/>
          <p:nvPr/>
        </p:nvSpPr>
        <p:spPr>
          <a:xfrm>
            <a:off x="411480" y="2691965"/>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71" name="Google Shape;1671;p73"/>
          <p:cNvPicPr preferRelativeResize="0"/>
          <p:nvPr/>
        </p:nvPicPr>
        <p:blipFill rotWithShape="1">
          <a:blip r:embed="rId3">
            <a:alphaModFix/>
          </a:blip>
          <a:srcRect b="0" l="0" r="0" t="0"/>
          <a:stretch/>
        </p:blipFill>
        <p:spPr>
          <a:xfrm>
            <a:off x="566928" y="2801693"/>
            <a:ext cx="164592" cy="164592"/>
          </a:xfrm>
          <a:prstGeom prst="rect">
            <a:avLst/>
          </a:prstGeom>
          <a:noFill/>
          <a:ln>
            <a:noFill/>
          </a:ln>
        </p:spPr>
      </p:pic>
      <p:sp>
        <p:nvSpPr>
          <p:cNvPr id="1672" name="Google Shape;1672;p73"/>
          <p:cNvSpPr txBox="1"/>
          <p:nvPr/>
        </p:nvSpPr>
        <p:spPr>
          <a:xfrm>
            <a:off x="822960" y="2792549"/>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Avoid:</a:t>
            </a:r>
            <a:r>
              <a:rPr b="0" i="0" lang="en" sz="1000" u="none" cap="none" strike="noStrike">
                <a:solidFill>
                  <a:srgbClr val="1D1D1F"/>
                </a:solidFill>
                <a:latin typeface="Arial"/>
                <a:ea typeface="Arial"/>
                <a:cs typeface="Arial"/>
                <a:sym typeface="Arial"/>
              </a:rPr>
              <a:t>"cleanings start at $X/hour". Explain what applies to their booking or membership instead of using marketing phrases.</a:t>
            </a:r>
            <a:endParaRPr b="0" i="0" sz="1000" u="none" cap="none" strike="noStrike">
              <a:solidFill>
                <a:schemeClr val="dk1"/>
              </a:solidFill>
              <a:latin typeface="Calibri"/>
              <a:ea typeface="Calibri"/>
              <a:cs typeface="Calibri"/>
              <a:sym typeface="Calibri"/>
            </a:endParaRPr>
          </a:p>
        </p:txBody>
      </p:sp>
      <p:sp>
        <p:nvSpPr>
          <p:cNvPr id="1673" name="Google Shape;1673;p7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7" name="Shape 1677"/>
        <p:cNvGrpSpPr/>
        <p:nvPr/>
      </p:nvGrpSpPr>
      <p:grpSpPr>
        <a:xfrm>
          <a:off x="0" y="0"/>
          <a:ext cx="0" cy="0"/>
          <a:chOff x="0" y="0"/>
          <a:chExt cx="0" cy="0"/>
        </a:xfrm>
      </p:grpSpPr>
      <p:sp>
        <p:nvSpPr>
          <p:cNvPr id="1678" name="Google Shape;1678;p7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FOREVERCLEAN MEMBERSHIP</a:t>
            </a:r>
            <a:endParaRPr b="0" i="0" sz="800" u="none" cap="none" strike="noStrike">
              <a:solidFill>
                <a:schemeClr val="dk1"/>
              </a:solidFill>
              <a:latin typeface="Calibri"/>
              <a:ea typeface="Calibri"/>
              <a:cs typeface="Calibri"/>
              <a:sym typeface="Calibri"/>
            </a:endParaRPr>
          </a:p>
        </p:txBody>
      </p:sp>
      <p:sp>
        <p:nvSpPr>
          <p:cNvPr id="1679" name="Google Shape;1679;p7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Minimum Commitment Term (MCT)</a:t>
            </a:r>
            <a:endParaRPr b="0" i="0" sz="2400" u="none" cap="none" strike="noStrike">
              <a:solidFill>
                <a:schemeClr val="dk1"/>
              </a:solidFill>
              <a:latin typeface="Calibri"/>
              <a:ea typeface="Calibri"/>
              <a:cs typeface="Calibri"/>
              <a:sym typeface="Calibri"/>
            </a:endParaRPr>
          </a:p>
        </p:txBody>
      </p:sp>
      <p:sp>
        <p:nvSpPr>
          <p:cNvPr id="1680" name="Google Shape;1680;p7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minimum stretch a customer stays a member before leaving without an early termination fee.</a:t>
            </a:r>
            <a:endParaRPr b="0" i="0" sz="1200" u="none" cap="none" strike="noStrike">
              <a:solidFill>
                <a:schemeClr val="dk1"/>
              </a:solidFill>
              <a:latin typeface="Calibri"/>
              <a:ea typeface="Calibri"/>
              <a:cs typeface="Calibri"/>
              <a:sym typeface="Calibri"/>
            </a:endParaRPr>
          </a:p>
        </p:txBody>
      </p:sp>
      <p:sp>
        <p:nvSpPr>
          <p:cNvPr id="1681" name="Google Shape;1681;p74"/>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2" name="Google Shape;1682;p74"/>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83" name="Google Shape;1683;p74"/>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684" name="Google Shape;1684;p74"/>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6 months, both models</a:t>
            </a:r>
            <a:endParaRPr b="0" i="0" sz="1200" u="none" cap="none" strike="noStrike">
              <a:solidFill>
                <a:schemeClr val="dk1"/>
              </a:solidFill>
              <a:latin typeface="Calibri"/>
              <a:ea typeface="Calibri"/>
              <a:cs typeface="Calibri"/>
              <a:sym typeface="Calibri"/>
            </a:endParaRPr>
          </a:p>
        </p:txBody>
      </p:sp>
      <p:sp>
        <p:nvSpPr>
          <p:cNvPr id="1685" name="Google Shape;1685;p74"/>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MCT is the flip side of the heavily discounted first cleaning. It stops that discount being a one-time freebie.</a:t>
            </a:r>
            <a:endParaRPr b="0" i="0" sz="950" u="none" cap="none" strike="noStrike">
              <a:solidFill>
                <a:schemeClr val="dk1"/>
              </a:solidFill>
              <a:latin typeface="Calibri"/>
              <a:ea typeface="Calibri"/>
              <a:cs typeface="Calibri"/>
              <a:sym typeface="Calibri"/>
            </a:endParaRPr>
          </a:p>
        </p:txBody>
      </p:sp>
      <p:sp>
        <p:nvSpPr>
          <p:cNvPr id="1686" name="Google Shape;1686;p74"/>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7" name="Google Shape;1687;p74"/>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88" name="Google Shape;1688;p74"/>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689" name="Google Shape;1689;p74"/>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Where the clock starts</a:t>
            </a:r>
            <a:endParaRPr b="0" i="0" sz="1200" u="none" cap="none" strike="noStrike">
              <a:solidFill>
                <a:schemeClr val="dk1"/>
              </a:solidFill>
              <a:latin typeface="Calibri"/>
              <a:ea typeface="Calibri"/>
              <a:cs typeface="Calibri"/>
              <a:sym typeface="Calibri"/>
            </a:endParaRPr>
          </a:p>
        </p:txBody>
      </p:sp>
      <p:sp>
        <p:nvSpPr>
          <p:cNvPr id="1690" name="Google Shape;1690;p74"/>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DHJ: after the first completed cleaning. FCF: at sign-up, because membership starts immediately.</a:t>
            </a:r>
            <a:endParaRPr b="0" i="0" sz="950" u="none" cap="none" strike="noStrike">
              <a:solidFill>
                <a:schemeClr val="dk1"/>
              </a:solidFill>
              <a:latin typeface="Calibri"/>
              <a:ea typeface="Calibri"/>
              <a:cs typeface="Calibri"/>
              <a:sym typeface="Calibri"/>
            </a:endParaRPr>
          </a:p>
        </p:txBody>
      </p:sp>
      <p:sp>
        <p:nvSpPr>
          <p:cNvPr id="1691" name="Google Shape;1691;p74"/>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2" name="Google Shape;1692;p74"/>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93" name="Google Shape;1693;p74"/>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694" name="Google Shape;1694;p74"/>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MCT clock is not the ETF clock</a:t>
            </a:r>
            <a:endParaRPr b="0" i="0" sz="1200" u="none" cap="none" strike="noStrike">
              <a:solidFill>
                <a:schemeClr val="dk1"/>
              </a:solidFill>
              <a:latin typeface="Calibri"/>
              <a:ea typeface="Calibri"/>
              <a:cs typeface="Calibri"/>
              <a:sym typeface="Calibri"/>
            </a:endParaRPr>
          </a:p>
        </p:txBody>
      </p:sp>
      <p:sp>
        <p:nvSpPr>
          <p:cNvPr id="1695" name="Google Shape;1695;p74"/>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An FCF customer can be 3 months into MCT with no completed cleaning. Cancel then: no ETF applies yet.</a:t>
            </a:r>
            <a:endParaRPr b="0" i="0" sz="950" u="none" cap="none" strike="noStrike">
              <a:solidFill>
                <a:schemeClr val="dk1"/>
              </a:solidFill>
              <a:latin typeface="Calibri"/>
              <a:ea typeface="Calibri"/>
              <a:cs typeface="Calibri"/>
              <a:sym typeface="Calibri"/>
            </a:endParaRPr>
          </a:p>
        </p:txBody>
      </p:sp>
      <p:sp>
        <p:nvSpPr>
          <p:cNvPr id="1696" name="Google Shape;1696;p74"/>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97" name="Google Shape;1697;p74"/>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698" name="Google Shape;1698;p74"/>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Washington:</a:t>
            </a:r>
            <a:r>
              <a:rPr b="0" i="0" lang="en" sz="1000" u="none" cap="none" strike="noStrike">
                <a:solidFill>
                  <a:srgbClr val="1D1D1F"/>
                </a:solidFill>
                <a:latin typeface="Arial"/>
                <a:ea typeface="Arial"/>
                <a:cs typeface="Arial"/>
                <a:sym typeface="Arial"/>
              </a:rPr>
              <a:t>customers in Washington are not held to the 6-month term under either model. They can cancel any time.</a:t>
            </a:r>
            <a:endParaRPr b="0" i="0" sz="1000" u="none" cap="none" strike="noStrike">
              <a:solidFill>
                <a:schemeClr val="dk1"/>
              </a:solidFill>
              <a:latin typeface="Calibri"/>
              <a:ea typeface="Calibri"/>
              <a:cs typeface="Calibri"/>
              <a:sym typeface="Calibri"/>
            </a:endParaRPr>
          </a:p>
        </p:txBody>
      </p:sp>
      <p:sp>
        <p:nvSpPr>
          <p:cNvPr id="1699" name="Google Shape;1699;p7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3" name="Shape 1703"/>
        <p:cNvGrpSpPr/>
        <p:nvPr/>
      </p:nvGrpSpPr>
      <p:grpSpPr>
        <a:xfrm>
          <a:off x="0" y="0"/>
          <a:ext cx="0" cy="0"/>
          <a:chOff x="0" y="0"/>
          <a:chExt cx="0" cy="0"/>
        </a:xfrm>
      </p:grpSpPr>
      <p:sp>
        <p:nvSpPr>
          <p:cNvPr id="1704" name="Google Shape;1704;p7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FOREVERCLEAN MEMBERSHIP</a:t>
            </a:r>
            <a:endParaRPr b="0" i="0" sz="800" u="none" cap="none" strike="noStrike">
              <a:solidFill>
                <a:schemeClr val="dk1"/>
              </a:solidFill>
              <a:latin typeface="Calibri"/>
              <a:ea typeface="Calibri"/>
              <a:cs typeface="Calibri"/>
              <a:sym typeface="Calibri"/>
            </a:endParaRPr>
          </a:p>
        </p:txBody>
      </p:sp>
      <p:sp>
        <p:nvSpPr>
          <p:cNvPr id="1705" name="Google Shape;1705;p7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Early Termination Fee (ETF)</a:t>
            </a:r>
            <a:endParaRPr b="0" i="0" sz="2400" u="none" cap="none" strike="noStrike">
              <a:solidFill>
                <a:schemeClr val="dk1"/>
              </a:solidFill>
              <a:latin typeface="Calibri"/>
              <a:ea typeface="Calibri"/>
              <a:cs typeface="Calibri"/>
              <a:sym typeface="Calibri"/>
            </a:endParaRPr>
          </a:p>
        </p:txBody>
      </p:sp>
      <p:sp>
        <p:nvSpPr>
          <p:cNvPr id="1706" name="Google Shape;1706;p7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fee for cancelling after the first completed cleaning but before MCT ends.</a:t>
            </a:r>
            <a:endParaRPr b="0" i="0" sz="1200" u="none" cap="none" strike="noStrike">
              <a:solidFill>
                <a:schemeClr val="dk1"/>
              </a:solidFill>
              <a:latin typeface="Calibri"/>
              <a:ea typeface="Calibri"/>
              <a:cs typeface="Calibri"/>
              <a:sym typeface="Calibri"/>
            </a:endParaRPr>
          </a:p>
        </p:txBody>
      </p:sp>
      <p:sp>
        <p:nvSpPr>
          <p:cNvPr id="1707" name="Google Shape;1707;p75"/>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p75"/>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09" name="Google Shape;1709;p7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710" name="Google Shape;1710;p75"/>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Why it exists</a:t>
            </a:r>
            <a:endParaRPr b="0" i="0" sz="1200" u="none" cap="none" strike="noStrike">
              <a:solidFill>
                <a:schemeClr val="dk1"/>
              </a:solidFill>
              <a:latin typeface="Calibri"/>
              <a:ea typeface="Calibri"/>
              <a:cs typeface="Calibri"/>
              <a:sym typeface="Calibri"/>
            </a:endParaRPr>
          </a:p>
        </p:txBody>
      </p:sp>
      <p:sp>
        <p:nvSpPr>
          <p:cNvPr id="1711" name="Google Shape;1711;p75"/>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first cleaning was free or heavily discounted. The ETF makes that offer sustainable. It is not a punishment.</a:t>
            </a:r>
            <a:endParaRPr b="0" i="0" sz="950" u="none" cap="none" strike="noStrike">
              <a:solidFill>
                <a:schemeClr val="dk1"/>
              </a:solidFill>
              <a:latin typeface="Calibri"/>
              <a:ea typeface="Calibri"/>
              <a:cs typeface="Calibri"/>
              <a:sym typeface="Calibri"/>
            </a:endParaRPr>
          </a:p>
        </p:txBody>
      </p:sp>
      <p:sp>
        <p:nvSpPr>
          <p:cNvPr id="1712" name="Google Shape;1712;p75"/>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3" name="Google Shape;1713;p75"/>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14" name="Google Shape;1714;p7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715" name="Google Shape;1715;p75"/>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The formula</a:t>
            </a:r>
            <a:endParaRPr b="0" i="0" sz="1200" u="none" cap="none" strike="noStrike">
              <a:solidFill>
                <a:schemeClr val="dk1"/>
              </a:solidFill>
              <a:latin typeface="Calibri"/>
              <a:ea typeface="Calibri"/>
              <a:cs typeface="Calibri"/>
              <a:sym typeface="Calibri"/>
            </a:endParaRPr>
          </a:p>
        </p:txBody>
      </p:sp>
      <p:sp>
        <p:nvSpPr>
          <p:cNvPr id="1716" name="Google Shape;1716;p75"/>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$35/hour x duration of the first cleaning. Same for DHJ and FCF.</a:t>
            </a:r>
            <a:endParaRPr b="0" i="0" sz="950" u="none" cap="none" strike="noStrike">
              <a:solidFill>
                <a:schemeClr val="dk1"/>
              </a:solidFill>
              <a:latin typeface="Calibri"/>
              <a:ea typeface="Calibri"/>
              <a:cs typeface="Calibri"/>
              <a:sym typeface="Calibri"/>
            </a:endParaRPr>
          </a:p>
        </p:txBody>
      </p:sp>
      <p:sp>
        <p:nvSpPr>
          <p:cNvPr id="1717" name="Google Shape;1717;p75"/>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75"/>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19" name="Google Shape;1719;p7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720" name="Google Shape;1720;p75"/>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When it applies</a:t>
            </a:r>
            <a:endParaRPr b="0" i="0" sz="1200" u="none" cap="none" strike="noStrike">
              <a:solidFill>
                <a:schemeClr val="dk1"/>
              </a:solidFill>
              <a:latin typeface="Calibri"/>
              <a:ea typeface="Calibri"/>
              <a:cs typeface="Calibri"/>
              <a:sym typeface="Calibri"/>
            </a:endParaRPr>
          </a:p>
        </p:txBody>
      </p:sp>
      <p:sp>
        <p:nvSpPr>
          <p:cNvPr id="1721" name="Google Shape;1721;p75"/>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Only after a job has been completed, and only before MCT ends.</a:t>
            </a:r>
            <a:endParaRPr b="0" i="0" sz="950" u="none" cap="none" strike="noStrike">
              <a:solidFill>
                <a:schemeClr val="dk1"/>
              </a:solidFill>
              <a:latin typeface="Calibri"/>
              <a:ea typeface="Calibri"/>
              <a:cs typeface="Calibri"/>
              <a:sym typeface="Calibri"/>
            </a:endParaRPr>
          </a:p>
        </p:txBody>
      </p:sp>
      <p:sp>
        <p:nvSpPr>
          <p:cNvPr id="1722" name="Google Shape;1722;p75"/>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23" name="Google Shape;1723;p75"/>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724" name="Google Shape;1724;p75"/>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Before you charge it:</a:t>
            </a:r>
            <a:r>
              <a:rPr b="0" i="0" lang="en" sz="1000" u="none" cap="none" strike="noStrike">
                <a:solidFill>
                  <a:srgbClr val="1D1D1F"/>
                </a:solidFill>
                <a:latin typeface="Arial"/>
                <a:ea typeface="Arial"/>
                <a:cs typeface="Arial"/>
                <a:sym typeface="Arial"/>
              </a:rPr>
              <a:t>make sure the customer understands what it is, or explicitly agrees to be charged. Silence is not agreement.</a:t>
            </a:r>
            <a:endParaRPr b="0" i="0" sz="1000" u="none" cap="none" strike="noStrike">
              <a:solidFill>
                <a:schemeClr val="dk1"/>
              </a:solidFill>
              <a:latin typeface="Calibri"/>
              <a:ea typeface="Calibri"/>
              <a:cs typeface="Calibri"/>
              <a:sym typeface="Calibri"/>
            </a:endParaRPr>
          </a:p>
        </p:txBody>
      </p:sp>
      <p:sp>
        <p:nvSpPr>
          <p:cNvPr id="1725" name="Google Shape;1725;p7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9" name="Shape 1729"/>
        <p:cNvGrpSpPr/>
        <p:nvPr/>
      </p:nvGrpSpPr>
      <p:grpSpPr>
        <a:xfrm>
          <a:off x="0" y="0"/>
          <a:ext cx="0" cy="0"/>
          <a:chOff x="0" y="0"/>
          <a:chExt cx="0" cy="0"/>
        </a:xfrm>
      </p:grpSpPr>
      <p:sp>
        <p:nvSpPr>
          <p:cNvPr id="1730" name="Google Shape;1730;p7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FOREVERCLEAN MEMBERSHIP</a:t>
            </a:r>
            <a:endParaRPr b="0" i="0" sz="800" u="none" cap="none" strike="noStrike">
              <a:solidFill>
                <a:schemeClr val="dk1"/>
              </a:solidFill>
              <a:latin typeface="Calibri"/>
              <a:ea typeface="Calibri"/>
              <a:cs typeface="Calibri"/>
              <a:sym typeface="Calibri"/>
            </a:endParaRPr>
          </a:p>
        </p:txBody>
      </p:sp>
      <p:sp>
        <p:nvSpPr>
          <p:cNvPr id="1731" name="Google Shape;1731;p7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Good to know</a:t>
            </a:r>
            <a:endParaRPr b="0" i="0" sz="2400" u="none" cap="none" strike="noStrike">
              <a:solidFill>
                <a:schemeClr val="dk1"/>
              </a:solidFill>
              <a:latin typeface="Calibri"/>
              <a:ea typeface="Calibri"/>
              <a:cs typeface="Calibri"/>
              <a:sym typeface="Calibri"/>
            </a:endParaRPr>
          </a:p>
        </p:txBody>
      </p:sp>
      <p:sp>
        <p:nvSpPr>
          <p:cNvPr id="1732" name="Google Shape;1732;p76"/>
          <p:cNvSpPr/>
          <p:nvPr/>
        </p:nvSpPr>
        <p:spPr>
          <a:xfrm>
            <a:off x="4114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3" name="Google Shape;1733;p76"/>
          <p:cNvSpPr/>
          <p:nvPr/>
        </p:nvSpPr>
        <p:spPr>
          <a:xfrm>
            <a:off x="5760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34" name="Google Shape;1734;p76"/>
          <p:cNvPicPr preferRelativeResize="0"/>
          <p:nvPr/>
        </p:nvPicPr>
        <p:blipFill rotWithShape="1">
          <a:blip r:embed="rId3">
            <a:alphaModFix/>
          </a:blip>
          <a:srcRect b="0" l="0" r="0" t="0"/>
          <a:stretch/>
        </p:blipFill>
        <p:spPr>
          <a:xfrm>
            <a:off x="668244" y="1509492"/>
            <a:ext cx="199705" cy="199705"/>
          </a:xfrm>
          <a:prstGeom prst="rect">
            <a:avLst/>
          </a:prstGeom>
          <a:noFill/>
          <a:ln>
            <a:noFill/>
          </a:ln>
        </p:spPr>
      </p:pic>
      <p:sp>
        <p:nvSpPr>
          <p:cNvPr id="1735" name="Google Shape;1735;p76"/>
          <p:cNvSpPr txBox="1"/>
          <p:nvPr/>
        </p:nvSpPr>
        <p:spPr>
          <a:xfrm>
            <a:off x="11247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Legacy ETF cohorts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Some older DHJ customers ($49 fee) use the non-FC cleaning price formula. The FC table is the source of truth.</a:t>
            </a:r>
            <a:endParaRPr b="0" i="0" sz="1200" u="none" cap="none" strike="noStrike">
              <a:solidFill>
                <a:schemeClr val="dk1"/>
              </a:solidFill>
              <a:latin typeface="Calibri"/>
              <a:ea typeface="Calibri"/>
              <a:cs typeface="Calibri"/>
              <a:sym typeface="Calibri"/>
            </a:endParaRPr>
          </a:p>
        </p:txBody>
      </p:sp>
      <p:sp>
        <p:nvSpPr>
          <p:cNvPr id="1736" name="Google Shape;1736;p76"/>
          <p:cNvSpPr/>
          <p:nvPr/>
        </p:nvSpPr>
        <p:spPr>
          <a:xfrm>
            <a:off x="46405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7" name="Google Shape;1737;p76"/>
          <p:cNvSpPr/>
          <p:nvPr/>
        </p:nvSpPr>
        <p:spPr>
          <a:xfrm>
            <a:off x="48051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38" name="Google Shape;1738;p76"/>
          <p:cNvPicPr preferRelativeResize="0"/>
          <p:nvPr/>
        </p:nvPicPr>
        <p:blipFill rotWithShape="1">
          <a:blip r:embed="rId4">
            <a:alphaModFix/>
          </a:blip>
          <a:srcRect b="0" l="0" r="0" t="0"/>
          <a:stretch/>
        </p:blipFill>
        <p:spPr>
          <a:xfrm>
            <a:off x="4897344" y="1509492"/>
            <a:ext cx="199705" cy="199705"/>
          </a:xfrm>
          <a:prstGeom prst="rect">
            <a:avLst/>
          </a:prstGeom>
          <a:noFill/>
          <a:ln>
            <a:noFill/>
          </a:ln>
        </p:spPr>
      </p:pic>
      <p:sp>
        <p:nvSpPr>
          <p:cNvPr id="1739" name="Google Shape;1739;p76"/>
          <p:cNvSpPr txBox="1"/>
          <p:nvPr/>
        </p:nvSpPr>
        <p:spPr>
          <a:xfrm>
            <a:off x="53538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Washington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No MCT and no ETF. Never raise ETF or waivers. Go straight to a no-charge cancellation.</a:t>
            </a:r>
            <a:endParaRPr b="0" i="0" sz="1200" u="none" cap="none" strike="noStrike">
              <a:solidFill>
                <a:schemeClr val="dk1"/>
              </a:solidFill>
              <a:latin typeface="Calibri"/>
              <a:ea typeface="Calibri"/>
              <a:cs typeface="Calibri"/>
              <a:sym typeface="Calibri"/>
            </a:endParaRPr>
          </a:p>
        </p:txBody>
      </p:sp>
      <p:sp>
        <p:nvSpPr>
          <p:cNvPr id="1740" name="Google Shape;1740;p76"/>
          <p:cNvSpPr/>
          <p:nvPr/>
        </p:nvSpPr>
        <p:spPr>
          <a:xfrm>
            <a:off x="4114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1" name="Google Shape;1741;p76"/>
          <p:cNvSpPr/>
          <p:nvPr/>
        </p:nvSpPr>
        <p:spPr>
          <a:xfrm>
            <a:off x="5760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42" name="Google Shape;1742;p76"/>
          <p:cNvPicPr preferRelativeResize="0"/>
          <p:nvPr/>
        </p:nvPicPr>
        <p:blipFill rotWithShape="1">
          <a:blip r:embed="rId5">
            <a:alphaModFix/>
          </a:blip>
          <a:srcRect b="0" l="0" r="0" t="0"/>
          <a:stretch/>
        </p:blipFill>
        <p:spPr>
          <a:xfrm>
            <a:off x="668244" y="2606772"/>
            <a:ext cx="199705" cy="199705"/>
          </a:xfrm>
          <a:prstGeom prst="rect">
            <a:avLst/>
          </a:prstGeom>
          <a:noFill/>
          <a:ln>
            <a:noFill/>
          </a:ln>
        </p:spPr>
      </p:pic>
      <p:sp>
        <p:nvSpPr>
          <p:cNvPr id="1743" name="Google Shape;1743;p76"/>
          <p:cNvSpPr txBox="1"/>
          <p:nvPr/>
        </p:nvSpPr>
        <p:spPr>
          <a:xfrm>
            <a:off x="11247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Pending cancellation</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ETF charge failed. No more monthly fees. System retries and FC deactivates on success. You can cancel in the CRM to speed it up.</a:t>
            </a:r>
            <a:endParaRPr b="0" i="0" sz="1200" u="none" cap="none" strike="noStrike">
              <a:solidFill>
                <a:schemeClr val="dk1"/>
              </a:solidFill>
              <a:latin typeface="Calibri"/>
              <a:ea typeface="Calibri"/>
              <a:cs typeface="Calibri"/>
              <a:sym typeface="Calibri"/>
            </a:endParaRPr>
          </a:p>
        </p:txBody>
      </p:sp>
      <p:sp>
        <p:nvSpPr>
          <p:cNvPr id="1744" name="Google Shape;1744;p76"/>
          <p:cNvSpPr/>
          <p:nvPr/>
        </p:nvSpPr>
        <p:spPr>
          <a:xfrm>
            <a:off x="46405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5" name="Google Shape;1745;p76"/>
          <p:cNvSpPr/>
          <p:nvPr/>
        </p:nvSpPr>
        <p:spPr>
          <a:xfrm>
            <a:off x="48051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46" name="Google Shape;1746;p76"/>
          <p:cNvPicPr preferRelativeResize="0"/>
          <p:nvPr/>
        </p:nvPicPr>
        <p:blipFill rotWithShape="1">
          <a:blip r:embed="rId6">
            <a:alphaModFix/>
          </a:blip>
          <a:srcRect b="0" l="0" r="0" t="0"/>
          <a:stretch/>
        </p:blipFill>
        <p:spPr>
          <a:xfrm>
            <a:off x="4897344" y="2606772"/>
            <a:ext cx="199705" cy="199705"/>
          </a:xfrm>
          <a:prstGeom prst="rect">
            <a:avLst/>
          </a:prstGeom>
          <a:noFill/>
          <a:ln>
            <a:noFill/>
          </a:ln>
        </p:spPr>
      </p:pic>
      <p:sp>
        <p:nvSpPr>
          <p:cNvPr id="1747" name="Google Shape;1747;p76"/>
          <p:cNvSpPr txBox="1"/>
          <p:nvPr/>
        </p:nvSpPr>
        <p:spPr>
          <a:xfrm>
            <a:off x="53538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DHJ lockout first job</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Membership is paused until the 2nd job is invoiced.</a:t>
            </a:r>
            <a:endParaRPr b="0" i="0" sz="1200" u="none" cap="none" strike="noStrike">
              <a:solidFill>
                <a:schemeClr val="dk1"/>
              </a:solidFill>
              <a:latin typeface="Calibri"/>
              <a:ea typeface="Calibri"/>
              <a:cs typeface="Calibri"/>
              <a:sym typeface="Calibri"/>
            </a:endParaRPr>
          </a:p>
        </p:txBody>
      </p:sp>
      <p:sp>
        <p:nvSpPr>
          <p:cNvPr id="1748" name="Google Shape;1748;p76"/>
          <p:cNvSpPr/>
          <p:nvPr/>
        </p:nvSpPr>
        <p:spPr>
          <a:xfrm>
            <a:off x="4114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9" name="Google Shape;1749;p76"/>
          <p:cNvSpPr/>
          <p:nvPr/>
        </p:nvSpPr>
        <p:spPr>
          <a:xfrm>
            <a:off x="5760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50" name="Google Shape;1750;p76"/>
          <p:cNvPicPr preferRelativeResize="0"/>
          <p:nvPr/>
        </p:nvPicPr>
        <p:blipFill rotWithShape="1">
          <a:blip r:embed="rId7">
            <a:alphaModFix/>
          </a:blip>
          <a:srcRect b="0" l="0" r="0" t="0"/>
          <a:stretch/>
        </p:blipFill>
        <p:spPr>
          <a:xfrm>
            <a:off x="668244" y="3704052"/>
            <a:ext cx="199705" cy="199705"/>
          </a:xfrm>
          <a:prstGeom prst="rect">
            <a:avLst/>
          </a:prstGeom>
          <a:noFill/>
          <a:ln>
            <a:noFill/>
          </a:ln>
        </p:spPr>
      </p:pic>
      <p:sp>
        <p:nvSpPr>
          <p:cNvPr id="1751" name="Google Shape;1751;p76"/>
          <p:cNvSpPr txBox="1"/>
          <p:nvPr/>
        </p:nvSpPr>
        <p:spPr>
          <a:xfrm>
            <a:off x="11247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FCF lockout first job</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Membership keeps renewing. The customer is already a paying member.</a:t>
            </a:r>
            <a:endParaRPr b="0" i="0" sz="1200" u="none" cap="none" strike="noStrike">
              <a:solidFill>
                <a:schemeClr val="dk1"/>
              </a:solidFill>
              <a:latin typeface="Calibri"/>
              <a:ea typeface="Calibri"/>
              <a:cs typeface="Calibri"/>
              <a:sym typeface="Calibri"/>
            </a:endParaRPr>
          </a:p>
        </p:txBody>
      </p:sp>
      <p:sp>
        <p:nvSpPr>
          <p:cNvPr id="1752" name="Google Shape;1752;p76"/>
          <p:cNvSpPr/>
          <p:nvPr/>
        </p:nvSpPr>
        <p:spPr>
          <a:xfrm>
            <a:off x="46405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3" name="Google Shape;1753;p76"/>
          <p:cNvSpPr/>
          <p:nvPr/>
        </p:nvSpPr>
        <p:spPr>
          <a:xfrm>
            <a:off x="48051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54" name="Google Shape;1754;p76"/>
          <p:cNvPicPr preferRelativeResize="0"/>
          <p:nvPr/>
        </p:nvPicPr>
        <p:blipFill rotWithShape="1">
          <a:blip r:embed="rId8">
            <a:alphaModFix/>
          </a:blip>
          <a:srcRect b="0" l="0" r="0" t="0"/>
          <a:stretch/>
        </p:blipFill>
        <p:spPr>
          <a:xfrm>
            <a:off x="4897344" y="3704052"/>
            <a:ext cx="199705" cy="199705"/>
          </a:xfrm>
          <a:prstGeom prst="rect">
            <a:avLst/>
          </a:prstGeom>
          <a:noFill/>
          <a:ln>
            <a:noFill/>
          </a:ln>
        </p:spPr>
      </p:pic>
      <p:sp>
        <p:nvSpPr>
          <p:cNvPr id="1755" name="Google Shape;1755;p76"/>
          <p:cNvSpPr txBox="1"/>
          <p:nvPr/>
        </p:nvSpPr>
        <p:spPr>
          <a:xfrm>
            <a:off x="53538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ETF waivers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See ETF Waivers in the Knowledge Library before waiving or reducing.</a:t>
            </a:r>
            <a:endParaRPr b="0" i="0" sz="1200" u="none" cap="none" strike="noStrike">
              <a:solidFill>
                <a:schemeClr val="dk1"/>
              </a:solidFill>
              <a:latin typeface="Calibri"/>
              <a:ea typeface="Calibri"/>
              <a:cs typeface="Calibri"/>
              <a:sym typeface="Calibri"/>
            </a:endParaRPr>
          </a:p>
        </p:txBody>
      </p:sp>
      <p:sp>
        <p:nvSpPr>
          <p:cNvPr id="1756" name="Google Shape;1756;p7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sp>
        <p:nvSpPr>
          <p:cNvPr id="1761" name="Google Shape;1761;p77"/>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1762" name="Google Shape;1762;p77"/>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1763" name="Google Shape;1763;p77"/>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1764" name="Google Shape;1764;p77"/>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5" name="Google Shape;1765;p77"/>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1766" name="Google Shape;1766;p77"/>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1767" name="Google Shape;1767;p77"/>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8" name="Google Shape;1768;p77"/>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9" name="Google Shape;1769;p77"/>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0" name="Google Shape;1770;p77"/>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1" name="Google Shape;1771;p77"/>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2" name="Google Shape;1772;p77"/>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3" name="Google Shape;1773;p77"/>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sp>
        <p:nvSpPr>
          <p:cNvPr id="1778" name="Google Shape;1778;p78"/>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08</a:t>
            </a:r>
            <a:endParaRPr b="0" i="0" sz="800" u="none" cap="none" strike="noStrike">
              <a:solidFill>
                <a:schemeClr val="dk1"/>
              </a:solidFill>
              <a:latin typeface="Calibri"/>
              <a:ea typeface="Calibri"/>
              <a:cs typeface="Calibri"/>
              <a:sym typeface="Calibri"/>
            </a:endParaRPr>
          </a:p>
        </p:txBody>
      </p:sp>
      <p:sp>
        <p:nvSpPr>
          <p:cNvPr id="1779" name="Google Shape;1779;p78"/>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Value of ForeverClean</a:t>
            </a:r>
            <a:endParaRPr b="0" i="0" sz="2800" u="none" cap="none" strike="noStrike">
              <a:solidFill>
                <a:schemeClr val="dk1"/>
              </a:solidFill>
              <a:latin typeface="Calibri"/>
              <a:ea typeface="Calibri"/>
              <a:cs typeface="Calibri"/>
              <a:sym typeface="Calibri"/>
            </a:endParaRPr>
          </a:p>
        </p:txBody>
      </p:sp>
      <p:sp>
        <p:nvSpPr>
          <p:cNvPr id="1780" name="Google Shape;1780;p78"/>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How to talk about what the membership is worth when a customer questions the price or the monthly fee.</a:t>
            </a:r>
            <a:endParaRPr b="0" i="0" sz="1150" u="none" cap="none" strike="noStrike">
              <a:solidFill>
                <a:schemeClr val="dk1"/>
              </a:solidFill>
              <a:latin typeface="Calibri"/>
              <a:ea typeface="Calibri"/>
              <a:cs typeface="Calibri"/>
              <a:sym typeface="Calibri"/>
            </a:endParaRPr>
          </a:p>
        </p:txBody>
      </p:sp>
      <p:sp>
        <p:nvSpPr>
          <p:cNvPr id="1781" name="Google Shape;1781;p78"/>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782" name="Google Shape;1782;p78"/>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3" name="Google Shape;1783;p78"/>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784" name="Google Shape;1784;p78"/>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Value first, mechanics second</a:t>
            </a:r>
            <a:endParaRPr b="0" i="0" sz="1050" u="none" cap="none" strike="noStrike">
              <a:solidFill>
                <a:schemeClr val="dk1"/>
              </a:solidFill>
              <a:latin typeface="Calibri"/>
              <a:ea typeface="Calibri"/>
              <a:cs typeface="Calibri"/>
              <a:sym typeface="Calibri"/>
            </a:endParaRPr>
          </a:p>
        </p:txBody>
      </p:sp>
      <p:sp>
        <p:nvSpPr>
          <p:cNvPr id="1785" name="Google Shape;1785;p78"/>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6" name="Google Shape;1786;p78"/>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787" name="Google Shape;1787;p78"/>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Objections you will hear</a:t>
            </a:r>
            <a:endParaRPr b="0" i="0" sz="1050" u="none" cap="none" strike="noStrike">
              <a:solidFill>
                <a:schemeClr val="dk1"/>
              </a:solidFill>
              <a:latin typeface="Calibri"/>
              <a:ea typeface="Calibri"/>
              <a:cs typeface="Calibri"/>
              <a:sym typeface="Calibri"/>
            </a:endParaRPr>
          </a:p>
        </p:txBody>
      </p:sp>
      <p:sp>
        <p:nvSpPr>
          <p:cNvPr id="1788" name="Google Shape;1788;p78"/>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89" name="Google Shape;1789;p78"/>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790" name="Google Shape;1790;p78"/>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Explaining the monthly fee</a:t>
            </a:r>
            <a:endParaRPr b="0" i="0" sz="1050" u="none" cap="none" strike="noStrike">
              <a:solidFill>
                <a:schemeClr val="dk1"/>
              </a:solidFill>
              <a:latin typeface="Calibri"/>
              <a:ea typeface="Calibri"/>
              <a:cs typeface="Calibri"/>
              <a:sym typeface="Calibri"/>
            </a:endParaRPr>
          </a:p>
        </p:txBody>
      </p:sp>
      <p:sp>
        <p:nvSpPr>
          <p:cNvPr id="1791" name="Google Shape;1791;p78"/>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92" name="Google Shape;1792;p78"/>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793" name="Google Shape;1793;p78"/>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Explaining the ETF</a:t>
            </a:r>
            <a:endParaRPr b="0" i="0" sz="1050" u="none" cap="none" strike="noStrike">
              <a:solidFill>
                <a:schemeClr val="dk1"/>
              </a:solidFill>
              <a:latin typeface="Calibri"/>
              <a:ea typeface="Calibri"/>
              <a:cs typeface="Calibri"/>
              <a:sym typeface="Calibri"/>
            </a:endParaRPr>
          </a:p>
        </p:txBody>
      </p:sp>
      <p:sp>
        <p:nvSpPr>
          <p:cNvPr id="1794" name="Google Shape;1794;p78"/>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5" name="Google Shape;1795;p78"/>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1796" name="Google Shape;1796;p78"/>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1797" name="Google Shape;1797;p78"/>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8" name="Google Shape;1798;p78"/>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9" name="Google Shape;1799;p78"/>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0" name="Google Shape;1800;p78"/>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1" name="Google Shape;1801;p78"/>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2" name="Google Shape;1802;p78"/>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3" name="Google Shape;1803;p7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7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VALUE OF FOREVERCLEAN</a:t>
            </a:r>
            <a:endParaRPr b="0" i="0" sz="800" u="none" cap="none" strike="noStrike">
              <a:solidFill>
                <a:schemeClr val="dk1"/>
              </a:solidFill>
              <a:latin typeface="Calibri"/>
              <a:ea typeface="Calibri"/>
              <a:cs typeface="Calibri"/>
              <a:sym typeface="Calibri"/>
            </a:endParaRPr>
          </a:p>
        </p:txBody>
      </p:sp>
      <p:sp>
        <p:nvSpPr>
          <p:cNvPr id="1809" name="Google Shape;1809;p7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Lead with value</a:t>
            </a:r>
            <a:endParaRPr b="0" i="0" sz="2400" u="none" cap="none" strike="noStrike">
              <a:solidFill>
                <a:schemeClr val="dk1"/>
              </a:solidFill>
              <a:latin typeface="Calibri"/>
              <a:ea typeface="Calibri"/>
              <a:cs typeface="Calibri"/>
              <a:sym typeface="Calibri"/>
            </a:endParaRPr>
          </a:p>
        </p:txBody>
      </p:sp>
      <p:sp>
        <p:nvSpPr>
          <p:cNvPr id="1810" name="Google Shape;1810;p7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 customer asking "why am I paying this" is asking "what do I get".</a:t>
            </a:r>
            <a:endParaRPr b="0" i="0" sz="1200" u="none" cap="none" strike="noStrike">
              <a:solidFill>
                <a:schemeClr val="dk1"/>
              </a:solidFill>
              <a:latin typeface="Calibri"/>
              <a:ea typeface="Calibri"/>
              <a:cs typeface="Calibri"/>
              <a:sym typeface="Calibri"/>
            </a:endParaRPr>
          </a:p>
        </p:txBody>
      </p:sp>
      <p:sp>
        <p:nvSpPr>
          <p:cNvPr id="1811" name="Google Shape;1811;p79"/>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2" name="Google Shape;1812;p79"/>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13" name="Google Shape;1813;p79"/>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814" name="Google Shape;1814;p79"/>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Value first</a:t>
            </a:r>
            <a:endParaRPr b="0" i="0" sz="1200" u="none" cap="none" strike="noStrike">
              <a:solidFill>
                <a:schemeClr val="dk1"/>
              </a:solidFill>
              <a:latin typeface="Calibri"/>
              <a:ea typeface="Calibri"/>
              <a:cs typeface="Calibri"/>
              <a:sym typeface="Calibri"/>
            </a:endParaRPr>
          </a:p>
        </p:txBody>
      </p:sp>
      <p:sp>
        <p:nvSpPr>
          <p:cNvPr id="1815" name="Google Shape;1815;p79"/>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Answering with the formula or the date reads as deflection. Say what it is worth, then the mechanics.</a:t>
            </a:r>
            <a:endParaRPr b="0" i="0" sz="950" u="none" cap="none" strike="noStrike">
              <a:solidFill>
                <a:schemeClr val="dk1"/>
              </a:solidFill>
              <a:latin typeface="Calibri"/>
              <a:ea typeface="Calibri"/>
              <a:cs typeface="Calibri"/>
              <a:sym typeface="Calibri"/>
            </a:endParaRPr>
          </a:p>
        </p:txBody>
      </p:sp>
      <p:sp>
        <p:nvSpPr>
          <p:cNvPr id="1816" name="Google Shape;1816;p79"/>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7" name="Google Shape;1817;p79"/>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18" name="Google Shape;1818;p79"/>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819" name="Google Shape;1819;p79"/>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What members get</a:t>
            </a:r>
            <a:endParaRPr b="0" i="0" sz="1200" u="none" cap="none" strike="noStrike">
              <a:solidFill>
                <a:schemeClr val="dk1"/>
              </a:solidFill>
              <a:latin typeface="Calibri"/>
              <a:ea typeface="Calibri"/>
              <a:cs typeface="Calibri"/>
              <a:sym typeface="Calibri"/>
            </a:endParaRPr>
          </a:p>
        </p:txBody>
      </p:sp>
      <p:sp>
        <p:nvSpPr>
          <p:cNvPr id="1820" name="Google Shape;1820;p79"/>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Background-checked, vetted cleaners; lower hourly rates than one-time bookings; Customer Service and Trust &amp; Safety support; booking tools.</a:t>
            </a:r>
            <a:endParaRPr b="0" i="0" sz="950" u="none" cap="none" strike="noStrike">
              <a:solidFill>
                <a:schemeClr val="dk1"/>
              </a:solidFill>
              <a:latin typeface="Calibri"/>
              <a:ea typeface="Calibri"/>
              <a:cs typeface="Calibri"/>
              <a:sym typeface="Calibri"/>
            </a:endParaRPr>
          </a:p>
        </p:txBody>
      </p:sp>
      <p:sp>
        <p:nvSpPr>
          <p:cNvPr id="1821" name="Google Shape;1821;p79"/>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2" name="Google Shape;1822;p79"/>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23" name="Google Shape;1823;p79"/>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824" name="Google Shape;1824;p79"/>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Keep it simple</a:t>
            </a:r>
            <a:endParaRPr b="0" i="0" sz="1200" u="none" cap="none" strike="noStrike">
              <a:solidFill>
                <a:schemeClr val="dk1"/>
              </a:solidFill>
              <a:latin typeface="Calibri"/>
              <a:ea typeface="Calibri"/>
              <a:cs typeface="Calibri"/>
              <a:sym typeface="Calibri"/>
            </a:endParaRPr>
          </a:p>
        </p:txBody>
      </p:sp>
      <p:sp>
        <p:nvSpPr>
          <p:cNvPr id="1825" name="Google Shape;1825;p79"/>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Short, friendly and conversational. Lead with empathy and offer a real next step.</a:t>
            </a:r>
            <a:endParaRPr b="0" i="0" sz="950" u="none" cap="none" strike="noStrike">
              <a:solidFill>
                <a:schemeClr val="dk1"/>
              </a:solidFill>
              <a:latin typeface="Calibri"/>
              <a:ea typeface="Calibri"/>
              <a:cs typeface="Calibri"/>
              <a:sym typeface="Calibri"/>
            </a:endParaRPr>
          </a:p>
        </p:txBody>
      </p:sp>
      <p:sp>
        <p:nvSpPr>
          <p:cNvPr id="1826" name="Google Shape;1826;p79"/>
          <p:cNvSpPr/>
          <p:nvPr/>
        </p:nvSpPr>
        <p:spPr>
          <a:xfrm>
            <a:off x="411475" y="3200400"/>
            <a:ext cx="8321100" cy="425100"/>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27" name="Google Shape;1827;p79"/>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828" name="Google Shape;1828;p79"/>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Say:</a:t>
            </a:r>
            <a:r>
              <a:rPr b="0" i="0" lang="en" sz="1000" u="none" cap="none" strike="noStrike">
                <a:solidFill>
                  <a:srgbClr val="1D1D1F"/>
                </a:solidFill>
                <a:latin typeface="Arial"/>
                <a:ea typeface="Arial"/>
                <a:cs typeface="Arial"/>
                <a:sym typeface="Arial"/>
              </a:rPr>
              <a:t>"ForeverClean is our membership that lets us offer cleanings at discounted, non-marked up rates with a network of background-checked cleaners."</a:t>
            </a:r>
            <a:endParaRPr b="0" i="0" sz="1000" u="none" cap="none" strike="noStrike">
              <a:solidFill>
                <a:schemeClr val="dk1"/>
              </a:solidFill>
              <a:latin typeface="Calibri"/>
              <a:ea typeface="Calibri"/>
              <a:cs typeface="Calibri"/>
              <a:sym typeface="Calibri"/>
            </a:endParaRPr>
          </a:p>
        </p:txBody>
      </p:sp>
      <p:sp>
        <p:nvSpPr>
          <p:cNvPr id="1829" name="Google Shape;1829;p7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1830" name="Google Shape;1830;p79"/>
          <p:cNvSpPr/>
          <p:nvPr/>
        </p:nvSpPr>
        <p:spPr>
          <a:xfrm>
            <a:off x="411480" y="3794760"/>
            <a:ext cx="8321040" cy="384048"/>
          </a:xfrm>
          <a:prstGeom prst="roundRect">
            <a:avLst>
              <a:gd fmla="val 15000" name="adj"/>
            </a:avLst>
          </a:prstGeom>
          <a:solidFill>
            <a:srgbClr val="E3F4F1"/>
          </a:solidFill>
          <a:ln cap="flat" cmpd="sng" w="9525">
            <a:solidFill>
              <a:srgbClr val="0B7A6F"/>
            </a:solidFill>
            <a:prstDash val="solid"/>
            <a:round/>
            <a:headEnd len="sm" w="sm" type="none"/>
            <a:tailEnd len="sm" w="sm" type="none"/>
          </a:ln>
        </p:spPr>
        <p:txBody>
          <a:bodyPr anchorCtr="0" anchor="ctr" bIns="0" lIns="164575" spcFirstLastPara="1" rIns="16457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Arial"/>
                <a:ea typeface="Arial"/>
                <a:cs typeface="Arial"/>
                <a:sym typeface="Arial"/>
              </a:rPr>
              <a:t>Suggested macros:  </a:t>
            </a:r>
            <a:r>
              <a:rPr b="1" i="0" lang="en" sz="1000" u="none" cap="none" strike="noStrike">
                <a:solidFill>
                  <a:srgbClr val="1D1D1F"/>
                </a:solidFill>
                <a:latin typeface="Arial"/>
                <a:ea typeface="Arial"/>
                <a:cs typeface="Arial"/>
                <a:sym typeface="Arial"/>
              </a:rPr>
              <a:t>Membership details: ForeverClean overview</a:t>
            </a:r>
            <a:r>
              <a:rPr b="0" i="0" lang="en" sz="1000" u="none" cap="none" strike="noStrike">
                <a:solidFill>
                  <a:srgbClr val="0B7A6F"/>
                </a:solidFill>
                <a:latin typeface="Arial"/>
                <a:ea typeface="Arial"/>
                <a:cs typeface="Arial"/>
                <a:sym typeface="Arial"/>
              </a:rPr>
              <a:t>   ·   </a:t>
            </a:r>
            <a:r>
              <a:rPr b="1" i="0" lang="en" sz="1000" u="none" cap="none" strike="noStrike">
                <a:solidFill>
                  <a:srgbClr val="1D1D1F"/>
                </a:solidFill>
                <a:latin typeface="Arial"/>
                <a:ea typeface="Arial"/>
                <a:cs typeface="Arial"/>
                <a:sym typeface="Arial"/>
              </a:rPr>
              <a:t>FCF - Membership 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35" name="Google Shape;1835;p8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VALUE OF FOREVERCLEAN</a:t>
            </a:r>
            <a:endParaRPr b="0" i="0" sz="800" u="none" cap="none" strike="noStrike">
              <a:solidFill>
                <a:schemeClr val="dk1"/>
              </a:solidFill>
              <a:latin typeface="Calibri"/>
              <a:ea typeface="Calibri"/>
              <a:cs typeface="Calibri"/>
              <a:sym typeface="Calibri"/>
            </a:endParaRPr>
          </a:p>
        </p:txBody>
      </p:sp>
      <p:sp>
        <p:nvSpPr>
          <p:cNvPr id="1836" name="Google Shape;1836;p8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Objections you will hear</a:t>
            </a:r>
            <a:endParaRPr b="0" i="0" sz="2400" u="none" cap="none" strike="noStrike">
              <a:solidFill>
                <a:schemeClr val="dk1"/>
              </a:solidFill>
              <a:latin typeface="Calibri"/>
              <a:ea typeface="Calibri"/>
              <a:cs typeface="Calibri"/>
              <a:sym typeface="Calibri"/>
            </a:endParaRPr>
          </a:p>
        </p:txBody>
      </p:sp>
      <p:sp>
        <p:nvSpPr>
          <p:cNvPr id="1837" name="Google Shape;1837;p8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Adapt these to the customer.</a:t>
            </a:r>
            <a:endParaRPr b="0" i="0" sz="1200" u="none" cap="none" strike="noStrike">
              <a:solidFill>
                <a:schemeClr val="dk1"/>
              </a:solidFill>
              <a:latin typeface="Calibri"/>
              <a:ea typeface="Calibri"/>
              <a:cs typeface="Calibri"/>
              <a:sym typeface="Calibri"/>
            </a:endParaRPr>
          </a:p>
        </p:txBody>
      </p:sp>
      <p:graphicFrame>
        <p:nvGraphicFramePr>
          <p:cNvPr id="1838" name="Google Shape;1838;p80"/>
          <p:cNvGraphicFramePr/>
          <p:nvPr/>
        </p:nvGraphicFramePr>
        <p:xfrm>
          <a:off x="411480" y="1234440"/>
          <a:ext cx="3000000" cy="3000000"/>
        </p:xfrm>
        <a:graphic>
          <a:graphicData uri="http://schemas.openxmlformats.org/drawingml/2006/table">
            <a:tbl>
              <a:tblPr>
                <a:noFill/>
                <a:tableStyleId>{1110B021-F78A-4E02-AF73-8366E27A90AE}</a:tableStyleId>
              </a:tblPr>
              <a:tblGrid>
                <a:gridCol w="2400000"/>
                <a:gridCol w="59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Customer says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What to say</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"I thought it was only $19" (DHJ)</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The voucher is heavily discounted because it comes with a membership called ForeverClean, which lets us offer discounted, non-marked up rates.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"I thought it was only $19" (FCF)</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The $19 is your first month's discounted membership fee. It gives you your free/discounted first cleaning. After that it renews at $59/month and keeps your rates discounted.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"I only wanted a one-time cleaning"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We offer one-time cleanings, billed at a higher hourly rate. The membership allows discounted rates while cleaners are paid fairly. Use the FC Sales Calculator for the one-time total.</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839" name="Google Shape;1839;p8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3" name="Shape 1843"/>
        <p:cNvGrpSpPr/>
        <p:nvPr/>
      </p:nvGrpSpPr>
      <p:grpSpPr>
        <a:xfrm>
          <a:off x="0" y="0"/>
          <a:ext cx="0" cy="0"/>
          <a:chOff x="0" y="0"/>
          <a:chExt cx="0" cy="0"/>
        </a:xfrm>
      </p:grpSpPr>
      <p:sp>
        <p:nvSpPr>
          <p:cNvPr id="1844" name="Google Shape;1844;p8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VALUE OF FOREVERCLEAN</a:t>
            </a:r>
            <a:endParaRPr b="0" i="0" sz="800" u="none" cap="none" strike="noStrike">
              <a:solidFill>
                <a:schemeClr val="dk1"/>
              </a:solidFill>
              <a:latin typeface="Calibri"/>
              <a:ea typeface="Calibri"/>
              <a:cs typeface="Calibri"/>
              <a:sym typeface="Calibri"/>
            </a:endParaRPr>
          </a:p>
        </p:txBody>
      </p:sp>
      <p:sp>
        <p:nvSpPr>
          <p:cNvPr id="1845" name="Google Shape;1845;p8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Explaining the monthly fee</a:t>
            </a:r>
            <a:endParaRPr b="0" i="0" sz="2400" u="none" cap="none" strike="noStrike">
              <a:solidFill>
                <a:schemeClr val="dk1"/>
              </a:solidFill>
              <a:latin typeface="Calibri"/>
              <a:ea typeface="Calibri"/>
              <a:cs typeface="Calibri"/>
              <a:sym typeface="Calibri"/>
            </a:endParaRPr>
          </a:p>
        </p:txBody>
      </p:sp>
      <p:sp>
        <p:nvSpPr>
          <p:cNvPr id="1846" name="Google Shape;1846;p8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Three steps, in this order.</a:t>
            </a:r>
            <a:endParaRPr b="0" i="0" sz="1200" u="none" cap="none" strike="noStrike">
              <a:solidFill>
                <a:schemeClr val="dk1"/>
              </a:solidFill>
              <a:latin typeface="Calibri"/>
              <a:ea typeface="Calibri"/>
              <a:cs typeface="Calibri"/>
              <a:sym typeface="Calibri"/>
            </a:endParaRPr>
          </a:p>
        </p:txBody>
      </p:sp>
      <p:sp>
        <p:nvSpPr>
          <p:cNvPr id="1847" name="Google Shape;1847;p81"/>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8" name="Google Shape;1848;p81"/>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49" name="Google Shape;1849;p81"/>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850" name="Google Shape;1850;p81"/>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1  Start with willingness</a:t>
            </a:r>
            <a:endParaRPr b="0" i="0" sz="1200" u="none" cap="none" strike="noStrike">
              <a:solidFill>
                <a:schemeClr val="dk1"/>
              </a:solidFill>
              <a:latin typeface="Calibri"/>
              <a:ea typeface="Calibri"/>
              <a:cs typeface="Calibri"/>
              <a:sym typeface="Calibri"/>
            </a:endParaRPr>
          </a:p>
        </p:txBody>
      </p:sp>
      <p:sp>
        <p:nvSpPr>
          <p:cNvPr id="1851" name="Google Shape;1851;p81"/>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"I'm happy to clarify that for you." Not defensive, and no "I understand you weren't aware".</a:t>
            </a:r>
            <a:endParaRPr b="0" i="0" sz="950" u="none" cap="none" strike="noStrike">
              <a:solidFill>
                <a:schemeClr val="dk1"/>
              </a:solidFill>
              <a:latin typeface="Calibri"/>
              <a:ea typeface="Calibri"/>
              <a:cs typeface="Calibri"/>
              <a:sym typeface="Calibri"/>
            </a:endParaRPr>
          </a:p>
        </p:txBody>
      </p:sp>
      <p:sp>
        <p:nvSpPr>
          <p:cNvPr id="1852" name="Google Shape;1852;p81"/>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3" name="Google Shape;1853;p81"/>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54" name="Google Shape;1854;p81"/>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855" name="Google Shape;1855;p81"/>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2  Explain what it covers</a:t>
            </a:r>
            <a:endParaRPr b="0" i="0" sz="1200" u="none" cap="none" strike="noStrike">
              <a:solidFill>
                <a:schemeClr val="dk1"/>
              </a:solidFill>
              <a:latin typeface="Calibri"/>
              <a:ea typeface="Calibri"/>
              <a:cs typeface="Calibri"/>
              <a:sym typeface="Calibri"/>
            </a:endParaRPr>
          </a:p>
        </p:txBody>
      </p:sp>
      <p:sp>
        <p:nvSpPr>
          <p:cNvPr id="1856" name="Google Shape;1856;p81"/>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Your membership keeps rates discounted with background-checked cleaners. FCF: it also gave you your first cleaning.</a:t>
            </a:r>
            <a:endParaRPr b="0" i="0" sz="950" u="none" cap="none" strike="noStrike">
              <a:solidFill>
                <a:schemeClr val="dk1"/>
              </a:solidFill>
              <a:latin typeface="Calibri"/>
              <a:ea typeface="Calibri"/>
              <a:cs typeface="Calibri"/>
              <a:sym typeface="Calibri"/>
            </a:endParaRPr>
          </a:p>
        </p:txBody>
      </p:sp>
      <p:sp>
        <p:nvSpPr>
          <p:cNvPr id="1857" name="Google Shape;1857;p81"/>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8" name="Google Shape;1858;p81"/>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59" name="Google Shape;1859;p81"/>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860" name="Google Shape;1860;p81"/>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3  Acknowledge usage, then help</a:t>
            </a:r>
            <a:endParaRPr b="0" i="0" sz="1200" u="none" cap="none" strike="noStrike">
              <a:solidFill>
                <a:schemeClr val="dk1"/>
              </a:solidFill>
              <a:latin typeface="Calibri"/>
              <a:ea typeface="Calibri"/>
              <a:cs typeface="Calibri"/>
              <a:sym typeface="Calibri"/>
            </a:endParaRPr>
          </a:p>
        </p:txBody>
      </p:sp>
      <p:sp>
        <p:nvSpPr>
          <p:cNvPr id="1861" name="Google Shape;1861;p81"/>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 see three charges but one cleaning." Offer free months, rebooking help, schedule or RC changes.</a:t>
            </a:r>
            <a:endParaRPr b="0" i="0" sz="950" u="none" cap="none" strike="noStrike">
              <a:solidFill>
                <a:schemeClr val="dk1"/>
              </a:solidFill>
              <a:latin typeface="Calibri"/>
              <a:ea typeface="Calibri"/>
              <a:cs typeface="Calibri"/>
              <a:sym typeface="Calibri"/>
            </a:endParaRPr>
          </a:p>
        </p:txBody>
      </p:sp>
      <p:sp>
        <p:nvSpPr>
          <p:cNvPr id="1862" name="Google Shape;1862;p81"/>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63" name="Google Shape;1863;p81"/>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864" name="Google Shape;1864;p81"/>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Agent do:</a:t>
            </a:r>
            <a:r>
              <a:rPr b="0" i="0" lang="en" sz="1000" u="none" cap="none" strike="noStrike">
                <a:solidFill>
                  <a:srgbClr val="1D1D1F"/>
                </a:solidFill>
                <a:latin typeface="Arial"/>
                <a:ea typeface="Arial"/>
                <a:cs typeface="Arial"/>
                <a:sym typeface="Arial"/>
              </a:rPr>
              <a:t>don't apologize for or validate frustration about the monthly fee. It is standard practice, not a service failure. Stay matter-of-fact.</a:t>
            </a:r>
            <a:endParaRPr b="0" i="0" sz="1000" u="none" cap="none" strike="noStrike">
              <a:solidFill>
                <a:schemeClr val="dk1"/>
              </a:solidFill>
              <a:latin typeface="Calibri"/>
              <a:ea typeface="Calibri"/>
              <a:cs typeface="Calibri"/>
              <a:sym typeface="Calibri"/>
            </a:endParaRPr>
          </a:p>
        </p:txBody>
      </p:sp>
      <p:sp>
        <p:nvSpPr>
          <p:cNvPr id="1865" name="Google Shape;1865;p8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9" name="Shape 1869"/>
        <p:cNvGrpSpPr/>
        <p:nvPr/>
      </p:nvGrpSpPr>
      <p:grpSpPr>
        <a:xfrm>
          <a:off x="0" y="0"/>
          <a:ext cx="0" cy="0"/>
          <a:chOff x="0" y="0"/>
          <a:chExt cx="0" cy="0"/>
        </a:xfrm>
      </p:grpSpPr>
      <p:sp>
        <p:nvSpPr>
          <p:cNvPr id="1870" name="Google Shape;1870;p8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VALUE OF FOREVERCLEAN</a:t>
            </a:r>
            <a:endParaRPr b="0" i="0" sz="800" u="none" cap="none" strike="noStrike">
              <a:solidFill>
                <a:schemeClr val="dk1"/>
              </a:solidFill>
              <a:latin typeface="Calibri"/>
              <a:ea typeface="Calibri"/>
              <a:cs typeface="Calibri"/>
              <a:sym typeface="Calibri"/>
            </a:endParaRPr>
          </a:p>
        </p:txBody>
      </p:sp>
      <p:sp>
        <p:nvSpPr>
          <p:cNvPr id="1871" name="Google Shape;1871;p8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Customer never used the membership</a:t>
            </a:r>
            <a:endParaRPr b="0" i="0" sz="2400" u="none" cap="none" strike="noStrike">
              <a:solidFill>
                <a:schemeClr val="dk1"/>
              </a:solidFill>
              <a:latin typeface="Calibri"/>
              <a:ea typeface="Calibri"/>
              <a:cs typeface="Calibri"/>
              <a:sym typeface="Calibri"/>
            </a:endParaRPr>
          </a:p>
        </p:txBody>
      </p:sp>
      <p:sp>
        <p:nvSpPr>
          <p:cNvPr id="1872" name="Google Shape;1872;p8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fee is not based on usage. It stays active month to month.</a:t>
            </a:r>
            <a:endParaRPr b="0" i="0" sz="1200" u="none" cap="none" strike="noStrike">
              <a:solidFill>
                <a:schemeClr val="dk1"/>
              </a:solidFill>
              <a:latin typeface="Calibri"/>
              <a:ea typeface="Calibri"/>
              <a:cs typeface="Calibri"/>
              <a:sym typeface="Calibri"/>
            </a:endParaRPr>
          </a:p>
        </p:txBody>
      </p:sp>
      <p:sp>
        <p:nvSpPr>
          <p:cNvPr id="1873" name="Google Shape;1873;p82"/>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4" name="Google Shape;1874;p82"/>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75" name="Google Shape;1875;p82"/>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876" name="Google Shape;1876;p82"/>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Offer free months</a:t>
            </a:r>
            <a:endParaRPr b="0" i="0" sz="1200" u="none" cap="none" strike="noStrike">
              <a:solidFill>
                <a:schemeClr val="dk1"/>
              </a:solidFill>
              <a:latin typeface="Calibri"/>
              <a:ea typeface="Calibri"/>
              <a:cs typeface="Calibri"/>
              <a:sym typeface="Calibri"/>
            </a:endParaRPr>
          </a:p>
        </p:txBody>
      </p:sp>
      <p:sp>
        <p:nvSpPr>
          <p:cNvPr id="1877" name="Google Shape;1877;p82"/>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 can offer you [X] free months, covering you through [date]. Your fee resumes on [date]."</a:t>
            </a:r>
            <a:endParaRPr b="0" i="0" sz="950" u="none" cap="none" strike="noStrike">
              <a:solidFill>
                <a:schemeClr val="dk1"/>
              </a:solidFill>
              <a:latin typeface="Calibri"/>
              <a:ea typeface="Calibri"/>
              <a:cs typeface="Calibri"/>
              <a:sym typeface="Calibri"/>
            </a:endParaRPr>
          </a:p>
        </p:txBody>
      </p:sp>
      <p:sp>
        <p:nvSpPr>
          <p:cNvPr id="1878" name="Google Shape;1878;p82"/>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9" name="Google Shape;1879;p82"/>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80" name="Google Shape;1880;p82"/>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881" name="Google Shape;1881;p82"/>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Give exact dates</a:t>
            </a:r>
            <a:endParaRPr b="0" i="0" sz="1200" u="none" cap="none" strike="noStrike">
              <a:solidFill>
                <a:schemeClr val="dk1"/>
              </a:solidFill>
              <a:latin typeface="Calibri"/>
              <a:ea typeface="Calibri"/>
              <a:cs typeface="Calibri"/>
              <a:sym typeface="Calibri"/>
            </a:endParaRPr>
          </a:p>
        </p:txBody>
      </p:sp>
      <p:sp>
        <p:nvSpPr>
          <p:cNvPr id="1882" name="Google Shape;1882;p82"/>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Always state the end date of the free period and the date the fee resumes. Never "a few free months".</a:t>
            </a:r>
            <a:endParaRPr b="0" i="0" sz="950" u="none" cap="none" strike="noStrike">
              <a:solidFill>
                <a:schemeClr val="dk1"/>
              </a:solidFill>
              <a:latin typeface="Calibri"/>
              <a:ea typeface="Calibri"/>
              <a:cs typeface="Calibri"/>
              <a:sym typeface="Calibri"/>
            </a:endParaRPr>
          </a:p>
        </p:txBody>
      </p:sp>
      <p:sp>
        <p:nvSpPr>
          <p:cNvPr id="1883" name="Google Shape;1883;p82"/>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4" name="Google Shape;1884;p82"/>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85" name="Google Shape;1885;p82"/>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886" name="Google Shape;1886;p82"/>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Free months and MCT</a:t>
            </a:r>
            <a:endParaRPr b="0" i="0" sz="1200" u="none" cap="none" strike="noStrike">
              <a:solidFill>
                <a:schemeClr val="dk1"/>
              </a:solidFill>
              <a:latin typeface="Calibri"/>
              <a:ea typeface="Calibri"/>
              <a:cs typeface="Calibri"/>
              <a:sym typeface="Calibri"/>
            </a:endParaRPr>
          </a:p>
        </p:txBody>
      </p:sp>
      <p:sp>
        <p:nvSpPr>
          <p:cNvPr id="1887" name="Google Shape;1887;p82"/>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Free months do not count toward the MCT. They only pause the fee. Say so clearly.</a:t>
            </a:r>
            <a:endParaRPr b="0" i="0" sz="950" u="none" cap="none" strike="noStrike">
              <a:solidFill>
                <a:schemeClr val="dk1"/>
              </a:solidFill>
              <a:latin typeface="Calibri"/>
              <a:ea typeface="Calibri"/>
              <a:cs typeface="Calibri"/>
              <a:sym typeface="Calibri"/>
            </a:endParaRPr>
          </a:p>
        </p:txBody>
      </p:sp>
      <p:sp>
        <p:nvSpPr>
          <p:cNvPr id="1888" name="Google Shape;1888;p82"/>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89" name="Google Shape;1889;p82"/>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890" name="Google Shape;1890;p82"/>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Next step:</a:t>
            </a:r>
            <a:r>
              <a:rPr b="0" i="0" lang="en" sz="1000" u="none" cap="none" strike="noStrike">
                <a:solidFill>
                  <a:srgbClr val="1D1D1F"/>
                </a:solidFill>
                <a:latin typeface="Arial"/>
                <a:ea typeface="Arial"/>
                <a:cs typeface="Arial"/>
                <a:sym typeface="Arial"/>
              </a:rPr>
              <a:t>offer to help schedule their next cleaning right away. What date works best?</a:t>
            </a:r>
            <a:endParaRPr b="0" i="0" sz="1000" u="none" cap="none" strike="noStrike">
              <a:solidFill>
                <a:schemeClr val="dk1"/>
              </a:solidFill>
              <a:latin typeface="Calibri"/>
              <a:ea typeface="Calibri"/>
              <a:cs typeface="Calibri"/>
              <a:sym typeface="Calibri"/>
            </a:endParaRPr>
          </a:p>
        </p:txBody>
      </p:sp>
      <p:sp>
        <p:nvSpPr>
          <p:cNvPr id="1891" name="Google Shape;1891;p8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1892" name="Google Shape;1892;p82"/>
          <p:cNvSpPr/>
          <p:nvPr/>
        </p:nvSpPr>
        <p:spPr>
          <a:xfrm>
            <a:off x="411480" y="3794760"/>
            <a:ext cx="8321040" cy="384048"/>
          </a:xfrm>
          <a:prstGeom prst="roundRect">
            <a:avLst>
              <a:gd fmla="val 15000" name="adj"/>
            </a:avLst>
          </a:prstGeom>
          <a:solidFill>
            <a:srgbClr val="E3F4F1"/>
          </a:solidFill>
          <a:ln cap="flat" cmpd="sng" w="9525">
            <a:solidFill>
              <a:srgbClr val="0B7A6F"/>
            </a:solidFill>
            <a:prstDash val="solid"/>
            <a:round/>
            <a:headEnd len="sm" w="sm" type="none"/>
            <a:tailEnd len="sm" w="sm" type="none"/>
          </a:ln>
        </p:spPr>
        <p:txBody>
          <a:bodyPr anchorCtr="0" anchor="ctr" bIns="0" lIns="164575" spcFirstLastPara="1" rIns="16457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Arial"/>
                <a:ea typeface="Arial"/>
                <a:cs typeface="Arial"/>
                <a:sym typeface="Arial"/>
              </a:rPr>
              <a:t>Suggested macro:  </a:t>
            </a:r>
            <a:r>
              <a:rPr b="1" i="0" lang="en" sz="1000" u="none" cap="none" strike="noStrike">
                <a:solidFill>
                  <a:srgbClr val="1D1D1F"/>
                </a:solidFill>
                <a:latin typeface="Arial"/>
                <a:ea typeface="Arial"/>
                <a:cs typeface="Arial"/>
                <a:sym typeface="Arial"/>
              </a:rPr>
              <a:t>[Fragment] Free month offer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6" name="Shape 1896"/>
        <p:cNvGrpSpPr/>
        <p:nvPr/>
      </p:nvGrpSpPr>
      <p:grpSpPr>
        <a:xfrm>
          <a:off x="0" y="0"/>
          <a:ext cx="0" cy="0"/>
          <a:chOff x="0" y="0"/>
          <a:chExt cx="0" cy="0"/>
        </a:xfrm>
      </p:grpSpPr>
      <p:sp>
        <p:nvSpPr>
          <p:cNvPr id="1897" name="Google Shape;1897;p8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VALUE OF FOREVERCLEAN</a:t>
            </a:r>
            <a:endParaRPr b="0" i="0" sz="800" u="none" cap="none" strike="noStrike">
              <a:solidFill>
                <a:schemeClr val="dk1"/>
              </a:solidFill>
              <a:latin typeface="Calibri"/>
              <a:ea typeface="Calibri"/>
              <a:cs typeface="Calibri"/>
              <a:sym typeface="Calibri"/>
            </a:endParaRPr>
          </a:p>
        </p:txBody>
      </p:sp>
      <p:sp>
        <p:nvSpPr>
          <p:cNvPr id="1898" name="Google Shape;1898;p8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Explaining the ETF</a:t>
            </a:r>
            <a:endParaRPr b="0" i="0" sz="2400" u="none" cap="none" strike="noStrike">
              <a:solidFill>
                <a:schemeClr val="dk1"/>
              </a:solidFill>
              <a:latin typeface="Calibri"/>
              <a:ea typeface="Calibri"/>
              <a:cs typeface="Calibri"/>
              <a:sym typeface="Calibri"/>
            </a:endParaRPr>
          </a:p>
        </p:txBody>
      </p:sp>
      <p:sp>
        <p:nvSpPr>
          <p:cNvPr id="1899" name="Google Shape;1899;p8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Frame it as fairness to cleaners, never as a penalty.</a:t>
            </a:r>
            <a:endParaRPr b="0" i="0" sz="1200" u="none" cap="none" strike="noStrike">
              <a:solidFill>
                <a:schemeClr val="dk1"/>
              </a:solidFill>
              <a:latin typeface="Calibri"/>
              <a:ea typeface="Calibri"/>
              <a:cs typeface="Calibri"/>
              <a:sym typeface="Calibri"/>
            </a:endParaRPr>
          </a:p>
        </p:txBody>
      </p:sp>
      <p:sp>
        <p:nvSpPr>
          <p:cNvPr id="1900" name="Google Shape;1900;p83"/>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1" name="Google Shape;1901;p83"/>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02" name="Google Shape;1902;p83"/>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903" name="Google Shape;1903;p83"/>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Why it exists</a:t>
            </a:r>
            <a:endParaRPr b="0" i="0" sz="1200" u="none" cap="none" strike="noStrike">
              <a:solidFill>
                <a:schemeClr val="dk1"/>
              </a:solidFill>
              <a:latin typeface="Calibri"/>
              <a:ea typeface="Calibri"/>
              <a:cs typeface="Calibri"/>
              <a:sym typeface="Calibri"/>
            </a:endParaRPr>
          </a:p>
        </p:txBody>
      </p:sp>
      <p:sp>
        <p:nvSpPr>
          <p:cNvPr id="1904" name="Google Shape;1904;p83"/>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first cleaning is free or heavily discounted and the cleaner is still paid in full. The ETF covers that if the membership ends early.</a:t>
            </a:r>
            <a:endParaRPr b="0" i="0" sz="950" u="none" cap="none" strike="noStrike">
              <a:solidFill>
                <a:schemeClr val="dk1"/>
              </a:solidFill>
              <a:latin typeface="Calibri"/>
              <a:ea typeface="Calibri"/>
              <a:cs typeface="Calibri"/>
              <a:sym typeface="Calibri"/>
            </a:endParaRPr>
          </a:p>
        </p:txBody>
      </p:sp>
      <p:sp>
        <p:nvSpPr>
          <p:cNvPr id="1905" name="Google Shape;1905;p83"/>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6" name="Google Shape;1906;p83"/>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07" name="Google Shape;1907;p83"/>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908" name="Google Shape;1908;p83"/>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Tone</a:t>
            </a:r>
            <a:endParaRPr b="0" i="0" sz="1200" u="none" cap="none" strike="noStrike">
              <a:solidFill>
                <a:schemeClr val="dk1"/>
              </a:solidFill>
              <a:latin typeface="Calibri"/>
              <a:ea typeface="Calibri"/>
              <a:cs typeface="Calibri"/>
              <a:sym typeface="Calibri"/>
            </a:endParaRPr>
          </a:p>
        </p:txBody>
      </p:sp>
      <p:sp>
        <p:nvSpPr>
          <p:cNvPr id="1909" name="Google Shape;1909;p83"/>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Don't position it as a penalty and don't apologize for it. Stay friendly and matter-of-fact.</a:t>
            </a:r>
            <a:endParaRPr b="0" i="0" sz="950" u="none" cap="none" strike="noStrike">
              <a:solidFill>
                <a:schemeClr val="dk1"/>
              </a:solidFill>
              <a:latin typeface="Calibri"/>
              <a:ea typeface="Calibri"/>
              <a:cs typeface="Calibri"/>
              <a:sym typeface="Calibri"/>
            </a:endParaRPr>
          </a:p>
        </p:txBody>
      </p:sp>
      <p:sp>
        <p:nvSpPr>
          <p:cNvPr id="1910" name="Google Shape;1910;p83"/>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1" name="Google Shape;1911;p83"/>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12" name="Google Shape;1912;p83"/>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913" name="Google Shape;1913;p83"/>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Then ask</a:t>
            </a:r>
            <a:endParaRPr b="0" i="0" sz="1200" u="none" cap="none" strike="noStrike">
              <a:solidFill>
                <a:schemeClr val="dk1"/>
              </a:solidFill>
              <a:latin typeface="Calibri"/>
              <a:ea typeface="Calibri"/>
              <a:cs typeface="Calibri"/>
              <a:sym typeface="Calibri"/>
            </a:endParaRPr>
          </a:p>
        </p:txBody>
      </p:sp>
      <p:sp>
        <p:nvSpPr>
          <p:cNvPr id="1914" name="Google Shape;1914;p83"/>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Pivot to the experience: "How was your experience with your recent cleaning?"</a:t>
            </a:r>
            <a:endParaRPr b="0" i="0" sz="950" u="none" cap="none" strike="noStrike">
              <a:solidFill>
                <a:schemeClr val="dk1"/>
              </a:solidFill>
              <a:latin typeface="Calibri"/>
              <a:ea typeface="Calibri"/>
              <a:cs typeface="Calibri"/>
              <a:sym typeface="Calibri"/>
            </a:endParaRPr>
          </a:p>
        </p:txBody>
      </p:sp>
      <p:sp>
        <p:nvSpPr>
          <p:cNvPr id="1915" name="Google Shape;1915;p83"/>
          <p:cNvSpPr/>
          <p:nvPr/>
        </p:nvSpPr>
        <p:spPr>
          <a:xfrm>
            <a:off x="411475" y="3200400"/>
            <a:ext cx="8321100" cy="457200"/>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16" name="Google Shape;1916;p83"/>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917" name="Google Shape;1917;p83"/>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Sample:</a:t>
            </a:r>
            <a:r>
              <a:rPr b="0" i="0" lang="en" sz="1000" u="none" cap="none" strike="noStrike">
                <a:solidFill>
                  <a:srgbClr val="1D1D1F"/>
                </a:solidFill>
                <a:latin typeface="Arial"/>
                <a:ea typeface="Arial"/>
                <a:cs typeface="Arial"/>
                <a:sym typeface="Arial"/>
              </a:rPr>
              <a:t>"There is normally an Early Termination Fee before the 6-month term, since the first cleaning is heavily discounted. It ensures cleaners are paid fairly."</a:t>
            </a:r>
            <a:endParaRPr b="0" i="0" sz="1000" u="none" cap="none" strike="noStrike">
              <a:solidFill>
                <a:schemeClr val="dk1"/>
              </a:solidFill>
              <a:latin typeface="Calibri"/>
              <a:ea typeface="Calibri"/>
              <a:cs typeface="Calibri"/>
              <a:sym typeface="Calibri"/>
            </a:endParaRPr>
          </a:p>
        </p:txBody>
      </p:sp>
      <p:sp>
        <p:nvSpPr>
          <p:cNvPr id="1918" name="Google Shape;1918;p8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1919" name="Google Shape;1919;p83"/>
          <p:cNvSpPr/>
          <p:nvPr/>
        </p:nvSpPr>
        <p:spPr>
          <a:xfrm>
            <a:off x="411480" y="3794760"/>
            <a:ext cx="8321040" cy="384048"/>
          </a:xfrm>
          <a:prstGeom prst="roundRect">
            <a:avLst>
              <a:gd fmla="val 15000" name="adj"/>
            </a:avLst>
          </a:prstGeom>
          <a:solidFill>
            <a:srgbClr val="E3F4F1"/>
          </a:solidFill>
          <a:ln cap="flat" cmpd="sng" w="9525">
            <a:solidFill>
              <a:srgbClr val="0B7A6F"/>
            </a:solidFill>
            <a:prstDash val="solid"/>
            <a:round/>
            <a:headEnd len="sm" w="sm" type="none"/>
            <a:tailEnd len="sm" w="sm" type="none"/>
          </a:ln>
        </p:spPr>
        <p:txBody>
          <a:bodyPr anchorCtr="0" anchor="ctr" bIns="0" lIns="164575" spcFirstLastPara="1" rIns="164575"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0B7A6F"/>
                </a:solidFill>
                <a:latin typeface="Arial"/>
                <a:ea typeface="Arial"/>
                <a:cs typeface="Arial"/>
                <a:sym typeface="Arial"/>
              </a:rPr>
              <a:t>Suggested macro:  </a:t>
            </a:r>
            <a:r>
              <a:rPr b="1" i="0" lang="en" sz="1000" u="none" cap="none" strike="noStrike">
                <a:solidFill>
                  <a:srgbClr val="1D1D1F"/>
                </a:solidFill>
                <a:latin typeface="Arial"/>
                <a:ea typeface="Arial"/>
                <a:cs typeface="Arial"/>
                <a:sym typeface="Arial"/>
              </a:rPr>
              <a:t>[Fragment] ETF terms explanation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3" name="Shape 1923"/>
        <p:cNvGrpSpPr/>
        <p:nvPr/>
      </p:nvGrpSpPr>
      <p:grpSpPr>
        <a:xfrm>
          <a:off x="0" y="0"/>
          <a:ext cx="0" cy="0"/>
          <a:chOff x="0" y="0"/>
          <a:chExt cx="0" cy="0"/>
        </a:xfrm>
      </p:grpSpPr>
      <p:sp>
        <p:nvSpPr>
          <p:cNvPr id="1924" name="Google Shape;1924;p8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VALUE OF FOREVERCLEAN</a:t>
            </a:r>
            <a:endParaRPr b="0" i="0" sz="800" u="none" cap="none" strike="noStrike">
              <a:solidFill>
                <a:schemeClr val="dk1"/>
              </a:solidFill>
              <a:latin typeface="Calibri"/>
              <a:ea typeface="Calibri"/>
              <a:cs typeface="Calibri"/>
              <a:sym typeface="Calibri"/>
            </a:endParaRPr>
          </a:p>
        </p:txBody>
      </p:sp>
      <p:sp>
        <p:nvSpPr>
          <p:cNvPr id="1925" name="Google Shape;1925;p8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Do and avoid</a:t>
            </a:r>
            <a:endParaRPr b="0" i="0" sz="2400" u="none" cap="none" strike="noStrike">
              <a:solidFill>
                <a:schemeClr val="dk1"/>
              </a:solidFill>
              <a:latin typeface="Calibri"/>
              <a:ea typeface="Calibri"/>
              <a:cs typeface="Calibri"/>
              <a:sym typeface="Calibri"/>
            </a:endParaRPr>
          </a:p>
        </p:txBody>
      </p:sp>
      <p:sp>
        <p:nvSpPr>
          <p:cNvPr id="1926" name="Google Shape;1926;p8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tone of the conversation matters as much as the facts.</a:t>
            </a:r>
            <a:endParaRPr b="0" i="0" sz="1200" u="none" cap="none" strike="noStrike">
              <a:solidFill>
                <a:schemeClr val="dk1"/>
              </a:solidFill>
              <a:latin typeface="Calibri"/>
              <a:ea typeface="Calibri"/>
              <a:cs typeface="Calibri"/>
              <a:sym typeface="Calibri"/>
            </a:endParaRPr>
          </a:p>
        </p:txBody>
      </p:sp>
      <p:graphicFrame>
        <p:nvGraphicFramePr>
          <p:cNvPr id="1927" name="Google Shape;1927;p84"/>
          <p:cNvGraphicFramePr/>
          <p:nvPr/>
        </p:nvGraphicFramePr>
        <p:xfrm>
          <a:off x="411480" y="1234440"/>
          <a:ext cx="3000000" cy="3000000"/>
        </p:xfrm>
        <a:graphic>
          <a:graphicData uri="http://schemas.openxmlformats.org/drawingml/2006/table">
            <a:tbl>
              <a:tblPr>
                <a:noFill/>
                <a:tableStyleId>{1110B021-F78A-4E02-AF73-8366E27A90AE}</a:tableStyleId>
              </a:tblPr>
              <a:tblGrid>
                <a:gridCol w="4160000"/>
                <a:gridCol w="416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Do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Avoid</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Be friendly and conversational</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Sounding defensive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Lead with empathy and focus on membership value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Suggesting the customer should have read the terms more carefully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Offer solutions when possible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Making the customer feel at fault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Help the customer get value from the service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Apologizing for the fee or the ETF</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928" name="Google Shape;1928;p8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2" name="Shape 1932"/>
        <p:cNvGrpSpPr/>
        <p:nvPr/>
      </p:nvGrpSpPr>
      <p:grpSpPr>
        <a:xfrm>
          <a:off x="0" y="0"/>
          <a:ext cx="0" cy="0"/>
          <a:chOff x="0" y="0"/>
          <a:chExt cx="0" cy="0"/>
        </a:xfrm>
      </p:grpSpPr>
      <p:sp>
        <p:nvSpPr>
          <p:cNvPr id="1933" name="Google Shape;1933;p8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VALUE OF FOREVERCLEAN  ·  PRACTICE</a:t>
            </a:r>
            <a:endParaRPr b="0" i="0" sz="800" u="none" cap="none" strike="noStrike">
              <a:solidFill>
                <a:schemeClr val="dk1"/>
              </a:solidFill>
              <a:latin typeface="Calibri"/>
              <a:ea typeface="Calibri"/>
              <a:cs typeface="Calibri"/>
              <a:sym typeface="Calibri"/>
            </a:endParaRPr>
          </a:p>
        </p:txBody>
      </p:sp>
      <p:sp>
        <p:nvSpPr>
          <p:cNvPr id="1934" name="Google Shape;1934;p8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5-minute writing challenge</a:t>
            </a:r>
            <a:endParaRPr b="0" i="0" sz="2400" u="none" cap="none" strike="noStrike">
              <a:solidFill>
                <a:schemeClr val="dk1"/>
              </a:solidFill>
              <a:latin typeface="Calibri"/>
              <a:ea typeface="Calibri"/>
              <a:cs typeface="Calibri"/>
              <a:sym typeface="Calibri"/>
            </a:endParaRPr>
          </a:p>
        </p:txBody>
      </p:sp>
      <p:sp>
        <p:nvSpPr>
          <p:cNvPr id="1935" name="Google Shape;1935;p8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Read the customer's message. How would you respond?</a:t>
            </a:r>
            <a:endParaRPr b="0" i="0" sz="1200" u="none" cap="none" strike="noStrike">
              <a:solidFill>
                <a:schemeClr val="dk1"/>
              </a:solidFill>
              <a:latin typeface="Calibri"/>
              <a:ea typeface="Calibri"/>
              <a:cs typeface="Calibri"/>
              <a:sym typeface="Calibri"/>
            </a:endParaRPr>
          </a:p>
        </p:txBody>
      </p:sp>
      <p:sp>
        <p:nvSpPr>
          <p:cNvPr id="1936" name="Google Shape;1936;p8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1937" name="Google Shape;1937;p85"/>
          <p:cNvSpPr/>
          <p:nvPr/>
        </p:nvSpPr>
        <p:spPr>
          <a:xfrm>
            <a:off x="411480" y="1298448"/>
            <a:ext cx="3520440" cy="1143000"/>
          </a:xfrm>
          <a:prstGeom prst="roundRect">
            <a:avLst>
              <a:gd fmla="val 6000" name="adj"/>
            </a:avLst>
          </a:prstGeom>
          <a:solidFill>
            <a:srgbClr val="FFF3D6"/>
          </a:solidFill>
          <a:ln cap="flat" cmpd="sng" w="9525">
            <a:solidFill>
              <a:srgbClr val="9A6410"/>
            </a:solidFill>
            <a:prstDash val="solid"/>
            <a:round/>
            <a:headEnd len="sm" w="sm" type="none"/>
            <a:tailEnd len="sm" w="sm" type="none"/>
          </a:ln>
        </p:spPr>
        <p:txBody>
          <a:bodyPr anchorCtr="0" anchor="ctr" bIns="73150" lIns="146300" spcFirstLastPara="1" rIns="146300" wrap="square" tIns="7315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9A6410"/>
                </a:solidFill>
                <a:latin typeface="Play"/>
                <a:ea typeface="Play"/>
                <a:cs typeface="Play"/>
                <a:sym typeface="Play"/>
              </a:rPr>
              <a:t>CONTEXT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050"/>
              <a:buFont typeface="Arial"/>
              <a:buNone/>
            </a:pPr>
            <a:r>
              <a:rPr b="0" i="0" lang="en" sz="1050" u="none" cap="none" strike="noStrike">
                <a:solidFill>
                  <a:srgbClr val="1D1D1F"/>
                </a:solidFill>
                <a:latin typeface="Arial"/>
                <a:ea typeface="Arial"/>
                <a:cs typeface="Arial"/>
                <a:sym typeface="Arial"/>
              </a:rPr>
              <a:t>DHJ voucher deals customer. Just received their 1st cleaning and was charged the first $59 MF.</a:t>
            </a:r>
            <a:endParaRPr b="0" i="0" sz="1400" u="none" cap="none" strike="noStrike">
              <a:solidFill>
                <a:srgbClr val="000000"/>
              </a:solidFill>
              <a:latin typeface="Arial"/>
              <a:ea typeface="Arial"/>
              <a:cs typeface="Arial"/>
              <a:sym typeface="Arial"/>
            </a:endParaRPr>
          </a:p>
        </p:txBody>
      </p:sp>
      <p:sp>
        <p:nvSpPr>
          <p:cNvPr id="1938" name="Google Shape;1938;p85"/>
          <p:cNvSpPr/>
          <p:nvPr/>
        </p:nvSpPr>
        <p:spPr>
          <a:xfrm>
            <a:off x="411480" y="2560320"/>
            <a:ext cx="3520440" cy="1051560"/>
          </a:xfrm>
          <a:prstGeom prst="roundRect">
            <a:avLst>
              <a:gd fmla="val 10000" name="adj"/>
            </a:avLst>
          </a:prstGeom>
          <a:solidFill>
            <a:srgbClr val="F6F7F9"/>
          </a:solidFill>
          <a:ln cap="flat" cmpd="sng" w="9525">
            <a:solidFill>
              <a:srgbClr val="DCE1E7"/>
            </a:solidFill>
            <a:prstDash val="solid"/>
            <a:round/>
            <a:headEnd len="sm" w="sm" type="none"/>
            <a:tailEnd len="sm" w="sm" type="none"/>
          </a:ln>
        </p:spPr>
        <p:txBody>
          <a:bodyPr anchorCtr="0" anchor="ctr" bIns="73150" lIns="146300" spcFirstLastPara="1" rIns="146300" wrap="square" tIns="7315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6E6E73"/>
                </a:solidFill>
                <a:latin typeface="Play"/>
                <a:ea typeface="Play"/>
                <a:cs typeface="Play"/>
                <a:sym typeface="Play"/>
              </a:rPr>
              <a:t>CUSTOMER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200"/>
              <a:buFont typeface="Arial"/>
              <a:buNone/>
            </a:pPr>
            <a:r>
              <a:rPr b="0" i="1" lang="en" sz="1200" u="none" cap="none" strike="noStrike">
                <a:solidFill>
                  <a:srgbClr val="1D1D1F"/>
                </a:solidFill>
                <a:latin typeface="Arial"/>
                <a:ea typeface="Arial"/>
                <a:cs typeface="Arial"/>
                <a:sym typeface="Arial"/>
              </a:rPr>
              <a:t>“I have a voucher. Why did you charge me again?”</a:t>
            </a:r>
            <a:endParaRPr b="0" i="0" sz="1400" u="none" cap="none" strike="noStrike">
              <a:solidFill>
                <a:srgbClr val="000000"/>
              </a:solidFill>
              <a:latin typeface="Arial"/>
              <a:ea typeface="Arial"/>
              <a:cs typeface="Arial"/>
              <a:sym typeface="Arial"/>
            </a:endParaRPr>
          </a:p>
        </p:txBody>
      </p:sp>
      <p:sp>
        <p:nvSpPr>
          <p:cNvPr id="1939" name="Google Shape;1939;p85"/>
          <p:cNvSpPr/>
          <p:nvPr/>
        </p:nvSpPr>
        <p:spPr>
          <a:xfrm>
            <a:off x="411480" y="3730752"/>
            <a:ext cx="3520440" cy="868680"/>
          </a:xfrm>
          <a:prstGeom prst="roundRect">
            <a:avLst>
              <a:gd fmla="val 10000" name="adj"/>
            </a:avLst>
          </a:prstGeom>
          <a:solidFill>
            <a:srgbClr val="E3F4F1"/>
          </a:solidFill>
          <a:ln>
            <a:noFill/>
          </a:ln>
        </p:spPr>
        <p:txBody>
          <a:bodyPr anchorCtr="0" anchor="ctr" bIns="73150" lIns="146300" spcFirstLastPara="1" rIns="146300" wrap="square" tIns="7315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B7A6F"/>
                </a:solidFill>
                <a:latin typeface="Play"/>
                <a:ea typeface="Play"/>
                <a:cs typeface="Play"/>
                <a:sym typeface="Play"/>
              </a:rPr>
              <a:t>5 minutes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950"/>
              <a:buFont typeface="Arial"/>
              <a:buNone/>
            </a:pPr>
            <a:r>
              <a:rPr b="0" i="0" lang="en" sz="950" u="none" cap="none" strike="noStrike">
                <a:solidFill>
                  <a:srgbClr val="1D1D1F"/>
                </a:solidFill>
                <a:latin typeface="Arial"/>
                <a:ea typeface="Arial"/>
                <a:cs typeface="Arial"/>
                <a:sym typeface="Arial"/>
              </a:rPr>
              <a:t>Write your reply first. Then compare it with the sample.</a:t>
            </a:r>
            <a:endParaRPr b="0" i="0" sz="1400" u="none" cap="none" strike="noStrike">
              <a:solidFill>
                <a:srgbClr val="000000"/>
              </a:solidFill>
              <a:latin typeface="Arial"/>
              <a:ea typeface="Arial"/>
              <a:cs typeface="Arial"/>
              <a:sym typeface="Arial"/>
            </a:endParaRPr>
          </a:p>
        </p:txBody>
      </p:sp>
      <p:sp>
        <p:nvSpPr>
          <p:cNvPr id="1940" name="Google Shape;1940;p85"/>
          <p:cNvSpPr/>
          <p:nvPr/>
        </p:nvSpPr>
        <p:spPr>
          <a:xfrm>
            <a:off x="4069080" y="1298448"/>
            <a:ext cx="4663440" cy="3300984"/>
          </a:xfrm>
          <a:prstGeom prst="roundRect">
            <a:avLst>
              <a:gd fmla="val 6000" name="adj"/>
            </a:avLst>
          </a:prstGeom>
          <a:solidFill>
            <a:srgbClr val="FFFFFF"/>
          </a:solidFill>
          <a:ln cap="flat" cmpd="sng" w="9525">
            <a:solidFill>
              <a:srgbClr val="DCE1E7"/>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85"/>
          <p:cNvSpPr txBox="1"/>
          <p:nvPr/>
        </p:nvSpPr>
        <p:spPr>
          <a:xfrm>
            <a:off x="4069080" y="2514600"/>
            <a:ext cx="4663440" cy="228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6E6E73"/>
                </a:solidFill>
                <a:latin typeface="Arial"/>
                <a:ea typeface="Arial"/>
                <a:cs typeface="Arial"/>
                <a:sym typeface="Arial"/>
              </a:rPr>
              <a:t>Write your reply first.</a:t>
            </a:r>
            <a:endParaRPr b="0" i="0" sz="1400" u="none" cap="none" strike="noStrike">
              <a:solidFill>
                <a:srgbClr val="000000"/>
              </a:solidFill>
              <a:latin typeface="Arial"/>
              <a:ea typeface="Arial"/>
              <a:cs typeface="Arial"/>
              <a:sym typeface="Arial"/>
            </a:endParaRPr>
          </a:p>
        </p:txBody>
      </p:sp>
      <p:sp>
        <p:nvSpPr>
          <p:cNvPr id="1942" name="Google Shape;1942;p85"/>
          <p:cNvSpPr/>
          <p:nvPr/>
        </p:nvSpPr>
        <p:spPr>
          <a:xfrm>
            <a:off x="5303520" y="2816352"/>
            <a:ext cx="2194560" cy="365760"/>
          </a:xfrm>
          <a:prstGeom prst="roundRect">
            <a:avLst>
              <a:gd fmla="val 30000" name="adj"/>
            </a:avLst>
          </a:prstGeom>
          <a:solidFill>
            <a:srgbClr val="0B7A6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b="1" i="0" lang="en" sz="1050" u="none" cap="none" strike="noStrike">
                <a:solidFill>
                  <a:srgbClr val="FFFFFF"/>
                </a:solidFill>
                <a:latin typeface="Play"/>
                <a:ea typeface="Play"/>
                <a:cs typeface="Play"/>
                <a:sym typeface="Play"/>
              </a:rPr>
              <a:t>▶  Show CS response</a:t>
            </a:r>
            <a:endParaRPr b="0" i="0" sz="1400" u="none" cap="none" strike="noStrike">
              <a:solidFill>
                <a:srgbClr val="000000"/>
              </a:solidFill>
              <a:latin typeface="Arial"/>
              <a:ea typeface="Arial"/>
              <a:cs typeface="Arial"/>
              <a:sym typeface="Arial"/>
            </a:endParaRPr>
          </a:p>
        </p:txBody>
      </p:sp>
      <p:sp>
        <p:nvSpPr>
          <p:cNvPr id="1943" name="Google Shape;1943;p85"/>
          <p:cNvSpPr/>
          <p:nvPr/>
        </p:nvSpPr>
        <p:spPr>
          <a:xfrm>
            <a:off x="4069080" y="1298448"/>
            <a:ext cx="4663440" cy="3300984"/>
          </a:xfrm>
          <a:prstGeom prst="roundRect">
            <a:avLst>
              <a:gd fmla="val 6000" name="adj"/>
            </a:avLst>
          </a:prstGeom>
          <a:solidFill>
            <a:srgbClr val="E3F4F1"/>
          </a:solidFill>
          <a:ln cap="flat" cmpd="sng" w="9525">
            <a:solidFill>
              <a:srgbClr val="0B7A6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4" name="Google Shape;1944;p85"/>
          <p:cNvSpPr txBox="1"/>
          <p:nvPr/>
        </p:nvSpPr>
        <p:spPr>
          <a:xfrm>
            <a:off x="4233672" y="1389888"/>
            <a:ext cx="4334256" cy="31272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B7A6F"/>
                </a:solidFill>
                <a:latin typeface="Play"/>
                <a:ea typeface="Play"/>
                <a:cs typeface="Play"/>
                <a:sym typeface="Play"/>
              </a:rPr>
              <a:t>SAMPLE CS RESPONSE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000"/>
              <a:buFont typeface="Arial"/>
              <a:buNone/>
            </a:pPr>
            <a:r>
              <a:rPr b="0" i="0" lang="en" sz="1000" u="none" cap="none" strike="noStrike">
                <a:solidFill>
                  <a:srgbClr val="1D1D1F"/>
                </a:solidFill>
                <a:latin typeface="Arial"/>
                <a:ea typeface="Arial"/>
                <a:cs typeface="Arial"/>
                <a:sym typeface="Arial"/>
              </a:rPr>
              <a:t>I'm happy to clarify!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000"/>
              <a:buFont typeface="Arial"/>
              <a:buNone/>
            </a:pPr>
            <a:r>
              <a:rPr b="0" i="0" lang="en" sz="1000" u="none" cap="none" strike="noStrike">
                <a:solidFill>
                  <a:srgbClr val="1D1D1F"/>
                </a:solidFill>
                <a:latin typeface="Arial"/>
                <a:ea typeface="Arial"/>
                <a:cs typeface="Arial"/>
                <a:sym typeface="Arial"/>
              </a:rPr>
              <a:t>The $59 charge you're seeing is for your ForeverClean membership. Your first cleaning was heavily discounted because your voucher came with a membership, which costs $59/month and is billed separately from your cleanings. It gives you access to background-checked cleaners at lower hourly rates.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000"/>
              <a:buFont typeface="Arial"/>
              <a:buNone/>
            </a:pPr>
            <a:r>
              <a:rPr b="0" i="0" lang="en" sz="1000" u="none" cap="none" strike="noStrike">
                <a:solidFill>
                  <a:srgbClr val="1D1D1F"/>
                </a:solidFill>
                <a:latin typeface="Arial"/>
                <a:ea typeface="Arial"/>
                <a:cs typeface="Arial"/>
                <a:sym typeface="Arial"/>
              </a:rPr>
              <a:t>If you're planning to book cleanings regularly, it can be a good way to save on each visit!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700"/>
              </a:spcBef>
              <a:spcAft>
                <a:spcPts val="0"/>
              </a:spcAft>
              <a:buClr>
                <a:srgbClr val="000000"/>
              </a:buClr>
              <a:buSzPts val="1000"/>
              <a:buFont typeface="Arial"/>
              <a:buNone/>
            </a:pPr>
            <a:r>
              <a:rPr b="0" i="0" lang="en" sz="1000" u="none" cap="none" strike="noStrike">
                <a:solidFill>
                  <a:srgbClr val="1D1D1F"/>
                </a:solidFill>
                <a:latin typeface="Arial"/>
                <a:ea typeface="Arial"/>
                <a:cs typeface="Arial"/>
                <a:sym typeface="Arial"/>
              </a:rPr>
              <a:t>I'd also love to hear how your cleaning went! If there's anything else I can help you with, just let me know.</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3"/>
                                        </p:tgtEl>
                                        <p:attrNameLst>
                                          <p:attrName>style.visibility</p:attrName>
                                        </p:attrNameLst>
                                      </p:cBhvr>
                                      <p:to>
                                        <p:strVal val="visible"/>
                                      </p:to>
                                    </p:set>
                                    <p:animEffect filter="fade" transition="in">
                                      <p:cBhvr>
                                        <p:cTn dur="600"/>
                                        <p:tgtEl>
                                          <p:spTgt spid="1943"/>
                                        </p:tgtEl>
                                      </p:cBhvr>
                                    </p:animEffect>
                                  </p:childTnLst>
                                </p:cTn>
                              </p:par>
                              <p:par>
                                <p:cTn fill="hold" nodeType="withEffect" presetClass="entr" presetID="10" presetSubtype="0">
                                  <p:stCondLst>
                                    <p:cond delay="0"/>
                                  </p:stCondLst>
                                  <p:childTnLst>
                                    <p:set>
                                      <p:cBhvr>
                                        <p:cTn dur="1" fill="hold">
                                          <p:stCondLst>
                                            <p:cond delay="0"/>
                                          </p:stCondLst>
                                        </p:cTn>
                                        <p:tgtEl>
                                          <p:spTgt spid="1944"/>
                                        </p:tgtEl>
                                        <p:attrNameLst>
                                          <p:attrName>style.visibility</p:attrName>
                                        </p:attrNameLst>
                                      </p:cBhvr>
                                      <p:to>
                                        <p:strVal val="visible"/>
                                      </p:to>
                                    </p:set>
                                    <p:animEffect filter="fade" transition="in">
                                      <p:cBhvr>
                                        <p:cTn dur="600"/>
                                        <p:tgtEl>
                                          <p:spTgt spid="19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8" name="Shape 1948"/>
        <p:cNvGrpSpPr/>
        <p:nvPr/>
      </p:nvGrpSpPr>
      <p:grpSpPr>
        <a:xfrm>
          <a:off x="0" y="0"/>
          <a:ext cx="0" cy="0"/>
          <a:chOff x="0" y="0"/>
          <a:chExt cx="0" cy="0"/>
        </a:xfrm>
      </p:grpSpPr>
      <p:sp>
        <p:nvSpPr>
          <p:cNvPr id="1949" name="Google Shape;1949;p86"/>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1950" name="Google Shape;1950;p86"/>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1951" name="Google Shape;1951;p86"/>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1952" name="Google Shape;1952;p86"/>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3" name="Google Shape;1953;p86"/>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1954" name="Google Shape;1954;p86"/>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1955" name="Google Shape;1955;p86"/>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6" name="Google Shape;1956;p86"/>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7" name="Google Shape;1957;p86"/>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8" name="Google Shape;1958;p86"/>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9" name="Google Shape;1959;p86"/>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0" name="Google Shape;1960;p86"/>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1" name="Google Shape;1961;p86"/>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p87"/>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09</a:t>
            </a:r>
            <a:endParaRPr b="0" i="0" sz="800" u="none" cap="none" strike="noStrike">
              <a:solidFill>
                <a:schemeClr val="dk1"/>
              </a:solidFill>
              <a:latin typeface="Calibri"/>
              <a:ea typeface="Calibri"/>
              <a:cs typeface="Calibri"/>
              <a:sym typeface="Calibri"/>
            </a:endParaRPr>
          </a:p>
        </p:txBody>
      </p:sp>
      <p:sp>
        <p:nvSpPr>
          <p:cNvPr id="1967" name="Google Shape;1967;p87"/>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KB - Poor Cleaning Quality (PCQ)</a:t>
            </a:r>
            <a:endParaRPr b="0" i="0" sz="2800" u="none" cap="none" strike="noStrike">
              <a:solidFill>
                <a:schemeClr val="dk1"/>
              </a:solidFill>
              <a:latin typeface="Calibri"/>
              <a:ea typeface="Calibri"/>
              <a:cs typeface="Calibri"/>
              <a:sym typeface="Calibri"/>
            </a:endParaRPr>
          </a:p>
        </p:txBody>
      </p:sp>
      <p:sp>
        <p:nvSpPr>
          <p:cNvPr id="1968" name="Google Shape;1968;p87"/>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When a cleaning missed the mark, and what to investigate, offer and do when the customer has not asked to cancel.</a:t>
            </a:r>
            <a:endParaRPr b="0" i="0" sz="1150" u="none" cap="none" strike="noStrike">
              <a:solidFill>
                <a:schemeClr val="dk1"/>
              </a:solidFill>
              <a:latin typeface="Calibri"/>
              <a:ea typeface="Calibri"/>
              <a:cs typeface="Calibri"/>
              <a:sym typeface="Calibri"/>
            </a:endParaRPr>
          </a:p>
        </p:txBody>
      </p:sp>
      <p:sp>
        <p:nvSpPr>
          <p:cNvPr id="1969" name="Google Shape;1969;p87"/>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970" name="Google Shape;1970;p87"/>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71" name="Google Shape;1971;p87"/>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972" name="Google Shape;1972;p87"/>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PCQ is</a:t>
            </a:r>
            <a:endParaRPr b="0" i="0" sz="1050" u="none" cap="none" strike="noStrike">
              <a:solidFill>
                <a:schemeClr val="dk1"/>
              </a:solidFill>
              <a:latin typeface="Calibri"/>
              <a:ea typeface="Calibri"/>
              <a:cs typeface="Calibri"/>
              <a:sym typeface="Calibri"/>
            </a:endParaRPr>
          </a:p>
        </p:txBody>
      </p:sp>
      <p:sp>
        <p:nvSpPr>
          <p:cNvPr id="1973" name="Google Shape;1973;p87"/>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74" name="Google Shape;1974;p87"/>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975" name="Google Shape;1975;p87"/>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Investigate and act</a:t>
            </a:r>
            <a:endParaRPr b="0" i="0" sz="1050" u="none" cap="none" strike="noStrike">
              <a:solidFill>
                <a:schemeClr val="dk1"/>
              </a:solidFill>
              <a:latin typeface="Calibri"/>
              <a:ea typeface="Calibri"/>
              <a:cs typeface="Calibri"/>
              <a:sym typeface="Calibri"/>
            </a:endParaRPr>
          </a:p>
        </p:txBody>
      </p:sp>
      <p:sp>
        <p:nvSpPr>
          <p:cNvPr id="1976" name="Google Shape;1976;p87"/>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77" name="Google Shape;1977;p87"/>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978" name="Google Shape;1978;p87"/>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Recovery matrix</a:t>
            </a:r>
            <a:endParaRPr b="0" i="0" sz="1050" u="none" cap="none" strike="noStrike">
              <a:solidFill>
                <a:schemeClr val="dk1"/>
              </a:solidFill>
              <a:latin typeface="Calibri"/>
              <a:ea typeface="Calibri"/>
              <a:cs typeface="Calibri"/>
              <a:sym typeface="Calibri"/>
            </a:endParaRPr>
          </a:p>
        </p:txBody>
      </p:sp>
      <p:sp>
        <p:nvSpPr>
          <p:cNvPr id="1979" name="Google Shape;1979;p87"/>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980" name="Google Shape;1980;p87"/>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981" name="Google Shape;1981;p87"/>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Refund request vs admin refund</a:t>
            </a:r>
            <a:endParaRPr b="0" i="0" sz="1050" u="none" cap="none" strike="noStrike">
              <a:solidFill>
                <a:schemeClr val="dk1"/>
              </a:solidFill>
              <a:latin typeface="Calibri"/>
              <a:ea typeface="Calibri"/>
              <a:cs typeface="Calibri"/>
              <a:sym typeface="Calibri"/>
            </a:endParaRPr>
          </a:p>
        </p:txBody>
      </p:sp>
      <p:sp>
        <p:nvSpPr>
          <p:cNvPr id="1982" name="Google Shape;1982;p87"/>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3" name="Google Shape;1983;p87"/>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1984" name="Google Shape;1984;p87"/>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1985" name="Google Shape;1985;p87"/>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6" name="Google Shape;1986;p87"/>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7" name="Google Shape;1987;p87"/>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8" name="Google Shape;1988;p87"/>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9" name="Google Shape;1989;p87"/>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0" name="Google Shape;1990;p87"/>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1" name="Google Shape;1991;p8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5" name="Shape 1995"/>
        <p:cNvGrpSpPr/>
        <p:nvPr/>
      </p:nvGrpSpPr>
      <p:grpSpPr>
        <a:xfrm>
          <a:off x="0" y="0"/>
          <a:ext cx="0" cy="0"/>
          <a:chOff x="0" y="0"/>
          <a:chExt cx="0" cy="0"/>
        </a:xfrm>
      </p:grpSpPr>
      <p:sp>
        <p:nvSpPr>
          <p:cNvPr id="1996" name="Google Shape;1996;p8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a:t>
            </a:r>
            <a:endParaRPr b="0" i="0" sz="800" u="none" cap="none" strike="noStrike">
              <a:solidFill>
                <a:schemeClr val="dk1"/>
              </a:solidFill>
              <a:latin typeface="Calibri"/>
              <a:ea typeface="Calibri"/>
              <a:cs typeface="Calibri"/>
              <a:sym typeface="Calibri"/>
            </a:endParaRPr>
          </a:p>
        </p:txBody>
      </p:sp>
      <p:sp>
        <p:nvSpPr>
          <p:cNvPr id="1997" name="Google Shape;1997;p8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PCQ?</a:t>
            </a:r>
            <a:endParaRPr b="0" i="0" sz="2400" u="none" cap="none" strike="noStrike">
              <a:solidFill>
                <a:schemeClr val="dk1"/>
              </a:solidFill>
              <a:latin typeface="Calibri"/>
              <a:ea typeface="Calibri"/>
              <a:cs typeface="Calibri"/>
              <a:sym typeface="Calibri"/>
            </a:endParaRPr>
          </a:p>
        </p:txBody>
      </p:sp>
      <p:sp>
        <p:nvSpPr>
          <p:cNvPr id="1998" name="Google Shape;1998;p8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 outcome did not match what the customer paid for.</a:t>
            </a:r>
            <a:endParaRPr b="0" i="0" sz="1200" u="none" cap="none" strike="noStrike">
              <a:solidFill>
                <a:schemeClr val="dk1"/>
              </a:solidFill>
              <a:latin typeface="Calibri"/>
              <a:ea typeface="Calibri"/>
              <a:cs typeface="Calibri"/>
              <a:sym typeface="Calibri"/>
            </a:endParaRPr>
          </a:p>
        </p:txBody>
      </p:sp>
      <p:sp>
        <p:nvSpPr>
          <p:cNvPr id="1999" name="Google Shape;1999;p88"/>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0" name="Google Shape;2000;p88"/>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01" name="Google Shape;2001;p88"/>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002" name="Google Shape;2002;p88"/>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What counts</a:t>
            </a:r>
            <a:endParaRPr b="0" i="0" sz="1200" u="none" cap="none" strike="noStrike">
              <a:solidFill>
                <a:schemeClr val="dk1"/>
              </a:solidFill>
              <a:latin typeface="Calibri"/>
              <a:ea typeface="Calibri"/>
              <a:cs typeface="Calibri"/>
              <a:sym typeface="Calibri"/>
            </a:endParaRPr>
          </a:p>
        </p:txBody>
      </p:sp>
      <p:sp>
        <p:nvSpPr>
          <p:cNvPr id="2003" name="Google Shape;2003;p88"/>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Missed areas, incomplete tasks, visibly dirty areas, or a CP with incomplete supplies that hurt the quality of the job.</a:t>
            </a:r>
            <a:endParaRPr b="0" i="0" sz="950" u="none" cap="none" strike="noStrike">
              <a:solidFill>
                <a:schemeClr val="dk1"/>
              </a:solidFill>
              <a:latin typeface="Calibri"/>
              <a:ea typeface="Calibri"/>
              <a:cs typeface="Calibri"/>
              <a:sym typeface="Calibri"/>
            </a:endParaRPr>
          </a:p>
        </p:txBody>
      </p:sp>
      <p:sp>
        <p:nvSpPr>
          <p:cNvPr id="2004" name="Google Shape;2004;p88"/>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5" name="Google Shape;2005;p88"/>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06" name="Google Shape;2006;p88"/>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007" name="Google Shape;2007;p88"/>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 service failure</a:t>
            </a:r>
            <a:endParaRPr b="0" i="0" sz="1200" u="none" cap="none" strike="noStrike">
              <a:solidFill>
                <a:schemeClr val="dk1"/>
              </a:solidFill>
              <a:latin typeface="Calibri"/>
              <a:ea typeface="Calibri"/>
              <a:cs typeface="Calibri"/>
              <a:sym typeface="Calibri"/>
            </a:endParaRPr>
          </a:p>
        </p:txBody>
      </p:sp>
      <p:sp>
        <p:nvSpPr>
          <p:cNvPr id="2008" name="Google Shape;2008;p88"/>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Not a billing issue. Credits, vouchers and re-cleans are tools. The real fix is a properly cleaned home.</a:t>
            </a:r>
            <a:endParaRPr b="0" i="0" sz="950" u="none" cap="none" strike="noStrike">
              <a:solidFill>
                <a:schemeClr val="dk1"/>
              </a:solidFill>
              <a:latin typeface="Calibri"/>
              <a:ea typeface="Calibri"/>
              <a:cs typeface="Calibri"/>
              <a:sym typeface="Calibri"/>
            </a:endParaRPr>
          </a:p>
        </p:txBody>
      </p:sp>
      <p:sp>
        <p:nvSpPr>
          <p:cNvPr id="2009" name="Google Shape;2009;p88"/>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0" name="Google Shape;2010;p88"/>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11" name="Google Shape;2011;p88"/>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2012" name="Google Shape;2012;p88"/>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Scope of this KB</a:t>
            </a:r>
            <a:endParaRPr b="0" i="0" sz="1200" u="none" cap="none" strike="noStrike">
              <a:solidFill>
                <a:schemeClr val="dk1"/>
              </a:solidFill>
              <a:latin typeface="Calibri"/>
              <a:ea typeface="Calibri"/>
              <a:cs typeface="Calibri"/>
              <a:sym typeface="Calibri"/>
            </a:endParaRPr>
          </a:p>
        </p:txBody>
      </p:sp>
      <p:sp>
        <p:nvSpPr>
          <p:cNvPr id="2013" name="Google Shape;2013;p88"/>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Customer has not said they want to cancel. Just unhappy about a specific cleaning.</a:t>
            </a:r>
            <a:endParaRPr b="0" i="0" sz="950" u="none" cap="none" strike="noStrike">
              <a:solidFill>
                <a:schemeClr val="dk1"/>
              </a:solidFill>
              <a:latin typeface="Calibri"/>
              <a:ea typeface="Calibri"/>
              <a:cs typeface="Calibri"/>
              <a:sym typeface="Calibri"/>
            </a:endParaRPr>
          </a:p>
        </p:txBody>
      </p:sp>
      <p:sp>
        <p:nvSpPr>
          <p:cNvPr id="2014" name="Google Shape;2014;p88"/>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15" name="Google Shape;2015;p88"/>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2016" name="Google Shape;2016;p88"/>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Cancel intent?</a:t>
            </a:r>
            <a:r>
              <a:rPr b="0" i="0" lang="en" sz="1000" u="none" cap="none" strike="noStrike">
                <a:solidFill>
                  <a:srgbClr val="1D1D1F"/>
                </a:solidFill>
                <a:latin typeface="Arial"/>
                <a:ea typeface="Arial"/>
                <a:cs typeface="Arial"/>
                <a:sym typeface="Arial"/>
              </a:rPr>
              <a:t>the moment they want to cancel, for any reason, stop and move to the PCQ Retention Framework. ETF and waivers live there only.</a:t>
            </a:r>
            <a:endParaRPr b="0" i="0" sz="1000" u="none" cap="none" strike="noStrike">
              <a:solidFill>
                <a:schemeClr val="dk1"/>
              </a:solidFill>
              <a:latin typeface="Calibri"/>
              <a:ea typeface="Calibri"/>
              <a:cs typeface="Calibri"/>
              <a:sym typeface="Calibri"/>
            </a:endParaRPr>
          </a:p>
        </p:txBody>
      </p:sp>
      <p:sp>
        <p:nvSpPr>
          <p:cNvPr id="2017" name="Google Shape;2017;p8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1" name="Shape 2021"/>
        <p:cNvGrpSpPr/>
        <p:nvPr/>
      </p:nvGrpSpPr>
      <p:grpSpPr>
        <a:xfrm>
          <a:off x="0" y="0"/>
          <a:ext cx="0" cy="0"/>
          <a:chOff x="0" y="0"/>
          <a:chExt cx="0" cy="0"/>
        </a:xfrm>
      </p:grpSpPr>
      <p:sp>
        <p:nvSpPr>
          <p:cNvPr id="2022" name="Google Shape;2022;p8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a:t>
            </a:r>
            <a:endParaRPr b="0" i="0" sz="800" u="none" cap="none" strike="noStrike">
              <a:solidFill>
                <a:schemeClr val="dk1"/>
              </a:solidFill>
              <a:latin typeface="Calibri"/>
              <a:ea typeface="Calibri"/>
              <a:cs typeface="Calibri"/>
              <a:sym typeface="Calibri"/>
            </a:endParaRPr>
          </a:p>
        </p:txBody>
      </p:sp>
      <p:sp>
        <p:nvSpPr>
          <p:cNvPr id="2023" name="Google Shape;2023;p8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Key mindset</a:t>
            </a:r>
            <a:endParaRPr b="0" i="0" sz="2400" u="none" cap="none" strike="noStrike">
              <a:solidFill>
                <a:schemeClr val="dk1"/>
              </a:solidFill>
              <a:latin typeface="Calibri"/>
              <a:ea typeface="Calibri"/>
              <a:cs typeface="Calibri"/>
              <a:sym typeface="Calibri"/>
            </a:endParaRPr>
          </a:p>
        </p:txBody>
      </p:sp>
      <p:sp>
        <p:nvSpPr>
          <p:cNvPr id="2024" name="Google Shape;2024;p89"/>
          <p:cNvSpPr/>
          <p:nvPr/>
        </p:nvSpPr>
        <p:spPr>
          <a:xfrm>
            <a:off x="4114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5" name="Google Shape;2025;p89"/>
          <p:cNvSpPr/>
          <p:nvPr/>
        </p:nvSpPr>
        <p:spPr>
          <a:xfrm>
            <a:off x="5760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26" name="Google Shape;2026;p89"/>
          <p:cNvPicPr preferRelativeResize="0"/>
          <p:nvPr/>
        </p:nvPicPr>
        <p:blipFill rotWithShape="1">
          <a:blip r:embed="rId3">
            <a:alphaModFix/>
          </a:blip>
          <a:srcRect b="0" l="0" r="0" t="0"/>
          <a:stretch/>
        </p:blipFill>
        <p:spPr>
          <a:xfrm>
            <a:off x="668244" y="1509492"/>
            <a:ext cx="199705" cy="199705"/>
          </a:xfrm>
          <a:prstGeom prst="rect">
            <a:avLst/>
          </a:prstGeom>
          <a:noFill/>
          <a:ln>
            <a:noFill/>
          </a:ln>
        </p:spPr>
      </p:pic>
      <p:sp>
        <p:nvSpPr>
          <p:cNvPr id="2027" name="Google Shape;2027;p89"/>
          <p:cNvSpPr txBox="1"/>
          <p:nvPr/>
        </p:nvSpPr>
        <p:spPr>
          <a:xfrm>
            <a:off x="11247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Facts first</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Understand what went wrong before you decide on an offer.</a:t>
            </a:r>
            <a:endParaRPr b="0" i="0" sz="1200" u="none" cap="none" strike="noStrike">
              <a:solidFill>
                <a:schemeClr val="dk1"/>
              </a:solidFill>
              <a:latin typeface="Calibri"/>
              <a:ea typeface="Calibri"/>
              <a:cs typeface="Calibri"/>
              <a:sym typeface="Calibri"/>
            </a:endParaRPr>
          </a:p>
        </p:txBody>
      </p:sp>
      <p:sp>
        <p:nvSpPr>
          <p:cNvPr id="2028" name="Google Shape;2028;p89"/>
          <p:cNvSpPr/>
          <p:nvPr/>
        </p:nvSpPr>
        <p:spPr>
          <a:xfrm>
            <a:off x="46405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9" name="Google Shape;2029;p89"/>
          <p:cNvSpPr/>
          <p:nvPr/>
        </p:nvSpPr>
        <p:spPr>
          <a:xfrm>
            <a:off x="48051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30" name="Google Shape;2030;p89"/>
          <p:cNvPicPr preferRelativeResize="0"/>
          <p:nvPr/>
        </p:nvPicPr>
        <p:blipFill rotWithShape="1">
          <a:blip r:embed="rId4">
            <a:alphaModFix/>
          </a:blip>
          <a:srcRect b="0" l="0" r="0" t="0"/>
          <a:stretch/>
        </p:blipFill>
        <p:spPr>
          <a:xfrm>
            <a:off x="4897344" y="1509492"/>
            <a:ext cx="199705" cy="199705"/>
          </a:xfrm>
          <a:prstGeom prst="rect">
            <a:avLst/>
          </a:prstGeom>
          <a:noFill/>
          <a:ln>
            <a:noFill/>
          </a:ln>
        </p:spPr>
      </p:pic>
      <p:sp>
        <p:nvSpPr>
          <p:cNvPr id="2031" name="Google Shape;2031;p89"/>
          <p:cNvSpPr txBox="1"/>
          <p:nvPr/>
        </p:nvSpPr>
        <p:spPr>
          <a:xfrm>
            <a:off x="53538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Offers are tools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Voucher, credit or re-clean serve the goal: a home cleaned properly.</a:t>
            </a:r>
            <a:endParaRPr b="0" i="0" sz="1200" u="none" cap="none" strike="noStrike">
              <a:solidFill>
                <a:schemeClr val="dk1"/>
              </a:solidFill>
              <a:latin typeface="Calibri"/>
              <a:ea typeface="Calibri"/>
              <a:cs typeface="Calibri"/>
              <a:sym typeface="Calibri"/>
            </a:endParaRPr>
          </a:p>
        </p:txBody>
      </p:sp>
      <p:sp>
        <p:nvSpPr>
          <p:cNvPr id="2032" name="Google Shape;2032;p89"/>
          <p:cNvSpPr/>
          <p:nvPr/>
        </p:nvSpPr>
        <p:spPr>
          <a:xfrm>
            <a:off x="4114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3" name="Google Shape;2033;p89"/>
          <p:cNvSpPr/>
          <p:nvPr/>
        </p:nvSpPr>
        <p:spPr>
          <a:xfrm>
            <a:off x="5760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34" name="Google Shape;2034;p89"/>
          <p:cNvPicPr preferRelativeResize="0"/>
          <p:nvPr/>
        </p:nvPicPr>
        <p:blipFill rotWithShape="1">
          <a:blip r:embed="rId5">
            <a:alphaModFix/>
          </a:blip>
          <a:srcRect b="0" l="0" r="0" t="0"/>
          <a:stretch/>
        </p:blipFill>
        <p:spPr>
          <a:xfrm>
            <a:off x="668244" y="2606772"/>
            <a:ext cx="199705" cy="199705"/>
          </a:xfrm>
          <a:prstGeom prst="rect">
            <a:avLst/>
          </a:prstGeom>
          <a:noFill/>
          <a:ln>
            <a:noFill/>
          </a:ln>
        </p:spPr>
      </p:pic>
      <p:sp>
        <p:nvSpPr>
          <p:cNvPr id="2035" name="Google Shape;2035;p89"/>
          <p:cNvSpPr txBox="1"/>
          <p:nvPr/>
        </p:nvSpPr>
        <p:spPr>
          <a:xfrm>
            <a:off x="11247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Be specific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Acknowledge the specific failure, not a generic "I understand your frustration".</a:t>
            </a:r>
            <a:endParaRPr b="0" i="0" sz="1200" u="none" cap="none" strike="noStrike">
              <a:solidFill>
                <a:schemeClr val="dk1"/>
              </a:solidFill>
              <a:latin typeface="Calibri"/>
              <a:ea typeface="Calibri"/>
              <a:cs typeface="Calibri"/>
              <a:sym typeface="Calibri"/>
            </a:endParaRPr>
          </a:p>
        </p:txBody>
      </p:sp>
      <p:sp>
        <p:nvSpPr>
          <p:cNvPr id="2036" name="Google Shape;2036;p89"/>
          <p:cNvSpPr/>
          <p:nvPr/>
        </p:nvSpPr>
        <p:spPr>
          <a:xfrm>
            <a:off x="46405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7" name="Google Shape;2037;p89"/>
          <p:cNvSpPr/>
          <p:nvPr/>
        </p:nvSpPr>
        <p:spPr>
          <a:xfrm>
            <a:off x="48051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38" name="Google Shape;2038;p89"/>
          <p:cNvPicPr preferRelativeResize="0"/>
          <p:nvPr/>
        </p:nvPicPr>
        <p:blipFill rotWithShape="1">
          <a:blip r:embed="rId6">
            <a:alphaModFix/>
          </a:blip>
          <a:srcRect b="0" l="0" r="0" t="0"/>
          <a:stretch/>
        </p:blipFill>
        <p:spPr>
          <a:xfrm>
            <a:off x="4897344" y="2606772"/>
            <a:ext cx="199705" cy="199705"/>
          </a:xfrm>
          <a:prstGeom prst="rect">
            <a:avLst/>
          </a:prstGeom>
          <a:noFill/>
          <a:ln>
            <a:noFill/>
          </a:ln>
        </p:spPr>
      </p:pic>
      <p:sp>
        <p:nvSpPr>
          <p:cNvPr id="2039" name="Google Shape;2039;p89"/>
          <p:cNvSpPr txBox="1"/>
          <p:nvPr/>
        </p:nvSpPr>
        <p:spPr>
          <a:xfrm>
            <a:off x="53538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Probe if vague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Give the customer space to say what went wrong.</a:t>
            </a:r>
            <a:endParaRPr b="0" i="0" sz="1200" u="none" cap="none" strike="noStrike">
              <a:solidFill>
                <a:schemeClr val="dk1"/>
              </a:solidFill>
              <a:latin typeface="Calibri"/>
              <a:ea typeface="Calibri"/>
              <a:cs typeface="Calibri"/>
              <a:sym typeface="Calibri"/>
            </a:endParaRPr>
          </a:p>
        </p:txBody>
      </p:sp>
      <p:sp>
        <p:nvSpPr>
          <p:cNvPr id="2040" name="Google Shape;2040;p89"/>
          <p:cNvSpPr/>
          <p:nvPr/>
        </p:nvSpPr>
        <p:spPr>
          <a:xfrm>
            <a:off x="4114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1" name="Google Shape;2041;p89"/>
          <p:cNvSpPr/>
          <p:nvPr/>
        </p:nvSpPr>
        <p:spPr>
          <a:xfrm>
            <a:off x="5760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42" name="Google Shape;2042;p89"/>
          <p:cNvPicPr preferRelativeResize="0"/>
          <p:nvPr/>
        </p:nvPicPr>
        <p:blipFill rotWithShape="1">
          <a:blip r:embed="rId7">
            <a:alphaModFix/>
          </a:blip>
          <a:srcRect b="0" l="0" r="0" t="0"/>
          <a:stretch/>
        </p:blipFill>
        <p:spPr>
          <a:xfrm>
            <a:off x="668244" y="3704052"/>
            <a:ext cx="199705" cy="199705"/>
          </a:xfrm>
          <a:prstGeom prst="rect">
            <a:avLst/>
          </a:prstGeom>
          <a:noFill/>
          <a:ln>
            <a:noFill/>
          </a:ln>
        </p:spPr>
      </p:pic>
      <p:sp>
        <p:nvSpPr>
          <p:cNvPr id="2043" name="Google Shape;2043;p89"/>
          <p:cNvSpPr txBox="1"/>
          <p:nvPr/>
        </p:nvSpPr>
        <p:spPr>
          <a:xfrm>
            <a:off x="11247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Don't over-probe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If they already described it in detail, asking more feels like you are not listening.</a:t>
            </a:r>
            <a:endParaRPr b="0" i="0" sz="1200" u="none" cap="none" strike="noStrike">
              <a:solidFill>
                <a:schemeClr val="dk1"/>
              </a:solidFill>
              <a:latin typeface="Calibri"/>
              <a:ea typeface="Calibri"/>
              <a:cs typeface="Calibri"/>
              <a:sym typeface="Calibri"/>
            </a:endParaRPr>
          </a:p>
        </p:txBody>
      </p:sp>
      <p:sp>
        <p:nvSpPr>
          <p:cNvPr id="2044" name="Google Shape;2044;p89"/>
          <p:cNvSpPr/>
          <p:nvPr/>
        </p:nvSpPr>
        <p:spPr>
          <a:xfrm>
            <a:off x="46405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5" name="Google Shape;2045;p89"/>
          <p:cNvSpPr/>
          <p:nvPr/>
        </p:nvSpPr>
        <p:spPr>
          <a:xfrm>
            <a:off x="48051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46" name="Google Shape;2046;p89"/>
          <p:cNvPicPr preferRelativeResize="0"/>
          <p:nvPr/>
        </p:nvPicPr>
        <p:blipFill rotWithShape="1">
          <a:blip r:embed="rId8">
            <a:alphaModFix/>
          </a:blip>
          <a:srcRect b="0" l="0" r="0" t="0"/>
          <a:stretch/>
        </p:blipFill>
        <p:spPr>
          <a:xfrm>
            <a:off x="4897344" y="3704052"/>
            <a:ext cx="199705" cy="199705"/>
          </a:xfrm>
          <a:prstGeom prst="rect">
            <a:avLst/>
          </a:prstGeom>
          <a:noFill/>
          <a:ln>
            <a:noFill/>
          </a:ln>
        </p:spPr>
      </p:pic>
      <p:sp>
        <p:nvSpPr>
          <p:cNvPr id="2047" name="Google Shape;2047;p89"/>
          <p:cNvSpPr txBox="1"/>
          <p:nvPr/>
        </p:nvSpPr>
        <p:spPr>
          <a:xfrm>
            <a:off x="53538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 cancel intent, no ETF talk</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Don't hint at waivers or cancellation terms. It plants the idea.</a:t>
            </a:r>
            <a:endParaRPr b="0" i="0" sz="1200" u="none" cap="none" strike="noStrike">
              <a:solidFill>
                <a:schemeClr val="dk1"/>
              </a:solidFill>
              <a:latin typeface="Calibri"/>
              <a:ea typeface="Calibri"/>
              <a:cs typeface="Calibri"/>
              <a:sym typeface="Calibri"/>
            </a:endParaRPr>
          </a:p>
        </p:txBody>
      </p:sp>
      <p:sp>
        <p:nvSpPr>
          <p:cNvPr id="2048" name="Google Shape;2048;p8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2" name="Shape 2052"/>
        <p:cNvGrpSpPr/>
        <p:nvPr/>
      </p:nvGrpSpPr>
      <p:grpSpPr>
        <a:xfrm>
          <a:off x="0" y="0"/>
          <a:ext cx="0" cy="0"/>
          <a:chOff x="0" y="0"/>
          <a:chExt cx="0" cy="0"/>
        </a:xfrm>
      </p:grpSpPr>
      <p:sp>
        <p:nvSpPr>
          <p:cNvPr id="2053" name="Google Shape;2053;p9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a:t>
            </a:r>
            <a:endParaRPr b="0" i="0" sz="800" u="none" cap="none" strike="noStrike">
              <a:solidFill>
                <a:schemeClr val="dk1"/>
              </a:solidFill>
              <a:latin typeface="Calibri"/>
              <a:ea typeface="Calibri"/>
              <a:cs typeface="Calibri"/>
              <a:sym typeface="Calibri"/>
            </a:endParaRPr>
          </a:p>
        </p:txBody>
      </p:sp>
      <p:sp>
        <p:nvSpPr>
          <p:cNvPr id="2054" name="Google Shape;2054;p9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Investigate first</a:t>
            </a:r>
            <a:endParaRPr b="0" i="0" sz="2400" u="none" cap="none" strike="noStrike">
              <a:solidFill>
                <a:schemeClr val="dk1"/>
              </a:solidFill>
              <a:latin typeface="Calibri"/>
              <a:ea typeface="Calibri"/>
              <a:cs typeface="Calibri"/>
              <a:sym typeface="Calibri"/>
            </a:endParaRPr>
          </a:p>
        </p:txBody>
      </p:sp>
      <p:sp>
        <p:nvSpPr>
          <p:cNvPr id="2055" name="Google Shape;2055;p90"/>
          <p:cNvSpPr/>
          <p:nvPr/>
        </p:nvSpPr>
        <p:spPr>
          <a:xfrm>
            <a:off x="4114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6" name="Google Shape;2056;p90"/>
          <p:cNvSpPr/>
          <p:nvPr/>
        </p:nvSpPr>
        <p:spPr>
          <a:xfrm>
            <a:off x="5760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57" name="Google Shape;2057;p90"/>
          <p:cNvPicPr preferRelativeResize="0"/>
          <p:nvPr/>
        </p:nvPicPr>
        <p:blipFill rotWithShape="1">
          <a:blip r:embed="rId3">
            <a:alphaModFix/>
          </a:blip>
          <a:srcRect b="0" l="0" r="0" t="0"/>
          <a:stretch/>
        </p:blipFill>
        <p:spPr>
          <a:xfrm>
            <a:off x="668244" y="1509492"/>
            <a:ext cx="199705" cy="199705"/>
          </a:xfrm>
          <a:prstGeom prst="rect">
            <a:avLst/>
          </a:prstGeom>
          <a:noFill/>
          <a:ln>
            <a:noFill/>
          </a:ln>
        </p:spPr>
      </p:pic>
      <p:sp>
        <p:nvSpPr>
          <p:cNvPr id="2058" name="Google Shape;2058;p90"/>
          <p:cNvSpPr txBox="1"/>
          <p:nvPr/>
        </p:nvSpPr>
        <p:spPr>
          <a:xfrm>
            <a:off x="11247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Job admin and history</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Which job, hours invoiced, CP identity, CP workload and ratings that day.</a:t>
            </a:r>
            <a:endParaRPr b="0" i="0" sz="1200" u="none" cap="none" strike="noStrike">
              <a:solidFill>
                <a:schemeClr val="dk1"/>
              </a:solidFill>
              <a:latin typeface="Calibri"/>
              <a:ea typeface="Calibri"/>
              <a:cs typeface="Calibri"/>
              <a:sym typeface="Calibri"/>
            </a:endParaRPr>
          </a:p>
        </p:txBody>
      </p:sp>
      <p:sp>
        <p:nvSpPr>
          <p:cNvPr id="2059" name="Google Shape;2059;p90"/>
          <p:cNvSpPr/>
          <p:nvPr/>
        </p:nvSpPr>
        <p:spPr>
          <a:xfrm>
            <a:off x="46405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0" name="Google Shape;2060;p90"/>
          <p:cNvSpPr/>
          <p:nvPr/>
        </p:nvSpPr>
        <p:spPr>
          <a:xfrm>
            <a:off x="48051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61" name="Google Shape;2061;p90"/>
          <p:cNvPicPr preferRelativeResize="0"/>
          <p:nvPr/>
        </p:nvPicPr>
        <p:blipFill rotWithShape="1">
          <a:blip r:embed="rId4">
            <a:alphaModFix/>
          </a:blip>
          <a:srcRect b="0" l="0" r="0" t="0"/>
          <a:stretch/>
        </p:blipFill>
        <p:spPr>
          <a:xfrm>
            <a:off x="4897344" y="1509492"/>
            <a:ext cx="199705" cy="199705"/>
          </a:xfrm>
          <a:prstGeom prst="rect">
            <a:avLst/>
          </a:prstGeom>
          <a:noFill/>
          <a:ln>
            <a:noFill/>
          </a:ln>
        </p:spPr>
      </p:pic>
      <p:sp>
        <p:nvSpPr>
          <p:cNvPr id="2062" name="Google Shape;2062;p90"/>
          <p:cNvSpPr txBox="1"/>
          <p:nvPr/>
        </p:nvSpPr>
        <p:spPr>
          <a:xfrm>
            <a:off x="53538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Messages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Customer-CP and customer-Care messages before the complaint.</a:t>
            </a:r>
            <a:endParaRPr b="0" i="0" sz="1200" u="none" cap="none" strike="noStrike">
              <a:solidFill>
                <a:schemeClr val="dk1"/>
              </a:solidFill>
              <a:latin typeface="Calibri"/>
              <a:ea typeface="Calibri"/>
              <a:cs typeface="Calibri"/>
              <a:sym typeface="Calibri"/>
            </a:endParaRPr>
          </a:p>
        </p:txBody>
      </p:sp>
      <p:sp>
        <p:nvSpPr>
          <p:cNvPr id="2063" name="Google Shape;2063;p90"/>
          <p:cNvSpPr/>
          <p:nvPr/>
        </p:nvSpPr>
        <p:spPr>
          <a:xfrm>
            <a:off x="4114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4" name="Google Shape;2064;p90"/>
          <p:cNvSpPr/>
          <p:nvPr/>
        </p:nvSpPr>
        <p:spPr>
          <a:xfrm>
            <a:off x="5760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65" name="Google Shape;2065;p90"/>
          <p:cNvPicPr preferRelativeResize="0"/>
          <p:nvPr/>
        </p:nvPicPr>
        <p:blipFill rotWithShape="1">
          <a:blip r:embed="rId5">
            <a:alphaModFix/>
          </a:blip>
          <a:srcRect b="0" l="0" r="0" t="0"/>
          <a:stretch/>
        </p:blipFill>
        <p:spPr>
          <a:xfrm>
            <a:off x="668244" y="2606772"/>
            <a:ext cx="199705" cy="199705"/>
          </a:xfrm>
          <a:prstGeom prst="rect">
            <a:avLst/>
          </a:prstGeom>
          <a:noFill/>
          <a:ln>
            <a:noFill/>
          </a:ln>
        </p:spPr>
      </p:pic>
      <p:sp>
        <p:nvSpPr>
          <p:cNvPr id="2066" name="Google Shape;2066;p90"/>
          <p:cNvSpPr txBox="1"/>
          <p:nvPr/>
        </p:nvSpPr>
        <p:spPr>
          <a:xfrm>
            <a:off x="11247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Supplies overlap</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Still PCQ if the cleaning was actually poor. Happy with the cleaning but annoyed about supplies is lower severity.</a:t>
            </a:r>
            <a:endParaRPr b="0" i="0" sz="1200" u="none" cap="none" strike="noStrike">
              <a:solidFill>
                <a:schemeClr val="dk1"/>
              </a:solidFill>
              <a:latin typeface="Calibri"/>
              <a:ea typeface="Calibri"/>
              <a:cs typeface="Calibri"/>
              <a:sym typeface="Calibri"/>
            </a:endParaRPr>
          </a:p>
        </p:txBody>
      </p:sp>
      <p:sp>
        <p:nvSpPr>
          <p:cNvPr id="2067" name="Google Shape;2067;p90"/>
          <p:cNvSpPr/>
          <p:nvPr/>
        </p:nvSpPr>
        <p:spPr>
          <a:xfrm>
            <a:off x="46405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8" name="Google Shape;2068;p90"/>
          <p:cNvSpPr/>
          <p:nvPr/>
        </p:nvSpPr>
        <p:spPr>
          <a:xfrm>
            <a:off x="48051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69" name="Google Shape;2069;p90"/>
          <p:cNvPicPr preferRelativeResize="0"/>
          <p:nvPr/>
        </p:nvPicPr>
        <p:blipFill rotWithShape="1">
          <a:blip r:embed="rId6">
            <a:alphaModFix/>
          </a:blip>
          <a:srcRect b="0" l="0" r="0" t="0"/>
          <a:stretch/>
        </p:blipFill>
        <p:spPr>
          <a:xfrm>
            <a:off x="4897344" y="2606772"/>
            <a:ext cx="199705" cy="199705"/>
          </a:xfrm>
          <a:prstGeom prst="rect">
            <a:avLst/>
          </a:prstGeom>
          <a:noFill/>
          <a:ln>
            <a:noFill/>
          </a:ln>
        </p:spPr>
      </p:pic>
      <p:sp>
        <p:nvSpPr>
          <p:cNvPr id="2070" name="Google Shape;2070;p90"/>
          <p:cNvSpPr txBox="1"/>
          <p:nvPr/>
        </p:nvSpPr>
        <p:spPr>
          <a:xfrm>
            <a:off x="53538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Refund status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Refund request already submitted? Is the 72-hour window still open?</a:t>
            </a:r>
            <a:endParaRPr b="0" i="0" sz="1200" u="none" cap="none" strike="noStrike">
              <a:solidFill>
                <a:schemeClr val="dk1"/>
              </a:solidFill>
              <a:latin typeface="Calibri"/>
              <a:ea typeface="Calibri"/>
              <a:cs typeface="Calibri"/>
              <a:sym typeface="Calibri"/>
            </a:endParaRPr>
          </a:p>
        </p:txBody>
      </p:sp>
      <p:sp>
        <p:nvSpPr>
          <p:cNvPr id="2071" name="Google Shape;2071;p90"/>
          <p:cNvSpPr/>
          <p:nvPr/>
        </p:nvSpPr>
        <p:spPr>
          <a:xfrm>
            <a:off x="4114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2" name="Google Shape;2072;p90"/>
          <p:cNvSpPr/>
          <p:nvPr/>
        </p:nvSpPr>
        <p:spPr>
          <a:xfrm>
            <a:off x="5760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73" name="Google Shape;2073;p90"/>
          <p:cNvPicPr preferRelativeResize="0"/>
          <p:nvPr/>
        </p:nvPicPr>
        <p:blipFill rotWithShape="1">
          <a:blip r:embed="rId7">
            <a:alphaModFix/>
          </a:blip>
          <a:srcRect b="0" l="0" r="0" t="0"/>
          <a:stretch/>
        </p:blipFill>
        <p:spPr>
          <a:xfrm>
            <a:off x="668244" y="3704052"/>
            <a:ext cx="199705" cy="199705"/>
          </a:xfrm>
          <a:prstGeom prst="rect">
            <a:avLst/>
          </a:prstGeom>
          <a:noFill/>
          <a:ln>
            <a:noFill/>
          </a:ln>
        </p:spPr>
      </p:pic>
      <p:sp>
        <p:nvSpPr>
          <p:cNvPr id="2074" name="Google Shape;2074;p90"/>
          <p:cNvSpPr txBox="1"/>
          <p:nvPr/>
        </p:nvSpPr>
        <p:spPr>
          <a:xfrm>
            <a:off x="11247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Voucher status</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Was an admin courtesy voucher auto-issued? Used or unused?</a:t>
            </a:r>
            <a:endParaRPr b="0" i="0" sz="1200" u="none" cap="none" strike="noStrike">
              <a:solidFill>
                <a:schemeClr val="dk1"/>
              </a:solidFill>
              <a:latin typeface="Calibri"/>
              <a:ea typeface="Calibri"/>
              <a:cs typeface="Calibri"/>
              <a:sym typeface="Calibri"/>
            </a:endParaRPr>
          </a:p>
        </p:txBody>
      </p:sp>
      <p:sp>
        <p:nvSpPr>
          <p:cNvPr id="2075" name="Google Shape;2075;p90"/>
          <p:cNvSpPr/>
          <p:nvPr/>
        </p:nvSpPr>
        <p:spPr>
          <a:xfrm>
            <a:off x="46405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6" name="Google Shape;2076;p90"/>
          <p:cNvSpPr/>
          <p:nvPr/>
        </p:nvSpPr>
        <p:spPr>
          <a:xfrm>
            <a:off x="48051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77" name="Google Shape;2077;p90"/>
          <p:cNvPicPr preferRelativeResize="0"/>
          <p:nvPr/>
        </p:nvPicPr>
        <p:blipFill rotWithShape="1">
          <a:blip r:embed="rId8">
            <a:alphaModFix/>
          </a:blip>
          <a:srcRect b="0" l="0" r="0" t="0"/>
          <a:stretch/>
        </p:blipFill>
        <p:spPr>
          <a:xfrm>
            <a:off x="4897344" y="3704052"/>
            <a:ext cx="199705" cy="199705"/>
          </a:xfrm>
          <a:prstGeom prst="rect">
            <a:avLst/>
          </a:prstGeom>
          <a:noFill/>
          <a:ln>
            <a:noFill/>
          </a:ln>
        </p:spPr>
      </p:pic>
      <p:sp>
        <p:nvSpPr>
          <p:cNvPr id="2078" name="Google Shape;2078;p90"/>
          <p:cNvSpPr txBox="1"/>
          <p:nvPr/>
        </p:nvSpPr>
        <p:spPr>
          <a:xfrm>
            <a:off x="53538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Pattern check</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Isolated, or linked to a prior PCQ job? Don't assume cancel intent from a pattern.</a:t>
            </a:r>
            <a:endParaRPr b="0" i="0" sz="1200" u="none" cap="none" strike="noStrike">
              <a:solidFill>
                <a:schemeClr val="dk1"/>
              </a:solidFill>
              <a:latin typeface="Calibri"/>
              <a:ea typeface="Calibri"/>
              <a:cs typeface="Calibri"/>
              <a:sym typeface="Calibri"/>
            </a:endParaRPr>
          </a:p>
        </p:txBody>
      </p:sp>
      <p:sp>
        <p:nvSpPr>
          <p:cNvPr id="2079" name="Google Shape;2079;p9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3" name="Shape 2083"/>
        <p:cNvGrpSpPr/>
        <p:nvPr/>
      </p:nvGrpSpPr>
      <p:grpSpPr>
        <a:xfrm>
          <a:off x="0" y="0"/>
          <a:ext cx="0" cy="0"/>
          <a:chOff x="0" y="0"/>
          <a:chExt cx="0" cy="0"/>
        </a:xfrm>
      </p:grpSpPr>
      <p:sp>
        <p:nvSpPr>
          <p:cNvPr id="2084" name="Google Shape;2084;p9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a:t>
            </a:r>
            <a:endParaRPr b="0" i="0" sz="800" u="none" cap="none" strike="noStrike">
              <a:solidFill>
                <a:schemeClr val="dk1"/>
              </a:solidFill>
              <a:latin typeface="Calibri"/>
              <a:ea typeface="Calibri"/>
              <a:cs typeface="Calibri"/>
              <a:sym typeface="Calibri"/>
            </a:endParaRPr>
          </a:p>
        </p:txBody>
      </p:sp>
      <p:sp>
        <p:nvSpPr>
          <p:cNvPr id="2085" name="Google Shape;2085;p9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Refund request rules</a:t>
            </a:r>
            <a:endParaRPr b="0" i="0" sz="2400" u="none" cap="none" strike="noStrike">
              <a:solidFill>
                <a:schemeClr val="dk1"/>
              </a:solidFill>
              <a:latin typeface="Calibri"/>
              <a:ea typeface="Calibri"/>
              <a:cs typeface="Calibri"/>
              <a:sym typeface="Calibri"/>
            </a:endParaRPr>
          </a:p>
        </p:txBody>
      </p:sp>
      <p:sp>
        <p:nvSpPr>
          <p:cNvPr id="2086" name="Google Shape;2086;p9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Check these before you point a customer to the refund button.</a:t>
            </a:r>
            <a:endParaRPr b="0" i="0" sz="1200" u="none" cap="none" strike="noStrike">
              <a:solidFill>
                <a:schemeClr val="dk1"/>
              </a:solidFill>
              <a:latin typeface="Calibri"/>
              <a:ea typeface="Calibri"/>
              <a:cs typeface="Calibri"/>
              <a:sym typeface="Calibri"/>
            </a:endParaRPr>
          </a:p>
        </p:txBody>
      </p:sp>
      <p:graphicFrame>
        <p:nvGraphicFramePr>
          <p:cNvPr id="2087" name="Google Shape;2087;p91"/>
          <p:cNvGraphicFramePr/>
          <p:nvPr/>
        </p:nvGraphicFramePr>
        <p:xfrm>
          <a:off x="411480" y="1234440"/>
          <a:ext cx="3000000" cy="3000000"/>
        </p:xfrm>
        <a:graphic>
          <a:graphicData uri="http://schemas.openxmlformats.org/drawingml/2006/table">
            <a:tbl>
              <a:tblPr>
                <a:noFill/>
                <a:tableStyleId>{1110B021-F78A-4E02-AF73-8366E27A90AE}</a:tableStyleId>
              </a:tblPr>
              <a:tblGrid>
                <a:gridCol w="2000000"/>
                <a:gridCol w="63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Rule</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Detail</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Request window</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Customers can self-submit within 72 hours of invoice from the dashboard. The system allows up to 96 hours. That is internal only.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Window blockers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Invoiced more than 72 hours ago; an active voucher exists for the job; 2+ existing refund requests tagged cleaning quality/speed; customer said they don't want a refund.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Admin courtesy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 3-hour voucher is auto-issued for a rating of 3 stars or less, or "I want a different cleaner". Full refund options may be unavailable while it is active.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Non-consecutive PCQ</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Treat as general dissatisfaction. Investigate the root cause and offer standard resolutions.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2088" name="Google Shape;2088;p91"/>
          <p:cNvSpPr/>
          <p:nvPr/>
        </p:nvSpPr>
        <p:spPr>
          <a:xfrm>
            <a:off x="411480" y="306279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89" name="Google Shape;2089;p91"/>
          <p:cNvPicPr preferRelativeResize="0"/>
          <p:nvPr/>
        </p:nvPicPr>
        <p:blipFill rotWithShape="1">
          <a:blip r:embed="rId3">
            <a:alphaModFix/>
          </a:blip>
          <a:srcRect b="0" l="0" r="0" t="0"/>
          <a:stretch/>
        </p:blipFill>
        <p:spPr>
          <a:xfrm>
            <a:off x="566928" y="3172518"/>
            <a:ext cx="164592" cy="164592"/>
          </a:xfrm>
          <a:prstGeom prst="rect">
            <a:avLst/>
          </a:prstGeom>
          <a:noFill/>
          <a:ln>
            <a:noFill/>
          </a:ln>
        </p:spPr>
      </p:pic>
      <p:sp>
        <p:nvSpPr>
          <p:cNvPr id="2090" name="Google Shape;2090;p91"/>
          <p:cNvSpPr txBox="1"/>
          <p:nvPr/>
        </p:nvSpPr>
        <p:spPr>
          <a:xfrm>
            <a:off x="822960" y="316337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Never disclose:</a:t>
            </a:r>
            <a:r>
              <a:rPr b="0" i="0" lang="en" sz="1000" u="none" cap="none" strike="noStrike">
                <a:solidFill>
                  <a:srgbClr val="1D1D1F"/>
                </a:solidFill>
                <a:latin typeface="Arial"/>
                <a:ea typeface="Arial"/>
                <a:cs typeface="Arial"/>
                <a:sym typeface="Arial"/>
              </a:rPr>
              <a:t>the 96-hour window. Disclosing it is a ZTP Level 2 violation.</a:t>
            </a:r>
            <a:endParaRPr b="0" i="0" sz="1000" u="none" cap="none" strike="noStrike">
              <a:solidFill>
                <a:schemeClr val="dk1"/>
              </a:solidFill>
              <a:latin typeface="Calibri"/>
              <a:ea typeface="Calibri"/>
              <a:cs typeface="Calibri"/>
              <a:sym typeface="Calibri"/>
            </a:endParaRPr>
          </a:p>
        </p:txBody>
      </p:sp>
      <p:sp>
        <p:nvSpPr>
          <p:cNvPr id="2091" name="Google Shape;2091;p9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5" name="Shape 2095"/>
        <p:cNvGrpSpPr/>
        <p:nvPr/>
      </p:nvGrpSpPr>
      <p:grpSpPr>
        <a:xfrm>
          <a:off x="0" y="0"/>
          <a:ext cx="0" cy="0"/>
          <a:chOff x="0" y="0"/>
          <a:chExt cx="0" cy="0"/>
        </a:xfrm>
      </p:grpSpPr>
      <p:sp>
        <p:nvSpPr>
          <p:cNvPr id="2096" name="Google Shape;2096;p9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a:t>
            </a:r>
            <a:endParaRPr b="0" i="0" sz="800" u="none" cap="none" strike="noStrike">
              <a:solidFill>
                <a:schemeClr val="dk1"/>
              </a:solidFill>
              <a:latin typeface="Calibri"/>
              <a:ea typeface="Calibri"/>
              <a:cs typeface="Calibri"/>
              <a:sym typeface="Calibri"/>
            </a:endParaRPr>
          </a:p>
        </p:txBody>
      </p:sp>
      <p:sp>
        <p:nvSpPr>
          <p:cNvPr id="2097" name="Google Shape;2097;p9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Required agent actions</a:t>
            </a:r>
            <a:endParaRPr b="0" i="0" sz="2400" u="none" cap="none" strike="noStrike">
              <a:solidFill>
                <a:schemeClr val="dk1"/>
              </a:solidFill>
              <a:latin typeface="Calibri"/>
              <a:ea typeface="Calibri"/>
              <a:cs typeface="Calibri"/>
              <a:sym typeface="Calibri"/>
            </a:endParaRPr>
          </a:p>
        </p:txBody>
      </p:sp>
      <p:sp>
        <p:nvSpPr>
          <p:cNvPr id="2098" name="Google Shape;2098;p9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Work through all four areas.</a:t>
            </a:r>
            <a:endParaRPr b="0" i="0" sz="1200" u="none" cap="none" strike="noStrike">
              <a:solidFill>
                <a:schemeClr val="dk1"/>
              </a:solidFill>
              <a:latin typeface="Calibri"/>
              <a:ea typeface="Calibri"/>
              <a:cs typeface="Calibri"/>
              <a:sym typeface="Calibri"/>
            </a:endParaRPr>
          </a:p>
        </p:txBody>
      </p:sp>
      <p:graphicFrame>
        <p:nvGraphicFramePr>
          <p:cNvPr id="2099" name="Google Shape;2099;p92"/>
          <p:cNvGraphicFramePr/>
          <p:nvPr/>
        </p:nvGraphicFramePr>
        <p:xfrm>
          <a:off x="411480" y="1234440"/>
          <a:ext cx="3000000" cy="3000000"/>
        </p:xfrm>
        <a:graphic>
          <a:graphicData uri="http://schemas.openxmlformats.org/drawingml/2006/table">
            <a:tbl>
              <a:tblPr>
                <a:noFill/>
                <a:tableStyleId>{1110B021-F78A-4E02-AF73-8366E27A90AE}</a:tableStyleId>
              </a:tblPr>
              <a:tblGrid>
                <a:gridCol w="1700000"/>
                <a:gridCol w="66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Area</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Action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Customer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Empathize with the specific experience. Probe if the explanation is vague.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Resolution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Check refund request eligibility and blockers. Refund the Premium Upsell Fee if charged (confirmed service issue). Refund the Priority Markup Fee only if the customer asks.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Account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Flag the job as customer_unsatisfied in job admin if no review yet. Block the C/CP pairing unless the customer wants the same CP. Cancel upcoming appointments or RC only if they no longer want the service.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Coach or penalize as necessary. Handle any cleaning supplies issue.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2100" name="Google Shape;2100;p9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4" name="Shape 2104"/>
        <p:cNvGrpSpPr/>
        <p:nvPr/>
      </p:nvGrpSpPr>
      <p:grpSpPr>
        <a:xfrm>
          <a:off x="0" y="0"/>
          <a:ext cx="0" cy="0"/>
          <a:chOff x="0" y="0"/>
          <a:chExt cx="0" cy="0"/>
        </a:xfrm>
      </p:grpSpPr>
      <p:sp>
        <p:nvSpPr>
          <p:cNvPr id="2105" name="Google Shape;2105;p9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a:t>
            </a:r>
            <a:endParaRPr b="0" i="0" sz="800" u="none" cap="none" strike="noStrike">
              <a:solidFill>
                <a:schemeClr val="dk1"/>
              </a:solidFill>
              <a:latin typeface="Calibri"/>
              <a:ea typeface="Calibri"/>
              <a:cs typeface="Calibri"/>
              <a:sym typeface="Calibri"/>
            </a:endParaRPr>
          </a:p>
        </p:txBody>
      </p:sp>
      <p:sp>
        <p:nvSpPr>
          <p:cNvPr id="2106" name="Google Shape;2106;p9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PCQ recovery and retention matrix</a:t>
            </a:r>
            <a:endParaRPr b="0" i="0" sz="2400" u="none" cap="none" strike="noStrike">
              <a:solidFill>
                <a:schemeClr val="dk1"/>
              </a:solidFill>
              <a:latin typeface="Calibri"/>
              <a:ea typeface="Calibri"/>
              <a:cs typeface="Calibri"/>
              <a:sym typeface="Calibri"/>
            </a:endParaRPr>
          </a:p>
        </p:txBody>
      </p:sp>
      <p:sp>
        <p:nvSpPr>
          <p:cNvPr id="2107" name="Google Shape;2107;p9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Start with the recovery objective, not the offer.</a:t>
            </a:r>
            <a:endParaRPr b="0" i="0" sz="1200" u="none" cap="none" strike="noStrike">
              <a:solidFill>
                <a:schemeClr val="dk1"/>
              </a:solidFill>
              <a:latin typeface="Calibri"/>
              <a:ea typeface="Calibri"/>
              <a:cs typeface="Calibri"/>
              <a:sym typeface="Calibri"/>
            </a:endParaRPr>
          </a:p>
        </p:txBody>
      </p:sp>
      <p:graphicFrame>
        <p:nvGraphicFramePr>
          <p:cNvPr id="2108" name="Google Shape;2108;p93"/>
          <p:cNvGraphicFramePr/>
          <p:nvPr/>
        </p:nvGraphicFramePr>
        <p:xfrm>
          <a:off x="411480" y="1234440"/>
          <a:ext cx="3000000" cy="3000000"/>
        </p:xfrm>
        <a:graphic>
          <a:graphicData uri="http://schemas.openxmlformats.org/drawingml/2006/table">
            <a:tbl>
              <a:tblPr>
                <a:noFill/>
                <a:tableStyleId>{1110B021-F78A-4E02-AF73-8366E27A90AE}</a:tableStyleId>
              </a:tblPr>
              <a:tblGrid>
                <a:gridCol w="2300000"/>
                <a:gridCol w="2000000"/>
                <a:gridCol w="2300000"/>
                <a:gridCol w="17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Scenario</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DHJ</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FCF</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Non-FC</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PCQ, job under 4 hrs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 hr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 hr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 hr voucher or $20 credits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PCQ, job 4 hrs or more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2 hr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2 hr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 hr voucher or $20 credits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485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Cancel intent due to PCQ</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Standard recovery + ETF waived if the next consecutive cleaning also has a serious issue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Standard recovery + 1 free month + ETF waived if the next consecutive cleaning also has a serious issue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N/A</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High-loyalty customer (e.g. 13 invoiced jobs, 9 paid months)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Full admin refund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Full admin refund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Full admin refund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2109" name="Google Shape;2109;p93"/>
          <p:cNvSpPr/>
          <p:nvPr/>
        </p:nvSpPr>
        <p:spPr>
          <a:xfrm>
            <a:off x="411480" y="3176965"/>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10" name="Google Shape;2110;p93"/>
          <p:cNvPicPr preferRelativeResize="0"/>
          <p:nvPr/>
        </p:nvPicPr>
        <p:blipFill rotWithShape="1">
          <a:blip r:embed="rId3">
            <a:alphaModFix/>
          </a:blip>
          <a:srcRect b="0" l="0" r="0" t="0"/>
          <a:stretch/>
        </p:blipFill>
        <p:spPr>
          <a:xfrm>
            <a:off x="566928" y="3286693"/>
            <a:ext cx="164592" cy="164592"/>
          </a:xfrm>
          <a:prstGeom prst="rect">
            <a:avLst/>
          </a:prstGeom>
          <a:noFill/>
          <a:ln>
            <a:noFill/>
          </a:ln>
        </p:spPr>
      </p:pic>
      <p:sp>
        <p:nvSpPr>
          <p:cNvPr id="2111" name="Google Shape;2111;p93"/>
          <p:cNvSpPr txBox="1"/>
          <p:nvPr/>
        </p:nvSpPr>
        <p:spPr>
          <a:xfrm>
            <a:off x="822960" y="3277549"/>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Offer only when:</a:t>
            </a:r>
            <a:r>
              <a:rPr b="0" i="0" lang="en" sz="1000" u="none" cap="none" strike="noStrike">
                <a:solidFill>
                  <a:srgbClr val="1D1D1F"/>
                </a:solidFill>
                <a:latin typeface="Arial"/>
                <a:ea typeface="Arial"/>
                <a:cs typeface="Arial"/>
                <a:sym typeface="Arial"/>
              </a:rPr>
              <a:t>there is a confirmed service issue and the customer is clearly upset, hesitant to continue or has lost confidence.</a:t>
            </a:r>
            <a:endParaRPr b="0" i="0" sz="1000" u="none" cap="none" strike="noStrike">
              <a:solidFill>
                <a:schemeClr val="dk1"/>
              </a:solidFill>
              <a:latin typeface="Calibri"/>
              <a:ea typeface="Calibri"/>
              <a:cs typeface="Calibri"/>
              <a:sym typeface="Calibri"/>
            </a:endParaRPr>
          </a:p>
        </p:txBody>
      </p:sp>
      <p:sp>
        <p:nvSpPr>
          <p:cNvPr id="2112" name="Google Shape;2112;p9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6" name="Shape 2116"/>
        <p:cNvGrpSpPr/>
        <p:nvPr/>
      </p:nvGrpSpPr>
      <p:grpSpPr>
        <a:xfrm>
          <a:off x="0" y="0"/>
          <a:ext cx="0" cy="0"/>
          <a:chOff x="0" y="0"/>
          <a:chExt cx="0" cy="0"/>
        </a:xfrm>
      </p:grpSpPr>
      <p:sp>
        <p:nvSpPr>
          <p:cNvPr id="2117" name="Google Shape;2117;p9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a:t>
            </a:r>
            <a:endParaRPr b="0" i="0" sz="800" u="none" cap="none" strike="noStrike">
              <a:solidFill>
                <a:schemeClr val="dk1"/>
              </a:solidFill>
              <a:latin typeface="Calibri"/>
              <a:ea typeface="Calibri"/>
              <a:cs typeface="Calibri"/>
              <a:sym typeface="Calibri"/>
            </a:endParaRPr>
          </a:p>
        </p:txBody>
      </p:sp>
      <p:sp>
        <p:nvSpPr>
          <p:cNvPr id="2118" name="Google Shape;2118;p9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Why the offers differ</a:t>
            </a:r>
            <a:endParaRPr b="0" i="0" sz="2400" u="none" cap="none" strike="noStrike">
              <a:solidFill>
                <a:schemeClr val="dk1"/>
              </a:solidFill>
              <a:latin typeface="Calibri"/>
              <a:ea typeface="Calibri"/>
              <a:cs typeface="Calibri"/>
              <a:sym typeface="Calibri"/>
            </a:endParaRPr>
          </a:p>
        </p:txBody>
      </p:sp>
      <p:sp>
        <p:nvSpPr>
          <p:cNvPr id="2119" name="Google Shape;2119;p9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Retain first, waive second.</a:t>
            </a:r>
            <a:endParaRPr b="0" i="0" sz="1200" u="none" cap="none" strike="noStrike">
              <a:solidFill>
                <a:schemeClr val="dk1"/>
              </a:solidFill>
              <a:latin typeface="Calibri"/>
              <a:ea typeface="Calibri"/>
              <a:cs typeface="Calibri"/>
              <a:sym typeface="Calibri"/>
            </a:endParaRPr>
          </a:p>
        </p:txBody>
      </p:sp>
      <p:sp>
        <p:nvSpPr>
          <p:cNvPr id="2120" name="Google Shape;2120;p94"/>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1" name="Google Shape;2121;p94"/>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22" name="Google Shape;2122;p94"/>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123" name="Google Shape;2123;p94"/>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Free month for FCF</a:t>
            </a:r>
            <a:endParaRPr b="0" i="0" sz="1200" u="none" cap="none" strike="noStrike">
              <a:solidFill>
                <a:schemeClr val="dk1"/>
              </a:solidFill>
              <a:latin typeface="Calibri"/>
              <a:ea typeface="Calibri"/>
              <a:cs typeface="Calibri"/>
              <a:sym typeface="Calibri"/>
            </a:endParaRPr>
          </a:p>
        </p:txBody>
      </p:sp>
      <p:sp>
        <p:nvSpPr>
          <p:cNvPr id="2124" name="Google Shape;2124;p94"/>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FCF membership begins at purchase. A poor first experience means lost membership value, so one free month restores it.</a:t>
            </a:r>
            <a:endParaRPr b="0" i="0" sz="950" u="none" cap="none" strike="noStrike">
              <a:solidFill>
                <a:schemeClr val="dk1"/>
              </a:solidFill>
              <a:latin typeface="Calibri"/>
              <a:ea typeface="Calibri"/>
              <a:cs typeface="Calibri"/>
              <a:sym typeface="Calibri"/>
            </a:endParaRPr>
          </a:p>
        </p:txBody>
      </p:sp>
      <p:sp>
        <p:nvSpPr>
          <p:cNvPr id="2125" name="Google Shape;2125;p94"/>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6" name="Google Shape;2126;p94"/>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27" name="Google Shape;2127;p94"/>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128" name="Google Shape;2128;p94"/>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ETF waiver promise</a:t>
            </a:r>
            <a:endParaRPr b="0" i="0" sz="1200" u="none" cap="none" strike="noStrike">
              <a:solidFill>
                <a:schemeClr val="dk1"/>
              </a:solidFill>
              <a:latin typeface="Calibri"/>
              <a:ea typeface="Calibri"/>
              <a:cs typeface="Calibri"/>
              <a:sym typeface="Calibri"/>
            </a:endParaRPr>
          </a:p>
        </p:txBody>
      </p:sp>
      <p:sp>
        <p:nvSpPr>
          <p:cNvPr id="2129" name="Google Shape;2129;p94"/>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Offer one more chance with a different cleaner. If the next consecutive cleaning also has a confirmed serious issue, waive the ETF.</a:t>
            </a:r>
            <a:endParaRPr b="0" i="0" sz="950" u="none" cap="none" strike="noStrike">
              <a:solidFill>
                <a:schemeClr val="dk1"/>
              </a:solidFill>
              <a:latin typeface="Calibri"/>
              <a:ea typeface="Calibri"/>
              <a:cs typeface="Calibri"/>
              <a:sym typeface="Calibri"/>
            </a:endParaRPr>
          </a:p>
        </p:txBody>
      </p:sp>
      <p:sp>
        <p:nvSpPr>
          <p:cNvPr id="2130" name="Google Shape;2130;p94"/>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1" name="Google Shape;2131;p94"/>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32" name="Google Shape;2132;p94"/>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2133" name="Google Shape;2133;p94"/>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Full admin refund</a:t>
            </a:r>
            <a:endParaRPr b="0" i="0" sz="1200" u="none" cap="none" strike="noStrike">
              <a:solidFill>
                <a:schemeClr val="dk1"/>
              </a:solidFill>
              <a:latin typeface="Calibri"/>
              <a:ea typeface="Calibri"/>
              <a:cs typeface="Calibri"/>
              <a:sym typeface="Calibri"/>
            </a:endParaRPr>
          </a:p>
        </p:txBody>
      </p:sp>
      <p:sp>
        <p:nvSpPr>
          <p:cNvPr id="2134" name="Google Shape;2134;p94"/>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Loyal customers have trusted us across many jobs. Preserving the relationship is worth more than another recovery attempt.</a:t>
            </a:r>
            <a:endParaRPr b="0" i="0" sz="950" u="none" cap="none" strike="noStrike">
              <a:solidFill>
                <a:schemeClr val="dk1"/>
              </a:solidFill>
              <a:latin typeface="Calibri"/>
              <a:ea typeface="Calibri"/>
              <a:cs typeface="Calibri"/>
              <a:sym typeface="Calibri"/>
            </a:endParaRPr>
          </a:p>
        </p:txBody>
      </p:sp>
      <p:sp>
        <p:nvSpPr>
          <p:cNvPr id="2135" name="Google Shape;2135;p94"/>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36" name="Google Shape;2136;p94"/>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2137" name="Google Shape;2137;p94"/>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Non-FC:</a:t>
            </a:r>
            <a:r>
              <a:rPr b="0" i="0" lang="en" sz="1000" u="none" cap="none" strike="noStrike">
                <a:solidFill>
                  <a:srgbClr val="1D1D1F"/>
                </a:solidFill>
                <a:latin typeface="Arial"/>
                <a:ea typeface="Arial"/>
                <a:cs typeface="Arial"/>
                <a:sym typeface="Arial"/>
              </a:rPr>
              <a:t>smaller offer (1 hr voucher or $20 credits). No active membership, so recovery fixes the affected cleaning rather than retaining.</a:t>
            </a:r>
            <a:endParaRPr b="0" i="0" sz="1000" u="none" cap="none" strike="noStrike">
              <a:solidFill>
                <a:schemeClr val="dk1"/>
              </a:solidFill>
              <a:latin typeface="Calibri"/>
              <a:ea typeface="Calibri"/>
              <a:cs typeface="Calibri"/>
              <a:sym typeface="Calibri"/>
            </a:endParaRPr>
          </a:p>
        </p:txBody>
      </p:sp>
      <p:sp>
        <p:nvSpPr>
          <p:cNvPr id="2138" name="Google Shape;2138;p9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id="2143" name="Google Shape;2143;p9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a:t>
            </a:r>
            <a:endParaRPr b="0" i="0" sz="800" u="none" cap="none" strike="noStrike">
              <a:solidFill>
                <a:schemeClr val="dk1"/>
              </a:solidFill>
              <a:latin typeface="Calibri"/>
              <a:ea typeface="Calibri"/>
              <a:cs typeface="Calibri"/>
              <a:sym typeface="Calibri"/>
            </a:endParaRPr>
          </a:p>
        </p:txBody>
      </p:sp>
      <p:sp>
        <p:nvSpPr>
          <p:cNvPr id="2144" name="Google Shape;2144;p9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Two kinds of refund</a:t>
            </a:r>
            <a:endParaRPr b="0" i="0" sz="2400" u="none" cap="none" strike="noStrike">
              <a:solidFill>
                <a:schemeClr val="dk1"/>
              </a:solidFill>
              <a:latin typeface="Calibri"/>
              <a:ea typeface="Calibri"/>
              <a:cs typeface="Calibri"/>
              <a:sym typeface="Calibri"/>
            </a:endParaRPr>
          </a:p>
        </p:txBody>
      </p:sp>
      <p:sp>
        <p:nvSpPr>
          <p:cNvPr id="2145" name="Google Shape;2145;p9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They are not interchangeable.</a:t>
            </a:r>
            <a:endParaRPr b="0" i="0" sz="1200" u="none" cap="none" strike="noStrike">
              <a:solidFill>
                <a:schemeClr val="dk1"/>
              </a:solidFill>
              <a:latin typeface="Calibri"/>
              <a:ea typeface="Calibri"/>
              <a:cs typeface="Calibri"/>
              <a:sym typeface="Calibri"/>
            </a:endParaRPr>
          </a:p>
        </p:txBody>
      </p:sp>
      <p:sp>
        <p:nvSpPr>
          <p:cNvPr id="2146" name="Google Shape;2146;p95"/>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7" name="Google Shape;2147;p95"/>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48" name="Google Shape;2148;p9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149" name="Google Shape;2149;p95"/>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Refund request</a:t>
            </a:r>
            <a:endParaRPr b="0" i="0" sz="1200" u="none" cap="none" strike="noStrike">
              <a:solidFill>
                <a:schemeClr val="dk1"/>
              </a:solidFill>
              <a:latin typeface="Calibri"/>
              <a:ea typeface="Calibri"/>
              <a:cs typeface="Calibri"/>
              <a:sym typeface="Calibri"/>
            </a:endParaRPr>
          </a:p>
        </p:txBody>
      </p:sp>
      <p:sp>
        <p:nvSpPr>
          <p:cNvPr id="2150" name="Google Shape;2150;p95"/>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cleaner's call. Customer submits within 72 hours. The CP may accept or decline and has 7 days to respond. Never promise it.</a:t>
            </a:r>
            <a:endParaRPr b="0" i="0" sz="950" u="none" cap="none" strike="noStrike">
              <a:solidFill>
                <a:schemeClr val="dk1"/>
              </a:solidFill>
              <a:latin typeface="Calibri"/>
              <a:ea typeface="Calibri"/>
              <a:cs typeface="Calibri"/>
              <a:sym typeface="Calibri"/>
            </a:endParaRPr>
          </a:p>
        </p:txBody>
      </p:sp>
      <p:sp>
        <p:nvSpPr>
          <p:cNvPr id="2151" name="Google Shape;2151;p95"/>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2" name="Google Shape;2152;p95"/>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53" name="Google Shape;2153;p9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154" name="Google Shape;2154;p95"/>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Admin refund</a:t>
            </a:r>
            <a:endParaRPr b="0" i="0" sz="1200" u="none" cap="none" strike="noStrike">
              <a:solidFill>
                <a:schemeClr val="dk1"/>
              </a:solidFill>
              <a:latin typeface="Calibri"/>
              <a:ea typeface="Calibri"/>
              <a:cs typeface="Calibri"/>
              <a:sym typeface="Calibri"/>
            </a:endParaRPr>
          </a:p>
        </p:txBody>
      </p:sp>
      <p:sp>
        <p:nvSpPr>
          <p:cNvPr id="2155" name="Google Shape;2155;p95"/>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Ours. Comes from Homeaglow, and the CP is still paid in full. Used for the high-loyalty row.</a:t>
            </a:r>
            <a:endParaRPr b="0" i="0" sz="950" u="none" cap="none" strike="noStrike">
              <a:solidFill>
                <a:schemeClr val="dk1"/>
              </a:solidFill>
              <a:latin typeface="Calibri"/>
              <a:ea typeface="Calibri"/>
              <a:cs typeface="Calibri"/>
              <a:sym typeface="Calibri"/>
            </a:endParaRPr>
          </a:p>
        </p:txBody>
      </p:sp>
      <p:sp>
        <p:nvSpPr>
          <p:cNvPr id="2156" name="Google Shape;2156;p95"/>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7" name="Google Shape;2157;p95"/>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58" name="Google Shape;2158;p9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2159" name="Google Shape;2159;p95"/>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Completed jobs</a:t>
            </a:r>
            <a:endParaRPr b="0" i="0" sz="1200" u="none" cap="none" strike="noStrike">
              <a:solidFill>
                <a:schemeClr val="dk1"/>
              </a:solidFill>
              <a:latin typeface="Calibri"/>
              <a:ea typeface="Calibri"/>
              <a:cs typeface="Calibri"/>
              <a:sym typeface="Calibri"/>
            </a:endParaRPr>
          </a:p>
        </p:txBody>
      </p:sp>
      <p:sp>
        <p:nvSpPr>
          <p:cNvPr id="2160" name="Google Shape;2160;p95"/>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We don't refund a completed job charge. The cleaner was paid, and CPs are independent contractors.</a:t>
            </a:r>
            <a:endParaRPr b="0" i="0" sz="950" u="none" cap="none" strike="noStrike">
              <a:solidFill>
                <a:schemeClr val="dk1"/>
              </a:solidFill>
              <a:latin typeface="Calibri"/>
              <a:ea typeface="Calibri"/>
              <a:cs typeface="Calibri"/>
              <a:sym typeface="Calibri"/>
            </a:endParaRPr>
          </a:p>
        </p:txBody>
      </p:sp>
      <p:sp>
        <p:nvSpPr>
          <p:cNvPr id="2161" name="Google Shape;2161;p95"/>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62" name="Google Shape;2162;p95"/>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2163" name="Google Shape;2163;p95"/>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You control:</a:t>
            </a:r>
            <a:r>
              <a:rPr b="0" i="0" lang="en" sz="1000" u="none" cap="none" strike="noStrike">
                <a:solidFill>
                  <a:srgbClr val="1D1D1F"/>
                </a:solidFill>
                <a:latin typeface="Arial"/>
                <a:ea typeface="Arial"/>
                <a:cs typeface="Arial"/>
                <a:sym typeface="Arial"/>
              </a:rPr>
              <a:t>the recovery: voucher, priority cleaning with a different cleaner, blocking the pairing, and coaching the CP.</a:t>
            </a:r>
            <a:endParaRPr b="0" i="0" sz="1000" u="none" cap="none" strike="noStrike">
              <a:solidFill>
                <a:schemeClr val="dk1"/>
              </a:solidFill>
              <a:latin typeface="Calibri"/>
              <a:ea typeface="Calibri"/>
              <a:cs typeface="Calibri"/>
              <a:sym typeface="Calibri"/>
            </a:endParaRPr>
          </a:p>
        </p:txBody>
      </p:sp>
      <p:sp>
        <p:nvSpPr>
          <p:cNvPr id="2164" name="Google Shape;2164;p9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8" name="Shape 2168"/>
        <p:cNvGrpSpPr/>
        <p:nvPr/>
      </p:nvGrpSpPr>
      <p:grpSpPr>
        <a:xfrm>
          <a:off x="0" y="0"/>
          <a:ext cx="0" cy="0"/>
          <a:chOff x="0" y="0"/>
          <a:chExt cx="0" cy="0"/>
        </a:xfrm>
      </p:grpSpPr>
      <p:sp>
        <p:nvSpPr>
          <p:cNvPr id="2169" name="Google Shape;2169;p9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a:t>
            </a:r>
            <a:endParaRPr b="0" i="0" sz="800" u="none" cap="none" strike="noStrike">
              <a:solidFill>
                <a:schemeClr val="dk1"/>
              </a:solidFill>
              <a:latin typeface="Calibri"/>
              <a:ea typeface="Calibri"/>
              <a:cs typeface="Calibri"/>
              <a:sym typeface="Calibri"/>
            </a:endParaRPr>
          </a:p>
        </p:txBody>
      </p:sp>
      <p:sp>
        <p:nvSpPr>
          <p:cNvPr id="2170" name="Google Shape;2170;p9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Handling a cleaning supplies issue</a:t>
            </a:r>
            <a:endParaRPr b="0" i="0" sz="2400" u="none" cap="none" strike="noStrike">
              <a:solidFill>
                <a:schemeClr val="dk1"/>
              </a:solidFill>
              <a:latin typeface="Calibri"/>
              <a:ea typeface="Calibri"/>
              <a:cs typeface="Calibri"/>
              <a:sym typeface="Calibri"/>
            </a:endParaRPr>
          </a:p>
        </p:txBody>
      </p:sp>
      <p:sp>
        <p:nvSpPr>
          <p:cNvPr id="2171" name="Google Shape;2171;p9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Depends on the CP's operating model.</a:t>
            </a:r>
            <a:endParaRPr b="0" i="0" sz="1200" u="none" cap="none" strike="noStrike">
              <a:solidFill>
                <a:schemeClr val="dk1"/>
              </a:solidFill>
              <a:latin typeface="Calibri"/>
              <a:ea typeface="Calibri"/>
              <a:cs typeface="Calibri"/>
              <a:sym typeface="Calibri"/>
            </a:endParaRPr>
          </a:p>
        </p:txBody>
      </p:sp>
      <p:sp>
        <p:nvSpPr>
          <p:cNvPr id="2172" name="Google Shape;2172;p96"/>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3" name="Google Shape;2173;p96"/>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74" name="Google Shape;2174;p96"/>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175" name="Google Shape;2175;p96"/>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CA / CA-WA CP</a:t>
            </a:r>
            <a:endParaRPr b="0" i="0" sz="1200" u="none" cap="none" strike="noStrike">
              <a:solidFill>
                <a:schemeClr val="dk1"/>
              </a:solidFill>
              <a:latin typeface="Calibri"/>
              <a:ea typeface="Calibri"/>
              <a:cs typeface="Calibri"/>
              <a:sym typeface="Calibri"/>
            </a:endParaRPr>
          </a:p>
        </p:txBody>
      </p:sp>
      <p:sp>
        <p:nvSpPr>
          <p:cNvPr id="2176" name="Google Shape;2176;p96"/>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Don't penalize. Bringing complete supplies isn't required. Encourage it, and check Cleaning Notes for the customer's preference.</a:t>
            </a:r>
            <a:endParaRPr b="0" i="0" sz="950" u="none" cap="none" strike="noStrike">
              <a:solidFill>
                <a:schemeClr val="dk1"/>
              </a:solidFill>
              <a:latin typeface="Calibri"/>
              <a:ea typeface="Calibri"/>
              <a:cs typeface="Calibri"/>
              <a:sym typeface="Calibri"/>
            </a:endParaRPr>
          </a:p>
        </p:txBody>
      </p:sp>
      <p:sp>
        <p:nvSpPr>
          <p:cNvPr id="2177" name="Google Shape;2177;p96"/>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8" name="Google Shape;2178;p96"/>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79" name="Google Shape;2179;p96"/>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180" name="Google Shape;2180;p96"/>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General CP</a:t>
            </a:r>
            <a:endParaRPr b="0" i="0" sz="1200" u="none" cap="none" strike="noStrike">
              <a:solidFill>
                <a:schemeClr val="dk1"/>
              </a:solidFill>
              <a:latin typeface="Calibri"/>
              <a:ea typeface="Calibri"/>
              <a:cs typeface="Calibri"/>
              <a:sym typeface="Calibri"/>
            </a:endParaRPr>
          </a:p>
        </p:txBody>
      </p:sp>
      <p:sp>
        <p:nvSpPr>
          <p:cNvPr id="2181" name="Google Shape;2181;p96"/>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Add the require_new_cleaning_supplies_photo flag (CP CRM &gt; Do &gt; Issue) and confirm it. Skip if the supplies cohort is false or the CP is suspended + DNR.</a:t>
            </a:r>
            <a:endParaRPr b="0" i="0" sz="950" u="none" cap="none" strike="noStrike">
              <a:solidFill>
                <a:schemeClr val="dk1"/>
              </a:solidFill>
              <a:latin typeface="Calibri"/>
              <a:ea typeface="Calibri"/>
              <a:cs typeface="Calibri"/>
              <a:sym typeface="Calibri"/>
            </a:endParaRPr>
          </a:p>
        </p:txBody>
      </p:sp>
      <p:sp>
        <p:nvSpPr>
          <p:cNvPr id="2182" name="Google Shape;2182;p96"/>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3" name="Google Shape;2183;p96"/>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84" name="Google Shape;2184;p96"/>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2185" name="Google Shape;2185;p96"/>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Supplies only, no quality issue</a:t>
            </a:r>
            <a:endParaRPr b="0" i="0" sz="1200" u="none" cap="none" strike="noStrike">
              <a:solidFill>
                <a:schemeClr val="dk1"/>
              </a:solidFill>
              <a:latin typeface="Calibri"/>
              <a:ea typeface="Calibri"/>
              <a:cs typeface="Calibri"/>
              <a:sym typeface="Calibri"/>
            </a:endParaRPr>
          </a:p>
        </p:txBody>
      </p:sp>
      <p:sp>
        <p:nvSpPr>
          <p:cNvPr id="2186" name="Google Shape;2186;p96"/>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Not PCQ and not an issue job. Offer a $20 credit, encourage rebooking, and still do the CP-side steps.</a:t>
            </a:r>
            <a:endParaRPr b="0" i="0" sz="950" u="none" cap="none" strike="noStrike">
              <a:solidFill>
                <a:schemeClr val="dk1"/>
              </a:solidFill>
              <a:latin typeface="Calibri"/>
              <a:ea typeface="Calibri"/>
              <a:cs typeface="Calibri"/>
              <a:sym typeface="Calibri"/>
            </a:endParaRPr>
          </a:p>
        </p:txBody>
      </p:sp>
      <p:sp>
        <p:nvSpPr>
          <p:cNvPr id="2187" name="Google Shape;2187;p96"/>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88" name="Google Shape;2188;p96"/>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2189" name="Google Shape;2189;p96"/>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Always:</a:t>
            </a:r>
            <a:r>
              <a:rPr b="0" i="0" lang="en" sz="1000" u="none" cap="none" strike="noStrike">
                <a:solidFill>
                  <a:srgbClr val="1D1D1F"/>
                </a:solidFill>
                <a:latin typeface="Arial"/>
                <a:ea typeface="Arial"/>
                <a:cs typeface="Arial"/>
                <a:sym typeface="Arial"/>
              </a:rPr>
              <a:t>confirm whether there is an actual quality issue before you decide which path applies.</a:t>
            </a:r>
            <a:endParaRPr b="0" i="0" sz="1000" u="none" cap="none" strike="noStrike">
              <a:solidFill>
                <a:schemeClr val="dk1"/>
              </a:solidFill>
              <a:latin typeface="Calibri"/>
              <a:ea typeface="Calibri"/>
              <a:cs typeface="Calibri"/>
              <a:sym typeface="Calibri"/>
            </a:endParaRPr>
          </a:p>
        </p:txBody>
      </p:sp>
      <p:sp>
        <p:nvSpPr>
          <p:cNvPr id="2190" name="Google Shape;2190;p9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4" name="Shape 2194"/>
        <p:cNvGrpSpPr/>
        <p:nvPr/>
      </p:nvGrpSpPr>
      <p:grpSpPr>
        <a:xfrm>
          <a:off x="0" y="0"/>
          <a:ext cx="0" cy="0"/>
          <a:chOff x="0" y="0"/>
          <a:chExt cx="0" cy="0"/>
        </a:xfrm>
      </p:grpSpPr>
      <p:sp>
        <p:nvSpPr>
          <p:cNvPr id="2195" name="Google Shape;2195;p9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  ·  QUICK KNOWLEDGE CHECK</a:t>
            </a:r>
            <a:endParaRPr b="0" i="0" sz="800" u="none" cap="none" strike="noStrike">
              <a:solidFill>
                <a:schemeClr val="dk1"/>
              </a:solidFill>
              <a:latin typeface="Calibri"/>
              <a:ea typeface="Calibri"/>
              <a:cs typeface="Calibri"/>
              <a:sym typeface="Calibri"/>
            </a:endParaRPr>
          </a:p>
        </p:txBody>
      </p:sp>
      <p:sp>
        <p:nvSpPr>
          <p:cNvPr id="2196" name="Google Shape;2196;p9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Quick Knowledge Check</a:t>
            </a:r>
            <a:endParaRPr b="0" i="0" sz="2400" u="none" cap="none" strike="noStrike">
              <a:solidFill>
                <a:schemeClr val="dk1"/>
              </a:solidFill>
              <a:latin typeface="Calibri"/>
              <a:ea typeface="Calibri"/>
              <a:cs typeface="Calibri"/>
              <a:sym typeface="Calibri"/>
            </a:endParaRPr>
          </a:p>
        </p:txBody>
      </p:sp>
      <p:sp>
        <p:nvSpPr>
          <p:cNvPr id="2197" name="Google Shape;2197;p9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Ask each question, then click to reveal the answer.</a:t>
            </a:r>
            <a:endParaRPr b="0" i="0" sz="1200" u="none" cap="none" strike="noStrike">
              <a:solidFill>
                <a:schemeClr val="dk1"/>
              </a:solidFill>
              <a:latin typeface="Calibri"/>
              <a:ea typeface="Calibri"/>
              <a:cs typeface="Calibri"/>
              <a:sym typeface="Calibri"/>
            </a:endParaRPr>
          </a:p>
        </p:txBody>
      </p:sp>
      <p:sp>
        <p:nvSpPr>
          <p:cNvPr id="2198" name="Google Shape;2198;p9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2199" name="Google Shape;2199;p97"/>
          <p:cNvSpPr/>
          <p:nvPr/>
        </p:nvSpPr>
        <p:spPr>
          <a:xfrm>
            <a:off x="411480" y="1280160"/>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0" name="Google Shape;2200;p97"/>
          <p:cNvSpPr/>
          <p:nvPr/>
        </p:nvSpPr>
        <p:spPr>
          <a:xfrm>
            <a:off x="548640" y="1398270"/>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1</a:t>
            </a:r>
            <a:endParaRPr/>
          </a:p>
        </p:txBody>
      </p:sp>
      <p:sp>
        <p:nvSpPr>
          <p:cNvPr id="2201" name="Google Shape;2201;p97"/>
          <p:cNvSpPr txBox="1"/>
          <p:nvPr/>
        </p:nvSpPr>
        <p:spPr>
          <a:xfrm>
            <a:off x="960120" y="1280160"/>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Missed areas, but C hasn't said they want to cancel. Which guide applies?</a:t>
            </a:r>
            <a:endParaRPr/>
          </a:p>
        </p:txBody>
      </p:sp>
      <p:sp>
        <p:nvSpPr>
          <p:cNvPr id="2202" name="Google Shape;2202;p97"/>
          <p:cNvSpPr/>
          <p:nvPr/>
        </p:nvSpPr>
        <p:spPr>
          <a:xfrm>
            <a:off x="5120640" y="1280160"/>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3" name="Google Shape;2203;p97"/>
          <p:cNvSpPr txBox="1"/>
          <p:nvPr/>
        </p:nvSpPr>
        <p:spPr>
          <a:xfrm>
            <a:off x="5257800" y="1280160"/>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KB - PCQ. Cancel intent at any point? Move to the PCQ Retention Framework.</a:t>
            </a:r>
            <a:endParaRPr/>
          </a:p>
        </p:txBody>
      </p:sp>
      <p:sp>
        <p:nvSpPr>
          <p:cNvPr id="2204" name="Google Shape;2204;p97"/>
          <p:cNvSpPr/>
          <p:nvPr/>
        </p:nvSpPr>
        <p:spPr>
          <a:xfrm>
            <a:off x="411480" y="1863851"/>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5" name="Google Shape;2205;p97"/>
          <p:cNvSpPr/>
          <p:nvPr/>
        </p:nvSpPr>
        <p:spPr>
          <a:xfrm>
            <a:off x="548640" y="1981962"/>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2</a:t>
            </a:r>
            <a:endParaRPr/>
          </a:p>
        </p:txBody>
      </p:sp>
      <p:sp>
        <p:nvSpPr>
          <p:cNvPr id="2206" name="Google Shape;2206;p97"/>
          <p:cNvSpPr txBox="1"/>
          <p:nvPr/>
        </p:nvSpPr>
        <p:spPr>
          <a:xfrm>
            <a:off x="960120" y="1863851"/>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Can you tell C they have 96 hours to request a refund?</a:t>
            </a:r>
            <a:endParaRPr/>
          </a:p>
        </p:txBody>
      </p:sp>
      <p:sp>
        <p:nvSpPr>
          <p:cNvPr id="2207" name="Google Shape;2207;p97"/>
          <p:cNvSpPr/>
          <p:nvPr/>
        </p:nvSpPr>
        <p:spPr>
          <a:xfrm>
            <a:off x="5120640" y="1863851"/>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8" name="Google Shape;2208;p97"/>
          <p:cNvSpPr txBox="1"/>
          <p:nvPr/>
        </p:nvSpPr>
        <p:spPr>
          <a:xfrm>
            <a:off x="5257800" y="1863851"/>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No. Say 72 hours. The 96-hour window is internal: disclosing it is ZTP Level 2.</a:t>
            </a:r>
            <a:endParaRPr/>
          </a:p>
        </p:txBody>
      </p:sp>
      <p:sp>
        <p:nvSpPr>
          <p:cNvPr id="2209" name="Google Shape;2209;p97"/>
          <p:cNvSpPr/>
          <p:nvPr/>
        </p:nvSpPr>
        <p:spPr>
          <a:xfrm>
            <a:off x="411480" y="2447544"/>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0" name="Google Shape;2210;p97"/>
          <p:cNvSpPr/>
          <p:nvPr/>
        </p:nvSpPr>
        <p:spPr>
          <a:xfrm>
            <a:off x="548640" y="2565654"/>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3</a:t>
            </a:r>
            <a:endParaRPr/>
          </a:p>
        </p:txBody>
      </p:sp>
      <p:sp>
        <p:nvSpPr>
          <p:cNvPr id="2211" name="Google Shape;2211;p97"/>
          <p:cNvSpPr txBox="1"/>
          <p:nvPr/>
        </p:nvSpPr>
        <p:spPr>
          <a:xfrm>
            <a:off x="960120" y="2447544"/>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DHJ customer, confirmed PCQ on a 3-hr job, clearly upset. Offer?</a:t>
            </a:r>
            <a:endParaRPr/>
          </a:p>
        </p:txBody>
      </p:sp>
      <p:sp>
        <p:nvSpPr>
          <p:cNvPr id="2212" name="Google Shape;2212;p97"/>
          <p:cNvSpPr/>
          <p:nvPr/>
        </p:nvSpPr>
        <p:spPr>
          <a:xfrm>
            <a:off x="5120640" y="2447544"/>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3" name="Google Shape;2213;p97"/>
          <p:cNvSpPr txBox="1"/>
          <p:nvPr/>
        </p:nvSpPr>
        <p:spPr>
          <a:xfrm>
            <a:off x="5257800" y="2447544"/>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1 hr voucher (2 hr voucher if the job was 4 hrs or more).</a:t>
            </a:r>
            <a:endParaRPr/>
          </a:p>
        </p:txBody>
      </p:sp>
      <p:sp>
        <p:nvSpPr>
          <p:cNvPr id="2214" name="Google Shape;2214;p97"/>
          <p:cNvSpPr/>
          <p:nvPr/>
        </p:nvSpPr>
        <p:spPr>
          <a:xfrm>
            <a:off x="411480" y="3031236"/>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5" name="Google Shape;2215;p97"/>
          <p:cNvSpPr/>
          <p:nvPr/>
        </p:nvSpPr>
        <p:spPr>
          <a:xfrm>
            <a:off x="548640" y="3149346"/>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4</a:t>
            </a:r>
            <a:endParaRPr/>
          </a:p>
        </p:txBody>
      </p:sp>
      <p:sp>
        <p:nvSpPr>
          <p:cNvPr id="2216" name="Google Shape;2216;p97"/>
          <p:cNvSpPr txBox="1"/>
          <p:nvPr/>
        </p:nvSpPr>
        <p:spPr>
          <a:xfrm>
            <a:off x="960120" y="3031236"/>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Refund request vs admin refund?</a:t>
            </a:r>
            <a:endParaRPr/>
          </a:p>
        </p:txBody>
      </p:sp>
      <p:sp>
        <p:nvSpPr>
          <p:cNvPr id="2217" name="Google Shape;2217;p97"/>
          <p:cNvSpPr/>
          <p:nvPr/>
        </p:nvSpPr>
        <p:spPr>
          <a:xfrm>
            <a:off x="5120640" y="3031236"/>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8" name="Google Shape;2218;p97"/>
          <p:cNvSpPr txBox="1"/>
          <p:nvPr/>
        </p:nvSpPr>
        <p:spPr>
          <a:xfrm>
            <a:off x="5257800" y="3031236"/>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Refund request: the cleaner's call, never promise it. Admin refund: ours, CP still paid.</a:t>
            </a:r>
            <a:endParaRPr/>
          </a:p>
        </p:txBody>
      </p:sp>
      <p:sp>
        <p:nvSpPr>
          <p:cNvPr id="2219" name="Google Shape;2219;p97"/>
          <p:cNvSpPr/>
          <p:nvPr/>
        </p:nvSpPr>
        <p:spPr>
          <a:xfrm>
            <a:off x="411480" y="3614928"/>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0" name="Google Shape;2220;p97"/>
          <p:cNvSpPr/>
          <p:nvPr/>
        </p:nvSpPr>
        <p:spPr>
          <a:xfrm>
            <a:off x="548640" y="3733037"/>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5</a:t>
            </a:r>
            <a:endParaRPr/>
          </a:p>
        </p:txBody>
      </p:sp>
      <p:sp>
        <p:nvSpPr>
          <p:cNvPr id="2221" name="Google Shape;2221;p97"/>
          <p:cNvSpPr txBox="1"/>
          <p:nvPr/>
        </p:nvSpPr>
        <p:spPr>
          <a:xfrm>
            <a:off x="960120" y="3614928"/>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PCQ for a high-loyalty C (13 invoiced jobs, 9 paid months). Offer?</a:t>
            </a:r>
            <a:endParaRPr/>
          </a:p>
        </p:txBody>
      </p:sp>
      <p:sp>
        <p:nvSpPr>
          <p:cNvPr id="2222" name="Google Shape;2222;p97"/>
          <p:cNvSpPr/>
          <p:nvPr/>
        </p:nvSpPr>
        <p:spPr>
          <a:xfrm>
            <a:off x="5120640" y="3614928"/>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3" name="Google Shape;2223;p97"/>
          <p:cNvSpPr txBox="1"/>
          <p:nvPr/>
        </p:nvSpPr>
        <p:spPr>
          <a:xfrm>
            <a:off x="5257800" y="3614928"/>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Full admin refund.</a:t>
            </a:r>
            <a:endParaRPr/>
          </a:p>
        </p:txBody>
      </p:sp>
      <p:sp>
        <p:nvSpPr>
          <p:cNvPr id="2224" name="Google Shape;2224;p97"/>
          <p:cNvSpPr/>
          <p:nvPr/>
        </p:nvSpPr>
        <p:spPr>
          <a:xfrm>
            <a:off x="411480" y="4198620"/>
            <a:ext cx="4617720" cy="510540"/>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5" name="Google Shape;2225;p97"/>
          <p:cNvSpPr/>
          <p:nvPr/>
        </p:nvSpPr>
        <p:spPr>
          <a:xfrm>
            <a:off x="548640" y="4316730"/>
            <a:ext cx="274320" cy="274320"/>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00" u="none" cap="none" strike="noStrike">
                <a:solidFill>
                  <a:srgbClr val="0B7A6F"/>
                </a:solidFill>
                <a:latin typeface="Play"/>
                <a:ea typeface="Play"/>
                <a:cs typeface="Play"/>
                <a:sym typeface="Play"/>
              </a:rPr>
              <a:t>6</a:t>
            </a:r>
            <a:endParaRPr/>
          </a:p>
        </p:txBody>
      </p:sp>
      <p:sp>
        <p:nvSpPr>
          <p:cNvPr id="2226" name="Google Shape;2226;p97"/>
          <p:cNvSpPr txBox="1"/>
          <p:nvPr/>
        </p:nvSpPr>
        <p:spPr>
          <a:xfrm>
            <a:off x="960120" y="4198620"/>
            <a:ext cx="3977639"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00" u="none" cap="none" strike="noStrike">
                <a:solidFill>
                  <a:srgbClr val="1D1D1F"/>
                </a:solidFill>
                <a:latin typeface="Arial"/>
                <a:ea typeface="Arial"/>
                <a:cs typeface="Arial"/>
                <a:sym typeface="Arial"/>
              </a:rPr>
              <a:t>A CA CP arrived without complete supplies. Penalize?</a:t>
            </a:r>
            <a:endParaRPr/>
          </a:p>
        </p:txBody>
      </p:sp>
      <p:sp>
        <p:nvSpPr>
          <p:cNvPr id="2227" name="Google Shape;2227;p97"/>
          <p:cNvSpPr/>
          <p:nvPr/>
        </p:nvSpPr>
        <p:spPr>
          <a:xfrm>
            <a:off x="5120640" y="4198620"/>
            <a:ext cx="3611880" cy="510540"/>
          </a:xfrm>
          <a:prstGeom prst="roundRect">
            <a:avLst>
              <a:gd fmla="val 8000" name="adj"/>
            </a:avLst>
          </a:prstGeom>
          <a:solidFill>
            <a:srgbClr val="E3F4F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8" name="Google Shape;2228;p97"/>
          <p:cNvSpPr txBox="1"/>
          <p:nvPr/>
        </p:nvSpPr>
        <p:spPr>
          <a:xfrm>
            <a:off x="5257800" y="4198620"/>
            <a:ext cx="3383280" cy="5105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900" u="none" cap="none" strike="noStrike">
                <a:solidFill>
                  <a:srgbClr val="1D1D1F"/>
                </a:solidFill>
                <a:latin typeface="Arial"/>
                <a:ea typeface="Arial"/>
                <a:cs typeface="Arial"/>
                <a:sym typeface="Arial"/>
              </a:rPr>
              <a:t>No. Supplies aren't required in CA/CA-WA. Encourage it; check Cleaning Notes.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gtEl>
                                        <p:attrNameLst>
                                          <p:attrName>style.visibility</p:attrName>
                                        </p:attrNameLst>
                                      </p:cBhvr>
                                      <p:to>
                                        <p:strVal val="visible"/>
                                      </p:to>
                                    </p:set>
                                    <p:animEffect filter="fade" transition="in">
                                      <p:cBhvr>
                                        <p:cTn dur="600"/>
                                        <p:tgtEl>
                                          <p:spTgt spid="2202"/>
                                        </p:tgtEl>
                                      </p:cBhvr>
                                    </p:animEffect>
                                  </p:childTnLst>
                                </p:cTn>
                              </p:par>
                              <p:par>
                                <p:cTn fill="hold" nodeType="withEffect" presetClass="entr" presetID="10" presetSubtype="0">
                                  <p:stCondLst>
                                    <p:cond delay="0"/>
                                  </p:stCondLst>
                                  <p:childTnLst>
                                    <p:set>
                                      <p:cBhvr>
                                        <p:cTn dur="1" fill="hold">
                                          <p:stCondLst>
                                            <p:cond delay="0"/>
                                          </p:stCondLst>
                                        </p:cTn>
                                        <p:tgtEl>
                                          <p:spTgt spid="2203"/>
                                        </p:tgtEl>
                                        <p:attrNameLst>
                                          <p:attrName>style.visibility</p:attrName>
                                        </p:attrNameLst>
                                      </p:cBhvr>
                                      <p:to>
                                        <p:strVal val="visible"/>
                                      </p:to>
                                    </p:set>
                                    <p:animEffect filter="fade" transition="in">
                                      <p:cBhvr>
                                        <p:cTn dur="600"/>
                                        <p:tgtEl>
                                          <p:spTgt spid="2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7"/>
                                        </p:tgtEl>
                                        <p:attrNameLst>
                                          <p:attrName>style.visibility</p:attrName>
                                        </p:attrNameLst>
                                      </p:cBhvr>
                                      <p:to>
                                        <p:strVal val="visible"/>
                                      </p:to>
                                    </p:set>
                                    <p:animEffect filter="fade" transition="in">
                                      <p:cBhvr>
                                        <p:cTn dur="600"/>
                                        <p:tgtEl>
                                          <p:spTgt spid="2207"/>
                                        </p:tgtEl>
                                      </p:cBhvr>
                                    </p:animEffect>
                                  </p:childTnLst>
                                </p:cTn>
                              </p:par>
                              <p:par>
                                <p:cTn fill="hold" nodeType="withEffect" presetClass="entr" presetID="10" presetSubtype="0">
                                  <p:stCondLst>
                                    <p:cond delay="0"/>
                                  </p:stCondLst>
                                  <p:childTnLst>
                                    <p:set>
                                      <p:cBhvr>
                                        <p:cTn dur="1" fill="hold">
                                          <p:stCondLst>
                                            <p:cond delay="0"/>
                                          </p:stCondLst>
                                        </p:cTn>
                                        <p:tgtEl>
                                          <p:spTgt spid="2208"/>
                                        </p:tgtEl>
                                        <p:attrNameLst>
                                          <p:attrName>style.visibility</p:attrName>
                                        </p:attrNameLst>
                                      </p:cBhvr>
                                      <p:to>
                                        <p:strVal val="visible"/>
                                      </p:to>
                                    </p:set>
                                    <p:animEffect filter="fade" transition="in">
                                      <p:cBhvr>
                                        <p:cTn dur="600"/>
                                        <p:tgtEl>
                                          <p:spTgt spid="2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2"/>
                                        </p:tgtEl>
                                        <p:attrNameLst>
                                          <p:attrName>style.visibility</p:attrName>
                                        </p:attrNameLst>
                                      </p:cBhvr>
                                      <p:to>
                                        <p:strVal val="visible"/>
                                      </p:to>
                                    </p:set>
                                    <p:animEffect filter="fade" transition="in">
                                      <p:cBhvr>
                                        <p:cTn dur="600"/>
                                        <p:tgtEl>
                                          <p:spTgt spid="2212"/>
                                        </p:tgtEl>
                                      </p:cBhvr>
                                    </p:animEffect>
                                  </p:childTnLst>
                                </p:cTn>
                              </p:par>
                              <p:par>
                                <p:cTn fill="hold" nodeType="withEffect" presetClass="entr" presetID="10" presetSubtype="0">
                                  <p:stCondLst>
                                    <p:cond delay="0"/>
                                  </p:stCondLst>
                                  <p:childTnLst>
                                    <p:set>
                                      <p:cBhvr>
                                        <p:cTn dur="1" fill="hold">
                                          <p:stCondLst>
                                            <p:cond delay="0"/>
                                          </p:stCondLst>
                                        </p:cTn>
                                        <p:tgtEl>
                                          <p:spTgt spid="2213"/>
                                        </p:tgtEl>
                                        <p:attrNameLst>
                                          <p:attrName>style.visibility</p:attrName>
                                        </p:attrNameLst>
                                      </p:cBhvr>
                                      <p:to>
                                        <p:strVal val="visible"/>
                                      </p:to>
                                    </p:set>
                                    <p:animEffect filter="fade" transition="in">
                                      <p:cBhvr>
                                        <p:cTn dur="600"/>
                                        <p:tgtEl>
                                          <p:spTgt spid="2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7"/>
                                        </p:tgtEl>
                                        <p:attrNameLst>
                                          <p:attrName>style.visibility</p:attrName>
                                        </p:attrNameLst>
                                      </p:cBhvr>
                                      <p:to>
                                        <p:strVal val="visible"/>
                                      </p:to>
                                    </p:set>
                                    <p:animEffect filter="fade" transition="in">
                                      <p:cBhvr>
                                        <p:cTn dur="600"/>
                                        <p:tgtEl>
                                          <p:spTgt spid="2217"/>
                                        </p:tgtEl>
                                      </p:cBhvr>
                                    </p:animEffect>
                                  </p:childTnLst>
                                </p:cTn>
                              </p:par>
                              <p:par>
                                <p:cTn fill="hold" nodeType="withEffect" presetClass="entr" presetID="10" presetSubtype="0">
                                  <p:stCondLst>
                                    <p:cond delay="0"/>
                                  </p:stCondLst>
                                  <p:childTnLst>
                                    <p:set>
                                      <p:cBhvr>
                                        <p:cTn dur="1" fill="hold">
                                          <p:stCondLst>
                                            <p:cond delay="0"/>
                                          </p:stCondLst>
                                        </p:cTn>
                                        <p:tgtEl>
                                          <p:spTgt spid="2218"/>
                                        </p:tgtEl>
                                        <p:attrNameLst>
                                          <p:attrName>style.visibility</p:attrName>
                                        </p:attrNameLst>
                                      </p:cBhvr>
                                      <p:to>
                                        <p:strVal val="visible"/>
                                      </p:to>
                                    </p:set>
                                    <p:animEffect filter="fade" transition="in">
                                      <p:cBhvr>
                                        <p:cTn dur="600"/>
                                        <p:tgtEl>
                                          <p:spTgt spid="2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2"/>
                                        </p:tgtEl>
                                        <p:attrNameLst>
                                          <p:attrName>style.visibility</p:attrName>
                                        </p:attrNameLst>
                                      </p:cBhvr>
                                      <p:to>
                                        <p:strVal val="visible"/>
                                      </p:to>
                                    </p:set>
                                    <p:animEffect filter="fade" transition="in">
                                      <p:cBhvr>
                                        <p:cTn dur="600"/>
                                        <p:tgtEl>
                                          <p:spTgt spid="2222"/>
                                        </p:tgtEl>
                                      </p:cBhvr>
                                    </p:animEffect>
                                  </p:childTnLst>
                                </p:cTn>
                              </p:par>
                              <p:par>
                                <p:cTn fill="hold" nodeType="withEffect" presetClass="entr" presetID="10" presetSubtype="0">
                                  <p:stCondLst>
                                    <p:cond delay="0"/>
                                  </p:stCondLst>
                                  <p:childTnLst>
                                    <p:set>
                                      <p:cBhvr>
                                        <p:cTn dur="1" fill="hold">
                                          <p:stCondLst>
                                            <p:cond delay="0"/>
                                          </p:stCondLst>
                                        </p:cTn>
                                        <p:tgtEl>
                                          <p:spTgt spid="2223"/>
                                        </p:tgtEl>
                                        <p:attrNameLst>
                                          <p:attrName>style.visibility</p:attrName>
                                        </p:attrNameLst>
                                      </p:cBhvr>
                                      <p:to>
                                        <p:strVal val="visible"/>
                                      </p:to>
                                    </p:set>
                                    <p:animEffect filter="fade" transition="in">
                                      <p:cBhvr>
                                        <p:cTn dur="600"/>
                                        <p:tgtEl>
                                          <p:spTgt spid="22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7"/>
                                        </p:tgtEl>
                                        <p:attrNameLst>
                                          <p:attrName>style.visibility</p:attrName>
                                        </p:attrNameLst>
                                      </p:cBhvr>
                                      <p:to>
                                        <p:strVal val="visible"/>
                                      </p:to>
                                    </p:set>
                                    <p:animEffect filter="fade" transition="in">
                                      <p:cBhvr>
                                        <p:cTn dur="600"/>
                                        <p:tgtEl>
                                          <p:spTgt spid="2227"/>
                                        </p:tgtEl>
                                      </p:cBhvr>
                                    </p:animEffect>
                                  </p:childTnLst>
                                </p:cTn>
                              </p:par>
                              <p:par>
                                <p:cTn fill="hold" nodeType="withEffect" presetClass="entr" presetID="10" presetSubtype="0">
                                  <p:stCondLst>
                                    <p:cond delay="0"/>
                                  </p:stCondLst>
                                  <p:childTnLst>
                                    <p:set>
                                      <p:cBhvr>
                                        <p:cTn dur="1" fill="hold">
                                          <p:stCondLst>
                                            <p:cond delay="0"/>
                                          </p:stCondLst>
                                        </p:cTn>
                                        <p:tgtEl>
                                          <p:spTgt spid="2228"/>
                                        </p:tgtEl>
                                        <p:attrNameLst>
                                          <p:attrName>style.visibility</p:attrName>
                                        </p:attrNameLst>
                                      </p:cBhvr>
                                      <p:to>
                                        <p:strVal val="visible"/>
                                      </p:to>
                                    </p:set>
                                    <p:animEffect filter="fade" transition="in">
                                      <p:cBhvr>
                                        <p:cTn dur="600"/>
                                        <p:tgtEl>
                                          <p:spTgt spid="22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2" name="Shape 2232"/>
        <p:cNvGrpSpPr/>
        <p:nvPr/>
      </p:nvGrpSpPr>
      <p:grpSpPr>
        <a:xfrm>
          <a:off x="0" y="0"/>
          <a:ext cx="0" cy="0"/>
          <a:chOff x="0" y="0"/>
          <a:chExt cx="0" cy="0"/>
        </a:xfrm>
      </p:grpSpPr>
      <p:sp>
        <p:nvSpPr>
          <p:cNvPr id="2233" name="Google Shape;2233;p9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POOR CLEANING QUALITY  ·  PRACTICE</a:t>
            </a:r>
            <a:endParaRPr b="0" i="0" sz="800" u="none" cap="none" strike="noStrike">
              <a:solidFill>
                <a:schemeClr val="dk1"/>
              </a:solidFill>
              <a:latin typeface="Calibri"/>
              <a:ea typeface="Calibri"/>
              <a:cs typeface="Calibri"/>
              <a:sym typeface="Calibri"/>
            </a:endParaRPr>
          </a:p>
        </p:txBody>
      </p:sp>
      <p:sp>
        <p:nvSpPr>
          <p:cNvPr id="2234" name="Google Shape;2234;p9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Let's investigate together!</a:t>
            </a:r>
            <a:endParaRPr b="0" i="0" sz="2400" u="none" cap="none" strike="noStrike">
              <a:solidFill>
                <a:schemeClr val="dk1"/>
              </a:solidFill>
              <a:latin typeface="Calibri"/>
              <a:ea typeface="Calibri"/>
              <a:cs typeface="Calibri"/>
              <a:sym typeface="Calibri"/>
            </a:endParaRPr>
          </a:p>
        </p:txBody>
      </p:sp>
      <p:sp>
        <p:nvSpPr>
          <p:cNvPr id="2235" name="Google Shape;2235;p9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Review the live ticket and investigate.</a:t>
            </a:r>
            <a:endParaRPr b="0" i="0" sz="1200" u="none" cap="none" strike="noStrike">
              <a:solidFill>
                <a:schemeClr val="dk1"/>
              </a:solidFill>
              <a:latin typeface="Calibri"/>
              <a:ea typeface="Calibri"/>
              <a:cs typeface="Calibri"/>
              <a:sym typeface="Calibri"/>
            </a:endParaRPr>
          </a:p>
        </p:txBody>
      </p:sp>
      <p:sp>
        <p:nvSpPr>
          <p:cNvPr id="2236" name="Google Shape;2236;p9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2237" name="Google Shape;2237;p98"/>
          <p:cNvSpPr/>
          <p:nvPr/>
        </p:nvSpPr>
        <p:spPr>
          <a:xfrm>
            <a:off x="411480" y="1298448"/>
            <a:ext cx="3383280" cy="3273552"/>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8" name="Google Shape;2238;p98"/>
          <p:cNvSpPr txBox="1"/>
          <p:nvPr/>
        </p:nvSpPr>
        <p:spPr>
          <a:xfrm>
            <a:off x="594360" y="1572768"/>
            <a:ext cx="3017520" cy="3657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400" u="none" cap="none" strike="noStrike">
                <a:solidFill>
                  <a:srgbClr val="1D1D1F"/>
                </a:solidFill>
                <a:latin typeface="Play"/>
                <a:ea typeface="Play"/>
                <a:cs typeface="Play"/>
                <a:sym typeface="Play"/>
              </a:rPr>
              <a:t>Live ticket</a:t>
            </a:r>
            <a:endParaRPr/>
          </a:p>
        </p:txBody>
      </p:sp>
      <p:sp>
        <p:nvSpPr>
          <p:cNvPr id="2239" name="Google Shape;2239;p98"/>
          <p:cNvSpPr txBox="1"/>
          <p:nvPr/>
        </p:nvSpPr>
        <p:spPr>
          <a:xfrm>
            <a:off x="594360" y="2029967"/>
            <a:ext cx="3017520" cy="10972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 sz="1100" u="none" cap="none" strike="noStrike">
                <a:solidFill>
                  <a:srgbClr val="6E6E73"/>
                </a:solidFill>
                <a:latin typeface="Arial"/>
                <a:ea typeface="Arial"/>
                <a:cs typeface="Arial"/>
                <a:sym typeface="Arial"/>
              </a:rPr>
              <a:t>Your trainer will provide a live PCQ ticket. Review it and investigate before you decide anything.</a:t>
            </a:r>
            <a:endParaRPr/>
          </a:p>
        </p:txBody>
      </p:sp>
      <p:sp>
        <p:nvSpPr>
          <p:cNvPr id="2240" name="Google Shape;2240;p98"/>
          <p:cNvSpPr/>
          <p:nvPr/>
        </p:nvSpPr>
        <p:spPr>
          <a:xfrm>
            <a:off x="594360" y="4023360"/>
            <a:ext cx="1463040" cy="347472"/>
          </a:xfrm>
          <a:prstGeom prst="roundRect">
            <a:avLst>
              <a:gd fmla="val 20000" name="adj"/>
            </a:avLst>
          </a:prstGeom>
          <a:solidFill>
            <a:srgbClr val="FFF3D6"/>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1000" u="none" cap="none" strike="noStrike">
                <a:solidFill>
                  <a:srgbClr val="9A6410"/>
                </a:solidFill>
                <a:latin typeface="Play"/>
                <a:ea typeface="Play"/>
                <a:cs typeface="Play"/>
                <a:sym typeface="Play"/>
              </a:rPr>
              <a:t>Trainer provides</a:t>
            </a:r>
            <a:endParaRPr/>
          </a:p>
        </p:txBody>
      </p:sp>
      <p:sp>
        <p:nvSpPr>
          <p:cNvPr id="2241" name="Google Shape;2241;p98"/>
          <p:cNvSpPr/>
          <p:nvPr/>
        </p:nvSpPr>
        <p:spPr>
          <a:xfrm>
            <a:off x="3931920" y="1298448"/>
            <a:ext cx="4800600" cy="999744"/>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2" name="Google Shape;2242;p98"/>
          <p:cNvSpPr/>
          <p:nvPr/>
        </p:nvSpPr>
        <p:spPr>
          <a:xfrm>
            <a:off x="4114800" y="1652016"/>
            <a:ext cx="292608" cy="292608"/>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50" u="none" cap="none" strike="noStrike">
                <a:solidFill>
                  <a:srgbClr val="0B7A6F"/>
                </a:solidFill>
                <a:latin typeface="Play"/>
                <a:ea typeface="Play"/>
                <a:cs typeface="Play"/>
                <a:sym typeface="Play"/>
              </a:rPr>
              <a:t>1</a:t>
            </a:r>
            <a:endParaRPr/>
          </a:p>
        </p:txBody>
      </p:sp>
      <p:sp>
        <p:nvSpPr>
          <p:cNvPr id="2243" name="Google Shape;2243;p98"/>
          <p:cNvSpPr txBox="1"/>
          <p:nvPr/>
        </p:nvSpPr>
        <p:spPr>
          <a:xfrm>
            <a:off x="4572000" y="1463039"/>
            <a:ext cx="3977639"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300" u="none" cap="none" strike="noStrike">
                <a:solidFill>
                  <a:srgbClr val="1D1D1F"/>
                </a:solidFill>
                <a:latin typeface="Play"/>
                <a:ea typeface="Play"/>
                <a:cs typeface="Play"/>
                <a:sym typeface="Play"/>
              </a:rPr>
              <a:t>Is it PCQ? Any cancel intent?</a:t>
            </a:r>
            <a:endParaRPr/>
          </a:p>
        </p:txBody>
      </p:sp>
      <p:sp>
        <p:nvSpPr>
          <p:cNvPr id="2244" name="Google Shape;2244;p98"/>
          <p:cNvSpPr txBox="1"/>
          <p:nvPr/>
        </p:nvSpPr>
        <p:spPr>
          <a:xfrm>
            <a:off x="4572000" y="1828800"/>
            <a:ext cx="3977639" cy="2743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50" u="none" cap="none" strike="noStrike">
                <a:solidFill>
                  <a:srgbClr val="6E6E73"/>
                </a:solidFill>
                <a:latin typeface="Arial"/>
                <a:ea typeface="Arial"/>
                <a:cs typeface="Arial"/>
                <a:sym typeface="Arial"/>
              </a:rPr>
              <a:t>KB - PCQ, or the PCQ Retention Framework?</a:t>
            </a:r>
            <a:endParaRPr/>
          </a:p>
        </p:txBody>
      </p:sp>
      <p:sp>
        <p:nvSpPr>
          <p:cNvPr id="2245" name="Google Shape;2245;p98"/>
          <p:cNvSpPr/>
          <p:nvPr/>
        </p:nvSpPr>
        <p:spPr>
          <a:xfrm>
            <a:off x="3931920" y="2435352"/>
            <a:ext cx="4800600" cy="999744"/>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6" name="Google Shape;2246;p98"/>
          <p:cNvSpPr/>
          <p:nvPr/>
        </p:nvSpPr>
        <p:spPr>
          <a:xfrm>
            <a:off x="4114800" y="2788920"/>
            <a:ext cx="292608" cy="292608"/>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50" u="none" cap="none" strike="noStrike">
                <a:solidFill>
                  <a:srgbClr val="0B7A6F"/>
                </a:solidFill>
                <a:latin typeface="Play"/>
                <a:ea typeface="Play"/>
                <a:cs typeface="Play"/>
                <a:sym typeface="Play"/>
              </a:rPr>
              <a:t>2</a:t>
            </a:r>
            <a:endParaRPr/>
          </a:p>
        </p:txBody>
      </p:sp>
      <p:sp>
        <p:nvSpPr>
          <p:cNvPr id="2247" name="Google Shape;2247;p98"/>
          <p:cNvSpPr txBox="1"/>
          <p:nvPr/>
        </p:nvSpPr>
        <p:spPr>
          <a:xfrm>
            <a:off x="4572000" y="2599944"/>
            <a:ext cx="3977639"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300" u="none" cap="none" strike="noStrike">
                <a:solidFill>
                  <a:srgbClr val="1D1D1F"/>
                </a:solidFill>
                <a:latin typeface="Play"/>
                <a:ea typeface="Play"/>
                <a:cs typeface="Play"/>
                <a:sym typeface="Play"/>
              </a:rPr>
              <a:t>What do you check first?</a:t>
            </a:r>
            <a:endParaRPr/>
          </a:p>
        </p:txBody>
      </p:sp>
      <p:sp>
        <p:nvSpPr>
          <p:cNvPr id="2248" name="Google Shape;2248;p98"/>
          <p:cNvSpPr txBox="1"/>
          <p:nvPr/>
        </p:nvSpPr>
        <p:spPr>
          <a:xfrm>
            <a:off x="4572000" y="2965704"/>
            <a:ext cx="3977639" cy="2743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50" u="none" cap="none" strike="noStrike">
                <a:solidFill>
                  <a:srgbClr val="6E6E73"/>
                </a:solidFill>
                <a:latin typeface="Arial"/>
                <a:ea typeface="Arial"/>
                <a:cs typeface="Arial"/>
                <a:sym typeface="Arial"/>
              </a:rPr>
              <a:t>Job admin, messages, refund status, voucher, pattern.</a:t>
            </a:r>
            <a:endParaRPr/>
          </a:p>
        </p:txBody>
      </p:sp>
      <p:sp>
        <p:nvSpPr>
          <p:cNvPr id="2249" name="Google Shape;2249;p98"/>
          <p:cNvSpPr/>
          <p:nvPr/>
        </p:nvSpPr>
        <p:spPr>
          <a:xfrm>
            <a:off x="3931920" y="3572256"/>
            <a:ext cx="4800600" cy="999744"/>
          </a:xfrm>
          <a:prstGeom prst="roundRect">
            <a:avLst>
              <a:gd fmla="val 8000" name="adj"/>
            </a:avLst>
          </a:prstGeom>
          <a:solidFill>
            <a:srgbClr val="FFFFFF"/>
          </a:solidFill>
          <a:ln cap="flat" cmpd="sng" w="9525">
            <a:solidFill>
              <a:srgbClr val="DCE1E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0" name="Google Shape;2250;p98"/>
          <p:cNvSpPr/>
          <p:nvPr/>
        </p:nvSpPr>
        <p:spPr>
          <a:xfrm>
            <a:off x="4114800" y="3925823"/>
            <a:ext cx="292608" cy="292608"/>
          </a:xfrm>
          <a:prstGeom prst="roundRect">
            <a:avLst>
              <a:gd fmla="val 50000" name="adj"/>
            </a:avLst>
          </a:prstGeom>
          <a:solidFill>
            <a:srgbClr val="E3F4F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950" u="none" cap="none" strike="noStrike">
                <a:solidFill>
                  <a:srgbClr val="0B7A6F"/>
                </a:solidFill>
                <a:latin typeface="Play"/>
                <a:ea typeface="Play"/>
                <a:cs typeface="Play"/>
                <a:sym typeface="Play"/>
              </a:rPr>
              <a:t>3</a:t>
            </a:r>
            <a:endParaRPr/>
          </a:p>
        </p:txBody>
      </p:sp>
      <p:sp>
        <p:nvSpPr>
          <p:cNvPr id="2251" name="Google Shape;2251;p98"/>
          <p:cNvSpPr txBox="1"/>
          <p:nvPr/>
        </p:nvSpPr>
        <p:spPr>
          <a:xfrm>
            <a:off x="4572000" y="3736848"/>
            <a:ext cx="3977639" cy="32004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 sz="1300" u="none" cap="none" strike="noStrike">
                <a:solidFill>
                  <a:srgbClr val="1D1D1F"/>
                </a:solidFill>
                <a:latin typeface="Play"/>
                <a:ea typeface="Play"/>
                <a:cs typeface="Play"/>
                <a:sym typeface="Play"/>
              </a:rPr>
              <a:t>What actions and offer?</a:t>
            </a:r>
            <a:endParaRPr/>
          </a:p>
        </p:txBody>
      </p:sp>
      <p:sp>
        <p:nvSpPr>
          <p:cNvPr id="2252" name="Google Shape;2252;p98"/>
          <p:cNvSpPr txBox="1"/>
          <p:nvPr/>
        </p:nvSpPr>
        <p:spPr>
          <a:xfrm>
            <a:off x="4572000" y="4102607"/>
            <a:ext cx="3977639" cy="27432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 sz="1050" u="none" cap="none" strike="noStrike">
                <a:solidFill>
                  <a:srgbClr val="6E6E73"/>
                </a:solidFill>
                <a:latin typeface="Arial"/>
                <a:ea typeface="Arial"/>
                <a:cs typeface="Arial"/>
                <a:sym typeface="Arial"/>
              </a:rPr>
              <a:t>Recovery matrix, refund rules, account and CP steps.</a:t>
            </a:r>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6" name="Shape 2256"/>
        <p:cNvGrpSpPr/>
        <p:nvPr/>
      </p:nvGrpSpPr>
      <p:grpSpPr>
        <a:xfrm>
          <a:off x="0" y="0"/>
          <a:ext cx="0" cy="0"/>
          <a:chOff x="0" y="0"/>
          <a:chExt cx="0" cy="0"/>
        </a:xfrm>
      </p:grpSpPr>
      <p:sp>
        <p:nvSpPr>
          <p:cNvPr id="2257" name="Google Shape;2257;p99"/>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2258" name="Google Shape;2258;p99"/>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2259" name="Google Shape;2259;p99"/>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2260" name="Google Shape;2260;p99"/>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1" name="Google Shape;2261;p99"/>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2262" name="Google Shape;2262;p99"/>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2263" name="Google Shape;2263;p99"/>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4" name="Google Shape;2264;p99"/>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5" name="Google Shape;2265;p99"/>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6" name="Google Shape;2266;p99"/>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7" name="Google Shape;2267;p99"/>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8" name="Google Shape;2268;p99"/>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9" name="Google Shape;2269;p99"/>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