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Lst>
  <p:sldSz cy="5143500" cx="9144000"/>
  <p:notesSz cx="6858000" cy="9144000"/>
  <p:embeddedFontLst>
    <p:embeddedFont>
      <p:font typeface="Play"/>
      <p:regular r:id="rId81"/>
      <p:bold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D802810-0E66-425F-9816-536649EA7155}">
  <a:tblStyle styleId="{0D802810-0E66-425F-9816-536649EA715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slide" Target="slides/slide73.xml"/><Relationship Id="rId82" Type="http://schemas.openxmlformats.org/officeDocument/2006/relationships/font" Target="fonts/Play-bold.fntdata"/><Relationship Id="rId81" Type="http://schemas.openxmlformats.org/officeDocument/2006/relationships/font" Target="fonts/Pl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31" Type="http://schemas.openxmlformats.org/officeDocument/2006/relationships/slide" Target="slides/slide24.xml"/><Relationship Id="rId75" Type="http://schemas.openxmlformats.org/officeDocument/2006/relationships/slide" Target="slides/slide68.xml"/><Relationship Id="rId30" Type="http://schemas.openxmlformats.org/officeDocument/2006/relationships/slide" Target="slides/slide23.xml"/><Relationship Id="rId74" Type="http://schemas.openxmlformats.org/officeDocument/2006/relationships/slide" Target="slides/slide67.xml"/><Relationship Id="rId33" Type="http://schemas.openxmlformats.org/officeDocument/2006/relationships/slide" Target="slides/slide26.xml"/><Relationship Id="rId77" Type="http://schemas.openxmlformats.org/officeDocument/2006/relationships/slide" Target="slides/slide70.xml"/><Relationship Id="rId32" Type="http://schemas.openxmlformats.org/officeDocument/2006/relationships/slide" Target="slides/slide25.xml"/><Relationship Id="rId76" Type="http://schemas.openxmlformats.org/officeDocument/2006/relationships/slide" Target="slides/slide69.xml"/><Relationship Id="rId35" Type="http://schemas.openxmlformats.org/officeDocument/2006/relationships/slide" Target="slides/slide28.xml"/><Relationship Id="rId79" Type="http://schemas.openxmlformats.org/officeDocument/2006/relationships/slide" Target="slides/slide72.xml"/><Relationship Id="rId34" Type="http://schemas.openxmlformats.org/officeDocument/2006/relationships/slide" Target="slides/slide27.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Welcome. This module covers the cleaner (CP) side of Homeaglow: the Cleaner Journey, the Legacy CP CRM and CP Dashboard, CP profile statuses, deactivation reasons, CP penalties on the C side, operating models, tiering, job statuses, and the Pending Invoice action guide. It ends with a knowledge check.</a:t>
            </a:r>
            <a:endParaRPr/>
          </a:p>
        </p:txBody>
      </p:sp>
      <p:sp>
        <p:nvSpPr>
          <p:cNvPr id="60" name="Google Shape;60;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Walk through today's agenda. In slideshow mode, click any topic to jump straight to it.</a:t>
            </a:r>
            <a:endParaRPr/>
          </a:p>
        </p:txBody>
      </p:sp>
      <p:sp>
        <p:nvSpPr>
          <p:cNvPr id="79" name="Google Shape;79;p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This is the mirror image of the Customer Journey, from the CP's side. It explains things you'll see constantly in CP tickets: why a CP's status shows cpprofile_setpay or cpsignica instead of active, why a background check hasn't cleared even though the CP claimed a job days ago, or why a CP can't claim jobs despite finishing registration.</a:t>
            </a:r>
            <a:endParaRPr/>
          </a:p>
        </p:txBody>
      </p:sp>
      <p:sp>
        <p:nvSpPr>
          <p:cNvPr id="124" name="Google Shape;124;p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Step 1 Explore information: cleaners learn about us through homeaglow.com/apply (job descriptions, benefits, how-to videos, dashboard walkthroughs), search engines (most common), testimonials, friends and family, or by contacting Support. Step 2 Submit job application (registration). Step 3 Claim and manage jobs: the CP moves from registered to actively working. Step 4 Background check: starts only after the CP claims their first job, so they are verified before their first appointment. Step 5 Complete the job and get paid through their chosen payment method.</a:t>
            </a:r>
            <a:endParaRPr/>
          </a:p>
        </p:txBody>
      </p:sp>
      <p:sp>
        <p:nvSpPr>
          <p:cNvPr id="155" name="Google Shape;155;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Step 1: go to homeaglow.com/apply and enter a zip code. Step 2: fill out details (name, email, address etc.). Step 3: take a short quiz about cleaning homes. Step 4: set up their profile: pay rate, coverage area, schedule, profile photo, SSN and pay details. Step 5: watch the welcome video, after which their profile is created and they can begin claiming jobs. Everything before the first claim is the registration phase; the key uncertainty is whether the CP will follow through and complete a job.</a:t>
            </a:r>
            <a:endParaRPr/>
          </a:p>
        </p:txBody>
      </p:sp>
      <p:sp>
        <p:nvSpPr>
          <p:cNvPr id="165" name="Google Shape;165;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Registration is normally quick, but two things commonly block a CP from claiming jobs: no pay details (debit cards and bank accounts are accepted) and no SSN (needed to run the background check, which protects customer safety). Once a CP claims their first job, we assume they are committed, intend to complete it and get paid, and could keep claiming. The background check (BGC) starts only after that first claim, not at registration, so the CP is verified before the first scheduled appointment. BGCs are a free benefit for CPs and a core reason customers trust the platform.</a:t>
            </a:r>
            <a:endParaRPr/>
          </a:p>
        </p:txBody>
      </p:sp>
      <p:sp>
        <p:nvSpPr>
          <p:cNvPr id="175" name="Google Shape;175;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Once a claimed job is completed: the CP processes payment based on their selected payment method; the customer gets email/SMS confirmation and is encouraged to leave a review and tip (optional); if there is a service concern such as quality, the customer may request a refund; the CP can issue a refund themselves, either in response to a request or proactively if they know they didn't fully meet expectations (some CPs do this to protect their review score).</a:t>
            </a:r>
            <a:endParaRPr/>
          </a:p>
        </p:txBody>
      </p:sp>
      <p:sp>
        <p:nvSpPr>
          <p:cNvPr id="206" name="Google Shape;206;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 Recap: the cleaner journey, CP CRM and Dashboard, profile statuses, deactivation codes, operating models, tiering, job statuses and the Pending Invoice action guide.</a:t>
            </a:r>
            <a:endParaRPr/>
          </a:p>
        </p:txBody>
      </p:sp>
      <p:sp>
        <p:nvSpPr>
          <p:cNvPr id="234" name="Google Shape;234;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Legacy CP CRM is where we manage CP (cleaner) accounts.</a:t>
            </a:r>
            <a:endParaRPr/>
          </a:p>
        </p:txBody>
      </p:sp>
      <p:sp>
        <p:nvSpPr>
          <p:cNvPr id="252" name="Google Shape;252;p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Legacy CP CRM is where we manage CP accounts. The screenshot is a preview with sample training details (Truffle Wuffle); the trainer will walk through the live system next.</a:t>
            </a:r>
            <a:endParaRPr/>
          </a:p>
        </p:txBody>
      </p:sp>
      <p:sp>
        <p:nvSpPr>
          <p:cNvPr id="280" name="Google Shape;280;p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Switch to the live Legacy CP CRM now. Do not demo from the slides. Suggested flow: open a CP account, show profile status and rate, the Flags table and status history, tier and keep rate, claimed and invoiced jobs, and the message thread. Adjust to the cohort.</a:t>
            </a:r>
            <a:endParaRPr/>
          </a:p>
        </p:txBody>
      </p:sp>
      <p:sp>
        <p:nvSpPr>
          <p:cNvPr id="316" name="Google Shape;316;p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CP Dashboard is the cleaner-facing side. Seeing it helps agents guide CPs step by step.</a:t>
            </a:r>
            <a:endParaRPr/>
          </a:p>
        </p:txBody>
      </p:sp>
      <p:sp>
        <p:nvSpPr>
          <p:cNvPr id="347" name="Google Shape;347;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CP Dashboard is where cleaners claim and manage their jobs and manage their account. The screenshot shows claimed jobs on a calendar, Steps to Success guides, and links to update rate and availability. Customer addresses are sample data.</a:t>
            </a:r>
            <a:endParaRPr/>
          </a:p>
        </p:txBody>
      </p:sp>
      <p:sp>
        <p:nvSpPr>
          <p:cNvPr id="375" name="Google Shape;375;p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Switch to the live CP Dashboard now. Suggested flow: claimable jobs, the claimed-jobs calendar, a job's details, Charge Client, updating rate and availability, and account settings.</a:t>
            </a:r>
            <a:endParaRPr/>
          </a:p>
        </p:txBody>
      </p:sp>
      <p:sp>
        <p:nvSpPr>
          <p:cNvPr id="411" name="Google Shape;411;p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Every time you coach or penalize a CP in a PCQ, Overcharged Hours or Reliability ticket, you are changing (or deciding not to change) their status. Understanding what each status does is what separates "I flagged the CP" from "I understood what that flag does to their ability to work." Status history is in the CP's Flags table: when it changed, to what, and the previous status.</a:t>
            </a:r>
            <a:endParaRPr/>
          </a:p>
        </p:txBody>
      </p:sp>
      <p:sp>
        <p:nvSpPr>
          <p:cNvPr id="442" name="Google Shape;442;p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active: full standing; can claim new jobs, keep upcoming claimed jobs, full dashboard. norequests: can't claim new jobs, keeps upcoming jobs and full dashboard. suspended: can't claim, removed from upcoming jobs, limited dashboard (can still see Completed Jobs to review past pay). norequests and suspended CPs can reactivate with a fee ($15-$25 by cohort) unless they have a do_not_reactivate flag or live in a CA/CAWA Operating Model state. Probation applies for the first jobs after joining and after reactivation from suspension. cp-opt-out: the CP chose not to be available (illness, moved, no longer cleaning); they can reactivate free via the dashboard or CS.</a:t>
            </a:r>
            <a:endParaRPr/>
          </a:p>
        </p:txBody>
      </p:sp>
      <p:sp>
        <p:nvSpPr>
          <p:cNvPr id="473" name="Google Shape;473;p1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Status history: the Flags table on the CP's CRM page shows when a status changed, what it changed to, and the previous status (e.g. cp-step-active &gt; suspended). Changing a status: use the Change Step menu and pick the new status; norequests, suspended and cp-opt-out are grouped under one option. The trainer will show the exact clicks in the live CRM. Names and photo in the screenshots are sample training details.</a:t>
            </a:r>
            <a:endParaRPr/>
          </a:p>
        </p:txBody>
      </p:sp>
      <p:sp>
        <p:nvSpPr>
          <p:cNvPr id="487" name="Google Shape;487;p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p1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Imported: was a Homejoy CP; info imported. cpintrovideo: hasn't finished the intro video. cpprofile_setpay: hasn't set hourly rate (CPs set their own rate; a $5/hr match fee may apply to first jobs with each client in General Operating Model states; CPs can update rate anytime). cpprofilebio: hasn't uploaded photo/bio. cpprofilesetuppayment: hasn't entered legal info for the BGC or payment info (they can temporarily skip payment details to see claimable jobs). cpsignica: hasn't accepted the Platform Access Agreement. cphowitworks: hasn't done the quiz, OR was active but hasn't accessed the dashboard in 30+ days (auto_update_inactive_cp_step flag), OR was active but has no photo (auto_update_bad_photo_cp_step flag).</a:t>
            </a:r>
            <a:endParaRPr/>
          </a:p>
        </p:txBody>
      </p:sp>
      <p:sp>
        <p:nvSpPr>
          <p:cNvPr id="514" name="Google Shape;514;p1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System-generated status changes. Keep rate: &lt;=80% (more than 20% cancellations) norequests; &lt;70% suspended; in probation &lt;100% suspended. No-shows: 2 in the last 5 jobs suspended; in probation any no-show suspended. Reviews (only OCW reviews): average &lt;4.0 across various counts, last 4 averaged 2.8, or last 6 averaged 3.0 norequests; in probation any 1- or 2-star review suspended. Reschedules: various calculations norequests. Serious risks (false invoices, theft, damage): 2 refund requests in last 10 jobs norequests; new CP 2 suspended. Cleaning supplies photo: rejected norequests, rejected 3+ suspended. Profile photo: same. BG check: info matches another CP suspended or norequests; same info as a fraud-flagged CP suspended; not clear suspended. Misc: CP rescheduled a job to before their account was created suspended. New CPs (0-2 invoiced jobs since their latest activation) are on probation with stricter thresholds.</a:t>
            </a:r>
            <a:endParaRPr/>
          </a:p>
        </p:txBody>
      </p:sp>
      <p:sp>
        <p:nvSpPr>
          <p:cNvPr id="551" name="Google Shape;551;p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p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panel shows the CP's current status and rate, their review score, lifetime issues (damage, theft, false invoice, overcharged hours), and a Limit vs Actual table for the last 60 days (no-shows, reschedules, cancels, lockouts, last-minute cancels). Actual is issues divided by invoiced jobs. Use it with the flag history before deciding on a status change.</a:t>
            </a:r>
            <a:endParaRPr/>
          </a:p>
        </p:txBody>
      </p:sp>
      <p:sp>
        <p:nvSpPr>
          <p:cNvPr id="563" name="Google Shape;563;p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4" name="Google Shape;594;p2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Ask: "If I were the customer, would I want this CP for my cleaning?" If no, norequests or suspended is likely appropriate after proper review. A new customer with a bad first job is 50% less likely to stay on the platform, so this protects retention as well as quality. Never change a CP's status without checking the reason or flag history first: a status change without context is how legitimate CPs get penalized for something that wasn't their fault.</a:t>
            </a:r>
            <a:endParaRPr/>
          </a:p>
        </p:txBody>
      </p:sp>
      <p:sp>
        <p:nvSpPr>
          <p:cNvPr id="595" name="Google Shape;595;p2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2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 Recap: the cleaner journey, CP CRM and Dashboard, profile statuses, deactivation codes, operating models, tiering, job statuses and the Pending Invoice action guide.</a:t>
            </a:r>
            <a:endParaRPr/>
          </a:p>
        </p:txBody>
      </p:sp>
      <p:sp>
        <p:nvSpPr>
          <p:cNvPr id="616" name="Google Shape;616;p2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2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p2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 CP-facing deactivation reason is a specific reason code plus a templated sentence. The same code is stored as the value of the deactivation flag.</a:t>
            </a:r>
            <a:endParaRPr/>
          </a:p>
        </p:txBody>
      </p:sp>
      <p:sp>
        <p:nvSpPr>
          <p:cNvPr id="634" name="Google Shape;634;p2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1" name="Google Shape;661;p2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When you change a CP's status to norequests or suspended, the reason shows on the CP's own dashboard and is stored in our database as the status flag's value, which is how we track deactivation patterns. Using the wrong code, or skipping the format, breaks both. Rule: always use the exact reason code format. Never write a freeform reason.</a:t>
            </a:r>
            <a:endParaRPr/>
          </a:p>
        </p:txBody>
      </p:sp>
      <p:sp>
        <p:nvSpPr>
          <p:cNvPr id="662" name="Google Shape;662;p2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2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3" name="Google Shape;683;p2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Top: the CP-facing reason box ("Explain to CP in 1 sentence: Why was I deactivated? &amp; Call to Action"); the sample shows cpq_false_invoice. Middle: reference tables with templated wording by situation and codes to use (HGTA, 199, ssn_validation_failed, bgcheck_not_clear). Bottom: the three status buttons: norequests &amp; notify CP (no new jobs, keeps existing jobs and dashboard); suspended &amp; remove CP from claimed jobs (no new jobs, existing jobs or dashboard); cp-opt-out &amp; remove CP from claimed jobs (also stops system messages), with notify and do_not_reactivate checkboxes. The window also shows whether the CP is eligible for timed reactivation.</a:t>
            </a:r>
            <a:endParaRPr/>
          </a:p>
        </p:txBody>
      </p:sp>
      <p:sp>
        <p:nvSpPr>
          <p:cNvPr id="684" name="Google Shape;684;p2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5" name="Google Shape;715;p2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Examples: cpq_cash Cash Payment J 1234567 / cpq_cancel Your customer Joseph reported you cancelled their Monday Oct 9 job. Submit reactivation appeal through dashboard. / cpq_false_invoice Customer Mary reported incorrect hours charged. Submit reactivation appeal. / cpq_noshow Your customer Janis reported you didn't show up to their Monday Oct 9 job. Submit reactivation appeal through dashboard. / cpq_overcharge Customer Kyle reported incorrect hours charged. Submit reactivation appeal. / cpq_invalid_cancel Upon review, your customer cancellation report has been deemed invalid. Submit reactivation appeal through dashboard. / cpq_reschedule Your customer George reported you rescheduled their Monday Oct 9 job without permission. Submit reactivation appeal through dashboard. / HGTA 1234567. Rule: always use the exact reason code format; never write a freeform reason.</a:t>
            </a:r>
            <a:endParaRPr/>
          </a:p>
        </p:txBody>
      </p:sp>
      <p:sp>
        <p:nvSpPr>
          <p:cNvPr id="716" name="Google Shape;716;p2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5" name="Google Shape;725;p2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 Recap: the cleaner journey, CP CRM and Dashboard, profile statuses, deactivation codes, operating models, tiering, job statuses and the Pending Invoice action guide.</a:t>
            </a:r>
            <a:endParaRPr/>
          </a:p>
        </p:txBody>
      </p:sp>
      <p:sp>
        <p:nvSpPr>
          <p:cNvPr id="726" name="Google Shape;726;p2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p2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This covers what you do on the CP side when a customer reports a no-show, cancellation, false invoice, overcharged hours, missing supplies, rude behavior and similar issues. Category: Service Issue.</a:t>
            </a:r>
            <a:endParaRPr/>
          </a:p>
        </p:txBody>
      </p:sp>
      <p:sp>
        <p:nvSpPr>
          <p:cNvPr id="744" name="Google Shape;744;p2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4" name="Google Shape;774;p2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First resolve the customer's issue using the related article for that issue. Then take the CP-side action: pause, coach, flag and document. You don't make the permanent decision about the CP, and you don't suspend CPs yourself: that belongs to the CP-side team, Trust &amp; Safety, or the system. You are seeing one incident, from one side; the CP-side team sees the CP's full history and hears the CP's side before deciding anything permanent.</a:t>
            </a:r>
            <a:endParaRPr/>
          </a:p>
        </p:txBody>
      </p:sp>
      <p:sp>
        <p:nvSpPr>
          <p:cNvPr id="775" name="Google Shape;775;p2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3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5" name="Google Shape;795;p3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norequests: the CP can't claim new jobs but keeps their upcoming claimed jobs. suspended: the CP is removed from every upcoming claimed job, and those customers are notified. Suspending over one complaint may cancel several other customers' cleanings. Example: a customer reports the CP arrived without supplies. The CP has four claimed jobs this week with other customers who had no problems. norequests stops new claims and lets those four customers keep their cleanings; suspending would cancel all four.</a:t>
            </a:r>
            <a:endParaRPr/>
          </a:p>
        </p:txBody>
      </p:sp>
      <p:sp>
        <p:nvSpPr>
          <p:cNvPr id="796" name="Google Shape;796;p3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Default CP-side action: norequests + coaching + the relevant flag + an internal note. C-side agents don't suspend a CP (except the false-invoice exception), add a DNR flag, permanently deactivate a CP, or reactivate a CP.</a:t>
            </a:r>
            <a:endParaRPr/>
          </a:p>
        </p:txBody>
      </p:sp>
      <p:sp>
        <p:nvSpPr>
          <p:cNvPr id="818" name="Google Shape;818;p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3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9" name="Google Shape;849;p3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Safety concern: theft, damage, threats, harassment, someone else doing jobs under the CP's account, or anything that makes the customer feel unsafe: route to Trust &amp; Safety and follow the T&amp;S process. System auto-suspended after your flag/report (e.g. no-show report, second cp_false_invoice on a new CP): leave it, don't override or downgrade; coach the CP, tell them about the penalty and how to appeal from their dashboard, add your internal note. First instance of a warning-level offense: coach only, no status change (false invoices are not warning-level). False invoice: norequests and ask the CP what happened, even when the customer says the CP never came (GPS alone can't confirm; CPs aren't required to turn it on). Multiple false invoices with an abusive pattern: you may set suspended; the only case a C-side agent sets suspended. Never add DNR.</a:t>
            </a:r>
            <a:endParaRPr/>
          </a:p>
        </p:txBody>
      </p:sp>
      <p:sp>
        <p:nvSpPr>
          <p:cNvPr id="850" name="Google Shape;850;p3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1" name="Google Shape;861;p3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Step 1: Is this a safety issue? Yes: route to Trust &amp; Safety; you're done on the CP side. Step 2: Did the system already suspend the CP? Check the CP's Issues table after adding your flag or report. Yes: leave the status, send the coaching macro, add your note; you're done. Step 3: find the offense in the table and take the listed action. Step 4: coach the CP. Step 5: leave an internal note.</a:t>
            </a:r>
            <a:endParaRPr/>
          </a:p>
        </p:txBody>
      </p:sp>
      <p:sp>
        <p:nvSpPr>
          <p:cNvPr id="862" name="Google Shape;862;p3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p3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p3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No-show or CP cancellation: report via Job Admin &gt; No Show, or cancel the job from the CP Dashboard when the CP should be penalized; either usually makes the system set norequests or suspended. Lean coaching; set norequests yourself only if the CP already has a couple of no-shows or cancellations. Overcharged hours: cp_overcharged_hours flag if the refund is 30+ minutes. Accepted cash: the macro adds accepting_cash_not_allowed_warning. Supplies (Gen Op): require_new_cleaning_supplies_photo sets norequests automatically. Easy to miss: unauthorized reschedule and accepted cash are coaching-only on the first instance; check message history and flags for a previous warning before pausing. Macros: No Show/Cancellation (No Request); Unauthorized Reschedule (Warning); False Invoice (With Penalty); Overcharged Hours series; Accepted Cash (Coaching) / (Warning + Account Adjustment); No/Incomplete Cleaning Supplies; Rude to Customer (Coaching).</a:t>
            </a:r>
            <a:endParaRPr/>
          </a:p>
        </p:txBody>
      </p:sp>
      <p:sp>
        <p:nvSpPr>
          <p:cNvPr id="905" name="Google Shape;905;p3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3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p3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Coaching message: explain specifically what was reported; tell the CP their account is paused (if you paused it) and how to appeal through their dashboard; do not hint at an outcome ("you'll probably be reactivated", "this could be permanent"). The CP-side team decides. Internal note: the CP-side team uses it to decide on reactivation; a clear note saves them from investigating again. Template: CP No Request — J &lt;JOB ID&gt; / Reported by C: &lt;what the customer said, one line&gt; / Evidence: &lt;what you verified: comms, GPS if available, CTJ, photos&gt; / Action: &lt;flag added&gt; / &lt;status set&gt; / &lt;macro sent&gt; / C-side resolution: &lt;refund, credits, rebook, etc.&gt;</a:t>
            </a:r>
            <a:endParaRPr/>
          </a:p>
        </p:txBody>
      </p:sp>
      <p:sp>
        <p:nvSpPr>
          <p:cNvPr id="917" name="Google Shape;917;p3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5" name="Google Shape;93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Quick knowledge check: CP Profile Status and CP-Facing Deactivation Reasons. Ask each question and let trainees answer before revealing. Each click reveals the next answer. Answers: 1) Yes: norequests can't claim new jobs but keeps claimed ones, with full dashboard access. 2) Suspended can't claim new jobs, claimed jobs are removed, and the dashboard is limited to Completed Jobs; reactivation for both is a $15–25 fee (not available with a do_not_reactivate flag or in CA/CA-WA). 3) Check the reason or flag history in the Flags table first, and ask "If I were the customer, would I want this cleaner for my cleaning?" 4) New cleaners (0–2 invoiced jobs since activation) are on probation: any no-show moves them to suspended. 5) In the Change CP step window in the Legacy CP CRM; always use the exact reason code format, never a freeform reason, because the cleaner sees it on their dashboard and it's stored as the flag value. 6) cpq_noshow Your customer &lt;C'S NAME&gt; reported you didn't show up to their &lt;DAY, DATE&gt; job. Submit reactivation appeal through dashboard.</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3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3" name="Google Shape;973;p3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 Recap: the cleaner journey, CP CRM and Dashboard, profile statuses, deactivation codes, operating models, tiering, job statuses and the Pending Invoice action guide.</a:t>
            </a:r>
            <a:endParaRPr/>
          </a:p>
        </p:txBody>
      </p:sp>
      <p:sp>
        <p:nvSpPr>
          <p:cNvPr id="974" name="Google Shape;974;p3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1" name="Google Shape;991;p3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Apply the wrong model and you are applying the wrong policy entirely: reactivation fees, supply requirements, hourly rates and cancellation penalties all differ.</a:t>
            </a:r>
            <a:endParaRPr/>
          </a:p>
        </p:txBody>
      </p:sp>
      <p:sp>
        <p:nvSpPr>
          <p:cNvPr id="992" name="Google Shape;992;p3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9" name="Google Shape;1019;p3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CA / CA-WA Operating Model: California, New Jersey, Illinois, Massachusetts, Washington. Users in this model have a banner next to their name on the CRM. General Operating Model: all other states; no banner. If no operating model banner is present, the user is in the General Operating Model.</a:t>
            </a:r>
            <a:endParaRPr/>
          </a:p>
        </p:txBody>
      </p:sp>
      <p:sp>
        <p:nvSpPr>
          <p:cNvPr id="1020" name="Google Shape;1020;p3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p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1" name="Google Shape;1041;p4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Users in the CA or CA-WA Operating Model have a banner next to their name on the CRM. No banner means the General Operating Model. The sample shows a CA Operating Model cleaner.</a:t>
            </a:r>
            <a:endParaRPr/>
          </a:p>
        </p:txBody>
      </p:sp>
      <p:sp>
        <p:nvSpPr>
          <p:cNvPr id="1042" name="Google Shape;1042;p4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p4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Day to day: if a CA/CAWA CP didn't bring cleaning supplies, coach but don't penalize, and don't apply the require_new_cleaning_supplies_photo flag. When calculating first-time-client pay, check the model: General CPs lose $5/hr on that job; CA/CAWA CPs don't. Whether a CP cancellation is penalized depends on the model and how much notice was given. CA/CAWA CPs must certify their business is registered and give the business name, except WA CPs, who register with the Department of Revenue and give a Universal Business Identifier.</a:t>
            </a:r>
            <a:endParaRPr/>
          </a:p>
        </p:txBody>
      </p:sp>
      <p:sp>
        <p:nvSpPr>
          <p:cNvPr id="1067" name="Google Shape;1067;p4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8" name="Google Shape;1078;p4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 Recap: the cleaner journey, CP CRM and Dashboard, profile statuses, deactivation codes, operating models, tiering, job statuses and the Pending Invoice action guide.</a:t>
            </a:r>
            <a:endParaRPr/>
          </a:p>
        </p:txBody>
      </p:sp>
      <p:sp>
        <p:nvSpPr>
          <p:cNvPr id="1079" name="Google Shape;1079;p4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6" name="Google Shape;1096;p4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Important: CP Tiering is internal information only. Disclosing tier levels, tiering logic or how matching works to a CP or customer is a Zero Tolerance Policy violation.</a:t>
            </a:r>
            <a:endParaRPr/>
          </a:p>
        </p:txBody>
      </p:sp>
      <p:sp>
        <p:nvSpPr>
          <p:cNvPr id="1097" name="Google Shape;1097;p4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p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Claimable jobs are first-come, first-served, so standing alone has little effect on who claims. Without tiering, customers could be matched with CPs with low reviews or poor reliability just because they claimed first. Tiering controls when CPs even see a job. It explains why a requested CP couldn't claim in time, or why a higher-tier CP swapped into a lower-tier CP's job. To check a CP's tier: click the Tier banner on CRM, or CP View &gt; CleanerTier for full Tier History.</a:t>
            </a:r>
            <a:endParaRPr/>
          </a:p>
        </p:txBody>
      </p:sp>
      <p:sp>
        <p:nvSpPr>
          <p:cNvPr id="1125" name="Google Shape;1125;p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1" name="Google Shape;1151;p4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Click the CP's Tier banner on the CRM, or go to CP View &gt; CleanerTier, to see their full Tier History. Tiering is internal: never share it with a CP or customer (ZTP).</a:t>
            </a:r>
            <a:endParaRPr/>
          </a:p>
        </p:txBody>
      </p:sp>
      <p:sp>
        <p:nvSpPr>
          <p:cNvPr id="1152" name="Google Shape;1152;p4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p4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Requested CP: sees FC jobs once submitted; off-brand and claim limit follow their actual tier; protected from swaps at all times. Tier 10: FC jobs 48 hrs before start if requested CPs exist, otherwise once submitted; can't see off-brand; always protected; no limit. Tier 9: 48 hrs (requested) / 96 hrs (none); no off-brand; can't be swapped &lt;48 hrs; no limit. Tier 8: 36 / 72 hrs; off-brand 24 hrs before start; protected &lt;36 hrs; no limit. Tier 7: 24 / 48 hrs; off-brand once submitted; protected &lt;24 hrs; max 4. Tier 6: 24 / 36 hrs; max 3. Tier 5: 24 hrs if requested CPs exist; max 2. Tiers 4 and 3: same as Tier 5; max 2. Tiers 2 and 1: same; max 1.</a:t>
            </a:r>
            <a:endParaRPr/>
          </a:p>
        </p:txBody>
      </p:sp>
      <p:sp>
        <p:nvSpPr>
          <p:cNvPr id="1177" name="Google Shape;1177;p4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p4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6" name="Google Shape;1186;p4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Requested CPs are set in Job Admin under job.customer.requested_cp. Swapping: higher-tier CPs can swap into a job claimed by a lower-tier CP if the job is more than 24-48 hours away (depending on tier). The customer sees they were matched with a different, usually better-suited cleaner; the swapped-out CP is told the customer cancelled. This framing is deliberate. Exception: a CP is protected if they have sent and received at least one non-system message with the customer in the past month. Swapping is internal: disclosing it is a ZTP violation.</a:t>
            </a:r>
            <a:endParaRPr/>
          </a:p>
        </p:txBody>
      </p:sp>
      <p:sp>
        <p:nvSpPr>
          <p:cNvPr id="1187" name="Google Shape;1187;p4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7" name="Google Shape;1207;p4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 Recap: the cleaner journey, CP CRM and Dashboard, profile statuses, deactivation codes, operating models, tiering, job statuses and the Pending Invoice action guide.</a:t>
            </a:r>
            <a:endParaRPr/>
          </a:p>
        </p:txBody>
      </p:sp>
      <p:sp>
        <p:nvSpPr>
          <p:cNvPr id="1208" name="Google Shape;1208;p4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5" name="Google Shape;1225;p4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same complaint ("my cleaner never showed") is handled completely differently depending on whether the job is Submitted, was Claimed and abandoned, or is in Pending Invoice. Knowing the statuses means reading the account instead of guessing.</a:t>
            </a:r>
            <a:endParaRPr/>
          </a:p>
        </p:txBody>
      </p:sp>
      <p:sp>
        <p:nvSpPr>
          <p:cNvPr id="1226" name="Google Shape;1226;p4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p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6" name="Google Shape;1256;p5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Normal path: Pending (right after the customer clicks Book; only visible via direct link) &gt; Submitted &gt; Claimed &gt; Pending Invoice &gt; Invoiced. Submitted, Claimed, Pending Invoice and Invoiced can each become Cancelled. Pending can also become Cancelled (e.g. an expired Handshake booking). Invoiced only becomes Cancelled through a full refund, not a direct status change.</a:t>
            </a:r>
            <a:endParaRPr/>
          </a:p>
        </p:txBody>
      </p:sp>
      <p:sp>
        <p:nvSpPr>
          <p:cNvPr id="1257" name="Google Shape;1257;p5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p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9" name="Google Shape;1289;p5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customer page groups jobs into panels: Pending Invoice Jobs (past their scheduled time but not yet invoiced; a count badge shows how many), Claimed &amp; Submitted (upcoming jobs, either still waiting for a cleaner or already claimed), Completed Jobs (invoiced jobs, with type, hours requested vs invoiced, cleaner, rating and review; a Failed Charge tag shows a charge that didn't go through), and Cancelled Jobs. Each panel links to View all in admin and View job history in admin.</a:t>
            </a:r>
            <a:endParaRPr/>
          </a:p>
        </p:txBody>
      </p:sp>
      <p:sp>
        <p:nvSpPr>
          <p:cNvPr id="1290" name="Google Shape;1290;p5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5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7" name="Google Shape;1327;p5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Who can book: customers (dashboard), CPs for repeat clients (dashboard or the CP App Handshake feature, if the C has &lt;2 failed charges and no known_customer_fraud flag, the CP is active, under their claim limit, rate &lt;= $30 and no more than $5 above the C's last max requested rate, no deactivation flag, and they aren't banned), and CS via CRM. Bookings can be made up to 12 hours before start; within 48 hours a system priority fee applies (not for CRM bookings). If still unclaimed 24 hours before start, the system adds alternate start times (10 AM-2 PM that day and the next 2 days); add do_not_auto_add_alternate_start_times (C CRM &gt; Do) if the customer objects. can_substitute may flip to True if unclaimed &lt;=48 hrs before start and no requested CP can claim. A submitted job becomes a Priority Request within 24-48 hours of start: more notifications, and CPs with rates up to 14% above the C's previous max can claim. Common tickets: match anxiety, last-minute requests, gender preference (rematch &gt;6 hrs before), specific CP requests (only change Requested CPs if the customer explicitly asks).</a:t>
            </a:r>
            <a:endParaRPr/>
          </a:p>
        </p:txBody>
      </p:sp>
      <p:sp>
        <p:nvSpPr>
          <p:cNvPr id="1328" name="Google Shape;1328;p5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7" name="Shape 1357"/>
        <p:cNvGrpSpPr/>
        <p:nvPr/>
      </p:nvGrpSpPr>
      <p:grpSpPr>
        <a:xfrm>
          <a:off x="0" y="0"/>
          <a:ext cx="0" cy="0"/>
          <a:chOff x="0" y="0"/>
          <a:chExt cx="0" cy="0"/>
        </a:xfrm>
      </p:grpSpPr>
      <p:sp>
        <p:nvSpPr>
          <p:cNvPr id="1358" name="Google Shape;1358;p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9" name="Google Shape;1359;p5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1) Match anxiety: the customer asks if their request has been claimed, or when it will be. A submitted job is automatically upgraded to a Priority Request within 24-48 hours of the start time. 2) Last-minute job request: CS may book cleaning requests as soon as 12 hours in advance. Priority markups do not apply to jobs booked via CRM. 3) Customer wants a cleaner of a specific gender: there is no option to select a gender, but customers may request to be rematched with another cleaner any time more than 6 hours before the job start time if they don't like the cleaner who claims. Preferences can also be added to the cleaning notes. 4) Customer wants a specific cleaner for an upcoming appointment: we can change the customer's Requested CPs through the Job Admin Page, only if they explicitly request it. TRAINER NOTE: walk trainees through how to change Requested CPs on the Job Admin Page. 5) Customer has a strict schedule and can only do certain dates/times: to increase the likelihood of the job being claimed, the system may automatically add alternate start times if the job is still unclaimed 24 hours before it starts. To stop this, add the flag: C CRM &gt; Do &gt; do_not_auto_add_alternate_start_times.</a:t>
            </a:r>
            <a:endParaRPr/>
          </a:p>
        </p:txBody>
      </p:sp>
      <p:sp>
        <p:nvSpPr>
          <p:cNvPr id="1360" name="Google Shape;1360;p5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p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5" name="Google Shape;1395;p5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Customers can reschedule via dashboard 6+ hours before start (new bookings need 12+ hours; don't apply the 12-hour rule to a reschedule). A priority fee may apply if the new slot is &lt;48 hours away. Rematch: C Dashboard &gt; Manage Appointment &gt; Change My Cleaner, available until 6 hours before start. CP swapping can happen (internal). The CP can file a lockout (OCW: up to 24 hrs after start; CP App: 5 min before to 1 hr after start), reschedule (with the C's agreement, even after the job time passed), or cancel from their dashboard if no agreement. Reschedule may be unavailable if the C had 2+ undesired changes (CP reschedules, no-shows, system cancels) in the last 7 days.</a:t>
            </a:r>
            <a:endParaRPr/>
          </a:p>
        </p:txBody>
      </p:sp>
      <p:sp>
        <p:nvSpPr>
          <p:cNvPr id="1396" name="Google Shape;1396;p5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7" name="Google Shape;1417;p5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1) Job is claimed at a different date than initially booked: check the job history to see if the job was claimed at an alternate date and time, or was rescheduled by the cleaner. 2) Customer reports they received confirmations from 2 different cleaners: check the job history to see if the first cleaner cancelled or was swapped out. Remember swapping is internal: never mention it to the customer. 3) Customer wants their cleaner changed: change the cleaner from the Job Admin Page. TRAINER NOTE: demo how to change the cleaner on the Job Admin Page. 4) Customer wants the appointment rescheduled: reschedule from the C Dashboard, or cancel and rebook from the CRM if rescheduling would result in a priority fee.</a:t>
            </a:r>
            <a:endParaRPr/>
          </a:p>
        </p:txBody>
      </p:sp>
      <p:sp>
        <p:nvSpPr>
          <p:cNvPr id="1418" name="Google Shape;1418;p5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1" name="Shape 1451"/>
        <p:cNvGrpSpPr/>
        <p:nvPr/>
      </p:nvGrpSpPr>
      <p:grpSpPr>
        <a:xfrm>
          <a:off x="0" y="0"/>
          <a:ext cx="0" cy="0"/>
          <a:chOff x="0" y="0"/>
          <a:chExt cx="0" cy="0"/>
        </a:xfrm>
      </p:grpSpPr>
      <p:sp>
        <p:nvSpPr>
          <p:cNvPr id="1452" name="Google Shape;1452;p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3" name="Google Shape;1453;p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This status occurs after the cleaner completes the job and invoices by clicking Charge Client on their dashboard. Once invoiced, the customer can leave a review and tip, or request a refund if there is an issue (covered in a separate session). The cleaner can issue a refund and leave a review for the C via the CP App. An invoiced job becomes Cancelled once a full refund is issued.</a:t>
            </a:r>
            <a:endParaRPr/>
          </a:p>
        </p:txBody>
      </p:sp>
      <p:sp>
        <p:nvSpPr>
          <p:cNvPr id="1454" name="Google Shape;1454;p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p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5" name="Google Shape;1475;p5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Each issue has its own process guide in the Knowledge Library, covered in later sessions. 1) Poor Cleaning Quality (PCQ): the customer is not satisfied with the cleaning; follow the Poor Cleaning Quality process guide. 2) Overcharged Hours (OCH): the customer reports an incorrect number of hours billed; follow the Overcharged Hours process guide. 3) False Invoice: the cleaner billed the customer even though they didn't show up; follow the False Invoice process guide. 4) Lockout (LO): the cleaner couldn't get into the customer's home and submitted a lockout; follow the Lockout validation process. 5) Billing Inquiry: the customer asks for an explanation of their charges; provide clarification of the charges (see C Price vs CP Pay in Platform &amp; Operating Mechanics).</a:t>
            </a:r>
            <a:endParaRPr/>
          </a:p>
        </p:txBody>
      </p:sp>
      <p:sp>
        <p:nvSpPr>
          <p:cNvPr id="1476" name="Google Shape;1476;p5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p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9" name="Google Shape;1509;p5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Customers can cancel via dashboard unless invoiced (a Last-Minute Cancellation fee may apply &lt;6 hrs before start). CPs can cancel via dashboard or CP App unless invoiced, but it may affect their Keep Rate; no penalty if they report an emergency, a safety concern, or that the client wants to cancel via the CP App. CS can cancel via C CRM &gt; Do &gt; Job &gt; Cancel: lets us waive LMC fees (job admin page) and doesn't penalize the CP. System cancels if unclaimed at 0, 12 or 24 hours before start, or if the C has a known_customer_fraud flag, no card on file, a declined pre-auth, requested CPs ineligible with can_substitute = False, or an unapproved Handshake booking.</a:t>
            </a:r>
            <a:endParaRPr/>
          </a:p>
        </p:txBody>
      </p:sp>
      <p:sp>
        <p:nvSpPr>
          <p:cNvPr id="1510" name="Google Shape;1510;p5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0" name="Shape 1520"/>
        <p:cNvGrpSpPr/>
        <p:nvPr/>
      </p:nvGrpSpPr>
      <p:grpSpPr>
        <a:xfrm>
          <a:off x="0" y="0"/>
          <a:ext cx="0" cy="0"/>
          <a:chOff x="0" y="0"/>
          <a:chExt cx="0" cy="0"/>
        </a:xfrm>
      </p:grpSpPr>
      <p:sp>
        <p:nvSpPr>
          <p:cNvPr id="1521" name="Google Shape;1521;p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2" name="Google Shape;1522;p5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four most common tickets at this stage: a customer last-minute cancellation, a last-minute CP cancellation, a CP no-show, and no CP claiming the appointment. Whatever the reason, the goal is the same: help the customer get a cleaning right away. Each issue has its own process guide in the Knowledge Library, covered in later sessions.</a:t>
            </a:r>
            <a:endParaRPr/>
          </a:p>
        </p:txBody>
      </p:sp>
      <p:sp>
        <p:nvSpPr>
          <p:cNvPr id="1523" name="Google Shape;1523;p5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p6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0" name="Google Shape;1550;p6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Once the scheduled duration has elapsed from the start time and the CP hasn't invoiced, the job moves from Claimed to Pending Invoice. It can be invoiced by the CP (Charge Client) or the customer (reports "My cleaning was completed"). Changes are still possible: reschedule (CP only), cancel, edit details. The C can cancel (LMC fee may apply), edit duration and extras, update address, edit notes, and via Report an Issue: confirm completion, ask for ETA, cancel. The CP can edit duration before Charge Client but needs the C's permission to add hours; can review the C; can file a lockout (OCPW up to 24 hrs after start; CP App 5 min before to 1 hr after); can reschedule with the C's agreement or cancel.</a:t>
            </a:r>
            <a:endParaRPr/>
          </a:p>
        </p:txBody>
      </p:sp>
      <p:sp>
        <p:nvSpPr>
          <p:cNvPr id="1551" name="Google Shape;1551;p6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0" name="Shape 1570"/>
        <p:cNvGrpSpPr/>
        <p:nvPr/>
      </p:nvGrpSpPr>
      <p:grpSpPr>
        <a:xfrm>
          <a:off x="0" y="0"/>
          <a:ext cx="0" cy="0"/>
          <a:chOff x="0" y="0"/>
          <a:chExt cx="0" cy="0"/>
        </a:xfrm>
      </p:grpSpPr>
      <p:sp>
        <p:nvSpPr>
          <p:cNvPr id="1571" name="Google Shape;1571;p6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2" name="Google Shape;1572;p6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When a customer has a Pending Invoice job, the Pending Invoice Jobs panel shows a count badge and lists the job with a PENDING_INVOICE status, date, type, hours and cleaner. CS must act on it even when it isn't the customer's stated concern; see the AG: Pending Invoice action guide.</a:t>
            </a:r>
            <a:endParaRPr/>
          </a:p>
        </p:txBody>
      </p:sp>
      <p:sp>
        <p:nvSpPr>
          <p:cNvPr id="1573" name="Google Shape;1573;p6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p6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0" name="Google Shape;1600;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Quick knowledge check: Job Statuses. Ask each question and let trainees answer before revealing. Each click reveals the next answer. Answers: 1) Customers can book at least 12 hours ahead (under 48 hours adds a priority fee); CS can book less than 12 hours ahead through the CRM, and priority markups don't apply to CRM bookings. 2) If a Submitted job is unclaimed 24 hours before start, the system adds alternate times; if the customer can't do other times, add the do_not_auto_add_alternate_start_times flag (New CRM &gt; Flags &gt; + Add Flags). Within 24–48 hours of start it's also boosted as a Priority Request. 3) Once claimed, the customer can reschedule or rematch (Manage Appointment &gt; Change My Cleaner) up to 6 hours before the start. 4) An Invoiced job only becomes Cancelled through a full refund (by the cleaner or CS). 5) Pending Invoice: the booked time passed and it isn't invoiced yet; the status changes on a timer, so it doesn't mean the cleaning happened. Act on it even if the customer asked about something else. 6) Check the job history: did the first cleaner cancel, or were they swapped out? Swapping is internal (ZTP): never mention it.</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p6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8" name="Google Shape;1638;p6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Action Guide: Pending Invoice. CS is required to take action on Pending Invoice jobs even when it isn't the customer's or cleaner's stated concern.</a:t>
            </a:r>
            <a:endParaRPr/>
          </a:p>
        </p:txBody>
      </p:sp>
      <p:sp>
        <p:nvSpPr>
          <p:cNvPr id="1639" name="Google Shape;1639;p6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p6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9" name="Google Shape;1669;p6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Example: a job on January 2 at 10 AM for 3 hours changes to Pending Invoice at 1 PM automatically. It may also mean the CP couldn't complete the cleaning and is coordinating a reschedule, the customer requested a cancellation that hasn't been processed, or the job was completed but not invoiced. That is why CS must act on Pending Invoice jobs even when it isn't the stated concern.</a:t>
            </a:r>
            <a:endParaRPr/>
          </a:p>
        </p:txBody>
      </p:sp>
      <p:sp>
        <p:nvSpPr>
          <p:cNvPr id="1670" name="Google Shape;1670;p6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p6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9" name="Google Shape;1699;p6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Step 1: review the C/CP comms and any C or CP messages to CS to identify whether the job was completed. Step 2: act on the evidence (next slide). Step 3: if evidence is insufficient, check whether 72 hours have passed since the job's end time. Yes: waive the cancellation fee so the C isn't charged, cancel with the appropriate reason, send C and/or CP comms. No: message the C to confirm whether the job was completed, and consider calling the C/CP. Even before 72 hours, you can cancel if comms clearly show the cleaning didn't happen.</a:t>
            </a:r>
            <a:endParaRPr/>
          </a:p>
        </p:txBody>
      </p:sp>
      <p:sp>
        <p:nvSpPr>
          <p:cNvPr id="1700" name="Google Shape;1700;p6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p6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6" name="Google Shape;1726;p6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Completed: check whether the C messaged us confirming completion. If yes and the C confirmed a different duration: invoice in the CP Dashboard with the updated duration, tell the C we marked it completed, tell the CP we invoiced on their behalf with the duration, and coach the CP about leaving jobs pending. If yes and same duration: mark completed in the C dashboard (Select job &gt; Report an Issue &gt; My Cleaning was Completed). If the C hasn't confirmed: message the C to confirm the duration and the CP to invoice. Not completed: if the C initiated the cancellation, cancel from the C CRM. If the CP initiated, cancel from the CP dashboard to penalize the CP, or from the C CRM if no penalty should apply. Not sure: go to Step 3.</a:t>
            </a:r>
            <a:endParaRPr/>
          </a:p>
        </p:txBody>
      </p:sp>
      <p:sp>
        <p:nvSpPr>
          <p:cNvPr id="1727" name="Google Shape;1727;p6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7" name="Shape 1747"/>
        <p:cNvGrpSpPr/>
        <p:nvPr/>
      </p:nvGrpSpPr>
      <p:grpSpPr>
        <a:xfrm>
          <a:off x="0" y="0"/>
          <a:ext cx="0" cy="0"/>
          <a:chOff x="0" y="0"/>
          <a:chExt cx="0" cy="0"/>
        </a:xfrm>
      </p:grpSpPr>
      <p:sp>
        <p:nvSpPr>
          <p:cNvPr id="1748" name="Google Shape;1748;p6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9" name="Google Shape;1749;p6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Yes, specific date/time agreed: proactively reschedule the job to that date/time via the CP dashboard. No specific date/time: check whether 72 hours have passed since the job end time. Not yet: send C and CP comms about the pending job with reschedule instructions. Yes: waive the cancellation fee, cancel via C CRM &gt; Do with the reason that matches who initiated the reschedule, and tell the C the job was cancelled with rebooking instructions.</a:t>
            </a:r>
            <a:endParaRPr/>
          </a:p>
        </p:txBody>
      </p:sp>
      <p:sp>
        <p:nvSpPr>
          <p:cNvPr id="1750" name="Google Shape;1750;p6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6" name="Shape 1766"/>
        <p:cNvGrpSpPr/>
        <p:nvPr/>
      </p:nvGrpSpPr>
      <p:grpSpPr>
        <a:xfrm>
          <a:off x="0" y="0"/>
          <a:ext cx="0" cy="0"/>
          <a:chOff x="0" y="0"/>
          <a:chExt cx="0" cy="0"/>
        </a:xfrm>
      </p:grpSpPr>
      <p:sp>
        <p:nvSpPr>
          <p:cNvPr id="1767" name="Google Shape;1767;p6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8" name="Google Shape;1768;p6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Customer credit card failed: proactive, if we likely can't charge an invalid card. Failed pre-auth: explain the pre-auth first; cancel only if the C still wants to. Customer disputed credit card charge: proactive, if the C previously disputed Homeaglow charges. Customer price: disagrees with the cost. Customer wants one time: doesn't want a recurring schedule or only wanted a one-time. Customer doesn't want service: no reason given, membership-only reason, or invalid address with an unresponsive C after multiple attempts. Customer moved. Customer schedule: schedule conflict. Customer change frequency: changing RC frequency. Customer last job was lockout/LMC: proactive, inactive C with a prior LO/LMC. Customer double-booked: two cleanings on the same date or under 7 days apart. Customer wants requested CP: only wants their requested cleaner, who couldn't take it.</a:t>
            </a:r>
            <a:endParaRPr/>
          </a:p>
        </p:txBody>
      </p:sp>
      <p:sp>
        <p:nvSpPr>
          <p:cNvPr id="1769" name="Google Shape;1769;p6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p6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8" name="Google Shape;1778;p6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CP quality: the C wants to cancel because the previous CP didn't meet expectations, or due to PCQ. CP no-show/reschedule: the CP needs to cancel but tried to reschedule; no C/CP comms and the C hasn't said why; or the CP rescheduled without consent. CP cancellation: CP-initiated with no reschedule attempts. No CP claimed: the C cancels because no cleaner claimed. Escalated safety issue. Homeaglow UI: system or dashboard issue. Voucher invalid move-out: job was a move-out clean and the C refused required extra hours. Natural disaster.</a:t>
            </a:r>
            <a:endParaRPr/>
          </a:p>
        </p:txBody>
      </p:sp>
      <p:sp>
        <p:nvSpPr>
          <p:cNvPr id="1779" name="Google Shape;1779;p6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p7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0" name="Google Shape;1790;p7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TRAINER: give trainees a few minutes, then discuss. Read the comms: the customer told the cleaner "I'm going to cancel it because I have some things to do myself", and the cleaner agreed ("Yeah, no problem"). The job has been in Pending Invoice for 75 hours. Suggested answer (trainer to confirm): the comms clearly show the cleaning did not happen and the customer initiated the cancellation, so per the action guide cancel the job from the C CRM (no CP penalty) with the matching customer reason code, and send the C and/or CP comms. It is also past 72 hours since the job end time. Also discuss the cleaner's message about not being paid: it is not part of resolving this job, but should be noted and routed appropriately.</a:t>
            </a:r>
            <a:endParaRPr/>
          </a:p>
        </p:txBody>
      </p:sp>
      <p:sp>
        <p:nvSpPr>
          <p:cNvPr id="1791" name="Google Shape;1791;p7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p7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5" name="Google Shape;1805;p7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Give trainees 5 minutes to write their comms, then click Show Sample Comms (or press the right arrow) to reveal the sample. Discuss differences. Sample: Hi &lt;C&gt;, Just checking in about your cleaning on &lt;Date&gt; with &lt;CP Name&gt;. Were you able to get the cleaning done? If not, I'd be happy to help find you another cleaner through priority booking. Just let me know what date and time works best for you, and I'll take care of it. Let me know if you need anything else! -CS, Homeaglow HQ</a:t>
            </a:r>
            <a:endParaRPr/>
          </a:p>
        </p:txBody>
      </p:sp>
      <p:sp>
        <p:nvSpPr>
          <p:cNvPr id="1806" name="Google Shape;1806;p7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p7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6" name="Google Shape;1826;p7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 Recap: the cleaner journey, CP CRM and Dashboard, profile statuses, deactivation codes, operating models, tiering, job statuses and the Pending Invoice action guide.</a:t>
            </a:r>
            <a:endParaRPr/>
          </a:p>
        </p:txBody>
      </p:sp>
      <p:sp>
        <p:nvSpPr>
          <p:cNvPr id="1827" name="Google Shape;1827;p7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p7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4" name="Google Shape;1844;p7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TRAINER NOTE: The trainer decides the knowledge check format, questions and difficulty based on the cohort.</a:t>
            </a:r>
            <a:endParaRPr/>
          </a:p>
        </p:txBody>
      </p:sp>
      <p:sp>
        <p:nvSpPr>
          <p:cNvPr id="1845" name="Google Shape;1845;p7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8" name="Shape 8"/>
        <p:cNvGrpSpPr/>
        <p:nvPr/>
      </p:nvGrpSpPr>
      <p:grpSpPr>
        <a:xfrm>
          <a:off x="0" y="0"/>
          <a:ext cx="0" cy="0"/>
          <a:chOff x="0" y="0"/>
          <a:chExt cx="0" cy="0"/>
        </a:xfrm>
      </p:grpSpPr>
      <p:sp>
        <p:nvSpPr>
          <p:cNvPr id="9" name="Google Shape;9;p3"/>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Homeaglow  ·  New Hire Care Training</a:t>
            </a:r>
            <a:endParaRPr b="0" i="0" sz="700" u="none" cap="none" strike="noStrike">
              <a:solidFill>
                <a:schemeClr val="dk1"/>
              </a:solidFill>
              <a:latin typeface="Calibri"/>
              <a:ea typeface="Calibri"/>
              <a:cs typeface="Calibri"/>
              <a:sym typeface="Calibri"/>
            </a:endParaRPr>
          </a:p>
        </p:txBody>
      </p:sp>
      <p:sp>
        <p:nvSpPr>
          <p:cNvPr id="10" name="Google Shape;10;p3"/>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 name="Google Shape;18;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 name="Google Shape;1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 name="Google Shape;2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5" name="Google Shape;45;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 name="Google Shape;46;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0" name="Google Shape;5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3" name="Google Shape;53;p1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4" name="Google Shape;5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2" Type="http://schemas.openxmlformats.org/officeDocument/2006/relationships/theme" Target="../theme/theme2.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1"/>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 name="Shape 12"/>
        <p:cNvGrpSpPr/>
        <p:nvPr/>
      </p:nvGrpSpPr>
      <p:grpSpPr>
        <a:xfrm>
          <a:off x="0" y="0"/>
          <a:ext cx="0" cy="0"/>
          <a:chOff x="0" y="0"/>
          <a:chExt cx="0" cy="0"/>
        </a:xfrm>
      </p:grpSpPr>
      <p:sp>
        <p:nvSpPr>
          <p:cNvPr id="13" name="Google Shape;13;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4" name="Google Shape;14;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5" name="Google Shape;15;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40" Type="http://schemas.openxmlformats.org/officeDocument/2006/relationships/slide" Target="/ppt/slides/slide43.xml"/><Relationship Id="rId42" Type="http://schemas.openxmlformats.org/officeDocument/2006/relationships/slide" Target="/ppt/slides/slide43.xml"/><Relationship Id="rId41" Type="http://schemas.openxmlformats.org/officeDocument/2006/relationships/slide" Target="/ppt/slides/slide43.xml"/><Relationship Id="rId44" Type="http://schemas.openxmlformats.org/officeDocument/2006/relationships/slide" Target="/ppt/slides/slide43.xml"/><Relationship Id="rId43" Type="http://schemas.openxmlformats.org/officeDocument/2006/relationships/slide" Target="/ppt/slides/slide43.xml"/><Relationship Id="rId46" Type="http://schemas.openxmlformats.org/officeDocument/2006/relationships/slide" Target="/ppt/slides/slide49.xml"/><Relationship Id="rId45" Type="http://schemas.openxmlformats.org/officeDocument/2006/relationships/slide" Target="/ppt/slides/slide49.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xml"/><Relationship Id="rId9" Type="http://schemas.openxmlformats.org/officeDocument/2006/relationships/slide" Target="/ppt/slides/slide9.xml"/><Relationship Id="rId48" Type="http://schemas.openxmlformats.org/officeDocument/2006/relationships/slide" Target="/ppt/slides/slide49.xml"/><Relationship Id="rId47" Type="http://schemas.openxmlformats.org/officeDocument/2006/relationships/slide" Target="/ppt/slides/slide49.xml"/><Relationship Id="rId49" Type="http://schemas.openxmlformats.org/officeDocument/2006/relationships/slide" Target="/ppt/slides/slide49.xml"/><Relationship Id="rId5" Type="http://schemas.openxmlformats.org/officeDocument/2006/relationships/slide" Target="/ppt/slides/slide3.xml"/><Relationship Id="rId6" Type="http://schemas.openxmlformats.org/officeDocument/2006/relationships/slide" Target="/ppt/slides/slide3.xml"/><Relationship Id="rId7" Type="http://schemas.openxmlformats.org/officeDocument/2006/relationships/slide" Target="/ppt/slides/slide3.xml"/><Relationship Id="rId8" Type="http://schemas.openxmlformats.org/officeDocument/2006/relationships/slide" Target="/ppt/slides/slide3.xml"/><Relationship Id="rId31" Type="http://schemas.openxmlformats.org/officeDocument/2006/relationships/slide" Target="/ppt/slides/slide23.xml"/><Relationship Id="rId30" Type="http://schemas.openxmlformats.org/officeDocument/2006/relationships/slide" Target="/ppt/slides/slide23.xml"/><Relationship Id="rId33" Type="http://schemas.openxmlformats.org/officeDocument/2006/relationships/slide" Target="/ppt/slides/slide38.xml"/><Relationship Id="rId32" Type="http://schemas.openxmlformats.org/officeDocument/2006/relationships/slide" Target="/ppt/slides/slide23.xml"/><Relationship Id="rId35" Type="http://schemas.openxmlformats.org/officeDocument/2006/relationships/slide" Target="/ppt/slides/slide38.xml"/><Relationship Id="rId34" Type="http://schemas.openxmlformats.org/officeDocument/2006/relationships/slide" Target="/ppt/slides/slide38.xml"/><Relationship Id="rId37" Type="http://schemas.openxmlformats.org/officeDocument/2006/relationships/slide" Target="/ppt/slides/slide38.xml"/><Relationship Id="rId36" Type="http://schemas.openxmlformats.org/officeDocument/2006/relationships/slide" Target="/ppt/slides/slide38.xml"/><Relationship Id="rId39" Type="http://schemas.openxmlformats.org/officeDocument/2006/relationships/slide" Target="/ppt/slides/slide43.xml"/><Relationship Id="rId38" Type="http://schemas.openxmlformats.org/officeDocument/2006/relationships/slide" Target="/ppt/slides/slide38.xml"/><Relationship Id="rId20" Type="http://schemas.openxmlformats.org/officeDocument/2006/relationships/slide" Target="/ppt/slides/slide12.xml"/><Relationship Id="rId22" Type="http://schemas.openxmlformats.org/officeDocument/2006/relationships/slide" Target="/ppt/slides/slide15.xml"/><Relationship Id="rId21" Type="http://schemas.openxmlformats.org/officeDocument/2006/relationships/slide" Target="/ppt/slides/slide15.xml"/><Relationship Id="rId24" Type="http://schemas.openxmlformats.org/officeDocument/2006/relationships/slide" Target="/ppt/slides/slide15.xml"/><Relationship Id="rId23" Type="http://schemas.openxmlformats.org/officeDocument/2006/relationships/slide" Target="/ppt/slides/slide15.xml"/><Relationship Id="rId26" Type="http://schemas.openxmlformats.org/officeDocument/2006/relationships/slide" Target="/ppt/slides/slide15.xml"/><Relationship Id="rId25" Type="http://schemas.openxmlformats.org/officeDocument/2006/relationships/slide" Target="/ppt/slides/slide15.xml"/><Relationship Id="rId28" Type="http://schemas.openxmlformats.org/officeDocument/2006/relationships/slide" Target="/ppt/slides/slide23.xml"/><Relationship Id="rId27" Type="http://schemas.openxmlformats.org/officeDocument/2006/relationships/slide" Target="/ppt/slides/slide23.xml"/><Relationship Id="rId29" Type="http://schemas.openxmlformats.org/officeDocument/2006/relationships/slide" Target="/ppt/slides/slide23.xml"/><Relationship Id="rId51" Type="http://schemas.openxmlformats.org/officeDocument/2006/relationships/slide" Target="/ppt/slides/slide63.xml"/><Relationship Id="rId50" Type="http://schemas.openxmlformats.org/officeDocument/2006/relationships/slide" Target="/ppt/slides/slide49.xml"/><Relationship Id="rId53" Type="http://schemas.openxmlformats.org/officeDocument/2006/relationships/slide" Target="/ppt/slides/slide63.xml"/><Relationship Id="rId52" Type="http://schemas.openxmlformats.org/officeDocument/2006/relationships/slide" Target="/ppt/slides/slide63.xml"/><Relationship Id="rId11" Type="http://schemas.openxmlformats.org/officeDocument/2006/relationships/slide" Target="/ppt/slides/slide9.xml"/><Relationship Id="rId55" Type="http://schemas.openxmlformats.org/officeDocument/2006/relationships/slide" Target="/ppt/slides/slide63.xml"/><Relationship Id="rId10" Type="http://schemas.openxmlformats.org/officeDocument/2006/relationships/slide" Target="/ppt/slides/slide9.xml"/><Relationship Id="rId54" Type="http://schemas.openxmlformats.org/officeDocument/2006/relationships/slide" Target="/ppt/slides/slide63.xml"/><Relationship Id="rId13" Type="http://schemas.openxmlformats.org/officeDocument/2006/relationships/slide" Target="/ppt/slides/slide9.xml"/><Relationship Id="rId12" Type="http://schemas.openxmlformats.org/officeDocument/2006/relationships/slide" Target="/ppt/slides/slide9.xml"/><Relationship Id="rId56" Type="http://schemas.openxmlformats.org/officeDocument/2006/relationships/slide" Target="/ppt/slides/slide63.xml"/><Relationship Id="rId15" Type="http://schemas.openxmlformats.org/officeDocument/2006/relationships/slide" Target="/ppt/slides/slide12.xml"/><Relationship Id="rId14" Type="http://schemas.openxmlformats.org/officeDocument/2006/relationships/slide" Target="/ppt/slides/slide9.xml"/><Relationship Id="rId17" Type="http://schemas.openxmlformats.org/officeDocument/2006/relationships/slide" Target="/ppt/slides/slide12.xml"/><Relationship Id="rId16" Type="http://schemas.openxmlformats.org/officeDocument/2006/relationships/slide" Target="/ppt/slides/slide12.xml"/><Relationship Id="rId19" Type="http://schemas.openxmlformats.org/officeDocument/2006/relationships/slide" Target="/ppt/slides/slide12.xml"/><Relationship Id="rId18" Type="http://schemas.openxmlformats.org/officeDocument/2006/relationships/slide" Target="/ppt/slid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8.png"/><Relationship Id="rId6" Type="http://schemas.openxmlformats.org/officeDocument/2006/relationships/image" Target="../media/image10.png"/><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3.png"/><Relationship Id="rId5" Type="http://schemas.openxmlformats.org/officeDocument/2006/relationships/image" Target="../media/image3.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16.png"/><Relationship Id="rId5" Type="http://schemas.openxmlformats.org/officeDocument/2006/relationships/image" Target="../media/image21.png"/><Relationship Id="rId6" Type="http://schemas.openxmlformats.org/officeDocument/2006/relationships/image" Target="../media/image13.png"/><Relationship Id="rId7" Type="http://schemas.openxmlformats.org/officeDocument/2006/relationships/image" Target="../media/image11.png"/><Relationship Id="rId8"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21.png"/><Relationship Id="rId7"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15.png"/><Relationship Id="rId9"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20.png"/><Relationship Id="rId7" Type="http://schemas.openxmlformats.org/officeDocument/2006/relationships/image" Target="../media/image26.png"/><Relationship Id="rId8" Type="http://schemas.openxmlformats.org/officeDocument/2006/relationships/image" Target="../media/image5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22.png"/><Relationship Id="rId7"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8.png"/><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35.png"/><Relationship Id="rId5"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0.png"/><Relationship Id="rId4"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1.png"/><Relationship Id="rId4" Type="http://schemas.openxmlformats.org/officeDocument/2006/relationships/image" Target="../media/image38.png"/><Relationship Id="rId5" Type="http://schemas.openxmlformats.org/officeDocument/2006/relationships/image" Target="../media/image36.png"/><Relationship Id="rId6"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39.png"/><Relationship Id="rId5" Type="http://schemas.openxmlformats.org/officeDocument/2006/relationships/image" Target="../media/image73.png"/><Relationship Id="rId6" Type="http://schemas.openxmlformats.org/officeDocument/2006/relationships/image" Target="../media/image60.png"/><Relationship Id="rId7" Type="http://schemas.openxmlformats.org/officeDocument/2006/relationships/image" Target="../media/image11.png"/><Relationship Id="rId8" Type="http://schemas.openxmlformats.org/officeDocument/2006/relationships/image" Target="../media/image6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1.png"/><Relationship Id="rId4" Type="http://schemas.openxmlformats.org/officeDocument/2006/relationships/image" Target="../media/image6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6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9.png"/><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54.png"/><Relationship Id="rId4" Type="http://schemas.openxmlformats.org/officeDocument/2006/relationships/image" Target="../media/image62.png"/><Relationship Id="rId5" Type="http://schemas.openxmlformats.org/officeDocument/2006/relationships/image" Target="../media/image57.png"/><Relationship Id="rId6" Type="http://schemas.openxmlformats.org/officeDocument/2006/relationships/image" Target="../media/image1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9.png"/><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2.png"/><Relationship Id="rId4" Type="http://schemas.openxmlformats.org/officeDocument/2006/relationships/image" Target="../media/image75.png"/><Relationship Id="rId5" Type="http://schemas.openxmlformats.org/officeDocument/2006/relationships/image" Target="../media/image1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77.png"/><Relationship Id="rId4"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61.png"/><Relationship Id="rId4" Type="http://schemas.openxmlformats.org/officeDocument/2006/relationships/image" Target="../media/image53.png"/><Relationship Id="rId5" Type="http://schemas.openxmlformats.org/officeDocument/2006/relationships/image" Target="../media/image15.png"/><Relationship Id="rId6" Type="http://schemas.openxmlformats.org/officeDocument/2006/relationships/image" Target="../media/image63.png"/><Relationship Id="rId7" Type="http://schemas.openxmlformats.org/officeDocument/2006/relationships/image" Target="../media/image3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6.png"/><Relationship Id="rId4" Type="http://schemas.openxmlformats.org/officeDocument/2006/relationships/image" Target="../media/image76.png"/><Relationship Id="rId5" Type="http://schemas.openxmlformats.org/officeDocument/2006/relationships/image" Target="../media/image1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6.png"/><Relationship Id="rId4" Type="http://schemas.openxmlformats.org/officeDocument/2006/relationships/image" Target="../media/image76.png"/><Relationship Id="rId5"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5.png"/><Relationship Id="rId7" Type="http://schemas.openxmlformats.org/officeDocument/2006/relationships/image" Target="../media/image5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6.png"/><Relationship Id="rId4" Type="http://schemas.openxmlformats.org/officeDocument/2006/relationships/image" Target="../media/image76.png"/><Relationship Id="rId5" Type="http://schemas.openxmlformats.org/officeDocument/2006/relationships/image" Target="../media/image7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80.png"/><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5.png"/><Relationship Id="rId4" Type="http://schemas.openxmlformats.org/officeDocument/2006/relationships/image" Target="../media/image6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5.png"/><Relationship Id="rId4" Type="http://schemas.openxmlformats.org/officeDocument/2006/relationships/image" Target="../media/image66.png"/><Relationship Id="rId5" Type="http://schemas.openxmlformats.org/officeDocument/2006/relationships/image" Target="../media/image65.png"/><Relationship Id="rId6" Type="http://schemas.openxmlformats.org/officeDocument/2006/relationships/image" Target="../media/image4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7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5.png"/><Relationship Id="rId4" Type="http://schemas.openxmlformats.org/officeDocument/2006/relationships/image" Target="../media/image5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4.png"/><Relationship Id="rId4" Type="http://schemas.openxmlformats.org/officeDocument/2006/relationships/image" Target="../media/image8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64.png"/><Relationship Id="rId4" Type="http://schemas.openxmlformats.org/officeDocument/2006/relationships/image" Target="../media/image7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79.png"/><Relationship Id="rId4" Type="http://schemas.openxmlformats.org/officeDocument/2006/relationships/image" Target="../media/image7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7"/>
          <p:cNvSpPr txBox="1"/>
          <p:nvPr/>
        </p:nvSpPr>
        <p:spPr>
          <a:xfrm>
            <a:off x="566928" y="5486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HOMEAGLOW  ·  NEW HIRE CARE TRAINING</a:t>
            </a:r>
            <a:endParaRPr b="0" i="0" sz="800" u="none" cap="none" strike="noStrike">
              <a:solidFill>
                <a:schemeClr val="dk1"/>
              </a:solidFill>
              <a:latin typeface="Calibri"/>
              <a:ea typeface="Calibri"/>
              <a:cs typeface="Calibri"/>
              <a:sym typeface="Calibri"/>
            </a:endParaRPr>
          </a:p>
        </p:txBody>
      </p:sp>
      <p:sp>
        <p:nvSpPr>
          <p:cNvPr id="63" name="Google Shape;63;p17"/>
          <p:cNvSpPr txBox="1"/>
          <p:nvPr/>
        </p:nvSpPr>
        <p:spPr>
          <a:xfrm>
            <a:off x="566928" y="914400"/>
            <a:ext cx="448056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200"/>
              <a:buFont typeface="Play"/>
              <a:buNone/>
            </a:pPr>
            <a:r>
              <a:rPr b="1" i="0" lang="en" sz="3200" u="none" cap="none" strike="noStrike">
                <a:solidFill>
                  <a:srgbClr val="1D1D1F"/>
                </a:solidFill>
                <a:latin typeface="Play"/>
                <a:ea typeface="Play"/>
                <a:cs typeface="Play"/>
                <a:sym typeface="Play"/>
              </a:rPr>
              <a:t>Cleaner Foundations</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3200"/>
              <a:buFont typeface="Play"/>
              <a:buNone/>
            </a:pPr>
            <a:r>
              <a:rPr b="1" i="0" lang="en" sz="3200" u="none" cap="none" strike="noStrike">
                <a:solidFill>
                  <a:srgbClr val="1D1D1F"/>
                </a:solidFill>
                <a:latin typeface="Play"/>
                <a:ea typeface="Play"/>
                <a:cs typeface="Play"/>
                <a:sym typeface="Play"/>
              </a:rPr>
              <a:t>&amp; the CP CRM</a:t>
            </a:r>
            <a:endParaRPr b="0" i="0" sz="3200" u="none" cap="none" strike="noStrike">
              <a:solidFill>
                <a:schemeClr val="dk1"/>
              </a:solidFill>
              <a:latin typeface="Calibri"/>
              <a:ea typeface="Calibri"/>
              <a:cs typeface="Calibri"/>
              <a:sym typeface="Calibri"/>
            </a:endParaRPr>
          </a:p>
        </p:txBody>
      </p:sp>
      <p:sp>
        <p:nvSpPr>
          <p:cNvPr id="64" name="Google Shape;64;p17"/>
          <p:cNvSpPr txBox="1"/>
          <p:nvPr/>
        </p:nvSpPr>
        <p:spPr>
          <a:xfrm>
            <a:off x="566928" y="2468880"/>
            <a:ext cx="4206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50"/>
              <a:buFont typeface="Arial"/>
              <a:buNone/>
            </a:pPr>
            <a:r>
              <a:rPr b="0" i="0" lang="en" sz="1250" u="none" cap="none" strike="noStrike">
                <a:solidFill>
                  <a:srgbClr val="6E6E73"/>
                </a:solidFill>
                <a:latin typeface="Arial"/>
                <a:ea typeface="Arial"/>
                <a:cs typeface="Arial"/>
                <a:sym typeface="Arial"/>
              </a:rPr>
              <a:t>How cleaners join and work on Homeaglow, and the tools and rules we use to support them.</a:t>
            </a:r>
            <a:endParaRPr b="0" i="0" sz="1250" u="none" cap="none" strike="noStrike">
              <a:solidFill>
                <a:schemeClr val="dk1"/>
              </a:solidFill>
              <a:latin typeface="Calibri"/>
              <a:ea typeface="Calibri"/>
              <a:cs typeface="Calibri"/>
              <a:sym typeface="Calibri"/>
            </a:endParaRPr>
          </a:p>
        </p:txBody>
      </p:sp>
      <p:sp>
        <p:nvSpPr>
          <p:cNvPr id="65" name="Google Shape;65;p17"/>
          <p:cNvSpPr txBox="1"/>
          <p:nvPr/>
        </p:nvSpPr>
        <p:spPr>
          <a:xfrm>
            <a:off x="566928" y="4572000"/>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Internal training material</a:t>
            </a:r>
            <a:endParaRPr b="0" i="0" sz="700" u="none" cap="none" strike="noStrike">
              <a:solidFill>
                <a:schemeClr val="dk1"/>
              </a:solidFill>
              <a:latin typeface="Calibri"/>
              <a:ea typeface="Calibri"/>
              <a:cs typeface="Calibri"/>
              <a:sym typeface="Calibri"/>
            </a:endParaRPr>
          </a:p>
        </p:txBody>
      </p:sp>
      <p:sp>
        <p:nvSpPr>
          <p:cNvPr id="66" name="Google Shape;66;p17"/>
          <p:cNvSpPr/>
          <p:nvPr/>
        </p:nvSpPr>
        <p:spPr>
          <a:xfrm>
            <a:off x="5312664" y="365760"/>
            <a:ext cx="3383280" cy="4407408"/>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7.png" id="68" name="Google Shape;68;p17"/>
          <p:cNvPicPr preferRelativeResize="0"/>
          <p:nvPr/>
        </p:nvPicPr>
        <p:blipFill rotWithShape="1">
          <a:blip r:embed="rId3">
            <a:alphaModFix/>
          </a:blip>
          <a:srcRect b="0" l="0" r="0" t="0"/>
          <a:stretch/>
        </p:blipFill>
        <p:spPr>
          <a:xfrm>
            <a:off x="5541264" y="1783080"/>
            <a:ext cx="2926080" cy="1572768"/>
          </a:xfrm>
          <a:prstGeom prst="rect">
            <a:avLst/>
          </a:prstGeom>
          <a:noFill/>
          <a:ln>
            <a:noFill/>
          </a:ln>
        </p:spPr>
      </p:pic>
      <p:sp>
        <p:nvSpPr>
          <p:cNvPr id="69" name="Google Shape;69;p17"/>
          <p:cNvSpPr/>
          <p:nvPr/>
        </p:nvSpPr>
        <p:spPr>
          <a:xfrm>
            <a:off x="5522976"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7"/>
          <p:cNvSpPr/>
          <p:nvPr/>
        </p:nvSpPr>
        <p:spPr>
          <a:xfrm>
            <a:off x="5646420"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7"/>
          <p:cNvSpPr/>
          <p:nvPr/>
        </p:nvSpPr>
        <p:spPr>
          <a:xfrm>
            <a:off x="8193024"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7"/>
          <p:cNvSpPr/>
          <p:nvPr/>
        </p:nvSpPr>
        <p:spPr>
          <a:xfrm>
            <a:off x="8316468"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7"/>
          <p:cNvSpPr/>
          <p:nvPr/>
        </p:nvSpPr>
        <p:spPr>
          <a:xfrm>
            <a:off x="8193024" y="4242816"/>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7"/>
          <p:cNvSpPr/>
          <p:nvPr/>
        </p:nvSpPr>
        <p:spPr>
          <a:xfrm>
            <a:off x="8316468" y="4366260"/>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7"/>
          <p:cNvSpPr txBox="1"/>
          <p:nvPr/>
        </p:nvSpPr>
        <p:spPr>
          <a:xfrm>
            <a:off x="536450" y="3510975"/>
            <a:ext cx="4267200" cy="82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6E6E73"/>
              </a:buClr>
              <a:buSzPts val="1250"/>
              <a:buFont typeface="Arial"/>
              <a:buNone/>
            </a:pPr>
            <a:r>
              <a:rPr b="0" i="0" lang="en" sz="1050" u="none" cap="none" strike="noStrike">
                <a:solidFill>
                  <a:srgbClr val="6E6E73"/>
                </a:solidFill>
                <a:latin typeface="Arial"/>
                <a:ea typeface="Arial"/>
                <a:cs typeface="Arial"/>
                <a:sym typeface="Arial"/>
              </a:rPr>
              <a:t>Trainees: Follow using your Homeaglow Care Training Library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nvSpPr>
        <p:spPr>
          <a:xfrm>
            <a:off x="438912" y="274320"/>
            <a:ext cx="82296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OVERVIEW</a:t>
            </a:r>
            <a:endParaRPr b="0" i="0" sz="800" u="none" cap="none" strike="noStrike">
              <a:solidFill>
                <a:schemeClr val="dk1"/>
              </a:solidFill>
              <a:latin typeface="Calibri"/>
              <a:ea typeface="Calibri"/>
              <a:cs typeface="Calibri"/>
              <a:sym typeface="Calibri"/>
            </a:endParaRPr>
          </a:p>
        </p:txBody>
      </p:sp>
      <p:sp>
        <p:nvSpPr>
          <p:cNvPr id="82" name="Google Shape;82;p1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Agenda</a:t>
            </a:r>
            <a:endParaRPr b="0" i="0" sz="2400" u="none" cap="none" strike="noStrike">
              <a:solidFill>
                <a:schemeClr val="dk1"/>
              </a:solidFill>
              <a:latin typeface="Calibri"/>
              <a:ea typeface="Calibri"/>
              <a:cs typeface="Calibri"/>
              <a:sym typeface="Calibri"/>
            </a:endParaRPr>
          </a:p>
        </p:txBody>
      </p:sp>
      <p:sp>
        <p:nvSpPr>
          <p:cNvPr id="83" name="Google Shape;83;p18"/>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84" name="Google Shape;84;p18"/>
          <p:cNvSpPr txBox="1"/>
          <p:nvPr/>
        </p:nvSpPr>
        <p:spPr>
          <a:xfrm>
            <a:off x="406400" y="914400"/>
            <a:ext cx="8318400" cy="2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6E6E73"/>
                </a:solidFill>
                <a:latin typeface="Arial"/>
                <a:ea typeface="Arial"/>
                <a:cs typeface="Arial"/>
                <a:sym typeface="Arial"/>
              </a:rPr>
              <a:t>Click a topic to jump to it.</a:t>
            </a:r>
            <a:endParaRPr b="0" i="0" sz="1100" u="none" cap="none" strike="noStrike">
              <a:solidFill>
                <a:srgbClr val="6E6E73"/>
              </a:solidFill>
              <a:latin typeface="Arial"/>
              <a:ea typeface="Arial"/>
              <a:cs typeface="Arial"/>
              <a:sym typeface="Arial"/>
            </a:endParaRPr>
          </a:p>
        </p:txBody>
      </p:sp>
      <p:sp>
        <p:nvSpPr>
          <p:cNvPr id="85" name="Google Shape;85;p18">
            <a:hlinkClick action="ppaction://hlinksldjump" r:id="rId3"/>
          </p:cNvPr>
          <p:cNvSpPr/>
          <p:nvPr/>
        </p:nvSpPr>
        <p:spPr>
          <a:xfrm>
            <a:off x="406400" y="12954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18">
            <a:hlinkClick action="ppaction://hlinksldjump" r:id="rId4"/>
          </p:cNvPr>
          <p:cNvSpPr/>
          <p:nvPr/>
        </p:nvSpPr>
        <p:spPr>
          <a:xfrm>
            <a:off x="558800" y="14351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1</a:t>
            </a:r>
            <a:endParaRPr b="1" i="0" sz="1000" u="none" cap="none" strike="noStrike">
              <a:solidFill>
                <a:srgbClr val="0B7A6F"/>
              </a:solidFill>
              <a:latin typeface="Play"/>
              <a:ea typeface="Play"/>
              <a:cs typeface="Play"/>
              <a:sym typeface="Play"/>
            </a:endParaRPr>
          </a:p>
        </p:txBody>
      </p:sp>
      <p:sp>
        <p:nvSpPr>
          <p:cNvPr id="87" name="Google Shape;87;p18">
            <a:hlinkClick action="ppaction://hlinksldjump" r:id="rId5"/>
          </p:cNvPr>
          <p:cNvSpPr txBox="1"/>
          <p:nvPr/>
        </p:nvSpPr>
        <p:spPr>
          <a:xfrm>
            <a:off x="990600" y="12954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6"/>
              </a:rPr>
              <a:t>Cleaner Journey</a:t>
            </a:r>
            <a:endParaRPr b="1" i="0" sz="1200" u="none" cap="none" strike="noStrike">
              <a:solidFill>
                <a:srgbClr val="1D1D1F"/>
              </a:solidFill>
              <a:latin typeface="Play"/>
              <a:ea typeface="Play"/>
              <a:cs typeface="Play"/>
              <a:sym typeface="Play"/>
            </a:endParaRPr>
          </a:p>
        </p:txBody>
      </p:sp>
      <p:sp>
        <p:nvSpPr>
          <p:cNvPr id="88" name="Google Shape;88;p18">
            <a:hlinkClick action="ppaction://hlinksldjump" r:id="rId7"/>
          </p:cNvPr>
          <p:cNvSpPr txBox="1"/>
          <p:nvPr/>
        </p:nvSpPr>
        <p:spPr>
          <a:xfrm>
            <a:off x="4089400" y="12954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8"/>
              </a:rPr>
              <a:t>›</a:t>
            </a:r>
            <a:endParaRPr b="1" i="0" sz="1800" u="none" cap="none" strike="noStrike">
              <a:solidFill>
                <a:srgbClr val="0B7A6F"/>
              </a:solidFill>
              <a:latin typeface="Play"/>
              <a:ea typeface="Play"/>
              <a:cs typeface="Play"/>
              <a:sym typeface="Play"/>
            </a:endParaRPr>
          </a:p>
        </p:txBody>
      </p:sp>
      <p:sp>
        <p:nvSpPr>
          <p:cNvPr id="89" name="Google Shape;89;p18">
            <a:hlinkClick action="ppaction://hlinksldjump" r:id="rId9"/>
          </p:cNvPr>
          <p:cNvSpPr/>
          <p:nvPr/>
        </p:nvSpPr>
        <p:spPr>
          <a:xfrm>
            <a:off x="406400" y="19812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18">
            <a:hlinkClick action="ppaction://hlinksldjump" r:id="rId10"/>
          </p:cNvPr>
          <p:cNvSpPr/>
          <p:nvPr/>
        </p:nvSpPr>
        <p:spPr>
          <a:xfrm>
            <a:off x="558800" y="21209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2</a:t>
            </a:r>
            <a:endParaRPr b="1" i="0" sz="1000" u="none" cap="none" strike="noStrike">
              <a:solidFill>
                <a:srgbClr val="0B7A6F"/>
              </a:solidFill>
              <a:latin typeface="Play"/>
              <a:ea typeface="Play"/>
              <a:cs typeface="Play"/>
              <a:sym typeface="Play"/>
            </a:endParaRPr>
          </a:p>
        </p:txBody>
      </p:sp>
      <p:sp>
        <p:nvSpPr>
          <p:cNvPr id="91" name="Google Shape;91;p18">
            <a:hlinkClick action="ppaction://hlinksldjump" r:id="rId11"/>
          </p:cNvPr>
          <p:cNvSpPr txBox="1"/>
          <p:nvPr/>
        </p:nvSpPr>
        <p:spPr>
          <a:xfrm>
            <a:off x="990600" y="19812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12"/>
              </a:rPr>
              <a:t>Intro to CP CRM (Legacy)</a:t>
            </a:r>
            <a:endParaRPr b="1" i="0" sz="1200" u="none" cap="none" strike="noStrike">
              <a:solidFill>
                <a:srgbClr val="1D1D1F"/>
              </a:solidFill>
              <a:latin typeface="Play"/>
              <a:ea typeface="Play"/>
              <a:cs typeface="Play"/>
              <a:sym typeface="Play"/>
            </a:endParaRPr>
          </a:p>
        </p:txBody>
      </p:sp>
      <p:sp>
        <p:nvSpPr>
          <p:cNvPr id="92" name="Google Shape;92;p18">
            <a:hlinkClick action="ppaction://hlinksldjump" r:id="rId13"/>
          </p:cNvPr>
          <p:cNvSpPr txBox="1"/>
          <p:nvPr/>
        </p:nvSpPr>
        <p:spPr>
          <a:xfrm>
            <a:off x="4089400" y="19812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14"/>
              </a:rPr>
              <a:t>›</a:t>
            </a:r>
            <a:endParaRPr b="1" i="0" sz="1800" u="none" cap="none" strike="noStrike">
              <a:solidFill>
                <a:srgbClr val="0B7A6F"/>
              </a:solidFill>
              <a:latin typeface="Play"/>
              <a:ea typeface="Play"/>
              <a:cs typeface="Play"/>
              <a:sym typeface="Play"/>
            </a:endParaRPr>
          </a:p>
        </p:txBody>
      </p:sp>
      <p:sp>
        <p:nvSpPr>
          <p:cNvPr id="93" name="Google Shape;93;p18">
            <a:hlinkClick action="ppaction://hlinksldjump" r:id="rId15"/>
          </p:cNvPr>
          <p:cNvSpPr/>
          <p:nvPr/>
        </p:nvSpPr>
        <p:spPr>
          <a:xfrm>
            <a:off x="406400" y="26670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8">
            <a:hlinkClick action="ppaction://hlinksldjump" r:id="rId16"/>
          </p:cNvPr>
          <p:cNvSpPr/>
          <p:nvPr/>
        </p:nvSpPr>
        <p:spPr>
          <a:xfrm>
            <a:off x="558800" y="28067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3</a:t>
            </a:r>
            <a:endParaRPr b="1" i="0" sz="1000" u="none" cap="none" strike="noStrike">
              <a:solidFill>
                <a:srgbClr val="0B7A6F"/>
              </a:solidFill>
              <a:latin typeface="Play"/>
              <a:ea typeface="Play"/>
              <a:cs typeface="Play"/>
              <a:sym typeface="Play"/>
            </a:endParaRPr>
          </a:p>
        </p:txBody>
      </p:sp>
      <p:sp>
        <p:nvSpPr>
          <p:cNvPr id="95" name="Google Shape;95;p18">
            <a:hlinkClick action="ppaction://hlinksldjump" r:id="rId17"/>
          </p:cNvPr>
          <p:cNvSpPr txBox="1"/>
          <p:nvPr/>
        </p:nvSpPr>
        <p:spPr>
          <a:xfrm>
            <a:off x="990600" y="26670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18"/>
              </a:rPr>
              <a:t>Intro to CP Dashboard</a:t>
            </a:r>
            <a:endParaRPr b="1" i="0" sz="1200" u="none" cap="none" strike="noStrike">
              <a:solidFill>
                <a:srgbClr val="1D1D1F"/>
              </a:solidFill>
              <a:latin typeface="Play"/>
              <a:ea typeface="Play"/>
              <a:cs typeface="Play"/>
              <a:sym typeface="Play"/>
            </a:endParaRPr>
          </a:p>
        </p:txBody>
      </p:sp>
      <p:sp>
        <p:nvSpPr>
          <p:cNvPr id="96" name="Google Shape;96;p18">
            <a:hlinkClick action="ppaction://hlinksldjump" r:id="rId19"/>
          </p:cNvPr>
          <p:cNvSpPr txBox="1"/>
          <p:nvPr/>
        </p:nvSpPr>
        <p:spPr>
          <a:xfrm>
            <a:off x="4089400" y="26670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20"/>
              </a:rPr>
              <a:t>›</a:t>
            </a:r>
            <a:endParaRPr b="1" i="0" sz="1800" u="none" cap="none" strike="noStrike">
              <a:solidFill>
                <a:srgbClr val="0B7A6F"/>
              </a:solidFill>
              <a:latin typeface="Play"/>
              <a:ea typeface="Play"/>
              <a:cs typeface="Play"/>
              <a:sym typeface="Play"/>
            </a:endParaRPr>
          </a:p>
        </p:txBody>
      </p:sp>
      <p:sp>
        <p:nvSpPr>
          <p:cNvPr id="97" name="Google Shape;97;p18">
            <a:hlinkClick action="ppaction://hlinksldjump" r:id="rId21"/>
          </p:cNvPr>
          <p:cNvSpPr/>
          <p:nvPr/>
        </p:nvSpPr>
        <p:spPr>
          <a:xfrm>
            <a:off x="406400" y="33528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18">
            <a:hlinkClick action="ppaction://hlinksldjump" r:id="rId22"/>
          </p:cNvPr>
          <p:cNvSpPr/>
          <p:nvPr/>
        </p:nvSpPr>
        <p:spPr>
          <a:xfrm>
            <a:off x="558800" y="34925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4</a:t>
            </a:r>
            <a:endParaRPr b="1" i="0" sz="1000" u="none" cap="none" strike="noStrike">
              <a:solidFill>
                <a:srgbClr val="0B7A6F"/>
              </a:solidFill>
              <a:latin typeface="Play"/>
              <a:ea typeface="Play"/>
              <a:cs typeface="Play"/>
              <a:sym typeface="Play"/>
            </a:endParaRPr>
          </a:p>
        </p:txBody>
      </p:sp>
      <p:sp>
        <p:nvSpPr>
          <p:cNvPr id="99" name="Google Shape;99;p18">
            <a:hlinkClick action="ppaction://hlinksldjump" r:id="rId23"/>
          </p:cNvPr>
          <p:cNvSpPr txBox="1"/>
          <p:nvPr/>
        </p:nvSpPr>
        <p:spPr>
          <a:xfrm>
            <a:off x="990600" y="33528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24"/>
              </a:rPr>
              <a:t>CP Profile Status</a:t>
            </a:r>
            <a:endParaRPr b="1" i="0" sz="1200" u="none" cap="none" strike="noStrike">
              <a:solidFill>
                <a:srgbClr val="1D1D1F"/>
              </a:solidFill>
              <a:latin typeface="Play"/>
              <a:ea typeface="Play"/>
              <a:cs typeface="Play"/>
              <a:sym typeface="Play"/>
            </a:endParaRPr>
          </a:p>
        </p:txBody>
      </p:sp>
      <p:sp>
        <p:nvSpPr>
          <p:cNvPr id="100" name="Google Shape;100;p18">
            <a:hlinkClick action="ppaction://hlinksldjump" r:id="rId25"/>
          </p:cNvPr>
          <p:cNvSpPr txBox="1"/>
          <p:nvPr/>
        </p:nvSpPr>
        <p:spPr>
          <a:xfrm>
            <a:off x="4089400" y="33528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26"/>
              </a:rPr>
              <a:t>›</a:t>
            </a:r>
            <a:endParaRPr b="1" i="0" sz="1800" u="none" cap="none" strike="noStrike">
              <a:solidFill>
                <a:srgbClr val="0B7A6F"/>
              </a:solidFill>
              <a:latin typeface="Play"/>
              <a:ea typeface="Play"/>
              <a:cs typeface="Play"/>
              <a:sym typeface="Play"/>
            </a:endParaRPr>
          </a:p>
        </p:txBody>
      </p:sp>
      <p:sp>
        <p:nvSpPr>
          <p:cNvPr id="101" name="Google Shape;101;p18">
            <a:hlinkClick action="ppaction://hlinksldjump" r:id="rId27"/>
          </p:cNvPr>
          <p:cNvSpPr/>
          <p:nvPr/>
        </p:nvSpPr>
        <p:spPr>
          <a:xfrm>
            <a:off x="406400" y="40386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8">
            <a:hlinkClick action="ppaction://hlinksldjump" r:id="rId28"/>
          </p:cNvPr>
          <p:cNvSpPr/>
          <p:nvPr/>
        </p:nvSpPr>
        <p:spPr>
          <a:xfrm>
            <a:off x="558800" y="41783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5</a:t>
            </a:r>
            <a:endParaRPr b="1" i="0" sz="1000" u="none" cap="none" strike="noStrike">
              <a:solidFill>
                <a:srgbClr val="0B7A6F"/>
              </a:solidFill>
              <a:latin typeface="Play"/>
              <a:ea typeface="Play"/>
              <a:cs typeface="Play"/>
              <a:sym typeface="Play"/>
            </a:endParaRPr>
          </a:p>
        </p:txBody>
      </p:sp>
      <p:sp>
        <p:nvSpPr>
          <p:cNvPr id="103" name="Google Shape;103;p18">
            <a:hlinkClick action="ppaction://hlinksldjump" r:id="rId29"/>
          </p:cNvPr>
          <p:cNvSpPr txBox="1"/>
          <p:nvPr/>
        </p:nvSpPr>
        <p:spPr>
          <a:xfrm>
            <a:off x="990600" y="40386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30"/>
              </a:rPr>
              <a:t>CP-Facing Deactivation</a:t>
            </a:r>
            <a:endParaRPr b="1" i="0" sz="1200" u="none" cap="none" strike="noStrike">
              <a:solidFill>
                <a:srgbClr val="1D1D1F"/>
              </a:solidFill>
              <a:latin typeface="Play"/>
              <a:ea typeface="Play"/>
              <a:cs typeface="Play"/>
              <a:sym typeface="Play"/>
            </a:endParaRPr>
          </a:p>
        </p:txBody>
      </p:sp>
      <p:sp>
        <p:nvSpPr>
          <p:cNvPr id="104" name="Google Shape;104;p18">
            <a:hlinkClick action="ppaction://hlinksldjump" r:id="rId31"/>
          </p:cNvPr>
          <p:cNvSpPr txBox="1"/>
          <p:nvPr/>
        </p:nvSpPr>
        <p:spPr>
          <a:xfrm>
            <a:off x="4089400" y="40386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32"/>
              </a:rPr>
              <a:t>›</a:t>
            </a:r>
            <a:endParaRPr b="1" i="0" sz="1800" u="none" cap="none" strike="noStrike">
              <a:solidFill>
                <a:srgbClr val="0B7A6F"/>
              </a:solidFill>
              <a:latin typeface="Play"/>
              <a:ea typeface="Play"/>
              <a:cs typeface="Play"/>
              <a:sym typeface="Play"/>
            </a:endParaRPr>
          </a:p>
        </p:txBody>
      </p:sp>
      <p:sp>
        <p:nvSpPr>
          <p:cNvPr id="105" name="Google Shape;105;p18">
            <a:hlinkClick action="ppaction://hlinksldjump" r:id="rId33"/>
          </p:cNvPr>
          <p:cNvSpPr/>
          <p:nvPr/>
        </p:nvSpPr>
        <p:spPr>
          <a:xfrm>
            <a:off x="4660900" y="12954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8">
            <a:hlinkClick action="ppaction://hlinksldjump" r:id="rId34"/>
          </p:cNvPr>
          <p:cNvSpPr/>
          <p:nvPr/>
        </p:nvSpPr>
        <p:spPr>
          <a:xfrm>
            <a:off x="4813300" y="14351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6</a:t>
            </a:r>
            <a:endParaRPr b="1" i="0" sz="1000" u="none" cap="none" strike="noStrike">
              <a:solidFill>
                <a:srgbClr val="0B7A6F"/>
              </a:solidFill>
              <a:latin typeface="Play"/>
              <a:ea typeface="Play"/>
              <a:cs typeface="Play"/>
              <a:sym typeface="Play"/>
            </a:endParaRPr>
          </a:p>
        </p:txBody>
      </p:sp>
      <p:sp>
        <p:nvSpPr>
          <p:cNvPr id="107" name="Google Shape;107;p18">
            <a:hlinkClick action="ppaction://hlinksldjump" r:id="rId35"/>
          </p:cNvPr>
          <p:cNvSpPr txBox="1"/>
          <p:nvPr/>
        </p:nvSpPr>
        <p:spPr>
          <a:xfrm>
            <a:off x="5245100" y="12954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36"/>
              </a:rPr>
              <a:t>Operating Models</a:t>
            </a:r>
            <a:endParaRPr b="1" i="0" sz="1200" u="none" cap="none" strike="noStrike">
              <a:solidFill>
                <a:srgbClr val="1D1D1F"/>
              </a:solidFill>
              <a:latin typeface="Play"/>
              <a:ea typeface="Play"/>
              <a:cs typeface="Play"/>
              <a:sym typeface="Play"/>
            </a:endParaRPr>
          </a:p>
        </p:txBody>
      </p:sp>
      <p:sp>
        <p:nvSpPr>
          <p:cNvPr id="108" name="Google Shape;108;p18">
            <a:hlinkClick action="ppaction://hlinksldjump" r:id="rId37"/>
          </p:cNvPr>
          <p:cNvSpPr txBox="1"/>
          <p:nvPr/>
        </p:nvSpPr>
        <p:spPr>
          <a:xfrm>
            <a:off x="8343900" y="12954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38"/>
              </a:rPr>
              <a:t>›</a:t>
            </a:r>
            <a:endParaRPr b="1" i="0" sz="1800" u="none" cap="none" strike="noStrike">
              <a:solidFill>
                <a:srgbClr val="0B7A6F"/>
              </a:solidFill>
              <a:latin typeface="Play"/>
              <a:ea typeface="Play"/>
              <a:cs typeface="Play"/>
              <a:sym typeface="Play"/>
            </a:endParaRPr>
          </a:p>
        </p:txBody>
      </p:sp>
      <p:sp>
        <p:nvSpPr>
          <p:cNvPr id="109" name="Google Shape;109;p18">
            <a:hlinkClick action="ppaction://hlinksldjump" r:id="rId39"/>
          </p:cNvPr>
          <p:cNvSpPr/>
          <p:nvPr/>
        </p:nvSpPr>
        <p:spPr>
          <a:xfrm>
            <a:off x="4660900" y="19812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8">
            <a:hlinkClick action="ppaction://hlinksldjump" r:id="rId40"/>
          </p:cNvPr>
          <p:cNvSpPr/>
          <p:nvPr/>
        </p:nvSpPr>
        <p:spPr>
          <a:xfrm>
            <a:off x="4813300" y="21209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7</a:t>
            </a:r>
            <a:endParaRPr b="1" i="0" sz="1000" u="none" cap="none" strike="noStrike">
              <a:solidFill>
                <a:srgbClr val="0B7A6F"/>
              </a:solidFill>
              <a:latin typeface="Play"/>
              <a:ea typeface="Play"/>
              <a:cs typeface="Play"/>
              <a:sym typeface="Play"/>
            </a:endParaRPr>
          </a:p>
        </p:txBody>
      </p:sp>
      <p:sp>
        <p:nvSpPr>
          <p:cNvPr id="111" name="Google Shape;111;p18">
            <a:hlinkClick action="ppaction://hlinksldjump" r:id="rId41"/>
          </p:cNvPr>
          <p:cNvSpPr txBox="1"/>
          <p:nvPr/>
        </p:nvSpPr>
        <p:spPr>
          <a:xfrm>
            <a:off x="5245100" y="19812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42"/>
              </a:rPr>
              <a:t>CP Tiering</a:t>
            </a:r>
            <a:endParaRPr b="1" i="0" sz="1200" u="none" cap="none" strike="noStrike">
              <a:solidFill>
                <a:srgbClr val="1D1D1F"/>
              </a:solidFill>
              <a:latin typeface="Play"/>
              <a:ea typeface="Play"/>
              <a:cs typeface="Play"/>
              <a:sym typeface="Play"/>
            </a:endParaRPr>
          </a:p>
        </p:txBody>
      </p:sp>
      <p:sp>
        <p:nvSpPr>
          <p:cNvPr id="112" name="Google Shape;112;p18">
            <a:hlinkClick action="ppaction://hlinksldjump" r:id="rId43"/>
          </p:cNvPr>
          <p:cNvSpPr txBox="1"/>
          <p:nvPr/>
        </p:nvSpPr>
        <p:spPr>
          <a:xfrm>
            <a:off x="8343900" y="19812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44"/>
              </a:rPr>
              <a:t>›</a:t>
            </a:r>
            <a:endParaRPr b="1" i="0" sz="1800" u="none" cap="none" strike="noStrike">
              <a:solidFill>
                <a:srgbClr val="0B7A6F"/>
              </a:solidFill>
              <a:latin typeface="Play"/>
              <a:ea typeface="Play"/>
              <a:cs typeface="Play"/>
              <a:sym typeface="Play"/>
            </a:endParaRPr>
          </a:p>
        </p:txBody>
      </p:sp>
      <p:sp>
        <p:nvSpPr>
          <p:cNvPr id="113" name="Google Shape;113;p18">
            <a:hlinkClick action="ppaction://hlinksldjump" r:id="rId45"/>
          </p:cNvPr>
          <p:cNvSpPr/>
          <p:nvPr/>
        </p:nvSpPr>
        <p:spPr>
          <a:xfrm>
            <a:off x="4660900" y="26670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8">
            <a:hlinkClick action="ppaction://hlinksldjump" r:id="rId46"/>
          </p:cNvPr>
          <p:cNvSpPr/>
          <p:nvPr/>
        </p:nvSpPr>
        <p:spPr>
          <a:xfrm>
            <a:off x="4813300" y="28067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8</a:t>
            </a:r>
            <a:endParaRPr b="1" i="0" sz="1000" u="none" cap="none" strike="noStrike">
              <a:solidFill>
                <a:srgbClr val="0B7A6F"/>
              </a:solidFill>
              <a:latin typeface="Play"/>
              <a:ea typeface="Play"/>
              <a:cs typeface="Play"/>
              <a:sym typeface="Play"/>
            </a:endParaRPr>
          </a:p>
        </p:txBody>
      </p:sp>
      <p:sp>
        <p:nvSpPr>
          <p:cNvPr id="115" name="Google Shape;115;p18">
            <a:hlinkClick action="ppaction://hlinksldjump" r:id="rId47"/>
          </p:cNvPr>
          <p:cNvSpPr txBox="1"/>
          <p:nvPr/>
        </p:nvSpPr>
        <p:spPr>
          <a:xfrm>
            <a:off x="5245100" y="26670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48"/>
              </a:rPr>
              <a:t>Job Status</a:t>
            </a:r>
            <a:endParaRPr b="1" i="0" sz="1200" u="none" cap="none" strike="noStrike">
              <a:solidFill>
                <a:srgbClr val="1D1D1F"/>
              </a:solidFill>
              <a:latin typeface="Play"/>
              <a:ea typeface="Play"/>
              <a:cs typeface="Play"/>
              <a:sym typeface="Play"/>
            </a:endParaRPr>
          </a:p>
        </p:txBody>
      </p:sp>
      <p:sp>
        <p:nvSpPr>
          <p:cNvPr id="116" name="Google Shape;116;p18">
            <a:hlinkClick action="ppaction://hlinksldjump" r:id="rId49"/>
          </p:cNvPr>
          <p:cNvSpPr txBox="1"/>
          <p:nvPr/>
        </p:nvSpPr>
        <p:spPr>
          <a:xfrm>
            <a:off x="8343900" y="26670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50"/>
              </a:rPr>
              <a:t>›</a:t>
            </a:r>
            <a:endParaRPr b="1" i="0" sz="1800" u="none" cap="none" strike="noStrike">
              <a:solidFill>
                <a:srgbClr val="0B7A6F"/>
              </a:solidFill>
              <a:latin typeface="Play"/>
              <a:ea typeface="Play"/>
              <a:cs typeface="Play"/>
              <a:sym typeface="Play"/>
            </a:endParaRPr>
          </a:p>
        </p:txBody>
      </p:sp>
      <p:sp>
        <p:nvSpPr>
          <p:cNvPr id="117" name="Google Shape;117;p18">
            <a:hlinkClick action="ppaction://hlinksldjump" r:id="rId51"/>
          </p:cNvPr>
          <p:cNvSpPr/>
          <p:nvPr/>
        </p:nvSpPr>
        <p:spPr>
          <a:xfrm>
            <a:off x="4660900" y="33528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8">
            <a:hlinkClick action="ppaction://hlinksldjump" r:id="rId52"/>
          </p:cNvPr>
          <p:cNvSpPr/>
          <p:nvPr/>
        </p:nvSpPr>
        <p:spPr>
          <a:xfrm>
            <a:off x="4813300" y="34925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9</a:t>
            </a:r>
            <a:endParaRPr b="1" i="0" sz="1000" u="none" cap="none" strike="noStrike">
              <a:solidFill>
                <a:srgbClr val="0B7A6F"/>
              </a:solidFill>
              <a:latin typeface="Play"/>
              <a:ea typeface="Play"/>
              <a:cs typeface="Play"/>
              <a:sym typeface="Play"/>
            </a:endParaRPr>
          </a:p>
        </p:txBody>
      </p:sp>
      <p:sp>
        <p:nvSpPr>
          <p:cNvPr id="119" name="Google Shape;119;p18">
            <a:hlinkClick action="ppaction://hlinksldjump" r:id="rId53"/>
          </p:cNvPr>
          <p:cNvSpPr txBox="1"/>
          <p:nvPr/>
        </p:nvSpPr>
        <p:spPr>
          <a:xfrm>
            <a:off x="5245100" y="33528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54"/>
              </a:rPr>
              <a:t>AG: Pending Invoice</a:t>
            </a:r>
            <a:endParaRPr b="1" i="0" sz="1200" u="none" cap="none" strike="noStrike">
              <a:solidFill>
                <a:srgbClr val="1D1D1F"/>
              </a:solidFill>
              <a:latin typeface="Play"/>
              <a:ea typeface="Play"/>
              <a:cs typeface="Play"/>
              <a:sym typeface="Play"/>
            </a:endParaRPr>
          </a:p>
        </p:txBody>
      </p:sp>
      <p:sp>
        <p:nvSpPr>
          <p:cNvPr id="120" name="Google Shape;120;p18">
            <a:hlinkClick action="ppaction://hlinksldjump" r:id="rId55"/>
          </p:cNvPr>
          <p:cNvSpPr txBox="1"/>
          <p:nvPr/>
        </p:nvSpPr>
        <p:spPr>
          <a:xfrm>
            <a:off x="8343900" y="33528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56"/>
              </a:rPr>
              <a:t>›</a:t>
            </a:r>
            <a:endParaRPr b="1" i="0" sz="1800" u="none" cap="none" strike="noStrike">
              <a:solidFill>
                <a:srgbClr val="0B7A6F"/>
              </a:solidFill>
              <a:latin typeface="Play"/>
              <a:ea typeface="Play"/>
              <a:cs typeface="Play"/>
              <a:sym typeface="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01 OF 11</a:t>
            </a:r>
            <a:endParaRPr b="0" i="0" sz="800" u="none" cap="none" strike="noStrike">
              <a:solidFill>
                <a:schemeClr val="dk1"/>
              </a:solidFill>
              <a:latin typeface="Calibri"/>
              <a:ea typeface="Calibri"/>
              <a:cs typeface="Calibri"/>
              <a:sym typeface="Calibri"/>
            </a:endParaRPr>
          </a:p>
        </p:txBody>
      </p:sp>
      <p:sp>
        <p:nvSpPr>
          <p:cNvPr id="127" name="Google Shape;127;p19"/>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Cleaner Journey</a:t>
            </a:r>
            <a:endParaRPr b="0" i="0" sz="2800" u="none" cap="none" strike="noStrike">
              <a:solidFill>
                <a:schemeClr val="dk1"/>
              </a:solidFill>
              <a:latin typeface="Calibri"/>
              <a:ea typeface="Calibri"/>
              <a:cs typeface="Calibri"/>
              <a:sym typeface="Calibri"/>
            </a:endParaRPr>
          </a:p>
        </p:txBody>
      </p:sp>
      <p:sp>
        <p:nvSpPr>
          <p:cNvPr id="128" name="Google Shape;128;p19"/>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The path a cleaner takes, from first hearing about us to getting paid for their first job.</a:t>
            </a:r>
            <a:endParaRPr b="0" i="0" sz="1150" u="none" cap="none" strike="noStrike">
              <a:solidFill>
                <a:schemeClr val="dk1"/>
              </a:solidFill>
              <a:latin typeface="Calibri"/>
              <a:ea typeface="Calibri"/>
              <a:cs typeface="Calibri"/>
              <a:sym typeface="Calibri"/>
            </a:endParaRPr>
          </a:p>
        </p:txBody>
      </p:sp>
      <p:sp>
        <p:nvSpPr>
          <p:cNvPr id="129" name="Google Shape;129;p19"/>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30" name="Google Shape;130;p19"/>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1" name="Google Shape;131;p19"/>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32" name="Google Shape;132;p19"/>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cleaners find us and sign up</a:t>
            </a:r>
            <a:endParaRPr b="0" i="0" sz="1050" u="none" cap="none" strike="noStrike">
              <a:solidFill>
                <a:schemeClr val="dk1"/>
              </a:solidFill>
              <a:latin typeface="Calibri"/>
              <a:ea typeface="Calibri"/>
              <a:cs typeface="Calibri"/>
              <a:sym typeface="Calibri"/>
            </a:endParaRPr>
          </a:p>
        </p:txBody>
      </p:sp>
      <p:sp>
        <p:nvSpPr>
          <p:cNvPr id="133" name="Google Shape;133;p19"/>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4" name="Google Shape;134;p19"/>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35" name="Google Shape;135;p19"/>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blocks a cleaner from claiming</a:t>
            </a:r>
            <a:endParaRPr b="0" i="0" sz="1050" u="none" cap="none" strike="noStrike">
              <a:solidFill>
                <a:schemeClr val="dk1"/>
              </a:solidFill>
              <a:latin typeface="Calibri"/>
              <a:ea typeface="Calibri"/>
              <a:cs typeface="Calibri"/>
              <a:sym typeface="Calibri"/>
            </a:endParaRPr>
          </a:p>
        </p:txBody>
      </p:sp>
      <p:sp>
        <p:nvSpPr>
          <p:cNvPr id="136" name="Google Shape;136;p19"/>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7" name="Google Shape;137;p19"/>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38" name="Google Shape;138;p19"/>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the background check happens</a:t>
            </a:r>
            <a:endParaRPr b="0" i="0" sz="1050" u="none" cap="none" strike="noStrike">
              <a:solidFill>
                <a:schemeClr val="dk1"/>
              </a:solidFill>
              <a:latin typeface="Calibri"/>
              <a:ea typeface="Calibri"/>
              <a:cs typeface="Calibri"/>
              <a:sym typeface="Calibri"/>
            </a:endParaRPr>
          </a:p>
        </p:txBody>
      </p:sp>
      <p:sp>
        <p:nvSpPr>
          <p:cNvPr id="139" name="Google Shape;139;p19"/>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0" name="Google Shape;140;p19"/>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41" name="Google Shape;141;p19"/>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happens after the first job</a:t>
            </a:r>
            <a:endParaRPr b="0" i="0" sz="1050" u="none" cap="none" strike="noStrike">
              <a:solidFill>
                <a:schemeClr val="dk1"/>
              </a:solidFill>
              <a:latin typeface="Calibri"/>
              <a:ea typeface="Calibri"/>
              <a:cs typeface="Calibri"/>
              <a:sym typeface="Calibri"/>
            </a:endParaRPr>
          </a:p>
        </p:txBody>
      </p:sp>
      <p:sp>
        <p:nvSpPr>
          <p:cNvPr id="142" name="Google Shape;142;p19"/>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7.png" id="144" name="Google Shape;144;p19"/>
          <p:cNvPicPr preferRelativeResize="0"/>
          <p:nvPr/>
        </p:nvPicPr>
        <p:blipFill rotWithShape="1">
          <a:blip r:embed="rId4">
            <a:alphaModFix/>
          </a:blip>
          <a:srcRect b="0" l="0" r="0" t="0"/>
          <a:stretch/>
        </p:blipFill>
        <p:spPr>
          <a:xfrm>
            <a:off x="5541264" y="1783080"/>
            <a:ext cx="2926080" cy="1572768"/>
          </a:xfrm>
          <a:prstGeom prst="rect">
            <a:avLst/>
          </a:prstGeom>
          <a:noFill/>
          <a:ln>
            <a:noFill/>
          </a:ln>
        </p:spPr>
      </p:pic>
      <p:sp>
        <p:nvSpPr>
          <p:cNvPr id="145" name="Google Shape;145;p19"/>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9"/>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9"/>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9"/>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19"/>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19"/>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CLEANER JOURNEY</a:t>
            </a:r>
            <a:endParaRPr b="0" i="0" sz="800" u="none" cap="none" strike="noStrike">
              <a:solidFill>
                <a:schemeClr val="dk1"/>
              </a:solidFill>
              <a:latin typeface="Calibri"/>
              <a:ea typeface="Calibri"/>
              <a:cs typeface="Calibri"/>
              <a:sym typeface="Calibri"/>
            </a:endParaRPr>
          </a:p>
        </p:txBody>
      </p:sp>
      <p:sp>
        <p:nvSpPr>
          <p:cNvPr id="158" name="Google Shape;158;p2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ideal cleaner journey</a:t>
            </a:r>
            <a:endParaRPr b="0" i="0" sz="2400" u="none" cap="none" strike="noStrike">
              <a:solidFill>
                <a:schemeClr val="dk1"/>
              </a:solidFill>
              <a:latin typeface="Calibri"/>
              <a:ea typeface="Calibri"/>
              <a:cs typeface="Calibri"/>
              <a:sym typeface="Calibri"/>
            </a:endParaRPr>
          </a:p>
        </p:txBody>
      </p:sp>
      <p:sp>
        <p:nvSpPr>
          <p:cNvPr id="159" name="Google Shape;159;p20"/>
          <p:cNvSpPr/>
          <p:nvPr/>
        </p:nvSpPr>
        <p:spPr>
          <a:xfrm>
            <a:off x="411480" y="1051560"/>
            <a:ext cx="8321040" cy="3611880"/>
          </a:xfrm>
          <a:prstGeom prst="roundRect">
            <a:avLst>
              <a:gd fmla="val 202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nfo10.png" id="160" name="Google Shape;160;p20"/>
          <p:cNvPicPr preferRelativeResize="0"/>
          <p:nvPr/>
        </p:nvPicPr>
        <p:blipFill rotWithShape="1">
          <a:blip r:embed="rId3">
            <a:alphaModFix/>
          </a:blip>
          <a:srcRect b="0" l="0" r="0" t="0"/>
          <a:stretch/>
        </p:blipFill>
        <p:spPr>
          <a:xfrm>
            <a:off x="1932991" y="1143000"/>
            <a:ext cx="5278019" cy="3429000"/>
          </a:xfrm>
          <a:prstGeom prst="rect">
            <a:avLst/>
          </a:prstGeom>
          <a:noFill/>
          <a:ln>
            <a:noFill/>
          </a:ln>
        </p:spPr>
      </p:pic>
      <p:sp>
        <p:nvSpPr>
          <p:cNvPr id="161" name="Google Shape;161;p2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CLEANER JOURNEY  ·  ONBOARDING</a:t>
            </a:r>
            <a:endParaRPr b="0" i="0" sz="800" u="none" cap="none" strike="noStrike">
              <a:solidFill>
                <a:schemeClr val="dk1"/>
              </a:solidFill>
              <a:latin typeface="Calibri"/>
              <a:ea typeface="Calibri"/>
              <a:cs typeface="Calibri"/>
              <a:sym typeface="Calibri"/>
            </a:endParaRPr>
          </a:p>
        </p:txBody>
      </p:sp>
      <p:sp>
        <p:nvSpPr>
          <p:cNvPr id="168" name="Google Shape;168;p2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ideal onboarding process</a:t>
            </a:r>
            <a:endParaRPr b="0" i="0" sz="2400" u="none" cap="none" strike="noStrike">
              <a:solidFill>
                <a:schemeClr val="dk1"/>
              </a:solidFill>
              <a:latin typeface="Calibri"/>
              <a:ea typeface="Calibri"/>
              <a:cs typeface="Calibri"/>
              <a:sym typeface="Calibri"/>
            </a:endParaRPr>
          </a:p>
        </p:txBody>
      </p:sp>
      <p:sp>
        <p:nvSpPr>
          <p:cNvPr id="169" name="Google Shape;169;p21"/>
          <p:cNvSpPr/>
          <p:nvPr/>
        </p:nvSpPr>
        <p:spPr>
          <a:xfrm>
            <a:off x="411480" y="1051560"/>
            <a:ext cx="8321040" cy="3611880"/>
          </a:xfrm>
          <a:prstGeom prst="roundRect">
            <a:avLst>
              <a:gd fmla="val 202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nfo11.png" id="170" name="Google Shape;170;p21"/>
          <p:cNvPicPr preferRelativeResize="0"/>
          <p:nvPr/>
        </p:nvPicPr>
        <p:blipFill rotWithShape="1">
          <a:blip r:embed="rId3">
            <a:alphaModFix/>
          </a:blip>
          <a:srcRect b="0" l="0" r="0" t="0"/>
          <a:stretch/>
        </p:blipFill>
        <p:spPr>
          <a:xfrm>
            <a:off x="1981040" y="1143000"/>
            <a:ext cx="5181920" cy="3429000"/>
          </a:xfrm>
          <a:prstGeom prst="rect">
            <a:avLst/>
          </a:prstGeom>
          <a:noFill/>
          <a:ln>
            <a:noFill/>
          </a:ln>
        </p:spPr>
      </p:pic>
      <p:sp>
        <p:nvSpPr>
          <p:cNvPr id="171" name="Google Shape;171;p2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CLEANER JOURNEY</a:t>
            </a:r>
            <a:endParaRPr b="0" i="0" sz="800" u="none" cap="none" strike="noStrike">
              <a:solidFill>
                <a:schemeClr val="dk1"/>
              </a:solidFill>
              <a:latin typeface="Calibri"/>
              <a:ea typeface="Calibri"/>
              <a:cs typeface="Calibri"/>
              <a:sym typeface="Calibri"/>
            </a:endParaRPr>
          </a:p>
        </p:txBody>
      </p:sp>
      <p:sp>
        <p:nvSpPr>
          <p:cNvPr id="178" name="Google Shape;178;p2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Before the first job</a:t>
            </a:r>
            <a:endParaRPr b="0" i="0" sz="2400" u="none" cap="none" strike="noStrike">
              <a:solidFill>
                <a:schemeClr val="dk1"/>
              </a:solidFill>
              <a:latin typeface="Calibri"/>
              <a:ea typeface="Calibri"/>
              <a:cs typeface="Calibri"/>
              <a:sym typeface="Calibri"/>
            </a:endParaRPr>
          </a:p>
        </p:txBody>
      </p:sp>
      <p:sp>
        <p:nvSpPr>
          <p:cNvPr id="179" name="Google Shape;179;p2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Two things are required to claim jobs. The background check comes after the first claim.</a:t>
            </a:r>
            <a:endParaRPr b="0" i="0" sz="1200" u="none" cap="none" strike="noStrike">
              <a:solidFill>
                <a:schemeClr val="dk1"/>
              </a:solidFill>
              <a:latin typeface="Calibri"/>
              <a:ea typeface="Calibri"/>
              <a:cs typeface="Calibri"/>
              <a:sym typeface="Calibri"/>
            </a:endParaRPr>
          </a:p>
        </p:txBody>
      </p:sp>
      <p:sp>
        <p:nvSpPr>
          <p:cNvPr id="180" name="Google Shape;180;p22"/>
          <p:cNvSpPr/>
          <p:nvPr/>
        </p:nvSpPr>
        <p:spPr>
          <a:xfrm>
            <a:off x="411480" y="1325880"/>
            <a:ext cx="5257800" cy="2194560"/>
          </a:xfrm>
          <a:prstGeom prst="roundRect">
            <a:avLst>
              <a:gd fmla="val 333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22"/>
          <p:cNvSpPr txBox="1"/>
          <p:nvPr/>
        </p:nvSpPr>
        <p:spPr>
          <a:xfrm>
            <a:off x="594360" y="14630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REQUIRED TO CLAIM JOBS</a:t>
            </a:r>
            <a:endParaRPr b="0" i="0" sz="800" u="none" cap="none" strike="noStrike">
              <a:solidFill>
                <a:schemeClr val="dk1"/>
              </a:solidFill>
              <a:latin typeface="Calibri"/>
              <a:ea typeface="Calibri"/>
              <a:cs typeface="Calibri"/>
              <a:sym typeface="Calibri"/>
            </a:endParaRPr>
          </a:p>
        </p:txBody>
      </p:sp>
      <p:sp>
        <p:nvSpPr>
          <p:cNvPr id="182" name="Google Shape;182;p22"/>
          <p:cNvSpPr/>
          <p:nvPr/>
        </p:nvSpPr>
        <p:spPr>
          <a:xfrm>
            <a:off x="594360" y="1737360"/>
            <a:ext cx="23774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22"/>
          <p:cNvSpPr/>
          <p:nvPr/>
        </p:nvSpPr>
        <p:spPr>
          <a:xfrm>
            <a:off x="758952" y="19019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4" name="Google Shape;184;p22"/>
          <p:cNvPicPr preferRelativeResize="0"/>
          <p:nvPr/>
        </p:nvPicPr>
        <p:blipFill rotWithShape="1">
          <a:blip r:embed="rId3">
            <a:alphaModFix/>
          </a:blip>
          <a:srcRect b="0" l="0" r="0" t="0"/>
          <a:stretch/>
        </p:blipFill>
        <p:spPr>
          <a:xfrm>
            <a:off x="837956" y="1980956"/>
            <a:ext cx="171176" cy="171176"/>
          </a:xfrm>
          <a:prstGeom prst="rect">
            <a:avLst/>
          </a:prstGeom>
          <a:noFill/>
          <a:ln>
            <a:noFill/>
          </a:ln>
        </p:spPr>
      </p:pic>
      <p:sp>
        <p:nvSpPr>
          <p:cNvPr id="185" name="Google Shape;185;p22"/>
          <p:cNvSpPr txBox="1"/>
          <p:nvPr/>
        </p:nvSpPr>
        <p:spPr>
          <a:xfrm>
            <a:off x="758952" y="2340864"/>
            <a:ext cx="20482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Pay details</a:t>
            </a:r>
            <a:endParaRPr b="0" i="0" sz="1200" u="none" cap="none" strike="noStrike">
              <a:solidFill>
                <a:schemeClr val="dk1"/>
              </a:solidFill>
              <a:latin typeface="Calibri"/>
              <a:ea typeface="Calibri"/>
              <a:cs typeface="Calibri"/>
              <a:sym typeface="Calibri"/>
            </a:endParaRPr>
          </a:p>
        </p:txBody>
      </p:sp>
      <p:sp>
        <p:nvSpPr>
          <p:cNvPr id="186" name="Google Shape;186;p22"/>
          <p:cNvSpPr txBox="1"/>
          <p:nvPr/>
        </p:nvSpPr>
        <p:spPr>
          <a:xfrm>
            <a:off x="758952" y="2633472"/>
            <a:ext cx="20482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So the cleaner can get paid. Debit cards and bank accounts are accepted.</a:t>
            </a:r>
            <a:endParaRPr b="0" i="0" sz="950" u="none" cap="none" strike="noStrike">
              <a:solidFill>
                <a:schemeClr val="dk1"/>
              </a:solidFill>
              <a:latin typeface="Calibri"/>
              <a:ea typeface="Calibri"/>
              <a:cs typeface="Calibri"/>
              <a:sym typeface="Calibri"/>
            </a:endParaRPr>
          </a:p>
        </p:txBody>
      </p:sp>
      <p:sp>
        <p:nvSpPr>
          <p:cNvPr id="187" name="Google Shape;187;p22"/>
          <p:cNvSpPr/>
          <p:nvPr/>
        </p:nvSpPr>
        <p:spPr>
          <a:xfrm>
            <a:off x="3108960" y="1737360"/>
            <a:ext cx="23774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2"/>
          <p:cNvSpPr/>
          <p:nvPr/>
        </p:nvSpPr>
        <p:spPr>
          <a:xfrm>
            <a:off x="3273552" y="19019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9" name="Google Shape;189;p22"/>
          <p:cNvPicPr preferRelativeResize="0"/>
          <p:nvPr/>
        </p:nvPicPr>
        <p:blipFill rotWithShape="1">
          <a:blip r:embed="rId4">
            <a:alphaModFix/>
          </a:blip>
          <a:srcRect b="0" l="0" r="0" t="0"/>
          <a:stretch/>
        </p:blipFill>
        <p:spPr>
          <a:xfrm>
            <a:off x="3352556" y="1980956"/>
            <a:ext cx="171176" cy="171176"/>
          </a:xfrm>
          <a:prstGeom prst="rect">
            <a:avLst/>
          </a:prstGeom>
          <a:noFill/>
          <a:ln>
            <a:noFill/>
          </a:ln>
        </p:spPr>
      </p:pic>
      <p:sp>
        <p:nvSpPr>
          <p:cNvPr id="190" name="Google Shape;190;p22"/>
          <p:cNvSpPr txBox="1"/>
          <p:nvPr/>
        </p:nvSpPr>
        <p:spPr>
          <a:xfrm>
            <a:off x="3273552" y="2340864"/>
            <a:ext cx="20482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SSN</a:t>
            </a:r>
            <a:endParaRPr b="0" i="0" sz="1200" u="none" cap="none" strike="noStrike">
              <a:solidFill>
                <a:schemeClr val="dk1"/>
              </a:solidFill>
              <a:latin typeface="Calibri"/>
              <a:ea typeface="Calibri"/>
              <a:cs typeface="Calibri"/>
              <a:sym typeface="Calibri"/>
            </a:endParaRPr>
          </a:p>
        </p:txBody>
      </p:sp>
      <p:sp>
        <p:nvSpPr>
          <p:cNvPr id="191" name="Google Shape;191;p22"/>
          <p:cNvSpPr txBox="1"/>
          <p:nvPr/>
        </p:nvSpPr>
        <p:spPr>
          <a:xfrm>
            <a:off x="3273552" y="2633472"/>
            <a:ext cx="20482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Needed to run the background check that keeps customers safe.</a:t>
            </a:r>
            <a:endParaRPr b="0" i="0" sz="950" u="none" cap="none" strike="noStrike">
              <a:solidFill>
                <a:schemeClr val="dk1"/>
              </a:solidFill>
              <a:latin typeface="Calibri"/>
              <a:ea typeface="Calibri"/>
              <a:cs typeface="Calibri"/>
              <a:sym typeface="Calibri"/>
            </a:endParaRPr>
          </a:p>
        </p:txBody>
      </p:sp>
      <p:pic>
        <p:nvPicPr>
          <p:cNvPr descr="preencoded.png" id="192" name="Google Shape;192;p22"/>
          <p:cNvPicPr preferRelativeResize="0"/>
          <p:nvPr/>
        </p:nvPicPr>
        <p:blipFill rotWithShape="1">
          <a:blip r:embed="rId5">
            <a:alphaModFix/>
          </a:blip>
          <a:srcRect b="0" l="0" r="0" t="0"/>
          <a:stretch/>
        </p:blipFill>
        <p:spPr>
          <a:xfrm>
            <a:off x="5760720" y="2286000"/>
            <a:ext cx="320040" cy="320040"/>
          </a:xfrm>
          <a:prstGeom prst="rect">
            <a:avLst/>
          </a:prstGeom>
          <a:noFill/>
          <a:ln>
            <a:noFill/>
          </a:ln>
        </p:spPr>
      </p:pic>
      <p:sp>
        <p:nvSpPr>
          <p:cNvPr id="193" name="Google Shape;193;p22"/>
          <p:cNvSpPr/>
          <p:nvPr/>
        </p:nvSpPr>
        <p:spPr>
          <a:xfrm>
            <a:off x="6172200" y="1325880"/>
            <a:ext cx="2560320" cy="2194560"/>
          </a:xfrm>
          <a:prstGeom prst="roundRect">
            <a:avLst>
              <a:gd fmla="val 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2"/>
          <p:cNvSpPr txBox="1"/>
          <p:nvPr/>
        </p:nvSpPr>
        <p:spPr>
          <a:xfrm>
            <a:off x="6355080" y="1463040"/>
            <a:ext cx="2286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AFTER THE FIRST CLAIM</a:t>
            </a:r>
            <a:endParaRPr b="0" i="0" sz="800" u="none" cap="none" strike="noStrike">
              <a:solidFill>
                <a:schemeClr val="dk1"/>
              </a:solidFill>
              <a:latin typeface="Calibri"/>
              <a:ea typeface="Calibri"/>
              <a:cs typeface="Calibri"/>
              <a:sym typeface="Calibri"/>
            </a:endParaRPr>
          </a:p>
        </p:txBody>
      </p:sp>
      <p:sp>
        <p:nvSpPr>
          <p:cNvPr id="195" name="Google Shape;195;p22"/>
          <p:cNvSpPr/>
          <p:nvPr/>
        </p:nvSpPr>
        <p:spPr>
          <a:xfrm>
            <a:off x="6355080" y="178308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6" name="Google Shape;196;p22"/>
          <p:cNvPicPr preferRelativeResize="0"/>
          <p:nvPr/>
        </p:nvPicPr>
        <p:blipFill rotWithShape="1">
          <a:blip r:embed="rId6">
            <a:alphaModFix/>
          </a:blip>
          <a:srcRect b="0" l="0" r="0" t="0"/>
          <a:stretch/>
        </p:blipFill>
        <p:spPr>
          <a:xfrm>
            <a:off x="6434084" y="1862084"/>
            <a:ext cx="171176" cy="171176"/>
          </a:xfrm>
          <a:prstGeom prst="rect">
            <a:avLst/>
          </a:prstGeom>
          <a:noFill/>
          <a:ln>
            <a:noFill/>
          </a:ln>
        </p:spPr>
      </p:pic>
      <p:sp>
        <p:nvSpPr>
          <p:cNvPr id="197" name="Google Shape;197;p22"/>
          <p:cNvSpPr txBox="1"/>
          <p:nvPr/>
        </p:nvSpPr>
        <p:spPr>
          <a:xfrm>
            <a:off x="6355080" y="2221992"/>
            <a:ext cx="224028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Background check</a:t>
            </a:r>
            <a:endParaRPr b="0" i="0" sz="1200" u="none" cap="none" strike="noStrike">
              <a:solidFill>
                <a:schemeClr val="dk1"/>
              </a:solidFill>
              <a:latin typeface="Calibri"/>
              <a:ea typeface="Calibri"/>
              <a:cs typeface="Calibri"/>
              <a:sym typeface="Calibri"/>
            </a:endParaRPr>
          </a:p>
        </p:txBody>
      </p:sp>
      <p:sp>
        <p:nvSpPr>
          <p:cNvPr id="198" name="Google Shape;198;p22"/>
          <p:cNvSpPr txBox="1"/>
          <p:nvPr/>
        </p:nvSpPr>
        <p:spPr>
          <a:xfrm>
            <a:off x="6355080" y="2514600"/>
            <a:ext cx="224028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Starts once the cleaner claims their first job, so they're verified before that job happens.</a:t>
            </a:r>
            <a:endParaRPr b="0" i="0" sz="950" u="none" cap="none" strike="noStrike">
              <a:solidFill>
                <a:schemeClr val="dk1"/>
              </a:solidFill>
              <a:latin typeface="Calibri"/>
              <a:ea typeface="Calibri"/>
              <a:cs typeface="Calibri"/>
              <a:sym typeface="Calibri"/>
            </a:endParaRPr>
          </a:p>
        </p:txBody>
      </p:sp>
      <p:sp>
        <p:nvSpPr>
          <p:cNvPr id="199" name="Google Shape;199;p22"/>
          <p:cNvSpPr/>
          <p:nvPr/>
        </p:nvSpPr>
        <p:spPr>
          <a:xfrm>
            <a:off x="411480" y="37490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0" name="Google Shape;200;p22"/>
          <p:cNvPicPr preferRelativeResize="0"/>
          <p:nvPr/>
        </p:nvPicPr>
        <p:blipFill rotWithShape="1">
          <a:blip r:embed="rId7">
            <a:alphaModFix/>
          </a:blip>
          <a:srcRect b="0" l="0" r="0" t="0"/>
          <a:stretch/>
        </p:blipFill>
        <p:spPr>
          <a:xfrm>
            <a:off x="566928" y="3858768"/>
            <a:ext cx="164592" cy="164592"/>
          </a:xfrm>
          <a:prstGeom prst="rect">
            <a:avLst/>
          </a:prstGeom>
          <a:noFill/>
          <a:ln>
            <a:noFill/>
          </a:ln>
        </p:spPr>
      </p:pic>
      <p:sp>
        <p:nvSpPr>
          <p:cNvPr id="201" name="Google Shape;201;p22"/>
          <p:cNvSpPr txBox="1"/>
          <p:nvPr/>
        </p:nvSpPr>
        <p:spPr>
          <a:xfrm>
            <a:off x="822960" y="38496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Why it matters:  </a:t>
            </a:r>
            <a:r>
              <a:rPr b="0" i="0" lang="en" sz="1000" u="none" cap="none" strike="noStrike">
                <a:solidFill>
                  <a:srgbClr val="1D1D1F"/>
                </a:solidFill>
                <a:latin typeface="Arial"/>
                <a:ea typeface="Arial"/>
                <a:cs typeface="Arial"/>
                <a:sym typeface="Arial"/>
              </a:rPr>
              <a:t>a cleaner who "finished registering" but can't claim is usually missing pay details or an SSN.</a:t>
            </a:r>
            <a:endParaRPr b="0" i="0" sz="1000" u="none" cap="none" strike="noStrike">
              <a:solidFill>
                <a:schemeClr val="dk1"/>
              </a:solidFill>
              <a:latin typeface="Calibri"/>
              <a:ea typeface="Calibri"/>
              <a:cs typeface="Calibri"/>
              <a:sym typeface="Calibri"/>
            </a:endParaRPr>
          </a:p>
        </p:txBody>
      </p:sp>
      <p:sp>
        <p:nvSpPr>
          <p:cNvPr id="202" name="Google Shape;202;p2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CLEANER JOURNEY  ·  STEP 5</a:t>
            </a:r>
            <a:endParaRPr b="0" i="0" sz="800" u="none" cap="none" strike="noStrike">
              <a:solidFill>
                <a:schemeClr val="dk1"/>
              </a:solidFill>
              <a:latin typeface="Calibri"/>
              <a:ea typeface="Calibri"/>
              <a:cs typeface="Calibri"/>
              <a:sym typeface="Calibri"/>
            </a:endParaRPr>
          </a:p>
        </p:txBody>
      </p:sp>
      <p:sp>
        <p:nvSpPr>
          <p:cNvPr id="209" name="Google Shape;209;p2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After the job is complete</a:t>
            </a:r>
            <a:endParaRPr b="0" i="0" sz="2400" u="none" cap="none" strike="noStrike">
              <a:solidFill>
                <a:schemeClr val="dk1"/>
              </a:solidFill>
              <a:latin typeface="Calibri"/>
              <a:ea typeface="Calibri"/>
              <a:cs typeface="Calibri"/>
              <a:sym typeface="Calibri"/>
            </a:endParaRPr>
          </a:p>
        </p:txBody>
      </p:sp>
      <p:sp>
        <p:nvSpPr>
          <p:cNvPr id="210" name="Google Shape;210;p23"/>
          <p:cNvSpPr/>
          <p:nvPr/>
        </p:nvSpPr>
        <p:spPr>
          <a:xfrm>
            <a:off x="411480" y="1280160"/>
            <a:ext cx="1977390" cy="1783080"/>
          </a:xfrm>
          <a:prstGeom prst="roundRect">
            <a:avLst>
              <a:gd fmla="val 41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23"/>
          <p:cNvSpPr/>
          <p:nvPr/>
        </p:nvSpPr>
        <p:spPr>
          <a:xfrm>
            <a:off x="5760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2" name="Google Shape;212;p23"/>
          <p:cNvPicPr preferRelativeResize="0"/>
          <p:nvPr/>
        </p:nvPicPr>
        <p:blipFill rotWithShape="1">
          <a:blip r:embed="rId3">
            <a:alphaModFix/>
          </a:blip>
          <a:srcRect b="0" l="0" r="0" t="0"/>
          <a:stretch/>
        </p:blipFill>
        <p:spPr>
          <a:xfrm>
            <a:off x="655076" y="1523756"/>
            <a:ext cx="171176" cy="171176"/>
          </a:xfrm>
          <a:prstGeom prst="rect">
            <a:avLst/>
          </a:prstGeom>
          <a:noFill/>
          <a:ln>
            <a:noFill/>
          </a:ln>
        </p:spPr>
      </p:pic>
      <p:sp>
        <p:nvSpPr>
          <p:cNvPr id="213" name="Google Shape;213;p23"/>
          <p:cNvSpPr txBox="1"/>
          <p:nvPr/>
        </p:nvSpPr>
        <p:spPr>
          <a:xfrm>
            <a:off x="57607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Cleaner gets paid</a:t>
            </a:r>
            <a:endParaRPr b="0" i="0" sz="1200" u="none" cap="none" strike="noStrike">
              <a:solidFill>
                <a:schemeClr val="dk1"/>
              </a:solidFill>
              <a:latin typeface="Calibri"/>
              <a:ea typeface="Calibri"/>
              <a:cs typeface="Calibri"/>
              <a:sym typeface="Calibri"/>
            </a:endParaRPr>
          </a:p>
        </p:txBody>
      </p:sp>
      <p:sp>
        <p:nvSpPr>
          <p:cNvPr id="214" name="Google Shape;214;p23"/>
          <p:cNvSpPr txBox="1"/>
          <p:nvPr/>
        </p:nvSpPr>
        <p:spPr>
          <a:xfrm>
            <a:off x="576072" y="2176272"/>
            <a:ext cx="1648206" cy="795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Through the payment method they chose.</a:t>
            </a:r>
            <a:endParaRPr b="0" i="0" sz="950" u="none" cap="none" strike="noStrike">
              <a:solidFill>
                <a:schemeClr val="dk1"/>
              </a:solidFill>
              <a:latin typeface="Calibri"/>
              <a:ea typeface="Calibri"/>
              <a:cs typeface="Calibri"/>
              <a:sym typeface="Calibri"/>
            </a:endParaRPr>
          </a:p>
        </p:txBody>
      </p:sp>
      <p:sp>
        <p:nvSpPr>
          <p:cNvPr id="215" name="Google Shape;215;p23"/>
          <p:cNvSpPr/>
          <p:nvPr/>
        </p:nvSpPr>
        <p:spPr>
          <a:xfrm>
            <a:off x="2526030" y="1280160"/>
            <a:ext cx="1977390" cy="1783080"/>
          </a:xfrm>
          <a:prstGeom prst="roundRect">
            <a:avLst>
              <a:gd fmla="val 41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3"/>
          <p:cNvSpPr/>
          <p:nvPr/>
        </p:nvSpPr>
        <p:spPr>
          <a:xfrm>
            <a:off x="269062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7" name="Google Shape;217;p23"/>
          <p:cNvPicPr preferRelativeResize="0"/>
          <p:nvPr/>
        </p:nvPicPr>
        <p:blipFill rotWithShape="1">
          <a:blip r:embed="rId4">
            <a:alphaModFix/>
          </a:blip>
          <a:srcRect b="0" l="0" r="0" t="0"/>
          <a:stretch/>
        </p:blipFill>
        <p:spPr>
          <a:xfrm>
            <a:off x="2769626" y="1523756"/>
            <a:ext cx="171176" cy="171176"/>
          </a:xfrm>
          <a:prstGeom prst="rect">
            <a:avLst/>
          </a:prstGeom>
          <a:noFill/>
          <a:ln>
            <a:noFill/>
          </a:ln>
        </p:spPr>
      </p:pic>
      <p:sp>
        <p:nvSpPr>
          <p:cNvPr id="218" name="Google Shape;218;p23"/>
          <p:cNvSpPr txBox="1"/>
          <p:nvPr/>
        </p:nvSpPr>
        <p:spPr>
          <a:xfrm>
            <a:off x="269062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Review and tip</a:t>
            </a:r>
            <a:endParaRPr b="0" i="0" sz="1200" u="none" cap="none" strike="noStrike">
              <a:solidFill>
                <a:schemeClr val="dk1"/>
              </a:solidFill>
              <a:latin typeface="Calibri"/>
              <a:ea typeface="Calibri"/>
              <a:cs typeface="Calibri"/>
              <a:sym typeface="Calibri"/>
            </a:endParaRPr>
          </a:p>
        </p:txBody>
      </p:sp>
      <p:sp>
        <p:nvSpPr>
          <p:cNvPr id="219" name="Google Shape;219;p23"/>
          <p:cNvSpPr txBox="1"/>
          <p:nvPr/>
        </p:nvSpPr>
        <p:spPr>
          <a:xfrm>
            <a:off x="2690622" y="2176272"/>
            <a:ext cx="1648206" cy="795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customer gets a confirmation. Leaving a review and tip is optional.</a:t>
            </a:r>
            <a:endParaRPr b="0" i="0" sz="950" u="none" cap="none" strike="noStrike">
              <a:solidFill>
                <a:schemeClr val="dk1"/>
              </a:solidFill>
              <a:latin typeface="Calibri"/>
              <a:ea typeface="Calibri"/>
              <a:cs typeface="Calibri"/>
              <a:sym typeface="Calibri"/>
            </a:endParaRPr>
          </a:p>
        </p:txBody>
      </p:sp>
      <p:sp>
        <p:nvSpPr>
          <p:cNvPr id="220" name="Google Shape;220;p23"/>
          <p:cNvSpPr/>
          <p:nvPr/>
        </p:nvSpPr>
        <p:spPr>
          <a:xfrm>
            <a:off x="4640580" y="1280160"/>
            <a:ext cx="1977390" cy="1783080"/>
          </a:xfrm>
          <a:prstGeom prst="roundRect">
            <a:avLst>
              <a:gd fmla="val 41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23"/>
          <p:cNvSpPr/>
          <p:nvPr/>
        </p:nvSpPr>
        <p:spPr>
          <a:xfrm>
            <a:off x="48051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2" name="Google Shape;222;p23"/>
          <p:cNvPicPr preferRelativeResize="0"/>
          <p:nvPr/>
        </p:nvPicPr>
        <p:blipFill rotWithShape="1">
          <a:blip r:embed="rId5">
            <a:alphaModFix/>
          </a:blip>
          <a:srcRect b="0" l="0" r="0" t="0"/>
          <a:stretch/>
        </p:blipFill>
        <p:spPr>
          <a:xfrm>
            <a:off x="4884176" y="1523756"/>
            <a:ext cx="171176" cy="171176"/>
          </a:xfrm>
          <a:prstGeom prst="rect">
            <a:avLst/>
          </a:prstGeom>
          <a:noFill/>
          <a:ln>
            <a:noFill/>
          </a:ln>
        </p:spPr>
      </p:pic>
      <p:sp>
        <p:nvSpPr>
          <p:cNvPr id="223" name="Google Shape;223;p23"/>
          <p:cNvSpPr txBox="1"/>
          <p:nvPr/>
        </p:nvSpPr>
        <p:spPr>
          <a:xfrm>
            <a:off x="480517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Refund requests</a:t>
            </a:r>
            <a:endParaRPr b="0" i="0" sz="1200" u="none" cap="none" strike="noStrike">
              <a:solidFill>
                <a:schemeClr val="dk1"/>
              </a:solidFill>
              <a:latin typeface="Calibri"/>
              <a:ea typeface="Calibri"/>
              <a:cs typeface="Calibri"/>
              <a:sym typeface="Calibri"/>
            </a:endParaRPr>
          </a:p>
        </p:txBody>
      </p:sp>
      <p:sp>
        <p:nvSpPr>
          <p:cNvPr id="224" name="Google Shape;224;p23"/>
          <p:cNvSpPr txBox="1"/>
          <p:nvPr/>
        </p:nvSpPr>
        <p:spPr>
          <a:xfrm>
            <a:off x="4805172" y="2176272"/>
            <a:ext cx="1648206" cy="795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If there's a service concern, the customer may ask for a refund.</a:t>
            </a:r>
            <a:endParaRPr b="0" i="0" sz="950" u="none" cap="none" strike="noStrike">
              <a:solidFill>
                <a:schemeClr val="dk1"/>
              </a:solidFill>
              <a:latin typeface="Calibri"/>
              <a:ea typeface="Calibri"/>
              <a:cs typeface="Calibri"/>
              <a:sym typeface="Calibri"/>
            </a:endParaRPr>
          </a:p>
        </p:txBody>
      </p:sp>
      <p:sp>
        <p:nvSpPr>
          <p:cNvPr id="225" name="Google Shape;225;p23"/>
          <p:cNvSpPr/>
          <p:nvPr/>
        </p:nvSpPr>
        <p:spPr>
          <a:xfrm>
            <a:off x="6755130" y="1280160"/>
            <a:ext cx="1977390" cy="1783080"/>
          </a:xfrm>
          <a:prstGeom prst="roundRect">
            <a:avLst>
              <a:gd fmla="val 41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3"/>
          <p:cNvSpPr/>
          <p:nvPr/>
        </p:nvSpPr>
        <p:spPr>
          <a:xfrm>
            <a:off x="691972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7" name="Google Shape;227;p23"/>
          <p:cNvPicPr preferRelativeResize="0"/>
          <p:nvPr/>
        </p:nvPicPr>
        <p:blipFill rotWithShape="1">
          <a:blip r:embed="rId6">
            <a:alphaModFix/>
          </a:blip>
          <a:srcRect b="0" l="0" r="0" t="0"/>
          <a:stretch/>
        </p:blipFill>
        <p:spPr>
          <a:xfrm>
            <a:off x="6998726" y="1523756"/>
            <a:ext cx="171176" cy="171176"/>
          </a:xfrm>
          <a:prstGeom prst="rect">
            <a:avLst/>
          </a:prstGeom>
          <a:noFill/>
          <a:ln>
            <a:noFill/>
          </a:ln>
        </p:spPr>
      </p:pic>
      <p:sp>
        <p:nvSpPr>
          <p:cNvPr id="228" name="Google Shape;228;p23"/>
          <p:cNvSpPr txBox="1"/>
          <p:nvPr/>
        </p:nvSpPr>
        <p:spPr>
          <a:xfrm>
            <a:off x="691972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Cleaner refunds</a:t>
            </a:r>
            <a:endParaRPr b="0" i="0" sz="1200" u="none" cap="none" strike="noStrike">
              <a:solidFill>
                <a:schemeClr val="dk1"/>
              </a:solidFill>
              <a:latin typeface="Calibri"/>
              <a:ea typeface="Calibri"/>
              <a:cs typeface="Calibri"/>
              <a:sym typeface="Calibri"/>
            </a:endParaRPr>
          </a:p>
        </p:txBody>
      </p:sp>
      <p:sp>
        <p:nvSpPr>
          <p:cNvPr id="229" name="Google Shape;229;p23"/>
          <p:cNvSpPr txBox="1"/>
          <p:nvPr/>
        </p:nvSpPr>
        <p:spPr>
          <a:xfrm>
            <a:off x="6919722" y="2176272"/>
            <a:ext cx="1648206" cy="795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Cleaners can refund on request, or proactively.</a:t>
            </a:r>
            <a:endParaRPr b="0" i="0" sz="950" u="none" cap="none" strike="noStrike">
              <a:solidFill>
                <a:schemeClr val="dk1"/>
              </a:solidFill>
              <a:latin typeface="Calibri"/>
              <a:ea typeface="Calibri"/>
              <a:cs typeface="Calibri"/>
              <a:sym typeface="Calibri"/>
            </a:endParaRPr>
          </a:p>
        </p:txBody>
      </p:sp>
      <p:sp>
        <p:nvSpPr>
          <p:cNvPr id="230" name="Google Shape;230;p2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4"/>
          <p:cNvSpPr txBox="1"/>
          <p:nvPr/>
        </p:nvSpPr>
        <p:spPr>
          <a:xfrm>
            <a:off x="566928" y="173736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237" name="Google Shape;237;p24"/>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238" name="Google Shape;238;p24"/>
          <p:cNvSpPr txBox="1"/>
          <p:nvPr/>
        </p:nvSpPr>
        <p:spPr>
          <a:xfrm>
            <a:off x="566928" y="26974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239" name="Google Shape;239;p24"/>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4"/>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9.png" id="241" name="Google Shape;241;p24"/>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242" name="Google Shape;242;p24"/>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4"/>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4"/>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4"/>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4"/>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24"/>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5"/>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02 OF 11</a:t>
            </a:r>
            <a:endParaRPr b="0" i="0" sz="800" u="none" cap="none" strike="noStrike">
              <a:solidFill>
                <a:schemeClr val="dk1"/>
              </a:solidFill>
              <a:latin typeface="Calibri"/>
              <a:ea typeface="Calibri"/>
              <a:cs typeface="Calibri"/>
              <a:sym typeface="Calibri"/>
            </a:endParaRPr>
          </a:p>
        </p:txBody>
      </p:sp>
      <p:sp>
        <p:nvSpPr>
          <p:cNvPr id="255" name="Google Shape;255;p25"/>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Introduction to CP CRM (Legacy)</a:t>
            </a:r>
            <a:endParaRPr b="0" i="0" sz="2800" u="none" cap="none" strike="noStrike">
              <a:solidFill>
                <a:schemeClr val="dk1"/>
              </a:solidFill>
              <a:latin typeface="Calibri"/>
              <a:ea typeface="Calibri"/>
              <a:cs typeface="Calibri"/>
              <a:sym typeface="Calibri"/>
            </a:endParaRPr>
          </a:p>
        </p:txBody>
      </p:sp>
      <p:sp>
        <p:nvSpPr>
          <p:cNvPr id="256" name="Google Shape;256;p25"/>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Where we manage cleaners' (CPs') accounts.</a:t>
            </a:r>
            <a:endParaRPr b="0" i="0" sz="1150" u="none" cap="none" strike="noStrike">
              <a:solidFill>
                <a:schemeClr val="dk1"/>
              </a:solidFill>
              <a:latin typeface="Calibri"/>
              <a:ea typeface="Calibri"/>
              <a:cs typeface="Calibri"/>
              <a:sym typeface="Calibri"/>
            </a:endParaRPr>
          </a:p>
        </p:txBody>
      </p:sp>
      <p:sp>
        <p:nvSpPr>
          <p:cNvPr id="257" name="Google Shape;257;p25"/>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258" name="Google Shape;258;p25"/>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9" name="Google Shape;259;p25"/>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260" name="Google Shape;260;p25"/>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the CP CRM is for</a:t>
            </a:r>
            <a:endParaRPr b="0" i="0" sz="1050" u="none" cap="none" strike="noStrike">
              <a:solidFill>
                <a:schemeClr val="dk1"/>
              </a:solidFill>
              <a:latin typeface="Calibri"/>
              <a:ea typeface="Calibri"/>
              <a:cs typeface="Calibri"/>
              <a:sym typeface="Calibri"/>
            </a:endParaRPr>
          </a:p>
        </p:txBody>
      </p:sp>
      <p:sp>
        <p:nvSpPr>
          <p:cNvPr id="261" name="Google Shape;261;p25"/>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2" name="Google Shape;262;p25"/>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263" name="Google Shape;263;p25"/>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you'll find on a CP's page</a:t>
            </a:r>
            <a:endParaRPr b="0" i="0" sz="1050" u="none" cap="none" strike="noStrike">
              <a:solidFill>
                <a:schemeClr val="dk1"/>
              </a:solidFill>
              <a:latin typeface="Calibri"/>
              <a:ea typeface="Calibri"/>
              <a:cs typeface="Calibri"/>
              <a:sym typeface="Calibri"/>
            </a:endParaRPr>
          </a:p>
        </p:txBody>
      </p:sp>
      <p:sp>
        <p:nvSpPr>
          <p:cNvPr id="264" name="Google Shape;264;p25"/>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5" name="Google Shape;265;p25"/>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266" name="Google Shape;266;p25"/>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A live walkthrough</a:t>
            </a:r>
            <a:endParaRPr b="0" i="0" sz="1050" u="none" cap="none" strike="noStrike">
              <a:solidFill>
                <a:schemeClr val="dk1"/>
              </a:solidFill>
              <a:latin typeface="Calibri"/>
              <a:ea typeface="Calibri"/>
              <a:cs typeface="Calibri"/>
              <a:sym typeface="Calibri"/>
            </a:endParaRPr>
          </a:p>
        </p:txBody>
      </p:sp>
      <p:sp>
        <p:nvSpPr>
          <p:cNvPr id="267" name="Google Shape;267;p25"/>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11.png" id="269" name="Google Shape;269;p25"/>
          <p:cNvPicPr preferRelativeResize="0"/>
          <p:nvPr/>
        </p:nvPicPr>
        <p:blipFill rotWithShape="1">
          <a:blip r:embed="rId4">
            <a:alphaModFix/>
          </a:blip>
          <a:srcRect b="0" l="0" r="0" t="0"/>
          <a:stretch/>
        </p:blipFill>
        <p:spPr>
          <a:xfrm>
            <a:off x="5795010" y="1517904"/>
            <a:ext cx="2418588" cy="2103120"/>
          </a:xfrm>
          <a:prstGeom prst="rect">
            <a:avLst/>
          </a:prstGeom>
          <a:noFill/>
          <a:ln>
            <a:noFill/>
          </a:ln>
        </p:spPr>
      </p:pic>
      <p:sp>
        <p:nvSpPr>
          <p:cNvPr id="270" name="Google Shape;270;p25"/>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5"/>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5"/>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5"/>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5"/>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5"/>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LEGACY CP CRM</a:t>
            </a:r>
            <a:endParaRPr b="0" i="0" sz="800" u="none" cap="none" strike="noStrike">
              <a:solidFill>
                <a:schemeClr val="dk1"/>
              </a:solidFill>
              <a:latin typeface="Calibri"/>
              <a:ea typeface="Calibri"/>
              <a:cs typeface="Calibri"/>
              <a:sym typeface="Calibri"/>
            </a:endParaRPr>
          </a:p>
        </p:txBody>
      </p:sp>
      <p:sp>
        <p:nvSpPr>
          <p:cNvPr id="283" name="Google Shape;283;p2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Where we manage cleaner accounts</a:t>
            </a:r>
            <a:endParaRPr b="0" i="0" sz="2400" u="none" cap="none" strike="noStrike">
              <a:solidFill>
                <a:schemeClr val="dk1"/>
              </a:solidFill>
              <a:latin typeface="Calibri"/>
              <a:ea typeface="Calibri"/>
              <a:cs typeface="Calibri"/>
              <a:sym typeface="Calibri"/>
            </a:endParaRPr>
          </a:p>
        </p:txBody>
      </p:sp>
      <p:sp>
        <p:nvSpPr>
          <p:cNvPr id="284" name="Google Shape;284;p2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Everything about a cleaner, in one place.</a:t>
            </a:r>
            <a:endParaRPr b="0" i="0" sz="1200" u="none" cap="none" strike="noStrike">
              <a:solidFill>
                <a:schemeClr val="dk1"/>
              </a:solidFill>
              <a:latin typeface="Calibri"/>
              <a:ea typeface="Calibri"/>
              <a:cs typeface="Calibri"/>
              <a:sym typeface="Calibri"/>
            </a:endParaRPr>
          </a:p>
        </p:txBody>
      </p:sp>
      <p:sp>
        <p:nvSpPr>
          <p:cNvPr id="285" name="Google Shape;285;p26"/>
          <p:cNvSpPr/>
          <p:nvPr/>
        </p:nvSpPr>
        <p:spPr>
          <a:xfrm>
            <a:off x="411480" y="1371600"/>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6"/>
          <p:cNvSpPr/>
          <p:nvPr/>
        </p:nvSpPr>
        <p:spPr>
          <a:xfrm>
            <a:off x="521208" y="1453896"/>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7" name="Google Shape;287;p26"/>
          <p:cNvPicPr preferRelativeResize="0"/>
          <p:nvPr/>
        </p:nvPicPr>
        <p:blipFill rotWithShape="1">
          <a:blip r:embed="rId3">
            <a:alphaModFix/>
          </a:blip>
          <a:srcRect b="0" l="0" r="0" t="0"/>
          <a:stretch/>
        </p:blipFill>
        <p:spPr>
          <a:xfrm>
            <a:off x="591434" y="1524122"/>
            <a:ext cx="152156" cy="152156"/>
          </a:xfrm>
          <a:prstGeom prst="rect">
            <a:avLst/>
          </a:prstGeom>
          <a:noFill/>
          <a:ln>
            <a:noFill/>
          </a:ln>
        </p:spPr>
      </p:pic>
      <p:sp>
        <p:nvSpPr>
          <p:cNvPr id="288" name="Google Shape;288;p26"/>
          <p:cNvSpPr txBox="1"/>
          <p:nvPr/>
        </p:nvSpPr>
        <p:spPr>
          <a:xfrm>
            <a:off x="914400" y="1371600"/>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Profile, status and rate</a:t>
            </a:r>
            <a:endParaRPr b="0" i="0" sz="1050" u="none" cap="none" strike="noStrike">
              <a:solidFill>
                <a:schemeClr val="dk1"/>
              </a:solidFill>
              <a:latin typeface="Calibri"/>
              <a:ea typeface="Calibri"/>
              <a:cs typeface="Calibri"/>
              <a:sym typeface="Calibri"/>
            </a:endParaRPr>
          </a:p>
        </p:txBody>
      </p:sp>
      <p:sp>
        <p:nvSpPr>
          <p:cNvPr id="289" name="Google Shape;289;p26"/>
          <p:cNvSpPr/>
          <p:nvPr/>
        </p:nvSpPr>
        <p:spPr>
          <a:xfrm>
            <a:off x="411480" y="1901952"/>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6"/>
          <p:cNvSpPr/>
          <p:nvPr/>
        </p:nvSpPr>
        <p:spPr>
          <a:xfrm>
            <a:off x="521208" y="1984248"/>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1" name="Google Shape;291;p26"/>
          <p:cNvPicPr preferRelativeResize="0"/>
          <p:nvPr/>
        </p:nvPicPr>
        <p:blipFill rotWithShape="1">
          <a:blip r:embed="rId4">
            <a:alphaModFix/>
          </a:blip>
          <a:srcRect b="0" l="0" r="0" t="0"/>
          <a:stretch/>
        </p:blipFill>
        <p:spPr>
          <a:xfrm>
            <a:off x="591434" y="2054474"/>
            <a:ext cx="152156" cy="152156"/>
          </a:xfrm>
          <a:prstGeom prst="rect">
            <a:avLst/>
          </a:prstGeom>
          <a:noFill/>
          <a:ln>
            <a:noFill/>
          </a:ln>
        </p:spPr>
      </p:pic>
      <p:sp>
        <p:nvSpPr>
          <p:cNvPr id="292" name="Google Shape;292;p26"/>
          <p:cNvSpPr txBox="1"/>
          <p:nvPr/>
        </p:nvSpPr>
        <p:spPr>
          <a:xfrm>
            <a:off x="914400" y="1901952"/>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Flags and status history</a:t>
            </a:r>
            <a:endParaRPr b="0" i="0" sz="1050" u="none" cap="none" strike="noStrike">
              <a:solidFill>
                <a:schemeClr val="dk1"/>
              </a:solidFill>
              <a:latin typeface="Calibri"/>
              <a:ea typeface="Calibri"/>
              <a:cs typeface="Calibri"/>
              <a:sym typeface="Calibri"/>
            </a:endParaRPr>
          </a:p>
        </p:txBody>
      </p:sp>
      <p:sp>
        <p:nvSpPr>
          <p:cNvPr id="293" name="Google Shape;293;p26"/>
          <p:cNvSpPr/>
          <p:nvPr/>
        </p:nvSpPr>
        <p:spPr>
          <a:xfrm>
            <a:off x="411480" y="2432304"/>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26"/>
          <p:cNvSpPr/>
          <p:nvPr/>
        </p:nvSpPr>
        <p:spPr>
          <a:xfrm>
            <a:off x="521208" y="2514600"/>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5" name="Google Shape;295;p26"/>
          <p:cNvPicPr preferRelativeResize="0"/>
          <p:nvPr/>
        </p:nvPicPr>
        <p:blipFill rotWithShape="1">
          <a:blip r:embed="rId5">
            <a:alphaModFix/>
          </a:blip>
          <a:srcRect b="0" l="0" r="0" t="0"/>
          <a:stretch/>
        </p:blipFill>
        <p:spPr>
          <a:xfrm>
            <a:off x="591434" y="2584826"/>
            <a:ext cx="152156" cy="152156"/>
          </a:xfrm>
          <a:prstGeom prst="rect">
            <a:avLst/>
          </a:prstGeom>
          <a:noFill/>
          <a:ln>
            <a:noFill/>
          </a:ln>
        </p:spPr>
      </p:pic>
      <p:sp>
        <p:nvSpPr>
          <p:cNvPr id="296" name="Google Shape;296;p26"/>
          <p:cNvSpPr txBox="1"/>
          <p:nvPr/>
        </p:nvSpPr>
        <p:spPr>
          <a:xfrm>
            <a:off x="914400" y="2432304"/>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Tier and keep rate</a:t>
            </a:r>
            <a:endParaRPr b="0" i="0" sz="1050" u="none" cap="none" strike="noStrike">
              <a:solidFill>
                <a:schemeClr val="dk1"/>
              </a:solidFill>
              <a:latin typeface="Calibri"/>
              <a:ea typeface="Calibri"/>
              <a:cs typeface="Calibri"/>
              <a:sym typeface="Calibri"/>
            </a:endParaRPr>
          </a:p>
        </p:txBody>
      </p:sp>
      <p:sp>
        <p:nvSpPr>
          <p:cNvPr id="297" name="Google Shape;297;p26"/>
          <p:cNvSpPr/>
          <p:nvPr/>
        </p:nvSpPr>
        <p:spPr>
          <a:xfrm>
            <a:off x="411480" y="2962656"/>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26"/>
          <p:cNvSpPr/>
          <p:nvPr/>
        </p:nvSpPr>
        <p:spPr>
          <a:xfrm>
            <a:off x="521208" y="3044952"/>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9" name="Google Shape;299;p26"/>
          <p:cNvPicPr preferRelativeResize="0"/>
          <p:nvPr/>
        </p:nvPicPr>
        <p:blipFill rotWithShape="1">
          <a:blip r:embed="rId6">
            <a:alphaModFix/>
          </a:blip>
          <a:srcRect b="0" l="0" r="0" t="0"/>
          <a:stretch/>
        </p:blipFill>
        <p:spPr>
          <a:xfrm>
            <a:off x="591434" y="3115178"/>
            <a:ext cx="152156" cy="152156"/>
          </a:xfrm>
          <a:prstGeom prst="rect">
            <a:avLst/>
          </a:prstGeom>
          <a:noFill/>
          <a:ln>
            <a:noFill/>
          </a:ln>
        </p:spPr>
      </p:pic>
      <p:sp>
        <p:nvSpPr>
          <p:cNvPr id="300" name="Google Shape;300;p26"/>
          <p:cNvSpPr txBox="1"/>
          <p:nvPr/>
        </p:nvSpPr>
        <p:spPr>
          <a:xfrm>
            <a:off x="914400" y="2962656"/>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Claimed and invoiced jobs</a:t>
            </a:r>
            <a:endParaRPr b="0" i="0" sz="1050" u="none" cap="none" strike="noStrike">
              <a:solidFill>
                <a:schemeClr val="dk1"/>
              </a:solidFill>
              <a:latin typeface="Calibri"/>
              <a:ea typeface="Calibri"/>
              <a:cs typeface="Calibri"/>
              <a:sym typeface="Calibri"/>
            </a:endParaRPr>
          </a:p>
        </p:txBody>
      </p:sp>
      <p:sp>
        <p:nvSpPr>
          <p:cNvPr id="301" name="Google Shape;301;p26"/>
          <p:cNvSpPr/>
          <p:nvPr/>
        </p:nvSpPr>
        <p:spPr>
          <a:xfrm>
            <a:off x="411480" y="3493008"/>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26"/>
          <p:cNvSpPr/>
          <p:nvPr/>
        </p:nvSpPr>
        <p:spPr>
          <a:xfrm>
            <a:off x="521208" y="3575304"/>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03" name="Google Shape;303;p26"/>
          <p:cNvPicPr preferRelativeResize="0"/>
          <p:nvPr/>
        </p:nvPicPr>
        <p:blipFill rotWithShape="1">
          <a:blip r:embed="rId7">
            <a:alphaModFix/>
          </a:blip>
          <a:srcRect b="0" l="0" r="0" t="0"/>
          <a:stretch/>
        </p:blipFill>
        <p:spPr>
          <a:xfrm>
            <a:off x="591434" y="3645530"/>
            <a:ext cx="152156" cy="152156"/>
          </a:xfrm>
          <a:prstGeom prst="rect">
            <a:avLst/>
          </a:prstGeom>
          <a:noFill/>
          <a:ln>
            <a:noFill/>
          </a:ln>
        </p:spPr>
      </p:pic>
      <p:sp>
        <p:nvSpPr>
          <p:cNvPr id="304" name="Google Shape;304;p26"/>
          <p:cNvSpPr txBox="1"/>
          <p:nvPr/>
        </p:nvSpPr>
        <p:spPr>
          <a:xfrm>
            <a:off x="914400" y="3493008"/>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Messages with C and CP</a:t>
            </a:r>
            <a:endParaRPr b="0" i="0" sz="1050" u="none" cap="none" strike="noStrike">
              <a:solidFill>
                <a:schemeClr val="dk1"/>
              </a:solidFill>
              <a:latin typeface="Calibri"/>
              <a:ea typeface="Calibri"/>
              <a:cs typeface="Calibri"/>
              <a:sym typeface="Calibri"/>
            </a:endParaRPr>
          </a:p>
        </p:txBody>
      </p:sp>
      <p:sp>
        <p:nvSpPr>
          <p:cNvPr id="305" name="Google Shape;305;p26"/>
          <p:cNvSpPr/>
          <p:nvPr/>
        </p:nvSpPr>
        <p:spPr>
          <a:xfrm>
            <a:off x="3291840" y="1371600"/>
            <a:ext cx="5440680" cy="2880360"/>
          </a:xfrm>
          <a:prstGeom prst="roundRect">
            <a:avLst>
              <a:gd fmla="val 254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cpcrm.png" id="306" name="Google Shape;306;p26"/>
          <p:cNvPicPr preferRelativeResize="0"/>
          <p:nvPr/>
        </p:nvPicPr>
        <p:blipFill rotWithShape="1">
          <a:blip r:embed="rId8">
            <a:alphaModFix/>
          </a:blip>
          <a:srcRect b="0" l="0" r="0" t="0"/>
          <a:stretch/>
        </p:blipFill>
        <p:spPr>
          <a:xfrm>
            <a:off x="3462199" y="1463040"/>
            <a:ext cx="5099963" cy="2496312"/>
          </a:xfrm>
          <a:prstGeom prst="rect">
            <a:avLst/>
          </a:prstGeom>
          <a:noFill/>
          <a:ln>
            <a:noFill/>
          </a:ln>
        </p:spPr>
      </p:pic>
      <p:sp>
        <p:nvSpPr>
          <p:cNvPr id="307" name="Google Shape;307;p26"/>
          <p:cNvSpPr/>
          <p:nvPr/>
        </p:nvSpPr>
        <p:spPr>
          <a:xfrm>
            <a:off x="3462199" y="1463040"/>
            <a:ext cx="5099963" cy="2496312"/>
          </a:xfrm>
          <a:prstGeom prst="rect">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6"/>
          <p:cNvSpPr txBox="1"/>
          <p:nvPr/>
        </p:nvSpPr>
        <p:spPr>
          <a:xfrm>
            <a:off x="3383280" y="3977640"/>
            <a:ext cx="5257800"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800"/>
              <a:buFont typeface="Arial"/>
              <a:buNone/>
            </a:pPr>
            <a:r>
              <a:rPr b="0" i="1" lang="en" sz="800" u="none" cap="none" strike="noStrike">
                <a:solidFill>
                  <a:srgbClr val="6E6E73"/>
                </a:solidFill>
                <a:latin typeface="Arial"/>
                <a:ea typeface="Arial"/>
                <a:cs typeface="Arial"/>
                <a:sym typeface="Arial"/>
              </a:rPr>
              <a:t>Legacy CP CRM, preview only. Sample training details.</a:t>
            </a:r>
            <a:endParaRPr b="0" i="0" sz="800" u="none" cap="none" strike="noStrike">
              <a:solidFill>
                <a:schemeClr val="dk1"/>
              </a:solidFill>
              <a:latin typeface="Calibri"/>
              <a:ea typeface="Calibri"/>
              <a:cs typeface="Calibri"/>
              <a:sym typeface="Calibri"/>
            </a:endParaRPr>
          </a:p>
        </p:txBody>
      </p:sp>
      <p:sp>
        <p:nvSpPr>
          <p:cNvPr id="309" name="Google Shape;309;p26"/>
          <p:cNvSpPr/>
          <p:nvPr/>
        </p:nvSpPr>
        <p:spPr>
          <a:xfrm>
            <a:off x="411480" y="4343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10" name="Google Shape;310;p26"/>
          <p:cNvPicPr preferRelativeResize="0"/>
          <p:nvPr/>
        </p:nvPicPr>
        <p:blipFill rotWithShape="1">
          <a:blip r:embed="rId9">
            <a:alphaModFix/>
          </a:blip>
          <a:srcRect b="0" l="0" r="0" t="0"/>
          <a:stretch/>
        </p:blipFill>
        <p:spPr>
          <a:xfrm>
            <a:off x="566928" y="4453128"/>
            <a:ext cx="164592" cy="164592"/>
          </a:xfrm>
          <a:prstGeom prst="rect">
            <a:avLst/>
          </a:prstGeom>
          <a:noFill/>
          <a:ln>
            <a:noFill/>
          </a:ln>
        </p:spPr>
      </p:pic>
      <p:sp>
        <p:nvSpPr>
          <p:cNvPr id="311" name="Google Shape;311;p26"/>
          <p:cNvSpPr txBox="1"/>
          <p:nvPr/>
        </p:nvSpPr>
        <p:spPr>
          <a:xfrm>
            <a:off x="822960" y="4443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Remember:  </a:t>
            </a:r>
            <a:r>
              <a:rPr b="0" i="0" lang="en" sz="1000" u="none" cap="none" strike="noStrike">
                <a:solidFill>
                  <a:srgbClr val="1D1D1F"/>
                </a:solidFill>
                <a:latin typeface="Arial"/>
                <a:ea typeface="Arial"/>
                <a:cs typeface="Arial"/>
                <a:sym typeface="Arial"/>
              </a:rPr>
              <a:t>tier levels and flags are internal. Never share them with a cleaner.</a:t>
            </a:r>
            <a:endParaRPr b="0" i="0" sz="1000" u="none" cap="none" strike="noStrike">
              <a:solidFill>
                <a:schemeClr val="dk1"/>
              </a:solidFill>
              <a:latin typeface="Calibri"/>
              <a:ea typeface="Calibri"/>
              <a:cs typeface="Calibri"/>
              <a:sym typeface="Calibri"/>
            </a:endParaRPr>
          </a:p>
        </p:txBody>
      </p:sp>
      <p:sp>
        <p:nvSpPr>
          <p:cNvPr id="312" name="Google Shape;312;p2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LEGACY CP CRM</a:t>
            </a:r>
            <a:endParaRPr b="0" i="0" sz="800" u="none" cap="none" strike="noStrike">
              <a:solidFill>
                <a:schemeClr val="dk1"/>
              </a:solidFill>
              <a:latin typeface="Calibri"/>
              <a:ea typeface="Calibri"/>
              <a:cs typeface="Calibri"/>
              <a:sym typeface="Calibri"/>
            </a:endParaRPr>
          </a:p>
        </p:txBody>
      </p:sp>
      <p:sp>
        <p:nvSpPr>
          <p:cNvPr id="319" name="Google Shape;319;p2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Live walkthrough</a:t>
            </a:r>
            <a:endParaRPr b="0" i="0" sz="2400" u="none" cap="none" strike="noStrike">
              <a:solidFill>
                <a:schemeClr val="dk1"/>
              </a:solidFill>
              <a:latin typeface="Calibri"/>
              <a:ea typeface="Calibri"/>
              <a:cs typeface="Calibri"/>
              <a:sym typeface="Calibri"/>
            </a:endParaRPr>
          </a:p>
        </p:txBody>
      </p:sp>
      <p:sp>
        <p:nvSpPr>
          <p:cNvPr id="320" name="Google Shape;320;p27"/>
          <p:cNvSpPr/>
          <p:nvPr/>
        </p:nvSpPr>
        <p:spPr>
          <a:xfrm>
            <a:off x="411480" y="1143000"/>
            <a:ext cx="8321040" cy="1920240"/>
          </a:xfrm>
          <a:prstGeom prst="roundRect">
            <a:avLst>
              <a:gd fmla="val 381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27"/>
          <p:cNvSpPr/>
          <p:nvPr/>
        </p:nvSpPr>
        <p:spPr>
          <a:xfrm>
            <a:off x="731520" y="1463040"/>
            <a:ext cx="822960" cy="82296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2" name="Google Shape;322;p27"/>
          <p:cNvPicPr preferRelativeResize="0"/>
          <p:nvPr/>
        </p:nvPicPr>
        <p:blipFill rotWithShape="1">
          <a:blip r:embed="rId3">
            <a:alphaModFix/>
          </a:blip>
          <a:srcRect b="0" l="0" r="0" t="0"/>
          <a:stretch/>
        </p:blipFill>
        <p:spPr>
          <a:xfrm>
            <a:off x="929030" y="1660550"/>
            <a:ext cx="427939" cy="427939"/>
          </a:xfrm>
          <a:prstGeom prst="rect">
            <a:avLst/>
          </a:prstGeom>
          <a:noFill/>
          <a:ln>
            <a:noFill/>
          </a:ln>
        </p:spPr>
      </p:pic>
      <p:sp>
        <p:nvSpPr>
          <p:cNvPr id="323" name="Google Shape;323;p27"/>
          <p:cNvSpPr txBox="1"/>
          <p:nvPr/>
        </p:nvSpPr>
        <p:spPr>
          <a:xfrm>
            <a:off x="1828800" y="1463040"/>
            <a:ext cx="6400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TRAINER WALKTHROUGH</a:t>
            </a:r>
            <a:endParaRPr b="0" i="0" sz="800" u="none" cap="none" strike="noStrike">
              <a:solidFill>
                <a:schemeClr val="dk1"/>
              </a:solidFill>
              <a:latin typeface="Calibri"/>
              <a:ea typeface="Calibri"/>
              <a:cs typeface="Calibri"/>
              <a:sym typeface="Calibri"/>
            </a:endParaRPr>
          </a:p>
        </p:txBody>
      </p:sp>
      <p:sp>
        <p:nvSpPr>
          <p:cNvPr id="324" name="Google Shape;324;p27"/>
          <p:cNvSpPr txBox="1"/>
          <p:nvPr/>
        </p:nvSpPr>
        <p:spPr>
          <a:xfrm>
            <a:off x="1828800" y="1691640"/>
            <a:ext cx="658368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700"/>
              <a:buFont typeface="Play"/>
              <a:buNone/>
            </a:pPr>
            <a:r>
              <a:rPr b="1" i="0" lang="en" sz="1700" u="none" cap="none" strike="noStrike">
                <a:solidFill>
                  <a:srgbClr val="1D1D1F"/>
                </a:solidFill>
                <a:latin typeface="Play"/>
                <a:ea typeface="Play"/>
                <a:cs typeface="Play"/>
                <a:sym typeface="Play"/>
              </a:rPr>
              <a:t>The trainer will open the live Legacy CP CRM and walk you through the actual system.</a:t>
            </a:r>
            <a:endParaRPr b="0" i="0" sz="1700" u="none" cap="none" strike="noStrike">
              <a:solidFill>
                <a:schemeClr val="dk1"/>
              </a:solidFill>
              <a:latin typeface="Calibri"/>
              <a:ea typeface="Calibri"/>
              <a:cs typeface="Calibri"/>
              <a:sym typeface="Calibri"/>
            </a:endParaRPr>
          </a:p>
        </p:txBody>
      </p:sp>
      <p:sp>
        <p:nvSpPr>
          <p:cNvPr id="325" name="Google Shape;325;p27"/>
          <p:cNvSpPr txBox="1"/>
          <p:nvPr/>
        </p:nvSpPr>
        <p:spPr>
          <a:xfrm>
            <a:off x="1828800" y="2468880"/>
            <a:ext cx="64008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00"/>
              <a:buFont typeface="Arial"/>
              <a:buNone/>
            </a:pPr>
            <a:r>
              <a:rPr b="0" i="0" lang="en" sz="1100" u="none" cap="none" strike="noStrike">
                <a:solidFill>
                  <a:srgbClr val="6E6E73"/>
                </a:solidFill>
                <a:latin typeface="Arial"/>
                <a:ea typeface="Arial"/>
                <a:cs typeface="Arial"/>
                <a:sym typeface="Arial"/>
              </a:rPr>
              <a:t>Follow along and note your questions.</a:t>
            </a:r>
            <a:endParaRPr b="0" i="0" sz="1100" u="none" cap="none" strike="noStrike">
              <a:solidFill>
                <a:schemeClr val="dk1"/>
              </a:solidFill>
              <a:latin typeface="Calibri"/>
              <a:ea typeface="Calibri"/>
              <a:cs typeface="Calibri"/>
              <a:sym typeface="Calibri"/>
            </a:endParaRPr>
          </a:p>
        </p:txBody>
      </p:sp>
      <p:sp>
        <p:nvSpPr>
          <p:cNvPr id="326" name="Google Shape;326;p27"/>
          <p:cNvSpPr txBox="1"/>
          <p:nvPr/>
        </p:nvSpPr>
        <p:spPr>
          <a:xfrm>
            <a:off x="438912" y="32918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AS YOU WATCH, LOOK FOR</a:t>
            </a:r>
            <a:endParaRPr b="0" i="0" sz="800" u="none" cap="none" strike="noStrike">
              <a:solidFill>
                <a:schemeClr val="dk1"/>
              </a:solidFill>
              <a:latin typeface="Calibri"/>
              <a:ea typeface="Calibri"/>
              <a:cs typeface="Calibri"/>
              <a:sym typeface="Calibri"/>
            </a:endParaRPr>
          </a:p>
        </p:txBody>
      </p:sp>
      <p:sp>
        <p:nvSpPr>
          <p:cNvPr id="327" name="Google Shape;327;p27"/>
          <p:cNvSpPr/>
          <p:nvPr/>
        </p:nvSpPr>
        <p:spPr>
          <a:xfrm>
            <a:off x="411480" y="3547872"/>
            <a:ext cx="197739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27"/>
          <p:cNvSpPr/>
          <p:nvPr/>
        </p:nvSpPr>
        <p:spPr>
          <a:xfrm>
            <a:off x="539496" y="3675888"/>
            <a:ext cx="310896" cy="310896"/>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9" name="Google Shape;329;p27"/>
          <p:cNvPicPr preferRelativeResize="0"/>
          <p:nvPr/>
        </p:nvPicPr>
        <p:blipFill rotWithShape="1">
          <a:blip r:embed="rId4">
            <a:alphaModFix/>
          </a:blip>
          <a:srcRect b="0" l="0" r="0" t="0"/>
          <a:stretch/>
        </p:blipFill>
        <p:spPr>
          <a:xfrm>
            <a:off x="614111" y="3750503"/>
            <a:ext cx="161666" cy="161666"/>
          </a:xfrm>
          <a:prstGeom prst="rect">
            <a:avLst/>
          </a:prstGeom>
          <a:noFill/>
          <a:ln>
            <a:noFill/>
          </a:ln>
        </p:spPr>
      </p:pic>
      <p:sp>
        <p:nvSpPr>
          <p:cNvPr id="330" name="Google Shape;330;p27"/>
          <p:cNvSpPr txBox="1"/>
          <p:nvPr/>
        </p:nvSpPr>
        <p:spPr>
          <a:xfrm>
            <a:off x="941832" y="3547872"/>
            <a:ext cx="1355598"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1" i="0" lang="en" sz="1000" u="none" cap="none" strike="noStrike">
                <a:solidFill>
                  <a:srgbClr val="1D1D1F"/>
                </a:solidFill>
                <a:latin typeface="Arial"/>
                <a:ea typeface="Arial"/>
                <a:cs typeface="Arial"/>
                <a:sym typeface="Arial"/>
              </a:rPr>
              <a:t>Profile and status</a:t>
            </a:r>
            <a:endParaRPr b="0" i="0" sz="1000" u="none" cap="none" strike="noStrike">
              <a:solidFill>
                <a:schemeClr val="dk1"/>
              </a:solidFill>
              <a:latin typeface="Calibri"/>
              <a:ea typeface="Calibri"/>
              <a:cs typeface="Calibri"/>
              <a:sym typeface="Calibri"/>
            </a:endParaRPr>
          </a:p>
        </p:txBody>
      </p:sp>
      <p:sp>
        <p:nvSpPr>
          <p:cNvPr id="331" name="Google Shape;331;p27"/>
          <p:cNvSpPr/>
          <p:nvPr/>
        </p:nvSpPr>
        <p:spPr>
          <a:xfrm>
            <a:off x="2526030" y="3547872"/>
            <a:ext cx="197739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27"/>
          <p:cNvSpPr/>
          <p:nvPr/>
        </p:nvSpPr>
        <p:spPr>
          <a:xfrm>
            <a:off x="2654046" y="3675888"/>
            <a:ext cx="310896" cy="310896"/>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3" name="Google Shape;333;p27"/>
          <p:cNvPicPr preferRelativeResize="0"/>
          <p:nvPr/>
        </p:nvPicPr>
        <p:blipFill rotWithShape="1">
          <a:blip r:embed="rId5">
            <a:alphaModFix/>
          </a:blip>
          <a:srcRect b="0" l="0" r="0" t="0"/>
          <a:stretch/>
        </p:blipFill>
        <p:spPr>
          <a:xfrm>
            <a:off x="2728661" y="3750503"/>
            <a:ext cx="161666" cy="161666"/>
          </a:xfrm>
          <a:prstGeom prst="rect">
            <a:avLst/>
          </a:prstGeom>
          <a:noFill/>
          <a:ln>
            <a:noFill/>
          </a:ln>
        </p:spPr>
      </p:pic>
      <p:sp>
        <p:nvSpPr>
          <p:cNvPr id="334" name="Google Shape;334;p27"/>
          <p:cNvSpPr txBox="1"/>
          <p:nvPr/>
        </p:nvSpPr>
        <p:spPr>
          <a:xfrm>
            <a:off x="3056382" y="3547872"/>
            <a:ext cx="1355598"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1" i="0" lang="en" sz="1000" u="none" cap="none" strike="noStrike">
                <a:solidFill>
                  <a:srgbClr val="1D1D1F"/>
                </a:solidFill>
                <a:latin typeface="Arial"/>
                <a:ea typeface="Arial"/>
                <a:cs typeface="Arial"/>
                <a:sym typeface="Arial"/>
              </a:rPr>
              <a:t>Flags table</a:t>
            </a:r>
            <a:endParaRPr b="0" i="0" sz="1000" u="none" cap="none" strike="noStrike">
              <a:solidFill>
                <a:schemeClr val="dk1"/>
              </a:solidFill>
              <a:latin typeface="Calibri"/>
              <a:ea typeface="Calibri"/>
              <a:cs typeface="Calibri"/>
              <a:sym typeface="Calibri"/>
            </a:endParaRPr>
          </a:p>
        </p:txBody>
      </p:sp>
      <p:sp>
        <p:nvSpPr>
          <p:cNvPr id="335" name="Google Shape;335;p27"/>
          <p:cNvSpPr/>
          <p:nvPr/>
        </p:nvSpPr>
        <p:spPr>
          <a:xfrm>
            <a:off x="4640580" y="3547872"/>
            <a:ext cx="197739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27"/>
          <p:cNvSpPr/>
          <p:nvPr/>
        </p:nvSpPr>
        <p:spPr>
          <a:xfrm>
            <a:off x="4768596" y="3675888"/>
            <a:ext cx="310896" cy="310896"/>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7" name="Google Shape;337;p27"/>
          <p:cNvPicPr preferRelativeResize="0"/>
          <p:nvPr/>
        </p:nvPicPr>
        <p:blipFill rotWithShape="1">
          <a:blip r:embed="rId6">
            <a:alphaModFix/>
          </a:blip>
          <a:srcRect b="0" l="0" r="0" t="0"/>
          <a:stretch/>
        </p:blipFill>
        <p:spPr>
          <a:xfrm>
            <a:off x="4843211" y="3750503"/>
            <a:ext cx="161666" cy="161666"/>
          </a:xfrm>
          <a:prstGeom prst="rect">
            <a:avLst/>
          </a:prstGeom>
          <a:noFill/>
          <a:ln>
            <a:noFill/>
          </a:ln>
        </p:spPr>
      </p:pic>
      <p:sp>
        <p:nvSpPr>
          <p:cNvPr id="338" name="Google Shape;338;p27"/>
          <p:cNvSpPr txBox="1"/>
          <p:nvPr/>
        </p:nvSpPr>
        <p:spPr>
          <a:xfrm>
            <a:off x="5170932" y="3547872"/>
            <a:ext cx="1355598"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1" i="0" lang="en" sz="1000" u="none" cap="none" strike="noStrike">
                <a:solidFill>
                  <a:srgbClr val="1D1D1F"/>
                </a:solidFill>
                <a:latin typeface="Arial"/>
                <a:ea typeface="Arial"/>
                <a:cs typeface="Arial"/>
                <a:sym typeface="Arial"/>
              </a:rPr>
              <a:t>Tier and keep rate</a:t>
            </a:r>
            <a:endParaRPr b="0" i="0" sz="1000" u="none" cap="none" strike="noStrike">
              <a:solidFill>
                <a:schemeClr val="dk1"/>
              </a:solidFill>
              <a:latin typeface="Calibri"/>
              <a:ea typeface="Calibri"/>
              <a:cs typeface="Calibri"/>
              <a:sym typeface="Calibri"/>
            </a:endParaRPr>
          </a:p>
        </p:txBody>
      </p:sp>
      <p:sp>
        <p:nvSpPr>
          <p:cNvPr id="339" name="Google Shape;339;p27"/>
          <p:cNvSpPr/>
          <p:nvPr/>
        </p:nvSpPr>
        <p:spPr>
          <a:xfrm>
            <a:off x="6755130" y="3547872"/>
            <a:ext cx="197739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27"/>
          <p:cNvSpPr/>
          <p:nvPr/>
        </p:nvSpPr>
        <p:spPr>
          <a:xfrm>
            <a:off x="6883146" y="3675888"/>
            <a:ext cx="310896" cy="310896"/>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1" name="Google Shape;341;p27"/>
          <p:cNvPicPr preferRelativeResize="0"/>
          <p:nvPr/>
        </p:nvPicPr>
        <p:blipFill rotWithShape="1">
          <a:blip r:embed="rId7">
            <a:alphaModFix/>
          </a:blip>
          <a:srcRect b="0" l="0" r="0" t="0"/>
          <a:stretch/>
        </p:blipFill>
        <p:spPr>
          <a:xfrm>
            <a:off x="6957761" y="3750503"/>
            <a:ext cx="161666" cy="161666"/>
          </a:xfrm>
          <a:prstGeom prst="rect">
            <a:avLst/>
          </a:prstGeom>
          <a:noFill/>
          <a:ln>
            <a:noFill/>
          </a:ln>
        </p:spPr>
      </p:pic>
      <p:sp>
        <p:nvSpPr>
          <p:cNvPr id="342" name="Google Shape;342;p27"/>
          <p:cNvSpPr txBox="1"/>
          <p:nvPr/>
        </p:nvSpPr>
        <p:spPr>
          <a:xfrm>
            <a:off x="7285482" y="3547872"/>
            <a:ext cx="1355598"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1" i="0" lang="en" sz="1000" u="none" cap="none" strike="noStrike">
                <a:solidFill>
                  <a:srgbClr val="1D1D1F"/>
                </a:solidFill>
                <a:latin typeface="Arial"/>
                <a:ea typeface="Arial"/>
                <a:cs typeface="Arial"/>
                <a:sym typeface="Arial"/>
              </a:rPr>
              <a:t>Messages</a:t>
            </a:r>
            <a:endParaRPr b="0" i="0" sz="1000" u="none" cap="none" strike="noStrike">
              <a:solidFill>
                <a:schemeClr val="dk1"/>
              </a:solidFill>
              <a:latin typeface="Calibri"/>
              <a:ea typeface="Calibri"/>
              <a:cs typeface="Calibri"/>
              <a:sym typeface="Calibri"/>
            </a:endParaRPr>
          </a:p>
        </p:txBody>
      </p:sp>
      <p:sp>
        <p:nvSpPr>
          <p:cNvPr id="343" name="Google Shape;343;p2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8"/>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03 OF 11</a:t>
            </a:r>
            <a:endParaRPr b="0" i="0" sz="800" u="none" cap="none" strike="noStrike">
              <a:solidFill>
                <a:schemeClr val="dk1"/>
              </a:solidFill>
              <a:latin typeface="Calibri"/>
              <a:ea typeface="Calibri"/>
              <a:cs typeface="Calibri"/>
              <a:sym typeface="Calibri"/>
            </a:endParaRPr>
          </a:p>
        </p:txBody>
      </p:sp>
      <p:sp>
        <p:nvSpPr>
          <p:cNvPr id="350" name="Google Shape;350;p28"/>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Introduction to CP Dashboard</a:t>
            </a:r>
            <a:endParaRPr b="0" i="0" sz="2800" u="none" cap="none" strike="noStrike">
              <a:solidFill>
                <a:schemeClr val="dk1"/>
              </a:solidFill>
              <a:latin typeface="Calibri"/>
              <a:ea typeface="Calibri"/>
              <a:cs typeface="Calibri"/>
              <a:sym typeface="Calibri"/>
            </a:endParaRPr>
          </a:p>
        </p:txBody>
      </p:sp>
      <p:sp>
        <p:nvSpPr>
          <p:cNvPr id="351" name="Google Shape;351;p28"/>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Where cleaners claim and manage their jobs, and manage their account.</a:t>
            </a:r>
            <a:endParaRPr b="0" i="0" sz="1150" u="none" cap="none" strike="noStrike">
              <a:solidFill>
                <a:schemeClr val="dk1"/>
              </a:solidFill>
              <a:latin typeface="Calibri"/>
              <a:ea typeface="Calibri"/>
              <a:cs typeface="Calibri"/>
              <a:sym typeface="Calibri"/>
            </a:endParaRPr>
          </a:p>
        </p:txBody>
      </p:sp>
      <p:sp>
        <p:nvSpPr>
          <p:cNvPr id="352" name="Google Shape;352;p28"/>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353" name="Google Shape;353;p28"/>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4" name="Google Shape;354;p28"/>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355" name="Google Shape;355;p28"/>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the cleaner sees</a:t>
            </a:r>
            <a:endParaRPr b="0" i="0" sz="1050" u="none" cap="none" strike="noStrike">
              <a:solidFill>
                <a:schemeClr val="dk1"/>
              </a:solidFill>
              <a:latin typeface="Calibri"/>
              <a:ea typeface="Calibri"/>
              <a:cs typeface="Calibri"/>
              <a:sym typeface="Calibri"/>
            </a:endParaRPr>
          </a:p>
        </p:txBody>
      </p:sp>
      <p:sp>
        <p:nvSpPr>
          <p:cNvPr id="356" name="Google Shape;356;p28"/>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7" name="Google Shape;357;p28"/>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358" name="Google Shape;358;p28"/>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Claiming and managing jobs</a:t>
            </a:r>
            <a:endParaRPr b="0" i="0" sz="1050" u="none" cap="none" strike="noStrike">
              <a:solidFill>
                <a:schemeClr val="dk1"/>
              </a:solidFill>
              <a:latin typeface="Calibri"/>
              <a:ea typeface="Calibri"/>
              <a:cs typeface="Calibri"/>
              <a:sym typeface="Calibri"/>
            </a:endParaRPr>
          </a:p>
        </p:txBody>
      </p:sp>
      <p:sp>
        <p:nvSpPr>
          <p:cNvPr id="359" name="Google Shape;359;p28"/>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0" name="Google Shape;360;p28"/>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361" name="Google Shape;361;p28"/>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A live walkthrough</a:t>
            </a:r>
            <a:endParaRPr b="0" i="0" sz="1050" u="none" cap="none" strike="noStrike">
              <a:solidFill>
                <a:schemeClr val="dk1"/>
              </a:solidFill>
              <a:latin typeface="Calibri"/>
              <a:ea typeface="Calibri"/>
              <a:cs typeface="Calibri"/>
              <a:sym typeface="Calibri"/>
            </a:endParaRPr>
          </a:p>
        </p:txBody>
      </p:sp>
      <p:sp>
        <p:nvSpPr>
          <p:cNvPr id="362" name="Google Shape;362;p2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2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22.png" id="364" name="Google Shape;364;p28"/>
          <p:cNvPicPr preferRelativeResize="0"/>
          <p:nvPr/>
        </p:nvPicPr>
        <p:blipFill rotWithShape="1">
          <a:blip r:embed="rId4">
            <a:alphaModFix/>
          </a:blip>
          <a:srcRect b="0" l="0" r="0" t="0"/>
          <a:stretch/>
        </p:blipFill>
        <p:spPr>
          <a:xfrm>
            <a:off x="5717320" y="1517904"/>
            <a:ext cx="2573968" cy="2103120"/>
          </a:xfrm>
          <a:prstGeom prst="rect">
            <a:avLst/>
          </a:prstGeom>
          <a:noFill/>
          <a:ln>
            <a:noFill/>
          </a:ln>
        </p:spPr>
      </p:pic>
      <p:sp>
        <p:nvSpPr>
          <p:cNvPr id="365" name="Google Shape;365;p2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2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2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2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2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DASHBOARD</a:t>
            </a:r>
            <a:endParaRPr b="0" i="0" sz="800" u="none" cap="none" strike="noStrike">
              <a:solidFill>
                <a:schemeClr val="dk1"/>
              </a:solidFill>
              <a:latin typeface="Calibri"/>
              <a:ea typeface="Calibri"/>
              <a:cs typeface="Calibri"/>
              <a:sym typeface="Calibri"/>
            </a:endParaRPr>
          </a:p>
        </p:txBody>
      </p:sp>
      <p:sp>
        <p:nvSpPr>
          <p:cNvPr id="378" name="Google Shape;378;p2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cleaner's side</a:t>
            </a:r>
            <a:endParaRPr b="0" i="0" sz="2400" u="none" cap="none" strike="noStrike">
              <a:solidFill>
                <a:schemeClr val="dk1"/>
              </a:solidFill>
              <a:latin typeface="Calibri"/>
              <a:ea typeface="Calibri"/>
              <a:cs typeface="Calibri"/>
              <a:sym typeface="Calibri"/>
            </a:endParaRPr>
          </a:p>
        </p:txBody>
      </p:sp>
      <p:sp>
        <p:nvSpPr>
          <p:cNvPr id="379" name="Google Shape;379;p2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Where cleaners claim and manage their jobs, and manage their account.</a:t>
            </a:r>
            <a:endParaRPr b="0" i="0" sz="1200" u="none" cap="none" strike="noStrike">
              <a:solidFill>
                <a:schemeClr val="dk1"/>
              </a:solidFill>
              <a:latin typeface="Calibri"/>
              <a:ea typeface="Calibri"/>
              <a:cs typeface="Calibri"/>
              <a:sym typeface="Calibri"/>
            </a:endParaRPr>
          </a:p>
        </p:txBody>
      </p:sp>
      <p:sp>
        <p:nvSpPr>
          <p:cNvPr id="380" name="Google Shape;380;p29"/>
          <p:cNvSpPr/>
          <p:nvPr/>
        </p:nvSpPr>
        <p:spPr>
          <a:xfrm>
            <a:off x="411480" y="1371600"/>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29"/>
          <p:cNvSpPr/>
          <p:nvPr/>
        </p:nvSpPr>
        <p:spPr>
          <a:xfrm>
            <a:off x="521208" y="1453896"/>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2" name="Google Shape;382;p29"/>
          <p:cNvPicPr preferRelativeResize="0"/>
          <p:nvPr/>
        </p:nvPicPr>
        <p:blipFill rotWithShape="1">
          <a:blip r:embed="rId3">
            <a:alphaModFix/>
          </a:blip>
          <a:srcRect b="0" l="0" r="0" t="0"/>
          <a:stretch/>
        </p:blipFill>
        <p:spPr>
          <a:xfrm>
            <a:off x="591434" y="1524122"/>
            <a:ext cx="152156" cy="152156"/>
          </a:xfrm>
          <a:prstGeom prst="rect">
            <a:avLst/>
          </a:prstGeom>
          <a:noFill/>
          <a:ln>
            <a:noFill/>
          </a:ln>
        </p:spPr>
      </p:pic>
      <p:sp>
        <p:nvSpPr>
          <p:cNvPr id="383" name="Google Shape;383;p29"/>
          <p:cNvSpPr txBox="1"/>
          <p:nvPr/>
        </p:nvSpPr>
        <p:spPr>
          <a:xfrm>
            <a:off x="914400" y="1371600"/>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Claim new jobs</a:t>
            </a:r>
            <a:endParaRPr b="0" i="0" sz="1050" u="none" cap="none" strike="noStrike">
              <a:solidFill>
                <a:schemeClr val="dk1"/>
              </a:solidFill>
              <a:latin typeface="Calibri"/>
              <a:ea typeface="Calibri"/>
              <a:cs typeface="Calibri"/>
              <a:sym typeface="Calibri"/>
            </a:endParaRPr>
          </a:p>
        </p:txBody>
      </p:sp>
      <p:sp>
        <p:nvSpPr>
          <p:cNvPr id="384" name="Google Shape;384;p29"/>
          <p:cNvSpPr/>
          <p:nvPr/>
        </p:nvSpPr>
        <p:spPr>
          <a:xfrm>
            <a:off x="411480" y="1901952"/>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9"/>
          <p:cNvSpPr/>
          <p:nvPr/>
        </p:nvSpPr>
        <p:spPr>
          <a:xfrm>
            <a:off x="521208" y="1984248"/>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6" name="Google Shape;386;p29"/>
          <p:cNvPicPr preferRelativeResize="0"/>
          <p:nvPr/>
        </p:nvPicPr>
        <p:blipFill rotWithShape="1">
          <a:blip r:embed="rId4">
            <a:alphaModFix/>
          </a:blip>
          <a:srcRect b="0" l="0" r="0" t="0"/>
          <a:stretch/>
        </p:blipFill>
        <p:spPr>
          <a:xfrm>
            <a:off x="591434" y="2054474"/>
            <a:ext cx="152156" cy="152156"/>
          </a:xfrm>
          <a:prstGeom prst="rect">
            <a:avLst/>
          </a:prstGeom>
          <a:noFill/>
          <a:ln>
            <a:noFill/>
          </a:ln>
        </p:spPr>
      </p:pic>
      <p:sp>
        <p:nvSpPr>
          <p:cNvPr id="387" name="Google Shape;387;p29"/>
          <p:cNvSpPr txBox="1"/>
          <p:nvPr/>
        </p:nvSpPr>
        <p:spPr>
          <a:xfrm>
            <a:off x="914400" y="1901952"/>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Manage claimed jobs</a:t>
            </a:r>
            <a:endParaRPr b="0" i="0" sz="1050" u="none" cap="none" strike="noStrike">
              <a:solidFill>
                <a:schemeClr val="dk1"/>
              </a:solidFill>
              <a:latin typeface="Calibri"/>
              <a:ea typeface="Calibri"/>
              <a:cs typeface="Calibri"/>
              <a:sym typeface="Calibri"/>
            </a:endParaRPr>
          </a:p>
        </p:txBody>
      </p:sp>
      <p:sp>
        <p:nvSpPr>
          <p:cNvPr id="388" name="Google Shape;388;p29"/>
          <p:cNvSpPr/>
          <p:nvPr/>
        </p:nvSpPr>
        <p:spPr>
          <a:xfrm>
            <a:off x="411480" y="2432304"/>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9"/>
          <p:cNvSpPr/>
          <p:nvPr/>
        </p:nvSpPr>
        <p:spPr>
          <a:xfrm>
            <a:off x="521208" y="2514600"/>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0" name="Google Shape;390;p29"/>
          <p:cNvPicPr preferRelativeResize="0"/>
          <p:nvPr/>
        </p:nvPicPr>
        <p:blipFill rotWithShape="1">
          <a:blip r:embed="rId5">
            <a:alphaModFix/>
          </a:blip>
          <a:srcRect b="0" l="0" r="0" t="0"/>
          <a:stretch/>
        </p:blipFill>
        <p:spPr>
          <a:xfrm>
            <a:off x="591434" y="2584826"/>
            <a:ext cx="152156" cy="152156"/>
          </a:xfrm>
          <a:prstGeom prst="rect">
            <a:avLst/>
          </a:prstGeom>
          <a:noFill/>
          <a:ln>
            <a:noFill/>
          </a:ln>
        </p:spPr>
      </p:pic>
      <p:sp>
        <p:nvSpPr>
          <p:cNvPr id="391" name="Google Shape;391;p29"/>
          <p:cNvSpPr txBox="1"/>
          <p:nvPr/>
        </p:nvSpPr>
        <p:spPr>
          <a:xfrm>
            <a:off x="914400" y="2432304"/>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Update rate &amp; availability</a:t>
            </a:r>
            <a:endParaRPr b="0" i="0" sz="1050" u="none" cap="none" strike="noStrike">
              <a:solidFill>
                <a:schemeClr val="dk1"/>
              </a:solidFill>
              <a:latin typeface="Calibri"/>
              <a:ea typeface="Calibri"/>
              <a:cs typeface="Calibri"/>
              <a:sym typeface="Calibri"/>
            </a:endParaRPr>
          </a:p>
        </p:txBody>
      </p:sp>
      <p:sp>
        <p:nvSpPr>
          <p:cNvPr id="392" name="Google Shape;392;p29"/>
          <p:cNvSpPr/>
          <p:nvPr/>
        </p:nvSpPr>
        <p:spPr>
          <a:xfrm>
            <a:off x="411480" y="2962656"/>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29"/>
          <p:cNvSpPr/>
          <p:nvPr/>
        </p:nvSpPr>
        <p:spPr>
          <a:xfrm>
            <a:off x="521208" y="3044952"/>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4" name="Google Shape;394;p29"/>
          <p:cNvPicPr preferRelativeResize="0"/>
          <p:nvPr/>
        </p:nvPicPr>
        <p:blipFill rotWithShape="1">
          <a:blip r:embed="rId6">
            <a:alphaModFix/>
          </a:blip>
          <a:srcRect b="0" l="0" r="0" t="0"/>
          <a:stretch/>
        </p:blipFill>
        <p:spPr>
          <a:xfrm>
            <a:off x="591434" y="3115178"/>
            <a:ext cx="152156" cy="152156"/>
          </a:xfrm>
          <a:prstGeom prst="rect">
            <a:avLst/>
          </a:prstGeom>
          <a:noFill/>
          <a:ln>
            <a:noFill/>
          </a:ln>
        </p:spPr>
      </p:pic>
      <p:sp>
        <p:nvSpPr>
          <p:cNvPr id="395" name="Google Shape;395;p29"/>
          <p:cNvSpPr txBox="1"/>
          <p:nvPr/>
        </p:nvSpPr>
        <p:spPr>
          <a:xfrm>
            <a:off x="914400" y="2962656"/>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Steps to Success guides</a:t>
            </a:r>
            <a:endParaRPr b="0" i="0" sz="1050" u="none" cap="none" strike="noStrike">
              <a:solidFill>
                <a:schemeClr val="dk1"/>
              </a:solidFill>
              <a:latin typeface="Calibri"/>
              <a:ea typeface="Calibri"/>
              <a:cs typeface="Calibri"/>
              <a:sym typeface="Calibri"/>
            </a:endParaRPr>
          </a:p>
        </p:txBody>
      </p:sp>
      <p:sp>
        <p:nvSpPr>
          <p:cNvPr id="396" name="Google Shape;396;p29"/>
          <p:cNvSpPr/>
          <p:nvPr/>
        </p:nvSpPr>
        <p:spPr>
          <a:xfrm>
            <a:off x="411480" y="3493008"/>
            <a:ext cx="2743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9"/>
          <p:cNvSpPr/>
          <p:nvPr/>
        </p:nvSpPr>
        <p:spPr>
          <a:xfrm>
            <a:off x="521208" y="3575304"/>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8" name="Google Shape;398;p29"/>
          <p:cNvPicPr preferRelativeResize="0"/>
          <p:nvPr/>
        </p:nvPicPr>
        <p:blipFill rotWithShape="1">
          <a:blip r:embed="rId7">
            <a:alphaModFix/>
          </a:blip>
          <a:srcRect b="0" l="0" r="0" t="0"/>
          <a:stretch/>
        </p:blipFill>
        <p:spPr>
          <a:xfrm>
            <a:off x="591434" y="3645530"/>
            <a:ext cx="152156" cy="152156"/>
          </a:xfrm>
          <a:prstGeom prst="rect">
            <a:avLst/>
          </a:prstGeom>
          <a:noFill/>
          <a:ln>
            <a:noFill/>
          </a:ln>
        </p:spPr>
      </p:pic>
      <p:sp>
        <p:nvSpPr>
          <p:cNvPr id="399" name="Google Shape;399;p29"/>
          <p:cNvSpPr txBox="1"/>
          <p:nvPr/>
        </p:nvSpPr>
        <p:spPr>
          <a:xfrm>
            <a:off x="914400" y="3493008"/>
            <a:ext cx="21488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Account &amp; Help Center</a:t>
            </a:r>
            <a:endParaRPr b="0" i="0" sz="1050" u="none" cap="none" strike="noStrike">
              <a:solidFill>
                <a:schemeClr val="dk1"/>
              </a:solidFill>
              <a:latin typeface="Calibri"/>
              <a:ea typeface="Calibri"/>
              <a:cs typeface="Calibri"/>
              <a:sym typeface="Calibri"/>
            </a:endParaRPr>
          </a:p>
        </p:txBody>
      </p:sp>
      <p:sp>
        <p:nvSpPr>
          <p:cNvPr id="400" name="Google Shape;400;p29"/>
          <p:cNvSpPr/>
          <p:nvPr/>
        </p:nvSpPr>
        <p:spPr>
          <a:xfrm>
            <a:off x="3291840" y="1371600"/>
            <a:ext cx="5440680" cy="2880360"/>
          </a:xfrm>
          <a:prstGeom prst="roundRect">
            <a:avLst>
              <a:gd fmla="val 254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cpdash.png" id="401" name="Google Shape;401;p29"/>
          <p:cNvPicPr preferRelativeResize="0"/>
          <p:nvPr/>
        </p:nvPicPr>
        <p:blipFill rotWithShape="1">
          <a:blip r:embed="rId8">
            <a:alphaModFix/>
          </a:blip>
          <a:srcRect b="0" l="0" r="0" t="0"/>
          <a:stretch/>
        </p:blipFill>
        <p:spPr>
          <a:xfrm>
            <a:off x="3390482" y="1463040"/>
            <a:ext cx="5243395" cy="2496312"/>
          </a:xfrm>
          <a:prstGeom prst="rect">
            <a:avLst/>
          </a:prstGeom>
          <a:noFill/>
          <a:ln>
            <a:noFill/>
          </a:ln>
        </p:spPr>
      </p:pic>
      <p:sp>
        <p:nvSpPr>
          <p:cNvPr id="402" name="Google Shape;402;p29"/>
          <p:cNvSpPr/>
          <p:nvPr/>
        </p:nvSpPr>
        <p:spPr>
          <a:xfrm>
            <a:off x="3390482" y="1463040"/>
            <a:ext cx="5243395" cy="2496312"/>
          </a:xfrm>
          <a:prstGeom prst="rect">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9"/>
          <p:cNvSpPr txBox="1"/>
          <p:nvPr/>
        </p:nvSpPr>
        <p:spPr>
          <a:xfrm>
            <a:off x="3383280" y="3977640"/>
            <a:ext cx="5257800"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800"/>
              <a:buFont typeface="Arial"/>
              <a:buNone/>
            </a:pPr>
            <a:r>
              <a:rPr b="0" i="1" lang="en" sz="800" u="none" cap="none" strike="noStrike">
                <a:solidFill>
                  <a:srgbClr val="6E6E73"/>
                </a:solidFill>
                <a:latin typeface="Arial"/>
                <a:ea typeface="Arial"/>
                <a:cs typeface="Arial"/>
                <a:sym typeface="Arial"/>
              </a:rPr>
              <a:t>CP Dashboard, preview only. Sample training details.</a:t>
            </a:r>
            <a:endParaRPr b="0" i="0" sz="800" u="none" cap="none" strike="noStrike">
              <a:solidFill>
                <a:schemeClr val="dk1"/>
              </a:solidFill>
              <a:latin typeface="Calibri"/>
              <a:ea typeface="Calibri"/>
              <a:cs typeface="Calibri"/>
              <a:sym typeface="Calibri"/>
            </a:endParaRPr>
          </a:p>
        </p:txBody>
      </p:sp>
      <p:sp>
        <p:nvSpPr>
          <p:cNvPr id="404" name="Google Shape;404;p29"/>
          <p:cNvSpPr/>
          <p:nvPr/>
        </p:nvSpPr>
        <p:spPr>
          <a:xfrm>
            <a:off x="411480" y="4343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5" name="Google Shape;405;p29"/>
          <p:cNvPicPr preferRelativeResize="0"/>
          <p:nvPr/>
        </p:nvPicPr>
        <p:blipFill rotWithShape="1">
          <a:blip r:embed="rId9">
            <a:alphaModFix/>
          </a:blip>
          <a:srcRect b="0" l="0" r="0" t="0"/>
          <a:stretch/>
        </p:blipFill>
        <p:spPr>
          <a:xfrm>
            <a:off x="566928" y="4453128"/>
            <a:ext cx="164592" cy="164592"/>
          </a:xfrm>
          <a:prstGeom prst="rect">
            <a:avLst/>
          </a:prstGeom>
          <a:noFill/>
          <a:ln>
            <a:noFill/>
          </a:ln>
        </p:spPr>
      </p:pic>
      <p:sp>
        <p:nvSpPr>
          <p:cNvPr id="406" name="Google Shape;406;p29"/>
          <p:cNvSpPr txBox="1"/>
          <p:nvPr/>
        </p:nvSpPr>
        <p:spPr>
          <a:xfrm>
            <a:off x="822960" y="4443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Why it helps:  </a:t>
            </a:r>
            <a:r>
              <a:rPr b="0" i="0" lang="en" sz="1000" u="none" cap="none" strike="noStrike">
                <a:solidFill>
                  <a:srgbClr val="1D1D1F"/>
                </a:solidFill>
                <a:latin typeface="Arial"/>
                <a:ea typeface="Arial"/>
                <a:cs typeface="Arial"/>
                <a:sym typeface="Arial"/>
              </a:rPr>
              <a:t>when you know what the cleaner sees, you can guide them step by step.</a:t>
            </a:r>
            <a:endParaRPr b="0" i="0" sz="1000" u="none" cap="none" strike="noStrike">
              <a:solidFill>
                <a:schemeClr val="dk1"/>
              </a:solidFill>
              <a:latin typeface="Calibri"/>
              <a:ea typeface="Calibri"/>
              <a:cs typeface="Calibri"/>
              <a:sym typeface="Calibri"/>
            </a:endParaRPr>
          </a:p>
        </p:txBody>
      </p:sp>
      <p:sp>
        <p:nvSpPr>
          <p:cNvPr id="407" name="Google Shape;407;p2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DASHBOARD</a:t>
            </a:r>
            <a:endParaRPr b="0" i="0" sz="800" u="none" cap="none" strike="noStrike">
              <a:solidFill>
                <a:schemeClr val="dk1"/>
              </a:solidFill>
              <a:latin typeface="Calibri"/>
              <a:ea typeface="Calibri"/>
              <a:cs typeface="Calibri"/>
              <a:sym typeface="Calibri"/>
            </a:endParaRPr>
          </a:p>
        </p:txBody>
      </p:sp>
      <p:sp>
        <p:nvSpPr>
          <p:cNvPr id="414" name="Google Shape;414;p3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Live walkthrough</a:t>
            </a:r>
            <a:endParaRPr b="0" i="0" sz="2400" u="none" cap="none" strike="noStrike">
              <a:solidFill>
                <a:schemeClr val="dk1"/>
              </a:solidFill>
              <a:latin typeface="Calibri"/>
              <a:ea typeface="Calibri"/>
              <a:cs typeface="Calibri"/>
              <a:sym typeface="Calibri"/>
            </a:endParaRPr>
          </a:p>
        </p:txBody>
      </p:sp>
      <p:sp>
        <p:nvSpPr>
          <p:cNvPr id="415" name="Google Shape;415;p30"/>
          <p:cNvSpPr/>
          <p:nvPr/>
        </p:nvSpPr>
        <p:spPr>
          <a:xfrm>
            <a:off x="411480" y="1143000"/>
            <a:ext cx="8321040" cy="1920240"/>
          </a:xfrm>
          <a:prstGeom prst="roundRect">
            <a:avLst>
              <a:gd fmla="val 381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30"/>
          <p:cNvSpPr/>
          <p:nvPr/>
        </p:nvSpPr>
        <p:spPr>
          <a:xfrm>
            <a:off x="731520" y="1463040"/>
            <a:ext cx="822960" cy="82296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17" name="Google Shape;417;p30"/>
          <p:cNvPicPr preferRelativeResize="0"/>
          <p:nvPr/>
        </p:nvPicPr>
        <p:blipFill rotWithShape="1">
          <a:blip r:embed="rId3">
            <a:alphaModFix/>
          </a:blip>
          <a:srcRect b="0" l="0" r="0" t="0"/>
          <a:stretch/>
        </p:blipFill>
        <p:spPr>
          <a:xfrm>
            <a:off x="929030" y="1660550"/>
            <a:ext cx="427939" cy="427939"/>
          </a:xfrm>
          <a:prstGeom prst="rect">
            <a:avLst/>
          </a:prstGeom>
          <a:noFill/>
          <a:ln>
            <a:noFill/>
          </a:ln>
        </p:spPr>
      </p:pic>
      <p:sp>
        <p:nvSpPr>
          <p:cNvPr id="418" name="Google Shape;418;p30"/>
          <p:cNvSpPr txBox="1"/>
          <p:nvPr/>
        </p:nvSpPr>
        <p:spPr>
          <a:xfrm>
            <a:off x="1828800" y="1463040"/>
            <a:ext cx="6400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TRAINER WALKTHROUGH</a:t>
            </a:r>
            <a:endParaRPr b="0" i="0" sz="800" u="none" cap="none" strike="noStrike">
              <a:solidFill>
                <a:schemeClr val="dk1"/>
              </a:solidFill>
              <a:latin typeface="Calibri"/>
              <a:ea typeface="Calibri"/>
              <a:cs typeface="Calibri"/>
              <a:sym typeface="Calibri"/>
            </a:endParaRPr>
          </a:p>
        </p:txBody>
      </p:sp>
      <p:sp>
        <p:nvSpPr>
          <p:cNvPr id="419" name="Google Shape;419;p30"/>
          <p:cNvSpPr txBox="1"/>
          <p:nvPr/>
        </p:nvSpPr>
        <p:spPr>
          <a:xfrm>
            <a:off x="1828800" y="1691640"/>
            <a:ext cx="658368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700"/>
              <a:buFont typeface="Play"/>
              <a:buNone/>
            </a:pPr>
            <a:r>
              <a:rPr b="1" i="0" lang="en" sz="1700" u="none" cap="none" strike="noStrike">
                <a:solidFill>
                  <a:srgbClr val="1D1D1F"/>
                </a:solidFill>
                <a:latin typeface="Play"/>
                <a:ea typeface="Play"/>
                <a:cs typeface="Play"/>
                <a:sym typeface="Play"/>
              </a:rPr>
              <a:t>The trainer will open the live CP Dashboard and walk you through the actual system.</a:t>
            </a:r>
            <a:endParaRPr b="0" i="0" sz="1700" u="none" cap="none" strike="noStrike">
              <a:solidFill>
                <a:schemeClr val="dk1"/>
              </a:solidFill>
              <a:latin typeface="Calibri"/>
              <a:ea typeface="Calibri"/>
              <a:cs typeface="Calibri"/>
              <a:sym typeface="Calibri"/>
            </a:endParaRPr>
          </a:p>
        </p:txBody>
      </p:sp>
      <p:sp>
        <p:nvSpPr>
          <p:cNvPr id="420" name="Google Shape;420;p30"/>
          <p:cNvSpPr txBox="1"/>
          <p:nvPr/>
        </p:nvSpPr>
        <p:spPr>
          <a:xfrm>
            <a:off x="1828800" y="2468880"/>
            <a:ext cx="64008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00"/>
              <a:buFont typeface="Arial"/>
              <a:buNone/>
            </a:pPr>
            <a:r>
              <a:rPr b="0" i="0" lang="en" sz="1100" u="none" cap="none" strike="noStrike">
                <a:solidFill>
                  <a:srgbClr val="6E6E73"/>
                </a:solidFill>
                <a:latin typeface="Arial"/>
                <a:ea typeface="Arial"/>
                <a:cs typeface="Arial"/>
                <a:sym typeface="Arial"/>
              </a:rPr>
              <a:t>Follow along and note your questions.</a:t>
            </a:r>
            <a:endParaRPr b="0" i="0" sz="1100" u="none" cap="none" strike="noStrike">
              <a:solidFill>
                <a:schemeClr val="dk1"/>
              </a:solidFill>
              <a:latin typeface="Calibri"/>
              <a:ea typeface="Calibri"/>
              <a:cs typeface="Calibri"/>
              <a:sym typeface="Calibri"/>
            </a:endParaRPr>
          </a:p>
        </p:txBody>
      </p:sp>
      <p:sp>
        <p:nvSpPr>
          <p:cNvPr id="421" name="Google Shape;421;p30"/>
          <p:cNvSpPr txBox="1"/>
          <p:nvPr/>
        </p:nvSpPr>
        <p:spPr>
          <a:xfrm>
            <a:off x="438912" y="32918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AS YOU WATCH, LOOK FOR</a:t>
            </a:r>
            <a:endParaRPr b="0" i="0" sz="800" u="none" cap="none" strike="noStrike">
              <a:solidFill>
                <a:schemeClr val="dk1"/>
              </a:solidFill>
              <a:latin typeface="Calibri"/>
              <a:ea typeface="Calibri"/>
              <a:cs typeface="Calibri"/>
              <a:sym typeface="Calibri"/>
            </a:endParaRPr>
          </a:p>
        </p:txBody>
      </p:sp>
      <p:sp>
        <p:nvSpPr>
          <p:cNvPr id="422" name="Google Shape;422;p30"/>
          <p:cNvSpPr/>
          <p:nvPr/>
        </p:nvSpPr>
        <p:spPr>
          <a:xfrm>
            <a:off x="411480" y="3547872"/>
            <a:ext cx="197739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30"/>
          <p:cNvSpPr/>
          <p:nvPr/>
        </p:nvSpPr>
        <p:spPr>
          <a:xfrm>
            <a:off x="539496" y="3675888"/>
            <a:ext cx="310896" cy="310896"/>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4" name="Google Shape;424;p30"/>
          <p:cNvPicPr preferRelativeResize="0"/>
          <p:nvPr/>
        </p:nvPicPr>
        <p:blipFill rotWithShape="1">
          <a:blip r:embed="rId4">
            <a:alphaModFix/>
          </a:blip>
          <a:srcRect b="0" l="0" r="0" t="0"/>
          <a:stretch/>
        </p:blipFill>
        <p:spPr>
          <a:xfrm>
            <a:off x="614111" y="3750503"/>
            <a:ext cx="161666" cy="161666"/>
          </a:xfrm>
          <a:prstGeom prst="rect">
            <a:avLst/>
          </a:prstGeom>
          <a:noFill/>
          <a:ln>
            <a:noFill/>
          </a:ln>
        </p:spPr>
      </p:pic>
      <p:sp>
        <p:nvSpPr>
          <p:cNvPr id="425" name="Google Shape;425;p30"/>
          <p:cNvSpPr txBox="1"/>
          <p:nvPr/>
        </p:nvSpPr>
        <p:spPr>
          <a:xfrm>
            <a:off x="941832" y="3547872"/>
            <a:ext cx="1355598"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1" i="0" lang="en" sz="1000" u="none" cap="none" strike="noStrike">
                <a:solidFill>
                  <a:srgbClr val="1D1D1F"/>
                </a:solidFill>
                <a:latin typeface="Arial"/>
                <a:ea typeface="Arial"/>
                <a:cs typeface="Arial"/>
                <a:sym typeface="Arial"/>
              </a:rPr>
              <a:t>Claiming jobs</a:t>
            </a:r>
            <a:endParaRPr b="0" i="0" sz="1000" u="none" cap="none" strike="noStrike">
              <a:solidFill>
                <a:schemeClr val="dk1"/>
              </a:solidFill>
              <a:latin typeface="Calibri"/>
              <a:ea typeface="Calibri"/>
              <a:cs typeface="Calibri"/>
              <a:sym typeface="Calibri"/>
            </a:endParaRPr>
          </a:p>
        </p:txBody>
      </p:sp>
      <p:sp>
        <p:nvSpPr>
          <p:cNvPr id="426" name="Google Shape;426;p30"/>
          <p:cNvSpPr/>
          <p:nvPr/>
        </p:nvSpPr>
        <p:spPr>
          <a:xfrm>
            <a:off x="2526030" y="3547872"/>
            <a:ext cx="197739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30"/>
          <p:cNvSpPr/>
          <p:nvPr/>
        </p:nvSpPr>
        <p:spPr>
          <a:xfrm>
            <a:off x="2654046" y="3675888"/>
            <a:ext cx="310896" cy="310896"/>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8" name="Google Shape;428;p30"/>
          <p:cNvPicPr preferRelativeResize="0"/>
          <p:nvPr/>
        </p:nvPicPr>
        <p:blipFill rotWithShape="1">
          <a:blip r:embed="rId5">
            <a:alphaModFix/>
          </a:blip>
          <a:srcRect b="0" l="0" r="0" t="0"/>
          <a:stretch/>
        </p:blipFill>
        <p:spPr>
          <a:xfrm>
            <a:off x="2728661" y="3750503"/>
            <a:ext cx="161666" cy="161666"/>
          </a:xfrm>
          <a:prstGeom prst="rect">
            <a:avLst/>
          </a:prstGeom>
          <a:noFill/>
          <a:ln>
            <a:noFill/>
          </a:ln>
        </p:spPr>
      </p:pic>
      <p:sp>
        <p:nvSpPr>
          <p:cNvPr id="429" name="Google Shape;429;p30"/>
          <p:cNvSpPr txBox="1"/>
          <p:nvPr/>
        </p:nvSpPr>
        <p:spPr>
          <a:xfrm>
            <a:off x="3056382" y="3547872"/>
            <a:ext cx="1355598"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1" i="0" lang="en" sz="1000" u="none" cap="none" strike="noStrike">
                <a:solidFill>
                  <a:srgbClr val="1D1D1F"/>
                </a:solidFill>
                <a:latin typeface="Arial"/>
                <a:ea typeface="Arial"/>
                <a:cs typeface="Arial"/>
                <a:sym typeface="Arial"/>
              </a:rPr>
              <a:t>Job calendar</a:t>
            </a:r>
            <a:endParaRPr b="0" i="0" sz="1000" u="none" cap="none" strike="noStrike">
              <a:solidFill>
                <a:schemeClr val="dk1"/>
              </a:solidFill>
              <a:latin typeface="Calibri"/>
              <a:ea typeface="Calibri"/>
              <a:cs typeface="Calibri"/>
              <a:sym typeface="Calibri"/>
            </a:endParaRPr>
          </a:p>
        </p:txBody>
      </p:sp>
      <p:sp>
        <p:nvSpPr>
          <p:cNvPr id="430" name="Google Shape;430;p30"/>
          <p:cNvSpPr/>
          <p:nvPr/>
        </p:nvSpPr>
        <p:spPr>
          <a:xfrm>
            <a:off x="4640580" y="3547872"/>
            <a:ext cx="197739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30"/>
          <p:cNvSpPr/>
          <p:nvPr/>
        </p:nvSpPr>
        <p:spPr>
          <a:xfrm>
            <a:off x="4768596" y="3675888"/>
            <a:ext cx="310896" cy="310896"/>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32" name="Google Shape;432;p30"/>
          <p:cNvPicPr preferRelativeResize="0"/>
          <p:nvPr/>
        </p:nvPicPr>
        <p:blipFill rotWithShape="1">
          <a:blip r:embed="rId6">
            <a:alphaModFix/>
          </a:blip>
          <a:srcRect b="0" l="0" r="0" t="0"/>
          <a:stretch/>
        </p:blipFill>
        <p:spPr>
          <a:xfrm>
            <a:off x="4843211" y="3750503"/>
            <a:ext cx="161666" cy="161666"/>
          </a:xfrm>
          <a:prstGeom prst="rect">
            <a:avLst/>
          </a:prstGeom>
          <a:noFill/>
          <a:ln>
            <a:noFill/>
          </a:ln>
        </p:spPr>
      </p:pic>
      <p:sp>
        <p:nvSpPr>
          <p:cNvPr id="433" name="Google Shape;433;p30"/>
          <p:cNvSpPr txBox="1"/>
          <p:nvPr/>
        </p:nvSpPr>
        <p:spPr>
          <a:xfrm>
            <a:off x="5170932" y="3547872"/>
            <a:ext cx="1355598"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1" i="0" lang="en" sz="1000" u="none" cap="none" strike="noStrike">
                <a:solidFill>
                  <a:srgbClr val="1D1D1F"/>
                </a:solidFill>
                <a:latin typeface="Arial"/>
                <a:ea typeface="Arial"/>
                <a:cs typeface="Arial"/>
                <a:sym typeface="Arial"/>
              </a:rPr>
              <a:t>Rate &amp; availability</a:t>
            </a:r>
            <a:endParaRPr b="0" i="0" sz="1000" u="none" cap="none" strike="noStrike">
              <a:solidFill>
                <a:schemeClr val="dk1"/>
              </a:solidFill>
              <a:latin typeface="Calibri"/>
              <a:ea typeface="Calibri"/>
              <a:cs typeface="Calibri"/>
              <a:sym typeface="Calibri"/>
            </a:endParaRPr>
          </a:p>
        </p:txBody>
      </p:sp>
      <p:sp>
        <p:nvSpPr>
          <p:cNvPr id="434" name="Google Shape;434;p30"/>
          <p:cNvSpPr/>
          <p:nvPr/>
        </p:nvSpPr>
        <p:spPr>
          <a:xfrm>
            <a:off x="6755130" y="3547872"/>
            <a:ext cx="197739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30"/>
          <p:cNvSpPr/>
          <p:nvPr/>
        </p:nvSpPr>
        <p:spPr>
          <a:xfrm>
            <a:off x="6883146" y="3675888"/>
            <a:ext cx="310896" cy="310896"/>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36" name="Google Shape;436;p30"/>
          <p:cNvPicPr preferRelativeResize="0"/>
          <p:nvPr/>
        </p:nvPicPr>
        <p:blipFill rotWithShape="1">
          <a:blip r:embed="rId7">
            <a:alphaModFix/>
          </a:blip>
          <a:srcRect b="0" l="0" r="0" t="0"/>
          <a:stretch/>
        </p:blipFill>
        <p:spPr>
          <a:xfrm>
            <a:off x="6957761" y="3750503"/>
            <a:ext cx="161666" cy="161666"/>
          </a:xfrm>
          <a:prstGeom prst="rect">
            <a:avLst/>
          </a:prstGeom>
          <a:noFill/>
          <a:ln>
            <a:noFill/>
          </a:ln>
        </p:spPr>
      </p:pic>
      <p:sp>
        <p:nvSpPr>
          <p:cNvPr id="437" name="Google Shape;437;p30"/>
          <p:cNvSpPr txBox="1"/>
          <p:nvPr/>
        </p:nvSpPr>
        <p:spPr>
          <a:xfrm>
            <a:off x="7285482" y="3547872"/>
            <a:ext cx="1355598"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1" i="0" lang="en" sz="1000" u="none" cap="none" strike="noStrike">
                <a:solidFill>
                  <a:srgbClr val="1D1D1F"/>
                </a:solidFill>
                <a:latin typeface="Arial"/>
                <a:ea typeface="Arial"/>
                <a:cs typeface="Arial"/>
                <a:sym typeface="Arial"/>
              </a:rPr>
              <a:t>Account</a:t>
            </a:r>
            <a:endParaRPr b="0" i="0" sz="1000" u="none" cap="none" strike="noStrike">
              <a:solidFill>
                <a:schemeClr val="dk1"/>
              </a:solidFill>
              <a:latin typeface="Calibri"/>
              <a:ea typeface="Calibri"/>
              <a:cs typeface="Calibri"/>
              <a:sym typeface="Calibri"/>
            </a:endParaRPr>
          </a:p>
        </p:txBody>
      </p:sp>
      <p:sp>
        <p:nvSpPr>
          <p:cNvPr id="438" name="Google Shape;438;p3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1"/>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04 OF 11</a:t>
            </a:r>
            <a:endParaRPr b="0" i="0" sz="800" u="none" cap="none" strike="noStrike">
              <a:solidFill>
                <a:schemeClr val="dk1"/>
              </a:solidFill>
              <a:latin typeface="Calibri"/>
              <a:ea typeface="Calibri"/>
              <a:cs typeface="Calibri"/>
              <a:sym typeface="Calibri"/>
            </a:endParaRPr>
          </a:p>
        </p:txBody>
      </p:sp>
      <p:sp>
        <p:nvSpPr>
          <p:cNvPr id="445" name="Google Shape;445;p31"/>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CP Profile Status</a:t>
            </a:r>
            <a:endParaRPr b="0" i="0" sz="2800" u="none" cap="none" strike="noStrike">
              <a:solidFill>
                <a:schemeClr val="dk1"/>
              </a:solidFill>
              <a:latin typeface="Calibri"/>
              <a:ea typeface="Calibri"/>
              <a:cs typeface="Calibri"/>
              <a:sym typeface="Calibri"/>
            </a:endParaRPr>
          </a:p>
        </p:txBody>
      </p:sp>
      <p:sp>
        <p:nvSpPr>
          <p:cNvPr id="446" name="Google Shape;446;p31"/>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The label on a cleaner's account that controls what they can do on the platform.</a:t>
            </a:r>
            <a:endParaRPr b="0" i="0" sz="1150" u="none" cap="none" strike="noStrike">
              <a:solidFill>
                <a:schemeClr val="dk1"/>
              </a:solidFill>
              <a:latin typeface="Calibri"/>
              <a:ea typeface="Calibri"/>
              <a:cs typeface="Calibri"/>
              <a:sym typeface="Calibri"/>
            </a:endParaRPr>
          </a:p>
        </p:txBody>
      </p:sp>
      <p:sp>
        <p:nvSpPr>
          <p:cNvPr id="447" name="Google Shape;447;p31"/>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448" name="Google Shape;448;p31"/>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9" name="Google Shape;449;p31"/>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450" name="Google Shape;450;p31"/>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three statuses you'll use most</a:t>
            </a:r>
            <a:endParaRPr b="0" i="0" sz="1050" u="none" cap="none" strike="noStrike">
              <a:solidFill>
                <a:schemeClr val="dk1"/>
              </a:solidFill>
              <a:latin typeface="Calibri"/>
              <a:ea typeface="Calibri"/>
              <a:cs typeface="Calibri"/>
              <a:sym typeface="Calibri"/>
            </a:endParaRPr>
          </a:p>
        </p:txBody>
      </p:sp>
      <p:sp>
        <p:nvSpPr>
          <p:cNvPr id="451" name="Google Shape;451;p31"/>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2" name="Google Shape;452;p31"/>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453" name="Google Shape;453;p31"/>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Onboarding statuses</a:t>
            </a:r>
            <a:endParaRPr b="0" i="0" sz="1050" u="none" cap="none" strike="noStrike">
              <a:solidFill>
                <a:schemeClr val="dk1"/>
              </a:solidFill>
              <a:latin typeface="Calibri"/>
              <a:ea typeface="Calibri"/>
              <a:cs typeface="Calibri"/>
              <a:sym typeface="Calibri"/>
            </a:endParaRPr>
          </a:p>
        </p:txBody>
      </p:sp>
      <p:sp>
        <p:nvSpPr>
          <p:cNvPr id="454" name="Google Shape;454;p31"/>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5" name="Google Shape;455;p31"/>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456" name="Google Shape;456;p31"/>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the system changes automatically</a:t>
            </a:r>
            <a:endParaRPr b="0" i="0" sz="1050" u="none" cap="none" strike="noStrike">
              <a:solidFill>
                <a:schemeClr val="dk1"/>
              </a:solidFill>
              <a:latin typeface="Calibri"/>
              <a:ea typeface="Calibri"/>
              <a:cs typeface="Calibri"/>
              <a:sym typeface="Calibri"/>
            </a:endParaRPr>
          </a:p>
        </p:txBody>
      </p:sp>
      <p:sp>
        <p:nvSpPr>
          <p:cNvPr id="457" name="Google Shape;457;p31"/>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8" name="Google Shape;458;p31"/>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459" name="Google Shape;459;p31"/>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test before you change one</a:t>
            </a:r>
            <a:endParaRPr b="0" i="0" sz="1050" u="none" cap="none" strike="noStrike">
              <a:solidFill>
                <a:schemeClr val="dk1"/>
              </a:solidFill>
              <a:latin typeface="Calibri"/>
              <a:ea typeface="Calibri"/>
              <a:cs typeface="Calibri"/>
              <a:sym typeface="Calibri"/>
            </a:endParaRPr>
          </a:p>
        </p:txBody>
      </p:sp>
      <p:sp>
        <p:nvSpPr>
          <p:cNvPr id="460" name="Google Shape;460;p31"/>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1" name="Google Shape;461;p31"/>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21.png" id="462" name="Google Shape;462;p31"/>
          <p:cNvPicPr preferRelativeResize="0"/>
          <p:nvPr/>
        </p:nvPicPr>
        <p:blipFill rotWithShape="1">
          <a:blip r:embed="rId4">
            <a:alphaModFix/>
          </a:blip>
          <a:srcRect b="0" l="0" r="0" t="0"/>
          <a:stretch/>
        </p:blipFill>
        <p:spPr>
          <a:xfrm>
            <a:off x="5806694" y="1517904"/>
            <a:ext cx="2395220" cy="2103120"/>
          </a:xfrm>
          <a:prstGeom prst="rect">
            <a:avLst/>
          </a:prstGeom>
          <a:noFill/>
          <a:ln>
            <a:noFill/>
          </a:ln>
        </p:spPr>
      </p:pic>
      <p:sp>
        <p:nvSpPr>
          <p:cNvPr id="463" name="Google Shape;463;p31"/>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31"/>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31"/>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31"/>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31"/>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31"/>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3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PROFILE STATUS</a:t>
            </a:r>
            <a:endParaRPr b="0" i="0" sz="800" u="none" cap="none" strike="noStrike">
              <a:solidFill>
                <a:schemeClr val="dk1"/>
              </a:solidFill>
              <a:latin typeface="Calibri"/>
              <a:ea typeface="Calibri"/>
              <a:cs typeface="Calibri"/>
              <a:sym typeface="Calibri"/>
            </a:endParaRPr>
          </a:p>
        </p:txBody>
      </p:sp>
      <p:sp>
        <p:nvSpPr>
          <p:cNvPr id="476" name="Google Shape;476;p3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three you'll use most</a:t>
            </a:r>
            <a:endParaRPr b="0" i="0" sz="2400" u="none" cap="none" strike="noStrike">
              <a:solidFill>
                <a:schemeClr val="dk1"/>
              </a:solidFill>
              <a:latin typeface="Calibri"/>
              <a:ea typeface="Calibri"/>
              <a:cs typeface="Calibri"/>
              <a:sym typeface="Calibri"/>
            </a:endParaRPr>
          </a:p>
        </p:txBody>
      </p:sp>
      <p:sp>
        <p:nvSpPr>
          <p:cNvPr id="477" name="Google Shape;477;p3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each status lets a cleaner do.</a:t>
            </a:r>
            <a:endParaRPr b="0" i="0" sz="1200" u="none" cap="none" strike="noStrike">
              <a:solidFill>
                <a:schemeClr val="dk1"/>
              </a:solidFill>
              <a:latin typeface="Calibri"/>
              <a:ea typeface="Calibri"/>
              <a:cs typeface="Calibri"/>
              <a:sym typeface="Calibri"/>
            </a:endParaRPr>
          </a:p>
        </p:txBody>
      </p:sp>
      <p:graphicFrame>
        <p:nvGraphicFramePr>
          <p:cNvPr id="478" name="Google Shape;478;p32"/>
          <p:cNvGraphicFramePr/>
          <p:nvPr/>
        </p:nvGraphicFramePr>
        <p:xfrm>
          <a:off x="411480" y="1325880"/>
          <a:ext cx="3000000" cy="3000000"/>
        </p:xfrm>
        <a:graphic>
          <a:graphicData uri="http://schemas.openxmlformats.org/drawingml/2006/table">
            <a:tbl>
              <a:tblPr>
                <a:noFill/>
                <a:tableStyleId>{0D802810-0E66-425F-9816-536649EA7155}</a:tableStyleId>
              </a:tblPr>
              <a:tblGrid>
                <a:gridCol w="1371600"/>
                <a:gridCol w="1371600"/>
                <a:gridCol w="1463050"/>
                <a:gridCol w="2194550"/>
                <a:gridCol w="1920250"/>
              </a:tblGrid>
              <a:tr h="411475">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Status</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Claim new jobs</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Keep claimed jobs</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Dashboard</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Reactivate</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11475">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active</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Yes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Yes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Full access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norequests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No</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Yes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Full access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$15–25 fee*</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suspended</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No</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No, removed</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Limited (Completed Jobs only)</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$15–25 fee*</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cp-opt-out</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No</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Free, via dashboard or CS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479" name="Google Shape;479;p32"/>
          <p:cNvSpPr txBox="1"/>
          <p:nvPr/>
        </p:nvSpPr>
        <p:spPr>
          <a:xfrm>
            <a:off x="438912" y="3520440"/>
            <a:ext cx="82296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1" lang="en" sz="900" u="none" cap="none" strike="noStrike">
                <a:solidFill>
                  <a:srgbClr val="6E6E73"/>
                </a:solidFill>
                <a:latin typeface="Arial"/>
                <a:ea typeface="Arial"/>
                <a:cs typeface="Arial"/>
                <a:sym typeface="Arial"/>
              </a:rPr>
              <a:t>* Not available if the cleaner has a do_not_reactivate flag, or is in a CA/CA-WA Operating Model state.</a:t>
            </a:r>
            <a:endParaRPr b="0" i="0" sz="900" u="none" cap="none" strike="noStrike">
              <a:solidFill>
                <a:schemeClr val="dk1"/>
              </a:solidFill>
              <a:latin typeface="Calibri"/>
              <a:ea typeface="Calibri"/>
              <a:cs typeface="Calibri"/>
              <a:sym typeface="Calibri"/>
            </a:endParaRPr>
          </a:p>
        </p:txBody>
      </p:sp>
      <p:sp>
        <p:nvSpPr>
          <p:cNvPr id="480" name="Google Shape;480;p32"/>
          <p:cNvSpPr/>
          <p:nvPr/>
        </p:nvSpPr>
        <p:spPr>
          <a:xfrm>
            <a:off x="411480" y="38862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81" name="Google Shape;481;p32"/>
          <p:cNvPicPr preferRelativeResize="0"/>
          <p:nvPr/>
        </p:nvPicPr>
        <p:blipFill rotWithShape="1">
          <a:blip r:embed="rId3">
            <a:alphaModFix/>
          </a:blip>
          <a:srcRect b="0" l="0" r="0" t="0"/>
          <a:stretch/>
        </p:blipFill>
        <p:spPr>
          <a:xfrm>
            <a:off x="566928" y="3995928"/>
            <a:ext cx="164592" cy="164592"/>
          </a:xfrm>
          <a:prstGeom prst="rect">
            <a:avLst/>
          </a:prstGeom>
          <a:noFill/>
          <a:ln>
            <a:noFill/>
          </a:ln>
        </p:spPr>
      </p:pic>
      <p:sp>
        <p:nvSpPr>
          <p:cNvPr id="482" name="Google Shape;482;p32"/>
          <p:cNvSpPr txBox="1"/>
          <p:nvPr/>
        </p:nvSpPr>
        <p:spPr>
          <a:xfrm>
            <a:off x="822960" y="39867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Check history:  </a:t>
            </a:r>
            <a:r>
              <a:rPr b="0" i="0" lang="en" sz="1000" u="none" cap="none" strike="noStrike">
                <a:solidFill>
                  <a:srgbClr val="1D1D1F"/>
                </a:solidFill>
                <a:latin typeface="Arial"/>
                <a:ea typeface="Arial"/>
                <a:cs typeface="Arial"/>
                <a:sym typeface="Arial"/>
              </a:rPr>
              <a:t>the Flags table shows when a status changed, to what, and what it was before.</a:t>
            </a:r>
            <a:endParaRPr b="0" i="0" sz="1000" u="none" cap="none" strike="noStrike">
              <a:solidFill>
                <a:schemeClr val="dk1"/>
              </a:solidFill>
              <a:latin typeface="Calibri"/>
              <a:ea typeface="Calibri"/>
              <a:cs typeface="Calibri"/>
              <a:sym typeface="Calibri"/>
            </a:endParaRPr>
          </a:p>
        </p:txBody>
      </p:sp>
      <p:sp>
        <p:nvSpPr>
          <p:cNvPr id="483" name="Google Shape;483;p3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PROFILE STATUS</a:t>
            </a:r>
            <a:endParaRPr b="0" i="0" sz="800" u="none" cap="none" strike="noStrike">
              <a:solidFill>
                <a:schemeClr val="dk1"/>
              </a:solidFill>
              <a:latin typeface="Calibri"/>
              <a:ea typeface="Calibri"/>
              <a:cs typeface="Calibri"/>
              <a:sym typeface="Calibri"/>
            </a:endParaRPr>
          </a:p>
        </p:txBody>
      </p:sp>
      <p:sp>
        <p:nvSpPr>
          <p:cNvPr id="490" name="Google Shape;490;p3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Where to see and change it</a:t>
            </a:r>
            <a:endParaRPr b="0" i="0" sz="2400" u="none" cap="none" strike="noStrike">
              <a:solidFill>
                <a:schemeClr val="dk1"/>
              </a:solidFill>
              <a:latin typeface="Calibri"/>
              <a:ea typeface="Calibri"/>
              <a:cs typeface="Calibri"/>
              <a:sym typeface="Calibri"/>
            </a:endParaRPr>
          </a:p>
        </p:txBody>
      </p:sp>
      <p:sp>
        <p:nvSpPr>
          <p:cNvPr id="491" name="Google Shape;491;p3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In the Legacy CP CRM.</a:t>
            </a:r>
            <a:endParaRPr b="0" i="0" sz="1200" u="none" cap="none" strike="noStrike">
              <a:solidFill>
                <a:schemeClr val="dk1"/>
              </a:solidFill>
              <a:latin typeface="Calibri"/>
              <a:ea typeface="Calibri"/>
              <a:cs typeface="Calibri"/>
              <a:sym typeface="Calibri"/>
            </a:endParaRPr>
          </a:p>
        </p:txBody>
      </p:sp>
      <p:sp>
        <p:nvSpPr>
          <p:cNvPr id="492" name="Google Shape;492;p33"/>
          <p:cNvSpPr/>
          <p:nvPr/>
        </p:nvSpPr>
        <p:spPr>
          <a:xfrm>
            <a:off x="411480" y="1280160"/>
            <a:ext cx="4480560" cy="2194560"/>
          </a:xfrm>
          <a:prstGeom prst="roundRect">
            <a:avLst>
              <a:gd fmla="val 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cp_header.png" id="493" name="Google Shape;493;p33"/>
          <p:cNvPicPr preferRelativeResize="0"/>
          <p:nvPr/>
        </p:nvPicPr>
        <p:blipFill rotWithShape="1">
          <a:blip r:embed="rId3">
            <a:alphaModFix/>
          </a:blip>
          <a:srcRect b="0" l="0" r="0" t="0"/>
          <a:stretch/>
        </p:blipFill>
        <p:spPr>
          <a:xfrm>
            <a:off x="484632" y="1404277"/>
            <a:ext cx="4334256" cy="1946326"/>
          </a:xfrm>
          <a:prstGeom prst="rect">
            <a:avLst/>
          </a:prstGeom>
          <a:noFill/>
          <a:ln>
            <a:noFill/>
          </a:ln>
        </p:spPr>
      </p:pic>
      <p:sp>
        <p:nvSpPr>
          <p:cNvPr id="494" name="Google Shape;494;p33"/>
          <p:cNvSpPr/>
          <p:nvPr/>
        </p:nvSpPr>
        <p:spPr>
          <a:xfrm>
            <a:off x="5029200" y="1280160"/>
            <a:ext cx="3703320" cy="2194560"/>
          </a:xfrm>
          <a:prstGeom prst="roundRect">
            <a:avLst>
              <a:gd fmla="val 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cp_changestep.png" id="495" name="Google Shape;495;p33"/>
          <p:cNvPicPr preferRelativeResize="0"/>
          <p:nvPr/>
        </p:nvPicPr>
        <p:blipFill rotWithShape="1">
          <a:blip r:embed="rId4">
            <a:alphaModFix/>
          </a:blip>
          <a:srcRect b="0" l="0" r="0" t="0"/>
          <a:stretch/>
        </p:blipFill>
        <p:spPr>
          <a:xfrm>
            <a:off x="5102352" y="1539942"/>
            <a:ext cx="3557016" cy="1674997"/>
          </a:xfrm>
          <a:prstGeom prst="rect">
            <a:avLst/>
          </a:prstGeom>
          <a:noFill/>
          <a:ln>
            <a:noFill/>
          </a:ln>
        </p:spPr>
      </p:pic>
      <p:sp>
        <p:nvSpPr>
          <p:cNvPr id="496" name="Google Shape;496;p33"/>
          <p:cNvSpPr/>
          <p:nvPr/>
        </p:nvSpPr>
        <p:spPr>
          <a:xfrm>
            <a:off x="5182338" y="1728143"/>
            <a:ext cx="705757" cy="1472680"/>
          </a:xfrm>
          <a:prstGeom prst="roundRect">
            <a:avLst>
              <a:gd fmla="val 3887"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33"/>
          <p:cNvSpPr/>
          <p:nvPr/>
        </p:nvSpPr>
        <p:spPr>
          <a:xfrm>
            <a:off x="5052604" y="2962997"/>
            <a:ext cx="201300" cy="20130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33"/>
          <p:cNvSpPr txBox="1"/>
          <p:nvPr/>
        </p:nvSpPr>
        <p:spPr>
          <a:xfrm>
            <a:off x="5052604" y="2963009"/>
            <a:ext cx="2013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2</a:t>
            </a:r>
            <a:endParaRPr b="0" i="0" sz="800" u="none" cap="none" strike="noStrike">
              <a:solidFill>
                <a:schemeClr val="dk1"/>
              </a:solidFill>
              <a:latin typeface="Calibri"/>
              <a:ea typeface="Calibri"/>
              <a:cs typeface="Calibri"/>
              <a:sym typeface="Calibri"/>
            </a:endParaRPr>
          </a:p>
        </p:txBody>
      </p:sp>
      <p:sp>
        <p:nvSpPr>
          <p:cNvPr id="499" name="Google Shape;499;p33"/>
          <p:cNvSpPr/>
          <p:nvPr/>
        </p:nvSpPr>
        <p:spPr>
          <a:xfrm>
            <a:off x="411480" y="3611880"/>
            <a:ext cx="4480560" cy="502920"/>
          </a:xfrm>
          <a:prstGeom prst="roundRect">
            <a:avLst>
              <a:gd fmla="val 1454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33"/>
          <p:cNvSpPr/>
          <p:nvPr/>
        </p:nvSpPr>
        <p:spPr>
          <a:xfrm>
            <a:off x="539496" y="37353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33"/>
          <p:cNvSpPr txBox="1"/>
          <p:nvPr/>
        </p:nvSpPr>
        <p:spPr>
          <a:xfrm>
            <a:off x="539496" y="37353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502" name="Google Shape;502;p33"/>
          <p:cNvSpPr txBox="1"/>
          <p:nvPr/>
        </p:nvSpPr>
        <p:spPr>
          <a:xfrm>
            <a:off x="914400" y="3657600"/>
            <a:ext cx="38862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Flags table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When the status changed, to what, and what it was before</a:t>
            </a:r>
            <a:endParaRPr b="0" i="0" sz="1050" u="none" cap="none" strike="noStrike">
              <a:solidFill>
                <a:schemeClr val="dk1"/>
              </a:solidFill>
              <a:latin typeface="Calibri"/>
              <a:ea typeface="Calibri"/>
              <a:cs typeface="Calibri"/>
              <a:sym typeface="Calibri"/>
            </a:endParaRPr>
          </a:p>
        </p:txBody>
      </p:sp>
      <p:sp>
        <p:nvSpPr>
          <p:cNvPr id="503" name="Google Shape;503;p33"/>
          <p:cNvSpPr/>
          <p:nvPr/>
        </p:nvSpPr>
        <p:spPr>
          <a:xfrm>
            <a:off x="5029200" y="3611880"/>
            <a:ext cx="3703320" cy="502920"/>
          </a:xfrm>
          <a:prstGeom prst="roundRect">
            <a:avLst>
              <a:gd fmla="val 1454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33"/>
          <p:cNvSpPr/>
          <p:nvPr/>
        </p:nvSpPr>
        <p:spPr>
          <a:xfrm>
            <a:off x="5157216" y="37353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33"/>
          <p:cNvSpPr txBox="1"/>
          <p:nvPr/>
        </p:nvSpPr>
        <p:spPr>
          <a:xfrm>
            <a:off x="5157216" y="37353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506" name="Google Shape;506;p33"/>
          <p:cNvSpPr txBox="1"/>
          <p:nvPr/>
        </p:nvSpPr>
        <p:spPr>
          <a:xfrm>
            <a:off x="5532120" y="3657600"/>
            <a:ext cx="31089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Change Step</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Pick the new status. Check the history first</a:t>
            </a:r>
            <a:endParaRPr b="0" i="0" sz="1050" u="none" cap="none" strike="noStrike">
              <a:solidFill>
                <a:schemeClr val="dk1"/>
              </a:solidFill>
              <a:latin typeface="Calibri"/>
              <a:ea typeface="Calibri"/>
              <a:cs typeface="Calibri"/>
              <a:sym typeface="Calibri"/>
            </a:endParaRPr>
          </a:p>
        </p:txBody>
      </p:sp>
      <p:sp>
        <p:nvSpPr>
          <p:cNvPr id="507" name="Google Shape;507;p3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508" name="Google Shape;508;p33"/>
          <p:cNvSpPr/>
          <p:nvPr/>
        </p:nvSpPr>
        <p:spPr>
          <a:xfrm>
            <a:off x="5029209" y="1592853"/>
            <a:ext cx="405300" cy="135300"/>
          </a:xfrm>
          <a:prstGeom prst="roundRect">
            <a:avLst>
              <a:gd fmla="val 3165"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33"/>
          <p:cNvSpPr/>
          <p:nvPr/>
        </p:nvSpPr>
        <p:spPr>
          <a:xfrm>
            <a:off x="4936614" y="1559908"/>
            <a:ext cx="201300" cy="20130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33"/>
          <p:cNvSpPr txBox="1"/>
          <p:nvPr/>
        </p:nvSpPr>
        <p:spPr>
          <a:xfrm>
            <a:off x="4936551" y="1559858"/>
            <a:ext cx="2013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3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PROFILE STATUS</a:t>
            </a:r>
            <a:endParaRPr b="0" i="0" sz="800" u="none" cap="none" strike="noStrike">
              <a:solidFill>
                <a:schemeClr val="dk1"/>
              </a:solidFill>
              <a:latin typeface="Calibri"/>
              <a:ea typeface="Calibri"/>
              <a:cs typeface="Calibri"/>
              <a:sym typeface="Calibri"/>
            </a:endParaRPr>
          </a:p>
        </p:txBody>
      </p:sp>
      <p:sp>
        <p:nvSpPr>
          <p:cNvPr id="517" name="Google Shape;517;p3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Onboarding statuses</a:t>
            </a:r>
            <a:endParaRPr b="0" i="0" sz="2400" u="none" cap="none" strike="noStrike">
              <a:solidFill>
                <a:schemeClr val="dk1"/>
              </a:solidFill>
              <a:latin typeface="Calibri"/>
              <a:ea typeface="Calibri"/>
              <a:cs typeface="Calibri"/>
              <a:sym typeface="Calibri"/>
            </a:endParaRPr>
          </a:p>
        </p:txBody>
      </p:sp>
      <p:sp>
        <p:nvSpPr>
          <p:cNvPr id="518" name="Google Shape;518;p3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Where a new cleaner is stuck in sign-up.</a:t>
            </a:r>
            <a:endParaRPr b="0" i="0" sz="1200" u="none" cap="none" strike="noStrike">
              <a:solidFill>
                <a:schemeClr val="dk1"/>
              </a:solidFill>
              <a:latin typeface="Calibri"/>
              <a:ea typeface="Calibri"/>
              <a:cs typeface="Calibri"/>
              <a:sym typeface="Calibri"/>
            </a:endParaRPr>
          </a:p>
        </p:txBody>
      </p:sp>
      <p:sp>
        <p:nvSpPr>
          <p:cNvPr id="519" name="Google Shape;519;p34"/>
          <p:cNvSpPr/>
          <p:nvPr/>
        </p:nvSpPr>
        <p:spPr>
          <a:xfrm>
            <a:off x="411480" y="1371600"/>
            <a:ext cx="197739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34"/>
          <p:cNvSpPr/>
          <p:nvPr/>
        </p:nvSpPr>
        <p:spPr>
          <a:xfrm>
            <a:off x="548640" y="1536192"/>
            <a:ext cx="1703070" cy="292608"/>
          </a:xfrm>
          <a:prstGeom prst="roundRect">
            <a:avLst>
              <a:gd fmla="val 25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34"/>
          <p:cNvSpPr txBox="1"/>
          <p:nvPr/>
        </p:nvSpPr>
        <p:spPr>
          <a:xfrm>
            <a:off x="548640" y="1536192"/>
            <a:ext cx="170307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50"/>
              <a:buFont typeface="Play"/>
              <a:buNone/>
            </a:pPr>
            <a:r>
              <a:rPr b="1" i="0" lang="en" sz="950" u="none" cap="none" strike="noStrike">
                <a:solidFill>
                  <a:srgbClr val="0B7A6F"/>
                </a:solidFill>
                <a:latin typeface="Play"/>
                <a:ea typeface="Play"/>
                <a:cs typeface="Play"/>
                <a:sym typeface="Play"/>
              </a:rPr>
              <a:t>cpintrovideo</a:t>
            </a:r>
            <a:endParaRPr b="0" i="0" sz="950" u="none" cap="none" strike="noStrike">
              <a:solidFill>
                <a:schemeClr val="dk1"/>
              </a:solidFill>
              <a:latin typeface="Calibri"/>
              <a:ea typeface="Calibri"/>
              <a:cs typeface="Calibri"/>
              <a:sym typeface="Calibri"/>
            </a:endParaRPr>
          </a:p>
        </p:txBody>
      </p:sp>
      <p:sp>
        <p:nvSpPr>
          <p:cNvPr id="522" name="Google Shape;522;p34"/>
          <p:cNvSpPr txBox="1"/>
          <p:nvPr/>
        </p:nvSpPr>
        <p:spPr>
          <a:xfrm>
            <a:off x="548640" y="1938528"/>
            <a:ext cx="170307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Hasn't finished the intro video</a:t>
            </a:r>
            <a:endParaRPr b="0" i="0" sz="950" u="none" cap="none" strike="noStrike">
              <a:solidFill>
                <a:schemeClr val="dk1"/>
              </a:solidFill>
              <a:latin typeface="Calibri"/>
              <a:ea typeface="Calibri"/>
              <a:cs typeface="Calibri"/>
              <a:sym typeface="Calibri"/>
            </a:endParaRPr>
          </a:p>
        </p:txBody>
      </p:sp>
      <p:sp>
        <p:nvSpPr>
          <p:cNvPr id="523" name="Google Shape;523;p34"/>
          <p:cNvSpPr/>
          <p:nvPr/>
        </p:nvSpPr>
        <p:spPr>
          <a:xfrm>
            <a:off x="2526030" y="1371600"/>
            <a:ext cx="197739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34"/>
          <p:cNvSpPr/>
          <p:nvPr/>
        </p:nvSpPr>
        <p:spPr>
          <a:xfrm>
            <a:off x="2663190" y="1536192"/>
            <a:ext cx="1703070" cy="292608"/>
          </a:xfrm>
          <a:prstGeom prst="roundRect">
            <a:avLst>
              <a:gd fmla="val 25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34"/>
          <p:cNvSpPr txBox="1"/>
          <p:nvPr/>
        </p:nvSpPr>
        <p:spPr>
          <a:xfrm>
            <a:off x="2663190" y="1536192"/>
            <a:ext cx="170307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50"/>
              <a:buFont typeface="Play"/>
              <a:buNone/>
            </a:pPr>
            <a:r>
              <a:rPr b="1" i="0" lang="en" sz="950" u="none" cap="none" strike="noStrike">
                <a:solidFill>
                  <a:srgbClr val="0B7A6F"/>
                </a:solidFill>
                <a:latin typeface="Play"/>
                <a:ea typeface="Play"/>
                <a:cs typeface="Play"/>
                <a:sym typeface="Play"/>
              </a:rPr>
              <a:t>cpprofile_setpay</a:t>
            </a:r>
            <a:endParaRPr b="0" i="0" sz="950" u="none" cap="none" strike="noStrike">
              <a:solidFill>
                <a:schemeClr val="dk1"/>
              </a:solidFill>
              <a:latin typeface="Calibri"/>
              <a:ea typeface="Calibri"/>
              <a:cs typeface="Calibri"/>
              <a:sym typeface="Calibri"/>
            </a:endParaRPr>
          </a:p>
        </p:txBody>
      </p:sp>
      <p:sp>
        <p:nvSpPr>
          <p:cNvPr id="526" name="Google Shape;526;p34"/>
          <p:cNvSpPr txBox="1"/>
          <p:nvPr/>
        </p:nvSpPr>
        <p:spPr>
          <a:xfrm>
            <a:off x="2663190" y="1938528"/>
            <a:ext cx="170307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Hasn't set their hourly rate</a:t>
            </a:r>
            <a:endParaRPr b="0" i="0" sz="950" u="none" cap="none" strike="noStrike">
              <a:solidFill>
                <a:schemeClr val="dk1"/>
              </a:solidFill>
              <a:latin typeface="Calibri"/>
              <a:ea typeface="Calibri"/>
              <a:cs typeface="Calibri"/>
              <a:sym typeface="Calibri"/>
            </a:endParaRPr>
          </a:p>
        </p:txBody>
      </p:sp>
      <p:sp>
        <p:nvSpPr>
          <p:cNvPr id="527" name="Google Shape;527;p34"/>
          <p:cNvSpPr/>
          <p:nvPr/>
        </p:nvSpPr>
        <p:spPr>
          <a:xfrm>
            <a:off x="4640580" y="1371600"/>
            <a:ext cx="197739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34"/>
          <p:cNvSpPr/>
          <p:nvPr/>
        </p:nvSpPr>
        <p:spPr>
          <a:xfrm>
            <a:off x="4777740" y="1536192"/>
            <a:ext cx="1703070" cy="292608"/>
          </a:xfrm>
          <a:prstGeom prst="roundRect">
            <a:avLst>
              <a:gd fmla="val 25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34"/>
          <p:cNvSpPr txBox="1"/>
          <p:nvPr/>
        </p:nvSpPr>
        <p:spPr>
          <a:xfrm>
            <a:off x="4777740" y="1536192"/>
            <a:ext cx="170307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50"/>
              <a:buFont typeface="Play"/>
              <a:buNone/>
            </a:pPr>
            <a:r>
              <a:rPr b="1" i="0" lang="en" sz="950" u="none" cap="none" strike="noStrike">
                <a:solidFill>
                  <a:srgbClr val="0B7A6F"/>
                </a:solidFill>
                <a:latin typeface="Play"/>
                <a:ea typeface="Play"/>
                <a:cs typeface="Play"/>
                <a:sym typeface="Play"/>
              </a:rPr>
              <a:t>cpprofilebio</a:t>
            </a:r>
            <a:endParaRPr b="0" i="0" sz="950" u="none" cap="none" strike="noStrike">
              <a:solidFill>
                <a:schemeClr val="dk1"/>
              </a:solidFill>
              <a:latin typeface="Calibri"/>
              <a:ea typeface="Calibri"/>
              <a:cs typeface="Calibri"/>
              <a:sym typeface="Calibri"/>
            </a:endParaRPr>
          </a:p>
        </p:txBody>
      </p:sp>
      <p:sp>
        <p:nvSpPr>
          <p:cNvPr id="530" name="Google Shape;530;p34"/>
          <p:cNvSpPr txBox="1"/>
          <p:nvPr/>
        </p:nvSpPr>
        <p:spPr>
          <a:xfrm>
            <a:off x="4777740" y="1938528"/>
            <a:ext cx="170307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Hasn't added a photo or bio</a:t>
            </a:r>
            <a:endParaRPr b="0" i="0" sz="950" u="none" cap="none" strike="noStrike">
              <a:solidFill>
                <a:schemeClr val="dk1"/>
              </a:solidFill>
              <a:latin typeface="Calibri"/>
              <a:ea typeface="Calibri"/>
              <a:cs typeface="Calibri"/>
              <a:sym typeface="Calibri"/>
            </a:endParaRPr>
          </a:p>
        </p:txBody>
      </p:sp>
      <p:sp>
        <p:nvSpPr>
          <p:cNvPr id="531" name="Google Shape;531;p34"/>
          <p:cNvSpPr/>
          <p:nvPr/>
        </p:nvSpPr>
        <p:spPr>
          <a:xfrm>
            <a:off x="6755130" y="1371600"/>
            <a:ext cx="197739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34"/>
          <p:cNvSpPr/>
          <p:nvPr/>
        </p:nvSpPr>
        <p:spPr>
          <a:xfrm>
            <a:off x="6892290" y="1536192"/>
            <a:ext cx="1703070" cy="292608"/>
          </a:xfrm>
          <a:prstGeom prst="roundRect">
            <a:avLst>
              <a:gd fmla="val 25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34"/>
          <p:cNvSpPr txBox="1"/>
          <p:nvPr/>
        </p:nvSpPr>
        <p:spPr>
          <a:xfrm>
            <a:off x="6892290" y="1536192"/>
            <a:ext cx="170307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50"/>
              <a:buFont typeface="Play"/>
              <a:buNone/>
            </a:pPr>
            <a:r>
              <a:rPr b="1" i="0" lang="en" sz="950" u="none" cap="none" strike="noStrike">
                <a:solidFill>
                  <a:srgbClr val="0B7A6F"/>
                </a:solidFill>
                <a:latin typeface="Play"/>
                <a:ea typeface="Play"/>
                <a:cs typeface="Play"/>
                <a:sym typeface="Play"/>
              </a:rPr>
              <a:t>cpprofilesetuppayment</a:t>
            </a:r>
            <a:endParaRPr b="0" i="0" sz="950" u="none" cap="none" strike="noStrike">
              <a:solidFill>
                <a:schemeClr val="dk1"/>
              </a:solidFill>
              <a:latin typeface="Calibri"/>
              <a:ea typeface="Calibri"/>
              <a:cs typeface="Calibri"/>
              <a:sym typeface="Calibri"/>
            </a:endParaRPr>
          </a:p>
        </p:txBody>
      </p:sp>
      <p:sp>
        <p:nvSpPr>
          <p:cNvPr id="534" name="Google Shape;534;p34"/>
          <p:cNvSpPr txBox="1"/>
          <p:nvPr/>
        </p:nvSpPr>
        <p:spPr>
          <a:xfrm>
            <a:off x="6892290" y="1938528"/>
            <a:ext cx="170307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Hasn't added legal or payment info</a:t>
            </a:r>
            <a:endParaRPr b="0" i="0" sz="950" u="none" cap="none" strike="noStrike">
              <a:solidFill>
                <a:schemeClr val="dk1"/>
              </a:solidFill>
              <a:latin typeface="Calibri"/>
              <a:ea typeface="Calibri"/>
              <a:cs typeface="Calibri"/>
              <a:sym typeface="Calibri"/>
            </a:endParaRPr>
          </a:p>
        </p:txBody>
      </p:sp>
      <p:sp>
        <p:nvSpPr>
          <p:cNvPr id="535" name="Google Shape;535;p34"/>
          <p:cNvSpPr/>
          <p:nvPr/>
        </p:nvSpPr>
        <p:spPr>
          <a:xfrm>
            <a:off x="411480" y="2697480"/>
            <a:ext cx="197739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34"/>
          <p:cNvSpPr/>
          <p:nvPr/>
        </p:nvSpPr>
        <p:spPr>
          <a:xfrm>
            <a:off x="548640" y="2862072"/>
            <a:ext cx="1703070" cy="292608"/>
          </a:xfrm>
          <a:prstGeom prst="roundRect">
            <a:avLst>
              <a:gd fmla="val 25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34"/>
          <p:cNvSpPr txBox="1"/>
          <p:nvPr/>
        </p:nvSpPr>
        <p:spPr>
          <a:xfrm>
            <a:off x="548640" y="2862072"/>
            <a:ext cx="170307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50"/>
              <a:buFont typeface="Play"/>
              <a:buNone/>
            </a:pPr>
            <a:r>
              <a:rPr b="1" i="0" lang="en" sz="950" u="none" cap="none" strike="noStrike">
                <a:solidFill>
                  <a:srgbClr val="0B7A6F"/>
                </a:solidFill>
                <a:latin typeface="Play"/>
                <a:ea typeface="Play"/>
                <a:cs typeface="Play"/>
                <a:sym typeface="Play"/>
              </a:rPr>
              <a:t>cpsignica</a:t>
            </a:r>
            <a:endParaRPr b="0" i="0" sz="950" u="none" cap="none" strike="noStrike">
              <a:solidFill>
                <a:schemeClr val="dk1"/>
              </a:solidFill>
              <a:latin typeface="Calibri"/>
              <a:ea typeface="Calibri"/>
              <a:cs typeface="Calibri"/>
              <a:sym typeface="Calibri"/>
            </a:endParaRPr>
          </a:p>
        </p:txBody>
      </p:sp>
      <p:sp>
        <p:nvSpPr>
          <p:cNvPr id="538" name="Google Shape;538;p34"/>
          <p:cNvSpPr txBox="1"/>
          <p:nvPr/>
        </p:nvSpPr>
        <p:spPr>
          <a:xfrm>
            <a:off x="548640" y="3264408"/>
            <a:ext cx="170307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Hasn't accepted the Platform Access Agreement</a:t>
            </a:r>
            <a:endParaRPr b="0" i="0" sz="950" u="none" cap="none" strike="noStrike">
              <a:solidFill>
                <a:schemeClr val="dk1"/>
              </a:solidFill>
              <a:latin typeface="Calibri"/>
              <a:ea typeface="Calibri"/>
              <a:cs typeface="Calibri"/>
              <a:sym typeface="Calibri"/>
            </a:endParaRPr>
          </a:p>
        </p:txBody>
      </p:sp>
      <p:sp>
        <p:nvSpPr>
          <p:cNvPr id="539" name="Google Shape;539;p34"/>
          <p:cNvSpPr/>
          <p:nvPr/>
        </p:nvSpPr>
        <p:spPr>
          <a:xfrm>
            <a:off x="2526030" y="2697480"/>
            <a:ext cx="197739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34"/>
          <p:cNvSpPr/>
          <p:nvPr/>
        </p:nvSpPr>
        <p:spPr>
          <a:xfrm>
            <a:off x="2663190" y="2862072"/>
            <a:ext cx="1703070" cy="292608"/>
          </a:xfrm>
          <a:prstGeom prst="roundRect">
            <a:avLst>
              <a:gd fmla="val 25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34"/>
          <p:cNvSpPr txBox="1"/>
          <p:nvPr/>
        </p:nvSpPr>
        <p:spPr>
          <a:xfrm>
            <a:off x="2663190" y="2862072"/>
            <a:ext cx="170307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50"/>
              <a:buFont typeface="Play"/>
              <a:buNone/>
            </a:pPr>
            <a:r>
              <a:rPr b="1" i="0" lang="en" sz="950" u="none" cap="none" strike="noStrike">
                <a:solidFill>
                  <a:srgbClr val="0B7A6F"/>
                </a:solidFill>
                <a:latin typeface="Play"/>
                <a:ea typeface="Play"/>
                <a:cs typeface="Play"/>
                <a:sym typeface="Play"/>
              </a:rPr>
              <a:t>cphowitworks</a:t>
            </a:r>
            <a:endParaRPr b="0" i="0" sz="950" u="none" cap="none" strike="noStrike">
              <a:solidFill>
                <a:schemeClr val="dk1"/>
              </a:solidFill>
              <a:latin typeface="Calibri"/>
              <a:ea typeface="Calibri"/>
              <a:cs typeface="Calibri"/>
              <a:sym typeface="Calibri"/>
            </a:endParaRPr>
          </a:p>
        </p:txBody>
      </p:sp>
      <p:sp>
        <p:nvSpPr>
          <p:cNvPr id="542" name="Google Shape;542;p34"/>
          <p:cNvSpPr txBox="1"/>
          <p:nvPr/>
        </p:nvSpPr>
        <p:spPr>
          <a:xfrm>
            <a:off x="2663190" y="3264408"/>
            <a:ext cx="170307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Quiz not done, inactive 30+ days, or no photo</a:t>
            </a:r>
            <a:endParaRPr b="0" i="0" sz="950" u="none" cap="none" strike="noStrike">
              <a:solidFill>
                <a:schemeClr val="dk1"/>
              </a:solidFill>
              <a:latin typeface="Calibri"/>
              <a:ea typeface="Calibri"/>
              <a:cs typeface="Calibri"/>
              <a:sym typeface="Calibri"/>
            </a:endParaRPr>
          </a:p>
        </p:txBody>
      </p:sp>
      <p:sp>
        <p:nvSpPr>
          <p:cNvPr id="543" name="Google Shape;543;p34"/>
          <p:cNvSpPr/>
          <p:nvPr/>
        </p:nvSpPr>
        <p:spPr>
          <a:xfrm>
            <a:off x="4640580" y="2697480"/>
            <a:ext cx="197739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34"/>
          <p:cNvSpPr/>
          <p:nvPr/>
        </p:nvSpPr>
        <p:spPr>
          <a:xfrm>
            <a:off x="4777740" y="2862072"/>
            <a:ext cx="1703070" cy="292608"/>
          </a:xfrm>
          <a:prstGeom prst="roundRect">
            <a:avLst>
              <a:gd fmla="val 25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34"/>
          <p:cNvSpPr txBox="1"/>
          <p:nvPr/>
        </p:nvSpPr>
        <p:spPr>
          <a:xfrm>
            <a:off x="4777740" y="2862072"/>
            <a:ext cx="1703070"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50"/>
              <a:buFont typeface="Play"/>
              <a:buNone/>
            </a:pPr>
            <a:r>
              <a:rPr b="1" i="0" lang="en" sz="950" u="none" cap="none" strike="noStrike">
                <a:solidFill>
                  <a:srgbClr val="0B7A6F"/>
                </a:solidFill>
                <a:latin typeface="Play"/>
                <a:ea typeface="Play"/>
                <a:cs typeface="Play"/>
                <a:sym typeface="Play"/>
              </a:rPr>
              <a:t>Imported</a:t>
            </a:r>
            <a:endParaRPr b="0" i="0" sz="950" u="none" cap="none" strike="noStrike">
              <a:solidFill>
                <a:schemeClr val="dk1"/>
              </a:solidFill>
              <a:latin typeface="Calibri"/>
              <a:ea typeface="Calibri"/>
              <a:cs typeface="Calibri"/>
              <a:sym typeface="Calibri"/>
            </a:endParaRPr>
          </a:p>
        </p:txBody>
      </p:sp>
      <p:sp>
        <p:nvSpPr>
          <p:cNvPr id="546" name="Google Shape;546;p34"/>
          <p:cNvSpPr txBox="1"/>
          <p:nvPr/>
        </p:nvSpPr>
        <p:spPr>
          <a:xfrm>
            <a:off x="4777740" y="3264408"/>
            <a:ext cx="170307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Former Homejoy cleaner, info imported</a:t>
            </a:r>
            <a:endParaRPr b="0" i="0" sz="950" u="none" cap="none" strike="noStrike">
              <a:solidFill>
                <a:schemeClr val="dk1"/>
              </a:solidFill>
              <a:latin typeface="Calibri"/>
              <a:ea typeface="Calibri"/>
              <a:cs typeface="Calibri"/>
              <a:sym typeface="Calibri"/>
            </a:endParaRPr>
          </a:p>
        </p:txBody>
      </p:sp>
      <p:sp>
        <p:nvSpPr>
          <p:cNvPr id="547" name="Google Shape;547;p3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PROFILE STATUS</a:t>
            </a:r>
            <a:endParaRPr b="0" i="0" sz="800" u="none" cap="none" strike="noStrike">
              <a:solidFill>
                <a:schemeClr val="dk1"/>
              </a:solidFill>
              <a:latin typeface="Calibri"/>
              <a:ea typeface="Calibri"/>
              <a:cs typeface="Calibri"/>
              <a:sym typeface="Calibri"/>
            </a:endParaRPr>
          </a:p>
        </p:txBody>
      </p:sp>
      <p:sp>
        <p:nvSpPr>
          <p:cNvPr id="554" name="Google Shape;554;p3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the system changes automatically</a:t>
            </a:r>
            <a:endParaRPr b="0" i="0" sz="2400" u="none" cap="none" strike="noStrike">
              <a:solidFill>
                <a:schemeClr val="dk1"/>
              </a:solidFill>
              <a:latin typeface="Calibri"/>
              <a:ea typeface="Calibri"/>
              <a:cs typeface="Calibri"/>
              <a:sym typeface="Calibri"/>
            </a:endParaRPr>
          </a:p>
        </p:txBody>
      </p:sp>
      <p:graphicFrame>
        <p:nvGraphicFramePr>
          <p:cNvPr id="555" name="Google Shape;555;p35"/>
          <p:cNvGraphicFramePr/>
          <p:nvPr/>
        </p:nvGraphicFramePr>
        <p:xfrm>
          <a:off x="411480" y="1143000"/>
          <a:ext cx="3000000" cy="3000000"/>
        </p:xfrm>
        <a:graphic>
          <a:graphicData uri="http://schemas.openxmlformats.org/drawingml/2006/table">
            <a:tbl>
              <a:tblPr>
                <a:noFill/>
                <a:tableStyleId>{0D802810-0E66-425F-9816-536649EA7155}</a:tableStyleId>
              </a:tblPr>
              <a:tblGrid>
                <a:gridCol w="1920250"/>
                <a:gridCol w="2743200"/>
                <a:gridCol w="3657600"/>
              </a:tblGrid>
              <a:tr h="329175">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What</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Moves to norequests</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Moves to suspended</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Keep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80% or lower</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Below 70%  ·  probation: below 100%</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No-shows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2 in last 5 jobs  ·  probation: any</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Reviews (OCW)</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Average below 4.0</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Probation: any 1- or 2-star review</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Reschedules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Based on various calculations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Refund requests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2 in last 10 jobs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New cleaner: 2</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Supplies / profile photo</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Rejected</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Rejected 3 or more times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Background check</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Info matches another CP</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Matches a fraud-flagged CP, or not clear</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Other</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Rescheduled a job to before the account existed</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556" name="Google Shape;556;p35"/>
          <p:cNvSpPr/>
          <p:nvPr/>
        </p:nvSpPr>
        <p:spPr>
          <a:xfrm>
            <a:off x="411480" y="42062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7" name="Google Shape;557;p35"/>
          <p:cNvPicPr preferRelativeResize="0"/>
          <p:nvPr/>
        </p:nvPicPr>
        <p:blipFill rotWithShape="1">
          <a:blip r:embed="rId3">
            <a:alphaModFix/>
          </a:blip>
          <a:srcRect b="0" l="0" r="0" t="0"/>
          <a:stretch/>
        </p:blipFill>
        <p:spPr>
          <a:xfrm>
            <a:off x="566928" y="4315968"/>
            <a:ext cx="164592" cy="164592"/>
          </a:xfrm>
          <a:prstGeom prst="rect">
            <a:avLst/>
          </a:prstGeom>
          <a:noFill/>
          <a:ln>
            <a:noFill/>
          </a:ln>
        </p:spPr>
      </p:pic>
      <p:sp>
        <p:nvSpPr>
          <p:cNvPr id="558" name="Google Shape;558;p35"/>
          <p:cNvSpPr txBox="1"/>
          <p:nvPr/>
        </p:nvSpPr>
        <p:spPr>
          <a:xfrm>
            <a:off x="822960" y="43068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Probation:  </a:t>
            </a:r>
            <a:r>
              <a:rPr b="0" i="0" lang="en" sz="1000" u="none" cap="none" strike="noStrike">
                <a:solidFill>
                  <a:srgbClr val="1D1D1F"/>
                </a:solidFill>
                <a:latin typeface="Arial"/>
                <a:ea typeface="Arial"/>
                <a:cs typeface="Arial"/>
                <a:sym typeface="Arial"/>
              </a:rPr>
              <a:t>new cleaners (0–2 invoiced jobs since activation) face stricter thresholds.</a:t>
            </a:r>
            <a:endParaRPr b="0" i="0" sz="1000" u="none" cap="none" strike="noStrike">
              <a:solidFill>
                <a:schemeClr val="dk1"/>
              </a:solidFill>
              <a:latin typeface="Calibri"/>
              <a:ea typeface="Calibri"/>
              <a:cs typeface="Calibri"/>
              <a:sym typeface="Calibri"/>
            </a:endParaRPr>
          </a:p>
        </p:txBody>
      </p:sp>
      <p:sp>
        <p:nvSpPr>
          <p:cNvPr id="559" name="Google Shape;559;p3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PROFILE STATUS</a:t>
            </a:r>
            <a:endParaRPr b="0" i="0" sz="800" u="none" cap="none" strike="noStrike">
              <a:solidFill>
                <a:schemeClr val="dk1"/>
              </a:solidFill>
              <a:latin typeface="Calibri"/>
              <a:ea typeface="Calibri"/>
              <a:cs typeface="Calibri"/>
              <a:sym typeface="Calibri"/>
            </a:endParaRPr>
          </a:p>
        </p:txBody>
      </p:sp>
      <p:sp>
        <p:nvSpPr>
          <p:cNvPr id="566" name="Google Shape;566;p3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Check the numbers</a:t>
            </a:r>
            <a:endParaRPr b="0" i="0" sz="2400" u="none" cap="none" strike="noStrike">
              <a:solidFill>
                <a:schemeClr val="dk1"/>
              </a:solidFill>
              <a:latin typeface="Calibri"/>
              <a:ea typeface="Calibri"/>
              <a:cs typeface="Calibri"/>
              <a:sym typeface="Calibri"/>
            </a:endParaRPr>
          </a:p>
        </p:txBody>
      </p:sp>
      <p:sp>
        <p:nvSpPr>
          <p:cNvPr id="567" name="Google Shape;567;p3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CP's CRM page shows their status and how they compare to the limits.</a:t>
            </a:r>
            <a:endParaRPr b="0" i="0" sz="1200" u="none" cap="none" strike="noStrike">
              <a:solidFill>
                <a:schemeClr val="dk1"/>
              </a:solidFill>
              <a:latin typeface="Calibri"/>
              <a:ea typeface="Calibri"/>
              <a:cs typeface="Calibri"/>
              <a:sym typeface="Calibri"/>
            </a:endParaRPr>
          </a:p>
        </p:txBody>
      </p:sp>
      <p:sp>
        <p:nvSpPr>
          <p:cNvPr id="568" name="Google Shape;568;p36"/>
          <p:cNvSpPr/>
          <p:nvPr/>
        </p:nvSpPr>
        <p:spPr>
          <a:xfrm>
            <a:off x="411480" y="1280160"/>
            <a:ext cx="5120640" cy="2560320"/>
          </a:xfrm>
          <a:prstGeom prst="roundRect">
            <a:avLst>
              <a:gd fmla="val 285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cp_reliability.png" id="569" name="Google Shape;569;p36"/>
          <p:cNvPicPr preferRelativeResize="0"/>
          <p:nvPr/>
        </p:nvPicPr>
        <p:blipFill rotWithShape="1">
          <a:blip r:embed="rId3">
            <a:alphaModFix/>
          </a:blip>
          <a:srcRect b="0" l="0" r="0" t="0"/>
          <a:stretch/>
        </p:blipFill>
        <p:spPr>
          <a:xfrm>
            <a:off x="484632" y="1430371"/>
            <a:ext cx="4974336" cy="2259898"/>
          </a:xfrm>
          <a:prstGeom prst="rect">
            <a:avLst/>
          </a:prstGeom>
          <a:noFill/>
          <a:ln>
            <a:noFill/>
          </a:ln>
        </p:spPr>
      </p:pic>
      <p:sp>
        <p:nvSpPr>
          <p:cNvPr id="570" name="Google Shape;570;p36"/>
          <p:cNvSpPr/>
          <p:nvPr/>
        </p:nvSpPr>
        <p:spPr>
          <a:xfrm>
            <a:off x="651083" y="2038559"/>
            <a:ext cx="256079" cy="108834"/>
          </a:xfrm>
          <a:prstGeom prst="roundRect">
            <a:avLst>
              <a:gd fmla="val 25205"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36"/>
          <p:cNvSpPr/>
          <p:nvPr/>
        </p:nvSpPr>
        <p:spPr>
          <a:xfrm>
            <a:off x="550499" y="1937975"/>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36"/>
          <p:cNvSpPr txBox="1"/>
          <p:nvPr/>
        </p:nvSpPr>
        <p:spPr>
          <a:xfrm>
            <a:off x="550499" y="1937975"/>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573" name="Google Shape;573;p36"/>
          <p:cNvSpPr/>
          <p:nvPr/>
        </p:nvSpPr>
        <p:spPr>
          <a:xfrm>
            <a:off x="651083" y="2294638"/>
            <a:ext cx="2215084" cy="544168"/>
          </a:xfrm>
          <a:prstGeom prst="roundRect">
            <a:avLst>
              <a:gd fmla="val 5041"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36"/>
          <p:cNvSpPr/>
          <p:nvPr/>
        </p:nvSpPr>
        <p:spPr>
          <a:xfrm>
            <a:off x="550499" y="2194054"/>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36"/>
          <p:cNvSpPr txBox="1"/>
          <p:nvPr/>
        </p:nvSpPr>
        <p:spPr>
          <a:xfrm>
            <a:off x="550499" y="2194054"/>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2</a:t>
            </a:r>
            <a:endParaRPr b="0" i="0" sz="800" u="none" cap="none" strike="noStrike">
              <a:solidFill>
                <a:schemeClr val="dk1"/>
              </a:solidFill>
              <a:latin typeface="Calibri"/>
              <a:ea typeface="Calibri"/>
              <a:cs typeface="Calibri"/>
              <a:sym typeface="Calibri"/>
            </a:endParaRPr>
          </a:p>
        </p:txBody>
      </p:sp>
      <p:sp>
        <p:nvSpPr>
          <p:cNvPr id="576" name="Google Shape;576;p36"/>
          <p:cNvSpPr/>
          <p:nvPr/>
        </p:nvSpPr>
        <p:spPr>
          <a:xfrm>
            <a:off x="3026217" y="2153794"/>
            <a:ext cx="2202280" cy="1049924"/>
          </a:xfrm>
          <a:prstGeom prst="roundRect">
            <a:avLst>
              <a:gd fmla="val 2613"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36"/>
          <p:cNvSpPr/>
          <p:nvPr/>
        </p:nvSpPr>
        <p:spPr>
          <a:xfrm>
            <a:off x="2925633" y="2053210"/>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36"/>
          <p:cNvSpPr txBox="1"/>
          <p:nvPr/>
        </p:nvSpPr>
        <p:spPr>
          <a:xfrm>
            <a:off x="2925633" y="2053210"/>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3</a:t>
            </a:r>
            <a:endParaRPr b="0" i="0" sz="800" u="none" cap="none" strike="noStrike">
              <a:solidFill>
                <a:schemeClr val="dk1"/>
              </a:solidFill>
              <a:latin typeface="Calibri"/>
              <a:ea typeface="Calibri"/>
              <a:cs typeface="Calibri"/>
              <a:sym typeface="Calibri"/>
            </a:endParaRPr>
          </a:p>
        </p:txBody>
      </p:sp>
      <p:sp>
        <p:nvSpPr>
          <p:cNvPr id="579" name="Google Shape;579;p36"/>
          <p:cNvSpPr/>
          <p:nvPr/>
        </p:nvSpPr>
        <p:spPr>
          <a:xfrm>
            <a:off x="5669280" y="1280160"/>
            <a:ext cx="306324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36"/>
          <p:cNvSpPr/>
          <p:nvPr/>
        </p:nvSpPr>
        <p:spPr>
          <a:xfrm>
            <a:off x="5797296" y="149504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36"/>
          <p:cNvSpPr txBox="1"/>
          <p:nvPr/>
        </p:nvSpPr>
        <p:spPr>
          <a:xfrm>
            <a:off x="5797296" y="149504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582" name="Google Shape;582;p36"/>
          <p:cNvSpPr txBox="1"/>
          <p:nvPr/>
        </p:nvSpPr>
        <p:spPr>
          <a:xfrm>
            <a:off x="6172200" y="1325880"/>
            <a:ext cx="24688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Status and rate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The current status, e.g. active</a:t>
            </a:r>
            <a:endParaRPr b="0" i="0" sz="1050" u="none" cap="none" strike="noStrike">
              <a:solidFill>
                <a:schemeClr val="dk1"/>
              </a:solidFill>
              <a:latin typeface="Calibri"/>
              <a:ea typeface="Calibri"/>
              <a:cs typeface="Calibri"/>
              <a:sym typeface="Calibri"/>
            </a:endParaRPr>
          </a:p>
        </p:txBody>
      </p:sp>
      <p:sp>
        <p:nvSpPr>
          <p:cNvPr id="583" name="Google Shape;583;p36"/>
          <p:cNvSpPr/>
          <p:nvPr/>
        </p:nvSpPr>
        <p:spPr>
          <a:xfrm>
            <a:off x="5669280" y="2057400"/>
            <a:ext cx="306324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36"/>
          <p:cNvSpPr/>
          <p:nvPr/>
        </p:nvSpPr>
        <p:spPr>
          <a:xfrm>
            <a:off x="5797296" y="227228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36"/>
          <p:cNvSpPr txBox="1"/>
          <p:nvPr/>
        </p:nvSpPr>
        <p:spPr>
          <a:xfrm>
            <a:off x="5797296" y="227228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586" name="Google Shape;586;p36"/>
          <p:cNvSpPr txBox="1"/>
          <p:nvPr/>
        </p:nvSpPr>
        <p:spPr>
          <a:xfrm>
            <a:off x="6172200" y="2103120"/>
            <a:ext cx="24688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Lifetime issues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Damage, theft, false invoices, overcharged hours</a:t>
            </a:r>
            <a:endParaRPr b="0" i="0" sz="1050" u="none" cap="none" strike="noStrike">
              <a:solidFill>
                <a:schemeClr val="dk1"/>
              </a:solidFill>
              <a:latin typeface="Calibri"/>
              <a:ea typeface="Calibri"/>
              <a:cs typeface="Calibri"/>
              <a:sym typeface="Calibri"/>
            </a:endParaRPr>
          </a:p>
        </p:txBody>
      </p:sp>
      <p:sp>
        <p:nvSpPr>
          <p:cNvPr id="587" name="Google Shape;587;p36"/>
          <p:cNvSpPr/>
          <p:nvPr/>
        </p:nvSpPr>
        <p:spPr>
          <a:xfrm>
            <a:off x="5669280" y="2834640"/>
            <a:ext cx="3063240" cy="685800"/>
          </a:xfrm>
          <a:prstGeom prst="roundRect">
            <a:avLst>
              <a:gd fmla="val 10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36"/>
          <p:cNvSpPr/>
          <p:nvPr/>
        </p:nvSpPr>
        <p:spPr>
          <a:xfrm>
            <a:off x="5797296" y="30495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36"/>
          <p:cNvSpPr txBox="1"/>
          <p:nvPr/>
        </p:nvSpPr>
        <p:spPr>
          <a:xfrm>
            <a:off x="5797296" y="30495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590" name="Google Shape;590;p36"/>
          <p:cNvSpPr txBox="1"/>
          <p:nvPr/>
        </p:nvSpPr>
        <p:spPr>
          <a:xfrm>
            <a:off x="6172200" y="2880360"/>
            <a:ext cx="246888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Limit vs Actual</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Last 60 days: issues out of invoiced jobs</a:t>
            </a:r>
            <a:endParaRPr b="0" i="0" sz="1050" u="none" cap="none" strike="noStrike">
              <a:solidFill>
                <a:schemeClr val="dk1"/>
              </a:solidFill>
              <a:latin typeface="Calibri"/>
              <a:ea typeface="Calibri"/>
              <a:cs typeface="Calibri"/>
              <a:sym typeface="Calibri"/>
            </a:endParaRPr>
          </a:p>
        </p:txBody>
      </p:sp>
      <p:sp>
        <p:nvSpPr>
          <p:cNvPr id="591" name="Google Shape;591;p3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PROFILE STATUS</a:t>
            </a:r>
            <a:endParaRPr b="0" i="0" sz="800" u="none" cap="none" strike="noStrike">
              <a:solidFill>
                <a:schemeClr val="dk1"/>
              </a:solidFill>
              <a:latin typeface="Calibri"/>
              <a:ea typeface="Calibri"/>
              <a:cs typeface="Calibri"/>
              <a:sym typeface="Calibri"/>
            </a:endParaRPr>
          </a:p>
        </p:txBody>
      </p:sp>
      <p:sp>
        <p:nvSpPr>
          <p:cNvPr id="598" name="Google Shape;598;p3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Before you change a status</a:t>
            </a:r>
            <a:endParaRPr b="0" i="0" sz="2400" u="none" cap="none" strike="noStrike">
              <a:solidFill>
                <a:schemeClr val="dk1"/>
              </a:solidFill>
              <a:latin typeface="Calibri"/>
              <a:ea typeface="Calibri"/>
              <a:cs typeface="Calibri"/>
              <a:sym typeface="Calibri"/>
            </a:endParaRPr>
          </a:p>
        </p:txBody>
      </p:sp>
      <p:sp>
        <p:nvSpPr>
          <p:cNvPr id="599" name="Google Shape;599;p37"/>
          <p:cNvSpPr/>
          <p:nvPr/>
        </p:nvSpPr>
        <p:spPr>
          <a:xfrm>
            <a:off x="411480" y="1188720"/>
            <a:ext cx="8321040" cy="1234440"/>
          </a:xfrm>
          <a:prstGeom prst="roundRect">
            <a:avLst>
              <a:gd fmla="val 5926"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37"/>
          <p:cNvSpPr txBox="1"/>
          <p:nvPr/>
        </p:nvSpPr>
        <p:spPr>
          <a:xfrm>
            <a:off x="685800" y="1371600"/>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ASK YOURSELF</a:t>
            </a:r>
            <a:endParaRPr b="0" i="0" sz="800" u="none" cap="none" strike="noStrike">
              <a:solidFill>
                <a:schemeClr val="dk1"/>
              </a:solidFill>
              <a:latin typeface="Calibri"/>
              <a:ea typeface="Calibri"/>
              <a:cs typeface="Calibri"/>
              <a:sym typeface="Calibri"/>
            </a:endParaRPr>
          </a:p>
        </p:txBody>
      </p:sp>
      <p:sp>
        <p:nvSpPr>
          <p:cNvPr id="601" name="Google Shape;601;p37"/>
          <p:cNvSpPr txBox="1"/>
          <p:nvPr/>
        </p:nvSpPr>
        <p:spPr>
          <a:xfrm>
            <a:off x="685800" y="1600200"/>
            <a:ext cx="77724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700"/>
              <a:buFont typeface="Play"/>
              <a:buNone/>
            </a:pPr>
            <a:r>
              <a:rPr b="1" i="0" lang="en" sz="1700" u="none" cap="none" strike="noStrike">
                <a:solidFill>
                  <a:srgbClr val="1D1D1F"/>
                </a:solidFill>
                <a:latin typeface="Play"/>
                <a:ea typeface="Play"/>
                <a:cs typeface="Play"/>
                <a:sym typeface="Play"/>
              </a:rPr>
              <a:t>"If I were the customer, would I want this cleaner for my cleaning?"</a:t>
            </a:r>
            <a:endParaRPr b="0" i="0" sz="1700" u="none" cap="none" strike="noStrike">
              <a:solidFill>
                <a:schemeClr val="dk1"/>
              </a:solidFill>
              <a:latin typeface="Calibri"/>
              <a:ea typeface="Calibri"/>
              <a:cs typeface="Calibri"/>
              <a:sym typeface="Calibri"/>
            </a:endParaRPr>
          </a:p>
        </p:txBody>
      </p:sp>
      <p:sp>
        <p:nvSpPr>
          <p:cNvPr id="602" name="Google Shape;602;p37"/>
          <p:cNvSpPr/>
          <p:nvPr/>
        </p:nvSpPr>
        <p:spPr>
          <a:xfrm>
            <a:off x="411480" y="2606040"/>
            <a:ext cx="409194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37"/>
          <p:cNvSpPr/>
          <p:nvPr/>
        </p:nvSpPr>
        <p:spPr>
          <a:xfrm>
            <a:off x="576072" y="277063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04" name="Google Shape;604;p37"/>
          <p:cNvPicPr preferRelativeResize="0"/>
          <p:nvPr/>
        </p:nvPicPr>
        <p:blipFill rotWithShape="1">
          <a:blip r:embed="rId3">
            <a:alphaModFix/>
          </a:blip>
          <a:srcRect b="0" l="0" r="0" t="0"/>
          <a:stretch/>
        </p:blipFill>
        <p:spPr>
          <a:xfrm>
            <a:off x="655076" y="2849636"/>
            <a:ext cx="171176" cy="171176"/>
          </a:xfrm>
          <a:prstGeom prst="rect">
            <a:avLst/>
          </a:prstGeom>
          <a:noFill/>
          <a:ln>
            <a:noFill/>
          </a:ln>
        </p:spPr>
      </p:pic>
      <p:sp>
        <p:nvSpPr>
          <p:cNvPr id="605" name="Google Shape;605;p37"/>
          <p:cNvSpPr txBox="1"/>
          <p:nvPr/>
        </p:nvSpPr>
        <p:spPr>
          <a:xfrm>
            <a:off x="576072" y="320954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Check the history first</a:t>
            </a:r>
            <a:endParaRPr b="0" i="0" sz="1200" u="none" cap="none" strike="noStrike">
              <a:solidFill>
                <a:schemeClr val="dk1"/>
              </a:solidFill>
              <a:latin typeface="Calibri"/>
              <a:ea typeface="Calibri"/>
              <a:cs typeface="Calibri"/>
              <a:sym typeface="Calibri"/>
            </a:endParaRPr>
          </a:p>
        </p:txBody>
      </p:sp>
      <p:sp>
        <p:nvSpPr>
          <p:cNvPr id="606" name="Google Shape;606;p37"/>
          <p:cNvSpPr txBox="1"/>
          <p:nvPr/>
        </p:nvSpPr>
        <p:spPr>
          <a:xfrm>
            <a:off x="576072" y="3502152"/>
            <a:ext cx="376275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Never change a status without checking the reason or flag history.</a:t>
            </a:r>
            <a:endParaRPr b="0" i="0" sz="950" u="none" cap="none" strike="noStrike">
              <a:solidFill>
                <a:schemeClr val="dk1"/>
              </a:solidFill>
              <a:latin typeface="Calibri"/>
              <a:ea typeface="Calibri"/>
              <a:cs typeface="Calibri"/>
              <a:sym typeface="Calibri"/>
            </a:endParaRPr>
          </a:p>
        </p:txBody>
      </p:sp>
      <p:sp>
        <p:nvSpPr>
          <p:cNvPr id="607" name="Google Shape;607;p37"/>
          <p:cNvSpPr/>
          <p:nvPr/>
        </p:nvSpPr>
        <p:spPr>
          <a:xfrm>
            <a:off x="4640580" y="2606040"/>
            <a:ext cx="409194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37"/>
          <p:cNvSpPr/>
          <p:nvPr/>
        </p:nvSpPr>
        <p:spPr>
          <a:xfrm>
            <a:off x="4805172" y="277063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09" name="Google Shape;609;p37"/>
          <p:cNvPicPr preferRelativeResize="0"/>
          <p:nvPr/>
        </p:nvPicPr>
        <p:blipFill rotWithShape="1">
          <a:blip r:embed="rId4">
            <a:alphaModFix/>
          </a:blip>
          <a:srcRect b="0" l="0" r="0" t="0"/>
          <a:stretch/>
        </p:blipFill>
        <p:spPr>
          <a:xfrm>
            <a:off x="4884176" y="2849636"/>
            <a:ext cx="171176" cy="171176"/>
          </a:xfrm>
          <a:prstGeom prst="rect">
            <a:avLst/>
          </a:prstGeom>
          <a:noFill/>
          <a:ln>
            <a:noFill/>
          </a:ln>
        </p:spPr>
      </p:pic>
      <p:sp>
        <p:nvSpPr>
          <p:cNvPr id="610" name="Google Shape;610;p37"/>
          <p:cNvSpPr txBox="1"/>
          <p:nvPr/>
        </p:nvSpPr>
        <p:spPr>
          <a:xfrm>
            <a:off x="4805172" y="320954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First jobs matter</a:t>
            </a:r>
            <a:endParaRPr b="0" i="0" sz="1200" u="none" cap="none" strike="noStrike">
              <a:solidFill>
                <a:schemeClr val="dk1"/>
              </a:solidFill>
              <a:latin typeface="Calibri"/>
              <a:ea typeface="Calibri"/>
              <a:cs typeface="Calibri"/>
              <a:sym typeface="Calibri"/>
            </a:endParaRPr>
          </a:p>
        </p:txBody>
      </p:sp>
      <p:sp>
        <p:nvSpPr>
          <p:cNvPr id="611" name="Google Shape;611;p37"/>
          <p:cNvSpPr txBox="1"/>
          <p:nvPr/>
        </p:nvSpPr>
        <p:spPr>
          <a:xfrm>
            <a:off x="4805172" y="3502152"/>
            <a:ext cx="376275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 new customer with a bad first job is 50% less likely to stay.</a:t>
            </a:r>
            <a:endParaRPr b="0" i="0" sz="950" u="none" cap="none" strike="noStrike">
              <a:solidFill>
                <a:schemeClr val="dk1"/>
              </a:solidFill>
              <a:latin typeface="Calibri"/>
              <a:ea typeface="Calibri"/>
              <a:cs typeface="Calibri"/>
              <a:sym typeface="Calibri"/>
            </a:endParaRPr>
          </a:p>
        </p:txBody>
      </p:sp>
      <p:sp>
        <p:nvSpPr>
          <p:cNvPr id="612" name="Google Shape;612;p3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38"/>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619" name="Google Shape;619;p38"/>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620" name="Google Shape;620;p38"/>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621" name="Google Shape;621;p38"/>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38"/>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9.png" id="623" name="Google Shape;623;p38"/>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624" name="Google Shape;624;p38"/>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38"/>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38"/>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38"/>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38"/>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38"/>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38"/>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39"/>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05 OF 11</a:t>
            </a:r>
            <a:endParaRPr b="0" i="0" sz="800" u="none" cap="none" strike="noStrike">
              <a:solidFill>
                <a:schemeClr val="dk1"/>
              </a:solidFill>
              <a:latin typeface="Calibri"/>
              <a:ea typeface="Calibri"/>
              <a:cs typeface="Calibri"/>
              <a:sym typeface="Calibri"/>
            </a:endParaRPr>
          </a:p>
        </p:txBody>
      </p:sp>
      <p:sp>
        <p:nvSpPr>
          <p:cNvPr id="637" name="Google Shape;637;p39"/>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CP-Facing Deactivation Reasons</a:t>
            </a:r>
            <a:endParaRPr b="0" i="0" sz="2800" u="none" cap="none" strike="noStrike">
              <a:solidFill>
                <a:schemeClr val="dk1"/>
              </a:solidFill>
              <a:latin typeface="Calibri"/>
              <a:ea typeface="Calibri"/>
              <a:cs typeface="Calibri"/>
              <a:sym typeface="Calibri"/>
            </a:endParaRPr>
          </a:p>
        </p:txBody>
      </p:sp>
      <p:sp>
        <p:nvSpPr>
          <p:cNvPr id="638" name="Google Shape;638;p39"/>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The exact message a cleaner sees when they are set to norequests or suspended.</a:t>
            </a:r>
            <a:endParaRPr b="0" i="0" sz="1150" u="none" cap="none" strike="noStrike">
              <a:solidFill>
                <a:schemeClr val="dk1"/>
              </a:solidFill>
              <a:latin typeface="Calibri"/>
              <a:ea typeface="Calibri"/>
              <a:cs typeface="Calibri"/>
              <a:sym typeface="Calibri"/>
            </a:endParaRPr>
          </a:p>
        </p:txBody>
      </p:sp>
      <p:sp>
        <p:nvSpPr>
          <p:cNvPr id="639" name="Google Shape;639;p39"/>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640" name="Google Shape;640;p39"/>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1" name="Google Shape;641;p39"/>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642" name="Google Shape;642;p39"/>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Who reads the reason</a:t>
            </a:r>
            <a:endParaRPr b="0" i="0" sz="1050" u="none" cap="none" strike="noStrike">
              <a:solidFill>
                <a:schemeClr val="dk1"/>
              </a:solidFill>
              <a:latin typeface="Calibri"/>
              <a:ea typeface="Calibri"/>
              <a:cs typeface="Calibri"/>
              <a:sym typeface="Calibri"/>
            </a:endParaRPr>
          </a:p>
        </p:txBody>
      </p:sp>
      <p:sp>
        <p:nvSpPr>
          <p:cNvPr id="643" name="Google Shape;643;p39"/>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4" name="Google Shape;644;p39"/>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645" name="Google Shape;645;p39"/>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Job-related reason codes</a:t>
            </a:r>
            <a:endParaRPr b="0" i="0" sz="1050" u="none" cap="none" strike="noStrike">
              <a:solidFill>
                <a:schemeClr val="dk1"/>
              </a:solidFill>
              <a:latin typeface="Calibri"/>
              <a:ea typeface="Calibri"/>
              <a:cs typeface="Calibri"/>
              <a:sym typeface="Calibri"/>
            </a:endParaRPr>
          </a:p>
        </p:txBody>
      </p:sp>
      <p:sp>
        <p:nvSpPr>
          <p:cNvPr id="646" name="Google Shape;646;p39"/>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7" name="Google Shape;647;p39"/>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648" name="Google Shape;648;p39"/>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Account and conduct codes</a:t>
            </a:r>
            <a:endParaRPr b="0" i="0" sz="1050" u="none" cap="none" strike="noStrike">
              <a:solidFill>
                <a:schemeClr val="dk1"/>
              </a:solidFill>
              <a:latin typeface="Calibri"/>
              <a:ea typeface="Calibri"/>
              <a:cs typeface="Calibri"/>
              <a:sym typeface="Calibri"/>
            </a:endParaRPr>
          </a:p>
        </p:txBody>
      </p:sp>
      <p:sp>
        <p:nvSpPr>
          <p:cNvPr id="649" name="Google Shape;649;p39"/>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3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14.png" id="651" name="Google Shape;651;p39"/>
          <p:cNvPicPr preferRelativeResize="0"/>
          <p:nvPr/>
        </p:nvPicPr>
        <p:blipFill rotWithShape="1">
          <a:blip r:embed="rId4">
            <a:alphaModFix/>
          </a:blip>
          <a:srcRect b="0" l="0" r="0" t="0"/>
          <a:stretch/>
        </p:blipFill>
        <p:spPr>
          <a:xfrm>
            <a:off x="5541264" y="1519076"/>
            <a:ext cx="2926080" cy="2100775"/>
          </a:xfrm>
          <a:prstGeom prst="rect">
            <a:avLst/>
          </a:prstGeom>
          <a:noFill/>
          <a:ln>
            <a:noFill/>
          </a:ln>
        </p:spPr>
      </p:pic>
      <p:sp>
        <p:nvSpPr>
          <p:cNvPr id="652" name="Google Shape;652;p39"/>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39"/>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39"/>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39"/>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6" name="Google Shape;656;p39"/>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39"/>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3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4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CP-FACING DEACTIVATION</a:t>
            </a:r>
            <a:endParaRPr b="0" i="0" sz="800" u="none" cap="none" strike="noStrike">
              <a:solidFill>
                <a:schemeClr val="dk1"/>
              </a:solidFill>
              <a:latin typeface="Calibri"/>
              <a:ea typeface="Calibri"/>
              <a:cs typeface="Calibri"/>
              <a:sym typeface="Calibri"/>
            </a:endParaRPr>
          </a:p>
        </p:txBody>
      </p:sp>
      <p:sp>
        <p:nvSpPr>
          <p:cNvPr id="665" name="Google Shape;665;p4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One reason, two audiences</a:t>
            </a:r>
            <a:endParaRPr b="0" i="0" sz="2400" u="none" cap="none" strike="noStrike">
              <a:solidFill>
                <a:schemeClr val="dk1"/>
              </a:solidFill>
              <a:latin typeface="Calibri"/>
              <a:ea typeface="Calibri"/>
              <a:cs typeface="Calibri"/>
              <a:sym typeface="Calibri"/>
            </a:endParaRPr>
          </a:p>
        </p:txBody>
      </p:sp>
      <p:sp>
        <p:nvSpPr>
          <p:cNvPr id="666" name="Google Shape;666;p4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reason you enter isn't just an internal note.</a:t>
            </a:r>
            <a:endParaRPr b="0" i="0" sz="1200" u="none" cap="none" strike="noStrike">
              <a:solidFill>
                <a:schemeClr val="dk1"/>
              </a:solidFill>
              <a:latin typeface="Calibri"/>
              <a:ea typeface="Calibri"/>
              <a:cs typeface="Calibri"/>
              <a:sym typeface="Calibri"/>
            </a:endParaRPr>
          </a:p>
        </p:txBody>
      </p:sp>
      <p:sp>
        <p:nvSpPr>
          <p:cNvPr id="667" name="Google Shape;667;p40"/>
          <p:cNvSpPr/>
          <p:nvPr/>
        </p:nvSpPr>
        <p:spPr>
          <a:xfrm>
            <a:off x="411480" y="1417320"/>
            <a:ext cx="4091940" cy="1645920"/>
          </a:xfrm>
          <a:prstGeom prst="roundRect">
            <a:avLst>
              <a:gd fmla="val 444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40"/>
          <p:cNvSpPr/>
          <p:nvPr/>
        </p:nvSpPr>
        <p:spPr>
          <a:xfrm>
            <a:off x="57607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69" name="Google Shape;669;p40"/>
          <p:cNvPicPr preferRelativeResize="0"/>
          <p:nvPr/>
        </p:nvPicPr>
        <p:blipFill rotWithShape="1">
          <a:blip r:embed="rId3">
            <a:alphaModFix/>
          </a:blip>
          <a:srcRect b="0" l="0" r="0" t="0"/>
          <a:stretch/>
        </p:blipFill>
        <p:spPr>
          <a:xfrm>
            <a:off x="655076" y="1660916"/>
            <a:ext cx="171176" cy="171176"/>
          </a:xfrm>
          <a:prstGeom prst="rect">
            <a:avLst/>
          </a:prstGeom>
          <a:noFill/>
          <a:ln>
            <a:noFill/>
          </a:ln>
        </p:spPr>
      </p:pic>
      <p:sp>
        <p:nvSpPr>
          <p:cNvPr id="670" name="Google Shape;670;p40"/>
          <p:cNvSpPr txBox="1"/>
          <p:nvPr/>
        </p:nvSpPr>
        <p:spPr>
          <a:xfrm>
            <a:off x="576072" y="202082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The cleaner</a:t>
            </a:r>
            <a:endParaRPr b="0" i="0" sz="1200" u="none" cap="none" strike="noStrike">
              <a:solidFill>
                <a:schemeClr val="dk1"/>
              </a:solidFill>
              <a:latin typeface="Calibri"/>
              <a:ea typeface="Calibri"/>
              <a:cs typeface="Calibri"/>
              <a:sym typeface="Calibri"/>
            </a:endParaRPr>
          </a:p>
        </p:txBody>
      </p:sp>
      <p:sp>
        <p:nvSpPr>
          <p:cNvPr id="671" name="Google Shape;671;p40"/>
          <p:cNvSpPr txBox="1"/>
          <p:nvPr/>
        </p:nvSpPr>
        <p:spPr>
          <a:xfrm>
            <a:off x="576072" y="2313432"/>
            <a:ext cx="3762756"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Sees it on their dashboard as the reason they were deactivated.</a:t>
            </a:r>
            <a:endParaRPr b="0" i="0" sz="950" u="none" cap="none" strike="noStrike">
              <a:solidFill>
                <a:schemeClr val="dk1"/>
              </a:solidFill>
              <a:latin typeface="Calibri"/>
              <a:ea typeface="Calibri"/>
              <a:cs typeface="Calibri"/>
              <a:sym typeface="Calibri"/>
            </a:endParaRPr>
          </a:p>
        </p:txBody>
      </p:sp>
      <p:sp>
        <p:nvSpPr>
          <p:cNvPr id="672" name="Google Shape;672;p40"/>
          <p:cNvSpPr/>
          <p:nvPr/>
        </p:nvSpPr>
        <p:spPr>
          <a:xfrm>
            <a:off x="4640580" y="1417320"/>
            <a:ext cx="4091940" cy="1645920"/>
          </a:xfrm>
          <a:prstGeom prst="roundRect">
            <a:avLst>
              <a:gd fmla="val 444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40"/>
          <p:cNvSpPr/>
          <p:nvPr/>
        </p:nvSpPr>
        <p:spPr>
          <a:xfrm>
            <a:off x="480517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4" name="Google Shape;674;p40"/>
          <p:cNvPicPr preferRelativeResize="0"/>
          <p:nvPr/>
        </p:nvPicPr>
        <p:blipFill rotWithShape="1">
          <a:blip r:embed="rId4">
            <a:alphaModFix/>
          </a:blip>
          <a:srcRect b="0" l="0" r="0" t="0"/>
          <a:stretch/>
        </p:blipFill>
        <p:spPr>
          <a:xfrm>
            <a:off x="4884176" y="1660916"/>
            <a:ext cx="171176" cy="171176"/>
          </a:xfrm>
          <a:prstGeom prst="rect">
            <a:avLst/>
          </a:prstGeom>
          <a:noFill/>
          <a:ln>
            <a:noFill/>
          </a:ln>
        </p:spPr>
      </p:pic>
      <p:sp>
        <p:nvSpPr>
          <p:cNvPr id="675" name="Google Shape;675;p40"/>
          <p:cNvSpPr txBox="1"/>
          <p:nvPr/>
        </p:nvSpPr>
        <p:spPr>
          <a:xfrm>
            <a:off x="4805172" y="202082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Our data</a:t>
            </a:r>
            <a:endParaRPr b="0" i="0" sz="1200" u="none" cap="none" strike="noStrike">
              <a:solidFill>
                <a:schemeClr val="dk1"/>
              </a:solidFill>
              <a:latin typeface="Calibri"/>
              <a:ea typeface="Calibri"/>
              <a:cs typeface="Calibri"/>
              <a:sym typeface="Calibri"/>
            </a:endParaRPr>
          </a:p>
        </p:txBody>
      </p:sp>
      <p:sp>
        <p:nvSpPr>
          <p:cNvPr id="676" name="Google Shape;676;p40"/>
          <p:cNvSpPr txBox="1"/>
          <p:nvPr/>
        </p:nvSpPr>
        <p:spPr>
          <a:xfrm>
            <a:off x="4805172" y="2313432"/>
            <a:ext cx="3762756"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Stored as the flag's value, so we can track deactivation patterns.</a:t>
            </a:r>
            <a:endParaRPr b="0" i="0" sz="950" u="none" cap="none" strike="noStrike">
              <a:solidFill>
                <a:schemeClr val="dk1"/>
              </a:solidFill>
              <a:latin typeface="Calibri"/>
              <a:ea typeface="Calibri"/>
              <a:cs typeface="Calibri"/>
              <a:sym typeface="Calibri"/>
            </a:endParaRPr>
          </a:p>
        </p:txBody>
      </p:sp>
      <p:sp>
        <p:nvSpPr>
          <p:cNvPr id="677" name="Google Shape;677;p40"/>
          <p:cNvSpPr/>
          <p:nvPr/>
        </p:nvSpPr>
        <p:spPr>
          <a:xfrm>
            <a:off x="411480" y="32918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8" name="Google Shape;678;p40"/>
          <p:cNvPicPr preferRelativeResize="0"/>
          <p:nvPr/>
        </p:nvPicPr>
        <p:blipFill rotWithShape="1">
          <a:blip r:embed="rId5">
            <a:alphaModFix/>
          </a:blip>
          <a:srcRect b="0" l="0" r="0" t="0"/>
          <a:stretch/>
        </p:blipFill>
        <p:spPr>
          <a:xfrm>
            <a:off x="566928" y="3401568"/>
            <a:ext cx="164592" cy="164592"/>
          </a:xfrm>
          <a:prstGeom prst="rect">
            <a:avLst/>
          </a:prstGeom>
          <a:noFill/>
          <a:ln>
            <a:noFill/>
          </a:ln>
        </p:spPr>
      </p:pic>
      <p:sp>
        <p:nvSpPr>
          <p:cNvPr id="679" name="Google Shape;679;p40"/>
          <p:cNvSpPr txBox="1"/>
          <p:nvPr/>
        </p:nvSpPr>
        <p:spPr>
          <a:xfrm>
            <a:off x="822960" y="33924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Rule:  </a:t>
            </a:r>
            <a:r>
              <a:rPr b="0" i="0" lang="en" sz="1000" u="none" cap="none" strike="noStrike">
                <a:solidFill>
                  <a:srgbClr val="1D1D1F"/>
                </a:solidFill>
                <a:latin typeface="Arial"/>
                <a:ea typeface="Arial"/>
                <a:cs typeface="Arial"/>
                <a:sym typeface="Arial"/>
              </a:rPr>
              <a:t>always use the exact reason code format. Never write a freeform reason.</a:t>
            </a:r>
            <a:endParaRPr b="0" i="0" sz="1000" u="none" cap="none" strike="noStrike">
              <a:solidFill>
                <a:schemeClr val="dk1"/>
              </a:solidFill>
              <a:latin typeface="Calibri"/>
              <a:ea typeface="Calibri"/>
              <a:cs typeface="Calibri"/>
              <a:sym typeface="Calibri"/>
            </a:endParaRPr>
          </a:p>
        </p:txBody>
      </p:sp>
      <p:sp>
        <p:nvSpPr>
          <p:cNvPr id="680" name="Google Shape;680;p4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4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CP-FACING DEACTIVATION</a:t>
            </a:r>
            <a:endParaRPr b="0" i="0" sz="800" u="none" cap="none" strike="noStrike">
              <a:solidFill>
                <a:schemeClr val="dk1"/>
              </a:solidFill>
              <a:latin typeface="Calibri"/>
              <a:ea typeface="Calibri"/>
              <a:cs typeface="Calibri"/>
              <a:sym typeface="Calibri"/>
            </a:endParaRPr>
          </a:p>
        </p:txBody>
      </p:sp>
      <p:sp>
        <p:nvSpPr>
          <p:cNvPr id="687" name="Google Shape;687;p4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Where you enter the reason</a:t>
            </a:r>
            <a:endParaRPr b="0" i="0" sz="2400" u="none" cap="none" strike="noStrike">
              <a:solidFill>
                <a:schemeClr val="dk1"/>
              </a:solidFill>
              <a:latin typeface="Calibri"/>
              <a:ea typeface="Calibri"/>
              <a:cs typeface="Calibri"/>
              <a:sym typeface="Calibri"/>
            </a:endParaRPr>
          </a:p>
        </p:txBody>
      </p:sp>
      <p:sp>
        <p:nvSpPr>
          <p:cNvPr id="688" name="Google Shape;688;p4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Change CP step window in the Legacy CP CRM.</a:t>
            </a:r>
            <a:endParaRPr b="0" i="0" sz="1200" u="none" cap="none" strike="noStrike">
              <a:solidFill>
                <a:schemeClr val="dk1"/>
              </a:solidFill>
              <a:latin typeface="Calibri"/>
              <a:ea typeface="Calibri"/>
              <a:cs typeface="Calibri"/>
              <a:sym typeface="Calibri"/>
            </a:endParaRPr>
          </a:p>
        </p:txBody>
      </p:sp>
      <p:sp>
        <p:nvSpPr>
          <p:cNvPr id="689" name="Google Shape;689;p41"/>
          <p:cNvSpPr/>
          <p:nvPr/>
        </p:nvSpPr>
        <p:spPr>
          <a:xfrm>
            <a:off x="411480" y="1188720"/>
            <a:ext cx="2834640" cy="3520440"/>
          </a:xfrm>
          <a:prstGeom prst="roundRect">
            <a:avLst>
              <a:gd fmla="val 258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cp_stepmodal.png" id="690" name="Google Shape;690;p41"/>
          <p:cNvPicPr preferRelativeResize="0"/>
          <p:nvPr/>
        </p:nvPicPr>
        <p:blipFill rotWithShape="1">
          <a:blip r:embed="rId3">
            <a:alphaModFix/>
          </a:blip>
          <a:srcRect b="0" l="0" r="0" t="0"/>
          <a:stretch/>
        </p:blipFill>
        <p:spPr>
          <a:xfrm>
            <a:off x="499595" y="1261872"/>
            <a:ext cx="2658410" cy="3374136"/>
          </a:xfrm>
          <a:prstGeom prst="rect">
            <a:avLst/>
          </a:prstGeom>
          <a:noFill/>
          <a:ln>
            <a:noFill/>
          </a:ln>
        </p:spPr>
      </p:pic>
      <p:sp>
        <p:nvSpPr>
          <p:cNvPr id="691" name="Google Shape;691;p41"/>
          <p:cNvSpPr/>
          <p:nvPr/>
        </p:nvSpPr>
        <p:spPr>
          <a:xfrm>
            <a:off x="433093" y="1408384"/>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2" name="Google Shape;692;p41"/>
          <p:cNvSpPr txBox="1"/>
          <p:nvPr/>
        </p:nvSpPr>
        <p:spPr>
          <a:xfrm>
            <a:off x="433093" y="1408384"/>
            <a:ext cx="2013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693" name="Google Shape;693;p41"/>
          <p:cNvSpPr/>
          <p:nvPr/>
        </p:nvSpPr>
        <p:spPr>
          <a:xfrm>
            <a:off x="433093" y="1672521"/>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41"/>
          <p:cNvSpPr txBox="1"/>
          <p:nvPr/>
        </p:nvSpPr>
        <p:spPr>
          <a:xfrm>
            <a:off x="433093" y="1672521"/>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2</a:t>
            </a:r>
            <a:endParaRPr b="0" i="0" sz="800" u="none" cap="none" strike="noStrike">
              <a:solidFill>
                <a:schemeClr val="dk1"/>
              </a:solidFill>
              <a:latin typeface="Calibri"/>
              <a:ea typeface="Calibri"/>
              <a:cs typeface="Calibri"/>
              <a:sym typeface="Calibri"/>
            </a:endParaRPr>
          </a:p>
        </p:txBody>
      </p:sp>
      <p:sp>
        <p:nvSpPr>
          <p:cNvPr id="695" name="Google Shape;695;p41"/>
          <p:cNvSpPr/>
          <p:nvPr/>
        </p:nvSpPr>
        <p:spPr>
          <a:xfrm>
            <a:off x="433093" y="3197698"/>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41"/>
          <p:cNvSpPr txBox="1"/>
          <p:nvPr/>
        </p:nvSpPr>
        <p:spPr>
          <a:xfrm>
            <a:off x="433093" y="3197698"/>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3</a:t>
            </a:r>
            <a:endParaRPr b="0" i="0" sz="800" u="none" cap="none" strike="noStrike">
              <a:solidFill>
                <a:schemeClr val="dk1"/>
              </a:solidFill>
              <a:latin typeface="Calibri"/>
              <a:ea typeface="Calibri"/>
              <a:cs typeface="Calibri"/>
              <a:sym typeface="Calibri"/>
            </a:endParaRPr>
          </a:p>
        </p:txBody>
      </p:sp>
      <p:sp>
        <p:nvSpPr>
          <p:cNvPr id="697" name="Google Shape;697;p41"/>
          <p:cNvSpPr/>
          <p:nvPr/>
        </p:nvSpPr>
        <p:spPr>
          <a:xfrm>
            <a:off x="3429000" y="1188720"/>
            <a:ext cx="530352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41"/>
          <p:cNvSpPr/>
          <p:nvPr/>
        </p:nvSpPr>
        <p:spPr>
          <a:xfrm>
            <a:off x="3557016" y="142646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41"/>
          <p:cNvSpPr txBox="1"/>
          <p:nvPr/>
        </p:nvSpPr>
        <p:spPr>
          <a:xfrm>
            <a:off x="3557016" y="142646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700" name="Google Shape;700;p41"/>
          <p:cNvSpPr txBox="1"/>
          <p:nvPr/>
        </p:nvSpPr>
        <p:spPr>
          <a:xfrm>
            <a:off x="3931920" y="1234440"/>
            <a:ext cx="47091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Reason box</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Type the code and sentence the cleaner will see</a:t>
            </a:r>
            <a:endParaRPr b="0" i="0" sz="1050" u="none" cap="none" strike="noStrike">
              <a:solidFill>
                <a:schemeClr val="dk1"/>
              </a:solidFill>
              <a:latin typeface="Calibri"/>
              <a:ea typeface="Calibri"/>
              <a:cs typeface="Calibri"/>
              <a:sym typeface="Calibri"/>
            </a:endParaRPr>
          </a:p>
        </p:txBody>
      </p:sp>
      <p:sp>
        <p:nvSpPr>
          <p:cNvPr id="701" name="Google Shape;701;p41"/>
          <p:cNvSpPr/>
          <p:nvPr/>
        </p:nvSpPr>
        <p:spPr>
          <a:xfrm>
            <a:off x="3429000" y="2011680"/>
            <a:ext cx="530352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41"/>
          <p:cNvSpPr/>
          <p:nvPr/>
        </p:nvSpPr>
        <p:spPr>
          <a:xfrm>
            <a:off x="3557016" y="22494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p41"/>
          <p:cNvSpPr txBox="1"/>
          <p:nvPr/>
        </p:nvSpPr>
        <p:spPr>
          <a:xfrm>
            <a:off x="3557016" y="22494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704" name="Google Shape;704;p41"/>
          <p:cNvSpPr txBox="1"/>
          <p:nvPr/>
        </p:nvSpPr>
        <p:spPr>
          <a:xfrm>
            <a:off x="3931920" y="2057400"/>
            <a:ext cx="47091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Reference tables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Templated wording and codes by situation</a:t>
            </a:r>
            <a:endParaRPr b="0" i="0" sz="1050" u="none" cap="none" strike="noStrike">
              <a:solidFill>
                <a:schemeClr val="dk1"/>
              </a:solidFill>
              <a:latin typeface="Calibri"/>
              <a:ea typeface="Calibri"/>
              <a:cs typeface="Calibri"/>
              <a:sym typeface="Calibri"/>
            </a:endParaRPr>
          </a:p>
        </p:txBody>
      </p:sp>
      <p:sp>
        <p:nvSpPr>
          <p:cNvPr id="705" name="Google Shape;705;p41"/>
          <p:cNvSpPr/>
          <p:nvPr/>
        </p:nvSpPr>
        <p:spPr>
          <a:xfrm>
            <a:off x="3429000" y="2834640"/>
            <a:ext cx="5303520" cy="731520"/>
          </a:xfrm>
          <a:prstGeom prst="roundRect">
            <a:avLst>
              <a:gd fmla="val 10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41"/>
          <p:cNvSpPr/>
          <p:nvPr/>
        </p:nvSpPr>
        <p:spPr>
          <a:xfrm>
            <a:off x="3557016" y="307238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41"/>
          <p:cNvSpPr txBox="1"/>
          <p:nvPr/>
        </p:nvSpPr>
        <p:spPr>
          <a:xfrm>
            <a:off x="3557016" y="307238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708" name="Google Shape;708;p41"/>
          <p:cNvSpPr txBox="1"/>
          <p:nvPr/>
        </p:nvSpPr>
        <p:spPr>
          <a:xfrm>
            <a:off x="3931920" y="2880360"/>
            <a:ext cx="47091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Status buttons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norequests, suspended or cp-opt-out, plus notify options</a:t>
            </a:r>
            <a:endParaRPr b="0" i="0" sz="1050" u="none" cap="none" strike="noStrike">
              <a:solidFill>
                <a:schemeClr val="dk1"/>
              </a:solidFill>
              <a:latin typeface="Calibri"/>
              <a:ea typeface="Calibri"/>
              <a:cs typeface="Calibri"/>
              <a:sym typeface="Calibri"/>
            </a:endParaRPr>
          </a:p>
        </p:txBody>
      </p:sp>
      <p:sp>
        <p:nvSpPr>
          <p:cNvPr id="709" name="Google Shape;709;p41"/>
          <p:cNvSpPr/>
          <p:nvPr/>
        </p:nvSpPr>
        <p:spPr>
          <a:xfrm>
            <a:off x="3429000" y="3703320"/>
            <a:ext cx="5303520" cy="457200"/>
          </a:xfrm>
          <a:prstGeom prst="roundRect">
            <a:avLst>
              <a:gd fmla="val 16000"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0" name="Google Shape;710;p41"/>
          <p:cNvPicPr preferRelativeResize="0"/>
          <p:nvPr/>
        </p:nvPicPr>
        <p:blipFill rotWithShape="1">
          <a:blip r:embed="rId4">
            <a:alphaModFix/>
          </a:blip>
          <a:srcRect b="0" l="0" r="0" t="0"/>
          <a:stretch/>
        </p:blipFill>
        <p:spPr>
          <a:xfrm>
            <a:off x="3584448" y="3849624"/>
            <a:ext cx="164592" cy="164592"/>
          </a:xfrm>
          <a:prstGeom prst="rect">
            <a:avLst/>
          </a:prstGeom>
          <a:noFill/>
          <a:ln>
            <a:noFill/>
          </a:ln>
        </p:spPr>
      </p:pic>
      <p:sp>
        <p:nvSpPr>
          <p:cNvPr id="711" name="Google Shape;711;p41"/>
          <p:cNvSpPr txBox="1"/>
          <p:nvPr/>
        </p:nvSpPr>
        <p:spPr>
          <a:xfrm>
            <a:off x="3840480" y="3794760"/>
            <a:ext cx="47548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Rule:  </a:t>
            </a:r>
            <a:r>
              <a:rPr b="0" i="0" lang="en" sz="1000" u="none" cap="none" strike="noStrike">
                <a:solidFill>
                  <a:srgbClr val="1D1D1F"/>
                </a:solidFill>
                <a:latin typeface="Arial"/>
                <a:ea typeface="Arial"/>
                <a:cs typeface="Arial"/>
                <a:sym typeface="Arial"/>
              </a:rPr>
              <a:t>use the exact code format. Never a freeform reason.</a:t>
            </a:r>
            <a:endParaRPr b="0" i="0" sz="1000" u="none" cap="none" strike="noStrike">
              <a:solidFill>
                <a:schemeClr val="dk1"/>
              </a:solidFill>
              <a:latin typeface="Calibri"/>
              <a:ea typeface="Calibri"/>
              <a:cs typeface="Calibri"/>
              <a:sym typeface="Calibri"/>
            </a:endParaRPr>
          </a:p>
        </p:txBody>
      </p:sp>
      <p:sp>
        <p:nvSpPr>
          <p:cNvPr id="712" name="Google Shape;712;p4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4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CP-FACING DEACTIVATION</a:t>
            </a:r>
            <a:endParaRPr b="0" i="0" sz="800" u="none" cap="none" strike="noStrike">
              <a:solidFill>
                <a:schemeClr val="dk1"/>
              </a:solidFill>
              <a:latin typeface="Calibri"/>
              <a:ea typeface="Calibri"/>
              <a:cs typeface="Calibri"/>
              <a:sym typeface="Calibri"/>
            </a:endParaRPr>
          </a:p>
        </p:txBody>
      </p:sp>
      <p:sp>
        <p:nvSpPr>
          <p:cNvPr id="719" name="Google Shape;719;p4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Reason codes</a:t>
            </a:r>
            <a:endParaRPr b="0" i="0" sz="2400" u="none" cap="none" strike="noStrike">
              <a:solidFill>
                <a:schemeClr val="dk1"/>
              </a:solidFill>
              <a:latin typeface="Calibri"/>
              <a:ea typeface="Calibri"/>
              <a:cs typeface="Calibri"/>
              <a:sym typeface="Calibri"/>
            </a:endParaRPr>
          </a:p>
        </p:txBody>
      </p:sp>
      <p:sp>
        <p:nvSpPr>
          <p:cNvPr id="720" name="Google Shape;720;p4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Fill in the &lt;placeholders&gt;. Keep the rest word for word.</a:t>
            </a:r>
            <a:endParaRPr b="0" i="0" sz="1200" u="none" cap="none" strike="noStrike">
              <a:solidFill>
                <a:schemeClr val="dk1"/>
              </a:solidFill>
              <a:latin typeface="Calibri"/>
              <a:ea typeface="Calibri"/>
              <a:cs typeface="Calibri"/>
              <a:sym typeface="Calibri"/>
            </a:endParaRPr>
          </a:p>
        </p:txBody>
      </p:sp>
      <p:graphicFrame>
        <p:nvGraphicFramePr>
          <p:cNvPr id="721" name="Google Shape;721;p42"/>
          <p:cNvGraphicFramePr/>
          <p:nvPr/>
        </p:nvGraphicFramePr>
        <p:xfrm>
          <a:off x="411480" y="1280160"/>
          <a:ext cx="3000000" cy="3000000"/>
        </p:xfrm>
        <a:graphic>
          <a:graphicData uri="http://schemas.openxmlformats.org/drawingml/2006/table">
            <a:tbl>
              <a:tblPr>
                <a:noFill/>
                <a:tableStyleId>{0D802810-0E66-425F-9816-536649EA7155}</a:tableStyleId>
              </a:tblPr>
              <a:tblGrid>
                <a:gridCol w="2514600"/>
                <a:gridCol w="5806450"/>
              </a:tblGrid>
              <a:tr h="301750">
                <a:tc>
                  <a:txBody>
                    <a:bodyPr/>
                    <a:lstStyle/>
                    <a:p>
                      <a:pPr indent="0" lvl="0" marL="0" marR="0" rtl="0" algn="l">
                        <a:lnSpc>
                          <a:spcPct val="100000"/>
                        </a:lnSpc>
                        <a:spcBef>
                          <a:spcPts val="0"/>
                        </a:spcBef>
                        <a:spcAft>
                          <a:spcPts val="0"/>
                        </a:spcAft>
                        <a:buClr>
                          <a:srgbClr val="0B7A6F"/>
                        </a:buClr>
                        <a:buSzPts val="850"/>
                        <a:buFont typeface="Play"/>
                        <a:buNone/>
                      </a:pPr>
                      <a:r>
                        <a:rPr b="1" lang="en" sz="850" u="none" cap="none" strike="noStrike">
                          <a:solidFill>
                            <a:srgbClr val="0B7A6F"/>
                          </a:solidFill>
                          <a:latin typeface="Play"/>
                          <a:ea typeface="Play"/>
                          <a:cs typeface="Play"/>
                          <a:sym typeface="Play"/>
                        </a:rPr>
                        <a:t>Reason for deactivation</a:t>
                      </a:r>
                      <a:endParaRPr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50"/>
                        <a:buFont typeface="Play"/>
                        <a:buNone/>
                      </a:pPr>
                      <a:r>
                        <a:rPr b="1" lang="en" sz="850" u="none" cap="none" strike="noStrike">
                          <a:solidFill>
                            <a:srgbClr val="0B7A6F"/>
                          </a:solidFill>
                          <a:latin typeface="Play"/>
                          <a:ea typeface="Play"/>
                          <a:cs typeface="Play"/>
                          <a:sym typeface="Play"/>
                        </a:rPr>
                        <a:t>CP-facing reason format</a:t>
                      </a:r>
                      <a:endParaRPr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Accepted cash payment</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cpq_cash Cash Payment J &lt;JOB ID&gt;</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Cancellation</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cpq_cancel Your customer &lt;C'S NAME&gt; reported you cancelled their &lt;DAY, DATE&gt; job. Submit reactivation appeal through dashboard.</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False invoice</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cpq_false_invoice Customer &lt;C'S NAME&gt; reported incorrect hours charged. Submit reactivation appeal.</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No-show</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cpq_noshow Your customer &lt;C'S NAME&gt; reported you didn't show up to their &lt;DAY, DATE&gt; job. Submit reactivation appeal through dashboard.</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Overcharged hours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cpq_overcharge Customer &lt;C'S NAME&gt; reported incorrect hours charged. Submit reactivation appeal.</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Invalid use of "Report Issue" to cancel</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cpq_invalid_cancel Upon review, your &lt;emergency/customer cancellation&gt; report has been deemed invalid. Submit reactivation appeal through dashboard.</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Invalid use of "Report Issue" to reschedule on C's behalf</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cpq_invalid_reschedule Upon review, your customer reschedule report has been deemed invalid. Submit reactivation appeal through dashboard.</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Reschedule unauthorized by the customer</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cpq_reschedule Your customer &lt;C'S NAME&gt; reported you rescheduled their &lt;DAY, DATE&gt; job without permission. Submit reactivation appeal through dashboard.</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Rude/unprofessional behavior</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cpq_quality Unprofessional behavior</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01750">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Theft</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HGTA &lt;JOB ID&gt;</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722" name="Google Shape;722;p4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43"/>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729" name="Google Shape;729;p43"/>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730" name="Google Shape;730;p43"/>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731" name="Google Shape;731;p43"/>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43"/>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9.png" id="733" name="Google Shape;733;p43"/>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734" name="Google Shape;734;p43"/>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43"/>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43"/>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43"/>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43"/>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43"/>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0" name="Google Shape;740;p43"/>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44"/>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06 OF 11</a:t>
            </a:r>
            <a:endParaRPr b="0" i="0" sz="800" u="none" cap="none" strike="noStrike">
              <a:solidFill>
                <a:schemeClr val="dk1"/>
              </a:solidFill>
              <a:latin typeface="Calibri"/>
              <a:ea typeface="Calibri"/>
              <a:cs typeface="Calibri"/>
              <a:sym typeface="Calibri"/>
            </a:endParaRPr>
          </a:p>
        </p:txBody>
      </p:sp>
      <p:sp>
        <p:nvSpPr>
          <p:cNvPr id="747" name="Google Shape;747;p44"/>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CP Penalty: C-Side Handling</a:t>
            </a:r>
            <a:endParaRPr b="0" i="0" sz="2800" u="none" cap="none" strike="noStrike">
              <a:solidFill>
                <a:schemeClr val="dk1"/>
              </a:solidFill>
              <a:latin typeface="Calibri"/>
              <a:ea typeface="Calibri"/>
              <a:cs typeface="Calibri"/>
              <a:sym typeface="Calibri"/>
            </a:endParaRPr>
          </a:p>
        </p:txBody>
      </p:sp>
      <p:sp>
        <p:nvSpPr>
          <p:cNvPr id="748" name="Google Shape;748;p44"/>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to do on the cleaner's side when a customer reports a problem with their cleaner.</a:t>
            </a:r>
            <a:endParaRPr b="0" i="0" sz="1150" u="none" cap="none" strike="noStrike">
              <a:solidFill>
                <a:schemeClr val="dk1"/>
              </a:solidFill>
              <a:latin typeface="Calibri"/>
              <a:ea typeface="Calibri"/>
              <a:cs typeface="Calibri"/>
              <a:sym typeface="Calibri"/>
            </a:endParaRPr>
          </a:p>
        </p:txBody>
      </p:sp>
      <p:sp>
        <p:nvSpPr>
          <p:cNvPr id="749" name="Google Shape;749;p44"/>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750" name="Google Shape;750;p44"/>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51" name="Google Shape;751;p44"/>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752" name="Google Shape;752;p44"/>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Your two jobs, in order</a:t>
            </a:r>
            <a:endParaRPr b="0" i="0" sz="1050" u="none" cap="none" strike="noStrike">
              <a:solidFill>
                <a:schemeClr val="dk1"/>
              </a:solidFill>
              <a:latin typeface="Calibri"/>
              <a:ea typeface="Calibri"/>
              <a:cs typeface="Calibri"/>
              <a:sym typeface="Calibri"/>
            </a:endParaRPr>
          </a:p>
        </p:txBody>
      </p:sp>
      <p:sp>
        <p:nvSpPr>
          <p:cNvPr id="753" name="Google Shape;753;p44"/>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54" name="Google Shape;754;p44"/>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755" name="Google Shape;755;p44"/>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Why we pause instead of suspend</a:t>
            </a:r>
            <a:endParaRPr b="0" i="0" sz="1050" u="none" cap="none" strike="noStrike">
              <a:solidFill>
                <a:schemeClr val="dk1"/>
              </a:solidFill>
              <a:latin typeface="Calibri"/>
              <a:ea typeface="Calibri"/>
              <a:cs typeface="Calibri"/>
              <a:sym typeface="Calibri"/>
            </a:endParaRPr>
          </a:p>
        </p:txBody>
      </p:sp>
      <p:sp>
        <p:nvSpPr>
          <p:cNvPr id="756" name="Google Shape;756;p44"/>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57" name="Google Shape;757;p44"/>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758" name="Google Shape;758;p44"/>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five-step process</a:t>
            </a:r>
            <a:endParaRPr b="0" i="0" sz="1050" u="none" cap="none" strike="noStrike">
              <a:solidFill>
                <a:schemeClr val="dk1"/>
              </a:solidFill>
              <a:latin typeface="Calibri"/>
              <a:ea typeface="Calibri"/>
              <a:cs typeface="Calibri"/>
              <a:sym typeface="Calibri"/>
            </a:endParaRPr>
          </a:p>
        </p:txBody>
      </p:sp>
      <p:sp>
        <p:nvSpPr>
          <p:cNvPr id="759" name="Google Shape;759;p44"/>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60" name="Google Shape;760;p44"/>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761" name="Google Shape;761;p44"/>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action for each offense</a:t>
            </a:r>
            <a:endParaRPr b="0" i="0" sz="1050" u="none" cap="none" strike="noStrike">
              <a:solidFill>
                <a:schemeClr val="dk1"/>
              </a:solidFill>
              <a:latin typeface="Calibri"/>
              <a:ea typeface="Calibri"/>
              <a:cs typeface="Calibri"/>
              <a:sym typeface="Calibri"/>
            </a:endParaRPr>
          </a:p>
        </p:txBody>
      </p:sp>
      <p:sp>
        <p:nvSpPr>
          <p:cNvPr id="762" name="Google Shape;762;p44"/>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44"/>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12.png" id="764" name="Google Shape;764;p44"/>
          <p:cNvPicPr preferRelativeResize="0"/>
          <p:nvPr/>
        </p:nvPicPr>
        <p:blipFill rotWithShape="1">
          <a:blip r:embed="rId4">
            <a:alphaModFix/>
          </a:blip>
          <a:srcRect b="0" l="0" r="0" t="0"/>
          <a:stretch/>
        </p:blipFill>
        <p:spPr>
          <a:xfrm>
            <a:off x="5637276" y="1517904"/>
            <a:ext cx="2734056" cy="2103120"/>
          </a:xfrm>
          <a:prstGeom prst="rect">
            <a:avLst/>
          </a:prstGeom>
          <a:noFill/>
          <a:ln>
            <a:noFill/>
          </a:ln>
        </p:spPr>
      </p:pic>
      <p:sp>
        <p:nvSpPr>
          <p:cNvPr id="765" name="Google Shape;765;p44"/>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44"/>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44"/>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44"/>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44"/>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44"/>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1" name="Google Shape;771;p4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4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PENALTY: C-SIDE HANDLING</a:t>
            </a:r>
            <a:endParaRPr b="0" i="0" sz="800" u="none" cap="none" strike="noStrike">
              <a:solidFill>
                <a:schemeClr val="dk1"/>
              </a:solidFill>
              <a:latin typeface="Calibri"/>
              <a:ea typeface="Calibri"/>
              <a:cs typeface="Calibri"/>
              <a:sym typeface="Calibri"/>
            </a:endParaRPr>
          </a:p>
        </p:txBody>
      </p:sp>
      <p:sp>
        <p:nvSpPr>
          <p:cNvPr id="778" name="Google Shape;778;p4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Two jobs, in this order</a:t>
            </a:r>
            <a:endParaRPr b="0" i="0" sz="2400" u="none" cap="none" strike="noStrike">
              <a:solidFill>
                <a:schemeClr val="dk1"/>
              </a:solidFill>
              <a:latin typeface="Calibri"/>
              <a:ea typeface="Calibri"/>
              <a:cs typeface="Calibri"/>
              <a:sym typeface="Calibri"/>
            </a:endParaRPr>
          </a:p>
        </p:txBody>
      </p:sp>
      <p:sp>
        <p:nvSpPr>
          <p:cNvPr id="779" name="Google Shape;779;p45"/>
          <p:cNvSpPr/>
          <p:nvPr/>
        </p:nvSpPr>
        <p:spPr>
          <a:xfrm>
            <a:off x="411480" y="1280160"/>
            <a:ext cx="40919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45"/>
          <p:cNvSpPr/>
          <p:nvPr/>
        </p:nvSpPr>
        <p:spPr>
          <a:xfrm>
            <a:off x="576072" y="14630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1" name="Google Shape;781;p45"/>
          <p:cNvSpPr txBox="1"/>
          <p:nvPr/>
        </p:nvSpPr>
        <p:spPr>
          <a:xfrm>
            <a:off x="576072" y="14630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782" name="Google Shape;782;p45"/>
          <p:cNvSpPr txBox="1"/>
          <p:nvPr/>
        </p:nvSpPr>
        <p:spPr>
          <a:xfrm>
            <a:off x="576072" y="188366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Resolve the customer's issue</a:t>
            </a:r>
            <a:endParaRPr b="0" i="0" sz="1200" u="none" cap="none" strike="noStrike">
              <a:solidFill>
                <a:schemeClr val="dk1"/>
              </a:solidFill>
              <a:latin typeface="Calibri"/>
              <a:ea typeface="Calibri"/>
              <a:cs typeface="Calibri"/>
              <a:sym typeface="Calibri"/>
            </a:endParaRPr>
          </a:p>
        </p:txBody>
      </p:sp>
      <p:sp>
        <p:nvSpPr>
          <p:cNvPr id="783" name="Google Shape;783;p45"/>
          <p:cNvSpPr txBox="1"/>
          <p:nvPr/>
        </p:nvSpPr>
        <p:spPr>
          <a:xfrm>
            <a:off x="576072" y="2176272"/>
            <a:ext cx="37627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Use the related article for that issue first.</a:t>
            </a:r>
            <a:endParaRPr b="0" i="0" sz="950" u="none" cap="none" strike="noStrike">
              <a:solidFill>
                <a:schemeClr val="dk1"/>
              </a:solidFill>
              <a:latin typeface="Calibri"/>
              <a:ea typeface="Calibri"/>
              <a:cs typeface="Calibri"/>
              <a:sym typeface="Calibri"/>
            </a:endParaRPr>
          </a:p>
        </p:txBody>
      </p:sp>
      <p:sp>
        <p:nvSpPr>
          <p:cNvPr id="784" name="Google Shape;784;p45"/>
          <p:cNvSpPr/>
          <p:nvPr/>
        </p:nvSpPr>
        <p:spPr>
          <a:xfrm>
            <a:off x="4640580" y="1280160"/>
            <a:ext cx="40919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45"/>
          <p:cNvSpPr/>
          <p:nvPr/>
        </p:nvSpPr>
        <p:spPr>
          <a:xfrm>
            <a:off x="4805172" y="14630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45"/>
          <p:cNvSpPr txBox="1"/>
          <p:nvPr/>
        </p:nvSpPr>
        <p:spPr>
          <a:xfrm>
            <a:off x="4805172" y="14630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787" name="Google Shape;787;p45"/>
          <p:cNvSpPr txBox="1"/>
          <p:nvPr/>
        </p:nvSpPr>
        <p:spPr>
          <a:xfrm>
            <a:off x="4805172" y="188366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Take the CP-side action</a:t>
            </a:r>
            <a:endParaRPr b="0" i="0" sz="1200" u="none" cap="none" strike="noStrike">
              <a:solidFill>
                <a:schemeClr val="dk1"/>
              </a:solidFill>
              <a:latin typeface="Calibri"/>
              <a:ea typeface="Calibri"/>
              <a:cs typeface="Calibri"/>
              <a:sym typeface="Calibri"/>
            </a:endParaRPr>
          </a:p>
        </p:txBody>
      </p:sp>
      <p:sp>
        <p:nvSpPr>
          <p:cNvPr id="788" name="Google Shape;788;p45"/>
          <p:cNvSpPr txBox="1"/>
          <p:nvPr/>
        </p:nvSpPr>
        <p:spPr>
          <a:xfrm>
            <a:off x="4805172" y="2176272"/>
            <a:ext cx="37627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Pause, coach, flag and document.</a:t>
            </a:r>
            <a:endParaRPr b="0" i="0" sz="950" u="none" cap="none" strike="noStrike">
              <a:solidFill>
                <a:schemeClr val="dk1"/>
              </a:solidFill>
              <a:latin typeface="Calibri"/>
              <a:ea typeface="Calibri"/>
              <a:cs typeface="Calibri"/>
              <a:sym typeface="Calibri"/>
            </a:endParaRPr>
          </a:p>
        </p:txBody>
      </p:sp>
      <p:sp>
        <p:nvSpPr>
          <p:cNvPr id="789" name="Google Shape;789;p45"/>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90" name="Google Shape;790;p45"/>
          <p:cNvPicPr preferRelativeResize="0"/>
          <p:nvPr/>
        </p:nvPicPr>
        <p:blipFill rotWithShape="1">
          <a:blip r:embed="rId3">
            <a:alphaModFix/>
          </a:blip>
          <a:srcRect b="0" l="0" r="0" t="0"/>
          <a:stretch/>
        </p:blipFill>
        <p:spPr>
          <a:xfrm>
            <a:off x="566928" y="3310128"/>
            <a:ext cx="164592" cy="164592"/>
          </a:xfrm>
          <a:prstGeom prst="rect">
            <a:avLst/>
          </a:prstGeom>
          <a:noFill/>
          <a:ln>
            <a:noFill/>
          </a:ln>
        </p:spPr>
      </p:pic>
      <p:sp>
        <p:nvSpPr>
          <p:cNvPr id="791" name="Google Shape;791;p45"/>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Not your call:  </a:t>
            </a:r>
            <a:r>
              <a:rPr b="0" i="0" lang="en" sz="1000" u="none" cap="none" strike="noStrike">
                <a:solidFill>
                  <a:srgbClr val="1D1D1F"/>
                </a:solidFill>
                <a:latin typeface="Arial"/>
                <a:ea typeface="Arial"/>
                <a:cs typeface="Arial"/>
                <a:sym typeface="Arial"/>
              </a:rPr>
              <a:t>permanent decisions and suspensions belong to the CP-side team, Trust &amp; Safety, or the system.</a:t>
            </a:r>
            <a:endParaRPr b="0" i="0" sz="1000" u="none" cap="none" strike="noStrike">
              <a:solidFill>
                <a:schemeClr val="dk1"/>
              </a:solidFill>
              <a:latin typeface="Calibri"/>
              <a:ea typeface="Calibri"/>
              <a:cs typeface="Calibri"/>
              <a:sym typeface="Calibri"/>
            </a:endParaRPr>
          </a:p>
        </p:txBody>
      </p:sp>
      <p:sp>
        <p:nvSpPr>
          <p:cNvPr id="792" name="Google Shape;792;p4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4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PENALTY: C-SIDE HANDLING</a:t>
            </a:r>
            <a:endParaRPr b="0" i="0" sz="800" u="none" cap="none" strike="noStrike">
              <a:solidFill>
                <a:schemeClr val="dk1"/>
              </a:solidFill>
              <a:latin typeface="Calibri"/>
              <a:ea typeface="Calibri"/>
              <a:cs typeface="Calibri"/>
              <a:sym typeface="Calibri"/>
            </a:endParaRPr>
          </a:p>
        </p:txBody>
      </p:sp>
      <p:sp>
        <p:nvSpPr>
          <p:cNvPr id="799" name="Google Shape;799;p4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Pause, don't suspend</a:t>
            </a:r>
            <a:endParaRPr b="0" i="0" sz="2400" u="none" cap="none" strike="noStrike">
              <a:solidFill>
                <a:schemeClr val="dk1"/>
              </a:solidFill>
              <a:latin typeface="Calibri"/>
              <a:ea typeface="Calibri"/>
              <a:cs typeface="Calibri"/>
              <a:sym typeface="Calibri"/>
            </a:endParaRPr>
          </a:p>
        </p:txBody>
      </p:sp>
      <p:sp>
        <p:nvSpPr>
          <p:cNvPr id="800" name="Google Shape;800;p4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You're seeing one incident from one side. The two statuses affect other customers very differently.</a:t>
            </a:r>
            <a:endParaRPr b="0" i="0" sz="1200" u="none" cap="none" strike="noStrike">
              <a:solidFill>
                <a:schemeClr val="dk1"/>
              </a:solidFill>
              <a:latin typeface="Calibri"/>
              <a:ea typeface="Calibri"/>
              <a:cs typeface="Calibri"/>
              <a:sym typeface="Calibri"/>
            </a:endParaRPr>
          </a:p>
        </p:txBody>
      </p:sp>
      <p:sp>
        <p:nvSpPr>
          <p:cNvPr id="801" name="Google Shape;801;p46"/>
          <p:cNvSpPr/>
          <p:nvPr/>
        </p:nvSpPr>
        <p:spPr>
          <a:xfrm>
            <a:off x="411480" y="1417320"/>
            <a:ext cx="40919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46"/>
          <p:cNvSpPr/>
          <p:nvPr/>
        </p:nvSpPr>
        <p:spPr>
          <a:xfrm>
            <a:off x="594360" y="16002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03" name="Google Shape;803;p46"/>
          <p:cNvPicPr preferRelativeResize="0"/>
          <p:nvPr/>
        </p:nvPicPr>
        <p:blipFill rotWithShape="1">
          <a:blip r:embed="rId3">
            <a:alphaModFix/>
          </a:blip>
          <a:srcRect b="0" l="0" r="0" t="0"/>
          <a:stretch/>
        </p:blipFill>
        <p:spPr>
          <a:xfrm>
            <a:off x="686532" y="1692372"/>
            <a:ext cx="199705" cy="199705"/>
          </a:xfrm>
          <a:prstGeom prst="rect">
            <a:avLst/>
          </a:prstGeom>
          <a:noFill/>
          <a:ln>
            <a:noFill/>
          </a:ln>
        </p:spPr>
      </p:pic>
      <p:sp>
        <p:nvSpPr>
          <p:cNvPr id="804" name="Google Shape;804;p46"/>
          <p:cNvSpPr txBox="1"/>
          <p:nvPr/>
        </p:nvSpPr>
        <p:spPr>
          <a:xfrm>
            <a:off x="1097280" y="160020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norequests (pause)</a:t>
            </a:r>
            <a:endParaRPr b="0" i="0" sz="1300" u="none" cap="none" strike="noStrike">
              <a:solidFill>
                <a:schemeClr val="dk1"/>
              </a:solidFill>
              <a:latin typeface="Calibri"/>
              <a:ea typeface="Calibri"/>
              <a:cs typeface="Calibri"/>
              <a:sym typeface="Calibri"/>
            </a:endParaRPr>
          </a:p>
        </p:txBody>
      </p:sp>
      <p:sp>
        <p:nvSpPr>
          <p:cNvPr id="805" name="Google Shape;805;p46"/>
          <p:cNvSpPr txBox="1"/>
          <p:nvPr/>
        </p:nvSpPr>
        <p:spPr>
          <a:xfrm>
            <a:off x="594360" y="2130552"/>
            <a:ext cx="3726180" cy="86868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Can't claim new jobs</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Keeps upcoming claimed jobs, so other customers keep their cleanings</a:t>
            </a:r>
            <a:endParaRPr b="0" i="0" sz="1000" u="none" cap="none" strike="noStrike">
              <a:solidFill>
                <a:schemeClr val="dk1"/>
              </a:solidFill>
              <a:latin typeface="Calibri"/>
              <a:ea typeface="Calibri"/>
              <a:cs typeface="Calibri"/>
              <a:sym typeface="Calibri"/>
            </a:endParaRPr>
          </a:p>
        </p:txBody>
      </p:sp>
      <p:sp>
        <p:nvSpPr>
          <p:cNvPr id="806" name="Google Shape;806;p46"/>
          <p:cNvSpPr/>
          <p:nvPr/>
        </p:nvSpPr>
        <p:spPr>
          <a:xfrm>
            <a:off x="4640580" y="1417320"/>
            <a:ext cx="40919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46"/>
          <p:cNvSpPr/>
          <p:nvPr/>
        </p:nvSpPr>
        <p:spPr>
          <a:xfrm>
            <a:off x="4823460" y="16002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08" name="Google Shape;808;p46"/>
          <p:cNvPicPr preferRelativeResize="0"/>
          <p:nvPr/>
        </p:nvPicPr>
        <p:blipFill rotWithShape="1">
          <a:blip r:embed="rId4">
            <a:alphaModFix/>
          </a:blip>
          <a:srcRect b="0" l="0" r="0" t="0"/>
          <a:stretch/>
        </p:blipFill>
        <p:spPr>
          <a:xfrm>
            <a:off x="4915632" y="1692372"/>
            <a:ext cx="199705" cy="199705"/>
          </a:xfrm>
          <a:prstGeom prst="rect">
            <a:avLst/>
          </a:prstGeom>
          <a:noFill/>
          <a:ln>
            <a:noFill/>
          </a:ln>
        </p:spPr>
      </p:pic>
      <p:sp>
        <p:nvSpPr>
          <p:cNvPr id="809" name="Google Shape;809;p46"/>
          <p:cNvSpPr txBox="1"/>
          <p:nvPr/>
        </p:nvSpPr>
        <p:spPr>
          <a:xfrm>
            <a:off x="5326380" y="160020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suspended</a:t>
            </a:r>
            <a:endParaRPr b="0" i="0" sz="1300" u="none" cap="none" strike="noStrike">
              <a:solidFill>
                <a:schemeClr val="dk1"/>
              </a:solidFill>
              <a:latin typeface="Calibri"/>
              <a:ea typeface="Calibri"/>
              <a:cs typeface="Calibri"/>
              <a:sym typeface="Calibri"/>
            </a:endParaRPr>
          </a:p>
        </p:txBody>
      </p:sp>
      <p:sp>
        <p:nvSpPr>
          <p:cNvPr id="810" name="Google Shape;810;p46"/>
          <p:cNvSpPr txBox="1"/>
          <p:nvPr/>
        </p:nvSpPr>
        <p:spPr>
          <a:xfrm>
            <a:off x="4823460" y="2130552"/>
            <a:ext cx="3726180" cy="86868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Removed from every upcoming claimed job</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Those customers are notified their cleaning is affected</a:t>
            </a:r>
            <a:endParaRPr b="0" i="0" sz="1000" u="none" cap="none" strike="noStrike">
              <a:solidFill>
                <a:schemeClr val="dk1"/>
              </a:solidFill>
              <a:latin typeface="Calibri"/>
              <a:ea typeface="Calibri"/>
              <a:cs typeface="Calibri"/>
              <a:sym typeface="Calibri"/>
            </a:endParaRPr>
          </a:p>
        </p:txBody>
      </p:sp>
      <p:sp>
        <p:nvSpPr>
          <p:cNvPr id="811" name="Google Shape;811;p46"/>
          <p:cNvSpPr/>
          <p:nvPr/>
        </p:nvSpPr>
        <p:spPr>
          <a:xfrm>
            <a:off x="411480" y="3291840"/>
            <a:ext cx="8321040" cy="868680"/>
          </a:xfrm>
          <a:prstGeom prst="roundRect">
            <a:avLst>
              <a:gd fmla="val 8421"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46"/>
          <p:cNvSpPr txBox="1"/>
          <p:nvPr/>
        </p:nvSpPr>
        <p:spPr>
          <a:xfrm>
            <a:off x="640080" y="3401568"/>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EXAMPLE</a:t>
            </a:r>
            <a:endParaRPr b="0" i="0" sz="800" u="none" cap="none" strike="noStrike">
              <a:solidFill>
                <a:schemeClr val="dk1"/>
              </a:solidFill>
              <a:latin typeface="Calibri"/>
              <a:ea typeface="Calibri"/>
              <a:cs typeface="Calibri"/>
              <a:sym typeface="Calibri"/>
            </a:endParaRPr>
          </a:p>
        </p:txBody>
      </p:sp>
      <p:sp>
        <p:nvSpPr>
          <p:cNvPr id="813" name="Google Shape;813;p46"/>
          <p:cNvSpPr txBox="1"/>
          <p:nvPr/>
        </p:nvSpPr>
        <p:spPr>
          <a:xfrm>
            <a:off x="640080" y="3611880"/>
            <a:ext cx="78638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A customer reports their cleaner came without supplies. The cleaner has 4 other jobs this week. Pausing lets those 4 customers keep their cleanings. Suspending would cancel all 4.</a:t>
            </a:r>
            <a:endParaRPr b="0" i="0" sz="1050" u="none" cap="none" strike="noStrike">
              <a:solidFill>
                <a:schemeClr val="dk1"/>
              </a:solidFill>
              <a:latin typeface="Calibri"/>
              <a:ea typeface="Calibri"/>
              <a:cs typeface="Calibri"/>
              <a:sym typeface="Calibri"/>
            </a:endParaRPr>
          </a:p>
        </p:txBody>
      </p:sp>
      <p:sp>
        <p:nvSpPr>
          <p:cNvPr id="814" name="Google Shape;814;p4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p4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PENALTY: C-SIDE HANDLING</a:t>
            </a:r>
            <a:endParaRPr b="0" i="0" sz="800" u="none" cap="none" strike="noStrike">
              <a:solidFill>
                <a:schemeClr val="dk1"/>
              </a:solidFill>
              <a:latin typeface="Calibri"/>
              <a:ea typeface="Calibri"/>
              <a:cs typeface="Calibri"/>
              <a:sym typeface="Calibri"/>
            </a:endParaRPr>
          </a:p>
        </p:txBody>
      </p:sp>
      <p:sp>
        <p:nvSpPr>
          <p:cNvPr id="821" name="Google Shape;821;p4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default, and what you don't do</a:t>
            </a:r>
            <a:endParaRPr b="0" i="0" sz="2400" u="none" cap="none" strike="noStrike">
              <a:solidFill>
                <a:schemeClr val="dk1"/>
              </a:solidFill>
              <a:latin typeface="Calibri"/>
              <a:ea typeface="Calibri"/>
              <a:cs typeface="Calibri"/>
              <a:sym typeface="Calibri"/>
            </a:endParaRPr>
          </a:p>
        </p:txBody>
      </p:sp>
      <p:sp>
        <p:nvSpPr>
          <p:cNvPr id="822" name="Google Shape;822;p47"/>
          <p:cNvSpPr/>
          <p:nvPr/>
        </p:nvSpPr>
        <p:spPr>
          <a:xfrm>
            <a:off x="411480" y="1188720"/>
            <a:ext cx="8321040" cy="914400"/>
          </a:xfrm>
          <a:prstGeom prst="roundRect">
            <a:avLst>
              <a:gd fmla="val 8000"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3" name="Google Shape;823;p47"/>
          <p:cNvSpPr txBox="1"/>
          <p:nvPr/>
        </p:nvSpPr>
        <p:spPr>
          <a:xfrm>
            <a:off x="685800" y="1307592"/>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DEFAULT CP-SIDE ACTION</a:t>
            </a:r>
            <a:endParaRPr b="0" i="0" sz="800" u="none" cap="none" strike="noStrike">
              <a:solidFill>
                <a:schemeClr val="dk1"/>
              </a:solidFill>
              <a:latin typeface="Calibri"/>
              <a:ea typeface="Calibri"/>
              <a:cs typeface="Calibri"/>
              <a:sym typeface="Calibri"/>
            </a:endParaRPr>
          </a:p>
        </p:txBody>
      </p:sp>
      <p:sp>
        <p:nvSpPr>
          <p:cNvPr id="824" name="Google Shape;824;p47"/>
          <p:cNvSpPr txBox="1"/>
          <p:nvPr/>
        </p:nvSpPr>
        <p:spPr>
          <a:xfrm>
            <a:off x="685800" y="1536192"/>
            <a:ext cx="78638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Play"/>
              <a:buNone/>
            </a:pPr>
            <a:r>
              <a:rPr b="1" i="0" lang="en" sz="1600" u="none" cap="none" strike="noStrike">
                <a:solidFill>
                  <a:srgbClr val="FFFFFF"/>
                </a:solidFill>
                <a:latin typeface="Play"/>
                <a:ea typeface="Play"/>
                <a:cs typeface="Play"/>
                <a:sym typeface="Play"/>
              </a:rPr>
              <a:t>norequests  +  coaching  +  the relevant flag  +  an internal note</a:t>
            </a:r>
            <a:endParaRPr b="0" i="0" sz="1600" u="none" cap="none" strike="noStrike">
              <a:solidFill>
                <a:schemeClr val="dk1"/>
              </a:solidFill>
              <a:latin typeface="Calibri"/>
              <a:ea typeface="Calibri"/>
              <a:cs typeface="Calibri"/>
              <a:sym typeface="Calibri"/>
            </a:endParaRPr>
          </a:p>
        </p:txBody>
      </p:sp>
      <p:sp>
        <p:nvSpPr>
          <p:cNvPr id="825" name="Google Shape;825;p47"/>
          <p:cNvSpPr txBox="1"/>
          <p:nvPr/>
        </p:nvSpPr>
        <p:spPr>
          <a:xfrm>
            <a:off x="438912" y="233172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C-SIDE AGENTS DON'T</a:t>
            </a:r>
            <a:endParaRPr b="0" i="0" sz="800" u="none" cap="none" strike="noStrike">
              <a:solidFill>
                <a:schemeClr val="dk1"/>
              </a:solidFill>
              <a:latin typeface="Calibri"/>
              <a:ea typeface="Calibri"/>
              <a:cs typeface="Calibri"/>
              <a:sym typeface="Calibri"/>
            </a:endParaRPr>
          </a:p>
        </p:txBody>
      </p:sp>
      <p:sp>
        <p:nvSpPr>
          <p:cNvPr id="826" name="Google Shape;826;p47"/>
          <p:cNvSpPr/>
          <p:nvPr/>
        </p:nvSpPr>
        <p:spPr>
          <a:xfrm>
            <a:off x="411480" y="2606040"/>
            <a:ext cx="197739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47"/>
          <p:cNvSpPr/>
          <p:nvPr/>
        </p:nvSpPr>
        <p:spPr>
          <a:xfrm>
            <a:off x="576072" y="2743200"/>
            <a:ext cx="365760" cy="36576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28" name="Google Shape;828;p47"/>
          <p:cNvPicPr preferRelativeResize="0"/>
          <p:nvPr/>
        </p:nvPicPr>
        <p:blipFill rotWithShape="1">
          <a:blip r:embed="rId3">
            <a:alphaModFix/>
          </a:blip>
          <a:srcRect b="0" l="0" r="0" t="0"/>
          <a:stretch/>
        </p:blipFill>
        <p:spPr>
          <a:xfrm>
            <a:off x="663854" y="2830982"/>
            <a:ext cx="190195" cy="190195"/>
          </a:xfrm>
          <a:prstGeom prst="rect">
            <a:avLst/>
          </a:prstGeom>
          <a:noFill/>
          <a:ln>
            <a:noFill/>
          </a:ln>
        </p:spPr>
      </p:pic>
      <p:sp>
        <p:nvSpPr>
          <p:cNvPr id="829" name="Google Shape;829;p47"/>
          <p:cNvSpPr txBox="1"/>
          <p:nvPr/>
        </p:nvSpPr>
        <p:spPr>
          <a:xfrm>
            <a:off x="576072" y="3200400"/>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Play"/>
              <a:buNone/>
            </a:pPr>
            <a:r>
              <a:rPr b="1" i="0" lang="en" sz="1150" u="none" cap="none" strike="noStrike">
                <a:solidFill>
                  <a:srgbClr val="1D1D1F"/>
                </a:solidFill>
                <a:latin typeface="Play"/>
                <a:ea typeface="Play"/>
                <a:cs typeface="Play"/>
                <a:sym typeface="Play"/>
              </a:rPr>
              <a:t>Suspend a CP</a:t>
            </a:r>
            <a:endParaRPr b="0" i="0" sz="1150" u="none" cap="none" strike="noStrike">
              <a:solidFill>
                <a:schemeClr val="dk1"/>
              </a:solidFill>
              <a:latin typeface="Calibri"/>
              <a:ea typeface="Calibri"/>
              <a:cs typeface="Calibri"/>
              <a:sym typeface="Calibri"/>
            </a:endParaRPr>
          </a:p>
        </p:txBody>
      </p:sp>
      <p:sp>
        <p:nvSpPr>
          <p:cNvPr id="830" name="Google Shape;830;p47"/>
          <p:cNvSpPr txBox="1"/>
          <p:nvPr/>
        </p:nvSpPr>
        <p:spPr>
          <a:xfrm>
            <a:off x="576072" y="3493008"/>
            <a:ext cx="1648206"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Except the false-invoice exception</a:t>
            </a:r>
            <a:endParaRPr b="0" i="0" sz="950" u="none" cap="none" strike="noStrike">
              <a:solidFill>
                <a:schemeClr val="dk1"/>
              </a:solidFill>
              <a:latin typeface="Calibri"/>
              <a:ea typeface="Calibri"/>
              <a:cs typeface="Calibri"/>
              <a:sym typeface="Calibri"/>
            </a:endParaRPr>
          </a:p>
        </p:txBody>
      </p:sp>
      <p:sp>
        <p:nvSpPr>
          <p:cNvPr id="831" name="Google Shape;831;p47"/>
          <p:cNvSpPr/>
          <p:nvPr/>
        </p:nvSpPr>
        <p:spPr>
          <a:xfrm>
            <a:off x="2526030" y="2606040"/>
            <a:ext cx="197739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p47"/>
          <p:cNvSpPr/>
          <p:nvPr/>
        </p:nvSpPr>
        <p:spPr>
          <a:xfrm>
            <a:off x="2690622" y="2743200"/>
            <a:ext cx="365760" cy="36576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33" name="Google Shape;833;p47"/>
          <p:cNvPicPr preferRelativeResize="0"/>
          <p:nvPr/>
        </p:nvPicPr>
        <p:blipFill rotWithShape="1">
          <a:blip r:embed="rId4">
            <a:alphaModFix/>
          </a:blip>
          <a:srcRect b="0" l="0" r="0" t="0"/>
          <a:stretch/>
        </p:blipFill>
        <p:spPr>
          <a:xfrm>
            <a:off x="2778404" y="2830982"/>
            <a:ext cx="190195" cy="190195"/>
          </a:xfrm>
          <a:prstGeom prst="rect">
            <a:avLst/>
          </a:prstGeom>
          <a:noFill/>
          <a:ln>
            <a:noFill/>
          </a:ln>
        </p:spPr>
      </p:pic>
      <p:sp>
        <p:nvSpPr>
          <p:cNvPr id="834" name="Google Shape;834;p47"/>
          <p:cNvSpPr txBox="1"/>
          <p:nvPr/>
        </p:nvSpPr>
        <p:spPr>
          <a:xfrm>
            <a:off x="2690622" y="3200400"/>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Play"/>
              <a:buNone/>
            </a:pPr>
            <a:r>
              <a:rPr b="1" i="0" lang="en" sz="1150" u="none" cap="none" strike="noStrike">
                <a:solidFill>
                  <a:srgbClr val="1D1D1F"/>
                </a:solidFill>
                <a:latin typeface="Play"/>
                <a:ea typeface="Play"/>
                <a:cs typeface="Play"/>
                <a:sym typeface="Play"/>
              </a:rPr>
              <a:t>Add a DNR flag</a:t>
            </a:r>
            <a:endParaRPr b="0" i="0" sz="1150" u="none" cap="none" strike="noStrike">
              <a:solidFill>
                <a:schemeClr val="dk1"/>
              </a:solidFill>
              <a:latin typeface="Calibri"/>
              <a:ea typeface="Calibri"/>
              <a:cs typeface="Calibri"/>
              <a:sym typeface="Calibri"/>
            </a:endParaRPr>
          </a:p>
        </p:txBody>
      </p:sp>
      <p:sp>
        <p:nvSpPr>
          <p:cNvPr id="835" name="Google Shape;835;p47"/>
          <p:cNvSpPr txBox="1"/>
          <p:nvPr/>
        </p:nvSpPr>
        <p:spPr>
          <a:xfrm>
            <a:off x="2690622" y="3493008"/>
            <a:ext cx="1648206"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Never</a:t>
            </a:r>
            <a:endParaRPr b="0" i="0" sz="950" u="none" cap="none" strike="noStrike">
              <a:solidFill>
                <a:schemeClr val="dk1"/>
              </a:solidFill>
              <a:latin typeface="Calibri"/>
              <a:ea typeface="Calibri"/>
              <a:cs typeface="Calibri"/>
              <a:sym typeface="Calibri"/>
            </a:endParaRPr>
          </a:p>
        </p:txBody>
      </p:sp>
      <p:sp>
        <p:nvSpPr>
          <p:cNvPr id="836" name="Google Shape;836;p47"/>
          <p:cNvSpPr/>
          <p:nvPr/>
        </p:nvSpPr>
        <p:spPr>
          <a:xfrm>
            <a:off x="4640580" y="2606040"/>
            <a:ext cx="197739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47"/>
          <p:cNvSpPr/>
          <p:nvPr/>
        </p:nvSpPr>
        <p:spPr>
          <a:xfrm>
            <a:off x="4805172" y="2743200"/>
            <a:ext cx="365760" cy="36576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38" name="Google Shape;838;p47"/>
          <p:cNvPicPr preferRelativeResize="0"/>
          <p:nvPr/>
        </p:nvPicPr>
        <p:blipFill rotWithShape="1">
          <a:blip r:embed="rId5">
            <a:alphaModFix/>
          </a:blip>
          <a:srcRect b="0" l="0" r="0" t="0"/>
          <a:stretch/>
        </p:blipFill>
        <p:spPr>
          <a:xfrm>
            <a:off x="4892954" y="2830982"/>
            <a:ext cx="190195" cy="190195"/>
          </a:xfrm>
          <a:prstGeom prst="rect">
            <a:avLst/>
          </a:prstGeom>
          <a:noFill/>
          <a:ln>
            <a:noFill/>
          </a:ln>
        </p:spPr>
      </p:pic>
      <p:sp>
        <p:nvSpPr>
          <p:cNvPr id="839" name="Google Shape;839;p47"/>
          <p:cNvSpPr txBox="1"/>
          <p:nvPr/>
        </p:nvSpPr>
        <p:spPr>
          <a:xfrm>
            <a:off x="4805172" y="3200400"/>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Play"/>
              <a:buNone/>
            </a:pPr>
            <a:r>
              <a:rPr b="1" i="0" lang="en" sz="1150" u="none" cap="none" strike="noStrike">
                <a:solidFill>
                  <a:srgbClr val="1D1D1F"/>
                </a:solidFill>
                <a:latin typeface="Play"/>
                <a:ea typeface="Play"/>
                <a:cs typeface="Play"/>
                <a:sym typeface="Play"/>
              </a:rPr>
              <a:t>Deactivate a CP</a:t>
            </a:r>
            <a:endParaRPr b="0" i="0" sz="1150" u="none" cap="none" strike="noStrike">
              <a:solidFill>
                <a:schemeClr val="dk1"/>
              </a:solidFill>
              <a:latin typeface="Calibri"/>
              <a:ea typeface="Calibri"/>
              <a:cs typeface="Calibri"/>
              <a:sym typeface="Calibri"/>
            </a:endParaRPr>
          </a:p>
        </p:txBody>
      </p:sp>
      <p:sp>
        <p:nvSpPr>
          <p:cNvPr id="840" name="Google Shape;840;p47"/>
          <p:cNvSpPr txBox="1"/>
          <p:nvPr/>
        </p:nvSpPr>
        <p:spPr>
          <a:xfrm>
            <a:off x="4805172" y="3493008"/>
            <a:ext cx="1648206"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Never permanently</a:t>
            </a:r>
            <a:endParaRPr b="0" i="0" sz="950" u="none" cap="none" strike="noStrike">
              <a:solidFill>
                <a:schemeClr val="dk1"/>
              </a:solidFill>
              <a:latin typeface="Calibri"/>
              <a:ea typeface="Calibri"/>
              <a:cs typeface="Calibri"/>
              <a:sym typeface="Calibri"/>
            </a:endParaRPr>
          </a:p>
        </p:txBody>
      </p:sp>
      <p:sp>
        <p:nvSpPr>
          <p:cNvPr id="841" name="Google Shape;841;p47"/>
          <p:cNvSpPr/>
          <p:nvPr/>
        </p:nvSpPr>
        <p:spPr>
          <a:xfrm>
            <a:off x="6755130" y="2606040"/>
            <a:ext cx="197739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2" name="Google Shape;842;p47"/>
          <p:cNvSpPr/>
          <p:nvPr/>
        </p:nvSpPr>
        <p:spPr>
          <a:xfrm>
            <a:off x="6919722" y="2743200"/>
            <a:ext cx="365760" cy="36576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43" name="Google Shape;843;p47"/>
          <p:cNvPicPr preferRelativeResize="0"/>
          <p:nvPr/>
        </p:nvPicPr>
        <p:blipFill rotWithShape="1">
          <a:blip r:embed="rId6">
            <a:alphaModFix/>
          </a:blip>
          <a:srcRect b="0" l="0" r="0" t="0"/>
          <a:stretch/>
        </p:blipFill>
        <p:spPr>
          <a:xfrm>
            <a:off x="7007504" y="2830982"/>
            <a:ext cx="190195" cy="190195"/>
          </a:xfrm>
          <a:prstGeom prst="rect">
            <a:avLst/>
          </a:prstGeom>
          <a:noFill/>
          <a:ln>
            <a:noFill/>
          </a:ln>
        </p:spPr>
      </p:pic>
      <p:sp>
        <p:nvSpPr>
          <p:cNvPr id="844" name="Google Shape;844;p47"/>
          <p:cNvSpPr txBox="1"/>
          <p:nvPr/>
        </p:nvSpPr>
        <p:spPr>
          <a:xfrm>
            <a:off x="6919722" y="3200400"/>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Play"/>
              <a:buNone/>
            </a:pPr>
            <a:r>
              <a:rPr b="1" i="0" lang="en" sz="1150" u="none" cap="none" strike="noStrike">
                <a:solidFill>
                  <a:srgbClr val="1D1D1F"/>
                </a:solidFill>
                <a:latin typeface="Play"/>
                <a:ea typeface="Play"/>
                <a:cs typeface="Play"/>
                <a:sym typeface="Play"/>
              </a:rPr>
              <a:t>Reactivate a CP</a:t>
            </a:r>
            <a:endParaRPr b="0" i="0" sz="1150" u="none" cap="none" strike="noStrike">
              <a:solidFill>
                <a:schemeClr val="dk1"/>
              </a:solidFill>
              <a:latin typeface="Calibri"/>
              <a:ea typeface="Calibri"/>
              <a:cs typeface="Calibri"/>
              <a:sym typeface="Calibri"/>
            </a:endParaRPr>
          </a:p>
        </p:txBody>
      </p:sp>
      <p:sp>
        <p:nvSpPr>
          <p:cNvPr id="845" name="Google Shape;845;p47"/>
          <p:cNvSpPr txBox="1"/>
          <p:nvPr/>
        </p:nvSpPr>
        <p:spPr>
          <a:xfrm>
            <a:off x="6919722" y="3493008"/>
            <a:ext cx="1648206"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CP-side team decides</a:t>
            </a:r>
            <a:endParaRPr b="0" i="0" sz="950" u="none" cap="none" strike="noStrike">
              <a:solidFill>
                <a:schemeClr val="dk1"/>
              </a:solidFill>
              <a:latin typeface="Calibri"/>
              <a:ea typeface="Calibri"/>
              <a:cs typeface="Calibri"/>
              <a:sym typeface="Calibri"/>
            </a:endParaRPr>
          </a:p>
        </p:txBody>
      </p:sp>
      <p:sp>
        <p:nvSpPr>
          <p:cNvPr id="846" name="Google Shape;846;p4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4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PENALTY: C-SIDE HANDLING</a:t>
            </a:r>
            <a:endParaRPr b="0" i="0" sz="800" u="none" cap="none" strike="noStrike">
              <a:solidFill>
                <a:schemeClr val="dk1"/>
              </a:solidFill>
              <a:latin typeface="Calibri"/>
              <a:ea typeface="Calibri"/>
              <a:cs typeface="Calibri"/>
              <a:sym typeface="Calibri"/>
            </a:endParaRPr>
          </a:p>
        </p:txBody>
      </p:sp>
      <p:sp>
        <p:nvSpPr>
          <p:cNvPr id="853" name="Google Shape;853;p4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Exceptions to the default</a:t>
            </a:r>
            <a:endParaRPr b="0" i="0" sz="2400" u="none" cap="none" strike="noStrike">
              <a:solidFill>
                <a:schemeClr val="dk1"/>
              </a:solidFill>
              <a:latin typeface="Calibri"/>
              <a:ea typeface="Calibri"/>
              <a:cs typeface="Calibri"/>
              <a:sym typeface="Calibri"/>
            </a:endParaRPr>
          </a:p>
        </p:txBody>
      </p:sp>
      <p:graphicFrame>
        <p:nvGraphicFramePr>
          <p:cNvPr id="854" name="Google Shape;854;p48"/>
          <p:cNvGraphicFramePr/>
          <p:nvPr/>
        </p:nvGraphicFramePr>
        <p:xfrm>
          <a:off x="411480" y="1143000"/>
          <a:ext cx="3000000" cy="3000000"/>
        </p:xfrm>
        <a:graphic>
          <a:graphicData uri="http://schemas.openxmlformats.org/drawingml/2006/table">
            <a:tbl>
              <a:tblPr>
                <a:noFill/>
                <a:tableStyleId>{0D802810-0E66-425F-9816-536649EA7155}</a:tableStyleId>
              </a:tblPr>
              <a:tblGrid>
                <a:gridCol w="4297675"/>
                <a:gridCol w="4023350"/>
              </a:tblGrid>
              <a:tr h="42062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Situation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What to do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206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Safety concern (theft, damage, threats, harassment, someone else working the account)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Route to Trust &amp; Safety and follow their process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The system already suspended the CP after your flag or report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Leave it. Coach, explain how to appeal from the dashboard, add your note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First warning-level offense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Coach only. No status change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False invoice (even "the cleaner never came")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norequests, and ask the CP what happened. GPS alone can't confirm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Multiple false invoices that look abusive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You may set suspended. The only time you do. Never add DNR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855" name="Google Shape;855;p48"/>
          <p:cNvSpPr/>
          <p:nvPr/>
        </p:nvSpPr>
        <p:spPr>
          <a:xfrm>
            <a:off x="411480" y="42519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56" name="Google Shape;856;p48"/>
          <p:cNvPicPr preferRelativeResize="0"/>
          <p:nvPr/>
        </p:nvPicPr>
        <p:blipFill rotWithShape="1">
          <a:blip r:embed="rId3">
            <a:alphaModFix/>
          </a:blip>
          <a:srcRect b="0" l="0" r="0" t="0"/>
          <a:stretch/>
        </p:blipFill>
        <p:spPr>
          <a:xfrm>
            <a:off x="566928" y="4361688"/>
            <a:ext cx="164592" cy="164592"/>
          </a:xfrm>
          <a:prstGeom prst="rect">
            <a:avLst/>
          </a:prstGeom>
          <a:noFill/>
          <a:ln>
            <a:noFill/>
          </a:ln>
        </p:spPr>
      </p:pic>
      <p:sp>
        <p:nvSpPr>
          <p:cNvPr id="857" name="Google Shape;857;p48"/>
          <p:cNvSpPr txBox="1"/>
          <p:nvPr/>
        </p:nvSpPr>
        <p:spPr>
          <a:xfrm>
            <a:off x="822960" y="43525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Safety first:  </a:t>
            </a:r>
            <a:r>
              <a:rPr b="0" i="0" lang="en" sz="1000" u="none" cap="none" strike="noStrike">
                <a:solidFill>
                  <a:srgbClr val="1D1D1F"/>
                </a:solidFill>
                <a:latin typeface="Arial"/>
                <a:ea typeface="Arial"/>
                <a:cs typeface="Arial"/>
                <a:sym typeface="Arial"/>
              </a:rPr>
              <a:t>anything that makes the customer feel unsafe goes to Trust &amp; Safety.</a:t>
            </a:r>
            <a:endParaRPr b="0" i="0" sz="1000" u="none" cap="none" strike="noStrike">
              <a:solidFill>
                <a:schemeClr val="dk1"/>
              </a:solidFill>
              <a:latin typeface="Calibri"/>
              <a:ea typeface="Calibri"/>
              <a:cs typeface="Calibri"/>
              <a:sym typeface="Calibri"/>
            </a:endParaRPr>
          </a:p>
        </p:txBody>
      </p:sp>
      <p:sp>
        <p:nvSpPr>
          <p:cNvPr id="858" name="Google Shape;858;p4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4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PENALTY: C-SIDE HANDLING</a:t>
            </a:r>
            <a:endParaRPr b="0" i="0" sz="800" u="none" cap="none" strike="noStrike">
              <a:solidFill>
                <a:schemeClr val="dk1"/>
              </a:solidFill>
              <a:latin typeface="Calibri"/>
              <a:ea typeface="Calibri"/>
              <a:cs typeface="Calibri"/>
              <a:sym typeface="Calibri"/>
            </a:endParaRPr>
          </a:p>
        </p:txBody>
      </p:sp>
      <p:sp>
        <p:nvSpPr>
          <p:cNvPr id="865" name="Google Shape;865;p4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process</a:t>
            </a:r>
            <a:endParaRPr b="0" i="0" sz="2400" u="none" cap="none" strike="noStrike">
              <a:solidFill>
                <a:schemeClr val="dk1"/>
              </a:solidFill>
              <a:latin typeface="Calibri"/>
              <a:ea typeface="Calibri"/>
              <a:cs typeface="Calibri"/>
              <a:sym typeface="Calibri"/>
            </a:endParaRPr>
          </a:p>
        </p:txBody>
      </p:sp>
      <p:sp>
        <p:nvSpPr>
          <p:cNvPr id="866" name="Google Shape;866;p4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Five steps, in order.</a:t>
            </a:r>
            <a:endParaRPr b="0" i="0" sz="1200" u="none" cap="none" strike="noStrike">
              <a:solidFill>
                <a:schemeClr val="dk1"/>
              </a:solidFill>
              <a:latin typeface="Calibri"/>
              <a:ea typeface="Calibri"/>
              <a:cs typeface="Calibri"/>
              <a:sym typeface="Calibri"/>
            </a:endParaRPr>
          </a:p>
        </p:txBody>
      </p:sp>
      <p:sp>
        <p:nvSpPr>
          <p:cNvPr id="867" name="Google Shape;867;p49"/>
          <p:cNvSpPr/>
          <p:nvPr/>
        </p:nvSpPr>
        <p:spPr>
          <a:xfrm>
            <a:off x="411480" y="1371600"/>
            <a:ext cx="1517904" cy="2377440"/>
          </a:xfrm>
          <a:prstGeom prst="roundRect">
            <a:avLst>
              <a:gd fmla="val 48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49"/>
          <p:cNvSpPr/>
          <p:nvPr/>
        </p:nvSpPr>
        <p:spPr>
          <a:xfrm>
            <a:off x="918972" y="1554480"/>
            <a:ext cx="502920" cy="5029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69" name="Google Shape;869;p49"/>
          <p:cNvPicPr preferRelativeResize="0"/>
          <p:nvPr/>
        </p:nvPicPr>
        <p:blipFill rotWithShape="1">
          <a:blip r:embed="rId3">
            <a:alphaModFix/>
          </a:blip>
          <a:srcRect b="0" l="0" r="0" t="0"/>
          <a:stretch/>
        </p:blipFill>
        <p:spPr>
          <a:xfrm>
            <a:off x="1039673" y="1675181"/>
            <a:ext cx="261518" cy="261518"/>
          </a:xfrm>
          <a:prstGeom prst="rect">
            <a:avLst/>
          </a:prstGeom>
          <a:noFill/>
          <a:ln>
            <a:noFill/>
          </a:ln>
        </p:spPr>
      </p:pic>
      <p:sp>
        <p:nvSpPr>
          <p:cNvPr id="870" name="Google Shape;870;p49"/>
          <p:cNvSpPr txBox="1"/>
          <p:nvPr/>
        </p:nvSpPr>
        <p:spPr>
          <a:xfrm>
            <a:off x="411480" y="2176272"/>
            <a:ext cx="151790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STEP 1</a:t>
            </a:r>
            <a:endParaRPr b="0" i="0" sz="800" u="none" cap="none" strike="noStrike">
              <a:solidFill>
                <a:schemeClr val="dk1"/>
              </a:solidFill>
              <a:latin typeface="Calibri"/>
              <a:ea typeface="Calibri"/>
              <a:cs typeface="Calibri"/>
              <a:sym typeface="Calibri"/>
            </a:endParaRPr>
          </a:p>
        </p:txBody>
      </p:sp>
      <p:sp>
        <p:nvSpPr>
          <p:cNvPr id="871" name="Google Shape;871;p49"/>
          <p:cNvSpPr txBox="1"/>
          <p:nvPr/>
        </p:nvSpPr>
        <p:spPr>
          <a:xfrm>
            <a:off x="502920" y="2377440"/>
            <a:ext cx="1335024"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Safety issue?</a:t>
            </a:r>
            <a:endParaRPr b="0" i="0" sz="1100" u="none" cap="none" strike="noStrike">
              <a:solidFill>
                <a:schemeClr val="dk1"/>
              </a:solidFill>
              <a:latin typeface="Calibri"/>
              <a:ea typeface="Calibri"/>
              <a:cs typeface="Calibri"/>
              <a:sym typeface="Calibri"/>
            </a:endParaRPr>
          </a:p>
        </p:txBody>
      </p:sp>
      <p:sp>
        <p:nvSpPr>
          <p:cNvPr id="872" name="Google Shape;872;p49"/>
          <p:cNvSpPr txBox="1"/>
          <p:nvPr/>
        </p:nvSpPr>
        <p:spPr>
          <a:xfrm>
            <a:off x="521208" y="2834640"/>
            <a:ext cx="1298448" cy="9601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Yes: route to Trust &amp; Safety. Done</a:t>
            </a:r>
            <a:endParaRPr b="0" i="0" sz="900" u="none" cap="none" strike="noStrike">
              <a:solidFill>
                <a:schemeClr val="dk1"/>
              </a:solidFill>
              <a:latin typeface="Calibri"/>
              <a:ea typeface="Calibri"/>
              <a:cs typeface="Calibri"/>
              <a:sym typeface="Calibri"/>
            </a:endParaRPr>
          </a:p>
        </p:txBody>
      </p:sp>
      <p:pic>
        <p:nvPicPr>
          <p:cNvPr descr="preencoded.png" id="873" name="Google Shape;873;p49"/>
          <p:cNvPicPr preferRelativeResize="0"/>
          <p:nvPr/>
        </p:nvPicPr>
        <p:blipFill rotWithShape="1">
          <a:blip r:embed="rId4">
            <a:alphaModFix/>
          </a:blip>
          <a:srcRect b="0" l="0" r="0" t="0"/>
          <a:stretch/>
        </p:blipFill>
        <p:spPr>
          <a:xfrm>
            <a:off x="1947672" y="2468880"/>
            <a:ext cx="146304" cy="146304"/>
          </a:xfrm>
          <a:prstGeom prst="rect">
            <a:avLst/>
          </a:prstGeom>
          <a:noFill/>
          <a:ln>
            <a:noFill/>
          </a:ln>
        </p:spPr>
      </p:pic>
      <p:sp>
        <p:nvSpPr>
          <p:cNvPr id="874" name="Google Shape;874;p49"/>
          <p:cNvSpPr/>
          <p:nvPr/>
        </p:nvSpPr>
        <p:spPr>
          <a:xfrm>
            <a:off x="2112264" y="1371600"/>
            <a:ext cx="1517904" cy="2377440"/>
          </a:xfrm>
          <a:prstGeom prst="roundRect">
            <a:avLst>
              <a:gd fmla="val 48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49"/>
          <p:cNvSpPr/>
          <p:nvPr/>
        </p:nvSpPr>
        <p:spPr>
          <a:xfrm>
            <a:off x="2619756" y="1554480"/>
            <a:ext cx="502920" cy="5029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76" name="Google Shape;876;p49"/>
          <p:cNvPicPr preferRelativeResize="0"/>
          <p:nvPr/>
        </p:nvPicPr>
        <p:blipFill rotWithShape="1">
          <a:blip r:embed="rId5">
            <a:alphaModFix/>
          </a:blip>
          <a:srcRect b="0" l="0" r="0" t="0"/>
          <a:stretch/>
        </p:blipFill>
        <p:spPr>
          <a:xfrm>
            <a:off x="2740457" y="1675181"/>
            <a:ext cx="261518" cy="261518"/>
          </a:xfrm>
          <a:prstGeom prst="rect">
            <a:avLst/>
          </a:prstGeom>
          <a:noFill/>
          <a:ln>
            <a:noFill/>
          </a:ln>
        </p:spPr>
      </p:pic>
      <p:sp>
        <p:nvSpPr>
          <p:cNvPr id="877" name="Google Shape;877;p49"/>
          <p:cNvSpPr txBox="1"/>
          <p:nvPr/>
        </p:nvSpPr>
        <p:spPr>
          <a:xfrm>
            <a:off x="2112264" y="2176272"/>
            <a:ext cx="151790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STEP 2</a:t>
            </a:r>
            <a:endParaRPr b="0" i="0" sz="800" u="none" cap="none" strike="noStrike">
              <a:solidFill>
                <a:schemeClr val="dk1"/>
              </a:solidFill>
              <a:latin typeface="Calibri"/>
              <a:ea typeface="Calibri"/>
              <a:cs typeface="Calibri"/>
              <a:sym typeface="Calibri"/>
            </a:endParaRPr>
          </a:p>
        </p:txBody>
      </p:sp>
      <p:sp>
        <p:nvSpPr>
          <p:cNvPr id="878" name="Google Shape;878;p49"/>
          <p:cNvSpPr txBox="1"/>
          <p:nvPr/>
        </p:nvSpPr>
        <p:spPr>
          <a:xfrm>
            <a:off x="2203704" y="2377440"/>
            <a:ext cx="1335024"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Already suspended?</a:t>
            </a:r>
            <a:endParaRPr b="0" i="0" sz="1100" u="none" cap="none" strike="noStrike">
              <a:solidFill>
                <a:schemeClr val="dk1"/>
              </a:solidFill>
              <a:latin typeface="Calibri"/>
              <a:ea typeface="Calibri"/>
              <a:cs typeface="Calibri"/>
              <a:sym typeface="Calibri"/>
            </a:endParaRPr>
          </a:p>
        </p:txBody>
      </p:sp>
      <p:sp>
        <p:nvSpPr>
          <p:cNvPr id="879" name="Google Shape;879;p49"/>
          <p:cNvSpPr txBox="1"/>
          <p:nvPr/>
        </p:nvSpPr>
        <p:spPr>
          <a:xfrm>
            <a:off x="2221992" y="2834640"/>
            <a:ext cx="1298448" cy="9601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Check the Issues table. Yes: leave it, coach, note. Done</a:t>
            </a:r>
            <a:endParaRPr b="0" i="0" sz="900" u="none" cap="none" strike="noStrike">
              <a:solidFill>
                <a:schemeClr val="dk1"/>
              </a:solidFill>
              <a:latin typeface="Calibri"/>
              <a:ea typeface="Calibri"/>
              <a:cs typeface="Calibri"/>
              <a:sym typeface="Calibri"/>
            </a:endParaRPr>
          </a:p>
        </p:txBody>
      </p:sp>
      <p:pic>
        <p:nvPicPr>
          <p:cNvPr descr="preencoded.png" id="880" name="Google Shape;880;p49"/>
          <p:cNvPicPr preferRelativeResize="0"/>
          <p:nvPr/>
        </p:nvPicPr>
        <p:blipFill rotWithShape="1">
          <a:blip r:embed="rId4">
            <a:alphaModFix/>
          </a:blip>
          <a:srcRect b="0" l="0" r="0" t="0"/>
          <a:stretch/>
        </p:blipFill>
        <p:spPr>
          <a:xfrm>
            <a:off x="3648456" y="2468880"/>
            <a:ext cx="146304" cy="146304"/>
          </a:xfrm>
          <a:prstGeom prst="rect">
            <a:avLst/>
          </a:prstGeom>
          <a:noFill/>
          <a:ln>
            <a:noFill/>
          </a:ln>
        </p:spPr>
      </p:pic>
      <p:sp>
        <p:nvSpPr>
          <p:cNvPr id="881" name="Google Shape;881;p49"/>
          <p:cNvSpPr/>
          <p:nvPr/>
        </p:nvSpPr>
        <p:spPr>
          <a:xfrm>
            <a:off x="3813048" y="1371600"/>
            <a:ext cx="1517904" cy="2377440"/>
          </a:xfrm>
          <a:prstGeom prst="roundRect">
            <a:avLst>
              <a:gd fmla="val 48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49"/>
          <p:cNvSpPr/>
          <p:nvPr/>
        </p:nvSpPr>
        <p:spPr>
          <a:xfrm>
            <a:off x="4320540" y="1554480"/>
            <a:ext cx="502920" cy="5029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83" name="Google Shape;883;p49"/>
          <p:cNvPicPr preferRelativeResize="0"/>
          <p:nvPr/>
        </p:nvPicPr>
        <p:blipFill rotWithShape="1">
          <a:blip r:embed="rId6">
            <a:alphaModFix/>
          </a:blip>
          <a:srcRect b="0" l="0" r="0" t="0"/>
          <a:stretch/>
        </p:blipFill>
        <p:spPr>
          <a:xfrm>
            <a:off x="4441241" y="1675181"/>
            <a:ext cx="261518" cy="261518"/>
          </a:xfrm>
          <a:prstGeom prst="rect">
            <a:avLst/>
          </a:prstGeom>
          <a:noFill/>
          <a:ln>
            <a:noFill/>
          </a:ln>
        </p:spPr>
      </p:pic>
      <p:sp>
        <p:nvSpPr>
          <p:cNvPr id="884" name="Google Shape;884;p49"/>
          <p:cNvSpPr txBox="1"/>
          <p:nvPr/>
        </p:nvSpPr>
        <p:spPr>
          <a:xfrm>
            <a:off x="3813048" y="2176272"/>
            <a:ext cx="151790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STEP 3</a:t>
            </a:r>
            <a:endParaRPr b="0" i="0" sz="800" u="none" cap="none" strike="noStrike">
              <a:solidFill>
                <a:schemeClr val="dk1"/>
              </a:solidFill>
              <a:latin typeface="Calibri"/>
              <a:ea typeface="Calibri"/>
              <a:cs typeface="Calibri"/>
              <a:sym typeface="Calibri"/>
            </a:endParaRPr>
          </a:p>
        </p:txBody>
      </p:sp>
      <p:sp>
        <p:nvSpPr>
          <p:cNvPr id="885" name="Google Shape;885;p49"/>
          <p:cNvSpPr txBox="1"/>
          <p:nvPr/>
        </p:nvSpPr>
        <p:spPr>
          <a:xfrm>
            <a:off x="3904488" y="2377440"/>
            <a:ext cx="1335024"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Find the offense</a:t>
            </a:r>
            <a:endParaRPr b="0" i="0" sz="1100" u="none" cap="none" strike="noStrike">
              <a:solidFill>
                <a:schemeClr val="dk1"/>
              </a:solidFill>
              <a:latin typeface="Calibri"/>
              <a:ea typeface="Calibri"/>
              <a:cs typeface="Calibri"/>
              <a:sym typeface="Calibri"/>
            </a:endParaRPr>
          </a:p>
        </p:txBody>
      </p:sp>
      <p:sp>
        <p:nvSpPr>
          <p:cNvPr id="886" name="Google Shape;886;p49"/>
          <p:cNvSpPr txBox="1"/>
          <p:nvPr/>
        </p:nvSpPr>
        <p:spPr>
          <a:xfrm>
            <a:off x="3922776" y="2834640"/>
            <a:ext cx="1298448" cy="9601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Take the action in the table</a:t>
            </a:r>
            <a:endParaRPr b="0" i="0" sz="900" u="none" cap="none" strike="noStrike">
              <a:solidFill>
                <a:schemeClr val="dk1"/>
              </a:solidFill>
              <a:latin typeface="Calibri"/>
              <a:ea typeface="Calibri"/>
              <a:cs typeface="Calibri"/>
              <a:sym typeface="Calibri"/>
            </a:endParaRPr>
          </a:p>
        </p:txBody>
      </p:sp>
      <p:pic>
        <p:nvPicPr>
          <p:cNvPr descr="preencoded.png" id="887" name="Google Shape;887;p49"/>
          <p:cNvPicPr preferRelativeResize="0"/>
          <p:nvPr/>
        </p:nvPicPr>
        <p:blipFill rotWithShape="1">
          <a:blip r:embed="rId4">
            <a:alphaModFix/>
          </a:blip>
          <a:srcRect b="0" l="0" r="0" t="0"/>
          <a:stretch/>
        </p:blipFill>
        <p:spPr>
          <a:xfrm>
            <a:off x="5349240" y="2468880"/>
            <a:ext cx="146304" cy="146304"/>
          </a:xfrm>
          <a:prstGeom prst="rect">
            <a:avLst/>
          </a:prstGeom>
          <a:noFill/>
          <a:ln>
            <a:noFill/>
          </a:ln>
        </p:spPr>
      </p:pic>
      <p:sp>
        <p:nvSpPr>
          <p:cNvPr id="888" name="Google Shape;888;p49"/>
          <p:cNvSpPr/>
          <p:nvPr/>
        </p:nvSpPr>
        <p:spPr>
          <a:xfrm>
            <a:off x="5513832" y="1371600"/>
            <a:ext cx="1517904" cy="2377440"/>
          </a:xfrm>
          <a:prstGeom prst="roundRect">
            <a:avLst>
              <a:gd fmla="val 48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9" name="Google Shape;889;p49"/>
          <p:cNvSpPr/>
          <p:nvPr/>
        </p:nvSpPr>
        <p:spPr>
          <a:xfrm>
            <a:off x="6021324" y="1554480"/>
            <a:ext cx="502920" cy="5029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90" name="Google Shape;890;p49"/>
          <p:cNvPicPr preferRelativeResize="0"/>
          <p:nvPr/>
        </p:nvPicPr>
        <p:blipFill rotWithShape="1">
          <a:blip r:embed="rId7">
            <a:alphaModFix/>
          </a:blip>
          <a:srcRect b="0" l="0" r="0" t="0"/>
          <a:stretch/>
        </p:blipFill>
        <p:spPr>
          <a:xfrm>
            <a:off x="6142025" y="1675181"/>
            <a:ext cx="261518" cy="261518"/>
          </a:xfrm>
          <a:prstGeom prst="rect">
            <a:avLst/>
          </a:prstGeom>
          <a:noFill/>
          <a:ln>
            <a:noFill/>
          </a:ln>
        </p:spPr>
      </p:pic>
      <p:sp>
        <p:nvSpPr>
          <p:cNvPr id="891" name="Google Shape;891;p49"/>
          <p:cNvSpPr txBox="1"/>
          <p:nvPr/>
        </p:nvSpPr>
        <p:spPr>
          <a:xfrm>
            <a:off x="5513832" y="2176272"/>
            <a:ext cx="151790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STEP 4</a:t>
            </a:r>
            <a:endParaRPr b="0" i="0" sz="800" u="none" cap="none" strike="noStrike">
              <a:solidFill>
                <a:schemeClr val="dk1"/>
              </a:solidFill>
              <a:latin typeface="Calibri"/>
              <a:ea typeface="Calibri"/>
              <a:cs typeface="Calibri"/>
              <a:sym typeface="Calibri"/>
            </a:endParaRPr>
          </a:p>
        </p:txBody>
      </p:sp>
      <p:sp>
        <p:nvSpPr>
          <p:cNvPr id="892" name="Google Shape;892;p49"/>
          <p:cNvSpPr txBox="1"/>
          <p:nvPr/>
        </p:nvSpPr>
        <p:spPr>
          <a:xfrm>
            <a:off x="5605272" y="2377440"/>
            <a:ext cx="1335024"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Coach the CP</a:t>
            </a:r>
            <a:endParaRPr b="0" i="0" sz="1100" u="none" cap="none" strike="noStrike">
              <a:solidFill>
                <a:schemeClr val="dk1"/>
              </a:solidFill>
              <a:latin typeface="Calibri"/>
              <a:ea typeface="Calibri"/>
              <a:cs typeface="Calibri"/>
              <a:sym typeface="Calibri"/>
            </a:endParaRPr>
          </a:p>
        </p:txBody>
      </p:sp>
      <p:sp>
        <p:nvSpPr>
          <p:cNvPr id="893" name="Google Shape;893;p49"/>
          <p:cNvSpPr txBox="1"/>
          <p:nvPr/>
        </p:nvSpPr>
        <p:spPr>
          <a:xfrm>
            <a:off x="5623560" y="2834640"/>
            <a:ext cx="1298448" cy="9601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What was reported and how to appeal</a:t>
            </a:r>
            <a:endParaRPr b="0" i="0" sz="900" u="none" cap="none" strike="noStrike">
              <a:solidFill>
                <a:schemeClr val="dk1"/>
              </a:solidFill>
              <a:latin typeface="Calibri"/>
              <a:ea typeface="Calibri"/>
              <a:cs typeface="Calibri"/>
              <a:sym typeface="Calibri"/>
            </a:endParaRPr>
          </a:p>
        </p:txBody>
      </p:sp>
      <p:pic>
        <p:nvPicPr>
          <p:cNvPr descr="preencoded.png" id="894" name="Google Shape;894;p49"/>
          <p:cNvPicPr preferRelativeResize="0"/>
          <p:nvPr/>
        </p:nvPicPr>
        <p:blipFill rotWithShape="1">
          <a:blip r:embed="rId4">
            <a:alphaModFix/>
          </a:blip>
          <a:srcRect b="0" l="0" r="0" t="0"/>
          <a:stretch/>
        </p:blipFill>
        <p:spPr>
          <a:xfrm>
            <a:off x="7050024" y="2468880"/>
            <a:ext cx="146304" cy="146304"/>
          </a:xfrm>
          <a:prstGeom prst="rect">
            <a:avLst/>
          </a:prstGeom>
          <a:noFill/>
          <a:ln>
            <a:noFill/>
          </a:ln>
        </p:spPr>
      </p:pic>
      <p:sp>
        <p:nvSpPr>
          <p:cNvPr id="895" name="Google Shape;895;p49"/>
          <p:cNvSpPr/>
          <p:nvPr/>
        </p:nvSpPr>
        <p:spPr>
          <a:xfrm>
            <a:off x="7214616" y="1371600"/>
            <a:ext cx="1517904" cy="2377440"/>
          </a:xfrm>
          <a:prstGeom prst="roundRect">
            <a:avLst>
              <a:gd fmla="val 48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49"/>
          <p:cNvSpPr/>
          <p:nvPr/>
        </p:nvSpPr>
        <p:spPr>
          <a:xfrm>
            <a:off x="7722108" y="1554480"/>
            <a:ext cx="502920" cy="5029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97" name="Google Shape;897;p49"/>
          <p:cNvPicPr preferRelativeResize="0"/>
          <p:nvPr/>
        </p:nvPicPr>
        <p:blipFill rotWithShape="1">
          <a:blip r:embed="rId8">
            <a:alphaModFix/>
          </a:blip>
          <a:srcRect b="0" l="0" r="0" t="0"/>
          <a:stretch/>
        </p:blipFill>
        <p:spPr>
          <a:xfrm>
            <a:off x="7842809" y="1675181"/>
            <a:ext cx="261518" cy="261518"/>
          </a:xfrm>
          <a:prstGeom prst="rect">
            <a:avLst/>
          </a:prstGeom>
          <a:noFill/>
          <a:ln>
            <a:noFill/>
          </a:ln>
        </p:spPr>
      </p:pic>
      <p:sp>
        <p:nvSpPr>
          <p:cNvPr id="898" name="Google Shape;898;p49"/>
          <p:cNvSpPr txBox="1"/>
          <p:nvPr/>
        </p:nvSpPr>
        <p:spPr>
          <a:xfrm>
            <a:off x="7214616" y="2176272"/>
            <a:ext cx="1517904"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STEP 5</a:t>
            </a:r>
            <a:endParaRPr b="0" i="0" sz="800" u="none" cap="none" strike="noStrike">
              <a:solidFill>
                <a:schemeClr val="dk1"/>
              </a:solidFill>
              <a:latin typeface="Calibri"/>
              <a:ea typeface="Calibri"/>
              <a:cs typeface="Calibri"/>
              <a:sym typeface="Calibri"/>
            </a:endParaRPr>
          </a:p>
        </p:txBody>
      </p:sp>
      <p:sp>
        <p:nvSpPr>
          <p:cNvPr id="899" name="Google Shape;899;p49"/>
          <p:cNvSpPr txBox="1"/>
          <p:nvPr/>
        </p:nvSpPr>
        <p:spPr>
          <a:xfrm>
            <a:off x="7306056" y="2377440"/>
            <a:ext cx="1335024"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Leave a note</a:t>
            </a:r>
            <a:endParaRPr b="0" i="0" sz="1100" u="none" cap="none" strike="noStrike">
              <a:solidFill>
                <a:schemeClr val="dk1"/>
              </a:solidFill>
              <a:latin typeface="Calibri"/>
              <a:ea typeface="Calibri"/>
              <a:cs typeface="Calibri"/>
              <a:sym typeface="Calibri"/>
            </a:endParaRPr>
          </a:p>
        </p:txBody>
      </p:sp>
      <p:sp>
        <p:nvSpPr>
          <p:cNvPr id="900" name="Google Shape;900;p49"/>
          <p:cNvSpPr txBox="1"/>
          <p:nvPr/>
        </p:nvSpPr>
        <p:spPr>
          <a:xfrm>
            <a:off x="7324344" y="2834640"/>
            <a:ext cx="1298448" cy="9601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So the CP-side team doesn't re-investigate</a:t>
            </a:r>
            <a:endParaRPr b="0" i="0" sz="900" u="none" cap="none" strike="noStrike">
              <a:solidFill>
                <a:schemeClr val="dk1"/>
              </a:solidFill>
              <a:latin typeface="Calibri"/>
              <a:ea typeface="Calibri"/>
              <a:cs typeface="Calibri"/>
              <a:sym typeface="Calibri"/>
            </a:endParaRPr>
          </a:p>
        </p:txBody>
      </p:sp>
      <p:sp>
        <p:nvSpPr>
          <p:cNvPr id="901" name="Google Shape;901;p4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5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PENALTY: C-SIDE HANDLING  ·  STEP 3</a:t>
            </a:r>
            <a:endParaRPr b="0" i="0" sz="800" u="none" cap="none" strike="noStrike">
              <a:solidFill>
                <a:schemeClr val="dk1"/>
              </a:solidFill>
              <a:latin typeface="Calibri"/>
              <a:ea typeface="Calibri"/>
              <a:cs typeface="Calibri"/>
              <a:sym typeface="Calibri"/>
            </a:endParaRPr>
          </a:p>
        </p:txBody>
      </p:sp>
      <p:sp>
        <p:nvSpPr>
          <p:cNvPr id="908" name="Google Shape;908;p5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action for each offense</a:t>
            </a:r>
            <a:endParaRPr b="0" i="0" sz="2400" u="none" cap="none" strike="noStrike">
              <a:solidFill>
                <a:schemeClr val="dk1"/>
              </a:solidFill>
              <a:latin typeface="Calibri"/>
              <a:ea typeface="Calibri"/>
              <a:cs typeface="Calibri"/>
              <a:sym typeface="Calibri"/>
            </a:endParaRPr>
          </a:p>
        </p:txBody>
      </p:sp>
      <p:graphicFrame>
        <p:nvGraphicFramePr>
          <p:cNvPr id="909" name="Google Shape;909;p50"/>
          <p:cNvGraphicFramePr/>
          <p:nvPr/>
        </p:nvGraphicFramePr>
        <p:xfrm>
          <a:off x="411480" y="1051560"/>
          <a:ext cx="3000000" cy="3000000"/>
        </p:xfrm>
        <a:graphic>
          <a:graphicData uri="http://schemas.openxmlformats.org/drawingml/2006/table">
            <a:tbl>
              <a:tblPr>
                <a:noFill/>
                <a:tableStyleId>{0D802810-0E66-425F-9816-536649EA7155}</a:tableStyleId>
              </a:tblPr>
              <a:tblGrid>
                <a:gridCol w="1965950"/>
                <a:gridCol w="2606050"/>
                <a:gridCol w="2103125"/>
                <a:gridCol w="1645925"/>
              </a:tblGrid>
              <a:tr h="329175">
                <a:tc>
                  <a:txBody>
                    <a:bodyPr/>
                    <a:lstStyle/>
                    <a:p>
                      <a:pPr indent="0" lvl="0" marL="0" marR="0" rtl="0" algn="l">
                        <a:lnSpc>
                          <a:spcPct val="100000"/>
                        </a:lnSpc>
                        <a:spcBef>
                          <a:spcPts val="0"/>
                        </a:spcBef>
                        <a:spcAft>
                          <a:spcPts val="0"/>
                        </a:spcAft>
                        <a:buClr>
                          <a:srgbClr val="0B7A6F"/>
                        </a:buClr>
                        <a:buSzPts val="800"/>
                        <a:buFont typeface="Play"/>
                        <a:buNone/>
                      </a:pPr>
                      <a:r>
                        <a:rPr b="1" lang="en" sz="800" u="none" cap="none" strike="noStrike">
                          <a:solidFill>
                            <a:srgbClr val="0B7A6F"/>
                          </a:solidFill>
                          <a:latin typeface="Play"/>
                          <a:ea typeface="Play"/>
                          <a:cs typeface="Play"/>
                          <a:sym typeface="Play"/>
                        </a:rPr>
                        <a:t>Customer reported</a:t>
                      </a:r>
                      <a:endParaRPr sz="8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00"/>
                        <a:buFont typeface="Play"/>
                        <a:buNone/>
                      </a:pPr>
                      <a:r>
                        <a:rPr b="1" lang="en" sz="800" u="none" cap="none" strike="noStrike">
                          <a:solidFill>
                            <a:srgbClr val="0B7A6F"/>
                          </a:solidFill>
                          <a:latin typeface="Play"/>
                          <a:ea typeface="Play"/>
                          <a:cs typeface="Play"/>
                          <a:sym typeface="Play"/>
                        </a:rPr>
                        <a:t>Flag / report</a:t>
                      </a:r>
                      <a:endParaRPr sz="8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00"/>
                        <a:buFont typeface="Play"/>
                        <a:buNone/>
                      </a:pPr>
                      <a:r>
                        <a:rPr b="1" lang="en" sz="800" u="none" cap="none" strike="noStrike">
                          <a:solidFill>
                            <a:srgbClr val="0B7A6F"/>
                          </a:solidFill>
                          <a:latin typeface="Play"/>
                          <a:ea typeface="Play"/>
                          <a:cs typeface="Play"/>
                          <a:sym typeface="Play"/>
                        </a:rPr>
                        <a:t>CP status</a:t>
                      </a:r>
                      <a:endParaRPr sz="8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00"/>
                        <a:buFont typeface="Play"/>
                        <a:buNone/>
                      </a:pPr>
                      <a:r>
                        <a:rPr b="1" lang="en" sz="800" u="none" cap="none" strike="noStrike">
                          <a:solidFill>
                            <a:srgbClr val="0B7A6F"/>
                          </a:solidFill>
                          <a:latin typeface="Play"/>
                          <a:ea typeface="Play"/>
                          <a:cs typeface="Play"/>
                          <a:sym typeface="Play"/>
                        </a:rPr>
                        <a:t>Coaching</a:t>
                      </a:r>
                      <a:endParaRPr sz="8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800"/>
                        <a:buFont typeface="Arial"/>
                        <a:buNone/>
                      </a:pPr>
                      <a:r>
                        <a:rPr b="1" lang="en" sz="800" u="none" cap="none" strike="noStrike">
                          <a:solidFill>
                            <a:srgbClr val="1D1D1F"/>
                          </a:solidFill>
                          <a:latin typeface="Arial"/>
                          <a:ea typeface="Arial"/>
                          <a:cs typeface="Arial"/>
                          <a:sym typeface="Arial"/>
                        </a:rPr>
                        <a:t>No-show or CP cancellation</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Job Admin &gt; No Show, or cancel from the CP Dashboard </a:t>
                      </a:r>
                      <a:r>
                        <a:rPr lang="en" sz="800" u="none" cap="none" strike="noStrike">
                          <a:solidFill>
                            <a:srgbClr val="6E6E73"/>
                          </a:solidFill>
                        </a:rPr>
                        <a:t>if the CP should be penalized. </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Lean coaching. norequests only if repeat</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No-show / cancellation macro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00"/>
                        <a:buFont typeface="Arial"/>
                        <a:buNone/>
                      </a:pPr>
                      <a:r>
                        <a:rPr b="1" lang="en" sz="800" u="none" cap="none" strike="noStrike">
                          <a:solidFill>
                            <a:srgbClr val="1D1D1F"/>
                          </a:solidFill>
                          <a:latin typeface="Arial"/>
                          <a:ea typeface="Arial"/>
                          <a:cs typeface="Arial"/>
                          <a:sym typeface="Arial"/>
                        </a:rPr>
                        <a:t>Unauthorized reschedule</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1st: no change · 2nd+: norequests</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Warning macro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00"/>
                        <a:buFont typeface="Arial"/>
                        <a:buNone/>
                      </a:pPr>
                      <a:r>
                        <a:rPr b="1" lang="en" sz="800" u="none" cap="none" strike="noStrike">
                          <a:solidFill>
                            <a:srgbClr val="1D1D1F"/>
                          </a:solidFill>
                          <a:latin typeface="Arial"/>
                          <a:ea typeface="Arial"/>
                          <a:cs typeface="Arial"/>
                          <a:sym typeface="Arial"/>
                        </a:rPr>
                        <a:t>False invoice (incl. "never came")</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cp_false_invoice (may auto-suspend new CPs)</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norequests if not auto-suspended</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False invoice macro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00"/>
                        <a:buFont typeface="Arial"/>
                        <a:buNone/>
                      </a:pPr>
                      <a:r>
                        <a:rPr b="1" lang="en" sz="800" u="none" cap="none" strike="noStrike">
                          <a:solidFill>
                            <a:srgbClr val="1D1D1F"/>
                          </a:solidFill>
                          <a:latin typeface="Arial"/>
                          <a:ea typeface="Arial"/>
                          <a:cs typeface="Arial"/>
                          <a:sym typeface="Arial"/>
                        </a:rPr>
                        <a:t>Overcharged hours</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cp_overcharged_hours (refund 30+ min)</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norequests</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Overcharged Hours series</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00"/>
                        <a:buFont typeface="Arial"/>
                        <a:buNone/>
                      </a:pPr>
                      <a:r>
                        <a:rPr b="1" lang="en" sz="800" u="none" cap="none" strike="noStrike">
                          <a:solidFill>
                            <a:srgbClr val="1D1D1F"/>
                          </a:solidFill>
                          <a:latin typeface="Arial"/>
                          <a:ea typeface="Arial"/>
                          <a:cs typeface="Arial"/>
                          <a:sym typeface="Arial"/>
                        </a:rPr>
                        <a:t>Accepted cash</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accepting_cash_not_allowed_warning (by macro)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1st: no change · 2nd+: norequests</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Accepted Cash macro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00"/>
                        <a:buFont typeface="Arial"/>
                        <a:buNone/>
                      </a:pPr>
                      <a:r>
                        <a:rPr b="1" lang="en" sz="800" u="none" cap="none" strike="noStrike">
                          <a:solidFill>
                            <a:srgbClr val="1D1D1F"/>
                          </a:solidFill>
                          <a:latin typeface="Arial"/>
                          <a:ea typeface="Arial"/>
                          <a:cs typeface="Arial"/>
                          <a:sym typeface="Arial"/>
                        </a:rPr>
                        <a:t>Missing supplies (Gen Op)</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require_new_cleaning_supplies_photo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Set by the flag</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No/Incomplete Supplies macro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00"/>
                        <a:buFont typeface="Arial"/>
                        <a:buNone/>
                      </a:pPr>
                      <a:r>
                        <a:rPr b="1" lang="en" sz="800" u="none" cap="none" strike="noStrike">
                          <a:solidFill>
                            <a:srgbClr val="1D1D1F"/>
                          </a:solidFill>
                          <a:latin typeface="Arial"/>
                          <a:ea typeface="Arial"/>
                          <a:cs typeface="Arial"/>
                          <a:sym typeface="Arial"/>
                        </a:rPr>
                        <a:t>Missing supplies (non-Gen Op)</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No change</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No/Incomplete Supplies macro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00"/>
                        <a:buFont typeface="Arial"/>
                        <a:buNone/>
                      </a:pPr>
                      <a:r>
                        <a:rPr b="1" lang="en" sz="800" u="none" cap="none" strike="noStrike">
                          <a:solidFill>
                            <a:srgbClr val="1D1D1F"/>
                          </a:solidFill>
                          <a:latin typeface="Arial"/>
                          <a:ea typeface="Arial"/>
                          <a:cs typeface="Arial"/>
                          <a:sym typeface="Arial"/>
                        </a:rPr>
                        <a:t>Rude / unprofessional (not safety)</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norequests</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00"/>
                        <a:buFont typeface="Arial"/>
                        <a:buNone/>
                      </a:pPr>
                      <a:r>
                        <a:rPr lang="en" sz="800" u="none" cap="none" strike="noStrike">
                          <a:solidFill>
                            <a:srgbClr val="6E6E73"/>
                          </a:solidFill>
                          <a:latin typeface="Arial"/>
                          <a:ea typeface="Arial"/>
                          <a:cs typeface="Arial"/>
                          <a:sym typeface="Arial"/>
                        </a:rPr>
                        <a:t>Coaching macro</a:t>
                      </a:r>
                      <a:endParaRPr sz="8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910" name="Google Shape;910;p50"/>
          <p:cNvSpPr/>
          <p:nvPr/>
        </p:nvSpPr>
        <p:spPr>
          <a:xfrm>
            <a:off x="411480" y="4315968"/>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11" name="Google Shape;911;p50"/>
          <p:cNvPicPr preferRelativeResize="0"/>
          <p:nvPr/>
        </p:nvPicPr>
        <p:blipFill rotWithShape="1">
          <a:blip r:embed="rId3">
            <a:alphaModFix/>
          </a:blip>
          <a:srcRect b="0" l="0" r="0" t="0"/>
          <a:stretch/>
        </p:blipFill>
        <p:spPr>
          <a:xfrm>
            <a:off x="566928" y="4425696"/>
            <a:ext cx="164592" cy="164592"/>
          </a:xfrm>
          <a:prstGeom prst="rect">
            <a:avLst/>
          </a:prstGeom>
          <a:noFill/>
          <a:ln>
            <a:noFill/>
          </a:ln>
        </p:spPr>
      </p:pic>
      <p:sp>
        <p:nvSpPr>
          <p:cNvPr id="912" name="Google Shape;912;p50"/>
          <p:cNvSpPr txBox="1"/>
          <p:nvPr/>
        </p:nvSpPr>
        <p:spPr>
          <a:xfrm>
            <a:off x="822960" y="4416552"/>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Easy to miss:  </a:t>
            </a:r>
            <a:r>
              <a:rPr b="0" i="0" lang="en" sz="1000" u="none" cap="none" strike="noStrike">
                <a:solidFill>
                  <a:srgbClr val="1D1D1F"/>
                </a:solidFill>
                <a:latin typeface="Arial"/>
                <a:ea typeface="Arial"/>
                <a:cs typeface="Arial"/>
                <a:sym typeface="Arial"/>
              </a:rPr>
              <a:t>reschedules and accepted cash are coaching-only the first time. Check for a past warning.</a:t>
            </a:r>
            <a:endParaRPr b="0" i="0" sz="1000" u="none" cap="none" strike="noStrike">
              <a:solidFill>
                <a:schemeClr val="dk1"/>
              </a:solidFill>
              <a:latin typeface="Calibri"/>
              <a:ea typeface="Calibri"/>
              <a:cs typeface="Calibri"/>
              <a:sym typeface="Calibri"/>
            </a:endParaRPr>
          </a:p>
        </p:txBody>
      </p:sp>
      <p:sp>
        <p:nvSpPr>
          <p:cNvPr id="913" name="Google Shape;913;p5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5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PENALTY: C-SIDE HANDLING  ·  STEPS 4 &amp; 5</a:t>
            </a:r>
            <a:endParaRPr b="0" i="0" sz="800" u="none" cap="none" strike="noStrike">
              <a:solidFill>
                <a:schemeClr val="dk1"/>
              </a:solidFill>
              <a:latin typeface="Calibri"/>
              <a:ea typeface="Calibri"/>
              <a:cs typeface="Calibri"/>
              <a:sym typeface="Calibri"/>
            </a:endParaRPr>
          </a:p>
        </p:txBody>
      </p:sp>
      <p:sp>
        <p:nvSpPr>
          <p:cNvPr id="920" name="Google Shape;920;p5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Coach, then document</a:t>
            </a:r>
            <a:endParaRPr b="0" i="0" sz="2400" u="none" cap="none" strike="noStrike">
              <a:solidFill>
                <a:schemeClr val="dk1"/>
              </a:solidFill>
              <a:latin typeface="Calibri"/>
              <a:ea typeface="Calibri"/>
              <a:cs typeface="Calibri"/>
              <a:sym typeface="Calibri"/>
            </a:endParaRPr>
          </a:p>
        </p:txBody>
      </p:sp>
      <p:sp>
        <p:nvSpPr>
          <p:cNvPr id="921" name="Google Shape;921;p51"/>
          <p:cNvSpPr/>
          <p:nvPr/>
        </p:nvSpPr>
        <p:spPr>
          <a:xfrm>
            <a:off x="411480" y="1188720"/>
            <a:ext cx="4091940" cy="3017520"/>
          </a:xfrm>
          <a:prstGeom prst="roundRect">
            <a:avLst>
              <a:gd fmla="val 24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51"/>
          <p:cNvSpPr/>
          <p:nvPr/>
        </p:nvSpPr>
        <p:spPr>
          <a:xfrm>
            <a:off x="594360" y="1371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3" name="Google Shape;923;p51"/>
          <p:cNvPicPr preferRelativeResize="0"/>
          <p:nvPr/>
        </p:nvPicPr>
        <p:blipFill rotWithShape="1">
          <a:blip r:embed="rId3">
            <a:alphaModFix/>
          </a:blip>
          <a:srcRect b="0" l="0" r="0" t="0"/>
          <a:stretch/>
        </p:blipFill>
        <p:spPr>
          <a:xfrm>
            <a:off x="686532" y="1463772"/>
            <a:ext cx="199705" cy="199705"/>
          </a:xfrm>
          <a:prstGeom prst="rect">
            <a:avLst/>
          </a:prstGeom>
          <a:noFill/>
          <a:ln>
            <a:noFill/>
          </a:ln>
        </p:spPr>
      </p:pic>
      <p:sp>
        <p:nvSpPr>
          <p:cNvPr id="924" name="Google Shape;924;p51"/>
          <p:cNvSpPr txBox="1"/>
          <p:nvPr/>
        </p:nvSpPr>
        <p:spPr>
          <a:xfrm>
            <a:off x="1097280" y="1371600"/>
            <a:ext cx="32689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Step 4: Coach the CP</a:t>
            </a:r>
            <a:endParaRPr b="0" i="0" sz="1300" u="none" cap="none" strike="noStrike">
              <a:solidFill>
                <a:schemeClr val="dk1"/>
              </a:solidFill>
              <a:latin typeface="Calibri"/>
              <a:ea typeface="Calibri"/>
              <a:cs typeface="Calibri"/>
              <a:sym typeface="Calibri"/>
            </a:endParaRPr>
          </a:p>
        </p:txBody>
      </p:sp>
      <p:sp>
        <p:nvSpPr>
          <p:cNvPr id="925" name="Google Shape;925;p51"/>
          <p:cNvSpPr txBox="1"/>
          <p:nvPr/>
        </p:nvSpPr>
        <p:spPr>
          <a:xfrm>
            <a:off x="594360" y="1920240"/>
            <a:ext cx="3726180" cy="210312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50"/>
              <a:buFont typeface="Arial"/>
              <a:buChar char="•"/>
            </a:pPr>
            <a:r>
              <a:rPr b="0" i="0" lang="en" sz="1050" u="none" cap="none" strike="noStrike">
                <a:solidFill>
                  <a:srgbClr val="1D1D1F"/>
                </a:solidFill>
                <a:latin typeface="Arial"/>
                <a:ea typeface="Arial"/>
                <a:cs typeface="Arial"/>
                <a:sym typeface="Arial"/>
              </a:rPr>
              <a:t>Explain exactly what was reported</a:t>
            </a:r>
            <a:endParaRPr b="0" i="0" sz="105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1050"/>
              <a:buFont typeface="Arial"/>
              <a:buChar char="•"/>
            </a:pPr>
            <a:r>
              <a:rPr b="0" i="0" lang="en" sz="1050" u="none" cap="none" strike="noStrike">
                <a:solidFill>
                  <a:srgbClr val="1D1D1F"/>
                </a:solidFill>
                <a:latin typeface="Arial"/>
                <a:ea typeface="Arial"/>
                <a:cs typeface="Arial"/>
                <a:sym typeface="Arial"/>
              </a:rPr>
              <a:t>If you paused them, say so and explain how to appeal from their dashboard</a:t>
            </a:r>
            <a:endParaRPr b="0" i="0" sz="105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1050"/>
              <a:buFont typeface="Arial"/>
              <a:buChar char="•"/>
            </a:pPr>
            <a:r>
              <a:rPr b="0" i="0" lang="en" sz="1050" u="none" cap="none" strike="noStrike">
                <a:solidFill>
                  <a:srgbClr val="1D1D1F"/>
                </a:solidFill>
                <a:latin typeface="Arial"/>
                <a:ea typeface="Arial"/>
                <a:cs typeface="Arial"/>
                <a:sym typeface="Arial"/>
              </a:rPr>
              <a:t>Never hint at an outcome ("you'll probably be reactivated"). The CP-side team decides</a:t>
            </a:r>
            <a:endParaRPr b="0" i="0" sz="1050" u="none" cap="none" strike="noStrike">
              <a:solidFill>
                <a:schemeClr val="dk1"/>
              </a:solidFill>
              <a:latin typeface="Calibri"/>
              <a:ea typeface="Calibri"/>
              <a:cs typeface="Calibri"/>
              <a:sym typeface="Calibri"/>
            </a:endParaRPr>
          </a:p>
        </p:txBody>
      </p:sp>
      <p:sp>
        <p:nvSpPr>
          <p:cNvPr id="926" name="Google Shape;926;p51"/>
          <p:cNvSpPr/>
          <p:nvPr/>
        </p:nvSpPr>
        <p:spPr>
          <a:xfrm>
            <a:off x="4640580" y="1188720"/>
            <a:ext cx="4091940" cy="3017520"/>
          </a:xfrm>
          <a:prstGeom prst="roundRect">
            <a:avLst>
              <a:gd fmla="val 24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51"/>
          <p:cNvSpPr/>
          <p:nvPr/>
        </p:nvSpPr>
        <p:spPr>
          <a:xfrm>
            <a:off x="4823460" y="1371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8" name="Google Shape;928;p51"/>
          <p:cNvPicPr preferRelativeResize="0"/>
          <p:nvPr/>
        </p:nvPicPr>
        <p:blipFill rotWithShape="1">
          <a:blip r:embed="rId4">
            <a:alphaModFix/>
          </a:blip>
          <a:srcRect b="0" l="0" r="0" t="0"/>
          <a:stretch/>
        </p:blipFill>
        <p:spPr>
          <a:xfrm>
            <a:off x="4915632" y="1463772"/>
            <a:ext cx="199705" cy="199705"/>
          </a:xfrm>
          <a:prstGeom prst="rect">
            <a:avLst/>
          </a:prstGeom>
          <a:noFill/>
          <a:ln>
            <a:noFill/>
          </a:ln>
        </p:spPr>
      </p:pic>
      <p:sp>
        <p:nvSpPr>
          <p:cNvPr id="929" name="Google Shape;929;p51"/>
          <p:cNvSpPr txBox="1"/>
          <p:nvPr/>
        </p:nvSpPr>
        <p:spPr>
          <a:xfrm>
            <a:off x="5326380" y="1371600"/>
            <a:ext cx="32689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Step 5: Internal note</a:t>
            </a:r>
            <a:endParaRPr b="0" i="0" sz="1300" u="none" cap="none" strike="noStrike">
              <a:solidFill>
                <a:schemeClr val="dk1"/>
              </a:solidFill>
              <a:latin typeface="Calibri"/>
              <a:ea typeface="Calibri"/>
              <a:cs typeface="Calibri"/>
              <a:sym typeface="Calibri"/>
            </a:endParaRPr>
          </a:p>
        </p:txBody>
      </p:sp>
      <p:sp>
        <p:nvSpPr>
          <p:cNvPr id="930" name="Google Shape;930;p51"/>
          <p:cNvSpPr/>
          <p:nvPr/>
        </p:nvSpPr>
        <p:spPr>
          <a:xfrm>
            <a:off x="4823460" y="1920240"/>
            <a:ext cx="3726180" cy="2103120"/>
          </a:xfrm>
          <a:prstGeom prst="roundRect">
            <a:avLst>
              <a:gd fmla="val 3478" name="adj"/>
            </a:avLst>
          </a:prstGeom>
          <a:solidFill>
            <a:srgbClr val="F6F7F9"/>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1" name="Google Shape;931;p51"/>
          <p:cNvSpPr txBox="1"/>
          <p:nvPr/>
        </p:nvSpPr>
        <p:spPr>
          <a:xfrm>
            <a:off x="4960620" y="2011680"/>
            <a:ext cx="3451860" cy="1920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Courier New"/>
              <a:buNone/>
            </a:pPr>
            <a:r>
              <a:rPr b="1" i="0" lang="en" sz="950" u="none" cap="none" strike="noStrike">
                <a:solidFill>
                  <a:srgbClr val="1D1D1F"/>
                </a:solidFill>
                <a:latin typeface="Courier New"/>
                <a:ea typeface="Courier New"/>
                <a:cs typeface="Courier New"/>
                <a:sym typeface="Courier New"/>
              </a:rPr>
              <a:t>CP No Request — J &lt;JOB ID&gt;</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Courier New"/>
              <a:buNone/>
            </a:pPr>
            <a:r>
              <a:rPr b="0" i="0" lang="en" sz="950" u="none" cap="none" strike="noStrike">
                <a:solidFill>
                  <a:srgbClr val="1D1D1F"/>
                </a:solidFill>
                <a:latin typeface="Courier New"/>
                <a:ea typeface="Courier New"/>
                <a:cs typeface="Courier New"/>
                <a:sym typeface="Courier New"/>
              </a:rPr>
              <a:t>Reported by C: &lt;what the customer said, one line&gt;</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Courier New"/>
              <a:buNone/>
            </a:pPr>
            <a:r>
              <a:rPr b="0" i="0" lang="en" sz="950" u="none" cap="none" strike="noStrike">
                <a:solidFill>
                  <a:srgbClr val="1D1D1F"/>
                </a:solidFill>
                <a:latin typeface="Courier New"/>
                <a:ea typeface="Courier New"/>
                <a:cs typeface="Courier New"/>
                <a:sym typeface="Courier New"/>
              </a:rPr>
              <a:t>Evidence: &lt;comms, GPS if available, CTJ, photos&gt;</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Courier New"/>
              <a:buNone/>
            </a:pPr>
            <a:r>
              <a:rPr b="0" i="0" lang="en" sz="950" u="none" cap="none" strike="noStrike">
                <a:solidFill>
                  <a:srgbClr val="1D1D1F"/>
                </a:solidFill>
                <a:latin typeface="Courier New"/>
                <a:ea typeface="Courier New"/>
                <a:cs typeface="Courier New"/>
                <a:sym typeface="Courier New"/>
              </a:rPr>
              <a:t>Action: &lt;flag&gt; / &lt;status&gt; / &lt;macro sent&gt;</a:t>
            </a:r>
            <a:endParaRPr b="0" i="0" sz="95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1D1D1F"/>
              </a:buClr>
              <a:buSzPts val="950"/>
              <a:buFont typeface="Courier New"/>
              <a:buNone/>
            </a:pPr>
            <a:r>
              <a:rPr b="0" i="0" lang="en" sz="950" u="none" cap="none" strike="noStrike">
                <a:solidFill>
                  <a:srgbClr val="1D1D1F"/>
                </a:solidFill>
                <a:latin typeface="Courier New"/>
                <a:ea typeface="Courier New"/>
                <a:cs typeface="Courier New"/>
                <a:sym typeface="Courier New"/>
              </a:rPr>
              <a:t>C-side resolution: &lt;refund, credits, rebook&gt;</a:t>
            </a:r>
            <a:endParaRPr b="0" i="0" sz="950" u="none" cap="none" strike="noStrike">
              <a:solidFill>
                <a:schemeClr val="dk1"/>
              </a:solidFill>
              <a:latin typeface="Calibri"/>
              <a:ea typeface="Calibri"/>
              <a:cs typeface="Calibri"/>
              <a:sym typeface="Calibri"/>
            </a:endParaRPr>
          </a:p>
        </p:txBody>
      </p:sp>
      <p:sp>
        <p:nvSpPr>
          <p:cNvPr id="932" name="Google Shape;932;p5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5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PROFILE STATUS &amp; CP-FACING DEACTIVATION  ·  QUICK KNOWLEDGE CHECK</a:t>
            </a:r>
            <a:endParaRPr b="0" i="0" sz="800" u="none" cap="none" strike="noStrike">
              <a:solidFill>
                <a:schemeClr val="dk1"/>
              </a:solidFill>
              <a:latin typeface="Calibri"/>
              <a:ea typeface="Calibri"/>
              <a:cs typeface="Calibri"/>
              <a:sym typeface="Calibri"/>
            </a:endParaRPr>
          </a:p>
        </p:txBody>
      </p:sp>
      <p:sp>
        <p:nvSpPr>
          <p:cNvPr id="938" name="Google Shape;938;p5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Quick Knowledge Check</a:t>
            </a:r>
            <a:endParaRPr b="0" i="0" sz="2400" u="none" cap="none" strike="noStrike">
              <a:solidFill>
                <a:schemeClr val="dk1"/>
              </a:solidFill>
              <a:latin typeface="Calibri"/>
              <a:ea typeface="Calibri"/>
              <a:cs typeface="Calibri"/>
              <a:sym typeface="Calibri"/>
            </a:endParaRPr>
          </a:p>
        </p:txBody>
      </p:sp>
      <p:sp>
        <p:nvSpPr>
          <p:cNvPr id="939" name="Google Shape;939;p5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Ask each question, then click to reveal the answer.</a:t>
            </a:r>
            <a:endParaRPr b="0" i="0" sz="1200" u="none" cap="none" strike="noStrike">
              <a:solidFill>
                <a:schemeClr val="dk1"/>
              </a:solidFill>
              <a:latin typeface="Calibri"/>
              <a:ea typeface="Calibri"/>
              <a:cs typeface="Calibri"/>
              <a:sym typeface="Calibri"/>
            </a:endParaRPr>
          </a:p>
        </p:txBody>
      </p:sp>
      <p:sp>
        <p:nvSpPr>
          <p:cNvPr id="940" name="Google Shape;940;p5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941" name="Google Shape;941;p52"/>
          <p:cNvSpPr/>
          <p:nvPr/>
        </p:nvSpPr>
        <p:spPr>
          <a:xfrm>
            <a:off x="411480" y="1280160"/>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2" name="Google Shape;942;p52"/>
          <p:cNvSpPr/>
          <p:nvPr/>
        </p:nvSpPr>
        <p:spPr>
          <a:xfrm>
            <a:off x="548640" y="1398270"/>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1</a:t>
            </a:r>
            <a:endParaRPr/>
          </a:p>
        </p:txBody>
      </p:sp>
      <p:sp>
        <p:nvSpPr>
          <p:cNvPr id="943" name="Google Shape;943;p52"/>
          <p:cNvSpPr txBox="1"/>
          <p:nvPr/>
        </p:nvSpPr>
        <p:spPr>
          <a:xfrm>
            <a:off x="960120" y="1280160"/>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A CP is on norequests. Can they keep jobs they already claimed?</a:t>
            </a:r>
            <a:endParaRPr/>
          </a:p>
        </p:txBody>
      </p:sp>
      <p:sp>
        <p:nvSpPr>
          <p:cNvPr id="944" name="Google Shape;944;p52"/>
          <p:cNvSpPr/>
          <p:nvPr/>
        </p:nvSpPr>
        <p:spPr>
          <a:xfrm>
            <a:off x="5120640" y="1280160"/>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5" name="Google Shape;945;p52"/>
          <p:cNvSpPr txBox="1"/>
          <p:nvPr/>
        </p:nvSpPr>
        <p:spPr>
          <a:xfrm>
            <a:off x="5257800" y="1280160"/>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Yes. They just can't claim new jobs.</a:t>
            </a:r>
            <a:endParaRPr/>
          </a:p>
        </p:txBody>
      </p:sp>
      <p:sp>
        <p:nvSpPr>
          <p:cNvPr id="946" name="Google Shape;946;p52"/>
          <p:cNvSpPr/>
          <p:nvPr/>
        </p:nvSpPr>
        <p:spPr>
          <a:xfrm>
            <a:off x="411480" y="1863851"/>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47" name="Google Shape;947;p52"/>
          <p:cNvSpPr/>
          <p:nvPr/>
        </p:nvSpPr>
        <p:spPr>
          <a:xfrm>
            <a:off x="548640" y="1981962"/>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2</a:t>
            </a:r>
            <a:endParaRPr/>
          </a:p>
        </p:txBody>
      </p:sp>
      <p:sp>
        <p:nvSpPr>
          <p:cNvPr id="948" name="Google Shape;948;p52"/>
          <p:cNvSpPr txBox="1"/>
          <p:nvPr/>
        </p:nvSpPr>
        <p:spPr>
          <a:xfrm>
            <a:off x="960120" y="1863851"/>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norequests vs suspended: what's the difference?</a:t>
            </a:r>
            <a:endParaRPr/>
          </a:p>
        </p:txBody>
      </p:sp>
      <p:sp>
        <p:nvSpPr>
          <p:cNvPr id="949" name="Google Shape;949;p52"/>
          <p:cNvSpPr/>
          <p:nvPr/>
        </p:nvSpPr>
        <p:spPr>
          <a:xfrm>
            <a:off x="5120640" y="1863851"/>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0" name="Google Shape;950;p52"/>
          <p:cNvSpPr txBox="1"/>
          <p:nvPr/>
        </p:nvSpPr>
        <p:spPr>
          <a:xfrm>
            <a:off x="5257800" y="1863851"/>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Suspended also loses claimed jobs, and the dashboard is limited to Completed Jobs.</a:t>
            </a:r>
            <a:endParaRPr/>
          </a:p>
        </p:txBody>
      </p:sp>
      <p:sp>
        <p:nvSpPr>
          <p:cNvPr id="951" name="Google Shape;951;p52"/>
          <p:cNvSpPr/>
          <p:nvPr/>
        </p:nvSpPr>
        <p:spPr>
          <a:xfrm>
            <a:off x="411480" y="2447544"/>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2" name="Google Shape;952;p52"/>
          <p:cNvSpPr/>
          <p:nvPr/>
        </p:nvSpPr>
        <p:spPr>
          <a:xfrm>
            <a:off x="548640" y="2565654"/>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3</a:t>
            </a:r>
            <a:endParaRPr/>
          </a:p>
        </p:txBody>
      </p:sp>
      <p:sp>
        <p:nvSpPr>
          <p:cNvPr id="953" name="Google Shape;953;p52"/>
          <p:cNvSpPr txBox="1"/>
          <p:nvPr/>
        </p:nvSpPr>
        <p:spPr>
          <a:xfrm>
            <a:off x="960120" y="2447544"/>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What do you check before changing a CP's status?</a:t>
            </a:r>
            <a:endParaRPr/>
          </a:p>
        </p:txBody>
      </p:sp>
      <p:sp>
        <p:nvSpPr>
          <p:cNvPr id="954" name="Google Shape;954;p52"/>
          <p:cNvSpPr/>
          <p:nvPr/>
        </p:nvSpPr>
        <p:spPr>
          <a:xfrm>
            <a:off x="5120640" y="2447544"/>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5" name="Google Shape;955;p52"/>
          <p:cNvSpPr txBox="1"/>
          <p:nvPr/>
        </p:nvSpPr>
        <p:spPr>
          <a:xfrm>
            <a:off x="5257800" y="2447544"/>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The Flags table history. Ask: "Would I want this cleaner for my cleaning?"</a:t>
            </a:r>
            <a:endParaRPr/>
          </a:p>
        </p:txBody>
      </p:sp>
      <p:sp>
        <p:nvSpPr>
          <p:cNvPr id="956" name="Google Shape;956;p52"/>
          <p:cNvSpPr/>
          <p:nvPr/>
        </p:nvSpPr>
        <p:spPr>
          <a:xfrm>
            <a:off x="411480" y="3031236"/>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57" name="Google Shape;957;p52"/>
          <p:cNvSpPr/>
          <p:nvPr/>
        </p:nvSpPr>
        <p:spPr>
          <a:xfrm>
            <a:off x="548640" y="3149346"/>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4</a:t>
            </a:r>
            <a:endParaRPr/>
          </a:p>
        </p:txBody>
      </p:sp>
      <p:sp>
        <p:nvSpPr>
          <p:cNvPr id="958" name="Google Shape;958;p52"/>
          <p:cNvSpPr txBox="1"/>
          <p:nvPr/>
        </p:nvSpPr>
        <p:spPr>
          <a:xfrm>
            <a:off x="960120" y="3031236"/>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A new CP on probation has a no-show. What does the system do?</a:t>
            </a:r>
            <a:endParaRPr/>
          </a:p>
        </p:txBody>
      </p:sp>
      <p:sp>
        <p:nvSpPr>
          <p:cNvPr id="959" name="Google Shape;959;p52"/>
          <p:cNvSpPr/>
          <p:nvPr/>
        </p:nvSpPr>
        <p:spPr>
          <a:xfrm>
            <a:off x="5120640" y="3031236"/>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0" name="Google Shape;960;p52"/>
          <p:cNvSpPr txBox="1"/>
          <p:nvPr/>
        </p:nvSpPr>
        <p:spPr>
          <a:xfrm>
            <a:off x="5257800" y="3031236"/>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Moves them to suspended (probation: any no-show).</a:t>
            </a:r>
            <a:endParaRPr/>
          </a:p>
        </p:txBody>
      </p:sp>
      <p:sp>
        <p:nvSpPr>
          <p:cNvPr id="961" name="Google Shape;961;p52"/>
          <p:cNvSpPr/>
          <p:nvPr/>
        </p:nvSpPr>
        <p:spPr>
          <a:xfrm>
            <a:off x="411480" y="3614928"/>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2" name="Google Shape;962;p52"/>
          <p:cNvSpPr/>
          <p:nvPr/>
        </p:nvSpPr>
        <p:spPr>
          <a:xfrm>
            <a:off x="548640" y="3733037"/>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5</a:t>
            </a:r>
            <a:endParaRPr/>
          </a:p>
        </p:txBody>
      </p:sp>
      <p:sp>
        <p:nvSpPr>
          <p:cNvPr id="963" name="Google Shape;963;p52"/>
          <p:cNvSpPr txBox="1"/>
          <p:nvPr/>
        </p:nvSpPr>
        <p:spPr>
          <a:xfrm>
            <a:off x="960120" y="3614928"/>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Where do you enter the CP-facing reason, and how?</a:t>
            </a:r>
            <a:endParaRPr/>
          </a:p>
        </p:txBody>
      </p:sp>
      <p:sp>
        <p:nvSpPr>
          <p:cNvPr id="964" name="Google Shape;964;p52"/>
          <p:cNvSpPr/>
          <p:nvPr/>
        </p:nvSpPr>
        <p:spPr>
          <a:xfrm>
            <a:off x="5120640" y="3614928"/>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5" name="Google Shape;965;p52"/>
          <p:cNvSpPr txBox="1"/>
          <p:nvPr/>
        </p:nvSpPr>
        <p:spPr>
          <a:xfrm>
            <a:off x="5257800" y="3614928"/>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Change CP step window (Legacy CP CRM). Exact reason code format, never freeform.</a:t>
            </a:r>
            <a:endParaRPr/>
          </a:p>
        </p:txBody>
      </p:sp>
      <p:sp>
        <p:nvSpPr>
          <p:cNvPr id="966" name="Google Shape;966;p52"/>
          <p:cNvSpPr/>
          <p:nvPr/>
        </p:nvSpPr>
        <p:spPr>
          <a:xfrm>
            <a:off x="411480" y="4198620"/>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67" name="Google Shape;967;p52"/>
          <p:cNvSpPr/>
          <p:nvPr/>
        </p:nvSpPr>
        <p:spPr>
          <a:xfrm>
            <a:off x="548640" y="4316730"/>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6</a:t>
            </a:r>
            <a:endParaRPr/>
          </a:p>
        </p:txBody>
      </p:sp>
      <p:sp>
        <p:nvSpPr>
          <p:cNvPr id="968" name="Google Shape;968;p52"/>
          <p:cNvSpPr txBox="1"/>
          <p:nvPr/>
        </p:nvSpPr>
        <p:spPr>
          <a:xfrm>
            <a:off x="960120" y="4198620"/>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A customer reports a CP no-show. Which reason code?</a:t>
            </a:r>
            <a:endParaRPr/>
          </a:p>
        </p:txBody>
      </p:sp>
      <p:sp>
        <p:nvSpPr>
          <p:cNvPr id="969" name="Google Shape;969;p52"/>
          <p:cNvSpPr/>
          <p:nvPr/>
        </p:nvSpPr>
        <p:spPr>
          <a:xfrm>
            <a:off x="5120640" y="4198620"/>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70" name="Google Shape;970;p52"/>
          <p:cNvSpPr txBox="1"/>
          <p:nvPr/>
        </p:nvSpPr>
        <p:spPr>
          <a:xfrm>
            <a:off x="5257800" y="4198620"/>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cpq_noshow: "Your customer &lt;C's name&gt; reported you didn't show up to their &lt;day, date&gt; job…"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600"/>
                                        <p:tgtEl>
                                          <p:spTgt spid="944"/>
                                        </p:tgtEl>
                                      </p:cBhvr>
                                    </p:animEffect>
                                  </p:childTnLst>
                                </p:cTn>
                              </p:par>
                              <p:par>
                                <p:cTn fill="hold" nodeType="with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600"/>
                                        <p:tgtEl>
                                          <p:spTgt spid="9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gtEl>
                                        <p:attrNameLst>
                                          <p:attrName>style.visibility</p:attrName>
                                        </p:attrNameLst>
                                      </p:cBhvr>
                                      <p:to>
                                        <p:strVal val="visible"/>
                                      </p:to>
                                    </p:set>
                                    <p:animEffect filter="fade" transition="in">
                                      <p:cBhvr>
                                        <p:cTn dur="600"/>
                                        <p:tgtEl>
                                          <p:spTgt spid="949"/>
                                        </p:tgtEl>
                                      </p:cBhvr>
                                    </p:animEffect>
                                  </p:childTnLst>
                                </p:cTn>
                              </p:par>
                              <p:par>
                                <p:cTn fill="hold" nodeType="withEffect" presetClass="entr" presetID="10" presetSubtype="0">
                                  <p:stCondLst>
                                    <p:cond delay="0"/>
                                  </p:stCondLst>
                                  <p:childTnLst>
                                    <p:set>
                                      <p:cBhvr>
                                        <p:cTn dur="1" fill="hold">
                                          <p:stCondLst>
                                            <p:cond delay="0"/>
                                          </p:stCondLst>
                                        </p:cTn>
                                        <p:tgtEl>
                                          <p:spTgt spid="950"/>
                                        </p:tgtEl>
                                        <p:attrNameLst>
                                          <p:attrName>style.visibility</p:attrName>
                                        </p:attrNameLst>
                                      </p:cBhvr>
                                      <p:to>
                                        <p:strVal val="visible"/>
                                      </p:to>
                                    </p:set>
                                    <p:animEffect filter="fade" transition="in">
                                      <p:cBhvr>
                                        <p:cTn dur="600"/>
                                        <p:tgtEl>
                                          <p:spTgt spid="9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4"/>
                                        </p:tgtEl>
                                        <p:attrNameLst>
                                          <p:attrName>style.visibility</p:attrName>
                                        </p:attrNameLst>
                                      </p:cBhvr>
                                      <p:to>
                                        <p:strVal val="visible"/>
                                      </p:to>
                                    </p:set>
                                    <p:animEffect filter="fade" transition="in">
                                      <p:cBhvr>
                                        <p:cTn dur="600"/>
                                        <p:tgtEl>
                                          <p:spTgt spid="954"/>
                                        </p:tgtEl>
                                      </p:cBhvr>
                                    </p:animEffect>
                                  </p:childTnLst>
                                </p:cTn>
                              </p:par>
                              <p:par>
                                <p:cTn fill="hold" nodeType="with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600"/>
                                        <p:tgtEl>
                                          <p:spTgt spid="9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600"/>
                                        <p:tgtEl>
                                          <p:spTgt spid="959"/>
                                        </p:tgtEl>
                                      </p:cBhvr>
                                    </p:animEffect>
                                  </p:childTnLst>
                                </p:cTn>
                              </p:par>
                              <p:par>
                                <p:cTn fill="hold" nodeType="withEffect" presetClass="entr" presetID="10" presetSubtype="0">
                                  <p:stCondLst>
                                    <p:cond delay="0"/>
                                  </p:stCondLst>
                                  <p:childTnLst>
                                    <p:set>
                                      <p:cBhvr>
                                        <p:cTn dur="1" fill="hold">
                                          <p:stCondLst>
                                            <p:cond delay="0"/>
                                          </p:stCondLst>
                                        </p:cTn>
                                        <p:tgtEl>
                                          <p:spTgt spid="960"/>
                                        </p:tgtEl>
                                        <p:attrNameLst>
                                          <p:attrName>style.visibility</p:attrName>
                                        </p:attrNameLst>
                                      </p:cBhvr>
                                      <p:to>
                                        <p:strVal val="visible"/>
                                      </p:to>
                                    </p:set>
                                    <p:animEffect filter="fade" transition="in">
                                      <p:cBhvr>
                                        <p:cTn dur="600"/>
                                        <p:tgtEl>
                                          <p:spTgt spid="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4"/>
                                        </p:tgtEl>
                                        <p:attrNameLst>
                                          <p:attrName>style.visibility</p:attrName>
                                        </p:attrNameLst>
                                      </p:cBhvr>
                                      <p:to>
                                        <p:strVal val="visible"/>
                                      </p:to>
                                    </p:set>
                                    <p:animEffect filter="fade" transition="in">
                                      <p:cBhvr>
                                        <p:cTn dur="600"/>
                                        <p:tgtEl>
                                          <p:spTgt spid="964"/>
                                        </p:tgtEl>
                                      </p:cBhvr>
                                    </p:animEffect>
                                  </p:childTnLst>
                                </p:cTn>
                              </p:par>
                              <p:par>
                                <p:cTn fill="hold" nodeType="withEffect" presetClass="entr" presetID="10" presetSubtype="0">
                                  <p:stCondLst>
                                    <p:cond delay="0"/>
                                  </p:stCondLst>
                                  <p:childTnLst>
                                    <p:set>
                                      <p:cBhvr>
                                        <p:cTn dur="1" fill="hold">
                                          <p:stCondLst>
                                            <p:cond delay="0"/>
                                          </p:stCondLst>
                                        </p:cTn>
                                        <p:tgtEl>
                                          <p:spTgt spid="965"/>
                                        </p:tgtEl>
                                        <p:attrNameLst>
                                          <p:attrName>style.visibility</p:attrName>
                                        </p:attrNameLst>
                                      </p:cBhvr>
                                      <p:to>
                                        <p:strVal val="visible"/>
                                      </p:to>
                                    </p:set>
                                    <p:animEffect filter="fade" transition="in">
                                      <p:cBhvr>
                                        <p:cTn dur="600"/>
                                        <p:tgtEl>
                                          <p:spTgt spid="9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9"/>
                                        </p:tgtEl>
                                        <p:attrNameLst>
                                          <p:attrName>style.visibility</p:attrName>
                                        </p:attrNameLst>
                                      </p:cBhvr>
                                      <p:to>
                                        <p:strVal val="visible"/>
                                      </p:to>
                                    </p:set>
                                    <p:animEffect filter="fade" transition="in">
                                      <p:cBhvr>
                                        <p:cTn dur="600"/>
                                        <p:tgtEl>
                                          <p:spTgt spid="969"/>
                                        </p:tgtEl>
                                      </p:cBhvr>
                                    </p:animEffect>
                                  </p:childTnLst>
                                </p:cTn>
                              </p:par>
                              <p:par>
                                <p:cTn fill="hold" nodeType="with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600"/>
                                        <p:tgtEl>
                                          <p:spTgt spid="9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53"/>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977" name="Google Shape;977;p53"/>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978" name="Google Shape;978;p53"/>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979" name="Google Shape;979;p53"/>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53"/>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9.png" id="981" name="Google Shape;981;p53"/>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982" name="Google Shape;982;p53"/>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53"/>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53"/>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53"/>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53"/>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53"/>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53"/>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54"/>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07 OF 11</a:t>
            </a:r>
            <a:endParaRPr b="0" i="0" sz="800" u="none" cap="none" strike="noStrike">
              <a:solidFill>
                <a:schemeClr val="dk1"/>
              </a:solidFill>
              <a:latin typeface="Calibri"/>
              <a:ea typeface="Calibri"/>
              <a:cs typeface="Calibri"/>
              <a:sym typeface="Calibri"/>
            </a:endParaRPr>
          </a:p>
        </p:txBody>
      </p:sp>
      <p:sp>
        <p:nvSpPr>
          <p:cNvPr id="995" name="Google Shape;995;p54"/>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Operating Models</a:t>
            </a:r>
            <a:endParaRPr b="0" i="0" sz="2800" u="none" cap="none" strike="noStrike">
              <a:solidFill>
                <a:schemeClr val="dk1"/>
              </a:solidFill>
              <a:latin typeface="Calibri"/>
              <a:ea typeface="Calibri"/>
              <a:cs typeface="Calibri"/>
              <a:sym typeface="Calibri"/>
            </a:endParaRPr>
          </a:p>
        </p:txBody>
      </p:sp>
      <p:sp>
        <p:nvSpPr>
          <p:cNvPr id="996" name="Google Shape;996;p54"/>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The rules that apply to a customer or cleaner, based on where they are.</a:t>
            </a:r>
            <a:endParaRPr b="0" i="0" sz="1150" u="none" cap="none" strike="noStrike">
              <a:solidFill>
                <a:schemeClr val="dk1"/>
              </a:solidFill>
              <a:latin typeface="Calibri"/>
              <a:ea typeface="Calibri"/>
              <a:cs typeface="Calibri"/>
              <a:sym typeface="Calibri"/>
            </a:endParaRPr>
          </a:p>
        </p:txBody>
      </p:sp>
      <p:sp>
        <p:nvSpPr>
          <p:cNvPr id="997" name="Google Shape;997;p54"/>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998" name="Google Shape;998;p54"/>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9" name="Google Shape;999;p54"/>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000" name="Google Shape;1000;p54"/>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two models</a:t>
            </a:r>
            <a:endParaRPr b="0" i="0" sz="1050" u="none" cap="none" strike="noStrike">
              <a:solidFill>
                <a:schemeClr val="dk1"/>
              </a:solidFill>
              <a:latin typeface="Calibri"/>
              <a:ea typeface="Calibri"/>
              <a:cs typeface="Calibri"/>
              <a:sym typeface="Calibri"/>
            </a:endParaRPr>
          </a:p>
        </p:txBody>
      </p:sp>
      <p:sp>
        <p:nvSpPr>
          <p:cNvPr id="1001" name="Google Shape;1001;p54"/>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02" name="Google Shape;1002;p54"/>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003" name="Google Shape;1003;p54"/>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to tell which one applies</a:t>
            </a:r>
            <a:endParaRPr b="0" i="0" sz="1050" u="none" cap="none" strike="noStrike">
              <a:solidFill>
                <a:schemeClr val="dk1"/>
              </a:solidFill>
              <a:latin typeface="Calibri"/>
              <a:ea typeface="Calibri"/>
              <a:cs typeface="Calibri"/>
              <a:sym typeface="Calibri"/>
            </a:endParaRPr>
          </a:p>
        </p:txBody>
      </p:sp>
      <p:sp>
        <p:nvSpPr>
          <p:cNvPr id="1004" name="Google Shape;1004;p54"/>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05" name="Google Shape;1005;p54"/>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006" name="Google Shape;1006;p54"/>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changes between them</a:t>
            </a:r>
            <a:endParaRPr b="0" i="0" sz="1050" u="none" cap="none" strike="noStrike">
              <a:solidFill>
                <a:schemeClr val="dk1"/>
              </a:solidFill>
              <a:latin typeface="Calibri"/>
              <a:ea typeface="Calibri"/>
              <a:cs typeface="Calibri"/>
              <a:sym typeface="Calibri"/>
            </a:endParaRPr>
          </a:p>
        </p:txBody>
      </p:sp>
      <p:sp>
        <p:nvSpPr>
          <p:cNvPr id="1007" name="Google Shape;1007;p54"/>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8" name="Google Shape;1008;p54"/>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28.png" id="1009" name="Google Shape;1009;p54"/>
          <p:cNvPicPr preferRelativeResize="0"/>
          <p:nvPr/>
        </p:nvPicPr>
        <p:blipFill rotWithShape="1">
          <a:blip r:embed="rId4">
            <a:alphaModFix/>
          </a:blip>
          <a:srcRect b="0" l="0" r="0" t="0"/>
          <a:stretch/>
        </p:blipFill>
        <p:spPr>
          <a:xfrm>
            <a:off x="5541264" y="1991053"/>
            <a:ext cx="2926080" cy="1156822"/>
          </a:xfrm>
          <a:prstGeom prst="rect">
            <a:avLst/>
          </a:prstGeom>
          <a:noFill/>
          <a:ln>
            <a:noFill/>
          </a:ln>
        </p:spPr>
      </p:pic>
      <p:sp>
        <p:nvSpPr>
          <p:cNvPr id="1010" name="Google Shape;1010;p54"/>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54"/>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2" name="Google Shape;1012;p54"/>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54"/>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4" name="Google Shape;1014;p54"/>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54"/>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6" name="Google Shape;1016;p5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5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OPERATING MODELS</a:t>
            </a:r>
            <a:endParaRPr b="0" i="0" sz="800" u="none" cap="none" strike="noStrike">
              <a:solidFill>
                <a:schemeClr val="dk1"/>
              </a:solidFill>
              <a:latin typeface="Calibri"/>
              <a:ea typeface="Calibri"/>
              <a:cs typeface="Calibri"/>
              <a:sym typeface="Calibri"/>
            </a:endParaRPr>
          </a:p>
        </p:txBody>
      </p:sp>
      <p:sp>
        <p:nvSpPr>
          <p:cNvPr id="1023" name="Google Shape;1023;p5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Two models</a:t>
            </a:r>
            <a:endParaRPr b="0" i="0" sz="2400" u="none" cap="none" strike="noStrike">
              <a:solidFill>
                <a:schemeClr val="dk1"/>
              </a:solidFill>
              <a:latin typeface="Calibri"/>
              <a:ea typeface="Calibri"/>
              <a:cs typeface="Calibri"/>
              <a:sym typeface="Calibri"/>
            </a:endParaRPr>
          </a:p>
        </p:txBody>
      </p:sp>
      <p:sp>
        <p:nvSpPr>
          <p:cNvPr id="1024" name="Google Shape;1024;p5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Location decides which rules apply.</a:t>
            </a:r>
            <a:endParaRPr b="0" i="0" sz="1200" u="none" cap="none" strike="noStrike">
              <a:solidFill>
                <a:schemeClr val="dk1"/>
              </a:solidFill>
              <a:latin typeface="Calibri"/>
              <a:ea typeface="Calibri"/>
              <a:cs typeface="Calibri"/>
              <a:sym typeface="Calibri"/>
            </a:endParaRPr>
          </a:p>
        </p:txBody>
      </p:sp>
      <p:sp>
        <p:nvSpPr>
          <p:cNvPr id="1025" name="Google Shape;1025;p55"/>
          <p:cNvSpPr/>
          <p:nvPr/>
        </p:nvSpPr>
        <p:spPr>
          <a:xfrm>
            <a:off x="411480" y="1280160"/>
            <a:ext cx="40919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p55"/>
          <p:cNvSpPr/>
          <p:nvPr/>
        </p:nvSpPr>
        <p:spPr>
          <a:xfrm>
            <a:off x="594360" y="146304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7" name="Google Shape;1027;p55"/>
          <p:cNvPicPr preferRelativeResize="0"/>
          <p:nvPr/>
        </p:nvPicPr>
        <p:blipFill rotWithShape="1">
          <a:blip r:embed="rId3">
            <a:alphaModFix/>
          </a:blip>
          <a:srcRect b="0" l="0" r="0" t="0"/>
          <a:stretch/>
        </p:blipFill>
        <p:spPr>
          <a:xfrm>
            <a:off x="686532" y="1555212"/>
            <a:ext cx="199705" cy="199705"/>
          </a:xfrm>
          <a:prstGeom prst="rect">
            <a:avLst/>
          </a:prstGeom>
          <a:noFill/>
          <a:ln>
            <a:noFill/>
          </a:ln>
        </p:spPr>
      </p:pic>
      <p:sp>
        <p:nvSpPr>
          <p:cNvPr id="1028" name="Google Shape;1028;p55"/>
          <p:cNvSpPr txBox="1"/>
          <p:nvPr/>
        </p:nvSpPr>
        <p:spPr>
          <a:xfrm>
            <a:off x="1097280" y="146304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CA / CA-WA Operating Model</a:t>
            </a:r>
            <a:endParaRPr b="0" i="0" sz="1300" u="none" cap="none" strike="noStrike">
              <a:solidFill>
                <a:schemeClr val="dk1"/>
              </a:solidFill>
              <a:latin typeface="Calibri"/>
              <a:ea typeface="Calibri"/>
              <a:cs typeface="Calibri"/>
              <a:sym typeface="Calibri"/>
            </a:endParaRPr>
          </a:p>
        </p:txBody>
      </p:sp>
      <p:sp>
        <p:nvSpPr>
          <p:cNvPr id="1029" name="Google Shape;1029;p55"/>
          <p:cNvSpPr txBox="1"/>
          <p:nvPr/>
        </p:nvSpPr>
        <p:spPr>
          <a:xfrm>
            <a:off x="594360" y="1993392"/>
            <a:ext cx="3726180" cy="10058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California, New Jersey, Illinois, Massachusetts, Washington</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Shows as a banner next to the user's name on the CRM</a:t>
            </a:r>
            <a:endParaRPr b="0" i="0" sz="1000" u="none" cap="none" strike="noStrike">
              <a:solidFill>
                <a:schemeClr val="dk1"/>
              </a:solidFill>
              <a:latin typeface="Calibri"/>
              <a:ea typeface="Calibri"/>
              <a:cs typeface="Calibri"/>
              <a:sym typeface="Calibri"/>
            </a:endParaRPr>
          </a:p>
        </p:txBody>
      </p:sp>
      <p:sp>
        <p:nvSpPr>
          <p:cNvPr id="1030" name="Google Shape;1030;p55"/>
          <p:cNvSpPr/>
          <p:nvPr/>
        </p:nvSpPr>
        <p:spPr>
          <a:xfrm>
            <a:off x="4640580" y="1280160"/>
            <a:ext cx="40919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1" name="Google Shape;1031;p55"/>
          <p:cNvSpPr/>
          <p:nvPr/>
        </p:nvSpPr>
        <p:spPr>
          <a:xfrm>
            <a:off x="4823460" y="146304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32" name="Google Shape;1032;p55"/>
          <p:cNvPicPr preferRelativeResize="0"/>
          <p:nvPr/>
        </p:nvPicPr>
        <p:blipFill rotWithShape="1">
          <a:blip r:embed="rId4">
            <a:alphaModFix/>
          </a:blip>
          <a:srcRect b="0" l="0" r="0" t="0"/>
          <a:stretch/>
        </p:blipFill>
        <p:spPr>
          <a:xfrm>
            <a:off x="4915632" y="1555212"/>
            <a:ext cx="199705" cy="199705"/>
          </a:xfrm>
          <a:prstGeom prst="rect">
            <a:avLst/>
          </a:prstGeom>
          <a:noFill/>
          <a:ln>
            <a:noFill/>
          </a:ln>
        </p:spPr>
      </p:pic>
      <p:sp>
        <p:nvSpPr>
          <p:cNvPr id="1033" name="Google Shape;1033;p55"/>
          <p:cNvSpPr txBox="1"/>
          <p:nvPr/>
        </p:nvSpPr>
        <p:spPr>
          <a:xfrm>
            <a:off x="5326380" y="146304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General Operating Model</a:t>
            </a:r>
            <a:endParaRPr b="0" i="0" sz="1300" u="none" cap="none" strike="noStrike">
              <a:solidFill>
                <a:schemeClr val="dk1"/>
              </a:solidFill>
              <a:latin typeface="Calibri"/>
              <a:ea typeface="Calibri"/>
              <a:cs typeface="Calibri"/>
              <a:sym typeface="Calibri"/>
            </a:endParaRPr>
          </a:p>
        </p:txBody>
      </p:sp>
      <p:sp>
        <p:nvSpPr>
          <p:cNvPr id="1034" name="Google Shape;1034;p55"/>
          <p:cNvSpPr txBox="1"/>
          <p:nvPr/>
        </p:nvSpPr>
        <p:spPr>
          <a:xfrm>
            <a:off x="4823460" y="1993392"/>
            <a:ext cx="3726180" cy="10058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All other states</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No banner on the CRM</a:t>
            </a:r>
            <a:endParaRPr b="0" i="0" sz="1000" u="none" cap="none" strike="noStrike">
              <a:solidFill>
                <a:schemeClr val="dk1"/>
              </a:solidFill>
              <a:latin typeface="Calibri"/>
              <a:ea typeface="Calibri"/>
              <a:cs typeface="Calibri"/>
              <a:sym typeface="Calibri"/>
            </a:endParaRPr>
          </a:p>
        </p:txBody>
      </p:sp>
      <p:sp>
        <p:nvSpPr>
          <p:cNvPr id="1035" name="Google Shape;1035;p55"/>
          <p:cNvSpPr/>
          <p:nvPr/>
        </p:nvSpPr>
        <p:spPr>
          <a:xfrm>
            <a:off x="411480" y="33375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36" name="Google Shape;1036;p55"/>
          <p:cNvPicPr preferRelativeResize="0"/>
          <p:nvPr/>
        </p:nvPicPr>
        <p:blipFill rotWithShape="1">
          <a:blip r:embed="rId5">
            <a:alphaModFix/>
          </a:blip>
          <a:srcRect b="0" l="0" r="0" t="0"/>
          <a:stretch/>
        </p:blipFill>
        <p:spPr>
          <a:xfrm>
            <a:off x="566928" y="3447288"/>
            <a:ext cx="164592" cy="164592"/>
          </a:xfrm>
          <a:prstGeom prst="rect">
            <a:avLst/>
          </a:prstGeom>
          <a:noFill/>
          <a:ln>
            <a:noFill/>
          </a:ln>
        </p:spPr>
      </p:pic>
      <p:sp>
        <p:nvSpPr>
          <p:cNvPr id="1037" name="Google Shape;1037;p55"/>
          <p:cNvSpPr txBox="1"/>
          <p:nvPr/>
        </p:nvSpPr>
        <p:spPr>
          <a:xfrm>
            <a:off x="822960" y="34381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Quick check:  </a:t>
            </a:r>
            <a:r>
              <a:rPr b="0" i="0" lang="en" sz="1000" u="none" cap="none" strike="noStrike">
                <a:solidFill>
                  <a:srgbClr val="1D1D1F"/>
                </a:solidFill>
                <a:latin typeface="Arial"/>
                <a:ea typeface="Arial"/>
                <a:cs typeface="Arial"/>
                <a:sym typeface="Arial"/>
              </a:rPr>
              <a:t>no operating model banner on the CRM means General Operating Model.</a:t>
            </a:r>
            <a:endParaRPr b="0" i="0" sz="1000" u="none" cap="none" strike="noStrike">
              <a:solidFill>
                <a:schemeClr val="dk1"/>
              </a:solidFill>
              <a:latin typeface="Calibri"/>
              <a:ea typeface="Calibri"/>
              <a:cs typeface="Calibri"/>
              <a:sym typeface="Calibri"/>
            </a:endParaRPr>
          </a:p>
        </p:txBody>
      </p:sp>
      <p:sp>
        <p:nvSpPr>
          <p:cNvPr id="1038" name="Google Shape;1038;p5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5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OPERATING MODELS</a:t>
            </a:r>
            <a:endParaRPr b="0" i="0" sz="800" u="none" cap="none" strike="noStrike">
              <a:solidFill>
                <a:schemeClr val="dk1"/>
              </a:solidFill>
              <a:latin typeface="Calibri"/>
              <a:ea typeface="Calibri"/>
              <a:cs typeface="Calibri"/>
              <a:sym typeface="Calibri"/>
            </a:endParaRPr>
          </a:p>
        </p:txBody>
      </p:sp>
      <p:sp>
        <p:nvSpPr>
          <p:cNvPr id="1045" name="Google Shape;1045;p5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How to spot it</a:t>
            </a:r>
            <a:endParaRPr b="0" i="0" sz="2400" u="none" cap="none" strike="noStrike">
              <a:solidFill>
                <a:schemeClr val="dk1"/>
              </a:solidFill>
              <a:latin typeface="Calibri"/>
              <a:ea typeface="Calibri"/>
              <a:cs typeface="Calibri"/>
              <a:sym typeface="Calibri"/>
            </a:endParaRPr>
          </a:p>
        </p:txBody>
      </p:sp>
      <p:sp>
        <p:nvSpPr>
          <p:cNvPr id="1046" name="Google Shape;1046;p5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Look next to the user's name on the CRM.</a:t>
            </a:r>
            <a:endParaRPr b="0" i="0" sz="1200" u="none" cap="none" strike="noStrike">
              <a:solidFill>
                <a:schemeClr val="dk1"/>
              </a:solidFill>
              <a:latin typeface="Calibri"/>
              <a:ea typeface="Calibri"/>
              <a:cs typeface="Calibri"/>
              <a:sym typeface="Calibri"/>
            </a:endParaRPr>
          </a:p>
        </p:txBody>
      </p:sp>
      <p:sp>
        <p:nvSpPr>
          <p:cNvPr id="1047" name="Google Shape;1047;p56"/>
          <p:cNvSpPr/>
          <p:nvPr/>
        </p:nvSpPr>
        <p:spPr>
          <a:xfrm>
            <a:off x="411480" y="1234440"/>
            <a:ext cx="8321040" cy="1554480"/>
          </a:xfrm>
          <a:prstGeom prst="roundRect">
            <a:avLst>
              <a:gd fmla="val 470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cp_header_top.png" id="1048" name="Google Shape;1048;p56"/>
          <p:cNvPicPr preferRelativeResize="0"/>
          <p:nvPr/>
        </p:nvPicPr>
        <p:blipFill rotWithShape="1">
          <a:blip r:embed="rId3">
            <a:alphaModFix/>
          </a:blip>
          <a:srcRect b="0" l="0" r="0" t="0"/>
          <a:stretch/>
        </p:blipFill>
        <p:spPr>
          <a:xfrm>
            <a:off x="484632" y="1456966"/>
            <a:ext cx="8174736" cy="1109428"/>
          </a:xfrm>
          <a:prstGeom prst="rect">
            <a:avLst/>
          </a:prstGeom>
          <a:noFill/>
          <a:ln>
            <a:noFill/>
          </a:ln>
        </p:spPr>
      </p:pic>
      <p:sp>
        <p:nvSpPr>
          <p:cNvPr id="1049" name="Google Shape;1049;p56"/>
          <p:cNvSpPr/>
          <p:nvPr/>
        </p:nvSpPr>
        <p:spPr>
          <a:xfrm>
            <a:off x="6469707" y="1573748"/>
            <a:ext cx="1868511" cy="306553"/>
          </a:xfrm>
          <a:prstGeom prst="roundRect">
            <a:avLst>
              <a:gd fmla="val 8949"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p56"/>
          <p:cNvSpPr/>
          <p:nvPr/>
        </p:nvSpPr>
        <p:spPr>
          <a:xfrm>
            <a:off x="6369123" y="1473164"/>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56"/>
          <p:cNvSpPr txBox="1"/>
          <p:nvPr/>
        </p:nvSpPr>
        <p:spPr>
          <a:xfrm>
            <a:off x="6369123" y="1473164"/>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1052" name="Google Shape;1052;p56"/>
          <p:cNvSpPr/>
          <p:nvPr/>
        </p:nvSpPr>
        <p:spPr>
          <a:xfrm>
            <a:off x="411480" y="2926080"/>
            <a:ext cx="4091940" cy="594360"/>
          </a:xfrm>
          <a:prstGeom prst="roundRect">
            <a:avLst>
              <a:gd fmla="val 1230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3" name="Google Shape;1053;p56"/>
          <p:cNvSpPr/>
          <p:nvPr/>
        </p:nvSpPr>
        <p:spPr>
          <a:xfrm>
            <a:off x="539496" y="309524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p56"/>
          <p:cNvSpPr txBox="1"/>
          <p:nvPr/>
        </p:nvSpPr>
        <p:spPr>
          <a:xfrm>
            <a:off x="539496" y="309524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055" name="Google Shape;1055;p56"/>
          <p:cNvSpPr txBox="1"/>
          <p:nvPr/>
        </p:nvSpPr>
        <p:spPr>
          <a:xfrm>
            <a:off x="914400" y="2971800"/>
            <a:ext cx="34975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Operating model banner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CA or CA-WA Operating Model</a:t>
            </a:r>
            <a:endParaRPr b="0" i="0" sz="1050" u="none" cap="none" strike="noStrike">
              <a:solidFill>
                <a:schemeClr val="dk1"/>
              </a:solidFill>
              <a:latin typeface="Calibri"/>
              <a:ea typeface="Calibri"/>
              <a:cs typeface="Calibri"/>
              <a:sym typeface="Calibri"/>
            </a:endParaRPr>
          </a:p>
        </p:txBody>
      </p:sp>
      <p:sp>
        <p:nvSpPr>
          <p:cNvPr id="1056" name="Google Shape;1056;p56"/>
          <p:cNvSpPr/>
          <p:nvPr/>
        </p:nvSpPr>
        <p:spPr>
          <a:xfrm>
            <a:off x="4640580" y="2926080"/>
            <a:ext cx="4091940" cy="594360"/>
          </a:xfrm>
          <a:prstGeom prst="roundRect">
            <a:avLst>
              <a:gd fmla="val 1230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56"/>
          <p:cNvSpPr/>
          <p:nvPr/>
        </p:nvSpPr>
        <p:spPr>
          <a:xfrm>
            <a:off x="4768596" y="3095244"/>
            <a:ext cx="256032" cy="256032"/>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56"/>
          <p:cNvSpPr txBox="1"/>
          <p:nvPr/>
        </p:nvSpPr>
        <p:spPr>
          <a:xfrm>
            <a:off x="4768596" y="309524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a:t>
            </a:r>
            <a:endParaRPr b="0" i="0" sz="900" u="none" cap="none" strike="noStrike">
              <a:solidFill>
                <a:schemeClr val="dk1"/>
              </a:solidFill>
              <a:latin typeface="Calibri"/>
              <a:ea typeface="Calibri"/>
              <a:cs typeface="Calibri"/>
              <a:sym typeface="Calibri"/>
            </a:endParaRPr>
          </a:p>
        </p:txBody>
      </p:sp>
      <p:sp>
        <p:nvSpPr>
          <p:cNvPr id="1059" name="Google Shape;1059;p56"/>
          <p:cNvSpPr txBox="1"/>
          <p:nvPr/>
        </p:nvSpPr>
        <p:spPr>
          <a:xfrm>
            <a:off x="5143500" y="2971800"/>
            <a:ext cx="34975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No banner?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General Operating Model</a:t>
            </a:r>
            <a:endParaRPr b="0" i="0" sz="1050" u="none" cap="none" strike="noStrike">
              <a:solidFill>
                <a:schemeClr val="dk1"/>
              </a:solidFill>
              <a:latin typeface="Calibri"/>
              <a:ea typeface="Calibri"/>
              <a:cs typeface="Calibri"/>
              <a:sym typeface="Calibri"/>
            </a:endParaRPr>
          </a:p>
        </p:txBody>
      </p:sp>
      <p:sp>
        <p:nvSpPr>
          <p:cNvPr id="1060" name="Google Shape;1060;p56"/>
          <p:cNvSpPr/>
          <p:nvPr/>
        </p:nvSpPr>
        <p:spPr>
          <a:xfrm>
            <a:off x="411480" y="37033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61" name="Google Shape;1061;p56"/>
          <p:cNvPicPr preferRelativeResize="0"/>
          <p:nvPr/>
        </p:nvPicPr>
        <p:blipFill rotWithShape="1">
          <a:blip r:embed="rId4">
            <a:alphaModFix/>
          </a:blip>
          <a:srcRect b="0" l="0" r="0" t="0"/>
          <a:stretch/>
        </p:blipFill>
        <p:spPr>
          <a:xfrm>
            <a:off x="566928" y="3813048"/>
            <a:ext cx="164592" cy="164592"/>
          </a:xfrm>
          <a:prstGeom prst="rect">
            <a:avLst/>
          </a:prstGeom>
          <a:noFill/>
          <a:ln>
            <a:noFill/>
          </a:ln>
        </p:spPr>
      </p:pic>
      <p:sp>
        <p:nvSpPr>
          <p:cNvPr id="1062" name="Google Shape;1062;p56"/>
          <p:cNvSpPr txBox="1"/>
          <p:nvPr/>
        </p:nvSpPr>
        <p:spPr>
          <a:xfrm>
            <a:off x="822960" y="38039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Check first:  </a:t>
            </a:r>
            <a:r>
              <a:rPr b="0" i="0" lang="en" sz="1000" u="none" cap="none" strike="noStrike">
                <a:solidFill>
                  <a:srgbClr val="1D1D1F"/>
                </a:solidFill>
                <a:latin typeface="Arial"/>
                <a:ea typeface="Arial"/>
                <a:cs typeface="Arial"/>
                <a:sym typeface="Arial"/>
              </a:rPr>
              <a:t>look for the banner before applying fees, penalties or pay rules.</a:t>
            </a:r>
            <a:endParaRPr b="0" i="0" sz="1000" u="none" cap="none" strike="noStrike">
              <a:solidFill>
                <a:schemeClr val="dk1"/>
              </a:solidFill>
              <a:latin typeface="Calibri"/>
              <a:ea typeface="Calibri"/>
              <a:cs typeface="Calibri"/>
              <a:sym typeface="Calibri"/>
            </a:endParaRPr>
          </a:p>
        </p:txBody>
      </p:sp>
      <p:sp>
        <p:nvSpPr>
          <p:cNvPr id="1063" name="Google Shape;1063;p5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5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OPERATING MODELS</a:t>
            </a:r>
            <a:endParaRPr b="0" i="0" sz="800" u="none" cap="none" strike="noStrike">
              <a:solidFill>
                <a:schemeClr val="dk1"/>
              </a:solidFill>
              <a:latin typeface="Calibri"/>
              <a:ea typeface="Calibri"/>
              <a:cs typeface="Calibri"/>
              <a:sym typeface="Calibri"/>
            </a:endParaRPr>
          </a:p>
        </p:txBody>
      </p:sp>
      <p:sp>
        <p:nvSpPr>
          <p:cNvPr id="1070" name="Google Shape;1070;p5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changes between them</a:t>
            </a:r>
            <a:endParaRPr b="0" i="0" sz="2400" u="none" cap="none" strike="noStrike">
              <a:solidFill>
                <a:schemeClr val="dk1"/>
              </a:solidFill>
              <a:latin typeface="Calibri"/>
              <a:ea typeface="Calibri"/>
              <a:cs typeface="Calibri"/>
              <a:sym typeface="Calibri"/>
            </a:endParaRPr>
          </a:p>
        </p:txBody>
      </p:sp>
      <p:graphicFrame>
        <p:nvGraphicFramePr>
          <p:cNvPr id="1071" name="Google Shape;1071;p57"/>
          <p:cNvGraphicFramePr/>
          <p:nvPr/>
        </p:nvGraphicFramePr>
        <p:xfrm>
          <a:off x="411480" y="1143000"/>
          <a:ext cx="3000000" cy="3000000"/>
        </p:xfrm>
        <a:graphic>
          <a:graphicData uri="http://schemas.openxmlformats.org/drawingml/2006/table">
            <a:tbl>
              <a:tblPr>
                <a:noFill/>
                <a:tableStyleId>{0D802810-0E66-425F-9816-536649EA7155}</a:tableStyleId>
              </a:tblPr>
              <a:tblGrid>
                <a:gridCol w="1920250"/>
                <a:gridCol w="3291850"/>
                <a:gridCol w="3108950"/>
              </a:tblGrid>
              <a:tr h="411475">
                <a:tc>
                  <a:txBody>
                    <a:bodyPr/>
                    <a:lstStyle/>
                    <a:p>
                      <a:pPr indent="0" lvl="0" marL="0" marR="0" rtl="0" algn="l">
                        <a:lnSpc>
                          <a:spcPct val="100000"/>
                        </a:lnSpc>
                        <a:spcBef>
                          <a:spcPts val="0"/>
                        </a:spcBef>
                        <a:spcAft>
                          <a:spcPts val="0"/>
                        </a:spcAft>
                        <a:buClr>
                          <a:schemeClr val="dk1"/>
                        </a:buClr>
                        <a:buSzPts val="950"/>
                        <a:buFont typeface="Calibri"/>
                        <a:buNone/>
                      </a:pPr>
                      <a:r>
                        <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CA / CA-WA</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General</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114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Pay to reactivate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Disabled: no reactivation fee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Enabled: $15–25 fee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Cleaning supplies photo</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Not required. Don't penalize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Required. Missing means norequests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CP hourly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Separate first-time and repeat-client rates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One rate. $5/hr match fee on first-time client jobs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CP job cancellation</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Can cancel within a window without penalty, depending on notice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Penalized. Affects keep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Own cleaning business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Must certify it's registered (WA: Universal Business Identifier)</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Not applicable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1147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CP Swap</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Enabled</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Enabled</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072" name="Google Shape;1072;p57"/>
          <p:cNvSpPr/>
          <p:nvPr/>
        </p:nvSpPr>
        <p:spPr>
          <a:xfrm>
            <a:off x="411480" y="41148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73" name="Google Shape;1073;p57"/>
          <p:cNvPicPr preferRelativeResize="0"/>
          <p:nvPr/>
        </p:nvPicPr>
        <p:blipFill rotWithShape="1">
          <a:blip r:embed="rId3">
            <a:alphaModFix/>
          </a:blip>
          <a:srcRect b="0" l="0" r="0" t="0"/>
          <a:stretch/>
        </p:blipFill>
        <p:spPr>
          <a:xfrm>
            <a:off x="566928" y="4224528"/>
            <a:ext cx="164592" cy="164592"/>
          </a:xfrm>
          <a:prstGeom prst="rect">
            <a:avLst/>
          </a:prstGeom>
          <a:noFill/>
          <a:ln>
            <a:noFill/>
          </a:ln>
        </p:spPr>
      </p:pic>
      <p:sp>
        <p:nvSpPr>
          <p:cNvPr id="1074" name="Google Shape;1074;p57"/>
          <p:cNvSpPr txBox="1"/>
          <p:nvPr/>
        </p:nvSpPr>
        <p:spPr>
          <a:xfrm>
            <a:off x="822960" y="42153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Check first:  </a:t>
            </a:r>
            <a:r>
              <a:rPr b="0" i="0" lang="en" sz="1000" u="none" cap="none" strike="noStrike">
                <a:solidFill>
                  <a:srgbClr val="1D1D1F"/>
                </a:solidFill>
                <a:latin typeface="Arial"/>
                <a:ea typeface="Arial"/>
                <a:cs typeface="Arial"/>
                <a:sym typeface="Arial"/>
              </a:rPr>
              <a:t>look for the banner before applying fees, penalties or pay rules.</a:t>
            </a:r>
            <a:endParaRPr b="0" i="0" sz="1000" u="none" cap="none" strike="noStrike">
              <a:solidFill>
                <a:schemeClr val="dk1"/>
              </a:solidFill>
              <a:latin typeface="Calibri"/>
              <a:ea typeface="Calibri"/>
              <a:cs typeface="Calibri"/>
              <a:sym typeface="Calibri"/>
            </a:endParaRPr>
          </a:p>
        </p:txBody>
      </p:sp>
      <p:sp>
        <p:nvSpPr>
          <p:cNvPr id="1075" name="Google Shape;1075;p5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58"/>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082" name="Google Shape;1082;p58"/>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083" name="Google Shape;1083;p58"/>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084" name="Google Shape;1084;p58"/>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5" name="Google Shape;1085;p58"/>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9.png" id="1086" name="Google Shape;1086;p58"/>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087" name="Google Shape;1087;p58"/>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p58"/>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58"/>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58"/>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1" name="Google Shape;1091;p58"/>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58"/>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58"/>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59"/>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08 OF 11</a:t>
            </a:r>
            <a:endParaRPr b="0" i="0" sz="800" u="none" cap="none" strike="noStrike">
              <a:solidFill>
                <a:schemeClr val="dk1"/>
              </a:solidFill>
              <a:latin typeface="Calibri"/>
              <a:ea typeface="Calibri"/>
              <a:cs typeface="Calibri"/>
              <a:sym typeface="Calibri"/>
            </a:endParaRPr>
          </a:p>
        </p:txBody>
      </p:sp>
      <p:sp>
        <p:nvSpPr>
          <p:cNvPr id="1100" name="Google Shape;1100;p59"/>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CP Tiering</a:t>
            </a:r>
            <a:endParaRPr b="0" i="0" sz="2800" u="none" cap="none" strike="noStrike">
              <a:solidFill>
                <a:schemeClr val="dk1"/>
              </a:solidFill>
              <a:latin typeface="Calibri"/>
              <a:ea typeface="Calibri"/>
              <a:cs typeface="Calibri"/>
              <a:sym typeface="Calibri"/>
            </a:endParaRPr>
          </a:p>
        </p:txBody>
      </p:sp>
      <p:sp>
        <p:nvSpPr>
          <p:cNvPr id="1101" name="Google Shape;1101;p59"/>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How cleaners are ranked, and why it decides who sees and claims a job first.</a:t>
            </a:r>
            <a:endParaRPr b="0" i="0" sz="1150" u="none" cap="none" strike="noStrike">
              <a:solidFill>
                <a:schemeClr val="dk1"/>
              </a:solidFill>
              <a:latin typeface="Calibri"/>
              <a:ea typeface="Calibri"/>
              <a:cs typeface="Calibri"/>
              <a:sym typeface="Calibri"/>
            </a:endParaRPr>
          </a:p>
        </p:txBody>
      </p:sp>
      <p:sp>
        <p:nvSpPr>
          <p:cNvPr id="1102" name="Google Shape;1102;p59"/>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103" name="Google Shape;1103;p59"/>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04" name="Google Shape;1104;p59"/>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105" name="Google Shape;1105;p59"/>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Why tiering exists</a:t>
            </a:r>
            <a:endParaRPr b="0" i="0" sz="1050" u="none" cap="none" strike="noStrike">
              <a:solidFill>
                <a:schemeClr val="dk1"/>
              </a:solidFill>
              <a:latin typeface="Calibri"/>
              <a:ea typeface="Calibri"/>
              <a:cs typeface="Calibri"/>
              <a:sym typeface="Calibri"/>
            </a:endParaRPr>
          </a:p>
        </p:txBody>
      </p:sp>
      <p:sp>
        <p:nvSpPr>
          <p:cNvPr id="1106" name="Google Shape;1106;p59"/>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07" name="Google Shape;1107;p59"/>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108" name="Google Shape;1108;p59"/>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each tier gets</a:t>
            </a:r>
            <a:endParaRPr b="0" i="0" sz="1050" u="none" cap="none" strike="noStrike">
              <a:solidFill>
                <a:schemeClr val="dk1"/>
              </a:solidFill>
              <a:latin typeface="Calibri"/>
              <a:ea typeface="Calibri"/>
              <a:cs typeface="Calibri"/>
              <a:sym typeface="Calibri"/>
            </a:endParaRPr>
          </a:p>
        </p:txBody>
      </p:sp>
      <p:sp>
        <p:nvSpPr>
          <p:cNvPr id="1109" name="Google Shape;1109;p59"/>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10" name="Google Shape;1110;p59"/>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111" name="Google Shape;1111;p59"/>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Requested CPs and swapping</a:t>
            </a:r>
            <a:endParaRPr b="0" i="0" sz="1050" u="none" cap="none" strike="noStrike">
              <a:solidFill>
                <a:schemeClr val="dk1"/>
              </a:solidFill>
              <a:latin typeface="Calibri"/>
              <a:ea typeface="Calibri"/>
              <a:cs typeface="Calibri"/>
              <a:sym typeface="Calibri"/>
            </a:endParaRPr>
          </a:p>
        </p:txBody>
      </p:sp>
      <p:sp>
        <p:nvSpPr>
          <p:cNvPr id="1112" name="Google Shape;1112;p59"/>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p5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29.png" id="1114" name="Google Shape;1114;p59"/>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1115" name="Google Shape;1115;p59"/>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59"/>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7" name="Google Shape;1117;p59"/>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8" name="Google Shape;1118;p59"/>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9" name="Google Shape;1119;p59"/>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59"/>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5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p6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TIERING</a:t>
            </a:r>
            <a:endParaRPr b="0" i="0" sz="800" u="none" cap="none" strike="noStrike">
              <a:solidFill>
                <a:schemeClr val="dk1"/>
              </a:solidFill>
              <a:latin typeface="Calibri"/>
              <a:ea typeface="Calibri"/>
              <a:cs typeface="Calibri"/>
              <a:sym typeface="Calibri"/>
            </a:endParaRPr>
          </a:p>
        </p:txBody>
      </p:sp>
      <p:sp>
        <p:nvSpPr>
          <p:cNvPr id="1128" name="Google Shape;1128;p6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Stronger cleaners see jobs first</a:t>
            </a:r>
            <a:endParaRPr b="0" i="0" sz="2400" u="none" cap="none" strike="noStrike">
              <a:solidFill>
                <a:schemeClr val="dk1"/>
              </a:solidFill>
              <a:latin typeface="Calibri"/>
              <a:ea typeface="Calibri"/>
              <a:cs typeface="Calibri"/>
              <a:sym typeface="Calibri"/>
            </a:endParaRPr>
          </a:p>
        </p:txBody>
      </p:sp>
      <p:sp>
        <p:nvSpPr>
          <p:cNvPr id="1129" name="Google Shape;1129;p6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Without tiers, the first cleaner to click would get the job, whatever their record.</a:t>
            </a:r>
            <a:endParaRPr b="0" i="0" sz="1200" u="none" cap="none" strike="noStrike">
              <a:solidFill>
                <a:schemeClr val="dk1"/>
              </a:solidFill>
              <a:latin typeface="Calibri"/>
              <a:ea typeface="Calibri"/>
              <a:cs typeface="Calibri"/>
              <a:sym typeface="Calibri"/>
            </a:endParaRPr>
          </a:p>
        </p:txBody>
      </p:sp>
      <p:sp>
        <p:nvSpPr>
          <p:cNvPr id="1130" name="Google Shape;1130;p60"/>
          <p:cNvSpPr/>
          <p:nvPr/>
        </p:nvSpPr>
        <p:spPr>
          <a:xfrm>
            <a:off x="411480" y="141732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1" name="Google Shape;1131;p60"/>
          <p:cNvSpPr/>
          <p:nvPr/>
        </p:nvSpPr>
        <p:spPr>
          <a:xfrm>
            <a:off x="57607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2" name="Google Shape;1132;p60"/>
          <p:cNvPicPr preferRelativeResize="0"/>
          <p:nvPr/>
        </p:nvPicPr>
        <p:blipFill rotWithShape="1">
          <a:blip r:embed="rId3">
            <a:alphaModFix/>
          </a:blip>
          <a:srcRect b="0" l="0" r="0" t="0"/>
          <a:stretch/>
        </p:blipFill>
        <p:spPr>
          <a:xfrm>
            <a:off x="655076" y="1660916"/>
            <a:ext cx="171176" cy="171176"/>
          </a:xfrm>
          <a:prstGeom prst="rect">
            <a:avLst/>
          </a:prstGeom>
          <a:noFill/>
          <a:ln>
            <a:noFill/>
          </a:ln>
        </p:spPr>
      </p:pic>
      <p:sp>
        <p:nvSpPr>
          <p:cNvPr id="1133" name="Google Shape;1133;p60"/>
          <p:cNvSpPr txBox="1"/>
          <p:nvPr/>
        </p:nvSpPr>
        <p:spPr>
          <a:xfrm>
            <a:off x="576072" y="202082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Tier 1 to 10</a:t>
            </a:r>
            <a:endParaRPr b="0" i="0" sz="1200" u="none" cap="none" strike="noStrike">
              <a:solidFill>
                <a:schemeClr val="dk1"/>
              </a:solidFill>
              <a:latin typeface="Calibri"/>
              <a:ea typeface="Calibri"/>
              <a:cs typeface="Calibri"/>
              <a:sym typeface="Calibri"/>
            </a:endParaRPr>
          </a:p>
        </p:txBody>
      </p:sp>
      <p:sp>
        <p:nvSpPr>
          <p:cNvPr id="1134" name="Google Shape;1134;p60"/>
          <p:cNvSpPr txBox="1"/>
          <p:nvPr/>
        </p:nvSpPr>
        <p:spPr>
          <a:xfrm>
            <a:off x="576072" y="231343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 ranking based on how the cleaner has performed.</a:t>
            </a:r>
            <a:endParaRPr b="0" i="0" sz="950" u="none" cap="none" strike="noStrike">
              <a:solidFill>
                <a:schemeClr val="dk1"/>
              </a:solidFill>
              <a:latin typeface="Calibri"/>
              <a:ea typeface="Calibri"/>
              <a:cs typeface="Calibri"/>
              <a:sym typeface="Calibri"/>
            </a:endParaRPr>
          </a:p>
        </p:txBody>
      </p:sp>
      <p:sp>
        <p:nvSpPr>
          <p:cNvPr id="1135" name="Google Shape;1135;p60"/>
          <p:cNvSpPr/>
          <p:nvPr/>
        </p:nvSpPr>
        <p:spPr>
          <a:xfrm>
            <a:off x="3230880" y="141732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6" name="Google Shape;1136;p60"/>
          <p:cNvSpPr/>
          <p:nvPr/>
        </p:nvSpPr>
        <p:spPr>
          <a:xfrm>
            <a:off x="339547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7" name="Google Shape;1137;p60"/>
          <p:cNvPicPr preferRelativeResize="0"/>
          <p:nvPr/>
        </p:nvPicPr>
        <p:blipFill rotWithShape="1">
          <a:blip r:embed="rId4">
            <a:alphaModFix/>
          </a:blip>
          <a:srcRect b="0" l="0" r="0" t="0"/>
          <a:stretch/>
        </p:blipFill>
        <p:spPr>
          <a:xfrm>
            <a:off x="3474476" y="1660916"/>
            <a:ext cx="171176" cy="171176"/>
          </a:xfrm>
          <a:prstGeom prst="rect">
            <a:avLst/>
          </a:prstGeom>
          <a:noFill/>
          <a:ln>
            <a:noFill/>
          </a:ln>
        </p:spPr>
      </p:pic>
      <p:sp>
        <p:nvSpPr>
          <p:cNvPr id="1138" name="Google Shape;1138;p60"/>
          <p:cNvSpPr txBox="1"/>
          <p:nvPr/>
        </p:nvSpPr>
        <p:spPr>
          <a:xfrm>
            <a:off x="3395472" y="202082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Earlier access</a:t>
            </a:r>
            <a:endParaRPr b="0" i="0" sz="1200" u="none" cap="none" strike="noStrike">
              <a:solidFill>
                <a:schemeClr val="dk1"/>
              </a:solidFill>
              <a:latin typeface="Calibri"/>
              <a:ea typeface="Calibri"/>
              <a:cs typeface="Calibri"/>
              <a:sym typeface="Calibri"/>
            </a:endParaRPr>
          </a:p>
        </p:txBody>
      </p:sp>
      <p:sp>
        <p:nvSpPr>
          <p:cNvPr id="1139" name="Google Shape;1139;p60"/>
          <p:cNvSpPr txBox="1"/>
          <p:nvPr/>
        </p:nvSpPr>
        <p:spPr>
          <a:xfrm>
            <a:off x="3395472" y="231343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Higher tiers see jobs earlier.</a:t>
            </a:r>
            <a:endParaRPr b="0" i="0" sz="950" u="none" cap="none" strike="noStrike">
              <a:solidFill>
                <a:schemeClr val="dk1"/>
              </a:solidFill>
              <a:latin typeface="Calibri"/>
              <a:ea typeface="Calibri"/>
              <a:cs typeface="Calibri"/>
              <a:sym typeface="Calibri"/>
            </a:endParaRPr>
          </a:p>
        </p:txBody>
      </p:sp>
      <p:sp>
        <p:nvSpPr>
          <p:cNvPr id="1140" name="Google Shape;1140;p60"/>
          <p:cNvSpPr/>
          <p:nvPr/>
        </p:nvSpPr>
        <p:spPr>
          <a:xfrm>
            <a:off x="6050280" y="141732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1" name="Google Shape;1141;p60"/>
          <p:cNvSpPr/>
          <p:nvPr/>
        </p:nvSpPr>
        <p:spPr>
          <a:xfrm>
            <a:off x="621487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42" name="Google Shape;1142;p60"/>
          <p:cNvPicPr preferRelativeResize="0"/>
          <p:nvPr/>
        </p:nvPicPr>
        <p:blipFill rotWithShape="1">
          <a:blip r:embed="rId5">
            <a:alphaModFix/>
          </a:blip>
          <a:srcRect b="0" l="0" r="0" t="0"/>
          <a:stretch/>
        </p:blipFill>
        <p:spPr>
          <a:xfrm>
            <a:off x="6293876" y="1660916"/>
            <a:ext cx="171176" cy="171176"/>
          </a:xfrm>
          <a:prstGeom prst="rect">
            <a:avLst/>
          </a:prstGeom>
          <a:noFill/>
          <a:ln>
            <a:noFill/>
          </a:ln>
        </p:spPr>
      </p:pic>
      <p:sp>
        <p:nvSpPr>
          <p:cNvPr id="1143" name="Google Shape;1143;p60"/>
          <p:cNvSpPr txBox="1"/>
          <p:nvPr/>
        </p:nvSpPr>
        <p:spPr>
          <a:xfrm>
            <a:off x="6214872" y="202082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More jobs</a:t>
            </a:r>
            <a:endParaRPr b="0" i="0" sz="1200" u="none" cap="none" strike="noStrike">
              <a:solidFill>
                <a:schemeClr val="dk1"/>
              </a:solidFill>
              <a:latin typeface="Calibri"/>
              <a:ea typeface="Calibri"/>
              <a:cs typeface="Calibri"/>
              <a:sym typeface="Calibri"/>
            </a:endParaRPr>
          </a:p>
        </p:txBody>
      </p:sp>
      <p:sp>
        <p:nvSpPr>
          <p:cNvPr id="1144" name="Google Shape;1144;p60"/>
          <p:cNvSpPr txBox="1"/>
          <p:nvPr/>
        </p:nvSpPr>
        <p:spPr>
          <a:xfrm>
            <a:off x="6214872" y="231343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Higher tiers can claim more jobs at once.</a:t>
            </a:r>
            <a:endParaRPr b="0" i="0" sz="950" u="none" cap="none" strike="noStrike">
              <a:solidFill>
                <a:schemeClr val="dk1"/>
              </a:solidFill>
              <a:latin typeface="Calibri"/>
              <a:ea typeface="Calibri"/>
              <a:cs typeface="Calibri"/>
              <a:sym typeface="Calibri"/>
            </a:endParaRPr>
          </a:p>
        </p:txBody>
      </p:sp>
      <p:sp>
        <p:nvSpPr>
          <p:cNvPr id="1145" name="Google Shape;1145;p60"/>
          <p:cNvSpPr/>
          <p:nvPr/>
        </p:nvSpPr>
        <p:spPr>
          <a:xfrm>
            <a:off x="411480" y="33375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46" name="Google Shape;1146;p60"/>
          <p:cNvPicPr preferRelativeResize="0"/>
          <p:nvPr/>
        </p:nvPicPr>
        <p:blipFill rotWithShape="1">
          <a:blip r:embed="rId6">
            <a:alphaModFix/>
          </a:blip>
          <a:srcRect b="0" l="0" r="0" t="0"/>
          <a:stretch/>
        </p:blipFill>
        <p:spPr>
          <a:xfrm>
            <a:off x="566928" y="3447288"/>
            <a:ext cx="164592" cy="164592"/>
          </a:xfrm>
          <a:prstGeom prst="rect">
            <a:avLst/>
          </a:prstGeom>
          <a:noFill/>
          <a:ln>
            <a:noFill/>
          </a:ln>
        </p:spPr>
      </p:pic>
      <p:sp>
        <p:nvSpPr>
          <p:cNvPr id="1147" name="Google Shape;1147;p60"/>
          <p:cNvSpPr txBox="1"/>
          <p:nvPr/>
        </p:nvSpPr>
        <p:spPr>
          <a:xfrm>
            <a:off x="822960" y="34381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ZTP:  </a:t>
            </a:r>
            <a:r>
              <a:rPr b="0" i="0" lang="en" sz="1000" u="none" cap="none" strike="noStrike">
                <a:solidFill>
                  <a:srgbClr val="1D1D1F"/>
                </a:solidFill>
                <a:latin typeface="Arial"/>
                <a:ea typeface="Arial"/>
                <a:cs typeface="Arial"/>
                <a:sym typeface="Arial"/>
              </a:rPr>
              <a:t>tiering is internal. Never share tier levels or tiering logic with a cleaner or customer.</a:t>
            </a:r>
            <a:endParaRPr b="0" i="0" sz="1000" u="none" cap="none" strike="noStrike">
              <a:solidFill>
                <a:schemeClr val="dk1"/>
              </a:solidFill>
              <a:latin typeface="Calibri"/>
              <a:ea typeface="Calibri"/>
              <a:cs typeface="Calibri"/>
              <a:sym typeface="Calibri"/>
            </a:endParaRPr>
          </a:p>
        </p:txBody>
      </p:sp>
      <p:sp>
        <p:nvSpPr>
          <p:cNvPr id="1148" name="Google Shape;1148;p6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6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TIERING</a:t>
            </a:r>
            <a:endParaRPr b="0" i="0" sz="800" u="none" cap="none" strike="noStrike">
              <a:solidFill>
                <a:schemeClr val="dk1"/>
              </a:solidFill>
              <a:latin typeface="Calibri"/>
              <a:ea typeface="Calibri"/>
              <a:cs typeface="Calibri"/>
              <a:sym typeface="Calibri"/>
            </a:endParaRPr>
          </a:p>
        </p:txBody>
      </p:sp>
      <p:sp>
        <p:nvSpPr>
          <p:cNvPr id="1155" name="Google Shape;1155;p6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Where to see the tier</a:t>
            </a:r>
            <a:endParaRPr b="0" i="0" sz="2400" u="none" cap="none" strike="noStrike">
              <a:solidFill>
                <a:schemeClr val="dk1"/>
              </a:solidFill>
              <a:latin typeface="Calibri"/>
              <a:ea typeface="Calibri"/>
              <a:cs typeface="Calibri"/>
              <a:sym typeface="Calibri"/>
            </a:endParaRPr>
          </a:p>
        </p:txBody>
      </p:sp>
      <p:sp>
        <p:nvSpPr>
          <p:cNvPr id="1156" name="Google Shape;1156;p6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On the cleaner's CRM page.</a:t>
            </a:r>
            <a:endParaRPr b="0" i="0" sz="1200" u="none" cap="none" strike="noStrike">
              <a:solidFill>
                <a:schemeClr val="dk1"/>
              </a:solidFill>
              <a:latin typeface="Calibri"/>
              <a:ea typeface="Calibri"/>
              <a:cs typeface="Calibri"/>
              <a:sym typeface="Calibri"/>
            </a:endParaRPr>
          </a:p>
        </p:txBody>
      </p:sp>
      <p:sp>
        <p:nvSpPr>
          <p:cNvPr id="1157" name="Google Shape;1157;p61"/>
          <p:cNvSpPr/>
          <p:nvPr/>
        </p:nvSpPr>
        <p:spPr>
          <a:xfrm>
            <a:off x="411480" y="1234440"/>
            <a:ext cx="8321040" cy="1554480"/>
          </a:xfrm>
          <a:prstGeom prst="roundRect">
            <a:avLst>
              <a:gd fmla="val 470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cp_header_top.png" id="1158" name="Google Shape;1158;p61"/>
          <p:cNvPicPr preferRelativeResize="0"/>
          <p:nvPr/>
        </p:nvPicPr>
        <p:blipFill rotWithShape="1">
          <a:blip r:embed="rId3">
            <a:alphaModFix/>
          </a:blip>
          <a:srcRect b="0" l="0" r="0" t="0"/>
          <a:stretch/>
        </p:blipFill>
        <p:spPr>
          <a:xfrm>
            <a:off x="484632" y="1456966"/>
            <a:ext cx="8174736" cy="1109428"/>
          </a:xfrm>
          <a:prstGeom prst="rect">
            <a:avLst/>
          </a:prstGeom>
          <a:noFill/>
          <a:ln>
            <a:noFill/>
          </a:ln>
        </p:spPr>
      </p:pic>
      <p:sp>
        <p:nvSpPr>
          <p:cNvPr id="1159" name="Google Shape;1159;p61"/>
          <p:cNvSpPr/>
          <p:nvPr/>
        </p:nvSpPr>
        <p:spPr>
          <a:xfrm>
            <a:off x="2075786" y="1894898"/>
            <a:ext cx="817474" cy="306553"/>
          </a:xfrm>
          <a:prstGeom prst="roundRect">
            <a:avLst>
              <a:gd fmla="val 8949"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0" name="Google Shape;1160;p61"/>
          <p:cNvSpPr/>
          <p:nvPr/>
        </p:nvSpPr>
        <p:spPr>
          <a:xfrm>
            <a:off x="1975202" y="1794314"/>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1" name="Google Shape;1161;p61"/>
          <p:cNvSpPr txBox="1"/>
          <p:nvPr/>
        </p:nvSpPr>
        <p:spPr>
          <a:xfrm>
            <a:off x="1975202" y="1794314"/>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1162" name="Google Shape;1162;p61"/>
          <p:cNvSpPr/>
          <p:nvPr/>
        </p:nvSpPr>
        <p:spPr>
          <a:xfrm>
            <a:off x="411480" y="2926080"/>
            <a:ext cx="4091940" cy="594360"/>
          </a:xfrm>
          <a:prstGeom prst="roundRect">
            <a:avLst>
              <a:gd fmla="val 1230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3" name="Google Shape;1163;p61"/>
          <p:cNvSpPr/>
          <p:nvPr/>
        </p:nvSpPr>
        <p:spPr>
          <a:xfrm>
            <a:off x="539496" y="309524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4" name="Google Shape;1164;p61"/>
          <p:cNvSpPr txBox="1"/>
          <p:nvPr/>
        </p:nvSpPr>
        <p:spPr>
          <a:xfrm>
            <a:off x="539496" y="309524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165" name="Google Shape;1165;p61"/>
          <p:cNvSpPr txBox="1"/>
          <p:nvPr/>
        </p:nvSpPr>
        <p:spPr>
          <a:xfrm>
            <a:off x="914400" y="2971800"/>
            <a:ext cx="34975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Tier banner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Click it for full tier history</a:t>
            </a:r>
            <a:endParaRPr b="0" i="0" sz="1050" u="none" cap="none" strike="noStrike">
              <a:solidFill>
                <a:schemeClr val="dk1"/>
              </a:solidFill>
              <a:latin typeface="Calibri"/>
              <a:ea typeface="Calibri"/>
              <a:cs typeface="Calibri"/>
              <a:sym typeface="Calibri"/>
            </a:endParaRPr>
          </a:p>
        </p:txBody>
      </p:sp>
      <p:sp>
        <p:nvSpPr>
          <p:cNvPr id="1166" name="Google Shape;1166;p61"/>
          <p:cNvSpPr/>
          <p:nvPr/>
        </p:nvSpPr>
        <p:spPr>
          <a:xfrm>
            <a:off x="4640580" y="2926080"/>
            <a:ext cx="4091940" cy="594360"/>
          </a:xfrm>
          <a:prstGeom prst="roundRect">
            <a:avLst>
              <a:gd fmla="val 1230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61"/>
          <p:cNvSpPr/>
          <p:nvPr/>
        </p:nvSpPr>
        <p:spPr>
          <a:xfrm>
            <a:off x="4768596" y="3095244"/>
            <a:ext cx="256032" cy="256032"/>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8" name="Google Shape;1168;p61"/>
          <p:cNvSpPr txBox="1"/>
          <p:nvPr/>
        </p:nvSpPr>
        <p:spPr>
          <a:xfrm>
            <a:off x="4768596" y="309524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a:t>
            </a:r>
            <a:endParaRPr b="0" i="0" sz="900" u="none" cap="none" strike="noStrike">
              <a:solidFill>
                <a:schemeClr val="dk1"/>
              </a:solidFill>
              <a:latin typeface="Calibri"/>
              <a:ea typeface="Calibri"/>
              <a:cs typeface="Calibri"/>
              <a:sym typeface="Calibri"/>
            </a:endParaRPr>
          </a:p>
        </p:txBody>
      </p:sp>
      <p:sp>
        <p:nvSpPr>
          <p:cNvPr id="1169" name="Google Shape;1169;p61"/>
          <p:cNvSpPr txBox="1"/>
          <p:nvPr/>
        </p:nvSpPr>
        <p:spPr>
          <a:xfrm>
            <a:off x="5143500" y="2971800"/>
            <a:ext cx="34975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Or CP View &gt; CleanerTier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Same tier history</a:t>
            </a:r>
            <a:endParaRPr b="0" i="0" sz="1050" u="none" cap="none" strike="noStrike">
              <a:solidFill>
                <a:schemeClr val="dk1"/>
              </a:solidFill>
              <a:latin typeface="Calibri"/>
              <a:ea typeface="Calibri"/>
              <a:cs typeface="Calibri"/>
              <a:sym typeface="Calibri"/>
            </a:endParaRPr>
          </a:p>
        </p:txBody>
      </p:sp>
      <p:sp>
        <p:nvSpPr>
          <p:cNvPr id="1170" name="Google Shape;1170;p61"/>
          <p:cNvSpPr/>
          <p:nvPr/>
        </p:nvSpPr>
        <p:spPr>
          <a:xfrm>
            <a:off x="411480" y="37033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1" name="Google Shape;1171;p61"/>
          <p:cNvPicPr preferRelativeResize="0"/>
          <p:nvPr/>
        </p:nvPicPr>
        <p:blipFill rotWithShape="1">
          <a:blip r:embed="rId4">
            <a:alphaModFix/>
          </a:blip>
          <a:srcRect b="0" l="0" r="0" t="0"/>
          <a:stretch/>
        </p:blipFill>
        <p:spPr>
          <a:xfrm>
            <a:off x="566928" y="3813048"/>
            <a:ext cx="164592" cy="164592"/>
          </a:xfrm>
          <a:prstGeom prst="rect">
            <a:avLst/>
          </a:prstGeom>
          <a:noFill/>
          <a:ln>
            <a:noFill/>
          </a:ln>
        </p:spPr>
      </p:pic>
      <p:sp>
        <p:nvSpPr>
          <p:cNvPr id="1172" name="Google Shape;1172;p61"/>
          <p:cNvSpPr txBox="1"/>
          <p:nvPr/>
        </p:nvSpPr>
        <p:spPr>
          <a:xfrm>
            <a:off x="822960" y="38039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ZTP:  </a:t>
            </a:r>
            <a:r>
              <a:rPr b="0" i="0" lang="en" sz="1000" u="none" cap="none" strike="noStrike">
                <a:solidFill>
                  <a:srgbClr val="1D1D1F"/>
                </a:solidFill>
                <a:latin typeface="Arial"/>
                <a:ea typeface="Arial"/>
                <a:cs typeface="Arial"/>
                <a:sym typeface="Arial"/>
              </a:rPr>
              <a:t>tier levels are internal. Never share them with a cleaner or customer.</a:t>
            </a:r>
            <a:endParaRPr b="0" i="0" sz="1000" u="none" cap="none" strike="noStrike">
              <a:solidFill>
                <a:schemeClr val="dk1"/>
              </a:solidFill>
              <a:latin typeface="Calibri"/>
              <a:ea typeface="Calibri"/>
              <a:cs typeface="Calibri"/>
              <a:sym typeface="Calibri"/>
            </a:endParaRPr>
          </a:p>
        </p:txBody>
      </p:sp>
      <p:sp>
        <p:nvSpPr>
          <p:cNvPr id="1173" name="Google Shape;1173;p6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8" name="Shape 1178"/>
        <p:cNvGrpSpPr/>
        <p:nvPr/>
      </p:nvGrpSpPr>
      <p:grpSpPr>
        <a:xfrm>
          <a:off x="0" y="0"/>
          <a:ext cx="0" cy="0"/>
          <a:chOff x="0" y="0"/>
          <a:chExt cx="0" cy="0"/>
        </a:xfrm>
      </p:grpSpPr>
      <p:sp>
        <p:nvSpPr>
          <p:cNvPr id="1179" name="Google Shape;1179;p6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TIERING</a:t>
            </a:r>
            <a:endParaRPr b="0" i="0" sz="800" u="none" cap="none" strike="noStrike">
              <a:solidFill>
                <a:schemeClr val="dk1"/>
              </a:solidFill>
              <a:latin typeface="Calibri"/>
              <a:ea typeface="Calibri"/>
              <a:cs typeface="Calibri"/>
              <a:sym typeface="Calibri"/>
            </a:endParaRPr>
          </a:p>
        </p:txBody>
      </p:sp>
      <p:sp>
        <p:nvSpPr>
          <p:cNvPr id="1180" name="Google Shape;1180;p6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each tier gets</a:t>
            </a:r>
            <a:endParaRPr b="0" i="0" sz="2400" u="none" cap="none" strike="noStrike">
              <a:solidFill>
                <a:schemeClr val="dk1"/>
              </a:solidFill>
              <a:latin typeface="Calibri"/>
              <a:ea typeface="Calibri"/>
              <a:cs typeface="Calibri"/>
              <a:sym typeface="Calibri"/>
            </a:endParaRPr>
          </a:p>
        </p:txBody>
      </p:sp>
      <p:sp>
        <p:nvSpPr>
          <p:cNvPr id="1181" name="Google Shape;1181;p6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"With requested CPs" means the customer asked for specific cleaners on that job.</a:t>
            </a:r>
            <a:endParaRPr b="0" i="0" sz="1200" u="none" cap="none" strike="noStrike">
              <a:solidFill>
                <a:schemeClr val="dk1"/>
              </a:solidFill>
              <a:latin typeface="Calibri"/>
              <a:ea typeface="Calibri"/>
              <a:cs typeface="Calibri"/>
              <a:sym typeface="Calibri"/>
            </a:endParaRPr>
          </a:p>
        </p:txBody>
      </p:sp>
      <p:graphicFrame>
        <p:nvGraphicFramePr>
          <p:cNvPr id="1182" name="Google Shape;1182;p62"/>
          <p:cNvGraphicFramePr/>
          <p:nvPr/>
        </p:nvGraphicFramePr>
        <p:xfrm>
          <a:off x="411480" y="1280160"/>
          <a:ext cx="3000000" cy="3000000"/>
        </p:xfrm>
        <a:graphic>
          <a:graphicData uri="http://schemas.openxmlformats.org/drawingml/2006/table">
            <a:tbl>
              <a:tblPr>
                <a:noFill/>
                <a:tableStyleId>{0D802810-0E66-425F-9816-536649EA7155}</a:tableStyleId>
              </a:tblPr>
              <a:tblGrid>
                <a:gridCol w="1234450"/>
                <a:gridCol w="2788925"/>
                <a:gridCol w="1463050"/>
                <a:gridCol w="1417325"/>
                <a:gridCol w="1417325"/>
              </a:tblGrid>
              <a:tr h="3474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Tier</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Sees FC jobs (with / without requested CPs)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Sees off-brand jobs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Swap protection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Claim limit</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474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Requested CP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Once submitted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Per their tier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Always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Per their tier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Tier 10</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48 hrs before / once submitted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Never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Always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 limit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Tier 9</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48 hrs / 96 hrs before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Never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48 hrs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 limit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Tier 8</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36 hrs / 72 hrs before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24 hrs before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36 hrs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 limit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Tier 7</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24 hrs / 48 hrs before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Once submitted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24 hrs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4</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Tier 6</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24 hrs / 36 hrs before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Once submitted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24 hrs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3</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Tiers 5 – 3</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24 hrs before (with requested CPs)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Once submitted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24 hrs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Tiers 2 – 1</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24 hrs before (with requested CPs)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Once submitted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Under 24 hrs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183" name="Google Shape;1183;p6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6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CP TIERING</a:t>
            </a:r>
            <a:endParaRPr b="0" i="0" sz="800" u="none" cap="none" strike="noStrike">
              <a:solidFill>
                <a:schemeClr val="dk1"/>
              </a:solidFill>
              <a:latin typeface="Calibri"/>
              <a:ea typeface="Calibri"/>
              <a:cs typeface="Calibri"/>
              <a:sym typeface="Calibri"/>
            </a:endParaRPr>
          </a:p>
        </p:txBody>
      </p:sp>
      <p:sp>
        <p:nvSpPr>
          <p:cNvPr id="1190" name="Google Shape;1190;p6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Requested cleaners and swapping</a:t>
            </a:r>
            <a:endParaRPr b="0" i="0" sz="2400" u="none" cap="none" strike="noStrike">
              <a:solidFill>
                <a:schemeClr val="dk1"/>
              </a:solidFill>
              <a:latin typeface="Calibri"/>
              <a:ea typeface="Calibri"/>
              <a:cs typeface="Calibri"/>
              <a:sym typeface="Calibri"/>
            </a:endParaRPr>
          </a:p>
        </p:txBody>
      </p:sp>
      <p:sp>
        <p:nvSpPr>
          <p:cNvPr id="1191" name="Google Shape;1191;p63"/>
          <p:cNvSpPr/>
          <p:nvPr/>
        </p:nvSpPr>
        <p:spPr>
          <a:xfrm>
            <a:off x="411480" y="1188720"/>
            <a:ext cx="4091940" cy="2514600"/>
          </a:xfrm>
          <a:prstGeom prst="roundRect">
            <a:avLst>
              <a:gd fmla="val 290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2" name="Google Shape;1192;p63"/>
          <p:cNvSpPr/>
          <p:nvPr/>
        </p:nvSpPr>
        <p:spPr>
          <a:xfrm>
            <a:off x="594360" y="1371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93" name="Google Shape;1193;p63"/>
          <p:cNvPicPr preferRelativeResize="0"/>
          <p:nvPr/>
        </p:nvPicPr>
        <p:blipFill rotWithShape="1">
          <a:blip r:embed="rId3">
            <a:alphaModFix/>
          </a:blip>
          <a:srcRect b="0" l="0" r="0" t="0"/>
          <a:stretch/>
        </p:blipFill>
        <p:spPr>
          <a:xfrm>
            <a:off x="686532" y="1463772"/>
            <a:ext cx="199705" cy="199705"/>
          </a:xfrm>
          <a:prstGeom prst="rect">
            <a:avLst/>
          </a:prstGeom>
          <a:noFill/>
          <a:ln>
            <a:noFill/>
          </a:ln>
        </p:spPr>
      </p:pic>
      <p:sp>
        <p:nvSpPr>
          <p:cNvPr id="1194" name="Google Shape;1194;p63"/>
          <p:cNvSpPr txBox="1"/>
          <p:nvPr/>
        </p:nvSpPr>
        <p:spPr>
          <a:xfrm>
            <a:off x="1097280" y="137160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Requested cleaners</a:t>
            </a:r>
            <a:endParaRPr b="0" i="0" sz="1300" u="none" cap="none" strike="noStrike">
              <a:solidFill>
                <a:schemeClr val="dk1"/>
              </a:solidFill>
              <a:latin typeface="Calibri"/>
              <a:ea typeface="Calibri"/>
              <a:cs typeface="Calibri"/>
              <a:sym typeface="Calibri"/>
            </a:endParaRPr>
          </a:p>
        </p:txBody>
      </p:sp>
      <p:sp>
        <p:nvSpPr>
          <p:cNvPr id="1195" name="Google Shape;1195;p63"/>
          <p:cNvSpPr txBox="1"/>
          <p:nvPr/>
        </p:nvSpPr>
        <p:spPr>
          <a:xfrm>
            <a:off x="594360" y="1901952"/>
            <a:ext cx="3726180" cy="16916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See the job as soon as the customer submits it</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Can claim it and replace a non-requested cleaner</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Still follow their own tier's claim limit</a:t>
            </a:r>
            <a:endParaRPr b="0" i="0" sz="1000" u="none" cap="none" strike="noStrike">
              <a:solidFill>
                <a:schemeClr val="dk1"/>
              </a:solidFill>
              <a:latin typeface="Calibri"/>
              <a:ea typeface="Calibri"/>
              <a:cs typeface="Calibri"/>
              <a:sym typeface="Calibri"/>
            </a:endParaRPr>
          </a:p>
        </p:txBody>
      </p:sp>
      <p:sp>
        <p:nvSpPr>
          <p:cNvPr id="1196" name="Google Shape;1196;p63"/>
          <p:cNvSpPr/>
          <p:nvPr/>
        </p:nvSpPr>
        <p:spPr>
          <a:xfrm>
            <a:off x="4640580" y="1188720"/>
            <a:ext cx="4091940" cy="2514600"/>
          </a:xfrm>
          <a:prstGeom prst="roundRect">
            <a:avLst>
              <a:gd fmla="val 290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7" name="Google Shape;1197;p63"/>
          <p:cNvSpPr/>
          <p:nvPr/>
        </p:nvSpPr>
        <p:spPr>
          <a:xfrm>
            <a:off x="4823460" y="1371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98" name="Google Shape;1198;p63"/>
          <p:cNvPicPr preferRelativeResize="0"/>
          <p:nvPr/>
        </p:nvPicPr>
        <p:blipFill rotWithShape="1">
          <a:blip r:embed="rId4">
            <a:alphaModFix/>
          </a:blip>
          <a:srcRect b="0" l="0" r="0" t="0"/>
          <a:stretch/>
        </p:blipFill>
        <p:spPr>
          <a:xfrm>
            <a:off x="4915632" y="1463772"/>
            <a:ext cx="199705" cy="199705"/>
          </a:xfrm>
          <a:prstGeom prst="rect">
            <a:avLst/>
          </a:prstGeom>
          <a:noFill/>
          <a:ln>
            <a:noFill/>
          </a:ln>
        </p:spPr>
      </p:pic>
      <p:sp>
        <p:nvSpPr>
          <p:cNvPr id="1199" name="Google Shape;1199;p63"/>
          <p:cNvSpPr txBox="1"/>
          <p:nvPr/>
        </p:nvSpPr>
        <p:spPr>
          <a:xfrm>
            <a:off x="5326380" y="137160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Swapping</a:t>
            </a:r>
            <a:endParaRPr b="0" i="0" sz="1300" u="none" cap="none" strike="noStrike">
              <a:solidFill>
                <a:schemeClr val="dk1"/>
              </a:solidFill>
              <a:latin typeface="Calibri"/>
              <a:ea typeface="Calibri"/>
              <a:cs typeface="Calibri"/>
              <a:sym typeface="Calibri"/>
            </a:endParaRPr>
          </a:p>
        </p:txBody>
      </p:sp>
      <p:sp>
        <p:nvSpPr>
          <p:cNvPr id="1200" name="Google Shape;1200;p63"/>
          <p:cNvSpPr txBox="1"/>
          <p:nvPr/>
        </p:nvSpPr>
        <p:spPr>
          <a:xfrm>
            <a:off x="4823460" y="1901952"/>
            <a:ext cx="3726180" cy="16916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A higher-tier cleaner can swap in if the job is 24–48+ hrs away</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Customer sees a new match. The swapped-out cleaner is told the customer cancelled</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Protected if they messaged with the customer in the past month</a:t>
            </a:r>
            <a:endParaRPr b="0" i="0" sz="1000" u="none" cap="none" strike="noStrike">
              <a:solidFill>
                <a:schemeClr val="dk1"/>
              </a:solidFill>
              <a:latin typeface="Calibri"/>
              <a:ea typeface="Calibri"/>
              <a:cs typeface="Calibri"/>
              <a:sym typeface="Calibri"/>
            </a:endParaRPr>
          </a:p>
        </p:txBody>
      </p:sp>
      <p:sp>
        <p:nvSpPr>
          <p:cNvPr id="1201" name="Google Shape;1201;p63"/>
          <p:cNvSpPr/>
          <p:nvPr/>
        </p:nvSpPr>
        <p:spPr>
          <a:xfrm>
            <a:off x="411480" y="38862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02" name="Google Shape;1202;p63"/>
          <p:cNvPicPr preferRelativeResize="0"/>
          <p:nvPr/>
        </p:nvPicPr>
        <p:blipFill rotWithShape="1">
          <a:blip r:embed="rId5">
            <a:alphaModFix/>
          </a:blip>
          <a:srcRect b="0" l="0" r="0" t="0"/>
          <a:stretch/>
        </p:blipFill>
        <p:spPr>
          <a:xfrm>
            <a:off x="566928" y="3995928"/>
            <a:ext cx="164592" cy="164592"/>
          </a:xfrm>
          <a:prstGeom prst="rect">
            <a:avLst/>
          </a:prstGeom>
          <a:noFill/>
          <a:ln>
            <a:noFill/>
          </a:ln>
        </p:spPr>
      </p:pic>
      <p:sp>
        <p:nvSpPr>
          <p:cNvPr id="1203" name="Google Shape;1203;p63"/>
          <p:cNvSpPr txBox="1"/>
          <p:nvPr/>
        </p:nvSpPr>
        <p:spPr>
          <a:xfrm>
            <a:off x="822960" y="39867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ZTP:  </a:t>
            </a:r>
            <a:r>
              <a:rPr b="0" i="0" lang="en" sz="1000" u="none" cap="none" strike="noStrike">
                <a:solidFill>
                  <a:srgbClr val="1D1D1F"/>
                </a:solidFill>
                <a:latin typeface="Arial"/>
                <a:ea typeface="Arial"/>
                <a:cs typeface="Arial"/>
                <a:sym typeface="Arial"/>
              </a:rPr>
              <a:t>swapping is internal. Never tell a cleaner or customer that a swap happened.</a:t>
            </a:r>
            <a:endParaRPr b="0" i="0" sz="1000" u="none" cap="none" strike="noStrike">
              <a:solidFill>
                <a:schemeClr val="dk1"/>
              </a:solidFill>
              <a:latin typeface="Calibri"/>
              <a:ea typeface="Calibri"/>
              <a:cs typeface="Calibri"/>
              <a:sym typeface="Calibri"/>
            </a:endParaRPr>
          </a:p>
        </p:txBody>
      </p:sp>
      <p:sp>
        <p:nvSpPr>
          <p:cNvPr id="1204" name="Google Shape;1204;p6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64"/>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211" name="Google Shape;1211;p64"/>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212" name="Google Shape;1212;p64"/>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213" name="Google Shape;1213;p64"/>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4" name="Google Shape;1214;p64"/>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9.png" id="1215" name="Google Shape;1215;p64"/>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216" name="Google Shape;1216;p64"/>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7" name="Google Shape;1217;p64"/>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8" name="Google Shape;1218;p64"/>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64"/>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0" name="Google Shape;1220;p64"/>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64"/>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64"/>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65"/>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09 OF 11</a:t>
            </a:r>
            <a:endParaRPr b="0" i="0" sz="800" u="none" cap="none" strike="noStrike">
              <a:solidFill>
                <a:schemeClr val="dk1"/>
              </a:solidFill>
              <a:latin typeface="Calibri"/>
              <a:ea typeface="Calibri"/>
              <a:cs typeface="Calibri"/>
              <a:sym typeface="Calibri"/>
            </a:endParaRPr>
          </a:p>
        </p:txBody>
      </p:sp>
      <p:sp>
        <p:nvSpPr>
          <p:cNvPr id="1229" name="Google Shape;1229;p65"/>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Job Statuses</a:t>
            </a:r>
            <a:endParaRPr b="0" i="0" sz="2800" u="none" cap="none" strike="noStrike">
              <a:solidFill>
                <a:schemeClr val="dk1"/>
              </a:solidFill>
              <a:latin typeface="Calibri"/>
              <a:ea typeface="Calibri"/>
              <a:cs typeface="Calibri"/>
              <a:sym typeface="Calibri"/>
            </a:endParaRPr>
          </a:p>
        </p:txBody>
      </p:sp>
      <p:sp>
        <p:nvSpPr>
          <p:cNvPr id="1230" name="Google Shape;1230;p65"/>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The stage a booking is in, and what that means for the ticket in front of you.</a:t>
            </a:r>
            <a:endParaRPr b="0" i="0" sz="1150" u="none" cap="none" strike="noStrike">
              <a:solidFill>
                <a:schemeClr val="dk1"/>
              </a:solidFill>
              <a:latin typeface="Calibri"/>
              <a:ea typeface="Calibri"/>
              <a:cs typeface="Calibri"/>
              <a:sym typeface="Calibri"/>
            </a:endParaRPr>
          </a:p>
        </p:txBody>
      </p:sp>
      <p:sp>
        <p:nvSpPr>
          <p:cNvPr id="1231" name="Google Shape;1231;p65"/>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232" name="Google Shape;1232;p65"/>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33" name="Google Shape;1233;p65"/>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234" name="Google Shape;1234;p65"/>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job lifecycle</a:t>
            </a:r>
            <a:endParaRPr b="0" i="0" sz="1050" u="none" cap="none" strike="noStrike">
              <a:solidFill>
                <a:schemeClr val="dk1"/>
              </a:solidFill>
              <a:latin typeface="Calibri"/>
              <a:ea typeface="Calibri"/>
              <a:cs typeface="Calibri"/>
              <a:sym typeface="Calibri"/>
            </a:endParaRPr>
          </a:p>
        </p:txBody>
      </p:sp>
      <p:sp>
        <p:nvSpPr>
          <p:cNvPr id="1235" name="Google Shape;1235;p65"/>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36" name="Google Shape;1236;p65"/>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237" name="Google Shape;1237;p65"/>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Submitted, Claimed, Invoiced</a:t>
            </a:r>
            <a:endParaRPr b="0" i="0" sz="1050" u="none" cap="none" strike="noStrike">
              <a:solidFill>
                <a:schemeClr val="dk1"/>
              </a:solidFill>
              <a:latin typeface="Calibri"/>
              <a:ea typeface="Calibri"/>
              <a:cs typeface="Calibri"/>
              <a:sym typeface="Calibri"/>
            </a:endParaRPr>
          </a:p>
        </p:txBody>
      </p:sp>
      <p:sp>
        <p:nvSpPr>
          <p:cNvPr id="1238" name="Google Shape;1238;p65"/>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39" name="Google Shape;1239;p65"/>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240" name="Google Shape;1240;p65"/>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Cancelled and Pending Invoice</a:t>
            </a:r>
            <a:endParaRPr b="0" i="0" sz="1050" u="none" cap="none" strike="noStrike">
              <a:solidFill>
                <a:schemeClr val="dk1"/>
              </a:solidFill>
              <a:latin typeface="Calibri"/>
              <a:ea typeface="Calibri"/>
              <a:cs typeface="Calibri"/>
              <a:sym typeface="Calibri"/>
            </a:endParaRPr>
          </a:p>
        </p:txBody>
      </p:sp>
      <p:sp>
        <p:nvSpPr>
          <p:cNvPr id="1241" name="Google Shape;1241;p65"/>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42" name="Google Shape;1242;p65"/>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243" name="Google Shape;1243;p65"/>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the customer and cleaner can do</a:t>
            </a:r>
            <a:endParaRPr b="0" i="0" sz="1050" u="none" cap="none" strike="noStrike">
              <a:solidFill>
                <a:schemeClr val="dk1"/>
              </a:solidFill>
              <a:latin typeface="Calibri"/>
              <a:ea typeface="Calibri"/>
              <a:cs typeface="Calibri"/>
              <a:sym typeface="Calibri"/>
            </a:endParaRPr>
          </a:p>
        </p:txBody>
      </p:sp>
      <p:sp>
        <p:nvSpPr>
          <p:cNvPr id="1244" name="Google Shape;1244;p65"/>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6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27.png" id="1246" name="Google Shape;1246;p65"/>
          <p:cNvPicPr preferRelativeResize="0"/>
          <p:nvPr/>
        </p:nvPicPr>
        <p:blipFill rotWithShape="1">
          <a:blip r:embed="rId4">
            <a:alphaModFix/>
          </a:blip>
          <a:srcRect b="0" l="0" r="0" t="0"/>
          <a:stretch/>
        </p:blipFill>
        <p:spPr>
          <a:xfrm>
            <a:off x="5928845" y="1517904"/>
            <a:ext cx="2150918" cy="2103120"/>
          </a:xfrm>
          <a:prstGeom prst="rect">
            <a:avLst/>
          </a:prstGeom>
          <a:noFill/>
          <a:ln>
            <a:noFill/>
          </a:ln>
        </p:spPr>
      </p:pic>
      <p:sp>
        <p:nvSpPr>
          <p:cNvPr id="1247" name="Google Shape;1247;p65"/>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8" name="Google Shape;1248;p65"/>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65"/>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65"/>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1" name="Google Shape;1251;p65"/>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2" name="Google Shape;1252;p65"/>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3" name="Google Shape;1253;p6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6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a:t>
            </a:r>
            <a:endParaRPr b="0" i="0" sz="800" u="none" cap="none" strike="noStrike">
              <a:solidFill>
                <a:schemeClr val="dk1"/>
              </a:solidFill>
              <a:latin typeface="Calibri"/>
              <a:ea typeface="Calibri"/>
              <a:cs typeface="Calibri"/>
              <a:sym typeface="Calibri"/>
            </a:endParaRPr>
          </a:p>
        </p:txBody>
      </p:sp>
      <p:sp>
        <p:nvSpPr>
          <p:cNvPr id="1260" name="Google Shape;1260;p6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job lifecycle</a:t>
            </a:r>
            <a:endParaRPr b="0" i="0" sz="2400" u="none" cap="none" strike="noStrike">
              <a:solidFill>
                <a:schemeClr val="dk1"/>
              </a:solidFill>
              <a:latin typeface="Calibri"/>
              <a:ea typeface="Calibri"/>
              <a:cs typeface="Calibri"/>
              <a:sym typeface="Calibri"/>
            </a:endParaRPr>
          </a:p>
        </p:txBody>
      </p:sp>
      <p:sp>
        <p:nvSpPr>
          <p:cNvPr id="1261" name="Google Shape;1261;p6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job can be cancelled at almost any stage. It doesn't have to pass through every status.</a:t>
            </a:r>
            <a:endParaRPr b="0" i="0" sz="1200" u="none" cap="none" strike="noStrike">
              <a:solidFill>
                <a:schemeClr val="dk1"/>
              </a:solidFill>
              <a:latin typeface="Calibri"/>
              <a:ea typeface="Calibri"/>
              <a:cs typeface="Calibri"/>
              <a:sym typeface="Calibri"/>
            </a:endParaRPr>
          </a:p>
        </p:txBody>
      </p:sp>
      <p:sp>
        <p:nvSpPr>
          <p:cNvPr id="1262" name="Google Shape;1262;p66"/>
          <p:cNvSpPr/>
          <p:nvPr/>
        </p:nvSpPr>
        <p:spPr>
          <a:xfrm>
            <a:off x="411480" y="1508760"/>
            <a:ext cx="1417320" cy="640080"/>
          </a:xfrm>
          <a:prstGeom prst="roundRect">
            <a:avLst>
              <a:gd fmla="val 11429" name="adj"/>
            </a:avLst>
          </a:prstGeom>
          <a:solidFill>
            <a:srgbClr val="FFFFF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3" name="Google Shape;1263;p66"/>
          <p:cNvSpPr txBox="1"/>
          <p:nvPr/>
        </p:nvSpPr>
        <p:spPr>
          <a:xfrm>
            <a:off x="411480" y="1508760"/>
            <a:ext cx="141732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1200"/>
              <a:buFont typeface="Play"/>
              <a:buNone/>
            </a:pPr>
            <a:r>
              <a:rPr b="1" i="0" lang="en" sz="1200" u="none" cap="none" strike="noStrike">
                <a:solidFill>
                  <a:srgbClr val="0B7A6F"/>
                </a:solidFill>
                <a:latin typeface="Play"/>
                <a:ea typeface="Play"/>
                <a:cs typeface="Play"/>
                <a:sym typeface="Play"/>
              </a:rPr>
              <a:t>Pending</a:t>
            </a:r>
            <a:endParaRPr b="0" i="0" sz="1200" u="none" cap="none" strike="noStrike">
              <a:solidFill>
                <a:schemeClr val="dk1"/>
              </a:solidFill>
              <a:latin typeface="Calibri"/>
              <a:ea typeface="Calibri"/>
              <a:cs typeface="Calibri"/>
              <a:sym typeface="Calibri"/>
            </a:endParaRPr>
          </a:p>
        </p:txBody>
      </p:sp>
      <p:cxnSp>
        <p:nvCxnSpPr>
          <p:cNvPr id="1264" name="Google Shape;1264;p66"/>
          <p:cNvCxnSpPr/>
          <p:nvPr/>
        </p:nvCxnSpPr>
        <p:spPr>
          <a:xfrm>
            <a:off x="1865376" y="1828800"/>
            <a:ext cx="235458" cy="0"/>
          </a:xfrm>
          <a:prstGeom prst="straightConnector1">
            <a:avLst/>
          </a:prstGeom>
          <a:noFill/>
          <a:ln cap="flat" cmpd="sng" w="19050">
            <a:solidFill>
              <a:srgbClr val="0B7A6F"/>
            </a:solidFill>
            <a:prstDash val="solid"/>
            <a:round/>
            <a:headEnd len="sm" w="sm" type="none"/>
            <a:tailEnd len="med" w="med" type="triangle"/>
          </a:ln>
        </p:spPr>
      </p:cxnSp>
      <p:cxnSp>
        <p:nvCxnSpPr>
          <p:cNvPr id="1265" name="Google Shape;1265;p66"/>
          <p:cNvCxnSpPr/>
          <p:nvPr/>
        </p:nvCxnSpPr>
        <p:spPr>
          <a:xfrm>
            <a:off x="1120140" y="2148840"/>
            <a:ext cx="2537460" cy="914400"/>
          </a:xfrm>
          <a:prstGeom prst="straightConnector1">
            <a:avLst/>
          </a:prstGeom>
          <a:noFill/>
          <a:ln cap="flat" cmpd="sng" w="12700">
            <a:solidFill>
              <a:srgbClr val="6E6E73"/>
            </a:solidFill>
            <a:prstDash val="dash"/>
            <a:round/>
            <a:headEnd len="sm" w="sm" type="none"/>
            <a:tailEnd len="med" w="med" type="triangle"/>
          </a:ln>
        </p:spPr>
      </p:cxnSp>
      <p:sp>
        <p:nvSpPr>
          <p:cNvPr id="1266" name="Google Shape;1266;p66"/>
          <p:cNvSpPr/>
          <p:nvPr/>
        </p:nvSpPr>
        <p:spPr>
          <a:xfrm>
            <a:off x="2137410" y="1508760"/>
            <a:ext cx="1417320" cy="640080"/>
          </a:xfrm>
          <a:prstGeom prst="roundRect">
            <a:avLst>
              <a:gd fmla="val 11429" name="adj"/>
            </a:avLst>
          </a:prstGeom>
          <a:solidFill>
            <a:srgbClr val="FFFFF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7" name="Google Shape;1267;p66"/>
          <p:cNvSpPr txBox="1"/>
          <p:nvPr/>
        </p:nvSpPr>
        <p:spPr>
          <a:xfrm>
            <a:off x="2137410" y="1508760"/>
            <a:ext cx="141732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1200"/>
              <a:buFont typeface="Play"/>
              <a:buNone/>
            </a:pPr>
            <a:r>
              <a:rPr b="1" i="0" lang="en" sz="1200" u="none" cap="none" strike="noStrike">
                <a:solidFill>
                  <a:srgbClr val="0B7A6F"/>
                </a:solidFill>
                <a:latin typeface="Play"/>
                <a:ea typeface="Play"/>
                <a:cs typeface="Play"/>
                <a:sym typeface="Play"/>
              </a:rPr>
              <a:t>Submitted</a:t>
            </a:r>
            <a:endParaRPr b="0" i="0" sz="1200" u="none" cap="none" strike="noStrike">
              <a:solidFill>
                <a:schemeClr val="dk1"/>
              </a:solidFill>
              <a:latin typeface="Calibri"/>
              <a:ea typeface="Calibri"/>
              <a:cs typeface="Calibri"/>
              <a:sym typeface="Calibri"/>
            </a:endParaRPr>
          </a:p>
        </p:txBody>
      </p:sp>
      <p:cxnSp>
        <p:nvCxnSpPr>
          <p:cNvPr id="1268" name="Google Shape;1268;p66"/>
          <p:cNvCxnSpPr/>
          <p:nvPr/>
        </p:nvCxnSpPr>
        <p:spPr>
          <a:xfrm>
            <a:off x="3591306" y="1828800"/>
            <a:ext cx="235458" cy="0"/>
          </a:xfrm>
          <a:prstGeom prst="straightConnector1">
            <a:avLst/>
          </a:prstGeom>
          <a:noFill/>
          <a:ln cap="flat" cmpd="sng" w="19050">
            <a:solidFill>
              <a:srgbClr val="0B7A6F"/>
            </a:solidFill>
            <a:prstDash val="solid"/>
            <a:round/>
            <a:headEnd len="sm" w="sm" type="none"/>
            <a:tailEnd len="med" w="med" type="triangle"/>
          </a:ln>
        </p:spPr>
      </p:cxnSp>
      <p:cxnSp>
        <p:nvCxnSpPr>
          <p:cNvPr id="1269" name="Google Shape;1269;p66"/>
          <p:cNvCxnSpPr/>
          <p:nvPr/>
        </p:nvCxnSpPr>
        <p:spPr>
          <a:xfrm>
            <a:off x="2846070" y="2148840"/>
            <a:ext cx="1268730" cy="914400"/>
          </a:xfrm>
          <a:prstGeom prst="straightConnector1">
            <a:avLst/>
          </a:prstGeom>
          <a:noFill/>
          <a:ln cap="flat" cmpd="sng" w="12700">
            <a:solidFill>
              <a:srgbClr val="6E6E73"/>
            </a:solidFill>
            <a:prstDash val="dash"/>
            <a:round/>
            <a:headEnd len="sm" w="sm" type="none"/>
            <a:tailEnd len="med" w="med" type="triangle"/>
          </a:ln>
        </p:spPr>
      </p:cxnSp>
      <p:sp>
        <p:nvSpPr>
          <p:cNvPr id="1270" name="Google Shape;1270;p66"/>
          <p:cNvSpPr/>
          <p:nvPr/>
        </p:nvSpPr>
        <p:spPr>
          <a:xfrm>
            <a:off x="3863340" y="1508760"/>
            <a:ext cx="1417320" cy="640080"/>
          </a:xfrm>
          <a:prstGeom prst="roundRect">
            <a:avLst>
              <a:gd fmla="val 11429" name="adj"/>
            </a:avLst>
          </a:prstGeom>
          <a:solidFill>
            <a:srgbClr val="FFFFF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1" name="Google Shape;1271;p66"/>
          <p:cNvSpPr txBox="1"/>
          <p:nvPr/>
        </p:nvSpPr>
        <p:spPr>
          <a:xfrm>
            <a:off x="3863340" y="1508760"/>
            <a:ext cx="141732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1200"/>
              <a:buFont typeface="Play"/>
              <a:buNone/>
            </a:pPr>
            <a:r>
              <a:rPr b="1" i="0" lang="en" sz="1200" u="none" cap="none" strike="noStrike">
                <a:solidFill>
                  <a:srgbClr val="0B7A6F"/>
                </a:solidFill>
                <a:latin typeface="Play"/>
                <a:ea typeface="Play"/>
                <a:cs typeface="Play"/>
                <a:sym typeface="Play"/>
              </a:rPr>
              <a:t>Claimed</a:t>
            </a:r>
            <a:endParaRPr b="0" i="0" sz="1200" u="none" cap="none" strike="noStrike">
              <a:solidFill>
                <a:schemeClr val="dk1"/>
              </a:solidFill>
              <a:latin typeface="Calibri"/>
              <a:ea typeface="Calibri"/>
              <a:cs typeface="Calibri"/>
              <a:sym typeface="Calibri"/>
            </a:endParaRPr>
          </a:p>
        </p:txBody>
      </p:sp>
      <p:cxnSp>
        <p:nvCxnSpPr>
          <p:cNvPr id="1272" name="Google Shape;1272;p66"/>
          <p:cNvCxnSpPr/>
          <p:nvPr/>
        </p:nvCxnSpPr>
        <p:spPr>
          <a:xfrm>
            <a:off x="5317236" y="1828800"/>
            <a:ext cx="235458" cy="0"/>
          </a:xfrm>
          <a:prstGeom prst="straightConnector1">
            <a:avLst/>
          </a:prstGeom>
          <a:noFill/>
          <a:ln cap="flat" cmpd="sng" w="19050">
            <a:solidFill>
              <a:srgbClr val="0B7A6F"/>
            </a:solidFill>
            <a:prstDash val="solid"/>
            <a:round/>
            <a:headEnd len="sm" w="sm" type="none"/>
            <a:tailEnd len="med" w="med" type="triangle"/>
          </a:ln>
        </p:spPr>
      </p:cxnSp>
      <p:cxnSp>
        <p:nvCxnSpPr>
          <p:cNvPr id="1273" name="Google Shape;1273;p66"/>
          <p:cNvCxnSpPr/>
          <p:nvPr/>
        </p:nvCxnSpPr>
        <p:spPr>
          <a:xfrm>
            <a:off x="4572000" y="2148840"/>
            <a:ext cx="914" cy="914400"/>
          </a:xfrm>
          <a:prstGeom prst="straightConnector1">
            <a:avLst/>
          </a:prstGeom>
          <a:noFill/>
          <a:ln cap="flat" cmpd="sng" w="12700">
            <a:solidFill>
              <a:srgbClr val="6E6E73"/>
            </a:solidFill>
            <a:prstDash val="dash"/>
            <a:round/>
            <a:headEnd len="sm" w="sm" type="none"/>
            <a:tailEnd len="med" w="med" type="triangle"/>
          </a:ln>
        </p:spPr>
      </p:cxnSp>
      <p:sp>
        <p:nvSpPr>
          <p:cNvPr id="1274" name="Google Shape;1274;p66"/>
          <p:cNvSpPr/>
          <p:nvPr/>
        </p:nvSpPr>
        <p:spPr>
          <a:xfrm>
            <a:off x="5589270" y="1508760"/>
            <a:ext cx="1417320" cy="640080"/>
          </a:xfrm>
          <a:prstGeom prst="roundRect">
            <a:avLst>
              <a:gd fmla="val 11429" name="adj"/>
            </a:avLst>
          </a:prstGeom>
          <a:solidFill>
            <a:srgbClr val="FFFFF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66"/>
          <p:cNvSpPr txBox="1"/>
          <p:nvPr/>
        </p:nvSpPr>
        <p:spPr>
          <a:xfrm>
            <a:off x="5589270" y="1508760"/>
            <a:ext cx="141732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1200"/>
              <a:buFont typeface="Play"/>
              <a:buNone/>
            </a:pPr>
            <a:r>
              <a:rPr b="1" i="0" lang="en" sz="1200" u="none" cap="none" strike="noStrike">
                <a:solidFill>
                  <a:srgbClr val="0B7A6F"/>
                </a:solidFill>
                <a:latin typeface="Play"/>
                <a:ea typeface="Play"/>
                <a:cs typeface="Play"/>
                <a:sym typeface="Play"/>
              </a:rPr>
              <a:t>Pending Invoice</a:t>
            </a:r>
            <a:endParaRPr b="0" i="0" sz="1200" u="none" cap="none" strike="noStrike">
              <a:solidFill>
                <a:schemeClr val="dk1"/>
              </a:solidFill>
              <a:latin typeface="Calibri"/>
              <a:ea typeface="Calibri"/>
              <a:cs typeface="Calibri"/>
              <a:sym typeface="Calibri"/>
            </a:endParaRPr>
          </a:p>
        </p:txBody>
      </p:sp>
      <p:cxnSp>
        <p:nvCxnSpPr>
          <p:cNvPr id="1276" name="Google Shape;1276;p66"/>
          <p:cNvCxnSpPr/>
          <p:nvPr/>
        </p:nvCxnSpPr>
        <p:spPr>
          <a:xfrm>
            <a:off x="7043166" y="1828800"/>
            <a:ext cx="235458" cy="0"/>
          </a:xfrm>
          <a:prstGeom prst="straightConnector1">
            <a:avLst/>
          </a:prstGeom>
          <a:noFill/>
          <a:ln cap="flat" cmpd="sng" w="19050">
            <a:solidFill>
              <a:srgbClr val="0B7A6F"/>
            </a:solidFill>
            <a:prstDash val="solid"/>
            <a:round/>
            <a:headEnd len="sm" w="sm" type="none"/>
            <a:tailEnd len="med" w="med" type="triangle"/>
          </a:ln>
        </p:spPr>
      </p:cxnSp>
      <p:cxnSp>
        <p:nvCxnSpPr>
          <p:cNvPr id="1277" name="Google Shape;1277;p66"/>
          <p:cNvCxnSpPr/>
          <p:nvPr/>
        </p:nvCxnSpPr>
        <p:spPr>
          <a:xfrm flipH="1">
            <a:off x="5029200" y="2148840"/>
            <a:ext cx="1268730" cy="914400"/>
          </a:xfrm>
          <a:prstGeom prst="straightConnector1">
            <a:avLst/>
          </a:prstGeom>
          <a:noFill/>
          <a:ln cap="flat" cmpd="sng" w="12700">
            <a:solidFill>
              <a:srgbClr val="6E6E73"/>
            </a:solidFill>
            <a:prstDash val="dash"/>
            <a:round/>
            <a:headEnd len="sm" w="sm" type="none"/>
            <a:tailEnd len="med" w="med" type="triangle"/>
          </a:ln>
        </p:spPr>
      </p:cxnSp>
      <p:sp>
        <p:nvSpPr>
          <p:cNvPr id="1278" name="Google Shape;1278;p66"/>
          <p:cNvSpPr/>
          <p:nvPr/>
        </p:nvSpPr>
        <p:spPr>
          <a:xfrm>
            <a:off x="7315200" y="1508760"/>
            <a:ext cx="1417320" cy="640080"/>
          </a:xfrm>
          <a:prstGeom prst="roundRect">
            <a:avLst>
              <a:gd fmla="val 11429"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66"/>
          <p:cNvSpPr txBox="1"/>
          <p:nvPr/>
        </p:nvSpPr>
        <p:spPr>
          <a:xfrm>
            <a:off x="7315200" y="1508760"/>
            <a:ext cx="141732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Play"/>
              <a:buNone/>
            </a:pPr>
            <a:r>
              <a:rPr b="1" i="0" lang="en" sz="1200" u="none" cap="none" strike="noStrike">
                <a:solidFill>
                  <a:srgbClr val="FFFFFF"/>
                </a:solidFill>
                <a:latin typeface="Play"/>
                <a:ea typeface="Play"/>
                <a:cs typeface="Play"/>
                <a:sym typeface="Play"/>
              </a:rPr>
              <a:t>Invoiced</a:t>
            </a:r>
            <a:endParaRPr b="0" i="0" sz="1200" u="none" cap="none" strike="noStrike">
              <a:solidFill>
                <a:schemeClr val="dk1"/>
              </a:solidFill>
              <a:latin typeface="Calibri"/>
              <a:ea typeface="Calibri"/>
              <a:cs typeface="Calibri"/>
              <a:sym typeface="Calibri"/>
            </a:endParaRPr>
          </a:p>
        </p:txBody>
      </p:sp>
      <p:cxnSp>
        <p:nvCxnSpPr>
          <p:cNvPr id="1280" name="Google Shape;1280;p66"/>
          <p:cNvCxnSpPr/>
          <p:nvPr/>
        </p:nvCxnSpPr>
        <p:spPr>
          <a:xfrm flipH="1">
            <a:off x="5486400" y="2148840"/>
            <a:ext cx="2537460" cy="914400"/>
          </a:xfrm>
          <a:prstGeom prst="straightConnector1">
            <a:avLst/>
          </a:prstGeom>
          <a:noFill/>
          <a:ln cap="flat" cmpd="sng" w="12700">
            <a:solidFill>
              <a:srgbClr val="6E6E73"/>
            </a:solidFill>
            <a:prstDash val="dash"/>
            <a:round/>
            <a:headEnd len="sm" w="sm" type="none"/>
            <a:tailEnd len="med" w="med" type="triangle"/>
          </a:ln>
        </p:spPr>
      </p:cxnSp>
      <p:sp>
        <p:nvSpPr>
          <p:cNvPr id="1281" name="Google Shape;1281;p66"/>
          <p:cNvSpPr/>
          <p:nvPr/>
        </p:nvSpPr>
        <p:spPr>
          <a:xfrm>
            <a:off x="3429000" y="3063240"/>
            <a:ext cx="2286000" cy="548640"/>
          </a:xfrm>
          <a:prstGeom prst="roundRect">
            <a:avLst>
              <a:gd fmla="val 13333"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2" name="Google Shape;1282;p66"/>
          <p:cNvSpPr txBox="1"/>
          <p:nvPr/>
        </p:nvSpPr>
        <p:spPr>
          <a:xfrm>
            <a:off x="3429000" y="3063240"/>
            <a:ext cx="228600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200"/>
              <a:buFont typeface="Play"/>
              <a:buNone/>
            </a:pPr>
            <a:r>
              <a:rPr b="1" i="0" lang="en" sz="1200" u="none" cap="none" strike="noStrike">
                <a:solidFill>
                  <a:srgbClr val="9A6410"/>
                </a:solidFill>
                <a:latin typeface="Play"/>
                <a:ea typeface="Play"/>
                <a:cs typeface="Play"/>
                <a:sym typeface="Play"/>
              </a:rPr>
              <a:t>Cancelled</a:t>
            </a:r>
            <a:endParaRPr b="0" i="0" sz="1200" u="none" cap="none" strike="noStrike">
              <a:solidFill>
                <a:schemeClr val="dk1"/>
              </a:solidFill>
              <a:latin typeface="Calibri"/>
              <a:ea typeface="Calibri"/>
              <a:cs typeface="Calibri"/>
              <a:sym typeface="Calibri"/>
            </a:endParaRPr>
          </a:p>
        </p:txBody>
      </p:sp>
      <p:sp>
        <p:nvSpPr>
          <p:cNvPr id="1283" name="Google Shape;1283;p66"/>
          <p:cNvSpPr/>
          <p:nvPr/>
        </p:nvSpPr>
        <p:spPr>
          <a:xfrm>
            <a:off x="393150" y="4037825"/>
            <a:ext cx="8321100" cy="360000"/>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84" name="Google Shape;1284;p66"/>
          <p:cNvPicPr preferRelativeResize="0"/>
          <p:nvPr/>
        </p:nvPicPr>
        <p:blipFill rotWithShape="1">
          <a:blip r:embed="rId3">
            <a:alphaModFix/>
          </a:blip>
          <a:srcRect b="0" l="0" r="0" t="0"/>
          <a:stretch/>
        </p:blipFill>
        <p:spPr>
          <a:xfrm>
            <a:off x="689378" y="4135528"/>
            <a:ext cx="164592" cy="164592"/>
          </a:xfrm>
          <a:prstGeom prst="rect">
            <a:avLst/>
          </a:prstGeom>
          <a:noFill/>
          <a:ln>
            <a:noFill/>
          </a:ln>
        </p:spPr>
      </p:pic>
      <p:sp>
        <p:nvSpPr>
          <p:cNvPr id="1285" name="Google Shape;1285;p66"/>
          <p:cNvSpPr txBox="1"/>
          <p:nvPr/>
        </p:nvSpPr>
        <p:spPr>
          <a:xfrm>
            <a:off x="896100" y="4130075"/>
            <a:ext cx="7772400" cy="22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Note: </a:t>
            </a:r>
            <a:r>
              <a:rPr b="0" i="0" lang="en" sz="1000" u="none" cap="none" strike="noStrike">
                <a:solidFill>
                  <a:schemeClr val="dk1"/>
                </a:solidFill>
                <a:latin typeface="Arial"/>
                <a:ea typeface="Arial"/>
                <a:cs typeface="Arial"/>
                <a:sym typeface="Arial"/>
              </a:rPr>
              <a:t> </a:t>
            </a:r>
            <a:r>
              <a:rPr b="0" i="0" lang="en" sz="1000" u="none" cap="none" strike="noStrike">
                <a:solidFill>
                  <a:srgbClr val="666666"/>
                </a:solidFill>
                <a:latin typeface="Arial"/>
                <a:ea typeface="Arial"/>
                <a:cs typeface="Arial"/>
                <a:sym typeface="Arial"/>
              </a:rPr>
              <a:t>an Invoiced job only becomes Cancelled through a full refund.</a:t>
            </a:r>
            <a:endParaRPr b="0" i="0" sz="1000" u="none" cap="none" strike="noStrike">
              <a:solidFill>
                <a:srgbClr val="1D1D1F"/>
              </a:solidFill>
              <a:latin typeface="Arial"/>
              <a:ea typeface="Arial"/>
              <a:cs typeface="Arial"/>
              <a:sym typeface="Arial"/>
            </a:endParaRPr>
          </a:p>
        </p:txBody>
      </p:sp>
      <p:sp>
        <p:nvSpPr>
          <p:cNvPr id="1286" name="Google Shape;1286;p6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6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a:t>
            </a:r>
            <a:endParaRPr b="0" i="0" sz="800" u="none" cap="none" strike="noStrike">
              <a:solidFill>
                <a:schemeClr val="dk1"/>
              </a:solidFill>
              <a:latin typeface="Calibri"/>
              <a:ea typeface="Calibri"/>
              <a:cs typeface="Calibri"/>
              <a:sym typeface="Calibri"/>
            </a:endParaRPr>
          </a:p>
        </p:txBody>
      </p:sp>
      <p:sp>
        <p:nvSpPr>
          <p:cNvPr id="1293" name="Google Shape;1293;p6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Where to look in the CRM</a:t>
            </a:r>
            <a:endParaRPr b="0" i="0" sz="2400" u="none" cap="none" strike="noStrike">
              <a:solidFill>
                <a:schemeClr val="dk1"/>
              </a:solidFill>
              <a:latin typeface="Calibri"/>
              <a:ea typeface="Calibri"/>
              <a:cs typeface="Calibri"/>
              <a:sym typeface="Calibri"/>
            </a:endParaRPr>
          </a:p>
        </p:txBody>
      </p:sp>
      <p:sp>
        <p:nvSpPr>
          <p:cNvPr id="1294" name="Google Shape;1294;p67"/>
          <p:cNvSpPr txBox="1"/>
          <p:nvPr/>
        </p:nvSpPr>
        <p:spPr>
          <a:xfrm>
            <a:off x="438912" y="823070"/>
            <a:ext cx="8229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On the customer's page in the New C CRM, jobs are grouped by status.</a:t>
            </a:r>
            <a:endParaRPr b="0" i="0" sz="1200" u="none" cap="none" strike="noStrike">
              <a:solidFill>
                <a:schemeClr val="dk1"/>
              </a:solidFill>
              <a:latin typeface="Calibri"/>
              <a:ea typeface="Calibri"/>
              <a:cs typeface="Calibri"/>
              <a:sym typeface="Calibri"/>
            </a:endParaRPr>
          </a:p>
        </p:txBody>
      </p:sp>
      <p:sp>
        <p:nvSpPr>
          <p:cNvPr id="1295" name="Google Shape;1295;p67"/>
          <p:cNvSpPr/>
          <p:nvPr/>
        </p:nvSpPr>
        <p:spPr>
          <a:xfrm>
            <a:off x="411480" y="1071165"/>
            <a:ext cx="5257800" cy="3108900"/>
          </a:xfrm>
          <a:prstGeom prst="roundRect">
            <a:avLst>
              <a:gd fmla="val 235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jobs_panels.png" id="1296" name="Google Shape;1296;p67"/>
          <p:cNvPicPr preferRelativeResize="0"/>
          <p:nvPr/>
        </p:nvPicPr>
        <p:blipFill rotWithShape="1">
          <a:blip r:embed="rId3">
            <a:alphaModFix/>
          </a:blip>
          <a:srcRect b="0" l="0" r="0" t="0"/>
          <a:stretch/>
        </p:blipFill>
        <p:spPr>
          <a:xfrm>
            <a:off x="513782" y="1152098"/>
            <a:ext cx="5111496" cy="2889594"/>
          </a:xfrm>
          <a:prstGeom prst="rect">
            <a:avLst/>
          </a:prstGeom>
          <a:noFill/>
          <a:ln>
            <a:noFill/>
          </a:ln>
        </p:spPr>
      </p:pic>
      <p:sp>
        <p:nvSpPr>
          <p:cNvPr id="1297" name="Google Shape;1297;p67"/>
          <p:cNvSpPr/>
          <p:nvPr/>
        </p:nvSpPr>
        <p:spPr>
          <a:xfrm>
            <a:off x="417713" y="1271593"/>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67"/>
          <p:cNvSpPr txBox="1"/>
          <p:nvPr/>
        </p:nvSpPr>
        <p:spPr>
          <a:xfrm>
            <a:off x="417713" y="1271593"/>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1299" name="Google Shape;1299;p67"/>
          <p:cNvSpPr/>
          <p:nvPr/>
        </p:nvSpPr>
        <p:spPr>
          <a:xfrm>
            <a:off x="417713" y="1731684"/>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67"/>
          <p:cNvSpPr txBox="1"/>
          <p:nvPr/>
        </p:nvSpPr>
        <p:spPr>
          <a:xfrm>
            <a:off x="417713" y="1731684"/>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2</a:t>
            </a:r>
            <a:endParaRPr b="0" i="0" sz="800" u="none" cap="none" strike="noStrike">
              <a:solidFill>
                <a:schemeClr val="dk1"/>
              </a:solidFill>
              <a:latin typeface="Calibri"/>
              <a:ea typeface="Calibri"/>
              <a:cs typeface="Calibri"/>
              <a:sym typeface="Calibri"/>
            </a:endParaRPr>
          </a:p>
        </p:txBody>
      </p:sp>
      <p:sp>
        <p:nvSpPr>
          <p:cNvPr id="1301" name="Google Shape;1301;p67"/>
          <p:cNvSpPr/>
          <p:nvPr/>
        </p:nvSpPr>
        <p:spPr>
          <a:xfrm>
            <a:off x="417713" y="2376933"/>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2" name="Google Shape;1302;p67"/>
          <p:cNvSpPr txBox="1"/>
          <p:nvPr/>
        </p:nvSpPr>
        <p:spPr>
          <a:xfrm>
            <a:off x="417713" y="2376933"/>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3</a:t>
            </a:r>
            <a:endParaRPr b="0" i="0" sz="800" u="none" cap="none" strike="noStrike">
              <a:solidFill>
                <a:schemeClr val="dk1"/>
              </a:solidFill>
              <a:latin typeface="Calibri"/>
              <a:ea typeface="Calibri"/>
              <a:cs typeface="Calibri"/>
              <a:sym typeface="Calibri"/>
            </a:endParaRPr>
          </a:p>
        </p:txBody>
      </p:sp>
      <p:sp>
        <p:nvSpPr>
          <p:cNvPr id="1303" name="Google Shape;1303;p67"/>
          <p:cNvSpPr/>
          <p:nvPr/>
        </p:nvSpPr>
        <p:spPr>
          <a:xfrm>
            <a:off x="417713" y="3493495"/>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4" name="Google Shape;1304;p67"/>
          <p:cNvSpPr txBox="1"/>
          <p:nvPr/>
        </p:nvSpPr>
        <p:spPr>
          <a:xfrm>
            <a:off x="417713" y="3493495"/>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4</a:t>
            </a:r>
            <a:endParaRPr b="0" i="0" sz="800" u="none" cap="none" strike="noStrike">
              <a:solidFill>
                <a:schemeClr val="dk1"/>
              </a:solidFill>
              <a:latin typeface="Calibri"/>
              <a:ea typeface="Calibri"/>
              <a:cs typeface="Calibri"/>
              <a:sym typeface="Calibri"/>
            </a:endParaRPr>
          </a:p>
        </p:txBody>
      </p:sp>
      <p:sp>
        <p:nvSpPr>
          <p:cNvPr id="1305" name="Google Shape;1305;p67"/>
          <p:cNvSpPr/>
          <p:nvPr/>
        </p:nvSpPr>
        <p:spPr>
          <a:xfrm>
            <a:off x="5806440" y="1071165"/>
            <a:ext cx="2926200" cy="658500"/>
          </a:xfrm>
          <a:prstGeom prst="roundRect">
            <a:avLst>
              <a:gd fmla="val 111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67"/>
          <p:cNvSpPr/>
          <p:nvPr/>
        </p:nvSpPr>
        <p:spPr>
          <a:xfrm>
            <a:off x="5934381" y="1244158"/>
            <a:ext cx="255900" cy="2559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67"/>
          <p:cNvSpPr txBox="1"/>
          <p:nvPr/>
        </p:nvSpPr>
        <p:spPr>
          <a:xfrm>
            <a:off x="5934381" y="1244158"/>
            <a:ext cx="2559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308" name="Google Shape;1308;p67"/>
          <p:cNvSpPr txBox="1"/>
          <p:nvPr/>
        </p:nvSpPr>
        <p:spPr>
          <a:xfrm>
            <a:off x="6309398" y="1116910"/>
            <a:ext cx="23316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Pending Invoice Jobs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Time has passed, not invoiced yet</a:t>
            </a:r>
            <a:endParaRPr b="0" i="0" sz="1050" u="none" cap="none" strike="noStrike">
              <a:solidFill>
                <a:schemeClr val="dk1"/>
              </a:solidFill>
              <a:latin typeface="Calibri"/>
              <a:ea typeface="Calibri"/>
              <a:cs typeface="Calibri"/>
              <a:sym typeface="Calibri"/>
            </a:endParaRPr>
          </a:p>
        </p:txBody>
      </p:sp>
      <p:sp>
        <p:nvSpPr>
          <p:cNvPr id="1309" name="Google Shape;1309;p67"/>
          <p:cNvSpPr/>
          <p:nvPr/>
        </p:nvSpPr>
        <p:spPr>
          <a:xfrm>
            <a:off x="5806440" y="1815873"/>
            <a:ext cx="2926200" cy="658500"/>
          </a:xfrm>
          <a:prstGeom prst="roundRect">
            <a:avLst>
              <a:gd fmla="val 111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67"/>
          <p:cNvSpPr/>
          <p:nvPr/>
        </p:nvSpPr>
        <p:spPr>
          <a:xfrm>
            <a:off x="5934456" y="1989079"/>
            <a:ext cx="255900" cy="2559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67"/>
          <p:cNvSpPr txBox="1"/>
          <p:nvPr/>
        </p:nvSpPr>
        <p:spPr>
          <a:xfrm>
            <a:off x="5934381" y="1989066"/>
            <a:ext cx="2559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312" name="Google Shape;1312;p67"/>
          <p:cNvSpPr txBox="1"/>
          <p:nvPr/>
        </p:nvSpPr>
        <p:spPr>
          <a:xfrm>
            <a:off x="6309410" y="1838731"/>
            <a:ext cx="23316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Claimed &amp; Submitted</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Upcoming: waiting for a cleaner, or claimed</a:t>
            </a:r>
            <a:endParaRPr b="0" i="0" sz="1050" u="none" cap="none" strike="noStrike">
              <a:solidFill>
                <a:schemeClr val="dk1"/>
              </a:solidFill>
              <a:latin typeface="Calibri"/>
              <a:ea typeface="Calibri"/>
              <a:cs typeface="Calibri"/>
              <a:sym typeface="Calibri"/>
            </a:endParaRPr>
          </a:p>
        </p:txBody>
      </p:sp>
      <p:sp>
        <p:nvSpPr>
          <p:cNvPr id="1313" name="Google Shape;1313;p67"/>
          <p:cNvSpPr/>
          <p:nvPr/>
        </p:nvSpPr>
        <p:spPr>
          <a:xfrm>
            <a:off x="5806440" y="2560544"/>
            <a:ext cx="2926200" cy="658500"/>
          </a:xfrm>
          <a:prstGeom prst="roundRect">
            <a:avLst>
              <a:gd fmla="val 111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67"/>
          <p:cNvSpPr/>
          <p:nvPr/>
        </p:nvSpPr>
        <p:spPr>
          <a:xfrm>
            <a:off x="5934456" y="2761712"/>
            <a:ext cx="255900" cy="2559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67"/>
          <p:cNvSpPr txBox="1"/>
          <p:nvPr/>
        </p:nvSpPr>
        <p:spPr>
          <a:xfrm>
            <a:off x="5934456" y="2761787"/>
            <a:ext cx="2559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316" name="Google Shape;1316;p67"/>
          <p:cNvSpPr txBox="1"/>
          <p:nvPr/>
        </p:nvSpPr>
        <p:spPr>
          <a:xfrm>
            <a:off x="6309410" y="2606301"/>
            <a:ext cx="23316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Completed Jobs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Invoiced. Watch for a Failed Charge tag</a:t>
            </a:r>
            <a:endParaRPr b="0" i="0" sz="1050" u="none" cap="none" strike="noStrike">
              <a:solidFill>
                <a:schemeClr val="dk1"/>
              </a:solidFill>
              <a:latin typeface="Calibri"/>
              <a:ea typeface="Calibri"/>
              <a:cs typeface="Calibri"/>
              <a:sym typeface="Calibri"/>
            </a:endParaRPr>
          </a:p>
        </p:txBody>
      </p:sp>
      <p:sp>
        <p:nvSpPr>
          <p:cNvPr id="1317" name="Google Shape;1317;p67"/>
          <p:cNvSpPr/>
          <p:nvPr/>
        </p:nvSpPr>
        <p:spPr>
          <a:xfrm>
            <a:off x="5829827" y="3333239"/>
            <a:ext cx="2926200" cy="658500"/>
          </a:xfrm>
          <a:prstGeom prst="roundRect">
            <a:avLst>
              <a:gd fmla="val 111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67"/>
          <p:cNvSpPr/>
          <p:nvPr/>
        </p:nvSpPr>
        <p:spPr>
          <a:xfrm>
            <a:off x="5934381" y="3520482"/>
            <a:ext cx="255900" cy="2559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67"/>
          <p:cNvSpPr txBox="1"/>
          <p:nvPr/>
        </p:nvSpPr>
        <p:spPr>
          <a:xfrm>
            <a:off x="5934450" y="3520588"/>
            <a:ext cx="2559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1320" name="Google Shape;1320;p67"/>
          <p:cNvSpPr txBox="1"/>
          <p:nvPr/>
        </p:nvSpPr>
        <p:spPr>
          <a:xfrm>
            <a:off x="6309398" y="3353996"/>
            <a:ext cx="23316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Cancelled Jobs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Cancelled at any stage</a:t>
            </a:r>
            <a:endParaRPr b="0" i="0" sz="1050" u="none" cap="none" strike="noStrike">
              <a:solidFill>
                <a:schemeClr val="dk1"/>
              </a:solidFill>
              <a:latin typeface="Calibri"/>
              <a:ea typeface="Calibri"/>
              <a:cs typeface="Calibri"/>
              <a:sym typeface="Calibri"/>
            </a:endParaRPr>
          </a:p>
        </p:txBody>
      </p:sp>
      <p:sp>
        <p:nvSpPr>
          <p:cNvPr id="1321" name="Google Shape;1321;p6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1322" name="Google Shape;1322;p67"/>
          <p:cNvSpPr/>
          <p:nvPr/>
        </p:nvSpPr>
        <p:spPr>
          <a:xfrm>
            <a:off x="411450" y="4279400"/>
            <a:ext cx="8321100" cy="521100"/>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3" name="Google Shape;1323;p67"/>
          <p:cNvSpPr txBox="1"/>
          <p:nvPr/>
        </p:nvSpPr>
        <p:spPr>
          <a:xfrm>
            <a:off x="752250" y="4279400"/>
            <a:ext cx="6629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9A6410"/>
                </a:solidFill>
                <a:latin typeface="Arial"/>
                <a:ea typeface="Arial"/>
                <a:cs typeface="Arial"/>
                <a:sym typeface="Arial"/>
              </a:rPr>
              <a:t> Note:  </a:t>
            </a:r>
            <a:r>
              <a:rPr b="0" i="0" lang="en" sz="800" u="none" cap="none" strike="noStrike">
                <a:solidFill>
                  <a:srgbClr val="666666"/>
                </a:solidFill>
                <a:latin typeface="Arial"/>
                <a:ea typeface="Arial"/>
                <a:cs typeface="Arial"/>
                <a:sym typeface="Arial"/>
              </a:rPr>
              <a:t>At any stage, avoid telling the customer what to do if we can already take action to resolve their issue.</a:t>
            </a:r>
            <a:endParaRPr b="0" i="0" sz="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666666"/>
                </a:solidFill>
                <a:latin typeface="Arial"/>
                <a:ea typeface="Arial"/>
                <a:cs typeface="Arial"/>
                <a:sym typeface="Arial"/>
              </a:rPr>
              <a:t>❌ “You can reschedule your appointment to Nov 30 under Manage Appointment on your Dashboard.”</a:t>
            </a:r>
            <a:endParaRPr b="0" i="0" sz="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666666"/>
                </a:solidFill>
                <a:latin typeface="Arial"/>
                <a:ea typeface="Arial"/>
                <a:cs typeface="Arial"/>
                <a:sym typeface="Arial"/>
              </a:rPr>
              <a:t>✅ “I’ve taken care of rescheduling your appointment to your preferred date, Nov 30.”</a:t>
            </a:r>
            <a:endParaRPr b="0" i="0" sz="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9A6410"/>
              </a:buClr>
              <a:buSzPts val="1000"/>
              <a:buFont typeface="Arial"/>
              <a:buNone/>
            </a:pPr>
            <a:r>
              <a:t/>
            </a:r>
            <a:endParaRPr b="0" i="0" sz="1000" u="none" cap="none" strike="noStrike">
              <a:solidFill>
                <a:srgbClr val="1D1D1F"/>
              </a:solidFill>
              <a:latin typeface="Arial"/>
              <a:ea typeface="Arial"/>
              <a:cs typeface="Arial"/>
              <a:sym typeface="Arial"/>
            </a:endParaRPr>
          </a:p>
        </p:txBody>
      </p:sp>
      <p:pic>
        <p:nvPicPr>
          <p:cNvPr descr="preencoded.png" id="1324" name="Google Shape;1324;p67"/>
          <p:cNvPicPr preferRelativeResize="0"/>
          <p:nvPr/>
        </p:nvPicPr>
        <p:blipFill rotWithShape="1">
          <a:blip r:embed="rId4">
            <a:alphaModFix/>
          </a:blip>
          <a:srcRect b="0" l="0" r="0" t="0"/>
          <a:stretch/>
        </p:blipFill>
        <p:spPr>
          <a:xfrm>
            <a:off x="688851" y="4380526"/>
            <a:ext cx="133375" cy="1333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9" name="Shape 1329"/>
        <p:cNvGrpSpPr/>
        <p:nvPr/>
      </p:nvGrpSpPr>
      <p:grpSpPr>
        <a:xfrm>
          <a:off x="0" y="0"/>
          <a:ext cx="0" cy="0"/>
          <a:chOff x="0" y="0"/>
          <a:chExt cx="0" cy="0"/>
        </a:xfrm>
      </p:grpSpPr>
      <p:sp>
        <p:nvSpPr>
          <p:cNvPr id="1330" name="Google Shape;1330;p6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SUBMITTED</a:t>
            </a:r>
            <a:endParaRPr b="0" i="0" sz="800" u="none" cap="none" strike="noStrike">
              <a:solidFill>
                <a:schemeClr val="dk1"/>
              </a:solidFill>
              <a:latin typeface="Calibri"/>
              <a:ea typeface="Calibri"/>
              <a:cs typeface="Calibri"/>
              <a:sym typeface="Calibri"/>
            </a:endParaRPr>
          </a:p>
        </p:txBody>
      </p:sp>
      <p:sp>
        <p:nvSpPr>
          <p:cNvPr id="1331" name="Google Shape;1331;p6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Submitted</a:t>
            </a:r>
            <a:endParaRPr b="0" i="0" sz="2400" u="none" cap="none" strike="noStrike">
              <a:solidFill>
                <a:schemeClr val="dk1"/>
              </a:solidFill>
              <a:latin typeface="Calibri"/>
              <a:ea typeface="Calibri"/>
              <a:cs typeface="Calibri"/>
              <a:sym typeface="Calibri"/>
            </a:endParaRPr>
          </a:p>
        </p:txBody>
      </p:sp>
      <p:sp>
        <p:nvSpPr>
          <p:cNvPr id="1332" name="Google Shape;1332;p6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job is officially requested and sent to available cleaners nearby.</a:t>
            </a:r>
            <a:endParaRPr b="0" i="0" sz="1200" u="none" cap="none" strike="noStrike">
              <a:solidFill>
                <a:schemeClr val="dk1"/>
              </a:solidFill>
              <a:latin typeface="Calibri"/>
              <a:ea typeface="Calibri"/>
              <a:cs typeface="Calibri"/>
              <a:sym typeface="Calibri"/>
            </a:endParaRPr>
          </a:p>
        </p:txBody>
      </p:sp>
      <p:sp>
        <p:nvSpPr>
          <p:cNvPr id="1333" name="Google Shape;1333;p68"/>
          <p:cNvSpPr/>
          <p:nvPr/>
        </p:nvSpPr>
        <p:spPr>
          <a:xfrm>
            <a:off x="411480" y="1417320"/>
            <a:ext cx="1977390" cy="1737360"/>
          </a:xfrm>
          <a:prstGeom prst="roundRect">
            <a:avLst>
              <a:gd fmla="val 42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68"/>
          <p:cNvSpPr/>
          <p:nvPr/>
        </p:nvSpPr>
        <p:spPr>
          <a:xfrm>
            <a:off x="57607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35" name="Google Shape;1335;p68"/>
          <p:cNvPicPr preferRelativeResize="0"/>
          <p:nvPr/>
        </p:nvPicPr>
        <p:blipFill rotWithShape="1">
          <a:blip r:embed="rId3">
            <a:alphaModFix/>
          </a:blip>
          <a:srcRect b="0" l="0" r="0" t="0"/>
          <a:stretch/>
        </p:blipFill>
        <p:spPr>
          <a:xfrm>
            <a:off x="655076" y="1660916"/>
            <a:ext cx="171176" cy="171176"/>
          </a:xfrm>
          <a:prstGeom prst="rect">
            <a:avLst/>
          </a:prstGeom>
          <a:noFill/>
          <a:ln>
            <a:noFill/>
          </a:ln>
        </p:spPr>
      </p:pic>
      <p:sp>
        <p:nvSpPr>
          <p:cNvPr id="1336" name="Google Shape;1336;p68"/>
          <p:cNvSpPr txBox="1"/>
          <p:nvPr/>
        </p:nvSpPr>
        <p:spPr>
          <a:xfrm>
            <a:off x="576072" y="202082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Who can book</a:t>
            </a:r>
            <a:endParaRPr b="0" i="0" sz="1200" u="none" cap="none" strike="noStrike">
              <a:solidFill>
                <a:schemeClr val="dk1"/>
              </a:solidFill>
              <a:latin typeface="Calibri"/>
              <a:ea typeface="Calibri"/>
              <a:cs typeface="Calibri"/>
              <a:sym typeface="Calibri"/>
            </a:endParaRPr>
          </a:p>
        </p:txBody>
      </p:sp>
      <p:sp>
        <p:nvSpPr>
          <p:cNvPr id="1337" name="Google Shape;1337;p68"/>
          <p:cNvSpPr txBox="1"/>
          <p:nvPr/>
        </p:nvSpPr>
        <p:spPr>
          <a:xfrm>
            <a:off x="576072" y="2313432"/>
            <a:ext cx="1648206" cy="749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Customers, cleaners for repeat clients, and CS via the CRM.</a:t>
            </a:r>
            <a:endParaRPr b="0" i="0" sz="950" u="none" cap="none" strike="noStrike">
              <a:solidFill>
                <a:schemeClr val="dk1"/>
              </a:solidFill>
              <a:latin typeface="Calibri"/>
              <a:ea typeface="Calibri"/>
              <a:cs typeface="Calibri"/>
              <a:sym typeface="Calibri"/>
            </a:endParaRPr>
          </a:p>
        </p:txBody>
      </p:sp>
      <p:sp>
        <p:nvSpPr>
          <p:cNvPr id="1338" name="Google Shape;1338;p68"/>
          <p:cNvSpPr/>
          <p:nvPr/>
        </p:nvSpPr>
        <p:spPr>
          <a:xfrm>
            <a:off x="2526030" y="1417320"/>
            <a:ext cx="1977390" cy="1737360"/>
          </a:xfrm>
          <a:prstGeom prst="roundRect">
            <a:avLst>
              <a:gd fmla="val 42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9" name="Google Shape;1339;p68"/>
          <p:cNvSpPr/>
          <p:nvPr/>
        </p:nvSpPr>
        <p:spPr>
          <a:xfrm>
            <a:off x="269062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40" name="Google Shape;1340;p68"/>
          <p:cNvPicPr preferRelativeResize="0"/>
          <p:nvPr/>
        </p:nvPicPr>
        <p:blipFill rotWithShape="1">
          <a:blip r:embed="rId4">
            <a:alphaModFix/>
          </a:blip>
          <a:srcRect b="0" l="0" r="0" t="0"/>
          <a:stretch/>
        </p:blipFill>
        <p:spPr>
          <a:xfrm>
            <a:off x="2769626" y="1660916"/>
            <a:ext cx="171176" cy="171176"/>
          </a:xfrm>
          <a:prstGeom prst="rect">
            <a:avLst/>
          </a:prstGeom>
          <a:noFill/>
          <a:ln>
            <a:noFill/>
          </a:ln>
        </p:spPr>
      </p:pic>
      <p:sp>
        <p:nvSpPr>
          <p:cNvPr id="1341" name="Google Shape;1341;p68"/>
          <p:cNvSpPr txBox="1"/>
          <p:nvPr/>
        </p:nvSpPr>
        <p:spPr>
          <a:xfrm>
            <a:off x="2690622" y="202082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12 and 48 hours</a:t>
            </a:r>
            <a:endParaRPr b="0" i="0" sz="1200" u="none" cap="none" strike="noStrike">
              <a:solidFill>
                <a:schemeClr val="dk1"/>
              </a:solidFill>
              <a:latin typeface="Calibri"/>
              <a:ea typeface="Calibri"/>
              <a:cs typeface="Calibri"/>
              <a:sym typeface="Calibri"/>
            </a:endParaRPr>
          </a:p>
        </p:txBody>
      </p:sp>
      <p:sp>
        <p:nvSpPr>
          <p:cNvPr id="1342" name="Google Shape;1342;p68"/>
          <p:cNvSpPr txBox="1"/>
          <p:nvPr/>
        </p:nvSpPr>
        <p:spPr>
          <a:xfrm>
            <a:off x="2690622" y="2313432"/>
            <a:ext cx="1648206" cy="749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Customers can book at least 12 hrs ahead. Under 48 hrs adds a priority fee.</a:t>
            </a:r>
            <a:endParaRPr b="0" i="0" sz="950" u="none" cap="none" strike="noStrike">
              <a:solidFill>
                <a:schemeClr val="dk1"/>
              </a:solidFill>
              <a:latin typeface="Calibri"/>
              <a:ea typeface="Calibri"/>
              <a:cs typeface="Calibri"/>
              <a:sym typeface="Calibri"/>
            </a:endParaRPr>
          </a:p>
        </p:txBody>
      </p:sp>
      <p:sp>
        <p:nvSpPr>
          <p:cNvPr id="1343" name="Google Shape;1343;p68"/>
          <p:cNvSpPr/>
          <p:nvPr/>
        </p:nvSpPr>
        <p:spPr>
          <a:xfrm>
            <a:off x="4640580" y="1417320"/>
            <a:ext cx="1977390" cy="1737360"/>
          </a:xfrm>
          <a:prstGeom prst="roundRect">
            <a:avLst>
              <a:gd fmla="val 42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68"/>
          <p:cNvSpPr/>
          <p:nvPr/>
        </p:nvSpPr>
        <p:spPr>
          <a:xfrm>
            <a:off x="480517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45" name="Google Shape;1345;p68"/>
          <p:cNvPicPr preferRelativeResize="0"/>
          <p:nvPr/>
        </p:nvPicPr>
        <p:blipFill rotWithShape="1">
          <a:blip r:embed="rId5">
            <a:alphaModFix/>
          </a:blip>
          <a:srcRect b="0" l="0" r="0" t="0"/>
          <a:stretch/>
        </p:blipFill>
        <p:spPr>
          <a:xfrm>
            <a:off x="4884176" y="1660916"/>
            <a:ext cx="171176" cy="171176"/>
          </a:xfrm>
          <a:prstGeom prst="rect">
            <a:avLst/>
          </a:prstGeom>
          <a:noFill/>
          <a:ln>
            <a:noFill/>
          </a:ln>
        </p:spPr>
      </p:pic>
      <p:sp>
        <p:nvSpPr>
          <p:cNvPr id="1346" name="Google Shape;1346;p68"/>
          <p:cNvSpPr txBox="1"/>
          <p:nvPr/>
        </p:nvSpPr>
        <p:spPr>
          <a:xfrm>
            <a:off x="4805172" y="202082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Alternate times</a:t>
            </a:r>
            <a:endParaRPr b="0" i="0" sz="1200" u="none" cap="none" strike="noStrike">
              <a:solidFill>
                <a:schemeClr val="dk1"/>
              </a:solidFill>
              <a:latin typeface="Calibri"/>
              <a:ea typeface="Calibri"/>
              <a:cs typeface="Calibri"/>
              <a:sym typeface="Calibri"/>
            </a:endParaRPr>
          </a:p>
        </p:txBody>
      </p:sp>
      <p:sp>
        <p:nvSpPr>
          <p:cNvPr id="1347" name="Google Shape;1347;p68"/>
          <p:cNvSpPr txBox="1"/>
          <p:nvPr/>
        </p:nvSpPr>
        <p:spPr>
          <a:xfrm>
            <a:off x="4805172" y="2313432"/>
            <a:ext cx="1648206" cy="749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Unclaimed 24 hrs before start? The system adds alternate times.</a:t>
            </a:r>
            <a:endParaRPr b="0" i="0" sz="950" u="none" cap="none" strike="noStrike">
              <a:solidFill>
                <a:schemeClr val="dk1"/>
              </a:solidFill>
              <a:latin typeface="Calibri"/>
              <a:ea typeface="Calibri"/>
              <a:cs typeface="Calibri"/>
              <a:sym typeface="Calibri"/>
            </a:endParaRPr>
          </a:p>
        </p:txBody>
      </p:sp>
      <p:sp>
        <p:nvSpPr>
          <p:cNvPr id="1348" name="Google Shape;1348;p68"/>
          <p:cNvSpPr/>
          <p:nvPr/>
        </p:nvSpPr>
        <p:spPr>
          <a:xfrm>
            <a:off x="6755130" y="1417320"/>
            <a:ext cx="1977390" cy="1737360"/>
          </a:xfrm>
          <a:prstGeom prst="roundRect">
            <a:avLst>
              <a:gd fmla="val 42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68"/>
          <p:cNvSpPr/>
          <p:nvPr/>
        </p:nvSpPr>
        <p:spPr>
          <a:xfrm>
            <a:off x="6919722" y="1581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50" name="Google Shape;1350;p68"/>
          <p:cNvPicPr preferRelativeResize="0"/>
          <p:nvPr/>
        </p:nvPicPr>
        <p:blipFill rotWithShape="1">
          <a:blip r:embed="rId6">
            <a:alphaModFix/>
          </a:blip>
          <a:srcRect b="0" l="0" r="0" t="0"/>
          <a:stretch/>
        </p:blipFill>
        <p:spPr>
          <a:xfrm>
            <a:off x="6998726" y="1660916"/>
            <a:ext cx="171176" cy="171176"/>
          </a:xfrm>
          <a:prstGeom prst="rect">
            <a:avLst/>
          </a:prstGeom>
          <a:noFill/>
          <a:ln>
            <a:noFill/>
          </a:ln>
        </p:spPr>
      </p:pic>
      <p:sp>
        <p:nvSpPr>
          <p:cNvPr id="1351" name="Google Shape;1351;p68"/>
          <p:cNvSpPr txBox="1"/>
          <p:nvPr/>
        </p:nvSpPr>
        <p:spPr>
          <a:xfrm>
            <a:off x="6919722" y="202082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Priority Request</a:t>
            </a:r>
            <a:endParaRPr b="0" i="0" sz="1200" u="none" cap="none" strike="noStrike">
              <a:solidFill>
                <a:schemeClr val="dk1"/>
              </a:solidFill>
              <a:latin typeface="Calibri"/>
              <a:ea typeface="Calibri"/>
              <a:cs typeface="Calibri"/>
              <a:sym typeface="Calibri"/>
            </a:endParaRPr>
          </a:p>
        </p:txBody>
      </p:sp>
      <p:sp>
        <p:nvSpPr>
          <p:cNvPr id="1352" name="Google Shape;1352;p68"/>
          <p:cNvSpPr txBox="1"/>
          <p:nvPr/>
        </p:nvSpPr>
        <p:spPr>
          <a:xfrm>
            <a:off x="6919722" y="2313432"/>
            <a:ext cx="1648206" cy="749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Within 24–48 hrs of start, the job is boosted to more cleaners.</a:t>
            </a:r>
            <a:endParaRPr b="0" i="0" sz="950" u="none" cap="none" strike="noStrike">
              <a:solidFill>
                <a:schemeClr val="dk1"/>
              </a:solidFill>
              <a:latin typeface="Calibri"/>
              <a:ea typeface="Calibri"/>
              <a:cs typeface="Calibri"/>
              <a:sym typeface="Calibri"/>
            </a:endParaRPr>
          </a:p>
        </p:txBody>
      </p:sp>
      <p:sp>
        <p:nvSpPr>
          <p:cNvPr id="1353" name="Google Shape;1353;p68"/>
          <p:cNvSpPr/>
          <p:nvPr/>
        </p:nvSpPr>
        <p:spPr>
          <a:xfrm>
            <a:off x="411480" y="33832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54" name="Google Shape;1354;p68"/>
          <p:cNvPicPr preferRelativeResize="0"/>
          <p:nvPr/>
        </p:nvPicPr>
        <p:blipFill rotWithShape="1">
          <a:blip r:embed="rId7">
            <a:alphaModFix/>
          </a:blip>
          <a:srcRect b="0" l="0" r="0" t="0"/>
          <a:stretch/>
        </p:blipFill>
        <p:spPr>
          <a:xfrm>
            <a:off x="566928" y="3493008"/>
            <a:ext cx="164592" cy="164592"/>
          </a:xfrm>
          <a:prstGeom prst="rect">
            <a:avLst/>
          </a:prstGeom>
          <a:noFill/>
          <a:ln>
            <a:noFill/>
          </a:ln>
        </p:spPr>
      </p:pic>
      <p:sp>
        <p:nvSpPr>
          <p:cNvPr id="1355" name="Google Shape;1355;p68"/>
          <p:cNvSpPr txBox="1"/>
          <p:nvPr/>
        </p:nvSpPr>
        <p:spPr>
          <a:xfrm>
            <a:off x="822960" y="34838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Customer can't do alternate times?  </a:t>
            </a:r>
            <a:r>
              <a:rPr b="0" i="0" lang="en" sz="1000" u="none" cap="none" strike="noStrike">
                <a:solidFill>
                  <a:srgbClr val="1D1D1F"/>
                </a:solidFill>
                <a:latin typeface="Arial"/>
                <a:ea typeface="Arial"/>
                <a:cs typeface="Arial"/>
                <a:sym typeface="Arial"/>
              </a:rPr>
              <a:t>add the do_not_auto_add_alternate_start_times flag (Flags &gt; +Add Flags in the new CRM).</a:t>
            </a:r>
            <a:endParaRPr b="0" i="0" sz="1000" u="none" cap="none" strike="noStrike">
              <a:solidFill>
                <a:schemeClr val="dk1"/>
              </a:solidFill>
              <a:latin typeface="Calibri"/>
              <a:ea typeface="Calibri"/>
              <a:cs typeface="Calibri"/>
              <a:sym typeface="Calibri"/>
            </a:endParaRPr>
          </a:p>
        </p:txBody>
      </p:sp>
      <p:sp>
        <p:nvSpPr>
          <p:cNvPr id="1356" name="Google Shape;1356;p6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6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SUBMITTED</a:t>
            </a:r>
            <a:endParaRPr b="0" i="0" sz="800" u="none" cap="none" strike="noStrike">
              <a:solidFill>
                <a:schemeClr val="dk1"/>
              </a:solidFill>
              <a:latin typeface="Calibri"/>
              <a:ea typeface="Calibri"/>
              <a:cs typeface="Calibri"/>
              <a:sym typeface="Calibri"/>
            </a:endParaRPr>
          </a:p>
        </p:txBody>
      </p:sp>
      <p:sp>
        <p:nvSpPr>
          <p:cNvPr id="1363" name="Google Shape;1363;p6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Common issues: Submitted</a:t>
            </a:r>
            <a:endParaRPr b="0" i="0" sz="2400" u="none" cap="none" strike="noStrike">
              <a:solidFill>
                <a:schemeClr val="dk1"/>
              </a:solidFill>
              <a:latin typeface="Calibri"/>
              <a:ea typeface="Calibri"/>
              <a:cs typeface="Calibri"/>
              <a:sym typeface="Calibri"/>
            </a:endParaRPr>
          </a:p>
        </p:txBody>
      </p:sp>
      <p:sp>
        <p:nvSpPr>
          <p:cNvPr id="1364" name="Google Shape;1364;p6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customers ask while the job waits for a cleaner.</a:t>
            </a:r>
            <a:endParaRPr b="0" i="0" sz="1200" u="none" cap="none" strike="noStrike">
              <a:solidFill>
                <a:schemeClr val="dk1"/>
              </a:solidFill>
              <a:latin typeface="Calibri"/>
              <a:ea typeface="Calibri"/>
              <a:cs typeface="Calibri"/>
              <a:sym typeface="Calibri"/>
            </a:endParaRPr>
          </a:p>
        </p:txBody>
      </p:sp>
      <p:sp>
        <p:nvSpPr>
          <p:cNvPr id="1365" name="Google Shape;1365;p69"/>
          <p:cNvSpPr/>
          <p:nvPr/>
        </p:nvSpPr>
        <p:spPr>
          <a:xfrm>
            <a:off x="411480" y="12984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6" name="Google Shape;1366;p69"/>
          <p:cNvSpPr/>
          <p:nvPr/>
        </p:nvSpPr>
        <p:spPr>
          <a:xfrm>
            <a:off x="548640" y="14813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69"/>
          <p:cNvSpPr txBox="1"/>
          <p:nvPr/>
        </p:nvSpPr>
        <p:spPr>
          <a:xfrm>
            <a:off x="548640" y="14813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368" name="Google Shape;1368;p69"/>
          <p:cNvSpPr txBox="1"/>
          <p:nvPr/>
        </p:nvSpPr>
        <p:spPr>
          <a:xfrm>
            <a:off x="960120" y="12984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Match anxiety</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1" lang="en" sz="850" u="none" cap="none" strike="noStrike">
                <a:solidFill>
                  <a:srgbClr val="6E6E73"/>
                </a:solidFill>
                <a:latin typeface="Arial"/>
                <a:ea typeface="Arial"/>
                <a:cs typeface="Arial"/>
                <a:sym typeface="Arial"/>
              </a:rPr>
              <a:t>"Has my request been claimed? When will it be?"</a:t>
            </a:r>
            <a:endParaRPr b="0" i="0" sz="1050" u="none" cap="none" strike="noStrike">
              <a:solidFill>
                <a:schemeClr val="dk1"/>
              </a:solidFill>
              <a:latin typeface="Calibri"/>
              <a:ea typeface="Calibri"/>
              <a:cs typeface="Calibri"/>
              <a:sym typeface="Calibri"/>
            </a:endParaRPr>
          </a:p>
        </p:txBody>
      </p:sp>
      <p:sp>
        <p:nvSpPr>
          <p:cNvPr id="1369" name="Google Shape;1369;p69"/>
          <p:cNvSpPr txBox="1"/>
          <p:nvPr/>
        </p:nvSpPr>
        <p:spPr>
          <a:xfrm>
            <a:off x="3566160" y="12984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A submitted job is automatically upgraded to a Priority Request within 24–48 hours of the start time.</a:t>
            </a:r>
            <a:endParaRPr b="0" i="0" sz="950" u="none" cap="none" strike="noStrike">
              <a:solidFill>
                <a:schemeClr val="dk1"/>
              </a:solidFill>
              <a:latin typeface="Calibri"/>
              <a:ea typeface="Calibri"/>
              <a:cs typeface="Calibri"/>
              <a:sym typeface="Calibri"/>
            </a:endParaRPr>
          </a:p>
        </p:txBody>
      </p:sp>
      <p:sp>
        <p:nvSpPr>
          <p:cNvPr id="1370" name="Google Shape;1370;p69"/>
          <p:cNvSpPr/>
          <p:nvPr/>
        </p:nvSpPr>
        <p:spPr>
          <a:xfrm>
            <a:off x="411480" y="19842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1" name="Google Shape;1371;p69"/>
          <p:cNvSpPr/>
          <p:nvPr/>
        </p:nvSpPr>
        <p:spPr>
          <a:xfrm>
            <a:off x="548640" y="21671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69"/>
          <p:cNvSpPr txBox="1"/>
          <p:nvPr/>
        </p:nvSpPr>
        <p:spPr>
          <a:xfrm>
            <a:off x="548640" y="21671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373" name="Google Shape;1373;p69"/>
          <p:cNvSpPr txBox="1"/>
          <p:nvPr/>
        </p:nvSpPr>
        <p:spPr>
          <a:xfrm>
            <a:off x="960120" y="19842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Last-minute job request</a:t>
            </a:r>
            <a:endParaRPr b="0" i="0" sz="1050" u="none" cap="none" strike="noStrike">
              <a:solidFill>
                <a:schemeClr val="dk1"/>
              </a:solidFill>
              <a:latin typeface="Calibri"/>
              <a:ea typeface="Calibri"/>
              <a:cs typeface="Calibri"/>
              <a:sym typeface="Calibri"/>
            </a:endParaRPr>
          </a:p>
        </p:txBody>
      </p:sp>
      <p:sp>
        <p:nvSpPr>
          <p:cNvPr id="1374" name="Google Shape;1374;p69"/>
          <p:cNvSpPr txBox="1"/>
          <p:nvPr/>
        </p:nvSpPr>
        <p:spPr>
          <a:xfrm>
            <a:off x="3566160" y="19842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1200"/>
              </a:spcBef>
              <a:spcAft>
                <a:spcPts val="1200"/>
              </a:spcAft>
              <a:buClr>
                <a:schemeClr val="dk1"/>
              </a:buClr>
              <a:buSzPts val="1100"/>
              <a:buFont typeface="Arial"/>
              <a:buNone/>
            </a:pPr>
            <a:r>
              <a:rPr b="0" i="0" lang="en" sz="950" u="none" cap="none" strike="noStrike">
                <a:solidFill>
                  <a:srgbClr val="1D1D1F"/>
                </a:solidFill>
                <a:latin typeface="Arial"/>
                <a:ea typeface="Arial"/>
                <a:cs typeface="Arial"/>
                <a:sym typeface="Arial"/>
              </a:rPr>
              <a:t>CS can book a cleaning less than 12 hours in advance through the CRM. Priority markups don't apply to jobs booked via the CRM.</a:t>
            </a:r>
            <a:endParaRPr b="0" i="0" sz="950" u="none" cap="none" strike="noStrike">
              <a:solidFill>
                <a:schemeClr val="dk1"/>
              </a:solidFill>
              <a:latin typeface="Calibri"/>
              <a:ea typeface="Calibri"/>
              <a:cs typeface="Calibri"/>
              <a:sym typeface="Calibri"/>
            </a:endParaRPr>
          </a:p>
        </p:txBody>
      </p:sp>
      <p:sp>
        <p:nvSpPr>
          <p:cNvPr id="1375" name="Google Shape;1375;p69"/>
          <p:cNvSpPr/>
          <p:nvPr/>
        </p:nvSpPr>
        <p:spPr>
          <a:xfrm>
            <a:off x="411480" y="26700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69"/>
          <p:cNvSpPr/>
          <p:nvPr/>
        </p:nvSpPr>
        <p:spPr>
          <a:xfrm>
            <a:off x="548640" y="28529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69"/>
          <p:cNvSpPr txBox="1"/>
          <p:nvPr/>
        </p:nvSpPr>
        <p:spPr>
          <a:xfrm>
            <a:off x="548640" y="28529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378" name="Google Shape;1378;p69"/>
          <p:cNvSpPr txBox="1"/>
          <p:nvPr/>
        </p:nvSpPr>
        <p:spPr>
          <a:xfrm>
            <a:off x="960120" y="26700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Wants a cleaner of a specific gender</a:t>
            </a:r>
            <a:endParaRPr b="0" i="0" sz="1050" u="none" cap="none" strike="noStrike">
              <a:solidFill>
                <a:schemeClr val="dk1"/>
              </a:solidFill>
              <a:latin typeface="Calibri"/>
              <a:ea typeface="Calibri"/>
              <a:cs typeface="Calibri"/>
              <a:sym typeface="Calibri"/>
            </a:endParaRPr>
          </a:p>
        </p:txBody>
      </p:sp>
      <p:sp>
        <p:nvSpPr>
          <p:cNvPr id="1379" name="Google Shape;1379;p69"/>
          <p:cNvSpPr txBox="1"/>
          <p:nvPr/>
        </p:nvSpPr>
        <p:spPr>
          <a:xfrm>
            <a:off x="3566160" y="26700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There's no gender option. They can rematch any time 6+ hours before start, and add preferences to the cleaning notes.</a:t>
            </a:r>
            <a:endParaRPr b="0" i="0" sz="950" u="none" cap="none" strike="noStrike">
              <a:solidFill>
                <a:schemeClr val="dk1"/>
              </a:solidFill>
              <a:latin typeface="Calibri"/>
              <a:ea typeface="Calibri"/>
              <a:cs typeface="Calibri"/>
              <a:sym typeface="Calibri"/>
            </a:endParaRPr>
          </a:p>
        </p:txBody>
      </p:sp>
      <p:sp>
        <p:nvSpPr>
          <p:cNvPr id="1380" name="Google Shape;1380;p69"/>
          <p:cNvSpPr/>
          <p:nvPr/>
        </p:nvSpPr>
        <p:spPr>
          <a:xfrm>
            <a:off x="411480" y="33558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69"/>
          <p:cNvSpPr/>
          <p:nvPr/>
        </p:nvSpPr>
        <p:spPr>
          <a:xfrm>
            <a:off x="548640" y="3538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2" name="Google Shape;1382;p69"/>
          <p:cNvSpPr txBox="1"/>
          <p:nvPr/>
        </p:nvSpPr>
        <p:spPr>
          <a:xfrm>
            <a:off x="548640" y="3538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1383" name="Google Shape;1383;p69"/>
          <p:cNvSpPr txBox="1"/>
          <p:nvPr/>
        </p:nvSpPr>
        <p:spPr>
          <a:xfrm>
            <a:off x="960120" y="33558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Wants a specific cleaner</a:t>
            </a:r>
            <a:endParaRPr b="0" i="0" sz="1050" u="none" cap="none" strike="noStrike">
              <a:solidFill>
                <a:schemeClr val="dk1"/>
              </a:solidFill>
              <a:latin typeface="Calibri"/>
              <a:ea typeface="Calibri"/>
              <a:cs typeface="Calibri"/>
              <a:sym typeface="Calibri"/>
            </a:endParaRPr>
          </a:p>
        </p:txBody>
      </p:sp>
      <p:sp>
        <p:nvSpPr>
          <p:cNvPr id="1384" name="Google Shape;1384;p69"/>
          <p:cNvSpPr txBox="1"/>
          <p:nvPr/>
        </p:nvSpPr>
        <p:spPr>
          <a:xfrm>
            <a:off x="3566160" y="3355848"/>
            <a:ext cx="397764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Change their Requested CPs on the Job Admin Page, only if they explicitly ask.</a:t>
            </a:r>
            <a:endParaRPr b="0" i="0" sz="950" u="none" cap="none" strike="noStrike">
              <a:solidFill>
                <a:schemeClr val="dk1"/>
              </a:solidFill>
              <a:latin typeface="Calibri"/>
              <a:ea typeface="Calibri"/>
              <a:cs typeface="Calibri"/>
              <a:sym typeface="Calibri"/>
            </a:endParaRPr>
          </a:p>
        </p:txBody>
      </p:sp>
      <p:sp>
        <p:nvSpPr>
          <p:cNvPr id="1385" name="Google Shape;1385;p69"/>
          <p:cNvSpPr/>
          <p:nvPr/>
        </p:nvSpPr>
        <p:spPr>
          <a:xfrm>
            <a:off x="7589520" y="3538728"/>
            <a:ext cx="1005840" cy="256032"/>
          </a:xfrm>
          <a:prstGeom prst="roundRect">
            <a:avLst>
              <a:gd fmla="val 28571"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6" name="Google Shape;1386;p69"/>
          <p:cNvSpPr txBox="1"/>
          <p:nvPr/>
        </p:nvSpPr>
        <p:spPr>
          <a:xfrm>
            <a:off x="7589520" y="3538728"/>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800"/>
              <a:buFont typeface="Arial"/>
              <a:buNone/>
            </a:pPr>
            <a:r>
              <a:rPr b="1" i="0" lang="en" sz="800" u="none" cap="none" strike="noStrike">
                <a:solidFill>
                  <a:srgbClr val="9A6410"/>
                </a:solidFill>
                <a:latin typeface="Arial"/>
                <a:ea typeface="Arial"/>
                <a:cs typeface="Arial"/>
                <a:sym typeface="Arial"/>
              </a:rPr>
              <a:t>Trainer demo</a:t>
            </a:r>
            <a:endParaRPr b="0" i="0" sz="800" u="none" cap="none" strike="noStrike">
              <a:solidFill>
                <a:schemeClr val="dk1"/>
              </a:solidFill>
              <a:latin typeface="Calibri"/>
              <a:ea typeface="Calibri"/>
              <a:cs typeface="Calibri"/>
              <a:sym typeface="Calibri"/>
            </a:endParaRPr>
          </a:p>
        </p:txBody>
      </p:sp>
      <p:sp>
        <p:nvSpPr>
          <p:cNvPr id="1387" name="Google Shape;1387;p69"/>
          <p:cNvSpPr/>
          <p:nvPr/>
        </p:nvSpPr>
        <p:spPr>
          <a:xfrm>
            <a:off x="411480" y="40416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8" name="Google Shape;1388;p69"/>
          <p:cNvSpPr/>
          <p:nvPr/>
        </p:nvSpPr>
        <p:spPr>
          <a:xfrm>
            <a:off x="548640" y="42245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9" name="Google Shape;1389;p69"/>
          <p:cNvSpPr txBox="1"/>
          <p:nvPr/>
        </p:nvSpPr>
        <p:spPr>
          <a:xfrm>
            <a:off x="548640" y="42245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5</a:t>
            </a:r>
            <a:endParaRPr b="0" i="0" sz="900" u="none" cap="none" strike="noStrike">
              <a:solidFill>
                <a:schemeClr val="dk1"/>
              </a:solidFill>
              <a:latin typeface="Calibri"/>
              <a:ea typeface="Calibri"/>
              <a:cs typeface="Calibri"/>
              <a:sym typeface="Calibri"/>
            </a:endParaRPr>
          </a:p>
        </p:txBody>
      </p:sp>
      <p:sp>
        <p:nvSpPr>
          <p:cNvPr id="1390" name="Google Shape;1390;p69"/>
          <p:cNvSpPr txBox="1"/>
          <p:nvPr/>
        </p:nvSpPr>
        <p:spPr>
          <a:xfrm>
            <a:off x="960120" y="40416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Strict schedule, only certain dates/times</a:t>
            </a:r>
            <a:endParaRPr b="0" i="0" sz="1050" u="none" cap="none" strike="noStrike">
              <a:solidFill>
                <a:schemeClr val="dk1"/>
              </a:solidFill>
              <a:latin typeface="Calibri"/>
              <a:ea typeface="Calibri"/>
              <a:cs typeface="Calibri"/>
              <a:sym typeface="Calibri"/>
            </a:endParaRPr>
          </a:p>
        </p:txBody>
      </p:sp>
      <p:sp>
        <p:nvSpPr>
          <p:cNvPr id="1391" name="Google Shape;1391;p69"/>
          <p:cNvSpPr txBox="1"/>
          <p:nvPr/>
        </p:nvSpPr>
        <p:spPr>
          <a:xfrm>
            <a:off x="3566160" y="40416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Unclaimed 24 hrs before start, the system may add alternate times. To stop it: New CRM › Flags › + Add Flags › do_not_auto_add_alternate_start_times.</a:t>
            </a:r>
            <a:endParaRPr b="0" i="0" sz="950" u="none" cap="none" strike="noStrike">
              <a:solidFill>
                <a:schemeClr val="dk1"/>
              </a:solidFill>
              <a:latin typeface="Calibri"/>
              <a:ea typeface="Calibri"/>
              <a:cs typeface="Calibri"/>
              <a:sym typeface="Calibri"/>
            </a:endParaRPr>
          </a:p>
        </p:txBody>
      </p:sp>
      <p:sp>
        <p:nvSpPr>
          <p:cNvPr id="1392" name="Google Shape;1392;p6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sp>
        <p:nvSpPr>
          <p:cNvPr id="1398" name="Google Shape;1398;p7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CLAIMED</a:t>
            </a:r>
            <a:endParaRPr b="0" i="0" sz="800" u="none" cap="none" strike="noStrike">
              <a:solidFill>
                <a:schemeClr val="dk1"/>
              </a:solidFill>
              <a:latin typeface="Calibri"/>
              <a:ea typeface="Calibri"/>
              <a:cs typeface="Calibri"/>
              <a:sym typeface="Calibri"/>
            </a:endParaRPr>
          </a:p>
        </p:txBody>
      </p:sp>
      <p:sp>
        <p:nvSpPr>
          <p:cNvPr id="1399" name="Google Shape;1399;p7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Claimed</a:t>
            </a:r>
            <a:endParaRPr b="0" i="0" sz="2400" u="none" cap="none" strike="noStrike">
              <a:solidFill>
                <a:schemeClr val="dk1"/>
              </a:solidFill>
              <a:latin typeface="Calibri"/>
              <a:ea typeface="Calibri"/>
              <a:cs typeface="Calibri"/>
              <a:sym typeface="Calibri"/>
            </a:endParaRPr>
          </a:p>
        </p:txBody>
      </p:sp>
      <p:sp>
        <p:nvSpPr>
          <p:cNvPr id="1400" name="Google Shape;1400;p7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cleaner claimed the job, and the customer gets the cleaner's info.</a:t>
            </a:r>
            <a:endParaRPr b="0" i="0" sz="1200" u="none" cap="none" strike="noStrike">
              <a:solidFill>
                <a:schemeClr val="dk1"/>
              </a:solidFill>
              <a:latin typeface="Calibri"/>
              <a:ea typeface="Calibri"/>
              <a:cs typeface="Calibri"/>
              <a:sym typeface="Calibri"/>
            </a:endParaRPr>
          </a:p>
        </p:txBody>
      </p:sp>
      <p:sp>
        <p:nvSpPr>
          <p:cNvPr id="1401" name="Google Shape;1401;p70"/>
          <p:cNvSpPr/>
          <p:nvPr/>
        </p:nvSpPr>
        <p:spPr>
          <a:xfrm>
            <a:off x="411480" y="1280160"/>
            <a:ext cx="4091940" cy="2331720"/>
          </a:xfrm>
          <a:prstGeom prst="roundRect">
            <a:avLst>
              <a:gd fmla="val 313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70"/>
          <p:cNvSpPr/>
          <p:nvPr/>
        </p:nvSpPr>
        <p:spPr>
          <a:xfrm>
            <a:off x="594360" y="146304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03" name="Google Shape;1403;p70"/>
          <p:cNvPicPr preferRelativeResize="0"/>
          <p:nvPr/>
        </p:nvPicPr>
        <p:blipFill rotWithShape="1">
          <a:blip r:embed="rId3">
            <a:alphaModFix/>
          </a:blip>
          <a:srcRect b="0" l="0" r="0" t="0"/>
          <a:stretch/>
        </p:blipFill>
        <p:spPr>
          <a:xfrm>
            <a:off x="686532" y="1555212"/>
            <a:ext cx="199705" cy="199705"/>
          </a:xfrm>
          <a:prstGeom prst="rect">
            <a:avLst/>
          </a:prstGeom>
          <a:noFill/>
          <a:ln>
            <a:noFill/>
          </a:ln>
        </p:spPr>
      </p:pic>
      <p:sp>
        <p:nvSpPr>
          <p:cNvPr id="1404" name="Google Shape;1404;p70"/>
          <p:cNvSpPr txBox="1"/>
          <p:nvPr/>
        </p:nvSpPr>
        <p:spPr>
          <a:xfrm>
            <a:off x="1097280" y="146304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The customer can</a:t>
            </a:r>
            <a:endParaRPr b="0" i="0" sz="1300" u="none" cap="none" strike="noStrike">
              <a:solidFill>
                <a:schemeClr val="dk1"/>
              </a:solidFill>
              <a:latin typeface="Calibri"/>
              <a:ea typeface="Calibri"/>
              <a:cs typeface="Calibri"/>
              <a:sym typeface="Calibri"/>
            </a:endParaRPr>
          </a:p>
        </p:txBody>
      </p:sp>
      <p:sp>
        <p:nvSpPr>
          <p:cNvPr id="1405" name="Google Shape;1405;p70"/>
          <p:cNvSpPr txBox="1"/>
          <p:nvPr/>
        </p:nvSpPr>
        <p:spPr>
          <a:xfrm>
            <a:off x="594360" y="1993392"/>
            <a:ext cx="3726180" cy="150876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Reschedule 6+ hrs before start (not the 12-hour new-booking rule)</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Rematch: Manage Appointment &gt; Change My Cleaner, until 6 hrs before</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Cancel</a:t>
            </a:r>
            <a:endParaRPr b="0" i="0" sz="1000" u="none" cap="none" strike="noStrike">
              <a:solidFill>
                <a:schemeClr val="dk1"/>
              </a:solidFill>
              <a:latin typeface="Calibri"/>
              <a:ea typeface="Calibri"/>
              <a:cs typeface="Calibri"/>
              <a:sym typeface="Calibri"/>
            </a:endParaRPr>
          </a:p>
        </p:txBody>
      </p:sp>
      <p:sp>
        <p:nvSpPr>
          <p:cNvPr id="1406" name="Google Shape;1406;p70"/>
          <p:cNvSpPr/>
          <p:nvPr/>
        </p:nvSpPr>
        <p:spPr>
          <a:xfrm>
            <a:off x="4640580" y="1280160"/>
            <a:ext cx="4091940" cy="2331720"/>
          </a:xfrm>
          <a:prstGeom prst="roundRect">
            <a:avLst>
              <a:gd fmla="val 313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7" name="Google Shape;1407;p70"/>
          <p:cNvSpPr/>
          <p:nvPr/>
        </p:nvSpPr>
        <p:spPr>
          <a:xfrm>
            <a:off x="4823460" y="146304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08" name="Google Shape;1408;p70"/>
          <p:cNvPicPr preferRelativeResize="0"/>
          <p:nvPr/>
        </p:nvPicPr>
        <p:blipFill rotWithShape="1">
          <a:blip r:embed="rId4">
            <a:alphaModFix/>
          </a:blip>
          <a:srcRect b="0" l="0" r="0" t="0"/>
          <a:stretch/>
        </p:blipFill>
        <p:spPr>
          <a:xfrm>
            <a:off x="4915632" y="1555212"/>
            <a:ext cx="199705" cy="199705"/>
          </a:xfrm>
          <a:prstGeom prst="rect">
            <a:avLst/>
          </a:prstGeom>
          <a:noFill/>
          <a:ln>
            <a:noFill/>
          </a:ln>
        </p:spPr>
      </p:pic>
      <p:sp>
        <p:nvSpPr>
          <p:cNvPr id="1409" name="Google Shape;1409;p70"/>
          <p:cNvSpPr txBox="1"/>
          <p:nvPr/>
        </p:nvSpPr>
        <p:spPr>
          <a:xfrm>
            <a:off x="5326380" y="146304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The cleaner can</a:t>
            </a:r>
            <a:endParaRPr b="0" i="0" sz="1300" u="none" cap="none" strike="noStrike">
              <a:solidFill>
                <a:schemeClr val="dk1"/>
              </a:solidFill>
              <a:latin typeface="Calibri"/>
              <a:ea typeface="Calibri"/>
              <a:cs typeface="Calibri"/>
              <a:sym typeface="Calibri"/>
            </a:endParaRPr>
          </a:p>
        </p:txBody>
      </p:sp>
      <p:sp>
        <p:nvSpPr>
          <p:cNvPr id="1410" name="Google Shape;1410;p70"/>
          <p:cNvSpPr txBox="1"/>
          <p:nvPr/>
        </p:nvSpPr>
        <p:spPr>
          <a:xfrm>
            <a:off x="4823460" y="1993392"/>
            <a:ext cx="3726180" cy="150876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File a lockout claim</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Reschedule, if the customer agrees</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Cancel from their dashboard if they can't agree</a:t>
            </a:r>
            <a:endParaRPr b="0" i="0" sz="1000" u="none" cap="none" strike="noStrike">
              <a:solidFill>
                <a:schemeClr val="dk1"/>
              </a:solidFill>
              <a:latin typeface="Calibri"/>
              <a:ea typeface="Calibri"/>
              <a:cs typeface="Calibri"/>
              <a:sym typeface="Calibri"/>
            </a:endParaRPr>
          </a:p>
        </p:txBody>
      </p:sp>
      <p:sp>
        <p:nvSpPr>
          <p:cNvPr id="1411" name="Google Shape;1411;p70"/>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12" name="Google Shape;1412;p70"/>
          <p:cNvPicPr preferRelativeResize="0"/>
          <p:nvPr/>
        </p:nvPicPr>
        <p:blipFill rotWithShape="1">
          <a:blip r:embed="rId5">
            <a:alphaModFix/>
          </a:blip>
          <a:srcRect b="0" l="0" r="0" t="0"/>
          <a:stretch/>
        </p:blipFill>
        <p:spPr>
          <a:xfrm>
            <a:off x="566928" y="3904488"/>
            <a:ext cx="164592" cy="164592"/>
          </a:xfrm>
          <a:prstGeom prst="rect">
            <a:avLst/>
          </a:prstGeom>
          <a:noFill/>
          <a:ln>
            <a:noFill/>
          </a:ln>
        </p:spPr>
      </p:pic>
      <p:sp>
        <p:nvSpPr>
          <p:cNvPr id="1413" name="Google Shape;1413;p70"/>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ZTP:  </a:t>
            </a:r>
            <a:r>
              <a:rPr b="0" i="0" lang="en" sz="1000" u="none" cap="none" strike="noStrike">
                <a:solidFill>
                  <a:srgbClr val="1D1D1F"/>
                </a:solidFill>
                <a:latin typeface="Arial"/>
                <a:ea typeface="Arial"/>
                <a:cs typeface="Arial"/>
                <a:sym typeface="Arial"/>
              </a:rPr>
              <a:t>higher-tier cleaners may swap in. Swapping is internal: never mention it.</a:t>
            </a:r>
            <a:endParaRPr b="0" i="0" sz="1000" u="none" cap="none" strike="noStrike">
              <a:solidFill>
                <a:schemeClr val="dk1"/>
              </a:solidFill>
              <a:latin typeface="Calibri"/>
              <a:ea typeface="Calibri"/>
              <a:cs typeface="Calibri"/>
              <a:sym typeface="Calibri"/>
            </a:endParaRPr>
          </a:p>
        </p:txBody>
      </p:sp>
      <p:sp>
        <p:nvSpPr>
          <p:cNvPr id="1414" name="Google Shape;1414;p7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7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CLAIMED</a:t>
            </a:r>
            <a:endParaRPr b="0" i="0" sz="800" u="none" cap="none" strike="noStrike">
              <a:solidFill>
                <a:schemeClr val="dk1"/>
              </a:solidFill>
              <a:latin typeface="Calibri"/>
              <a:ea typeface="Calibri"/>
              <a:cs typeface="Calibri"/>
              <a:sym typeface="Calibri"/>
            </a:endParaRPr>
          </a:p>
        </p:txBody>
      </p:sp>
      <p:sp>
        <p:nvSpPr>
          <p:cNvPr id="1421" name="Google Shape;1421;p7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Common issues: Claimed Stage</a:t>
            </a:r>
            <a:endParaRPr b="0" i="0" sz="2400" u="none" cap="none" strike="noStrike">
              <a:solidFill>
                <a:schemeClr val="dk1"/>
              </a:solidFill>
              <a:latin typeface="Calibri"/>
              <a:ea typeface="Calibri"/>
              <a:cs typeface="Calibri"/>
              <a:sym typeface="Calibri"/>
            </a:endParaRPr>
          </a:p>
        </p:txBody>
      </p:sp>
      <p:sp>
        <p:nvSpPr>
          <p:cNvPr id="1422" name="Google Shape;1422;p7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customers ask once a cleaner has claimed the job.</a:t>
            </a:r>
            <a:endParaRPr b="0" i="0" sz="1200" u="none" cap="none" strike="noStrike">
              <a:solidFill>
                <a:schemeClr val="dk1"/>
              </a:solidFill>
              <a:latin typeface="Calibri"/>
              <a:ea typeface="Calibri"/>
              <a:cs typeface="Calibri"/>
              <a:sym typeface="Calibri"/>
            </a:endParaRPr>
          </a:p>
        </p:txBody>
      </p:sp>
      <p:sp>
        <p:nvSpPr>
          <p:cNvPr id="1423" name="Google Shape;1423;p71"/>
          <p:cNvSpPr/>
          <p:nvPr/>
        </p:nvSpPr>
        <p:spPr>
          <a:xfrm>
            <a:off x="411480" y="12984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71"/>
          <p:cNvSpPr/>
          <p:nvPr/>
        </p:nvSpPr>
        <p:spPr>
          <a:xfrm>
            <a:off x="548640" y="14813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71"/>
          <p:cNvSpPr txBox="1"/>
          <p:nvPr/>
        </p:nvSpPr>
        <p:spPr>
          <a:xfrm>
            <a:off x="548640" y="14813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426" name="Google Shape;1426;p71"/>
          <p:cNvSpPr txBox="1"/>
          <p:nvPr/>
        </p:nvSpPr>
        <p:spPr>
          <a:xfrm>
            <a:off x="960120" y="12984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Claimed at a different date than booked</a:t>
            </a:r>
            <a:endParaRPr b="0" i="0" sz="1050" u="none" cap="none" strike="noStrike">
              <a:solidFill>
                <a:schemeClr val="dk1"/>
              </a:solidFill>
              <a:latin typeface="Calibri"/>
              <a:ea typeface="Calibri"/>
              <a:cs typeface="Calibri"/>
              <a:sym typeface="Calibri"/>
            </a:endParaRPr>
          </a:p>
        </p:txBody>
      </p:sp>
      <p:sp>
        <p:nvSpPr>
          <p:cNvPr id="1427" name="Google Shape;1427;p71"/>
          <p:cNvSpPr txBox="1"/>
          <p:nvPr/>
        </p:nvSpPr>
        <p:spPr>
          <a:xfrm>
            <a:off x="3566160" y="12984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Check the job history: was it claimed at an alternate date and time, or rescheduled by the cleaner?</a:t>
            </a:r>
            <a:endParaRPr b="0" i="0" sz="950" u="none" cap="none" strike="noStrike">
              <a:solidFill>
                <a:schemeClr val="dk1"/>
              </a:solidFill>
              <a:latin typeface="Calibri"/>
              <a:ea typeface="Calibri"/>
              <a:cs typeface="Calibri"/>
              <a:sym typeface="Calibri"/>
            </a:endParaRPr>
          </a:p>
        </p:txBody>
      </p:sp>
      <p:sp>
        <p:nvSpPr>
          <p:cNvPr id="1428" name="Google Shape;1428;p71"/>
          <p:cNvSpPr/>
          <p:nvPr/>
        </p:nvSpPr>
        <p:spPr>
          <a:xfrm>
            <a:off x="411480" y="19842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9" name="Google Shape;1429;p71"/>
          <p:cNvSpPr/>
          <p:nvPr/>
        </p:nvSpPr>
        <p:spPr>
          <a:xfrm>
            <a:off x="548640" y="21671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71"/>
          <p:cNvSpPr txBox="1"/>
          <p:nvPr/>
        </p:nvSpPr>
        <p:spPr>
          <a:xfrm>
            <a:off x="548640" y="21671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431" name="Google Shape;1431;p71"/>
          <p:cNvSpPr txBox="1"/>
          <p:nvPr/>
        </p:nvSpPr>
        <p:spPr>
          <a:xfrm>
            <a:off x="960120" y="19842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Confirmations from 2 different cleaners</a:t>
            </a:r>
            <a:endParaRPr b="0" i="0" sz="1050" u="none" cap="none" strike="noStrike">
              <a:solidFill>
                <a:schemeClr val="dk1"/>
              </a:solidFill>
              <a:latin typeface="Calibri"/>
              <a:ea typeface="Calibri"/>
              <a:cs typeface="Calibri"/>
              <a:sym typeface="Calibri"/>
            </a:endParaRPr>
          </a:p>
        </p:txBody>
      </p:sp>
      <p:sp>
        <p:nvSpPr>
          <p:cNvPr id="1432" name="Google Shape;1432;p71"/>
          <p:cNvSpPr txBox="1"/>
          <p:nvPr/>
        </p:nvSpPr>
        <p:spPr>
          <a:xfrm>
            <a:off x="3566160" y="19842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Check the job history: did the first cleaner cancel, or were they swapped out?</a:t>
            </a:r>
            <a:endParaRPr b="0" i="0" sz="950" u="none" cap="none" strike="noStrike">
              <a:solidFill>
                <a:schemeClr val="dk1"/>
              </a:solidFill>
              <a:latin typeface="Calibri"/>
              <a:ea typeface="Calibri"/>
              <a:cs typeface="Calibri"/>
              <a:sym typeface="Calibri"/>
            </a:endParaRPr>
          </a:p>
        </p:txBody>
      </p:sp>
      <p:sp>
        <p:nvSpPr>
          <p:cNvPr id="1433" name="Google Shape;1433;p71"/>
          <p:cNvSpPr/>
          <p:nvPr/>
        </p:nvSpPr>
        <p:spPr>
          <a:xfrm>
            <a:off x="411480" y="26700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71"/>
          <p:cNvSpPr/>
          <p:nvPr/>
        </p:nvSpPr>
        <p:spPr>
          <a:xfrm>
            <a:off x="548640" y="28529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71"/>
          <p:cNvSpPr txBox="1"/>
          <p:nvPr/>
        </p:nvSpPr>
        <p:spPr>
          <a:xfrm>
            <a:off x="548640" y="28529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436" name="Google Shape;1436;p71"/>
          <p:cNvSpPr txBox="1"/>
          <p:nvPr/>
        </p:nvSpPr>
        <p:spPr>
          <a:xfrm>
            <a:off x="960120" y="26700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Wants their cleaner changed</a:t>
            </a:r>
            <a:endParaRPr b="0" i="0" sz="1050" u="none" cap="none" strike="noStrike">
              <a:solidFill>
                <a:schemeClr val="dk1"/>
              </a:solidFill>
              <a:latin typeface="Calibri"/>
              <a:ea typeface="Calibri"/>
              <a:cs typeface="Calibri"/>
              <a:sym typeface="Calibri"/>
            </a:endParaRPr>
          </a:p>
        </p:txBody>
      </p:sp>
      <p:sp>
        <p:nvSpPr>
          <p:cNvPr id="1437" name="Google Shape;1437;p71"/>
          <p:cNvSpPr txBox="1"/>
          <p:nvPr/>
        </p:nvSpPr>
        <p:spPr>
          <a:xfrm>
            <a:off x="3566160" y="2670048"/>
            <a:ext cx="397764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Change the cleaner from the Job Admin Page.</a:t>
            </a:r>
            <a:endParaRPr b="0" i="0" sz="950" u="none" cap="none" strike="noStrike">
              <a:solidFill>
                <a:schemeClr val="dk1"/>
              </a:solidFill>
              <a:latin typeface="Calibri"/>
              <a:ea typeface="Calibri"/>
              <a:cs typeface="Calibri"/>
              <a:sym typeface="Calibri"/>
            </a:endParaRPr>
          </a:p>
        </p:txBody>
      </p:sp>
      <p:sp>
        <p:nvSpPr>
          <p:cNvPr id="1438" name="Google Shape;1438;p71"/>
          <p:cNvSpPr/>
          <p:nvPr/>
        </p:nvSpPr>
        <p:spPr>
          <a:xfrm>
            <a:off x="7589520" y="2852928"/>
            <a:ext cx="1005840" cy="256032"/>
          </a:xfrm>
          <a:prstGeom prst="roundRect">
            <a:avLst>
              <a:gd fmla="val 28571"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71"/>
          <p:cNvSpPr txBox="1"/>
          <p:nvPr/>
        </p:nvSpPr>
        <p:spPr>
          <a:xfrm>
            <a:off x="7589520" y="2852928"/>
            <a:ext cx="100584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800"/>
              <a:buFont typeface="Arial"/>
              <a:buNone/>
            </a:pPr>
            <a:r>
              <a:rPr b="1" i="0" lang="en" sz="800" u="none" cap="none" strike="noStrike">
                <a:solidFill>
                  <a:srgbClr val="9A6410"/>
                </a:solidFill>
                <a:latin typeface="Arial"/>
                <a:ea typeface="Arial"/>
                <a:cs typeface="Arial"/>
                <a:sym typeface="Arial"/>
              </a:rPr>
              <a:t>Trainer demo</a:t>
            </a:r>
            <a:endParaRPr b="0" i="0" sz="800" u="none" cap="none" strike="noStrike">
              <a:solidFill>
                <a:schemeClr val="dk1"/>
              </a:solidFill>
              <a:latin typeface="Calibri"/>
              <a:ea typeface="Calibri"/>
              <a:cs typeface="Calibri"/>
              <a:sym typeface="Calibri"/>
            </a:endParaRPr>
          </a:p>
        </p:txBody>
      </p:sp>
      <p:sp>
        <p:nvSpPr>
          <p:cNvPr id="1440" name="Google Shape;1440;p71"/>
          <p:cNvSpPr/>
          <p:nvPr/>
        </p:nvSpPr>
        <p:spPr>
          <a:xfrm>
            <a:off x="411480" y="33558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1" name="Google Shape;1441;p71"/>
          <p:cNvSpPr/>
          <p:nvPr/>
        </p:nvSpPr>
        <p:spPr>
          <a:xfrm>
            <a:off x="548640" y="3538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2" name="Google Shape;1442;p71"/>
          <p:cNvSpPr txBox="1"/>
          <p:nvPr/>
        </p:nvSpPr>
        <p:spPr>
          <a:xfrm>
            <a:off x="548690" y="3529653"/>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1443" name="Google Shape;1443;p71"/>
          <p:cNvSpPr txBox="1"/>
          <p:nvPr/>
        </p:nvSpPr>
        <p:spPr>
          <a:xfrm>
            <a:off x="960120" y="33558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Wants the appointment rescheduled</a:t>
            </a:r>
            <a:endParaRPr b="0" i="0" sz="1050" u="none" cap="none" strike="noStrike">
              <a:solidFill>
                <a:schemeClr val="dk1"/>
              </a:solidFill>
              <a:latin typeface="Calibri"/>
              <a:ea typeface="Calibri"/>
              <a:cs typeface="Calibri"/>
              <a:sym typeface="Calibri"/>
            </a:endParaRPr>
          </a:p>
        </p:txBody>
      </p:sp>
      <p:sp>
        <p:nvSpPr>
          <p:cNvPr id="1444" name="Google Shape;1444;p71"/>
          <p:cNvSpPr txBox="1"/>
          <p:nvPr/>
        </p:nvSpPr>
        <p:spPr>
          <a:xfrm>
            <a:off x="3566160" y="33558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Reschedule from the C Dashboard, or cancel and rebook from the CRM if rescheduling would add a priority fee.</a:t>
            </a:r>
            <a:endParaRPr b="0" i="0" sz="950" u="none" cap="none" strike="noStrike">
              <a:solidFill>
                <a:schemeClr val="dk1"/>
              </a:solidFill>
              <a:latin typeface="Calibri"/>
              <a:ea typeface="Calibri"/>
              <a:cs typeface="Calibri"/>
              <a:sym typeface="Calibri"/>
            </a:endParaRPr>
          </a:p>
        </p:txBody>
      </p:sp>
      <p:sp>
        <p:nvSpPr>
          <p:cNvPr id="1445" name="Google Shape;1445;p7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1446" name="Google Shape;1446;p71"/>
          <p:cNvSpPr/>
          <p:nvPr/>
        </p:nvSpPr>
        <p:spPr>
          <a:xfrm>
            <a:off x="393155" y="4041648"/>
            <a:ext cx="8321100" cy="621900"/>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7" name="Google Shape;1447;p71"/>
          <p:cNvSpPr/>
          <p:nvPr/>
        </p:nvSpPr>
        <p:spPr>
          <a:xfrm>
            <a:off x="548690" y="4206253"/>
            <a:ext cx="274200" cy="2742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8" name="Google Shape;1448;p71"/>
          <p:cNvSpPr txBox="1"/>
          <p:nvPr/>
        </p:nvSpPr>
        <p:spPr>
          <a:xfrm>
            <a:off x="548690" y="4206253"/>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5</a:t>
            </a:r>
            <a:endParaRPr b="0" i="0" sz="900" u="none" cap="none" strike="noStrike">
              <a:solidFill>
                <a:schemeClr val="dk1"/>
              </a:solidFill>
              <a:latin typeface="Calibri"/>
              <a:ea typeface="Calibri"/>
              <a:cs typeface="Calibri"/>
              <a:sym typeface="Calibri"/>
            </a:endParaRPr>
          </a:p>
        </p:txBody>
      </p:sp>
      <p:sp>
        <p:nvSpPr>
          <p:cNvPr id="1449" name="Google Shape;1449;p71"/>
          <p:cNvSpPr txBox="1"/>
          <p:nvPr/>
        </p:nvSpPr>
        <p:spPr>
          <a:xfrm>
            <a:off x="872650" y="4170250"/>
            <a:ext cx="25146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CP Cancellations</a:t>
            </a:r>
            <a:endParaRPr b="0" i="0" sz="1400" u="none" cap="none" strike="noStrike">
              <a:solidFill>
                <a:srgbClr val="000000"/>
              </a:solidFill>
              <a:latin typeface="Arial"/>
              <a:ea typeface="Arial"/>
              <a:cs typeface="Arial"/>
              <a:sym typeface="Arial"/>
            </a:endParaRPr>
          </a:p>
        </p:txBody>
      </p:sp>
      <p:sp>
        <p:nvSpPr>
          <p:cNvPr id="1450" name="Google Shape;1450;p71"/>
          <p:cNvSpPr txBox="1"/>
          <p:nvPr/>
        </p:nvSpPr>
        <p:spPr>
          <a:xfrm>
            <a:off x="3566150" y="4104850"/>
            <a:ext cx="50292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Help the customer get a new cleaner if the request is still active, or offer priority cleaning if the appointment was canceled.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7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INVOICED</a:t>
            </a:r>
            <a:endParaRPr b="0" i="0" sz="800" u="none" cap="none" strike="noStrike">
              <a:solidFill>
                <a:schemeClr val="dk1"/>
              </a:solidFill>
              <a:latin typeface="Calibri"/>
              <a:ea typeface="Calibri"/>
              <a:cs typeface="Calibri"/>
              <a:sym typeface="Calibri"/>
            </a:endParaRPr>
          </a:p>
        </p:txBody>
      </p:sp>
      <p:sp>
        <p:nvSpPr>
          <p:cNvPr id="1457" name="Google Shape;1457;p7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Invoiced</a:t>
            </a:r>
            <a:endParaRPr b="0" i="0" sz="2400" u="none" cap="none" strike="noStrike">
              <a:solidFill>
                <a:schemeClr val="dk1"/>
              </a:solidFill>
              <a:latin typeface="Calibri"/>
              <a:ea typeface="Calibri"/>
              <a:cs typeface="Calibri"/>
              <a:sym typeface="Calibri"/>
            </a:endParaRPr>
          </a:p>
        </p:txBody>
      </p:sp>
      <p:sp>
        <p:nvSpPr>
          <p:cNvPr id="1458" name="Google Shape;1458;p7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cleaner clicked Charge Client. The customer is charged and the cleaner gets paid.</a:t>
            </a:r>
            <a:endParaRPr b="0" i="0" sz="1200" u="none" cap="none" strike="noStrike">
              <a:solidFill>
                <a:schemeClr val="dk1"/>
              </a:solidFill>
              <a:latin typeface="Calibri"/>
              <a:ea typeface="Calibri"/>
              <a:cs typeface="Calibri"/>
              <a:sym typeface="Calibri"/>
            </a:endParaRPr>
          </a:p>
        </p:txBody>
      </p:sp>
      <p:sp>
        <p:nvSpPr>
          <p:cNvPr id="1459" name="Google Shape;1459;p72"/>
          <p:cNvSpPr/>
          <p:nvPr/>
        </p:nvSpPr>
        <p:spPr>
          <a:xfrm>
            <a:off x="411480" y="1280160"/>
            <a:ext cx="40919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0" name="Google Shape;1460;p72"/>
          <p:cNvSpPr/>
          <p:nvPr/>
        </p:nvSpPr>
        <p:spPr>
          <a:xfrm>
            <a:off x="594360" y="146304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61" name="Google Shape;1461;p72"/>
          <p:cNvPicPr preferRelativeResize="0"/>
          <p:nvPr/>
        </p:nvPicPr>
        <p:blipFill rotWithShape="1">
          <a:blip r:embed="rId3">
            <a:alphaModFix/>
          </a:blip>
          <a:srcRect b="0" l="0" r="0" t="0"/>
          <a:stretch/>
        </p:blipFill>
        <p:spPr>
          <a:xfrm>
            <a:off x="686532" y="1555212"/>
            <a:ext cx="199705" cy="199705"/>
          </a:xfrm>
          <a:prstGeom prst="rect">
            <a:avLst/>
          </a:prstGeom>
          <a:noFill/>
          <a:ln>
            <a:noFill/>
          </a:ln>
        </p:spPr>
      </p:pic>
      <p:sp>
        <p:nvSpPr>
          <p:cNvPr id="1462" name="Google Shape;1462;p72"/>
          <p:cNvSpPr txBox="1"/>
          <p:nvPr/>
        </p:nvSpPr>
        <p:spPr>
          <a:xfrm>
            <a:off x="1097280" y="146304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The customer can</a:t>
            </a:r>
            <a:endParaRPr b="0" i="0" sz="1300" u="none" cap="none" strike="noStrike">
              <a:solidFill>
                <a:schemeClr val="dk1"/>
              </a:solidFill>
              <a:latin typeface="Calibri"/>
              <a:ea typeface="Calibri"/>
              <a:cs typeface="Calibri"/>
              <a:sym typeface="Calibri"/>
            </a:endParaRPr>
          </a:p>
        </p:txBody>
      </p:sp>
      <p:sp>
        <p:nvSpPr>
          <p:cNvPr id="1463" name="Google Shape;1463;p72"/>
          <p:cNvSpPr txBox="1"/>
          <p:nvPr/>
        </p:nvSpPr>
        <p:spPr>
          <a:xfrm>
            <a:off x="594360" y="1993392"/>
            <a:ext cx="3726180" cy="10058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Leave a review and tip</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Request a refund if there's an issue</a:t>
            </a:r>
            <a:endParaRPr b="0" i="0" sz="1000" u="none" cap="none" strike="noStrike">
              <a:solidFill>
                <a:schemeClr val="dk1"/>
              </a:solidFill>
              <a:latin typeface="Calibri"/>
              <a:ea typeface="Calibri"/>
              <a:cs typeface="Calibri"/>
              <a:sym typeface="Calibri"/>
            </a:endParaRPr>
          </a:p>
        </p:txBody>
      </p:sp>
      <p:sp>
        <p:nvSpPr>
          <p:cNvPr id="1464" name="Google Shape;1464;p72"/>
          <p:cNvSpPr/>
          <p:nvPr/>
        </p:nvSpPr>
        <p:spPr>
          <a:xfrm>
            <a:off x="4640580" y="1280160"/>
            <a:ext cx="40919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72"/>
          <p:cNvSpPr/>
          <p:nvPr/>
        </p:nvSpPr>
        <p:spPr>
          <a:xfrm>
            <a:off x="4823460" y="146304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66" name="Google Shape;1466;p72"/>
          <p:cNvPicPr preferRelativeResize="0"/>
          <p:nvPr/>
        </p:nvPicPr>
        <p:blipFill rotWithShape="1">
          <a:blip r:embed="rId4">
            <a:alphaModFix/>
          </a:blip>
          <a:srcRect b="0" l="0" r="0" t="0"/>
          <a:stretch/>
        </p:blipFill>
        <p:spPr>
          <a:xfrm>
            <a:off x="4915632" y="1555212"/>
            <a:ext cx="199705" cy="199705"/>
          </a:xfrm>
          <a:prstGeom prst="rect">
            <a:avLst/>
          </a:prstGeom>
          <a:noFill/>
          <a:ln>
            <a:noFill/>
          </a:ln>
        </p:spPr>
      </p:pic>
      <p:sp>
        <p:nvSpPr>
          <p:cNvPr id="1467" name="Google Shape;1467;p72"/>
          <p:cNvSpPr txBox="1"/>
          <p:nvPr/>
        </p:nvSpPr>
        <p:spPr>
          <a:xfrm>
            <a:off x="5326380" y="146304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The cleaner can</a:t>
            </a:r>
            <a:endParaRPr b="0" i="0" sz="1300" u="none" cap="none" strike="noStrike">
              <a:solidFill>
                <a:schemeClr val="dk1"/>
              </a:solidFill>
              <a:latin typeface="Calibri"/>
              <a:ea typeface="Calibri"/>
              <a:cs typeface="Calibri"/>
              <a:sym typeface="Calibri"/>
            </a:endParaRPr>
          </a:p>
        </p:txBody>
      </p:sp>
      <p:sp>
        <p:nvSpPr>
          <p:cNvPr id="1468" name="Google Shape;1468;p72"/>
          <p:cNvSpPr txBox="1"/>
          <p:nvPr/>
        </p:nvSpPr>
        <p:spPr>
          <a:xfrm>
            <a:off x="4823460" y="1993392"/>
            <a:ext cx="3726180" cy="10058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Issue a refund</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Review the customer in the CP App</a:t>
            </a:r>
            <a:endParaRPr b="0" i="0" sz="1000" u="none" cap="none" strike="noStrike">
              <a:solidFill>
                <a:schemeClr val="dk1"/>
              </a:solidFill>
              <a:latin typeface="Calibri"/>
              <a:ea typeface="Calibri"/>
              <a:cs typeface="Calibri"/>
              <a:sym typeface="Calibri"/>
            </a:endParaRPr>
          </a:p>
        </p:txBody>
      </p:sp>
      <p:sp>
        <p:nvSpPr>
          <p:cNvPr id="1469" name="Google Shape;1469;p72"/>
          <p:cNvSpPr/>
          <p:nvPr/>
        </p:nvSpPr>
        <p:spPr>
          <a:xfrm>
            <a:off x="411480" y="33375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70" name="Google Shape;1470;p72"/>
          <p:cNvPicPr preferRelativeResize="0"/>
          <p:nvPr/>
        </p:nvPicPr>
        <p:blipFill rotWithShape="1">
          <a:blip r:embed="rId5">
            <a:alphaModFix/>
          </a:blip>
          <a:srcRect b="0" l="0" r="0" t="0"/>
          <a:stretch/>
        </p:blipFill>
        <p:spPr>
          <a:xfrm>
            <a:off x="566928" y="3447288"/>
            <a:ext cx="164592" cy="164592"/>
          </a:xfrm>
          <a:prstGeom prst="rect">
            <a:avLst/>
          </a:prstGeom>
          <a:noFill/>
          <a:ln>
            <a:noFill/>
          </a:ln>
        </p:spPr>
      </p:pic>
      <p:sp>
        <p:nvSpPr>
          <p:cNvPr id="1471" name="Google Shape;1471;p72"/>
          <p:cNvSpPr txBox="1"/>
          <p:nvPr/>
        </p:nvSpPr>
        <p:spPr>
          <a:xfrm>
            <a:off x="822960" y="34381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Note:  </a:t>
            </a:r>
            <a:r>
              <a:rPr b="0" i="0" lang="en" sz="1000" u="none" cap="none" strike="noStrike">
                <a:solidFill>
                  <a:srgbClr val="1D1D1F"/>
                </a:solidFill>
                <a:latin typeface="Arial"/>
                <a:ea typeface="Arial"/>
                <a:cs typeface="Arial"/>
                <a:sym typeface="Arial"/>
              </a:rPr>
              <a:t>a full refund changes an Invoiced job to Cancelled.</a:t>
            </a:r>
            <a:endParaRPr b="0" i="0" sz="1000" u="none" cap="none" strike="noStrike">
              <a:solidFill>
                <a:schemeClr val="dk1"/>
              </a:solidFill>
              <a:latin typeface="Calibri"/>
              <a:ea typeface="Calibri"/>
              <a:cs typeface="Calibri"/>
              <a:sym typeface="Calibri"/>
            </a:endParaRPr>
          </a:p>
        </p:txBody>
      </p:sp>
      <p:sp>
        <p:nvSpPr>
          <p:cNvPr id="1472" name="Google Shape;1472;p7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7" name="Shape 1477"/>
        <p:cNvGrpSpPr/>
        <p:nvPr/>
      </p:nvGrpSpPr>
      <p:grpSpPr>
        <a:xfrm>
          <a:off x="0" y="0"/>
          <a:ext cx="0" cy="0"/>
          <a:chOff x="0" y="0"/>
          <a:chExt cx="0" cy="0"/>
        </a:xfrm>
      </p:grpSpPr>
      <p:sp>
        <p:nvSpPr>
          <p:cNvPr id="1478" name="Google Shape;1478;p7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INVOICED</a:t>
            </a:r>
            <a:endParaRPr b="0" i="0" sz="800" u="none" cap="none" strike="noStrike">
              <a:solidFill>
                <a:schemeClr val="dk1"/>
              </a:solidFill>
              <a:latin typeface="Calibri"/>
              <a:ea typeface="Calibri"/>
              <a:cs typeface="Calibri"/>
              <a:sym typeface="Calibri"/>
            </a:endParaRPr>
          </a:p>
        </p:txBody>
      </p:sp>
      <p:sp>
        <p:nvSpPr>
          <p:cNvPr id="1479" name="Google Shape;1479;p7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Common issues: Invoiced Stage</a:t>
            </a:r>
            <a:endParaRPr b="0" i="0" sz="2400" u="none" cap="none" strike="noStrike">
              <a:solidFill>
                <a:schemeClr val="dk1"/>
              </a:solidFill>
              <a:latin typeface="Calibri"/>
              <a:ea typeface="Calibri"/>
              <a:cs typeface="Calibri"/>
              <a:sym typeface="Calibri"/>
            </a:endParaRPr>
          </a:p>
        </p:txBody>
      </p:sp>
      <p:sp>
        <p:nvSpPr>
          <p:cNvPr id="1480" name="Google Shape;1480;p7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customers raise once the job has been charged.</a:t>
            </a:r>
            <a:endParaRPr b="0" i="0" sz="1200" u="none" cap="none" strike="noStrike">
              <a:solidFill>
                <a:schemeClr val="dk1"/>
              </a:solidFill>
              <a:latin typeface="Calibri"/>
              <a:ea typeface="Calibri"/>
              <a:cs typeface="Calibri"/>
              <a:sym typeface="Calibri"/>
            </a:endParaRPr>
          </a:p>
        </p:txBody>
      </p:sp>
      <p:sp>
        <p:nvSpPr>
          <p:cNvPr id="1481" name="Google Shape;1481;p73"/>
          <p:cNvSpPr/>
          <p:nvPr/>
        </p:nvSpPr>
        <p:spPr>
          <a:xfrm>
            <a:off x="411480" y="12984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2" name="Google Shape;1482;p73"/>
          <p:cNvSpPr/>
          <p:nvPr/>
        </p:nvSpPr>
        <p:spPr>
          <a:xfrm>
            <a:off x="548640" y="14813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73"/>
          <p:cNvSpPr txBox="1"/>
          <p:nvPr/>
        </p:nvSpPr>
        <p:spPr>
          <a:xfrm>
            <a:off x="548640" y="14813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484" name="Google Shape;1484;p73"/>
          <p:cNvSpPr txBox="1"/>
          <p:nvPr/>
        </p:nvSpPr>
        <p:spPr>
          <a:xfrm>
            <a:off x="960120" y="12984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Poor Cleaning Quality</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1" lang="en" sz="850" u="none" cap="none" strike="noStrike">
                <a:solidFill>
                  <a:srgbClr val="6E6E73"/>
                </a:solidFill>
                <a:latin typeface="Arial"/>
                <a:ea typeface="Arial"/>
                <a:cs typeface="Arial"/>
                <a:sym typeface="Arial"/>
              </a:rPr>
              <a:t>Not satisfied with the cleaning</a:t>
            </a:r>
            <a:endParaRPr b="0" i="0" sz="1050" u="none" cap="none" strike="noStrike">
              <a:solidFill>
                <a:schemeClr val="dk1"/>
              </a:solidFill>
              <a:latin typeface="Calibri"/>
              <a:ea typeface="Calibri"/>
              <a:cs typeface="Calibri"/>
              <a:sym typeface="Calibri"/>
            </a:endParaRPr>
          </a:p>
        </p:txBody>
      </p:sp>
      <p:sp>
        <p:nvSpPr>
          <p:cNvPr id="1485" name="Google Shape;1485;p73"/>
          <p:cNvSpPr txBox="1"/>
          <p:nvPr/>
        </p:nvSpPr>
        <p:spPr>
          <a:xfrm>
            <a:off x="3566160" y="12984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Follow the Poor Cleaning Quality process guide.</a:t>
            </a:r>
            <a:endParaRPr b="0" i="0" sz="950" u="none" cap="none" strike="noStrike">
              <a:solidFill>
                <a:schemeClr val="dk1"/>
              </a:solidFill>
              <a:latin typeface="Calibri"/>
              <a:ea typeface="Calibri"/>
              <a:cs typeface="Calibri"/>
              <a:sym typeface="Calibri"/>
            </a:endParaRPr>
          </a:p>
        </p:txBody>
      </p:sp>
      <p:sp>
        <p:nvSpPr>
          <p:cNvPr id="1486" name="Google Shape;1486;p73"/>
          <p:cNvSpPr/>
          <p:nvPr/>
        </p:nvSpPr>
        <p:spPr>
          <a:xfrm>
            <a:off x="411480" y="19842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7" name="Google Shape;1487;p73"/>
          <p:cNvSpPr/>
          <p:nvPr/>
        </p:nvSpPr>
        <p:spPr>
          <a:xfrm>
            <a:off x="548640" y="21671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73"/>
          <p:cNvSpPr txBox="1"/>
          <p:nvPr/>
        </p:nvSpPr>
        <p:spPr>
          <a:xfrm>
            <a:off x="548640" y="21671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489" name="Google Shape;1489;p73"/>
          <p:cNvSpPr txBox="1"/>
          <p:nvPr/>
        </p:nvSpPr>
        <p:spPr>
          <a:xfrm>
            <a:off x="960120" y="19842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Overcharged Hours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1" lang="en" sz="850" u="none" cap="none" strike="noStrike">
                <a:solidFill>
                  <a:srgbClr val="6E6E73"/>
                </a:solidFill>
                <a:latin typeface="Arial"/>
                <a:ea typeface="Arial"/>
                <a:cs typeface="Arial"/>
                <a:sym typeface="Arial"/>
              </a:rPr>
              <a:t>Billed for the wrong number of hours</a:t>
            </a:r>
            <a:endParaRPr b="0" i="0" sz="1050" u="none" cap="none" strike="noStrike">
              <a:solidFill>
                <a:schemeClr val="dk1"/>
              </a:solidFill>
              <a:latin typeface="Calibri"/>
              <a:ea typeface="Calibri"/>
              <a:cs typeface="Calibri"/>
              <a:sym typeface="Calibri"/>
            </a:endParaRPr>
          </a:p>
        </p:txBody>
      </p:sp>
      <p:sp>
        <p:nvSpPr>
          <p:cNvPr id="1490" name="Google Shape;1490;p73"/>
          <p:cNvSpPr txBox="1"/>
          <p:nvPr/>
        </p:nvSpPr>
        <p:spPr>
          <a:xfrm>
            <a:off x="3566160" y="19842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Follow the Overcharged Hours process guide.</a:t>
            </a:r>
            <a:endParaRPr b="0" i="0" sz="950" u="none" cap="none" strike="noStrike">
              <a:solidFill>
                <a:schemeClr val="dk1"/>
              </a:solidFill>
              <a:latin typeface="Calibri"/>
              <a:ea typeface="Calibri"/>
              <a:cs typeface="Calibri"/>
              <a:sym typeface="Calibri"/>
            </a:endParaRPr>
          </a:p>
        </p:txBody>
      </p:sp>
      <p:sp>
        <p:nvSpPr>
          <p:cNvPr id="1491" name="Google Shape;1491;p73"/>
          <p:cNvSpPr/>
          <p:nvPr/>
        </p:nvSpPr>
        <p:spPr>
          <a:xfrm>
            <a:off x="411480" y="26700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2" name="Google Shape;1492;p73"/>
          <p:cNvSpPr/>
          <p:nvPr/>
        </p:nvSpPr>
        <p:spPr>
          <a:xfrm>
            <a:off x="548640" y="28529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3" name="Google Shape;1493;p73"/>
          <p:cNvSpPr txBox="1"/>
          <p:nvPr/>
        </p:nvSpPr>
        <p:spPr>
          <a:xfrm>
            <a:off x="548640" y="28529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494" name="Google Shape;1494;p73"/>
          <p:cNvSpPr txBox="1"/>
          <p:nvPr/>
        </p:nvSpPr>
        <p:spPr>
          <a:xfrm>
            <a:off x="960120" y="26700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False Invoice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1" lang="en" sz="850" u="none" cap="none" strike="noStrike">
                <a:solidFill>
                  <a:srgbClr val="6E6E73"/>
                </a:solidFill>
                <a:latin typeface="Arial"/>
                <a:ea typeface="Arial"/>
                <a:cs typeface="Arial"/>
                <a:sym typeface="Arial"/>
              </a:rPr>
              <a:t>Billed, but the cleaner never showed</a:t>
            </a:r>
            <a:endParaRPr b="0" i="0" sz="1050" u="none" cap="none" strike="noStrike">
              <a:solidFill>
                <a:schemeClr val="dk1"/>
              </a:solidFill>
              <a:latin typeface="Calibri"/>
              <a:ea typeface="Calibri"/>
              <a:cs typeface="Calibri"/>
              <a:sym typeface="Calibri"/>
            </a:endParaRPr>
          </a:p>
        </p:txBody>
      </p:sp>
      <p:sp>
        <p:nvSpPr>
          <p:cNvPr id="1495" name="Google Shape;1495;p73"/>
          <p:cNvSpPr txBox="1"/>
          <p:nvPr/>
        </p:nvSpPr>
        <p:spPr>
          <a:xfrm>
            <a:off x="3566160" y="26700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Follow the False Invoice process guide.</a:t>
            </a:r>
            <a:endParaRPr b="0" i="0" sz="950" u="none" cap="none" strike="noStrike">
              <a:solidFill>
                <a:schemeClr val="dk1"/>
              </a:solidFill>
              <a:latin typeface="Calibri"/>
              <a:ea typeface="Calibri"/>
              <a:cs typeface="Calibri"/>
              <a:sym typeface="Calibri"/>
            </a:endParaRPr>
          </a:p>
        </p:txBody>
      </p:sp>
      <p:sp>
        <p:nvSpPr>
          <p:cNvPr id="1496" name="Google Shape;1496;p73"/>
          <p:cNvSpPr/>
          <p:nvPr/>
        </p:nvSpPr>
        <p:spPr>
          <a:xfrm>
            <a:off x="411480" y="33558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73"/>
          <p:cNvSpPr/>
          <p:nvPr/>
        </p:nvSpPr>
        <p:spPr>
          <a:xfrm>
            <a:off x="548640" y="3538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73"/>
          <p:cNvSpPr txBox="1"/>
          <p:nvPr/>
        </p:nvSpPr>
        <p:spPr>
          <a:xfrm>
            <a:off x="548640" y="3538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1499" name="Google Shape;1499;p73"/>
          <p:cNvSpPr txBox="1"/>
          <p:nvPr/>
        </p:nvSpPr>
        <p:spPr>
          <a:xfrm>
            <a:off x="960120" y="33558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Lockout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1" lang="en" sz="850" u="none" cap="none" strike="noStrike">
                <a:solidFill>
                  <a:srgbClr val="6E6E73"/>
                </a:solidFill>
                <a:latin typeface="Arial"/>
                <a:ea typeface="Arial"/>
                <a:cs typeface="Arial"/>
                <a:sym typeface="Arial"/>
              </a:rPr>
              <a:t>Cleaner couldn't get in and filed a lockout</a:t>
            </a:r>
            <a:endParaRPr b="0" i="0" sz="1050" u="none" cap="none" strike="noStrike">
              <a:solidFill>
                <a:schemeClr val="dk1"/>
              </a:solidFill>
              <a:latin typeface="Calibri"/>
              <a:ea typeface="Calibri"/>
              <a:cs typeface="Calibri"/>
              <a:sym typeface="Calibri"/>
            </a:endParaRPr>
          </a:p>
        </p:txBody>
      </p:sp>
      <p:sp>
        <p:nvSpPr>
          <p:cNvPr id="1500" name="Google Shape;1500;p73"/>
          <p:cNvSpPr txBox="1"/>
          <p:nvPr/>
        </p:nvSpPr>
        <p:spPr>
          <a:xfrm>
            <a:off x="3566160" y="33558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Follow the Lockout validation process.</a:t>
            </a:r>
            <a:endParaRPr b="0" i="0" sz="950" u="none" cap="none" strike="noStrike">
              <a:solidFill>
                <a:schemeClr val="dk1"/>
              </a:solidFill>
              <a:latin typeface="Calibri"/>
              <a:ea typeface="Calibri"/>
              <a:cs typeface="Calibri"/>
              <a:sym typeface="Calibri"/>
            </a:endParaRPr>
          </a:p>
        </p:txBody>
      </p:sp>
      <p:sp>
        <p:nvSpPr>
          <p:cNvPr id="1501" name="Google Shape;1501;p73"/>
          <p:cNvSpPr/>
          <p:nvPr/>
        </p:nvSpPr>
        <p:spPr>
          <a:xfrm>
            <a:off x="411480" y="4041648"/>
            <a:ext cx="8321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2" name="Google Shape;1502;p73"/>
          <p:cNvSpPr/>
          <p:nvPr/>
        </p:nvSpPr>
        <p:spPr>
          <a:xfrm>
            <a:off x="548640" y="42245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3" name="Google Shape;1503;p73"/>
          <p:cNvSpPr txBox="1"/>
          <p:nvPr/>
        </p:nvSpPr>
        <p:spPr>
          <a:xfrm>
            <a:off x="548640" y="42245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5</a:t>
            </a:r>
            <a:endParaRPr b="0" i="0" sz="900" u="none" cap="none" strike="noStrike">
              <a:solidFill>
                <a:schemeClr val="dk1"/>
              </a:solidFill>
              <a:latin typeface="Calibri"/>
              <a:ea typeface="Calibri"/>
              <a:cs typeface="Calibri"/>
              <a:sym typeface="Calibri"/>
            </a:endParaRPr>
          </a:p>
        </p:txBody>
      </p:sp>
      <p:sp>
        <p:nvSpPr>
          <p:cNvPr id="1504" name="Google Shape;1504;p73"/>
          <p:cNvSpPr txBox="1"/>
          <p:nvPr/>
        </p:nvSpPr>
        <p:spPr>
          <a:xfrm>
            <a:off x="960120" y="4041648"/>
            <a:ext cx="25146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Billing Inquiry</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1" lang="en" sz="850" u="none" cap="none" strike="noStrike">
                <a:solidFill>
                  <a:srgbClr val="6E6E73"/>
                </a:solidFill>
                <a:latin typeface="Arial"/>
                <a:ea typeface="Arial"/>
                <a:cs typeface="Arial"/>
                <a:sym typeface="Arial"/>
              </a:rPr>
              <a:t>Wants their charges explained</a:t>
            </a:r>
            <a:endParaRPr b="0" i="0" sz="1050" u="none" cap="none" strike="noStrike">
              <a:solidFill>
                <a:schemeClr val="dk1"/>
              </a:solidFill>
              <a:latin typeface="Calibri"/>
              <a:ea typeface="Calibri"/>
              <a:cs typeface="Calibri"/>
              <a:sym typeface="Calibri"/>
            </a:endParaRPr>
          </a:p>
        </p:txBody>
      </p:sp>
      <p:sp>
        <p:nvSpPr>
          <p:cNvPr id="1505" name="Google Shape;1505;p73"/>
          <p:cNvSpPr txBox="1"/>
          <p:nvPr/>
        </p:nvSpPr>
        <p:spPr>
          <a:xfrm>
            <a:off x="3566160" y="4041648"/>
            <a:ext cx="507492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 sz="950" u="none" cap="none" strike="noStrike">
                <a:solidFill>
                  <a:srgbClr val="1D1D1F"/>
                </a:solidFill>
                <a:latin typeface="Arial"/>
                <a:ea typeface="Arial"/>
                <a:cs typeface="Arial"/>
                <a:sym typeface="Arial"/>
              </a:rPr>
              <a:t>Provide clarification of the charges.</a:t>
            </a:r>
            <a:endParaRPr b="0" i="0" sz="950" u="none" cap="none" strike="noStrike">
              <a:solidFill>
                <a:schemeClr val="dk1"/>
              </a:solidFill>
              <a:latin typeface="Calibri"/>
              <a:ea typeface="Calibri"/>
              <a:cs typeface="Calibri"/>
              <a:sym typeface="Calibri"/>
            </a:endParaRPr>
          </a:p>
        </p:txBody>
      </p:sp>
      <p:sp>
        <p:nvSpPr>
          <p:cNvPr id="1506" name="Google Shape;1506;p7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1" name="Shape 1511"/>
        <p:cNvGrpSpPr/>
        <p:nvPr/>
      </p:nvGrpSpPr>
      <p:grpSpPr>
        <a:xfrm>
          <a:off x="0" y="0"/>
          <a:ext cx="0" cy="0"/>
          <a:chOff x="0" y="0"/>
          <a:chExt cx="0" cy="0"/>
        </a:xfrm>
      </p:grpSpPr>
      <p:sp>
        <p:nvSpPr>
          <p:cNvPr id="1512" name="Google Shape;1512;p7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CANCELLED</a:t>
            </a:r>
            <a:endParaRPr b="0" i="0" sz="800" u="none" cap="none" strike="noStrike">
              <a:solidFill>
                <a:schemeClr val="dk1"/>
              </a:solidFill>
              <a:latin typeface="Calibri"/>
              <a:ea typeface="Calibri"/>
              <a:cs typeface="Calibri"/>
              <a:sym typeface="Calibri"/>
            </a:endParaRPr>
          </a:p>
        </p:txBody>
      </p:sp>
      <p:sp>
        <p:nvSpPr>
          <p:cNvPr id="1513" name="Google Shape;1513;p7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Cancelled</a:t>
            </a:r>
            <a:endParaRPr b="0" i="0" sz="2400" u="none" cap="none" strike="noStrike">
              <a:solidFill>
                <a:schemeClr val="dk1"/>
              </a:solidFill>
              <a:latin typeface="Calibri"/>
              <a:ea typeface="Calibri"/>
              <a:cs typeface="Calibri"/>
              <a:sym typeface="Calibri"/>
            </a:endParaRPr>
          </a:p>
        </p:txBody>
      </p:sp>
      <p:sp>
        <p:nvSpPr>
          <p:cNvPr id="1514" name="Google Shape;1514;p7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Can happen at almost any stage. Why depends on where the job was.</a:t>
            </a:r>
            <a:endParaRPr b="0" i="0" sz="1200" u="none" cap="none" strike="noStrike">
              <a:solidFill>
                <a:schemeClr val="dk1"/>
              </a:solidFill>
              <a:latin typeface="Calibri"/>
              <a:ea typeface="Calibri"/>
              <a:cs typeface="Calibri"/>
              <a:sym typeface="Calibri"/>
            </a:endParaRPr>
          </a:p>
        </p:txBody>
      </p:sp>
      <p:graphicFrame>
        <p:nvGraphicFramePr>
          <p:cNvPr id="1515" name="Google Shape;1515;p74"/>
          <p:cNvGraphicFramePr/>
          <p:nvPr/>
        </p:nvGraphicFramePr>
        <p:xfrm>
          <a:off x="411480" y="1325880"/>
          <a:ext cx="3000000" cy="3000000"/>
        </p:xfrm>
        <a:graphic>
          <a:graphicData uri="http://schemas.openxmlformats.org/drawingml/2006/table">
            <a:tbl>
              <a:tblPr>
                <a:noFill/>
                <a:tableStyleId>{0D802810-0E66-425F-9816-536649EA7155}</a:tableStyleId>
              </a:tblPr>
              <a:tblGrid>
                <a:gridCol w="1737350"/>
                <a:gridCol w="6583675"/>
              </a:tblGrid>
              <a:tr h="384050">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Status before</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Why it was cancelled</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84050">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Pending</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Booked by the cleaner with Handshake, but the customer didn't confirm before it expired</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Submitted</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Cancelled by the customer, by CS in the CRM, or automatically by the system</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Claimed</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Cleaner cancelled too late for another to claim, or the customer/CS cancelled or reported a no-show</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Pending Invoice</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Cancelled by the customer or cleaner, or by CS in the CRM</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Invoiced</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Fully refunded by the cleaner or CS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516" name="Google Shape;1516;p74"/>
          <p:cNvSpPr/>
          <p:nvPr/>
        </p:nvSpPr>
        <p:spPr>
          <a:xfrm>
            <a:off x="411480" y="38404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17" name="Google Shape;1517;p74"/>
          <p:cNvPicPr preferRelativeResize="0"/>
          <p:nvPr/>
        </p:nvPicPr>
        <p:blipFill rotWithShape="1">
          <a:blip r:embed="rId3">
            <a:alphaModFix/>
          </a:blip>
          <a:srcRect b="0" l="0" r="0" t="0"/>
          <a:stretch/>
        </p:blipFill>
        <p:spPr>
          <a:xfrm>
            <a:off x="566928" y="3950208"/>
            <a:ext cx="164592" cy="164592"/>
          </a:xfrm>
          <a:prstGeom prst="rect">
            <a:avLst/>
          </a:prstGeom>
          <a:noFill/>
          <a:ln>
            <a:noFill/>
          </a:ln>
        </p:spPr>
      </p:pic>
      <p:sp>
        <p:nvSpPr>
          <p:cNvPr id="1518" name="Google Shape;1518;p74"/>
          <p:cNvSpPr txBox="1"/>
          <p:nvPr/>
        </p:nvSpPr>
        <p:spPr>
          <a:xfrm>
            <a:off x="822960" y="39410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Cancel via CRM:  </a:t>
            </a:r>
            <a:r>
              <a:rPr b="0" i="0" lang="en" sz="1000" u="none" cap="none" strike="noStrike">
                <a:solidFill>
                  <a:srgbClr val="1D1D1F"/>
                </a:solidFill>
                <a:latin typeface="Arial"/>
                <a:ea typeface="Arial"/>
                <a:cs typeface="Arial"/>
                <a:sym typeface="Arial"/>
              </a:rPr>
              <a:t>you can waive last-minute fees, and the cleaner isn't penalized.</a:t>
            </a:r>
            <a:endParaRPr b="0" i="0" sz="1000" u="none" cap="none" strike="noStrike">
              <a:solidFill>
                <a:schemeClr val="dk1"/>
              </a:solidFill>
              <a:latin typeface="Calibri"/>
              <a:ea typeface="Calibri"/>
              <a:cs typeface="Calibri"/>
              <a:sym typeface="Calibri"/>
            </a:endParaRPr>
          </a:p>
        </p:txBody>
      </p:sp>
      <p:sp>
        <p:nvSpPr>
          <p:cNvPr id="1519" name="Google Shape;1519;p7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7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CANCELLED</a:t>
            </a:r>
            <a:endParaRPr b="0" i="0" sz="800" u="none" cap="none" strike="noStrike">
              <a:solidFill>
                <a:schemeClr val="dk1"/>
              </a:solidFill>
              <a:latin typeface="Calibri"/>
              <a:ea typeface="Calibri"/>
              <a:cs typeface="Calibri"/>
              <a:sym typeface="Calibri"/>
            </a:endParaRPr>
          </a:p>
        </p:txBody>
      </p:sp>
      <p:sp>
        <p:nvSpPr>
          <p:cNvPr id="1526" name="Google Shape;1526;p7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Common issues: Cancelled Stage</a:t>
            </a:r>
            <a:endParaRPr b="0" i="0" sz="2400" u="none" cap="none" strike="noStrike">
              <a:solidFill>
                <a:schemeClr val="dk1"/>
              </a:solidFill>
              <a:latin typeface="Calibri"/>
              <a:ea typeface="Calibri"/>
              <a:cs typeface="Calibri"/>
              <a:sym typeface="Calibri"/>
            </a:endParaRPr>
          </a:p>
        </p:txBody>
      </p:sp>
      <p:sp>
        <p:nvSpPr>
          <p:cNvPr id="1527" name="Google Shape;1527;p7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tickets you'll see most once a job is cancelled.</a:t>
            </a:r>
            <a:endParaRPr b="0" i="0" sz="1200" u="none" cap="none" strike="noStrike">
              <a:solidFill>
                <a:schemeClr val="dk1"/>
              </a:solidFill>
              <a:latin typeface="Calibri"/>
              <a:ea typeface="Calibri"/>
              <a:cs typeface="Calibri"/>
              <a:sym typeface="Calibri"/>
            </a:endParaRPr>
          </a:p>
        </p:txBody>
      </p:sp>
      <p:sp>
        <p:nvSpPr>
          <p:cNvPr id="1528" name="Google Shape;1528;p75"/>
          <p:cNvSpPr/>
          <p:nvPr/>
        </p:nvSpPr>
        <p:spPr>
          <a:xfrm>
            <a:off x="411480" y="1371600"/>
            <a:ext cx="197739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75"/>
          <p:cNvSpPr/>
          <p:nvPr/>
        </p:nvSpPr>
        <p:spPr>
          <a:xfrm>
            <a:off x="576072" y="15361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30" name="Google Shape;1530;p75"/>
          <p:cNvPicPr preferRelativeResize="0"/>
          <p:nvPr/>
        </p:nvPicPr>
        <p:blipFill rotWithShape="1">
          <a:blip r:embed="rId3">
            <a:alphaModFix/>
          </a:blip>
          <a:srcRect b="0" l="0" r="0" t="0"/>
          <a:stretch/>
        </p:blipFill>
        <p:spPr>
          <a:xfrm>
            <a:off x="655076" y="1615196"/>
            <a:ext cx="171176" cy="171176"/>
          </a:xfrm>
          <a:prstGeom prst="rect">
            <a:avLst/>
          </a:prstGeom>
          <a:noFill/>
          <a:ln>
            <a:noFill/>
          </a:ln>
        </p:spPr>
      </p:pic>
      <p:sp>
        <p:nvSpPr>
          <p:cNvPr id="1531" name="Google Shape;1531;p75"/>
          <p:cNvSpPr txBox="1"/>
          <p:nvPr/>
        </p:nvSpPr>
        <p:spPr>
          <a:xfrm>
            <a:off x="576072" y="197510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Customer last-minute cancellation</a:t>
            </a:r>
            <a:endParaRPr b="0" i="0" sz="1200" u="none" cap="none" strike="noStrike">
              <a:solidFill>
                <a:schemeClr val="dk1"/>
              </a:solidFill>
              <a:latin typeface="Calibri"/>
              <a:ea typeface="Calibri"/>
              <a:cs typeface="Calibri"/>
              <a:sym typeface="Calibri"/>
            </a:endParaRPr>
          </a:p>
        </p:txBody>
      </p:sp>
      <p:sp>
        <p:nvSpPr>
          <p:cNvPr id="1532" name="Google Shape;1532;p75"/>
          <p:cNvSpPr/>
          <p:nvPr/>
        </p:nvSpPr>
        <p:spPr>
          <a:xfrm>
            <a:off x="2526030" y="1371600"/>
            <a:ext cx="197739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75"/>
          <p:cNvSpPr/>
          <p:nvPr/>
        </p:nvSpPr>
        <p:spPr>
          <a:xfrm>
            <a:off x="2690622" y="15361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34" name="Google Shape;1534;p75"/>
          <p:cNvPicPr preferRelativeResize="0"/>
          <p:nvPr/>
        </p:nvPicPr>
        <p:blipFill rotWithShape="1">
          <a:blip r:embed="rId4">
            <a:alphaModFix/>
          </a:blip>
          <a:srcRect b="0" l="0" r="0" t="0"/>
          <a:stretch/>
        </p:blipFill>
        <p:spPr>
          <a:xfrm>
            <a:off x="2769626" y="1615196"/>
            <a:ext cx="171176" cy="171176"/>
          </a:xfrm>
          <a:prstGeom prst="rect">
            <a:avLst/>
          </a:prstGeom>
          <a:noFill/>
          <a:ln>
            <a:noFill/>
          </a:ln>
        </p:spPr>
      </p:pic>
      <p:sp>
        <p:nvSpPr>
          <p:cNvPr id="1535" name="Google Shape;1535;p75"/>
          <p:cNvSpPr txBox="1"/>
          <p:nvPr/>
        </p:nvSpPr>
        <p:spPr>
          <a:xfrm>
            <a:off x="2690622" y="197510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Last-minute CP cancellation</a:t>
            </a:r>
            <a:endParaRPr b="0" i="0" sz="1200" u="none" cap="none" strike="noStrike">
              <a:solidFill>
                <a:schemeClr val="dk1"/>
              </a:solidFill>
              <a:latin typeface="Calibri"/>
              <a:ea typeface="Calibri"/>
              <a:cs typeface="Calibri"/>
              <a:sym typeface="Calibri"/>
            </a:endParaRPr>
          </a:p>
        </p:txBody>
      </p:sp>
      <p:sp>
        <p:nvSpPr>
          <p:cNvPr id="1536" name="Google Shape;1536;p75"/>
          <p:cNvSpPr/>
          <p:nvPr/>
        </p:nvSpPr>
        <p:spPr>
          <a:xfrm>
            <a:off x="4640580" y="1371600"/>
            <a:ext cx="197739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7" name="Google Shape;1537;p75"/>
          <p:cNvSpPr/>
          <p:nvPr/>
        </p:nvSpPr>
        <p:spPr>
          <a:xfrm>
            <a:off x="4805172" y="15361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38" name="Google Shape;1538;p75"/>
          <p:cNvPicPr preferRelativeResize="0"/>
          <p:nvPr/>
        </p:nvPicPr>
        <p:blipFill rotWithShape="1">
          <a:blip r:embed="rId5">
            <a:alphaModFix/>
          </a:blip>
          <a:srcRect b="0" l="0" r="0" t="0"/>
          <a:stretch/>
        </p:blipFill>
        <p:spPr>
          <a:xfrm>
            <a:off x="4884176" y="1615196"/>
            <a:ext cx="171176" cy="171176"/>
          </a:xfrm>
          <a:prstGeom prst="rect">
            <a:avLst/>
          </a:prstGeom>
          <a:noFill/>
          <a:ln>
            <a:noFill/>
          </a:ln>
        </p:spPr>
      </p:pic>
      <p:sp>
        <p:nvSpPr>
          <p:cNvPr id="1539" name="Google Shape;1539;p75"/>
          <p:cNvSpPr txBox="1"/>
          <p:nvPr/>
        </p:nvSpPr>
        <p:spPr>
          <a:xfrm>
            <a:off x="4805172" y="197510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CP no-show</a:t>
            </a:r>
            <a:endParaRPr b="0" i="0" sz="1200" u="none" cap="none" strike="noStrike">
              <a:solidFill>
                <a:schemeClr val="dk1"/>
              </a:solidFill>
              <a:latin typeface="Calibri"/>
              <a:ea typeface="Calibri"/>
              <a:cs typeface="Calibri"/>
              <a:sym typeface="Calibri"/>
            </a:endParaRPr>
          </a:p>
        </p:txBody>
      </p:sp>
      <p:sp>
        <p:nvSpPr>
          <p:cNvPr id="1540" name="Google Shape;1540;p75"/>
          <p:cNvSpPr/>
          <p:nvPr/>
        </p:nvSpPr>
        <p:spPr>
          <a:xfrm>
            <a:off x="6755130" y="1371600"/>
            <a:ext cx="197739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1" name="Google Shape;1541;p75"/>
          <p:cNvSpPr/>
          <p:nvPr/>
        </p:nvSpPr>
        <p:spPr>
          <a:xfrm>
            <a:off x="6919722" y="15361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42" name="Google Shape;1542;p75"/>
          <p:cNvPicPr preferRelativeResize="0"/>
          <p:nvPr/>
        </p:nvPicPr>
        <p:blipFill rotWithShape="1">
          <a:blip r:embed="rId6">
            <a:alphaModFix/>
          </a:blip>
          <a:srcRect b="0" l="0" r="0" t="0"/>
          <a:stretch/>
        </p:blipFill>
        <p:spPr>
          <a:xfrm>
            <a:off x="6998726" y="1615196"/>
            <a:ext cx="171176" cy="171176"/>
          </a:xfrm>
          <a:prstGeom prst="rect">
            <a:avLst/>
          </a:prstGeom>
          <a:noFill/>
          <a:ln>
            <a:noFill/>
          </a:ln>
        </p:spPr>
      </p:pic>
      <p:sp>
        <p:nvSpPr>
          <p:cNvPr id="1543" name="Google Shape;1543;p75"/>
          <p:cNvSpPr txBox="1"/>
          <p:nvPr/>
        </p:nvSpPr>
        <p:spPr>
          <a:xfrm>
            <a:off x="6919722" y="197510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 CP claims the appointment</a:t>
            </a:r>
            <a:endParaRPr b="0" i="0" sz="1200" u="none" cap="none" strike="noStrike">
              <a:solidFill>
                <a:schemeClr val="dk1"/>
              </a:solidFill>
              <a:latin typeface="Calibri"/>
              <a:ea typeface="Calibri"/>
              <a:cs typeface="Calibri"/>
              <a:sym typeface="Calibri"/>
            </a:endParaRPr>
          </a:p>
        </p:txBody>
      </p:sp>
      <p:sp>
        <p:nvSpPr>
          <p:cNvPr id="1544" name="Google Shape;1544;p75"/>
          <p:cNvSpPr/>
          <p:nvPr/>
        </p:nvSpPr>
        <p:spPr>
          <a:xfrm>
            <a:off x="411480" y="2697480"/>
            <a:ext cx="8321040" cy="822960"/>
          </a:xfrm>
          <a:prstGeom prst="roundRect">
            <a:avLst>
              <a:gd fmla="val 8889"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45" name="Google Shape;1545;p75"/>
          <p:cNvPicPr preferRelativeResize="0"/>
          <p:nvPr/>
        </p:nvPicPr>
        <p:blipFill rotWithShape="1">
          <a:blip r:embed="rId7">
            <a:alphaModFix/>
          </a:blip>
          <a:srcRect b="0" l="0" r="0" t="0"/>
          <a:stretch/>
        </p:blipFill>
        <p:spPr>
          <a:xfrm>
            <a:off x="685800" y="2944368"/>
            <a:ext cx="329184" cy="329184"/>
          </a:xfrm>
          <a:prstGeom prst="rect">
            <a:avLst/>
          </a:prstGeom>
          <a:noFill/>
          <a:ln>
            <a:noFill/>
          </a:ln>
        </p:spPr>
      </p:pic>
      <p:sp>
        <p:nvSpPr>
          <p:cNvPr id="1546" name="Google Shape;1546;p75"/>
          <p:cNvSpPr txBox="1"/>
          <p:nvPr/>
        </p:nvSpPr>
        <p:spPr>
          <a:xfrm>
            <a:off x="1188720" y="2697480"/>
            <a:ext cx="73152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800"/>
              <a:buFont typeface="Play"/>
              <a:buNone/>
            </a:pPr>
            <a:r>
              <a:rPr b="1" i="0" lang="en" sz="1800" u="none" cap="none" strike="noStrike">
                <a:solidFill>
                  <a:srgbClr val="FFFFFF"/>
                </a:solidFill>
                <a:latin typeface="Play"/>
                <a:ea typeface="Play"/>
                <a:cs typeface="Play"/>
                <a:sym typeface="Play"/>
              </a:rPr>
              <a:t>Goal:  </a:t>
            </a:r>
            <a:r>
              <a:rPr b="0" i="0" lang="en" sz="1800" u="none" cap="none" strike="noStrike">
                <a:solidFill>
                  <a:srgbClr val="FFFFFF"/>
                </a:solidFill>
                <a:latin typeface="Arial"/>
                <a:ea typeface="Arial"/>
                <a:cs typeface="Arial"/>
                <a:sym typeface="Arial"/>
              </a:rPr>
              <a:t>help the customer get a cleaning right away.</a:t>
            </a:r>
            <a:endParaRPr b="0" i="0" sz="1800" u="none" cap="none" strike="noStrike">
              <a:solidFill>
                <a:schemeClr val="dk1"/>
              </a:solidFill>
              <a:latin typeface="Calibri"/>
              <a:ea typeface="Calibri"/>
              <a:cs typeface="Calibri"/>
              <a:sym typeface="Calibri"/>
            </a:endParaRPr>
          </a:p>
        </p:txBody>
      </p:sp>
      <p:sp>
        <p:nvSpPr>
          <p:cNvPr id="1547" name="Google Shape;1547;p7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sp>
        <p:nvSpPr>
          <p:cNvPr id="1553" name="Google Shape;1553;p7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PENDING INVOICE</a:t>
            </a:r>
            <a:endParaRPr b="0" i="0" sz="800" u="none" cap="none" strike="noStrike">
              <a:solidFill>
                <a:schemeClr val="dk1"/>
              </a:solidFill>
              <a:latin typeface="Calibri"/>
              <a:ea typeface="Calibri"/>
              <a:cs typeface="Calibri"/>
              <a:sym typeface="Calibri"/>
            </a:endParaRPr>
          </a:p>
        </p:txBody>
      </p:sp>
      <p:sp>
        <p:nvSpPr>
          <p:cNvPr id="1554" name="Google Shape;1554;p7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Pending Invoice</a:t>
            </a:r>
            <a:endParaRPr b="0" i="0" sz="2400" u="none" cap="none" strike="noStrike">
              <a:solidFill>
                <a:schemeClr val="dk1"/>
              </a:solidFill>
              <a:latin typeface="Calibri"/>
              <a:ea typeface="Calibri"/>
              <a:cs typeface="Calibri"/>
              <a:sym typeface="Calibri"/>
            </a:endParaRPr>
          </a:p>
        </p:txBody>
      </p:sp>
      <p:sp>
        <p:nvSpPr>
          <p:cNvPr id="1555" name="Google Shape;1555;p7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booked time has passed and the job isn't invoiced yet. The status changes automatically.</a:t>
            </a:r>
            <a:endParaRPr b="0" i="0" sz="1200" u="none" cap="none" strike="noStrike">
              <a:solidFill>
                <a:schemeClr val="dk1"/>
              </a:solidFill>
              <a:latin typeface="Calibri"/>
              <a:ea typeface="Calibri"/>
              <a:cs typeface="Calibri"/>
              <a:sym typeface="Calibri"/>
            </a:endParaRPr>
          </a:p>
        </p:txBody>
      </p:sp>
      <p:sp>
        <p:nvSpPr>
          <p:cNvPr id="1556" name="Google Shape;1556;p76"/>
          <p:cNvSpPr/>
          <p:nvPr/>
        </p:nvSpPr>
        <p:spPr>
          <a:xfrm>
            <a:off x="411480" y="1280160"/>
            <a:ext cx="4091940" cy="2331720"/>
          </a:xfrm>
          <a:prstGeom prst="roundRect">
            <a:avLst>
              <a:gd fmla="val 313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76"/>
          <p:cNvSpPr/>
          <p:nvPr/>
        </p:nvSpPr>
        <p:spPr>
          <a:xfrm>
            <a:off x="594360" y="146304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58" name="Google Shape;1558;p76"/>
          <p:cNvPicPr preferRelativeResize="0"/>
          <p:nvPr/>
        </p:nvPicPr>
        <p:blipFill rotWithShape="1">
          <a:blip r:embed="rId3">
            <a:alphaModFix/>
          </a:blip>
          <a:srcRect b="0" l="0" r="0" t="0"/>
          <a:stretch/>
        </p:blipFill>
        <p:spPr>
          <a:xfrm>
            <a:off x="686532" y="1555212"/>
            <a:ext cx="199705" cy="199705"/>
          </a:xfrm>
          <a:prstGeom prst="rect">
            <a:avLst/>
          </a:prstGeom>
          <a:noFill/>
          <a:ln>
            <a:noFill/>
          </a:ln>
        </p:spPr>
      </p:pic>
      <p:sp>
        <p:nvSpPr>
          <p:cNvPr id="1559" name="Google Shape;1559;p76"/>
          <p:cNvSpPr txBox="1"/>
          <p:nvPr/>
        </p:nvSpPr>
        <p:spPr>
          <a:xfrm>
            <a:off x="1097280" y="146304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The customer can</a:t>
            </a:r>
            <a:endParaRPr b="0" i="0" sz="1300" u="none" cap="none" strike="noStrike">
              <a:solidFill>
                <a:schemeClr val="dk1"/>
              </a:solidFill>
              <a:latin typeface="Calibri"/>
              <a:ea typeface="Calibri"/>
              <a:cs typeface="Calibri"/>
              <a:sym typeface="Calibri"/>
            </a:endParaRPr>
          </a:p>
        </p:txBody>
      </p:sp>
      <p:sp>
        <p:nvSpPr>
          <p:cNvPr id="1560" name="Google Shape;1560;p76"/>
          <p:cNvSpPr txBox="1"/>
          <p:nvPr/>
        </p:nvSpPr>
        <p:spPr>
          <a:xfrm>
            <a:off x="594360" y="1993392"/>
            <a:ext cx="3726180" cy="150876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Report "My cleaning was completed" (this invoices it)</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Cancel. A last-minute fee may apply</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Edit duration, extras, address and notes</a:t>
            </a:r>
            <a:endParaRPr b="0" i="0" sz="1000" u="none" cap="none" strike="noStrike">
              <a:solidFill>
                <a:schemeClr val="dk1"/>
              </a:solidFill>
              <a:latin typeface="Calibri"/>
              <a:ea typeface="Calibri"/>
              <a:cs typeface="Calibri"/>
              <a:sym typeface="Calibri"/>
            </a:endParaRPr>
          </a:p>
        </p:txBody>
      </p:sp>
      <p:sp>
        <p:nvSpPr>
          <p:cNvPr id="1561" name="Google Shape;1561;p76"/>
          <p:cNvSpPr/>
          <p:nvPr/>
        </p:nvSpPr>
        <p:spPr>
          <a:xfrm>
            <a:off x="4640580" y="1280160"/>
            <a:ext cx="4091940" cy="2331720"/>
          </a:xfrm>
          <a:prstGeom prst="roundRect">
            <a:avLst>
              <a:gd fmla="val 313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2" name="Google Shape;1562;p76"/>
          <p:cNvSpPr/>
          <p:nvPr/>
        </p:nvSpPr>
        <p:spPr>
          <a:xfrm>
            <a:off x="4823460" y="146304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63" name="Google Shape;1563;p76"/>
          <p:cNvPicPr preferRelativeResize="0"/>
          <p:nvPr/>
        </p:nvPicPr>
        <p:blipFill rotWithShape="1">
          <a:blip r:embed="rId4">
            <a:alphaModFix/>
          </a:blip>
          <a:srcRect b="0" l="0" r="0" t="0"/>
          <a:stretch/>
        </p:blipFill>
        <p:spPr>
          <a:xfrm>
            <a:off x="4915632" y="1555212"/>
            <a:ext cx="199705" cy="199705"/>
          </a:xfrm>
          <a:prstGeom prst="rect">
            <a:avLst/>
          </a:prstGeom>
          <a:noFill/>
          <a:ln>
            <a:noFill/>
          </a:ln>
        </p:spPr>
      </p:pic>
      <p:sp>
        <p:nvSpPr>
          <p:cNvPr id="1564" name="Google Shape;1564;p76"/>
          <p:cNvSpPr txBox="1"/>
          <p:nvPr/>
        </p:nvSpPr>
        <p:spPr>
          <a:xfrm>
            <a:off x="5326380" y="146304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The cleaner can</a:t>
            </a:r>
            <a:endParaRPr b="0" i="0" sz="1300" u="none" cap="none" strike="noStrike">
              <a:solidFill>
                <a:schemeClr val="dk1"/>
              </a:solidFill>
              <a:latin typeface="Calibri"/>
              <a:ea typeface="Calibri"/>
              <a:cs typeface="Calibri"/>
              <a:sym typeface="Calibri"/>
            </a:endParaRPr>
          </a:p>
        </p:txBody>
      </p:sp>
      <p:sp>
        <p:nvSpPr>
          <p:cNvPr id="1565" name="Google Shape;1565;p76"/>
          <p:cNvSpPr txBox="1"/>
          <p:nvPr/>
        </p:nvSpPr>
        <p:spPr>
          <a:xfrm>
            <a:off x="4823460" y="1993392"/>
            <a:ext cx="3726180" cy="150876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Click Charge Client to invoice</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Edit hours. Adding hours needs the customer's OK</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Reschedule (cleaner only), cancel, or file a lockout</a:t>
            </a:r>
            <a:endParaRPr b="0" i="0" sz="1000" u="none" cap="none" strike="noStrike">
              <a:solidFill>
                <a:schemeClr val="dk1"/>
              </a:solidFill>
              <a:latin typeface="Calibri"/>
              <a:ea typeface="Calibri"/>
              <a:cs typeface="Calibri"/>
              <a:sym typeface="Calibri"/>
            </a:endParaRPr>
          </a:p>
        </p:txBody>
      </p:sp>
      <p:sp>
        <p:nvSpPr>
          <p:cNvPr id="1566" name="Google Shape;1566;p76"/>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67" name="Google Shape;1567;p76"/>
          <p:cNvPicPr preferRelativeResize="0"/>
          <p:nvPr/>
        </p:nvPicPr>
        <p:blipFill rotWithShape="1">
          <a:blip r:embed="rId5">
            <a:alphaModFix/>
          </a:blip>
          <a:srcRect b="0" l="0" r="0" t="0"/>
          <a:stretch/>
        </p:blipFill>
        <p:spPr>
          <a:xfrm>
            <a:off x="566928" y="3904488"/>
            <a:ext cx="164592" cy="164592"/>
          </a:xfrm>
          <a:prstGeom prst="rect">
            <a:avLst/>
          </a:prstGeom>
          <a:noFill/>
          <a:ln>
            <a:noFill/>
          </a:ln>
        </p:spPr>
      </p:pic>
      <p:sp>
        <p:nvSpPr>
          <p:cNvPr id="1568" name="Google Shape;1568;p76"/>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Next:  </a:t>
            </a:r>
            <a:r>
              <a:rPr b="0" i="0" lang="en" sz="1000" u="none" cap="none" strike="noStrike">
                <a:solidFill>
                  <a:srgbClr val="1D1D1F"/>
                </a:solidFill>
                <a:latin typeface="Arial"/>
                <a:ea typeface="Arial"/>
                <a:cs typeface="Arial"/>
                <a:sym typeface="Arial"/>
              </a:rPr>
              <a:t>Pending Invoice doesn't mean the job was done. See the action guide.</a:t>
            </a:r>
            <a:endParaRPr b="0" i="0" sz="1000" u="none" cap="none" strike="noStrike">
              <a:solidFill>
                <a:schemeClr val="dk1"/>
              </a:solidFill>
              <a:latin typeface="Calibri"/>
              <a:ea typeface="Calibri"/>
              <a:cs typeface="Calibri"/>
              <a:sym typeface="Calibri"/>
            </a:endParaRPr>
          </a:p>
        </p:txBody>
      </p:sp>
      <p:sp>
        <p:nvSpPr>
          <p:cNvPr id="1569" name="Google Shape;1569;p7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7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PENDING INVOICE</a:t>
            </a:r>
            <a:endParaRPr b="0" i="0" sz="800" u="none" cap="none" strike="noStrike">
              <a:solidFill>
                <a:schemeClr val="dk1"/>
              </a:solidFill>
              <a:latin typeface="Calibri"/>
              <a:ea typeface="Calibri"/>
              <a:cs typeface="Calibri"/>
              <a:sym typeface="Calibri"/>
            </a:endParaRPr>
          </a:p>
        </p:txBody>
      </p:sp>
      <p:sp>
        <p:nvSpPr>
          <p:cNvPr id="1576" name="Google Shape;1576;p7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Spotting a Pending Invoice job</a:t>
            </a:r>
            <a:endParaRPr b="0" i="0" sz="2400" u="none" cap="none" strike="noStrike">
              <a:solidFill>
                <a:schemeClr val="dk1"/>
              </a:solidFill>
              <a:latin typeface="Calibri"/>
              <a:ea typeface="Calibri"/>
              <a:cs typeface="Calibri"/>
              <a:sym typeface="Calibri"/>
            </a:endParaRPr>
          </a:p>
        </p:txBody>
      </p:sp>
      <p:sp>
        <p:nvSpPr>
          <p:cNvPr id="1577" name="Google Shape;1577;p7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It shows in its own panel at the top of the customer's jobs.</a:t>
            </a:r>
            <a:endParaRPr b="0" i="0" sz="1200" u="none" cap="none" strike="noStrike">
              <a:solidFill>
                <a:schemeClr val="dk1"/>
              </a:solidFill>
              <a:latin typeface="Calibri"/>
              <a:ea typeface="Calibri"/>
              <a:cs typeface="Calibri"/>
              <a:sym typeface="Calibri"/>
            </a:endParaRPr>
          </a:p>
        </p:txBody>
      </p:sp>
      <p:sp>
        <p:nvSpPr>
          <p:cNvPr id="1578" name="Google Shape;1578;p77"/>
          <p:cNvSpPr/>
          <p:nvPr/>
        </p:nvSpPr>
        <p:spPr>
          <a:xfrm>
            <a:off x="411480" y="1234440"/>
            <a:ext cx="832104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jobs_pending.png" id="1579" name="Google Shape;1579;p77"/>
          <p:cNvPicPr preferRelativeResize="0"/>
          <p:nvPr/>
        </p:nvPicPr>
        <p:blipFill rotWithShape="1">
          <a:blip r:embed="rId3">
            <a:alphaModFix/>
          </a:blip>
          <a:srcRect b="0" l="0" r="0" t="0"/>
          <a:stretch/>
        </p:blipFill>
        <p:spPr>
          <a:xfrm>
            <a:off x="484632" y="1343236"/>
            <a:ext cx="8174736" cy="1108289"/>
          </a:xfrm>
          <a:prstGeom prst="rect">
            <a:avLst/>
          </a:prstGeom>
          <a:noFill/>
          <a:ln>
            <a:noFill/>
          </a:ln>
        </p:spPr>
      </p:pic>
      <p:sp>
        <p:nvSpPr>
          <p:cNvPr id="1580" name="Google Shape;1580;p77"/>
          <p:cNvSpPr/>
          <p:nvPr/>
        </p:nvSpPr>
        <p:spPr>
          <a:xfrm>
            <a:off x="1566800" y="1384400"/>
            <a:ext cx="292800" cy="201300"/>
          </a:xfrm>
          <a:prstGeom prst="roundRect">
            <a:avLst>
              <a:gd fmla="val 14063"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1" name="Google Shape;1581;p77"/>
          <p:cNvSpPr/>
          <p:nvPr/>
        </p:nvSpPr>
        <p:spPr>
          <a:xfrm>
            <a:off x="1745022" y="1280167"/>
            <a:ext cx="201300" cy="20130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77"/>
          <p:cNvSpPr txBox="1"/>
          <p:nvPr/>
        </p:nvSpPr>
        <p:spPr>
          <a:xfrm>
            <a:off x="1745022" y="1280167"/>
            <a:ext cx="201300" cy="201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1583" name="Google Shape;1583;p77"/>
          <p:cNvSpPr/>
          <p:nvPr/>
        </p:nvSpPr>
        <p:spPr>
          <a:xfrm>
            <a:off x="1912108" y="1777685"/>
            <a:ext cx="851166" cy="212791"/>
          </a:xfrm>
          <a:prstGeom prst="roundRect">
            <a:avLst>
              <a:gd fmla="val 12892"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77"/>
          <p:cNvSpPr/>
          <p:nvPr/>
        </p:nvSpPr>
        <p:spPr>
          <a:xfrm>
            <a:off x="1811524" y="1677101"/>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77"/>
          <p:cNvSpPr txBox="1"/>
          <p:nvPr/>
        </p:nvSpPr>
        <p:spPr>
          <a:xfrm>
            <a:off x="1811524" y="1677101"/>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2</a:t>
            </a:r>
            <a:endParaRPr b="0" i="0" sz="800" u="none" cap="none" strike="noStrike">
              <a:solidFill>
                <a:schemeClr val="dk1"/>
              </a:solidFill>
              <a:latin typeface="Calibri"/>
              <a:ea typeface="Calibri"/>
              <a:cs typeface="Calibri"/>
              <a:sym typeface="Calibri"/>
            </a:endParaRPr>
          </a:p>
        </p:txBody>
      </p:sp>
      <p:sp>
        <p:nvSpPr>
          <p:cNvPr id="1586" name="Google Shape;1586;p77"/>
          <p:cNvSpPr/>
          <p:nvPr/>
        </p:nvSpPr>
        <p:spPr>
          <a:xfrm>
            <a:off x="411480" y="2880360"/>
            <a:ext cx="4091940" cy="594360"/>
          </a:xfrm>
          <a:prstGeom prst="roundRect">
            <a:avLst>
              <a:gd fmla="val 1230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77"/>
          <p:cNvSpPr/>
          <p:nvPr/>
        </p:nvSpPr>
        <p:spPr>
          <a:xfrm>
            <a:off x="539496" y="30495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77"/>
          <p:cNvSpPr txBox="1"/>
          <p:nvPr/>
        </p:nvSpPr>
        <p:spPr>
          <a:xfrm>
            <a:off x="539496" y="30495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589" name="Google Shape;1589;p77"/>
          <p:cNvSpPr txBox="1"/>
          <p:nvPr/>
        </p:nvSpPr>
        <p:spPr>
          <a:xfrm>
            <a:off x="914400" y="2926080"/>
            <a:ext cx="34975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Count badge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How many Pending Invoice jobs the customer has</a:t>
            </a:r>
            <a:endParaRPr b="0" i="0" sz="1050" u="none" cap="none" strike="noStrike">
              <a:solidFill>
                <a:schemeClr val="dk1"/>
              </a:solidFill>
              <a:latin typeface="Calibri"/>
              <a:ea typeface="Calibri"/>
              <a:cs typeface="Calibri"/>
              <a:sym typeface="Calibri"/>
            </a:endParaRPr>
          </a:p>
        </p:txBody>
      </p:sp>
      <p:sp>
        <p:nvSpPr>
          <p:cNvPr id="1590" name="Google Shape;1590;p77"/>
          <p:cNvSpPr/>
          <p:nvPr/>
        </p:nvSpPr>
        <p:spPr>
          <a:xfrm>
            <a:off x="4640580" y="2880360"/>
            <a:ext cx="4091940" cy="594360"/>
          </a:xfrm>
          <a:prstGeom prst="roundRect">
            <a:avLst>
              <a:gd fmla="val 1230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1" name="Google Shape;1591;p77"/>
          <p:cNvSpPr/>
          <p:nvPr/>
        </p:nvSpPr>
        <p:spPr>
          <a:xfrm>
            <a:off x="4768596" y="30495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2" name="Google Shape;1592;p77"/>
          <p:cNvSpPr txBox="1"/>
          <p:nvPr/>
        </p:nvSpPr>
        <p:spPr>
          <a:xfrm>
            <a:off x="4768596" y="30495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593" name="Google Shape;1593;p77"/>
          <p:cNvSpPr txBox="1"/>
          <p:nvPr/>
        </p:nvSpPr>
        <p:spPr>
          <a:xfrm>
            <a:off x="5143500" y="2926080"/>
            <a:ext cx="34975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PENDING_INVOICE status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The job, date, hours and cleaner</a:t>
            </a:r>
            <a:endParaRPr b="0" i="0" sz="1050" u="none" cap="none" strike="noStrike">
              <a:solidFill>
                <a:schemeClr val="dk1"/>
              </a:solidFill>
              <a:latin typeface="Calibri"/>
              <a:ea typeface="Calibri"/>
              <a:cs typeface="Calibri"/>
              <a:sym typeface="Calibri"/>
            </a:endParaRPr>
          </a:p>
        </p:txBody>
      </p:sp>
      <p:sp>
        <p:nvSpPr>
          <p:cNvPr id="1594" name="Google Shape;1594;p77"/>
          <p:cNvSpPr/>
          <p:nvPr/>
        </p:nvSpPr>
        <p:spPr>
          <a:xfrm>
            <a:off x="411480" y="36576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95" name="Google Shape;1595;p77"/>
          <p:cNvPicPr preferRelativeResize="0"/>
          <p:nvPr/>
        </p:nvPicPr>
        <p:blipFill rotWithShape="1">
          <a:blip r:embed="rId4">
            <a:alphaModFix/>
          </a:blip>
          <a:srcRect b="0" l="0" r="0" t="0"/>
          <a:stretch/>
        </p:blipFill>
        <p:spPr>
          <a:xfrm>
            <a:off x="566928" y="3767328"/>
            <a:ext cx="164592" cy="164592"/>
          </a:xfrm>
          <a:prstGeom prst="rect">
            <a:avLst/>
          </a:prstGeom>
          <a:noFill/>
          <a:ln>
            <a:noFill/>
          </a:ln>
        </p:spPr>
      </p:pic>
      <p:sp>
        <p:nvSpPr>
          <p:cNvPr id="1596" name="Google Shape;1596;p77"/>
          <p:cNvSpPr txBox="1"/>
          <p:nvPr/>
        </p:nvSpPr>
        <p:spPr>
          <a:xfrm>
            <a:off x="822960" y="37581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Act on it:  </a:t>
            </a:r>
            <a:r>
              <a:rPr b="0" i="0" lang="en" sz="1000" u="none" cap="none" strike="noStrike">
                <a:solidFill>
                  <a:srgbClr val="1D1D1F"/>
                </a:solidFill>
                <a:latin typeface="Arial"/>
                <a:ea typeface="Arial"/>
                <a:cs typeface="Arial"/>
                <a:sym typeface="Arial"/>
              </a:rPr>
              <a:t>a Pending Invoice job needs action, even if the customer asked about something else.</a:t>
            </a:r>
            <a:endParaRPr b="0" i="0" sz="1000" u="none" cap="none" strike="noStrike">
              <a:solidFill>
                <a:schemeClr val="dk1"/>
              </a:solidFill>
              <a:latin typeface="Calibri"/>
              <a:ea typeface="Calibri"/>
              <a:cs typeface="Calibri"/>
              <a:sym typeface="Calibri"/>
            </a:endParaRPr>
          </a:p>
        </p:txBody>
      </p:sp>
      <p:sp>
        <p:nvSpPr>
          <p:cNvPr id="1597" name="Google Shape;1597;p7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p7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JOB STATUSES  ·  QUICK KNOWLEDGE CHECK</a:t>
            </a:r>
            <a:endParaRPr b="0" i="0" sz="800" u="none" cap="none" strike="noStrike">
              <a:solidFill>
                <a:schemeClr val="dk1"/>
              </a:solidFill>
              <a:latin typeface="Calibri"/>
              <a:ea typeface="Calibri"/>
              <a:cs typeface="Calibri"/>
              <a:sym typeface="Calibri"/>
            </a:endParaRPr>
          </a:p>
        </p:txBody>
      </p:sp>
      <p:sp>
        <p:nvSpPr>
          <p:cNvPr id="1603" name="Google Shape;1603;p7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Quick Knowledge Check</a:t>
            </a:r>
            <a:endParaRPr b="0" i="0" sz="2400" u="none" cap="none" strike="noStrike">
              <a:solidFill>
                <a:schemeClr val="dk1"/>
              </a:solidFill>
              <a:latin typeface="Calibri"/>
              <a:ea typeface="Calibri"/>
              <a:cs typeface="Calibri"/>
              <a:sym typeface="Calibri"/>
            </a:endParaRPr>
          </a:p>
        </p:txBody>
      </p:sp>
      <p:sp>
        <p:nvSpPr>
          <p:cNvPr id="1604" name="Google Shape;1604;p7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Ask each question, then click to reveal the answer.</a:t>
            </a:r>
            <a:endParaRPr b="0" i="0" sz="1200" u="none" cap="none" strike="noStrike">
              <a:solidFill>
                <a:schemeClr val="dk1"/>
              </a:solidFill>
              <a:latin typeface="Calibri"/>
              <a:ea typeface="Calibri"/>
              <a:cs typeface="Calibri"/>
              <a:sym typeface="Calibri"/>
            </a:endParaRPr>
          </a:p>
        </p:txBody>
      </p:sp>
      <p:sp>
        <p:nvSpPr>
          <p:cNvPr id="1605" name="Google Shape;1605;p7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1606" name="Google Shape;1606;p78"/>
          <p:cNvSpPr/>
          <p:nvPr/>
        </p:nvSpPr>
        <p:spPr>
          <a:xfrm>
            <a:off x="411480" y="1280160"/>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7" name="Google Shape;1607;p78"/>
          <p:cNvSpPr/>
          <p:nvPr/>
        </p:nvSpPr>
        <p:spPr>
          <a:xfrm>
            <a:off x="548640" y="1398270"/>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1</a:t>
            </a:r>
            <a:endParaRPr/>
          </a:p>
        </p:txBody>
      </p:sp>
      <p:sp>
        <p:nvSpPr>
          <p:cNvPr id="1608" name="Google Shape;1608;p78"/>
          <p:cNvSpPr txBox="1"/>
          <p:nvPr/>
        </p:nvSpPr>
        <p:spPr>
          <a:xfrm>
            <a:off x="960120" y="1280160"/>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A customer wants a cleaning in 8 hours. Can they book it?</a:t>
            </a:r>
            <a:endParaRPr/>
          </a:p>
        </p:txBody>
      </p:sp>
      <p:sp>
        <p:nvSpPr>
          <p:cNvPr id="1609" name="Google Shape;1609;p78"/>
          <p:cNvSpPr/>
          <p:nvPr/>
        </p:nvSpPr>
        <p:spPr>
          <a:xfrm>
            <a:off x="5120640" y="1280160"/>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0" name="Google Shape;1610;p78"/>
          <p:cNvSpPr txBox="1"/>
          <p:nvPr/>
        </p:nvSpPr>
        <p:spPr>
          <a:xfrm>
            <a:off x="5257800" y="1280160"/>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Not themselves (12-hr minimum). CS can book it in the CRM, with no priority markup.</a:t>
            </a:r>
            <a:endParaRPr/>
          </a:p>
        </p:txBody>
      </p:sp>
      <p:sp>
        <p:nvSpPr>
          <p:cNvPr id="1611" name="Google Shape;1611;p78"/>
          <p:cNvSpPr/>
          <p:nvPr/>
        </p:nvSpPr>
        <p:spPr>
          <a:xfrm>
            <a:off x="411480" y="1863851"/>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2" name="Google Shape;1612;p78"/>
          <p:cNvSpPr/>
          <p:nvPr/>
        </p:nvSpPr>
        <p:spPr>
          <a:xfrm>
            <a:off x="548640" y="1981962"/>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2</a:t>
            </a:r>
            <a:endParaRPr/>
          </a:p>
        </p:txBody>
      </p:sp>
      <p:sp>
        <p:nvSpPr>
          <p:cNvPr id="1613" name="Google Shape;1613;p78"/>
          <p:cNvSpPr txBox="1"/>
          <p:nvPr/>
        </p:nvSpPr>
        <p:spPr>
          <a:xfrm>
            <a:off x="960120" y="1863851"/>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A Submitted job is still unclaimed 24 hrs before start. What happens?</a:t>
            </a:r>
            <a:endParaRPr/>
          </a:p>
        </p:txBody>
      </p:sp>
      <p:sp>
        <p:nvSpPr>
          <p:cNvPr id="1614" name="Google Shape;1614;p78"/>
          <p:cNvSpPr/>
          <p:nvPr/>
        </p:nvSpPr>
        <p:spPr>
          <a:xfrm>
            <a:off x="5120640" y="1863851"/>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5" name="Google Shape;1615;p78"/>
          <p:cNvSpPr txBox="1"/>
          <p:nvPr/>
        </p:nvSpPr>
        <p:spPr>
          <a:xfrm>
            <a:off x="5257800" y="1863851"/>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The system adds alternate times (unless the do_not_auto_add_alternate_start_times flag is on).</a:t>
            </a:r>
            <a:endParaRPr/>
          </a:p>
        </p:txBody>
      </p:sp>
      <p:sp>
        <p:nvSpPr>
          <p:cNvPr id="1616" name="Google Shape;1616;p78"/>
          <p:cNvSpPr/>
          <p:nvPr/>
        </p:nvSpPr>
        <p:spPr>
          <a:xfrm>
            <a:off x="411480" y="2447544"/>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7" name="Google Shape;1617;p78"/>
          <p:cNvSpPr/>
          <p:nvPr/>
        </p:nvSpPr>
        <p:spPr>
          <a:xfrm>
            <a:off x="548640" y="2565654"/>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3</a:t>
            </a:r>
            <a:endParaRPr/>
          </a:p>
        </p:txBody>
      </p:sp>
      <p:sp>
        <p:nvSpPr>
          <p:cNvPr id="1618" name="Google Shape;1618;p78"/>
          <p:cNvSpPr txBox="1"/>
          <p:nvPr/>
        </p:nvSpPr>
        <p:spPr>
          <a:xfrm>
            <a:off x="960120" y="2447544"/>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Claimed job: until when can the customer reschedule or rematch?</a:t>
            </a:r>
            <a:endParaRPr/>
          </a:p>
        </p:txBody>
      </p:sp>
      <p:sp>
        <p:nvSpPr>
          <p:cNvPr id="1619" name="Google Shape;1619;p78"/>
          <p:cNvSpPr/>
          <p:nvPr/>
        </p:nvSpPr>
        <p:spPr>
          <a:xfrm>
            <a:off x="5120640" y="2447544"/>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0" name="Google Shape;1620;p78"/>
          <p:cNvSpPr txBox="1"/>
          <p:nvPr/>
        </p:nvSpPr>
        <p:spPr>
          <a:xfrm>
            <a:off x="5257800" y="2447544"/>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Up to 6 hours before the start time.</a:t>
            </a:r>
            <a:endParaRPr/>
          </a:p>
        </p:txBody>
      </p:sp>
      <p:sp>
        <p:nvSpPr>
          <p:cNvPr id="1621" name="Google Shape;1621;p78"/>
          <p:cNvSpPr/>
          <p:nvPr/>
        </p:nvSpPr>
        <p:spPr>
          <a:xfrm>
            <a:off x="411480" y="3031236"/>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2" name="Google Shape;1622;p78"/>
          <p:cNvSpPr/>
          <p:nvPr/>
        </p:nvSpPr>
        <p:spPr>
          <a:xfrm>
            <a:off x="548640" y="3149346"/>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4</a:t>
            </a:r>
            <a:endParaRPr/>
          </a:p>
        </p:txBody>
      </p:sp>
      <p:sp>
        <p:nvSpPr>
          <p:cNvPr id="1623" name="Google Shape;1623;p78"/>
          <p:cNvSpPr txBox="1"/>
          <p:nvPr/>
        </p:nvSpPr>
        <p:spPr>
          <a:xfrm>
            <a:off x="960120" y="3031236"/>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How does an Invoiced job become Cancelled?</a:t>
            </a:r>
            <a:endParaRPr/>
          </a:p>
        </p:txBody>
      </p:sp>
      <p:sp>
        <p:nvSpPr>
          <p:cNvPr id="1624" name="Google Shape;1624;p78"/>
          <p:cNvSpPr/>
          <p:nvPr/>
        </p:nvSpPr>
        <p:spPr>
          <a:xfrm>
            <a:off x="5120640" y="3031236"/>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5" name="Google Shape;1625;p78"/>
          <p:cNvSpPr txBox="1"/>
          <p:nvPr/>
        </p:nvSpPr>
        <p:spPr>
          <a:xfrm>
            <a:off x="5257800" y="3031236"/>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Only through a full refund.</a:t>
            </a:r>
            <a:endParaRPr/>
          </a:p>
        </p:txBody>
      </p:sp>
      <p:sp>
        <p:nvSpPr>
          <p:cNvPr id="1626" name="Google Shape;1626;p78"/>
          <p:cNvSpPr/>
          <p:nvPr/>
        </p:nvSpPr>
        <p:spPr>
          <a:xfrm>
            <a:off x="411480" y="3614928"/>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7" name="Google Shape;1627;p78"/>
          <p:cNvSpPr/>
          <p:nvPr/>
        </p:nvSpPr>
        <p:spPr>
          <a:xfrm>
            <a:off x="548640" y="3733037"/>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5</a:t>
            </a:r>
            <a:endParaRPr/>
          </a:p>
        </p:txBody>
      </p:sp>
      <p:sp>
        <p:nvSpPr>
          <p:cNvPr id="1628" name="Google Shape;1628;p78"/>
          <p:cNvSpPr txBox="1"/>
          <p:nvPr/>
        </p:nvSpPr>
        <p:spPr>
          <a:xfrm>
            <a:off x="960120" y="3614928"/>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The booked time passed and the job isn't invoiced. Status? Was it done?</a:t>
            </a:r>
            <a:endParaRPr/>
          </a:p>
        </p:txBody>
      </p:sp>
      <p:sp>
        <p:nvSpPr>
          <p:cNvPr id="1629" name="Google Shape;1629;p78"/>
          <p:cNvSpPr/>
          <p:nvPr/>
        </p:nvSpPr>
        <p:spPr>
          <a:xfrm>
            <a:off x="5120640" y="3614928"/>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0" name="Google Shape;1630;p78"/>
          <p:cNvSpPr txBox="1"/>
          <p:nvPr/>
        </p:nvSpPr>
        <p:spPr>
          <a:xfrm>
            <a:off x="5257800" y="3614928"/>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Pending Invoice. It doesn't mean done: it needs action.</a:t>
            </a:r>
            <a:endParaRPr/>
          </a:p>
        </p:txBody>
      </p:sp>
      <p:sp>
        <p:nvSpPr>
          <p:cNvPr id="1631" name="Google Shape;1631;p78"/>
          <p:cNvSpPr/>
          <p:nvPr/>
        </p:nvSpPr>
        <p:spPr>
          <a:xfrm>
            <a:off x="411480" y="4198620"/>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2" name="Google Shape;1632;p78"/>
          <p:cNvSpPr/>
          <p:nvPr/>
        </p:nvSpPr>
        <p:spPr>
          <a:xfrm>
            <a:off x="548640" y="4316730"/>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6</a:t>
            </a:r>
            <a:endParaRPr/>
          </a:p>
        </p:txBody>
      </p:sp>
      <p:sp>
        <p:nvSpPr>
          <p:cNvPr id="1633" name="Google Shape;1633;p78"/>
          <p:cNvSpPr txBox="1"/>
          <p:nvPr/>
        </p:nvSpPr>
        <p:spPr>
          <a:xfrm>
            <a:off x="960120" y="4198620"/>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C got confirmations from 2 different cleaners. First step?</a:t>
            </a:r>
            <a:endParaRPr/>
          </a:p>
        </p:txBody>
      </p:sp>
      <p:sp>
        <p:nvSpPr>
          <p:cNvPr id="1634" name="Google Shape;1634;p78"/>
          <p:cNvSpPr/>
          <p:nvPr/>
        </p:nvSpPr>
        <p:spPr>
          <a:xfrm>
            <a:off x="5120640" y="4198620"/>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5" name="Google Shape;1635;p78"/>
          <p:cNvSpPr txBox="1"/>
          <p:nvPr/>
        </p:nvSpPr>
        <p:spPr>
          <a:xfrm>
            <a:off x="5257800" y="4198620"/>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Check the job history: did the first cleaner cancel, or were they swapped? Never mention swapping.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gtEl>
                                        <p:attrNameLst>
                                          <p:attrName>style.visibility</p:attrName>
                                        </p:attrNameLst>
                                      </p:cBhvr>
                                      <p:to>
                                        <p:strVal val="visible"/>
                                      </p:to>
                                    </p:set>
                                    <p:animEffect filter="fade" transition="in">
                                      <p:cBhvr>
                                        <p:cTn dur="600"/>
                                        <p:tgtEl>
                                          <p:spTgt spid="1609"/>
                                        </p:tgtEl>
                                      </p:cBhvr>
                                    </p:animEffect>
                                  </p:childTnLst>
                                </p:cTn>
                              </p:par>
                              <p:par>
                                <p:cTn fill="hold" nodeType="withEffect" presetClass="entr" presetID="10" presetSubtype="0">
                                  <p:stCondLst>
                                    <p:cond delay="0"/>
                                  </p:stCondLst>
                                  <p:childTnLst>
                                    <p:set>
                                      <p:cBhvr>
                                        <p:cTn dur="1" fill="hold">
                                          <p:stCondLst>
                                            <p:cond delay="0"/>
                                          </p:stCondLst>
                                        </p:cTn>
                                        <p:tgtEl>
                                          <p:spTgt spid="1610"/>
                                        </p:tgtEl>
                                        <p:attrNameLst>
                                          <p:attrName>style.visibility</p:attrName>
                                        </p:attrNameLst>
                                      </p:cBhvr>
                                      <p:to>
                                        <p:strVal val="visible"/>
                                      </p:to>
                                    </p:set>
                                    <p:animEffect filter="fade" transition="in">
                                      <p:cBhvr>
                                        <p:cTn dur="600"/>
                                        <p:tgtEl>
                                          <p:spTgt spid="1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600"/>
                                        <p:tgtEl>
                                          <p:spTgt spid="1614"/>
                                        </p:tgtEl>
                                      </p:cBhvr>
                                    </p:animEffect>
                                  </p:childTnLst>
                                </p:cTn>
                              </p:par>
                              <p:par>
                                <p:cTn fill="hold" nodeType="withEffect" presetClass="entr" presetID="10" presetSubtype="0">
                                  <p:stCondLst>
                                    <p:cond delay="0"/>
                                  </p:stCondLst>
                                  <p:childTnLst>
                                    <p:set>
                                      <p:cBhvr>
                                        <p:cTn dur="1" fill="hold">
                                          <p:stCondLst>
                                            <p:cond delay="0"/>
                                          </p:stCondLst>
                                        </p:cTn>
                                        <p:tgtEl>
                                          <p:spTgt spid="1615"/>
                                        </p:tgtEl>
                                        <p:attrNameLst>
                                          <p:attrName>style.visibility</p:attrName>
                                        </p:attrNameLst>
                                      </p:cBhvr>
                                      <p:to>
                                        <p:strVal val="visible"/>
                                      </p:to>
                                    </p:set>
                                    <p:animEffect filter="fade" transition="in">
                                      <p:cBhvr>
                                        <p:cTn dur="600"/>
                                        <p:tgtEl>
                                          <p:spTgt spid="16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9"/>
                                        </p:tgtEl>
                                        <p:attrNameLst>
                                          <p:attrName>style.visibility</p:attrName>
                                        </p:attrNameLst>
                                      </p:cBhvr>
                                      <p:to>
                                        <p:strVal val="visible"/>
                                      </p:to>
                                    </p:set>
                                    <p:animEffect filter="fade" transition="in">
                                      <p:cBhvr>
                                        <p:cTn dur="600"/>
                                        <p:tgtEl>
                                          <p:spTgt spid="1619"/>
                                        </p:tgtEl>
                                      </p:cBhvr>
                                    </p:animEffect>
                                  </p:childTnLst>
                                </p:cTn>
                              </p:par>
                              <p:par>
                                <p:cTn fill="hold" nodeType="withEffect" presetClass="entr" presetID="10" presetSubtype="0">
                                  <p:stCondLst>
                                    <p:cond delay="0"/>
                                  </p:stCondLst>
                                  <p:childTnLst>
                                    <p:set>
                                      <p:cBhvr>
                                        <p:cTn dur="1" fill="hold">
                                          <p:stCondLst>
                                            <p:cond delay="0"/>
                                          </p:stCondLst>
                                        </p:cTn>
                                        <p:tgtEl>
                                          <p:spTgt spid="1620"/>
                                        </p:tgtEl>
                                        <p:attrNameLst>
                                          <p:attrName>style.visibility</p:attrName>
                                        </p:attrNameLst>
                                      </p:cBhvr>
                                      <p:to>
                                        <p:strVal val="visible"/>
                                      </p:to>
                                    </p:set>
                                    <p:animEffect filter="fade" transition="in">
                                      <p:cBhvr>
                                        <p:cTn dur="600"/>
                                        <p:tgtEl>
                                          <p:spTgt spid="1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4"/>
                                        </p:tgtEl>
                                        <p:attrNameLst>
                                          <p:attrName>style.visibility</p:attrName>
                                        </p:attrNameLst>
                                      </p:cBhvr>
                                      <p:to>
                                        <p:strVal val="visible"/>
                                      </p:to>
                                    </p:set>
                                    <p:animEffect filter="fade" transition="in">
                                      <p:cBhvr>
                                        <p:cTn dur="600"/>
                                        <p:tgtEl>
                                          <p:spTgt spid="1624"/>
                                        </p:tgtEl>
                                      </p:cBhvr>
                                    </p:animEffect>
                                  </p:childTnLst>
                                </p:cTn>
                              </p:par>
                              <p:par>
                                <p:cTn fill="hold" nodeType="withEffect" presetClass="entr" presetID="10" presetSubtype="0">
                                  <p:stCondLst>
                                    <p:cond delay="0"/>
                                  </p:stCondLst>
                                  <p:childTnLst>
                                    <p:set>
                                      <p:cBhvr>
                                        <p:cTn dur="1" fill="hold">
                                          <p:stCondLst>
                                            <p:cond delay="0"/>
                                          </p:stCondLst>
                                        </p:cTn>
                                        <p:tgtEl>
                                          <p:spTgt spid="1625"/>
                                        </p:tgtEl>
                                        <p:attrNameLst>
                                          <p:attrName>style.visibility</p:attrName>
                                        </p:attrNameLst>
                                      </p:cBhvr>
                                      <p:to>
                                        <p:strVal val="visible"/>
                                      </p:to>
                                    </p:set>
                                    <p:animEffect filter="fade" transition="in">
                                      <p:cBhvr>
                                        <p:cTn dur="600"/>
                                        <p:tgtEl>
                                          <p:spTgt spid="1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9"/>
                                        </p:tgtEl>
                                        <p:attrNameLst>
                                          <p:attrName>style.visibility</p:attrName>
                                        </p:attrNameLst>
                                      </p:cBhvr>
                                      <p:to>
                                        <p:strVal val="visible"/>
                                      </p:to>
                                    </p:set>
                                    <p:animEffect filter="fade" transition="in">
                                      <p:cBhvr>
                                        <p:cTn dur="600"/>
                                        <p:tgtEl>
                                          <p:spTgt spid="1629"/>
                                        </p:tgtEl>
                                      </p:cBhvr>
                                    </p:animEffect>
                                  </p:childTnLst>
                                </p:cTn>
                              </p:par>
                              <p:par>
                                <p:cTn fill="hold" nodeType="withEffect" presetClass="entr" presetID="10" presetSubtype="0">
                                  <p:stCondLst>
                                    <p:cond delay="0"/>
                                  </p:stCondLst>
                                  <p:childTnLst>
                                    <p:set>
                                      <p:cBhvr>
                                        <p:cTn dur="1" fill="hold">
                                          <p:stCondLst>
                                            <p:cond delay="0"/>
                                          </p:stCondLst>
                                        </p:cTn>
                                        <p:tgtEl>
                                          <p:spTgt spid="1630"/>
                                        </p:tgtEl>
                                        <p:attrNameLst>
                                          <p:attrName>style.visibility</p:attrName>
                                        </p:attrNameLst>
                                      </p:cBhvr>
                                      <p:to>
                                        <p:strVal val="visible"/>
                                      </p:to>
                                    </p:set>
                                    <p:animEffect filter="fade" transition="in">
                                      <p:cBhvr>
                                        <p:cTn dur="600"/>
                                        <p:tgtEl>
                                          <p:spTgt spid="16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4"/>
                                        </p:tgtEl>
                                        <p:attrNameLst>
                                          <p:attrName>style.visibility</p:attrName>
                                        </p:attrNameLst>
                                      </p:cBhvr>
                                      <p:to>
                                        <p:strVal val="visible"/>
                                      </p:to>
                                    </p:set>
                                    <p:animEffect filter="fade" transition="in">
                                      <p:cBhvr>
                                        <p:cTn dur="600"/>
                                        <p:tgtEl>
                                          <p:spTgt spid="1634"/>
                                        </p:tgtEl>
                                      </p:cBhvr>
                                    </p:animEffect>
                                  </p:childTnLst>
                                </p:cTn>
                              </p:par>
                              <p:par>
                                <p:cTn fill="hold" nodeType="withEffect" presetClass="entr" presetID="10" presetSubtype="0">
                                  <p:stCondLst>
                                    <p:cond delay="0"/>
                                  </p:stCondLst>
                                  <p:childTnLst>
                                    <p:set>
                                      <p:cBhvr>
                                        <p:cTn dur="1" fill="hold">
                                          <p:stCondLst>
                                            <p:cond delay="0"/>
                                          </p:stCondLst>
                                        </p:cTn>
                                        <p:tgtEl>
                                          <p:spTgt spid="1635"/>
                                        </p:tgtEl>
                                        <p:attrNameLst>
                                          <p:attrName>style.visibility</p:attrName>
                                        </p:attrNameLst>
                                      </p:cBhvr>
                                      <p:to>
                                        <p:strVal val="visible"/>
                                      </p:to>
                                    </p:set>
                                    <p:animEffect filter="fade" transition="in">
                                      <p:cBhvr>
                                        <p:cTn dur="600"/>
                                        <p:tgtEl>
                                          <p:spTgt spid="16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p79"/>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10 OF 11</a:t>
            </a:r>
            <a:endParaRPr b="0" i="0" sz="800" u="none" cap="none" strike="noStrike">
              <a:solidFill>
                <a:schemeClr val="dk1"/>
              </a:solidFill>
              <a:latin typeface="Calibri"/>
              <a:ea typeface="Calibri"/>
              <a:cs typeface="Calibri"/>
              <a:sym typeface="Calibri"/>
            </a:endParaRPr>
          </a:p>
        </p:txBody>
      </p:sp>
      <p:sp>
        <p:nvSpPr>
          <p:cNvPr id="1642" name="Google Shape;1642;p79"/>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AG: Pending Invoice</a:t>
            </a:r>
            <a:endParaRPr b="0" i="0" sz="2800" u="none" cap="none" strike="noStrike">
              <a:solidFill>
                <a:schemeClr val="dk1"/>
              </a:solidFill>
              <a:latin typeface="Calibri"/>
              <a:ea typeface="Calibri"/>
              <a:cs typeface="Calibri"/>
              <a:sym typeface="Calibri"/>
            </a:endParaRPr>
          </a:p>
        </p:txBody>
      </p:sp>
      <p:sp>
        <p:nvSpPr>
          <p:cNvPr id="1643" name="Google Shape;1643;p79"/>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to do with a Pending Invoice job, and how to pick the right cancellation reason.</a:t>
            </a:r>
            <a:endParaRPr b="0" i="0" sz="1150" u="none" cap="none" strike="noStrike">
              <a:solidFill>
                <a:schemeClr val="dk1"/>
              </a:solidFill>
              <a:latin typeface="Calibri"/>
              <a:ea typeface="Calibri"/>
              <a:cs typeface="Calibri"/>
              <a:sym typeface="Calibri"/>
            </a:endParaRPr>
          </a:p>
        </p:txBody>
      </p:sp>
      <p:sp>
        <p:nvSpPr>
          <p:cNvPr id="1644" name="Google Shape;1644;p79"/>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645" name="Google Shape;1645;p79"/>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46" name="Google Shape;1646;p79"/>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647" name="Google Shape;1647;p79"/>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Why Pending Invoice needs action</a:t>
            </a:r>
            <a:endParaRPr b="0" i="0" sz="1050" u="none" cap="none" strike="noStrike">
              <a:solidFill>
                <a:schemeClr val="dk1"/>
              </a:solidFill>
              <a:latin typeface="Calibri"/>
              <a:ea typeface="Calibri"/>
              <a:cs typeface="Calibri"/>
              <a:sym typeface="Calibri"/>
            </a:endParaRPr>
          </a:p>
        </p:txBody>
      </p:sp>
      <p:sp>
        <p:nvSpPr>
          <p:cNvPr id="1648" name="Google Shape;1648;p79"/>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49" name="Google Shape;1649;p79"/>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650" name="Google Shape;1650;p79"/>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three-step action guide</a:t>
            </a:r>
            <a:endParaRPr b="0" i="0" sz="1050" u="none" cap="none" strike="noStrike">
              <a:solidFill>
                <a:schemeClr val="dk1"/>
              </a:solidFill>
              <a:latin typeface="Calibri"/>
              <a:ea typeface="Calibri"/>
              <a:cs typeface="Calibri"/>
              <a:sym typeface="Calibri"/>
            </a:endParaRPr>
          </a:p>
        </p:txBody>
      </p:sp>
      <p:sp>
        <p:nvSpPr>
          <p:cNvPr id="1651" name="Google Shape;1651;p79"/>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52" name="Google Shape;1652;p79"/>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653" name="Google Shape;1653;p79"/>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Agreed reschedules</a:t>
            </a:r>
            <a:endParaRPr b="0" i="0" sz="1050" u="none" cap="none" strike="noStrike">
              <a:solidFill>
                <a:schemeClr val="dk1"/>
              </a:solidFill>
              <a:latin typeface="Calibri"/>
              <a:ea typeface="Calibri"/>
              <a:cs typeface="Calibri"/>
              <a:sym typeface="Calibri"/>
            </a:endParaRPr>
          </a:p>
        </p:txBody>
      </p:sp>
      <p:sp>
        <p:nvSpPr>
          <p:cNvPr id="1654" name="Google Shape;1654;p79"/>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55" name="Google Shape;1655;p79"/>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656" name="Google Shape;1656;p79"/>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Cancellation reason codes</a:t>
            </a:r>
            <a:endParaRPr b="0" i="0" sz="1050" u="none" cap="none" strike="noStrike">
              <a:solidFill>
                <a:schemeClr val="dk1"/>
              </a:solidFill>
              <a:latin typeface="Calibri"/>
              <a:ea typeface="Calibri"/>
              <a:cs typeface="Calibri"/>
              <a:sym typeface="Calibri"/>
            </a:endParaRPr>
          </a:p>
        </p:txBody>
      </p:sp>
      <p:sp>
        <p:nvSpPr>
          <p:cNvPr id="1657" name="Google Shape;1657;p79"/>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8" name="Google Shape;1658;p7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24.png" id="1659" name="Google Shape;1659;p79"/>
          <p:cNvPicPr preferRelativeResize="0"/>
          <p:nvPr/>
        </p:nvPicPr>
        <p:blipFill rotWithShape="1">
          <a:blip r:embed="rId4">
            <a:alphaModFix/>
          </a:blip>
          <a:srcRect b="0" l="0" r="0" t="0"/>
          <a:stretch/>
        </p:blipFill>
        <p:spPr>
          <a:xfrm>
            <a:off x="5658307" y="1517904"/>
            <a:ext cx="2691994" cy="2103120"/>
          </a:xfrm>
          <a:prstGeom prst="rect">
            <a:avLst/>
          </a:prstGeom>
          <a:noFill/>
          <a:ln>
            <a:noFill/>
          </a:ln>
        </p:spPr>
      </p:pic>
      <p:sp>
        <p:nvSpPr>
          <p:cNvPr id="1660" name="Google Shape;1660;p79"/>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79"/>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2" name="Google Shape;1662;p79"/>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3" name="Google Shape;1663;p79"/>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79"/>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79"/>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6" name="Google Shape;1666;p7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8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AG: PENDING INVOICE</a:t>
            </a:r>
            <a:endParaRPr b="0" i="0" sz="800" u="none" cap="none" strike="noStrike">
              <a:solidFill>
                <a:schemeClr val="dk1"/>
              </a:solidFill>
              <a:latin typeface="Calibri"/>
              <a:ea typeface="Calibri"/>
              <a:cs typeface="Calibri"/>
              <a:sym typeface="Calibri"/>
            </a:endParaRPr>
          </a:p>
        </p:txBody>
      </p:sp>
      <p:sp>
        <p:nvSpPr>
          <p:cNvPr id="1673" name="Google Shape;1673;p8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Pending Invoice doesn't mean done</a:t>
            </a:r>
            <a:endParaRPr b="0" i="0" sz="2400" u="none" cap="none" strike="noStrike">
              <a:solidFill>
                <a:schemeClr val="dk1"/>
              </a:solidFill>
              <a:latin typeface="Calibri"/>
              <a:ea typeface="Calibri"/>
              <a:cs typeface="Calibri"/>
              <a:sym typeface="Calibri"/>
            </a:endParaRPr>
          </a:p>
        </p:txBody>
      </p:sp>
      <p:sp>
        <p:nvSpPr>
          <p:cNvPr id="1674" name="Google Shape;1674;p8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status changes on a timer, not because the cleaning happened.</a:t>
            </a:r>
            <a:endParaRPr b="0" i="0" sz="1200" u="none" cap="none" strike="noStrike">
              <a:solidFill>
                <a:schemeClr val="dk1"/>
              </a:solidFill>
              <a:latin typeface="Calibri"/>
              <a:ea typeface="Calibri"/>
              <a:cs typeface="Calibri"/>
              <a:sym typeface="Calibri"/>
            </a:endParaRPr>
          </a:p>
        </p:txBody>
      </p:sp>
      <p:sp>
        <p:nvSpPr>
          <p:cNvPr id="1675" name="Google Shape;1675;p80"/>
          <p:cNvSpPr/>
          <p:nvPr/>
        </p:nvSpPr>
        <p:spPr>
          <a:xfrm>
            <a:off x="411480" y="1371600"/>
            <a:ext cx="2743200" cy="2103120"/>
          </a:xfrm>
          <a:prstGeom prst="roundRect">
            <a:avLst>
              <a:gd fmla="val 3478"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6" name="Google Shape;1676;p80"/>
          <p:cNvSpPr txBox="1"/>
          <p:nvPr/>
        </p:nvSpPr>
        <p:spPr>
          <a:xfrm>
            <a:off x="640080" y="1554480"/>
            <a:ext cx="2286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EXAMPLE</a:t>
            </a:r>
            <a:endParaRPr b="0" i="0" sz="800" u="none" cap="none" strike="noStrike">
              <a:solidFill>
                <a:schemeClr val="dk1"/>
              </a:solidFill>
              <a:latin typeface="Calibri"/>
              <a:ea typeface="Calibri"/>
              <a:cs typeface="Calibri"/>
              <a:sym typeface="Calibri"/>
            </a:endParaRPr>
          </a:p>
        </p:txBody>
      </p:sp>
      <p:sp>
        <p:nvSpPr>
          <p:cNvPr id="1677" name="Google Shape;1677;p80"/>
          <p:cNvSpPr txBox="1"/>
          <p:nvPr/>
        </p:nvSpPr>
        <p:spPr>
          <a:xfrm>
            <a:off x="640080" y="1783080"/>
            <a:ext cx="23774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500"/>
              <a:buFont typeface="Play"/>
              <a:buNone/>
            </a:pPr>
            <a:r>
              <a:rPr b="1" i="0" lang="en" sz="1500" u="none" cap="none" strike="noStrike">
                <a:solidFill>
                  <a:srgbClr val="1D1D1F"/>
                </a:solidFill>
                <a:latin typeface="Play"/>
                <a:ea typeface="Play"/>
                <a:cs typeface="Play"/>
                <a:sym typeface="Play"/>
              </a:rPr>
              <a:t>Jan 2, 10 AM</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500"/>
              <a:buFont typeface="Play"/>
              <a:buNone/>
            </a:pPr>
            <a:r>
              <a:rPr b="1" i="0" lang="en" sz="1500" u="none" cap="none" strike="noStrike">
                <a:solidFill>
                  <a:srgbClr val="1D1D1F"/>
                </a:solidFill>
                <a:latin typeface="Play"/>
                <a:ea typeface="Play"/>
                <a:cs typeface="Play"/>
                <a:sym typeface="Play"/>
              </a:rPr>
              <a:t>3-hour job</a:t>
            </a:r>
            <a:endParaRPr b="0" i="0" sz="1500" u="none" cap="none" strike="noStrike">
              <a:solidFill>
                <a:schemeClr val="dk1"/>
              </a:solidFill>
              <a:latin typeface="Calibri"/>
              <a:ea typeface="Calibri"/>
              <a:cs typeface="Calibri"/>
              <a:sym typeface="Calibri"/>
            </a:endParaRPr>
          </a:p>
        </p:txBody>
      </p:sp>
      <p:sp>
        <p:nvSpPr>
          <p:cNvPr id="1678" name="Google Shape;1678;p80"/>
          <p:cNvSpPr txBox="1"/>
          <p:nvPr/>
        </p:nvSpPr>
        <p:spPr>
          <a:xfrm>
            <a:off x="640080" y="2560320"/>
            <a:ext cx="2377440" cy="320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1200"/>
              <a:buFont typeface="Play"/>
              <a:buNone/>
            </a:pPr>
            <a:r>
              <a:rPr b="1" i="0" lang="en" sz="1200" u="none" cap="none" strike="noStrike">
                <a:solidFill>
                  <a:srgbClr val="0B7A6F"/>
                </a:solidFill>
                <a:latin typeface="Play"/>
                <a:ea typeface="Play"/>
                <a:cs typeface="Play"/>
                <a:sym typeface="Play"/>
              </a:rPr>
              <a:t>Pending Invoice at 1 PM</a:t>
            </a:r>
            <a:endParaRPr b="0" i="0" sz="1200" u="none" cap="none" strike="noStrike">
              <a:solidFill>
                <a:schemeClr val="dk1"/>
              </a:solidFill>
              <a:latin typeface="Calibri"/>
              <a:ea typeface="Calibri"/>
              <a:cs typeface="Calibri"/>
              <a:sym typeface="Calibri"/>
            </a:endParaRPr>
          </a:p>
        </p:txBody>
      </p:sp>
      <p:sp>
        <p:nvSpPr>
          <p:cNvPr id="1679" name="Google Shape;1679;p80"/>
          <p:cNvSpPr txBox="1"/>
          <p:nvPr/>
        </p:nvSpPr>
        <p:spPr>
          <a:xfrm>
            <a:off x="640080" y="2852928"/>
            <a:ext cx="23774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automatically</a:t>
            </a:r>
            <a:endParaRPr b="0" i="0" sz="1000" u="none" cap="none" strike="noStrike">
              <a:solidFill>
                <a:schemeClr val="dk1"/>
              </a:solidFill>
              <a:latin typeface="Calibri"/>
              <a:ea typeface="Calibri"/>
              <a:cs typeface="Calibri"/>
              <a:sym typeface="Calibri"/>
            </a:endParaRPr>
          </a:p>
        </p:txBody>
      </p:sp>
      <p:sp>
        <p:nvSpPr>
          <p:cNvPr id="1680" name="Google Shape;1680;p80"/>
          <p:cNvSpPr txBox="1"/>
          <p:nvPr/>
        </p:nvSpPr>
        <p:spPr>
          <a:xfrm>
            <a:off x="3383280" y="137160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IT COULD MEAN</a:t>
            </a:r>
            <a:endParaRPr b="0" i="0" sz="800" u="none" cap="none" strike="noStrike">
              <a:solidFill>
                <a:schemeClr val="dk1"/>
              </a:solidFill>
              <a:latin typeface="Calibri"/>
              <a:ea typeface="Calibri"/>
              <a:cs typeface="Calibri"/>
              <a:sym typeface="Calibri"/>
            </a:endParaRPr>
          </a:p>
        </p:txBody>
      </p:sp>
      <p:sp>
        <p:nvSpPr>
          <p:cNvPr id="1681" name="Google Shape;1681;p80"/>
          <p:cNvSpPr/>
          <p:nvPr/>
        </p:nvSpPr>
        <p:spPr>
          <a:xfrm>
            <a:off x="3291840" y="1645920"/>
            <a:ext cx="5440680" cy="502920"/>
          </a:xfrm>
          <a:prstGeom prst="roundRect">
            <a:avLst>
              <a:gd fmla="val 1454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80"/>
          <p:cNvSpPr/>
          <p:nvPr/>
        </p:nvSpPr>
        <p:spPr>
          <a:xfrm>
            <a:off x="3401568" y="1751076"/>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83" name="Google Shape;1683;p80"/>
          <p:cNvPicPr preferRelativeResize="0"/>
          <p:nvPr/>
        </p:nvPicPr>
        <p:blipFill rotWithShape="1">
          <a:blip r:embed="rId3">
            <a:alphaModFix/>
          </a:blip>
          <a:srcRect b="0" l="0" r="0" t="0"/>
          <a:stretch/>
        </p:blipFill>
        <p:spPr>
          <a:xfrm>
            <a:off x="3471794" y="1821302"/>
            <a:ext cx="152156" cy="152156"/>
          </a:xfrm>
          <a:prstGeom prst="rect">
            <a:avLst/>
          </a:prstGeom>
          <a:noFill/>
          <a:ln>
            <a:noFill/>
          </a:ln>
        </p:spPr>
      </p:pic>
      <p:sp>
        <p:nvSpPr>
          <p:cNvPr id="1684" name="Google Shape;1684;p80"/>
          <p:cNvSpPr txBox="1"/>
          <p:nvPr/>
        </p:nvSpPr>
        <p:spPr>
          <a:xfrm>
            <a:off x="3794760" y="1645920"/>
            <a:ext cx="48463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The cleaner couldn't finish and is rescheduling</a:t>
            </a:r>
            <a:endParaRPr b="0" i="0" sz="1050" u="none" cap="none" strike="noStrike">
              <a:solidFill>
                <a:schemeClr val="dk1"/>
              </a:solidFill>
              <a:latin typeface="Calibri"/>
              <a:ea typeface="Calibri"/>
              <a:cs typeface="Calibri"/>
              <a:sym typeface="Calibri"/>
            </a:endParaRPr>
          </a:p>
        </p:txBody>
      </p:sp>
      <p:sp>
        <p:nvSpPr>
          <p:cNvPr id="1685" name="Google Shape;1685;p80"/>
          <p:cNvSpPr/>
          <p:nvPr/>
        </p:nvSpPr>
        <p:spPr>
          <a:xfrm>
            <a:off x="3291840" y="2221992"/>
            <a:ext cx="5440680" cy="502920"/>
          </a:xfrm>
          <a:prstGeom prst="roundRect">
            <a:avLst>
              <a:gd fmla="val 1454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6" name="Google Shape;1686;p80"/>
          <p:cNvSpPr/>
          <p:nvPr/>
        </p:nvSpPr>
        <p:spPr>
          <a:xfrm>
            <a:off x="3401568" y="2327148"/>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87" name="Google Shape;1687;p80"/>
          <p:cNvPicPr preferRelativeResize="0"/>
          <p:nvPr/>
        </p:nvPicPr>
        <p:blipFill rotWithShape="1">
          <a:blip r:embed="rId4">
            <a:alphaModFix/>
          </a:blip>
          <a:srcRect b="0" l="0" r="0" t="0"/>
          <a:stretch/>
        </p:blipFill>
        <p:spPr>
          <a:xfrm>
            <a:off x="3471794" y="2397374"/>
            <a:ext cx="152156" cy="152156"/>
          </a:xfrm>
          <a:prstGeom prst="rect">
            <a:avLst/>
          </a:prstGeom>
          <a:noFill/>
          <a:ln>
            <a:noFill/>
          </a:ln>
        </p:spPr>
      </p:pic>
      <p:sp>
        <p:nvSpPr>
          <p:cNvPr id="1688" name="Google Shape;1688;p80"/>
          <p:cNvSpPr txBox="1"/>
          <p:nvPr/>
        </p:nvSpPr>
        <p:spPr>
          <a:xfrm>
            <a:off x="3794760" y="2221992"/>
            <a:ext cx="48463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The customer asked to cancel, not processed yet</a:t>
            </a:r>
            <a:endParaRPr b="0" i="0" sz="1050" u="none" cap="none" strike="noStrike">
              <a:solidFill>
                <a:schemeClr val="dk1"/>
              </a:solidFill>
              <a:latin typeface="Calibri"/>
              <a:ea typeface="Calibri"/>
              <a:cs typeface="Calibri"/>
              <a:sym typeface="Calibri"/>
            </a:endParaRPr>
          </a:p>
        </p:txBody>
      </p:sp>
      <p:sp>
        <p:nvSpPr>
          <p:cNvPr id="1689" name="Google Shape;1689;p80"/>
          <p:cNvSpPr/>
          <p:nvPr/>
        </p:nvSpPr>
        <p:spPr>
          <a:xfrm>
            <a:off x="3291840" y="2798064"/>
            <a:ext cx="5440680" cy="502920"/>
          </a:xfrm>
          <a:prstGeom prst="roundRect">
            <a:avLst>
              <a:gd fmla="val 1454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0" name="Google Shape;1690;p80"/>
          <p:cNvSpPr/>
          <p:nvPr/>
        </p:nvSpPr>
        <p:spPr>
          <a:xfrm>
            <a:off x="3401568" y="2903220"/>
            <a:ext cx="292608" cy="29260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91" name="Google Shape;1691;p80"/>
          <p:cNvPicPr preferRelativeResize="0"/>
          <p:nvPr/>
        </p:nvPicPr>
        <p:blipFill rotWithShape="1">
          <a:blip r:embed="rId5">
            <a:alphaModFix/>
          </a:blip>
          <a:srcRect b="0" l="0" r="0" t="0"/>
          <a:stretch/>
        </p:blipFill>
        <p:spPr>
          <a:xfrm>
            <a:off x="3471794" y="2973446"/>
            <a:ext cx="152156" cy="152156"/>
          </a:xfrm>
          <a:prstGeom prst="rect">
            <a:avLst/>
          </a:prstGeom>
          <a:noFill/>
          <a:ln>
            <a:noFill/>
          </a:ln>
        </p:spPr>
      </p:pic>
      <p:sp>
        <p:nvSpPr>
          <p:cNvPr id="1692" name="Google Shape;1692;p80"/>
          <p:cNvSpPr txBox="1"/>
          <p:nvPr/>
        </p:nvSpPr>
        <p:spPr>
          <a:xfrm>
            <a:off x="3794760" y="2798064"/>
            <a:ext cx="484632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The job was done but not invoiced</a:t>
            </a:r>
            <a:endParaRPr b="0" i="0" sz="1050" u="none" cap="none" strike="noStrike">
              <a:solidFill>
                <a:schemeClr val="dk1"/>
              </a:solidFill>
              <a:latin typeface="Calibri"/>
              <a:ea typeface="Calibri"/>
              <a:cs typeface="Calibri"/>
              <a:sym typeface="Calibri"/>
            </a:endParaRPr>
          </a:p>
        </p:txBody>
      </p:sp>
      <p:sp>
        <p:nvSpPr>
          <p:cNvPr id="1693" name="Google Shape;1693;p80"/>
          <p:cNvSpPr/>
          <p:nvPr/>
        </p:nvSpPr>
        <p:spPr>
          <a:xfrm>
            <a:off x="411480" y="37490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94" name="Google Shape;1694;p80"/>
          <p:cNvPicPr preferRelativeResize="0"/>
          <p:nvPr/>
        </p:nvPicPr>
        <p:blipFill rotWithShape="1">
          <a:blip r:embed="rId6">
            <a:alphaModFix/>
          </a:blip>
          <a:srcRect b="0" l="0" r="0" t="0"/>
          <a:stretch/>
        </p:blipFill>
        <p:spPr>
          <a:xfrm>
            <a:off x="566928" y="3858768"/>
            <a:ext cx="164592" cy="164592"/>
          </a:xfrm>
          <a:prstGeom prst="rect">
            <a:avLst/>
          </a:prstGeom>
          <a:noFill/>
          <a:ln>
            <a:noFill/>
          </a:ln>
        </p:spPr>
      </p:pic>
      <p:sp>
        <p:nvSpPr>
          <p:cNvPr id="1695" name="Google Shape;1695;p80"/>
          <p:cNvSpPr txBox="1"/>
          <p:nvPr/>
        </p:nvSpPr>
        <p:spPr>
          <a:xfrm>
            <a:off x="822960" y="38496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Rule:  </a:t>
            </a:r>
            <a:r>
              <a:rPr b="0" i="0" lang="en" sz="1000" u="none" cap="none" strike="noStrike">
                <a:solidFill>
                  <a:srgbClr val="1D1D1F"/>
                </a:solidFill>
                <a:latin typeface="Arial"/>
                <a:ea typeface="Arial"/>
                <a:cs typeface="Arial"/>
                <a:sym typeface="Arial"/>
              </a:rPr>
              <a:t>act on every Pending Invoice job, even when it isn't what the user asked about.</a:t>
            </a:r>
            <a:endParaRPr b="0" i="0" sz="1000" u="none" cap="none" strike="noStrike">
              <a:solidFill>
                <a:schemeClr val="dk1"/>
              </a:solidFill>
              <a:latin typeface="Calibri"/>
              <a:ea typeface="Calibri"/>
              <a:cs typeface="Calibri"/>
              <a:sym typeface="Calibri"/>
            </a:endParaRPr>
          </a:p>
        </p:txBody>
      </p:sp>
      <p:sp>
        <p:nvSpPr>
          <p:cNvPr id="1696" name="Google Shape;1696;p8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8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AG: PENDING INVOICE</a:t>
            </a:r>
            <a:endParaRPr b="0" i="0" sz="800" u="none" cap="none" strike="noStrike">
              <a:solidFill>
                <a:schemeClr val="dk1"/>
              </a:solidFill>
              <a:latin typeface="Calibri"/>
              <a:ea typeface="Calibri"/>
              <a:cs typeface="Calibri"/>
              <a:sym typeface="Calibri"/>
            </a:endParaRPr>
          </a:p>
        </p:txBody>
      </p:sp>
      <p:sp>
        <p:nvSpPr>
          <p:cNvPr id="1703" name="Google Shape;1703;p8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action guide</a:t>
            </a:r>
            <a:endParaRPr b="0" i="0" sz="2400" u="none" cap="none" strike="noStrike">
              <a:solidFill>
                <a:schemeClr val="dk1"/>
              </a:solidFill>
              <a:latin typeface="Calibri"/>
              <a:ea typeface="Calibri"/>
              <a:cs typeface="Calibri"/>
              <a:sym typeface="Calibri"/>
            </a:endParaRPr>
          </a:p>
        </p:txBody>
      </p:sp>
      <p:sp>
        <p:nvSpPr>
          <p:cNvPr id="1704" name="Google Shape;1704;p8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Three steps, in order.</a:t>
            </a:r>
            <a:endParaRPr b="0" i="0" sz="1200" u="none" cap="none" strike="noStrike">
              <a:solidFill>
                <a:schemeClr val="dk1"/>
              </a:solidFill>
              <a:latin typeface="Calibri"/>
              <a:ea typeface="Calibri"/>
              <a:cs typeface="Calibri"/>
              <a:sym typeface="Calibri"/>
            </a:endParaRPr>
          </a:p>
        </p:txBody>
      </p:sp>
      <p:sp>
        <p:nvSpPr>
          <p:cNvPr id="1705" name="Google Shape;1705;p81"/>
          <p:cNvSpPr/>
          <p:nvPr/>
        </p:nvSpPr>
        <p:spPr>
          <a:xfrm>
            <a:off x="411480" y="1371600"/>
            <a:ext cx="2682240" cy="2011680"/>
          </a:xfrm>
          <a:prstGeom prst="roundRect">
            <a:avLst>
              <a:gd fmla="val 363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81"/>
          <p:cNvSpPr/>
          <p:nvPr/>
        </p:nvSpPr>
        <p:spPr>
          <a:xfrm>
            <a:off x="576072"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7" name="Google Shape;1707;p81"/>
          <p:cNvSpPr txBox="1"/>
          <p:nvPr/>
        </p:nvSpPr>
        <p:spPr>
          <a:xfrm>
            <a:off x="576072"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708" name="Google Shape;1708;p81"/>
          <p:cNvSpPr txBox="1"/>
          <p:nvPr/>
        </p:nvSpPr>
        <p:spPr>
          <a:xfrm>
            <a:off x="576072" y="19751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Review the comms</a:t>
            </a:r>
            <a:endParaRPr b="0" i="0" sz="1200" u="none" cap="none" strike="noStrike">
              <a:solidFill>
                <a:schemeClr val="dk1"/>
              </a:solidFill>
              <a:latin typeface="Calibri"/>
              <a:ea typeface="Calibri"/>
              <a:cs typeface="Calibri"/>
              <a:sym typeface="Calibri"/>
            </a:endParaRPr>
          </a:p>
        </p:txBody>
      </p:sp>
      <p:sp>
        <p:nvSpPr>
          <p:cNvPr id="1709" name="Google Shape;1709;p81"/>
          <p:cNvSpPr txBox="1"/>
          <p:nvPr/>
        </p:nvSpPr>
        <p:spPr>
          <a:xfrm>
            <a:off x="576072" y="2267712"/>
            <a:ext cx="2353056"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Read C and CP messages, and anything they sent to CS. Was the job completed?</a:t>
            </a:r>
            <a:endParaRPr b="0" i="0" sz="950" u="none" cap="none" strike="noStrike">
              <a:solidFill>
                <a:schemeClr val="dk1"/>
              </a:solidFill>
              <a:latin typeface="Calibri"/>
              <a:ea typeface="Calibri"/>
              <a:cs typeface="Calibri"/>
              <a:sym typeface="Calibri"/>
            </a:endParaRPr>
          </a:p>
        </p:txBody>
      </p:sp>
      <p:sp>
        <p:nvSpPr>
          <p:cNvPr id="1710" name="Google Shape;1710;p81"/>
          <p:cNvSpPr/>
          <p:nvPr/>
        </p:nvSpPr>
        <p:spPr>
          <a:xfrm>
            <a:off x="3230880" y="1371600"/>
            <a:ext cx="2682240" cy="2011680"/>
          </a:xfrm>
          <a:prstGeom prst="roundRect">
            <a:avLst>
              <a:gd fmla="val 363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81"/>
          <p:cNvSpPr/>
          <p:nvPr/>
        </p:nvSpPr>
        <p:spPr>
          <a:xfrm>
            <a:off x="3395472"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81"/>
          <p:cNvSpPr txBox="1"/>
          <p:nvPr/>
        </p:nvSpPr>
        <p:spPr>
          <a:xfrm>
            <a:off x="3395472"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713" name="Google Shape;1713;p81"/>
          <p:cNvSpPr txBox="1"/>
          <p:nvPr/>
        </p:nvSpPr>
        <p:spPr>
          <a:xfrm>
            <a:off x="3395472" y="19751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Act on the evidence</a:t>
            </a:r>
            <a:endParaRPr b="0" i="0" sz="1200" u="none" cap="none" strike="noStrike">
              <a:solidFill>
                <a:schemeClr val="dk1"/>
              </a:solidFill>
              <a:latin typeface="Calibri"/>
              <a:ea typeface="Calibri"/>
              <a:cs typeface="Calibri"/>
              <a:sym typeface="Calibri"/>
            </a:endParaRPr>
          </a:p>
        </p:txBody>
      </p:sp>
      <p:sp>
        <p:nvSpPr>
          <p:cNvPr id="1714" name="Google Shape;1714;p81"/>
          <p:cNvSpPr txBox="1"/>
          <p:nvPr/>
        </p:nvSpPr>
        <p:spPr>
          <a:xfrm>
            <a:off x="3395472" y="2267712"/>
            <a:ext cx="2353056"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Completed, not completed, or not sure: each has its own path.</a:t>
            </a:r>
            <a:endParaRPr b="0" i="0" sz="950" u="none" cap="none" strike="noStrike">
              <a:solidFill>
                <a:schemeClr val="dk1"/>
              </a:solidFill>
              <a:latin typeface="Calibri"/>
              <a:ea typeface="Calibri"/>
              <a:cs typeface="Calibri"/>
              <a:sym typeface="Calibri"/>
            </a:endParaRPr>
          </a:p>
        </p:txBody>
      </p:sp>
      <p:sp>
        <p:nvSpPr>
          <p:cNvPr id="1715" name="Google Shape;1715;p81"/>
          <p:cNvSpPr/>
          <p:nvPr/>
        </p:nvSpPr>
        <p:spPr>
          <a:xfrm>
            <a:off x="6050280" y="1371600"/>
            <a:ext cx="2682240" cy="2011680"/>
          </a:xfrm>
          <a:prstGeom prst="roundRect">
            <a:avLst>
              <a:gd fmla="val 363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6" name="Google Shape;1716;p81"/>
          <p:cNvSpPr/>
          <p:nvPr/>
        </p:nvSpPr>
        <p:spPr>
          <a:xfrm>
            <a:off x="6214872"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81"/>
          <p:cNvSpPr txBox="1"/>
          <p:nvPr/>
        </p:nvSpPr>
        <p:spPr>
          <a:xfrm>
            <a:off x="6214872"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718" name="Google Shape;1718;p81"/>
          <p:cNvSpPr txBox="1"/>
          <p:nvPr/>
        </p:nvSpPr>
        <p:spPr>
          <a:xfrm>
            <a:off x="6214872" y="19751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Not sure? Check 72 hrs</a:t>
            </a:r>
            <a:endParaRPr b="0" i="0" sz="1200" u="none" cap="none" strike="noStrike">
              <a:solidFill>
                <a:schemeClr val="dk1"/>
              </a:solidFill>
              <a:latin typeface="Calibri"/>
              <a:ea typeface="Calibri"/>
              <a:cs typeface="Calibri"/>
              <a:sym typeface="Calibri"/>
            </a:endParaRPr>
          </a:p>
        </p:txBody>
      </p:sp>
      <p:sp>
        <p:nvSpPr>
          <p:cNvPr id="1719" name="Google Shape;1719;p81"/>
          <p:cNvSpPr txBox="1"/>
          <p:nvPr/>
        </p:nvSpPr>
        <p:spPr>
          <a:xfrm>
            <a:off x="6214872" y="2267712"/>
            <a:ext cx="2353056" cy="10241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Past 72 hrs since end: waive the fee, cancel, send comms. Not yet: ask the customer, consider calling.</a:t>
            </a:r>
            <a:endParaRPr b="0" i="0" sz="950" u="none" cap="none" strike="noStrike">
              <a:solidFill>
                <a:schemeClr val="dk1"/>
              </a:solidFill>
              <a:latin typeface="Calibri"/>
              <a:ea typeface="Calibri"/>
              <a:cs typeface="Calibri"/>
              <a:sym typeface="Calibri"/>
            </a:endParaRPr>
          </a:p>
        </p:txBody>
      </p:sp>
      <p:sp>
        <p:nvSpPr>
          <p:cNvPr id="1720" name="Google Shape;1720;p81"/>
          <p:cNvSpPr/>
          <p:nvPr/>
        </p:nvSpPr>
        <p:spPr>
          <a:xfrm>
            <a:off x="411480" y="35661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21" name="Google Shape;1721;p81"/>
          <p:cNvPicPr preferRelativeResize="0"/>
          <p:nvPr/>
        </p:nvPicPr>
        <p:blipFill rotWithShape="1">
          <a:blip r:embed="rId3">
            <a:alphaModFix/>
          </a:blip>
          <a:srcRect b="0" l="0" r="0" t="0"/>
          <a:stretch/>
        </p:blipFill>
        <p:spPr>
          <a:xfrm>
            <a:off x="566928" y="3675888"/>
            <a:ext cx="164592" cy="164592"/>
          </a:xfrm>
          <a:prstGeom prst="rect">
            <a:avLst/>
          </a:prstGeom>
          <a:noFill/>
          <a:ln>
            <a:noFill/>
          </a:ln>
        </p:spPr>
      </p:pic>
      <p:sp>
        <p:nvSpPr>
          <p:cNvPr id="1722" name="Google Shape;1722;p81"/>
          <p:cNvSpPr txBox="1"/>
          <p:nvPr/>
        </p:nvSpPr>
        <p:spPr>
          <a:xfrm>
            <a:off x="822960" y="36667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Clear evidence?  </a:t>
            </a:r>
            <a:r>
              <a:rPr b="0" i="0" lang="en" sz="1000" u="none" cap="none" strike="noStrike">
                <a:solidFill>
                  <a:srgbClr val="1D1D1F"/>
                </a:solidFill>
                <a:latin typeface="Arial"/>
                <a:ea typeface="Arial"/>
                <a:cs typeface="Arial"/>
                <a:sym typeface="Arial"/>
              </a:rPr>
              <a:t>you can cancel before 72 hrs if the comms show the cleaning didn't happen.</a:t>
            </a:r>
            <a:endParaRPr b="0" i="0" sz="1000" u="none" cap="none" strike="noStrike">
              <a:solidFill>
                <a:schemeClr val="dk1"/>
              </a:solidFill>
              <a:latin typeface="Calibri"/>
              <a:ea typeface="Calibri"/>
              <a:cs typeface="Calibri"/>
              <a:sym typeface="Calibri"/>
            </a:endParaRPr>
          </a:p>
        </p:txBody>
      </p:sp>
      <p:sp>
        <p:nvSpPr>
          <p:cNvPr id="1723" name="Google Shape;1723;p8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8" name="Shape 1728"/>
        <p:cNvGrpSpPr/>
        <p:nvPr/>
      </p:nvGrpSpPr>
      <p:grpSpPr>
        <a:xfrm>
          <a:off x="0" y="0"/>
          <a:ext cx="0" cy="0"/>
          <a:chOff x="0" y="0"/>
          <a:chExt cx="0" cy="0"/>
        </a:xfrm>
      </p:grpSpPr>
      <p:sp>
        <p:nvSpPr>
          <p:cNvPr id="1729" name="Google Shape;1729;p8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AG: PENDING INVOICE  ·  STEP 2</a:t>
            </a:r>
            <a:endParaRPr b="0" i="0" sz="800" u="none" cap="none" strike="noStrike">
              <a:solidFill>
                <a:schemeClr val="dk1"/>
              </a:solidFill>
              <a:latin typeface="Calibri"/>
              <a:ea typeface="Calibri"/>
              <a:cs typeface="Calibri"/>
              <a:sym typeface="Calibri"/>
            </a:endParaRPr>
          </a:p>
        </p:txBody>
      </p:sp>
      <p:sp>
        <p:nvSpPr>
          <p:cNvPr id="1730" name="Google Shape;1730;p8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Act on the evidence</a:t>
            </a:r>
            <a:endParaRPr b="0" i="0" sz="2400" u="none" cap="none" strike="noStrike">
              <a:solidFill>
                <a:schemeClr val="dk1"/>
              </a:solidFill>
              <a:latin typeface="Calibri"/>
              <a:ea typeface="Calibri"/>
              <a:cs typeface="Calibri"/>
              <a:sym typeface="Calibri"/>
            </a:endParaRPr>
          </a:p>
        </p:txBody>
      </p:sp>
      <p:sp>
        <p:nvSpPr>
          <p:cNvPr id="1731" name="Google Shape;1731;p82"/>
          <p:cNvSpPr/>
          <p:nvPr/>
        </p:nvSpPr>
        <p:spPr>
          <a:xfrm>
            <a:off x="411480" y="1097280"/>
            <a:ext cx="2682240" cy="3520440"/>
          </a:xfrm>
          <a:prstGeom prst="roundRect">
            <a:avLst>
              <a:gd fmla="val 272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2" name="Google Shape;1732;p82"/>
          <p:cNvSpPr/>
          <p:nvPr/>
        </p:nvSpPr>
        <p:spPr>
          <a:xfrm>
            <a:off x="576072" y="1261872"/>
            <a:ext cx="365760" cy="36576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3" name="Google Shape;1733;p82"/>
          <p:cNvPicPr preferRelativeResize="0"/>
          <p:nvPr/>
        </p:nvPicPr>
        <p:blipFill rotWithShape="1">
          <a:blip r:embed="rId3">
            <a:alphaModFix/>
          </a:blip>
          <a:srcRect b="0" l="0" r="0" t="0"/>
          <a:stretch/>
        </p:blipFill>
        <p:spPr>
          <a:xfrm>
            <a:off x="663854" y="1349654"/>
            <a:ext cx="190195" cy="190195"/>
          </a:xfrm>
          <a:prstGeom prst="rect">
            <a:avLst/>
          </a:prstGeom>
          <a:noFill/>
          <a:ln>
            <a:noFill/>
          </a:ln>
        </p:spPr>
      </p:pic>
      <p:sp>
        <p:nvSpPr>
          <p:cNvPr id="1734" name="Google Shape;1734;p82"/>
          <p:cNvSpPr txBox="1"/>
          <p:nvPr/>
        </p:nvSpPr>
        <p:spPr>
          <a:xfrm>
            <a:off x="1051560" y="1261872"/>
            <a:ext cx="1905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Completed</a:t>
            </a:r>
            <a:endParaRPr b="0" i="0" sz="1300" u="none" cap="none" strike="noStrike">
              <a:solidFill>
                <a:schemeClr val="dk1"/>
              </a:solidFill>
              <a:latin typeface="Calibri"/>
              <a:ea typeface="Calibri"/>
              <a:cs typeface="Calibri"/>
              <a:sym typeface="Calibri"/>
            </a:endParaRPr>
          </a:p>
        </p:txBody>
      </p:sp>
      <p:sp>
        <p:nvSpPr>
          <p:cNvPr id="1735" name="Google Shape;1735;p82"/>
          <p:cNvSpPr txBox="1"/>
          <p:nvPr/>
        </p:nvSpPr>
        <p:spPr>
          <a:xfrm>
            <a:off x="576072" y="1783080"/>
            <a:ext cx="2353056" cy="27432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Customer confirmed a different duration: invoice in the CP Dashboard with the new hours, message both, coach the cleaner</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Customer confirmed, same duration: Report an Issue &gt; My Cleaning was Completed</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Not confirmed yet: ask the customer for the duration, ask the cleaner to invoice</a:t>
            </a:r>
            <a:endParaRPr b="0" i="0" sz="950" u="none" cap="none" strike="noStrike">
              <a:solidFill>
                <a:schemeClr val="dk1"/>
              </a:solidFill>
              <a:latin typeface="Calibri"/>
              <a:ea typeface="Calibri"/>
              <a:cs typeface="Calibri"/>
              <a:sym typeface="Calibri"/>
            </a:endParaRPr>
          </a:p>
        </p:txBody>
      </p:sp>
      <p:sp>
        <p:nvSpPr>
          <p:cNvPr id="1736" name="Google Shape;1736;p82"/>
          <p:cNvSpPr/>
          <p:nvPr/>
        </p:nvSpPr>
        <p:spPr>
          <a:xfrm>
            <a:off x="3230880" y="1097280"/>
            <a:ext cx="2682240" cy="3520440"/>
          </a:xfrm>
          <a:prstGeom prst="roundRect">
            <a:avLst>
              <a:gd fmla="val 272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82"/>
          <p:cNvSpPr/>
          <p:nvPr/>
        </p:nvSpPr>
        <p:spPr>
          <a:xfrm>
            <a:off x="3395472" y="1261872"/>
            <a:ext cx="365760" cy="36576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8" name="Google Shape;1738;p82"/>
          <p:cNvPicPr preferRelativeResize="0"/>
          <p:nvPr/>
        </p:nvPicPr>
        <p:blipFill rotWithShape="1">
          <a:blip r:embed="rId4">
            <a:alphaModFix/>
          </a:blip>
          <a:srcRect b="0" l="0" r="0" t="0"/>
          <a:stretch/>
        </p:blipFill>
        <p:spPr>
          <a:xfrm>
            <a:off x="3483254" y="1349654"/>
            <a:ext cx="190195" cy="190195"/>
          </a:xfrm>
          <a:prstGeom prst="rect">
            <a:avLst/>
          </a:prstGeom>
          <a:noFill/>
          <a:ln>
            <a:noFill/>
          </a:ln>
        </p:spPr>
      </p:pic>
      <p:sp>
        <p:nvSpPr>
          <p:cNvPr id="1739" name="Google Shape;1739;p82"/>
          <p:cNvSpPr txBox="1"/>
          <p:nvPr/>
        </p:nvSpPr>
        <p:spPr>
          <a:xfrm>
            <a:off x="3870960" y="1261872"/>
            <a:ext cx="1905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Not completed</a:t>
            </a:r>
            <a:endParaRPr b="0" i="0" sz="1300" u="none" cap="none" strike="noStrike">
              <a:solidFill>
                <a:schemeClr val="dk1"/>
              </a:solidFill>
              <a:latin typeface="Calibri"/>
              <a:ea typeface="Calibri"/>
              <a:cs typeface="Calibri"/>
              <a:sym typeface="Calibri"/>
            </a:endParaRPr>
          </a:p>
        </p:txBody>
      </p:sp>
      <p:sp>
        <p:nvSpPr>
          <p:cNvPr id="1740" name="Google Shape;1740;p82"/>
          <p:cNvSpPr txBox="1"/>
          <p:nvPr/>
        </p:nvSpPr>
        <p:spPr>
          <a:xfrm>
            <a:off x="3395472" y="1783080"/>
            <a:ext cx="2353056" cy="27432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Customer cancelled: cancel from the C CRM</a:t>
            </a:r>
            <a:endParaRPr b="0" i="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Cleaner cancelled: cancel from the CP Dashboard to penalize, or the C CRM for no penalty</a:t>
            </a:r>
            <a:endParaRPr b="0" i="0" sz="950" u="none" cap="none" strike="noStrike">
              <a:solidFill>
                <a:schemeClr val="dk1"/>
              </a:solidFill>
              <a:latin typeface="Calibri"/>
              <a:ea typeface="Calibri"/>
              <a:cs typeface="Calibri"/>
              <a:sym typeface="Calibri"/>
            </a:endParaRPr>
          </a:p>
        </p:txBody>
      </p:sp>
      <p:sp>
        <p:nvSpPr>
          <p:cNvPr id="1741" name="Google Shape;1741;p82"/>
          <p:cNvSpPr/>
          <p:nvPr/>
        </p:nvSpPr>
        <p:spPr>
          <a:xfrm>
            <a:off x="6050280" y="1097280"/>
            <a:ext cx="2682240" cy="3520440"/>
          </a:xfrm>
          <a:prstGeom prst="roundRect">
            <a:avLst>
              <a:gd fmla="val 272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2" name="Google Shape;1742;p82"/>
          <p:cNvSpPr/>
          <p:nvPr/>
        </p:nvSpPr>
        <p:spPr>
          <a:xfrm>
            <a:off x="6214872" y="1261872"/>
            <a:ext cx="365760" cy="36576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43" name="Google Shape;1743;p82"/>
          <p:cNvPicPr preferRelativeResize="0"/>
          <p:nvPr/>
        </p:nvPicPr>
        <p:blipFill rotWithShape="1">
          <a:blip r:embed="rId5">
            <a:alphaModFix/>
          </a:blip>
          <a:srcRect b="0" l="0" r="0" t="0"/>
          <a:stretch/>
        </p:blipFill>
        <p:spPr>
          <a:xfrm>
            <a:off x="6302654" y="1349654"/>
            <a:ext cx="190195" cy="190195"/>
          </a:xfrm>
          <a:prstGeom prst="rect">
            <a:avLst/>
          </a:prstGeom>
          <a:noFill/>
          <a:ln>
            <a:noFill/>
          </a:ln>
        </p:spPr>
      </p:pic>
      <p:sp>
        <p:nvSpPr>
          <p:cNvPr id="1744" name="Google Shape;1744;p82"/>
          <p:cNvSpPr txBox="1"/>
          <p:nvPr/>
        </p:nvSpPr>
        <p:spPr>
          <a:xfrm>
            <a:off x="6690360" y="1261872"/>
            <a:ext cx="1905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Not sure</a:t>
            </a:r>
            <a:endParaRPr b="0" i="0" sz="1300" u="none" cap="none" strike="noStrike">
              <a:solidFill>
                <a:schemeClr val="dk1"/>
              </a:solidFill>
              <a:latin typeface="Calibri"/>
              <a:ea typeface="Calibri"/>
              <a:cs typeface="Calibri"/>
              <a:sym typeface="Calibri"/>
            </a:endParaRPr>
          </a:p>
        </p:txBody>
      </p:sp>
      <p:sp>
        <p:nvSpPr>
          <p:cNvPr id="1745" name="Google Shape;1745;p82"/>
          <p:cNvSpPr txBox="1"/>
          <p:nvPr/>
        </p:nvSpPr>
        <p:spPr>
          <a:xfrm>
            <a:off x="6214872" y="1783080"/>
            <a:ext cx="2353056" cy="274320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 sz="950" u="none" cap="none" strike="noStrike">
                <a:solidFill>
                  <a:srgbClr val="1D1D1F"/>
                </a:solidFill>
                <a:latin typeface="Arial"/>
                <a:ea typeface="Arial"/>
                <a:cs typeface="Arial"/>
                <a:sym typeface="Arial"/>
              </a:rPr>
              <a:t>Go to Step 3: check whether 72 hrs have passed since the job ended</a:t>
            </a:r>
            <a:endParaRPr b="0" i="0" sz="950" u="none" cap="none" strike="noStrike">
              <a:solidFill>
                <a:schemeClr val="dk1"/>
              </a:solidFill>
              <a:latin typeface="Calibri"/>
              <a:ea typeface="Calibri"/>
              <a:cs typeface="Calibri"/>
              <a:sym typeface="Calibri"/>
            </a:endParaRPr>
          </a:p>
        </p:txBody>
      </p:sp>
      <p:sp>
        <p:nvSpPr>
          <p:cNvPr id="1746" name="Google Shape;1746;p8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p8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AG: PENDING INVOICE  ·  SCENARIO</a:t>
            </a:r>
            <a:endParaRPr b="0" i="0" sz="800" u="none" cap="none" strike="noStrike">
              <a:solidFill>
                <a:schemeClr val="dk1"/>
              </a:solidFill>
              <a:latin typeface="Calibri"/>
              <a:ea typeface="Calibri"/>
              <a:cs typeface="Calibri"/>
              <a:sym typeface="Calibri"/>
            </a:endParaRPr>
          </a:p>
        </p:txBody>
      </p:sp>
      <p:sp>
        <p:nvSpPr>
          <p:cNvPr id="1753" name="Google Shape;1753;p8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They agreed to reschedule, but the job wasn't changed</a:t>
            </a:r>
            <a:endParaRPr b="0" i="0" sz="2400" u="none" cap="none" strike="noStrike">
              <a:solidFill>
                <a:schemeClr val="dk1"/>
              </a:solidFill>
              <a:latin typeface="Calibri"/>
              <a:ea typeface="Calibri"/>
              <a:cs typeface="Calibri"/>
              <a:sym typeface="Calibri"/>
            </a:endParaRPr>
          </a:p>
        </p:txBody>
      </p:sp>
      <p:sp>
        <p:nvSpPr>
          <p:cNvPr id="1754" name="Google Shape;1754;p8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Check the comms: did they agree on a specific date and time?</a:t>
            </a:r>
            <a:endParaRPr b="0" i="0" sz="1200" u="none" cap="none" strike="noStrike">
              <a:solidFill>
                <a:schemeClr val="dk1"/>
              </a:solidFill>
              <a:latin typeface="Calibri"/>
              <a:ea typeface="Calibri"/>
              <a:cs typeface="Calibri"/>
              <a:sym typeface="Calibri"/>
            </a:endParaRPr>
          </a:p>
        </p:txBody>
      </p:sp>
      <p:sp>
        <p:nvSpPr>
          <p:cNvPr id="1755" name="Google Shape;1755;p83"/>
          <p:cNvSpPr/>
          <p:nvPr/>
        </p:nvSpPr>
        <p:spPr>
          <a:xfrm>
            <a:off x="411480" y="1371600"/>
            <a:ext cx="4091940" cy="2377440"/>
          </a:xfrm>
          <a:prstGeom prst="roundRect">
            <a:avLst>
              <a:gd fmla="val 307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6" name="Google Shape;1756;p83"/>
          <p:cNvSpPr/>
          <p:nvPr/>
        </p:nvSpPr>
        <p:spPr>
          <a:xfrm>
            <a:off x="594360" y="15544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57" name="Google Shape;1757;p83"/>
          <p:cNvPicPr preferRelativeResize="0"/>
          <p:nvPr/>
        </p:nvPicPr>
        <p:blipFill rotWithShape="1">
          <a:blip r:embed="rId3">
            <a:alphaModFix/>
          </a:blip>
          <a:srcRect b="0" l="0" r="0" t="0"/>
          <a:stretch/>
        </p:blipFill>
        <p:spPr>
          <a:xfrm>
            <a:off x="686532" y="1646652"/>
            <a:ext cx="199705" cy="199705"/>
          </a:xfrm>
          <a:prstGeom prst="rect">
            <a:avLst/>
          </a:prstGeom>
          <a:noFill/>
          <a:ln>
            <a:noFill/>
          </a:ln>
        </p:spPr>
      </p:pic>
      <p:sp>
        <p:nvSpPr>
          <p:cNvPr id="1758" name="Google Shape;1758;p83"/>
          <p:cNvSpPr txBox="1"/>
          <p:nvPr/>
        </p:nvSpPr>
        <p:spPr>
          <a:xfrm>
            <a:off x="1097280" y="155448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Yes, a specific date and time</a:t>
            </a:r>
            <a:endParaRPr b="0" i="0" sz="1300" u="none" cap="none" strike="noStrike">
              <a:solidFill>
                <a:schemeClr val="dk1"/>
              </a:solidFill>
              <a:latin typeface="Calibri"/>
              <a:ea typeface="Calibri"/>
              <a:cs typeface="Calibri"/>
              <a:sym typeface="Calibri"/>
            </a:endParaRPr>
          </a:p>
        </p:txBody>
      </p:sp>
      <p:sp>
        <p:nvSpPr>
          <p:cNvPr id="1759" name="Google Shape;1759;p83"/>
          <p:cNvSpPr txBox="1"/>
          <p:nvPr/>
        </p:nvSpPr>
        <p:spPr>
          <a:xfrm>
            <a:off x="594360" y="2084832"/>
            <a:ext cx="3726180" cy="155448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Reschedule the job to that date and time in the CP Dashboard</a:t>
            </a:r>
            <a:endParaRPr b="0" i="0" sz="1000" u="none" cap="none" strike="noStrike">
              <a:solidFill>
                <a:schemeClr val="dk1"/>
              </a:solidFill>
              <a:latin typeface="Calibri"/>
              <a:ea typeface="Calibri"/>
              <a:cs typeface="Calibri"/>
              <a:sym typeface="Calibri"/>
            </a:endParaRPr>
          </a:p>
        </p:txBody>
      </p:sp>
      <p:sp>
        <p:nvSpPr>
          <p:cNvPr id="1760" name="Google Shape;1760;p83"/>
          <p:cNvSpPr/>
          <p:nvPr/>
        </p:nvSpPr>
        <p:spPr>
          <a:xfrm>
            <a:off x="4640580" y="1371600"/>
            <a:ext cx="4091940" cy="2377440"/>
          </a:xfrm>
          <a:prstGeom prst="roundRect">
            <a:avLst>
              <a:gd fmla="val 307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1" name="Google Shape;1761;p83"/>
          <p:cNvSpPr/>
          <p:nvPr/>
        </p:nvSpPr>
        <p:spPr>
          <a:xfrm>
            <a:off x="4823460" y="15544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62" name="Google Shape;1762;p83"/>
          <p:cNvPicPr preferRelativeResize="0"/>
          <p:nvPr/>
        </p:nvPicPr>
        <p:blipFill rotWithShape="1">
          <a:blip r:embed="rId4">
            <a:alphaModFix/>
          </a:blip>
          <a:srcRect b="0" l="0" r="0" t="0"/>
          <a:stretch/>
        </p:blipFill>
        <p:spPr>
          <a:xfrm>
            <a:off x="4915632" y="1646652"/>
            <a:ext cx="199705" cy="199705"/>
          </a:xfrm>
          <a:prstGeom prst="rect">
            <a:avLst/>
          </a:prstGeom>
          <a:noFill/>
          <a:ln>
            <a:noFill/>
          </a:ln>
        </p:spPr>
      </p:pic>
      <p:sp>
        <p:nvSpPr>
          <p:cNvPr id="1763" name="Google Shape;1763;p83"/>
          <p:cNvSpPr txBox="1"/>
          <p:nvPr/>
        </p:nvSpPr>
        <p:spPr>
          <a:xfrm>
            <a:off x="5326380" y="155448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No specific date or time</a:t>
            </a:r>
            <a:endParaRPr b="0" i="0" sz="1300" u="none" cap="none" strike="noStrike">
              <a:solidFill>
                <a:schemeClr val="dk1"/>
              </a:solidFill>
              <a:latin typeface="Calibri"/>
              <a:ea typeface="Calibri"/>
              <a:cs typeface="Calibri"/>
              <a:sym typeface="Calibri"/>
            </a:endParaRPr>
          </a:p>
        </p:txBody>
      </p:sp>
      <p:sp>
        <p:nvSpPr>
          <p:cNvPr id="1764" name="Google Shape;1764;p83"/>
          <p:cNvSpPr txBox="1"/>
          <p:nvPr/>
        </p:nvSpPr>
        <p:spPr>
          <a:xfrm>
            <a:off x="4823460" y="2084832"/>
            <a:ext cx="3726180" cy="155448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Under 72 hrs since end: message both with reschedule instructions</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72+ hrs: waive the fee, cancel via C CRM &gt; Do with the reason for whoever asked to reschedule, and send the customer rebooking steps</a:t>
            </a:r>
            <a:endParaRPr b="0" i="0" sz="1000" u="none" cap="none" strike="noStrike">
              <a:solidFill>
                <a:schemeClr val="dk1"/>
              </a:solidFill>
              <a:latin typeface="Calibri"/>
              <a:ea typeface="Calibri"/>
              <a:cs typeface="Calibri"/>
              <a:sym typeface="Calibri"/>
            </a:endParaRPr>
          </a:p>
        </p:txBody>
      </p:sp>
      <p:sp>
        <p:nvSpPr>
          <p:cNvPr id="1765" name="Google Shape;1765;p8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0" name="Shape 1770"/>
        <p:cNvGrpSpPr/>
        <p:nvPr/>
      </p:nvGrpSpPr>
      <p:grpSpPr>
        <a:xfrm>
          <a:off x="0" y="0"/>
          <a:ext cx="0" cy="0"/>
          <a:chOff x="0" y="0"/>
          <a:chExt cx="0" cy="0"/>
        </a:xfrm>
      </p:grpSpPr>
      <p:sp>
        <p:nvSpPr>
          <p:cNvPr id="1771" name="Google Shape;1771;p8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CANCELLATION REASON CODES</a:t>
            </a:r>
            <a:endParaRPr b="0" i="0" sz="800" u="none" cap="none" strike="noStrike">
              <a:solidFill>
                <a:schemeClr val="dk1"/>
              </a:solidFill>
              <a:latin typeface="Calibri"/>
              <a:ea typeface="Calibri"/>
              <a:cs typeface="Calibri"/>
              <a:sym typeface="Calibri"/>
            </a:endParaRPr>
          </a:p>
        </p:txBody>
      </p:sp>
      <p:sp>
        <p:nvSpPr>
          <p:cNvPr id="1772" name="Google Shape;1772;p8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Customer reasons</a:t>
            </a:r>
            <a:endParaRPr b="0" i="0" sz="2400" u="none" cap="none" strike="noStrike">
              <a:solidFill>
                <a:schemeClr val="dk1"/>
              </a:solidFill>
              <a:latin typeface="Calibri"/>
              <a:ea typeface="Calibri"/>
              <a:cs typeface="Calibri"/>
              <a:sym typeface="Calibri"/>
            </a:endParaRPr>
          </a:p>
        </p:txBody>
      </p:sp>
      <p:sp>
        <p:nvSpPr>
          <p:cNvPr id="1773" name="Google Shape;1773;p8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Pick the reason that matches what your investigation found.</a:t>
            </a:r>
            <a:endParaRPr b="0" i="0" sz="1200" u="none" cap="none" strike="noStrike">
              <a:solidFill>
                <a:schemeClr val="dk1"/>
              </a:solidFill>
              <a:latin typeface="Calibri"/>
              <a:ea typeface="Calibri"/>
              <a:cs typeface="Calibri"/>
              <a:sym typeface="Calibri"/>
            </a:endParaRPr>
          </a:p>
        </p:txBody>
      </p:sp>
      <p:graphicFrame>
        <p:nvGraphicFramePr>
          <p:cNvPr id="1774" name="Google Shape;1774;p84"/>
          <p:cNvGraphicFramePr/>
          <p:nvPr/>
        </p:nvGraphicFramePr>
        <p:xfrm>
          <a:off x="411480" y="1325880"/>
          <a:ext cx="3000000" cy="3000000"/>
        </p:xfrm>
        <a:graphic>
          <a:graphicData uri="http://schemas.openxmlformats.org/drawingml/2006/table">
            <a:tbl>
              <a:tblPr>
                <a:noFill/>
                <a:tableStyleId>{0D802810-0E66-425F-9816-536649EA7155}</a:tableStyleId>
              </a:tblPr>
              <a:tblGrid>
                <a:gridCol w="1920250"/>
                <a:gridCol w="2240275"/>
                <a:gridCol w="1920250"/>
                <a:gridCol w="2240275"/>
              </a:tblGrid>
              <a:tr h="438900">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Reason code</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Use when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Reason code</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Use when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389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 credit card failed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Card is invalid, can't be charged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moved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Moved or moving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Failed pre-auth</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Still wants to cancel after the pre-auth is explained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schedule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 schedule conflict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 disputed charge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Disputed Homeaglow charges before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change frequency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Changing their recurring frequency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 price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Disagrees with the cost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Last job lockout / LMC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Inactive, last job was a lockout or LMC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 wants one time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Doesn't want recurring cleanings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double-booked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Two cleanings under 7 days apart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 doesn't want service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 reason, or unreachable with an invalid address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wants requested CP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Only wants their requested cleaner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775" name="Google Shape;1775;p8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0" name="Shape 1780"/>
        <p:cNvGrpSpPr/>
        <p:nvPr/>
      </p:nvGrpSpPr>
      <p:grpSpPr>
        <a:xfrm>
          <a:off x="0" y="0"/>
          <a:ext cx="0" cy="0"/>
          <a:chOff x="0" y="0"/>
          <a:chExt cx="0" cy="0"/>
        </a:xfrm>
      </p:grpSpPr>
      <p:sp>
        <p:nvSpPr>
          <p:cNvPr id="1781" name="Google Shape;1781;p8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CANCELLATION REASON CODES</a:t>
            </a:r>
            <a:endParaRPr b="0" i="0" sz="800" u="none" cap="none" strike="noStrike">
              <a:solidFill>
                <a:schemeClr val="dk1"/>
              </a:solidFill>
              <a:latin typeface="Calibri"/>
              <a:ea typeface="Calibri"/>
              <a:cs typeface="Calibri"/>
              <a:sym typeface="Calibri"/>
            </a:endParaRPr>
          </a:p>
        </p:txBody>
      </p:sp>
      <p:sp>
        <p:nvSpPr>
          <p:cNvPr id="1782" name="Google Shape;1782;p8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Cleaner and other reasons</a:t>
            </a:r>
            <a:endParaRPr b="0" i="0" sz="2400" u="none" cap="none" strike="noStrike">
              <a:solidFill>
                <a:schemeClr val="dk1"/>
              </a:solidFill>
              <a:latin typeface="Calibri"/>
              <a:ea typeface="Calibri"/>
              <a:cs typeface="Calibri"/>
              <a:sym typeface="Calibri"/>
            </a:endParaRPr>
          </a:p>
        </p:txBody>
      </p:sp>
      <p:graphicFrame>
        <p:nvGraphicFramePr>
          <p:cNvPr id="1783" name="Google Shape;1783;p85"/>
          <p:cNvGraphicFramePr/>
          <p:nvPr/>
        </p:nvGraphicFramePr>
        <p:xfrm>
          <a:off x="411480" y="1188720"/>
          <a:ext cx="3000000" cy="3000000"/>
        </p:xfrm>
        <a:graphic>
          <a:graphicData uri="http://schemas.openxmlformats.org/drawingml/2006/table">
            <a:tbl>
              <a:tblPr>
                <a:noFill/>
                <a:tableStyleId>{0D802810-0E66-425F-9816-536649EA7155}</a:tableStyleId>
              </a:tblPr>
              <a:tblGrid>
                <a:gridCol w="1920250"/>
                <a:gridCol w="2240275"/>
                <a:gridCol w="1920250"/>
                <a:gridCol w="2240275"/>
              </a:tblGrid>
              <a:tr h="457200">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Reason code</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Use when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Reason code</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Use when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572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CP Quality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Previous cleaner didn't meet expectations (PCQ)</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Escalated safety issue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Cancelled for a safety concern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CP no-show / reschedule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Cleaner tried to reschedule, rescheduled without consent, or no comms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Homeaglow UI</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 system or dashboard issue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CP cancellation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Cleaner cancelled, no reschedule attempt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Voucher invalid move-out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Move-out clean, extra hours refused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No CP Claimed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 cleaner claimed the job</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Natural Disaster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Cancelled due to a natural disaster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784" name="Google Shape;1784;p85"/>
          <p:cNvSpPr/>
          <p:nvPr/>
        </p:nvSpPr>
        <p:spPr>
          <a:xfrm>
            <a:off x="411480" y="42062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5" name="Google Shape;1785;p85"/>
          <p:cNvPicPr preferRelativeResize="0"/>
          <p:nvPr/>
        </p:nvPicPr>
        <p:blipFill rotWithShape="1">
          <a:blip r:embed="rId3">
            <a:alphaModFix/>
          </a:blip>
          <a:srcRect b="0" l="0" r="0" t="0"/>
          <a:stretch/>
        </p:blipFill>
        <p:spPr>
          <a:xfrm>
            <a:off x="566928" y="4315968"/>
            <a:ext cx="164592" cy="164592"/>
          </a:xfrm>
          <a:prstGeom prst="rect">
            <a:avLst/>
          </a:prstGeom>
          <a:noFill/>
          <a:ln>
            <a:noFill/>
          </a:ln>
        </p:spPr>
      </p:pic>
      <p:sp>
        <p:nvSpPr>
          <p:cNvPr id="1786" name="Google Shape;1786;p85"/>
          <p:cNvSpPr txBox="1"/>
          <p:nvPr/>
        </p:nvSpPr>
        <p:spPr>
          <a:xfrm>
            <a:off x="822960" y="43068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Remember:  </a:t>
            </a:r>
            <a:r>
              <a:rPr b="0" i="0" lang="en" sz="1000" u="none" cap="none" strike="noStrike">
                <a:solidFill>
                  <a:srgbClr val="1D1D1F"/>
                </a:solidFill>
                <a:latin typeface="Arial"/>
                <a:ea typeface="Arial"/>
                <a:cs typeface="Arial"/>
                <a:sym typeface="Arial"/>
              </a:rPr>
              <a:t>the reason should match who initiated the cancellation and why.</a:t>
            </a:r>
            <a:endParaRPr b="0" i="0" sz="1000" u="none" cap="none" strike="noStrike">
              <a:solidFill>
                <a:schemeClr val="dk1"/>
              </a:solidFill>
              <a:latin typeface="Calibri"/>
              <a:ea typeface="Calibri"/>
              <a:cs typeface="Calibri"/>
              <a:sym typeface="Calibri"/>
            </a:endParaRPr>
          </a:p>
        </p:txBody>
      </p:sp>
      <p:sp>
        <p:nvSpPr>
          <p:cNvPr id="1787" name="Google Shape;1787;p8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2" name="Shape 1792"/>
        <p:cNvGrpSpPr/>
        <p:nvPr/>
      </p:nvGrpSpPr>
      <p:grpSpPr>
        <a:xfrm>
          <a:off x="0" y="0"/>
          <a:ext cx="0" cy="0"/>
          <a:chOff x="0" y="0"/>
          <a:chExt cx="0" cy="0"/>
        </a:xfrm>
      </p:grpSpPr>
      <p:sp>
        <p:nvSpPr>
          <p:cNvPr id="1793" name="Google Shape;1793;p8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AG: PENDING INVOICE  ·  PRACTICE</a:t>
            </a:r>
            <a:endParaRPr b="0" i="0" sz="800" u="none" cap="none" strike="noStrike">
              <a:solidFill>
                <a:schemeClr val="dk1"/>
              </a:solidFill>
              <a:latin typeface="Calibri"/>
              <a:ea typeface="Calibri"/>
              <a:cs typeface="Calibri"/>
              <a:sym typeface="Calibri"/>
            </a:endParaRPr>
          </a:p>
        </p:txBody>
      </p:sp>
      <p:sp>
        <p:nvSpPr>
          <p:cNvPr id="1794" name="Google Shape;1794;p8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Let's practice!</a:t>
            </a:r>
            <a:endParaRPr b="0" i="0" sz="2400" u="none" cap="none" strike="noStrike">
              <a:solidFill>
                <a:schemeClr val="dk1"/>
              </a:solidFill>
              <a:latin typeface="Calibri"/>
              <a:ea typeface="Calibri"/>
              <a:cs typeface="Calibri"/>
              <a:sym typeface="Calibri"/>
            </a:endParaRPr>
          </a:p>
        </p:txBody>
      </p:sp>
      <p:sp>
        <p:nvSpPr>
          <p:cNvPr id="1795" name="Google Shape;1795;p8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How will you handle the following scenario?</a:t>
            </a:r>
            <a:endParaRPr b="0" i="0" sz="1200" u="none" cap="none" strike="noStrike">
              <a:solidFill>
                <a:schemeClr val="dk1"/>
              </a:solidFill>
              <a:latin typeface="Calibri"/>
              <a:ea typeface="Calibri"/>
              <a:cs typeface="Calibri"/>
              <a:sym typeface="Calibri"/>
            </a:endParaRPr>
          </a:p>
        </p:txBody>
      </p:sp>
      <p:sp>
        <p:nvSpPr>
          <p:cNvPr id="1796" name="Google Shape;1796;p86"/>
          <p:cNvSpPr/>
          <p:nvPr/>
        </p:nvSpPr>
        <p:spPr>
          <a:xfrm>
            <a:off x="411480" y="1298448"/>
            <a:ext cx="8321040" cy="457200"/>
          </a:xfrm>
          <a:prstGeom prst="roundRect">
            <a:avLst>
              <a:gd fmla="val 16000"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97" name="Google Shape;1797;p86"/>
          <p:cNvPicPr preferRelativeResize="0"/>
          <p:nvPr/>
        </p:nvPicPr>
        <p:blipFill rotWithShape="1">
          <a:blip r:embed="rId3">
            <a:alphaModFix/>
          </a:blip>
          <a:srcRect b="0" l="0" r="0" t="0"/>
          <a:stretch/>
        </p:blipFill>
        <p:spPr>
          <a:xfrm>
            <a:off x="594360" y="1426464"/>
            <a:ext cx="201168" cy="201168"/>
          </a:xfrm>
          <a:prstGeom prst="rect">
            <a:avLst/>
          </a:prstGeom>
          <a:noFill/>
          <a:ln>
            <a:noFill/>
          </a:ln>
        </p:spPr>
      </p:pic>
      <p:sp>
        <p:nvSpPr>
          <p:cNvPr id="1798" name="Google Shape;1798;p86"/>
          <p:cNvSpPr txBox="1"/>
          <p:nvPr/>
        </p:nvSpPr>
        <p:spPr>
          <a:xfrm>
            <a:off x="914400" y="1298448"/>
            <a:ext cx="76809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6410"/>
              </a:buClr>
              <a:buSzPts val="1100"/>
              <a:buFont typeface="Arial"/>
              <a:buNone/>
            </a:pPr>
            <a:r>
              <a:rPr b="1" i="0" lang="en" sz="1100" u="none" cap="none" strike="noStrike">
                <a:solidFill>
                  <a:srgbClr val="9A6410"/>
                </a:solidFill>
                <a:latin typeface="Arial"/>
                <a:ea typeface="Arial"/>
                <a:cs typeface="Arial"/>
                <a:sym typeface="Arial"/>
              </a:rPr>
              <a:t>Scenario:  </a:t>
            </a:r>
            <a:r>
              <a:rPr b="0" i="0" lang="en" sz="1100" u="none" cap="none" strike="noStrike">
                <a:solidFill>
                  <a:srgbClr val="1D1D1F"/>
                </a:solidFill>
                <a:latin typeface="Arial"/>
                <a:ea typeface="Arial"/>
                <a:cs typeface="Arial"/>
                <a:sym typeface="Arial"/>
              </a:rPr>
              <a:t>the job has already been in Pending Invoice for 75 hours when you opened the ticket. Here are the C/CP comms.</a:t>
            </a:r>
            <a:endParaRPr b="0" i="0" sz="1100" u="none" cap="none" strike="noStrike">
              <a:solidFill>
                <a:schemeClr val="dk1"/>
              </a:solidFill>
              <a:latin typeface="Calibri"/>
              <a:ea typeface="Calibri"/>
              <a:cs typeface="Calibri"/>
              <a:sym typeface="Calibri"/>
            </a:endParaRPr>
          </a:p>
        </p:txBody>
      </p:sp>
      <p:sp>
        <p:nvSpPr>
          <p:cNvPr id="1799" name="Google Shape;1799;p86"/>
          <p:cNvSpPr/>
          <p:nvPr/>
        </p:nvSpPr>
        <p:spPr>
          <a:xfrm>
            <a:off x="411480" y="1874520"/>
            <a:ext cx="8321040" cy="2240280"/>
          </a:xfrm>
          <a:prstGeom prst="roundRect">
            <a:avLst>
              <a:gd fmla="val 32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pi_comms.png" id="1800" name="Google Shape;1800;p86"/>
          <p:cNvPicPr preferRelativeResize="0"/>
          <p:nvPr/>
        </p:nvPicPr>
        <p:blipFill rotWithShape="1">
          <a:blip r:embed="rId4">
            <a:alphaModFix/>
          </a:blip>
          <a:srcRect b="0" l="0" r="0" t="0"/>
          <a:stretch/>
        </p:blipFill>
        <p:spPr>
          <a:xfrm>
            <a:off x="484632" y="2042856"/>
            <a:ext cx="8174736" cy="1903607"/>
          </a:xfrm>
          <a:prstGeom prst="rect">
            <a:avLst/>
          </a:prstGeom>
          <a:noFill/>
          <a:ln>
            <a:noFill/>
          </a:ln>
        </p:spPr>
      </p:pic>
      <p:sp>
        <p:nvSpPr>
          <p:cNvPr id="1801" name="Google Shape;1801;p86"/>
          <p:cNvSpPr txBox="1"/>
          <p:nvPr/>
        </p:nvSpPr>
        <p:spPr>
          <a:xfrm>
            <a:off x="411480" y="4224528"/>
            <a:ext cx="8321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1" lang="en" sz="900" u="none" cap="none" strike="noStrike">
                <a:solidFill>
                  <a:srgbClr val="6E6E73"/>
                </a:solidFill>
                <a:latin typeface="Arial"/>
                <a:ea typeface="Arial"/>
                <a:cs typeface="Arial"/>
                <a:sym typeface="Arial"/>
              </a:rPr>
              <a:t>Hint: check the action guide. Was the job completed, and who initiated the change?</a:t>
            </a:r>
            <a:endParaRPr b="0" i="0" sz="900" u="none" cap="none" strike="noStrike">
              <a:solidFill>
                <a:schemeClr val="dk1"/>
              </a:solidFill>
              <a:latin typeface="Calibri"/>
              <a:ea typeface="Calibri"/>
              <a:cs typeface="Calibri"/>
              <a:sym typeface="Calibri"/>
            </a:endParaRPr>
          </a:p>
        </p:txBody>
      </p:sp>
      <p:sp>
        <p:nvSpPr>
          <p:cNvPr id="1802" name="Google Shape;1802;p8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8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AG: PENDING INVOICE  ·  PRACTICE</a:t>
            </a:r>
            <a:endParaRPr b="0" i="0" sz="800" u="none" cap="none" strike="noStrike">
              <a:solidFill>
                <a:schemeClr val="dk1"/>
              </a:solidFill>
              <a:latin typeface="Calibri"/>
              <a:ea typeface="Calibri"/>
              <a:cs typeface="Calibri"/>
              <a:sym typeface="Calibri"/>
            </a:endParaRPr>
          </a:p>
        </p:txBody>
      </p:sp>
      <p:sp>
        <p:nvSpPr>
          <p:cNvPr id="1809" name="Google Shape;1809;p8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Practice writing</a:t>
            </a:r>
            <a:endParaRPr b="0" i="0" sz="2400" u="none" cap="none" strike="noStrike">
              <a:solidFill>
                <a:schemeClr val="dk1"/>
              </a:solidFill>
              <a:latin typeface="Calibri"/>
              <a:ea typeface="Calibri"/>
              <a:cs typeface="Calibri"/>
              <a:sym typeface="Calibri"/>
            </a:endParaRPr>
          </a:p>
        </p:txBody>
      </p:sp>
      <p:sp>
        <p:nvSpPr>
          <p:cNvPr id="1810" name="Google Shape;1810;p8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5-minute writing drill</a:t>
            </a:r>
            <a:endParaRPr b="0" i="0" sz="1200" u="none" cap="none" strike="noStrike">
              <a:solidFill>
                <a:schemeClr val="dk1"/>
              </a:solidFill>
              <a:latin typeface="Calibri"/>
              <a:ea typeface="Calibri"/>
              <a:cs typeface="Calibri"/>
              <a:sym typeface="Calibri"/>
            </a:endParaRPr>
          </a:p>
        </p:txBody>
      </p:sp>
      <p:sp>
        <p:nvSpPr>
          <p:cNvPr id="1811" name="Google Shape;1811;p87"/>
          <p:cNvSpPr/>
          <p:nvPr/>
        </p:nvSpPr>
        <p:spPr>
          <a:xfrm>
            <a:off x="411480" y="1280160"/>
            <a:ext cx="3840480" cy="3383280"/>
          </a:xfrm>
          <a:prstGeom prst="roundRect">
            <a:avLst>
              <a:gd fmla="val 216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p87"/>
          <p:cNvSpPr/>
          <p:nvPr/>
        </p:nvSpPr>
        <p:spPr>
          <a:xfrm>
            <a:off x="594360" y="1444752"/>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13" name="Google Shape;1813;p87"/>
          <p:cNvPicPr preferRelativeResize="0"/>
          <p:nvPr/>
        </p:nvPicPr>
        <p:blipFill rotWithShape="1">
          <a:blip r:embed="rId3">
            <a:alphaModFix/>
          </a:blip>
          <a:srcRect b="0" l="0" r="0" t="0"/>
          <a:stretch/>
        </p:blipFill>
        <p:spPr>
          <a:xfrm>
            <a:off x="686532" y="1536924"/>
            <a:ext cx="199705" cy="199705"/>
          </a:xfrm>
          <a:prstGeom prst="rect">
            <a:avLst/>
          </a:prstGeom>
          <a:noFill/>
          <a:ln>
            <a:noFill/>
          </a:ln>
        </p:spPr>
      </p:pic>
      <p:sp>
        <p:nvSpPr>
          <p:cNvPr id="1814" name="Google Shape;1814;p87"/>
          <p:cNvSpPr txBox="1"/>
          <p:nvPr/>
        </p:nvSpPr>
        <p:spPr>
          <a:xfrm>
            <a:off x="1097280" y="1444752"/>
            <a:ext cx="18288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400"/>
              <a:buFont typeface="Play"/>
              <a:buNone/>
            </a:pPr>
            <a:r>
              <a:rPr b="1" i="0" lang="en" sz="1400" u="none" cap="none" strike="noStrike">
                <a:solidFill>
                  <a:srgbClr val="1D1D1F"/>
                </a:solidFill>
                <a:latin typeface="Play"/>
                <a:ea typeface="Play"/>
                <a:cs typeface="Play"/>
                <a:sym typeface="Play"/>
              </a:rPr>
              <a:t>Scenario</a:t>
            </a:r>
            <a:endParaRPr b="0" i="0" sz="1400" u="none" cap="none" strike="noStrike">
              <a:solidFill>
                <a:schemeClr val="dk1"/>
              </a:solidFill>
              <a:latin typeface="Calibri"/>
              <a:ea typeface="Calibri"/>
              <a:cs typeface="Calibri"/>
              <a:sym typeface="Calibri"/>
            </a:endParaRPr>
          </a:p>
        </p:txBody>
      </p:sp>
      <p:sp>
        <p:nvSpPr>
          <p:cNvPr id="1815" name="Google Shape;1815;p87"/>
          <p:cNvSpPr/>
          <p:nvPr/>
        </p:nvSpPr>
        <p:spPr>
          <a:xfrm>
            <a:off x="3246120" y="1508760"/>
            <a:ext cx="822960" cy="274320"/>
          </a:xfrm>
          <a:prstGeom prst="roundRect">
            <a:avLst>
              <a:gd fmla="val 26667"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6" name="Google Shape;1816;p87"/>
          <p:cNvSpPr txBox="1"/>
          <p:nvPr/>
        </p:nvSpPr>
        <p:spPr>
          <a:xfrm>
            <a:off x="3246120" y="1508760"/>
            <a:ext cx="82296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00"/>
              <a:buFont typeface="Arial"/>
              <a:buNone/>
            </a:pPr>
            <a:r>
              <a:rPr b="1" i="0" lang="en" sz="900" u="none" cap="none" strike="noStrike">
                <a:solidFill>
                  <a:srgbClr val="9A6410"/>
                </a:solidFill>
                <a:latin typeface="Arial"/>
                <a:ea typeface="Arial"/>
                <a:cs typeface="Arial"/>
                <a:sym typeface="Arial"/>
              </a:rPr>
              <a:t>5 min</a:t>
            </a:r>
            <a:endParaRPr b="0" i="0" sz="900" u="none" cap="none" strike="noStrike">
              <a:solidFill>
                <a:schemeClr val="dk1"/>
              </a:solidFill>
              <a:latin typeface="Calibri"/>
              <a:ea typeface="Calibri"/>
              <a:cs typeface="Calibri"/>
              <a:sym typeface="Calibri"/>
            </a:endParaRPr>
          </a:p>
        </p:txBody>
      </p:sp>
      <p:sp>
        <p:nvSpPr>
          <p:cNvPr id="1817" name="Google Shape;1817;p87"/>
          <p:cNvSpPr txBox="1"/>
          <p:nvPr/>
        </p:nvSpPr>
        <p:spPr>
          <a:xfrm>
            <a:off x="594360" y="1965960"/>
            <a:ext cx="3520440" cy="2560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You're working on a ticket with a Pending Invoice job.</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evidence is insufficient to confirm whether the cleaning was completed: there was only a call exchange between the C and the CP.</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job has been in Pending Invoice for 22 hours.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1D1D1F"/>
              </a:buClr>
              <a:buSzPts val="1050"/>
              <a:buFont typeface="Arial"/>
              <a:buNone/>
            </a:pPr>
            <a:r>
              <a:rPr b="1" i="0" lang="en" sz="1050" u="none" cap="none" strike="noStrike">
                <a:solidFill>
                  <a:srgbClr val="1D1D1F"/>
                </a:solidFill>
                <a:latin typeface="Arial"/>
                <a:ea typeface="Arial"/>
                <a:cs typeface="Arial"/>
                <a:sym typeface="Arial"/>
              </a:rPr>
              <a:t>Write the comms to confirm with the C whether the job was completed.</a:t>
            </a:r>
            <a:endParaRPr b="0" i="0" sz="1050" u="none" cap="none" strike="noStrike">
              <a:solidFill>
                <a:schemeClr val="dk1"/>
              </a:solidFill>
              <a:latin typeface="Calibri"/>
              <a:ea typeface="Calibri"/>
              <a:cs typeface="Calibri"/>
              <a:sym typeface="Calibri"/>
            </a:endParaRPr>
          </a:p>
        </p:txBody>
      </p:sp>
      <p:sp>
        <p:nvSpPr>
          <p:cNvPr id="1818" name="Google Shape;1818;p87"/>
          <p:cNvSpPr/>
          <p:nvPr/>
        </p:nvSpPr>
        <p:spPr>
          <a:xfrm>
            <a:off x="4389120" y="1280160"/>
            <a:ext cx="4343400" cy="457200"/>
          </a:xfrm>
          <a:prstGeom prst="roundRect">
            <a:avLst>
              <a:gd fmla="val 20000"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19" name="Google Shape;1819;p87"/>
          <p:cNvPicPr preferRelativeResize="0"/>
          <p:nvPr/>
        </p:nvPicPr>
        <p:blipFill rotWithShape="1">
          <a:blip r:embed="rId4">
            <a:alphaModFix/>
          </a:blip>
          <a:srcRect b="0" l="0" r="0" t="0"/>
          <a:stretch/>
        </p:blipFill>
        <p:spPr>
          <a:xfrm>
            <a:off x="4572000" y="1399032"/>
            <a:ext cx="219456" cy="219456"/>
          </a:xfrm>
          <a:prstGeom prst="rect">
            <a:avLst/>
          </a:prstGeom>
          <a:noFill/>
          <a:ln>
            <a:noFill/>
          </a:ln>
        </p:spPr>
      </p:pic>
      <p:sp>
        <p:nvSpPr>
          <p:cNvPr id="1820" name="Google Shape;1820;p87"/>
          <p:cNvSpPr txBox="1"/>
          <p:nvPr/>
        </p:nvSpPr>
        <p:spPr>
          <a:xfrm>
            <a:off x="4892040" y="128016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Play"/>
              <a:buNone/>
            </a:pPr>
            <a:r>
              <a:rPr b="1" i="0" lang="en" sz="1300" u="none" cap="none" strike="noStrike">
                <a:solidFill>
                  <a:srgbClr val="FFFFFF"/>
                </a:solidFill>
                <a:latin typeface="Play"/>
                <a:ea typeface="Play"/>
                <a:cs typeface="Play"/>
                <a:sym typeface="Play"/>
              </a:rPr>
              <a:t>Show Sample Comms</a:t>
            </a:r>
            <a:endParaRPr b="0" i="0" sz="1300" u="none" cap="none" strike="noStrike">
              <a:solidFill>
                <a:schemeClr val="dk1"/>
              </a:solidFill>
              <a:latin typeface="Calibri"/>
              <a:ea typeface="Calibri"/>
              <a:cs typeface="Calibri"/>
              <a:sym typeface="Calibri"/>
            </a:endParaRPr>
          </a:p>
        </p:txBody>
      </p:sp>
      <p:sp>
        <p:nvSpPr>
          <p:cNvPr id="1821" name="Google Shape;1821;p87"/>
          <p:cNvSpPr/>
          <p:nvPr/>
        </p:nvSpPr>
        <p:spPr>
          <a:xfrm>
            <a:off x="4389120" y="1828800"/>
            <a:ext cx="4343400" cy="2834640"/>
          </a:xfrm>
          <a:prstGeom prst="roundRect">
            <a:avLst>
              <a:gd fmla="val 2581"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87"/>
          <p:cNvSpPr txBox="1"/>
          <p:nvPr/>
        </p:nvSpPr>
        <p:spPr>
          <a:xfrm>
            <a:off x="4572000" y="1938528"/>
            <a:ext cx="3977640" cy="2651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Hi &lt;C&gt;,</a:t>
            </a:r>
            <a:endParaRPr b="0" i="0" sz="1050" u="none" cap="none" strike="noStrike">
              <a:solidFill>
                <a:schemeClr val="dk1"/>
              </a:solidFill>
              <a:latin typeface="Calibri"/>
              <a:ea typeface="Calibri"/>
              <a:cs typeface="Calibri"/>
              <a:sym typeface="Calibri"/>
            </a:endParaRPr>
          </a:p>
          <a:p>
            <a:pPr indent="0" lvl="0" marL="0" marR="0" rtl="0" algn="l">
              <a:lnSpc>
                <a:spcPct val="115000"/>
              </a:lnSpc>
              <a:spcBef>
                <a:spcPts val="1200"/>
              </a:spcBef>
              <a:spcAft>
                <a:spcPts val="0"/>
              </a:spcAft>
              <a:buClr>
                <a:schemeClr val="dk1"/>
              </a:buClr>
              <a:buSzPts val="1100"/>
              <a:buFont typeface="Arial"/>
              <a:buNone/>
            </a:pPr>
            <a:r>
              <a:rPr b="0" i="0" lang="en" sz="1050" u="none" cap="none" strike="noStrike">
                <a:solidFill>
                  <a:srgbClr val="1D1D1F"/>
                </a:solidFill>
                <a:latin typeface="Arial"/>
                <a:ea typeface="Arial"/>
                <a:cs typeface="Arial"/>
                <a:sym typeface="Arial"/>
              </a:rPr>
              <a:t>Just checking in about your appointment on &lt;Date&gt; with &lt;CP Name&gt;. Did everything go as planned? If so, can you let me know how many hours the cleaning took?</a:t>
            </a:r>
            <a:endParaRPr b="0" i="0" sz="1050" u="none" cap="none" strike="noStrike">
              <a:solidFill>
                <a:srgbClr val="1D1D1F"/>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 sz="1050" u="none" cap="none" strike="noStrike">
                <a:solidFill>
                  <a:srgbClr val="1D1D1F"/>
                </a:solidFill>
                <a:latin typeface="Arial"/>
                <a:ea typeface="Arial"/>
                <a:cs typeface="Arial"/>
                <a:sym typeface="Arial"/>
              </a:rPr>
              <a:t>If it wasn’t completed, I’d be happy to help find you another cleaner through priority booking. Just let me know what date and time works best for you, and I’ll take care of it.</a:t>
            </a:r>
            <a:endParaRPr b="0" i="0" sz="1050" u="none" cap="none" strike="noStrike">
              <a:solidFill>
                <a:srgbClr val="1D1D1F"/>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 sz="1050" u="none" cap="none" strike="noStrike">
                <a:solidFill>
                  <a:srgbClr val="1D1D1F"/>
                </a:solidFill>
                <a:latin typeface="Arial"/>
                <a:ea typeface="Arial"/>
                <a:cs typeface="Arial"/>
                <a:sym typeface="Arial"/>
              </a:rPr>
              <a:t>Let me know if there’s anything else I can help you with!</a:t>
            </a:r>
            <a:endParaRPr b="0" i="0" sz="1050" u="none" cap="none" strike="noStrike">
              <a:solidFill>
                <a:srgbClr val="1D1D1F"/>
              </a:solidFill>
              <a:latin typeface="Arial"/>
              <a:ea typeface="Arial"/>
              <a:cs typeface="Arial"/>
              <a:sym typeface="Arial"/>
            </a:endParaRPr>
          </a:p>
          <a:p>
            <a:pPr indent="0" lvl="0" marL="0" marR="0" rtl="0" algn="l">
              <a:lnSpc>
                <a:spcPct val="100000"/>
              </a:lnSpc>
              <a:spcBef>
                <a:spcPts val="1200"/>
              </a:spcBef>
              <a:spcAft>
                <a:spcPts val="0"/>
              </a:spcAft>
              <a:buClr>
                <a:srgbClr val="0B7A6F"/>
              </a:buClr>
              <a:buSzPts val="1050"/>
              <a:buFont typeface="Arial"/>
              <a:buNone/>
            </a:pPr>
            <a:r>
              <a:rPr b="1" i="0" lang="en" sz="1050" u="none" cap="none" strike="noStrike">
                <a:solidFill>
                  <a:srgbClr val="0B7A6F"/>
                </a:solidFill>
                <a:latin typeface="Arial"/>
                <a:ea typeface="Arial"/>
                <a:cs typeface="Arial"/>
                <a:sym typeface="Arial"/>
              </a:rPr>
              <a:t>-CS, Homeaglow HQ</a:t>
            </a:r>
            <a:endParaRPr b="0" i="0" sz="1050" u="none" cap="none" strike="noStrike">
              <a:solidFill>
                <a:schemeClr val="dk1"/>
              </a:solidFill>
              <a:latin typeface="Calibri"/>
              <a:ea typeface="Calibri"/>
              <a:cs typeface="Calibri"/>
              <a:sym typeface="Calibri"/>
            </a:endParaRPr>
          </a:p>
        </p:txBody>
      </p:sp>
      <p:sp>
        <p:nvSpPr>
          <p:cNvPr id="1823" name="Google Shape;1823;p8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2"/>
                                        </p:tgtEl>
                                        <p:attrNameLst>
                                          <p:attrName>style.visibility</p:attrName>
                                        </p:attrNameLst>
                                      </p:cBhvr>
                                      <p:to>
                                        <p:strVal val="visible"/>
                                      </p:to>
                                    </p:set>
                                    <p:animEffect filter="fade" transition="in">
                                      <p:cBhvr>
                                        <p:cTn dur="600"/>
                                        <p:tgtEl>
                                          <p:spTgt spid="18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sp>
        <p:nvSpPr>
          <p:cNvPr id="1829" name="Google Shape;1829;p88"/>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830" name="Google Shape;1830;p88"/>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831" name="Google Shape;1831;p88"/>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832" name="Google Shape;1832;p88"/>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3" name="Google Shape;1833;p88"/>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9.png" id="1834" name="Google Shape;1834;p88"/>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835" name="Google Shape;1835;p88"/>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6" name="Google Shape;1836;p88"/>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7" name="Google Shape;1837;p88"/>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8" name="Google Shape;1838;p88"/>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9" name="Google Shape;1839;p88"/>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0" name="Google Shape;1840;p88"/>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1" name="Google Shape;1841;p88"/>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89"/>
          <p:cNvSpPr txBox="1"/>
          <p:nvPr/>
        </p:nvSpPr>
        <p:spPr>
          <a:xfrm>
            <a:off x="566928" y="1645920"/>
            <a:ext cx="438912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Play"/>
              <a:buNone/>
            </a:pPr>
            <a:r>
              <a:rPr b="1" i="0" lang="en" sz="3000" u="none" cap="none" strike="noStrike">
                <a:solidFill>
                  <a:srgbClr val="1D1D1F"/>
                </a:solidFill>
                <a:latin typeface="Play"/>
                <a:ea typeface="Play"/>
                <a:cs typeface="Play"/>
                <a:sym typeface="Play"/>
              </a:rPr>
              <a:t>Knowledge Check</a:t>
            </a:r>
            <a:endParaRPr b="0" i="0" sz="3000" u="none" cap="none" strike="noStrike">
              <a:solidFill>
                <a:schemeClr val="dk1"/>
              </a:solidFill>
              <a:latin typeface="Calibri"/>
              <a:ea typeface="Calibri"/>
              <a:cs typeface="Calibri"/>
              <a:sym typeface="Calibri"/>
            </a:endParaRPr>
          </a:p>
        </p:txBody>
      </p:sp>
      <p:sp>
        <p:nvSpPr>
          <p:cNvPr id="1848" name="Google Shape;1848;p89"/>
          <p:cNvSpPr txBox="1"/>
          <p:nvPr/>
        </p:nvSpPr>
        <p:spPr>
          <a:xfrm>
            <a:off x="566928" y="2377440"/>
            <a:ext cx="420624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Time to check what you've learned. Your trainer will explain the format.</a:t>
            </a:r>
            <a:endParaRPr b="0" i="0" sz="1200" u="none" cap="none" strike="noStrike">
              <a:solidFill>
                <a:schemeClr val="dk1"/>
              </a:solidFill>
              <a:latin typeface="Calibri"/>
              <a:ea typeface="Calibri"/>
              <a:cs typeface="Calibri"/>
              <a:sym typeface="Calibri"/>
            </a:endParaRPr>
          </a:p>
        </p:txBody>
      </p:sp>
      <p:sp>
        <p:nvSpPr>
          <p:cNvPr id="1849" name="Google Shape;1849;p89"/>
          <p:cNvSpPr/>
          <p:nvPr/>
        </p:nvSpPr>
        <p:spPr>
          <a:xfrm>
            <a:off x="566928" y="3108960"/>
            <a:ext cx="4206240" cy="502920"/>
          </a:xfrm>
          <a:prstGeom prst="roundRect">
            <a:avLst>
              <a:gd fmla="val 14545"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50" name="Google Shape;1850;p89"/>
          <p:cNvPicPr preferRelativeResize="0"/>
          <p:nvPr/>
        </p:nvPicPr>
        <p:blipFill rotWithShape="1">
          <a:blip r:embed="rId3">
            <a:alphaModFix/>
          </a:blip>
          <a:srcRect b="0" l="0" r="0" t="0"/>
          <a:stretch/>
        </p:blipFill>
        <p:spPr>
          <a:xfrm>
            <a:off x="731520" y="3273552"/>
            <a:ext cx="182880" cy="182880"/>
          </a:xfrm>
          <a:prstGeom prst="rect">
            <a:avLst/>
          </a:prstGeom>
          <a:noFill/>
          <a:ln>
            <a:noFill/>
          </a:ln>
        </p:spPr>
      </p:pic>
      <p:sp>
        <p:nvSpPr>
          <p:cNvPr id="1851" name="Google Shape;1851;p89"/>
          <p:cNvSpPr txBox="1"/>
          <p:nvPr/>
        </p:nvSpPr>
        <p:spPr>
          <a:xfrm>
            <a:off x="1005840" y="3200400"/>
            <a:ext cx="3657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Trainer note:  </a:t>
            </a:r>
            <a:r>
              <a:rPr b="0" i="0" lang="en" sz="1000" u="none" cap="none" strike="noStrike">
                <a:solidFill>
                  <a:srgbClr val="1D1D1F"/>
                </a:solidFill>
                <a:latin typeface="Arial"/>
                <a:ea typeface="Arial"/>
                <a:cs typeface="Arial"/>
                <a:sym typeface="Arial"/>
              </a:rPr>
              <a:t>format and questions set by the trainer.</a:t>
            </a:r>
            <a:endParaRPr b="0" i="0" sz="1000" u="none" cap="none" strike="noStrike">
              <a:solidFill>
                <a:schemeClr val="dk1"/>
              </a:solidFill>
              <a:latin typeface="Calibri"/>
              <a:ea typeface="Calibri"/>
              <a:cs typeface="Calibri"/>
              <a:sym typeface="Calibri"/>
            </a:endParaRPr>
          </a:p>
        </p:txBody>
      </p:sp>
      <p:sp>
        <p:nvSpPr>
          <p:cNvPr id="1852" name="Google Shape;1852;p89"/>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8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2/ill10.png" id="1854" name="Google Shape;1854;p89"/>
          <p:cNvPicPr preferRelativeResize="0"/>
          <p:nvPr/>
        </p:nvPicPr>
        <p:blipFill rotWithShape="1">
          <a:blip r:embed="rId4">
            <a:alphaModFix/>
          </a:blip>
          <a:srcRect b="0" l="0" r="0" t="0"/>
          <a:stretch/>
        </p:blipFill>
        <p:spPr>
          <a:xfrm>
            <a:off x="5541264" y="1776984"/>
            <a:ext cx="2926080" cy="1584960"/>
          </a:xfrm>
          <a:prstGeom prst="rect">
            <a:avLst/>
          </a:prstGeom>
          <a:noFill/>
          <a:ln>
            <a:noFill/>
          </a:ln>
        </p:spPr>
      </p:pic>
      <p:sp>
        <p:nvSpPr>
          <p:cNvPr id="1855" name="Google Shape;1855;p89"/>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6" name="Google Shape;1856;p89"/>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7" name="Google Shape;1857;p89"/>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89"/>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9" name="Google Shape;1859;p89"/>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0" name="Google Shape;1860;p89"/>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1" name="Google Shape;1861;p8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