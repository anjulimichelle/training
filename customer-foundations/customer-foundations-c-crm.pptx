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trainees. This module covers six topics: Zero Tolerance Policy, the Customer Journey, the Legacy C CRM, the C Dashboard, the New C CRM, and a hands-on CRM activity.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agenda. Point out that topics 3 to 5 are live demos: the slides only set up what trainees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ZTP is different from the rest of the Knowledge Library. Most articles are about judgment; this one is about hard lines that create legal, security, compliance or trust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KB articles teach judgment and best practice. ZTP is the handful of things that, done wrong, are not just a bad customer experience: they create legal, security or compliance exposure for Homeaglow. Knowing it protects the agent's QA score and standing, and keeps every interaction safe and trustworthy. Rule of thumb: if you are ever unsure whether an action crosses a line, stop and ask a Team Lead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list from the KB, by level. L3: Security violation; Capturing or sharing work screens (no QA score). L2: Not removing card info sent to CS; Ticket avoidance; Incorrect handling of OCC-ARL accounts; Non-compliance with legal wording; Sending internal notes as email/SMS; Disclosing internal information; Improper use of AI tools; Not unsubscribing customers who opt out; Mishandling Washington State cancellations. L1: Rude/argumentative comms; Not following the bug reporting process; Editing Django inappropriately; Handling a Thumbtack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conditions: 3 ZTPs of any level means termination. An L1 followed by an L2 means a 1-week suspension. Previously suspended for an L1 and then commits an L2 means termination. Multiple ZTPs of different levels in the same week: the penalty follows the higher level. L1 clearing period is 6 months. For Incorrect Handling of OCC accounts, the QA score is set at a minimum of -$25, not stacked on the LTV computation; if the standard markdown is higher, that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violations: sharing sensitive info or system access incorrectly, e.g. an auto-login link to the wrong person, sharing credentials, mishandling documents with personal data (payment info, IDs, tax forms). Always double-check recipients. Card info: if a C or CP sends card details, a Team Lead must remove it from the CRM immediately (PCI). Never ask for card info or photos, never put card details in internal notes; direct the customer to the CC update page on their dashboard. Internal notes are for risk assessments, offers/action plans and follow-ups; never send them as email or SMS. Never disclose: CP DTC flags, CP Swap details, CP Tiering levels, known fraud/safety flags, or features not yet released on NCW. Test: if it is not in the Help Center or public comms, it is internal.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Legal Wording Compliance. CPs are Independent Contractors. Referring to Homeaglow itself is fine: "your Homeaglow cleaning" and "your cleaning on Homeaglow" are both OK. Ask trainees to rewrite a few sentences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Anything on a work screen can include names, addresses, payment details, internal notes, flags, other tabs or pop-up notifications. Once a capture exists outside our systems we cannot delete it, track it or undo it. "I blurred it" or "nothing was on screen" does not count: the risk is the capture itself. It is a ZTP when an agent takes a photo/video of a work screen with any device, takes a screenshot or screen recording, or shares any of these anywhere, including personal chats, social media or coworker group chats.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OCC-ARL: some states have Auto-Renewal Laws requiring immediate cancellation on request with no extra steps or delays. Failing to cancel an FC when required is the ZTP; offering retention when the correct call was not to cancel is a markdown, not a ZTP. When in doubt, check the OCC Non-Retention Process or a Team Lead. Unsubscribe: if a customer says they do not want contact or replies STOP/UNSUBSCRIBE, unsubscribe them, confirm it, and handle other pending items as BAU. Washington State: WA customers are exempt from MCT and the ETF (a standing legal exemption). Process the cancellation immediately: no ETF, no citing MCT, no retention offers first, no presenting ETF/MCT as if they apply. Tone: avoid condescending ("You didn't understand...") and passive-aggressive ("As I've told you before...") language. Educate, personalize, focus on resolution; don't argue, use generic statements, or over-empathize.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Ticket avoidance: deliberately skipping a ticket that needs action, e.g. using CRM/NavBar filters to sidestep hard tickets, clearing without resolving, leaving reassigned tickets unattended, skipping charge disputes. Clearing a "thanks / got it" ticket is NOT avoidance. Unsure? Ask in the designated Slack channels. Bug reporting: file a report via the Bug Validation Form when an issue can't be fixed by a dashboard/CRM update; check the Confirmed Bugs Tracker first; don't add sample or unrelated comments on escalated Trello cards. Django: bypasses system codes, so only specific updates are CS-editable (see KB list); escalate review edits in NCW and job history edits for LMCs/LOs to SMEs/Managers. When in doubt, don't edit, escalate. Thumbtack: identified by a system flag in New CRM, an internal note, or the customer saying so. Transfer to the Thumbtack queue, notify an available Aftersales agent, and stop working the ticket. Transferring without reaching anyone is still compliant.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ticket sits somewhere on this journey. Knowing where an issue sits lets you anticipate needs and pick the right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Understanding the full shape lets you anticipate what a customer needs before they fully explain it, catch friction before it becomes a complaint, and know where an issue sits. A booking problem needs a very different response from a post-cleaning service issue, even when the tone sounds the same. This page is the map; playbooks like PCQ, Overcharged Hours and Retention are what you use once you know where you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find us through our website (homeaglow.com) or a sister brand (Dazzling Cleaning, Cozy Maid, Bubbly Cleaning, Dapper Maids); search engines, the most common source; TV commercials; friends and family referrals; and social media (Facebook, YouTube, TikTok, etc).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Legacy DHJ: the customer buys a discounted voucher from &lt;brand&gt;.com/deal. First Cleaning Free (FCF): signs up for a membership directly, pays $19 upfront (more for a longer first cleaning), membership starts immediately. From August 3, 2026 all new sign-ups are FCF only, so DHJ is a closed, shrinking group. Non-member: third-party merchant vouchers (Groupon, Living Social, Gilt City) never converted; Homeaglow Gift Cards (never trigger FC); one-time cleanings sold by Inside Sales (paid upfront, full price); trial cleanings sold by Inside Sales (regular price, 30 days to cancel the membership without obligation). Non-members are billed differently and have nothing to "cancel"; the question is usually just whether a specific charge should be refunded.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Booking: customers with a voucher or membership are prompted to opt into a recurring schedule and add alternate start times; both increase the odds of a successful match. Customers without one are not required to. Managing: through their dashboard, up to 6 hours before the start time, a customer can reschedule, cancel, or match with a different cleaner.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issues after the cleaning: Poor Cleaning Quality (didn't meet expectations), False Invoice (charged when no cleaning happened), Overcharged Hours (charged for more time than the CP worked), Theft/Damage (missing or damaged item). Each has its own playbook under Service Issues; this page only shows where they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currently have two CRM systems. We start with the Legacy C CRM because many actions still live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CRM is the central hub for managing customer and cleaner accounts, jobs and payments. It is also where we communicate with users, manage tickets, see our daily targets, and access the information that helps us handle users' concerns. Note: we currently have two CRM systems. We introduce the Legacy CRM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Legacy C CRM now. Do not demo from the slides. Suggested flow: open a customer account, show account details and flags, job history and charges, the message/ticket thread, and where daily targets show. Adjust to the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 Dashboard is the customer-facing side. Seeing it helps agents guide customers and understand what they already tried.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dashboard is where customers manage their account and bookings: book a cleaning, see upcoming and past cleanings and alerts (e.g. a cancelled cleaning), and, up to 6 hours before start, reschedule, cancel or match with a different cleaner. Knowing what they see lets agents point customers to self-serve steps and understand what they have already tried.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C Dashboard now. Suggested flow: home view and alerts, booking a cleaning, managing an upcoming cleaning (reschedule, cancel, match), past cleanings, and account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C CRM is where agents respond to customers. Some actions are still only available in the Legacy CRM.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we respond to customers through the New CRM. At this time, there are still some actions that can only be done in the Legacy CRM, so agents use both. The trainer will point out which actions still require Legacy during the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New C CRM now. Suggested flow: ticket header (status, assignee, category, SLA), customer information panel, related jobs, the message thread and internal notes, composing a reply with macros. Call out which actions still require the Legacy CRM.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decides the activity format, scenarios, and level of difficulty based on trainee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NOTE: Trainer decides the activity format, scenarios, and level of difficulty based on trainee readiness. Fill in the three boxes on this slide before the session (or live with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for questions. Recap: ZTP hard lines, the five-step customer journey, and the three systems: Legacy C CRM, C Dashboard and New C CRM.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slideLayout" Target="../slideLayouts/slideLayout2.xml"/><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2.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2.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2.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2.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2.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2.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2.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2.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2.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Customer Foundations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the C CRM</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The rules we never bend, the path every customer takes, and the tools we use to help them.</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FBEFE4"/>
          </a:solidFill>
          <a:ln w="9525">
            <a:solidFill>
              <a:srgbClr val="FBEFE4"/>
            </a:solidFill>
            <a:prstDash val="solid"/>
          </a:ln>
        </p:spPr>
      </p:sp>
      <p:sp>
        <p:nvSpPr>
          <p:cNvPr id="7" name="Shape 5"/>
          <p:cNvSpPr/>
          <p:nvPr/>
        </p:nvSpPr>
        <p:spPr>
          <a:xfrm>
            <a:off x="5678424" y="1243584"/>
            <a:ext cx="2651760" cy="2651760"/>
          </a:xfrm>
          <a:prstGeom prst="ellipse">
            <a:avLst/>
          </a:prstGeom>
          <a:solidFill>
            <a:srgbClr val="FFFFFF"/>
          </a:solidFill>
          <a:ln w="12700">
            <a:solidFill>
              <a:srgbClr val="FFFFFF"/>
            </a:solidFill>
            <a:prstDash val="solid"/>
          </a:ln>
        </p:spPr>
      </p:sp>
      <p:pic>
        <p:nvPicPr>
          <p:cNvPr id="8" name="Image 0" descr="preencoded.png">    </p:cNvPr>
          <p:cNvPicPr>
            <a:picLocks noChangeAspect="1"/>
          </p:cNvPicPr>
          <p:nvPr/>
        </p:nvPicPr>
        <p:blipFill>
          <a:blip r:embed="rId1"/>
          <a:stretch>
            <a:fillRect/>
          </a:stretch>
        </p:blipFill>
        <p:spPr>
          <a:xfrm>
            <a:off x="6455664" y="2020824"/>
            <a:ext cx="1097280" cy="10972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Six topics. The last four happen mostly in the live systems.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640080"/>
                <a:gridCol w="2743200"/>
                <a:gridCol w="4937760"/>
              </a:tblGrid>
              <a:tr h="384048">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a:t>
                      </a:r>
                      <a:endParaRPr lang="en-US" sz="10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Topic</a:t>
                      </a:r>
                      <a:endParaRPr lang="en-US" sz="10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You will learn</a:t>
                      </a:r>
                      <a:endParaRPr lang="en-US" sz="10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01</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Zero Tolerance Policy</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non-negotiables and their penalties</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02</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Customer Journey</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five steps every customer moves through</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03</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Legacy C CRM</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Our central hub, and a live walkthrough</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04</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 Dashboard</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What the customer sees and manages</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05</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New C CRM</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Where we respond to customers</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06</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 CRM Activity</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Hands-on practice, set by your trainer</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B42318"/>
                </a:solidFill>
                <a:latin typeface="SF Pro Display" pitchFamily="34" charset="0"/>
                <a:ea typeface="SF Pro Display" pitchFamily="34" charset="-122"/>
                <a:cs typeface="SF Pro Display" pitchFamily="34" charset="-120"/>
              </a:rPr>
              <a:t>TOPIC 01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Zero Tolerance Policy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non-negotiables: behaviors that are never acceptable with customers or cleaners.</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FDECEA"/>
          </a:solidFill>
          <a:ln w="12700">
            <a:solidFill>
              <a:srgbClr val="FDECEA"/>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ZTP is and why it exists</a:t>
            </a:r>
            <a:endParaRPr lang="en-US" sz="1050" dirty="0"/>
          </a:p>
        </p:txBody>
      </p:sp>
      <p:sp>
        <p:nvSpPr>
          <p:cNvPr id="9" name="Shape 6"/>
          <p:cNvSpPr/>
          <p:nvPr/>
        </p:nvSpPr>
        <p:spPr>
          <a:xfrm>
            <a:off x="566928" y="3538728"/>
            <a:ext cx="155448" cy="155448"/>
          </a:xfrm>
          <a:prstGeom prst="ellipse">
            <a:avLst/>
          </a:prstGeom>
          <a:solidFill>
            <a:srgbClr val="FDECEA"/>
          </a:solidFill>
          <a:ln w="12700">
            <a:solidFill>
              <a:srgbClr val="FDECEA"/>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Violations by level</a:t>
            </a:r>
            <a:endParaRPr lang="en-US" sz="1050" dirty="0"/>
          </a:p>
        </p:txBody>
      </p:sp>
      <p:sp>
        <p:nvSpPr>
          <p:cNvPr id="12" name="Shape 8"/>
          <p:cNvSpPr/>
          <p:nvPr/>
        </p:nvSpPr>
        <p:spPr>
          <a:xfrm>
            <a:off x="566928" y="3813048"/>
            <a:ext cx="155448" cy="155448"/>
          </a:xfrm>
          <a:prstGeom prst="ellipse">
            <a:avLst/>
          </a:prstGeom>
          <a:solidFill>
            <a:srgbClr val="FDECEA"/>
          </a:solidFill>
          <a:ln w="12700">
            <a:solidFill>
              <a:srgbClr val="FDECEA"/>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Penalties and other conditions</a:t>
            </a:r>
            <a:endParaRPr lang="en-US" sz="1050" dirty="0"/>
          </a:p>
        </p:txBody>
      </p:sp>
      <p:sp>
        <p:nvSpPr>
          <p:cNvPr id="15" name="Shape 10"/>
          <p:cNvSpPr/>
          <p:nvPr/>
        </p:nvSpPr>
        <p:spPr>
          <a:xfrm>
            <a:off x="566928" y="4087368"/>
            <a:ext cx="155448" cy="155448"/>
          </a:xfrm>
          <a:prstGeom prst="ellipse">
            <a:avLst/>
          </a:prstGeom>
          <a:solidFill>
            <a:srgbClr val="FDECEA"/>
          </a:solidFill>
          <a:ln w="12700">
            <a:solidFill>
              <a:srgbClr val="FDECEA"/>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rules, area by area</a:t>
            </a:r>
            <a:endParaRPr lang="en-US" sz="1050" dirty="0"/>
          </a:p>
        </p:txBody>
      </p:sp>
      <p:sp>
        <p:nvSpPr>
          <p:cNvPr id="18" name="Shape 12"/>
          <p:cNvSpPr/>
          <p:nvPr/>
        </p:nvSpPr>
        <p:spPr>
          <a:xfrm>
            <a:off x="5312664" y="621792"/>
            <a:ext cx="3383280" cy="3895344"/>
          </a:xfrm>
          <a:prstGeom prst="roundRect">
            <a:avLst>
              <a:gd name="adj" fmla="val 2162"/>
            </a:avLst>
          </a:prstGeom>
          <a:solidFill>
            <a:srgbClr val="FDECEA"/>
          </a:solidFill>
          <a:ln w="9525">
            <a:solidFill>
              <a:srgbClr val="FDECEA"/>
            </a:solidFill>
            <a:prstDash val="solid"/>
          </a:ln>
        </p:spPr>
      </p:sp>
      <p:sp>
        <p:nvSpPr>
          <p:cNvPr id="19" name="Shape 13"/>
          <p:cNvSpPr/>
          <p:nvPr/>
        </p:nvSpPr>
        <p:spPr>
          <a:xfrm>
            <a:off x="5724144" y="1097280"/>
            <a:ext cx="2560320" cy="2560320"/>
          </a:xfrm>
          <a:prstGeom prst="ellipse">
            <a:avLst/>
          </a:prstGeom>
          <a:solidFill>
            <a:srgbClr val="FFFFFF"/>
          </a:solidFill>
          <a:ln w="12700">
            <a:solidFill>
              <a:srgbClr val="FFFFFF"/>
            </a:solidFill>
            <a:prstDash val="solid"/>
          </a:ln>
        </p:spPr>
      </p:sp>
      <p:pic>
        <p:nvPicPr>
          <p:cNvPr id="20" name="Image 4" descr="preencoded.png">    </p:cNvPr>
          <p:cNvPicPr>
            <a:picLocks noChangeAspect="1"/>
          </p:cNvPicPr>
          <p:nvPr/>
        </p:nvPicPr>
        <p:blipFill>
          <a:blip r:embed="rId5"/>
          <a:stretch>
            <a:fillRect/>
          </a:stretch>
        </p:blipFill>
        <p:spPr>
          <a:xfrm>
            <a:off x="6455664" y="1828800"/>
            <a:ext cx="1097280" cy="109728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B42318"/>
          </a:solidFill>
          <a:ln w="12700">
            <a:solidFill>
              <a:srgbClr val="B42318"/>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B42318"/>
          </a:solidFill>
          <a:ln w="12700">
            <a:solidFill>
              <a:srgbClr val="B42318"/>
            </a:solidFill>
            <a:prstDash val="solid"/>
          </a:ln>
        </p:spPr>
      </p:sp>
      <p:sp>
        <p:nvSpPr>
          <p:cNvPr id="25" name="Shape 18"/>
          <p:cNvSpPr/>
          <p:nvPr/>
        </p:nvSpPr>
        <p:spPr>
          <a:xfrm>
            <a:off x="8193024" y="4041648"/>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65092"/>
            <a:ext cx="82296" cy="82296"/>
          </a:xfrm>
          <a:prstGeom prst="ellipse">
            <a:avLst/>
          </a:prstGeom>
          <a:solidFill>
            <a:srgbClr val="B42318"/>
          </a:solidFill>
          <a:ln w="12700">
            <a:solidFill>
              <a:srgbClr val="B42318"/>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ZERO TOLERANCE POLICY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judgment calls. Hard lines.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Violations carry consequences regardless of intent.</a:t>
            </a:r>
            <a:endParaRPr lang="en-US" sz="1200" dirty="0"/>
          </a:p>
        </p:txBody>
      </p:sp>
      <p:sp>
        <p:nvSpPr>
          <p:cNvPr id="6" name="Shape 3"/>
          <p:cNvSpPr/>
          <p:nvPr/>
        </p:nvSpPr>
        <p:spPr>
          <a:xfrm>
            <a:off x="411480" y="146304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627632"/>
            <a:ext cx="329184" cy="329184"/>
          </a:xfrm>
          <a:prstGeom prst="ellipse">
            <a:avLst/>
          </a:prstGeom>
          <a:solidFill>
            <a:srgbClr val="FDECEA"/>
          </a:solidFill>
          <a:ln w="12700">
            <a:solidFill>
              <a:srgbClr val="FDECEA"/>
            </a:solidFill>
            <a:prstDash val="solid"/>
          </a:ln>
        </p:spPr>
      </p:sp>
      <p:pic>
        <p:nvPicPr>
          <p:cNvPr id="8" name="Image 0" descr="preencoded.png">    </p:cNvPr>
          <p:cNvPicPr>
            <a:picLocks noChangeAspect="1"/>
          </p:cNvPicPr>
          <p:nvPr/>
        </p:nvPicPr>
        <p:blipFill>
          <a:blip r:embed="rId1"/>
          <a:stretch>
            <a:fillRect/>
          </a:stretch>
        </p:blipFill>
        <p:spPr>
          <a:xfrm>
            <a:off x="655076" y="1706636"/>
            <a:ext cx="171176" cy="171176"/>
          </a:xfrm>
          <a:prstGeom prst="rect">
            <a:avLst/>
          </a:prstGeom>
        </p:spPr>
      </p:pic>
      <p:sp>
        <p:nvSpPr>
          <p:cNvPr id="9" name="Text 5"/>
          <p:cNvSpPr txBox="1"/>
          <p:nvPr/>
        </p:nvSpPr>
        <p:spPr>
          <a:xfrm>
            <a:off x="576072" y="206654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Legal</a:t>
            </a:r>
            <a:endParaRPr lang="en-US" sz="1200" dirty="0"/>
          </a:p>
        </p:txBody>
      </p:sp>
      <p:sp>
        <p:nvSpPr>
          <p:cNvPr id="10" name="Text 6"/>
          <p:cNvSpPr txBox="1"/>
          <p:nvPr/>
        </p:nvSpPr>
        <p:spPr>
          <a:xfrm>
            <a:off x="576072" y="235915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Wording, auto-renewal and state laws we must follow.</a:t>
            </a:r>
            <a:endParaRPr lang="en-US" sz="950" dirty="0"/>
          </a:p>
        </p:txBody>
      </p:sp>
      <p:sp>
        <p:nvSpPr>
          <p:cNvPr id="11" name="Shape 7"/>
          <p:cNvSpPr/>
          <p:nvPr/>
        </p:nvSpPr>
        <p:spPr>
          <a:xfrm>
            <a:off x="3230880" y="146304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627632"/>
            <a:ext cx="329184" cy="329184"/>
          </a:xfrm>
          <a:prstGeom prst="ellipse">
            <a:avLst/>
          </a:prstGeom>
          <a:solidFill>
            <a:srgbClr val="FDECEA"/>
          </a:solidFill>
          <a:ln w="12700">
            <a:solidFill>
              <a:srgbClr val="FDECEA"/>
            </a:solidFill>
            <a:prstDash val="solid"/>
          </a:ln>
        </p:spPr>
      </p:sp>
      <p:pic>
        <p:nvPicPr>
          <p:cNvPr id="13" name="Image 1" descr="preencoded.png">    </p:cNvPr>
          <p:cNvPicPr>
            <a:picLocks noChangeAspect="1"/>
          </p:cNvPicPr>
          <p:nvPr/>
        </p:nvPicPr>
        <p:blipFill>
          <a:blip r:embed="rId2"/>
          <a:stretch>
            <a:fillRect/>
          </a:stretch>
        </p:blipFill>
        <p:spPr>
          <a:xfrm>
            <a:off x="3474476" y="1706636"/>
            <a:ext cx="171176" cy="171176"/>
          </a:xfrm>
          <a:prstGeom prst="rect">
            <a:avLst/>
          </a:prstGeom>
        </p:spPr>
      </p:pic>
      <p:sp>
        <p:nvSpPr>
          <p:cNvPr id="14" name="Text 9"/>
          <p:cNvSpPr txBox="1"/>
          <p:nvPr/>
        </p:nvSpPr>
        <p:spPr>
          <a:xfrm>
            <a:off x="3395472" y="206654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Security</a:t>
            </a:r>
            <a:endParaRPr lang="en-US" sz="1200" dirty="0"/>
          </a:p>
        </p:txBody>
      </p:sp>
      <p:sp>
        <p:nvSpPr>
          <p:cNvPr id="15" name="Text 10"/>
          <p:cNvSpPr txBox="1"/>
          <p:nvPr/>
        </p:nvSpPr>
        <p:spPr>
          <a:xfrm>
            <a:off x="3395472" y="235915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Personal data, logins and payment details stay protected.</a:t>
            </a:r>
            <a:endParaRPr lang="en-US" sz="950" dirty="0"/>
          </a:p>
        </p:txBody>
      </p:sp>
      <p:sp>
        <p:nvSpPr>
          <p:cNvPr id="16" name="Shape 11"/>
          <p:cNvSpPr/>
          <p:nvPr/>
        </p:nvSpPr>
        <p:spPr>
          <a:xfrm>
            <a:off x="6050280" y="146304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627632"/>
            <a:ext cx="329184" cy="329184"/>
          </a:xfrm>
          <a:prstGeom prst="ellipse">
            <a:avLst/>
          </a:prstGeom>
          <a:solidFill>
            <a:srgbClr val="FDECEA"/>
          </a:solidFill>
          <a:ln w="12700">
            <a:solidFill>
              <a:srgbClr val="FDECEA"/>
            </a:solidFill>
            <a:prstDash val="solid"/>
          </a:ln>
        </p:spPr>
      </p:sp>
      <p:pic>
        <p:nvPicPr>
          <p:cNvPr id="18" name="Image 2" descr="preencoded.png">    </p:cNvPr>
          <p:cNvPicPr>
            <a:picLocks noChangeAspect="1"/>
          </p:cNvPicPr>
          <p:nvPr/>
        </p:nvPicPr>
        <p:blipFill>
          <a:blip r:embed="rId3"/>
          <a:stretch>
            <a:fillRect/>
          </a:stretch>
        </p:blipFill>
        <p:spPr>
          <a:xfrm>
            <a:off x="6293876" y="1706636"/>
            <a:ext cx="171176" cy="171176"/>
          </a:xfrm>
          <a:prstGeom prst="rect">
            <a:avLst/>
          </a:prstGeom>
        </p:spPr>
      </p:pic>
      <p:sp>
        <p:nvSpPr>
          <p:cNvPr id="19" name="Text 13"/>
          <p:cNvSpPr txBox="1"/>
          <p:nvPr/>
        </p:nvSpPr>
        <p:spPr>
          <a:xfrm>
            <a:off x="6214872" y="206654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Trust</a:t>
            </a:r>
            <a:endParaRPr lang="en-US" sz="1200" dirty="0"/>
          </a:p>
        </p:txBody>
      </p:sp>
      <p:sp>
        <p:nvSpPr>
          <p:cNvPr id="20" name="Text 14"/>
          <p:cNvSpPr txBox="1"/>
          <p:nvPr/>
        </p:nvSpPr>
        <p:spPr>
          <a:xfrm>
            <a:off x="6214872" y="235915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Customers and cleaners can rely on how we treat them.</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Unsure?  </a:t>
            </a:r>
            <a:pPr indent="0" marL="0">
              <a:buNone/>
            </a:pPr>
            <a:r>
              <a:rPr lang="en-US" sz="1000" dirty="0">
                <a:solidFill>
                  <a:srgbClr val="1D1D1F"/>
                </a:solidFill>
                <a:latin typeface="SF Pro Text" pitchFamily="34" charset="0"/>
                <a:ea typeface="SF Pro Text" pitchFamily="34" charset="-122"/>
                <a:cs typeface="SF Pro Text" pitchFamily="34" charset="-120"/>
              </a:rPr>
              <a:t>Stop and ask a Team Lead before you act. Asking is always better than a violation.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ZERO TOLERANCE POLICY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Violations at a glance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 violation below is an auto-fail on QA, except capturing work screens.</a:t>
            </a:r>
            <a:endParaRPr lang="en-US" sz="1200" dirty="0"/>
          </a:p>
        </p:txBody>
      </p:sp>
      <p:sp>
        <p:nvSpPr>
          <p:cNvPr id="6" name="Shape 3"/>
          <p:cNvSpPr/>
          <p:nvPr/>
        </p:nvSpPr>
        <p:spPr>
          <a:xfrm>
            <a:off x="411480" y="1371600"/>
            <a:ext cx="2682240" cy="3017520"/>
          </a:xfrm>
          <a:prstGeom prst="roundRect">
            <a:avLst>
              <a:gd name="adj" fmla="val 2727"/>
            </a:avLst>
          </a:prstGeom>
          <a:solidFill>
            <a:srgbClr val="FFFFFF"/>
          </a:solidFill>
          <a:ln w="9525">
            <a:solidFill>
              <a:srgbClr val="DCE1E7"/>
            </a:solidFill>
            <a:prstDash val="solid"/>
          </a:ln>
        </p:spPr>
      </p:sp>
      <p:sp>
        <p:nvSpPr>
          <p:cNvPr id="7" name="Shape 4"/>
          <p:cNvSpPr/>
          <p:nvPr/>
        </p:nvSpPr>
        <p:spPr>
          <a:xfrm>
            <a:off x="548640" y="1508760"/>
            <a:ext cx="685800" cy="256032"/>
          </a:xfrm>
          <a:prstGeom prst="roundRect">
            <a:avLst>
              <a:gd name="adj" fmla="val 28571"/>
            </a:avLst>
          </a:prstGeom>
          <a:solidFill>
            <a:srgbClr val="FDECEA"/>
          </a:solidFill>
          <a:ln w="9525">
            <a:solidFill>
              <a:srgbClr val="FDECEA"/>
            </a:solidFill>
            <a:prstDash val="solid"/>
          </a:ln>
        </p:spPr>
      </p:sp>
      <p:sp>
        <p:nvSpPr>
          <p:cNvPr id="8" name="Text 5"/>
          <p:cNvSpPr txBox="1"/>
          <p:nvPr/>
        </p:nvSpPr>
        <p:spPr>
          <a:xfrm>
            <a:off x="548640" y="1508760"/>
            <a:ext cx="685800" cy="256032"/>
          </a:xfrm>
          <a:prstGeom prst="rect">
            <a:avLst/>
          </a:prstGeom>
          <a:noFill/>
          <a:ln/>
        </p:spPr>
        <p:txBody>
          <a:bodyPr wrap="square" lIns="0" tIns="0" rIns="0" bIns="0" rtlCol="0" anchor="ctr"/>
          <a:lstStyle/>
          <a:p>
            <a:pPr algn="ctr" indent="0" marL="0">
              <a:buNone/>
            </a:pPr>
            <a:r>
              <a:rPr lang="en-US" sz="900" b="1" dirty="0">
                <a:solidFill>
                  <a:srgbClr val="B42318"/>
                </a:solidFill>
                <a:latin typeface="SF Pro Display" pitchFamily="34" charset="0"/>
                <a:ea typeface="SF Pro Display" pitchFamily="34" charset="-122"/>
                <a:cs typeface="SF Pro Display" pitchFamily="34" charset="-120"/>
              </a:rPr>
              <a:t>Level 3</a:t>
            </a:r>
            <a:endParaRPr lang="en-US" sz="900" dirty="0"/>
          </a:p>
        </p:txBody>
      </p:sp>
      <p:sp>
        <p:nvSpPr>
          <p:cNvPr id="9" name="Text 6"/>
          <p:cNvSpPr txBox="1"/>
          <p:nvPr/>
        </p:nvSpPr>
        <p:spPr>
          <a:xfrm>
            <a:off x="548640" y="1901952"/>
            <a:ext cx="2407920" cy="256032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Security violation</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Capturing or sharing work screens</a:t>
            </a:r>
            <a:endParaRPr lang="en-US" sz="1050" dirty="0"/>
          </a:p>
        </p:txBody>
      </p:sp>
      <p:sp>
        <p:nvSpPr>
          <p:cNvPr id="10" name="Shape 7"/>
          <p:cNvSpPr/>
          <p:nvPr/>
        </p:nvSpPr>
        <p:spPr>
          <a:xfrm>
            <a:off x="3230880" y="1371600"/>
            <a:ext cx="2682240" cy="3017520"/>
          </a:xfrm>
          <a:prstGeom prst="roundRect">
            <a:avLst>
              <a:gd name="adj" fmla="val 2727"/>
            </a:avLst>
          </a:prstGeom>
          <a:solidFill>
            <a:srgbClr val="FFFFFF"/>
          </a:solidFill>
          <a:ln w="9525">
            <a:solidFill>
              <a:srgbClr val="DCE1E7"/>
            </a:solidFill>
            <a:prstDash val="solid"/>
          </a:ln>
        </p:spPr>
      </p:sp>
      <p:sp>
        <p:nvSpPr>
          <p:cNvPr id="11" name="Shape 8"/>
          <p:cNvSpPr/>
          <p:nvPr/>
        </p:nvSpPr>
        <p:spPr>
          <a:xfrm>
            <a:off x="3368040" y="1508760"/>
            <a:ext cx="685800" cy="256032"/>
          </a:xfrm>
          <a:prstGeom prst="roundRect">
            <a:avLst>
              <a:gd name="adj" fmla="val 28571"/>
            </a:avLst>
          </a:prstGeom>
          <a:solidFill>
            <a:srgbClr val="FFF3D6"/>
          </a:solidFill>
          <a:ln w="9525">
            <a:solidFill>
              <a:srgbClr val="FFF3D6"/>
            </a:solidFill>
            <a:prstDash val="solid"/>
          </a:ln>
        </p:spPr>
      </p:sp>
      <p:sp>
        <p:nvSpPr>
          <p:cNvPr id="12" name="Text 9"/>
          <p:cNvSpPr txBox="1"/>
          <p:nvPr/>
        </p:nvSpPr>
        <p:spPr>
          <a:xfrm>
            <a:off x="3368040" y="1508760"/>
            <a:ext cx="685800" cy="256032"/>
          </a:xfrm>
          <a:prstGeom prst="rect">
            <a:avLst/>
          </a:prstGeom>
          <a:noFill/>
          <a:ln/>
        </p:spPr>
        <p:txBody>
          <a:bodyPr wrap="square" lIns="0" tIns="0" rIns="0" bIns="0" rtlCol="0" anchor="ctr"/>
          <a:lstStyle/>
          <a:p>
            <a:pPr algn="ctr" indent="0" marL="0">
              <a:buNone/>
            </a:pPr>
            <a:r>
              <a:rPr lang="en-US" sz="900" b="1" dirty="0">
                <a:solidFill>
                  <a:srgbClr val="9A6410"/>
                </a:solidFill>
                <a:latin typeface="SF Pro Display" pitchFamily="34" charset="0"/>
                <a:ea typeface="SF Pro Display" pitchFamily="34" charset="-122"/>
                <a:cs typeface="SF Pro Display" pitchFamily="34" charset="-120"/>
              </a:rPr>
              <a:t>Level 2</a:t>
            </a:r>
            <a:endParaRPr lang="en-US" sz="900" dirty="0"/>
          </a:p>
        </p:txBody>
      </p:sp>
      <p:sp>
        <p:nvSpPr>
          <p:cNvPr id="13" name="Text 10"/>
          <p:cNvSpPr txBox="1"/>
          <p:nvPr/>
        </p:nvSpPr>
        <p:spPr>
          <a:xfrm>
            <a:off x="3368040" y="1901952"/>
            <a:ext cx="2407920" cy="2560320"/>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Card info not removed</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Ticket avoidance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OCC / ARL accounts</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Legal wording</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Internal notes sent out</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Disclosing internal info</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Improper AI tool use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Not unsubscribing</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WA cancellations</a:t>
            </a:r>
            <a:endParaRPr lang="en-US" sz="950" dirty="0"/>
          </a:p>
        </p:txBody>
      </p:sp>
      <p:sp>
        <p:nvSpPr>
          <p:cNvPr id="14" name="Shape 11"/>
          <p:cNvSpPr/>
          <p:nvPr/>
        </p:nvSpPr>
        <p:spPr>
          <a:xfrm>
            <a:off x="6050280" y="1371600"/>
            <a:ext cx="2682240" cy="3017520"/>
          </a:xfrm>
          <a:prstGeom prst="roundRect">
            <a:avLst>
              <a:gd name="adj" fmla="val 2727"/>
            </a:avLst>
          </a:prstGeom>
          <a:solidFill>
            <a:srgbClr val="FFFFFF"/>
          </a:solidFill>
          <a:ln w="9525">
            <a:solidFill>
              <a:srgbClr val="DCE1E7"/>
            </a:solidFill>
            <a:prstDash val="solid"/>
          </a:ln>
        </p:spPr>
      </p:sp>
      <p:sp>
        <p:nvSpPr>
          <p:cNvPr id="15" name="Shape 12"/>
          <p:cNvSpPr/>
          <p:nvPr/>
        </p:nvSpPr>
        <p:spPr>
          <a:xfrm>
            <a:off x="6187440" y="1508760"/>
            <a:ext cx="685800" cy="256032"/>
          </a:xfrm>
          <a:prstGeom prst="roundRect">
            <a:avLst>
              <a:gd name="adj" fmla="val 28571"/>
            </a:avLst>
          </a:prstGeom>
          <a:solidFill>
            <a:srgbClr val="E3F4F1"/>
          </a:solidFill>
          <a:ln w="9525">
            <a:solidFill>
              <a:srgbClr val="E3F4F1"/>
            </a:solidFill>
            <a:prstDash val="solid"/>
          </a:ln>
        </p:spPr>
      </p:sp>
      <p:sp>
        <p:nvSpPr>
          <p:cNvPr id="16" name="Text 13"/>
          <p:cNvSpPr txBox="1"/>
          <p:nvPr/>
        </p:nvSpPr>
        <p:spPr>
          <a:xfrm>
            <a:off x="6187440" y="1508760"/>
            <a:ext cx="685800" cy="256032"/>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Level 1</a:t>
            </a:r>
            <a:endParaRPr lang="en-US" sz="900" dirty="0"/>
          </a:p>
        </p:txBody>
      </p:sp>
      <p:sp>
        <p:nvSpPr>
          <p:cNvPr id="17" name="Text 14"/>
          <p:cNvSpPr txBox="1"/>
          <p:nvPr/>
        </p:nvSpPr>
        <p:spPr>
          <a:xfrm>
            <a:off x="6187440" y="1901952"/>
            <a:ext cx="2407920" cy="256032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Rude / argumentative comms</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Bug reporting process</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Editing Django</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Thumbtack accounts</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ZERO TOLERANCE POLICY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Penalties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Penalties grow with the level and with each repeat.</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1463040"/>
                <a:gridCol w="2286000"/>
                <a:gridCol w="2286000"/>
                <a:gridCol w="2286000"/>
              </a:tblGrid>
              <a:tr h="502920">
                <a:tc>
                  <a:txBody>
                    <a:bodyPr/>
                    <a:lstStyle/>
                    <a:p>
                      <a:pPr algn="ctr" indent="0" marL="0">
                        <a:buNone/>
                      </a:pPr>
                      <a:endParaRPr lang="en-US" sz="1050" dirty="0">
                        <a:latin typeface="SF Pro Display" charset="0"/>
                        <a:ea typeface="SF Pro Display" charset="0"/>
                        <a:cs typeface="SF Pro Display"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B7A6F"/>
                          </a:solidFill>
                          <a:latin typeface="SF Pro Display" pitchFamily="34" charset="0"/>
                          <a:ea typeface="SF Pro Display" pitchFamily="34" charset="-122"/>
                          <a:cs typeface="SF Pro Display" pitchFamily="34" charset="-120"/>
                        </a:rPr>
                        <a:t>Level 1</a:t>
                      </a:r>
                      <a:endParaRPr lang="en-US" sz="1050" dirty="0">
                        <a:latin typeface="SF Pro Display" charset="0"/>
                        <a:ea typeface="SF Pro Display" charset="0"/>
                        <a:cs typeface="SF Pro Display"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9A6410"/>
                          </a:solidFill>
                          <a:latin typeface="SF Pro Display" pitchFamily="34" charset="0"/>
                          <a:ea typeface="SF Pro Display" pitchFamily="34" charset="-122"/>
                          <a:cs typeface="SF Pro Display" pitchFamily="34" charset="-120"/>
                        </a:rPr>
                        <a:t>Level 2</a:t>
                      </a:r>
                      <a:endParaRPr lang="en-US" sz="1050" dirty="0">
                        <a:latin typeface="SF Pro Display" charset="0"/>
                        <a:ea typeface="SF Pro Display" charset="0"/>
                        <a:cs typeface="SF Pro Display"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2318"/>
                          </a:solidFill>
                          <a:latin typeface="SF Pro Display" pitchFamily="34" charset="0"/>
                          <a:ea typeface="SF Pro Display" pitchFamily="34" charset="-122"/>
                          <a:cs typeface="SF Pro Display" pitchFamily="34" charset="-120"/>
                        </a:rPr>
                        <a:t>Level 3</a:t>
                      </a:r>
                      <a:endParaRPr lang="en-US" sz="1050" dirty="0">
                        <a:latin typeface="SF Pro Display" charset="0"/>
                        <a:ea typeface="SF Pro Display" charset="0"/>
                        <a:cs typeface="SF Pro Display"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algn="ctr" indent="0" marL="0">
                        <a:buNone/>
                      </a:pPr>
                      <a:r>
                        <a:rPr lang="en-US" sz="1050" b="1" dirty="0">
                          <a:solidFill>
                            <a:srgbClr val="1D1D1F"/>
                          </a:solidFill>
                          <a:latin typeface="SF Pro Display" pitchFamily="34" charset="0"/>
                          <a:ea typeface="SF Pro Display" pitchFamily="34" charset="-122"/>
                          <a:cs typeface="SF Pro Display" pitchFamily="34" charset="-120"/>
                        </a:rPr>
                        <a:t>1st instance</a:t>
                      </a:r>
                      <a:endParaRPr lang="en-US" sz="1050" dirty="0">
                        <a:latin typeface="SF Pro Display" charset="0"/>
                        <a:ea typeface="SF Pro Display" charset="0"/>
                        <a:cs typeface="SF Pro Display"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D1D1F"/>
                          </a:solidFill>
                          <a:latin typeface="SF Pro Text" pitchFamily="34" charset="0"/>
                          <a:ea typeface="SF Pro Text" pitchFamily="34" charset="-122"/>
                          <a:cs typeface="SF Pro Text" pitchFamily="34" charset="-120"/>
                        </a:rPr>
                        <a:t>Final warning (NTE)</a:t>
                      </a:r>
                      <a:endParaRPr lang="en-US" sz="1050" dirty="0">
                        <a:latin typeface="SF Pro Text" charset="0"/>
                        <a:ea typeface="SF Pro Text" charset="0"/>
                        <a:cs typeface="SF Pro Text"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algn="ctr" indent="0" marL="0">
                        <a:buNone/>
                      </a:pPr>
                      <a:r>
                        <a:rPr lang="en-US" sz="1050" dirty="0">
                          <a:solidFill>
                            <a:srgbClr val="1D1D1F"/>
                          </a:solidFill>
                          <a:latin typeface="SF Pro Text" pitchFamily="34" charset="0"/>
                          <a:ea typeface="SF Pro Text" pitchFamily="34" charset="-122"/>
                          <a:cs typeface="SF Pro Text" pitchFamily="34" charset="-120"/>
                        </a:rPr>
                        <a:t>Suspension, up to 5 days</a:t>
                      </a:r>
                      <a:endParaRPr lang="en-US" sz="1050" dirty="0">
                        <a:latin typeface="SF Pro Text" charset="0"/>
                        <a:ea typeface="SF Pro Text" charset="0"/>
                        <a:cs typeface="SF Pro Text"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3D6"/>
                    </a:solidFill>
                  </a:tcPr>
                </a:tc>
                <a:tc>
                  <a:txBody>
                    <a:bodyPr/>
                    <a:lstStyle/>
                    <a:p>
                      <a:pPr algn="ctr" indent="0" marL="0">
                        <a:buNone/>
                      </a:pPr>
                      <a:r>
                        <a:rPr lang="en-US" sz="1050" b="1" dirty="0">
                          <a:solidFill>
                            <a:srgbClr val="B42318"/>
                          </a:solidFill>
                          <a:latin typeface="SF Pro Text" pitchFamily="34" charset="0"/>
                          <a:ea typeface="SF Pro Text" pitchFamily="34" charset="-122"/>
                          <a:cs typeface="SF Pro Text" pitchFamily="34" charset="-120"/>
                        </a:rPr>
                        <a:t>Subject to termination</a:t>
                      </a:r>
                      <a:endParaRPr lang="en-US" sz="1050" dirty="0">
                        <a:latin typeface="SF Pro Text" charset="0"/>
                        <a:ea typeface="SF Pro Text" charset="0"/>
                        <a:cs typeface="SF Pro Text"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DECEA"/>
                    </a:solidFill>
                  </a:tcPr>
                </a:tc>
              </a:tr>
              <a:tr h="502920">
                <a:tc>
                  <a:txBody>
                    <a:bodyPr/>
                    <a:lstStyle/>
                    <a:p>
                      <a:pPr algn="ctr" indent="0" marL="0">
                        <a:buNone/>
                      </a:pPr>
                      <a:r>
                        <a:rPr lang="en-US" sz="1050" b="1" dirty="0">
                          <a:solidFill>
                            <a:srgbClr val="1D1D1F"/>
                          </a:solidFill>
                          <a:latin typeface="SF Pro Display" pitchFamily="34" charset="0"/>
                          <a:ea typeface="SF Pro Display" pitchFamily="34" charset="-122"/>
                          <a:cs typeface="SF Pro Display" pitchFamily="34" charset="-120"/>
                        </a:rPr>
                        <a:t>2nd instance</a:t>
                      </a:r>
                      <a:endParaRPr lang="en-US" sz="1050" dirty="0">
                        <a:latin typeface="SF Pro Display" charset="0"/>
                        <a:ea typeface="SF Pro Display" charset="0"/>
                        <a:cs typeface="SF Pro Display"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D1D1F"/>
                          </a:solidFill>
                          <a:latin typeface="SF Pro Text" pitchFamily="34" charset="0"/>
                          <a:ea typeface="SF Pro Text" pitchFamily="34" charset="-122"/>
                          <a:cs typeface="SF Pro Text" pitchFamily="34" charset="-120"/>
                        </a:rPr>
                        <a:t>Suspension, up to 3 days</a:t>
                      </a:r>
                      <a:endParaRPr lang="en-US" sz="1050" dirty="0">
                        <a:latin typeface="SF Pro Text" charset="0"/>
                        <a:ea typeface="SF Pro Text" charset="0"/>
                        <a:cs typeface="SF Pro Text"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algn="ctr" indent="0" marL="0">
                        <a:buNone/>
                      </a:pPr>
                      <a:r>
                        <a:rPr lang="en-US" sz="1050" b="1" dirty="0">
                          <a:solidFill>
                            <a:srgbClr val="B42318"/>
                          </a:solidFill>
                          <a:latin typeface="SF Pro Text" pitchFamily="34" charset="0"/>
                          <a:ea typeface="SF Pro Text" pitchFamily="34" charset="-122"/>
                          <a:cs typeface="SF Pro Text" pitchFamily="34" charset="-120"/>
                        </a:rPr>
                        <a:t>Subject to termination</a:t>
                      </a:r>
                      <a:endParaRPr lang="en-US" sz="1050" dirty="0">
                        <a:latin typeface="SF Pro Text" charset="0"/>
                        <a:ea typeface="SF Pro Text" charset="0"/>
                        <a:cs typeface="SF Pro Text"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DECEA"/>
                    </a:solidFill>
                  </a:tcPr>
                </a:tc>
                <a:tc>
                  <a:txBody>
                    <a:bodyPr/>
                    <a:lstStyle/>
                    <a:p>
                      <a:pPr algn="ctr" indent="0" marL="0">
                        <a:buNone/>
                      </a:pPr>
                      <a:r>
                        <a:rPr lang="en-US" sz="1050" dirty="0">
                          <a:solidFill>
                            <a:srgbClr val="6E6E73"/>
                          </a:solidFill>
                          <a:latin typeface="SF Pro Text" pitchFamily="34" charset="0"/>
                          <a:ea typeface="SF Pro Text" pitchFamily="34" charset="-122"/>
                          <a:cs typeface="SF Pro Text" pitchFamily="34" charset="-120"/>
                        </a:rPr>
                        <a:t>—</a:t>
                      </a:r>
                      <a:endParaRPr lang="en-US" sz="1050" dirty="0">
                        <a:latin typeface="SF Pro Text" charset="0"/>
                        <a:ea typeface="SF Pro Text" charset="0"/>
                        <a:cs typeface="SF Pro Text"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algn="ctr" indent="0" marL="0">
                        <a:buNone/>
                      </a:pPr>
                      <a:r>
                        <a:rPr lang="en-US" sz="1050" b="1" dirty="0">
                          <a:solidFill>
                            <a:srgbClr val="1D1D1F"/>
                          </a:solidFill>
                          <a:latin typeface="SF Pro Display" pitchFamily="34" charset="0"/>
                          <a:ea typeface="SF Pro Display" pitchFamily="34" charset="-122"/>
                          <a:cs typeface="SF Pro Display" pitchFamily="34" charset="-120"/>
                        </a:rPr>
                        <a:t>3rd instance</a:t>
                      </a:r>
                      <a:endParaRPr lang="en-US" sz="1050" dirty="0">
                        <a:latin typeface="SF Pro Display" charset="0"/>
                        <a:ea typeface="SF Pro Display" charset="0"/>
                        <a:cs typeface="SF Pro Display"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2318"/>
                          </a:solidFill>
                          <a:latin typeface="SF Pro Text" pitchFamily="34" charset="0"/>
                          <a:ea typeface="SF Pro Text" pitchFamily="34" charset="-122"/>
                          <a:cs typeface="SF Pro Text" pitchFamily="34" charset="-120"/>
                        </a:rPr>
                        <a:t>Subject to termination</a:t>
                      </a:r>
                      <a:endParaRPr lang="en-US" sz="1050" dirty="0">
                        <a:latin typeface="SF Pro Text" charset="0"/>
                        <a:ea typeface="SF Pro Text" charset="0"/>
                        <a:cs typeface="SF Pro Text"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DECEA"/>
                    </a:solidFill>
                  </a:tcPr>
                </a:tc>
                <a:tc>
                  <a:txBody>
                    <a:bodyPr/>
                    <a:lstStyle/>
                    <a:p>
                      <a:pPr algn="ctr" indent="0" marL="0">
                        <a:buNone/>
                      </a:pPr>
                      <a:r>
                        <a:rPr lang="en-US" sz="1050" dirty="0">
                          <a:solidFill>
                            <a:srgbClr val="6E6E73"/>
                          </a:solidFill>
                          <a:latin typeface="SF Pro Text" pitchFamily="34" charset="0"/>
                          <a:ea typeface="SF Pro Text" pitchFamily="34" charset="-122"/>
                          <a:cs typeface="SF Pro Text" pitchFamily="34" charset="-120"/>
                        </a:rPr>
                        <a:t>—</a:t>
                      </a:r>
                      <a:endParaRPr lang="en-US" sz="1050" dirty="0">
                        <a:latin typeface="SF Pro Text" charset="0"/>
                        <a:ea typeface="SF Pro Text" charset="0"/>
                        <a:cs typeface="SF Pro Text"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6E6E73"/>
                          </a:solidFill>
                          <a:latin typeface="SF Pro Text" pitchFamily="34" charset="0"/>
                          <a:ea typeface="SF Pro Text" pitchFamily="34" charset="-122"/>
                          <a:cs typeface="SF Pro Text" pitchFamily="34" charset="-120"/>
                        </a:rPr>
                        <a:t>—</a:t>
                      </a:r>
                      <a:endParaRPr lang="en-US" sz="1050" dirty="0">
                        <a:latin typeface="SF Pro Text" charset="0"/>
                        <a:ea typeface="SF Pro Text" charset="0"/>
                        <a:cs typeface="SF Pro Text"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721608"/>
            <a:ext cx="164592" cy="164592"/>
          </a:xfrm>
          <a:prstGeom prst="rect">
            <a:avLst/>
          </a:prstGeom>
        </p:spPr>
      </p:pic>
      <p:sp>
        <p:nvSpPr>
          <p:cNvPr id="9" name="Text 4"/>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3 ZTPs of any level means termination. L1s clear after 6 months.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SECURITY &amp; COMPLIANCE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Protect what is private</a:t>
            </a:r>
            <a:endParaRPr lang="en-US" sz="2400" dirty="0"/>
          </a:p>
        </p:txBody>
      </p:sp>
      <p:sp>
        <p:nvSpPr>
          <p:cNvPr id="5" name="Shape 2"/>
          <p:cNvSpPr/>
          <p:nvPr/>
        </p:nvSpPr>
        <p:spPr>
          <a:xfrm>
            <a:off x="411480" y="1280160"/>
            <a:ext cx="1977390" cy="1783080"/>
          </a:xfrm>
          <a:prstGeom prst="roundRect">
            <a:avLst>
              <a:gd name="adj" fmla="val 410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FDECEA"/>
          </a:solidFill>
          <a:ln w="12700">
            <a:solidFill>
              <a:srgbClr val="FDECEA"/>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Security</a:t>
            </a:r>
            <a:endParaRPr lang="en-US" sz="1200" dirty="0"/>
          </a:p>
        </p:txBody>
      </p:sp>
      <p:sp>
        <p:nvSpPr>
          <p:cNvPr id="9" name="Text 5"/>
          <p:cNvSpPr txBox="1"/>
          <p:nvPr/>
        </p:nvSpPr>
        <p:spPr>
          <a:xfrm>
            <a:off x="57607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Double-check every recipient before sending a login link or personal data.</a:t>
            </a:r>
            <a:endParaRPr lang="en-US" sz="950" dirty="0"/>
          </a:p>
        </p:txBody>
      </p:sp>
      <p:sp>
        <p:nvSpPr>
          <p:cNvPr id="10" name="Shape 6"/>
          <p:cNvSpPr/>
          <p:nvPr/>
        </p:nvSpPr>
        <p:spPr>
          <a:xfrm>
            <a:off x="2526030" y="1280160"/>
            <a:ext cx="1977390" cy="1783080"/>
          </a:xfrm>
          <a:prstGeom prst="roundRect">
            <a:avLst>
              <a:gd name="adj" fmla="val 4103"/>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FDECEA"/>
          </a:solidFill>
          <a:ln w="12700">
            <a:solidFill>
              <a:srgbClr val="FDECEA"/>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Card details</a:t>
            </a:r>
            <a:endParaRPr lang="en-US" sz="1200" dirty="0"/>
          </a:p>
        </p:txBody>
      </p:sp>
      <p:sp>
        <p:nvSpPr>
          <p:cNvPr id="14" name="Text 9"/>
          <p:cNvSpPr txBox="1"/>
          <p:nvPr/>
        </p:nvSpPr>
        <p:spPr>
          <a:xfrm>
            <a:off x="269062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Never accept them. A Team Lead removes any that arrive.</a:t>
            </a:r>
            <a:endParaRPr lang="en-US" sz="950" dirty="0"/>
          </a:p>
        </p:txBody>
      </p:sp>
      <p:sp>
        <p:nvSpPr>
          <p:cNvPr id="15" name="Shape 10"/>
          <p:cNvSpPr/>
          <p:nvPr/>
        </p:nvSpPr>
        <p:spPr>
          <a:xfrm>
            <a:off x="4640580" y="1280160"/>
            <a:ext cx="1977390" cy="1783080"/>
          </a:xfrm>
          <a:prstGeom prst="roundRect">
            <a:avLst>
              <a:gd name="adj" fmla="val 4103"/>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FDECEA"/>
          </a:solidFill>
          <a:ln w="12700">
            <a:solidFill>
              <a:srgbClr val="FDECEA"/>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Internal notes</a:t>
            </a:r>
            <a:endParaRPr lang="en-US" sz="1200" dirty="0"/>
          </a:p>
        </p:txBody>
      </p:sp>
      <p:sp>
        <p:nvSpPr>
          <p:cNvPr id="19" name="Text 13"/>
          <p:cNvSpPr txBox="1"/>
          <p:nvPr/>
        </p:nvSpPr>
        <p:spPr>
          <a:xfrm>
            <a:off x="480517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Never sent as an email or SMS.</a:t>
            </a:r>
            <a:endParaRPr lang="en-US" sz="950" dirty="0"/>
          </a:p>
        </p:txBody>
      </p:sp>
      <p:sp>
        <p:nvSpPr>
          <p:cNvPr id="20" name="Shape 14"/>
          <p:cNvSpPr/>
          <p:nvPr/>
        </p:nvSpPr>
        <p:spPr>
          <a:xfrm>
            <a:off x="6755130" y="1280160"/>
            <a:ext cx="1977390" cy="1783080"/>
          </a:xfrm>
          <a:prstGeom prst="roundRect">
            <a:avLst>
              <a:gd name="adj" fmla="val 4103"/>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FDECEA"/>
          </a:solidFill>
          <a:ln w="12700">
            <a:solidFill>
              <a:srgbClr val="FDECEA"/>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Internal info</a:t>
            </a:r>
            <a:endParaRPr lang="en-US" sz="1200" dirty="0"/>
          </a:p>
        </p:txBody>
      </p:sp>
      <p:sp>
        <p:nvSpPr>
          <p:cNvPr id="24" name="Text 17"/>
          <p:cNvSpPr txBox="1"/>
          <p:nvPr/>
        </p:nvSpPr>
        <p:spPr>
          <a:xfrm>
            <a:off x="691972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 in the Help Center? Then it stays internal.</a:t>
            </a:r>
            <a:endParaRPr lang="en-US" sz="950" dirty="0"/>
          </a:p>
        </p:txBody>
      </p:sp>
      <p:sp>
        <p:nvSpPr>
          <p:cNvPr id="25" name="Shape 18"/>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6" name="Image 4" descr="preencoded.png">    </p:cNvPr>
          <p:cNvPicPr>
            <a:picLocks noChangeAspect="1"/>
          </p:cNvPicPr>
          <p:nvPr/>
        </p:nvPicPr>
        <p:blipFill>
          <a:blip r:embed="rId5"/>
          <a:stretch>
            <a:fillRect/>
          </a:stretch>
        </p:blipFill>
        <p:spPr>
          <a:xfrm>
            <a:off x="566928" y="3401568"/>
            <a:ext cx="164592" cy="164592"/>
          </a:xfrm>
          <a:prstGeom prst="rect">
            <a:avLst/>
          </a:prstGeom>
        </p:spPr>
      </p:pic>
      <p:sp>
        <p:nvSpPr>
          <p:cNvPr id="27" name="Text 19"/>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Quick test:  </a:t>
            </a:r>
            <a:pPr indent="0" marL="0">
              <a:buNone/>
            </a:pPr>
            <a:r>
              <a:rPr lang="en-US" sz="1000" dirty="0">
                <a:solidFill>
                  <a:srgbClr val="1D1D1F"/>
                </a:solidFill>
                <a:latin typeface="SF Pro Text" pitchFamily="34" charset="0"/>
                <a:ea typeface="SF Pro Text" pitchFamily="34" charset="-122"/>
                <a:cs typeface="SF Pro Text" pitchFamily="34" charset="-120"/>
              </a:rPr>
              <a:t>"If it's not in the Help Center or public-facing communication, it's internal."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SECURITY &amp; COMPLIANCE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Say it the legal way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Cleaners are independent contractors, not Homeaglow employees. Our words must show it.</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417320"/>
          <a:ext cx="8321040" cy="914400"/>
        </p:xfrm>
        <a:graphic>
          <a:graphicData uri="http://schemas.openxmlformats.org/drawingml/2006/table">
            <a:tbl>
              <a:tblPr/>
              <a:tblGrid>
                <a:gridCol w="4160520"/>
                <a:gridCol w="4160520"/>
              </a:tblGrid>
              <a:tr h="384048">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Do say</a:t>
                      </a:r>
                      <a:endParaRPr lang="en-US" sz="1050" dirty="0">
                        <a:latin typeface="SF Pro Display" charset="0"/>
                        <a:ea typeface="SF Pro Display" charset="0"/>
                        <a:cs typeface="SF Pro Display"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B42318"/>
                          </a:solidFill>
                          <a:latin typeface="SF Pro Display" pitchFamily="34" charset="0"/>
                          <a:ea typeface="SF Pro Display" pitchFamily="34" charset="-122"/>
                          <a:cs typeface="SF Pro Display" pitchFamily="34" charset="-120"/>
                        </a:rPr>
                        <a:t>Don't say</a:t>
                      </a:r>
                      <a:endParaRPr lang="en-US" sz="1050" dirty="0">
                        <a:latin typeface="SF Pro Display" charset="0"/>
                        <a:ea typeface="SF Pro Display" charset="0"/>
                        <a:cs typeface="SF Pro Display"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DECEA"/>
                    </a:solidFill>
                  </a:tcPr>
                </a:tc>
              </a:tr>
              <a:tr h="384048">
                <a:tc>
                  <a:txBody>
                    <a:bodyPr/>
                    <a:lstStyle/>
                    <a:p>
                      <a:pPr indent="0" marL="0">
                        <a:buNone/>
                      </a:pPr>
                      <a:r>
                        <a:rPr lang="en-US" sz="1050" dirty="0">
                          <a:solidFill>
                            <a:srgbClr val="1D1D1F"/>
                          </a:solidFill>
                          <a:latin typeface="SF Pro Text" pitchFamily="34" charset="0"/>
                          <a:ea typeface="SF Pro Text" pitchFamily="34" charset="-122"/>
                          <a:cs typeface="SF Pro Text" pitchFamily="34" charset="-120"/>
                        </a:rPr>
                        <a:t>Your cleaner on Homeaglow</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Your Homeaglow cleaner</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1D1D1F"/>
                          </a:solidFill>
                          <a:latin typeface="SF Pro Text" pitchFamily="34" charset="0"/>
                          <a:ea typeface="SF Pro Text" pitchFamily="34" charset="-122"/>
                          <a:cs typeface="SF Pro Text" pitchFamily="34" charset="-120"/>
                        </a:rPr>
                        <a:t>Find a cleaner on Homeaglow</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Find a Homeaglow cleaner</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1D1D1F"/>
                          </a:solidFill>
                          <a:latin typeface="SF Pro Text" pitchFamily="34" charset="0"/>
                          <a:ea typeface="SF Pro Text" pitchFamily="34" charset="-122"/>
                          <a:cs typeface="SF Pro Text" pitchFamily="34" charset="-120"/>
                        </a:rPr>
                        <a:t>Your cleaner / Your cleaner Alice</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Our cleaner</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1D1D1F"/>
                          </a:solidFill>
                          <a:latin typeface="SF Pro Text" pitchFamily="34" charset="0"/>
                          <a:ea typeface="SF Pro Text" pitchFamily="34" charset="-122"/>
                          <a:cs typeface="SF Pro Text" pitchFamily="34" charset="-120"/>
                        </a:rPr>
                        <a:t>Your cleaner will see you at &lt;address&gt;</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We will see you at &lt;address&gt;</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1D1D1F"/>
                          </a:solidFill>
                          <a:latin typeface="SF Pro Text" pitchFamily="34" charset="0"/>
                          <a:ea typeface="SF Pro Text" pitchFamily="34" charset="-122"/>
                          <a:cs typeface="SF Pro Text" pitchFamily="34" charset="-120"/>
                        </a:rPr>
                        <a:t>Your cleaner was unable to</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We were unable to</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1D1D1F"/>
                          </a:solidFill>
                          <a:latin typeface="SF Pro Text" pitchFamily="34" charset="0"/>
                          <a:ea typeface="SF Pro Text" pitchFamily="34" charset="-122"/>
                          <a:cs typeface="SF Pro Text" pitchFamily="34" charset="-120"/>
                        </a:rPr>
                        <a:t>Your requested cleaner is still reviewing</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We are still waiting for your requested cleaner</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SECURITY &amp; COMPLIANCE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Work screens stay on work screens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 exceptions, even if it looks blurred or empty.</a:t>
            </a:r>
            <a:endParaRPr lang="en-US" sz="1200" dirty="0"/>
          </a:p>
        </p:txBody>
      </p:sp>
      <p:sp>
        <p:nvSpPr>
          <p:cNvPr id="6" name="Shape 3"/>
          <p:cNvSpPr/>
          <p:nvPr/>
        </p:nvSpPr>
        <p:spPr>
          <a:xfrm>
            <a:off x="411480" y="146304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627632"/>
            <a:ext cx="329184" cy="329184"/>
          </a:xfrm>
          <a:prstGeom prst="ellipse">
            <a:avLst/>
          </a:prstGeom>
          <a:solidFill>
            <a:srgbClr val="FDECEA"/>
          </a:solidFill>
          <a:ln w="12700">
            <a:solidFill>
              <a:srgbClr val="FDECEA"/>
            </a:solidFill>
            <a:prstDash val="solid"/>
          </a:ln>
        </p:spPr>
      </p:sp>
      <p:pic>
        <p:nvPicPr>
          <p:cNvPr id="8" name="Image 0" descr="preencoded.png">    </p:cNvPr>
          <p:cNvPicPr>
            <a:picLocks noChangeAspect="1"/>
          </p:cNvPicPr>
          <p:nvPr/>
        </p:nvPicPr>
        <p:blipFill>
          <a:blip r:embed="rId1"/>
          <a:stretch>
            <a:fillRect/>
          </a:stretch>
        </p:blipFill>
        <p:spPr>
          <a:xfrm>
            <a:off x="655076" y="1706636"/>
            <a:ext cx="171176" cy="171176"/>
          </a:xfrm>
          <a:prstGeom prst="rect">
            <a:avLst/>
          </a:prstGeom>
        </p:spPr>
      </p:pic>
      <p:sp>
        <p:nvSpPr>
          <p:cNvPr id="9" name="Text 5"/>
          <p:cNvSpPr txBox="1"/>
          <p:nvPr/>
        </p:nvSpPr>
        <p:spPr>
          <a:xfrm>
            <a:off x="576072" y="206654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photos or videos</a:t>
            </a:r>
            <a:endParaRPr lang="en-US" sz="1200" dirty="0"/>
          </a:p>
        </p:txBody>
      </p:sp>
      <p:sp>
        <p:nvSpPr>
          <p:cNvPr id="10" name="Text 6"/>
          <p:cNvSpPr txBox="1"/>
          <p:nvPr/>
        </p:nvSpPr>
        <p:spPr>
          <a:xfrm>
            <a:off x="576072" y="235915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With a phone or any other device.</a:t>
            </a:r>
            <a:endParaRPr lang="en-US" sz="950" dirty="0"/>
          </a:p>
        </p:txBody>
      </p:sp>
      <p:sp>
        <p:nvSpPr>
          <p:cNvPr id="11" name="Shape 7"/>
          <p:cNvSpPr/>
          <p:nvPr/>
        </p:nvSpPr>
        <p:spPr>
          <a:xfrm>
            <a:off x="3230880" y="146304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627632"/>
            <a:ext cx="329184" cy="329184"/>
          </a:xfrm>
          <a:prstGeom prst="ellipse">
            <a:avLst/>
          </a:prstGeom>
          <a:solidFill>
            <a:srgbClr val="FDECEA"/>
          </a:solidFill>
          <a:ln w="12700">
            <a:solidFill>
              <a:srgbClr val="FDECEA"/>
            </a:solidFill>
            <a:prstDash val="solid"/>
          </a:ln>
        </p:spPr>
      </p:sp>
      <p:pic>
        <p:nvPicPr>
          <p:cNvPr id="13" name="Image 1" descr="preencoded.png">    </p:cNvPr>
          <p:cNvPicPr>
            <a:picLocks noChangeAspect="1"/>
          </p:cNvPicPr>
          <p:nvPr/>
        </p:nvPicPr>
        <p:blipFill>
          <a:blip r:embed="rId2"/>
          <a:stretch>
            <a:fillRect/>
          </a:stretch>
        </p:blipFill>
        <p:spPr>
          <a:xfrm>
            <a:off x="3474476" y="1706636"/>
            <a:ext cx="171176" cy="171176"/>
          </a:xfrm>
          <a:prstGeom prst="rect">
            <a:avLst/>
          </a:prstGeom>
        </p:spPr>
      </p:pic>
      <p:sp>
        <p:nvSpPr>
          <p:cNvPr id="14" name="Text 9"/>
          <p:cNvSpPr txBox="1"/>
          <p:nvPr/>
        </p:nvSpPr>
        <p:spPr>
          <a:xfrm>
            <a:off x="3395472" y="206654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screenshots</a:t>
            </a:r>
            <a:endParaRPr lang="en-US" sz="1200" dirty="0"/>
          </a:p>
        </p:txBody>
      </p:sp>
      <p:sp>
        <p:nvSpPr>
          <p:cNvPr id="15" name="Text 10"/>
          <p:cNvSpPr txBox="1"/>
          <p:nvPr/>
        </p:nvSpPr>
        <p:spPr>
          <a:xfrm>
            <a:off x="3395472" y="235915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And no screen recordings.</a:t>
            </a:r>
            <a:endParaRPr lang="en-US" sz="950" dirty="0"/>
          </a:p>
        </p:txBody>
      </p:sp>
      <p:sp>
        <p:nvSpPr>
          <p:cNvPr id="16" name="Shape 11"/>
          <p:cNvSpPr/>
          <p:nvPr/>
        </p:nvSpPr>
        <p:spPr>
          <a:xfrm>
            <a:off x="6050280" y="146304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627632"/>
            <a:ext cx="329184" cy="329184"/>
          </a:xfrm>
          <a:prstGeom prst="ellipse">
            <a:avLst/>
          </a:prstGeom>
          <a:solidFill>
            <a:srgbClr val="FDECEA"/>
          </a:solidFill>
          <a:ln w="12700">
            <a:solidFill>
              <a:srgbClr val="FDECEA"/>
            </a:solidFill>
            <a:prstDash val="solid"/>
          </a:ln>
        </p:spPr>
      </p:sp>
      <p:pic>
        <p:nvPicPr>
          <p:cNvPr id="18" name="Image 2" descr="preencoded.png">    </p:cNvPr>
          <p:cNvPicPr>
            <a:picLocks noChangeAspect="1"/>
          </p:cNvPicPr>
          <p:nvPr/>
        </p:nvPicPr>
        <p:blipFill>
          <a:blip r:embed="rId3"/>
          <a:stretch>
            <a:fillRect/>
          </a:stretch>
        </p:blipFill>
        <p:spPr>
          <a:xfrm>
            <a:off x="6293876" y="1706636"/>
            <a:ext cx="171176" cy="171176"/>
          </a:xfrm>
          <a:prstGeom prst="rect">
            <a:avLst/>
          </a:prstGeom>
        </p:spPr>
      </p:pic>
      <p:sp>
        <p:nvSpPr>
          <p:cNvPr id="19" name="Text 13"/>
          <p:cNvSpPr txBox="1"/>
          <p:nvPr/>
        </p:nvSpPr>
        <p:spPr>
          <a:xfrm>
            <a:off x="6214872" y="206654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sharing</a:t>
            </a:r>
            <a:endParaRPr lang="en-US" sz="1200" dirty="0"/>
          </a:p>
        </p:txBody>
      </p:sp>
      <p:sp>
        <p:nvSpPr>
          <p:cNvPr id="20" name="Text 14"/>
          <p:cNvSpPr txBox="1"/>
          <p:nvPr/>
        </p:nvSpPr>
        <p:spPr>
          <a:xfrm>
            <a:off x="6214872" y="235915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 in personal chats, social media or coworker group chats.</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a:t>
            </a:r>
            <a:pPr indent="0" marL="0">
              <a:buNone/>
            </a:pPr>
            <a:r>
              <a:rPr lang="en-US" sz="1000" dirty="0">
                <a:solidFill>
                  <a:srgbClr val="1D1D1F"/>
                </a:solidFill>
                <a:latin typeface="SF Pro Text" pitchFamily="34" charset="0"/>
                <a:ea typeface="SF Pro Text" pitchFamily="34" charset="-122"/>
                <a:cs typeface="SF Pro Text" pitchFamily="34" charset="-120"/>
              </a:rPr>
              <a:t>Once a capture leaves our systems, we can't delete it, track it or undo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CUSTOMER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Handle these customers by the rules</a:t>
            </a:r>
            <a:endParaRPr lang="en-US" sz="2400" dirty="0"/>
          </a:p>
        </p:txBody>
      </p:sp>
      <p:sp>
        <p:nvSpPr>
          <p:cNvPr id="5" name="Shape 2"/>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FDECEA"/>
          </a:solidFill>
          <a:ln w="12700">
            <a:solidFill>
              <a:srgbClr val="FDECEA"/>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OCC / ARL accounts</a:t>
            </a:r>
            <a:endParaRPr lang="en-US" sz="1200" dirty="0"/>
          </a:p>
        </p:txBody>
      </p:sp>
      <p:sp>
        <p:nvSpPr>
          <p:cNvPr id="9" name="Text 5"/>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Auto-renewal law states: cancel right away when asked.</a:t>
            </a:r>
            <a:endParaRPr lang="en-US" sz="950" dirty="0"/>
          </a:p>
        </p:txBody>
      </p:sp>
      <p:sp>
        <p:nvSpPr>
          <p:cNvPr id="10" name="Shape 6"/>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FDECEA"/>
          </a:solidFill>
          <a:ln w="12700">
            <a:solidFill>
              <a:srgbClr val="FDECEA"/>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Unsubscribe requests</a:t>
            </a:r>
            <a:endParaRPr lang="en-US" sz="1200" dirty="0"/>
          </a:p>
        </p:txBody>
      </p:sp>
      <p:sp>
        <p:nvSpPr>
          <p:cNvPr id="14" name="Text 9"/>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"STOP" means unsubscribe them and confirm it.</a:t>
            </a:r>
            <a:endParaRPr lang="en-US" sz="950" dirty="0"/>
          </a:p>
        </p:txBody>
      </p:sp>
      <p:sp>
        <p:nvSpPr>
          <p:cNvPr id="15" name="Shape 10"/>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FDECEA"/>
          </a:solidFill>
          <a:ln w="12700">
            <a:solidFill>
              <a:srgbClr val="FDECEA"/>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Washington State</a:t>
            </a:r>
            <a:endParaRPr lang="en-US" sz="1200" dirty="0"/>
          </a:p>
        </p:txBody>
      </p:sp>
      <p:sp>
        <p:nvSpPr>
          <p:cNvPr id="19" name="Text 13"/>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right away. No ETF, no MCT, no retention offers.</a:t>
            </a:r>
            <a:endParaRPr lang="en-US" sz="950" dirty="0"/>
          </a:p>
        </p:txBody>
      </p:sp>
      <p:sp>
        <p:nvSpPr>
          <p:cNvPr id="20" name="Shape 14"/>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FDECEA"/>
          </a:solidFill>
          <a:ln w="12700">
            <a:solidFill>
              <a:srgbClr val="FDECEA"/>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Tone</a:t>
            </a:r>
            <a:endParaRPr lang="en-US" sz="1200" dirty="0"/>
          </a:p>
        </p:txBody>
      </p:sp>
      <p:sp>
        <p:nvSpPr>
          <p:cNvPr id="24" name="Text 17"/>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Educate, never argue. No condescending or passive-aggressive replies.</a:t>
            </a:r>
            <a:endParaRPr lang="en-US" sz="950" dirty="0"/>
          </a:p>
        </p:txBody>
      </p:sp>
      <p:sp>
        <p:nvSpPr>
          <p:cNvPr id="25" name="Shape 18"/>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6" name="Image 4" descr="preencoded.png">    </p:cNvPr>
          <p:cNvPicPr>
            <a:picLocks noChangeAspect="1"/>
          </p:cNvPicPr>
          <p:nvPr/>
        </p:nvPicPr>
        <p:blipFill>
          <a:blip r:embed="rId5"/>
          <a:stretch>
            <a:fillRect/>
          </a:stretch>
        </p:blipFill>
        <p:spPr>
          <a:xfrm>
            <a:off x="566928" y="3447288"/>
            <a:ext cx="164592" cy="164592"/>
          </a:xfrm>
          <a:prstGeom prst="rect">
            <a:avLst/>
          </a:prstGeom>
        </p:spPr>
      </p:pic>
      <p:sp>
        <p:nvSpPr>
          <p:cNvPr id="27" name="Text 19"/>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In doubt?  </a:t>
            </a:r>
            <a:pPr indent="0" marL="0">
              <a:buNone/>
            </a:pPr>
            <a:r>
              <a:rPr lang="en-US" sz="1000" dirty="0">
                <a:solidFill>
                  <a:srgbClr val="1D1D1F"/>
                </a:solidFill>
                <a:latin typeface="SF Pro Text" pitchFamily="34" charset="0"/>
                <a:ea typeface="SF Pro Text" pitchFamily="34" charset="-122"/>
                <a:cs typeface="SF Pro Text" pitchFamily="34" charset="-120"/>
              </a:rPr>
              <a:t>Check the OCC Non-Retention Process or ask a Team Lead before replying.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OPERATIONAL COMPLIANCE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Follow the process, every time</a:t>
            </a:r>
            <a:endParaRPr lang="en-US" sz="2400" dirty="0"/>
          </a:p>
        </p:txBody>
      </p:sp>
      <p:sp>
        <p:nvSpPr>
          <p:cNvPr id="5" name="Shape 2"/>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FDECEA"/>
          </a:solidFill>
          <a:ln w="12700">
            <a:solidFill>
              <a:srgbClr val="FDECEA"/>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Ticket avoidance</a:t>
            </a:r>
            <a:endParaRPr lang="en-US" sz="1200" dirty="0"/>
          </a:p>
        </p:txBody>
      </p:sp>
      <p:sp>
        <p:nvSpPr>
          <p:cNvPr id="9" name="Text 5"/>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Work every ticket assigned to you, including the hard ones.</a:t>
            </a:r>
            <a:endParaRPr lang="en-US" sz="950" dirty="0"/>
          </a:p>
        </p:txBody>
      </p:sp>
      <p:sp>
        <p:nvSpPr>
          <p:cNvPr id="10" name="Shape 6"/>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FDECEA"/>
          </a:solidFill>
          <a:ln w="12700">
            <a:solidFill>
              <a:srgbClr val="FDECEA"/>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Bug reporting</a:t>
            </a:r>
            <a:endParaRPr lang="en-US" sz="1200" dirty="0"/>
          </a:p>
        </p:txBody>
      </p:sp>
      <p:sp>
        <p:nvSpPr>
          <p:cNvPr id="14" name="Text 9"/>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Use the Bug Validation Form. Check the tracker first.</a:t>
            </a:r>
            <a:endParaRPr lang="en-US" sz="950" dirty="0"/>
          </a:p>
        </p:txBody>
      </p:sp>
      <p:sp>
        <p:nvSpPr>
          <p:cNvPr id="15" name="Shape 10"/>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FDECEA"/>
          </a:solidFill>
          <a:ln w="12700">
            <a:solidFill>
              <a:srgbClr val="FDECEA"/>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Editing Django</a:t>
            </a:r>
            <a:endParaRPr lang="en-US" sz="1200" dirty="0"/>
          </a:p>
        </p:txBody>
      </p:sp>
      <p:sp>
        <p:nvSpPr>
          <p:cNvPr id="19" name="Text 13"/>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approved edits. When in doubt, escalate.</a:t>
            </a:r>
            <a:endParaRPr lang="en-US" sz="950" dirty="0"/>
          </a:p>
        </p:txBody>
      </p:sp>
      <p:sp>
        <p:nvSpPr>
          <p:cNvPr id="20" name="Shape 14"/>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FDECEA"/>
          </a:solidFill>
          <a:ln w="12700">
            <a:solidFill>
              <a:srgbClr val="FDECEA"/>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Thumbtack accounts</a:t>
            </a:r>
            <a:endParaRPr lang="en-US" sz="1200" dirty="0"/>
          </a:p>
        </p:txBody>
      </p:sp>
      <p:sp>
        <p:nvSpPr>
          <p:cNvPr id="24" name="Text 17"/>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Transfer to the Thumbtack queue, then stop.</a:t>
            </a:r>
            <a:endParaRPr lang="en-US" sz="950" dirty="0"/>
          </a:p>
        </p:txBody>
      </p:sp>
      <p:sp>
        <p:nvSpPr>
          <p:cNvPr id="25" name="Shape 18"/>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6" name="Image 4" descr="preencoded.png">    </p:cNvPr>
          <p:cNvPicPr>
            <a:picLocks noChangeAspect="1"/>
          </p:cNvPicPr>
          <p:nvPr/>
        </p:nvPicPr>
        <p:blipFill>
          <a:blip r:embed="rId5"/>
          <a:stretch>
            <a:fillRect/>
          </a:stretch>
        </p:blipFill>
        <p:spPr>
          <a:xfrm>
            <a:off x="566928" y="3447288"/>
            <a:ext cx="164592" cy="164592"/>
          </a:xfrm>
          <a:prstGeom prst="rect">
            <a:avLst/>
          </a:prstGeom>
        </p:spPr>
      </p:pic>
      <p:sp>
        <p:nvSpPr>
          <p:cNvPr id="27" name="Text 19"/>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Taking a few extra minutes to check is always better than creating a risk.</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9A6410"/>
                </a:solidFill>
                <a:latin typeface="SF Pro Display" pitchFamily="34" charset="0"/>
                <a:ea typeface="SF Pro Display" pitchFamily="34" charset="-122"/>
                <a:cs typeface="SF Pro Display" pitchFamily="34" charset="-120"/>
              </a:rPr>
              <a:t>TOPIC 02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Customer Journey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map of a customer's whole experience, from first hearing about us to their cleaning.</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FFF3D6"/>
          </a:solidFill>
          <a:ln w="12700">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five steps</a:t>
            </a:r>
            <a:endParaRPr lang="en-US" sz="1050" dirty="0"/>
          </a:p>
        </p:txBody>
      </p:sp>
      <p:sp>
        <p:nvSpPr>
          <p:cNvPr id="9" name="Shape 6"/>
          <p:cNvSpPr/>
          <p:nvPr/>
        </p:nvSpPr>
        <p:spPr>
          <a:xfrm>
            <a:off x="566928" y="3538728"/>
            <a:ext cx="155448" cy="155448"/>
          </a:xfrm>
          <a:prstGeom prst="ellipse">
            <a:avLst/>
          </a:prstGeom>
          <a:solidFill>
            <a:srgbClr val="FFF3D6"/>
          </a:solidFill>
          <a:ln w="12700">
            <a:solidFill>
              <a:srgbClr val="FFF3D6"/>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customers find us</a:t>
            </a:r>
            <a:endParaRPr lang="en-US" sz="1050" dirty="0"/>
          </a:p>
        </p:txBody>
      </p:sp>
      <p:sp>
        <p:nvSpPr>
          <p:cNvPr id="12" name="Shape 8"/>
          <p:cNvSpPr/>
          <p:nvPr/>
        </p:nvSpPr>
        <p:spPr>
          <a:xfrm>
            <a:off x="566928" y="3813048"/>
            <a:ext cx="155448" cy="155448"/>
          </a:xfrm>
          <a:prstGeom prst="ellipse">
            <a:avLst/>
          </a:prstGeom>
          <a:solidFill>
            <a:srgbClr val="FFF3D6"/>
          </a:solidFill>
          <a:ln w="12700">
            <a:solidFill>
              <a:srgbClr val="FFF3D6"/>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Three ways to sign up</a:t>
            </a:r>
            <a:endParaRPr lang="en-US" sz="1050" dirty="0"/>
          </a:p>
        </p:txBody>
      </p:sp>
      <p:sp>
        <p:nvSpPr>
          <p:cNvPr id="15" name="Shape 10"/>
          <p:cNvSpPr/>
          <p:nvPr/>
        </p:nvSpPr>
        <p:spPr>
          <a:xfrm>
            <a:off x="566928" y="4087368"/>
            <a:ext cx="155448" cy="155448"/>
          </a:xfrm>
          <a:prstGeom prst="ellipse">
            <a:avLst/>
          </a:prstGeom>
          <a:solidFill>
            <a:srgbClr val="FFF3D6"/>
          </a:solidFill>
          <a:ln w="12700">
            <a:solidFill>
              <a:srgbClr val="FFF3D6"/>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Where tickets come from</a:t>
            </a:r>
            <a:endParaRPr lang="en-US" sz="1050" dirty="0"/>
          </a:p>
        </p:txBody>
      </p:sp>
      <p:sp>
        <p:nvSpPr>
          <p:cNvPr id="18" name="Shape 12"/>
          <p:cNvSpPr/>
          <p:nvPr/>
        </p:nvSpPr>
        <p:spPr>
          <a:xfrm>
            <a:off x="5312664" y="621792"/>
            <a:ext cx="3383280" cy="3895344"/>
          </a:xfrm>
          <a:prstGeom prst="roundRect">
            <a:avLst>
              <a:gd name="adj" fmla="val 2162"/>
            </a:avLst>
          </a:prstGeom>
          <a:solidFill>
            <a:srgbClr val="FFF3D6"/>
          </a:solidFill>
          <a:ln w="9525">
            <a:solidFill>
              <a:srgbClr val="FFF3D6"/>
            </a:solidFill>
            <a:prstDash val="solid"/>
          </a:ln>
        </p:spPr>
      </p:sp>
      <p:sp>
        <p:nvSpPr>
          <p:cNvPr id="19" name="Shape 13"/>
          <p:cNvSpPr/>
          <p:nvPr/>
        </p:nvSpPr>
        <p:spPr>
          <a:xfrm>
            <a:off x="5724144" y="1097280"/>
            <a:ext cx="2560320" cy="2560320"/>
          </a:xfrm>
          <a:prstGeom prst="ellipse">
            <a:avLst/>
          </a:prstGeom>
          <a:solidFill>
            <a:srgbClr val="FFFFFF"/>
          </a:solidFill>
          <a:ln w="12700">
            <a:solidFill>
              <a:srgbClr val="FFFFFF"/>
            </a:solidFill>
            <a:prstDash val="solid"/>
          </a:ln>
        </p:spPr>
      </p:sp>
      <p:pic>
        <p:nvPicPr>
          <p:cNvPr id="20" name="Image 4" descr="preencoded.png">    </p:cNvPr>
          <p:cNvPicPr>
            <a:picLocks noChangeAspect="1"/>
          </p:cNvPicPr>
          <p:nvPr/>
        </p:nvPicPr>
        <p:blipFill>
          <a:blip r:embed="rId5"/>
          <a:stretch>
            <a:fillRect/>
          </a:stretch>
        </p:blipFill>
        <p:spPr>
          <a:xfrm>
            <a:off x="6455664" y="1828800"/>
            <a:ext cx="1097280" cy="109728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9A6410"/>
          </a:solidFill>
          <a:ln w="12700">
            <a:solidFill>
              <a:srgbClr val="9A6410"/>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9A6410"/>
          </a:solidFill>
          <a:ln w="12700">
            <a:solidFill>
              <a:srgbClr val="9A6410"/>
            </a:solidFill>
            <a:prstDash val="solid"/>
          </a:ln>
        </p:spPr>
      </p:sp>
      <p:sp>
        <p:nvSpPr>
          <p:cNvPr id="25" name="Shape 18"/>
          <p:cNvSpPr/>
          <p:nvPr/>
        </p:nvSpPr>
        <p:spPr>
          <a:xfrm>
            <a:off x="8193024" y="4041648"/>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65092"/>
            <a:ext cx="82296" cy="82296"/>
          </a:xfrm>
          <a:prstGeom prst="ellipse">
            <a:avLst/>
          </a:prstGeom>
          <a:solidFill>
            <a:srgbClr val="9A6410"/>
          </a:solidFill>
          <a:ln w="12700">
            <a:solidFill>
              <a:srgbClr val="9A6410"/>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CUSTOMER JOURNEY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Five steps, one journey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 ticket you handle sits somewhere on this path.</a:t>
            </a:r>
            <a:endParaRPr lang="en-US" sz="1200" dirty="0"/>
          </a:p>
        </p:txBody>
      </p:sp>
      <p:sp>
        <p:nvSpPr>
          <p:cNvPr id="6" name="Shape 3"/>
          <p:cNvSpPr/>
          <p:nvPr/>
        </p:nvSpPr>
        <p:spPr>
          <a:xfrm>
            <a:off x="411480" y="1554480"/>
            <a:ext cx="1481328" cy="1828800"/>
          </a:xfrm>
          <a:prstGeom prst="roundRect">
            <a:avLst>
              <a:gd name="adj" fmla="val 4938"/>
            </a:avLst>
          </a:prstGeom>
          <a:solidFill>
            <a:srgbClr val="FFFFFF"/>
          </a:solidFill>
          <a:ln w="9525">
            <a:solidFill>
              <a:srgbClr val="DCE1E7"/>
            </a:solidFill>
            <a:prstDash val="solid"/>
          </a:ln>
        </p:spPr>
      </p:sp>
      <p:sp>
        <p:nvSpPr>
          <p:cNvPr id="7" name="Shape 4"/>
          <p:cNvSpPr/>
          <p:nvPr/>
        </p:nvSpPr>
        <p:spPr>
          <a:xfrm>
            <a:off x="877824" y="1783080"/>
            <a:ext cx="548640" cy="548640"/>
          </a:xfrm>
          <a:prstGeom prst="ellipse">
            <a:avLst/>
          </a:prstGeom>
          <a:solidFill>
            <a:srgbClr val="FFF3D6"/>
          </a:solidFill>
          <a:ln w="12700">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1009498" y="1914754"/>
            <a:ext cx="285293" cy="285293"/>
          </a:xfrm>
          <a:prstGeom prst="rect">
            <a:avLst/>
          </a:prstGeom>
        </p:spPr>
      </p:pic>
      <p:sp>
        <p:nvSpPr>
          <p:cNvPr id="9" name="Text 5"/>
          <p:cNvSpPr txBox="1"/>
          <p:nvPr/>
        </p:nvSpPr>
        <p:spPr>
          <a:xfrm>
            <a:off x="411480" y="2487168"/>
            <a:ext cx="1481328" cy="182880"/>
          </a:xfrm>
          <a:prstGeom prst="rect">
            <a:avLst/>
          </a:prstGeom>
          <a:noFill/>
          <a:ln/>
        </p:spPr>
        <p:txBody>
          <a:bodyPr wrap="square" lIns="0" tIns="0" rIns="0" bIns="0" rtlCol="0" anchor="t"/>
          <a:lstStyle/>
          <a:p>
            <a:pPr algn="ctr" indent="0" marL="0">
              <a:buNone/>
            </a:pPr>
            <a:r>
              <a:rPr lang="en-US" sz="800" b="1" spc="50" kern="0" dirty="0">
                <a:solidFill>
                  <a:srgbClr val="9A6410"/>
                </a:solidFill>
                <a:latin typeface="SF Pro Display" pitchFamily="34" charset="0"/>
                <a:ea typeface="SF Pro Display" pitchFamily="34" charset="-122"/>
                <a:cs typeface="SF Pro Display" pitchFamily="34" charset="-120"/>
              </a:rPr>
              <a:t>STEP 1</a:t>
            </a:r>
            <a:endParaRPr lang="en-US" sz="800" dirty="0"/>
          </a:p>
        </p:txBody>
      </p:sp>
      <p:sp>
        <p:nvSpPr>
          <p:cNvPr id="10" name="Text 6"/>
          <p:cNvSpPr txBox="1"/>
          <p:nvPr/>
        </p:nvSpPr>
        <p:spPr>
          <a:xfrm>
            <a:off x="502920" y="2697480"/>
            <a:ext cx="1298448" cy="502920"/>
          </a:xfrm>
          <a:prstGeom prst="rect">
            <a:avLst/>
          </a:prstGeom>
          <a:noFill/>
          <a:ln/>
        </p:spPr>
        <p:txBody>
          <a:bodyPr wrap="square" lIns="0" tIns="0" rIns="0" bIns="0" rtlCol="0" anchor="t"/>
          <a:lstStyle/>
          <a:p>
            <a:pPr algn="ctr" indent="0" marL="0">
              <a:buNone/>
            </a:pPr>
            <a:r>
              <a:rPr lang="en-US" sz="1150" b="1" dirty="0">
                <a:solidFill>
                  <a:srgbClr val="1D1D1F"/>
                </a:solidFill>
                <a:latin typeface="SF Pro Display" pitchFamily="34" charset="0"/>
                <a:ea typeface="SF Pro Display" pitchFamily="34" charset="-122"/>
                <a:cs typeface="SF Pro Display" pitchFamily="34" charset="-120"/>
              </a:rPr>
              <a:t>Learns about us</a:t>
            </a:r>
            <a:endParaRPr lang="en-US" sz="1150" dirty="0"/>
          </a:p>
        </p:txBody>
      </p:sp>
      <p:pic>
        <p:nvPicPr>
          <p:cNvPr id="11" name="Image 1" descr="preencoded.png">    </p:cNvPr>
          <p:cNvPicPr>
            <a:picLocks noChangeAspect="1"/>
          </p:cNvPicPr>
          <p:nvPr/>
        </p:nvPicPr>
        <p:blipFill>
          <a:blip r:embed="rId2"/>
          <a:stretch>
            <a:fillRect/>
          </a:stretch>
        </p:blipFill>
        <p:spPr>
          <a:xfrm>
            <a:off x="1924812" y="2377440"/>
            <a:ext cx="164592" cy="164592"/>
          </a:xfrm>
          <a:prstGeom prst="rect">
            <a:avLst/>
          </a:prstGeom>
        </p:spPr>
      </p:pic>
      <p:sp>
        <p:nvSpPr>
          <p:cNvPr id="12" name="Shape 7"/>
          <p:cNvSpPr/>
          <p:nvPr/>
        </p:nvSpPr>
        <p:spPr>
          <a:xfrm>
            <a:off x="2121408" y="1554480"/>
            <a:ext cx="1481328" cy="1828800"/>
          </a:xfrm>
          <a:prstGeom prst="roundRect">
            <a:avLst>
              <a:gd name="adj" fmla="val 4938"/>
            </a:avLst>
          </a:prstGeom>
          <a:solidFill>
            <a:srgbClr val="FFFFFF"/>
          </a:solidFill>
          <a:ln w="9525">
            <a:solidFill>
              <a:srgbClr val="DCE1E7"/>
            </a:solidFill>
            <a:prstDash val="solid"/>
          </a:ln>
        </p:spPr>
      </p:sp>
      <p:sp>
        <p:nvSpPr>
          <p:cNvPr id="13" name="Shape 8"/>
          <p:cNvSpPr/>
          <p:nvPr/>
        </p:nvSpPr>
        <p:spPr>
          <a:xfrm>
            <a:off x="2587752" y="1783080"/>
            <a:ext cx="548640" cy="548640"/>
          </a:xfrm>
          <a:prstGeom prst="ellipse">
            <a:avLst/>
          </a:prstGeom>
          <a:solidFill>
            <a:srgbClr val="FFF3D6"/>
          </a:solidFill>
          <a:ln w="12700">
            <a:solidFill>
              <a:srgbClr val="FFF3D6"/>
            </a:solidFill>
            <a:prstDash val="solid"/>
          </a:ln>
        </p:spPr>
      </p:sp>
      <p:pic>
        <p:nvPicPr>
          <p:cNvPr id="14" name="Image 2" descr="preencoded.png">    </p:cNvPr>
          <p:cNvPicPr>
            <a:picLocks noChangeAspect="1"/>
          </p:cNvPicPr>
          <p:nvPr/>
        </p:nvPicPr>
        <p:blipFill>
          <a:blip r:embed="rId3"/>
          <a:stretch>
            <a:fillRect/>
          </a:stretch>
        </p:blipFill>
        <p:spPr>
          <a:xfrm>
            <a:off x="2719426" y="1914754"/>
            <a:ext cx="285293" cy="285293"/>
          </a:xfrm>
          <a:prstGeom prst="rect">
            <a:avLst/>
          </a:prstGeom>
        </p:spPr>
      </p:pic>
      <p:sp>
        <p:nvSpPr>
          <p:cNvPr id="15" name="Text 9"/>
          <p:cNvSpPr txBox="1"/>
          <p:nvPr/>
        </p:nvSpPr>
        <p:spPr>
          <a:xfrm>
            <a:off x="2121408" y="2487168"/>
            <a:ext cx="1481328" cy="182880"/>
          </a:xfrm>
          <a:prstGeom prst="rect">
            <a:avLst/>
          </a:prstGeom>
          <a:noFill/>
          <a:ln/>
        </p:spPr>
        <p:txBody>
          <a:bodyPr wrap="square" lIns="0" tIns="0" rIns="0" bIns="0" rtlCol="0" anchor="t"/>
          <a:lstStyle/>
          <a:p>
            <a:pPr algn="ctr" indent="0" marL="0">
              <a:buNone/>
            </a:pPr>
            <a:r>
              <a:rPr lang="en-US" sz="800" b="1" spc="50" kern="0" dirty="0">
                <a:solidFill>
                  <a:srgbClr val="9A6410"/>
                </a:solidFill>
                <a:latin typeface="SF Pro Display" pitchFamily="34" charset="0"/>
                <a:ea typeface="SF Pro Display" pitchFamily="34" charset="-122"/>
                <a:cs typeface="SF Pro Display" pitchFamily="34" charset="-120"/>
              </a:rPr>
              <a:t>STEP 2</a:t>
            </a:r>
            <a:endParaRPr lang="en-US" sz="800" dirty="0"/>
          </a:p>
        </p:txBody>
      </p:sp>
      <p:sp>
        <p:nvSpPr>
          <p:cNvPr id="16" name="Text 10"/>
          <p:cNvSpPr txBox="1"/>
          <p:nvPr/>
        </p:nvSpPr>
        <p:spPr>
          <a:xfrm>
            <a:off x="2212848" y="2697480"/>
            <a:ext cx="1298448" cy="502920"/>
          </a:xfrm>
          <a:prstGeom prst="rect">
            <a:avLst/>
          </a:prstGeom>
          <a:noFill/>
          <a:ln/>
        </p:spPr>
        <p:txBody>
          <a:bodyPr wrap="square" lIns="0" tIns="0" rIns="0" bIns="0" rtlCol="0" anchor="t"/>
          <a:lstStyle/>
          <a:p>
            <a:pPr algn="ctr" indent="0" marL="0">
              <a:buNone/>
            </a:pPr>
            <a:r>
              <a:rPr lang="en-US" sz="1150" b="1" dirty="0">
                <a:solidFill>
                  <a:srgbClr val="1D1D1F"/>
                </a:solidFill>
                <a:latin typeface="SF Pro Display" pitchFamily="34" charset="0"/>
                <a:ea typeface="SF Pro Display" pitchFamily="34" charset="-122"/>
                <a:cs typeface="SF Pro Display" pitchFamily="34" charset="-120"/>
              </a:rPr>
              <a:t>Signs up</a:t>
            </a:r>
            <a:endParaRPr lang="en-US" sz="1150" dirty="0"/>
          </a:p>
        </p:txBody>
      </p:sp>
      <p:pic>
        <p:nvPicPr>
          <p:cNvPr id="17" name="Image 3" descr="preencoded.png">    </p:cNvPr>
          <p:cNvPicPr>
            <a:picLocks noChangeAspect="1"/>
          </p:cNvPicPr>
          <p:nvPr/>
        </p:nvPicPr>
        <p:blipFill>
          <a:blip r:embed="rId4"/>
          <a:stretch>
            <a:fillRect/>
          </a:stretch>
        </p:blipFill>
        <p:spPr>
          <a:xfrm>
            <a:off x="3634740" y="2377440"/>
            <a:ext cx="164592" cy="164592"/>
          </a:xfrm>
          <a:prstGeom prst="rect">
            <a:avLst/>
          </a:prstGeom>
        </p:spPr>
      </p:pic>
      <p:sp>
        <p:nvSpPr>
          <p:cNvPr id="18" name="Shape 11"/>
          <p:cNvSpPr/>
          <p:nvPr/>
        </p:nvSpPr>
        <p:spPr>
          <a:xfrm>
            <a:off x="3831336" y="1554480"/>
            <a:ext cx="1481328" cy="1828800"/>
          </a:xfrm>
          <a:prstGeom prst="roundRect">
            <a:avLst>
              <a:gd name="adj" fmla="val 4938"/>
            </a:avLst>
          </a:prstGeom>
          <a:solidFill>
            <a:srgbClr val="FFFFFF"/>
          </a:solidFill>
          <a:ln w="9525">
            <a:solidFill>
              <a:srgbClr val="DCE1E7"/>
            </a:solidFill>
            <a:prstDash val="solid"/>
          </a:ln>
        </p:spPr>
      </p:sp>
      <p:sp>
        <p:nvSpPr>
          <p:cNvPr id="19" name="Shape 12"/>
          <p:cNvSpPr/>
          <p:nvPr/>
        </p:nvSpPr>
        <p:spPr>
          <a:xfrm>
            <a:off x="4297680" y="1783080"/>
            <a:ext cx="548640" cy="548640"/>
          </a:xfrm>
          <a:prstGeom prst="ellipse">
            <a:avLst/>
          </a:prstGeom>
          <a:solidFill>
            <a:srgbClr val="FFF3D6"/>
          </a:solidFill>
          <a:ln w="12700">
            <a:solidFill>
              <a:srgbClr val="FFF3D6"/>
            </a:solidFill>
            <a:prstDash val="solid"/>
          </a:ln>
        </p:spPr>
      </p:sp>
      <p:pic>
        <p:nvPicPr>
          <p:cNvPr id="20" name="Image 4" descr="preencoded.png">    </p:cNvPr>
          <p:cNvPicPr>
            <a:picLocks noChangeAspect="1"/>
          </p:cNvPicPr>
          <p:nvPr/>
        </p:nvPicPr>
        <p:blipFill>
          <a:blip r:embed="rId5"/>
          <a:stretch>
            <a:fillRect/>
          </a:stretch>
        </p:blipFill>
        <p:spPr>
          <a:xfrm>
            <a:off x="4429354" y="1914754"/>
            <a:ext cx="285293" cy="285293"/>
          </a:xfrm>
          <a:prstGeom prst="rect">
            <a:avLst/>
          </a:prstGeom>
        </p:spPr>
      </p:pic>
      <p:sp>
        <p:nvSpPr>
          <p:cNvPr id="21" name="Text 13"/>
          <p:cNvSpPr txBox="1"/>
          <p:nvPr/>
        </p:nvSpPr>
        <p:spPr>
          <a:xfrm>
            <a:off x="3831336" y="2487168"/>
            <a:ext cx="1481328" cy="182880"/>
          </a:xfrm>
          <a:prstGeom prst="rect">
            <a:avLst/>
          </a:prstGeom>
          <a:noFill/>
          <a:ln/>
        </p:spPr>
        <p:txBody>
          <a:bodyPr wrap="square" lIns="0" tIns="0" rIns="0" bIns="0" rtlCol="0" anchor="t"/>
          <a:lstStyle/>
          <a:p>
            <a:pPr algn="ctr" indent="0" marL="0">
              <a:buNone/>
            </a:pPr>
            <a:r>
              <a:rPr lang="en-US" sz="800" b="1" spc="50" kern="0" dirty="0">
                <a:solidFill>
                  <a:srgbClr val="9A6410"/>
                </a:solidFill>
                <a:latin typeface="SF Pro Display" pitchFamily="34" charset="0"/>
                <a:ea typeface="SF Pro Display" pitchFamily="34" charset="-122"/>
                <a:cs typeface="SF Pro Display" pitchFamily="34" charset="-120"/>
              </a:rPr>
              <a:t>STEP 3</a:t>
            </a:r>
            <a:endParaRPr lang="en-US" sz="800" dirty="0"/>
          </a:p>
        </p:txBody>
      </p:sp>
      <p:sp>
        <p:nvSpPr>
          <p:cNvPr id="22" name="Text 14"/>
          <p:cNvSpPr txBox="1"/>
          <p:nvPr/>
        </p:nvSpPr>
        <p:spPr>
          <a:xfrm>
            <a:off x="3922776" y="2697480"/>
            <a:ext cx="1298448" cy="502920"/>
          </a:xfrm>
          <a:prstGeom prst="rect">
            <a:avLst/>
          </a:prstGeom>
          <a:noFill/>
          <a:ln/>
        </p:spPr>
        <p:txBody>
          <a:bodyPr wrap="square" lIns="0" tIns="0" rIns="0" bIns="0" rtlCol="0" anchor="t"/>
          <a:lstStyle/>
          <a:p>
            <a:pPr algn="ctr" indent="0" marL="0">
              <a:buNone/>
            </a:pPr>
            <a:r>
              <a:rPr lang="en-US" sz="1150" b="1" dirty="0">
                <a:solidFill>
                  <a:srgbClr val="1D1D1F"/>
                </a:solidFill>
                <a:latin typeface="SF Pro Display" pitchFamily="34" charset="0"/>
                <a:ea typeface="SF Pro Display" pitchFamily="34" charset="-122"/>
                <a:cs typeface="SF Pro Display" pitchFamily="34" charset="-120"/>
              </a:rPr>
              <a:t>Books</a:t>
            </a:r>
            <a:endParaRPr lang="en-US" sz="1150" dirty="0"/>
          </a:p>
        </p:txBody>
      </p:sp>
      <p:pic>
        <p:nvPicPr>
          <p:cNvPr id="23" name="Image 5" descr="preencoded.png">    </p:cNvPr>
          <p:cNvPicPr>
            <a:picLocks noChangeAspect="1"/>
          </p:cNvPicPr>
          <p:nvPr/>
        </p:nvPicPr>
        <p:blipFill>
          <a:blip r:embed="rId6"/>
          <a:stretch>
            <a:fillRect/>
          </a:stretch>
        </p:blipFill>
        <p:spPr>
          <a:xfrm>
            <a:off x="5344668" y="2377440"/>
            <a:ext cx="164592" cy="164592"/>
          </a:xfrm>
          <a:prstGeom prst="rect">
            <a:avLst/>
          </a:prstGeom>
        </p:spPr>
      </p:pic>
      <p:sp>
        <p:nvSpPr>
          <p:cNvPr id="24" name="Shape 15"/>
          <p:cNvSpPr/>
          <p:nvPr/>
        </p:nvSpPr>
        <p:spPr>
          <a:xfrm>
            <a:off x="5541264" y="1554480"/>
            <a:ext cx="1481328" cy="1828800"/>
          </a:xfrm>
          <a:prstGeom prst="roundRect">
            <a:avLst>
              <a:gd name="adj" fmla="val 4938"/>
            </a:avLst>
          </a:prstGeom>
          <a:solidFill>
            <a:srgbClr val="FFFFFF"/>
          </a:solidFill>
          <a:ln w="9525">
            <a:solidFill>
              <a:srgbClr val="DCE1E7"/>
            </a:solidFill>
            <a:prstDash val="solid"/>
          </a:ln>
        </p:spPr>
      </p:sp>
      <p:sp>
        <p:nvSpPr>
          <p:cNvPr id="25" name="Shape 16"/>
          <p:cNvSpPr/>
          <p:nvPr/>
        </p:nvSpPr>
        <p:spPr>
          <a:xfrm>
            <a:off x="6007608" y="1783080"/>
            <a:ext cx="548640" cy="548640"/>
          </a:xfrm>
          <a:prstGeom prst="ellipse">
            <a:avLst/>
          </a:prstGeom>
          <a:solidFill>
            <a:srgbClr val="FFF3D6"/>
          </a:solidFill>
          <a:ln w="12700">
            <a:solidFill>
              <a:srgbClr val="FFF3D6"/>
            </a:solidFill>
            <a:prstDash val="solid"/>
          </a:ln>
        </p:spPr>
      </p:sp>
      <p:pic>
        <p:nvPicPr>
          <p:cNvPr id="26" name="Image 6" descr="preencoded.png">    </p:cNvPr>
          <p:cNvPicPr>
            <a:picLocks noChangeAspect="1"/>
          </p:cNvPicPr>
          <p:nvPr/>
        </p:nvPicPr>
        <p:blipFill>
          <a:blip r:embed="rId7"/>
          <a:stretch>
            <a:fillRect/>
          </a:stretch>
        </p:blipFill>
        <p:spPr>
          <a:xfrm>
            <a:off x="6139282" y="1914754"/>
            <a:ext cx="285293" cy="285293"/>
          </a:xfrm>
          <a:prstGeom prst="rect">
            <a:avLst/>
          </a:prstGeom>
        </p:spPr>
      </p:pic>
      <p:sp>
        <p:nvSpPr>
          <p:cNvPr id="27" name="Text 17"/>
          <p:cNvSpPr txBox="1"/>
          <p:nvPr/>
        </p:nvSpPr>
        <p:spPr>
          <a:xfrm>
            <a:off x="5541264" y="2487168"/>
            <a:ext cx="1481328" cy="182880"/>
          </a:xfrm>
          <a:prstGeom prst="rect">
            <a:avLst/>
          </a:prstGeom>
          <a:noFill/>
          <a:ln/>
        </p:spPr>
        <p:txBody>
          <a:bodyPr wrap="square" lIns="0" tIns="0" rIns="0" bIns="0" rtlCol="0" anchor="t"/>
          <a:lstStyle/>
          <a:p>
            <a:pPr algn="ctr" indent="0" marL="0">
              <a:buNone/>
            </a:pPr>
            <a:r>
              <a:rPr lang="en-US" sz="800" b="1" spc="50" kern="0" dirty="0">
                <a:solidFill>
                  <a:srgbClr val="9A6410"/>
                </a:solidFill>
                <a:latin typeface="SF Pro Display" pitchFamily="34" charset="0"/>
                <a:ea typeface="SF Pro Display" pitchFamily="34" charset="-122"/>
                <a:cs typeface="SF Pro Display" pitchFamily="34" charset="-120"/>
              </a:rPr>
              <a:t>STEP 4</a:t>
            </a:r>
            <a:endParaRPr lang="en-US" sz="800" dirty="0"/>
          </a:p>
        </p:txBody>
      </p:sp>
      <p:sp>
        <p:nvSpPr>
          <p:cNvPr id="28" name="Text 18"/>
          <p:cNvSpPr txBox="1"/>
          <p:nvPr/>
        </p:nvSpPr>
        <p:spPr>
          <a:xfrm>
            <a:off x="5632704" y="2697480"/>
            <a:ext cx="1298448" cy="502920"/>
          </a:xfrm>
          <a:prstGeom prst="rect">
            <a:avLst/>
          </a:prstGeom>
          <a:noFill/>
          <a:ln/>
        </p:spPr>
        <p:txBody>
          <a:bodyPr wrap="square" lIns="0" tIns="0" rIns="0" bIns="0" rtlCol="0" anchor="t"/>
          <a:lstStyle/>
          <a:p>
            <a:pPr algn="ctr" indent="0" marL="0">
              <a:buNone/>
            </a:pPr>
            <a:r>
              <a:rPr lang="en-US" sz="1150" b="1" dirty="0">
                <a:solidFill>
                  <a:srgbClr val="1D1D1F"/>
                </a:solidFill>
                <a:latin typeface="SF Pro Display" pitchFamily="34" charset="0"/>
                <a:ea typeface="SF Pro Display" pitchFamily="34" charset="-122"/>
                <a:cs typeface="SF Pro Display" pitchFamily="34" charset="-120"/>
              </a:rPr>
              <a:t>Manages the appointment</a:t>
            </a:r>
            <a:endParaRPr lang="en-US" sz="1150" dirty="0"/>
          </a:p>
        </p:txBody>
      </p:sp>
      <p:pic>
        <p:nvPicPr>
          <p:cNvPr id="29" name="Image 7" descr="preencoded.png">    </p:cNvPr>
          <p:cNvPicPr>
            <a:picLocks noChangeAspect="1"/>
          </p:cNvPicPr>
          <p:nvPr/>
        </p:nvPicPr>
        <p:blipFill>
          <a:blip r:embed="rId8"/>
          <a:stretch>
            <a:fillRect/>
          </a:stretch>
        </p:blipFill>
        <p:spPr>
          <a:xfrm>
            <a:off x="7054596" y="2377440"/>
            <a:ext cx="164592" cy="164592"/>
          </a:xfrm>
          <a:prstGeom prst="rect">
            <a:avLst/>
          </a:prstGeom>
        </p:spPr>
      </p:pic>
      <p:sp>
        <p:nvSpPr>
          <p:cNvPr id="30" name="Shape 19"/>
          <p:cNvSpPr/>
          <p:nvPr/>
        </p:nvSpPr>
        <p:spPr>
          <a:xfrm>
            <a:off x="7251192" y="1554480"/>
            <a:ext cx="1481328" cy="1828800"/>
          </a:xfrm>
          <a:prstGeom prst="roundRect">
            <a:avLst>
              <a:gd name="adj" fmla="val 4938"/>
            </a:avLst>
          </a:prstGeom>
          <a:solidFill>
            <a:srgbClr val="FFFFFF"/>
          </a:solidFill>
          <a:ln w="9525">
            <a:solidFill>
              <a:srgbClr val="DCE1E7"/>
            </a:solidFill>
            <a:prstDash val="solid"/>
          </a:ln>
        </p:spPr>
      </p:sp>
      <p:sp>
        <p:nvSpPr>
          <p:cNvPr id="31" name="Shape 20"/>
          <p:cNvSpPr/>
          <p:nvPr/>
        </p:nvSpPr>
        <p:spPr>
          <a:xfrm>
            <a:off x="7717536" y="1783080"/>
            <a:ext cx="548640" cy="548640"/>
          </a:xfrm>
          <a:prstGeom prst="ellipse">
            <a:avLst/>
          </a:prstGeom>
          <a:solidFill>
            <a:srgbClr val="FFF3D6"/>
          </a:solidFill>
          <a:ln w="12700">
            <a:solidFill>
              <a:srgbClr val="FFF3D6"/>
            </a:solidFill>
            <a:prstDash val="solid"/>
          </a:ln>
        </p:spPr>
      </p:sp>
      <p:pic>
        <p:nvPicPr>
          <p:cNvPr id="32" name="Image 8" descr="preencoded.png">    </p:cNvPr>
          <p:cNvPicPr>
            <a:picLocks noChangeAspect="1"/>
          </p:cNvPicPr>
          <p:nvPr/>
        </p:nvPicPr>
        <p:blipFill>
          <a:blip r:embed="rId9"/>
          <a:stretch>
            <a:fillRect/>
          </a:stretch>
        </p:blipFill>
        <p:spPr>
          <a:xfrm>
            <a:off x="7849210" y="1914754"/>
            <a:ext cx="285293" cy="285293"/>
          </a:xfrm>
          <a:prstGeom prst="rect">
            <a:avLst/>
          </a:prstGeom>
        </p:spPr>
      </p:pic>
      <p:sp>
        <p:nvSpPr>
          <p:cNvPr id="33" name="Text 21"/>
          <p:cNvSpPr txBox="1"/>
          <p:nvPr/>
        </p:nvSpPr>
        <p:spPr>
          <a:xfrm>
            <a:off x="7251192" y="2487168"/>
            <a:ext cx="1481328" cy="182880"/>
          </a:xfrm>
          <a:prstGeom prst="rect">
            <a:avLst/>
          </a:prstGeom>
          <a:noFill/>
          <a:ln/>
        </p:spPr>
        <p:txBody>
          <a:bodyPr wrap="square" lIns="0" tIns="0" rIns="0" bIns="0" rtlCol="0" anchor="t"/>
          <a:lstStyle/>
          <a:p>
            <a:pPr algn="ctr" indent="0" marL="0">
              <a:buNone/>
            </a:pPr>
            <a:r>
              <a:rPr lang="en-US" sz="800" b="1" spc="50" kern="0" dirty="0">
                <a:solidFill>
                  <a:srgbClr val="9A6410"/>
                </a:solidFill>
                <a:latin typeface="SF Pro Display" pitchFamily="34" charset="0"/>
                <a:ea typeface="SF Pro Display" pitchFamily="34" charset="-122"/>
                <a:cs typeface="SF Pro Display" pitchFamily="34" charset="-120"/>
              </a:rPr>
              <a:t>STEP 5</a:t>
            </a:r>
            <a:endParaRPr lang="en-US" sz="800" dirty="0"/>
          </a:p>
        </p:txBody>
      </p:sp>
      <p:sp>
        <p:nvSpPr>
          <p:cNvPr id="34" name="Text 22"/>
          <p:cNvSpPr txBox="1"/>
          <p:nvPr/>
        </p:nvSpPr>
        <p:spPr>
          <a:xfrm>
            <a:off x="7342632" y="2697480"/>
            <a:ext cx="1298448" cy="502920"/>
          </a:xfrm>
          <a:prstGeom prst="rect">
            <a:avLst/>
          </a:prstGeom>
          <a:noFill/>
          <a:ln/>
        </p:spPr>
        <p:txBody>
          <a:bodyPr wrap="square" lIns="0" tIns="0" rIns="0" bIns="0" rtlCol="0" anchor="t"/>
          <a:lstStyle/>
          <a:p>
            <a:pPr algn="ctr" indent="0" marL="0">
              <a:buNone/>
            </a:pPr>
            <a:r>
              <a:rPr lang="en-US" sz="1150" b="1" dirty="0">
                <a:solidFill>
                  <a:srgbClr val="1D1D1F"/>
                </a:solidFill>
                <a:latin typeface="SF Pro Display" pitchFamily="34" charset="0"/>
                <a:ea typeface="SF Pro Display" pitchFamily="34" charset="-122"/>
                <a:cs typeface="SF Pro Display" pitchFamily="34" charset="-120"/>
              </a:rPr>
              <a:t>Receives and pays</a:t>
            </a:r>
            <a:endParaRPr lang="en-US" sz="1150" dirty="0"/>
          </a:p>
        </p:txBody>
      </p:sp>
      <p:sp>
        <p:nvSpPr>
          <p:cNvPr id="35" name="Shape 23"/>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36" name="Image 9" descr="preencoded.png">    </p:cNvPr>
          <p:cNvPicPr>
            <a:picLocks noChangeAspect="1"/>
          </p:cNvPicPr>
          <p:nvPr/>
        </p:nvPicPr>
        <p:blipFill>
          <a:blip r:embed="rId10"/>
          <a:stretch>
            <a:fillRect/>
          </a:stretch>
        </p:blipFill>
        <p:spPr>
          <a:xfrm>
            <a:off x="566928" y="3858768"/>
            <a:ext cx="164592" cy="164592"/>
          </a:xfrm>
          <a:prstGeom prst="rect">
            <a:avLst/>
          </a:prstGeom>
        </p:spPr>
      </p:pic>
      <p:sp>
        <p:nvSpPr>
          <p:cNvPr id="37" name="Text 24"/>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Know where the customer is, and you'll know which playbook to use.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1  ·  LEARNS ABOUT 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customers find us</a:t>
            </a:r>
            <a:endParaRPr lang="en-US" sz="2400" dirty="0"/>
          </a:p>
        </p:txBody>
      </p:sp>
      <p:sp>
        <p:nvSpPr>
          <p:cNvPr id="5" name="Shape 2"/>
          <p:cNvSpPr/>
          <p:nvPr/>
        </p:nvSpPr>
        <p:spPr>
          <a:xfrm>
            <a:off x="411480" y="1280160"/>
            <a:ext cx="1554480" cy="2103120"/>
          </a:xfrm>
          <a:prstGeom prst="roundRect">
            <a:avLst>
              <a:gd name="adj" fmla="val 4706"/>
            </a:avLst>
          </a:prstGeom>
          <a:solidFill>
            <a:srgbClr val="FFFFFF"/>
          </a:solidFill>
          <a:ln w="9525">
            <a:solidFill>
              <a:srgbClr val="DCE1E7"/>
            </a:solidFill>
            <a:prstDash val="solid"/>
          </a:ln>
        </p:spPr>
      </p:sp>
      <p:sp>
        <p:nvSpPr>
          <p:cNvPr id="6" name="Shape 3"/>
          <p:cNvSpPr/>
          <p:nvPr/>
        </p:nvSpPr>
        <p:spPr>
          <a:xfrm>
            <a:off x="868680" y="1554480"/>
            <a:ext cx="640080" cy="640080"/>
          </a:xfrm>
          <a:prstGeom prst="ellipse">
            <a:avLst/>
          </a:prstGeom>
          <a:solidFill>
            <a:srgbClr val="FFF3D6"/>
          </a:solidFill>
          <a:ln w="12700">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1022299" y="1708099"/>
            <a:ext cx="332842" cy="332842"/>
          </a:xfrm>
          <a:prstGeom prst="rect">
            <a:avLst/>
          </a:prstGeom>
        </p:spPr>
      </p:pic>
      <p:sp>
        <p:nvSpPr>
          <p:cNvPr id="8" name="Text 4"/>
          <p:cNvSpPr txBox="1"/>
          <p:nvPr/>
        </p:nvSpPr>
        <p:spPr>
          <a:xfrm>
            <a:off x="502920" y="2377440"/>
            <a:ext cx="1371600" cy="274320"/>
          </a:xfrm>
          <a:prstGeom prst="rect">
            <a:avLst/>
          </a:prstGeom>
          <a:noFill/>
          <a:ln/>
        </p:spPr>
        <p:txBody>
          <a:bodyPr wrap="square" lIns="0" tIns="0" rIns="0" bIns="0" rtlCol="0" anchor="t"/>
          <a:lstStyle/>
          <a:p>
            <a:pPr algn="ctr" indent="0" marL="0">
              <a:buNone/>
            </a:pPr>
            <a:r>
              <a:rPr lang="en-US" sz="1150" b="1" dirty="0">
                <a:solidFill>
                  <a:srgbClr val="1D1D1F"/>
                </a:solidFill>
                <a:latin typeface="SF Pro Display" pitchFamily="34" charset="0"/>
                <a:ea typeface="SF Pro Display" pitchFamily="34" charset="-122"/>
                <a:cs typeface="SF Pro Display" pitchFamily="34" charset="-120"/>
              </a:rPr>
              <a:t>Search engines</a:t>
            </a:r>
            <a:endParaRPr lang="en-US" sz="1150" dirty="0"/>
          </a:p>
        </p:txBody>
      </p:sp>
      <p:sp>
        <p:nvSpPr>
          <p:cNvPr id="9" name="Text 5"/>
          <p:cNvSpPr txBox="1"/>
          <p:nvPr/>
        </p:nvSpPr>
        <p:spPr>
          <a:xfrm>
            <a:off x="502920" y="2670048"/>
            <a:ext cx="1371600" cy="45720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The most common source</a:t>
            </a:r>
            <a:endParaRPr lang="en-US" sz="900" dirty="0"/>
          </a:p>
        </p:txBody>
      </p:sp>
      <p:sp>
        <p:nvSpPr>
          <p:cNvPr id="10" name="Shape 6"/>
          <p:cNvSpPr/>
          <p:nvPr/>
        </p:nvSpPr>
        <p:spPr>
          <a:xfrm>
            <a:off x="2103120" y="1280160"/>
            <a:ext cx="1554480" cy="2103120"/>
          </a:xfrm>
          <a:prstGeom prst="roundRect">
            <a:avLst>
              <a:gd name="adj" fmla="val 4706"/>
            </a:avLst>
          </a:prstGeom>
          <a:solidFill>
            <a:srgbClr val="FFFFFF"/>
          </a:solidFill>
          <a:ln w="9525">
            <a:solidFill>
              <a:srgbClr val="DCE1E7"/>
            </a:solidFill>
            <a:prstDash val="solid"/>
          </a:ln>
        </p:spPr>
      </p:sp>
      <p:sp>
        <p:nvSpPr>
          <p:cNvPr id="11" name="Shape 7"/>
          <p:cNvSpPr/>
          <p:nvPr/>
        </p:nvSpPr>
        <p:spPr>
          <a:xfrm>
            <a:off x="2560320" y="1554480"/>
            <a:ext cx="640080" cy="640080"/>
          </a:xfrm>
          <a:prstGeom prst="ellipse">
            <a:avLst/>
          </a:prstGeom>
          <a:solidFill>
            <a:srgbClr val="FFF3D6"/>
          </a:solidFill>
          <a:ln w="12700">
            <a:solidFill>
              <a:srgbClr val="FFF3D6"/>
            </a:solidFill>
            <a:prstDash val="solid"/>
          </a:ln>
        </p:spPr>
      </p:sp>
      <p:pic>
        <p:nvPicPr>
          <p:cNvPr id="12" name="Image 1" descr="preencoded.png">    </p:cNvPr>
          <p:cNvPicPr>
            <a:picLocks noChangeAspect="1"/>
          </p:cNvPicPr>
          <p:nvPr/>
        </p:nvPicPr>
        <p:blipFill>
          <a:blip r:embed="rId2"/>
          <a:stretch>
            <a:fillRect/>
          </a:stretch>
        </p:blipFill>
        <p:spPr>
          <a:xfrm>
            <a:off x="2713939" y="1708099"/>
            <a:ext cx="332842" cy="332842"/>
          </a:xfrm>
          <a:prstGeom prst="rect">
            <a:avLst/>
          </a:prstGeom>
        </p:spPr>
      </p:pic>
      <p:sp>
        <p:nvSpPr>
          <p:cNvPr id="13" name="Text 8"/>
          <p:cNvSpPr txBox="1"/>
          <p:nvPr/>
        </p:nvSpPr>
        <p:spPr>
          <a:xfrm>
            <a:off x="2194560" y="2377440"/>
            <a:ext cx="1371600" cy="274320"/>
          </a:xfrm>
          <a:prstGeom prst="rect">
            <a:avLst/>
          </a:prstGeom>
          <a:noFill/>
          <a:ln/>
        </p:spPr>
        <p:txBody>
          <a:bodyPr wrap="square" lIns="0" tIns="0" rIns="0" bIns="0" rtlCol="0" anchor="t"/>
          <a:lstStyle/>
          <a:p>
            <a:pPr algn="ctr" indent="0" marL="0">
              <a:buNone/>
            </a:pPr>
            <a:r>
              <a:rPr lang="en-US" sz="1150" b="1" dirty="0">
                <a:solidFill>
                  <a:srgbClr val="1D1D1F"/>
                </a:solidFill>
                <a:latin typeface="SF Pro Display" pitchFamily="34" charset="0"/>
                <a:ea typeface="SF Pro Display" pitchFamily="34" charset="-122"/>
                <a:cs typeface="SF Pro Display" pitchFamily="34" charset="-120"/>
              </a:rPr>
              <a:t>Our websites</a:t>
            </a:r>
            <a:endParaRPr lang="en-US" sz="1150" dirty="0"/>
          </a:p>
        </p:txBody>
      </p:sp>
      <p:sp>
        <p:nvSpPr>
          <p:cNvPr id="14" name="Text 9"/>
          <p:cNvSpPr txBox="1"/>
          <p:nvPr/>
        </p:nvSpPr>
        <p:spPr>
          <a:xfrm>
            <a:off x="2194560" y="2670048"/>
            <a:ext cx="1371600" cy="45720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Homeaglow and sister brands</a:t>
            </a:r>
            <a:endParaRPr lang="en-US" sz="900" dirty="0"/>
          </a:p>
        </p:txBody>
      </p:sp>
      <p:sp>
        <p:nvSpPr>
          <p:cNvPr id="15" name="Shape 10"/>
          <p:cNvSpPr/>
          <p:nvPr/>
        </p:nvSpPr>
        <p:spPr>
          <a:xfrm>
            <a:off x="3794760" y="1280160"/>
            <a:ext cx="1554480" cy="2103120"/>
          </a:xfrm>
          <a:prstGeom prst="roundRect">
            <a:avLst>
              <a:gd name="adj" fmla="val 4706"/>
            </a:avLst>
          </a:prstGeom>
          <a:solidFill>
            <a:srgbClr val="FFFFFF"/>
          </a:solidFill>
          <a:ln w="9525">
            <a:solidFill>
              <a:srgbClr val="DCE1E7"/>
            </a:solidFill>
            <a:prstDash val="solid"/>
          </a:ln>
        </p:spPr>
      </p:sp>
      <p:sp>
        <p:nvSpPr>
          <p:cNvPr id="16" name="Shape 11"/>
          <p:cNvSpPr/>
          <p:nvPr/>
        </p:nvSpPr>
        <p:spPr>
          <a:xfrm>
            <a:off x="4251960" y="1554480"/>
            <a:ext cx="640080" cy="640080"/>
          </a:xfrm>
          <a:prstGeom prst="ellipse">
            <a:avLst/>
          </a:prstGeom>
          <a:solidFill>
            <a:srgbClr val="FFF3D6"/>
          </a:solidFill>
          <a:ln w="12700">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4405579" y="1708099"/>
            <a:ext cx="332842" cy="332842"/>
          </a:xfrm>
          <a:prstGeom prst="rect">
            <a:avLst/>
          </a:prstGeom>
        </p:spPr>
      </p:pic>
      <p:sp>
        <p:nvSpPr>
          <p:cNvPr id="18" name="Text 12"/>
          <p:cNvSpPr txBox="1"/>
          <p:nvPr/>
        </p:nvSpPr>
        <p:spPr>
          <a:xfrm>
            <a:off x="3886200" y="2377440"/>
            <a:ext cx="1371600" cy="274320"/>
          </a:xfrm>
          <a:prstGeom prst="rect">
            <a:avLst/>
          </a:prstGeom>
          <a:noFill/>
          <a:ln/>
        </p:spPr>
        <p:txBody>
          <a:bodyPr wrap="square" lIns="0" tIns="0" rIns="0" bIns="0" rtlCol="0" anchor="t"/>
          <a:lstStyle/>
          <a:p>
            <a:pPr algn="ctr" indent="0" marL="0">
              <a:buNone/>
            </a:pPr>
            <a:r>
              <a:rPr lang="en-US" sz="1150" b="1" dirty="0">
                <a:solidFill>
                  <a:srgbClr val="1D1D1F"/>
                </a:solidFill>
                <a:latin typeface="SF Pro Display" pitchFamily="34" charset="0"/>
                <a:ea typeface="SF Pro Display" pitchFamily="34" charset="-122"/>
                <a:cs typeface="SF Pro Display" pitchFamily="34" charset="-120"/>
              </a:rPr>
              <a:t>TV commercials</a:t>
            </a:r>
            <a:endParaRPr lang="en-US" sz="1150" dirty="0"/>
          </a:p>
        </p:txBody>
      </p:sp>
      <p:sp>
        <p:nvSpPr>
          <p:cNvPr id="19" name="Text 13"/>
          <p:cNvSpPr txBox="1"/>
          <p:nvPr/>
        </p:nvSpPr>
        <p:spPr>
          <a:xfrm>
            <a:off x="3886200" y="2670048"/>
            <a:ext cx="1371600" cy="457200"/>
          </a:xfrm>
          <a:prstGeom prst="rect">
            <a:avLst/>
          </a:prstGeom>
          <a:noFill/>
          <a:ln/>
        </p:spPr>
        <p:txBody>
          <a:bodyPr wrap="square" lIns="0" tIns="0" rIns="0" bIns="0" rtlCol="0" anchor="t"/>
          <a:lstStyle/>
          <a:p>
            <a:pPr algn="ctr" indent="0" marL="0">
              <a:buNone/>
            </a:pPr>
            <a:endParaRPr lang="en-US" sz="900" dirty="0"/>
          </a:p>
        </p:txBody>
      </p:sp>
      <p:sp>
        <p:nvSpPr>
          <p:cNvPr id="20" name="Shape 14"/>
          <p:cNvSpPr/>
          <p:nvPr/>
        </p:nvSpPr>
        <p:spPr>
          <a:xfrm>
            <a:off x="5486400" y="1280160"/>
            <a:ext cx="1554480" cy="2103120"/>
          </a:xfrm>
          <a:prstGeom prst="roundRect">
            <a:avLst>
              <a:gd name="adj" fmla="val 4706"/>
            </a:avLst>
          </a:prstGeom>
          <a:solidFill>
            <a:srgbClr val="FFFFFF"/>
          </a:solidFill>
          <a:ln w="9525">
            <a:solidFill>
              <a:srgbClr val="DCE1E7"/>
            </a:solidFill>
            <a:prstDash val="solid"/>
          </a:ln>
        </p:spPr>
      </p:sp>
      <p:sp>
        <p:nvSpPr>
          <p:cNvPr id="21" name="Shape 15"/>
          <p:cNvSpPr/>
          <p:nvPr/>
        </p:nvSpPr>
        <p:spPr>
          <a:xfrm>
            <a:off x="5943600" y="1554480"/>
            <a:ext cx="640080" cy="640080"/>
          </a:xfrm>
          <a:prstGeom prst="ellipse">
            <a:avLst/>
          </a:prstGeom>
          <a:solidFill>
            <a:srgbClr val="FFF3D6"/>
          </a:solidFill>
          <a:ln w="12700">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6097219" y="1708099"/>
            <a:ext cx="332842" cy="332842"/>
          </a:xfrm>
          <a:prstGeom prst="rect">
            <a:avLst/>
          </a:prstGeom>
        </p:spPr>
      </p:pic>
      <p:sp>
        <p:nvSpPr>
          <p:cNvPr id="23" name="Text 16"/>
          <p:cNvSpPr txBox="1"/>
          <p:nvPr/>
        </p:nvSpPr>
        <p:spPr>
          <a:xfrm>
            <a:off x="5577840" y="2377440"/>
            <a:ext cx="1371600" cy="274320"/>
          </a:xfrm>
          <a:prstGeom prst="rect">
            <a:avLst/>
          </a:prstGeom>
          <a:noFill/>
          <a:ln/>
        </p:spPr>
        <p:txBody>
          <a:bodyPr wrap="square" lIns="0" tIns="0" rIns="0" bIns="0" rtlCol="0" anchor="t"/>
          <a:lstStyle/>
          <a:p>
            <a:pPr algn="ctr" indent="0" marL="0">
              <a:buNone/>
            </a:pPr>
            <a:r>
              <a:rPr lang="en-US" sz="1150" b="1" dirty="0">
                <a:solidFill>
                  <a:srgbClr val="1D1D1F"/>
                </a:solidFill>
                <a:latin typeface="SF Pro Display" pitchFamily="34" charset="0"/>
                <a:ea typeface="SF Pro Display" pitchFamily="34" charset="-122"/>
                <a:cs typeface="SF Pro Display" pitchFamily="34" charset="-120"/>
              </a:rPr>
              <a:t>Friends &amp; family</a:t>
            </a:r>
            <a:endParaRPr lang="en-US" sz="1150" dirty="0"/>
          </a:p>
        </p:txBody>
      </p:sp>
      <p:sp>
        <p:nvSpPr>
          <p:cNvPr id="24" name="Text 17"/>
          <p:cNvSpPr txBox="1"/>
          <p:nvPr/>
        </p:nvSpPr>
        <p:spPr>
          <a:xfrm>
            <a:off x="5577840" y="2670048"/>
            <a:ext cx="1371600" cy="45720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Referrals</a:t>
            </a:r>
            <a:endParaRPr lang="en-US" sz="900" dirty="0"/>
          </a:p>
        </p:txBody>
      </p:sp>
      <p:sp>
        <p:nvSpPr>
          <p:cNvPr id="25" name="Shape 18"/>
          <p:cNvSpPr/>
          <p:nvPr/>
        </p:nvSpPr>
        <p:spPr>
          <a:xfrm>
            <a:off x="7178040" y="1280160"/>
            <a:ext cx="1554480" cy="2103120"/>
          </a:xfrm>
          <a:prstGeom prst="roundRect">
            <a:avLst>
              <a:gd name="adj" fmla="val 4706"/>
            </a:avLst>
          </a:prstGeom>
          <a:solidFill>
            <a:srgbClr val="FFFFFF"/>
          </a:solidFill>
          <a:ln w="9525">
            <a:solidFill>
              <a:srgbClr val="DCE1E7"/>
            </a:solidFill>
            <a:prstDash val="solid"/>
          </a:ln>
        </p:spPr>
      </p:sp>
      <p:sp>
        <p:nvSpPr>
          <p:cNvPr id="26" name="Shape 19"/>
          <p:cNvSpPr/>
          <p:nvPr/>
        </p:nvSpPr>
        <p:spPr>
          <a:xfrm>
            <a:off x="7635240" y="1554480"/>
            <a:ext cx="640080" cy="640080"/>
          </a:xfrm>
          <a:prstGeom prst="ellipse">
            <a:avLst/>
          </a:prstGeom>
          <a:solidFill>
            <a:srgbClr val="FFF3D6"/>
          </a:solidFill>
          <a:ln w="12700">
            <a:solidFill>
              <a:srgbClr val="FFF3D6"/>
            </a:solidFill>
            <a:prstDash val="solid"/>
          </a:ln>
        </p:spPr>
      </p:sp>
      <p:pic>
        <p:nvPicPr>
          <p:cNvPr id="27" name="Image 4" descr="preencoded.png">    </p:cNvPr>
          <p:cNvPicPr>
            <a:picLocks noChangeAspect="1"/>
          </p:cNvPicPr>
          <p:nvPr/>
        </p:nvPicPr>
        <p:blipFill>
          <a:blip r:embed="rId5"/>
          <a:stretch>
            <a:fillRect/>
          </a:stretch>
        </p:blipFill>
        <p:spPr>
          <a:xfrm>
            <a:off x="7788859" y="1708099"/>
            <a:ext cx="332842" cy="332842"/>
          </a:xfrm>
          <a:prstGeom prst="rect">
            <a:avLst/>
          </a:prstGeom>
        </p:spPr>
      </p:pic>
      <p:sp>
        <p:nvSpPr>
          <p:cNvPr id="28" name="Text 20"/>
          <p:cNvSpPr txBox="1"/>
          <p:nvPr/>
        </p:nvSpPr>
        <p:spPr>
          <a:xfrm>
            <a:off x="7269480" y="2377440"/>
            <a:ext cx="1371600" cy="274320"/>
          </a:xfrm>
          <a:prstGeom prst="rect">
            <a:avLst/>
          </a:prstGeom>
          <a:noFill/>
          <a:ln/>
        </p:spPr>
        <p:txBody>
          <a:bodyPr wrap="square" lIns="0" tIns="0" rIns="0" bIns="0" rtlCol="0" anchor="t"/>
          <a:lstStyle/>
          <a:p>
            <a:pPr algn="ctr" indent="0" marL="0">
              <a:buNone/>
            </a:pPr>
            <a:r>
              <a:rPr lang="en-US" sz="1150" b="1" dirty="0">
                <a:solidFill>
                  <a:srgbClr val="1D1D1F"/>
                </a:solidFill>
                <a:latin typeface="SF Pro Display" pitchFamily="34" charset="0"/>
                <a:ea typeface="SF Pro Display" pitchFamily="34" charset="-122"/>
                <a:cs typeface="SF Pro Display" pitchFamily="34" charset="-120"/>
              </a:rPr>
              <a:t>Social media</a:t>
            </a:r>
            <a:endParaRPr lang="en-US" sz="1150" dirty="0"/>
          </a:p>
        </p:txBody>
      </p:sp>
      <p:sp>
        <p:nvSpPr>
          <p:cNvPr id="29" name="Text 21"/>
          <p:cNvSpPr txBox="1"/>
          <p:nvPr/>
        </p:nvSpPr>
        <p:spPr>
          <a:xfrm>
            <a:off x="7269480" y="2670048"/>
            <a:ext cx="1371600" cy="45720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Facebook, YouTube, TikTok</a:t>
            </a:r>
            <a:endParaRPr lang="en-US" sz="900" dirty="0"/>
          </a:p>
        </p:txBody>
      </p:sp>
      <p:sp>
        <p:nvSpPr>
          <p:cNvPr id="30" name="Shape 22"/>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31" name="Image 5" descr="preencoded.png">    </p:cNvPr>
          <p:cNvPicPr>
            <a:picLocks noChangeAspect="1"/>
          </p:cNvPicPr>
          <p:nvPr/>
        </p:nvPicPr>
        <p:blipFill>
          <a:blip r:embed="rId6"/>
          <a:stretch>
            <a:fillRect/>
          </a:stretch>
        </p:blipFill>
        <p:spPr>
          <a:xfrm>
            <a:off x="566928" y="3721608"/>
            <a:ext cx="164592" cy="164592"/>
          </a:xfrm>
          <a:prstGeom prst="rect">
            <a:avLst/>
          </a:prstGeom>
        </p:spPr>
      </p:pic>
      <p:sp>
        <p:nvSpPr>
          <p:cNvPr id="32" name="Text 23"/>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Most common:  </a:t>
            </a:r>
            <a:pPr indent="0" marL="0">
              <a:buNone/>
            </a:pPr>
            <a:r>
              <a:rPr lang="en-US" sz="1000" dirty="0">
                <a:solidFill>
                  <a:srgbClr val="1D1D1F"/>
                </a:solidFill>
                <a:latin typeface="SF Pro Text" pitchFamily="34" charset="0"/>
                <a:ea typeface="SF Pro Text" pitchFamily="34" charset="-122"/>
                <a:cs typeface="SF Pro Text" pitchFamily="34" charset="-120"/>
              </a:rPr>
              <a:t>Search engines.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2  ·  SIGNS 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Three ways to sign 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path a customer took shapes their billing and what options they have.</a:t>
            </a:r>
            <a:endParaRPr lang="en-US" sz="1200" dirty="0"/>
          </a:p>
        </p:txBody>
      </p:sp>
      <p:sp>
        <p:nvSpPr>
          <p:cNvPr id="6" name="Shape 3"/>
          <p:cNvSpPr/>
          <p:nvPr/>
        </p:nvSpPr>
        <p:spPr>
          <a:xfrm>
            <a:off x="411480" y="146304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645920"/>
            <a:ext cx="274320" cy="274320"/>
          </a:xfrm>
          <a:prstGeom prst="ellipse">
            <a:avLst/>
          </a:prstGeom>
          <a:solidFill>
            <a:srgbClr val="FFF3D6"/>
          </a:solidFill>
          <a:ln w="12700">
            <a:solidFill>
              <a:srgbClr val="FFF3D6"/>
            </a:solidFill>
            <a:prstDash val="solid"/>
          </a:ln>
        </p:spPr>
      </p:sp>
      <p:sp>
        <p:nvSpPr>
          <p:cNvPr id="8" name="Text 5"/>
          <p:cNvSpPr txBox="1"/>
          <p:nvPr/>
        </p:nvSpPr>
        <p:spPr>
          <a:xfrm>
            <a:off x="576072" y="1645920"/>
            <a:ext cx="274320" cy="274320"/>
          </a:xfrm>
          <a:prstGeom prst="rect">
            <a:avLst/>
          </a:prstGeom>
          <a:noFill/>
          <a:ln/>
        </p:spPr>
        <p:txBody>
          <a:bodyPr wrap="square" lIns="0" tIns="0" rIns="0" bIns="0" rtlCol="0" anchor="ctr"/>
          <a:lstStyle/>
          <a:p>
            <a:pPr algn="ctr" indent="0" marL="0">
              <a:buNone/>
            </a:pPr>
            <a:r>
              <a:rPr lang="en-US" sz="900" b="1" dirty="0">
                <a:solidFill>
                  <a:srgbClr val="9A6410"/>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206654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Legacy DHJ</a:t>
            </a:r>
            <a:endParaRPr lang="en-US" sz="1200" dirty="0"/>
          </a:p>
        </p:txBody>
      </p:sp>
      <p:sp>
        <p:nvSpPr>
          <p:cNvPr id="10" name="Text 7"/>
          <p:cNvSpPr txBox="1"/>
          <p:nvPr/>
        </p:nvSpPr>
        <p:spPr>
          <a:xfrm>
            <a:off x="576072" y="235915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Bought a discounted voucher from &lt;brand&gt;.com/deal.</a:t>
            </a:r>
            <a:endParaRPr lang="en-US" sz="950" dirty="0"/>
          </a:p>
        </p:txBody>
      </p:sp>
      <p:sp>
        <p:nvSpPr>
          <p:cNvPr id="11" name="Shape 8"/>
          <p:cNvSpPr/>
          <p:nvPr/>
        </p:nvSpPr>
        <p:spPr>
          <a:xfrm>
            <a:off x="3230880" y="146304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645920"/>
            <a:ext cx="274320" cy="274320"/>
          </a:xfrm>
          <a:prstGeom prst="ellipse">
            <a:avLst/>
          </a:prstGeom>
          <a:solidFill>
            <a:srgbClr val="FFF3D6"/>
          </a:solidFill>
          <a:ln w="12700">
            <a:solidFill>
              <a:srgbClr val="FFF3D6"/>
            </a:solidFill>
            <a:prstDash val="solid"/>
          </a:ln>
        </p:spPr>
      </p:sp>
      <p:sp>
        <p:nvSpPr>
          <p:cNvPr id="13" name="Text 10"/>
          <p:cNvSpPr txBox="1"/>
          <p:nvPr/>
        </p:nvSpPr>
        <p:spPr>
          <a:xfrm>
            <a:off x="3395472" y="1645920"/>
            <a:ext cx="274320" cy="274320"/>
          </a:xfrm>
          <a:prstGeom prst="rect">
            <a:avLst/>
          </a:prstGeom>
          <a:noFill/>
          <a:ln/>
        </p:spPr>
        <p:txBody>
          <a:bodyPr wrap="square" lIns="0" tIns="0" rIns="0" bIns="0" rtlCol="0" anchor="ctr"/>
          <a:lstStyle/>
          <a:p>
            <a:pPr algn="ctr" indent="0" marL="0">
              <a:buNone/>
            </a:pPr>
            <a:r>
              <a:rPr lang="en-US" sz="900" b="1" dirty="0">
                <a:solidFill>
                  <a:srgbClr val="9A6410"/>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206654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Cleaning Free</a:t>
            </a:r>
            <a:endParaRPr lang="en-US" sz="1200" dirty="0"/>
          </a:p>
        </p:txBody>
      </p:sp>
      <p:sp>
        <p:nvSpPr>
          <p:cNvPr id="15" name="Text 12"/>
          <p:cNvSpPr txBox="1"/>
          <p:nvPr/>
        </p:nvSpPr>
        <p:spPr>
          <a:xfrm>
            <a:off x="3395472" y="235915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Joins the membership directly. Pays $19 upfront.</a:t>
            </a:r>
            <a:endParaRPr lang="en-US" sz="950" dirty="0"/>
          </a:p>
        </p:txBody>
      </p:sp>
      <p:sp>
        <p:nvSpPr>
          <p:cNvPr id="16" name="Shape 13"/>
          <p:cNvSpPr/>
          <p:nvPr/>
        </p:nvSpPr>
        <p:spPr>
          <a:xfrm>
            <a:off x="6050280" y="146304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645920"/>
            <a:ext cx="274320" cy="274320"/>
          </a:xfrm>
          <a:prstGeom prst="ellipse">
            <a:avLst/>
          </a:prstGeom>
          <a:solidFill>
            <a:srgbClr val="FFF3D6"/>
          </a:solidFill>
          <a:ln w="12700">
            <a:solidFill>
              <a:srgbClr val="FFF3D6"/>
            </a:solidFill>
            <a:prstDash val="solid"/>
          </a:ln>
        </p:spPr>
      </p:sp>
      <p:sp>
        <p:nvSpPr>
          <p:cNvPr id="18" name="Text 15"/>
          <p:cNvSpPr txBox="1"/>
          <p:nvPr/>
        </p:nvSpPr>
        <p:spPr>
          <a:xfrm>
            <a:off x="6214872" y="1645920"/>
            <a:ext cx="274320" cy="274320"/>
          </a:xfrm>
          <a:prstGeom prst="rect">
            <a:avLst/>
          </a:prstGeom>
          <a:noFill/>
          <a:ln/>
        </p:spPr>
        <p:txBody>
          <a:bodyPr wrap="square" lIns="0" tIns="0" rIns="0" bIns="0" rtlCol="0" anchor="ctr"/>
          <a:lstStyle/>
          <a:p>
            <a:pPr algn="ctr" indent="0" marL="0">
              <a:buNone/>
            </a:pPr>
            <a:r>
              <a:rPr lang="en-US" sz="900" b="1" dirty="0">
                <a:solidFill>
                  <a:srgbClr val="9A6410"/>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206654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Non-member</a:t>
            </a:r>
            <a:endParaRPr lang="en-US" sz="1200" dirty="0"/>
          </a:p>
        </p:txBody>
      </p:sp>
      <p:sp>
        <p:nvSpPr>
          <p:cNvPr id="20" name="Text 17"/>
          <p:cNvSpPr txBox="1"/>
          <p:nvPr/>
        </p:nvSpPr>
        <p:spPr>
          <a:xfrm>
            <a:off x="6214872" y="235915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Groupon, gift card, one-time or trial cleaning. No membership.</a:t>
            </a:r>
            <a:endParaRPr lang="en-US" sz="950" dirty="0"/>
          </a:p>
        </p:txBody>
      </p:sp>
      <p:sp>
        <p:nvSpPr>
          <p:cNvPr id="21" name="Shape 18"/>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3" name="Text 19"/>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Since Aug 3, 2026:  </a:t>
            </a:r>
            <a:pPr indent="0" marL="0">
              <a:buNone/>
            </a:pPr>
            <a:r>
              <a:rPr lang="en-US" sz="1000" dirty="0">
                <a:solidFill>
                  <a:srgbClr val="1D1D1F"/>
                </a:solidFill>
                <a:latin typeface="SF Pro Text" pitchFamily="34" charset="0"/>
                <a:ea typeface="SF Pro Text" pitchFamily="34" charset="-122"/>
                <a:cs typeface="SF Pro Text" pitchFamily="34" charset="-120"/>
              </a:rPr>
              <a:t>all new membership sign-ups are First Cleaning Free.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STEPS 3 &amp; 4  ·  BOOKS AND MANAGES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Booking and managing</a:t>
            </a:r>
            <a:endParaRPr lang="en-US" sz="2400" dirty="0"/>
          </a:p>
        </p:txBody>
      </p:sp>
      <p:sp>
        <p:nvSpPr>
          <p:cNvPr id="5" name="Shape 2"/>
          <p:cNvSpPr/>
          <p:nvPr/>
        </p:nvSpPr>
        <p:spPr>
          <a:xfrm>
            <a:off x="411480" y="1188720"/>
            <a:ext cx="4069080" cy="3017520"/>
          </a:xfrm>
          <a:prstGeom prst="roundRect">
            <a:avLst>
              <a:gd name="adj" fmla="val 2424"/>
            </a:avLst>
          </a:prstGeom>
          <a:solidFill>
            <a:srgbClr val="FFFFFF"/>
          </a:solidFill>
          <a:ln w="9525">
            <a:solidFill>
              <a:srgbClr val="DCE1E7"/>
            </a:solidFill>
            <a:prstDash val="solid"/>
          </a:ln>
        </p:spPr>
      </p:sp>
      <p:sp>
        <p:nvSpPr>
          <p:cNvPr id="6" name="Shape 3"/>
          <p:cNvSpPr/>
          <p:nvPr/>
        </p:nvSpPr>
        <p:spPr>
          <a:xfrm>
            <a:off x="594360" y="1371600"/>
            <a:ext cx="365760" cy="365760"/>
          </a:xfrm>
          <a:prstGeom prst="ellipse">
            <a:avLst/>
          </a:prstGeom>
          <a:solidFill>
            <a:srgbClr val="FFF3D6"/>
          </a:solidFill>
          <a:ln w="12700">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682142" y="1459382"/>
            <a:ext cx="190195" cy="190195"/>
          </a:xfrm>
          <a:prstGeom prst="rect">
            <a:avLst/>
          </a:prstGeom>
        </p:spPr>
      </p:pic>
      <p:sp>
        <p:nvSpPr>
          <p:cNvPr id="8" name="Text 4"/>
          <p:cNvSpPr txBox="1"/>
          <p:nvPr/>
        </p:nvSpPr>
        <p:spPr>
          <a:xfrm>
            <a:off x="594360" y="1847088"/>
            <a:ext cx="3657600" cy="274320"/>
          </a:xfrm>
          <a:prstGeom prst="rect">
            <a:avLst/>
          </a:prstGeom>
          <a:noFill/>
          <a:ln/>
        </p:spPr>
        <p:txBody>
          <a:bodyPr wrap="square" lIns="0" tIns="0" rIns="0" bIns="0" rtlCol="0" anchor="t"/>
          <a:lstStyle/>
          <a:p>
            <a:pPr indent="0" marL="0">
              <a:buNone/>
            </a:pPr>
            <a:r>
              <a:rPr lang="en-US" sz="1400" b="1" dirty="0">
                <a:solidFill>
                  <a:srgbClr val="1D1D1F"/>
                </a:solidFill>
                <a:latin typeface="SF Pro Display" pitchFamily="34" charset="0"/>
                <a:ea typeface="SF Pro Display" pitchFamily="34" charset="-122"/>
                <a:cs typeface="SF Pro Display" pitchFamily="34" charset="-120"/>
              </a:rPr>
              <a:t>Books</a:t>
            </a:r>
            <a:endParaRPr lang="en-US" sz="1400" dirty="0"/>
          </a:p>
        </p:txBody>
      </p:sp>
      <p:sp>
        <p:nvSpPr>
          <p:cNvPr id="9" name="Text 5"/>
          <p:cNvSpPr txBox="1"/>
          <p:nvPr/>
        </p:nvSpPr>
        <p:spPr>
          <a:xfrm>
            <a:off x="594360" y="2176272"/>
            <a:ext cx="3657600" cy="228600"/>
          </a:xfrm>
          <a:prstGeom prst="rect">
            <a:avLst/>
          </a:prstGeom>
          <a:noFill/>
          <a:ln/>
        </p:spPr>
        <p:txBody>
          <a:bodyPr wrap="square" lIns="0" tIns="0" rIns="0" bIns="0" rtlCol="0" anchor="t"/>
          <a:lstStyle/>
          <a:p>
            <a:pPr indent="0" marL="0">
              <a:buNone/>
            </a:pPr>
            <a:r>
              <a:rPr lang="en-US" sz="1000" dirty="0">
                <a:solidFill>
                  <a:srgbClr val="6E6E73"/>
                </a:solidFill>
                <a:latin typeface="SF Pro Text" pitchFamily="34" charset="0"/>
                <a:ea typeface="SF Pro Text" pitchFamily="34" charset="-122"/>
                <a:cs typeface="SF Pro Text" pitchFamily="34" charset="-120"/>
              </a:rPr>
              <a:t>Members are prompted to add:</a:t>
            </a:r>
            <a:endParaRPr lang="en-US" sz="1000" dirty="0"/>
          </a:p>
        </p:txBody>
      </p:sp>
      <p:sp>
        <p:nvSpPr>
          <p:cNvPr id="10" name="Shape 6"/>
          <p:cNvSpPr/>
          <p:nvPr/>
        </p:nvSpPr>
        <p:spPr>
          <a:xfrm>
            <a:off x="594360" y="2514600"/>
            <a:ext cx="3703320" cy="365760"/>
          </a:xfrm>
          <a:prstGeom prst="roundRect">
            <a:avLst>
              <a:gd name="adj" fmla="val 20000"/>
            </a:avLst>
          </a:prstGeom>
          <a:solidFill>
            <a:srgbClr val="FFF3D6"/>
          </a:solidFill>
          <a:ln w="9525">
            <a:solidFill>
              <a:srgbClr val="FFF3D6"/>
            </a:solidFill>
            <a:prstDash val="solid"/>
          </a:ln>
        </p:spPr>
      </p:sp>
      <p:sp>
        <p:nvSpPr>
          <p:cNvPr id="11" name="Text 7"/>
          <p:cNvSpPr txBox="1"/>
          <p:nvPr/>
        </p:nvSpPr>
        <p:spPr>
          <a:xfrm>
            <a:off x="749808" y="2514600"/>
            <a:ext cx="347472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Text" pitchFamily="34" charset="0"/>
                <a:ea typeface="SF Pro Text" pitchFamily="34" charset="-122"/>
                <a:cs typeface="SF Pro Text" pitchFamily="34" charset="-120"/>
              </a:rPr>
              <a:t>A recurring schedule</a:t>
            </a:r>
            <a:endParaRPr lang="en-US" sz="1050" dirty="0"/>
          </a:p>
        </p:txBody>
      </p:sp>
      <p:sp>
        <p:nvSpPr>
          <p:cNvPr id="12" name="Shape 8"/>
          <p:cNvSpPr/>
          <p:nvPr/>
        </p:nvSpPr>
        <p:spPr>
          <a:xfrm>
            <a:off x="594360" y="2971800"/>
            <a:ext cx="3703320" cy="365760"/>
          </a:xfrm>
          <a:prstGeom prst="roundRect">
            <a:avLst>
              <a:gd name="adj" fmla="val 20000"/>
            </a:avLst>
          </a:prstGeom>
          <a:solidFill>
            <a:srgbClr val="FFF3D6"/>
          </a:solidFill>
          <a:ln w="9525">
            <a:solidFill>
              <a:srgbClr val="FFF3D6"/>
            </a:solidFill>
            <a:prstDash val="solid"/>
          </a:ln>
        </p:spPr>
      </p:sp>
      <p:sp>
        <p:nvSpPr>
          <p:cNvPr id="13" name="Text 9"/>
          <p:cNvSpPr txBox="1"/>
          <p:nvPr/>
        </p:nvSpPr>
        <p:spPr>
          <a:xfrm>
            <a:off x="749808" y="2971800"/>
            <a:ext cx="347472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Text" pitchFamily="34" charset="0"/>
                <a:ea typeface="SF Pro Text" pitchFamily="34" charset="-122"/>
                <a:cs typeface="SF Pro Text" pitchFamily="34" charset="-120"/>
              </a:rPr>
              <a:t>Alternate start times</a:t>
            </a:r>
            <a:endParaRPr lang="en-US" sz="1050" dirty="0"/>
          </a:p>
        </p:txBody>
      </p:sp>
      <p:sp>
        <p:nvSpPr>
          <p:cNvPr id="14" name="Text 10"/>
          <p:cNvSpPr txBox="1"/>
          <p:nvPr/>
        </p:nvSpPr>
        <p:spPr>
          <a:xfrm>
            <a:off x="594360" y="3520440"/>
            <a:ext cx="3657600" cy="228600"/>
          </a:xfrm>
          <a:prstGeom prst="rect">
            <a:avLst/>
          </a:prstGeom>
          <a:noFill/>
          <a:ln/>
        </p:spPr>
        <p:txBody>
          <a:bodyPr wrap="square" lIns="0" tIns="0" rIns="0" bIns="0" rtlCol="0" anchor="t"/>
          <a:lstStyle/>
          <a:p>
            <a:pPr indent="0" marL="0">
              <a:buNone/>
            </a:pPr>
            <a:r>
              <a:rPr lang="en-US" sz="950" i="1" dirty="0">
                <a:solidFill>
                  <a:srgbClr val="6E6E73"/>
                </a:solidFill>
                <a:latin typeface="SF Pro Text" pitchFamily="34" charset="0"/>
                <a:ea typeface="SF Pro Text" pitchFamily="34" charset="-122"/>
                <a:cs typeface="SF Pro Text" pitchFamily="34" charset="-120"/>
              </a:rPr>
              <a:t>Both raise the odds of a match.</a:t>
            </a:r>
            <a:endParaRPr lang="en-US" sz="950" dirty="0"/>
          </a:p>
        </p:txBody>
      </p:sp>
      <p:sp>
        <p:nvSpPr>
          <p:cNvPr id="15" name="Shape 11"/>
          <p:cNvSpPr/>
          <p:nvPr/>
        </p:nvSpPr>
        <p:spPr>
          <a:xfrm>
            <a:off x="4663440" y="1188720"/>
            <a:ext cx="4069080" cy="3017520"/>
          </a:xfrm>
          <a:prstGeom prst="roundRect">
            <a:avLst>
              <a:gd name="adj" fmla="val 2424"/>
            </a:avLst>
          </a:prstGeom>
          <a:solidFill>
            <a:srgbClr val="FFFFFF"/>
          </a:solidFill>
          <a:ln w="9525">
            <a:solidFill>
              <a:srgbClr val="DCE1E7"/>
            </a:solidFill>
            <a:prstDash val="solid"/>
          </a:ln>
        </p:spPr>
      </p:sp>
      <p:sp>
        <p:nvSpPr>
          <p:cNvPr id="16" name="Text 12"/>
          <p:cNvSpPr txBox="1"/>
          <p:nvPr/>
        </p:nvSpPr>
        <p:spPr>
          <a:xfrm>
            <a:off x="4846320" y="1280160"/>
            <a:ext cx="640080" cy="822960"/>
          </a:xfrm>
          <a:prstGeom prst="rect">
            <a:avLst/>
          </a:prstGeom>
          <a:noFill/>
          <a:ln/>
        </p:spPr>
        <p:txBody>
          <a:bodyPr wrap="square" lIns="0" tIns="0" rIns="0" bIns="0" rtlCol="0" anchor="t"/>
          <a:lstStyle/>
          <a:p>
            <a:pPr indent="0" marL="0">
              <a:buNone/>
            </a:pPr>
            <a:r>
              <a:rPr lang="en-US" sz="4800" b="1" dirty="0">
                <a:solidFill>
                  <a:srgbClr val="9A6410"/>
                </a:solidFill>
                <a:latin typeface="SF Pro Display" pitchFamily="34" charset="0"/>
                <a:ea typeface="SF Pro Display" pitchFamily="34" charset="-122"/>
                <a:cs typeface="SF Pro Display" pitchFamily="34" charset="-120"/>
              </a:rPr>
              <a:t>6</a:t>
            </a:r>
            <a:endParaRPr lang="en-US" sz="4800" dirty="0"/>
          </a:p>
        </p:txBody>
      </p:sp>
      <p:sp>
        <p:nvSpPr>
          <p:cNvPr id="17" name="Text 13"/>
          <p:cNvSpPr txBox="1"/>
          <p:nvPr/>
        </p:nvSpPr>
        <p:spPr>
          <a:xfrm>
            <a:off x="5440680" y="1600200"/>
            <a:ext cx="3108960" cy="274320"/>
          </a:xfrm>
          <a:prstGeom prst="rect">
            <a:avLst/>
          </a:prstGeom>
          <a:noFill/>
          <a:ln/>
        </p:spPr>
        <p:txBody>
          <a:bodyPr wrap="square" lIns="0" tIns="0" rIns="0" bIns="0" rtlCol="0" anchor="t"/>
          <a:lstStyle/>
          <a:p>
            <a:pPr indent="0" marL="0">
              <a:buNone/>
            </a:pPr>
            <a:r>
              <a:rPr lang="en-US" sz="1200" b="1" dirty="0">
                <a:solidFill>
                  <a:srgbClr val="9A6410"/>
                </a:solidFill>
                <a:latin typeface="SF Pro Display" pitchFamily="34" charset="0"/>
                <a:ea typeface="SF Pro Display" pitchFamily="34" charset="-122"/>
                <a:cs typeface="SF Pro Display" pitchFamily="34" charset="-120"/>
              </a:rPr>
              <a:t>hours before start</a:t>
            </a:r>
            <a:endParaRPr lang="en-US" sz="1200" dirty="0"/>
          </a:p>
        </p:txBody>
      </p:sp>
      <p:sp>
        <p:nvSpPr>
          <p:cNvPr id="18" name="Text 14"/>
          <p:cNvSpPr txBox="1"/>
          <p:nvPr/>
        </p:nvSpPr>
        <p:spPr>
          <a:xfrm>
            <a:off x="4846320" y="2176272"/>
            <a:ext cx="3749040" cy="228600"/>
          </a:xfrm>
          <a:prstGeom prst="rect">
            <a:avLst/>
          </a:prstGeom>
          <a:noFill/>
          <a:ln/>
        </p:spPr>
        <p:txBody>
          <a:bodyPr wrap="square" lIns="0" tIns="0" rIns="0" bIns="0" rtlCol="0" anchor="t"/>
          <a:lstStyle/>
          <a:p>
            <a:pPr indent="0" marL="0">
              <a:buNone/>
            </a:pPr>
            <a:r>
              <a:rPr lang="en-US" sz="1000" dirty="0">
                <a:solidFill>
                  <a:srgbClr val="6E6E73"/>
                </a:solidFill>
                <a:latin typeface="SF Pro Text" pitchFamily="34" charset="0"/>
                <a:ea typeface="SF Pro Text" pitchFamily="34" charset="-122"/>
                <a:cs typeface="SF Pro Text" pitchFamily="34" charset="-120"/>
              </a:rPr>
              <a:t>Up until then, from their dashboard, customers can:</a:t>
            </a:r>
            <a:endParaRPr lang="en-US" sz="1000" dirty="0"/>
          </a:p>
        </p:txBody>
      </p:sp>
      <p:sp>
        <p:nvSpPr>
          <p:cNvPr id="19" name="Shape 15"/>
          <p:cNvSpPr/>
          <p:nvPr/>
        </p:nvSpPr>
        <p:spPr>
          <a:xfrm>
            <a:off x="4846320" y="2514600"/>
            <a:ext cx="1161288" cy="1005840"/>
          </a:xfrm>
          <a:prstGeom prst="roundRect">
            <a:avLst>
              <a:gd name="adj" fmla="val 7273"/>
            </a:avLst>
          </a:prstGeom>
          <a:solidFill>
            <a:srgbClr val="FFF3D6"/>
          </a:solidFill>
          <a:ln w="9525">
            <a:solidFill>
              <a:srgbClr val="FFF3D6"/>
            </a:solidFill>
            <a:prstDash val="solid"/>
          </a:ln>
        </p:spPr>
      </p:sp>
      <p:pic>
        <p:nvPicPr>
          <p:cNvPr id="20" name="Image 1" descr="preencoded.png">    </p:cNvPr>
          <p:cNvPicPr>
            <a:picLocks noChangeAspect="1"/>
          </p:cNvPicPr>
          <p:nvPr/>
        </p:nvPicPr>
        <p:blipFill>
          <a:blip r:embed="rId2"/>
          <a:stretch>
            <a:fillRect/>
          </a:stretch>
        </p:blipFill>
        <p:spPr>
          <a:xfrm>
            <a:off x="5294376" y="2633472"/>
            <a:ext cx="256032" cy="256032"/>
          </a:xfrm>
          <a:prstGeom prst="rect">
            <a:avLst/>
          </a:prstGeom>
        </p:spPr>
      </p:pic>
      <p:sp>
        <p:nvSpPr>
          <p:cNvPr id="21" name="Text 16"/>
          <p:cNvSpPr txBox="1"/>
          <p:nvPr/>
        </p:nvSpPr>
        <p:spPr>
          <a:xfrm>
            <a:off x="4892040" y="2971800"/>
            <a:ext cx="1069848" cy="457200"/>
          </a:xfrm>
          <a:prstGeom prst="rect">
            <a:avLst/>
          </a:prstGeom>
          <a:noFill/>
          <a:ln/>
        </p:spPr>
        <p:txBody>
          <a:bodyPr wrap="square" lIns="0" tIns="0" rIns="0" bIns="0" rtlCol="0" anchor="t"/>
          <a:lstStyle/>
          <a:p>
            <a:pPr algn="ctr" indent="0" marL="0">
              <a:buNone/>
            </a:pPr>
            <a:r>
              <a:rPr lang="en-US" sz="950" b="1" dirty="0">
                <a:solidFill>
                  <a:srgbClr val="1D1D1F"/>
                </a:solidFill>
                <a:latin typeface="SF Pro Text" pitchFamily="34" charset="0"/>
                <a:ea typeface="SF Pro Text" pitchFamily="34" charset="-122"/>
                <a:cs typeface="SF Pro Text" pitchFamily="34" charset="-120"/>
              </a:rPr>
              <a:t>Reschedule</a:t>
            </a:r>
            <a:endParaRPr lang="en-US" sz="950" dirty="0"/>
          </a:p>
        </p:txBody>
      </p:sp>
      <p:sp>
        <p:nvSpPr>
          <p:cNvPr id="22" name="Shape 17"/>
          <p:cNvSpPr/>
          <p:nvPr/>
        </p:nvSpPr>
        <p:spPr>
          <a:xfrm>
            <a:off x="6099048" y="2514600"/>
            <a:ext cx="1161288" cy="1005840"/>
          </a:xfrm>
          <a:prstGeom prst="roundRect">
            <a:avLst>
              <a:gd name="adj" fmla="val 7273"/>
            </a:avLst>
          </a:prstGeom>
          <a:solidFill>
            <a:srgbClr val="FFF3D6"/>
          </a:solidFill>
          <a:ln w="9525">
            <a:solidFill>
              <a:srgbClr val="FFF3D6"/>
            </a:solidFill>
            <a:prstDash val="solid"/>
          </a:ln>
        </p:spPr>
      </p:sp>
      <p:pic>
        <p:nvPicPr>
          <p:cNvPr id="23" name="Image 2" descr="preencoded.png">    </p:cNvPr>
          <p:cNvPicPr>
            <a:picLocks noChangeAspect="1"/>
          </p:cNvPicPr>
          <p:nvPr/>
        </p:nvPicPr>
        <p:blipFill>
          <a:blip r:embed="rId3"/>
          <a:stretch>
            <a:fillRect/>
          </a:stretch>
        </p:blipFill>
        <p:spPr>
          <a:xfrm>
            <a:off x="6547104" y="2633472"/>
            <a:ext cx="256032" cy="256032"/>
          </a:xfrm>
          <a:prstGeom prst="rect">
            <a:avLst/>
          </a:prstGeom>
        </p:spPr>
      </p:pic>
      <p:sp>
        <p:nvSpPr>
          <p:cNvPr id="24" name="Text 18"/>
          <p:cNvSpPr txBox="1"/>
          <p:nvPr/>
        </p:nvSpPr>
        <p:spPr>
          <a:xfrm>
            <a:off x="6144768" y="2971800"/>
            <a:ext cx="1069848" cy="457200"/>
          </a:xfrm>
          <a:prstGeom prst="rect">
            <a:avLst/>
          </a:prstGeom>
          <a:noFill/>
          <a:ln/>
        </p:spPr>
        <p:txBody>
          <a:bodyPr wrap="square" lIns="0" tIns="0" rIns="0" bIns="0" rtlCol="0" anchor="t"/>
          <a:lstStyle/>
          <a:p>
            <a:pPr algn="ctr" indent="0" marL="0">
              <a:buNone/>
            </a:pPr>
            <a:r>
              <a:rPr lang="en-US" sz="950" b="1" dirty="0">
                <a:solidFill>
                  <a:srgbClr val="1D1D1F"/>
                </a:solidFill>
                <a:latin typeface="SF Pro Text" pitchFamily="34" charset="0"/>
                <a:ea typeface="SF Pro Text" pitchFamily="34" charset="-122"/>
                <a:cs typeface="SF Pro Text" pitchFamily="34" charset="-120"/>
              </a:rPr>
              <a:t>Cancel</a:t>
            </a:r>
            <a:endParaRPr lang="en-US" sz="950" dirty="0"/>
          </a:p>
        </p:txBody>
      </p:sp>
      <p:sp>
        <p:nvSpPr>
          <p:cNvPr id="25" name="Shape 19"/>
          <p:cNvSpPr/>
          <p:nvPr/>
        </p:nvSpPr>
        <p:spPr>
          <a:xfrm>
            <a:off x="7351776" y="2514600"/>
            <a:ext cx="1161288" cy="1005840"/>
          </a:xfrm>
          <a:prstGeom prst="roundRect">
            <a:avLst>
              <a:gd name="adj" fmla="val 7273"/>
            </a:avLst>
          </a:prstGeom>
          <a:solidFill>
            <a:srgbClr val="FFF3D6"/>
          </a:solidFill>
          <a:ln w="9525">
            <a:solidFill>
              <a:srgbClr val="FFF3D6"/>
            </a:solidFill>
            <a:prstDash val="solid"/>
          </a:ln>
        </p:spPr>
      </p:sp>
      <p:pic>
        <p:nvPicPr>
          <p:cNvPr id="26" name="Image 3" descr="preencoded.png">    </p:cNvPr>
          <p:cNvPicPr>
            <a:picLocks noChangeAspect="1"/>
          </p:cNvPicPr>
          <p:nvPr/>
        </p:nvPicPr>
        <p:blipFill>
          <a:blip r:embed="rId4"/>
          <a:stretch>
            <a:fillRect/>
          </a:stretch>
        </p:blipFill>
        <p:spPr>
          <a:xfrm>
            <a:off x="7799832" y="2633472"/>
            <a:ext cx="256032" cy="256032"/>
          </a:xfrm>
          <a:prstGeom prst="rect">
            <a:avLst/>
          </a:prstGeom>
        </p:spPr>
      </p:pic>
      <p:sp>
        <p:nvSpPr>
          <p:cNvPr id="27" name="Text 20"/>
          <p:cNvSpPr txBox="1"/>
          <p:nvPr/>
        </p:nvSpPr>
        <p:spPr>
          <a:xfrm>
            <a:off x="7397496" y="2971800"/>
            <a:ext cx="1069848" cy="457200"/>
          </a:xfrm>
          <a:prstGeom prst="rect">
            <a:avLst/>
          </a:prstGeom>
          <a:noFill/>
          <a:ln/>
        </p:spPr>
        <p:txBody>
          <a:bodyPr wrap="square" lIns="0" tIns="0" rIns="0" bIns="0" rtlCol="0" anchor="t"/>
          <a:lstStyle/>
          <a:p>
            <a:pPr algn="ctr" indent="0" marL="0">
              <a:buNone/>
            </a:pPr>
            <a:r>
              <a:rPr lang="en-US" sz="950" b="1" dirty="0">
                <a:solidFill>
                  <a:srgbClr val="1D1D1F"/>
                </a:solidFill>
                <a:latin typeface="SF Pro Text" pitchFamily="34" charset="0"/>
                <a:ea typeface="SF Pro Text" pitchFamily="34" charset="-122"/>
                <a:cs typeface="SF Pro Text" pitchFamily="34" charset="-120"/>
              </a:rPr>
              <a:t>Match a new cleaner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5  ·  RECEIVES AND PAYS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service issues start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booking finalizes here, and most Service Issues tickets begin here too.</a:t>
            </a:r>
            <a:endParaRPr lang="en-US" sz="1200" dirty="0"/>
          </a:p>
        </p:txBody>
      </p:sp>
      <p:sp>
        <p:nvSpPr>
          <p:cNvPr id="6" name="Shape 3"/>
          <p:cNvSpPr/>
          <p:nvPr/>
        </p:nvSpPr>
        <p:spPr>
          <a:xfrm>
            <a:off x="411480" y="1463040"/>
            <a:ext cx="197739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627632"/>
            <a:ext cx="329184" cy="329184"/>
          </a:xfrm>
          <a:prstGeom prst="ellipse">
            <a:avLst/>
          </a:prstGeom>
          <a:solidFill>
            <a:srgbClr val="FFF3D6"/>
          </a:solidFill>
          <a:ln w="12700">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655076" y="1706636"/>
            <a:ext cx="171176" cy="171176"/>
          </a:xfrm>
          <a:prstGeom prst="rect">
            <a:avLst/>
          </a:prstGeom>
        </p:spPr>
      </p:pic>
      <p:sp>
        <p:nvSpPr>
          <p:cNvPr id="9" name="Text 5"/>
          <p:cNvSpPr txBox="1"/>
          <p:nvPr/>
        </p:nvSpPr>
        <p:spPr>
          <a:xfrm>
            <a:off x="576072" y="206654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Poor cleaning quality</a:t>
            </a:r>
            <a:endParaRPr lang="en-US" sz="1200" dirty="0"/>
          </a:p>
        </p:txBody>
      </p:sp>
      <p:sp>
        <p:nvSpPr>
          <p:cNvPr id="10" name="Text 6"/>
          <p:cNvSpPr txBox="1"/>
          <p:nvPr/>
        </p:nvSpPr>
        <p:spPr>
          <a:xfrm>
            <a:off x="576072" y="235915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cleaning didn't meet expectations.</a:t>
            </a:r>
            <a:endParaRPr lang="en-US" sz="950" dirty="0"/>
          </a:p>
        </p:txBody>
      </p:sp>
      <p:sp>
        <p:nvSpPr>
          <p:cNvPr id="11" name="Shape 7"/>
          <p:cNvSpPr/>
          <p:nvPr/>
        </p:nvSpPr>
        <p:spPr>
          <a:xfrm>
            <a:off x="2526030" y="1463040"/>
            <a:ext cx="197739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2690622" y="1627632"/>
            <a:ext cx="329184" cy="329184"/>
          </a:xfrm>
          <a:prstGeom prst="ellipse">
            <a:avLst/>
          </a:prstGeom>
          <a:solidFill>
            <a:srgbClr val="FFF3D6"/>
          </a:solidFill>
          <a:ln w="12700">
            <a:solidFill>
              <a:srgbClr val="FFF3D6"/>
            </a:solidFill>
            <a:prstDash val="solid"/>
          </a:ln>
        </p:spPr>
      </p:sp>
      <p:pic>
        <p:nvPicPr>
          <p:cNvPr id="13" name="Image 1" descr="preencoded.png">    </p:cNvPr>
          <p:cNvPicPr>
            <a:picLocks noChangeAspect="1"/>
          </p:cNvPicPr>
          <p:nvPr/>
        </p:nvPicPr>
        <p:blipFill>
          <a:blip r:embed="rId2"/>
          <a:stretch>
            <a:fillRect/>
          </a:stretch>
        </p:blipFill>
        <p:spPr>
          <a:xfrm>
            <a:off x="2769626" y="1706636"/>
            <a:ext cx="171176" cy="171176"/>
          </a:xfrm>
          <a:prstGeom prst="rect">
            <a:avLst/>
          </a:prstGeom>
        </p:spPr>
      </p:pic>
      <p:sp>
        <p:nvSpPr>
          <p:cNvPr id="14" name="Text 9"/>
          <p:cNvSpPr txBox="1"/>
          <p:nvPr/>
        </p:nvSpPr>
        <p:spPr>
          <a:xfrm>
            <a:off x="2690622" y="206654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False invoice</a:t>
            </a:r>
            <a:endParaRPr lang="en-US" sz="1200" dirty="0"/>
          </a:p>
        </p:txBody>
      </p:sp>
      <p:sp>
        <p:nvSpPr>
          <p:cNvPr id="15" name="Text 10"/>
          <p:cNvSpPr txBox="1"/>
          <p:nvPr/>
        </p:nvSpPr>
        <p:spPr>
          <a:xfrm>
            <a:off x="2690622" y="235915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Charged when no cleaning happened.</a:t>
            </a:r>
            <a:endParaRPr lang="en-US" sz="950" dirty="0"/>
          </a:p>
        </p:txBody>
      </p:sp>
      <p:sp>
        <p:nvSpPr>
          <p:cNvPr id="16" name="Shape 11"/>
          <p:cNvSpPr/>
          <p:nvPr/>
        </p:nvSpPr>
        <p:spPr>
          <a:xfrm>
            <a:off x="4640580" y="1463040"/>
            <a:ext cx="197739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4805172" y="1627632"/>
            <a:ext cx="329184" cy="329184"/>
          </a:xfrm>
          <a:prstGeom prst="ellipse">
            <a:avLst/>
          </a:prstGeom>
          <a:solidFill>
            <a:srgbClr val="FFF3D6"/>
          </a:solidFill>
          <a:ln w="12700">
            <a:solidFill>
              <a:srgbClr val="FFF3D6"/>
            </a:solidFill>
            <a:prstDash val="solid"/>
          </a:ln>
        </p:spPr>
      </p:sp>
      <p:pic>
        <p:nvPicPr>
          <p:cNvPr id="18" name="Image 2" descr="preencoded.png">    </p:cNvPr>
          <p:cNvPicPr>
            <a:picLocks noChangeAspect="1"/>
          </p:cNvPicPr>
          <p:nvPr/>
        </p:nvPicPr>
        <p:blipFill>
          <a:blip r:embed="rId3"/>
          <a:stretch>
            <a:fillRect/>
          </a:stretch>
        </p:blipFill>
        <p:spPr>
          <a:xfrm>
            <a:off x="4884176" y="1706636"/>
            <a:ext cx="171176" cy="171176"/>
          </a:xfrm>
          <a:prstGeom prst="rect">
            <a:avLst/>
          </a:prstGeom>
        </p:spPr>
      </p:pic>
      <p:sp>
        <p:nvSpPr>
          <p:cNvPr id="19" name="Text 13"/>
          <p:cNvSpPr txBox="1"/>
          <p:nvPr/>
        </p:nvSpPr>
        <p:spPr>
          <a:xfrm>
            <a:off x="4805172" y="206654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Overcharged hours</a:t>
            </a:r>
            <a:endParaRPr lang="en-US" sz="1200" dirty="0"/>
          </a:p>
        </p:txBody>
      </p:sp>
      <p:sp>
        <p:nvSpPr>
          <p:cNvPr id="20" name="Text 14"/>
          <p:cNvSpPr txBox="1"/>
          <p:nvPr/>
        </p:nvSpPr>
        <p:spPr>
          <a:xfrm>
            <a:off x="4805172" y="235915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Charged for more time than was worked.</a:t>
            </a:r>
            <a:endParaRPr lang="en-US" sz="950" dirty="0"/>
          </a:p>
        </p:txBody>
      </p:sp>
      <p:sp>
        <p:nvSpPr>
          <p:cNvPr id="21" name="Shape 15"/>
          <p:cNvSpPr/>
          <p:nvPr/>
        </p:nvSpPr>
        <p:spPr>
          <a:xfrm>
            <a:off x="6755130" y="1463040"/>
            <a:ext cx="1977390" cy="1600200"/>
          </a:xfrm>
          <a:prstGeom prst="roundRect">
            <a:avLst>
              <a:gd name="adj" fmla="val 4571"/>
            </a:avLst>
          </a:prstGeom>
          <a:solidFill>
            <a:srgbClr val="FFFFFF"/>
          </a:solidFill>
          <a:ln w="9525">
            <a:solidFill>
              <a:srgbClr val="DCE1E7"/>
            </a:solidFill>
            <a:prstDash val="solid"/>
          </a:ln>
        </p:spPr>
      </p:sp>
      <p:sp>
        <p:nvSpPr>
          <p:cNvPr id="22" name="Shape 16"/>
          <p:cNvSpPr/>
          <p:nvPr/>
        </p:nvSpPr>
        <p:spPr>
          <a:xfrm>
            <a:off x="6919722" y="1627632"/>
            <a:ext cx="329184" cy="329184"/>
          </a:xfrm>
          <a:prstGeom prst="ellipse">
            <a:avLst/>
          </a:prstGeom>
          <a:solidFill>
            <a:srgbClr val="FFF3D6"/>
          </a:solidFill>
          <a:ln w="12700">
            <a:solidFill>
              <a:srgbClr val="FFF3D6"/>
            </a:solidFill>
            <a:prstDash val="solid"/>
          </a:ln>
        </p:spPr>
      </p:sp>
      <p:pic>
        <p:nvPicPr>
          <p:cNvPr id="23" name="Image 3" descr="preencoded.png">    </p:cNvPr>
          <p:cNvPicPr>
            <a:picLocks noChangeAspect="1"/>
          </p:cNvPicPr>
          <p:nvPr/>
        </p:nvPicPr>
        <p:blipFill>
          <a:blip r:embed="rId4"/>
          <a:stretch>
            <a:fillRect/>
          </a:stretch>
        </p:blipFill>
        <p:spPr>
          <a:xfrm>
            <a:off x="6998726" y="1706636"/>
            <a:ext cx="171176" cy="171176"/>
          </a:xfrm>
          <a:prstGeom prst="rect">
            <a:avLst/>
          </a:prstGeom>
        </p:spPr>
      </p:pic>
      <p:sp>
        <p:nvSpPr>
          <p:cNvPr id="24" name="Text 17"/>
          <p:cNvSpPr txBox="1"/>
          <p:nvPr/>
        </p:nvSpPr>
        <p:spPr>
          <a:xfrm>
            <a:off x="6919722" y="206654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Theft / damage</a:t>
            </a:r>
            <a:endParaRPr lang="en-US" sz="1200" dirty="0"/>
          </a:p>
        </p:txBody>
      </p:sp>
      <p:sp>
        <p:nvSpPr>
          <p:cNvPr id="25" name="Text 18"/>
          <p:cNvSpPr txBox="1"/>
          <p:nvPr/>
        </p:nvSpPr>
        <p:spPr>
          <a:xfrm>
            <a:off x="6919722" y="235915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 item missing or damaged after the cleaning.</a:t>
            </a:r>
            <a:endParaRPr lang="en-US" sz="950" dirty="0"/>
          </a:p>
        </p:txBody>
      </p:sp>
      <p:sp>
        <p:nvSpPr>
          <p:cNvPr id="26" name="Shape 19"/>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7" name="Image 4" descr="preencoded.png">    </p:cNvPr>
          <p:cNvPicPr>
            <a:picLocks noChangeAspect="1"/>
          </p:cNvPicPr>
          <p:nvPr/>
        </p:nvPicPr>
        <p:blipFill>
          <a:blip r:embed="rId5"/>
          <a:stretch>
            <a:fillRect/>
          </a:stretch>
        </p:blipFill>
        <p:spPr>
          <a:xfrm>
            <a:off x="566928" y="3401568"/>
            <a:ext cx="164592" cy="164592"/>
          </a:xfrm>
          <a:prstGeom prst="rect">
            <a:avLst/>
          </a:prstGeom>
        </p:spPr>
      </p:pic>
      <p:sp>
        <p:nvSpPr>
          <p:cNvPr id="28" name="Text 20"/>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Next:  </a:t>
            </a:r>
            <a:pPr indent="0" marL="0">
              <a:buNone/>
            </a:pPr>
            <a:r>
              <a:rPr lang="en-US" sz="1000" dirty="0">
                <a:solidFill>
                  <a:srgbClr val="1D1D1F"/>
                </a:solidFill>
                <a:latin typeface="SF Pro Text" pitchFamily="34" charset="0"/>
                <a:ea typeface="SF Pro Text" pitchFamily="34" charset="-122"/>
                <a:cs typeface="SF Pro Text" pitchFamily="34" charset="-120"/>
              </a:rPr>
              <a:t>each issue has its own playbook in the Knowledge Library.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Introduction to C CRM (Legacy)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Our central hub for customers, cleaners, jobs and payments.</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CRM is for</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we have two CRMs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live walkthrough</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097280"/>
            <a:ext cx="2560320" cy="2560320"/>
          </a:xfrm>
          <a:prstGeom prst="ellipse">
            <a:avLst/>
          </a:prstGeom>
          <a:solidFill>
            <a:srgbClr val="FFFFFF"/>
          </a:solidFill>
          <a:ln w="12700">
            <a:solidFill>
              <a:srgbClr val="FFFFFF"/>
            </a:solidFill>
            <a:prstDash val="solid"/>
          </a:ln>
        </p:spPr>
      </p:sp>
      <p:pic>
        <p:nvPicPr>
          <p:cNvPr id="17" name="Image 3" descr="preencoded.png">    </p:cNvPr>
          <p:cNvPicPr>
            <a:picLocks noChangeAspect="1"/>
          </p:cNvPicPr>
          <p:nvPr/>
        </p:nvPicPr>
        <p:blipFill>
          <a:blip r:embed="rId4"/>
          <a:stretch>
            <a:fillRect/>
          </a:stretch>
        </p:blipFill>
        <p:spPr>
          <a:xfrm>
            <a:off x="6455664" y="1828800"/>
            <a:ext cx="1097280" cy="109728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4041648"/>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65092"/>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LEGACY C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One hub for everything</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Where we manage accounts, talk to users and find what we need to help them.</a:t>
            </a:r>
            <a:endParaRPr lang="en-US" sz="1200" dirty="0"/>
          </a:p>
        </p:txBody>
      </p:sp>
      <p:sp>
        <p:nvSpPr>
          <p:cNvPr id="6" name="Shape 3"/>
          <p:cNvSpPr/>
          <p:nvPr/>
        </p:nvSpPr>
        <p:spPr>
          <a:xfrm>
            <a:off x="411480" y="1371600"/>
            <a:ext cx="2682240" cy="868680"/>
          </a:xfrm>
          <a:prstGeom prst="roundRect">
            <a:avLst>
              <a:gd name="adj" fmla="val 8421"/>
            </a:avLst>
          </a:prstGeom>
          <a:solidFill>
            <a:srgbClr val="FFFFFF"/>
          </a:solidFill>
          <a:ln w="9525">
            <a:solidFill>
              <a:srgbClr val="DCE1E7"/>
            </a:solidFill>
            <a:prstDash val="solid"/>
          </a:ln>
        </p:spPr>
      </p:sp>
      <p:sp>
        <p:nvSpPr>
          <p:cNvPr id="7" name="Shape 4"/>
          <p:cNvSpPr/>
          <p:nvPr/>
        </p:nvSpPr>
        <p:spPr>
          <a:xfrm>
            <a:off x="594360" y="1577340"/>
            <a:ext cx="457200" cy="457200"/>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704088" y="1687068"/>
            <a:ext cx="237744" cy="237744"/>
          </a:xfrm>
          <a:prstGeom prst="rect">
            <a:avLst/>
          </a:prstGeom>
        </p:spPr>
      </p:pic>
      <p:sp>
        <p:nvSpPr>
          <p:cNvPr id="9" name="Text 5"/>
          <p:cNvSpPr txBox="1"/>
          <p:nvPr/>
        </p:nvSpPr>
        <p:spPr>
          <a:xfrm>
            <a:off x="1188720" y="1371600"/>
            <a:ext cx="1767840" cy="86868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&amp; cleaner accounts</a:t>
            </a:r>
            <a:endParaRPr lang="en-US" sz="1200" dirty="0"/>
          </a:p>
        </p:txBody>
      </p:sp>
      <p:sp>
        <p:nvSpPr>
          <p:cNvPr id="10" name="Shape 6"/>
          <p:cNvSpPr/>
          <p:nvPr/>
        </p:nvSpPr>
        <p:spPr>
          <a:xfrm>
            <a:off x="3230880" y="1371600"/>
            <a:ext cx="2682240" cy="868680"/>
          </a:xfrm>
          <a:prstGeom prst="roundRect">
            <a:avLst>
              <a:gd name="adj" fmla="val 8421"/>
            </a:avLst>
          </a:prstGeom>
          <a:solidFill>
            <a:srgbClr val="FFFFFF"/>
          </a:solidFill>
          <a:ln w="9525">
            <a:solidFill>
              <a:srgbClr val="DCE1E7"/>
            </a:solidFill>
            <a:prstDash val="solid"/>
          </a:ln>
        </p:spPr>
      </p:sp>
      <p:sp>
        <p:nvSpPr>
          <p:cNvPr id="11" name="Shape 7"/>
          <p:cNvSpPr/>
          <p:nvPr/>
        </p:nvSpPr>
        <p:spPr>
          <a:xfrm>
            <a:off x="3413760" y="1577340"/>
            <a:ext cx="457200" cy="457200"/>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523488" y="1687068"/>
            <a:ext cx="237744" cy="237744"/>
          </a:xfrm>
          <a:prstGeom prst="rect">
            <a:avLst/>
          </a:prstGeom>
        </p:spPr>
      </p:pic>
      <p:sp>
        <p:nvSpPr>
          <p:cNvPr id="13" name="Text 8"/>
          <p:cNvSpPr txBox="1"/>
          <p:nvPr/>
        </p:nvSpPr>
        <p:spPr>
          <a:xfrm>
            <a:off x="4008120" y="1371600"/>
            <a:ext cx="1767840" cy="86868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Jobs</a:t>
            </a:r>
            <a:endParaRPr lang="en-US" sz="1200" dirty="0"/>
          </a:p>
        </p:txBody>
      </p:sp>
      <p:sp>
        <p:nvSpPr>
          <p:cNvPr id="14" name="Shape 9"/>
          <p:cNvSpPr/>
          <p:nvPr/>
        </p:nvSpPr>
        <p:spPr>
          <a:xfrm>
            <a:off x="6050280" y="1371600"/>
            <a:ext cx="2682240" cy="868680"/>
          </a:xfrm>
          <a:prstGeom prst="roundRect">
            <a:avLst>
              <a:gd name="adj" fmla="val 8421"/>
            </a:avLst>
          </a:prstGeom>
          <a:solidFill>
            <a:srgbClr val="FFFFFF"/>
          </a:solidFill>
          <a:ln w="9525">
            <a:solidFill>
              <a:srgbClr val="DCE1E7"/>
            </a:solidFill>
            <a:prstDash val="solid"/>
          </a:ln>
        </p:spPr>
      </p:sp>
      <p:sp>
        <p:nvSpPr>
          <p:cNvPr id="15" name="Shape 10"/>
          <p:cNvSpPr/>
          <p:nvPr/>
        </p:nvSpPr>
        <p:spPr>
          <a:xfrm>
            <a:off x="6233160" y="1577340"/>
            <a:ext cx="457200" cy="457200"/>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6342888" y="1687068"/>
            <a:ext cx="237744" cy="237744"/>
          </a:xfrm>
          <a:prstGeom prst="rect">
            <a:avLst/>
          </a:prstGeom>
        </p:spPr>
      </p:pic>
      <p:sp>
        <p:nvSpPr>
          <p:cNvPr id="17" name="Text 11"/>
          <p:cNvSpPr txBox="1"/>
          <p:nvPr/>
        </p:nvSpPr>
        <p:spPr>
          <a:xfrm>
            <a:off x="6827520" y="1371600"/>
            <a:ext cx="1767840" cy="86868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Payments</a:t>
            </a:r>
            <a:endParaRPr lang="en-US" sz="1200" dirty="0"/>
          </a:p>
        </p:txBody>
      </p:sp>
      <p:sp>
        <p:nvSpPr>
          <p:cNvPr id="18" name="Shape 12"/>
          <p:cNvSpPr/>
          <p:nvPr/>
        </p:nvSpPr>
        <p:spPr>
          <a:xfrm>
            <a:off x="411480" y="2377440"/>
            <a:ext cx="2682240" cy="868680"/>
          </a:xfrm>
          <a:prstGeom prst="roundRect">
            <a:avLst>
              <a:gd name="adj" fmla="val 8421"/>
            </a:avLst>
          </a:prstGeom>
          <a:solidFill>
            <a:srgbClr val="FFFFFF"/>
          </a:solidFill>
          <a:ln w="9525">
            <a:solidFill>
              <a:srgbClr val="DCE1E7"/>
            </a:solidFill>
            <a:prstDash val="solid"/>
          </a:ln>
        </p:spPr>
      </p:sp>
      <p:sp>
        <p:nvSpPr>
          <p:cNvPr id="19" name="Shape 13"/>
          <p:cNvSpPr/>
          <p:nvPr/>
        </p:nvSpPr>
        <p:spPr>
          <a:xfrm>
            <a:off x="594360" y="2583180"/>
            <a:ext cx="457200" cy="457200"/>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704088" y="2692908"/>
            <a:ext cx="237744" cy="237744"/>
          </a:xfrm>
          <a:prstGeom prst="rect">
            <a:avLst/>
          </a:prstGeom>
        </p:spPr>
      </p:pic>
      <p:sp>
        <p:nvSpPr>
          <p:cNvPr id="21" name="Text 14"/>
          <p:cNvSpPr txBox="1"/>
          <p:nvPr/>
        </p:nvSpPr>
        <p:spPr>
          <a:xfrm>
            <a:off x="1188720" y="2377440"/>
            <a:ext cx="1767840" cy="86868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Messages with users</a:t>
            </a:r>
            <a:endParaRPr lang="en-US" sz="1200" dirty="0"/>
          </a:p>
        </p:txBody>
      </p:sp>
      <p:sp>
        <p:nvSpPr>
          <p:cNvPr id="22" name="Shape 15"/>
          <p:cNvSpPr/>
          <p:nvPr/>
        </p:nvSpPr>
        <p:spPr>
          <a:xfrm>
            <a:off x="3230880" y="2377440"/>
            <a:ext cx="2682240" cy="868680"/>
          </a:xfrm>
          <a:prstGeom prst="roundRect">
            <a:avLst>
              <a:gd name="adj" fmla="val 8421"/>
            </a:avLst>
          </a:prstGeom>
          <a:solidFill>
            <a:srgbClr val="FFFFFF"/>
          </a:solidFill>
          <a:ln w="9525">
            <a:solidFill>
              <a:srgbClr val="DCE1E7"/>
            </a:solidFill>
            <a:prstDash val="solid"/>
          </a:ln>
        </p:spPr>
      </p:sp>
      <p:sp>
        <p:nvSpPr>
          <p:cNvPr id="23" name="Shape 16"/>
          <p:cNvSpPr/>
          <p:nvPr/>
        </p:nvSpPr>
        <p:spPr>
          <a:xfrm>
            <a:off x="3413760" y="2583180"/>
            <a:ext cx="457200" cy="457200"/>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3523488" y="2692908"/>
            <a:ext cx="237744" cy="237744"/>
          </a:xfrm>
          <a:prstGeom prst="rect">
            <a:avLst/>
          </a:prstGeom>
        </p:spPr>
      </p:pic>
      <p:sp>
        <p:nvSpPr>
          <p:cNvPr id="25" name="Text 17"/>
          <p:cNvSpPr txBox="1"/>
          <p:nvPr/>
        </p:nvSpPr>
        <p:spPr>
          <a:xfrm>
            <a:off x="4008120" y="2377440"/>
            <a:ext cx="1767840" cy="86868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Tickets</a:t>
            </a:r>
            <a:endParaRPr lang="en-US" sz="1200" dirty="0"/>
          </a:p>
        </p:txBody>
      </p:sp>
      <p:sp>
        <p:nvSpPr>
          <p:cNvPr id="26" name="Shape 18"/>
          <p:cNvSpPr/>
          <p:nvPr/>
        </p:nvSpPr>
        <p:spPr>
          <a:xfrm>
            <a:off x="6050280" y="2377440"/>
            <a:ext cx="2682240" cy="868680"/>
          </a:xfrm>
          <a:prstGeom prst="roundRect">
            <a:avLst>
              <a:gd name="adj" fmla="val 8421"/>
            </a:avLst>
          </a:prstGeom>
          <a:solidFill>
            <a:srgbClr val="FFFFFF"/>
          </a:solidFill>
          <a:ln w="9525">
            <a:solidFill>
              <a:srgbClr val="DCE1E7"/>
            </a:solidFill>
            <a:prstDash val="solid"/>
          </a:ln>
        </p:spPr>
      </p:sp>
      <p:sp>
        <p:nvSpPr>
          <p:cNvPr id="27" name="Shape 19"/>
          <p:cNvSpPr/>
          <p:nvPr/>
        </p:nvSpPr>
        <p:spPr>
          <a:xfrm>
            <a:off x="6233160" y="2583180"/>
            <a:ext cx="457200" cy="457200"/>
          </a:xfrm>
          <a:prstGeom prst="ellipse">
            <a:avLst/>
          </a:prstGeom>
          <a:solidFill>
            <a:srgbClr val="E3F4F1"/>
          </a:solidFill>
          <a:ln w="12700">
            <a:solidFill>
              <a:srgbClr val="E3F4F1"/>
            </a:solidFill>
            <a:prstDash val="solid"/>
          </a:ln>
        </p:spPr>
      </p:sp>
      <p:pic>
        <p:nvPicPr>
          <p:cNvPr id="28" name="Image 5" descr="preencoded.png">    </p:cNvPr>
          <p:cNvPicPr>
            <a:picLocks noChangeAspect="1"/>
          </p:cNvPicPr>
          <p:nvPr/>
        </p:nvPicPr>
        <p:blipFill>
          <a:blip r:embed="rId6"/>
          <a:stretch>
            <a:fillRect/>
          </a:stretch>
        </p:blipFill>
        <p:spPr>
          <a:xfrm>
            <a:off x="6342888" y="2692908"/>
            <a:ext cx="237744" cy="237744"/>
          </a:xfrm>
          <a:prstGeom prst="rect">
            <a:avLst/>
          </a:prstGeom>
        </p:spPr>
      </p:pic>
      <p:sp>
        <p:nvSpPr>
          <p:cNvPr id="29" name="Text 20"/>
          <p:cNvSpPr txBox="1"/>
          <p:nvPr/>
        </p:nvSpPr>
        <p:spPr>
          <a:xfrm>
            <a:off x="6827520" y="2377440"/>
            <a:ext cx="1767840" cy="86868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Daily targets</a:t>
            </a:r>
            <a:endParaRPr lang="en-US" sz="1200" dirty="0"/>
          </a:p>
        </p:txBody>
      </p:sp>
      <p:sp>
        <p:nvSpPr>
          <p:cNvPr id="30" name="Shape 21"/>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31" name="Image 6" descr="preencoded.png">    </p:cNvPr>
          <p:cNvPicPr>
            <a:picLocks noChangeAspect="1"/>
          </p:cNvPicPr>
          <p:nvPr/>
        </p:nvPicPr>
        <p:blipFill>
          <a:blip r:embed="rId7"/>
          <a:stretch>
            <a:fillRect/>
          </a:stretch>
        </p:blipFill>
        <p:spPr>
          <a:xfrm>
            <a:off x="566928" y="3630168"/>
            <a:ext cx="164592" cy="164592"/>
          </a:xfrm>
          <a:prstGeom prst="rect">
            <a:avLst/>
          </a:prstGeom>
        </p:spPr>
      </p:pic>
      <p:sp>
        <p:nvSpPr>
          <p:cNvPr id="32" name="Text 22"/>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Two CRMs:  </a:t>
            </a:r>
            <a:pPr indent="0" marL="0">
              <a:buNone/>
            </a:pPr>
            <a:r>
              <a:rPr lang="en-US" sz="1000" dirty="0">
                <a:solidFill>
                  <a:srgbClr val="1D1D1F"/>
                </a:solidFill>
                <a:latin typeface="SF Pro Text" pitchFamily="34" charset="0"/>
                <a:ea typeface="SF Pro Text" pitchFamily="34" charset="-122"/>
                <a:cs typeface="SF Pro Text" pitchFamily="34" charset="-120"/>
              </a:rPr>
              <a:t>we have a Legacy CRM and a New CRM. We start with Legacy.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LEGACY C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Live walkthrough</a:t>
            </a:r>
            <a:endParaRPr lang="en-US" sz="2400" dirty="0"/>
          </a:p>
        </p:txBody>
      </p:sp>
      <p:sp>
        <p:nvSpPr>
          <p:cNvPr id="5" name="Shape 2"/>
          <p:cNvSpPr/>
          <p:nvPr/>
        </p:nvSpPr>
        <p:spPr>
          <a:xfrm>
            <a:off x="411480" y="1143000"/>
            <a:ext cx="8321040" cy="1920240"/>
          </a:xfrm>
          <a:prstGeom prst="roundRect">
            <a:avLst>
              <a:gd name="adj" fmla="val 3810"/>
            </a:avLst>
          </a:prstGeom>
          <a:solidFill>
            <a:srgbClr val="E3F4F1"/>
          </a:solidFill>
          <a:ln w="9525">
            <a:solidFill>
              <a:srgbClr val="E3F4F1"/>
            </a:solidFill>
            <a:prstDash val="solid"/>
          </a:ln>
        </p:spPr>
      </p:sp>
      <p:sp>
        <p:nvSpPr>
          <p:cNvPr id="6" name="Shape 3"/>
          <p:cNvSpPr/>
          <p:nvPr/>
        </p:nvSpPr>
        <p:spPr>
          <a:xfrm>
            <a:off x="731520" y="1463040"/>
            <a:ext cx="822960" cy="82296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29030" y="1660550"/>
            <a:ext cx="427939" cy="427939"/>
          </a:xfrm>
          <a:prstGeom prst="rect">
            <a:avLst/>
          </a:prstGeom>
        </p:spPr>
      </p:pic>
      <p:sp>
        <p:nvSpPr>
          <p:cNvPr id="8" name="Text 4"/>
          <p:cNvSpPr txBox="1"/>
          <p:nvPr/>
        </p:nvSpPr>
        <p:spPr>
          <a:xfrm>
            <a:off x="1828800" y="1463040"/>
            <a:ext cx="6400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TRAINER WALKTHROUGH</a:t>
            </a:r>
            <a:endParaRPr lang="en-US" sz="800" dirty="0"/>
          </a:p>
        </p:txBody>
      </p:sp>
      <p:sp>
        <p:nvSpPr>
          <p:cNvPr id="9" name="Text 5"/>
          <p:cNvSpPr txBox="1"/>
          <p:nvPr/>
        </p:nvSpPr>
        <p:spPr>
          <a:xfrm>
            <a:off x="1828800" y="1691640"/>
            <a:ext cx="6583680" cy="68580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The trainer will open the live Legacy C CRM and walk you through the actual system.</a:t>
            </a:r>
            <a:endParaRPr lang="en-US" sz="1700" dirty="0"/>
          </a:p>
        </p:txBody>
      </p:sp>
      <p:sp>
        <p:nvSpPr>
          <p:cNvPr id="10" name="Text 6"/>
          <p:cNvSpPr txBox="1"/>
          <p:nvPr/>
        </p:nvSpPr>
        <p:spPr>
          <a:xfrm>
            <a:off x="1828800" y="2468880"/>
            <a:ext cx="6400800" cy="228600"/>
          </a:xfrm>
          <a:prstGeom prst="rect">
            <a:avLst/>
          </a:prstGeom>
          <a:noFill/>
          <a:ln/>
        </p:spPr>
        <p:txBody>
          <a:bodyPr wrap="square" lIns="0" tIns="0" rIns="0" bIns="0" rtlCol="0" anchor="t"/>
          <a:lstStyle/>
          <a:p>
            <a:pPr indent="0" marL="0">
              <a:buNone/>
            </a:pPr>
            <a:r>
              <a:rPr lang="en-US" sz="1100" dirty="0">
                <a:solidFill>
                  <a:srgbClr val="6E6E73"/>
                </a:solidFill>
                <a:latin typeface="SF Pro Text" pitchFamily="34" charset="0"/>
                <a:ea typeface="SF Pro Text" pitchFamily="34" charset="-122"/>
                <a:cs typeface="SF Pro Text" pitchFamily="34" charset="-120"/>
              </a:rPr>
              <a:t>Follow along and note your questions.</a:t>
            </a:r>
            <a:endParaRPr lang="en-US" sz="1100" dirty="0"/>
          </a:p>
        </p:txBody>
      </p:sp>
      <p:sp>
        <p:nvSpPr>
          <p:cNvPr id="11" name="Text 7"/>
          <p:cNvSpPr txBox="1"/>
          <p:nvPr/>
        </p:nvSpPr>
        <p:spPr>
          <a:xfrm>
            <a:off x="438912" y="329184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AS YOU WATCH, LOOK FOR</a:t>
            </a:r>
            <a:endParaRPr lang="en-US" sz="800" dirty="0"/>
          </a:p>
        </p:txBody>
      </p:sp>
      <p:sp>
        <p:nvSpPr>
          <p:cNvPr id="12" name="Shape 8"/>
          <p:cNvSpPr/>
          <p:nvPr/>
        </p:nvSpPr>
        <p:spPr>
          <a:xfrm>
            <a:off x="411480" y="3547872"/>
            <a:ext cx="1977390" cy="566928"/>
          </a:xfrm>
          <a:prstGeom prst="roundRect">
            <a:avLst>
              <a:gd name="adj" fmla="val 12903"/>
            </a:avLst>
          </a:prstGeom>
          <a:solidFill>
            <a:srgbClr val="FFFFFF"/>
          </a:solidFill>
          <a:ln w="9525">
            <a:solidFill>
              <a:srgbClr val="DCE1E7"/>
            </a:solidFill>
            <a:prstDash val="solid"/>
          </a:ln>
        </p:spPr>
      </p:sp>
      <p:sp>
        <p:nvSpPr>
          <p:cNvPr id="13" name="Shape 9"/>
          <p:cNvSpPr/>
          <p:nvPr/>
        </p:nvSpPr>
        <p:spPr>
          <a:xfrm>
            <a:off x="539496" y="3675888"/>
            <a:ext cx="310896" cy="310896"/>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614111" y="3750503"/>
            <a:ext cx="161666" cy="161666"/>
          </a:xfrm>
          <a:prstGeom prst="rect">
            <a:avLst/>
          </a:prstGeom>
        </p:spPr>
      </p:pic>
      <p:sp>
        <p:nvSpPr>
          <p:cNvPr id="15" name="Text 10"/>
          <p:cNvSpPr txBox="1"/>
          <p:nvPr/>
        </p:nvSpPr>
        <p:spPr>
          <a:xfrm>
            <a:off x="9418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Account details</a:t>
            </a:r>
            <a:endParaRPr lang="en-US" sz="1000" dirty="0"/>
          </a:p>
        </p:txBody>
      </p:sp>
      <p:sp>
        <p:nvSpPr>
          <p:cNvPr id="16" name="Shape 11"/>
          <p:cNvSpPr/>
          <p:nvPr/>
        </p:nvSpPr>
        <p:spPr>
          <a:xfrm>
            <a:off x="2526030" y="3547872"/>
            <a:ext cx="1977390" cy="566928"/>
          </a:xfrm>
          <a:prstGeom prst="roundRect">
            <a:avLst>
              <a:gd name="adj" fmla="val 12903"/>
            </a:avLst>
          </a:prstGeom>
          <a:solidFill>
            <a:srgbClr val="FFFFFF"/>
          </a:solidFill>
          <a:ln w="9525">
            <a:solidFill>
              <a:srgbClr val="DCE1E7"/>
            </a:solidFill>
            <a:prstDash val="solid"/>
          </a:ln>
        </p:spPr>
      </p:sp>
      <p:sp>
        <p:nvSpPr>
          <p:cNvPr id="17" name="Shape 12"/>
          <p:cNvSpPr/>
          <p:nvPr/>
        </p:nvSpPr>
        <p:spPr>
          <a:xfrm>
            <a:off x="2654046" y="3675888"/>
            <a:ext cx="310896" cy="310896"/>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2728661" y="3750503"/>
            <a:ext cx="161666" cy="161666"/>
          </a:xfrm>
          <a:prstGeom prst="rect">
            <a:avLst/>
          </a:prstGeom>
        </p:spPr>
      </p:pic>
      <p:sp>
        <p:nvSpPr>
          <p:cNvPr id="19" name="Text 13"/>
          <p:cNvSpPr txBox="1"/>
          <p:nvPr/>
        </p:nvSpPr>
        <p:spPr>
          <a:xfrm>
            <a:off x="30563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Jobs and charges</a:t>
            </a:r>
            <a:endParaRPr lang="en-US" sz="1000" dirty="0"/>
          </a:p>
        </p:txBody>
      </p:sp>
      <p:sp>
        <p:nvSpPr>
          <p:cNvPr id="20" name="Shape 14"/>
          <p:cNvSpPr/>
          <p:nvPr/>
        </p:nvSpPr>
        <p:spPr>
          <a:xfrm>
            <a:off x="4640580" y="3547872"/>
            <a:ext cx="1977390" cy="566928"/>
          </a:xfrm>
          <a:prstGeom prst="roundRect">
            <a:avLst>
              <a:gd name="adj" fmla="val 12903"/>
            </a:avLst>
          </a:prstGeom>
          <a:solidFill>
            <a:srgbClr val="FFFFFF"/>
          </a:solidFill>
          <a:ln w="9525">
            <a:solidFill>
              <a:srgbClr val="DCE1E7"/>
            </a:solidFill>
            <a:prstDash val="solid"/>
          </a:ln>
        </p:spPr>
      </p:sp>
      <p:sp>
        <p:nvSpPr>
          <p:cNvPr id="21" name="Shape 15"/>
          <p:cNvSpPr/>
          <p:nvPr/>
        </p:nvSpPr>
        <p:spPr>
          <a:xfrm>
            <a:off x="4768596" y="3675888"/>
            <a:ext cx="310896" cy="310896"/>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4843211" y="3750503"/>
            <a:ext cx="161666" cy="161666"/>
          </a:xfrm>
          <a:prstGeom prst="rect">
            <a:avLst/>
          </a:prstGeom>
        </p:spPr>
      </p:pic>
      <p:sp>
        <p:nvSpPr>
          <p:cNvPr id="23" name="Text 16"/>
          <p:cNvSpPr txBox="1"/>
          <p:nvPr/>
        </p:nvSpPr>
        <p:spPr>
          <a:xfrm>
            <a:off x="51709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Messages and tickets</a:t>
            </a:r>
            <a:endParaRPr lang="en-US" sz="1000" dirty="0"/>
          </a:p>
        </p:txBody>
      </p:sp>
      <p:sp>
        <p:nvSpPr>
          <p:cNvPr id="24" name="Shape 17"/>
          <p:cNvSpPr/>
          <p:nvPr/>
        </p:nvSpPr>
        <p:spPr>
          <a:xfrm>
            <a:off x="6755130" y="3547872"/>
            <a:ext cx="1977390" cy="566928"/>
          </a:xfrm>
          <a:prstGeom prst="roundRect">
            <a:avLst>
              <a:gd name="adj" fmla="val 12903"/>
            </a:avLst>
          </a:prstGeom>
          <a:solidFill>
            <a:srgbClr val="FFFFFF"/>
          </a:solidFill>
          <a:ln w="9525">
            <a:solidFill>
              <a:srgbClr val="DCE1E7"/>
            </a:solidFill>
            <a:prstDash val="solid"/>
          </a:ln>
        </p:spPr>
      </p:sp>
      <p:sp>
        <p:nvSpPr>
          <p:cNvPr id="25" name="Shape 18"/>
          <p:cNvSpPr/>
          <p:nvPr/>
        </p:nvSpPr>
        <p:spPr>
          <a:xfrm>
            <a:off x="6883146" y="3675888"/>
            <a:ext cx="310896" cy="310896"/>
          </a:xfrm>
          <a:prstGeom prst="ellipse">
            <a:avLst/>
          </a:prstGeom>
          <a:solidFill>
            <a:srgbClr val="E3F4F1"/>
          </a:solidFill>
          <a:ln w="12700">
            <a:solidFill>
              <a:srgbClr val="E3F4F1"/>
            </a:solidFill>
            <a:prstDash val="solid"/>
          </a:ln>
        </p:spPr>
      </p:sp>
      <p:pic>
        <p:nvPicPr>
          <p:cNvPr id="26" name="Image 4" descr="preencoded.png">    </p:cNvPr>
          <p:cNvPicPr>
            <a:picLocks noChangeAspect="1"/>
          </p:cNvPicPr>
          <p:nvPr/>
        </p:nvPicPr>
        <p:blipFill>
          <a:blip r:embed="rId5"/>
          <a:stretch>
            <a:fillRect/>
          </a:stretch>
        </p:blipFill>
        <p:spPr>
          <a:xfrm>
            <a:off x="6957761" y="3750503"/>
            <a:ext cx="161666" cy="161666"/>
          </a:xfrm>
          <a:prstGeom prst="rect">
            <a:avLst/>
          </a:prstGeom>
        </p:spPr>
      </p:pic>
      <p:sp>
        <p:nvSpPr>
          <p:cNvPr id="27" name="Text 19"/>
          <p:cNvSpPr txBox="1"/>
          <p:nvPr/>
        </p:nvSpPr>
        <p:spPr>
          <a:xfrm>
            <a:off x="72854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Daily targets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5B4BB7"/>
                </a:solidFill>
                <a:latin typeface="SF Pro Display" pitchFamily="34" charset="0"/>
                <a:ea typeface="SF Pro Display" pitchFamily="34" charset="-122"/>
                <a:cs typeface="SF Pro Display" pitchFamily="34" charset="-120"/>
              </a:rPr>
              <a:t>TOPIC 04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Introduction to C Dashboard</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Where customers manage their account and bookings.</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DEBFA"/>
          </a:solidFill>
          <a:ln w="12700">
            <a:solidFill>
              <a:srgbClr val="EDEBFA"/>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customer sees</a:t>
            </a:r>
            <a:endParaRPr lang="en-US" sz="1050" dirty="0"/>
          </a:p>
        </p:txBody>
      </p:sp>
      <p:sp>
        <p:nvSpPr>
          <p:cNvPr id="9" name="Shape 6"/>
          <p:cNvSpPr/>
          <p:nvPr/>
        </p:nvSpPr>
        <p:spPr>
          <a:xfrm>
            <a:off x="566928" y="3538728"/>
            <a:ext cx="155448" cy="155448"/>
          </a:xfrm>
          <a:prstGeom prst="ellipse">
            <a:avLst/>
          </a:prstGeom>
          <a:solidFill>
            <a:srgbClr val="EDEBFA"/>
          </a:solidFill>
          <a:ln w="12700">
            <a:solidFill>
              <a:srgbClr val="EDEBFA"/>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they can do themselves</a:t>
            </a:r>
            <a:endParaRPr lang="en-US" sz="1050" dirty="0"/>
          </a:p>
        </p:txBody>
      </p:sp>
      <p:sp>
        <p:nvSpPr>
          <p:cNvPr id="12" name="Shape 8"/>
          <p:cNvSpPr/>
          <p:nvPr/>
        </p:nvSpPr>
        <p:spPr>
          <a:xfrm>
            <a:off x="566928" y="3813048"/>
            <a:ext cx="155448" cy="155448"/>
          </a:xfrm>
          <a:prstGeom prst="ellipse">
            <a:avLst/>
          </a:prstGeom>
          <a:solidFill>
            <a:srgbClr val="EDEBFA"/>
          </a:solidFill>
          <a:ln w="12700">
            <a:solidFill>
              <a:srgbClr val="EDEBFA"/>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live walkthrough</a:t>
            </a:r>
            <a:endParaRPr lang="en-US" sz="1050" dirty="0"/>
          </a:p>
        </p:txBody>
      </p:sp>
      <p:sp>
        <p:nvSpPr>
          <p:cNvPr id="15" name="Shape 10"/>
          <p:cNvSpPr/>
          <p:nvPr/>
        </p:nvSpPr>
        <p:spPr>
          <a:xfrm>
            <a:off x="5312664" y="621792"/>
            <a:ext cx="3383280" cy="3895344"/>
          </a:xfrm>
          <a:prstGeom prst="roundRect">
            <a:avLst>
              <a:gd name="adj" fmla="val 2162"/>
            </a:avLst>
          </a:prstGeom>
          <a:solidFill>
            <a:srgbClr val="EDEBFA"/>
          </a:solidFill>
          <a:ln w="9525">
            <a:solidFill>
              <a:srgbClr val="EDEBFA"/>
            </a:solidFill>
            <a:prstDash val="solid"/>
          </a:ln>
        </p:spPr>
      </p:sp>
      <p:sp>
        <p:nvSpPr>
          <p:cNvPr id="16" name="Shape 11"/>
          <p:cNvSpPr/>
          <p:nvPr/>
        </p:nvSpPr>
        <p:spPr>
          <a:xfrm>
            <a:off x="5724144" y="1097280"/>
            <a:ext cx="2560320" cy="2560320"/>
          </a:xfrm>
          <a:prstGeom prst="ellipse">
            <a:avLst/>
          </a:prstGeom>
          <a:solidFill>
            <a:srgbClr val="FFFFFF"/>
          </a:solidFill>
          <a:ln w="12700">
            <a:solidFill>
              <a:srgbClr val="FFFFFF"/>
            </a:solidFill>
            <a:prstDash val="solid"/>
          </a:ln>
        </p:spPr>
      </p:sp>
      <p:pic>
        <p:nvPicPr>
          <p:cNvPr id="17" name="Image 3" descr="preencoded.png">    </p:cNvPr>
          <p:cNvPicPr>
            <a:picLocks noChangeAspect="1"/>
          </p:cNvPicPr>
          <p:nvPr/>
        </p:nvPicPr>
        <p:blipFill>
          <a:blip r:embed="rId4"/>
          <a:stretch>
            <a:fillRect/>
          </a:stretch>
        </p:blipFill>
        <p:spPr>
          <a:xfrm>
            <a:off x="6455664" y="1828800"/>
            <a:ext cx="1097280" cy="109728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5B4BB7"/>
          </a:solidFill>
          <a:ln w="12700">
            <a:solidFill>
              <a:srgbClr val="5B4BB7"/>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5B4BB7"/>
          </a:solidFill>
          <a:ln w="12700">
            <a:solidFill>
              <a:srgbClr val="5B4BB7"/>
            </a:solidFill>
            <a:prstDash val="solid"/>
          </a:ln>
        </p:spPr>
      </p:sp>
      <p:sp>
        <p:nvSpPr>
          <p:cNvPr id="22" name="Shape 16"/>
          <p:cNvSpPr/>
          <p:nvPr/>
        </p:nvSpPr>
        <p:spPr>
          <a:xfrm>
            <a:off x="8193024" y="4041648"/>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65092"/>
            <a:ext cx="82296" cy="82296"/>
          </a:xfrm>
          <a:prstGeom prst="ellipse">
            <a:avLst/>
          </a:prstGeom>
          <a:solidFill>
            <a:srgbClr val="5B4BB7"/>
          </a:solidFill>
          <a:ln w="12700">
            <a:solidFill>
              <a:srgbClr val="5B4BB7"/>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DASHBOARD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customer's side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Where customers manage their account and bookings.</a:t>
            </a:r>
            <a:endParaRPr lang="en-US" sz="1200" dirty="0"/>
          </a:p>
        </p:txBody>
      </p:sp>
      <p:sp>
        <p:nvSpPr>
          <p:cNvPr id="6" name="Shape 3"/>
          <p:cNvSpPr/>
          <p:nvPr/>
        </p:nvSpPr>
        <p:spPr>
          <a:xfrm>
            <a:off x="411480" y="1463040"/>
            <a:ext cx="197739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627632"/>
            <a:ext cx="329184" cy="329184"/>
          </a:xfrm>
          <a:prstGeom prst="ellipse">
            <a:avLst/>
          </a:prstGeom>
          <a:solidFill>
            <a:srgbClr val="EDEBFA"/>
          </a:solidFill>
          <a:ln w="12700">
            <a:solidFill>
              <a:srgbClr val="EDEBFA"/>
            </a:solidFill>
            <a:prstDash val="solid"/>
          </a:ln>
        </p:spPr>
      </p:sp>
      <p:pic>
        <p:nvPicPr>
          <p:cNvPr id="8" name="Image 0" descr="preencoded.png">    </p:cNvPr>
          <p:cNvPicPr>
            <a:picLocks noChangeAspect="1"/>
          </p:cNvPicPr>
          <p:nvPr/>
        </p:nvPicPr>
        <p:blipFill>
          <a:blip r:embed="rId1"/>
          <a:stretch>
            <a:fillRect/>
          </a:stretch>
        </p:blipFill>
        <p:spPr>
          <a:xfrm>
            <a:off x="655076" y="1706636"/>
            <a:ext cx="171176" cy="171176"/>
          </a:xfrm>
          <a:prstGeom prst="rect">
            <a:avLst/>
          </a:prstGeom>
        </p:spPr>
      </p:pic>
      <p:sp>
        <p:nvSpPr>
          <p:cNvPr id="9" name="Text 5"/>
          <p:cNvSpPr txBox="1"/>
          <p:nvPr/>
        </p:nvSpPr>
        <p:spPr>
          <a:xfrm>
            <a:off x="576072" y="206654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Book a cleaning</a:t>
            </a:r>
            <a:endParaRPr lang="en-US" sz="1200" dirty="0"/>
          </a:p>
        </p:txBody>
      </p:sp>
      <p:sp>
        <p:nvSpPr>
          <p:cNvPr id="10" name="Text 6"/>
          <p:cNvSpPr txBox="1"/>
          <p:nvPr/>
        </p:nvSpPr>
        <p:spPr>
          <a:xfrm>
            <a:off x="576072" y="235915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Start a new booking.</a:t>
            </a:r>
            <a:endParaRPr lang="en-US" sz="950" dirty="0"/>
          </a:p>
        </p:txBody>
      </p:sp>
      <p:sp>
        <p:nvSpPr>
          <p:cNvPr id="11" name="Shape 7"/>
          <p:cNvSpPr/>
          <p:nvPr/>
        </p:nvSpPr>
        <p:spPr>
          <a:xfrm>
            <a:off x="2526030" y="1463040"/>
            <a:ext cx="197739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2690622" y="1627632"/>
            <a:ext cx="329184" cy="329184"/>
          </a:xfrm>
          <a:prstGeom prst="ellipse">
            <a:avLst/>
          </a:prstGeom>
          <a:solidFill>
            <a:srgbClr val="EDEBFA"/>
          </a:solidFill>
          <a:ln w="12700">
            <a:solidFill>
              <a:srgbClr val="EDEBFA"/>
            </a:solidFill>
            <a:prstDash val="solid"/>
          </a:ln>
        </p:spPr>
      </p:sp>
      <p:pic>
        <p:nvPicPr>
          <p:cNvPr id="13" name="Image 1" descr="preencoded.png">    </p:cNvPr>
          <p:cNvPicPr>
            <a:picLocks noChangeAspect="1"/>
          </p:cNvPicPr>
          <p:nvPr/>
        </p:nvPicPr>
        <p:blipFill>
          <a:blip r:embed="rId2"/>
          <a:stretch>
            <a:fillRect/>
          </a:stretch>
        </p:blipFill>
        <p:spPr>
          <a:xfrm>
            <a:off x="2769626" y="1706636"/>
            <a:ext cx="171176" cy="171176"/>
          </a:xfrm>
          <a:prstGeom prst="rect">
            <a:avLst/>
          </a:prstGeom>
        </p:spPr>
      </p:pic>
      <p:sp>
        <p:nvSpPr>
          <p:cNvPr id="14" name="Text 9"/>
          <p:cNvSpPr txBox="1"/>
          <p:nvPr/>
        </p:nvSpPr>
        <p:spPr>
          <a:xfrm>
            <a:off x="2690622" y="206654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Upcoming cleanings</a:t>
            </a:r>
            <a:endParaRPr lang="en-US" sz="1200" dirty="0"/>
          </a:p>
        </p:txBody>
      </p:sp>
      <p:sp>
        <p:nvSpPr>
          <p:cNvPr id="15" name="Text 10"/>
          <p:cNvSpPr txBox="1"/>
          <p:nvPr/>
        </p:nvSpPr>
        <p:spPr>
          <a:xfrm>
            <a:off x="2690622" y="235915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Reschedule, cancel or match a new cleaner.</a:t>
            </a:r>
            <a:endParaRPr lang="en-US" sz="950" dirty="0"/>
          </a:p>
        </p:txBody>
      </p:sp>
      <p:sp>
        <p:nvSpPr>
          <p:cNvPr id="16" name="Shape 11"/>
          <p:cNvSpPr/>
          <p:nvPr/>
        </p:nvSpPr>
        <p:spPr>
          <a:xfrm>
            <a:off x="4640580" y="1463040"/>
            <a:ext cx="197739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4805172" y="1627632"/>
            <a:ext cx="329184" cy="329184"/>
          </a:xfrm>
          <a:prstGeom prst="ellipse">
            <a:avLst/>
          </a:prstGeom>
          <a:solidFill>
            <a:srgbClr val="EDEBFA"/>
          </a:solidFill>
          <a:ln w="12700">
            <a:solidFill>
              <a:srgbClr val="EDEBFA"/>
            </a:solidFill>
            <a:prstDash val="solid"/>
          </a:ln>
        </p:spPr>
      </p:sp>
      <p:pic>
        <p:nvPicPr>
          <p:cNvPr id="18" name="Image 2" descr="preencoded.png">    </p:cNvPr>
          <p:cNvPicPr>
            <a:picLocks noChangeAspect="1"/>
          </p:cNvPicPr>
          <p:nvPr/>
        </p:nvPicPr>
        <p:blipFill>
          <a:blip r:embed="rId3"/>
          <a:stretch>
            <a:fillRect/>
          </a:stretch>
        </p:blipFill>
        <p:spPr>
          <a:xfrm>
            <a:off x="4884176" y="1706636"/>
            <a:ext cx="171176" cy="171176"/>
          </a:xfrm>
          <a:prstGeom prst="rect">
            <a:avLst/>
          </a:prstGeom>
        </p:spPr>
      </p:pic>
      <p:sp>
        <p:nvSpPr>
          <p:cNvPr id="19" name="Text 13"/>
          <p:cNvSpPr txBox="1"/>
          <p:nvPr/>
        </p:nvSpPr>
        <p:spPr>
          <a:xfrm>
            <a:off x="4805172" y="206654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Past cleanings</a:t>
            </a:r>
            <a:endParaRPr lang="en-US" sz="1200" dirty="0"/>
          </a:p>
        </p:txBody>
      </p:sp>
      <p:sp>
        <p:nvSpPr>
          <p:cNvPr id="20" name="Text 14"/>
          <p:cNvSpPr txBox="1"/>
          <p:nvPr/>
        </p:nvSpPr>
        <p:spPr>
          <a:xfrm>
            <a:off x="4805172" y="235915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Cleanings and the cleaners who did them.</a:t>
            </a:r>
            <a:endParaRPr lang="en-US" sz="950" dirty="0"/>
          </a:p>
        </p:txBody>
      </p:sp>
      <p:sp>
        <p:nvSpPr>
          <p:cNvPr id="21" name="Shape 15"/>
          <p:cNvSpPr/>
          <p:nvPr/>
        </p:nvSpPr>
        <p:spPr>
          <a:xfrm>
            <a:off x="6755130" y="1463040"/>
            <a:ext cx="1977390" cy="1600200"/>
          </a:xfrm>
          <a:prstGeom prst="roundRect">
            <a:avLst>
              <a:gd name="adj" fmla="val 4571"/>
            </a:avLst>
          </a:prstGeom>
          <a:solidFill>
            <a:srgbClr val="FFFFFF"/>
          </a:solidFill>
          <a:ln w="9525">
            <a:solidFill>
              <a:srgbClr val="DCE1E7"/>
            </a:solidFill>
            <a:prstDash val="solid"/>
          </a:ln>
        </p:spPr>
      </p:sp>
      <p:sp>
        <p:nvSpPr>
          <p:cNvPr id="22" name="Shape 16"/>
          <p:cNvSpPr/>
          <p:nvPr/>
        </p:nvSpPr>
        <p:spPr>
          <a:xfrm>
            <a:off x="6919722" y="1627632"/>
            <a:ext cx="329184" cy="329184"/>
          </a:xfrm>
          <a:prstGeom prst="ellipse">
            <a:avLst/>
          </a:prstGeom>
          <a:solidFill>
            <a:srgbClr val="EDEBFA"/>
          </a:solidFill>
          <a:ln w="12700">
            <a:solidFill>
              <a:srgbClr val="EDEBFA"/>
            </a:solidFill>
            <a:prstDash val="solid"/>
          </a:ln>
        </p:spPr>
      </p:sp>
      <p:pic>
        <p:nvPicPr>
          <p:cNvPr id="23" name="Image 3" descr="preencoded.png">    </p:cNvPr>
          <p:cNvPicPr>
            <a:picLocks noChangeAspect="1"/>
          </p:cNvPicPr>
          <p:nvPr/>
        </p:nvPicPr>
        <p:blipFill>
          <a:blip r:embed="rId4"/>
          <a:stretch>
            <a:fillRect/>
          </a:stretch>
        </p:blipFill>
        <p:spPr>
          <a:xfrm>
            <a:off x="6998726" y="1706636"/>
            <a:ext cx="171176" cy="171176"/>
          </a:xfrm>
          <a:prstGeom prst="rect">
            <a:avLst/>
          </a:prstGeom>
        </p:spPr>
      </p:pic>
      <p:sp>
        <p:nvSpPr>
          <p:cNvPr id="24" name="Text 17"/>
          <p:cNvSpPr txBox="1"/>
          <p:nvPr/>
        </p:nvSpPr>
        <p:spPr>
          <a:xfrm>
            <a:off x="6919722" y="206654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Account</a:t>
            </a:r>
            <a:endParaRPr lang="en-US" sz="1200" dirty="0"/>
          </a:p>
        </p:txBody>
      </p:sp>
      <p:sp>
        <p:nvSpPr>
          <p:cNvPr id="25" name="Text 18"/>
          <p:cNvSpPr txBox="1"/>
          <p:nvPr/>
        </p:nvSpPr>
        <p:spPr>
          <a:xfrm>
            <a:off x="6919722" y="235915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Their profile and account settings.</a:t>
            </a:r>
            <a:endParaRPr lang="en-US" sz="950" dirty="0"/>
          </a:p>
        </p:txBody>
      </p:sp>
      <p:sp>
        <p:nvSpPr>
          <p:cNvPr id="26" name="Shape 19"/>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7" name="Image 4" descr="preencoded.png">    </p:cNvPr>
          <p:cNvPicPr>
            <a:picLocks noChangeAspect="1"/>
          </p:cNvPicPr>
          <p:nvPr/>
        </p:nvPicPr>
        <p:blipFill>
          <a:blip r:embed="rId5"/>
          <a:stretch>
            <a:fillRect/>
          </a:stretch>
        </p:blipFill>
        <p:spPr>
          <a:xfrm>
            <a:off x="566928" y="3401568"/>
            <a:ext cx="164592" cy="164592"/>
          </a:xfrm>
          <a:prstGeom prst="rect">
            <a:avLst/>
          </a:prstGeom>
        </p:spPr>
      </p:pic>
      <p:sp>
        <p:nvSpPr>
          <p:cNvPr id="28" name="Text 20"/>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helps:  </a:t>
            </a:r>
            <a:pPr indent="0" marL="0">
              <a:buNone/>
            </a:pPr>
            <a:r>
              <a:rPr lang="en-US" sz="1000" dirty="0">
                <a:solidFill>
                  <a:srgbClr val="1D1D1F"/>
                </a:solidFill>
                <a:latin typeface="SF Pro Text" pitchFamily="34" charset="0"/>
                <a:ea typeface="SF Pro Text" pitchFamily="34" charset="-122"/>
                <a:cs typeface="SF Pro Text" pitchFamily="34" charset="-120"/>
              </a:rPr>
              <a:t>when you know what the customer sees, you can guide them step by step.</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DASHBOARD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Live walkthrough</a:t>
            </a:r>
            <a:endParaRPr lang="en-US" sz="2400" dirty="0"/>
          </a:p>
        </p:txBody>
      </p:sp>
      <p:sp>
        <p:nvSpPr>
          <p:cNvPr id="5" name="Shape 2"/>
          <p:cNvSpPr/>
          <p:nvPr/>
        </p:nvSpPr>
        <p:spPr>
          <a:xfrm>
            <a:off x="411480" y="1143000"/>
            <a:ext cx="8321040" cy="1920240"/>
          </a:xfrm>
          <a:prstGeom prst="roundRect">
            <a:avLst>
              <a:gd name="adj" fmla="val 3810"/>
            </a:avLst>
          </a:prstGeom>
          <a:solidFill>
            <a:srgbClr val="E3F4F1"/>
          </a:solidFill>
          <a:ln w="9525">
            <a:solidFill>
              <a:srgbClr val="E3F4F1"/>
            </a:solidFill>
            <a:prstDash val="solid"/>
          </a:ln>
        </p:spPr>
      </p:sp>
      <p:sp>
        <p:nvSpPr>
          <p:cNvPr id="6" name="Shape 3"/>
          <p:cNvSpPr/>
          <p:nvPr/>
        </p:nvSpPr>
        <p:spPr>
          <a:xfrm>
            <a:off x="731520" y="1463040"/>
            <a:ext cx="822960" cy="82296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29030" y="1660550"/>
            <a:ext cx="427939" cy="427939"/>
          </a:xfrm>
          <a:prstGeom prst="rect">
            <a:avLst/>
          </a:prstGeom>
        </p:spPr>
      </p:pic>
      <p:sp>
        <p:nvSpPr>
          <p:cNvPr id="8" name="Text 4"/>
          <p:cNvSpPr txBox="1"/>
          <p:nvPr/>
        </p:nvSpPr>
        <p:spPr>
          <a:xfrm>
            <a:off x="1828800" y="1463040"/>
            <a:ext cx="6400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TRAINER WALKTHROUGH</a:t>
            </a:r>
            <a:endParaRPr lang="en-US" sz="800" dirty="0"/>
          </a:p>
        </p:txBody>
      </p:sp>
      <p:sp>
        <p:nvSpPr>
          <p:cNvPr id="9" name="Text 5"/>
          <p:cNvSpPr txBox="1"/>
          <p:nvPr/>
        </p:nvSpPr>
        <p:spPr>
          <a:xfrm>
            <a:off x="1828800" y="1691640"/>
            <a:ext cx="6583680" cy="68580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The trainer will open the live C Dashboard and walk you through the actual system.</a:t>
            </a:r>
            <a:endParaRPr lang="en-US" sz="1700" dirty="0"/>
          </a:p>
        </p:txBody>
      </p:sp>
      <p:sp>
        <p:nvSpPr>
          <p:cNvPr id="10" name="Text 6"/>
          <p:cNvSpPr txBox="1"/>
          <p:nvPr/>
        </p:nvSpPr>
        <p:spPr>
          <a:xfrm>
            <a:off x="1828800" y="2468880"/>
            <a:ext cx="6400800" cy="228600"/>
          </a:xfrm>
          <a:prstGeom prst="rect">
            <a:avLst/>
          </a:prstGeom>
          <a:noFill/>
          <a:ln/>
        </p:spPr>
        <p:txBody>
          <a:bodyPr wrap="square" lIns="0" tIns="0" rIns="0" bIns="0" rtlCol="0" anchor="t"/>
          <a:lstStyle/>
          <a:p>
            <a:pPr indent="0" marL="0">
              <a:buNone/>
            </a:pPr>
            <a:r>
              <a:rPr lang="en-US" sz="1100" dirty="0">
                <a:solidFill>
                  <a:srgbClr val="6E6E73"/>
                </a:solidFill>
                <a:latin typeface="SF Pro Text" pitchFamily="34" charset="0"/>
                <a:ea typeface="SF Pro Text" pitchFamily="34" charset="-122"/>
                <a:cs typeface="SF Pro Text" pitchFamily="34" charset="-120"/>
              </a:rPr>
              <a:t>Follow along and note your questions.</a:t>
            </a:r>
            <a:endParaRPr lang="en-US" sz="1100" dirty="0"/>
          </a:p>
        </p:txBody>
      </p:sp>
      <p:sp>
        <p:nvSpPr>
          <p:cNvPr id="11" name="Text 7"/>
          <p:cNvSpPr txBox="1"/>
          <p:nvPr/>
        </p:nvSpPr>
        <p:spPr>
          <a:xfrm>
            <a:off x="438912" y="329184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AS YOU WATCH, LOOK FOR</a:t>
            </a:r>
            <a:endParaRPr lang="en-US" sz="800" dirty="0"/>
          </a:p>
        </p:txBody>
      </p:sp>
      <p:sp>
        <p:nvSpPr>
          <p:cNvPr id="12" name="Shape 8"/>
          <p:cNvSpPr/>
          <p:nvPr/>
        </p:nvSpPr>
        <p:spPr>
          <a:xfrm>
            <a:off x="411480" y="3547872"/>
            <a:ext cx="1977390" cy="566928"/>
          </a:xfrm>
          <a:prstGeom prst="roundRect">
            <a:avLst>
              <a:gd name="adj" fmla="val 12903"/>
            </a:avLst>
          </a:prstGeom>
          <a:solidFill>
            <a:srgbClr val="FFFFFF"/>
          </a:solidFill>
          <a:ln w="9525">
            <a:solidFill>
              <a:srgbClr val="DCE1E7"/>
            </a:solidFill>
            <a:prstDash val="solid"/>
          </a:ln>
        </p:spPr>
      </p:sp>
      <p:sp>
        <p:nvSpPr>
          <p:cNvPr id="13" name="Shape 9"/>
          <p:cNvSpPr/>
          <p:nvPr/>
        </p:nvSpPr>
        <p:spPr>
          <a:xfrm>
            <a:off x="539496" y="3675888"/>
            <a:ext cx="310896" cy="310896"/>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614111" y="3750503"/>
            <a:ext cx="161666" cy="161666"/>
          </a:xfrm>
          <a:prstGeom prst="rect">
            <a:avLst/>
          </a:prstGeom>
        </p:spPr>
      </p:pic>
      <p:sp>
        <p:nvSpPr>
          <p:cNvPr id="15" name="Text 10"/>
          <p:cNvSpPr txBox="1"/>
          <p:nvPr/>
        </p:nvSpPr>
        <p:spPr>
          <a:xfrm>
            <a:off x="9418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The home view</a:t>
            </a:r>
            <a:endParaRPr lang="en-US" sz="1000" dirty="0"/>
          </a:p>
        </p:txBody>
      </p:sp>
      <p:sp>
        <p:nvSpPr>
          <p:cNvPr id="16" name="Shape 11"/>
          <p:cNvSpPr/>
          <p:nvPr/>
        </p:nvSpPr>
        <p:spPr>
          <a:xfrm>
            <a:off x="2526030" y="3547872"/>
            <a:ext cx="1977390" cy="566928"/>
          </a:xfrm>
          <a:prstGeom prst="roundRect">
            <a:avLst>
              <a:gd name="adj" fmla="val 12903"/>
            </a:avLst>
          </a:prstGeom>
          <a:solidFill>
            <a:srgbClr val="FFFFFF"/>
          </a:solidFill>
          <a:ln w="9525">
            <a:solidFill>
              <a:srgbClr val="DCE1E7"/>
            </a:solidFill>
            <a:prstDash val="solid"/>
          </a:ln>
        </p:spPr>
      </p:sp>
      <p:sp>
        <p:nvSpPr>
          <p:cNvPr id="17" name="Shape 12"/>
          <p:cNvSpPr/>
          <p:nvPr/>
        </p:nvSpPr>
        <p:spPr>
          <a:xfrm>
            <a:off x="2654046" y="3675888"/>
            <a:ext cx="310896" cy="310896"/>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2728661" y="3750503"/>
            <a:ext cx="161666" cy="161666"/>
          </a:xfrm>
          <a:prstGeom prst="rect">
            <a:avLst/>
          </a:prstGeom>
        </p:spPr>
      </p:pic>
      <p:sp>
        <p:nvSpPr>
          <p:cNvPr id="19" name="Text 13"/>
          <p:cNvSpPr txBox="1"/>
          <p:nvPr/>
        </p:nvSpPr>
        <p:spPr>
          <a:xfrm>
            <a:off x="30563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Upcoming cleanings</a:t>
            </a:r>
            <a:endParaRPr lang="en-US" sz="1000" dirty="0"/>
          </a:p>
        </p:txBody>
      </p:sp>
      <p:sp>
        <p:nvSpPr>
          <p:cNvPr id="20" name="Shape 14"/>
          <p:cNvSpPr/>
          <p:nvPr/>
        </p:nvSpPr>
        <p:spPr>
          <a:xfrm>
            <a:off x="4640580" y="3547872"/>
            <a:ext cx="1977390" cy="566928"/>
          </a:xfrm>
          <a:prstGeom prst="roundRect">
            <a:avLst>
              <a:gd name="adj" fmla="val 12903"/>
            </a:avLst>
          </a:prstGeom>
          <a:solidFill>
            <a:srgbClr val="FFFFFF"/>
          </a:solidFill>
          <a:ln w="9525">
            <a:solidFill>
              <a:srgbClr val="DCE1E7"/>
            </a:solidFill>
            <a:prstDash val="solid"/>
          </a:ln>
        </p:spPr>
      </p:sp>
      <p:sp>
        <p:nvSpPr>
          <p:cNvPr id="21" name="Shape 15"/>
          <p:cNvSpPr/>
          <p:nvPr/>
        </p:nvSpPr>
        <p:spPr>
          <a:xfrm>
            <a:off x="4768596" y="3675888"/>
            <a:ext cx="310896" cy="310896"/>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4843211" y="3750503"/>
            <a:ext cx="161666" cy="161666"/>
          </a:xfrm>
          <a:prstGeom prst="rect">
            <a:avLst/>
          </a:prstGeom>
        </p:spPr>
      </p:pic>
      <p:sp>
        <p:nvSpPr>
          <p:cNvPr id="23" name="Text 16"/>
          <p:cNvSpPr txBox="1"/>
          <p:nvPr/>
        </p:nvSpPr>
        <p:spPr>
          <a:xfrm>
            <a:off x="51709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Past cleanings</a:t>
            </a:r>
            <a:endParaRPr lang="en-US" sz="1000" dirty="0"/>
          </a:p>
        </p:txBody>
      </p:sp>
      <p:sp>
        <p:nvSpPr>
          <p:cNvPr id="24" name="Shape 17"/>
          <p:cNvSpPr/>
          <p:nvPr/>
        </p:nvSpPr>
        <p:spPr>
          <a:xfrm>
            <a:off x="6755130" y="3547872"/>
            <a:ext cx="1977390" cy="566928"/>
          </a:xfrm>
          <a:prstGeom prst="roundRect">
            <a:avLst>
              <a:gd name="adj" fmla="val 12903"/>
            </a:avLst>
          </a:prstGeom>
          <a:solidFill>
            <a:srgbClr val="FFFFFF"/>
          </a:solidFill>
          <a:ln w="9525">
            <a:solidFill>
              <a:srgbClr val="DCE1E7"/>
            </a:solidFill>
            <a:prstDash val="solid"/>
          </a:ln>
        </p:spPr>
      </p:sp>
      <p:sp>
        <p:nvSpPr>
          <p:cNvPr id="25" name="Shape 18"/>
          <p:cNvSpPr/>
          <p:nvPr/>
        </p:nvSpPr>
        <p:spPr>
          <a:xfrm>
            <a:off x="6883146" y="3675888"/>
            <a:ext cx="310896" cy="310896"/>
          </a:xfrm>
          <a:prstGeom prst="ellipse">
            <a:avLst/>
          </a:prstGeom>
          <a:solidFill>
            <a:srgbClr val="E3F4F1"/>
          </a:solidFill>
          <a:ln w="12700">
            <a:solidFill>
              <a:srgbClr val="E3F4F1"/>
            </a:solidFill>
            <a:prstDash val="solid"/>
          </a:ln>
        </p:spPr>
      </p:sp>
      <p:pic>
        <p:nvPicPr>
          <p:cNvPr id="26" name="Image 4" descr="preencoded.png">    </p:cNvPr>
          <p:cNvPicPr>
            <a:picLocks noChangeAspect="1"/>
          </p:cNvPicPr>
          <p:nvPr/>
        </p:nvPicPr>
        <p:blipFill>
          <a:blip r:embed="rId5"/>
          <a:stretch>
            <a:fillRect/>
          </a:stretch>
        </p:blipFill>
        <p:spPr>
          <a:xfrm>
            <a:off x="6957761" y="3750503"/>
            <a:ext cx="161666" cy="161666"/>
          </a:xfrm>
          <a:prstGeom prst="rect">
            <a:avLst/>
          </a:prstGeom>
        </p:spPr>
      </p:pic>
      <p:sp>
        <p:nvSpPr>
          <p:cNvPr id="27" name="Text 19"/>
          <p:cNvSpPr txBox="1"/>
          <p:nvPr/>
        </p:nvSpPr>
        <p:spPr>
          <a:xfrm>
            <a:off x="72854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Account settings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Introduction to New C CRM</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Where we respond to customers today.</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New CRM is for</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you still need Legacy</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live walkthrough</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097280"/>
            <a:ext cx="2560320" cy="2560320"/>
          </a:xfrm>
          <a:prstGeom prst="ellipse">
            <a:avLst/>
          </a:prstGeom>
          <a:solidFill>
            <a:srgbClr val="FFFFFF"/>
          </a:solidFill>
          <a:ln w="12700">
            <a:solidFill>
              <a:srgbClr val="FFFFFF"/>
            </a:solidFill>
            <a:prstDash val="solid"/>
          </a:ln>
        </p:spPr>
      </p:sp>
      <p:pic>
        <p:nvPicPr>
          <p:cNvPr id="17" name="Image 3" descr="preencoded.png">    </p:cNvPr>
          <p:cNvPicPr>
            <a:picLocks noChangeAspect="1"/>
          </p:cNvPicPr>
          <p:nvPr/>
        </p:nvPicPr>
        <p:blipFill>
          <a:blip r:embed="rId4"/>
          <a:stretch>
            <a:fillRect/>
          </a:stretch>
        </p:blipFill>
        <p:spPr>
          <a:xfrm>
            <a:off x="6455664" y="1828800"/>
            <a:ext cx="1097280" cy="109728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4041648"/>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65092"/>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NEW C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CRMs, one workflow</a:t>
            </a:r>
            <a:endParaRPr lang="en-US" sz="2400" dirty="0"/>
          </a:p>
        </p:txBody>
      </p:sp>
      <p:sp>
        <p:nvSpPr>
          <p:cNvPr id="5" name="Shape 2"/>
          <p:cNvSpPr/>
          <p:nvPr/>
        </p:nvSpPr>
        <p:spPr>
          <a:xfrm>
            <a:off x="411480" y="1188720"/>
            <a:ext cx="3749040" cy="2331720"/>
          </a:xfrm>
          <a:prstGeom prst="roundRect">
            <a:avLst>
              <a:gd name="adj" fmla="val 3137"/>
            </a:avLst>
          </a:prstGeom>
          <a:solidFill>
            <a:srgbClr val="FFFFFF"/>
          </a:solidFill>
          <a:ln w="9525">
            <a:solidFill>
              <a:srgbClr val="DCE1E7"/>
            </a:solidFill>
            <a:prstDash val="solid"/>
          </a:ln>
        </p:spPr>
      </p:sp>
      <p:sp>
        <p:nvSpPr>
          <p:cNvPr id="6" name="Shape 3"/>
          <p:cNvSpPr/>
          <p:nvPr/>
        </p:nvSpPr>
        <p:spPr>
          <a:xfrm>
            <a:off x="640080" y="1417320"/>
            <a:ext cx="548640" cy="548640"/>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771754" y="1548994"/>
            <a:ext cx="285293" cy="285293"/>
          </a:xfrm>
          <a:prstGeom prst="rect">
            <a:avLst/>
          </a:prstGeom>
        </p:spPr>
      </p:pic>
      <p:sp>
        <p:nvSpPr>
          <p:cNvPr id="8" name="Text 4"/>
          <p:cNvSpPr txBox="1"/>
          <p:nvPr/>
        </p:nvSpPr>
        <p:spPr>
          <a:xfrm>
            <a:off x="640080" y="2148840"/>
            <a:ext cx="329184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NEW C CRM</a:t>
            </a:r>
            <a:endParaRPr lang="en-US" sz="800" dirty="0"/>
          </a:p>
        </p:txBody>
      </p:sp>
      <p:sp>
        <p:nvSpPr>
          <p:cNvPr id="9" name="Text 5"/>
          <p:cNvSpPr txBox="1"/>
          <p:nvPr/>
        </p:nvSpPr>
        <p:spPr>
          <a:xfrm>
            <a:off x="640080" y="2377440"/>
            <a:ext cx="3291840" cy="365760"/>
          </a:xfrm>
          <a:prstGeom prst="rect">
            <a:avLst/>
          </a:prstGeom>
          <a:noFill/>
          <a:ln/>
        </p:spPr>
        <p:txBody>
          <a:bodyPr wrap="square" lIns="0" tIns="0" rIns="0" bIns="0" rtlCol="0" anchor="t"/>
          <a:lstStyle/>
          <a:p>
            <a:pPr indent="0" marL="0">
              <a:buNone/>
            </a:pPr>
            <a:r>
              <a:rPr lang="en-US" sz="1600" b="1" dirty="0">
                <a:solidFill>
                  <a:srgbClr val="1D1D1F"/>
                </a:solidFill>
                <a:latin typeface="SF Pro Display" pitchFamily="34" charset="0"/>
                <a:ea typeface="SF Pro Display" pitchFamily="34" charset="-122"/>
                <a:cs typeface="SF Pro Display" pitchFamily="34" charset="-120"/>
              </a:rPr>
              <a:t>Respond to customers</a:t>
            </a:r>
            <a:endParaRPr lang="en-US" sz="1600" dirty="0"/>
          </a:p>
        </p:txBody>
      </p:sp>
      <p:sp>
        <p:nvSpPr>
          <p:cNvPr id="10" name="Text 6"/>
          <p:cNvSpPr txBox="1"/>
          <p:nvPr/>
        </p:nvSpPr>
        <p:spPr>
          <a:xfrm>
            <a:off x="640080" y="2788920"/>
            <a:ext cx="3291840" cy="54864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Every reply to a customer goes out from here.</a:t>
            </a:r>
            <a:endParaRPr lang="en-US" sz="1050" dirty="0"/>
          </a:p>
        </p:txBody>
      </p:sp>
      <p:pic>
        <p:nvPicPr>
          <p:cNvPr id="11" name="Image 1" descr="preencoded.png">    </p:cNvPr>
          <p:cNvPicPr>
            <a:picLocks noChangeAspect="1"/>
          </p:cNvPicPr>
          <p:nvPr/>
        </p:nvPicPr>
        <p:blipFill>
          <a:blip r:embed="rId2"/>
          <a:stretch>
            <a:fillRect/>
          </a:stretch>
        </p:blipFill>
        <p:spPr>
          <a:xfrm>
            <a:off x="4389120" y="2194560"/>
            <a:ext cx="365760" cy="365760"/>
          </a:xfrm>
          <a:prstGeom prst="rect">
            <a:avLst/>
          </a:prstGeom>
        </p:spPr>
      </p:pic>
      <p:sp>
        <p:nvSpPr>
          <p:cNvPr id="12" name="Shape 7"/>
          <p:cNvSpPr/>
          <p:nvPr/>
        </p:nvSpPr>
        <p:spPr>
          <a:xfrm>
            <a:off x="4983480" y="1188720"/>
            <a:ext cx="3749040" cy="2331720"/>
          </a:xfrm>
          <a:prstGeom prst="roundRect">
            <a:avLst>
              <a:gd name="adj" fmla="val 3137"/>
            </a:avLst>
          </a:prstGeom>
          <a:solidFill>
            <a:srgbClr val="FFFFFF"/>
          </a:solidFill>
          <a:ln w="9525">
            <a:solidFill>
              <a:srgbClr val="DCE1E7"/>
            </a:solidFill>
            <a:prstDash val="solid"/>
          </a:ln>
        </p:spPr>
      </p:sp>
      <p:sp>
        <p:nvSpPr>
          <p:cNvPr id="13" name="Shape 8"/>
          <p:cNvSpPr/>
          <p:nvPr/>
        </p:nvSpPr>
        <p:spPr>
          <a:xfrm>
            <a:off x="5212080" y="1417320"/>
            <a:ext cx="548640" cy="548640"/>
          </a:xfrm>
          <a:prstGeom prst="ellipse">
            <a:avLst/>
          </a:prstGeom>
          <a:solidFill>
            <a:srgbClr val="FFF3D6"/>
          </a:solidFill>
          <a:ln w="12700">
            <a:solidFill>
              <a:srgbClr val="FFF3D6"/>
            </a:solidFill>
            <a:prstDash val="solid"/>
          </a:ln>
        </p:spPr>
      </p:sp>
      <p:pic>
        <p:nvPicPr>
          <p:cNvPr id="14" name="Image 2" descr="preencoded.png">    </p:cNvPr>
          <p:cNvPicPr>
            <a:picLocks noChangeAspect="1"/>
          </p:cNvPicPr>
          <p:nvPr/>
        </p:nvPicPr>
        <p:blipFill>
          <a:blip r:embed="rId3"/>
          <a:stretch>
            <a:fillRect/>
          </a:stretch>
        </p:blipFill>
        <p:spPr>
          <a:xfrm>
            <a:off x="5343754" y="1548994"/>
            <a:ext cx="285293" cy="285293"/>
          </a:xfrm>
          <a:prstGeom prst="rect">
            <a:avLst/>
          </a:prstGeom>
        </p:spPr>
      </p:pic>
      <p:sp>
        <p:nvSpPr>
          <p:cNvPr id="15" name="Text 9"/>
          <p:cNvSpPr txBox="1"/>
          <p:nvPr/>
        </p:nvSpPr>
        <p:spPr>
          <a:xfrm>
            <a:off x="5212080" y="2148840"/>
            <a:ext cx="3291840" cy="182880"/>
          </a:xfrm>
          <a:prstGeom prst="rect">
            <a:avLst/>
          </a:prstGeom>
          <a:noFill/>
          <a:ln/>
        </p:spPr>
        <p:txBody>
          <a:bodyPr wrap="square" lIns="0" tIns="0" rIns="0" bIns="0" rtlCol="0" anchor="t"/>
          <a:lstStyle/>
          <a:p>
            <a:pPr indent="0" marL="0">
              <a:buNone/>
            </a:pPr>
            <a:r>
              <a:rPr lang="en-US" sz="800" b="1" spc="50" kern="0" dirty="0">
                <a:solidFill>
                  <a:srgbClr val="9A6410"/>
                </a:solidFill>
                <a:latin typeface="SF Pro Display" pitchFamily="34" charset="0"/>
                <a:ea typeface="SF Pro Display" pitchFamily="34" charset="-122"/>
                <a:cs typeface="SF Pro Display" pitchFamily="34" charset="-120"/>
              </a:rPr>
              <a:t>LEGACY C CRM</a:t>
            </a:r>
            <a:endParaRPr lang="en-US" sz="800" dirty="0"/>
          </a:p>
        </p:txBody>
      </p:sp>
      <p:sp>
        <p:nvSpPr>
          <p:cNvPr id="16" name="Text 10"/>
          <p:cNvSpPr txBox="1"/>
          <p:nvPr/>
        </p:nvSpPr>
        <p:spPr>
          <a:xfrm>
            <a:off x="5212080" y="2377440"/>
            <a:ext cx="3291840" cy="365760"/>
          </a:xfrm>
          <a:prstGeom prst="rect">
            <a:avLst/>
          </a:prstGeom>
          <a:noFill/>
          <a:ln/>
        </p:spPr>
        <p:txBody>
          <a:bodyPr wrap="square" lIns="0" tIns="0" rIns="0" bIns="0" rtlCol="0" anchor="t"/>
          <a:lstStyle/>
          <a:p>
            <a:pPr indent="0" marL="0">
              <a:buNone/>
            </a:pPr>
            <a:r>
              <a:rPr lang="en-US" sz="1600" b="1" dirty="0">
                <a:solidFill>
                  <a:srgbClr val="1D1D1F"/>
                </a:solidFill>
                <a:latin typeface="SF Pro Display" pitchFamily="34" charset="0"/>
                <a:ea typeface="SF Pro Display" pitchFamily="34" charset="-122"/>
                <a:cs typeface="SF Pro Display" pitchFamily="34" charset="-120"/>
              </a:rPr>
              <a:t>Some actions still live here</a:t>
            </a:r>
            <a:endParaRPr lang="en-US" sz="1600" dirty="0"/>
          </a:p>
        </p:txBody>
      </p:sp>
      <p:sp>
        <p:nvSpPr>
          <p:cNvPr id="17" name="Text 11"/>
          <p:cNvSpPr txBox="1"/>
          <p:nvPr/>
        </p:nvSpPr>
        <p:spPr>
          <a:xfrm>
            <a:off x="5212080" y="2788920"/>
            <a:ext cx="3291840" cy="54864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Use it for actions the New CRM can't do yet.</a:t>
            </a:r>
            <a:endParaRPr lang="en-US" sz="1050" dirty="0"/>
          </a:p>
        </p:txBody>
      </p:sp>
      <p:sp>
        <p:nvSpPr>
          <p:cNvPr id="18" name="Shape 12"/>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19"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0" name="Text 13"/>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Important:  </a:t>
            </a:r>
            <a:pPr indent="0" marL="0">
              <a:buNone/>
            </a:pPr>
            <a:r>
              <a:rPr lang="en-US" sz="1000" dirty="0">
                <a:solidFill>
                  <a:srgbClr val="1D1D1F"/>
                </a:solidFill>
                <a:latin typeface="SF Pro Text" pitchFamily="34" charset="0"/>
                <a:ea typeface="SF Pro Text" pitchFamily="34" charset="-122"/>
                <a:cs typeface="SF Pro Text" pitchFamily="34" charset="-120"/>
              </a:rPr>
              <a:t>reply in the New CRM. Switch to Legacy only for actions the New CRM can't do yet.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NEW C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Live walkthrough</a:t>
            </a:r>
            <a:endParaRPr lang="en-US" sz="2400" dirty="0"/>
          </a:p>
        </p:txBody>
      </p:sp>
      <p:sp>
        <p:nvSpPr>
          <p:cNvPr id="5" name="Shape 2"/>
          <p:cNvSpPr/>
          <p:nvPr/>
        </p:nvSpPr>
        <p:spPr>
          <a:xfrm>
            <a:off x="411480" y="1143000"/>
            <a:ext cx="8321040" cy="1920240"/>
          </a:xfrm>
          <a:prstGeom prst="roundRect">
            <a:avLst>
              <a:gd name="adj" fmla="val 3810"/>
            </a:avLst>
          </a:prstGeom>
          <a:solidFill>
            <a:srgbClr val="E3F4F1"/>
          </a:solidFill>
          <a:ln w="9525">
            <a:solidFill>
              <a:srgbClr val="E3F4F1"/>
            </a:solidFill>
            <a:prstDash val="solid"/>
          </a:ln>
        </p:spPr>
      </p:sp>
      <p:sp>
        <p:nvSpPr>
          <p:cNvPr id="6" name="Shape 3"/>
          <p:cNvSpPr/>
          <p:nvPr/>
        </p:nvSpPr>
        <p:spPr>
          <a:xfrm>
            <a:off x="731520" y="1463040"/>
            <a:ext cx="822960" cy="82296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29030" y="1660550"/>
            <a:ext cx="427939" cy="427939"/>
          </a:xfrm>
          <a:prstGeom prst="rect">
            <a:avLst/>
          </a:prstGeom>
        </p:spPr>
      </p:pic>
      <p:sp>
        <p:nvSpPr>
          <p:cNvPr id="8" name="Text 4"/>
          <p:cNvSpPr txBox="1"/>
          <p:nvPr/>
        </p:nvSpPr>
        <p:spPr>
          <a:xfrm>
            <a:off x="1828800" y="1463040"/>
            <a:ext cx="6400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TRAINER WALKTHROUGH</a:t>
            </a:r>
            <a:endParaRPr lang="en-US" sz="800" dirty="0"/>
          </a:p>
        </p:txBody>
      </p:sp>
      <p:sp>
        <p:nvSpPr>
          <p:cNvPr id="9" name="Text 5"/>
          <p:cNvSpPr txBox="1"/>
          <p:nvPr/>
        </p:nvSpPr>
        <p:spPr>
          <a:xfrm>
            <a:off x="1828800" y="1691640"/>
            <a:ext cx="6583680" cy="68580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The trainer will open the live New C CRM and walk you through the actual system.</a:t>
            </a:r>
            <a:endParaRPr lang="en-US" sz="1700" dirty="0"/>
          </a:p>
        </p:txBody>
      </p:sp>
      <p:sp>
        <p:nvSpPr>
          <p:cNvPr id="10" name="Text 6"/>
          <p:cNvSpPr txBox="1"/>
          <p:nvPr/>
        </p:nvSpPr>
        <p:spPr>
          <a:xfrm>
            <a:off x="1828800" y="2468880"/>
            <a:ext cx="6400800" cy="228600"/>
          </a:xfrm>
          <a:prstGeom prst="rect">
            <a:avLst/>
          </a:prstGeom>
          <a:noFill/>
          <a:ln/>
        </p:spPr>
        <p:txBody>
          <a:bodyPr wrap="square" lIns="0" tIns="0" rIns="0" bIns="0" rtlCol="0" anchor="t"/>
          <a:lstStyle/>
          <a:p>
            <a:pPr indent="0" marL="0">
              <a:buNone/>
            </a:pPr>
            <a:r>
              <a:rPr lang="en-US" sz="1100" dirty="0">
                <a:solidFill>
                  <a:srgbClr val="6E6E73"/>
                </a:solidFill>
                <a:latin typeface="SF Pro Text" pitchFamily="34" charset="0"/>
                <a:ea typeface="SF Pro Text" pitchFamily="34" charset="-122"/>
                <a:cs typeface="SF Pro Text" pitchFamily="34" charset="-120"/>
              </a:rPr>
              <a:t>Follow along and note your questions.</a:t>
            </a:r>
            <a:endParaRPr lang="en-US" sz="1100" dirty="0"/>
          </a:p>
        </p:txBody>
      </p:sp>
      <p:sp>
        <p:nvSpPr>
          <p:cNvPr id="11" name="Text 7"/>
          <p:cNvSpPr txBox="1"/>
          <p:nvPr/>
        </p:nvSpPr>
        <p:spPr>
          <a:xfrm>
            <a:off x="438912" y="329184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AS YOU WATCH, LOOK FOR</a:t>
            </a:r>
            <a:endParaRPr lang="en-US" sz="800" dirty="0"/>
          </a:p>
        </p:txBody>
      </p:sp>
      <p:sp>
        <p:nvSpPr>
          <p:cNvPr id="12" name="Shape 8"/>
          <p:cNvSpPr/>
          <p:nvPr/>
        </p:nvSpPr>
        <p:spPr>
          <a:xfrm>
            <a:off x="411480" y="3547872"/>
            <a:ext cx="1977390" cy="566928"/>
          </a:xfrm>
          <a:prstGeom prst="roundRect">
            <a:avLst>
              <a:gd name="adj" fmla="val 12903"/>
            </a:avLst>
          </a:prstGeom>
          <a:solidFill>
            <a:srgbClr val="FFFFFF"/>
          </a:solidFill>
          <a:ln w="9525">
            <a:solidFill>
              <a:srgbClr val="DCE1E7"/>
            </a:solidFill>
            <a:prstDash val="solid"/>
          </a:ln>
        </p:spPr>
      </p:sp>
      <p:sp>
        <p:nvSpPr>
          <p:cNvPr id="13" name="Shape 9"/>
          <p:cNvSpPr/>
          <p:nvPr/>
        </p:nvSpPr>
        <p:spPr>
          <a:xfrm>
            <a:off x="539496" y="3675888"/>
            <a:ext cx="310896" cy="310896"/>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614111" y="3750503"/>
            <a:ext cx="161666" cy="161666"/>
          </a:xfrm>
          <a:prstGeom prst="rect">
            <a:avLst/>
          </a:prstGeom>
        </p:spPr>
      </p:pic>
      <p:sp>
        <p:nvSpPr>
          <p:cNvPr id="15" name="Text 10"/>
          <p:cNvSpPr txBox="1"/>
          <p:nvPr/>
        </p:nvSpPr>
        <p:spPr>
          <a:xfrm>
            <a:off x="9418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Ticket and status</a:t>
            </a:r>
            <a:endParaRPr lang="en-US" sz="1000" dirty="0"/>
          </a:p>
        </p:txBody>
      </p:sp>
      <p:sp>
        <p:nvSpPr>
          <p:cNvPr id="16" name="Shape 11"/>
          <p:cNvSpPr/>
          <p:nvPr/>
        </p:nvSpPr>
        <p:spPr>
          <a:xfrm>
            <a:off x="2526030" y="3547872"/>
            <a:ext cx="1977390" cy="566928"/>
          </a:xfrm>
          <a:prstGeom prst="roundRect">
            <a:avLst>
              <a:gd name="adj" fmla="val 12903"/>
            </a:avLst>
          </a:prstGeom>
          <a:solidFill>
            <a:srgbClr val="FFFFFF"/>
          </a:solidFill>
          <a:ln w="9525">
            <a:solidFill>
              <a:srgbClr val="DCE1E7"/>
            </a:solidFill>
            <a:prstDash val="solid"/>
          </a:ln>
        </p:spPr>
      </p:sp>
      <p:sp>
        <p:nvSpPr>
          <p:cNvPr id="17" name="Shape 12"/>
          <p:cNvSpPr/>
          <p:nvPr/>
        </p:nvSpPr>
        <p:spPr>
          <a:xfrm>
            <a:off x="2654046" y="3675888"/>
            <a:ext cx="310896" cy="310896"/>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2728661" y="3750503"/>
            <a:ext cx="161666" cy="161666"/>
          </a:xfrm>
          <a:prstGeom prst="rect">
            <a:avLst/>
          </a:prstGeom>
        </p:spPr>
      </p:pic>
      <p:sp>
        <p:nvSpPr>
          <p:cNvPr id="19" name="Text 13"/>
          <p:cNvSpPr txBox="1"/>
          <p:nvPr/>
        </p:nvSpPr>
        <p:spPr>
          <a:xfrm>
            <a:off x="30563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Customer info</a:t>
            </a:r>
            <a:endParaRPr lang="en-US" sz="1000" dirty="0"/>
          </a:p>
        </p:txBody>
      </p:sp>
      <p:sp>
        <p:nvSpPr>
          <p:cNvPr id="20" name="Shape 14"/>
          <p:cNvSpPr/>
          <p:nvPr/>
        </p:nvSpPr>
        <p:spPr>
          <a:xfrm>
            <a:off x="4640580" y="3547872"/>
            <a:ext cx="1977390" cy="566928"/>
          </a:xfrm>
          <a:prstGeom prst="roundRect">
            <a:avLst>
              <a:gd name="adj" fmla="val 12903"/>
            </a:avLst>
          </a:prstGeom>
          <a:solidFill>
            <a:srgbClr val="FFFFFF"/>
          </a:solidFill>
          <a:ln w="9525">
            <a:solidFill>
              <a:srgbClr val="DCE1E7"/>
            </a:solidFill>
            <a:prstDash val="solid"/>
          </a:ln>
        </p:spPr>
      </p:sp>
      <p:sp>
        <p:nvSpPr>
          <p:cNvPr id="21" name="Shape 15"/>
          <p:cNvSpPr/>
          <p:nvPr/>
        </p:nvSpPr>
        <p:spPr>
          <a:xfrm>
            <a:off x="4768596" y="3675888"/>
            <a:ext cx="310896" cy="310896"/>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4843211" y="3750503"/>
            <a:ext cx="161666" cy="161666"/>
          </a:xfrm>
          <a:prstGeom prst="rect">
            <a:avLst/>
          </a:prstGeom>
        </p:spPr>
      </p:pic>
      <p:sp>
        <p:nvSpPr>
          <p:cNvPr id="23" name="Text 16"/>
          <p:cNvSpPr txBox="1"/>
          <p:nvPr/>
        </p:nvSpPr>
        <p:spPr>
          <a:xfrm>
            <a:off x="51709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Replying to customers</a:t>
            </a:r>
            <a:endParaRPr lang="en-US" sz="1000" dirty="0"/>
          </a:p>
        </p:txBody>
      </p:sp>
      <p:sp>
        <p:nvSpPr>
          <p:cNvPr id="24" name="Shape 17"/>
          <p:cNvSpPr/>
          <p:nvPr/>
        </p:nvSpPr>
        <p:spPr>
          <a:xfrm>
            <a:off x="6755130" y="3547872"/>
            <a:ext cx="1977390" cy="566928"/>
          </a:xfrm>
          <a:prstGeom prst="roundRect">
            <a:avLst>
              <a:gd name="adj" fmla="val 12903"/>
            </a:avLst>
          </a:prstGeom>
          <a:solidFill>
            <a:srgbClr val="FFFFFF"/>
          </a:solidFill>
          <a:ln w="9525">
            <a:solidFill>
              <a:srgbClr val="DCE1E7"/>
            </a:solidFill>
            <a:prstDash val="solid"/>
          </a:ln>
        </p:spPr>
      </p:sp>
      <p:sp>
        <p:nvSpPr>
          <p:cNvPr id="25" name="Shape 18"/>
          <p:cNvSpPr/>
          <p:nvPr/>
        </p:nvSpPr>
        <p:spPr>
          <a:xfrm>
            <a:off x="6883146" y="3675888"/>
            <a:ext cx="310896" cy="310896"/>
          </a:xfrm>
          <a:prstGeom prst="ellipse">
            <a:avLst/>
          </a:prstGeom>
          <a:solidFill>
            <a:srgbClr val="E3F4F1"/>
          </a:solidFill>
          <a:ln w="12700">
            <a:solidFill>
              <a:srgbClr val="E3F4F1"/>
            </a:solidFill>
            <a:prstDash val="solid"/>
          </a:ln>
        </p:spPr>
      </p:sp>
      <p:pic>
        <p:nvPicPr>
          <p:cNvPr id="26" name="Image 4" descr="preencoded.png">    </p:cNvPr>
          <p:cNvPicPr>
            <a:picLocks noChangeAspect="1"/>
          </p:cNvPicPr>
          <p:nvPr/>
        </p:nvPicPr>
        <p:blipFill>
          <a:blip r:embed="rId5"/>
          <a:stretch>
            <a:fillRect/>
          </a:stretch>
        </p:blipFill>
        <p:spPr>
          <a:xfrm>
            <a:off x="6957761" y="3750503"/>
            <a:ext cx="161666" cy="161666"/>
          </a:xfrm>
          <a:prstGeom prst="rect">
            <a:avLst/>
          </a:prstGeom>
        </p:spPr>
      </p:pic>
      <p:sp>
        <p:nvSpPr>
          <p:cNvPr id="27" name="Text 19"/>
          <p:cNvSpPr txBox="1"/>
          <p:nvPr/>
        </p:nvSpPr>
        <p:spPr>
          <a:xfrm>
            <a:off x="72854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What still needs Legacy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9A6410"/>
                </a:solidFill>
                <a:latin typeface="SF Pro Display" pitchFamily="34" charset="0"/>
                <a:ea typeface="SF Pro Display" pitchFamily="34" charset="-122"/>
                <a:cs typeface="SF Pro Display" pitchFamily="34" charset="-120"/>
              </a:rPr>
              <a:t>TOPIC 06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 CRM Activity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Put what you saw into practice.</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FBEFE4"/>
          </a:solidFill>
          <a:ln w="12700">
            <a:solidFill>
              <a:srgbClr val="FBEFE4"/>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Work in the live CRM</a:t>
            </a:r>
            <a:endParaRPr lang="en-US" sz="1050" dirty="0"/>
          </a:p>
        </p:txBody>
      </p:sp>
      <p:sp>
        <p:nvSpPr>
          <p:cNvPr id="9" name="Shape 6"/>
          <p:cNvSpPr/>
          <p:nvPr/>
        </p:nvSpPr>
        <p:spPr>
          <a:xfrm>
            <a:off x="566928" y="3538728"/>
            <a:ext cx="155448" cy="155448"/>
          </a:xfrm>
          <a:prstGeom prst="ellipse">
            <a:avLst/>
          </a:prstGeom>
          <a:solidFill>
            <a:srgbClr val="FBEFE4"/>
          </a:solidFill>
          <a:ln w="12700">
            <a:solidFill>
              <a:srgbClr val="FBEFE4"/>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Practice real scenarios</a:t>
            </a:r>
            <a:endParaRPr lang="en-US" sz="1050" dirty="0"/>
          </a:p>
        </p:txBody>
      </p:sp>
      <p:sp>
        <p:nvSpPr>
          <p:cNvPr id="12" name="Shape 8"/>
          <p:cNvSpPr/>
          <p:nvPr/>
        </p:nvSpPr>
        <p:spPr>
          <a:xfrm>
            <a:off x="566928" y="3813048"/>
            <a:ext cx="155448" cy="155448"/>
          </a:xfrm>
          <a:prstGeom prst="ellipse">
            <a:avLst/>
          </a:prstGeom>
          <a:solidFill>
            <a:srgbClr val="FBEFE4"/>
          </a:solidFill>
          <a:ln w="12700">
            <a:solidFill>
              <a:srgbClr val="FBEFE4"/>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Ask questions as you go</a:t>
            </a:r>
            <a:endParaRPr lang="en-US" sz="1050" dirty="0"/>
          </a:p>
        </p:txBody>
      </p:sp>
      <p:sp>
        <p:nvSpPr>
          <p:cNvPr id="15" name="Shape 10"/>
          <p:cNvSpPr/>
          <p:nvPr/>
        </p:nvSpPr>
        <p:spPr>
          <a:xfrm>
            <a:off x="5312664" y="621792"/>
            <a:ext cx="3383280" cy="3895344"/>
          </a:xfrm>
          <a:prstGeom prst="roundRect">
            <a:avLst>
              <a:gd name="adj" fmla="val 2162"/>
            </a:avLst>
          </a:prstGeom>
          <a:solidFill>
            <a:srgbClr val="FBEFE4"/>
          </a:solidFill>
          <a:ln w="9525">
            <a:solidFill>
              <a:srgbClr val="FBEFE4"/>
            </a:solidFill>
            <a:prstDash val="solid"/>
          </a:ln>
        </p:spPr>
      </p:sp>
      <p:sp>
        <p:nvSpPr>
          <p:cNvPr id="16" name="Shape 11"/>
          <p:cNvSpPr/>
          <p:nvPr/>
        </p:nvSpPr>
        <p:spPr>
          <a:xfrm>
            <a:off x="5724144" y="1097280"/>
            <a:ext cx="2560320" cy="2560320"/>
          </a:xfrm>
          <a:prstGeom prst="ellipse">
            <a:avLst/>
          </a:prstGeom>
          <a:solidFill>
            <a:srgbClr val="FFFFFF"/>
          </a:solidFill>
          <a:ln w="12700">
            <a:solidFill>
              <a:srgbClr val="FFFFFF"/>
            </a:solidFill>
            <a:prstDash val="solid"/>
          </a:ln>
        </p:spPr>
      </p:sp>
      <p:pic>
        <p:nvPicPr>
          <p:cNvPr id="17" name="Image 3" descr="preencoded.png">    </p:cNvPr>
          <p:cNvPicPr>
            <a:picLocks noChangeAspect="1"/>
          </p:cNvPicPr>
          <p:nvPr/>
        </p:nvPicPr>
        <p:blipFill>
          <a:blip r:embed="rId4"/>
          <a:stretch>
            <a:fillRect/>
          </a:stretch>
        </p:blipFill>
        <p:spPr>
          <a:xfrm>
            <a:off x="6455664" y="1828800"/>
            <a:ext cx="1097280" cy="109728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9A6410"/>
          </a:solidFill>
          <a:ln w="12700">
            <a:solidFill>
              <a:srgbClr val="9A6410"/>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9A6410"/>
          </a:solidFill>
          <a:ln w="12700">
            <a:solidFill>
              <a:srgbClr val="9A6410"/>
            </a:solidFill>
            <a:prstDash val="solid"/>
          </a:ln>
        </p:spPr>
      </p:sp>
      <p:sp>
        <p:nvSpPr>
          <p:cNvPr id="22" name="Shape 16"/>
          <p:cNvSpPr/>
          <p:nvPr/>
        </p:nvSpPr>
        <p:spPr>
          <a:xfrm>
            <a:off x="8193024" y="4041648"/>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65092"/>
            <a:ext cx="82296" cy="82296"/>
          </a:xfrm>
          <a:prstGeom prst="ellipse">
            <a:avLst/>
          </a:prstGeom>
          <a:solidFill>
            <a:srgbClr val="9A6410"/>
          </a:solidFill>
          <a:ln w="12700">
            <a:solidFill>
              <a:srgbClr val="9A6410"/>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CRM ACTIVITY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Activity setup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Your trainer will set the activity for this cohort.</a:t>
            </a:r>
            <a:endParaRPr lang="en-US" sz="1200" dirty="0"/>
          </a:p>
        </p:txBody>
      </p:sp>
      <p:sp>
        <p:nvSpPr>
          <p:cNvPr id="6" name="Shape 3"/>
          <p:cNvSpPr/>
          <p:nvPr/>
        </p:nvSpPr>
        <p:spPr>
          <a:xfrm>
            <a:off x="411480" y="1371600"/>
            <a:ext cx="2682240" cy="2514600"/>
          </a:xfrm>
          <a:prstGeom prst="roundRect">
            <a:avLst>
              <a:gd name="adj" fmla="val 2909"/>
            </a:avLst>
          </a:prstGeom>
          <a:solidFill>
            <a:srgbClr val="FFFFFF"/>
          </a:solidFill>
          <a:ln w="9525">
            <a:solidFill>
              <a:srgbClr val="DCE1E7"/>
            </a:solidFill>
            <a:prstDash val="solid"/>
          </a:ln>
        </p:spPr>
      </p:sp>
      <p:sp>
        <p:nvSpPr>
          <p:cNvPr id="7" name="Shape 4"/>
          <p:cNvSpPr/>
          <p:nvPr/>
        </p:nvSpPr>
        <p:spPr>
          <a:xfrm>
            <a:off x="594360" y="1554480"/>
            <a:ext cx="384048" cy="384048"/>
          </a:xfrm>
          <a:prstGeom prst="ellipse">
            <a:avLst/>
          </a:prstGeom>
          <a:solidFill>
            <a:srgbClr val="FBEFE4"/>
          </a:solidFill>
          <a:ln w="12700">
            <a:solidFill>
              <a:srgbClr val="FBEFE4"/>
            </a:solidFill>
            <a:prstDash val="solid"/>
          </a:ln>
        </p:spPr>
      </p:sp>
      <p:pic>
        <p:nvPicPr>
          <p:cNvPr id="8" name="Image 0" descr="preencoded.png">    </p:cNvPr>
          <p:cNvPicPr>
            <a:picLocks noChangeAspect="1"/>
          </p:cNvPicPr>
          <p:nvPr/>
        </p:nvPicPr>
        <p:blipFill>
          <a:blip r:embed="rId1"/>
          <a:stretch>
            <a:fillRect/>
          </a:stretch>
        </p:blipFill>
        <p:spPr>
          <a:xfrm>
            <a:off x="686532" y="1646652"/>
            <a:ext cx="199705" cy="199705"/>
          </a:xfrm>
          <a:prstGeom prst="rect">
            <a:avLst/>
          </a:prstGeom>
        </p:spPr>
      </p:pic>
      <p:sp>
        <p:nvSpPr>
          <p:cNvPr id="9" name="Text 5"/>
          <p:cNvSpPr txBox="1"/>
          <p:nvPr/>
        </p:nvSpPr>
        <p:spPr>
          <a:xfrm>
            <a:off x="594360" y="2057400"/>
            <a:ext cx="2316480" cy="274320"/>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Format</a:t>
            </a:r>
            <a:endParaRPr lang="en-US" sz="1300" dirty="0"/>
          </a:p>
        </p:txBody>
      </p:sp>
      <p:sp>
        <p:nvSpPr>
          <p:cNvPr id="10" name="Text 6"/>
          <p:cNvSpPr txBox="1"/>
          <p:nvPr/>
        </p:nvSpPr>
        <p:spPr>
          <a:xfrm>
            <a:off x="594360" y="2350008"/>
            <a:ext cx="2316480" cy="22860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Solo, pairs or groups</a:t>
            </a:r>
            <a:endParaRPr lang="en-US" sz="950" dirty="0"/>
          </a:p>
        </p:txBody>
      </p:sp>
      <p:sp>
        <p:nvSpPr>
          <p:cNvPr id="11" name="Shape 7"/>
          <p:cNvSpPr/>
          <p:nvPr/>
        </p:nvSpPr>
        <p:spPr>
          <a:xfrm>
            <a:off x="594360" y="2697480"/>
            <a:ext cx="2316480" cy="1005840"/>
          </a:xfrm>
          <a:prstGeom prst="roundRect">
            <a:avLst>
              <a:gd name="adj" fmla="val 7273"/>
            </a:avLst>
          </a:prstGeom>
          <a:solidFill>
            <a:srgbClr val="F6F7F9"/>
          </a:solidFill>
          <a:ln w="9525">
            <a:solidFill>
              <a:srgbClr val="DCE1E7"/>
            </a:solidFill>
            <a:prstDash val="solid"/>
          </a:ln>
        </p:spPr>
      </p:sp>
      <p:sp>
        <p:nvSpPr>
          <p:cNvPr id="12" name="Text 8"/>
          <p:cNvSpPr txBox="1"/>
          <p:nvPr/>
        </p:nvSpPr>
        <p:spPr>
          <a:xfrm>
            <a:off x="704088" y="2697480"/>
            <a:ext cx="2097024" cy="1005840"/>
          </a:xfrm>
          <a:prstGeom prst="rect">
            <a:avLst/>
          </a:prstGeom>
          <a:noFill/>
          <a:ln/>
        </p:spPr>
        <p:txBody>
          <a:bodyPr wrap="square" lIns="0" tIns="0" rIns="0" bIns="0" rtlCol="0" anchor="ctr"/>
          <a:lstStyle/>
          <a:p>
            <a:pPr indent="0" marL="0">
              <a:buNone/>
            </a:pPr>
            <a:r>
              <a:rPr lang="en-US" sz="950" i="1" dirty="0">
                <a:solidFill>
                  <a:srgbClr val="6E6E73"/>
                </a:solidFill>
                <a:latin typeface="SF Pro Text" pitchFamily="34" charset="0"/>
                <a:ea typeface="SF Pro Text" pitchFamily="34" charset="-122"/>
                <a:cs typeface="SF Pro Text" pitchFamily="34" charset="-120"/>
              </a:rPr>
              <a:t>Click to add</a:t>
            </a:r>
            <a:endParaRPr lang="en-US" sz="950" dirty="0"/>
          </a:p>
        </p:txBody>
      </p:sp>
      <p:sp>
        <p:nvSpPr>
          <p:cNvPr id="13" name="Shape 9"/>
          <p:cNvSpPr/>
          <p:nvPr/>
        </p:nvSpPr>
        <p:spPr>
          <a:xfrm>
            <a:off x="3230880" y="1371600"/>
            <a:ext cx="2682240" cy="2514600"/>
          </a:xfrm>
          <a:prstGeom prst="roundRect">
            <a:avLst>
              <a:gd name="adj" fmla="val 2909"/>
            </a:avLst>
          </a:prstGeom>
          <a:solidFill>
            <a:srgbClr val="FFFFFF"/>
          </a:solidFill>
          <a:ln w="9525">
            <a:solidFill>
              <a:srgbClr val="DCE1E7"/>
            </a:solidFill>
            <a:prstDash val="solid"/>
          </a:ln>
        </p:spPr>
      </p:sp>
      <p:sp>
        <p:nvSpPr>
          <p:cNvPr id="14" name="Shape 10"/>
          <p:cNvSpPr/>
          <p:nvPr/>
        </p:nvSpPr>
        <p:spPr>
          <a:xfrm>
            <a:off x="3413760" y="1554480"/>
            <a:ext cx="384048" cy="384048"/>
          </a:xfrm>
          <a:prstGeom prst="ellipse">
            <a:avLst/>
          </a:prstGeom>
          <a:solidFill>
            <a:srgbClr val="FBEFE4"/>
          </a:solidFill>
          <a:ln w="12700">
            <a:solidFill>
              <a:srgbClr val="FBEFE4"/>
            </a:solidFill>
            <a:prstDash val="solid"/>
          </a:ln>
        </p:spPr>
      </p:sp>
      <p:pic>
        <p:nvPicPr>
          <p:cNvPr id="15" name="Image 1" descr="preencoded.png">    </p:cNvPr>
          <p:cNvPicPr>
            <a:picLocks noChangeAspect="1"/>
          </p:cNvPicPr>
          <p:nvPr/>
        </p:nvPicPr>
        <p:blipFill>
          <a:blip r:embed="rId2"/>
          <a:stretch>
            <a:fillRect/>
          </a:stretch>
        </p:blipFill>
        <p:spPr>
          <a:xfrm>
            <a:off x="3505932" y="1646652"/>
            <a:ext cx="199705" cy="199705"/>
          </a:xfrm>
          <a:prstGeom prst="rect">
            <a:avLst/>
          </a:prstGeom>
        </p:spPr>
      </p:pic>
      <p:sp>
        <p:nvSpPr>
          <p:cNvPr id="16" name="Text 11"/>
          <p:cNvSpPr txBox="1"/>
          <p:nvPr/>
        </p:nvSpPr>
        <p:spPr>
          <a:xfrm>
            <a:off x="3413760" y="2057400"/>
            <a:ext cx="2316480" cy="274320"/>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Scenarios</a:t>
            </a:r>
            <a:endParaRPr lang="en-US" sz="1300" dirty="0"/>
          </a:p>
        </p:txBody>
      </p:sp>
      <p:sp>
        <p:nvSpPr>
          <p:cNvPr id="17" name="Text 12"/>
          <p:cNvSpPr txBox="1"/>
          <p:nvPr/>
        </p:nvSpPr>
        <p:spPr>
          <a:xfrm>
            <a:off x="3413760" y="2350008"/>
            <a:ext cx="2316480" cy="22860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cases to work</a:t>
            </a:r>
            <a:endParaRPr lang="en-US" sz="950" dirty="0"/>
          </a:p>
        </p:txBody>
      </p:sp>
      <p:sp>
        <p:nvSpPr>
          <p:cNvPr id="18" name="Shape 13"/>
          <p:cNvSpPr/>
          <p:nvPr/>
        </p:nvSpPr>
        <p:spPr>
          <a:xfrm>
            <a:off x="3413760" y="2697480"/>
            <a:ext cx="2316480" cy="1005840"/>
          </a:xfrm>
          <a:prstGeom prst="roundRect">
            <a:avLst>
              <a:gd name="adj" fmla="val 7273"/>
            </a:avLst>
          </a:prstGeom>
          <a:solidFill>
            <a:srgbClr val="F6F7F9"/>
          </a:solidFill>
          <a:ln w="9525">
            <a:solidFill>
              <a:srgbClr val="DCE1E7"/>
            </a:solidFill>
            <a:prstDash val="solid"/>
          </a:ln>
        </p:spPr>
      </p:sp>
      <p:sp>
        <p:nvSpPr>
          <p:cNvPr id="19" name="Text 14"/>
          <p:cNvSpPr txBox="1"/>
          <p:nvPr/>
        </p:nvSpPr>
        <p:spPr>
          <a:xfrm>
            <a:off x="3523488" y="2697480"/>
            <a:ext cx="2097024" cy="1005840"/>
          </a:xfrm>
          <a:prstGeom prst="rect">
            <a:avLst/>
          </a:prstGeom>
          <a:noFill/>
          <a:ln/>
        </p:spPr>
        <p:txBody>
          <a:bodyPr wrap="square" lIns="0" tIns="0" rIns="0" bIns="0" rtlCol="0" anchor="ctr"/>
          <a:lstStyle/>
          <a:p>
            <a:pPr indent="0" marL="0">
              <a:buNone/>
            </a:pPr>
            <a:r>
              <a:rPr lang="en-US" sz="950" i="1" dirty="0">
                <a:solidFill>
                  <a:srgbClr val="6E6E73"/>
                </a:solidFill>
                <a:latin typeface="SF Pro Text" pitchFamily="34" charset="0"/>
                <a:ea typeface="SF Pro Text" pitchFamily="34" charset="-122"/>
                <a:cs typeface="SF Pro Text" pitchFamily="34" charset="-120"/>
              </a:rPr>
              <a:t>Click to add</a:t>
            </a:r>
            <a:endParaRPr lang="en-US" sz="950" dirty="0"/>
          </a:p>
        </p:txBody>
      </p:sp>
      <p:sp>
        <p:nvSpPr>
          <p:cNvPr id="20" name="Shape 15"/>
          <p:cNvSpPr/>
          <p:nvPr/>
        </p:nvSpPr>
        <p:spPr>
          <a:xfrm>
            <a:off x="6050280" y="1371600"/>
            <a:ext cx="2682240" cy="2514600"/>
          </a:xfrm>
          <a:prstGeom prst="roundRect">
            <a:avLst>
              <a:gd name="adj" fmla="val 2909"/>
            </a:avLst>
          </a:prstGeom>
          <a:solidFill>
            <a:srgbClr val="FFFFFF"/>
          </a:solidFill>
          <a:ln w="9525">
            <a:solidFill>
              <a:srgbClr val="DCE1E7"/>
            </a:solidFill>
            <a:prstDash val="solid"/>
          </a:ln>
        </p:spPr>
      </p:sp>
      <p:sp>
        <p:nvSpPr>
          <p:cNvPr id="21" name="Shape 16"/>
          <p:cNvSpPr/>
          <p:nvPr/>
        </p:nvSpPr>
        <p:spPr>
          <a:xfrm>
            <a:off x="6233160" y="1554480"/>
            <a:ext cx="384048" cy="384048"/>
          </a:xfrm>
          <a:prstGeom prst="ellipse">
            <a:avLst/>
          </a:prstGeom>
          <a:solidFill>
            <a:srgbClr val="FBEFE4"/>
          </a:solidFill>
          <a:ln w="12700">
            <a:solidFill>
              <a:srgbClr val="FBEFE4"/>
            </a:solidFill>
            <a:prstDash val="solid"/>
          </a:ln>
        </p:spPr>
      </p:sp>
      <p:pic>
        <p:nvPicPr>
          <p:cNvPr id="22" name="Image 2" descr="preencoded.png">    </p:cNvPr>
          <p:cNvPicPr>
            <a:picLocks noChangeAspect="1"/>
          </p:cNvPicPr>
          <p:nvPr/>
        </p:nvPicPr>
        <p:blipFill>
          <a:blip r:embed="rId3"/>
          <a:stretch>
            <a:fillRect/>
          </a:stretch>
        </p:blipFill>
        <p:spPr>
          <a:xfrm>
            <a:off x="6325332" y="1646652"/>
            <a:ext cx="199705" cy="199705"/>
          </a:xfrm>
          <a:prstGeom prst="rect">
            <a:avLst/>
          </a:prstGeom>
        </p:spPr>
      </p:pic>
      <p:sp>
        <p:nvSpPr>
          <p:cNvPr id="23" name="Text 17"/>
          <p:cNvSpPr txBox="1"/>
          <p:nvPr/>
        </p:nvSpPr>
        <p:spPr>
          <a:xfrm>
            <a:off x="6233160" y="2057400"/>
            <a:ext cx="2316480" cy="274320"/>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Difficulty</a:t>
            </a:r>
            <a:endParaRPr lang="en-US" sz="1300" dirty="0"/>
          </a:p>
        </p:txBody>
      </p:sp>
      <p:sp>
        <p:nvSpPr>
          <p:cNvPr id="24" name="Text 18"/>
          <p:cNvSpPr txBox="1"/>
          <p:nvPr/>
        </p:nvSpPr>
        <p:spPr>
          <a:xfrm>
            <a:off x="6233160" y="2350008"/>
            <a:ext cx="2316480" cy="22860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Based on readiness</a:t>
            </a:r>
            <a:endParaRPr lang="en-US" sz="950" dirty="0"/>
          </a:p>
        </p:txBody>
      </p:sp>
      <p:sp>
        <p:nvSpPr>
          <p:cNvPr id="25" name="Shape 19"/>
          <p:cNvSpPr/>
          <p:nvPr/>
        </p:nvSpPr>
        <p:spPr>
          <a:xfrm>
            <a:off x="6233160" y="2697480"/>
            <a:ext cx="2316480" cy="1005840"/>
          </a:xfrm>
          <a:prstGeom prst="roundRect">
            <a:avLst>
              <a:gd name="adj" fmla="val 7273"/>
            </a:avLst>
          </a:prstGeom>
          <a:solidFill>
            <a:srgbClr val="F6F7F9"/>
          </a:solidFill>
          <a:ln w="9525">
            <a:solidFill>
              <a:srgbClr val="DCE1E7"/>
            </a:solidFill>
            <a:prstDash val="solid"/>
          </a:ln>
        </p:spPr>
      </p:sp>
      <p:sp>
        <p:nvSpPr>
          <p:cNvPr id="26" name="Text 20"/>
          <p:cNvSpPr txBox="1"/>
          <p:nvPr/>
        </p:nvSpPr>
        <p:spPr>
          <a:xfrm>
            <a:off x="6342888" y="2697480"/>
            <a:ext cx="2097024" cy="1005840"/>
          </a:xfrm>
          <a:prstGeom prst="rect">
            <a:avLst/>
          </a:prstGeom>
          <a:noFill/>
          <a:ln/>
        </p:spPr>
        <p:txBody>
          <a:bodyPr wrap="square" lIns="0" tIns="0" rIns="0" bIns="0" rtlCol="0" anchor="ctr"/>
          <a:lstStyle/>
          <a:p>
            <a:pPr indent="0" marL="0">
              <a:buNone/>
            </a:pPr>
            <a:r>
              <a:rPr lang="en-US" sz="950" i="1" dirty="0">
                <a:solidFill>
                  <a:srgbClr val="6E6E73"/>
                </a:solidFill>
                <a:latin typeface="SF Pro Text" pitchFamily="34" charset="0"/>
                <a:ea typeface="SF Pro Text" pitchFamily="34" charset="-122"/>
                <a:cs typeface="SF Pro Text" pitchFamily="34" charset="-120"/>
              </a:rPr>
              <a:t>Click to add</a:t>
            </a:r>
            <a:endParaRPr lang="en-US" sz="950" dirty="0"/>
          </a:p>
        </p:txBody>
      </p:sp>
      <p:sp>
        <p:nvSpPr>
          <p:cNvPr id="27" name="Shape 21"/>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28" name="Image 3" descr="preencoded.png">    </p:cNvPr>
          <p:cNvPicPr>
            <a:picLocks noChangeAspect="1"/>
          </p:cNvPicPr>
          <p:nvPr/>
        </p:nvPicPr>
        <p:blipFill>
          <a:blip r:embed="rId4"/>
          <a:stretch>
            <a:fillRect/>
          </a:stretch>
        </p:blipFill>
        <p:spPr>
          <a:xfrm>
            <a:off x="566928" y="4178808"/>
            <a:ext cx="164592" cy="164592"/>
          </a:xfrm>
          <a:prstGeom prst="rect">
            <a:avLst/>
          </a:prstGeom>
        </p:spPr>
      </p:pic>
      <p:sp>
        <p:nvSpPr>
          <p:cNvPr id="29" name="Text 22"/>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Trainer note:  </a:t>
            </a:r>
            <a:pPr indent="0" marL="0">
              <a:buNone/>
            </a:pPr>
            <a:r>
              <a:rPr lang="en-US" sz="1000" dirty="0">
                <a:solidFill>
                  <a:srgbClr val="1D1D1F"/>
                </a:solidFill>
                <a:latin typeface="SF Pro Text" pitchFamily="34" charset="0"/>
                <a:ea typeface="SF Pro Text" pitchFamily="34" charset="-122"/>
                <a:cs typeface="SF Pro Text" pitchFamily="34" charset="-120"/>
              </a:rPr>
              <a:t>trainer decides the format, scenarios and difficulty based on trainee readiness.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Questions?</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097280"/>
            <a:ext cx="2560320" cy="256032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6455664" y="1828800"/>
            <a:ext cx="1097280" cy="1097280"/>
          </a:xfrm>
          <a:prstGeom prst="rect">
            <a:avLst/>
          </a:prstGeom>
        </p:spPr>
      </p:pic>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 CRM &amp; Customer Foundations</dc:title>
  <dc:subject>PptxGenJS Presentation</dc:subject>
  <dc:creator>PptxGenJS</dc:creator>
  <cp:lastModifiedBy>PptxGenJS</cp:lastModifiedBy>
  <cp:revision>1</cp:revision>
  <dcterms:created xsi:type="dcterms:W3CDTF">2026-10-01T13:37:54Z</dcterms:created>
  <dcterms:modified xsi:type="dcterms:W3CDTF">2026-10-01T13:37:54Z</dcterms:modified>
</cp:coreProperties>
</file>