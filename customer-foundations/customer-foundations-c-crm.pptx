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trainees. This module covers six topics: Zero Tolerance Policy, the Customer Journey, the Legacy C CRM, the C Dashboard, the New C CRM, and a hands-on CRM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Point out that topics 3 to 5 are live demos: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ZTP is different from the rest of the Knowledge Library. Most articles are about judgment; this one is about hard lines that create legal, security, compliance or trust risk. Spend time here: every rule on the next slides says exactly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KB articles teach judgment and best practice. ZTP is the handful of things that, done wrong, are not just a bad customer experience: they create legal, security or compliance exposure for Homeaglow. Knowing it protects the agent's QA score and standing, and keeps every interaction safe and trustworthy. Rule of thumb: if you are ever unsure whether an action crosses a line, stop and ask a Team Lead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list from the KB, by level. L3: Security violation; Capturing or sharing work screens (no QA score). L2: Not removing a C or CP's card info sent to CS; Ticket avoidance; Incorrect handling of OCC-ARL accounts; Non-compliance with legal wording changes; Sending internal notes as email/SMS; Disclosing internal information; Improper usage of AI tools; Not unsubscribing customers who opt out; Mishandling Washington State cancellations. L1: Rude/argumentative comms; Not following the bug reporting process; Editing Django inappropriately; Handling a Thumbtack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conditions: 3 ZTPs of any level means termination. An L1 followed by an L2 means a 1-week suspension. Previously suspended for an L1 and then commits an L2 means termination. Multiple ZTPs of different levels in the same week: the penalty follows the higher level. L1 clearing period is 6 months. For Incorrect Handling of OCC accounts, the QA score is set at a minimum of -$25, not stacked on the LTV computation; if the standard markdown is higher, that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violations: sending an auto-login link to the wrong person, sharing login credentials, mishandling documents with personal data (payment info, IDs, tax forms). A wrong auto-login link can expose private details and create legal/privacy risk. Card info: required for PCI compliance. If you receive card info, notify a Team Lead to remove it from the CRM and direct the customer to the CC update page on their dashboard. Internal notes are for risk assessments, offers/action plans and internal follow-ups. Internal info never to discuss: CP DTC flags, CP Swap details, CP Tiering levels, known fraud/safety flags, features not yet released on NCW.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Legal Wording Compliance (Level 2, auto-fail). CPs are Independent Contractors. Referring to Homeaglow itself is fine: "your Homeaglow cleaning" and "your cleaning on Homeaglow" are both OK. Ask trainees to rewrite a few sentences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Anything on a work screen can include names, addresses, payment details, internal notes, flags, other tabs or pop-up notifications. Once a capture exists outside our systems we cannot delete it, track it or undo it. "I blurred it" or "nothing was on screen" does not count: the risk is the capture itself. Level 3: subject to termination on the first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OCC-ARL: some states have Auto-Renewal Laws requiring immediate cancellation on request, with no extra steps or delays. Failing to cancel an FC when required is the ZTP; if the correct call was not to cancel but a retention offer was given anyway, that is a markdown, not a ZTP. Unsubscribe: if a customer says they don't want to be contacted, or replies STOP/UNSUBSCRIBE to an email. Washington State: WA customers are exempt from both MCT and the ETF; this is a standing legal exemption, not a case-by-case waiver. Tone: condescending ("You didn't understand...", "As I've already said...") and passive-aggressive ("As I've told you before...", "You should already know this.") replies. Do: educate, personalize, focus on resolution. Don't: argue, use generic statements, over-empathize.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Ticket avoidance: deliberately skipping a ticket that needs a response or action. Clearing a ticket where the customer just says "thanks", "got it" or similar is NOT avoidance. Bug reporting: file a report when an issue can't be fixed by a dashboard/CRM update, or when something might be a bug or product idea. Bug Validation Form and Confirmed Bugs Tracker are linked in the KB. Django bypasses system codes, so one wrong edit can create bugs or data issues. CS-editable: duplicate account placeholders, a CP's SSN, invalidating flags (except Holdpay), reassigning/adjusting voucher duration, editing a DHJ voucher's MF/MCT (if no FC table yet), marking a CP review hidden (approved cases only), editing/restricting Requested CPs (if unavailable on OCW), manually adding CPs to recreated jobs. Thumbtack: transferring without reaching an Aftersales agent is still compliant: the transfer is the compliance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ticket sits somewhere on this journey. Knowing where an issue sits lets you anticipate needs and pick the right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 full shape lets you anticipate what a customer needs before they fully explain it, catch friction before it becomes a complaint, and know where an issue sits. A booking problem needs a very different response from a post-cleaning service issue, even when the tone sounds the same. This page is the map; playbooks like PCQ, Overcharged Hours and Retention are what you use once you know where you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find us through our website (homeaglow.com) or a sister brand (Dazzling Cleaning, Cozy Maid, Bubbly Cleaning, Dapper Maids); search engines, the most common source; TV commercials; friends and family referrals; and social media (Facebook, YouTube, TikTok,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DHJ: the customer buys a discounted voucher from &lt;brand&gt;.com/deal. First Cleaning Free (FCF): signs up for a membership directly, pays $19 upfront (more for a longer first cleaning), membership starts immediately. From August 3, 2026 all new sign-ups are FCF only, so DHJ is a closed, shrinking group. Non-member: third-party merchant vouchers (Groupon, Living Social, Gilt City) never converted; Homeaglow Gift Cards (never trigger FC); one-time cleanings sold by Inside Sales (paid upfront, full price); trial cleanings sold by Inside Sales (regular price, 30 days to cancel the membership without obligation). Non-members are billed differently and have nothing to "cancel"; the question is usually just whether a specific charge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customers with a voucher or membership are prompted to opt into a recurring schedule and add alternate start times; both increase the odds of a successful match. Customers without one are not required to. Managing: through their dashboard, up to 6 hours before the start time, a customer can reschedule, cancel, or match with a different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issues after the cleaning: Poor Cleaning Quality (didn't meet expectations), False Invoice (charged when no cleaning happened), Overcharged Hours (charged for more time than the CP worked), Theft/Damage (missing or damaged item). Each has its own playbook under Service Issues; this page only shows where they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currently have two CRM systems. We start with the Legacy C CRM because many actions still live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CRM is the central hub for managing customer and cleaner accounts, jobs and payments. It is also where we communicate with users, manage tickets, see our daily targets, and access the information that helps us handle users' concerns. We currently have two CRM systems; we introduce the Legacy CRM first. The screenshot is only a preview; the trainer will walk through the live system next. Customer details in the screenshot are blurred on purpose (see ZTP: work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 CRM now. Do not demo from the slides. Suggested flow: open a customer account, show account details and flags, job history and charges, the message/ticket thread, and where daily targets show.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Dashboard is the customer-facing side. Seeing it helps agents guide customers and understand what they already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dashboard is where customers manage their account and bookings: book a cleaning, see upcoming and past cleanings and alerts (e.g. a cancelled cleaning), and, up to 6 hours before start, reschedule, cancel or match with a different cleaner. Knowing what they see lets agents point customers to self-serve steps and understand what they have already tried. Customer name and cleaner photos in the screenshot are blurred.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 Dashboard now. Suggested flow: home view and alerts, booking a cleaning, managing an upcoming cleaning (reschedule, cancel, match), past cleanings,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 CRM is where agents respond to customers. Some actions are still only available in the Legacy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 CRM is where we respond to customers. The screenshot is a preview of a ticket: ticket header, customer information, related jobs, and the message thread with the reply box. Customer details are blurred. The trainer walks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we respond to customers through the New CRM. At this time, there are still some actions that can only be done in the Legacy CRM, so agents use both. The trainer will point out which actions still require Legacy during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New C CRM now. Suggested flow: ticket header (status, assignee, category, SLA), customer information panel, related jobs, the message thread and internal notes, composing a reply with macros. Call out which actions still require the Legacy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decides the activity format, scenarios, and level of difficulty based on trainee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Trainer decides the activity format, scenarios, and level of difficulty based on trainee readiness. Fill in the three boxes on this slide before the session (or live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ZTP hard lines, the five-step customer journey, and the three systems: Legacy C CRM, C Dashboard and New C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2.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2.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Customer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The rules we never bend, the path every customer takes, and the tools we use to help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Topics 3 to 6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2743200"/>
                <a:gridCol w="493776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You will learn</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Zero Tolerance Policy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non-negotiables, and exactly how to avoid them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Journey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five steps every customer moves through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Legacy C CRM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Our central hub, and a live walkthrough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 Dashboard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What the customer sees and manages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New C CRM</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Where we respond to customers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 CRM Activity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Hands-on practice, set by your trainer</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Zero Tolerance Policy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non-negotiables: behaviors that are never acceptable with customers or cleaners.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ZTP is and why it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Violations by level</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other conditions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Exactly what to do to avoid each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judgment calls. Hard lines.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Violations carry consequences regardless of intent.</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Legal</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Wording, auto-renewal and state laws we must follow.</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Security</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Personal data, logins and payment details stay protected.</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Trust</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and cleaners can rely on how we treat them.</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Stop and ask a Team Lead before you act. Asking is always better than a violation.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Violations at a glance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violation is an auto-fail on QA, except capturing or sharing work screens.</a:t>
            </a:r>
            <a:endParaRPr lang="en-US" sz="1200" dirty="0"/>
          </a:p>
        </p:txBody>
      </p:sp>
      <p:sp>
        <p:nvSpPr>
          <p:cNvPr id="6" name="Shape 3"/>
          <p:cNvSpPr/>
          <p:nvPr/>
        </p:nvSpPr>
        <p:spPr>
          <a:xfrm>
            <a:off x="411480" y="1371600"/>
            <a:ext cx="2682240" cy="3017520"/>
          </a:xfrm>
          <a:prstGeom prst="roundRect">
            <a:avLst>
              <a:gd name="adj" fmla="val 2727"/>
            </a:avLst>
          </a:prstGeom>
          <a:solidFill>
            <a:srgbClr val="FFFFFF"/>
          </a:solidFill>
          <a:ln w="9525">
            <a:solidFill>
              <a:srgbClr val="DCE1E7"/>
            </a:solidFill>
            <a:prstDash val="solid"/>
          </a:ln>
        </p:spPr>
      </p:sp>
      <p:sp>
        <p:nvSpPr>
          <p:cNvPr id="7" name="Shape 4"/>
          <p:cNvSpPr/>
          <p:nvPr/>
        </p:nvSpPr>
        <p:spPr>
          <a:xfrm>
            <a:off x="548640" y="1517904"/>
            <a:ext cx="566928" cy="219456"/>
          </a:xfrm>
          <a:prstGeom prst="roundRect">
            <a:avLst>
              <a:gd name="adj" fmla="val 33333"/>
            </a:avLst>
          </a:prstGeom>
          <a:solidFill>
            <a:srgbClr val="0B7A6F"/>
          </a:solidFill>
          <a:ln w="9525">
            <a:solidFill>
              <a:srgbClr val="0B7A6F"/>
            </a:solidFill>
            <a:prstDash val="solid"/>
          </a:ln>
        </p:spPr>
      </p:sp>
      <p:sp>
        <p:nvSpPr>
          <p:cNvPr id="8" name="Text 5"/>
          <p:cNvSpPr txBox="1"/>
          <p:nvPr/>
        </p:nvSpPr>
        <p:spPr>
          <a:xfrm>
            <a:off x="548640" y="1517904"/>
            <a:ext cx="566928"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Level 3</a:t>
            </a:r>
            <a:endParaRPr lang="en-US" sz="800" dirty="0"/>
          </a:p>
        </p:txBody>
      </p:sp>
      <p:sp>
        <p:nvSpPr>
          <p:cNvPr id="9" name="Text 6"/>
          <p:cNvSpPr txBox="1"/>
          <p:nvPr/>
        </p:nvSpPr>
        <p:spPr>
          <a:xfrm>
            <a:off x="1188720" y="1517904"/>
            <a:ext cx="1767840" cy="219456"/>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Most severe</a:t>
            </a:r>
            <a:endParaRPr lang="en-US" sz="900" dirty="0"/>
          </a:p>
        </p:txBody>
      </p:sp>
      <p:sp>
        <p:nvSpPr>
          <p:cNvPr id="10" name="Text 7"/>
          <p:cNvSpPr txBox="1"/>
          <p:nvPr/>
        </p:nvSpPr>
        <p:spPr>
          <a:xfrm>
            <a:off x="548640" y="1901952"/>
            <a:ext cx="2407920" cy="23774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Security violation</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Capturing or sharing work screens</a:t>
            </a:r>
            <a:endParaRPr lang="en-US" sz="1050" dirty="0"/>
          </a:p>
        </p:txBody>
      </p:sp>
      <p:sp>
        <p:nvSpPr>
          <p:cNvPr id="11" name="Shape 8"/>
          <p:cNvSpPr/>
          <p:nvPr/>
        </p:nvSpPr>
        <p:spPr>
          <a:xfrm>
            <a:off x="3230880" y="1371600"/>
            <a:ext cx="2682240" cy="3017520"/>
          </a:xfrm>
          <a:prstGeom prst="roundRect">
            <a:avLst>
              <a:gd name="adj" fmla="val 2727"/>
            </a:avLst>
          </a:prstGeom>
          <a:solidFill>
            <a:srgbClr val="FFFFFF"/>
          </a:solidFill>
          <a:ln w="9525">
            <a:solidFill>
              <a:srgbClr val="DCE1E7"/>
            </a:solidFill>
            <a:prstDash val="solid"/>
          </a:ln>
        </p:spPr>
      </p:sp>
      <p:sp>
        <p:nvSpPr>
          <p:cNvPr id="12" name="Shape 9"/>
          <p:cNvSpPr/>
          <p:nvPr/>
        </p:nvSpPr>
        <p:spPr>
          <a:xfrm>
            <a:off x="3368040" y="1517904"/>
            <a:ext cx="566928" cy="219456"/>
          </a:xfrm>
          <a:prstGeom prst="roundRect">
            <a:avLst>
              <a:gd name="adj" fmla="val 33333"/>
            </a:avLst>
          </a:prstGeom>
          <a:solidFill>
            <a:srgbClr val="E3F4F1"/>
          </a:solidFill>
          <a:ln w="9525">
            <a:solidFill>
              <a:srgbClr val="E3F4F1"/>
            </a:solidFill>
            <a:prstDash val="solid"/>
          </a:ln>
        </p:spPr>
      </p:sp>
      <p:sp>
        <p:nvSpPr>
          <p:cNvPr id="13" name="Text 10"/>
          <p:cNvSpPr txBox="1"/>
          <p:nvPr/>
        </p:nvSpPr>
        <p:spPr>
          <a:xfrm>
            <a:off x="3368040" y="151790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4" name="Text 11"/>
          <p:cNvSpPr txBox="1"/>
          <p:nvPr/>
        </p:nvSpPr>
        <p:spPr>
          <a:xfrm>
            <a:off x="4008120" y="1517904"/>
            <a:ext cx="1767840" cy="219456"/>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Serious</a:t>
            </a:r>
            <a:endParaRPr lang="en-US" sz="900" dirty="0"/>
          </a:p>
        </p:txBody>
      </p:sp>
      <p:sp>
        <p:nvSpPr>
          <p:cNvPr id="15" name="Text 12"/>
          <p:cNvSpPr txBox="1"/>
          <p:nvPr/>
        </p:nvSpPr>
        <p:spPr>
          <a:xfrm>
            <a:off x="3368040" y="1901952"/>
            <a:ext cx="2407920" cy="237744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Card info not removed</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Ticket avoidance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OCC / ARL accounts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Legal wording</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Internal notes sent out</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Disclosing internal info</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Improper AI tool use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Not unsubscribing</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WA cancellations</a:t>
            </a:r>
            <a:endParaRPr lang="en-US" sz="950" dirty="0"/>
          </a:p>
        </p:txBody>
      </p:sp>
      <p:sp>
        <p:nvSpPr>
          <p:cNvPr id="16" name="Shape 13"/>
          <p:cNvSpPr/>
          <p:nvPr/>
        </p:nvSpPr>
        <p:spPr>
          <a:xfrm>
            <a:off x="6050280" y="1371600"/>
            <a:ext cx="2682240" cy="3017520"/>
          </a:xfrm>
          <a:prstGeom prst="roundRect">
            <a:avLst>
              <a:gd name="adj" fmla="val 2727"/>
            </a:avLst>
          </a:prstGeom>
          <a:solidFill>
            <a:srgbClr val="FFFFFF"/>
          </a:solidFill>
          <a:ln w="9525">
            <a:solidFill>
              <a:srgbClr val="DCE1E7"/>
            </a:solidFill>
            <a:prstDash val="solid"/>
          </a:ln>
        </p:spPr>
      </p:sp>
      <p:sp>
        <p:nvSpPr>
          <p:cNvPr id="17" name="Shape 14"/>
          <p:cNvSpPr/>
          <p:nvPr/>
        </p:nvSpPr>
        <p:spPr>
          <a:xfrm>
            <a:off x="6187440" y="1517904"/>
            <a:ext cx="566928" cy="219456"/>
          </a:xfrm>
          <a:prstGeom prst="roundRect">
            <a:avLst>
              <a:gd name="adj" fmla="val 33333"/>
            </a:avLst>
          </a:prstGeom>
          <a:solidFill>
            <a:srgbClr val="FFFFFF"/>
          </a:solidFill>
          <a:ln w="9525">
            <a:solidFill>
              <a:srgbClr val="0B7A6F"/>
            </a:solidFill>
            <a:prstDash val="solid"/>
          </a:ln>
        </p:spPr>
      </p:sp>
      <p:sp>
        <p:nvSpPr>
          <p:cNvPr id="18" name="Text 15"/>
          <p:cNvSpPr txBox="1"/>
          <p:nvPr/>
        </p:nvSpPr>
        <p:spPr>
          <a:xfrm>
            <a:off x="6187440" y="151790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19" name="Text 16"/>
          <p:cNvSpPr txBox="1"/>
          <p:nvPr/>
        </p:nvSpPr>
        <p:spPr>
          <a:xfrm>
            <a:off x="6827520" y="1517904"/>
            <a:ext cx="1767840" cy="219456"/>
          </a:xfrm>
          <a:prstGeom prst="rect">
            <a:avLst/>
          </a:prstGeom>
          <a:noFill/>
          <a:ln/>
        </p:spPr>
        <p:txBody>
          <a:bodyPr wrap="square" lIns="0" tIns="0" rIns="0" bIns="0" rtlCol="0" anchor="ctr"/>
          <a:lstStyle/>
          <a:p>
            <a:pPr indent="0" marL="0">
              <a:buNone/>
            </a:pPr>
            <a:r>
              <a:rPr lang="en-US" sz="900" dirty="0">
                <a:solidFill>
                  <a:srgbClr val="6E6E73"/>
                </a:solidFill>
                <a:latin typeface="SF Pro Text" pitchFamily="34" charset="0"/>
                <a:ea typeface="SF Pro Text" pitchFamily="34" charset="-122"/>
                <a:cs typeface="SF Pro Text" pitchFamily="34" charset="-120"/>
              </a:rPr>
              <a:t>Still a ZTP</a:t>
            </a:r>
            <a:endParaRPr lang="en-US" sz="900" dirty="0"/>
          </a:p>
        </p:txBody>
      </p:sp>
      <p:sp>
        <p:nvSpPr>
          <p:cNvPr id="20" name="Text 17"/>
          <p:cNvSpPr txBox="1"/>
          <p:nvPr/>
        </p:nvSpPr>
        <p:spPr>
          <a:xfrm>
            <a:off x="6187440" y="1901952"/>
            <a:ext cx="2407920" cy="23774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Rude / argumentative comms</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Bug reporting process</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Editing Django</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Thumbtack accounts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ZERO TOLERANCE POLICY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Penalties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Penalties grow with the level and with each repeat.</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1463040"/>
                <a:gridCol w="2286000"/>
                <a:gridCol w="2286000"/>
                <a:gridCol w="2286000"/>
              </a:tblGrid>
              <a:tr h="502920">
                <a:tc>
                  <a:txBody>
                    <a:bodyPr/>
                    <a:lstStyle/>
                    <a:p>
                      <a:pPr algn="ctr" indent="0" marL="0">
                        <a:buNone/>
                      </a:pP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1</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2</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Level 3</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1st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Final warning (NTE)</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Suspension, up to 5 days</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D1D1F"/>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2nd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dirty="0">
                          <a:solidFill>
                            <a:srgbClr val="1D1D1F"/>
                          </a:solidFill>
                          <a:latin typeface="SF Pro Text" pitchFamily="34" charset="0"/>
                          <a:ea typeface="SF Pro Text" pitchFamily="34" charset="-122"/>
                          <a:cs typeface="SF Pro Text" pitchFamily="34" charset="-120"/>
                        </a:rPr>
                        <a:t>Suspension, up to 3 days</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D1D1F"/>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algn="ctr" indent="0" marL="0">
                        <a:buNone/>
                      </a:pPr>
                      <a:r>
                        <a:rPr lang="en-US" sz="1050" b="1" dirty="0">
                          <a:solidFill>
                            <a:srgbClr val="0B7A6F"/>
                          </a:solidFill>
                          <a:latin typeface="SF Pro Display" pitchFamily="34" charset="0"/>
                          <a:ea typeface="SF Pro Display" pitchFamily="34" charset="-122"/>
                          <a:cs typeface="SF Pro Display" pitchFamily="34" charset="-120"/>
                        </a:rPr>
                        <a:t>3rd instance</a:t>
                      </a:r>
                      <a:endParaRPr lang="en-US" sz="1050" dirty="0">
                        <a:latin typeface="SF Pro Display" charset="0"/>
                        <a:ea typeface="SF Pro Display" charset="0"/>
                        <a:cs typeface="SF Pro Display"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algn="ctr" indent="0" marL="0">
                        <a:buNone/>
                      </a:pPr>
                      <a:r>
                        <a:rPr lang="en-US" sz="1050" b="1" dirty="0">
                          <a:solidFill>
                            <a:srgbClr val="1D1D1F"/>
                          </a:solidFill>
                          <a:latin typeface="SF Pro Text" pitchFamily="34" charset="0"/>
                          <a:ea typeface="SF Pro Text" pitchFamily="34" charset="-122"/>
                          <a:cs typeface="SF Pro Text" pitchFamily="34" charset="-120"/>
                        </a:rPr>
                        <a:t>Subject to termination</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E6E73"/>
                          </a:solidFill>
                          <a:latin typeface="SF Pro Text" pitchFamily="34" charset="0"/>
                          <a:ea typeface="SF Pro Text" pitchFamily="34" charset="-122"/>
                          <a:cs typeface="SF Pro Text" pitchFamily="34" charset="-120"/>
                        </a:rPr>
                        <a:t>—</a:t>
                      </a:r>
                      <a:endParaRPr lang="en-US" sz="1050" dirty="0">
                        <a:latin typeface="SF Pro Text" charset="0"/>
                        <a:ea typeface="SF Pro Text" charset="0"/>
                        <a:cs typeface="SF Pro Text" charset="0"/>
                      </a:endParaRPr>
                    </a:p>
                  </a:txBody>
                  <a:tcPr marL="91440" marR="91440" marT="45720" marB="4572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721608"/>
            <a:ext cx="164592" cy="164592"/>
          </a:xfrm>
          <a:prstGeom prst="rect">
            <a:avLst/>
          </a:prstGeom>
        </p:spPr>
      </p:pic>
      <p:sp>
        <p:nvSpPr>
          <p:cNvPr id="9" name="Text 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3 ZTPs of any level means termination. L1s clear after 6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Protect sensitive information</a:t>
            </a:r>
            <a:endParaRPr lang="en-US" sz="2400" dirty="0"/>
          </a:p>
        </p:txBody>
      </p:sp>
      <p:sp>
        <p:nvSpPr>
          <p:cNvPr id="5" name="Shape 2"/>
          <p:cNvSpPr/>
          <p:nvPr/>
        </p:nvSpPr>
        <p:spPr>
          <a:xfrm>
            <a:off x="411480" y="1188720"/>
            <a:ext cx="4091940" cy="1536192"/>
          </a:xfrm>
          <a:prstGeom prst="roundRect">
            <a:avLst>
              <a:gd name="adj" fmla="val 4762"/>
            </a:avLst>
          </a:prstGeom>
          <a:solidFill>
            <a:srgbClr val="FFFFFF"/>
          </a:solidFill>
          <a:ln w="9525">
            <a:solidFill>
              <a:srgbClr val="DCE1E7"/>
            </a:solidFill>
            <a:prstDash val="solid"/>
          </a:ln>
        </p:spPr>
      </p:sp>
      <p:sp>
        <p:nvSpPr>
          <p:cNvPr id="6" name="Shape 3"/>
          <p:cNvSpPr/>
          <p:nvPr/>
        </p:nvSpPr>
        <p:spPr>
          <a:xfrm>
            <a:off x="557784" y="1325880"/>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36788" y="1404884"/>
            <a:ext cx="171176" cy="171176"/>
          </a:xfrm>
          <a:prstGeom prst="rect">
            <a:avLst/>
          </a:prstGeom>
        </p:spPr>
      </p:pic>
      <p:sp>
        <p:nvSpPr>
          <p:cNvPr id="8" name="Text 4"/>
          <p:cNvSpPr txBox="1"/>
          <p:nvPr/>
        </p:nvSpPr>
        <p:spPr>
          <a:xfrm>
            <a:off x="9784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Security violation</a:t>
            </a:r>
            <a:endParaRPr lang="en-US" sz="1150" dirty="0"/>
          </a:p>
        </p:txBody>
      </p:sp>
      <p:sp>
        <p:nvSpPr>
          <p:cNvPr id="9" name="Shape 5"/>
          <p:cNvSpPr/>
          <p:nvPr/>
        </p:nvSpPr>
        <p:spPr>
          <a:xfrm>
            <a:off x="3790188" y="1380744"/>
            <a:ext cx="566928" cy="219456"/>
          </a:xfrm>
          <a:prstGeom prst="roundRect">
            <a:avLst>
              <a:gd name="adj" fmla="val 33333"/>
            </a:avLst>
          </a:prstGeom>
          <a:solidFill>
            <a:srgbClr val="0B7A6F"/>
          </a:solidFill>
          <a:ln w="9525">
            <a:solidFill>
              <a:srgbClr val="0B7A6F"/>
            </a:solidFill>
            <a:prstDash val="solid"/>
          </a:ln>
        </p:spPr>
      </p:sp>
      <p:sp>
        <p:nvSpPr>
          <p:cNvPr id="10" name="Text 6"/>
          <p:cNvSpPr txBox="1"/>
          <p:nvPr/>
        </p:nvSpPr>
        <p:spPr>
          <a:xfrm>
            <a:off x="3790188" y="1380744"/>
            <a:ext cx="566928"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Level 3</a:t>
            </a:r>
            <a:endParaRPr lang="en-US" sz="800" dirty="0"/>
          </a:p>
        </p:txBody>
      </p:sp>
      <p:sp>
        <p:nvSpPr>
          <p:cNvPr id="11" name="Text 7"/>
          <p:cNvSpPr txBox="1"/>
          <p:nvPr/>
        </p:nvSpPr>
        <p:spPr>
          <a:xfrm>
            <a:off x="5760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Double-check the recipient before sending any auto-login link or secure info.</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share login credentials.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Keep documents with personal data (payment info, IDs, tax forms) inside our systems.</a:t>
            </a:r>
            <a:endParaRPr lang="en-US" sz="900" dirty="0"/>
          </a:p>
        </p:txBody>
      </p:sp>
      <p:sp>
        <p:nvSpPr>
          <p:cNvPr id="12" name="Shape 8"/>
          <p:cNvSpPr/>
          <p:nvPr/>
        </p:nvSpPr>
        <p:spPr>
          <a:xfrm>
            <a:off x="4640580" y="1188720"/>
            <a:ext cx="4091940" cy="1536192"/>
          </a:xfrm>
          <a:prstGeom prst="roundRect">
            <a:avLst>
              <a:gd name="adj" fmla="val 4762"/>
            </a:avLst>
          </a:prstGeom>
          <a:solidFill>
            <a:srgbClr val="FFFFFF"/>
          </a:solidFill>
          <a:ln w="9525">
            <a:solidFill>
              <a:srgbClr val="DCE1E7"/>
            </a:solidFill>
            <a:prstDash val="solid"/>
          </a:ln>
        </p:spPr>
      </p:sp>
      <p:sp>
        <p:nvSpPr>
          <p:cNvPr id="13" name="Shape 9"/>
          <p:cNvSpPr/>
          <p:nvPr/>
        </p:nvSpPr>
        <p:spPr>
          <a:xfrm>
            <a:off x="4786884" y="1325880"/>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865888" y="1404884"/>
            <a:ext cx="171176" cy="171176"/>
          </a:xfrm>
          <a:prstGeom prst="rect">
            <a:avLst/>
          </a:prstGeom>
        </p:spPr>
      </p:pic>
      <p:sp>
        <p:nvSpPr>
          <p:cNvPr id="15" name="Text 10"/>
          <p:cNvSpPr txBox="1"/>
          <p:nvPr/>
        </p:nvSpPr>
        <p:spPr>
          <a:xfrm>
            <a:off x="52075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Card details sent to CS</a:t>
            </a:r>
            <a:endParaRPr lang="en-US" sz="1150" dirty="0"/>
          </a:p>
        </p:txBody>
      </p:sp>
      <p:sp>
        <p:nvSpPr>
          <p:cNvPr id="16" name="Shape 11"/>
          <p:cNvSpPr/>
          <p:nvPr/>
        </p:nvSpPr>
        <p:spPr>
          <a:xfrm>
            <a:off x="8019288" y="1380744"/>
            <a:ext cx="566928" cy="219456"/>
          </a:xfrm>
          <a:prstGeom prst="roundRect">
            <a:avLst>
              <a:gd name="adj" fmla="val 33333"/>
            </a:avLst>
          </a:prstGeom>
          <a:solidFill>
            <a:srgbClr val="E3F4F1"/>
          </a:solidFill>
          <a:ln w="9525">
            <a:solidFill>
              <a:srgbClr val="E3F4F1"/>
            </a:solidFill>
            <a:prstDash val="solid"/>
          </a:ln>
        </p:spPr>
      </p:sp>
      <p:sp>
        <p:nvSpPr>
          <p:cNvPr id="17" name="Text 12"/>
          <p:cNvSpPr txBox="1"/>
          <p:nvPr/>
        </p:nvSpPr>
        <p:spPr>
          <a:xfrm>
            <a:off x="80192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8" name="Text 13"/>
          <p:cNvSpPr txBox="1"/>
          <p:nvPr/>
        </p:nvSpPr>
        <p:spPr>
          <a:xfrm>
            <a:off x="48051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Notify a Team Lead right away so the card info is removed from the CRM.</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Direct the customer to the CC update page on their dashboard.</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ask for card info or card photos, and never put card details in internal notes.</a:t>
            </a:r>
            <a:endParaRPr lang="en-US" sz="900" dirty="0"/>
          </a:p>
        </p:txBody>
      </p:sp>
      <p:sp>
        <p:nvSpPr>
          <p:cNvPr id="19" name="Shape 14"/>
          <p:cNvSpPr/>
          <p:nvPr/>
        </p:nvSpPr>
        <p:spPr>
          <a:xfrm>
            <a:off x="411480" y="2862072"/>
            <a:ext cx="4091940" cy="1536192"/>
          </a:xfrm>
          <a:prstGeom prst="roundRect">
            <a:avLst>
              <a:gd name="adj" fmla="val 4762"/>
            </a:avLst>
          </a:prstGeom>
          <a:solidFill>
            <a:srgbClr val="FFFFFF"/>
          </a:solidFill>
          <a:ln w="9525">
            <a:solidFill>
              <a:srgbClr val="DCE1E7"/>
            </a:solidFill>
            <a:prstDash val="solid"/>
          </a:ln>
        </p:spPr>
      </p:sp>
      <p:sp>
        <p:nvSpPr>
          <p:cNvPr id="20" name="Shape 15"/>
          <p:cNvSpPr/>
          <p:nvPr/>
        </p:nvSpPr>
        <p:spPr>
          <a:xfrm>
            <a:off x="557784" y="2999232"/>
            <a:ext cx="329184" cy="329184"/>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636788" y="3078236"/>
            <a:ext cx="171176" cy="171176"/>
          </a:xfrm>
          <a:prstGeom prst="rect">
            <a:avLst/>
          </a:prstGeom>
        </p:spPr>
      </p:pic>
      <p:sp>
        <p:nvSpPr>
          <p:cNvPr id="22" name="Text 16"/>
          <p:cNvSpPr txBox="1"/>
          <p:nvPr/>
        </p:nvSpPr>
        <p:spPr>
          <a:xfrm>
            <a:off x="9784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Internal notes sent out</a:t>
            </a:r>
            <a:endParaRPr lang="en-US" sz="1150" dirty="0"/>
          </a:p>
        </p:txBody>
      </p:sp>
      <p:sp>
        <p:nvSpPr>
          <p:cNvPr id="23" name="Shape 17"/>
          <p:cNvSpPr/>
          <p:nvPr/>
        </p:nvSpPr>
        <p:spPr>
          <a:xfrm>
            <a:off x="3790188" y="3054096"/>
            <a:ext cx="566928" cy="219456"/>
          </a:xfrm>
          <a:prstGeom prst="roundRect">
            <a:avLst>
              <a:gd name="adj" fmla="val 33333"/>
            </a:avLst>
          </a:prstGeom>
          <a:solidFill>
            <a:srgbClr val="E3F4F1"/>
          </a:solidFill>
          <a:ln w="9525">
            <a:solidFill>
              <a:srgbClr val="E3F4F1"/>
            </a:solidFill>
            <a:prstDash val="solid"/>
          </a:ln>
        </p:spPr>
      </p:sp>
      <p:sp>
        <p:nvSpPr>
          <p:cNvPr id="24" name="Text 18"/>
          <p:cNvSpPr txBox="1"/>
          <p:nvPr/>
        </p:nvSpPr>
        <p:spPr>
          <a:xfrm>
            <a:off x="37901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25" name="Text 19"/>
          <p:cNvSpPr txBox="1"/>
          <p:nvPr/>
        </p:nvSpPr>
        <p:spPr>
          <a:xfrm>
            <a:off x="5760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Use internal notes only for risk assessments, offers/action plans and internal follow-ups.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Check the channel before you send: an internal note never goes out as an email or SMS.</a:t>
            </a:r>
            <a:endParaRPr lang="en-US" sz="900" dirty="0"/>
          </a:p>
        </p:txBody>
      </p:sp>
      <p:sp>
        <p:nvSpPr>
          <p:cNvPr id="26" name="Shape 20"/>
          <p:cNvSpPr/>
          <p:nvPr/>
        </p:nvSpPr>
        <p:spPr>
          <a:xfrm>
            <a:off x="4640580" y="2862072"/>
            <a:ext cx="4091940" cy="1536192"/>
          </a:xfrm>
          <a:prstGeom prst="roundRect">
            <a:avLst>
              <a:gd name="adj" fmla="val 4762"/>
            </a:avLst>
          </a:prstGeom>
          <a:solidFill>
            <a:srgbClr val="FFFFFF"/>
          </a:solidFill>
          <a:ln w="9525">
            <a:solidFill>
              <a:srgbClr val="DCE1E7"/>
            </a:solidFill>
            <a:prstDash val="solid"/>
          </a:ln>
        </p:spPr>
      </p:sp>
      <p:sp>
        <p:nvSpPr>
          <p:cNvPr id="27" name="Shape 21"/>
          <p:cNvSpPr/>
          <p:nvPr/>
        </p:nvSpPr>
        <p:spPr>
          <a:xfrm>
            <a:off x="4786884" y="2999232"/>
            <a:ext cx="329184" cy="329184"/>
          </a:xfrm>
          <a:prstGeom prst="ellipse">
            <a:avLst/>
          </a:prstGeom>
          <a:solidFill>
            <a:srgbClr val="E3F4F1"/>
          </a:solidFill>
          <a:ln w="12700">
            <a:solidFill>
              <a:srgbClr val="E3F4F1"/>
            </a:solidFill>
            <a:prstDash val="solid"/>
          </a:ln>
        </p:spPr>
      </p:sp>
      <p:pic>
        <p:nvPicPr>
          <p:cNvPr id="28" name="Image 3" descr="preencoded.png">    </p:cNvPr>
          <p:cNvPicPr>
            <a:picLocks noChangeAspect="1"/>
          </p:cNvPicPr>
          <p:nvPr/>
        </p:nvPicPr>
        <p:blipFill>
          <a:blip r:embed="rId4"/>
          <a:stretch>
            <a:fillRect/>
          </a:stretch>
        </p:blipFill>
        <p:spPr>
          <a:xfrm>
            <a:off x="4865888" y="3078236"/>
            <a:ext cx="171176" cy="171176"/>
          </a:xfrm>
          <a:prstGeom prst="rect">
            <a:avLst/>
          </a:prstGeom>
        </p:spPr>
      </p:pic>
      <p:sp>
        <p:nvSpPr>
          <p:cNvPr id="29" name="Text 22"/>
          <p:cNvSpPr txBox="1"/>
          <p:nvPr/>
        </p:nvSpPr>
        <p:spPr>
          <a:xfrm>
            <a:off x="52075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Disclosing internal info</a:t>
            </a:r>
            <a:endParaRPr lang="en-US" sz="1150" dirty="0"/>
          </a:p>
        </p:txBody>
      </p:sp>
      <p:sp>
        <p:nvSpPr>
          <p:cNvPr id="30" name="Shape 23"/>
          <p:cNvSpPr/>
          <p:nvPr/>
        </p:nvSpPr>
        <p:spPr>
          <a:xfrm>
            <a:off x="8019288" y="3054096"/>
            <a:ext cx="566928" cy="219456"/>
          </a:xfrm>
          <a:prstGeom prst="roundRect">
            <a:avLst>
              <a:gd name="adj" fmla="val 33333"/>
            </a:avLst>
          </a:prstGeom>
          <a:solidFill>
            <a:srgbClr val="E3F4F1"/>
          </a:solidFill>
          <a:ln w="9525">
            <a:solidFill>
              <a:srgbClr val="E3F4F1"/>
            </a:solidFill>
            <a:prstDash val="solid"/>
          </a:ln>
        </p:spPr>
      </p:sp>
      <p:sp>
        <p:nvSpPr>
          <p:cNvPr id="31" name="Text 24"/>
          <p:cNvSpPr txBox="1"/>
          <p:nvPr/>
        </p:nvSpPr>
        <p:spPr>
          <a:xfrm>
            <a:off x="80192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32" name="Text 25"/>
          <p:cNvSpPr txBox="1"/>
          <p:nvPr/>
        </p:nvSpPr>
        <p:spPr>
          <a:xfrm>
            <a:off x="48051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discuss CP DTC flags, CP Swap details, CP Tiering levels, fraud/safety flags or unreleased NCW features.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Test: not in the Help Center or public comms? It's internal.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  ·  LEVEL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Say it the legal way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Cleaners are independent contractors, not Homeaglow employees. Always word it that way.</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8321040" cy="914400"/>
        </p:xfrm>
        <a:graphic>
          <a:graphicData uri="http://schemas.openxmlformats.org/drawingml/2006/table">
            <a:tbl>
              <a:tblPr/>
              <a:tblGrid>
                <a:gridCol w="4160520"/>
                <a:gridCol w="4160520"/>
              </a:tblGrid>
              <a:tr h="384048">
                <a:tc>
                  <a:txBody>
                    <a:bodyP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Do say</a:t>
                      </a:r>
                      <a:endParaRPr lang="en-US" sz="1050" dirty="0">
                        <a:latin typeface="SF Pro Display" charset="0"/>
                        <a:ea typeface="SF Pro Display" charset="0"/>
                        <a:cs typeface="SF Pro Display"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0B7A6F"/>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Don't say</a:t>
                      </a:r>
                      <a:endParaRPr lang="en-US" sz="1050" dirty="0">
                        <a:latin typeface="SF Pro Display" charset="0"/>
                        <a:ea typeface="SF Pro Display" charset="0"/>
                        <a:cs typeface="SF Pro Display"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on Homeaglow</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Your Homeaglow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Find a cleaner on Homeaglow</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Find a Homeaglow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 Your cleaner Alice</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Our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will see you at &lt;address&gt;</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will see you at &lt;address&gt;</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cleaner was unable to</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were unable to</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Your requested cleaner is still reviewing</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We are still waiting for your requested cleaner</a:t>
                      </a:r>
                      <a:endParaRPr lang="en-US" sz="1050" dirty="0">
                        <a:latin typeface="SF Pro Text" charset="0"/>
                        <a:ea typeface="SF Pro Text" charset="0"/>
                        <a:cs typeface="SF Pro Text" charset="0"/>
                      </a:endParaRPr>
                    </a:p>
                  </a:txBody>
                  <a:tcPr marL="146304" marR="146304"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SECURITY &amp; COMPLIANCE  ·  LEVEL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 screens stay on work screens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 exceptions, even if the screen looks blurred, covered or empty.</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photograph it</a:t>
            </a:r>
            <a:endParaRPr lang="en-US" sz="1200" dirty="0"/>
          </a:p>
        </p:txBody>
      </p:sp>
      <p:sp>
        <p:nvSpPr>
          <p:cNvPr id="10" name="Text 6"/>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photos or videos of a work screen, with a phone or any other device.</a:t>
            </a:r>
            <a:endParaRPr lang="en-US" sz="950" dirty="0"/>
          </a:p>
        </p:txBody>
      </p:sp>
      <p:sp>
        <p:nvSpPr>
          <p:cNvPr id="11" name="Shape 7"/>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706636"/>
            <a:ext cx="171176" cy="171176"/>
          </a:xfrm>
          <a:prstGeom prst="rect">
            <a:avLst/>
          </a:prstGeom>
        </p:spPr>
      </p:pic>
      <p:sp>
        <p:nvSpPr>
          <p:cNvPr id="14" name="Text 9"/>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capture it</a:t>
            </a:r>
            <a:endParaRPr lang="en-US" sz="1200" dirty="0"/>
          </a:p>
        </p:txBody>
      </p:sp>
      <p:sp>
        <p:nvSpPr>
          <p:cNvPr id="15" name="Text 10"/>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screenshots or screen recordings of a work screen.</a:t>
            </a:r>
            <a:endParaRPr lang="en-US" sz="950" dirty="0"/>
          </a:p>
        </p:txBody>
      </p:sp>
      <p:sp>
        <p:nvSpPr>
          <p:cNvPr id="16" name="Shape 11"/>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706636"/>
            <a:ext cx="171176" cy="171176"/>
          </a:xfrm>
          <a:prstGeom prst="rect">
            <a:avLst/>
          </a:prstGeom>
        </p:spPr>
      </p:pic>
      <p:sp>
        <p:nvSpPr>
          <p:cNvPr id="19" name="Text 13"/>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share it</a:t>
            </a:r>
            <a:endParaRPr lang="en-US" sz="1200" dirty="0"/>
          </a:p>
        </p:txBody>
      </p:sp>
      <p:sp>
        <p:nvSpPr>
          <p:cNvPr id="20" name="Text 14"/>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Nowhere: not personal chats, social media or coworker group chats.</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once a capture leaves our systems, we can't delete it, track it or undo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CUSTOMER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Handle these customers by the rules</a:t>
            </a:r>
            <a:endParaRPr lang="en-US" sz="2400" dirty="0"/>
          </a:p>
        </p:txBody>
      </p:sp>
      <p:sp>
        <p:nvSpPr>
          <p:cNvPr id="5" name="Shape 2"/>
          <p:cNvSpPr/>
          <p:nvPr/>
        </p:nvSpPr>
        <p:spPr>
          <a:xfrm>
            <a:off x="411480" y="1188720"/>
            <a:ext cx="4091940" cy="1536192"/>
          </a:xfrm>
          <a:prstGeom prst="roundRect">
            <a:avLst>
              <a:gd name="adj" fmla="val 4762"/>
            </a:avLst>
          </a:prstGeom>
          <a:solidFill>
            <a:srgbClr val="FFFFFF"/>
          </a:solidFill>
          <a:ln w="9525">
            <a:solidFill>
              <a:srgbClr val="DCE1E7"/>
            </a:solidFill>
            <a:prstDash val="solid"/>
          </a:ln>
        </p:spPr>
      </p:sp>
      <p:sp>
        <p:nvSpPr>
          <p:cNvPr id="6" name="Shape 3"/>
          <p:cNvSpPr/>
          <p:nvPr/>
        </p:nvSpPr>
        <p:spPr>
          <a:xfrm>
            <a:off x="557784" y="1325880"/>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36788" y="1404884"/>
            <a:ext cx="171176" cy="171176"/>
          </a:xfrm>
          <a:prstGeom prst="rect">
            <a:avLst/>
          </a:prstGeom>
        </p:spPr>
      </p:pic>
      <p:sp>
        <p:nvSpPr>
          <p:cNvPr id="8" name="Text 4"/>
          <p:cNvSpPr txBox="1"/>
          <p:nvPr/>
        </p:nvSpPr>
        <p:spPr>
          <a:xfrm>
            <a:off x="9784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OCC / ARL accounts</a:t>
            </a:r>
            <a:endParaRPr lang="en-US" sz="1150" dirty="0"/>
          </a:p>
        </p:txBody>
      </p:sp>
      <p:sp>
        <p:nvSpPr>
          <p:cNvPr id="9" name="Shape 5"/>
          <p:cNvSpPr/>
          <p:nvPr/>
        </p:nvSpPr>
        <p:spPr>
          <a:xfrm>
            <a:off x="3790188" y="1380744"/>
            <a:ext cx="566928" cy="219456"/>
          </a:xfrm>
          <a:prstGeom prst="roundRect">
            <a:avLst>
              <a:gd name="adj" fmla="val 33333"/>
            </a:avLst>
          </a:prstGeom>
          <a:solidFill>
            <a:srgbClr val="E3F4F1"/>
          </a:solidFill>
          <a:ln w="9525">
            <a:solidFill>
              <a:srgbClr val="E3F4F1"/>
            </a:solidFill>
            <a:prstDash val="solid"/>
          </a:ln>
        </p:spPr>
      </p:sp>
      <p:sp>
        <p:nvSpPr>
          <p:cNvPr id="10" name="Text 6"/>
          <p:cNvSpPr txBox="1"/>
          <p:nvPr/>
        </p:nvSpPr>
        <p:spPr>
          <a:xfrm>
            <a:off x="37901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1" name="Text 7"/>
          <p:cNvSpPr txBox="1"/>
          <p:nvPr/>
        </p:nvSpPr>
        <p:spPr>
          <a:xfrm>
            <a:off x="5760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In Auto-Renewal Law states, cancel the FC immediately when asked: no extra steps, no delays.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Unsure? Check the OCC Non-Retention Process or ask a Team Lead before replying.</a:t>
            </a:r>
            <a:endParaRPr lang="en-US" sz="900" dirty="0"/>
          </a:p>
        </p:txBody>
      </p:sp>
      <p:sp>
        <p:nvSpPr>
          <p:cNvPr id="12" name="Shape 8"/>
          <p:cNvSpPr/>
          <p:nvPr/>
        </p:nvSpPr>
        <p:spPr>
          <a:xfrm>
            <a:off x="4640580" y="1188720"/>
            <a:ext cx="4091940" cy="1536192"/>
          </a:xfrm>
          <a:prstGeom prst="roundRect">
            <a:avLst>
              <a:gd name="adj" fmla="val 4762"/>
            </a:avLst>
          </a:prstGeom>
          <a:solidFill>
            <a:srgbClr val="FFFFFF"/>
          </a:solidFill>
          <a:ln w="9525">
            <a:solidFill>
              <a:srgbClr val="DCE1E7"/>
            </a:solidFill>
            <a:prstDash val="solid"/>
          </a:ln>
        </p:spPr>
      </p:sp>
      <p:sp>
        <p:nvSpPr>
          <p:cNvPr id="13" name="Shape 9"/>
          <p:cNvSpPr/>
          <p:nvPr/>
        </p:nvSpPr>
        <p:spPr>
          <a:xfrm>
            <a:off x="4786884" y="1325880"/>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865888" y="1404884"/>
            <a:ext cx="171176" cy="171176"/>
          </a:xfrm>
          <a:prstGeom prst="rect">
            <a:avLst/>
          </a:prstGeom>
        </p:spPr>
      </p:pic>
      <p:sp>
        <p:nvSpPr>
          <p:cNvPr id="15" name="Text 10"/>
          <p:cNvSpPr txBox="1"/>
          <p:nvPr/>
        </p:nvSpPr>
        <p:spPr>
          <a:xfrm>
            <a:off x="52075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Unsubscribe requests</a:t>
            </a:r>
            <a:endParaRPr lang="en-US" sz="1150" dirty="0"/>
          </a:p>
        </p:txBody>
      </p:sp>
      <p:sp>
        <p:nvSpPr>
          <p:cNvPr id="16" name="Shape 11"/>
          <p:cNvSpPr/>
          <p:nvPr/>
        </p:nvSpPr>
        <p:spPr>
          <a:xfrm>
            <a:off x="8019288" y="1380744"/>
            <a:ext cx="566928" cy="219456"/>
          </a:xfrm>
          <a:prstGeom prst="roundRect">
            <a:avLst>
              <a:gd name="adj" fmla="val 33333"/>
            </a:avLst>
          </a:prstGeom>
          <a:solidFill>
            <a:srgbClr val="E3F4F1"/>
          </a:solidFill>
          <a:ln w="9525">
            <a:solidFill>
              <a:srgbClr val="E3F4F1"/>
            </a:solidFill>
            <a:prstDash val="solid"/>
          </a:ln>
        </p:spPr>
      </p:sp>
      <p:sp>
        <p:nvSpPr>
          <p:cNvPr id="17" name="Text 12"/>
          <p:cNvSpPr txBox="1"/>
          <p:nvPr/>
        </p:nvSpPr>
        <p:spPr>
          <a:xfrm>
            <a:off x="80192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8" name="Text 13"/>
          <p:cNvSpPr txBox="1"/>
          <p:nvPr/>
        </p:nvSpPr>
        <p:spPr>
          <a:xfrm>
            <a:off x="48051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Customer says "don't contact me" or replies STOP / UNSUBSCRIBE: unsubscribe them.</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Confirm the unsubscribe to them, then handle any other pending items as usual.</a:t>
            </a:r>
            <a:endParaRPr lang="en-US" sz="900" dirty="0"/>
          </a:p>
        </p:txBody>
      </p:sp>
      <p:sp>
        <p:nvSpPr>
          <p:cNvPr id="19" name="Shape 14"/>
          <p:cNvSpPr/>
          <p:nvPr/>
        </p:nvSpPr>
        <p:spPr>
          <a:xfrm>
            <a:off x="411480" y="2862072"/>
            <a:ext cx="4091940" cy="1536192"/>
          </a:xfrm>
          <a:prstGeom prst="roundRect">
            <a:avLst>
              <a:gd name="adj" fmla="val 4762"/>
            </a:avLst>
          </a:prstGeom>
          <a:solidFill>
            <a:srgbClr val="FFFFFF"/>
          </a:solidFill>
          <a:ln w="9525">
            <a:solidFill>
              <a:srgbClr val="DCE1E7"/>
            </a:solidFill>
            <a:prstDash val="solid"/>
          </a:ln>
        </p:spPr>
      </p:sp>
      <p:sp>
        <p:nvSpPr>
          <p:cNvPr id="20" name="Shape 15"/>
          <p:cNvSpPr/>
          <p:nvPr/>
        </p:nvSpPr>
        <p:spPr>
          <a:xfrm>
            <a:off x="557784" y="2999232"/>
            <a:ext cx="329184" cy="329184"/>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636788" y="3078236"/>
            <a:ext cx="171176" cy="171176"/>
          </a:xfrm>
          <a:prstGeom prst="rect">
            <a:avLst/>
          </a:prstGeom>
        </p:spPr>
      </p:pic>
      <p:sp>
        <p:nvSpPr>
          <p:cNvPr id="22" name="Text 16"/>
          <p:cNvSpPr txBox="1"/>
          <p:nvPr/>
        </p:nvSpPr>
        <p:spPr>
          <a:xfrm>
            <a:off x="9784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Washington State cancellations</a:t>
            </a:r>
            <a:endParaRPr lang="en-US" sz="1150" dirty="0"/>
          </a:p>
        </p:txBody>
      </p:sp>
      <p:sp>
        <p:nvSpPr>
          <p:cNvPr id="23" name="Shape 17"/>
          <p:cNvSpPr/>
          <p:nvPr/>
        </p:nvSpPr>
        <p:spPr>
          <a:xfrm>
            <a:off x="3790188" y="3054096"/>
            <a:ext cx="566928" cy="219456"/>
          </a:xfrm>
          <a:prstGeom prst="roundRect">
            <a:avLst>
              <a:gd name="adj" fmla="val 33333"/>
            </a:avLst>
          </a:prstGeom>
          <a:solidFill>
            <a:srgbClr val="E3F4F1"/>
          </a:solidFill>
          <a:ln w="9525">
            <a:solidFill>
              <a:srgbClr val="E3F4F1"/>
            </a:solidFill>
            <a:prstDash val="solid"/>
          </a:ln>
        </p:spPr>
      </p:sp>
      <p:sp>
        <p:nvSpPr>
          <p:cNvPr id="24" name="Text 18"/>
          <p:cNvSpPr txBox="1"/>
          <p:nvPr/>
        </p:nvSpPr>
        <p:spPr>
          <a:xfrm>
            <a:off x="37901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25" name="Text 19"/>
          <p:cNvSpPr txBox="1"/>
          <p:nvPr/>
        </p:nvSpPr>
        <p:spPr>
          <a:xfrm>
            <a:off x="5760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Process the cancellation immediately.</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No ETF, never cite MCT, and no retention offers before cancelling.</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present ETF or MCT terms as if they apply.</a:t>
            </a:r>
            <a:endParaRPr lang="en-US" sz="900" dirty="0"/>
          </a:p>
        </p:txBody>
      </p:sp>
      <p:sp>
        <p:nvSpPr>
          <p:cNvPr id="26" name="Shape 20"/>
          <p:cNvSpPr/>
          <p:nvPr/>
        </p:nvSpPr>
        <p:spPr>
          <a:xfrm>
            <a:off x="4640580" y="2862072"/>
            <a:ext cx="4091940" cy="1536192"/>
          </a:xfrm>
          <a:prstGeom prst="roundRect">
            <a:avLst>
              <a:gd name="adj" fmla="val 4762"/>
            </a:avLst>
          </a:prstGeom>
          <a:solidFill>
            <a:srgbClr val="FFFFFF"/>
          </a:solidFill>
          <a:ln w="9525">
            <a:solidFill>
              <a:srgbClr val="DCE1E7"/>
            </a:solidFill>
            <a:prstDash val="solid"/>
          </a:ln>
        </p:spPr>
      </p:sp>
      <p:sp>
        <p:nvSpPr>
          <p:cNvPr id="27" name="Shape 21"/>
          <p:cNvSpPr/>
          <p:nvPr/>
        </p:nvSpPr>
        <p:spPr>
          <a:xfrm>
            <a:off x="4786884" y="2999232"/>
            <a:ext cx="329184" cy="329184"/>
          </a:xfrm>
          <a:prstGeom prst="ellipse">
            <a:avLst/>
          </a:prstGeom>
          <a:solidFill>
            <a:srgbClr val="E3F4F1"/>
          </a:solidFill>
          <a:ln w="12700">
            <a:solidFill>
              <a:srgbClr val="E3F4F1"/>
            </a:solidFill>
            <a:prstDash val="solid"/>
          </a:ln>
        </p:spPr>
      </p:sp>
      <p:pic>
        <p:nvPicPr>
          <p:cNvPr id="28" name="Image 3" descr="preencoded.png">    </p:cNvPr>
          <p:cNvPicPr>
            <a:picLocks noChangeAspect="1"/>
          </p:cNvPicPr>
          <p:nvPr/>
        </p:nvPicPr>
        <p:blipFill>
          <a:blip r:embed="rId4"/>
          <a:stretch>
            <a:fillRect/>
          </a:stretch>
        </p:blipFill>
        <p:spPr>
          <a:xfrm>
            <a:off x="4865888" y="3078236"/>
            <a:ext cx="171176" cy="171176"/>
          </a:xfrm>
          <a:prstGeom prst="rect">
            <a:avLst/>
          </a:prstGeom>
        </p:spPr>
      </p:pic>
      <p:sp>
        <p:nvSpPr>
          <p:cNvPr id="29" name="Text 22"/>
          <p:cNvSpPr txBox="1"/>
          <p:nvPr/>
        </p:nvSpPr>
        <p:spPr>
          <a:xfrm>
            <a:off x="52075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Rude / argumentative comms</a:t>
            </a:r>
            <a:endParaRPr lang="en-US" sz="1150" dirty="0"/>
          </a:p>
        </p:txBody>
      </p:sp>
      <p:sp>
        <p:nvSpPr>
          <p:cNvPr id="30" name="Shape 23"/>
          <p:cNvSpPr/>
          <p:nvPr/>
        </p:nvSpPr>
        <p:spPr>
          <a:xfrm>
            <a:off x="8019288" y="3054096"/>
            <a:ext cx="566928" cy="219456"/>
          </a:xfrm>
          <a:prstGeom prst="roundRect">
            <a:avLst>
              <a:gd name="adj" fmla="val 33333"/>
            </a:avLst>
          </a:prstGeom>
          <a:solidFill>
            <a:srgbClr val="FFFFFF"/>
          </a:solidFill>
          <a:ln w="9525">
            <a:solidFill>
              <a:srgbClr val="0B7A6F"/>
            </a:solidFill>
            <a:prstDash val="solid"/>
          </a:ln>
        </p:spPr>
      </p:sp>
      <p:sp>
        <p:nvSpPr>
          <p:cNvPr id="31" name="Text 24"/>
          <p:cNvSpPr txBox="1"/>
          <p:nvPr/>
        </p:nvSpPr>
        <p:spPr>
          <a:xfrm>
            <a:off x="80192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32" name="Text 25"/>
          <p:cNvSpPr txBox="1"/>
          <p:nvPr/>
        </p:nvSpPr>
        <p:spPr>
          <a:xfrm>
            <a:off x="48051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No condescending ("You didn't understand...") or passive-aggressive ("As I've told you before...") replies.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Educate, personalize and focus on resolution. Never argue.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OPERATIONAL COMPLIANCE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Follow the process, every time</a:t>
            </a:r>
            <a:endParaRPr lang="en-US" sz="2400" dirty="0"/>
          </a:p>
        </p:txBody>
      </p:sp>
      <p:sp>
        <p:nvSpPr>
          <p:cNvPr id="5" name="Shape 2"/>
          <p:cNvSpPr/>
          <p:nvPr/>
        </p:nvSpPr>
        <p:spPr>
          <a:xfrm>
            <a:off x="411480" y="1188720"/>
            <a:ext cx="4091940" cy="1536192"/>
          </a:xfrm>
          <a:prstGeom prst="roundRect">
            <a:avLst>
              <a:gd name="adj" fmla="val 4762"/>
            </a:avLst>
          </a:prstGeom>
          <a:solidFill>
            <a:srgbClr val="FFFFFF"/>
          </a:solidFill>
          <a:ln w="9525">
            <a:solidFill>
              <a:srgbClr val="DCE1E7"/>
            </a:solidFill>
            <a:prstDash val="solid"/>
          </a:ln>
        </p:spPr>
      </p:sp>
      <p:sp>
        <p:nvSpPr>
          <p:cNvPr id="6" name="Shape 3"/>
          <p:cNvSpPr/>
          <p:nvPr/>
        </p:nvSpPr>
        <p:spPr>
          <a:xfrm>
            <a:off x="557784" y="1325880"/>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36788" y="1404884"/>
            <a:ext cx="171176" cy="171176"/>
          </a:xfrm>
          <a:prstGeom prst="rect">
            <a:avLst/>
          </a:prstGeom>
        </p:spPr>
      </p:pic>
      <p:sp>
        <p:nvSpPr>
          <p:cNvPr id="8" name="Text 4"/>
          <p:cNvSpPr txBox="1"/>
          <p:nvPr/>
        </p:nvSpPr>
        <p:spPr>
          <a:xfrm>
            <a:off x="9784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Ticket avoidance</a:t>
            </a:r>
            <a:endParaRPr lang="en-US" sz="1150" dirty="0"/>
          </a:p>
        </p:txBody>
      </p:sp>
      <p:sp>
        <p:nvSpPr>
          <p:cNvPr id="9" name="Shape 5"/>
          <p:cNvSpPr/>
          <p:nvPr/>
        </p:nvSpPr>
        <p:spPr>
          <a:xfrm>
            <a:off x="3790188" y="1380744"/>
            <a:ext cx="566928" cy="219456"/>
          </a:xfrm>
          <a:prstGeom prst="roundRect">
            <a:avLst>
              <a:gd name="adj" fmla="val 33333"/>
            </a:avLst>
          </a:prstGeom>
          <a:solidFill>
            <a:srgbClr val="E3F4F1"/>
          </a:solidFill>
          <a:ln w="9525">
            <a:solidFill>
              <a:srgbClr val="E3F4F1"/>
            </a:solidFill>
            <a:prstDash val="solid"/>
          </a:ln>
        </p:spPr>
      </p:sp>
      <p:sp>
        <p:nvSpPr>
          <p:cNvPr id="10" name="Text 6"/>
          <p:cNvSpPr txBox="1"/>
          <p:nvPr/>
        </p:nvSpPr>
        <p:spPr>
          <a:xfrm>
            <a:off x="37901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2</a:t>
            </a:r>
            <a:endParaRPr lang="en-US" sz="800" dirty="0"/>
          </a:p>
        </p:txBody>
      </p:sp>
      <p:sp>
        <p:nvSpPr>
          <p:cNvPr id="11" name="Text 7"/>
          <p:cNvSpPr txBox="1"/>
          <p:nvPr/>
        </p:nvSpPr>
        <p:spPr>
          <a:xfrm>
            <a:off x="5760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Work every ticket assigned to your department, including hard ones and charge disputes.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Never use CRM/NavBar filters to dodge tickets, or clear a ticket without resolving it.</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Unsure if it needs action? Ask in the designated Slack channel.</a:t>
            </a:r>
            <a:endParaRPr lang="en-US" sz="900" dirty="0"/>
          </a:p>
        </p:txBody>
      </p:sp>
      <p:sp>
        <p:nvSpPr>
          <p:cNvPr id="12" name="Shape 8"/>
          <p:cNvSpPr/>
          <p:nvPr/>
        </p:nvSpPr>
        <p:spPr>
          <a:xfrm>
            <a:off x="4640580" y="1188720"/>
            <a:ext cx="4091940" cy="1536192"/>
          </a:xfrm>
          <a:prstGeom prst="roundRect">
            <a:avLst>
              <a:gd name="adj" fmla="val 4762"/>
            </a:avLst>
          </a:prstGeom>
          <a:solidFill>
            <a:srgbClr val="FFFFFF"/>
          </a:solidFill>
          <a:ln w="9525">
            <a:solidFill>
              <a:srgbClr val="DCE1E7"/>
            </a:solidFill>
            <a:prstDash val="solid"/>
          </a:ln>
        </p:spPr>
      </p:sp>
      <p:sp>
        <p:nvSpPr>
          <p:cNvPr id="13" name="Shape 9"/>
          <p:cNvSpPr/>
          <p:nvPr/>
        </p:nvSpPr>
        <p:spPr>
          <a:xfrm>
            <a:off x="4786884" y="1325880"/>
            <a:ext cx="329184" cy="329184"/>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865888" y="1404884"/>
            <a:ext cx="171176" cy="171176"/>
          </a:xfrm>
          <a:prstGeom prst="rect">
            <a:avLst/>
          </a:prstGeom>
        </p:spPr>
      </p:pic>
      <p:sp>
        <p:nvSpPr>
          <p:cNvPr id="15" name="Text 10"/>
          <p:cNvSpPr txBox="1"/>
          <p:nvPr/>
        </p:nvSpPr>
        <p:spPr>
          <a:xfrm>
            <a:off x="5207508" y="1325880"/>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Bug reporting process</a:t>
            </a:r>
            <a:endParaRPr lang="en-US" sz="1150" dirty="0"/>
          </a:p>
        </p:txBody>
      </p:sp>
      <p:sp>
        <p:nvSpPr>
          <p:cNvPr id="16" name="Shape 11"/>
          <p:cNvSpPr/>
          <p:nvPr/>
        </p:nvSpPr>
        <p:spPr>
          <a:xfrm>
            <a:off x="8019288" y="1380744"/>
            <a:ext cx="566928" cy="219456"/>
          </a:xfrm>
          <a:prstGeom prst="roundRect">
            <a:avLst>
              <a:gd name="adj" fmla="val 33333"/>
            </a:avLst>
          </a:prstGeom>
          <a:solidFill>
            <a:srgbClr val="FFFFFF"/>
          </a:solidFill>
          <a:ln w="9525">
            <a:solidFill>
              <a:srgbClr val="0B7A6F"/>
            </a:solidFill>
            <a:prstDash val="solid"/>
          </a:ln>
        </p:spPr>
      </p:sp>
      <p:sp>
        <p:nvSpPr>
          <p:cNvPr id="17" name="Text 12"/>
          <p:cNvSpPr txBox="1"/>
          <p:nvPr/>
        </p:nvSpPr>
        <p:spPr>
          <a:xfrm>
            <a:off x="8019288" y="1380744"/>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18" name="Text 13"/>
          <p:cNvSpPr txBox="1"/>
          <p:nvPr/>
        </p:nvSpPr>
        <p:spPr>
          <a:xfrm>
            <a:off x="4805172" y="1755648"/>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Check the Confirmed Bugs Tracker first, then submit the Bug Validation Form.</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Once a card is escalated, don't add sample or unrelated comments.</a:t>
            </a:r>
            <a:endParaRPr lang="en-US" sz="900" dirty="0"/>
          </a:p>
        </p:txBody>
      </p:sp>
      <p:sp>
        <p:nvSpPr>
          <p:cNvPr id="19" name="Shape 14"/>
          <p:cNvSpPr/>
          <p:nvPr/>
        </p:nvSpPr>
        <p:spPr>
          <a:xfrm>
            <a:off x="411480" y="2862072"/>
            <a:ext cx="4091940" cy="1536192"/>
          </a:xfrm>
          <a:prstGeom prst="roundRect">
            <a:avLst>
              <a:gd name="adj" fmla="val 4762"/>
            </a:avLst>
          </a:prstGeom>
          <a:solidFill>
            <a:srgbClr val="FFFFFF"/>
          </a:solidFill>
          <a:ln w="9525">
            <a:solidFill>
              <a:srgbClr val="DCE1E7"/>
            </a:solidFill>
            <a:prstDash val="solid"/>
          </a:ln>
        </p:spPr>
      </p:sp>
      <p:sp>
        <p:nvSpPr>
          <p:cNvPr id="20" name="Shape 15"/>
          <p:cNvSpPr/>
          <p:nvPr/>
        </p:nvSpPr>
        <p:spPr>
          <a:xfrm>
            <a:off x="557784" y="2999232"/>
            <a:ext cx="329184" cy="329184"/>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636788" y="3078236"/>
            <a:ext cx="171176" cy="171176"/>
          </a:xfrm>
          <a:prstGeom prst="rect">
            <a:avLst/>
          </a:prstGeom>
        </p:spPr>
      </p:pic>
      <p:sp>
        <p:nvSpPr>
          <p:cNvPr id="22" name="Text 16"/>
          <p:cNvSpPr txBox="1"/>
          <p:nvPr/>
        </p:nvSpPr>
        <p:spPr>
          <a:xfrm>
            <a:off x="9784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Editing Django</a:t>
            </a:r>
            <a:endParaRPr lang="en-US" sz="1150" dirty="0"/>
          </a:p>
        </p:txBody>
      </p:sp>
      <p:sp>
        <p:nvSpPr>
          <p:cNvPr id="23" name="Shape 17"/>
          <p:cNvSpPr/>
          <p:nvPr/>
        </p:nvSpPr>
        <p:spPr>
          <a:xfrm>
            <a:off x="3790188" y="3054096"/>
            <a:ext cx="566928" cy="219456"/>
          </a:xfrm>
          <a:prstGeom prst="roundRect">
            <a:avLst>
              <a:gd name="adj" fmla="val 33333"/>
            </a:avLst>
          </a:prstGeom>
          <a:solidFill>
            <a:srgbClr val="FFFFFF"/>
          </a:solidFill>
          <a:ln w="9525">
            <a:solidFill>
              <a:srgbClr val="0B7A6F"/>
            </a:solidFill>
            <a:prstDash val="solid"/>
          </a:ln>
        </p:spPr>
      </p:sp>
      <p:sp>
        <p:nvSpPr>
          <p:cNvPr id="24" name="Text 18"/>
          <p:cNvSpPr txBox="1"/>
          <p:nvPr/>
        </p:nvSpPr>
        <p:spPr>
          <a:xfrm>
            <a:off x="37901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25" name="Text 19"/>
          <p:cNvSpPr txBox="1"/>
          <p:nvPr/>
        </p:nvSpPr>
        <p:spPr>
          <a:xfrm>
            <a:off x="5760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Only make the CS-approved edits listed in the KB.</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Escalate review edits in NCW and job history edits for LMCs/LOs to SMEs or Managers.</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When in doubt, don't edit it. Escalate it.</a:t>
            </a:r>
            <a:endParaRPr lang="en-US" sz="900" dirty="0"/>
          </a:p>
        </p:txBody>
      </p:sp>
      <p:sp>
        <p:nvSpPr>
          <p:cNvPr id="26" name="Shape 20"/>
          <p:cNvSpPr/>
          <p:nvPr/>
        </p:nvSpPr>
        <p:spPr>
          <a:xfrm>
            <a:off x="4640580" y="2862072"/>
            <a:ext cx="4091940" cy="1536192"/>
          </a:xfrm>
          <a:prstGeom prst="roundRect">
            <a:avLst>
              <a:gd name="adj" fmla="val 4762"/>
            </a:avLst>
          </a:prstGeom>
          <a:solidFill>
            <a:srgbClr val="FFFFFF"/>
          </a:solidFill>
          <a:ln w="9525">
            <a:solidFill>
              <a:srgbClr val="DCE1E7"/>
            </a:solidFill>
            <a:prstDash val="solid"/>
          </a:ln>
        </p:spPr>
      </p:sp>
      <p:sp>
        <p:nvSpPr>
          <p:cNvPr id="27" name="Shape 21"/>
          <p:cNvSpPr/>
          <p:nvPr/>
        </p:nvSpPr>
        <p:spPr>
          <a:xfrm>
            <a:off x="4786884" y="2999232"/>
            <a:ext cx="329184" cy="329184"/>
          </a:xfrm>
          <a:prstGeom prst="ellipse">
            <a:avLst/>
          </a:prstGeom>
          <a:solidFill>
            <a:srgbClr val="E3F4F1"/>
          </a:solidFill>
          <a:ln w="12700">
            <a:solidFill>
              <a:srgbClr val="E3F4F1"/>
            </a:solidFill>
            <a:prstDash val="solid"/>
          </a:ln>
        </p:spPr>
      </p:sp>
      <p:pic>
        <p:nvPicPr>
          <p:cNvPr id="28" name="Image 3" descr="preencoded.png">    </p:cNvPr>
          <p:cNvPicPr>
            <a:picLocks noChangeAspect="1"/>
          </p:cNvPicPr>
          <p:nvPr/>
        </p:nvPicPr>
        <p:blipFill>
          <a:blip r:embed="rId4"/>
          <a:stretch>
            <a:fillRect/>
          </a:stretch>
        </p:blipFill>
        <p:spPr>
          <a:xfrm>
            <a:off x="4865888" y="3078236"/>
            <a:ext cx="171176" cy="171176"/>
          </a:xfrm>
          <a:prstGeom prst="rect">
            <a:avLst/>
          </a:prstGeom>
        </p:spPr>
      </p:pic>
      <p:sp>
        <p:nvSpPr>
          <p:cNvPr id="29" name="Text 22"/>
          <p:cNvSpPr txBox="1"/>
          <p:nvPr/>
        </p:nvSpPr>
        <p:spPr>
          <a:xfrm>
            <a:off x="5207508" y="2999232"/>
            <a:ext cx="2766060" cy="329184"/>
          </a:xfrm>
          <a:prstGeom prst="rect">
            <a:avLst/>
          </a:prstGeom>
          <a:noFill/>
          <a:ln/>
        </p:spPr>
        <p:txBody>
          <a:bodyPr wrap="square" lIns="0" tIns="0" rIns="0" bIns="0" rtlCol="0" anchor="ctr"/>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Thumbtack accounts</a:t>
            </a:r>
            <a:endParaRPr lang="en-US" sz="1150" dirty="0"/>
          </a:p>
        </p:txBody>
      </p:sp>
      <p:sp>
        <p:nvSpPr>
          <p:cNvPr id="30" name="Shape 23"/>
          <p:cNvSpPr/>
          <p:nvPr/>
        </p:nvSpPr>
        <p:spPr>
          <a:xfrm>
            <a:off x="8019288" y="3054096"/>
            <a:ext cx="566928" cy="219456"/>
          </a:xfrm>
          <a:prstGeom prst="roundRect">
            <a:avLst>
              <a:gd name="adj" fmla="val 33333"/>
            </a:avLst>
          </a:prstGeom>
          <a:solidFill>
            <a:srgbClr val="FFFFFF"/>
          </a:solidFill>
          <a:ln w="9525">
            <a:solidFill>
              <a:srgbClr val="0B7A6F"/>
            </a:solidFill>
            <a:prstDash val="solid"/>
          </a:ln>
        </p:spPr>
      </p:sp>
      <p:sp>
        <p:nvSpPr>
          <p:cNvPr id="31" name="Text 24"/>
          <p:cNvSpPr txBox="1"/>
          <p:nvPr/>
        </p:nvSpPr>
        <p:spPr>
          <a:xfrm>
            <a:off x="8019288" y="3054096"/>
            <a:ext cx="566928" cy="219456"/>
          </a:xfrm>
          <a:prstGeom prst="rect">
            <a:avLst/>
          </a:prstGeom>
          <a:noFill/>
          <a:ln/>
        </p:spPr>
        <p:txBody>
          <a:bodyPr wrap="square" lIns="0" tIns="0" rIns="0" bIns="0" rtlCol="0" anchor="ctr"/>
          <a:lstStyle/>
          <a:p>
            <a:pPr algn="ctr" indent="0" marL="0">
              <a:buNone/>
            </a:pPr>
            <a:r>
              <a:rPr lang="en-US" sz="800" b="1" dirty="0">
                <a:solidFill>
                  <a:srgbClr val="0B7A6F"/>
                </a:solidFill>
                <a:latin typeface="SF Pro Display" pitchFamily="34" charset="0"/>
                <a:ea typeface="SF Pro Display" pitchFamily="34" charset="-122"/>
                <a:cs typeface="SF Pro Display" pitchFamily="34" charset="-120"/>
              </a:rPr>
              <a:t>Level 1</a:t>
            </a:r>
            <a:endParaRPr lang="en-US" sz="800" dirty="0"/>
          </a:p>
        </p:txBody>
      </p:sp>
      <p:sp>
        <p:nvSpPr>
          <p:cNvPr id="32" name="Text 25"/>
          <p:cNvSpPr txBox="1"/>
          <p:nvPr/>
        </p:nvSpPr>
        <p:spPr>
          <a:xfrm>
            <a:off x="4805172" y="3429000"/>
            <a:ext cx="3762756" cy="896112"/>
          </a:xfrm>
          <a:prstGeom prst="rect">
            <a:avLst/>
          </a:prstGeom>
          <a:noFill/>
          <a:ln/>
        </p:spPr>
        <p:txBody>
          <a:bodyPr wrap="square" lIns="0" tIns="0" rIns="0" bIns="0" rtlCol="0" anchor="t"/>
          <a:lstStyle/>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Spot it: system flag in New CRM, an internal note, or the customer says so.</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Transfer to the Thumbtack queue and notify an available Aftersales agent.</a:t>
            </a:r>
            <a:endParaRPr lang="en-US" sz="900" dirty="0"/>
          </a:p>
          <a:p>
            <a:pPr marL="127000" indent="-1270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Then stop: don't reply, resolve or take any other action.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Customer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map of a customer's whole experience, from first hearing about us to their cleaning.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 steps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customers find us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Three ways to sign up</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tickets come from</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ill3.png">    </p:cNvPr>
          <p:cNvPicPr>
            <a:picLocks noChangeAspect="1"/>
          </p:cNvPicPr>
          <p:nvPr/>
        </p:nvPicPr>
        <p:blipFill>
          <a:blip r:embed="rId5"/>
          <a:stretch>
            <a:fillRect/>
          </a:stretch>
        </p:blipFill>
        <p:spPr>
          <a:xfrm>
            <a:off x="5588203" y="1517904"/>
            <a:ext cx="2832202"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CUSTOMER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Five steps, one journey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ticket you handle sits somewhere on this path.</a:t>
            </a:r>
            <a:endParaRPr lang="en-US" sz="1200" dirty="0"/>
          </a:p>
        </p:txBody>
      </p:sp>
      <p:sp>
        <p:nvSpPr>
          <p:cNvPr id="6" name="Shape 3"/>
          <p:cNvSpPr/>
          <p:nvPr/>
        </p:nvSpPr>
        <p:spPr>
          <a:xfrm>
            <a:off x="411480" y="1554480"/>
            <a:ext cx="1481328" cy="1828800"/>
          </a:xfrm>
          <a:prstGeom prst="roundRect">
            <a:avLst>
              <a:gd name="adj" fmla="val 4938"/>
            </a:avLst>
          </a:prstGeom>
          <a:solidFill>
            <a:srgbClr val="FFFFFF"/>
          </a:solidFill>
          <a:ln w="9525">
            <a:solidFill>
              <a:srgbClr val="DCE1E7"/>
            </a:solidFill>
            <a:prstDash val="solid"/>
          </a:ln>
        </p:spPr>
      </p:sp>
      <p:sp>
        <p:nvSpPr>
          <p:cNvPr id="7" name="Shape 4"/>
          <p:cNvSpPr/>
          <p:nvPr/>
        </p:nvSpPr>
        <p:spPr>
          <a:xfrm>
            <a:off x="877824" y="1783080"/>
            <a:ext cx="548640" cy="54864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09498" y="1914754"/>
            <a:ext cx="285293" cy="285293"/>
          </a:xfrm>
          <a:prstGeom prst="rect">
            <a:avLst/>
          </a:prstGeom>
        </p:spPr>
      </p:pic>
      <p:sp>
        <p:nvSpPr>
          <p:cNvPr id="9" name="Text 5"/>
          <p:cNvSpPr txBox="1"/>
          <p:nvPr/>
        </p:nvSpPr>
        <p:spPr>
          <a:xfrm>
            <a:off x="411480"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Learns about us</a:t>
            </a:r>
            <a:endParaRPr lang="en-US" sz="1150" dirty="0"/>
          </a:p>
        </p:txBody>
      </p:sp>
      <p:pic>
        <p:nvPicPr>
          <p:cNvPr id="11" name="Image 1" descr="preencoded.png">    </p:cNvPr>
          <p:cNvPicPr>
            <a:picLocks noChangeAspect="1"/>
          </p:cNvPicPr>
          <p:nvPr/>
        </p:nvPicPr>
        <p:blipFill>
          <a:blip r:embed="rId2"/>
          <a:stretch>
            <a:fillRect/>
          </a:stretch>
        </p:blipFill>
        <p:spPr>
          <a:xfrm>
            <a:off x="1924812" y="2377440"/>
            <a:ext cx="164592" cy="164592"/>
          </a:xfrm>
          <a:prstGeom prst="rect">
            <a:avLst/>
          </a:prstGeom>
        </p:spPr>
      </p:pic>
      <p:sp>
        <p:nvSpPr>
          <p:cNvPr id="12" name="Shape 7"/>
          <p:cNvSpPr/>
          <p:nvPr/>
        </p:nvSpPr>
        <p:spPr>
          <a:xfrm>
            <a:off x="2121408" y="1554480"/>
            <a:ext cx="1481328" cy="1828800"/>
          </a:xfrm>
          <a:prstGeom prst="roundRect">
            <a:avLst>
              <a:gd name="adj" fmla="val 4938"/>
            </a:avLst>
          </a:prstGeom>
          <a:solidFill>
            <a:srgbClr val="FFFFFF"/>
          </a:solidFill>
          <a:ln w="9525">
            <a:solidFill>
              <a:srgbClr val="DCE1E7"/>
            </a:solidFill>
            <a:prstDash val="solid"/>
          </a:ln>
        </p:spPr>
      </p:sp>
      <p:sp>
        <p:nvSpPr>
          <p:cNvPr id="13" name="Shape 8"/>
          <p:cNvSpPr/>
          <p:nvPr/>
        </p:nvSpPr>
        <p:spPr>
          <a:xfrm>
            <a:off x="2587752" y="178308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2719426" y="1914754"/>
            <a:ext cx="285293" cy="285293"/>
          </a:xfrm>
          <a:prstGeom prst="rect">
            <a:avLst/>
          </a:prstGeom>
        </p:spPr>
      </p:pic>
      <p:sp>
        <p:nvSpPr>
          <p:cNvPr id="15" name="Text 9"/>
          <p:cNvSpPr txBox="1"/>
          <p:nvPr/>
        </p:nvSpPr>
        <p:spPr>
          <a:xfrm>
            <a:off x="2121408"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2212848"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Signs up</a:t>
            </a:r>
            <a:endParaRPr lang="en-US" sz="1150" dirty="0"/>
          </a:p>
        </p:txBody>
      </p:sp>
      <p:pic>
        <p:nvPicPr>
          <p:cNvPr id="17" name="Image 3" descr="preencoded.png">    </p:cNvPr>
          <p:cNvPicPr>
            <a:picLocks noChangeAspect="1"/>
          </p:cNvPicPr>
          <p:nvPr/>
        </p:nvPicPr>
        <p:blipFill>
          <a:blip r:embed="rId4"/>
          <a:stretch>
            <a:fillRect/>
          </a:stretch>
        </p:blipFill>
        <p:spPr>
          <a:xfrm>
            <a:off x="3634740" y="2377440"/>
            <a:ext cx="164592" cy="164592"/>
          </a:xfrm>
          <a:prstGeom prst="rect">
            <a:avLst/>
          </a:prstGeom>
        </p:spPr>
      </p:pic>
      <p:sp>
        <p:nvSpPr>
          <p:cNvPr id="18" name="Shape 11"/>
          <p:cNvSpPr/>
          <p:nvPr/>
        </p:nvSpPr>
        <p:spPr>
          <a:xfrm>
            <a:off x="3831336" y="1554480"/>
            <a:ext cx="1481328" cy="1828800"/>
          </a:xfrm>
          <a:prstGeom prst="roundRect">
            <a:avLst>
              <a:gd name="adj" fmla="val 4938"/>
            </a:avLst>
          </a:prstGeom>
          <a:solidFill>
            <a:srgbClr val="FFFFFF"/>
          </a:solidFill>
          <a:ln w="9525">
            <a:solidFill>
              <a:srgbClr val="DCE1E7"/>
            </a:solidFill>
            <a:prstDash val="solid"/>
          </a:ln>
        </p:spPr>
      </p:sp>
      <p:sp>
        <p:nvSpPr>
          <p:cNvPr id="19" name="Shape 12"/>
          <p:cNvSpPr/>
          <p:nvPr/>
        </p:nvSpPr>
        <p:spPr>
          <a:xfrm>
            <a:off x="4297680" y="1783080"/>
            <a:ext cx="548640" cy="548640"/>
          </a:xfrm>
          <a:prstGeom prst="ellipse">
            <a:avLst/>
          </a:prstGeom>
          <a:solidFill>
            <a:srgbClr val="E3F4F1"/>
          </a:solidFill>
          <a:ln w="12700">
            <a:solidFill>
              <a:srgbClr val="E3F4F1"/>
            </a:solidFill>
            <a:prstDash val="solid"/>
          </a:ln>
        </p:spPr>
      </p:sp>
      <p:pic>
        <p:nvPicPr>
          <p:cNvPr id="20" name="Image 4" descr="preencoded.png">    </p:cNvPr>
          <p:cNvPicPr>
            <a:picLocks noChangeAspect="1"/>
          </p:cNvPicPr>
          <p:nvPr/>
        </p:nvPicPr>
        <p:blipFill>
          <a:blip r:embed="rId5"/>
          <a:stretch>
            <a:fillRect/>
          </a:stretch>
        </p:blipFill>
        <p:spPr>
          <a:xfrm>
            <a:off x="4429354" y="1914754"/>
            <a:ext cx="285293" cy="285293"/>
          </a:xfrm>
          <a:prstGeom prst="rect">
            <a:avLst/>
          </a:prstGeom>
        </p:spPr>
      </p:pic>
      <p:sp>
        <p:nvSpPr>
          <p:cNvPr id="21" name="Text 13"/>
          <p:cNvSpPr txBox="1"/>
          <p:nvPr/>
        </p:nvSpPr>
        <p:spPr>
          <a:xfrm>
            <a:off x="3831336"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2" name="Text 14"/>
          <p:cNvSpPr txBox="1"/>
          <p:nvPr/>
        </p:nvSpPr>
        <p:spPr>
          <a:xfrm>
            <a:off x="3922776"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Books</a:t>
            </a:r>
            <a:endParaRPr lang="en-US" sz="1150" dirty="0"/>
          </a:p>
        </p:txBody>
      </p:sp>
      <p:pic>
        <p:nvPicPr>
          <p:cNvPr id="23" name="Image 5" descr="preencoded.png">    </p:cNvPr>
          <p:cNvPicPr>
            <a:picLocks noChangeAspect="1"/>
          </p:cNvPicPr>
          <p:nvPr/>
        </p:nvPicPr>
        <p:blipFill>
          <a:blip r:embed="rId6"/>
          <a:stretch>
            <a:fillRect/>
          </a:stretch>
        </p:blipFill>
        <p:spPr>
          <a:xfrm>
            <a:off x="5344668" y="2377440"/>
            <a:ext cx="164592" cy="164592"/>
          </a:xfrm>
          <a:prstGeom prst="rect">
            <a:avLst/>
          </a:prstGeom>
        </p:spPr>
      </p:pic>
      <p:sp>
        <p:nvSpPr>
          <p:cNvPr id="24" name="Shape 15"/>
          <p:cNvSpPr/>
          <p:nvPr/>
        </p:nvSpPr>
        <p:spPr>
          <a:xfrm>
            <a:off x="5541264" y="1554480"/>
            <a:ext cx="1481328" cy="1828800"/>
          </a:xfrm>
          <a:prstGeom prst="roundRect">
            <a:avLst>
              <a:gd name="adj" fmla="val 4938"/>
            </a:avLst>
          </a:prstGeom>
          <a:solidFill>
            <a:srgbClr val="FFFFFF"/>
          </a:solidFill>
          <a:ln w="9525">
            <a:solidFill>
              <a:srgbClr val="DCE1E7"/>
            </a:solidFill>
            <a:prstDash val="solid"/>
          </a:ln>
        </p:spPr>
      </p:sp>
      <p:sp>
        <p:nvSpPr>
          <p:cNvPr id="25" name="Shape 16"/>
          <p:cNvSpPr/>
          <p:nvPr/>
        </p:nvSpPr>
        <p:spPr>
          <a:xfrm>
            <a:off x="6007608" y="1783080"/>
            <a:ext cx="548640" cy="548640"/>
          </a:xfrm>
          <a:prstGeom prst="ellipse">
            <a:avLst/>
          </a:prstGeom>
          <a:solidFill>
            <a:srgbClr val="E3F4F1"/>
          </a:solidFill>
          <a:ln w="12700">
            <a:solidFill>
              <a:srgbClr val="E3F4F1"/>
            </a:solidFill>
            <a:prstDash val="solid"/>
          </a:ln>
        </p:spPr>
      </p:sp>
      <p:pic>
        <p:nvPicPr>
          <p:cNvPr id="26" name="Image 6" descr="preencoded.png">    </p:cNvPr>
          <p:cNvPicPr>
            <a:picLocks noChangeAspect="1"/>
          </p:cNvPicPr>
          <p:nvPr/>
        </p:nvPicPr>
        <p:blipFill>
          <a:blip r:embed="rId7"/>
          <a:stretch>
            <a:fillRect/>
          </a:stretch>
        </p:blipFill>
        <p:spPr>
          <a:xfrm>
            <a:off x="6139282" y="1914754"/>
            <a:ext cx="285293" cy="285293"/>
          </a:xfrm>
          <a:prstGeom prst="rect">
            <a:avLst/>
          </a:prstGeom>
        </p:spPr>
      </p:pic>
      <p:sp>
        <p:nvSpPr>
          <p:cNvPr id="27" name="Text 17"/>
          <p:cNvSpPr txBox="1"/>
          <p:nvPr/>
        </p:nvSpPr>
        <p:spPr>
          <a:xfrm>
            <a:off x="5541264"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28" name="Text 18"/>
          <p:cNvSpPr txBox="1"/>
          <p:nvPr/>
        </p:nvSpPr>
        <p:spPr>
          <a:xfrm>
            <a:off x="5632704"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Manages the appointment</a:t>
            </a:r>
            <a:endParaRPr lang="en-US" sz="1150" dirty="0"/>
          </a:p>
        </p:txBody>
      </p:sp>
      <p:pic>
        <p:nvPicPr>
          <p:cNvPr id="29" name="Image 7" descr="preencoded.png">    </p:cNvPr>
          <p:cNvPicPr>
            <a:picLocks noChangeAspect="1"/>
          </p:cNvPicPr>
          <p:nvPr/>
        </p:nvPicPr>
        <p:blipFill>
          <a:blip r:embed="rId8"/>
          <a:stretch>
            <a:fillRect/>
          </a:stretch>
        </p:blipFill>
        <p:spPr>
          <a:xfrm>
            <a:off x="7054596" y="2377440"/>
            <a:ext cx="164592" cy="164592"/>
          </a:xfrm>
          <a:prstGeom prst="rect">
            <a:avLst/>
          </a:prstGeom>
        </p:spPr>
      </p:pic>
      <p:sp>
        <p:nvSpPr>
          <p:cNvPr id="30" name="Shape 19"/>
          <p:cNvSpPr/>
          <p:nvPr/>
        </p:nvSpPr>
        <p:spPr>
          <a:xfrm>
            <a:off x="7251192" y="1554480"/>
            <a:ext cx="1481328" cy="1828800"/>
          </a:xfrm>
          <a:prstGeom prst="roundRect">
            <a:avLst>
              <a:gd name="adj" fmla="val 4938"/>
            </a:avLst>
          </a:prstGeom>
          <a:solidFill>
            <a:srgbClr val="FFFFFF"/>
          </a:solidFill>
          <a:ln w="9525">
            <a:solidFill>
              <a:srgbClr val="DCE1E7"/>
            </a:solidFill>
            <a:prstDash val="solid"/>
          </a:ln>
        </p:spPr>
      </p:sp>
      <p:sp>
        <p:nvSpPr>
          <p:cNvPr id="31" name="Shape 20"/>
          <p:cNvSpPr/>
          <p:nvPr/>
        </p:nvSpPr>
        <p:spPr>
          <a:xfrm>
            <a:off x="7717536" y="1783080"/>
            <a:ext cx="548640" cy="548640"/>
          </a:xfrm>
          <a:prstGeom prst="ellipse">
            <a:avLst/>
          </a:prstGeom>
          <a:solidFill>
            <a:srgbClr val="E3F4F1"/>
          </a:solidFill>
          <a:ln w="12700">
            <a:solidFill>
              <a:srgbClr val="E3F4F1"/>
            </a:solidFill>
            <a:prstDash val="solid"/>
          </a:ln>
        </p:spPr>
      </p:sp>
      <p:pic>
        <p:nvPicPr>
          <p:cNvPr id="32" name="Image 8" descr="preencoded.png">    </p:cNvPr>
          <p:cNvPicPr>
            <a:picLocks noChangeAspect="1"/>
          </p:cNvPicPr>
          <p:nvPr/>
        </p:nvPicPr>
        <p:blipFill>
          <a:blip r:embed="rId9"/>
          <a:stretch>
            <a:fillRect/>
          </a:stretch>
        </p:blipFill>
        <p:spPr>
          <a:xfrm>
            <a:off x="7849210" y="1914754"/>
            <a:ext cx="285293" cy="285293"/>
          </a:xfrm>
          <a:prstGeom prst="rect">
            <a:avLst/>
          </a:prstGeom>
        </p:spPr>
      </p:pic>
      <p:sp>
        <p:nvSpPr>
          <p:cNvPr id="33" name="Text 21"/>
          <p:cNvSpPr txBox="1"/>
          <p:nvPr/>
        </p:nvSpPr>
        <p:spPr>
          <a:xfrm>
            <a:off x="7251192" y="2487168"/>
            <a:ext cx="1481328"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4" name="Text 22"/>
          <p:cNvSpPr txBox="1"/>
          <p:nvPr/>
        </p:nvSpPr>
        <p:spPr>
          <a:xfrm>
            <a:off x="7342632" y="2697480"/>
            <a:ext cx="1298448" cy="5029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Receives and pays</a:t>
            </a:r>
            <a:endParaRPr lang="en-US" sz="1150" dirty="0"/>
          </a:p>
        </p:txBody>
      </p:sp>
      <p:sp>
        <p:nvSpPr>
          <p:cNvPr id="35" name="Shape 23"/>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36" name="Image 9" descr="preencoded.png">    </p:cNvPr>
          <p:cNvPicPr>
            <a:picLocks noChangeAspect="1"/>
          </p:cNvPicPr>
          <p:nvPr/>
        </p:nvPicPr>
        <p:blipFill>
          <a:blip r:embed="rId10"/>
          <a:stretch>
            <a:fillRect/>
          </a:stretch>
        </p:blipFill>
        <p:spPr>
          <a:xfrm>
            <a:off x="566928" y="3858768"/>
            <a:ext cx="164592" cy="164592"/>
          </a:xfrm>
          <a:prstGeom prst="rect">
            <a:avLst/>
          </a:prstGeom>
        </p:spPr>
      </p:pic>
      <p:sp>
        <p:nvSpPr>
          <p:cNvPr id="37" name="Text 24"/>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know where the customer is, and you'll know which playbook to use.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  ·  LEARNS ABOUT 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customers find us</a:t>
            </a:r>
            <a:endParaRPr lang="en-US" sz="2400" dirty="0"/>
          </a:p>
        </p:txBody>
      </p:sp>
      <p:sp>
        <p:nvSpPr>
          <p:cNvPr id="5" name="Shape 2"/>
          <p:cNvSpPr/>
          <p:nvPr/>
        </p:nvSpPr>
        <p:spPr>
          <a:xfrm>
            <a:off x="411480" y="1280160"/>
            <a:ext cx="1554480" cy="2103120"/>
          </a:xfrm>
          <a:prstGeom prst="roundRect">
            <a:avLst>
              <a:gd name="adj" fmla="val 4706"/>
            </a:avLst>
          </a:prstGeom>
          <a:solidFill>
            <a:srgbClr val="FFFFFF"/>
          </a:solidFill>
          <a:ln w="9525">
            <a:solidFill>
              <a:srgbClr val="DCE1E7"/>
            </a:solidFill>
            <a:prstDash val="solid"/>
          </a:ln>
        </p:spPr>
      </p:sp>
      <p:sp>
        <p:nvSpPr>
          <p:cNvPr id="6" name="Shape 3"/>
          <p:cNvSpPr/>
          <p:nvPr/>
        </p:nvSpPr>
        <p:spPr>
          <a:xfrm>
            <a:off x="868680" y="1554480"/>
            <a:ext cx="640080" cy="64008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022299" y="1708099"/>
            <a:ext cx="332842" cy="332842"/>
          </a:xfrm>
          <a:prstGeom prst="rect">
            <a:avLst/>
          </a:prstGeom>
        </p:spPr>
      </p:pic>
      <p:sp>
        <p:nvSpPr>
          <p:cNvPr id="8" name="Text 4"/>
          <p:cNvSpPr txBox="1"/>
          <p:nvPr/>
        </p:nvSpPr>
        <p:spPr>
          <a:xfrm>
            <a:off x="50292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Search engines</a:t>
            </a:r>
            <a:endParaRPr lang="en-US" sz="1150" dirty="0"/>
          </a:p>
        </p:txBody>
      </p:sp>
      <p:sp>
        <p:nvSpPr>
          <p:cNvPr id="9" name="Text 5"/>
          <p:cNvSpPr txBox="1"/>
          <p:nvPr/>
        </p:nvSpPr>
        <p:spPr>
          <a:xfrm>
            <a:off x="50292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The most common source</a:t>
            </a:r>
            <a:endParaRPr lang="en-US" sz="900" dirty="0"/>
          </a:p>
        </p:txBody>
      </p:sp>
      <p:sp>
        <p:nvSpPr>
          <p:cNvPr id="10" name="Shape 6"/>
          <p:cNvSpPr/>
          <p:nvPr/>
        </p:nvSpPr>
        <p:spPr>
          <a:xfrm>
            <a:off x="2103120" y="1280160"/>
            <a:ext cx="1554480" cy="2103120"/>
          </a:xfrm>
          <a:prstGeom prst="roundRect">
            <a:avLst>
              <a:gd name="adj" fmla="val 4706"/>
            </a:avLst>
          </a:prstGeom>
          <a:solidFill>
            <a:srgbClr val="FFFFFF"/>
          </a:solidFill>
          <a:ln w="9525">
            <a:solidFill>
              <a:srgbClr val="DCE1E7"/>
            </a:solidFill>
            <a:prstDash val="solid"/>
          </a:ln>
        </p:spPr>
      </p:sp>
      <p:sp>
        <p:nvSpPr>
          <p:cNvPr id="11" name="Shape 7"/>
          <p:cNvSpPr/>
          <p:nvPr/>
        </p:nvSpPr>
        <p:spPr>
          <a:xfrm>
            <a:off x="2560320" y="1554480"/>
            <a:ext cx="640080" cy="64008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13939" y="1708099"/>
            <a:ext cx="332842" cy="332842"/>
          </a:xfrm>
          <a:prstGeom prst="rect">
            <a:avLst/>
          </a:prstGeom>
        </p:spPr>
      </p:pic>
      <p:sp>
        <p:nvSpPr>
          <p:cNvPr id="13" name="Text 8"/>
          <p:cNvSpPr txBox="1"/>
          <p:nvPr/>
        </p:nvSpPr>
        <p:spPr>
          <a:xfrm>
            <a:off x="219456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Our websites</a:t>
            </a:r>
            <a:endParaRPr lang="en-US" sz="1150" dirty="0"/>
          </a:p>
        </p:txBody>
      </p:sp>
      <p:sp>
        <p:nvSpPr>
          <p:cNvPr id="14" name="Text 9"/>
          <p:cNvSpPr txBox="1"/>
          <p:nvPr/>
        </p:nvSpPr>
        <p:spPr>
          <a:xfrm>
            <a:off x="219456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Homeaglow and sister brands</a:t>
            </a:r>
            <a:endParaRPr lang="en-US" sz="900" dirty="0"/>
          </a:p>
        </p:txBody>
      </p:sp>
      <p:sp>
        <p:nvSpPr>
          <p:cNvPr id="15" name="Shape 10"/>
          <p:cNvSpPr/>
          <p:nvPr/>
        </p:nvSpPr>
        <p:spPr>
          <a:xfrm>
            <a:off x="3794760" y="1280160"/>
            <a:ext cx="1554480" cy="2103120"/>
          </a:xfrm>
          <a:prstGeom prst="roundRect">
            <a:avLst>
              <a:gd name="adj" fmla="val 4706"/>
            </a:avLst>
          </a:prstGeom>
          <a:solidFill>
            <a:srgbClr val="FFFFFF"/>
          </a:solidFill>
          <a:ln w="9525">
            <a:solidFill>
              <a:srgbClr val="DCE1E7"/>
            </a:solidFill>
            <a:prstDash val="solid"/>
          </a:ln>
        </p:spPr>
      </p:sp>
      <p:sp>
        <p:nvSpPr>
          <p:cNvPr id="16" name="Shape 11"/>
          <p:cNvSpPr/>
          <p:nvPr/>
        </p:nvSpPr>
        <p:spPr>
          <a:xfrm>
            <a:off x="4251960" y="1554480"/>
            <a:ext cx="640080" cy="64008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405579" y="1708099"/>
            <a:ext cx="332842" cy="332842"/>
          </a:xfrm>
          <a:prstGeom prst="rect">
            <a:avLst/>
          </a:prstGeom>
        </p:spPr>
      </p:pic>
      <p:sp>
        <p:nvSpPr>
          <p:cNvPr id="18" name="Text 12"/>
          <p:cNvSpPr txBox="1"/>
          <p:nvPr/>
        </p:nvSpPr>
        <p:spPr>
          <a:xfrm>
            <a:off x="388620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TV commercials</a:t>
            </a:r>
            <a:endParaRPr lang="en-US" sz="1150" dirty="0"/>
          </a:p>
        </p:txBody>
      </p:sp>
      <p:sp>
        <p:nvSpPr>
          <p:cNvPr id="19" name="Text 13"/>
          <p:cNvSpPr txBox="1"/>
          <p:nvPr/>
        </p:nvSpPr>
        <p:spPr>
          <a:xfrm>
            <a:off x="3886200" y="2670048"/>
            <a:ext cx="1371600" cy="457200"/>
          </a:xfrm>
          <a:prstGeom prst="rect">
            <a:avLst/>
          </a:prstGeom>
          <a:noFill/>
          <a:ln/>
        </p:spPr>
        <p:txBody>
          <a:bodyPr wrap="square" lIns="0" tIns="0" rIns="0" bIns="0" rtlCol="0" anchor="t"/>
          <a:lstStyle/>
          <a:p>
            <a:pPr algn="ctr" indent="0" marL="0">
              <a:buNone/>
            </a:pPr>
            <a:endParaRPr lang="en-US" sz="900" dirty="0"/>
          </a:p>
        </p:txBody>
      </p:sp>
      <p:sp>
        <p:nvSpPr>
          <p:cNvPr id="20" name="Shape 14"/>
          <p:cNvSpPr/>
          <p:nvPr/>
        </p:nvSpPr>
        <p:spPr>
          <a:xfrm>
            <a:off x="5486400" y="1280160"/>
            <a:ext cx="1554480" cy="2103120"/>
          </a:xfrm>
          <a:prstGeom prst="roundRect">
            <a:avLst>
              <a:gd name="adj" fmla="val 4706"/>
            </a:avLst>
          </a:prstGeom>
          <a:solidFill>
            <a:srgbClr val="FFFFFF"/>
          </a:solidFill>
          <a:ln w="9525">
            <a:solidFill>
              <a:srgbClr val="DCE1E7"/>
            </a:solidFill>
            <a:prstDash val="solid"/>
          </a:ln>
        </p:spPr>
      </p:sp>
      <p:sp>
        <p:nvSpPr>
          <p:cNvPr id="21" name="Shape 15"/>
          <p:cNvSpPr/>
          <p:nvPr/>
        </p:nvSpPr>
        <p:spPr>
          <a:xfrm>
            <a:off x="5943600" y="1554480"/>
            <a:ext cx="640080" cy="640080"/>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097219" y="1708099"/>
            <a:ext cx="332842" cy="332842"/>
          </a:xfrm>
          <a:prstGeom prst="rect">
            <a:avLst/>
          </a:prstGeom>
        </p:spPr>
      </p:pic>
      <p:sp>
        <p:nvSpPr>
          <p:cNvPr id="23" name="Text 16"/>
          <p:cNvSpPr txBox="1"/>
          <p:nvPr/>
        </p:nvSpPr>
        <p:spPr>
          <a:xfrm>
            <a:off x="557784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Friends &amp; family</a:t>
            </a:r>
            <a:endParaRPr lang="en-US" sz="1150" dirty="0"/>
          </a:p>
        </p:txBody>
      </p:sp>
      <p:sp>
        <p:nvSpPr>
          <p:cNvPr id="24" name="Text 17"/>
          <p:cNvSpPr txBox="1"/>
          <p:nvPr/>
        </p:nvSpPr>
        <p:spPr>
          <a:xfrm>
            <a:off x="557784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Referrals</a:t>
            </a:r>
            <a:endParaRPr lang="en-US" sz="900" dirty="0"/>
          </a:p>
        </p:txBody>
      </p:sp>
      <p:sp>
        <p:nvSpPr>
          <p:cNvPr id="25" name="Shape 18"/>
          <p:cNvSpPr/>
          <p:nvPr/>
        </p:nvSpPr>
        <p:spPr>
          <a:xfrm>
            <a:off x="7178040" y="1280160"/>
            <a:ext cx="1554480" cy="2103120"/>
          </a:xfrm>
          <a:prstGeom prst="roundRect">
            <a:avLst>
              <a:gd name="adj" fmla="val 4706"/>
            </a:avLst>
          </a:prstGeom>
          <a:solidFill>
            <a:srgbClr val="FFFFFF"/>
          </a:solidFill>
          <a:ln w="9525">
            <a:solidFill>
              <a:srgbClr val="DCE1E7"/>
            </a:solidFill>
            <a:prstDash val="solid"/>
          </a:ln>
        </p:spPr>
      </p:sp>
      <p:sp>
        <p:nvSpPr>
          <p:cNvPr id="26" name="Shape 19"/>
          <p:cNvSpPr/>
          <p:nvPr/>
        </p:nvSpPr>
        <p:spPr>
          <a:xfrm>
            <a:off x="7635240" y="1554480"/>
            <a:ext cx="640080" cy="640080"/>
          </a:xfrm>
          <a:prstGeom prst="ellipse">
            <a:avLst/>
          </a:prstGeom>
          <a:solidFill>
            <a:srgbClr val="E3F4F1"/>
          </a:solidFill>
          <a:ln w="12700">
            <a:solidFill>
              <a:srgbClr val="E3F4F1"/>
            </a:solidFill>
            <a:prstDash val="solid"/>
          </a:ln>
        </p:spPr>
      </p:sp>
      <p:pic>
        <p:nvPicPr>
          <p:cNvPr id="27" name="Image 4" descr="preencoded.png">    </p:cNvPr>
          <p:cNvPicPr>
            <a:picLocks noChangeAspect="1"/>
          </p:cNvPicPr>
          <p:nvPr/>
        </p:nvPicPr>
        <p:blipFill>
          <a:blip r:embed="rId5"/>
          <a:stretch>
            <a:fillRect/>
          </a:stretch>
        </p:blipFill>
        <p:spPr>
          <a:xfrm>
            <a:off x="7788859" y="1708099"/>
            <a:ext cx="332842" cy="332842"/>
          </a:xfrm>
          <a:prstGeom prst="rect">
            <a:avLst/>
          </a:prstGeom>
        </p:spPr>
      </p:pic>
      <p:sp>
        <p:nvSpPr>
          <p:cNvPr id="28" name="Text 20"/>
          <p:cNvSpPr txBox="1"/>
          <p:nvPr/>
        </p:nvSpPr>
        <p:spPr>
          <a:xfrm>
            <a:off x="7269480" y="2377440"/>
            <a:ext cx="1371600" cy="274320"/>
          </a:xfrm>
          <a:prstGeom prst="rect">
            <a:avLst/>
          </a:prstGeom>
          <a:noFill/>
          <a:ln/>
        </p:spPr>
        <p:txBody>
          <a:bodyPr wrap="square" lIns="0" tIns="0" rIns="0" bIns="0" rtlCol="0" anchor="t"/>
          <a:lstStyle/>
          <a:p>
            <a:pPr algn="ctr" indent="0" marL="0">
              <a:buNone/>
            </a:pPr>
            <a:r>
              <a:rPr lang="en-US" sz="1150" b="1" dirty="0">
                <a:solidFill>
                  <a:srgbClr val="1D1D1F"/>
                </a:solidFill>
                <a:latin typeface="SF Pro Display" pitchFamily="34" charset="0"/>
                <a:ea typeface="SF Pro Display" pitchFamily="34" charset="-122"/>
                <a:cs typeface="SF Pro Display" pitchFamily="34" charset="-120"/>
              </a:rPr>
              <a:t>Social media</a:t>
            </a:r>
            <a:endParaRPr lang="en-US" sz="1150" dirty="0"/>
          </a:p>
        </p:txBody>
      </p:sp>
      <p:sp>
        <p:nvSpPr>
          <p:cNvPr id="29" name="Text 21"/>
          <p:cNvSpPr txBox="1"/>
          <p:nvPr/>
        </p:nvSpPr>
        <p:spPr>
          <a:xfrm>
            <a:off x="7269480" y="2670048"/>
            <a:ext cx="1371600" cy="45720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Facebook, YouTube, TikTok</a:t>
            </a:r>
            <a:endParaRPr lang="en-US" sz="900" dirty="0"/>
          </a:p>
        </p:txBody>
      </p:sp>
      <p:sp>
        <p:nvSpPr>
          <p:cNvPr id="30" name="Shape 22"/>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31" name="Image 5" descr="preencoded.png">    </p:cNvPr>
          <p:cNvPicPr>
            <a:picLocks noChangeAspect="1"/>
          </p:cNvPicPr>
          <p:nvPr/>
        </p:nvPicPr>
        <p:blipFill>
          <a:blip r:embed="rId6"/>
          <a:stretch>
            <a:fillRect/>
          </a:stretch>
        </p:blipFill>
        <p:spPr>
          <a:xfrm>
            <a:off x="566928" y="3721608"/>
            <a:ext cx="164592" cy="164592"/>
          </a:xfrm>
          <a:prstGeom prst="rect">
            <a:avLst/>
          </a:prstGeom>
        </p:spPr>
      </p:pic>
      <p:sp>
        <p:nvSpPr>
          <p:cNvPr id="32" name="Text 23"/>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Most common:  </a:t>
            </a:r>
            <a:pPr indent="0" marL="0">
              <a:buNone/>
            </a:pPr>
            <a:r>
              <a:rPr lang="en-US" sz="1000" dirty="0">
                <a:solidFill>
                  <a:srgbClr val="1D1D1F"/>
                </a:solidFill>
                <a:latin typeface="SF Pro Text" pitchFamily="34" charset="0"/>
                <a:ea typeface="SF Pro Text" pitchFamily="34" charset="-122"/>
                <a:cs typeface="SF Pro Text" pitchFamily="34" charset="-120"/>
              </a:rPr>
              <a:t>search engines.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  ·  SIGNS 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ways to sign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path a customer took shapes their billing and what options they have.</a:t>
            </a:r>
            <a:endParaRPr lang="en-US" sz="1200" dirty="0"/>
          </a:p>
        </p:txBody>
      </p:sp>
      <p:sp>
        <p:nvSpPr>
          <p:cNvPr id="6" name="Shape 3"/>
          <p:cNvSpPr/>
          <p:nvPr/>
        </p:nvSpPr>
        <p:spPr>
          <a:xfrm>
            <a:off x="411480" y="146304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4592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64592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Legacy DHJ</a:t>
            </a:r>
            <a:endParaRPr lang="en-US" sz="1200" dirty="0"/>
          </a:p>
        </p:txBody>
      </p:sp>
      <p:sp>
        <p:nvSpPr>
          <p:cNvPr id="10" name="Text 7"/>
          <p:cNvSpPr txBox="1"/>
          <p:nvPr/>
        </p:nvSpPr>
        <p:spPr>
          <a:xfrm>
            <a:off x="5760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Bought a discounted voucher from &lt;brand&gt;.com/deal.</a:t>
            </a:r>
            <a:endParaRPr lang="en-US" sz="950" dirty="0"/>
          </a:p>
        </p:txBody>
      </p:sp>
      <p:sp>
        <p:nvSpPr>
          <p:cNvPr id="11" name="Shape 8"/>
          <p:cNvSpPr/>
          <p:nvPr/>
        </p:nvSpPr>
        <p:spPr>
          <a:xfrm>
            <a:off x="3230880" y="146304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64592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64592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Cleaning Free</a:t>
            </a:r>
            <a:endParaRPr lang="en-US" sz="1200" dirty="0"/>
          </a:p>
        </p:txBody>
      </p:sp>
      <p:sp>
        <p:nvSpPr>
          <p:cNvPr id="15" name="Text 12"/>
          <p:cNvSpPr txBox="1"/>
          <p:nvPr/>
        </p:nvSpPr>
        <p:spPr>
          <a:xfrm>
            <a:off x="33954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Joins the membership directly. Pays $19 upfront.</a:t>
            </a:r>
            <a:endParaRPr lang="en-US" sz="950" dirty="0"/>
          </a:p>
        </p:txBody>
      </p:sp>
      <p:sp>
        <p:nvSpPr>
          <p:cNvPr id="16" name="Shape 13"/>
          <p:cNvSpPr/>
          <p:nvPr/>
        </p:nvSpPr>
        <p:spPr>
          <a:xfrm>
            <a:off x="6050280" y="146304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64592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64592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206654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Non-member</a:t>
            </a:r>
            <a:endParaRPr lang="en-US" sz="1200" dirty="0"/>
          </a:p>
        </p:txBody>
      </p:sp>
      <p:sp>
        <p:nvSpPr>
          <p:cNvPr id="20" name="Text 17"/>
          <p:cNvSpPr txBox="1"/>
          <p:nvPr/>
        </p:nvSpPr>
        <p:spPr>
          <a:xfrm>
            <a:off x="6214872" y="235915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Groupon, gift card, one-time or trial cleaning. No membership.</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Since Aug 3, 2026:  </a:t>
            </a:r>
            <a:pPr indent="0" marL="0">
              <a:buNone/>
            </a:pPr>
            <a:r>
              <a:rPr lang="en-US" sz="1000" dirty="0">
                <a:solidFill>
                  <a:srgbClr val="1D1D1F"/>
                </a:solidFill>
                <a:latin typeface="SF Pro Text" pitchFamily="34" charset="0"/>
                <a:ea typeface="SF Pro Text" pitchFamily="34" charset="-122"/>
                <a:cs typeface="SF Pro Text" pitchFamily="34" charset="-120"/>
              </a:rPr>
              <a:t>all new membership sign-ups are First Cleaning Free.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STEPS 3 &amp; 4  ·  BOOKS AND MANAGES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Booking and managing</a:t>
            </a:r>
            <a:endParaRPr lang="en-US" sz="2400" dirty="0"/>
          </a:p>
        </p:txBody>
      </p:sp>
      <p:sp>
        <p:nvSpPr>
          <p:cNvPr id="5" name="Shape 2"/>
          <p:cNvSpPr/>
          <p:nvPr/>
        </p:nvSpPr>
        <p:spPr>
          <a:xfrm>
            <a:off x="411480" y="1188720"/>
            <a:ext cx="406908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2142" y="1459382"/>
            <a:ext cx="190195" cy="190195"/>
          </a:xfrm>
          <a:prstGeom prst="rect">
            <a:avLst/>
          </a:prstGeom>
        </p:spPr>
      </p:pic>
      <p:sp>
        <p:nvSpPr>
          <p:cNvPr id="8" name="Text 4"/>
          <p:cNvSpPr txBox="1"/>
          <p:nvPr/>
        </p:nvSpPr>
        <p:spPr>
          <a:xfrm>
            <a:off x="594360" y="1847088"/>
            <a:ext cx="3657600" cy="274320"/>
          </a:xfrm>
          <a:prstGeom prst="rect">
            <a:avLst/>
          </a:prstGeom>
          <a:noFill/>
          <a:ln/>
        </p:spPr>
        <p:txBody>
          <a:bodyPr wrap="square" lIns="0" tIns="0" rIns="0" bIns="0" rtlCol="0" anchor="t"/>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Books</a:t>
            </a:r>
            <a:endParaRPr lang="en-US" sz="1400" dirty="0"/>
          </a:p>
        </p:txBody>
      </p:sp>
      <p:sp>
        <p:nvSpPr>
          <p:cNvPr id="9" name="Text 5"/>
          <p:cNvSpPr txBox="1"/>
          <p:nvPr/>
        </p:nvSpPr>
        <p:spPr>
          <a:xfrm>
            <a:off x="594360" y="2176272"/>
            <a:ext cx="3657600" cy="22860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Members are prompted to add:</a:t>
            </a:r>
            <a:endParaRPr lang="en-US" sz="1000" dirty="0"/>
          </a:p>
        </p:txBody>
      </p:sp>
      <p:sp>
        <p:nvSpPr>
          <p:cNvPr id="10" name="Shape 6"/>
          <p:cNvSpPr/>
          <p:nvPr/>
        </p:nvSpPr>
        <p:spPr>
          <a:xfrm>
            <a:off x="594360" y="2514600"/>
            <a:ext cx="3703320" cy="365760"/>
          </a:xfrm>
          <a:prstGeom prst="roundRect">
            <a:avLst>
              <a:gd name="adj" fmla="val 20000"/>
            </a:avLst>
          </a:prstGeom>
          <a:solidFill>
            <a:srgbClr val="E3F4F1"/>
          </a:solidFill>
          <a:ln w="9525">
            <a:solidFill>
              <a:srgbClr val="E3F4F1"/>
            </a:solidFill>
            <a:prstDash val="solid"/>
          </a:ln>
        </p:spPr>
      </p:sp>
      <p:sp>
        <p:nvSpPr>
          <p:cNvPr id="11" name="Text 7"/>
          <p:cNvSpPr txBox="1"/>
          <p:nvPr/>
        </p:nvSpPr>
        <p:spPr>
          <a:xfrm>
            <a:off x="749808" y="2514600"/>
            <a:ext cx="3474720" cy="365760"/>
          </a:xfrm>
          <a:prstGeom prst="rect">
            <a:avLst/>
          </a:prstGeom>
          <a:noFill/>
          <a:ln/>
        </p:spPr>
        <p:txBody>
          <a:bodyPr wrap="square" lIns="0" tIns="0" rIns="0" bIns="0" rtlCol="0" anchor="ctr"/>
          <a:lstStyle/>
          <a:p>
            <a:pPr indent="0" marL="0">
              <a:buNone/>
            </a:pPr>
            <a:r>
              <a:rPr lang="en-US" sz="1050" b="1" dirty="0">
                <a:solidFill>
                  <a:srgbClr val="0B7A6F"/>
                </a:solidFill>
                <a:latin typeface="SF Pro Text" pitchFamily="34" charset="0"/>
                <a:ea typeface="SF Pro Text" pitchFamily="34" charset="-122"/>
                <a:cs typeface="SF Pro Text" pitchFamily="34" charset="-120"/>
              </a:rPr>
              <a:t>A recurring schedule</a:t>
            </a:r>
            <a:endParaRPr lang="en-US" sz="1050" dirty="0"/>
          </a:p>
        </p:txBody>
      </p:sp>
      <p:sp>
        <p:nvSpPr>
          <p:cNvPr id="12" name="Shape 8"/>
          <p:cNvSpPr/>
          <p:nvPr/>
        </p:nvSpPr>
        <p:spPr>
          <a:xfrm>
            <a:off x="594360" y="2971800"/>
            <a:ext cx="3703320" cy="365760"/>
          </a:xfrm>
          <a:prstGeom prst="roundRect">
            <a:avLst>
              <a:gd name="adj" fmla="val 20000"/>
            </a:avLst>
          </a:prstGeom>
          <a:solidFill>
            <a:srgbClr val="E3F4F1"/>
          </a:solidFill>
          <a:ln w="9525">
            <a:solidFill>
              <a:srgbClr val="E3F4F1"/>
            </a:solidFill>
            <a:prstDash val="solid"/>
          </a:ln>
        </p:spPr>
      </p:sp>
      <p:sp>
        <p:nvSpPr>
          <p:cNvPr id="13" name="Text 9"/>
          <p:cNvSpPr txBox="1"/>
          <p:nvPr/>
        </p:nvSpPr>
        <p:spPr>
          <a:xfrm>
            <a:off x="749808" y="2971800"/>
            <a:ext cx="3474720" cy="365760"/>
          </a:xfrm>
          <a:prstGeom prst="rect">
            <a:avLst/>
          </a:prstGeom>
          <a:noFill/>
          <a:ln/>
        </p:spPr>
        <p:txBody>
          <a:bodyPr wrap="square" lIns="0" tIns="0" rIns="0" bIns="0" rtlCol="0" anchor="ctr"/>
          <a:lstStyle/>
          <a:p>
            <a:pPr indent="0" marL="0">
              <a:buNone/>
            </a:pPr>
            <a:r>
              <a:rPr lang="en-US" sz="1050" b="1" dirty="0">
                <a:solidFill>
                  <a:srgbClr val="0B7A6F"/>
                </a:solidFill>
                <a:latin typeface="SF Pro Text" pitchFamily="34" charset="0"/>
                <a:ea typeface="SF Pro Text" pitchFamily="34" charset="-122"/>
                <a:cs typeface="SF Pro Text" pitchFamily="34" charset="-120"/>
              </a:rPr>
              <a:t>Alternate start times</a:t>
            </a:r>
            <a:endParaRPr lang="en-US" sz="1050" dirty="0"/>
          </a:p>
        </p:txBody>
      </p:sp>
      <p:sp>
        <p:nvSpPr>
          <p:cNvPr id="14" name="Text 10"/>
          <p:cNvSpPr txBox="1"/>
          <p:nvPr/>
        </p:nvSpPr>
        <p:spPr>
          <a:xfrm>
            <a:off x="594360" y="3520440"/>
            <a:ext cx="3657600" cy="228600"/>
          </a:xfrm>
          <a:prstGeom prst="rect">
            <a:avLst/>
          </a:prstGeom>
          <a:noFill/>
          <a:ln/>
        </p:spPr>
        <p:txBody>
          <a:bodyPr wrap="square" lIns="0" tIns="0" rIns="0" bIns="0" rtlCol="0" anchor="t"/>
          <a:lstStyle/>
          <a:p>
            <a:pPr indent="0" marL="0">
              <a:buNone/>
            </a:pPr>
            <a:r>
              <a:rPr lang="en-US" sz="950" i="1" dirty="0">
                <a:solidFill>
                  <a:srgbClr val="6E6E73"/>
                </a:solidFill>
                <a:latin typeface="SF Pro Text" pitchFamily="34" charset="0"/>
                <a:ea typeface="SF Pro Text" pitchFamily="34" charset="-122"/>
                <a:cs typeface="SF Pro Text" pitchFamily="34" charset="-120"/>
              </a:rPr>
              <a:t>Both raise the odds of a match.</a:t>
            </a:r>
            <a:endParaRPr lang="en-US" sz="950" dirty="0"/>
          </a:p>
        </p:txBody>
      </p:sp>
      <p:sp>
        <p:nvSpPr>
          <p:cNvPr id="15" name="Shape 11"/>
          <p:cNvSpPr/>
          <p:nvPr/>
        </p:nvSpPr>
        <p:spPr>
          <a:xfrm>
            <a:off x="4663440" y="1188720"/>
            <a:ext cx="4069080" cy="3017520"/>
          </a:xfrm>
          <a:prstGeom prst="roundRect">
            <a:avLst>
              <a:gd name="adj" fmla="val 2424"/>
            </a:avLst>
          </a:prstGeom>
          <a:solidFill>
            <a:srgbClr val="FFFFFF"/>
          </a:solidFill>
          <a:ln w="9525">
            <a:solidFill>
              <a:srgbClr val="DCE1E7"/>
            </a:solidFill>
            <a:prstDash val="solid"/>
          </a:ln>
        </p:spPr>
      </p:sp>
      <p:sp>
        <p:nvSpPr>
          <p:cNvPr id="16" name="Text 12"/>
          <p:cNvSpPr txBox="1"/>
          <p:nvPr/>
        </p:nvSpPr>
        <p:spPr>
          <a:xfrm>
            <a:off x="4846320" y="1280160"/>
            <a:ext cx="640080" cy="822960"/>
          </a:xfrm>
          <a:prstGeom prst="rect">
            <a:avLst/>
          </a:prstGeom>
          <a:noFill/>
          <a:ln/>
        </p:spPr>
        <p:txBody>
          <a:bodyPr wrap="square" lIns="0" tIns="0" rIns="0" bIns="0" rtlCol="0" anchor="t"/>
          <a:lstStyle/>
          <a:p>
            <a:pPr indent="0" marL="0">
              <a:buNone/>
            </a:pPr>
            <a:r>
              <a:rPr lang="en-US" sz="4800" b="1" dirty="0">
                <a:solidFill>
                  <a:srgbClr val="0B7A6F"/>
                </a:solidFill>
                <a:latin typeface="SF Pro Display" pitchFamily="34" charset="0"/>
                <a:ea typeface="SF Pro Display" pitchFamily="34" charset="-122"/>
                <a:cs typeface="SF Pro Display" pitchFamily="34" charset="-120"/>
              </a:rPr>
              <a:t>6</a:t>
            </a:r>
            <a:endParaRPr lang="en-US" sz="4800" dirty="0"/>
          </a:p>
        </p:txBody>
      </p:sp>
      <p:sp>
        <p:nvSpPr>
          <p:cNvPr id="17" name="Text 13"/>
          <p:cNvSpPr txBox="1"/>
          <p:nvPr/>
        </p:nvSpPr>
        <p:spPr>
          <a:xfrm>
            <a:off x="5440680" y="1600200"/>
            <a:ext cx="31089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hours before start</a:t>
            </a:r>
            <a:endParaRPr lang="en-US" sz="1200" dirty="0"/>
          </a:p>
        </p:txBody>
      </p:sp>
      <p:sp>
        <p:nvSpPr>
          <p:cNvPr id="18" name="Text 14"/>
          <p:cNvSpPr txBox="1"/>
          <p:nvPr/>
        </p:nvSpPr>
        <p:spPr>
          <a:xfrm>
            <a:off x="4846320" y="2176272"/>
            <a:ext cx="3749040" cy="22860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Up until then, from their dashboard, customers can:</a:t>
            </a:r>
            <a:endParaRPr lang="en-US" sz="1000" dirty="0"/>
          </a:p>
        </p:txBody>
      </p:sp>
      <p:sp>
        <p:nvSpPr>
          <p:cNvPr id="19" name="Shape 15"/>
          <p:cNvSpPr/>
          <p:nvPr/>
        </p:nvSpPr>
        <p:spPr>
          <a:xfrm>
            <a:off x="4846320" y="2514600"/>
            <a:ext cx="1161288" cy="1005840"/>
          </a:xfrm>
          <a:prstGeom prst="roundRect">
            <a:avLst>
              <a:gd name="adj" fmla="val 7273"/>
            </a:avLst>
          </a:prstGeom>
          <a:solidFill>
            <a:srgbClr val="E3F4F1"/>
          </a:solidFill>
          <a:ln w="9525">
            <a:solidFill>
              <a:srgbClr val="E3F4F1"/>
            </a:solidFill>
            <a:prstDash val="solid"/>
          </a:ln>
        </p:spPr>
      </p:sp>
      <p:pic>
        <p:nvPicPr>
          <p:cNvPr id="20" name="Image 1" descr="preencoded.png">    </p:cNvPr>
          <p:cNvPicPr>
            <a:picLocks noChangeAspect="1"/>
          </p:cNvPicPr>
          <p:nvPr/>
        </p:nvPicPr>
        <p:blipFill>
          <a:blip r:embed="rId2"/>
          <a:stretch>
            <a:fillRect/>
          </a:stretch>
        </p:blipFill>
        <p:spPr>
          <a:xfrm>
            <a:off x="5294376" y="2633472"/>
            <a:ext cx="256032" cy="256032"/>
          </a:xfrm>
          <a:prstGeom prst="rect">
            <a:avLst/>
          </a:prstGeom>
        </p:spPr>
      </p:pic>
      <p:sp>
        <p:nvSpPr>
          <p:cNvPr id="21" name="Text 16"/>
          <p:cNvSpPr txBox="1"/>
          <p:nvPr/>
        </p:nvSpPr>
        <p:spPr>
          <a:xfrm>
            <a:off x="4892040"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Reschedule</a:t>
            </a:r>
            <a:endParaRPr lang="en-US" sz="950" dirty="0"/>
          </a:p>
        </p:txBody>
      </p:sp>
      <p:sp>
        <p:nvSpPr>
          <p:cNvPr id="22" name="Shape 17"/>
          <p:cNvSpPr/>
          <p:nvPr/>
        </p:nvSpPr>
        <p:spPr>
          <a:xfrm>
            <a:off x="6099048" y="2514600"/>
            <a:ext cx="1161288" cy="1005840"/>
          </a:xfrm>
          <a:prstGeom prst="roundRect">
            <a:avLst>
              <a:gd name="adj" fmla="val 7273"/>
            </a:avLst>
          </a:prstGeom>
          <a:solidFill>
            <a:srgbClr val="E3F4F1"/>
          </a:solidFill>
          <a:ln w="9525">
            <a:solidFill>
              <a:srgbClr val="E3F4F1"/>
            </a:solidFill>
            <a:prstDash val="solid"/>
          </a:ln>
        </p:spPr>
      </p:sp>
      <p:pic>
        <p:nvPicPr>
          <p:cNvPr id="23" name="Image 2" descr="preencoded.png">    </p:cNvPr>
          <p:cNvPicPr>
            <a:picLocks noChangeAspect="1"/>
          </p:cNvPicPr>
          <p:nvPr/>
        </p:nvPicPr>
        <p:blipFill>
          <a:blip r:embed="rId3"/>
          <a:stretch>
            <a:fillRect/>
          </a:stretch>
        </p:blipFill>
        <p:spPr>
          <a:xfrm>
            <a:off x="6547104" y="2633472"/>
            <a:ext cx="256032" cy="256032"/>
          </a:xfrm>
          <a:prstGeom prst="rect">
            <a:avLst/>
          </a:prstGeom>
        </p:spPr>
      </p:pic>
      <p:sp>
        <p:nvSpPr>
          <p:cNvPr id="24" name="Text 18"/>
          <p:cNvSpPr txBox="1"/>
          <p:nvPr/>
        </p:nvSpPr>
        <p:spPr>
          <a:xfrm>
            <a:off x="6144768"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Cancel</a:t>
            </a:r>
            <a:endParaRPr lang="en-US" sz="950" dirty="0"/>
          </a:p>
        </p:txBody>
      </p:sp>
      <p:sp>
        <p:nvSpPr>
          <p:cNvPr id="25" name="Shape 19"/>
          <p:cNvSpPr/>
          <p:nvPr/>
        </p:nvSpPr>
        <p:spPr>
          <a:xfrm>
            <a:off x="7351776" y="2514600"/>
            <a:ext cx="1161288" cy="1005840"/>
          </a:xfrm>
          <a:prstGeom prst="roundRect">
            <a:avLst>
              <a:gd name="adj" fmla="val 7273"/>
            </a:avLst>
          </a:prstGeom>
          <a:solidFill>
            <a:srgbClr val="E3F4F1"/>
          </a:solidFill>
          <a:ln w="9525">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799832" y="2633472"/>
            <a:ext cx="256032" cy="256032"/>
          </a:xfrm>
          <a:prstGeom prst="rect">
            <a:avLst/>
          </a:prstGeom>
        </p:spPr>
      </p:pic>
      <p:sp>
        <p:nvSpPr>
          <p:cNvPr id="27" name="Text 20"/>
          <p:cNvSpPr txBox="1"/>
          <p:nvPr/>
        </p:nvSpPr>
        <p:spPr>
          <a:xfrm>
            <a:off x="7397496" y="2971800"/>
            <a:ext cx="1069848" cy="457200"/>
          </a:xfrm>
          <a:prstGeom prst="rect">
            <a:avLst/>
          </a:prstGeom>
          <a:noFill/>
          <a:ln/>
        </p:spPr>
        <p:txBody>
          <a:bodyPr wrap="square" lIns="0" tIns="0" rIns="0" bIns="0" rtlCol="0" anchor="t"/>
          <a:lstStyle/>
          <a:p>
            <a:pPr algn="ctr" indent="0" marL="0">
              <a:buNone/>
            </a:pPr>
            <a:r>
              <a:rPr lang="en-US" sz="950" b="1" dirty="0">
                <a:solidFill>
                  <a:srgbClr val="1D1D1F"/>
                </a:solidFill>
                <a:latin typeface="SF Pro Text" pitchFamily="34" charset="0"/>
                <a:ea typeface="SF Pro Text" pitchFamily="34" charset="-122"/>
                <a:cs typeface="SF Pro Text" pitchFamily="34" charset="-120"/>
              </a:rPr>
              <a:t>Match a new cleaner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  ·  RECEIVES AND PAYS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service issues start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booking finalizes here, and most Service Issues tickets begin here too.</a:t>
            </a:r>
            <a:endParaRPr lang="en-US" sz="1200" dirty="0"/>
          </a:p>
        </p:txBody>
      </p:sp>
      <p:sp>
        <p:nvSpPr>
          <p:cNvPr id="6" name="Shape 3"/>
          <p:cNvSpPr/>
          <p:nvPr/>
        </p:nvSpPr>
        <p:spPr>
          <a:xfrm>
            <a:off x="411480" y="1463040"/>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62763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706636"/>
            <a:ext cx="171176" cy="171176"/>
          </a:xfrm>
          <a:prstGeom prst="rect">
            <a:avLst/>
          </a:prstGeom>
        </p:spPr>
      </p:pic>
      <p:sp>
        <p:nvSpPr>
          <p:cNvPr id="9" name="Text 5"/>
          <p:cNvSpPr txBox="1"/>
          <p:nvPr/>
        </p:nvSpPr>
        <p:spPr>
          <a:xfrm>
            <a:off x="5760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Poor cleaning quality</a:t>
            </a:r>
            <a:endParaRPr lang="en-US" sz="1200" dirty="0"/>
          </a:p>
        </p:txBody>
      </p:sp>
      <p:sp>
        <p:nvSpPr>
          <p:cNvPr id="10" name="Text 6"/>
          <p:cNvSpPr txBox="1"/>
          <p:nvPr/>
        </p:nvSpPr>
        <p:spPr>
          <a:xfrm>
            <a:off x="5760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cleaning didn't meet expectations.</a:t>
            </a:r>
            <a:endParaRPr lang="en-US" sz="950" dirty="0"/>
          </a:p>
        </p:txBody>
      </p:sp>
      <p:sp>
        <p:nvSpPr>
          <p:cNvPr id="11" name="Shape 7"/>
          <p:cNvSpPr/>
          <p:nvPr/>
        </p:nvSpPr>
        <p:spPr>
          <a:xfrm>
            <a:off x="2526030" y="1463040"/>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62763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706636"/>
            <a:ext cx="171176" cy="171176"/>
          </a:xfrm>
          <a:prstGeom prst="rect">
            <a:avLst/>
          </a:prstGeom>
        </p:spPr>
      </p:pic>
      <p:sp>
        <p:nvSpPr>
          <p:cNvPr id="14" name="Text 9"/>
          <p:cNvSpPr txBox="1"/>
          <p:nvPr/>
        </p:nvSpPr>
        <p:spPr>
          <a:xfrm>
            <a:off x="26906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False invoice</a:t>
            </a:r>
            <a:endParaRPr lang="en-US" sz="1200" dirty="0"/>
          </a:p>
        </p:txBody>
      </p:sp>
      <p:sp>
        <p:nvSpPr>
          <p:cNvPr id="15" name="Text 10"/>
          <p:cNvSpPr txBox="1"/>
          <p:nvPr/>
        </p:nvSpPr>
        <p:spPr>
          <a:xfrm>
            <a:off x="26906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Charged when no cleaning happened.</a:t>
            </a:r>
            <a:endParaRPr lang="en-US" sz="950" dirty="0"/>
          </a:p>
        </p:txBody>
      </p:sp>
      <p:sp>
        <p:nvSpPr>
          <p:cNvPr id="16" name="Shape 11"/>
          <p:cNvSpPr/>
          <p:nvPr/>
        </p:nvSpPr>
        <p:spPr>
          <a:xfrm>
            <a:off x="4640580" y="1463040"/>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62763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706636"/>
            <a:ext cx="171176" cy="171176"/>
          </a:xfrm>
          <a:prstGeom prst="rect">
            <a:avLst/>
          </a:prstGeom>
        </p:spPr>
      </p:pic>
      <p:sp>
        <p:nvSpPr>
          <p:cNvPr id="19" name="Text 13"/>
          <p:cNvSpPr txBox="1"/>
          <p:nvPr/>
        </p:nvSpPr>
        <p:spPr>
          <a:xfrm>
            <a:off x="480517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Overcharged hours</a:t>
            </a:r>
            <a:endParaRPr lang="en-US" sz="1200" dirty="0"/>
          </a:p>
        </p:txBody>
      </p:sp>
      <p:sp>
        <p:nvSpPr>
          <p:cNvPr id="20" name="Text 14"/>
          <p:cNvSpPr txBox="1"/>
          <p:nvPr/>
        </p:nvSpPr>
        <p:spPr>
          <a:xfrm>
            <a:off x="480517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Charged for more time than was worked.</a:t>
            </a:r>
            <a:endParaRPr lang="en-US" sz="950" dirty="0"/>
          </a:p>
        </p:txBody>
      </p:sp>
      <p:sp>
        <p:nvSpPr>
          <p:cNvPr id="21" name="Shape 15"/>
          <p:cNvSpPr/>
          <p:nvPr/>
        </p:nvSpPr>
        <p:spPr>
          <a:xfrm>
            <a:off x="6755130" y="1463040"/>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62763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706636"/>
            <a:ext cx="171176" cy="171176"/>
          </a:xfrm>
          <a:prstGeom prst="rect">
            <a:avLst/>
          </a:prstGeom>
        </p:spPr>
      </p:pic>
      <p:sp>
        <p:nvSpPr>
          <p:cNvPr id="24" name="Text 17"/>
          <p:cNvSpPr txBox="1"/>
          <p:nvPr/>
        </p:nvSpPr>
        <p:spPr>
          <a:xfrm>
            <a:off x="6919722" y="206654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Theft / damage</a:t>
            </a:r>
            <a:endParaRPr lang="en-US" sz="1200" dirty="0"/>
          </a:p>
        </p:txBody>
      </p:sp>
      <p:sp>
        <p:nvSpPr>
          <p:cNvPr id="25" name="Text 18"/>
          <p:cNvSpPr txBox="1"/>
          <p:nvPr/>
        </p:nvSpPr>
        <p:spPr>
          <a:xfrm>
            <a:off x="6919722" y="235915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 item missing or damaged after the cleaning.</a:t>
            </a:r>
            <a:endParaRPr lang="en-US" sz="950" dirty="0"/>
          </a:p>
        </p:txBody>
      </p:sp>
      <p:sp>
        <p:nvSpPr>
          <p:cNvPr id="26" name="Shape 19"/>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01568"/>
            <a:ext cx="164592" cy="164592"/>
          </a:xfrm>
          <a:prstGeom prst="rect">
            <a:avLst/>
          </a:prstGeom>
        </p:spPr>
      </p:pic>
      <p:sp>
        <p:nvSpPr>
          <p:cNvPr id="28" name="Text 20"/>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each issue has its own playbook in the Knowledge Library.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Our central hub for customers, cleaners, jobs and payments.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have two CRMs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hub for everything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we manage accounts, talk to users and find what we need to help them.</a:t>
            </a:r>
            <a:endParaRPr lang="en-US" sz="1200" dirty="0"/>
          </a:p>
        </p:txBody>
      </p:sp>
      <p:sp>
        <p:nvSpPr>
          <p:cNvPr id="6" name="Shape 3"/>
          <p:cNvSpPr/>
          <p:nvPr/>
        </p:nvSpPr>
        <p:spPr>
          <a:xfrm>
            <a:off x="411480" y="1371600"/>
            <a:ext cx="2743200" cy="384048"/>
          </a:xfrm>
          <a:prstGeom prst="roundRect">
            <a:avLst>
              <a:gd name="adj" fmla="val 19048"/>
            </a:avLst>
          </a:prstGeom>
          <a:solidFill>
            <a:srgbClr val="FFFFFF"/>
          </a:solidFill>
          <a:ln w="9525">
            <a:solidFill>
              <a:srgbClr val="DCE1E7"/>
            </a:solidFill>
            <a:prstDash val="solid"/>
          </a:ln>
        </p:spPr>
      </p:sp>
      <p:sp>
        <p:nvSpPr>
          <p:cNvPr id="7" name="Shape 4"/>
          <p:cNvSpPr/>
          <p:nvPr/>
        </p:nvSpPr>
        <p:spPr>
          <a:xfrm>
            <a:off x="521208" y="1417320"/>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87546"/>
            <a:ext cx="152156" cy="152156"/>
          </a:xfrm>
          <a:prstGeom prst="rect">
            <a:avLst/>
          </a:prstGeom>
        </p:spPr>
      </p:pic>
      <p:sp>
        <p:nvSpPr>
          <p:cNvPr id="9" name="Text 5"/>
          <p:cNvSpPr txBox="1"/>
          <p:nvPr/>
        </p:nvSpPr>
        <p:spPr>
          <a:xfrm>
            <a:off x="914400" y="13716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Customer &amp; cleaner accounts</a:t>
            </a:r>
            <a:endParaRPr lang="en-US" sz="1050" dirty="0"/>
          </a:p>
        </p:txBody>
      </p:sp>
      <p:sp>
        <p:nvSpPr>
          <p:cNvPr id="10" name="Shape 6"/>
          <p:cNvSpPr/>
          <p:nvPr/>
        </p:nvSpPr>
        <p:spPr>
          <a:xfrm>
            <a:off x="411480" y="1828800"/>
            <a:ext cx="2743200" cy="384048"/>
          </a:xfrm>
          <a:prstGeom prst="roundRect">
            <a:avLst>
              <a:gd name="adj" fmla="val 19048"/>
            </a:avLst>
          </a:prstGeom>
          <a:solidFill>
            <a:srgbClr val="FFFFFF"/>
          </a:solidFill>
          <a:ln w="9525">
            <a:solidFill>
              <a:srgbClr val="DCE1E7"/>
            </a:solidFill>
            <a:prstDash val="solid"/>
          </a:ln>
        </p:spPr>
      </p:sp>
      <p:sp>
        <p:nvSpPr>
          <p:cNvPr id="11" name="Shape 7"/>
          <p:cNvSpPr/>
          <p:nvPr/>
        </p:nvSpPr>
        <p:spPr>
          <a:xfrm>
            <a:off x="521208" y="1874520"/>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1944746"/>
            <a:ext cx="152156" cy="152156"/>
          </a:xfrm>
          <a:prstGeom prst="rect">
            <a:avLst/>
          </a:prstGeom>
        </p:spPr>
      </p:pic>
      <p:sp>
        <p:nvSpPr>
          <p:cNvPr id="13" name="Text 8"/>
          <p:cNvSpPr txBox="1"/>
          <p:nvPr/>
        </p:nvSpPr>
        <p:spPr>
          <a:xfrm>
            <a:off x="914400" y="18288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Jobs</a:t>
            </a:r>
            <a:endParaRPr lang="en-US" sz="1050" dirty="0"/>
          </a:p>
        </p:txBody>
      </p:sp>
      <p:sp>
        <p:nvSpPr>
          <p:cNvPr id="14" name="Shape 9"/>
          <p:cNvSpPr/>
          <p:nvPr/>
        </p:nvSpPr>
        <p:spPr>
          <a:xfrm>
            <a:off x="411480" y="2286000"/>
            <a:ext cx="2743200" cy="384048"/>
          </a:xfrm>
          <a:prstGeom prst="roundRect">
            <a:avLst>
              <a:gd name="adj" fmla="val 19048"/>
            </a:avLst>
          </a:prstGeom>
          <a:solidFill>
            <a:srgbClr val="FFFFFF"/>
          </a:solidFill>
          <a:ln w="9525">
            <a:solidFill>
              <a:srgbClr val="DCE1E7"/>
            </a:solidFill>
            <a:prstDash val="solid"/>
          </a:ln>
        </p:spPr>
      </p:sp>
      <p:sp>
        <p:nvSpPr>
          <p:cNvPr id="15" name="Shape 10"/>
          <p:cNvSpPr/>
          <p:nvPr/>
        </p:nvSpPr>
        <p:spPr>
          <a:xfrm>
            <a:off x="521208" y="233172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401946"/>
            <a:ext cx="152156" cy="152156"/>
          </a:xfrm>
          <a:prstGeom prst="rect">
            <a:avLst/>
          </a:prstGeom>
        </p:spPr>
      </p:pic>
      <p:sp>
        <p:nvSpPr>
          <p:cNvPr id="17" name="Text 11"/>
          <p:cNvSpPr txBox="1"/>
          <p:nvPr/>
        </p:nvSpPr>
        <p:spPr>
          <a:xfrm>
            <a:off x="914400" y="22860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Payments</a:t>
            </a:r>
            <a:endParaRPr lang="en-US" sz="1050" dirty="0"/>
          </a:p>
        </p:txBody>
      </p:sp>
      <p:sp>
        <p:nvSpPr>
          <p:cNvPr id="18" name="Shape 12"/>
          <p:cNvSpPr/>
          <p:nvPr/>
        </p:nvSpPr>
        <p:spPr>
          <a:xfrm>
            <a:off x="411480" y="2743200"/>
            <a:ext cx="2743200" cy="384048"/>
          </a:xfrm>
          <a:prstGeom prst="roundRect">
            <a:avLst>
              <a:gd name="adj" fmla="val 19048"/>
            </a:avLst>
          </a:prstGeom>
          <a:solidFill>
            <a:srgbClr val="FFFFFF"/>
          </a:solidFill>
          <a:ln w="9525">
            <a:solidFill>
              <a:srgbClr val="DCE1E7"/>
            </a:solidFill>
            <a:prstDash val="solid"/>
          </a:ln>
        </p:spPr>
      </p:sp>
      <p:sp>
        <p:nvSpPr>
          <p:cNvPr id="19" name="Shape 13"/>
          <p:cNvSpPr/>
          <p:nvPr/>
        </p:nvSpPr>
        <p:spPr>
          <a:xfrm>
            <a:off x="521208" y="2788920"/>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2859146"/>
            <a:ext cx="152156" cy="152156"/>
          </a:xfrm>
          <a:prstGeom prst="rect">
            <a:avLst/>
          </a:prstGeom>
        </p:spPr>
      </p:pic>
      <p:sp>
        <p:nvSpPr>
          <p:cNvPr id="21" name="Text 14"/>
          <p:cNvSpPr txBox="1"/>
          <p:nvPr/>
        </p:nvSpPr>
        <p:spPr>
          <a:xfrm>
            <a:off x="914400" y="27432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users</a:t>
            </a:r>
            <a:endParaRPr lang="en-US" sz="1050" dirty="0"/>
          </a:p>
        </p:txBody>
      </p:sp>
      <p:sp>
        <p:nvSpPr>
          <p:cNvPr id="22" name="Shape 15"/>
          <p:cNvSpPr/>
          <p:nvPr/>
        </p:nvSpPr>
        <p:spPr>
          <a:xfrm>
            <a:off x="411480" y="3200400"/>
            <a:ext cx="2743200" cy="384048"/>
          </a:xfrm>
          <a:prstGeom prst="roundRect">
            <a:avLst>
              <a:gd name="adj" fmla="val 19048"/>
            </a:avLst>
          </a:prstGeom>
          <a:solidFill>
            <a:srgbClr val="FFFFFF"/>
          </a:solidFill>
          <a:ln w="9525">
            <a:solidFill>
              <a:srgbClr val="DCE1E7"/>
            </a:solidFill>
            <a:prstDash val="solid"/>
          </a:ln>
        </p:spPr>
      </p:sp>
      <p:sp>
        <p:nvSpPr>
          <p:cNvPr id="23" name="Shape 16"/>
          <p:cNvSpPr/>
          <p:nvPr/>
        </p:nvSpPr>
        <p:spPr>
          <a:xfrm>
            <a:off x="521208" y="3246120"/>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316346"/>
            <a:ext cx="152156" cy="152156"/>
          </a:xfrm>
          <a:prstGeom prst="rect">
            <a:avLst/>
          </a:prstGeom>
        </p:spPr>
      </p:pic>
      <p:sp>
        <p:nvSpPr>
          <p:cNvPr id="25" name="Text 17"/>
          <p:cNvSpPr txBox="1"/>
          <p:nvPr/>
        </p:nvSpPr>
        <p:spPr>
          <a:xfrm>
            <a:off x="914400" y="32004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Tickets</a:t>
            </a:r>
            <a:endParaRPr lang="en-US" sz="1050" dirty="0"/>
          </a:p>
        </p:txBody>
      </p:sp>
      <p:sp>
        <p:nvSpPr>
          <p:cNvPr id="26" name="Shape 18"/>
          <p:cNvSpPr/>
          <p:nvPr/>
        </p:nvSpPr>
        <p:spPr>
          <a:xfrm>
            <a:off x="411480" y="3657600"/>
            <a:ext cx="2743200" cy="384048"/>
          </a:xfrm>
          <a:prstGeom prst="roundRect">
            <a:avLst>
              <a:gd name="adj" fmla="val 19048"/>
            </a:avLst>
          </a:prstGeom>
          <a:solidFill>
            <a:srgbClr val="FFFFFF"/>
          </a:solidFill>
          <a:ln w="9525">
            <a:solidFill>
              <a:srgbClr val="DCE1E7"/>
            </a:solidFill>
            <a:prstDash val="solid"/>
          </a:ln>
        </p:spPr>
      </p:sp>
      <p:sp>
        <p:nvSpPr>
          <p:cNvPr id="27" name="Shape 19"/>
          <p:cNvSpPr/>
          <p:nvPr/>
        </p:nvSpPr>
        <p:spPr>
          <a:xfrm>
            <a:off x="521208" y="3703320"/>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591434" y="3773546"/>
            <a:ext cx="152156" cy="152156"/>
          </a:xfrm>
          <a:prstGeom prst="rect">
            <a:avLst/>
          </a:prstGeom>
        </p:spPr>
      </p:pic>
      <p:sp>
        <p:nvSpPr>
          <p:cNvPr id="29" name="Text 20"/>
          <p:cNvSpPr txBox="1"/>
          <p:nvPr/>
        </p:nvSpPr>
        <p:spPr>
          <a:xfrm>
            <a:off x="914400" y="3657600"/>
            <a:ext cx="214884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Daily targets</a:t>
            </a:r>
            <a:endParaRPr lang="en-US" sz="1050" dirty="0"/>
          </a:p>
        </p:txBody>
      </p:sp>
      <p:sp>
        <p:nvSpPr>
          <p:cNvPr id="30" name="Shape 21"/>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31" name="Image 6" descr="/tmp/claude-0/-workspace-training/3ce5cff6-cccf-5f33-b0ee-0b147a55120e/scratchpad/img/legacy.png">    </p:cNvPr>
          <p:cNvPicPr>
            <a:picLocks noChangeAspect="1"/>
          </p:cNvPicPr>
          <p:nvPr/>
        </p:nvPicPr>
        <p:blipFill>
          <a:blip r:embed="rId7"/>
          <a:stretch>
            <a:fillRect/>
          </a:stretch>
        </p:blipFill>
        <p:spPr>
          <a:xfrm>
            <a:off x="3413336" y="1463040"/>
            <a:ext cx="5197688" cy="2496312"/>
          </a:xfrm>
          <a:prstGeom prst="rect">
            <a:avLst/>
          </a:prstGeom>
        </p:spPr>
      </p:pic>
      <p:sp>
        <p:nvSpPr>
          <p:cNvPr id="32" name="Shape 22"/>
          <p:cNvSpPr/>
          <p:nvPr/>
        </p:nvSpPr>
        <p:spPr>
          <a:xfrm>
            <a:off x="3413336" y="1463040"/>
            <a:ext cx="5197688" cy="2496312"/>
          </a:xfrm>
          <a:prstGeom prst="rect">
            <a:avLst/>
          </a:prstGeom>
          <a:ln w="6350">
            <a:solidFill>
              <a:srgbClr val="DCE1E7"/>
            </a:solidFill>
            <a:prstDash val="solid"/>
          </a:ln>
        </p:spPr>
      </p:sp>
      <p:sp>
        <p:nvSpPr>
          <p:cNvPr id="33" name="Text 23"/>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 CRM, preview only. Customer details blurred.</a:t>
            </a:r>
            <a:endParaRPr lang="en-US" sz="800" dirty="0"/>
          </a:p>
        </p:txBody>
      </p:sp>
      <p:sp>
        <p:nvSpPr>
          <p:cNvPr id="34" name="Shape 24"/>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5" name="Image 7" descr="preencoded.png">    </p:cNvPr>
          <p:cNvPicPr>
            <a:picLocks noChangeAspect="1"/>
          </p:cNvPicPr>
          <p:nvPr/>
        </p:nvPicPr>
        <p:blipFill>
          <a:blip r:embed="rId8"/>
          <a:stretch>
            <a:fillRect/>
          </a:stretch>
        </p:blipFill>
        <p:spPr>
          <a:xfrm>
            <a:off x="566928" y="4453128"/>
            <a:ext cx="164592" cy="164592"/>
          </a:xfrm>
          <a:prstGeom prst="rect">
            <a:avLst/>
          </a:prstGeom>
        </p:spPr>
      </p:pic>
      <p:sp>
        <p:nvSpPr>
          <p:cNvPr id="36" name="Text 25"/>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CRMs:  </a:t>
            </a:r>
            <a:pPr indent="0" marL="0">
              <a:buNone/>
            </a:pPr>
            <a:r>
              <a:rPr lang="en-US" sz="1000" dirty="0">
                <a:solidFill>
                  <a:srgbClr val="1D1D1F"/>
                </a:solidFill>
                <a:latin typeface="SF Pro Text" pitchFamily="34" charset="0"/>
                <a:ea typeface="SF Pro Text" pitchFamily="34" charset="-122"/>
                <a:cs typeface="SF Pro Text" pitchFamily="34" charset="-120"/>
              </a:rPr>
              <a:t>we have a Legacy CRM and a New CRM. We start with Legacy.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 details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Jobs and charges</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 and tickets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Daily targets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customers manage their account and bookings.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they can do themselves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customer's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customers manage their account and bookings.</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Book a cleaning</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Alerts about their bookings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Upcoming cleanings</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Past cleanings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settings</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dashboard.png">    </p:cNvPr>
          <p:cNvPicPr>
            <a:picLocks noChangeAspect="1"/>
          </p:cNvPicPr>
          <p:nvPr/>
        </p:nvPicPr>
        <p:blipFill>
          <a:blip r:embed="rId6"/>
          <a:stretch>
            <a:fillRect/>
          </a:stretch>
        </p:blipFill>
        <p:spPr>
          <a:xfrm>
            <a:off x="3474538" y="1463040"/>
            <a:ext cx="5075283" cy="2496312"/>
          </a:xfrm>
          <a:prstGeom prst="rect">
            <a:avLst/>
          </a:prstGeom>
        </p:spPr>
      </p:pic>
      <p:sp>
        <p:nvSpPr>
          <p:cNvPr id="28" name="Shape 19"/>
          <p:cNvSpPr/>
          <p:nvPr/>
        </p:nvSpPr>
        <p:spPr>
          <a:xfrm>
            <a:off x="3474538" y="1463040"/>
            <a:ext cx="507528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 Dashboard, preview only. Customer details blurred.</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customer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The home view</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Upcoming cleanings</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Past cleanings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 settings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New C CRM</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respond to customers today.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New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you still need Legacy</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30.png">    </p:cNvPr>
          <p:cNvPicPr>
            <a:picLocks noChangeAspect="1"/>
          </p:cNvPicPr>
          <p:nvPr/>
        </p:nvPicPr>
        <p:blipFill>
          <a:blip r:embed="rId4"/>
          <a:stretch>
            <a:fillRect/>
          </a:stretch>
        </p:blipFill>
        <p:spPr>
          <a:xfrm>
            <a:off x="5577187" y="1517904"/>
            <a:ext cx="2854234"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respond to customers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reply to a customer goes out from the New C CRM.</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Ticket status and SLA</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Customer information</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Related jobs</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and internal notes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Reply with macros</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newcrm.png">    </p:cNvPr>
          <p:cNvPicPr>
            <a:picLocks noChangeAspect="1"/>
          </p:cNvPicPr>
          <p:nvPr/>
        </p:nvPicPr>
        <p:blipFill>
          <a:blip r:embed="rId6"/>
          <a:stretch>
            <a:fillRect/>
          </a:stretch>
        </p:blipFill>
        <p:spPr>
          <a:xfrm>
            <a:off x="3489893" y="1463040"/>
            <a:ext cx="5044574" cy="2496312"/>
          </a:xfrm>
          <a:prstGeom prst="rect">
            <a:avLst/>
          </a:prstGeom>
        </p:spPr>
      </p:pic>
      <p:sp>
        <p:nvSpPr>
          <p:cNvPr id="28" name="Shape 19"/>
          <p:cNvSpPr/>
          <p:nvPr/>
        </p:nvSpPr>
        <p:spPr>
          <a:xfrm>
            <a:off x="3489893" y="1463040"/>
            <a:ext cx="5044574"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New C CRM, preview only. Customer details blurred.</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Important:  </a:t>
            </a:r>
            <a:pPr indent="0" marL="0">
              <a:buNone/>
            </a:pPr>
            <a:r>
              <a:rPr lang="en-US" sz="1000" dirty="0">
                <a:solidFill>
                  <a:srgbClr val="1D1D1F"/>
                </a:solidFill>
                <a:latin typeface="SF Pro Text" pitchFamily="34" charset="0"/>
                <a:ea typeface="SF Pro Text" pitchFamily="34" charset="-122"/>
                <a:cs typeface="SF Pro Text" pitchFamily="34" charset="-120"/>
              </a:rPr>
              <a:t>some actions can still only be done in the Legacy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CRMs, one workflow</a:t>
            </a:r>
            <a:endParaRPr lang="en-US" sz="2400" dirty="0"/>
          </a:p>
        </p:txBody>
      </p:sp>
      <p:sp>
        <p:nvSpPr>
          <p:cNvPr id="5" name="Shape 2"/>
          <p:cNvSpPr/>
          <p:nvPr/>
        </p:nvSpPr>
        <p:spPr>
          <a:xfrm>
            <a:off x="411480" y="1188720"/>
            <a:ext cx="3749040" cy="2331720"/>
          </a:xfrm>
          <a:prstGeom prst="roundRect">
            <a:avLst>
              <a:gd name="adj" fmla="val 3137"/>
            </a:avLst>
          </a:prstGeom>
          <a:solidFill>
            <a:srgbClr val="FFFFFF"/>
          </a:solidFill>
          <a:ln w="9525">
            <a:solidFill>
              <a:srgbClr val="DCE1E7"/>
            </a:solidFill>
            <a:prstDash val="solid"/>
          </a:ln>
        </p:spPr>
      </p:sp>
      <p:sp>
        <p:nvSpPr>
          <p:cNvPr id="6" name="Shape 3"/>
          <p:cNvSpPr/>
          <p:nvPr/>
        </p:nvSpPr>
        <p:spPr>
          <a:xfrm>
            <a:off x="640080" y="141732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771754" y="1548994"/>
            <a:ext cx="285293" cy="285293"/>
          </a:xfrm>
          <a:prstGeom prst="rect">
            <a:avLst/>
          </a:prstGeom>
        </p:spPr>
      </p:pic>
      <p:sp>
        <p:nvSpPr>
          <p:cNvPr id="8" name="Text 4"/>
          <p:cNvSpPr txBox="1"/>
          <p:nvPr/>
        </p:nvSpPr>
        <p:spPr>
          <a:xfrm>
            <a:off x="640080" y="2148840"/>
            <a:ext cx="329184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9" name="Text 5"/>
          <p:cNvSpPr txBox="1"/>
          <p:nvPr/>
        </p:nvSpPr>
        <p:spPr>
          <a:xfrm>
            <a:off x="640080" y="2377440"/>
            <a:ext cx="3291840" cy="365760"/>
          </a:xfrm>
          <a:prstGeom prst="rect">
            <a:avLst/>
          </a:prstGeom>
          <a:noFill/>
          <a:ln/>
        </p:spPr>
        <p:txBody>
          <a:bodyPr wrap="square" lIns="0" tIns="0" rIns="0" bIns="0" rtlCol="0" anchor="t"/>
          <a:lstStyle/>
          <a:p>
            <a:pPr indent="0" marL="0">
              <a:buNone/>
            </a:pPr>
            <a:r>
              <a:rPr lang="en-US" sz="1600" b="1" dirty="0">
                <a:solidFill>
                  <a:srgbClr val="1D1D1F"/>
                </a:solidFill>
                <a:latin typeface="SF Pro Display" pitchFamily="34" charset="0"/>
                <a:ea typeface="SF Pro Display" pitchFamily="34" charset="-122"/>
                <a:cs typeface="SF Pro Display" pitchFamily="34" charset="-120"/>
              </a:rPr>
              <a:t>Respond to customers</a:t>
            </a:r>
            <a:endParaRPr lang="en-US" sz="1600" dirty="0"/>
          </a:p>
        </p:txBody>
      </p:sp>
      <p:sp>
        <p:nvSpPr>
          <p:cNvPr id="10" name="Text 6"/>
          <p:cNvSpPr txBox="1"/>
          <p:nvPr/>
        </p:nvSpPr>
        <p:spPr>
          <a:xfrm>
            <a:off x="640080" y="2788920"/>
            <a:ext cx="3291840" cy="54864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Every reply to a customer goes out from here.</a:t>
            </a:r>
            <a:endParaRPr lang="en-US" sz="1050" dirty="0"/>
          </a:p>
        </p:txBody>
      </p:sp>
      <p:pic>
        <p:nvPicPr>
          <p:cNvPr id="11" name="Image 1" descr="preencoded.png">    </p:cNvPr>
          <p:cNvPicPr>
            <a:picLocks noChangeAspect="1"/>
          </p:cNvPicPr>
          <p:nvPr/>
        </p:nvPicPr>
        <p:blipFill>
          <a:blip r:embed="rId2"/>
          <a:stretch>
            <a:fillRect/>
          </a:stretch>
        </p:blipFill>
        <p:spPr>
          <a:xfrm>
            <a:off x="4389120" y="2194560"/>
            <a:ext cx="365760" cy="365760"/>
          </a:xfrm>
          <a:prstGeom prst="rect">
            <a:avLst/>
          </a:prstGeom>
        </p:spPr>
      </p:pic>
      <p:sp>
        <p:nvSpPr>
          <p:cNvPr id="12" name="Shape 7"/>
          <p:cNvSpPr/>
          <p:nvPr/>
        </p:nvSpPr>
        <p:spPr>
          <a:xfrm>
            <a:off x="4983480" y="1188720"/>
            <a:ext cx="3749040" cy="2331720"/>
          </a:xfrm>
          <a:prstGeom prst="roundRect">
            <a:avLst>
              <a:gd name="adj" fmla="val 3137"/>
            </a:avLst>
          </a:prstGeom>
          <a:solidFill>
            <a:srgbClr val="FFFFFF"/>
          </a:solidFill>
          <a:ln w="9525">
            <a:solidFill>
              <a:srgbClr val="DCE1E7"/>
            </a:solidFill>
            <a:prstDash val="solid"/>
          </a:ln>
        </p:spPr>
      </p:sp>
      <p:sp>
        <p:nvSpPr>
          <p:cNvPr id="13" name="Shape 8"/>
          <p:cNvSpPr/>
          <p:nvPr/>
        </p:nvSpPr>
        <p:spPr>
          <a:xfrm>
            <a:off x="5212080" y="141732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5343754" y="1548994"/>
            <a:ext cx="285293" cy="285293"/>
          </a:xfrm>
          <a:prstGeom prst="rect">
            <a:avLst/>
          </a:prstGeom>
        </p:spPr>
      </p:pic>
      <p:sp>
        <p:nvSpPr>
          <p:cNvPr id="15" name="Text 9"/>
          <p:cNvSpPr txBox="1"/>
          <p:nvPr/>
        </p:nvSpPr>
        <p:spPr>
          <a:xfrm>
            <a:off x="5212080" y="2148840"/>
            <a:ext cx="329184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 CRM</a:t>
            </a:r>
            <a:endParaRPr lang="en-US" sz="800" dirty="0"/>
          </a:p>
        </p:txBody>
      </p:sp>
      <p:sp>
        <p:nvSpPr>
          <p:cNvPr id="16" name="Text 10"/>
          <p:cNvSpPr txBox="1"/>
          <p:nvPr/>
        </p:nvSpPr>
        <p:spPr>
          <a:xfrm>
            <a:off x="5212080" y="2377440"/>
            <a:ext cx="3291840" cy="365760"/>
          </a:xfrm>
          <a:prstGeom prst="rect">
            <a:avLst/>
          </a:prstGeom>
          <a:noFill/>
          <a:ln/>
        </p:spPr>
        <p:txBody>
          <a:bodyPr wrap="square" lIns="0" tIns="0" rIns="0" bIns="0" rtlCol="0" anchor="t"/>
          <a:lstStyle/>
          <a:p>
            <a:pPr indent="0" marL="0">
              <a:buNone/>
            </a:pPr>
            <a:r>
              <a:rPr lang="en-US" sz="1600" b="1" dirty="0">
                <a:solidFill>
                  <a:srgbClr val="1D1D1F"/>
                </a:solidFill>
                <a:latin typeface="SF Pro Display" pitchFamily="34" charset="0"/>
                <a:ea typeface="SF Pro Display" pitchFamily="34" charset="-122"/>
                <a:cs typeface="SF Pro Display" pitchFamily="34" charset="-120"/>
              </a:rPr>
              <a:t>Some actions still live here</a:t>
            </a:r>
            <a:endParaRPr lang="en-US" sz="1600" dirty="0"/>
          </a:p>
        </p:txBody>
      </p:sp>
      <p:sp>
        <p:nvSpPr>
          <p:cNvPr id="17" name="Text 11"/>
          <p:cNvSpPr txBox="1"/>
          <p:nvPr/>
        </p:nvSpPr>
        <p:spPr>
          <a:xfrm>
            <a:off x="5212080" y="2788920"/>
            <a:ext cx="3291840" cy="54864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Use it for actions the New CRM can't do yet.</a:t>
            </a:r>
            <a:endParaRPr lang="en-US" sz="1050" dirty="0"/>
          </a:p>
        </p:txBody>
      </p:sp>
      <p:sp>
        <p:nvSpPr>
          <p:cNvPr id="18" name="Shape 12"/>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9"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0" name="Text 13"/>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Important:  </a:t>
            </a:r>
            <a:pPr indent="0" marL="0">
              <a:buNone/>
            </a:pPr>
            <a:r>
              <a:rPr lang="en-US" sz="1000" dirty="0">
                <a:solidFill>
                  <a:srgbClr val="1D1D1F"/>
                </a:solidFill>
                <a:latin typeface="SF Pro Text" pitchFamily="34" charset="0"/>
                <a:ea typeface="SF Pro Text" pitchFamily="34" charset="-122"/>
                <a:cs typeface="SF Pro Text" pitchFamily="34" charset="-120"/>
              </a:rPr>
              <a:t>reply in the New CRM. Switch to Legacy only for actions the New CRM can't do yet.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NEW C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New C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Ticket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Customer info</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Replying to customers</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What still needs Legacy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CRM Activity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Put what you saw into practice.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 in the live CRM</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real scenarios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Ask questions as you go</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ill12.png">    </p:cNvPr>
          <p:cNvPicPr>
            <a:picLocks noChangeAspect="1"/>
          </p:cNvPicPr>
          <p:nvPr/>
        </p:nvPicPr>
        <p:blipFill>
          <a:blip r:embed="rId4"/>
          <a:stretch>
            <a:fillRect/>
          </a:stretch>
        </p:blipFill>
        <p:spPr>
          <a:xfrm>
            <a:off x="5637276" y="1517904"/>
            <a:ext cx="2734056"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CRM ACTIVITY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Activity setup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 trainer will set the activity for this cohort.</a:t>
            </a:r>
            <a:endParaRPr lang="en-US" sz="1200" dirty="0"/>
          </a:p>
        </p:txBody>
      </p:sp>
      <p:sp>
        <p:nvSpPr>
          <p:cNvPr id="6" name="Shape 3"/>
          <p:cNvSpPr/>
          <p:nvPr/>
        </p:nvSpPr>
        <p:spPr>
          <a:xfrm>
            <a:off x="411480" y="1371600"/>
            <a:ext cx="2682240" cy="2514600"/>
          </a:xfrm>
          <a:prstGeom prst="roundRect">
            <a:avLst>
              <a:gd name="adj" fmla="val 2909"/>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5943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Format</a:t>
            </a:r>
            <a:endParaRPr lang="en-US" sz="1300" dirty="0"/>
          </a:p>
        </p:txBody>
      </p:sp>
      <p:sp>
        <p:nvSpPr>
          <p:cNvPr id="10" name="Text 6"/>
          <p:cNvSpPr txBox="1"/>
          <p:nvPr/>
        </p:nvSpPr>
        <p:spPr>
          <a:xfrm>
            <a:off x="5943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Solo, pairs or groups</a:t>
            </a:r>
            <a:endParaRPr lang="en-US" sz="950" dirty="0"/>
          </a:p>
        </p:txBody>
      </p:sp>
      <p:sp>
        <p:nvSpPr>
          <p:cNvPr id="11" name="Shape 7"/>
          <p:cNvSpPr/>
          <p:nvPr/>
        </p:nvSpPr>
        <p:spPr>
          <a:xfrm>
            <a:off x="594360" y="2697480"/>
            <a:ext cx="2316480" cy="1005840"/>
          </a:xfrm>
          <a:prstGeom prst="roundRect">
            <a:avLst>
              <a:gd name="adj" fmla="val 7273"/>
            </a:avLst>
          </a:prstGeom>
          <a:solidFill>
            <a:srgbClr val="F6F7F9"/>
          </a:solidFill>
          <a:ln w="9525">
            <a:solidFill>
              <a:srgbClr val="DCE1E7"/>
            </a:solidFill>
            <a:prstDash val="solid"/>
          </a:ln>
        </p:spPr>
      </p:sp>
      <p:sp>
        <p:nvSpPr>
          <p:cNvPr id="12" name="Text 8"/>
          <p:cNvSpPr txBox="1"/>
          <p:nvPr/>
        </p:nvSpPr>
        <p:spPr>
          <a:xfrm>
            <a:off x="7040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13" name="Shape 9"/>
          <p:cNvSpPr/>
          <p:nvPr/>
        </p:nvSpPr>
        <p:spPr>
          <a:xfrm>
            <a:off x="3230880" y="1371600"/>
            <a:ext cx="2682240" cy="2514600"/>
          </a:xfrm>
          <a:prstGeom prst="roundRect">
            <a:avLst>
              <a:gd name="adj" fmla="val 2909"/>
            </a:avLst>
          </a:prstGeom>
          <a:solidFill>
            <a:srgbClr val="FFFFFF"/>
          </a:solidFill>
          <a:ln w="9525">
            <a:solidFill>
              <a:srgbClr val="DCE1E7"/>
            </a:solidFill>
            <a:prstDash val="solid"/>
          </a:ln>
        </p:spPr>
      </p:sp>
      <p:sp>
        <p:nvSpPr>
          <p:cNvPr id="14" name="Shape 10"/>
          <p:cNvSpPr/>
          <p:nvPr/>
        </p:nvSpPr>
        <p:spPr>
          <a:xfrm>
            <a:off x="3413760" y="1554480"/>
            <a:ext cx="384048" cy="384048"/>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505932" y="1646652"/>
            <a:ext cx="199705" cy="199705"/>
          </a:xfrm>
          <a:prstGeom prst="rect">
            <a:avLst/>
          </a:prstGeom>
        </p:spPr>
      </p:pic>
      <p:sp>
        <p:nvSpPr>
          <p:cNvPr id="16" name="Text 11"/>
          <p:cNvSpPr txBox="1"/>
          <p:nvPr/>
        </p:nvSpPr>
        <p:spPr>
          <a:xfrm>
            <a:off x="34137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Scenarios</a:t>
            </a:r>
            <a:endParaRPr lang="en-US" sz="1300" dirty="0"/>
          </a:p>
        </p:txBody>
      </p:sp>
      <p:sp>
        <p:nvSpPr>
          <p:cNvPr id="17" name="Text 12"/>
          <p:cNvSpPr txBox="1"/>
          <p:nvPr/>
        </p:nvSpPr>
        <p:spPr>
          <a:xfrm>
            <a:off x="34137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cases to work</a:t>
            </a:r>
            <a:endParaRPr lang="en-US" sz="950" dirty="0"/>
          </a:p>
        </p:txBody>
      </p:sp>
      <p:sp>
        <p:nvSpPr>
          <p:cNvPr id="18" name="Shape 13"/>
          <p:cNvSpPr/>
          <p:nvPr/>
        </p:nvSpPr>
        <p:spPr>
          <a:xfrm>
            <a:off x="3413760" y="2697480"/>
            <a:ext cx="2316480" cy="1005840"/>
          </a:xfrm>
          <a:prstGeom prst="roundRect">
            <a:avLst>
              <a:gd name="adj" fmla="val 7273"/>
            </a:avLst>
          </a:prstGeom>
          <a:solidFill>
            <a:srgbClr val="F6F7F9"/>
          </a:solidFill>
          <a:ln w="9525">
            <a:solidFill>
              <a:srgbClr val="DCE1E7"/>
            </a:solidFill>
            <a:prstDash val="solid"/>
          </a:ln>
        </p:spPr>
      </p:sp>
      <p:sp>
        <p:nvSpPr>
          <p:cNvPr id="19" name="Text 14"/>
          <p:cNvSpPr txBox="1"/>
          <p:nvPr/>
        </p:nvSpPr>
        <p:spPr>
          <a:xfrm>
            <a:off x="35234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20" name="Shape 15"/>
          <p:cNvSpPr/>
          <p:nvPr/>
        </p:nvSpPr>
        <p:spPr>
          <a:xfrm>
            <a:off x="6050280" y="1371600"/>
            <a:ext cx="2682240" cy="2514600"/>
          </a:xfrm>
          <a:prstGeom prst="roundRect">
            <a:avLst>
              <a:gd name="adj" fmla="val 2909"/>
            </a:avLst>
          </a:prstGeom>
          <a:solidFill>
            <a:srgbClr val="FFFFFF"/>
          </a:solidFill>
          <a:ln w="9525">
            <a:solidFill>
              <a:srgbClr val="DCE1E7"/>
            </a:solidFill>
            <a:prstDash val="solid"/>
          </a:ln>
        </p:spPr>
      </p:sp>
      <p:sp>
        <p:nvSpPr>
          <p:cNvPr id="21" name="Shape 16"/>
          <p:cNvSpPr/>
          <p:nvPr/>
        </p:nvSpPr>
        <p:spPr>
          <a:xfrm>
            <a:off x="6233160" y="1554480"/>
            <a:ext cx="384048" cy="38404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6325332" y="1646652"/>
            <a:ext cx="199705" cy="199705"/>
          </a:xfrm>
          <a:prstGeom prst="rect">
            <a:avLst/>
          </a:prstGeom>
        </p:spPr>
      </p:pic>
      <p:sp>
        <p:nvSpPr>
          <p:cNvPr id="23" name="Text 17"/>
          <p:cNvSpPr txBox="1"/>
          <p:nvPr/>
        </p:nvSpPr>
        <p:spPr>
          <a:xfrm>
            <a:off x="6233160" y="2057400"/>
            <a:ext cx="2316480" cy="274320"/>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Difficulty</a:t>
            </a:r>
            <a:endParaRPr lang="en-US" sz="1300" dirty="0"/>
          </a:p>
        </p:txBody>
      </p:sp>
      <p:sp>
        <p:nvSpPr>
          <p:cNvPr id="24" name="Text 18"/>
          <p:cNvSpPr txBox="1"/>
          <p:nvPr/>
        </p:nvSpPr>
        <p:spPr>
          <a:xfrm>
            <a:off x="6233160" y="2350008"/>
            <a:ext cx="2316480" cy="22860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readiness</a:t>
            </a:r>
            <a:endParaRPr lang="en-US" sz="950" dirty="0"/>
          </a:p>
        </p:txBody>
      </p:sp>
      <p:sp>
        <p:nvSpPr>
          <p:cNvPr id="25" name="Shape 19"/>
          <p:cNvSpPr/>
          <p:nvPr/>
        </p:nvSpPr>
        <p:spPr>
          <a:xfrm>
            <a:off x="6233160" y="2697480"/>
            <a:ext cx="2316480" cy="1005840"/>
          </a:xfrm>
          <a:prstGeom prst="roundRect">
            <a:avLst>
              <a:gd name="adj" fmla="val 7273"/>
            </a:avLst>
          </a:prstGeom>
          <a:solidFill>
            <a:srgbClr val="F6F7F9"/>
          </a:solidFill>
          <a:ln w="9525">
            <a:solidFill>
              <a:srgbClr val="DCE1E7"/>
            </a:solidFill>
            <a:prstDash val="solid"/>
          </a:ln>
        </p:spPr>
      </p:sp>
      <p:sp>
        <p:nvSpPr>
          <p:cNvPr id="26" name="Text 20"/>
          <p:cNvSpPr txBox="1"/>
          <p:nvPr/>
        </p:nvSpPr>
        <p:spPr>
          <a:xfrm>
            <a:off x="6342888" y="2697480"/>
            <a:ext cx="2097024" cy="1005840"/>
          </a:xfrm>
          <a:prstGeom prst="rect">
            <a:avLst/>
          </a:prstGeom>
          <a:noFill/>
          <a:ln/>
        </p:spPr>
        <p:txBody>
          <a:bodyPr wrap="square" lIns="0" tIns="0" rIns="0" bIns="0" rtlCol="0" anchor="ctr"/>
          <a:lstStyle/>
          <a:p>
            <a:pPr indent="0" marL="0">
              <a:buNone/>
            </a:pPr>
            <a:r>
              <a:rPr lang="en-US" sz="950" i="1" dirty="0">
                <a:solidFill>
                  <a:srgbClr val="6E6E73"/>
                </a:solidFill>
                <a:latin typeface="SF Pro Text" pitchFamily="34" charset="0"/>
                <a:ea typeface="SF Pro Text" pitchFamily="34" charset="-122"/>
                <a:cs typeface="SF Pro Text" pitchFamily="34" charset="-120"/>
              </a:rPr>
              <a:t>Click to add</a:t>
            </a:r>
            <a:endParaRPr lang="en-US" sz="950" dirty="0"/>
          </a:p>
        </p:txBody>
      </p:sp>
      <p:sp>
        <p:nvSpPr>
          <p:cNvPr id="27" name="Shape 21"/>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28" name="Image 3" descr="preencoded.png">    </p:cNvPr>
          <p:cNvPicPr>
            <a:picLocks noChangeAspect="1"/>
          </p:cNvPicPr>
          <p:nvPr/>
        </p:nvPicPr>
        <p:blipFill>
          <a:blip r:embed="rId4"/>
          <a:stretch>
            <a:fillRect/>
          </a:stretch>
        </p:blipFill>
        <p:spPr>
          <a:xfrm>
            <a:off x="566928" y="4178808"/>
            <a:ext cx="164592" cy="164592"/>
          </a:xfrm>
          <a:prstGeom prst="rect">
            <a:avLst/>
          </a:prstGeom>
        </p:spPr>
      </p:pic>
      <p:sp>
        <p:nvSpPr>
          <p:cNvPr id="29" name="Text 22"/>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trainer decides the format, scenarios and difficulty based on trainee readiness.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Foundations &amp; the C CRM</dc:title>
  <dc:subject>PptxGenJS Presentation</dc:subject>
  <dc:creator>PptxGenJS</dc:creator>
  <cp:lastModifiedBy>PptxGenJS</cp:lastModifiedBy>
  <cp:revision>1</cp:revision>
  <dcterms:created xsi:type="dcterms:W3CDTF">2026-10-01T14:07:00Z</dcterms:created>
  <dcterms:modified xsi:type="dcterms:W3CDTF">2026-10-01T14:07:00Z</dcterms:modified>
</cp:coreProperties>
</file>