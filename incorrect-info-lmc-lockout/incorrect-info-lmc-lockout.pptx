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(type the ticket ID on the slide, or share your screen). Give trainees a few minutes to investigate on their own, then walk through it together using the four prompts: 1) What was said? Find the exact words the customer says they were told, and by whom (Sales, an agent, the website). 2) Promise or estimate? "At $23/hour" is a guarantee; "around" or "starting at" is an estimate. Was a fee simply never mentioned, or was a specific total promised? 3) Verify: would this need a Sales call review? Walk through the request, the internal note with the escalation link, and setting the status to Waiting on CSQ. 4) What's the fix? If verified: refund the gap, own the error, correct it, one light offer; declined or not retainable: waive the ETF and cancel the FC. Which macro?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 a live ticket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 trainer shares a real ticket. Work it through the process.</a:t>
            </a:r>
            <a:endParaRPr lang="en-US" sz="1200" dirty="0"/>
          </a:p>
        </p:txBody>
      </p:sp>
      <p:sp>
        <p:nvSpPr>
          <p:cNvPr id="6" name="Shape 3"/>
          <p:cNvSpPr/>
          <p:nvPr/>
        </p:nvSpPr>
        <p:spPr>
          <a:xfrm>
            <a:off x="411480" y="1298448"/>
            <a:ext cx="2743200" cy="1691640"/>
          </a:xfrm>
          <a:prstGeom prst="roundRect">
            <a:avLst>
              <a:gd name="adj" fmla="val 4324"/>
            </a:avLst>
          </a:prstGeom>
          <a:solidFill>
            <a:srgbClr val="E3F4F1"/>
          </a:solidFill>
          <a:ln w="15875">
            <a:solidFill>
              <a:srgbClr val="0B7A6F"/>
            </a:solidFill>
            <a:prstDash val="dash"/>
          </a:ln>
        </p:spPr>
      </p:sp>
      <p:sp>
        <p:nvSpPr>
          <p:cNvPr id="7" name="Shape 4"/>
          <p:cNvSpPr/>
          <p:nvPr/>
        </p:nvSpPr>
        <p:spPr>
          <a:xfrm>
            <a:off x="594360" y="1481328"/>
            <a:ext cx="384048" cy="384048"/>
          </a:xfrm>
          <a:prstGeom prst="ellipse">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1097280" y="1481328"/>
            <a:ext cx="1920240" cy="384048"/>
          </a:xfrm>
          <a:prstGeom prst="rect">
            <a:avLst/>
          </a:prstGeom>
          <a:noFill/>
          <a:ln/>
        </p:spPr>
        <p:txBody>
          <a:bodyPr wrap="square" lIns="0" tIns="0" rIns="0" bIns="0" rtlCol="0" anchor="ctr"/>
          <a:lstStyle/>
          <a:p>
            <a:pPr indent="0" marL="0">
              <a:buNone/>
            </a:pPr>
            <a:r>
              <a:rPr lang="en-US" sz="1300" b="1" dirty="0">
                <a:solidFill>
                  <a:srgbClr val="0B7A6F"/>
                </a:solidFill>
                <a:latin typeface="SF Pro Display" pitchFamily="34" charset="0"/>
                <a:ea typeface="SF Pro Display" pitchFamily="34" charset="-122"/>
                <a:cs typeface="SF Pro Display" pitchFamily="34" charset="-120"/>
              </a:rPr>
              <a:t>Today's ticket</a:t>
            </a:r>
            <a:endParaRPr lang="en-US" sz="1300" dirty="0"/>
          </a:p>
        </p:txBody>
      </p:sp>
      <p:sp>
        <p:nvSpPr>
          <p:cNvPr id="10" name="Text 6"/>
          <p:cNvSpPr txBox="1"/>
          <p:nvPr/>
        </p:nvSpPr>
        <p:spPr>
          <a:xfrm>
            <a:off x="594360" y="2075688"/>
            <a:ext cx="2377440" cy="731520"/>
          </a:xfrm>
          <a:prstGeom prst="rect">
            <a:avLst/>
          </a:prstGeom>
          <a:noFill/>
          <a:ln/>
        </p:spPr>
        <p:txBody>
          <a:bodyPr wrap="square" lIns="0" tIns="0" rIns="0" bIns="0" rtlCol="0" anchor="t"/>
          <a:lstStyle/>
          <a:p>
            <a:pPr indent="0" marL="0">
              <a:spcAft>
                <a:spcPts val="600"/>
              </a:spcAft>
              <a:buNone/>
            </a:pPr>
            <a:r>
              <a:rPr lang="en-US" sz="1100" b="1" dirty="0">
                <a:solidFill>
                  <a:srgbClr val="1D1D1F"/>
                </a:solidFill>
                <a:latin typeface="SF Pro Text" pitchFamily="34" charset="0"/>
                <a:ea typeface="SF Pro Text" pitchFamily="34" charset="-122"/>
                <a:cs typeface="SF Pro Text" pitchFamily="34" charset="-120"/>
              </a:rPr>
              <a:t>Ticket ID:  </a:t>
            </a:r>
            <a:pPr indent="0" marL="0">
              <a:spcAft>
                <a:spcPts val="600"/>
              </a:spcAft>
              <a:buNone/>
            </a:pPr>
            <a:r>
              <a:rPr lang="en-US" sz="1100" dirty="0">
                <a:solidFill>
                  <a:srgbClr val="6E6E73"/>
                </a:solidFill>
                <a:latin typeface="SF Pro Text" pitchFamily="34" charset="0"/>
                <a:ea typeface="SF Pro Text" pitchFamily="34" charset="-122"/>
                <a:cs typeface="SF Pro Text" pitchFamily="34" charset="-120"/>
              </a:rPr>
              <a:t>__________</a:t>
            </a:r>
            <a:endParaRPr lang="en-US" sz="1100" dirty="0"/>
          </a:p>
          <a:p>
            <a:pPr indent="0" marL="0">
              <a:spcAft>
                <a:spcPts val="600"/>
              </a:spcAft>
              <a:buNone/>
            </a:pPr>
            <a:r>
              <a:rPr lang="en-US" sz="900" i="1" dirty="0">
                <a:solidFill>
                  <a:srgbClr val="6E6E73"/>
                </a:solidFill>
                <a:latin typeface="SF Pro Text" pitchFamily="34" charset="0"/>
                <a:ea typeface="SF Pro Text" pitchFamily="34" charset="-122"/>
                <a:cs typeface="SF Pro Text" pitchFamily="34" charset="-120"/>
              </a:rPr>
              <a:t>Provided by your trainer</a:t>
            </a:r>
            <a:endParaRPr lang="en-US" sz="1100" dirty="0"/>
          </a:p>
        </p:txBody>
      </p:sp>
      <p:sp>
        <p:nvSpPr>
          <p:cNvPr id="11" name="Shape 7"/>
          <p:cNvSpPr/>
          <p:nvPr/>
        </p:nvSpPr>
        <p:spPr>
          <a:xfrm>
            <a:off x="3291840" y="1298448"/>
            <a:ext cx="2651760" cy="777240"/>
          </a:xfrm>
          <a:prstGeom prst="roundRect">
            <a:avLst>
              <a:gd name="adj" fmla="val 9412"/>
            </a:avLst>
          </a:prstGeom>
          <a:solidFill>
            <a:srgbClr val="FFFFFF"/>
          </a:solidFill>
          <a:ln w="9525">
            <a:solidFill>
              <a:srgbClr val="DCE1E7"/>
            </a:solidFill>
            <a:prstDash val="solid"/>
          </a:ln>
        </p:spPr>
      </p:sp>
      <p:sp>
        <p:nvSpPr>
          <p:cNvPr id="12" name="Shape 8"/>
          <p:cNvSpPr/>
          <p:nvPr/>
        </p:nvSpPr>
        <p:spPr>
          <a:xfrm>
            <a:off x="3429000" y="1435608"/>
            <a:ext cx="274320" cy="274320"/>
          </a:xfrm>
          <a:prstGeom prst="ellipse">
            <a:avLst/>
          </a:prstGeom>
          <a:solidFill>
            <a:srgbClr val="E3F4F1"/>
          </a:solidFill>
          <a:ln w="12700">
            <a:solidFill>
              <a:srgbClr val="E3F4F1"/>
            </a:solidFill>
            <a:prstDash val="solid"/>
          </a:ln>
        </p:spPr>
      </p:sp>
      <p:sp>
        <p:nvSpPr>
          <p:cNvPr id="13" name="Text 9"/>
          <p:cNvSpPr txBox="1"/>
          <p:nvPr/>
        </p:nvSpPr>
        <p:spPr>
          <a:xfrm>
            <a:off x="3429000"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3794760" y="1408176"/>
            <a:ext cx="2011680" cy="292608"/>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What was said?</a:t>
            </a:r>
            <a:endParaRPr lang="en-US" sz="1150" dirty="0"/>
          </a:p>
        </p:txBody>
      </p:sp>
      <p:sp>
        <p:nvSpPr>
          <p:cNvPr id="15" name="Text 11"/>
          <p:cNvSpPr txBox="1"/>
          <p:nvPr/>
        </p:nvSpPr>
        <p:spPr>
          <a:xfrm>
            <a:off x="3794760" y="1719072"/>
            <a:ext cx="2011680" cy="301752"/>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Find the exact words, and who said them.</a:t>
            </a:r>
            <a:endParaRPr lang="en-US" sz="950" dirty="0"/>
          </a:p>
        </p:txBody>
      </p:sp>
      <p:sp>
        <p:nvSpPr>
          <p:cNvPr id="16" name="Shape 12"/>
          <p:cNvSpPr/>
          <p:nvPr/>
        </p:nvSpPr>
        <p:spPr>
          <a:xfrm>
            <a:off x="6080760" y="1298448"/>
            <a:ext cx="2651760" cy="777240"/>
          </a:xfrm>
          <a:prstGeom prst="roundRect">
            <a:avLst>
              <a:gd name="adj" fmla="val 9412"/>
            </a:avLst>
          </a:prstGeom>
          <a:solidFill>
            <a:srgbClr val="FFFFFF"/>
          </a:solidFill>
          <a:ln w="9525">
            <a:solidFill>
              <a:srgbClr val="DCE1E7"/>
            </a:solidFill>
            <a:prstDash val="solid"/>
          </a:ln>
        </p:spPr>
      </p:sp>
      <p:sp>
        <p:nvSpPr>
          <p:cNvPr id="17" name="Shape 13"/>
          <p:cNvSpPr/>
          <p:nvPr/>
        </p:nvSpPr>
        <p:spPr>
          <a:xfrm>
            <a:off x="6217920" y="1435608"/>
            <a:ext cx="274320" cy="274320"/>
          </a:xfrm>
          <a:prstGeom prst="ellipse">
            <a:avLst/>
          </a:prstGeom>
          <a:solidFill>
            <a:srgbClr val="E3F4F1"/>
          </a:solidFill>
          <a:ln w="12700">
            <a:solidFill>
              <a:srgbClr val="E3F4F1"/>
            </a:solidFill>
            <a:prstDash val="solid"/>
          </a:ln>
        </p:spPr>
      </p:sp>
      <p:sp>
        <p:nvSpPr>
          <p:cNvPr id="18" name="Text 14"/>
          <p:cNvSpPr txBox="1"/>
          <p:nvPr/>
        </p:nvSpPr>
        <p:spPr>
          <a:xfrm>
            <a:off x="6217920"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9" name="Text 15"/>
          <p:cNvSpPr txBox="1"/>
          <p:nvPr/>
        </p:nvSpPr>
        <p:spPr>
          <a:xfrm>
            <a:off x="6583680" y="1408176"/>
            <a:ext cx="2011680" cy="292608"/>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Promise or estimate?</a:t>
            </a:r>
            <a:endParaRPr lang="en-US" sz="1150" dirty="0"/>
          </a:p>
        </p:txBody>
      </p:sp>
      <p:sp>
        <p:nvSpPr>
          <p:cNvPr id="20" name="Text 16"/>
          <p:cNvSpPr txBox="1"/>
          <p:nvPr/>
        </p:nvSpPr>
        <p:spPr>
          <a:xfrm>
            <a:off x="6583680" y="1719072"/>
            <a:ext cx="2011680" cy="301752"/>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is a guarantee. "Around" is an estimate.</a:t>
            </a:r>
            <a:endParaRPr lang="en-US" sz="950" dirty="0"/>
          </a:p>
        </p:txBody>
      </p:sp>
      <p:sp>
        <p:nvSpPr>
          <p:cNvPr id="21" name="Shape 17"/>
          <p:cNvSpPr/>
          <p:nvPr/>
        </p:nvSpPr>
        <p:spPr>
          <a:xfrm>
            <a:off x="3291840" y="2212848"/>
            <a:ext cx="2651760" cy="777240"/>
          </a:xfrm>
          <a:prstGeom prst="roundRect">
            <a:avLst>
              <a:gd name="adj" fmla="val 9412"/>
            </a:avLst>
          </a:prstGeom>
          <a:solidFill>
            <a:srgbClr val="FFFFFF"/>
          </a:solidFill>
          <a:ln w="9525">
            <a:solidFill>
              <a:srgbClr val="DCE1E7"/>
            </a:solidFill>
            <a:prstDash val="solid"/>
          </a:ln>
        </p:spPr>
      </p:sp>
      <p:sp>
        <p:nvSpPr>
          <p:cNvPr id="22" name="Shape 18"/>
          <p:cNvSpPr/>
          <p:nvPr/>
        </p:nvSpPr>
        <p:spPr>
          <a:xfrm>
            <a:off x="3429000" y="2350008"/>
            <a:ext cx="274320" cy="274320"/>
          </a:xfrm>
          <a:prstGeom prst="ellipse">
            <a:avLst/>
          </a:prstGeom>
          <a:solidFill>
            <a:srgbClr val="E3F4F1"/>
          </a:solidFill>
          <a:ln w="12700">
            <a:solidFill>
              <a:srgbClr val="E3F4F1"/>
            </a:solidFill>
            <a:prstDash val="solid"/>
          </a:ln>
        </p:spPr>
      </p:sp>
      <p:sp>
        <p:nvSpPr>
          <p:cNvPr id="23" name="Text 19"/>
          <p:cNvSpPr txBox="1"/>
          <p:nvPr/>
        </p:nvSpPr>
        <p:spPr>
          <a:xfrm>
            <a:off x="3429000" y="23500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4" name="Text 20"/>
          <p:cNvSpPr txBox="1"/>
          <p:nvPr/>
        </p:nvSpPr>
        <p:spPr>
          <a:xfrm>
            <a:off x="3794760" y="2322576"/>
            <a:ext cx="2011680" cy="292608"/>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Verify it</a:t>
            </a:r>
            <a:endParaRPr lang="en-US" sz="1150" dirty="0"/>
          </a:p>
        </p:txBody>
      </p:sp>
      <p:sp>
        <p:nvSpPr>
          <p:cNvPr id="25" name="Text 21"/>
          <p:cNvSpPr txBox="1"/>
          <p:nvPr/>
        </p:nvSpPr>
        <p:spPr>
          <a:xfrm>
            <a:off x="3794760" y="2633472"/>
            <a:ext cx="2011680" cy="301752"/>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Sales call review? Note, then Waiting on CSQ.</a:t>
            </a:r>
            <a:endParaRPr lang="en-US" sz="950" dirty="0"/>
          </a:p>
        </p:txBody>
      </p:sp>
      <p:sp>
        <p:nvSpPr>
          <p:cNvPr id="26" name="Shape 22"/>
          <p:cNvSpPr/>
          <p:nvPr/>
        </p:nvSpPr>
        <p:spPr>
          <a:xfrm>
            <a:off x="6080760" y="2212848"/>
            <a:ext cx="2651760" cy="777240"/>
          </a:xfrm>
          <a:prstGeom prst="roundRect">
            <a:avLst>
              <a:gd name="adj" fmla="val 9412"/>
            </a:avLst>
          </a:prstGeom>
          <a:solidFill>
            <a:srgbClr val="FFFFFF"/>
          </a:solidFill>
          <a:ln w="9525">
            <a:solidFill>
              <a:srgbClr val="DCE1E7"/>
            </a:solidFill>
            <a:prstDash val="solid"/>
          </a:ln>
        </p:spPr>
      </p:sp>
      <p:sp>
        <p:nvSpPr>
          <p:cNvPr id="27" name="Shape 23"/>
          <p:cNvSpPr/>
          <p:nvPr/>
        </p:nvSpPr>
        <p:spPr>
          <a:xfrm>
            <a:off x="6217920" y="2350008"/>
            <a:ext cx="274320" cy="274320"/>
          </a:xfrm>
          <a:prstGeom prst="ellipse">
            <a:avLst/>
          </a:prstGeom>
          <a:solidFill>
            <a:srgbClr val="E3F4F1"/>
          </a:solidFill>
          <a:ln w="12700">
            <a:solidFill>
              <a:srgbClr val="E3F4F1"/>
            </a:solidFill>
            <a:prstDash val="solid"/>
          </a:ln>
        </p:spPr>
      </p:sp>
      <p:sp>
        <p:nvSpPr>
          <p:cNvPr id="28" name="Text 24"/>
          <p:cNvSpPr txBox="1"/>
          <p:nvPr/>
        </p:nvSpPr>
        <p:spPr>
          <a:xfrm>
            <a:off x="6217920" y="23500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9" name="Text 25"/>
          <p:cNvSpPr txBox="1"/>
          <p:nvPr/>
        </p:nvSpPr>
        <p:spPr>
          <a:xfrm>
            <a:off x="6583680" y="2322576"/>
            <a:ext cx="2011680" cy="292608"/>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What's the fix?</a:t>
            </a:r>
            <a:endParaRPr lang="en-US" sz="1150" dirty="0"/>
          </a:p>
        </p:txBody>
      </p:sp>
      <p:sp>
        <p:nvSpPr>
          <p:cNvPr id="30" name="Text 26"/>
          <p:cNvSpPr txBox="1"/>
          <p:nvPr/>
        </p:nvSpPr>
        <p:spPr>
          <a:xfrm>
            <a:off x="6583680" y="2633472"/>
            <a:ext cx="2011680" cy="301752"/>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Steps 2–6, and which macro?</a:t>
            </a:r>
            <a:endParaRPr lang="en-US" sz="950" dirty="0"/>
          </a:p>
        </p:txBody>
      </p:sp>
      <p:sp>
        <p:nvSpPr>
          <p:cNvPr id="31" name="Shape 27"/>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32" name="Image 1" descr="preencoded.png">    </p:cNvPr>
          <p:cNvPicPr>
            <a:picLocks noChangeAspect="1"/>
          </p:cNvPicPr>
          <p:nvPr/>
        </p:nvPicPr>
        <p:blipFill>
          <a:blip r:embed="rId2"/>
          <a:stretch>
            <a:fillRect/>
          </a:stretch>
        </p:blipFill>
        <p:spPr>
          <a:xfrm>
            <a:off x="731520" y="3383280"/>
            <a:ext cx="365760" cy="365760"/>
          </a:xfrm>
          <a:prstGeom prst="rect">
            <a:avLst/>
          </a:prstGeom>
        </p:spPr>
      </p:pic>
      <p:sp>
        <p:nvSpPr>
          <p:cNvPr id="33" name="Text 28"/>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2026-10-06T19:49:20Z</dcterms:created>
  <dcterms:modified xsi:type="dcterms:W3CDTF">2026-10-06T19:49:20Z</dcterms:modified>
</cp:coreProperties>
</file>