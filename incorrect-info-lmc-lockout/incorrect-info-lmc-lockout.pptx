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in slideshow mode, click the 5 min button to start a countdown in a new tab.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Next slide: what evidence to check for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lockout doesn't hold up under Step 1, refund the charge through the CP Dashboard refund flow, not an admin refund. Also check for a Premium rate charge on the same job and refund that too if applicable. Why CP Dashboard: it charges the cost back to the CP, because the CP made the mistake (an invalid lockout claim). An admin refund comes out of Homeaglow's pocket as a goodwill gesture, but the customer did nothing wrong, so there's nothing to smooth over. An admin refund would make Homeaglow pay for the CP's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google.com/search?q=set+timer+for+5+minutes" TargetMode="External"/><Relationship Id="rId4" Type="http://schemas.openxmlformats.org/officeDocument/2006/relationships/hyperlink" Target="https://www.google.com/search?q=set+timer+for+5+minutes" TargetMode="External"/><Relationship Id="rId1" Type="http://schemas.openxmlformats.org/officeDocument/2006/relationships/image" Target="../media/image-10-1.png"/><Relationship Id="rId3"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a:hlinkClick r:id="rId4" tooltip="Start a 5-minute timer"/>
          </p:cNvPr>
          <p:cNvSpPr/>
          <p:nvPr/>
        </p:nvSpPr>
        <p:spPr>
          <a:xfrm>
            <a:off x="7543800" y="3255264"/>
            <a:ext cx="1005840" cy="310896"/>
          </a:xfrm>
          <a:prstGeom prst="roundRect">
            <a:avLst>
              <a:gd name="adj" fmla="val 23529"/>
            </a:avLst>
          </a:prstGeom>
          <a:solidFill>
            <a:srgbClr val="FFF3D6"/>
          </a:solidFill>
          <a:ln w="12700">
            <a:solidFill>
              <a:srgbClr val="9A6410"/>
            </a:solidFill>
            <a:prstDash val="solid"/>
          </a:ln>
        </p:spPr>
      </p:sp>
      <p:pic>
        <p:nvPicPr>
          <p:cNvPr id="28" name="Image 1" descr="preencoded.png">
            <a:hlinkClick r:id="rId4" tooltip="Start a 5-minute timer"/>
          </p:cNvPr>
          <p:cNvPicPr>
            <a:picLocks noChangeAspect="1"/>
          </p:cNvPicPr>
          <p:nvPr/>
        </p:nvPicPr>
        <p:blipFill>
          <a:blip r:embed="rId3"/>
          <a:stretch>
            <a:fillRect/>
          </a:stretch>
        </p:blipFill>
        <p:spPr>
          <a:xfrm>
            <a:off x="7635240" y="3328416"/>
            <a:ext cx="164592" cy="164592"/>
          </a:xfrm>
          <a:prstGeom prst="rect">
            <a:avLst/>
          </a:prstGeom>
        </p:spPr>
      </p:pic>
      <p:sp>
        <p:nvSpPr>
          <p:cNvPr id="29" name="Text 24">
            <a:hlinkClick r:id="rId4" tooltip="Start a 5-minute timer"/>
          </p:cNvPr>
          <p:cNvSpPr/>
          <p:nvPr/>
        </p:nvSpPr>
        <p:spPr>
          <a:xfrm>
            <a:off x="7845552" y="3255264"/>
            <a:ext cx="640080" cy="310896"/>
          </a:xfrm>
          <a:prstGeom prst="rect">
            <a:avLst/>
          </a:prstGeom>
          <a:noFill/>
          <a:ln/>
        </p:spPr>
        <p:txBody>
          <a:bodyPr wrap="square" lIns="0" tIns="0" rIns="0" bIns="0" rtlCol="0" anchor="ctr"/>
          <a:lstStyle/>
          <a:p>
            <a:pPr indent="0" marL="0">
              <a:buNone/>
            </a:pPr>
            <a:r>
              <a:rPr lang="en-US" sz="1000" b="1" u="none" dirty="0">
                <a:solidFill>
                  <a:srgbClr val="9A6410"/>
                </a:solidFill>
                <a:latin typeface="SF Pro Text" pitchFamily="34" charset="0"/>
                <a:ea typeface="SF Pro Text" pitchFamily="34" charset="-122"/>
                <a:cs typeface="SF Pro Text" pitchFamily="34" charset="-120"/>
              </a:rPr>
              <a:t>5 min</a:t>
            </a:r>
            <a:endParaRPr lang="en-US" sz="1000" dirty="0"/>
          </a:p>
        </p:txBody>
      </p:sp>
      <p:sp>
        <p:nvSpPr>
          <p:cNvPr id="30" name="Shape 25"/>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31" name="Image 2" descr="preencoded.png">    </p:cNvPr>
          <p:cNvPicPr>
            <a:picLocks noChangeAspect="1"/>
          </p:cNvPicPr>
          <p:nvPr/>
        </p:nvPicPr>
        <p:blipFill>
          <a:blip r:embed="rId5"/>
          <a:stretch>
            <a:fillRect/>
          </a:stretch>
        </p:blipFill>
        <p:spPr>
          <a:xfrm>
            <a:off x="640080" y="4192524"/>
            <a:ext cx="256032" cy="256032"/>
          </a:xfrm>
          <a:prstGeom prst="rect">
            <a:avLst/>
          </a:prstGeom>
        </p:spPr>
      </p:pic>
      <p:sp>
        <p:nvSpPr>
          <p:cNvPr id="32" name="Text 26"/>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Shape 4"/>
          <p:cNvSpPr/>
          <p:nvPr/>
        </p:nvSpPr>
        <p:spPr>
          <a:xfrm>
            <a:off x="411480" y="1645920"/>
            <a:ext cx="3657600" cy="502920"/>
          </a:xfrm>
          <a:prstGeom prst="roundRect">
            <a:avLst>
              <a:gd name="adj" fmla="val 14545"/>
            </a:avLst>
          </a:prstGeom>
          <a:solidFill>
            <a:srgbClr val="0B7A6F"/>
          </a:solidFill>
          <a:ln w="12700">
            <a:solidFill>
              <a:srgbClr val="0B7A6F"/>
            </a:solidFill>
            <a:prstDash val="solid"/>
          </a:ln>
        </p:spPr>
      </p:sp>
      <p:sp>
        <p:nvSpPr>
          <p:cNvPr id="8" name="Text 5"/>
          <p:cNvSpPr txBox="1"/>
          <p:nvPr/>
        </p:nvSpPr>
        <p:spPr>
          <a:xfrm>
            <a:off x="411480" y="164592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LMC charge</a:t>
            </a:r>
            <a:endParaRPr lang="en-US" sz="1000" dirty="0"/>
          </a:p>
        </p:txBody>
      </p:sp>
      <p:sp>
        <p:nvSpPr>
          <p:cNvPr id="9" name="Text 6"/>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10" name="Shape 7"/>
          <p:cNvSpPr/>
          <p:nvPr/>
        </p:nvSpPr>
        <p:spPr>
          <a:xfrm>
            <a:off x="2240280" y="2468880"/>
            <a:ext cx="0" cy="182880"/>
          </a:xfrm>
          <a:prstGeom prst="line">
            <a:avLst/>
          </a:prstGeom>
          <a:noFill/>
          <a:ln w="12700">
            <a:solidFill>
              <a:srgbClr val="6E6E73"/>
            </a:solidFill>
            <a:prstDash val="solid"/>
            <a:tailEnd type="triangle"/>
          </a:ln>
        </p:spPr>
      </p:sp>
      <p:sp>
        <p:nvSpPr>
          <p:cNvPr id="11" name="Shape 8"/>
          <p:cNvSpPr/>
          <p:nvPr/>
        </p:nvSpPr>
        <p:spPr>
          <a:xfrm>
            <a:off x="411480" y="2651760"/>
            <a:ext cx="3657600" cy="502920"/>
          </a:xfrm>
          <a:prstGeom prst="roundRect">
            <a:avLst>
              <a:gd name="adj" fmla="val 14545"/>
            </a:avLst>
          </a:prstGeom>
          <a:solidFill>
            <a:srgbClr val="0B7A6F"/>
          </a:solidFill>
          <a:ln w="12700">
            <a:solidFill>
              <a:srgbClr val="0B7A6F"/>
            </a:solidFill>
            <a:prstDash val="solid"/>
          </a:ln>
        </p:spPr>
      </p:sp>
      <p:sp>
        <p:nvSpPr>
          <p:cNvPr id="12" name="Text 9"/>
          <p:cNvSpPr txBox="1"/>
          <p:nvPr/>
        </p:nvSpPr>
        <p:spPr>
          <a:xfrm>
            <a:off x="411480" y="265176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Hold back the CP's $20</a:t>
            </a:r>
            <a:endParaRPr lang="en-US" sz="1000" dirty="0"/>
          </a:p>
        </p:txBody>
      </p:sp>
      <p:sp>
        <p:nvSpPr>
          <p:cNvPr id="13" name="Text 10"/>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4" name="Text 11"/>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JOB COMPLETED ANYWAY</a:t>
            </a:r>
            <a:endParaRPr lang="en-US" sz="800" dirty="0"/>
          </a:p>
        </p:txBody>
      </p:sp>
      <p:sp>
        <p:nvSpPr>
          <p:cNvPr id="15" name="Shape 12"/>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6" name="Text 13"/>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Credits up to 100% of the fee, not cash. Upset? Service Recovery. Cancelling? Apply it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when they want the charge reversed,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find it</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CRM › Manual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 CRM › View › ManualCustomerPaymentTxn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Credits reason code: lmc</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six automatic waivers before anything else.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Both sides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customer, hold back the CP's $20.</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Not a ladder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Go straight to the category's offer.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contests</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the ticket you'll see.</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4114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1000" dirty="0"/>
          </a:p>
        </p:txBody>
      </p:sp>
      <p:sp>
        <p:nvSpPr>
          <p:cNvPr id="8" name="Shape 5"/>
          <p:cNvSpPr/>
          <p:nvPr/>
        </p:nvSpPr>
        <p:spPr>
          <a:xfrm>
            <a:off x="2514600" y="1700784"/>
            <a:ext cx="0" cy="146304"/>
          </a:xfrm>
          <a:prstGeom prst="line">
            <a:avLst/>
          </a:prstGeom>
          <a:noFill/>
          <a:ln w="12700">
            <a:solidFill>
              <a:srgbClr val="6E6E73"/>
            </a:solidFill>
            <a:prstDash val="solid"/>
            <a:tailEnd type="triangle"/>
          </a:ln>
        </p:spPr>
      </p:sp>
      <p:sp>
        <p:nvSpPr>
          <p:cNvPr id="9" name="Text 6"/>
          <p:cNvSpPr txBox="1"/>
          <p:nvPr/>
        </p:nvSpPr>
        <p:spPr>
          <a:xfrm>
            <a:off x="2587752" y="170078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0" name="Shape 7"/>
          <p:cNvSpPr/>
          <p:nvPr/>
        </p:nvSpPr>
        <p:spPr>
          <a:xfrm>
            <a:off x="4617720" y="1499616"/>
            <a:ext cx="1051560" cy="0"/>
          </a:xfrm>
          <a:prstGeom prst="line">
            <a:avLst/>
          </a:prstGeom>
          <a:noFill/>
          <a:ln w="12700">
            <a:solidFill>
              <a:srgbClr val="6E6E73"/>
            </a:solidFill>
            <a:prstDash val="solid"/>
          </a:ln>
        </p:spPr>
      </p:sp>
      <p:sp>
        <p:nvSpPr>
          <p:cNvPr id="11" name="Text 8"/>
          <p:cNvSpPr txBox="1"/>
          <p:nvPr/>
        </p:nvSpPr>
        <p:spPr>
          <a:xfrm>
            <a:off x="4709160" y="131673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2" name="Shape 9"/>
          <p:cNvSpPr/>
          <p:nvPr/>
        </p:nvSpPr>
        <p:spPr>
          <a:xfrm>
            <a:off x="411480" y="1847088"/>
            <a:ext cx="4206240" cy="402336"/>
          </a:xfrm>
          <a:prstGeom prst="roundRect">
            <a:avLst>
              <a:gd name="adj" fmla="val 18182"/>
            </a:avLst>
          </a:prstGeom>
          <a:solidFill>
            <a:srgbClr val="FFF3D6"/>
          </a:solidFill>
          <a:ln w="12700">
            <a:solidFill>
              <a:srgbClr val="9A6410"/>
            </a:solidFill>
            <a:prstDash val="solid"/>
          </a:ln>
        </p:spPr>
      </p:sp>
      <p:sp>
        <p:nvSpPr>
          <p:cNvPr id="13" name="Text 10"/>
          <p:cNvSpPr txBox="1"/>
          <p:nvPr/>
        </p:nvSpPr>
        <p:spPr>
          <a:xfrm>
            <a:off x="411480" y="184708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2  Did the CP arrive on time?</a:t>
            </a:r>
            <a:endParaRPr lang="en-US" sz="1000" dirty="0"/>
          </a:p>
        </p:txBody>
      </p:sp>
      <p:sp>
        <p:nvSpPr>
          <p:cNvPr id="14" name="Shape 11"/>
          <p:cNvSpPr/>
          <p:nvPr/>
        </p:nvSpPr>
        <p:spPr>
          <a:xfrm>
            <a:off x="2514600" y="2249424"/>
            <a:ext cx="0" cy="146304"/>
          </a:xfrm>
          <a:prstGeom prst="line">
            <a:avLst/>
          </a:prstGeom>
          <a:noFill/>
          <a:ln w="12700">
            <a:solidFill>
              <a:srgbClr val="6E6E73"/>
            </a:solidFill>
            <a:prstDash val="solid"/>
            <a:tailEnd type="triangle"/>
          </a:ln>
        </p:spPr>
      </p:sp>
      <p:sp>
        <p:nvSpPr>
          <p:cNvPr id="15" name="Text 12"/>
          <p:cNvSpPr txBox="1"/>
          <p:nvPr/>
        </p:nvSpPr>
        <p:spPr>
          <a:xfrm>
            <a:off x="2587752" y="224942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6" name="Shape 13"/>
          <p:cNvSpPr/>
          <p:nvPr/>
        </p:nvSpPr>
        <p:spPr>
          <a:xfrm>
            <a:off x="4617720" y="2048256"/>
            <a:ext cx="1051560" cy="0"/>
          </a:xfrm>
          <a:prstGeom prst="line">
            <a:avLst/>
          </a:prstGeom>
          <a:noFill/>
          <a:ln w="12700">
            <a:solidFill>
              <a:srgbClr val="6E6E73"/>
            </a:solidFill>
            <a:prstDash val="solid"/>
          </a:ln>
        </p:spPr>
      </p:sp>
      <p:sp>
        <p:nvSpPr>
          <p:cNvPr id="17" name="Text 14"/>
          <p:cNvSpPr txBox="1"/>
          <p:nvPr/>
        </p:nvSpPr>
        <p:spPr>
          <a:xfrm>
            <a:off x="4709160" y="186537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8" name="Shape 15"/>
          <p:cNvSpPr/>
          <p:nvPr/>
        </p:nvSpPr>
        <p:spPr>
          <a:xfrm>
            <a:off x="411480" y="2395728"/>
            <a:ext cx="4206240" cy="402336"/>
          </a:xfrm>
          <a:prstGeom prst="roundRect">
            <a:avLst>
              <a:gd name="adj" fmla="val 18182"/>
            </a:avLst>
          </a:prstGeom>
          <a:solidFill>
            <a:srgbClr val="FFF3D6"/>
          </a:solidFill>
          <a:ln w="12700">
            <a:solidFill>
              <a:srgbClr val="9A6410"/>
            </a:solidFill>
            <a:prstDash val="solid"/>
          </a:ln>
        </p:spPr>
      </p:sp>
      <p:sp>
        <p:nvSpPr>
          <p:cNvPr id="19" name="Text 16"/>
          <p:cNvSpPr txBox="1"/>
          <p:nvPr/>
        </p:nvSpPr>
        <p:spPr>
          <a:xfrm>
            <a:off x="411480" y="239572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1000" dirty="0"/>
          </a:p>
        </p:txBody>
      </p:sp>
      <p:sp>
        <p:nvSpPr>
          <p:cNvPr id="20" name="Shape 17"/>
          <p:cNvSpPr/>
          <p:nvPr/>
        </p:nvSpPr>
        <p:spPr>
          <a:xfrm>
            <a:off x="2514600" y="2798064"/>
            <a:ext cx="0" cy="146304"/>
          </a:xfrm>
          <a:prstGeom prst="line">
            <a:avLst/>
          </a:prstGeom>
          <a:noFill/>
          <a:ln w="12700">
            <a:solidFill>
              <a:srgbClr val="6E6E73"/>
            </a:solidFill>
            <a:prstDash val="solid"/>
            <a:tailEnd type="triangle"/>
          </a:ln>
        </p:spPr>
      </p:sp>
      <p:sp>
        <p:nvSpPr>
          <p:cNvPr id="21" name="Text 18"/>
          <p:cNvSpPr txBox="1"/>
          <p:nvPr/>
        </p:nvSpPr>
        <p:spPr>
          <a:xfrm>
            <a:off x="2587752" y="279806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2" name="Shape 19"/>
          <p:cNvSpPr/>
          <p:nvPr/>
        </p:nvSpPr>
        <p:spPr>
          <a:xfrm>
            <a:off x="4617720" y="2596896"/>
            <a:ext cx="1051560" cy="0"/>
          </a:xfrm>
          <a:prstGeom prst="line">
            <a:avLst/>
          </a:prstGeom>
          <a:noFill/>
          <a:ln w="12700">
            <a:solidFill>
              <a:srgbClr val="6E6E73"/>
            </a:solidFill>
            <a:prstDash val="solid"/>
          </a:ln>
        </p:spPr>
      </p:sp>
      <p:sp>
        <p:nvSpPr>
          <p:cNvPr id="23" name="Text 20"/>
          <p:cNvSpPr txBox="1"/>
          <p:nvPr/>
        </p:nvSpPr>
        <p:spPr>
          <a:xfrm>
            <a:off x="4709160" y="241401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4" name="Shape 21"/>
          <p:cNvSpPr/>
          <p:nvPr/>
        </p:nvSpPr>
        <p:spPr>
          <a:xfrm>
            <a:off x="411480" y="2944368"/>
            <a:ext cx="4206240" cy="402336"/>
          </a:xfrm>
          <a:prstGeom prst="roundRect">
            <a:avLst>
              <a:gd name="adj" fmla="val 18182"/>
            </a:avLst>
          </a:prstGeom>
          <a:solidFill>
            <a:srgbClr val="FFF3D6"/>
          </a:solidFill>
          <a:ln w="12700">
            <a:solidFill>
              <a:srgbClr val="9A6410"/>
            </a:solidFill>
            <a:prstDash val="solid"/>
          </a:ln>
        </p:spPr>
      </p:sp>
      <p:sp>
        <p:nvSpPr>
          <p:cNvPr id="25" name="Text 22"/>
          <p:cNvSpPr txBox="1"/>
          <p:nvPr/>
        </p:nvSpPr>
        <p:spPr>
          <a:xfrm>
            <a:off x="411480" y="294436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4  Did the CP try to complete it?</a:t>
            </a:r>
            <a:endParaRPr lang="en-US" sz="1000" dirty="0"/>
          </a:p>
        </p:txBody>
      </p:sp>
      <p:sp>
        <p:nvSpPr>
          <p:cNvPr id="26" name="Text 23"/>
          <p:cNvSpPr txBox="1"/>
          <p:nvPr/>
        </p:nvSpPr>
        <p:spPr>
          <a:xfrm>
            <a:off x="2587752" y="334670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7" name="Shape 24"/>
          <p:cNvSpPr/>
          <p:nvPr/>
        </p:nvSpPr>
        <p:spPr>
          <a:xfrm>
            <a:off x="4617720" y="3145536"/>
            <a:ext cx="1051560" cy="0"/>
          </a:xfrm>
          <a:prstGeom prst="line">
            <a:avLst/>
          </a:prstGeom>
          <a:noFill/>
          <a:ln w="12700">
            <a:solidFill>
              <a:srgbClr val="6E6E73"/>
            </a:solidFill>
            <a:prstDash val="solid"/>
          </a:ln>
        </p:spPr>
      </p:sp>
      <p:sp>
        <p:nvSpPr>
          <p:cNvPr id="28" name="Text 25"/>
          <p:cNvSpPr txBox="1"/>
          <p:nvPr/>
        </p:nvSpPr>
        <p:spPr>
          <a:xfrm>
            <a:off x="4709160" y="296265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9" name="Shape 26"/>
          <p:cNvSpPr/>
          <p:nvPr/>
        </p:nvSpPr>
        <p:spPr>
          <a:xfrm>
            <a:off x="5669280" y="1499616"/>
            <a:ext cx="0" cy="1645920"/>
          </a:xfrm>
          <a:prstGeom prst="line">
            <a:avLst/>
          </a:prstGeom>
          <a:noFill/>
          <a:ln w="12700">
            <a:solidFill>
              <a:srgbClr val="6E6E73"/>
            </a:solidFill>
            <a:prstDash val="solid"/>
          </a:ln>
        </p:spPr>
      </p:sp>
      <p:sp>
        <p:nvSpPr>
          <p:cNvPr id="30" name="Shape 27"/>
          <p:cNvSpPr/>
          <p:nvPr/>
        </p:nvSpPr>
        <p:spPr>
          <a:xfrm>
            <a:off x="5669280" y="2322576"/>
            <a:ext cx="274320" cy="0"/>
          </a:xfrm>
          <a:prstGeom prst="line">
            <a:avLst/>
          </a:prstGeom>
          <a:noFill/>
          <a:ln w="12700">
            <a:solidFill>
              <a:srgbClr val="6E6E73"/>
            </a:solidFill>
            <a:prstDash val="solid"/>
            <a:tailEnd type="triangle"/>
          </a:ln>
        </p:spPr>
      </p:sp>
      <p:sp>
        <p:nvSpPr>
          <p:cNvPr id="31" name="Shape 28"/>
          <p:cNvSpPr/>
          <p:nvPr/>
        </p:nvSpPr>
        <p:spPr>
          <a:xfrm>
            <a:off x="5943600" y="2048256"/>
            <a:ext cx="2788920" cy="548640"/>
          </a:xfrm>
          <a:prstGeom prst="roundRect">
            <a:avLst>
              <a:gd name="adj" fmla="val 13333"/>
            </a:avLst>
          </a:prstGeom>
          <a:solidFill>
            <a:srgbClr val="1D1D1F"/>
          </a:solidFill>
          <a:ln w="12700">
            <a:solidFill>
              <a:srgbClr val="1D1D1F"/>
            </a:solidFill>
            <a:prstDash val="solid"/>
          </a:ln>
        </p:spPr>
      </p:sp>
      <p:sp>
        <p:nvSpPr>
          <p:cNvPr id="32" name="Text 29"/>
          <p:cNvSpPr txBox="1"/>
          <p:nvPr/>
        </p:nvSpPr>
        <p:spPr>
          <a:xfrm>
            <a:off x="5943600" y="2048256"/>
            <a:ext cx="27889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 CP Dashboard</a:t>
            </a:r>
            <a:endParaRPr lang="en-US" sz="1000" dirty="0"/>
          </a:p>
        </p:txBody>
      </p:sp>
      <p:sp>
        <p:nvSpPr>
          <p:cNvPr id="33" name="Shape 30"/>
          <p:cNvSpPr/>
          <p:nvPr/>
        </p:nvSpPr>
        <p:spPr>
          <a:xfrm>
            <a:off x="2514600" y="3346704"/>
            <a:ext cx="0" cy="164592"/>
          </a:xfrm>
          <a:prstGeom prst="line">
            <a:avLst/>
          </a:prstGeom>
          <a:noFill/>
          <a:ln w="12700">
            <a:solidFill>
              <a:srgbClr val="6E6E73"/>
            </a:solidFill>
            <a:prstDash val="solid"/>
            <a:tailEnd type="triangle"/>
          </a:ln>
        </p:spPr>
      </p:sp>
      <p:sp>
        <p:nvSpPr>
          <p:cNvPr id="34" name="Shape 31"/>
          <p:cNvSpPr/>
          <p:nvPr/>
        </p:nvSpPr>
        <p:spPr>
          <a:xfrm>
            <a:off x="411480" y="3511296"/>
            <a:ext cx="4206240" cy="411480"/>
          </a:xfrm>
          <a:prstGeom prst="roundRect">
            <a:avLst>
              <a:gd name="adj" fmla="val 17778"/>
            </a:avLst>
          </a:prstGeom>
          <a:solidFill>
            <a:srgbClr val="0B7A6F"/>
          </a:solidFill>
          <a:ln w="12700">
            <a:solidFill>
              <a:srgbClr val="0B7A6F"/>
            </a:solidFill>
            <a:prstDash val="solid"/>
          </a:ln>
        </p:spPr>
      </p:sp>
      <p:sp>
        <p:nvSpPr>
          <p:cNvPr id="35" name="Text 32"/>
          <p:cNvSpPr txBox="1"/>
          <p:nvPr/>
        </p:nvSpPr>
        <p:spPr>
          <a:xfrm>
            <a:off x="411480" y="3511296"/>
            <a:ext cx="42062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All yes: valid. Check the customer category</a:t>
            </a:r>
            <a:endParaRPr lang="en-US" sz="1000" dirty="0"/>
          </a:p>
        </p:txBody>
      </p:sp>
      <p:sp>
        <p:nvSpPr>
          <p:cNvPr id="36" name="Shape 3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8" name="Text 3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check for each question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Evidence that's hard to fake beats one side's word.</a:t>
            </a:r>
            <a:endParaRPr lang="en-US" sz="1200" dirty="0"/>
          </a:p>
        </p:txBody>
      </p:sp>
      <p:sp>
        <p:nvSpPr>
          <p:cNvPr id="6" name="Shape 3"/>
          <p:cNvSpPr/>
          <p:nvPr/>
        </p:nvSpPr>
        <p:spPr>
          <a:xfrm>
            <a:off x="411480" y="1298448"/>
            <a:ext cx="3017520" cy="676656"/>
          </a:xfrm>
          <a:prstGeom prst="roundRect">
            <a:avLst>
              <a:gd name="adj" fmla="val 10811"/>
            </a:avLst>
          </a:prstGeom>
          <a:solidFill>
            <a:srgbClr val="E3F4F1"/>
          </a:solidFill>
          <a:ln w="9525">
            <a:solidFill>
              <a:srgbClr val="E3F4F1"/>
            </a:solidFill>
            <a:prstDash val="solid"/>
          </a:ln>
        </p:spPr>
      </p:sp>
      <p:sp>
        <p:nvSpPr>
          <p:cNvPr id="7" name="Shape 4"/>
          <p:cNvSpPr/>
          <p:nvPr/>
        </p:nvSpPr>
        <p:spPr>
          <a:xfrm>
            <a:off x="530352" y="1499616"/>
            <a:ext cx="274320" cy="274320"/>
          </a:xfrm>
          <a:prstGeom prst="ellipse">
            <a:avLst/>
          </a:prstGeom>
          <a:solidFill>
            <a:srgbClr val="E3F4F1"/>
          </a:solidFill>
          <a:ln w="12700">
            <a:solidFill>
              <a:srgbClr val="E3F4F1"/>
            </a:solidFill>
            <a:prstDash val="solid"/>
          </a:ln>
        </p:spPr>
      </p:sp>
      <p:sp>
        <p:nvSpPr>
          <p:cNvPr id="8" name="Text 5"/>
          <p:cNvSpPr txBox="1"/>
          <p:nvPr/>
        </p:nvSpPr>
        <p:spPr>
          <a:xfrm>
            <a:off x="530352" y="149961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14400" y="1298448"/>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Wanted the appointment</a:t>
            </a:r>
            <a:endParaRPr lang="en-US" sz="1050" dirty="0"/>
          </a:p>
        </p:txBody>
      </p:sp>
      <p:sp>
        <p:nvSpPr>
          <p:cNvPr id="10" name="Shape 7"/>
          <p:cNvSpPr/>
          <p:nvPr/>
        </p:nvSpPr>
        <p:spPr>
          <a:xfrm>
            <a:off x="3520440" y="1298448"/>
            <a:ext cx="5212080" cy="676656"/>
          </a:xfrm>
          <a:prstGeom prst="roundRect">
            <a:avLst>
              <a:gd name="adj" fmla="val 10811"/>
            </a:avLst>
          </a:prstGeom>
          <a:solidFill>
            <a:srgbClr val="FFFFFF"/>
          </a:solidFill>
          <a:ln w="9525">
            <a:solidFill>
              <a:srgbClr val="DCE1E7"/>
            </a:solidFill>
            <a:prstDash val="solid"/>
          </a:ln>
        </p:spPr>
      </p:sp>
      <p:sp>
        <p:nvSpPr>
          <p:cNvPr id="11" name="Text 8"/>
          <p:cNvSpPr txBox="1"/>
          <p:nvPr/>
        </p:nvSpPr>
        <p:spPr>
          <a:xfrm>
            <a:off x="3657600" y="1298448"/>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Customer asked to cancel or reschedule &gt; 6 hrs before? Invalid. Within 6 hrs and the CP acknowledged it? Invalid.</a:t>
            </a:r>
            <a:endParaRPr lang="en-US" sz="900" dirty="0"/>
          </a:p>
        </p:txBody>
      </p:sp>
      <p:sp>
        <p:nvSpPr>
          <p:cNvPr id="12" name="Shape 9"/>
          <p:cNvSpPr/>
          <p:nvPr/>
        </p:nvSpPr>
        <p:spPr>
          <a:xfrm>
            <a:off x="411480" y="2066544"/>
            <a:ext cx="3017520" cy="676656"/>
          </a:xfrm>
          <a:prstGeom prst="roundRect">
            <a:avLst>
              <a:gd name="adj" fmla="val 10811"/>
            </a:avLst>
          </a:prstGeom>
          <a:solidFill>
            <a:srgbClr val="E3F4F1"/>
          </a:solidFill>
          <a:ln w="9525">
            <a:solidFill>
              <a:srgbClr val="E3F4F1"/>
            </a:solidFill>
            <a:prstDash val="solid"/>
          </a:ln>
        </p:spPr>
      </p:sp>
      <p:sp>
        <p:nvSpPr>
          <p:cNvPr id="13" name="Shape 10"/>
          <p:cNvSpPr/>
          <p:nvPr/>
        </p:nvSpPr>
        <p:spPr>
          <a:xfrm>
            <a:off x="530352" y="226771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30352" y="22677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14400" y="2066544"/>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Arrived on time</a:t>
            </a:r>
            <a:endParaRPr lang="en-US" sz="1050" dirty="0"/>
          </a:p>
        </p:txBody>
      </p:sp>
      <p:sp>
        <p:nvSpPr>
          <p:cNvPr id="16" name="Shape 13"/>
          <p:cNvSpPr/>
          <p:nvPr/>
        </p:nvSpPr>
        <p:spPr>
          <a:xfrm>
            <a:off x="3520440" y="2066544"/>
            <a:ext cx="5212080" cy="676656"/>
          </a:xfrm>
          <a:prstGeom prst="roundRect">
            <a:avLst>
              <a:gd name="adj" fmla="val 10811"/>
            </a:avLst>
          </a:prstGeom>
          <a:solidFill>
            <a:srgbClr val="FFFFFF"/>
          </a:solidFill>
          <a:ln w="9525">
            <a:solidFill>
              <a:srgbClr val="DCE1E7"/>
            </a:solidFill>
            <a:prstDash val="solid"/>
          </a:ln>
        </p:spPr>
      </p:sp>
      <p:sp>
        <p:nvSpPr>
          <p:cNvPr id="17" name="Text 14"/>
          <p:cNvSpPr txBox="1"/>
          <p:nvPr/>
        </p:nvSpPr>
        <p:spPr>
          <a:xfrm>
            <a:off x="3657600" y="2066544"/>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30 min before to 30 min after start. Timestamps, check-ins, GPS, CP App "approaching". Later? Invalid, unless the customer had already decided.</a:t>
            </a:r>
            <a:endParaRPr lang="en-US" sz="900" dirty="0"/>
          </a:p>
        </p:txBody>
      </p:sp>
      <p:sp>
        <p:nvSpPr>
          <p:cNvPr id="18" name="Shape 15"/>
          <p:cNvSpPr/>
          <p:nvPr/>
        </p:nvSpPr>
        <p:spPr>
          <a:xfrm>
            <a:off x="411480" y="2834640"/>
            <a:ext cx="3017520" cy="676656"/>
          </a:xfrm>
          <a:prstGeom prst="roundRect">
            <a:avLst>
              <a:gd name="adj" fmla="val 10811"/>
            </a:avLst>
          </a:prstGeom>
          <a:solidFill>
            <a:srgbClr val="E3F4F1"/>
          </a:solidFill>
          <a:ln w="9525">
            <a:solidFill>
              <a:srgbClr val="E3F4F1"/>
            </a:solidFill>
            <a:prstDash val="solid"/>
          </a:ln>
        </p:spPr>
      </p:sp>
      <p:sp>
        <p:nvSpPr>
          <p:cNvPr id="19" name="Shape 16"/>
          <p:cNvSpPr/>
          <p:nvPr/>
        </p:nvSpPr>
        <p:spPr>
          <a:xfrm>
            <a:off x="530352" y="3035808"/>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30352" y="30358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14400" y="2834640"/>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At the address</a:t>
            </a:r>
            <a:endParaRPr lang="en-US" sz="1050" dirty="0"/>
          </a:p>
        </p:txBody>
      </p:sp>
      <p:sp>
        <p:nvSpPr>
          <p:cNvPr id="22" name="Shape 19"/>
          <p:cNvSpPr/>
          <p:nvPr/>
        </p:nvSpPr>
        <p:spPr>
          <a:xfrm>
            <a:off x="3520440" y="2834640"/>
            <a:ext cx="5212080" cy="676656"/>
          </a:xfrm>
          <a:prstGeom prst="roundRect">
            <a:avLst>
              <a:gd name="adj" fmla="val 10811"/>
            </a:avLst>
          </a:prstGeom>
          <a:solidFill>
            <a:srgbClr val="FFFFFF"/>
          </a:solidFill>
          <a:ln w="9525">
            <a:solidFill>
              <a:srgbClr val="DCE1E7"/>
            </a:solidFill>
            <a:prstDash val="solid"/>
          </a:ln>
        </p:spPr>
      </p:sp>
      <p:sp>
        <p:nvSpPr>
          <p:cNvPr id="23" name="Text 20"/>
          <p:cNvSpPr txBox="1"/>
          <p:nvPr/>
        </p:nvSpPr>
        <p:spPr>
          <a:xfrm>
            <a:off x="3657600" y="2834640"/>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CTJ, arrival messages, photos, a selfie at the home. A house photo alone: check it isn't reused. Faked? AG – Fraud.</a:t>
            </a:r>
            <a:endParaRPr lang="en-US" sz="900" dirty="0"/>
          </a:p>
        </p:txBody>
      </p:sp>
      <p:sp>
        <p:nvSpPr>
          <p:cNvPr id="24" name="Shape 21"/>
          <p:cNvSpPr/>
          <p:nvPr/>
        </p:nvSpPr>
        <p:spPr>
          <a:xfrm>
            <a:off x="411480" y="3602736"/>
            <a:ext cx="3017520" cy="676656"/>
          </a:xfrm>
          <a:prstGeom prst="roundRect">
            <a:avLst>
              <a:gd name="adj" fmla="val 10811"/>
            </a:avLst>
          </a:prstGeom>
          <a:solidFill>
            <a:srgbClr val="E3F4F1"/>
          </a:solidFill>
          <a:ln w="9525">
            <a:solidFill>
              <a:srgbClr val="E3F4F1"/>
            </a:solidFill>
            <a:prstDash val="solid"/>
          </a:ln>
        </p:spPr>
      </p:sp>
      <p:sp>
        <p:nvSpPr>
          <p:cNvPr id="25" name="Shape 22"/>
          <p:cNvSpPr/>
          <p:nvPr/>
        </p:nvSpPr>
        <p:spPr>
          <a:xfrm>
            <a:off x="530352" y="3803904"/>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8039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14400" y="3602736"/>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Tried to complete it</a:t>
            </a:r>
            <a:endParaRPr lang="en-US" sz="1050" dirty="0"/>
          </a:p>
        </p:txBody>
      </p:sp>
      <p:sp>
        <p:nvSpPr>
          <p:cNvPr id="28" name="Shape 25"/>
          <p:cNvSpPr/>
          <p:nvPr/>
        </p:nvSpPr>
        <p:spPr>
          <a:xfrm>
            <a:off x="3520440" y="3602736"/>
            <a:ext cx="5212080" cy="676656"/>
          </a:xfrm>
          <a:prstGeom prst="roundRect">
            <a:avLst>
              <a:gd name="adj" fmla="val 10811"/>
            </a:avLst>
          </a:prstGeom>
          <a:solidFill>
            <a:srgbClr val="FFFFFF"/>
          </a:solidFill>
          <a:ln w="9525">
            <a:solidFill>
              <a:srgbClr val="DCE1E7"/>
            </a:solidFill>
            <a:prstDash val="solid"/>
          </a:ln>
        </p:spPr>
      </p:sp>
      <p:sp>
        <p:nvSpPr>
          <p:cNvPr id="29" name="Text 26"/>
          <p:cNvSpPr txBox="1"/>
          <p:nvPr/>
        </p:nvSpPr>
        <p:spPr>
          <a:xfrm>
            <a:off x="3657600" y="3602736"/>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 contact attempts, 5+ min apart, 15+ min on site, entry notes followed. Same rule for App and Dashboard.</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refund via the CP Dashboard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claim was the error, so the CP pays for it.</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CP Dashboard refund</a:t>
            </a:r>
            <a:endParaRPr lang="en-US" sz="1300" dirty="0"/>
          </a:p>
        </p:txBody>
      </p:sp>
      <p:sp>
        <p:nvSpPr>
          <p:cNvPr id="10" name="Text 6"/>
          <p:cNvSpPr txBox="1"/>
          <p:nvPr/>
        </p:nvSpPr>
        <p:spPr>
          <a:xfrm>
            <a:off x="5943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Charges the cost back to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 CP made the error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Also refund Premium, if charged</a:t>
            </a:r>
            <a:endParaRPr lang="en-US" sz="100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 admin refund</a:t>
            </a:r>
            <a:endParaRPr lang="en-US" sz="1300" dirty="0"/>
          </a:p>
        </p:txBody>
      </p:sp>
      <p:sp>
        <p:nvSpPr>
          <p:cNvPr id="15" name="Text 10"/>
          <p:cNvSpPr txBox="1"/>
          <p:nvPr/>
        </p:nvSpPr>
        <p:spPr>
          <a:xfrm>
            <a:off x="48234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Comes out of Homeaglow's pocket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goodwill gesture: not needed here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Would make us pay for the CP's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2026-10-06T20:04:46Z</dcterms:created>
  <dcterms:modified xsi:type="dcterms:W3CDTF">2026-10-06T20:04:46Z</dcterms:modified>
</cp:coreProperties>
</file>