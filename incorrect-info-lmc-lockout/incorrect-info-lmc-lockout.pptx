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first, the message customers see when the date and time they pick incurs a Priority Fee ("This time is a high-demand date &amp; time for cleaners. Priority rates may apply."). Second, how the charge shows on the Job Admin page: the + PriorityMarkup line in the Base breakdown (here $23.50/hr), and the 15% processing fee in the Txn Fee column. TRAINER: the screenshots are hidden when the slide opens. Click once (What the customer sees when booking) to show the booking prompt, click again (How it shows in Job Admin) to swap to the Job Admin screenshot, and click a third time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pull up the account history first. Before saying anything to the customer about a resolution, ask one question: why did the customer end up in the priority window? Their own scheduling choice, or because Homeaglow or the CP forced them into it? Step 2: choose the path. Customer chose the priority window (booked or rescheduled within 48 hours on their own, or picked a high-demand date, and nothing on our side drove it): explain the policy plainly, the fee stands. You can soften it with up to 100% of the Priority Fee in account credits as a courtesy. Treat 100% as a ceiling, not a starting point: base the amount on the customer's history and how the conversation is going. Frame it as goodwill, not "we got this wrong". Macro: Priority Fee: Issue Credits up to 100% of the Priority Fee. Homeaglow or the CP caused it: refund the full Priority Fee, including the 15% processing fee, to the original payment method, and acknowledge specifically what happened (e.g. "your last cleaner cancelled on short notice"). Macro: Priority Fee Refunded. The two paths are mutually exclusive. Not sure which? Escalate rather than deciding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Homeaglow properly set expectations: explain that the Processing Fee is a standard charge included in every cleaning. Keep it neutral; don't imply it was charged incorrectly. If they only wanted clarification, the explanation is enough. If they're still unhappy but staying, you may issue a one-time $10 or $20 account credit as goodwill (use your judgment). Never issue a credit equal to the Processing Fee itself: that implies the fee was inappropriate. If they specifically want cash back instead of credits, or will cancel unless refunded, you may issue a $10 or $20 partial refund instead. Set clear expectations that the fee is standard and ongoing: this is a one-time exception, not a waiver. Homeaglow failed to set proper expectations: refund the Processing Fee in full to the original payment method, and acknowledge the specific expectation-setting issue without suggesting the fee is generally invalid. If they no longer want their ForeverClean membership because of it, waive the ETF when processing the cancellation.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3.xml"/><Relationship Id="rId14" Type="http://schemas.openxmlformats.org/officeDocument/2006/relationships/slide" Target="slide33.xml"/><Relationship Id="rId15" Type="http://schemas.openxmlformats.org/officeDocument/2006/relationships/slide" Target="slide33.xml"/><Relationship Id="rId16" Type="http://schemas.openxmlformats.org/officeDocument/2006/relationships/slide" Target="slide39.xml"/><Relationship Id="rId17" Type="http://schemas.openxmlformats.org/officeDocument/2006/relationships/slide" Target="slide39.xml"/><Relationship Id="rId18" Type="http://schemas.openxmlformats.org/officeDocument/2006/relationships/slide" Target="slide39.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2.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pPr indent="0" marL="0">
                        <a:buNone/>
                      </a:pP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409194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&lt; 48 hrs</a:t>
            </a:r>
            <a:endParaRPr lang="en-US" sz="2800" dirty="0"/>
          </a:p>
        </p:txBody>
      </p:sp>
      <p:sp>
        <p:nvSpPr>
          <p:cNvPr id="8" name="Text 5"/>
          <p:cNvSpPr txBox="1"/>
          <p:nvPr/>
        </p:nvSpPr>
        <p:spPr>
          <a:xfrm>
            <a:off x="5943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4640580" y="1298448"/>
            <a:ext cx="4091940" cy="1051560"/>
          </a:xfrm>
          <a:prstGeom prst="roundRect">
            <a:avLst>
              <a:gd name="adj" fmla="val 6957"/>
            </a:avLst>
          </a:prstGeom>
          <a:solidFill>
            <a:srgbClr val="FFFFFF"/>
          </a:solidFill>
          <a:ln w="9525">
            <a:solidFill>
              <a:srgbClr val="DCE1E7"/>
            </a:solidFill>
            <a:prstDash val="solid"/>
          </a:ln>
        </p:spPr>
      </p:sp>
      <p:sp>
        <p:nvSpPr>
          <p:cNvPr id="10" name="Text 7"/>
          <p:cNvSpPr txBox="1"/>
          <p:nvPr/>
        </p:nvSpPr>
        <p:spPr>
          <a:xfrm>
            <a:off x="46405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+ 15%</a:t>
            </a:r>
            <a:endParaRPr lang="en-US" sz="2800" dirty="0"/>
          </a:p>
        </p:txBody>
      </p:sp>
      <p:sp>
        <p:nvSpPr>
          <p:cNvPr id="11" name="Text 8"/>
          <p:cNvSpPr txBox="1"/>
          <p:nvPr/>
        </p:nvSpPr>
        <p:spPr>
          <a:xfrm>
            <a:off x="48234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Text 9"/>
          <p:cNvSpPr/>
          <p:nvPr/>
        </p:nvSpPr>
        <p:spPr>
          <a:xfrm>
            <a:off x="9029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What the customer sees when booking</a:t>
            </a:r>
            <a:endParaRPr lang="en-US" sz="1000" dirty="0"/>
          </a:p>
        </p:txBody>
      </p:sp>
      <p:sp>
        <p:nvSpPr>
          <p:cNvPr id="13" name="Text 10"/>
          <p:cNvSpPr/>
          <p:nvPr/>
        </p:nvSpPr>
        <p:spPr>
          <a:xfrm>
            <a:off x="51320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How it shows in Job Admin</a:t>
            </a:r>
            <a:endParaRPr lang="en-US" sz="1000" dirty="0"/>
          </a:p>
        </p:txBody>
      </p:sp>
      <p:sp>
        <p:nvSpPr>
          <p:cNvPr id="14" name="Shape 11"/>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6" name="Text 12"/>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pPr indent="0" marL="0">
              <a:buNone/>
            </a:pP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17" name="pop1_2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18" name="pop1_2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What the customer sees when booking</a:t>
            </a:r>
            <a:endParaRPr lang="en-US" sz="1200" dirty="0"/>
          </a:p>
        </p:txBody>
      </p:sp>
      <p:pic>
        <p:nvPicPr>
          <p:cNvPr id="19" name="pop1_2Img" descr="/tmp/claude-0/-workspace-training/3ce5cff6-cccf-5f33-b0ee-0b147a55120e/scratchpad/img6/priority_prompt.png">    </p:cNvPr>
          <p:cNvPicPr>
            <a:picLocks noChangeAspect="1"/>
          </p:cNvPicPr>
          <p:nvPr/>
        </p:nvPicPr>
        <p:blipFill>
          <a:blip r:embed="rId2"/>
          <a:stretch>
            <a:fillRect/>
          </a:stretch>
        </p:blipFill>
        <p:spPr>
          <a:xfrm>
            <a:off x="1651960" y="1755648"/>
            <a:ext cx="5840080" cy="2779776"/>
          </a:xfrm>
          <a:prstGeom prst="rect">
            <a:avLst/>
          </a:prstGeom>
        </p:spPr>
      </p:pic>
      <p:sp>
        <p:nvSpPr>
          <p:cNvPr id="20" name="pop1_2Frame"/>
          <p:cNvSpPr/>
          <p:nvPr/>
        </p:nvSpPr>
        <p:spPr>
          <a:xfrm>
            <a:off x="1651960" y="1755648"/>
            <a:ext cx="5840080" cy="2779776"/>
          </a:xfrm>
          <a:prstGeom prst="rect">
            <a:avLst/>
          </a:prstGeom>
          <a:ln w="9525">
            <a:solidFill>
              <a:srgbClr val="DCE1E7"/>
            </a:solidFill>
            <a:prstDash val="solid"/>
          </a:ln>
        </p:spPr>
      </p:sp>
      <p:sp>
        <p:nvSpPr>
          <p:cNvPr id="21" name="pop2_3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2" name="pop2_3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How it shows in Job Admin</a:t>
            </a:r>
            <a:endParaRPr lang="en-US" sz="1200" dirty="0"/>
          </a:p>
        </p:txBody>
      </p:sp>
      <p:pic>
        <p:nvPicPr>
          <p:cNvPr id="23" name="pop2_3Img" descr="/tmp/claude-0/-workspace-training/3ce5cff6-cccf-5f33-b0ee-0b147a55120e/scratchpad/img6/priority_crm.png">    </p:cNvPr>
          <p:cNvPicPr>
            <a:picLocks noChangeAspect="1"/>
          </p:cNvPicPr>
          <p:nvPr/>
        </p:nvPicPr>
        <p:blipFill>
          <a:blip r:embed="rId3"/>
          <a:stretch>
            <a:fillRect/>
          </a:stretch>
        </p:blipFill>
        <p:spPr>
          <a:xfrm>
            <a:off x="1123670" y="1755648"/>
            <a:ext cx="6896659" cy="2779776"/>
          </a:xfrm>
          <a:prstGeom prst="rect">
            <a:avLst/>
          </a:prstGeom>
        </p:spPr>
      </p:pic>
      <p:sp>
        <p:nvSpPr>
          <p:cNvPr id="24" name="pop2_3Frame"/>
          <p:cNvSpPr/>
          <p:nvPr/>
        </p:nvSpPr>
        <p:spPr>
          <a:xfrm>
            <a:off x="1123670" y="1755648"/>
            <a:ext cx="6896659" cy="2779776"/>
          </a:xfrm>
          <a:prstGeom prst="rect">
            <a:avLst/>
          </a:prstGeom>
          <a:ln w="9525">
            <a:solidFill>
              <a:srgbClr val="DCE1E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6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6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600"/>
                                        <p:tgtEl>
                                          <p:spTgt spid="24"/>
                                        </p:tgtEl>
                                      </p:cBhvr>
                                    </p:animEffect>
                                  </p:childTnLst>
                                </p:cTn>
                              </p:par>
                            </p:childTnLst>
                          </p:cTn>
                        </p:par>
                      </p:childTnLst>
                    </p:cTn>
                  </p:par>
                  <p:par>
                    <p:cTn id="55" fill="hold">
                      <p:stCondLst>
                        <p:cond delay="indefinite"/>
                      </p:stCondLst>
                      <p:childTnLst>
                        <p:par>
                          <p:cTn id="56"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1"/>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22"/>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3"/>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17" grpId="1" animBg="1"/>
      <p:bldP spid="18" grpId="1" animBg="1"/>
      <p:bldP spid="20" grpId="1" animBg="1"/>
      <p:bldP spid="21" grpId="0" animBg="1"/>
      <p:bldP spid="22" grpId="0" animBg="1"/>
      <p:bldP spid="24" grpId="0" animBg="1"/>
      <p:bldP spid="21" grpId="1" animBg="1"/>
      <p:bldP spid="22" grpId="1" animBg="1"/>
      <p:bldP spid="2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pPr indent="0" marL="0">
              <a:buNone/>
            </a:pP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did they end up in the window?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history before you say anything about a resolution.</a:t>
            </a:r>
            <a:endParaRPr lang="en-US" sz="1200" dirty="0"/>
          </a:p>
        </p:txBody>
      </p:sp>
      <p:sp>
        <p:nvSpPr>
          <p:cNvPr id="6" name="Shape 3"/>
          <p:cNvSpPr/>
          <p:nvPr/>
        </p:nvSpPr>
        <p:spPr>
          <a:xfrm>
            <a:off x="2743200" y="1298448"/>
            <a:ext cx="3657600" cy="365760"/>
          </a:xfrm>
          <a:prstGeom prst="roundRect">
            <a:avLst>
              <a:gd name="adj" fmla="val 20000"/>
            </a:avLst>
          </a:prstGeom>
          <a:solidFill>
            <a:srgbClr val="0B7A6F"/>
          </a:solidFill>
          <a:ln w="12700">
            <a:solidFill>
              <a:srgbClr val="0B7A6F"/>
            </a:solidFill>
            <a:prstDash val="solid"/>
          </a:ln>
        </p:spPr>
      </p:sp>
      <p:sp>
        <p:nvSpPr>
          <p:cNvPr id="7" name="Text 4"/>
          <p:cNvSpPr txBox="1"/>
          <p:nvPr/>
        </p:nvSpPr>
        <p:spPr>
          <a:xfrm>
            <a:off x="2743200" y="1298448"/>
            <a:ext cx="3657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Pull up the account history</a:t>
            </a:r>
            <a:endParaRPr lang="en-US" sz="1000" dirty="0"/>
          </a:p>
        </p:txBody>
      </p:sp>
      <p:sp>
        <p:nvSpPr>
          <p:cNvPr id="8" name="Shape 5"/>
          <p:cNvSpPr/>
          <p:nvPr/>
        </p:nvSpPr>
        <p:spPr>
          <a:xfrm>
            <a:off x="4572000" y="1664208"/>
            <a:ext cx="0" cy="146304"/>
          </a:xfrm>
          <a:prstGeom prst="line">
            <a:avLst/>
          </a:prstGeom>
          <a:noFill/>
          <a:ln w="12700">
            <a:solidFill>
              <a:srgbClr val="6E6E73"/>
            </a:solidFill>
            <a:prstDash val="solid"/>
            <a:tailEnd type="triangle"/>
          </a:ln>
        </p:spPr>
      </p:sp>
      <p:sp>
        <p:nvSpPr>
          <p:cNvPr id="9" name="Shape 6"/>
          <p:cNvSpPr/>
          <p:nvPr/>
        </p:nvSpPr>
        <p:spPr>
          <a:xfrm>
            <a:off x="2468880" y="1810512"/>
            <a:ext cx="4206240" cy="420624"/>
          </a:xfrm>
          <a:prstGeom prst="roundRect">
            <a:avLst>
              <a:gd name="adj" fmla="val 17391"/>
            </a:avLst>
          </a:prstGeom>
          <a:solidFill>
            <a:srgbClr val="FFF3D6"/>
          </a:solidFill>
          <a:ln w="12700">
            <a:solidFill>
              <a:srgbClr val="9A6410"/>
            </a:solidFill>
            <a:prstDash val="solid"/>
          </a:ln>
        </p:spPr>
      </p:sp>
      <p:sp>
        <p:nvSpPr>
          <p:cNvPr id="10" name="Text 7"/>
          <p:cNvSpPr txBox="1"/>
          <p:nvPr/>
        </p:nvSpPr>
        <p:spPr>
          <a:xfrm>
            <a:off x="2468880" y="1810512"/>
            <a:ext cx="420624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Why did they end up in the priority window?</a:t>
            </a:r>
            <a:endParaRPr lang="en-US" sz="1000" dirty="0"/>
          </a:p>
        </p:txBody>
      </p:sp>
      <p:sp>
        <p:nvSpPr>
          <p:cNvPr id="11" name="Shape 8"/>
          <p:cNvSpPr/>
          <p:nvPr/>
        </p:nvSpPr>
        <p:spPr>
          <a:xfrm>
            <a:off x="4572000" y="2231136"/>
            <a:ext cx="0" cy="146304"/>
          </a:xfrm>
          <a:prstGeom prst="line">
            <a:avLst/>
          </a:prstGeom>
          <a:noFill/>
          <a:ln w="12700">
            <a:solidFill>
              <a:srgbClr val="6E6E73"/>
            </a:solidFill>
            <a:prstDash val="solid"/>
          </a:ln>
        </p:spPr>
      </p:sp>
      <p:sp>
        <p:nvSpPr>
          <p:cNvPr id="12" name="Shape 9"/>
          <p:cNvSpPr/>
          <p:nvPr/>
        </p:nvSpPr>
        <p:spPr>
          <a:xfrm>
            <a:off x="2331720" y="2377440"/>
            <a:ext cx="4480560" cy="0"/>
          </a:xfrm>
          <a:prstGeom prst="line">
            <a:avLst/>
          </a:prstGeom>
          <a:noFill/>
          <a:ln w="12700">
            <a:solidFill>
              <a:srgbClr val="6E6E73"/>
            </a:solidFill>
            <a:prstDash val="solid"/>
          </a:ln>
        </p:spPr>
      </p:sp>
      <p:sp>
        <p:nvSpPr>
          <p:cNvPr id="13" name="Shape 10"/>
          <p:cNvSpPr/>
          <p:nvPr/>
        </p:nvSpPr>
        <p:spPr>
          <a:xfrm>
            <a:off x="2331720" y="2377440"/>
            <a:ext cx="0" cy="146304"/>
          </a:xfrm>
          <a:prstGeom prst="line">
            <a:avLst/>
          </a:prstGeom>
          <a:noFill/>
          <a:ln w="12700">
            <a:solidFill>
              <a:srgbClr val="6E6E73"/>
            </a:solidFill>
            <a:prstDash val="solid"/>
            <a:tailEnd type="triangle"/>
          </a:ln>
        </p:spPr>
      </p:sp>
      <p:sp>
        <p:nvSpPr>
          <p:cNvPr id="14" name="Shape 11"/>
          <p:cNvSpPr/>
          <p:nvPr/>
        </p:nvSpPr>
        <p:spPr>
          <a:xfrm>
            <a:off x="6812280" y="2377440"/>
            <a:ext cx="0" cy="146304"/>
          </a:xfrm>
          <a:prstGeom prst="line">
            <a:avLst/>
          </a:prstGeom>
          <a:noFill/>
          <a:ln w="12700">
            <a:solidFill>
              <a:srgbClr val="6E6E73"/>
            </a:solidFill>
            <a:prstDash val="solid"/>
            <a:tailEnd type="triangle"/>
          </a:ln>
        </p:spPr>
      </p:sp>
      <p:sp>
        <p:nvSpPr>
          <p:cNvPr id="15" name="Text 12"/>
          <p:cNvSpPr txBox="1"/>
          <p:nvPr/>
        </p:nvSpPr>
        <p:spPr>
          <a:xfrm>
            <a:off x="2404872" y="239572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395728"/>
            <a:ext cx="548640" cy="201168"/>
          </a:xfrm>
          <a:prstGeom prst="rect">
            <a:avLst/>
          </a:prstGeom>
          <a:noFill/>
          <a:ln/>
        </p:spPr>
        <p:txBody>
          <a:bodyPr wrap="square" lIns="0" tIns="0" rIns="0" bIns="0" rtlCol="0" anchor="t"/>
          <a:lstStyle/>
          <a:p>
            <a:pPr indent="0" marL="0">
              <a:buNone/>
            </a:pPr>
            <a:endParaRPr lang="en-US" sz="850" dirty="0"/>
          </a:p>
        </p:txBody>
      </p:sp>
      <p:sp>
        <p:nvSpPr>
          <p:cNvPr id="17" name="Text 14"/>
          <p:cNvSpPr txBox="1"/>
          <p:nvPr/>
        </p:nvSpPr>
        <p:spPr>
          <a:xfrm>
            <a:off x="2404872" y="2386584"/>
            <a:ext cx="1463040" cy="13716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Their own choice</a:t>
            </a:r>
            <a:endParaRPr lang="en-US" sz="800" dirty="0"/>
          </a:p>
        </p:txBody>
      </p:sp>
      <p:sp>
        <p:nvSpPr>
          <p:cNvPr id="18" name="Text 15"/>
          <p:cNvSpPr txBox="1"/>
          <p:nvPr/>
        </p:nvSpPr>
        <p:spPr>
          <a:xfrm>
            <a:off x="6885432" y="2377440"/>
            <a:ext cx="1828800" cy="146304"/>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Homeaglow or the CP caused it</a:t>
            </a:r>
            <a:endParaRPr lang="en-US" sz="800" dirty="0"/>
          </a:p>
        </p:txBody>
      </p:sp>
      <p:sp>
        <p:nvSpPr>
          <p:cNvPr id="19" name="Shape 16"/>
          <p:cNvSpPr/>
          <p:nvPr/>
        </p:nvSpPr>
        <p:spPr>
          <a:xfrm>
            <a:off x="411480" y="2523744"/>
            <a:ext cx="3840480" cy="457200"/>
          </a:xfrm>
          <a:prstGeom prst="roundRect">
            <a:avLst>
              <a:gd name="adj" fmla="val 16000"/>
            </a:avLst>
          </a:prstGeom>
          <a:solidFill>
            <a:srgbClr val="FFFFFF"/>
          </a:solidFill>
          <a:ln w="12700">
            <a:solidFill>
              <a:srgbClr val="DCE1E7"/>
            </a:solidFill>
            <a:prstDash val="solid"/>
          </a:ln>
        </p:spPr>
      </p:sp>
      <p:sp>
        <p:nvSpPr>
          <p:cNvPr id="20" name="Text 17"/>
          <p:cNvSpPr txBox="1"/>
          <p:nvPr/>
        </p:nvSpPr>
        <p:spPr>
          <a:xfrm>
            <a:off x="411480" y="2523744"/>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Fee stands. Explain the policy plainly.</a:t>
            </a:r>
            <a:endParaRPr lang="en-US" sz="1000" dirty="0"/>
          </a:p>
        </p:txBody>
      </p:sp>
      <p:sp>
        <p:nvSpPr>
          <p:cNvPr id="21" name="Shape 18"/>
          <p:cNvSpPr/>
          <p:nvPr/>
        </p:nvSpPr>
        <p:spPr>
          <a:xfrm>
            <a:off x="2331720" y="2980944"/>
            <a:ext cx="0" cy="109728"/>
          </a:xfrm>
          <a:prstGeom prst="line">
            <a:avLst/>
          </a:prstGeom>
          <a:noFill/>
          <a:ln w="12700">
            <a:solidFill>
              <a:srgbClr val="6E6E73"/>
            </a:solidFill>
            <a:prstDash val="solid"/>
            <a:tailEnd type="triangle"/>
          </a:ln>
        </p:spPr>
      </p:sp>
      <p:sp>
        <p:nvSpPr>
          <p:cNvPr id="22" name="Shape 19"/>
          <p:cNvSpPr/>
          <p:nvPr/>
        </p:nvSpPr>
        <p:spPr>
          <a:xfrm>
            <a:off x="411480" y="3090672"/>
            <a:ext cx="3840480" cy="457200"/>
          </a:xfrm>
          <a:prstGeom prst="roundRect">
            <a:avLst>
              <a:gd name="adj" fmla="val 16000"/>
            </a:avLst>
          </a:prstGeom>
          <a:solidFill>
            <a:srgbClr val="0B7A6F"/>
          </a:solidFill>
          <a:ln w="12700">
            <a:solidFill>
              <a:srgbClr val="0B7A6F"/>
            </a:solidFill>
            <a:prstDash val="solid"/>
          </a:ln>
        </p:spPr>
      </p:sp>
      <p:sp>
        <p:nvSpPr>
          <p:cNvPr id="23" name="Text 20"/>
          <p:cNvSpPr txBox="1"/>
          <p:nvPr/>
        </p:nvSpPr>
        <p:spPr>
          <a:xfrm>
            <a:off x="411480" y="3090672"/>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Courtesy credits, up to 100% of the fee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 ceiling, not a starting point)</a:t>
            </a:r>
            <a:endParaRPr lang="en-US" sz="1000" dirty="0"/>
          </a:p>
        </p:txBody>
      </p:sp>
      <p:sp>
        <p:nvSpPr>
          <p:cNvPr id="24" name="Shape 21"/>
          <p:cNvSpPr/>
          <p:nvPr/>
        </p:nvSpPr>
        <p:spPr>
          <a:xfrm>
            <a:off x="4892040" y="2523744"/>
            <a:ext cx="3840480" cy="457200"/>
          </a:xfrm>
          <a:prstGeom prst="roundRect">
            <a:avLst>
              <a:gd name="adj" fmla="val 16000"/>
            </a:avLst>
          </a:prstGeom>
          <a:solidFill>
            <a:srgbClr val="0B7A6F"/>
          </a:solidFill>
          <a:ln w="12700">
            <a:solidFill>
              <a:srgbClr val="0B7A6F"/>
            </a:solidFill>
            <a:prstDash val="solid"/>
          </a:ln>
        </p:spPr>
      </p:sp>
      <p:sp>
        <p:nvSpPr>
          <p:cNvPr id="25" name="Text 22"/>
          <p:cNvSpPr txBox="1"/>
          <p:nvPr/>
        </p:nvSpPr>
        <p:spPr>
          <a:xfrm>
            <a:off x="4892040" y="2523744"/>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full fee + 15% processing</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980944"/>
            <a:ext cx="0" cy="109728"/>
          </a:xfrm>
          <a:prstGeom prst="line">
            <a:avLst/>
          </a:prstGeom>
          <a:noFill/>
          <a:ln w="12700">
            <a:solidFill>
              <a:srgbClr val="6E6E73"/>
            </a:solidFill>
            <a:prstDash val="solid"/>
            <a:tailEnd type="triangle"/>
          </a:ln>
        </p:spPr>
      </p:sp>
      <p:sp>
        <p:nvSpPr>
          <p:cNvPr id="27" name="Shape 24"/>
          <p:cNvSpPr/>
          <p:nvPr/>
        </p:nvSpPr>
        <p:spPr>
          <a:xfrm>
            <a:off x="4892040" y="3090672"/>
            <a:ext cx="384048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4892040" y="3090672"/>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exactly what happened</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("your last cleaner cancelled…")</a:t>
            </a:r>
            <a:endParaRPr lang="en-US" sz="1000" dirty="0"/>
          </a:p>
        </p:txBody>
      </p:sp>
      <p:sp>
        <p:nvSpPr>
          <p:cNvPr id="29" name="Shape 26"/>
          <p:cNvSpPr/>
          <p:nvPr/>
        </p:nvSpPr>
        <p:spPr>
          <a:xfrm>
            <a:off x="411480" y="3657600"/>
            <a:ext cx="3840480" cy="292608"/>
          </a:xfrm>
          <a:prstGeom prst="roundRect">
            <a:avLst>
              <a:gd name="adj" fmla="val 25000"/>
            </a:avLst>
          </a:prstGeom>
          <a:solidFill>
            <a:srgbClr val="FFF3D6"/>
          </a:solidFill>
          <a:ln w="9525">
            <a:solidFill>
              <a:srgbClr val="9A6410"/>
            </a:solidFill>
            <a:prstDash val="solid"/>
          </a:ln>
        </p:spPr>
      </p:sp>
      <p:pic>
        <p:nvPicPr>
          <p:cNvPr id="30" name="Image 0" descr="preencoded.png">    </p:cNvPr>
          <p:cNvPicPr>
            <a:picLocks noChangeAspect="1"/>
          </p:cNvPicPr>
          <p:nvPr/>
        </p:nvPicPr>
        <p:blipFill>
          <a:blip r:embed="rId1"/>
          <a:stretch>
            <a:fillRect/>
          </a:stretch>
        </p:blipFill>
        <p:spPr>
          <a:xfrm>
            <a:off x="521208" y="3730752"/>
            <a:ext cx="146304" cy="146304"/>
          </a:xfrm>
          <a:prstGeom prst="rect">
            <a:avLst/>
          </a:prstGeom>
        </p:spPr>
      </p:pic>
      <p:sp>
        <p:nvSpPr>
          <p:cNvPr id="31" name="Text 27"/>
          <p:cNvSpPr txBox="1"/>
          <p:nvPr/>
        </p:nvSpPr>
        <p:spPr>
          <a:xfrm>
            <a:off x="73152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32" name="Shape 28"/>
          <p:cNvSpPr/>
          <p:nvPr/>
        </p:nvSpPr>
        <p:spPr>
          <a:xfrm>
            <a:off x="4892040" y="3657600"/>
            <a:ext cx="3840480" cy="292608"/>
          </a:xfrm>
          <a:prstGeom prst="roundRect">
            <a:avLst>
              <a:gd name="adj" fmla="val 25000"/>
            </a:avLst>
          </a:prstGeom>
          <a:solidFill>
            <a:srgbClr val="FFF3D6"/>
          </a:solidFill>
          <a:ln w="9525">
            <a:solidFill>
              <a:srgbClr val="9A6410"/>
            </a:solidFill>
            <a:prstDash val="solid"/>
          </a:ln>
        </p:spPr>
      </p:sp>
      <p:pic>
        <p:nvPicPr>
          <p:cNvPr id="33" name="Image 1" descr="preencoded.png">    </p:cNvPr>
          <p:cNvPicPr>
            <a:picLocks noChangeAspect="1"/>
          </p:cNvPicPr>
          <p:nvPr/>
        </p:nvPicPr>
        <p:blipFill>
          <a:blip r:embed="rId2"/>
          <a:stretch>
            <a:fillRect/>
          </a:stretch>
        </p:blipFill>
        <p:spPr>
          <a:xfrm>
            <a:off x="5001768" y="3730752"/>
            <a:ext cx="146304" cy="146304"/>
          </a:xfrm>
          <a:prstGeom prst="rect">
            <a:avLst/>
          </a:prstGeom>
        </p:spPr>
      </p:pic>
      <p:sp>
        <p:nvSpPr>
          <p:cNvPr id="34" name="Text 29"/>
          <p:cNvSpPr txBox="1"/>
          <p:nvPr/>
        </p:nvSpPr>
        <p:spPr>
          <a:xfrm>
            <a:off x="521208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35" name="Shape 30"/>
          <p:cNvSpPr/>
          <p:nvPr/>
        </p:nvSpPr>
        <p:spPr>
          <a:xfrm>
            <a:off x="411480" y="4133088"/>
            <a:ext cx="8321040" cy="384048"/>
          </a:xfrm>
          <a:prstGeom prst="roundRect">
            <a:avLst>
              <a:gd name="adj" fmla="val 19048"/>
            </a:avLst>
          </a:prstGeom>
          <a:solidFill>
            <a:srgbClr val="FFF3D6"/>
          </a:solidFill>
          <a:ln w="9525">
            <a:solidFill>
              <a:srgbClr val="FFF3D6"/>
            </a:solidFill>
            <a:prstDash val="solid"/>
          </a:ln>
        </p:spPr>
      </p:sp>
      <p:pic>
        <p:nvPicPr>
          <p:cNvPr id="36" name="Image 2" descr="preencoded.png">    </p:cNvPr>
          <p:cNvPicPr>
            <a:picLocks noChangeAspect="1"/>
          </p:cNvPicPr>
          <p:nvPr/>
        </p:nvPicPr>
        <p:blipFill>
          <a:blip r:embed="rId3"/>
          <a:stretch>
            <a:fillRect/>
          </a:stretch>
        </p:blipFill>
        <p:spPr>
          <a:xfrm>
            <a:off x="566928" y="4242816"/>
            <a:ext cx="164592" cy="164592"/>
          </a:xfrm>
          <a:prstGeom prst="rect">
            <a:avLst/>
          </a:prstGeom>
        </p:spPr>
      </p:pic>
      <p:sp>
        <p:nvSpPr>
          <p:cNvPr id="37" name="Text 31"/>
          <p:cNvSpPr txBox="1"/>
          <p:nvPr/>
        </p:nvSpPr>
        <p:spPr>
          <a:xfrm>
            <a:off x="822960" y="42336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sure which?  </a:t>
            </a:r>
            <a:pPr indent="0" marL="0">
              <a:buNone/>
            </a:pPr>
            <a:r>
              <a:rPr lang="en-US" sz="1000" dirty="0">
                <a:solidFill>
                  <a:srgbClr val="1D1D1F"/>
                </a:solidFill>
                <a:latin typeface="SF Pro Text" pitchFamily="34" charset="0"/>
                <a:ea typeface="SF Pro Text" pitchFamily="34" charset="-122"/>
                <a:cs typeface="SF Pro Text" pitchFamily="34" charset="-120"/>
              </a:rPr>
              <a:t>escalate before you commit to either. Never refund and credit the same fee.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it's on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Known examples. Not an exhaustive list.</a:t>
            </a:r>
            <a:endParaRPr lang="en-US" sz="1200" dirty="0"/>
          </a:p>
        </p:txBody>
      </p:sp>
      <p:sp>
        <p:nvSpPr>
          <p:cNvPr id="6" name="Shape 3"/>
          <p:cNvSpPr/>
          <p:nvPr/>
        </p:nvSpPr>
        <p:spPr>
          <a:xfrm>
            <a:off x="411480" y="1298448"/>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63040"/>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42044"/>
            <a:ext cx="171176" cy="171176"/>
          </a:xfrm>
          <a:prstGeom prst="rect">
            <a:avLst/>
          </a:prstGeom>
        </p:spPr>
      </p:pic>
      <p:sp>
        <p:nvSpPr>
          <p:cNvPr id="9" name="Text 5"/>
          <p:cNvSpPr txBox="1"/>
          <p:nvPr/>
        </p:nvSpPr>
        <p:spPr>
          <a:xfrm>
            <a:off x="5760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no-show</a:t>
            </a:r>
            <a:endParaRPr lang="en-US" sz="1200" dirty="0"/>
          </a:p>
        </p:txBody>
      </p:sp>
      <p:sp>
        <p:nvSpPr>
          <p:cNvPr id="10" name="Text 6"/>
          <p:cNvSpPr txBox="1"/>
          <p:nvPr/>
        </p:nvSpPr>
        <p:spPr>
          <a:xfrm>
            <a:off x="5760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11" name="Shape 7"/>
          <p:cNvSpPr/>
          <p:nvPr/>
        </p:nvSpPr>
        <p:spPr>
          <a:xfrm>
            <a:off x="2526030" y="1298448"/>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63040"/>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42044"/>
            <a:ext cx="171176" cy="171176"/>
          </a:xfrm>
          <a:prstGeom prst="rect">
            <a:avLst/>
          </a:prstGeom>
        </p:spPr>
      </p:pic>
      <p:sp>
        <p:nvSpPr>
          <p:cNvPr id="14" name="Text 9"/>
          <p:cNvSpPr txBox="1"/>
          <p:nvPr/>
        </p:nvSpPr>
        <p:spPr>
          <a:xfrm>
            <a:off x="26906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rescheduled</a:t>
            </a:r>
            <a:endParaRPr lang="en-US" sz="1200" dirty="0"/>
          </a:p>
        </p:txBody>
      </p:sp>
      <p:sp>
        <p:nvSpPr>
          <p:cNvPr id="15" name="Text 10"/>
          <p:cNvSpPr txBox="1"/>
          <p:nvPr/>
        </p:nvSpPr>
        <p:spPr>
          <a:xfrm>
            <a:off x="26906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16" name="Shape 11"/>
          <p:cNvSpPr/>
          <p:nvPr/>
        </p:nvSpPr>
        <p:spPr>
          <a:xfrm>
            <a:off x="4640580" y="1298448"/>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6304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42044"/>
            <a:ext cx="171176" cy="171176"/>
          </a:xfrm>
          <a:prstGeom prst="rect">
            <a:avLst/>
          </a:prstGeom>
        </p:spPr>
      </p:pic>
      <p:sp>
        <p:nvSpPr>
          <p:cNvPr id="19" name="Text 13"/>
          <p:cNvSpPr txBox="1"/>
          <p:nvPr/>
        </p:nvSpPr>
        <p:spPr>
          <a:xfrm>
            <a:off x="48051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bug</a:t>
            </a:r>
            <a:endParaRPr lang="en-US" sz="1200" dirty="0"/>
          </a:p>
        </p:txBody>
      </p:sp>
      <p:sp>
        <p:nvSpPr>
          <p:cNvPr id="20" name="Text 14"/>
          <p:cNvSpPr txBox="1"/>
          <p:nvPr/>
        </p:nvSpPr>
        <p:spPr>
          <a:xfrm>
            <a:off x="48051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21" name="Shape 15"/>
          <p:cNvSpPr/>
          <p:nvPr/>
        </p:nvSpPr>
        <p:spPr>
          <a:xfrm>
            <a:off x="6755130" y="1298448"/>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6304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42044"/>
            <a:ext cx="171176" cy="171176"/>
          </a:xfrm>
          <a:prstGeom prst="rect">
            <a:avLst/>
          </a:prstGeom>
        </p:spPr>
      </p:pic>
      <p:sp>
        <p:nvSpPr>
          <p:cNvPr id="24" name="Text 17"/>
          <p:cNvSpPr txBox="1"/>
          <p:nvPr/>
        </p:nvSpPr>
        <p:spPr>
          <a:xfrm>
            <a:off x="69197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Rebooked after PCQ</a:t>
            </a:r>
            <a:endParaRPr lang="en-US" sz="1200" dirty="0"/>
          </a:p>
        </p:txBody>
      </p:sp>
      <p:sp>
        <p:nvSpPr>
          <p:cNvPr id="25" name="Text 18"/>
          <p:cNvSpPr txBox="1"/>
          <p:nvPr/>
        </p:nvSpPr>
        <p:spPr>
          <a:xfrm>
            <a:off x="69197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6" name="Shape 19"/>
          <p:cNvSpPr/>
          <p:nvPr/>
        </p:nvSpPr>
        <p:spPr>
          <a:xfrm>
            <a:off x="411480" y="3035808"/>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45536"/>
            <a:ext cx="164592" cy="164592"/>
          </a:xfrm>
          <a:prstGeom prst="rect">
            <a:avLst/>
          </a:prstGeom>
        </p:spPr>
      </p:pic>
      <p:sp>
        <p:nvSpPr>
          <p:cNvPr id="28" name="Text 20"/>
          <p:cNvSpPr txBox="1"/>
          <p:nvPr/>
        </p:nvSpPr>
        <p:spPr>
          <a:xfrm>
            <a:off x="822960" y="313639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Genuinely comparable?  </a:t>
            </a:r>
            <a:pPr indent="0" marL="0">
              <a:buNone/>
            </a:pPr>
            <a:r>
              <a:rPr lang="en-US" sz="1000" dirty="0">
                <a:solidFill>
                  <a:srgbClr val="1D1D1F"/>
                </a:solidFill>
                <a:latin typeface="SF Pro Text" pitchFamily="34" charset="0"/>
                <a:ea typeface="SF Pro Text" pitchFamily="34" charset="-122"/>
                <a:cs typeface="SF Pro Text" pitchFamily="34" charset="-120"/>
              </a:rPr>
              <a:t>treat it the same. Their own choice dressed up differently? Escalate.</a:t>
            </a:r>
            <a:endParaRPr lang="en-US" sz="1000" dirty="0"/>
          </a:p>
        </p:txBody>
      </p:sp>
      <p:sp>
        <p:nvSpPr>
          <p:cNvPr id="29" name="Shape 21"/>
          <p:cNvSpPr/>
          <p:nvPr/>
        </p:nvSpPr>
        <p:spPr>
          <a:xfrm>
            <a:off x="411480" y="3529584"/>
            <a:ext cx="8321040" cy="384048"/>
          </a:xfrm>
          <a:prstGeom prst="roundRect">
            <a:avLst>
              <a:gd name="adj" fmla="val 19048"/>
            </a:avLst>
          </a:prstGeom>
          <a:solidFill>
            <a:srgbClr val="FFF3D6"/>
          </a:solidFill>
          <a:ln w="9525">
            <a:solidFill>
              <a:srgbClr val="FFF3D6"/>
            </a:solidFill>
            <a:prstDash val="solid"/>
          </a:ln>
        </p:spPr>
      </p:sp>
      <p:pic>
        <p:nvPicPr>
          <p:cNvPr id="30" name="Image 5" descr="preencoded.png">    </p:cNvPr>
          <p:cNvPicPr>
            <a:picLocks noChangeAspect="1"/>
          </p:cNvPicPr>
          <p:nvPr/>
        </p:nvPicPr>
        <p:blipFill>
          <a:blip r:embed="rId6"/>
          <a:stretch>
            <a:fillRect/>
          </a:stretch>
        </p:blipFill>
        <p:spPr>
          <a:xfrm>
            <a:off x="566928" y="3639312"/>
            <a:ext cx="164592" cy="164592"/>
          </a:xfrm>
          <a:prstGeom prst="rect">
            <a:avLst/>
          </a:prstGeom>
        </p:spPr>
      </p:pic>
      <p:sp>
        <p:nvSpPr>
          <p:cNvPr id="31" name="Text 22"/>
          <p:cNvSpPr txBox="1"/>
          <p:nvPr/>
        </p:nvSpPr>
        <p:spPr>
          <a:xfrm>
            <a:off x="822960" y="3630168"/>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Repeat disputes?  </a:t>
            </a:r>
            <a:pPr indent="0" marL="0">
              <a:buNone/>
            </a:pPr>
            <a:r>
              <a:rPr lang="en-US" sz="1000" dirty="0">
                <a:solidFill>
                  <a:srgbClr val="1D1D1F"/>
                </a:solidFill>
                <a:latin typeface="SF Pro Text" pitchFamily="34" charset="0"/>
                <a:ea typeface="SF Pro Text" pitchFamily="34" charset="-122"/>
                <a:cs typeface="SF Pro Text" pitchFamily="34" charset="-120"/>
              </a:rPr>
              <a:t>check for earlier Priority Fee disputes before offering credits again.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Shape 10"/>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5" name="Shape 11"/>
          <p:cNvSpPr/>
          <p:nvPr/>
        </p:nvSpPr>
        <p:spPr>
          <a:xfrm>
            <a:off x="6035040" y="1508760"/>
            <a:ext cx="384048" cy="384048"/>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6127212" y="1600932"/>
            <a:ext cx="199705" cy="199705"/>
          </a:xfrm>
          <a:prstGeom prst="rect">
            <a:avLst/>
          </a:prstGeom>
        </p:spPr>
      </p:pic>
      <p:sp>
        <p:nvSpPr>
          <p:cNvPr id="17" name="Text 12"/>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the Priority Fee</a:t>
            </a:r>
            <a:endParaRPr lang="en-US" sz="1300" dirty="0"/>
          </a:p>
        </p:txBody>
      </p:sp>
      <p:sp>
        <p:nvSpPr>
          <p:cNvPr id="18" name="Text 13"/>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Automatic, not chosen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Triggered by booking or rescheduling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Inside the 48-hour window</a:t>
            </a:r>
            <a:endParaRPr lang="en-US" sz="1000" dirty="0"/>
          </a:p>
        </p:txBody>
      </p:sp>
      <p:sp>
        <p:nvSpPr>
          <p:cNvPr id="19" name="Shape 14"/>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0" name="Image 2" descr="preencoded.png">    </p:cNvPr>
          <p:cNvPicPr>
            <a:picLocks noChangeAspect="1"/>
          </p:cNvPicPr>
          <p:nvPr/>
        </p:nvPicPr>
        <p:blipFill>
          <a:blip r:embed="rId3"/>
          <a:stretch>
            <a:fillRect/>
          </a:stretch>
        </p:blipFill>
        <p:spPr>
          <a:xfrm>
            <a:off x="566928" y="3584448"/>
            <a:ext cx="164592" cy="164592"/>
          </a:xfrm>
          <a:prstGeom prst="rect">
            <a:avLst/>
          </a:prstGeom>
        </p:spPr>
      </p:pic>
      <p:sp>
        <p:nvSpPr>
          <p:cNvPr id="21" name="Text 15"/>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pPr indent="0" marL="0">
              <a:buNone/>
            </a:pP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566928" y="3310128"/>
            <a:ext cx="164592" cy="164592"/>
          </a:xfrm>
          <a:prstGeom prst="rect">
            <a:avLst/>
          </a:prstGeom>
        </p:spPr>
      </p:pic>
      <p:sp>
        <p:nvSpPr>
          <p:cNvPr id="19"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Confirmed service issue?  </a:t>
            </a:r>
            <a:pPr indent="0" marL="0">
              <a:buNone/>
            </a:pPr>
            <a:r>
              <a:rPr lang="en-US" sz="1000" dirty="0">
                <a:solidFill>
                  <a:srgbClr val="1D1D1F"/>
                </a:solidFill>
                <a:latin typeface="SF Pro Text" pitchFamily="34" charset="0"/>
                <a:ea typeface="SF Pro Text" pitchFamily="34" charset="-122"/>
                <a:cs typeface="SF Pro Text" pitchFamily="34" charset="-120"/>
              </a:rPr>
              <a:t>always check for a Premium Fee, and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the experience to Standard</a:t>
            </a: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Shape 1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0"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1" name="Text 1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pPr indent="0" marL="0">
              <a:buNone/>
            </a:pP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pPr indent="0" marL="0">
              <a:buNone/>
            </a:pP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Choose the resolution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Based on why they're contesting it, not just that they are.</a:t>
            </a:r>
            <a:endParaRPr lang="en-US" sz="1200" dirty="0"/>
          </a:p>
        </p:txBody>
      </p:sp>
      <p:sp>
        <p:nvSpPr>
          <p:cNvPr id="6" name="Shape 3"/>
          <p:cNvSpPr/>
          <p:nvPr/>
        </p:nvSpPr>
        <p:spPr>
          <a:xfrm>
            <a:off x="24688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24688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Homeaglow set expectations properly?</a:t>
            </a:r>
            <a:endParaRPr lang="en-US" sz="1000" dirty="0"/>
          </a:p>
        </p:txBody>
      </p:sp>
      <p:sp>
        <p:nvSpPr>
          <p:cNvPr id="8" name="Shape 5"/>
          <p:cNvSpPr/>
          <p:nvPr/>
        </p:nvSpPr>
        <p:spPr>
          <a:xfrm>
            <a:off x="4572000" y="1700784"/>
            <a:ext cx="0" cy="128016"/>
          </a:xfrm>
          <a:prstGeom prst="line">
            <a:avLst/>
          </a:prstGeom>
          <a:noFill/>
          <a:ln w="12700">
            <a:solidFill>
              <a:srgbClr val="6E6E73"/>
            </a:solidFill>
            <a:prstDash val="solid"/>
          </a:ln>
        </p:spPr>
      </p:sp>
      <p:sp>
        <p:nvSpPr>
          <p:cNvPr id="9" name="Shape 6"/>
          <p:cNvSpPr/>
          <p:nvPr/>
        </p:nvSpPr>
        <p:spPr>
          <a:xfrm>
            <a:off x="2331720" y="1828800"/>
            <a:ext cx="4480560" cy="0"/>
          </a:xfrm>
          <a:prstGeom prst="line">
            <a:avLst/>
          </a:prstGeom>
          <a:noFill/>
          <a:ln w="12700">
            <a:solidFill>
              <a:srgbClr val="6E6E73"/>
            </a:solidFill>
            <a:prstDash val="solid"/>
          </a:ln>
        </p:spPr>
      </p:sp>
      <p:sp>
        <p:nvSpPr>
          <p:cNvPr id="10" name="Shape 7"/>
          <p:cNvSpPr/>
          <p:nvPr/>
        </p:nvSpPr>
        <p:spPr>
          <a:xfrm>
            <a:off x="2331720" y="1828800"/>
            <a:ext cx="0" cy="128016"/>
          </a:xfrm>
          <a:prstGeom prst="line">
            <a:avLst/>
          </a:prstGeom>
          <a:noFill/>
          <a:ln w="12700">
            <a:solidFill>
              <a:srgbClr val="6E6E73"/>
            </a:solidFill>
            <a:prstDash val="solid"/>
            <a:tailEnd type="triangle"/>
          </a:ln>
        </p:spPr>
      </p:sp>
      <p:sp>
        <p:nvSpPr>
          <p:cNvPr id="11" name="Shape 8"/>
          <p:cNvSpPr/>
          <p:nvPr/>
        </p:nvSpPr>
        <p:spPr>
          <a:xfrm>
            <a:off x="6812280" y="1828800"/>
            <a:ext cx="0" cy="128016"/>
          </a:xfrm>
          <a:prstGeom prst="line">
            <a:avLst/>
          </a:prstGeom>
          <a:noFill/>
          <a:ln w="12700">
            <a:solidFill>
              <a:srgbClr val="6E6E73"/>
            </a:solidFill>
            <a:prstDash val="solid"/>
            <a:tailEnd type="triangle"/>
          </a:ln>
        </p:spPr>
      </p:sp>
      <p:sp>
        <p:nvSpPr>
          <p:cNvPr id="12" name="Text 9"/>
          <p:cNvSpPr txBox="1"/>
          <p:nvPr/>
        </p:nvSpPr>
        <p:spPr>
          <a:xfrm>
            <a:off x="2404872" y="1847088"/>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47088"/>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txBox="1"/>
          <p:nvPr/>
        </p:nvSpPr>
        <p:spPr>
          <a:xfrm>
            <a:off x="240487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Yes: expectation gap</a:t>
            </a:r>
            <a:endParaRPr lang="en-US" sz="800" dirty="0"/>
          </a:p>
        </p:txBody>
      </p:sp>
      <p:sp>
        <p:nvSpPr>
          <p:cNvPr id="15" name="Text 12"/>
          <p:cNvSpPr txBox="1"/>
          <p:nvPr/>
        </p:nvSpPr>
        <p:spPr>
          <a:xfrm>
            <a:off x="688543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 we failed to</a:t>
            </a:r>
            <a:endParaRPr lang="en-US" sz="800" dirty="0"/>
          </a:p>
        </p:txBody>
      </p:sp>
      <p:sp>
        <p:nvSpPr>
          <p:cNvPr id="16" name="Shape 13"/>
          <p:cNvSpPr/>
          <p:nvPr/>
        </p:nvSpPr>
        <p:spPr>
          <a:xfrm>
            <a:off x="411480" y="1956816"/>
            <a:ext cx="3840480" cy="420624"/>
          </a:xfrm>
          <a:prstGeom prst="roundRect">
            <a:avLst>
              <a:gd name="adj" fmla="val 17391"/>
            </a:avLst>
          </a:prstGeom>
          <a:solidFill>
            <a:srgbClr val="FFFFFF"/>
          </a:solidFill>
          <a:ln w="12700">
            <a:solidFill>
              <a:srgbClr val="DCE1E7"/>
            </a:solidFill>
            <a:prstDash val="solid"/>
          </a:ln>
        </p:spPr>
      </p:sp>
      <p:sp>
        <p:nvSpPr>
          <p:cNvPr id="17" name="Text 14"/>
          <p:cNvSpPr txBox="1"/>
          <p:nvPr/>
        </p:nvSpPr>
        <p:spPr>
          <a:xfrm>
            <a:off x="411480" y="195681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a standard charge on every cleaning</a:t>
            </a:r>
            <a:endParaRPr lang="en-US" sz="1000" dirty="0"/>
          </a:p>
        </p:txBody>
      </p:sp>
      <p:sp>
        <p:nvSpPr>
          <p:cNvPr id="18" name="Shape 15"/>
          <p:cNvSpPr/>
          <p:nvPr/>
        </p:nvSpPr>
        <p:spPr>
          <a:xfrm>
            <a:off x="2331720" y="2377440"/>
            <a:ext cx="0" cy="128016"/>
          </a:xfrm>
          <a:prstGeom prst="line">
            <a:avLst/>
          </a:prstGeom>
          <a:noFill/>
          <a:ln w="12700">
            <a:solidFill>
              <a:srgbClr val="6E6E73"/>
            </a:solidFill>
            <a:prstDash val="solid"/>
            <a:tailEnd type="triangle"/>
          </a:ln>
        </p:spPr>
      </p:sp>
      <p:sp>
        <p:nvSpPr>
          <p:cNvPr id="19" name="Shape 16"/>
          <p:cNvSpPr/>
          <p:nvPr/>
        </p:nvSpPr>
        <p:spPr>
          <a:xfrm>
            <a:off x="411480" y="2505456"/>
            <a:ext cx="3840480" cy="420624"/>
          </a:xfrm>
          <a:prstGeom prst="roundRect">
            <a:avLst>
              <a:gd name="adj" fmla="val 17391"/>
            </a:avLst>
          </a:prstGeom>
          <a:solidFill>
            <a:srgbClr val="0B7A6F"/>
          </a:solidFill>
          <a:ln w="12700">
            <a:solidFill>
              <a:srgbClr val="0B7A6F"/>
            </a:solidFill>
            <a:prstDash val="solid"/>
          </a:ln>
        </p:spPr>
      </p:sp>
      <p:sp>
        <p:nvSpPr>
          <p:cNvPr id="20" name="Text 17"/>
          <p:cNvSpPr txBox="1"/>
          <p:nvPr/>
        </p:nvSpPr>
        <p:spPr>
          <a:xfrm>
            <a:off x="411480" y="250545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Still unhappy, staying? One-time $10 or $20 credit</a:t>
            </a:r>
            <a:endParaRPr lang="en-US" sz="1000" dirty="0"/>
          </a:p>
        </p:txBody>
      </p:sp>
      <p:sp>
        <p:nvSpPr>
          <p:cNvPr id="21" name="Shape 18"/>
          <p:cNvSpPr/>
          <p:nvPr/>
        </p:nvSpPr>
        <p:spPr>
          <a:xfrm>
            <a:off x="2331720" y="2926080"/>
            <a:ext cx="0" cy="128016"/>
          </a:xfrm>
          <a:prstGeom prst="line">
            <a:avLst/>
          </a:prstGeom>
          <a:noFill/>
          <a:ln w="12700">
            <a:solidFill>
              <a:srgbClr val="6E6E73"/>
            </a:solidFill>
            <a:prstDash val="solid"/>
            <a:tailEnd type="triangle"/>
          </a:ln>
        </p:spPr>
      </p:sp>
      <p:sp>
        <p:nvSpPr>
          <p:cNvPr id="22" name="Shape 19"/>
          <p:cNvSpPr/>
          <p:nvPr/>
        </p:nvSpPr>
        <p:spPr>
          <a:xfrm>
            <a:off x="411480" y="3054096"/>
            <a:ext cx="3840480" cy="420624"/>
          </a:xfrm>
          <a:prstGeom prst="roundRect">
            <a:avLst>
              <a:gd name="adj" fmla="val 17391"/>
            </a:avLst>
          </a:prstGeom>
          <a:solidFill>
            <a:srgbClr val="0B7A6F"/>
          </a:solidFill>
          <a:ln w="12700">
            <a:solidFill>
              <a:srgbClr val="0B7A6F"/>
            </a:solidFill>
            <a:prstDash val="solid"/>
          </a:ln>
        </p:spPr>
      </p:sp>
      <p:sp>
        <p:nvSpPr>
          <p:cNvPr id="23" name="Text 20"/>
          <p:cNvSpPr txBox="1"/>
          <p:nvPr/>
        </p:nvSpPr>
        <p:spPr>
          <a:xfrm>
            <a:off x="41148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Wants cash or will cancel? $10 or $20 partial refund</a:t>
            </a:r>
            <a:endParaRPr lang="en-US" sz="1000" dirty="0"/>
          </a:p>
        </p:txBody>
      </p:sp>
      <p:sp>
        <p:nvSpPr>
          <p:cNvPr id="24" name="Shape 21"/>
          <p:cNvSpPr/>
          <p:nvPr/>
        </p:nvSpPr>
        <p:spPr>
          <a:xfrm>
            <a:off x="4892040" y="1956816"/>
            <a:ext cx="3840480" cy="420624"/>
          </a:xfrm>
          <a:prstGeom prst="roundRect">
            <a:avLst>
              <a:gd name="adj" fmla="val 17391"/>
            </a:avLst>
          </a:prstGeom>
          <a:solidFill>
            <a:srgbClr val="0B7A6F"/>
          </a:solidFill>
          <a:ln w="12700">
            <a:solidFill>
              <a:srgbClr val="0B7A6F"/>
            </a:solidFill>
            <a:prstDash val="solid"/>
          </a:ln>
        </p:spPr>
      </p:sp>
      <p:sp>
        <p:nvSpPr>
          <p:cNvPr id="25" name="Text 22"/>
          <p:cNvSpPr txBox="1"/>
          <p:nvPr/>
        </p:nvSpPr>
        <p:spPr>
          <a:xfrm>
            <a:off x="4892040" y="195681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Processing Fee in full</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377440"/>
            <a:ext cx="0" cy="128016"/>
          </a:xfrm>
          <a:prstGeom prst="line">
            <a:avLst/>
          </a:prstGeom>
          <a:noFill/>
          <a:ln w="12700">
            <a:solidFill>
              <a:srgbClr val="6E6E73"/>
            </a:solidFill>
            <a:prstDash val="solid"/>
            <a:tailEnd type="triangle"/>
          </a:ln>
        </p:spPr>
      </p:sp>
      <p:sp>
        <p:nvSpPr>
          <p:cNvPr id="27" name="Shape 24"/>
          <p:cNvSpPr/>
          <p:nvPr/>
        </p:nvSpPr>
        <p:spPr>
          <a:xfrm>
            <a:off x="4892040" y="2505456"/>
            <a:ext cx="384048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892040" y="250545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the specific expectation issue</a:t>
            </a:r>
            <a:endParaRPr lang="en-US" sz="1000" dirty="0"/>
          </a:p>
        </p:txBody>
      </p:sp>
      <p:sp>
        <p:nvSpPr>
          <p:cNvPr id="29" name="Shape 26"/>
          <p:cNvSpPr/>
          <p:nvPr/>
        </p:nvSpPr>
        <p:spPr>
          <a:xfrm>
            <a:off x="6812280" y="2926080"/>
            <a:ext cx="0" cy="128016"/>
          </a:xfrm>
          <a:prstGeom prst="line">
            <a:avLst/>
          </a:prstGeom>
          <a:noFill/>
          <a:ln w="12700">
            <a:solidFill>
              <a:srgbClr val="6E6E73"/>
            </a:solidFill>
            <a:prstDash val="solid"/>
            <a:tailEnd type="triangle"/>
          </a:ln>
        </p:spPr>
      </p:sp>
      <p:sp>
        <p:nvSpPr>
          <p:cNvPr id="30" name="Shape 27"/>
          <p:cNvSpPr/>
          <p:nvPr/>
        </p:nvSpPr>
        <p:spPr>
          <a:xfrm>
            <a:off x="4892040" y="3054096"/>
            <a:ext cx="3840480" cy="420624"/>
          </a:xfrm>
          <a:prstGeom prst="roundRect">
            <a:avLst>
              <a:gd name="adj" fmla="val 17391"/>
            </a:avLst>
          </a:prstGeom>
          <a:solidFill>
            <a:srgbClr val="1D1D1F"/>
          </a:solidFill>
          <a:ln w="12700">
            <a:solidFill>
              <a:srgbClr val="1D1D1F"/>
            </a:solidFill>
            <a:prstDash val="solid"/>
          </a:ln>
        </p:spPr>
      </p:sp>
      <p:sp>
        <p:nvSpPr>
          <p:cNvPr id="31" name="Text 28"/>
          <p:cNvSpPr txBox="1"/>
          <p:nvPr/>
        </p:nvSpPr>
        <p:spPr>
          <a:xfrm>
            <a:off x="489204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Cancelling FC over it? Waive the ETF</a:t>
            </a:r>
            <a:endParaRPr lang="en-US" sz="1000" dirty="0"/>
          </a:p>
        </p:txBody>
      </p:sp>
      <p:sp>
        <p:nvSpPr>
          <p:cNvPr id="32" name="Shape 29"/>
          <p:cNvSpPr/>
          <p:nvPr/>
        </p:nvSpPr>
        <p:spPr>
          <a:xfrm>
            <a:off x="411480" y="3675888"/>
            <a:ext cx="8321040" cy="384048"/>
          </a:xfrm>
          <a:prstGeom prst="roundRect">
            <a:avLst>
              <a:gd name="adj" fmla="val 19048"/>
            </a:avLst>
          </a:prstGeom>
          <a:solidFill>
            <a:srgbClr val="FFF3D6"/>
          </a:solidFill>
          <a:ln w="9525">
            <a:solidFill>
              <a:srgbClr val="FFF3D6"/>
            </a:solidFill>
            <a:prstDash val="solid"/>
          </a:ln>
        </p:spPr>
      </p:sp>
      <p:pic>
        <p:nvPicPr>
          <p:cNvPr id="33" name="Image 0" descr="preencoded.png">    </p:cNvPr>
          <p:cNvPicPr>
            <a:picLocks noChangeAspect="1"/>
          </p:cNvPicPr>
          <p:nvPr/>
        </p:nvPicPr>
        <p:blipFill>
          <a:blip r:embed="rId1"/>
          <a:stretch>
            <a:fillRect/>
          </a:stretch>
        </p:blipFill>
        <p:spPr>
          <a:xfrm>
            <a:off x="566928" y="3785616"/>
            <a:ext cx="164592" cy="164592"/>
          </a:xfrm>
          <a:prstGeom prst="rect">
            <a:avLst/>
          </a:prstGeom>
        </p:spPr>
      </p:pic>
      <p:sp>
        <p:nvSpPr>
          <p:cNvPr id="34" name="Text 30"/>
          <p:cNvSpPr txBox="1"/>
          <p:nvPr/>
        </p:nvSpPr>
        <p:spPr>
          <a:xfrm>
            <a:off x="822960" y="37764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issue a credit equal to the exact Processing Fee. It says the fee was wrong.</a:t>
            </a:r>
            <a:endParaRPr lang="en-US" sz="1000" dirty="0"/>
          </a:p>
        </p:txBody>
      </p:sp>
      <p:sp>
        <p:nvSpPr>
          <p:cNvPr id="35" name="Shape 31"/>
          <p:cNvSpPr/>
          <p:nvPr/>
        </p:nvSpPr>
        <p:spPr>
          <a:xfrm>
            <a:off x="411480" y="4169664"/>
            <a:ext cx="2926080" cy="292608"/>
          </a:xfrm>
          <a:prstGeom prst="roundRect">
            <a:avLst>
              <a:gd name="adj" fmla="val 25000"/>
            </a:avLst>
          </a:prstGeom>
          <a:solidFill>
            <a:srgbClr val="FFF3D6"/>
          </a:solidFill>
          <a:ln w="9525">
            <a:solidFill>
              <a:srgbClr val="9A6410"/>
            </a:solidFill>
            <a:prstDash val="solid"/>
          </a:ln>
        </p:spPr>
      </p:sp>
      <p:pic>
        <p:nvPicPr>
          <p:cNvPr id="36" name="Image 1" descr="preencoded.png">    </p:cNvPr>
          <p:cNvPicPr>
            <a:picLocks noChangeAspect="1"/>
          </p:cNvPicPr>
          <p:nvPr/>
        </p:nvPicPr>
        <p:blipFill>
          <a:blip r:embed="rId2"/>
          <a:stretch>
            <a:fillRect/>
          </a:stretch>
        </p:blipFill>
        <p:spPr>
          <a:xfrm>
            <a:off x="521208" y="4242816"/>
            <a:ext cx="146304" cy="146304"/>
          </a:xfrm>
          <a:prstGeom prst="rect">
            <a:avLst/>
          </a:prstGeom>
        </p:spPr>
      </p:pic>
      <p:sp>
        <p:nvSpPr>
          <p:cNvPr id="37" name="Text 32"/>
          <p:cNvSpPr txBox="1"/>
          <p:nvPr/>
        </p:nvSpPr>
        <p:spPr>
          <a:xfrm>
            <a:off x="731520" y="4169664"/>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2026-10-07T15:29:19Z</dcterms:created>
  <dcterms:modified xsi:type="dcterms:W3CDTF">2026-10-07T15:29:19Z</dcterms:modified>
</cp:coreProperties>
</file>