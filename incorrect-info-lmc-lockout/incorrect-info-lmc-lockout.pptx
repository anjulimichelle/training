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three topics from the Knowledge Library: General Guidance: Incorrect Information Provided; AG-Refund: Last-Minute Cancellation (LMC); and AG-Refund: Lockout (LO). The common thread: validate first, then decide how generous to be. Each topic ends with a knowledge check and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1 is general guidance that applies whenever our own communication caused the problem. Topics 2 and 3 are action guides for two charges customers contest often: the Last-Minute Cancellation fee and the Lockout charge. Both follow the same two-step shape: is the charge valid, and if so, which customer tier applies.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This covers a customer who signed up for a membership and is now trying to cancel because of a guaranteed promise Homeaglow can't fulfill. It isn't limited to pricing. AG – Refund: Processing Fee is one worked-out example of this general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shapes of the same problem. (1) A rate or term stated as fixed or guaranteed by a Sales or CS agent, or by a system-generated message. (2) A service coverage that was promised but isn't part of what the platform offers. (3) Guarantee-pairing: a rep mentions an unrelated guarantee, like the Happiness Guarantee, back-to-back with cancellation or ETF language, without separating "we'll fix the job" from "you can cancel penalty-free". The Happiness Guarantee only covers cleaning quality; Sales confirmed it's never meant to be tied to charges, refunds or compensation. Sales treats pairing it with cancellation language as a protocol violation on their end; we treat it as misrepresentation on ours. Why it matters: when our communication is the reason expectations don't match reality, it's our error, not a customer misunderstanding. The financial impact gets corrected whether the customer stays or goes, and if the broken promise is why they want to leave, they shouldn't pay an ETF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about whether the customer asked good questions. It's about whether we made an affirmative, guaranteed claim. For rates, the word "at" is the tell: "at $19/hour", "at $23/hour" is an exact figure, a guarantee we can't make because CP rates vary and cleaners are independent contractors. "Around", "approximately", "starting at" is an estimate: a different actual rate isn't misrepresentation, it's a normal expectation gap. Verify against the sales call recording or notes before applying the test. Don't rely on the customer's recollection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Verify: confirm it's genuinely a guaranteed promise, not an estimate or a gap in what was proactively mentioned. Look for the specific language used, not just whether the customer was surprised. To verify, run a Sales call review: submit a Sales call review request (link icon on the pop-up opens the request sheet), add an internal note with your escalation link, and don't resolve yet: change the status to Waiting on CSQ. If misinformation is not verified, clarify the information and address any confusion. If it is verified, continue: 2) Refund any overpayment that resulted, where applicable: e.g. promised a $49/month MF but charged $59, refund the difference. Not every case has an overpayment; service-capability and guarantee-pairing cases often don't. 3) Acknowledge the error directly. Don't frame it as a misunderstanding on the customer's side. 4) Correct the charges or expectations going forward, and clearly explain what changed. 5) Assess retainability as for any other case. If retainable, attempt retention with one light offer, not a push: up to $20 credit or a 1-hr courtesy voucher. While you wait for their reply, set a TR before the next MF. 6) If the customer declines the offer, or isn't retainable, waive the ETF and cancel the FC. TRAINER: click once (Sales call review) to open the escalation steps; click again to close them. In slideshow mode, the link icon on the pop-up opens the Sales call review request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rep quoted a specific rate and left out the processing fee, tax or Premium, the customer had no way to know the real price. That's misrepresentation. Honor the total they were told: admin refund so the job comes to what they expected. If someone disclosed a charge before it happened and the customer agreed to it (e.g. the CP explained the extra-hours rate), refund only the part that was never disclosed. Worked example: FCR told the customer "$20/hr" and didn't mention the processing fee, tax or Premium. Admin refund so the job totals $20/hr × hours worked. Set the max CP rate to $20 and the Cleaner Experience Level to Standard, and explain the fees going forward. Recommended macro: Misinformation: address incorrect claims about 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guarantee: signed up through Sales after being told "at $23/hour", not "around". If now charged more, refund the difference; if they want to cancel because of that guarantee, waive the ETF. Service capability: customer asked specifically about a rotary floor buffer for engineered hardwood floors; an agent confirmed we could provide it, but cleaners on the platform don't carry buffers. If they cancel because of this, they're eligible for the ETF waiver. Happiness Guarantee paired with cancellation language: the rep explained cancellation/ETF terms, then immediately said the Happiness Guarantee verbatim ("you're covered... you're not satisfied until you are") without separating that it only covers cleaning quality. The customer reasonably heard "if I'm not happy, I can walk away for free". ETF waiver eligible. Contrast, not misrepresentation: "starting around $20/hour" or "roughly $23" is an estimate; and the Happiness Guarantee mentioned only in response to a cleaning-quality concern, with no cancellation/ETF language nearby, is the guarantee working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share a live Incorrect Information ticket. Give trainees a few minutes to review it on their own, then work through it together. 1) Is there verified misinformation? What exactly was said, and by whom? "At $23/hour" is a guarantee; "around" or "starting at" is an estimate. Would this need a Sales call review (request, internal note with the escalation link, status Waiting on CSQ)? 2) What was the misinformation, and how do we correct it? Refund the gap, own the error, correct the charges or expectations, one light offer; declined or not retainable: waive the ETF and cancel the FC. Which macro? 3) 5-minute writing challenge: each trainee writes the comms they would send the customer. Read a few aloud and compare. Then open the floor for questions on Incorrect Information Provided.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LMC refund requests are common, and getting them wrong fails in two opposite directions: too generous gives away money on a valid charge; too strict frustrates a customer over a fee that shouldn't have applied (e.g. the CP caused the disruption). Two separate questions: is the charge valid, and if so, how generous to be. Mixing them up is where most mistakes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Last-Minute Cancellation (LMC) fee is a $40 charge applied when a customer cancels a job within 6 hours of its start time. The matched CP is paid $20 for the inconvenience of losing the booking so close to the start. The system charges it automatically: you're not deciding whether it applies, only whether it was applied correctly and whether it should be refunded.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LMC is automatically waived (it shouldn't have been charged, or should be reversed if it was) when: the job was still Submitted (no CP matched, so no one to compensate); the customer's area had severe weather; the CP rescheduled less than 24 hours before the cancellation and the new time wasn't requested by the customer; the CP claimed an Alternate Start Time added less than 48 hours before the cancellation; the customer asked for the CP's ETA and the CP didn't check in within 30 minutes of the start time; or all of these: the customer hasn't had a prior LMC waiver, the CP didn't check in more than 30 min before start, and the job was claimed or rescheduled in the last 24 hours with either an active FC or a start time that wasn't the customer's preferred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charge is invalid: 1) Refund the LMC charge via the Manual Charges section. 2) Create a Cleaner Payment Holdback for the $20 the CP received: CP CRM &gt; Do &gt; CleanerPaymentHoldback &gt; create (the amount is entered in cents, so $20 = 2000). Special case: the customer was charged LMC but the job was later completed anyway. Refund the LMC charge, create a $20 holdback with invalid_lmc as the holdback type, log the ticket, then recreate the job and invoice it normally so it still triggers the customer's FC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only when the customer explicitly requests a refund, or contests the charge expecting it to be reversed or credited. If they're only asking for an explanation and haven't expressed dissatisfaction or asked for removal, don't use it. It's deliberately not a ladder: don't start small and escalate only if they push back. New customer (0-2 invoiced jobs): refund the LMC fee outright. They're brand new; charging $40 this early risks losing them before they see the membership's value. Low to moderate expected future LTNR (3-4 invoiced jobs): offer credits up to 100% of the LMC fee, not cash. If they say no but don't threaten to cancel, tell them this is the most we can offer. If they get upset, send them to Service Recovery so someone can explain by phone. If they still want to cancel, put the LMC fee toward their ETF. Very high-value customer (more than 4 invoiced jobs, high retention): refund the whole $40. Macros: Last-minute cancel: high-value customer; Last-minute cancel: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find LMC charges: on the CRM under Manual Charges, or C CRM &gt; View &gt; ManualCustomerPaymentTxn. When issuing credits for an LMC, use "lmc" as the internal reason. If the LMC charge fails to collect, let it go: the system makes a couple of attempts and then stops. We don't collect it again, and we don't pay the cleaner from it. There's nothing to void and nothing to run through the manual-charge refund flow: the charge never landed. This applies to LMC specifically: other fees don't all behave this way (a failed Premium fee keeps retrying until it succeeds), so check the fee before assuming a failed charge is finished. The cleaner is paid only if they ask: a CP who reaches out for compensation on a last-minute cancellation is handled on its own merits through the usual CP-side path. A failed charge looks like an open loop and the instinct is to chase it: void it, refund it, re-run it. All three are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Last-Minute Cancellation.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Job-Related Charges &amp; Refund Requests. The tension is the same as LMC: the CP showed up and deserves to be paid for that time, but the charge is only fair if the CP met their end of the bargain (arrived on time, tried to get in, stayed the required time). Validate the claim before deciding anything about a refund: refunding a lockout that was never valid isn't generosity, it's correcting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Lockout is a claim a CP submits when they arrive at the customer's home at the scheduled time but can't get in to complete the cleaning, despite trying to reach the customer. It exists so the CP is still compensated for the time, travel and effort of showing up. Once submitted, the job status changes to Invoiced and the customer is charged the full job cost. That's why lockout tickets almost always arrive as a customer contesting a charge for a cleaning that never happened. This topic also covers what to do when a CP contacts us about a lockout (lockout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these four questions in order. Any "no" typically means the lockout is invalid. Always leave an internal note documenting your findings: it's your reference if either party disputes the outcome later. Next slide: what evidence to check for each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Customer's messages to the CP. Mentioned cancelling or rescheduling more than 6 hours before start: invalid, the CP shouldn't have gone. Within 6 hours: if the CP acknowledged the appointment wouldn't happen, still invalid. 2) CPs may arrive 30 minutes before up to 30 minutes after the start time. Check call/text timestamps, CP-to-Care comms, check-in messages, GPS screenshots, CP App "approaching" notifications. More than 30 min late: invalid. Exception: the evidence shows the customer had already decided not to have the appointment (e.g. told Support but the job wasn't cancelled and the CP wasn't told; or told the CP after start time that they'd cancelled long before). The CP still has to show they were on site and tried to reach the customer. Coach lateness separately. 3) CP messages confirming arrival, CTJ logs, pre-evidence photos, or a selfie at the home. A photo of the house without the CP in frame: check it isn't reused or reverse-searchable. A photo is only required for CP Dashboard submissions, not the CP App. Faked (not just weak) evidence: stop and go to AG – Fraud › CP Document Fraud. 4) At least 2 contact attempts, at least 5 minutes apart, staying at least 15 minutes, and following any entry notes. Same rule for CP App and CP Dashboard. Confirm with timestamps: contact attempts, the lockout action in Job History, CP messages to the customer or CS. Waived if the CP says the customer refused entry or asked to cancel on arrival: then look for other proof the CP was on site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lockout doesn't hold up under Step 1, refund the charge through the CP Dashboard refund flow, not an admin refund. Also check for a Premium rate charge on the same job and refund that too if applicable. Why CP Dashboard: it charges the cost back to the CP, because the CP made the mistake (an invalid lockout claim). An admin refund comes out of Homeaglow's pocket as a goodwill gesture, but the customer did nothing wrong, so there's nothing to smooth over. An admin refund would make Homeaglow pay for the CP's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non-ladder principle as LMC. New customer (1-2 invoiced jobs): admin refund the full job cost; refunding now and educating protects a relationship that's still forming. Low to moderate expected future LTNR (3-4 invoiced jobs): credits up to 75% of the job cost, keeping at least $40 to cover the CP's costs. Declined but not escalating: this is the maximum. Escalates: route to Service Recovery. Insists on cancelling: apply the job cost toward the ETF (max reduction still 50%). Very high-value customer (more than 4 invoiced jobs, high retention): offer two options: the full LO fee as account credit, or a refund of the LO fee minus $40 (the CP cost). Explain why the fee exists either way. Applies to customers with an active FC in most cases; a customer actively using the service without an FC table is an edge case, use judgment. Deactivated FC, RC still active (cancelled FC but the Recurring Cleaning plan stayed on and a job still happened): admin refund the full charge and deactivate the RC plan. That's a product gap: FC self-cancel doesn't cancel RC. If vague, probe: check for a legitimate explanation (e.g. a messaging bug) before assuming the customer is at fault. It's fine to open with the full job cost as credits as a goodwill gesture before working through the tiers. Macros: Lockout fee: high-value customer; Lockout fee: no refund (standard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denied entry because of the CP or a Trust &amp; Safety concern (showed up unprofessional, brought an unauthorized guest, didn't have cleaning supplies): issue an admin refund for the lockout fee, still pay the CP $40 for their time and travel, document the incident clearly in internal notes, and coach the CP on why the customer denied entry. The customer's safety and trust come first, but the CP still showed up and is owed something. Customer cancelled through Support, but we didn't act on it (the job wasn't cancelled and the CP wasn't told): the miss is ours. Don't charge the customer: refund or cancel the job on the C-side. Pay the CP the standard lockout amount through MCP, as long as they show they were on site and tried to reach the customer. Their lateness doesn't matter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CP reports a lockout, whether they ask for lockout pay directly or only describe what happened, treat it as a request for lockout pay review. Signals: the CP mentions time waited, travel, gas or cost, or lost earnings, or asks what happens with the job. The exception is a CP who clearly only wants the job cancelled. Validate using Step 1, including the lateness exception. If the customer had cancelled through Support and we didn't act, follow that special scenario. Outcomes: valid lockout the CP didn't submit (didn't know how, app issue): pay the standard lockout amount. Invalid lockout but evidence the CP was on site: one-time courtesy MCP if the CP has no cp_false_check_in or false invoice flags, isn't suspended, and hasn't had courtesy lockout pay in the last 90 days. No evidence the CP was on site: no pay; explain the lockout requirements. MCPs over $40 still need Support approval. Why: requiring specific words would reward CPs who know our terms over CPs who were actually locked out. The courtesy conditions are checkable, so every agent and QA reviewer reaches the same answer; the 90-day cap protects against abuse.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Lockouts.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Incorrect Information (test the exact words, own the error, one light offer, else waive ETF), LMC (validate against the automatic waivers, then refund by category, not a ladder; leave failed charges alone), and Lockouts (four validation questions; invalid goes through the CP Dashboard; valid goes by category, keeping $40 for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1.xml"/><Relationship Id="rId5" Type="http://schemas.openxmlformats.org/officeDocument/2006/relationships/slide" Target="slide11.xml"/><Relationship Id="rId6" Type="http://schemas.openxmlformats.org/officeDocument/2006/relationships/slide" Target="slide11.xml"/><Relationship Id="rId7" Type="http://schemas.openxmlformats.org/officeDocument/2006/relationships/slide" Target="slide19.xml"/><Relationship Id="rId8" Type="http://schemas.openxmlformats.org/officeDocument/2006/relationships/slide" Target="slide19.xml"/><Relationship Id="rId9" Type="http://schemas.openxmlformats.org/officeDocument/2006/relationships/slide" Target="slide19.xml"/><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docs.google.com/spreadsheets/d/1uW45nsR5hVwTl9x32EWYaOevp_LeXd61mLAM7qUTv2I/edit?gid=0#gid=0" TargetMode="External"/><Relationship Id="rId4" Type="http://schemas.openxmlformats.org/officeDocument/2006/relationships/hyperlink" Target="https://docs.google.com/spreadsheets/d/1uW45nsR5hVwTl9x32EWYaOevp_LeXd61mLAM7qUTv2I/edit?gid=0#gid=0" TargetMode="External"/><Relationship Id="rId1" Type="http://schemas.openxmlformats.org/officeDocument/2006/relationships/image" Target="../media/image-6-1.png"/><Relationship Id="rId3" Type="http://schemas.openxmlformats.org/officeDocument/2006/relationships/image" Target="../media/image-6-2.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2.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Incorrect Info,</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LMC &amp; Lockouts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our own words set the wrong expectation, and how to handle last-minute cancellation and lockout charges.</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6/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topics. Click a topic to jump to it.</a:t>
            </a:r>
            <a:endParaRPr lang="en-US" sz="1200" dirty="0"/>
          </a:p>
        </p:txBody>
      </p:sp>
      <p:sp>
        <p:nvSpPr>
          <p:cNvPr id="6" name="Text 3">
            <a:hlinkClick r:id="rId1" tooltip="Go to General Guidance: Incorrect Information Provided" action="ppaction://hlinksldjump"/>
          </p:cNvPr>
          <p:cNvSpPr/>
          <p:nvPr/>
        </p:nvSpPr>
        <p:spPr>
          <a:xfrm>
            <a:off x="411480" y="1371600"/>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General Guidance: Incorrect Information Provided</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We promised something we can't deliver. Fix it, own it, and don't charge an ETF for it.</a:t>
            </a:r>
            <a:endParaRPr lang="en-US" sz="1400" dirty="0"/>
          </a:p>
        </p:txBody>
      </p:sp>
      <p:sp>
        <p:nvSpPr>
          <p:cNvPr id="7" name="Text 4">
            <a:hlinkClick r:id="rId2" tooltip="Go to General Guidance: Incorrect Information Provided" action="ppaction://hlinksldjump"/>
          </p:cNvPr>
          <p:cNvSpPr/>
          <p:nvPr/>
        </p:nvSpPr>
        <p:spPr>
          <a:xfrm>
            <a:off x="548640" y="1371600"/>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01</a:t>
            </a:r>
            <a:endParaRPr lang="en-US" sz="1800" dirty="0"/>
          </a:p>
        </p:txBody>
      </p:sp>
      <p:sp>
        <p:nvSpPr>
          <p:cNvPr id="8" name="Text 5">
            <a:hlinkClick r:id="rId3" tooltip="Go to General Guidance: Incorrect Information Provided" action="ppaction://hlinksldjump"/>
          </p:cNvPr>
          <p:cNvSpPr/>
          <p:nvPr/>
        </p:nvSpPr>
        <p:spPr>
          <a:xfrm>
            <a:off x="8229600" y="1371600"/>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9" name="Text 6">
            <a:hlinkClick r:id="rId4" tooltip="Go to AG-Refund: Last-Minute Cancellation (LMC)" action="ppaction://hlinksldjump"/>
          </p:cNvPr>
          <p:cNvSpPr/>
          <p:nvPr/>
        </p:nvSpPr>
        <p:spPr>
          <a:xfrm>
            <a:off x="411480" y="2414016"/>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Last-Minute Cancellation (LMC)</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$40 fee for cancelling within 6 hours: is it valid, and how much do we refund?</a:t>
            </a:r>
            <a:endParaRPr lang="en-US" sz="1400" dirty="0"/>
          </a:p>
        </p:txBody>
      </p:sp>
      <p:sp>
        <p:nvSpPr>
          <p:cNvPr id="10" name="Text 7">
            <a:hlinkClick r:id="rId5" tooltip="Go to AG-Refund: Last-Minute Cancellation (LMC)" action="ppaction://hlinksldjump"/>
          </p:cNvPr>
          <p:cNvSpPr/>
          <p:nvPr/>
        </p:nvSpPr>
        <p:spPr>
          <a:xfrm>
            <a:off x="548640" y="2414016"/>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02</a:t>
            </a:r>
            <a:endParaRPr lang="en-US" sz="1800" dirty="0"/>
          </a:p>
        </p:txBody>
      </p:sp>
      <p:sp>
        <p:nvSpPr>
          <p:cNvPr id="11" name="Text 8">
            <a:hlinkClick r:id="rId6" tooltip="Go to AG-Refund: Last-Minute Cancellation (LMC)" action="ppaction://hlinksldjump"/>
          </p:cNvPr>
          <p:cNvSpPr/>
          <p:nvPr/>
        </p:nvSpPr>
        <p:spPr>
          <a:xfrm>
            <a:off x="8229600" y="2414016"/>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12" name="Text 9">
            <a:hlinkClick r:id="rId7" tooltip="Go to AG-Refund: Lockout (LO)" action="ppaction://hlinksldjump"/>
          </p:cNvPr>
          <p:cNvSpPr/>
          <p:nvPr/>
        </p:nvSpPr>
        <p:spPr>
          <a:xfrm>
            <a:off x="411480" y="3456432"/>
            <a:ext cx="8321040" cy="914400"/>
          </a:xfrm>
          <a:prstGeom prst="roundRect">
            <a:avLst>
              <a:gd name="adj" fmla="val 6000"/>
            </a:avLst>
          </a:prstGeom>
          <a:solidFill>
            <a:srgbClr val="FFFFFF"/>
          </a:solidFill>
          <a:ln w="9525">
            <a:solidFill>
              <a:srgbClr val="DCE1E7"/>
            </a:solidFill>
          </a:ln>
        </p:spPr>
        <p:txBody>
          <a:bodyPr wrap="square" lIns="787400" tIns="0" rIns="508000" bIns="0" rtlCol="0" anchor="ctr"/>
          <a:lstStyle/>
          <a:p>
            <a:pPr indent="0" marL="0">
              <a:buNone/>
            </a:pPr>
            <a:r>
              <a:rPr lang="en-US" sz="1400" b="1" u="none" dirty="0">
                <a:solidFill>
                  <a:srgbClr val="1D1D1F"/>
                </a:solidFill>
                <a:latin typeface="SF Pro Display" pitchFamily="34" charset="0"/>
                <a:ea typeface="SF Pro Display" pitchFamily="34" charset="-122"/>
                <a:cs typeface="SF Pro Display" pitchFamily="34" charset="-120"/>
              </a:rPr>
              <a:t>AG-Refund: Lockout (LO)</a:t>
            </a:r>
            <a:endParaRPr lang="en-US" sz="1400" dirty="0"/>
          </a:p>
          <a:p>
            <a:pPr indent="0" marL="0">
              <a:buNone/>
            </a:pPr>
            <a:r>
              <a:rPr lang="en-US" sz="1050" u="none" dirty="0">
                <a:solidFill>
                  <a:srgbClr val="6E6E73"/>
                </a:solidFill>
                <a:latin typeface="SF Pro Text" pitchFamily="34" charset="0"/>
                <a:ea typeface="SF Pro Text" pitchFamily="34" charset="-122"/>
                <a:cs typeface="SF Pro Text" pitchFamily="34" charset="-120"/>
              </a:rPr>
              <a:t>The CP couldn't get in. Validate the claim, then refund by customer tier.</a:t>
            </a:r>
            <a:endParaRPr lang="en-US" sz="1400" dirty="0"/>
          </a:p>
        </p:txBody>
      </p:sp>
      <p:sp>
        <p:nvSpPr>
          <p:cNvPr id="13" name="Text 10">
            <a:hlinkClick r:id="rId8" tooltip="Go to AG-Refund: Lockout (LO)" action="ppaction://hlinksldjump"/>
          </p:cNvPr>
          <p:cNvSpPr/>
          <p:nvPr/>
        </p:nvSpPr>
        <p:spPr>
          <a:xfrm>
            <a:off x="548640" y="3456432"/>
            <a:ext cx="548640" cy="914400"/>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03</a:t>
            </a:r>
            <a:endParaRPr lang="en-US" sz="1800" dirty="0"/>
          </a:p>
        </p:txBody>
      </p:sp>
      <p:sp>
        <p:nvSpPr>
          <p:cNvPr id="14" name="Text 11">
            <a:hlinkClick r:id="rId9" tooltip="Go to AG-Refund: Lockout (LO)" action="ppaction://hlinksldjump"/>
          </p:cNvPr>
          <p:cNvSpPr/>
          <p:nvPr/>
        </p:nvSpPr>
        <p:spPr>
          <a:xfrm>
            <a:off x="8229600" y="3456432"/>
            <a:ext cx="365760" cy="914400"/>
          </a:xfrm>
          <a:prstGeom prst="rect">
            <a:avLst/>
          </a:prstGeom>
          <a:noFill/>
          <a:ln/>
        </p:spPr>
        <p:txBody>
          <a:bodyPr wrap="square" rtlCol="0" anchor="ctr"/>
          <a:lstStyle/>
          <a:p>
            <a:pPr algn="ctr" indent="0" marL="0">
              <a:buNone/>
            </a:pPr>
            <a:r>
              <a:rPr lang="en-US" sz="2200" b="1" u="none" dirty="0">
                <a:solidFill>
                  <a:srgbClr val="0B7A6F"/>
                </a:solidFill>
                <a:latin typeface="SF Pro Display" pitchFamily="34" charset="0"/>
                <a:ea typeface="SF Pro Display" pitchFamily="34" charset="-122"/>
                <a:cs typeface="SF Pro Display" pitchFamily="34" charset="-120"/>
              </a:rPr>
              <a:t>›</a:t>
            </a:r>
            <a:endParaRPr lang="en-US" sz="22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Incorrect Information Provided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A customer signed up because of a promise we can't keep, and now wants out.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counts as a broken promise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exact test: "at" vs "around"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Worked examples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this?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Our own words set an expectation we can't meet.</a:t>
            </a:r>
            <a:endParaRPr lang="en-US" sz="1200" dirty="0"/>
          </a:p>
        </p:txBody>
      </p:sp>
      <p:sp>
        <p:nvSpPr>
          <p:cNvPr id="6" name="Shape 3"/>
          <p:cNvSpPr/>
          <p:nvPr/>
        </p:nvSpPr>
        <p:spPr>
          <a:xfrm>
            <a:off x="411480" y="132588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Rate or price claim</a:t>
            </a:r>
            <a:endParaRPr lang="en-US" sz="1200" dirty="0"/>
          </a:p>
        </p:txBody>
      </p:sp>
      <p:sp>
        <p:nvSpPr>
          <p:cNvPr id="10" name="Text 6"/>
          <p:cNvSpPr txBox="1"/>
          <p:nvPr/>
        </p:nvSpPr>
        <p:spPr>
          <a:xfrm>
            <a:off x="5760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rate or term stated as fixed or guaranteed, by an agent or a system message.</a:t>
            </a:r>
            <a:endParaRPr lang="en-US" sz="950" dirty="0"/>
          </a:p>
        </p:txBody>
      </p:sp>
      <p:sp>
        <p:nvSpPr>
          <p:cNvPr id="11" name="Shape 7"/>
          <p:cNvSpPr/>
          <p:nvPr/>
        </p:nvSpPr>
        <p:spPr>
          <a:xfrm>
            <a:off x="3230880" y="132588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Service coverage</a:t>
            </a:r>
            <a:endParaRPr lang="en-US" sz="1200" dirty="0"/>
          </a:p>
        </p:txBody>
      </p:sp>
      <p:sp>
        <p:nvSpPr>
          <p:cNvPr id="15" name="Text 10"/>
          <p:cNvSpPr txBox="1"/>
          <p:nvPr/>
        </p:nvSpPr>
        <p:spPr>
          <a:xfrm>
            <a:off x="33954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tool or service confirmed as available that the platform doesn't offer.</a:t>
            </a:r>
            <a:endParaRPr lang="en-US" sz="950" dirty="0"/>
          </a:p>
        </p:txBody>
      </p:sp>
      <p:sp>
        <p:nvSpPr>
          <p:cNvPr id="16" name="Shape 11"/>
          <p:cNvSpPr/>
          <p:nvPr/>
        </p:nvSpPr>
        <p:spPr>
          <a:xfrm>
            <a:off x="6050280" y="132588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Guarantee-pairing</a:t>
            </a:r>
            <a:endParaRPr lang="en-US" sz="1200" dirty="0"/>
          </a:p>
        </p:txBody>
      </p:sp>
      <p:sp>
        <p:nvSpPr>
          <p:cNvPr id="20" name="Text 14"/>
          <p:cNvSpPr txBox="1"/>
          <p:nvPr/>
        </p:nvSpPr>
        <p:spPr>
          <a:xfrm>
            <a:off x="6214872" y="222199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Happiness Guarantee said right next to cancellation or ETF terms.</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Our error:  </a:t>
            </a:r>
            <a:pPr indent="0" marL="0">
              <a:buNone/>
            </a:pPr>
            <a:r>
              <a:rPr lang="en-US" sz="1000" dirty="0">
                <a:solidFill>
                  <a:srgbClr val="1D1D1F"/>
                </a:solidFill>
                <a:latin typeface="SF Pro Text" pitchFamily="34" charset="0"/>
                <a:ea typeface="SF Pro Text" pitchFamily="34" charset="-122"/>
                <a:cs typeface="SF Pro Text" pitchFamily="34" charset="-120"/>
              </a:rPr>
              <a:t>not a customer misunderstanding. If it's why they leave, no ETF.</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exact test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Did we make an affirmative, guaranteed claim that turned out to be false?</a:t>
            </a:r>
            <a:endParaRPr lang="en-US" sz="1200" dirty="0"/>
          </a:p>
        </p:txBody>
      </p:sp>
      <p:sp>
        <p:nvSpPr>
          <p:cNvPr id="6" name="Shape 3"/>
          <p:cNvSpPr/>
          <p:nvPr/>
        </p:nvSpPr>
        <p:spPr>
          <a:xfrm>
            <a:off x="411480" y="1325880"/>
            <a:ext cx="40919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Guarantee: misrepresentation</a:t>
            </a:r>
            <a:endParaRPr lang="en-US" sz="1300" dirty="0"/>
          </a:p>
        </p:txBody>
      </p:sp>
      <p:sp>
        <p:nvSpPr>
          <p:cNvPr id="10" name="Text 6"/>
          <p:cNvSpPr txBox="1"/>
          <p:nvPr/>
        </p:nvSpPr>
        <p:spPr>
          <a:xfrm>
            <a:off x="5943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$19/hour"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 $23/hour"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An exact figure, not a range</a:t>
            </a:r>
            <a:endParaRPr lang="en-US" sz="1000" dirty="0"/>
          </a:p>
        </p:txBody>
      </p:sp>
      <p:sp>
        <p:nvSpPr>
          <p:cNvPr id="11" name="Shape 7"/>
          <p:cNvSpPr/>
          <p:nvPr/>
        </p:nvSpPr>
        <p:spPr>
          <a:xfrm>
            <a:off x="4640580" y="1325880"/>
            <a:ext cx="40919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Estimate: not misrepresentation</a:t>
            </a:r>
            <a:endParaRPr lang="en-US" sz="1300" dirty="0"/>
          </a:p>
        </p:txBody>
      </p:sp>
      <p:sp>
        <p:nvSpPr>
          <p:cNvPr id="15" name="Text 10"/>
          <p:cNvSpPr txBox="1"/>
          <p:nvPr/>
        </p:nvSpPr>
        <p:spPr>
          <a:xfrm>
            <a:off x="4823460" y="2039112"/>
            <a:ext cx="3726180" cy="10515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"Around $20/hour"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"Approximately", "roughly"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"Starting at"</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Verify first:  </a:t>
            </a:r>
            <a:pPr indent="0" marL="0">
              <a:buNone/>
            </a:pPr>
            <a:r>
              <a:rPr lang="en-US" sz="1000" dirty="0">
                <a:solidFill>
                  <a:srgbClr val="1D1D1F"/>
                </a:solidFill>
                <a:latin typeface="SF Pro Text" pitchFamily="34" charset="0"/>
                <a:ea typeface="SF Pro Text" pitchFamily="34" charset="-122"/>
                <a:cs typeface="SF Pro Text" pitchFamily="34" charset="-120"/>
              </a:rPr>
              <a:t>check the sales call recording or notes. Don't rely on the customer's memory alone.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Verify first. Only verified misinformation moves on to steps 2–6.</a:t>
            </a:r>
            <a:endParaRPr lang="en-US" sz="1200" dirty="0"/>
          </a:p>
        </p:txBody>
      </p:sp>
      <p:sp>
        <p:nvSpPr>
          <p:cNvPr id="6" name="Shape 3"/>
          <p:cNvSpPr/>
          <p:nvPr/>
        </p:nvSpPr>
        <p:spPr>
          <a:xfrm>
            <a:off x="411480" y="1298448"/>
            <a:ext cx="1737360" cy="566928"/>
          </a:xfrm>
          <a:prstGeom prst="roundRect">
            <a:avLst>
              <a:gd name="adj" fmla="val 12903"/>
            </a:avLst>
          </a:prstGeom>
          <a:solidFill>
            <a:srgbClr val="0B7A6F"/>
          </a:solidFill>
          <a:ln w="12700">
            <a:solidFill>
              <a:srgbClr val="0B7A6F"/>
            </a:solidFill>
            <a:prstDash val="solid"/>
          </a:ln>
        </p:spPr>
      </p:sp>
      <p:sp>
        <p:nvSpPr>
          <p:cNvPr id="7" name="Text 4"/>
          <p:cNvSpPr txBox="1"/>
          <p:nvPr/>
        </p:nvSpPr>
        <p:spPr>
          <a:xfrm>
            <a:off x="457200" y="1298448"/>
            <a:ext cx="16459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1  Verify</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Is it a real promise?</a:t>
            </a:r>
            <a:endParaRPr lang="en-US" sz="1050" dirty="0"/>
          </a:p>
        </p:txBody>
      </p:sp>
      <p:sp>
        <p:nvSpPr>
          <p:cNvPr id="8" name="Shape 5"/>
          <p:cNvSpPr/>
          <p:nvPr/>
        </p:nvSpPr>
        <p:spPr>
          <a:xfrm>
            <a:off x="2148840" y="1581912"/>
            <a:ext cx="228600" cy="0"/>
          </a:xfrm>
          <a:prstGeom prst="line">
            <a:avLst/>
          </a:prstGeom>
          <a:noFill/>
          <a:ln w="12700">
            <a:solidFill>
              <a:srgbClr val="6E6E73"/>
            </a:solidFill>
            <a:prstDash val="solid"/>
            <a:tailEnd type="triangle"/>
          </a:ln>
        </p:spPr>
      </p:sp>
      <p:sp>
        <p:nvSpPr>
          <p:cNvPr id="9" name="Shape 6"/>
          <p:cNvSpPr/>
          <p:nvPr/>
        </p:nvSpPr>
        <p:spPr>
          <a:xfrm>
            <a:off x="2377440" y="1298448"/>
            <a:ext cx="1874520" cy="566928"/>
          </a:xfrm>
          <a:prstGeom prst="roundRect">
            <a:avLst>
              <a:gd name="adj" fmla="val 12903"/>
            </a:avLst>
          </a:prstGeom>
          <a:solidFill>
            <a:srgbClr val="FFF3D6"/>
          </a:solidFill>
          <a:ln w="12700">
            <a:solidFill>
              <a:srgbClr val="9A6410"/>
            </a:solidFill>
            <a:prstDash val="solid"/>
          </a:ln>
        </p:spPr>
      </p:sp>
      <p:sp>
        <p:nvSpPr>
          <p:cNvPr id="10" name="Text 7"/>
          <p:cNvSpPr txBox="1"/>
          <p:nvPr/>
        </p:nvSpPr>
        <p:spPr>
          <a:xfrm>
            <a:off x="2377440" y="1298448"/>
            <a:ext cx="1874520" cy="56692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Misinformation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verified?</a:t>
            </a:r>
            <a:endParaRPr lang="en-US" sz="1000" dirty="0"/>
          </a:p>
        </p:txBody>
      </p:sp>
      <p:sp>
        <p:nvSpPr>
          <p:cNvPr id="11" name="Shape 8"/>
          <p:cNvSpPr/>
          <p:nvPr/>
        </p:nvSpPr>
        <p:spPr>
          <a:xfrm>
            <a:off x="4251960" y="1581912"/>
            <a:ext cx="274320" cy="0"/>
          </a:xfrm>
          <a:prstGeom prst="line">
            <a:avLst/>
          </a:prstGeom>
          <a:noFill/>
          <a:ln w="12700">
            <a:solidFill>
              <a:srgbClr val="6E6E73"/>
            </a:solidFill>
            <a:prstDash val="solid"/>
            <a:tailEnd type="triangle"/>
          </a:ln>
        </p:spPr>
      </p:sp>
      <p:sp>
        <p:nvSpPr>
          <p:cNvPr id="12" name="Text 9"/>
          <p:cNvSpPr txBox="1"/>
          <p:nvPr/>
        </p:nvSpPr>
        <p:spPr>
          <a:xfrm>
            <a:off x="4160520" y="1380744"/>
            <a:ext cx="45720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3" name="Shape 10"/>
          <p:cNvSpPr/>
          <p:nvPr/>
        </p:nvSpPr>
        <p:spPr>
          <a:xfrm>
            <a:off x="4526280" y="1298448"/>
            <a:ext cx="1828800" cy="566928"/>
          </a:xfrm>
          <a:prstGeom prst="roundRect">
            <a:avLst>
              <a:gd name="adj" fmla="val 12903"/>
            </a:avLst>
          </a:prstGeom>
          <a:solidFill>
            <a:srgbClr val="0B7A6F"/>
          </a:solidFill>
          <a:ln w="12700">
            <a:solidFill>
              <a:srgbClr val="0B7A6F"/>
            </a:solidFill>
            <a:prstDash val="solid"/>
          </a:ln>
        </p:spPr>
      </p:sp>
      <p:sp>
        <p:nvSpPr>
          <p:cNvPr id="14" name="Text 11"/>
          <p:cNvSpPr txBox="1"/>
          <p:nvPr/>
        </p:nvSpPr>
        <p:spPr>
          <a:xfrm>
            <a:off x="4572000" y="1298448"/>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2  Refund the gap</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Charged more than promised?</a:t>
            </a:r>
            <a:endParaRPr lang="en-US" sz="1050" dirty="0"/>
          </a:p>
        </p:txBody>
      </p:sp>
      <p:sp>
        <p:nvSpPr>
          <p:cNvPr id="15" name="Shape 12"/>
          <p:cNvSpPr/>
          <p:nvPr/>
        </p:nvSpPr>
        <p:spPr>
          <a:xfrm>
            <a:off x="6355080" y="1581912"/>
            <a:ext cx="274320" cy="0"/>
          </a:xfrm>
          <a:prstGeom prst="line">
            <a:avLst/>
          </a:prstGeom>
          <a:noFill/>
          <a:ln w="12700">
            <a:solidFill>
              <a:srgbClr val="6E6E73"/>
            </a:solidFill>
            <a:prstDash val="solid"/>
            <a:tailEnd type="triangle"/>
          </a:ln>
        </p:spPr>
      </p:sp>
      <p:sp>
        <p:nvSpPr>
          <p:cNvPr id="16" name="Shape 13"/>
          <p:cNvSpPr/>
          <p:nvPr/>
        </p:nvSpPr>
        <p:spPr>
          <a:xfrm>
            <a:off x="6629400" y="1298448"/>
            <a:ext cx="2103120" cy="566928"/>
          </a:xfrm>
          <a:prstGeom prst="roundRect">
            <a:avLst>
              <a:gd name="adj" fmla="val 12903"/>
            </a:avLst>
          </a:prstGeom>
          <a:solidFill>
            <a:srgbClr val="0B7A6F"/>
          </a:solidFill>
          <a:ln w="12700">
            <a:solidFill>
              <a:srgbClr val="0B7A6F"/>
            </a:solidFill>
            <a:prstDash val="solid"/>
          </a:ln>
        </p:spPr>
      </p:sp>
      <p:sp>
        <p:nvSpPr>
          <p:cNvPr id="17" name="Text 14"/>
          <p:cNvSpPr txBox="1"/>
          <p:nvPr/>
        </p:nvSpPr>
        <p:spPr>
          <a:xfrm>
            <a:off x="6675120" y="1298448"/>
            <a:ext cx="201168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3  Own the error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Ours, not "a misunderstanding"</a:t>
            </a:r>
            <a:endParaRPr lang="en-US" sz="1050" dirty="0"/>
          </a:p>
        </p:txBody>
      </p:sp>
      <p:sp>
        <p:nvSpPr>
          <p:cNvPr id="18" name="Shape 15"/>
          <p:cNvSpPr/>
          <p:nvPr/>
        </p:nvSpPr>
        <p:spPr>
          <a:xfrm>
            <a:off x="3314700" y="1865376"/>
            <a:ext cx="0" cy="237744"/>
          </a:xfrm>
          <a:prstGeom prst="line">
            <a:avLst/>
          </a:prstGeom>
          <a:noFill/>
          <a:ln w="12700">
            <a:solidFill>
              <a:srgbClr val="6E6E73"/>
            </a:solidFill>
            <a:prstDash val="solid"/>
            <a:tailEnd type="triangle"/>
          </a:ln>
        </p:spPr>
      </p:sp>
      <p:sp>
        <p:nvSpPr>
          <p:cNvPr id="19" name="Text 16"/>
          <p:cNvSpPr txBox="1"/>
          <p:nvPr/>
        </p:nvSpPr>
        <p:spPr>
          <a:xfrm>
            <a:off x="3337560" y="1883664"/>
            <a:ext cx="274320" cy="182880"/>
          </a:xfrm>
          <a:prstGeom prst="rect">
            <a:avLst/>
          </a:prstGeom>
          <a:noFill/>
          <a:ln/>
        </p:spPr>
        <p:txBody>
          <a:bodyPr wrap="square" lIns="0" tIns="0" rIns="0" bIns="0" rtlCol="0" anchor="t"/>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0" name="Shape 17"/>
          <p:cNvSpPr/>
          <p:nvPr/>
        </p:nvSpPr>
        <p:spPr>
          <a:xfrm>
            <a:off x="2377440" y="2103120"/>
            <a:ext cx="1874520" cy="457200"/>
          </a:xfrm>
          <a:prstGeom prst="roundRect">
            <a:avLst>
              <a:gd name="adj" fmla="val 16000"/>
            </a:avLst>
          </a:prstGeom>
          <a:solidFill>
            <a:srgbClr val="FFFFFF"/>
          </a:solidFill>
          <a:ln w="12700">
            <a:solidFill>
              <a:srgbClr val="DCE1E7"/>
            </a:solidFill>
            <a:prstDash val="solid"/>
          </a:ln>
        </p:spPr>
      </p:sp>
      <p:sp>
        <p:nvSpPr>
          <p:cNvPr id="21" name="Text 18"/>
          <p:cNvSpPr txBox="1"/>
          <p:nvPr/>
        </p:nvSpPr>
        <p:spPr>
          <a:xfrm>
            <a:off x="2377440" y="2103120"/>
            <a:ext cx="187452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Clarify the information and address any confusion</a:t>
            </a:r>
            <a:endParaRPr lang="en-US" sz="1000" dirty="0"/>
          </a:p>
        </p:txBody>
      </p:sp>
      <p:sp>
        <p:nvSpPr>
          <p:cNvPr id="22" name="Text 19"/>
          <p:cNvSpPr/>
          <p:nvPr/>
        </p:nvSpPr>
        <p:spPr>
          <a:xfrm>
            <a:off x="411480" y="2011680"/>
            <a:ext cx="1737360" cy="365760"/>
          </a:xfrm>
          <a:prstGeom prst="roundRect">
            <a:avLst>
              <a:gd name="adj" fmla="val 20000"/>
            </a:avLst>
          </a:prstGeom>
          <a:solidFill>
            <a:srgbClr val="FFFFFF"/>
          </a:solidFill>
          <a:ln w="19050">
            <a:solidFill>
              <a:srgbClr val="0B7A6F"/>
            </a:solidFill>
          </a:ln>
        </p:spPr>
        <p:txBody>
          <a:bodyPr wrap="square" rtlCol="0" anchor="ctr"/>
          <a:lstStyle/>
          <a:p>
            <a:pPr algn="ctr" indent="0" marL="0">
              <a:buNone/>
            </a:pPr>
            <a:r>
              <a:rPr lang="en-US" sz="1000" b="1" dirty="0">
                <a:solidFill>
                  <a:srgbClr val="0B7A6F"/>
                </a:solidFill>
                <a:latin typeface="SF Pro Display" pitchFamily="34" charset="0"/>
                <a:ea typeface="SF Pro Display" pitchFamily="34" charset="-122"/>
                <a:cs typeface="SF Pro Display" pitchFamily="34" charset="-120"/>
              </a:rPr>
              <a:t>Sales call review  ›</a:t>
            </a:r>
            <a:endParaRPr lang="en-US" sz="1000" dirty="0"/>
          </a:p>
        </p:txBody>
      </p:sp>
      <p:sp>
        <p:nvSpPr>
          <p:cNvPr id="23" name="Shape 20"/>
          <p:cNvSpPr/>
          <p:nvPr/>
        </p:nvSpPr>
        <p:spPr>
          <a:xfrm>
            <a:off x="1280160" y="1865376"/>
            <a:ext cx="0" cy="146304"/>
          </a:xfrm>
          <a:prstGeom prst="line">
            <a:avLst/>
          </a:prstGeom>
          <a:noFill/>
          <a:ln w="12700">
            <a:solidFill>
              <a:srgbClr val="6E6E73"/>
            </a:solidFill>
            <a:prstDash val="solid"/>
          </a:ln>
        </p:spPr>
      </p:sp>
      <p:sp>
        <p:nvSpPr>
          <p:cNvPr id="24" name="Shape 21"/>
          <p:cNvSpPr/>
          <p:nvPr/>
        </p:nvSpPr>
        <p:spPr>
          <a:xfrm>
            <a:off x="7680960" y="1865376"/>
            <a:ext cx="0" cy="768096"/>
          </a:xfrm>
          <a:prstGeom prst="line">
            <a:avLst/>
          </a:prstGeom>
          <a:noFill/>
          <a:ln w="12700">
            <a:solidFill>
              <a:srgbClr val="6E6E73"/>
            </a:solidFill>
            <a:prstDash val="solid"/>
          </a:ln>
        </p:spPr>
      </p:sp>
      <p:sp>
        <p:nvSpPr>
          <p:cNvPr id="25" name="Shape 22"/>
          <p:cNvSpPr/>
          <p:nvPr/>
        </p:nvSpPr>
        <p:spPr>
          <a:xfrm>
            <a:off x="1325880" y="2633472"/>
            <a:ext cx="6355080" cy="0"/>
          </a:xfrm>
          <a:prstGeom prst="line">
            <a:avLst/>
          </a:prstGeom>
          <a:noFill/>
          <a:ln w="12700">
            <a:solidFill>
              <a:srgbClr val="6E6E73"/>
            </a:solidFill>
            <a:prstDash val="solid"/>
          </a:ln>
        </p:spPr>
      </p:sp>
      <p:sp>
        <p:nvSpPr>
          <p:cNvPr id="26" name="Shape 23"/>
          <p:cNvSpPr/>
          <p:nvPr/>
        </p:nvSpPr>
        <p:spPr>
          <a:xfrm>
            <a:off x="1325880" y="2633472"/>
            <a:ext cx="0" cy="155448"/>
          </a:xfrm>
          <a:prstGeom prst="line">
            <a:avLst/>
          </a:prstGeom>
          <a:noFill/>
          <a:ln w="12700">
            <a:solidFill>
              <a:srgbClr val="6E6E73"/>
            </a:solidFill>
            <a:prstDash val="solid"/>
            <a:tailEnd type="triangle"/>
          </a:ln>
        </p:spPr>
      </p:sp>
      <p:sp>
        <p:nvSpPr>
          <p:cNvPr id="27" name="Shape 24"/>
          <p:cNvSpPr/>
          <p:nvPr/>
        </p:nvSpPr>
        <p:spPr>
          <a:xfrm>
            <a:off x="411480" y="2788920"/>
            <a:ext cx="1828800" cy="566928"/>
          </a:xfrm>
          <a:prstGeom prst="roundRect">
            <a:avLst>
              <a:gd name="adj" fmla="val 12903"/>
            </a:avLst>
          </a:prstGeom>
          <a:solidFill>
            <a:srgbClr val="0B7A6F"/>
          </a:solidFill>
          <a:ln w="12700">
            <a:solidFill>
              <a:srgbClr val="0B7A6F"/>
            </a:solidFill>
            <a:prstDash val="solid"/>
          </a:ln>
        </p:spPr>
      </p:sp>
      <p:sp>
        <p:nvSpPr>
          <p:cNvPr id="28" name="Text 25"/>
          <p:cNvSpPr txBox="1"/>
          <p:nvPr/>
        </p:nvSpPr>
        <p:spPr>
          <a:xfrm>
            <a:off x="457200" y="2788920"/>
            <a:ext cx="17373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4  Correct it</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Fix charges, explain what changed</a:t>
            </a:r>
            <a:endParaRPr lang="en-US" sz="1050" dirty="0"/>
          </a:p>
        </p:txBody>
      </p:sp>
      <p:sp>
        <p:nvSpPr>
          <p:cNvPr id="29" name="Shape 26"/>
          <p:cNvSpPr/>
          <p:nvPr/>
        </p:nvSpPr>
        <p:spPr>
          <a:xfrm>
            <a:off x="2240280" y="3072384"/>
            <a:ext cx="320040" cy="0"/>
          </a:xfrm>
          <a:prstGeom prst="line">
            <a:avLst/>
          </a:prstGeom>
          <a:noFill/>
          <a:ln w="12700">
            <a:solidFill>
              <a:srgbClr val="6E6E73"/>
            </a:solidFill>
            <a:prstDash val="solid"/>
            <a:tailEnd type="triangle"/>
          </a:ln>
        </p:spPr>
      </p:sp>
      <p:sp>
        <p:nvSpPr>
          <p:cNvPr id="30" name="Shape 27"/>
          <p:cNvSpPr/>
          <p:nvPr/>
        </p:nvSpPr>
        <p:spPr>
          <a:xfrm>
            <a:off x="2560320" y="2788920"/>
            <a:ext cx="2286000" cy="566928"/>
          </a:xfrm>
          <a:prstGeom prst="roundRect">
            <a:avLst>
              <a:gd name="adj" fmla="val 12903"/>
            </a:avLst>
          </a:prstGeom>
          <a:solidFill>
            <a:srgbClr val="0B7A6F"/>
          </a:solidFill>
          <a:ln w="12700">
            <a:solidFill>
              <a:srgbClr val="0B7A6F"/>
            </a:solidFill>
            <a:prstDash val="solid"/>
          </a:ln>
        </p:spPr>
      </p:sp>
      <p:sp>
        <p:nvSpPr>
          <p:cNvPr id="31" name="Text 28"/>
          <p:cNvSpPr txBox="1"/>
          <p:nvPr/>
        </p:nvSpPr>
        <p:spPr>
          <a:xfrm>
            <a:off x="2606040" y="2788920"/>
            <a:ext cx="219456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5  One light offer</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Up to $20 credit or a 1-hr voucher</a:t>
            </a:r>
            <a:endParaRPr lang="en-US" sz="1050" dirty="0"/>
          </a:p>
        </p:txBody>
      </p:sp>
      <p:sp>
        <p:nvSpPr>
          <p:cNvPr id="32" name="Shape 29"/>
          <p:cNvSpPr/>
          <p:nvPr/>
        </p:nvSpPr>
        <p:spPr>
          <a:xfrm>
            <a:off x="4846320" y="3072384"/>
            <a:ext cx="1234440" cy="0"/>
          </a:xfrm>
          <a:prstGeom prst="line">
            <a:avLst/>
          </a:prstGeom>
          <a:noFill/>
          <a:ln w="12700">
            <a:solidFill>
              <a:srgbClr val="6E6E73"/>
            </a:solidFill>
            <a:prstDash val="solid"/>
            <a:tailEnd type="triangle"/>
          </a:ln>
        </p:spPr>
      </p:sp>
      <p:sp>
        <p:nvSpPr>
          <p:cNvPr id="33" name="Text 30"/>
          <p:cNvSpPr txBox="1"/>
          <p:nvPr/>
        </p:nvSpPr>
        <p:spPr>
          <a:xfrm>
            <a:off x="4846320" y="2688336"/>
            <a:ext cx="1234440" cy="347472"/>
          </a:xfrm>
          <a:prstGeom prst="rect">
            <a:avLst/>
          </a:prstGeom>
          <a:noFill/>
          <a:ln/>
        </p:spPr>
        <p:txBody>
          <a:bodyPr wrap="square" lIns="0" tIns="0" rIns="0" bIns="0" rtlCol="0" anchor="b"/>
          <a:lstStyle/>
          <a:p>
            <a:pPr algn="ctr" indent="0" marL="0">
              <a:buNone/>
            </a:pPr>
            <a:r>
              <a:rPr lang="en-US" sz="800" b="1" dirty="0">
                <a:solidFill>
                  <a:srgbClr val="6E6E73"/>
                </a:solidFill>
                <a:latin typeface="SF Pro Text" pitchFamily="34" charset="0"/>
                <a:ea typeface="SF Pro Text" pitchFamily="34" charset="-122"/>
                <a:cs typeface="SF Pro Text" pitchFamily="34" charset="-120"/>
              </a:rPr>
              <a:t>Declined or</a:t>
            </a:r>
            <a:endParaRPr lang="en-US" sz="800" dirty="0"/>
          </a:p>
          <a:p>
            <a:pPr algn="ctr" indent="0" marL="0">
              <a:buNone/>
            </a:pPr>
            <a:r>
              <a:rPr lang="en-US" sz="800" b="1" dirty="0">
                <a:solidFill>
                  <a:srgbClr val="6E6E73"/>
                </a:solidFill>
                <a:latin typeface="SF Pro Text" pitchFamily="34" charset="0"/>
                <a:ea typeface="SF Pro Text" pitchFamily="34" charset="-122"/>
                <a:cs typeface="SF Pro Text" pitchFamily="34" charset="-120"/>
              </a:rPr>
              <a:t>not retainable</a:t>
            </a:r>
            <a:endParaRPr lang="en-US" sz="800" dirty="0"/>
          </a:p>
        </p:txBody>
      </p:sp>
      <p:sp>
        <p:nvSpPr>
          <p:cNvPr id="34" name="Shape 31"/>
          <p:cNvSpPr/>
          <p:nvPr/>
        </p:nvSpPr>
        <p:spPr>
          <a:xfrm>
            <a:off x="6080760" y="2788920"/>
            <a:ext cx="2651760" cy="566928"/>
          </a:xfrm>
          <a:prstGeom prst="roundRect">
            <a:avLst>
              <a:gd name="adj" fmla="val 12903"/>
            </a:avLst>
          </a:prstGeom>
          <a:solidFill>
            <a:srgbClr val="1D1D1F"/>
          </a:solidFill>
          <a:ln w="12700">
            <a:solidFill>
              <a:srgbClr val="1D1D1F"/>
            </a:solidFill>
            <a:prstDash val="solid"/>
          </a:ln>
        </p:spPr>
      </p:sp>
      <p:sp>
        <p:nvSpPr>
          <p:cNvPr id="35" name="Text 32"/>
          <p:cNvSpPr txBox="1"/>
          <p:nvPr/>
        </p:nvSpPr>
        <p:spPr>
          <a:xfrm>
            <a:off x="6126480" y="2788920"/>
            <a:ext cx="2560320"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SF Pro Display" pitchFamily="34" charset="0"/>
                <a:ea typeface="SF Pro Display" pitchFamily="34" charset="-122"/>
                <a:cs typeface="SF Pro Display" pitchFamily="34" charset="-120"/>
              </a:rPr>
              <a:t>6  Waive the ETF, cancel FC</a:t>
            </a:r>
            <a:endParaRPr lang="en-US" sz="1050" dirty="0"/>
          </a:p>
          <a:p>
            <a:pPr algn="ctr" indent="0" marL="0">
              <a:buNone/>
            </a:pPr>
            <a:r>
              <a:rPr lang="en-US" sz="800" dirty="0">
                <a:solidFill>
                  <a:srgbClr val="FFFFFF"/>
                </a:solidFill>
                <a:latin typeface="SF Pro Text" pitchFamily="34" charset="0"/>
                <a:ea typeface="SF Pro Text" pitchFamily="34" charset="-122"/>
                <a:cs typeface="SF Pro Text" pitchFamily="34" charset="-120"/>
              </a:rPr>
              <a:t>No ETF: the error was ours</a:t>
            </a:r>
            <a:endParaRPr lang="en-US" sz="1050" dirty="0"/>
          </a:p>
        </p:txBody>
      </p:sp>
      <p:sp>
        <p:nvSpPr>
          <p:cNvPr id="36" name="Shape 3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38" name="Text 3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Waiting on a reply?  </a:t>
            </a:r>
            <a:pPr indent="0" marL="0">
              <a:buNone/>
            </a:pPr>
            <a:r>
              <a:rPr lang="en-US" sz="1000" dirty="0">
                <a:solidFill>
                  <a:srgbClr val="1D1D1F"/>
                </a:solidFill>
                <a:latin typeface="SF Pro Text" pitchFamily="34" charset="0"/>
                <a:ea typeface="SF Pro Text" pitchFamily="34" charset="-122"/>
                <a:cs typeface="SF Pro Text" pitchFamily="34" charset="-120"/>
              </a:rPr>
              <a:t>set a TR before the next MF.</a:t>
            </a:r>
            <a:endParaRPr lang="en-US" sz="1000" dirty="0"/>
          </a:p>
        </p:txBody>
      </p:sp>
      <p:sp>
        <p:nvSpPr>
          <p:cNvPr id="39" name="pop1_2Panel"/>
          <p:cNvSpPr/>
          <p:nvPr/>
        </p:nvSpPr>
        <p:spPr>
          <a:xfrm>
            <a:off x="411480" y="2468880"/>
            <a:ext cx="5120640" cy="1572768"/>
          </a:xfrm>
          <a:prstGeom prst="roundRect">
            <a:avLst>
              <a:gd name="adj" fmla="val 3488"/>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40" name="pop1_2Title"/>
          <p:cNvSpPr txBox="1"/>
          <p:nvPr/>
        </p:nvSpPr>
        <p:spPr>
          <a:xfrm>
            <a:off x="548640" y="2523744"/>
            <a:ext cx="2743200" cy="274320"/>
          </a:xfrm>
          <a:prstGeom prst="rect">
            <a:avLst/>
          </a:prstGeom>
          <a:noFill/>
          <a:ln/>
        </p:spPr>
        <p:txBody>
          <a:bodyPr wrap="square" lIns="0" tIns="0" rIns="0" bIns="0" rtlCol="0" anchor="ct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Sales call review</a:t>
            </a:r>
            <a:endParaRPr lang="en-US" sz="1100" dirty="0"/>
          </a:p>
        </p:txBody>
      </p:sp>
      <p:sp>
        <p:nvSpPr>
          <p:cNvPr id="41" name="pop1_2Num1"/>
          <p:cNvSpPr/>
          <p:nvPr/>
        </p:nvSpPr>
        <p:spPr>
          <a:xfrm>
            <a:off x="576072" y="2880360"/>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1</a:t>
            </a:r>
            <a:endParaRPr lang="en-US" sz="850" dirty="0"/>
          </a:p>
        </p:txBody>
      </p:sp>
      <p:sp>
        <p:nvSpPr>
          <p:cNvPr id="42" name="pop1_2Row1"/>
          <p:cNvSpPr txBox="1"/>
          <p:nvPr/>
        </p:nvSpPr>
        <p:spPr>
          <a:xfrm>
            <a:off x="886968" y="2852928"/>
            <a:ext cx="210312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call review request</a:t>
            </a:r>
            <a:endParaRPr lang="en-US" sz="1000" dirty="0"/>
          </a:p>
        </p:txBody>
      </p:sp>
      <p:sp>
        <p:nvSpPr>
          <p:cNvPr id="43" name="pop1_2Num2"/>
          <p:cNvSpPr/>
          <p:nvPr/>
        </p:nvSpPr>
        <p:spPr>
          <a:xfrm>
            <a:off x="576072" y="3182112"/>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2</a:t>
            </a:r>
            <a:endParaRPr lang="en-US" sz="850" dirty="0"/>
          </a:p>
        </p:txBody>
      </p:sp>
      <p:sp>
        <p:nvSpPr>
          <p:cNvPr id="44" name="pop1_2Row2"/>
          <p:cNvSpPr txBox="1"/>
          <p:nvPr/>
        </p:nvSpPr>
        <p:spPr>
          <a:xfrm>
            <a:off x="886968" y="3154680"/>
            <a:ext cx="4480560" cy="274320"/>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Add an internal note with your escalation link</a:t>
            </a:r>
            <a:endParaRPr lang="en-US" sz="1000" dirty="0"/>
          </a:p>
        </p:txBody>
      </p:sp>
      <p:sp>
        <p:nvSpPr>
          <p:cNvPr id="45" name="pop1_2Num3"/>
          <p:cNvSpPr/>
          <p:nvPr/>
        </p:nvSpPr>
        <p:spPr>
          <a:xfrm>
            <a:off x="576072" y="3483864"/>
            <a:ext cx="219456" cy="219456"/>
          </a:xfrm>
          <a:prstGeom prst="ellipse">
            <a:avLst/>
          </a:prstGeom>
          <a:solidFill>
            <a:srgbClr val="E3F4F1"/>
          </a:solidFill>
          <a:ln>
            <a:solidFill>
              <a:srgbClr val="E3F4F1"/>
            </a:solidFill>
          </a:ln>
        </p:spPr>
        <p:txBody>
          <a:bodyPr wrap="square" lIns="0" tIns="0" rIns="0" bIns="0" rtlCol="0" anchor="ctr"/>
          <a:lstStyle/>
          <a:p>
            <a:pPr algn="ctr" indent="0" marL="0">
              <a:buNone/>
            </a:pPr>
            <a:r>
              <a:rPr lang="en-US" sz="850" b="1" dirty="0">
                <a:solidFill>
                  <a:srgbClr val="0B7A6F"/>
                </a:solidFill>
                <a:latin typeface="SF Pro Display" pitchFamily="34" charset="0"/>
                <a:ea typeface="SF Pro Display" pitchFamily="34" charset="-122"/>
                <a:cs typeface="SF Pro Display" pitchFamily="34" charset="-120"/>
              </a:rPr>
              <a:t>3</a:t>
            </a:r>
            <a:endParaRPr lang="en-US" sz="850" dirty="0"/>
          </a:p>
        </p:txBody>
      </p:sp>
      <p:sp>
        <p:nvSpPr>
          <p:cNvPr id="46" name="pop1_2Row3"/>
          <p:cNvSpPr txBox="1"/>
          <p:nvPr/>
        </p:nvSpPr>
        <p:spPr>
          <a:xfrm>
            <a:off x="886968" y="3456432"/>
            <a:ext cx="4480560" cy="274320"/>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Don't resolve yet. Change the status to Waiting on CSQ</a:t>
            </a:r>
            <a:endParaRPr lang="en-US" sz="1000" dirty="0"/>
          </a:p>
        </p:txBody>
      </p:sp>
      <p:sp>
        <p:nvSpPr>
          <p:cNvPr id="47" name="pop1_2LinkBg">
            <a:hlinkClick r:id="rId4" tooltip="Open the Sales call review request sheet"/>
          </p:cNvPr>
          <p:cNvSpPr/>
          <p:nvPr/>
        </p:nvSpPr>
        <p:spPr>
          <a:xfrm>
            <a:off x="2651760" y="2862072"/>
            <a:ext cx="310896" cy="256032"/>
          </a:xfrm>
          <a:prstGeom prst="roundRect">
            <a:avLst>
              <a:gd name="adj" fmla="val 21429"/>
            </a:avLst>
          </a:prstGeom>
          <a:solidFill>
            <a:srgbClr val="9A6410"/>
          </a:solidFill>
          <a:ln w="12700">
            <a:solidFill>
              <a:srgbClr val="9A6410"/>
            </a:solidFill>
            <a:prstDash val="solid"/>
          </a:ln>
        </p:spPr>
      </p:sp>
      <p:pic>
        <p:nvPicPr>
          <p:cNvPr id="48" name="pop1_2LinkIcon" descr="preencoded.png">
            <a:hlinkClick r:id="rId4" tooltip="Open the Sales call review request sheet"/>
          </p:cNvPr>
          <p:cNvPicPr>
            <a:picLocks noChangeAspect="1"/>
          </p:cNvPicPr>
          <p:nvPr/>
        </p:nvPicPr>
        <p:blipFill>
          <a:blip r:embed="rId3"/>
          <a:stretch>
            <a:fillRect/>
          </a:stretch>
        </p:blipFill>
        <p:spPr>
          <a:xfrm>
            <a:off x="2734056" y="2898648"/>
            <a:ext cx="155448" cy="155448"/>
          </a:xfrm>
          <a:prstGeom prst="rect">
            <a:avLst/>
          </a:prstGeom>
        </p:spPr>
      </p:pic>
      <p:sp>
        <p:nvSpPr>
          <p:cNvPr id="49" name="pop1_2Foot"/>
          <p:cNvSpPr txBox="1"/>
          <p:nvPr/>
        </p:nvSpPr>
        <p:spPr>
          <a:xfrm>
            <a:off x="576072" y="3749040"/>
            <a:ext cx="4791456" cy="237744"/>
          </a:xfrm>
          <a:prstGeom prst="rect">
            <a:avLst/>
          </a:prstGeom>
          <a:noFill/>
          <a:ln/>
        </p:spPr>
        <p:txBody>
          <a:bodyPr wrap="square" lIns="0" tIns="0" rIns="0" bIns="0" rtlCol="0" anchor="ctr"/>
          <a:lstStyle/>
          <a:p>
            <a:pPr indent="0" marL="0">
              <a:buNone/>
            </a:pPr>
            <a:r>
              <a:rPr lang="en-US" sz="850" i="1" dirty="0">
                <a:solidFill>
                  <a:srgbClr val="6E6E73"/>
                </a:solidFill>
                <a:latin typeface="SF Pro Text" pitchFamily="34" charset="0"/>
                <a:ea typeface="SF Pro Text" pitchFamily="34" charset="-122"/>
                <a:cs typeface="SF Pro Text" pitchFamily="34" charset="-120"/>
              </a:rPr>
              <a:t>Verified? Continue to step 2.</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fade">
                                      <p:cBhvr>
                                        <p:cTn id="7" dur="600"/>
                                        <p:tgtEl>
                                          <p:spTgt spid="3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6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animEffect transition="in" filter="fade">
                                      <p:cBhvr>
                                        <p:cTn id="13" dur="600"/>
                                        <p:tgtEl>
                                          <p:spTgt spid="4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2"/>
                                        </p:tgtEl>
                                        <p:attrNameLst>
                                          <p:attrName>style.visibility</p:attrName>
                                        </p:attrNameLst>
                                      </p:cBhvr>
                                      <p:to>
                                        <p:strVal val="visible"/>
                                      </p:to>
                                    </p:set>
                                    <p:animEffect transition="in" filter="fade">
                                      <p:cBhvr>
                                        <p:cTn id="16" dur="600"/>
                                        <p:tgtEl>
                                          <p:spTgt spid="4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Effect transition="in" filter="fade">
                                      <p:cBhvr>
                                        <p:cTn id="19" dur="600"/>
                                        <p:tgtEl>
                                          <p:spTgt spid="4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4"/>
                                        </p:tgtEl>
                                        <p:attrNameLst>
                                          <p:attrName>style.visibility</p:attrName>
                                        </p:attrNameLst>
                                      </p:cBhvr>
                                      <p:to>
                                        <p:strVal val="visible"/>
                                      </p:to>
                                    </p:set>
                                    <p:animEffect transition="in" filter="fade">
                                      <p:cBhvr>
                                        <p:cTn id="22" dur="600"/>
                                        <p:tgtEl>
                                          <p:spTgt spid="4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600"/>
                                        <p:tgtEl>
                                          <p:spTgt spid="4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6"/>
                                        </p:tgtEl>
                                        <p:attrNameLst>
                                          <p:attrName>style.visibility</p:attrName>
                                        </p:attrNameLst>
                                      </p:cBhvr>
                                      <p:to>
                                        <p:strVal val="visible"/>
                                      </p:to>
                                    </p:set>
                                    <p:animEffect transition="in" filter="fade">
                                      <p:cBhvr>
                                        <p:cTn id="28" dur="600"/>
                                        <p:tgtEl>
                                          <p:spTgt spid="4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7"/>
                                        </p:tgtEl>
                                        <p:attrNameLst>
                                          <p:attrName>style.visibility</p:attrName>
                                        </p:attrNameLst>
                                      </p:cBhvr>
                                      <p:to>
                                        <p:strVal val="visible"/>
                                      </p:to>
                                    </p:set>
                                    <p:animEffect transition="in" filter="fade">
                                      <p:cBhvr>
                                        <p:cTn id="31" dur="600"/>
                                        <p:tgtEl>
                                          <p:spTgt spid="4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6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9"/>
                                        </p:tgtEl>
                                        <p:attrNameLst>
                                          <p:attrName>style.visibility</p:attrName>
                                        </p:attrNameLst>
                                      </p:cBhvr>
                                      <p:to>
                                        <p:strVal val="visible"/>
                                      </p:to>
                                    </p:set>
                                    <p:animEffect transition="in" filter="fade">
                                      <p:cBhvr>
                                        <p:cTn id="37" dur="600"/>
                                        <p:tgtEl>
                                          <p:spTgt spid="49"/>
                                        </p:tgtEl>
                                      </p:cBhvr>
                                    </p:animEffect>
                                  </p:childTnLst>
                                </p:cTn>
                              </p:par>
                            </p:childTnLst>
                          </p:cTn>
                        </p:par>
                      </p:childTnLst>
                    </p:cTn>
                  </p:par>
                  <p:par>
                    <p:cTn id="71" fill="hold">
                      <p:stCondLst>
                        <p:cond delay="indefinite"/>
                      </p:stCondLst>
                      <p:childTnLst>
                        <p:par>
                          <p:cTn id="72" fill="hold">
                            <p:stCondLst>
                              <p:cond delay="0"/>
                            </p:stCondLst>
                            <p:childTnLst>
                              <p:par>
                                <p:cTn id="40" presetID="1" presetClass="exit" presetSubtype="0" fill="hold" grpId="1" nodeType="clickEffect">
                                  <p:stCondLst>
                                    <p:cond delay="0"/>
                                  </p:stCondLst>
                                  <p:childTnLst>
                                    <p:set>
                                      <p:cBhvr>
                                        <p:cTn id="41" dur="1" fill="hold">
                                          <p:stCondLst>
                                            <p:cond delay="0"/>
                                          </p:stCondLst>
                                        </p:cTn>
                                        <p:tgtEl>
                                          <p:spTgt spid="39"/>
                                        </p:tgtEl>
                                        <p:attrNameLst>
                                          <p:attrName>style.visibility</p:attrName>
                                        </p:attrNameLst>
                                      </p:cBhvr>
                                      <p:to>
                                        <p:strVal val="hidden"/>
                                      </p:to>
                                    </p:set>
                                  </p:childTnLst>
                                </p:cTn>
                              </p:par>
                              <p:par>
                                <p:cTn id="43" presetID="1" presetClass="exit" presetSubtype="0" fill="hold" grpId="1" nodeType="withEffect">
                                  <p:stCondLst>
                                    <p:cond delay="0"/>
                                  </p:stCondLst>
                                  <p:childTnLst>
                                    <p:set>
                                      <p:cBhvr>
                                        <p:cTn id="44" dur="1" fill="hold">
                                          <p:stCondLst>
                                            <p:cond delay="0"/>
                                          </p:stCondLst>
                                        </p:cTn>
                                        <p:tgtEl>
                                          <p:spTgt spid="40"/>
                                        </p:tgtEl>
                                        <p:attrNameLst>
                                          <p:attrName>style.visibility</p:attrName>
                                        </p:attrNameLst>
                                      </p:cBhvr>
                                      <p:to>
                                        <p:strVal val="hidden"/>
                                      </p:to>
                                    </p:set>
                                  </p:childTnLst>
                                </p:cTn>
                              </p:par>
                              <p:par>
                                <p:cTn id="46" presetID="1" presetClass="exit" presetSubtype="0" fill="hold" grpId="1" nodeType="withEffect">
                                  <p:stCondLst>
                                    <p:cond delay="0"/>
                                  </p:stCondLst>
                                  <p:childTnLst>
                                    <p:set>
                                      <p:cBhvr>
                                        <p:cTn id="47" dur="1" fill="hold">
                                          <p:stCondLst>
                                            <p:cond delay="0"/>
                                          </p:stCondLst>
                                        </p:cTn>
                                        <p:tgtEl>
                                          <p:spTgt spid="41"/>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42"/>
                                        </p:tgtEl>
                                        <p:attrNameLst>
                                          <p:attrName>style.visibility</p:attrName>
                                        </p:attrNameLst>
                                      </p:cBhvr>
                                      <p:to>
                                        <p:strVal val="hidden"/>
                                      </p:to>
                                    </p:set>
                                  </p:childTnLst>
                                </p:cTn>
                              </p:par>
                              <p:par>
                                <p:cTn id="52" presetID="1" presetClass="exit" presetSubtype="0" fill="hold" grpId="1" nodeType="withEffect">
                                  <p:stCondLst>
                                    <p:cond delay="0"/>
                                  </p:stCondLst>
                                  <p:childTnLst>
                                    <p:set>
                                      <p:cBhvr>
                                        <p:cTn id="53" dur="1" fill="hold">
                                          <p:stCondLst>
                                            <p:cond delay="0"/>
                                          </p:stCondLst>
                                        </p:cTn>
                                        <p:tgtEl>
                                          <p:spTgt spid="4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44"/>
                                        </p:tgtEl>
                                        <p:attrNameLst>
                                          <p:attrName>style.visibility</p:attrName>
                                        </p:attrNameLst>
                                      </p:cBhvr>
                                      <p:to>
                                        <p:strVal val="hidden"/>
                                      </p:to>
                                    </p:set>
                                  </p:childTnLst>
                                </p:cTn>
                              </p:par>
                              <p:par>
                                <p:cTn id="58" presetID="1" presetClass="exit" presetSubtype="0" fill="hold" grpId="1"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46"/>
                                        </p:tgtEl>
                                        <p:attrNameLst>
                                          <p:attrName>style.visibility</p:attrName>
                                        </p:attrNameLst>
                                      </p:cBhvr>
                                      <p:to>
                                        <p:strVal val="hidden"/>
                                      </p:to>
                                    </p:set>
                                  </p:childTnLst>
                                </p:cTn>
                              </p:par>
                              <p:par>
                                <p:cTn id="64" presetID="1" presetClass="exit" presetSubtype="0" fill="hold" grpId="1" nodeType="withEffect">
                                  <p:stCondLst>
                                    <p:cond delay="0"/>
                                  </p:stCondLst>
                                  <p:childTnLst>
                                    <p:set>
                                      <p:cBhvr>
                                        <p:cTn id="65" dur="1" fill="hold">
                                          <p:stCondLst>
                                            <p:cond delay="0"/>
                                          </p:stCondLst>
                                        </p:cTn>
                                        <p:tgtEl>
                                          <p:spTgt spid="47"/>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0"/>
                                          </p:stCondLst>
                                        </p:cTn>
                                        <p:tgtEl>
                                          <p:spTgt spid="48"/>
                                        </p:tgtEl>
                                        <p:attrNameLst>
                                          <p:attrName>style.visibility</p:attrName>
                                        </p:attrNameLst>
                                      </p:cBhvr>
                                      <p:to>
                                        <p:strVal val="hidden"/>
                                      </p:to>
                                    </p:set>
                                  </p:childTnLst>
                                </p:cTn>
                              </p:par>
                              <p:par>
                                <p:cTn id="70" presetID="1" presetClass="exit" presetSubtype="0" fill="hold" grpId="1" nodeType="withEffect">
                                  <p:stCondLst>
                                    <p:cond delay="0"/>
                                  </p:stCondLst>
                                  <p:childTnLst>
                                    <p:set>
                                      <p:cBhvr>
                                        <p:cTn id="71" dur="1" fill="hold">
                                          <p:stCondLst>
                                            <p:cond delay="0"/>
                                          </p:stCondLst>
                                        </p:cTn>
                                        <p:tgtEl>
                                          <p:spTgt spid="4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45" grpId="0" animBg="1"/>
      <p:bldP spid="46" grpId="0" animBg="1"/>
      <p:bldP spid="47" grpId="0" animBg="1"/>
      <p:bldP spid="49" grpId="0" animBg="1"/>
      <p:bldP spid="39" grpId="1" animBg="1"/>
      <p:bldP spid="40" grpId="1" animBg="1"/>
      <p:bldP spid="41" grpId="1" animBg="1"/>
      <p:bldP spid="42" grpId="1" animBg="1"/>
      <p:bldP spid="43" grpId="1" animBg="1"/>
      <p:bldP spid="44" grpId="1" animBg="1"/>
      <p:bldP spid="45" grpId="1" animBg="1"/>
      <p:bldP spid="46" grpId="1" animBg="1"/>
      <p:bldP spid="47" grpId="1" animBg="1"/>
      <p:bldP spid="49"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Quoted a rate, left out the fees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Never just "a gap in what was mentioned".</a:t>
            </a:r>
            <a:endParaRPr lang="en-US" sz="1200" dirty="0"/>
          </a:p>
        </p:txBody>
      </p:sp>
      <p:sp>
        <p:nvSpPr>
          <p:cNvPr id="6" name="Shape 3"/>
          <p:cNvSpPr/>
          <p:nvPr/>
        </p:nvSpPr>
        <p:spPr>
          <a:xfrm>
            <a:off x="411480" y="1417320"/>
            <a:ext cx="1920240" cy="548640"/>
          </a:xfrm>
          <a:prstGeom prst="roundRect">
            <a:avLst>
              <a:gd name="adj" fmla="val 13333"/>
            </a:avLst>
          </a:prstGeom>
          <a:solidFill>
            <a:srgbClr val="1D1D1F"/>
          </a:solidFill>
          <a:ln w="12700">
            <a:solidFill>
              <a:srgbClr val="1D1D1F"/>
            </a:solidFill>
            <a:prstDash val="solid"/>
          </a:ln>
        </p:spPr>
      </p:sp>
      <p:sp>
        <p:nvSpPr>
          <p:cNvPr id="7" name="Text 4"/>
          <p:cNvSpPr txBox="1"/>
          <p:nvPr/>
        </p:nvSpPr>
        <p:spPr>
          <a:xfrm>
            <a:off x="411480"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Told "$20/hr"</a:t>
            </a:r>
            <a:endParaRPr lang="en-US" sz="1000" dirty="0"/>
          </a:p>
        </p:txBody>
      </p:sp>
      <p:sp>
        <p:nvSpPr>
          <p:cNvPr id="8" name="Shape 5"/>
          <p:cNvSpPr/>
          <p:nvPr/>
        </p:nvSpPr>
        <p:spPr>
          <a:xfrm>
            <a:off x="2331720" y="1691640"/>
            <a:ext cx="210312" cy="0"/>
          </a:xfrm>
          <a:prstGeom prst="line">
            <a:avLst/>
          </a:prstGeom>
          <a:noFill/>
          <a:ln w="12700">
            <a:solidFill>
              <a:srgbClr val="6E6E73"/>
            </a:solidFill>
            <a:prstDash val="solid"/>
            <a:tailEnd type="triangle"/>
          </a:ln>
        </p:spPr>
      </p:sp>
      <p:sp>
        <p:nvSpPr>
          <p:cNvPr id="9" name="Text 6"/>
          <p:cNvSpPr txBox="1"/>
          <p:nvPr/>
        </p:nvSpPr>
        <p:spPr>
          <a:xfrm>
            <a:off x="411480"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No mention of processing fee, tax or Premium.</a:t>
            </a:r>
            <a:endParaRPr lang="en-US" sz="950" dirty="0"/>
          </a:p>
        </p:txBody>
      </p:sp>
      <p:sp>
        <p:nvSpPr>
          <p:cNvPr id="10" name="Shape 7"/>
          <p:cNvSpPr/>
          <p:nvPr/>
        </p:nvSpPr>
        <p:spPr>
          <a:xfrm>
            <a:off x="2542032" y="1417320"/>
            <a:ext cx="1920240" cy="548640"/>
          </a:xfrm>
          <a:prstGeom prst="roundRect">
            <a:avLst>
              <a:gd name="adj" fmla="val 13333"/>
            </a:avLst>
          </a:prstGeom>
          <a:solidFill>
            <a:srgbClr val="0B7A6F"/>
          </a:solidFill>
          <a:ln w="12700">
            <a:solidFill>
              <a:srgbClr val="0B7A6F"/>
            </a:solidFill>
            <a:prstDash val="solid"/>
          </a:ln>
        </p:spPr>
      </p:sp>
      <p:sp>
        <p:nvSpPr>
          <p:cNvPr id="11" name="Text 8"/>
          <p:cNvSpPr txBox="1"/>
          <p:nvPr/>
        </p:nvSpPr>
        <p:spPr>
          <a:xfrm>
            <a:off x="2542032"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Admin refund</a:t>
            </a:r>
            <a:endParaRPr lang="en-US" sz="1000" dirty="0"/>
          </a:p>
        </p:txBody>
      </p:sp>
      <p:sp>
        <p:nvSpPr>
          <p:cNvPr id="12" name="Shape 9"/>
          <p:cNvSpPr/>
          <p:nvPr/>
        </p:nvSpPr>
        <p:spPr>
          <a:xfrm>
            <a:off x="4462272" y="1691640"/>
            <a:ext cx="210312" cy="0"/>
          </a:xfrm>
          <a:prstGeom prst="line">
            <a:avLst/>
          </a:prstGeom>
          <a:noFill/>
          <a:ln w="12700">
            <a:solidFill>
              <a:srgbClr val="6E6E73"/>
            </a:solidFill>
            <a:prstDash val="solid"/>
            <a:tailEnd type="triangle"/>
          </a:ln>
        </p:spPr>
      </p:sp>
      <p:sp>
        <p:nvSpPr>
          <p:cNvPr id="13" name="Text 10"/>
          <p:cNvSpPr txBox="1"/>
          <p:nvPr/>
        </p:nvSpPr>
        <p:spPr>
          <a:xfrm>
            <a:off x="2542032"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job totals $20/hr × hours worked.</a:t>
            </a:r>
            <a:endParaRPr lang="en-US" sz="950" dirty="0"/>
          </a:p>
        </p:txBody>
      </p:sp>
      <p:sp>
        <p:nvSpPr>
          <p:cNvPr id="14" name="Shape 11"/>
          <p:cNvSpPr/>
          <p:nvPr/>
        </p:nvSpPr>
        <p:spPr>
          <a:xfrm>
            <a:off x="4672584" y="1417320"/>
            <a:ext cx="1920240" cy="548640"/>
          </a:xfrm>
          <a:prstGeom prst="roundRect">
            <a:avLst>
              <a:gd name="adj" fmla="val 13333"/>
            </a:avLst>
          </a:prstGeom>
          <a:solidFill>
            <a:srgbClr val="0B7A6F"/>
          </a:solidFill>
          <a:ln w="12700">
            <a:solidFill>
              <a:srgbClr val="0B7A6F"/>
            </a:solidFill>
            <a:prstDash val="solid"/>
          </a:ln>
        </p:spPr>
      </p:sp>
      <p:sp>
        <p:nvSpPr>
          <p:cNvPr id="15" name="Text 12"/>
          <p:cNvSpPr txBox="1"/>
          <p:nvPr/>
        </p:nvSpPr>
        <p:spPr>
          <a:xfrm>
            <a:off x="4672584" y="1417320"/>
            <a:ext cx="192024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the account</a:t>
            </a:r>
            <a:endParaRPr lang="en-US" sz="1000" dirty="0"/>
          </a:p>
        </p:txBody>
      </p:sp>
      <p:sp>
        <p:nvSpPr>
          <p:cNvPr id="16" name="Shape 13"/>
          <p:cNvSpPr/>
          <p:nvPr/>
        </p:nvSpPr>
        <p:spPr>
          <a:xfrm>
            <a:off x="6592824" y="1691640"/>
            <a:ext cx="210312" cy="0"/>
          </a:xfrm>
          <a:prstGeom prst="line">
            <a:avLst/>
          </a:prstGeom>
          <a:noFill/>
          <a:ln w="12700">
            <a:solidFill>
              <a:srgbClr val="6E6E73"/>
            </a:solidFill>
            <a:prstDash val="solid"/>
            <a:tailEnd type="triangle"/>
          </a:ln>
        </p:spPr>
      </p:sp>
      <p:sp>
        <p:nvSpPr>
          <p:cNvPr id="17" name="Text 14"/>
          <p:cNvSpPr txBox="1"/>
          <p:nvPr/>
        </p:nvSpPr>
        <p:spPr>
          <a:xfrm>
            <a:off x="4672584"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Max CP rate $20. Cleaner Experience Level: Standard.</a:t>
            </a:r>
            <a:endParaRPr lang="en-US" sz="950" dirty="0"/>
          </a:p>
        </p:txBody>
      </p:sp>
      <p:sp>
        <p:nvSpPr>
          <p:cNvPr id="18" name="Shape 15"/>
          <p:cNvSpPr/>
          <p:nvPr/>
        </p:nvSpPr>
        <p:spPr>
          <a:xfrm>
            <a:off x="6803136" y="1417320"/>
            <a:ext cx="1920240" cy="548640"/>
          </a:xfrm>
          <a:prstGeom prst="roundRect">
            <a:avLst>
              <a:gd name="adj" fmla="val 13333"/>
            </a:avLst>
          </a:prstGeom>
          <a:solidFill>
            <a:srgbClr val="FFFFFF"/>
          </a:solidFill>
          <a:ln w="12700">
            <a:solidFill>
              <a:srgbClr val="DCE1E7"/>
            </a:solidFill>
            <a:prstDash val="solid"/>
          </a:ln>
        </p:spPr>
      </p:sp>
      <p:sp>
        <p:nvSpPr>
          <p:cNvPr id="19" name="Text 16"/>
          <p:cNvSpPr txBox="1"/>
          <p:nvPr/>
        </p:nvSpPr>
        <p:spPr>
          <a:xfrm>
            <a:off x="6803136" y="1417320"/>
            <a:ext cx="1920240" cy="54864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Explain the fees</a:t>
            </a:r>
            <a:endParaRPr lang="en-US" sz="1000" dirty="0"/>
          </a:p>
        </p:txBody>
      </p:sp>
      <p:sp>
        <p:nvSpPr>
          <p:cNvPr id="20" name="Text 17"/>
          <p:cNvSpPr txBox="1"/>
          <p:nvPr/>
        </p:nvSpPr>
        <p:spPr>
          <a:xfrm>
            <a:off x="6803136" y="2057400"/>
            <a:ext cx="1920240" cy="64008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So the next invoice isn't a surprise.</a:t>
            </a:r>
            <a:endParaRPr lang="en-US" sz="950" dirty="0"/>
          </a:p>
        </p:txBody>
      </p:sp>
      <p:sp>
        <p:nvSpPr>
          <p:cNvPr id="21" name="Shape 18"/>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23" name="Text 19"/>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Disclosed and agreed?  </a:t>
            </a:r>
            <a:pPr indent="0" marL="0">
              <a:buNone/>
            </a:pPr>
            <a:r>
              <a:rPr lang="en-US" sz="1000" dirty="0">
                <a:solidFill>
                  <a:srgbClr val="1D1D1F"/>
                </a:solidFill>
                <a:latin typeface="SF Pro Text" pitchFamily="34" charset="0"/>
                <a:ea typeface="SF Pro Text" pitchFamily="34" charset="-122"/>
                <a:cs typeface="SF Pro Text" pitchFamily="34" charset="-120"/>
              </a:rPr>
              <a:t>refund only the part that was never disclosed.</a:t>
            </a:r>
            <a:endParaRPr lang="en-US" sz="1000" dirty="0"/>
          </a:p>
        </p:txBody>
      </p:sp>
      <p:sp>
        <p:nvSpPr>
          <p:cNvPr id="24" name="Shape 20"/>
          <p:cNvSpPr/>
          <p:nvPr/>
        </p:nvSpPr>
        <p:spPr>
          <a:xfrm>
            <a:off x="411480" y="3611880"/>
            <a:ext cx="5669280" cy="292608"/>
          </a:xfrm>
          <a:prstGeom prst="roundRect">
            <a:avLst>
              <a:gd name="adj" fmla="val 25000"/>
            </a:avLst>
          </a:prstGeom>
          <a:solidFill>
            <a:srgbClr val="FFF3D6"/>
          </a:solidFill>
          <a:ln w="9525">
            <a:solidFill>
              <a:srgbClr val="9A6410"/>
            </a:solidFill>
            <a:prstDash val="solid"/>
          </a:ln>
        </p:spPr>
      </p:sp>
      <p:pic>
        <p:nvPicPr>
          <p:cNvPr id="25" name="Image 1" descr="preencoded.png">    </p:cNvPr>
          <p:cNvPicPr>
            <a:picLocks noChangeAspect="1"/>
          </p:cNvPicPr>
          <p:nvPr/>
        </p:nvPicPr>
        <p:blipFill>
          <a:blip r:embed="rId2"/>
          <a:stretch>
            <a:fillRect/>
          </a:stretch>
        </p:blipFill>
        <p:spPr>
          <a:xfrm>
            <a:off x="521208" y="3685032"/>
            <a:ext cx="146304" cy="146304"/>
          </a:xfrm>
          <a:prstGeom prst="rect">
            <a:avLst/>
          </a:prstGeom>
        </p:spPr>
      </p:pic>
      <p:sp>
        <p:nvSpPr>
          <p:cNvPr id="26" name="Text 21"/>
          <p:cNvSpPr txBox="1"/>
          <p:nvPr/>
        </p:nvSpPr>
        <p:spPr>
          <a:xfrm>
            <a:off x="731520" y="3611880"/>
            <a:ext cx="53035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Misinformation: address incorrect claims about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Worked examples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shape of problem, three ways. Plus what doesn't count.</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3108960"/>
                <a:gridCol w="3291840"/>
              </a:tblGrid>
              <a:tr h="548640">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Scenario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was said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Rate guarantee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$23/hour", not "around"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difference. Cancelling over it? Waive ETF.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Service capability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Agent confirmed a rotary floor buffer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Platform doesn't offer it. Cancelling?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Guarantee-pairing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Happiness Guarantee right after ETF terms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Reads as "cancel free". ETF waiver.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Not misrepresentation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"Starting around $20" · HG for a quality issue only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Estimate or intended use. Standard handling.</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Quick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Sales told the customer "around $20/hour". They're charged $24. Misrepresentation?</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"Around" is an estimate. Handle as a normal expectation gap.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FCR quoted "$20/hr" and never mentioned processing fee, tax or Premium.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Admin refund to $20/hr × hours. Max CP rate $20, Experience Level Standard, explain fees.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is retainable. What can you offer, and how many times?</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One light offer: up to $20 credit or a 1-hr voucher. Declined? Waive ETF and cancel.</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rep said the Happiness Guarantee right after explaining the ETF. Customer wants to cancel. ETF?</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Waive it. Pairing the guarantee with cancellation terms is misrepresentation.</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INCORRECT INFORMATION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investigate together!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298448"/>
            <a:ext cx="3383280" cy="2633472"/>
          </a:xfrm>
          <a:prstGeom prst="roundRect">
            <a:avLst>
              <a:gd name="adj" fmla="val 2778"/>
            </a:avLst>
          </a:prstGeom>
          <a:solidFill>
            <a:srgbClr val="FFFFFF"/>
          </a:solidFill>
          <a:ln w="9525">
            <a:solidFill>
              <a:srgbClr val="DCE1E7"/>
            </a:solidFill>
            <a:prstDash val="solid"/>
          </a:ln>
        </p:spPr>
      </p:sp>
      <p:sp>
        <p:nvSpPr>
          <p:cNvPr id="7" name="Shape 4"/>
          <p:cNvSpPr/>
          <p:nvPr/>
        </p:nvSpPr>
        <p:spPr>
          <a:xfrm>
            <a:off x="594360" y="1481328"/>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73500"/>
            <a:ext cx="199705" cy="199705"/>
          </a:xfrm>
          <a:prstGeom prst="rect">
            <a:avLst/>
          </a:prstGeom>
        </p:spPr>
      </p:pic>
      <p:sp>
        <p:nvSpPr>
          <p:cNvPr id="9" name="Text 5"/>
          <p:cNvSpPr txBox="1"/>
          <p:nvPr/>
        </p:nvSpPr>
        <p:spPr>
          <a:xfrm>
            <a:off x="594360" y="2011680"/>
            <a:ext cx="3017520" cy="292608"/>
          </a:xfrm>
          <a:prstGeom prst="rect">
            <a:avLst/>
          </a:prstGeom>
          <a:noFill/>
          <a:ln/>
        </p:spPr>
        <p:txBody>
          <a:bodyPr wrap="square" lIns="0" tIns="0" rIns="0" bIns="0" rtlCol="0" anchor="t"/>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Live ticket</a:t>
            </a:r>
            <a:endParaRPr lang="en-US" sz="1300" dirty="0"/>
          </a:p>
        </p:txBody>
      </p:sp>
      <p:sp>
        <p:nvSpPr>
          <p:cNvPr id="10" name="Text 6"/>
          <p:cNvSpPr txBox="1"/>
          <p:nvPr/>
        </p:nvSpPr>
        <p:spPr>
          <a:xfrm>
            <a:off x="594360" y="2350008"/>
            <a:ext cx="3017520" cy="731520"/>
          </a:xfrm>
          <a:prstGeom prst="rect">
            <a:avLst/>
          </a:prstGeom>
          <a:noFill/>
          <a:ln/>
        </p:spPr>
        <p:txBody>
          <a:bodyPr wrap="square" lIns="0" tIns="0" rIns="0" bIns="0" rtlCol="0" anchor="t"/>
          <a:lstStyle/>
          <a:p>
            <a:pPr indent="0" marL="0">
              <a:buNone/>
            </a:pPr>
            <a:r>
              <a:rPr lang="en-US" sz="10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1050" dirty="0"/>
          </a:p>
        </p:txBody>
      </p:sp>
      <p:sp>
        <p:nvSpPr>
          <p:cNvPr id="11" name="Text 7"/>
          <p:cNvSpPr/>
          <p:nvPr/>
        </p:nvSpPr>
        <p:spPr>
          <a:xfrm>
            <a:off x="594360" y="3401568"/>
            <a:ext cx="1371600" cy="329184"/>
          </a:xfrm>
          <a:prstGeom prst="roundRect">
            <a:avLst>
              <a:gd name="adj" fmla="val 22222"/>
            </a:avLst>
          </a:prstGeom>
          <a:solidFill>
            <a:srgbClr val="FFF3D6"/>
          </a:solidFill>
          <a:ln>
            <a:solidFill>
              <a:srgbClr val="FFF3D6"/>
            </a:solidFill>
          </a:ln>
        </p:spPr>
        <p:txBody>
          <a:bodyPr wrap="square" lIns="0" tIns="0" rIns="0" bIns="0" rtlCol="0" anchor="ctr"/>
          <a:lstStyle/>
          <a:p>
            <a:pPr algn="ctr" indent="0" marL="0">
              <a:buNone/>
            </a:pPr>
            <a:r>
              <a:rPr lang="en-US" sz="950" b="1" dirty="0">
                <a:solidFill>
                  <a:srgbClr val="9A6410"/>
                </a:solidFill>
                <a:latin typeface="SF Pro Text" pitchFamily="34" charset="0"/>
                <a:ea typeface="SF Pro Text" pitchFamily="34" charset="-122"/>
                <a:cs typeface="SF Pro Text" pitchFamily="34" charset="-120"/>
              </a:rPr>
              <a:t>Trainer provides</a:t>
            </a:r>
            <a:endParaRPr lang="en-US" sz="950" dirty="0"/>
          </a:p>
        </p:txBody>
      </p:sp>
      <p:sp>
        <p:nvSpPr>
          <p:cNvPr id="12" name="Shape 8"/>
          <p:cNvSpPr/>
          <p:nvPr/>
        </p:nvSpPr>
        <p:spPr>
          <a:xfrm>
            <a:off x="3931920" y="1298448"/>
            <a:ext cx="4800600" cy="786384"/>
          </a:xfrm>
          <a:prstGeom prst="roundRect">
            <a:avLst>
              <a:gd name="adj" fmla="val 9302"/>
            </a:avLst>
          </a:prstGeom>
          <a:solidFill>
            <a:srgbClr val="FFFFFF"/>
          </a:solidFill>
          <a:ln w="9525">
            <a:solidFill>
              <a:srgbClr val="DCE1E7"/>
            </a:solidFill>
            <a:prstDash val="solid"/>
          </a:ln>
        </p:spPr>
      </p:sp>
      <p:sp>
        <p:nvSpPr>
          <p:cNvPr id="13" name="Shape 9"/>
          <p:cNvSpPr/>
          <p:nvPr/>
        </p:nvSpPr>
        <p:spPr>
          <a:xfrm>
            <a:off x="4114800" y="1554480"/>
            <a:ext cx="274320" cy="274320"/>
          </a:xfrm>
          <a:prstGeom prst="ellipse">
            <a:avLst/>
          </a:prstGeom>
          <a:solidFill>
            <a:srgbClr val="E3F4F1"/>
          </a:solidFill>
          <a:ln w="12700">
            <a:solidFill>
              <a:srgbClr val="E3F4F1"/>
            </a:solidFill>
            <a:prstDash val="solid"/>
          </a:ln>
        </p:spPr>
      </p:sp>
      <p:sp>
        <p:nvSpPr>
          <p:cNvPr id="14" name="Text 10"/>
          <p:cNvSpPr txBox="1"/>
          <p:nvPr/>
        </p:nvSpPr>
        <p:spPr>
          <a:xfrm>
            <a:off x="4114800"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5" name="Text 11"/>
          <p:cNvSpPr txBox="1"/>
          <p:nvPr/>
        </p:nvSpPr>
        <p:spPr>
          <a:xfrm>
            <a:off x="4572000" y="1426464"/>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Is there verified misinformation?</a:t>
            </a:r>
            <a:endParaRPr lang="en-US" sz="1250" dirty="0"/>
          </a:p>
        </p:txBody>
      </p:sp>
      <p:sp>
        <p:nvSpPr>
          <p:cNvPr id="16" name="Text 12"/>
          <p:cNvSpPr txBox="1"/>
          <p:nvPr/>
        </p:nvSpPr>
        <p:spPr>
          <a:xfrm>
            <a:off x="4572000" y="1737360"/>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What exactly was said: a promise or an estimate?</a:t>
            </a:r>
            <a:endParaRPr lang="en-US" sz="1000" dirty="0"/>
          </a:p>
        </p:txBody>
      </p:sp>
      <p:sp>
        <p:nvSpPr>
          <p:cNvPr id="17" name="Shape 13"/>
          <p:cNvSpPr/>
          <p:nvPr/>
        </p:nvSpPr>
        <p:spPr>
          <a:xfrm>
            <a:off x="3931920" y="2221992"/>
            <a:ext cx="4800600" cy="786384"/>
          </a:xfrm>
          <a:prstGeom prst="roundRect">
            <a:avLst>
              <a:gd name="adj" fmla="val 9302"/>
            </a:avLst>
          </a:prstGeom>
          <a:solidFill>
            <a:srgbClr val="FFFFFF"/>
          </a:solidFill>
          <a:ln w="9525">
            <a:solidFill>
              <a:srgbClr val="DCE1E7"/>
            </a:solidFill>
            <a:prstDash val="solid"/>
          </a:ln>
        </p:spPr>
      </p:sp>
      <p:sp>
        <p:nvSpPr>
          <p:cNvPr id="18" name="Shape 14"/>
          <p:cNvSpPr/>
          <p:nvPr/>
        </p:nvSpPr>
        <p:spPr>
          <a:xfrm>
            <a:off x="4114800" y="2478024"/>
            <a:ext cx="274320" cy="274320"/>
          </a:xfrm>
          <a:prstGeom prst="ellipse">
            <a:avLst/>
          </a:prstGeom>
          <a:solidFill>
            <a:srgbClr val="E3F4F1"/>
          </a:solidFill>
          <a:ln w="12700">
            <a:solidFill>
              <a:srgbClr val="E3F4F1"/>
            </a:solidFill>
            <a:prstDash val="solid"/>
          </a:ln>
        </p:spPr>
      </p:sp>
      <p:sp>
        <p:nvSpPr>
          <p:cNvPr id="19" name="Text 15"/>
          <p:cNvSpPr txBox="1"/>
          <p:nvPr/>
        </p:nvSpPr>
        <p:spPr>
          <a:xfrm>
            <a:off x="4114800" y="247802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0" name="Text 16"/>
          <p:cNvSpPr txBox="1"/>
          <p:nvPr/>
        </p:nvSpPr>
        <p:spPr>
          <a:xfrm>
            <a:off x="4572000" y="2350008"/>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What are those, and how do we correct them?</a:t>
            </a:r>
            <a:endParaRPr lang="en-US" sz="1250" dirty="0"/>
          </a:p>
        </p:txBody>
      </p:sp>
      <p:sp>
        <p:nvSpPr>
          <p:cNvPr id="21" name="Text 17"/>
          <p:cNvSpPr txBox="1"/>
          <p:nvPr/>
        </p:nvSpPr>
        <p:spPr>
          <a:xfrm>
            <a:off x="4572000" y="2660904"/>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gap, own it, correct it, one light offer.</a:t>
            </a:r>
            <a:endParaRPr lang="en-US" sz="1000" dirty="0"/>
          </a:p>
        </p:txBody>
      </p:sp>
      <p:sp>
        <p:nvSpPr>
          <p:cNvPr id="22" name="Shape 18"/>
          <p:cNvSpPr/>
          <p:nvPr/>
        </p:nvSpPr>
        <p:spPr>
          <a:xfrm>
            <a:off x="3931920" y="3145536"/>
            <a:ext cx="4800600" cy="786384"/>
          </a:xfrm>
          <a:prstGeom prst="roundRect">
            <a:avLst>
              <a:gd name="adj" fmla="val 9302"/>
            </a:avLst>
          </a:prstGeom>
          <a:solidFill>
            <a:srgbClr val="FFFFFF"/>
          </a:solidFill>
          <a:ln w="9525">
            <a:solidFill>
              <a:srgbClr val="DCE1E7"/>
            </a:solidFill>
            <a:prstDash val="solid"/>
          </a:ln>
        </p:spPr>
      </p:sp>
      <p:sp>
        <p:nvSpPr>
          <p:cNvPr id="23" name="Shape 19"/>
          <p:cNvSpPr/>
          <p:nvPr/>
        </p:nvSpPr>
        <p:spPr>
          <a:xfrm>
            <a:off x="4114800" y="3401568"/>
            <a:ext cx="274320" cy="274320"/>
          </a:xfrm>
          <a:prstGeom prst="ellipse">
            <a:avLst/>
          </a:prstGeom>
          <a:solidFill>
            <a:srgbClr val="E3F4F1"/>
          </a:solidFill>
          <a:ln w="12700">
            <a:solidFill>
              <a:srgbClr val="E3F4F1"/>
            </a:solidFill>
            <a:prstDash val="solid"/>
          </a:ln>
        </p:spPr>
      </p:sp>
      <p:sp>
        <p:nvSpPr>
          <p:cNvPr id="24" name="Text 20"/>
          <p:cNvSpPr txBox="1"/>
          <p:nvPr/>
        </p:nvSpPr>
        <p:spPr>
          <a:xfrm>
            <a:off x="4114800" y="340156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5" name="Text 21"/>
          <p:cNvSpPr txBox="1"/>
          <p:nvPr/>
        </p:nvSpPr>
        <p:spPr>
          <a:xfrm>
            <a:off x="4572000" y="3273552"/>
            <a:ext cx="3977640" cy="292608"/>
          </a:xfrm>
          <a:prstGeom prst="rect">
            <a:avLst/>
          </a:prstGeom>
          <a:noFill/>
          <a:ln/>
        </p:spPr>
        <p:txBody>
          <a:bodyPr wrap="square" lIns="0" tIns="0" rIns="0" bIns="0" rtlCol="0" anchor="ctr"/>
          <a:lstStyle/>
          <a:p>
            <a:pPr indent="0" marL="0">
              <a:buNone/>
            </a:pPr>
            <a:r>
              <a:rPr lang="en-US" sz="1250" b="1" dirty="0">
                <a:solidFill>
                  <a:srgbClr val="1D1D1F"/>
                </a:solidFill>
                <a:latin typeface="SF Pro Display" pitchFamily="34" charset="0"/>
                <a:ea typeface="SF Pro Display" pitchFamily="34" charset="-122"/>
                <a:cs typeface="SF Pro Display" pitchFamily="34" charset="-120"/>
              </a:rPr>
              <a:t>5-min writing challenge</a:t>
            </a:r>
            <a:endParaRPr lang="en-US" sz="1250" dirty="0"/>
          </a:p>
        </p:txBody>
      </p:sp>
      <p:sp>
        <p:nvSpPr>
          <p:cNvPr id="26" name="Text 22"/>
          <p:cNvSpPr txBox="1"/>
          <p:nvPr/>
        </p:nvSpPr>
        <p:spPr>
          <a:xfrm>
            <a:off x="4572000" y="3584448"/>
            <a:ext cx="3977640" cy="256032"/>
          </a:xfrm>
          <a:prstGeom prst="rect">
            <a:avLst/>
          </a:prstGeom>
          <a:noFill/>
          <a:ln/>
        </p:spPr>
        <p:txBody>
          <a:bodyPr wrap="square" lIns="0" tIns="0" rIns="0" bIns="0" rtlCol="0" anchor="ctr"/>
          <a:lstStyle/>
          <a:p>
            <a:pPr indent="0" marL="0">
              <a:buNone/>
            </a:pPr>
            <a:r>
              <a:rPr lang="en-US" sz="1000" dirty="0">
                <a:solidFill>
                  <a:srgbClr val="6E6E73"/>
                </a:solidFill>
                <a:latin typeface="SF Pro Text" pitchFamily="34" charset="0"/>
                <a:ea typeface="SF Pro Text" pitchFamily="34" charset="-122"/>
                <a:cs typeface="SF Pro Text" pitchFamily="34" charset="-120"/>
              </a:rPr>
              <a:t>Create your comms for the customer.</a:t>
            </a:r>
            <a:endParaRPr lang="en-US" sz="1000" dirty="0"/>
          </a:p>
        </p:txBody>
      </p:sp>
      <p:sp>
        <p:nvSpPr>
          <p:cNvPr id="27" name="Shape 23"/>
          <p:cNvSpPr/>
          <p:nvPr/>
        </p:nvSpPr>
        <p:spPr>
          <a:xfrm>
            <a:off x="411480" y="4069080"/>
            <a:ext cx="8321040" cy="502920"/>
          </a:xfrm>
          <a:prstGeom prst="roundRect">
            <a:avLst>
              <a:gd name="adj" fmla="val 14545"/>
            </a:avLst>
          </a:prstGeom>
          <a:solidFill>
            <a:srgbClr val="0B7A6F"/>
          </a:solidFill>
          <a:ln w="9525">
            <a:solidFill>
              <a:srgbClr val="0B7A6F"/>
            </a:solidFill>
            <a:prstDash val="solid"/>
          </a:ln>
        </p:spPr>
      </p:sp>
      <p:pic>
        <p:nvPicPr>
          <p:cNvPr id="28" name="Image 1" descr="preencoded.png">    </p:cNvPr>
          <p:cNvPicPr>
            <a:picLocks noChangeAspect="1"/>
          </p:cNvPicPr>
          <p:nvPr/>
        </p:nvPicPr>
        <p:blipFill>
          <a:blip r:embed="rId2"/>
          <a:stretch>
            <a:fillRect/>
          </a:stretch>
        </p:blipFill>
        <p:spPr>
          <a:xfrm>
            <a:off x="640080" y="4192524"/>
            <a:ext cx="256032" cy="256032"/>
          </a:xfrm>
          <a:prstGeom prst="rect">
            <a:avLst/>
          </a:prstGeom>
        </p:spPr>
      </p:pic>
      <p:sp>
        <p:nvSpPr>
          <p:cNvPr id="29" name="Text 24"/>
          <p:cNvSpPr txBox="1"/>
          <p:nvPr/>
        </p:nvSpPr>
        <p:spPr>
          <a:xfrm>
            <a:off x="1051560" y="4069080"/>
            <a:ext cx="7498080" cy="502920"/>
          </a:xfrm>
          <a:prstGeom prst="rect">
            <a:avLst/>
          </a:prstGeom>
          <a:noFill/>
          <a:ln/>
        </p:spPr>
        <p:txBody>
          <a:bodyPr wrap="square" lIns="0" tIns="0" rIns="0" bIns="0" rtlCol="0" anchor="ctr"/>
          <a:lstStyle/>
          <a:p>
            <a:pPr indent="0" marL="0">
              <a:buNone/>
            </a:pPr>
            <a:r>
              <a:rPr lang="en-US" sz="1400" b="1" dirty="0">
                <a:solidFill>
                  <a:srgbClr val="FFFFFF"/>
                </a:solidFill>
                <a:latin typeface="SF Pro Display" pitchFamily="34" charset="0"/>
                <a:ea typeface="SF Pro Display" pitchFamily="34" charset="-122"/>
                <a:cs typeface="SF Pro Display" pitchFamily="34" charset="-120"/>
              </a:rPr>
              <a:t>Questions?  </a:t>
            </a:r>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14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Last-Minute Cancellation (LMC)</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fee for cancelling within 6 hours of the start time.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LMC fee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automatically waived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Failed charges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the LMC fee?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Charged automatically. You check it, you don't apply it.</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Text 4"/>
          <p:cNvSpPr txBox="1"/>
          <p:nvPr/>
        </p:nvSpPr>
        <p:spPr>
          <a:xfrm>
            <a:off x="4114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$40</a:t>
            </a:r>
            <a:endParaRPr lang="en-US" sz="3000" dirty="0"/>
          </a:p>
        </p:txBody>
      </p:sp>
      <p:sp>
        <p:nvSpPr>
          <p:cNvPr id="8" name="Text 5"/>
          <p:cNvSpPr txBox="1"/>
          <p:nvPr/>
        </p:nvSpPr>
        <p:spPr>
          <a:xfrm>
            <a:off x="5943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Charged to the customer</a:t>
            </a:r>
            <a:endParaRPr lang="en-US" sz="1000" dirty="0"/>
          </a:p>
        </p:txBody>
      </p:sp>
      <p:sp>
        <p:nvSpPr>
          <p:cNvPr id="9" name="Shape 6"/>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0" name="Text 7"/>
          <p:cNvSpPr txBox="1"/>
          <p:nvPr/>
        </p:nvSpPr>
        <p:spPr>
          <a:xfrm>
            <a:off x="3230880" y="1490472"/>
            <a:ext cx="2682240" cy="640080"/>
          </a:xfrm>
          <a:prstGeom prst="rect">
            <a:avLst/>
          </a:prstGeom>
          <a:noFill/>
          <a:ln/>
        </p:spPr>
        <p:txBody>
          <a:bodyPr wrap="square" lIns="0" tIns="0" rIns="0" bIns="0" rtlCol="0" anchor="ctr"/>
          <a:lstStyle/>
          <a:p>
            <a:pPr algn="ctr" indent="0" marL="0">
              <a:buNone/>
            </a:pPr>
            <a:r>
              <a:rPr lang="en-US" sz="3000" b="1" dirty="0">
                <a:solidFill>
                  <a:srgbClr val="0B7A6F"/>
                </a:solidFill>
                <a:latin typeface="SF Pro Display" pitchFamily="34" charset="0"/>
                <a:ea typeface="SF Pro Display" pitchFamily="34" charset="-122"/>
                <a:cs typeface="SF Pro Display" pitchFamily="34" charset="-120"/>
              </a:rPr>
              <a:t>&lt; 6 hrs</a:t>
            </a:r>
            <a:endParaRPr lang="en-US" sz="3000" dirty="0"/>
          </a:p>
        </p:txBody>
      </p:sp>
      <p:sp>
        <p:nvSpPr>
          <p:cNvPr id="11" name="Text 8"/>
          <p:cNvSpPr txBox="1"/>
          <p:nvPr/>
        </p:nvSpPr>
        <p:spPr>
          <a:xfrm>
            <a:off x="34137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Cancelled this close to the start time</a:t>
            </a:r>
            <a:endParaRPr lang="en-US" sz="1000" dirty="0"/>
          </a:p>
        </p:txBody>
      </p:sp>
      <p:sp>
        <p:nvSpPr>
          <p:cNvPr id="12" name="Shape 9"/>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3" name="Text 10"/>
          <p:cNvSpPr txBox="1"/>
          <p:nvPr/>
        </p:nvSpPr>
        <p:spPr>
          <a:xfrm>
            <a:off x="6050280" y="1490472"/>
            <a:ext cx="2682240" cy="640080"/>
          </a:xfrm>
          <a:prstGeom prst="rect">
            <a:avLst/>
          </a:prstGeom>
          <a:noFill/>
          <a:ln/>
        </p:spPr>
        <p:txBody>
          <a:bodyPr wrap="square" lIns="0" tIns="0" rIns="0" bIns="0" rtlCol="0" anchor="ctr"/>
          <a:lstStyle/>
          <a:p>
            <a:pPr algn="ctr" indent="0" marL="0">
              <a:buNone/>
            </a:pPr>
            <a:r>
              <a:rPr lang="en-US" sz="3000" b="1" dirty="0">
                <a:solidFill>
                  <a:srgbClr val="9A6410"/>
                </a:solidFill>
                <a:latin typeface="SF Pro Display" pitchFamily="34" charset="0"/>
                <a:ea typeface="SF Pro Display" pitchFamily="34" charset="-122"/>
                <a:cs typeface="SF Pro Display" pitchFamily="34" charset="-120"/>
              </a:rPr>
              <a:t>$20</a:t>
            </a:r>
            <a:endParaRPr lang="en-US" sz="3000" dirty="0"/>
          </a:p>
        </p:txBody>
      </p:sp>
      <p:sp>
        <p:nvSpPr>
          <p:cNvPr id="14" name="Text 11"/>
          <p:cNvSpPr txBox="1"/>
          <p:nvPr/>
        </p:nvSpPr>
        <p:spPr>
          <a:xfrm>
            <a:off x="6233160" y="2148840"/>
            <a:ext cx="2316480" cy="640080"/>
          </a:xfrm>
          <a:prstGeom prst="rect">
            <a:avLst/>
          </a:prstGeom>
          <a:noFill/>
          <a:ln/>
        </p:spPr>
        <p:txBody>
          <a:bodyPr wrap="square" lIns="0" tIns="0" rIns="0" bIns="0" rtlCol="0" anchor="t"/>
          <a:lstStyle/>
          <a:p>
            <a:pPr algn="ctr" indent="0" marL="0">
              <a:buNone/>
            </a:pPr>
            <a:r>
              <a:rPr lang="en-US" sz="1000" dirty="0">
                <a:solidFill>
                  <a:srgbClr val="6E6E73"/>
                </a:solidFill>
                <a:latin typeface="SF Pro Text" pitchFamily="34" charset="0"/>
                <a:ea typeface="SF Pro Text" pitchFamily="34" charset="-122"/>
                <a:cs typeface="SF Pro Text" pitchFamily="34" charset="-120"/>
              </a:rPr>
              <a:t>Paid to the matched CP</a:t>
            </a:r>
            <a:endParaRPr lang="en-US" sz="1000" dirty="0"/>
          </a:p>
        </p:txBody>
      </p:sp>
      <p:sp>
        <p:nvSpPr>
          <p:cNvPr id="15" name="Shape 12"/>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218688"/>
            <a:ext cx="164592" cy="164592"/>
          </a:xfrm>
          <a:prstGeom prst="rect">
            <a:avLst/>
          </a:prstGeom>
        </p:spPr>
      </p:pic>
      <p:sp>
        <p:nvSpPr>
          <p:cNvPr id="17" name="Text 13"/>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Two questions:  </a:t>
            </a:r>
            <a:pPr indent="0" marL="0">
              <a:buNone/>
            </a:pPr>
            <a:r>
              <a:rPr lang="en-US" sz="1000" dirty="0">
                <a:solidFill>
                  <a:srgbClr val="1D1D1F"/>
                </a:solidFill>
                <a:latin typeface="SF Pro Text" pitchFamily="34" charset="0"/>
                <a:ea typeface="SF Pro Text" pitchFamily="34" charset="-122"/>
                <a:cs typeface="SF Pro Text" pitchFamily="34" charset="-120"/>
              </a:rPr>
              <a:t>is the charge valid? Only then: how generous should you be?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is the charge valid?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LMC is automatically waived in any of these cases.</a:t>
            </a:r>
            <a:endParaRPr lang="en-US" sz="1200" dirty="0"/>
          </a:p>
        </p:txBody>
      </p:sp>
      <p:sp>
        <p:nvSpPr>
          <p:cNvPr id="6" name="Shape 3"/>
          <p:cNvSpPr/>
          <p:nvPr/>
        </p:nvSpPr>
        <p:spPr>
          <a:xfrm>
            <a:off x="411480" y="1298448"/>
            <a:ext cx="4091940" cy="896112"/>
          </a:xfrm>
          <a:prstGeom prst="roundRect">
            <a:avLst>
              <a:gd name="adj" fmla="val 8163"/>
            </a:avLst>
          </a:prstGeom>
          <a:solidFill>
            <a:srgbClr val="FFFFFF"/>
          </a:solidFill>
          <a:ln w="9525">
            <a:solidFill>
              <a:srgbClr val="DCE1E7"/>
            </a:solidFill>
            <a:prstDash val="solid"/>
          </a:ln>
        </p:spPr>
      </p:sp>
      <p:sp>
        <p:nvSpPr>
          <p:cNvPr id="7" name="Shape 4"/>
          <p:cNvSpPr/>
          <p:nvPr/>
        </p:nvSpPr>
        <p:spPr>
          <a:xfrm>
            <a:off x="548640" y="1435608"/>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27644" y="1514612"/>
            <a:ext cx="171176" cy="171176"/>
          </a:xfrm>
          <a:prstGeom prst="rect">
            <a:avLst/>
          </a:prstGeom>
        </p:spPr>
      </p:pic>
      <p:sp>
        <p:nvSpPr>
          <p:cNvPr id="9" name="Text 5"/>
          <p:cNvSpPr txBox="1"/>
          <p:nvPr/>
        </p:nvSpPr>
        <p:spPr>
          <a:xfrm>
            <a:off x="9784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Job still Submitted</a:t>
            </a:r>
            <a:endParaRPr lang="en-US" sz="1100" dirty="0"/>
          </a:p>
        </p:txBody>
      </p:sp>
      <p:sp>
        <p:nvSpPr>
          <p:cNvPr id="10" name="Text 6"/>
          <p:cNvSpPr txBox="1"/>
          <p:nvPr/>
        </p:nvSpPr>
        <p:spPr>
          <a:xfrm>
            <a:off x="9784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CP matched: no one to compensate.</a:t>
            </a:r>
            <a:endParaRPr lang="en-US" sz="900" dirty="0"/>
          </a:p>
        </p:txBody>
      </p:sp>
      <p:sp>
        <p:nvSpPr>
          <p:cNvPr id="11" name="Shape 7"/>
          <p:cNvSpPr/>
          <p:nvPr/>
        </p:nvSpPr>
        <p:spPr>
          <a:xfrm>
            <a:off x="4640580" y="1298448"/>
            <a:ext cx="4091940" cy="896112"/>
          </a:xfrm>
          <a:prstGeom prst="roundRect">
            <a:avLst>
              <a:gd name="adj" fmla="val 8163"/>
            </a:avLst>
          </a:prstGeom>
          <a:solidFill>
            <a:srgbClr val="FFFFFF"/>
          </a:solidFill>
          <a:ln w="9525">
            <a:solidFill>
              <a:srgbClr val="DCE1E7"/>
            </a:solidFill>
            <a:prstDash val="solid"/>
          </a:ln>
        </p:spPr>
      </p:sp>
      <p:sp>
        <p:nvSpPr>
          <p:cNvPr id="12" name="Shape 8"/>
          <p:cNvSpPr/>
          <p:nvPr/>
        </p:nvSpPr>
        <p:spPr>
          <a:xfrm>
            <a:off x="4777740" y="1435608"/>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56744" y="1514612"/>
            <a:ext cx="171176" cy="171176"/>
          </a:xfrm>
          <a:prstGeom prst="rect">
            <a:avLst/>
          </a:prstGeom>
        </p:spPr>
      </p:pic>
      <p:sp>
        <p:nvSpPr>
          <p:cNvPr id="14" name="Text 9"/>
          <p:cNvSpPr txBox="1"/>
          <p:nvPr/>
        </p:nvSpPr>
        <p:spPr>
          <a:xfrm>
            <a:off x="5207508" y="1408176"/>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Severe weather</a:t>
            </a:r>
            <a:endParaRPr lang="en-US" sz="1100" dirty="0"/>
          </a:p>
        </p:txBody>
      </p:sp>
      <p:sp>
        <p:nvSpPr>
          <p:cNvPr id="15" name="Text 10"/>
          <p:cNvSpPr txBox="1"/>
          <p:nvPr/>
        </p:nvSpPr>
        <p:spPr>
          <a:xfrm>
            <a:off x="5207508" y="1700784"/>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In the customer's area.</a:t>
            </a:r>
            <a:endParaRPr lang="en-US" sz="900" dirty="0"/>
          </a:p>
        </p:txBody>
      </p:sp>
      <p:sp>
        <p:nvSpPr>
          <p:cNvPr id="16" name="Shape 11"/>
          <p:cNvSpPr/>
          <p:nvPr/>
        </p:nvSpPr>
        <p:spPr>
          <a:xfrm>
            <a:off x="411480" y="2286000"/>
            <a:ext cx="4091940" cy="896112"/>
          </a:xfrm>
          <a:prstGeom prst="roundRect">
            <a:avLst>
              <a:gd name="adj" fmla="val 8163"/>
            </a:avLst>
          </a:prstGeom>
          <a:solidFill>
            <a:srgbClr val="FFFFFF"/>
          </a:solidFill>
          <a:ln w="9525">
            <a:solidFill>
              <a:srgbClr val="DCE1E7"/>
            </a:solidFill>
            <a:prstDash val="solid"/>
          </a:ln>
        </p:spPr>
      </p:sp>
      <p:sp>
        <p:nvSpPr>
          <p:cNvPr id="17" name="Shape 12"/>
          <p:cNvSpPr/>
          <p:nvPr/>
        </p:nvSpPr>
        <p:spPr>
          <a:xfrm>
            <a:off x="548640" y="2423160"/>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7644" y="2502164"/>
            <a:ext cx="171176" cy="171176"/>
          </a:xfrm>
          <a:prstGeom prst="rect">
            <a:avLst/>
          </a:prstGeom>
        </p:spPr>
      </p:pic>
      <p:sp>
        <p:nvSpPr>
          <p:cNvPr id="19" name="Text 13"/>
          <p:cNvSpPr txBox="1"/>
          <p:nvPr/>
        </p:nvSpPr>
        <p:spPr>
          <a:xfrm>
            <a:off x="9784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CP rescheduled &lt; 24 hrs before</a:t>
            </a:r>
            <a:endParaRPr lang="en-US" sz="1100" dirty="0"/>
          </a:p>
        </p:txBody>
      </p:sp>
      <p:sp>
        <p:nvSpPr>
          <p:cNvPr id="20" name="Text 14"/>
          <p:cNvSpPr txBox="1"/>
          <p:nvPr/>
        </p:nvSpPr>
        <p:spPr>
          <a:xfrm>
            <a:off x="9784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And the customer didn't ask for the new time.</a:t>
            </a:r>
            <a:endParaRPr lang="en-US" sz="900" dirty="0"/>
          </a:p>
        </p:txBody>
      </p:sp>
      <p:sp>
        <p:nvSpPr>
          <p:cNvPr id="21" name="Shape 15"/>
          <p:cNvSpPr/>
          <p:nvPr/>
        </p:nvSpPr>
        <p:spPr>
          <a:xfrm>
            <a:off x="4640580" y="2286000"/>
            <a:ext cx="4091940" cy="896112"/>
          </a:xfrm>
          <a:prstGeom prst="roundRect">
            <a:avLst>
              <a:gd name="adj" fmla="val 8163"/>
            </a:avLst>
          </a:prstGeom>
          <a:solidFill>
            <a:srgbClr val="FFFFFF"/>
          </a:solidFill>
          <a:ln w="9525">
            <a:solidFill>
              <a:srgbClr val="DCE1E7"/>
            </a:solidFill>
            <a:prstDash val="solid"/>
          </a:ln>
        </p:spPr>
      </p:sp>
      <p:sp>
        <p:nvSpPr>
          <p:cNvPr id="22" name="Shape 16"/>
          <p:cNvSpPr/>
          <p:nvPr/>
        </p:nvSpPr>
        <p:spPr>
          <a:xfrm>
            <a:off x="4777740" y="2423160"/>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4856744" y="2502164"/>
            <a:ext cx="171176" cy="171176"/>
          </a:xfrm>
          <a:prstGeom prst="rect">
            <a:avLst/>
          </a:prstGeom>
        </p:spPr>
      </p:pic>
      <p:sp>
        <p:nvSpPr>
          <p:cNvPr id="24" name="Text 17"/>
          <p:cNvSpPr txBox="1"/>
          <p:nvPr/>
        </p:nvSpPr>
        <p:spPr>
          <a:xfrm>
            <a:off x="5207508" y="2395728"/>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Alternate Start Time claimed</a:t>
            </a:r>
            <a:endParaRPr lang="en-US" sz="1100" dirty="0"/>
          </a:p>
        </p:txBody>
      </p:sp>
      <p:sp>
        <p:nvSpPr>
          <p:cNvPr id="25" name="Text 18"/>
          <p:cNvSpPr txBox="1"/>
          <p:nvPr/>
        </p:nvSpPr>
        <p:spPr>
          <a:xfrm>
            <a:off x="5207508" y="2688336"/>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Added &lt; 48 hrs before the cancellation.</a:t>
            </a:r>
            <a:endParaRPr lang="en-US" sz="900" dirty="0"/>
          </a:p>
        </p:txBody>
      </p:sp>
      <p:sp>
        <p:nvSpPr>
          <p:cNvPr id="26" name="Shape 19"/>
          <p:cNvSpPr/>
          <p:nvPr/>
        </p:nvSpPr>
        <p:spPr>
          <a:xfrm>
            <a:off x="411480" y="3273552"/>
            <a:ext cx="4091940" cy="896112"/>
          </a:xfrm>
          <a:prstGeom prst="roundRect">
            <a:avLst>
              <a:gd name="adj" fmla="val 8163"/>
            </a:avLst>
          </a:prstGeom>
          <a:solidFill>
            <a:srgbClr val="FFFFFF"/>
          </a:solidFill>
          <a:ln w="9525">
            <a:solidFill>
              <a:srgbClr val="DCE1E7"/>
            </a:solidFill>
            <a:prstDash val="solid"/>
          </a:ln>
        </p:spPr>
      </p:sp>
      <p:sp>
        <p:nvSpPr>
          <p:cNvPr id="27" name="Shape 20"/>
          <p:cNvSpPr/>
          <p:nvPr/>
        </p:nvSpPr>
        <p:spPr>
          <a:xfrm>
            <a:off x="548640" y="3410712"/>
            <a:ext cx="329184" cy="329184"/>
          </a:xfrm>
          <a:prstGeom prst="ellipse">
            <a:avLst/>
          </a:prstGeom>
          <a:solidFill>
            <a:srgbClr val="E3F4F1"/>
          </a:solidFill>
          <a:ln w="12700">
            <a:solidFill>
              <a:srgbClr val="E3F4F1"/>
            </a:solidFill>
            <a:prstDash val="solid"/>
          </a:ln>
        </p:spPr>
      </p:sp>
      <p:pic>
        <p:nvPicPr>
          <p:cNvPr id="28" name="Image 4" descr="preencoded.png">    </p:cNvPr>
          <p:cNvPicPr>
            <a:picLocks noChangeAspect="1"/>
          </p:cNvPicPr>
          <p:nvPr/>
        </p:nvPicPr>
        <p:blipFill>
          <a:blip r:embed="rId5"/>
          <a:stretch>
            <a:fillRect/>
          </a:stretch>
        </p:blipFill>
        <p:spPr>
          <a:xfrm>
            <a:off x="627644" y="3489716"/>
            <a:ext cx="171176" cy="171176"/>
          </a:xfrm>
          <a:prstGeom prst="rect">
            <a:avLst/>
          </a:prstGeom>
        </p:spPr>
      </p:pic>
      <p:sp>
        <p:nvSpPr>
          <p:cNvPr id="29" name="Text 21"/>
          <p:cNvSpPr txBox="1"/>
          <p:nvPr/>
        </p:nvSpPr>
        <p:spPr>
          <a:xfrm>
            <a:off x="9784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ETA asked, no check-in</a:t>
            </a:r>
            <a:endParaRPr lang="en-US" sz="1100" dirty="0"/>
          </a:p>
        </p:txBody>
      </p:sp>
      <p:sp>
        <p:nvSpPr>
          <p:cNvPr id="30" name="Text 22"/>
          <p:cNvSpPr txBox="1"/>
          <p:nvPr/>
        </p:nvSpPr>
        <p:spPr>
          <a:xfrm>
            <a:off x="9784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CP didn't check in within 30 min of start.</a:t>
            </a:r>
            <a:endParaRPr lang="en-US" sz="900" dirty="0"/>
          </a:p>
        </p:txBody>
      </p:sp>
      <p:sp>
        <p:nvSpPr>
          <p:cNvPr id="31" name="Shape 23"/>
          <p:cNvSpPr/>
          <p:nvPr/>
        </p:nvSpPr>
        <p:spPr>
          <a:xfrm>
            <a:off x="4640580" y="3273552"/>
            <a:ext cx="4091940" cy="896112"/>
          </a:xfrm>
          <a:prstGeom prst="roundRect">
            <a:avLst>
              <a:gd name="adj" fmla="val 8163"/>
            </a:avLst>
          </a:prstGeom>
          <a:solidFill>
            <a:srgbClr val="FFFFFF"/>
          </a:solidFill>
          <a:ln w="9525">
            <a:solidFill>
              <a:srgbClr val="DCE1E7"/>
            </a:solidFill>
            <a:prstDash val="solid"/>
          </a:ln>
        </p:spPr>
      </p:sp>
      <p:sp>
        <p:nvSpPr>
          <p:cNvPr id="32" name="Shape 24"/>
          <p:cNvSpPr/>
          <p:nvPr/>
        </p:nvSpPr>
        <p:spPr>
          <a:xfrm>
            <a:off x="4777740" y="3410712"/>
            <a:ext cx="329184" cy="329184"/>
          </a:xfrm>
          <a:prstGeom prst="ellipse">
            <a:avLst/>
          </a:prstGeom>
          <a:solidFill>
            <a:srgbClr val="E3F4F1"/>
          </a:solidFill>
          <a:ln w="12700">
            <a:solidFill>
              <a:srgbClr val="E3F4F1"/>
            </a:solidFill>
            <a:prstDash val="solid"/>
          </a:ln>
        </p:spPr>
      </p:sp>
      <p:pic>
        <p:nvPicPr>
          <p:cNvPr id="33" name="Image 5" descr="preencoded.png">    </p:cNvPr>
          <p:cNvPicPr>
            <a:picLocks noChangeAspect="1"/>
          </p:cNvPicPr>
          <p:nvPr/>
        </p:nvPicPr>
        <p:blipFill>
          <a:blip r:embed="rId6"/>
          <a:stretch>
            <a:fillRect/>
          </a:stretch>
        </p:blipFill>
        <p:spPr>
          <a:xfrm>
            <a:off x="4856744" y="3489716"/>
            <a:ext cx="171176" cy="171176"/>
          </a:xfrm>
          <a:prstGeom prst="rect">
            <a:avLst/>
          </a:prstGeom>
        </p:spPr>
      </p:pic>
      <p:sp>
        <p:nvSpPr>
          <p:cNvPr id="34" name="Text 25"/>
          <p:cNvSpPr txBox="1"/>
          <p:nvPr/>
        </p:nvSpPr>
        <p:spPr>
          <a:xfrm>
            <a:off x="5207508" y="3383280"/>
            <a:ext cx="3406140" cy="274320"/>
          </a:xfrm>
          <a:prstGeom prst="rect">
            <a:avLst/>
          </a:prstGeom>
          <a:noFill/>
          <a:ln/>
        </p:spPr>
        <p:txBody>
          <a:bodyPr wrap="square" lIns="0" tIns="0" rIns="0" bIns="0" rtlCol="0" anchor="ctr"/>
          <a:lstStyle/>
          <a:p>
            <a:pPr indent="0" marL="0">
              <a:buNone/>
            </a:pPr>
            <a:r>
              <a:rPr lang="en-US" sz="1100" b="1" dirty="0">
                <a:solidFill>
                  <a:srgbClr val="1D1D1F"/>
                </a:solidFill>
                <a:latin typeface="SF Pro Display" pitchFamily="34" charset="0"/>
                <a:ea typeface="SF Pro Display" pitchFamily="34" charset="-122"/>
                <a:cs typeface="SF Pro Display" pitchFamily="34" charset="-120"/>
              </a:rPr>
              <a:t>All of these together</a:t>
            </a:r>
            <a:endParaRPr lang="en-US" sz="1100" dirty="0"/>
          </a:p>
        </p:txBody>
      </p:sp>
      <p:sp>
        <p:nvSpPr>
          <p:cNvPr id="35" name="Text 26"/>
          <p:cNvSpPr txBox="1"/>
          <p:nvPr/>
        </p:nvSpPr>
        <p:spPr>
          <a:xfrm>
            <a:off x="5207508" y="3675888"/>
            <a:ext cx="3406140" cy="438912"/>
          </a:xfrm>
          <a:prstGeom prst="rect">
            <a:avLst/>
          </a:prstGeom>
          <a:noFill/>
          <a:ln/>
        </p:spPr>
        <p:txBody>
          <a:bodyPr wrap="square" lIns="0" tIns="0" rIns="0" bIns="0" rtlCol="0" anchor="t"/>
          <a:lstStyle/>
          <a:p>
            <a:pPr indent="0" marL="0">
              <a:buNone/>
            </a:pPr>
            <a:r>
              <a:rPr lang="en-US" sz="900" dirty="0">
                <a:solidFill>
                  <a:srgbClr val="6E6E73"/>
                </a:solidFill>
                <a:latin typeface="SF Pro Text" pitchFamily="34" charset="0"/>
                <a:ea typeface="SF Pro Text" pitchFamily="34" charset="-122"/>
                <a:cs typeface="SF Pro Text" pitchFamily="34" charset="-120"/>
              </a:rPr>
              <a:t>No prior LMC waiver · CP didn't check in &gt; 30 min before · claimed or rescheduled in the last 24 hrs (active FC or not their preferred time).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charge: reverse both sides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E.g. the customer cancelled because the CP wanted to reschedule or cancel, or the CP no-showed.</a:t>
            </a:r>
            <a:endParaRPr lang="en-US" sz="1200" dirty="0"/>
          </a:p>
        </p:txBody>
      </p:sp>
      <p:sp>
        <p:nvSpPr>
          <p:cNvPr id="6" name="Text 3"/>
          <p:cNvSpPr txBox="1"/>
          <p:nvPr/>
        </p:nvSpPr>
        <p:spPr>
          <a:xfrm>
            <a:off x="411480"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CHARGE WAS INVALID</a:t>
            </a:r>
            <a:endParaRPr lang="en-US" sz="800" dirty="0"/>
          </a:p>
        </p:txBody>
      </p:sp>
      <p:sp>
        <p:nvSpPr>
          <p:cNvPr id="7" name="Shape 4"/>
          <p:cNvSpPr/>
          <p:nvPr/>
        </p:nvSpPr>
        <p:spPr>
          <a:xfrm>
            <a:off x="411480" y="1645920"/>
            <a:ext cx="3657600" cy="502920"/>
          </a:xfrm>
          <a:prstGeom prst="roundRect">
            <a:avLst>
              <a:gd name="adj" fmla="val 14545"/>
            </a:avLst>
          </a:prstGeom>
          <a:solidFill>
            <a:srgbClr val="0B7A6F"/>
          </a:solidFill>
          <a:ln w="12700">
            <a:solidFill>
              <a:srgbClr val="0B7A6F"/>
            </a:solidFill>
            <a:prstDash val="solid"/>
          </a:ln>
        </p:spPr>
      </p:sp>
      <p:sp>
        <p:nvSpPr>
          <p:cNvPr id="8" name="Text 5"/>
          <p:cNvSpPr txBox="1"/>
          <p:nvPr/>
        </p:nvSpPr>
        <p:spPr>
          <a:xfrm>
            <a:off x="411480" y="164592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LMC charge</a:t>
            </a:r>
            <a:endParaRPr lang="en-US" sz="1000" dirty="0"/>
          </a:p>
        </p:txBody>
      </p:sp>
      <p:sp>
        <p:nvSpPr>
          <p:cNvPr id="9" name="Text 6"/>
          <p:cNvSpPr txBox="1"/>
          <p:nvPr/>
        </p:nvSpPr>
        <p:spPr>
          <a:xfrm>
            <a:off x="411480" y="2194560"/>
            <a:ext cx="3657600" cy="27432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From the Manual Charges section.</a:t>
            </a:r>
            <a:endParaRPr lang="en-US" sz="950" dirty="0"/>
          </a:p>
        </p:txBody>
      </p:sp>
      <p:sp>
        <p:nvSpPr>
          <p:cNvPr id="10" name="Shape 7"/>
          <p:cNvSpPr/>
          <p:nvPr/>
        </p:nvSpPr>
        <p:spPr>
          <a:xfrm>
            <a:off x="2240280" y="2468880"/>
            <a:ext cx="0" cy="182880"/>
          </a:xfrm>
          <a:prstGeom prst="line">
            <a:avLst/>
          </a:prstGeom>
          <a:noFill/>
          <a:ln w="12700">
            <a:solidFill>
              <a:srgbClr val="6E6E73"/>
            </a:solidFill>
            <a:prstDash val="solid"/>
            <a:tailEnd type="triangle"/>
          </a:ln>
        </p:spPr>
      </p:sp>
      <p:sp>
        <p:nvSpPr>
          <p:cNvPr id="11" name="Shape 8"/>
          <p:cNvSpPr/>
          <p:nvPr/>
        </p:nvSpPr>
        <p:spPr>
          <a:xfrm>
            <a:off x="411480" y="2651760"/>
            <a:ext cx="3657600" cy="502920"/>
          </a:xfrm>
          <a:prstGeom prst="roundRect">
            <a:avLst>
              <a:gd name="adj" fmla="val 14545"/>
            </a:avLst>
          </a:prstGeom>
          <a:solidFill>
            <a:srgbClr val="0B7A6F"/>
          </a:solidFill>
          <a:ln w="12700">
            <a:solidFill>
              <a:srgbClr val="0B7A6F"/>
            </a:solidFill>
            <a:prstDash val="solid"/>
          </a:ln>
        </p:spPr>
      </p:sp>
      <p:sp>
        <p:nvSpPr>
          <p:cNvPr id="12" name="Text 9"/>
          <p:cNvSpPr txBox="1"/>
          <p:nvPr/>
        </p:nvSpPr>
        <p:spPr>
          <a:xfrm>
            <a:off x="411480" y="2651760"/>
            <a:ext cx="365760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Hold back the CP's $20</a:t>
            </a:r>
            <a:endParaRPr lang="en-US" sz="1000" dirty="0"/>
          </a:p>
        </p:txBody>
      </p:sp>
      <p:sp>
        <p:nvSpPr>
          <p:cNvPr id="13" name="Text 10"/>
          <p:cNvSpPr txBox="1"/>
          <p:nvPr/>
        </p:nvSpPr>
        <p:spPr>
          <a:xfrm>
            <a:off x="411480" y="3200400"/>
            <a:ext cx="3657600" cy="457200"/>
          </a:xfrm>
          <a:prstGeom prst="rect">
            <a:avLst/>
          </a:prstGeom>
          <a:noFill/>
          <a:ln/>
        </p:spPr>
        <p:txBody>
          <a:bodyPr wrap="square" lIns="0" tIns="0" rIns="0" bIns="0" rtlCol="0" anchor="t"/>
          <a:lstStyle/>
          <a:p>
            <a:pPr algn="ctr" indent="0" marL="0">
              <a:buNone/>
            </a:pPr>
            <a:r>
              <a:rPr lang="en-US" sz="950" dirty="0">
                <a:solidFill>
                  <a:srgbClr val="6E6E73"/>
                </a:solidFill>
                <a:latin typeface="SF Pro Text" pitchFamily="34" charset="0"/>
                <a:ea typeface="SF Pro Text" pitchFamily="34" charset="-122"/>
                <a:cs typeface="SF Pro Text" pitchFamily="34" charset="-120"/>
              </a:rPr>
              <a:t>CP CRM › Do › CleanerPaymentHoldback › create.</a:t>
            </a:r>
            <a:endParaRPr lang="en-US" sz="950" dirty="0"/>
          </a:p>
          <a:p>
            <a:pPr algn="ctr" indent="0" marL="0">
              <a:buNone/>
            </a:pPr>
            <a:r>
              <a:rPr lang="en-US" sz="950" dirty="0">
                <a:solidFill>
                  <a:srgbClr val="6E6E73"/>
                </a:solidFill>
                <a:latin typeface="SF Pro Text" pitchFamily="34" charset="0"/>
                <a:ea typeface="SF Pro Text" pitchFamily="34" charset="-122"/>
                <a:cs typeface="SF Pro Text" pitchFamily="34" charset="-120"/>
              </a:rPr>
              <a:t>Amount in cents: 2000.</a:t>
            </a:r>
            <a:endParaRPr lang="en-US" sz="950" dirty="0"/>
          </a:p>
        </p:txBody>
      </p:sp>
      <p:sp>
        <p:nvSpPr>
          <p:cNvPr id="14" name="Text 11"/>
          <p:cNvSpPr txBox="1"/>
          <p:nvPr/>
        </p:nvSpPr>
        <p:spPr>
          <a:xfrm>
            <a:off x="4434840" y="1371600"/>
            <a:ext cx="420624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SPECIAL CASE: JOB COMPLETED ANYWAY</a:t>
            </a:r>
            <a:endParaRPr lang="en-US" sz="800" dirty="0"/>
          </a:p>
        </p:txBody>
      </p:sp>
      <p:sp>
        <p:nvSpPr>
          <p:cNvPr id="15" name="Shape 12"/>
          <p:cNvSpPr/>
          <p:nvPr/>
        </p:nvSpPr>
        <p:spPr>
          <a:xfrm>
            <a:off x="4434840" y="1645920"/>
            <a:ext cx="4297680" cy="2011680"/>
          </a:xfrm>
          <a:prstGeom prst="roundRect">
            <a:avLst>
              <a:gd name="adj" fmla="val 3636"/>
            </a:avLst>
          </a:prstGeom>
          <a:solidFill>
            <a:srgbClr val="FFFFFF"/>
          </a:solidFill>
          <a:ln w="9525">
            <a:solidFill>
              <a:srgbClr val="DCE1E7"/>
            </a:solidFill>
            <a:prstDash val="solid"/>
          </a:ln>
        </p:spPr>
      </p:sp>
      <p:sp>
        <p:nvSpPr>
          <p:cNvPr id="16" name="Text 13"/>
          <p:cNvSpPr txBox="1"/>
          <p:nvPr/>
        </p:nvSpPr>
        <p:spPr>
          <a:xfrm>
            <a:off x="4617720" y="1783080"/>
            <a:ext cx="3931920" cy="17830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Refund the LMC charge</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$20 holdback, type invalid_lmc</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Log the ticket</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Recreate the job and invoice it normally, so the customer's FC still triggers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2: valid charge,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ladder: go straight to the right offer.</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011680"/>
                <a:gridCol w="1828800"/>
                <a:gridCol w="4480560"/>
              </a:tblGrid>
              <a:tr h="310896">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Customer</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Invoiced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New customer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0–2</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LMC fee outright.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Low to moderate LTNR</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3–4</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Credits up to 100% of the fee, not cash. Upset? Service Recovery. Cancelling? Apply it to the ETF.</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Very high-value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More than 4, high retention</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Refund the full $40.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Only if asked:  </a:t>
            </a:r>
            <a:pPr indent="0" marL="0">
              <a:buNone/>
            </a:pPr>
            <a:r>
              <a:rPr lang="en-US" sz="1000" dirty="0">
                <a:solidFill>
                  <a:srgbClr val="1D1D1F"/>
                </a:solidFill>
                <a:latin typeface="SF Pro Text" pitchFamily="34" charset="0"/>
                <a:ea typeface="SF Pro Text" pitchFamily="34" charset="-122"/>
                <a:cs typeface="SF Pro Text" pitchFamily="34" charset="-120"/>
              </a:rPr>
              <a:t>use this when they want the charge reversed, not when they just want it explained.</a:t>
            </a:r>
            <a:endParaRPr lang="en-US" sz="1000" dirty="0"/>
          </a:p>
        </p:txBody>
      </p:sp>
      <p:sp>
        <p:nvSpPr>
          <p:cNvPr id="10" name="Shape 5"/>
          <p:cNvSpPr/>
          <p:nvPr/>
        </p:nvSpPr>
        <p:spPr>
          <a:xfrm>
            <a:off x="411480" y="3794760"/>
            <a:ext cx="8321040" cy="292608"/>
          </a:xfrm>
          <a:prstGeom prst="roundRect">
            <a:avLst>
              <a:gd name="adj" fmla="val 25000"/>
            </a:avLst>
          </a:prstGeom>
          <a:solidFill>
            <a:srgbClr val="FFF3D6"/>
          </a:solidFill>
          <a:ln w="9525">
            <a:solidFill>
              <a:srgbClr val="9A6410"/>
            </a:solidFill>
            <a:prstDash val="solid"/>
          </a:ln>
        </p:spPr>
      </p:sp>
      <p:pic>
        <p:nvPicPr>
          <p:cNvPr id="11" name="Image 1" descr="preencoded.png">    </p:cNvPr>
          <p:cNvPicPr>
            <a:picLocks noChangeAspect="1"/>
          </p:cNvPicPr>
          <p:nvPr/>
        </p:nvPicPr>
        <p:blipFill>
          <a:blip r:embed="rId2"/>
          <a:stretch>
            <a:fillRect/>
          </a:stretch>
        </p:blipFill>
        <p:spPr>
          <a:xfrm>
            <a:off x="521208" y="3867912"/>
            <a:ext cx="146304" cy="146304"/>
          </a:xfrm>
          <a:prstGeom prst="rect">
            <a:avLst/>
          </a:prstGeom>
        </p:spPr>
      </p:pic>
      <p:sp>
        <p:nvSpPr>
          <p:cNvPr id="12" name="Text 6"/>
          <p:cNvSpPr txBox="1"/>
          <p:nvPr/>
        </p:nvSpPr>
        <p:spPr>
          <a:xfrm>
            <a:off x="731520" y="3794760"/>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Last-minute cancel: high-value customer · Last-minute cancel: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Finding the charge, and when it fails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failed LMC charge is finished. Leave it.</a:t>
            </a:r>
            <a:endParaRPr lang="en-US" sz="1200" dirty="0"/>
          </a:p>
        </p:txBody>
      </p:sp>
      <p:sp>
        <p:nvSpPr>
          <p:cNvPr id="6" name="Shape 3"/>
          <p:cNvSpPr/>
          <p:nvPr/>
        </p:nvSpPr>
        <p:spPr>
          <a:xfrm>
            <a:off x="411480" y="1325880"/>
            <a:ext cx="4091940" cy="1920240"/>
          </a:xfrm>
          <a:prstGeom prst="roundRect">
            <a:avLst>
              <a:gd name="adj" fmla="val 381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Where to find it</a:t>
            </a:r>
            <a:endParaRPr lang="en-US" sz="1300" dirty="0"/>
          </a:p>
        </p:txBody>
      </p:sp>
      <p:sp>
        <p:nvSpPr>
          <p:cNvPr id="10" name="Text 6"/>
          <p:cNvSpPr txBox="1"/>
          <p:nvPr/>
        </p:nvSpPr>
        <p:spPr>
          <a:xfrm>
            <a:off x="5943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CRM › Manual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 CRM › View › ManualCustomerPaymentTxn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Credits reason code: lmc</a:t>
            </a:r>
            <a:endParaRPr lang="en-US" sz="1000" dirty="0"/>
          </a:p>
        </p:txBody>
      </p:sp>
      <p:sp>
        <p:nvSpPr>
          <p:cNvPr id="11" name="Shape 7"/>
          <p:cNvSpPr/>
          <p:nvPr/>
        </p:nvSpPr>
        <p:spPr>
          <a:xfrm>
            <a:off x="4640580" y="1325880"/>
            <a:ext cx="4091940" cy="1920240"/>
          </a:xfrm>
          <a:prstGeom prst="roundRect">
            <a:avLst>
              <a:gd name="adj" fmla="val 381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Charge failed?</a:t>
            </a:r>
            <a:endParaRPr lang="en-US" sz="1300" dirty="0"/>
          </a:p>
        </p:txBody>
      </p:sp>
      <p:sp>
        <p:nvSpPr>
          <p:cNvPr id="15" name="Text 10"/>
          <p:cNvSpPr txBox="1"/>
          <p:nvPr/>
        </p:nvSpPr>
        <p:spPr>
          <a:xfrm>
            <a:off x="4823460" y="2039112"/>
            <a:ext cx="3726180" cy="10972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Let it go: the system stops retrying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void, refund or re-run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CP paid only if they ask (CP-side path)</a:t>
            </a:r>
            <a:endParaRPr lang="en-US" sz="1000" dirty="0"/>
          </a:p>
        </p:txBody>
      </p:sp>
      <p:sp>
        <p:nvSpPr>
          <p:cNvPr id="16" name="Shape 11"/>
          <p:cNvSpPr/>
          <p:nvPr/>
        </p:nvSpPr>
        <p:spPr>
          <a:xfrm>
            <a:off x="411480" y="34290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538728"/>
            <a:ext cx="164592" cy="164592"/>
          </a:xfrm>
          <a:prstGeom prst="rect">
            <a:avLst/>
          </a:prstGeom>
        </p:spPr>
      </p:pic>
      <p:sp>
        <p:nvSpPr>
          <p:cNvPr id="18" name="Text 12"/>
          <p:cNvSpPr txBox="1"/>
          <p:nvPr/>
        </p:nvSpPr>
        <p:spPr>
          <a:xfrm>
            <a:off x="822960" y="35295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LMC only:  </a:t>
            </a:r>
            <a:pPr indent="0" marL="0">
              <a:buNone/>
            </a:pPr>
            <a:r>
              <a:rPr lang="en-US" sz="1000" dirty="0">
                <a:solidFill>
                  <a:srgbClr val="1D1D1F"/>
                </a:solidFill>
                <a:latin typeface="SF Pro Text" pitchFamily="34" charset="0"/>
                <a:ea typeface="SF Pro Text" pitchFamily="34" charset="-122"/>
                <a:cs typeface="SF Pro Text" pitchFamily="34" charset="-120"/>
              </a:rPr>
              <a:t>other fees behave differently. A failed Premium fee keeps retrying.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A customer cancels 3 hours before start. The job was still Submitted. LMC?</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Automatically waived: no CP was matched.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no-showed and the customer cancelled. LMC was charged.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it from Manual Charges and create a $20 CleanerPaymentHoldback.</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LMC, 3 invoiced jobs, customer wants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100% of the fee, not cash.</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LMC charge failed to collect.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Let it go: don't void, refund or re-run it.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LAST-MINUTE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Validate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the six automatic waivers before anything else.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Both sides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customer, hold back the CP's $20.</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Not a ladder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Go straight to the category's offer.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03</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Lockout (LO)</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showed up but couldn't get in. Is the charge fair?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 lockout is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Four questions to validate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Refund by customer category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Special scenarios and lockout pay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6/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a lockout?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claim the CP submits when they can't get in.</a:t>
            </a:r>
            <a:endParaRPr lang="en-US" sz="1200" dirty="0"/>
          </a:p>
        </p:txBody>
      </p:sp>
      <p:sp>
        <p:nvSpPr>
          <p:cNvPr id="6" name="Shape 3"/>
          <p:cNvSpPr/>
          <p:nvPr/>
        </p:nvSpPr>
        <p:spPr>
          <a:xfrm>
            <a:off x="411480" y="132588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can't get in</a:t>
            </a:r>
            <a:endParaRPr lang="en-US" sz="1200" dirty="0"/>
          </a:p>
        </p:txBody>
      </p:sp>
      <p:sp>
        <p:nvSpPr>
          <p:cNvPr id="10" name="Text 7"/>
          <p:cNvSpPr txBox="1"/>
          <p:nvPr/>
        </p:nvSpPr>
        <p:spPr>
          <a:xfrm>
            <a:off x="5760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Arrived at the scheduled time and tried to reach the customer.</a:t>
            </a:r>
            <a:endParaRPr lang="en-US" sz="950" dirty="0"/>
          </a:p>
        </p:txBody>
      </p:sp>
      <p:sp>
        <p:nvSpPr>
          <p:cNvPr id="11" name="Shape 8"/>
          <p:cNvSpPr/>
          <p:nvPr/>
        </p:nvSpPr>
        <p:spPr>
          <a:xfrm>
            <a:off x="2526030" y="132588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Lockout submitted</a:t>
            </a:r>
            <a:endParaRPr lang="en-US" sz="1200" dirty="0"/>
          </a:p>
        </p:txBody>
      </p:sp>
      <p:sp>
        <p:nvSpPr>
          <p:cNvPr id="15" name="Text 12"/>
          <p:cNvSpPr txBox="1"/>
          <p:nvPr/>
        </p:nvSpPr>
        <p:spPr>
          <a:xfrm>
            <a:off x="26906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job changes to Invoiced.</a:t>
            </a:r>
            <a:endParaRPr lang="en-US" sz="950" dirty="0"/>
          </a:p>
        </p:txBody>
      </p:sp>
      <p:sp>
        <p:nvSpPr>
          <p:cNvPr id="16" name="Shape 13"/>
          <p:cNvSpPr/>
          <p:nvPr/>
        </p:nvSpPr>
        <p:spPr>
          <a:xfrm>
            <a:off x="4640580" y="132588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charged</a:t>
            </a:r>
            <a:endParaRPr lang="en-US" sz="1200" dirty="0"/>
          </a:p>
        </p:txBody>
      </p:sp>
      <p:sp>
        <p:nvSpPr>
          <p:cNvPr id="20" name="Text 17"/>
          <p:cNvSpPr txBox="1"/>
          <p:nvPr/>
        </p:nvSpPr>
        <p:spPr>
          <a:xfrm>
            <a:off x="480517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full job cost, for a cleaning that didn't happen.</a:t>
            </a:r>
            <a:endParaRPr lang="en-US" sz="950" dirty="0"/>
          </a:p>
        </p:txBody>
      </p:sp>
      <p:sp>
        <p:nvSpPr>
          <p:cNvPr id="21" name="Shape 18"/>
          <p:cNvSpPr/>
          <p:nvPr/>
        </p:nvSpPr>
        <p:spPr>
          <a:xfrm>
            <a:off x="6755130" y="132588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50876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92938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contests</a:t>
            </a:r>
            <a:endParaRPr lang="en-US" sz="1200" dirty="0"/>
          </a:p>
        </p:txBody>
      </p:sp>
      <p:sp>
        <p:nvSpPr>
          <p:cNvPr id="25" name="Text 22"/>
          <p:cNvSpPr txBox="1"/>
          <p:nvPr/>
        </p:nvSpPr>
        <p:spPr>
          <a:xfrm>
            <a:off x="6919722" y="222199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That's the ticket you'll see.</a:t>
            </a:r>
            <a:endParaRPr lang="en-US" sz="950" dirty="0"/>
          </a:p>
        </p:txBody>
      </p:sp>
      <p:sp>
        <p:nvSpPr>
          <p:cNvPr id="26" name="Shape 23"/>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93008"/>
            <a:ext cx="164592" cy="164592"/>
          </a:xfrm>
          <a:prstGeom prst="rect">
            <a:avLst/>
          </a:prstGeom>
        </p:spPr>
      </p:pic>
      <p:sp>
        <p:nvSpPr>
          <p:cNvPr id="28" name="Text 24"/>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Validate first:  </a:t>
            </a:r>
            <a:pPr indent="0" marL="0">
              <a:buNone/>
            </a:pPr>
            <a:r>
              <a:rPr lang="en-US" sz="1000" dirty="0">
                <a:solidFill>
                  <a:srgbClr val="1D1D1F"/>
                </a:solidFill>
                <a:latin typeface="SF Pro Text" pitchFamily="34" charset="0"/>
                <a:ea typeface="SF Pro Text" pitchFamily="34" charset="-122"/>
                <a:cs typeface="SF Pro Text" pitchFamily="34" charset="-120"/>
              </a:rPr>
              <a:t>refunding an invalid lockout isn't generosity. It's fixing an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1: validate the claim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in order. Any "no" usually means the lockout is invalid.</a:t>
            </a:r>
            <a:endParaRPr lang="en-US" sz="1200" dirty="0"/>
          </a:p>
        </p:txBody>
      </p:sp>
      <p:sp>
        <p:nvSpPr>
          <p:cNvPr id="6" name="Shape 3"/>
          <p:cNvSpPr/>
          <p:nvPr/>
        </p:nvSpPr>
        <p:spPr>
          <a:xfrm>
            <a:off x="411480" y="1298448"/>
            <a:ext cx="4206240" cy="402336"/>
          </a:xfrm>
          <a:prstGeom prst="roundRect">
            <a:avLst>
              <a:gd name="adj" fmla="val 18182"/>
            </a:avLst>
          </a:prstGeom>
          <a:solidFill>
            <a:srgbClr val="FFF3D6"/>
          </a:solidFill>
          <a:ln w="12700">
            <a:solidFill>
              <a:srgbClr val="9A6410"/>
            </a:solidFill>
            <a:prstDash val="solid"/>
          </a:ln>
        </p:spPr>
      </p:sp>
      <p:sp>
        <p:nvSpPr>
          <p:cNvPr id="7" name="Text 4"/>
          <p:cNvSpPr txBox="1"/>
          <p:nvPr/>
        </p:nvSpPr>
        <p:spPr>
          <a:xfrm>
            <a:off x="411480" y="129844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  Did the customer want the appointment?</a:t>
            </a:r>
            <a:endParaRPr lang="en-US" sz="1000" dirty="0"/>
          </a:p>
        </p:txBody>
      </p:sp>
      <p:sp>
        <p:nvSpPr>
          <p:cNvPr id="8" name="Shape 5"/>
          <p:cNvSpPr/>
          <p:nvPr/>
        </p:nvSpPr>
        <p:spPr>
          <a:xfrm>
            <a:off x="2514600" y="1700784"/>
            <a:ext cx="0" cy="146304"/>
          </a:xfrm>
          <a:prstGeom prst="line">
            <a:avLst/>
          </a:prstGeom>
          <a:noFill/>
          <a:ln w="12700">
            <a:solidFill>
              <a:srgbClr val="6E6E73"/>
            </a:solidFill>
            <a:prstDash val="solid"/>
            <a:tailEnd type="triangle"/>
          </a:ln>
        </p:spPr>
      </p:sp>
      <p:sp>
        <p:nvSpPr>
          <p:cNvPr id="9" name="Text 6"/>
          <p:cNvSpPr txBox="1"/>
          <p:nvPr/>
        </p:nvSpPr>
        <p:spPr>
          <a:xfrm>
            <a:off x="2587752" y="170078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0" name="Shape 7"/>
          <p:cNvSpPr/>
          <p:nvPr/>
        </p:nvSpPr>
        <p:spPr>
          <a:xfrm>
            <a:off x="4617720" y="1499616"/>
            <a:ext cx="1051560" cy="0"/>
          </a:xfrm>
          <a:prstGeom prst="line">
            <a:avLst/>
          </a:prstGeom>
          <a:noFill/>
          <a:ln w="12700">
            <a:solidFill>
              <a:srgbClr val="6E6E73"/>
            </a:solidFill>
            <a:prstDash val="solid"/>
          </a:ln>
        </p:spPr>
      </p:sp>
      <p:sp>
        <p:nvSpPr>
          <p:cNvPr id="11" name="Text 8"/>
          <p:cNvSpPr txBox="1"/>
          <p:nvPr/>
        </p:nvSpPr>
        <p:spPr>
          <a:xfrm>
            <a:off x="4709160" y="131673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2" name="Shape 9"/>
          <p:cNvSpPr/>
          <p:nvPr/>
        </p:nvSpPr>
        <p:spPr>
          <a:xfrm>
            <a:off x="411480" y="1847088"/>
            <a:ext cx="4206240" cy="402336"/>
          </a:xfrm>
          <a:prstGeom prst="roundRect">
            <a:avLst>
              <a:gd name="adj" fmla="val 18182"/>
            </a:avLst>
          </a:prstGeom>
          <a:solidFill>
            <a:srgbClr val="FFF3D6"/>
          </a:solidFill>
          <a:ln w="12700">
            <a:solidFill>
              <a:srgbClr val="9A6410"/>
            </a:solidFill>
            <a:prstDash val="solid"/>
          </a:ln>
        </p:spPr>
      </p:sp>
      <p:sp>
        <p:nvSpPr>
          <p:cNvPr id="13" name="Text 10"/>
          <p:cNvSpPr txBox="1"/>
          <p:nvPr/>
        </p:nvSpPr>
        <p:spPr>
          <a:xfrm>
            <a:off x="411480" y="184708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2  Did the CP arrive on time?</a:t>
            </a:r>
            <a:endParaRPr lang="en-US" sz="1000" dirty="0"/>
          </a:p>
        </p:txBody>
      </p:sp>
      <p:sp>
        <p:nvSpPr>
          <p:cNvPr id="14" name="Shape 11"/>
          <p:cNvSpPr/>
          <p:nvPr/>
        </p:nvSpPr>
        <p:spPr>
          <a:xfrm>
            <a:off x="2514600" y="2249424"/>
            <a:ext cx="0" cy="146304"/>
          </a:xfrm>
          <a:prstGeom prst="line">
            <a:avLst/>
          </a:prstGeom>
          <a:noFill/>
          <a:ln w="12700">
            <a:solidFill>
              <a:srgbClr val="6E6E73"/>
            </a:solidFill>
            <a:prstDash val="solid"/>
            <a:tailEnd type="triangle"/>
          </a:ln>
        </p:spPr>
      </p:sp>
      <p:sp>
        <p:nvSpPr>
          <p:cNvPr id="15" name="Text 12"/>
          <p:cNvSpPr txBox="1"/>
          <p:nvPr/>
        </p:nvSpPr>
        <p:spPr>
          <a:xfrm>
            <a:off x="2587752" y="224942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16" name="Shape 13"/>
          <p:cNvSpPr/>
          <p:nvPr/>
        </p:nvSpPr>
        <p:spPr>
          <a:xfrm>
            <a:off x="4617720" y="2048256"/>
            <a:ext cx="1051560" cy="0"/>
          </a:xfrm>
          <a:prstGeom prst="line">
            <a:avLst/>
          </a:prstGeom>
          <a:noFill/>
          <a:ln w="12700">
            <a:solidFill>
              <a:srgbClr val="6E6E73"/>
            </a:solidFill>
            <a:prstDash val="solid"/>
          </a:ln>
        </p:spPr>
      </p:sp>
      <p:sp>
        <p:nvSpPr>
          <p:cNvPr id="17" name="Text 14"/>
          <p:cNvSpPr txBox="1"/>
          <p:nvPr/>
        </p:nvSpPr>
        <p:spPr>
          <a:xfrm>
            <a:off x="4709160" y="186537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18" name="Shape 15"/>
          <p:cNvSpPr/>
          <p:nvPr/>
        </p:nvSpPr>
        <p:spPr>
          <a:xfrm>
            <a:off x="411480" y="2395728"/>
            <a:ext cx="4206240" cy="402336"/>
          </a:xfrm>
          <a:prstGeom prst="roundRect">
            <a:avLst>
              <a:gd name="adj" fmla="val 18182"/>
            </a:avLst>
          </a:prstGeom>
          <a:solidFill>
            <a:srgbClr val="FFF3D6"/>
          </a:solidFill>
          <a:ln w="12700">
            <a:solidFill>
              <a:srgbClr val="9A6410"/>
            </a:solidFill>
            <a:prstDash val="solid"/>
          </a:ln>
        </p:spPr>
      </p:sp>
      <p:sp>
        <p:nvSpPr>
          <p:cNvPr id="19" name="Text 16"/>
          <p:cNvSpPr txBox="1"/>
          <p:nvPr/>
        </p:nvSpPr>
        <p:spPr>
          <a:xfrm>
            <a:off x="411480" y="239572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3  Did the CP arrive at the address?</a:t>
            </a:r>
            <a:endParaRPr lang="en-US" sz="1000" dirty="0"/>
          </a:p>
        </p:txBody>
      </p:sp>
      <p:sp>
        <p:nvSpPr>
          <p:cNvPr id="20" name="Shape 17"/>
          <p:cNvSpPr/>
          <p:nvPr/>
        </p:nvSpPr>
        <p:spPr>
          <a:xfrm>
            <a:off x="2514600" y="2798064"/>
            <a:ext cx="0" cy="146304"/>
          </a:xfrm>
          <a:prstGeom prst="line">
            <a:avLst/>
          </a:prstGeom>
          <a:noFill/>
          <a:ln w="12700">
            <a:solidFill>
              <a:srgbClr val="6E6E73"/>
            </a:solidFill>
            <a:prstDash val="solid"/>
            <a:tailEnd type="triangle"/>
          </a:ln>
        </p:spPr>
      </p:sp>
      <p:sp>
        <p:nvSpPr>
          <p:cNvPr id="21" name="Text 18"/>
          <p:cNvSpPr txBox="1"/>
          <p:nvPr/>
        </p:nvSpPr>
        <p:spPr>
          <a:xfrm>
            <a:off x="2587752" y="279806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2" name="Shape 19"/>
          <p:cNvSpPr/>
          <p:nvPr/>
        </p:nvSpPr>
        <p:spPr>
          <a:xfrm>
            <a:off x="4617720" y="2596896"/>
            <a:ext cx="1051560" cy="0"/>
          </a:xfrm>
          <a:prstGeom prst="line">
            <a:avLst/>
          </a:prstGeom>
          <a:noFill/>
          <a:ln w="12700">
            <a:solidFill>
              <a:srgbClr val="6E6E73"/>
            </a:solidFill>
            <a:prstDash val="solid"/>
          </a:ln>
        </p:spPr>
      </p:sp>
      <p:sp>
        <p:nvSpPr>
          <p:cNvPr id="23" name="Text 20"/>
          <p:cNvSpPr txBox="1"/>
          <p:nvPr/>
        </p:nvSpPr>
        <p:spPr>
          <a:xfrm>
            <a:off x="4709160" y="241401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4" name="Shape 21"/>
          <p:cNvSpPr/>
          <p:nvPr/>
        </p:nvSpPr>
        <p:spPr>
          <a:xfrm>
            <a:off x="411480" y="2944368"/>
            <a:ext cx="4206240" cy="402336"/>
          </a:xfrm>
          <a:prstGeom prst="roundRect">
            <a:avLst>
              <a:gd name="adj" fmla="val 18182"/>
            </a:avLst>
          </a:prstGeom>
          <a:solidFill>
            <a:srgbClr val="FFF3D6"/>
          </a:solidFill>
          <a:ln w="12700">
            <a:solidFill>
              <a:srgbClr val="9A6410"/>
            </a:solidFill>
            <a:prstDash val="solid"/>
          </a:ln>
        </p:spPr>
      </p:sp>
      <p:sp>
        <p:nvSpPr>
          <p:cNvPr id="25" name="Text 22"/>
          <p:cNvSpPr txBox="1"/>
          <p:nvPr/>
        </p:nvSpPr>
        <p:spPr>
          <a:xfrm>
            <a:off x="411480" y="2944368"/>
            <a:ext cx="4206240" cy="40233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4  Did the CP try to complete it?</a:t>
            </a:r>
            <a:endParaRPr lang="en-US" sz="1000" dirty="0"/>
          </a:p>
        </p:txBody>
      </p:sp>
      <p:sp>
        <p:nvSpPr>
          <p:cNvPr id="26" name="Text 23"/>
          <p:cNvSpPr txBox="1"/>
          <p:nvPr/>
        </p:nvSpPr>
        <p:spPr>
          <a:xfrm>
            <a:off x="2587752" y="3346704"/>
            <a:ext cx="457200" cy="146304"/>
          </a:xfrm>
          <a:prstGeom prst="rect">
            <a:avLst/>
          </a:prstGeom>
          <a:noFill/>
          <a:ln/>
        </p:spPr>
        <p:txBody>
          <a:bodyPr wrap="square" lIns="0" tIns="0" rIns="0" bIns="0" rtlCol="0" anchor="ctr"/>
          <a:lstStyle/>
          <a:p>
            <a:pPr indent="0" marL="0">
              <a:buNone/>
            </a:pPr>
            <a:r>
              <a:rPr lang="en-US" sz="800" b="1" dirty="0">
                <a:solidFill>
                  <a:srgbClr val="6E6E73"/>
                </a:solidFill>
                <a:latin typeface="SF Pro Text" pitchFamily="34" charset="0"/>
                <a:ea typeface="SF Pro Text" pitchFamily="34" charset="-122"/>
                <a:cs typeface="SF Pro Text" pitchFamily="34" charset="-120"/>
              </a:rPr>
              <a:t>Yes</a:t>
            </a:r>
            <a:endParaRPr lang="en-US" sz="800" dirty="0"/>
          </a:p>
        </p:txBody>
      </p:sp>
      <p:sp>
        <p:nvSpPr>
          <p:cNvPr id="27" name="Shape 24"/>
          <p:cNvSpPr/>
          <p:nvPr/>
        </p:nvSpPr>
        <p:spPr>
          <a:xfrm>
            <a:off x="4617720" y="3145536"/>
            <a:ext cx="1051560" cy="0"/>
          </a:xfrm>
          <a:prstGeom prst="line">
            <a:avLst/>
          </a:prstGeom>
          <a:noFill/>
          <a:ln w="12700">
            <a:solidFill>
              <a:srgbClr val="6E6E73"/>
            </a:solidFill>
            <a:prstDash val="solid"/>
          </a:ln>
        </p:spPr>
      </p:sp>
      <p:sp>
        <p:nvSpPr>
          <p:cNvPr id="28" name="Text 25"/>
          <p:cNvSpPr txBox="1"/>
          <p:nvPr/>
        </p:nvSpPr>
        <p:spPr>
          <a:xfrm>
            <a:off x="4709160" y="2962656"/>
            <a:ext cx="457200" cy="182880"/>
          </a:xfrm>
          <a:prstGeom prst="rect">
            <a:avLst/>
          </a:prstGeom>
          <a:noFill/>
          <a:ln/>
        </p:spPr>
        <p:txBody>
          <a:bodyPr wrap="square" lIns="0" tIns="0" rIns="0" bIns="0" rtlCol="0" anchor="t"/>
          <a:lstStyle/>
          <a:p>
            <a:pPr indent="0" marL="0">
              <a:buNone/>
            </a:pPr>
            <a:r>
              <a:rPr lang="en-US" sz="800" b="1" dirty="0">
                <a:solidFill>
                  <a:srgbClr val="6E6E73"/>
                </a:solidFill>
                <a:latin typeface="SF Pro Text" pitchFamily="34" charset="0"/>
                <a:ea typeface="SF Pro Text" pitchFamily="34" charset="-122"/>
                <a:cs typeface="SF Pro Text" pitchFamily="34" charset="-120"/>
              </a:rPr>
              <a:t>No</a:t>
            </a:r>
            <a:endParaRPr lang="en-US" sz="800" dirty="0"/>
          </a:p>
        </p:txBody>
      </p:sp>
      <p:sp>
        <p:nvSpPr>
          <p:cNvPr id="29" name="Shape 26"/>
          <p:cNvSpPr/>
          <p:nvPr/>
        </p:nvSpPr>
        <p:spPr>
          <a:xfrm>
            <a:off x="5669280" y="1499616"/>
            <a:ext cx="0" cy="1645920"/>
          </a:xfrm>
          <a:prstGeom prst="line">
            <a:avLst/>
          </a:prstGeom>
          <a:noFill/>
          <a:ln w="12700">
            <a:solidFill>
              <a:srgbClr val="6E6E73"/>
            </a:solidFill>
            <a:prstDash val="solid"/>
          </a:ln>
        </p:spPr>
      </p:sp>
      <p:sp>
        <p:nvSpPr>
          <p:cNvPr id="30" name="Shape 27"/>
          <p:cNvSpPr/>
          <p:nvPr/>
        </p:nvSpPr>
        <p:spPr>
          <a:xfrm>
            <a:off x="5669280" y="2322576"/>
            <a:ext cx="274320" cy="0"/>
          </a:xfrm>
          <a:prstGeom prst="line">
            <a:avLst/>
          </a:prstGeom>
          <a:noFill/>
          <a:ln w="12700">
            <a:solidFill>
              <a:srgbClr val="6E6E73"/>
            </a:solidFill>
            <a:prstDash val="solid"/>
            <a:tailEnd type="triangle"/>
          </a:ln>
        </p:spPr>
      </p:sp>
      <p:sp>
        <p:nvSpPr>
          <p:cNvPr id="31" name="Shape 28"/>
          <p:cNvSpPr/>
          <p:nvPr/>
        </p:nvSpPr>
        <p:spPr>
          <a:xfrm>
            <a:off x="5943600" y="2048256"/>
            <a:ext cx="2788920" cy="548640"/>
          </a:xfrm>
          <a:prstGeom prst="roundRect">
            <a:avLst>
              <a:gd name="adj" fmla="val 13333"/>
            </a:avLst>
          </a:prstGeom>
          <a:solidFill>
            <a:srgbClr val="1D1D1F"/>
          </a:solidFill>
          <a:ln w="12700">
            <a:solidFill>
              <a:srgbClr val="1D1D1F"/>
            </a:solidFill>
            <a:prstDash val="solid"/>
          </a:ln>
        </p:spPr>
      </p:sp>
      <p:sp>
        <p:nvSpPr>
          <p:cNvPr id="32" name="Text 29"/>
          <p:cNvSpPr txBox="1"/>
          <p:nvPr/>
        </p:nvSpPr>
        <p:spPr>
          <a:xfrm>
            <a:off x="5943600" y="2048256"/>
            <a:ext cx="27889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Invalid: refund via CP Dashboard</a:t>
            </a:r>
            <a:endParaRPr lang="en-US" sz="1000" dirty="0"/>
          </a:p>
        </p:txBody>
      </p:sp>
      <p:sp>
        <p:nvSpPr>
          <p:cNvPr id="33" name="Shape 30"/>
          <p:cNvSpPr/>
          <p:nvPr/>
        </p:nvSpPr>
        <p:spPr>
          <a:xfrm>
            <a:off x="2514600" y="3346704"/>
            <a:ext cx="0" cy="164592"/>
          </a:xfrm>
          <a:prstGeom prst="line">
            <a:avLst/>
          </a:prstGeom>
          <a:noFill/>
          <a:ln w="12700">
            <a:solidFill>
              <a:srgbClr val="6E6E73"/>
            </a:solidFill>
            <a:prstDash val="solid"/>
            <a:tailEnd type="triangle"/>
          </a:ln>
        </p:spPr>
      </p:sp>
      <p:sp>
        <p:nvSpPr>
          <p:cNvPr id="34" name="Shape 31"/>
          <p:cNvSpPr/>
          <p:nvPr/>
        </p:nvSpPr>
        <p:spPr>
          <a:xfrm>
            <a:off x="411480" y="3511296"/>
            <a:ext cx="4206240" cy="411480"/>
          </a:xfrm>
          <a:prstGeom prst="roundRect">
            <a:avLst>
              <a:gd name="adj" fmla="val 17778"/>
            </a:avLst>
          </a:prstGeom>
          <a:solidFill>
            <a:srgbClr val="0B7A6F"/>
          </a:solidFill>
          <a:ln w="12700">
            <a:solidFill>
              <a:srgbClr val="0B7A6F"/>
            </a:solidFill>
            <a:prstDash val="solid"/>
          </a:ln>
        </p:spPr>
      </p:sp>
      <p:sp>
        <p:nvSpPr>
          <p:cNvPr id="35" name="Text 32"/>
          <p:cNvSpPr txBox="1"/>
          <p:nvPr/>
        </p:nvSpPr>
        <p:spPr>
          <a:xfrm>
            <a:off x="411480" y="3511296"/>
            <a:ext cx="42062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All yes: valid. Check the customer category</a:t>
            </a:r>
            <a:endParaRPr lang="en-US" sz="1000" dirty="0"/>
          </a:p>
        </p:txBody>
      </p:sp>
      <p:sp>
        <p:nvSpPr>
          <p:cNvPr id="36" name="Shape 3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37"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38" name="Text 3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Always:  </a:t>
            </a:r>
            <a:pPr indent="0" marL="0">
              <a:buNone/>
            </a:pPr>
            <a:r>
              <a:rPr lang="en-US" sz="1000" dirty="0">
                <a:solidFill>
                  <a:srgbClr val="1D1D1F"/>
                </a:solidFill>
                <a:latin typeface="SF Pro Text" pitchFamily="34" charset="0"/>
                <a:ea typeface="SF Pro Text" pitchFamily="34" charset="-122"/>
                <a:cs typeface="SF Pro Text" pitchFamily="34" charset="-120"/>
              </a:rPr>
              <a:t>leave an internal note with your findings.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to check for each question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Evidence that's hard to fake beats one side's word.</a:t>
            </a:r>
            <a:endParaRPr lang="en-US" sz="1200" dirty="0"/>
          </a:p>
        </p:txBody>
      </p:sp>
      <p:sp>
        <p:nvSpPr>
          <p:cNvPr id="6" name="Shape 3"/>
          <p:cNvSpPr/>
          <p:nvPr/>
        </p:nvSpPr>
        <p:spPr>
          <a:xfrm>
            <a:off x="411480" y="1298448"/>
            <a:ext cx="3017520" cy="676656"/>
          </a:xfrm>
          <a:prstGeom prst="roundRect">
            <a:avLst>
              <a:gd name="adj" fmla="val 10811"/>
            </a:avLst>
          </a:prstGeom>
          <a:solidFill>
            <a:srgbClr val="E3F4F1"/>
          </a:solidFill>
          <a:ln w="9525">
            <a:solidFill>
              <a:srgbClr val="E3F4F1"/>
            </a:solidFill>
            <a:prstDash val="solid"/>
          </a:ln>
        </p:spPr>
      </p:sp>
      <p:sp>
        <p:nvSpPr>
          <p:cNvPr id="7" name="Shape 4"/>
          <p:cNvSpPr/>
          <p:nvPr/>
        </p:nvSpPr>
        <p:spPr>
          <a:xfrm>
            <a:off x="530352" y="1499616"/>
            <a:ext cx="274320" cy="274320"/>
          </a:xfrm>
          <a:prstGeom prst="ellipse">
            <a:avLst/>
          </a:prstGeom>
          <a:solidFill>
            <a:srgbClr val="E3F4F1"/>
          </a:solidFill>
          <a:ln w="12700">
            <a:solidFill>
              <a:srgbClr val="E3F4F1"/>
            </a:solidFill>
            <a:prstDash val="solid"/>
          </a:ln>
        </p:spPr>
      </p:sp>
      <p:sp>
        <p:nvSpPr>
          <p:cNvPr id="8" name="Text 5"/>
          <p:cNvSpPr txBox="1"/>
          <p:nvPr/>
        </p:nvSpPr>
        <p:spPr>
          <a:xfrm>
            <a:off x="530352" y="149961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14400" y="1298448"/>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Wanted the appointment</a:t>
            </a:r>
            <a:endParaRPr lang="en-US" sz="1050" dirty="0"/>
          </a:p>
        </p:txBody>
      </p:sp>
      <p:sp>
        <p:nvSpPr>
          <p:cNvPr id="10" name="Shape 7"/>
          <p:cNvSpPr/>
          <p:nvPr/>
        </p:nvSpPr>
        <p:spPr>
          <a:xfrm>
            <a:off x="3520440" y="1298448"/>
            <a:ext cx="5212080" cy="676656"/>
          </a:xfrm>
          <a:prstGeom prst="roundRect">
            <a:avLst>
              <a:gd name="adj" fmla="val 10811"/>
            </a:avLst>
          </a:prstGeom>
          <a:solidFill>
            <a:srgbClr val="FFFFFF"/>
          </a:solidFill>
          <a:ln w="9525">
            <a:solidFill>
              <a:srgbClr val="DCE1E7"/>
            </a:solidFill>
            <a:prstDash val="solid"/>
          </a:ln>
        </p:spPr>
      </p:sp>
      <p:sp>
        <p:nvSpPr>
          <p:cNvPr id="11" name="Text 8"/>
          <p:cNvSpPr txBox="1"/>
          <p:nvPr/>
        </p:nvSpPr>
        <p:spPr>
          <a:xfrm>
            <a:off x="3657600" y="1298448"/>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Customer asked to cancel or reschedule &gt; 6 hrs before? Invalid. Within 6 hrs and the CP acknowledged it? Invalid.</a:t>
            </a:r>
            <a:endParaRPr lang="en-US" sz="900" dirty="0"/>
          </a:p>
        </p:txBody>
      </p:sp>
      <p:sp>
        <p:nvSpPr>
          <p:cNvPr id="12" name="Shape 9"/>
          <p:cNvSpPr/>
          <p:nvPr/>
        </p:nvSpPr>
        <p:spPr>
          <a:xfrm>
            <a:off x="411480" y="2066544"/>
            <a:ext cx="3017520" cy="676656"/>
          </a:xfrm>
          <a:prstGeom prst="roundRect">
            <a:avLst>
              <a:gd name="adj" fmla="val 10811"/>
            </a:avLst>
          </a:prstGeom>
          <a:solidFill>
            <a:srgbClr val="E3F4F1"/>
          </a:solidFill>
          <a:ln w="9525">
            <a:solidFill>
              <a:srgbClr val="E3F4F1"/>
            </a:solidFill>
            <a:prstDash val="solid"/>
          </a:ln>
        </p:spPr>
      </p:sp>
      <p:sp>
        <p:nvSpPr>
          <p:cNvPr id="13" name="Shape 10"/>
          <p:cNvSpPr/>
          <p:nvPr/>
        </p:nvSpPr>
        <p:spPr>
          <a:xfrm>
            <a:off x="530352" y="226771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30352" y="22677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14400" y="2066544"/>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Arrived on time</a:t>
            </a:r>
            <a:endParaRPr lang="en-US" sz="1050" dirty="0"/>
          </a:p>
        </p:txBody>
      </p:sp>
      <p:sp>
        <p:nvSpPr>
          <p:cNvPr id="16" name="Shape 13"/>
          <p:cNvSpPr/>
          <p:nvPr/>
        </p:nvSpPr>
        <p:spPr>
          <a:xfrm>
            <a:off x="3520440" y="2066544"/>
            <a:ext cx="5212080" cy="676656"/>
          </a:xfrm>
          <a:prstGeom prst="roundRect">
            <a:avLst>
              <a:gd name="adj" fmla="val 10811"/>
            </a:avLst>
          </a:prstGeom>
          <a:solidFill>
            <a:srgbClr val="FFFFFF"/>
          </a:solidFill>
          <a:ln w="9525">
            <a:solidFill>
              <a:srgbClr val="DCE1E7"/>
            </a:solidFill>
            <a:prstDash val="solid"/>
          </a:ln>
        </p:spPr>
      </p:sp>
      <p:sp>
        <p:nvSpPr>
          <p:cNvPr id="17" name="Text 14"/>
          <p:cNvSpPr txBox="1"/>
          <p:nvPr/>
        </p:nvSpPr>
        <p:spPr>
          <a:xfrm>
            <a:off x="3657600" y="2066544"/>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30 min before to 30 min after start. Timestamps, check-ins, GPS, CP App "approaching". Later? Invalid, unless the customer had already decided.</a:t>
            </a:r>
            <a:endParaRPr lang="en-US" sz="900" dirty="0"/>
          </a:p>
        </p:txBody>
      </p:sp>
      <p:sp>
        <p:nvSpPr>
          <p:cNvPr id="18" name="Shape 15"/>
          <p:cNvSpPr/>
          <p:nvPr/>
        </p:nvSpPr>
        <p:spPr>
          <a:xfrm>
            <a:off x="411480" y="2834640"/>
            <a:ext cx="3017520" cy="676656"/>
          </a:xfrm>
          <a:prstGeom prst="roundRect">
            <a:avLst>
              <a:gd name="adj" fmla="val 10811"/>
            </a:avLst>
          </a:prstGeom>
          <a:solidFill>
            <a:srgbClr val="E3F4F1"/>
          </a:solidFill>
          <a:ln w="9525">
            <a:solidFill>
              <a:srgbClr val="E3F4F1"/>
            </a:solidFill>
            <a:prstDash val="solid"/>
          </a:ln>
        </p:spPr>
      </p:sp>
      <p:sp>
        <p:nvSpPr>
          <p:cNvPr id="19" name="Shape 16"/>
          <p:cNvSpPr/>
          <p:nvPr/>
        </p:nvSpPr>
        <p:spPr>
          <a:xfrm>
            <a:off x="530352" y="3035808"/>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30352" y="303580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14400" y="2834640"/>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At the address</a:t>
            </a:r>
            <a:endParaRPr lang="en-US" sz="1050" dirty="0"/>
          </a:p>
        </p:txBody>
      </p:sp>
      <p:sp>
        <p:nvSpPr>
          <p:cNvPr id="22" name="Shape 19"/>
          <p:cNvSpPr/>
          <p:nvPr/>
        </p:nvSpPr>
        <p:spPr>
          <a:xfrm>
            <a:off x="3520440" y="2834640"/>
            <a:ext cx="5212080" cy="676656"/>
          </a:xfrm>
          <a:prstGeom prst="roundRect">
            <a:avLst>
              <a:gd name="adj" fmla="val 10811"/>
            </a:avLst>
          </a:prstGeom>
          <a:solidFill>
            <a:srgbClr val="FFFFFF"/>
          </a:solidFill>
          <a:ln w="9525">
            <a:solidFill>
              <a:srgbClr val="DCE1E7"/>
            </a:solidFill>
            <a:prstDash val="solid"/>
          </a:ln>
        </p:spPr>
      </p:sp>
      <p:sp>
        <p:nvSpPr>
          <p:cNvPr id="23" name="Text 20"/>
          <p:cNvSpPr txBox="1"/>
          <p:nvPr/>
        </p:nvSpPr>
        <p:spPr>
          <a:xfrm>
            <a:off x="3657600" y="2834640"/>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CTJ, arrival messages, photos, a selfie at the home. A house photo alone: check it isn't reused. Faked? AG – Fraud.</a:t>
            </a:r>
            <a:endParaRPr lang="en-US" sz="900" dirty="0"/>
          </a:p>
        </p:txBody>
      </p:sp>
      <p:sp>
        <p:nvSpPr>
          <p:cNvPr id="24" name="Shape 21"/>
          <p:cNvSpPr/>
          <p:nvPr/>
        </p:nvSpPr>
        <p:spPr>
          <a:xfrm>
            <a:off x="411480" y="3602736"/>
            <a:ext cx="3017520" cy="676656"/>
          </a:xfrm>
          <a:prstGeom prst="roundRect">
            <a:avLst>
              <a:gd name="adj" fmla="val 10811"/>
            </a:avLst>
          </a:prstGeom>
          <a:solidFill>
            <a:srgbClr val="E3F4F1"/>
          </a:solidFill>
          <a:ln w="9525">
            <a:solidFill>
              <a:srgbClr val="E3F4F1"/>
            </a:solidFill>
            <a:prstDash val="solid"/>
          </a:ln>
        </p:spPr>
      </p:sp>
      <p:sp>
        <p:nvSpPr>
          <p:cNvPr id="25" name="Shape 22"/>
          <p:cNvSpPr/>
          <p:nvPr/>
        </p:nvSpPr>
        <p:spPr>
          <a:xfrm>
            <a:off x="530352" y="3803904"/>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30352" y="380390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14400" y="3602736"/>
            <a:ext cx="2468880" cy="676656"/>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Tried to complete it</a:t>
            </a:r>
            <a:endParaRPr lang="en-US" sz="1050" dirty="0"/>
          </a:p>
        </p:txBody>
      </p:sp>
      <p:sp>
        <p:nvSpPr>
          <p:cNvPr id="28" name="Shape 25"/>
          <p:cNvSpPr/>
          <p:nvPr/>
        </p:nvSpPr>
        <p:spPr>
          <a:xfrm>
            <a:off x="3520440" y="3602736"/>
            <a:ext cx="5212080" cy="676656"/>
          </a:xfrm>
          <a:prstGeom prst="roundRect">
            <a:avLst>
              <a:gd name="adj" fmla="val 10811"/>
            </a:avLst>
          </a:prstGeom>
          <a:solidFill>
            <a:srgbClr val="FFFFFF"/>
          </a:solidFill>
          <a:ln w="9525">
            <a:solidFill>
              <a:srgbClr val="DCE1E7"/>
            </a:solidFill>
            <a:prstDash val="solid"/>
          </a:ln>
        </p:spPr>
      </p:sp>
      <p:sp>
        <p:nvSpPr>
          <p:cNvPr id="29" name="Text 26"/>
          <p:cNvSpPr txBox="1"/>
          <p:nvPr/>
        </p:nvSpPr>
        <p:spPr>
          <a:xfrm>
            <a:off x="3657600" y="3602736"/>
            <a:ext cx="4983480" cy="676656"/>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2+ contact attempts, 5+ min apart, 15+ min on site, entry notes followed. Same rule for App and Dashboard.</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Invalid: refund via the CP Dashboard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claim was the error, so the CP pays for it.</a:t>
            </a:r>
            <a:endParaRPr lang="en-US" sz="1200" dirty="0"/>
          </a:p>
        </p:txBody>
      </p:sp>
      <p:sp>
        <p:nvSpPr>
          <p:cNvPr id="6" name="Shape 3"/>
          <p:cNvSpPr/>
          <p:nvPr/>
        </p:nvSpPr>
        <p:spPr>
          <a:xfrm>
            <a:off x="411480" y="1325880"/>
            <a:ext cx="4091940" cy="2103120"/>
          </a:xfrm>
          <a:prstGeom prst="roundRect">
            <a:avLst>
              <a:gd name="adj" fmla="val 3478"/>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CP Dashboard refund</a:t>
            </a:r>
            <a:endParaRPr lang="en-US" sz="1300" dirty="0"/>
          </a:p>
        </p:txBody>
      </p:sp>
      <p:sp>
        <p:nvSpPr>
          <p:cNvPr id="10" name="Text 6"/>
          <p:cNvSpPr txBox="1"/>
          <p:nvPr/>
        </p:nvSpPr>
        <p:spPr>
          <a:xfrm>
            <a:off x="5943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Charges the cost back to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The CP made the error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Also refund Premium, if charged</a:t>
            </a:r>
            <a:endParaRPr lang="en-US" sz="1000" dirty="0"/>
          </a:p>
        </p:txBody>
      </p:sp>
      <p:sp>
        <p:nvSpPr>
          <p:cNvPr id="11" name="Shape 7"/>
          <p:cNvSpPr/>
          <p:nvPr/>
        </p:nvSpPr>
        <p:spPr>
          <a:xfrm>
            <a:off x="4640580" y="1325880"/>
            <a:ext cx="4091940" cy="2103120"/>
          </a:xfrm>
          <a:prstGeom prst="roundRect">
            <a:avLst>
              <a:gd name="adj" fmla="val 3478"/>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an admin refund</a:t>
            </a:r>
            <a:endParaRPr lang="en-US" sz="1300" dirty="0"/>
          </a:p>
        </p:txBody>
      </p:sp>
      <p:sp>
        <p:nvSpPr>
          <p:cNvPr id="15" name="Text 10"/>
          <p:cNvSpPr txBox="1"/>
          <p:nvPr/>
        </p:nvSpPr>
        <p:spPr>
          <a:xfrm>
            <a:off x="4823460" y="2039112"/>
            <a:ext cx="3726180" cy="12801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Comes out of Homeaglow's pocket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goodwill gesture: not needed here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Would make us pay for the CP's error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Step 3: valid lockout, check the customer category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Same as LMC: go straight to the right offer.</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2011680"/>
                <a:gridCol w="1737360"/>
                <a:gridCol w="4572000"/>
              </a:tblGrid>
              <a:tr h="51206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Customer</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Invoiced jobs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 to do</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New customer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1–2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the full job cost.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Low to moderate LTNR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3–4</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Credits up to 75% of the job, keep $40 for the CP. Escalates? Service Recovery. Cancelling? Toward ETF (max 50% off).</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Very high-value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More than 4, high retention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Choice: full fee as credit, or refund minus $40. Explain the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1206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Deactivated FC, RC still 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Admin refund in full. Deactivate the RC plan.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224528"/>
            <a:ext cx="8321040" cy="292608"/>
          </a:xfrm>
          <a:prstGeom prst="roundRect">
            <a:avLst>
              <a:gd name="adj" fmla="val 25000"/>
            </a:avLst>
          </a:prstGeom>
          <a:solidFill>
            <a:srgbClr val="FFF3D6"/>
          </a:solidFill>
          <a:ln w="9525">
            <a:solidFill>
              <a:srgbClr val="9A6410"/>
            </a:solidFill>
            <a:prstDash val="solid"/>
          </a:ln>
        </p:spPr>
      </p:sp>
      <p:pic>
        <p:nvPicPr>
          <p:cNvPr id="8" name="Image 0" descr="preencoded.png">    </p:cNvPr>
          <p:cNvPicPr>
            <a:picLocks noChangeAspect="1"/>
          </p:cNvPicPr>
          <p:nvPr/>
        </p:nvPicPr>
        <p:blipFill>
          <a:blip r:embed="rId1"/>
          <a:stretch>
            <a:fillRect/>
          </a:stretch>
        </p:blipFill>
        <p:spPr>
          <a:xfrm>
            <a:off x="521208" y="4297680"/>
            <a:ext cx="146304" cy="146304"/>
          </a:xfrm>
          <a:prstGeom prst="rect">
            <a:avLst/>
          </a:prstGeom>
        </p:spPr>
      </p:pic>
      <p:sp>
        <p:nvSpPr>
          <p:cNvPr id="9" name="Text 4"/>
          <p:cNvSpPr txBox="1"/>
          <p:nvPr/>
        </p:nvSpPr>
        <p:spPr>
          <a:xfrm>
            <a:off x="731520" y="4224528"/>
            <a:ext cx="795528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Lockout fee: high-value customer · Lockout fee: no refund (standard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Special scenarios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the miss isn't the customer's.</a:t>
            </a:r>
            <a:endParaRPr lang="en-US" sz="1200" dirty="0"/>
          </a:p>
        </p:txBody>
      </p:sp>
      <p:sp>
        <p:nvSpPr>
          <p:cNvPr id="6" name="Shape 3"/>
          <p:cNvSpPr/>
          <p:nvPr/>
        </p:nvSpPr>
        <p:spPr>
          <a:xfrm>
            <a:off x="411480" y="132588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Entry denied: CP fault or T&amp;S</a:t>
            </a:r>
            <a:endParaRPr lang="en-US" sz="1300" dirty="0"/>
          </a:p>
        </p:txBody>
      </p:sp>
      <p:sp>
        <p:nvSpPr>
          <p:cNvPr id="10" name="Text 6"/>
          <p:cNvSpPr txBox="1"/>
          <p:nvPr/>
        </p:nvSpPr>
        <p:spPr>
          <a:xfrm>
            <a:off x="5943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Admin refund the lockout fee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pay the CP $40</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Document it in internal notes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Coach the CP</a:t>
            </a:r>
            <a:endParaRPr lang="en-US" sz="1000" dirty="0"/>
          </a:p>
        </p:txBody>
      </p:sp>
      <p:sp>
        <p:nvSpPr>
          <p:cNvPr id="11" name="Shape 7"/>
          <p:cNvSpPr/>
          <p:nvPr/>
        </p:nvSpPr>
        <p:spPr>
          <a:xfrm>
            <a:off x="4640580" y="132588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Cancelled via Support, not actioned</a:t>
            </a:r>
            <a:endParaRPr lang="en-US" sz="1300" dirty="0"/>
          </a:p>
        </p:txBody>
      </p:sp>
      <p:sp>
        <p:nvSpPr>
          <p:cNvPr id="15" name="Text 10"/>
          <p:cNvSpPr txBox="1"/>
          <p:nvPr/>
        </p:nvSpPr>
        <p:spPr>
          <a:xfrm>
            <a:off x="4823460" y="203911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Don't charge the customer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or cancel on the C-side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Pay the CP via MCP, if on site and tried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Lateness doesn't matter here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Lockout pay: when the CP contacts 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Treat any lockout report as a request for lockout pay review.</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11480" y="1298448"/>
          <a:ext cx="8321040" cy="914400"/>
        </p:xfrm>
        <a:graphic>
          <a:graphicData uri="http://schemas.openxmlformats.org/drawingml/2006/table">
            <a:tbl>
              <a:tblPr/>
              <a:tblGrid>
                <a:gridCol w="3657600"/>
                <a:gridCol w="4663440"/>
              </a:tblGrid>
              <a:tr h="31089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Situation</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Outcome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Valid lockout, CP didn't submit it (didn't know how, app issue)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Pay the standard lockout amount.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66928">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Invalid lockout, but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One-time courtesy MCP: no cp_false_check_in or false invoice flags, not suspended, none in the last 90 days.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 evidence the CP was on site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pay. Explain the lockout requirements.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355848"/>
            <a:ext cx="164592" cy="164592"/>
          </a:xfrm>
          <a:prstGeom prst="rect">
            <a:avLst/>
          </a:prstGeom>
        </p:spPr>
      </p:pic>
      <p:sp>
        <p:nvSpPr>
          <p:cNvPr id="9" name="Text 4"/>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Counts as a request:  </a:t>
            </a:r>
            <a:pPr indent="0" marL="0">
              <a:buNone/>
            </a:pPr>
            <a:r>
              <a:rPr lang="en-US" sz="1000" dirty="0">
                <a:solidFill>
                  <a:srgbClr val="1D1D1F"/>
                </a:solidFill>
                <a:latin typeface="SF Pro Text" pitchFamily="34" charset="0"/>
                <a:ea typeface="SF Pro Text" pitchFamily="34" charset="-122"/>
                <a:cs typeface="SF Pro Text" pitchFamily="34" charset="-120"/>
              </a:rPr>
              <a:t>time waited, travel, gas, lost earnings, or "what happens with the job?"</a:t>
            </a:r>
            <a:endParaRPr lang="en-US" sz="1000" dirty="0"/>
          </a:p>
        </p:txBody>
      </p:sp>
      <p:sp>
        <p:nvSpPr>
          <p:cNvPr id="10" name="Shape 5"/>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11" name="Image 1" descr="preencoded.png">    </p:cNvPr>
          <p:cNvPicPr>
            <a:picLocks noChangeAspect="1"/>
          </p:cNvPicPr>
          <p:nvPr/>
        </p:nvPicPr>
        <p:blipFill>
          <a:blip r:embed="rId2"/>
          <a:stretch>
            <a:fillRect/>
          </a:stretch>
        </p:blipFill>
        <p:spPr>
          <a:xfrm>
            <a:off x="566928" y="3858768"/>
            <a:ext cx="164592" cy="164592"/>
          </a:xfrm>
          <a:prstGeom prst="rect">
            <a:avLst/>
          </a:prstGeom>
        </p:spPr>
      </p:pic>
      <p:sp>
        <p:nvSpPr>
          <p:cNvPr id="12" name="Text 6"/>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MCP over $40?  </a:t>
            </a:r>
            <a:pPr indent="0" marL="0">
              <a:buNone/>
            </a:pPr>
            <a:r>
              <a:rPr lang="en-US" sz="1000" dirty="0">
                <a:solidFill>
                  <a:srgbClr val="1D1D1F"/>
                </a:solidFill>
                <a:latin typeface="SF Pro Text" pitchFamily="34" charset="0"/>
                <a:ea typeface="SF Pro Text" pitchFamily="34" charset="-122"/>
                <a:cs typeface="SF Pro Text" pitchFamily="34" charset="-120"/>
              </a:rPr>
              <a:t>still needs Support approval.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asked the CP to reschedule 8 hours before start. The CP went anyway. Valid lockout?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 customer had already cancelled more than 6 hours before. Invalid.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arrived 45 minutes late and the customer had stepped out. Valid?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More than 30 minutes late is invalid (unless the customer had already decided).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lockout is invalid. How do you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Through the CP Dashboard, not an admin refund. Refund Premium too.</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Valid lockout, 3 invoiced jobs, wants a refund.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Credits up to 75% of the job cost, keeping $40 for the CP.</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LOCKOUT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Four questions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Wanted it? On time? At the address? Tried to get in?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Invalid? CP pays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through the CP Dashboard, not admin.</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By category</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Straight to the tier's offer. $40 CP cost stays.</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6/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Incorrect Info, LMC &amp; Lockouts</dc:title>
  <dc:subject>PptxGenJS Presentation</dc:subject>
  <dc:creator>PptxGenJS</dc:creator>
  <cp:lastModifiedBy>PptxGenJS</cp:lastModifiedBy>
  <cp:revision>1</cp:revision>
  <dcterms:created xsi:type="dcterms:W3CDTF">2026-10-06T20:15:39Z</dcterms:created>
  <dcterms:modified xsi:type="dcterms:W3CDTF">2026-10-06T20:15:39Z</dcterms:modified>
</cp:coreProperties>
</file>