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details are hidden when the slide opens.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22.xml"/><Relationship Id="rId2" Type="http://schemas.openxmlformats.org/officeDocument/2006/relationships/slide" Target="slide22.xml"/><Relationship Id="rId3"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2048256"/>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2048256"/>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Text 33"/>
          <p:cNvSpPr txBox="1"/>
          <p:nvPr/>
        </p:nvSpPr>
        <p:spPr>
          <a:xfrm>
            <a:off x="4233672" y="2551176"/>
            <a:ext cx="1783080" cy="228600"/>
          </a:xfrm>
          <a:prstGeom prst="rect">
            <a:avLst/>
          </a:prstGeom>
          <a:noFill/>
          <a:ln/>
        </p:spPr>
        <p:txBody>
          <a:bodyPr wrap="square" lIns="0" tIns="0" rIns="0" bIns="0" rtlCol="0" anchor="t"/>
          <a:lstStyle/>
          <a:p>
            <a:pPr algn="ctr" indent="0" marL="0">
              <a:buNone/>
            </a:pPr>
            <a:r>
              <a:rPr lang="en-US" sz="800" b="1" dirty="0">
                <a:solidFill>
                  <a:srgbClr val="1D1D1F"/>
                </a:solidFill>
                <a:latin typeface="SF Pro Text" pitchFamily="34" charset="0"/>
                <a:ea typeface="SF Pro Text" pitchFamily="34" charset="-122"/>
                <a:cs typeface="SF Pro Text" pitchFamily="34" charset="-120"/>
              </a:rPr>
              <a:t>Also refund the Premium fee, if any.</a:t>
            </a:r>
            <a:endParaRPr lang="en-US" sz="800" dirty="0"/>
          </a:p>
        </p:txBody>
      </p:sp>
      <p:sp>
        <p:nvSpPr>
          <p:cNvPr id="37" name="Shape 34"/>
          <p:cNvSpPr/>
          <p:nvPr/>
        </p:nvSpPr>
        <p:spPr>
          <a:xfrm>
            <a:off x="1600200" y="3218688"/>
            <a:ext cx="0" cy="128016"/>
          </a:xfrm>
          <a:prstGeom prst="line">
            <a:avLst/>
          </a:prstGeom>
          <a:noFill/>
          <a:ln w="12700">
            <a:solidFill>
              <a:srgbClr val="6E6E73"/>
            </a:solidFill>
            <a:prstDash val="solid"/>
            <a:tailEnd type="triangle"/>
          </a:ln>
        </p:spPr>
      </p:sp>
      <p:sp>
        <p:nvSpPr>
          <p:cNvPr id="38" name="Text 35"/>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39" name="Shape 36">
            <a:hlinkClick r:id="rId1"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0" name="Text 37">
            <a:hlinkClick r:id="rId2"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1" name="Shape 38"/>
          <p:cNvSpPr/>
          <p:nvPr/>
        </p:nvSpPr>
        <p:spPr>
          <a:xfrm>
            <a:off x="5852160" y="1298448"/>
            <a:ext cx="2880360" cy="2432304"/>
          </a:xfrm>
          <a:prstGeom prst="roundRect">
            <a:avLst>
              <a:gd name="adj" fmla="val 3008"/>
            </a:avLst>
          </a:prstGeom>
          <a:solidFill>
            <a:srgbClr val="FFF3D6"/>
          </a:solidFill>
          <a:ln w="9525">
            <a:solidFill>
              <a:srgbClr val="9A6410"/>
            </a:solidFill>
            <a:prstDash val="solid"/>
          </a:ln>
        </p:spPr>
      </p:sp>
      <p:pic>
        <p:nvPicPr>
          <p:cNvPr id="42" name="Image 0" descr="preencoded.png">    </p:cNvPr>
          <p:cNvPicPr>
            <a:picLocks noChangeAspect="1"/>
          </p:cNvPicPr>
          <p:nvPr/>
        </p:nvPicPr>
        <p:blipFill>
          <a:blip r:embed="rId3"/>
          <a:stretch>
            <a:fillRect/>
          </a:stretch>
        </p:blipFill>
        <p:spPr>
          <a:xfrm>
            <a:off x="6016752" y="1481328"/>
            <a:ext cx="182880" cy="182880"/>
          </a:xfrm>
          <a:prstGeom prst="rect">
            <a:avLst/>
          </a:prstGeom>
        </p:spPr>
      </p:pic>
      <p:sp>
        <p:nvSpPr>
          <p:cNvPr id="43" name="Text 39"/>
          <p:cNvSpPr txBox="1"/>
          <p:nvPr/>
        </p:nvSpPr>
        <p:spPr>
          <a:xfrm>
            <a:off x="6263640" y="1435608"/>
            <a:ext cx="2331720" cy="274320"/>
          </a:xfrm>
          <a:prstGeom prst="rect">
            <a:avLst/>
          </a:prstGeom>
          <a:noFill/>
          <a:ln/>
        </p:spPr>
        <p:txBody>
          <a:bodyPr wrap="square" lIns="0" tIns="0" rIns="0" bIns="0" rtlCol="0" anchor="ctr"/>
          <a:lstStyle/>
          <a:p>
            <a:pPr indent="0" marL="0">
              <a:buNone/>
            </a:pPr>
            <a:r>
              <a:rPr lang="en-US" sz="1150" b="1" dirty="0">
                <a:solidFill>
                  <a:srgbClr val="9A6410"/>
                </a:solidFill>
                <a:latin typeface="SF Pro Display" pitchFamily="34" charset="0"/>
                <a:ea typeface="SF Pro Display" pitchFamily="34" charset="-122"/>
                <a:cs typeface="SF Pro Display" pitchFamily="34" charset="-120"/>
              </a:rPr>
              <a:t>Important</a:t>
            </a:r>
            <a:endParaRPr lang="en-US" sz="1150" dirty="0"/>
          </a:p>
        </p:txBody>
      </p:sp>
      <p:sp>
        <p:nvSpPr>
          <p:cNvPr id="44" name="Text 40"/>
          <p:cNvSpPr txBox="1"/>
          <p:nvPr/>
        </p:nvSpPr>
        <p:spPr>
          <a:xfrm>
            <a:off x="6016752" y="1801368"/>
            <a:ext cx="2551176" cy="1792224"/>
          </a:xfrm>
          <a:prstGeom prst="rect">
            <a:avLst/>
          </a:prstGeom>
          <a:noFill/>
          <a:ln/>
        </p:spPr>
        <p:txBody>
          <a:bodyPr wrap="square" lIns="0" tIns="0" rIns="0" bIns="0" rtlCol="0" anchor="t"/>
          <a:lstStyle/>
          <a:p>
            <a:pPr indent="0" marL="0">
              <a:spcAft>
                <a:spcPts val="400"/>
              </a:spcAft>
              <a:buNone/>
            </a:pPr>
            <a:r>
              <a:rPr lang="en-US" sz="950" dirty="0">
                <a:solidFill>
                  <a:srgbClr val="1D1D1F"/>
                </a:solidFill>
                <a:latin typeface="SF Pro Text" pitchFamily="34" charset="0"/>
                <a:ea typeface="SF Pro Text" pitchFamily="34" charset="-122"/>
                <a:cs typeface="SF Pro Text" pitchFamily="34" charset="-120"/>
              </a:rPr>
              <a:t>These requirements may be disregarded if the CP claims that the C did not let them in or wanted to cancel upon their arrival. If this is the case, check for other indicators proving that CP did arrive on time at the C’s location.</a:t>
            </a:r>
            <a:endParaRPr lang="en-US" sz="950" dirty="0"/>
          </a:p>
        </p:txBody>
      </p:sp>
      <p:sp>
        <p:nvSpPr>
          <p:cNvPr id="45"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6"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47"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48"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49"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1"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2"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3"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5"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56"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57"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59"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0"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61" name="Shape 57"/>
          <p:cNvSpPr/>
          <p:nvPr/>
        </p:nvSpPr>
        <p:spPr>
          <a:xfrm>
            <a:off x="411480" y="3840480"/>
            <a:ext cx="8321040" cy="713232"/>
          </a:xfrm>
          <a:prstGeom prst="roundRect">
            <a:avLst>
              <a:gd name="adj" fmla="val 10256"/>
            </a:avLst>
          </a:prstGeom>
          <a:solidFill>
            <a:srgbClr val="FFF3D6"/>
          </a:solidFill>
          <a:ln w="9525">
            <a:solidFill>
              <a:srgbClr val="FFF3D6"/>
            </a:solidFill>
            <a:prstDash val="solid"/>
          </a:ln>
        </p:spPr>
      </p:sp>
      <p:pic>
        <p:nvPicPr>
          <p:cNvPr id="62" name="Image 1"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63" name="Text 58"/>
          <p:cNvSpPr txBox="1"/>
          <p:nvPr/>
        </p:nvSpPr>
        <p:spPr>
          <a:xfrm>
            <a:off x="822960" y="3922776"/>
            <a:ext cx="7772400" cy="585216"/>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b="1"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a:p>
            <a:pPr indent="0" marL="0">
              <a:buNone/>
            </a:pPr>
            <a:r>
              <a:rPr lang="en-US" sz="800" b="1" dirty="0">
                <a:solidFill>
                  <a:srgbClr val="1D1D1F"/>
                </a:solidFill>
                <a:latin typeface="SF Pro Text" pitchFamily="34" charset="0"/>
                <a:ea typeface="SF Pro Text" pitchFamily="34" charset="-122"/>
                <a:cs typeface="SF Pro Text" pitchFamily="34" charset="-120"/>
              </a:rPr>
              <a:t>Job ID 45371</a:t>
            </a:r>
            <a:endParaRPr lang="en-US" sz="1000" dirty="0"/>
          </a:p>
          <a:p>
            <a:pPr indent="0" marL="0">
              <a:buNone/>
            </a:pPr>
            <a:r>
              <a:rPr lang="en-US" sz="800" b="1" dirty="0">
                <a:solidFill>
                  <a:srgbClr val="1D1D1F"/>
                </a:solidFill>
                <a:latin typeface="SF Pro Text" pitchFamily="34" charset="0"/>
                <a:ea typeface="SF Pro Text" pitchFamily="34" charset="-122"/>
                <a:cs typeface="SF Pro Text" pitchFamily="34" charset="-120"/>
              </a:rPr>
              <a:t>Invalid Lockout</a:t>
            </a:r>
            <a:endParaRPr lang="en-US" sz="1000" dirty="0"/>
          </a:p>
          <a:p>
            <a:pPr indent="0" marL="0">
              <a:buNone/>
            </a:pPr>
            <a:r>
              <a:rPr lang="en-US" sz="80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600"/>
                                        <p:tgtEl>
                                          <p:spTgt spid="4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600"/>
                                        <p:tgtEl>
                                          <p:spTgt spid="4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600"/>
                                        <p:tgtEl>
                                          <p:spTgt spid="4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600"/>
                                        <p:tgtEl>
                                          <p:spTgt spid="48"/>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46"/>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47"/>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48"/>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49"/>
                                        </p:tgtEl>
                                        <p:attrNameLst>
                                          <p:attrName>style.visibility</p:attrName>
                                        </p:attrNameLst>
                                      </p:cBhvr>
                                      <p:to>
                                        <p:strVal val="visible"/>
                                      </p:to>
                                    </p:set>
                                    <p:animEffect transition="in" filter="fade">
                                      <p:cBhvr>
                                        <p:cTn id="33" dur="600"/>
                                        <p:tgtEl>
                                          <p:spTgt spid="4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0"/>
                                        </p:tgtEl>
                                        <p:attrNameLst>
                                          <p:attrName>style.visibility</p:attrName>
                                        </p:attrNameLst>
                                      </p:cBhvr>
                                      <p:to>
                                        <p:strVal val="visible"/>
                                      </p:to>
                                    </p:set>
                                    <p:animEffect transition="in" filter="fade">
                                      <p:cBhvr>
                                        <p:cTn id="36" dur="600"/>
                                        <p:tgtEl>
                                          <p:spTgt spid="5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fade">
                                      <p:cBhvr>
                                        <p:cTn id="39" dur="600"/>
                                        <p:tgtEl>
                                          <p:spTgt spid="5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fade">
                                      <p:cBhvr>
                                        <p:cTn id="42" dur="600"/>
                                        <p:tgtEl>
                                          <p:spTgt spid="52"/>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49"/>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0"/>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1"/>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2"/>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3"/>
                                        </p:tgtEl>
                                        <p:attrNameLst>
                                          <p:attrName>style.visibility</p:attrName>
                                        </p:attrNameLst>
                                      </p:cBhvr>
                                      <p:to>
                                        <p:strVal val="visible"/>
                                      </p:to>
                                    </p:set>
                                    <p:animEffect transition="in" filter="fade">
                                      <p:cBhvr>
                                        <p:cTn id="59" dur="600"/>
                                        <p:tgtEl>
                                          <p:spTgt spid="5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4"/>
                                        </p:tgtEl>
                                        <p:attrNameLst>
                                          <p:attrName>style.visibility</p:attrName>
                                        </p:attrNameLst>
                                      </p:cBhvr>
                                      <p:to>
                                        <p:strVal val="visible"/>
                                      </p:to>
                                    </p:set>
                                    <p:animEffect transition="in" filter="fade">
                                      <p:cBhvr>
                                        <p:cTn id="62" dur="600"/>
                                        <p:tgtEl>
                                          <p:spTgt spid="5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5"/>
                                        </p:tgtEl>
                                        <p:attrNameLst>
                                          <p:attrName>style.visibility</p:attrName>
                                        </p:attrNameLst>
                                      </p:cBhvr>
                                      <p:to>
                                        <p:strVal val="visible"/>
                                      </p:to>
                                    </p:set>
                                    <p:animEffect transition="in" filter="fade">
                                      <p:cBhvr>
                                        <p:cTn id="65" dur="600"/>
                                        <p:tgtEl>
                                          <p:spTgt spid="5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6"/>
                                        </p:tgtEl>
                                        <p:attrNameLst>
                                          <p:attrName>style.visibility</p:attrName>
                                        </p:attrNameLst>
                                      </p:cBhvr>
                                      <p:to>
                                        <p:strVal val="visible"/>
                                      </p:to>
                                    </p:set>
                                    <p:animEffect transition="in" filter="fade">
                                      <p:cBhvr>
                                        <p:cTn id="68" dur="600"/>
                                        <p:tgtEl>
                                          <p:spTgt spid="56"/>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3"/>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4"/>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5"/>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56"/>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600"/>
                                        <p:tgtEl>
                                          <p:spTgt spid="5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8"/>
                                        </p:tgtEl>
                                        <p:attrNameLst>
                                          <p:attrName>style.visibility</p:attrName>
                                        </p:attrNameLst>
                                      </p:cBhvr>
                                      <p:to>
                                        <p:strVal val="visible"/>
                                      </p:to>
                                    </p:set>
                                    <p:animEffect transition="in" filter="fade">
                                      <p:cBhvr>
                                        <p:cTn id="88" dur="600"/>
                                        <p:tgtEl>
                                          <p:spTgt spid="5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9"/>
                                        </p:tgtEl>
                                        <p:attrNameLst>
                                          <p:attrName>style.visibility</p:attrName>
                                        </p:attrNameLst>
                                      </p:cBhvr>
                                      <p:to>
                                        <p:strVal val="visible"/>
                                      </p:to>
                                    </p:set>
                                    <p:animEffect transition="in" filter="fade">
                                      <p:cBhvr>
                                        <p:cTn id="91" dur="600"/>
                                        <p:tgtEl>
                                          <p:spTgt spid="5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0"/>
                                        </p:tgtEl>
                                        <p:attrNameLst>
                                          <p:attrName>style.visibility</p:attrName>
                                        </p:attrNameLst>
                                      </p:cBhvr>
                                      <p:to>
                                        <p:strVal val="visible"/>
                                      </p:to>
                                    </p:set>
                                    <p:animEffect transition="in" filter="fade">
                                      <p:cBhvr>
                                        <p:cTn id="94" dur="600"/>
                                        <p:tgtEl>
                                          <p:spTgt spid="60"/>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57"/>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58"/>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59"/>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5" grpId="1" animBg="1"/>
      <p:bldP spid="46" grpId="1" animBg="1"/>
      <p:bldP spid="47" grpId="1" animBg="1"/>
      <p:bldP spid="48" grpId="1" animBg="1"/>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2026-10-07T13:26:00Z</dcterms:created>
  <dcterms:modified xsi:type="dcterms:W3CDTF">2026-10-07T13:26:00Z</dcterms:modified>
</cp:coreProperties>
</file>