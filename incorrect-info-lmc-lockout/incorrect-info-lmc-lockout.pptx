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 ON THE SLIDE: first, the message customers see when the date and time they pick incurs a Priority Fee ("This time is a high-demand date &amp; time for cleaners. Priority rates may apply."). Second, how the charge shows on the Job Admin page: the + PriorityMarkup line in the Base breakdown (here $23.50/hr), and the 15% processing fee in the Txn Fee column. TRAINER: the screenshots are hidden when the slide opens. Click once (What the customer sees when booking) to show the booking prompt, click again (How it shows in Job Admin) to swap to the Job Admin screenshot, and click a third time to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the account history first. Before saying anything to the customer about a resolution, ask one question: why did the customer end up in the priority window? Their own scheduling choice, or because Homeaglow or the CP forced them into it? C-fault (the customer chose the window: booked or rescheduled within 48 hours on their own, or picked a high-demand date, and nothing on our side drove it): the fee stands. Explain the policy plainly and offer up to 100% of the Priority Fee in account credits as a courtesy. Treat 100% as a ceiling, not your starting point: base the amount on the customer's history and how the conversation is going, and position it as a goodwill gesture, not "we got this wrong". Macro: Priority Fee: Issue Credits up to 100% of the Priority Fee. CP/Platform fault (Homeaglow or the CP caused the priority window): refund the full Priority Fee and the associated 15% processing fee to the original payment method, and acknowledge specifically what happened (e.g. "your last cleaner cancelled on short notice"). Macro: Priority Fee Refunded. The two paths are mutually exclusive: never refund and credit the same fee unless a supervisor approves. Not sure which? Escalate. 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 Check for repeat Priority Fee disputes on the same account before offering courtesy credits again. TRAINER: the scenarios are hidden when the slide opens. Click once (Scenarios) to open the box with scenario 1, then click to add scenarios 2, 3 and 4 one at a time; the fifth click closes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Homeaglow properly set expectations: explain that the Processing Fee is a standard charge included in every cleaning. Keep it neutral; don't imply it was charged incorrectly. If they only wanted clarification, the explanation is enough. If they're still unhappy but staying, you may issue a one-time $10 or $20 account credit as goodwill (use your judgment). Never issue a credit equal to the Processing Fee itself: that implies the fee was inappropriate. If they specifically want cash back instead of credits, or will cancel unless refunded, you may issue a $10 or $20 partial refund instead. Set clear expectations that the fee is standard and ongoing: this is a one-time exception, not a waiver. Homeaglow failed to set proper expectations: refund the Processing Fee in full to the original payment method, and acknowledge the specific expectation-setting issue without suggesting the fee is generally invalid. If they no longer want their ForeverClean membership because of it, waive the ETF when processing the cancellation.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customer's concern is paying the Processing Fee on future bookings rather than this specific charge, move into the appropriate retention flow. Offer a $10–$15 Membership Fee reduction. If the situation calls for more, escalate to Support or a TL, who can approve reductions of up to 50%. Things to watch for: don't investigate whether the Processing Fee is generally valid (it's standard pricing); investigate why the customer is contesting it and whether we set expectations properly; goodwill acknowledges the experience, it doesn't mean the fee was wrong; never credit the exact fee amount; if we failed to disclose it, refund it in full; if they cancel FC because of our misrepresentation, waive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6.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32.xml"/><Relationship Id="rId14" Type="http://schemas.openxmlformats.org/officeDocument/2006/relationships/slide" Target="slide32.xml"/><Relationship Id="rId15" Type="http://schemas.openxmlformats.org/officeDocument/2006/relationships/slide" Target="slide32.xml"/><Relationship Id="rId16" Type="http://schemas.openxmlformats.org/officeDocument/2006/relationships/slide" Target="slide38.xml"/><Relationship Id="rId17" Type="http://schemas.openxmlformats.org/officeDocument/2006/relationships/slide" Target="slide38.xml"/><Relationship Id="rId18" Type="http://schemas.openxmlformats.org/officeDocument/2006/relationships/slide" Target="slide38.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2.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2.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 </a:t>
                      </a:r>
                      <a:pPr indent="0" marL="0">
                        <a:buNone/>
                      </a:pPr>
                      <a:r>
                        <a:rPr lang="en-US" sz="800" b="1" dirty="0">
                          <a:solidFill>
                            <a:srgbClr val="0B7A6F"/>
                          </a:solidFill>
                          <a:latin typeface="SF Pro Text" pitchFamily="34" charset="0"/>
                          <a:ea typeface="SF Pro Text" pitchFamily="34" charset="-122"/>
                          <a:cs typeface="SF Pro Text" pitchFamily="34" charset="-120"/>
                        </a:rPr>
                        <a:t>▷ Watch &amp; Learn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298448"/>
            <a:ext cx="4091940" cy="1051560"/>
          </a:xfrm>
          <a:prstGeom prst="roundRect">
            <a:avLst>
              <a:gd name="adj" fmla="val 6957"/>
            </a:avLst>
          </a:prstGeom>
          <a:solidFill>
            <a:srgbClr val="FFFFFF"/>
          </a:solidFill>
          <a:ln w="9525">
            <a:solidFill>
              <a:srgbClr val="DCE1E7"/>
            </a:solidFill>
            <a:prstDash val="solid"/>
          </a:ln>
        </p:spPr>
      </p:sp>
      <p:sp>
        <p:nvSpPr>
          <p:cNvPr id="7" name="Text 4"/>
          <p:cNvSpPr txBox="1"/>
          <p:nvPr/>
        </p:nvSpPr>
        <p:spPr>
          <a:xfrm>
            <a:off x="4114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&lt; 48 hrs</a:t>
            </a:r>
            <a:endParaRPr lang="en-US" sz="2800" dirty="0"/>
          </a:p>
        </p:txBody>
      </p:sp>
      <p:sp>
        <p:nvSpPr>
          <p:cNvPr id="8" name="Text 5"/>
          <p:cNvSpPr txBox="1"/>
          <p:nvPr/>
        </p:nvSpPr>
        <p:spPr>
          <a:xfrm>
            <a:off x="5943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1000" dirty="0"/>
          </a:p>
        </p:txBody>
      </p:sp>
      <p:sp>
        <p:nvSpPr>
          <p:cNvPr id="9" name="Shape 6"/>
          <p:cNvSpPr/>
          <p:nvPr/>
        </p:nvSpPr>
        <p:spPr>
          <a:xfrm>
            <a:off x="4640580" y="1298448"/>
            <a:ext cx="4091940" cy="1051560"/>
          </a:xfrm>
          <a:prstGeom prst="roundRect">
            <a:avLst>
              <a:gd name="adj" fmla="val 6957"/>
            </a:avLst>
          </a:prstGeom>
          <a:solidFill>
            <a:srgbClr val="FFFFFF"/>
          </a:solidFill>
          <a:ln w="9525">
            <a:solidFill>
              <a:srgbClr val="DCE1E7"/>
            </a:solidFill>
            <a:prstDash val="solid"/>
          </a:ln>
        </p:spPr>
      </p:sp>
      <p:sp>
        <p:nvSpPr>
          <p:cNvPr id="10" name="Text 7"/>
          <p:cNvSpPr txBox="1"/>
          <p:nvPr/>
        </p:nvSpPr>
        <p:spPr>
          <a:xfrm>
            <a:off x="46405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+ 15%</a:t>
            </a:r>
            <a:endParaRPr lang="en-US" sz="2800" dirty="0"/>
          </a:p>
        </p:txBody>
      </p:sp>
      <p:sp>
        <p:nvSpPr>
          <p:cNvPr id="11" name="Text 8"/>
          <p:cNvSpPr txBox="1"/>
          <p:nvPr/>
        </p:nvSpPr>
        <p:spPr>
          <a:xfrm>
            <a:off x="48234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Processing fee charged on top of the Priority Fee</a:t>
            </a:r>
            <a:endParaRPr lang="en-US" sz="1000" dirty="0"/>
          </a:p>
        </p:txBody>
      </p:sp>
      <p:sp>
        <p:nvSpPr>
          <p:cNvPr id="12" name="Text 9"/>
          <p:cNvSpPr/>
          <p:nvPr/>
        </p:nvSpPr>
        <p:spPr>
          <a:xfrm>
            <a:off x="9029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What the customer sees when booking</a:t>
            </a:r>
            <a:endParaRPr lang="en-US" sz="1000" dirty="0"/>
          </a:p>
        </p:txBody>
      </p:sp>
      <p:sp>
        <p:nvSpPr>
          <p:cNvPr id="13" name="Text 10"/>
          <p:cNvSpPr/>
          <p:nvPr/>
        </p:nvSpPr>
        <p:spPr>
          <a:xfrm>
            <a:off x="51320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How it shows in Job Admin</a:t>
            </a:r>
            <a:endParaRPr lang="en-US" sz="1000" dirty="0"/>
          </a:p>
        </p:txBody>
      </p:sp>
      <p:sp>
        <p:nvSpPr>
          <p:cNvPr id="14" name="Shape 11"/>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16" name="Text 12"/>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pPr indent="0" marL="0">
              <a:buNone/>
            </a:pP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17" name="pop1_2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18" name="pop1_2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What the customer sees when booking</a:t>
            </a:r>
            <a:endParaRPr lang="en-US" sz="1200" dirty="0"/>
          </a:p>
        </p:txBody>
      </p:sp>
      <p:pic>
        <p:nvPicPr>
          <p:cNvPr id="19" name="pop1_2Img" descr="/tmp/claude-0/-workspace-training/3ce5cff6-cccf-5f33-b0ee-0b147a55120e/scratchpad/img6/priority_prompt.png">    </p:cNvPr>
          <p:cNvPicPr>
            <a:picLocks noChangeAspect="1"/>
          </p:cNvPicPr>
          <p:nvPr/>
        </p:nvPicPr>
        <p:blipFill>
          <a:blip r:embed="rId2"/>
          <a:stretch>
            <a:fillRect/>
          </a:stretch>
        </p:blipFill>
        <p:spPr>
          <a:xfrm>
            <a:off x="1651960" y="1755648"/>
            <a:ext cx="5840080" cy="2779776"/>
          </a:xfrm>
          <a:prstGeom prst="rect">
            <a:avLst/>
          </a:prstGeom>
        </p:spPr>
      </p:pic>
      <p:sp>
        <p:nvSpPr>
          <p:cNvPr id="20" name="pop1_2Frame"/>
          <p:cNvSpPr/>
          <p:nvPr/>
        </p:nvSpPr>
        <p:spPr>
          <a:xfrm>
            <a:off x="1651960" y="1755648"/>
            <a:ext cx="5840080" cy="2779776"/>
          </a:xfrm>
          <a:prstGeom prst="rect">
            <a:avLst/>
          </a:prstGeom>
          <a:ln w="9525">
            <a:solidFill>
              <a:srgbClr val="DCE1E7"/>
            </a:solidFill>
            <a:prstDash val="solid"/>
          </a:ln>
        </p:spPr>
      </p:sp>
      <p:sp>
        <p:nvSpPr>
          <p:cNvPr id="21" name="pop2_3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2" name="pop2_3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How it shows in Job Admin</a:t>
            </a:r>
            <a:endParaRPr lang="en-US" sz="1200" dirty="0"/>
          </a:p>
        </p:txBody>
      </p:sp>
      <p:pic>
        <p:nvPicPr>
          <p:cNvPr id="23" name="pop2_3Img" descr="/tmp/claude-0/-workspace-training/3ce5cff6-cccf-5f33-b0ee-0b147a55120e/scratchpad/img6/priority_crm.png">    </p:cNvPr>
          <p:cNvPicPr>
            <a:picLocks noChangeAspect="1"/>
          </p:cNvPicPr>
          <p:nvPr/>
        </p:nvPicPr>
        <p:blipFill>
          <a:blip r:embed="rId3"/>
          <a:stretch>
            <a:fillRect/>
          </a:stretch>
        </p:blipFill>
        <p:spPr>
          <a:xfrm>
            <a:off x="1123670" y="1755648"/>
            <a:ext cx="6896659" cy="2779776"/>
          </a:xfrm>
          <a:prstGeom prst="rect">
            <a:avLst/>
          </a:prstGeom>
        </p:spPr>
      </p:pic>
      <p:sp>
        <p:nvSpPr>
          <p:cNvPr id="24" name="pop2_3Frame"/>
          <p:cNvSpPr/>
          <p:nvPr/>
        </p:nvSpPr>
        <p:spPr>
          <a:xfrm>
            <a:off x="1123670" y="1755648"/>
            <a:ext cx="6896659" cy="2779776"/>
          </a:xfrm>
          <a:prstGeom prst="rect">
            <a:avLst/>
          </a:prstGeom>
          <a:ln w="9525">
            <a:solidFill>
              <a:srgbClr val="DCE1E7"/>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6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7"/>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6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6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6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600"/>
                                        <p:tgtEl>
                                          <p:spTgt spid="24"/>
                                        </p:tgtEl>
                                      </p:cBhvr>
                                    </p:animEffect>
                                  </p:childTnLst>
                                </p:cTn>
                              </p:par>
                            </p:childTnLst>
                          </p:cTn>
                        </p:par>
                      </p:childTnLst>
                    </p:cTn>
                  </p:par>
                  <p:par>
                    <p:cTn id="55" fill="hold">
                      <p:stCondLst>
                        <p:cond delay="indefinite"/>
                      </p:stCondLst>
                      <p:childTnLst>
                        <p:par>
                          <p:cTn id="56"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1"/>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22"/>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23"/>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17" grpId="1" animBg="1"/>
      <p:bldP spid="18" grpId="1" animBg="1"/>
      <p:bldP spid="20" grpId="1" animBg="1"/>
      <p:bldP spid="21" grpId="0" animBg="1"/>
      <p:bldP spid="22" grpId="0" animBg="1"/>
      <p:bldP spid="24" grpId="0" animBg="1"/>
      <p:bldP spid="21" grpId="1" animBg="1"/>
      <p:bldP spid="22" grpId="1" animBg="1"/>
      <p:bldP spid="2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job history. 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booked/rescheduled: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booked/rescheduled: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pPr indent="0" marL="0">
              <a:buNone/>
            </a:pP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Decision flow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Investigate and determine why the customer ended up in the priority window.</a:t>
            </a:r>
            <a:endParaRPr lang="en-US" sz="1200" dirty="0"/>
          </a:p>
        </p:txBody>
      </p:sp>
      <p:sp>
        <p:nvSpPr>
          <p:cNvPr id="6" name="Shape 3"/>
          <p:cNvSpPr/>
          <p:nvPr/>
        </p:nvSpPr>
        <p:spPr>
          <a:xfrm>
            <a:off x="2834640" y="1298448"/>
            <a:ext cx="3474720" cy="438912"/>
          </a:xfrm>
          <a:prstGeom prst="roundRect">
            <a:avLst>
              <a:gd name="adj" fmla="val 16667"/>
            </a:avLst>
          </a:prstGeom>
          <a:solidFill>
            <a:srgbClr val="0B7A6F"/>
          </a:solidFill>
          <a:ln w="12700">
            <a:solidFill>
              <a:srgbClr val="0B7A6F"/>
            </a:solidFill>
            <a:prstDash val="solid"/>
          </a:ln>
        </p:spPr>
      </p:sp>
      <p:sp>
        <p:nvSpPr>
          <p:cNvPr id="7" name="Text 4"/>
          <p:cNvSpPr txBox="1"/>
          <p:nvPr/>
        </p:nvSpPr>
        <p:spPr>
          <a:xfrm>
            <a:off x="2834640" y="1298448"/>
            <a:ext cx="3474720" cy="43891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PRIORITY FEE: refund request</a:t>
            </a:r>
            <a:endParaRPr lang="en-US" sz="1000" dirty="0"/>
          </a:p>
        </p:txBody>
      </p:sp>
      <p:sp>
        <p:nvSpPr>
          <p:cNvPr id="8" name="Shape 5"/>
          <p:cNvSpPr/>
          <p:nvPr/>
        </p:nvSpPr>
        <p:spPr>
          <a:xfrm>
            <a:off x="4572000" y="1737360"/>
            <a:ext cx="0" cy="128016"/>
          </a:xfrm>
          <a:prstGeom prst="line">
            <a:avLst/>
          </a:prstGeom>
          <a:noFill/>
          <a:ln w="12700">
            <a:solidFill>
              <a:srgbClr val="6E6E73"/>
            </a:solidFill>
            <a:prstDash val="solid"/>
          </a:ln>
        </p:spPr>
      </p:sp>
      <p:sp>
        <p:nvSpPr>
          <p:cNvPr id="9" name="Shape 6"/>
          <p:cNvSpPr/>
          <p:nvPr/>
        </p:nvSpPr>
        <p:spPr>
          <a:xfrm>
            <a:off x="2331720" y="1865376"/>
            <a:ext cx="4480560" cy="0"/>
          </a:xfrm>
          <a:prstGeom prst="line">
            <a:avLst/>
          </a:prstGeom>
          <a:noFill/>
          <a:ln w="12700">
            <a:solidFill>
              <a:srgbClr val="6E6E73"/>
            </a:solidFill>
            <a:prstDash val="solid"/>
          </a:ln>
        </p:spPr>
      </p:sp>
      <p:sp>
        <p:nvSpPr>
          <p:cNvPr id="10" name="Shape 7"/>
          <p:cNvSpPr/>
          <p:nvPr/>
        </p:nvSpPr>
        <p:spPr>
          <a:xfrm>
            <a:off x="2331720" y="1865376"/>
            <a:ext cx="0" cy="128016"/>
          </a:xfrm>
          <a:prstGeom prst="line">
            <a:avLst/>
          </a:prstGeom>
          <a:noFill/>
          <a:ln w="12700">
            <a:solidFill>
              <a:srgbClr val="6E6E73"/>
            </a:solidFill>
            <a:prstDash val="solid"/>
            <a:tailEnd type="triangle"/>
          </a:ln>
        </p:spPr>
      </p:sp>
      <p:sp>
        <p:nvSpPr>
          <p:cNvPr id="11" name="Shape 8"/>
          <p:cNvSpPr/>
          <p:nvPr/>
        </p:nvSpPr>
        <p:spPr>
          <a:xfrm>
            <a:off x="6812280" y="1865376"/>
            <a:ext cx="0" cy="128016"/>
          </a:xfrm>
          <a:prstGeom prst="line">
            <a:avLst/>
          </a:prstGeom>
          <a:noFill/>
          <a:ln w="12700">
            <a:solidFill>
              <a:srgbClr val="6E6E73"/>
            </a:solidFill>
            <a:prstDash val="solid"/>
            <a:tailEnd type="triangle"/>
          </a:ln>
        </p:spPr>
      </p:sp>
      <p:sp>
        <p:nvSpPr>
          <p:cNvPr id="12" name="Text 9"/>
          <p:cNvSpPr txBox="1"/>
          <p:nvPr/>
        </p:nvSpPr>
        <p:spPr>
          <a:xfrm>
            <a:off x="2404872" y="1883664"/>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83664"/>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p:nvPr/>
        </p:nvSpPr>
        <p:spPr>
          <a:xfrm>
            <a:off x="1325880" y="1993392"/>
            <a:ext cx="2011680" cy="384048"/>
          </a:xfrm>
          <a:prstGeom prst="roundRect">
            <a:avLst>
              <a:gd name="adj" fmla="val 19048"/>
            </a:avLst>
          </a:prstGeom>
          <a:solidFill>
            <a:srgbClr val="FFF3D6"/>
          </a:solidFill>
          <a:ln w="15875">
            <a:solidFill>
              <a:srgbClr val="9A6410"/>
            </a:solidFill>
          </a:ln>
        </p:spPr>
        <p:txBody>
          <a:bodyPr wrap="square" rtlCol="0" anchor="ctr"/>
          <a:lstStyle/>
          <a:p>
            <a:pPr algn="ctr" indent="0" marL="0">
              <a:buNone/>
            </a:pPr>
            <a:r>
              <a:rPr lang="en-US" sz="1100" b="1" dirty="0">
                <a:solidFill>
                  <a:srgbClr val="9A6410"/>
                </a:solidFill>
                <a:latin typeface="SF Pro Display" pitchFamily="34" charset="0"/>
                <a:ea typeface="SF Pro Display" pitchFamily="34" charset="-122"/>
                <a:cs typeface="SF Pro Display" pitchFamily="34" charset="-120"/>
              </a:rPr>
              <a:t>C-fault</a:t>
            </a:r>
            <a:endParaRPr lang="en-US" sz="1100" dirty="0"/>
          </a:p>
        </p:txBody>
      </p:sp>
      <p:sp>
        <p:nvSpPr>
          <p:cNvPr id="15" name="Text 12"/>
          <p:cNvSpPr/>
          <p:nvPr/>
        </p:nvSpPr>
        <p:spPr>
          <a:xfrm>
            <a:off x="5806440" y="1993392"/>
            <a:ext cx="2011680" cy="384048"/>
          </a:xfrm>
          <a:prstGeom prst="roundRect">
            <a:avLst>
              <a:gd name="adj" fmla="val 19048"/>
            </a:avLst>
          </a:prstGeom>
          <a:solidFill>
            <a:srgbClr val="1D1D1F"/>
          </a:solidFill>
          <a:ln w="12700">
            <a:solidFill>
              <a:srgbClr val="1D1D1F"/>
            </a:solidFill>
          </a:ln>
        </p:spPr>
        <p:txBody>
          <a:bodyPr wrap="square" rtlCol="0" anchor="ctr"/>
          <a:lstStyle/>
          <a:p>
            <a:pPr algn="ctr" indent="0" marL="0">
              <a:buNone/>
            </a:pPr>
            <a:r>
              <a:rPr lang="en-US" sz="1100" b="1" dirty="0">
                <a:solidFill>
                  <a:srgbClr val="FFFFFF"/>
                </a:solidFill>
                <a:latin typeface="SF Pro Display" pitchFamily="34" charset="0"/>
                <a:ea typeface="SF Pro Display" pitchFamily="34" charset="-122"/>
                <a:cs typeface="SF Pro Display" pitchFamily="34" charset="-120"/>
              </a:rPr>
              <a:t>CP/Platform fault</a:t>
            </a:r>
            <a:endParaRPr lang="en-US" sz="1100" dirty="0"/>
          </a:p>
        </p:txBody>
      </p:sp>
      <p:sp>
        <p:nvSpPr>
          <p:cNvPr id="16" name="Shape 13"/>
          <p:cNvSpPr/>
          <p:nvPr/>
        </p:nvSpPr>
        <p:spPr>
          <a:xfrm>
            <a:off x="2331720" y="2377440"/>
            <a:ext cx="0" cy="128016"/>
          </a:xfrm>
          <a:prstGeom prst="line">
            <a:avLst/>
          </a:prstGeom>
          <a:noFill/>
          <a:ln w="12700">
            <a:solidFill>
              <a:srgbClr val="6E6E73"/>
            </a:solidFill>
            <a:prstDash val="solid"/>
            <a:tailEnd type="triangle"/>
          </a:ln>
        </p:spPr>
      </p:sp>
      <p:sp>
        <p:nvSpPr>
          <p:cNvPr id="17" name="Shape 14"/>
          <p:cNvSpPr/>
          <p:nvPr/>
        </p:nvSpPr>
        <p:spPr>
          <a:xfrm>
            <a:off x="6812280" y="2377440"/>
            <a:ext cx="0" cy="128016"/>
          </a:xfrm>
          <a:prstGeom prst="line">
            <a:avLst/>
          </a:prstGeom>
          <a:noFill/>
          <a:ln w="12700">
            <a:solidFill>
              <a:srgbClr val="6E6E73"/>
            </a:solidFill>
            <a:prstDash val="solid"/>
            <a:tailEnd type="triangle"/>
          </a:ln>
        </p:spPr>
      </p:sp>
      <p:sp>
        <p:nvSpPr>
          <p:cNvPr id="18" name="Shape 15"/>
          <p:cNvSpPr/>
          <p:nvPr/>
        </p:nvSpPr>
        <p:spPr>
          <a:xfrm>
            <a:off x="411480" y="2505456"/>
            <a:ext cx="3840480" cy="932688"/>
          </a:xfrm>
          <a:prstGeom prst="roundRect">
            <a:avLst>
              <a:gd name="adj" fmla="val 7843"/>
            </a:avLst>
          </a:prstGeom>
          <a:solidFill>
            <a:srgbClr val="FFFFFF"/>
          </a:solidFill>
          <a:ln w="9525">
            <a:solidFill>
              <a:srgbClr val="DCE1E7"/>
            </a:solidFill>
            <a:prstDash val="solid"/>
          </a:ln>
        </p:spPr>
      </p:sp>
      <p:sp>
        <p:nvSpPr>
          <p:cNvPr id="19" name="Text 16"/>
          <p:cNvSpPr txBox="1"/>
          <p:nvPr/>
        </p:nvSpPr>
        <p:spPr>
          <a:xfrm>
            <a:off x="594360" y="2505456"/>
            <a:ext cx="3474720" cy="932688"/>
          </a:xfrm>
          <a:prstGeom prst="rect">
            <a:avLst/>
          </a:prstGeom>
          <a:noFill/>
          <a:ln/>
        </p:spPr>
        <p:txBody>
          <a:bodyPr wrap="square" lIns="0" tIns="0" rIns="0" bIns="0" rtlCol="0" anchor="ctr"/>
          <a:lstStyle/>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Fee stands. Explain the policy, offer up to 100% credits.</a:t>
            </a:r>
            <a:endParaRPr lang="en-US" sz="1000" dirty="0"/>
          </a:p>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Treat 100% as a ceiling, not your starting point, and position it as a goodwill gesture.</a:t>
            </a:r>
            <a:endParaRPr lang="en-US" sz="1000" dirty="0"/>
          </a:p>
        </p:txBody>
      </p:sp>
      <p:sp>
        <p:nvSpPr>
          <p:cNvPr id="20" name="Shape 17"/>
          <p:cNvSpPr/>
          <p:nvPr/>
        </p:nvSpPr>
        <p:spPr>
          <a:xfrm>
            <a:off x="4892040" y="2505456"/>
            <a:ext cx="3840480" cy="932688"/>
          </a:xfrm>
          <a:prstGeom prst="roundRect">
            <a:avLst>
              <a:gd name="adj" fmla="val 7843"/>
            </a:avLst>
          </a:prstGeom>
          <a:solidFill>
            <a:srgbClr val="FFFFFF"/>
          </a:solidFill>
          <a:ln w="9525">
            <a:solidFill>
              <a:srgbClr val="DCE1E7"/>
            </a:solidFill>
            <a:prstDash val="solid"/>
          </a:ln>
        </p:spPr>
      </p:sp>
      <p:sp>
        <p:nvSpPr>
          <p:cNvPr id="21" name="Text 18"/>
          <p:cNvSpPr txBox="1"/>
          <p:nvPr/>
        </p:nvSpPr>
        <p:spPr>
          <a:xfrm>
            <a:off x="5074920" y="2505456"/>
            <a:ext cx="3474720" cy="932688"/>
          </a:xfrm>
          <a:prstGeom prst="rect">
            <a:avLst/>
          </a:prstGeom>
          <a:noFill/>
          <a:ln/>
        </p:spPr>
        <p:txBody>
          <a:bodyPr wrap="square" lIns="0" tIns="0" rIns="0" bIns="0" rtlCol="0" anchor="ctr"/>
          <a:lstStyle/>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Homeaglow or the CP caused the priority window.</a:t>
            </a:r>
            <a:endParaRPr lang="en-US" sz="1000" dirty="0"/>
          </a:p>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Refund the Priority Fee and the associated 15% processing fee.</a:t>
            </a:r>
            <a:endParaRPr lang="en-US" sz="1000" dirty="0"/>
          </a:p>
        </p:txBody>
      </p:sp>
      <p:sp>
        <p:nvSpPr>
          <p:cNvPr id="22" name="Shape 19"/>
          <p:cNvSpPr/>
          <p:nvPr/>
        </p:nvSpPr>
        <p:spPr>
          <a:xfrm>
            <a:off x="411480" y="3547872"/>
            <a:ext cx="3840480" cy="292608"/>
          </a:xfrm>
          <a:prstGeom prst="roundRect">
            <a:avLst>
              <a:gd name="adj" fmla="val 25000"/>
            </a:avLst>
          </a:prstGeom>
          <a:solidFill>
            <a:srgbClr val="FFF3D6"/>
          </a:solidFill>
          <a:ln w="9525">
            <a:solidFill>
              <a:srgbClr val="9A6410"/>
            </a:solidFill>
            <a:prstDash val="solid"/>
          </a:ln>
        </p:spPr>
      </p:sp>
      <p:pic>
        <p:nvPicPr>
          <p:cNvPr id="23" name="Image 0" descr="preencoded.png">    </p:cNvPr>
          <p:cNvPicPr>
            <a:picLocks noChangeAspect="1"/>
          </p:cNvPicPr>
          <p:nvPr/>
        </p:nvPicPr>
        <p:blipFill>
          <a:blip r:embed="rId1"/>
          <a:stretch>
            <a:fillRect/>
          </a:stretch>
        </p:blipFill>
        <p:spPr>
          <a:xfrm>
            <a:off x="521208" y="3621024"/>
            <a:ext cx="146304" cy="146304"/>
          </a:xfrm>
          <a:prstGeom prst="rect">
            <a:avLst/>
          </a:prstGeom>
        </p:spPr>
      </p:pic>
      <p:sp>
        <p:nvSpPr>
          <p:cNvPr id="24" name="Text 20"/>
          <p:cNvSpPr txBox="1"/>
          <p:nvPr/>
        </p:nvSpPr>
        <p:spPr>
          <a:xfrm>
            <a:off x="73152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25" name="Shape 21"/>
          <p:cNvSpPr/>
          <p:nvPr/>
        </p:nvSpPr>
        <p:spPr>
          <a:xfrm>
            <a:off x="4892040" y="3547872"/>
            <a:ext cx="3840480" cy="292608"/>
          </a:xfrm>
          <a:prstGeom prst="roundRect">
            <a:avLst>
              <a:gd name="adj" fmla="val 25000"/>
            </a:avLst>
          </a:prstGeom>
          <a:solidFill>
            <a:srgbClr val="FFF3D6"/>
          </a:solidFill>
          <a:ln w="9525">
            <a:solidFill>
              <a:srgbClr val="9A6410"/>
            </a:solidFill>
            <a:prstDash val="solid"/>
          </a:ln>
        </p:spPr>
      </p:sp>
      <p:pic>
        <p:nvPicPr>
          <p:cNvPr id="26" name="Image 1" descr="preencoded.png">    </p:cNvPr>
          <p:cNvPicPr>
            <a:picLocks noChangeAspect="1"/>
          </p:cNvPicPr>
          <p:nvPr/>
        </p:nvPicPr>
        <p:blipFill>
          <a:blip r:embed="rId2"/>
          <a:stretch>
            <a:fillRect/>
          </a:stretch>
        </p:blipFill>
        <p:spPr>
          <a:xfrm>
            <a:off x="5001768" y="3621024"/>
            <a:ext cx="146304" cy="146304"/>
          </a:xfrm>
          <a:prstGeom prst="rect">
            <a:avLst/>
          </a:prstGeom>
        </p:spPr>
      </p:pic>
      <p:sp>
        <p:nvSpPr>
          <p:cNvPr id="27" name="Text 22"/>
          <p:cNvSpPr txBox="1"/>
          <p:nvPr/>
        </p:nvSpPr>
        <p:spPr>
          <a:xfrm>
            <a:off x="521208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28" name="Text 23"/>
          <p:cNvSpPr/>
          <p:nvPr/>
        </p:nvSpPr>
        <p:spPr>
          <a:xfrm>
            <a:off x="6080760" y="3950208"/>
            <a:ext cx="146304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Scenarios  ›</a:t>
            </a:r>
            <a:endParaRPr lang="en-US" sz="1000" dirty="0"/>
          </a:p>
        </p:txBody>
      </p:sp>
      <p:sp>
        <p:nvSpPr>
          <p:cNvPr id="29" name="Shape 24"/>
          <p:cNvSpPr/>
          <p:nvPr/>
        </p:nvSpPr>
        <p:spPr>
          <a:xfrm>
            <a:off x="411480" y="4389120"/>
            <a:ext cx="8321040" cy="384048"/>
          </a:xfrm>
          <a:prstGeom prst="roundRect">
            <a:avLst>
              <a:gd name="adj" fmla="val 19048"/>
            </a:avLst>
          </a:prstGeom>
          <a:solidFill>
            <a:srgbClr val="FFF3D6"/>
          </a:solidFill>
          <a:ln w="9525">
            <a:solidFill>
              <a:srgbClr val="FFF3D6"/>
            </a:solidFill>
            <a:prstDash val="solid"/>
          </a:ln>
        </p:spPr>
      </p:sp>
      <p:pic>
        <p:nvPicPr>
          <p:cNvPr id="30" name="Image 2" descr="preencoded.png">    </p:cNvPr>
          <p:cNvPicPr>
            <a:picLocks noChangeAspect="1"/>
          </p:cNvPicPr>
          <p:nvPr/>
        </p:nvPicPr>
        <p:blipFill>
          <a:blip r:embed="rId3"/>
          <a:stretch>
            <a:fillRect/>
          </a:stretch>
        </p:blipFill>
        <p:spPr>
          <a:xfrm>
            <a:off x="566928" y="4498848"/>
            <a:ext cx="164592" cy="164592"/>
          </a:xfrm>
          <a:prstGeom prst="rect">
            <a:avLst/>
          </a:prstGeom>
        </p:spPr>
      </p:pic>
      <p:sp>
        <p:nvSpPr>
          <p:cNvPr id="31" name="Text 25"/>
          <p:cNvSpPr txBox="1"/>
          <p:nvPr/>
        </p:nvSpPr>
        <p:spPr>
          <a:xfrm>
            <a:off x="822960" y="4489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if unsure whether the case is comparable or customer-driven, escalate rather than deciding solo.</a:t>
            </a:r>
            <a:endParaRPr lang="en-US" sz="1000" dirty="0"/>
          </a:p>
        </p:txBody>
      </p:sp>
      <p:sp>
        <p:nvSpPr>
          <p:cNvPr id="32" name="pop1_5Panel"/>
          <p:cNvSpPr/>
          <p:nvPr/>
        </p:nvSpPr>
        <p:spPr>
          <a:xfrm>
            <a:off x="411480" y="1993392"/>
            <a:ext cx="4069080" cy="2606040"/>
          </a:xfrm>
          <a:prstGeom prst="roundRect">
            <a:avLst>
              <a:gd name="adj" fmla="val 210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5Title"/>
          <p:cNvSpPr txBox="1"/>
          <p:nvPr/>
        </p:nvSpPr>
        <p:spPr>
          <a:xfrm>
            <a:off x="594360" y="2066544"/>
            <a:ext cx="3703320" cy="292608"/>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When it's on us: known scenarios</a:t>
            </a:r>
            <a:endParaRPr lang="en-US" sz="1100" dirty="0"/>
          </a:p>
        </p:txBody>
      </p:sp>
      <p:sp>
        <p:nvSpPr>
          <p:cNvPr id="34" name="pop1_5Row"/>
          <p:cNvSpPr/>
          <p:nvPr/>
        </p:nvSpPr>
        <p:spPr>
          <a:xfrm>
            <a:off x="548640" y="2432304"/>
            <a:ext cx="3794760" cy="457200"/>
          </a:xfrm>
          <a:prstGeom prst="roundRect">
            <a:avLst>
              <a:gd name="adj" fmla="val 12000"/>
            </a:avLst>
          </a:prstGeom>
          <a:solidFill>
            <a:srgbClr val="E3F4F1"/>
          </a:solidFill>
          <a:ln w="12700">
            <a:solidFill>
              <a:srgbClr val="E3F4F1"/>
            </a:solidFill>
            <a:prstDash val="solid"/>
          </a:ln>
        </p:spPr>
      </p:sp>
      <p:pic>
        <p:nvPicPr>
          <p:cNvPr id="35" name="pop1_5Icon" descr="preencoded.png">    </p:cNvPr>
          <p:cNvPicPr>
            <a:picLocks noChangeAspect="1"/>
          </p:cNvPicPr>
          <p:nvPr/>
        </p:nvPicPr>
        <p:blipFill>
          <a:blip r:embed="rId4"/>
          <a:stretch>
            <a:fillRect/>
          </a:stretch>
        </p:blipFill>
        <p:spPr>
          <a:xfrm>
            <a:off x="667512" y="2569464"/>
            <a:ext cx="182880" cy="182880"/>
          </a:xfrm>
          <a:prstGeom prst="rect">
            <a:avLst/>
          </a:prstGeom>
        </p:spPr>
      </p:pic>
      <p:sp>
        <p:nvSpPr>
          <p:cNvPr id="36" name="pop1_5Text"/>
          <p:cNvSpPr txBox="1"/>
          <p:nvPr/>
        </p:nvSpPr>
        <p:spPr>
          <a:xfrm>
            <a:off x="960120" y="2432304"/>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no-show   </a:t>
            </a:r>
            <a:pPr indent="0" marL="0">
              <a:buNone/>
            </a:pP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37" name="pop2_5Row"/>
          <p:cNvSpPr/>
          <p:nvPr/>
        </p:nvSpPr>
        <p:spPr>
          <a:xfrm>
            <a:off x="548640" y="2962656"/>
            <a:ext cx="3794760" cy="457200"/>
          </a:xfrm>
          <a:prstGeom prst="roundRect">
            <a:avLst>
              <a:gd name="adj" fmla="val 12000"/>
            </a:avLst>
          </a:prstGeom>
          <a:solidFill>
            <a:srgbClr val="E3F4F1"/>
          </a:solidFill>
          <a:ln w="12700">
            <a:solidFill>
              <a:srgbClr val="E3F4F1"/>
            </a:solidFill>
            <a:prstDash val="solid"/>
          </a:ln>
        </p:spPr>
      </p:sp>
      <p:pic>
        <p:nvPicPr>
          <p:cNvPr id="38" name="pop2_5Icon" descr="preencoded.png">    </p:cNvPr>
          <p:cNvPicPr>
            <a:picLocks noChangeAspect="1"/>
          </p:cNvPicPr>
          <p:nvPr/>
        </p:nvPicPr>
        <p:blipFill>
          <a:blip r:embed="rId5"/>
          <a:stretch>
            <a:fillRect/>
          </a:stretch>
        </p:blipFill>
        <p:spPr>
          <a:xfrm>
            <a:off x="667512" y="3099816"/>
            <a:ext cx="182880" cy="182880"/>
          </a:xfrm>
          <a:prstGeom prst="rect">
            <a:avLst/>
          </a:prstGeom>
        </p:spPr>
      </p:pic>
      <p:sp>
        <p:nvSpPr>
          <p:cNvPr id="39" name="pop2_5Text"/>
          <p:cNvSpPr txBox="1"/>
          <p:nvPr/>
        </p:nvSpPr>
        <p:spPr>
          <a:xfrm>
            <a:off x="960120" y="2962656"/>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rescheduled   </a:t>
            </a:r>
            <a:pPr indent="0" marL="0">
              <a:buNone/>
            </a:pP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40" name="pop3_5Row"/>
          <p:cNvSpPr/>
          <p:nvPr/>
        </p:nvSpPr>
        <p:spPr>
          <a:xfrm>
            <a:off x="548640" y="3493008"/>
            <a:ext cx="3794760" cy="457200"/>
          </a:xfrm>
          <a:prstGeom prst="roundRect">
            <a:avLst>
              <a:gd name="adj" fmla="val 12000"/>
            </a:avLst>
          </a:prstGeom>
          <a:solidFill>
            <a:srgbClr val="E3F4F1"/>
          </a:solidFill>
          <a:ln w="12700">
            <a:solidFill>
              <a:srgbClr val="E3F4F1"/>
            </a:solidFill>
            <a:prstDash val="solid"/>
          </a:ln>
        </p:spPr>
      </p:sp>
      <p:pic>
        <p:nvPicPr>
          <p:cNvPr id="41" name="pop3_5Icon" descr="preencoded.png">    </p:cNvPr>
          <p:cNvPicPr>
            <a:picLocks noChangeAspect="1"/>
          </p:cNvPicPr>
          <p:nvPr/>
        </p:nvPicPr>
        <p:blipFill>
          <a:blip r:embed="rId6"/>
          <a:stretch>
            <a:fillRect/>
          </a:stretch>
        </p:blipFill>
        <p:spPr>
          <a:xfrm>
            <a:off x="667512" y="3630168"/>
            <a:ext cx="182880" cy="182880"/>
          </a:xfrm>
          <a:prstGeom prst="rect">
            <a:avLst/>
          </a:prstGeom>
        </p:spPr>
      </p:pic>
      <p:sp>
        <p:nvSpPr>
          <p:cNvPr id="42" name="pop3_5Text"/>
          <p:cNvSpPr txBox="1"/>
          <p:nvPr/>
        </p:nvSpPr>
        <p:spPr>
          <a:xfrm>
            <a:off x="960120" y="3493008"/>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System bug   </a:t>
            </a:r>
            <a:pPr indent="0" marL="0">
              <a:buNone/>
            </a:pP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43" name="pop4_5Row"/>
          <p:cNvSpPr/>
          <p:nvPr/>
        </p:nvSpPr>
        <p:spPr>
          <a:xfrm>
            <a:off x="548640" y="4023360"/>
            <a:ext cx="3794760" cy="457200"/>
          </a:xfrm>
          <a:prstGeom prst="roundRect">
            <a:avLst>
              <a:gd name="adj" fmla="val 12000"/>
            </a:avLst>
          </a:prstGeom>
          <a:solidFill>
            <a:srgbClr val="E3F4F1"/>
          </a:solidFill>
          <a:ln w="12700">
            <a:solidFill>
              <a:srgbClr val="E3F4F1"/>
            </a:solidFill>
            <a:prstDash val="solid"/>
          </a:ln>
        </p:spPr>
      </p:sp>
      <p:pic>
        <p:nvPicPr>
          <p:cNvPr id="44" name="pop4_5Icon" descr="preencoded.png">    </p:cNvPr>
          <p:cNvPicPr>
            <a:picLocks noChangeAspect="1"/>
          </p:cNvPicPr>
          <p:nvPr/>
        </p:nvPicPr>
        <p:blipFill>
          <a:blip r:embed="rId7"/>
          <a:stretch>
            <a:fillRect/>
          </a:stretch>
        </p:blipFill>
        <p:spPr>
          <a:xfrm>
            <a:off x="667512" y="4160520"/>
            <a:ext cx="182880" cy="182880"/>
          </a:xfrm>
          <a:prstGeom prst="rect">
            <a:avLst/>
          </a:prstGeom>
        </p:spPr>
      </p:pic>
      <p:sp>
        <p:nvSpPr>
          <p:cNvPr id="45" name="pop4_5Text"/>
          <p:cNvSpPr txBox="1"/>
          <p:nvPr/>
        </p:nvSpPr>
        <p:spPr>
          <a:xfrm>
            <a:off x="960120" y="4023360"/>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Rebooked after PCQ   </a:t>
            </a:r>
            <a:pPr indent="0" marL="0">
              <a:buNone/>
            </a:pP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600"/>
                                        <p:tgtEl>
                                          <p:spTgt spid="36"/>
                                        </p:tgtEl>
                                      </p:cBhvr>
                                    </p:animEffect>
                                  </p:childTnLst>
                                </p:cTn>
                              </p:par>
                            </p:childTnLst>
                          </p:cTn>
                        </p:par>
                      </p:childTnLst>
                    </p:cTn>
                  </p:par>
                  <p:par>
                    <p:cTn id="29" fill="hold">
                      <p:stCondLst>
                        <p:cond delay="indefinite"/>
                      </p:stCondLst>
                      <p:childTnLst>
                        <p:par>
                          <p:cTn id="30"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7"/>
                                        </p:tgtEl>
                                        <p:attrNameLst>
                                          <p:attrName>style.visibility</p:attrName>
                                        </p:attrNameLst>
                                      </p:cBhvr>
                                      <p:to>
                                        <p:strVal val="visible"/>
                                      </p:to>
                                    </p:set>
                                    <p:animEffect transition="in" filter="fade">
                                      <p:cBhvr>
                                        <p:cTn id="24" dur="600"/>
                                        <p:tgtEl>
                                          <p:spTgt spid="3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600"/>
                                        <p:tgtEl>
                                          <p:spTgt spid="3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fade">
                                      <p:cBhvr>
                                        <p:cTn id="30" dur="600"/>
                                        <p:tgtEl>
                                          <p:spTgt spid="39"/>
                                        </p:tgtEl>
                                      </p:cBhvr>
                                    </p:animEffect>
                                  </p:childTnLst>
                                </p:cTn>
                              </p:par>
                            </p:childTnLst>
                          </p:cTn>
                        </p:par>
                      </p:childTnLst>
                    </p:cTn>
                  </p:par>
                  <p:par>
                    <p:cTn id="40" fill="hold">
                      <p:stCondLst>
                        <p:cond delay="indefinite"/>
                      </p:stCondLst>
                      <p:childTnLst>
                        <p:par>
                          <p:cTn id="41"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6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6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600"/>
                                        <p:tgtEl>
                                          <p:spTgt spid="42"/>
                                        </p:tgtEl>
                                      </p:cBhvr>
                                    </p:animEffect>
                                  </p:childTnLst>
                                </p:cTn>
                              </p:par>
                            </p:childTnLst>
                          </p:cTn>
                        </p:par>
                      </p:childTnLst>
                    </p:cTn>
                  </p:par>
                  <p:par>
                    <p:cTn id="51" fill="hold">
                      <p:stCondLst>
                        <p:cond delay="indefinite"/>
                      </p:stCondLst>
                      <p:childTnLst>
                        <p:par>
                          <p:cTn id="52"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fade">
                                      <p:cBhvr>
                                        <p:cTn id="46" dur="600"/>
                                        <p:tgtEl>
                                          <p:spTgt spid="4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animEffect transition="in" filter="fade">
                                      <p:cBhvr>
                                        <p:cTn id="49" dur="600"/>
                                        <p:tgtEl>
                                          <p:spTgt spid="4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5"/>
                                        </p:tgtEl>
                                        <p:attrNameLst>
                                          <p:attrName>style.visibility</p:attrName>
                                        </p:attrNameLst>
                                      </p:cBhvr>
                                      <p:to>
                                        <p:strVal val="visible"/>
                                      </p:to>
                                    </p:set>
                                    <p:animEffect transition="in" filter="fade">
                                      <p:cBhvr>
                                        <p:cTn id="52" dur="600"/>
                                        <p:tgtEl>
                                          <p:spTgt spid="45"/>
                                        </p:tgtEl>
                                      </p:cBhvr>
                                    </p:animEffect>
                                  </p:childTnLst>
                                </p:cTn>
                              </p:par>
                            </p:childTnLst>
                          </p:cTn>
                        </p:par>
                      </p:childTnLst>
                    </p:cTn>
                  </p:par>
                  <p:par>
                    <p:cTn id="95" fill="hold">
                      <p:stCondLst>
                        <p:cond delay="indefinite"/>
                      </p:stCondLst>
                      <p:childTnLst>
                        <p:par>
                          <p:cTn id="96" fill="hold">
                            <p:stCondLst>
                              <p:cond delay="0"/>
                            </p:stCondLst>
                            <p:childTnLst>
                              <p:par>
                                <p:cTn id="55" presetID="1" presetClass="exit" presetSubtype="0" fill="hold" grpId="1" nodeType="clickEffect">
                                  <p:stCondLst>
                                    <p:cond delay="0"/>
                                  </p:stCondLst>
                                  <p:childTnLst>
                                    <p:set>
                                      <p:cBhvr>
                                        <p:cTn id="56" dur="1" fill="hold">
                                          <p:stCondLst>
                                            <p:cond delay="0"/>
                                          </p:stCondLst>
                                        </p:cTn>
                                        <p:tgtEl>
                                          <p:spTgt spid="32"/>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3"/>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34"/>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36"/>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0"/>
                                          </p:stCondLst>
                                        </p:cTn>
                                        <p:tgtEl>
                                          <p:spTgt spid="38"/>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9" presetID="1" presetClass="exit" presetSubtype="0" fill="hold" grpId="1" nodeType="withEffect">
                                  <p:stCondLst>
                                    <p:cond delay="0"/>
                                  </p:stCondLst>
                                  <p:childTnLst>
                                    <p:set>
                                      <p:cBhvr>
                                        <p:cTn id="80" dur="1" fill="hold">
                                          <p:stCondLst>
                                            <p:cond delay="0"/>
                                          </p:stCondLst>
                                        </p:cTn>
                                        <p:tgtEl>
                                          <p:spTgt spid="40"/>
                                        </p:tgtEl>
                                        <p:attrNameLst>
                                          <p:attrName>style.visibility</p:attrName>
                                        </p:attrNameLst>
                                      </p:cBhvr>
                                      <p:to>
                                        <p:strVal val="hidden"/>
                                      </p:to>
                                    </p:set>
                                  </p:childTnLst>
                                </p:cTn>
                              </p:par>
                              <p:par>
                                <p:cTn id="82" presetID="1" presetClass="exit" presetSubtype="0" fill="hold" grpId="1" nodeType="withEffect">
                                  <p:stCondLst>
                                    <p:cond delay="0"/>
                                  </p:stCondLst>
                                  <p:childTnLst>
                                    <p:set>
                                      <p:cBhvr>
                                        <p:cTn id="83" dur="1" fill="hold">
                                          <p:stCondLst>
                                            <p:cond delay="0"/>
                                          </p:stCondLst>
                                        </p:cTn>
                                        <p:tgtEl>
                                          <p:spTgt spid="41"/>
                                        </p:tgtEl>
                                        <p:attrNameLst>
                                          <p:attrName>style.visibility</p:attrName>
                                        </p:attrNameLst>
                                      </p:cBhvr>
                                      <p:to>
                                        <p:strVal val="hidden"/>
                                      </p:to>
                                    </p:set>
                                  </p:childTnLst>
                                </p:cTn>
                              </p:par>
                              <p:par>
                                <p:cTn id="85" presetID="1" presetClass="exit" presetSubtype="0" fill="hold" grpId="1" nodeType="withEffect">
                                  <p:stCondLst>
                                    <p:cond delay="0"/>
                                  </p:stCondLst>
                                  <p:childTnLst>
                                    <p:set>
                                      <p:cBhvr>
                                        <p:cTn id="86" dur="1" fill="hold">
                                          <p:stCondLst>
                                            <p:cond delay="0"/>
                                          </p:stCondLst>
                                        </p:cTn>
                                        <p:tgtEl>
                                          <p:spTgt spid="42"/>
                                        </p:tgtEl>
                                        <p:attrNameLst>
                                          <p:attrName>style.visibility</p:attrName>
                                        </p:attrNameLst>
                                      </p:cBhvr>
                                      <p:to>
                                        <p:strVal val="hidden"/>
                                      </p:to>
                                    </p:set>
                                  </p:childTnLst>
                                </p:cTn>
                              </p:par>
                              <p:par>
                                <p:cTn id="88" presetID="1" presetClass="exit" presetSubtype="0" fill="hold" grpId="1" nodeType="withEffect">
                                  <p:stCondLst>
                                    <p:cond delay="0"/>
                                  </p:stCondLst>
                                  <p:childTnLst>
                                    <p:set>
                                      <p:cBhvr>
                                        <p:cTn id="89" dur="1" fill="hold">
                                          <p:stCondLst>
                                            <p:cond delay="0"/>
                                          </p:stCondLst>
                                        </p:cTn>
                                        <p:tgtEl>
                                          <p:spTgt spid="43"/>
                                        </p:tgtEl>
                                        <p:attrNameLst>
                                          <p:attrName>style.visibility</p:attrName>
                                        </p:attrNameLst>
                                      </p:cBhvr>
                                      <p:to>
                                        <p:strVal val="hidden"/>
                                      </p:to>
                                    </p:set>
                                  </p:childTnLst>
                                </p:cTn>
                              </p:par>
                              <p:par>
                                <p:cTn id="91" presetID="1" presetClass="exit" presetSubtype="0" fill="hold" grpId="1" nodeType="withEffect">
                                  <p:stCondLst>
                                    <p:cond delay="0"/>
                                  </p:stCondLst>
                                  <p:childTnLst>
                                    <p:set>
                                      <p:cBhvr>
                                        <p:cTn id="92" dur="1" fill="hold">
                                          <p:stCondLst>
                                            <p:cond delay="0"/>
                                          </p:stCondLst>
                                        </p:cTn>
                                        <p:tgtEl>
                                          <p:spTgt spid="44"/>
                                        </p:tgtEl>
                                        <p:attrNameLst>
                                          <p:attrName>style.visibility</p:attrName>
                                        </p:attrNameLst>
                                      </p:cBhvr>
                                      <p:to>
                                        <p:strVal val="hidden"/>
                                      </p:to>
                                    </p:set>
                                  </p:childTnLst>
                                </p:cTn>
                              </p:par>
                              <p:par>
                                <p:cTn id="94" presetID="1" presetClass="exit" presetSubtype="0" fill="hold" grpId="1" nodeType="withEffect">
                                  <p:stCondLst>
                                    <p:cond delay="0"/>
                                  </p:stCondLst>
                                  <p:childTnLst>
                                    <p:set>
                                      <p:cBhvr>
                                        <p:cTn id="95" dur="1" fill="hold">
                                          <p:stCondLst>
                                            <p:cond delay="0"/>
                                          </p:stCondLst>
                                        </p:cTn>
                                        <p:tgtEl>
                                          <p:spTgt spid="4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6" grpId="0" animBg="1"/>
      <p:bldP spid="37" grpId="0" animBg="1"/>
      <p:bldP spid="39" grpId="0" animBg="1"/>
      <p:bldP spid="40" grpId="0" animBg="1"/>
      <p:bldP spid="42" grpId="0" animBg="1"/>
      <p:bldP spid="43" grpId="0" animBg="1"/>
      <p:bldP spid="45" grpId="0" animBg="1"/>
      <p:bldP spid="32" grpId="1" animBg="1"/>
      <p:bldP spid="33" grpId="1" animBg="1"/>
      <p:bldP spid="34" grpId="1" animBg="1"/>
      <p:bldP spid="36" grpId="1" animBg="1"/>
      <p:bldP spid="37" grpId="1" animBg="1"/>
      <p:bldP spid="39" grpId="1" animBg="1"/>
      <p:bldP spid="40" grpId="1" animBg="1"/>
      <p:bldP spid="42" grpId="1" animBg="1"/>
      <p:bldP spid="43" grpId="1" animBg="1"/>
      <p:bldP spid="45"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Shape 10"/>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5" name="Shape 11"/>
          <p:cNvSpPr/>
          <p:nvPr/>
        </p:nvSpPr>
        <p:spPr>
          <a:xfrm>
            <a:off x="6035040" y="1508760"/>
            <a:ext cx="384048" cy="384048"/>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6127212" y="1600932"/>
            <a:ext cx="199705" cy="199705"/>
          </a:xfrm>
          <a:prstGeom prst="rect">
            <a:avLst/>
          </a:prstGeom>
        </p:spPr>
      </p:pic>
      <p:sp>
        <p:nvSpPr>
          <p:cNvPr id="17" name="Text 12"/>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the Priority Fee</a:t>
            </a:r>
            <a:endParaRPr lang="en-US" sz="1300" dirty="0"/>
          </a:p>
        </p:txBody>
      </p:sp>
      <p:sp>
        <p:nvSpPr>
          <p:cNvPr id="18" name="Text 13"/>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Automatic, not chosen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Triggered by booking or rescheduling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Inside the 48-hour window</a:t>
            </a:r>
            <a:endParaRPr lang="en-US" sz="1000" dirty="0"/>
          </a:p>
        </p:txBody>
      </p:sp>
      <p:sp>
        <p:nvSpPr>
          <p:cNvPr id="19" name="Shape 14"/>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0" name="Image 2" descr="preencoded.png">    </p:cNvPr>
          <p:cNvPicPr>
            <a:picLocks noChangeAspect="1"/>
          </p:cNvPicPr>
          <p:nvPr/>
        </p:nvPicPr>
        <p:blipFill>
          <a:blip r:embed="rId3"/>
          <a:stretch>
            <a:fillRect/>
          </a:stretch>
        </p:blipFill>
        <p:spPr>
          <a:xfrm>
            <a:off x="566928" y="3584448"/>
            <a:ext cx="164592" cy="164592"/>
          </a:xfrm>
          <a:prstGeom prst="rect">
            <a:avLst/>
          </a:prstGeom>
        </p:spPr>
      </p:pic>
      <p:sp>
        <p:nvSpPr>
          <p:cNvPr id="21" name="Text 15"/>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pPr indent="0" marL="0">
              <a:buNone/>
            </a:pP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8" name="Image 2" descr="preencoded.png">    </p:cNvPr>
          <p:cNvPicPr>
            <a:picLocks noChangeAspect="1"/>
          </p:cNvPicPr>
          <p:nvPr/>
        </p:nvPicPr>
        <p:blipFill>
          <a:blip r:embed="rId3"/>
          <a:stretch>
            <a:fillRect/>
          </a:stretch>
        </p:blipFill>
        <p:spPr>
          <a:xfrm>
            <a:off x="566928" y="3310128"/>
            <a:ext cx="164592" cy="164592"/>
          </a:xfrm>
          <a:prstGeom prst="rect">
            <a:avLst/>
          </a:prstGeom>
        </p:spPr>
      </p:pic>
      <p:sp>
        <p:nvSpPr>
          <p:cNvPr id="19"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Confirmed service issue?  </a:t>
            </a:r>
            <a:pPr indent="0" marL="0">
              <a:buNone/>
            </a:pPr>
            <a:r>
              <a:rPr lang="en-US" sz="1000" dirty="0">
                <a:solidFill>
                  <a:srgbClr val="1D1D1F"/>
                </a:solidFill>
                <a:latin typeface="SF Pro Text" pitchFamily="34" charset="0"/>
                <a:ea typeface="SF Pro Text" pitchFamily="34" charset="-122"/>
                <a:cs typeface="SF Pro Text" pitchFamily="34" charset="-120"/>
              </a:rPr>
              <a:t>always check for a Premium Fee, and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the experience to Standard</a:t>
            </a: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Shape 1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0"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1" name="Text 1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pPr indent="0" marL="0">
              <a:buNone/>
            </a:pP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If they don't want future fees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4" name="Text 10"/>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pPr indent="0" marL="0">
              <a:buNone/>
            </a:pP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Choose the resolution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Based on why they're contesting it, not just that they are.</a:t>
            </a:r>
            <a:endParaRPr lang="en-US" sz="1200" dirty="0"/>
          </a:p>
        </p:txBody>
      </p:sp>
      <p:sp>
        <p:nvSpPr>
          <p:cNvPr id="6" name="Shape 3"/>
          <p:cNvSpPr/>
          <p:nvPr/>
        </p:nvSpPr>
        <p:spPr>
          <a:xfrm>
            <a:off x="24688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24688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Homeaglow set expectations properly?</a:t>
            </a:r>
            <a:endParaRPr lang="en-US" sz="1000" dirty="0"/>
          </a:p>
        </p:txBody>
      </p:sp>
      <p:sp>
        <p:nvSpPr>
          <p:cNvPr id="8" name="Shape 5"/>
          <p:cNvSpPr/>
          <p:nvPr/>
        </p:nvSpPr>
        <p:spPr>
          <a:xfrm>
            <a:off x="4572000" y="1700784"/>
            <a:ext cx="0" cy="128016"/>
          </a:xfrm>
          <a:prstGeom prst="line">
            <a:avLst/>
          </a:prstGeom>
          <a:noFill/>
          <a:ln w="12700">
            <a:solidFill>
              <a:srgbClr val="6E6E73"/>
            </a:solidFill>
            <a:prstDash val="solid"/>
          </a:ln>
        </p:spPr>
      </p:sp>
      <p:sp>
        <p:nvSpPr>
          <p:cNvPr id="9" name="Shape 6"/>
          <p:cNvSpPr/>
          <p:nvPr/>
        </p:nvSpPr>
        <p:spPr>
          <a:xfrm>
            <a:off x="2331720" y="1828800"/>
            <a:ext cx="4480560" cy="0"/>
          </a:xfrm>
          <a:prstGeom prst="line">
            <a:avLst/>
          </a:prstGeom>
          <a:noFill/>
          <a:ln w="12700">
            <a:solidFill>
              <a:srgbClr val="6E6E73"/>
            </a:solidFill>
            <a:prstDash val="solid"/>
          </a:ln>
        </p:spPr>
      </p:sp>
      <p:sp>
        <p:nvSpPr>
          <p:cNvPr id="10" name="Shape 7"/>
          <p:cNvSpPr/>
          <p:nvPr/>
        </p:nvSpPr>
        <p:spPr>
          <a:xfrm>
            <a:off x="2331720" y="1828800"/>
            <a:ext cx="0" cy="128016"/>
          </a:xfrm>
          <a:prstGeom prst="line">
            <a:avLst/>
          </a:prstGeom>
          <a:noFill/>
          <a:ln w="12700">
            <a:solidFill>
              <a:srgbClr val="6E6E73"/>
            </a:solidFill>
            <a:prstDash val="solid"/>
            <a:tailEnd type="triangle"/>
          </a:ln>
        </p:spPr>
      </p:sp>
      <p:sp>
        <p:nvSpPr>
          <p:cNvPr id="11" name="Shape 8"/>
          <p:cNvSpPr/>
          <p:nvPr/>
        </p:nvSpPr>
        <p:spPr>
          <a:xfrm>
            <a:off x="6812280" y="1828800"/>
            <a:ext cx="0" cy="128016"/>
          </a:xfrm>
          <a:prstGeom prst="line">
            <a:avLst/>
          </a:prstGeom>
          <a:noFill/>
          <a:ln w="12700">
            <a:solidFill>
              <a:srgbClr val="6E6E73"/>
            </a:solidFill>
            <a:prstDash val="solid"/>
            <a:tailEnd type="triangle"/>
          </a:ln>
        </p:spPr>
      </p:sp>
      <p:sp>
        <p:nvSpPr>
          <p:cNvPr id="12" name="Text 9"/>
          <p:cNvSpPr txBox="1"/>
          <p:nvPr/>
        </p:nvSpPr>
        <p:spPr>
          <a:xfrm>
            <a:off x="2404872" y="1847088"/>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47088"/>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txBox="1"/>
          <p:nvPr/>
        </p:nvSpPr>
        <p:spPr>
          <a:xfrm>
            <a:off x="240487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Yes: expectation gap</a:t>
            </a:r>
            <a:endParaRPr lang="en-US" sz="800" dirty="0"/>
          </a:p>
        </p:txBody>
      </p:sp>
      <p:sp>
        <p:nvSpPr>
          <p:cNvPr id="15" name="Text 12"/>
          <p:cNvSpPr txBox="1"/>
          <p:nvPr/>
        </p:nvSpPr>
        <p:spPr>
          <a:xfrm>
            <a:off x="688543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 we failed to</a:t>
            </a:r>
            <a:endParaRPr lang="en-US" sz="800" dirty="0"/>
          </a:p>
        </p:txBody>
      </p:sp>
      <p:sp>
        <p:nvSpPr>
          <p:cNvPr id="16" name="Shape 13"/>
          <p:cNvSpPr/>
          <p:nvPr/>
        </p:nvSpPr>
        <p:spPr>
          <a:xfrm>
            <a:off x="411480" y="1956816"/>
            <a:ext cx="3840480" cy="420624"/>
          </a:xfrm>
          <a:prstGeom prst="roundRect">
            <a:avLst>
              <a:gd name="adj" fmla="val 17391"/>
            </a:avLst>
          </a:prstGeom>
          <a:solidFill>
            <a:srgbClr val="FFFFFF"/>
          </a:solidFill>
          <a:ln w="12700">
            <a:solidFill>
              <a:srgbClr val="DCE1E7"/>
            </a:solidFill>
            <a:prstDash val="solid"/>
          </a:ln>
        </p:spPr>
      </p:sp>
      <p:sp>
        <p:nvSpPr>
          <p:cNvPr id="17" name="Text 14"/>
          <p:cNvSpPr txBox="1"/>
          <p:nvPr/>
        </p:nvSpPr>
        <p:spPr>
          <a:xfrm>
            <a:off x="411480" y="195681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a standard charge on every cleaning</a:t>
            </a:r>
            <a:endParaRPr lang="en-US" sz="1000" dirty="0"/>
          </a:p>
        </p:txBody>
      </p:sp>
      <p:sp>
        <p:nvSpPr>
          <p:cNvPr id="18" name="Shape 15"/>
          <p:cNvSpPr/>
          <p:nvPr/>
        </p:nvSpPr>
        <p:spPr>
          <a:xfrm>
            <a:off x="2331720" y="2377440"/>
            <a:ext cx="0" cy="128016"/>
          </a:xfrm>
          <a:prstGeom prst="line">
            <a:avLst/>
          </a:prstGeom>
          <a:noFill/>
          <a:ln w="12700">
            <a:solidFill>
              <a:srgbClr val="6E6E73"/>
            </a:solidFill>
            <a:prstDash val="solid"/>
            <a:tailEnd type="triangle"/>
          </a:ln>
        </p:spPr>
      </p:sp>
      <p:sp>
        <p:nvSpPr>
          <p:cNvPr id="19" name="Shape 16"/>
          <p:cNvSpPr/>
          <p:nvPr/>
        </p:nvSpPr>
        <p:spPr>
          <a:xfrm>
            <a:off x="411480" y="2505456"/>
            <a:ext cx="3840480" cy="420624"/>
          </a:xfrm>
          <a:prstGeom prst="roundRect">
            <a:avLst>
              <a:gd name="adj" fmla="val 17391"/>
            </a:avLst>
          </a:prstGeom>
          <a:solidFill>
            <a:srgbClr val="0B7A6F"/>
          </a:solidFill>
          <a:ln w="12700">
            <a:solidFill>
              <a:srgbClr val="0B7A6F"/>
            </a:solidFill>
            <a:prstDash val="solid"/>
          </a:ln>
        </p:spPr>
      </p:sp>
      <p:sp>
        <p:nvSpPr>
          <p:cNvPr id="20" name="Text 17"/>
          <p:cNvSpPr txBox="1"/>
          <p:nvPr/>
        </p:nvSpPr>
        <p:spPr>
          <a:xfrm>
            <a:off x="411480" y="250545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Still unhappy, staying? One-time $10 or $20 credit</a:t>
            </a:r>
            <a:endParaRPr lang="en-US" sz="1000" dirty="0"/>
          </a:p>
        </p:txBody>
      </p:sp>
      <p:sp>
        <p:nvSpPr>
          <p:cNvPr id="21" name="Shape 18"/>
          <p:cNvSpPr/>
          <p:nvPr/>
        </p:nvSpPr>
        <p:spPr>
          <a:xfrm>
            <a:off x="2331720" y="2926080"/>
            <a:ext cx="0" cy="128016"/>
          </a:xfrm>
          <a:prstGeom prst="line">
            <a:avLst/>
          </a:prstGeom>
          <a:noFill/>
          <a:ln w="12700">
            <a:solidFill>
              <a:srgbClr val="6E6E73"/>
            </a:solidFill>
            <a:prstDash val="solid"/>
            <a:tailEnd type="triangle"/>
          </a:ln>
        </p:spPr>
      </p:sp>
      <p:sp>
        <p:nvSpPr>
          <p:cNvPr id="22" name="Shape 19"/>
          <p:cNvSpPr/>
          <p:nvPr/>
        </p:nvSpPr>
        <p:spPr>
          <a:xfrm>
            <a:off x="411480" y="3054096"/>
            <a:ext cx="3840480" cy="420624"/>
          </a:xfrm>
          <a:prstGeom prst="roundRect">
            <a:avLst>
              <a:gd name="adj" fmla="val 17391"/>
            </a:avLst>
          </a:prstGeom>
          <a:solidFill>
            <a:srgbClr val="0B7A6F"/>
          </a:solidFill>
          <a:ln w="12700">
            <a:solidFill>
              <a:srgbClr val="0B7A6F"/>
            </a:solidFill>
            <a:prstDash val="solid"/>
          </a:ln>
        </p:spPr>
      </p:sp>
      <p:sp>
        <p:nvSpPr>
          <p:cNvPr id="23" name="Text 20"/>
          <p:cNvSpPr txBox="1"/>
          <p:nvPr/>
        </p:nvSpPr>
        <p:spPr>
          <a:xfrm>
            <a:off x="41148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Wants cash or will cancel? $10 or $20 partial refund</a:t>
            </a:r>
            <a:endParaRPr lang="en-US" sz="1000" dirty="0"/>
          </a:p>
        </p:txBody>
      </p:sp>
      <p:sp>
        <p:nvSpPr>
          <p:cNvPr id="24" name="Shape 21"/>
          <p:cNvSpPr/>
          <p:nvPr/>
        </p:nvSpPr>
        <p:spPr>
          <a:xfrm>
            <a:off x="4892040" y="1956816"/>
            <a:ext cx="3840480" cy="420624"/>
          </a:xfrm>
          <a:prstGeom prst="roundRect">
            <a:avLst>
              <a:gd name="adj" fmla="val 17391"/>
            </a:avLst>
          </a:prstGeom>
          <a:solidFill>
            <a:srgbClr val="0B7A6F"/>
          </a:solidFill>
          <a:ln w="12700">
            <a:solidFill>
              <a:srgbClr val="0B7A6F"/>
            </a:solidFill>
            <a:prstDash val="solid"/>
          </a:ln>
        </p:spPr>
      </p:sp>
      <p:sp>
        <p:nvSpPr>
          <p:cNvPr id="25" name="Text 22"/>
          <p:cNvSpPr txBox="1"/>
          <p:nvPr/>
        </p:nvSpPr>
        <p:spPr>
          <a:xfrm>
            <a:off x="4892040" y="195681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Processing Fee in full</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377440"/>
            <a:ext cx="0" cy="128016"/>
          </a:xfrm>
          <a:prstGeom prst="line">
            <a:avLst/>
          </a:prstGeom>
          <a:noFill/>
          <a:ln w="12700">
            <a:solidFill>
              <a:srgbClr val="6E6E73"/>
            </a:solidFill>
            <a:prstDash val="solid"/>
            <a:tailEnd type="triangle"/>
          </a:ln>
        </p:spPr>
      </p:sp>
      <p:sp>
        <p:nvSpPr>
          <p:cNvPr id="27" name="Shape 24"/>
          <p:cNvSpPr/>
          <p:nvPr/>
        </p:nvSpPr>
        <p:spPr>
          <a:xfrm>
            <a:off x="4892040" y="2505456"/>
            <a:ext cx="384048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892040" y="250545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the specific expectation issue</a:t>
            </a:r>
            <a:endParaRPr lang="en-US" sz="1000" dirty="0"/>
          </a:p>
        </p:txBody>
      </p:sp>
      <p:sp>
        <p:nvSpPr>
          <p:cNvPr id="29" name="Shape 26"/>
          <p:cNvSpPr/>
          <p:nvPr/>
        </p:nvSpPr>
        <p:spPr>
          <a:xfrm>
            <a:off x="6812280" y="2926080"/>
            <a:ext cx="0" cy="128016"/>
          </a:xfrm>
          <a:prstGeom prst="line">
            <a:avLst/>
          </a:prstGeom>
          <a:noFill/>
          <a:ln w="12700">
            <a:solidFill>
              <a:srgbClr val="6E6E73"/>
            </a:solidFill>
            <a:prstDash val="solid"/>
            <a:tailEnd type="triangle"/>
          </a:ln>
        </p:spPr>
      </p:sp>
      <p:sp>
        <p:nvSpPr>
          <p:cNvPr id="30" name="Shape 27"/>
          <p:cNvSpPr/>
          <p:nvPr/>
        </p:nvSpPr>
        <p:spPr>
          <a:xfrm>
            <a:off x="4892040" y="3054096"/>
            <a:ext cx="3840480" cy="420624"/>
          </a:xfrm>
          <a:prstGeom prst="roundRect">
            <a:avLst>
              <a:gd name="adj" fmla="val 17391"/>
            </a:avLst>
          </a:prstGeom>
          <a:solidFill>
            <a:srgbClr val="1D1D1F"/>
          </a:solidFill>
          <a:ln w="12700">
            <a:solidFill>
              <a:srgbClr val="1D1D1F"/>
            </a:solidFill>
            <a:prstDash val="solid"/>
          </a:ln>
        </p:spPr>
      </p:sp>
      <p:sp>
        <p:nvSpPr>
          <p:cNvPr id="31" name="Text 28"/>
          <p:cNvSpPr txBox="1"/>
          <p:nvPr/>
        </p:nvSpPr>
        <p:spPr>
          <a:xfrm>
            <a:off x="489204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Cancelling FC over it? Waive the ETF</a:t>
            </a:r>
            <a:endParaRPr lang="en-US" sz="1000" dirty="0"/>
          </a:p>
        </p:txBody>
      </p:sp>
      <p:sp>
        <p:nvSpPr>
          <p:cNvPr id="32" name="Shape 29"/>
          <p:cNvSpPr/>
          <p:nvPr/>
        </p:nvSpPr>
        <p:spPr>
          <a:xfrm>
            <a:off x="411480" y="3675888"/>
            <a:ext cx="8321040" cy="384048"/>
          </a:xfrm>
          <a:prstGeom prst="roundRect">
            <a:avLst>
              <a:gd name="adj" fmla="val 19048"/>
            </a:avLst>
          </a:prstGeom>
          <a:solidFill>
            <a:srgbClr val="FFF3D6"/>
          </a:solidFill>
          <a:ln w="9525">
            <a:solidFill>
              <a:srgbClr val="FFF3D6"/>
            </a:solidFill>
            <a:prstDash val="solid"/>
          </a:ln>
        </p:spPr>
      </p:sp>
      <p:pic>
        <p:nvPicPr>
          <p:cNvPr id="33" name="Image 0" descr="preencoded.png">    </p:cNvPr>
          <p:cNvPicPr>
            <a:picLocks noChangeAspect="1"/>
          </p:cNvPicPr>
          <p:nvPr/>
        </p:nvPicPr>
        <p:blipFill>
          <a:blip r:embed="rId1"/>
          <a:stretch>
            <a:fillRect/>
          </a:stretch>
        </p:blipFill>
        <p:spPr>
          <a:xfrm>
            <a:off x="566928" y="3785616"/>
            <a:ext cx="164592" cy="164592"/>
          </a:xfrm>
          <a:prstGeom prst="rect">
            <a:avLst/>
          </a:prstGeom>
        </p:spPr>
      </p:pic>
      <p:sp>
        <p:nvSpPr>
          <p:cNvPr id="34" name="Text 30"/>
          <p:cNvSpPr txBox="1"/>
          <p:nvPr/>
        </p:nvSpPr>
        <p:spPr>
          <a:xfrm>
            <a:off x="822960" y="37764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issue a credit equal to the exact Processing Fee. It says the fee was wrong.</a:t>
            </a:r>
            <a:endParaRPr lang="en-US" sz="1000" dirty="0"/>
          </a:p>
        </p:txBody>
      </p:sp>
      <p:sp>
        <p:nvSpPr>
          <p:cNvPr id="35" name="Shape 31"/>
          <p:cNvSpPr/>
          <p:nvPr/>
        </p:nvSpPr>
        <p:spPr>
          <a:xfrm>
            <a:off x="411480" y="4169664"/>
            <a:ext cx="2926080" cy="292608"/>
          </a:xfrm>
          <a:prstGeom prst="roundRect">
            <a:avLst>
              <a:gd name="adj" fmla="val 25000"/>
            </a:avLst>
          </a:prstGeom>
          <a:solidFill>
            <a:srgbClr val="FFF3D6"/>
          </a:solidFill>
          <a:ln w="9525">
            <a:solidFill>
              <a:srgbClr val="9A6410"/>
            </a:solidFill>
            <a:prstDash val="solid"/>
          </a:ln>
        </p:spPr>
      </p:sp>
      <p:pic>
        <p:nvPicPr>
          <p:cNvPr id="36" name="Image 1" descr="preencoded.png">    </p:cNvPr>
          <p:cNvPicPr>
            <a:picLocks noChangeAspect="1"/>
          </p:cNvPicPr>
          <p:nvPr/>
        </p:nvPicPr>
        <p:blipFill>
          <a:blip r:embed="rId2"/>
          <a:stretch>
            <a:fillRect/>
          </a:stretch>
        </p:blipFill>
        <p:spPr>
          <a:xfrm>
            <a:off x="521208" y="4242816"/>
            <a:ext cx="146304" cy="146304"/>
          </a:xfrm>
          <a:prstGeom prst="rect">
            <a:avLst/>
          </a:prstGeom>
        </p:spPr>
      </p:pic>
      <p:sp>
        <p:nvSpPr>
          <p:cNvPr id="37" name="Text 32"/>
          <p:cNvSpPr txBox="1"/>
          <p:nvPr/>
        </p:nvSpPr>
        <p:spPr>
          <a:xfrm>
            <a:off x="731520" y="4169664"/>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don't want future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retention conversation, not a refund one.</a:t>
            </a:r>
            <a:endParaRPr lang="en-US" sz="1200" dirty="0"/>
          </a:p>
        </p:txBody>
      </p:sp>
      <p:sp>
        <p:nvSpPr>
          <p:cNvPr id="6" name="Shape 3"/>
          <p:cNvSpPr/>
          <p:nvPr/>
        </p:nvSpPr>
        <p:spPr>
          <a:xfrm>
            <a:off x="411480" y="1371600"/>
            <a:ext cx="26060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26060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Move into the retention flow</a:t>
            </a:r>
            <a:endParaRPr lang="en-US" sz="1000" dirty="0"/>
          </a:p>
        </p:txBody>
      </p:sp>
      <p:sp>
        <p:nvSpPr>
          <p:cNvPr id="8" name="Shape 5"/>
          <p:cNvSpPr/>
          <p:nvPr/>
        </p:nvSpPr>
        <p:spPr>
          <a:xfrm>
            <a:off x="3017520" y="1691640"/>
            <a:ext cx="246888" cy="0"/>
          </a:xfrm>
          <a:prstGeom prst="line">
            <a:avLst/>
          </a:prstGeom>
          <a:noFill/>
          <a:ln w="12700">
            <a:solidFill>
              <a:srgbClr val="6E6E73"/>
            </a:solidFill>
            <a:prstDash val="solid"/>
            <a:tailEnd type="triangle"/>
          </a:ln>
        </p:spPr>
      </p:sp>
      <p:sp>
        <p:nvSpPr>
          <p:cNvPr id="9" name="Shape 6"/>
          <p:cNvSpPr/>
          <p:nvPr/>
        </p:nvSpPr>
        <p:spPr>
          <a:xfrm>
            <a:off x="3264408" y="1371600"/>
            <a:ext cx="2606040" cy="640080"/>
          </a:xfrm>
          <a:prstGeom prst="roundRect">
            <a:avLst>
              <a:gd name="adj" fmla="val 11429"/>
            </a:avLst>
          </a:prstGeom>
          <a:solidFill>
            <a:srgbClr val="0B7A6F"/>
          </a:solidFill>
          <a:ln w="12700">
            <a:solidFill>
              <a:srgbClr val="0B7A6F"/>
            </a:solidFill>
            <a:prstDash val="solid"/>
          </a:ln>
        </p:spPr>
      </p:sp>
      <p:sp>
        <p:nvSpPr>
          <p:cNvPr id="10" name="Text 7"/>
          <p:cNvSpPr txBox="1"/>
          <p:nvPr/>
        </p:nvSpPr>
        <p:spPr>
          <a:xfrm>
            <a:off x="3264408" y="1371600"/>
            <a:ext cx="26060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$10–$15 Membership Fee reduction</a:t>
            </a:r>
            <a:endParaRPr lang="en-US" sz="1000" dirty="0"/>
          </a:p>
        </p:txBody>
      </p:sp>
      <p:sp>
        <p:nvSpPr>
          <p:cNvPr id="11" name="Shape 8"/>
          <p:cNvSpPr/>
          <p:nvPr/>
        </p:nvSpPr>
        <p:spPr>
          <a:xfrm>
            <a:off x="5870448" y="1691640"/>
            <a:ext cx="246888" cy="0"/>
          </a:xfrm>
          <a:prstGeom prst="line">
            <a:avLst/>
          </a:prstGeom>
          <a:noFill/>
          <a:ln w="12700">
            <a:solidFill>
              <a:srgbClr val="6E6E73"/>
            </a:solidFill>
            <a:prstDash val="solid"/>
            <a:tailEnd type="triangle"/>
          </a:ln>
        </p:spPr>
      </p:sp>
      <p:sp>
        <p:nvSpPr>
          <p:cNvPr id="12" name="Shape 9"/>
          <p:cNvSpPr/>
          <p:nvPr/>
        </p:nvSpPr>
        <p:spPr>
          <a:xfrm>
            <a:off x="6117336" y="1371600"/>
            <a:ext cx="2606040" cy="640080"/>
          </a:xfrm>
          <a:prstGeom prst="roundRect">
            <a:avLst>
              <a:gd name="adj" fmla="val 11429"/>
            </a:avLst>
          </a:prstGeom>
          <a:solidFill>
            <a:srgbClr val="FFF3D6"/>
          </a:solidFill>
          <a:ln w="12700">
            <a:solidFill>
              <a:srgbClr val="9A6410"/>
            </a:solidFill>
            <a:prstDash val="solid"/>
          </a:ln>
        </p:spPr>
      </p:sp>
      <p:sp>
        <p:nvSpPr>
          <p:cNvPr id="13" name="Text 10"/>
          <p:cNvSpPr txBox="1"/>
          <p:nvPr/>
        </p:nvSpPr>
        <p:spPr>
          <a:xfrm>
            <a:off x="6117336" y="1371600"/>
            <a:ext cx="26060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Need more? Escalate to Support or a TL (up to 50%)</a:t>
            </a:r>
            <a:endParaRPr lang="en-US" sz="1000" dirty="0"/>
          </a:p>
        </p:txBody>
      </p:sp>
      <p:sp>
        <p:nvSpPr>
          <p:cNvPr id="14" name="Shape 11"/>
          <p:cNvSpPr/>
          <p:nvPr/>
        </p:nvSpPr>
        <p:spPr>
          <a:xfrm>
            <a:off x="411480" y="2286000"/>
            <a:ext cx="4091940" cy="1600200"/>
          </a:xfrm>
          <a:prstGeom prst="roundRect">
            <a:avLst>
              <a:gd name="adj" fmla="val 4571"/>
            </a:avLst>
          </a:prstGeom>
          <a:solidFill>
            <a:srgbClr val="FFFFFF"/>
          </a:solidFill>
          <a:ln w="9525">
            <a:solidFill>
              <a:srgbClr val="DCE1E7"/>
            </a:solidFill>
            <a:prstDash val="solid"/>
          </a:ln>
        </p:spPr>
      </p:sp>
      <p:sp>
        <p:nvSpPr>
          <p:cNvPr id="15" name="Shape 12"/>
          <p:cNvSpPr/>
          <p:nvPr/>
        </p:nvSpPr>
        <p:spPr>
          <a:xfrm>
            <a:off x="594360" y="2468880"/>
            <a:ext cx="384048" cy="384048"/>
          </a:xfrm>
          <a:prstGeom prst="ellipse">
            <a:avLst/>
          </a:prstGeom>
          <a:solidFill>
            <a:srgbClr val="E3F4F1"/>
          </a:solidFill>
          <a:ln w="12700">
            <a:solidFill>
              <a:srgbClr val="E3F4F1"/>
            </a:solidFill>
            <a:prstDash val="solid"/>
          </a:ln>
        </p:spPr>
      </p:sp>
      <p:pic>
        <p:nvPicPr>
          <p:cNvPr id="16" name="Image 0" descr="preencoded.png">    </p:cNvPr>
          <p:cNvPicPr>
            <a:picLocks noChangeAspect="1"/>
          </p:cNvPicPr>
          <p:nvPr/>
        </p:nvPicPr>
        <p:blipFill>
          <a:blip r:embed="rId1"/>
          <a:stretch>
            <a:fillRect/>
          </a:stretch>
        </p:blipFill>
        <p:spPr>
          <a:xfrm>
            <a:off x="686532" y="2561052"/>
            <a:ext cx="199705" cy="199705"/>
          </a:xfrm>
          <a:prstGeom prst="rect">
            <a:avLst/>
          </a:prstGeom>
        </p:spPr>
      </p:pic>
      <p:sp>
        <p:nvSpPr>
          <p:cNvPr id="17" name="Text 13"/>
          <p:cNvSpPr txBox="1"/>
          <p:nvPr/>
        </p:nvSpPr>
        <p:spPr>
          <a:xfrm>
            <a:off x="10972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8" name="Text 14"/>
          <p:cNvSpPr txBox="1"/>
          <p:nvPr/>
        </p:nvSpPr>
        <p:spPr>
          <a:xfrm>
            <a:off x="5943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9" name="Shape 15"/>
          <p:cNvSpPr/>
          <p:nvPr/>
        </p:nvSpPr>
        <p:spPr>
          <a:xfrm>
            <a:off x="4640580" y="2286000"/>
            <a:ext cx="4091940" cy="1600200"/>
          </a:xfrm>
          <a:prstGeom prst="roundRect">
            <a:avLst>
              <a:gd name="adj" fmla="val 4571"/>
            </a:avLst>
          </a:prstGeom>
          <a:solidFill>
            <a:srgbClr val="FFFFFF"/>
          </a:solidFill>
          <a:ln w="9525">
            <a:solidFill>
              <a:srgbClr val="DCE1E7"/>
            </a:solidFill>
            <a:prstDash val="solid"/>
          </a:ln>
        </p:spPr>
      </p:sp>
      <p:sp>
        <p:nvSpPr>
          <p:cNvPr id="20" name="Shape 16"/>
          <p:cNvSpPr/>
          <p:nvPr/>
        </p:nvSpPr>
        <p:spPr>
          <a:xfrm>
            <a:off x="4823460" y="2468880"/>
            <a:ext cx="384048" cy="384048"/>
          </a:xfrm>
          <a:prstGeom prst="ellipse">
            <a:avLst/>
          </a:prstGeom>
          <a:solidFill>
            <a:srgbClr val="E3F4F1"/>
          </a:solidFill>
          <a:ln w="12700">
            <a:solidFill>
              <a:srgbClr val="E3F4F1"/>
            </a:solidFill>
            <a:prstDash val="solid"/>
          </a:ln>
        </p:spPr>
      </p:sp>
      <p:pic>
        <p:nvPicPr>
          <p:cNvPr id="21" name="Image 1" descr="preencoded.png">    </p:cNvPr>
          <p:cNvPicPr>
            <a:picLocks noChangeAspect="1"/>
          </p:cNvPicPr>
          <p:nvPr/>
        </p:nvPicPr>
        <p:blipFill>
          <a:blip r:embed="rId2"/>
          <a:stretch>
            <a:fillRect/>
          </a:stretch>
        </p:blipFill>
        <p:spPr>
          <a:xfrm>
            <a:off x="4915632" y="2561052"/>
            <a:ext cx="199705" cy="199705"/>
          </a:xfrm>
          <a:prstGeom prst="rect">
            <a:avLst/>
          </a:prstGeom>
        </p:spPr>
      </p:pic>
      <p:sp>
        <p:nvSpPr>
          <p:cNvPr id="22" name="Text 17"/>
          <p:cNvSpPr txBox="1"/>
          <p:nvPr/>
        </p:nvSpPr>
        <p:spPr>
          <a:xfrm>
            <a:off x="53263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23" name="Text 18"/>
          <p:cNvSpPr txBox="1"/>
          <p:nvPr/>
        </p:nvSpPr>
        <p:spPr>
          <a:xfrm>
            <a:off x="48234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2026-10-07T16:13:21Z</dcterms:created>
  <dcterms:modified xsi:type="dcterms:W3CDTF">2026-10-07T16:13:21Z</dcterms:modified>
</cp:coreProperties>
</file>