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three topics from the Knowledge Library: General Guidance: Incorrect Information Provided; AG-Refund: Last-Minute Cancellation (LMC); and AG-Refund: Lockout (LO). The common thread: validate first, then decide how generous to be. Each topic ends with a knowledge check and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and 3 are action guides for two charges customers contest often: the Last-Minute Cancellation fee and the Lockout charge. Both follow the same two-step shape: is the charge valid, and if so, which customer tier applies.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status to Waiting on CSQ. If misinformation is not verified, clarify the information and address any confusion.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 Recommended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Incorrect Information ticket. Give trainees a few minutes to review it on their own, then work through it together. 1) Is there verified misinformation? What exactly was said, and by whom? "At $23/hour" is a guarantee; "around" or "starting at" is an estimate. Would this need a Sales call review (request, internal note with the escalation link, status Waiting on CSQ)? 2) What was the misinformation, and how do we correct it? Refund the gap, own the error, correct the charges or expectations, one light offer; declined or not retainable: waive the ETF and cancel the FC. Which macro? 3) 5-minute writing challenge: each trainee writes the comms they would send the customer. Read a few aloud and compare.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 TRAINER: in slideshow mode, click Refund the LMC charge or Hold back the CP's $20 to play that how-to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Last-Minute Cancellation ticket. Give trainees a few minutes to review it on their own, then work through it together. 1) Is this a valid or invalid LMC fee, and why? Check the six automatic waivers first: job still Submitted (no CP matched), severe weather, CP rescheduled less than 24 hours before, Alternate Start Time claimed, ETA asked with no check-in, or all of these together. Then read what the customer and the CP said (e.g. the CP asked to reschedule or cancel, or no-showed). 2) What actions are you going to take? Invalid: refund the LMC charge and create a $20 Cleaner Payment Holdback (invalid_lmc, 2000 cents); special case if the job was completed anyway. Valid: only if the customer asks for a refund or contests it, go straight to their customer category offer. Which macro? 3) 5-minute writing challenge: each trainee writes the comms they would send the customer. Read a few aloud and compare.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Invalid: refund through the CP Dashboard (it charges the cost back to the CP, who made the error), not an admin refund; also refund the Premium fee if any. All yes: valid, go to Step 3 (click the All yes box). WHAT TO CHECK: 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 IMPORTANT: These requirements may be disregarded if the CP claims that the C did not let them in or wanted to cancel upon their arrival. If this is the case, check for other indicators proving that CP did arrive on time at the C's location. TRAINER: the Always note shows on the right when the slide opens; the details are hidden. Click 1 opens question 1's details, click 2 swaps to question 2, click 3 to question 3, click 4 to question 4, click 5 closes them. In slideshow mode, click the All yes box to jump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 TRAINER: click once to show why the CP was denied entry (left), click again to show why the Support cancellation case is our fault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CP reports a lockout, whether they ask for lockout pay directly or only describe what happened, treat it as a request for lockout pay review. Signals: the CP mentions time waited, travel, gas or cost, or lost earnings, or asks what happens with the job. The exception is a CP who clearly only wants the job cancelled. Validate using Step 1, including the lateness exception. If the customer had cancelled through Support and we didn't act, follow that special scenario. Outcomes: valid lockout the CP didn't submit (didn't know how, app issue): pay the standard lockout amount. Invalid lockout but evidence the CP was on site: one-time courtesy MCP if the CP has no cp_false_check_in or false invoice flags, isn't suspended, and hasn't had courtesy lockout pay in the last 90 days. No evidence the CP was on site: no pay; explain the lockout requirements. MCPs over $40 still need Support approval. Why: requiring specific words would reward CPs who know our terms over CPs who were actually locked out. The courtesy conditions are checkable, so every agent and QA reviewer reaches the same answer; the 90-day cap protects against abuse.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Lockout ticket. Give trainees a few minutes to review it on their own, then work through it together. 1) Is the lockout valid or invalid, and why? Walk the four questions in order: did the customer want the appointment, did the CP arrive on time (30 min before to 30 min after start), did the CP arrive at the address, and did the CP try to complete it (2+ contact attempts, 5+ min apart, 15+ min on site, entry notes followed). Remember the exception if the customer refused entry or wanted to cancel on arrival. 2) What actions are you going to take? Invalid: refund through the CP Dashboard (and the Premium fee if charged). Valid: only if the customer asks for a refund or contests the charge, go straight to their customer category offer. Check the special scenarios (entry denied for CP fault or T&amp;S; cancelled via Support but not actioned). Leave an internal note with your findings. Which macro? 3) 5-minute writing challenge: each trainee writes the comms they would send the customer. Read a few aloud and compare.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and Lockouts (four validation questions; invalid goes through the CP Dashboard; valid goes by category, keeping $40 for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cs.google.com/spreadsheets/d/1uW45nsR5hVwTl9x32EWYaOevp_LeXd61mLAM7qUTv2I/edit?gid=0#gid=0" TargetMode="External"/><Relationship Id="rId4"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rive.google.com/file/d/1dGh4N34uNXt2b5cvOZ1YuZrXYro7ufBa/view?usp=sharing" TargetMode="External"/><Relationship Id="rId2" Type="http://schemas.openxmlformats.org/officeDocument/2006/relationships/hyperlink" Target="https://drive.google.com/file/d/1gqoWAA__DzuEuV7R4xlQCMbLl--T5nq6/view?usp=sharing" TargetMode="Externa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slide" Target="slide22.xml"/><Relationship Id="rId3" Type="http://schemas.openxmlformats.org/officeDocument/2006/relationships/slide" Target="slide22.xml"/><Relationship Id="rId1" Type="http://schemas.openxmlformats.org/officeDocument/2006/relationships/image" Target="../media/image-21-1.png"/><Relationship Id="rId4" Type="http://schemas.openxmlformats.org/officeDocument/2006/relationships/image" Target="../media/image-21-2.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Incorrect Info,</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LMC &amp; Lockouts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last-minute cancellation and lockout charges.</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topics. Click a topic to jump to it.</a:t>
            </a:r>
            <a:endParaRPr lang="en-US" sz="1200" dirty="0"/>
          </a:p>
        </p:txBody>
      </p:sp>
      <p:sp>
        <p:nvSpPr>
          <p:cNvPr id="6" name="Text 3">
            <a:hlinkClick r:id="rId1" tooltip="Go to General Guidance: Incorrect Information Provided" action="ppaction://hlinksldjump"/>
          </p:cNvPr>
          <p:cNvSpPr/>
          <p:nvPr/>
        </p:nvSpPr>
        <p:spPr>
          <a:xfrm>
            <a:off x="411480" y="1371600"/>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General Guidance: Incorrect Information Provided</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We promised something we can't deliver. Fix it, own it, and don't charge an ETF for it.</a:t>
            </a:r>
            <a:endParaRPr lang="en-US" sz="1400" dirty="0"/>
          </a:p>
        </p:txBody>
      </p:sp>
      <p:sp>
        <p:nvSpPr>
          <p:cNvPr id="7" name="Text 4">
            <a:hlinkClick r:id="rId2" tooltip="Go to General Guidance: Incorrect Information Provided" action="ppaction://hlinksldjump"/>
          </p:cNvPr>
          <p:cNvSpPr/>
          <p:nvPr/>
        </p:nvSpPr>
        <p:spPr>
          <a:xfrm>
            <a:off x="548640" y="1371600"/>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01</a:t>
            </a:r>
            <a:endParaRPr lang="en-US" sz="1800" dirty="0"/>
          </a:p>
        </p:txBody>
      </p:sp>
      <p:sp>
        <p:nvSpPr>
          <p:cNvPr id="8" name="Text 5">
            <a:hlinkClick r:id="rId3" tooltip="Go to General Guidance: Incorrect Information Provided" action="ppaction://hlinksldjump"/>
          </p:cNvPr>
          <p:cNvSpPr/>
          <p:nvPr/>
        </p:nvSpPr>
        <p:spPr>
          <a:xfrm>
            <a:off x="8229600" y="1371600"/>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9" name="Text 6">
            <a:hlinkClick r:id="rId4" tooltip="Go to AG-Refund: Last-Minute Cancellation (LMC)" action="ppaction://hlinksldjump"/>
          </p:cNvPr>
          <p:cNvSpPr/>
          <p:nvPr/>
        </p:nvSpPr>
        <p:spPr>
          <a:xfrm>
            <a:off x="411480" y="2414016"/>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Last-Minute Cancellation (LMC)</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$40 fee for cancelling within 6 hours: is it valid, and how much do we refund?</a:t>
            </a:r>
            <a:endParaRPr lang="en-US" sz="1400" dirty="0"/>
          </a:p>
        </p:txBody>
      </p:sp>
      <p:sp>
        <p:nvSpPr>
          <p:cNvPr id="10" name="Text 7">
            <a:hlinkClick r:id="rId5" tooltip="Go to AG-Refund: Last-Minute Cancellation (LMC)" action="ppaction://hlinksldjump"/>
          </p:cNvPr>
          <p:cNvSpPr/>
          <p:nvPr/>
        </p:nvSpPr>
        <p:spPr>
          <a:xfrm>
            <a:off x="548640" y="2414016"/>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02</a:t>
            </a:r>
            <a:endParaRPr lang="en-US" sz="1800" dirty="0"/>
          </a:p>
        </p:txBody>
      </p:sp>
      <p:sp>
        <p:nvSpPr>
          <p:cNvPr id="11" name="Text 8">
            <a:hlinkClick r:id="rId6" tooltip="Go to AG-Refund: Last-Minute Cancellation (LMC)" action="ppaction://hlinksldjump"/>
          </p:cNvPr>
          <p:cNvSpPr/>
          <p:nvPr/>
        </p:nvSpPr>
        <p:spPr>
          <a:xfrm>
            <a:off x="8229600" y="2414016"/>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12" name="Text 9">
            <a:hlinkClick r:id="rId7" tooltip="Go to AG-Refund: Lockout (LO)" action="ppaction://hlinksldjump"/>
          </p:cNvPr>
          <p:cNvSpPr/>
          <p:nvPr/>
        </p:nvSpPr>
        <p:spPr>
          <a:xfrm>
            <a:off x="411480" y="3456432"/>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Lockout (LO)</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CP couldn't get in. Validate the claim, then refund by customer tier.</a:t>
            </a:r>
            <a:endParaRPr lang="en-US" sz="1400" dirty="0"/>
          </a:p>
        </p:txBody>
      </p:sp>
      <p:sp>
        <p:nvSpPr>
          <p:cNvPr id="13" name="Text 10">
            <a:hlinkClick r:id="rId8" tooltip="Go to AG-Refund: Lockout (LO)" action="ppaction://hlinksldjump"/>
          </p:cNvPr>
          <p:cNvSpPr/>
          <p:nvPr/>
        </p:nvSpPr>
        <p:spPr>
          <a:xfrm>
            <a:off x="548640" y="3456432"/>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03</a:t>
            </a:r>
            <a:endParaRPr lang="en-US" sz="1800" dirty="0"/>
          </a:p>
        </p:txBody>
      </p:sp>
      <p:sp>
        <p:nvSpPr>
          <p:cNvPr id="14" name="Text 11">
            <a:hlinkClick r:id="rId9" tooltip="Go to AG-Refund: Lockout (LO)" action="ppaction://hlinksldjump"/>
          </p:cNvPr>
          <p:cNvSpPr/>
          <p:nvPr/>
        </p:nvSpPr>
        <p:spPr>
          <a:xfrm>
            <a:off x="8229600" y="3456432"/>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pPr indent="0" marL="0">
              <a:buNone/>
            </a:pP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457200"/>
          </a:xfrm>
          <a:prstGeom prst="roundRect">
            <a:avLst>
              <a:gd name="adj" fmla="val 16000"/>
            </a:avLst>
          </a:prstGeom>
          <a:solidFill>
            <a:srgbClr val="FFFFFF"/>
          </a:solidFill>
          <a:ln w="12700">
            <a:solidFill>
              <a:srgbClr val="DCE1E7"/>
            </a:solidFill>
            <a:prstDash val="solid"/>
          </a:ln>
        </p:spPr>
      </p:sp>
      <p:sp>
        <p:nvSpPr>
          <p:cNvPr id="21" name="Text 18"/>
          <p:cNvSpPr txBox="1"/>
          <p:nvPr/>
        </p:nvSpPr>
        <p:spPr>
          <a:xfrm>
            <a:off x="2377440" y="2103120"/>
            <a:ext cx="187452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Clarify the information and address any confusion</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pPr indent="0" marL="0">
              <a:buNone/>
            </a:pP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0"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1"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2"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3"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4"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5"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6"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status to Waiting on CSQ</a:t>
            </a:r>
            <a:endParaRPr lang="en-US" sz="1000" dirty="0"/>
          </a:p>
        </p:txBody>
      </p:sp>
      <p:sp>
        <p:nvSpPr>
          <p:cNvPr id="47" name="pop1_2LinkBg">
            <a:hlinkClick r:id="rId4"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48" name="pop1_2LinkIcon" descr="preencoded.png">
            <a:hlinkClick r:id="rId4" tooltip="Open the Sales call review request sheet"/>
          </p:cNvPr>
          <p:cNvPicPr>
            <a:picLocks noChangeAspect="1"/>
          </p:cNvPicPr>
          <p:nvPr/>
        </p:nvPicPr>
        <p:blipFill>
          <a:blip r:embed="rId3"/>
          <a:stretch>
            <a:fillRect/>
          </a:stretch>
        </p:blipFill>
        <p:spPr>
          <a:xfrm>
            <a:off x="2734056" y="2898648"/>
            <a:ext cx="155448" cy="155448"/>
          </a:xfrm>
          <a:prstGeom prst="rect">
            <a:avLst/>
          </a:prstGeom>
        </p:spPr>
      </p:pic>
      <p:sp>
        <p:nvSpPr>
          <p:cNvPr id="49"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6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6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600"/>
                                        <p:tgtEl>
                                          <p:spTgt spid="4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6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600"/>
                                        <p:tgtEl>
                                          <p:spTgt spid="4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600"/>
                                        <p:tgtEl>
                                          <p:spTgt spid="4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600"/>
                                        <p:tgtEl>
                                          <p:spTgt spid="4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600"/>
                                        <p:tgtEl>
                                          <p:spTgt spid="4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600"/>
                                        <p:tgtEl>
                                          <p:spTgt spid="4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6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600"/>
                                        <p:tgtEl>
                                          <p:spTgt spid="49"/>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3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0"/>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1"/>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2"/>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6"/>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47"/>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48"/>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45" grpId="0" animBg="1"/>
      <p:bldP spid="46" grpId="0" animBg="1"/>
      <p:bldP spid="47" grpId="0" animBg="1"/>
      <p:bldP spid="49" grpId="0" animBg="1"/>
      <p:bldP spid="39" grpId="1" animBg="1"/>
      <p:bldP spid="40" grpId="1" animBg="1"/>
      <p:bldP spid="41" grpId="1" animBg="1"/>
      <p:bldP spid="42" grpId="1" animBg="1"/>
      <p:bldP spid="43" grpId="1" animBg="1"/>
      <p:bldP spid="44" grpId="1" animBg="1"/>
      <p:bldP spid="45" grpId="1" animBg="1"/>
      <p:bldP spid="46" grpId="1" animBg="1"/>
      <p:bldP spid="47" grpId="1" animBg="1"/>
      <p:bldP spid="4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pPr indent="0" marL="0">
              <a:buNone/>
            </a:pP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4" name="Shape 20"/>
          <p:cNvSpPr/>
          <p:nvPr/>
        </p:nvSpPr>
        <p:spPr>
          <a:xfrm>
            <a:off x="411480" y="3611880"/>
            <a:ext cx="5669280" cy="292608"/>
          </a:xfrm>
          <a:prstGeom prst="roundRect">
            <a:avLst>
              <a:gd name="adj" fmla="val 25000"/>
            </a:avLst>
          </a:prstGeom>
          <a:solidFill>
            <a:srgbClr val="FFF3D6"/>
          </a:solidFill>
          <a:ln w="9525">
            <a:solidFill>
              <a:srgbClr val="9A6410"/>
            </a:solidFill>
            <a:prstDash val="solid"/>
          </a:ln>
        </p:spPr>
      </p:sp>
      <p:pic>
        <p:nvPicPr>
          <p:cNvPr id="25" name="Image 1" descr="preencoded.png">    </p:cNvPr>
          <p:cNvPicPr>
            <a:picLocks noChangeAspect="1"/>
          </p:cNvPicPr>
          <p:nvPr/>
        </p:nvPicPr>
        <p:blipFill>
          <a:blip r:embed="rId2"/>
          <a:stretch>
            <a:fillRect/>
          </a:stretch>
        </p:blipFill>
        <p:spPr>
          <a:xfrm>
            <a:off x="521208" y="3685032"/>
            <a:ext cx="146304" cy="146304"/>
          </a:xfrm>
          <a:prstGeom prst="rect">
            <a:avLst/>
          </a:prstGeom>
        </p:spPr>
      </p:pic>
      <p:sp>
        <p:nvSpPr>
          <p:cNvPr id="26" name="Text 21"/>
          <p:cNvSpPr txBox="1"/>
          <p:nvPr/>
        </p:nvSpPr>
        <p:spPr>
          <a:xfrm>
            <a:off x="731520" y="361188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Quick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there verified misinformation?</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exactly was said: a promise or an estimate?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are those, and how do we correct them?</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gap, own it, correct it, one light offer.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pPr indent="0" marL="0">
              <a:buNone/>
            </a:pP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Text 4">
            <a:hlinkClick r:id="rId1" tooltip="Play: how to refund the LMC fee"/>
          </p:cNvPr>
          <p:cNvSpPr/>
          <p:nvPr/>
        </p:nvSpPr>
        <p:spPr>
          <a:xfrm>
            <a:off x="411480" y="164592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Refund the LMC charge</a:t>
            </a:r>
            <a:endParaRPr lang="en-US" sz="1000" dirty="0"/>
          </a:p>
        </p:txBody>
      </p:sp>
      <p:sp>
        <p:nvSpPr>
          <p:cNvPr id="8" name="Text 5"/>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9" name="Shape 6"/>
          <p:cNvSpPr/>
          <p:nvPr/>
        </p:nvSpPr>
        <p:spPr>
          <a:xfrm>
            <a:off x="2240280" y="2468880"/>
            <a:ext cx="0" cy="182880"/>
          </a:xfrm>
          <a:prstGeom prst="line">
            <a:avLst/>
          </a:prstGeom>
          <a:noFill/>
          <a:ln w="12700">
            <a:solidFill>
              <a:srgbClr val="6E6E73"/>
            </a:solidFill>
            <a:prstDash val="solid"/>
            <a:tailEnd type="triangle"/>
          </a:ln>
        </p:spPr>
      </p:sp>
      <p:sp>
        <p:nvSpPr>
          <p:cNvPr id="10" name="Text 7">
            <a:hlinkClick r:id="rId2" tooltip="Play: how to create an LMC fee holdback"/>
          </p:cNvPr>
          <p:cNvSpPr/>
          <p:nvPr/>
        </p:nvSpPr>
        <p:spPr>
          <a:xfrm>
            <a:off x="411480" y="265176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Hold back the CP's $20</a:t>
            </a:r>
            <a:endParaRPr lang="en-US" sz="1000" dirty="0"/>
          </a:p>
        </p:txBody>
      </p:sp>
      <p:sp>
        <p:nvSpPr>
          <p:cNvPr id="11" name="Text 8"/>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2" name="Text 9"/>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LMC was charged but JOB COMPLETED later anyway</a:t>
            </a:r>
            <a:endParaRPr lang="en-US" sz="800" dirty="0"/>
          </a:p>
        </p:txBody>
      </p:sp>
      <p:sp>
        <p:nvSpPr>
          <p:cNvPr id="13" name="Shape 10"/>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4" name="Text 11"/>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Offer credits up to 100% of the fee, not cash refund. reason code: lmc</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Upset? Send to Service Recovery. </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Cancelling? Offer to apply the LMC fee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pPr indent="0" marL="0">
              <a:buNone/>
            </a:pPr>
            <a:r>
              <a:rPr lang="en-US" sz="1000" dirty="0">
                <a:solidFill>
                  <a:srgbClr val="1D1D1F"/>
                </a:solidFill>
                <a:latin typeface="SF Pro Text" pitchFamily="34" charset="0"/>
                <a:ea typeface="SF Pro Text" pitchFamily="34" charset="-122"/>
                <a:cs typeface="SF Pro Text" pitchFamily="34" charset="-120"/>
              </a:rPr>
              <a:t>use this table only when the customer explicitly asks a refund or contests the charge,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check</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New CRM › Payment History </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Open Customer Stripe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Failed charges: Tracked in Stripe only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 after a couple of times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pPr indent="0" marL="0">
              <a:buNone/>
            </a:pP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this a valid or invalid LMC fee?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Investigate, check the messages, what caused the customer to cancel?</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refund + $20 holdback.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paid</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 receives $40 or actual CP pay whichever is lower.</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pPr indent="0" marL="0">
              <a:buNone/>
            </a:pP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3474720" cy="384048"/>
          </a:xfrm>
          <a:prstGeom prst="roundRect">
            <a:avLst>
              <a:gd name="adj" fmla="val 19048"/>
            </a:avLst>
          </a:prstGeom>
          <a:solidFill>
            <a:srgbClr val="FFF3D6"/>
          </a:solidFill>
          <a:ln w="12700">
            <a:solidFill>
              <a:srgbClr val="9A6410"/>
            </a:solidFill>
            <a:prstDash val="solid"/>
          </a:ln>
        </p:spPr>
      </p:sp>
      <p:sp>
        <p:nvSpPr>
          <p:cNvPr id="7" name="Text 4"/>
          <p:cNvSpPr txBox="1"/>
          <p:nvPr/>
        </p:nvSpPr>
        <p:spPr>
          <a:xfrm>
            <a:off x="502920" y="1298448"/>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950" dirty="0"/>
          </a:p>
        </p:txBody>
      </p:sp>
      <p:sp>
        <p:nvSpPr>
          <p:cNvPr id="8" name="Text 5"/>
          <p:cNvSpPr/>
          <p:nvPr/>
        </p:nvSpPr>
        <p:spPr>
          <a:xfrm>
            <a:off x="3099816" y="1371600"/>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9" name="Shape 6"/>
          <p:cNvSpPr/>
          <p:nvPr/>
        </p:nvSpPr>
        <p:spPr>
          <a:xfrm>
            <a:off x="1600200" y="1682496"/>
            <a:ext cx="0" cy="128016"/>
          </a:xfrm>
          <a:prstGeom prst="line">
            <a:avLst/>
          </a:prstGeom>
          <a:noFill/>
          <a:ln w="12700">
            <a:solidFill>
              <a:srgbClr val="6E6E73"/>
            </a:solidFill>
            <a:prstDash val="solid"/>
            <a:tailEnd type="triangle"/>
          </a:ln>
        </p:spPr>
      </p:sp>
      <p:sp>
        <p:nvSpPr>
          <p:cNvPr id="10" name="Text 7"/>
          <p:cNvSpPr txBox="1"/>
          <p:nvPr/>
        </p:nvSpPr>
        <p:spPr>
          <a:xfrm>
            <a:off x="1655064" y="1682496"/>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1" name="Shape 8"/>
          <p:cNvSpPr/>
          <p:nvPr/>
        </p:nvSpPr>
        <p:spPr>
          <a:xfrm>
            <a:off x="3886200" y="1490472"/>
            <a:ext cx="228600" cy="0"/>
          </a:xfrm>
          <a:prstGeom prst="line">
            <a:avLst/>
          </a:prstGeom>
          <a:noFill/>
          <a:ln w="12700">
            <a:solidFill>
              <a:srgbClr val="6E6E73"/>
            </a:solidFill>
            <a:prstDash val="solid"/>
          </a:ln>
        </p:spPr>
      </p:sp>
      <p:sp>
        <p:nvSpPr>
          <p:cNvPr id="12" name="Text 9"/>
          <p:cNvSpPr txBox="1"/>
          <p:nvPr/>
        </p:nvSpPr>
        <p:spPr>
          <a:xfrm>
            <a:off x="3922776" y="1325880"/>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13" name="Shape 10"/>
          <p:cNvSpPr/>
          <p:nvPr/>
        </p:nvSpPr>
        <p:spPr>
          <a:xfrm>
            <a:off x="411480" y="1810512"/>
            <a:ext cx="3474720" cy="384048"/>
          </a:xfrm>
          <a:prstGeom prst="roundRect">
            <a:avLst>
              <a:gd name="adj" fmla="val 19048"/>
            </a:avLst>
          </a:prstGeom>
          <a:solidFill>
            <a:srgbClr val="FFF3D6"/>
          </a:solidFill>
          <a:ln w="12700">
            <a:solidFill>
              <a:srgbClr val="9A6410"/>
            </a:solidFill>
            <a:prstDash val="solid"/>
          </a:ln>
        </p:spPr>
      </p:sp>
      <p:sp>
        <p:nvSpPr>
          <p:cNvPr id="14" name="Text 11"/>
          <p:cNvSpPr txBox="1"/>
          <p:nvPr/>
        </p:nvSpPr>
        <p:spPr>
          <a:xfrm>
            <a:off x="502920" y="1810512"/>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2  Did the CP arrive on time?</a:t>
            </a:r>
            <a:endParaRPr lang="en-US" sz="950" dirty="0"/>
          </a:p>
        </p:txBody>
      </p:sp>
      <p:sp>
        <p:nvSpPr>
          <p:cNvPr id="15" name="Text 12"/>
          <p:cNvSpPr/>
          <p:nvPr/>
        </p:nvSpPr>
        <p:spPr>
          <a:xfrm>
            <a:off x="3099816" y="1883664"/>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16" name="Shape 13"/>
          <p:cNvSpPr/>
          <p:nvPr/>
        </p:nvSpPr>
        <p:spPr>
          <a:xfrm>
            <a:off x="1600200" y="2194560"/>
            <a:ext cx="0" cy="128016"/>
          </a:xfrm>
          <a:prstGeom prst="line">
            <a:avLst/>
          </a:prstGeom>
          <a:noFill/>
          <a:ln w="12700">
            <a:solidFill>
              <a:srgbClr val="6E6E73"/>
            </a:solidFill>
            <a:prstDash val="solid"/>
            <a:tailEnd type="triangle"/>
          </a:ln>
        </p:spPr>
      </p:sp>
      <p:sp>
        <p:nvSpPr>
          <p:cNvPr id="17" name="Text 14"/>
          <p:cNvSpPr txBox="1"/>
          <p:nvPr/>
        </p:nvSpPr>
        <p:spPr>
          <a:xfrm>
            <a:off x="1655064" y="2194560"/>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8" name="Shape 15"/>
          <p:cNvSpPr/>
          <p:nvPr/>
        </p:nvSpPr>
        <p:spPr>
          <a:xfrm>
            <a:off x="3886200" y="2002536"/>
            <a:ext cx="228600" cy="0"/>
          </a:xfrm>
          <a:prstGeom prst="line">
            <a:avLst/>
          </a:prstGeom>
          <a:noFill/>
          <a:ln w="12700">
            <a:solidFill>
              <a:srgbClr val="6E6E73"/>
            </a:solidFill>
            <a:prstDash val="solid"/>
          </a:ln>
        </p:spPr>
      </p:sp>
      <p:sp>
        <p:nvSpPr>
          <p:cNvPr id="19" name="Text 16"/>
          <p:cNvSpPr txBox="1"/>
          <p:nvPr/>
        </p:nvSpPr>
        <p:spPr>
          <a:xfrm>
            <a:off x="3922776" y="1837944"/>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0" name="Shape 17"/>
          <p:cNvSpPr/>
          <p:nvPr/>
        </p:nvSpPr>
        <p:spPr>
          <a:xfrm>
            <a:off x="411480" y="2322576"/>
            <a:ext cx="3474720" cy="384048"/>
          </a:xfrm>
          <a:prstGeom prst="roundRect">
            <a:avLst>
              <a:gd name="adj" fmla="val 19048"/>
            </a:avLst>
          </a:prstGeom>
          <a:solidFill>
            <a:srgbClr val="FFF3D6"/>
          </a:solidFill>
          <a:ln w="12700">
            <a:solidFill>
              <a:srgbClr val="9A6410"/>
            </a:solidFill>
            <a:prstDash val="solid"/>
          </a:ln>
        </p:spPr>
      </p:sp>
      <p:sp>
        <p:nvSpPr>
          <p:cNvPr id="21" name="Text 18"/>
          <p:cNvSpPr txBox="1"/>
          <p:nvPr/>
        </p:nvSpPr>
        <p:spPr>
          <a:xfrm>
            <a:off x="502920" y="2322576"/>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950" dirty="0"/>
          </a:p>
        </p:txBody>
      </p:sp>
      <p:sp>
        <p:nvSpPr>
          <p:cNvPr id="22" name="Text 19"/>
          <p:cNvSpPr/>
          <p:nvPr/>
        </p:nvSpPr>
        <p:spPr>
          <a:xfrm>
            <a:off x="3099816" y="2395728"/>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23" name="Shape 20"/>
          <p:cNvSpPr/>
          <p:nvPr/>
        </p:nvSpPr>
        <p:spPr>
          <a:xfrm>
            <a:off x="1600200" y="2706624"/>
            <a:ext cx="0" cy="128016"/>
          </a:xfrm>
          <a:prstGeom prst="line">
            <a:avLst/>
          </a:prstGeom>
          <a:noFill/>
          <a:ln w="12700">
            <a:solidFill>
              <a:srgbClr val="6E6E73"/>
            </a:solidFill>
            <a:prstDash val="solid"/>
            <a:tailEnd type="triangle"/>
          </a:ln>
        </p:spPr>
      </p:sp>
      <p:sp>
        <p:nvSpPr>
          <p:cNvPr id="24" name="Text 21"/>
          <p:cNvSpPr txBox="1"/>
          <p:nvPr/>
        </p:nvSpPr>
        <p:spPr>
          <a:xfrm>
            <a:off x="1655064" y="2706624"/>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25" name="Shape 22"/>
          <p:cNvSpPr/>
          <p:nvPr/>
        </p:nvSpPr>
        <p:spPr>
          <a:xfrm>
            <a:off x="3886200" y="2514600"/>
            <a:ext cx="228600" cy="0"/>
          </a:xfrm>
          <a:prstGeom prst="line">
            <a:avLst/>
          </a:prstGeom>
          <a:noFill/>
          <a:ln w="12700">
            <a:solidFill>
              <a:srgbClr val="6E6E73"/>
            </a:solidFill>
            <a:prstDash val="solid"/>
          </a:ln>
        </p:spPr>
      </p:sp>
      <p:sp>
        <p:nvSpPr>
          <p:cNvPr id="26" name="Text 23"/>
          <p:cNvSpPr txBox="1"/>
          <p:nvPr/>
        </p:nvSpPr>
        <p:spPr>
          <a:xfrm>
            <a:off x="3922776" y="2350008"/>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7" name="Shape 24"/>
          <p:cNvSpPr/>
          <p:nvPr/>
        </p:nvSpPr>
        <p:spPr>
          <a:xfrm>
            <a:off x="411480" y="2834640"/>
            <a:ext cx="3474720" cy="384048"/>
          </a:xfrm>
          <a:prstGeom prst="roundRect">
            <a:avLst>
              <a:gd name="adj" fmla="val 19048"/>
            </a:avLst>
          </a:prstGeom>
          <a:solidFill>
            <a:srgbClr val="FFF3D6"/>
          </a:solidFill>
          <a:ln w="12700">
            <a:solidFill>
              <a:srgbClr val="9A6410"/>
            </a:solidFill>
            <a:prstDash val="solid"/>
          </a:ln>
        </p:spPr>
      </p:sp>
      <p:sp>
        <p:nvSpPr>
          <p:cNvPr id="28" name="Text 25"/>
          <p:cNvSpPr txBox="1"/>
          <p:nvPr/>
        </p:nvSpPr>
        <p:spPr>
          <a:xfrm>
            <a:off x="502920" y="2834640"/>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4  Did the CP try to complete it?</a:t>
            </a:r>
            <a:endParaRPr lang="en-US" sz="950" dirty="0"/>
          </a:p>
        </p:txBody>
      </p:sp>
      <p:sp>
        <p:nvSpPr>
          <p:cNvPr id="29" name="Text 26"/>
          <p:cNvSpPr/>
          <p:nvPr/>
        </p:nvSpPr>
        <p:spPr>
          <a:xfrm>
            <a:off x="3099816" y="2907792"/>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30" name="Shape 27"/>
          <p:cNvSpPr/>
          <p:nvPr/>
        </p:nvSpPr>
        <p:spPr>
          <a:xfrm>
            <a:off x="3886200" y="3026664"/>
            <a:ext cx="228600" cy="0"/>
          </a:xfrm>
          <a:prstGeom prst="line">
            <a:avLst/>
          </a:prstGeom>
          <a:noFill/>
          <a:ln w="12700">
            <a:solidFill>
              <a:srgbClr val="6E6E73"/>
            </a:solidFill>
            <a:prstDash val="solid"/>
          </a:ln>
        </p:spPr>
      </p:sp>
      <p:sp>
        <p:nvSpPr>
          <p:cNvPr id="31" name="Text 28"/>
          <p:cNvSpPr txBox="1"/>
          <p:nvPr/>
        </p:nvSpPr>
        <p:spPr>
          <a:xfrm>
            <a:off x="3922776" y="2862072"/>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32" name="Shape 29"/>
          <p:cNvSpPr/>
          <p:nvPr/>
        </p:nvSpPr>
        <p:spPr>
          <a:xfrm>
            <a:off x="4114800" y="1490472"/>
            <a:ext cx="0" cy="1536192"/>
          </a:xfrm>
          <a:prstGeom prst="line">
            <a:avLst/>
          </a:prstGeom>
          <a:noFill/>
          <a:ln w="12700">
            <a:solidFill>
              <a:srgbClr val="6E6E73"/>
            </a:solidFill>
            <a:prstDash val="solid"/>
          </a:ln>
        </p:spPr>
      </p:sp>
      <p:sp>
        <p:nvSpPr>
          <p:cNvPr id="33" name="Shape 30"/>
          <p:cNvSpPr/>
          <p:nvPr/>
        </p:nvSpPr>
        <p:spPr>
          <a:xfrm>
            <a:off x="4114800" y="2276856"/>
            <a:ext cx="164592" cy="0"/>
          </a:xfrm>
          <a:prstGeom prst="line">
            <a:avLst/>
          </a:prstGeom>
          <a:noFill/>
          <a:ln w="12700">
            <a:solidFill>
              <a:srgbClr val="6E6E73"/>
            </a:solidFill>
            <a:prstDash val="solid"/>
            <a:tailEnd type="triangle"/>
          </a:ln>
        </p:spPr>
      </p:sp>
      <p:sp>
        <p:nvSpPr>
          <p:cNvPr id="34" name="Shape 31"/>
          <p:cNvSpPr/>
          <p:nvPr/>
        </p:nvSpPr>
        <p:spPr>
          <a:xfrm>
            <a:off x="4279392" y="1975104"/>
            <a:ext cx="1463040" cy="457200"/>
          </a:xfrm>
          <a:prstGeom prst="roundRect">
            <a:avLst>
              <a:gd name="adj" fmla="val 16000"/>
            </a:avLst>
          </a:prstGeom>
          <a:solidFill>
            <a:srgbClr val="1D1D1F"/>
          </a:solidFill>
          <a:ln w="12700">
            <a:solidFill>
              <a:srgbClr val="1D1D1F"/>
            </a:solidFill>
            <a:prstDash val="solid"/>
          </a:ln>
        </p:spPr>
      </p:sp>
      <p:sp>
        <p:nvSpPr>
          <p:cNvPr id="35" name="Text 32"/>
          <p:cNvSpPr txBox="1"/>
          <p:nvPr/>
        </p:nvSpPr>
        <p:spPr>
          <a:xfrm>
            <a:off x="4279392" y="1975104"/>
            <a:ext cx="14630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Dashboard</a:t>
            </a:r>
            <a:endParaRPr lang="en-US" sz="1000" dirty="0"/>
          </a:p>
        </p:txBody>
      </p:sp>
      <p:sp>
        <p:nvSpPr>
          <p:cNvPr id="36" name="Shape 3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37"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38" name="Text 3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Important:  </a:t>
            </a:r>
            <a:pPr indent="0" marL="0">
              <a:buNone/>
            </a:pPr>
            <a:r>
              <a:rPr lang="en-US" sz="950" b="1" dirty="0">
                <a:solidFill>
                  <a:srgbClr val="1D1D1F"/>
                </a:solidFill>
                <a:latin typeface="SF Pro Display" pitchFamily="34" charset="0"/>
                <a:ea typeface="SF Pro Display" pitchFamily="34" charset="-122"/>
                <a:cs typeface="SF Pro Display" pitchFamily="34" charset="-120"/>
              </a:rPr>
              <a:t>Premium fee charged? → Always refund</a:t>
            </a:r>
            <a:endParaRPr lang="en-US" sz="950" dirty="0"/>
          </a:p>
        </p:txBody>
      </p:sp>
      <p:sp>
        <p:nvSpPr>
          <p:cNvPr id="39" name="Shape 35"/>
          <p:cNvSpPr/>
          <p:nvPr/>
        </p:nvSpPr>
        <p:spPr>
          <a:xfrm>
            <a:off x="1600200" y="3218688"/>
            <a:ext cx="0" cy="128016"/>
          </a:xfrm>
          <a:prstGeom prst="line">
            <a:avLst/>
          </a:prstGeom>
          <a:noFill/>
          <a:ln w="12700">
            <a:solidFill>
              <a:srgbClr val="6E6E73"/>
            </a:solidFill>
            <a:prstDash val="solid"/>
            <a:tailEnd type="triangle"/>
          </a:ln>
        </p:spPr>
      </p:sp>
      <p:sp>
        <p:nvSpPr>
          <p:cNvPr id="40" name="Text 36"/>
          <p:cNvSpPr txBox="1"/>
          <p:nvPr/>
        </p:nvSpPr>
        <p:spPr>
          <a:xfrm>
            <a:off x="1655064" y="3218688"/>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41" name="Shape 37">
            <a:hlinkClick r:id="rId2" tooltip="Go to Step 3: valid lockout, check the customer category" action="ppaction://hlinksldjump"/>
          </p:cNvPr>
          <p:cNvSpPr/>
          <p:nvPr/>
        </p:nvSpPr>
        <p:spPr>
          <a:xfrm>
            <a:off x="411480" y="3346704"/>
            <a:ext cx="3474720" cy="384048"/>
          </a:xfrm>
          <a:prstGeom prst="roundRect">
            <a:avLst>
              <a:gd name="adj" fmla="val 19048"/>
            </a:avLst>
          </a:prstGeom>
          <a:solidFill>
            <a:srgbClr val="0B7A6F"/>
          </a:solidFill>
          <a:ln w="12700">
            <a:solidFill>
              <a:srgbClr val="0B7A6F"/>
            </a:solidFill>
            <a:prstDash val="solid"/>
          </a:ln>
        </p:spPr>
      </p:sp>
      <p:sp>
        <p:nvSpPr>
          <p:cNvPr id="42" name="Text 38">
            <a:hlinkClick r:id="rId3" tooltip="Go to Step 3: valid lockout, check the customer category" action="ppaction://hlinksldjump"/>
          </p:cNvPr>
          <p:cNvSpPr/>
          <p:nvPr/>
        </p:nvSpPr>
        <p:spPr>
          <a:xfrm>
            <a:off x="411480" y="3346704"/>
            <a:ext cx="3474720" cy="384048"/>
          </a:xfrm>
          <a:prstGeom prst="rect">
            <a:avLst/>
          </a:prstGeom>
          <a:noFill/>
          <a:ln/>
        </p:spPr>
        <p:txBody>
          <a:bodyPr wrap="square" lIns="0" tIns="0" rIns="0" bIns="0"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All yes: valid. Check the customer category  ›</a:t>
            </a:r>
            <a:endParaRPr lang="en-US" sz="1000" dirty="0"/>
          </a:p>
        </p:txBody>
      </p:sp>
      <p:sp>
        <p:nvSpPr>
          <p:cNvPr id="43" name="Shape 39"/>
          <p:cNvSpPr/>
          <p:nvPr/>
        </p:nvSpPr>
        <p:spPr>
          <a:xfrm>
            <a:off x="5852160" y="1298448"/>
            <a:ext cx="2880360" cy="2432304"/>
          </a:xfrm>
          <a:prstGeom prst="roundRect">
            <a:avLst>
              <a:gd name="adj" fmla="val 2256"/>
            </a:avLst>
          </a:prstGeom>
          <a:solidFill>
            <a:srgbClr val="FFFFFF"/>
          </a:solidFill>
          <a:ln w="19050">
            <a:solidFill>
              <a:srgbClr val="0B7A6F"/>
            </a:solidFill>
            <a:prstDash val="solid"/>
          </a:ln>
        </p:spPr>
      </p:sp>
      <p:pic>
        <p:nvPicPr>
          <p:cNvPr id="44" name="Image 1" descr="preencoded.png">    </p:cNvPr>
          <p:cNvPicPr>
            <a:picLocks noChangeAspect="1"/>
          </p:cNvPicPr>
          <p:nvPr/>
        </p:nvPicPr>
        <p:blipFill>
          <a:blip r:embed="rId4"/>
          <a:stretch>
            <a:fillRect/>
          </a:stretch>
        </p:blipFill>
        <p:spPr>
          <a:xfrm>
            <a:off x="6035040" y="1499616"/>
            <a:ext cx="182880" cy="182880"/>
          </a:xfrm>
          <a:prstGeom prst="rect">
            <a:avLst/>
          </a:prstGeom>
        </p:spPr>
      </p:pic>
      <p:sp>
        <p:nvSpPr>
          <p:cNvPr id="45" name="Text 40"/>
          <p:cNvSpPr txBox="1"/>
          <p:nvPr/>
        </p:nvSpPr>
        <p:spPr>
          <a:xfrm>
            <a:off x="6291072" y="1435608"/>
            <a:ext cx="233172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Always:</a:t>
            </a:r>
            <a:endParaRPr lang="en-US" sz="1200" dirty="0"/>
          </a:p>
        </p:txBody>
      </p:sp>
      <p:sp>
        <p:nvSpPr>
          <p:cNvPr id="46" name="Text 41"/>
          <p:cNvSpPr txBox="1"/>
          <p:nvPr/>
        </p:nvSpPr>
        <p:spPr>
          <a:xfrm>
            <a:off x="6035040" y="1828800"/>
            <a:ext cx="2514600" cy="45720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Leave an internal note with your findings.</a:t>
            </a:r>
            <a:endParaRPr lang="en-US" sz="1100" dirty="0"/>
          </a:p>
        </p:txBody>
      </p:sp>
      <p:sp>
        <p:nvSpPr>
          <p:cNvPr id="47" name="Shape 42"/>
          <p:cNvSpPr/>
          <p:nvPr/>
        </p:nvSpPr>
        <p:spPr>
          <a:xfrm>
            <a:off x="6035040" y="2395728"/>
            <a:ext cx="2514600" cy="868680"/>
          </a:xfrm>
          <a:prstGeom prst="roundRect">
            <a:avLst>
              <a:gd name="adj" fmla="val 8421"/>
            </a:avLst>
          </a:prstGeom>
          <a:solidFill>
            <a:srgbClr val="E3F4F1"/>
          </a:solidFill>
          <a:ln w="9525">
            <a:solidFill>
              <a:srgbClr val="E3F4F1"/>
            </a:solidFill>
            <a:prstDash val="solid"/>
          </a:ln>
        </p:spPr>
      </p:sp>
      <p:sp>
        <p:nvSpPr>
          <p:cNvPr id="48" name="Text 43"/>
          <p:cNvSpPr txBox="1"/>
          <p:nvPr/>
        </p:nvSpPr>
        <p:spPr>
          <a:xfrm>
            <a:off x="6172200" y="2468880"/>
            <a:ext cx="2240280" cy="731520"/>
          </a:xfrm>
          <a:prstGeom prst="rect">
            <a:avLst/>
          </a:prstGeom>
          <a:noFill/>
          <a:ln/>
        </p:spPr>
        <p:txBody>
          <a:bodyPr wrap="square" lIns="0" tIns="0" rIns="0" bIns="0" rtlCol="0" anchor="ctr"/>
          <a:lstStyle/>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ID 45371</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Invalid Lockout</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start 10AM, CP arrived 11AM (more than 30 mins late)</a:t>
            </a:r>
            <a:endParaRPr lang="en-US" sz="950" dirty="0"/>
          </a:p>
        </p:txBody>
      </p:sp>
      <p:sp>
        <p:nvSpPr>
          <p:cNvPr id="49" name="pop1_2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0" name="pop1_2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51" name="pop1_2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Wanted the appointment</a:t>
            </a:r>
            <a:endParaRPr lang="en-US" sz="1150" dirty="0"/>
          </a:p>
        </p:txBody>
      </p:sp>
      <p:sp>
        <p:nvSpPr>
          <p:cNvPr id="52" name="pop1_2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the customer's messages to the CP.</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Asked to cancel or reschedule more than 6 hrs before start? Invalid: the CP shouldn't have gone.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Within 6 hrs and the CP acknowledged it wouldn't happen? Still invalid.</a:t>
            </a:r>
            <a:endParaRPr lang="en-US" sz="900" dirty="0"/>
          </a:p>
        </p:txBody>
      </p:sp>
      <p:sp>
        <p:nvSpPr>
          <p:cNvPr id="53" name="pop2_3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4" name="pop2_3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55" name="pop2_3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Arrived on time</a:t>
            </a:r>
            <a:endParaRPr lang="en-US" sz="1150" dirty="0"/>
          </a:p>
        </p:txBody>
      </p:sp>
      <p:sp>
        <p:nvSpPr>
          <p:cNvPr id="56" name="pop2_3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CPs may arrive 30 min before to 30 min after the start time.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call/text timestamps, CP-to-Care comms, check-in messages, GPS screenshots, CP App "approaching" notifications.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More than 30 min late? Invalid, unless the customer had already decided not to have the appointment.</a:t>
            </a:r>
            <a:endParaRPr lang="en-US" sz="900" dirty="0"/>
          </a:p>
        </p:txBody>
      </p:sp>
      <p:sp>
        <p:nvSpPr>
          <p:cNvPr id="57" name="pop3_4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8" name="pop3_4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59" name="pop3_4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At the address</a:t>
            </a:r>
            <a:endParaRPr lang="en-US" sz="1150" dirty="0"/>
          </a:p>
        </p:txBody>
      </p:sp>
      <p:sp>
        <p:nvSpPr>
          <p:cNvPr id="60" name="pop3_4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messages confirming arrival, CTJ logs, pre-evidence photos, or a selfie at the home.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 house photo without the CP in it: check it isn't reused. A photo is only required for CP Dashboard submissions.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Faked evidence? Stop: AG – Fraud › CP Document Fraud.</a:t>
            </a:r>
            <a:endParaRPr lang="en-US" sz="900" dirty="0"/>
          </a:p>
        </p:txBody>
      </p:sp>
      <p:sp>
        <p:nvSpPr>
          <p:cNvPr id="61" name="pop4_5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62" name="pop4_5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63" name="pop4_5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Tried to complete it</a:t>
            </a:r>
            <a:endParaRPr lang="en-US" sz="1150" dirty="0"/>
          </a:p>
        </p:txBody>
      </p:sp>
      <p:sp>
        <p:nvSpPr>
          <p:cNvPr id="64" name="pop4_5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At least 2 contact attempts, 5+ min apart, 15+ min on site, entry notes followed. Same rule for the CP App and CP Dashboard.</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Confirm with timestamps: contact attempts, the lockout action in Job History, CP messages.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Important: these requirements may be disregarded if the CP claims that the C did not let them in or wanted to cancel upon their arrival. If this is the case, check for other indicators proving that CP did arrive on time at the C’s location.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600"/>
                                        <p:tgtEl>
                                          <p:spTgt spid="4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fade">
                                      <p:cBhvr>
                                        <p:cTn id="10" dur="600"/>
                                        <p:tgtEl>
                                          <p:spTgt spid="5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fade">
                                      <p:cBhvr>
                                        <p:cTn id="13" dur="600"/>
                                        <p:tgtEl>
                                          <p:spTgt spid="5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2"/>
                                        </p:tgtEl>
                                        <p:attrNameLst>
                                          <p:attrName>style.visibility</p:attrName>
                                        </p:attrNameLst>
                                      </p:cBhvr>
                                      <p:to>
                                        <p:strVal val="visible"/>
                                      </p:to>
                                    </p:set>
                                    <p:animEffect transition="in" filter="fade">
                                      <p:cBhvr>
                                        <p:cTn id="16" dur="600"/>
                                        <p:tgtEl>
                                          <p:spTgt spid="52"/>
                                        </p:tgtEl>
                                      </p:cBhvr>
                                    </p:animEffect>
                                  </p:childTnLst>
                                </p:cTn>
                              </p:par>
                            </p:childTnLst>
                          </p:cTn>
                        </p:par>
                      </p:childTnLst>
                    </p:cTn>
                  </p:par>
                  <p:par>
                    <p:cTn id="41" fill="hold">
                      <p:stCondLst>
                        <p:cond delay="indefinite"/>
                      </p:stCondLst>
                      <p:childTnLst>
                        <p:par>
                          <p:cTn id="42"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49"/>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50"/>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51"/>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52"/>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32" dur="1" fill="hold">
                                          <p:stCondLst>
                                            <p:cond delay="0"/>
                                          </p:stCondLst>
                                        </p:cTn>
                                        <p:tgtEl>
                                          <p:spTgt spid="53"/>
                                        </p:tgtEl>
                                        <p:attrNameLst>
                                          <p:attrName>style.visibility</p:attrName>
                                        </p:attrNameLst>
                                      </p:cBhvr>
                                      <p:to>
                                        <p:strVal val="visible"/>
                                      </p:to>
                                    </p:set>
                                    <p:animEffect transition="in" filter="fade">
                                      <p:cBhvr>
                                        <p:cTn id="33" dur="600"/>
                                        <p:tgtEl>
                                          <p:spTgt spid="5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4"/>
                                        </p:tgtEl>
                                        <p:attrNameLst>
                                          <p:attrName>style.visibility</p:attrName>
                                        </p:attrNameLst>
                                      </p:cBhvr>
                                      <p:to>
                                        <p:strVal val="visible"/>
                                      </p:to>
                                    </p:set>
                                    <p:animEffect transition="in" filter="fade">
                                      <p:cBhvr>
                                        <p:cTn id="36" dur="600"/>
                                        <p:tgtEl>
                                          <p:spTgt spid="5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5"/>
                                        </p:tgtEl>
                                        <p:attrNameLst>
                                          <p:attrName>style.visibility</p:attrName>
                                        </p:attrNameLst>
                                      </p:cBhvr>
                                      <p:to>
                                        <p:strVal val="visible"/>
                                      </p:to>
                                    </p:set>
                                    <p:animEffect transition="in" filter="fade">
                                      <p:cBhvr>
                                        <p:cTn id="39" dur="600"/>
                                        <p:tgtEl>
                                          <p:spTgt spid="5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56"/>
                                        </p:tgtEl>
                                        <p:attrNameLst>
                                          <p:attrName>style.visibility</p:attrName>
                                        </p:attrNameLst>
                                      </p:cBhvr>
                                      <p:to>
                                        <p:strVal val="visible"/>
                                      </p:to>
                                    </p:set>
                                    <p:animEffect transition="in" filter="fade">
                                      <p:cBhvr>
                                        <p:cTn id="42" dur="600"/>
                                        <p:tgtEl>
                                          <p:spTgt spid="56"/>
                                        </p:tgtEl>
                                      </p:cBhvr>
                                    </p:animEffect>
                                  </p:childTnLst>
                                </p:cTn>
                              </p:par>
                            </p:childTnLst>
                          </p:cTn>
                        </p:par>
                      </p:childTnLst>
                    </p:cTn>
                  </p:par>
                  <p:par>
                    <p:cTn id="67" fill="hold">
                      <p:stCondLst>
                        <p:cond delay="indefinite"/>
                      </p:stCondLst>
                      <p:childTnLst>
                        <p:par>
                          <p:cTn id="68"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53"/>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54"/>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55"/>
                                        </p:tgtEl>
                                        <p:attrNameLst>
                                          <p:attrName>style.visibility</p:attrName>
                                        </p:attrNameLst>
                                      </p:cBhvr>
                                      <p:to>
                                        <p:strVal val="hidden"/>
                                      </p:to>
                                    </p:set>
                                  </p:childTnLst>
                                </p:cTn>
                              </p:par>
                              <p:par>
                                <p:cTn id="54" presetID="1" presetClass="exit" presetSubtype="0" fill="hold" grpId="1" nodeType="withEffect">
                                  <p:stCondLst>
                                    <p:cond delay="0"/>
                                  </p:stCondLst>
                                  <p:childTnLst>
                                    <p:set>
                                      <p:cBhvr>
                                        <p:cTn id="55" dur="1" fill="hold">
                                          <p:stCondLst>
                                            <p:cond delay="0"/>
                                          </p:stCondLst>
                                        </p:cTn>
                                        <p:tgtEl>
                                          <p:spTgt spid="56"/>
                                        </p:tgtEl>
                                        <p:attrNameLst>
                                          <p:attrName>style.visibility</p:attrName>
                                        </p:attrNameLst>
                                      </p:cBhvr>
                                      <p:to>
                                        <p:strVal val="hidden"/>
                                      </p:to>
                                    </p:set>
                                  </p:childTnLst>
                                </p:cTn>
                              </p:par>
                              <p:par>
                                <p:cTn id="57" presetID="10" presetClass="entr" presetSubtype="0" fill="hold" grpId="0" nodeType="withEffect">
                                  <p:stCondLst>
                                    <p:cond delay="0"/>
                                  </p:stCondLst>
                                  <p:childTnLst>
                                    <p:set>
                                      <p:cBhvr>
                                        <p:cTn id="58" dur="1" fill="hold">
                                          <p:stCondLst>
                                            <p:cond delay="0"/>
                                          </p:stCondLst>
                                        </p:cTn>
                                        <p:tgtEl>
                                          <p:spTgt spid="57"/>
                                        </p:tgtEl>
                                        <p:attrNameLst>
                                          <p:attrName>style.visibility</p:attrName>
                                        </p:attrNameLst>
                                      </p:cBhvr>
                                      <p:to>
                                        <p:strVal val="visible"/>
                                      </p:to>
                                    </p:set>
                                    <p:animEffect transition="in" filter="fade">
                                      <p:cBhvr>
                                        <p:cTn id="59" dur="600"/>
                                        <p:tgtEl>
                                          <p:spTgt spid="5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8"/>
                                        </p:tgtEl>
                                        <p:attrNameLst>
                                          <p:attrName>style.visibility</p:attrName>
                                        </p:attrNameLst>
                                      </p:cBhvr>
                                      <p:to>
                                        <p:strVal val="visible"/>
                                      </p:to>
                                    </p:set>
                                    <p:animEffect transition="in" filter="fade">
                                      <p:cBhvr>
                                        <p:cTn id="62" dur="600"/>
                                        <p:tgtEl>
                                          <p:spTgt spid="5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9"/>
                                        </p:tgtEl>
                                        <p:attrNameLst>
                                          <p:attrName>style.visibility</p:attrName>
                                        </p:attrNameLst>
                                      </p:cBhvr>
                                      <p:to>
                                        <p:strVal val="visible"/>
                                      </p:to>
                                    </p:set>
                                    <p:animEffect transition="in" filter="fade">
                                      <p:cBhvr>
                                        <p:cTn id="65" dur="600"/>
                                        <p:tgtEl>
                                          <p:spTgt spid="5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0"/>
                                        </p:tgtEl>
                                        <p:attrNameLst>
                                          <p:attrName>style.visibility</p:attrName>
                                        </p:attrNameLst>
                                      </p:cBhvr>
                                      <p:to>
                                        <p:strVal val="visible"/>
                                      </p:to>
                                    </p:set>
                                    <p:animEffect transition="in" filter="fade">
                                      <p:cBhvr>
                                        <p:cTn id="68" dur="600"/>
                                        <p:tgtEl>
                                          <p:spTgt spid="60"/>
                                        </p:tgtEl>
                                      </p:cBhvr>
                                    </p:animEffect>
                                  </p:childTnLst>
                                </p:cTn>
                              </p:par>
                            </p:childTnLst>
                          </p:cTn>
                        </p:par>
                      </p:childTnLst>
                    </p:cTn>
                  </p:par>
                  <p:par>
                    <p:cTn id="93" fill="hold">
                      <p:stCondLst>
                        <p:cond delay="indefinite"/>
                      </p:stCondLst>
                      <p:childTnLst>
                        <p:par>
                          <p:cTn id="94" fill="hold">
                            <p:stCondLst>
                              <p:cond delay="0"/>
                            </p:stCondLst>
                            <p:childTnLst>
                              <p:par>
                                <p:cTn id="71" presetID="1" presetClass="exit" presetSubtype="0" fill="hold" grpId="1" nodeType="clickEffect">
                                  <p:stCondLst>
                                    <p:cond delay="0"/>
                                  </p:stCondLst>
                                  <p:childTnLst>
                                    <p:set>
                                      <p:cBhvr>
                                        <p:cTn id="72" dur="1" fill="hold">
                                          <p:stCondLst>
                                            <p:cond delay="0"/>
                                          </p:stCondLst>
                                        </p:cTn>
                                        <p:tgtEl>
                                          <p:spTgt spid="57"/>
                                        </p:tgtEl>
                                        <p:attrNameLst>
                                          <p:attrName>style.visibility</p:attrName>
                                        </p:attrNameLst>
                                      </p:cBhvr>
                                      <p:to>
                                        <p:strVal val="hidden"/>
                                      </p:to>
                                    </p:set>
                                  </p:childTnLst>
                                </p:cTn>
                              </p:par>
                              <p:par>
                                <p:cTn id="74" presetID="1" presetClass="exit" presetSubtype="0" fill="hold" grpId="1" nodeType="withEffect">
                                  <p:stCondLst>
                                    <p:cond delay="0"/>
                                  </p:stCondLst>
                                  <p:childTnLst>
                                    <p:set>
                                      <p:cBhvr>
                                        <p:cTn id="75" dur="1" fill="hold">
                                          <p:stCondLst>
                                            <p:cond delay="0"/>
                                          </p:stCondLst>
                                        </p:cTn>
                                        <p:tgtEl>
                                          <p:spTgt spid="58"/>
                                        </p:tgtEl>
                                        <p:attrNameLst>
                                          <p:attrName>style.visibility</p:attrName>
                                        </p:attrNameLst>
                                      </p:cBhvr>
                                      <p:to>
                                        <p:strVal val="hidden"/>
                                      </p:to>
                                    </p:set>
                                  </p:childTnLst>
                                </p:cTn>
                              </p:par>
                              <p:par>
                                <p:cTn id="77" presetID="1" presetClass="exit" presetSubtype="0" fill="hold" grpId="1" nodeType="withEffect">
                                  <p:stCondLst>
                                    <p:cond delay="0"/>
                                  </p:stCondLst>
                                  <p:childTnLst>
                                    <p:set>
                                      <p:cBhvr>
                                        <p:cTn id="78" dur="1" fill="hold">
                                          <p:stCondLst>
                                            <p:cond delay="0"/>
                                          </p:stCondLst>
                                        </p:cTn>
                                        <p:tgtEl>
                                          <p:spTgt spid="59"/>
                                        </p:tgtEl>
                                        <p:attrNameLst>
                                          <p:attrName>style.visibility</p:attrName>
                                        </p:attrNameLst>
                                      </p:cBhvr>
                                      <p:to>
                                        <p:strVal val="hidden"/>
                                      </p:to>
                                    </p:set>
                                  </p:childTnLst>
                                </p:cTn>
                              </p:par>
                              <p:par>
                                <p:cTn id="80" presetID="1" presetClass="exit" presetSubtype="0" fill="hold" grpId="1" nodeType="withEffect">
                                  <p:stCondLst>
                                    <p:cond delay="0"/>
                                  </p:stCondLst>
                                  <p:childTnLst>
                                    <p:set>
                                      <p:cBhvr>
                                        <p:cTn id="81" dur="1" fill="hold">
                                          <p:stCondLst>
                                            <p:cond delay="0"/>
                                          </p:stCondLst>
                                        </p:cTn>
                                        <p:tgtEl>
                                          <p:spTgt spid="60"/>
                                        </p:tgtEl>
                                        <p:attrNameLst>
                                          <p:attrName>style.visibility</p:attrName>
                                        </p:attrNameLst>
                                      </p:cBhvr>
                                      <p:to>
                                        <p:strVal val="hidden"/>
                                      </p:to>
                                    </p:se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6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6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6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600"/>
                                        <p:tgtEl>
                                          <p:spTgt spid="64"/>
                                        </p:tgtEl>
                                      </p:cBhvr>
                                    </p:animEffect>
                                  </p:childTnLst>
                                </p:cTn>
                              </p:par>
                            </p:childTnLst>
                          </p:cTn>
                        </p:par>
                      </p:childTnLst>
                    </p:cTn>
                  </p:par>
                  <p:par>
                    <p:cTn id="107" fill="hold">
                      <p:stCondLst>
                        <p:cond delay="indefinite"/>
                      </p:stCondLst>
                      <p:childTnLst>
                        <p:par>
                          <p:cTn id="108" fill="hold">
                            <p:stCondLst>
                              <p:cond delay="0"/>
                            </p:stCondLst>
                            <p:childTnLst>
                              <p:par>
                                <p:cTn id="97" presetID="1" presetClass="exit" presetSubtype="0" fill="hold" grpId="1" nodeType="clickEffect">
                                  <p:stCondLst>
                                    <p:cond delay="0"/>
                                  </p:stCondLst>
                                  <p:childTnLst>
                                    <p:set>
                                      <p:cBhvr>
                                        <p:cTn id="98" dur="1" fill="hold">
                                          <p:stCondLst>
                                            <p:cond delay="0"/>
                                          </p:stCondLst>
                                        </p:cTn>
                                        <p:tgtEl>
                                          <p:spTgt spid="61"/>
                                        </p:tgtEl>
                                        <p:attrNameLst>
                                          <p:attrName>style.visibility</p:attrName>
                                        </p:attrNameLst>
                                      </p:cBhvr>
                                      <p:to>
                                        <p:strVal val="hidden"/>
                                      </p:to>
                                    </p:set>
                                  </p:childTnLst>
                                </p:cTn>
                              </p:par>
                              <p:par>
                                <p:cTn id="100" presetID="1" presetClass="exit" presetSubtype="0" fill="hold" grpId="1" nodeType="withEffect">
                                  <p:stCondLst>
                                    <p:cond delay="0"/>
                                  </p:stCondLst>
                                  <p:childTnLst>
                                    <p:set>
                                      <p:cBhvr>
                                        <p:cTn id="101" dur="1" fill="hold">
                                          <p:stCondLst>
                                            <p:cond delay="0"/>
                                          </p:stCondLst>
                                        </p:cTn>
                                        <p:tgtEl>
                                          <p:spTgt spid="62"/>
                                        </p:tgtEl>
                                        <p:attrNameLst>
                                          <p:attrName>style.visibility</p:attrName>
                                        </p:attrNameLst>
                                      </p:cBhvr>
                                      <p:to>
                                        <p:strVal val="hidden"/>
                                      </p:to>
                                    </p:set>
                                  </p:childTnLst>
                                </p:cTn>
                              </p:par>
                              <p:par>
                                <p:cTn id="103" presetID="1" presetClass="exit" presetSubtype="0" fill="hold" grpId="1" nodeType="withEffect">
                                  <p:stCondLst>
                                    <p:cond delay="0"/>
                                  </p:stCondLst>
                                  <p:childTnLst>
                                    <p:set>
                                      <p:cBhvr>
                                        <p:cTn id="104" dur="1" fill="hold">
                                          <p:stCondLst>
                                            <p:cond delay="0"/>
                                          </p:stCondLst>
                                        </p:cTn>
                                        <p:tgtEl>
                                          <p:spTgt spid="63"/>
                                        </p:tgtEl>
                                        <p:attrNameLst>
                                          <p:attrName>style.visibility</p:attrName>
                                        </p:attrNameLst>
                                      </p:cBhvr>
                                      <p:to>
                                        <p:strVal val="hidden"/>
                                      </p:to>
                                    </p:set>
                                  </p:childTnLst>
                                </p:cTn>
                              </p:par>
                              <p:par>
                                <p:cTn id="106" presetID="1" presetClass="exit" presetSubtype="0" fill="hold" grpId="1" nodeType="withEffect">
                                  <p:stCondLst>
                                    <p:cond delay="0"/>
                                  </p:stCondLst>
                                  <p:childTnLst>
                                    <p:set>
                                      <p:cBhvr>
                                        <p:cTn id="107" dur="1" fill="hold">
                                          <p:stCondLst>
                                            <p:cond delay="0"/>
                                          </p:stCondLst>
                                        </p:cTn>
                                        <p:tgtEl>
                                          <p:spTgt spid="6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P spid="50" grpId="0" animBg="1"/>
      <p:bldP spid="51" grpId="0" animBg="1"/>
      <p:bldP spid="52" grpId="0" animBg="1"/>
      <p:bldP spid="49" grpId="1" animBg="1"/>
      <p:bldP spid="50" grpId="1" animBg="1"/>
      <p:bldP spid="51" grpId="1" animBg="1"/>
      <p:bldP spid="52" grpId="1" animBg="1"/>
      <p:bldP spid="53" grpId="0" animBg="1"/>
      <p:bldP spid="54" grpId="0" animBg="1"/>
      <p:bldP spid="55" grpId="0" animBg="1"/>
      <p:bldP spid="56" grpId="0" animBg="1"/>
      <p:bldP spid="53" grpId="1" animBg="1"/>
      <p:bldP spid="54" grpId="1" animBg="1"/>
      <p:bldP spid="55" grpId="1" animBg="1"/>
      <p:bldP spid="56" grpId="1" animBg="1"/>
      <p:bldP spid="57" grpId="0" animBg="1"/>
      <p:bldP spid="58" grpId="0" animBg="1"/>
      <p:bldP spid="59" grpId="0" animBg="1"/>
      <p:bldP spid="60" grpId="0" animBg="1"/>
      <p:bldP spid="57" grpId="1" animBg="1"/>
      <p:bldP spid="58" grpId="1" animBg="1"/>
      <p:bldP spid="59" grpId="1" animBg="1"/>
      <p:bldP spid="60" grpId="1" animBg="1"/>
      <p:bldP spid="61" grpId="0" animBg="1"/>
      <p:bldP spid="62" grpId="0" animBg="1"/>
      <p:bldP spid="63" grpId="0" animBg="1"/>
      <p:bldP spid="64" grpId="0" animBg="1"/>
      <p:bldP spid="61" grpId="1" animBg="1"/>
      <p:bldP spid="62" grpId="1" animBg="1"/>
      <p:bldP spid="63" grpId="1" animBg="1"/>
      <p:bldP spid="64"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Go straight to the right offer. Applies if Customer asks for a refund or contests the lockout charge.</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a:t>
                      </a:r>
                      <a:endParaRPr lang="en-US" sz="950" dirty="0">
                        <a:latin typeface="SF Pro Text" charset="0"/>
                        <a:ea typeface="SF Pro Text" charset="0"/>
                        <a:cs typeface="SF Pro Text" charset="0"/>
                      </a:endParaRPr>
                    </a:p>
                    <a:p>
                      <a:pPr indent="0" marL="0">
                        <a:buNone/>
                      </a:pPr>
                      <a:r>
                        <a:rPr lang="en-US" sz="950" dirty="0">
                          <a:solidFill>
                            <a:srgbClr val="6E6E73"/>
                          </a:solidFill>
                          <a:latin typeface="SF Pro Text" pitchFamily="34" charset="0"/>
                          <a:ea typeface="SF Pro Text" pitchFamily="34" charset="-122"/>
                          <a:cs typeface="SF Pro Text" pitchFamily="34" charset="-120"/>
                        </a:rPr>
                        <a:t>Escalates? Send to Service Recovery. </a:t>
                      </a:r>
                      <a:endParaRPr lang="en-US" sz="950" dirty="0">
                        <a:latin typeface="SF Pro Text" charset="0"/>
                        <a:ea typeface="SF Pro Text" charset="0"/>
                        <a:cs typeface="SF Pro Text" charset="0"/>
                      </a:endParaRPr>
                    </a:p>
                    <a:p>
                      <a:pPr indent="0" marL="0">
                        <a:buNone/>
                      </a:pPr>
                      <a:r>
                        <a:rPr lang="en-US" sz="950" dirty="0">
                          <a:solidFill>
                            <a:srgbClr val="6E6E73"/>
                          </a:solidFill>
                          <a:latin typeface="SF Pro Text" pitchFamily="34" charset="0"/>
                          <a:ea typeface="SF Pro Text" pitchFamily="34" charset="-122"/>
                          <a:cs typeface="SF Pro Text" pitchFamily="34" charset="-120"/>
                        </a:rPr>
                        <a:t>Cancelling? Offer to apply the LO fee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16" name="Text 11"/>
          <p:cNvSpPr/>
          <p:nvPr/>
        </p:nvSpPr>
        <p:spPr>
          <a:xfrm>
            <a:off x="3543300" y="2606040"/>
            <a:ext cx="777240" cy="274320"/>
          </a:xfrm>
          <a:prstGeom prst="roundRect">
            <a:avLst>
              <a:gd name="adj" fmla="val 20000"/>
            </a:avLst>
          </a:prstGeom>
          <a:solidFill>
            <a:srgbClr val="FFFFFF"/>
          </a:solidFill>
          <a:ln w="12700">
            <a:solidFill>
              <a:srgbClr val="0B7A6F"/>
            </a:solidFill>
          </a:ln>
        </p:spPr>
        <p:txBody>
          <a:bodyPr wrap="square" lIns="0" tIns="0" rIns="0" bIns="0" rtlCol="0" anchor="ctr"/>
          <a:lstStyle/>
          <a:p>
            <a:pPr algn="ctr" indent="0" marL="0">
              <a:buNone/>
            </a:pPr>
            <a:r>
              <a:rPr lang="en-US" sz="850" b="1" dirty="0">
                <a:solidFill>
                  <a:srgbClr val="0B7A6F"/>
                </a:solidFill>
                <a:latin typeface="SF Pro Text" pitchFamily="34" charset="0"/>
                <a:ea typeface="SF Pro Text" pitchFamily="34" charset="-122"/>
                <a:cs typeface="SF Pro Text" pitchFamily="34" charset="-120"/>
              </a:rPr>
              <a:t>Details  ›</a:t>
            </a:r>
            <a:endParaRPr lang="en-US" sz="850" dirty="0"/>
          </a:p>
        </p:txBody>
      </p:sp>
      <p:sp>
        <p:nvSpPr>
          <p:cNvPr id="17" name="step1Panel"/>
          <p:cNvSpPr/>
          <p:nvPr/>
        </p:nvSpPr>
        <p:spPr>
          <a:xfrm>
            <a:off x="411480" y="3154680"/>
            <a:ext cx="4091940" cy="1325880"/>
          </a:xfrm>
          <a:prstGeom prst="roundRect">
            <a:avLst>
              <a:gd name="adj" fmla="val 4138"/>
            </a:avLst>
          </a:prstGeom>
          <a:solidFill>
            <a:srgbClr val="E3F4F1"/>
          </a:solidFill>
          <a:ln w="15875">
            <a:solidFill>
              <a:srgbClr val="0B7A6F"/>
            </a:solidFill>
            <a:prstDash val="solid"/>
          </a:ln>
        </p:spPr>
      </p:sp>
      <p:sp>
        <p:nvSpPr>
          <p:cNvPr id="18" name="step1Text"/>
          <p:cNvSpPr txBox="1"/>
          <p:nvPr/>
        </p:nvSpPr>
        <p:spPr>
          <a:xfrm>
            <a:off x="594360" y="3246120"/>
            <a:ext cx="3726180" cy="1143000"/>
          </a:xfrm>
          <a:prstGeom prst="rect">
            <a:avLst/>
          </a:prstGeom>
          <a:noFill/>
          <a:ln/>
        </p:spPr>
        <p:txBody>
          <a:bodyPr wrap="square" lIns="0" tIns="0" rIns="0" bIns="0" rtlCol="0" anchor="ctr"/>
          <a:lstStyle/>
          <a:p>
            <a:pPr indent="0" marL="0">
              <a:spcAft>
                <a:spcPts val="400"/>
              </a:spcAft>
              <a:buNone/>
            </a:pPr>
            <a:r>
              <a:rPr lang="en-US" sz="1050" b="1" dirty="0">
                <a:solidFill>
                  <a:srgbClr val="1D1D1F"/>
                </a:solidFill>
                <a:latin typeface="SF Pro Text" pitchFamily="34" charset="0"/>
                <a:ea typeface="SF Pro Text" pitchFamily="34" charset="-122"/>
                <a:cs typeface="SF Pro Text" pitchFamily="34" charset="-120"/>
              </a:rPr>
              <a:t>CP was denied entry because:</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Looked unprofessional</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Brought an unauthorized guest</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Did not have any cleaning supplies</a:t>
            </a:r>
            <a:endParaRPr lang="en-US" sz="1050" dirty="0"/>
          </a:p>
        </p:txBody>
      </p:sp>
      <p:sp>
        <p:nvSpPr>
          <p:cNvPr id="19" name="Text 14"/>
          <p:cNvSpPr/>
          <p:nvPr/>
        </p:nvSpPr>
        <p:spPr>
          <a:xfrm>
            <a:off x="7772400" y="2606040"/>
            <a:ext cx="777240" cy="274320"/>
          </a:xfrm>
          <a:prstGeom prst="roundRect">
            <a:avLst>
              <a:gd name="adj" fmla="val 20000"/>
            </a:avLst>
          </a:prstGeom>
          <a:solidFill>
            <a:srgbClr val="FFFFFF"/>
          </a:solidFill>
          <a:ln w="12700">
            <a:solidFill>
              <a:srgbClr val="0B7A6F"/>
            </a:solidFill>
          </a:ln>
        </p:spPr>
        <p:txBody>
          <a:bodyPr wrap="square" lIns="0" tIns="0" rIns="0" bIns="0" rtlCol="0" anchor="ctr"/>
          <a:lstStyle/>
          <a:p>
            <a:pPr algn="ctr" indent="0" marL="0">
              <a:buNone/>
            </a:pPr>
            <a:r>
              <a:rPr lang="en-US" sz="850" b="1" dirty="0">
                <a:solidFill>
                  <a:srgbClr val="0B7A6F"/>
                </a:solidFill>
                <a:latin typeface="SF Pro Text" pitchFamily="34" charset="0"/>
                <a:ea typeface="SF Pro Text" pitchFamily="34" charset="-122"/>
                <a:cs typeface="SF Pro Text" pitchFamily="34" charset="-120"/>
              </a:rPr>
              <a:t>Details  ›</a:t>
            </a:r>
            <a:endParaRPr lang="en-US" sz="850" dirty="0"/>
          </a:p>
        </p:txBody>
      </p:sp>
      <p:sp>
        <p:nvSpPr>
          <p:cNvPr id="20" name="step2Panel"/>
          <p:cNvSpPr/>
          <p:nvPr/>
        </p:nvSpPr>
        <p:spPr>
          <a:xfrm>
            <a:off x="4640580" y="3154680"/>
            <a:ext cx="4091940" cy="1325880"/>
          </a:xfrm>
          <a:prstGeom prst="roundRect">
            <a:avLst>
              <a:gd name="adj" fmla="val 4138"/>
            </a:avLst>
          </a:prstGeom>
          <a:solidFill>
            <a:srgbClr val="E3F4F1"/>
          </a:solidFill>
          <a:ln w="15875">
            <a:solidFill>
              <a:srgbClr val="0B7A6F"/>
            </a:solidFill>
            <a:prstDash val="solid"/>
          </a:ln>
        </p:spPr>
      </p:sp>
      <p:sp>
        <p:nvSpPr>
          <p:cNvPr id="21" name="step2Text"/>
          <p:cNvSpPr txBox="1"/>
          <p:nvPr/>
        </p:nvSpPr>
        <p:spPr>
          <a:xfrm>
            <a:off x="4823460" y="3246120"/>
            <a:ext cx="3726180" cy="1143000"/>
          </a:xfrm>
          <a:prstGeom prst="rect">
            <a:avLst/>
          </a:prstGeom>
          <a:noFill/>
          <a:ln/>
        </p:spPr>
        <p:txBody>
          <a:bodyPr wrap="square" lIns="0" tIns="0" rIns="0" bIns="0" rtlCol="0" anchor="ctr"/>
          <a:lstStyle/>
          <a:p>
            <a:pPr indent="0" marL="0">
              <a:spcAft>
                <a:spcPts val="400"/>
              </a:spcAft>
              <a:buNone/>
            </a:pPr>
            <a:r>
              <a:rPr lang="en-US" sz="1050" b="1" dirty="0">
                <a:solidFill>
                  <a:srgbClr val="0B7A6F"/>
                </a:solidFill>
                <a:latin typeface="SF Pro Text" pitchFamily="34" charset="0"/>
                <a:ea typeface="SF Pro Text" pitchFamily="34" charset="-122"/>
                <a:cs typeface="SF Pro Text" pitchFamily="34" charset="-120"/>
              </a:rPr>
              <a:t>Our fault → </a:t>
            </a:r>
            <a:pPr indent="0" marL="0">
              <a:spcAft>
                <a:spcPts val="400"/>
              </a:spcAft>
              <a:buNone/>
            </a:pPr>
            <a:r>
              <a:rPr lang="en-US" sz="1050" dirty="0">
                <a:solidFill>
                  <a:srgbClr val="1D1D1F"/>
                </a:solidFill>
                <a:latin typeface="SF Pro Text" pitchFamily="34" charset="0"/>
                <a:ea typeface="SF Pro Text" pitchFamily="34" charset="-122"/>
                <a:cs typeface="SF Pro Text" pitchFamily="34" charset="-120"/>
              </a:rPr>
              <a:t>We missed to act on job cancellation request; CP wasn’t notified, causing the lockout</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6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600"/>
                                        <p:tgtEl>
                                          <p:spTgt spid="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0" grpId="0" animBg="1"/>
      <p:bldP spid="21"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Lockout pay: when the CP contacts 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Treat any lockout report as a request for lockout pay review.</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3657600"/>
                <a:gridCol w="4663440"/>
              </a:tblGrid>
              <a:tr h="31089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Valid lockout, CP didn't submit it (didn't know how, app issue)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Pay the standard lockout amount.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Invalid lockout, but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One-time courtesy MCP: no cp_false_check_in or false invoice flags, not suspended, none in the last 90 days.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pay. Explain the lockout requirements.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Counts as a request:  </a:t>
            </a:r>
            <a:pPr indent="0" marL="0">
              <a:buNone/>
            </a:pPr>
            <a:r>
              <a:rPr lang="en-US" sz="1000" dirty="0">
                <a:solidFill>
                  <a:srgbClr val="1D1D1F"/>
                </a:solidFill>
                <a:latin typeface="SF Pro Text" pitchFamily="34" charset="0"/>
                <a:ea typeface="SF Pro Text" pitchFamily="34" charset="-122"/>
                <a:cs typeface="SF Pro Text" pitchFamily="34" charset="-120"/>
              </a:rPr>
              <a:t>time waited, travel, gas, lost earnings, or "what happens with the job?"</a:t>
            </a:r>
            <a:endParaRPr lang="en-US" sz="1000" dirty="0"/>
          </a:p>
        </p:txBody>
      </p:sp>
      <p:sp>
        <p:nvSpPr>
          <p:cNvPr id="10" name="Shape 5"/>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11" name="Image 1" descr="preencoded.png">    </p:cNvPr>
          <p:cNvPicPr>
            <a:picLocks noChangeAspect="1"/>
          </p:cNvPicPr>
          <p:nvPr/>
        </p:nvPicPr>
        <p:blipFill>
          <a:blip r:embed="rId2"/>
          <a:stretch>
            <a:fillRect/>
          </a:stretch>
        </p:blipFill>
        <p:spPr>
          <a:xfrm>
            <a:off x="566928" y="3858768"/>
            <a:ext cx="164592" cy="164592"/>
          </a:xfrm>
          <a:prstGeom prst="rect">
            <a:avLst/>
          </a:prstGeom>
        </p:spPr>
      </p:pic>
      <p:sp>
        <p:nvSpPr>
          <p:cNvPr id="12" name="Text 6"/>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MCP over $40?  </a:t>
            </a:r>
            <a:pPr indent="0" marL="0">
              <a:buNone/>
            </a:pPr>
            <a:r>
              <a:rPr lang="en-US" sz="1000" dirty="0">
                <a:solidFill>
                  <a:srgbClr val="1D1D1F"/>
                </a:solidFill>
                <a:latin typeface="SF Pro Text" pitchFamily="34" charset="0"/>
                <a:ea typeface="SF Pro Text" pitchFamily="34" charset="-122"/>
                <a:cs typeface="SF Pro Text" pitchFamily="34" charset="-120"/>
              </a:rPr>
              <a:t>still needs Support approval.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 lockout valid or invalid?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CP Dashboard refund.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&amp; Lockouts</dc:title>
  <dc:subject>PptxGenJS Presentation</dc:subject>
  <dc:creator>PptxGenJS</dc:creator>
  <cp:lastModifiedBy>PptxGenJS</cp:lastModifiedBy>
  <cp:revision>1</cp:revision>
  <dcterms:created xsi:type="dcterms:W3CDTF">2026-10-07T14:12:05Z</dcterms:created>
  <dcterms:modified xsi:type="dcterms:W3CDTF">2026-10-07T14:12:05Z</dcterms:modified>
</cp:coreProperties>
</file>