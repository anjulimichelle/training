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Confirm it's genuinely a guaranteed promise, not an estimate or a gap in what was proactively mentioned. Look for the specific language used, not just whether the customer was surprised. Verify against the sales call recording or notes.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If they decline, or aren't retainable, waive the ETF and process the cancellation.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280160"/>
            <a:ext cx="1554480" cy="196596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2252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it</a:t>
            </a:r>
            <a:endParaRPr lang="en-US" sz="1200" dirty="0"/>
          </a:p>
        </p:txBody>
      </p:sp>
      <p:sp>
        <p:nvSpPr>
          <p:cNvPr id="10" name="Text 7"/>
          <p:cNvSpPr txBox="1"/>
          <p:nvPr/>
        </p:nvSpPr>
        <p:spPr>
          <a:xfrm>
            <a:off x="576072" y="2176272"/>
            <a:ext cx="122529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Exact words, checked against the recording or notes.</a:t>
            </a:r>
            <a:endParaRPr lang="en-US" sz="950" dirty="0"/>
          </a:p>
        </p:txBody>
      </p:sp>
      <p:sp>
        <p:nvSpPr>
          <p:cNvPr id="11" name="Shape 8"/>
          <p:cNvSpPr/>
          <p:nvPr/>
        </p:nvSpPr>
        <p:spPr>
          <a:xfrm>
            <a:off x="2103120" y="1280160"/>
            <a:ext cx="1554480" cy="1965960"/>
          </a:xfrm>
          <a:prstGeom prst="roundRect">
            <a:avLst>
              <a:gd name="adj" fmla="val 4706"/>
            </a:avLst>
          </a:prstGeom>
          <a:solidFill>
            <a:srgbClr val="FFFFFF"/>
          </a:solidFill>
          <a:ln w="9525">
            <a:solidFill>
              <a:srgbClr val="DCE1E7"/>
            </a:solidFill>
            <a:prstDash val="solid"/>
          </a:ln>
        </p:spPr>
      </p:sp>
      <p:sp>
        <p:nvSpPr>
          <p:cNvPr id="12" name="Shape 9"/>
          <p:cNvSpPr/>
          <p:nvPr/>
        </p:nvSpPr>
        <p:spPr>
          <a:xfrm>
            <a:off x="226771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26771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267712" y="1883664"/>
            <a:ext cx="12252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the gap</a:t>
            </a:r>
            <a:endParaRPr lang="en-US" sz="1200" dirty="0"/>
          </a:p>
        </p:txBody>
      </p:sp>
      <p:sp>
        <p:nvSpPr>
          <p:cNvPr id="15" name="Text 12"/>
          <p:cNvSpPr txBox="1"/>
          <p:nvPr/>
        </p:nvSpPr>
        <p:spPr>
          <a:xfrm>
            <a:off x="2267712" y="2176272"/>
            <a:ext cx="122529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Promised $49 MF, charged $59? Refund the $10.</a:t>
            </a:r>
            <a:endParaRPr lang="en-US" sz="950" dirty="0"/>
          </a:p>
        </p:txBody>
      </p:sp>
      <p:sp>
        <p:nvSpPr>
          <p:cNvPr id="16" name="Shape 13"/>
          <p:cNvSpPr/>
          <p:nvPr/>
        </p:nvSpPr>
        <p:spPr>
          <a:xfrm>
            <a:off x="3794760" y="1280160"/>
            <a:ext cx="1554480" cy="1965960"/>
          </a:xfrm>
          <a:prstGeom prst="roundRect">
            <a:avLst>
              <a:gd name="adj" fmla="val 4706"/>
            </a:avLst>
          </a:prstGeom>
          <a:solidFill>
            <a:srgbClr val="FFFFFF"/>
          </a:solidFill>
          <a:ln w="9525">
            <a:solidFill>
              <a:srgbClr val="DCE1E7"/>
            </a:solidFill>
            <a:prstDash val="solid"/>
          </a:ln>
        </p:spPr>
      </p:sp>
      <p:sp>
        <p:nvSpPr>
          <p:cNvPr id="17" name="Shape 14"/>
          <p:cNvSpPr/>
          <p:nvPr/>
        </p:nvSpPr>
        <p:spPr>
          <a:xfrm>
            <a:off x="395935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395935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3959352" y="1883664"/>
            <a:ext cx="12252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Own the error</a:t>
            </a:r>
            <a:endParaRPr lang="en-US" sz="1200" dirty="0"/>
          </a:p>
        </p:txBody>
      </p:sp>
      <p:sp>
        <p:nvSpPr>
          <p:cNvPr id="20" name="Text 17"/>
          <p:cNvSpPr txBox="1"/>
          <p:nvPr/>
        </p:nvSpPr>
        <p:spPr>
          <a:xfrm>
            <a:off x="3959352" y="2176272"/>
            <a:ext cx="122529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Say it was ours. Not "a misunderstanding".</a:t>
            </a:r>
            <a:endParaRPr lang="en-US" sz="950" dirty="0"/>
          </a:p>
        </p:txBody>
      </p:sp>
      <p:sp>
        <p:nvSpPr>
          <p:cNvPr id="21" name="Shape 18"/>
          <p:cNvSpPr/>
          <p:nvPr/>
        </p:nvSpPr>
        <p:spPr>
          <a:xfrm>
            <a:off x="5486400" y="1280160"/>
            <a:ext cx="1554480" cy="1965960"/>
          </a:xfrm>
          <a:prstGeom prst="roundRect">
            <a:avLst>
              <a:gd name="adj" fmla="val 4706"/>
            </a:avLst>
          </a:prstGeom>
          <a:solidFill>
            <a:srgbClr val="FFFFFF"/>
          </a:solidFill>
          <a:ln w="9525">
            <a:solidFill>
              <a:srgbClr val="DCE1E7"/>
            </a:solidFill>
            <a:prstDash val="solid"/>
          </a:ln>
        </p:spPr>
      </p:sp>
      <p:sp>
        <p:nvSpPr>
          <p:cNvPr id="22" name="Shape 19"/>
          <p:cNvSpPr/>
          <p:nvPr/>
        </p:nvSpPr>
        <p:spPr>
          <a:xfrm>
            <a:off x="565099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65099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5650992" y="1883664"/>
            <a:ext cx="12252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Correct it</a:t>
            </a:r>
            <a:endParaRPr lang="en-US" sz="1200" dirty="0"/>
          </a:p>
        </p:txBody>
      </p:sp>
      <p:sp>
        <p:nvSpPr>
          <p:cNvPr id="25" name="Text 22"/>
          <p:cNvSpPr txBox="1"/>
          <p:nvPr/>
        </p:nvSpPr>
        <p:spPr>
          <a:xfrm>
            <a:off x="5650992" y="2176272"/>
            <a:ext cx="122529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Fix charges or expectations. Explain what changed.</a:t>
            </a:r>
            <a:endParaRPr lang="en-US" sz="950" dirty="0"/>
          </a:p>
        </p:txBody>
      </p:sp>
      <p:sp>
        <p:nvSpPr>
          <p:cNvPr id="26" name="Shape 23"/>
          <p:cNvSpPr/>
          <p:nvPr/>
        </p:nvSpPr>
        <p:spPr>
          <a:xfrm>
            <a:off x="7178040" y="1280160"/>
            <a:ext cx="1554480" cy="1965960"/>
          </a:xfrm>
          <a:prstGeom prst="roundRect">
            <a:avLst>
              <a:gd name="adj" fmla="val 4706"/>
            </a:avLst>
          </a:prstGeom>
          <a:solidFill>
            <a:srgbClr val="FFFFFF"/>
          </a:solidFill>
          <a:ln w="9525">
            <a:solidFill>
              <a:srgbClr val="DCE1E7"/>
            </a:solidFill>
            <a:prstDash val="solid"/>
          </a:ln>
        </p:spPr>
      </p:sp>
      <p:sp>
        <p:nvSpPr>
          <p:cNvPr id="27" name="Shape 24"/>
          <p:cNvSpPr/>
          <p:nvPr/>
        </p:nvSpPr>
        <p:spPr>
          <a:xfrm>
            <a:off x="7342632" y="1463040"/>
            <a:ext cx="274320" cy="274320"/>
          </a:xfrm>
          <a:prstGeom prst="ellipse">
            <a:avLst/>
          </a:prstGeom>
          <a:solidFill>
            <a:srgbClr val="E3F4F1"/>
          </a:solidFill>
          <a:ln w="12700">
            <a:solidFill>
              <a:srgbClr val="E3F4F1"/>
            </a:solidFill>
            <a:prstDash val="solid"/>
          </a:ln>
        </p:spPr>
      </p:sp>
      <p:sp>
        <p:nvSpPr>
          <p:cNvPr id="28" name="Text 25"/>
          <p:cNvSpPr txBox="1"/>
          <p:nvPr/>
        </p:nvSpPr>
        <p:spPr>
          <a:xfrm>
            <a:off x="734263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9" name="Text 26"/>
          <p:cNvSpPr txBox="1"/>
          <p:nvPr/>
        </p:nvSpPr>
        <p:spPr>
          <a:xfrm>
            <a:off x="7342632" y="1883664"/>
            <a:ext cx="12252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One light offer</a:t>
            </a:r>
            <a:endParaRPr lang="en-US" sz="1200" dirty="0"/>
          </a:p>
        </p:txBody>
      </p:sp>
      <p:sp>
        <p:nvSpPr>
          <p:cNvPr id="30" name="Text 27"/>
          <p:cNvSpPr txBox="1"/>
          <p:nvPr/>
        </p:nvSpPr>
        <p:spPr>
          <a:xfrm>
            <a:off x="7342632" y="2176272"/>
            <a:ext cx="1225296" cy="9784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Up to $20 credit or a 1-hr voucher. Declined? Waive ETF, cancel.</a:t>
            </a:r>
            <a:endParaRPr lang="en-US" sz="950" dirty="0"/>
          </a:p>
        </p:txBody>
      </p:sp>
      <p:sp>
        <p:nvSpPr>
          <p:cNvPr id="31" name="Shape 28"/>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32" name="Image 0" descr="preencoded.png">    </p:cNvPr>
          <p:cNvPicPr>
            <a:picLocks noChangeAspect="1"/>
          </p:cNvPicPr>
          <p:nvPr/>
        </p:nvPicPr>
        <p:blipFill>
          <a:blip r:embed="rId1"/>
          <a:stretch>
            <a:fillRect/>
          </a:stretch>
        </p:blipFill>
        <p:spPr>
          <a:xfrm>
            <a:off x="566928" y="3538728"/>
            <a:ext cx="164592" cy="164592"/>
          </a:xfrm>
          <a:prstGeom prst="rect">
            <a:avLst/>
          </a:prstGeom>
        </p:spPr>
      </p:pic>
      <p:sp>
        <p:nvSpPr>
          <p:cNvPr id="33" name="Text 29"/>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4" name="Shape 30"/>
          <p:cNvSpPr/>
          <p:nvPr/>
        </p:nvSpPr>
        <p:spPr>
          <a:xfrm>
            <a:off x="411480" y="3977640"/>
            <a:ext cx="5669280" cy="292608"/>
          </a:xfrm>
          <a:prstGeom prst="roundRect">
            <a:avLst>
              <a:gd name="adj" fmla="val 25000"/>
            </a:avLst>
          </a:prstGeom>
          <a:solidFill>
            <a:srgbClr val="FFF3D6"/>
          </a:solidFill>
          <a:ln w="9525">
            <a:solidFill>
              <a:srgbClr val="9A6410"/>
            </a:solidFill>
            <a:prstDash val="solid"/>
          </a:ln>
        </p:spPr>
      </p:sp>
      <p:pic>
        <p:nvPicPr>
          <p:cNvPr id="35" name="Image 1" descr="preencoded.png">    </p:cNvPr>
          <p:cNvPicPr>
            <a:picLocks noChangeAspect="1"/>
          </p:cNvPicPr>
          <p:nvPr/>
        </p:nvPicPr>
        <p:blipFill>
          <a:blip r:embed="rId2"/>
          <a:stretch>
            <a:fillRect/>
          </a:stretch>
        </p:blipFill>
        <p:spPr>
          <a:xfrm>
            <a:off x="521208" y="4050792"/>
            <a:ext cx="146304" cy="146304"/>
          </a:xfrm>
          <a:prstGeom prst="rect">
            <a:avLst/>
          </a:prstGeom>
        </p:spPr>
      </p:pic>
      <p:sp>
        <p:nvSpPr>
          <p:cNvPr id="36" name="Text 31"/>
          <p:cNvSpPr txBox="1"/>
          <p:nvPr/>
        </p:nvSpPr>
        <p:spPr>
          <a:xfrm>
            <a:off x="731520" y="397764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Test the words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is a guarantee. "Around" is an estimate.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Verify, then own it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recording. Call it our error.</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Fix, then one offer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overpayment. One light offer, else waive ETF.</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Shape 4"/>
          <p:cNvSpPr/>
          <p:nvPr/>
        </p:nvSpPr>
        <p:spPr>
          <a:xfrm>
            <a:off x="411480" y="1645920"/>
            <a:ext cx="3657600" cy="502920"/>
          </a:xfrm>
          <a:prstGeom prst="roundRect">
            <a:avLst>
              <a:gd name="adj" fmla="val 14545"/>
            </a:avLst>
          </a:prstGeom>
          <a:solidFill>
            <a:srgbClr val="0B7A6F"/>
          </a:solidFill>
          <a:ln w="12700">
            <a:solidFill>
              <a:srgbClr val="0B7A6F"/>
            </a:solidFill>
            <a:prstDash val="solid"/>
          </a:ln>
        </p:spPr>
      </p:sp>
      <p:sp>
        <p:nvSpPr>
          <p:cNvPr id="8" name="Text 5"/>
          <p:cNvSpPr txBox="1"/>
          <p:nvPr/>
        </p:nvSpPr>
        <p:spPr>
          <a:xfrm>
            <a:off x="411480" y="164592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LMC charge</a:t>
            </a:r>
            <a:endParaRPr lang="en-US" sz="1000" dirty="0"/>
          </a:p>
        </p:txBody>
      </p:sp>
      <p:sp>
        <p:nvSpPr>
          <p:cNvPr id="9" name="Text 6"/>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10" name="Shape 7"/>
          <p:cNvSpPr/>
          <p:nvPr/>
        </p:nvSpPr>
        <p:spPr>
          <a:xfrm>
            <a:off x="2240280" y="2468880"/>
            <a:ext cx="0" cy="182880"/>
          </a:xfrm>
          <a:prstGeom prst="line">
            <a:avLst/>
          </a:prstGeom>
          <a:noFill/>
          <a:ln w="12700">
            <a:solidFill>
              <a:srgbClr val="6E6E73"/>
            </a:solidFill>
            <a:prstDash val="solid"/>
            <a:tailEnd type="triangle"/>
          </a:ln>
        </p:spPr>
      </p:sp>
      <p:sp>
        <p:nvSpPr>
          <p:cNvPr id="11" name="Shape 8"/>
          <p:cNvSpPr/>
          <p:nvPr/>
        </p:nvSpPr>
        <p:spPr>
          <a:xfrm>
            <a:off x="411480" y="2651760"/>
            <a:ext cx="3657600" cy="502920"/>
          </a:xfrm>
          <a:prstGeom prst="roundRect">
            <a:avLst>
              <a:gd name="adj" fmla="val 14545"/>
            </a:avLst>
          </a:prstGeom>
          <a:solidFill>
            <a:srgbClr val="0B7A6F"/>
          </a:solidFill>
          <a:ln w="12700">
            <a:solidFill>
              <a:srgbClr val="0B7A6F"/>
            </a:solidFill>
            <a:prstDash val="solid"/>
          </a:ln>
        </p:spPr>
      </p:sp>
      <p:sp>
        <p:nvSpPr>
          <p:cNvPr id="12" name="Text 9"/>
          <p:cNvSpPr txBox="1"/>
          <p:nvPr/>
        </p:nvSpPr>
        <p:spPr>
          <a:xfrm>
            <a:off x="411480" y="265176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Hold back the CP's $20</a:t>
            </a:r>
            <a:endParaRPr lang="en-US" sz="1000" dirty="0"/>
          </a:p>
        </p:txBody>
      </p:sp>
      <p:sp>
        <p:nvSpPr>
          <p:cNvPr id="13" name="Text 10"/>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4" name="Text 11"/>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JOB COMPLETED ANYWAY</a:t>
            </a:r>
            <a:endParaRPr lang="en-US" sz="800" dirty="0"/>
          </a:p>
        </p:txBody>
      </p:sp>
      <p:sp>
        <p:nvSpPr>
          <p:cNvPr id="15" name="Shape 12"/>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6" name="Text 13"/>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2026-10-06T19:11:01Z</dcterms:created>
  <dcterms:modified xsi:type="dcterms:W3CDTF">2026-10-06T19:11:01Z</dcterms:modified>
</cp:coreProperties>
</file>