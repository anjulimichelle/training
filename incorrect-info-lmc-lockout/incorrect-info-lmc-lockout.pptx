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module covers six topics from the Knowledge Library: General Guidance: Incorrect Information Provided; AG-Refund: Last-Minute Cancellation (LMC); AG-Refund: Lockout (LO); AG – Refund – Priority Fee; AG – Refund – Premium Upsell; and AG – Refund: Processing Fee. The common thread: work out whether the charge is valid and why the customer is contesting it, then resolve it the way the Knowledge Library sets out, no more and no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is general guidance that applies whenever our own communication caused the problem. Topics 2 to 6 are action guides for charges customers often contest: the Last-Minute Cancellation fee, the Lockout fee, the Priority Fee, the Premium Upsell and the Processing Fee. In slideshow mode, click any topic to jump straight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Job-Related Charges &amp; Refund Requests. This covers a customer who signed up for a membership and is now trying to cancel because of a guaranteed promise Homeaglow can't fulfill. It isn't limited to pricing. AG – Refund: Processing Fee is one worked-out example of this general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shapes of the same problem. (1) A rate or term stated as fixed or guaranteed by a Sales or CS agent, or by a system-generated message. (2) A service coverage that was promised but isn't part of what the platform offers. (3) Guarantee-pairing: a rep mentions an unrelated guarantee, like the Happiness Guarantee, back-to-back with cancellation or ETF language, without separating "we'll fix the job" from "you can cancel penalty-free". The Happiness Guarantee only covers cleaning quality; Sales confirmed it's never meant to be tied to charges, refunds or compensation. Sales treats pairing it with cancellation language as a protocol violation on their end; we treat it as misrepresentation on ours. Why it matters: when our communication is the reason expectations don't match reality, it's our error, not a customer misunderstanding. The financial impact gets corrected whether the customer stays or goes, and if the broken promise is why they want to leave, they shouldn't pay an ETF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about whether the customer asked good questions. It's about whether we made an affirmative, guaranteed claim. For rates, the word "at" is the tell: "at $19/hour", "at $23/hour" is an exact figure, a guarantee we can't make because CP rates vary and cleaners are independent contractors. "Around", "approximately", "starting at" is an estimate: a different actual rate isn't misrepresentation, it's a normal expectation gap. Verify against the sales call recording or notes before applying the test. Don't rely on the customer's recollection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Verify: confirm it's genuinely a guaranteed promise, not an estimate or a gap in what was proactively mentioned. Look for the specific language used, not just whether the customer was surprised. To verify, run a Sales call review: submit a Sales call review request (link icon on the pop-up opens the request sheet), add an internal note with your escalation link, and don't resolve yet: change the status to Waiting on CSQ. If misinformation is not verified, clarify the information and address any confusion. If it is verified, continue: 2) Refund any overpayment that resulted, where applicable: e.g. promised a $49/month MF but charged $59, refund the difference. Not every case has an overpayment; service-capability and guarantee-pairing cases often don't. 3) Acknowledge the error directly. Don't frame it as a misunderstanding on the customer's side. 4) Correct the charges or expectations going forward, and clearly explain what changed. 5) Assess retainability as for any other case. If retainable, attempt retention with one light offer, not a push: up to $20 credit or a 1-hr courtesy voucher. While you wait for their reply, set a TR before the next MF. 6) If the customer declines the offer, or isn't retainable, waive the ETF and cancel the FC. TRAINER: click once (Sales call review) to open the escalation steps; click again to close them. In slideshow mode, the link icon on the pop-up opens the Sales call review request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rep quoted a specific rate and left out the processing fee, tax or Premium, the customer had no way to know the real price. That's misrepresentation. Honor the total they were told: admin refund so the job comes to what they expected. If someone disclosed a charge before it happened and the customer agreed to it (e.g. the CP explained the extra-hours rate), refund only the part that was never disclosed. Worked example: FCR told the customer "$20/hr" and didn't mention the processing fee, tax or Premium. Admin refund so the job totals $20/hr × hours worked. Set the max CP rate to $20 and the Cleaner Experience Level to Standard, and explain the fees going forward. Recommended macro: Misinformation: address incorrect claims about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guarantee: signed up through Sales after being told "at $23/hour", not "around". If now charged more, refund the difference; if they want to cancel because of that guarantee, waive the ETF. Service capability: customer asked specifically about a rotary floor buffer for engineered hardwood floors; an agent confirmed we could provide it, but cleaners on the platform don't carry buffers. If they cancel because of this, they're eligible for the ETF waiver. Happiness Guarantee paired with cancellation language: the rep explained cancellation/ETF terms, then immediately said the Happiness Guarantee verbatim ("you're covered... you're not satisfied until you are") without separating that it only covers cleaning quality. The customer reasonably heard "if I'm not happy, I can walk away for free". ETF waiver eligible. Contrast, not misrepresentation: "starting around $20/hour" or "roughly $23" is an estimate; and the Happiness Guarantee mentioned only in response to a cleaning-quality concern, with no cancellation/ETF language nearby, is the guarantee working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Incorrect Information ticket. Give trainees a few minutes to review it on their own, then work through it together. 1) Is there verified misinformation? What exactly was said, and by whom? "At $23/hour" is a guarantee; "around" or "starting at" is an estimate. Would this need a Sales call review (request, internal note with the escalation link, status Waiting on CSQ)? 2) What was the misinformation, and how do we correct it? Refund the gap, own the error, correct the charges or expectations, one light offer; declined or not retainable: waive the ETF and cancel the FC. Which macro? 3) 5-minute writing challenge: each trainee writes the comms they would send the customer. Read a few aloud and compare. Then open the floor for questions on Incorrect Information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Job-Related Charges &amp; Refund Requests. LMC refund requests are common, and getting them wrong fails in two opposite directions: too generous gives away money on a valid charge; too strict frustrates a customer over a fee that shouldn't have applied (e.g. the CP caused the disruption). Two separate questions: is the charge valid, and if so, how generous to be. Mixing them up is where most mistakes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Last-Minute Cancellation (LMC) fee is a $40 charge applied when a customer cancels a job within 6 hours of its start time. The matched CP is paid $20 for the inconvenience of losing the booking so close to the start. The system charges it automatically: you're not deciding whether it applies, only whether it was applied correctly and whether it should be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LMC is automatically waived (it shouldn't have been charged, or should be reversed if it was) when: the job was still Submitted (no CP matched, so no one to compensate); the customer's area had severe weather; the CP rescheduled less than 24 hours before the cancellation and the new time wasn't requested by the customer; the CP claimed an Alternate Start Time added less than 48 hours before the cancellation; the customer asked for the CP's ETA and the CP didn't check in within 30 minutes of the start time; or all of these: the customer hasn't had a prior LMC waiver, the CP didn't check in more than 30 min before start, and the job was claimed or rescheduled in the last 24 hours with either an active FC or a start time that wasn't the customer's preferred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charge is invalid: 1) Refund the LMC charge via the Manual Charges section. 2) Create a Cleaner Payment Holdback for the $20 the CP received: CP CRM &gt; Do &gt; CleanerPaymentHoldback &gt; create (the amount is entered in cents, so $20 = 2000). Special case: the customer was charged LMC but the job was later completed anyway. Refund the LMC charge, create a $20 holdback with invalid_lmc as the holdback type, log the ticket, then recreate the job and invoice it normally so it still triggers the customer's FC correctly. TRAINER: in slideshow mode, click Refund the LMC charge or Hold back the CP's $20 to play that how-to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only when the customer explicitly requests a refund, or contests the charge expecting it to be reversed or credited. If they're only asking for an explanation and haven't expressed dissatisfaction or asked for removal, don't use it. It's deliberately not a ladder: don't start small and escalate only if they push back. New customer (0-2 invoiced jobs): refund the LMC fee outright. They're brand new; charging $40 this early risks losing them before they see the membership's value. Low to moderate expected future LTNR (3-4 invoiced jobs): offer credits up to 100% of the LMC fee, not cash. If they say no but don't threaten to cancel, tell them this is the most we can offer. If they get upset, send them to Service Recovery so someone can explain by phone. If they still want to cancel, put the LMC fee toward their ETF. Very high-value customer (more than 4 invoiced jobs, high retention): refund the whole $40. Macros: Last-minute cancel: high-value customer; Last-minute cancel: no refund (standard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find LMC charges: on the CRM under Manual Charges, or C CRM &gt; View &gt; ManualCustomerPaymentTxn. When issuing credits for an LMC, use "lmc" as the internal reason. If the LMC charge fails to collect, let it go: the system makes a couple of attempts and then stops. We don't collect it again, and we don't pay the cleaner from it. There's nothing to void and nothing to run through the manual-charge refund flow: the charge never landed. This applies to LMC specifically: other fees don't all behave this way (a failed Premium fee keeps retrying until it succeeds), so check the fee before assuming a failed charge is finished. The cleaner is paid only if they ask: a CP who reaches out for compensation on a last-minute cancellation is handled on its own merits through the usual CP-side path. A failed charge looks like an open loop and the instinct is to chase it: void it, refund it, re-run it. All three are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Last-Minute Cancellation ticket. Give trainees a few minutes to review it on their own, then work through it together. 1) Is this a valid or invalid LMC fee, and why? Check the six automatic waivers first: job still Submitted (no CP matched), severe weather, CP rescheduled less than 24 hours before, Alternate Start Time claimed, ETA asked with no check-in, or all of these together. Then read what the customer and the CP said (e.g. the CP asked to reschedule or cancel, or no-showed). 2) What actions are you going to take? Invalid: refund the LMC charge and create a $20 Cleaner Payment Holdback (invalid_lmc, 2000 cents); special case if the job was completed anyway. Valid: only if the customer asks for a refund or contests it, go straight to their customer category offer. Which macro? 3) 5-minute writing challenge: each trainee writes the comms they would send the customer. Read a few aloud and compare. Then open the floor for questions on Last-Minute Cancellation.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Job-Related Charges &amp; Refund Requests. The tension is the same as LMC: the CP showed up and deserves to be paid for that time, but the charge is only fair if the CP met their end of the bargain (arrived on time, tried to get in, stayed the required time). Validate the claim before deciding anything about a refund: refunding a lockout that was never valid isn't generosity, it's correcting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Lockout is a claim a CP submits when they arrive at the customer's home at the scheduled time but can't get in to complete the cleaning, despite trying to reach the customer. It exists so the CP is still compensated for the time, travel and effort of showing up. Once submitted, the job status changes to Invoiced and the customer is charged the full job cost. That's why lockout tickets almost always arrive as a customer contesting a charge for a cleaning that never happened. This topic also covers what to do when a CP contacts us about a lockout (lockout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these four questions in order. Any "no" typically means the lockout is invalid. Always leave an internal note documenting your findings: it's your reference if either party disputes the outcome later. Invalid: refund through the CP Dashboard (it charges the cost back to the CP, who made the error), not an admin refund; also refund the Premium fee if any. All yes: valid, go to Step 3 (click the All yes box). WHAT TO CHECK: 1) Customer's messages to the CP. Mentioned cancelling or rescheduling more than 6 hours before start: invalid, the CP shouldn't have gone. Within 6 hours: if the CP acknowledged the appointment wouldn't happen, still invalid. 2) CPs may arrive 30 minutes before up to 30 minutes after the start time. Check call/text timestamps, CP-to-Care comms, check-in messages, GPS screenshots, CP App "approaching" notifications. More than 30 min late: invalid. Exception: the evidence shows the customer had already decided not to have the appointment (e.g. told Support but the job wasn't cancelled and the CP wasn't told; or told the CP after start time that they'd cancelled long before). The CP still has to show they were on site and tried to reach the customer. Coach lateness separately. 3) CP messages confirming arrival, CTJ logs, pre-evidence photos, or a selfie at the home. A photo of the house without the CP in frame: check it isn't reused or reverse-searchable. A photo is only required for CP Dashboard submissions, not the CP App. Faked (not just weak) evidence: stop and go to AG – Fraud › CP Document Fraud. 4) At least 2 contact attempts, at least 5 minutes apart, staying at least 15 minutes, and following any entry notes. Same rule for CP App and CP Dashboard. Confirm with timestamps: contact attempts, the lockout action in Job History, CP messages to the customer or CS. Waived if the CP says the customer refused entry or asked to cancel on arrival: then look for other proof the CP was on site on time. IMPORTANT: These requirements may be disregarded if the CP claims that the C did not let them in or wanted to cancel upon their arrival. If this is the case, check for other indicators proving that CP did arrive on time at the C's location. TRAINER: the Always note shows on the right when the slide opens; the details are hidden. Click 1 opens question 1's details, click 2 swaps to question 2, click 3 to question 3, click 4 to question 4, click 5 closes them. In slideshow mode, click the All yes box to jump to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non-ladder principle as LMC. New customer (1-2 invoiced jobs): admin refund the full job cost; refunding now and educating protects a relationship that's still forming. Low to moderate expected future LTNR (3-4 invoiced jobs): credits up to 75% of the job cost, keeping at least $40 to cover the CP's costs. Declined but not escalating: this is the maximum. Escalates: route to Service Recovery. Insists on cancelling: apply the job cost toward the ETF (max reduction still 50%). Very high-value customer (more than 4 invoiced jobs, high retention): offer two options: the full LO fee as account credit, or a refund of the LO fee minus $40 (the CP cost). Explain why the fee exists either way. Applies to customers with an active FC in most cases; a customer actively using the service without an FC table is an edge case, use judgment. Deactivated FC, RC still active (cancelled FC but the Recurring Cleaning plan stayed on and a job still happened): admin refund the full charge and deactivate the RC plan. That's a product gap: FC self-cancel doesn't cancel RC. If vague, probe: check for a legitimate explanation (e.g. a messaging bug) before assuming the customer is at fault. It's fine to open with the full job cost as credits as a goodwill gesture before working through the tiers. Macros: Lockout fee: high-value customer; Lockout fee: no refund (standard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denied entry because of the CP or a Trust &amp; Safety concern (showed up unprofessional, brought an unauthorized guest, didn't have cleaning supplies): issue an admin refund for the lockout fee, still pay the CP $40 for their time and travel, document the incident clearly in internal notes, and coach the CP on why the customer denied entry. The customer's safety and trust come first, but the CP still showed up and is owed something. Customer cancelled through Support, but we didn't act on it (the job wasn't cancelled and the CP wasn't told): the miss is ours. Don't charge the customer: refund or cancel the job on the C-side. Pay the CP the standard lockout amount through MCP, as long as they show they were on site and tried to reach the customer. Their lateness doesn't matter here. TRAINER: click once to show why the CP was denied entry (left), click again to show why the Support cancellation case is our fault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Lockout ticket. Give trainees a few minutes to review it on their own, then work through it together. 1) Is the lockout valid or invalid, and why? Walk the four questions in order: did the customer want the appointment, did the CP arrive on time (30 min before to 30 min after start), did the CP arrive at the address, and did the CP try to complete it (2+ contact attempts, 5+ min apart, 15+ min on site, entry notes followed). Remember the exception if the customer refused entry or wanted to cancel on arrival. 2) What actions are you going to take? Invalid: refund through the CP Dashboard (and the Premium fee if charged). Valid: only if the customer asks for a refund or contests the charge, go straight to their customer category offer. Check the special scenarios (entry denied for CP fault or T&amp;S; cancelled via Support but not actioned). Leave an internal note with your findings. Which macro? 3) 5-minute writing challenge: each trainee writes the comms they would send the customer. Read a few aloud and compare. Then open the floor for questions on Lockouts.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 – Refund – Priority Fee. A Priority Fee is a charge automatically applied when a customer books or reschedules on short notice (less than 48 hours out). It compensates for the extra effort and urgency needed to secure CP availability on short notice. This topic covers what to do when a customer contacts Support asking for a refund on that charge: investigate the charge, decide whether it was rightfully applied, and resolve it correctly. The fee is valid by default: the system only applies it under a specific condition, and it's disclosed at booking. But valid by default doesn't mean it always stands. If something on Homeaglow's or the CP's end pushed the customer into that window, charging them for it isn't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automatically applies a Priority Fee when the customer books a cleaning scheduled to take place within 12–48 hours from the time they book it, or reschedules a cleaning and the new appointment is within 48 hours from the time they make the change. The Priority Fee is also subject to the standard 15% processing fee charged on billable services. Whenever we talk about refunding the Priority Fee, that includes the associated 15% processing fee. Example: Priority Fee $15/hr x 3 hrs = $45; processing fee (15%) $6.75; total charged $51.75. When refunding, refund both, since the processing fee was charged because of the Priority Fee. ON THE SLIDE: first, the message customers see when the date and time they pick incurs a Priority Fee ("This time is a high-demand date &amp; time for cleaners. Priority rates may apply."). Second, how the charge shows on the Job Admin page: the + PriorityMarkup line in the Base breakdown (here $23.50/hr), and the 15% processing fee in the Txn Fee column. TRAINER: the screenshots are hidden when the slide opens. Click once (What the customer sees when booking) to show the booking prompt, click again (How it shows in Job Admin) to swap to the Job Admin screenshot, and click a third time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rule: ignore the original appointment date. Only look at the new appointment. If the new appointment is within 48 hours of when the booking or reschedule is made, a Priority Fee applies. Example 1 (fee applies): current time July 27, 10:00 AM; original cleaning July 28, 2:00 PM; customer changes it to July 29, 9:00 AM. The new appointment is only 47 hours away, so the Priority Fee applies. Example 2 (no fee): current time July 27, 10:00 AM; original cleaning July 28, 2:00 PM; customer changes it to August 1, 9:00 AM. The new appointment is more than 48 hours away, so no Priority Fee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the account history first. Before saying anything to the customer about a resolution, ask one question: why did the customer end up in the priority window? Their own scheduling choice, or because Homeaglow or the CP forced them into it? C-fault (the customer chose the window: booked or rescheduled within 48 hours on their own, or picked a high-demand date, and nothing on our side drove it): the fee stands. Explain the policy plainly and offer up to 100% of the Priority Fee in account credits as a courtesy. Treat 100% as a ceiling, not your starting point: base the amount on the customer's history and how the conversation is going, and position it as a goodwill gesture, not "we got this wrong". Macro: Priority Fee: Issue Credits up to 100% of the Priority Fee. CP/Platform fault (Homeaglow or the CP caused the priority window): refund the full Priority Fee and the associated 15% processing fee to the original payment method, and acknowledge specifically what happened (e.g. "your last cleaner cancelled on short notice"). Macro: Priority Fee Refunded. The two paths are mutually exclusive: never refund and credit the same fee unless a supervisor approves. Not sure which? Escalate. Only take the refund path if you can point to one of these known scenarios (not exhaustive): 1) the customer's previous CP was a no-show or cancelled at the last minute; 2) the customer's previous CP requested to reschedule; 3) the customer was affected by a system bug; 4) the customer immediately booked another cleaning after reporting their previous CP for Poor Cleaning Quality (PCQ). If a case doesn't match exactly but is genuinely comparable (something on Homeaglow's or the CP's end forced the customer into the window, not their own scheduling choice), treat it the same way. If you're not sure whether it's truly comparable or the customer's own choice dressed up differently, escalate. Worked example: "I was charged a $15/hr priority fee for my cleaning yesterday. I didn't do anything different from usual." The account history shows their scheduled CP cancelled the day before, so they had to rebook on short notice. That's scenario 1: skip the credit macro, send Priority Fee Refunded, refund the $15/hr fee and its 15% processing fee to the original payment method, and acknowledge that the previous CP's cancellation caused it. Check for repeat Priority Fee disputes on the same account before offering courtesy credits again. TRAINER: the scenarios are hidden when the slide opens. Click once (Scenarios) to open the box with scenario 1, then click to add scenarios 2, 3 and 4 one at a time; the fifth click closes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Priority Fee ticket. Give trainees a few minutes to review it on their own, then work through it together. 1) Was the Priority Fee valid, and why? Apply the 48-hour rule to the new appointment only, then check the account history: did the customer choose the window, or did Homeaglow or the CP force them into it (no-show or last-minute cancel, CP reschedule, system bug, rebooked after PCQ)? 2) What actions are you going to take? Customer's choice: explain the policy and offer courtesy credits up to 100% of the fee (macro: Priority Fee: Issue Credits up to 100%). Our fault: refund the full fee plus the 15% processing fee to the original payment method (macro: Priority Fee Refunded). Not sure: escalate. 3) 5-minute writing challenge: each trainee writes the comms they would send the customer. Read a few aloud and compare. Then open the floor for questions on the Priority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 – Refund – Premium Upsell. Category: Job-Related Charges Refund Requests. A Premium Fee (also called "Premium Upsell") is a $20 charge, plus applicable taxes, applied when a customer selects Premium as their level of experience during booking. Unlike the Priority Fee, which is triggered when a job is booked or rescheduled, the Premium Fee is an optional charge the customer chooses at booking for a higher service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Premium Fee is a $20 charge plus applicable taxes, applied when the customer selects Premium as their level of experience at booking. It's an optional, higher service tier. Don't confuse it with the Priority Fee: that one is applied automatically when a job is booked or rescheduled into the 48-hour window. Where to find it: New CRM: Payment History section. Legacy CRM: Manual Charges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Premium Fee can be refunded under two independent circumstances, and only one needs to apply: (1) the customer requests a refund for the Premium Fee; (2) the job has a confirmed service issue, even if the customer never mentions the Premium Fee. The second trigger is the one agents most often overlook. When a job has a confirmed service issue (such as Poor Cleaning Quality), always check whether a Premium Fee was charged. If it was, refund it as part of resolving the service issue, even if the customer only complained about the cleaning. ON THE SLIDE: the customer's Payment History in the CRM. The Premium Fee shows as premium_surcharge in the Reason column, usually $20 plus tax (here $21.35); the boxed rows are the Premium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Premium Fee charge fails, it keeps retrying until it succeeds. That's the opposite of a failed LMC charge, which the system tries a couple of times and then lets go. A failed Premium Fee is not resolved: the customer will still be charged. So when a customer asks not to be charged the Premium Fee and the charge has already failed: switch the experience to Standard, and issue a credit equal to the Premium Fee to offset the retry when it lands. Explain both to the customer, so the later charge doesn't read as us ignoring the request. Why this matters: a failed charge looks resolved, and the instinct carried over from LMC is to leave it alone. Check how the specific fee behaves on retry before deciding nothing is 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ticket with a Premium Fee. Give trainees a few minutes to review it on their own, then work through it together. 1) Should the Premium Fee be refunded, and why? Either trigger is enough: the customer asked for a refund, or the job has a confirmed service issue (e.g. PCQ), even if Premium was never mentioned. 2) What actions are you going to take? Find the charge (New CRM › Payment History; Legacy CRM › Manual Charges) and refund it. If the charge failed and the customer doesn't want Premium: switch the experience to Standard and issue a credit equal to the Premium Fee to offset the retry, and explain both. 3) 5-minute writing challenge: each trainee writes the comms they would send the customer. Read a few aloud and compare. Then open the floor for questions on the Premium Upsell.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 – Refund: Processing Fee. Category: Job-Related Charges &amp; Refund Requests. A Processing Fee is a standard percentage-based charge included in the total cost of every cleaning. This topic covers customers who contest or question it. For the pricing formula, see Billing (C Price and CP Pay). It's also one specific, worked-out example of the Incorrect Information Provided rule from Topic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Processing Fee is a standard percentage-based charge included in the total cost of every cleaning. The percentage depends on membership status: 5% for non-ForeverClean and deactivated ForeverClean customers; 15% for active ForeverClean customers. It's a standard part of Homeaglow's pricing, not a penalty or a discretionary charge, so your role is not to decide whether it should have been charged: in most cases it's valid. Most customers contest it because of expectation gaps, not billing errors: they didn't realize it applied when they signed up, or they enrolled through Sales and only remember an "around $23/hour" price without the fee called out separately. That doesn't make the fee wrong, but it can leave them feeling misled.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determine why the customer is contesting the fee. Homeaglow properly set expectations: the customer simply wasn't aware of the fee or doesn't remember it being disclosed (overlooked it at signup, forgot the pricing details, assumed the quoted hourly rate included all fees). That's an expectation gap, not a billing error. Homeaglow failed to set proper expectations: the fee wasn't properly disclosed or was misrepresented before booking (a Sales rep didn't mention it when it should have been disclosed, a Sales rep said there were no additional fees, or a system or onboarding issue hid the disclosure). That's a Homeaglow-caused expectation issue. Separate the legitimacy of the fee from the customer's experience: your resolution should reflect why they're contesting it, not just the fact that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Homeaglow properly set expectations: explain that the Processing Fee is a standard charge included in every cleaning. Keep it neutral; don't imply it was charged incorrectly. If they only wanted clarification, the explanation is enough. If they're still unhappy but staying, you may issue a one-time $10 or $20 account credit as goodwill (use your judgment). Never issue a credit equal to the Processing Fee itself: that implies the fee was inappropriate. If they specifically want cash back instead of credits, or will cancel unless refunded, you may issue a $10 or $20 partial refund instead. Set clear expectations that the fee is standard and ongoing: this is a one-time exception, not a waiver. Homeaglow failed to set proper expectations: refund the Processing Fee in full to the original payment method, and acknowledge the specific expectation-setting issue without suggesting the fee is generally invalid. If they no longer want their ForeverClean membership because of it, waive the ETF when processing the cancellation. Macro: Processing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customer's concern is paying the Processing Fee on future bookings rather than this specific charge, move into the appropriate retention flow. Offer a $10–$15 Membership Fee reduction. If the situation calls for more, escalate to Support or a TL, who can approve reductions of up to 50%. Things to watch for: don't investigate whether the Processing Fee is generally valid (it's standard pricing); investigate why the customer is contesting it and whether we set expectations properly; goodwill acknowledges the experience, it doesn't mean the fee was wrong; never credit the exact fee amount; if we failed to disclose it, refund it in full; if they cancel FC because of our misrepresentation, waive the ETF.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share a live Processing Fee ticket. Give trainees a few minutes to review it on their own, then work through it together. 1) Why is the customer contesting the fee? Don't debate whether the fee applies (5% non-FC or deactivated FC, 15% active FC): find out whether we set expectations properly (expectation gap) or failed to (Sales omitted it, said no extra fees, or a system issue hid it). Verify what they were told. 2) What actions are you going to take? Expectation gap: explain neutrally; if still unhappy but staying, a one-time $10 or $20 credit (never the exact fee); wants cash or will cancel, a $10 or $20 partial refund. Our failure: refund the Processing Fee in full and waive the ETF if they cancel FC over it. Future fees: retention flow, $10–$15 Membership Fee reduction, escalate for more. Macro: Processing Fee. 3) 5-minute writing challenge: each trainee writes the comms they would send the customer. Read a few aloud and compare. Then open the floor for questions on the Processing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Recap: Incorrect Information (test the exact words, own the error, one light offer, else waive ETF); LMC (validate against the automatic waivers, then refund by category, not a ladder; leave failed charges alone); Lockouts (four validation questions; invalid goes through the CP Dashboard; valid goes by category, keeping $40 for the CP); Priority Fee (only the new appointment counts; their choice gets courtesy credits up to 100%, our fault gets a full refund plus the 15% processing fee); Premium Upsell (refund it when asked or when there is a confirmed service issue; a failed charge keeps retrying); Processing Fee (standard pricing; find out why they are contesting it; goodwill $10 or $20, or a full refund and ETF waiver if we failed to disclose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p:bgPr>
    </p:bg>
    <p:spTree>
      <p:nvGrpSpPr>
        <p:cNvPr id="1" name=""/>
        <p:cNvGrpSpPr/>
        <p:nvPr/>
      </p:nvGrpSpPr>
      <p:grpSpPr>
        <a:xfrm>
          <a:off x="0" y="0"/>
          <a:ext cx="0" cy="0"/>
          <a:chOff x="0" y="0"/>
          <a:chExt cx="0" cy="0"/>
        </a:xfrm>
      </p:grpSpPr>
      <p:sp>
        <p:nvSpPr>
          <p:cNvPr id="2" name="Text 0"/>
          <p:cNvSpPr/>
          <p:nvPr/>
        </p:nvSpPr>
        <p:spPr>
          <a:xfrm>
            <a:off x="438912" y="4800600"/>
            <a:ext cx="3657600" cy="182880"/>
          </a:xfrm>
          <a:prstGeom prst="rect">
            <a:avLst/>
          </a:prstGeom>
          <a:noFill/>
          <a:ln/>
        </p:spPr>
        <p:txBody>
          <a:bodyPr wrap="square" lIns="0" tIns="0" rIns="0" bIns="0" rtlCol="0" anchor="ctr"/>
          <a:lstStyle/>
          <a:p>
            <a:pPr indent="0" marL="0">
              <a:buNone/>
            </a:pPr>
            <a:r>
              <a:rPr lang="en-US" sz="700" dirty="0">
                <a:solidFill>
                  <a:srgbClr val="6E6E73"/>
                </a:solidFill>
                <a:latin typeface="SF Pro Text" pitchFamily="34" charset="0"/>
                <a:ea typeface="SF Pro Text" pitchFamily="34" charset="-122"/>
                <a:cs typeface="SF Pro Text" pitchFamily="34" charset="-120"/>
              </a:rPr>
              <a:t>Homeaglow  ·  New Hire Care Training</a:t>
            </a:r>
            <a:endParaRPr lang="en-US" sz="7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6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11.xml"/><Relationship Id="rId5" Type="http://schemas.openxmlformats.org/officeDocument/2006/relationships/slide" Target="slide11.xml"/><Relationship Id="rId6" Type="http://schemas.openxmlformats.org/officeDocument/2006/relationships/slide" Target="slide11.xml"/><Relationship Id="rId7" Type="http://schemas.openxmlformats.org/officeDocument/2006/relationships/slide" Target="slide19.xml"/><Relationship Id="rId8" Type="http://schemas.openxmlformats.org/officeDocument/2006/relationships/slide" Target="slide19.xml"/><Relationship Id="rId9" Type="http://schemas.openxmlformats.org/officeDocument/2006/relationships/slide" Target="slide19.xml"/><Relationship Id="rId10" Type="http://schemas.openxmlformats.org/officeDocument/2006/relationships/slide" Target="slide26.xml"/><Relationship Id="rId11" Type="http://schemas.openxmlformats.org/officeDocument/2006/relationships/slide" Target="slide26.xml"/><Relationship Id="rId12" Type="http://schemas.openxmlformats.org/officeDocument/2006/relationships/slide" Target="slide26.xml"/><Relationship Id="rId13" Type="http://schemas.openxmlformats.org/officeDocument/2006/relationships/slide" Target="slide32.xml"/><Relationship Id="rId14" Type="http://schemas.openxmlformats.org/officeDocument/2006/relationships/slide" Target="slide32.xml"/><Relationship Id="rId15" Type="http://schemas.openxmlformats.org/officeDocument/2006/relationships/slide" Target="slide32.xml"/><Relationship Id="rId16" Type="http://schemas.openxmlformats.org/officeDocument/2006/relationships/slide" Target="slide38.xml"/><Relationship Id="rId17" Type="http://schemas.openxmlformats.org/officeDocument/2006/relationships/slide" Target="slide38.xml"/><Relationship Id="rId18" Type="http://schemas.openxmlformats.org/officeDocument/2006/relationships/slide" Target="slide38.xml"/><Relationship Id="rId19" Type="http://schemas.openxmlformats.org/officeDocument/2006/relationships/slideLayout" Target="../slideLayouts/slideLayout2.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ocs.google.com/spreadsheets/d/1uW45nsR5hVwTl9x32EWYaOevp_LeXd61mLAM7qUTv2I/edit?gid=0#gid=0" TargetMode="External"/><Relationship Id="rId4" Type="http://schemas.openxmlformats.org/officeDocument/2006/relationships/hyperlink" Target="https://docs.google.com/spreadsheets/d/1uW45nsR5hVwTl9x32EWYaOevp_LeXd61mLAM7qUTv2I/edit?gid=0#gid=0" TargetMode="External"/><Relationship Id="rId1" Type="http://schemas.openxmlformats.org/officeDocument/2006/relationships/image" Target="../media/image-6-1.png"/><Relationship Id="rId3" Type="http://schemas.openxmlformats.org/officeDocument/2006/relationships/image" Target="../media/image-6-2.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rive.google.com/file/d/1dGh4N34uNXt2b5cvOZ1YuZrXYro7ufBa/view?usp=sharing" TargetMode="External"/><Relationship Id="rId2" Type="http://schemas.openxmlformats.org/officeDocument/2006/relationships/hyperlink" Target="https://drive.google.com/file/d/1gqoWAA__DzuEuV7R4xlQCMbLl--T5nq6/view?usp=sharing" TargetMode="Externa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22.xml"/><Relationship Id="rId3" Type="http://schemas.openxmlformats.org/officeDocument/2006/relationships/slide" Target="slide22.xml"/><Relationship Id="rId1" Type="http://schemas.openxmlformats.org/officeDocument/2006/relationships/image" Target="../media/image-21-1.png"/><Relationship Id="rId4" Type="http://schemas.openxmlformats.org/officeDocument/2006/relationships/image" Target="../media/image-21-2.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2.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2.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486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HOMEAGLOW  ·  NEW HIRE CARE TRAINING</a:t>
            </a:r>
            <a:endParaRPr lang="en-US" sz="800" dirty="0"/>
          </a:p>
        </p:txBody>
      </p:sp>
      <p:sp>
        <p:nvSpPr>
          <p:cNvPr id="3" name="Text 1"/>
          <p:cNvSpPr txBox="1"/>
          <p:nvPr/>
        </p:nvSpPr>
        <p:spPr>
          <a:xfrm>
            <a:off x="566928" y="868680"/>
            <a:ext cx="4480560" cy="1600200"/>
          </a:xfrm>
          <a:prstGeom prst="rect">
            <a:avLst/>
          </a:prstGeom>
          <a:noFill/>
          <a:ln/>
        </p:spPr>
        <p:txBody>
          <a:bodyPr wrap="square" lIns="0" tIns="0" rIns="0" bIns="0" rtlCol="0" anchor="t"/>
          <a:lstStyle/>
          <a:p>
            <a:pPr indent="0" marL="0">
              <a:buNone/>
            </a:pPr>
            <a:r>
              <a:rPr lang="en-US" sz="3000" b="1" dirty="0">
                <a:solidFill>
                  <a:srgbClr val="1D1D1F"/>
                </a:solidFill>
                <a:latin typeface="SF Pro Display" pitchFamily="34" charset="0"/>
                <a:ea typeface="SF Pro Display" pitchFamily="34" charset="-122"/>
                <a:cs typeface="SF Pro Display" pitchFamily="34" charset="-120"/>
              </a:rPr>
              <a:t>Incorrect Info,</a:t>
            </a:r>
            <a:endParaRPr lang="en-US" sz="3000" dirty="0"/>
          </a:p>
          <a:p>
            <a:pPr indent="0" marL="0">
              <a:buNone/>
            </a:pPr>
            <a:r>
              <a:rPr lang="en-US" sz="3000" b="1" dirty="0">
                <a:solidFill>
                  <a:srgbClr val="1D1D1F"/>
                </a:solidFill>
                <a:latin typeface="SF Pro Display" pitchFamily="34" charset="0"/>
                <a:ea typeface="SF Pro Display" pitchFamily="34" charset="-122"/>
                <a:cs typeface="SF Pro Display" pitchFamily="34" charset="-120"/>
              </a:rPr>
              <a:t>LMC, Lockouts</a:t>
            </a:r>
            <a:endParaRPr lang="en-US" sz="3000" dirty="0"/>
          </a:p>
          <a:p>
            <a:pPr indent="0" marL="0">
              <a:buNone/>
            </a:pPr>
            <a:r>
              <a:rPr lang="en-US" sz="3000" b="1" dirty="0">
                <a:solidFill>
                  <a:srgbClr val="1D1D1F"/>
                </a:solidFill>
                <a:latin typeface="SF Pro Display" pitchFamily="34" charset="0"/>
                <a:ea typeface="SF Pro Display" pitchFamily="34" charset="-122"/>
                <a:cs typeface="SF Pro Display" pitchFamily="34" charset="-120"/>
              </a:rPr>
              <a:t>&amp; Fees</a:t>
            </a:r>
            <a:endParaRPr lang="en-US" sz="3000" dirty="0"/>
          </a:p>
        </p:txBody>
      </p:sp>
      <p:sp>
        <p:nvSpPr>
          <p:cNvPr id="4" name="Text 2"/>
          <p:cNvSpPr txBox="1"/>
          <p:nvPr/>
        </p:nvSpPr>
        <p:spPr>
          <a:xfrm>
            <a:off x="566928" y="2468880"/>
            <a:ext cx="4206240" cy="640080"/>
          </a:xfrm>
          <a:prstGeom prst="rect">
            <a:avLst/>
          </a:prstGeom>
          <a:noFill/>
          <a:ln/>
        </p:spPr>
        <p:txBody>
          <a:bodyPr wrap="square" lIns="0" tIns="0" rIns="0" bIns="0" rtlCol="0" anchor="t"/>
          <a:lstStyle/>
          <a:p>
            <a:pPr indent="0" marL="0">
              <a:buNone/>
            </a:pPr>
            <a:r>
              <a:rPr lang="en-US" sz="1250" dirty="0">
                <a:solidFill>
                  <a:srgbClr val="6E6E73"/>
                </a:solidFill>
                <a:latin typeface="SF Pro Text" pitchFamily="34" charset="0"/>
                <a:ea typeface="SF Pro Text" pitchFamily="34" charset="-122"/>
                <a:cs typeface="SF Pro Text" pitchFamily="34" charset="-120"/>
              </a:rPr>
              <a:t>When our own words set the wrong expectation, and how to handle the charges customers contest most.</a:t>
            </a:r>
            <a:endParaRPr lang="en-US" sz="1250" dirty="0"/>
          </a:p>
        </p:txBody>
      </p:sp>
      <p:sp>
        <p:nvSpPr>
          <p:cNvPr id="5" name="Text 3"/>
          <p:cNvSpPr txBox="1"/>
          <p:nvPr/>
        </p:nvSpPr>
        <p:spPr>
          <a:xfrm>
            <a:off x="566928" y="4572000"/>
            <a:ext cx="2743200" cy="182880"/>
          </a:xfrm>
          <a:prstGeom prst="rect">
            <a:avLst/>
          </a:prstGeom>
          <a:noFill/>
          <a:ln/>
        </p:spPr>
        <p:txBody>
          <a:bodyPr wrap="square" lIns="0" tIns="0" rIns="0" bIns="0" rtlCol="0" anchor="t"/>
          <a:lstStyle/>
          <a:p>
            <a:pPr indent="0" marL="0">
              <a:buNone/>
            </a:pPr>
            <a:r>
              <a:rPr lang="en-US" sz="700" dirty="0">
                <a:solidFill>
                  <a:srgbClr val="6E6E73"/>
                </a:solidFill>
                <a:latin typeface="SF Pro Text" pitchFamily="34" charset="0"/>
                <a:ea typeface="SF Pro Text" pitchFamily="34" charset="-122"/>
                <a:cs typeface="SF Pro Text" pitchFamily="34" charset="-120"/>
              </a:rPr>
              <a:t>Internal training material</a:t>
            </a:r>
            <a:endParaRPr lang="en-US" sz="700" dirty="0"/>
          </a:p>
        </p:txBody>
      </p:sp>
      <p:sp>
        <p:nvSpPr>
          <p:cNvPr id="6" name="Shape 4"/>
          <p:cNvSpPr/>
          <p:nvPr/>
        </p:nvSpPr>
        <p:spPr>
          <a:xfrm>
            <a:off x="5312664" y="365760"/>
            <a:ext cx="3383280" cy="4407408"/>
          </a:xfrm>
          <a:prstGeom prst="roundRect">
            <a:avLst>
              <a:gd name="adj" fmla="val 2162"/>
            </a:avLst>
          </a:prstGeom>
          <a:solidFill>
            <a:srgbClr val="E3F4F1"/>
          </a:solidFill>
          <a:ln w="9525">
            <a:solidFill>
              <a:srgbClr val="E3F4F1"/>
            </a:solidFill>
            <a:prstDash val="solid"/>
          </a:ln>
        </p:spPr>
      </p:sp>
      <p:sp>
        <p:nvSpPr>
          <p:cNvPr id="7" name="Shape 5"/>
          <p:cNvSpPr/>
          <p:nvPr/>
        </p:nvSpPr>
        <p:spPr>
          <a:xfrm>
            <a:off x="5724144" y="1289304"/>
            <a:ext cx="2560320" cy="2560320"/>
          </a:xfrm>
          <a:prstGeom prst="ellipse">
            <a:avLst/>
          </a:prstGeom>
          <a:solidFill>
            <a:srgbClr val="FFFFFF"/>
          </a:solidFill>
          <a:ln w="12700">
            <a:solidFill>
              <a:srgbClr val="FFFFFF"/>
            </a:solidFill>
            <a:prstDash val="solid"/>
          </a:ln>
        </p:spPr>
      </p:sp>
      <p:pic>
        <p:nvPicPr>
          <p:cNvPr id="8" name="Image 0" descr="/tmp/claude-0/-workspace-training/3ce5cff6-cccf-5f33-b0ee-0b147a55120e/scratchpad/img6/ill6.png">    </p:cNvPr>
          <p:cNvPicPr>
            <a:picLocks noChangeAspect="1"/>
          </p:cNvPicPr>
          <p:nvPr/>
        </p:nvPicPr>
        <p:blipFill>
          <a:blip r:embed="rId1"/>
          <a:stretch>
            <a:fillRect/>
          </a:stretch>
        </p:blipFill>
        <p:spPr>
          <a:xfrm>
            <a:off x="5541264" y="1632461"/>
            <a:ext cx="2926080" cy="1874006"/>
          </a:xfrm>
          <a:prstGeom prst="rect">
            <a:avLst/>
          </a:prstGeom>
        </p:spPr>
      </p:pic>
      <p:sp>
        <p:nvSpPr>
          <p:cNvPr id="9" name="Shape 6"/>
          <p:cNvSpPr/>
          <p:nvPr/>
        </p:nvSpPr>
        <p:spPr>
          <a:xfrm>
            <a:off x="5522976" y="566928"/>
            <a:ext cx="329184" cy="329184"/>
          </a:xfrm>
          <a:prstGeom prst="ellipse">
            <a:avLst/>
          </a:prstGeom>
          <a:solidFill>
            <a:srgbClr val="FFFFFF"/>
          </a:solidFill>
          <a:ln w="12700">
            <a:solidFill>
              <a:srgbClr val="FFFFFF"/>
            </a:solidFill>
            <a:prstDash val="solid"/>
          </a:ln>
        </p:spPr>
      </p:sp>
      <p:sp>
        <p:nvSpPr>
          <p:cNvPr id="10" name="Shape 7"/>
          <p:cNvSpPr/>
          <p:nvPr/>
        </p:nvSpPr>
        <p:spPr>
          <a:xfrm>
            <a:off x="5646420" y="690372"/>
            <a:ext cx="82296" cy="82296"/>
          </a:xfrm>
          <a:prstGeom prst="ellipse">
            <a:avLst/>
          </a:prstGeom>
          <a:solidFill>
            <a:srgbClr val="0B7A6F"/>
          </a:solidFill>
          <a:ln w="12700">
            <a:solidFill>
              <a:srgbClr val="0B7A6F"/>
            </a:solidFill>
            <a:prstDash val="solid"/>
          </a:ln>
        </p:spPr>
      </p:sp>
      <p:sp>
        <p:nvSpPr>
          <p:cNvPr id="11" name="Shape 8"/>
          <p:cNvSpPr/>
          <p:nvPr/>
        </p:nvSpPr>
        <p:spPr>
          <a:xfrm>
            <a:off x="8193024" y="566928"/>
            <a:ext cx="329184" cy="329184"/>
          </a:xfrm>
          <a:prstGeom prst="ellipse">
            <a:avLst/>
          </a:prstGeom>
          <a:solidFill>
            <a:srgbClr val="FFFFFF"/>
          </a:solidFill>
          <a:ln w="12700">
            <a:solidFill>
              <a:srgbClr val="FFFFFF"/>
            </a:solidFill>
            <a:prstDash val="solid"/>
          </a:ln>
        </p:spPr>
      </p:sp>
      <p:sp>
        <p:nvSpPr>
          <p:cNvPr id="12" name="Shape 9"/>
          <p:cNvSpPr/>
          <p:nvPr/>
        </p:nvSpPr>
        <p:spPr>
          <a:xfrm>
            <a:off x="8316468" y="690372"/>
            <a:ext cx="82296" cy="82296"/>
          </a:xfrm>
          <a:prstGeom prst="ellipse">
            <a:avLst/>
          </a:prstGeom>
          <a:solidFill>
            <a:srgbClr val="0B7A6F"/>
          </a:solidFill>
          <a:ln w="12700">
            <a:solidFill>
              <a:srgbClr val="0B7A6F"/>
            </a:solidFill>
            <a:prstDash val="solid"/>
          </a:ln>
        </p:spPr>
      </p:sp>
      <p:sp>
        <p:nvSpPr>
          <p:cNvPr id="13" name="Shape 10"/>
          <p:cNvSpPr/>
          <p:nvPr/>
        </p:nvSpPr>
        <p:spPr>
          <a:xfrm>
            <a:off x="8193024" y="4242816"/>
            <a:ext cx="329184" cy="329184"/>
          </a:xfrm>
          <a:prstGeom prst="ellipse">
            <a:avLst/>
          </a:prstGeom>
          <a:solidFill>
            <a:srgbClr val="FFFFFF"/>
          </a:solidFill>
          <a:ln w="12700">
            <a:solidFill>
              <a:srgbClr val="FFFFFF"/>
            </a:solidFill>
            <a:prstDash val="solid"/>
          </a:ln>
        </p:spPr>
      </p:sp>
      <p:sp>
        <p:nvSpPr>
          <p:cNvPr id="14" name="Shape 11"/>
          <p:cNvSpPr/>
          <p:nvPr/>
        </p:nvSpPr>
        <p:spPr>
          <a:xfrm>
            <a:off x="8316468" y="4366260"/>
            <a:ext cx="82296" cy="82296"/>
          </a:xfrm>
          <a:prstGeom prst="ellipse">
            <a:avLst/>
          </a:prstGeom>
          <a:solidFill>
            <a:srgbClr val="0B7A6F"/>
          </a:solidFill>
          <a:ln w="12700">
            <a:solidFill>
              <a:srgbClr val="0B7A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OVERVIEW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Agenda</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Six topics. Click a topic to jump to it.</a:t>
            </a:r>
            <a:endParaRPr lang="en-US" sz="1200" dirty="0"/>
          </a:p>
        </p:txBody>
      </p:sp>
      <p:sp>
        <p:nvSpPr>
          <p:cNvPr id="6" name="Text 3">
            <a:hlinkClick r:id="rId1" tooltip="Go to Incorrect Information Provided" action="ppaction://hlinksldjump"/>
          </p:cNvPr>
          <p:cNvSpPr/>
          <p:nvPr/>
        </p:nvSpPr>
        <p:spPr>
          <a:xfrm>
            <a:off x="411480" y="1325880"/>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Incorrect Information Provided</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We promised what we can't deliver. Own it, no ETF.</a:t>
            </a:r>
            <a:endParaRPr lang="en-US" sz="1250" dirty="0"/>
          </a:p>
        </p:txBody>
      </p:sp>
      <p:sp>
        <p:nvSpPr>
          <p:cNvPr id="7" name="Text 4">
            <a:hlinkClick r:id="rId2" tooltip="Go to Incorrect Information Provided" action="ppaction://hlinksldjump"/>
          </p:cNvPr>
          <p:cNvSpPr/>
          <p:nvPr/>
        </p:nvSpPr>
        <p:spPr>
          <a:xfrm>
            <a:off x="502920" y="1325880"/>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01</a:t>
            </a:r>
            <a:endParaRPr lang="en-US" sz="1600" dirty="0"/>
          </a:p>
        </p:txBody>
      </p:sp>
      <p:sp>
        <p:nvSpPr>
          <p:cNvPr id="8" name="Text 5">
            <a:hlinkClick r:id="rId3" tooltip="Go to Incorrect Information Provided" action="ppaction://hlinksldjump"/>
          </p:cNvPr>
          <p:cNvSpPr/>
          <p:nvPr/>
        </p:nvSpPr>
        <p:spPr>
          <a:xfrm>
            <a:off x="4119372" y="1325880"/>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9" name="Text 6">
            <a:hlinkClick r:id="rId4" tooltip="Go to Last-Minute Cancellation (LMC)" action="ppaction://hlinksldjump"/>
          </p:cNvPr>
          <p:cNvSpPr/>
          <p:nvPr/>
        </p:nvSpPr>
        <p:spPr>
          <a:xfrm>
            <a:off x="411480" y="2368296"/>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Last-Minute Cancellation (LMC)</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The $40 fee within 6 hours: valid, and how much back?</a:t>
            </a:r>
            <a:endParaRPr lang="en-US" sz="1250" dirty="0"/>
          </a:p>
        </p:txBody>
      </p:sp>
      <p:sp>
        <p:nvSpPr>
          <p:cNvPr id="10" name="Text 7">
            <a:hlinkClick r:id="rId5" tooltip="Go to Last-Minute Cancellation (LMC)" action="ppaction://hlinksldjump"/>
          </p:cNvPr>
          <p:cNvSpPr/>
          <p:nvPr/>
        </p:nvSpPr>
        <p:spPr>
          <a:xfrm>
            <a:off x="502920" y="2368296"/>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02</a:t>
            </a:r>
            <a:endParaRPr lang="en-US" sz="1600" dirty="0"/>
          </a:p>
        </p:txBody>
      </p:sp>
      <p:sp>
        <p:nvSpPr>
          <p:cNvPr id="11" name="Text 8">
            <a:hlinkClick r:id="rId6" tooltip="Go to Last-Minute Cancellation (LMC)" action="ppaction://hlinksldjump"/>
          </p:cNvPr>
          <p:cNvSpPr/>
          <p:nvPr/>
        </p:nvSpPr>
        <p:spPr>
          <a:xfrm>
            <a:off x="4119372" y="2368296"/>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12" name="Text 9">
            <a:hlinkClick r:id="rId7" tooltip="Go to Lockout (LO)" action="ppaction://hlinksldjump"/>
          </p:cNvPr>
          <p:cNvSpPr/>
          <p:nvPr/>
        </p:nvSpPr>
        <p:spPr>
          <a:xfrm>
            <a:off x="411480" y="3410712"/>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Lockout (LO)</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The CP couldn't get in. Validate, then refund by tier.</a:t>
            </a:r>
            <a:endParaRPr lang="en-US" sz="1250" dirty="0"/>
          </a:p>
        </p:txBody>
      </p:sp>
      <p:sp>
        <p:nvSpPr>
          <p:cNvPr id="13" name="Text 10">
            <a:hlinkClick r:id="rId8" tooltip="Go to Lockout (LO)" action="ppaction://hlinksldjump"/>
          </p:cNvPr>
          <p:cNvSpPr/>
          <p:nvPr/>
        </p:nvSpPr>
        <p:spPr>
          <a:xfrm>
            <a:off x="502920" y="3410712"/>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03</a:t>
            </a:r>
            <a:endParaRPr lang="en-US" sz="1600" dirty="0"/>
          </a:p>
        </p:txBody>
      </p:sp>
      <p:sp>
        <p:nvSpPr>
          <p:cNvPr id="14" name="Text 11">
            <a:hlinkClick r:id="rId9" tooltip="Go to Lockout (LO)" action="ppaction://hlinksldjump"/>
          </p:cNvPr>
          <p:cNvSpPr/>
          <p:nvPr/>
        </p:nvSpPr>
        <p:spPr>
          <a:xfrm>
            <a:off x="4119372" y="3410712"/>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15" name="Text 12">
            <a:hlinkClick r:id="rId10" tooltip="Go to Priority Fee" action="ppaction://hlinksldjump"/>
          </p:cNvPr>
          <p:cNvSpPr/>
          <p:nvPr/>
        </p:nvSpPr>
        <p:spPr>
          <a:xfrm>
            <a:off x="4640580" y="1325880"/>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Priority Fee</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Short-notice booking. Their choice, or ours?</a:t>
            </a:r>
            <a:endParaRPr lang="en-US" sz="1250" dirty="0"/>
          </a:p>
        </p:txBody>
      </p:sp>
      <p:sp>
        <p:nvSpPr>
          <p:cNvPr id="16" name="Text 13">
            <a:hlinkClick r:id="rId11" tooltip="Go to Priority Fee" action="ppaction://hlinksldjump"/>
          </p:cNvPr>
          <p:cNvSpPr/>
          <p:nvPr/>
        </p:nvSpPr>
        <p:spPr>
          <a:xfrm>
            <a:off x="4732020" y="1325880"/>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04</a:t>
            </a:r>
            <a:endParaRPr lang="en-US" sz="1600" dirty="0"/>
          </a:p>
        </p:txBody>
      </p:sp>
      <p:sp>
        <p:nvSpPr>
          <p:cNvPr id="17" name="Text 14">
            <a:hlinkClick r:id="rId12" tooltip="Go to Priority Fee" action="ppaction://hlinksldjump"/>
          </p:cNvPr>
          <p:cNvSpPr/>
          <p:nvPr/>
        </p:nvSpPr>
        <p:spPr>
          <a:xfrm>
            <a:off x="8348472" y="1325880"/>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18" name="Text 15">
            <a:hlinkClick r:id="rId13" tooltip="Go to Premium Upsell" action="ppaction://hlinksldjump"/>
          </p:cNvPr>
          <p:cNvSpPr/>
          <p:nvPr/>
        </p:nvSpPr>
        <p:spPr>
          <a:xfrm>
            <a:off x="4640580" y="2368296"/>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Premium Upsell</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The optional $20 upgrade. When to refund it.</a:t>
            </a:r>
            <a:endParaRPr lang="en-US" sz="1250" dirty="0"/>
          </a:p>
        </p:txBody>
      </p:sp>
      <p:sp>
        <p:nvSpPr>
          <p:cNvPr id="19" name="Text 16">
            <a:hlinkClick r:id="rId14" tooltip="Go to Premium Upsell" action="ppaction://hlinksldjump"/>
          </p:cNvPr>
          <p:cNvSpPr/>
          <p:nvPr/>
        </p:nvSpPr>
        <p:spPr>
          <a:xfrm>
            <a:off x="4732020" y="2368296"/>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05</a:t>
            </a:r>
            <a:endParaRPr lang="en-US" sz="1600" dirty="0"/>
          </a:p>
        </p:txBody>
      </p:sp>
      <p:sp>
        <p:nvSpPr>
          <p:cNvPr id="20" name="Text 17">
            <a:hlinkClick r:id="rId15" tooltip="Go to Premium Upsell" action="ppaction://hlinksldjump"/>
          </p:cNvPr>
          <p:cNvSpPr/>
          <p:nvPr/>
        </p:nvSpPr>
        <p:spPr>
          <a:xfrm>
            <a:off x="8348472" y="2368296"/>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21" name="Text 18">
            <a:hlinkClick r:id="rId16" tooltip="Go to Processing Fee" action="ppaction://hlinksldjump"/>
          </p:cNvPr>
          <p:cNvSpPr/>
          <p:nvPr/>
        </p:nvSpPr>
        <p:spPr>
          <a:xfrm>
            <a:off x="4640580" y="3410712"/>
            <a:ext cx="4091940" cy="914400"/>
          </a:xfrm>
          <a:prstGeom prst="roundRect">
            <a:avLst>
              <a:gd name="adj" fmla="val 6000"/>
            </a:avLst>
          </a:prstGeom>
          <a:solidFill>
            <a:srgbClr val="FFFFFF"/>
          </a:solidFill>
          <a:ln w="9525">
            <a:solidFill>
              <a:srgbClr val="DCE1E7"/>
            </a:solidFill>
          </a:ln>
        </p:spPr>
        <p:txBody>
          <a:bodyPr wrap="square" lIns="711200" tIns="0" rIns="381000" bIns="0" rtlCol="0" anchor="ctr"/>
          <a:lstStyle/>
          <a:p>
            <a:pPr indent="0" marL="0">
              <a:buNone/>
            </a:pPr>
            <a:r>
              <a:rPr lang="en-US" sz="1250" b="1" u="none" dirty="0">
                <a:solidFill>
                  <a:srgbClr val="1D1D1F"/>
                </a:solidFill>
                <a:latin typeface="SF Pro Display" pitchFamily="34" charset="0"/>
                <a:ea typeface="SF Pro Display" pitchFamily="34" charset="-122"/>
                <a:cs typeface="SF Pro Display" pitchFamily="34" charset="-120"/>
              </a:rPr>
              <a:t>Processing Fee</a:t>
            </a:r>
            <a:endParaRPr lang="en-US" sz="1250" dirty="0"/>
          </a:p>
          <a:p>
            <a:pPr indent="0" marL="0">
              <a:buNone/>
            </a:pPr>
            <a:r>
              <a:rPr lang="en-US" sz="950" u="none" dirty="0">
                <a:solidFill>
                  <a:srgbClr val="6E6E73"/>
                </a:solidFill>
                <a:latin typeface="SF Pro Text" pitchFamily="34" charset="0"/>
                <a:ea typeface="SF Pro Text" pitchFamily="34" charset="-122"/>
                <a:cs typeface="SF Pro Text" pitchFamily="34" charset="-120"/>
              </a:rPr>
              <a:t>Standard pricing. Why are they contesting it?</a:t>
            </a:r>
            <a:endParaRPr lang="en-US" sz="1250" dirty="0"/>
          </a:p>
        </p:txBody>
      </p:sp>
      <p:sp>
        <p:nvSpPr>
          <p:cNvPr id="22" name="Text 19">
            <a:hlinkClick r:id="rId17" tooltip="Go to Processing Fee" action="ppaction://hlinksldjump"/>
          </p:cNvPr>
          <p:cNvSpPr/>
          <p:nvPr/>
        </p:nvSpPr>
        <p:spPr>
          <a:xfrm>
            <a:off x="4732020" y="3410712"/>
            <a:ext cx="502920" cy="914400"/>
          </a:xfrm>
          <a:prstGeom prst="rect">
            <a:avLst/>
          </a:prstGeom>
          <a:noFill/>
          <a:ln/>
        </p:spPr>
        <p:txBody>
          <a:bodyPr wrap="square" rtlCol="0" anchor="ctr"/>
          <a:lstStyle/>
          <a:p>
            <a:pPr algn="ctr" indent="0" marL="0">
              <a:buNone/>
            </a:pPr>
            <a:r>
              <a:rPr lang="en-US" sz="1600" b="1" u="none" dirty="0">
                <a:solidFill>
                  <a:srgbClr val="0B7A6F"/>
                </a:solidFill>
                <a:latin typeface="SF Pro Display" pitchFamily="34" charset="0"/>
                <a:ea typeface="SF Pro Display" pitchFamily="34" charset="-122"/>
                <a:cs typeface="SF Pro Display" pitchFamily="34" charset="-120"/>
              </a:rPr>
              <a:t>06</a:t>
            </a:r>
            <a:endParaRPr lang="en-US" sz="1600" dirty="0"/>
          </a:p>
        </p:txBody>
      </p:sp>
      <p:sp>
        <p:nvSpPr>
          <p:cNvPr id="23" name="Text 20">
            <a:hlinkClick r:id="rId18" tooltip="Go to Processing Fee" action="ppaction://hlinksldjump"/>
          </p:cNvPr>
          <p:cNvSpPr/>
          <p:nvPr/>
        </p:nvSpPr>
        <p:spPr>
          <a:xfrm>
            <a:off x="8348472" y="3410712"/>
            <a:ext cx="320040" cy="914400"/>
          </a:xfrm>
          <a:prstGeom prst="rect">
            <a:avLst/>
          </a:prstGeom>
          <a:noFill/>
          <a:ln/>
        </p:spPr>
        <p:txBody>
          <a:bodyPr wrap="square" rtlCol="0" anchor="ctr"/>
          <a:lstStyle/>
          <a:p>
            <a:pPr algn="ctr" indent="0" marL="0">
              <a:buNone/>
            </a:pPr>
            <a:r>
              <a:rPr lang="en-US" sz="2000" b="1" u="none" dirty="0">
                <a:solidFill>
                  <a:srgbClr val="0B7A6F"/>
                </a:solidFill>
                <a:latin typeface="SF Pro Display" pitchFamily="34" charset="0"/>
                <a:ea typeface="SF Pro Display" pitchFamily="34" charset="-122"/>
                <a:cs typeface="SF Pro Display" pitchFamily="34" charset="-120"/>
              </a:rPr>
              <a:t>›</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01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Incorrect Information Provided</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A customer signed up because of a promise we can't keep, and now wants out.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counts as a broken promise</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exact test: "at" vs "around"</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process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Worked examples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30.png">    </p:cNvPr>
          <p:cNvPicPr>
            <a:picLocks noChangeAspect="1"/>
          </p:cNvPicPr>
          <p:nvPr/>
        </p:nvPicPr>
        <p:blipFill>
          <a:blip r:embed="rId5"/>
          <a:stretch>
            <a:fillRect/>
          </a:stretch>
        </p:blipFill>
        <p:spPr>
          <a:xfrm>
            <a:off x="5577187" y="1517904"/>
            <a:ext cx="2854234"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this?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Our own words set an expectation we can't meet.</a:t>
            </a:r>
            <a:endParaRPr lang="en-US" sz="1200" dirty="0"/>
          </a:p>
        </p:txBody>
      </p:sp>
      <p:sp>
        <p:nvSpPr>
          <p:cNvPr id="6" name="Shape 3"/>
          <p:cNvSpPr/>
          <p:nvPr/>
        </p:nvSpPr>
        <p:spPr>
          <a:xfrm>
            <a:off x="411480" y="1325880"/>
            <a:ext cx="26822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Rate or price claim</a:t>
            </a:r>
            <a:endParaRPr lang="en-US" sz="1200" dirty="0"/>
          </a:p>
        </p:txBody>
      </p:sp>
      <p:sp>
        <p:nvSpPr>
          <p:cNvPr id="10" name="Text 6"/>
          <p:cNvSpPr txBox="1"/>
          <p:nvPr/>
        </p:nvSpPr>
        <p:spPr>
          <a:xfrm>
            <a:off x="576072" y="222199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rate or term stated as fixed or guaranteed, by an agent or a system message.</a:t>
            </a:r>
            <a:endParaRPr lang="en-US" sz="950" dirty="0"/>
          </a:p>
        </p:txBody>
      </p:sp>
      <p:sp>
        <p:nvSpPr>
          <p:cNvPr id="11" name="Shape 7"/>
          <p:cNvSpPr/>
          <p:nvPr/>
        </p:nvSpPr>
        <p:spPr>
          <a:xfrm>
            <a:off x="3230880" y="1325880"/>
            <a:ext cx="26822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33954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69476"/>
            <a:ext cx="171176" cy="171176"/>
          </a:xfrm>
          <a:prstGeom prst="rect">
            <a:avLst/>
          </a:prstGeom>
        </p:spPr>
      </p:pic>
      <p:sp>
        <p:nvSpPr>
          <p:cNvPr id="14" name="Text 9"/>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Service coverage</a:t>
            </a:r>
            <a:endParaRPr lang="en-US" sz="1200" dirty="0"/>
          </a:p>
        </p:txBody>
      </p:sp>
      <p:sp>
        <p:nvSpPr>
          <p:cNvPr id="15" name="Text 10"/>
          <p:cNvSpPr txBox="1"/>
          <p:nvPr/>
        </p:nvSpPr>
        <p:spPr>
          <a:xfrm>
            <a:off x="3395472" y="222199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tool or service confirmed as available that the platform doesn't offer.</a:t>
            </a:r>
            <a:endParaRPr lang="en-US" sz="950" dirty="0"/>
          </a:p>
        </p:txBody>
      </p:sp>
      <p:sp>
        <p:nvSpPr>
          <p:cNvPr id="16" name="Shape 11"/>
          <p:cNvSpPr/>
          <p:nvPr/>
        </p:nvSpPr>
        <p:spPr>
          <a:xfrm>
            <a:off x="6050280" y="1325880"/>
            <a:ext cx="2682240" cy="1828800"/>
          </a:xfrm>
          <a:prstGeom prst="roundRect">
            <a:avLst>
              <a:gd name="adj" fmla="val 4000"/>
            </a:avLst>
          </a:prstGeom>
          <a:solidFill>
            <a:srgbClr val="FFFFFF"/>
          </a:solidFill>
          <a:ln w="9525">
            <a:solidFill>
              <a:srgbClr val="DCE1E7"/>
            </a:solidFill>
            <a:prstDash val="solid"/>
          </a:ln>
        </p:spPr>
      </p:sp>
      <p:sp>
        <p:nvSpPr>
          <p:cNvPr id="17" name="Shape 12"/>
          <p:cNvSpPr/>
          <p:nvPr/>
        </p:nvSpPr>
        <p:spPr>
          <a:xfrm>
            <a:off x="6214872" y="149047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69476"/>
            <a:ext cx="171176" cy="171176"/>
          </a:xfrm>
          <a:prstGeom prst="rect">
            <a:avLst/>
          </a:prstGeom>
        </p:spPr>
      </p:pic>
      <p:sp>
        <p:nvSpPr>
          <p:cNvPr id="19" name="Text 13"/>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Guarantee-pairing</a:t>
            </a:r>
            <a:endParaRPr lang="en-US" sz="1200" dirty="0"/>
          </a:p>
        </p:txBody>
      </p:sp>
      <p:sp>
        <p:nvSpPr>
          <p:cNvPr id="20" name="Text 14"/>
          <p:cNvSpPr txBox="1"/>
          <p:nvPr/>
        </p:nvSpPr>
        <p:spPr>
          <a:xfrm>
            <a:off x="6214872" y="222199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Happiness Guarantee said right next to cancellation or ETF terms.</a:t>
            </a:r>
            <a:endParaRPr lang="en-US" sz="950" dirty="0"/>
          </a:p>
        </p:txBody>
      </p:sp>
      <p:sp>
        <p:nvSpPr>
          <p:cNvPr id="21" name="Shape 15"/>
          <p:cNvSpPr/>
          <p:nvPr/>
        </p:nvSpPr>
        <p:spPr>
          <a:xfrm>
            <a:off x="411480" y="333756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47288"/>
            <a:ext cx="164592" cy="164592"/>
          </a:xfrm>
          <a:prstGeom prst="rect">
            <a:avLst/>
          </a:prstGeom>
        </p:spPr>
      </p:pic>
      <p:sp>
        <p:nvSpPr>
          <p:cNvPr id="23" name="Text 16"/>
          <p:cNvSpPr txBox="1"/>
          <p:nvPr/>
        </p:nvSpPr>
        <p:spPr>
          <a:xfrm>
            <a:off x="822960" y="34381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Our error:  </a:t>
            </a:r>
            <a:pPr indent="0" marL="0">
              <a:buNone/>
            </a:pPr>
            <a:r>
              <a:rPr lang="en-US" sz="1000" dirty="0">
                <a:solidFill>
                  <a:srgbClr val="1D1D1F"/>
                </a:solidFill>
                <a:latin typeface="SF Pro Text" pitchFamily="34" charset="0"/>
                <a:ea typeface="SF Pro Text" pitchFamily="34" charset="-122"/>
                <a:cs typeface="SF Pro Text" pitchFamily="34" charset="-120"/>
              </a:rPr>
              <a:t>not a customer misunderstanding. If it's why they leave, no ETF.</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exact test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Did we make an affirmative, guaranteed claim that turned out to be false?</a:t>
            </a:r>
            <a:endParaRPr lang="en-US" sz="1200" dirty="0"/>
          </a:p>
        </p:txBody>
      </p:sp>
      <p:sp>
        <p:nvSpPr>
          <p:cNvPr id="6" name="Shape 3"/>
          <p:cNvSpPr/>
          <p:nvPr/>
        </p:nvSpPr>
        <p:spPr>
          <a:xfrm>
            <a:off x="411480" y="1325880"/>
            <a:ext cx="4091940" cy="1874520"/>
          </a:xfrm>
          <a:prstGeom prst="roundRect">
            <a:avLst>
              <a:gd name="adj" fmla="val 3902"/>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Guarantee: misrepresentation</a:t>
            </a:r>
            <a:endParaRPr lang="en-US" sz="1300" dirty="0"/>
          </a:p>
        </p:txBody>
      </p:sp>
      <p:sp>
        <p:nvSpPr>
          <p:cNvPr id="10" name="Text 6"/>
          <p:cNvSpPr txBox="1"/>
          <p:nvPr/>
        </p:nvSpPr>
        <p:spPr>
          <a:xfrm>
            <a:off x="594360" y="2039112"/>
            <a:ext cx="3726180" cy="10515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"At $19/hour"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"At $23/hour"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An exact figure, not a range</a:t>
            </a:r>
            <a:endParaRPr lang="en-US" sz="1000" dirty="0"/>
          </a:p>
        </p:txBody>
      </p:sp>
      <p:sp>
        <p:nvSpPr>
          <p:cNvPr id="11" name="Shape 7"/>
          <p:cNvSpPr/>
          <p:nvPr/>
        </p:nvSpPr>
        <p:spPr>
          <a:xfrm>
            <a:off x="4640580" y="1325880"/>
            <a:ext cx="4091940" cy="1874520"/>
          </a:xfrm>
          <a:prstGeom prst="roundRect">
            <a:avLst>
              <a:gd name="adj" fmla="val 3902"/>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Estimate: not misrepresentation</a:t>
            </a:r>
            <a:endParaRPr lang="en-US" sz="1300" dirty="0"/>
          </a:p>
        </p:txBody>
      </p:sp>
      <p:sp>
        <p:nvSpPr>
          <p:cNvPr id="15" name="Text 10"/>
          <p:cNvSpPr txBox="1"/>
          <p:nvPr/>
        </p:nvSpPr>
        <p:spPr>
          <a:xfrm>
            <a:off x="4823460" y="2039112"/>
            <a:ext cx="3726180" cy="10515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"Around $20/hour"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"Approximately", "roughly"</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"Starting at"</a:t>
            </a:r>
            <a:endParaRPr lang="en-US" sz="1000" dirty="0"/>
          </a:p>
        </p:txBody>
      </p:sp>
      <p:sp>
        <p:nvSpPr>
          <p:cNvPr id="16" name="Shape 11"/>
          <p:cNvSpPr/>
          <p:nvPr/>
        </p:nvSpPr>
        <p:spPr>
          <a:xfrm>
            <a:off x="411480" y="338328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93008"/>
            <a:ext cx="164592" cy="164592"/>
          </a:xfrm>
          <a:prstGeom prst="rect">
            <a:avLst/>
          </a:prstGeom>
        </p:spPr>
      </p:pic>
      <p:sp>
        <p:nvSpPr>
          <p:cNvPr id="18" name="Text 12"/>
          <p:cNvSpPr txBox="1"/>
          <p:nvPr/>
        </p:nvSpPr>
        <p:spPr>
          <a:xfrm>
            <a:off x="822960" y="34838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Verify first:  </a:t>
            </a:r>
            <a:pPr indent="0" marL="0">
              <a:buNone/>
            </a:pPr>
            <a:r>
              <a:rPr lang="en-US" sz="1000" dirty="0">
                <a:solidFill>
                  <a:srgbClr val="1D1D1F"/>
                </a:solidFill>
                <a:latin typeface="SF Pro Text" pitchFamily="34" charset="0"/>
                <a:ea typeface="SF Pro Text" pitchFamily="34" charset="-122"/>
                <a:cs typeface="SF Pro Text" pitchFamily="34" charset="-120"/>
              </a:rPr>
              <a:t>check the sales call recording or notes. Don't rely on the customer's memory alone.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process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Verify first. Only verified misinformation moves on to steps 2–6.</a:t>
            </a:r>
            <a:endParaRPr lang="en-US" sz="1200" dirty="0"/>
          </a:p>
        </p:txBody>
      </p:sp>
      <p:sp>
        <p:nvSpPr>
          <p:cNvPr id="6" name="Shape 3"/>
          <p:cNvSpPr/>
          <p:nvPr/>
        </p:nvSpPr>
        <p:spPr>
          <a:xfrm>
            <a:off x="411480" y="1298448"/>
            <a:ext cx="1737360" cy="566928"/>
          </a:xfrm>
          <a:prstGeom prst="roundRect">
            <a:avLst>
              <a:gd name="adj" fmla="val 12903"/>
            </a:avLst>
          </a:prstGeom>
          <a:solidFill>
            <a:srgbClr val="0B7A6F"/>
          </a:solidFill>
          <a:ln w="12700">
            <a:solidFill>
              <a:srgbClr val="0B7A6F"/>
            </a:solidFill>
            <a:prstDash val="solid"/>
          </a:ln>
        </p:spPr>
      </p:sp>
      <p:sp>
        <p:nvSpPr>
          <p:cNvPr id="7" name="Text 4"/>
          <p:cNvSpPr txBox="1"/>
          <p:nvPr/>
        </p:nvSpPr>
        <p:spPr>
          <a:xfrm>
            <a:off x="457200" y="1298448"/>
            <a:ext cx="16459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1  Verify</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Is it a real promise?</a:t>
            </a:r>
            <a:endParaRPr lang="en-US" sz="1050" dirty="0"/>
          </a:p>
        </p:txBody>
      </p:sp>
      <p:sp>
        <p:nvSpPr>
          <p:cNvPr id="8" name="Shape 5"/>
          <p:cNvSpPr/>
          <p:nvPr/>
        </p:nvSpPr>
        <p:spPr>
          <a:xfrm>
            <a:off x="2148840" y="1581912"/>
            <a:ext cx="228600" cy="0"/>
          </a:xfrm>
          <a:prstGeom prst="line">
            <a:avLst/>
          </a:prstGeom>
          <a:noFill/>
          <a:ln w="12700">
            <a:solidFill>
              <a:srgbClr val="6E6E73"/>
            </a:solidFill>
            <a:prstDash val="solid"/>
            <a:tailEnd type="triangle"/>
          </a:ln>
        </p:spPr>
      </p:sp>
      <p:sp>
        <p:nvSpPr>
          <p:cNvPr id="9" name="Shape 6"/>
          <p:cNvSpPr/>
          <p:nvPr/>
        </p:nvSpPr>
        <p:spPr>
          <a:xfrm>
            <a:off x="2377440" y="1298448"/>
            <a:ext cx="1874520" cy="566928"/>
          </a:xfrm>
          <a:prstGeom prst="roundRect">
            <a:avLst>
              <a:gd name="adj" fmla="val 12903"/>
            </a:avLst>
          </a:prstGeom>
          <a:solidFill>
            <a:srgbClr val="FFF3D6"/>
          </a:solidFill>
          <a:ln w="12700">
            <a:solidFill>
              <a:srgbClr val="9A6410"/>
            </a:solidFill>
            <a:prstDash val="solid"/>
          </a:ln>
        </p:spPr>
      </p:sp>
      <p:sp>
        <p:nvSpPr>
          <p:cNvPr id="10" name="Text 7"/>
          <p:cNvSpPr txBox="1"/>
          <p:nvPr/>
        </p:nvSpPr>
        <p:spPr>
          <a:xfrm>
            <a:off x="2377440" y="1298448"/>
            <a:ext cx="1874520" cy="566928"/>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Misinformation</a:t>
            </a:r>
            <a:endParaRPr lang="en-US" sz="1000" dirty="0"/>
          </a:p>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verified?</a:t>
            </a:r>
            <a:endParaRPr lang="en-US" sz="1000" dirty="0"/>
          </a:p>
        </p:txBody>
      </p:sp>
      <p:sp>
        <p:nvSpPr>
          <p:cNvPr id="11" name="Shape 8"/>
          <p:cNvSpPr/>
          <p:nvPr/>
        </p:nvSpPr>
        <p:spPr>
          <a:xfrm>
            <a:off x="4251960" y="1581912"/>
            <a:ext cx="274320" cy="0"/>
          </a:xfrm>
          <a:prstGeom prst="line">
            <a:avLst/>
          </a:prstGeom>
          <a:noFill/>
          <a:ln w="12700">
            <a:solidFill>
              <a:srgbClr val="6E6E73"/>
            </a:solidFill>
            <a:prstDash val="solid"/>
            <a:tailEnd type="triangle"/>
          </a:ln>
        </p:spPr>
      </p:sp>
      <p:sp>
        <p:nvSpPr>
          <p:cNvPr id="12" name="Text 9"/>
          <p:cNvSpPr txBox="1"/>
          <p:nvPr/>
        </p:nvSpPr>
        <p:spPr>
          <a:xfrm>
            <a:off x="4160520" y="1380744"/>
            <a:ext cx="457200" cy="182880"/>
          </a:xfrm>
          <a:prstGeom prst="rect">
            <a:avLst/>
          </a:prstGeom>
          <a:noFill/>
          <a:ln/>
        </p:spPr>
        <p:txBody>
          <a:bodyPr wrap="square" lIns="0" tIns="0" rIns="0" bIns="0" rtlCol="0" anchor="t"/>
          <a:lstStyle/>
          <a:p>
            <a:pPr algn="ctr" indent="0" marL="0">
              <a:buNone/>
            </a:pPr>
            <a:r>
              <a:rPr lang="en-US" sz="800" b="1" dirty="0">
                <a:solidFill>
                  <a:srgbClr val="6E6E73"/>
                </a:solidFill>
                <a:latin typeface="SF Pro Text" pitchFamily="34" charset="0"/>
                <a:ea typeface="SF Pro Text" pitchFamily="34" charset="-122"/>
                <a:cs typeface="SF Pro Text" pitchFamily="34" charset="-120"/>
              </a:rPr>
              <a:t>Yes</a:t>
            </a:r>
            <a:endParaRPr lang="en-US" sz="800" dirty="0"/>
          </a:p>
        </p:txBody>
      </p:sp>
      <p:sp>
        <p:nvSpPr>
          <p:cNvPr id="13" name="Shape 10"/>
          <p:cNvSpPr/>
          <p:nvPr/>
        </p:nvSpPr>
        <p:spPr>
          <a:xfrm>
            <a:off x="4526280" y="1298448"/>
            <a:ext cx="1828800" cy="566928"/>
          </a:xfrm>
          <a:prstGeom prst="roundRect">
            <a:avLst>
              <a:gd name="adj" fmla="val 12903"/>
            </a:avLst>
          </a:prstGeom>
          <a:solidFill>
            <a:srgbClr val="0B7A6F"/>
          </a:solidFill>
          <a:ln w="12700">
            <a:solidFill>
              <a:srgbClr val="0B7A6F"/>
            </a:solidFill>
            <a:prstDash val="solid"/>
          </a:ln>
        </p:spPr>
      </p:sp>
      <p:sp>
        <p:nvSpPr>
          <p:cNvPr id="14" name="Text 11"/>
          <p:cNvSpPr txBox="1"/>
          <p:nvPr/>
        </p:nvSpPr>
        <p:spPr>
          <a:xfrm>
            <a:off x="4572000" y="1298448"/>
            <a:ext cx="17373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2  Refund the gap</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Charged more than promised?</a:t>
            </a:r>
            <a:endParaRPr lang="en-US" sz="1050" dirty="0"/>
          </a:p>
        </p:txBody>
      </p:sp>
      <p:sp>
        <p:nvSpPr>
          <p:cNvPr id="15" name="Shape 12"/>
          <p:cNvSpPr/>
          <p:nvPr/>
        </p:nvSpPr>
        <p:spPr>
          <a:xfrm>
            <a:off x="6355080" y="1581912"/>
            <a:ext cx="274320" cy="0"/>
          </a:xfrm>
          <a:prstGeom prst="line">
            <a:avLst/>
          </a:prstGeom>
          <a:noFill/>
          <a:ln w="12700">
            <a:solidFill>
              <a:srgbClr val="6E6E73"/>
            </a:solidFill>
            <a:prstDash val="solid"/>
            <a:tailEnd type="triangle"/>
          </a:ln>
        </p:spPr>
      </p:sp>
      <p:sp>
        <p:nvSpPr>
          <p:cNvPr id="16" name="Shape 13"/>
          <p:cNvSpPr/>
          <p:nvPr/>
        </p:nvSpPr>
        <p:spPr>
          <a:xfrm>
            <a:off x="6629400" y="1298448"/>
            <a:ext cx="2103120" cy="566928"/>
          </a:xfrm>
          <a:prstGeom prst="roundRect">
            <a:avLst>
              <a:gd name="adj" fmla="val 12903"/>
            </a:avLst>
          </a:prstGeom>
          <a:solidFill>
            <a:srgbClr val="0B7A6F"/>
          </a:solidFill>
          <a:ln w="12700">
            <a:solidFill>
              <a:srgbClr val="0B7A6F"/>
            </a:solidFill>
            <a:prstDash val="solid"/>
          </a:ln>
        </p:spPr>
      </p:sp>
      <p:sp>
        <p:nvSpPr>
          <p:cNvPr id="17" name="Text 14"/>
          <p:cNvSpPr txBox="1"/>
          <p:nvPr/>
        </p:nvSpPr>
        <p:spPr>
          <a:xfrm>
            <a:off x="6675120" y="1298448"/>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3  Own the error</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Ours, not "a misunderstanding"</a:t>
            </a:r>
            <a:endParaRPr lang="en-US" sz="1050" dirty="0"/>
          </a:p>
        </p:txBody>
      </p:sp>
      <p:sp>
        <p:nvSpPr>
          <p:cNvPr id="18" name="Shape 15"/>
          <p:cNvSpPr/>
          <p:nvPr/>
        </p:nvSpPr>
        <p:spPr>
          <a:xfrm>
            <a:off x="3314700" y="1865376"/>
            <a:ext cx="0" cy="237744"/>
          </a:xfrm>
          <a:prstGeom prst="line">
            <a:avLst/>
          </a:prstGeom>
          <a:noFill/>
          <a:ln w="12700">
            <a:solidFill>
              <a:srgbClr val="6E6E73"/>
            </a:solidFill>
            <a:prstDash val="solid"/>
            <a:tailEnd type="triangle"/>
          </a:ln>
        </p:spPr>
      </p:sp>
      <p:sp>
        <p:nvSpPr>
          <p:cNvPr id="19" name="Text 16"/>
          <p:cNvSpPr txBox="1"/>
          <p:nvPr/>
        </p:nvSpPr>
        <p:spPr>
          <a:xfrm>
            <a:off x="3337560" y="1883664"/>
            <a:ext cx="274320" cy="182880"/>
          </a:xfrm>
          <a:prstGeom prst="rect">
            <a:avLst/>
          </a:prstGeom>
          <a:noFill/>
          <a:ln/>
        </p:spPr>
        <p:txBody>
          <a:bodyPr wrap="square" lIns="0" tIns="0" rIns="0" bIns="0" rtlCol="0" anchor="t"/>
          <a:lstStyle/>
          <a:p>
            <a:pPr algn="ctr" indent="0" marL="0">
              <a:buNone/>
            </a:pPr>
            <a:r>
              <a:rPr lang="en-US" sz="800" b="1" dirty="0">
                <a:solidFill>
                  <a:srgbClr val="6E6E73"/>
                </a:solidFill>
                <a:latin typeface="SF Pro Text" pitchFamily="34" charset="0"/>
                <a:ea typeface="SF Pro Text" pitchFamily="34" charset="-122"/>
                <a:cs typeface="SF Pro Text" pitchFamily="34" charset="-120"/>
              </a:rPr>
              <a:t>No</a:t>
            </a:r>
            <a:endParaRPr lang="en-US" sz="800" dirty="0"/>
          </a:p>
        </p:txBody>
      </p:sp>
      <p:sp>
        <p:nvSpPr>
          <p:cNvPr id="20" name="Shape 17"/>
          <p:cNvSpPr/>
          <p:nvPr/>
        </p:nvSpPr>
        <p:spPr>
          <a:xfrm>
            <a:off x="2377440" y="2103120"/>
            <a:ext cx="1874520" cy="457200"/>
          </a:xfrm>
          <a:prstGeom prst="roundRect">
            <a:avLst>
              <a:gd name="adj" fmla="val 16000"/>
            </a:avLst>
          </a:prstGeom>
          <a:solidFill>
            <a:srgbClr val="FFFFFF"/>
          </a:solidFill>
          <a:ln w="12700">
            <a:solidFill>
              <a:srgbClr val="DCE1E7"/>
            </a:solidFill>
            <a:prstDash val="solid"/>
          </a:ln>
        </p:spPr>
      </p:sp>
      <p:sp>
        <p:nvSpPr>
          <p:cNvPr id="21" name="Text 18"/>
          <p:cNvSpPr txBox="1"/>
          <p:nvPr/>
        </p:nvSpPr>
        <p:spPr>
          <a:xfrm>
            <a:off x="2377440" y="2103120"/>
            <a:ext cx="1874520" cy="45720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Clarify the information and address any confusion</a:t>
            </a:r>
            <a:endParaRPr lang="en-US" sz="1000" dirty="0"/>
          </a:p>
        </p:txBody>
      </p:sp>
      <p:sp>
        <p:nvSpPr>
          <p:cNvPr id="22" name="Text 19"/>
          <p:cNvSpPr/>
          <p:nvPr/>
        </p:nvSpPr>
        <p:spPr>
          <a:xfrm>
            <a:off x="411480" y="2011680"/>
            <a:ext cx="1737360" cy="365760"/>
          </a:xfrm>
          <a:prstGeom prst="roundRect">
            <a:avLst>
              <a:gd name="adj" fmla="val 20000"/>
            </a:avLst>
          </a:prstGeom>
          <a:solidFill>
            <a:srgbClr val="FFFFFF"/>
          </a:solidFill>
          <a:ln w="19050">
            <a:solidFill>
              <a:srgbClr val="0B7A6F"/>
            </a:solidFill>
          </a:ln>
        </p:spPr>
        <p:txBody>
          <a:bodyPr wrap="square" rtlCol="0" anchor="ctr"/>
          <a:lstStyle/>
          <a:p>
            <a:pPr algn="ctr" indent="0" marL="0">
              <a:buNone/>
            </a:pPr>
            <a:r>
              <a:rPr lang="en-US" sz="1000" b="1" dirty="0">
                <a:solidFill>
                  <a:srgbClr val="0B7A6F"/>
                </a:solidFill>
                <a:latin typeface="SF Pro Display" pitchFamily="34" charset="0"/>
                <a:ea typeface="SF Pro Display" pitchFamily="34" charset="-122"/>
                <a:cs typeface="SF Pro Display" pitchFamily="34" charset="-120"/>
              </a:rPr>
              <a:t>Sales call review  ›</a:t>
            </a:r>
            <a:endParaRPr lang="en-US" sz="1000" dirty="0"/>
          </a:p>
        </p:txBody>
      </p:sp>
      <p:sp>
        <p:nvSpPr>
          <p:cNvPr id="23" name="Shape 20"/>
          <p:cNvSpPr/>
          <p:nvPr/>
        </p:nvSpPr>
        <p:spPr>
          <a:xfrm>
            <a:off x="1280160" y="1865376"/>
            <a:ext cx="0" cy="146304"/>
          </a:xfrm>
          <a:prstGeom prst="line">
            <a:avLst/>
          </a:prstGeom>
          <a:noFill/>
          <a:ln w="12700">
            <a:solidFill>
              <a:srgbClr val="6E6E73"/>
            </a:solidFill>
            <a:prstDash val="solid"/>
          </a:ln>
        </p:spPr>
      </p:sp>
      <p:sp>
        <p:nvSpPr>
          <p:cNvPr id="24" name="Shape 21"/>
          <p:cNvSpPr/>
          <p:nvPr/>
        </p:nvSpPr>
        <p:spPr>
          <a:xfrm>
            <a:off x="7680960" y="1865376"/>
            <a:ext cx="0" cy="768096"/>
          </a:xfrm>
          <a:prstGeom prst="line">
            <a:avLst/>
          </a:prstGeom>
          <a:noFill/>
          <a:ln w="12700">
            <a:solidFill>
              <a:srgbClr val="6E6E73"/>
            </a:solidFill>
            <a:prstDash val="solid"/>
          </a:ln>
        </p:spPr>
      </p:sp>
      <p:sp>
        <p:nvSpPr>
          <p:cNvPr id="25" name="Shape 22"/>
          <p:cNvSpPr/>
          <p:nvPr/>
        </p:nvSpPr>
        <p:spPr>
          <a:xfrm>
            <a:off x="1325880" y="2633472"/>
            <a:ext cx="6355080" cy="0"/>
          </a:xfrm>
          <a:prstGeom prst="line">
            <a:avLst/>
          </a:prstGeom>
          <a:noFill/>
          <a:ln w="12700">
            <a:solidFill>
              <a:srgbClr val="6E6E73"/>
            </a:solidFill>
            <a:prstDash val="solid"/>
          </a:ln>
        </p:spPr>
      </p:sp>
      <p:sp>
        <p:nvSpPr>
          <p:cNvPr id="26" name="Shape 23"/>
          <p:cNvSpPr/>
          <p:nvPr/>
        </p:nvSpPr>
        <p:spPr>
          <a:xfrm>
            <a:off x="1325880" y="2633472"/>
            <a:ext cx="0" cy="155448"/>
          </a:xfrm>
          <a:prstGeom prst="line">
            <a:avLst/>
          </a:prstGeom>
          <a:noFill/>
          <a:ln w="12700">
            <a:solidFill>
              <a:srgbClr val="6E6E73"/>
            </a:solidFill>
            <a:prstDash val="solid"/>
            <a:tailEnd type="triangle"/>
          </a:ln>
        </p:spPr>
      </p:sp>
      <p:sp>
        <p:nvSpPr>
          <p:cNvPr id="27" name="Shape 24"/>
          <p:cNvSpPr/>
          <p:nvPr/>
        </p:nvSpPr>
        <p:spPr>
          <a:xfrm>
            <a:off x="411480" y="2788920"/>
            <a:ext cx="1828800" cy="566928"/>
          </a:xfrm>
          <a:prstGeom prst="roundRect">
            <a:avLst>
              <a:gd name="adj" fmla="val 12903"/>
            </a:avLst>
          </a:prstGeom>
          <a:solidFill>
            <a:srgbClr val="0B7A6F"/>
          </a:solidFill>
          <a:ln w="12700">
            <a:solidFill>
              <a:srgbClr val="0B7A6F"/>
            </a:solidFill>
            <a:prstDash val="solid"/>
          </a:ln>
        </p:spPr>
      </p:sp>
      <p:sp>
        <p:nvSpPr>
          <p:cNvPr id="28" name="Text 25"/>
          <p:cNvSpPr txBox="1"/>
          <p:nvPr/>
        </p:nvSpPr>
        <p:spPr>
          <a:xfrm>
            <a:off x="457200" y="2788920"/>
            <a:ext cx="17373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4  Correct it</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Fix charges, explain what changed</a:t>
            </a:r>
            <a:endParaRPr lang="en-US" sz="1050" dirty="0"/>
          </a:p>
        </p:txBody>
      </p:sp>
      <p:sp>
        <p:nvSpPr>
          <p:cNvPr id="29" name="Shape 26"/>
          <p:cNvSpPr/>
          <p:nvPr/>
        </p:nvSpPr>
        <p:spPr>
          <a:xfrm>
            <a:off x="2240280" y="3072384"/>
            <a:ext cx="320040" cy="0"/>
          </a:xfrm>
          <a:prstGeom prst="line">
            <a:avLst/>
          </a:prstGeom>
          <a:noFill/>
          <a:ln w="12700">
            <a:solidFill>
              <a:srgbClr val="6E6E73"/>
            </a:solidFill>
            <a:prstDash val="solid"/>
            <a:tailEnd type="triangle"/>
          </a:ln>
        </p:spPr>
      </p:sp>
      <p:sp>
        <p:nvSpPr>
          <p:cNvPr id="30" name="Shape 27"/>
          <p:cNvSpPr/>
          <p:nvPr/>
        </p:nvSpPr>
        <p:spPr>
          <a:xfrm>
            <a:off x="2560320" y="2788920"/>
            <a:ext cx="2286000" cy="566928"/>
          </a:xfrm>
          <a:prstGeom prst="roundRect">
            <a:avLst>
              <a:gd name="adj" fmla="val 12903"/>
            </a:avLst>
          </a:prstGeom>
          <a:solidFill>
            <a:srgbClr val="0B7A6F"/>
          </a:solidFill>
          <a:ln w="12700">
            <a:solidFill>
              <a:srgbClr val="0B7A6F"/>
            </a:solidFill>
            <a:prstDash val="solid"/>
          </a:ln>
        </p:spPr>
      </p:sp>
      <p:sp>
        <p:nvSpPr>
          <p:cNvPr id="31" name="Text 28"/>
          <p:cNvSpPr txBox="1"/>
          <p:nvPr/>
        </p:nvSpPr>
        <p:spPr>
          <a:xfrm>
            <a:off x="2606040" y="2788920"/>
            <a:ext cx="21945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5  One light offer</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Up to $20 credit or a 1-hr voucher</a:t>
            </a:r>
            <a:endParaRPr lang="en-US" sz="1050" dirty="0"/>
          </a:p>
        </p:txBody>
      </p:sp>
      <p:sp>
        <p:nvSpPr>
          <p:cNvPr id="32" name="Shape 29"/>
          <p:cNvSpPr/>
          <p:nvPr/>
        </p:nvSpPr>
        <p:spPr>
          <a:xfrm>
            <a:off x="4846320" y="3072384"/>
            <a:ext cx="1234440" cy="0"/>
          </a:xfrm>
          <a:prstGeom prst="line">
            <a:avLst/>
          </a:prstGeom>
          <a:noFill/>
          <a:ln w="12700">
            <a:solidFill>
              <a:srgbClr val="6E6E73"/>
            </a:solidFill>
            <a:prstDash val="solid"/>
            <a:tailEnd type="triangle"/>
          </a:ln>
        </p:spPr>
      </p:sp>
      <p:sp>
        <p:nvSpPr>
          <p:cNvPr id="33" name="Text 30"/>
          <p:cNvSpPr txBox="1"/>
          <p:nvPr/>
        </p:nvSpPr>
        <p:spPr>
          <a:xfrm>
            <a:off x="4846320" y="2688336"/>
            <a:ext cx="1234440" cy="347472"/>
          </a:xfrm>
          <a:prstGeom prst="rect">
            <a:avLst/>
          </a:prstGeom>
          <a:noFill/>
          <a:ln/>
        </p:spPr>
        <p:txBody>
          <a:bodyPr wrap="square" lIns="0" tIns="0" rIns="0" bIns="0" rtlCol="0" anchor="b"/>
          <a:lstStyle/>
          <a:p>
            <a:pPr algn="ctr" indent="0" marL="0">
              <a:buNone/>
            </a:pPr>
            <a:r>
              <a:rPr lang="en-US" sz="800" b="1" dirty="0">
                <a:solidFill>
                  <a:srgbClr val="6E6E73"/>
                </a:solidFill>
                <a:latin typeface="SF Pro Text" pitchFamily="34" charset="0"/>
                <a:ea typeface="SF Pro Text" pitchFamily="34" charset="-122"/>
                <a:cs typeface="SF Pro Text" pitchFamily="34" charset="-120"/>
              </a:rPr>
              <a:t>Declined or</a:t>
            </a:r>
            <a:endParaRPr lang="en-US" sz="800" dirty="0"/>
          </a:p>
          <a:p>
            <a:pPr algn="ctr" indent="0" marL="0">
              <a:buNone/>
            </a:pPr>
            <a:r>
              <a:rPr lang="en-US" sz="800" b="1" dirty="0">
                <a:solidFill>
                  <a:srgbClr val="6E6E73"/>
                </a:solidFill>
                <a:latin typeface="SF Pro Text" pitchFamily="34" charset="0"/>
                <a:ea typeface="SF Pro Text" pitchFamily="34" charset="-122"/>
                <a:cs typeface="SF Pro Text" pitchFamily="34" charset="-120"/>
              </a:rPr>
              <a:t>not retainable</a:t>
            </a:r>
            <a:endParaRPr lang="en-US" sz="800" dirty="0"/>
          </a:p>
        </p:txBody>
      </p:sp>
      <p:sp>
        <p:nvSpPr>
          <p:cNvPr id="34" name="Shape 31"/>
          <p:cNvSpPr/>
          <p:nvPr/>
        </p:nvSpPr>
        <p:spPr>
          <a:xfrm>
            <a:off x="6080760" y="2788920"/>
            <a:ext cx="2651760" cy="566928"/>
          </a:xfrm>
          <a:prstGeom prst="roundRect">
            <a:avLst>
              <a:gd name="adj" fmla="val 12903"/>
            </a:avLst>
          </a:prstGeom>
          <a:solidFill>
            <a:srgbClr val="1D1D1F"/>
          </a:solidFill>
          <a:ln w="12700">
            <a:solidFill>
              <a:srgbClr val="1D1D1F"/>
            </a:solidFill>
            <a:prstDash val="solid"/>
          </a:ln>
        </p:spPr>
      </p:sp>
      <p:sp>
        <p:nvSpPr>
          <p:cNvPr id="35" name="Text 32"/>
          <p:cNvSpPr txBox="1"/>
          <p:nvPr/>
        </p:nvSpPr>
        <p:spPr>
          <a:xfrm>
            <a:off x="6126480" y="2788920"/>
            <a:ext cx="2560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SF Pro Display" pitchFamily="34" charset="0"/>
                <a:ea typeface="SF Pro Display" pitchFamily="34" charset="-122"/>
                <a:cs typeface="SF Pro Display" pitchFamily="34" charset="-120"/>
              </a:rPr>
              <a:t>6  Waive the ETF, cancel FC</a:t>
            </a:r>
            <a:endParaRPr lang="en-US" sz="1050" dirty="0"/>
          </a:p>
          <a:p>
            <a:pPr algn="ctr" indent="0" marL="0">
              <a:buNone/>
            </a:pPr>
            <a:r>
              <a:rPr lang="en-US" sz="800" dirty="0">
                <a:solidFill>
                  <a:srgbClr val="FFFFFF"/>
                </a:solidFill>
                <a:latin typeface="SF Pro Text" pitchFamily="34" charset="0"/>
                <a:ea typeface="SF Pro Text" pitchFamily="34" charset="-122"/>
                <a:cs typeface="SF Pro Text" pitchFamily="34" charset="-120"/>
              </a:rPr>
              <a:t>No ETF: the error was ours</a:t>
            </a:r>
            <a:endParaRPr lang="en-US" sz="1050" dirty="0"/>
          </a:p>
        </p:txBody>
      </p:sp>
      <p:sp>
        <p:nvSpPr>
          <p:cNvPr id="36" name="Shape 33"/>
          <p:cNvSpPr/>
          <p:nvPr/>
        </p:nvSpPr>
        <p:spPr>
          <a:xfrm>
            <a:off x="411480" y="3566160"/>
            <a:ext cx="8321040" cy="384048"/>
          </a:xfrm>
          <a:prstGeom prst="roundRect">
            <a:avLst>
              <a:gd name="adj" fmla="val 19048"/>
            </a:avLst>
          </a:prstGeom>
          <a:solidFill>
            <a:srgbClr val="FFF3D6"/>
          </a:solidFill>
          <a:ln w="9525">
            <a:solidFill>
              <a:srgbClr val="FFF3D6"/>
            </a:solidFill>
            <a:prstDash val="solid"/>
          </a:ln>
        </p:spPr>
      </p:sp>
      <p:pic>
        <p:nvPicPr>
          <p:cNvPr id="37" name="Image 0" descr="preencoded.png">    </p:cNvPr>
          <p:cNvPicPr>
            <a:picLocks noChangeAspect="1"/>
          </p:cNvPicPr>
          <p:nvPr/>
        </p:nvPicPr>
        <p:blipFill>
          <a:blip r:embed="rId1"/>
          <a:stretch>
            <a:fillRect/>
          </a:stretch>
        </p:blipFill>
        <p:spPr>
          <a:xfrm>
            <a:off x="566928" y="3675888"/>
            <a:ext cx="164592" cy="164592"/>
          </a:xfrm>
          <a:prstGeom prst="rect">
            <a:avLst/>
          </a:prstGeom>
        </p:spPr>
      </p:pic>
      <p:sp>
        <p:nvSpPr>
          <p:cNvPr id="38" name="Text 34"/>
          <p:cNvSpPr txBox="1"/>
          <p:nvPr/>
        </p:nvSpPr>
        <p:spPr>
          <a:xfrm>
            <a:off x="822960" y="36667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Waiting on a reply?  </a:t>
            </a:r>
            <a:pPr indent="0" marL="0">
              <a:buNone/>
            </a:pPr>
            <a:r>
              <a:rPr lang="en-US" sz="1000" dirty="0">
                <a:solidFill>
                  <a:srgbClr val="1D1D1F"/>
                </a:solidFill>
                <a:latin typeface="SF Pro Text" pitchFamily="34" charset="0"/>
                <a:ea typeface="SF Pro Text" pitchFamily="34" charset="-122"/>
                <a:cs typeface="SF Pro Text" pitchFamily="34" charset="-120"/>
              </a:rPr>
              <a:t>set a TR before the next MF.</a:t>
            </a:r>
            <a:endParaRPr lang="en-US" sz="1000" dirty="0"/>
          </a:p>
        </p:txBody>
      </p:sp>
      <p:sp>
        <p:nvSpPr>
          <p:cNvPr id="39" name="pop1_2Panel"/>
          <p:cNvSpPr/>
          <p:nvPr/>
        </p:nvSpPr>
        <p:spPr>
          <a:xfrm>
            <a:off x="411480" y="2468880"/>
            <a:ext cx="5120640" cy="1572768"/>
          </a:xfrm>
          <a:prstGeom prst="roundRect">
            <a:avLst>
              <a:gd name="adj" fmla="val 3488"/>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40" name="pop1_2Title"/>
          <p:cNvSpPr txBox="1"/>
          <p:nvPr/>
        </p:nvSpPr>
        <p:spPr>
          <a:xfrm>
            <a:off x="548640" y="2523744"/>
            <a:ext cx="2743200" cy="274320"/>
          </a:xfrm>
          <a:prstGeom prst="rect">
            <a:avLst/>
          </a:prstGeom>
          <a:noFill/>
          <a:ln/>
        </p:spPr>
        <p:txBody>
          <a:bodyPr wrap="square" lIns="0" tIns="0" rIns="0" bIns="0" rtlCol="0" anchor="ct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Sales call review</a:t>
            </a:r>
            <a:endParaRPr lang="en-US" sz="1100" dirty="0"/>
          </a:p>
        </p:txBody>
      </p:sp>
      <p:sp>
        <p:nvSpPr>
          <p:cNvPr id="41" name="pop1_2Num1"/>
          <p:cNvSpPr/>
          <p:nvPr/>
        </p:nvSpPr>
        <p:spPr>
          <a:xfrm>
            <a:off x="576072" y="2880360"/>
            <a:ext cx="219456" cy="219456"/>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850" b="1" dirty="0">
                <a:solidFill>
                  <a:srgbClr val="0B7A6F"/>
                </a:solidFill>
                <a:latin typeface="SF Pro Display" pitchFamily="34" charset="0"/>
                <a:ea typeface="SF Pro Display" pitchFamily="34" charset="-122"/>
                <a:cs typeface="SF Pro Display" pitchFamily="34" charset="-120"/>
              </a:rPr>
              <a:t>1</a:t>
            </a:r>
            <a:endParaRPr lang="en-US" sz="850" dirty="0"/>
          </a:p>
        </p:txBody>
      </p:sp>
      <p:sp>
        <p:nvSpPr>
          <p:cNvPr id="42" name="pop1_2Row1"/>
          <p:cNvSpPr txBox="1"/>
          <p:nvPr/>
        </p:nvSpPr>
        <p:spPr>
          <a:xfrm>
            <a:off x="886968" y="2852928"/>
            <a:ext cx="2103120" cy="274320"/>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Sales call review request</a:t>
            </a:r>
            <a:endParaRPr lang="en-US" sz="1000" dirty="0"/>
          </a:p>
        </p:txBody>
      </p:sp>
      <p:sp>
        <p:nvSpPr>
          <p:cNvPr id="43" name="pop1_2Num2"/>
          <p:cNvSpPr/>
          <p:nvPr/>
        </p:nvSpPr>
        <p:spPr>
          <a:xfrm>
            <a:off x="576072" y="3182112"/>
            <a:ext cx="219456" cy="219456"/>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850" b="1" dirty="0">
                <a:solidFill>
                  <a:srgbClr val="0B7A6F"/>
                </a:solidFill>
                <a:latin typeface="SF Pro Display" pitchFamily="34" charset="0"/>
                <a:ea typeface="SF Pro Display" pitchFamily="34" charset="-122"/>
                <a:cs typeface="SF Pro Display" pitchFamily="34" charset="-120"/>
              </a:rPr>
              <a:t>2</a:t>
            </a:r>
            <a:endParaRPr lang="en-US" sz="850" dirty="0"/>
          </a:p>
        </p:txBody>
      </p:sp>
      <p:sp>
        <p:nvSpPr>
          <p:cNvPr id="44" name="pop1_2Row2"/>
          <p:cNvSpPr txBox="1"/>
          <p:nvPr/>
        </p:nvSpPr>
        <p:spPr>
          <a:xfrm>
            <a:off x="886968" y="3154680"/>
            <a:ext cx="4480560" cy="274320"/>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Add an internal note with your escalation link</a:t>
            </a:r>
            <a:endParaRPr lang="en-US" sz="1000" dirty="0"/>
          </a:p>
        </p:txBody>
      </p:sp>
      <p:sp>
        <p:nvSpPr>
          <p:cNvPr id="45" name="pop1_2Num3"/>
          <p:cNvSpPr/>
          <p:nvPr/>
        </p:nvSpPr>
        <p:spPr>
          <a:xfrm>
            <a:off x="576072" y="3483864"/>
            <a:ext cx="219456" cy="219456"/>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850" b="1" dirty="0">
                <a:solidFill>
                  <a:srgbClr val="0B7A6F"/>
                </a:solidFill>
                <a:latin typeface="SF Pro Display" pitchFamily="34" charset="0"/>
                <a:ea typeface="SF Pro Display" pitchFamily="34" charset="-122"/>
                <a:cs typeface="SF Pro Display" pitchFamily="34" charset="-120"/>
              </a:rPr>
              <a:t>3</a:t>
            </a:r>
            <a:endParaRPr lang="en-US" sz="850" dirty="0"/>
          </a:p>
        </p:txBody>
      </p:sp>
      <p:sp>
        <p:nvSpPr>
          <p:cNvPr id="46" name="pop1_2Row3"/>
          <p:cNvSpPr txBox="1"/>
          <p:nvPr/>
        </p:nvSpPr>
        <p:spPr>
          <a:xfrm>
            <a:off x="886968" y="3456432"/>
            <a:ext cx="4480560" cy="274320"/>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Don't resolve yet. Change the status to Waiting on CSQ</a:t>
            </a:r>
            <a:endParaRPr lang="en-US" sz="1000" dirty="0"/>
          </a:p>
        </p:txBody>
      </p:sp>
      <p:sp>
        <p:nvSpPr>
          <p:cNvPr id="47" name="pop1_2LinkBg">
            <a:hlinkClick r:id="rId4" tooltip="Open the Sales call review request sheet"/>
          </p:cNvPr>
          <p:cNvSpPr/>
          <p:nvPr/>
        </p:nvSpPr>
        <p:spPr>
          <a:xfrm>
            <a:off x="2651760" y="2862072"/>
            <a:ext cx="310896" cy="256032"/>
          </a:xfrm>
          <a:prstGeom prst="roundRect">
            <a:avLst>
              <a:gd name="adj" fmla="val 21429"/>
            </a:avLst>
          </a:prstGeom>
          <a:solidFill>
            <a:srgbClr val="9A6410"/>
          </a:solidFill>
          <a:ln w="12700">
            <a:solidFill>
              <a:srgbClr val="9A6410"/>
            </a:solidFill>
            <a:prstDash val="solid"/>
          </a:ln>
        </p:spPr>
      </p:sp>
      <p:pic>
        <p:nvPicPr>
          <p:cNvPr id="48" name="pop1_2LinkIcon" descr="preencoded.png">
            <a:hlinkClick r:id="rId4" tooltip="Open the Sales call review request sheet"/>
          </p:cNvPr>
          <p:cNvPicPr>
            <a:picLocks noChangeAspect="1"/>
          </p:cNvPicPr>
          <p:nvPr/>
        </p:nvPicPr>
        <p:blipFill>
          <a:blip r:embed="rId3"/>
          <a:stretch>
            <a:fillRect/>
          </a:stretch>
        </p:blipFill>
        <p:spPr>
          <a:xfrm>
            <a:off x="2734056" y="2898648"/>
            <a:ext cx="155448" cy="155448"/>
          </a:xfrm>
          <a:prstGeom prst="rect">
            <a:avLst/>
          </a:prstGeom>
        </p:spPr>
      </p:pic>
      <p:sp>
        <p:nvSpPr>
          <p:cNvPr id="49" name="pop1_2Foot"/>
          <p:cNvSpPr txBox="1"/>
          <p:nvPr/>
        </p:nvSpPr>
        <p:spPr>
          <a:xfrm>
            <a:off x="576072" y="3749040"/>
            <a:ext cx="4791456" cy="237744"/>
          </a:xfrm>
          <a:prstGeom prst="rect">
            <a:avLst/>
          </a:prstGeom>
          <a:noFill/>
          <a:ln/>
        </p:spPr>
        <p:txBody>
          <a:bodyPr wrap="square" lIns="0" tIns="0" rIns="0" bIns="0" rtlCol="0" anchor="ctr"/>
          <a:lstStyle/>
          <a:p>
            <a:pPr indent="0" marL="0">
              <a:buNone/>
            </a:pPr>
            <a:r>
              <a:rPr lang="en-US" sz="850" i="1" dirty="0">
                <a:solidFill>
                  <a:srgbClr val="6E6E73"/>
                </a:solidFill>
                <a:latin typeface="SF Pro Text" pitchFamily="34" charset="0"/>
                <a:ea typeface="SF Pro Text" pitchFamily="34" charset="-122"/>
                <a:cs typeface="SF Pro Text" pitchFamily="34" charset="-120"/>
              </a:rPr>
              <a:t>Verified? Continue to step 2.</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6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6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600"/>
                                        <p:tgtEl>
                                          <p:spTgt spid="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600"/>
                                        <p:tgtEl>
                                          <p:spTgt spid="4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600"/>
                                        <p:tgtEl>
                                          <p:spTgt spid="4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600"/>
                                        <p:tgtEl>
                                          <p:spTgt spid="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600"/>
                                        <p:tgtEl>
                                          <p:spTgt spid="4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600"/>
                                        <p:tgtEl>
                                          <p:spTgt spid="4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600"/>
                                        <p:tgtEl>
                                          <p:spTgt spid="4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6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600"/>
                                        <p:tgtEl>
                                          <p:spTgt spid="49"/>
                                        </p:tgtEl>
                                      </p:cBhvr>
                                    </p:animEffect>
                                  </p:childTnLst>
                                </p:cTn>
                              </p:par>
                            </p:childTnLst>
                          </p:cTn>
                        </p:par>
                      </p:childTnLst>
                    </p:cTn>
                  </p:par>
                  <p:par>
                    <p:cTn id="71" fill="hold">
                      <p:stCondLst>
                        <p:cond delay="indefinite"/>
                      </p:stCondLst>
                      <p:childTnLst>
                        <p:par>
                          <p:cTn id="72" fill="hold">
                            <p:stCondLst>
                              <p:cond delay="0"/>
                            </p:stCondLst>
                            <p:childTnLst>
                              <p:par>
                                <p:cTn id="40" presetID="1" presetClass="exit" presetSubtype="0" fill="hold" grpId="1" nodeType="clickEffect">
                                  <p:stCondLst>
                                    <p:cond delay="0"/>
                                  </p:stCondLst>
                                  <p:childTnLst>
                                    <p:set>
                                      <p:cBhvr>
                                        <p:cTn id="41" dur="1" fill="hold">
                                          <p:stCondLst>
                                            <p:cond delay="0"/>
                                          </p:stCondLst>
                                        </p:cTn>
                                        <p:tgtEl>
                                          <p:spTgt spid="3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40"/>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41"/>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2"/>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43"/>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44"/>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45"/>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46"/>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47"/>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48"/>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45" grpId="0" animBg="1"/>
      <p:bldP spid="46" grpId="0" animBg="1"/>
      <p:bldP spid="47" grpId="0" animBg="1"/>
      <p:bldP spid="49" grpId="0" animBg="1"/>
      <p:bldP spid="39" grpId="1" animBg="1"/>
      <p:bldP spid="40" grpId="1" animBg="1"/>
      <p:bldP spid="41" grpId="1" animBg="1"/>
      <p:bldP spid="42" grpId="1" animBg="1"/>
      <p:bldP spid="43" grpId="1" animBg="1"/>
      <p:bldP spid="44" grpId="1" animBg="1"/>
      <p:bldP spid="45" grpId="1" animBg="1"/>
      <p:bldP spid="46" grpId="1" animBg="1"/>
      <p:bldP spid="47" grpId="1" animBg="1"/>
      <p:bldP spid="4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Quoted a rate, left out the fees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Never just "a gap in what was mentioned".</a:t>
            </a:r>
            <a:endParaRPr lang="en-US" sz="1200" dirty="0"/>
          </a:p>
        </p:txBody>
      </p:sp>
      <p:sp>
        <p:nvSpPr>
          <p:cNvPr id="6" name="Shape 3"/>
          <p:cNvSpPr/>
          <p:nvPr/>
        </p:nvSpPr>
        <p:spPr>
          <a:xfrm>
            <a:off x="411480" y="1417320"/>
            <a:ext cx="1920240" cy="548640"/>
          </a:xfrm>
          <a:prstGeom prst="roundRect">
            <a:avLst>
              <a:gd name="adj" fmla="val 13333"/>
            </a:avLst>
          </a:prstGeom>
          <a:solidFill>
            <a:srgbClr val="1D1D1F"/>
          </a:solidFill>
          <a:ln w="12700">
            <a:solidFill>
              <a:srgbClr val="1D1D1F"/>
            </a:solidFill>
            <a:prstDash val="solid"/>
          </a:ln>
        </p:spPr>
      </p:sp>
      <p:sp>
        <p:nvSpPr>
          <p:cNvPr id="7" name="Text 4"/>
          <p:cNvSpPr txBox="1"/>
          <p:nvPr/>
        </p:nvSpPr>
        <p:spPr>
          <a:xfrm>
            <a:off x="411480" y="1417320"/>
            <a:ext cx="192024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Told "$20/hr"</a:t>
            </a:r>
            <a:endParaRPr lang="en-US" sz="1000" dirty="0"/>
          </a:p>
        </p:txBody>
      </p:sp>
      <p:sp>
        <p:nvSpPr>
          <p:cNvPr id="8" name="Shape 5"/>
          <p:cNvSpPr/>
          <p:nvPr/>
        </p:nvSpPr>
        <p:spPr>
          <a:xfrm>
            <a:off x="2331720" y="1691640"/>
            <a:ext cx="210312" cy="0"/>
          </a:xfrm>
          <a:prstGeom prst="line">
            <a:avLst/>
          </a:prstGeom>
          <a:noFill/>
          <a:ln w="12700">
            <a:solidFill>
              <a:srgbClr val="6E6E73"/>
            </a:solidFill>
            <a:prstDash val="solid"/>
            <a:tailEnd type="triangle"/>
          </a:ln>
        </p:spPr>
      </p:sp>
      <p:sp>
        <p:nvSpPr>
          <p:cNvPr id="9" name="Text 6"/>
          <p:cNvSpPr txBox="1"/>
          <p:nvPr/>
        </p:nvSpPr>
        <p:spPr>
          <a:xfrm>
            <a:off x="411480" y="2057400"/>
            <a:ext cx="1920240" cy="64008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No mention of processing fee, tax or Premium.</a:t>
            </a:r>
            <a:endParaRPr lang="en-US" sz="950" dirty="0"/>
          </a:p>
        </p:txBody>
      </p:sp>
      <p:sp>
        <p:nvSpPr>
          <p:cNvPr id="10" name="Shape 7"/>
          <p:cNvSpPr/>
          <p:nvPr/>
        </p:nvSpPr>
        <p:spPr>
          <a:xfrm>
            <a:off x="2542032" y="1417320"/>
            <a:ext cx="1920240" cy="548640"/>
          </a:xfrm>
          <a:prstGeom prst="roundRect">
            <a:avLst>
              <a:gd name="adj" fmla="val 13333"/>
            </a:avLst>
          </a:prstGeom>
          <a:solidFill>
            <a:srgbClr val="0B7A6F"/>
          </a:solidFill>
          <a:ln w="12700">
            <a:solidFill>
              <a:srgbClr val="0B7A6F"/>
            </a:solidFill>
            <a:prstDash val="solid"/>
          </a:ln>
        </p:spPr>
      </p:sp>
      <p:sp>
        <p:nvSpPr>
          <p:cNvPr id="11" name="Text 8"/>
          <p:cNvSpPr txBox="1"/>
          <p:nvPr/>
        </p:nvSpPr>
        <p:spPr>
          <a:xfrm>
            <a:off x="2542032" y="1417320"/>
            <a:ext cx="192024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Admin refund</a:t>
            </a:r>
            <a:endParaRPr lang="en-US" sz="1000" dirty="0"/>
          </a:p>
        </p:txBody>
      </p:sp>
      <p:sp>
        <p:nvSpPr>
          <p:cNvPr id="12" name="Shape 9"/>
          <p:cNvSpPr/>
          <p:nvPr/>
        </p:nvSpPr>
        <p:spPr>
          <a:xfrm>
            <a:off x="4462272" y="1691640"/>
            <a:ext cx="210312" cy="0"/>
          </a:xfrm>
          <a:prstGeom prst="line">
            <a:avLst/>
          </a:prstGeom>
          <a:noFill/>
          <a:ln w="12700">
            <a:solidFill>
              <a:srgbClr val="6E6E73"/>
            </a:solidFill>
            <a:prstDash val="solid"/>
            <a:tailEnd type="triangle"/>
          </a:ln>
        </p:spPr>
      </p:sp>
      <p:sp>
        <p:nvSpPr>
          <p:cNvPr id="13" name="Text 10"/>
          <p:cNvSpPr txBox="1"/>
          <p:nvPr/>
        </p:nvSpPr>
        <p:spPr>
          <a:xfrm>
            <a:off x="2542032" y="2057400"/>
            <a:ext cx="1920240" cy="64008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So the job totals $20/hr × hours worked.</a:t>
            </a:r>
            <a:endParaRPr lang="en-US" sz="950" dirty="0"/>
          </a:p>
        </p:txBody>
      </p:sp>
      <p:sp>
        <p:nvSpPr>
          <p:cNvPr id="14" name="Shape 11"/>
          <p:cNvSpPr/>
          <p:nvPr/>
        </p:nvSpPr>
        <p:spPr>
          <a:xfrm>
            <a:off x="4672584" y="1417320"/>
            <a:ext cx="1920240" cy="548640"/>
          </a:xfrm>
          <a:prstGeom prst="roundRect">
            <a:avLst>
              <a:gd name="adj" fmla="val 13333"/>
            </a:avLst>
          </a:prstGeom>
          <a:solidFill>
            <a:srgbClr val="0B7A6F"/>
          </a:solidFill>
          <a:ln w="12700">
            <a:solidFill>
              <a:srgbClr val="0B7A6F"/>
            </a:solidFill>
            <a:prstDash val="solid"/>
          </a:ln>
        </p:spPr>
      </p:sp>
      <p:sp>
        <p:nvSpPr>
          <p:cNvPr id="15" name="Text 12"/>
          <p:cNvSpPr txBox="1"/>
          <p:nvPr/>
        </p:nvSpPr>
        <p:spPr>
          <a:xfrm>
            <a:off x="4672584" y="1417320"/>
            <a:ext cx="192024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Set the account</a:t>
            </a:r>
            <a:endParaRPr lang="en-US" sz="1000" dirty="0"/>
          </a:p>
        </p:txBody>
      </p:sp>
      <p:sp>
        <p:nvSpPr>
          <p:cNvPr id="16" name="Shape 13"/>
          <p:cNvSpPr/>
          <p:nvPr/>
        </p:nvSpPr>
        <p:spPr>
          <a:xfrm>
            <a:off x="6592824" y="1691640"/>
            <a:ext cx="210312" cy="0"/>
          </a:xfrm>
          <a:prstGeom prst="line">
            <a:avLst/>
          </a:prstGeom>
          <a:noFill/>
          <a:ln w="12700">
            <a:solidFill>
              <a:srgbClr val="6E6E73"/>
            </a:solidFill>
            <a:prstDash val="solid"/>
            <a:tailEnd type="triangle"/>
          </a:ln>
        </p:spPr>
      </p:sp>
      <p:sp>
        <p:nvSpPr>
          <p:cNvPr id="17" name="Text 14"/>
          <p:cNvSpPr txBox="1"/>
          <p:nvPr/>
        </p:nvSpPr>
        <p:spPr>
          <a:xfrm>
            <a:off x="4672584" y="2057400"/>
            <a:ext cx="1920240" cy="64008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Max CP rate $20. Cleaner Experience Level: Standard.</a:t>
            </a:r>
            <a:endParaRPr lang="en-US" sz="950" dirty="0"/>
          </a:p>
        </p:txBody>
      </p:sp>
      <p:sp>
        <p:nvSpPr>
          <p:cNvPr id="18" name="Shape 15"/>
          <p:cNvSpPr/>
          <p:nvPr/>
        </p:nvSpPr>
        <p:spPr>
          <a:xfrm>
            <a:off x="6803136" y="1417320"/>
            <a:ext cx="1920240" cy="548640"/>
          </a:xfrm>
          <a:prstGeom prst="roundRect">
            <a:avLst>
              <a:gd name="adj" fmla="val 13333"/>
            </a:avLst>
          </a:prstGeom>
          <a:solidFill>
            <a:srgbClr val="FFFFFF"/>
          </a:solidFill>
          <a:ln w="12700">
            <a:solidFill>
              <a:srgbClr val="DCE1E7"/>
            </a:solidFill>
            <a:prstDash val="solid"/>
          </a:ln>
        </p:spPr>
      </p:sp>
      <p:sp>
        <p:nvSpPr>
          <p:cNvPr id="19" name="Text 16"/>
          <p:cNvSpPr txBox="1"/>
          <p:nvPr/>
        </p:nvSpPr>
        <p:spPr>
          <a:xfrm>
            <a:off x="6803136" y="1417320"/>
            <a:ext cx="1920240" cy="54864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Explain the fees</a:t>
            </a:r>
            <a:endParaRPr lang="en-US" sz="1000" dirty="0"/>
          </a:p>
        </p:txBody>
      </p:sp>
      <p:sp>
        <p:nvSpPr>
          <p:cNvPr id="20" name="Text 17"/>
          <p:cNvSpPr txBox="1"/>
          <p:nvPr/>
        </p:nvSpPr>
        <p:spPr>
          <a:xfrm>
            <a:off x="6803136" y="2057400"/>
            <a:ext cx="1920240" cy="64008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So the next invoice isn't a surprise.</a:t>
            </a:r>
            <a:endParaRPr lang="en-US" sz="950" dirty="0"/>
          </a:p>
        </p:txBody>
      </p:sp>
      <p:sp>
        <p:nvSpPr>
          <p:cNvPr id="21" name="Shape 18"/>
          <p:cNvSpPr/>
          <p:nvPr/>
        </p:nvSpPr>
        <p:spPr>
          <a:xfrm>
            <a:off x="411480" y="306324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172968"/>
            <a:ext cx="164592" cy="164592"/>
          </a:xfrm>
          <a:prstGeom prst="rect">
            <a:avLst/>
          </a:prstGeom>
        </p:spPr>
      </p:pic>
      <p:sp>
        <p:nvSpPr>
          <p:cNvPr id="23" name="Text 19"/>
          <p:cNvSpPr txBox="1"/>
          <p:nvPr/>
        </p:nvSpPr>
        <p:spPr>
          <a:xfrm>
            <a:off x="822960" y="3163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Disclosed and agreed?  </a:t>
            </a:r>
            <a:pPr indent="0" marL="0">
              <a:buNone/>
            </a:pPr>
            <a:r>
              <a:rPr lang="en-US" sz="1000" dirty="0">
                <a:solidFill>
                  <a:srgbClr val="1D1D1F"/>
                </a:solidFill>
                <a:latin typeface="SF Pro Text" pitchFamily="34" charset="0"/>
                <a:ea typeface="SF Pro Text" pitchFamily="34" charset="-122"/>
                <a:cs typeface="SF Pro Text" pitchFamily="34" charset="-120"/>
              </a:rPr>
              <a:t>refund only the part that was never disclosed.</a:t>
            </a:r>
            <a:endParaRPr lang="en-US" sz="1000" dirty="0"/>
          </a:p>
        </p:txBody>
      </p:sp>
      <p:sp>
        <p:nvSpPr>
          <p:cNvPr id="24" name="Shape 20"/>
          <p:cNvSpPr/>
          <p:nvPr/>
        </p:nvSpPr>
        <p:spPr>
          <a:xfrm>
            <a:off x="411480" y="3611880"/>
            <a:ext cx="5669280" cy="292608"/>
          </a:xfrm>
          <a:prstGeom prst="roundRect">
            <a:avLst>
              <a:gd name="adj" fmla="val 25000"/>
            </a:avLst>
          </a:prstGeom>
          <a:solidFill>
            <a:srgbClr val="FFF3D6"/>
          </a:solidFill>
          <a:ln w="9525">
            <a:solidFill>
              <a:srgbClr val="9A6410"/>
            </a:solidFill>
            <a:prstDash val="solid"/>
          </a:ln>
        </p:spPr>
      </p:sp>
      <p:pic>
        <p:nvPicPr>
          <p:cNvPr id="25" name="Image 1" descr="preencoded.png">    </p:cNvPr>
          <p:cNvPicPr>
            <a:picLocks noChangeAspect="1"/>
          </p:cNvPicPr>
          <p:nvPr/>
        </p:nvPicPr>
        <p:blipFill>
          <a:blip r:embed="rId2"/>
          <a:stretch>
            <a:fillRect/>
          </a:stretch>
        </p:blipFill>
        <p:spPr>
          <a:xfrm>
            <a:off x="521208" y="3685032"/>
            <a:ext cx="146304" cy="146304"/>
          </a:xfrm>
          <a:prstGeom prst="rect">
            <a:avLst/>
          </a:prstGeom>
        </p:spPr>
      </p:pic>
      <p:sp>
        <p:nvSpPr>
          <p:cNvPr id="26" name="Text 21"/>
          <p:cNvSpPr txBox="1"/>
          <p:nvPr/>
        </p:nvSpPr>
        <p:spPr>
          <a:xfrm>
            <a:off x="731520" y="3611880"/>
            <a:ext cx="530352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Recommended Macro:  </a:t>
            </a:r>
            <a:pPr indent="0" marL="0">
              <a:buNone/>
            </a:pPr>
            <a:r>
              <a:rPr lang="en-US" sz="950" b="1" dirty="0">
                <a:solidFill>
                  <a:srgbClr val="1D1D1F"/>
                </a:solidFill>
                <a:latin typeface="SF Pro Display" pitchFamily="34" charset="0"/>
                <a:ea typeface="SF Pro Display" pitchFamily="34" charset="-122"/>
                <a:cs typeface="SF Pro Display" pitchFamily="34" charset="-120"/>
              </a:rPr>
              <a:t>Misinformation: address incorrect claims about charges</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Worked examples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Same shape of problem, three ways. Plus what doesn't count.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920240"/>
                <a:gridCol w="3108960"/>
                <a:gridCol w="3291840"/>
              </a:tblGrid>
              <a:tr h="548640">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Scenario</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What was said</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Outcome</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4864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Rate guarantee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"At $23/hour", not "around"</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Refund the difference. Cancelling over it? Waive ETF.</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Service capability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Agent confirmed a rotary floor buffer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Platform doesn't offer it. Cancelling? ETF waiver.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Guarantee-pairing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Happiness Guarantee right after ETF terms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Reads as "cancel free". ETF waiver.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Not misrepresentation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"Starting around $20" · HG for a quality issue only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Estimate or intended use. Standard handling.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Quick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Sales told the customer "around $20/hour". They're charged $24. Misrepresentation?</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"Around" is an estimate. Handle as a normal expectation gap.</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FCR quoted "$20/hr" and never mentioned processing fee, tax or Premium. What do you do?</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Admin refund to $20/hr × hours. Max CP rate $20, Experience Level Standard, explain fees.</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is retainable. What can you offer, and how many times?</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One light offer: up to $20 credit or a 1-hr voucher. Declined? Waive ETF and cancel.</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rep said the Happiness Guarantee right after explaining the ETF. Customer wants to cancel. ETF?</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Waive it. Pairing the guarantee with cancellation terms is misrepresentation.</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INCORRECT INFORMATION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Is there verified misinformation?</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What exactly was said: a promise or an estimate?</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are those, and how do we correct them?</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Refund the gap, own it, correct it, one light offer.</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02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Last-Minute Cancellation (LMC)</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fee for cancelling within 6 hours of the start time.</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LMC fee is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it's automatically waived</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Refund by customer category</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Failed charges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27.png">    </p:cNvPr>
          <p:cNvPicPr>
            <a:picLocks noChangeAspect="1"/>
          </p:cNvPicPr>
          <p:nvPr/>
        </p:nvPicPr>
        <p:blipFill>
          <a:blip r:embed="rId5"/>
          <a:stretch>
            <a:fillRect/>
          </a:stretch>
        </p:blipFill>
        <p:spPr>
          <a:xfrm>
            <a:off x="5928845" y="1517904"/>
            <a:ext cx="215091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the LMC fee?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Charged automatically. You check it, you don't apply it.</a:t>
            </a:r>
            <a:endParaRPr lang="en-US" sz="1200" dirty="0"/>
          </a:p>
        </p:txBody>
      </p:sp>
      <p:sp>
        <p:nvSpPr>
          <p:cNvPr id="6" name="Shape 3"/>
          <p:cNvSpPr/>
          <p:nvPr/>
        </p:nvSpPr>
        <p:spPr>
          <a:xfrm>
            <a:off x="411480" y="1325880"/>
            <a:ext cx="2682240" cy="1554480"/>
          </a:xfrm>
          <a:prstGeom prst="roundRect">
            <a:avLst>
              <a:gd name="adj" fmla="val 4706"/>
            </a:avLst>
          </a:prstGeom>
          <a:solidFill>
            <a:srgbClr val="FFFFFF"/>
          </a:solidFill>
          <a:ln w="9525">
            <a:solidFill>
              <a:srgbClr val="DCE1E7"/>
            </a:solidFill>
            <a:prstDash val="solid"/>
          </a:ln>
        </p:spPr>
      </p:sp>
      <p:sp>
        <p:nvSpPr>
          <p:cNvPr id="7" name="Text 4"/>
          <p:cNvSpPr txBox="1"/>
          <p:nvPr/>
        </p:nvSpPr>
        <p:spPr>
          <a:xfrm>
            <a:off x="411480" y="1490472"/>
            <a:ext cx="2682240" cy="640080"/>
          </a:xfrm>
          <a:prstGeom prst="rect">
            <a:avLst/>
          </a:prstGeom>
          <a:noFill/>
          <a:ln/>
        </p:spPr>
        <p:txBody>
          <a:bodyPr wrap="square" lIns="0" tIns="0" rIns="0" bIns="0" rtlCol="0" anchor="ctr"/>
          <a:lstStyle/>
          <a:p>
            <a:pPr algn="ctr" indent="0" marL="0">
              <a:buNone/>
            </a:pPr>
            <a:r>
              <a:rPr lang="en-US" sz="3000" b="1" dirty="0">
                <a:solidFill>
                  <a:srgbClr val="0B7A6F"/>
                </a:solidFill>
                <a:latin typeface="SF Pro Display" pitchFamily="34" charset="0"/>
                <a:ea typeface="SF Pro Display" pitchFamily="34" charset="-122"/>
                <a:cs typeface="SF Pro Display" pitchFamily="34" charset="-120"/>
              </a:rPr>
              <a:t>$40</a:t>
            </a:r>
            <a:endParaRPr lang="en-US" sz="3000" dirty="0"/>
          </a:p>
        </p:txBody>
      </p:sp>
      <p:sp>
        <p:nvSpPr>
          <p:cNvPr id="8" name="Text 5"/>
          <p:cNvSpPr txBox="1"/>
          <p:nvPr/>
        </p:nvSpPr>
        <p:spPr>
          <a:xfrm>
            <a:off x="594360" y="2148840"/>
            <a:ext cx="231648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Charged to the customer</a:t>
            </a:r>
            <a:endParaRPr lang="en-US" sz="1000" dirty="0"/>
          </a:p>
        </p:txBody>
      </p:sp>
      <p:sp>
        <p:nvSpPr>
          <p:cNvPr id="9" name="Shape 6"/>
          <p:cNvSpPr/>
          <p:nvPr/>
        </p:nvSpPr>
        <p:spPr>
          <a:xfrm>
            <a:off x="3230880" y="1325880"/>
            <a:ext cx="2682240" cy="1554480"/>
          </a:xfrm>
          <a:prstGeom prst="roundRect">
            <a:avLst>
              <a:gd name="adj" fmla="val 4706"/>
            </a:avLst>
          </a:prstGeom>
          <a:solidFill>
            <a:srgbClr val="FFFFFF"/>
          </a:solidFill>
          <a:ln w="9525">
            <a:solidFill>
              <a:srgbClr val="DCE1E7"/>
            </a:solidFill>
            <a:prstDash val="solid"/>
          </a:ln>
        </p:spPr>
      </p:sp>
      <p:sp>
        <p:nvSpPr>
          <p:cNvPr id="10" name="Text 7"/>
          <p:cNvSpPr txBox="1"/>
          <p:nvPr/>
        </p:nvSpPr>
        <p:spPr>
          <a:xfrm>
            <a:off x="3230880" y="1490472"/>
            <a:ext cx="2682240" cy="640080"/>
          </a:xfrm>
          <a:prstGeom prst="rect">
            <a:avLst/>
          </a:prstGeom>
          <a:noFill/>
          <a:ln/>
        </p:spPr>
        <p:txBody>
          <a:bodyPr wrap="square" lIns="0" tIns="0" rIns="0" bIns="0" rtlCol="0" anchor="ctr"/>
          <a:lstStyle/>
          <a:p>
            <a:pPr algn="ctr" indent="0" marL="0">
              <a:buNone/>
            </a:pPr>
            <a:r>
              <a:rPr lang="en-US" sz="3000" b="1" dirty="0">
                <a:solidFill>
                  <a:srgbClr val="0B7A6F"/>
                </a:solidFill>
                <a:latin typeface="SF Pro Display" pitchFamily="34" charset="0"/>
                <a:ea typeface="SF Pro Display" pitchFamily="34" charset="-122"/>
                <a:cs typeface="SF Pro Display" pitchFamily="34" charset="-120"/>
              </a:rPr>
              <a:t>&lt; 6 hrs</a:t>
            </a:r>
            <a:endParaRPr lang="en-US" sz="3000" dirty="0"/>
          </a:p>
        </p:txBody>
      </p:sp>
      <p:sp>
        <p:nvSpPr>
          <p:cNvPr id="11" name="Text 8"/>
          <p:cNvSpPr txBox="1"/>
          <p:nvPr/>
        </p:nvSpPr>
        <p:spPr>
          <a:xfrm>
            <a:off x="3413760" y="2148840"/>
            <a:ext cx="231648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Cancelled this close to the start time</a:t>
            </a:r>
            <a:endParaRPr lang="en-US" sz="1000" dirty="0"/>
          </a:p>
        </p:txBody>
      </p:sp>
      <p:sp>
        <p:nvSpPr>
          <p:cNvPr id="12" name="Shape 9"/>
          <p:cNvSpPr/>
          <p:nvPr/>
        </p:nvSpPr>
        <p:spPr>
          <a:xfrm>
            <a:off x="6050280" y="1325880"/>
            <a:ext cx="2682240" cy="1554480"/>
          </a:xfrm>
          <a:prstGeom prst="roundRect">
            <a:avLst>
              <a:gd name="adj" fmla="val 4706"/>
            </a:avLst>
          </a:prstGeom>
          <a:solidFill>
            <a:srgbClr val="FFFFFF"/>
          </a:solidFill>
          <a:ln w="9525">
            <a:solidFill>
              <a:srgbClr val="DCE1E7"/>
            </a:solidFill>
            <a:prstDash val="solid"/>
          </a:ln>
        </p:spPr>
      </p:sp>
      <p:sp>
        <p:nvSpPr>
          <p:cNvPr id="13" name="Text 10"/>
          <p:cNvSpPr txBox="1"/>
          <p:nvPr/>
        </p:nvSpPr>
        <p:spPr>
          <a:xfrm>
            <a:off x="6050280" y="1490472"/>
            <a:ext cx="2682240" cy="640080"/>
          </a:xfrm>
          <a:prstGeom prst="rect">
            <a:avLst/>
          </a:prstGeom>
          <a:noFill/>
          <a:ln/>
        </p:spPr>
        <p:txBody>
          <a:bodyPr wrap="square" lIns="0" tIns="0" rIns="0" bIns="0" rtlCol="0" anchor="ctr"/>
          <a:lstStyle/>
          <a:p>
            <a:pPr algn="ctr" indent="0" marL="0">
              <a:buNone/>
            </a:pPr>
            <a:r>
              <a:rPr lang="en-US" sz="3000" b="1" dirty="0">
                <a:solidFill>
                  <a:srgbClr val="9A6410"/>
                </a:solidFill>
                <a:latin typeface="SF Pro Display" pitchFamily="34" charset="0"/>
                <a:ea typeface="SF Pro Display" pitchFamily="34" charset="-122"/>
                <a:cs typeface="SF Pro Display" pitchFamily="34" charset="-120"/>
              </a:rPr>
              <a:t>$20</a:t>
            </a:r>
            <a:endParaRPr lang="en-US" sz="3000" dirty="0"/>
          </a:p>
        </p:txBody>
      </p:sp>
      <p:sp>
        <p:nvSpPr>
          <p:cNvPr id="14" name="Text 11"/>
          <p:cNvSpPr txBox="1"/>
          <p:nvPr/>
        </p:nvSpPr>
        <p:spPr>
          <a:xfrm>
            <a:off x="6233160" y="2148840"/>
            <a:ext cx="231648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Paid to the matched CP</a:t>
            </a:r>
            <a:endParaRPr lang="en-US" sz="1000" dirty="0"/>
          </a:p>
        </p:txBody>
      </p:sp>
      <p:sp>
        <p:nvSpPr>
          <p:cNvPr id="15" name="Shape 12"/>
          <p:cNvSpPr/>
          <p:nvPr/>
        </p:nvSpPr>
        <p:spPr>
          <a:xfrm>
            <a:off x="411480" y="3108960"/>
            <a:ext cx="8321040" cy="384048"/>
          </a:xfrm>
          <a:prstGeom prst="roundRect">
            <a:avLst>
              <a:gd name="adj" fmla="val 19048"/>
            </a:avLst>
          </a:prstGeom>
          <a:solidFill>
            <a:srgbClr val="FFF3D6"/>
          </a:solidFill>
          <a:ln w="9525">
            <a:solidFill>
              <a:srgbClr val="FFF3D6"/>
            </a:solidFill>
            <a:prstDash val="solid"/>
          </a:ln>
        </p:spPr>
      </p:sp>
      <p:pic>
        <p:nvPicPr>
          <p:cNvPr id="16" name="Image 0" descr="preencoded.png">    </p:cNvPr>
          <p:cNvPicPr>
            <a:picLocks noChangeAspect="1"/>
          </p:cNvPicPr>
          <p:nvPr/>
        </p:nvPicPr>
        <p:blipFill>
          <a:blip r:embed="rId1"/>
          <a:stretch>
            <a:fillRect/>
          </a:stretch>
        </p:blipFill>
        <p:spPr>
          <a:xfrm>
            <a:off x="566928" y="3218688"/>
            <a:ext cx="164592" cy="164592"/>
          </a:xfrm>
          <a:prstGeom prst="rect">
            <a:avLst/>
          </a:prstGeom>
        </p:spPr>
      </p:pic>
      <p:sp>
        <p:nvSpPr>
          <p:cNvPr id="17" name="Text 13"/>
          <p:cNvSpPr txBox="1"/>
          <p:nvPr/>
        </p:nvSpPr>
        <p:spPr>
          <a:xfrm>
            <a:off x="822960" y="32095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Two questions:  </a:t>
            </a:r>
            <a:pPr indent="0" marL="0">
              <a:buNone/>
            </a:pPr>
            <a:r>
              <a:rPr lang="en-US" sz="1000" dirty="0">
                <a:solidFill>
                  <a:srgbClr val="1D1D1F"/>
                </a:solidFill>
                <a:latin typeface="SF Pro Text" pitchFamily="34" charset="0"/>
                <a:ea typeface="SF Pro Text" pitchFamily="34" charset="-122"/>
                <a:cs typeface="SF Pro Text" pitchFamily="34" charset="-120"/>
              </a:rPr>
              <a:t>is the charge valid? Only then: how generous should you be?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Step 1: is the charge valid?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LMC is automatically waived in any of these cases.</a:t>
            </a:r>
            <a:endParaRPr lang="en-US" sz="1200" dirty="0"/>
          </a:p>
        </p:txBody>
      </p:sp>
      <p:sp>
        <p:nvSpPr>
          <p:cNvPr id="6" name="Shape 3"/>
          <p:cNvSpPr/>
          <p:nvPr/>
        </p:nvSpPr>
        <p:spPr>
          <a:xfrm>
            <a:off x="411480" y="1298448"/>
            <a:ext cx="4091940" cy="896112"/>
          </a:xfrm>
          <a:prstGeom prst="roundRect">
            <a:avLst>
              <a:gd name="adj" fmla="val 8163"/>
            </a:avLst>
          </a:prstGeom>
          <a:solidFill>
            <a:srgbClr val="FFFFFF"/>
          </a:solidFill>
          <a:ln w="9525">
            <a:solidFill>
              <a:srgbClr val="DCE1E7"/>
            </a:solidFill>
            <a:prstDash val="solid"/>
          </a:ln>
        </p:spPr>
      </p:sp>
      <p:sp>
        <p:nvSpPr>
          <p:cNvPr id="7" name="Shape 4"/>
          <p:cNvSpPr/>
          <p:nvPr/>
        </p:nvSpPr>
        <p:spPr>
          <a:xfrm>
            <a:off x="548640" y="1435608"/>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27644" y="1514612"/>
            <a:ext cx="171176" cy="171176"/>
          </a:xfrm>
          <a:prstGeom prst="rect">
            <a:avLst/>
          </a:prstGeom>
        </p:spPr>
      </p:pic>
      <p:sp>
        <p:nvSpPr>
          <p:cNvPr id="9" name="Text 5"/>
          <p:cNvSpPr txBox="1"/>
          <p:nvPr/>
        </p:nvSpPr>
        <p:spPr>
          <a:xfrm>
            <a:off x="978408" y="1408176"/>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Job still Submitted</a:t>
            </a:r>
            <a:endParaRPr lang="en-US" sz="1100" dirty="0"/>
          </a:p>
        </p:txBody>
      </p:sp>
      <p:sp>
        <p:nvSpPr>
          <p:cNvPr id="10" name="Text 6"/>
          <p:cNvSpPr txBox="1"/>
          <p:nvPr/>
        </p:nvSpPr>
        <p:spPr>
          <a:xfrm>
            <a:off x="978408" y="1700784"/>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No CP matched: no one to compensate.</a:t>
            </a:r>
            <a:endParaRPr lang="en-US" sz="900" dirty="0"/>
          </a:p>
        </p:txBody>
      </p:sp>
      <p:sp>
        <p:nvSpPr>
          <p:cNvPr id="11" name="Shape 7"/>
          <p:cNvSpPr/>
          <p:nvPr/>
        </p:nvSpPr>
        <p:spPr>
          <a:xfrm>
            <a:off x="4640580" y="1298448"/>
            <a:ext cx="4091940" cy="896112"/>
          </a:xfrm>
          <a:prstGeom prst="roundRect">
            <a:avLst>
              <a:gd name="adj" fmla="val 8163"/>
            </a:avLst>
          </a:prstGeom>
          <a:solidFill>
            <a:srgbClr val="FFFFFF"/>
          </a:solidFill>
          <a:ln w="9525">
            <a:solidFill>
              <a:srgbClr val="DCE1E7"/>
            </a:solidFill>
            <a:prstDash val="solid"/>
          </a:ln>
        </p:spPr>
      </p:sp>
      <p:sp>
        <p:nvSpPr>
          <p:cNvPr id="12" name="Shape 8"/>
          <p:cNvSpPr/>
          <p:nvPr/>
        </p:nvSpPr>
        <p:spPr>
          <a:xfrm>
            <a:off x="4777740" y="1435608"/>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56744" y="1514612"/>
            <a:ext cx="171176" cy="171176"/>
          </a:xfrm>
          <a:prstGeom prst="rect">
            <a:avLst/>
          </a:prstGeom>
        </p:spPr>
      </p:pic>
      <p:sp>
        <p:nvSpPr>
          <p:cNvPr id="14" name="Text 9"/>
          <p:cNvSpPr txBox="1"/>
          <p:nvPr/>
        </p:nvSpPr>
        <p:spPr>
          <a:xfrm>
            <a:off x="5207508" y="1408176"/>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Severe weather</a:t>
            </a:r>
            <a:endParaRPr lang="en-US" sz="1100" dirty="0"/>
          </a:p>
        </p:txBody>
      </p:sp>
      <p:sp>
        <p:nvSpPr>
          <p:cNvPr id="15" name="Text 10"/>
          <p:cNvSpPr txBox="1"/>
          <p:nvPr/>
        </p:nvSpPr>
        <p:spPr>
          <a:xfrm>
            <a:off x="5207508" y="1700784"/>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In the customer's area.</a:t>
            </a:r>
            <a:endParaRPr lang="en-US" sz="900" dirty="0"/>
          </a:p>
        </p:txBody>
      </p:sp>
      <p:sp>
        <p:nvSpPr>
          <p:cNvPr id="16" name="Shape 11"/>
          <p:cNvSpPr/>
          <p:nvPr/>
        </p:nvSpPr>
        <p:spPr>
          <a:xfrm>
            <a:off x="411480" y="2286000"/>
            <a:ext cx="4091940" cy="896112"/>
          </a:xfrm>
          <a:prstGeom prst="roundRect">
            <a:avLst>
              <a:gd name="adj" fmla="val 8163"/>
            </a:avLst>
          </a:prstGeom>
          <a:solidFill>
            <a:srgbClr val="FFFFFF"/>
          </a:solidFill>
          <a:ln w="9525">
            <a:solidFill>
              <a:srgbClr val="DCE1E7"/>
            </a:solidFill>
            <a:prstDash val="solid"/>
          </a:ln>
        </p:spPr>
      </p:sp>
      <p:sp>
        <p:nvSpPr>
          <p:cNvPr id="17" name="Shape 12"/>
          <p:cNvSpPr/>
          <p:nvPr/>
        </p:nvSpPr>
        <p:spPr>
          <a:xfrm>
            <a:off x="548640" y="2423160"/>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7644" y="2502164"/>
            <a:ext cx="171176" cy="171176"/>
          </a:xfrm>
          <a:prstGeom prst="rect">
            <a:avLst/>
          </a:prstGeom>
        </p:spPr>
      </p:pic>
      <p:sp>
        <p:nvSpPr>
          <p:cNvPr id="19" name="Text 13"/>
          <p:cNvSpPr txBox="1"/>
          <p:nvPr/>
        </p:nvSpPr>
        <p:spPr>
          <a:xfrm>
            <a:off x="978408" y="2395728"/>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CP rescheduled &lt; 24 hrs before</a:t>
            </a:r>
            <a:endParaRPr lang="en-US" sz="1100" dirty="0"/>
          </a:p>
        </p:txBody>
      </p:sp>
      <p:sp>
        <p:nvSpPr>
          <p:cNvPr id="20" name="Text 14"/>
          <p:cNvSpPr txBox="1"/>
          <p:nvPr/>
        </p:nvSpPr>
        <p:spPr>
          <a:xfrm>
            <a:off x="978408" y="2688336"/>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And the customer didn't ask for the new time.</a:t>
            </a:r>
            <a:endParaRPr lang="en-US" sz="900" dirty="0"/>
          </a:p>
        </p:txBody>
      </p:sp>
      <p:sp>
        <p:nvSpPr>
          <p:cNvPr id="21" name="Shape 15"/>
          <p:cNvSpPr/>
          <p:nvPr/>
        </p:nvSpPr>
        <p:spPr>
          <a:xfrm>
            <a:off x="4640580" y="2286000"/>
            <a:ext cx="4091940" cy="896112"/>
          </a:xfrm>
          <a:prstGeom prst="roundRect">
            <a:avLst>
              <a:gd name="adj" fmla="val 8163"/>
            </a:avLst>
          </a:prstGeom>
          <a:solidFill>
            <a:srgbClr val="FFFFFF"/>
          </a:solidFill>
          <a:ln w="9525">
            <a:solidFill>
              <a:srgbClr val="DCE1E7"/>
            </a:solidFill>
            <a:prstDash val="solid"/>
          </a:ln>
        </p:spPr>
      </p:sp>
      <p:sp>
        <p:nvSpPr>
          <p:cNvPr id="22" name="Shape 16"/>
          <p:cNvSpPr/>
          <p:nvPr/>
        </p:nvSpPr>
        <p:spPr>
          <a:xfrm>
            <a:off x="4777740" y="2423160"/>
            <a:ext cx="329184" cy="329184"/>
          </a:xfrm>
          <a:prstGeom prst="ellipse">
            <a:avLst/>
          </a:prstGeom>
          <a:solidFill>
            <a:srgbClr val="E3F4F1"/>
          </a:solidFill>
          <a:ln w="12700">
            <a:solidFill>
              <a:srgbClr val="E3F4F1"/>
            </a:solidFill>
            <a:prstDash val="solid"/>
          </a:ln>
        </p:spPr>
      </p:sp>
      <p:pic>
        <p:nvPicPr>
          <p:cNvPr id="23" name="Image 3" descr="preencoded.png">    </p:cNvPr>
          <p:cNvPicPr>
            <a:picLocks noChangeAspect="1"/>
          </p:cNvPicPr>
          <p:nvPr/>
        </p:nvPicPr>
        <p:blipFill>
          <a:blip r:embed="rId4"/>
          <a:stretch>
            <a:fillRect/>
          </a:stretch>
        </p:blipFill>
        <p:spPr>
          <a:xfrm>
            <a:off x="4856744" y="2502164"/>
            <a:ext cx="171176" cy="171176"/>
          </a:xfrm>
          <a:prstGeom prst="rect">
            <a:avLst/>
          </a:prstGeom>
        </p:spPr>
      </p:pic>
      <p:sp>
        <p:nvSpPr>
          <p:cNvPr id="24" name="Text 17"/>
          <p:cNvSpPr txBox="1"/>
          <p:nvPr/>
        </p:nvSpPr>
        <p:spPr>
          <a:xfrm>
            <a:off x="5207508" y="2395728"/>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Alternate Start Time claimed</a:t>
            </a:r>
            <a:endParaRPr lang="en-US" sz="1100" dirty="0"/>
          </a:p>
        </p:txBody>
      </p:sp>
      <p:sp>
        <p:nvSpPr>
          <p:cNvPr id="25" name="Text 18"/>
          <p:cNvSpPr txBox="1"/>
          <p:nvPr/>
        </p:nvSpPr>
        <p:spPr>
          <a:xfrm>
            <a:off x="5207508" y="2688336"/>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Added &lt; 48 hrs before the cancellation.</a:t>
            </a:r>
            <a:endParaRPr lang="en-US" sz="900" dirty="0"/>
          </a:p>
        </p:txBody>
      </p:sp>
      <p:sp>
        <p:nvSpPr>
          <p:cNvPr id="26" name="Shape 19"/>
          <p:cNvSpPr/>
          <p:nvPr/>
        </p:nvSpPr>
        <p:spPr>
          <a:xfrm>
            <a:off x="411480" y="3273552"/>
            <a:ext cx="4091940" cy="896112"/>
          </a:xfrm>
          <a:prstGeom prst="roundRect">
            <a:avLst>
              <a:gd name="adj" fmla="val 8163"/>
            </a:avLst>
          </a:prstGeom>
          <a:solidFill>
            <a:srgbClr val="FFFFFF"/>
          </a:solidFill>
          <a:ln w="9525">
            <a:solidFill>
              <a:srgbClr val="DCE1E7"/>
            </a:solidFill>
            <a:prstDash val="solid"/>
          </a:ln>
        </p:spPr>
      </p:sp>
      <p:sp>
        <p:nvSpPr>
          <p:cNvPr id="27" name="Shape 20"/>
          <p:cNvSpPr/>
          <p:nvPr/>
        </p:nvSpPr>
        <p:spPr>
          <a:xfrm>
            <a:off x="548640" y="3410712"/>
            <a:ext cx="329184" cy="329184"/>
          </a:xfrm>
          <a:prstGeom prst="ellipse">
            <a:avLst/>
          </a:prstGeom>
          <a:solidFill>
            <a:srgbClr val="E3F4F1"/>
          </a:solidFill>
          <a:ln w="12700">
            <a:solidFill>
              <a:srgbClr val="E3F4F1"/>
            </a:solidFill>
            <a:prstDash val="solid"/>
          </a:ln>
        </p:spPr>
      </p:sp>
      <p:pic>
        <p:nvPicPr>
          <p:cNvPr id="28" name="Image 4" descr="preencoded.png">    </p:cNvPr>
          <p:cNvPicPr>
            <a:picLocks noChangeAspect="1"/>
          </p:cNvPicPr>
          <p:nvPr/>
        </p:nvPicPr>
        <p:blipFill>
          <a:blip r:embed="rId5"/>
          <a:stretch>
            <a:fillRect/>
          </a:stretch>
        </p:blipFill>
        <p:spPr>
          <a:xfrm>
            <a:off x="627644" y="3489716"/>
            <a:ext cx="171176" cy="171176"/>
          </a:xfrm>
          <a:prstGeom prst="rect">
            <a:avLst/>
          </a:prstGeom>
        </p:spPr>
      </p:pic>
      <p:sp>
        <p:nvSpPr>
          <p:cNvPr id="29" name="Text 21"/>
          <p:cNvSpPr txBox="1"/>
          <p:nvPr/>
        </p:nvSpPr>
        <p:spPr>
          <a:xfrm>
            <a:off x="978408" y="3383280"/>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ETA asked, no check-in</a:t>
            </a:r>
            <a:endParaRPr lang="en-US" sz="1100" dirty="0"/>
          </a:p>
        </p:txBody>
      </p:sp>
      <p:sp>
        <p:nvSpPr>
          <p:cNvPr id="30" name="Text 22"/>
          <p:cNvSpPr txBox="1"/>
          <p:nvPr/>
        </p:nvSpPr>
        <p:spPr>
          <a:xfrm>
            <a:off x="978408" y="3675888"/>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CP didn't check in within 30 min of start.</a:t>
            </a:r>
            <a:endParaRPr lang="en-US" sz="900" dirty="0"/>
          </a:p>
        </p:txBody>
      </p:sp>
      <p:sp>
        <p:nvSpPr>
          <p:cNvPr id="31" name="Shape 23"/>
          <p:cNvSpPr/>
          <p:nvPr/>
        </p:nvSpPr>
        <p:spPr>
          <a:xfrm>
            <a:off x="4640580" y="3273552"/>
            <a:ext cx="4091940" cy="896112"/>
          </a:xfrm>
          <a:prstGeom prst="roundRect">
            <a:avLst>
              <a:gd name="adj" fmla="val 8163"/>
            </a:avLst>
          </a:prstGeom>
          <a:solidFill>
            <a:srgbClr val="FFFFFF"/>
          </a:solidFill>
          <a:ln w="9525">
            <a:solidFill>
              <a:srgbClr val="DCE1E7"/>
            </a:solidFill>
            <a:prstDash val="solid"/>
          </a:ln>
        </p:spPr>
      </p:sp>
      <p:sp>
        <p:nvSpPr>
          <p:cNvPr id="32" name="Shape 24"/>
          <p:cNvSpPr/>
          <p:nvPr/>
        </p:nvSpPr>
        <p:spPr>
          <a:xfrm>
            <a:off x="4777740" y="3410712"/>
            <a:ext cx="329184" cy="329184"/>
          </a:xfrm>
          <a:prstGeom prst="ellipse">
            <a:avLst/>
          </a:prstGeom>
          <a:solidFill>
            <a:srgbClr val="E3F4F1"/>
          </a:solidFill>
          <a:ln w="12700">
            <a:solidFill>
              <a:srgbClr val="E3F4F1"/>
            </a:solidFill>
            <a:prstDash val="solid"/>
          </a:ln>
        </p:spPr>
      </p:sp>
      <p:pic>
        <p:nvPicPr>
          <p:cNvPr id="33" name="Image 5" descr="preencoded.png">    </p:cNvPr>
          <p:cNvPicPr>
            <a:picLocks noChangeAspect="1"/>
          </p:cNvPicPr>
          <p:nvPr/>
        </p:nvPicPr>
        <p:blipFill>
          <a:blip r:embed="rId6"/>
          <a:stretch>
            <a:fillRect/>
          </a:stretch>
        </p:blipFill>
        <p:spPr>
          <a:xfrm>
            <a:off x="4856744" y="3489716"/>
            <a:ext cx="171176" cy="171176"/>
          </a:xfrm>
          <a:prstGeom prst="rect">
            <a:avLst/>
          </a:prstGeom>
        </p:spPr>
      </p:pic>
      <p:sp>
        <p:nvSpPr>
          <p:cNvPr id="34" name="Text 25"/>
          <p:cNvSpPr txBox="1"/>
          <p:nvPr/>
        </p:nvSpPr>
        <p:spPr>
          <a:xfrm>
            <a:off x="5207508" y="3383280"/>
            <a:ext cx="3406140" cy="274320"/>
          </a:xfrm>
          <a:prstGeom prst="rect">
            <a:avLst/>
          </a:prstGeom>
          <a:noFill/>
          <a:ln/>
        </p:spPr>
        <p:txBody>
          <a:bodyPr wrap="square" lIns="0" tIns="0" rIns="0" bIns="0" rtlCol="0" anchor="ctr"/>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All of these together</a:t>
            </a:r>
            <a:endParaRPr lang="en-US" sz="1100" dirty="0"/>
          </a:p>
        </p:txBody>
      </p:sp>
      <p:sp>
        <p:nvSpPr>
          <p:cNvPr id="35" name="Text 26"/>
          <p:cNvSpPr txBox="1"/>
          <p:nvPr/>
        </p:nvSpPr>
        <p:spPr>
          <a:xfrm>
            <a:off x="5207508" y="3675888"/>
            <a:ext cx="3406140" cy="438912"/>
          </a:xfrm>
          <a:prstGeom prst="rect">
            <a:avLst/>
          </a:prstGeom>
          <a:noFill/>
          <a:ln/>
        </p:spPr>
        <p:txBody>
          <a:bodyPr wrap="square" lIns="0" tIns="0" rIns="0" bIns="0" rtlCol="0" anchor="t"/>
          <a:lstStyle/>
          <a:p>
            <a:pPr indent="0" marL="0">
              <a:buNone/>
            </a:pPr>
            <a:r>
              <a:rPr lang="en-US" sz="900" dirty="0">
                <a:solidFill>
                  <a:srgbClr val="6E6E73"/>
                </a:solidFill>
                <a:latin typeface="SF Pro Text" pitchFamily="34" charset="0"/>
                <a:ea typeface="SF Pro Text" pitchFamily="34" charset="-122"/>
                <a:cs typeface="SF Pro Text" pitchFamily="34" charset="-120"/>
              </a:rPr>
              <a:t>No prior LMC waiver · CP didn't check in &gt; 30 min before · claimed or rescheduled in the last 24 hrs (active FC or not their preferred time).</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Invalid charge: reverse both sides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E.g. the customer cancelled because the CP wanted to reschedule or cancel, or the CP no-showed.</a:t>
            </a:r>
            <a:endParaRPr lang="en-US" sz="1200" dirty="0"/>
          </a:p>
        </p:txBody>
      </p:sp>
      <p:sp>
        <p:nvSpPr>
          <p:cNvPr id="6" name="Text 3"/>
          <p:cNvSpPr txBox="1"/>
          <p:nvPr/>
        </p:nvSpPr>
        <p:spPr>
          <a:xfrm>
            <a:off x="411480" y="1371600"/>
            <a:ext cx="36576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CHARGE WAS INVALID</a:t>
            </a:r>
            <a:endParaRPr lang="en-US" sz="800" dirty="0"/>
          </a:p>
        </p:txBody>
      </p:sp>
      <p:sp>
        <p:nvSpPr>
          <p:cNvPr id="7" name="Text 4">
            <a:hlinkClick r:id="rId1" tooltip="Play: how to refund the LMC fee"/>
          </p:cNvPr>
          <p:cNvSpPr/>
          <p:nvPr/>
        </p:nvSpPr>
        <p:spPr>
          <a:xfrm>
            <a:off x="411480" y="1645920"/>
            <a:ext cx="3657600" cy="502920"/>
          </a:xfrm>
          <a:prstGeom prst="roundRect">
            <a:avLst>
              <a:gd name="adj" fmla="val 14545"/>
            </a:avLst>
          </a:prstGeom>
          <a:solidFill>
            <a:srgbClr val="0B7A6F"/>
          </a:solidFill>
          <a:ln w="12700">
            <a:solidFill>
              <a:srgbClr val="0B7A6F"/>
            </a:solidFill>
          </a:ln>
        </p:spPr>
        <p:txBody>
          <a:bodyPr wrap="square" rtlCol="0" anchor="ctr"/>
          <a:lstStyle/>
          <a:p>
            <a:pPr algn="ctr" indent="0" marL="0">
              <a:buNone/>
            </a:pPr>
            <a:r>
              <a:rPr lang="en-US" sz="1000" b="1" u="none" dirty="0">
                <a:solidFill>
                  <a:srgbClr val="FFFFFF"/>
                </a:solidFill>
                <a:latin typeface="SF Pro Display" pitchFamily="34" charset="0"/>
                <a:ea typeface="SF Pro Display" pitchFamily="34" charset="-122"/>
                <a:cs typeface="SF Pro Display" pitchFamily="34" charset="-120"/>
              </a:rPr>
              <a:t>▶  Refund the LMC charge</a:t>
            </a:r>
            <a:endParaRPr lang="en-US" sz="1000" dirty="0"/>
          </a:p>
        </p:txBody>
      </p:sp>
      <p:sp>
        <p:nvSpPr>
          <p:cNvPr id="8" name="Text 5"/>
          <p:cNvSpPr txBox="1"/>
          <p:nvPr/>
        </p:nvSpPr>
        <p:spPr>
          <a:xfrm>
            <a:off x="411480" y="2194560"/>
            <a:ext cx="3657600" cy="27432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From the Manual Charges section.</a:t>
            </a:r>
            <a:endParaRPr lang="en-US" sz="950" dirty="0"/>
          </a:p>
        </p:txBody>
      </p:sp>
      <p:sp>
        <p:nvSpPr>
          <p:cNvPr id="9" name="Shape 6"/>
          <p:cNvSpPr/>
          <p:nvPr/>
        </p:nvSpPr>
        <p:spPr>
          <a:xfrm>
            <a:off x="2240280" y="2468880"/>
            <a:ext cx="0" cy="182880"/>
          </a:xfrm>
          <a:prstGeom prst="line">
            <a:avLst/>
          </a:prstGeom>
          <a:noFill/>
          <a:ln w="12700">
            <a:solidFill>
              <a:srgbClr val="6E6E73"/>
            </a:solidFill>
            <a:prstDash val="solid"/>
            <a:tailEnd type="triangle"/>
          </a:ln>
        </p:spPr>
      </p:sp>
      <p:sp>
        <p:nvSpPr>
          <p:cNvPr id="10" name="Text 7">
            <a:hlinkClick r:id="rId2" tooltip="Play: how to create an LMC fee holdback"/>
          </p:cNvPr>
          <p:cNvSpPr/>
          <p:nvPr/>
        </p:nvSpPr>
        <p:spPr>
          <a:xfrm>
            <a:off x="411480" y="2651760"/>
            <a:ext cx="3657600" cy="502920"/>
          </a:xfrm>
          <a:prstGeom prst="roundRect">
            <a:avLst>
              <a:gd name="adj" fmla="val 14545"/>
            </a:avLst>
          </a:prstGeom>
          <a:solidFill>
            <a:srgbClr val="0B7A6F"/>
          </a:solidFill>
          <a:ln w="12700">
            <a:solidFill>
              <a:srgbClr val="0B7A6F"/>
            </a:solidFill>
          </a:ln>
        </p:spPr>
        <p:txBody>
          <a:bodyPr wrap="square" rtlCol="0" anchor="ctr"/>
          <a:lstStyle/>
          <a:p>
            <a:pPr algn="ctr" indent="0" marL="0">
              <a:buNone/>
            </a:pPr>
            <a:r>
              <a:rPr lang="en-US" sz="1000" b="1" u="none" dirty="0">
                <a:solidFill>
                  <a:srgbClr val="FFFFFF"/>
                </a:solidFill>
                <a:latin typeface="SF Pro Display" pitchFamily="34" charset="0"/>
                <a:ea typeface="SF Pro Display" pitchFamily="34" charset="-122"/>
                <a:cs typeface="SF Pro Display" pitchFamily="34" charset="-120"/>
              </a:rPr>
              <a:t>▶  Hold back the CP's $20</a:t>
            </a:r>
            <a:endParaRPr lang="en-US" sz="1000" dirty="0"/>
          </a:p>
        </p:txBody>
      </p:sp>
      <p:sp>
        <p:nvSpPr>
          <p:cNvPr id="11" name="Text 8"/>
          <p:cNvSpPr txBox="1"/>
          <p:nvPr/>
        </p:nvSpPr>
        <p:spPr>
          <a:xfrm>
            <a:off x="411480" y="3200400"/>
            <a:ext cx="3657600" cy="457200"/>
          </a:xfrm>
          <a:prstGeom prst="rect">
            <a:avLst/>
          </a:prstGeom>
          <a:noFill/>
          <a:ln/>
        </p:spPr>
        <p:txBody>
          <a:bodyPr wrap="square" lIns="0" tIns="0" rIns="0" bIns="0" rtlCol="0" anchor="t"/>
          <a:lstStyle/>
          <a:p>
            <a:pPr algn="ctr" indent="0" marL="0">
              <a:buNone/>
            </a:pPr>
            <a:r>
              <a:rPr lang="en-US" sz="950" dirty="0">
                <a:solidFill>
                  <a:srgbClr val="6E6E73"/>
                </a:solidFill>
                <a:latin typeface="SF Pro Text" pitchFamily="34" charset="0"/>
                <a:ea typeface="SF Pro Text" pitchFamily="34" charset="-122"/>
                <a:cs typeface="SF Pro Text" pitchFamily="34" charset="-120"/>
              </a:rPr>
              <a:t>CP CRM › Do › CleanerPaymentHoldback › create.</a:t>
            </a:r>
            <a:endParaRPr lang="en-US" sz="950" dirty="0"/>
          </a:p>
          <a:p>
            <a:pPr algn="ctr" indent="0" marL="0">
              <a:buNone/>
            </a:pPr>
            <a:r>
              <a:rPr lang="en-US" sz="950" dirty="0">
                <a:solidFill>
                  <a:srgbClr val="6E6E73"/>
                </a:solidFill>
                <a:latin typeface="SF Pro Text" pitchFamily="34" charset="0"/>
                <a:ea typeface="SF Pro Text" pitchFamily="34" charset="-122"/>
                <a:cs typeface="SF Pro Text" pitchFamily="34" charset="-120"/>
              </a:rPr>
              <a:t>Amount in cents: 2000.</a:t>
            </a:r>
            <a:endParaRPr lang="en-US" sz="950" dirty="0"/>
          </a:p>
        </p:txBody>
      </p:sp>
      <p:sp>
        <p:nvSpPr>
          <p:cNvPr id="12" name="Text 9"/>
          <p:cNvSpPr txBox="1"/>
          <p:nvPr/>
        </p:nvSpPr>
        <p:spPr>
          <a:xfrm>
            <a:off x="4434840" y="1371600"/>
            <a:ext cx="420624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SPECIAL CASE: LMC was charged but JOB COMPLETED later anyway</a:t>
            </a:r>
            <a:endParaRPr lang="en-US" sz="800" dirty="0"/>
          </a:p>
        </p:txBody>
      </p:sp>
      <p:sp>
        <p:nvSpPr>
          <p:cNvPr id="13" name="Shape 10"/>
          <p:cNvSpPr/>
          <p:nvPr/>
        </p:nvSpPr>
        <p:spPr>
          <a:xfrm>
            <a:off x="4434840" y="1645920"/>
            <a:ext cx="4297680" cy="2011680"/>
          </a:xfrm>
          <a:prstGeom prst="roundRect">
            <a:avLst>
              <a:gd name="adj" fmla="val 3636"/>
            </a:avLst>
          </a:prstGeom>
          <a:solidFill>
            <a:srgbClr val="FFFFFF"/>
          </a:solidFill>
          <a:ln w="9525">
            <a:solidFill>
              <a:srgbClr val="DCE1E7"/>
            </a:solidFill>
            <a:prstDash val="solid"/>
          </a:ln>
        </p:spPr>
      </p:sp>
      <p:sp>
        <p:nvSpPr>
          <p:cNvPr id="14" name="Text 11"/>
          <p:cNvSpPr txBox="1"/>
          <p:nvPr/>
        </p:nvSpPr>
        <p:spPr>
          <a:xfrm>
            <a:off x="4617720" y="1783080"/>
            <a:ext cx="3931920" cy="178308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Refund the LMC charge</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$20 holdback, type invalid_lmc</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Log the ticket</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Recreate the job and invoice it normally, so the customer's FC still triggers</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Step 2: valid charge, check the customer category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Not a ladder: go straight to the right offer.</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011680"/>
                <a:gridCol w="1828800"/>
                <a:gridCol w="4480560"/>
              </a:tblGrid>
              <a:tr h="310896">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Customer</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Invoiced jobs</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What to do</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New customer</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0–2</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Refund the LMC fee outright.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Low to moderate LTNR</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3–4</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Offer credits up to 100% of the fee, not cash refund. reason code: lmc</a:t>
                      </a:r>
                      <a:endParaRPr lang="en-US" sz="1000" dirty="0">
                        <a:latin typeface="SF Pro Text" charset="0"/>
                        <a:ea typeface="SF Pro Text" charset="0"/>
                        <a:cs typeface="SF Pro Text" charset="0"/>
                      </a:endParaRPr>
                    </a:p>
                    <a:p>
                      <a:pPr indent="0" marL="0">
                        <a:buNone/>
                      </a:pPr>
                      <a:r>
                        <a:rPr lang="en-US" sz="1000" dirty="0">
                          <a:solidFill>
                            <a:srgbClr val="6E6E73"/>
                          </a:solidFill>
                          <a:latin typeface="SF Pro Text" pitchFamily="34" charset="0"/>
                          <a:ea typeface="SF Pro Text" pitchFamily="34" charset="-122"/>
                          <a:cs typeface="SF Pro Text" pitchFamily="34" charset="-120"/>
                        </a:rPr>
                        <a:t>Upset? Send to Service Recovery. </a:t>
                      </a:r>
                      <a:endParaRPr lang="en-US" sz="1000" dirty="0">
                        <a:latin typeface="SF Pro Text" charset="0"/>
                        <a:ea typeface="SF Pro Text" charset="0"/>
                        <a:cs typeface="SF Pro Text" charset="0"/>
                      </a:endParaRPr>
                    </a:p>
                    <a:p>
                      <a:pPr indent="0" marL="0">
                        <a:buNone/>
                      </a:pPr>
                      <a:r>
                        <a:rPr lang="en-US" sz="1000" dirty="0">
                          <a:solidFill>
                            <a:srgbClr val="6E6E73"/>
                          </a:solidFill>
                          <a:latin typeface="SF Pro Text" pitchFamily="34" charset="0"/>
                          <a:ea typeface="SF Pro Text" pitchFamily="34" charset="-122"/>
                          <a:cs typeface="SF Pro Text" pitchFamily="34" charset="-120"/>
                        </a:rPr>
                        <a:t>Cancelling? Offer to apply the LMC fee to the ETF.</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Very high-value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More than 4, high retention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Refund the full $40.</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24612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355848"/>
            <a:ext cx="164592" cy="164592"/>
          </a:xfrm>
          <a:prstGeom prst="rect">
            <a:avLst/>
          </a:prstGeom>
        </p:spPr>
      </p:pic>
      <p:sp>
        <p:nvSpPr>
          <p:cNvPr id="9" name="Text 4"/>
          <p:cNvSpPr txBox="1"/>
          <p:nvPr/>
        </p:nvSpPr>
        <p:spPr>
          <a:xfrm>
            <a:off x="822960" y="33467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Only if asked:  </a:t>
            </a:r>
            <a:pPr indent="0" marL="0">
              <a:buNone/>
            </a:pPr>
            <a:r>
              <a:rPr lang="en-US" sz="1000" dirty="0">
                <a:solidFill>
                  <a:srgbClr val="1D1D1F"/>
                </a:solidFill>
                <a:latin typeface="SF Pro Text" pitchFamily="34" charset="0"/>
                <a:ea typeface="SF Pro Text" pitchFamily="34" charset="-122"/>
                <a:cs typeface="SF Pro Text" pitchFamily="34" charset="-120"/>
              </a:rPr>
              <a:t>use this table only when the customer explicitly asks a refund or contests the charge, not when they just want it explained.</a:t>
            </a:r>
            <a:endParaRPr lang="en-US" sz="1000" dirty="0"/>
          </a:p>
        </p:txBody>
      </p:sp>
      <p:sp>
        <p:nvSpPr>
          <p:cNvPr id="10" name="Shape 5"/>
          <p:cNvSpPr/>
          <p:nvPr/>
        </p:nvSpPr>
        <p:spPr>
          <a:xfrm>
            <a:off x="411480" y="3794760"/>
            <a:ext cx="8321040" cy="292608"/>
          </a:xfrm>
          <a:prstGeom prst="roundRect">
            <a:avLst>
              <a:gd name="adj" fmla="val 25000"/>
            </a:avLst>
          </a:prstGeom>
          <a:solidFill>
            <a:srgbClr val="FFF3D6"/>
          </a:solidFill>
          <a:ln w="9525">
            <a:solidFill>
              <a:srgbClr val="9A6410"/>
            </a:solidFill>
            <a:prstDash val="solid"/>
          </a:ln>
        </p:spPr>
      </p:sp>
      <p:pic>
        <p:nvPicPr>
          <p:cNvPr id="11" name="Image 1" descr="preencoded.png">    </p:cNvPr>
          <p:cNvPicPr>
            <a:picLocks noChangeAspect="1"/>
          </p:cNvPicPr>
          <p:nvPr/>
        </p:nvPicPr>
        <p:blipFill>
          <a:blip r:embed="rId2"/>
          <a:stretch>
            <a:fillRect/>
          </a:stretch>
        </p:blipFill>
        <p:spPr>
          <a:xfrm>
            <a:off x="521208" y="3867912"/>
            <a:ext cx="146304" cy="146304"/>
          </a:xfrm>
          <a:prstGeom prst="rect">
            <a:avLst/>
          </a:prstGeom>
        </p:spPr>
      </p:pic>
      <p:sp>
        <p:nvSpPr>
          <p:cNvPr id="12" name="Text 6"/>
          <p:cNvSpPr txBox="1"/>
          <p:nvPr/>
        </p:nvSpPr>
        <p:spPr>
          <a:xfrm>
            <a:off x="731520" y="3794760"/>
            <a:ext cx="795528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Recommended Macro:  </a:t>
            </a:r>
            <a:pPr indent="0" marL="0">
              <a:buNone/>
            </a:pPr>
            <a:r>
              <a:rPr lang="en-US" sz="950" b="1" dirty="0">
                <a:solidFill>
                  <a:srgbClr val="1D1D1F"/>
                </a:solidFill>
                <a:latin typeface="SF Pro Display" pitchFamily="34" charset="0"/>
                <a:ea typeface="SF Pro Display" pitchFamily="34" charset="-122"/>
                <a:cs typeface="SF Pro Display" pitchFamily="34" charset="-120"/>
              </a:rPr>
              <a:t>Last-minute cancel: high-value customer · Last-minute cancel: no refund (standard customer)</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Finding the charge, and when it fails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failed LMC charge is finished. Leave it.</a:t>
            </a:r>
            <a:endParaRPr lang="en-US" sz="1200" dirty="0"/>
          </a:p>
        </p:txBody>
      </p:sp>
      <p:sp>
        <p:nvSpPr>
          <p:cNvPr id="6" name="Shape 3"/>
          <p:cNvSpPr/>
          <p:nvPr/>
        </p:nvSpPr>
        <p:spPr>
          <a:xfrm>
            <a:off x="411480" y="1325880"/>
            <a:ext cx="4091940" cy="1920240"/>
          </a:xfrm>
          <a:prstGeom prst="roundRect">
            <a:avLst>
              <a:gd name="adj" fmla="val 3810"/>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Where to check</a:t>
            </a:r>
            <a:endParaRPr lang="en-US" sz="1300" dirty="0"/>
          </a:p>
        </p:txBody>
      </p:sp>
      <p:sp>
        <p:nvSpPr>
          <p:cNvPr id="10" name="Text 6"/>
          <p:cNvSpPr txBox="1"/>
          <p:nvPr/>
        </p:nvSpPr>
        <p:spPr>
          <a:xfrm>
            <a:off x="594360" y="2039112"/>
            <a:ext cx="372618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New CRM › Payment History </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Open Customer Stripe Charges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Failed charges: Tracked in Stripe only</a:t>
            </a:r>
            <a:endParaRPr lang="en-US" sz="1000" dirty="0"/>
          </a:p>
        </p:txBody>
      </p:sp>
      <p:sp>
        <p:nvSpPr>
          <p:cNvPr id="11" name="Shape 7"/>
          <p:cNvSpPr/>
          <p:nvPr/>
        </p:nvSpPr>
        <p:spPr>
          <a:xfrm>
            <a:off x="4640580" y="1325880"/>
            <a:ext cx="4091940" cy="1920240"/>
          </a:xfrm>
          <a:prstGeom prst="roundRect">
            <a:avLst>
              <a:gd name="adj" fmla="val 3810"/>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Charge failed?</a:t>
            </a:r>
            <a:endParaRPr lang="en-US" sz="1300" dirty="0"/>
          </a:p>
        </p:txBody>
      </p:sp>
      <p:sp>
        <p:nvSpPr>
          <p:cNvPr id="15" name="Text 10"/>
          <p:cNvSpPr txBox="1"/>
          <p:nvPr/>
        </p:nvSpPr>
        <p:spPr>
          <a:xfrm>
            <a:off x="4823460" y="2039112"/>
            <a:ext cx="372618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Let it go: the system stops retrying after a couple of times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Don't void, refund or re-run it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CP paid only if they ask (CP-side path)</a:t>
            </a:r>
            <a:endParaRPr lang="en-US" sz="1000" dirty="0"/>
          </a:p>
        </p:txBody>
      </p:sp>
      <p:sp>
        <p:nvSpPr>
          <p:cNvPr id="16" name="Shape 11"/>
          <p:cNvSpPr/>
          <p:nvPr/>
        </p:nvSpPr>
        <p:spPr>
          <a:xfrm>
            <a:off x="411480" y="342900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538728"/>
            <a:ext cx="164592" cy="164592"/>
          </a:xfrm>
          <a:prstGeom prst="rect">
            <a:avLst/>
          </a:prstGeom>
        </p:spPr>
      </p:pic>
      <p:sp>
        <p:nvSpPr>
          <p:cNvPr id="18" name="Text 12"/>
          <p:cNvSpPr txBox="1"/>
          <p:nvPr/>
        </p:nvSpPr>
        <p:spPr>
          <a:xfrm>
            <a:off x="822960" y="35295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LMC only:  </a:t>
            </a:r>
            <a:pPr indent="0" marL="0">
              <a:buNone/>
            </a:pPr>
            <a:r>
              <a:rPr lang="en-US" sz="1000" dirty="0">
                <a:solidFill>
                  <a:srgbClr val="1D1D1F"/>
                </a:solidFill>
                <a:latin typeface="SF Pro Text" pitchFamily="34" charset="0"/>
                <a:ea typeface="SF Pro Text" pitchFamily="34" charset="-122"/>
                <a:cs typeface="SF Pro Text" pitchFamily="34" charset="-120"/>
              </a:rPr>
              <a:t>other fees behave differently. A failed Premium fee keeps retrying.</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A customer cancels 3 hours before start. The job was still Submitted. LMC?</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Automatically waived: no CP was matched.</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CP no-showed and the customer cancelled. LMC was charged. What do you do?</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Refund it from Manual Charges and create a $20 CleanerPaymentHoldback.</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Valid LMC, 3 invoiced jobs, customer wants a refund. What do you offer?</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Credits up to 100% of the fee, not cash refund.</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LMC charge failed to collect. What now?</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Nothing. Let it go: don't void, refund or re-run it.</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LAST-MINUTE CANCELLATION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Is this a valid or invalid LMC fee? Why?</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Investigate, check the messages, what caused the customer to cancel?</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actions are you going to take?</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Invalid: refund + $20 holdback. Valid: customer category.</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03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Lockout (LO)</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CP showed up but couldn't get in. Is the charge fair?</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a lockout is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Four questions to validate it</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Refund by customer category</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Special scenarios and lockout pay</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7.png">    </p:cNvPr>
          <p:cNvPicPr>
            <a:picLocks noChangeAspect="1"/>
          </p:cNvPicPr>
          <p:nvPr/>
        </p:nvPicPr>
        <p:blipFill>
          <a:blip r:embed="rId5"/>
          <a:stretch>
            <a:fillRect/>
          </a:stretch>
        </p:blipFill>
        <p:spPr>
          <a:xfrm>
            <a:off x="5541264" y="1783080"/>
            <a:ext cx="2926080" cy="1572768"/>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a lockout?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claim the CP submits when they can't get in.</a:t>
            </a:r>
            <a:endParaRPr lang="en-US" sz="1200" dirty="0"/>
          </a:p>
        </p:txBody>
      </p:sp>
      <p:sp>
        <p:nvSpPr>
          <p:cNvPr id="6" name="Shape 3"/>
          <p:cNvSpPr/>
          <p:nvPr/>
        </p:nvSpPr>
        <p:spPr>
          <a:xfrm>
            <a:off x="411480" y="1325880"/>
            <a:ext cx="197739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CP can't get in</a:t>
            </a:r>
            <a:endParaRPr lang="en-US" sz="1200" dirty="0"/>
          </a:p>
        </p:txBody>
      </p:sp>
      <p:sp>
        <p:nvSpPr>
          <p:cNvPr id="10" name="Text 7"/>
          <p:cNvSpPr txBox="1"/>
          <p:nvPr/>
        </p:nvSpPr>
        <p:spPr>
          <a:xfrm>
            <a:off x="576072" y="222199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Arrived at the scheduled time and tried to reach the customer.</a:t>
            </a:r>
            <a:endParaRPr lang="en-US" sz="950" dirty="0"/>
          </a:p>
        </p:txBody>
      </p:sp>
      <p:sp>
        <p:nvSpPr>
          <p:cNvPr id="11" name="Shape 8"/>
          <p:cNvSpPr/>
          <p:nvPr/>
        </p:nvSpPr>
        <p:spPr>
          <a:xfrm>
            <a:off x="2526030" y="1325880"/>
            <a:ext cx="1977390" cy="1828800"/>
          </a:xfrm>
          <a:prstGeom prst="roundRect">
            <a:avLst>
              <a:gd name="adj" fmla="val 4000"/>
            </a:avLst>
          </a:prstGeom>
          <a:solidFill>
            <a:srgbClr val="FFFFFF"/>
          </a:solidFill>
          <a:ln w="9525">
            <a:solidFill>
              <a:srgbClr val="DCE1E7"/>
            </a:solidFill>
            <a:prstDash val="solid"/>
          </a:ln>
        </p:spPr>
      </p:sp>
      <p:sp>
        <p:nvSpPr>
          <p:cNvPr id="12" name="Shape 9"/>
          <p:cNvSpPr/>
          <p:nvPr/>
        </p:nvSpPr>
        <p:spPr>
          <a:xfrm>
            <a:off x="269062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269062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2690622" y="192938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Lockout submitted</a:t>
            </a:r>
            <a:endParaRPr lang="en-US" sz="1200" dirty="0"/>
          </a:p>
        </p:txBody>
      </p:sp>
      <p:sp>
        <p:nvSpPr>
          <p:cNvPr id="15" name="Text 12"/>
          <p:cNvSpPr txBox="1"/>
          <p:nvPr/>
        </p:nvSpPr>
        <p:spPr>
          <a:xfrm>
            <a:off x="2690622" y="222199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job changes to Invoiced.</a:t>
            </a:r>
            <a:endParaRPr lang="en-US" sz="950" dirty="0"/>
          </a:p>
        </p:txBody>
      </p:sp>
      <p:sp>
        <p:nvSpPr>
          <p:cNvPr id="16" name="Shape 13"/>
          <p:cNvSpPr/>
          <p:nvPr/>
        </p:nvSpPr>
        <p:spPr>
          <a:xfrm>
            <a:off x="4640580" y="1325880"/>
            <a:ext cx="1977390" cy="1828800"/>
          </a:xfrm>
          <a:prstGeom prst="roundRect">
            <a:avLst>
              <a:gd name="adj" fmla="val 4000"/>
            </a:avLst>
          </a:prstGeom>
          <a:solidFill>
            <a:srgbClr val="FFFFFF"/>
          </a:solidFill>
          <a:ln w="9525">
            <a:solidFill>
              <a:srgbClr val="DCE1E7"/>
            </a:solidFill>
            <a:prstDash val="solid"/>
          </a:ln>
        </p:spPr>
      </p:sp>
      <p:sp>
        <p:nvSpPr>
          <p:cNvPr id="17" name="Shape 14"/>
          <p:cNvSpPr/>
          <p:nvPr/>
        </p:nvSpPr>
        <p:spPr>
          <a:xfrm>
            <a:off x="48051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48051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4805172" y="192938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Customer charged</a:t>
            </a:r>
            <a:endParaRPr lang="en-US" sz="1200" dirty="0"/>
          </a:p>
        </p:txBody>
      </p:sp>
      <p:sp>
        <p:nvSpPr>
          <p:cNvPr id="20" name="Text 17"/>
          <p:cNvSpPr txBox="1"/>
          <p:nvPr/>
        </p:nvSpPr>
        <p:spPr>
          <a:xfrm>
            <a:off x="4805172" y="222199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full job cost, for a cleaning that didn't happen.</a:t>
            </a:r>
            <a:endParaRPr lang="en-US" sz="950" dirty="0"/>
          </a:p>
        </p:txBody>
      </p:sp>
      <p:sp>
        <p:nvSpPr>
          <p:cNvPr id="21" name="Shape 18"/>
          <p:cNvSpPr/>
          <p:nvPr/>
        </p:nvSpPr>
        <p:spPr>
          <a:xfrm>
            <a:off x="6755130" y="1325880"/>
            <a:ext cx="1977390" cy="1828800"/>
          </a:xfrm>
          <a:prstGeom prst="roundRect">
            <a:avLst>
              <a:gd name="adj" fmla="val 4000"/>
            </a:avLst>
          </a:prstGeom>
          <a:solidFill>
            <a:srgbClr val="FFFFFF"/>
          </a:solidFill>
          <a:ln w="9525">
            <a:solidFill>
              <a:srgbClr val="DCE1E7"/>
            </a:solidFill>
            <a:prstDash val="solid"/>
          </a:ln>
        </p:spPr>
      </p:sp>
      <p:sp>
        <p:nvSpPr>
          <p:cNvPr id="22" name="Shape 19"/>
          <p:cNvSpPr/>
          <p:nvPr/>
        </p:nvSpPr>
        <p:spPr>
          <a:xfrm>
            <a:off x="6919722" y="1508760"/>
            <a:ext cx="274320" cy="274320"/>
          </a:xfrm>
          <a:prstGeom prst="ellipse">
            <a:avLst/>
          </a:prstGeom>
          <a:solidFill>
            <a:srgbClr val="E3F4F1"/>
          </a:solidFill>
          <a:ln w="12700">
            <a:solidFill>
              <a:srgbClr val="E3F4F1"/>
            </a:solidFill>
            <a:prstDash val="solid"/>
          </a:ln>
        </p:spPr>
      </p:sp>
      <p:sp>
        <p:nvSpPr>
          <p:cNvPr id="23" name="Text 20"/>
          <p:cNvSpPr txBox="1"/>
          <p:nvPr/>
        </p:nvSpPr>
        <p:spPr>
          <a:xfrm>
            <a:off x="691972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4" name="Text 21"/>
          <p:cNvSpPr txBox="1"/>
          <p:nvPr/>
        </p:nvSpPr>
        <p:spPr>
          <a:xfrm>
            <a:off x="6919722" y="192938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is paid</a:t>
            </a:r>
            <a:endParaRPr lang="en-US" sz="1200" dirty="0"/>
          </a:p>
        </p:txBody>
      </p:sp>
      <p:sp>
        <p:nvSpPr>
          <p:cNvPr id="25" name="Text 22"/>
          <p:cNvSpPr txBox="1"/>
          <p:nvPr/>
        </p:nvSpPr>
        <p:spPr>
          <a:xfrm>
            <a:off x="6919722" y="222199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Cleaner receives $40 or actual CP pay whichever is lower.</a:t>
            </a:r>
            <a:endParaRPr lang="en-US" sz="950" dirty="0"/>
          </a:p>
        </p:txBody>
      </p:sp>
      <p:sp>
        <p:nvSpPr>
          <p:cNvPr id="26" name="Shape 23"/>
          <p:cNvSpPr/>
          <p:nvPr/>
        </p:nvSpPr>
        <p:spPr>
          <a:xfrm>
            <a:off x="411480" y="3383280"/>
            <a:ext cx="8321040" cy="384048"/>
          </a:xfrm>
          <a:prstGeom prst="roundRect">
            <a:avLst>
              <a:gd name="adj" fmla="val 19048"/>
            </a:avLst>
          </a:prstGeom>
          <a:solidFill>
            <a:srgbClr val="FFF3D6"/>
          </a:solidFill>
          <a:ln w="9525">
            <a:solidFill>
              <a:srgbClr val="FFF3D6"/>
            </a:solidFill>
            <a:prstDash val="solid"/>
          </a:ln>
        </p:spPr>
      </p:sp>
      <p:pic>
        <p:nvPicPr>
          <p:cNvPr id="27" name="Image 0" descr="preencoded.png">    </p:cNvPr>
          <p:cNvPicPr>
            <a:picLocks noChangeAspect="1"/>
          </p:cNvPicPr>
          <p:nvPr/>
        </p:nvPicPr>
        <p:blipFill>
          <a:blip r:embed="rId1"/>
          <a:stretch>
            <a:fillRect/>
          </a:stretch>
        </p:blipFill>
        <p:spPr>
          <a:xfrm>
            <a:off x="566928" y="3493008"/>
            <a:ext cx="164592" cy="164592"/>
          </a:xfrm>
          <a:prstGeom prst="rect">
            <a:avLst/>
          </a:prstGeom>
        </p:spPr>
      </p:pic>
      <p:sp>
        <p:nvSpPr>
          <p:cNvPr id="28" name="Text 24"/>
          <p:cNvSpPr txBox="1"/>
          <p:nvPr/>
        </p:nvSpPr>
        <p:spPr>
          <a:xfrm>
            <a:off x="822960" y="34838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Validate first:  </a:t>
            </a:r>
            <a:pPr indent="0" marL="0">
              <a:buNone/>
            </a:pPr>
            <a:r>
              <a:rPr lang="en-US" sz="1000" dirty="0">
                <a:solidFill>
                  <a:srgbClr val="1D1D1F"/>
                </a:solidFill>
                <a:latin typeface="SF Pro Text" pitchFamily="34" charset="0"/>
                <a:ea typeface="SF Pro Text" pitchFamily="34" charset="-122"/>
                <a:cs typeface="SF Pro Text" pitchFamily="34" charset="-120"/>
              </a:rPr>
              <a:t>refunding an invalid lockout isn't generosity. It's fixing an error.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Step 1: validate the claim</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in order. Any "no" usually means the lockout is invalid.</a:t>
            </a:r>
            <a:endParaRPr lang="en-US" sz="1200" dirty="0"/>
          </a:p>
        </p:txBody>
      </p:sp>
      <p:sp>
        <p:nvSpPr>
          <p:cNvPr id="6" name="Shape 3"/>
          <p:cNvSpPr/>
          <p:nvPr/>
        </p:nvSpPr>
        <p:spPr>
          <a:xfrm>
            <a:off x="411480" y="1298448"/>
            <a:ext cx="3474720" cy="384048"/>
          </a:xfrm>
          <a:prstGeom prst="roundRect">
            <a:avLst>
              <a:gd name="adj" fmla="val 19048"/>
            </a:avLst>
          </a:prstGeom>
          <a:solidFill>
            <a:srgbClr val="FFF3D6"/>
          </a:solidFill>
          <a:ln w="12700">
            <a:solidFill>
              <a:srgbClr val="9A6410"/>
            </a:solidFill>
            <a:prstDash val="solid"/>
          </a:ln>
        </p:spPr>
      </p:sp>
      <p:sp>
        <p:nvSpPr>
          <p:cNvPr id="7" name="Text 4"/>
          <p:cNvSpPr txBox="1"/>
          <p:nvPr/>
        </p:nvSpPr>
        <p:spPr>
          <a:xfrm>
            <a:off x="502920" y="1298448"/>
            <a:ext cx="2560320" cy="38404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1  Did the customer want the appointment?</a:t>
            </a:r>
            <a:endParaRPr lang="en-US" sz="950" dirty="0"/>
          </a:p>
        </p:txBody>
      </p:sp>
      <p:sp>
        <p:nvSpPr>
          <p:cNvPr id="8" name="Text 5"/>
          <p:cNvSpPr/>
          <p:nvPr/>
        </p:nvSpPr>
        <p:spPr>
          <a:xfrm>
            <a:off x="3099816" y="1371600"/>
            <a:ext cx="713232" cy="237744"/>
          </a:xfrm>
          <a:prstGeom prst="roundRect">
            <a:avLst>
              <a:gd name="adj" fmla="val 23077"/>
            </a:avLst>
          </a:prstGeom>
          <a:solidFill>
            <a:srgbClr val="FFFFFF"/>
          </a:solidFill>
          <a:ln w="9525">
            <a:solidFill>
              <a:srgbClr val="9A6410"/>
            </a:solid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Details  ›</a:t>
            </a:r>
            <a:endParaRPr lang="en-US" sz="800" dirty="0"/>
          </a:p>
        </p:txBody>
      </p:sp>
      <p:sp>
        <p:nvSpPr>
          <p:cNvPr id="9" name="Shape 6"/>
          <p:cNvSpPr/>
          <p:nvPr/>
        </p:nvSpPr>
        <p:spPr>
          <a:xfrm>
            <a:off x="1600200" y="1682496"/>
            <a:ext cx="0" cy="128016"/>
          </a:xfrm>
          <a:prstGeom prst="line">
            <a:avLst/>
          </a:prstGeom>
          <a:noFill/>
          <a:ln w="12700">
            <a:solidFill>
              <a:srgbClr val="6E6E73"/>
            </a:solidFill>
            <a:prstDash val="solid"/>
            <a:tailEnd type="triangle"/>
          </a:ln>
        </p:spPr>
      </p:sp>
      <p:sp>
        <p:nvSpPr>
          <p:cNvPr id="10" name="Text 7"/>
          <p:cNvSpPr txBox="1"/>
          <p:nvPr/>
        </p:nvSpPr>
        <p:spPr>
          <a:xfrm>
            <a:off x="1655064" y="1682496"/>
            <a:ext cx="365760" cy="128016"/>
          </a:xfrm>
          <a:prstGeom prst="rect">
            <a:avLst/>
          </a:prstGeom>
          <a:noFill/>
          <a:ln/>
        </p:spPr>
        <p:txBody>
          <a:bodyPr wrap="square" lIns="0" tIns="0" rIns="0" bIns="0" rtlCol="0" anchor="ctr"/>
          <a:lstStyle/>
          <a:p>
            <a:pPr indent="0" marL="0">
              <a:buNone/>
            </a:pPr>
            <a:r>
              <a:rPr lang="en-US" sz="750" b="1" dirty="0">
                <a:solidFill>
                  <a:srgbClr val="6E6E73"/>
                </a:solidFill>
                <a:latin typeface="SF Pro Text" pitchFamily="34" charset="0"/>
                <a:ea typeface="SF Pro Text" pitchFamily="34" charset="-122"/>
                <a:cs typeface="SF Pro Text" pitchFamily="34" charset="-120"/>
              </a:rPr>
              <a:t>Yes</a:t>
            </a:r>
            <a:endParaRPr lang="en-US" sz="750" dirty="0"/>
          </a:p>
        </p:txBody>
      </p:sp>
      <p:sp>
        <p:nvSpPr>
          <p:cNvPr id="11" name="Shape 8"/>
          <p:cNvSpPr/>
          <p:nvPr/>
        </p:nvSpPr>
        <p:spPr>
          <a:xfrm>
            <a:off x="3886200" y="1490472"/>
            <a:ext cx="228600" cy="0"/>
          </a:xfrm>
          <a:prstGeom prst="line">
            <a:avLst/>
          </a:prstGeom>
          <a:noFill/>
          <a:ln w="12700">
            <a:solidFill>
              <a:srgbClr val="6E6E73"/>
            </a:solidFill>
            <a:prstDash val="solid"/>
          </a:ln>
        </p:spPr>
      </p:sp>
      <p:sp>
        <p:nvSpPr>
          <p:cNvPr id="12" name="Text 9"/>
          <p:cNvSpPr txBox="1"/>
          <p:nvPr/>
        </p:nvSpPr>
        <p:spPr>
          <a:xfrm>
            <a:off x="3922776" y="1325880"/>
            <a:ext cx="274320" cy="146304"/>
          </a:xfrm>
          <a:prstGeom prst="rect">
            <a:avLst/>
          </a:prstGeom>
          <a:noFill/>
          <a:ln/>
        </p:spPr>
        <p:txBody>
          <a:bodyPr wrap="square" lIns="0" tIns="0" rIns="0" bIns="0" rtlCol="0" anchor="t"/>
          <a:lstStyle/>
          <a:p>
            <a:pPr indent="0" marL="0">
              <a:buNone/>
            </a:pPr>
            <a:r>
              <a:rPr lang="en-US" sz="750" b="1" dirty="0">
                <a:solidFill>
                  <a:srgbClr val="6E6E73"/>
                </a:solidFill>
                <a:latin typeface="SF Pro Text" pitchFamily="34" charset="0"/>
                <a:ea typeface="SF Pro Text" pitchFamily="34" charset="-122"/>
                <a:cs typeface="SF Pro Text" pitchFamily="34" charset="-120"/>
              </a:rPr>
              <a:t>No</a:t>
            </a:r>
            <a:endParaRPr lang="en-US" sz="750" dirty="0"/>
          </a:p>
        </p:txBody>
      </p:sp>
      <p:sp>
        <p:nvSpPr>
          <p:cNvPr id="13" name="Shape 10"/>
          <p:cNvSpPr/>
          <p:nvPr/>
        </p:nvSpPr>
        <p:spPr>
          <a:xfrm>
            <a:off x="411480" y="1810512"/>
            <a:ext cx="3474720" cy="384048"/>
          </a:xfrm>
          <a:prstGeom prst="roundRect">
            <a:avLst>
              <a:gd name="adj" fmla="val 19048"/>
            </a:avLst>
          </a:prstGeom>
          <a:solidFill>
            <a:srgbClr val="FFF3D6"/>
          </a:solidFill>
          <a:ln w="12700">
            <a:solidFill>
              <a:srgbClr val="9A6410"/>
            </a:solidFill>
            <a:prstDash val="solid"/>
          </a:ln>
        </p:spPr>
      </p:sp>
      <p:sp>
        <p:nvSpPr>
          <p:cNvPr id="14" name="Text 11"/>
          <p:cNvSpPr txBox="1"/>
          <p:nvPr/>
        </p:nvSpPr>
        <p:spPr>
          <a:xfrm>
            <a:off x="502920" y="1810512"/>
            <a:ext cx="2560320" cy="38404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2  Did the CP arrive on time?</a:t>
            </a:r>
            <a:endParaRPr lang="en-US" sz="950" dirty="0"/>
          </a:p>
        </p:txBody>
      </p:sp>
      <p:sp>
        <p:nvSpPr>
          <p:cNvPr id="15" name="Text 12"/>
          <p:cNvSpPr/>
          <p:nvPr/>
        </p:nvSpPr>
        <p:spPr>
          <a:xfrm>
            <a:off x="3099816" y="1883664"/>
            <a:ext cx="713232" cy="237744"/>
          </a:xfrm>
          <a:prstGeom prst="roundRect">
            <a:avLst>
              <a:gd name="adj" fmla="val 23077"/>
            </a:avLst>
          </a:prstGeom>
          <a:solidFill>
            <a:srgbClr val="FFFFFF"/>
          </a:solidFill>
          <a:ln w="9525">
            <a:solidFill>
              <a:srgbClr val="9A6410"/>
            </a:solid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Details  ›</a:t>
            </a:r>
            <a:endParaRPr lang="en-US" sz="800" dirty="0"/>
          </a:p>
        </p:txBody>
      </p:sp>
      <p:sp>
        <p:nvSpPr>
          <p:cNvPr id="16" name="Shape 13"/>
          <p:cNvSpPr/>
          <p:nvPr/>
        </p:nvSpPr>
        <p:spPr>
          <a:xfrm>
            <a:off x="1600200" y="2194560"/>
            <a:ext cx="0" cy="128016"/>
          </a:xfrm>
          <a:prstGeom prst="line">
            <a:avLst/>
          </a:prstGeom>
          <a:noFill/>
          <a:ln w="12700">
            <a:solidFill>
              <a:srgbClr val="6E6E73"/>
            </a:solidFill>
            <a:prstDash val="solid"/>
            <a:tailEnd type="triangle"/>
          </a:ln>
        </p:spPr>
      </p:sp>
      <p:sp>
        <p:nvSpPr>
          <p:cNvPr id="17" name="Text 14"/>
          <p:cNvSpPr txBox="1"/>
          <p:nvPr/>
        </p:nvSpPr>
        <p:spPr>
          <a:xfrm>
            <a:off x="1655064" y="2194560"/>
            <a:ext cx="365760" cy="128016"/>
          </a:xfrm>
          <a:prstGeom prst="rect">
            <a:avLst/>
          </a:prstGeom>
          <a:noFill/>
          <a:ln/>
        </p:spPr>
        <p:txBody>
          <a:bodyPr wrap="square" lIns="0" tIns="0" rIns="0" bIns="0" rtlCol="0" anchor="ctr"/>
          <a:lstStyle/>
          <a:p>
            <a:pPr indent="0" marL="0">
              <a:buNone/>
            </a:pPr>
            <a:r>
              <a:rPr lang="en-US" sz="750" b="1" dirty="0">
                <a:solidFill>
                  <a:srgbClr val="6E6E73"/>
                </a:solidFill>
                <a:latin typeface="SF Pro Text" pitchFamily="34" charset="0"/>
                <a:ea typeface="SF Pro Text" pitchFamily="34" charset="-122"/>
                <a:cs typeface="SF Pro Text" pitchFamily="34" charset="-120"/>
              </a:rPr>
              <a:t>Yes</a:t>
            </a:r>
            <a:endParaRPr lang="en-US" sz="750" dirty="0"/>
          </a:p>
        </p:txBody>
      </p:sp>
      <p:sp>
        <p:nvSpPr>
          <p:cNvPr id="18" name="Shape 15"/>
          <p:cNvSpPr/>
          <p:nvPr/>
        </p:nvSpPr>
        <p:spPr>
          <a:xfrm>
            <a:off x="3886200" y="2002536"/>
            <a:ext cx="228600" cy="0"/>
          </a:xfrm>
          <a:prstGeom prst="line">
            <a:avLst/>
          </a:prstGeom>
          <a:noFill/>
          <a:ln w="12700">
            <a:solidFill>
              <a:srgbClr val="6E6E73"/>
            </a:solidFill>
            <a:prstDash val="solid"/>
          </a:ln>
        </p:spPr>
      </p:sp>
      <p:sp>
        <p:nvSpPr>
          <p:cNvPr id="19" name="Text 16"/>
          <p:cNvSpPr txBox="1"/>
          <p:nvPr/>
        </p:nvSpPr>
        <p:spPr>
          <a:xfrm>
            <a:off x="3922776" y="1837944"/>
            <a:ext cx="274320" cy="146304"/>
          </a:xfrm>
          <a:prstGeom prst="rect">
            <a:avLst/>
          </a:prstGeom>
          <a:noFill/>
          <a:ln/>
        </p:spPr>
        <p:txBody>
          <a:bodyPr wrap="square" lIns="0" tIns="0" rIns="0" bIns="0" rtlCol="0" anchor="t"/>
          <a:lstStyle/>
          <a:p>
            <a:pPr indent="0" marL="0">
              <a:buNone/>
            </a:pPr>
            <a:r>
              <a:rPr lang="en-US" sz="750" b="1" dirty="0">
                <a:solidFill>
                  <a:srgbClr val="6E6E73"/>
                </a:solidFill>
                <a:latin typeface="SF Pro Text" pitchFamily="34" charset="0"/>
                <a:ea typeface="SF Pro Text" pitchFamily="34" charset="-122"/>
                <a:cs typeface="SF Pro Text" pitchFamily="34" charset="-120"/>
              </a:rPr>
              <a:t>No</a:t>
            </a:r>
            <a:endParaRPr lang="en-US" sz="750" dirty="0"/>
          </a:p>
        </p:txBody>
      </p:sp>
      <p:sp>
        <p:nvSpPr>
          <p:cNvPr id="20" name="Shape 17"/>
          <p:cNvSpPr/>
          <p:nvPr/>
        </p:nvSpPr>
        <p:spPr>
          <a:xfrm>
            <a:off x="411480" y="2322576"/>
            <a:ext cx="3474720" cy="384048"/>
          </a:xfrm>
          <a:prstGeom prst="roundRect">
            <a:avLst>
              <a:gd name="adj" fmla="val 19048"/>
            </a:avLst>
          </a:prstGeom>
          <a:solidFill>
            <a:srgbClr val="FFF3D6"/>
          </a:solidFill>
          <a:ln w="12700">
            <a:solidFill>
              <a:srgbClr val="9A6410"/>
            </a:solidFill>
            <a:prstDash val="solid"/>
          </a:ln>
        </p:spPr>
      </p:sp>
      <p:sp>
        <p:nvSpPr>
          <p:cNvPr id="21" name="Text 18"/>
          <p:cNvSpPr txBox="1"/>
          <p:nvPr/>
        </p:nvSpPr>
        <p:spPr>
          <a:xfrm>
            <a:off x="502920" y="2322576"/>
            <a:ext cx="2560320" cy="38404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3  Did the CP arrive at the address?</a:t>
            </a:r>
            <a:endParaRPr lang="en-US" sz="950" dirty="0"/>
          </a:p>
        </p:txBody>
      </p:sp>
      <p:sp>
        <p:nvSpPr>
          <p:cNvPr id="22" name="Text 19"/>
          <p:cNvSpPr/>
          <p:nvPr/>
        </p:nvSpPr>
        <p:spPr>
          <a:xfrm>
            <a:off x="3099816" y="2395728"/>
            <a:ext cx="713232" cy="237744"/>
          </a:xfrm>
          <a:prstGeom prst="roundRect">
            <a:avLst>
              <a:gd name="adj" fmla="val 23077"/>
            </a:avLst>
          </a:prstGeom>
          <a:solidFill>
            <a:srgbClr val="FFFFFF"/>
          </a:solidFill>
          <a:ln w="9525">
            <a:solidFill>
              <a:srgbClr val="9A6410"/>
            </a:solid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Details  ›</a:t>
            </a:r>
            <a:endParaRPr lang="en-US" sz="800" dirty="0"/>
          </a:p>
        </p:txBody>
      </p:sp>
      <p:sp>
        <p:nvSpPr>
          <p:cNvPr id="23" name="Shape 20"/>
          <p:cNvSpPr/>
          <p:nvPr/>
        </p:nvSpPr>
        <p:spPr>
          <a:xfrm>
            <a:off x="1600200" y="2706624"/>
            <a:ext cx="0" cy="128016"/>
          </a:xfrm>
          <a:prstGeom prst="line">
            <a:avLst/>
          </a:prstGeom>
          <a:noFill/>
          <a:ln w="12700">
            <a:solidFill>
              <a:srgbClr val="6E6E73"/>
            </a:solidFill>
            <a:prstDash val="solid"/>
            <a:tailEnd type="triangle"/>
          </a:ln>
        </p:spPr>
      </p:sp>
      <p:sp>
        <p:nvSpPr>
          <p:cNvPr id="24" name="Text 21"/>
          <p:cNvSpPr txBox="1"/>
          <p:nvPr/>
        </p:nvSpPr>
        <p:spPr>
          <a:xfrm>
            <a:off x="1655064" y="2706624"/>
            <a:ext cx="365760" cy="128016"/>
          </a:xfrm>
          <a:prstGeom prst="rect">
            <a:avLst/>
          </a:prstGeom>
          <a:noFill/>
          <a:ln/>
        </p:spPr>
        <p:txBody>
          <a:bodyPr wrap="square" lIns="0" tIns="0" rIns="0" bIns="0" rtlCol="0" anchor="ctr"/>
          <a:lstStyle/>
          <a:p>
            <a:pPr indent="0" marL="0">
              <a:buNone/>
            </a:pPr>
            <a:r>
              <a:rPr lang="en-US" sz="750" b="1" dirty="0">
                <a:solidFill>
                  <a:srgbClr val="6E6E73"/>
                </a:solidFill>
                <a:latin typeface="SF Pro Text" pitchFamily="34" charset="0"/>
                <a:ea typeface="SF Pro Text" pitchFamily="34" charset="-122"/>
                <a:cs typeface="SF Pro Text" pitchFamily="34" charset="-120"/>
              </a:rPr>
              <a:t>Yes</a:t>
            </a:r>
            <a:endParaRPr lang="en-US" sz="750" dirty="0"/>
          </a:p>
        </p:txBody>
      </p:sp>
      <p:sp>
        <p:nvSpPr>
          <p:cNvPr id="25" name="Shape 22"/>
          <p:cNvSpPr/>
          <p:nvPr/>
        </p:nvSpPr>
        <p:spPr>
          <a:xfrm>
            <a:off x="3886200" y="2514600"/>
            <a:ext cx="228600" cy="0"/>
          </a:xfrm>
          <a:prstGeom prst="line">
            <a:avLst/>
          </a:prstGeom>
          <a:noFill/>
          <a:ln w="12700">
            <a:solidFill>
              <a:srgbClr val="6E6E73"/>
            </a:solidFill>
            <a:prstDash val="solid"/>
          </a:ln>
        </p:spPr>
      </p:sp>
      <p:sp>
        <p:nvSpPr>
          <p:cNvPr id="26" name="Text 23"/>
          <p:cNvSpPr txBox="1"/>
          <p:nvPr/>
        </p:nvSpPr>
        <p:spPr>
          <a:xfrm>
            <a:off x="3922776" y="2350008"/>
            <a:ext cx="274320" cy="146304"/>
          </a:xfrm>
          <a:prstGeom prst="rect">
            <a:avLst/>
          </a:prstGeom>
          <a:noFill/>
          <a:ln/>
        </p:spPr>
        <p:txBody>
          <a:bodyPr wrap="square" lIns="0" tIns="0" rIns="0" bIns="0" rtlCol="0" anchor="t"/>
          <a:lstStyle/>
          <a:p>
            <a:pPr indent="0" marL="0">
              <a:buNone/>
            </a:pPr>
            <a:r>
              <a:rPr lang="en-US" sz="750" b="1" dirty="0">
                <a:solidFill>
                  <a:srgbClr val="6E6E73"/>
                </a:solidFill>
                <a:latin typeface="SF Pro Text" pitchFamily="34" charset="0"/>
                <a:ea typeface="SF Pro Text" pitchFamily="34" charset="-122"/>
                <a:cs typeface="SF Pro Text" pitchFamily="34" charset="-120"/>
              </a:rPr>
              <a:t>No</a:t>
            </a:r>
            <a:endParaRPr lang="en-US" sz="750" dirty="0"/>
          </a:p>
        </p:txBody>
      </p:sp>
      <p:sp>
        <p:nvSpPr>
          <p:cNvPr id="27" name="Shape 24"/>
          <p:cNvSpPr/>
          <p:nvPr/>
        </p:nvSpPr>
        <p:spPr>
          <a:xfrm>
            <a:off x="411480" y="2834640"/>
            <a:ext cx="3474720" cy="384048"/>
          </a:xfrm>
          <a:prstGeom prst="roundRect">
            <a:avLst>
              <a:gd name="adj" fmla="val 19048"/>
            </a:avLst>
          </a:prstGeom>
          <a:solidFill>
            <a:srgbClr val="FFF3D6"/>
          </a:solidFill>
          <a:ln w="12700">
            <a:solidFill>
              <a:srgbClr val="9A6410"/>
            </a:solidFill>
            <a:prstDash val="solid"/>
          </a:ln>
        </p:spPr>
      </p:sp>
      <p:sp>
        <p:nvSpPr>
          <p:cNvPr id="28" name="Text 25"/>
          <p:cNvSpPr txBox="1"/>
          <p:nvPr/>
        </p:nvSpPr>
        <p:spPr>
          <a:xfrm>
            <a:off x="502920" y="2834640"/>
            <a:ext cx="2560320" cy="38404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4  Did the CP try to complete it?</a:t>
            </a:r>
            <a:endParaRPr lang="en-US" sz="950" dirty="0"/>
          </a:p>
        </p:txBody>
      </p:sp>
      <p:sp>
        <p:nvSpPr>
          <p:cNvPr id="29" name="Text 26"/>
          <p:cNvSpPr/>
          <p:nvPr/>
        </p:nvSpPr>
        <p:spPr>
          <a:xfrm>
            <a:off x="3099816" y="2907792"/>
            <a:ext cx="713232" cy="237744"/>
          </a:xfrm>
          <a:prstGeom prst="roundRect">
            <a:avLst>
              <a:gd name="adj" fmla="val 23077"/>
            </a:avLst>
          </a:prstGeom>
          <a:solidFill>
            <a:srgbClr val="FFFFFF"/>
          </a:solidFill>
          <a:ln w="9525">
            <a:solidFill>
              <a:srgbClr val="9A6410"/>
            </a:solid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Details  ›</a:t>
            </a:r>
            <a:endParaRPr lang="en-US" sz="800" dirty="0"/>
          </a:p>
        </p:txBody>
      </p:sp>
      <p:sp>
        <p:nvSpPr>
          <p:cNvPr id="30" name="Shape 27"/>
          <p:cNvSpPr/>
          <p:nvPr/>
        </p:nvSpPr>
        <p:spPr>
          <a:xfrm>
            <a:off x="3886200" y="3026664"/>
            <a:ext cx="228600" cy="0"/>
          </a:xfrm>
          <a:prstGeom prst="line">
            <a:avLst/>
          </a:prstGeom>
          <a:noFill/>
          <a:ln w="12700">
            <a:solidFill>
              <a:srgbClr val="6E6E73"/>
            </a:solidFill>
            <a:prstDash val="solid"/>
          </a:ln>
        </p:spPr>
      </p:sp>
      <p:sp>
        <p:nvSpPr>
          <p:cNvPr id="31" name="Text 28"/>
          <p:cNvSpPr txBox="1"/>
          <p:nvPr/>
        </p:nvSpPr>
        <p:spPr>
          <a:xfrm>
            <a:off x="3922776" y="2862072"/>
            <a:ext cx="274320" cy="146304"/>
          </a:xfrm>
          <a:prstGeom prst="rect">
            <a:avLst/>
          </a:prstGeom>
          <a:noFill/>
          <a:ln/>
        </p:spPr>
        <p:txBody>
          <a:bodyPr wrap="square" lIns="0" tIns="0" rIns="0" bIns="0" rtlCol="0" anchor="t"/>
          <a:lstStyle/>
          <a:p>
            <a:pPr indent="0" marL="0">
              <a:buNone/>
            </a:pPr>
            <a:r>
              <a:rPr lang="en-US" sz="750" b="1" dirty="0">
                <a:solidFill>
                  <a:srgbClr val="6E6E73"/>
                </a:solidFill>
                <a:latin typeface="SF Pro Text" pitchFamily="34" charset="0"/>
                <a:ea typeface="SF Pro Text" pitchFamily="34" charset="-122"/>
                <a:cs typeface="SF Pro Text" pitchFamily="34" charset="-120"/>
              </a:rPr>
              <a:t>No</a:t>
            </a:r>
            <a:endParaRPr lang="en-US" sz="750" dirty="0"/>
          </a:p>
        </p:txBody>
      </p:sp>
      <p:sp>
        <p:nvSpPr>
          <p:cNvPr id="32" name="Shape 29"/>
          <p:cNvSpPr/>
          <p:nvPr/>
        </p:nvSpPr>
        <p:spPr>
          <a:xfrm>
            <a:off x="4114800" y="1490472"/>
            <a:ext cx="0" cy="1536192"/>
          </a:xfrm>
          <a:prstGeom prst="line">
            <a:avLst/>
          </a:prstGeom>
          <a:noFill/>
          <a:ln w="12700">
            <a:solidFill>
              <a:srgbClr val="6E6E73"/>
            </a:solidFill>
            <a:prstDash val="solid"/>
          </a:ln>
        </p:spPr>
      </p:sp>
      <p:sp>
        <p:nvSpPr>
          <p:cNvPr id="33" name="Shape 30"/>
          <p:cNvSpPr/>
          <p:nvPr/>
        </p:nvSpPr>
        <p:spPr>
          <a:xfrm>
            <a:off x="4114800" y="2276856"/>
            <a:ext cx="164592" cy="0"/>
          </a:xfrm>
          <a:prstGeom prst="line">
            <a:avLst/>
          </a:prstGeom>
          <a:noFill/>
          <a:ln w="12700">
            <a:solidFill>
              <a:srgbClr val="6E6E73"/>
            </a:solidFill>
            <a:prstDash val="solid"/>
            <a:tailEnd type="triangle"/>
          </a:ln>
        </p:spPr>
      </p:sp>
      <p:sp>
        <p:nvSpPr>
          <p:cNvPr id="34" name="Shape 31"/>
          <p:cNvSpPr/>
          <p:nvPr/>
        </p:nvSpPr>
        <p:spPr>
          <a:xfrm>
            <a:off x="4279392" y="1975104"/>
            <a:ext cx="1463040" cy="457200"/>
          </a:xfrm>
          <a:prstGeom prst="roundRect">
            <a:avLst>
              <a:gd name="adj" fmla="val 16000"/>
            </a:avLst>
          </a:prstGeom>
          <a:solidFill>
            <a:srgbClr val="1D1D1F"/>
          </a:solidFill>
          <a:ln w="12700">
            <a:solidFill>
              <a:srgbClr val="1D1D1F"/>
            </a:solidFill>
            <a:prstDash val="solid"/>
          </a:ln>
        </p:spPr>
      </p:sp>
      <p:sp>
        <p:nvSpPr>
          <p:cNvPr id="35" name="Text 32"/>
          <p:cNvSpPr txBox="1"/>
          <p:nvPr/>
        </p:nvSpPr>
        <p:spPr>
          <a:xfrm>
            <a:off x="4279392" y="1975104"/>
            <a:ext cx="14630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Invalid: refund via</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CP Dashboard</a:t>
            </a:r>
            <a:endParaRPr lang="en-US" sz="1000" dirty="0"/>
          </a:p>
        </p:txBody>
      </p:sp>
      <p:sp>
        <p:nvSpPr>
          <p:cNvPr id="36" name="Shape 33"/>
          <p:cNvSpPr/>
          <p:nvPr/>
        </p:nvSpPr>
        <p:spPr>
          <a:xfrm>
            <a:off x="411480" y="4224528"/>
            <a:ext cx="8321040" cy="292608"/>
          </a:xfrm>
          <a:prstGeom prst="roundRect">
            <a:avLst>
              <a:gd name="adj" fmla="val 25000"/>
            </a:avLst>
          </a:prstGeom>
          <a:solidFill>
            <a:srgbClr val="FFF3D6"/>
          </a:solidFill>
          <a:ln w="9525">
            <a:solidFill>
              <a:srgbClr val="9A6410"/>
            </a:solidFill>
            <a:prstDash val="solid"/>
          </a:ln>
        </p:spPr>
      </p:sp>
      <p:pic>
        <p:nvPicPr>
          <p:cNvPr id="37" name="Image 0" descr="preencoded.png">    </p:cNvPr>
          <p:cNvPicPr>
            <a:picLocks noChangeAspect="1"/>
          </p:cNvPicPr>
          <p:nvPr/>
        </p:nvPicPr>
        <p:blipFill>
          <a:blip r:embed="rId1"/>
          <a:stretch>
            <a:fillRect/>
          </a:stretch>
        </p:blipFill>
        <p:spPr>
          <a:xfrm>
            <a:off x="521208" y="4297680"/>
            <a:ext cx="146304" cy="146304"/>
          </a:xfrm>
          <a:prstGeom prst="rect">
            <a:avLst/>
          </a:prstGeom>
        </p:spPr>
      </p:pic>
      <p:sp>
        <p:nvSpPr>
          <p:cNvPr id="38" name="Text 34"/>
          <p:cNvSpPr txBox="1"/>
          <p:nvPr/>
        </p:nvSpPr>
        <p:spPr>
          <a:xfrm>
            <a:off x="731520" y="4224528"/>
            <a:ext cx="795528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Important:  </a:t>
            </a:r>
            <a:pPr indent="0" marL="0">
              <a:buNone/>
            </a:pPr>
            <a:r>
              <a:rPr lang="en-US" sz="950" b="1" dirty="0">
                <a:solidFill>
                  <a:srgbClr val="1D1D1F"/>
                </a:solidFill>
                <a:latin typeface="SF Pro Display" pitchFamily="34" charset="0"/>
                <a:ea typeface="SF Pro Display" pitchFamily="34" charset="-122"/>
                <a:cs typeface="SF Pro Display" pitchFamily="34" charset="-120"/>
              </a:rPr>
              <a:t>Premium fee charged? → Always refund</a:t>
            </a:r>
            <a:endParaRPr lang="en-US" sz="950" dirty="0"/>
          </a:p>
        </p:txBody>
      </p:sp>
      <p:sp>
        <p:nvSpPr>
          <p:cNvPr id="39" name="Shape 35"/>
          <p:cNvSpPr/>
          <p:nvPr/>
        </p:nvSpPr>
        <p:spPr>
          <a:xfrm>
            <a:off x="1600200" y="3218688"/>
            <a:ext cx="0" cy="128016"/>
          </a:xfrm>
          <a:prstGeom prst="line">
            <a:avLst/>
          </a:prstGeom>
          <a:noFill/>
          <a:ln w="12700">
            <a:solidFill>
              <a:srgbClr val="6E6E73"/>
            </a:solidFill>
            <a:prstDash val="solid"/>
            <a:tailEnd type="triangle"/>
          </a:ln>
        </p:spPr>
      </p:sp>
      <p:sp>
        <p:nvSpPr>
          <p:cNvPr id="40" name="Text 36"/>
          <p:cNvSpPr txBox="1"/>
          <p:nvPr/>
        </p:nvSpPr>
        <p:spPr>
          <a:xfrm>
            <a:off x="1655064" y="3218688"/>
            <a:ext cx="365760" cy="128016"/>
          </a:xfrm>
          <a:prstGeom prst="rect">
            <a:avLst/>
          </a:prstGeom>
          <a:noFill/>
          <a:ln/>
        </p:spPr>
        <p:txBody>
          <a:bodyPr wrap="square" lIns="0" tIns="0" rIns="0" bIns="0" rtlCol="0" anchor="ctr"/>
          <a:lstStyle/>
          <a:p>
            <a:pPr indent="0" marL="0">
              <a:buNone/>
            </a:pPr>
            <a:r>
              <a:rPr lang="en-US" sz="750" b="1" dirty="0">
                <a:solidFill>
                  <a:srgbClr val="6E6E73"/>
                </a:solidFill>
                <a:latin typeface="SF Pro Text" pitchFamily="34" charset="0"/>
                <a:ea typeface="SF Pro Text" pitchFamily="34" charset="-122"/>
                <a:cs typeface="SF Pro Text" pitchFamily="34" charset="-120"/>
              </a:rPr>
              <a:t>Yes</a:t>
            </a:r>
            <a:endParaRPr lang="en-US" sz="750" dirty="0"/>
          </a:p>
        </p:txBody>
      </p:sp>
      <p:sp>
        <p:nvSpPr>
          <p:cNvPr id="41" name="Shape 37">
            <a:hlinkClick r:id="rId2" tooltip="Go to Step 3: valid lockout, check the customer category" action="ppaction://hlinksldjump"/>
          </p:cNvPr>
          <p:cNvSpPr/>
          <p:nvPr/>
        </p:nvSpPr>
        <p:spPr>
          <a:xfrm>
            <a:off x="411480" y="3346704"/>
            <a:ext cx="3474720" cy="384048"/>
          </a:xfrm>
          <a:prstGeom prst="roundRect">
            <a:avLst>
              <a:gd name="adj" fmla="val 19048"/>
            </a:avLst>
          </a:prstGeom>
          <a:solidFill>
            <a:srgbClr val="0B7A6F"/>
          </a:solidFill>
          <a:ln w="12700">
            <a:solidFill>
              <a:srgbClr val="0B7A6F"/>
            </a:solidFill>
            <a:prstDash val="solid"/>
          </a:ln>
        </p:spPr>
      </p:sp>
      <p:sp>
        <p:nvSpPr>
          <p:cNvPr id="42" name="Text 38">
            <a:hlinkClick r:id="rId3" tooltip="Go to Step 3: valid lockout, check the customer category" action="ppaction://hlinksldjump"/>
          </p:cNvPr>
          <p:cNvSpPr/>
          <p:nvPr/>
        </p:nvSpPr>
        <p:spPr>
          <a:xfrm>
            <a:off x="411480" y="3346704"/>
            <a:ext cx="3474720" cy="384048"/>
          </a:xfrm>
          <a:prstGeom prst="rect">
            <a:avLst/>
          </a:prstGeom>
          <a:noFill/>
          <a:ln/>
        </p:spPr>
        <p:txBody>
          <a:bodyPr wrap="square" lIns="0" tIns="0" rIns="0" bIns="0" rtlCol="0" anchor="ctr"/>
          <a:lstStyle/>
          <a:p>
            <a:pPr algn="ctr" indent="0" marL="0">
              <a:buNone/>
            </a:pPr>
            <a:r>
              <a:rPr lang="en-US" sz="1000" b="1" u="none" dirty="0">
                <a:solidFill>
                  <a:srgbClr val="FFFFFF"/>
                </a:solidFill>
                <a:latin typeface="SF Pro Display" pitchFamily="34" charset="0"/>
                <a:ea typeface="SF Pro Display" pitchFamily="34" charset="-122"/>
                <a:cs typeface="SF Pro Display" pitchFamily="34" charset="-120"/>
              </a:rPr>
              <a:t>All yes: valid. Check the customer category  ›</a:t>
            </a:r>
            <a:endParaRPr lang="en-US" sz="1000" dirty="0"/>
          </a:p>
        </p:txBody>
      </p:sp>
      <p:sp>
        <p:nvSpPr>
          <p:cNvPr id="43" name="Shape 39"/>
          <p:cNvSpPr/>
          <p:nvPr/>
        </p:nvSpPr>
        <p:spPr>
          <a:xfrm>
            <a:off x="5852160" y="1298448"/>
            <a:ext cx="2880360" cy="2432304"/>
          </a:xfrm>
          <a:prstGeom prst="roundRect">
            <a:avLst>
              <a:gd name="adj" fmla="val 2256"/>
            </a:avLst>
          </a:prstGeom>
          <a:solidFill>
            <a:srgbClr val="FFFFFF"/>
          </a:solidFill>
          <a:ln w="19050">
            <a:solidFill>
              <a:srgbClr val="0B7A6F"/>
            </a:solidFill>
            <a:prstDash val="solid"/>
          </a:ln>
        </p:spPr>
      </p:sp>
      <p:pic>
        <p:nvPicPr>
          <p:cNvPr id="44" name="Image 1" descr="preencoded.png">    </p:cNvPr>
          <p:cNvPicPr>
            <a:picLocks noChangeAspect="1"/>
          </p:cNvPicPr>
          <p:nvPr/>
        </p:nvPicPr>
        <p:blipFill>
          <a:blip r:embed="rId4"/>
          <a:stretch>
            <a:fillRect/>
          </a:stretch>
        </p:blipFill>
        <p:spPr>
          <a:xfrm>
            <a:off x="6035040" y="1499616"/>
            <a:ext cx="182880" cy="182880"/>
          </a:xfrm>
          <a:prstGeom prst="rect">
            <a:avLst/>
          </a:prstGeom>
        </p:spPr>
      </p:pic>
      <p:sp>
        <p:nvSpPr>
          <p:cNvPr id="45" name="Text 40"/>
          <p:cNvSpPr txBox="1"/>
          <p:nvPr/>
        </p:nvSpPr>
        <p:spPr>
          <a:xfrm>
            <a:off x="6291072" y="1435608"/>
            <a:ext cx="2331720" cy="310896"/>
          </a:xfrm>
          <a:prstGeom prst="rect">
            <a:avLst/>
          </a:prstGeom>
          <a:noFill/>
          <a:ln/>
        </p:spPr>
        <p:txBody>
          <a:bodyPr wrap="square" lIns="0" tIns="0" rIns="0" bIns="0" rtlCol="0" anchor="ctr"/>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Always:</a:t>
            </a:r>
            <a:endParaRPr lang="en-US" sz="1200" dirty="0"/>
          </a:p>
        </p:txBody>
      </p:sp>
      <p:sp>
        <p:nvSpPr>
          <p:cNvPr id="46" name="Text 41"/>
          <p:cNvSpPr txBox="1"/>
          <p:nvPr/>
        </p:nvSpPr>
        <p:spPr>
          <a:xfrm>
            <a:off x="6035040" y="1828800"/>
            <a:ext cx="2514600" cy="457200"/>
          </a:xfrm>
          <a:prstGeom prst="rect">
            <a:avLst/>
          </a:prstGeom>
          <a:noFill/>
          <a:ln/>
        </p:spPr>
        <p:txBody>
          <a:bodyPr wrap="square" lIns="0" tIns="0" rIns="0" bIns="0" rtlCol="0" anchor="t"/>
          <a:lstStyle/>
          <a:p>
            <a:pPr indent="0" marL="0">
              <a:buNone/>
            </a:pPr>
            <a:r>
              <a:rPr lang="en-US" sz="1100" b="1" dirty="0">
                <a:solidFill>
                  <a:srgbClr val="1D1D1F"/>
                </a:solidFill>
                <a:latin typeface="SF Pro Display" pitchFamily="34" charset="0"/>
                <a:ea typeface="SF Pro Display" pitchFamily="34" charset="-122"/>
                <a:cs typeface="SF Pro Display" pitchFamily="34" charset="-120"/>
              </a:rPr>
              <a:t>Leave an internal note with your findings.</a:t>
            </a:r>
            <a:endParaRPr lang="en-US" sz="1100" dirty="0"/>
          </a:p>
        </p:txBody>
      </p:sp>
      <p:sp>
        <p:nvSpPr>
          <p:cNvPr id="47" name="Shape 42"/>
          <p:cNvSpPr/>
          <p:nvPr/>
        </p:nvSpPr>
        <p:spPr>
          <a:xfrm>
            <a:off x="6035040" y="2395728"/>
            <a:ext cx="2514600" cy="868680"/>
          </a:xfrm>
          <a:prstGeom prst="roundRect">
            <a:avLst>
              <a:gd name="adj" fmla="val 8421"/>
            </a:avLst>
          </a:prstGeom>
          <a:solidFill>
            <a:srgbClr val="E3F4F1"/>
          </a:solidFill>
          <a:ln w="9525">
            <a:solidFill>
              <a:srgbClr val="E3F4F1"/>
            </a:solidFill>
            <a:prstDash val="solid"/>
          </a:ln>
        </p:spPr>
      </p:sp>
      <p:sp>
        <p:nvSpPr>
          <p:cNvPr id="48" name="Text 43"/>
          <p:cNvSpPr txBox="1"/>
          <p:nvPr/>
        </p:nvSpPr>
        <p:spPr>
          <a:xfrm>
            <a:off x="6172200" y="2468880"/>
            <a:ext cx="2240280" cy="731520"/>
          </a:xfrm>
          <a:prstGeom prst="rect">
            <a:avLst/>
          </a:prstGeom>
          <a:noFill/>
          <a:ln/>
        </p:spPr>
        <p:txBody>
          <a:bodyPr wrap="square" lIns="0" tIns="0" rIns="0" bIns="0" rtlCol="0" anchor="ctr"/>
          <a:lstStyle/>
          <a:p>
            <a:pPr indent="0" marL="0">
              <a:spcAft>
                <a:spcPts val="300"/>
              </a:spcAft>
              <a:buNone/>
            </a:pPr>
            <a:r>
              <a:rPr lang="en-US" sz="950" b="1" dirty="0">
                <a:solidFill>
                  <a:srgbClr val="1D1D1F"/>
                </a:solidFill>
                <a:latin typeface="SF Pro Text" pitchFamily="34" charset="0"/>
                <a:ea typeface="SF Pro Text" pitchFamily="34" charset="-122"/>
                <a:cs typeface="SF Pro Text" pitchFamily="34" charset="-120"/>
              </a:rPr>
              <a:t>Job ID 45371</a:t>
            </a:r>
            <a:endParaRPr lang="en-US" sz="950" dirty="0"/>
          </a:p>
          <a:p>
            <a:pPr indent="0" marL="0">
              <a:spcAft>
                <a:spcPts val="300"/>
              </a:spcAft>
              <a:buNone/>
            </a:pPr>
            <a:r>
              <a:rPr lang="en-US" sz="950" b="1" dirty="0">
                <a:solidFill>
                  <a:srgbClr val="1D1D1F"/>
                </a:solidFill>
                <a:latin typeface="SF Pro Text" pitchFamily="34" charset="0"/>
                <a:ea typeface="SF Pro Text" pitchFamily="34" charset="-122"/>
                <a:cs typeface="SF Pro Text" pitchFamily="34" charset="-120"/>
              </a:rPr>
              <a:t>Invalid Lockout</a:t>
            </a:r>
            <a:endParaRPr lang="en-US" sz="950" dirty="0"/>
          </a:p>
          <a:p>
            <a:pPr indent="0" marL="0">
              <a:spcAft>
                <a:spcPts val="300"/>
              </a:spcAft>
              <a:buNone/>
            </a:pPr>
            <a:r>
              <a:rPr lang="en-US" sz="950" b="1" dirty="0">
                <a:solidFill>
                  <a:srgbClr val="1D1D1F"/>
                </a:solidFill>
                <a:latin typeface="SF Pro Text" pitchFamily="34" charset="0"/>
                <a:ea typeface="SF Pro Text" pitchFamily="34" charset="-122"/>
                <a:cs typeface="SF Pro Text" pitchFamily="34" charset="-120"/>
              </a:rPr>
              <a:t>Job start 10AM, CP arrived 11AM (more than 30 mins late)</a:t>
            </a:r>
            <a:endParaRPr lang="en-US" sz="950" dirty="0"/>
          </a:p>
        </p:txBody>
      </p:sp>
      <p:sp>
        <p:nvSpPr>
          <p:cNvPr id="49" name="pop1_2Panel"/>
          <p:cNvSpPr/>
          <p:nvPr/>
        </p:nvSpPr>
        <p:spPr>
          <a:xfrm>
            <a:off x="5852160" y="1298448"/>
            <a:ext cx="2880360" cy="2432304"/>
          </a:xfrm>
          <a:prstGeom prst="roundRect">
            <a:avLst>
              <a:gd name="adj" fmla="val 2256"/>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50" name="pop1_2Num"/>
          <p:cNvSpPr/>
          <p:nvPr/>
        </p:nvSpPr>
        <p:spPr>
          <a:xfrm>
            <a:off x="6016752" y="1453896"/>
            <a:ext cx="256032" cy="256032"/>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51" name="pop1_2Title"/>
          <p:cNvSpPr txBox="1"/>
          <p:nvPr/>
        </p:nvSpPr>
        <p:spPr>
          <a:xfrm>
            <a:off x="6355080" y="1435608"/>
            <a:ext cx="2240280" cy="292608"/>
          </a:xfrm>
          <a:prstGeom prst="rect">
            <a:avLst/>
          </a:prstGeom>
          <a:noFill/>
          <a:ln/>
        </p:spPr>
        <p:txBody>
          <a:bodyPr wrap="square" lIns="0" tIns="0" rIns="0" bIns="0" rtlCol="0" anchor="ctr"/>
          <a:lstStyle/>
          <a:p>
            <a:pPr indent="0" marL="0">
              <a:buNone/>
            </a:pPr>
            <a:r>
              <a:rPr lang="en-US" sz="1150" b="1" dirty="0">
                <a:solidFill>
                  <a:srgbClr val="0B7A6F"/>
                </a:solidFill>
                <a:latin typeface="SF Pro Display" pitchFamily="34" charset="0"/>
                <a:ea typeface="SF Pro Display" pitchFamily="34" charset="-122"/>
                <a:cs typeface="SF Pro Display" pitchFamily="34" charset="-120"/>
              </a:rPr>
              <a:t>Wanted the appointment</a:t>
            </a:r>
            <a:endParaRPr lang="en-US" sz="1150" dirty="0"/>
          </a:p>
        </p:txBody>
      </p:sp>
      <p:sp>
        <p:nvSpPr>
          <p:cNvPr id="52" name="pop1_2Body"/>
          <p:cNvSpPr txBox="1"/>
          <p:nvPr/>
        </p:nvSpPr>
        <p:spPr>
          <a:xfrm>
            <a:off x="6016752" y="1828800"/>
            <a:ext cx="2551176" cy="1792224"/>
          </a:xfrm>
          <a:prstGeom prst="rect">
            <a:avLst/>
          </a:prstGeom>
          <a:noFill/>
          <a:ln/>
        </p:spPr>
        <p:txBody>
          <a:bodyPr wrap="square" lIns="0" tIns="0" rIns="0" bIns="0" rtlCol="0" anchor="t"/>
          <a:lstStyle/>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Check the customer's messages to the CP.</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Asked to cancel or reschedule more than 6 hrs before start? Invalid: the CP shouldn't have gone.</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Within 6 hrs and the CP acknowledged it wouldn't happen? Still invalid.</a:t>
            </a:r>
            <a:endParaRPr lang="en-US" sz="900" dirty="0"/>
          </a:p>
        </p:txBody>
      </p:sp>
      <p:sp>
        <p:nvSpPr>
          <p:cNvPr id="53" name="pop2_3Panel"/>
          <p:cNvSpPr/>
          <p:nvPr/>
        </p:nvSpPr>
        <p:spPr>
          <a:xfrm>
            <a:off x="5852160" y="1298448"/>
            <a:ext cx="2880360" cy="2432304"/>
          </a:xfrm>
          <a:prstGeom prst="roundRect">
            <a:avLst>
              <a:gd name="adj" fmla="val 2256"/>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54" name="pop2_3Num"/>
          <p:cNvSpPr/>
          <p:nvPr/>
        </p:nvSpPr>
        <p:spPr>
          <a:xfrm>
            <a:off x="6016752" y="1453896"/>
            <a:ext cx="256032" cy="256032"/>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55" name="pop2_3Title"/>
          <p:cNvSpPr txBox="1"/>
          <p:nvPr/>
        </p:nvSpPr>
        <p:spPr>
          <a:xfrm>
            <a:off x="6355080" y="1435608"/>
            <a:ext cx="2240280" cy="292608"/>
          </a:xfrm>
          <a:prstGeom prst="rect">
            <a:avLst/>
          </a:prstGeom>
          <a:noFill/>
          <a:ln/>
        </p:spPr>
        <p:txBody>
          <a:bodyPr wrap="square" lIns="0" tIns="0" rIns="0" bIns="0" rtlCol="0" anchor="ctr"/>
          <a:lstStyle/>
          <a:p>
            <a:pPr indent="0" marL="0">
              <a:buNone/>
            </a:pPr>
            <a:r>
              <a:rPr lang="en-US" sz="1150" b="1" dirty="0">
                <a:solidFill>
                  <a:srgbClr val="0B7A6F"/>
                </a:solidFill>
                <a:latin typeface="SF Pro Display" pitchFamily="34" charset="0"/>
                <a:ea typeface="SF Pro Display" pitchFamily="34" charset="-122"/>
                <a:cs typeface="SF Pro Display" pitchFamily="34" charset="-120"/>
              </a:rPr>
              <a:t>Arrived on time</a:t>
            </a:r>
            <a:endParaRPr lang="en-US" sz="1150" dirty="0"/>
          </a:p>
        </p:txBody>
      </p:sp>
      <p:sp>
        <p:nvSpPr>
          <p:cNvPr id="56" name="pop2_3Body"/>
          <p:cNvSpPr txBox="1"/>
          <p:nvPr/>
        </p:nvSpPr>
        <p:spPr>
          <a:xfrm>
            <a:off x="6016752" y="1828800"/>
            <a:ext cx="2551176" cy="1792224"/>
          </a:xfrm>
          <a:prstGeom prst="rect">
            <a:avLst/>
          </a:prstGeom>
          <a:noFill/>
          <a:ln/>
        </p:spPr>
        <p:txBody>
          <a:bodyPr wrap="square" lIns="0" tIns="0" rIns="0" bIns="0" rtlCol="0" anchor="t"/>
          <a:lstStyle/>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CPs may arrive 30 min before to 30 min after the start time.</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Check call/text timestamps, CP-to-Care comms, check-in messages, GPS screenshots, CP App "approaching" notifications.</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More than 30 min late? Invalid, unless the customer had already decided not to have the appointment.</a:t>
            </a:r>
            <a:endParaRPr lang="en-US" sz="900" dirty="0"/>
          </a:p>
        </p:txBody>
      </p:sp>
      <p:sp>
        <p:nvSpPr>
          <p:cNvPr id="57" name="pop3_4Panel"/>
          <p:cNvSpPr/>
          <p:nvPr/>
        </p:nvSpPr>
        <p:spPr>
          <a:xfrm>
            <a:off x="5852160" y="1298448"/>
            <a:ext cx="2880360" cy="2432304"/>
          </a:xfrm>
          <a:prstGeom prst="roundRect">
            <a:avLst>
              <a:gd name="adj" fmla="val 2256"/>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58" name="pop3_4Num"/>
          <p:cNvSpPr/>
          <p:nvPr/>
        </p:nvSpPr>
        <p:spPr>
          <a:xfrm>
            <a:off x="6016752" y="1453896"/>
            <a:ext cx="256032" cy="256032"/>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59" name="pop3_4Title"/>
          <p:cNvSpPr txBox="1"/>
          <p:nvPr/>
        </p:nvSpPr>
        <p:spPr>
          <a:xfrm>
            <a:off x="6355080" y="1435608"/>
            <a:ext cx="2240280" cy="292608"/>
          </a:xfrm>
          <a:prstGeom prst="rect">
            <a:avLst/>
          </a:prstGeom>
          <a:noFill/>
          <a:ln/>
        </p:spPr>
        <p:txBody>
          <a:bodyPr wrap="square" lIns="0" tIns="0" rIns="0" bIns="0" rtlCol="0" anchor="ctr"/>
          <a:lstStyle/>
          <a:p>
            <a:pPr indent="0" marL="0">
              <a:buNone/>
            </a:pPr>
            <a:r>
              <a:rPr lang="en-US" sz="1150" b="1" dirty="0">
                <a:solidFill>
                  <a:srgbClr val="0B7A6F"/>
                </a:solidFill>
                <a:latin typeface="SF Pro Display" pitchFamily="34" charset="0"/>
                <a:ea typeface="SF Pro Display" pitchFamily="34" charset="-122"/>
                <a:cs typeface="SF Pro Display" pitchFamily="34" charset="-120"/>
              </a:rPr>
              <a:t>At the address</a:t>
            </a:r>
            <a:endParaRPr lang="en-US" sz="1150" dirty="0"/>
          </a:p>
        </p:txBody>
      </p:sp>
      <p:sp>
        <p:nvSpPr>
          <p:cNvPr id="60" name="pop3_4Body"/>
          <p:cNvSpPr txBox="1"/>
          <p:nvPr/>
        </p:nvSpPr>
        <p:spPr>
          <a:xfrm>
            <a:off x="6016752" y="1828800"/>
            <a:ext cx="2551176" cy="1792224"/>
          </a:xfrm>
          <a:prstGeom prst="rect">
            <a:avLst/>
          </a:prstGeom>
          <a:noFill/>
          <a:ln/>
        </p:spPr>
        <p:txBody>
          <a:bodyPr wrap="square" lIns="0" tIns="0" rIns="0" bIns="0" rtlCol="0" anchor="t"/>
          <a:lstStyle/>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CP messages confirming arrival, CTJ logs, pre-evidence photos, or a selfie at the home.</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A house photo without the CP in it: check it isn't reused. A photo is only required for CP Dashboard submissions.</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Faked evidence? Stop: AG – Fraud › CP Document Fraud.</a:t>
            </a:r>
            <a:endParaRPr lang="en-US" sz="900" dirty="0"/>
          </a:p>
        </p:txBody>
      </p:sp>
      <p:sp>
        <p:nvSpPr>
          <p:cNvPr id="61" name="pop4_5Panel"/>
          <p:cNvSpPr/>
          <p:nvPr/>
        </p:nvSpPr>
        <p:spPr>
          <a:xfrm>
            <a:off x="5852160" y="1298448"/>
            <a:ext cx="2880360" cy="2432304"/>
          </a:xfrm>
          <a:prstGeom prst="roundRect">
            <a:avLst>
              <a:gd name="adj" fmla="val 2256"/>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62" name="pop4_5Num"/>
          <p:cNvSpPr/>
          <p:nvPr/>
        </p:nvSpPr>
        <p:spPr>
          <a:xfrm>
            <a:off x="6016752" y="1453896"/>
            <a:ext cx="256032" cy="256032"/>
          </a:xfrm>
          <a:prstGeom prst="ellipse">
            <a:avLst/>
          </a:prstGeom>
          <a:solidFill>
            <a:srgbClr val="E3F4F1"/>
          </a:solidFill>
          <a:ln>
            <a:solidFill>
              <a:srgbClr val="E3F4F1"/>
            </a:solid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63" name="pop4_5Title"/>
          <p:cNvSpPr txBox="1"/>
          <p:nvPr/>
        </p:nvSpPr>
        <p:spPr>
          <a:xfrm>
            <a:off x="6355080" y="1435608"/>
            <a:ext cx="2240280" cy="292608"/>
          </a:xfrm>
          <a:prstGeom prst="rect">
            <a:avLst/>
          </a:prstGeom>
          <a:noFill/>
          <a:ln/>
        </p:spPr>
        <p:txBody>
          <a:bodyPr wrap="square" lIns="0" tIns="0" rIns="0" bIns="0" rtlCol="0" anchor="ctr"/>
          <a:lstStyle/>
          <a:p>
            <a:pPr indent="0" marL="0">
              <a:buNone/>
            </a:pPr>
            <a:r>
              <a:rPr lang="en-US" sz="1150" b="1" dirty="0">
                <a:solidFill>
                  <a:srgbClr val="0B7A6F"/>
                </a:solidFill>
                <a:latin typeface="SF Pro Display" pitchFamily="34" charset="0"/>
                <a:ea typeface="SF Pro Display" pitchFamily="34" charset="-122"/>
                <a:cs typeface="SF Pro Display" pitchFamily="34" charset="-120"/>
              </a:rPr>
              <a:t>Tried to complete it</a:t>
            </a:r>
            <a:endParaRPr lang="en-US" sz="1150" dirty="0"/>
          </a:p>
        </p:txBody>
      </p:sp>
      <p:sp>
        <p:nvSpPr>
          <p:cNvPr id="64" name="pop4_5Body"/>
          <p:cNvSpPr txBox="1"/>
          <p:nvPr/>
        </p:nvSpPr>
        <p:spPr>
          <a:xfrm>
            <a:off x="6016752" y="1828800"/>
            <a:ext cx="2551176" cy="1792224"/>
          </a:xfrm>
          <a:prstGeom prst="rect">
            <a:avLst/>
          </a:prstGeom>
          <a:noFill/>
          <a:ln/>
        </p:spPr>
        <p:txBody>
          <a:bodyPr wrap="square" lIns="0" tIns="0" rIns="0" bIns="0" rtlCol="0" anchor="t"/>
          <a:lstStyle/>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At least 2 contact attempts, 5+ min apart, 15+ min on site, entry notes followed. Same rule for the CP App and CP Dashboard.</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Confirm with timestamps: contact attempts, the lockout action in Job History, CP messages.</a:t>
            </a:r>
            <a:endParaRPr lang="en-US" sz="900" dirty="0"/>
          </a:p>
          <a:p>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Important: these requirements may be disregarded if the CP claims that the C did not let them in or wanted to cancel upon their arrival. If this is the case, check for other indicators proving that CP did arrive on time at the C’s location.</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6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60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600"/>
                                        <p:tgtEl>
                                          <p:spTgt spid="5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600"/>
                                        <p:tgtEl>
                                          <p:spTgt spid="52"/>
                                        </p:tgtEl>
                                      </p:cBhvr>
                                    </p:animEffect>
                                  </p:childTnLst>
                                </p:cTn>
                              </p:par>
                            </p:childTnLst>
                          </p:cTn>
                        </p:par>
                      </p:childTnLst>
                    </p:cTn>
                  </p:par>
                  <p:par>
                    <p:cTn id="41" fill="hold">
                      <p:stCondLst>
                        <p:cond delay="indefinite"/>
                      </p:stCondLst>
                      <p:childTnLst>
                        <p:par>
                          <p:cTn id="42"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49"/>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5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51"/>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52"/>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600"/>
                                        <p:tgtEl>
                                          <p:spTgt spid="5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600"/>
                                        <p:tgtEl>
                                          <p:spTgt spid="5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600"/>
                                        <p:tgtEl>
                                          <p:spTgt spid="5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fade">
                                      <p:cBhvr>
                                        <p:cTn id="42" dur="600"/>
                                        <p:tgtEl>
                                          <p:spTgt spid="56"/>
                                        </p:tgtEl>
                                      </p:cBhvr>
                                    </p:animEffect>
                                  </p:childTnLst>
                                </p:cTn>
                              </p:par>
                            </p:childTnLst>
                          </p:cTn>
                        </p:par>
                      </p:childTnLst>
                    </p:cTn>
                  </p:par>
                  <p:par>
                    <p:cTn id="67" fill="hold">
                      <p:stCondLst>
                        <p:cond delay="indefinite"/>
                      </p:stCondLst>
                      <p:childTnLst>
                        <p:par>
                          <p:cTn id="68"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53"/>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5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55"/>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56"/>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fade">
                                      <p:cBhvr>
                                        <p:cTn id="59" dur="600"/>
                                        <p:tgtEl>
                                          <p:spTgt spid="5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600"/>
                                        <p:tgtEl>
                                          <p:spTgt spid="5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fade">
                                      <p:cBhvr>
                                        <p:cTn id="65" dur="600"/>
                                        <p:tgtEl>
                                          <p:spTgt spid="5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fade">
                                      <p:cBhvr>
                                        <p:cTn id="68" dur="600"/>
                                        <p:tgtEl>
                                          <p:spTgt spid="60"/>
                                        </p:tgtEl>
                                      </p:cBhvr>
                                    </p:animEffect>
                                  </p:childTnLst>
                                </p:cTn>
                              </p:par>
                            </p:childTnLst>
                          </p:cTn>
                        </p:par>
                      </p:childTnLst>
                    </p:cTn>
                  </p:par>
                  <p:par>
                    <p:cTn id="93" fill="hold">
                      <p:stCondLst>
                        <p:cond delay="indefinite"/>
                      </p:stCondLst>
                      <p:childTnLst>
                        <p:par>
                          <p:cTn id="94"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57"/>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58"/>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59"/>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60"/>
                                        </p:tgtEl>
                                        <p:attrNameLst>
                                          <p:attrName>style.visibility</p:attrName>
                                        </p:attrNameLst>
                                      </p:cBhvr>
                                      <p:to>
                                        <p:strVal val="hidden"/>
                                      </p:to>
                                    </p:set>
                                  </p:childTnLst>
                                </p:cTn>
                              </p:par>
                              <p:par>
                                <p:cTn id="83" presetID="10"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600"/>
                                        <p:tgtEl>
                                          <p:spTgt spid="6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fade">
                                      <p:cBhvr>
                                        <p:cTn id="88" dur="600"/>
                                        <p:tgtEl>
                                          <p:spTgt spid="6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animEffect transition="in" filter="fade">
                                      <p:cBhvr>
                                        <p:cTn id="91" dur="600"/>
                                        <p:tgtEl>
                                          <p:spTgt spid="6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600"/>
                                        <p:tgtEl>
                                          <p:spTgt spid="64"/>
                                        </p:tgtEl>
                                      </p:cBhvr>
                                    </p:animEffect>
                                  </p:childTnLst>
                                </p:cTn>
                              </p:par>
                            </p:childTnLst>
                          </p:cTn>
                        </p:par>
                      </p:childTnLst>
                    </p:cTn>
                  </p:par>
                  <p:par>
                    <p:cTn id="107" fill="hold">
                      <p:stCondLst>
                        <p:cond delay="indefinite"/>
                      </p:stCondLst>
                      <p:childTnLst>
                        <p:par>
                          <p:cTn id="108"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61"/>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62"/>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63"/>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49" grpId="1" animBg="1"/>
      <p:bldP spid="50" grpId="1" animBg="1"/>
      <p:bldP spid="51" grpId="1" animBg="1"/>
      <p:bldP spid="52" grpId="1" animBg="1"/>
      <p:bldP spid="53" grpId="0" animBg="1"/>
      <p:bldP spid="54" grpId="0" animBg="1"/>
      <p:bldP spid="55" grpId="0" animBg="1"/>
      <p:bldP spid="56" grpId="0" animBg="1"/>
      <p:bldP spid="53" grpId="1" animBg="1"/>
      <p:bldP spid="54" grpId="1" animBg="1"/>
      <p:bldP spid="55" grpId="1" animBg="1"/>
      <p:bldP spid="56" grpId="1" animBg="1"/>
      <p:bldP spid="57" grpId="0" animBg="1"/>
      <p:bldP spid="58" grpId="0" animBg="1"/>
      <p:bldP spid="59" grpId="0" animBg="1"/>
      <p:bldP spid="60" grpId="0" animBg="1"/>
      <p:bldP spid="57" grpId="1" animBg="1"/>
      <p:bldP spid="58" grpId="1" animBg="1"/>
      <p:bldP spid="59" grpId="1" animBg="1"/>
      <p:bldP spid="60" grpId="1" animBg="1"/>
      <p:bldP spid="61" grpId="0" animBg="1"/>
      <p:bldP spid="62" grpId="0" animBg="1"/>
      <p:bldP spid="63" grpId="0" animBg="1"/>
      <p:bldP spid="64" grpId="0" animBg="1"/>
      <p:bldP spid="61" grpId="1" animBg="1"/>
      <p:bldP spid="62" grpId="1" animBg="1"/>
      <p:bldP spid="63" grpId="1" animBg="1"/>
      <p:bldP spid="6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Step 3: valid lockout, check the customer category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Go straight to the right offer. Applies if Customer asks for a refund or contests the lockout charge.</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2011680"/>
                <a:gridCol w="1737360"/>
                <a:gridCol w="4572000"/>
              </a:tblGrid>
              <a:tr h="512064">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Customer</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Invoiced jobs</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What to do</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1206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New customer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1–2</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Admin refund the full job cost. </a:t>
                      </a:r>
                      <a:pPr indent="0" marL="0">
                        <a:buNone/>
                      </a:pPr>
                      <a:r>
                        <a:rPr lang="en-US" sz="800" b="1" dirty="0">
                          <a:solidFill>
                            <a:srgbClr val="0B7A6F"/>
                          </a:solidFill>
                          <a:latin typeface="SF Pro Text" pitchFamily="34" charset="0"/>
                          <a:ea typeface="SF Pro Text" pitchFamily="34" charset="-122"/>
                          <a:cs typeface="SF Pro Text" pitchFamily="34" charset="-120"/>
                        </a:rPr>
                        <a:t>▷ Watch &amp; Learn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Low to moderate LTNR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3–4</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Credits up to 75% of the job, keep $40 for the CP. </a:t>
                      </a:r>
                      <a:endParaRPr lang="en-US" sz="950" dirty="0">
                        <a:latin typeface="SF Pro Text" charset="0"/>
                        <a:ea typeface="SF Pro Text" charset="0"/>
                        <a:cs typeface="SF Pro Text" charset="0"/>
                      </a:endParaRPr>
                    </a:p>
                    <a:p>
                      <a:pPr indent="0" marL="0">
                        <a:buNone/>
                      </a:pPr>
                      <a:r>
                        <a:rPr lang="en-US" sz="950" dirty="0">
                          <a:solidFill>
                            <a:srgbClr val="6E6E73"/>
                          </a:solidFill>
                          <a:latin typeface="SF Pro Text" pitchFamily="34" charset="0"/>
                          <a:ea typeface="SF Pro Text" pitchFamily="34" charset="-122"/>
                          <a:cs typeface="SF Pro Text" pitchFamily="34" charset="-120"/>
                        </a:rPr>
                        <a:t>Escalates? Send to Service Recovery. </a:t>
                      </a:r>
                      <a:endParaRPr lang="en-US" sz="950" dirty="0">
                        <a:latin typeface="SF Pro Text" charset="0"/>
                        <a:ea typeface="SF Pro Text" charset="0"/>
                        <a:cs typeface="SF Pro Text" charset="0"/>
                      </a:endParaRPr>
                    </a:p>
                    <a:p>
                      <a:pPr indent="0" marL="0">
                        <a:buNone/>
                      </a:pPr>
                      <a:r>
                        <a:rPr lang="en-US" sz="950" dirty="0">
                          <a:solidFill>
                            <a:srgbClr val="6E6E73"/>
                          </a:solidFill>
                          <a:latin typeface="SF Pro Text" pitchFamily="34" charset="0"/>
                          <a:ea typeface="SF Pro Text" pitchFamily="34" charset="-122"/>
                          <a:cs typeface="SF Pro Text" pitchFamily="34" charset="-120"/>
                        </a:rPr>
                        <a:t>Cancelling? Offer to apply the LO fee toward ETF (max 50% off).</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Very high-value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More than 4, high retention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Choice: full fee as credit, or refund minus $40. Explain the fee.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Deactivated FC, RC still on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Any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Admin refund in full. Deactivate the RC plan.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4224528"/>
            <a:ext cx="8321040" cy="292608"/>
          </a:xfrm>
          <a:prstGeom prst="roundRect">
            <a:avLst>
              <a:gd name="adj" fmla="val 25000"/>
            </a:avLst>
          </a:prstGeom>
          <a:solidFill>
            <a:srgbClr val="FFF3D6"/>
          </a:solidFill>
          <a:ln w="9525">
            <a:solidFill>
              <a:srgbClr val="9A6410"/>
            </a:solidFill>
            <a:prstDash val="solid"/>
          </a:ln>
        </p:spPr>
      </p:sp>
      <p:pic>
        <p:nvPicPr>
          <p:cNvPr id="8" name="Image 0" descr="preencoded.png">    </p:cNvPr>
          <p:cNvPicPr>
            <a:picLocks noChangeAspect="1"/>
          </p:cNvPicPr>
          <p:nvPr/>
        </p:nvPicPr>
        <p:blipFill>
          <a:blip r:embed="rId1"/>
          <a:stretch>
            <a:fillRect/>
          </a:stretch>
        </p:blipFill>
        <p:spPr>
          <a:xfrm>
            <a:off x="521208" y="4297680"/>
            <a:ext cx="146304" cy="146304"/>
          </a:xfrm>
          <a:prstGeom prst="rect">
            <a:avLst/>
          </a:prstGeom>
        </p:spPr>
      </p:pic>
      <p:sp>
        <p:nvSpPr>
          <p:cNvPr id="9" name="Text 4"/>
          <p:cNvSpPr txBox="1"/>
          <p:nvPr/>
        </p:nvSpPr>
        <p:spPr>
          <a:xfrm>
            <a:off x="731520" y="4224528"/>
            <a:ext cx="795528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Recommended Macros:  </a:t>
            </a:r>
            <a:pPr indent="0" marL="0">
              <a:buNone/>
            </a:pPr>
            <a:r>
              <a:rPr lang="en-US" sz="950" b="1" dirty="0">
                <a:solidFill>
                  <a:srgbClr val="1D1D1F"/>
                </a:solidFill>
                <a:latin typeface="SF Pro Display" pitchFamily="34" charset="0"/>
                <a:ea typeface="SF Pro Display" pitchFamily="34" charset="-122"/>
                <a:cs typeface="SF Pro Display" pitchFamily="34" charset="-120"/>
              </a:rPr>
              <a:t>Lockout fee: high-value customer · Lockout fee: no refund (standard customer)</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Special scenarios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the miss isn't the customer's.</a:t>
            </a:r>
            <a:endParaRPr lang="en-US" sz="1200" dirty="0"/>
          </a:p>
        </p:txBody>
      </p:sp>
      <p:sp>
        <p:nvSpPr>
          <p:cNvPr id="6" name="Shape 3"/>
          <p:cNvSpPr/>
          <p:nvPr/>
        </p:nvSpPr>
        <p:spPr>
          <a:xfrm>
            <a:off x="411480" y="1325880"/>
            <a:ext cx="40919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Entry denied: CP fault or T&amp;S</a:t>
            </a:r>
            <a:endParaRPr lang="en-US" sz="1300" dirty="0"/>
          </a:p>
        </p:txBody>
      </p:sp>
      <p:sp>
        <p:nvSpPr>
          <p:cNvPr id="10" name="Text 6"/>
          <p:cNvSpPr txBox="1"/>
          <p:nvPr/>
        </p:nvSpPr>
        <p:spPr>
          <a:xfrm>
            <a:off x="594360" y="2039112"/>
            <a:ext cx="3726180" cy="8686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Admin refund the lockout fee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Still pay the CP $40</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Document it in internal notes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Coach the CP</a:t>
            </a:r>
            <a:endParaRPr lang="en-US" sz="1000" dirty="0"/>
          </a:p>
        </p:txBody>
      </p:sp>
      <p:sp>
        <p:nvSpPr>
          <p:cNvPr id="11" name="Shape 7"/>
          <p:cNvSpPr/>
          <p:nvPr/>
        </p:nvSpPr>
        <p:spPr>
          <a:xfrm>
            <a:off x="4640580" y="1325880"/>
            <a:ext cx="40919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Cancelled via Support, not actioned</a:t>
            </a:r>
            <a:endParaRPr lang="en-US" sz="1300" dirty="0"/>
          </a:p>
        </p:txBody>
      </p:sp>
      <p:sp>
        <p:nvSpPr>
          <p:cNvPr id="15" name="Text 10"/>
          <p:cNvSpPr txBox="1"/>
          <p:nvPr/>
        </p:nvSpPr>
        <p:spPr>
          <a:xfrm>
            <a:off x="4823460" y="2039112"/>
            <a:ext cx="3726180" cy="8686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Don't charge the customer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Refund or cancel on the C-side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Pay the CP via MCP, if on site and tried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Lateness doesn't matter here</a:t>
            </a:r>
            <a:endParaRPr lang="en-US" sz="1000" dirty="0"/>
          </a:p>
        </p:txBody>
      </p:sp>
      <p:sp>
        <p:nvSpPr>
          <p:cNvPr id="16" name="Text 11"/>
          <p:cNvSpPr/>
          <p:nvPr/>
        </p:nvSpPr>
        <p:spPr>
          <a:xfrm>
            <a:off x="3543300" y="2606040"/>
            <a:ext cx="777240" cy="274320"/>
          </a:xfrm>
          <a:prstGeom prst="roundRect">
            <a:avLst>
              <a:gd name="adj" fmla="val 20000"/>
            </a:avLst>
          </a:prstGeom>
          <a:solidFill>
            <a:srgbClr val="FFFFFF"/>
          </a:solidFill>
          <a:ln w="12700">
            <a:solidFill>
              <a:srgbClr val="0B7A6F"/>
            </a:solidFill>
          </a:ln>
        </p:spPr>
        <p:txBody>
          <a:bodyPr wrap="square" lIns="0" tIns="0" rIns="0" bIns="0" rtlCol="0" anchor="ctr"/>
          <a:lstStyle/>
          <a:p>
            <a:pPr algn="ctr" indent="0" marL="0">
              <a:buNone/>
            </a:pPr>
            <a:r>
              <a:rPr lang="en-US" sz="850" b="1" dirty="0">
                <a:solidFill>
                  <a:srgbClr val="0B7A6F"/>
                </a:solidFill>
                <a:latin typeface="SF Pro Text" pitchFamily="34" charset="0"/>
                <a:ea typeface="SF Pro Text" pitchFamily="34" charset="-122"/>
                <a:cs typeface="SF Pro Text" pitchFamily="34" charset="-120"/>
              </a:rPr>
              <a:t>Details  ›</a:t>
            </a:r>
            <a:endParaRPr lang="en-US" sz="850" dirty="0"/>
          </a:p>
        </p:txBody>
      </p:sp>
      <p:sp>
        <p:nvSpPr>
          <p:cNvPr id="17" name="step1Panel"/>
          <p:cNvSpPr/>
          <p:nvPr/>
        </p:nvSpPr>
        <p:spPr>
          <a:xfrm>
            <a:off x="411480" y="3154680"/>
            <a:ext cx="4091940" cy="1325880"/>
          </a:xfrm>
          <a:prstGeom prst="roundRect">
            <a:avLst>
              <a:gd name="adj" fmla="val 4138"/>
            </a:avLst>
          </a:prstGeom>
          <a:solidFill>
            <a:srgbClr val="E3F4F1"/>
          </a:solidFill>
          <a:ln w="15875">
            <a:solidFill>
              <a:srgbClr val="0B7A6F"/>
            </a:solidFill>
            <a:prstDash val="solid"/>
          </a:ln>
        </p:spPr>
      </p:sp>
      <p:sp>
        <p:nvSpPr>
          <p:cNvPr id="18" name="step1Text"/>
          <p:cNvSpPr txBox="1"/>
          <p:nvPr/>
        </p:nvSpPr>
        <p:spPr>
          <a:xfrm>
            <a:off x="594360" y="3246120"/>
            <a:ext cx="3726180" cy="1143000"/>
          </a:xfrm>
          <a:prstGeom prst="rect">
            <a:avLst/>
          </a:prstGeom>
          <a:noFill/>
          <a:ln/>
        </p:spPr>
        <p:txBody>
          <a:bodyPr wrap="square" lIns="0" tIns="0" rIns="0" bIns="0" rtlCol="0" anchor="ctr"/>
          <a:lstStyle/>
          <a:p>
            <a:pPr indent="0" marL="0">
              <a:spcAft>
                <a:spcPts val="400"/>
              </a:spcAft>
              <a:buNone/>
            </a:pPr>
            <a:r>
              <a:rPr lang="en-US" sz="1050" b="1" dirty="0">
                <a:solidFill>
                  <a:srgbClr val="1D1D1F"/>
                </a:solidFill>
                <a:latin typeface="SF Pro Text" pitchFamily="34" charset="0"/>
                <a:ea typeface="SF Pro Text" pitchFamily="34" charset="-122"/>
                <a:cs typeface="SF Pro Text" pitchFamily="34" charset="-120"/>
              </a:rPr>
              <a:t>CP was denied entry because:</a:t>
            </a:r>
            <a:endParaRPr lang="en-US" sz="1050" dirty="0"/>
          </a:p>
          <a:p>
            <a:pPr marL="152400" indent="-152400">
              <a:spcAft>
                <a:spcPts val="400"/>
              </a:spcAft>
              <a:buSzPct val="100000"/>
              <a:buChar char="•"/>
            </a:pPr>
            <a:r>
              <a:rPr lang="en-US" sz="1050" dirty="0">
                <a:solidFill>
                  <a:srgbClr val="1D1D1F"/>
                </a:solidFill>
                <a:latin typeface="SF Pro Text" pitchFamily="34" charset="0"/>
                <a:ea typeface="SF Pro Text" pitchFamily="34" charset="-122"/>
                <a:cs typeface="SF Pro Text" pitchFamily="34" charset="-120"/>
              </a:rPr>
              <a:t>Looked unprofessional</a:t>
            </a:r>
            <a:endParaRPr lang="en-US" sz="1050" dirty="0"/>
          </a:p>
          <a:p>
            <a:pPr marL="152400" indent="-152400">
              <a:spcAft>
                <a:spcPts val="400"/>
              </a:spcAft>
              <a:buSzPct val="100000"/>
              <a:buChar char="•"/>
            </a:pPr>
            <a:r>
              <a:rPr lang="en-US" sz="1050" dirty="0">
                <a:solidFill>
                  <a:srgbClr val="1D1D1F"/>
                </a:solidFill>
                <a:latin typeface="SF Pro Text" pitchFamily="34" charset="0"/>
                <a:ea typeface="SF Pro Text" pitchFamily="34" charset="-122"/>
                <a:cs typeface="SF Pro Text" pitchFamily="34" charset="-120"/>
              </a:rPr>
              <a:t>Brought an unauthorized guest</a:t>
            </a:r>
            <a:endParaRPr lang="en-US" sz="1050" dirty="0"/>
          </a:p>
          <a:p>
            <a:pPr marL="152400" indent="-152400">
              <a:spcAft>
                <a:spcPts val="400"/>
              </a:spcAft>
              <a:buSzPct val="100000"/>
              <a:buChar char="•"/>
            </a:pPr>
            <a:r>
              <a:rPr lang="en-US" sz="1050" dirty="0">
                <a:solidFill>
                  <a:srgbClr val="1D1D1F"/>
                </a:solidFill>
                <a:latin typeface="SF Pro Text" pitchFamily="34" charset="0"/>
                <a:ea typeface="SF Pro Text" pitchFamily="34" charset="-122"/>
                <a:cs typeface="SF Pro Text" pitchFamily="34" charset="-120"/>
              </a:rPr>
              <a:t>Did not have any cleaning supplies</a:t>
            </a:r>
            <a:endParaRPr lang="en-US" sz="1050" dirty="0"/>
          </a:p>
        </p:txBody>
      </p:sp>
      <p:sp>
        <p:nvSpPr>
          <p:cNvPr id="19" name="Text 14"/>
          <p:cNvSpPr/>
          <p:nvPr/>
        </p:nvSpPr>
        <p:spPr>
          <a:xfrm>
            <a:off x="7772400" y="2606040"/>
            <a:ext cx="777240" cy="274320"/>
          </a:xfrm>
          <a:prstGeom prst="roundRect">
            <a:avLst>
              <a:gd name="adj" fmla="val 20000"/>
            </a:avLst>
          </a:prstGeom>
          <a:solidFill>
            <a:srgbClr val="FFFFFF"/>
          </a:solidFill>
          <a:ln w="12700">
            <a:solidFill>
              <a:srgbClr val="0B7A6F"/>
            </a:solidFill>
          </a:ln>
        </p:spPr>
        <p:txBody>
          <a:bodyPr wrap="square" lIns="0" tIns="0" rIns="0" bIns="0" rtlCol="0" anchor="ctr"/>
          <a:lstStyle/>
          <a:p>
            <a:pPr algn="ctr" indent="0" marL="0">
              <a:buNone/>
            </a:pPr>
            <a:r>
              <a:rPr lang="en-US" sz="850" b="1" dirty="0">
                <a:solidFill>
                  <a:srgbClr val="0B7A6F"/>
                </a:solidFill>
                <a:latin typeface="SF Pro Text" pitchFamily="34" charset="0"/>
                <a:ea typeface="SF Pro Text" pitchFamily="34" charset="-122"/>
                <a:cs typeface="SF Pro Text" pitchFamily="34" charset="-120"/>
              </a:rPr>
              <a:t>Details  ›</a:t>
            </a:r>
            <a:endParaRPr lang="en-US" sz="850" dirty="0"/>
          </a:p>
        </p:txBody>
      </p:sp>
      <p:sp>
        <p:nvSpPr>
          <p:cNvPr id="20" name="step2Panel"/>
          <p:cNvSpPr/>
          <p:nvPr/>
        </p:nvSpPr>
        <p:spPr>
          <a:xfrm>
            <a:off x="4640580" y="3154680"/>
            <a:ext cx="4091940" cy="1325880"/>
          </a:xfrm>
          <a:prstGeom prst="roundRect">
            <a:avLst>
              <a:gd name="adj" fmla="val 4138"/>
            </a:avLst>
          </a:prstGeom>
          <a:solidFill>
            <a:srgbClr val="E3F4F1"/>
          </a:solidFill>
          <a:ln w="15875">
            <a:solidFill>
              <a:srgbClr val="0B7A6F"/>
            </a:solidFill>
            <a:prstDash val="solid"/>
          </a:ln>
        </p:spPr>
      </p:sp>
      <p:sp>
        <p:nvSpPr>
          <p:cNvPr id="21" name="step2Text"/>
          <p:cNvSpPr txBox="1"/>
          <p:nvPr/>
        </p:nvSpPr>
        <p:spPr>
          <a:xfrm>
            <a:off x="4823460" y="3246120"/>
            <a:ext cx="3726180" cy="1143000"/>
          </a:xfrm>
          <a:prstGeom prst="rect">
            <a:avLst/>
          </a:prstGeom>
          <a:noFill/>
          <a:ln/>
        </p:spPr>
        <p:txBody>
          <a:bodyPr wrap="square" lIns="0" tIns="0" rIns="0" bIns="0" rtlCol="0" anchor="ctr"/>
          <a:lstStyle/>
          <a:p>
            <a:pPr indent="0" marL="0">
              <a:spcAft>
                <a:spcPts val="400"/>
              </a:spcAft>
              <a:buNone/>
            </a:pPr>
            <a:r>
              <a:rPr lang="en-US" sz="1050" b="1" dirty="0">
                <a:solidFill>
                  <a:srgbClr val="0B7A6F"/>
                </a:solidFill>
                <a:latin typeface="SF Pro Text" pitchFamily="34" charset="0"/>
                <a:ea typeface="SF Pro Text" pitchFamily="34" charset="-122"/>
                <a:cs typeface="SF Pro Text" pitchFamily="34" charset="-120"/>
              </a:rPr>
              <a:t>Our fault → </a:t>
            </a:r>
            <a:pPr indent="0" marL="0">
              <a:spcAft>
                <a:spcPts val="400"/>
              </a:spcAft>
              <a:buNone/>
            </a:pPr>
            <a:r>
              <a:rPr lang="en-US" sz="1050" dirty="0">
                <a:solidFill>
                  <a:srgbClr val="1D1D1F"/>
                </a:solidFill>
                <a:latin typeface="SF Pro Text" pitchFamily="34" charset="0"/>
                <a:ea typeface="SF Pro Text" pitchFamily="34" charset="-122"/>
                <a:cs typeface="SF Pro Text" pitchFamily="34" charset="-120"/>
              </a:rPr>
              <a:t>We missed to act on job cancellation request; CP wasn’t notified, causing the lockout</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6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asked the CP to reschedule 8 hours before start. The CP went anyway. Valid lockout?</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The customer had already cancelled more than 6 hours before. Invalid.</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CP arrived 45 minutes late and the customer had stepped out. Valid?</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More than 30 minutes late is invalid (unless the customer had already decided).</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lockout is invalid. How do you refund?</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Through the CP Dashboard, not an admin refund. Refund Premium too.</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Valid lockout, 3 invoiced jobs, wants a refund. What do you offer?</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Credits up to 75% of the job cost, keeping $40 for the CP.</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LOCKOUT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Is the lockout valid or invalid? Why?</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Wanted it? On time? At the address? Tried to get in?</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actions are you going to take?</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Invalid: CP Dashboard refund. Valid: customer category.</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04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Priority Fee</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Charged for booking or rescheduling on short notice. Valid by default, but not always.</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triggers it</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48-hour rule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Their choice or ours?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Refund vs courtesy credit</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22.png">    </p:cNvPr>
          <p:cNvPicPr>
            <a:picLocks noChangeAspect="1"/>
          </p:cNvPicPr>
          <p:nvPr/>
        </p:nvPicPr>
        <p:blipFill>
          <a:blip r:embed="rId5"/>
          <a:stretch>
            <a:fillRect/>
          </a:stretch>
        </p:blipFill>
        <p:spPr>
          <a:xfrm>
            <a:off x="5717320" y="1517904"/>
            <a:ext cx="257396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PRIORITY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triggers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system adds it automatically. The customer sees it at booking.</a:t>
            </a:r>
            <a:endParaRPr lang="en-US" sz="1200" dirty="0"/>
          </a:p>
        </p:txBody>
      </p:sp>
      <p:sp>
        <p:nvSpPr>
          <p:cNvPr id="6" name="Shape 3"/>
          <p:cNvSpPr/>
          <p:nvPr/>
        </p:nvSpPr>
        <p:spPr>
          <a:xfrm>
            <a:off x="411480" y="1298448"/>
            <a:ext cx="4091940" cy="1051560"/>
          </a:xfrm>
          <a:prstGeom prst="roundRect">
            <a:avLst>
              <a:gd name="adj" fmla="val 6957"/>
            </a:avLst>
          </a:prstGeom>
          <a:solidFill>
            <a:srgbClr val="FFFFFF"/>
          </a:solidFill>
          <a:ln w="9525">
            <a:solidFill>
              <a:srgbClr val="DCE1E7"/>
            </a:solidFill>
            <a:prstDash val="solid"/>
          </a:ln>
        </p:spPr>
      </p:sp>
      <p:sp>
        <p:nvSpPr>
          <p:cNvPr id="7" name="Text 4"/>
          <p:cNvSpPr txBox="1"/>
          <p:nvPr/>
        </p:nvSpPr>
        <p:spPr>
          <a:xfrm>
            <a:off x="411480" y="1371600"/>
            <a:ext cx="4091940" cy="502920"/>
          </a:xfrm>
          <a:prstGeom prst="rect">
            <a:avLst/>
          </a:prstGeom>
          <a:noFill/>
          <a:ln/>
        </p:spPr>
        <p:txBody>
          <a:bodyPr wrap="square" lIns="0" tIns="0" rIns="0" bIns="0" rtlCol="0" anchor="ctr"/>
          <a:lstStyle/>
          <a:p>
            <a:pPr algn="ctr" indent="0" marL="0">
              <a:buNone/>
            </a:pPr>
            <a:r>
              <a:rPr lang="en-US" sz="2800" b="1" dirty="0">
                <a:solidFill>
                  <a:srgbClr val="0B7A6F"/>
                </a:solidFill>
                <a:latin typeface="SF Pro Display" pitchFamily="34" charset="0"/>
                <a:ea typeface="SF Pro Display" pitchFamily="34" charset="-122"/>
                <a:cs typeface="SF Pro Display" pitchFamily="34" charset="-120"/>
              </a:rPr>
              <a:t>&lt; 48 hrs</a:t>
            </a:r>
            <a:endParaRPr lang="en-US" sz="2800" dirty="0"/>
          </a:p>
        </p:txBody>
      </p:sp>
      <p:sp>
        <p:nvSpPr>
          <p:cNvPr id="8" name="Text 5"/>
          <p:cNvSpPr txBox="1"/>
          <p:nvPr/>
        </p:nvSpPr>
        <p:spPr>
          <a:xfrm>
            <a:off x="594360" y="1892808"/>
            <a:ext cx="3726180" cy="36576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Booked (12–48 hrs out) or rescheduled into this window</a:t>
            </a:r>
            <a:endParaRPr lang="en-US" sz="1000" dirty="0"/>
          </a:p>
        </p:txBody>
      </p:sp>
      <p:sp>
        <p:nvSpPr>
          <p:cNvPr id="9" name="Shape 6"/>
          <p:cNvSpPr/>
          <p:nvPr/>
        </p:nvSpPr>
        <p:spPr>
          <a:xfrm>
            <a:off x="4640580" y="1298448"/>
            <a:ext cx="4091940" cy="1051560"/>
          </a:xfrm>
          <a:prstGeom prst="roundRect">
            <a:avLst>
              <a:gd name="adj" fmla="val 6957"/>
            </a:avLst>
          </a:prstGeom>
          <a:solidFill>
            <a:srgbClr val="FFFFFF"/>
          </a:solidFill>
          <a:ln w="9525">
            <a:solidFill>
              <a:srgbClr val="DCE1E7"/>
            </a:solidFill>
            <a:prstDash val="solid"/>
          </a:ln>
        </p:spPr>
      </p:sp>
      <p:sp>
        <p:nvSpPr>
          <p:cNvPr id="10" name="Text 7"/>
          <p:cNvSpPr txBox="1"/>
          <p:nvPr/>
        </p:nvSpPr>
        <p:spPr>
          <a:xfrm>
            <a:off x="4640580" y="1371600"/>
            <a:ext cx="4091940" cy="502920"/>
          </a:xfrm>
          <a:prstGeom prst="rect">
            <a:avLst/>
          </a:prstGeom>
          <a:noFill/>
          <a:ln/>
        </p:spPr>
        <p:txBody>
          <a:bodyPr wrap="square" lIns="0" tIns="0" rIns="0" bIns="0" rtlCol="0" anchor="ctr"/>
          <a:lstStyle/>
          <a:p>
            <a:pPr algn="ctr" indent="0" marL="0">
              <a:buNone/>
            </a:pPr>
            <a:r>
              <a:rPr lang="en-US" sz="2800" b="1" dirty="0">
                <a:solidFill>
                  <a:srgbClr val="0B7A6F"/>
                </a:solidFill>
                <a:latin typeface="SF Pro Display" pitchFamily="34" charset="0"/>
                <a:ea typeface="SF Pro Display" pitchFamily="34" charset="-122"/>
                <a:cs typeface="SF Pro Display" pitchFamily="34" charset="-120"/>
              </a:rPr>
              <a:t>+ 15%</a:t>
            </a:r>
            <a:endParaRPr lang="en-US" sz="2800" dirty="0"/>
          </a:p>
        </p:txBody>
      </p:sp>
      <p:sp>
        <p:nvSpPr>
          <p:cNvPr id="11" name="Text 8"/>
          <p:cNvSpPr txBox="1"/>
          <p:nvPr/>
        </p:nvSpPr>
        <p:spPr>
          <a:xfrm>
            <a:off x="4823460" y="1892808"/>
            <a:ext cx="3726180" cy="36576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Processing fee charged on top of the Priority Fee</a:t>
            </a:r>
            <a:endParaRPr lang="en-US" sz="1000" dirty="0"/>
          </a:p>
        </p:txBody>
      </p:sp>
      <p:sp>
        <p:nvSpPr>
          <p:cNvPr id="12" name="Text 9"/>
          <p:cNvSpPr/>
          <p:nvPr/>
        </p:nvSpPr>
        <p:spPr>
          <a:xfrm>
            <a:off x="902970" y="2468880"/>
            <a:ext cx="3108960" cy="329184"/>
          </a:xfrm>
          <a:prstGeom prst="roundRect">
            <a:avLst>
              <a:gd name="adj" fmla="val 22222"/>
            </a:avLst>
          </a:prstGeom>
          <a:solidFill>
            <a:srgbClr val="FFFFFF"/>
          </a:solidFill>
          <a:ln w="19050">
            <a:solidFill>
              <a:srgbClr val="0B7A6F"/>
            </a:solidFill>
          </a:ln>
        </p:spPr>
        <p:txBody>
          <a:bodyPr wrap="square" rtlCol="0" anchor="ctr"/>
          <a:lstStyle/>
          <a:p>
            <a:pPr algn="ctr" indent="0" marL="0">
              <a:buNone/>
            </a:pPr>
            <a:r>
              <a:rPr lang="en-US" sz="1000" b="1" dirty="0">
                <a:solidFill>
                  <a:srgbClr val="0B7A6F"/>
                </a:solidFill>
                <a:latin typeface="SF Pro Display" pitchFamily="34" charset="0"/>
                <a:ea typeface="SF Pro Display" pitchFamily="34" charset="-122"/>
                <a:cs typeface="SF Pro Display" pitchFamily="34" charset="-120"/>
              </a:rPr>
              <a:t>▶  What the customer sees when booking</a:t>
            </a:r>
            <a:endParaRPr lang="en-US" sz="1000" dirty="0"/>
          </a:p>
        </p:txBody>
      </p:sp>
      <p:sp>
        <p:nvSpPr>
          <p:cNvPr id="13" name="Text 10"/>
          <p:cNvSpPr/>
          <p:nvPr/>
        </p:nvSpPr>
        <p:spPr>
          <a:xfrm>
            <a:off x="5132070" y="2468880"/>
            <a:ext cx="3108960" cy="329184"/>
          </a:xfrm>
          <a:prstGeom prst="roundRect">
            <a:avLst>
              <a:gd name="adj" fmla="val 22222"/>
            </a:avLst>
          </a:prstGeom>
          <a:solidFill>
            <a:srgbClr val="FFFFFF"/>
          </a:solidFill>
          <a:ln w="19050">
            <a:solidFill>
              <a:srgbClr val="0B7A6F"/>
            </a:solidFill>
          </a:ln>
        </p:spPr>
        <p:txBody>
          <a:bodyPr wrap="square" rtlCol="0" anchor="ctr"/>
          <a:lstStyle/>
          <a:p>
            <a:pPr algn="ctr" indent="0" marL="0">
              <a:buNone/>
            </a:pPr>
            <a:r>
              <a:rPr lang="en-US" sz="1000" b="1" dirty="0">
                <a:solidFill>
                  <a:srgbClr val="0B7A6F"/>
                </a:solidFill>
                <a:latin typeface="SF Pro Display" pitchFamily="34" charset="0"/>
                <a:ea typeface="SF Pro Display" pitchFamily="34" charset="-122"/>
                <a:cs typeface="SF Pro Display" pitchFamily="34" charset="-120"/>
              </a:rPr>
              <a:t>▶  How it shows in Job Admin</a:t>
            </a:r>
            <a:endParaRPr lang="en-US" sz="1000" dirty="0"/>
          </a:p>
        </p:txBody>
      </p:sp>
      <p:sp>
        <p:nvSpPr>
          <p:cNvPr id="14" name="Shape 11"/>
          <p:cNvSpPr/>
          <p:nvPr/>
        </p:nvSpPr>
        <p:spPr>
          <a:xfrm>
            <a:off x="411480" y="3017520"/>
            <a:ext cx="8321040" cy="384048"/>
          </a:xfrm>
          <a:prstGeom prst="roundRect">
            <a:avLst>
              <a:gd name="adj" fmla="val 19048"/>
            </a:avLst>
          </a:prstGeom>
          <a:solidFill>
            <a:srgbClr val="FFF3D6"/>
          </a:solidFill>
          <a:ln w="9525">
            <a:solidFill>
              <a:srgbClr val="FFF3D6"/>
            </a:solidFill>
            <a:prstDash val="solid"/>
          </a:ln>
        </p:spPr>
      </p:sp>
      <p:pic>
        <p:nvPicPr>
          <p:cNvPr id="15" name="Image 0" descr="preencoded.png">    </p:cNvPr>
          <p:cNvPicPr>
            <a:picLocks noChangeAspect="1"/>
          </p:cNvPicPr>
          <p:nvPr/>
        </p:nvPicPr>
        <p:blipFill>
          <a:blip r:embed="rId1"/>
          <a:stretch>
            <a:fillRect/>
          </a:stretch>
        </p:blipFill>
        <p:spPr>
          <a:xfrm>
            <a:off x="566928" y="3127248"/>
            <a:ext cx="164592" cy="164592"/>
          </a:xfrm>
          <a:prstGeom prst="rect">
            <a:avLst/>
          </a:prstGeom>
        </p:spPr>
      </p:pic>
      <p:sp>
        <p:nvSpPr>
          <p:cNvPr id="16" name="Text 12"/>
          <p:cNvSpPr txBox="1"/>
          <p:nvPr/>
        </p:nvSpPr>
        <p:spPr>
          <a:xfrm>
            <a:off x="822960" y="31181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Refunding it?  </a:t>
            </a:r>
            <a:pPr indent="0" marL="0">
              <a:buNone/>
            </a:pPr>
            <a:r>
              <a:rPr lang="en-US" sz="1000" dirty="0">
                <a:solidFill>
                  <a:srgbClr val="1D1D1F"/>
                </a:solidFill>
                <a:latin typeface="SF Pro Text" pitchFamily="34" charset="0"/>
                <a:ea typeface="SF Pro Text" pitchFamily="34" charset="-122"/>
                <a:cs typeface="SF Pro Text" pitchFamily="34" charset="-120"/>
              </a:rPr>
              <a:t>refund the 15% processing fee with it.</a:t>
            </a:r>
            <a:endParaRPr lang="en-US" sz="1000" dirty="0"/>
          </a:p>
        </p:txBody>
      </p:sp>
      <p:sp>
        <p:nvSpPr>
          <p:cNvPr id="17" name="pop1_2Panel"/>
          <p:cNvSpPr/>
          <p:nvPr/>
        </p:nvSpPr>
        <p:spPr>
          <a:xfrm>
            <a:off x="411480" y="1298448"/>
            <a:ext cx="8321040" cy="3346704"/>
          </a:xfrm>
          <a:prstGeom prst="roundRect">
            <a:avLst>
              <a:gd name="adj" fmla="val 1639"/>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18" name="pop1_2Label"/>
          <p:cNvSpPr txBox="1"/>
          <p:nvPr/>
        </p:nvSpPr>
        <p:spPr>
          <a:xfrm>
            <a:off x="640080" y="1389888"/>
            <a:ext cx="7863840" cy="310896"/>
          </a:xfrm>
          <a:prstGeom prst="rect">
            <a:avLst/>
          </a:prstGeom>
          <a:noFill/>
          <a:ln/>
        </p:spPr>
        <p:txBody>
          <a:bodyPr wrap="square" lIns="0" tIns="0" rIns="0" bIns="0" rtlCol="0" anchor="ctr"/>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What the customer sees when booking</a:t>
            </a:r>
            <a:endParaRPr lang="en-US" sz="1200" dirty="0"/>
          </a:p>
        </p:txBody>
      </p:sp>
      <p:pic>
        <p:nvPicPr>
          <p:cNvPr id="19" name="pop1_2Img" descr="/tmp/claude-0/-workspace-training/3ce5cff6-cccf-5f33-b0ee-0b147a55120e/scratchpad/img6/priority_prompt.png">    </p:cNvPr>
          <p:cNvPicPr>
            <a:picLocks noChangeAspect="1"/>
          </p:cNvPicPr>
          <p:nvPr/>
        </p:nvPicPr>
        <p:blipFill>
          <a:blip r:embed="rId2"/>
          <a:stretch>
            <a:fillRect/>
          </a:stretch>
        </p:blipFill>
        <p:spPr>
          <a:xfrm>
            <a:off x="1651960" y="1755648"/>
            <a:ext cx="5840080" cy="2779776"/>
          </a:xfrm>
          <a:prstGeom prst="rect">
            <a:avLst/>
          </a:prstGeom>
        </p:spPr>
      </p:pic>
      <p:sp>
        <p:nvSpPr>
          <p:cNvPr id="20" name="pop1_2Frame"/>
          <p:cNvSpPr/>
          <p:nvPr/>
        </p:nvSpPr>
        <p:spPr>
          <a:xfrm>
            <a:off x="1651960" y="1755648"/>
            <a:ext cx="5840080" cy="2779776"/>
          </a:xfrm>
          <a:prstGeom prst="rect">
            <a:avLst/>
          </a:prstGeom>
          <a:ln w="9525">
            <a:solidFill>
              <a:srgbClr val="DCE1E7"/>
            </a:solidFill>
            <a:prstDash val="solid"/>
          </a:ln>
        </p:spPr>
      </p:sp>
      <p:sp>
        <p:nvSpPr>
          <p:cNvPr id="21" name="pop2_3Panel"/>
          <p:cNvSpPr/>
          <p:nvPr/>
        </p:nvSpPr>
        <p:spPr>
          <a:xfrm>
            <a:off x="411480" y="1298448"/>
            <a:ext cx="8321040" cy="3346704"/>
          </a:xfrm>
          <a:prstGeom prst="roundRect">
            <a:avLst>
              <a:gd name="adj" fmla="val 1639"/>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22" name="pop2_3Label"/>
          <p:cNvSpPr txBox="1"/>
          <p:nvPr/>
        </p:nvSpPr>
        <p:spPr>
          <a:xfrm>
            <a:off x="640080" y="1389888"/>
            <a:ext cx="7863840" cy="310896"/>
          </a:xfrm>
          <a:prstGeom prst="rect">
            <a:avLst/>
          </a:prstGeom>
          <a:noFill/>
          <a:ln/>
        </p:spPr>
        <p:txBody>
          <a:bodyPr wrap="square" lIns="0" tIns="0" rIns="0" bIns="0" rtlCol="0" anchor="ctr"/>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How it shows in Job Admin</a:t>
            </a:r>
            <a:endParaRPr lang="en-US" sz="1200" dirty="0"/>
          </a:p>
        </p:txBody>
      </p:sp>
      <p:pic>
        <p:nvPicPr>
          <p:cNvPr id="23" name="pop2_3Img" descr="/tmp/claude-0/-workspace-training/3ce5cff6-cccf-5f33-b0ee-0b147a55120e/scratchpad/img6/priority_crm.png">    </p:cNvPr>
          <p:cNvPicPr>
            <a:picLocks noChangeAspect="1"/>
          </p:cNvPicPr>
          <p:nvPr/>
        </p:nvPicPr>
        <p:blipFill>
          <a:blip r:embed="rId3"/>
          <a:stretch>
            <a:fillRect/>
          </a:stretch>
        </p:blipFill>
        <p:spPr>
          <a:xfrm>
            <a:off x="1123670" y="1755648"/>
            <a:ext cx="6896659" cy="2779776"/>
          </a:xfrm>
          <a:prstGeom prst="rect">
            <a:avLst/>
          </a:prstGeom>
        </p:spPr>
      </p:pic>
      <p:sp>
        <p:nvSpPr>
          <p:cNvPr id="24" name="pop2_3Frame"/>
          <p:cNvSpPr/>
          <p:nvPr/>
        </p:nvSpPr>
        <p:spPr>
          <a:xfrm>
            <a:off x="1123670" y="1755648"/>
            <a:ext cx="6896659" cy="2779776"/>
          </a:xfrm>
          <a:prstGeom prst="rect">
            <a:avLst/>
          </a:prstGeom>
          <a:ln w="9525">
            <a:solidFill>
              <a:srgbClr val="DCE1E7"/>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600"/>
                                        <p:tgtEl>
                                          <p:spTgt spid="20"/>
                                        </p:tgtEl>
                                      </p:cBhvr>
                                    </p:animEffect>
                                  </p:childTnLst>
                                </p:cTn>
                              </p:par>
                            </p:childTnLst>
                          </p:cTn>
                        </p:par>
                      </p:childTnLst>
                    </p:cTn>
                  </p:par>
                  <p:par>
                    <p:cTn id="41" fill="hold">
                      <p:stCondLst>
                        <p:cond delay="indefinite"/>
                      </p:stCondLst>
                      <p:childTnLst>
                        <p:par>
                          <p:cTn id="42"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7"/>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8"/>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9"/>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20"/>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6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6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6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600"/>
                                        <p:tgtEl>
                                          <p:spTgt spid="24"/>
                                        </p:tgtEl>
                                      </p:cBhvr>
                                    </p:animEffect>
                                  </p:childTnLst>
                                </p:cTn>
                              </p:par>
                            </p:childTnLst>
                          </p:cTn>
                        </p:par>
                      </p:childTnLst>
                    </p:cTn>
                  </p:par>
                  <p:par>
                    <p:cTn id="55" fill="hold">
                      <p:stCondLst>
                        <p:cond delay="indefinite"/>
                      </p:stCondLst>
                      <p:childTnLst>
                        <p:par>
                          <p:cTn id="56"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22"/>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23"/>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17" grpId="1" animBg="1"/>
      <p:bldP spid="18" grpId="1" animBg="1"/>
      <p:bldP spid="20" grpId="1" animBg="1"/>
      <p:bldP spid="21" grpId="0" animBg="1"/>
      <p:bldP spid="22" grpId="0" animBg="1"/>
      <p:bldP spid="24" grpId="0" animBg="1"/>
      <p:bldP spid="21" grpId="1" animBg="1"/>
      <p:bldP spid="22" grpId="1" animBg="1"/>
      <p:bldP spid="2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PRIORITY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48-hour rule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Check the job history. Ignore the original appointment. Only look at the NEW one.</a:t>
            </a:r>
            <a:endParaRPr lang="en-US" sz="1200" dirty="0"/>
          </a:p>
        </p:txBody>
      </p:sp>
      <p:sp>
        <p:nvSpPr>
          <p:cNvPr id="6" name="Shape 3"/>
          <p:cNvSpPr/>
          <p:nvPr/>
        </p:nvSpPr>
        <p:spPr>
          <a:xfrm>
            <a:off x="411480" y="1325880"/>
            <a:ext cx="4091940" cy="1920240"/>
          </a:xfrm>
          <a:prstGeom prst="roundRect">
            <a:avLst>
              <a:gd name="adj" fmla="val 3810"/>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Fee applies</a:t>
            </a:r>
            <a:endParaRPr lang="en-US" sz="1300" dirty="0"/>
          </a:p>
        </p:txBody>
      </p:sp>
      <p:sp>
        <p:nvSpPr>
          <p:cNvPr id="10" name="Text 6"/>
          <p:cNvSpPr txBox="1"/>
          <p:nvPr/>
        </p:nvSpPr>
        <p:spPr>
          <a:xfrm>
            <a:off x="594360" y="2039112"/>
            <a:ext cx="372618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Customer rescheduled: Jul 27, 10:00 AM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Original cleaning date: Jul 28, 2:00 PM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Changed to: Jul 29, 9:00 AM</a:t>
            </a:r>
            <a:endParaRPr lang="en-US" sz="1000" dirty="0"/>
          </a:p>
          <a:p>
            <a:pPr marL="127000" indent="-127000">
              <a:spcAft>
                <a:spcPts val="500"/>
              </a:spcAft>
              <a:buSzPct val="100000"/>
              <a:buChar char="•"/>
            </a:pPr>
            <a:r>
              <a:rPr lang="en-US" sz="1000" b="1" dirty="0">
                <a:solidFill>
                  <a:srgbClr val="0B7A6F"/>
                </a:solidFill>
                <a:latin typeface="SF Pro Text" pitchFamily="34" charset="0"/>
                <a:ea typeface="SF Pro Text" pitchFamily="34" charset="-122"/>
                <a:cs typeface="SF Pro Text" pitchFamily="34" charset="-120"/>
              </a:rPr>
              <a:t>New slot is 47 hrs away</a:t>
            </a:r>
            <a:endParaRPr lang="en-US" sz="1000" dirty="0"/>
          </a:p>
        </p:txBody>
      </p:sp>
      <p:sp>
        <p:nvSpPr>
          <p:cNvPr id="11" name="Shape 7"/>
          <p:cNvSpPr/>
          <p:nvPr/>
        </p:nvSpPr>
        <p:spPr>
          <a:xfrm>
            <a:off x="4640580" y="1325880"/>
            <a:ext cx="4091940" cy="1920240"/>
          </a:xfrm>
          <a:prstGeom prst="roundRect">
            <a:avLst>
              <a:gd name="adj" fmla="val 3810"/>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 fee</a:t>
            </a:r>
            <a:endParaRPr lang="en-US" sz="1300" dirty="0"/>
          </a:p>
        </p:txBody>
      </p:sp>
      <p:sp>
        <p:nvSpPr>
          <p:cNvPr id="15" name="Text 10"/>
          <p:cNvSpPr txBox="1"/>
          <p:nvPr/>
        </p:nvSpPr>
        <p:spPr>
          <a:xfrm>
            <a:off x="4823460" y="2039112"/>
            <a:ext cx="372618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Customer rescheduled: Jul 27, 10:00 AM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Original cleaning date: Jul 28, 2:00 PM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Changed to: Aug 1, 9:00 AM</a:t>
            </a:r>
            <a:endParaRPr lang="en-US" sz="1000" dirty="0"/>
          </a:p>
          <a:p>
            <a:pPr marL="127000" indent="-127000">
              <a:spcAft>
                <a:spcPts val="500"/>
              </a:spcAft>
              <a:buSzPct val="100000"/>
              <a:buChar char="•"/>
            </a:pPr>
            <a:r>
              <a:rPr lang="en-US" sz="1000" b="1" dirty="0">
                <a:solidFill>
                  <a:srgbClr val="0B7A6F"/>
                </a:solidFill>
                <a:latin typeface="SF Pro Text" pitchFamily="34" charset="0"/>
                <a:ea typeface="SF Pro Text" pitchFamily="34" charset="-122"/>
                <a:cs typeface="SF Pro Text" pitchFamily="34" charset="-120"/>
              </a:rPr>
              <a:t>New slot is more than 48 hrs away</a:t>
            </a:r>
            <a:endParaRPr lang="en-US" sz="1000" dirty="0"/>
          </a:p>
        </p:txBody>
      </p:sp>
      <p:sp>
        <p:nvSpPr>
          <p:cNvPr id="16" name="Shape 11"/>
          <p:cNvSpPr/>
          <p:nvPr/>
        </p:nvSpPr>
        <p:spPr>
          <a:xfrm>
            <a:off x="411480" y="342900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538728"/>
            <a:ext cx="164592" cy="164592"/>
          </a:xfrm>
          <a:prstGeom prst="rect">
            <a:avLst/>
          </a:prstGeom>
        </p:spPr>
      </p:pic>
      <p:sp>
        <p:nvSpPr>
          <p:cNvPr id="18" name="Text 12"/>
          <p:cNvSpPr txBox="1"/>
          <p:nvPr/>
        </p:nvSpPr>
        <p:spPr>
          <a:xfrm>
            <a:off x="822960" y="35295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Same original date in both.  </a:t>
            </a:r>
            <a:pPr indent="0" marL="0">
              <a:buNone/>
            </a:pPr>
            <a:r>
              <a:rPr lang="en-US" sz="1000" dirty="0">
                <a:solidFill>
                  <a:srgbClr val="1D1D1F"/>
                </a:solidFill>
                <a:latin typeface="SF Pro Text" pitchFamily="34" charset="0"/>
                <a:ea typeface="SF Pro Text" pitchFamily="34" charset="-122"/>
                <a:cs typeface="SF Pro Text" pitchFamily="34" charset="-120"/>
              </a:rPr>
              <a:t>Only the new appointment decides it.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PRIORITY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Decision flow</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Investigate and determine why the customer ended up in the priority window.</a:t>
            </a:r>
            <a:endParaRPr lang="en-US" sz="1200" dirty="0"/>
          </a:p>
        </p:txBody>
      </p:sp>
      <p:sp>
        <p:nvSpPr>
          <p:cNvPr id="6" name="Shape 3"/>
          <p:cNvSpPr/>
          <p:nvPr/>
        </p:nvSpPr>
        <p:spPr>
          <a:xfrm>
            <a:off x="2834640" y="1298448"/>
            <a:ext cx="3474720" cy="438912"/>
          </a:xfrm>
          <a:prstGeom prst="roundRect">
            <a:avLst>
              <a:gd name="adj" fmla="val 16667"/>
            </a:avLst>
          </a:prstGeom>
          <a:solidFill>
            <a:srgbClr val="0B7A6F"/>
          </a:solidFill>
          <a:ln w="12700">
            <a:solidFill>
              <a:srgbClr val="0B7A6F"/>
            </a:solidFill>
            <a:prstDash val="solid"/>
          </a:ln>
        </p:spPr>
      </p:sp>
      <p:sp>
        <p:nvSpPr>
          <p:cNvPr id="7" name="Text 4"/>
          <p:cNvSpPr txBox="1"/>
          <p:nvPr/>
        </p:nvSpPr>
        <p:spPr>
          <a:xfrm>
            <a:off x="2834640" y="1298448"/>
            <a:ext cx="34747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PRIORITY FEE: refund request</a:t>
            </a:r>
            <a:endParaRPr lang="en-US" sz="1000" dirty="0"/>
          </a:p>
        </p:txBody>
      </p:sp>
      <p:sp>
        <p:nvSpPr>
          <p:cNvPr id="8" name="Shape 5"/>
          <p:cNvSpPr/>
          <p:nvPr/>
        </p:nvSpPr>
        <p:spPr>
          <a:xfrm>
            <a:off x="4572000" y="1737360"/>
            <a:ext cx="0" cy="128016"/>
          </a:xfrm>
          <a:prstGeom prst="line">
            <a:avLst/>
          </a:prstGeom>
          <a:noFill/>
          <a:ln w="12700">
            <a:solidFill>
              <a:srgbClr val="6E6E73"/>
            </a:solidFill>
            <a:prstDash val="solid"/>
          </a:ln>
        </p:spPr>
      </p:sp>
      <p:sp>
        <p:nvSpPr>
          <p:cNvPr id="9" name="Shape 6"/>
          <p:cNvSpPr/>
          <p:nvPr/>
        </p:nvSpPr>
        <p:spPr>
          <a:xfrm>
            <a:off x="2331720" y="1865376"/>
            <a:ext cx="4480560" cy="0"/>
          </a:xfrm>
          <a:prstGeom prst="line">
            <a:avLst/>
          </a:prstGeom>
          <a:noFill/>
          <a:ln w="12700">
            <a:solidFill>
              <a:srgbClr val="6E6E73"/>
            </a:solidFill>
            <a:prstDash val="solid"/>
          </a:ln>
        </p:spPr>
      </p:sp>
      <p:sp>
        <p:nvSpPr>
          <p:cNvPr id="10" name="Shape 7"/>
          <p:cNvSpPr/>
          <p:nvPr/>
        </p:nvSpPr>
        <p:spPr>
          <a:xfrm>
            <a:off x="2331720" y="1865376"/>
            <a:ext cx="0" cy="128016"/>
          </a:xfrm>
          <a:prstGeom prst="line">
            <a:avLst/>
          </a:prstGeom>
          <a:noFill/>
          <a:ln w="12700">
            <a:solidFill>
              <a:srgbClr val="6E6E73"/>
            </a:solidFill>
            <a:prstDash val="solid"/>
            <a:tailEnd type="triangle"/>
          </a:ln>
        </p:spPr>
      </p:sp>
      <p:sp>
        <p:nvSpPr>
          <p:cNvPr id="11" name="Shape 8"/>
          <p:cNvSpPr/>
          <p:nvPr/>
        </p:nvSpPr>
        <p:spPr>
          <a:xfrm>
            <a:off x="6812280" y="1865376"/>
            <a:ext cx="0" cy="128016"/>
          </a:xfrm>
          <a:prstGeom prst="line">
            <a:avLst/>
          </a:prstGeom>
          <a:noFill/>
          <a:ln w="12700">
            <a:solidFill>
              <a:srgbClr val="6E6E73"/>
            </a:solidFill>
            <a:prstDash val="solid"/>
            <a:tailEnd type="triangle"/>
          </a:ln>
        </p:spPr>
      </p:sp>
      <p:sp>
        <p:nvSpPr>
          <p:cNvPr id="12" name="Text 9"/>
          <p:cNvSpPr txBox="1"/>
          <p:nvPr/>
        </p:nvSpPr>
        <p:spPr>
          <a:xfrm>
            <a:off x="2404872" y="1883664"/>
            <a:ext cx="548640" cy="201168"/>
          </a:xfrm>
          <a:prstGeom prst="rect">
            <a:avLst/>
          </a:prstGeom>
          <a:noFill/>
          <a:ln/>
        </p:spPr>
        <p:txBody>
          <a:bodyPr wrap="square" lIns="0" tIns="0" rIns="0" bIns="0" rtlCol="0" anchor="t"/>
          <a:lstStyle/>
          <a:p>
            <a:pPr indent="0" marL="0">
              <a:buNone/>
            </a:pPr>
            <a:endParaRPr lang="en-US" sz="850" dirty="0"/>
          </a:p>
        </p:txBody>
      </p:sp>
      <p:sp>
        <p:nvSpPr>
          <p:cNvPr id="13" name="Text 10"/>
          <p:cNvSpPr txBox="1"/>
          <p:nvPr/>
        </p:nvSpPr>
        <p:spPr>
          <a:xfrm>
            <a:off x="6885432" y="1883664"/>
            <a:ext cx="548640" cy="201168"/>
          </a:xfrm>
          <a:prstGeom prst="rect">
            <a:avLst/>
          </a:prstGeom>
          <a:noFill/>
          <a:ln/>
        </p:spPr>
        <p:txBody>
          <a:bodyPr wrap="square" lIns="0" tIns="0" rIns="0" bIns="0" rtlCol="0" anchor="t"/>
          <a:lstStyle/>
          <a:p>
            <a:pPr indent="0" marL="0">
              <a:buNone/>
            </a:pPr>
            <a:endParaRPr lang="en-US" sz="850" dirty="0"/>
          </a:p>
        </p:txBody>
      </p:sp>
      <p:sp>
        <p:nvSpPr>
          <p:cNvPr id="14" name="Text 11"/>
          <p:cNvSpPr/>
          <p:nvPr/>
        </p:nvSpPr>
        <p:spPr>
          <a:xfrm>
            <a:off x="1325880" y="1993392"/>
            <a:ext cx="2011680" cy="384048"/>
          </a:xfrm>
          <a:prstGeom prst="roundRect">
            <a:avLst>
              <a:gd name="adj" fmla="val 19048"/>
            </a:avLst>
          </a:prstGeom>
          <a:solidFill>
            <a:srgbClr val="FFF3D6"/>
          </a:solidFill>
          <a:ln w="15875">
            <a:solidFill>
              <a:srgbClr val="9A6410"/>
            </a:solidFill>
          </a:ln>
        </p:spPr>
        <p:txBody>
          <a:bodyPr wrap="square" rtlCol="0" anchor="ctr"/>
          <a:lstStyle/>
          <a:p>
            <a:pPr algn="ctr" indent="0" marL="0">
              <a:buNone/>
            </a:pPr>
            <a:r>
              <a:rPr lang="en-US" sz="1100" b="1" dirty="0">
                <a:solidFill>
                  <a:srgbClr val="9A6410"/>
                </a:solidFill>
                <a:latin typeface="SF Pro Display" pitchFamily="34" charset="0"/>
                <a:ea typeface="SF Pro Display" pitchFamily="34" charset="-122"/>
                <a:cs typeface="SF Pro Display" pitchFamily="34" charset="-120"/>
              </a:rPr>
              <a:t>C-fault</a:t>
            </a:r>
            <a:endParaRPr lang="en-US" sz="1100" dirty="0"/>
          </a:p>
        </p:txBody>
      </p:sp>
      <p:sp>
        <p:nvSpPr>
          <p:cNvPr id="15" name="Text 12"/>
          <p:cNvSpPr/>
          <p:nvPr/>
        </p:nvSpPr>
        <p:spPr>
          <a:xfrm>
            <a:off x="5806440" y="1993392"/>
            <a:ext cx="2011680" cy="384048"/>
          </a:xfrm>
          <a:prstGeom prst="roundRect">
            <a:avLst>
              <a:gd name="adj" fmla="val 19048"/>
            </a:avLst>
          </a:prstGeom>
          <a:solidFill>
            <a:srgbClr val="1D1D1F"/>
          </a:solidFill>
          <a:ln w="12700">
            <a:solidFill>
              <a:srgbClr val="1D1D1F"/>
            </a:solidFill>
          </a:ln>
        </p:spPr>
        <p:txBody>
          <a:bodyPr wrap="square" rtlCol="0" anchor="ctr"/>
          <a:lstStyle/>
          <a:p>
            <a:pPr algn="ctr" indent="0" marL="0">
              <a:buNone/>
            </a:pPr>
            <a:r>
              <a:rPr lang="en-US" sz="1100" b="1" dirty="0">
                <a:solidFill>
                  <a:srgbClr val="FFFFFF"/>
                </a:solidFill>
                <a:latin typeface="SF Pro Display" pitchFamily="34" charset="0"/>
                <a:ea typeface="SF Pro Display" pitchFamily="34" charset="-122"/>
                <a:cs typeface="SF Pro Display" pitchFamily="34" charset="-120"/>
              </a:rPr>
              <a:t>CP/Platform fault</a:t>
            </a:r>
            <a:endParaRPr lang="en-US" sz="1100" dirty="0"/>
          </a:p>
        </p:txBody>
      </p:sp>
      <p:sp>
        <p:nvSpPr>
          <p:cNvPr id="16" name="Shape 13"/>
          <p:cNvSpPr/>
          <p:nvPr/>
        </p:nvSpPr>
        <p:spPr>
          <a:xfrm>
            <a:off x="2331720" y="2377440"/>
            <a:ext cx="0" cy="128016"/>
          </a:xfrm>
          <a:prstGeom prst="line">
            <a:avLst/>
          </a:prstGeom>
          <a:noFill/>
          <a:ln w="12700">
            <a:solidFill>
              <a:srgbClr val="6E6E73"/>
            </a:solidFill>
            <a:prstDash val="solid"/>
            <a:tailEnd type="triangle"/>
          </a:ln>
        </p:spPr>
      </p:sp>
      <p:sp>
        <p:nvSpPr>
          <p:cNvPr id="17" name="Shape 14"/>
          <p:cNvSpPr/>
          <p:nvPr/>
        </p:nvSpPr>
        <p:spPr>
          <a:xfrm>
            <a:off x="6812280" y="2377440"/>
            <a:ext cx="0" cy="128016"/>
          </a:xfrm>
          <a:prstGeom prst="line">
            <a:avLst/>
          </a:prstGeom>
          <a:noFill/>
          <a:ln w="12700">
            <a:solidFill>
              <a:srgbClr val="6E6E73"/>
            </a:solidFill>
            <a:prstDash val="solid"/>
            <a:tailEnd type="triangle"/>
          </a:ln>
        </p:spPr>
      </p:sp>
      <p:sp>
        <p:nvSpPr>
          <p:cNvPr id="18" name="Shape 15"/>
          <p:cNvSpPr/>
          <p:nvPr/>
        </p:nvSpPr>
        <p:spPr>
          <a:xfrm>
            <a:off x="411480" y="2505456"/>
            <a:ext cx="3840480" cy="932688"/>
          </a:xfrm>
          <a:prstGeom prst="roundRect">
            <a:avLst>
              <a:gd name="adj" fmla="val 7843"/>
            </a:avLst>
          </a:prstGeom>
          <a:solidFill>
            <a:srgbClr val="FFFFFF"/>
          </a:solidFill>
          <a:ln w="9525">
            <a:solidFill>
              <a:srgbClr val="DCE1E7"/>
            </a:solidFill>
            <a:prstDash val="solid"/>
          </a:ln>
        </p:spPr>
      </p:sp>
      <p:sp>
        <p:nvSpPr>
          <p:cNvPr id="19" name="Text 16"/>
          <p:cNvSpPr txBox="1"/>
          <p:nvPr/>
        </p:nvSpPr>
        <p:spPr>
          <a:xfrm>
            <a:off x="594360" y="2505456"/>
            <a:ext cx="3474720" cy="932688"/>
          </a:xfrm>
          <a:prstGeom prst="rect">
            <a:avLst/>
          </a:prstGeom>
          <a:noFill/>
          <a:ln/>
        </p:spPr>
        <p:txBody>
          <a:bodyPr wrap="square" lIns="0" tIns="0" rIns="0" bIns="0" rtlCol="0" anchor="ctr"/>
          <a:lstStyle/>
          <a:p>
            <a:pPr algn="ctr" indent="0" marL="0">
              <a:spcAft>
                <a:spcPts val="300"/>
              </a:spcAft>
              <a:buNone/>
            </a:pPr>
            <a:r>
              <a:rPr lang="en-US" sz="1000" b="1" dirty="0">
                <a:solidFill>
                  <a:srgbClr val="1D1D1F"/>
                </a:solidFill>
                <a:latin typeface="SF Pro Text" pitchFamily="34" charset="0"/>
                <a:ea typeface="SF Pro Text" pitchFamily="34" charset="-122"/>
                <a:cs typeface="SF Pro Text" pitchFamily="34" charset="-120"/>
              </a:rPr>
              <a:t>Fee stands. Explain the policy, offer up to 100% credits.</a:t>
            </a:r>
            <a:endParaRPr lang="en-US" sz="1000" dirty="0"/>
          </a:p>
          <a:p>
            <a:pPr algn="ctr" indent="0" marL="0">
              <a:spcAft>
                <a:spcPts val="300"/>
              </a:spcAft>
              <a:buNone/>
            </a:pPr>
            <a:r>
              <a:rPr lang="en-US" sz="1000" dirty="0">
                <a:solidFill>
                  <a:srgbClr val="6E6E73"/>
                </a:solidFill>
                <a:latin typeface="SF Pro Text" pitchFamily="34" charset="0"/>
                <a:ea typeface="SF Pro Text" pitchFamily="34" charset="-122"/>
                <a:cs typeface="SF Pro Text" pitchFamily="34" charset="-120"/>
              </a:rPr>
              <a:t>Treat 100% as a ceiling, not your starting point, and position it as a goodwill gesture.</a:t>
            </a:r>
            <a:endParaRPr lang="en-US" sz="1000" dirty="0"/>
          </a:p>
        </p:txBody>
      </p:sp>
      <p:sp>
        <p:nvSpPr>
          <p:cNvPr id="20" name="Shape 17"/>
          <p:cNvSpPr/>
          <p:nvPr/>
        </p:nvSpPr>
        <p:spPr>
          <a:xfrm>
            <a:off x="4892040" y="2505456"/>
            <a:ext cx="3840480" cy="932688"/>
          </a:xfrm>
          <a:prstGeom prst="roundRect">
            <a:avLst>
              <a:gd name="adj" fmla="val 7843"/>
            </a:avLst>
          </a:prstGeom>
          <a:solidFill>
            <a:srgbClr val="FFFFFF"/>
          </a:solidFill>
          <a:ln w="9525">
            <a:solidFill>
              <a:srgbClr val="DCE1E7"/>
            </a:solidFill>
            <a:prstDash val="solid"/>
          </a:ln>
        </p:spPr>
      </p:sp>
      <p:sp>
        <p:nvSpPr>
          <p:cNvPr id="21" name="Text 18"/>
          <p:cNvSpPr txBox="1"/>
          <p:nvPr/>
        </p:nvSpPr>
        <p:spPr>
          <a:xfrm>
            <a:off x="5074920" y="2505456"/>
            <a:ext cx="3474720" cy="932688"/>
          </a:xfrm>
          <a:prstGeom prst="rect">
            <a:avLst/>
          </a:prstGeom>
          <a:noFill/>
          <a:ln/>
        </p:spPr>
        <p:txBody>
          <a:bodyPr wrap="square" lIns="0" tIns="0" rIns="0" bIns="0" rtlCol="0" anchor="ctr"/>
          <a:lstStyle/>
          <a:p>
            <a:pPr algn="ctr" indent="0" marL="0">
              <a:spcAft>
                <a:spcPts val="300"/>
              </a:spcAft>
              <a:buNone/>
            </a:pPr>
            <a:r>
              <a:rPr lang="en-US" sz="1000" dirty="0">
                <a:solidFill>
                  <a:srgbClr val="6E6E73"/>
                </a:solidFill>
                <a:latin typeface="SF Pro Text" pitchFamily="34" charset="0"/>
                <a:ea typeface="SF Pro Text" pitchFamily="34" charset="-122"/>
                <a:cs typeface="SF Pro Text" pitchFamily="34" charset="-120"/>
              </a:rPr>
              <a:t>Homeaglow or the CP caused the priority window.</a:t>
            </a:r>
            <a:endParaRPr lang="en-US" sz="1000" dirty="0"/>
          </a:p>
          <a:p>
            <a:pPr algn="ctr" indent="0" marL="0">
              <a:spcAft>
                <a:spcPts val="300"/>
              </a:spcAft>
              <a:buNone/>
            </a:pPr>
            <a:r>
              <a:rPr lang="en-US" sz="1000" b="1" dirty="0">
                <a:solidFill>
                  <a:srgbClr val="1D1D1F"/>
                </a:solidFill>
                <a:latin typeface="SF Pro Text" pitchFamily="34" charset="0"/>
                <a:ea typeface="SF Pro Text" pitchFamily="34" charset="-122"/>
                <a:cs typeface="SF Pro Text" pitchFamily="34" charset="-120"/>
              </a:rPr>
              <a:t>Refund the Priority Fee and the associated 15% processing fee.</a:t>
            </a:r>
            <a:endParaRPr lang="en-US" sz="1000" dirty="0"/>
          </a:p>
        </p:txBody>
      </p:sp>
      <p:sp>
        <p:nvSpPr>
          <p:cNvPr id="22" name="Shape 19"/>
          <p:cNvSpPr/>
          <p:nvPr/>
        </p:nvSpPr>
        <p:spPr>
          <a:xfrm>
            <a:off x="411480" y="3547872"/>
            <a:ext cx="3840480" cy="292608"/>
          </a:xfrm>
          <a:prstGeom prst="roundRect">
            <a:avLst>
              <a:gd name="adj" fmla="val 25000"/>
            </a:avLst>
          </a:prstGeom>
          <a:solidFill>
            <a:srgbClr val="FFF3D6"/>
          </a:solidFill>
          <a:ln w="9525">
            <a:solidFill>
              <a:srgbClr val="9A6410"/>
            </a:solidFill>
            <a:prstDash val="solid"/>
          </a:ln>
        </p:spPr>
      </p:sp>
      <p:pic>
        <p:nvPicPr>
          <p:cNvPr id="23" name="Image 0" descr="preencoded.png">    </p:cNvPr>
          <p:cNvPicPr>
            <a:picLocks noChangeAspect="1"/>
          </p:cNvPicPr>
          <p:nvPr/>
        </p:nvPicPr>
        <p:blipFill>
          <a:blip r:embed="rId1"/>
          <a:stretch>
            <a:fillRect/>
          </a:stretch>
        </p:blipFill>
        <p:spPr>
          <a:xfrm>
            <a:off x="521208" y="3621024"/>
            <a:ext cx="146304" cy="146304"/>
          </a:xfrm>
          <a:prstGeom prst="rect">
            <a:avLst/>
          </a:prstGeom>
        </p:spPr>
      </p:pic>
      <p:sp>
        <p:nvSpPr>
          <p:cNvPr id="24" name="Text 20"/>
          <p:cNvSpPr txBox="1"/>
          <p:nvPr/>
        </p:nvSpPr>
        <p:spPr>
          <a:xfrm>
            <a:off x="731520" y="3547872"/>
            <a:ext cx="347472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Macro:  </a:t>
            </a:r>
            <a:pPr indent="0" marL="0">
              <a:buNone/>
            </a:pPr>
            <a:r>
              <a:rPr lang="en-US" sz="950" b="1" dirty="0">
                <a:solidFill>
                  <a:srgbClr val="1D1D1F"/>
                </a:solidFill>
                <a:latin typeface="SF Pro Display" pitchFamily="34" charset="0"/>
                <a:ea typeface="SF Pro Display" pitchFamily="34" charset="-122"/>
                <a:cs typeface="SF Pro Display" pitchFamily="34" charset="-120"/>
              </a:rPr>
              <a:t>Priority Fee: Issue Credits up to 100%</a:t>
            </a:r>
            <a:endParaRPr lang="en-US" sz="950" dirty="0"/>
          </a:p>
        </p:txBody>
      </p:sp>
      <p:sp>
        <p:nvSpPr>
          <p:cNvPr id="25" name="Shape 21"/>
          <p:cNvSpPr/>
          <p:nvPr/>
        </p:nvSpPr>
        <p:spPr>
          <a:xfrm>
            <a:off x="4892040" y="3547872"/>
            <a:ext cx="3840480" cy="292608"/>
          </a:xfrm>
          <a:prstGeom prst="roundRect">
            <a:avLst>
              <a:gd name="adj" fmla="val 25000"/>
            </a:avLst>
          </a:prstGeom>
          <a:solidFill>
            <a:srgbClr val="FFF3D6"/>
          </a:solidFill>
          <a:ln w="9525">
            <a:solidFill>
              <a:srgbClr val="9A6410"/>
            </a:solidFill>
            <a:prstDash val="solid"/>
          </a:ln>
        </p:spPr>
      </p:sp>
      <p:pic>
        <p:nvPicPr>
          <p:cNvPr id="26" name="Image 1" descr="preencoded.png">    </p:cNvPr>
          <p:cNvPicPr>
            <a:picLocks noChangeAspect="1"/>
          </p:cNvPicPr>
          <p:nvPr/>
        </p:nvPicPr>
        <p:blipFill>
          <a:blip r:embed="rId2"/>
          <a:stretch>
            <a:fillRect/>
          </a:stretch>
        </p:blipFill>
        <p:spPr>
          <a:xfrm>
            <a:off x="5001768" y="3621024"/>
            <a:ext cx="146304" cy="146304"/>
          </a:xfrm>
          <a:prstGeom prst="rect">
            <a:avLst/>
          </a:prstGeom>
        </p:spPr>
      </p:pic>
      <p:sp>
        <p:nvSpPr>
          <p:cNvPr id="27" name="Text 22"/>
          <p:cNvSpPr txBox="1"/>
          <p:nvPr/>
        </p:nvSpPr>
        <p:spPr>
          <a:xfrm>
            <a:off x="5212080" y="3547872"/>
            <a:ext cx="347472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Macro:  </a:t>
            </a:r>
            <a:pPr indent="0" marL="0">
              <a:buNone/>
            </a:pPr>
            <a:r>
              <a:rPr lang="en-US" sz="950" b="1" dirty="0">
                <a:solidFill>
                  <a:srgbClr val="1D1D1F"/>
                </a:solidFill>
                <a:latin typeface="SF Pro Display" pitchFamily="34" charset="0"/>
                <a:ea typeface="SF Pro Display" pitchFamily="34" charset="-122"/>
                <a:cs typeface="SF Pro Display" pitchFamily="34" charset="-120"/>
              </a:rPr>
              <a:t>Priority Fee Refunded</a:t>
            </a:r>
            <a:endParaRPr lang="en-US" sz="950" dirty="0"/>
          </a:p>
        </p:txBody>
      </p:sp>
      <p:sp>
        <p:nvSpPr>
          <p:cNvPr id="28" name="Text 23"/>
          <p:cNvSpPr/>
          <p:nvPr/>
        </p:nvSpPr>
        <p:spPr>
          <a:xfrm>
            <a:off x="6080760" y="3950208"/>
            <a:ext cx="1463040" cy="329184"/>
          </a:xfrm>
          <a:prstGeom prst="roundRect">
            <a:avLst>
              <a:gd name="adj" fmla="val 22222"/>
            </a:avLst>
          </a:prstGeom>
          <a:solidFill>
            <a:srgbClr val="FFFFFF"/>
          </a:solidFill>
          <a:ln w="19050">
            <a:solidFill>
              <a:srgbClr val="0B7A6F"/>
            </a:solidFill>
          </a:ln>
        </p:spPr>
        <p:txBody>
          <a:bodyPr wrap="square" rtlCol="0" anchor="ctr"/>
          <a:lstStyle/>
          <a:p>
            <a:pPr algn="ctr" indent="0" marL="0">
              <a:buNone/>
            </a:pPr>
            <a:r>
              <a:rPr lang="en-US" sz="1000" b="1" dirty="0">
                <a:solidFill>
                  <a:srgbClr val="0B7A6F"/>
                </a:solidFill>
                <a:latin typeface="SF Pro Display" pitchFamily="34" charset="0"/>
                <a:ea typeface="SF Pro Display" pitchFamily="34" charset="-122"/>
                <a:cs typeface="SF Pro Display" pitchFamily="34" charset="-120"/>
              </a:rPr>
              <a:t>Scenarios  ›</a:t>
            </a:r>
            <a:endParaRPr lang="en-US" sz="1000" dirty="0"/>
          </a:p>
        </p:txBody>
      </p:sp>
      <p:sp>
        <p:nvSpPr>
          <p:cNvPr id="29" name="Shape 24"/>
          <p:cNvSpPr/>
          <p:nvPr/>
        </p:nvSpPr>
        <p:spPr>
          <a:xfrm>
            <a:off x="411480" y="4389120"/>
            <a:ext cx="8321040" cy="384048"/>
          </a:xfrm>
          <a:prstGeom prst="roundRect">
            <a:avLst>
              <a:gd name="adj" fmla="val 19048"/>
            </a:avLst>
          </a:prstGeom>
          <a:solidFill>
            <a:srgbClr val="FFF3D6"/>
          </a:solidFill>
          <a:ln w="9525">
            <a:solidFill>
              <a:srgbClr val="FFF3D6"/>
            </a:solidFill>
            <a:prstDash val="solid"/>
          </a:ln>
        </p:spPr>
      </p:sp>
      <p:pic>
        <p:nvPicPr>
          <p:cNvPr id="30" name="Image 2" descr="preencoded.png">    </p:cNvPr>
          <p:cNvPicPr>
            <a:picLocks noChangeAspect="1"/>
          </p:cNvPicPr>
          <p:nvPr/>
        </p:nvPicPr>
        <p:blipFill>
          <a:blip r:embed="rId3"/>
          <a:stretch>
            <a:fillRect/>
          </a:stretch>
        </p:blipFill>
        <p:spPr>
          <a:xfrm>
            <a:off x="566928" y="4498848"/>
            <a:ext cx="164592" cy="164592"/>
          </a:xfrm>
          <a:prstGeom prst="rect">
            <a:avLst/>
          </a:prstGeom>
        </p:spPr>
      </p:pic>
      <p:sp>
        <p:nvSpPr>
          <p:cNvPr id="31" name="Text 25"/>
          <p:cNvSpPr txBox="1"/>
          <p:nvPr/>
        </p:nvSpPr>
        <p:spPr>
          <a:xfrm>
            <a:off x="822960" y="44897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Note:  </a:t>
            </a:r>
            <a:pPr indent="0" marL="0">
              <a:buNone/>
            </a:pPr>
            <a:r>
              <a:rPr lang="en-US" sz="1000" dirty="0">
                <a:solidFill>
                  <a:srgbClr val="1D1D1F"/>
                </a:solidFill>
                <a:latin typeface="SF Pro Text" pitchFamily="34" charset="0"/>
                <a:ea typeface="SF Pro Text" pitchFamily="34" charset="-122"/>
                <a:cs typeface="SF Pro Text" pitchFamily="34" charset="-120"/>
              </a:rPr>
              <a:t>if unsure whether the case is comparable or customer-driven, escalate rather than deciding solo.</a:t>
            </a:r>
            <a:endParaRPr lang="en-US" sz="1000" dirty="0"/>
          </a:p>
        </p:txBody>
      </p:sp>
      <p:sp>
        <p:nvSpPr>
          <p:cNvPr id="32" name="pop1_5Panel"/>
          <p:cNvSpPr/>
          <p:nvPr/>
        </p:nvSpPr>
        <p:spPr>
          <a:xfrm>
            <a:off x="411480" y="1993392"/>
            <a:ext cx="4069080" cy="2606040"/>
          </a:xfrm>
          <a:prstGeom prst="roundRect">
            <a:avLst>
              <a:gd name="adj" fmla="val 2105"/>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33" name="pop1_5Title"/>
          <p:cNvSpPr txBox="1"/>
          <p:nvPr/>
        </p:nvSpPr>
        <p:spPr>
          <a:xfrm>
            <a:off x="594360" y="2066544"/>
            <a:ext cx="3703320" cy="292608"/>
          </a:xfrm>
          <a:prstGeom prst="rect">
            <a:avLst/>
          </a:prstGeom>
          <a:noFill/>
          <a:ln/>
        </p:spPr>
        <p:txBody>
          <a:bodyPr wrap="square" lIns="0" tIns="0" rIns="0" bIns="0" rtlCol="0" anchor="ct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When it's on us: known scenarios</a:t>
            </a:r>
            <a:endParaRPr lang="en-US" sz="1100" dirty="0"/>
          </a:p>
        </p:txBody>
      </p:sp>
      <p:sp>
        <p:nvSpPr>
          <p:cNvPr id="34" name="pop1_5Row"/>
          <p:cNvSpPr/>
          <p:nvPr/>
        </p:nvSpPr>
        <p:spPr>
          <a:xfrm>
            <a:off x="548640" y="2432304"/>
            <a:ext cx="3794760" cy="457200"/>
          </a:xfrm>
          <a:prstGeom prst="roundRect">
            <a:avLst>
              <a:gd name="adj" fmla="val 12000"/>
            </a:avLst>
          </a:prstGeom>
          <a:solidFill>
            <a:srgbClr val="E3F4F1"/>
          </a:solidFill>
          <a:ln w="12700">
            <a:solidFill>
              <a:srgbClr val="E3F4F1"/>
            </a:solidFill>
            <a:prstDash val="solid"/>
          </a:ln>
        </p:spPr>
      </p:sp>
      <p:pic>
        <p:nvPicPr>
          <p:cNvPr id="35" name="pop1_5Icon" descr="preencoded.png">    </p:cNvPr>
          <p:cNvPicPr>
            <a:picLocks noChangeAspect="1"/>
          </p:cNvPicPr>
          <p:nvPr/>
        </p:nvPicPr>
        <p:blipFill>
          <a:blip r:embed="rId4"/>
          <a:stretch>
            <a:fillRect/>
          </a:stretch>
        </p:blipFill>
        <p:spPr>
          <a:xfrm>
            <a:off x="667512" y="2569464"/>
            <a:ext cx="182880" cy="182880"/>
          </a:xfrm>
          <a:prstGeom prst="rect">
            <a:avLst/>
          </a:prstGeom>
        </p:spPr>
      </p:pic>
      <p:sp>
        <p:nvSpPr>
          <p:cNvPr id="36" name="pop1_5Text"/>
          <p:cNvSpPr txBox="1"/>
          <p:nvPr/>
        </p:nvSpPr>
        <p:spPr>
          <a:xfrm>
            <a:off x="960120" y="2432304"/>
            <a:ext cx="3291840" cy="457200"/>
          </a:xfrm>
          <a:prstGeom prst="rect">
            <a:avLst/>
          </a:prstGeom>
          <a:noFill/>
          <a:ln/>
        </p:spPr>
        <p:txBody>
          <a:bodyPr wrap="square" lIns="0" tIns="0" rIns="0" bIns="0" rtlCol="0" anchor="ctr"/>
          <a:lstStyle/>
          <a:p>
            <a:pPr indent="0" marL="0">
              <a:buNone/>
            </a:pPr>
            <a:r>
              <a:rPr lang="en-US" sz="950" b="1" dirty="0">
                <a:solidFill>
                  <a:srgbClr val="1D1D1F"/>
                </a:solidFill>
                <a:latin typeface="SF Pro Display" pitchFamily="34" charset="0"/>
                <a:ea typeface="SF Pro Display" pitchFamily="34" charset="-122"/>
                <a:cs typeface="SF Pro Display" pitchFamily="34" charset="-120"/>
              </a:rPr>
              <a:t>CP no-show   </a:t>
            </a:r>
            <a:pPr indent="0" marL="0">
              <a:buNone/>
            </a:pPr>
            <a:r>
              <a:rPr lang="en-US" sz="950" dirty="0">
                <a:solidFill>
                  <a:srgbClr val="6E6E73"/>
                </a:solidFill>
                <a:latin typeface="SF Pro Text" pitchFamily="34" charset="0"/>
                <a:ea typeface="SF Pro Text" pitchFamily="34" charset="-122"/>
                <a:cs typeface="SF Pro Text" pitchFamily="34" charset="-120"/>
              </a:rPr>
              <a:t>Previous CP didn't show or cancelled last minute.</a:t>
            </a:r>
            <a:endParaRPr lang="en-US" sz="950" dirty="0"/>
          </a:p>
        </p:txBody>
      </p:sp>
      <p:sp>
        <p:nvSpPr>
          <p:cNvPr id="37" name="pop2_5Row"/>
          <p:cNvSpPr/>
          <p:nvPr/>
        </p:nvSpPr>
        <p:spPr>
          <a:xfrm>
            <a:off x="548640" y="2962656"/>
            <a:ext cx="3794760" cy="457200"/>
          </a:xfrm>
          <a:prstGeom prst="roundRect">
            <a:avLst>
              <a:gd name="adj" fmla="val 12000"/>
            </a:avLst>
          </a:prstGeom>
          <a:solidFill>
            <a:srgbClr val="E3F4F1"/>
          </a:solidFill>
          <a:ln w="12700">
            <a:solidFill>
              <a:srgbClr val="E3F4F1"/>
            </a:solidFill>
            <a:prstDash val="solid"/>
          </a:ln>
        </p:spPr>
      </p:sp>
      <p:pic>
        <p:nvPicPr>
          <p:cNvPr id="38" name="pop2_5Icon" descr="preencoded.png">    </p:cNvPr>
          <p:cNvPicPr>
            <a:picLocks noChangeAspect="1"/>
          </p:cNvPicPr>
          <p:nvPr/>
        </p:nvPicPr>
        <p:blipFill>
          <a:blip r:embed="rId5"/>
          <a:stretch>
            <a:fillRect/>
          </a:stretch>
        </p:blipFill>
        <p:spPr>
          <a:xfrm>
            <a:off x="667512" y="3099816"/>
            <a:ext cx="182880" cy="182880"/>
          </a:xfrm>
          <a:prstGeom prst="rect">
            <a:avLst/>
          </a:prstGeom>
        </p:spPr>
      </p:pic>
      <p:sp>
        <p:nvSpPr>
          <p:cNvPr id="39" name="pop2_5Text"/>
          <p:cNvSpPr txBox="1"/>
          <p:nvPr/>
        </p:nvSpPr>
        <p:spPr>
          <a:xfrm>
            <a:off x="960120" y="2962656"/>
            <a:ext cx="3291840" cy="457200"/>
          </a:xfrm>
          <a:prstGeom prst="rect">
            <a:avLst/>
          </a:prstGeom>
          <a:noFill/>
          <a:ln/>
        </p:spPr>
        <p:txBody>
          <a:bodyPr wrap="square" lIns="0" tIns="0" rIns="0" bIns="0" rtlCol="0" anchor="ctr"/>
          <a:lstStyle/>
          <a:p>
            <a:pPr indent="0" marL="0">
              <a:buNone/>
            </a:pPr>
            <a:r>
              <a:rPr lang="en-US" sz="950" b="1" dirty="0">
                <a:solidFill>
                  <a:srgbClr val="1D1D1F"/>
                </a:solidFill>
                <a:latin typeface="SF Pro Display" pitchFamily="34" charset="0"/>
                <a:ea typeface="SF Pro Display" pitchFamily="34" charset="-122"/>
                <a:cs typeface="SF Pro Display" pitchFamily="34" charset="-120"/>
              </a:rPr>
              <a:t>CP rescheduled   </a:t>
            </a:r>
            <a:pPr indent="0" marL="0">
              <a:buNone/>
            </a:pPr>
            <a:r>
              <a:rPr lang="en-US" sz="950" dirty="0">
                <a:solidFill>
                  <a:srgbClr val="6E6E73"/>
                </a:solidFill>
                <a:latin typeface="SF Pro Text" pitchFamily="34" charset="0"/>
                <a:ea typeface="SF Pro Text" pitchFamily="34" charset="-122"/>
                <a:cs typeface="SF Pro Text" pitchFamily="34" charset="-120"/>
              </a:rPr>
              <a:t>Previous CP asked to move the appointment.</a:t>
            </a:r>
            <a:endParaRPr lang="en-US" sz="950" dirty="0"/>
          </a:p>
        </p:txBody>
      </p:sp>
      <p:sp>
        <p:nvSpPr>
          <p:cNvPr id="40" name="pop3_5Row"/>
          <p:cNvSpPr/>
          <p:nvPr/>
        </p:nvSpPr>
        <p:spPr>
          <a:xfrm>
            <a:off x="548640" y="3493008"/>
            <a:ext cx="3794760" cy="457200"/>
          </a:xfrm>
          <a:prstGeom prst="roundRect">
            <a:avLst>
              <a:gd name="adj" fmla="val 12000"/>
            </a:avLst>
          </a:prstGeom>
          <a:solidFill>
            <a:srgbClr val="E3F4F1"/>
          </a:solidFill>
          <a:ln w="12700">
            <a:solidFill>
              <a:srgbClr val="E3F4F1"/>
            </a:solidFill>
            <a:prstDash val="solid"/>
          </a:ln>
        </p:spPr>
      </p:sp>
      <p:pic>
        <p:nvPicPr>
          <p:cNvPr id="41" name="pop3_5Icon" descr="preencoded.png">    </p:cNvPr>
          <p:cNvPicPr>
            <a:picLocks noChangeAspect="1"/>
          </p:cNvPicPr>
          <p:nvPr/>
        </p:nvPicPr>
        <p:blipFill>
          <a:blip r:embed="rId6"/>
          <a:stretch>
            <a:fillRect/>
          </a:stretch>
        </p:blipFill>
        <p:spPr>
          <a:xfrm>
            <a:off x="667512" y="3630168"/>
            <a:ext cx="182880" cy="182880"/>
          </a:xfrm>
          <a:prstGeom prst="rect">
            <a:avLst/>
          </a:prstGeom>
        </p:spPr>
      </p:pic>
      <p:sp>
        <p:nvSpPr>
          <p:cNvPr id="42" name="pop3_5Text"/>
          <p:cNvSpPr txBox="1"/>
          <p:nvPr/>
        </p:nvSpPr>
        <p:spPr>
          <a:xfrm>
            <a:off x="960120" y="3493008"/>
            <a:ext cx="3291840" cy="457200"/>
          </a:xfrm>
          <a:prstGeom prst="rect">
            <a:avLst/>
          </a:prstGeom>
          <a:noFill/>
          <a:ln/>
        </p:spPr>
        <p:txBody>
          <a:bodyPr wrap="square" lIns="0" tIns="0" rIns="0" bIns="0" rtlCol="0" anchor="ctr"/>
          <a:lstStyle/>
          <a:p>
            <a:pPr indent="0" marL="0">
              <a:buNone/>
            </a:pPr>
            <a:r>
              <a:rPr lang="en-US" sz="950" b="1" dirty="0">
                <a:solidFill>
                  <a:srgbClr val="1D1D1F"/>
                </a:solidFill>
                <a:latin typeface="SF Pro Display" pitchFamily="34" charset="0"/>
                <a:ea typeface="SF Pro Display" pitchFamily="34" charset="-122"/>
                <a:cs typeface="SF Pro Display" pitchFamily="34" charset="-120"/>
              </a:rPr>
              <a:t>System bug   </a:t>
            </a:r>
            <a:pPr indent="0" marL="0">
              <a:buNone/>
            </a:pPr>
            <a:r>
              <a:rPr lang="en-US" sz="950" dirty="0">
                <a:solidFill>
                  <a:srgbClr val="6E6E73"/>
                </a:solidFill>
                <a:latin typeface="SF Pro Text" pitchFamily="34" charset="0"/>
                <a:ea typeface="SF Pro Text" pitchFamily="34" charset="-122"/>
                <a:cs typeface="SF Pro Text" pitchFamily="34" charset="-120"/>
              </a:rPr>
              <a:t>The customer was affected by a bug.</a:t>
            </a:r>
            <a:endParaRPr lang="en-US" sz="950" dirty="0"/>
          </a:p>
        </p:txBody>
      </p:sp>
      <p:sp>
        <p:nvSpPr>
          <p:cNvPr id="43" name="pop4_5Row"/>
          <p:cNvSpPr/>
          <p:nvPr/>
        </p:nvSpPr>
        <p:spPr>
          <a:xfrm>
            <a:off x="548640" y="4023360"/>
            <a:ext cx="3794760" cy="457200"/>
          </a:xfrm>
          <a:prstGeom prst="roundRect">
            <a:avLst>
              <a:gd name="adj" fmla="val 12000"/>
            </a:avLst>
          </a:prstGeom>
          <a:solidFill>
            <a:srgbClr val="E3F4F1"/>
          </a:solidFill>
          <a:ln w="12700">
            <a:solidFill>
              <a:srgbClr val="E3F4F1"/>
            </a:solidFill>
            <a:prstDash val="solid"/>
          </a:ln>
        </p:spPr>
      </p:sp>
      <p:pic>
        <p:nvPicPr>
          <p:cNvPr id="44" name="pop4_5Icon" descr="preencoded.png">    </p:cNvPr>
          <p:cNvPicPr>
            <a:picLocks noChangeAspect="1"/>
          </p:cNvPicPr>
          <p:nvPr/>
        </p:nvPicPr>
        <p:blipFill>
          <a:blip r:embed="rId7"/>
          <a:stretch>
            <a:fillRect/>
          </a:stretch>
        </p:blipFill>
        <p:spPr>
          <a:xfrm>
            <a:off x="667512" y="4160520"/>
            <a:ext cx="182880" cy="182880"/>
          </a:xfrm>
          <a:prstGeom prst="rect">
            <a:avLst/>
          </a:prstGeom>
        </p:spPr>
      </p:pic>
      <p:sp>
        <p:nvSpPr>
          <p:cNvPr id="45" name="pop4_5Text"/>
          <p:cNvSpPr txBox="1"/>
          <p:nvPr/>
        </p:nvSpPr>
        <p:spPr>
          <a:xfrm>
            <a:off x="960120" y="4023360"/>
            <a:ext cx="3291840" cy="457200"/>
          </a:xfrm>
          <a:prstGeom prst="rect">
            <a:avLst/>
          </a:prstGeom>
          <a:noFill/>
          <a:ln/>
        </p:spPr>
        <p:txBody>
          <a:bodyPr wrap="square" lIns="0" tIns="0" rIns="0" bIns="0" rtlCol="0" anchor="ctr"/>
          <a:lstStyle/>
          <a:p>
            <a:pPr indent="0" marL="0">
              <a:buNone/>
            </a:pPr>
            <a:r>
              <a:rPr lang="en-US" sz="950" b="1" dirty="0">
                <a:solidFill>
                  <a:srgbClr val="1D1D1F"/>
                </a:solidFill>
                <a:latin typeface="SF Pro Display" pitchFamily="34" charset="0"/>
                <a:ea typeface="SF Pro Display" pitchFamily="34" charset="-122"/>
                <a:cs typeface="SF Pro Display" pitchFamily="34" charset="-120"/>
              </a:rPr>
              <a:t>Rebooked after PCQ   </a:t>
            </a:r>
            <a:pPr indent="0" marL="0">
              <a:buNone/>
            </a:pPr>
            <a:r>
              <a:rPr lang="en-US" sz="950" dirty="0">
                <a:solidFill>
                  <a:srgbClr val="6E6E73"/>
                </a:solidFill>
                <a:latin typeface="SF Pro Text" pitchFamily="34" charset="0"/>
                <a:ea typeface="SF Pro Text" pitchFamily="34" charset="-122"/>
                <a:cs typeface="SF Pro Text" pitchFamily="34" charset="-120"/>
              </a:rPr>
              <a:t>Booked again right after reporting Poor Cleaning Quality.</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6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6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600"/>
                                        <p:tgtEl>
                                          <p:spTgt spid="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600"/>
                                        <p:tgtEl>
                                          <p:spTgt spid="3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600"/>
                                        <p:tgtEl>
                                          <p:spTgt spid="36"/>
                                        </p:tgtEl>
                                      </p:cBhvr>
                                    </p:animEffect>
                                  </p:childTnLst>
                                </p:cTn>
                              </p:par>
                            </p:childTnLst>
                          </p:cTn>
                        </p:par>
                      </p:childTnLst>
                    </p:cTn>
                  </p:par>
                  <p:par>
                    <p:cTn id="29" fill="hold">
                      <p:stCondLst>
                        <p:cond delay="indefinite"/>
                      </p:stCondLst>
                      <p:childTnLst>
                        <p:par>
                          <p:cTn id="30"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600"/>
                                        <p:tgtEl>
                                          <p:spTgt spid="3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600"/>
                                        <p:tgtEl>
                                          <p:spTgt spid="3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600"/>
                                        <p:tgtEl>
                                          <p:spTgt spid="39"/>
                                        </p:tgtEl>
                                      </p:cBhvr>
                                    </p:animEffect>
                                  </p:childTnLst>
                                </p:cTn>
                              </p:par>
                            </p:childTnLst>
                          </p:cTn>
                        </p:par>
                      </p:childTnLst>
                    </p:cTn>
                  </p:par>
                  <p:par>
                    <p:cTn id="40" fill="hold">
                      <p:stCondLst>
                        <p:cond delay="indefinite"/>
                      </p:stCondLst>
                      <p:childTnLst>
                        <p:par>
                          <p:cTn id="41"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6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600"/>
                                        <p:tgtEl>
                                          <p:spTgt spid="4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600"/>
                                        <p:tgtEl>
                                          <p:spTgt spid="42"/>
                                        </p:tgtEl>
                                      </p:cBhvr>
                                    </p:animEffect>
                                  </p:childTnLst>
                                </p:cTn>
                              </p:par>
                            </p:childTnLst>
                          </p:cTn>
                        </p:par>
                      </p:childTnLst>
                    </p:cTn>
                  </p:par>
                  <p:par>
                    <p:cTn id="51" fill="hold">
                      <p:stCondLst>
                        <p:cond delay="indefinite"/>
                      </p:stCondLst>
                      <p:childTnLst>
                        <p:par>
                          <p:cTn id="52"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600"/>
                                        <p:tgtEl>
                                          <p:spTgt spid="4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600"/>
                                        <p:tgtEl>
                                          <p:spTgt spid="4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600"/>
                                        <p:tgtEl>
                                          <p:spTgt spid="45"/>
                                        </p:tgtEl>
                                      </p:cBhvr>
                                    </p:animEffect>
                                  </p:childTnLst>
                                </p:cTn>
                              </p:par>
                            </p:childTnLst>
                          </p:cTn>
                        </p:par>
                      </p:childTnLst>
                    </p:cTn>
                  </p:par>
                  <p:par>
                    <p:cTn id="95" fill="hold">
                      <p:stCondLst>
                        <p:cond delay="indefinite"/>
                      </p:stCondLst>
                      <p:childTnLst>
                        <p:par>
                          <p:cTn id="96"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2"/>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3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4"/>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5"/>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6"/>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37"/>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38"/>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39"/>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40"/>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4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42"/>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43"/>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44"/>
                                        </p:tgtEl>
                                        <p:attrNameLst>
                                          <p:attrName>style.visibility</p:attrName>
                                        </p:attrNameLst>
                                      </p:cBhvr>
                                      <p:to>
                                        <p:strVal val="hidden"/>
                                      </p:to>
                                    </p:set>
                                  </p:childTnLst>
                                </p:cTn>
                              </p:par>
                              <p:par>
                                <p:cTn id="94" presetID="1" presetClass="exit" presetSubtype="0" fill="hold" grpId="1" nodeType="withEffect">
                                  <p:stCondLst>
                                    <p:cond delay="0"/>
                                  </p:stCondLst>
                                  <p:childTnLst>
                                    <p:set>
                                      <p:cBhvr>
                                        <p:cTn id="95" dur="1" fill="hold">
                                          <p:stCondLst>
                                            <p:cond delay="0"/>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6" grpId="0" animBg="1"/>
      <p:bldP spid="37" grpId="0" animBg="1"/>
      <p:bldP spid="39" grpId="0" animBg="1"/>
      <p:bldP spid="40" grpId="0" animBg="1"/>
      <p:bldP spid="42" grpId="0" animBg="1"/>
      <p:bldP spid="43" grpId="0" animBg="1"/>
      <p:bldP spid="45" grpId="0" animBg="1"/>
      <p:bldP spid="32" grpId="1" animBg="1"/>
      <p:bldP spid="33" grpId="1" animBg="1"/>
      <p:bldP spid="34" grpId="1" animBg="1"/>
      <p:bldP spid="36" grpId="1" animBg="1"/>
      <p:bldP spid="37" grpId="1" animBg="1"/>
      <p:bldP spid="39" grpId="1" animBg="1"/>
      <p:bldP spid="40" grpId="1" animBg="1"/>
      <p:bldP spid="42" grpId="1" animBg="1"/>
      <p:bldP spid="43" grpId="1" animBg="1"/>
      <p:bldP spid="45"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PRIORITY FEE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See What You’ve Got!</a:t>
            </a:r>
            <a:endParaRPr lang="en-US" sz="2400" dirty="0"/>
          </a:p>
        </p:txBody>
      </p:sp>
      <p:sp>
        <p:nvSpPr>
          <p:cNvPr id="5" name="Shape 2"/>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6" name="Shape 3"/>
          <p:cNvSpPr/>
          <p:nvPr/>
        </p:nvSpPr>
        <p:spPr>
          <a:xfrm>
            <a:off x="548640" y="1536192"/>
            <a:ext cx="274320" cy="274320"/>
          </a:xfrm>
          <a:prstGeom prst="ellipse">
            <a:avLst/>
          </a:prstGeom>
          <a:solidFill>
            <a:srgbClr val="E3F4F1"/>
          </a:solidFill>
          <a:ln w="12700">
            <a:solidFill>
              <a:srgbClr val="E3F4F1"/>
            </a:solidFill>
            <a:prstDash val="solid"/>
          </a:ln>
        </p:spPr>
      </p:sp>
      <p:sp>
        <p:nvSpPr>
          <p:cNvPr id="7" name="Text 4"/>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8" name="Text 5"/>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Now Jul 27, 10 AM. The customer moves tomorrow's 2 PM cleaning to Jul 29, 9 AM. Fee valid?</a:t>
            </a:r>
            <a:endParaRPr lang="en-US" sz="1000" dirty="0"/>
          </a:p>
        </p:txBody>
      </p:sp>
      <p:sp>
        <p:nvSpPr>
          <p:cNvPr id="9" name="Shape 6"/>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0"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Yes. Only the new slot counts, and it's 47 hours away.</a:t>
            </a:r>
            <a:endParaRPr lang="en-US" sz="900" dirty="0"/>
          </a:p>
        </p:txBody>
      </p:sp>
      <p:sp>
        <p:nvSpPr>
          <p:cNvPr id="11" name="Shape 8"/>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2" name="Shape 9"/>
          <p:cNvSpPr/>
          <p:nvPr/>
        </p:nvSpPr>
        <p:spPr>
          <a:xfrm>
            <a:off x="548640" y="2395728"/>
            <a:ext cx="274320" cy="274320"/>
          </a:xfrm>
          <a:prstGeom prst="ellipse">
            <a:avLst/>
          </a:prstGeom>
          <a:solidFill>
            <a:srgbClr val="E3F4F1"/>
          </a:solidFill>
          <a:ln w="12700">
            <a:solidFill>
              <a:srgbClr val="E3F4F1"/>
            </a:solidFill>
            <a:prstDash val="solid"/>
          </a:ln>
        </p:spPr>
      </p:sp>
      <p:sp>
        <p:nvSpPr>
          <p:cNvPr id="13" name="Text 10"/>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Their CP cancelled last minute, so they rebooked for tomorrow and were charged. What do you do?</a:t>
            </a:r>
            <a:endParaRPr lang="en-US" sz="1000" dirty="0"/>
          </a:p>
        </p:txBody>
      </p:sp>
      <p:sp>
        <p:nvSpPr>
          <p:cNvPr id="15" name="Shape 12"/>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6"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Refund the full fee + 15% processing to the original payment method. Macro: Priority Fee Refunded.</a:t>
            </a:r>
            <a:endParaRPr lang="en-US" sz="900" dirty="0"/>
          </a:p>
        </p:txBody>
      </p:sp>
      <p:sp>
        <p:nvSpPr>
          <p:cNvPr id="17" name="Shape 14"/>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8" name="Shape 15"/>
          <p:cNvSpPr/>
          <p:nvPr/>
        </p:nvSpPr>
        <p:spPr>
          <a:xfrm>
            <a:off x="548640" y="3255264"/>
            <a:ext cx="274320" cy="274320"/>
          </a:xfrm>
          <a:prstGeom prst="ellipse">
            <a:avLst/>
          </a:prstGeom>
          <a:solidFill>
            <a:srgbClr val="E3F4F1"/>
          </a:solidFill>
          <a:ln w="12700">
            <a:solidFill>
              <a:srgbClr val="E3F4F1"/>
            </a:solidFill>
            <a:prstDash val="solid"/>
          </a:ln>
        </p:spPr>
      </p:sp>
      <p:sp>
        <p:nvSpPr>
          <p:cNvPr id="19" name="Text 16"/>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0" name="Text 17"/>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picked a short-notice slot themselves and is upset. What can you offer?</a:t>
            </a:r>
            <a:endParaRPr lang="en-US" sz="1000" dirty="0"/>
          </a:p>
        </p:txBody>
      </p:sp>
      <p:sp>
        <p:nvSpPr>
          <p:cNvPr id="21" name="Shape 18"/>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2"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The fee stands. Courtesy credits up to 100% of the fee, as goodwill.</a:t>
            </a:r>
            <a:endParaRPr lang="en-US" sz="900" dirty="0"/>
          </a:p>
        </p:txBody>
      </p:sp>
      <p:sp>
        <p:nvSpPr>
          <p:cNvPr id="23" name="Shape 20"/>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4" name="Shape 21"/>
          <p:cNvSpPr/>
          <p:nvPr/>
        </p:nvSpPr>
        <p:spPr>
          <a:xfrm>
            <a:off x="548640" y="4114800"/>
            <a:ext cx="274320" cy="274320"/>
          </a:xfrm>
          <a:prstGeom prst="ellipse">
            <a:avLst/>
          </a:prstGeom>
          <a:solidFill>
            <a:srgbClr val="E3F4F1"/>
          </a:solidFill>
          <a:ln w="12700">
            <a:solidFill>
              <a:srgbClr val="E3F4F1"/>
            </a:solidFill>
            <a:prstDash val="solid"/>
          </a:ln>
        </p:spPr>
      </p:sp>
      <p:sp>
        <p:nvSpPr>
          <p:cNvPr id="25" name="Text 22"/>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6" name="Text 23"/>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Can you refund and credit the same Priority Fee?</a:t>
            </a:r>
            <a:endParaRPr lang="en-US" sz="1000" dirty="0"/>
          </a:p>
        </p:txBody>
      </p:sp>
      <p:sp>
        <p:nvSpPr>
          <p:cNvPr id="27" name="Shape 24"/>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8"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The paths are mutually exclusive unless a supervisor approves an exception.</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6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6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2"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PRIORITY FEE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Was the Priority Fee valid? Why?</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Their choice, or ours? Check the account history.</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actions are you going to take?</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Their choice: credits up to 100%. Ours: refund fee + 15%.</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05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Premium Upsell</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An optional $20 upgrade the customer chooses at booking.</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Premium Fee is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Two reasons to refund it</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failed charge keeps retrying</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Where to find it</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29.png">    </p:cNvPr>
          <p:cNvPicPr>
            <a:picLocks noChangeAspect="1"/>
          </p:cNvPicPr>
          <p:nvPr/>
        </p:nvPicPr>
        <p:blipFill>
          <a:blip r:embed="rId5"/>
          <a:stretch>
            <a:fillRect/>
          </a:stretch>
        </p:blipFill>
        <p:spPr>
          <a:xfrm>
            <a:off x="5541264" y="1580923"/>
            <a:ext cx="2926080" cy="1977081"/>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PREMIUM UPSELL</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the Premium Fee?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Chosen by the customer. Not triggered by timing.</a:t>
            </a:r>
            <a:endParaRPr lang="en-US" sz="1200" dirty="0"/>
          </a:p>
        </p:txBody>
      </p:sp>
      <p:sp>
        <p:nvSpPr>
          <p:cNvPr id="6" name="Shape 3"/>
          <p:cNvSpPr/>
          <p:nvPr/>
        </p:nvSpPr>
        <p:spPr>
          <a:xfrm>
            <a:off x="411480" y="1325880"/>
            <a:ext cx="2286000" cy="1920240"/>
          </a:xfrm>
          <a:prstGeom prst="roundRect">
            <a:avLst>
              <a:gd name="adj" fmla="val 3810"/>
            </a:avLst>
          </a:prstGeom>
          <a:solidFill>
            <a:srgbClr val="FFFFFF"/>
          </a:solidFill>
          <a:ln w="9525">
            <a:solidFill>
              <a:srgbClr val="DCE1E7"/>
            </a:solidFill>
            <a:prstDash val="solid"/>
          </a:ln>
        </p:spPr>
      </p:sp>
      <p:sp>
        <p:nvSpPr>
          <p:cNvPr id="7" name="Text 4"/>
          <p:cNvSpPr txBox="1"/>
          <p:nvPr/>
        </p:nvSpPr>
        <p:spPr>
          <a:xfrm>
            <a:off x="411480" y="1490472"/>
            <a:ext cx="2286000" cy="640080"/>
          </a:xfrm>
          <a:prstGeom prst="rect">
            <a:avLst/>
          </a:prstGeom>
          <a:noFill/>
          <a:ln/>
        </p:spPr>
        <p:txBody>
          <a:bodyPr wrap="square" lIns="0" tIns="0" rIns="0" bIns="0" rtlCol="0" anchor="ctr"/>
          <a:lstStyle/>
          <a:p>
            <a:pPr algn="ctr" indent="0" marL="0">
              <a:buNone/>
            </a:pPr>
            <a:r>
              <a:rPr lang="en-US" sz="3000" b="1" dirty="0">
                <a:solidFill>
                  <a:srgbClr val="9A6410"/>
                </a:solidFill>
                <a:latin typeface="SF Pro Display" pitchFamily="34" charset="0"/>
                <a:ea typeface="SF Pro Display" pitchFamily="34" charset="-122"/>
                <a:cs typeface="SF Pro Display" pitchFamily="34" charset="-120"/>
              </a:rPr>
              <a:t>$20</a:t>
            </a:r>
            <a:endParaRPr lang="en-US" sz="3000" dirty="0"/>
          </a:p>
        </p:txBody>
      </p:sp>
      <p:sp>
        <p:nvSpPr>
          <p:cNvPr id="8" name="Text 5"/>
          <p:cNvSpPr txBox="1"/>
          <p:nvPr/>
        </p:nvSpPr>
        <p:spPr>
          <a:xfrm>
            <a:off x="594360" y="2148840"/>
            <a:ext cx="1920240" cy="100584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plus applicable taxes, per job</a:t>
            </a:r>
            <a:endParaRPr lang="en-US" sz="1000" dirty="0"/>
          </a:p>
        </p:txBody>
      </p:sp>
      <p:sp>
        <p:nvSpPr>
          <p:cNvPr id="9" name="Shape 6"/>
          <p:cNvSpPr/>
          <p:nvPr/>
        </p:nvSpPr>
        <p:spPr>
          <a:xfrm>
            <a:off x="2834640" y="1325880"/>
            <a:ext cx="2880360" cy="1920240"/>
          </a:xfrm>
          <a:prstGeom prst="roundRect">
            <a:avLst>
              <a:gd name="adj" fmla="val 3810"/>
            </a:avLst>
          </a:prstGeom>
          <a:solidFill>
            <a:srgbClr val="FFFFFF"/>
          </a:solidFill>
          <a:ln w="9525">
            <a:solidFill>
              <a:srgbClr val="DCE1E7"/>
            </a:solidFill>
            <a:prstDash val="solid"/>
          </a:ln>
        </p:spPr>
      </p:sp>
      <p:sp>
        <p:nvSpPr>
          <p:cNvPr id="10" name="Shape 7"/>
          <p:cNvSpPr/>
          <p:nvPr/>
        </p:nvSpPr>
        <p:spPr>
          <a:xfrm>
            <a:off x="3017520" y="1508760"/>
            <a:ext cx="384048" cy="384048"/>
          </a:xfrm>
          <a:prstGeom prst="ellipse">
            <a:avLst/>
          </a:prstGeom>
          <a:solidFill>
            <a:srgbClr val="E3F4F1"/>
          </a:solidFill>
          <a:ln w="12700">
            <a:solidFill>
              <a:srgbClr val="E3F4F1"/>
            </a:solidFill>
            <a:prstDash val="solid"/>
          </a:ln>
        </p:spPr>
      </p:sp>
      <p:pic>
        <p:nvPicPr>
          <p:cNvPr id="11" name="Image 0" descr="preencoded.png">    </p:cNvPr>
          <p:cNvPicPr>
            <a:picLocks noChangeAspect="1"/>
          </p:cNvPicPr>
          <p:nvPr/>
        </p:nvPicPr>
        <p:blipFill>
          <a:blip r:embed="rId1"/>
          <a:stretch>
            <a:fillRect/>
          </a:stretch>
        </p:blipFill>
        <p:spPr>
          <a:xfrm>
            <a:off x="3109692" y="1600932"/>
            <a:ext cx="199705" cy="199705"/>
          </a:xfrm>
          <a:prstGeom prst="rect">
            <a:avLst/>
          </a:prstGeom>
        </p:spPr>
      </p:pic>
      <p:sp>
        <p:nvSpPr>
          <p:cNvPr id="12" name="Text 8"/>
          <p:cNvSpPr txBox="1"/>
          <p:nvPr/>
        </p:nvSpPr>
        <p:spPr>
          <a:xfrm>
            <a:off x="3520440" y="1508760"/>
            <a:ext cx="205740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Premium Fee</a:t>
            </a:r>
            <a:endParaRPr lang="en-US" sz="1300" dirty="0"/>
          </a:p>
        </p:txBody>
      </p:sp>
      <p:sp>
        <p:nvSpPr>
          <p:cNvPr id="13" name="Text 9"/>
          <p:cNvSpPr txBox="1"/>
          <p:nvPr/>
        </p:nvSpPr>
        <p:spPr>
          <a:xfrm>
            <a:off x="3017520" y="2039112"/>
            <a:ext cx="251460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Optional: the customer picks it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Chosen at booking</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 higher service tier</a:t>
            </a:r>
            <a:endParaRPr lang="en-US" sz="1000" dirty="0"/>
          </a:p>
        </p:txBody>
      </p:sp>
      <p:sp>
        <p:nvSpPr>
          <p:cNvPr id="14" name="Shape 10"/>
          <p:cNvSpPr/>
          <p:nvPr/>
        </p:nvSpPr>
        <p:spPr>
          <a:xfrm>
            <a:off x="5852160" y="1325880"/>
            <a:ext cx="2880360" cy="1920240"/>
          </a:xfrm>
          <a:prstGeom prst="roundRect">
            <a:avLst>
              <a:gd name="adj" fmla="val 3810"/>
            </a:avLst>
          </a:prstGeom>
          <a:solidFill>
            <a:srgbClr val="FFFFFF"/>
          </a:solidFill>
          <a:ln w="9525">
            <a:solidFill>
              <a:srgbClr val="DCE1E7"/>
            </a:solidFill>
            <a:prstDash val="solid"/>
          </a:ln>
        </p:spPr>
      </p:sp>
      <p:sp>
        <p:nvSpPr>
          <p:cNvPr id="15" name="Shape 11"/>
          <p:cNvSpPr/>
          <p:nvPr/>
        </p:nvSpPr>
        <p:spPr>
          <a:xfrm>
            <a:off x="6035040" y="1508760"/>
            <a:ext cx="384048" cy="384048"/>
          </a:xfrm>
          <a:prstGeom prst="ellipse">
            <a:avLst/>
          </a:prstGeom>
          <a:solidFill>
            <a:srgbClr val="E3F4F1"/>
          </a:solidFill>
          <a:ln w="12700">
            <a:solidFill>
              <a:srgbClr val="E3F4F1"/>
            </a:solidFill>
            <a:prstDash val="solid"/>
          </a:ln>
        </p:spPr>
      </p:sp>
      <p:pic>
        <p:nvPicPr>
          <p:cNvPr id="16" name="Image 1" descr="preencoded.png">    </p:cNvPr>
          <p:cNvPicPr>
            <a:picLocks noChangeAspect="1"/>
          </p:cNvPicPr>
          <p:nvPr/>
        </p:nvPicPr>
        <p:blipFill>
          <a:blip r:embed="rId2"/>
          <a:stretch>
            <a:fillRect/>
          </a:stretch>
        </p:blipFill>
        <p:spPr>
          <a:xfrm>
            <a:off x="6127212" y="1600932"/>
            <a:ext cx="199705" cy="199705"/>
          </a:xfrm>
          <a:prstGeom prst="rect">
            <a:avLst/>
          </a:prstGeom>
        </p:spPr>
      </p:pic>
      <p:sp>
        <p:nvSpPr>
          <p:cNvPr id="17" name="Text 12"/>
          <p:cNvSpPr txBox="1"/>
          <p:nvPr/>
        </p:nvSpPr>
        <p:spPr>
          <a:xfrm>
            <a:off x="6537960" y="1508760"/>
            <a:ext cx="205740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Not the Priority Fee</a:t>
            </a:r>
            <a:endParaRPr lang="en-US" sz="1300" dirty="0"/>
          </a:p>
        </p:txBody>
      </p:sp>
      <p:sp>
        <p:nvSpPr>
          <p:cNvPr id="18" name="Text 13"/>
          <p:cNvSpPr txBox="1"/>
          <p:nvPr/>
        </p:nvSpPr>
        <p:spPr>
          <a:xfrm>
            <a:off x="6035040" y="2039112"/>
            <a:ext cx="2514600" cy="10972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Automatic, not chosen</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Triggered by booking or rescheduling</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Inside the 48-hour window</a:t>
            </a:r>
            <a:endParaRPr lang="en-US" sz="1000" dirty="0"/>
          </a:p>
        </p:txBody>
      </p:sp>
      <p:sp>
        <p:nvSpPr>
          <p:cNvPr id="19" name="Shape 14"/>
          <p:cNvSpPr/>
          <p:nvPr/>
        </p:nvSpPr>
        <p:spPr>
          <a:xfrm>
            <a:off x="411480" y="3474720"/>
            <a:ext cx="8321040" cy="384048"/>
          </a:xfrm>
          <a:prstGeom prst="roundRect">
            <a:avLst>
              <a:gd name="adj" fmla="val 19048"/>
            </a:avLst>
          </a:prstGeom>
          <a:solidFill>
            <a:srgbClr val="FFF3D6"/>
          </a:solidFill>
          <a:ln w="9525">
            <a:solidFill>
              <a:srgbClr val="FFF3D6"/>
            </a:solidFill>
            <a:prstDash val="solid"/>
          </a:ln>
        </p:spPr>
      </p:sp>
      <p:pic>
        <p:nvPicPr>
          <p:cNvPr id="20" name="Image 2" descr="preencoded.png">    </p:cNvPr>
          <p:cNvPicPr>
            <a:picLocks noChangeAspect="1"/>
          </p:cNvPicPr>
          <p:nvPr/>
        </p:nvPicPr>
        <p:blipFill>
          <a:blip r:embed="rId3"/>
          <a:stretch>
            <a:fillRect/>
          </a:stretch>
        </p:blipFill>
        <p:spPr>
          <a:xfrm>
            <a:off x="566928" y="3584448"/>
            <a:ext cx="164592" cy="164592"/>
          </a:xfrm>
          <a:prstGeom prst="rect">
            <a:avLst/>
          </a:prstGeom>
        </p:spPr>
      </p:pic>
      <p:sp>
        <p:nvSpPr>
          <p:cNvPr id="21" name="Text 15"/>
          <p:cNvSpPr txBox="1"/>
          <p:nvPr/>
        </p:nvSpPr>
        <p:spPr>
          <a:xfrm>
            <a:off x="822960" y="35753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Where to find it:  </a:t>
            </a:r>
            <a:pPr indent="0" marL="0">
              <a:buNone/>
            </a:pPr>
            <a:r>
              <a:rPr lang="en-US" sz="1000" dirty="0">
                <a:solidFill>
                  <a:srgbClr val="1D1D1F"/>
                </a:solidFill>
                <a:latin typeface="SF Pro Text" pitchFamily="34" charset="0"/>
                <a:ea typeface="SF Pro Text" pitchFamily="34" charset="-122"/>
                <a:cs typeface="SF Pro Text" pitchFamily="34" charset="-120"/>
              </a:rPr>
              <a:t>New CRM › Payment History. Legacy CRM › Manual Charges.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PREMIUM UPSELL</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reasons to refund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Only one needs to apply.</a:t>
            </a:r>
            <a:endParaRPr lang="en-US" sz="1200" dirty="0"/>
          </a:p>
        </p:txBody>
      </p:sp>
      <p:sp>
        <p:nvSpPr>
          <p:cNvPr id="6" name="Shape 3"/>
          <p:cNvSpPr/>
          <p:nvPr/>
        </p:nvSpPr>
        <p:spPr>
          <a:xfrm>
            <a:off x="411480" y="1298448"/>
            <a:ext cx="4091940" cy="1325880"/>
          </a:xfrm>
          <a:prstGeom prst="roundRect">
            <a:avLst>
              <a:gd name="adj" fmla="val 5517"/>
            </a:avLst>
          </a:prstGeom>
          <a:solidFill>
            <a:srgbClr val="FFFFFF"/>
          </a:solidFill>
          <a:ln w="9525">
            <a:solidFill>
              <a:srgbClr val="DCE1E7"/>
            </a:solidFill>
            <a:prstDash val="solid"/>
          </a:ln>
        </p:spPr>
      </p:sp>
      <p:sp>
        <p:nvSpPr>
          <p:cNvPr id="7" name="Shape 4"/>
          <p:cNvSpPr/>
          <p:nvPr/>
        </p:nvSpPr>
        <p:spPr>
          <a:xfrm>
            <a:off x="576072" y="1463040"/>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42044"/>
            <a:ext cx="171176" cy="171176"/>
          </a:xfrm>
          <a:prstGeom prst="rect">
            <a:avLst/>
          </a:prstGeom>
        </p:spPr>
      </p:pic>
      <p:sp>
        <p:nvSpPr>
          <p:cNvPr id="9" name="Text 5"/>
          <p:cNvSpPr txBox="1"/>
          <p:nvPr/>
        </p:nvSpPr>
        <p:spPr>
          <a:xfrm>
            <a:off x="576072" y="1901952"/>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The customer asks</a:t>
            </a:r>
            <a:endParaRPr lang="en-US" sz="1200" dirty="0"/>
          </a:p>
        </p:txBody>
      </p:sp>
      <p:sp>
        <p:nvSpPr>
          <p:cNvPr id="10" name="Text 6"/>
          <p:cNvSpPr txBox="1"/>
          <p:nvPr/>
        </p:nvSpPr>
        <p:spPr>
          <a:xfrm>
            <a:off x="576072" y="2194560"/>
            <a:ext cx="3762756" cy="338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They request a refund of the Premium Fee.</a:t>
            </a:r>
            <a:endParaRPr lang="en-US" sz="950" dirty="0"/>
          </a:p>
        </p:txBody>
      </p:sp>
      <p:sp>
        <p:nvSpPr>
          <p:cNvPr id="11" name="Shape 7"/>
          <p:cNvSpPr/>
          <p:nvPr/>
        </p:nvSpPr>
        <p:spPr>
          <a:xfrm>
            <a:off x="4640580" y="1298448"/>
            <a:ext cx="4091940" cy="1325880"/>
          </a:xfrm>
          <a:prstGeom prst="roundRect">
            <a:avLst>
              <a:gd name="adj" fmla="val 5517"/>
            </a:avLst>
          </a:prstGeom>
          <a:solidFill>
            <a:srgbClr val="FFFFFF"/>
          </a:solidFill>
          <a:ln w="9525">
            <a:solidFill>
              <a:srgbClr val="DCE1E7"/>
            </a:solidFill>
            <a:prstDash val="solid"/>
          </a:ln>
        </p:spPr>
      </p:sp>
      <p:sp>
        <p:nvSpPr>
          <p:cNvPr id="12" name="Shape 8"/>
          <p:cNvSpPr/>
          <p:nvPr/>
        </p:nvSpPr>
        <p:spPr>
          <a:xfrm>
            <a:off x="4805172" y="1463040"/>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542044"/>
            <a:ext cx="171176" cy="171176"/>
          </a:xfrm>
          <a:prstGeom prst="rect">
            <a:avLst/>
          </a:prstGeom>
        </p:spPr>
      </p:pic>
      <p:sp>
        <p:nvSpPr>
          <p:cNvPr id="14" name="Text 9"/>
          <p:cNvSpPr txBox="1"/>
          <p:nvPr/>
        </p:nvSpPr>
        <p:spPr>
          <a:xfrm>
            <a:off x="4805172" y="1901952"/>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Confirmed service issue</a:t>
            </a:r>
            <a:endParaRPr lang="en-US" sz="1200" dirty="0"/>
          </a:p>
        </p:txBody>
      </p:sp>
      <p:sp>
        <p:nvSpPr>
          <p:cNvPr id="15" name="Text 10"/>
          <p:cNvSpPr txBox="1"/>
          <p:nvPr/>
        </p:nvSpPr>
        <p:spPr>
          <a:xfrm>
            <a:off x="4805172" y="2194560"/>
            <a:ext cx="3762756" cy="338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E.g. Poor Cleaning Quality. Refund it even if they never mention Premium.</a:t>
            </a:r>
            <a:endParaRPr lang="en-US" sz="950" dirty="0"/>
          </a:p>
        </p:txBody>
      </p:sp>
      <p:sp>
        <p:nvSpPr>
          <p:cNvPr id="16" name="Text 11"/>
          <p:cNvSpPr/>
          <p:nvPr/>
        </p:nvSpPr>
        <p:spPr>
          <a:xfrm>
            <a:off x="7223760" y="1463040"/>
            <a:ext cx="1325880" cy="274320"/>
          </a:xfrm>
          <a:prstGeom prst="roundRect">
            <a:avLst>
              <a:gd name="adj" fmla="val 20000"/>
            </a:avLst>
          </a:prstGeom>
          <a:solidFill>
            <a:srgbClr val="FFF3D6"/>
          </a:solidFill>
          <a:ln w="9525">
            <a:solidFill>
              <a:srgbClr val="9A6410"/>
            </a:solidFill>
          </a:ln>
        </p:spPr>
        <p:txBody>
          <a:bodyPr wrap="square" lIns="0" tIns="0" rIns="0" bIns="0" rtlCol="0" anchor="ctr"/>
          <a:lstStyle/>
          <a:p>
            <a:pPr algn="ctr" indent="0" marL="0">
              <a:buNone/>
            </a:pPr>
            <a:r>
              <a:rPr lang="en-US" sz="850" b="1" dirty="0">
                <a:solidFill>
                  <a:srgbClr val="9A6410"/>
                </a:solidFill>
                <a:latin typeface="SF Pro Text" pitchFamily="34" charset="0"/>
                <a:ea typeface="SF Pro Text" pitchFamily="34" charset="-122"/>
                <a:cs typeface="SF Pro Text" pitchFamily="34" charset="-120"/>
              </a:rPr>
              <a:t>Most often missed</a:t>
            </a:r>
            <a:endParaRPr lang="en-US" sz="850" dirty="0"/>
          </a:p>
        </p:txBody>
      </p:sp>
      <p:sp>
        <p:nvSpPr>
          <p:cNvPr id="17" name="Text 12"/>
          <p:cNvSpPr txBox="1"/>
          <p:nvPr/>
        </p:nvSpPr>
        <p:spPr>
          <a:xfrm>
            <a:off x="411480" y="2743200"/>
            <a:ext cx="54864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SPOT IT IN THE CRM › PAYMENT HISTORY</a:t>
            </a:r>
            <a:endParaRPr lang="en-US" sz="800" dirty="0"/>
          </a:p>
        </p:txBody>
      </p:sp>
      <p:pic>
        <p:nvPicPr>
          <p:cNvPr id="18" name="Image 2" descr="/tmp/claude-0/-workspace-training/3ce5cff6-cccf-5f33-b0ee-0b147a55120e/scratchpad/img6/premium_payment_history.png">    </p:cNvPr>
          <p:cNvPicPr>
            <a:picLocks noChangeAspect="1"/>
          </p:cNvPicPr>
          <p:nvPr/>
        </p:nvPicPr>
        <p:blipFill>
          <a:blip r:embed="rId3"/>
          <a:stretch>
            <a:fillRect/>
          </a:stretch>
        </p:blipFill>
        <p:spPr>
          <a:xfrm>
            <a:off x="411480" y="2926080"/>
            <a:ext cx="6047704" cy="1600200"/>
          </a:xfrm>
          <a:prstGeom prst="rect">
            <a:avLst/>
          </a:prstGeom>
        </p:spPr>
      </p:pic>
      <p:sp>
        <p:nvSpPr>
          <p:cNvPr id="19" name="Shape 13"/>
          <p:cNvSpPr/>
          <p:nvPr/>
        </p:nvSpPr>
        <p:spPr>
          <a:xfrm>
            <a:off x="411480" y="2926080"/>
            <a:ext cx="6047704" cy="1600200"/>
          </a:xfrm>
          <a:prstGeom prst="rect">
            <a:avLst/>
          </a:prstGeom>
          <a:ln w="9525">
            <a:solidFill>
              <a:srgbClr val="DCE1E7"/>
            </a:solidFill>
            <a:prstDash val="solid"/>
          </a:ln>
        </p:spPr>
      </p:sp>
      <p:sp>
        <p:nvSpPr>
          <p:cNvPr id="20" name="Shape 14"/>
          <p:cNvSpPr/>
          <p:nvPr/>
        </p:nvSpPr>
        <p:spPr>
          <a:xfrm>
            <a:off x="6596344" y="2743200"/>
            <a:ext cx="2136176" cy="1783080"/>
          </a:xfrm>
          <a:prstGeom prst="roundRect">
            <a:avLst>
              <a:gd name="adj" fmla="val 4103"/>
            </a:avLst>
          </a:prstGeom>
          <a:solidFill>
            <a:srgbClr val="E3F4F1"/>
          </a:solidFill>
          <a:ln w="9525">
            <a:solidFill>
              <a:srgbClr val="E3F4F1"/>
            </a:solidFill>
            <a:prstDash val="solid"/>
          </a:ln>
        </p:spPr>
      </p:sp>
      <p:sp>
        <p:nvSpPr>
          <p:cNvPr id="21" name="Text 15"/>
          <p:cNvSpPr txBox="1"/>
          <p:nvPr/>
        </p:nvSpPr>
        <p:spPr>
          <a:xfrm>
            <a:off x="6733504" y="2834640"/>
            <a:ext cx="1861856" cy="1600200"/>
          </a:xfrm>
          <a:prstGeom prst="rect">
            <a:avLst/>
          </a:prstGeom>
          <a:noFill/>
          <a:ln/>
        </p:spPr>
        <p:txBody>
          <a:bodyPr wrap="square" lIns="0" tIns="0" rIns="0" bIns="0" rtlCol="0" anchor="t"/>
          <a:lstStyle/>
          <a:p>
            <a:pPr indent="0" marL="0">
              <a:spcAft>
                <a:spcPts val="400"/>
              </a:spcAft>
              <a:buNone/>
            </a:pPr>
            <a:r>
              <a:rPr lang="en-US" sz="950" b="1" dirty="0">
                <a:solidFill>
                  <a:srgbClr val="0B7A6F"/>
                </a:solidFill>
                <a:latin typeface="SF Pro Display" pitchFamily="34" charset="0"/>
                <a:ea typeface="SF Pro Display" pitchFamily="34" charset="-122"/>
                <a:cs typeface="SF Pro Display" pitchFamily="34" charset="-120"/>
              </a:rPr>
              <a:t>Look for</a:t>
            </a:r>
            <a:endParaRPr lang="en-US" sz="950" dirty="0"/>
          </a:p>
          <a:p>
            <a:pPr indent="0" marL="0">
              <a:spcAft>
                <a:spcPts val="400"/>
              </a:spcAft>
              <a:buNone/>
            </a:pPr>
            <a:r>
              <a:rPr lang="en-US" sz="950" b="1" dirty="0">
                <a:solidFill>
                  <a:srgbClr val="1D1D1F"/>
                </a:solidFill>
                <a:latin typeface="SF Pro Text" pitchFamily="34" charset="0"/>
                <a:ea typeface="SF Pro Text" pitchFamily="34" charset="-122"/>
                <a:cs typeface="SF Pro Text" pitchFamily="34" charset="-120"/>
              </a:rPr>
              <a:t>premium_surcharge</a:t>
            </a:r>
            <a:endParaRPr lang="en-US" sz="950" dirty="0"/>
          </a:p>
          <a:p>
            <a:pPr indent="0" marL="0">
              <a:spcAft>
                <a:spcPts val="400"/>
              </a:spcAft>
              <a:buNone/>
            </a:pPr>
            <a:r>
              <a:rPr lang="en-US" sz="950" dirty="0">
                <a:solidFill>
                  <a:srgbClr val="1D1D1F"/>
                </a:solidFill>
                <a:latin typeface="SF Pro Text" pitchFamily="34" charset="0"/>
                <a:ea typeface="SF Pro Text" pitchFamily="34" charset="-122"/>
                <a:cs typeface="SF Pro Text" pitchFamily="34" charset="-120"/>
              </a:rPr>
              <a:t>$20 + tax, e.g. $21.35</a:t>
            </a:r>
            <a:endParaRPr lang="en-US" sz="950" dirty="0"/>
          </a:p>
          <a:p>
            <a:pPr indent="0" marL="0">
              <a:spcAft>
                <a:spcPts val="400"/>
              </a:spcAft>
              <a:buNone/>
            </a:pPr>
            <a:r>
              <a:rPr lang="en-US" sz="950" dirty="0">
                <a:solidFill>
                  <a:srgbClr val="6E6E73"/>
                </a:solidFill>
                <a:latin typeface="SF Pro Text" pitchFamily="34" charset="0"/>
                <a:ea typeface="SF Pro Text" pitchFamily="34" charset="-122"/>
                <a:cs typeface="SF Pro Text" pitchFamily="34" charset="-120"/>
              </a:rPr>
              <a:t>Confirmed service issue? Always check for it, and refund it.</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PREMIUM UPSELL</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 failed charge keeps retrying</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opposite of a failed LMC. A failed Premium Fee is not resolved.</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1828800"/>
                <a:gridCol w="3474720"/>
                <a:gridCol w="3017520"/>
              </a:tblGrid>
              <a:tr h="310896">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Failed charge</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What the system does</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What you do</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LMC</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Tries a couple of times, then stops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Let it go</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Premium Fee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Keeps retrying until it succeeds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Act: it will still land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11480" y="2606040"/>
            <a:ext cx="7315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CUSTOMER DOESN'T WANT PREMIUM, AND THE CHARGE ALREADY FAILED</a:t>
            </a:r>
            <a:endParaRPr lang="en-US" sz="800" dirty="0"/>
          </a:p>
        </p:txBody>
      </p:sp>
      <p:sp>
        <p:nvSpPr>
          <p:cNvPr id="8" name="Shape 4"/>
          <p:cNvSpPr/>
          <p:nvPr/>
        </p:nvSpPr>
        <p:spPr>
          <a:xfrm>
            <a:off x="411480" y="2852928"/>
            <a:ext cx="1965960" cy="566928"/>
          </a:xfrm>
          <a:prstGeom prst="roundRect">
            <a:avLst>
              <a:gd name="adj" fmla="val 12903"/>
            </a:avLst>
          </a:prstGeom>
          <a:solidFill>
            <a:srgbClr val="0B7A6F"/>
          </a:solidFill>
          <a:ln w="12700">
            <a:solidFill>
              <a:srgbClr val="0B7A6F"/>
            </a:solidFill>
            <a:prstDash val="solid"/>
          </a:ln>
        </p:spPr>
      </p:sp>
      <p:sp>
        <p:nvSpPr>
          <p:cNvPr id="9" name="Text 5"/>
          <p:cNvSpPr txBox="1"/>
          <p:nvPr/>
        </p:nvSpPr>
        <p:spPr>
          <a:xfrm>
            <a:off x="411480" y="2852928"/>
            <a:ext cx="196596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Switch the experience to Standard</a:t>
            </a:r>
            <a:endParaRPr lang="en-US" sz="1000" dirty="0"/>
          </a:p>
        </p:txBody>
      </p:sp>
      <p:sp>
        <p:nvSpPr>
          <p:cNvPr id="10" name="Shape 6"/>
          <p:cNvSpPr/>
          <p:nvPr/>
        </p:nvSpPr>
        <p:spPr>
          <a:xfrm>
            <a:off x="2377440" y="3136392"/>
            <a:ext cx="155448" cy="0"/>
          </a:xfrm>
          <a:prstGeom prst="line">
            <a:avLst/>
          </a:prstGeom>
          <a:noFill/>
          <a:ln w="12700">
            <a:solidFill>
              <a:srgbClr val="6E6E73"/>
            </a:solidFill>
            <a:prstDash val="solid"/>
            <a:tailEnd type="triangle"/>
          </a:ln>
        </p:spPr>
      </p:sp>
      <p:sp>
        <p:nvSpPr>
          <p:cNvPr id="11" name="Shape 7"/>
          <p:cNvSpPr/>
          <p:nvPr/>
        </p:nvSpPr>
        <p:spPr>
          <a:xfrm>
            <a:off x="2532888" y="2852928"/>
            <a:ext cx="1965960" cy="566928"/>
          </a:xfrm>
          <a:prstGeom prst="roundRect">
            <a:avLst>
              <a:gd name="adj" fmla="val 12903"/>
            </a:avLst>
          </a:prstGeom>
          <a:solidFill>
            <a:srgbClr val="0B7A6F"/>
          </a:solidFill>
          <a:ln w="12700">
            <a:solidFill>
              <a:srgbClr val="0B7A6F"/>
            </a:solidFill>
            <a:prstDash val="solid"/>
          </a:ln>
        </p:spPr>
      </p:sp>
      <p:sp>
        <p:nvSpPr>
          <p:cNvPr id="12" name="Text 8"/>
          <p:cNvSpPr txBox="1"/>
          <p:nvPr/>
        </p:nvSpPr>
        <p:spPr>
          <a:xfrm>
            <a:off x="2532888" y="2852928"/>
            <a:ext cx="196596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Credit equal to the Premium Fee</a:t>
            </a:r>
            <a:endParaRPr lang="en-US" sz="1000" dirty="0"/>
          </a:p>
        </p:txBody>
      </p:sp>
      <p:sp>
        <p:nvSpPr>
          <p:cNvPr id="13" name="Shape 9"/>
          <p:cNvSpPr/>
          <p:nvPr/>
        </p:nvSpPr>
        <p:spPr>
          <a:xfrm>
            <a:off x="4498848" y="3136392"/>
            <a:ext cx="155448" cy="0"/>
          </a:xfrm>
          <a:prstGeom prst="line">
            <a:avLst/>
          </a:prstGeom>
          <a:noFill/>
          <a:ln w="12700">
            <a:solidFill>
              <a:srgbClr val="6E6E73"/>
            </a:solidFill>
            <a:prstDash val="solid"/>
            <a:tailEnd type="triangle"/>
          </a:ln>
        </p:spPr>
      </p:sp>
      <p:sp>
        <p:nvSpPr>
          <p:cNvPr id="14" name="Shape 10"/>
          <p:cNvSpPr/>
          <p:nvPr/>
        </p:nvSpPr>
        <p:spPr>
          <a:xfrm>
            <a:off x="4654296" y="2852928"/>
            <a:ext cx="1965960" cy="566928"/>
          </a:xfrm>
          <a:prstGeom prst="roundRect">
            <a:avLst>
              <a:gd name="adj" fmla="val 12903"/>
            </a:avLst>
          </a:prstGeom>
          <a:solidFill>
            <a:srgbClr val="FFFFFF"/>
          </a:solidFill>
          <a:ln w="12700">
            <a:solidFill>
              <a:srgbClr val="DCE1E7"/>
            </a:solidFill>
            <a:prstDash val="solid"/>
          </a:ln>
        </p:spPr>
      </p:sp>
      <p:sp>
        <p:nvSpPr>
          <p:cNvPr id="15" name="Text 11"/>
          <p:cNvSpPr txBox="1"/>
          <p:nvPr/>
        </p:nvSpPr>
        <p:spPr>
          <a:xfrm>
            <a:off x="4654296" y="2852928"/>
            <a:ext cx="1965960" cy="56692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The retry lands, offset by the credit</a:t>
            </a:r>
            <a:endParaRPr lang="en-US" sz="1000" dirty="0"/>
          </a:p>
        </p:txBody>
      </p:sp>
      <p:sp>
        <p:nvSpPr>
          <p:cNvPr id="16" name="Shape 12"/>
          <p:cNvSpPr/>
          <p:nvPr/>
        </p:nvSpPr>
        <p:spPr>
          <a:xfrm>
            <a:off x="6620256" y="3136392"/>
            <a:ext cx="155448" cy="0"/>
          </a:xfrm>
          <a:prstGeom prst="line">
            <a:avLst/>
          </a:prstGeom>
          <a:noFill/>
          <a:ln w="12700">
            <a:solidFill>
              <a:srgbClr val="6E6E73"/>
            </a:solidFill>
            <a:prstDash val="solid"/>
            <a:tailEnd type="triangle"/>
          </a:ln>
        </p:spPr>
      </p:sp>
      <p:sp>
        <p:nvSpPr>
          <p:cNvPr id="17" name="Shape 13"/>
          <p:cNvSpPr/>
          <p:nvPr/>
        </p:nvSpPr>
        <p:spPr>
          <a:xfrm>
            <a:off x="6775704" y="2852928"/>
            <a:ext cx="1965960" cy="566928"/>
          </a:xfrm>
          <a:prstGeom prst="roundRect">
            <a:avLst>
              <a:gd name="adj" fmla="val 12903"/>
            </a:avLst>
          </a:prstGeom>
          <a:solidFill>
            <a:srgbClr val="FFFFFF"/>
          </a:solidFill>
          <a:ln w="12700">
            <a:solidFill>
              <a:srgbClr val="DCE1E7"/>
            </a:solidFill>
            <a:prstDash val="solid"/>
          </a:ln>
        </p:spPr>
      </p:sp>
      <p:sp>
        <p:nvSpPr>
          <p:cNvPr id="18" name="Text 14"/>
          <p:cNvSpPr txBox="1"/>
          <p:nvPr/>
        </p:nvSpPr>
        <p:spPr>
          <a:xfrm>
            <a:off x="6775704" y="2852928"/>
            <a:ext cx="1965960" cy="56692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Explain both to the customer</a:t>
            </a:r>
            <a:endParaRPr lang="en-US" sz="1000" dirty="0"/>
          </a:p>
        </p:txBody>
      </p:sp>
      <p:sp>
        <p:nvSpPr>
          <p:cNvPr id="19" name="Shape 15"/>
          <p:cNvSpPr/>
          <p:nvPr/>
        </p:nvSpPr>
        <p:spPr>
          <a:xfrm>
            <a:off x="411480" y="3657600"/>
            <a:ext cx="8321040" cy="384048"/>
          </a:xfrm>
          <a:prstGeom prst="roundRect">
            <a:avLst>
              <a:gd name="adj" fmla="val 19048"/>
            </a:avLst>
          </a:prstGeom>
          <a:solidFill>
            <a:srgbClr val="FFF3D6"/>
          </a:solidFill>
          <a:ln w="9525">
            <a:solidFill>
              <a:srgbClr val="FFF3D6"/>
            </a:solidFill>
            <a:prstDash val="solid"/>
          </a:ln>
        </p:spPr>
      </p:sp>
      <p:pic>
        <p:nvPicPr>
          <p:cNvPr id="20" name="Image 0" descr="preencoded.png">    </p:cNvPr>
          <p:cNvPicPr>
            <a:picLocks noChangeAspect="1"/>
          </p:cNvPicPr>
          <p:nvPr/>
        </p:nvPicPr>
        <p:blipFill>
          <a:blip r:embed="rId1"/>
          <a:stretch>
            <a:fillRect/>
          </a:stretch>
        </p:blipFill>
        <p:spPr>
          <a:xfrm>
            <a:off x="566928" y="3767328"/>
            <a:ext cx="164592" cy="164592"/>
          </a:xfrm>
          <a:prstGeom prst="rect">
            <a:avLst/>
          </a:prstGeom>
        </p:spPr>
      </p:pic>
      <p:sp>
        <p:nvSpPr>
          <p:cNvPr id="21" name="Text 16"/>
          <p:cNvSpPr txBox="1"/>
          <p:nvPr/>
        </p:nvSpPr>
        <p:spPr>
          <a:xfrm>
            <a:off x="822960" y="37581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Looks resolved?  </a:t>
            </a:r>
            <a:pPr indent="0" marL="0">
              <a:buNone/>
            </a:pPr>
            <a:r>
              <a:rPr lang="en-US" sz="1000" dirty="0">
                <a:solidFill>
                  <a:srgbClr val="1D1D1F"/>
                </a:solidFill>
                <a:latin typeface="SF Pro Text" pitchFamily="34" charset="0"/>
                <a:ea typeface="SF Pro Text" pitchFamily="34" charset="-122"/>
                <a:cs typeface="SF Pro Text" pitchFamily="34" charset="-120"/>
              </a:rPr>
              <a:t>check how the fee behaves on retry before deciding nothing is owed.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PREMIUM UPSELL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A customer reports Poor Cleaning Quality and never mentions Premium. Premium was charged. Refund it?</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Yes. A confirmed service issue is enough on its own.</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How much is the Premium Fee, and who chooses it?</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$20 plus applicable taxes. The customer chooses it at booking.</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Premium charge failed and the customer doesn't want it. Leave it, like a failed LMC?</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It keeps retrying. Switch to Standard, credit the fee amount, explain both.</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Where do you find the Premium charge?</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New CRM › Payment History. Legacy CRM › Manual Charges.</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36</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PREMIUM UPSELL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Should the Premium Fee be refunded? Why?</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Did they ask, or is there a confirmed service issue?</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actions are you going to take?</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Refund it. Failed charge? Standard + equal credit.</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06 OF 06</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Processing Fee</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A standard part of every cleaning. The question is why the customer is contesting it.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it is: 5% or 15%</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Expectation gap vs our failure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Goodwill, refund or ETF waiver</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If they don't want future fees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6/ill_pay.png">    </p:cNvPr>
          <p:cNvPicPr>
            <a:picLocks noChangeAspect="1"/>
          </p:cNvPicPr>
          <p:nvPr/>
        </p:nvPicPr>
        <p:blipFill>
          <a:blip r:embed="rId5"/>
          <a:stretch>
            <a:fillRect/>
          </a:stretch>
        </p:blipFill>
        <p:spPr>
          <a:xfrm>
            <a:off x="5541264" y="1540190"/>
            <a:ext cx="2926080" cy="2058549"/>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the Processing Fee?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Standard pricing, not a penalty. Don't debate whether it applies.</a:t>
            </a:r>
            <a:endParaRPr lang="en-US" sz="1200" dirty="0"/>
          </a:p>
        </p:txBody>
      </p:sp>
      <p:sp>
        <p:nvSpPr>
          <p:cNvPr id="6" name="Shape 3"/>
          <p:cNvSpPr/>
          <p:nvPr/>
        </p:nvSpPr>
        <p:spPr>
          <a:xfrm>
            <a:off x="411480" y="1325880"/>
            <a:ext cx="4091940" cy="1325880"/>
          </a:xfrm>
          <a:prstGeom prst="roundRect">
            <a:avLst>
              <a:gd name="adj" fmla="val 5517"/>
            </a:avLst>
          </a:prstGeom>
          <a:solidFill>
            <a:srgbClr val="FFFFFF"/>
          </a:solidFill>
          <a:ln w="9525">
            <a:solidFill>
              <a:srgbClr val="DCE1E7"/>
            </a:solidFill>
            <a:prstDash val="solid"/>
          </a:ln>
        </p:spPr>
      </p:sp>
      <p:sp>
        <p:nvSpPr>
          <p:cNvPr id="7" name="Text 4"/>
          <p:cNvSpPr txBox="1"/>
          <p:nvPr/>
        </p:nvSpPr>
        <p:spPr>
          <a:xfrm>
            <a:off x="411480" y="1490472"/>
            <a:ext cx="4091940" cy="640080"/>
          </a:xfrm>
          <a:prstGeom prst="rect">
            <a:avLst/>
          </a:prstGeom>
          <a:noFill/>
          <a:ln/>
        </p:spPr>
        <p:txBody>
          <a:bodyPr wrap="square" lIns="0" tIns="0" rIns="0" bIns="0" rtlCol="0" anchor="ctr"/>
          <a:lstStyle/>
          <a:p>
            <a:pPr algn="ctr" indent="0" marL="0">
              <a:buNone/>
            </a:pPr>
            <a:r>
              <a:rPr lang="en-US" sz="3000" b="1" dirty="0">
                <a:solidFill>
                  <a:srgbClr val="0B7A6F"/>
                </a:solidFill>
                <a:latin typeface="SF Pro Display" pitchFamily="34" charset="0"/>
                <a:ea typeface="SF Pro Display" pitchFamily="34" charset="-122"/>
                <a:cs typeface="SF Pro Display" pitchFamily="34" charset="-120"/>
              </a:rPr>
              <a:t>5%</a:t>
            </a:r>
            <a:endParaRPr lang="en-US" sz="3000" dirty="0"/>
          </a:p>
        </p:txBody>
      </p:sp>
      <p:sp>
        <p:nvSpPr>
          <p:cNvPr id="8" name="Text 5"/>
          <p:cNvSpPr txBox="1"/>
          <p:nvPr/>
        </p:nvSpPr>
        <p:spPr>
          <a:xfrm>
            <a:off x="594360" y="2148840"/>
            <a:ext cx="3726180" cy="4114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Non-ForeverClean and deactivated ForeverClean customers</a:t>
            </a:r>
            <a:endParaRPr lang="en-US" sz="1000" dirty="0"/>
          </a:p>
        </p:txBody>
      </p:sp>
      <p:sp>
        <p:nvSpPr>
          <p:cNvPr id="9" name="Shape 6"/>
          <p:cNvSpPr/>
          <p:nvPr/>
        </p:nvSpPr>
        <p:spPr>
          <a:xfrm>
            <a:off x="4640580" y="1325880"/>
            <a:ext cx="4091940" cy="1325880"/>
          </a:xfrm>
          <a:prstGeom prst="roundRect">
            <a:avLst>
              <a:gd name="adj" fmla="val 5517"/>
            </a:avLst>
          </a:prstGeom>
          <a:solidFill>
            <a:srgbClr val="FFFFFF"/>
          </a:solidFill>
          <a:ln w="9525">
            <a:solidFill>
              <a:srgbClr val="DCE1E7"/>
            </a:solidFill>
            <a:prstDash val="solid"/>
          </a:ln>
        </p:spPr>
      </p:sp>
      <p:sp>
        <p:nvSpPr>
          <p:cNvPr id="10" name="Text 7"/>
          <p:cNvSpPr txBox="1"/>
          <p:nvPr/>
        </p:nvSpPr>
        <p:spPr>
          <a:xfrm>
            <a:off x="4640580" y="1490472"/>
            <a:ext cx="4091940" cy="640080"/>
          </a:xfrm>
          <a:prstGeom prst="rect">
            <a:avLst/>
          </a:prstGeom>
          <a:noFill/>
          <a:ln/>
        </p:spPr>
        <p:txBody>
          <a:bodyPr wrap="square" lIns="0" tIns="0" rIns="0" bIns="0" rtlCol="0" anchor="ctr"/>
          <a:lstStyle/>
          <a:p>
            <a:pPr algn="ctr" indent="0" marL="0">
              <a:buNone/>
            </a:pPr>
            <a:r>
              <a:rPr lang="en-US" sz="3000" b="1" dirty="0">
                <a:solidFill>
                  <a:srgbClr val="0B7A6F"/>
                </a:solidFill>
                <a:latin typeface="SF Pro Display" pitchFamily="34" charset="0"/>
                <a:ea typeface="SF Pro Display" pitchFamily="34" charset="-122"/>
                <a:cs typeface="SF Pro Display" pitchFamily="34" charset="-120"/>
              </a:rPr>
              <a:t>15%</a:t>
            </a:r>
            <a:endParaRPr lang="en-US" sz="3000" dirty="0"/>
          </a:p>
        </p:txBody>
      </p:sp>
      <p:sp>
        <p:nvSpPr>
          <p:cNvPr id="11" name="Text 8"/>
          <p:cNvSpPr txBox="1"/>
          <p:nvPr/>
        </p:nvSpPr>
        <p:spPr>
          <a:xfrm>
            <a:off x="4823460" y="2148840"/>
            <a:ext cx="3726180" cy="4114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Active ForeverClean customers</a:t>
            </a:r>
            <a:endParaRPr lang="en-US" sz="1000" dirty="0"/>
          </a:p>
        </p:txBody>
      </p:sp>
      <p:sp>
        <p:nvSpPr>
          <p:cNvPr id="12" name="Shape 9"/>
          <p:cNvSpPr/>
          <p:nvPr/>
        </p:nvSpPr>
        <p:spPr>
          <a:xfrm>
            <a:off x="411480" y="2880360"/>
            <a:ext cx="8321040" cy="384048"/>
          </a:xfrm>
          <a:prstGeom prst="roundRect">
            <a:avLst>
              <a:gd name="adj" fmla="val 19048"/>
            </a:avLst>
          </a:prstGeom>
          <a:solidFill>
            <a:srgbClr val="FFF3D6"/>
          </a:solidFill>
          <a:ln w="9525">
            <a:solidFill>
              <a:srgbClr val="FFF3D6"/>
            </a:solidFill>
            <a:prstDash val="solid"/>
          </a:ln>
        </p:spPr>
      </p:sp>
      <p:pic>
        <p:nvPicPr>
          <p:cNvPr id="13" name="Image 0" descr="preencoded.png">    </p:cNvPr>
          <p:cNvPicPr>
            <a:picLocks noChangeAspect="1"/>
          </p:cNvPicPr>
          <p:nvPr/>
        </p:nvPicPr>
        <p:blipFill>
          <a:blip r:embed="rId1"/>
          <a:stretch>
            <a:fillRect/>
          </a:stretch>
        </p:blipFill>
        <p:spPr>
          <a:xfrm>
            <a:off x="566928" y="2990088"/>
            <a:ext cx="164592" cy="164592"/>
          </a:xfrm>
          <a:prstGeom prst="rect">
            <a:avLst/>
          </a:prstGeom>
        </p:spPr>
      </p:pic>
      <p:sp>
        <p:nvSpPr>
          <p:cNvPr id="14" name="Text 10"/>
          <p:cNvSpPr txBox="1"/>
          <p:nvPr/>
        </p:nvSpPr>
        <p:spPr>
          <a:xfrm>
            <a:off x="822960" y="29809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Usually contested because of  </a:t>
            </a:r>
            <a:pPr indent="0" marL="0">
              <a:buNone/>
            </a:pPr>
            <a:r>
              <a:rPr lang="en-US" sz="1000" dirty="0">
                <a:solidFill>
                  <a:srgbClr val="1D1D1F"/>
                </a:solidFill>
                <a:latin typeface="SF Pro Text" pitchFamily="34" charset="0"/>
                <a:ea typeface="SF Pro Text" pitchFamily="34" charset="-122"/>
                <a:cs typeface="SF Pro Text" pitchFamily="34" charset="-120"/>
              </a:rPr>
              <a:t>an expectation gap, not a billing error. Find out why they're contesting it.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Why are they contesting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fee can be legitimate. So can the frustration.</a:t>
            </a:r>
            <a:endParaRPr lang="en-US" sz="1200" dirty="0"/>
          </a:p>
        </p:txBody>
      </p:sp>
      <p:sp>
        <p:nvSpPr>
          <p:cNvPr id="6" name="Shape 3"/>
          <p:cNvSpPr/>
          <p:nvPr/>
        </p:nvSpPr>
        <p:spPr>
          <a:xfrm>
            <a:off x="411480" y="1325880"/>
            <a:ext cx="4091940" cy="2011680"/>
          </a:xfrm>
          <a:prstGeom prst="roundRect">
            <a:avLst>
              <a:gd name="adj" fmla="val 3636"/>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We set expectations properly</a:t>
            </a:r>
            <a:endParaRPr lang="en-US" sz="1300" dirty="0"/>
          </a:p>
        </p:txBody>
      </p:sp>
      <p:sp>
        <p:nvSpPr>
          <p:cNvPr id="10" name="Text 6"/>
          <p:cNvSpPr txBox="1"/>
          <p:nvPr/>
        </p:nvSpPr>
        <p:spPr>
          <a:xfrm>
            <a:off x="594360" y="2039112"/>
            <a:ext cx="3726180" cy="11887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Overlooked the fee at signup</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Forgot the pricing details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Assumed the hourly rate included all fees</a:t>
            </a:r>
            <a:endParaRPr lang="en-US" sz="1000" dirty="0"/>
          </a:p>
          <a:p>
            <a:pPr marL="127000" indent="-127000">
              <a:spcAft>
                <a:spcPts val="500"/>
              </a:spcAft>
              <a:buSzPct val="100000"/>
              <a:buChar char="•"/>
            </a:pPr>
            <a:r>
              <a:rPr lang="en-US" sz="1000" b="1" dirty="0">
                <a:solidFill>
                  <a:srgbClr val="0B7A6F"/>
                </a:solidFill>
                <a:latin typeface="SF Pro Text" pitchFamily="34" charset="0"/>
                <a:ea typeface="SF Pro Text" pitchFamily="34" charset="-122"/>
                <a:cs typeface="SF Pro Text" pitchFamily="34" charset="-120"/>
              </a:rPr>
              <a:t>An expectation gap</a:t>
            </a:r>
            <a:endParaRPr lang="en-US" sz="1000" dirty="0"/>
          </a:p>
        </p:txBody>
      </p:sp>
      <p:sp>
        <p:nvSpPr>
          <p:cNvPr id="11" name="Shape 7"/>
          <p:cNvSpPr/>
          <p:nvPr/>
        </p:nvSpPr>
        <p:spPr>
          <a:xfrm>
            <a:off x="4640580" y="1325880"/>
            <a:ext cx="4091940" cy="2011680"/>
          </a:xfrm>
          <a:prstGeom prst="roundRect">
            <a:avLst>
              <a:gd name="adj" fmla="val 3636"/>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We failed to set expectations</a:t>
            </a:r>
            <a:endParaRPr lang="en-US" sz="1300" dirty="0"/>
          </a:p>
        </p:txBody>
      </p:sp>
      <p:sp>
        <p:nvSpPr>
          <p:cNvPr id="15" name="Text 10"/>
          <p:cNvSpPr txBox="1"/>
          <p:nvPr/>
        </p:nvSpPr>
        <p:spPr>
          <a:xfrm>
            <a:off x="4823460" y="2039112"/>
            <a:ext cx="3726180" cy="11887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Sales didn't mention the fee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Sales said there were no extra fees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 system issue hid the disclosure</a:t>
            </a:r>
            <a:endParaRPr lang="en-US" sz="1000" dirty="0"/>
          </a:p>
          <a:p>
            <a:pPr marL="127000" indent="-127000">
              <a:spcAft>
                <a:spcPts val="500"/>
              </a:spcAft>
              <a:buSzPct val="100000"/>
              <a:buChar char="•"/>
            </a:pPr>
            <a:r>
              <a:rPr lang="en-US" sz="1000" b="1" dirty="0">
                <a:solidFill>
                  <a:srgbClr val="0B7A6F"/>
                </a:solidFill>
                <a:latin typeface="SF Pro Text" pitchFamily="34" charset="0"/>
                <a:ea typeface="SF Pro Text" pitchFamily="34" charset="-122"/>
                <a:cs typeface="SF Pro Text" pitchFamily="34" charset="-120"/>
              </a:rPr>
              <a:t>Our expectation issue</a:t>
            </a:r>
            <a:endParaRPr lang="en-US" sz="1000" dirty="0"/>
          </a:p>
        </p:txBody>
      </p:sp>
      <p:sp>
        <p:nvSpPr>
          <p:cNvPr id="16" name="Shape 11"/>
          <p:cNvSpPr/>
          <p:nvPr/>
        </p:nvSpPr>
        <p:spPr>
          <a:xfrm>
            <a:off x="411480" y="352044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630168"/>
            <a:ext cx="164592" cy="164592"/>
          </a:xfrm>
          <a:prstGeom prst="rect">
            <a:avLst/>
          </a:prstGeom>
        </p:spPr>
      </p:pic>
      <p:sp>
        <p:nvSpPr>
          <p:cNvPr id="18" name="Text 12"/>
          <p:cNvSpPr txBox="1"/>
          <p:nvPr/>
        </p:nvSpPr>
        <p:spPr>
          <a:xfrm>
            <a:off x="822960" y="36210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Verify first:  </a:t>
            </a:r>
            <a:pPr indent="0" marL="0">
              <a:buNone/>
            </a:pPr>
            <a:r>
              <a:rPr lang="en-US" sz="1000" dirty="0">
                <a:solidFill>
                  <a:srgbClr val="1D1D1F"/>
                </a:solidFill>
                <a:latin typeface="SF Pro Text" pitchFamily="34" charset="0"/>
                <a:ea typeface="SF Pro Text" pitchFamily="34" charset="-122"/>
                <a:cs typeface="SF Pro Text" pitchFamily="34" charset="-120"/>
              </a:rPr>
              <a:t>what were they actually told? Check the sales call or notes, like Topic 1.</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Choose the resolution</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Based on why they're contesting it, not just that they are.</a:t>
            </a:r>
            <a:endParaRPr lang="en-US" sz="1200" dirty="0"/>
          </a:p>
        </p:txBody>
      </p:sp>
      <p:sp>
        <p:nvSpPr>
          <p:cNvPr id="6" name="Shape 3"/>
          <p:cNvSpPr/>
          <p:nvPr/>
        </p:nvSpPr>
        <p:spPr>
          <a:xfrm>
            <a:off x="2468880" y="1298448"/>
            <a:ext cx="4206240" cy="402336"/>
          </a:xfrm>
          <a:prstGeom prst="roundRect">
            <a:avLst>
              <a:gd name="adj" fmla="val 18182"/>
            </a:avLst>
          </a:prstGeom>
          <a:solidFill>
            <a:srgbClr val="FFF3D6"/>
          </a:solidFill>
          <a:ln w="12700">
            <a:solidFill>
              <a:srgbClr val="9A6410"/>
            </a:solidFill>
            <a:prstDash val="solid"/>
          </a:ln>
        </p:spPr>
      </p:sp>
      <p:sp>
        <p:nvSpPr>
          <p:cNvPr id="7" name="Text 4"/>
          <p:cNvSpPr txBox="1"/>
          <p:nvPr/>
        </p:nvSpPr>
        <p:spPr>
          <a:xfrm>
            <a:off x="2468880" y="1298448"/>
            <a:ext cx="4206240" cy="402336"/>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Did Homeaglow set expectations properly?</a:t>
            </a:r>
            <a:endParaRPr lang="en-US" sz="1000" dirty="0"/>
          </a:p>
        </p:txBody>
      </p:sp>
      <p:sp>
        <p:nvSpPr>
          <p:cNvPr id="8" name="Shape 5"/>
          <p:cNvSpPr/>
          <p:nvPr/>
        </p:nvSpPr>
        <p:spPr>
          <a:xfrm>
            <a:off x="4572000" y="1700784"/>
            <a:ext cx="0" cy="128016"/>
          </a:xfrm>
          <a:prstGeom prst="line">
            <a:avLst/>
          </a:prstGeom>
          <a:noFill/>
          <a:ln w="12700">
            <a:solidFill>
              <a:srgbClr val="6E6E73"/>
            </a:solidFill>
            <a:prstDash val="solid"/>
          </a:ln>
        </p:spPr>
      </p:sp>
      <p:sp>
        <p:nvSpPr>
          <p:cNvPr id="9" name="Shape 6"/>
          <p:cNvSpPr/>
          <p:nvPr/>
        </p:nvSpPr>
        <p:spPr>
          <a:xfrm>
            <a:off x="2331720" y="1828800"/>
            <a:ext cx="4480560" cy="0"/>
          </a:xfrm>
          <a:prstGeom prst="line">
            <a:avLst/>
          </a:prstGeom>
          <a:noFill/>
          <a:ln w="12700">
            <a:solidFill>
              <a:srgbClr val="6E6E73"/>
            </a:solidFill>
            <a:prstDash val="solid"/>
          </a:ln>
        </p:spPr>
      </p:sp>
      <p:sp>
        <p:nvSpPr>
          <p:cNvPr id="10" name="Shape 7"/>
          <p:cNvSpPr/>
          <p:nvPr/>
        </p:nvSpPr>
        <p:spPr>
          <a:xfrm>
            <a:off x="2331720" y="1828800"/>
            <a:ext cx="0" cy="128016"/>
          </a:xfrm>
          <a:prstGeom prst="line">
            <a:avLst/>
          </a:prstGeom>
          <a:noFill/>
          <a:ln w="12700">
            <a:solidFill>
              <a:srgbClr val="6E6E73"/>
            </a:solidFill>
            <a:prstDash val="solid"/>
            <a:tailEnd type="triangle"/>
          </a:ln>
        </p:spPr>
      </p:sp>
      <p:sp>
        <p:nvSpPr>
          <p:cNvPr id="11" name="Shape 8"/>
          <p:cNvSpPr/>
          <p:nvPr/>
        </p:nvSpPr>
        <p:spPr>
          <a:xfrm>
            <a:off x="6812280" y="1828800"/>
            <a:ext cx="0" cy="128016"/>
          </a:xfrm>
          <a:prstGeom prst="line">
            <a:avLst/>
          </a:prstGeom>
          <a:noFill/>
          <a:ln w="12700">
            <a:solidFill>
              <a:srgbClr val="6E6E73"/>
            </a:solidFill>
            <a:prstDash val="solid"/>
            <a:tailEnd type="triangle"/>
          </a:ln>
        </p:spPr>
      </p:sp>
      <p:sp>
        <p:nvSpPr>
          <p:cNvPr id="12" name="Text 9"/>
          <p:cNvSpPr txBox="1"/>
          <p:nvPr/>
        </p:nvSpPr>
        <p:spPr>
          <a:xfrm>
            <a:off x="2404872" y="1847088"/>
            <a:ext cx="548640" cy="201168"/>
          </a:xfrm>
          <a:prstGeom prst="rect">
            <a:avLst/>
          </a:prstGeom>
          <a:noFill/>
          <a:ln/>
        </p:spPr>
        <p:txBody>
          <a:bodyPr wrap="square" lIns="0" tIns="0" rIns="0" bIns="0" rtlCol="0" anchor="t"/>
          <a:lstStyle/>
          <a:p>
            <a:pPr indent="0" marL="0">
              <a:buNone/>
            </a:pPr>
            <a:endParaRPr lang="en-US" sz="850" dirty="0"/>
          </a:p>
        </p:txBody>
      </p:sp>
      <p:sp>
        <p:nvSpPr>
          <p:cNvPr id="13" name="Text 10"/>
          <p:cNvSpPr txBox="1"/>
          <p:nvPr/>
        </p:nvSpPr>
        <p:spPr>
          <a:xfrm>
            <a:off x="6885432" y="1847088"/>
            <a:ext cx="548640" cy="201168"/>
          </a:xfrm>
          <a:prstGeom prst="rect">
            <a:avLst/>
          </a:prstGeom>
          <a:noFill/>
          <a:ln/>
        </p:spPr>
        <p:txBody>
          <a:bodyPr wrap="square" lIns="0" tIns="0" rIns="0" bIns="0" rtlCol="0" anchor="t"/>
          <a:lstStyle/>
          <a:p>
            <a:pPr indent="0" marL="0">
              <a:buNone/>
            </a:pPr>
            <a:endParaRPr lang="en-US" sz="850" dirty="0"/>
          </a:p>
        </p:txBody>
      </p:sp>
      <p:sp>
        <p:nvSpPr>
          <p:cNvPr id="14" name="Text 11"/>
          <p:cNvSpPr txBox="1"/>
          <p:nvPr/>
        </p:nvSpPr>
        <p:spPr>
          <a:xfrm>
            <a:off x="2404872" y="1828800"/>
            <a:ext cx="1645920" cy="128016"/>
          </a:xfrm>
          <a:prstGeom prst="rect">
            <a:avLst/>
          </a:prstGeom>
          <a:noFill/>
          <a:ln/>
        </p:spPr>
        <p:txBody>
          <a:bodyPr wrap="square" lIns="0" tIns="0" rIns="0" bIns="0" rtlCol="0" anchor="t"/>
          <a:lstStyle/>
          <a:p>
            <a:pPr indent="0" marL="0">
              <a:buNone/>
            </a:pPr>
            <a:r>
              <a:rPr lang="en-US" sz="800" b="1" dirty="0">
                <a:solidFill>
                  <a:srgbClr val="6E6E73"/>
                </a:solidFill>
                <a:latin typeface="SF Pro Text" pitchFamily="34" charset="0"/>
                <a:ea typeface="SF Pro Text" pitchFamily="34" charset="-122"/>
                <a:cs typeface="SF Pro Text" pitchFamily="34" charset="-120"/>
              </a:rPr>
              <a:t>Yes: expectation gap</a:t>
            </a:r>
            <a:endParaRPr lang="en-US" sz="800" dirty="0"/>
          </a:p>
        </p:txBody>
      </p:sp>
      <p:sp>
        <p:nvSpPr>
          <p:cNvPr id="15" name="Text 12"/>
          <p:cNvSpPr txBox="1"/>
          <p:nvPr/>
        </p:nvSpPr>
        <p:spPr>
          <a:xfrm>
            <a:off x="6885432" y="1828800"/>
            <a:ext cx="1645920" cy="128016"/>
          </a:xfrm>
          <a:prstGeom prst="rect">
            <a:avLst/>
          </a:prstGeom>
          <a:noFill/>
          <a:ln/>
        </p:spPr>
        <p:txBody>
          <a:bodyPr wrap="square" lIns="0" tIns="0" rIns="0" bIns="0" rtlCol="0" anchor="t"/>
          <a:lstStyle/>
          <a:p>
            <a:pPr indent="0" marL="0">
              <a:buNone/>
            </a:pPr>
            <a:r>
              <a:rPr lang="en-US" sz="800" b="1" dirty="0">
                <a:solidFill>
                  <a:srgbClr val="6E6E73"/>
                </a:solidFill>
                <a:latin typeface="SF Pro Text" pitchFamily="34" charset="0"/>
                <a:ea typeface="SF Pro Text" pitchFamily="34" charset="-122"/>
                <a:cs typeface="SF Pro Text" pitchFamily="34" charset="-120"/>
              </a:rPr>
              <a:t>No: we failed to</a:t>
            </a:r>
            <a:endParaRPr lang="en-US" sz="800" dirty="0"/>
          </a:p>
        </p:txBody>
      </p:sp>
      <p:sp>
        <p:nvSpPr>
          <p:cNvPr id="16" name="Shape 13"/>
          <p:cNvSpPr/>
          <p:nvPr/>
        </p:nvSpPr>
        <p:spPr>
          <a:xfrm>
            <a:off x="411480" y="1956816"/>
            <a:ext cx="3840480" cy="420624"/>
          </a:xfrm>
          <a:prstGeom prst="roundRect">
            <a:avLst>
              <a:gd name="adj" fmla="val 17391"/>
            </a:avLst>
          </a:prstGeom>
          <a:solidFill>
            <a:srgbClr val="FFFFFF"/>
          </a:solidFill>
          <a:ln w="12700">
            <a:solidFill>
              <a:srgbClr val="DCE1E7"/>
            </a:solidFill>
            <a:prstDash val="solid"/>
          </a:ln>
        </p:spPr>
      </p:sp>
      <p:sp>
        <p:nvSpPr>
          <p:cNvPr id="17" name="Text 14"/>
          <p:cNvSpPr txBox="1"/>
          <p:nvPr/>
        </p:nvSpPr>
        <p:spPr>
          <a:xfrm>
            <a:off x="411480" y="1956816"/>
            <a:ext cx="3840480" cy="420624"/>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Explain: a standard charge on every cleaning</a:t>
            </a:r>
            <a:endParaRPr lang="en-US" sz="1000" dirty="0"/>
          </a:p>
        </p:txBody>
      </p:sp>
      <p:sp>
        <p:nvSpPr>
          <p:cNvPr id="18" name="Shape 15"/>
          <p:cNvSpPr/>
          <p:nvPr/>
        </p:nvSpPr>
        <p:spPr>
          <a:xfrm>
            <a:off x="2331720" y="2377440"/>
            <a:ext cx="0" cy="128016"/>
          </a:xfrm>
          <a:prstGeom prst="line">
            <a:avLst/>
          </a:prstGeom>
          <a:noFill/>
          <a:ln w="12700">
            <a:solidFill>
              <a:srgbClr val="6E6E73"/>
            </a:solidFill>
            <a:prstDash val="solid"/>
            <a:tailEnd type="triangle"/>
          </a:ln>
        </p:spPr>
      </p:sp>
      <p:sp>
        <p:nvSpPr>
          <p:cNvPr id="19" name="Shape 16"/>
          <p:cNvSpPr/>
          <p:nvPr/>
        </p:nvSpPr>
        <p:spPr>
          <a:xfrm>
            <a:off x="411480" y="2505456"/>
            <a:ext cx="3840480" cy="420624"/>
          </a:xfrm>
          <a:prstGeom prst="roundRect">
            <a:avLst>
              <a:gd name="adj" fmla="val 17391"/>
            </a:avLst>
          </a:prstGeom>
          <a:solidFill>
            <a:srgbClr val="0B7A6F"/>
          </a:solidFill>
          <a:ln w="12700">
            <a:solidFill>
              <a:srgbClr val="0B7A6F"/>
            </a:solidFill>
            <a:prstDash val="solid"/>
          </a:ln>
        </p:spPr>
      </p:sp>
      <p:sp>
        <p:nvSpPr>
          <p:cNvPr id="20" name="Text 17"/>
          <p:cNvSpPr txBox="1"/>
          <p:nvPr/>
        </p:nvSpPr>
        <p:spPr>
          <a:xfrm>
            <a:off x="411480" y="2505456"/>
            <a:ext cx="38404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Still unhappy, staying? One-time $10 or $20 credit</a:t>
            </a:r>
            <a:endParaRPr lang="en-US" sz="1000" dirty="0"/>
          </a:p>
        </p:txBody>
      </p:sp>
      <p:sp>
        <p:nvSpPr>
          <p:cNvPr id="21" name="Shape 18"/>
          <p:cNvSpPr/>
          <p:nvPr/>
        </p:nvSpPr>
        <p:spPr>
          <a:xfrm>
            <a:off x="2331720" y="2926080"/>
            <a:ext cx="0" cy="128016"/>
          </a:xfrm>
          <a:prstGeom prst="line">
            <a:avLst/>
          </a:prstGeom>
          <a:noFill/>
          <a:ln w="12700">
            <a:solidFill>
              <a:srgbClr val="6E6E73"/>
            </a:solidFill>
            <a:prstDash val="solid"/>
            <a:tailEnd type="triangle"/>
          </a:ln>
        </p:spPr>
      </p:sp>
      <p:sp>
        <p:nvSpPr>
          <p:cNvPr id="22" name="Shape 19"/>
          <p:cNvSpPr/>
          <p:nvPr/>
        </p:nvSpPr>
        <p:spPr>
          <a:xfrm>
            <a:off x="411480" y="3054096"/>
            <a:ext cx="3840480" cy="420624"/>
          </a:xfrm>
          <a:prstGeom prst="roundRect">
            <a:avLst>
              <a:gd name="adj" fmla="val 17391"/>
            </a:avLst>
          </a:prstGeom>
          <a:solidFill>
            <a:srgbClr val="0B7A6F"/>
          </a:solidFill>
          <a:ln w="12700">
            <a:solidFill>
              <a:srgbClr val="0B7A6F"/>
            </a:solidFill>
            <a:prstDash val="solid"/>
          </a:ln>
        </p:spPr>
      </p:sp>
      <p:sp>
        <p:nvSpPr>
          <p:cNvPr id="23" name="Text 20"/>
          <p:cNvSpPr txBox="1"/>
          <p:nvPr/>
        </p:nvSpPr>
        <p:spPr>
          <a:xfrm>
            <a:off x="411480" y="3054096"/>
            <a:ext cx="38404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Wants cash or will cancel? $10 or $20 partial refund</a:t>
            </a:r>
            <a:endParaRPr lang="en-US" sz="1000" dirty="0"/>
          </a:p>
        </p:txBody>
      </p:sp>
      <p:sp>
        <p:nvSpPr>
          <p:cNvPr id="24" name="Shape 21"/>
          <p:cNvSpPr/>
          <p:nvPr/>
        </p:nvSpPr>
        <p:spPr>
          <a:xfrm>
            <a:off x="4892040" y="1956816"/>
            <a:ext cx="3840480" cy="420624"/>
          </a:xfrm>
          <a:prstGeom prst="roundRect">
            <a:avLst>
              <a:gd name="adj" fmla="val 17391"/>
            </a:avLst>
          </a:prstGeom>
          <a:solidFill>
            <a:srgbClr val="0B7A6F"/>
          </a:solidFill>
          <a:ln w="12700">
            <a:solidFill>
              <a:srgbClr val="0B7A6F"/>
            </a:solidFill>
            <a:prstDash val="solid"/>
          </a:ln>
        </p:spPr>
      </p:sp>
      <p:sp>
        <p:nvSpPr>
          <p:cNvPr id="25" name="Text 22"/>
          <p:cNvSpPr txBox="1"/>
          <p:nvPr/>
        </p:nvSpPr>
        <p:spPr>
          <a:xfrm>
            <a:off x="4892040" y="1956816"/>
            <a:ext cx="38404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Refund the Processing Fee in full</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to the original payment method</a:t>
            </a:r>
            <a:endParaRPr lang="en-US" sz="1000" dirty="0"/>
          </a:p>
        </p:txBody>
      </p:sp>
      <p:sp>
        <p:nvSpPr>
          <p:cNvPr id="26" name="Shape 23"/>
          <p:cNvSpPr/>
          <p:nvPr/>
        </p:nvSpPr>
        <p:spPr>
          <a:xfrm>
            <a:off x="6812280" y="2377440"/>
            <a:ext cx="0" cy="128016"/>
          </a:xfrm>
          <a:prstGeom prst="line">
            <a:avLst/>
          </a:prstGeom>
          <a:noFill/>
          <a:ln w="12700">
            <a:solidFill>
              <a:srgbClr val="6E6E73"/>
            </a:solidFill>
            <a:prstDash val="solid"/>
            <a:tailEnd type="triangle"/>
          </a:ln>
        </p:spPr>
      </p:sp>
      <p:sp>
        <p:nvSpPr>
          <p:cNvPr id="27" name="Shape 24"/>
          <p:cNvSpPr/>
          <p:nvPr/>
        </p:nvSpPr>
        <p:spPr>
          <a:xfrm>
            <a:off x="4892040" y="2505456"/>
            <a:ext cx="3840480" cy="420624"/>
          </a:xfrm>
          <a:prstGeom prst="roundRect">
            <a:avLst>
              <a:gd name="adj" fmla="val 17391"/>
            </a:avLst>
          </a:prstGeom>
          <a:solidFill>
            <a:srgbClr val="FFFFFF"/>
          </a:solidFill>
          <a:ln w="12700">
            <a:solidFill>
              <a:srgbClr val="DCE1E7"/>
            </a:solidFill>
            <a:prstDash val="solid"/>
          </a:ln>
        </p:spPr>
      </p:sp>
      <p:sp>
        <p:nvSpPr>
          <p:cNvPr id="28" name="Text 25"/>
          <p:cNvSpPr txBox="1"/>
          <p:nvPr/>
        </p:nvSpPr>
        <p:spPr>
          <a:xfrm>
            <a:off x="4892040" y="2505456"/>
            <a:ext cx="3840480" cy="420624"/>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Name the specific expectation issue</a:t>
            </a:r>
            <a:endParaRPr lang="en-US" sz="1000" dirty="0"/>
          </a:p>
        </p:txBody>
      </p:sp>
      <p:sp>
        <p:nvSpPr>
          <p:cNvPr id="29" name="Shape 26"/>
          <p:cNvSpPr/>
          <p:nvPr/>
        </p:nvSpPr>
        <p:spPr>
          <a:xfrm>
            <a:off x="6812280" y="2926080"/>
            <a:ext cx="0" cy="128016"/>
          </a:xfrm>
          <a:prstGeom prst="line">
            <a:avLst/>
          </a:prstGeom>
          <a:noFill/>
          <a:ln w="12700">
            <a:solidFill>
              <a:srgbClr val="6E6E73"/>
            </a:solidFill>
            <a:prstDash val="solid"/>
            <a:tailEnd type="triangle"/>
          </a:ln>
        </p:spPr>
      </p:sp>
      <p:sp>
        <p:nvSpPr>
          <p:cNvPr id="30" name="Shape 27"/>
          <p:cNvSpPr/>
          <p:nvPr/>
        </p:nvSpPr>
        <p:spPr>
          <a:xfrm>
            <a:off x="4892040" y="3054096"/>
            <a:ext cx="3840480" cy="420624"/>
          </a:xfrm>
          <a:prstGeom prst="roundRect">
            <a:avLst>
              <a:gd name="adj" fmla="val 17391"/>
            </a:avLst>
          </a:prstGeom>
          <a:solidFill>
            <a:srgbClr val="1D1D1F"/>
          </a:solidFill>
          <a:ln w="12700">
            <a:solidFill>
              <a:srgbClr val="1D1D1F"/>
            </a:solidFill>
            <a:prstDash val="solid"/>
          </a:ln>
        </p:spPr>
      </p:sp>
      <p:sp>
        <p:nvSpPr>
          <p:cNvPr id="31" name="Text 28"/>
          <p:cNvSpPr txBox="1"/>
          <p:nvPr/>
        </p:nvSpPr>
        <p:spPr>
          <a:xfrm>
            <a:off x="4892040" y="3054096"/>
            <a:ext cx="38404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Cancelling FC over it? Waive the ETF</a:t>
            </a:r>
            <a:endParaRPr lang="en-US" sz="1000" dirty="0"/>
          </a:p>
        </p:txBody>
      </p:sp>
      <p:sp>
        <p:nvSpPr>
          <p:cNvPr id="32" name="Shape 29"/>
          <p:cNvSpPr/>
          <p:nvPr/>
        </p:nvSpPr>
        <p:spPr>
          <a:xfrm>
            <a:off x="411480" y="3675888"/>
            <a:ext cx="8321040" cy="384048"/>
          </a:xfrm>
          <a:prstGeom prst="roundRect">
            <a:avLst>
              <a:gd name="adj" fmla="val 19048"/>
            </a:avLst>
          </a:prstGeom>
          <a:solidFill>
            <a:srgbClr val="FFF3D6"/>
          </a:solidFill>
          <a:ln w="9525">
            <a:solidFill>
              <a:srgbClr val="FFF3D6"/>
            </a:solidFill>
            <a:prstDash val="solid"/>
          </a:ln>
        </p:spPr>
      </p:sp>
      <p:pic>
        <p:nvPicPr>
          <p:cNvPr id="33" name="Image 0" descr="preencoded.png">    </p:cNvPr>
          <p:cNvPicPr>
            <a:picLocks noChangeAspect="1"/>
          </p:cNvPicPr>
          <p:nvPr/>
        </p:nvPicPr>
        <p:blipFill>
          <a:blip r:embed="rId1"/>
          <a:stretch>
            <a:fillRect/>
          </a:stretch>
        </p:blipFill>
        <p:spPr>
          <a:xfrm>
            <a:off x="566928" y="3785616"/>
            <a:ext cx="164592" cy="164592"/>
          </a:xfrm>
          <a:prstGeom prst="rect">
            <a:avLst/>
          </a:prstGeom>
        </p:spPr>
      </p:pic>
      <p:sp>
        <p:nvSpPr>
          <p:cNvPr id="34" name="Text 30"/>
          <p:cNvSpPr txBox="1"/>
          <p:nvPr/>
        </p:nvSpPr>
        <p:spPr>
          <a:xfrm>
            <a:off x="822960" y="3776472"/>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Never  </a:t>
            </a:r>
            <a:pPr indent="0" marL="0">
              <a:buNone/>
            </a:pPr>
            <a:r>
              <a:rPr lang="en-US" sz="1000" dirty="0">
                <a:solidFill>
                  <a:srgbClr val="1D1D1F"/>
                </a:solidFill>
                <a:latin typeface="SF Pro Text" pitchFamily="34" charset="0"/>
                <a:ea typeface="SF Pro Text" pitchFamily="34" charset="-122"/>
                <a:cs typeface="SF Pro Text" pitchFamily="34" charset="-120"/>
              </a:rPr>
              <a:t>issue a credit equal to the exact Processing Fee. It says the fee was wrong.</a:t>
            </a:r>
            <a:endParaRPr lang="en-US" sz="1000" dirty="0"/>
          </a:p>
        </p:txBody>
      </p:sp>
      <p:sp>
        <p:nvSpPr>
          <p:cNvPr id="35" name="Shape 31"/>
          <p:cNvSpPr/>
          <p:nvPr/>
        </p:nvSpPr>
        <p:spPr>
          <a:xfrm>
            <a:off x="411480" y="4169664"/>
            <a:ext cx="2926080" cy="292608"/>
          </a:xfrm>
          <a:prstGeom prst="roundRect">
            <a:avLst>
              <a:gd name="adj" fmla="val 25000"/>
            </a:avLst>
          </a:prstGeom>
          <a:solidFill>
            <a:srgbClr val="FFF3D6"/>
          </a:solidFill>
          <a:ln w="9525">
            <a:solidFill>
              <a:srgbClr val="9A6410"/>
            </a:solidFill>
            <a:prstDash val="solid"/>
          </a:ln>
        </p:spPr>
      </p:sp>
      <p:pic>
        <p:nvPicPr>
          <p:cNvPr id="36" name="Image 1" descr="preencoded.png">    </p:cNvPr>
          <p:cNvPicPr>
            <a:picLocks noChangeAspect="1"/>
          </p:cNvPicPr>
          <p:nvPr/>
        </p:nvPicPr>
        <p:blipFill>
          <a:blip r:embed="rId2"/>
          <a:stretch>
            <a:fillRect/>
          </a:stretch>
        </p:blipFill>
        <p:spPr>
          <a:xfrm>
            <a:off x="521208" y="4242816"/>
            <a:ext cx="146304" cy="146304"/>
          </a:xfrm>
          <a:prstGeom prst="rect">
            <a:avLst/>
          </a:prstGeom>
        </p:spPr>
      </p:pic>
      <p:sp>
        <p:nvSpPr>
          <p:cNvPr id="37" name="Text 32"/>
          <p:cNvSpPr txBox="1"/>
          <p:nvPr/>
        </p:nvSpPr>
        <p:spPr>
          <a:xfrm>
            <a:off x="731520" y="4169664"/>
            <a:ext cx="2560320" cy="292608"/>
          </a:xfrm>
          <a:prstGeom prst="rect">
            <a:avLst/>
          </a:prstGeom>
          <a:noFill/>
          <a:ln/>
        </p:spPr>
        <p:txBody>
          <a:bodyPr wrap="square" lIns="0" tIns="0" rIns="0" bIns="0" rtlCol="0" anchor="ctr"/>
          <a:lstStyle/>
          <a:p>
            <a:pPr indent="0" marL="0">
              <a:buNone/>
            </a:pPr>
            <a:r>
              <a:rPr lang="en-US" sz="950" b="1" dirty="0">
                <a:solidFill>
                  <a:srgbClr val="9A6410"/>
                </a:solidFill>
                <a:latin typeface="SF Pro Display" pitchFamily="34" charset="0"/>
                <a:ea typeface="SF Pro Display" pitchFamily="34" charset="-122"/>
                <a:cs typeface="SF Pro Display" pitchFamily="34" charset="-120"/>
              </a:rPr>
              <a:t>Recommended Macro:  </a:t>
            </a:r>
            <a:pPr indent="0" marL="0">
              <a:buNone/>
            </a:pPr>
            <a:r>
              <a:rPr lang="en-US" sz="950" b="1" dirty="0">
                <a:solidFill>
                  <a:srgbClr val="1D1D1F"/>
                </a:solidFill>
                <a:latin typeface="SF Pro Display" pitchFamily="34" charset="0"/>
                <a:ea typeface="SF Pro Display" pitchFamily="34" charset="-122"/>
                <a:cs typeface="SF Pro Display" pitchFamily="34" charset="-120"/>
              </a:rPr>
              <a:t>Processing Fee</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They don't want future fees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retention conversation, not a refund one.</a:t>
            </a:r>
            <a:endParaRPr lang="en-US" sz="1200" dirty="0"/>
          </a:p>
        </p:txBody>
      </p:sp>
      <p:sp>
        <p:nvSpPr>
          <p:cNvPr id="6" name="Shape 3"/>
          <p:cNvSpPr/>
          <p:nvPr/>
        </p:nvSpPr>
        <p:spPr>
          <a:xfrm>
            <a:off x="411480" y="1371600"/>
            <a:ext cx="2606040" cy="640080"/>
          </a:xfrm>
          <a:prstGeom prst="roundRect">
            <a:avLst>
              <a:gd name="adj" fmla="val 11429"/>
            </a:avLst>
          </a:prstGeom>
          <a:solidFill>
            <a:srgbClr val="FFFFFF"/>
          </a:solidFill>
          <a:ln w="12700">
            <a:solidFill>
              <a:srgbClr val="DCE1E7"/>
            </a:solidFill>
            <a:prstDash val="solid"/>
          </a:ln>
        </p:spPr>
      </p:sp>
      <p:sp>
        <p:nvSpPr>
          <p:cNvPr id="7" name="Text 4"/>
          <p:cNvSpPr txBox="1"/>
          <p:nvPr/>
        </p:nvSpPr>
        <p:spPr>
          <a:xfrm>
            <a:off x="411480" y="1371600"/>
            <a:ext cx="2606040" cy="64008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Move into the retention flow</a:t>
            </a:r>
            <a:endParaRPr lang="en-US" sz="1000" dirty="0"/>
          </a:p>
        </p:txBody>
      </p:sp>
      <p:sp>
        <p:nvSpPr>
          <p:cNvPr id="8" name="Shape 5"/>
          <p:cNvSpPr/>
          <p:nvPr/>
        </p:nvSpPr>
        <p:spPr>
          <a:xfrm>
            <a:off x="3017520" y="1691640"/>
            <a:ext cx="246888" cy="0"/>
          </a:xfrm>
          <a:prstGeom prst="line">
            <a:avLst/>
          </a:prstGeom>
          <a:noFill/>
          <a:ln w="12700">
            <a:solidFill>
              <a:srgbClr val="6E6E73"/>
            </a:solidFill>
            <a:prstDash val="solid"/>
            <a:tailEnd type="triangle"/>
          </a:ln>
        </p:spPr>
      </p:sp>
      <p:sp>
        <p:nvSpPr>
          <p:cNvPr id="9" name="Shape 6"/>
          <p:cNvSpPr/>
          <p:nvPr/>
        </p:nvSpPr>
        <p:spPr>
          <a:xfrm>
            <a:off x="3264408" y="1371600"/>
            <a:ext cx="2606040" cy="640080"/>
          </a:xfrm>
          <a:prstGeom prst="roundRect">
            <a:avLst>
              <a:gd name="adj" fmla="val 11429"/>
            </a:avLst>
          </a:prstGeom>
          <a:solidFill>
            <a:srgbClr val="0B7A6F"/>
          </a:solidFill>
          <a:ln w="12700">
            <a:solidFill>
              <a:srgbClr val="0B7A6F"/>
            </a:solidFill>
            <a:prstDash val="solid"/>
          </a:ln>
        </p:spPr>
      </p:sp>
      <p:sp>
        <p:nvSpPr>
          <p:cNvPr id="10" name="Text 7"/>
          <p:cNvSpPr txBox="1"/>
          <p:nvPr/>
        </p:nvSpPr>
        <p:spPr>
          <a:xfrm>
            <a:off x="3264408" y="1371600"/>
            <a:ext cx="260604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Offer a $10–$15 Membership Fee reduction</a:t>
            </a:r>
            <a:endParaRPr lang="en-US" sz="1000" dirty="0"/>
          </a:p>
        </p:txBody>
      </p:sp>
      <p:sp>
        <p:nvSpPr>
          <p:cNvPr id="11" name="Shape 8"/>
          <p:cNvSpPr/>
          <p:nvPr/>
        </p:nvSpPr>
        <p:spPr>
          <a:xfrm>
            <a:off x="5870448" y="1691640"/>
            <a:ext cx="246888" cy="0"/>
          </a:xfrm>
          <a:prstGeom prst="line">
            <a:avLst/>
          </a:prstGeom>
          <a:noFill/>
          <a:ln w="12700">
            <a:solidFill>
              <a:srgbClr val="6E6E73"/>
            </a:solidFill>
            <a:prstDash val="solid"/>
            <a:tailEnd type="triangle"/>
          </a:ln>
        </p:spPr>
      </p:sp>
      <p:sp>
        <p:nvSpPr>
          <p:cNvPr id="12" name="Shape 9"/>
          <p:cNvSpPr/>
          <p:nvPr/>
        </p:nvSpPr>
        <p:spPr>
          <a:xfrm>
            <a:off x="6117336" y="1371600"/>
            <a:ext cx="2606040" cy="640080"/>
          </a:xfrm>
          <a:prstGeom prst="roundRect">
            <a:avLst>
              <a:gd name="adj" fmla="val 11429"/>
            </a:avLst>
          </a:prstGeom>
          <a:solidFill>
            <a:srgbClr val="FFF3D6"/>
          </a:solidFill>
          <a:ln w="12700">
            <a:solidFill>
              <a:srgbClr val="9A6410"/>
            </a:solidFill>
            <a:prstDash val="solid"/>
          </a:ln>
        </p:spPr>
      </p:sp>
      <p:sp>
        <p:nvSpPr>
          <p:cNvPr id="13" name="Text 10"/>
          <p:cNvSpPr txBox="1"/>
          <p:nvPr/>
        </p:nvSpPr>
        <p:spPr>
          <a:xfrm>
            <a:off x="6117336" y="1371600"/>
            <a:ext cx="2606040" cy="64008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Need more? Escalate to Support or a TL (up to 50%)</a:t>
            </a:r>
            <a:endParaRPr lang="en-US" sz="1000" dirty="0"/>
          </a:p>
        </p:txBody>
      </p:sp>
      <p:sp>
        <p:nvSpPr>
          <p:cNvPr id="14" name="Shape 11"/>
          <p:cNvSpPr/>
          <p:nvPr/>
        </p:nvSpPr>
        <p:spPr>
          <a:xfrm>
            <a:off x="411480" y="2286000"/>
            <a:ext cx="4091940" cy="1600200"/>
          </a:xfrm>
          <a:prstGeom prst="roundRect">
            <a:avLst>
              <a:gd name="adj" fmla="val 4571"/>
            </a:avLst>
          </a:prstGeom>
          <a:solidFill>
            <a:srgbClr val="FFFFFF"/>
          </a:solidFill>
          <a:ln w="9525">
            <a:solidFill>
              <a:srgbClr val="DCE1E7"/>
            </a:solidFill>
            <a:prstDash val="solid"/>
          </a:ln>
        </p:spPr>
      </p:sp>
      <p:sp>
        <p:nvSpPr>
          <p:cNvPr id="15" name="Shape 12"/>
          <p:cNvSpPr/>
          <p:nvPr/>
        </p:nvSpPr>
        <p:spPr>
          <a:xfrm>
            <a:off x="594360" y="2468880"/>
            <a:ext cx="384048" cy="384048"/>
          </a:xfrm>
          <a:prstGeom prst="ellipse">
            <a:avLst/>
          </a:prstGeom>
          <a:solidFill>
            <a:srgbClr val="E3F4F1"/>
          </a:solidFill>
          <a:ln w="12700">
            <a:solidFill>
              <a:srgbClr val="E3F4F1"/>
            </a:solidFill>
            <a:prstDash val="solid"/>
          </a:ln>
        </p:spPr>
      </p:sp>
      <p:pic>
        <p:nvPicPr>
          <p:cNvPr id="16" name="Image 0" descr="preencoded.png">    </p:cNvPr>
          <p:cNvPicPr>
            <a:picLocks noChangeAspect="1"/>
          </p:cNvPicPr>
          <p:nvPr/>
        </p:nvPicPr>
        <p:blipFill>
          <a:blip r:embed="rId1"/>
          <a:stretch>
            <a:fillRect/>
          </a:stretch>
        </p:blipFill>
        <p:spPr>
          <a:xfrm>
            <a:off x="686532" y="2561052"/>
            <a:ext cx="199705" cy="199705"/>
          </a:xfrm>
          <a:prstGeom prst="rect">
            <a:avLst/>
          </a:prstGeom>
        </p:spPr>
      </p:pic>
      <p:sp>
        <p:nvSpPr>
          <p:cNvPr id="17" name="Text 13"/>
          <p:cNvSpPr txBox="1"/>
          <p:nvPr/>
        </p:nvSpPr>
        <p:spPr>
          <a:xfrm>
            <a:off x="1097280" y="246888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Do</a:t>
            </a:r>
            <a:endParaRPr lang="en-US" sz="1300" dirty="0"/>
          </a:p>
        </p:txBody>
      </p:sp>
      <p:sp>
        <p:nvSpPr>
          <p:cNvPr id="18" name="Text 14"/>
          <p:cNvSpPr txBox="1"/>
          <p:nvPr/>
        </p:nvSpPr>
        <p:spPr>
          <a:xfrm>
            <a:off x="594360" y="2999232"/>
            <a:ext cx="3726180" cy="777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Ask why they're contesting it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Check what they were told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Keep goodwill one-time</a:t>
            </a:r>
            <a:endParaRPr lang="en-US" sz="1000" dirty="0"/>
          </a:p>
        </p:txBody>
      </p:sp>
      <p:sp>
        <p:nvSpPr>
          <p:cNvPr id="19" name="Shape 15"/>
          <p:cNvSpPr/>
          <p:nvPr/>
        </p:nvSpPr>
        <p:spPr>
          <a:xfrm>
            <a:off x="4640580" y="2286000"/>
            <a:ext cx="4091940" cy="1600200"/>
          </a:xfrm>
          <a:prstGeom prst="roundRect">
            <a:avLst>
              <a:gd name="adj" fmla="val 4571"/>
            </a:avLst>
          </a:prstGeom>
          <a:solidFill>
            <a:srgbClr val="FFFFFF"/>
          </a:solidFill>
          <a:ln w="9525">
            <a:solidFill>
              <a:srgbClr val="DCE1E7"/>
            </a:solidFill>
            <a:prstDash val="solid"/>
          </a:ln>
        </p:spPr>
      </p:sp>
      <p:sp>
        <p:nvSpPr>
          <p:cNvPr id="20" name="Shape 16"/>
          <p:cNvSpPr/>
          <p:nvPr/>
        </p:nvSpPr>
        <p:spPr>
          <a:xfrm>
            <a:off x="4823460" y="2468880"/>
            <a:ext cx="384048" cy="384048"/>
          </a:xfrm>
          <a:prstGeom prst="ellipse">
            <a:avLst/>
          </a:prstGeom>
          <a:solidFill>
            <a:srgbClr val="E3F4F1"/>
          </a:solidFill>
          <a:ln w="12700">
            <a:solidFill>
              <a:srgbClr val="E3F4F1"/>
            </a:solidFill>
            <a:prstDash val="solid"/>
          </a:ln>
        </p:spPr>
      </p:sp>
      <p:pic>
        <p:nvPicPr>
          <p:cNvPr id="21" name="Image 1" descr="preencoded.png">    </p:cNvPr>
          <p:cNvPicPr>
            <a:picLocks noChangeAspect="1"/>
          </p:cNvPicPr>
          <p:nvPr/>
        </p:nvPicPr>
        <p:blipFill>
          <a:blip r:embed="rId2"/>
          <a:stretch>
            <a:fillRect/>
          </a:stretch>
        </p:blipFill>
        <p:spPr>
          <a:xfrm>
            <a:off x="4915632" y="2561052"/>
            <a:ext cx="199705" cy="199705"/>
          </a:xfrm>
          <a:prstGeom prst="rect">
            <a:avLst/>
          </a:prstGeom>
        </p:spPr>
      </p:pic>
      <p:sp>
        <p:nvSpPr>
          <p:cNvPr id="22" name="Text 17"/>
          <p:cNvSpPr txBox="1"/>
          <p:nvPr/>
        </p:nvSpPr>
        <p:spPr>
          <a:xfrm>
            <a:off x="5326380" y="246888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Don't</a:t>
            </a:r>
            <a:endParaRPr lang="en-US" sz="1300" dirty="0"/>
          </a:p>
        </p:txBody>
      </p:sp>
      <p:sp>
        <p:nvSpPr>
          <p:cNvPr id="23" name="Text 18"/>
          <p:cNvSpPr txBox="1"/>
          <p:nvPr/>
        </p:nvSpPr>
        <p:spPr>
          <a:xfrm>
            <a:off x="4823460" y="2999232"/>
            <a:ext cx="3726180" cy="777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Debate whether the fee is valid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Credit the exact fee amount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Promise a permanent waiver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An active ForeverClean customer asks what their Processing Fee is.</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15%. It's 5% for non-FC and deactivated FC customers.</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forgot about the fee, is annoyed, but is staying. What can you offer?</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Explain it's standard. One-time $10 or $20 credit, never the exact fee amount.</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Sales told them "no extra fees". They want to cancel FC. What do you do?</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Refund the Processing Fee in full and waive the ETF.</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They're fine with this charge but don't want the fee in future. Next step?</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Retention: offer a $10–$15 Membership Fee reduction. More needs Support or a TL.</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43</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PROCESSING FEE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investigate together!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298448"/>
            <a:ext cx="3383280" cy="2633472"/>
          </a:xfrm>
          <a:prstGeom prst="roundRect">
            <a:avLst>
              <a:gd name="adj" fmla="val 2778"/>
            </a:avLst>
          </a:prstGeom>
          <a:solidFill>
            <a:srgbClr val="FFFFFF"/>
          </a:solidFill>
          <a:ln w="9525">
            <a:solidFill>
              <a:srgbClr val="DCE1E7"/>
            </a:solidFill>
            <a:prstDash val="solid"/>
          </a:ln>
        </p:spPr>
      </p:sp>
      <p:sp>
        <p:nvSpPr>
          <p:cNvPr id="7" name="Shape 4"/>
          <p:cNvSpPr/>
          <p:nvPr/>
        </p:nvSpPr>
        <p:spPr>
          <a:xfrm>
            <a:off x="594360"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73500"/>
            <a:ext cx="199705" cy="199705"/>
          </a:xfrm>
          <a:prstGeom prst="rect">
            <a:avLst/>
          </a:prstGeom>
        </p:spPr>
      </p:pic>
      <p:sp>
        <p:nvSpPr>
          <p:cNvPr id="9" name="Text 5"/>
          <p:cNvSpPr txBox="1"/>
          <p:nvPr/>
        </p:nvSpPr>
        <p:spPr>
          <a:xfrm>
            <a:off x="594360" y="2011680"/>
            <a:ext cx="3017520" cy="292608"/>
          </a:xfrm>
          <a:prstGeom prst="rect">
            <a:avLst/>
          </a:prstGeom>
          <a:noFill/>
          <a:ln/>
        </p:spPr>
        <p:txBody>
          <a:bodyPr wrap="square" lIns="0" tIns="0" rIns="0" bIns="0" rtlCol="0" anchor="t"/>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Live ticket</a:t>
            </a:r>
            <a:endParaRPr lang="en-US" sz="1300" dirty="0"/>
          </a:p>
        </p:txBody>
      </p:sp>
      <p:sp>
        <p:nvSpPr>
          <p:cNvPr id="10" name="Text 6"/>
          <p:cNvSpPr txBox="1"/>
          <p:nvPr/>
        </p:nvSpPr>
        <p:spPr>
          <a:xfrm>
            <a:off x="594360" y="2350008"/>
            <a:ext cx="3017520" cy="73152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1050" dirty="0"/>
          </a:p>
        </p:txBody>
      </p:sp>
      <p:sp>
        <p:nvSpPr>
          <p:cNvPr id="11" name="Text 7"/>
          <p:cNvSpPr/>
          <p:nvPr/>
        </p:nvSpPr>
        <p:spPr>
          <a:xfrm>
            <a:off x="594360" y="3401568"/>
            <a:ext cx="1371600" cy="329184"/>
          </a:xfrm>
          <a:prstGeom prst="roundRect">
            <a:avLst>
              <a:gd name="adj" fmla="val 22222"/>
            </a:avLst>
          </a:prstGeom>
          <a:solidFill>
            <a:srgbClr val="FFF3D6"/>
          </a:solidFill>
          <a:ln>
            <a:solidFill>
              <a:srgbClr val="FFF3D6"/>
            </a:solidFill>
          </a:ln>
        </p:spPr>
        <p:txBody>
          <a:bodyPr wrap="square" lIns="0" tIns="0" rIns="0" bIns="0" rtlCol="0" anchor="ctr"/>
          <a:lstStyle/>
          <a:p>
            <a:pPr algn="ctr" indent="0" marL="0">
              <a:buNone/>
            </a:pPr>
            <a:r>
              <a:rPr lang="en-US" sz="950" b="1" dirty="0">
                <a:solidFill>
                  <a:srgbClr val="9A6410"/>
                </a:solidFill>
                <a:latin typeface="SF Pro Text" pitchFamily="34" charset="0"/>
                <a:ea typeface="SF Pro Text" pitchFamily="34" charset="-122"/>
                <a:cs typeface="SF Pro Text" pitchFamily="34" charset="-120"/>
              </a:rPr>
              <a:t>Trainer provides</a:t>
            </a:r>
            <a:endParaRPr lang="en-US" sz="950" dirty="0"/>
          </a:p>
        </p:txBody>
      </p:sp>
      <p:sp>
        <p:nvSpPr>
          <p:cNvPr id="12" name="Shape 8"/>
          <p:cNvSpPr/>
          <p:nvPr/>
        </p:nvSpPr>
        <p:spPr>
          <a:xfrm>
            <a:off x="3931920" y="1298448"/>
            <a:ext cx="4800600" cy="786384"/>
          </a:xfrm>
          <a:prstGeom prst="roundRect">
            <a:avLst>
              <a:gd name="adj" fmla="val 9302"/>
            </a:avLst>
          </a:prstGeom>
          <a:solidFill>
            <a:srgbClr val="FFFFFF"/>
          </a:solidFill>
          <a:ln w="9525">
            <a:solidFill>
              <a:srgbClr val="DCE1E7"/>
            </a:solidFill>
            <a:prstDash val="solid"/>
          </a:ln>
        </p:spPr>
      </p:sp>
      <p:sp>
        <p:nvSpPr>
          <p:cNvPr id="13" name="Shape 9"/>
          <p:cNvSpPr/>
          <p:nvPr/>
        </p:nvSpPr>
        <p:spPr>
          <a:xfrm>
            <a:off x="4114800" y="1554480"/>
            <a:ext cx="274320" cy="274320"/>
          </a:xfrm>
          <a:prstGeom prst="ellipse">
            <a:avLst/>
          </a:prstGeom>
          <a:solidFill>
            <a:srgbClr val="E3F4F1"/>
          </a:solidFill>
          <a:ln w="12700">
            <a:solidFill>
              <a:srgbClr val="E3F4F1"/>
            </a:solidFill>
            <a:prstDash val="solid"/>
          </a:ln>
        </p:spPr>
      </p:sp>
      <p:sp>
        <p:nvSpPr>
          <p:cNvPr id="14" name="Text 10"/>
          <p:cNvSpPr txBox="1"/>
          <p:nvPr/>
        </p:nvSpPr>
        <p:spPr>
          <a:xfrm>
            <a:off x="4114800"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5" name="Text 11"/>
          <p:cNvSpPr txBox="1"/>
          <p:nvPr/>
        </p:nvSpPr>
        <p:spPr>
          <a:xfrm>
            <a:off x="4572000" y="1426464"/>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Why is the customer contesting the fee?</a:t>
            </a:r>
            <a:endParaRPr lang="en-US" sz="1250" dirty="0"/>
          </a:p>
        </p:txBody>
      </p:sp>
      <p:sp>
        <p:nvSpPr>
          <p:cNvPr id="16" name="Text 12"/>
          <p:cNvSpPr txBox="1"/>
          <p:nvPr/>
        </p:nvSpPr>
        <p:spPr>
          <a:xfrm>
            <a:off x="4572000" y="1737360"/>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An expectation gap, or did we fail to disclose it?</a:t>
            </a:r>
            <a:endParaRPr lang="en-US" sz="1000" dirty="0"/>
          </a:p>
        </p:txBody>
      </p:sp>
      <p:sp>
        <p:nvSpPr>
          <p:cNvPr id="17" name="Shape 13"/>
          <p:cNvSpPr/>
          <p:nvPr/>
        </p:nvSpPr>
        <p:spPr>
          <a:xfrm>
            <a:off x="3931920" y="2221992"/>
            <a:ext cx="4800600" cy="786384"/>
          </a:xfrm>
          <a:prstGeom prst="roundRect">
            <a:avLst>
              <a:gd name="adj" fmla="val 9302"/>
            </a:avLst>
          </a:prstGeom>
          <a:solidFill>
            <a:srgbClr val="FFFFFF"/>
          </a:solidFill>
          <a:ln w="9525">
            <a:solidFill>
              <a:srgbClr val="DCE1E7"/>
            </a:solidFill>
            <a:prstDash val="solid"/>
          </a:ln>
        </p:spPr>
      </p:sp>
      <p:sp>
        <p:nvSpPr>
          <p:cNvPr id="18" name="Shape 14"/>
          <p:cNvSpPr/>
          <p:nvPr/>
        </p:nvSpPr>
        <p:spPr>
          <a:xfrm>
            <a:off x="4114800" y="2478024"/>
            <a:ext cx="274320" cy="274320"/>
          </a:xfrm>
          <a:prstGeom prst="ellipse">
            <a:avLst/>
          </a:prstGeom>
          <a:solidFill>
            <a:srgbClr val="E3F4F1"/>
          </a:solidFill>
          <a:ln w="12700">
            <a:solidFill>
              <a:srgbClr val="E3F4F1"/>
            </a:solidFill>
            <a:prstDash val="solid"/>
          </a:ln>
        </p:spPr>
      </p:sp>
      <p:sp>
        <p:nvSpPr>
          <p:cNvPr id="19" name="Text 15"/>
          <p:cNvSpPr txBox="1"/>
          <p:nvPr/>
        </p:nvSpPr>
        <p:spPr>
          <a:xfrm>
            <a:off x="4114800" y="247802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0" name="Text 16"/>
          <p:cNvSpPr txBox="1"/>
          <p:nvPr/>
        </p:nvSpPr>
        <p:spPr>
          <a:xfrm>
            <a:off x="4572000" y="2350008"/>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What actions are you going to take?</a:t>
            </a:r>
            <a:endParaRPr lang="en-US" sz="1250" dirty="0"/>
          </a:p>
        </p:txBody>
      </p:sp>
      <p:sp>
        <p:nvSpPr>
          <p:cNvPr id="21" name="Text 17"/>
          <p:cNvSpPr txBox="1"/>
          <p:nvPr/>
        </p:nvSpPr>
        <p:spPr>
          <a:xfrm>
            <a:off x="4572000" y="2660904"/>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Explain + goodwill, or a full refund (+ ETF waiver).</a:t>
            </a:r>
            <a:endParaRPr lang="en-US" sz="1000" dirty="0"/>
          </a:p>
        </p:txBody>
      </p:sp>
      <p:sp>
        <p:nvSpPr>
          <p:cNvPr id="22" name="Shape 18"/>
          <p:cNvSpPr/>
          <p:nvPr/>
        </p:nvSpPr>
        <p:spPr>
          <a:xfrm>
            <a:off x="3931920" y="3145536"/>
            <a:ext cx="4800600" cy="786384"/>
          </a:xfrm>
          <a:prstGeom prst="roundRect">
            <a:avLst>
              <a:gd name="adj" fmla="val 9302"/>
            </a:avLst>
          </a:prstGeom>
          <a:solidFill>
            <a:srgbClr val="FFFFFF"/>
          </a:solidFill>
          <a:ln w="9525">
            <a:solidFill>
              <a:srgbClr val="DCE1E7"/>
            </a:solidFill>
            <a:prstDash val="solid"/>
          </a:ln>
        </p:spPr>
      </p:sp>
      <p:sp>
        <p:nvSpPr>
          <p:cNvPr id="23" name="Shape 19"/>
          <p:cNvSpPr/>
          <p:nvPr/>
        </p:nvSpPr>
        <p:spPr>
          <a:xfrm>
            <a:off x="4114800" y="3401568"/>
            <a:ext cx="274320" cy="274320"/>
          </a:xfrm>
          <a:prstGeom prst="ellipse">
            <a:avLst/>
          </a:prstGeom>
          <a:solidFill>
            <a:srgbClr val="E3F4F1"/>
          </a:solidFill>
          <a:ln w="12700">
            <a:solidFill>
              <a:srgbClr val="E3F4F1"/>
            </a:solidFill>
            <a:prstDash val="solid"/>
          </a:ln>
        </p:spPr>
      </p:sp>
      <p:sp>
        <p:nvSpPr>
          <p:cNvPr id="24" name="Text 20"/>
          <p:cNvSpPr txBox="1"/>
          <p:nvPr/>
        </p:nvSpPr>
        <p:spPr>
          <a:xfrm>
            <a:off x="4114800" y="340156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5" name="Text 21"/>
          <p:cNvSpPr txBox="1"/>
          <p:nvPr/>
        </p:nvSpPr>
        <p:spPr>
          <a:xfrm>
            <a:off x="4572000" y="3273552"/>
            <a:ext cx="3977640" cy="29260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5-min writing challenge</a:t>
            </a:r>
            <a:endParaRPr lang="en-US" sz="1250" dirty="0"/>
          </a:p>
        </p:txBody>
      </p:sp>
      <p:sp>
        <p:nvSpPr>
          <p:cNvPr id="26" name="Text 22"/>
          <p:cNvSpPr txBox="1"/>
          <p:nvPr/>
        </p:nvSpPr>
        <p:spPr>
          <a:xfrm>
            <a:off x="4572000" y="3584448"/>
            <a:ext cx="3977640" cy="256032"/>
          </a:xfrm>
          <a:prstGeom prst="rect">
            <a:avLst/>
          </a:prstGeom>
          <a:noFill/>
          <a:ln/>
        </p:spPr>
        <p:txBody>
          <a:bodyPr wrap="square" lIns="0" tIns="0" rIns="0" bIns="0" rtlCol="0" anchor="ctr"/>
          <a:lstStyle/>
          <a:p>
            <a:pPr indent="0" marL="0">
              <a:buNone/>
            </a:pPr>
            <a:r>
              <a:rPr lang="en-US" sz="1000" dirty="0">
                <a:solidFill>
                  <a:srgbClr val="6E6E73"/>
                </a:solidFill>
                <a:latin typeface="SF Pro Text" pitchFamily="34" charset="0"/>
                <a:ea typeface="SF Pro Text" pitchFamily="34" charset="-122"/>
                <a:cs typeface="SF Pro Text" pitchFamily="34" charset="-120"/>
              </a:rPr>
              <a:t>Create your comms for the customer.</a:t>
            </a:r>
            <a:endParaRPr lang="en-US" sz="1000" dirty="0"/>
          </a:p>
        </p:txBody>
      </p:sp>
      <p:sp>
        <p:nvSpPr>
          <p:cNvPr id="27" name="Shape 23"/>
          <p:cNvSpPr/>
          <p:nvPr/>
        </p:nvSpPr>
        <p:spPr>
          <a:xfrm>
            <a:off x="411480" y="4069080"/>
            <a:ext cx="8321040" cy="502920"/>
          </a:xfrm>
          <a:prstGeom prst="roundRect">
            <a:avLst>
              <a:gd name="adj" fmla="val 14545"/>
            </a:avLst>
          </a:prstGeom>
          <a:solidFill>
            <a:srgbClr val="0B7A6F"/>
          </a:solidFill>
          <a:ln w="9525">
            <a:solidFill>
              <a:srgbClr val="0B7A6F"/>
            </a:solidFill>
            <a:prstDash val="solid"/>
          </a:ln>
        </p:spPr>
      </p:sp>
      <p:pic>
        <p:nvPicPr>
          <p:cNvPr id="28" name="Image 1" descr="preencoded.png">    </p:cNvPr>
          <p:cNvPicPr>
            <a:picLocks noChangeAspect="1"/>
          </p:cNvPicPr>
          <p:nvPr/>
        </p:nvPicPr>
        <p:blipFill>
          <a:blip r:embed="rId2"/>
          <a:stretch>
            <a:fillRect/>
          </a:stretch>
        </p:blipFill>
        <p:spPr>
          <a:xfrm>
            <a:off x="640080" y="4192524"/>
            <a:ext cx="256032" cy="256032"/>
          </a:xfrm>
          <a:prstGeom prst="rect">
            <a:avLst/>
          </a:prstGeom>
        </p:spPr>
      </p:pic>
      <p:sp>
        <p:nvSpPr>
          <p:cNvPr id="29" name="Text 24"/>
          <p:cNvSpPr txBox="1"/>
          <p:nvPr/>
        </p:nvSpPr>
        <p:spPr>
          <a:xfrm>
            <a:off x="1051560" y="4069080"/>
            <a:ext cx="7498080" cy="50292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Questions?  </a:t>
            </a:r>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14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66928" y="173736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WRAP-UP</a:t>
            </a:r>
            <a:endParaRPr lang="en-US" sz="800" dirty="0"/>
          </a:p>
        </p:txBody>
      </p:sp>
      <p:sp>
        <p:nvSpPr>
          <p:cNvPr id="3" name="Text 1"/>
          <p:cNvSpPr txBox="1"/>
          <p:nvPr/>
        </p:nvSpPr>
        <p:spPr>
          <a:xfrm>
            <a:off x="566928" y="1965960"/>
            <a:ext cx="4572000" cy="685800"/>
          </a:xfrm>
          <a:prstGeom prst="rect">
            <a:avLst/>
          </a:prstGeom>
          <a:noFill/>
          <a:ln/>
        </p:spPr>
        <p:txBody>
          <a:bodyPr wrap="square" lIns="0" tIns="0" rIns="0" bIns="0" rtlCol="0" anchor="t"/>
          <a:lstStyle/>
          <a:p>
            <a:pPr indent="0" marL="0">
              <a:buNone/>
            </a:pPr>
            <a:r>
              <a:rPr lang="en-US" sz="3400" b="1" dirty="0">
                <a:solidFill>
                  <a:srgbClr val="1D1D1F"/>
                </a:solidFill>
                <a:latin typeface="SF Pro Display" pitchFamily="34" charset="0"/>
                <a:ea typeface="SF Pro Display" pitchFamily="34" charset="-122"/>
                <a:cs typeface="SF Pro Display" pitchFamily="34" charset="-120"/>
              </a:rPr>
              <a:t>Thank you!</a:t>
            </a:r>
            <a:endParaRPr lang="en-US" sz="3400" dirty="0"/>
          </a:p>
        </p:txBody>
      </p:sp>
      <p:sp>
        <p:nvSpPr>
          <p:cNvPr id="4" name="Text 2"/>
          <p:cNvSpPr txBox="1"/>
          <p:nvPr/>
        </p:nvSpPr>
        <p:spPr>
          <a:xfrm>
            <a:off x="566928" y="2697480"/>
            <a:ext cx="4206240" cy="45720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in doubt, check the Knowledge Library or ask your Trainer or Team Lead.</a:t>
            </a:r>
            <a:endParaRPr lang="en-US" sz="1200" dirty="0"/>
          </a:p>
        </p:txBody>
      </p:sp>
      <p:sp>
        <p:nvSpPr>
          <p:cNvPr id="5" name="Shape 3"/>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6" name="Shape 4"/>
          <p:cNvSpPr/>
          <p:nvPr/>
        </p:nvSpPr>
        <p:spPr>
          <a:xfrm>
            <a:off x="5724144" y="1289304"/>
            <a:ext cx="2560320" cy="2560320"/>
          </a:xfrm>
          <a:prstGeom prst="ellipse">
            <a:avLst/>
          </a:prstGeom>
          <a:solidFill>
            <a:srgbClr val="FFFFFF"/>
          </a:solidFill>
          <a:ln w="12700">
            <a:solidFill>
              <a:srgbClr val="FFFFFF"/>
            </a:solidFill>
            <a:prstDash val="solid"/>
          </a:ln>
        </p:spPr>
      </p:sp>
      <p:pic>
        <p:nvPicPr>
          <p:cNvPr id="7" name="Image 0" descr="/tmp/claude-0/-workspace-training/3ce5cff6-cccf-5f33-b0ee-0b147a55120e/scratchpad/img6/ill9.png">    </p:cNvPr>
          <p:cNvPicPr>
            <a:picLocks noChangeAspect="1"/>
          </p:cNvPicPr>
          <p:nvPr/>
        </p:nvPicPr>
        <p:blipFill>
          <a:blip r:embed="rId1"/>
          <a:stretch>
            <a:fillRect/>
          </a:stretch>
        </p:blipFill>
        <p:spPr>
          <a:xfrm>
            <a:off x="5541264" y="1695208"/>
            <a:ext cx="2926080" cy="1748511"/>
          </a:xfrm>
          <a:prstGeom prst="rect">
            <a:avLst/>
          </a:prstGeom>
        </p:spPr>
      </p:pic>
      <p:sp>
        <p:nvSpPr>
          <p:cNvPr id="8" name="Shape 5"/>
          <p:cNvSpPr/>
          <p:nvPr/>
        </p:nvSpPr>
        <p:spPr>
          <a:xfrm>
            <a:off x="5522976" y="822960"/>
            <a:ext cx="329184" cy="329184"/>
          </a:xfrm>
          <a:prstGeom prst="ellipse">
            <a:avLst/>
          </a:prstGeom>
          <a:solidFill>
            <a:srgbClr val="FFFFFF"/>
          </a:solidFill>
          <a:ln w="12700">
            <a:solidFill>
              <a:srgbClr val="FFFFFF"/>
            </a:solidFill>
            <a:prstDash val="solid"/>
          </a:ln>
        </p:spPr>
      </p:sp>
      <p:sp>
        <p:nvSpPr>
          <p:cNvPr id="9" name="Shape 6"/>
          <p:cNvSpPr/>
          <p:nvPr/>
        </p:nvSpPr>
        <p:spPr>
          <a:xfrm>
            <a:off x="5646420" y="946404"/>
            <a:ext cx="82296" cy="82296"/>
          </a:xfrm>
          <a:prstGeom prst="ellipse">
            <a:avLst/>
          </a:prstGeom>
          <a:solidFill>
            <a:srgbClr val="0B7A6F"/>
          </a:solidFill>
          <a:ln w="12700">
            <a:solidFill>
              <a:srgbClr val="0B7A6F"/>
            </a:solidFill>
            <a:prstDash val="solid"/>
          </a:ln>
        </p:spPr>
      </p:sp>
      <p:sp>
        <p:nvSpPr>
          <p:cNvPr id="10" name="Shape 7"/>
          <p:cNvSpPr/>
          <p:nvPr/>
        </p:nvSpPr>
        <p:spPr>
          <a:xfrm>
            <a:off x="8193024" y="822960"/>
            <a:ext cx="329184" cy="329184"/>
          </a:xfrm>
          <a:prstGeom prst="ellipse">
            <a:avLst/>
          </a:prstGeom>
          <a:solidFill>
            <a:srgbClr val="FFFFFF"/>
          </a:solidFill>
          <a:ln w="12700">
            <a:solidFill>
              <a:srgbClr val="FFFFFF"/>
            </a:solidFill>
            <a:prstDash val="solid"/>
          </a:ln>
        </p:spPr>
      </p:sp>
      <p:sp>
        <p:nvSpPr>
          <p:cNvPr id="11" name="Shape 8"/>
          <p:cNvSpPr/>
          <p:nvPr/>
        </p:nvSpPr>
        <p:spPr>
          <a:xfrm>
            <a:off x="8316468" y="946404"/>
            <a:ext cx="82296" cy="82296"/>
          </a:xfrm>
          <a:prstGeom prst="ellipse">
            <a:avLst/>
          </a:prstGeom>
          <a:solidFill>
            <a:srgbClr val="0B7A6F"/>
          </a:solidFill>
          <a:ln w="12700">
            <a:solidFill>
              <a:srgbClr val="0B7A6F"/>
            </a:solidFill>
            <a:prstDash val="solid"/>
          </a:ln>
        </p:spPr>
      </p:sp>
      <p:sp>
        <p:nvSpPr>
          <p:cNvPr id="12" name="Shape 9"/>
          <p:cNvSpPr/>
          <p:nvPr/>
        </p:nvSpPr>
        <p:spPr>
          <a:xfrm>
            <a:off x="8193024" y="3986784"/>
            <a:ext cx="329184" cy="329184"/>
          </a:xfrm>
          <a:prstGeom prst="ellipse">
            <a:avLst/>
          </a:prstGeom>
          <a:solidFill>
            <a:srgbClr val="FFFFFF"/>
          </a:solidFill>
          <a:ln w="12700">
            <a:solidFill>
              <a:srgbClr val="FFFFFF"/>
            </a:solidFill>
            <a:prstDash val="solid"/>
          </a:ln>
        </p:spPr>
      </p:sp>
      <p:sp>
        <p:nvSpPr>
          <p:cNvPr id="13" name="Shape 10"/>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Incorrect Info, LMC, Lockouts &amp; Fees</dc:title>
  <dc:subject>PptxGenJS Presentation</dc:subject>
  <dc:creator>PptxGenJS</dc:creator>
  <cp:lastModifiedBy>PptxGenJS</cp:lastModifiedBy>
  <cp:revision>1</cp:revision>
  <dcterms:created xsi:type="dcterms:W3CDTF">2026-10-07T17:22:41Z</dcterms:created>
  <dcterms:modified xsi:type="dcterms:W3CDTF">2026-10-07T17:22:42Z</dcterms:modified>
</cp:coreProperties>
</file>