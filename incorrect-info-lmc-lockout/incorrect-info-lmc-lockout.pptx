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six topics from the Knowledge Library: General Guidance: Incorrect Information Provided; AG-Refund: Last-Minute Cancellation (LMC); AG-Refund: Lockout (LO); AG – Refund – Priority Fee; AG – Refund – Premium Upsell; and AG – Refund: Processing Fee. The common thread: work out whether the charge is valid and why the customer is contesting it, then resolve it the way the Knowledge Library sets out, no more and no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to 6 are action guides for charges customers often contest: the Last-Minute Cancellation fee, the Lockout fee, the Priority Fee, the Premium Upsell and the Processing Fee.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 TRAINER: click once to show why the CP was denied entry (left), click again to show why the Support cancellation case is our fault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Lockout ticket. Give trainees a few minutes to review it on their own, then work through it together. 1) Is the lockout valid or invalid, and why? Walk the four questions in order: did the customer want the appointment, did the CP arrive on time (30 min before to 30 min after start), did the CP arrive at the address, and did the CP try to complete it (2+ contact attempts, 5+ min apart, 15+ min on site, entry notes followed). Remember the exception if the customer refused entry or wanted to cancel on arrival. 2) What actions are you going to take? Invalid: refund through the CP Dashboard (and the Premium fee if charged). Valid: only if the customer asks for a refund or contests the charge, go straight to their customer category offer. Check the special scenarios (entry denied for CP fault or T&amp;S; cancelled via Support but not actioned). Leave an internal note with your findings. Which macro? 3) 5-minute writing challenge: each trainee writes the comms they would send the customer. Read a few aloud and compare.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Priority Fee. A Priority Fee is a charge automatically applied when a customer books or reschedules on short notice (less than 48 hours out). It compensates for the extra effort and urgency needed to secure CP availability on short notice. This topic covers what to do when a customer contacts Support asking for a refund on that charge: investigate the charge, decide whether it was rightfully applied, and resolve it correctly. The fee is valid by default: the system only applies it under a specific condition, and it's disclosed at booking. But valid by default doesn't mean it always stands. If something on Homeaglow's or the CP's end pushed the customer into that window, charging them for it isn't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automatically applies a Priority Fee when the customer books a cleaning scheduled to take place within 12–48 hours from the time they book it, or reschedules a cleaning and the new appointment is within 48 hours from the time they make the change. The Priority Fee is also subject to the standard 15% processing fee charged on billable services. Whenever we talk about refunding the Priority Fee, that includes the associated 15% processing fee. Example: Priority Fee $15/hr x 3 hrs = $45; processing fee (15%) $6.75; total charged $51.75. When refunding, refund both, since the processing fee was charged because of the Priority Fee. ON THE SLIDE: first, the message customers see when the date and time they pick incurs a Priority Fee ("This time is a high-demand date &amp; time for cleaners. Priority rates may apply."). Second, how the charge shows on the Job Admin page: the + PriorityMarkup line in the Base breakdown (here $23.50/hr), and the 15% processing fee in the Txn Fee column. TRAINER: the screenshots are hidden when the slide opens. Click once (What the customer sees when booking) to show the booking prompt, click again (How it shows in Job Admin) to swap to the Job Admin screenshot, and click a third time to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rule: ignore the original appointment date. Only look at the new appointment. If the new appointment is within 48 hours of when the booking or reschedule is made, a Priority Fee applies. Example 1 (fee applies): current time July 27, 10:00 AM; original cleaning July 28, 2:00 PM; customer changes it to July 29, 9:00 AM. The new appointment is only 47 hours away, so the Priority Fee applies. Example 2 (no fee): current time July 27, 10:00 AM; original cleaning July 28, 2:00 PM; customer changes it to August 1, 9:00 AM. The new appointment is more than 48 hours away, so no Priority Fee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the account history first. Before saying anything to the customer about a resolution, ask one question: why did the customer end up in the priority window? Their own scheduling choice, or because Homeaglow or the CP forced them into it? C-fault (the customer chose the window: booked or rescheduled within 48 hours on their own, or picked a high-demand date, and nothing on our side drove it): the fee stands. Explain the policy plainly and show them the Priority Fee notice they saw at booking. You can soften it with up to 100% of the Priority Fee in account credits as a courtesy; treat 100% as a ceiling, not a starting point, and frame it as goodwill, not "we got this wrong". Macro: Priority Fee: Issue Credits up to 100% of the Priority Fee. CP/Platform fault (Homeaglow or the CP caused the priority window): refund the full Priority Fee and the associated 15% processing fee to the original payment method, and acknowledge specifically what happened (e.g. "your last cleaner cancelled on short notice"). Macro: Priority Fee Refunded. The two paths are mutually exclusive: never refund and credit the same fee unless a supervisor approves. Not sure which? Escalate. Only take the refund path if you can point to one of these known scenarios (not exhaustive): 1) the customer's previous CP was a no-show or cancelled at the last minute; 2) the customer's previous CP requested to reschedule; 3) the customer was affected by a system bug; 4) the customer immediately booked another cleaning after reporting their previous CP for Poor Cleaning Quality (PCQ). If a case doesn't match exactly but is genuinely comparable (something on Homeaglow's or the CP's end forced the customer into the window, not their own scheduling choice), treat it the same way. If you're not sure whether it's truly comparable or the customer's own choice dressed up differently, escalate. Worked example: "I was charged a $15/hr priority fee for my cleaning yesterday. I didn't do anything different from usual." The account history shows their scheduled CP cancelled the day before, so they had to rebook on short notice. That's scenario 1: skip the credit macro, send Priority Fee Refunded, refund the $15/hr fee and its 15% processing fee to the original payment method, and acknowledge that the previous CP's cancellation caused it. Check for repeat Priority Fee disputes on the same account before offering courtesy credits again. TRAINER: the scenarios are hidden when the slide opens. Click once (Scenarios) to open the box with scenario 1, then click to add scenarios 2, 3 and 4 one at a time; the fifth click closes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Priority Fee ticket. Give trainees a few minutes to review it on their own, then work through it together. 1) Was the Priority Fee valid, and why? Apply the 48-hour rule to the new appointment only, then check the account history: did the customer choose the window, or did Homeaglow or the CP force them into it (no-show or last-minute cancel, CP reschedule, system bug, rebooked after PCQ)? 2) What actions are you going to take? Customer's choice: explain the policy and offer courtesy credits up to 100% of the fee (macro: Priority Fee: Issue Credits up to 100%). Our fault: refund the full fee plus the 15% processing fee to the original payment method (macro: Priority Fee Refunded). Not sure: escalate. 3) 5-minute writing challenge: each trainee writes the comms they would send the customer. Read a few aloud and compare. Then open the floor for questions on the Priority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Premium Upsell. Category: Job-Related Charges Refund Requests. A Premium Fee (also called "Premium Upsell") is a $20 charge, plus applicable taxes, applied when a customer selects Premium as their level of experience during booking. Unlike the Priority Fee, which is triggered when a job is booked or rescheduled, the Premium Fee is an optional charge the customer chooses at booking for a higher service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is a $20 charge plus applicable taxes, applied when the customer selects Premium as their level of experience at booking. It's an optional, higher service tier. Don't confuse it with the Priority Fee: that one is applied automatically when a job is booked or rescheduled into the 48-hour window. Where to find it: New CRM: Payment History section. Legacy CRM: Manual Charges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can be refunded under two independent circumstances, and only one needs to apply: (1) the customer requests a refund for the Premium Fee; (2) the job has a confirmed service issue, even if the customer never mentions the Premium Fee. The second trigger is the one agents most often overlook. When a job has a confirmed service issue (such as Poor Cleaning Quality), always check whether a Premium Fee was charged. If it was, refund it as part of resolving the service issue, even if the customer only complained about the cleaning.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Premium Fee charge fails, it keeps retrying until it succeeds. That's the opposite of a failed LMC charge, which the system tries a couple of times and then lets go. A failed Premium Fee is not resolved: the customer will still be charged. So when a customer asks not to be charged the Premium Fee and the charge has already failed: switch the experience to Standard, and issue a credit equal to the Premium Fee to offset the retry when it lands. Explain both to the customer, so the later charge doesn't read as us ignoring the request. Why this matters: a failed charge looks resolved, and the instinct carried over from LMC is to leave it alone. Check how the specific fee behaves on retry before deciding nothing is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with a Premium Fee. Give trainees a few minutes to review it on their own, then work through it together. 1) Should the Premium Fee be refunded, and why? Either trigger is enough: the customer asked for a refund, or the job has a confirmed service issue (e.g. PCQ), even if Premium was never mentioned. 2) What actions are you going to take? Find the charge (New CRM › Payment History; Legacy CRM › Manual Charges) and refund it. If the charge failed and the customer doesn't want Premium: switch the experience to Standard and issue a credit equal to the Premium Fee to offset the retry, and explain both. 3) 5-minute writing challenge: each trainee writes the comms they would send the customer. Read a few aloud and compare. Then open the floor for questions on the Premium Upsell.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Processing Fee. Category: Job-Related Charges &amp; Refund Requests. A Processing Fee is a standard percentage-based charge included in the total cost of every cleaning. This topic covers customers who contest or question it. For the pricing formula, see Billing (C Price and CP Pay). It's also one specific, worked-out example of the Incorrect Information Provided rule from Topic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Processing Fee is a standard percentage-based charge included in the total cost of every cleaning. The percentage depends on membership status: 5% for non-ForeverClean and deactivated ForeverClean customers; 15% for active ForeverClean customers. It's a standard part of Homeaglow's pricing, not a penalty or a discretionary charge, so your role is not to decide whether it should have been charged: in most cases it's valid. Most customers contest it because of expectation gaps, not billing errors: they didn't realize it applied when they signed up, or they enrolled through Sales and only remember an "around $23/hour" price without the fee called out separately. That doesn't make the fee wrong, but it can leave them feeling misled.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determine why the customer is contesting the fee. Homeaglow properly set expectations: the customer simply wasn't aware of the fee or doesn't remember it being disclosed (overlooked it at signup, forgot the pricing details, assumed the quoted hourly rate included all fees). That's an expectation gap, not a billing error. Homeaglow failed to set proper expectations: the fee wasn't properly disclosed or was misrepresented before booking (a Sales rep didn't mention it when it should have been disclosed, a Sales rep said there were no additional fees, or a system or onboarding issue hid the disclosure). That's a Homeaglow-caused expectation issue. Separate the legitimacy of the fee from the customer's experience: your resolution should reflect why they're contesting it, not just the fact that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Homeaglow properly set expectations: explain that the Processing Fee is a standard charge included in every cleaning. Keep it neutral; don't imply it was charged incorrectly. If they only wanted clarification, the explanation is enough. If they're still unhappy but staying, you may issue a one-time $10 or $20 account credit as goodwill (use your judgment). Never issue a credit equal to the Processing Fee itself: that implies the fee was inappropriate. If they specifically want cash back instead of credits, or will cancel unless refunded, you may issue a $10 or $20 partial refund instead. Set clear expectations that the fee is standard and ongoing: this is a one-time exception, not a waiver. Homeaglow failed to set proper expectations: refund the Processing Fee in full to the original payment method, and acknowledge the specific expectation-setting issue without suggesting the fee is generally invalid. If they no longer want their ForeverClean membership because of it, waive the ETF when processing the cancellation. Macro: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customer's concern is paying the Processing Fee on future bookings rather than this specific charge, move into the appropriate retention flow. Offer a $10–$15 Membership Fee reduction. If the situation calls for more, escalate to Support or a TL, who can approve reductions of up to 50%. Things to watch for: don't investigate whether the Processing Fee is generally valid (it's standard pricing); investigate why the customer is contesting it and whether we set expectations properly; goodwill acknowledges the experience, it doesn't mean the fee was wrong; never credit the exact fee amount; if we failed to disclose it, refund it in full; if they cancel FC because of our misrepresentation, waive the ETF.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Processing Fee ticket. Give trainees a few minutes to review it on their own, then work through it together. 1) Why is the customer contesting the fee? Don't debate whether the fee applies (5% non-FC or deactivated FC, 15% active FC): find out whether we set expectations properly (expectation gap) or failed to (Sales omitted it, said no extra fees, or a system issue hid it). Verify what they were told. 2) What actions are you going to take? Expectation gap: explain neutrally; if still unhappy but staying, a one-time $10 or $20 credit (never the exact fee); wants cash or will cancel, a $10 or $20 partial refund. Our failure: refund the Processing Fee in full and waive the ETF if they cancel FC over it. Future fees: retention flow, $10–$15 Membership Fee reduction, escalate for more. Macro: Processing Fee. 3) 5-minute writing challenge: each trainee writes the comms they would send the customer. Read a few aloud and compare. Then open the floor for questions on the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Lockouts (four validation questions; invalid goes through the CP Dashboard; valid goes by category, keeping $40 for the CP); Priority Fee (only the new appointment counts; their choice gets courtesy credits up to 100%, our fault gets a full refund plus the 15% processing fee); Premium Upsell (refund it when asked or when there is a confirmed service issue; a failed charge keeps retrying); Processing Fee (standard pricing; find out why they are contesting it; goodwill $10 or $20, or a full refund and ETF waiver if we failed to disclose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 Target="slide26.xml"/><Relationship Id="rId11" Type="http://schemas.openxmlformats.org/officeDocument/2006/relationships/slide" Target="slide26.xml"/><Relationship Id="rId12" Type="http://schemas.openxmlformats.org/officeDocument/2006/relationships/slide" Target="slide26.xml"/><Relationship Id="rId13" Type="http://schemas.openxmlformats.org/officeDocument/2006/relationships/slide" Target="slide32.xml"/><Relationship Id="rId14" Type="http://schemas.openxmlformats.org/officeDocument/2006/relationships/slide" Target="slide32.xml"/><Relationship Id="rId15" Type="http://schemas.openxmlformats.org/officeDocument/2006/relationships/slide" Target="slide32.xml"/><Relationship Id="rId16" Type="http://schemas.openxmlformats.org/officeDocument/2006/relationships/slide" Target="slide38.xml"/><Relationship Id="rId17" Type="http://schemas.openxmlformats.org/officeDocument/2006/relationships/slide" Target="slide38.xml"/><Relationship Id="rId18" Type="http://schemas.openxmlformats.org/officeDocument/2006/relationships/slide" Target="slide38.xml"/><Relationship Id="rId19" Type="http://schemas.openxmlformats.org/officeDocument/2006/relationships/slideLayout" Target="../slideLayouts/slideLayout2.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2.xml"/><Relationship Id="rId3" Type="http://schemas.openxmlformats.org/officeDocument/2006/relationships/slide" Target="slide22.xm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2.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2.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2.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868680"/>
            <a:ext cx="4480560" cy="16002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Incorrect Info,</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LMC, Lockouts</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&amp; Fees</a:t>
            </a:r>
            <a:endParaRPr lang="en-US" sz="30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the charges customers contest most.</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Click a topic to jump to it.</a:t>
            </a:r>
            <a:endParaRPr lang="en-US" sz="1200" dirty="0"/>
          </a:p>
        </p:txBody>
      </p:sp>
      <p:sp>
        <p:nvSpPr>
          <p:cNvPr id="6" name="Text 3">
            <a:hlinkClick r:id="rId1" tooltip="Go to Incorrect Information Provided" action="ppaction://hlinksldjump"/>
          </p:cNvPr>
          <p:cNvSpPr/>
          <p:nvPr/>
        </p:nvSpPr>
        <p:spPr>
          <a:xfrm>
            <a:off x="4114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Incorrect Information Provided</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We promised what we can't deliver. Own it, no ETF.</a:t>
            </a:r>
            <a:endParaRPr lang="en-US" sz="1250" dirty="0"/>
          </a:p>
        </p:txBody>
      </p:sp>
      <p:sp>
        <p:nvSpPr>
          <p:cNvPr id="7" name="Text 4">
            <a:hlinkClick r:id="rId2" tooltip="Go to Incorrect Information Provided" action="ppaction://hlinksldjump"/>
          </p:cNvPr>
          <p:cNvSpPr/>
          <p:nvPr/>
        </p:nvSpPr>
        <p:spPr>
          <a:xfrm>
            <a:off x="5029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01</a:t>
            </a:r>
            <a:endParaRPr lang="en-US" sz="1600" dirty="0"/>
          </a:p>
        </p:txBody>
      </p:sp>
      <p:sp>
        <p:nvSpPr>
          <p:cNvPr id="8" name="Text 5">
            <a:hlinkClick r:id="rId3" tooltip="Go to Incorrect Information Provided" action="ppaction://hlinksldjump"/>
          </p:cNvPr>
          <p:cNvSpPr/>
          <p:nvPr/>
        </p:nvSpPr>
        <p:spPr>
          <a:xfrm>
            <a:off x="41193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9" name="Text 6">
            <a:hlinkClick r:id="rId4" tooltip="Go to Last-Minute Cancellation (LMC)" action="ppaction://hlinksldjump"/>
          </p:cNvPr>
          <p:cNvSpPr/>
          <p:nvPr/>
        </p:nvSpPr>
        <p:spPr>
          <a:xfrm>
            <a:off x="4114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Last-Minute Cancellation (LMC)</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$40 fee within 6 hours: valid, and how much back?</a:t>
            </a:r>
            <a:endParaRPr lang="en-US" sz="1250" dirty="0"/>
          </a:p>
        </p:txBody>
      </p:sp>
      <p:sp>
        <p:nvSpPr>
          <p:cNvPr id="10" name="Text 7">
            <a:hlinkClick r:id="rId5" tooltip="Go to Last-Minute Cancellation (LMC)" action="ppaction://hlinksldjump"/>
          </p:cNvPr>
          <p:cNvSpPr/>
          <p:nvPr/>
        </p:nvSpPr>
        <p:spPr>
          <a:xfrm>
            <a:off x="5029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02</a:t>
            </a:r>
            <a:endParaRPr lang="en-US" sz="1600" dirty="0"/>
          </a:p>
        </p:txBody>
      </p:sp>
      <p:sp>
        <p:nvSpPr>
          <p:cNvPr id="11" name="Text 8">
            <a:hlinkClick r:id="rId6" tooltip="Go to Last-Minute Cancellation (LMC)" action="ppaction://hlinksldjump"/>
          </p:cNvPr>
          <p:cNvSpPr/>
          <p:nvPr/>
        </p:nvSpPr>
        <p:spPr>
          <a:xfrm>
            <a:off x="41193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2" name="Text 9">
            <a:hlinkClick r:id="rId7" tooltip="Go to Lockout (LO)" action="ppaction://hlinksldjump"/>
          </p:cNvPr>
          <p:cNvSpPr/>
          <p:nvPr/>
        </p:nvSpPr>
        <p:spPr>
          <a:xfrm>
            <a:off x="4114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Lockout (LO)</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CP couldn't get in. Validate, then refund by tier.</a:t>
            </a:r>
            <a:endParaRPr lang="en-US" sz="1250" dirty="0"/>
          </a:p>
        </p:txBody>
      </p:sp>
      <p:sp>
        <p:nvSpPr>
          <p:cNvPr id="13" name="Text 10">
            <a:hlinkClick r:id="rId8" tooltip="Go to Lockout (LO)" action="ppaction://hlinksldjump"/>
          </p:cNvPr>
          <p:cNvSpPr/>
          <p:nvPr/>
        </p:nvSpPr>
        <p:spPr>
          <a:xfrm>
            <a:off x="5029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03</a:t>
            </a:r>
            <a:endParaRPr lang="en-US" sz="1600" dirty="0"/>
          </a:p>
        </p:txBody>
      </p:sp>
      <p:sp>
        <p:nvSpPr>
          <p:cNvPr id="14" name="Text 11">
            <a:hlinkClick r:id="rId9" tooltip="Go to Lockout (LO)" action="ppaction://hlinksldjump"/>
          </p:cNvPr>
          <p:cNvSpPr/>
          <p:nvPr/>
        </p:nvSpPr>
        <p:spPr>
          <a:xfrm>
            <a:off x="41193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5" name="Text 12">
            <a:hlinkClick r:id="rId10" tooltip="Go to Priority Fee" action="ppaction://hlinksldjump"/>
          </p:cNvPr>
          <p:cNvSpPr/>
          <p:nvPr/>
        </p:nvSpPr>
        <p:spPr>
          <a:xfrm>
            <a:off x="46405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Priority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Short-notice booking. Their choice, or ours?</a:t>
            </a:r>
            <a:endParaRPr lang="en-US" sz="1250" dirty="0"/>
          </a:p>
        </p:txBody>
      </p:sp>
      <p:sp>
        <p:nvSpPr>
          <p:cNvPr id="16" name="Text 13">
            <a:hlinkClick r:id="rId11" tooltip="Go to Priority Fee" action="ppaction://hlinksldjump"/>
          </p:cNvPr>
          <p:cNvSpPr/>
          <p:nvPr/>
        </p:nvSpPr>
        <p:spPr>
          <a:xfrm>
            <a:off x="47320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04</a:t>
            </a:r>
            <a:endParaRPr lang="en-US" sz="1600" dirty="0"/>
          </a:p>
        </p:txBody>
      </p:sp>
      <p:sp>
        <p:nvSpPr>
          <p:cNvPr id="17" name="Text 14">
            <a:hlinkClick r:id="rId12" tooltip="Go to Priority Fee" action="ppaction://hlinksldjump"/>
          </p:cNvPr>
          <p:cNvSpPr/>
          <p:nvPr/>
        </p:nvSpPr>
        <p:spPr>
          <a:xfrm>
            <a:off x="83484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8" name="Text 15">
            <a:hlinkClick r:id="rId13" tooltip="Go to Premium Upsell" action="ppaction://hlinksldjump"/>
          </p:cNvPr>
          <p:cNvSpPr/>
          <p:nvPr/>
        </p:nvSpPr>
        <p:spPr>
          <a:xfrm>
            <a:off x="46405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Premium Upsell</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optional $20 upgrade. When to refund it.</a:t>
            </a:r>
            <a:endParaRPr lang="en-US" sz="1250" dirty="0"/>
          </a:p>
        </p:txBody>
      </p:sp>
      <p:sp>
        <p:nvSpPr>
          <p:cNvPr id="19" name="Text 16">
            <a:hlinkClick r:id="rId14" tooltip="Go to Premium Upsell" action="ppaction://hlinksldjump"/>
          </p:cNvPr>
          <p:cNvSpPr/>
          <p:nvPr/>
        </p:nvSpPr>
        <p:spPr>
          <a:xfrm>
            <a:off x="47320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05</a:t>
            </a:r>
            <a:endParaRPr lang="en-US" sz="1600" dirty="0"/>
          </a:p>
        </p:txBody>
      </p:sp>
      <p:sp>
        <p:nvSpPr>
          <p:cNvPr id="20" name="Text 17">
            <a:hlinkClick r:id="rId15" tooltip="Go to Premium Upsell" action="ppaction://hlinksldjump"/>
          </p:cNvPr>
          <p:cNvSpPr/>
          <p:nvPr/>
        </p:nvSpPr>
        <p:spPr>
          <a:xfrm>
            <a:off x="83484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1" name="Text 18">
            <a:hlinkClick r:id="rId16" tooltip="Go to Processing Fee" action="ppaction://hlinksldjump"/>
          </p:cNvPr>
          <p:cNvSpPr/>
          <p:nvPr/>
        </p:nvSpPr>
        <p:spPr>
          <a:xfrm>
            <a:off x="46405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Processing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Standard pricing. Why are they contesting it?</a:t>
            </a:r>
            <a:endParaRPr lang="en-US" sz="1250" dirty="0"/>
          </a:p>
        </p:txBody>
      </p:sp>
      <p:sp>
        <p:nvSpPr>
          <p:cNvPr id="22" name="Text 19">
            <a:hlinkClick r:id="rId17" tooltip="Go to Processing Fee" action="ppaction://hlinksldjump"/>
          </p:cNvPr>
          <p:cNvSpPr/>
          <p:nvPr/>
        </p:nvSpPr>
        <p:spPr>
          <a:xfrm>
            <a:off x="47320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06</a:t>
            </a:r>
            <a:endParaRPr lang="en-US" sz="1600" dirty="0"/>
          </a:p>
        </p:txBody>
      </p:sp>
      <p:sp>
        <p:nvSpPr>
          <p:cNvPr id="23" name="Text 20">
            <a:hlinkClick r:id="rId18" tooltip="Go to Processing Fee" action="ppaction://hlinksldjump"/>
          </p:cNvPr>
          <p:cNvSpPr/>
          <p:nvPr/>
        </p:nvSpPr>
        <p:spPr>
          <a:xfrm>
            <a:off x="83484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75104"/>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1975104"/>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Shape 3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38" name="Text 3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Important:  </a:t>
            </a:r>
            <a:pPr indent="0" marL="0">
              <a:buNone/>
            </a:pPr>
            <a:r>
              <a:rPr lang="en-US" sz="950" b="1" dirty="0">
                <a:solidFill>
                  <a:srgbClr val="1D1D1F"/>
                </a:solidFill>
                <a:latin typeface="SF Pro Display" pitchFamily="34" charset="0"/>
                <a:ea typeface="SF Pro Display" pitchFamily="34" charset="-122"/>
                <a:cs typeface="SF Pro Display" pitchFamily="34" charset="-120"/>
              </a:rPr>
              <a:t>Premium fee charged? → Always refund</a:t>
            </a:r>
            <a:endParaRPr lang="en-US" sz="950" dirty="0"/>
          </a:p>
        </p:txBody>
      </p:sp>
      <p:sp>
        <p:nvSpPr>
          <p:cNvPr id="39" name="Shape 35"/>
          <p:cNvSpPr/>
          <p:nvPr/>
        </p:nvSpPr>
        <p:spPr>
          <a:xfrm>
            <a:off x="1600200" y="3218688"/>
            <a:ext cx="0" cy="128016"/>
          </a:xfrm>
          <a:prstGeom prst="line">
            <a:avLst/>
          </a:prstGeom>
          <a:noFill/>
          <a:ln w="12700">
            <a:solidFill>
              <a:srgbClr val="6E6E73"/>
            </a:solidFill>
            <a:prstDash val="solid"/>
            <a:tailEnd type="triangle"/>
          </a:ln>
        </p:spPr>
      </p:sp>
      <p:sp>
        <p:nvSpPr>
          <p:cNvPr id="40" name="Text 36"/>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41" name="Shape 37">
            <a:hlinkClick r:id="rId2"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2" name="Text 38">
            <a:hlinkClick r:id="rId3"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3" name="Shape 39"/>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4" name="Image 1" descr="preencoded.png">    </p:cNvPr>
          <p:cNvPicPr>
            <a:picLocks noChangeAspect="1"/>
          </p:cNvPicPr>
          <p:nvPr/>
        </p:nvPicPr>
        <p:blipFill>
          <a:blip r:embed="rId4"/>
          <a:stretch>
            <a:fillRect/>
          </a:stretch>
        </p:blipFill>
        <p:spPr>
          <a:xfrm>
            <a:off x="6035040" y="1499616"/>
            <a:ext cx="182880" cy="182880"/>
          </a:xfrm>
          <a:prstGeom prst="rect">
            <a:avLst/>
          </a:prstGeom>
        </p:spPr>
      </p:pic>
      <p:sp>
        <p:nvSpPr>
          <p:cNvPr id="45" name="Text 40"/>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6" name="Text 41"/>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7" name="Shape 42"/>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8" name="Text 43"/>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9"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51"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52"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3"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5"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6"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7"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9"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60"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61"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62"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3"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4"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600"/>
                                        <p:tgtEl>
                                          <p:spTgt spid="4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600"/>
                                        <p:tgtEl>
                                          <p:spTgt spid="5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600"/>
                                        <p:tgtEl>
                                          <p:spTgt spid="5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600"/>
                                        <p:tgtEl>
                                          <p:spTgt spid="52"/>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9"/>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5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1"/>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52"/>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animEffect transition="in" filter="fade">
                                      <p:cBhvr>
                                        <p:cTn id="33" dur="600"/>
                                        <p:tgtEl>
                                          <p:spTgt spid="5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4"/>
                                        </p:tgtEl>
                                        <p:attrNameLst>
                                          <p:attrName>style.visibility</p:attrName>
                                        </p:attrNameLst>
                                      </p:cBhvr>
                                      <p:to>
                                        <p:strVal val="visible"/>
                                      </p:to>
                                    </p:set>
                                    <p:animEffect transition="in" filter="fade">
                                      <p:cBhvr>
                                        <p:cTn id="36" dur="600"/>
                                        <p:tgtEl>
                                          <p:spTgt spid="5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600"/>
                                        <p:tgtEl>
                                          <p:spTgt spid="5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600"/>
                                        <p:tgtEl>
                                          <p:spTgt spid="56"/>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5"/>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6"/>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fade">
                                      <p:cBhvr>
                                        <p:cTn id="59" dur="600"/>
                                        <p:tgtEl>
                                          <p:spTgt spid="5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fade">
                                      <p:cBhvr>
                                        <p:cTn id="62" dur="600"/>
                                        <p:tgtEl>
                                          <p:spTgt spid="5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600"/>
                                        <p:tgtEl>
                                          <p:spTgt spid="5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600"/>
                                        <p:tgtEl>
                                          <p:spTgt spid="60"/>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7"/>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8"/>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9"/>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60"/>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6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6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6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600"/>
                                        <p:tgtEl>
                                          <p:spTgt spid="64"/>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61"/>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62"/>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3"/>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P spid="61" grpId="0" animBg="1"/>
      <p:bldP spid="62" grpId="0" animBg="1"/>
      <p:bldP spid="63" grpId="0" animBg="1"/>
      <p:bldP spid="64" grpId="0" animBg="1"/>
      <p:bldP spid="61" grpId="1" animBg="1"/>
      <p:bldP spid="62" grpId="1" animBg="1"/>
      <p:bldP spid="63" grpId="1" animBg="1"/>
      <p:bldP spid="64"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Go straight to the right offer. Applies if Customer asks for a refund or contests the lockout charge.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 </a:t>
                      </a:r>
                      <a:pPr indent="0" marL="0">
                        <a:buNone/>
                      </a:pPr>
                      <a:r>
                        <a:rPr lang="en-US" sz="800" b="1" dirty="0">
                          <a:solidFill>
                            <a:srgbClr val="0B7A6F"/>
                          </a:solidFill>
                          <a:latin typeface="SF Pro Text" pitchFamily="34" charset="0"/>
                          <a:ea typeface="SF Pro Text" pitchFamily="34" charset="-122"/>
                          <a:cs typeface="SF Pro Text" pitchFamily="34" charset="-120"/>
                        </a:rPr>
                        <a:t>▷ Watch &amp; Learn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Escalates? Send to Service Recovery.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Cancelling? Offer to apply the LO fee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16" name="Text 11"/>
          <p:cNvSpPr/>
          <p:nvPr/>
        </p:nvSpPr>
        <p:spPr>
          <a:xfrm>
            <a:off x="35433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17" name="step1Panel"/>
          <p:cNvSpPr/>
          <p:nvPr/>
        </p:nvSpPr>
        <p:spPr>
          <a:xfrm>
            <a:off x="411480" y="3154680"/>
            <a:ext cx="4091940" cy="1325880"/>
          </a:xfrm>
          <a:prstGeom prst="roundRect">
            <a:avLst>
              <a:gd name="adj" fmla="val 4138"/>
            </a:avLst>
          </a:prstGeom>
          <a:solidFill>
            <a:srgbClr val="E3F4F1"/>
          </a:solidFill>
          <a:ln w="15875">
            <a:solidFill>
              <a:srgbClr val="0B7A6F"/>
            </a:solidFill>
            <a:prstDash val="solid"/>
          </a:ln>
        </p:spPr>
      </p:sp>
      <p:sp>
        <p:nvSpPr>
          <p:cNvPr id="18" name="step1Text"/>
          <p:cNvSpPr txBox="1"/>
          <p:nvPr/>
        </p:nvSpPr>
        <p:spPr>
          <a:xfrm>
            <a:off x="5943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1D1D1F"/>
                </a:solidFill>
                <a:latin typeface="SF Pro Text" pitchFamily="34" charset="0"/>
                <a:ea typeface="SF Pro Text" pitchFamily="34" charset="-122"/>
                <a:cs typeface="SF Pro Text" pitchFamily="34" charset="-120"/>
              </a:rPr>
              <a:t>CP was denied entry because:</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Looked unprofessional</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Brought an unauthorized guest</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Did not have any cleaning supplies</a:t>
            </a:r>
            <a:endParaRPr lang="en-US" sz="1050" dirty="0"/>
          </a:p>
        </p:txBody>
      </p:sp>
      <p:sp>
        <p:nvSpPr>
          <p:cNvPr id="19" name="Text 14"/>
          <p:cNvSpPr/>
          <p:nvPr/>
        </p:nvSpPr>
        <p:spPr>
          <a:xfrm>
            <a:off x="77724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20" name="step2Panel"/>
          <p:cNvSpPr/>
          <p:nvPr/>
        </p:nvSpPr>
        <p:spPr>
          <a:xfrm>
            <a:off x="4640580" y="3154680"/>
            <a:ext cx="4091940" cy="1325880"/>
          </a:xfrm>
          <a:prstGeom prst="roundRect">
            <a:avLst>
              <a:gd name="adj" fmla="val 4138"/>
            </a:avLst>
          </a:prstGeom>
          <a:solidFill>
            <a:srgbClr val="E3F4F1"/>
          </a:solidFill>
          <a:ln w="15875">
            <a:solidFill>
              <a:srgbClr val="0B7A6F"/>
            </a:solidFill>
            <a:prstDash val="solid"/>
          </a:ln>
        </p:spPr>
      </p:sp>
      <p:sp>
        <p:nvSpPr>
          <p:cNvPr id="21" name="step2Text"/>
          <p:cNvSpPr txBox="1"/>
          <p:nvPr/>
        </p:nvSpPr>
        <p:spPr>
          <a:xfrm>
            <a:off x="48234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0B7A6F"/>
                </a:solidFill>
                <a:latin typeface="SF Pro Text" pitchFamily="34" charset="0"/>
                <a:ea typeface="SF Pro Text" pitchFamily="34" charset="-122"/>
                <a:cs typeface="SF Pro Text" pitchFamily="34" charset="-120"/>
              </a:rPr>
              <a:t>Our fault → </a:t>
            </a:r>
            <a:pPr indent="0" marL="0">
              <a:spcAft>
                <a:spcPts val="400"/>
              </a:spcAft>
              <a:buNone/>
            </a:pPr>
            <a:r>
              <a:rPr lang="en-US" sz="1050" dirty="0">
                <a:solidFill>
                  <a:srgbClr val="1D1D1F"/>
                </a:solidFill>
                <a:latin typeface="SF Pro Text" pitchFamily="34" charset="0"/>
                <a:ea typeface="SF Pro Text" pitchFamily="34" charset="-122"/>
                <a:cs typeface="SF Pro Text" pitchFamily="34" charset="-120"/>
              </a:rPr>
              <a:t>We missed to act on job cancellation request; CP wasn’t notified, causing the lockout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6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lockout valid or invalid?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CP Dashboard refund.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Priority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Charged for booking or rescheduling on short notice. Valid by default, but not always.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triggers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48-hour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Their choice or ours?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vs courtesy credit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triggers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system adds it automatically. The customer sees it at booking.</a:t>
            </a:r>
            <a:endParaRPr lang="en-US" sz="1200" dirty="0"/>
          </a:p>
        </p:txBody>
      </p:sp>
      <p:sp>
        <p:nvSpPr>
          <p:cNvPr id="6" name="Shape 3"/>
          <p:cNvSpPr/>
          <p:nvPr/>
        </p:nvSpPr>
        <p:spPr>
          <a:xfrm>
            <a:off x="411480" y="1298448"/>
            <a:ext cx="4091940" cy="1051560"/>
          </a:xfrm>
          <a:prstGeom prst="roundRect">
            <a:avLst>
              <a:gd name="adj" fmla="val 6957"/>
            </a:avLst>
          </a:prstGeom>
          <a:solidFill>
            <a:srgbClr val="FFFFFF"/>
          </a:solidFill>
          <a:ln w="9525">
            <a:solidFill>
              <a:srgbClr val="DCE1E7"/>
            </a:solidFill>
            <a:prstDash val="solid"/>
          </a:ln>
        </p:spPr>
      </p:sp>
      <p:sp>
        <p:nvSpPr>
          <p:cNvPr id="7" name="Text 4"/>
          <p:cNvSpPr txBox="1"/>
          <p:nvPr/>
        </p:nvSpPr>
        <p:spPr>
          <a:xfrm>
            <a:off x="4114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&lt; 48 hrs</a:t>
            </a:r>
            <a:endParaRPr lang="en-US" sz="2800" dirty="0"/>
          </a:p>
        </p:txBody>
      </p:sp>
      <p:sp>
        <p:nvSpPr>
          <p:cNvPr id="8" name="Text 5"/>
          <p:cNvSpPr txBox="1"/>
          <p:nvPr/>
        </p:nvSpPr>
        <p:spPr>
          <a:xfrm>
            <a:off x="5943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Booked (12–48 hrs out) or rescheduled into this window</a:t>
            </a:r>
            <a:endParaRPr lang="en-US" sz="1000" dirty="0"/>
          </a:p>
        </p:txBody>
      </p:sp>
      <p:sp>
        <p:nvSpPr>
          <p:cNvPr id="9" name="Shape 6"/>
          <p:cNvSpPr/>
          <p:nvPr/>
        </p:nvSpPr>
        <p:spPr>
          <a:xfrm>
            <a:off x="4640580" y="1298448"/>
            <a:ext cx="4091940" cy="1051560"/>
          </a:xfrm>
          <a:prstGeom prst="roundRect">
            <a:avLst>
              <a:gd name="adj" fmla="val 6957"/>
            </a:avLst>
          </a:prstGeom>
          <a:solidFill>
            <a:srgbClr val="FFFFFF"/>
          </a:solidFill>
          <a:ln w="9525">
            <a:solidFill>
              <a:srgbClr val="DCE1E7"/>
            </a:solidFill>
            <a:prstDash val="solid"/>
          </a:ln>
        </p:spPr>
      </p:sp>
      <p:sp>
        <p:nvSpPr>
          <p:cNvPr id="10" name="Text 7"/>
          <p:cNvSpPr txBox="1"/>
          <p:nvPr/>
        </p:nvSpPr>
        <p:spPr>
          <a:xfrm>
            <a:off x="46405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+ 15%</a:t>
            </a:r>
            <a:endParaRPr lang="en-US" sz="2800" dirty="0"/>
          </a:p>
        </p:txBody>
      </p:sp>
      <p:sp>
        <p:nvSpPr>
          <p:cNvPr id="11" name="Text 8"/>
          <p:cNvSpPr txBox="1"/>
          <p:nvPr/>
        </p:nvSpPr>
        <p:spPr>
          <a:xfrm>
            <a:off x="48234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Processing fee charged on top of the Priority Fee</a:t>
            </a:r>
            <a:endParaRPr lang="en-US" sz="1000" dirty="0"/>
          </a:p>
        </p:txBody>
      </p:sp>
      <p:sp>
        <p:nvSpPr>
          <p:cNvPr id="12" name="Text 9"/>
          <p:cNvSpPr/>
          <p:nvPr/>
        </p:nvSpPr>
        <p:spPr>
          <a:xfrm>
            <a:off x="9029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What the customer sees when booking</a:t>
            </a:r>
            <a:endParaRPr lang="en-US" sz="1000" dirty="0"/>
          </a:p>
        </p:txBody>
      </p:sp>
      <p:sp>
        <p:nvSpPr>
          <p:cNvPr id="13" name="Text 10"/>
          <p:cNvSpPr/>
          <p:nvPr/>
        </p:nvSpPr>
        <p:spPr>
          <a:xfrm>
            <a:off x="51320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How it shows in Job Admin</a:t>
            </a:r>
            <a:endParaRPr lang="en-US" sz="1000" dirty="0"/>
          </a:p>
        </p:txBody>
      </p:sp>
      <p:sp>
        <p:nvSpPr>
          <p:cNvPr id="14" name="Shape 11"/>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15"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16" name="Text 12"/>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Refunding it?  </a:t>
            </a:r>
            <a:pPr indent="0" marL="0">
              <a:buNone/>
            </a:pPr>
            <a:r>
              <a:rPr lang="en-US" sz="1000" dirty="0">
                <a:solidFill>
                  <a:srgbClr val="1D1D1F"/>
                </a:solidFill>
                <a:latin typeface="SF Pro Text" pitchFamily="34" charset="0"/>
                <a:ea typeface="SF Pro Text" pitchFamily="34" charset="-122"/>
                <a:cs typeface="SF Pro Text" pitchFamily="34" charset="-120"/>
              </a:rPr>
              <a:t>refund the 15% processing fee with it.</a:t>
            </a:r>
            <a:endParaRPr lang="en-US" sz="1000" dirty="0"/>
          </a:p>
        </p:txBody>
      </p:sp>
      <p:sp>
        <p:nvSpPr>
          <p:cNvPr id="17" name="pop1_2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18" name="pop1_2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What the customer sees when booking</a:t>
            </a:r>
            <a:endParaRPr lang="en-US" sz="1200" dirty="0"/>
          </a:p>
        </p:txBody>
      </p:sp>
      <p:pic>
        <p:nvPicPr>
          <p:cNvPr id="19" name="pop1_2Img" descr="/tmp/claude-0/-workspace-training/3ce5cff6-cccf-5f33-b0ee-0b147a55120e/scratchpad/img6/priority_prompt.png">    </p:cNvPr>
          <p:cNvPicPr>
            <a:picLocks noChangeAspect="1"/>
          </p:cNvPicPr>
          <p:nvPr/>
        </p:nvPicPr>
        <p:blipFill>
          <a:blip r:embed="rId2"/>
          <a:stretch>
            <a:fillRect/>
          </a:stretch>
        </p:blipFill>
        <p:spPr>
          <a:xfrm>
            <a:off x="1651960" y="1755648"/>
            <a:ext cx="5840080" cy="2779776"/>
          </a:xfrm>
          <a:prstGeom prst="rect">
            <a:avLst/>
          </a:prstGeom>
        </p:spPr>
      </p:pic>
      <p:sp>
        <p:nvSpPr>
          <p:cNvPr id="20" name="pop1_2Frame"/>
          <p:cNvSpPr/>
          <p:nvPr/>
        </p:nvSpPr>
        <p:spPr>
          <a:xfrm>
            <a:off x="1651960" y="1755648"/>
            <a:ext cx="5840080" cy="2779776"/>
          </a:xfrm>
          <a:prstGeom prst="rect">
            <a:avLst/>
          </a:prstGeom>
          <a:ln w="9525">
            <a:solidFill>
              <a:srgbClr val="DCE1E7"/>
            </a:solidFill>
            <a:prstDash val="solid"/>
          </a:ln>
        </p:spPr>
      </p:sp>
      <p:sp>
        <p:nvSpPr>
          <p:cNvPr id="21" name="pop2_3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2" name="pop2_3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How it shows in Job Admin</a:t>
            </a:r>
            <a:endParaRPr lang="en-US" sz="1200" dirty="0"/>
          </a:p>
        </p:txBody>
      </p:sp>
      <p:pic>
        <p:nvPicPr>
          <p:cNvPr id="23" name="pop2_3Img" descr="/tmp/claude-0/-workspace-training/3ce5cff6-cccf-5f33-b0ee-0b147a55120e/scratchpad/img6/priority_crm.png">    </p:cNvPr>
          <p:cNvPicPr>
            <a:picLocks noChangeAspect="1"/>
          </p:cNvPicPr>
          <p:nvPr/>
        </p:nvPicPr>
        <p:blipFill>
          <a:blip r:embed="rId3"/>
          <a:stretch>
            <a:fillRect/>
          </a:stretch>
        </p:blipFill>
        <p:spPr>
          <a:xfrm>
            <a:off x="1123670" y="1755648"/>
            <a:ext cx="6896659" cy="2779776"/>
          </a:xfrm>
          <a:prstGeom prst="rect">
            <a:avLst/>
          </a:prstGeom>
        </p:spPr>
      </p:pic>
      <p:sp>
        <p:nvSpPr>
          <p:cNvPr id="24" name="pop2_3Frame"/>
          <p:cNvSpPr/>
          <p:nvPr/>
        </p:nvSpPr>
        <p:spPr>
          <a:xfrm>
            <a:off x="1123670" y="1755648"/>
            <a:ext cx="6896659" cy="2779776"/>
          </a:xfrm>
          <a:prstGeom prst="rect">
            <a:avLst/>
          </a:prstGeom>
          <a:ln w="9525">
            <a:solidFill>
              <a:srgbClr val="DCE1E7"/>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6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600"/>
                                        <p:tgtEl>
                                          <p:spTgt spid="20"/>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7"/>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8"/>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6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6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6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600"/>
                                        <p:tgtEl>
                                          <p:spTgt spid="24"/>
                                        </p:tgtEl>
                                      </p:cBhvr>
                                    </p:animEffect>
                                  </p:childTnLst>
                                </p:cTn>
                              </p:par>
                            </p:childTnLst>
                          </p:cTn>
                        </p:par>
                      </p:childTnLst>
                    </p:cTn>
                  </p:par>
                  <p:par>
                    <p:cTn id="55" fill="hold">
                      <p:stCondLst>
                        <p:cond delay="indefinite"/>
                      </p:stCondLst>
                      <p:childTnLst>
                        <p:par>
                          <p:cTn id="56"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21"/>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22"/>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23"/>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17" grpId="1" animBg="1"/>
      <p:bldP spid="18" grpId="1" animBg="1"/>
      <p:bldP spid="20" grpId="1" animBg="1"/>
      <p:bldP spid="21" grpId="0" animBg="1"/>
      <p:bldP spid="22" grpId="0" animBg="1"/>
      <p:bldP spid="24" grpId="0" animBg="1"/>
      <p:bldP spid="21" grpId="1" animBg="1"/>
      <p:bldP spid="22" grpId="1" animBg="1"/>
      <p:bldP spid="24"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48-hour rule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job history. Ignore the original appointment. Only look at the NEW one.</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Fee applies</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booked/rescheduled: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cleaning date: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Jul 29,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47 hrs away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fee</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booked/rescheduled: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cleaning date: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Aug 1,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more than 48 hrs away</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original date in both.  </a:t>
            </a:r>
            <a:pPr indent="0" marL="0">
              <a:buNone/>
            </a:pPr>
            <a:r>
              <a:rPr lang="en-US" sz="1000" dirty="0">
                <a:solidFill>
                  <a:srgbClr val="1D1D1F"/>
                </a:solidFill>
                <a:latin typeface="SF Pro Text" pitchFamily="34" charset="0"/>
                <a:ea typeface="SF Pro Text" pitchFamily="34" charset="-122"/>
                <a:cs typeface="SF Pro Text" pitchFamily="34" charset="-120"/>
              </a:rPr>
              <a:t>Only the new appointment decides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Decision flow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Investigate and determine why the customer ended up in the priority window.</a:t>
            </a:r>
            <a:endParaRPr lang="en-US" sz="1200" dirty="0"/>
          </a:p>
        </p:txBody>
      </p:sp>
      <p:sp>
        <p:nvSpPr>
          <p:cNvPr id="6" name="Shape 3"/>
          <p:cNvSpPr/>
          <p:nvPr/>
        </p:nvSpPr>
        <p:spPr>
          <a:xfrm>
            <a:off x="2834640" y="1298448"/>
            <a:ext cx="3474720" cy="438912"/>
          </a:xfrm>
          <a:prstGeom prst="roundRect">
            <a:avLst>
              <a:gd name="adj" fmla="val 16667"/>
            </a:avLst>
          </a:prstGeom>
          <a:solidFill>
            <a:srgbClr val="0B7A6F"/>
          </a:solidFill>
          <a:ln w="12700">
            <a:solidFill>
              <a:srgbClr val="0B7A6F"/>
            </a:solidFill>
            <a:prstDash val="solid"/>
          </a:ln>
        </p:spPr>
      </p:sp>
      <p:sp>
        <p:nvSpPr>
          <p:cNvPr id="7" name="Text 4"/>
          <p:cNvSpPr txBox="1"/>
          <p:nvPr/>
        </p:nvSpPr>
        <p:spPr>
          <a:xfrm>
            <a:off x="2834640" y="1298448"/>
            <a:ext cx="3474720" cy="43891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PRIORITY FEE: refund request</a:t>
            </a:r>
            <a:endParaRPr lang="en-US" sz="1000" dirty="0"/>
          </a:p>
        </p:txBody>
      </p:sp>
      <p:sp>
        <p:nvSpPr>
          <p:cNvPr id="8" name="Shape 5"/>
          <p:cNvSpPr/>
          <p:nvPr/>
        </p:nvSpPr>
        <p:spPr>
          <a:xfrm>
            <a:off x="4572000" y="1737360"/>
            <a:ext cx="0" cy="128016"/>
          </a:xfrm>
          <a:prstGeom prst="line">
            <a:avLst/>
          </a:prstGeom>
          <a:noFill/>
          <a:ln w="12700">
            <a:solidFill>
              <a:srgbClr val="6E6E73"/>
            </a:solidFill>
            <a:prstDash val="solid"/>
          </a:ln>
        </p:spPr>
      </p:sp>
      <p:sp>
        <p:nvSpPr>
          <p:cNvPr id="9" name="Shape 6"/>
          <p:cNvSpPr/>
          <p:nvPr/>
        </p:nvSpPr>
        <p:spPr>
          <a:xfrm>
            <a:off x="2331720" y="1865376"/>
            <a:ext cx="4480560" cy="0"/>
          </a:xfrm>
          <a:prstGeom prst="line">
            <a:avLst/>
          </a:prstGeom>
          <a:noFill/>
          <a:ln w="12700">
            <a:solidFill>
              <a:srgbClr val="6E6E73"/>
            </a:solidFill>
            <a:prstDash val="solid"/>
          </a:ln>
        </p:spPr>
      </p:sp>
      <p:sp>
        <p:nvSpPr>
          <p:cNvPr id="10" name="Shape 7"/>
          <p:cNvSpPr/>
          <p:nvPr/>
        </p:nvSpPr>
        <p:spPr>
          <a:xfrm>
            <a:off x="2331720" y="1865376"/>
            <a:ext cx="0" cy="128016"/>
          </a:xfrm>
          <a:prstGeom prst="line">
            <a:avLst/>
          </a:prstGeom>
          <a:noFill/>
          <a:ln w="12700">
            <a:solidFill>
              <a:srgbClr val="6E6E73"/>
            </a:solidFill>
            <a:prstDash val="solid"/>
            <a:tailEnd type="triangle"/>
          </a:ln>
        </p:spPr>
      </p:sp>
      <p:sp>
        <p:nvSpPr>
          <p:cNvPr id="11" name="Shape 8"/>
          <p:cNvSpPr/>
          <p:nvPr/>
        </p:nvSpPr>
        <p:spPr>
          <a:xfrm>
            <a:off x="6812280" y="1865376"/>
            <a:ext cx="0" cy="128016"/>
          </a:xfrm>
          <a:prstGeom prst="line">
            <a:avLst/>
          </a:prstGeom>
          <a:noFill/>
          <a:ln w="12700">
            <a:solidFill>
              <a:srgbClr val="6E6E73"/>
            </a:solidFill>
            <a:prstDash val="solid"/>
            <a:tailEnd type="triangle"/>
          </a:ln>
        </p:spPr>
      </p:sp>
      <p:sp>
        <p:nvSpPr>
          <p:cNvPr id="12" name="Text 9"/>
          <p:cNvSpPr txBox="1"/>
          <p:nvPr/>
        </p:nvSpPr>
        <p:spPr>
          <a:xfrm>
            <a:off x="2404872" y="1883664"/>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txBox="1"/>
          <p:nvPr/>
        </p:nvSpPr>
        <p:spPr>
          <a:xfrm>
            <a:off x="6885432" y="1883664"/>
            <a:ext cx="548640" cy="201168"/>
          </a:xfrm>
          <a:prstGeom prst="rect">
            <a:avLst/>
          </a:prstGeom>
          <a:noFill/>
          <a:ln/>
        </p:spPr>
        <p:txBody>
          <a:bodyPr wrap="square" lIns="0" tIns="0" rIns="0" bIns="0" rtlCol="0" anchor="t"/>
          <a:lstStyle/>
          <a:p>
            <a:pPr indent="0" marL="0">
              <a:buNone/>
            </a:pPr>
            <a:endParaRPr lang="en-US" sz="850" dirty="0"/>
          </a:p>
        </p:txBody>
      </p:sp>
      <p:sp>
        <p:nvSpPr>
          <p:cNvPr id="14" name="Text 11"/>
          <p:cNvSpPr/>
          <p:nvPr/>
        </p:nvSpPr>
        <p:spPr>
          <a:xfrm>
            <a:off x="1325880" y="1993392"/>
            <a:ext cx="2011680" cy="384048"/>
          </a:xfrm>
          <a:prstGeom prst="roundRect">
            <a:avLst>
              <a:gd name="adj" fmla="val 19048"/>
            </a:avLst>
          </a:prstGeom>
          <a:solidFill>
            <a:srgbClr val="FFF3D6"/>
          </a:solidFill>
          <a:ln w="15875">
            <a:solidFill>
              <a:srgbClr val="9A6410"/>
            </a:solidFill>
          </a:ln>
        </p:spPr>
        <p:txBody>
          <a:bodyPr wrap="square" rtlCol="0" anchor="ctr"/>
          <a:lstStyle/>
          <a:p>
            <a:pPr algn="ctr" indent="0" marL="0">
              <a:buNone/>
            </a:pPr>
            <a:r>
              <a:rPr lang="en-US" sz="1100" b="1" dirty="0">
                <a:solidFill>
                  <a:srgbClr val="9A6410"/>
                </a:solidFill>
                <a:latin typeface="SF Pro Display" pitchFamily="34" charset="0"/>
                <a:ea typeface="SF Pro Display" pitchFamily="34" charset="-122"/>
                <a:cs typeface="SF Pro Display" pitchFamily="34" charset="-120"/>
              </a:rPr>
              <a:t>C-fault</a:t>
            </a:r>
            <a:endParaRPr lang="en-US" sz="1100" dirty="0"/>
          </a:p>
        </p:txBody>
      </p:sp>
      <p:sp>
        <p:nvSpPr>
          <p:cNvPr id="15" name="Text 12"/>
          <p:cNvSpPr/>
          <p:nvPr/>
        </p:nvSpPr>
        <p:spPr>
          <a:xfrm>
            <a:off x="5806440" y="1993392"/>
            <a:ext cx="2011680" cy="384048"/>
          </a:xfrm>
          <a:prstGeom prst="roundRect">
            <a:avLst>
              <a:gd name="adj" fmla="val 19048"/>
            </a:avLst>
          </a:prstGeom>
          <a:solidFill>
            <a:srgbClr val="1D1D1F"/>
          </a:solidFill>
          <a:ln w="12700">
            <a:solidFill>
              <a:srgbClr val="1D1D1F"/>
            </a:solidFill>
          </a:ln>
        </p:spPr>
        <p:txBody>
          <a:bodyPr wrap="square" rtlCol="0" anchor="ctr"/>
          <a:lstStyle/>
          <a:p>
            <a:pPr algn="ctr" indent="0" marL="0">
              <a:buNone/>
            </a:pPr>
            <a:r>
              <a:rPr lang="en-US" sz="1100" b="1" dirty="0">
                <a:solidFill>
                  <a:srgbClr val="FFFFFF"/>
                </a:solidFill>
                <a:latin typeface="SF Pro Display" pitchFamily="34" charset="0"/>
                <a:ea typeface="SF Pro Display" pitchFamily="34" charset="-122"/>
                <a:cs typeface="SF Pro Display" pitchFamily="34" charset="-120"/>
              </a:rPr>
              <a:t>CP/Platform fault</a:t>
            </a:r>
            <a:endParaRPr lang="en-US" sz="1100" dirty="0"/>
          </a:p>
        </p:txBody>
      </p:sp>
      <p:sp>
        <p:nvSpPr>
          <p:cNvPr id="16" name="Shape 13"/>
          <p:cNvSpPr/>
          <p:nvPr/>
        </p:nvSpPr>
        <p:spPr>
          <a:xfrm>
            <a:off x="2331720" y="2377440"/>
            <a:ext cx="0" cy="128016"/>
          </a:xfrm>
          <a:prstGeom prst="line">
            <a:avLst/>
          </a:prstGeom>
          <a:noFill/>
          <a:ln w="12700">
            <a:solidFill>
              <a:srgbClr val="6E6E73"/>
            </a:solidFill>
            <a:prstDash val="solid"/>
            <a:tailEnd type="triangle"/>
          </a:ln>
        </p:spPr>
      </p:sp>
      <p:sp>
        <p:nvSpPr>
          <p:cNvPr id="17" name="Shape 14"/>
          <p:cNvSpPr/>
          <p:nvPr/>
        </p:nvSpPr>
        <p:spPr>
          <a:xfrm>
            <a:off x="6812280" y="2377440"/>
            <a:ext cx="0" cy="128016"/>
          </a:xfrm>
          <a:prstGeom prst="line">
            <a:avLst/>
          </a:prstGeom>
          <a:noFill/>
          <a:ln w="12700">
            <a:solidFill>
              <a:srgbClr val="6E6E73"/>
            </a:solidFill>
            <a:prstDash val="solid"/>
            <a:tailEnd type="triangle"/>
          </a:ln>
        </p:spPr>
      </p:sp>
      <p:sp>
        <p:nvSpPr>
          <p:cNvPr id="18" name="Shape 15"/>
          <p:cNvSpPr/>
          <p:nvPr/>
        </p:nvSpPr>
        <p:spPr>
          <a:xfrm>
            <a:off x="411480" y="2505456"/>
            <a:ext cx="3840480" cy="932688"/>
          </a:xfrm>
          <a:prstGeom prst="roundRect">
            <a:avLst>
              <a:gd name="adj" fmla="val 7843"/>
            </a:avLst>
          </a:prstGeom>
          <a:solidFill>
            <a:srgbClr val="FFFFFF"/>
          </a:solidFill>
          <a:ln w="9525">
            <a:solidFill>
              <a:srgbClr val="DCE1E7"/>
            </a:solidFill>
            <a:prstDash val="solid"/>
          </a:ln>
        </p:spPr>
      </p:sp>
      <p:sp>
        <p:nvSpPr>
          <p:cNvPr id="19" name="Text 16"/>
          <p:cNvSpPr txBox="1"/>
          <p:nvPr/>
        </p:nvSpPr>
        <p:spPr>
          <a:xfrm>
            <a:off x="594360" y="2505456"/>
            <a:ext cx="3474720" cy="932688"/>
          </a:xfrm>
          <a:prstGeom prst="rect">
            <a:avLst/>
          </a:prstGeom>
          <a:noFill/>
          <a:ln/>
        </p:spPr>
        <p:txBody>
          <a:bodyPr wrap="square" lIns="0" tIns="0" rIns="0" bIns="0" rtlCol="0" anchor="ctr"/>
          <a:lstStyle/>
          <a:p>
            <a:pPr algn="ctr" indent="0" marL="0">
              <a:spcAft>
                <a:spcPts val="300"/>
              </a:spcAft>
              <a:buNone/>
            </a:pPr>
            <a:r>
              <a:rPr lang="en-US" sz="1000" b="1" dirty="0">
                <a:solidFill>
                  <a:srgbClr val="1D1D1F"/>
                </a:solidFill>
                <a:latin typeface="SF Pro Text" pitchFamily="34" charset="0"/>
                <a:ea typeface="SF Pro Text" pitchFamily="34" charset="-122"/>
                <a:cs typeface="SF Pro Text" pitchFamily="34" charset="-120"/>
              </a:rPr>
              <a:t>Fee stands. Explain the policy, offer up to 100% credits.</a:t>
            </a:r>
            <a:endParaRPr lang="en-US" sz="1000" dirty="0"/>
          </a:p>
          <a:p>
            <a:pPr algn="ctr" indent="0" marL="0">
              <a:spcAft>
                <a:spcPts val="300"/>
              </a:spcAft>
              <a:buNone/>
            </a:pPr>
            <a:r>
              <a:rPr lang="en-US" sz="1000" dirty="0">
                <a:solidFill>
                  <a:srgbClr val="6E6E73"/>
                </a:solidFill>
                <a:latin typeface="SF Pro Text" pitchFamily="34" charset="0"/>
                <a:ea typeface="SF Pro Text" pitchFamily="34" charset="-122"/>
                <a:cs typeface="SF Pro Text" pitchFamily="34" charset="-120"/>
              </a:rPr>
              <a:t>Show them the Priority Fee notice they saw at booking.</a:t>
            </a:r>
            <a:endParaRPr lang="en-US" sz="1000" dirty="0"/>
          </a:p>
        </p:txBody>
      </p:sp>
      <p:sp>
        <p:nvSpPr>
          <p:cNvPr id="20" name="Shape 17"/>
          <p:cNvSpPr/>
          <p:nvPr/>
        </p:nvSpPr>
        <p:spPr>
          <a:xfrm>
            <a:off x="4892040" y="2505456"/>
            <a:ext cx="3840480" cy="932688"/>
          </a:xfrm>
          <a:prstGeom prst="roundRect">
            <a:avLst>
              <a:gd name="adj" fmla="val 7843"/>
            </a:avLst>
          </a:prstGeom>
          <a:solidFill>
            <a:srgbClr val="FFFFFF"/>
          </a:solidFill>
          <a:ln w="9525">
            <a:solidFill>
              <a:srgbClr val="DCE1E7"/>
            </a:solidFill>
            <a:prstDash val="solid"/>
          </a:ln>
        </p:spPr>
      </p:sp>
      <p:sp>
        <p:nvSpPr>
          <p:cNvPr id="21" name="Text 18"/>
          <p:cNvSpPr txBox="1"/>
          <p:nvPr/>
        </p:nvSpPr>
        <p:spPr>
          <a:xfrm>
            <a:off x="5074920" y="2505456"/>
            <a:ext cx="3474720" cy="932688"/>
          </a:xfrm>
          <a:prstGeom prst="rect">
            <a:avLst/>
          </a:prstGeom>
          <a:noFill/>
          <a:ln/>
        </p:spPr>
        <p:txBody>
          <a:bodyPr wrap="square" lIns="0" tIns="0" rIns="0" bIns="0" rtlCol="0" anchor="ctr"/>
          <a:lstStyle/>
          <a:p>
            <a:pPr algn="ctr" indent="0" marL="0">
              <a:spcAft>
                <a:spcPts val="300"/>
              </a:spcAft>
              <a:buNone/>
            </a:pPr>
            <a:r>
              <a:rPr lang="en-US" sz="1000" dirty="0">
                <a:solidFill>
                  <a:srgbClr val="6E6E73"/>
                </a:solidFill>
                <a:latin typeface="SF Pro Text" pitchFamily="34" charset="0"/>
                <a:ea typeface="SF Pro Text" pitchFamily="34" charset="-122"/>
                <a:cs typeface="SF Pro Text" pitchFamily="34" charset="-120"/>
              </a:rPr>
              <a:t>Homeaglow or the CP caused the priority window.</a:t>
            </a:r>
            <a:endParaRPr lang="en-US" sz="1000" dirty="0"/>
          </a:p>
          <a:p>
            <a:pPr algn="ctr" indent="0" marL="0">
              <a:spcAft>
                <a:spcPts val="300"/>
              </a:spcAft>
              <a:buNone/>
            </a:pPr>
            <a:r>
              <a:rPr lang="en-US" sz="1000" b="1" dirty="0">
                <a:solidFill>
                  <a:srgbClr val="1D1D1F"/>
                </a:solidFill>
                <a:latin typeface="SF Pro Text" pitchFamily="34" charset="0"/>
                <a:ea typeface="SF Pro Text" pitchFamily="34" charset="-122"/>
                <a:cs typeface="SF Pro Text" pitchFamily="34" charset="-120"/>
              </a:rPr>
              <a:t>Refund the Priority Fee and the associated 15% processing fee.</a:t>
            </a:r>
            <a:endParaRPr lang="en-US" sz="1000" dirty="0"/>
          </a:p>
        </p:txBody>
      </p:sp>
      <p:sp>
        <p:nvSpPr>
          <p:cNvPr id="22" name="Shape 19"/>
          <p:cNvSpPr/>
          <p:nvPr/>
        </p:nvSpPr>
        <p:spPr>
          <a:xfrm>
            <a:off x="411480" y="3547872"/>
            <a:ext cx="3840480" cy="292608"/>
          </a:xfrm>
          <a:prstGeom prst="roundRect">
            <a:avLst>
              <a:gd name="adj" fmla="val 25000"/>
            </a:avLst>
          </a:prstGeom>
          <a:solidFill>
            <a:srgbClr val="FFF3D6"/>
          </a:solidFill>
          <a:ln w="9525">
            <a:solidFill>
              <a:srgbClr val="9A6410"/>
            </a:solidFill>
            <a:prstDash val="solid"/>
          </a:ln>
        </p:spPr>
      </p:sp>
      <p:pic>
        <p:nvPicPr>
          <p:cNvPr id="23" name="Image 0" descr="preencoded.png">    </p:cNvPr>
          <p:cNvPicPr>
            <a:picLocks noChangeAspect="1"/>
          </p:cNvPicPr>
          <p:nvPr/>
        </p:nvPicPr>
        <p:blipFill>
          <a:blip r:embed="rId1"/>
          <a:stretch>
            <a:fillRect/>
          </a:stretch>
        </p:blipFill>
        <p:spPr>
          <a:xfrm>
            <a:off x="521208" y="3621024"/>
            <a:ext cx="146304" cy="146304"/>
          </a:xfrm>
          <a:prstGeom prst="rect">
            <a:avLst/>
          </a:prstGeom>
        </p:spPr>
      </p:pic>
      <p:sp>
        <p:nvSpPr>
          <p:cNvPr id="24" name="Text 20"/>
          <p:cNvSpPr txBox="1"/>
          <p:nvPr/>
        </p:nvSpPr>
        <p:spPr>
          <a:xfrm>
            <a:off x="731520" y="3547872"/>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Issue Credits up to 100%</a:t>
            </a:r>
            <a:endParaRPr lang="en-US" sz="950" dirty="0"/>
          </a:p>
        </p:txBody>
      </p:sp>
      <p:sp>
        <p:nvSpPr>
          <p:cNvPr id="25" name="Shape 21"/>
          <p:cNvSpPr/>
          <p:nvPr/>
        </p:nvSpPr>
        <p:spPr>
          <a:xfrm>
            <a:off x="4892040" y="3547872"/>
            <a:ext cx="3840480" cy="292608"/>
          </a:xfrm>
          <a:prstGeom prst="roundRect">
            <a:avLst>
              <a:gd name="adj" fmla="val 25000"/>
            </a:avLst>
          </a:prstGeom>
          <a:solidFill>
            <a:srgbClr val="FFF3D6"/>
          </a:solidFill>
          <a:ln w="9525">
            <a:solidFill>
              <a:srgbClr val="9A6410"/>
            </a:solidFill>
            <a:prstDash val="solid"/>
          </a:ln>
        </p:spPr>
      </p:sp>
      <p:pic>
        <p:nvPicPr>
          <p:cNvPr id="26" name="Image 1" descr="preencoded.png">    </p:cNvPr>
          <p:cNvPicPr>
            <a:picLocks noChangeAspect="1"/>
          </p:cNvPicPr>
          <p:nvPr/>
        </p:nvPicPr>
        <p:blipFill>
          <a:blip r:embed="rId2"/>
          <a:stretch>
            <a:fillRect/>
          </a:stretch>
        </p:blipFill>
        <p:spPr>
          <a:xfrm>
            <a:off x="5001768" y="3621024"/>
            <a:ext cx="146304" cy="146304"/>
          </a:xfrm>
          <a:prstGeom prst="rect">
            <a:avLst/>
          </a:prstGeom>
        </p:spPr>
      </p:pic>
      <p:sp>
        <p:nvSpPr>
          <p:cNvPr id="27" name="Text 22"/>
          <p:cNvSpPr txBox="1"/>
          <p:nvPr/>
        </p:nvSpPr>
        <p:spPr>
          <a:xfrm>
            <a:off x="5212080" y="3547872"/>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Refunded</a:t>
            </a:r>
            <a:endParaRPr lang="en-US" sz="950" dirty="0"/>
          </a:p>
        </p:txBody>
      </p:sp>
      <p:sp>
        <p:nvSpPr>
          <p:cNvPr id="28" name="Text 23"/>
          <p:cNvSpPr/>
          <p:nvPr/>
        </p:nvSpPr>
        <p:spPr>
          <a:xfrm>
            <a:off x="6080760" y="3950208"/>
            <a:ext cx="146304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Scenarios  ›</a:t>
            </a:r>
            <a:endParaRPr lang="en-US" sz="1000" dirty="0"/>
          </a:p>
        </p:txBody>
      </p:sp>
      <p:sp>
        <p:nvSpPr>
          <p:cNvPr id="29" name="Text 24"/>
          <p:cNvSpPr txBox="1"/>
          <p:nvPr/>
        </p:nvSpPr>
        <p:spPr>
          <a:xfrm>
            <a:off x="411480" y="3950208"/>
            <a:ext cx="3840480" cy="329184"/>
          </a:xfrm>
          <a:prstGeom prst="rect">
            <a:avLst/>
          </a:prstGeom>
          <a:noFill/>
          <a:ln/>
        </p:spPr>
        <p:txBody>
          <a:bodyPr wrap="square" lIns="0" tIns="0" rIns="0" bIns="0" rtlCol="0" anchor="ctr"/>
          <a:lstStyle/>
          <a:p>
            <a:pPr algn="ctr" indent="0" marL="0">
              <a:buNone/>
            </a:pPr>
            <a:r>
              <a:rPr lang="en-US" sz="900" b="1" dirty="0">
                <a:solidFill>
                  <a:srgbClr val="6E6E73"/>
                </a:solidFill>
                <a:latin typeface="SF Pro Text" pitchFamily="34" charset="0"/>
                <a:ea typeface="SF Pro Text" pitchFamily="34" charset="-122"/>
                <a:cs typeface="SF Pro Text" pitchFamily="34" charset="-120"/>
              </a:rPr>
              <a:t>Not sure which? Escalate. Never refund and credit the same fee.</a:t>
            </a:r>
            <a:endParaRPr lang="en-US" sz="900" dirty="0"/>
          </a:p>
        </p:txBody>
      </p:sp>
      <p:sp>
        <p:nvSpPr>
          <p:cNvPr id="30" name="pop1_5Panel"/>
          <p:cNvSpPr/>
          <p:nvPr/>
        </p:nvSpPr>
        <p:spPr>
          <a:xfrm>
            <a:off x="411480" y="1993392"/>
            <a:ext cx="4069080" cy="2606040"/>
          </a:xfrm>
          <a:prstGeom prst="roundRect">
            <a:avLst>
              <a:gd name="adj" fmla="val 210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1" name="pop1_5Title"/>
          <p:cNvSpPr txBox="1"/>
          <p:nvPr/>
        </p:nvSpPr>
        <p:spPr>
          <a:xfrm>
            <a:off x="594360" y="2066544"/>
            <a:ext cx="3703320" cy="292608"/>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When it's on us: known scenarios</a:t>
            </a:r>
            <a:endParaRPr lang="en-US" sz="1100" dirty="0"/>
          </a:p>
        </p:txBody>
      </p:sp>
      <p:sp>
        <p:nvSpPr>
          <p:cNvPr id="32" name="pop1_5Row"/>
          <p:cNvSpPr/>
          <p:nvPr/>
        </p:nvSpPr>
        <p:spPr>
          <a:xfrm>
            <a:off x="548640" y="2432304"/>
            <a:ext cx="3794760" cy="457200"/>
          </a:xfrm>
          <a:prstGeom prst="roundRect">
            <a:avLst>
              <a:gd name="adj" fmla="val 12000"/>
            </a:avLst>
          </a:prstGeom>
          <a:solidFill>
            <a:srgbClr val="E3F4F1"/>
          </a:solidFill>
          <a:ln w="12700">
            <a:solidFill>
              <a:srgbClr val="E3F4F1"/>
            </a:solidFill>
            <a:prstDash val="solid"/>
          </a:ln>
        </p:spPr>
      </p:sp>
      <p:pic>
        <p:nvPicPr>
          <p:cNvPr id="33" name="pop1_5Icon" descr="preencoded.png">    </p:cNvPr>
          <p:cNvPicPr>
            <a:picLocks noChangeAspect="1"/>
          </p:cNvPicPr>
          <p:nvPr/>
        </p:nvPicPr>
        <p:blipFill>
          <a:blip r:embed="rId3"/>
          <a:stretch>
            <a:fillRect/>
          </a:stretch>
        </p:blipFill>
        <p:spPr>
          <a:xfrm>
            <a:off x="667512" y="2569464"/>
            <a:ext cx="182880" cy="182880"/>
          </a:xfrm>
          <a:prstGeom prst="rect">
            <a:avLst/>
          </a:prstGeom>
        </p:spPr>
      </p:pic>
      <p:sp>
        <p:nvSpPr>
          <p:cNvPr id="34" name="pop1_5Text"/>
          <p:cNvSpPr txBox="1"/>
          <p:nvPr/>
        </p:nvSpPr>
        <p:spPr>
          <a:xfrm>
            <a:off x="960120" y="2432304"/>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CP no-show   </a:t>
            </a:r>
            <a:pPr indent="0" marL="0">
              <a:buNone/>
            </a:pPr>
            <a:r>
              <a:rPr lang="en-US" sz="950" dirty="0">
                <a:solidFill>
                  <a:srgbClr val="6E6E73"/>
                </a:solidFill>
                <a:latin typeface="SF Pro Text" pitchFamily="34" charset="0"/>
                <a:ea typeface="SF Pro Text" pitchFamily="34" charset="-122"/>
                <a:cs typeface="SF Pro Text" pitchFamily="34" charset="-120"/>
              </a:rPr>
              <a:t>Previous CP didn't show or cancelled last minute.</a:t>
            </a:r>
            <a:endParaRPr lang="en-US" sz="950" dirty="0"/>
          </a:p>
        </p:txBody>
      </p:sp>
      <p:sp>
        <p:nvSpPr>
          <p:cNvPr id="35" name="pop2_5Row"/>
          <p:cNvSpPr/>
          <p:nvPr/>
        </p:nvSpPr>
        <p:spPr>
          <a:xfrm>
            <a:off x="548640" y="2962656"/>
            <a:ext cx="3794760" cy="457200"/>
          </a:xfrm>
          <a:prstGeom prst="roundRect">
            <a:avLst>
              <a:gd name="adj" fmla="val 12000"/>
            </a:avLst>
          </a:prstGeom>
          <a:solidFill>
            <a:srgbClr val="E3F4F1"/>
          </a:solidFill>
          <a:ln w="12700">
            <a:solidFill>
              <a:srgbClr val="E3F4F1"/>
            </a:solidFill>
            <a:prstDash val="solid"/>
          </a:ln>
        </p:spPr>
      </p:sp>
      <p:pic>
        <p:nvPicPr>
          <p:cNvPr id="36" name="pop2_5Icon" descr="preencoded.png">    </p:cNvPr>
          <p:cNvPicPr>
            <a:picLocks noChangeAspect="1"/>
          </p:cNvPicPr>
          <p:nvPr/>
        </p:nvPicPr>
        <p:blipFill>
          <a:blip r:embed="rId4"/>
          <a:stretch>
            <a:fillRect/>
          </a:stretch>
        </p:blipFill>
        <p:spPr>
          <a:xfrm>
            <a:off x="667512" y="3099816"/>
            <a:ext cx="182880" cy="182880"/>
          </a:xfrm>
          <a:prstGeom prst="rect">
            <a:avLst/>
          </a:prstGeom>
        </p:spPr>
      </p:pic>
      <p:sp>
        <p:nvSpPr>
          <p:cNvPr id="37" name="pop2_5Text"/>
          <p:cNvSpPr txBox="1"/>
          <p:nvPr/>
        </p:nvSpPr>
        <p:spPr>
          <a:xfrm>
            <a:off x="960120" y="2962656"/>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CP rescheduled   </a:t>
            </a:r>
            <a:pPr indent="0" marL="0">
              <a:buNone/>
            </a:pPr>
            <a:r>
              <a:rPr lang="en-US" sz="950" dirty="0">
                <a:solidFill>
                  <a:srgbClr val="6E6E73"/>
                </a:solidFill>
                <a:latin typeface="SF Pro Text" pitchFamily="34" charset="0"/>
                <a:ea typeface="SF Pro Text" pitchFamily="34" charset="-122"/>
                <a:cs typeface="SF Pro Text" pitchFamily="34" charset="-120"/>
              </a:rPr>
              <a:t>Previous CP asked to move the appointment.</a:t>
            </a:r>
            <a:endParaRPr lang="en-US" sz="950" dirty="0"/>
          </a:p>
        </p:txBody>
      </p:sp>
      <p:sp>
        <p:nvSpPr>
          <p:cNvPr id="38" name="pop3_5Row"/>
          <p:cNvSpPr/>
          <p:nvPr/>
        </p:nvSpPr>
        <p:spPr>
          <a:xfrm>
            <a:off x="548640" y="3493008"/>
            <a:ext cx="3794760" cy="457200"/>
          </a:xfrm>
          <a:prstGeom prst="roundRect">
            <a:avLst>
              <a:gd name="adj" fmla="val 12000"/>
            </a:avLst>
          </a:prstGeom>
          <a:solidFill>
            <a:srgbClr val="E3F4F1"/>
          </a:solidFill>
          <a:ln w="12700">
            <a:solidFill>
              <a:srgbClr val="E3F4F1"/>
            </a:solidFill>
            <a:prstDash val="solid"/>
          </a:ln>
        </p:spPr>
      </p:sp>
      <p:pic>
        <p:nvPicPr>
          <p:cNvPr id="39" name="pop3_5Icon" descr="preencoded.png">    </p:cNvPr>
          <p:cNvPicPr>
            <a:picLocks noChangeAspect="1"/>
          </p:cNvPicPr>
          <p:nvPr/>
        </p:nvPicPr>
        <p:blipFill>
          <a:blip r:embed="rId5"/>
          <a:stretch>
            <a:fillRect/>
          </a:stretch>
        </p:blipFill>
        <p:spPr>
          <a:xfrm>
            <a:off x="667512" y="3630168"/>
            <a:ext cx="182880" cy="182880"/>
          </a:xfrm>
          <a:prstGeom prst="rect">
            <a:avLst/>
          </a:prstGeom>
        </p:spPr>
      </p:pic>
      <p:sp>
        <p:nvSpPr>
          <p:cNvPr id="40" name="pop3_5Text"/>
          <p:cNvSpPr txBox="1"/>
          <p:nvPr/>
        </p:nvSpPr>
        <p:spPr>
          <a:xfrm>
            <a:off x="960120" y="3493008"/>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System bug   </a:t>
            </a:r>
            <a:pPr indent="0" marL="0">
              <a:buNone/>
            </a:pPr>
            <a:r>
              <a:rPr lang="en-US" sz="950" dirty="0">
                <a:solidFill>
                  <a:srgbClr val="6E6E73"/>
                </a:solidFill>
                <a:latin typeface="SF Pro Text" pitchFamily="34" charset="0"/>
                <a:ea typeface="SF Pro Text" pitchFamily="34" charset="-122"/>
                <a:cs typeface="SF Pro Text" pitchFamily="34" charset="-120"/>
              </a:rPr>
              <a:t>The customer was affected by a bug.</a:t>
            </a:r>
            <a:endParaRPr lang="en-US" sz="950" dirty="0"/>
          </a:p>
        </p:txBody>
      </p:sp>
      <p:sp>
        <p:nvSpPr>
          <p:cNvPr id="41" name="pop4_5Row"/>
          <p:cNvSpPr/>
          <p:nvPr/>
        </p:nvSpPr>
        <p:spPr>
          <a:xfrm>
            <a:off x="548640" y="4023360"/>
            <a:ext cx="3794760" cy="457200"/>
          </a:xfrm>
          <a:prstGeom prst="roundRect">
            <a:avLst>
              <a:gd name="adj" fmla="val 12000"/>
            </a:avLst>
          </a:prstGeom>
          <a:solidFill>
            <a:srgbClr val="E3F4F1"/>
          </a:solidFill>
          <a:ln w="12700">
            <a:solidFill>
              <a:srgbClr val="E3F4F1"/>
            </a:solidFill>
            <a:prstDash val="solid"/>
          </a:ln>
        </p:spPr>
      </p:sp>
      <p:pic>
        <p:nvPicPr>
          <p:cNvPr id="42" name="pop4_5Icon" descr="preencoded.png">    </p:cNvPr>
          <p:cNvPicPr>
            <a:picLocks noChangeAspect="1"/>
          </p:cNvPicPr>
          <p:nvPr/>
        </p:nvPicPr>
        <p:blipFill>
          <a:blip r:embed="rId6"/>
          <a:stretch>
            <a:fillRect/>
          </a:stretch>
        </p:blipFill>
        <p:spPr>
          <a:xfrm>
            <a:off x="667512" y="4160520"/>
            <a:ext cx="182880" cy="182880"/>
          </a:xfrm>
          <a:prstGeom prst="rect">
            <a:avLst/>
          </a:prstGeom>
        </p:spPr>
      </p:pic>
      <p:sp>
        <p:nvSpPr>
          <p:cNvPr id="43" name="pop4_5Text"/>
          <p:cNvSpPr txBox="1"/>
          <p:nvPr/>
        </p:nvSpPr>
        <p:spPr>
          <a:xfrm>
            <a:off x="960120" y="4023360"/>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Rebooked after PCQ   </a:t>
            </a:r>
            <a:pPr indent="0" marL="0">
              <a:buNone/>
            </a:pPr>
            <a:r>
              <a:rPr lang="en-US" sz="950" dirty="0">
                <a:solidFill>
                  <a:srgbClr val="6E6E73"/>
                </a:solidFill>
                <a:latin typeface="SF Pro Text" pitchFamily="34" charset="0"/>
                <a:ea typeface="SF Pro Text" pitchFamily="34" charset="-122"/>
                <a:cs typeface="SF Pro Text" pitchFamily="34" charset="-120"/>
              </a:rPr>
              <a:t>Booked again right after reporting Poor Cleaning Quality.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60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60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600"/>
                                        <p:tgtEl>
                                          <p:spTgt spid="3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600"/>
                                        <p:tgtEl>
                                          <p:spTgt spid="3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600"/>
                                        <p:tgtEl>
                                          <p:spTgt spid="34"/>
                                        </p:tgtEl>
                                      </p:cBhvr>
                                    </p:animEffect>
                                  </p:childTnLst>
                                </p:cTn>
                              </p:par>
                            </p:childTnLst>
                          </p:cTn>
                        </p:par>
                      </p:childTnLst>
                    </p:cTn>
                  </p:par>
                  <p:par>
                    <p:cTn id="29" fill="hold">
                      <p:stCondLst>
                        <p:cond delay="indefinite"/>
                      </p:stCondLst>
                      <p:childTnLst>
                        <p:par>
                          <p:cTn id="30"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600"/>
                                        <p:tgtEl>
                                          <p:spTgt spid="3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600"/>
                                        <p:tgtEl>
                                          <p:spTgt spid="3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7"/>
                                        </p:tgtEl>
                                        <p:attrNameLst>
                                          <p:attrName>style.visibility</p:attrName>
                                        </p:attrNameLst>
                                      </p:cBhvr>
                                      <p:to>
                                        <p:strVal val="visible"/>
                                      </p:to>
                                    </p:set>
                                    <p:animEffect transition="in" filter="fade">
                                      <p:cBhvr>
                                        <p:cTn id="30" dur="600"/>
                                        <p:tgtEl>
                                          <p:spTgt spid="37"/>
                                        </p:tgtEl>
                                      </p:cBhvr>
                                    </p:animEffect>
                                  </p:childTnLst>
                                </p:cTn>
                              </p:par>
                            </p:childTnLst>
                          </p:cTn>
                        </p:par>
                      </p:childTnLst>
                    </p:cTn>
                  </p:par>
                  <p:par>
                    <p:cTn id="40" fill="hold">
                      <p:stCondLst>
                        <p:cond delay="indefinite"/>
                      </p:stCondLst>
                      <p:childTnLst>
                        <p:par>
                          <p:cTn id="41"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600"/>
                                        <p:tgtEl>
                                          <p:spTgt spid="3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600"/>
                                        <p:tgtEl>
                                          <p:spTgt spid="3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600"/>
                                        <p:tgtEl>
                                          <p:spTgt spid="40"/>
                                        </p:tgtEl>
                                      </p:cBhvr>
                                    </p:animEffect>
                                  </p:childTnLst>
                                </p:cTn>
                              </p:par>
                            </p:childTnLst>
                          </p:cTn>
                        </p:par>
                      </p:childTnLst>
                    </p:cTn>
                  </p:par>
                  <p:par>
                    <p:cTn id="51" fill="hold">
                      <p:stCondLst>
                        <p:cond delay="indefinite"/>
                      </p:stCondLst>
                      <p:childTnLst>
                        <p:par>
                          <p:cTn id="52"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600"/>
                                        <p:tgtEl>
                                          <p:spTgt spid="4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2"/>
                                        </p:tgtEl>
                                        <p:attrNameLst>
                                          <p:attrName>style.visibility</p:attrName>
                                        </p:attrNameLst>
                                      </p:cBhvr>
                                      <p:to>
                                        <p:strVal val="visible"/>
                                      </p:to>
                                    </p:set>
                                    <p:animEffect transition="in" filter="fade">
                                      <p:cBhvr>
                                        <p:cTn id="49" dur="600"/>
                                        <p:tgtEl>
                                          <p:spTgt spid="4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3"/>
                                        </p:tgtEl>
                                        <p:attrNameLst>
                                          <p:attrName>style.visibility</p:attrName>
                                        </p:attrNameLst>
                                      </p:cBhvr>
                                      <p:to>
                                        <p:strVal val="visible"/>
                                      </p:to>
                                    </p:set>
                                    <p:animEffect transition="in" filter="fade">
                                      <p:cBhvr>
                                        <p:cTn id="52" dur="600"/>
                                        <p:tgtEl>
                                          <p:spTgt spid="43"/>
                                        </p:tgtEl>
                                      </p:cBhvr>
                                    </p:animEffect>
                                  </p:childTnLst>
                                </p:cTn>
                              </p:par>
                            </p:childTnLst>
                          </p:cTn>
                        </p:par>
                      </p:childTnLst>
                    </p:cTn>
                  </p:par>
                  <p:par>
                    <p:cTn id="95" fill="hold">
                      <p:stCondLst>
                        <p:cond delay="indefinite"/>
                      </p:stCondLst>
                      <p:childTnLst>
                        <p:par>
                          <p:cTn id="96" fill="hold">
                            <p:stCondLst>
                              <p:cond delay="0"/>
                            </p:stCondLst>
                            <p:childTnLst>
                              <p:par>
                                <p:cTn id="55" presetID="1" presetClass="exit" presetSubtype="0" fill="hold" grpId="1" nodeType="clickEffect">
                                  <p:stCondLst>
                                    <p:cond delay="0"/>
                                  </p:stCondLst>
                                  <p:childTnLst>
                                    <p:set>
                                      <p:cBhvr>
                                        <p:cTn id="56" dur="1" fill="hold">
                                          <p:stCondLst>
                                            <p:cond delay="0"/>
                                          </p:stCondLst>
                                        </p:cTn>
                                        <p:tgtEl>
                                          <p:spTgt spid="30"/>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31"/>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32"/>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33"/>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34"/>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35"/>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0"/>
                                          </p:stCondLst>
                                        </p:cTn>
                                        <p:tgtEl>
                                          <p:spTgt spid="36"/>
                                        </p:tgtEl>
                                        <p:attrNameLst>
                                          <p:attrName>style.visibility</p:attrName>
                                        </p:attrNameLst>
                                      </p:cBhvr>
                                      <p:to>
                                        <p:strVal val="hidden"/>
                                      </p:to>
                                    </p:set>
                                  </p:childTnLst>
                                </p:cTn>
                              </p:par>
                              <p:par>
                                <p:cTn id="76" presetID="1" presetClass="exit" presetSubtype="0" fill="hold" grpId="1" nodeType="withEffect">
                                  <p:stCondLst>
                                    <p:cond delay="0"/>
                                  </p:stCondLst>
                                  <p:childTnLst>
                                    <p:set>
                                      <p:cBhvr>
                                        <p:cTn id="77" dur="1" fill="hold">
                                          <p:stCondLst>
                                            <p:cond delay="0"/>
                                          </p:stCondLst>
                                        </p:cTn>
                                        <p:tgtEl>
                                          <p:spTgt spid="37"/>
                                        </p:tgtEl>
                                        <p:attrNameLst>
                                          <p:attrName>style.visibility</p:attrName>
                                        </p:attrNameLst>
                                      </p:cBhvr>
                                      <p:to>
                                        <p:strVal val="hidden"/>
                                      </p:to>
                                    </p:set>
                                  </p:childTnLst>
                                </p:cTn>
                              </p:par>
                              <p:par>
                                <p:cTn id="79" presetID="1" presetClass="exit" presetSubtype="0" fill="hold" grpId="1" nodeType="withEffect">
                                  <p:stCondLst>
                                    <p:cond delay="0"/>
                                  </p:stCondLst>
                                  <p:childTnLst>
                                    <p:set>
                                      <p:cBhvr>
                                        <p:cTn id="80" dur="1" fill="hold">
                                          <p:stCondLst>
                                            <p:cond delay="0"/>
                                          </p:stCondLst>
                                        </p:cTn>
                                        <p:tgtEl>
                                          <p:spTgt spid="38"/>
                                        </p:tgtEl>
                                        <p:attrNameLst>
                                          <p:attrName>style.visibility</p:attrName>
                                        </p:attrNameLst>
                                      </p:cBhvr>
                                      <p:to>
                                        <p:strVal val="hidden"/>
                                      </p:to>
                                    </p:set>
                                  </p:childTnLst>
                                </p:cTn>
                              </p:par>
                              <p:par>
                                <p:cTn id="82" presetID="1" presetClass="exit" presetSubtype="0" fill="hold" grpId="1" nodeType="withEffect">
                                  <p:stCondLst>
                                    <p:cond delay="0"/>
                                  </p:stCondLst>
                                  <p:childTnLst>
                                    <p:set>
                                      <p:cBhvr>
                                        <p:cTn id="83" dur="1" fill="hold">
                                          <p:stCondLst>
                                            <p:cond delay="0"/>
                                          </p:stCondLst>
                                        </p:cTn>
                                        <p:tgtEl>
                                          <p:spTgt spid="39"/>
                                        </p:tgtEl>
                                        <p:attrNameLst>
                                          <p:attrName>style.visibility</p:attrName>
                                        </p:attrNameLst>
                                      </p:cBhvr>
                                      <p:to>
                                        <p:strVal val="hidden"/>
                                      </p:to>
                                    </p:set>
                                  </p:childTnLst>
                                </p:cTn>
                              </p:par>
                              <p:par>
                                <p:cTn id="85" presetID="1" presetClass="exit" presetSubtype="0" fill="hold" grpId="1" nodeType="withEffect">
                                  <p:stCondLst>
                                    <p:cond delay="0"/>
                                  </p:stCondLst>
                                  <p:childTnLst>
                                    <p:set>
                                      <p:cBhvr>
                                        <p:cTn id="86" dur="1" fill="hold">
                                          <p:stCondLst>
                                            <p:cond delay="0"/>
                                          </p:stCondLst>
                                        </p:cTn>
                                        <p:tgtEl>
                                          <p:spTgt spid="40"/>
                                        </p:tgtEl>
                                        <p:attrNameLst>
                                          <p:attrName>style.visibility</p:attrName>
                                        </p:attrNameLst>
                                      </p:cBhvr>
                                      <p:to>
                                        <p:strVal val="hidden"/>
                                      </p:to>
                                    </p:set>
                                  </p:childTnLst>
                                </p:cTn>
                              </p:par>
                              <p:par>
                                <p:cTn id="88" presetID="1" presetClass="exit" presetSubtype="0" fill="hold" grpId="1" nodeType="withEffect">
                                  <p:stCondLst>
                                    <p:cond delay="0"/>
                                  </p:stCondLst>
                                  <p:childTnLst>
                                    <p:set>
                                      <p:cBhvr>
                                        <p:cTn id="89" dur="1" fill="hold">
                                          <p:stCondLst>
                                            <p:cond delay="0"/>
                                          </p:stCondLst>
                                        </p:cTn>
                                        <p:tgtEl>
                                          <p:spTgt spid="41"/>
                                        </p:tgtEl>
                                        <p:attrNameLst>
                                          <p:attrName>style.visibility</p:attrName>
                                        </p:attrNameLst>
                                      </p:cBhvr>
                                      <p:to>
                                        <p:strVal val="hidden"/>
                                      </p:to>
                                    </p:set>
                                  </p:childTnLst>
                                </p:cTn>
                              </p:par>
                              <p:par>
                                <p:cTn id="91" presetID="1" presetClass="exit" presetSubtype="0" fill="hold" grpId="1" nodeType="withEffect">
                                  <p:stCondLst>
                                    <p:cond delay="0"/>
                                  </p:stCondLst>
                                  <p:childTnLst>
                                    <p:set>
                                      <p:cBhvr>
                                        <p:cTn id="92" dur="1" fill="hold">
                                          <p:stCondLst>
                                            <p:cond delay="0"/>
                                          </p:stCondLst>
                                        </p:cTn>
                                        <p:tgtEl>
                                          <p:spTgt spid="42"/>
                                        </p:tgtEl>
                                        <p:attrNameLst>
                                          <p:attrName>style.visibility</p:attrName>
                                        </p:attrNameLst>
                                      </p:cBhvr>
                                      <p:to>
                                        <p:strVal val="hidden"/>
                                      </p:to>
                                    </p:set>
                                  </p:childTnLst>
                                </p:cTn>
                              </p:par>
                              <p:par>
                                <p:cTn id="94" presetID="1" presetClass="exit" presetSubtype="0" fill="hold" grpId="1" nodeType="withEffect">
                                  <p:stCondLst>
                                    <p:cond delay="0"/>
                                  </p:stCondLst>
                                  <p:childTnLst>
                                    <p:set>
                                      <p:cBhvr>
                                        <p:cTn id="95" dur="1" fill="hold">
                                          <p:stCondLst>
                                            <p:cond delay="0"/>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4" grpId="0" animBg="1"/>
      <p:bldP spid="35" grpId="0" animBg="1"/>
      <p:bldP spid="37" grpId="0" animBg="1"/>
      <p:bldP spid="38" grpId="0" animBg="1"/>
      <p:bldP spid="40" grpId="0" animBg="1"/>
      <p:bldP spid="41" grpId="0" animBg="1"/>
      <p:bldP spid="43" grpId="0" animBg="1"/>
      <p:bldP spid="30" grpId="1" animBg="1"/>
      <p:bldP spid="31" grpId="1" animBg="1"/>
      <p:bldP spid="32" grpId="1" animBg="1"/>
      <p:bldP spid="34" grpId="1" animBg="1"/>
      <p:bldP spid="35" grpId="1" animBg="1"/>
      <p:bldP spid="37" grpId="1" animBg="1"/>
      <p:bldP spid="38" grpId="1" animBg="1"/>
      <p:bldP spid="40" grpId="1" animBg="1"/>
      <p:bldP spid="41" grpId="1" animBg="1"/>
      <p:bldP spid="43" grpId="1"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Now Jul 27, 10 AM. The customer moves tomorrow's 2 PM cleaning to Jul 29, 9 AM. Fee valid?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Only the new slot counts, and it's 47 hours away.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Their CP cancelled last minute, so they rebooked for tomorrow and were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full fee + 15% processing to the original payment method. Macro: Priority Fee Refunded.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picked a short-notice slot themselves and is upset. What can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fee stands. Courtesy credits up to 100% of the fee, as goodwill.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Can you refund and credit the same Priority Fee?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paths are mutually exclusive unless a supervisor approves an exception.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Was the Priority Fee 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or ours? Check the account history.</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credits up to 100%. Ours: refund fee + 15%.</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Premium Upsell</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An optional $20 upgrade the customer chooses at booking.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Premium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reasons to refund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failed charge keeps retrying</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Premium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Chosen by the customer. Not triggered by timing.</a:t>
            </a:r>
            <a:endParaRPr lang="en-US" sz="1200" dirty="0"/>
          </a:p>
        </p:txBody>
      </p:sp>
      <p:sp>
        <p:nvSpPr>
          <p:cNvPr id="6" name="Shape 3"/>
          <p:cNvSpPr/>
          <p:nvPr/>
        </p:nvSpPr>
        <p:spPr>
          <a:xfrm>
            <a:off x="411480" y="1325880"/>
            <a:ext cx="2286000" cy="1920240"/>
          </a:xfrm>
          <a:prstGeom prst="roundRect">
            <a:avLst>
              <a:gd name="adj" fmla="val 3810"/>
            </a:avLst>
          </a:prstGeom>
          <a:solidFill>
            <a:srgbClr val="FFFFFF"/>
          </a:solidFill>
          <a:ln w="9525">
            <a:solidFill>
              <a:srgbClr val="DCE1E7"/>
            </a:solidFill>
            <a:prstDash val="solid"/>
          </a:ln>
        </p:spPr>
      </p:sp>
      <p:sp>
        <p:nvSpPr>
          <p:cNvPr id="7" name="Text 4"/>
          <p:cNvSpPr txBox="1"/>
          <p:nvPr/>
        </p:nvSpPr>
        <p:spPr>
          <a:xfrm>
            <a:off x="411480" y="1490472"/>
            <a:ext cx="228600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8" name="Text 5"/>
          <p:cNvSpPr txBox="1"/>
          <p:nvPr/>
        </p:nvSpPr>
        <p:spPr>
          <a:xfrm>
            <a:off x="594360" y="2148840"/>
            <a:ext cx="1920240" cy="10058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plus applicable taxes, per job</a:t>
            </a:r>
            <a:endParaRPr lang="en-US" sz="1000" dirty="0"/>
          </a:p>
        </p:txBody>
      </p:sp>
      <p:sp>
        <p:nvSpPr>
          <p:cNvPr id="9" name="Shape 6"/>
          <p:cNvSpPr/>
          <p:nvPr/>
        </p:nvSpPr>
        <p:spPr>
          <a:xfrm>
            <a:off x="2834640" y="1325880"/>
            <a:ext cx="2880360" cy="1920240"/>
          </a:xfrm>
          <a:prstGeom prst="roundRect">
            <a:avLst>
              <a:gd name="adj" fmla="val 3810"/>
            </a:avLst>
          </a:prstGeom>
          <a:solidFill>
            <a:srgbClr val="FFFFFF"/>
          </a:solidFill>
          <a:ln w="9525">
            <a:solidFill>
              <a:srgbClr val="DCE1E7"/>
            </a:solidFill>
            <a:prstDash val="solid"/>
          </a:ln>
        </p:spPr>
      </p:sp>
      <p:sp>
        <p:nvSpPr>
          <p:cNvPr id="10" name="Shape 7"/>
          <p:cNvSpPr/>
          <p:nvPr/>
        </p:nvSpPr>
        <p:spPr>
          <a:xfrm>
            <a:off x="3017520" y="1508760"/>
            <a:ext cx="384048" cy="384048"/>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3109692" y="1600932"/>
            <a:ext cx="199705" cy="199705"/>
          </a:xfrm>
          <a:prstGeom prst="rect">
            <a:avLst/>
          </a:prstGeom>
        </p:spPr>
      </p:pic>
      <p:sp>
        <p:nvSpPr>
          <p:cNvPr id="12" name="Text 8"/>
          <p:cNvSpPr txBox="1"/>
          <p:nvPr/>
        </p:nvSpPr>
        <p:spPr>
          <a:xfrm>
            <a:off x="352044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Premium Fee</a:t>
            </a:r>
            <a:endParaRPr lang="en-US" sz="1300" dirty="0"/>
          </a:p>
        </p:txBody>
      </p:sp>
      <p:sp>
        <p:nvSpPr>
          <p:cNvPr id="13" name="Text 9"/>
          <p:cNvSpPr txBox="1"/>
          <p:nvPr/>
        </p:nvSpPr>
        <p:spPr>
          <a:xfrm>
            <a:off x="301752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Optional: the customer picks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Chosen at booking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 service tier</a:t>
            </a:r>
            <a:endParaRPr lang="en-US" sz="1000" dirty="0"/>
          </a:p>
        </p:txBody>
      </p:sp>
      <p:sp>
        <p:nvSpPr>
          <p:cNvPr id="14" name="Shape 10"/>
          <p:cNvSpPr/>
          <p:nvPr/>
        </p:nvSpPr>
        <p:spPr>
          <a:xfrm>
            <a:off x="5852160" y="1325880"/>
            <a:ext cx="2880360" cy="1920240"/>
          </a:xfrm>
          <a:prstGeom prst="roundRect">
            <a:avLst>
              <a:gd name="adj" fmla="val 3810"/>
            </a:avLst>
          </a:prstGeom>
          <a:solidFill>
            <a:srgbClr val="FFFFFF"/>
          </a:solidFill>
          <a:ln w="9525">
            <a:solidFill>
              <a:srgbClr val="DCE1E7"/>
            </a:solidFill>
            <a:prstDash val="solid"/>
          </a:ln>
        </p:spPr>
      </p:sp>
      <p:sp>
        <p:nvSpPr>
          <p:cNvPr id="15" name="Shape 11"/>
          <p:cNvSpPr/>
          <p:nvPr/>
        </p:nvSpPr>
        <p:spPr>
          <a:xfrm>
            <a:off x="6035040" y="1508760"/>
            <a:ext cx="384048" cy="384048"/>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6127212" y="1600932"/>
            <a:ext cx="199705" cy="199705"/>
          </a:xfrm>
          <a:prstGeom prst="rect">
            <a:avLst/>
          </a:prstGeom>
        </p:spPr>
      </p:pic>
      <p:sp>
        <p:nvSpPr>
          <p:cNvPr id="17" name="Text 12"/>
          <p:cNvSpPr txBox="1"/>
          <p:nvPr/>
        </p:nvSpPr>
        <p:spPr>
          <a:xfrm>
            <a:off x="653796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the Priority Fee</a:t>
            </a:r>
            <a:endParaRPr lang="en-US" sz="1300" dirty="0"/>
          </a:p>
        </p:txBody>
      </p:sp>
      <p:sp>
        <p:nvSpPr>
          <p:cNvPr id="18" name="Text 13"/>
          <p:cNvSpPr txBox="1"/>
          <p:nvPr/>
        </p:nvSpPr>
        <p:spPr>
          <a:xfrm>
            <a:off x="603504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Automatic, not chosen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Triggered by booking or rescheduling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Inside the 48-hour window</a:t>
            </a:r>
            <a:endParaRPr lang="en-US" sz="1000" dirty="0"/>
          </a:p>
        </p:txBody>
      </p:sp>
      <p:sp>
        <p:nvSpPr>
          <p:cNvPr id="19" name="Shape 14"/>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0" name="Image 2" descr="preencoded.png">    </p:cNvPr>
          <p:cNvPicPr>
            <a:picLocks noChangeAspect="1"/>
          </p:cNvPicPr>
          <p:nvPr/>
        </p:nvPicPr>
        <p:blipFill>
          <a:blip r:embed="rId3"/>
          <a:stretch>
            <a:fillRect/>
          </a:stretch>
        </p:blipFill>
        <p:spPr>
          <a:xfrm>
            <a:off x="566928" y="3584448"/>
            <a:ext cx="164592" cy="164592"/>
          </a:xfrm>
          <a:prstGeom prst="rect">
            <a:avLst/>
          </a:prstGeom>
        </p:spPr>
      </p:pic>
      <p:sp>
        <p:nvSpPr>
          <p:cNvPr id="21" name="Text 15"/>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find it:  </a:t>
            </a:r>
            <a:pPr indent="0" marL="0">
              <a:buNone/>
            </a:pPr>
            <a:r>
              <a:rPr lang="en-US" sz="10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reasons to refund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one needs to apply.</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asks</a:t>
            </a:r>
            <a:endParaRPr lang="en-US" sz="1200" dirty="0"/>
          </a:p>
        </p:txBody>
      </p:sp>
      <p:sp>
        <p:nvSpPr>
          <p:cNvPr id="10" name="Text 6"/>
          <p:cNvSpPr txBox="1"/>
          <p:nvPr/>
        </p:nvSpPr>
        <p:spPr>
          <a:xfrm>
            <a:off x="5760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request a refund of the Premium Fee.</a:t>
            </a:r>
            <a:endParaRPr lang="en-US" sz="95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Confirmed service issue</a:t>
            </a:r>
            <a:endParaRPr lang="en-US" sz="1200" dirty="0"/>
          </a:p>
        </p:txBody>
      </p:sp>
      <p:sp>
        <p:nvSpPr>
          <p:cNvPr id="15" name="Text 10"/>
          <p:cNvSpPr txBox="1"/>
          <p:nvPr/>
        </p:nvSpPr>
        <p:spPr>
          <a:xfrm>
            <a:off x="48051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E.g. Poor Cleaning Quality. Refund it even if they never mention Premium.</a:t>
            </a:r>
            <a:endParaRPr lang="en-US" sz="950" dirty="0"/>
          </a:p>
        </p:txBody>
      </p:sp>
      <p:sp>
        <p:nvSpPr>
          <p:cNvPr id="16" name="Text 11"/>
          <p:cNvSpPr/>
          <p:nvPr/>
        </p:nvSpPr>
        <p:spPr>
          <a:xfrm>
            <a:off x="7223760" y="1463040"/>
            <a:ext cx="1325880" cy="274320"/>
          </a:xfrm>
          <a:prstGeom prst="roundRect">
            <a:avLst>
              <a:gd name="adj" fmla="val 20000"/>
            </a:avLst>
          </a:prstGeom>
          <a:solidFill>
            <a:srgbClr val="FFF3D6"/>
          </a:solidFill>
          <a:ln w="9525">
            <a:solidFill>
              <a:srgbClr val="9A6410"/>
            </a:solidFill>
          </a:ln>
        </p:spPr>
        <p:txBody>
          <a:bodyPr wrap="square" lIns="0" tIns="0" rIns="0" bIns="0" rtlCol="0" anchor="ctr"/>
          <a:lstStyle/>
          <a:p>
            <a:pPr algn="ctr" indent="0" marL="0">
              <a:buNone/>
            </a:pPr>
            <a:r>
              <a:rPr lang="en-US" sz="850" b="1" dirty="0">
                <a:solidFill>
                  <a:srgbClr val="9A6410"/>
                </a:solidFill>
                <a:latin typeface="SF Pro Text" pitchFamily="34" charset="0"/>
                <a:ea typeface="SF Pro Text" pitchFamily="34" charset="-122"/>
                <a:cs typeface="SF Pro Text" pitchFamily="34" charset="-120"/>
              </a:rPr>
              <a:t>Most often missed</a:t>
            </a:r>
            <a:endParaRPr lang="en-US" sz="850" dirty="0"/>
          </a:p>
        </p:txBody>
      </p:sp>
      <p:sp>
        <p:nvSpPr>
          <p:cNvPr id="17"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8" name="Image 2" descr="preencoded.png">    </p:cNvPr>
          <p:cNvPicPr>
            <a:picLocks noChangeAspect="1"/>
          </p:cNvPicPr>
          <p:nvPr/>
        </p:nvPicPr>
        <p:blipFill>
          <a:blip r:embed="rId3"/>
          <a:stretch>
            <a:fillRect/>
          </a:stretch>
        </p:blipFill>
        <p:spPr>
          <a:xfrm>
            <a:off x="566928" y="3310128"/>
            <a:ext cx="164592" cy="164592"/>
          </a:xfrm>
          <a:prstGeom prst="rect">
            <a:avLst/>
          </a:prstGeom>
        </p:spPr>
      </p:pic>
      <p:sp>
        <p:nvSpPr>
          <p:cNvPr id="19"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Confirmed service issue?  </a:t>
            </a:r>
            <a:pPr indent="0" marL="0">
              <a:buNone/>
            </a:pPr>
            <a:r>
              <a:rPr lang="en-US" sz="1000" dirty="0">
                <a:solidFill>
                  <a:srgbClr val="1D1D1F"/>
                </a:solidFill>
                <a:latin typeface="SF Pro Text" pitchFamily="34" charset="0"/>
                <a:ea typeface="SF Pro Text" pitchFamily="34" charset="-122"/>
                <a:cs typeface="SF Pro Text" pitchFamily="34" charset="-120"/>
              </a:rPr>
              <a:t>always check for a Premium Fee, and refund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 failed charge keeps retrying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opposite of a failed LMC. A failed Premium Fee is not resolved.</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828800"/>
                <a:gridCol w="3474720"/>
                <a:gridCol w="301752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Failed charge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the system does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you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LMC</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Tries a couple of times, then stops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Let it go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Premium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Keeps retrying until it succeeds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 it will still land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11480" y="2606040"/>
            <a:ext cx="7315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DOESN'T WANT PREMIUM, AND THE CHARGE ALREADY FAILED</a:t>
            </a:r>
            <a:endParaRPr lang="en-US" sz="800" dirty="0"/>
          </a:p>
        </p:txBody>
      </p:sp>
      <p:sp>
        <p:nvSpPr>
          <p:cNvPr id="8" name="Shape 4"/>
          <p:cNvSpPr/>
          <p:nvPr/>
        </p:nvSpPr>
        <p:spPr>
          <a:xfrm>
            <a:off x="411480" y="2852928"/>
            <a:ext cx="1965960" cy="566928"/>
          </a:xfrm>
          <a:prstGeom prst="roundRect">
            <a:avLst>
              <a:gd name="adj" fmla="val 12903"/>
            </a:avLst>
          </a:prstGeom>
          <a:solidFill>
            <a:srgbClr val="0B7A6F"/>
          </a:solidFill>
          <a:ln w="12700">
            <a:solidFill>
              <a:srgbClr val="0B7A6F"/>
            </a:solidFill>
            <a:prstDash val="solid"/>
          </a:ln>
        </p:spPr>
      </p:sp>
      <p:sp>
        <p:nvSpPr>
          <p:cNvPr id="9" name="Text 5"/>
          <p:cNvSpPr txBox="1"/>
          <p:nvPr/>
        </p:nvSpPr>
        <p:spPr>
          <a:xfrm>
            <a:off x="411480"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Switch the experience to Standard</a:t>
            </a:r>
            <a:endParaRPr lang="en-US" sz="1000" dirty="0"/>
          </a:p>
        </p:txBody>
      </p:sp>
      <p:sp>
        <p:nvSpPr>
          <p:cNvPr id="10" name="Shape 6"/>
          <p:cNvSpPr/>
          <p:nvPr/>
        </p:nvSpPr>
        <p:spPr>
          <a:xfrm>
            <a:off x="2377440" y="3136392"/>
            <a:ext cx="155448" cy="0"/>
          </a:xfrm>
          <a:prstGeom prst="line">
            <a:avLst/>
          </a:prstGeom>
          <a:noFill/>
          <a:ln w="12700">
            <a:solidFill>
              <a:srgbClr val="6E6E73"/>
            </a:solidFill>
            <a:prstDash val="solid"/>
            <a:tailEnd type="triangle"/>
          </a:ln>
        </p:spPr>
      </p:sp>
      <p:sp>
        <p:nvSpPr>
          <p:cNvPr id="11" name="Shape 7"/>
          <p:cNvSpPr/>
          <p:nvPr/>
        </p:nvSpPr>
        <p:spPr>
          <a:xfrm>
            <a:off x="2532888" y="2852928"/>
            <a:ext cx="1965960" cy="566928"/>
          </a:xfrm>
          <a:prstGeom prst="roundRect">
            <a:avLst>
              <a:gd name="adj" fmla="val 12903"/>
            </a:avLst>
          </a:prstGeom>
          <a:solidFill>
            <a:srgbClr val="0B7A6F"/>
          </a:solidFill>
          <a:ln w="12700">
            <a:solidFill>
              <a:srgbClr val="0B7A6F"/>
            </a:solidFill>
            <a:prstDash val="solid"/>
          </a:ln>
        </p:spPr>
      </p:sp>
      <p:sp>
        <p:nvSpPr>
          <p:cNvPr id="12" name="Text 8"/>
          <p:cNvSpPr txBox="1"/>
          <p:nvPr/>
        </p:nvSpPr>
        <p:spPr>
          <a:xfrm>
            <a:off x="2532888"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Credit equal to the Premium Fee</a:t>
            </a:r>
            <a:endParaRPr lang="en-US" sz="1000" dirty="0"/>
          </a:p>
        </p:txBody>
      </p:sp>
      <p:sp>
        <p:nvSpPr>
          <p:cNvPr id="13" name="Shape 9"/>
          <p:cNvSpPr/>
          <p:nvPr/>
        </p:nvSpPr>
        <p:spPr>
          <a:xfrm>
            <a:off x="4498848" y="3136392"/>
            <a:ext cx="155448" cy="0"/>
          </a:xfrm>
          <a:prstGeom prst="line">
            <a:avLst/>
          </a:prstGeom>
          <a:noFill/>
          <a:ln w="12700">
            <a:solidFill>
              <a:srgbClr val="6E6E73"/>
            </a:solidFill>
            <a:prstDash val="solid"/>
            <a:tailEnd type="triangle"/>
          </a:ln>
        </p:spPr>
      </p:sp>
      <p:sp>
        <p:nvSpPr>
          <p:cNvPr id="14" name="Shape 10"/>
          <p:cNvSpPr/>
          <p:nvPr/>
        </p:nvSpPr>
        <p:spPr>
          <a:xfrm>
            <a:off x="4654296" y="2852928"/>
            <a:ext cx="1965960" cy="566928"/>
          </a:xfrm>
          <a:prstGeom prst="roundRect">
            <a:avLst>
              <a:gd name="adj" fmla="val 12903"/>
            </a:avLst>
          </a:prstGeom>
          <a:solidFill>
            <a:srgbClr val="FFFFFF"/>
          </a:solidFill>
          <a:ln w="12700">
            <a:solidFill>
              <a:srgbClr val="DCE1E7"/>
            </a:solidFill>
            <a:prstDash val="solid"/>
          </a:ln>
        </p:spPr>
      </p:sp>
      <p:sp>
        <p:nvSpPr>
          <p:cNvPr id="15" name="Text 11"/>
          <p:cNvSpPr txBox="1"/>
          <p:nvPr/>
        </p:nvSpPr>
        <p:spPr>
          <a:xfrm>
            <a:off x="4654296"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The retry lands, offset by the credit</a:t>
            </a:r>
            <a:endParaRPr lang="en-US" sz="1000" dirty="0"/>
          </a:p>
        </p:txBody>
      </p:sp>
      <p:sp>
        <p:nvSpPr>
          <p:cNvPr id="16" name="Shape 12"/>
          <p:cNvSpPr/>
          <p:nvPr/>
        </p:nvSpPr>
        <p:spPr>
          <a:xfrm>
            <a:off x="6620256" y="3136392"/>
            <a:ext cx="155448" cy="0"/>
          </a:xfrm>
          <a:prstGeom prst="line">
            <a:avLst/>
          </a:prstGeom>
          <a:noFill/>
          <a:ln w="12700">
            <a:solidFill>
              <a:srgbClr val="6E6E73"/>
            </a:solidFill>
            <a:prstDash val="solid"/>
            <a:tailEnd type="triangle"/>
          </a:ln>
        </p:spPr>
      </p:sp>
      <p:sp>
        <p:nvSpPr>
          <p:cNvPr id="17" name="Shape 13"/>
          <p:cNvSpPr/>
          <p:nvPr/>
        </p:nvSpPr>
        <p:spPr>
          <a:xfrm>
            <a:off x="6775704" y="2852928"/>
            <a:ext cx="1965960" cy="566928"/>
          </a:xfrm>
          <a:prstGeom prst="roundRect">
            <a:avLst>
              <a:gd name="adj" fmla="val 12903"/>
            </a:avLst>
          </a:prstGeom>
          <a:solidFill>
            <a:srgbClr val="FFFFFF"/>
          </a:solidFill>
          <a:ln w="12700">
            <a:solidFill>
              <a:srgbClr val="DCE1E7"/>
            </a:solidFill>
            <a:prstDash val="solid"/>
          </a:ln>
        </p:spPr>
      </p:sp>
      <p:sp>
        <p:nvSpPr>
          <p:cNvPr id="18" name="Text 14"/>
          <p:cNvSpPr txBox="1"/>
          <p:nvPr/>
        </p:nvSpPr>
        <p:spPr>
          <a:xfrm>
            <a:off x="6775704"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both to the customer</a:t>
            </a:r>
            <a:endParaRPr lang="en-US" sz="1000" dirty="0"/>
          </a:p>
        </p:txBody>
      </p:sp>
      <p:sp>
        <p:nvSpPr>
          <p:cNvPr id="19" name="Shape 1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0" name="Image 0" descr="preencoded.png">    </p:cNvPr>
          <p:cNvPicPr>
            <a:picLocks noChangeAspect="1"/>
          </p:cNvPicPr>
          <p:nvPr/>
        </p:nvPicPr>
        <p:blipFill>
          <a:blip r:embed="rId1"/>
          <a:stretch>
            <a:fillRect/>
          </a:stretch>
        </p:blipFill>
        <p:spPr>
          <a:xfrm>
            <a:off x="566928" y="3767328"/>
            <a:ext cx="164592" cy="164592"/>
          </a:xfrm>
          <a:prstGeom prst="rect">
            <a:avLst/>
          </a:prstGeom>
        </p:spPr>
      </p:pic>
      <p:sp>
        <p:nvSpPr>
          <p:cNvPr id="21" name="Text 1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Looks resolved?  </a:t>
            </a:r>
            <a:pPr indent="0" marL="0">
              <a:buNone/>
            </a:pPr>
            <a:r>
              <a:rPr lang="en-US" sz="1000" dirty="0">
                <a:solidFill>
                  <a:srgbClr val="1D1D1F"/>
                </a:solidFill>
                <a:latin typeface="SF Pro Text" pitchFamily="34" charset="0"/>
                <a:ea typeface="SF Pro Text" pitchFamily="34" charset="-122"/>
                <a:cs typeface="SF Pro Text" pitchFamily="34" charset="-120"/>
              </a:rPr>
              <a:t>check how the fee behaves on retry before deciding nothing is owed.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reports Poor Cleaning Quality and never mentions Premium. Premium was charged. Refund it?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A confirmed service issue is enough on its own.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How much is the Premium Fee, and who chooses it?</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$20 plus applicable taxes. The customer chooses it at booking.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Premium charge failed and the customer doesn't want it. Leave it, like a failed LMC?</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 keeps retrying. Switch to Standard, credit the fee amount, explain both.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Where do you find the Premium charge?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Should the Premium Fee be refunded?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Did they ask, or is there a confirmed service issue?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it. Failed charge? Standard + equal credit.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Processing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standard part of every cleaning. The question is why the customer is contesting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5% or 15%</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Expectation gap vs our failure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Goodwill, refund or ETF waiver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If they don't want future fees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Processing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Standard pricing, not a penalty. Don't debate whether it applies.</a:t>
            </a:r>
            <a:endParaRPr lang="en-US" sz="1200" dirty="0"/>
          </a:p>
        </p:txBody>
      </p:sp>
      <p:sp>
        <p:nvSpPr>
          <p:cNvPr id="6" name="Shape 3"/>
          <p:cNvSpPr/>
          <p:nvPr/>
        </p:nvSpPr>
        <p:spPr>
          <a:xfrm>
            <a:off x="411480" y="1325880"/>
            <a:ext cx="4091940" cy="1325880"/>
          </a:xfrm>
          <a:prstGeom prst="roundRect">
            <a:avLst>
              <a:gd name="adj" fmla="val 5517"/>
            </a:avLst>
          </a:prstGeom>
          <a:solidFill>
            <a:srgbClr val="FFFFFF"/>
          </a:solidFill>
          <a:ln w="9525">
            <a:solidFill>
              <a:srgbClr val="DCE1E7"/>
            </a:solidFill>
            <a:prstDash val="solid"/>
          </a:ln>
        </p:spPr>
      </p:sp>
      <p:sp>
        <p:nvSpPr>
          <p:cNvPr id="7" name="Text 4"/>
          <p:cNvSpPr txBox="1"/>
          <p:nvPr/>
        </p:nvSpPr>
        <p:spPr>
          <a:xfrm>
            <a:off x="4114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a:t>
            </a:r>
            <a:endParaRPr lang="en-US" sz="3000" dirty="0"/>
          </a:p>
        </p:txBody>
      </p:sp>
      <p:sp>
        <p:nvSpPr>
          <p:cNvPr id="8" name="Text 5"/>
          <p:cNvSpPr txBox="1"/>
          <p:nvPr/>
        </p:nvSpPr>
        <p:spPr>
          <a:xfrm>
            <a:off x="5943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Non-ForeverClean and deactivated ForeverClean customers</a:t>
            </a:r>
            <a:endParaRPr lang="en-US" sz="1000" dirty="0"/>
          </a:p>
        </p:txBody>
      </p:sp>
      <p:sp>
        <p:nvSpPr>
          <p:cNvPr id="9" name="Shape 6"/>
          <p:cNvSpPr/>
          <p:nvPr/>
        </p:nvSpPr>
        <p:spPr>
          <a:xfrm>
            <a:off x="4640580" y="1325880"/>
            <a:ext cx="4091940" cy="1325880"/>
          </a:xfrm>
          <a:prstGeom prst="roundRect">
            <a:avLst>
              <a:gd name="adj" fmla="val 5517"/>
            </a:avLst>
          </a:prstGeom>
          <a:solidFill>
            <a:srgbClr val="FFFFFF"/>
          </a:solidFill>
          <a:ln w="9525">
            <a:solidFill>
              <a:srgbClr val="DCE1E7"/>
            </a:solidFill>
            <a:prstDash val="solid"/>
          </a:ln>
        </p:spPr>
      </p:sp>
      <p:sp>
        <p:nvSpPr>
          <p:cNvPr id="10" name="Text 7"/>
          <p:cNvSpPr txBox="1"/>
          <p:nvPr/>
        </p:nvSpPr>
        <p:spPr>
          <a:xfrm>
            <a:off x="46405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15%</a:t>
            </a:r>
            <a:endParaRPr lang="en-US" sz="3000" dirty="0"/>
          </a:p>
        </p:txBody>
      </p:sp>
      <p:sp>
        <p:nvSpPr>
          <p:cNvPr id="11" name="Text 8"/>
          <p:cNvSpPr txBox="1"/>
          <p:nvPr/>
        </p:nvSpPr>
        <p:spPr>
          <a:xfrm>
            <a:off x="48234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Active ForeverClean customers</a:t>
            </a:r>
            <a:endParaRPr lang="en-US" sz="1000" dirty="0"/>
          </a:p>
        </p:txBody>
      </p:sp>
      <p:sp>
        <p:nvSpPr>
          <p:cNvPr id="12" name="Shape 9"/>
          <p:cNvSpPr/>
          <p:nvPr/>
        </p:nvSpPr>
        <p:spPr>
          <a:xfrm>
            <a:off x="411480" y="288036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2990088"/>
            <a:ext cx="164592" cy="164592"/>
          </a:xfrm>
          <a:prstGeom prst="rect">
            <a:avLst/>
          </a:prstGeom>
        </p:spPr>
      </p:pic>
      <p:sp>
        <p:nvSpPr>
          <p:cNvPr id="14" name="Text 10"/>
          <p:cNvSpPr txBox="1"/>
          <p:nvPr/>
        </p:nvSpPr>
        <p:spPr>
          <a:xfrm>
            <a:off x="822960" y="2980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Usually contested because of  </a:t>
            </a:r>
            <a:pPr indent="0" marL="0">
              <a:buNone/>
            </a:pPr>
            <a:r>
              <a:rPr lang="en-US" sz="1000" dirty="0">
                <a:solidFill>
                  <a:srgbClr val="1D1D1F"/>
                </a:solidFill>
                <a:latin typeface="SF Pro Text" pitchFamily="34" charset="0"/>
                <a:ea typeface="SF Pro Text" pitchFamily="34" charset="-122"/>
                <a:cs typeface="SF Pro Text" pitchFamily="34" charset="-120"/>
              </a:rPr>
              <a:t>an expectation gap, not a billing error. Find out why they're contesting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are they contesting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fee can be legitimate. So can the frustration.</a:t>
            </a:r>
            <a:endParaRPr lang="en-US" sz="1200" dirty="0"/>
          </a:p>
        </p:txBody>
      </p:sp>
      <p:sp>
        <p:nvSpPr>
          <p:cNvPr id="6" name="Shape 3"/>
          <p:cNvSpPr/>
          <p:nvPr/>
        </p:nvSpPr>
        <p:spPr>
          <a:xfrm>
            <a:off x="411480" y="1325880"/>
            <a:ext cx="40919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set expectations properly</a:t>
            </a:r>
            <a:endParaRPr lang="en-US" sz="1300" dirty="0"/>
          </a:p>
        </p:txBody>
      </p:sp>
      <p:sp>
        <p:nvSpPr>
          <p:cNvPr id="10" name="Text 6"/>
          <p:cNvSpPr txBox="1"/>
          <p:nvPr/>
        </p:nvSpPr>
        <p:spPr>
          <a:xfrm>
            <a:off x="5943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Overlooked the fee at signup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Forgot the pricing details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Assumed the hourly rate included all fees</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An expectation gap</a:t>
            </a:r>
            <a:endParaRPr lang="en-US" sz="1000" dirty="0"/>
          </a:p>
        </p:txBody>
      </p:sp>
      <p:sp>
        <p:nvSpPr>
          <p:cNvPr id="11" name="Shape 7"/>
          <p:cNvSpPr/>
          <p:nvPr/>
        </p:nvSpPr>
        <p:spPr>
          <a:xfrm>
            <a:off x="4640580" y="1325880"/>
            <a:ext cx="4091940" cy="2011680"/>
          </a:xfrm>
          <a:prstGeom prst="roundRect">
            <a:avLst>
              <a:gd name="adj" fmla="val 3636"/>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failed to set expectations</a:t>
            </a:r>
            <a:endParaRPr lang="en-US" sz="1300" dirty="0"/>
          </a:p>
        </p:txBody>
      </p:sp>
      <p:sp>
        <p:nvSpPr>
          <p:cNvPr id="15" name="Text 10"/>
          <p:cNvSpPr txBox="1"/>
          <p:nvPr/>
        </p:nvSpPr>
        <p:spPr>
          <a:xfrm>
            <a:off x="48234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didn't mention the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said there were no extra fees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system issue hid the disclosure</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Our expectation issue</a:t>
            </a:r>
            <a:endParaRPr lang="en-US" sz="1000" dirty="0"/>
          </a:p>
        </p:txBody>
      </p:sp>
      <p:sp>
        <p:nvSpPr>
          <p:cNvPr id="16" name="Shape 11"/>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630168"/>
            <a:ext cx="164592" cy="164592"/>
          </a:xfrm>
          <a:prstGeom prst="rect">
            <a:avLst/>
          </a:prstGeom>
        </p:spPr>
      </p:pic>
      <p:sp>
        <p:nvSpPr>
          <p:cNvPr id="18" name="Text 12"/>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what were they actually told? Check the sales call or notes, like Topic 1.</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Choose the resolution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Based on why they're contesting it, not just that they are.</a:t>
            </a:r>
            <a:endParaRPr lang="en-US" sz="1200" dirty="0"/>
          </a:p>
        </p:txBody>
      </p:sp>
      <p:sp>
        <p:nvSpPr>
          <p:cNvPr id="6" name="Shape 3"/>
          <p:cNvSpPr/>
          <p:nvPr/>
        </p:nvSpPr>
        <p:spPr>
          <a:xfrm>
            <a:off x="24688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24688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Homeaglow set expectations properly?</a:t>
            </a:r>
            <a:endParaRPr lang="en-US" sz="1000" dirty="0"/>
          </a:p>
        </p:txBody>
      </p:sp>
      <p:sp>
        <p:nvSpPr>
          <p:cNvPr id="8" name="Shape 5"/>
          <p:cNvSpPr/>
          <p:nvPr/>
        </p:nvSpPr>
        <p:spPr>
          <a:xfrm>
            <a:off x="4572000" y="1700784"/>
            <a:ext cx="0" cy="128016"/>
          </a:xfrm>
          <a:prstGeom prst="line">
            <a:avLst/>
          </a:prstGeom>
          <a:noFill/>
          <a:ln w="12700">
            <a:solidFill>
              <a:srgbClr val="6E6E73"/>
            </a:solidFill>
            <a:prstDash val="solid"/>
          </a:ln>
        </p:spPr>
      </p:sp>
      <p:sp>
        <p:nvSpPr>
          <p:cNvPr id="9" name="Shape 6"/>
          <p:cNvSpPr/>
          <p:nvPr/>
        </p:nvSpPr>
        <p:spPr>
          <a:xfrm>
            <a:off x="2331720" y="1828800"/>
            <a:ext cx="4480560" cy="0"/>
          </a:xfrm>
          <a:prstGeom prst="line">
            <a:avLst/>
          </a:prstGeom>
          <a:noFill/>
          <a:ln w="12700">
            <a:solidFill>
              <a:srgbClr val="6E6E73"/>
            </a:solidFill>
            <a:prstDash val="solid"/>
          </a:ln>
        </p:spPr>
      </p:sp>
      <p:sp>
        <p:nvSpPr>
          <p:cNvPr id="10" name="Shape 7"/>
          <p:cNvSpPr/>
          <p:nvPr/>
        </p:nvSpPr>
        <p:spPr>
          <a:xfrm>
            <a:off x="2331720" y="1828800"/>
            <a:ext cx="0" cy="128016"/>
          </a:xfrm>
          <a:prstGeom prst="line">
            <a:avLst/>
          </a:prstGeom>
          <a:noFill/>
          <a:ln w="12700">
            <a:solidFill>
              <a:srgbClr val="6E6E73"/>
            </a:solidFill>
            <a:prstDash val="solid"/>
            <a:tailEnd type="triangle"/>
          </a:ln>
        </p:spPr>
      </p:sp>
      <p:sp>
        <p:nvSpPr>
          <p:cNvPr id="11" name="Shape 8"/>
          <p:cNvSpPr/>
          <p:nvPr/>
        </p:nvSpPr>
        <p:spPr>
          <a:xfrm>
            <a:off x="6812280" y="1828800"/>
            <a:ext cx="0" cy="128016"/>
          </a:xfrm>
          <a:prstGeom prst="line">
            <a:avLst/>
          </a:prstGeom>
          <a:noFill/>
          <a:ln w="12700">
            <a:solidFill>
              <a:srgbClr val="6E6E73"/>
            </a:solidFill>
            <a:prstDash val="solid"/>
            <a:tailEnd type="triangle"/>
          </a:ln>
        </p:spPr>
      </p:sp>
      <p:sp>
        <p:nvSpPr>
          <p:cNvPr id="12" name="Text 9"/>
          <p:cNvSpPr txBox="1"/>
          <p:nvPr/>
        </p:nvSpPr>
        <p:spPr>
          <a:xfrm>
            <a:off x="2404872" y="1847088"/>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txBox="1"/>
          <p:nvPr/>
        </p:nvSpPr>
        <p:spPr>
          <a:xfrm>
            <a:off x="6885432" y="1847088"/>
            <a:ext cx="548640" cy="201168"/>
          </a:xfrm>
          <a:prstGeom prst="rect">
            <a:avLst/>
          </a:prstGeom>
          <a:noFill/>
          <a:ln/>
        </p:spPr>
        <p:txBody>
          <a:bodyPr wrap="square" lIns="0" tIns="0" rIns="0" bIns="0" rtlCol="0" anchor="t"/>
          <a:lstStyle/>
          <a:p>
            <a:pPr indent="0" marL="0">
              <a:buNone/>
            </a:pPr>
            <a:endParaRPr lang="en-US" sz="850" dirty="0"/>
          </a:p>
        </p:txBody>
      </p:sp>
      <p:sp>
        <p:nvSpPr>
          <p:cNvPr id="14" name="Text 11"/>
          <p:cNvSpPr txBox="1"/>
          <p:nvPr/>
        </p:nvSpPr>
        <p:spPr>
          <a:xfrm>
            <a:off x="240487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Yes: expectation gap</a:t>
            </a:r>
            <a:endParaRPr lang="en-US" sz="800" dirty="0"/>
          </a:p>
        </p:txBody>
      </p:sp>
      <p:sp>
        <p:nvSpPr>
          <p:cNvPr id="15" name="Text 12"/>
          <p:cNvSpPr txBox="1"/>
          <p:nvPr/>
        </p:nvSpPr>
        <p:spPr>
          <a:xfrm>
            <a:off x="688543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 we failed to</a:t>
            </a:r>
            <a:endParaRPr lang="en-US" sz="800" dirty="0"/>
          </a:p>
        </p:txBody>
      </p:sp>
      <p:sp>
        <p:nvSpPr>
          <p:cNvPr id="16" name="Shape 13"/>
          <p:cNvSpPr/>
          <p:nvPr/>
        </p:nvSpPr>
        <p:spPr>
          <a:xfrm>
            <a:off x="411480" y="1956816"/>
            <a:ext cx="3840480" cy="420624"/>
          </a:xfrm>
          <a:prstGeom prst="roundRect">
            <a:avLst>
              <a:gd name="adj" fmla="val 17391"/>
            </a:avLst>
          </a:prstGeom>
          <a:solidFill>
            <a:srgbClr val="FFFFFF"/>
          </a:solidFill>
          <a:ln w="12700">
            <a:solidFill>
              <a:srgbClr val="DCE1E7"/>
            </a:solidFill>
            <a:prstDash val="solid"/>
          </a:ln>
        </p:spPr>
      </p:sp>
      <p:sp>
        <p:nvSpPr>
          <p:cNvPr id="17" name="Text 14"/>
          <p:cNvSpPr txBox="1"/>
          <p:nvPr/>
        </p:nvSpPr>
        <p:spPr>
          <a:xfrm>
            <a:off x="411480" y="195681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a standard charge on every cleaning</a:t>
            </a:r>
            <a:endParaRPr lang="en-US" sz="1000" dirty="0"/>
          </a:p>
        </p:txBody>
      </p:sp>
      <p:sp>
        <p:nvSpPr>
          <p:cNvPr id="18" name="Shape 15"/>
          <p:cNvSpPr/>
          <p:nvPr/>
        </p:nvSpPr>
        <p:spPr>
          <a:xfrm>
            <a:off x="2331720" y="2377440"/>
            <a:ext cx="0" cy="128016"/>
          </a:xfrm>
          <a:prstGeom prst="line">
            <a:avLst/>
          </a:prstGeom>
          <a:noFill/>
          <a:ln w="12700">
            <a:solidFill>
              <a:srgbClr val="6E6E73"/>
            </a:solidFill>
            <a:prstDash val="solid"/>
            <a:tailEnd type="triangle"/>
          </a:ln>
        </p:spPr>
      </p:sp>
      <p:sp>
        <p:nvSpPr>
          <p:cNvPr id="19" name="Shape 16"/>
          <p:cNvSpPr/>
          <p:nvPr/>
        </p:nvSpPr>
        <p:spPr>
          <a:xfrm>
            <a:off x="411480" y="2505456"/>
            <a:ext cx="3840480" cy="420624"/>
          </a:xfrm>
          <a:prstGeom prst="roundRect">
            <a:avLst>
              <a:gd name="adj" fmla="val 17391"/>
            </a:avLst>
          </a:prstGeom>
          <a:solidFill>
            <a:srgbClr val="0B7A6F"/>
          </a:solidFill>
          <a:ln w="12700">
            <a:solidFill>
              <a:srgbClr val="0B7A6F"/>
            </a:solidFill>
            <a:prstDash val="solid"/>
          </a:ln>
        </p:spPr>
      </p:sp>
      <p:sp>
        <p:nvSpPr>
          <p:cNvPr id="20" name="Text 17"/>
          <p:cNvSpPr txBox="1"/>
          <p:nvPr/>
        </p:nvSpPr>
        <p:spPr>
          <a:xfrm>
            <a:off x="411480" y="250545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Still unhappy, staying? One-time $10 or $20 credit</a:t>
            </a:r>
            <a:endParaRPr lang="en-US" sz="1000" dirty="0"/>
          </a:p>
        </p:txBody>
      </p:sp>
      <p:sp>
        <p:nvSpPr>
          <p:cNvPr id="21" name="Shape 18"/>
          <p:cNvSpPr/>
          <p:nvPr/>
        </p:nvSpPr>
        <p:spPr>
          <a:xfrm>
            <a:off x="2331720" y="2926080"/>
            <a:ext cx="0" cy="128016"/>
          </a:xfrm>
          <a:prstGeom prst="line">
            <a:avLst/>
          </a:prstGeom>
          <a:noFill/>
          <a:ln w="12700">
            <a:solidFill>
              <a:srgbClr val="6E6E73"/>
            </a:solidFill>
            <a:prstDash val="solid"/>
            <a:tailEnd type="triangle"/>
          </a:ln>
        </p:spPr>
      </p:sp>
      <p:sp>
        <p:nvSpPr>
          <p:cNvPr id="22" name="Shape 19"/>
          <p:cNvSpPr/>
          <p:nvPr/>
        </p:nvSpPr>
        <p:spPr>
          <a:xfrm>
            <a:off x="411480" y="3054096"/>
            <a:ext cx="3840480" cy="420624"/>
          </a:xfrm>
          <a:prstGeom prst="roundRect">
            <a:avLst>
              <a:gd name="adj" fmla="val 17391"/>
            </a:avLst>
          </a:prstGeom>
          <a:solidFill>
            <a:srgbClr val="0B7A6F"/>
          </a:solidFill>
          <a:ln w="12700">
            <a:solidFill>
              <a:srgbClr val="0B7A6F"/>
            </a:solidFill>
            <a:prstDash val="solid"/>
          </a:ln>
        </p:spPr>
      </p:sp>
      <p:sp>
        <p:nvSpPr>
          <p:cNvPr id="23" name="Text 20"/>
          <p:cNvSpPr txBox="1"/>
          <p:nvPr/>
        </p:nvSpPr>
        <p:spPr>
          <a:xfrm>
            <a:off x="41148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Wants cash or will cancel? $10 or $20 partial refund</a:t>
            </a:r>
            <a:endParaRPr lang="en-US" sz="1000" dirty="0"/>
          </a:p>
        </p:txBody>
      </p:sp>
      <p:sp>
        <p:nvSpPr>
          <p:cNvPr id="24" name="Shape 21"/>
          <p:cNvSpPr/>
          <p:nvPr/>
        </p:nvSpPr>
        <p:spPr>
          <a:xfrm>
            <a:off x="4892040" y="1956816"/>
            <a:ext cx="3840480" cy="420624"/>
          </a:xfrm>
          <a:prstGeom prst="roundRect">
            <a:avLst>
              <a:gd name="adj" fmla="val 17391"/>
            </a:avLst>
          </a:prstGeom>
          <a:solidFill>
            <a:srgbClr val="0B7A6F"/>
          </a:solidFill>
          <a:ln w="12700">
            <a:solidFill>
              <a:srgbClr val="0B7A6F"/>
            </a:solidFill>
            <a:prstDash val="solid"/>
          </a:ln>
        </p:spPr>
      </p:sp>
      <p:sp>
        <p:nvSpPr>
          <p:cNvPr id="25" name="Text 22"/>
          <p:cNvSpPr txBox="1"/>
          <p:nvPr/>
        </p:nvSpPr>
        <p:spPr>
          <a:xfrm>
            <a:off x="4892040" y="195681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Processing Fee in full</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the original payment method</a:t>
            </a:r>
            <a:endParaRPr lang="en-US" sz="1000" dirty="0"/>
          </a:p>
        </p:txBody>
      </p:sp>
      <p:sp>
        <p:nvSpPr>
          <p:cNvPr id="26" name="Shape 23"/>
          <p:cNvSpPr/>
          <p:nvPr/>
        </p:nvSpPr>
        <p:spPr>
          <a:xfrm>
            <a:off x="6812280" y="2377440"/>
            <a:ext cx="0" cy="128016"/>
          </a:xfrm>
          <a:prstGeom prst="line">
            <a:avLst/>
          </a:prstGeom>
          <a:noFill/>
          <a:ln w="12700">
            <a:solidFill>
              <a:srgbClr val="6E6E73"/>
            </a:solidFill>
            <a:prstDash val="solid"/>
            <a:tailEnd type="triangle"/>
          </a:ln>
        </p:spPr>
      </p:sp>
      <p:sp>
        <p:nvSpPr>
          <p:cNvPr id="27" name="Shape 24"/>
          <p:cNvSpPr/>
          <p:nvPr/>
        </p:nvSpPr>
        <p:spPr>
          <a:xfrm>
            <a:off x="4892040" y="2505456"/>
            <a:ext cx="384048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892040" y="250545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Name the specific expectation issue</a:t>
            </a:r>
            <a:endParaRPr lang="en-US" sz="1000" dirty="0"/>
          </a:p>
        </p:txBody>
      </p:sp>
      <p:sp>
        <p:nvSpPr>
          <p:cNvPr id="29" name="Shape 26"/>
          <p:cNvSpPr/>
          <p:nvPr/>
        </p:nvSpPr>
        <p:spPr>
          <a:xfrm>
            <a:off x="6812280" y="2926080"/>
            <a:ext cx="0" cy="128016"/>
          </a:xfrm>
          <a:prstGeom prst="line">
            <a:avLst/>
          </a:prstGeom>
          <a:noFill/>
          <a:ln w="12700">
            <a:solidFill>
              <a:srgbClr val="6E6E73"/>
            </a:solidFill>
            <a:prstDash val="solid"/>
            <a:tailEnd type="triangle"/>
          </a:ln>
        </p:spPr>
      </p:sp>
      <p:sp>
        <p:nvSpPr>
          <p:cNvPr id="30" name="Shape 27"/>
          <p:cNvSpPr/>
          <p:nvPr/>
        </p:nvSpPr>
        <p:spPr>
          <a:xfrm>
            <a:off x="4892040" y="3054096"/>
            <a:ext cx="3840480" cy="420624"/>
          </a:xfrm>
          <a:prstGeom prst="roundRect">
            <a:avLst>
              <a:gd name="adj" fmla="val 17391"/>
            </a:avLst>
          </a:prstGeom>
          <a:solidFill>
            <a:srgbClr val="1D1D1F"/>
          </a:solidFill>
          <a:ln w="12700">
            <a:solidFill>
              <a:srgbClr val="1D1D1F"/>
            </a:solidFill>
            <a:prstDash val="solid"/>
          </a:ln>
        </p:spPr>
      </p:sp>
      <p:sp>
        <p:nvSpPr>
          <p:cNvPr id="31" name="Text 28"/>
          <p:cNvSpPr txBox="1"/>
          <p:nvPr/>
        </p:nvSpPr>
        <p:spPr>
          <a:xfrm>
            <a:off x="489204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Cancelling FC over it? Waive the ETF</a:t>
            </a:r>
            <a:endParaRPr lang="en-US" sz="1000" dirty="0"/>
          </a:p>
        </p:txBody>
      </p:sp>
      <p:sp>
        <p:nvSpPr>
          <p:cNvPr id="32" name="Shape 29"/>
          <p:cNvSpPr/>
          <p:nvPr/>
        </p:nvSpPr>
        <p:spPr>
          <a:xfrm>
            <a:off x="411480" y="3675888"/>
            <a:ext cx="8321040" cy="384048"/>
          </a:xfrm>
          <a:prstGeom prst="roundRect">
            <a:avLst>
              <a:gd name="adj" fmla="val 19048"/>
            </a:avLst>
          </a:prstGeom>
          <a:solidFill>
            <a:srgbClr val="FFF3D6"/>
          </a:solidFill>
          <a:ln w="9525">
            <a:solidFill>
              <a:srgbClr val="FFF3D6"/>
            </a:solidFill>
            <a:prstDash val="solid"/>
          </a:ln>
        </p:spPr>
      </p:sp>
      <p:pic>
        <p:nvPicPr>
          <p:cNvPr id="33" name="Image 0" descr="preencoded.png">    </p:cNvPr>
          <p:cNvPicPr>
            <a:picLocks noChangeAspect="1"/>
          </p:cNvPicPr>
          <p:nvPr/>
        </p:nvPicPr>
        <p:blipFill>
          <a:blip r:embed="rId1"/>
          <a:stretch>
            <a:fillRect/>
          </a:stretch>
        </p:blipFill>
        <p:spPr>
          <a:xfrm>
            <a:off x="566928" y="3785616"/>
            <a:ext cx="164592" cy="164592"/>
          </a:xfrm>
          <a:prstGeom prst="rect">
            <a:avLst/>
          </a:prstGeom>
        </p:spPr>
      </p:pic>
      <p:sp>
        <p:nvSpPr>
          <p:cNvPr id="34" name="Text 30"/>
          <p:cNvSpPr txBox="1"/>
          <p:nvPr/>
        </p:nvSpPr>
        <p:spPr>
          <a:xfrm>
            <a:off x="822960" y="377647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issue a credit equal to the exact Processing Fee. It says the fee was wrong.</a:t>
            </a:r>
            <a:endParaRPr lang="en-US" sz="1000" dirty="0"/>
          </a:p>
        </p:txBody>
      </p:sp>
      <p:sp>
        <p:nvSpPr>
          <p:cNvPr id="35" name="Shape 31"/>
          <p:cNvSpPr/>
          <p:nvPr/>
        </p:nvSpPr>
        <p:spPr>
          <a:xfrm>
            <a:off x="411480" y="4169664"/>
            <a:ext cx="2926080" cy="292608"/>
          </a:xfrm>
          <a:prstGeom prst="roundRect">
            <a:avLst>
              <a:gd name="adj" fmla="val 25000"/>
            </a:avLst>
          </a:prstGeom>
          <a:solidFill>
            <a:srgbClr val="FFF3D6"/>
          </a:solidFill>
          <a:ln w="9525">
            <a:solidFill>
              <a:srgbClr val="9A6410"/>
            </a:solidFill>
            <a:prstDash val="solid"/>
          </a:ln>
        </p:spPr>
      </p:sp>
      <p:pic>
        <p:nvPicPr>
          <p:cNvPr id="36" name="Image 1" descr="preencoded.png">    </p:cNvPr>
          <p:cNvPicPr>
            <a:picLocks noChangeAspect="1"/>
          </p:cNvPicPr>
          <p:nvPr/>
        </p:nvPicPr>
        <p:blipFill>
          <a:blip r:embed="rId2"/>
          <a:stretch>
            <a:fillRect/>
          </a:stretch>
        </p:blipFill>
        <p:spPr>
          <a:xfrm>
            <a:off x="521208" y="4242816"/>
            <a:ext cx="146304" cy="146304"/>
          </a:xfrm>
          <a:prstGeom prst="rect">
            <a:avLst/>
          </a:prstGeom>
        </p:spPr>
      </p:pic>
      <p:sp>
        <p:nvSpPr>
          <p:cNvPr id="37" name="Text 32"/>
          <p:cNvSpPr txBox="1"/>
          <p:nvPr/>
        </p:nvSpPr>
        <p:spPr>
          <a:xfrm>
            <a:off x="731520" y="4169664"/>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Processing Fee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don't want future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retention conversation, not a refund one.</a:t>
            </a:r>
            <a:endParaRPr lang="en-US" sz="1200" dirty="0"/>
          </a:p>
        </p:txBody>
      </p:sp>
      <p:sp>
        <p:nvSpPr>
          <p:cNvPr id="6" name="Shape 3"/>
          <p:cNvSpPr/>
          <p:nvPr/>
        </p:nvSpPr>
        <p:spPr>
          <a:xfrm>
            <a:off x="411480" y="1371600"/>
            <a:ext cx="2606040" cy="640080"/>
          </a:xfrm>
          <a:prstGeom prst="roundRect">
            <a:avLst>
              <a:gd name="adj" fmla="val 11429"/>
            </a:avLst>
          </a:prstGeom>
          <a:solidFill>
            <a:srgbClr val="FFFFFF"/>
          </a:solidFill>
          <a:ln w="12700">
            <a:solidFill>
              <a:srgbClr val="DCE1E7"/>
            </a:solidFill>
            <a:prstDash val="solid"/>
          </a:ln>
        </p:spPr>
      </p:sp>
      <p:sp>
        <p:nvSpPr>
          <p:cNvPr id="7" name="Text 4"/>
          <p:cNvSpPr txBox="1"/>
          <p:nvPr/>
        </p:nvSpPr>
        <p:spPr>
          <a:xfrm>
            <a:off x="411480" y="1371600"/>
            <a:ext cx="2606040" cy="6400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Move into the retention flow</a:t>
            </a:r>
            <a:endParaRPr lang="en-US" sz="1000" dirty="0"/>
          </a:p>
        </p:txBody>
      </p:sp>
      <p:sp>
        <p:nvSpPr>
          <p:cNvPr id="8" name="Shape 5"/>
          <p:cNvSpPr/>
          <p:nvPr/>
        </p:nvSpPr>
        <p:spPr>
          <a:xfrm>
            <a:off x="3017520" y="1691640"/>
            <a:ext cx="246888" cy="0"/>
          </a:xfrm>
          <a:prstGeom prst="line">
            <a:avLst/>
          </a:prstGeom>
          <a:noFill/>
          <a:ln w="12700">
            <a:solidFill>
              <a:srgbClr val="6E6E73"/>
            </a:solidFill>
            <a:prstDash val="solid"/>
            <a:tailEnd type="triangle"/>
          </a:ln>
        </p:spPr>
      </p:sp>
      <p:sp>
        <p:nvSpPr>
          <p:cNvPr id="9" name="Shape 6"/>
          <p:cNvSpPr/>
          <p:nvPr/>
        </p:nvSpPr>
        <p:spPr>
          <a:xfrm>
            <a:off x="3264408" y="1371600"/>
            <a:ext cx="2606040" cy="640080"/>
          </a:xfrm>
          <a:prstGeom prst="roundRect">
            <a:avLst>
              <a:gd name="adj" fmla="val 11429"/>
            </a:avLst>
          </a:prstGeom>
          <a:solidFill>
            <a:srgbClr val="0B7A6F"/>
          </a:solidFill>
          <a:ln w="12700">
            <a:solidFill>
              <a:srgbClr val="0B7A6F"/>
            </a:solidFill>
            <a:prstDash val="solid"/>
          </a:ln>
        </p:spPr>
      </p:sp>
      <p:sp>
        <p:nvSpPr>
          <p:cNvPr id="10" name="Text 7"/>
          <p:cNvSpPr txBox="1"/>
          <p:nvPr/>
        </p:nvSpPr>
        <p:spPr>
          <a:xfrm>
            <a:off x="3264408" y="1371600"/>
            <a:ext cx="260604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Offer a $10–$15 Membership Fee reduction</a:t>
            </a:r>
            <a:endParaRPr lang="en-US" sz="1000" dirty="0"/>
          </a:p>
        </p:txBody>
      </p:sp>
      <p:sp>
        <p:nvSpPr>
          <p:cNvPr id="11" name="Shape 8"/>
          <p:cNvSpPr/>
          <p:nvPr/>
        </p:nvSpPr>
        <p:spPr>
          <a:xfrm>
            <a:off x="5870448" y="1691640"/>
            <a:ext cx="246888" cy="0"/>
          </a:xfrm>
          <a:prstGeom prst="line">
            <a:avLst/>
          </a:prstGeom>
          <a:noFill/>
          <a:ln w="12700">
            <a:solidFill>
              <a:srgbClr val="6E6E73"/>
            </a:solidFill>
            <a:prstDash val="solid"/>
            <a:tailEnd type="triangle"/>
          </a:ln>
        </p:spPr>
      </p:sp>
      <p:sp>
        <p:nvSpPr>
          <p:cNvPr id="12" name="Shape 9"/>
          <p:cNvSpPr/>
          <p:nvPr/>
        </p:nvSpPr>
        <p:spPr>
          <a:xfrm>
            <a:off x="6117336" y="1371600"/>
            <a:ext cx="2606040" cy="640080"/>
          </a:xfrm>
          <a:prstGeom prst="roundRect">
            <a:avLst>
              <a:gd name="adj" fmla="val 11429"/>
            </a:avLst>
          </a:prstGeom>
          <a:solidFill>
            <a:srgbClr val="FFF3D6"/>
          </a:solidFill>
          <a:ln w="12700">
            <a:solidFill>
              <a:srgbClr val="9A6410"/>
            </a:solidFill>
            <a:prstDash val="solid"/>
          </a:ln>
        </p:spPr>
      </p:sp>
      <p:sp>
        <p:nvSpPr>
          <p:cNvPr id="13" name="Text 10"/>
          <p:cNvSpPr txBox="1"/>
          <p:nvPr/>
        </p:nvSpPr>
        <p:spPr>
          <a:xfrm>
            <a:off x="6117336" y="1371600"/>
            <a:ext cx="2606040" cy="6400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Need more? Escalate to Support or a TL (up to 50%)</a:t>
            </a:r>
            <a:endParaRPr lang="en-US" sz="1000" dirty="0"/>
          </a:p>
        </p:txBody>
      </p:sp>
      <p:sp>
        <p:nvSpPr>
          <p:cNvPr id="14" name="Shape 11"/>
          <p:cNvSpPr/>
          <p:nvPr/>
        </p:nvSpPr>
        <p:spPr>
          <a:xfrm>
            <a:off x="411480" y="2286000"/>
            <a:ext cx="4091940" cy="1600200"/>
          </a:xfrm>
          <a:prstGeom prst="roundRect">
            <a:avLst>
              <a:gd name="adj" fmla="val 4571"/>
            </a:avLst>
          </a:prstGeom>
          <a:solidFill>
            <a:srgbClr val="FFFFFF"/>
          </a:solidFill>
          <a:ln w="9525">
            <a:solidFill>
              <a:srgbClr val="DCE1E7"/>
            </a:solidFill>
            <a:prstDash val="solid"/>
          </a:ln>
        </p:spPr>
      </p:sp>
      <p:sp>
        <p:nvSpPr>
          <p:cNvPr id="15" name="Shape 12"/>
          <p:cNvSpPr/>
          <p:nvPr/>
        </p:nvSpPr>
        <p:spPr>
          <a:xfrm>
            <a:off x="594360" y="2468880"/>
            <a:ext cx="384048" cy="384048"/>
          </a:xfrm>
          <a:prstGeom prst="ellipse">
            <a:avLst/>
          </a:prstGeom>
          <a:solidFill>
            <a:srgbClr val="E3F4F1"/>
          </a:solidFill>
          <a:ln w="12700">
            <a:solidFill>
              <a:srgbClr val="E3F4F1"/>
            </a:solidFill>
            <a:prstDash val="solid"/>
          </a:ln>
        </p:spPr>
      </p:sp>
      <p:pic>
        <p:nvPicPr>
          <p:cNvPr id="16" name="Image 0" descr="preencoded.png">    </p:cNvPr>
          <p:cNvPicPr>
            <a:picLocks noChangeAspect="1"/>
          </p:cNvPicPr>
          <p:nvPr/>
        </p:nvPicPr>
        <p:blipFill>
          <a:blip r:embed="rId1"/>
          <a:stretch>
            <a:fillRect/>
          </a:stretch>
        </p:blipFill>
        <p:spPr>
          <a:xfrm>
            <a:off x="686532" y="2561052"/>
            <a:ext cx="199705" cy="199705"/>
          </a:xfrm>
          <a:prstGeom prst="rect">
            <a:avLst/>
          </a:prstGeom>
        </p:spPr>
      </p:pic>
      <p:sp>
        <p:nvSpPr>
          <p:cNvPr id="17" name="Text 13"/>
          <p:cNvSpPr txBox="1"/>
          <p:nvPr/>
        </p:nvSpPr>
        <p:spPr>
          <a:xfrm>
            <a:off x="10972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a:t>
            </a:r>
            <a:endParaRPr lang="en-US" sz="1300" dirty="0"/>
          </a:p>
        </p:txBody>
      </p:sp>
      <p:sp>
        <p:nvSpPr>
          <p:cNvPr id="18" name="Text 14"/>
          <p:cNvSpPr txBox="1"/>
          <p:nvPr/>
        </p:nvSpPr>
        <p:spPr>
          <a:xfrm>
            <a:off x="5943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Ask why they're contesting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Check what they were told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 goodwill one-time</a:t>
            </a:r>
            <a:endParaRPr lang="en-US" sz="1000" dirty="0"/>
          </a:p>
        </p:txBody>
      </p:sp>
      <p:sp>
        <p:nvSpPr>
          <p:cNvPr id="19" name="Shape 15"/>
          <p:cNvSpPr/>
          <p:nvPr/>
        </p:nvSpPr>
        <p:spPr>
          <a:xfrm>
            <a:off x="4640580" y="2286000"/>
            <a:ext cx="4091940" cy="1600200"/>
          </a:xfrm>
          <a:prstGeom prst="roundRect">
            <a:avLst>
              <a:gd name="adj" fmla="val 4571"/>
            </a:avLst>
          </a:prstGeom>
          <a:solidFill>
            <a:srgbClr val="FFFFFF"/>
          </a:solidFill>
          <a:ln w="9525">
            <a:solidFill>
              <a:srgbClr val="DCE1E7"/>
            </a:solidFill>
            <a:prstDash val="solid"/>
          </a:ln>
        </p:spPr>
      </p:sp>
      <p:sp>
        <p:nvSpPr>
          <p:cNvPr id="20" name="Shape 16"/>
          <p:cNvSpPr/>
          <p:nvPr/>
        </p:nvSpPr>
        <p:spPr>
          <a:xfrm>
            <a:off x="4823460" y="2468880"/>
            <a:ext cx="384048" cy="384048"/>
          </a:xfrm>
          <a:prstGeom prst="ellipse">
            <a:avLst/>
          </a:prstGeom>
          <a:solidFill>
            <a:srgbClr val="E3F4F1"/>
          </a:solidFill>
          <a:ln w="12700">
            <a:solidFill>
              <a:srgbClr val="E3F4F1"/>
            </a:solidFill>
            <a:prstDash val="solid"/>
          </a:ln>
        </p:spPr>
      </p:sp>
      <p:pic>
        <p:nvPicPr>
          <p:cNvPr id="21" name="Image 1" descr="preencoded.png">    </p:cNvPr>
          <p:cNvPicPr>
            <a:picLocks noChangeAspect="1"/>
          </p:cNvPicPr>
          <p:nvPr/>
        </p:nvPicPr>
        <p:blipFill>
          <a:blip r:embed="rId2"/>
          <a:stretch>
            <a:fillRect/>
          </a:stretch>
        </p:blipFill>
        <p:spPr>
          <a:xfrm>
            <a:off x="4915632" y="2561052"/>
            <a:ext cx="199705" cy="199705"/>
          </a:xfrm>
          <a:prstGeom prst="rect">
            <a:avLst/>
          </a:prstGeom>
        </p:spPr>
      </p:pic>
      <p:sp>
        <p:nvSpPr>
          <p:cNvPr id="22" name="Text 17"/>
          <p:cNvSpPr txBox="1"/>
          <p:nvPr/>
        </p:nvSpPr>
        <p:spPr>
          <a:xfrm>
            <a:off x="53263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Don't</a:t>
            </a:r>
            <a:endParaRPr lang="en-US" sz="1300" dirty="0"/>
          </a:p>
        </p:txBody>
      </p:sp>
      <p:sp>
        <p:nvSpPr>
          <p:cNvPr id="23" name="Text 18"/>
          <p:cNvSpPr txBox="1"/>
          <p:nvPr/>
        </p:nvSpPr>
        <p:spPr>
          <a:xfrm>
            <a:off x="48234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Debate whether the fee is valid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 the exact fee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Promise a permanent waiver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An active ForeverClean customer asks what their Processing Fee is.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15%. It's 5% for non-FC and deactivated FC customers.</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forgot about the fee, is annoyed, but is staying. What can you offer?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Explain it's standard. One-time $10 or $20 credit, never the exact fee amount.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them "no extra fees". They want to cancel FC.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Processing Fee in full and waive the ETF.</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They're fine with this charge but don't want the fee in future. Next step?</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Retention: offer a $10–$15 Membership Fee reduction. More needs Support or a TL.</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Why is the customer contesting the fee?</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 expectation gap, or did we fail to disclose it?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Explain + goodwill, or a full refund (+ ETF waiver).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Lockouts &amp; Fees</dc:title>
  <dc:subject>PptxGenJS Presentation</dc:subject>
  <dc:creator>PptxGenJS</dc:creator>
  <cp:lastModifiedBy>PptxGenJS</cp:lastModifiedBy>
  <cp:revision>1</cp:revision>
  <dcterms:created xsi:type="dcterms:W3CDTF">2026-10-07T16:01:11Z</dcterms:created>
  <dcterms:modified xsi:type="dcterms:W3CDTF">2026-10-07T16:01:11Z</dcterms:modified>
</cp:coreProperties>
</file>