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y="5143500" cx="9144000"/>
  <p:notesSz cx="5143500" cy="9144000"/>
  <p:embeddedFontLst>
    <p:embeddedFont>
      <p:font typeface="Play"/>
      <p:regular r:id="rId56"/>
      <p:bold r:id="rId5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11CD2B3-61C3-4F20-B420-420BFCFC9075}">
  <a:tblStyle styleId="{B11CD2B3-61C3-4F20-B420-420BFCFC9075}"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font" Target="fonts/Play-bold.fntdata"/><Relationship Id="rId12" Type="http://schemas.openxmlformats.org/officeDocument/2006/relationships/slide" Target="slides/slide7.xml"/><Relationship Id="rId56" Type="http://schemas.openxmlformats.org/officeDocument/2006/relationships/font" Target="fonts/Play-regular.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MF &amp; ETF Refund Requests; Customer Abusive Behavior Towards a Cleaner; Duplicate Accounts; and Bulk Charges. The thread through all four: work out the real root cause first (what happened, and whose error it was), then apply the policy that fits it, no more and no less.</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covers MF and ETF refund requests: the root cause drives the decision, eligible doesn't automatically mean a cash refund, and billing errors are fixed without waiting to be asked. Topic 2 covers customers confirmed abusive toward a cleaner: no retention, only a fair exit. Topic 3 covers duplicate accounts: check Thumbtack, cancel the duplicate FC, then offer a refund or free months. Topic 4 covers bulk MF charges: which of the three branches you're in, and what to do in each.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&amp; ETF Refund Requests. Category: Retention and Membership Cancellation. Covers refund requests for Monthly Fees (MF) and/or the Early Termination Fee (ETF), whether the customer is mid-cancellation, already cancelled, or just contesting a charge. This is separate from job-charge refunds (Premium Fee, Lockout, LMC: see the AG-Refund pages).</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Why this matters: not every MF or ETF refund request has the same root cause, and the root cause is what should drive the decision, not just "how long ago was the charge." A customer who was never told about the membership deserves a different answer than one who knew and simply forgot to cancel in time, even if both are asking for the same thing. Getting this right protects against two failure modes: reflexively refusing refunds that are genuinely our error, and reflexively granting refunds that reward not paying attention. No refund request, no refund, but a request can be implied as well as explicit: the customer doesn't need to use the word "refund"; contesting a charge with the expectation it be reversed is a request. The exception is our own error: where we charged in error (a duplicate charge, a charge the customer should never have had), correct it without waiting to be asked.</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 name="Google Shape;12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 MF going unused is not, on its own, a reason to refund it. The test is paid months minus the customer's MCT. A customer can go months without booking and still owe every one of those MFs, because the fee buys membership, not attendance. Inside the MCT, an unused month is owed: refund it only under a named exemption (a material legal threat, extreme hardship, compassion, or a history of disputes). Beyond the MCT, an unused MF is refundable when all of these hold: it was charged in the last 120 days; it is still disputable; and the reason is that the customer was unaware of the membership or believed they had already cancelled, not that they simply forgot to cancel in time. Example: C has 7 paid months against a 6-month MCT and three MFs went unused. Only one of those sits beyond the MCT. The other two are owed: they went unused inside the commitment term, which is not a refund ground.</a:t>
            </a:r>
            <a:endParaRPr/>
          </a:p>
        </p:txBody>
      </p:sp>
      <p:sp>
        <p:nvSpPr>
          <p:cNvPr id="125" name="Google Shape;12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 name="Google Shape;15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MF refund requests start with the FC status. FC is active (triggered): if the customer is retainable, lead with a free-months offer equal to the eligible amount, capped at 3. "Eligible" means the customer has a legitimate claim to the value of those unused MFs; it doesn't mean the default resolution is a cash refund. Exception: if there are extenuating circumstances that warrant a refund (billing errors, etc.), proceed with the refund. Agent errors, billing errors and high-risk/legal situations are refunded directly regardless of FC status. FC is cancelled, the customer declines the free months, or the customer isn't retainable: follow the root cause table on the next slide to decide whether the MF is refundable. TRAINER: in slideshow mode, the "Root cause table" button jumps to the next slide.</a:t>
            </a:r>
            <a:endParaRPr/>
          </a:p>
        </p:txBody>
      </p:sp>
      <p:sp>
        <p:nvSpPr>
          <p:cNvPr id="153" name="Google Shape;15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refunds sorted by root cause. Unaware of the membership, charged multiple MFs: eligible for unused MFs beyond MCT that are still disputable (within 120 days). Thought they'd cancelled (cancelled RC/upcoming jobs, not FC): same. C requested cancellation to Support after completing MCT, but FC continued renewing monthly without their explicit agreement: MFs charged after the cancellation request are eligible regardless of the 120-day window, since this is an agent error. If C has completed MCT and requested cancellation, don't charge another MF without their explicit agreement to continue; the agent should have created a Timed Reminder to cancel FC before the next renewal if C didn't respond to the retention attempt. Aware of the membership, just forgot to cancel in time: generally no. The membership benefit (discounted access) was available every month they were charged; forgetting to cancel isn't a service failure or communication gap on our side, and refunding would mean refunding based on non-use. Duplicate account, duplicate MF charged: the duplicate charges within 120 days are eligible if the customer declined the free months. C already paid the ETF, now wants an MF refund too, no escalation language: no ("I canceled and paid my ETF. Can I have a refund on the MF I just paid?"). With escalating/dispute language or legal threats: yes, the MF may be refundable to avoid further costs ("Either refund the MF or the ETF or I will be contacting my bank and disputing both of these charges"). C has a previous bank dispute: refund on request as long as it's still disputable (within 120 days). Exception: a successful dispute on a charge that should have been non-disputable opens everything charged after it; if the customer successfully disputed a charge already past 120 days, every later charge is also refundable on request.</a:t>
            </a:r>
            <a:endParaRPr/>
          </a:p>
        </p:txBody>
      </p:sp>
      <p:sp>
        <p:nvSpPr>
          <p:cNvPr id="174" name="Google Shape;17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 name="Google Shape;18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ETF refunds. Full refund if any of: the customer has a history of filing a dispute, asked for a refund before/after filing one, and no longer wants the service; dispute risk is above the percentage-based threshold; extenuating circumstances apply, especially if they never used the service or were unhappy with it (check the Extenuating Circumstances article: Financial Hardship, Military, Illness, Death, ADA, Disaster). Partial refund if: the ETF was miscalculated (system bug, overcharged hours); or the customer wants the voucher price/MF/card charges deducted for hours a DHJ voucher didn't cover, and is using escalating language.</a:t>
            </a:r>
            <a:endParaRPr/>
          </a:p>
        </p:txBody>
      </p:sp>
      <p:sp>
        <p:nvSpPr>
          <p:cNvPr id="187" name="Google Shape;18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 name="Google Shape;204;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Billing errors (MF or ETF): refund immediately, no 120-day window, since this is our mistake, not a judgment call: a charge applied incorrectly or an MF charged twice by error; a promised discount never applied; we said we'd cancel after MCT and didn't (refund anything charged after MCT regardless of the 120-day window: agent error). High-risk / material legal situations, refund if any apply: material legal threat (Attorney General, class action, etc.): refund charges within 120 days; beyond that needs Legal and Compliance Team approval, so escalate to your TL. Dispute risk above the percentage threshold: the 120-day limit still applies. If C has already filed a dispute, the 120-day limit still applies, even if they request a refund before or after filing, unless the bank allows a dispute for a charge that is normally non-disputable. If none of the above apply and dispute risk is low: don't refund. If the membership is still active, offer the free-months-in-lieu alternative instead (unused MF value converted to free months, capped at 3: see General Retention Playbook).</a:t>
            </a:r>
            <a:endParaRPr/>
          </a:p>
        </p:txBody>
      </p:sp>
      <p:sp>
        <p:nvSpPr>
          <p:cNvPr id="205" name="Google Shape;205;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 name="Google Shape;22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Compassion / hardship cases (extenuating circumstances) apply whether the customer is within or beyond MCT. Take a human, personalized approach rather than running the standard scenario logic. If the customer doesn't specify how many MFs they want refunded, start with 1 as the baseline; don't offer more than asked. Refunds beyond the normal 120-day/count limits are allowed when the circumstances justify it; in severe cases, multiple MFs or a refund beyond the normal window is fine, but it needs support approval. Related macros: [Fragment] No refund — monthly fee; [Fragment] No refund — ETF; [Fragment] Lower ETF offer – MF deducted from ETF; [Fragment] Lower ETF offer – Voucher price deducted from ETF; [Fragment] Free month offer.</a:t>
            </a:r>
            <a:endParaRPr/>
          </a:p>
        </p:txBody>
      </p:sp>
      <p:sp>
        <p:nvSpPr>
          <p:cNvPr id="223" name="Google Shape;22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 name="Google Shape;24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50" name="Google Shape;25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 name="Google Shape;28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an MF or ETF refund request. Give trainees a few minutes to review it on their own, then work through it together. 1) What's the root cause: unaware of the membership, thought they'd cancelled, forgot to cancel, a billing or agent error, a legal threat or dispute risk, or hardship? 2) What actions are you going to take? Apply the MCT test (paid months minus MCT) and the 120-day/disputable check; if eligible and FC is active and C is retainable, lead with free months (max 3); otherwise refund. 3) 5-minute writing challenge: each trainee writes the reply. Read a few aloud and compare. Then open the floor for questions.</a:t>
            </a:r>
            <a:endParaRPr/>
          </a:p>
        </p:txBody>
      </p:sp>
      <p:sp>
        <p:nvSpPr>
          <p:cNvPr id="282" name="Google Shape;28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4" name="Google Shape;31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 Abusive Behavior Towards a Cleaner. Category: Retention and Membership Cancellation. Covers how to handle a cancellation or ETF conversation once a customer has been confirmed abusive toward their cleaner: personal, threatening, or intentionally harmful hostility, not ordinary frustration. It governs what offers are and aren't allowed once abuse is confirmed. It doesn't cover the CP-facing investigation or consequences: see Trust and Safety Overview for that side.</a:t>
            </a:r>
            <a:endParaRPr/>
          </a:p>
        </p:txBody>
      </p:sp>
      <p:sp>
        <p:nvSpPr>
          <p:cNvPr id="315" name="Google Shape;31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 name="Google Shape;345;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Almost everything else in the Knowledge Library is about finding the right offer to keep the relationship. This article is the deliberate exception. Once a customer has been abusive toward a cleaner, the goal shifts from retention to protecting the CP and holding a clear boundary. Extending the normal retention toolkit here would reward the exact behavior we need to discourage, and would ask this CP (or the next one) to absorb more of it. The customer still gets a fair, policy-consistent exit: an ETF or MCT reduction is still on the table if it's warranted on its own terms, but nothing beyond that. The CP-side investigation and consequences are covered in Trust and Safety Overview.</a:t>
            </a:r>
            <a:endParaRPr/>
          </a:p>
        </p:txBody>
      </p:sp>
      <p:sp>
        <p:nvSpPr>
          <p:cNvPr id="346" name="Google Shape;346;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distinction that matters most: intent, target, and tone, not just profanity. Someone venting about a bad outcome ("this is f***ing frustrating, my place still isn't clean") hasn't done anything actionable. Someone directing insults or threats at the cleaner personally has. Swearing alone is never enough to escalate on its own. Abusive (actionable): "You're f***ing useless. If you don't fix this, you'll regret it."; "I'm going to come back there and hurt you."; repeatedly calling the cleaner names or directing profanity at them despite being asked to stop. Not abusive (don't escalate solely on this): "This is f***ing frustrating. My place still isn't clean."; "I'm really pissed about how this turned out," without insults or threats aimed at the cleaner.</a:t>
            </a:r>
            <a:endParaRPr/>
          </a:p>
        </p:txBody>
      </p:sp>
      <p:sp>
        <p:nvSpPr>
          <p:cNvPr id="373" name="Google Shape;373;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8" name="Google Shape;388;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 Do not attempt retention: no incentives, no persuasion to continue. 2) Explain membership and cancellation terms: clearly walk through FC details and ETF terms, factual and neutral, not an opening for negotiation. 3) Handling ETF objections: if the customer refuses to pay the ETF, an ETF or MCT reduction may still be considered using standard reduction guidelines and discretion. 4) Allowed: cancelling with applicable terms; a reduced ETF or MCT, where warranted. Not allowed: MF reductions; vouchers; credits or free months. Key principle: the priority is protecting the cleaner and enforcing the boundary, not retention. Resolutions should focus on a clean exit, consistent with policy.</a:t>
            </a:r>
            <a:endParaRPr/>
          </a:p>
        </p:txBody>
      </p:sp>
      <p:sp>
        <p:nvSpPr>
          <p:cNvPr id="389" name="Google Shape;389;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8" name="Google Shape;418;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419" name="Google Shape;419;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0" name="Google Shape;45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customer has been abusive toward a cleaner (or one that's just frustrated). Give trainees a few minutes to review it on their own, then work through it together. 1) Is it abusive? Apply the intent, target and tone test. 2) What actions are you going to take? No retention; explain FC and ETF terms neutrally; an ETF or MCT reduction only if warranted; no MF reductions, vouchers, credits or free months. 3) 5-minute writing challenge: each trainee writes a neutral, factual reply. Read a few aloud and compare. Then open the floor for questions.</a:t>
            </a:r>
            <a:endParaRPr/>
          </a:p>
        </p:txBody>
      </p:sp>
      <p:sp>
        <p:nvSpPr>
          <p:cNvPr id="451" name="Google Shape;45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 name="Google Shape;48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Duplicate Accounts. Category: Retention and Membership Cancellation. A duplicate account is when a customer has inadvertently created two separate Homeaglow accounts, resulting in two active memberships and two Membership Fee (MF) charges each cycle. The customer may or may not realize they're paying twice: sometimes they contact us confused about an unrecognized charge, sometimes they've never noticed at all.</a:t>
            </a:r>
            <a:endParaRPr/>
          </a:p>
        </p:txBody>
      </p:sp>
      <p:sp>
        <p:nvSpPr>
          <p:cNvPr id="484" name="Google Shape;48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4" name="Google Shape;51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duplicate is the account the customer isn't using. That is the test: not which is older, and not which has more paid months. If the customer is actively using both, ask which they want to keep rather than deciding for them. If the duplicate doesn't surface on the obvious search, ask for identifying information (phone number, email address, and the card used) and search on those. "I can't find a second account" is not a conclusion until you have asked. This article assumes both accounts have a triggered FC. If one account has an active FC and the other holds an unused Legacy DHJ voucher with no FC ever triggered, the refund-or-free-months choice does not apply: refund the voucher and invalidate it. The customer paid a voucher price, not a membership fee, so there's no membership on that account for a free month to extend. Refundable only within 1 year of purchase. Why this matters: it's an account-management issue with a real financial impact, not a service failure or a customer mistake. Don't apologize as if something went wrong with their cleaning, and don't treat the customer as though they should have caught it. The job: stop the duplicate charges going forward, then make the customer whole in whichever form they prefer.</a:t>
            </a:r>
            <a:endParaRPr/>
          </a:p>
        </p:txBody>
      </p:sp>
      <p:sp>
        <p:nvSpPr>
          <p:cNvPr id="515" name="Google Shape;51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 name="Google Shape;543;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IMPORTANT: before you touch anything on the ticket, check whether the duplicate account is associated with Thumbtack. Thumbtack customers have their own handling process. How to check: Legacy CRM &gt; View &gt; Flag &gt; look for project_thumbtack. If the flag is present: reassign the ticket to the Thumbtack queue, and stop. If not: continue. Step 1, confirm the duplicate and stop it from recurring: cancel the FC membership on the duplicate account immediately, regardless of which branch applies; it stops a third charge while you sort out the rest. Cancel any upcoming appointments or recurring cleaning plan on the duplicate account too, unless the customer has given you a reason to keep them. Leave an internal note on both accounts with the ticket link or C ID of the duplicate/main account. Steps 2–3: whether the customer is paying two MFs, unaware and not contesting, or actively contesting, present the choice: refund the duplicate charges, or apply them as free months on the main account (max 3), adjusting the MCT. If they contest and choose free months, add 1 bonus month on top as a goodwill gesture; if total paid months reach 6, explain they've effectively fulfilled the MCT. If they choose a refund: no bonus month. Customer insists on a refund and rejects free months: refund the duplicate within 120 days; beyond 120 days only if the duplicate was caused by a system/agent error. Why the asymmetry: a free month costs Homeaglow far less than a refund, so the goodwill gesture comes only with the cheaper option. Tiering: count the customer's history across both accounts wherever it matters (e.g. lockout customer category): 22 paid months and 8 jobs split across two accounts = Very High-Value.</a:t>
            </a:r>
            <a:endParaRPr/>
          </a:p>
        </p:txBody>
      </p:sp>
      <p:sp>
        <p:nvSpPr>
          <p:cNvPr id="544" name="Google Shape;544;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 name="Google Shape;57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574" name="Google Shape;57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5" name="Google Shape;60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duplicate account. Give trainees a few minutes to review it on their own, then work through it together. 1) Which account is the duplicate (the one not being used)? Is there a project_thumbtack flag? Do both accounts have a triggered FC, or is one an unused DHJ voucher? 2) What actions are you going to take? Cancel the duplicate FC and any upcoming jobs/RC, leave internal notes on both accounts, then offer a refund (within 120 days) or free months (max 3, +1 bonus if contesting). 3) 5-minute writing challenge: each trainee writes the reply offering the choice. Read a few aloud and compare. Then open the floor for questions.</a:t>
            </a:r>
            <a:endParaRPr/>
          </a:p>
        </p:txBody>
      </p:sp>
      <p:sp>
        <p:nvSpPr>
          <p:cNvPr id="606" name="Google Shape;60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 MF Charges. Category: Retention and Membership Cancellation. Bulk charges happen when a customer's ForeverClean (FC) monthly fee has been overdue for multiple billing cycles, and a payment attempt finally goes through. Instead of billing one overdue month at a time, the system charges all the past-due months in a single transaction.</a:t>
            </a:r>
            <a:endParaRPr/>
          </a:p>
        </p:txBody>
      </p:sp>
      <p:sp>
        <p:nvSpPr>
          <p:cNvPr id="639" name="Google Shape;639;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Bulk charges happen when a customer's ForeverClean (FC) monthly fee has been overdue for multiple billing cycles, and a payment attempt finally goes through. Instead of billing one overdue month at a time, the system charges all the past-due months in a single transaction. The customer ends up seeing several MF charges posted on the same day or within the same month: each one for a different month they missed, not a duplicate of the same charge. Screenshot (sample Payment history): four $59 MF charges on Oct 1, each with a different foreverclean_paid_through date (1/27, 2/27, 3/27, 4/27): four missed months, not duplicates. This applies to both DHJ and FCF memberships. Since September 12, 2024, the system no longer auto-issues free months to true up overdue accounts, so the proactive true-up (Branch A) falls to agents. A wall of same-day charges reads as a billing error to the customer, even when every dollar was owed. Your job is to figure out whether the customer got real value for those months (using the service, or didn't know they were billed) and let that drive how much you fix. Three reasons it reaches you: A) FC overdue, but that's not why C wrote in; B) FC already cancelled and C wants a refund; C) FC active and C wants to cancel because of the bulk charge.</a:t>
            </a:r>
            <a:endParaRPr/>
          </a:p>
        </p:txBody>
      </p:sp>
      <p:sp>
        <p:nvSpPr>
          <p:cNvPr id="670" name="Google Shape;670;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1" name="Shape 701"/>
        <p:cNvGrpSpPr/>
        <p:nvPr/>
      </p:nvGrpSpPr>
      <p:grpSpPr>
        <a:xfrm>
          <a:off x="0" y="0"/>
          <a:ext cx="0" cy="0"/>
          <a:chOff x="0" y="0"/>
          <a:chExt cx="0" cy="0"/>
        </a:xfrm>
      </p:grpSpPr>
      <p:sp>
        <p:nvSpPr>
          <p:cNvPr id="702" name="Google Shape;702;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3" name="Google Shape;703;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Branch A: FC is overdue, but that's not why the customer's writing in. Pure housekeeping: you spotted an overdue FC while working an unrelated ticket, and you want to head off a bulk charge. Overdue by 1 MF, next charge due in 7 days or less: issue 1 free month so the customer doesn't get hit with two MF charges close together. Overdue by 1 MF, next charge more than 7 days out: no action needed. Overdue by 2+ MFs: issue free months/weeks to bring the paid-through date current. "Current" means current as of the billing anchor, not as of today. MF billing runs on a fixed day of the month, so true-up months move the paid-through date to the last missed anchor; they don't stretch to cover the gap between that anchor and today. Worked example: today is Aug 24. MF bills on the 10th. The customer is overdue by 2 months (the July 10 and Aug 10 charges failed). Paid-through is currently June 10. Add 2 free months: paid-through moves to Aug 10, next MF due Sept 10.</a:t>
            </a:r>
            <a:endParaRPr/>
          </a:p>
        </p:txBody>
      </p:sp>
      <p:sp>
        <p:nvSpPr>
          <p:cNvPr id="704" name="Google Shape;704;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6" name="Shape 726"/>
        <p:cNvGrpSpPr/>
        <p:nvPr/>
      </p:nvGrpSpPr>
      <p:grpSpPr>
        <a:xfrm>
          <a:off x="0" y="0"/>
          <a:ext cx="0" cy="0"/>
          <a:chOff x="0" y="0"/>
          <a:chExt cx="0" cy="0"/>
        </a:xfrm>
      </p:grpSpPr>
      <p:sp>
        <p:nvSpPr>
          <p:cNvPr id="727" name="Google Shape;72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8" name="Google Shape;728;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B: ForeverClean is already cancelled, and the customer wants a refund for the bulk charge. This is just the standard refund policy, nothing bulk-charge-specific: unused MF charges beyond MCT, made within the past 120 days, are refundable. See MF &amp; ETF Refund Requests for the full nuance (system-error exceptions, high-dispute-risk overrides, etc.). TRAINER: the button jumps to the "MF refunds by root cause" table.</a:t>
            </a:r>
            <a:endParaRPr/>
          </a:p>
        </p:txBody>
      </p:sp>
      <p:sp>
        <p:nvSpPr>
          <p:cNvPr id="729" name="Google Shape;729;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0" name="Google Shape;74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C: FC is still active, and the bulk charge is why the customer wants to cancel. First, check whether the account is still overdue even after the bulk charge landed, then check MCT status, because that determines whether you're in save mode or exit mode. Beyond MCT: the ETF does not apply; the customer is free to leave. The only question is whether it's worth trying to keep them and what they're owed either way. The free-month offer isn't a discount: it gives back value for months they already paid for and can't use anymore. The $20 credit is a separate, bulk-charge-specific incentive to get them back in for a cleaning. Not retainable: cancel FC. If the customer has a refund request, follow the standard refund policy (MF &amp; ETF Refund Requests). Within MCT: the ETF applies, and the retention attempt happens first: offer free months equal to the unused bulk MF charges, explain the FC/ETF terms, and tailor further if other pain points exist (e.g. a cost complaint: reduce the MF + free months; PCQ: add a voucher + resolution). TRAINER: click "C responds to the offer" to go to the next slide (did C accept or not).</a:t>
            </a:r>
            <a:endParaRPr/>
          </a:p>
        </p:txBody>
      </p:sp>
      <p:sp>
        <p:nvSpPr>
          <p:cNvPr id="741" name="Google Shape;74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Within MCT, after the retention attempt. Did the customer accept the offer? Yes: acknowledge and apply the offers if they haven't been issued yet. No: FCF customers who haven't had a first completed cleaning have no ETF at all (FCF's ETF only kicks in after the first completed cleaning): cancel FC. For everyone else, reduce the MCT or the ETF, whichever is most cost-effective for the customer. MCT reduction: up to 2 months off the original MCT, and only when it's cheaper than a reduced ETF. ETF reduction: apply the unused bulk MFs to the ETF. If the paid MFs are less than the ETF, reduce the ETF by the paid-unused-MF amount; if the paid MFs are equal to or more than the ETF, waive the ETF and cancel FC. Worked example: the customer has 1 month left on MCT, owes a $150 ETF, and has $100 in unused bulk MFs. ETF credit path: $100 credit, $50 ETF still owed. MCT reduction path: reduce the last month, MCT complete, ETF waived, $0 owed. MCT reduction wins here. Run this comparison whenever the customer is close to the end of their term; don't default to the ETF credit just because it's the more familiar move.</a:t>
            </a:r>
            <a:endParaRPr/>
          </a:p>
        </p:txBody>
      </p:sp>
      <p:sp>
        <p:nvSpPr>
          <p:cNvPr id="769" name="Google Shape;769;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5" name="Google Shape;805;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806" name="Google Shape;806;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5" name="Shape 835"/>
        <p:cNvGrpSpPr/>
        <p:nvPr/>
      </p:nvGrpSpPr>
      <p:grpSpPr>
        <a:xfrm>
          <a:off x="0" y="0"/>
          <a:ext cx="0" cy="0"/>
          <a:chOff x="0" y="0"/>
          <a:chExt cx="0" cy="0"/>
        </a:xfrm>
      </p:grpSpPr>
      <p:sp>
        <p:nvSpPr>
          <p:cNvPr id="836" name="Google Shape;836;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7" name="Google Shape;837;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bulk MF charge (or an overdue FC). Give trainees a few minutes to review it on their own, then work through it together. 1) Which branch is it: A (overdue, not why C wrote in), B (FC already cancelled, wants a refund) or C (FC active, wants to cancel because of the bulk charge)? Is the account still overdue? Within or beyond MCT? 2) What actions are you going to take? Branch A: true up to the last missed anchor. Branch B: standard refund policy. Branch C: beyond MCT, free months for the paid unusable months + $20 credit; within MCT, retention first, then the cheaper of an ETF credit or an MCT reduction (FCF with no first cleaning: no ETF). 3) 5-minute writing challenge: each trainee explains the charges and the offer. Read a few aloud and compare. Then open the floor for questions.</a:t>
            </a:r>
            <a:endParaRPr/>
          </a:p>
        </p:txBody>
      </p:sp>
      <p:sp>
        <p:nvSpPr>
          <p:cNvPr id="838" name="Google Shape;838;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8" name="Shape 868"/>
        <p:cNvGrpSpPr/>
        <p:nvPr/>
      </p:nvGrpSpPr>
      <p:grpSpPr>
        <a:xfrm>
          <a:off x="0" y="0"/>
          <a:ext cx="0" cy="0"/>
          <a:chOff x="0" y="0"/>
          <a:chExt cx="0" cy="0"/>
        </a:xfrm>
      </p:grpSpPr>
      <p:sp>
        <p:nvSpPr>
          <p:cNvPr id="869" name="Google Shape;869;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0" name="Google Shape;870;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Customer Agreed to Pay the ETF, But the Charge Was Declined. Category: Retention and Membership Cancellation. A customer agrees to cancel their FC membership and pay the associated ETF, but when we attempt to charge it, the payment is declined, so the membership remains active. The cancellation isn't actually complete yet: the membership technically remains active until the ETF successfully processes.</a:t>
            </a:r>
            <a:endParaRPr/>
          </a:p>
        </p:txBody>
      </p:sp>
      <p:sp>
        <p:nvSpPr>
          <p:cNvPr id="871" name="Google Shape;871;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0" name="Shape 900"/>
        <p:cNvGrpSpPr/>
        <p:nvPr/>
      </p:nvGrpSpPr>
      <p:grpSpPr>
        <a:xfrm>
          <a:off x="0" y="0"/>
          <a:ext cx="0" cy="0"/>
          <a:chOff x="0" y="0"/>
          <a:chExt cx="0" cy="0"/>
        </a:xfrm>
      </p:grpSpPr>
      <p:sp>
        <p:nvSpPr>
          <p:cNvPr id="901" name="Google Shape;901;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2" name="Google Shape;902;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 customer agrees to cancel their FC membership and pay the associated ETF, but when we attempt to charge it, the payment is declined, so the membership remains active. The cancellation isn't actually complete yet: the membership technically remains active until the ETF successfully processes. Why this matters: if we don't proactively manage this, the customer can end up blindsided by a monthly fee they thought was already cancelled. They agreed to leave, not to keep paying. The goal is to protect the customer from that surprise while still giving the payment a real chance to go through.</a:t>
            </a:r>
            <a:endParaRPr/>
          </a:p>
        </p:txBody>
      </p:sp>
      <p:sp>
        <p:nvSpPr>
          <p:cNvPr id="903" name="Google Shape;903;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1) Tell the customer their FC membership is still active since the ETF was declined, and that they'll be charged another MF on the next billing date if the ETF charge doesn't succeed before then. 2) Set a Timed Reminder for at least 3 days before that next MF date, so there's time to retry the ETF charge before the customer risks another membership fee. 3) Once the TR triggers, attempt the cancellation and ETF charge again. If it succeeds: confirm the cancellation with the customer and close out the ticket. Don't leave it assumed: the customer agreed to leave because they expected this to be handled, so a quick confirmation closes the loop. If it still fails: consider calling the customer (if within business hours) to explain that the cancellation hasn't completed yet due to the declined payment. You can consider issuing a free week or two as a goodwill gesture, but be explicit with the customer about when their next MF will be charged if the membership stays active in the meantime.</a:t>
            </a:r>
            <a:endParaRPr/>
          </a:p>
        </p:txBody>
      </p:sp>
      <p:sp>
        <p:nvSpPr>
          <p:cNvPr id="931" name="Google Shape;93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each question and let trainees answer before revealing. Each click reveals the next answer.</a:t>
            </a:r>
            <a:endParaRPr/>
          </a:p>
        </p:txBody>
      </p:sp>
      <p:sp>
        <p:nvSpPr>
          <p:cNvPr id="961" name="Google Shape;961;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TRAINER: share a live ticket where the ETF charge was declined after the customer agreed to cancel. Give trainees a few minutes to review it on their own, then work through it together. 1) Is the cancellation complete? 2) What actions are you going to take? Tell C FC is still active and the next MF will charge if the ETF doesn't succeed first; set a TR at least 3 days before the next MF; retry; confirm and close, or call and consider a free week or two. 3) 5-minute writing challenge: each trainee writes the message to C. Read a few aloud and compare. Then open the floor for questions.</a:t>
            </a:r>
            <a:endParaRPr/>
          </a:p>
        </p:txBody>
      </p:sp>
      <p:sp>
        <p:nvSpPr>
          <p:cNvPr id="994" name="Google Shape;994;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5" name="Shape 1025"/>
        <p:cNvGrpSpPr/>
        <p:nvPr/>
      </p:nvGrpSpPr>
      <p:grpSpPr>
        <a:xfrm>
          <a:off x="0" y="0"/>
          <a:ext cx="0" cy="0"/>
          <a:chOff x="0" y="0"/>
          <a:chExt cx="0" cy="0"/>
        </a:xfrm>
      </p:grpSpPr>
      <p:sp>
        <p:nvSpPr>
          <p:cNvPr id="1026" name="Google Shape;1026;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7" name="Google Shape;1027;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Failed Job Charge or Overdue Membership Fee: What to Check First. Category: Retention and Membership Cancellation. This covers what to do the moment you notice a failed job charge or an overdue membership fee on an account, whether that's why the customer contacted you, or something you happened to spot while working on a different issue.</a:t>
            </a:r>
            <a:endParaRPr/>
          </a:p>
        </p:txBody>
      </p:sp>
      <p:sp>
        <p:nvSpPr>
          <p:cNvPr id="1028" name="Google Shape;1028;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7" name="Shape 1057"/>
        <p:cNvGrpSpPr/>
        <p:nvPr/>
      </p:nvGrpSpPr>
      <p:grpSpPr>
        <a:xfrm>
          <a:off x="0" y="0"/>
          <a:ext cx="0" cy="0"/>
          <a:chOff x="0" y="0"/>
          <a:chExt cx="0" cy="0"/>
        </a:xfrm>
      </p:grpSpPr>
      <p:sp>
        <p:nvSpPr>
          <p:cNvPr id="1058" name="Google Shape;1058;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9" name="Google Shape;1059;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This covers what to do the moment you notice a failed job charge or an overdue membership fee on an account, whether that's why the customer contacted you, or something you happened to spot while working on a different issue entirely. Why this matters: the instinct when you spot money owed is to fix it: ask the customer to update their card, get the charge current. But doing that at the wrong moment can make the interaction feel like we're chasing payment instead of taking care of the customer, especially if there's already an unresolved complaint on the account. Knowing when to raise it, and the one case where you should raise it proactively, matters more than the mechanics of fixing the charge itself. For how many overdue MFs to bring current, when to issue free months, and cancellation-intent branching, see Understanding Offer Logic &gt; Free Months (Job 2). This article is the "should I even bring this up right now" gate that comes before that.</a:t>
            </a:r>
            <a:endParaRPr/>
          </a:p>
        </p:txBody>
      </p:sp>
      <p:sp>
        <p:nvSpPr>
          <p:cNvPr id="1060" name="Google Shape;1060;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Rule 1: don't chase payment while an issue is still open. If the customer has an unresolved issue and a failed job charge or overdue MF, don't ask them to update their card so we can collect what's owed until the issue itself is resolved. Example: a customer raises a PCQ complaint, and you notice a failed job charge while investigating. Handle the PCQ first. Only bring up the card/payment once the PCQ is actually resolved. "Resolved" means one of two things: either we did what the customer asked, or the customer explicitly accepted our resolution. If neither has happened, treat it as still open: don't bring up the card, and don't send the link to update it. Rule 2: an upcoming appointment with an invalid card is the one exception. If the customer has an upcoming appointment and an invalid card on file, proactively advise them to update their card, otherwise they risk that appointment getting cancelled. This applies regardless of whether Rule 1's unresolved-issue condition is also in play: protecting the upcoming job takes priority.</a:t>
            </a:r>
            <a:endParaRPr/>
          </a:p>
        </p:txBody>
      </p:sp>
      <p:sp>
        <p:nvSpPr>
          <p:cNvPr id="1085" name="Google Shape;1085;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each question and let trainees answer before revealing. Each click reveals the next answer.</a:t>
            </a:r>
            <a:endParaRPr/>
          </a:p>
        </p:txBody>
      </p:sp>
      <p:sp>
        <p:nvSpPr>
          <p:cNvPr id="1118" name="Google Shape;1118;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8" name="Shape 1148"/>
        <p:cNvGrpSpPr/>
        <p:nvPr/>
      </p:nvGrpSpPr>
      <p:grpSpPr>
        <a:xfrm>
          <a:off x="0" y="0"/>
          <a:ext cx="0" cy="0"/>
          <a:chOff x="0" y="0"/>
          <a:chExt cx="0" cy="0"/>
        </a:xfrm>
      </p:grpSpPr>
      <p:sp>
        <p:nvSpPr>
          <p:cNvPr id="1149" name="Google Shape;1149;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0" name="Google Shape;1150;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TRAINER: share a live ticket with a failed job charge or overdue MF (ideally alongside another issue). Give trainees a few minutes to review it on their own, then work through it together. 1) Is there an upcoming appointment with an invalid card? If so, advise C to update it now. 2) Is there an unresolved issue? Resolved means we did what C asked, or C explicitly accepted our resolution. 3) What actions are you going to take, and when do you raise the payment? Then open the floor for questions.</a:t>
            </a:r>
            <a:endParaRPr/>
          </a:p>
        </p:txBody>
      </p:sp>
      <p:sp>
        <p:nvSpPr>
          <p:cNvPr id="1151" name="Google Shape;1151;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2" name="Shape 1182"/>
        <p:cNvGrpSpPr/>
        <p:nvPr/>
      </p:nvGrpSpPr>
      <p:grpSpPr>
        <a:xfrm>
          <a:off x="0" y="0"/>
          <a:ext cx="0" cy="0"/>
          <a:chOff x="0" y="0"/>
          <a:chExt cx="0" cy="0"/>
        </a:xfrm>
      </p:grpSpPr>
      <p:sp>
        <p:nvSpPr>
          <p:cNvPr id="1183" name="Google Shape;118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4" name="Google Shape;1184;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Graceful Closure: When the Answer Is No. Category: Retention and Membership Cancellation. This page inherits the voice standards defined in Care Philosophy &amp; Communication Standards. Graceful Closure is what you do once a customer has heard your final answer, declined it, and keeps pushing anyway. It's the last step in a resolution, not an easy out for an uncomfortable conversation, and not something you reach for the moment a customer pushes back once.</a:t>
            </a:r>
            <a:endParaRPr/>
          </a:p>
        </p:txBody>
      </p:sp>
      <p:sp>
        <p:nvSpPr>
          <p:cNvPr id="1185" name="Google Shape;1185;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Without a defined last step, conversations go one of two bad ways: agents keep negotiating indefinitely (which erodes the offers we've made policy-wide and turns every ticket into a precedent), or they cut the conversation short before understanding what the customer wants, mistaking silence or a declined offer for "nothing left to try." Graceful Closure gives agents a clean, respectful way to end the conversation, but only after the entry gates are cleared, because once you're in it, you can't reopen or add concessions (the No Re-Opening Rule). That's what makes it a one-way door. Policy: if the customer declines our resolution and continues to insist, we move to Graceful Closure: clearly and calmly restate the final position, acknowledge the customer's perspective and disappointment, avoid repetitive back-and-forth, set expectations respectfully, and close the conversation professionally and confidently.</a:t>
            </a:r>
            <a:endParaRPr/>
          </a:p>
        </p:txBody>
      </p:sp>
      <p:sp>
        <p:nvSpPr>
          <p:cNvPr id="1217" name="Google Shape;1217;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2" name="Shape 1242"/>
        <p:cNvGrpSpPr/>
        <p:nvPr/>
      </p:nvGrpSpPr>
      <p:grpSpPr>
        <a:xfrm>
          <a:off x="0" y="0"/>
          <a:ext cx="0" cy="0"/>
          <a:chOff x="0" y="0"/>
          <a:chExt cx="0" cy="0"/>
        </a:xfrm>
      </p:grpSpPr>
      <p:sp>
        <p:nvSpPr>
          <p:cNvPr id="1243" name="Google Shape;1243;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4" name="Google Shape;1244;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yourself two questions first. 1) Have I actually offered everything I could here based on the root cause? If not, go back and make the right offer first: check Understanding Offer Logic if you're not sure what that is. 2) Do I actually know why this customer wants to cancel or won't take the offer? If not, you're not done digging: go back and ask, don't close. The one that trips people up the most: if a customer doesn't answer your question, that doesn't mean you've run out of options; it means you don't have enough information yet. Silence isn't a green light to move to Graceful Closure and close the ticket. It's a sign to ask again, in a different way.</a:t>
            </a:r>
            <a:endParaRPr/>
          </a:p>
        </p:txBody>
      </p:sp>
      <p:sp>
        <p:nvSpPr>
          <p:cNvPr id="1245" name="Google Shape;1245;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3" name="Shape 1273"/>
        <p:cNvGrpSpPr/>
        <p:nvPr/>
      </p:nvGrpSpPr>
      <p:grpSpPr>
        <a:xfrm>
          <a:off x="0" y="0"/>
          <a:ext cx="0" cy="0"/>
          <a:chOff x="0" y="0"/>
          <a:chExt cx="0" cy="0"/>
        </a:xfrm>
      </p:grpSpPr>
      <p:sp>
        <p:nvSpPr>
          <p:cNvPr id="1274" name="Google Shape;1274;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5" name="Google Shape;1275;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Step 1, Clarify: state the final decision clearly. Be direct, neutral and unambiguous: "I'm not able to waive the cancellation fee." Step 2, Educate: explain the policy and the next steps. "This fee exists to ensure the cleaner is paid fairly for the heavily discounted first cleaning in case the membership is canceled early. Your membership will remain active and the monthly fees will continue unless it's cancelled." Step 3, Offer: present approved options (pre-approved recovery, retention, or alternative solutions). "While I can't fully waive the fee, since you have already paid for [X] months of membership, I can apply those payments as a credit against the Early Termination Fee. This reduces your cancellation fee from $105 to [reduced amount], so you aren't paying the full fee on top of what you've already spent." Step 4, Protect: close professionally and keep boundaries. Signal the conversation is complete while acknowledging the customer's feelings; stand firm if the customer repeats the same concern without new information. "I understand this isn't the outcome you were hoping for. If there's nothing else I can assist with, I'll consider this conversation complete on my end." or "I understand this isn't the outcome you were hoping for. We've reviewed all available options, and this is the final resolution we can provide." Customers may still feel disappointed; that's okay when the decision is correct and clearly communicated.</a:t>
            </a:r>
            <a:endParaRPr/>
          </a:p>
        </p:txBody>
      </p:sp>
      <p:sp>
        <p:nvSpPr>
          <p:cNvPr id="1276" name="Google Shape;1276;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4" name="Shape 1314"/>
        <p:cNvGrpSpPr/>
        <p:nvPr/>
      </p:nvGrpSpPr>
      <p:grpSpPr>
        <a:xfrm>
          <a:off x="0" y="0"/>
          <a:ext cx="0" cy="0"/>
          <a:chOff x="0" y="0"/>
          <a:chExt cx="0" cy="0"/>
        </a:xfrm>
      </p:grpSpPr>
      <p:sp>
        <p:nvSpPr>
          <p:cNvPr id="1315" name="Google Shape;1315;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6" name="Google Shape;1316;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Once all final options have been presented: Do not introduce new concessions: adding benefits/exceptions in response to repeated requests creates an expectation that agents will always offer more, undermining policy and fairness. C: "Can you also refund last month's charge?" Agent: "We've already reviewed all available options, and we cannot provide additional refunds beyond what was offered." Do not reframe repeatedly: re-explaining the same decision in different words can confuse the customer, look inconsistent, and prolong the conversation. C: "But why not just waive the fee?" Agent: "Our company does not allow waiving this fee to make sure cleaners are paid fairly. This is the final resolution." Do not re-enter the negotiation loop: continued bargaining after closure frustrates both sides and leads to inconsistent outcomes. C: "I still want a refund. Can you make an exception?" Agent: "We've looked at all the options we can offer, and this is the final resolution. I can't make any more changes." Two Attempts Rule: make two clear statements of closure, including the offered options and final resolution. If the customer repeats the same concern without new information after the second attempt, the ticket may be marked complete.</a:t>
            </a:r>
            <a:endParaRPr/>
          </a:p>
        </p:txBody>
      </p:sp>
      <p:sp>
        <p:nvSpPr>
          <p:cNvPr id="1317" name="Google Shape;1317;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8" name="Shape 1328"/>
        <p:cNvGrpSpPr/>
        <p:nvPr/>
      </p:nvGrpSpPr>
      <p:grpSpPr>
        <a:xfrm>
          <a:off x="0" y="0"/>
          <a:ext cx="0" cy="0"/>
          <a:chOff x="0" y="0"/>
          <a:chExt cx="0" cy="0"/>
        </a:xfrm>
      </p:grpSpPr>
      <p:sp>
        <p:nvSpPr>
          <p:cNvPr id="1329" name="Google Shape;1329;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0" name="Google Shape;1330;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The No Re-Opening Rule applies to a correctly reached closure. It doesn't protect a closure invoked in error. If a previous agent moved to Graceful Closure without exhausting options, or before the customer's underlying concern was understood, correcting it isn't re-opening: it's fixing a wrong resolution. Prior agent closed but a valid retention/exit offer was never presented: go back and offer it now (not a new concession, the correct one that was missed). Prior agent closed after the customer didn't answer a probing question: re-open the investigation, probe again, then follow normal offer logic before considering closure again. Prior agent closed correctly and the customer is simply pushing again: stand firm. Material legal threat (Attorney General, cease-and-desist, class-action or litigation threats, small claims threats; see ETF Waivers) at any point, even after closure: stop Graceful Closure immediately. If C wants to cancel and be refunded: do it, no retention attempt, no further steps. Charges older than 120 days need Legal &amp; Compliance review: raise it to your TL. Charges within 120 days can be refunded directly. ETF waiver reasons override Graceful Closure too: if C states a qualifying ETF waiver reason at any point, stop and cancel under it.</a:t>
            </a:r>
            <a:endParaRPr/>
          </a:p>
        </p:txBody>
      </p:sp>
      <p:sp>
        <p:nvSpPr>
          <p:cNvPr id="1331" name="Google Shape;1331;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7" name="Shape 1357"/>
        <p:cNvGrpSpPr/>
        <p:nvPr/>
      </p:nvGrpSpPr>
      <p:grpSpPr>
        <a:xfrm>
          <a:off x="0" y="0"/>
          <a:ext cx="0" cy="0"/>
          <a:chOff x="0" y="0"/>
          <a:chExt cx="0" cy="0"/>
        </a:xfrm>
      </p:grpSpPr>
      <p:sp>
        <p:nvSpPr>
          <p:cNvPr id="1358" name="Google Shape;1358;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9" name="Google Shape;1359;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Ask each question and let trainees answer before revealing. Each click reveals the next answer.</a:t>
            </a:r>
            <a:endParaRPr/>
          </a:p>
        </p:txBody>
      </p:sp>
      <p:sp>
        <p:nvSpPr>
          <p:cNvPr id="1360" name="Google Shape;1360;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0" name="Shape 1390"/>
        <p:cNvGrpSpPr/>
        <p:nvPr/>
      </p:nvGrpSpPr>
      <p:grpSpPr>
        <a:xfrm>
          <a:off x="0" y="0"/>
          <a:ext cx="0" cy="0"/>
          <a:chOff x="0" y="0"/>
          <a:chExt cx="0" cy="0"/>
        </a:xfrm>
      </p:grpSpPr>
      <p:sp>
        <p:nvSpPr>
          <p:cNvPr id="1391" name="Google Shape;1391;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2" name="Google Shape;1392;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TRAINER: share a live ticket where the customer keeps pushing after a final answer. Give trainees a few minutes to review it on their own, then work through it together. 1) Are both entry gates cleared (everything offered based on the root cause; the reason for declining is known)? 2) Which step are you on: Clarify, Educate, Offer, Protect? Check the No Re-Opening Rule, the Two Attempts Rule, and whether a legal threat or ETF waiver reason overrides closure. 3) 5-minute writing challenge: each trainee writes the closure message. Read a few aloud and compare. Then open the floor for questions.</a:t>
            </a:r>
            <a:endParaRPr/>
          </a:p>
        </p:txBody>
      </p:sp>
      <p:sp>
        <p:nvSpPr>
          <p:cNvPr id="1393" name="Google Shape;1393;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4" name="Shape 1424"/>
        <p:cNvGrpSpPr/>
        <p:nvPr/>
      </p:nvGrpSpPr>
      <p:grpSpPr>
        <a:xfrm>
          <a:off x="0" y="0"/>
          <a:ext cx="0" cy="0"/>
          <a:chOff x="0" y="0"/>
          <a:chExt cx="0" cy="0"/>
        </a:xfrm>
      </p:grpSpPr>
      <p:sp>
        <p:nvSpPr>
          <p:cNvPr id="1425" name="Google Shape;1425;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6" name="Google Shape;1426;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MF &amp; ETF Refund Requests (root cause drives the decision; eligible means free months first if FC is active and C is retainable; the MCT test and the 120-day/disputable rule; billing errors and agent errors are refunded directly; high-risk and hardship cases). Customer Abusive Behavior (intent, target, tone; no retention; neutral terms; only an ETF or MCT reduction where warranted). Duplicate Accounts (the duplicate is the one not being used; Thumbtack flag first; cancel the duplicate FC; refund within 120 days or free months, max 3, +1 bonus if contesting). Bulk Charges (each charge is a different missed month; Branch A true-up to the last anchor; Branch B standard refund policy; Branch C save or exit mode by MCT, compare ETF credit vs MCT reduction).</a:t>
            </a:r>
            <a:endParaRPr/>
          </a:p>
        </p:txBody>
      </p:sp>
      <p:sp>
        <p:nvSpPr>
          <p:cNvPr id="1427" name="Google Shape;1427;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37.xml"/><Relationship Id="rId11" Type="http://schemas.openxmlformats.org/officeDocument/2006/relationships/slide" Target="/ppt/slides/slide19.xml"/><Relationship Id="rId22" Type="http://schemas.openxmlformats.org/officeDocument/2006/relationships/slide" Target="/ppt/slides/slide42.xml"/><Relationship Id="rId10" Type="http://schemas.openxmlformats.org/officeDocument/2006/relationships/slide" Target="/ppt/slides/slide19.xml"/><Relationship Id="rId21" Type="http://schemas.openxmlformats.org/officeDocument/2006/relationships/slide" Target="/ppt/slides/slide42.xml"/><Relationship Id="rId13" Type="http://schemas.openxmlformats.org/officeDocument/2006/relationships/slide" Target="/ppt/slides/slide24.xml"/><Relationship Id="rId12" Type="http://schemas.openxmlformats.org/officeDocument/2006/relationships/slide" Target="/ppt/slides/slide24.xml"/><Relationship Id="rId23" Type="http://schemas.openxmlformats.org/officeDocument/2006/relationships/slide" Target="/ppt/slides/slide42.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9.xml"/><Relationship Id="rId15" Type="http://schemas.openxmlformats.org/officeDocument/2006/relationships/slide" Target="/ppt/slides/slide32.xml"/><Relationship Id="rId14" Type="http://schemas.openxmlformats.org/officeDocument/2006/relationships/slide" Target="/ppt/slides/slide24.xml"/><Relationship Id="rId17" Type="http://schemas.openxmlformats.org/officeDocument/2006/relationships/slide" Target="/ppt/slides/slide32.xml"/><Relationship Id="rId16" Type="http://schemas.openxmlformats.org/officeDocument/2006/relationships/slide" Target="/ppt/slides/slide32.xml"/><Relationship Id="rId5" Type="http://schemas.openxmlformats.org/officeDocument/2006/relationships/slide" Target="/ppt/slides/slide3.xml"/><Relationship Id="rId19" Type="http://schemas.openxmlformats.org/officeDocument/2006/relationships/slide" Target="/ppt/slides/slide37.xml"/><Relationship Id="rId6" Type="http://schemas.openxmlformats.org/officeDocument/2006/relationships/slide" Target="/ppt/slides/slide13.xml"/><Relationship Id="rId18" Type="http://schemas.openxmlformats.org/officeDocument/2006/relationships/slide" Target="/ppt/slides/slide37.xml"/><Relationship Id="rId7" Type="http://schemas.openxmlformats.org/officeDocument/2006/relationships/slide" Target="/ppt/slides/slide13.xml"/><Relationship Id="rId8" Type="http://schemas.openxmlformats.org/officeDocument/2006/relationships/slide" Target="/ppt/slid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slide" Target="/ppt/slid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2.png"/><Relationship Id="rId5" Type="http://schemas.openxmlformats.org/officeDocument/2006/relationships/image" Target="../media/image22.png"/><Relationship Id="rId6"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3.png"/><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slide" Target="/ppt/slid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 Id="rId4"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29.png"/><Relationship Id="rId6"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3.png"/><Relationship Id="rId4"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png"/><Relationship Id="rId4"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2.png"/><Relationship Id="rId4" Type="http://schemas.openxmlformats.org/officeDocument/2006/relationships/image" Target="../media/image34.png"/><Relationship Id="rId5"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3.png"/><Relationship Id="rId4"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png"/><Relationship Id="rId4"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38.png"/><Relationship Id="rId4" Type="http://schemas.openxmlformats.org/officeDocument/2006/relationships/image" Target="../media/image36.png"/><Relationship Id="rId5" Type="http://schemas.openxmlformats.org/officeDocument/2006/relationships/image" Target="../media/image5.png"/><Relationship Id="rId6"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3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1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Refunds, Abuse,</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Duplicates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Bulk Charges</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MF and ETF refund requests, abusive customers, duplicate accounts and bulk MF charges.</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MF &amp; ETF Refund Requests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root cause drives the decision.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Customer Abusive Behavior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Protect the CP. No retention, a fair exit.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Duplicate Accounts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Stop the double charge, then make them whole.</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Bulk Charges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Several missed MFs charged on one day.</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5" name="Google Shape;55;p6">
            <a:hlinkClick action="ppaction://hlinksldjump" r:id="rId15"/>
          </p:cNvPr>
          <p:cNvSpPr/>
          <p:nvPr/>
        </p:nvSpPr>
        <p:spPr>
          <a:xfrm>
            <a:off x="4645152" y="129844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ETF Charge Declined</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 agreed to pay the ETF; the charge failed.</a:t>
            </a:r>
            <a:endParaRPr b="0" i="0" spc="0" sz="1300" u="none" cap="none" strike="noStrike">
              <a:solidFill>
                <a:schemeClr val="dk1"/>
              </a:solidFill>
              <a:latin typeface="Calibri"/>
              <a:ea typeface="Calibri"/>
              <a:cs typeface="Calibri"/>
              <a:sym typeface="Calibri"/>
            </a:endParaRPr>
          </a:p>
        </p:txBody>
      </p:sp>
      <p:sp>
        <p:nvSpPr>
          <p:cNvPr id="56" name="Google Shape;56;p6">
            <a:hlinkClick action="ppaction://hlinksldjump" r:id="rId16"/>
          </p:cNvPr>
          <p:cNvSpPr/>
          <p:nvPr/>
        </p:nvSpPr>
        <p:spPr>
          <a:xfrm>
            <a:off x="4736592"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7" name="Google Shape;57;p6">
            <a:hlinkClick action="ppaction://hlinksldjump" r:id="rId17"/>
          </p:cNvPr>
          <p:cNvSpPr/>
          <p:nvPr/>
        </p:nvSpPr>
        <p:spPr>
          <a:xfrm>
            <a:off x="8353044"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8" name="Google Shape;58;p6">
            <a:hlinkClick action="ppaction://hlinksldjump" r:id="rId18"/>
          </p:cNvPr>
          <p:cNvSpPr/>
          <p:nvPr/>
        </p:nvSpPr>
        <p:spPr>
          <a:xfrm>
            <a:off x="4645152" y="212140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Failed Charge or Overdue MF</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to check before raising the card.</a:t>
            </a:r>
            <a:endParaRPr b="0" i="0" spc="0" sz="1300" u="none" cap="none" strike="noStrike">
              <a:solidFill>
                <a:schemeClr val="dk1"/>
              </a:solidFill>
              <a:latin typeface="Calibri"/>
              <a:ea typeface="Calibri"/>
              <a:cs typeface="Calibri"/>
              <a:sym typeface="Calibri"/>
            </a:endParaRPr>
          </a:p>
        </p:txBody>
      </p:sp>
      <p:sp>
        <p:nvSpPr>
          <p:cNvPr id="59" name="Google Shape;59;p6">
            <a:hlinkClick action="ppaction://hlinksldjump" r:id="rId19"/>
          </p:cNvPr>
          <p:cNvSpPr/>
          <p:nvPr/>
        </p:nvSpPr>
        <p:spPr>
          <a:xfrm>
            <a:off x="4736592"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60" name="Google Shape;60;p6">
            <a:hlinkClick action="ppaction://hlinksldjump" r:id="rId20"/>
          </p:cNvPr>
          <p:cNvSpPr/>
          <p:nvPr/>
        </p:nvSpPr>
        <p:spPr>
          <a:xfrm>
            <a:off x="8353044"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1" name="Google Shape;61;p6">
            <a:hlinkClick action="ppaction://hlinksldjump" r:id="rId21"/>
          </p:cNvPr>
          <p:cNvSpPr/>
          <p:nvPr/>
        </p:nvSpPr>
        <p:spPr>
          <a:xfrm>
            <a:off x="4645152" y="2944368"/>
            <a:ext cx="4091940" cy="73152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Graceful Closure</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When the answer is no, and C keeps pushing.</a:t>
            </a:r>
            <a:endParaRPr b="0" i="0" spc="0" sz="1300" u="none" cap="none" strike="noStrike">
              <a:solidFill>
                <a:schemeClr val="dk1"/>
              </a:solidFill>
              <a:latin typeface="Calibri"/>
              <a:ea typeface="Calibri"/>
              <a:cs typeface="Calibri"/>
              <a:sym typeface="Calibri"/>
            </a:endParaRPr>
          </a:p>
        </p:txBody>
      </p:sp>
      <p:sp>
        <p:nvSpPr>
          <p:cNvPr id="62" name="Google Shape;62;p6">
            <a:hlinkClick action="ppaction://hlinksldjump" r:id="rId22"/>
          </p:cNvPr>
          <p:cNvSpPr/>
          <p:nvPr/>
        </p:nvSpPr>
        <p:spPr>
          <a:xfrm>
            <a:off x="4736592"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3" name="Google Shape;63;p6">
            <a:hlinkClick action="ppaction://hlinksldjump" r:id="rId23"/>
          </p:cNvPr>
          <p:cNvSpPr/>
          <p:nvPr/>
        </p:nvSpPr>
        <p:spPr>
          <a:xfrm>
            <a:off x="8353044"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MF &amp; ETF Refund Requests</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Refund requests for Monthly Fees and the Early Termination Fee.</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 root cause drives the decision</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Eligible doesn't mean cash: free months first</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MF refunds by root cause, and ETF refunds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Billing errors, high-risk and hardship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_pay.png" id="87" name="Google Shape;87;p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Refunds for MFs and the ETF regardless of FC status</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 name="Google Shape;105;p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06" name="Google Shape;106;p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Root cause decides</a:t>
            </a:r>
            <a:endParaRPr b="0" i="0" spc="0" sz="1200" u="none" cap="none" strike="noStrike">
              <a:solidFill>
                <a:schemeClr val="dk1"/>
              </a:solidFill>
              <a:latin typeface="Calibri"/>
              <a:ea typeface="Calibri"/>
              <a:cs typeface="Calibri"/>
              <a:sym typeface="Calibri"/>
            </a:endParaRPr>
          </a:p>
        </p:txBody>
      </p:sp>
      <p:sp>
        <p:nvSpPr>
          <p:cNvPr id="107" name="Google Shape;107;p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Never told about the membership vs. knew and forgot: same ask, different answer.</a:t>
            </a:r>
            <a:endParaRPr b="0" i="0" spc="0" sz="950" u="none" cap="none" strike="noStrike">
              <a:solidFill>
                <a:schemeClr val="dk1"/>
              </a:solidFill>
              <a:latin typeface="Calibri"/>
              <a:ea typeface="Calibri"/>
              <a:cs typeface="Calibri"/>
              <a:sym typeface="Calibri"/>
            </a:endParaRPr>
          </a:p>
        </p:txBody>
      </p:sp>
      <p:sp>
        <p:nvSpPr>
          <p:cNvPr id="108" name="Google Shape;108;p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 name="Google Shape;109;p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 name="Google Shape;110;p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1" name="Google Shape;111;p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request, no refund</a:t>
            </a:r>
            <a:endParaRPr b="0" i="0" spc="0" sz="1200" u="none" cap="none" strike="noStrike">
              <a:solidFill>
                <a:schemeClr val="dk1"/>
              </a:solidFill>
              <a:latin typeface="Calibri"/>
              <a:ea typeface="Calibri"/>
              <a:cs typeface="Calibri"/>
              <a:sym typeface="Calibri"/>
            </a:endParaRPr>
          </a:p>
        </p:txBody>
      </p:sp>
      <p:sp>
        <p:nvSpPr>
          <p:cNvPr id="112" name="Google Shape;112;p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 request can be implied. Contesting a charge to get it reversed counts.</a:t>
            </a:r>
            <a:endParaRPr b="0" i="0" spc="0" sz="950" u="none" cap="none" strike="noStrike">
              <a:solidFill>
                <a:schemeClr val="dk1"/>
              </a:solidFill>
              <a:latin typeface="Calibri"/>
              <a:ea typeface="Calibri"/>
              <a:cs typeface="Calibri"/>
              <a:sym typeface="Calibri"/>
            </a:endParaRPr>
          </a:p>
        </p:txBody>
      </p:sp>
      <p:sp>
        <p:nvSpPr>
          <p:cNvPr id="113" name="Google Shape;113;p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 name="Google Shape;114;p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5" name="Google Shape;115;p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6" name="Google Shape;116;p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Our error? Fix it</a:t>
            </a:r>
            <a:endParaRPr b="0" i="0" spc="0" sz="1200" u="none" cap="none" strike="noStrike">
              <a:solidFill>
                <a:schemeClr val="dk1"/>
              </a:solidFill>
              <a:latin typeface="Calibri"/>
              <a:ea typeface="Calibri"/>
              <a:cs typeface="Calibri"/>
              <a:sym typeface="Calibri"/>
            </a:endParaRPr>
          </a:p>
        </p:txBody>
      </p:sp>
      <p:sp>
        <p:nvSpPr>
          <p:cNvPr id="117" name="Google Shape;117;p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Duplicate or wrong charges: correct them without waiting to be asked.</a:t>
            </a:r>
            <a:endParaRPr b="0" i="0" spc="0" sz="950" u="none" cap="none" strike="noStrike">
              <a:solidFill>
                <a:schemeClr val="dk1"/>
              </a:solidFill>
              <a:latin typeface="Calibri"/>
              <a:ea typeface="Calibri"/>
              <a:cs typeface="Calibri"/>
              <a:sym typeface="Calibri"/>
            </a:endParaRPr>
          </a:p>
        </p:txBody>
      </p:sp>
      <p:sp>
        <p:nvSpPr>
          <p:cNvPr id="118" name="Google Shape;118;p8"/>
          <p:cNvSpPr/>
          <p:nvPr/>
        </p:nvSpPr>
        <p:spPr>
          <a:xfrm>
            <a:off x="411480" y="31089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9" name="Google Shape;119;p8"/>
          <p:cNvPicPr preferRelativeResize="0"/>
          <p:nvPr/>
        </p:nvPicPr>
        <p:blipFill rotWithShape="1">
          <a:blip r:embed="rId6">
            <a:alphaModFix/>
          </a:blip>
          <a:srcRect b="0" l="0" r="0" t="0"/>
          <a:stretch/>
        </p:blipFill>
        <p:spPr>
          <a:xfrm>
            <a:off x="566928" y="3255264"/>
            <a:ext cx="164592" cy="164592"/>
          </a:xfrm>
          <a:prstGeom prst="rect">
            <a:avLst/>
          </a:prstGeom>
          <a:noFill/>
          <a:ln>
            <a:noFill/>
          </a:ln>
        </p:spPr>
      </p:pic>
      <p:sp>
        <p:nvSpPr>
          <p:cNvPr id="120" name="Google Shape;120;p8"/>
          <p:cNvSpPr txBox="1"/>
          <p:nvPr/>
        </p:nvSpPr>
        <p:spPr>
          <a:xfrm>
            <a:off x="822960" y="31089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Two failure modes:  </a:t>
            </a:r>
            <a:r>
              <a:rPr b="0" i="0" lang="en-US" spc="0" sz="1000" u="none" cap="none" strike="noStrike">
                <a:solidFill>
                  <a:srgbClr val="1D1D1F"/>
                </a:solidFill>
                <a:latin typeface="Arial"/>
                <a:ea typeface="Arial"/>
                <a:cs typeface="Arial"/>
                <a:sym typeface="Arial"/>
              </a:rPr>
              <a:t>refusing refunds that are our error, and granting refunds that reward not paying attention.</a:t>
            </a:r>
            <a:endParaRPr b="0" i="0" spc="0" sz="1000" u="none" cap="none" strike="noStrike">
              <a:solidFill>
                <a:schemeClr val="dk1"/>
              </a:solidFill>
              <a:latin typeface="Calibri"/>
              <a:ea typeface="Calibri"/>
              <a:cs typeface="Calibri"/>
              <a:sym typeface="Calibri"/>
            </a:endParaRPr>
          </a:p>
        </p:txBody>
      </p:sp>
      <p:sp>
        <p:nvSpPr>
          <p:cNvPr id="121" name="Google Shape;121;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28" name="Google Shape;128;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MCT test</a:t>
            </a:r>
            <a:endParaRPr b="0" i="0" spc="0" sz="2400" u="none" cap="none" strike="noStrike">
              <a:solidFill>
                <a:schemeClr val="dk1"/>
              </a:solidFill>
              <a:latin typeface="Calibri"/>
              <a:ea typeface="Calibri"/>
              <a:cs typeface="Calibri"/>
              <a:sym typeface="Calibri"/>
            </a:endParaRPr>
          </a:p>
        </p:txBody>
      </p:sp>
      <p:sp>
        <p:nvSpPr>
          <p:cNvPr id="129" name="Google Shape;129;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 unused MF isn't a refund reason on its own. The fee buys membership, not attendance.</a:t>
            </a:r>
            <a:endParaRPr b="0" i="0" spc="0" sz="1200" u="none" cap="none" strike="noStrike">
              <a:solidFill>
                <a:schemeClr val="dk1"/>
              </a:solidFill>
              <a:latin typeface="Calibri"/>
              <a:ea typeface="Calibri"/>
              <a:cs typeface="Calibri"/>
              <a:sym typeface="Calibri"/>
            </a:endParaRPr>
          </a:p>
        </p:txBody>
      </p:sp>
      <p:sp>
        <p:nvSpPr>
          <p:cNvPr id="130" name="Google Shape;130;p9"/>
          <p:cNvSpPr/>
          <p:nvPr/>
        </p:nvSpPr>
        <p:spPr>
          <a:xfrm>
            <a:off x="411480" y="1325880"/>
            <a:ext cx="4069080" cy="1600200"/>
          </a:xfrm>
          <a:prstGeom prst="roundRect">
            <a:avLst>
              <a:gd fmla="val 457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 name="Google Shape;131;p9"/>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Inside the MCT: owed</a:t>
            </a:r>
            <a:endParaRPr b="0" i="0" spc="0" sz="1050" u="none" cap="none" strike="noStrike">
              <a:solidFill>
                <a:schemeClr val="dk1"/>
              </a:solidFill>
              <a:latin typeface="Calibri"/>
              <a:ea typeface="Calibri"/>
              <a:cs typeface="Calibri"/>
              <a:sym typeface="Calibri"/>
            </a:endParaRPr>
          </a:p>
        </p:txBody>
      </p:sp>
      <p:sp>
        <p:nvSpPr>
          <p:cNvPr id="132" name="Google Shape;132;p9"/>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under a named exemption: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Material legal threat, extreme hardship, compassion, or a dispute history</a:t>
            </a:r>
            <a:endParaRPr b="0" i="0" spc="0" sz="950" u="none" cap="none" strike="noStrike">
              <a:solidFill>
                <a:schemeClr val="dk1"/>
              </a:solidFill>
              <a:latin typeface="Calibri"/>
              <a:ea typeface="Calibri"/>
              <a:cs typeface="Calibri"/>
              <a:sym typeface="Calibri"/>
            </a:endParaRPr>
          </a:p>
        </p:txBody>
      </p:sp>
      <p:sp>
        <p:nvSpPr>
          <p:cNvPr id="133" name="Google Shape;133;p9"/>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 name="Google Shape;134;p9"/>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Beyond the MCT: refundable if ALL</a:t>
            </a:r>
            <a:endParaRPr b="0" i="0" spc="0" sz="1050" u="none" cap="none" strike="noStrike">
              <a:solidFill>
                <a:schemeClr val="dk1"/>
              </a:solidFill>
              <a:latin typeface="Calibri"/>
              <a:ea typeface="Calibri"/>
              <a:cs typeface="Calibri"/>
              <a:sym typeface="Calibri"/>
            </a:endParaRPr>
          </a:p>
        </p:txBody>
      </p:sp>
      <p:sp>
        <p:nvSpPr>
          <p:cNvPr id="135" name="Google Shape;135;p9"/>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 the last 120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Still disputable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(No invoiced jobs within the billing cycle)</a:t>
            </a:r>
            <a:endParaRPr b="0" i="0" spc="0" sz="950" u="none" cap="none" strike="noStrike">
              <a:solidFill>
                <a:schemeClr val="dk1"/>
              </a:solidFill>
              <a:latin typeface="Calibri"/>
              <a:ea typeface="Calibri"/>
              <a:cs typeface="Calibri"/>
              <a:sym typeface="Calibri"/>
            </a:endParaRPr>
          </a:p>
        </p:txBody>
      </p:sp>
      <p:sp>
        <p:nvSpPr>
          <p:cNvPr id="136" name="Google Shape;136;p9"/>
          <p:cNvSpPr txBox="1"/>
          <p:nvPr/>
        </p:nvSpPr>
        <p:spPr>
          <a:xfrm>
            <a:off x="411480" y="309067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a:t>
            </a:r>
            <a:endParaRPr b="0" i="0" spc="0" sz="800" u="none" cap="none" strike="noStrike">
              <a:solidFill>
                <a:schemeClr val="dk1"/>
              </a:solidFill>
              <a:latin typeface="Calibri"/>
              <a:ea typeface="Calibri"/>
              <a:cs typeface="Calibri"/>
              <a:sym typeface="Calibri"/>
            </a:endParaRPr>
          </a:p>
        </p:txBody>
      </p:sp>
      <p:sp>
        <p:nvSpPr>
          <p:cNvPr id="137" name="Google Shape;137;p9"/>
          <p:cNvSpPr/>
          <p:nvPr/>
        </p:nvSpPr>
        <p:spPr>
          <a:xfrm>
            <a:off x="41148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txBox="1"/>
          <p:nvPr/>
        </p:nvSpPr>
        <p:spPr>
          <a:xfrm>
            <a:off x="41148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7</a:t>
            </a:r>
            <a:endParaRPr b="0" i="0" spc="0" sz="3000" u="none" cap="none" strike="noStrike">
              <a:solidFill>
                <a:schemeClr val="dk1"/>
              </a:solidFill>
              <a:latin typeface="Calibri"/>
              <a:ea typeface="Calibri"/>
              <a:cs typeface="Calibri"/>
              <a:sym typeface="Calibri"/>
            </a:endParaRPr>
          </a:p>
        </p:txBody>
      </p:sp>
      <p:sp>
        <p:nvSpPr>
          <p:cNvPr id="139" name="Google Shape;139;p9"/>
          <p:cNvSpPr txBox="1"/>
          <p:nvPr/>
        </p:nvSpPr>
        <p:spPr>
          <a:xfrm>
            <a:off x="59436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paid months</a:t>
            </a:r>
            <a:endParaRPr b="0" i="0" spc="0" sz="1000" u="none" cap="none" strike="noStrike">
              <a:solidFill>
                <a:schemeClr val="dk1"/>
              </a:solidFill>
              <a:latin typeface="Calibri"/>
              <a:ea typeface="Calibri"/>
              <a:cs typeface="Calibri"/>
              <a:sym typeface="Calibri"/>
            </a:endParaRPr>
          </a:p>
        </p:txBody>
      </p:sp>
      <p:sp>
        <p:nvSpPr>
          <p:cNvPr id="140" name="Google Shape;140;p9"/>
          <p:cNvSpPr/>
          <p:nvPr/>
        </p:nvSpPr>
        <p:spPr>
          <a:xfrm>
            <a:off x="251460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 name="Google Shape;141;p9"/>
          <p:cNvSpPr txBox="1"/>
          <p:nvPr/>
        </p:nvSpPr>
        <p:spPr>
          <a:xfrm>
            <a:off x="251460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6</a:t>
            </a:r>
            <a:endParaRPr b="0" i="0" spc="0" sz="3000" u="none" cap="none" strike="noStrike">
              <a:solidFill>
                <a:schemeClr val="dk1"/>
              </a:solidFill>
              <a:latin typeface="Calibri"/>
              <a:ea typeface="Calibri"/>
              <a:cs typeface="Calibri"/>
              <a:sym typeface="Calibri"/>
            </a:endParaRPr>
          </a:p>
        </p:txBody>
      </p:sp>
      <p:sp>
        <p:nvSpPr>
          <p:cNvPr id="142" name="Google Shape;142;p9"/>
          <p:cNvSpPr txBox="1"/>
          <p:nvPr/>
        </p:nvSpPr>
        <p:spPr>
          <a:xfrm>
            <a:off x="269748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MCT</a:t>
            </a:r>
            <a:endParaRPr b="0" i="0" spc="0" sz="1000" u="none" cap="none" strike="noStrike">
              <a:solidFill>
                <a:schemeClr val="dk1"/>
              </a:solidFill>
              <a:latin typeface="Calibri"/>
              <a:ea typeface="Calibri"/>
              <a:cs typeface="Calibri"/>
              <a:sym typeface="Calibri"/>
            </a:endParaRPr>
          </a:p>
        </p:txBody>
      </p:sp>
      <p:sp>
        <p:nvSpPr>
          <p:cNvPr id="143" name="Google Shape;143;p9"/>
          <p:cNvSpPr/>
          <p:nvPr/>
        </p:nvSpPr>
        <p:spPr>
          <a:xfrm>
            <a:off x="461772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 name="Google Shape;144;p9"/>
          <p:cNvSpPr txBox="1"/>
          <p:nvPr/>
        </p:nvSpPr>
        <p:spPr>
          <a:xfrm>
            <a:off x="461772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a:t>
            </a:r>
            <a:endParaRPr b="0" i="0" spc="0" sz="3000" u="none" cap="none" strike="noStrike">
              <a:solidFill>
                <a:schemeClr val="dk1"/>
              </a:solidFill>
              <a:latin typeface="Calibri"/>
              <a:ea typeface="Calibri"/>
              <a:cs typeface="Calibri"/>
              <a:sym typeface="Calibri"/>
            </a:endParaRPr>
          </a:p>
        </p:txBody>
      </p:sp>
      <p:sp>
        <p:nvSpPr>
          <p:cNvPr id="145" name="Google Shape;145;p9"/>
          <p:cNvSpPr txBox="1"/>
          <p:nvPr/>
        </p:nvSpPr>
        <p:spPr>
          <a:xfrm>
            <a:off x="480060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MFs</a:t>
            </a:r>
            <a:endParaRPr b="0" i="0" spc="0" sz="10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 name="Google Shape;147;p9"/>
          <p:cNvSpPr txBox="1"/>
          <p:nvPr/>
        </p:nvSpPr>
        <p:spPr>
          <a:xfrm>
            <a:off x="672084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148" name="Google Shape;148;p9"/>
          <p:cNvSpPr txBox="1"/>
          <p:nvPr/>
        </p:nvSpPr>
        <p:spPr>
          <a:xfrm>
            <a:off x="690372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refundable: the only one beyond MCT</a:t>
            </a:r>
            <a:endParaRPr b="0" i="0" spc="0" sz="1000" u="none" cap="none" strike="noStrike">
              <a:solidFill>
                <a:schemeClr val="dk1"/>
              </a:solidFill>
              <a:latin typeface="Calibri"/>
              <a:ea typeface="Calibri"/>
              <a:cs typeface="Calibri"/>
              <a:sym typeface="Calibri"/>
            </a:endParaRPr>
          </a:p>
        </p:txBody>
      </p:sp>
      <p:sp>
        <p:nvSpPr>
          <p:cNvPr id="149" name="Google Shape;149;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56" name="Google Shape;156;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 sorted by root cause</a:t>
            </a:r>
            <a:endParaRPr b="0" i="0" spc="0" sz="2400" u="none" cap="none" strike="noStrike">
              <a:solidFill>
                <a:schemeClr val="dk1"/>
              </a:solidFill>
              <a:latin typeface="Calibri"/>
              <a:ea typeface="Calibri"/>
              <a:cs typeface="Calibri"/>
              <a:sym typeface="Calibri"/>
            </a:endParaRPr>
          </a:p>
        </p:txBody>
      </p:sp>
      <p:sp>
        <p:nvSpPr>
          <p:cNvPr id="157" name="Google Shape;157;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Start with the FC status.</a:t>
            </a:r>
            <a:endParaRPr b="0" i="0" spc="0" sz="1200" u="none" cap="none" strike="noStrike">
              <a:solidFill>
                <a:schemeClr val="dk1"/>
              </a:solidFill>
              <a:latin typeface="Calibri"/>
              <a:ea typeface="Calibri"/>
              <a:cs typeface="Calibri"/>
              <a:sym typeface="Calibri"/>
            </a:endParaRPr>
          </a:p>
        </p:txBody>
      </p:sp>
      <p:sp>
        <p:nvSpPr>
          <p:cNvPr id="158" name="Google Shape;158;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9" name="Google Shape;159;p10"/>
          <p:cNvSpPr/>
          <p:nvPr/>
        </p:nvSpPr>
        <p:spPr>
          <a:xfrm>
            <a:off x="2971800" y="1298448"/>
            <a:ext cx="3200400" cy="457200"/>
          </a:xfrm>
          <a:prstGeom prst="roundRect">
            <a:avLst>
              <a:gd fmla="val 8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rgbClr val="FFFFFF"/>
                </a:solidFill>
                <a:latin typeface="Play"/>
                <a:ea typeface="Play"/>
                <a:cs typeface="Play"/>
                <a:sym typeface="Play"/>
              </a:rPr>
              <a:t>MF refund request</a:t>
            </a:r>
            <a:endParaRPr b="0" i="0" spc="0" sz="1400" u="none" cap="none" strike="noStrike">
              <a:solidFill>
                <a:srgbClr val="000000"/>
              </a:solidFill>
              <a:latin typeface="Arial"/>
              <a:ea typeface="Arial"/>
              <a:cs typeface="Arial"/>
              <a:sym typeface="Arial"/>
            </a:endParaRPr>
          </a:p>
        </p:txBody>
      </p:sp>
      <p:cxnSp>
        <p:nvCxnSpPr>
          <p:cNvPr id="160" name="Google Shape;160;p10"/>
          <p:cNvCxnSpPr/>
          <p:nvPr/>
        </p:nvCxnSpPr>
        <p:spPr>
          <a:xfrm>
            <a:off x="4572000" y="1755648"/>
            <a:ext cx="0" cy="182880"/>
          </a:xfrm>
          <a:prstGeom prst="straightConnector1">
            <a:avLst/>
          </a:prstGeom>
          <a:noFill/>
          <a:ln cap="flat" cmpd="sng" w="12700">
            <a:solidFill>
              <a:srgbClr val="6E6E73"/>
            </a:solidFill>
            <a:prstDash val="solid"/>
            <a:round/>
            <a:headEnd len="sm" w="sm" type="none"/>
            <a:tailEnd len="sm" w="sm" type="none"/>
          </a:ln>
        </p:spPr>
      </p:cxnSp>
      <p:cxnSp>
        <p:nvCxnSpPr>
          <p:cNvPr id="161" name="Google Shape;161;p10"/>
          <p:cNvCxnSpPr/>
          <p:nvPr/>
        </p:nvCxnSpPr>
        <p:spPr>
          <a:xfrm>
            <a:off x="2446020" y="1938528"/>
            <a:ext cx="4251960" cy="0"/>
          </a:xfrm>
          <a:prstGeom prst="straightConnector1">
            <a:avLst/>
          </a:prstGeom>
          <a:noFill/>
          <a:ln cap="flat" cmpd="sng" w="12700">
            <a:solidFill>
              <a:srgbClr val="6E6E73"/>
            </a:solidFill>
            <a:prstDash val="solid"/>
            <a:round/>
            <a:headEnd len="sm" w="sm" type="none"/>
            <a:tailEnd len="sm" w="sm" type="none"/>
          </a:ln>
        </p:spPr>
      </p:cxnSp>
      <p:cxnSp>
        <p:nvCxnSpPr>
          <p:cNvPr id="162" name="Google Shape;162;p10"/>
          <p:cNvCxnSpPr/>
          <p:nvPr/>
        </p:nvCxnSpPr>
        <p:spPr>
          <a:xfrm>
            <a:off x="2446020" y="1938528"/>
            <a:ext cx="0" cy="182880"/>
          </a:xfrm>
          <a:prstGeom prst="straightConnector1">
            <a:avLst/>
          </a:prstGeom>
          <a:noFill/>
          <a:ln cap="flat" cmpd="sng" w="12700">
            <a:solidFill>
              <a:srgbClr val="6E6E73"/>
            </a:solidFill>
            <a:prstDash val="solid"/>
            <a:round/>
            <a:headEnd len="sm" w="sm" type="none"/>
            <a:tailEnd len="med" w="med" type="triangle"/>
          </a:ln>
        </p:spPr>
      </p:cxnSp>
      <p:cxnSp>
        <p:nvCxnSpPr>
          <p:cNvPr id="163" name="Google Shape;163;p10"/>
          <p:cNvCxnSpPr/>
          <p:nvPr/>
        </p:nvCxnSpPr>
        <p:spPr>
          <a:xfrm>
            <a:off x="6697980" y="1938528"/>
            <a:ext cx="0" cy="182880"/>
          </a:xfrm>
          <a:prstGeom prst="straightConnector1">
            <a:avLst/>
          </a:prstGeom>
          <a:noFill/>
          <a:ln cap="flat" cmpd="sng" w="12700">
            <a:solidFill>
              <a:srgbClr val="6E6E73"/>
            </a:solidFill>
            <a:prstDash val="solid"/>
            <a:round/>
            <a:headEnd len="sm" w="sm" type="none"/>
            <a:tailEnd len="med" w="med" type="triangle"/>
          </a:ln>
        </p:spPr>
      </p:cxnSp>
      <p:sp>
        <p:nvSpPr>
          <p:cNvPr id="164" name="Google Shape;164;p10"/>
          <p:cNvSpPr/>
          <p:nvPr/>
        </p:nvSpPr>
        <p:spPr>
          <a:xfrm>
            <a:off x="411480" y="2121408"/>
            <a:ext cx="4069080" cy="457200"/>
          </a:xfrm>
          <a:prstGeom prst="roundRect">
            <a:avLst>
              <a:gd fmla="val 8000" name="adj"/>
            </a:avLst>
          </a:prstGeom>
          <a:solidFill>
            <a:srgbClr val="B3261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active</a:t>
            </a:r>
            <a:r>
              <a:rPr b="0" i="0" lang="en-US" spc="0" sz="1000" u="none" cap="none" strike="noStrike">
                <a:solidFill>
                  <a:srgbClr val="FFFFFF"/>
                </a:solidFill>
                <a:latin typeface="Arial"/>
                <a:ea typeface="Arial"/>
                <a:cs typeface="Arial"/>
                <a:sym typeface="Arial"/>
              </a:rPr>
              <a:t>  (triggered)</a:t>
            </a:r>
            <a:endParaRPr b="0" i="0" spc="0" sz="1400" u="none" cap="none" strike="noStrike">
              <a:solidFill>
                <a:srgbClr val="000000"/>
              </a:solidFill>
              <a:latin typeface="Arial"/>
              <a:ea typeface="Arial"/>
              <a:cs typeface="Arial"/>
              <a:sym typeface="Arial"/>
            </a:endParaRPr>
          </a:p>
        </p:txBody>
      </p:sp>
      <p:sp>
        <p:nvSpPr>
          <p:cNvPr id="165" name="Google Shape;165;p10"/>
          <p:cNvSpPr/>
          <p:nvPr/>
        </p:nvSpPr>
        <p:spPr>
          <a:xfrm>
            <a:off x="4663440" y="2121408"/>
            <a:ext cx="4069080" cy="457200"/>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cancelled</a:t>
            </a:r>
            <a:endParaRPr b="0" i="0" spc="0" sz="1400" u="none" cap="none" strike="noStrike">
              <a:solidFill>
                <a:srgbClr val="000000"/>
              </a:solidFill>
              <a:latin typeface="Arial"/>
              <a:ea typeface="Arial"/>
              <a:cs typeface="Arial"/>
              <a:sym typeface="Arial"/>
            </a:endParaRPr>
          </a:p>
        </p:txBody>
      </p:sp>
      <p:sp>
        <p:nvSpPr>
          <p:cNvPr id="166" name="Google Shape;166;p10"/>
          <p:cNvSpPr/>
          <p:nvPr/>
        </p:nvSpPr>
        <p:spPr>
          <a:xfrm>
            <a:off x="411480" y="2697480"/>
            <a:ext cx="4069080" cy="178308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 name="Google Shape;167;p10"/>
          <p:cNvSpPr txBox="1"/>
          <p:nvPr/>
        </p:nvSpPr>
        <p:spPr>
          <a:xfrm>
            <a:off x="594360" y="2770632"/>
            <a:ext cx="370332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Active and 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Lead with free months equal to the eligible amount (max 3).</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Exception: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Extenuating circumstances that warrant a refund (billing errors, etc.)? Proceed with the refund.</a:t>
            </a:r>
            <a:endParaRPr b="0" i="0" spc="0" sz="1400" u="none" cap="none" strike="noStrike">
              <a:solidFill>
                <a:srgbClr val="000000"/>
              </a:solidFill>
              <a:latin typeface="Arial"/>
              <a:ea typeface="Arial"/>
              <a:cs typeface="Arial"/>
              <a:sym typeface="Arial"/>
            </a:endParaRPr>
          </a:p>
        </p:txBody>
      </p:sp>
      <p:sp>
        <p:nvSpPr>
          <p:cNvPr id="168" name="Google Shape;168;p10"/>
          <p:cNvSpPr/>
          <p:nvPr/>
        </p:nvSpPr>
        <p:spPr>
          <a:xfrm>
            <a:off x="4663440" y="2697480"/>
            <a:ext cx="4069080" cy="1783080"/>
          </a:xfrm>
          <a:prstGeom prst="roundRect">
            <a:avLst>
              <a:gd fmla="val 8000" name="adj"/>
            </a:avLst>
          </a:prstGeom>
          <a:solidFill>
            <a:srgbClr val="EEEAF8"/>
          </a:solidFill>
          <a:ln cap="flat" cmpd="sng" w="12700">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 name="Google Shape;169;p10"/>
          <p:cNvSpPr txBox="1"/>
          <p:nvPr/>
        </p:nvSpPr>
        <p:spPr>
          <a:xfrm>
            <a:off x="4846320" y="2770632"/>
            <a:ext cx="3703320" cy="10515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5E4A9C"/>
                </a:solidFill>
                <a:latin typeface="Play"/>
                <a:ea typeface="Play"/>
                <a:cs typeface="Play"/>
                <a:sym typeface="Play"/>
              </a:rPr>
              <a:t>Follow the root cause table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Also use it when C declines the free months, or isn't retainable.</a:t>
            </a:r>
            <a:endParaRPr b="0" i="0" spc="0" sz="1400" u="none" cap="none" strike="noStrike">
              <a:solidFill>
                <a:srgbClr val="000000"/>
              </a:solidFill>
              <a:latin typeface="Arial"/>
              <a:ea typeface="Arial"/>
              <a:cs typeface="Arial"/>
              <a:sym typeface="Arial"/>
            </a:endParaRPr>
          </a:p>
        </p:txBody>
      </p:sp>
      <p:sp>
        <p:nvSpPr>
          <p:cNvPr id="170" name="Google Shape;170;p10">
            <a:hlinkClick action="ppaction://hlinksldjump" r:id="rId3"/>
          </p:cNvPr>
          <p:cNvSpPr/>
          <p:nvPr/>
        </p:nvSpPr>
        <p:spPr>
          <a:xfrm>
            <a:off x="5600700" y="3858768"/>
            <a:ext cx="2194560" cy="384048"/>
          </a:xfrm>
          <a:prstGeom prst="roundRect">
            <a:avLst>
              <a:gd fmla="val 25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Root cause table</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77" name="Google Shape;177;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by root cause</a:t>
            </a:r>
            <a:endParaRPr b="0" i="0" spc="0" sz="2400" u="none" cap="none" strike="noStrike">
              <a:solidFill>
                <a:schemeClr val="dk1"/>
              </a:solidFill>
              <a:latin typeface="Calibri"/>
              <a:ea typeface="Calibri"/>
              <a:cs typeface="Calibri"/>
              <a:sym typeface="Calibri"/>
            </a:endParaRPr>
          </a:p>
        </p:txBody>
      </p:sp>
      <p:sp>
        <p:nvSpPr>
          <p:cNvPr id="178" name="Google Shape;178;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Unused MFs beyond MCT, within 120 days, unless noted.</a:t>
            </a:r>
            <a:endParaRPr b="0" i="0" spc="0" sz="1200" u="none" cap="none" strike="noStrike">
              <a:solidFill>
                <a:schemeClr val="dk1"/>
              </a:solidFill>
              <a:latin typeface="Calibri"/>
              <a:ea typeface="Calibri"/>
              <a:cs typeface="Calibri"/>
              <a:sym typeface="Calibri"/>
            </a:endParaRPr>
          </a:p>
        </p:txBody>
      </p:sp>
      <p:graphicFrame>
        <p:nvGraphicFramePr>
          <p:cNvPr id="179" name="Google Shape;179;p11"/>
          <p:cNvGraphicFramePr/>
          <p:nvPr/>
        </p:nvGraphicFramePr>
        <p:xfrm>
          <a:off x="411480" y="1325880"/>
          <a:ext cx="3000000" cy="3000000"/>
        </p:xfrm>
        <a:graphic>
          <a:graphicData uri="http://schemas.openxmlformats.org/drawingml/2006/table">
            <a:tbl>
              <a:tblPr>
                <a:noFill/>
                <a:tableStyleId>{B11CD2B3-61C3-4F20-B420-420BFCFC9075}</a:tableStyleId>
              </a:tblPr>
              <a:tblGrid>
                <a:gridCol w="3749050"/>
                <a:gridCol w="4572000"/>
              </a:tblGrid>
              <a:tr h="36575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Root cause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Eligible?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Unaware of the membership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Thought they'd cancelled (cancelled RC/jobs, not FC)</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Asked to cancel after MCT, FC kept renewing</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every MF after the request, any age (agent error)</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Knew about it, forgot to cancel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Generally no. The benefit was available every month</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Duplicate account, duplicate MF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within 120 days, if C declines free months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Paid the ETF, now wants the MF back</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rPr>
                        <a:t>Generally </a:t>
                      </a:r>
                      <a:r>
                        <a:rPr lang="en-US" spc="0" sz="900" u="none" cap="none" strike="noStrike">
                          <a:solidFill>
                            <a:srgbClr val="6E6E73"/>
                          </a:solidFill>
                          <a:latin typeface="Arial"/>
                          <a:ea typeface="Arial"/>
                          <a:cs typeface="Arial"/>
                          <a:sym typeface="Arial"/>
                        </a:rPr>
                        <a:t>No. </a:t>
                      </a:r>
                      <a:r>
                        <a:rPr lang="en-US" spc="0" sz="900" u="none" cap="none" strike="noStrike">
                          <a:solidFill>
                            <a:srgbClr val="6E6E73"/>
                          </a:solidFill>
                        </a:rPr>
                        <a:t>If with</a:t>
                      </a:r>
                      <a:r>
                        <a:rPr lang="en-US" spc="0" sz="900" u="none" cap="none" strike="noStrike">
                          <a:solidFill>
                            <a:srgbClr val="6E6E73"/>
                          </a:solidFill>
                          <a:latin typeface="Arial"/>
                          <a:ea typeface="Arial"/>
                          <a:cs typeface="Arial"/>
                          <a:sym typeface="Arial"/>
                        </a:rPr>
                        <a:t> dispute or legal </a:t>
                      </a:r>
                      <a:r>
                        <a:rPr lang="en-US" spc="0" sz="900" u="none" cap="none" strike="noStrike">
                          <a:solidFill>
                            <a:srgbClr val="6E6E73"/>
                          </a:solidFill>
                        </a:rPr>
                        <a:t>threats</a:t>
                      </a:r>
                      <a:r>
                        <a:rPr lang="en-US" spc="0" sz="900" u="none" cap="none" strike="noStrike">
                          <a:solidFill>
                            <a:srgbClr val="6E6E73"/>
                          </a:solidFill>
                          <a:latin typeface="Arial"/>
                          <a:ea typeface="Arial"/>
                          <a:cs typeface="Arial"/>
                          <a:sym typeface="Arial"/>
                        </a:rPr>
                        <a:t>: yes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Has a previous bank dispute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while still disputable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0" name="Google Shape;180;p11"/>
          <p:cNvSpPr/>
          <p:nvPr/>
        </p:nvSpPr>
        <p:spPr>
          <a:xfrm>
            <a:off x="411480" y="4343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 name="Google Shape;181;p11"/>
          <p:cNvPicPr preferRelativeResize="0"/>
          <p:nvPr/>
        </p:nvPicPr>
        <p:blipFill rotWithShape="1">
          <a:blip r:embed="rId3">
            <a:alphaModFix/>
          </a:blip>
          <a:srcRect b="0" l="0" r="0" t="0"/>
          <a:stretch/>
        </p:blipFill>
        <p:spPr>
          <a:xfrm>
            <a:off x="566928" y="4453128"/>
            <a:ext cx="164592" cy="164592"/>
          </a:xfrm>
          <a:prstGeom prst="rect">
            <a:avLst/>
          </a:prstGeom>
          <a:noFill/>
          <a:ln>
            <a:noFill/>
          </a:ln>
        </p:spPr>
      </p:pic>
      <p:sp>
        <p:nvSpPr>
          <p:cNvPr id="182" name="Google Shape;182;p11"/>
          <p:cNvSpPr txBox="1"/>
          <p:nvPr/>
        </p:nvSpPr>
        <p:spPr>
          <a:xfrm>
            <a:off x="822960" y="4443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Exception:  </a:t>
            </a:r>
            <a:r>
              <a:rPr b="0" i="0" lang="en-US" spc="0" sz="1000" u="none" cap="none" strike="noStrike">
                <a:solidFill>
                  <a:srgbClr val="1D1D1F"/>
                </a:solidFill>
                <a:latin typeface="Arial"/>
                <a:ea typeface="Arial"/>
                <a:cs typeface="Arial"/>
                <a:sym typeface="Arial"/>
              </a:rPr>
              <a:t>a successful dispute past 120 days opens every charge after it to refund.</a:t>
            </a:r>
            <a:endParaRPr b="0" i="0" spc="0" sz="1000" u="none" cap="none" strike="noStrike">
              <a:solidFill>
                <a:schemeClr val="dk1"/>
              </a:solidFill>
              <a:latin typeface="Calibri"/>
              <a:ea typeface="Calibri"/>
              <a:cs typeface="Calibri"/>
              <a:sym typeface="Calibri"/>
            </a:endParaRPr>
          </a:p>
        </p:txBody>
      </p:sp>
      <p:sp>
        <p:nvSpPr>
          <p:cNvPr id="183" name="Google Shape;183;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90" name="Google Shape;190;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refunds</a:t>
            </a:r>
            <a:endParaRPr b="0" i="0" spc="0" sz="2400" u="none" cap="none" strike="noStrike">
              <a:solidFill>
                <a:schemeClr val="dk1"/>
              </a:solidFill>
              <a:latin typeface="Calibri"/>
              <a:ea typeface="Calibri"/>
              <a:cs typeface="Calibri"/>
              <a:sym typeface="Calibri"/>
            </a:endParaRPr>
          </a:p>
        </p:txBody>
      </p:sp>
      <p:sp>
        <p:nvSpPr>
          <p:cNvPr id="191" name="Google Shape;191;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Full or partial, depending on the situation.</a:t>
            </a:r>
            <a:endParaRPr b="0" i="0" spc="0" sz="1200" u="none" cap="none" strike="noStrike">
              <a:solidFill>
                <a:schemeClr val="dk1"/>
              </a:solidFill>
              <a:latin typeface="Calibri"/>
              <a:ea typeface="Calibri"/>
              <a:cs typeface="Calibri"/>
              <a:sym typeface="Calibri"/>
            </a:endParaRPr>
          </a:p>
        </p:txBody>
      </p:sp>
      <p:sp>
        <p:nvSpPr>
          <p:cNvPr id="192" name="Google Shape;192;p12"/>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 name="Google Shape;193;p1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Full refund, if any</a:t>
            </a:r>
            <a:endParaRPr b="0" i="0" spc="0" sz="1050" u="none" cap="none" strike="noStrike">
              <a:solidFill>
                <a:schemeClr val="dk1"/>
              </a:solidFill>
              <a:latin typeface="Calibri"/>
              <a:ea typeface="Calibri"/>
              <a:cs typeface="Calibri"/>
              <a:sym typeface="Calibri"/>
            </a:endParaRPr>
          </a:p>
        </p:txBody>
      </p:sp>
      <p:sp>
        <p:nvSpPr>
          <p:cNvPr id="194" name="Google Shape;194;p12"/>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history + asked for a refund + no longer wants the service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risk above the percentage-based threshold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Extenuating circumstances, especially if they never used it or were unhappy</a:t>
            </a:r>
            <a:endParaRPr b="0" i="0" spc="0" sz="950" u="none" cap="none" strike="noStrike">
              <a:solidFill>
                <a:schemeClr val="dk1"/>
              </a:solidFill>
              <a:latin typeface="Calibri"/>
              <a:ea typeface="Calibri"/>
              <a:cs typeface="Calibri"/>
              <a:sym typeface="Calibri"/>
            </a:endParaRPr>
          </a:p>
        </p:txBody>
      </p:sp>
      <p:sp>
        <p:nvSpPr>
          <p:cNvPr id="195" name="Google Shape;195;p12"/>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2"/>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Partial refund, if</a:t>
            </a:r>
            <a:endParaRPr b="0" i="0" spc="0" sz="1050" u="none" cap="none" strike="noStrike">
              <a:solidFill>
                <a:schemeClr val="dk1"/>
              </a:solidFill>
              <a:latin typeface="Calibri"/>
              <a:ea typeface="Calibri"/>
              <a:cs typeface="Calibri"/>
              <a:sym typeface="Calibri"/>
            </a:endParaRPr>
          </a:p>
        </p:txBody>
      </p:sp>
      <p:sp>
        <p:nvSpPr>
          <p:cNvPr id="197" name="Google Shape;197;p12"/>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miscalculated (system bug, overcharged hours)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Wants DHJ voucher price / MF / card charges deducted for uncovered hours, with escalating language</a:t>
            </a:r>
            <a:endParaRPr b="0" i="0" spc="0" sz="950" u="none" cap="none" strike="noStrike">
              <a:solidFill>
                <a:schemeClr val="dk1"/>
              </a:solidFill>
              <a:latin typeface="Calibri"/>
              <a:ea typeface="Calibri"/>
              <a:cs typeface="Calibri"/>
              <a:sym typeface="Calibri"/>
            </a:endParaRPr>
          </a:p>
        </p:txBody>
      </p:sp>
      <p:sp>
        <p:nvSpPr>
          <p:cNvPr id="198" name="Google Shape;198;p12"/>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 name="Google Shape;199;p12"/>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0" name="Google Shape;200;p12"/>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Extenuating circumstances:  </a:t>
            </a:r>
            <a:r>
              <a:rPr b="0" i="0" lang="en-US" spc="0" sz="1000" u="none" cap="none" strike="noStrike">
                <a:solidFill>
                  <a:srgbClr val="1D1D1F"/>
                </a:solidFill>
                <a:latin typeface="Arial"/>
                <a:ea typeface="Arial"/>
                <a:cs typeface="Arial"/>
                <a:sym typeface="Arial"/>
              </a:rPr>
              <a:t>Financial Hardship, Military, Illness, Death, ADA, Disaster.</a:t>
            </a:r>
            <a:endParaRPr b="0" i="0" spc="0" sz="1000" u="none" cap="none" strike="noStrike">
              <a:solidFill>
                <a:schemeClr val="dk1"/>
              </a:solidFill>
              <a:latin typeface="Calibri"/>
              <a:ea typeface="Calibri"/>
              <a:cs typeface="Calibri"/>
              <a:sym typeface="Calibri"/>
            </a:endParaRPr>
          </a:p>
        </p:txBody>
      </p:sp>
      <p:sp>
        <p:nvSpPr>
          <p:cNvPr id="201" name="Google Shape;201;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08" name="Google Shape;208;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Billing errors &amp; high-risk cases</a:t>
            </a:r>
            <a:endParaRPr b="0" i="0" spc="0" sz="2400" u="none" cap="none" strike="noStrike">
              <a:solidFill>
                <a:schemeClr val="dk1"/>
              </a:solidFill>
              <a:latin typeface="Calibri"/>
              <a:ea typeface="Calibri"/>
              <a:cs typeface="Calibri"/>
              <a:sym typeface="Calibri"/>
            </a:endParaRPr>
          </a:p>
        </p:txBody>
      </p:sp>
      <p:sp>
        <p:nvSpPr>
          <p:cNvPr id="209" name="Google Shape;209;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Our mistake, or a real legal or dispute risk.</a:t>
            </a:r>
            <a:endParaRPr b="0" i="0" spc="0" sz="1200" u="none" cap="none" strike="noStrike">
              <a:solidFill>
                <a:schemeClr val="dk1"/>
              </a:solidFill>
              <a:latin typeface="Calibri"/>
              <a:ea typeface="Calibri"/>
              <a:cs typeface="Calibri"/>
              <a:sym typeface="Calibri"/>
            </a:endParaRPr>
          </a:p>
        </p:txBody>
      </p:sp>
      <p:sp>
        <p:nvSpPr>
          <p:cNvPr id="210" name="Google Shape;210;p13"/>
          <p:cNvSpPr/>
          <p:nvPr/>
        </p:nvSpPr>
        <p:spPr>
          <a:xfrm>
            <a:off x="411480" y="1325880"/>
            <a:ext cx="4069080" cy="2331720"/>
          </a:xfrm>
          <a:prstGeom prst="roundRect">
            <a:avLst>
              <a:gd fmla="val 313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 name="Google Shape;211;p1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Billing errors: refund now</a:t>
            </a:r>
            <a:endParaRPr b="0" i="0" spc="0" sz="1050" u="none" cap="none" strike="noStrike">
              <a:solidFill>
                <a:schemeClr val="dk1"/>
              </a:solidFill>
              <a:latin typeface="Calibri"/>
              <a:ea typeface="Calibri"/>
              <a:cs typeface="Calibri"/>
              <a:sym typeface="Calibri"/>
            </a:endParaRPr>
          </a:p>
        </p:txBody>
      </p:sp>
      <p:sp>
        <p:nvSpPr>
          <p:cNvPr id="212" name="Google Shape;212;p13"/>
          <p:cNvSpPr txBox="1"/>
          <p:nvPr/>
        </p:nvSpPr>
        <p:spPr>
          <a:xfrm>
            <a:off x="57607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incorrectly, or an MF charged twice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promised discount never applied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We said we'd cancel after MCT and didn't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120-day window</a:t>
            </a:r>
            <a:endParaRPr b="0" i="0" spc="0" sz="950" u="none" cap="none" strike="noStrike">
              <a:solidFill>
                <a:schemeClr val="dk1"/>
              </a:solidFill>
              <a:latin typeface="Calibri"/>
              <a:ea typeface="Calibri"/>
              <a:cs typeface="Calibri"/>
              <a:sym typeface="Calibri"/>
            </a:endParaRPr>
          </a:p>
        </p:txBody>
      </p:sp>
      <p:sp>
        <p:nvSpPr>
          <p:cNvPr id="213" name="Google Shape;213;p13"/>
          <p:cNvSpPr/>
          <p:nvPr/>
        </p:nvSpPr>
        <p:spPr>
          <a:xfrm>
            <a:off x="4663440" y="1325880"/>
            <a:ext cx="4069080" cy="2331720"/>
          </a:xfrm>
          <a:prstGeom prst="roundRect">
            <a:avLst>
              <a:gd fmla="val 3137"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3"/>
          <p:cNvSpPr/>
          <p:nvPr/>
        </p:nvSpPr>
        <p:spPr>
          <a:xfrm>
            <a:off x="466344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High-risk / legal</a:t>
            </a:r>
            <a:endParaRPr b="0" i="0" spc="0" sz="1050" u="none" cap="none" strike="noStrike">
              <a:solidFill>
                <a:schemeClr val="dk1"/>
              </a:solidFill>
              <a:latin typeface="Calibri"/>
              <a:ea typeface="Calibri"/>
              <a:cs typeface="Calibri"/>
              <a:sym typeface="Calibri"/>
            </a:endParaRPr>
          </a:p>
        </p:txBody>
      </p:sp>
      <p:sp>
        <p:nvSpPr>
          <p:cNvPr id="215" name="Google Shape;215;p13"/>
          <p:cNvSpPr txBox="1"/>
          <p:nvPr/>
        </p:nvSpPr>
        <p:spPr>
          <a:xfrm>
            <a:off x="482803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Material legal threat: refund within 120 days; beyond needs Legal approval (via TL)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Dispute risk above threshold: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Already filed a dispute: 120 days still applies</a:t>
            </a:r>
            <a:endParaRPr b="0" i="0" spc="0" sz="900" u="none" cap="none" strike="noStrike">
              <a:solidFill>
                <a:schemeClr val="dk1"/>
              </a:solidFill>
              <a:latin typeface="Calibri"/>
              <a:ea typeface="Calibri"/>
              <a:cs typeface="Calibri"/>
              <a:sym typeface="Calibri"/>
            </a:endParaRPr>
          </a:p>
        </p:txBody>
      </p:sp>
      <p:sp>
        <p:nvSpPr>
          <p:cNvPr id="216" name="Google Shape;216;p1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7" name="Google Shape;217;p1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18" name="Google Shape;218;p1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None apply, low dispute risk?  </a:t>
            </a:r>
            <a:r>
              <a:rPr b="0" i="0" lang="en-US" spc="0" sz="1000" u="none" cap="none" strike="noStrike">
                <a:solidFill>
                  <a:srgbClr val="1D1D1F"/>
                </a:solidFill>
                <a:latin typeface="Arial"/>
                <a:ea typeface="Arial"/>
                <a:cs typeface="Arial"/>
                <a:sym typeface="Arial"/>
              </a:rPr>
              <a:t>no refund. FC active? Offer free months in lieu (max 3).</a:t>
            </a:r>
            <a:endParaRPr b="0" i="0" spc="0" sz="1000" u="none" cap="none" strike="noStrike">
              <a:solidFill>
                <a:schemeClr val="dk1"/>
              </a:solidFill>
              <a:latin typeface="Calibri"/>
              <a:ea typeface="Calibri"/>
              <a:cs typeface="Calibri"/>
              <a:sym typeface="Calibri"/>
            </a:endParaRPr>
          </a:p>
        </p:txBody>
      </p:sp>
      <p:sp>
        <p:nvSpPr>
          <p:cNvPr id="219" name="Google Shape;219;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26" name="Google Shape;226;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Compassion &amp; hardship</a:t>
            </a:r>
            <a:endParaRPr b="0" i="0" spc="0" sz="2400" u="none" cap="none" strike="noStrike">
              <a:solidFill>
                <a:schemeClr val="dk1"/>
              </a:solidFill>
              <a:latin typeface="Calibri"/>
              <a:ea typeface="Calibri"/>
              <a:cs typeface="Calibri"/>
              <a:sym typeface="Calibri"/>
            </a:endParaRPr>
          </a:p>
        </p:txBody>
      </p:sp>
      <p:sp>
        <p:nvSpPr>
          <p:cNvPr id="227" name="Google Shape;227;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Within or beyond MCT. A human, personal approach.</a:t>
            </a:r>
            <a:endParaRPr b="0" i="0" spc="0" sz="1200" u="none" cap="none" strike="noStrike">
              <a:solidFill>
                <a:schemeClr val="dk1"/>
              </a:solidFill>
              <a:latin typeface="Calibri"/>
              <a:ea typeface="Calibri"/>
              <a:cs typeface="Calibri"/>
              <a:sym typeface="Calibri"/>
            </a:endParaRPr>
          </a:p>
        </p:txBody>
      </p:sp>
      <p:sp>
        <p:nvSpPr>
          <p:cNvPr id="228" name="Google Shape;228;p1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 name="Google Shape;229;p1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0" name="Google Shape;230;p1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31" name="Google Shape;231;p1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Human first</a:t>
            </a:r>
            <a:endParaRPr b="0" i="0" spc="0" sz="1200" u="none" cap="none" strike="noStrike">
              <a:solidFill>
                <a:schemeClr val="dk1"/>
              </a:solidFill>
              <a:latin typeface="Calibri"/>
              <a:ea typeface="Calibri"/>
              <a:cs typeface="Calibri"/>
              <a:sym typeface="Calibri"/>
            </a:endParaRPr>
          </a:p>
        </p:txBody>
      </p:sp>
      <p:sp>
        <p:nvSpPr>
          <p:cNvPr id="232" name="Google Shape;232;p1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Personal approach, not the standard scenario logic.</a:t>
            </a:r>
            <a:endParaRPr b="0" i="0" spc="0" sz="950" u="none" cap="none" strike="noStrike">
              <a:solidFill>
                <a:schemeClr val="dk1"/>
              </a:solidFill>
              <a:latin typeface="Calibri"/>
              <a:ea typeface="Calibri"/>
              <a:cs typeface="Calibri"/>
              <a:sym typeface="Calibri"/>
            </a:endParaRPr>
          </a:p>
        </p:txBody>
      </p:sp>
      <p:sp>
        <p:nvSpPr>
          <p:cNvPr id="233" name="Google Shape;233;p1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 name="Google Shape;234;p1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 name="Google Shape;235;p1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36" name="Google Shape;236;p1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Start with 1 MF</a:t>
            </a:r>
            <a:endParaRPr b="0" i="0" spc="0" sz="1200" u="none" cap="none" strike="noStrike">
              <a:solidFill>
                <a:schemeClr val="dk1"/>
              </a:solidFill>
              <a:latin typeface="Calibri"/>
              <a:ea typeface="Calibri"/>
              <a:cs typeface="Calibri"/>
              <a:sym typeface="Calibri"/>
            </a:endParaRPr>
          </a:p>
        </p:txBody>
      </p:sp>
      <p:sp>
        <p:nvSpPr>
          <p:cNvPr id="237" name="Google Shape;237;p1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If C doesn't say how many, start with 1. Don't offer more than asked.</a:t>
            </a:r>
            <a:endParaRPr b="0" i="0" spc="0" sz="950" u="none" cap="none" strike="noStrike">
              <a:solidFill>
                <a:schemeClr val="dk1"/>
              </a:solidFill>
              <a:latin typeface="Calibri"/>
              <a:ea typeface="Calibri"/>
              <a:cs typeface="Calibri"/>
              <a:sym typeface="Calibri"/>
            </a:endParaRPr>
          </a:p>
        </p:txBody>
      </p:sp>
      <p:sp>
        <p:nvSpPr>
          <p:cNvPr id="238" name="Google Shape;238;p1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 name="Google Shape;239;p1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0" name="Google Shape;240;p1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41" name="Google Shape;241;p1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Beyond the limits</a:t>
            </a:r>
            <a:endParaRPr b="0" i="0" spc="0" sz="1200" u="none" cap="none" strike="noStrike">
              <a:solidFill>
                <a:schemeClr val="dk1"/>
              </a:solidFill>
              <a:latin typeface="Calibri"/>
              <a:ea typeface="Calibri"/>
              <a:cs typeface="Calibri"/>
              <a:sym typeface="Calibri"/>
            </a:endParaRPr>
          </a:p>
        </p:txBody>
      </p:sp>
      <p:sp>
        <p:nvSpPr>
          <p:cNvPr id="242" name="Google Shape;242;p1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Severe cases: multiple MFs or beyond 120 days, with support approval.</a:t>
            </a:r>
            <a:endParaRPr b="0" i="0" spc="0" sz="950" u="none" cap="none" strike="noStrike">
              <a:solidFill>
                <a:schemeClr val="dk1"/>
              </a:solidFill>
              <a:latin typeface="Calibri"/>
              <a:ea typeface="Calibri"/>
              <a:cs typeface="Calibri"/>
              <a:sym typeface="Calibri"/>
            </a:endParaRPr>
          </a:p>
        </p:txBody>
      </p:sp>
      <p:sp>
        <p:nvSpPr>
          <p:cNvPr id="243" name="Google Shape;243;p14"/>
          <p:cNvSpPr/>
          <p:nvPr/>
        </p:nvSpPr>
        <p:spPr>
          <a:xfrm>
            <a:off x="411480" y="3200400"/>
            <a:ext cx="8321040" cy="868680"/>
          </a:xfrm>
          <a:prstGeom prst="roundRect">
            <a:avLst>
              <a:gd fmla="val 842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44" name="Google Shape;244;p14"/>
          <p:cNvPicPr preferRelativeResize="0"/>
          <p:nvPr/>
        </p:nvPicPr>
        <p:blipFill rotWithShape="1">
          <a:blip r:embed="rId6">
            <a:alphaModFix/>
          </a:blip>
          <a:srcRect b="0" l="0" r="0" t="0"/>
          <a:stretch/>
        </p:blipFill>
        <p:spPr>
          <a:xfrm>
            <a:off x="576072" y="3337560"/>
            <a:ext cx="164592" cy="164592"/>
          </a:xfrm>
          <a:prstGeom prst="rect">
            <a:avLst/>
          </a:prstGeom>
          <a:noFill/>
          <a:ln>
            <a:noFill/>
          </a:ln>
        </p:spPr>
      </p:pic>
      <p:sp>
        <p:nvSpPr>
          <p:cNvPr id="245" name="Google Shape;245;p14"/>
          <p:cNvSpPr txBox="1"/>
          <p:nvPr/>
        </p:nvSpPr>
        <p:spPr>
          <a:xfrm>
            <a:off x="822960" y="3255264"/>
            <a:ext cx="7772400"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Play"/>
              <a:buNone/>
            </a:pPr>
            <a:r>
              <a:rPr b="1" i="0" lang="en-US" spc="0" sz="950" u="none" cap="none" strike="noStrike">
                <a:solidFill>
                  <a:srgbClr val="9A6410"/>
                </a:solidFill>
                <a:latin typeface="Play"/>
                <a:ea typeface="Play"/>
                <a:cs typeface="Play"/>
                <a:sym typeface="Play"/>
              </a:rPr>
              <a:t>Macros</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No refund — monthly fee   ·   [Fragment] No refund — ETF   ·   [Fragment] Free month offer</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Lower ETF offer – MF deducted from ETF   ·   [Fragment] Lower ETF offer – Voucher price deducted from ETF</a:t>
            </a:r>
            <a:endParaRPr b="0" i="0" spc="0" sz="950" u="none" cap="none" strike="noStrike">
              <a:solidFill>
                <a:schemeClr val="dk1"/>
              </a:solidFill>
              <a:latin typeface="Calibri"/>
              <a:ea typeface="Calibri"/>
              <a:cs typeface="Calibri"/>
              <a:sym typeface="Calibri"/>
            </a:endParaRPr>
          </a:p>
        </p:txBody>
      </p:sp>
      <p:sp>
        <p:nvSpPr>
          <p:cNvPr id="246" name="Google Shape;246;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KNOWLEDGE CHECK</a:t>
            </a:r>
            <a:endParaRPr b="0" i="0" spc="0" sz="800" u="none" cap="none" strike="noStrike">
              <a:solidFill>
                <a:schemeClr val="dk1"/>
              </a:solidFill>
              <a:latin typeface="Calibri"/>
              <a:ea typeface="Calibri"/>
              <a:cs typeface="Calibri"/>
              <a:sym typeface="Calibri"/>
            </a:endParaRPr>
          </a:p>
        </p:txBody>
      </p:sp>
      <p:sp>
        <p:nvSpPr>
          <p:cNvPr id="253" name="Google Shape;253;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54" name="Google Shape;254;p1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 name="Google Shape;256;p1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57" name="Google Shape;257;p1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7 paid months, 6-month MCT, 3 unused MFs (all within 120 days, C was unaware). How many are refundable?</a:t>
            </a:r>
            <a:endParaRPr b="0" i="0" spc="0" sz="1000" u="none" cap="none" strike="noStrike">
              <a:solidFill>
                <a:schemeClr val="dk1"/>
              </a:solidFill>
              <a:latin typeface="Calibri"/>
              <a:ea typeface="Calibri"/>
              <a:cs typeface="Calibri"/>
              <a:sym typeface="Calibri"/>
            </a:endParaRPr>
          </a:p>
        </p:txBody>
      </p:sp>
      <p:sp>
        <p:nvSpPr>
          <p:cNvPr id="258" name="Google Shape;258;p1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 name="Google Shape;259;p1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One: only the MF beyond the MCT. The other two are owed.</a:t>
            </a:r>
            <a:endParaRPr b="0" i="0" spc="0" sz="900" u="none" cap="none" strike="noStrike">
              <a:solidFill>
                <a:schemeClr val="dk1"/>
              </a:solidFill>
              <a:latin typeface="Calibri"/>
              <a:ea typeface="Calibri"/>
              <a:cs typeface="Calibri"/>
              <a:sym typeface="Calibri"/>
            </a:endParaRPr>
          </a:p>
        </p:txBody>
      </p:sp>
      <p:sp>
        <p:nvSpPr>
          <p:cNvPr id="260" name="Google Shape;260;p1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 name="Google Shape;262;p1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63" name="Google Shape;263;p1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eligible, FC is active and C is retainable. Refund?</a:t>
            </a:r>
            <a:endParaRPr b="0" i="0" spc="0" sz="1000" u="none" cap="none" strike="noStrike">
              <a:solidFill>
                <a:schemeClr val="dk1"/>
              </a:solidFill>
              <a:latin typeface="Calibri"/>
              <a:ea typeface="Calibri"/>
              <a:cs typeface="Calibri"/>
              <a:sym typeface="Calibri"/>
            </a:endParaRPr>
          </a:p>
        </p:txBody>
      </p:sp>
      <p:sp>
        <p:nvSpPr>
          <p:cNvPr id="264" name="Google Shape;264;p1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Lead with free months equal to the eligible amount (max 3).</a:t>
            </a:r>
            <a:endParaRPr b="0" i="0" spc="0" sz="900" u="none" cap="none" strike="noStrike">
              <a:solidFill>
                <a:schemeClr val="dk1"/>
              </a:solidFill>
              <a:latin typeface="Calibri"/>
              <a:ea typeface="Calibri"/>
              <a:cs typeface="Calibri"/>
              <a:sym typeface="Calibri"/>
            </a:endParaRPr>
          </a:p>
        </p:txBody>
      </p:sp>
      <p:sp>
        <p:nvSpPr>
          <p:cNvPr id="266" name="Google Shape;266;p1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 name="Google Shape;268;p1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69" name="Google Shape;269;p1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knew about the membership, I just forgot to cancel." Refund?</a:t>
            </a:r>
            <a:endParaRPr b="0" i="0" spc="0" sz="1000" u="none" cap="none" strike="noStrike">
              <a:solidFill>
                <a:schemeClr val="dk1"/>
              </a:solidFill>
              <a:latin typeface="Calibri"/>
              <a:ea typeface="Calibri"/>
              <a:cs typeface="Calibri"/>
              <a:sym typeface="Calibri"/>
            </a:endParaRPr>
          </a:p>
        </p:txBody>
      </p:sp>
      <p:sp>
        <p:nvSpPr>
          <p:cNvPr id="270" name="Google Shape;270;p1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 name="Google Shape;271;p1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The benefit was available every month.</a:t>
            </a:r>
            <a:endParaRPr b="0" i="0" spc="0" sz="900" u="none" cap="none" strike="noStrike">
              <a:solidFill>
                <a:schemeClr val="dk1"/>
              </a:solidFill>
              <a:latin typeface="Calibri"/>
              <a:ea typeface="Calibri"/>
              <a:cs typeface="Calibri"/>
              <a:sym typeface="Calibri"/>
            </a:endParaRPr>
          </a:p>
        </p:txBody>
      </p:sp>
      <p:sp>
        <p:nvSpPr>
          <p:cNvPr id="272" name="Google Shape;272;p1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 name="Google Shape;273;p1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 name="Google Shape;274;p1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75" name="Google Shape;275;p1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asked to cancel after MCT; FC kept renewing for 5 months. Refund?</a:t>
            </a:r>
            <a:endParaRPr b="0" i="0" spc="0" sz="1000" u="none" cap="none" strike="noStrike">
              <a:solidFill>
                <a:schemeClr val="dk1"/>
              </a:solidFill>
              <a:latin typeface="Calibri"/>
              <a:ea typeface="Calibri"/>
              <a:cs typeface="Calibri"/>
              <a:sym typeface="Calibri"/>
            </a:endParaRPr>
          </a:p>
        </p:txBody>
      </p:sp>
      <p:sp>
        <p:nvSpPr>
          <p:cNvPr id="276" name="Google Shape;276;p1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 name="Google Shape;277;p1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every MF after the request, any age: agent error.</a:t>
            </a:r>
            <a:endParaRPr b="0" i="0" spc="0" sz="900" u="none" cap="none" strike="noStrike">
              <a:solidFill>
                <a:schemeClr val="dk1"/>
              </a:solidFill>
              <a:latin typeface="Calibri"/>
              <a:ea typeface="Calibri"/>
              <a:cs typeface="Calibri"/>
              <a:sym typeface="Calibri"/>
            </a:endParaRPr>
          </a:p>
        </p:txBody>
      </p:sp>
      <p:sp>
        <p:nvSpPr>
          <p:cNvPr id="278" name="Google Shape;278;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9"/>
                                        </p:tgtEl>
                                        <p:attrNameLst>
                                          <p:attrName>style.visibility</p:attrName>
                                        </p:attrNameLst>
                                      </p:cBhvr>
                                      <p:to>
                                        <p:strVal val="visible"/>
                                      </p:to>
                                    </p:set>
                                    <p:animEffect filter="fade" transition="in">
                                      <p:cBhvr>
                                        <p:cTn dur="600"/>
                                        <p:tgtEl>
                                          <p:spTgt spid="2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5"/>
                                        </p:tgtEl>
                                        <p:attrNameLst>
                                          <p:attrName>style.visibility</p:attrName>
                                        </p:attrNameLst>
                                      </p:cBhvr>
                                      <p:to>
                                        <p:strVal val="visible"/>
                                      </p:to>
                                    </p:set>
                                    <p:animEffect filter="fade" transition="in">
                                      <p:cBhvr>
                                        <p:cTn dur="600"/>
                                        <p:tgtEl>
                                          <p:spTgt spid="26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1"/>
                                        </p:tgtEl>
                                        <p:attrNameLst>
                                          <p:attrName>style.visibility</p:attrName>
                                        </p:attrNameLst>
                                      </p:cBhvr>
                                      <p:to>
                                        <p:strVal val="visible"/>
                                      </p:to>
                                    </p:set>
                                    <p:animEffect filter="fade" transition="in">
                                      <p:cBhvr>
                                        <p:cTn dur="600"/>
                                        <p:tgtEl>
                                          <p:spTgt spid="27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7"/>
                                        </p:tgtEl>
                                        <p:attrNameLst>
                                          <p:attrName>style.visibility</p:attrName>
                                        </p:attrNameLst>
                                      </p:cBhvr>
                                      <p:to>
                                        <p:strVal val="visible"/>
                                      </p:to>
                                    </p:set>
                                    <p:animEffect filter="fade" transition="in">
                                      <p:cBhvr>
                                        <p:cTn dur="600"/>
                                        <p:tgtEl>
                                          <p:spTgt spid="27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PRACTICE</a:t>
            </a:r>
            <a:endParaRPr b="0" i="0" spc="0" sz="800" u="none" cap="none" strike="noStrike">
              <a:solidFill>
                <a:schemeClr val="dk1"/>
              </a:solidFill>
              <a:latin typeface="Calibri"/>
              <a:ea typeface="Calibri"/>
              <a:cs typeface="Calibri"/>
              <a:sym typeface="Calibri"/>
            </a:endParaRPr>
          </a:p>
        </p:txBody>
      </p:sp>
      <p:sp>
        <p:nvSpPr>
          <p:cNvPr id="285" name="Google Shape;285;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86" name="Google Shape;286;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87" name="Google Shape;287;p1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 name="Google Shape;288;p1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89" name="Google Shape;289;p1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90" name="Google Shape;290;p1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91" name="Google Shape;291;p1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92" name="Google Shape;292;p1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93" name="Google Shape;293;p1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96" name="Google Shape;296;p1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What's the root cause?</a:t>
            </a:r>
            <a:endParaRPr b="0" i="0" spc="0" sz="1250" u="none" cap="none" strike="noStrike">
              <a:solidFill>
                <a:schemeClr val="dk1"/>
              </a:solidFill>
              <a:latin typeface="Calibri"/>
              <a:ea typeface="Calibri"/>
              <a:cs typeface="Calibri"/>
              <a:sym typeface="Calibri"/>
            </a:endParaRPr>
          </a:p>
        </p:txBody>
      </p:sp>
      <p:sp>
        <p:nvSpPr>
          <p:cNvPr id="297" name="Google Shape;297;p1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Unaware, thought cancelled, forgot, our error?</a:t>
            </a:r>
            <a:endParaRPr b="0" i="0" spc="0" sz="1000" u="none" cap="none" strike="noStrike">
              <a:solidFill>
                <a:schemeClr val="dk1"/>
              </a:solidFill>
              <a:latin typeface="Calibri"/>
              <a:ea typeface="Calibri"/>
              <a:cs typeface="Calibri"/>
              <a:sym typeface="Calibri"/>
            </a:endParaRPr>
          </a:p>
        </p:txBody>
      </p:sp>
      <p:sp>
        <p:nvSpPr>
          <p:cNvPr id="298" name="Google Shape;298;p1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 name="Google Shape;299;p1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 name="Google Shape;300;p1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301" name="Google Shape;301;p1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302" name="Google Shape;302;p1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MCT test, 120 days, free months or refund?</a:t>
            </a:r>
            <a:endParaRPr b="0" i="0" spc="0" sz="1000" u="none" cap="none" strike="noStrike">
              <a:solidFill>
                <a:schemeClr val="dk1"/>
              </a:solidFill>
              <a:latin typeface="Calibri"/>
              <a:ea typeface="Calibri"/>
              <a:cs typeface="Calibri"/>
              <a:sym typeface="Calibri"/>
            </a:endParaRPr>
          </a:p>
        </p:txBody>
      </p:sp>
      <p:sp>
        <p:nvSpPr>
          <p:cNvPr id="303" name="Google Shape;303;p1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 name="Google Shape;304;p1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 name="Google Shape;305;p1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306" name="Google Shape;306;p1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307" name="Google Shape;307;p1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to the customer.</a:t>
            </a:r>
            <a:endParaRPr b="0" i="0" spc="0" sz="1000" u="none" cap="none" strike="noStrike">
              <a:solidFill>
                <a:schemeClr val="dk1"/>
              </a:solidFill>
              <a:latin typeface="Calibri"/>
              <a:ea typeface="Calibri"/>
              <a:cs typeface="Calibri"/>
              <a:sym typeface="Calibri"/>
            </a:endParaRPr>
          </a:p>
        </p:txBody>
      </p:sp>
      <p:sp>
        <p:nvSpPr>
          <p:cNvPr id="308" name="Google Shape;308;p1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09" name="Google Shape;309;p1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10" name="Google Shape;310;p1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11" name="Google Shape;311;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1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18" name="Google Shape;318;p1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Customer Abusive Behavior</a:t>
            </a:r>
            <a:endParaRPr b="0" i="0" spc="0" sz="2800" u="none" cap="none" strike="noStrike">
              <a:solidFill>
                <a:schemeClr val="dk1"/>
              </a:solidFill>
              <a:latin typeface="Calibri"/>
              <a:ea typeface="Calibri"/>
              <a:cs typeface="Calibri"/>
              <a:sym typeface="Calibri"/>
            </a:endParaRPr>
          </a:p>
        </p:txBody>
      </p:sp>
      <p:sp>
        <p:nvSpPr>
          <p:cNvPr id="319" name="Google Shape;319;p1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Towards a cleaner. Once abuse is confirmed, the goal shifts from retention to protecting the CP.</a:t>
            </a:r>
            <a:endParaRPr b="0" i="0" spc="0" sz="1150" u="none" cap="none" strike="noStrike">
              <a:solidFill>
                <a:schemeClr val="dk1"/>
              </a:solidFill>
              <a:latin typeface="Calibri"/>
              <a:ea typeface="Calibri"/>
              <a:cs typeface="Calibri"/>
              <a:sym typeface="Calibri"/>
            </a:endParaRPr>
          </a:p>
        </p:txBody>
      </p:sp>
      <p:sp>
        <p:nvSpPr>
          <p:cNvPr id="320" name="Google Shape;320;p1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21" name="Google Shape;321;p1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2" name="Google Shape;322;p1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23" name="Google Shape;323;p1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counts as abusive (and what doesn't)</a:t>
            </a:r>
            <a:endParaRPr b="0" i="0" spc="0" sz="1050" u="none" cap="none" strike="noStrike">
              <a:solidFill>
                <a:schemeClr val="dk1"/>
              </a:solidFill>
              <a:latin typeface="Calibri"/>
              <a:ea typeface="Calibri"/>
              <a:cs typeface="Calibri"/>
              <a:sym typeface="Calibri"/>
            </a:endParaRPr>
          </a:p>
        </p:txBody>
      </p:sp>
      <p:sp>
        <p:nvSpPr>
          <p:cNvPr id="324" name="Google Shape;324;p1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5" name="Google Shape;325;p1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26" name="Google Shape;326;p1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retention is off the table</a:t>
            </a:r>
            <a:endParaRPr b="0" i="0" spc="0" sz="1050" u="none" cap="none" strike="noStrike">
              <a:solidFill>
                <a:schemeClr val="dk1"/>
              </a:solidFill>
              <a:latin typeface="Calibri"/>
              <a:ea typeface="Calibri"/>
              <a:cs typeface="Calibri"/>
              <a:sym typeface="Calibri"/>
            </a:endParaRPr>
          </a:p>
        </p:txBody>
      </p:sp>
      <p:sp>
        <p:nvSpPr>
          <p:cNvPr id="327" name="Google Shape;327;p1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8" name="Google Shape;328;p1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29" name="Google Shape;329;p1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process</a:t>
            </a:r>
            <a:endParaRPr b="0" i="0" spc="0" sz="1050" u="none" cap="none" strike="noStrike">
              <a:solidFill>
                <a:schemeClr val="dk1"/>
              </a:solidFill>
              <a:latin typeface="Calibri"/>
              <a:ea typeface="Calibri"/>
              <a:cs typeface="Calibri"/>
              <a:sym typeface="Calibri"/>
            </a:endParaRPr>
          </a:p>
        </p:txBody>
      </p:sp>
      <p:sp>
        <p:nvSpPr>
          <p:cNvPr id="330" name="Google Shape;330;p1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31" name="Google Shape;331;p1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32" name="Google Shape;332;p1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What's allowed vs. not allowed</a:t>
            </a:r>
            <a:endParaRPr b="0" i="0" spc="0" sz="1050" u="none" cap="none" strike="noStrike">
              <a:solidFill>
                <a:schemeClr val="dk1"/>
              </a:solidFill>
              <a:latin typeface="Calibri"/>
              <a:ea typeface="Calibri"/>
              <a:cs typeface="Calibri"/>
              <a:sym typeface="Calibri"/>
            </a:endParaRPr>
          </a:p>
        </p:txBody>
      </p:sp>
      <p:sp>
        <p:nvSpPr>
          <p:cNvPr id="333" name="Google Shape;333;p1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4" name="Google Shape;334;p1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30.png" id="335" name="Google Shape;335;p17"/>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36" name="Google Shape;336;p1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7" name="Google Shape;337;p1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8" name="Google Shape;338;p1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9" name="Google Shape;339;p1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0" name="Google Shape;340;p1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1" name="Google Shape;341;p1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49" name="Google Shape;349;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350" name="Google Shape;350;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Abuse is confirmed. Retention stops; the CP comes first.</a:t>
            </a:r>
            <a:endParaRPr b="0" i="0" spc="0" sz="1200" u="none" cap="none" strike="noStrike">
              <a:solidFill>
                <a:schemeClr val="dk1"/>
              </a:solidFill>
              <a:latin typeface="Calibri"/>
              <a:ea typeface="Calibri"/>
              <a:cs typeface="Calibri"/>
              <a:sym typeface="Calibri"/>
            </a:endParaRPr>
          </a:p>
        </p:txBody>
      </p:sp>
      <p:sp>
        <p:nvSpPr>
          <p:cNvPr id="351" name="Google Shape;351;p1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2" name="Google Shape;352;p1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3" name="Google Shape;353;p1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354" name="Google Shape;354;p1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Protect the CP</a:t>
            </a:r>
            <a:endParaRPr b="0" i="0" spc="0" sz="1200" u="none" cap="none" strike="noStrike">
              <a:solidFill>
                <a:schemeClr val="dk1"/>
              </a:solidFill>
              <a:latin typeface="Calibri"/>
              <a:ea typeface="Calibri"/>
              <a:cs typeface="Calibri"/>
              <a:sym typeface="Calibri"/>
            </a:endParaRPr>
          </a:p>
        </p:txBody>
      </p:sp>
      <p:sp>
        <p:nvSpPr>
          <p:cNvPr id="355" name="Google Shape;355;p1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Retention would reward the behavior, and ask a CP to absorb more of it.</a:t>
            </a:r>
            <a:endParaRPr b="0" i="0" spc="0" sz="950" u="none" cap="none" strike="noStrike">
              <a:solidFill>
                <a:schemeClr val="dk1"/>
              </a:solidFill>
              <a:latin typeface="Calibri"/>
              <a:ea typeface="Calibri"/>
              <a:cs typeface="Calibri"/>
              <a:sym typeface="Calibri"/>
            </a:endParaRPr>
          </a:p>
        </p:txBody>
      </p:sp>
      <p:sp>
        <p:nvSpPr>
          <p:cNvPr id="356" name="Google Shape;356;p1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359" name="Google Shape;359;p1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Hold the boundary</a:t>
            </a:r>
            <a:endParaRPr b="0" i="0" spc="0" sz="1200" u="none" cap="none" strike="noStrike">
              <a:solidFill>
                <a:schemeClr val="dk1"/>
              </a:solidFill>
              <a:latin typeface="Calibri"/>
              <a:ea typeface="Calibri"/>
              <a:cs typeface="Calibri"/>
              <a:sym typeface="Calibri"/>
            </a:endParaRPr>
          </a:p>
        </p:txBody>
      </p:sp>
      <p:sp>
        <p:nvSpPr>
          <p:cNvPr id="360" name="Google Shape;360;p1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incentives, no persuasion to continue.</a:t>
            </a:r>
            <a:endParaRPr b="0" i="0" spc="0" sz="950" u="none" cap="none" strike="noStrike">
              <a:solidFill>
                <a:schemeClr val="dk1"/>
              </a:solidFill>
              <a:latin typeface="Calibri"/>
              <a:ea typeface="Calibri"/>
              <a:cs typeface="Calibri"/>
              <a:sym typeface="Calibri"/>
            </a:endParaRPr>
          </a:p>
        </p:txBody>
      </p:sp>
      <p:sp>
        <p:nvSpPr>
          <p:cNvPr id="361" name="Google Shape;361;p1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2" name="Google Shape;362;p1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3" name="Google Shape;363;p1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364" name="Google Shape;364;p1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 fair exit</a:t>
            </a:r>
            <a:endParaRPr b="0" i="0" spc="0" sz="1200" u="none" cap="none" strike="noStrike">
              <a:solidFill>
                <a:schemeClr val="dk1"/>
              </a:solidFill>
              <a:latin typeface="Calibri"/>
              <a:ea typeface="Calibri"/>
              <a:cs typeface="Calibri"/>
              <a:sym typeface="Calibri"/>
            </a:endParaRPr>
          </a:p>
        </p:txBody>
      </p:sp>
      <p:sp>
        <p:nvSpPr>
          <p:cNvPr id="365" name="Google Shape;365;p1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or MCT reduction if warranted on its own terms. Nothing beyond that.</a:t>
            </a:r>
            <a:endParaRPr b="0" i="0" spc="0" sz="950" u="none" cap="none" strike="noStrike">
              <a:solidFill>
                <a:schemeClr val="dk1"/>
              </a:solidFill>
              <a:latin typeface="Calibri"/>
              <a:ea typeface="Calibri"/>
              <a:cs typeface="Calibri"/>
              <a:sym typeface="Calibri"/>
            </a:endParaRPr>
          </a:p>
        </p:txBody>
      </p:sp>
      <p:sp>
        <p:nvSpPr>
          <p:cNvPr id="366" name="Google Shape;366;p18"/>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7" name="Google Shape;367;p18"/>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368" name="Google Shape;368;p18"/>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CP-side investigation:  </a:t>
            </a:r>
            <a:r>
              <a:rPr b="0" i="0" lang="en-US" spc="0" sz="1000" u="none" cap="none" strike="noStrike">
                <a:solidFill>
                  <a:srgbClr val="1D1D1F"/>
                </a:solidFill>
                <a:latin typeface="Arial"/>
                <a:ea typeface="Arial"/>
                <a:cs typeface="Arial"/>
                <a:sym typeface="Arial"/>
              </a:rPr>
              <a:t>see Trust and Safety Overview. This topic is the customer side.</a:t>
            </a:r>
            <a:endParaRPr b="0" i="0" spc="0" sz="1000" u="none" cap="none" strike="noStrike">
              <a:solidFill>
                <a:schemeClr val="dk1"/>
              </a:solidFill>
              <a:latin typeface="Calibri"/>
              <a:ea typeface="Calibri"/>
              <a:cs typeface="Calibri"/>
              <a:sym typeface="Calibri"/>
            </a:endParaRPr>
          </a:p>
        </p:txBody>
      </p:sp>
      <p:sp>
        <p:nvSpPr>
          <p:cNvPr id="369" name="Google Shape;369;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sp>
        <p:nvSpPr>
          <p:cNvPr id="375" name="Google Shape;375;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76" name="Google Shape;376;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Intent, target, tone</a:t>
            </a:r>
            <a:endParaRPr b="0" i="0" spc="0" sz="2400" u="none" cap="none" strike="noStrike">
              <a:solidFill>
                <a:schemeClr val="dk1"/>
              </a:solidFill>
              <a:latin typeface="Calibri"/>
              <a:ea typeface="Calibri"/>
              <a:cs typeface="Calibri"/>
              <a:sym typeface="Calibri"/>
            </a:endParaRPr>
          </a:p>
        </p:txBody>
      </p:sp>
      <p:sp>
        <p:nvSpPr>
          <p:cNvPr id="377" name="Google Shape;377;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profanity. Is it aimed at the cleaner, personally?</a:t>
            </a:r>
            <a:endParaRPr b="0" i="0" spc="0" sz="1200" u="none" cap="none" strike="noStrike">
              <a:solidFill>
                <a:schemeClr val="dk1"/>
              </a:solidFill>
              <a:latin typeface="Calibri"/>
              <a:ea typeface="Calibri"/>
              <a:cs typeface="Calibri"/>
              <a:sym typeface="Calibri"/>
            </a:endParaRPr>
          </a:p>
        </p:txBody>
      </p:sp>
      <p:sp>
        <p:nvSpPr>
          <p:cNvPr id="378" name="Google Shape;378;p19"/>
          <p:cNvSpPr/>
          <p:nvPr/>
        </p:nvSpPr>
        <p:spPr>
          <a:xfrm>
            <a:off x="411480" y="1325880"/>
            <a:ext cx="4069080" cy="2194560"/>
          </a:xfrm>
          <a:prstGeom prst="roundRect">
            <a:avLst>
              <a:gd fmla="val 333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9"/>
          <p:cNvSpPr txBox="1"/>
          <p:nvPr/>
        </p:nvSpPr>
        <p:spPr>
          <a:xfrm>
            <a:off x="59436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1050"/>
              <a:buFont typeface="Play"/>
              <a:buNone/>
            </a:pPr>
            <a:r>
              <a:rPr b="1" i="0" lang="en-US" spc="0" sz="1050" u="none" cap="none" strike="noStrike">
                <a:solidFill>
                  <a:srgbClr val="B3261E"/>
                </a:solidFill>
                <a:latin typeface="Play"/>
                <a:ea typeface="Play"/>
                <a:cs typeface="Play"/>
                <a:sym typeface="Play"/>
              </a:rPr>
              <a:t>Abusive: actionable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“You're f***ing useless. If you don't fix this, you'll regret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going to come back there and hurt you.”</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“Repeated name-calling or profanity aimed at the cleaner, after being asked to stop”</a:t>
            </a:r>
            <a:endParaRPr b="0" i="0" spc="0" sz="1050" u="none" cap="none" strike="noStrike">
              <a:solidFill>
                <a:schemeClr val="dk1"/>
              </a:solidFill>
              <a:latin typeface="Calibri"/>
              <a:ea typeface="Calibri"/>
              <a:cs typeface="Calibri"/>
              <a:sym typeface="Calibri"/>
            </a:endParaRPr>
          </a:p>
        </p:txBody>
      </p:sp>
      <p:sp>
        <p:nvSpPr>
          <p:cNvPr id="380" name="Google Shape;380;p19"/>
          <p:cNvSpPr/>
          <p:nvPr/>
        </p:nvSpPr>
        <p:spPr>
          <a:xfrm>
            <a:off x="4663440" y="1325880"/>
            <a:ext cx="4069080" cy="2194560"/>
          </a:xfrm>
          <a:prstGeom prst="roundRect">
            <a:avLst>
              <a:gd fmla="val 3333"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1" name="Google Shape;381;p19"/>
          <p:cNvSpPr txBox="1"/>
          <p:nvPr/>
        </p:nvSpPr>
        <p:spPr>
          <a:xfrm>
            <a:off x="484632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7D32"/>
              </a:buClr>
              <a:buSzPts val="1050"/>
              <a:buFont typeface="Play"/>
              <a:buNone/>
            </a:pPr>
            <a:r>
              <a:rPr b="1" i="0" lang="en-US" spc="0" sz="1050" u="none" cap="none" strike="noStrike">
                <a:solidFill>
                  <a:srgbClr val="2E7D32"/>
                </a:solidFill>
                <a:latin typeface="Play"/>
                <a:ea typeface="Play"/>
                <a:cs typeface="Play"/>
                <a:sym typeface="Play"/>
              </a:rPr>
              <a:t>Not abusive: don't escalate on this alone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“This is f***ing frustrating. My place still isn't clean.”</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really pissed about how this turned out.”</a:t>
            </a:r>
            <a:endParaRPr b="0" i="0" spc="0" sz="1050" u="none" cap="none" strike="noStrike">
              <a:solidFill>
                <a:schemeClr val="dk1"/>
              </a:solidFill>
              <a:latin typeface="Calibri"/>
              <a:ea typeface="Calibri"/>
              <a:cs typeface="Calibri"/>
              <a:sym typeface="Calibri"/>
            </a:endParaRPr>
          </a:p>
        </p:txBody>
      </p:sp>
      <p:sp>
        <p:nvSpPr>
          <p:cNvPr id="382" name="Google Shape;382;p19"/>
          <p:cNvSpPr/>
          <p:nvPr/>
        </p:nvSpPr>
        <p:spPr>
          <a:xfrm>
            <a:off x="411480" y="370332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3" name="Google Shape;383;p19"/>
          <p:cNvPicPr preferRelativeResize="0"/>
          <p:nvPr/>
        </p:nvPicPr>
        <p:blipFill rotWithShape="1">
          <a:blip r:embed="rId3">
            <a:alphaModFix/>
          </a:blip>
          <a:srcRect b="0" l="0" r="0" t="0"/>
          <a:stretch/>
        </p:blipFill>
        <p:spPr>
          <a:xfrm>
            <a:off x="566928" y="3813048"/>
            <a:ext cx="164592" cy="164592"/>
          </a:xfrm>
          <a:prstGeom prst="rect">
            <a:avLst/>
          </a:prstGeom>
          <a:noFill/>
          <a:ln>
            <a:noFill/>
          </a:ln>
        </p:spPr>
      </p:pic>
      <p:sp>
        <p:nvSpPr>
          <p:cNvPr id="384" name="Google Shape;384;p19"/>
          <p:cNvSpPr txBox="1"/>
          <p:nvPr/>
        </p:nvSpPr>
        <p:spPr>
          <a:xfrm>
            <a:off x="822960" y="370332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Swearing alone is never enough.  </a:t>
            </a:r>
            <a:r>
              <a:rPr b="0" i="0" lang="en-US" spc="0" sz="1000" u="none" cap="none" strike="noStrike">
                <a:solidFill>
                  <a:srgbClr val="1D1D1F"/>
                </a:solidFill>
                <a:latin typeface="Arial"/>
                <a:ea typeface="Arial"/>
                <a:cs typeface="Arial"/>
                <a:sym typeface="Arial"/>
              </a:rPr>
              <a:t>Look for insults or threats aimed at the cleaner personally.</a:t>
            </a:r>
            <a:endParaRPr b="0" i="0" spc="0" sz="1000" u="none" cap="none" strike="noStrike">
              <a:solidFill>
                <a:schemeClr val="dk1"/>
              </a:solidFill>
              <a:latin typeface="Calibri"/>
              <a:ea typeface="Calibri"/>
              <a:cs typeface="Calibri"/>
              <a:sym typeface="Calibri"/>
            </a:endParaRPr>
          </a:p>
        </p:txBody>
      </p:sp>
      <p:sp>
        <p:nvSpPr>
          <p:cNvPr id="385" name="Google Shape;385;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sp>
        <p:nvSpPr>
          <p:cNvPr id="391" name="Google Shape;391;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92" name="Google Shape;392;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393" name="Google Shape;393;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the terms, keep it neutral, offer a clean exit.</a:t>
            </a:r>
            <a:endParaRPr b="0" i="0" spc="0" sz="1200" u="none" cap="none" strike="noStrike">
              <a:solidFill>
                <a:schemeClr val="dk1"/>
              </a:solidFill>
              <a:latin typeface="Calibri"/>
              <a:ea typeface="Calibri"/>
              <a:cs typeface="Calibri"/>
              <a:sym typeface="Calibri"/>
            </a:endParaRPr>
          </a:p>
        </p:txBody>
      </p:sp>
      <p:sp>
        <p:nvSpPr>
          <p:cNvPr id="394" name="Google Shape;394;p20"/>
          <p:cNvSpPr/>
          <p:nvPr/>
        </p:nvSpPr>
        <p:spPr>
          <a:xfrm>
            <a:off x="411480" y="132588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20"/>
          <p:cNvSpPr/>
          <p:nvPr/>
        </p:nvSpPr>
        <p:spPr>
          <a:xfrm>
            <a:off x="539496" y="153162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6" name="Google Shape;396;p20"/>
          <p:cNvSpPr txBox="1"/>
          <p:nvPr/>
        </p:nvSpPr>
        <p:spPr>
          <a:xfrm>
            <a:off x="539496" y="153162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397" name="Google Shape;397;p20"/>
          <p:cNvSpPr txBox="1"/>
          <p:nvPr/>
        </p:nvSpPr>
        <p:spPr>
          <a:xfrm>
            <a:off x="923544" y="132588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No retention.</a:t>
            </a:r>
            <a:r>
              <a:rPr b="0" i="0" lang="en-US" spc="0" sz="950" u="none" cap="none" strike="noStrike">
                <a:solidFill>
                  <a:srgbClr val="6E6E73"/>
                </a:solidFill>
                <a:latin typeface="Arial"/>
                <a:ea typeface="Arial"/>
                <a:cs typeface="Arial"/>
                <a:sym typeface="Arial"/>
              </a:rPr>
              <a:t>  No incentives, no persuasion.</a:t>
            </a:r>
            <a:endParaRPr b="0" i="0" spc="0" sz="950" u="none" cap="none" strike="noStrike">
              <a:solidFill>
                <a:schemeClr val="dk1"/>
              </a:solidFill>
              <a:latin typeface="Calibri"/>
              <a:ea typeface="Calibri"/>
              <a:cs typeface="Calibri"/>
              <a:sym typeface="Calibri"/>
            </a:endParaRPr>
          </a:p>
        </p:txBody>
      </p:sp>
      <p:sp>
        <p:nvSpPr>
          <p:cNvPr id="398" name="Google Shape;398;p20"/>
          <p:cNvSpPr/>
          <p:nvPr/>
        </p:nvSpPr>
        <p:spPr>
          <a:xfrm>
            <a:off x="411480" y="210312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9" name="Google Shape;399;p20"/>
          <p:cNvSpPr/>
          <p:nvPr/>
        </p:nvSpPr>
        <p:spPr>
          <a:xfrm>
            <a:off x="539496" y="23088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0" name="Google Shape;400;p20"/>
          <p:cNvSpPr txBox="1"/>
          <p:nvPr/>
        </p:nvSpPr>
        <p:spPr>
          <a:xfrm>
            <a:off x="539496" y="23088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01" name="Google Shape;401;p20"/>
          <p:cNvSpPr txBox="1"/>
          <p:nvPr/>
        </p:nvSpPr>
        <p:spPr>
          <a:xfrm>
            <a:off x="923544" y="210312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Explain the terms.</a:t>
            </a:r>
            <a:r>
              <a:rPr b="0" i="0" lang="en-US" spc="0" sz="950" u="none" cap="none" strike="noStrike">
                <a:solidFill>
                  <a:srgbClr val="6E6E73"/>
                </a:solidFill>
                <a:latin typeface="Arial"/>
                <a:ea typeface="Arial"/>
                <a:cs typeface="Arial"/>
                <a:sym typeface="Arial"/>
              </a:rPr>
              <a:t>  FC and ETF: factual, neutral, not a negotiation.</a:t>
            </a:r>
            <a:endParaRPr b="0" i="0" spc="0" sz="950" u="none" cap="none" strike="noStrike">
              <a:solidFill>
                <a:schemeClr val="dk1"/>
              </a:solidFill>
              <a:latin typeface="Calibri"/>
              <a:ea typeface="Calibri"/>
              <a:cs typeface="Calibri"/>
              <a:sym typeface="Calibri"/>
            </a:endParaRPr>
          </a:p>
        </p:txBody>
      </p:sp>
      <p:sp>
        <p:nvSpPr>
          <p:cNvPr id="402" name="Google Shape;402;p20"/>
          <p:cNvSpPr/>
          <p:nvPr/>
        </p:nvSpPr>
        <p:spPr>
          <a:xfrm>
            <a:off x="411480" y="288036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20"/>
          <p:cNvSpPr/>
          <p:nvPr/>
        </p:nvSpPr>
        <p:spPr>
          <a:xfrm>
            <a:off x="539496" y="30861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4" name="Google Shape;404;p20"/>
          <p:cNvSpPr txBox="1"/>
          <p:nvPr/>
        </p:nvSpPr>
        <p:spPr>
          <a:xfrm>
            <a:off x="539496" y="30861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05" name="Google Shape;405;p20"/>
          <p:cNvSpPr txBox="1"/>
          <p:nvPr/>
        </p:nvSpPr>
        <p:spPr>
          <a:xfrm>
            <a:off x="923544" y="288036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Refuses the ETF?</a:t>
            </a:r>
            <a:r>
              <a:rPr b="0" i="0" lang="en-US" spc="0" sz="950" u="none" cap="none" strike="noStrike">
                <a:solidFill>
                  <a:srgbClr val="6E6E73"/>
                </a:solidFill>
                <a:latin typeface="Arial"/>
                <a:ea typeface="Arial"/>
                <a:cs typeface="Arial"/>
                <a:sym typeface="Arial"/>
              </a:rPr>
              <a:t>  An ETF or MCT reduction may be considered (standard guidelines).</a:t>
            </a:r>
            <a:endParaRPr b="0" i="0" spc="0" sz="950" u="none" cap="none" strike="noStrike">
              <a:solidFill>
                <a:schemeClr val="dk1"/>
              </a:solidFill>
              <a:latin typeface="Calibri"/>
              <a:ea typeface="Calibri"/>
              <a:cs typeface="Calibri"/>
              <a:sym typeface="Calibri"/>
            </a:endParaRPr>
          </a:p>
        </p:txBody>
      </p:sp>
      <p:sp>
        <p:nvSpPr>
          <p:cNvPr id="406" name="Google Shape;406;p20"/>
          <p:cNvSpPr/>
          <p:nvPr/>
        </p:nvSpPr>
        <p:spPr>
          <a:xfrm>
            <a:off x="4663440" y="1325880"/>
            <a:ext cx="1965960" cy="2240280"/>
          </a:xfrm>
          <a:prstGeom prst="roundRect">
            <a:avLst>
              <a:gd fmla="val 372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7" name="Google Shape;407;p20"/>
          <p:cNvSpPr/>
          <p:nvPr/>
        </p:nvSpPr>
        <p:spPr>
          <a:xfrm>
            <a:off x="4663440" y="1325880"/>
            <a:ext cx="19659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Allowed</a:t>
            </a:r>
            <a:endParaRPr b="0" i="0" spc="0" sz="1050" u="none" cap="none" strike="noStrike">
              <a:solidFill>
                <a:schemeClr val="dk1"/>
              </a:solidFill>
              <a:latin typeface="Calibri"/>
              <a:ea typeface="Calibri"/>
              <a:cs typeface="Calibri"/>
              <a:sym typeface="Calibri"/>
            </a:endParaRPr>
          </a:p>
        </p:txBody>
      </p:sp>
      <p:sp>
        <p:nvSpPr>
          <p:cNvPr id="408" name="Google Shape;408;p20"/>
          <p:cNvSpPr txBox="1"/>
          <p:nvPr/>
        </p:nvSpPr>
        <p:spPr>
          <a:xfrm>
            <a:off x="482803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with applicable terms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Reduced ETF or MCT, where warranted</a:t>
            </a:r>
            <a:endParaRPr b="0" i="0" spc="0" sz="900" u="none" cap="none" strike="noStrike">
              <a:solidFill>
                <a:schemeClr val="dk1"/>
              </a:solidFill>
              <a:latin typeface="Calibri"/>
              <a:ea typeface="Calibri"/>
              <a:cs typeface="Calibri"/>
              <a:sym typeface="Calibri"/>
            </a:endParaRPr>
          </a:p>
        </p:txBody>
      </p:sp>
      <p:sp>
        <p:nvSpPr>
          <p:cNvPr id="409" name="Google Shape;409;p20"/>
          <p:cNvSpPr/>
          <p:nvPr/>
        </p:nvSpPr>
        <p:spPr>
          <a:xfrm>
            <a:off x="6766560" y="1325880"/>
            <a:ext cx="1965960" cy="2240280"/>
          </a:xfrm>
          <a:prstGeom prst="roundRect">
            <a:avLst>
              <a:gd fmla="val 372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0" name="Google Shape;410;p20"/>
          <p:cNvSpPr/>
          <p:nvPr/>
        </p:nvSpPr>
        <p:spPr>
          <a:xfrm>
            <a:off x="6766560" y="1325880"/>
            <a:ext cx="19659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 allowed</a:t>
            </a:r>
            <a:endParaRPr b="0" i="0" spc="0" sz="1050" u="none" cap="none" strike="noStrike">
              <a:solidFill>
                <a:schemeClr val="dk1"/>
              </a:solidFill>
              <a:latin typeface="Calibri"/>
              <a:ea typeface="Calibri"/>
              <a:cs typeface="Calibri"/>
              <a:sym typeface="Calibri"/>
            </a:endParaRPr>
          </a:p>
        </p:txBody>
      </p:sp>
      <p:sp>
        <p:nvSpPr>
          <p:cNvPr id="411" name="Google Shape;411;p20"/>
          <p:cNvSpPr txBox="1"/>
          <p:nvPr/>
        </p:nvSpPr>
        <p:spPr>
          <a:xfrm>
            <a:off x="693115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MF reductions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Vouchers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Credits or free months</a:t>
            </a:r>
            <a:endParaRPr b="0" i="0" spc="0" sz="900" u="none" cap="none" strike="noStrike">
              <a:solidFill>
                <a:schemeClr val="dk1"/>
              </a:solidFill>
              <a:latin typeface="Calibri"/>
              <a:ea typeface="Calibri"/>
              <a:cs typeface="Calibri"/>
              <a:sym typeface="Calibri"/>
            </a:endParaRPr>
          </a:p>
        </p:txBody>
      </p:sp>
      <p:sp>
        <p:nvSpPr>
          <p:cNvPr id="412" name="Google Shape;412;p20"/>
          <p:cNvSpPr/>
          <p:nvPr/>
        </p:nvSpPr>
        <p:spPr>
          <a:xfrm>
            <a:off x="411480" y="37490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13" name="Google Shape;413;p20"/>
          <p:cNvPicPr preferRelativeResize="0"/>
          <p:nvPr/>
        </p:nvPicPr>
        <p:blipFill rotWithShape="1">
          <a:blip r:embed="rId3">
            <a:alphaModFix/>
          </a:blip>
          <a:srcRect b="0" l="0" r="0" t="0"/>
          <a:stretch/>
        </p:blipFill>
        <p:spPr>
          <a:xfrm>
            <a:off x="566928" y="3858768"/>
            <a:ext cx="164592" cy="164592"/>
          </a:xfrm>
          <a:prstGeom prst="rect">
            <a:avLst/>
          </a:prstGeom>
          <a:noFill/>
          <a:ln>
            <a:noFill/>
          </a:ln>
        </p:spPr>
      </p:pic>
      <p:sp>
        <p:nvSpPr>
          <p:cNvPr id="414" name="Google Shape;414;p20"/>
          <p:cNvSpPr txBox="1"/>
          <p:nvPr/>
        </p:nvSpPr>
        <p:spPr>
          <a:xfrm>
            <a:off x="822960" y="38496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Key principle:  </a:t>
            </a:r>
            <a:r>
              <a:rPr b="0" i="0" lang="en-US" spc="0" sz="1000" u="none" cap="none" strike="noStrike">
                <a:solidFill>
                  <a:srgbClr val="1D1D1F"/>
                </a:solidFill>
                <a:latin typeface="Arial"/>
                <a:ea typeface="Arial"/>
                <a:cs typeface="Arial"/>
                <a:sym typeface="Arial"/>
              </a:rPr>
              <a:t>protect the cleaner and enforce the boundary. Aim for a clean exit, consistent with policy.</a:t>
            </a:r>
            <a:endParaRPr b="0" i="0" spc="0" sz="1000" u="none" cap="none" strike="noStrike">
              <a:solidFill>
                <a:schemeClr val="dk1"/>
              </a:solidFill>
              <a:latin typeface="Calibri"/>
              <a:ea typeface="Calibri"/>
              <a:cs typeface="Calibri"/>
              <a:sym typeface="Calibri"/>
            </a:endParaRPr>
          </a:p>
        </p:txBody>
      </p:sp>
      <p:sp>
        <p:nvSpPr>
          <p:cNvPr id="415" name="Google Shape;415;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0" name="Shape 420"/>
        <p:cNvGrpSpPr/>
        <p:nvPr/>
      </p:nvGrpSpPr>
      <p:grpSpPr>
        <a:xfrm>
          <a:off x="0" y="0"/>
          <a:ext cx="0" cy="0"/>
          <a:chOff x="0" y="0"/>
          <a:chExt cx="0" cy="0"/>
        </a:xfrm>
      </p:grpSpPr>
      <p:sp>
        <p:nvSpPr>
          <p:cNvPr id="421" name="Google Shape;421;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KNOWLEDGE CHECK</a:t>
            </a:r>
            <a:endParaRPr b="0" i="0" spc="0" sz="800" u="none" cap="none" strike="noStrike">
              <a:solidFill>
                <a:schemeClr val="dk1"/>
              </a:solidFill>
              <a:latin typeface="Calibri"/>
              <a:ea typeface="Calibri"/>
              <a:cs typeface="Calibri"/>
              <a:sym typeface="Calibri"/>
            </a:endParaRPr>
          </a:p>
        </p:txBody>
      </p:sp>
      <p:sp>
        <p:nvSpPr>
          <p:cNvPr id="422" name="Google Shape;422;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423" name="Google Shape;423;p21"/>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21"/>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5" name="Google Shape;425;p21"/>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26" name="Google Shape;426;p21"/>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"This is f***ing frustrating, my place still isn't clean." Abusive?</a:t>
            </a:r>
            <a:endParaRPr b="0" i="0" spc="0" sz="1000" u="none" cap="none" strike="noStrike">
              <a:solidFill>
                <a:schemeClr val="dk1"/>
              </a:solidFill>
              <a:latin typeface="Calibri"/>
              <a:ea typeface="Calibri"/>
              <a:cs typeface="Calibri"/>
              <a:sym typeface="Calibri"/>
            </a:endParaRPr>
          </a:p>
        </p:txBody>
      </p:sp>
      <p:sp>
        <p:nvSpPr>
          <p:cNvPr id="427" name="Google Shape;427;p21"/>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8" name="Google Shape;428;p21"/>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Venting about the outcome, not aimed at the cleaner.</a:t>
            </a:r>
            <a:endParaRPr b="0" i="0" spc="0" sz="900" u="none" cap="none" strike="noStrike">
              <a:solidFill>
                <a:schemeClr val="dk1"/>
              </a:solidFill>
              <a:latin typeface="Calibri"/>
              <a:ea typeface="Calibri"/>
              <a:cs typeface="Calibri"/>
              <a:sym typeface="Calibri"/>
            </a:endParaRPr>
          </a:p>
        </p:txBody>
      </p:sp>
      <p:sp>
        <p:nvSpPr>
          <p:cNvPr id="429" name="Google Shape;429;p21"/>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0" name="Google Shape;430;p21"/>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1" name="Google Shape;431;p21"/>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32" name="Google Shape;432;p21"/>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"You're useless. You'll regret it." Abusive?</a:t>
            </a:r>
            <a:endParaRPr b="0" i="0" spc="0" sz="1000" u="none" cap="none" strike="noStrike">
              <a:solidFill>
                <a:schemeClr val="dk1"/>
              </a:solidFill>
              <a:latin typeface="Calibri"/>
              <a:ea typeface="Calibri"/>
              <a:cs typeface="Calibri"/>
              <a:sym typeface="Calibri"/>
            </a:endParaRPr>
          </a:p>
        </p:txBody>
      </p:sp>
      <p:sp>
        <p:nvSpPr>
          <p:cNvPr id="433" name="Google Shape;433;p21"/>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4" name="Google Shape;434;p21"/>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A personal insult and a threat aimed at the cleaner.</a:t>
            </a:r>
            <a:endParaRPr b="0" i="0" spc="0" sz="900" u="none" cap="none" strike="noStrike">
              <a:solidFill>
                <a:schemeClr val="dk1"/>
              </a:solidFill>
              <a:latin typeface="Calibri"/>
              <a:ea typeface="Calibri"/>
              <a:cs typeface="Calibri"/>
              <a:sym typeface="Calibri"/>
            </a:endParaRPr>
          </a:p>
        </p:txBody>
      </p:sp>
      <p:sp>
        <p:nvSpPr>
          <p:cNvPr id="435" name="Google Shape;435;p21"/>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6" name="Google Shape;436;p21"/>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7" name="Google Shape;437;p21"/>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38" name="Google Shape;438;p21"/>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Can you offer a free month to keep them?</a:t>
            </a:r>
            <a:endParaRPr b="0" i="0" spc="0" sz="1000" u="none" cap="none" strike="noStrike">
              <a:solidFill>
                <a:schemeClr val="dk1"/>
              </a:solidFill>
              <a:latin typeface="Calibri"/>
              <a:ea typeface="Calibri"/>
              <a:cs typeface="Calibri"/>
              <a:sym typeface="Calibri"/>
            </a:endParaRPr>
          </a:p>
        </p:txBody>
      </p:sp>
      <p:sp>
        <p:nvSpPr>
          <p:cNvPr id="439" name="Google Shape;439;p21"/>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0" name="Google Shape;440;p21"/>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No retention, no credits, free months, vouchers or MF reductions.</a:t>
            </a:r>
            <a:endParaRPr b="0" i="0" spc="0" sz="900" u="none" cap="none" strike="noStrike">
              <a:solidFill>
                <a:schemeClr val="dk1"/>
              </a:solidFill>
              <a:latin typeface="Calibri"/>
              <a:ea typeface="Calibri"/>
              <a:cs typeface="Calibri"/>
              <a:sym typeface="Calibri"/>
            </a:endParaRPr>
          </a:p>
        </p:txBody>
      </p:sp>
      <p:sp>
        <p:nvSpPr>
          <p:cNvPr id="441" name="Google Shape;441;p21"/>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2" name="Google Shape;442;p21"/>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3" name="Google Shape;443;p21"/>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444" name="Google Shape;444;p21"/>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and C refuses to pay the ETF. Options?</a:t>
            </a:r>
            <a:endParaRPr b="0" i="0" spc="0" sz="1000" u="none" cap="none" strike="noStrike">
              <a:solidFill>
                <a:schemeClr val="dk1"/>
              </a:solidFill>
              <a:latin typeface="Calibri"/>
              <a:ea typeface="Calibri"/>
              <a:cs typeface="Calibri"/>
              <a:sym typeface="Calibri"/>
            </a:endParaRPr>
          </a:p>
        </p:txBody>
      </p:sp>
      <p:sp>
        <p:nvSpPr>
          <p:cNvPr id="445" name="Google Shape;445;p21"/>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6" name="Google Shape;446;p21"/>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An ETF or MCT reduction, using standard reduction guidelines.</a:t>
            </a:r>
            <a:endParaRPr b="0" i="0" spc="0" sz="900" u="none" cap="none" strike="noStrike">
              <a:solidFill>
                <a:schemeClr val="dk1"/>
              </a:solidFill>
              <a:latin typeface="Calibri"/>
              <a:ea typeface="Calibri"/>
              <a:cs typeface="Calibri"/>
              <a:sym typeface="Calibri"/>
            </a:endParaRPr>
          </a:p>
        </p:txBody>
      </p:sp>
      <p:sp>
        <p:nvSpPr>
          <p:cNvPr id="447" name="Google Shape;447;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28"/>
                                        </p:tgtEl>
                                        <p:attrNameLst>
                                          <p:attrName>style.visibility</p:attrName>
                                        </p:attrNameLst>
                                      </p:cBhvr>
                                      <p:to>
                                        <p:strVal val="visible"/>
                                      </p:to>
                                    </p:set>
                                    <p:animEffect filter="fade" transition="in">
                                      <p:cBhvr>
                                        <p:cTn dur="600"/>
                                        <p:tgtEl>
                                          <p:spTgt spid="42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4"/>
                                        </p:tgtEl>
                                        <p:attrNameLst>
                                          <p:attrName>style.visibility</p:attrName>
                                        </p:attrNameLst>
                                      </p:cBhvr>
                                      <p:to>
                                        <p:strVal val="visible"/>
                                      </p:to>
                                    </p:set>
                                    <p:animEffect filter="fade" transition="in">
                                      <p:cBhvr>
                                        <p:cTn dur="600"/>
                                        <p:tgtEl>
                                          <p:spTgt spid="43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40"/>
                                        </p:tgtEl>
                                        <p:attrNameLst>
                                          <p:attrName>style.visibility</p:attrName>
                                        </p:attrNameLst>
                                      </p:cBhvr>
                                      <p:to>
                                        <p:strVal val="visible"/>
                                      </p:to>
                                    </p:set>
                                    <p:animEffect filter="fade" transition="in">
                                      <p:cBhvr>
                                        <p:cTn dur="600"/>
                                        <p:tgtEl>
                                          <p:spTgt spid="44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46"/>
                                        </p:tgtEl>
                                        <p:attrNameLst>
                                          <p:attrName>style.visibility</p:attrName>
                                        </p:attrNameLst>
                                      </p:cBhvr>
                                      <p:to>
                                        <p:strVal val="visible"/>
                                      </p:to>
                                    </p:set>
                                    <p:animEffect filter="fade" transition="in">
                                      <p:cBhvr>
                                        <p:cTn dur="600"/>
                                        <p:tgtEl>
                                          <p:spTgt spid="44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PRACTICE</a:t>
            </a:r>
            <a:endParaRPr b="0" i="0" spc="0" sz="800" u="none" cap="none" strike="noStrike">
              <a:solidFill>
                <a:schemeClr val="dk1"/>
              </a:solidFill>
              <a:latin typeface="Calibri"/>
              <a:ea typeface="Calibri"/>
              <a:cs typeface="Calibri"/>
              <a:sym typeface="Calibri"/>
            </a:endParaRPr>
          </a:p>
        </p:txBody>
      </p:sp>
      <p:sp>
        <p:nvSpPr>
          <p:cNvPr id="454" name="Google Shape;454;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455" name="Google Shape;455;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456" name="Google Shape;456;p22"/>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7" name="Google Shape;457;p22"/>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8" name="Google Shape;458;p22"/>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459" name="Google Shape;459;p22"/>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460" name="Google Shape;460;p22"/>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461" name="Google Shape;461;p22"/>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462" name="Google Shape;462;p22"/>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3" name="Google Shape;463;p22"/>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4" name="Google Shape;464;p22"/>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65" name="Google Shape;465;p22"/>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it abusive?</a:t>
            </a:r>
            <a:endParaRPr b="0" i="0" spc="0" sz="1250" u="none" cap="none" strike="noStrike">
              <a:solidFill>
                <a:schemeClr val="dk1"/>
              </a:solidFill>
              <a:latin typeface="Calibri"/>
              <a:ea typeface="Calibri"/>
              <a:cs typeface="Calibri"/>
              <a:sym typeface="Calibri"/>
            </a:endParaRPr>
          </a:p>
        </p:txBody>
      </p:sp>
      <p:sp>
        <p:nvSpPr>
          <p:cNvPr id="466" name="Google Shape;466;p22"/>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Intent, target, tone. Not just profanity.</a:t>
            </a:r>
            <a:endParaRPr b="0" i="0" spc="0" sz="1000" u="none" cap="none" strike="noStrike">
              <a:solidFill>
                <a:schemeClr val="dk1"/>
              </a:solidFill>
              <a:latin typeface="Calibri"/>
              <a:ea typeface="Calibri"/>
              <a:cs typeface="Calibri"/>
              <a:sym typeface="Calibri"/>
            </a:endParaRPr>
          </a:p>
        </p:txBody>
      </p:sp>
      <p:sp>
        <p:nvSpPr>
          <p:cNvPr id="467" name="Google Shape;467;p22"/>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8" name="Google Shape;468;p22"/>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9" name="Google Shape;469;p22"/>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70" name="Google Shape;470;p22"/>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471" name="Google Shape;471;p22"/>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Terms, ETF, what's allowed and not.</a:t>
            </a:r>
            <a:endParaRPr b="0" i="0" spc="0" sz="1000" u="none" cap="none" strike="noStrike">
              <a:solidFill>
                <a:schemeClr val="dk1"/>
              </a:solidFill>
              <a:latin typeface="Calibri"/>
              <a:ea typeface="Calibri"/>
              <a:cs typeface="Calibri"/>
              <a:sym typeface="Calibri"/>
            </a:endParaRPr>
          </a:p>
        </p:txBody>
      </p:sp>
      <p:sp>
        <p:nvSpPr>
          <p:cNvPr id="472" name="Google Shape;472;p22"/>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2"/>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4" name="Google Shape;474;p22"/>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75" name="Google Shape;475;p22"/>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476" name="Google Shape;476;p22"/>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a neutral, factual reply.</a:t>
            </a:r>
            <a:endParaRPr b="0" i="0" spc="0" sz="1000" u="none" cap="none" strike="noStrike">
              <a:solidFill>
                <a:schemeClr val="dk1"/>
              </a:solidFill>
              <a:latin typeface="Calibri"/>
              <a:ea typeface="Calibri"/>
              <a:cs typeface="Calibri"/>
              <a:sym typeface="Calibri"/>
            </a:endParaRPr>
          </a:p>
        </p:txBody>
      </p:sp>
      <p:sp>
        <p:nvSpPr>
          <p:cNvPr id="477" name="Google Shape;477;p22"/>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78" name="Google Shape;478;p22"/>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479" name="Google Shape;479;p22"/>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480" name="Google Shape;480;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23"/>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487" name="Google Shape;487;p23"/>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Duplicate Accounts</a:t>
            </a:r>
            <a:endParaRPr b="0" i="0" spc="0" sz="2800" u="none" cap="none" strike="noStrike">
              <a:solidFill>
                <a:schemeClr val="dk1"/>
              </a:solidFill>
              <a:latin typeface="Calibri"/>
              <a:ea typeface="Calibri"/>
              <a:cs typeface="Calibri"/>
              <a:sym typeface="Calibri"/>
            </a:endParaRPr>
          </a:p>
        </p:txBody>
      </p:sp>
      <p:sp>
        <p:nvSpPr>
          <p:cNvPr id="488" name="Google Shape;488;p23"/>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Two accounts, two memberships, two MF charges every cycle.</a:t>
            </a:r>
            <a:endParaRPr b="0" i="0" spc="0" sz="1150" u="none" cap="none" strike="noStrike">
              <a:solidFill>
                <a:schemeClr val="dk1"/>
              </a:solidFill>
              <a:latin typeface="Calibri"/>
              <a:ea typeface="Calibri"/>
              <a:cs typeface="Calibri"/>
              <a:sym typeface="Calibri"/>
            </a:endParaRPr>
          </a:p>
        </p:txBody>
      </p:sp>
      <p:sp>
        <p:nvSpPr>
          <p:cNvPr id="489" name="Google Shape;489;p23"/>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490" name="Google Shape;490;p23"/>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1" name="Google Shape;491;p23"/>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92" name="Google Shape;492;p23"/>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Which account is the duplicate</a:t>
            </a:r>
            <a:endParaRPr b="0" i="0" spc="0" sz="1050" u="none" cap="none" strike="noStrike">
              <a:solidFill>
                <a:schemeClr val="dk1"/>
              </a:solidFill>
              <a:latin typeface="Calibri"/>
              <a:ea typeface="Calibri"/>
              <a:cs typeface="Calibri"/>
              <a:sym typeface="Calibri"/>
            </a:endParaRPr>
          </a:p>
        </p:txBody>
      </p:sp>
      <p:sp>
        <p:nvSpPr>
          <p:cNvPr id="493" name="Google Shape;493;p23"/>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4" name="Google Shape;494;p23"/>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95" name="Google Shape;495;p23"/>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Check Thumbtack first</a:t>
            </a:r>
            <a:endParaRPr b="0" i="0" spc="0" sz="1050" u="none" cap="none" strike="noStrike">
              <a:solidFill>
                <a:schemeClr val="dk1"/>
              </a:solidFill>
              <a:latin typeface="Calibri"/>
              <a:ea typeface="Calibri"/>
              <a:cs typeface="Calibri"/>
              <a:sym typeface="Calibri"/>
            </a:endParaRPr>
          </a:p>
        </p:txBody>
      </p:sp>
      <p:sp>
        <p:nvSpPr>
          <p:cNvPr id="496" name="Google Shape;496;p23"/>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7" name="Google Shape;497;p23"/>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498" name="Google Shape;498;p23"/>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 the duplicate FC</a:t>
            </a:r>
            <a:endParaRPr b="0" i="0" spc="0" sz="1050" u="none" cap="none" strike="noStrike">
              <a:solidFill>
                <a:schemeClr val="dk1"/>
              </a:solidFill>
              <a:latin typeface="Calibri"/>
              <a:ea typeface="Calibri"/>
              <a:cs typeface="Calibri"/>
              <a:sym typeface="Calibri"/>
            </a:endParaRPr>
          </a:p>
        </p:txBody>
      </p:sp>
      <p:sp>
        <p:nvSpPr>
          <p:cNvPr id="499" name="Google Shape;499;p23"/>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0" name="Google Shape;500;p23"/>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501" name="Google Shape;501;p23"/>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 or free months</a:t>
            </a:r>
            <a:endParaRPr b="0" i="0" spc="0" sz="1050" u="none" cap="none" strike="noStrike">
              <a:solidFill>
                <a:schemeClr val="dk1"/>
              </a:solidFill>
              <a:latin typeface="Calibri"/>
              <a:ea typeface="Calibri"/>
              <a:cs typeface="Calibri"/>
              <a:sym typeface="Calibri"/>
            </a:endParaRPr>
          </a:p>
        </p:txBody>
      </p:sp>
      <p:sp>
        <p:nvSpPr>
          <p:cNvPr id="502" name="Google Shape;502;p23"/>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3" name="Google Shape;503;p23"/>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4.png" id="504" name="Google Shape;504;p23"/>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505" name="Google Shape;505;p23"/>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6" name="Google Shape;506;p23"/>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7" name="Google Shape;507;p23"/>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8" name="Google Shape;508;p23"/>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9" name="Google Shape;509;p23"/>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0" name="Google Shape;510;p23"/>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1" name="Google Shape;51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18" name="Google Shape;51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519" name="Google Shape;51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duplicate is the account the customer isn't using.</a:t>
            </a:r>
            <a:endParaRPr b="0" i="0" spc="0" sz="1200" u="none" cap="none" strike="noStrike">
              <a:solidFill>
                <a:schemeClr val="dk1"/>
              </a:solidFill>
              <a:latin typeface="Calibri"/>
              <a:ea typeface="Calibri"/>
              <a:cs typeface="Calibri"/>
              <a:sym typeface="Calibri"/>
            </a:endParaRPr>
          </a:p>
        </p:txBody>
      </p:sp>
      <p:sp>
        <p:nvSpPr>
          <p:cNvPr id="520" name="Google Shape;520;p2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1" name="Google Shape;521;p2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2" name="Google Shape;522;p2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523" name="Google Shape;523;p2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Not being used</a:t>
            </a:r>
            <a:endParaRPr b="0" i="0" spc="0" sz="1200" u="none" cap="none" strike="noStrike">
              <a:solidFill>
                <a:schemeClr val="dk1"/>
              </a:solidFill>
              <a:latin typeface="Calibri"/>
              <a:ea typeface="Calibri"/>
              <a:cs typeface="Calibri"/>
              <a:sym typeface="Calibri"/>
            </a:endParaRPr>
          </a:p>
        </p:txBody>
      </p:sp>
      <p:sp>
        <p:nvSpPr>
          <p:cNvPr id="524" name="Google Shape;524;p2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the older one, not the one with more paid months. Using both? Ask which to keep.</a:t>
            </a:r>
            <a:endParaRPr b="0" i="0" spc="0" sz="950" u="none" cap="none" strike="noStrike">
              <a:solidFill>
                <a:schemeClr val="dk1"/>
              </a:solidFill>
              <a:latin typeface="Calibri"/>
              <a:ea typeface="Calibri"/>
              <a:cs typeface="Calibri"/>
              <a:sym typeface="Calibri"/>
            </a:endParaRPr>
          </a:p>
        </p:txBody>
      </p:sp>
      <p:sp>
        <p:nvSpPr>
          <p:cNvPr id="525" name="Google Shape;525;p2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6" name="Google Shape;526;p2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7" name="Google Shape;527;p2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528" name="Google Shape;528;p2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Can't find it?</a:t>
            </a:r>
            <a:endParaRPr b="0" i="0" spc="0" sz="1200" u="none" cap="none" strike="noStrike">
              <a:solidFill>
                <a:schemeClr val="dk1"/>
              </a:solidFill>
              <a:latin typeface="Calibri"/>
              <a:ea typeface="Calibri"/>
              <a:cs typeface="Calibri"/>
              <a:sym typeface="Calibri"/>
            </a:endParaRPr>
          </a:p>
        </p:txBody>
      </p:sp>
      <p:sp>
        <p:nvSpPr>
          <p:cNvPr id="529" name="Google Shape;529;p2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Ask for their phone, email and the card used, then search on those.</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p:txBody>
      </p:sp>
      <p:sp>
        <p:nvSpPr>
          <p:cNvPr id="530" name="Google Shape;530;p2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32" name="Google Shape;532;p2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533" name="Google Shape;533;p2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Unused DHJ voucher?</a:t>
            </a:r>
            <a:endParaRPr b="0" i="0" spc="0" sz="1200" u="none" cap="none" strike="noStrike">
              <a:solidFill>
                <a:schemeClr val="dk1"/>
              </a:solidFill>
              <a:latin typeface="Calibri"/>
              <a:ea typeface="Calibri"/>
              <a:cs typeface="Calibri"/>
              <a:sym typeface="Calibri"/>
            </a:endParaRPr>
          </a:p>
        </p:txBody>
      </p:sp>
      <p:sp>
        <p:nvSpPr>
          <p:cNvPr id="534" name="Google Shape;534;p2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FC on it: refund and invalidate the voucher (within 1 year).</a:t>
            </a:r>
            <a:endParaRPr b="0" i="0" spc="0" sz="950" u="none" cap="none" strike="noStrike">
              <a:solidFill>
                <a:schemeClr val="dk1"/>
              </a:solidFill>
              <a:latin typeface="Calibri"/>
              <a:ea typeface="Calibri"/>
              <a:cs typeface="Calibri"/>
              <a:sym typeface="Calibri"/>
            </a:endParaRPr>
          </a:p>
        </p:txBody>
      </p:sp>
      <p:sp>
        <p:nvSpPr>
          <p:cNvPr id="535" name="Google Shape;535;p2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36" name="Google Shape;536;p2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537" name="Google Shape;537;p2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Tone:  </a:t>
            </a:r>
            <a:r>
              <a:rPr b="0" i="0" lang="en-US" spc="0" sz="1000" u="none" cap="none" strike="noStrike">
                <a:solidFill>
                  <a:srgbClr val="1D1D1F"/>
                </a:solidFill>
                <a:latin typeface="Arial"/>
                <a:ea typeface="Arial"/>
                <a:cs typeface="Arial"/>
                <a:sym typeface="Arial"/>
              </a:rPr>
              <a:t>not a service failure, not their mistake. Stop the double charge, then make them whole.</a:t>
            </a:r>
            <a:endParaRPr b="0" i="0" spc="0" sz="1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411480" y="3703320"/>
            <a:ext cx="83210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Good to know:  </a:t>
            </a:r>
            <a:r>
              <a:rPr b="0" i="0" lang="en-US" spc="0" sz="950" u="none" cap="none" strike="noStrike">
                <a:solidFill>
                  <a:srgbClr val="6E6E73"/>
                </a:solidFill>
                <a:latin typeface="Arial"/>
                <a:ea typeface="Arial"/>
                <a:cs typeface="Arial"/>
                <a:sym typeface="Arial"/>
              </a:rPr>
              <a:t>one account per email, and one email can't hold both a C and a CP account. A C account can't be deactivated while an FC, RC or cleaning is still active.</a:t>
            </a:r>
            <a:endParaRPr b="0" i="0" spc="0" sz="950" u="none" cap="none" strike="noStrike">
              <a:solidFill>
                <a:schemeClr val="dk1"/>
              </a:solidFill>
              <a:latin typeface="Calibri"/>
              <a:ea typeface="Calibri"/>
              <a:cs typeface="Calibri"/>
              <a:sym typeface="Calibri"/>
            </a:endParaRPr>
          </a:p>
        </p:txBody>
      </p:sp>
      <p:sp>
        <p:nvSpPr>
          <p:cNvPr id="539" name="Google Shape;539;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40" name="Google Shape;540;p24"/>
          <p:cNvSpPr/>
          <p:nvPr/>
        </p:nvSpPr>
        <p:spPr>
          <a:xfrm>
            <a:off x="3395475" y="2578550"/>
            <a:ext cx="2468700" cy="2013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US" spc="0" sz="1200" u="none" cap="none" strike="noStrike">
                <a:solidFill>
                  <a:srgbClr val="0D0D0D"/>
                </a:solidFill>
                <a:highlight>
                  <a:srgbClr val="FCFCFC"/>
                </a:highlight>
                <a:latin typeface="Arial"/>
                <a:ea typeface="Arial"/>
                <a:cs typeface="Arial"/>
                <a:sym typeface="Arial"/>
              </a:rPr>
              <a:t>🖥️</a:t>
            </a:r>
            <a:r>
              <a:rPr b="0" i="0" lang="en-US" spc="0" sz="1100" u="none" cap="none" strike="noStrike">
                <a:solidFill>
                  <a:schemeClr val="dk1"/>
                </a:solidFill>
                <a:latin typeface="Arial"/>
                <a:ea typeface="Arial"/>
                <a:cs typeface="Arial"/>
                <a:sym typeface="Arial"/>
              </a:rPr>
              <a:t> </a:t>
            </a:r>
            <a:r>
              <a:rPr b="1" i="0" lang="en-US" spc="0" sz="700" u="none" cap="none" strike="noStrike">
                <a:solidFill>
                  <a:schemeClr val="dk1"/>
                </a:solidFill>
                <a:latin typeface="Play"/>
                <a:ea typeface="Play"/>
                <a:cs typeface="Play"/>
                <a:sym typeface="Play"/>
              </a:rPr>
              <a:t>Trainer walkthrough: how to search duplicates</a:t>
            </a:r>
            <a:endParaRPr b="1" i="0" spc="0" sz="700" u="none" cap="none" strike="noStrike">
              <a:solidFill>
                <a:srgbClr val="000000"/>
              </a:solidFill>
              <a:latin typeface="Play"/>
              <a:ea typeface="Play"/>
              <a:cs typeface="Play"/>
              <a:sym typeface="Play"/>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sp>
        <p:nvSpPr>
          <p:cNvPr id="546" name="Google Shape;546;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47" name="Google Shape;547;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548" name="Google Shape;548;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Thumbtack, stop the next charge, then let C choose.</a:t>
            </a:r>
            <a:endParaRPr b="0" i="0" spc="0" sz="1200" u="none" cap="none" strike="noStrike">
              <a:solidFill>
                <a:schemeClr val="dk1"/>
              </a:solidFill>
              <a:latin typeface="Calibri"/>
              <a:ea typeface="Calibri"/>
              <a:cs typeface="Calibri"/>
              <a:sym typeface="Calibri"/>
            </a:endParaRPr>
          </a:p>
        </p:txBody>
      </p:sp>
      <p:sp>
        <p:nvSpPr>
          <p:cNvPr id="549" name="Google Shape;549;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50" name="Google Shape;550;p25"/>
          <p:cNvSpPr/>
          <p:nvPr/>
        </p:nvSpPr>
        <p:spPr>
          <a:xfrm>
            <a:off x="411480" y="1298448"/>
            <a:ext cx="2194560" cy="45720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Duplicate account found</a:t>
            </a:r>
            <a:endParaRPr b="0" i="0" spc="0" sz="1400" u="none" cap="none" strike="noStrike">
              <a:solidFill>
                <a:srgbClr val="000000"/>
              </a:solidFill>
              <a:latin typeface="Arial"/>
              <a:ea typeface="Arial"/>
              <a:cs typeface="Arial"/>
              <a:sym typeface="Arial"/>
            </a:endParaRPr>
          </a:p>
        </p:txBody>
      </p:sp>
      <p:cxnSp>
        <p:nvCxnSpPr>
          <p:cNvPr id="551" name="Google Shape;551;p25"/>
          <p:cNvCxnSpPr/>
          <p:nvPr/>
        </p:nvCxnSpPr>
        <p:spPr>
          <a:xfrm>
            <a:off x="260604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52" name="Google Shape;552;p25"/>
          <p:cNvSpPr/>
          <p:nvPr/>
        </p:nvSpPr>
        <p:spPr>
          <a:xfrm>
            <a:off x="2971800" y="1298448"/>
            <a:ext cx="2743200" cy="4572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project_thumbtack flag?</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Legacy CRM › View › Flag</a:t>
            </a:r>
            <a:endParaRPr b="0" i="0" spc="0" sz="1400" u="none" cap="none" strike="noStrike">
              <a:solidFill>
                <a:srgbClr val="000000"/>
              </a:solidFill>
              <a:latin typeface="Arial"/>
              <a:ea typeface="Arial"/>
              <a:cs typeface="Arial"/>
              <a:sym typeface="Arial"/>
            </a:endParaRPr>
          </a:p>
        </p:txBody>
      </p:sp>
      <p:cxnSp>
        <p:nvCxnSpPr>
          <p:cNvPr id="553" name="Google Shape;553;p25"/>
          <p:cNvCxnSpPr/>
          <p:nvPr/>
        </p:nvCxnSpPr>
        <p:spPr>
          <a:xfrm>
            <a:off x="571500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54" name="Google Shape;554;p25"/>
          <p:cNvSpPr txBox="1"/>
          <p:nvPr/>
        </p:nvSpPr>
        <p:spPr>
          <a:xfrm>
            <a:off x="5760720" y="1325880"/>
            <a:ext cx="36576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555" name="Google Shape;555;p25"/>
          <p:cNvSpPr/>
          <p:nvPr/>
        </p:nvSpPr>
        <p:spPr>
          <a:xfrm>
            <a:off x="6080760" y="1298448"/>
            <a:ext cx="2651760" cy="45720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Reassign to the Thumbtack queue. Stop.</a:t>
            </a:r>
            <a:endParaRPr b="0" i="0" spc="0" sz="1400" u="none" cap="none" strike="noStrike">
              <a:solidFill>
                <a:srgbClr val="000000"/>
              </a:solidFill>
              <a:latin typeface="Arial"/>
              <a:ea typeface="Arial"/>
              <a:cs typeface="Arial"/>
              <a:sym typeface="Arial"/>
            </a:endParaRPr>
          </a:p>
        </p:txBody>
      </p:sp>
      <p:cxnSp>
        <p:nvCxnSpPr>
          <p:cNvPr id="556" name="Google Shape;556;p25"/>
          <p:cNvCxnSpPr/>
          <p:nvPr/>
        </p:nvCxnSpPr>
        <p:spPr>
          <a:xfrm>
            <a:off x="4343400" y="1755648"/>
            <a:ext cx="0" cy="182880"/>
          </a:xfrm>
          <a:prstGeom prst="straightConnector1">
            <a:avLst/>
          </a:prstGeom>
          <a:noFill/>
          <a:ln cap="flat" cmpd="sng" w="12700">
            <a:solidFill>
              <a:srgbClr val="6E6E73"/>
            </a:solidFill>
            <a:prstDash val="solid"/>
            <a:round/>
            <a:headEnd len="sm" w="sm" type="none"/>
            <a:tailEnd len="med" w="med" type="triangle"/>
          </a:ln>
        </p:spPr>
      </p:cxnSp>
      <p:sp>
        <p:nvSpPr>
          <p:cNvPr id="557" name="Google Shape;557;p25"/>
          <p:cNvSpPr txBox="1"/>
          <p:nvPr/>
        </p:nvSpPr>
        <p:spPr>
          <a:xfrm>
            <a:off x="4416552" y="1755648"/>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558" name="Google Shape;558;p25"/>
          <p:cNvSpPr/>
          <p:nvPr/>
        </p:nvSpPr>
        <p:spPr>
          <a:xfrm>
            <a:off x="411480" y="1938528"/>
            <a:ext cx="8321040" cy="566928"/>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Step 1, on the duplicate:  cancel the FC right away</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00"/>
              <a:buFont typeface="Arial"/>
              <a:buNone/>
            </a:pPr>
            <a:r>
              <a:rPr b="0" i="0" lang="en-US" spc="0" sz="900" u="none" cap="none" strike="noStrike">
                <a:solidFill>
                  <a:srgbClr val="FFFFFF"/>
                </a:solidFill>
                <a:latin typeface="Arial"/>
                <a:ea typeface="Arial"/>
                <a:cs typeface="Arial"/>
                <a:sym typeface="Arial"/>
              </a:rPr>
              <a:t>Cancel upcoming jobs and the RC (unless C wants them)  ·  internal note on both accounts with the other ticket link / C ID</a:t>
            </a:r>
            <a:endParaRPr b="0" i="0" spc="0" sz="1400" u="none" cap="none" strike="noStrike">
              <a:solidFill>
                <a:srgbClr val="000000"/>
              </a:solidFill>
              <a:latin typeface="Arial"/>
              <a:ea typeface="Arial"/>
              <a:cs typeface="Arial"/>
              <a:sym typeface="Arial"/>
            </a:endParaRPr>
          </a:p>
        </p:txBody>
      </p:sp>
      <p:cxnSp>
        <p:nvCxnSpPr>
          <p:cNvPr id="559" name="Google Shape;559;p25"/>
          <p:cNvCxnSpPr/>
          <p:nvPr/>
        </p:nvCxnSpPr>
        <p:spPr>
          <a:xfrm>
            <a:off x="4343400" y="2505456"/>
            <a:ext cx="0" cy="164592"/>
          </a:xfrm>
          <a:prstGeom prst="straightConnector1">
            <a:avLst/>
          </a:prstGeom>
          <a:noFill/>
          <a:ln cap="flat" cmpd="sng" w="12700">
            <a:solidFill>
              <a:srgbClr val="6E6E73"/>
            </a:solidFill>
            <a:prstDash val="solid"/>
            <a:round/>
            <a:headEnd len="sm" w="sm" type="none"/>
            <a:tailEnd len="med" w="med" type="triangle"/>
          </a:ln>
        </p:spPr>
      </p:cxnSp>
      <p:sp>
        <p:nvSpPr>
          <p:cNvPr id="560" name="Google Shape;560;p25"/>
          <p:cNvSpPr/>
          <p:nvPr/>
        </p:nvSpPr>
        <p:spPr>
          <a:xfrm>
            <a:off x="2743200" y="2670048"/>
            <a:ext cx="3200400" cy="36576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Let C choose</a:t>
            </a:r>
            <a:endParaRPr b="0" i="0" spc="0" sz="1400" u="none" cap="none" strike="noStrike">
              <a:solidFill>
                <a:srgbClr val="000000"/>
              </a:solidFill>
              <a:latin typeface="Arial"/>
              <a:ea typeface="Arial"/>
              <a:cs typeface="Arial"/>
              <a:sym typeface="Arial"/>
            </a:endParaRPr>
          </a:p>
        </p:txBody>
      </p:sp>
      <p:cxnSp>
        <p:nvCxnSpPr>
          <p:cNvPr id="561" name="Google Shape;561;p25"/>
          <p:cNvCxnSpPr/>
          <p:nvPr/>
        </p:nvCxnSpPr>
        <p:spPr>
          <a:xfrm>
            <a:off x="4343400" y="3035808"/>
            <a:ext cx="0" cy="118872"/>
          </a:xfrm>
          <a:prstGeom prst="straightConnector1">
            <a:avLst/>
          </a:prstGeom>
          <a:noFill/>
          <a:ln cap="flat" cmpd="sng" w="12700">
            <a:solidFill>
              <a:srgbClr val="6E6E73"/>
            </a:solidFill>
            <a:prstDash val="solid"/>
            <a:round/>
            <a:headEnd len="sm" w="sm" type="none"/>
            <a:tailEnd len="sm" w="sm" type="none"/>
          </a:ln>
        </p:spPr>
      </p:cxnSp>
      <p:cxnSp>
        <p:nvCxnSpPr>
          <p:cNvPr id="562" name="Google Shape;562;p25"/>
          <p:cNvCxnSpPr/>
          <p:nvPr/>
        </p:nvCxnSpPr>
        <p:spPr>
          <a:xfrm>
            <a:off x="2446020" y="3154680"/>
            <a:ext cx="4251960" cy="0"/>
          </a:xfrm>
          <a:prstGeom prst="straightConnector1">
            <a:avLst/>
          </a:prstGeom>
          <a:noFill/>
          <a:ln cap="flat" cmpd="sng" w="12700">
            <a:solidFill>
              <a:srgbClr val="6E6E73"/>
            </a:solidFill>
            <a:prstDash val="solid"/>
            <a:round/>
            <a:headEnd len="sm" w="sm" type="none"/>
            <a:tailEnd len="sm" w="sm" type="none"/>
          </a:ln>
        </p:spPr>
      </p:cxnSp>
      <p:cxnSp>
        <p:nvCxnSpPr>
          <p:cNvPr id="563" name="Google Shape;563;p25"/>
          <p:cNvCxnSpPr/>
          <p:nvPr/>
        </p:nvCxnSpPr>
        <p:spPr>
          <a:xfrm>
            <a:off x="2446020" y="315468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564" name="Google Shape;564;p25"/>
          <p:cNvCxnSpPr/>
          <p:nvPr/>
        </p:nvCxnSpPr>
        <p:spPr>
          <a:xfrm>
            <a:off x="6697980" y="3154680"/>
            <a:ext cx="0" cy="137160"/>
          </a:xfrm>
          <a:prstGeom prst="straightConnector1">
            <a:avLst/>
          </a:prstGeom>
          <a:noFill/>
          <a:ln cap="flat" cmpd="sng" w="12700">
            <a:solidFill>
              <a:srgbClr val="6E6E73"/>
            </a:solidFill>
            <a:prstDash val="solid"/>
            <a:round/>
            <a:headEnd len="sm" w="sm" type="none"/>
            <a:tailEnd len="med" w="med" type="triangle"/>
          </a:ln>
        </p:spPr>
      </p:cxnSp>
      <p:sp>
        <p:nvSpPr>
          <p:cNvPr id="565" name="Google Shape;565;p25"/>
          <p:cNvSpPr/>
          <p:nvPr/>
        </p:nvSpPr>
        <p:spPr>
          <a:xfrm>
            <a:off x="411480" y="3291840"/>
            <a:ext cx="4069080" cy="1417320"/>
          </a:xfrm>
          <a:prstGeom prst="roundRect">
            <a:avLst>
              <a:gd fmla="val 8000" name="adj"/>
            </a:avLst>
          </a:prstGeom>
          <a:solidFill>
            <a:srgbClr val="E3F4F1"/>
          </a:solidFill>
          <a:ln cap="flat" cmpd="sng" w="12700">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6" name="Google Shape;566;p25"/>
          <p:cNvSpPr/>
          <p:nvPr/>
        </p:nvSpPr>
        <p:spPr>
          <a:xfrm>
            <a:off x="411480" y="3291840"/>
            <a:ext cx="4069080" cy="310896"/>
          </a:xfrm>
          <a:prstGeom prst="roundRect">
            <a:avLst>
              <a:gd fmla="val 1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Offer duplicates MF as Free months</a:t>
            </a:r>
            <a:endParaRPr b="0" i="0" spc="0" sz="1400" u="none" cap="none" strike="noStrike">
              <a:solidFill>
                <a:srgbClr val="000000"/>
              </a:solidFill>
              <a:latin typeface="Arial"/>
              <a:ea typeface="Arial"/>
              <a:cs typeface="Arial"/>
              <a:sym typeface="Arial"/>
            </a:endParaRPr>
          </a:p>
        </p:txBody>
      </p:sp>
      <p:sp>
        <p:nvSpPr>
          <p:cNvPr id="567" name="Google Shape;567;p25"/>
          <p:cNvSpPr txBox="1"/>
          <p:nvPr/>
        </p:nvSpPr>
        <p:spPr>
          <a:xfrm>
            <a:off x="548640" y="3675888"/>
            <a:ext cx="3794700" cy="51570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Up to 3 free months on the main account; adjust the MCT</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Contests the charge and chooses free months? +1 bonus month.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Paid months reach 6? MCT effectively fulfilled</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663440" y="3291840"/>
            <a:ext cx="4069080" cy="14173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p:nvPr/>
        </p:nvSpPr>
        <p:spPr>
          <a:xfrm>
            <a:off x="4663440" y="3291840"/>
            <a:ext cx="4069080" cy="310896"/>
          </a:xfrm>
          <a:prstGeom prst="roundRect">
            <a:avLst>
              <a:gd fmla="val 15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Refund</a:t>
            </a:r>
            <a:endParaRPr b="0" i="0" spc="0" sz="1400" u="none" cap="none" strike="noStrike">
              <a:solidFill>
                <a:srgbClr val="000000"/>
              </a:solidFill>
              <a:latin typeface="Arial"/>
              <a:ea typeface="Arial"/>
              <a:cs typeface="Arial"/>
              <a:sym typeface="Arial"/>
            </a:endParaRPr>
          </a:p>
        </p:txBody>
      </p:sp>
      <p:sp>
        <p:nvSpPr>
          <p:cNvPr id="570" name="Google Shape;570;p25"/>
          <p:cNvSpPr txBox="1"/>
          <p:nvPr/>
        </p:nvSpPr>
        <p:spPr>
          <a:xfrm>
            <a:off x="4800600" y="3675888"/>
            <a:ext cx="3794760" cy="96012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Duplicate charges within 120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Beyond 120 days: only for a system or agent error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No bonus month</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5" name="Shape 575"/>
        <p:cNvGrpSpPr/>
        <p:nvPr/>
      </p:nvGrpSpPr>
      <p:grpSpPr>
        <a:xfrm>
          <a:off x="0" y="0"/>
          <a:ext cx="0" cy="0"/>
          <a:chOff x="0" y="0"/>
          <a:chExt cx="0" cy="0"/>
        </a:xfrm>
      </p:grpSpPr>
      <p:sp>
        <p:nvSpPr>
          <p:cNvPr id="576" name="Google Shape;576;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KNOWLEDGE CHECK</a:t>
            </a:r>
            <a:endParaRPr b="0" i="0" spc="0" sz="800" u="none" cap="none" strike="noStrike">
              <a:solidFill>
                <a:schemeClr val="dk1"/>
              </a:solidFill>
              <a:latin typeface="Calibri"/>
              <a:ea typeface="Calibri"/>
              <a:cs typeface="Calibri"/>
              <a:sym typeface="Calibri"/>
            </a:endParaRPr>
          </a:p>
        </p:txBody>
      </p:sp>
      <p:sp>
        <p:nvSpPr>
          <p:cNvPr id="577" name="Google Shape;577;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578" name="Google Shape;578;p2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0" name="Google Shape;580;p2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581" name="Google Shape;581;p2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has two accounts: one older, one they actually use. Which is the duplicate?</a:t>
            </a:r>
            <a:endParaRPr b="0" i="0" spc="0" sz="1000" u="none" cap="none" strike="noStrike">
              <a:solidFill>
                <a:schemeClr val="dk1"/>
              </a:solidFill>
              <a:latin typeface="Calibri"/>
              <a:ea typeface="Calibri"/>
              <a:cs typeface="Calibri"/>
              <a:sym typeface="Calibri"/>
            </a:endParaRPr>
          </a:p>
        </p:txBody>
      </p:sp>
      <p:sp>
        <p:nvSpPr>
          <p:cNvPr id="582" name="Google Shape;582;p2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one they aren't using, not the older one.</a:t>
            </a:r>
            <a:endParaRPr b="0" i="0" spc="0" sz="900" u="none" cap="none" strike="noStrike">
              <a:solidFill>
                <a:schemeClr val="dk1"/>
              </a:solidFill>
              <a:latin typeface="Calibri"/>
              <a:ea typeface="Calibri"/>
              <a:cs typeface="Calibri"/>
              <a:sym typeface="Calibri"/>
            </a:endParaRPr>
          </a:p>
        </p:txBody>
      </p:sp>
      <p:sp>
        <p:nvSpPr>
          <p:cNvPr id="584" name="Google Shape;584;p2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5" name="Google Shape;585;p2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6" name="Google Shape;586;p2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587" name="Google Shape;587;p2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do you check before anything else?</a:t>
            </a:r>
            <a:endParaRPr b="0" i="0" spc="0" sz="1000" u="none" cap="none" strike="noStrike">
              <a:solidFill>
                <a:schemeClr val="dk1"/>
              </a:solidFill>
              <a:latin typeface="Calibri"/>
              <a:ea typeface="Calibri"/>
              <a:cs typeface="Calibri"/>
              <a:sym typeface="Calibri"/>
            </a:endParaRPr>
          </a:p>
        </p:txBody>
      </p:sp>
      <p:sp>
        <p:nvSpPr>
          <p:cNvPr id="588" name="Google Shape;588;p2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9" name="Google Shape;589;p2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project_thumbtack flag (Legacy CRM › View › Flag). Present? Reassign and stop.</a:t>
            </a:r>
            <a:endParaRPr b="0" i="0" spc="0" sz="900" u="none" cap="none" strike="noStrike">
              <a:solidFill>
                <a:schemeClr val="dk1"/>
              </a:solidFill>
              <a:latin typeface="Calibri"/>
              <a:ea typeface="Calibri"/>
              <a:cs typeface="Calibri"/>
              <a:sym typeface="Calibri"/>
            </a:endParaRPr>
          </a:p>
        </p:txBody>
      </p:sp>
      <p:sp>
        <p:nvSpPr>
          <p:cNvPr id="590" name="Google Shape;590;p2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1" name="Google Shape;591;p2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2" name="Google Shape;592;p2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593" name="Google Shape;593;p2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What's your first action on the duplicate account?</a:t>
            </a:r>
            <a:endParaRPr b="0" i="0" spc="0" sz="1000" u="none" cap="none" strike="noStrike">
              <a:solidFill>
                <a:schemeClr val="dk1"/>
              </a:solidFill>
              <a:latin typeface="Calibri"/>
              <a:ea typeface="Calibri"/>
              <a:cs typeface="Calibri"/>
              <a:sym typeface="Calibri"/>
            </a:endParaRPr>
          </a:p>
        </p:txBody>
      </p:sp>
      <p:sp>
        <p:nvSpPr>
          <p:cNvPr id="594" name="Google Shape;594;p2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its FC (plus upcoming jobs and RC), and note both accounts.</a:t>
            </a:r>
            <a:endParaRPr b="0" i="0" spc="0" sz="900" u="none" cap="none" strike="noStrike">
              <a:solidFill>
                <a:schemeClr val="dk1"/>
              </a:solidFill>
              <a:latin typeface="Calibri"/>
              <a:ea typeface="Calibri"/>
              <a:cs typeface="Calibri"/>
              <a:sym typeface="Calibri"/>
            </a:endParaRPr>
          </a:p>
        </p:txBody>
      </p:sp>
      <p:sp>
        <p:nvSpPr>
          <p:cNvPr id="596" name="Google Shape;596;p2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7" name="Google Shape;597;p2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8" name="Google Shape;598;p2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599" name="Google Shape;599;p2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contesting the charges and picks free months. Anything extra?</a:t>
            </a:r>
            <a:endParaRPr b="0" i="0" spc="0" sz="1000" u="none" cap="none" strike="noStrike">
              <a:solidFill>
                <a:schemeClr val="dk1"/>
              </a:solidFill>
              <a:latin typeface="Calibri"/>
              <a:ea typeface="Calibri"/>
              <a:cs typeface="Calibri"/>
              <a:sym typeface="Calibri"/>
            </a:endParaRPr>
          </a:p>
        </p:txBody>
      </p:sp>
      <p:sp>
        <p:nvSpPr>
          <p:cNvPr id="600" name="Google Shape;600;p2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1" name="Google Shape;601;p2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1 bonus month on top. No bonus with a refund.</a:t>
            </a:r>
            <a:endParaRPr b="0" i="0" spc="0" sz="900" u="none" cap="none" strike="noStrike">
              <a:solidFill>
                <a:schemeClr val="dk1"/>
              </a:solidFill>
              <a:latin typeface="Calibri"/>
              <a:ea typeface="Calibri"/>
              <a:cs typeface="Calibri"/>
              <a:sym typeface="Calibri"/>
            </a:endParaRPr>
          </a:p>
        </p:txBody>
      </p:sp>
      <p:sp>
        <p:nvSpPr>
          <p:cNvPr id="602" name="Google Shape;602;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3"/>
                                        </p:tgtEl>
                                        <p:attrNameLst>
                                          <p:attrName>style.visibility</p:attrName>
                                        </p:attrNameLst>
                                      </p:cBhvr>
                                      <p:to>
                                        <p:strVal val="visible"/>
                                      </p:to>
                                    </p:set>
                                    <p:animEffect filter="fade" transition="in">
                                      <p:cBhvr>
                                        <p:cTn dur="600"/>
                                        <p:tgtEl>
                                          <p:spTgt spid="58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9"/>
                                        </p:tgtEl>
                                        <p:attrNameLst>
                                          <p:attrName>style.visibility</p:attrName>
                                        </p:attrNameLst>
                                      </p:cBhvr>
                                      <p:to>
                                        <p:strVal val="visible"/>
                                      </p:to>
                                    </p:set>
                                    <p:animEffect filter="fade" transition="in">
                                      <p:cBhvr>
                                        <p:cTn dur="600"/>
                                        <p:tgtEl>
                                          <p:spTgt spid="5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95"/>
                                        </p:tgtEl>
                                        <p:attrNameLst>
                                          <p:attrName>style.visibility</p:attrName>
                                        </p:attrNameLst>
                                      </p:cBhvr>
                                      <p:to>
                                        <p:strVal val="visible"/>
                                      </p:to>
                                    </p:set>
                                    <p:animEffect filter="fade" transition="in">
                                      <p:cBhvr>
                                        <p:cTn dur="600"/>
                                        <p:tgtEl>
                                          <p:spTgt spid="59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1"/>
                                        </p:tgtEl>
                                        <p:attrNameLst>
                                          <p:attrName>style.visibility</p:attrName>
                                        </p:attrNameLst>
                                      </p:cBhvr>
                                      <p:to>
                                        <p:strVal val="visible"/>
                                      </p:to>
                                    </p:set>
                                    <p:animEffect filter="fade" transition="in">
                                      <p:cBhvr>
                                        <p:cTn dur="600"/>
                                        <p:tgtEl>
                                          <p:spTgt spid="60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PRACTICE</a:t>
            </a:r>
            <a:endParaRPr b="0" i="0" spc="0" sz="800" u="none" cap="none" strike="noStrike">
              <a:solidFill>
                <a:schemeClr val="dk1"/>
              </a:solidFill>
              <a:latin typeface="Calibri"/>
              <a:ea typeface="Calibri"/>
              <a:cs typeface="Calibri"/>
              <a:sym typeface="Calibri"/>
            </a:endParaRPr>
          </a:p>
        </p:txBody>
      </p:sp>
      <p:sp>
        <p:nvSpPr>
          <p:cNvPr id="609" name="Google Shape;609;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610" name="Google Shape;610;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611" name="Google Shape;611;p2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2" name="Google Shape;612;p2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13" name="Google Shape;613;p2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14" name="Google Shape;614;p2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615" name="Google Shape;615;p2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616" name="Google Shape;616;p2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617" name="Google Shape;617;p2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8" name="Google Shape;618;p2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9" name="Google Shape;619;p2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20" name="Google Shape;620;p2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account is the duplicate?</a:t>
            </a:r>
            <a:endParaRPr b="0" i="0" spc="0" sz="1250" u="none" cap="none" strike="noStrike">
              <a:solidFill>
                <a:schemeClr val="dk1"/>
              </a:solidFill>
              <a:latin typeface="Calibri"/>
              <a:ea typeface="Calibri"/>
              <a:cs typeface="Calibri"/>
              <a:sym typeface="Calibri"/>
            </a:endParaRPr>
          </a:p>
        </p:txBody>
      </p:sp>
      <p:sp>
        <p:nvSpPr>
          <p:cNvPr id="621" name="Google Shape;621;p2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Thumbtack flag? Both triggered FCs?</a:t>
            </a:r>
            <a:endParaRPr b="0" i="0" spc="0" sz="1000" u="none" cap="none" strike="noStrike">
              <a:solidFill>
                <a:schemeClr val="dk1"/>
              </a:solidFill>
              <a:latin typeface="Calibri"/>
              <a:ea typeface="Calibri"/>
              <a:cs typeface="Calibri"/>
              <a:sym typeface="Calibri"/>
            </a:endParaRPr>
          </a:p>
        </p:txBody>
      </p:sp>
      <p:sp>
        <p:nvSpPr>
          <p:cNvPr id="622" name="Google Shape;622;p2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25" name="Google Shape;625;p2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626" name="Google Shape;626;p2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FC, notes, refund or free months.</a:t>
            </a:r>
            <a:endParaRPr b="0" i="0" spc="0" sz="1000" u="none" cap="none" strike="noStrike">
              <a:solidFill>
                <a:schemeClr val="dk1"/>
              </a:solidFill>
              <a:latin typeface="Calibri"/>
              <a:ea typeface="Calibri"/>
              <a:cs typeface="Calibri"/>
              <a:sym typeface="Calibri"/>
            </a:endParaRPr>
          </a:p>
        </p:txBody>
      </p:sp>
      <p:sp>
        <p:nvSpPr>
          <p:cNvPr id="627" name="Google Shape;627;p2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9" name="Google Shape;629;p2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30" name="Google Shape;630;p2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631" name="Google Shape;631;p2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offering the choice.</a:t>
            </a:r>
            <a:endParaRPr b="0" i="0" spc="0" sz="1000" u="none" cap="none" strike="noStrike">
              <a:solidFill>
                <a:schemeClr val="dk1"/>
              </a:solidFill>
              <a:latin typeface="Calibri"/>
              <a:ea typeface="Calibri"/>
              <a:cs typeface="Calibri"/>
              <a:sym typeface="Calibri"/>
            </a:endParaRPr>
          </a:p>
        </p:txBody>
      </p:sp>
      <p:sp>
        <p:nvSpPr>
          <p:cNvPr id="632" name="Google Shape;632;p2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33" name="Google Shape;633;p2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34" name="Google Shape;634;p2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635" name="Google Shape;635;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p2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642" name="Google Shape;642;p2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Bulk Charges</a:t>
            </a:r>
            <a:endParaRPr b="0" i="0" spc="0" sz="2800" u="none" cap="none" strike="noStrike">
              <a:solidFill>
                <a:schemeClr val="dk1"/>
              </a:solidFill>
              <a:latin typeface="Calibri"/>
              <a:ea typeface="Calibri"/>
              <a:cs typeface="Calibri"/>
              <a:sym typeface="Calibri"/>
            </a:endParaRPr>
          </a:p>
        </p:txBody>
      </p:sp>
      <p:sp>
        <p:nvSpPr>
          <p:cNvPr id="643" name="Google Shape;643;p2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Several overdue MFs charged in one go, on the same day.</a:t>
            </a:r>
            <a:endParaRPr b="0" i="0" spc="0" sz="1150" u="none" cap="none" strike="noStrike">
              <a:solidFill>
                <a:schemeClr val="dk1"/>
              </a:solidFill>
              <a:latin typeface="Calibri"/>
              <a:ea typeface="Calibri"/>
              <a:cs typeface="Calibri"/>
              <a:sym typeface="Calibri"/>
            </a:endParaRPr>
          </a:p>
        </p:txBody>
      </p:sp>
      <p:sp>
        <p:nvSpPr>
          <p:cNvPr id="644" name="Google Shape;644;p2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45" name="Google Shape;645;p2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6" name="Google Shape;646;p2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47" name="Google Shape;647;p2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a bulk charge is (and isn't)</a:t>
            </a:r>
            <a:endParaRPr b="0" i="0" spc="0" sz="1050" u="none" cap="none" strike="noStrike">
              <a:solidFill>
                <a:schemeClr val="dk1"/>
              </a:solidFill>
              <a:latin typeface="Calibri"/>
              <a:ea typeface="Calibri"/>
              <a:cs typeface="Calibri"/>
              <a:sym typeface="Calibri"/>
            </a:endParaRPr>
          </a:p>
        </p:txBody>
      </p:sp>
      <p:sp>
        <p:nvSpPr>
          <p:cNvPr id="648" name="Google Shape;648;p2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9" name="Google Shape;649;p2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50" name="Google Shape;650;p2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three branches</a:t>
            </a:r>
            <a:endParaRPr b="0" i="0" spc="0" sz="1050" u="none" cap="none" strike="noStrike">
              <a:solidFill>
                <a:schemeClr val="dk1"/>
              </a:solidFill>
              <a:latin typeface="Calibri"/>
              <a:ea typeface="Calibri"/>
              <a:cs typeface="Calibri"/>
              <a:sym typeface="Calibri"/>
            </a:endParaRPr>
          </a:p>
        </p:txBody>
      </p:sp>
      <p:sp>
        <p:nvSpPr>
          <p:cNvPr id="651" name="Google Shape;651;p2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2" name="Google Shape;652;p2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653" name="Google Shape;653;p2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A: head it off with free months</a:t>
            </a:r>
            <a:endParaRPr b="0" i="0" spc="0" sz="1050" u="none" cap="none" strike="noStrike">
              <a:solidFill>
                <a:schemeClr val="dk1"/>
              </a:solidFill>
              <a:latin typeface="Calibri"/>
              <a:ea typeface="Calibri"/>
              <a:cs typeface="Calibri"/>
              <a:sym typeface="Calibri"/>
            </a:endParaRPr>
          </a:p>
        </p:txBody>
      </p:sp>
      <p:sp>
        <p:nvSpPr>
          <p:cNvPr id="654" name="Google Shape;654;p2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5" name="Google Shape;655;p2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656" name="Google Shape;656;p2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C: save mode or exit mode</a:t>
            </a:r>
            <a:endParaRPr b="0" i="0" spc="0" sz="1050" u="none" cap="none" strike="noStrike">
              <a:solidFill>
                <a:schemeClr val="dk1"/>
              </a:solidFill>
              <a:latin typeface="Calibri"/>
              <a:ea typeface="Calibri"/>
              <a:cs typeface="Calibri"/>
              <a:sym typeface="Calibri"/>
            </a:endParaRPr>
          </a:p>
        </p:txBody>
      </p:sp>
      <p:sp>
        <p:nvSpPr>
          <p:cNvPr id="657" name="Google Shape;657;p2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8" name="Google Shape;658;p2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7.png" id="659" name="Google Shape;659;p28"/>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660" name="Google Shape;660;p2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1" name="Google Shape;661;p2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4" name="Google Shape;664;p2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5" name="Google Shape;665;p2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6" name="Google Shape;666;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73" name="Google Shape;673;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674" name="Google Shape;674;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Each charge is a different missed month, not a duplicate.</a:t>
            </a:r>
            <a:endParaRPr b="0" i="0" spc="0" sz="1200" u="none" cap="none" strike="noStrike">
              <a:solidFill>
                <a:schemeClr val="dk1"/>
              </a:solidFill>
              <a:latin typeface="Calibri"/>
              <a:ea typeface="Calibri"/>
              <a:cs typeface="Calibri"/>
              <a:sym typeface="Calibri"/>
            </a:endParaRPr>
          </a:p>
        </p:txBody>
      </p:sp>
      <p:sp>
        <p:nvSpPr>
          <p:cNvPr id="675" name="Google Shape;675;p29"/>
          <p:cNvSpPr txBox="1"/>
          <p:nvPr/>
        </p:nvSpPr>
        <p:spPr>
          <a:xfrm>
            <a:off x="411480" y="31089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THREE REASONS IT REACHES YOU</a:t>
            </a:r>
            <a:endParaRPr b="0" i="0" spc="0" sz="800" u="none" cap="none" strike="noStrike">
              <a:solidFill>
                <a:schemeClr val="dk1"/>
              </a:solidFill>
              <a:latin typeface="Calibri"/>
              <a:ea typeface="Calibri"/>
              <a:cs typeface="Calibri"/>
              <a:sym typeface="Calibri"/>
            </a:endParaRPr>
          </a:p>
        </p:txBody>
      </p:sp>
      <p:sp>
        <p:nvSpPr>
          <p:cNvPr id="676" name="Google Shape;676;p29"/>
          <p:cNvSpPr/>
          <p:nvPr/>
        </p:nvSpPr>
        <p:spPr>
          <a:xfrm>
            <a:off x="4114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7" name="Google Shape;677;p29"/>
          <p:cNvSpPr/>
          <p:nvPr/>
        </p:nvSpPr>
        <p:spPr>
          <a:xfrm>
            <a:off x="5486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txBox="1"/>
          <p:nvPr/>
        </p:nvSpPr>
        <p:spPr>
          <a:xfrm>
            <a:off x="5486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A</a:t>
            </a:r>
            <a:endParaRPr b="0" i="0" spc="0" sz="1100" u="none" cap="none" strike="noStrike">
              <a:solidFill>
                <a:schemeClr val="dk1"/>
              </a:solidFill>
              <a:latin typeface="Calibri"/>
              <a:ea typeface="Calibri"/>
              <a:cs typeface="Calibri"/>
              <a:sym typeface="Calibri"/>
            </a:endParaRPr>
          </a:p>
        </p:txBody>
      </p:sp>
      <p:sp>
        <p:nvSpPr>
          <p:cNvPr id="679" name="Google Shape;679;p29"/>
          <p:cNvSpPr txBox="1"/>
          <p:nvPr/>
        </p:nvSpPr>
        <p:spPr>
          <a:xfrm>
            <a:off x="9784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overdue, not why C wrote in</a:t>
            </a:r>
            <a:endParaRPr b="0" i="0" spc="0" sz="1000" u="none" cap="none" strike="noStrike">
              <a:solidFill>
                <a:schemeClr val="dk1"/>
              </a:solidFill>
              <a:latin typeface="Calibri"/>
              <a:ea typeface="Calibri"/>
              <a:cs typeface="Calibri"/>
              <a:sym typeface="Calibri"/>
            </a:endParaRPr>
          </a:p>
        </p:txBody>
      </p:sp>
      <p:sp>
        <p:nvSpPr>
          <p:cNvPr id="680" name="Google Shape;680;p29"/>
          <p:cNvSpPr/>
          <p:nvPr/>
        </p:nvSpPr>
        <p:spPr>
          <a:xfrm>
            <a:off x="32308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1" name="Google Shape;681;p29"/>
          <p:cNvSpPr/>
          <p:nvPr/>
        </p:nvSpPr>
        <p:spPr>
          <a:xfrm>
            <a:off x="33680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txBox="1"/>
          <p:nvPr/>
        </p:nvSpPr>
        <p:spPr>
          <a:xfrm>
            <a:off x="33680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B</a:t>
            </a:r>
            <a:endParaRPr b="0" i="0" spc="0" sz="1100" u="none" cap="none" strike="noStrike">
              <a:solidFill>
                <a:schemeClr val="dk1"/>
              </a:solidFill>
              <a:latin typeface="Calibri"/>
              <a:ea typeface="Calibri"/>
              <a:cs typeface="Calibri"/>
              <a:sym typeface="Calibri"/>
            </a:endParaRPr>
          </a:p>
        </p:txBody>
      </p:sp>
      <p:sp>
        <p:nvSpPr>
          <p:cNvPr id="683" name="Google Shape;683;p29"/>
          <p:cNvSpPr txBox="1"/>
          <p:nvPr/>
        </p:nvSpPr>
        <p:spPr>
          <a:xfrm>
            <a:off x="37978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cancelled, wants a refund</a:t>
            </a:r>
            <a:endParaRPr b="0" i="0" spc="0" sz="1000" u="none" cap="none" strike="noStrike">
              <a:solidFill>
                <a:schemeClr val="dk1"/>
              </a:solidFill>
              <a:latin typeface="Calibri"/>
              <a:ea typeface="Calibri"/>
              <a:cs typeface="Calibri"/>
              <a:sym typeface="Calibri"/>
            </a:endParaRPr>
          </a:p>
        </p:txBody>
      </p:sp>
      <p:sp>
        <p:nvSpPr>
          <p:cNvPr id="684" name="Google Shape;684;p29"/>
          <p:cNvSpPr/>
          <p:nvPr/>
        </p:nvSpPr>
        <p:spPr>
          <a:xfrm>
            <a:off x="60502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5" name="Google Shape;685;p29"/>
          <p:cNvSpPr/>
          <p:nvPr/>
        </p:nvSpPr>
        <p:spPr>
          <a:xfrm>
            <a:off x="61874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6" name="Google Shape;686;p29"/>
          <p:cNvSpPr txBox="1"/>
          <p:nvPr/>
        </p:nvSpPr>
        <p:spPr>
          <a:xfrm>
            <a:off x="61874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C</a:t>
            </a:r>
            <a:endParaRPr b="0" i="0" spc="0" sz="1100" u="none" cap="none" strike="noStrike">
              <a:solidFill>
                <a:schemeClr val="dk1"/>
              </a:solidFill>
              <a:latin typeface="Calibri"/>
              <a:ea typeface="Calibri"/>
              <a:cs typeface="Calibri"/>
              <a:sym typeface="Calibri"/>
            </a:endParaRPr>
          </a:p>
        </p:txBody>
      </p:sp>
      <p:sp>
        <p:nvSpPr>
          <p:cNvPr id="687" name="Google Shape;687;p29"/>
          <p:cNvSpPr txBox="1"/>
          <p:nvPr/>
        </p:nvSpPr>
        <p:spPr>
          <a:xfrm>
            <a:off x="66172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active, cancelling over it</a:t>
            </a:r>
            <a:endParaRPr b="0" i="0" spc="0" sz="1000" u="none" cap="none" strike="noStrike">
              <a:solidFill>
                <a:schemeClr val="dk1"/>
              </a:solidFill>
              <a:latin typeface="Calibri"/>
              <a:ea typeface="Calibri"/>
              <a:cs typeface="Calibri"/>
              <a:sym typeface="Calibri"/>
            </a:endParaRPr>
          </a:p>
        </p:txBody>
      </p:sp>
      <p:sp>
        <p:nvSpPr>
          <p:cNvPr id="688" name="Google Shape;688;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89" name="Google Shape;689;p29"/>
          <p:cNvSpPr/>
          <p:nvPr/>
        </p:nvSpPr>
        <p:spPr>
          <a:xfrm>
            <a:off x="411480" y="132588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0" name="Google Shape;690;p29"/>
          <p:cNvSpPr/>
          <p:nvPr/>
        </p:nvSpPr>
        <p:spPr>
          <a:xfrm>
            <a:off x="521207" y="142646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691" name="Google Shape;691;p29"/>
          <p:cNvSpPr txBox="1"/>
          <p:nvPr/>
        </p:nvSpPr>
        <p:spPr>
          <a:xfrm>
            <a:off x="914400" y="132588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MF overdue</a:t>
            </a:r>
            <a:r>
              <a:rPr b="0" i="0" lang="en-US" spc="0" sz="950" u="none" cap="none" strike="noStrike">
                <a:solidFill>
                  <a:srgbClr val="6E6E73"/>
                </a:solidFill>
                <a:latin typeface="Arial"/>
                <a:ea typeface="Arial"/>
                <a:cs typeface="Arial"/>
                <a:sym typeface="Arial"/>
              </a:rPr>
              <a:t> for several billing cycles</a:t>
            </a:r>
            <a:endParaRPr b="0" i="0" spc="0" sz="1400" u="none" cap="none" strike="noStrike">
              <a:solidFill>
                <a:srgbClr val="000000"/>
              </a:solidFill>
              <a:latin typeface="Arial"/>
              <a:ea typeface="Arial"/>
              <a:cs typeface="Arial"/>
              <a:sym typeface="Arial"/>
            </a:endParaRPr>
          </a:p>
        </p:txBody>
      </p:sp>
      <p:sp>
        <p:nvSpPr>
          <p:cNvPr id="692" name="Google Shape;692;p29"/>
          <p:cNvSpPr/>
          <p:nvPr/>
        </p:nvSpPr>
        <p:spPr>
          <a:xfrm>
            <a:off x="411480" y="1874519"/>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3" name="Google Shape;693;p29"/>
          <p:cNvSpPr/>
          <p:nvPr/>
        </p:nvSpPr>
        <p:spPr>
          <a:xfrm>
            <a:off x="521207" y="1975103"/>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694" name="Google Shape;694;p29"/>
          <p:cNvSpPr txBox="1"/>
          <p:nvPr/>
        </p:nvSpPr>
        <p:spPr>
          <a:xfrm>
            <a:off x="914400" y="1874519"/>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A payment finally goes through</a:t>
            </a:r>
            <a:endParaRPr b="0" i="0" spc="0" sz="1400" u="none" cap="none" strike="noStrike">
              <a:solidFill>
                <a:srgbClr val="000000"/>
              </a:solidFill>
              <a:latin typeface="Arial"/>
              <a:ea typeface="Arial"/>
              <a:cs typeface="Arial"/>
              <a:sym typeface="Arial"/>
            </a:endParaRPr>
          </a:p>
        </p:txBody>
      </p:sp>
      <p:sp>
        <p:nvSpPr>
          <p:cNvPr id="695" name="Google Shape;695;p29"/>
          <p:cNvSpPr/>
          <p:nvPr/>
        </p:nvSpPr>
        <p:spPr>
          <a:xfrm>
            <a:off x="411480" y="242316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6" name="Google Shape;696;p29"/>
          <p:cNvSpPr/>
          <p:nvPr/>
        </p:nvSpPr>
        <p:spPr>
          <a:xfrm>
            <a:off x="521207" y="252374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697" name="Google Shape;697;p29"/>
          <p:cNvSpPr txBox="1"/>
          <p:nvPr/>
        </p:nvSpPr>
        <p:spPr>
          <a:xfrm>
            <a:off x="914400" y="242316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Every missed month is charged at once</a:t>
            </a:r>
            <a:r>
              <a:rPr b="0" i="0" lang="en-US" spc="0" sz="950" u="none" cap="none" strike="noStrike">
                <a:solidFill>
                  <a:srgbClr val="6E6E73"/>
                </a:solidFill>
                <a:latin typeface="Arial"/>
                <a:ea typeface="Arial"/>
                <a:cs typeface="Arial"/>
                <a:sym typeface="Arial"/>
              </a:rPr>
              <a:t>: same day or same month</a:t>
            </a:r>
            <a:endParaRPr b="0" i="0" spc="0" sz="1400" u="none" cap="none" strike="noStrike">
              <a:solidFill>
                <a:srgbClr val="000000"/>
              </a:solidFill>
              <a:latin typeface="Arial"/>
              <a:ea typeface="Arial"/>
              <a:cs typeface="Arial"/>
              <a:sym typeface="Arial"/>
            </a:endParaRPr>
          </a:p>
        </p:txBody>
      </p:sp>
      <p:sp>
        <p:nvSpPr>
          <p:cNvPr id="698" name="Google Shape;698;p29"/>
          <p:cNvSpPr/>
          <p:nvPr/>
        </p:nvSpPr>
        <p:spPr>
          <a:xfrm>
            <a:off x="4069080" y="1325880"/>
            <a:ext cx="4754879" cy="1387179"/>
          </a:xfrm>
          <a:prstGeom prst="roundRect">
            <a:avLst>
              <a:gd fmla="val 3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bulk_payment_history.png" id="699" name="Google Shape;699;p29"/>
          <p:cNvPicPr preferRelativeResize="0"/>
          <p:nvPr/>
        </p:nvPicPr>
        <p:blipFill rotWithShape="1">
          <a:blip r:embed="rId3">
            <a:alphaModFix/>
          </a:blip>
          <a:srcRect b="0" l="0" r="0" t="0"/>
          <a:stretch/>
        </p:blipFill>
        <p:spPr>
          <a:xfrm>
            <a:off x="4114800" y="1371600"/>
            <a:ext cx="4663440" cy="1295739"/>
          </a:xfrm>
          <a:prstGeom prst="rect">
            <a:avLst/>
          </a:prstGeom>
          <a:noFill/>
          <a:ln>
            <a:noFill/>
          </a:ln>
        </p:spPr>
      </p:pic>
      <p:sp>
        <p:nvSpPr>
          <p:cNvPr id="700" name="Google Shape;700;p29"/>
          <p:cNvSpPr txBox="1"/>
          <p:nvPr/>
        </p:nvSpPr>
        <p:spPr>
          <a:xfrm>
            <a:off x="4069080" y="2758779"/>
            <a:ext cx="4754879" cy="2743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Four $59 MFs, one day: </a:t>
            </a:r>
            <a:r>
              <a:rPr b="0" i="0" lang="en-US" spc="0" sz="900" u="none" cap="none" strike="noStrike">
                <a:solidFill>
                  <a:srgbClr val="1D1D1F"/>
                </a:solidFill>
                <a:latin typeface="Arial"/>
                <a:ea typeface="Arial"/>
                <a:cs typeface="Arial"/>
                <a:sym typeface="Arial"/>
              </a:rPr>
              <a:t>Jan, Feb, Mar and Apr paid-through. Different months, not duplicates.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5" name="Shape 705"/>
        <p:cNvGrpSpPr/>
        <p:nvPr/>
      </p:nvGrpSpPr>
      <p:grpSpPr>
        <a:xfrm>
          <a:off x="0" y="0"/>
          <a:ext cx="0" cy="0"/>
          <a:chOff x="0" y="0"/>
          <a:chExt cx="0" cy="0"/>
        </a:xfrm>
      </p:grpSpPr>
      <p:sp>
        <p:nvSpPr>
          <p:cNvPr id="706" name="Google Shape;706;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07" name="Google Shape;707;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A: head it off</a:t>
            </a:r>
            <a:endParaRPr b="0" i="0" spc="0" sz="2400" u="none" cap="none" strike="noStrike">
              <a:solidFill>
                <a:schemeClr val="dk1"/>
              </a:solidFill>
              <a:latin typeface="Calibri"/>
              <a:ea typeface="Calibri"/>
              <a:cs typeface="Calibri"/>
              <a:sym typeface="Calibri"/>
            </a:endParaRPr>
          </a:p>
        </p:txBody>
      </p:sp>
      <p:sp>
        <p:nvSpPr>
          <p:cNvPr id="708" name="Google Shape;708;p3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You spotted an overdue FC on an unrelated ticket.</a:t>
            </a:r>
            <a:endParaRPr b="0" i="0" spc="0" sz="1200" u="none" cap="none" strike="noStrike">
              <a:solidFill>
                <a:schemeClr val="dk1"/>
              </a:solidFill>
              <a:latin typeface="Calibri"/>
              <a:ea typeface="Calibri"/>
              <a:cs typeface="Calibri"/>
              <a:sym typeface="Calibri"/>
            </a:endParaRPr>
          </a:p>
        </p:txBody>
      </p:sp>
      <p:graphicFrame>
        <p:nvGraphicFramePr>
          <p:cNvPr id="709" name="Google Shape;709;p30"/>
          <p:cNvGraphicFramePr/>
          <p:nvPr/>
        </p:nvGraphicFramePr>
        <p:xfrm>
          <a:off x="411480" y="1325880"/>
          <a:ext cx="3000000" cy="3000000"/>
        </p:xfrm>
        <a:graphic>
          <a:graphicData uri="http://schemas.openxmlformats.org/drawingml/2006/table">
            <a:tbl>
              <a:tblPr>
                <a:noFill/>
                <a:tableStyleId>{B11CD2B3-61C3-4F20-B420-420BFCFC9075}</a:tableStyleId>
              </a:tblPr>
              <a:tblGrid>
                <a:gridCol w="4389125"/>
                <a:gridCol w="3931925"/>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Action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in 7 days or less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Issue 1 free month</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more than 7 days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No action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2+ MFs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Free months/weeks to bring paid-through current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710" name="Google Shape;710;p30"/>
          <p:cNvSpPr txBox="1"/>
          <p:nvPr/>
        </p:nvSpPr>
        <p:spPr>
          <a:xfrm>
            <a:off x="411480" y="2926080"/>
            <a:ext cx="7315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WORKED EXAMPLE: TODAY IS Oct 15, MF BILLS ON THE 20TH</a:t>
            </a:r>
            <a:endParaRPr b="0" i="0" spc="0" sz="8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3154680"/>
            <a:ext cx="19202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txBox="1"/>
          <p:nvPr/>
        </p:nvSpPr>
        <p:spPr>
          <a:xfrm>
            <a:off x="41148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Aug 20 + Sep 20 failed</a:t>
            </a:r>
            <a:endParaRPr b="0" i="0" spc="0" sz="1000" u="none" cap="none" strike="noStrike">
              <a:solidFill>
                <a:schemeClr val="dk1"/>
              </a:solidFill>
              <a:latin typeface="Calibri"/>
              <a:ea typeface="Calibri"/>
              <a:cs typeface="Calibri"/>
              <a:sym typeface="Calibri"/>
            </a:endParaRPr>
          </a:p>
        </p:txBody>
      </p:sp>
      <p:cxnSp>
        <p:nvCxnSpPr>
          <p:cNvPr id="713" name="Google Shape;713;p30"/>
          <p:cNvCxnSpPr/>
          <p:nvPr/>
        </p:nvCxnSpPr>
        <p:spPr>
          <a:xfrm>
            <a:off x="233172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4" name="Google Shape;714;p30"/>
          <p:cNvSpPr/>
          <p:nvPr/>
        </p:nvSpPr>
        <p:spPr>
          <a:xfrm>
            <a:off x="2544775" y="3154680"/>
            <a:ext cx="19202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5" name="Google Shape;715;p30"/>
          <p:cNvSpPr txBox="1"/>
          <p:nvPr/>
        </p:nvSpPr>
        <p:spPr>
          <a:xfrm>
            <a:off x="2544775"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Paid-through: Aug 20</a:t>
            </a:r>
            <a:endParaRPr b="0" i="0" spc="0" sz="1000" u="none" cap="none" strike="noStrike">
              <a:solidFill>
                <a:schemeClr val="dk1"/>
              </a:solidFill>
              <a:latin typeface="Calibri"/>
              <a:ea typeface="Calibri"/>
              <a:cs typeface="Calibri"/>
              <a:sym typeface="Calibri"/>
            </a:endParaRPr>
          </a:p>
        </p:txBody>
      </p:sp>
      <p:cxnSp>
        <p:nvCxnSpPr>
          <p:cNvPr id="716" name="Google Shape;716;p30"/>
          <p:cNvCxnSpPr/>
          <p:nvPr/>
        </p:nvCxnSpPr>
        <p:spPr>
          <a:xfrm>
            <a:off x="4465015"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7" name="Google Shape;717;p30"/>
          <p:cNvSpPr/>
          <p:nvPr/>
        </p:nvSpPr>
        <p:spPr>
          <a:xfrm>
            <a:off x="4678070"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txBox="1"/>
          <p:nvPr/>
        </p:nvSpPr>
        <p:spPr>
          <a:xfrm>
            <a:off x="467807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Add 2 free months</a:t>
            </a:r>
            <a:endParaRPr b="0" i="0" spc="0" sz="1000" u="none" cap="none" strike="noStrike">
              <a:solidFill>
                <a:schemeClr val="dk1"/>
              </a:solidFill>
              <a:latin typeface="Calibri"/>
              <a:ea typeface="Calibri"/>
              <a:cs typeface="Calibri"/>
              <a:sym typeface="Calibri"/>
            </a:endParaRPr>
          </a:p>
        </p:txBody>
      </p:sp>
      <p:cxnSp>
        <p:nvCxnSpPr>
          <p:cNvPr id="719" name="Google Shape;719;p30"/>
          <p:cNvCxnSpPr/>
          <p:nvPr/>
        </p:nvCxnSpPr>
        <p:spPr>
          <a:xfrm>
            <a:off x="659831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20" name="Google Shape;720;p30"/>
          <p:cNvSpPr/>
          <p:nvPr/>
        </p:nvSpPr>
        <p:spPr>
          <a:xfrm>
            <a:off x="6811366"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1" name="Google Shape;721;p30"/>
          <p:cNvSpPr txBox="1"/>
          <p:nvPr/>
        </p:nvSpPr>
        <p:spPr>
          <a:xfrm>
            <a:off x="6811366"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Paid-through Oct 20. Next MF Oct 20</a:t>
            </a:r>
            <a:endParaRPr b="0" i="0" spc="0" sz="1000" u="none" cap="none" strike="noStrike">
              <a:solidFill>
                <a:schemeClr val="dk1"/>
              </a:solidFill>
              <a:latin typeface="Calibri"/>
              <a:ea typeface="Calibri"/>
              <a:cs typeface="Calibri"/>
              <a:sym typeface="Calibri"/>
            </a:endParaRPr>
          </a:p>
        </p:txBody>
      </p:sp>
      <p:sp>
        <p:nvSpPr>
          <p:cNvPr id="722" name="Google Shape;722;p3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23" name="Google Shape;723;p30"/>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724" name="Google Shape;724;p3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"Current" =  </a:t>
            </a:r>
            <a:r>
              <a:rPr b="0" i="0" lang="en-US" spc="0" sz="1000" u="none" cap="none" strike="noStrike">
                <a:solidFill>
                  <a:srgbClr val="1D1D1F"/>
                </a:solidFill>
                <a:latin typeface="Arial"/>
                <a:ea typeface="Arial"/>
                <a:cs typeface="Arial"/>
                <a:sym typeface="Arial"/>
              </a:rPr>
              <a:t>the last missed billing anchor, not today.</a:t>
            </a:r>
            <a:endParaRPr b="0" i="0" spc="0" sz="1000" u="none" cap="none" strike="noStrike">
              <a:solidFill>
                <a:schemeClr val="dk1"/>
              </a:solidFill>
              <a:latin typeface="Calibri"/>
              <a:ea typeface="Calibri"/>
              <a:cs typeface="Calibri"/>
              <a:sym typeface="Calibri"/>
            </a:endParaRPr>
          </a:p>
        </p:txBody>
      </p:sp>
      <p:sp>
        <p:nvSpPr>
          <p:cNvPr id="725" name="Google Shape;725;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0" name="Shape 730"/>
        <p:cNvGrpSpPr/>
        <p:nvPr/>
      </p:nvGrpSpPr>
      <p:grpSpPr>
        <a:xfrm>
          <a:off x="0" y="0"/>
          <a:ext cx="0" cy="0"/>
          <a:chOff x="0" y="0"/>
          <a:chExt cx="0" cy="0"/>
        </a:xfrm>
      </p:grpSpPr>
      <p:sp>
        <p:nvSpPr>
          <p:cNvPr id="731" name="Google Shape;731;p31"/>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32" name="Google Shape;732;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B: FC already cancelled</a:t>
            </a:r>
            <a:endParaRPr b="0" i="0" spc="0" sz="2400" u="none" cap="none" strike="noStrike">
              <a:solidFill>
                <a:schemeClr val="dk1"/>
              </a:solidFill>
              <a:latin typeface="Calibri"/>
              <a:ea typeface="Calibri"/>
              <a:cs typeface="Calibri"/>
              <a:sym typeface="Calibri"/>
            </a:endParaRPr>
          </a:p>
        </p:txBody>
      </p:sp>
      <p:sp>
        <p:nvSpPr>
          <p:cNvPr id="733" name="Google Shape;733;p31"/>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 wants a refund for the bulk charge. Nothing bulk-specific here.</a:t>
            </a:r>
            <a:endParaRPr b="0" i="0" spc="0" sz="1200" u="none" cap="none" strike="noStrike">
              <a:solidFill>
                <a:schemeClr val="dk1"/>
              </a:solidFill>
              <a:latin typeface="Calibri"/>
              <a:ea typeface="Calibri"/>
              <a:cs typeface="Calibri"/>
              <a:sym typeface="Calibri"/>
            </a:endParaRPr>
          </a:p>
        </p:txBody>
      </p:sp>
      <p:sp>
        <p:nvSpPr>
          <p:cNvPr id="734" name="Google Shape;734;p31"/>
          <p:cNvSpPr/>
          <p:nvPr/>
        </p:nvSpPr>
        <p:spPr>
          <a:xfrm>
            <a:off x="411480" y="1325880"/>
            <a:ext cx="8321100" cy="1691700"/>
          </a:xfrm>
          <a:prstGeom prst="roundRect">
            <a:avLst>
              <a:gd fmla="val 2759"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5" name="Google Shape;735;p31"/>
          <p:cNvSpPr/>
          <p:nvPr/>
        </p:nvSpPr>
        <p:spPr>
          <a:xfrm>
            <a:off x="411480" y="1325880"/>
            <a:ext cx="8321100" cy="329100"/>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550" u="none" cap="none" strike="noStrike">
                <a:solidFill>
                  <a:schemeClr val="lt1"/>
                </a:solidFill>
                <a:latin typeface="Play"/>
                <a:ea typeface="Play"/>
                <a:cs typeface="Play"/>
                <a:sym typeface="Play"/>
              </a:rPr>
              <a:t>B: FC already cancelled</a:t>
            </a:r>
            <a:endParaRPr b="0" i="0" spc="0" sz="1550" u="none" cap="none" strike="noStrike">
              <a:solidFill>
                <a:schemeClr val="lt1"/>
              </a:solidFill>
              <a:latin typeface="Calibri"/>
              <a:ea typeface="Calibri"/>
              <a:cs typeface="Calibri"/>
              <a:sym typeface="Calibri"/>
            </a:endParaRPr>
          </a:p>
        </p:txBody>
      </p:sp>
      <p:sp>
        <p:nvSpPr>
          <p:cNvPr id="736" name="Google Shape;736;p31"/>
          <p:cNvSpPr txBox="1"/>
          <p:nvPr/>
        </p:nvSpPr>
        <p:spPr>
          <a:xfrm>
            <a:off x="576072" y="1764792"/>
            <a:ext cx="7992000" cy="914400"/>
          </a:xfrm>
          <a:prstGeom prst="rect">
            <a:avLst/>
          </a:prstGeom>
          <a:noFill/>
          <a:ln>
            <a:noFill/>
          </a:ln>
        </p:spPr>
        <p:txBody>
          <a:bodyPr anchorCtr="0" anchor="t" bIns="0" lIns="0" spcFirstLastPara="1" rIns="0" wrap="square" tIns="0">
            <a:noAutofit/>
          </a:bodyPr>
          <a:lstStyle/>
          <a:p>
            <a:pPr indent="-133350" lvl="0" marL="127000" marR="0" rtl="0" algn="l">
              <a:lnSpc>
                <a:spcPct val="100000"/>
              </a:lnSpc>
              <a:spcBef>
                <a:spcPts val="0"/>
              </a:spcBef>
              <a:spcAft>
                <a:spcPts val="0"/>
              </a:spcAft>
              <a:buClr>
                <a:srgbClr val="0B7A6F"/>
              </a:buClr>
              <a:buSzPts val="2100"/>
              <a:buFont typeface="Play"/>
              <a:buChar char="•"/>
            </a:pPr>
            <a:r>
              <a:rPr b="0" i="0" lang="en-US" spc="0" sz="2100" u="none" cap="none" strike="noStrike">
                <a:solidFill>
                  <a:srgbClr val="0B7A6F"/>
                </a:solidFill>
                <a:latin typeface="Play"/>
                <a:ea typeface="Play"/>
                <a:cs typeface="Play"/>
                <a:sym typeface="Play"/>
              </a:rPr>
              <a:t>Standard refund policy</a:t>
            </a:r>
            <a:endParaRPr b="0" i="0" spc="0" sz="2100" u="none" cap="none" strike="noStrike">
              <a:solidFill>
                <a:srgbClr val="0B7A6F"/>
              </a:solidFill>
              <a:latin typeface="Play"/>
              <a:ea typeface="Play"/>
              <a:cs typeface="Play"/>
              <a:sym typeface="Play"/>
            </a:endParaRPr>
          </a:p>
          <a:p>
            <a:pPr indent="-133350" lvl="0" marL="127000" marR="0" rtl="0" algn="l">
              <a:lnSpc>
                <a:spcPct val="100000"/>
              </a:lnSpc>
              <a:spcBef>
                <a:spcPts val="400"/>
              </a:spcBef>
              <a:spcAft>
                <a:spcPts val="0"/>
              </a:spcAft>
              <a:buClr>
                <a:srgbClr val="0B7A6F"/>
              </a:buClr>
              <a:buSzPts val="2100"/>
              <a:buFont typeface="Play"/>
              <a:buChar char="•"/>
            </a:pPr>
            <a:r>
              <a:rPr b="0" i="0" lang="en-US" spc="0" sz="2100" u="none" cap="none" strike="noStrike">
                <a:solidFill>
                  <a:srgbClr val="0B7A6F"/>
                </a:solidFill>
                <a:latin typeface="Play"/>
                <a:ea typeface="Play"/>
                <a:cs typeface="Play"/>
                <a:sym typeface="Play"/>
              </a:rPr>
              <a:t>Refund: Unused MFs beyond MCT, within 120 days</a:t>
            </a:r>
            <a:endParaRPr b="0" i="0" spc="0" sz="2100" u="none" cap="none" strike="noStrike">
              <a:solidFill>
                <a:srgbClr val="0B7A6F"/>
              </a:solidFill>
              <a:latin typeface="Play"/>
              <a:ea typeface="Play"/>
              <a:cs typeface="Play"/>
              <a:sym typeface="Play"/>
            </a:endParaRPr>
          </a:p>
          <a:p>
            <a:pPr indent="-133350" lvl="0" marL="127000" marR="0" rtl="0" algn="l">
              <a:lnSpc>
                <a:spcPct val="100000"/>
              </a:lnSpc>
              <a:spcBef>
                <a:spcPts val="400"/>
              </a:spcBef>
              <a:spcAft>
                <a:spcPts val="0"/>
              </a:spcAft>
              <a:buClr>
                <a:srgbClr val="0B7A6F"/>
              </a:buClr>
              <a:buSzPts val="2100"/>
              <a:buFont typeface="Play"/>
              <a:buChar char="•"/>
            </a:pPr>
            <a:r>
              <a:rPr b="0" i="0" lang="en-US" spc="0" sz="2100" u="none" cap="none" strike="noStrike">
                <a:solidFill>
                  <a:srgbClr val="0B7A6F"/>
                </a:solidFill>
                <a:latin typeface="Play"/>
                <a:ea typeface="Play"/>
                <a:cs typeface="Play"/>
                <a:sym typeface="Play"/>
              </a:rPr>
              <a:t>See MF &amp; ETF Refund Requests</a:t>
            </a:r>
            <a:endParaRPr b="0" i="0" spc="0" sz="2100" u="none" cap="none" strike="noStrike">
              <a:solidFill>
                <a:srgbClr val="0B7A6F"/>
              </a:solidFill>
              <a:latin typeface="Play"/>
              <a:ea typeface="Play"/>
              <a:cs typeface="Play"/>
              <a:sym typeface="Play"/>
            </a:endParaRPr>
          </a:p>
        </p:txBody>
      </p:sp>
      <p:sp>
        <p:nvSpPr>
          <p:cNvPr id="737" name="Google Shape;737;p31"/>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2" name="Shape 742"/>
        <p:cNvGrpSpPr/>
        <p:nvPr/>
      </p:nvGrpSpPr>
      <p:grpSpPr>
        <a:xfrm>
          <a:off x="0" y="0"/>
          <a:ext cx="0" cy="0"/>
          <a:chOff x="0" y="0"/>
          <a:chExt cx="0" cy="0"/>
        </a:xfrm>
      </p:grpSpPr>
      <p:sp>
        <p:nvSpPr>
          <p:cNvPr id="743" name="Google Shape;743;p3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44" name="Google Shape;744;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C: FC active, cancelling over it</a:t>
            </a:r>
            <a:endParaRPr b="0" i="0" spc="0" sz="2400" u="none" cap="none" strike="noStrike">
              <a:solidFill>
                <a:schemeClr val="dk1"/>
              </a:solidFill>
              <a:latin typeface="Calibri"/>
              <a:ea typeface="Calibri"/>
              <a:cs typeface="Calibri"/>
              <a:sym typeface="Calibri"/>
            </a:endParaRPr>
          </a:p>
        </p:txBody>
      </p:sp>
      <p:sp>
        <p:nvSpPr>
          <p:cNvPr id="745" name="Google Shape;745;p3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if it's still overdue, then the MCT: save mode or exit mode.</a:t>
            </a:r>
            <a:endParaRPr b="0" i="0" spc="0" sz="1200" u="none" cap="none" strike="noStrike">
              <a:solidFill>
                <a:schemeClr val="dk1"/>
              </a:solidFill>
              <a:latin typeface="Calibri"/>
              <a:ea typeface="Calibri"/>
              <a:cs typeface="Calibri"/>
              <a:sym typeface="Calibri"/>
            </a:endParaRPr>
          </a:p>
        </p:txBody>
      </p:sp>
      <p:sp>
        <p:nvSpPr>
          <p:cNvPr id="746" name="Google Shape;746;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47" name="Google Shape;747;p32"/>
          <p:cNvSpPr/>
          <p:nvPr/>
        </p:nvSpPr>
        <p:spPr>
          <a:xfrm>
            <a:off x="411480" y="1298448"/>
            <a:ext cx="2514600" cy="50292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FC active. C wants to cancel over the bulk charge</a:t>
            </a:r>
            <a:endParaRPr b="0" i="0" spc="0" sz="1400" u="none" cap="none" strike="noStrike">
              <a:solidFill>
                <a:srgbClr val="000000"/>
              </a:solidFill>
              <a:latin typeface="Arial"/>
              <a:ea typeface="Arial"/>
              <a:cs typeface="Arial"/>
              <a:sym typeface="Arial"/>
            </a:endParaRPr>
          </a:p>
        </p:txBody>
      </p:sp>
      <p:cxnSp>
        <p:nvCxnSpPr>
          <p:cNvPr id="748" name="Google Shape;748;p32"/>
          <p:cNvCxnSpPr/>
          <p:nvPr/>
        </p:nvCxnSpPr>
        <p:spPr>
          <a:xfrm>
            <a:off x="292608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49" name="Google Shape;749;p32"/>
          <p:cNvSpPr/>
          <p:nvPr/>
        </p:nvSpPr>
        <p:spPr>
          <a:xfrm>
            <a:off x="3200400" y="1298448"/>
            <a:ext cx="25146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Still overdue after the bulk charge?</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make up to date </a:t>
            </a:r>
            <a:endParaRPr b="0" i="0" spc="0" sz="1400" u="none" cap="none" strike="noStrike">
              <a:solidFill>
                <a:srgbClr val="000000"/>
              </a:solidFill>
              <a:latin typeface="Arial"/>
              <a:ea typeface="Arial"/>
              <a:cs typeface="Arial"/>
              <a:sym typeface="Arial"/>
            </a:endParaRPr>
          </a:p>
        </p:txBody>
      </p:sp>
      <p:cxnSp>
        <p:nvCxnSpPr>
          <p:cNvPr id="750" name="Google Shape;750;p32"/>
          <p:cNvCxnSpPr/>
          <p:nvPr/>
        </p:nvCxnSpPr>
        <p:spPr>
          <a:xfrm>
            <a:off x="571500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51" name="Google Shape;751;p32"/>
          <p:cNvSpPr/>
          <p:nvPr/>
        </p:nvSpPr>
        <p:spPr>
          <a:xfrm>
            <a:off x="5989320" y="1298448"/>
            <a:ext cx="27432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Within or beyond the MCT?</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Decides save mode or exit mode</a:t>
            </a:r>
            <a:endParaRPr b="0" i="0" spc="0" sz="1400" u="none" cap="none" strike="noStrike">
              <a:solidFill>
                <a:srgbClr val="000000"/>
              </a:solidFill>
              <a:latin typeface="Arial"/>
              <a:ea typeface="Arial"/>
              <a:cs typeface="Arial"/>
              <a:sym typeface="Arial"/>
            </a:endParaRPr>
          </a:p>
        </p:txBody>
      </p:sp>
      <p:cxnSp>
        <p:nvCxnSpPr>
          <p:cNvPr id="752" name="Google Shape;752;p32"/>
          <p:cNvCxnSpPr/>
          <p:nvPr/>
        </p:nvCxnSpPr>
        <p:spPr>
          <a:xfrm>
            <a:off x="7360920" y="1801368"/>
            <a:ext cx="0" cy="137160"/>
          </a:xfrm>
          <a:prstGeom prst="straightConnector1">
            <a:avLst/>
          </a:prstGeom>
          <a:noFill/>
          <a:ln cap="flat" cmpd="sng" w="12700">
            <a:solidFill>
              <a:srgbClr val="6E6E73"/>
            </a:solidFill>
            <a:prstDash val="solid"/>
            <a:round/>
            <a:headEnd len="sm" w="sm" type="none"/>
            <a:tailEnd len="sm" w="sm" type="none"/>
          </a:ln>
        </p:spPr>
      </p:cxnSp>
      <p:cxnSp>
        <p:nvCxnSpPr>
          <p:cNvPr id="753" name="Google Shape;753;p32"/>
          <p:cNvCxnSpPr/>
          <p:nvPr/>
        </p:nvCxnSpPr>
        <p:spPr>
          <a:xfrm>
            <a:off x="2446020" y="1938528"/>
            <a:ext cx="4914900" cy="0"/>
          </a:xfrm>
          <a:prstGeom prst="straightConnector1">
            <a:avLst/>
          </a:prstGeom>
          <a:noFill/>
          <a:ln cap="flat" cmpd="sng" w="12700">
            <a:solidFill>
              <a:srgbClr val="6E6E73"/>
            </a:solidFill>
            <a:prstDash val="solid"/>
            <a:round/>
            <a:headEnd len="sm" w="sm" type="none"/>
            <a:tailEnd len="sm" w="sm" type="none"/>
          </a:ln>
        </p:spPr>
      </p:cxnSp>
      <p:cxnSp>
        <p:nvCxnSpPr>
          <p:cNvPr id="754" name="Google Shape;754;p32"/>
          <p:cNvCxnSpPr/>
          <p:nvPr/>
        </p:nvCxnSpPr>
        <p:spPr>
          <a:xfrm>
            <a:off x="2446020" y="1938528"/>
            <a:ext cx="0" cy="164592"/>
          </a:xfrm>
          <a:prstGeom prst="straightConnector1">
            <a:avLst/>
          </a:prstGeom>
          <a:noFill/>
          <a:ln cap="flat" cmpd="sng" w="12700">
            <a:solidFill>
              <a:srgbClr val="6E6E73"/>
            </a:solidFill>
            <a:prstDash val="solid"/>
            <a:round/>
            <a:headEnd len="sm" w="sm" type="none"/>
            <a:tailEnd len="med" w="med" type="triangle"/>
          </a:ln>
        </p:spPr>
      </p:cxnSp>
      <p:cxnSp>
        <p:nvCxnSpPr>
          <p:cNvPr id="755" name="Google Shape;755;p32"/>
          <p:cNvCxnSpPr/>
          <p:nvPr/>
        </p:nvCxnSpPr>
        <p:spPr>
          <a:xfrm>
            <a:off x="6697980" y="1938528"/>
            <a:ext cx="0" cy="164592"/>
          </a:xfrm>
          <a:prstGeom prst="straightConnector1">
            <a:avLst/>
          </a:prstGeom>
          <a:noFill/>
          <a:ln cap="flat" cmpd="sng" w="12700">
            <a:solidFill>
              <a:srgbClr val="6E6E73"/>
            </a:solidFill>
            <a:prstDash val="solid"/>
            <a:round/>
            <a:headEnd len="sm" w="sm" type="none"/>
            <a:tailEnd len="med" w="med" type="triangle"/>
          </a:ln>
        </p:spPr>
      </p:cxnSp>
      <p:sp>
        <p:nvSpPr>
          <p:cNvPr id="756" name="Google Shape;756;p32"/>
          <p:cNvSpPr/>
          <p:nvPr/>
        </p:nvSpPr>
        <p:spPr>
          <a:xfrm>
            <a:off x="411480" y="2112258"/>
            <a:ext cx="4069200" cy="411600"/>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Beyond MCT: no ETF. C is free to leave</a:t>
            </a:r>
            <a:endParaRPr b="0" i="0" spc="0" sz="1400" u="none" cap="none" strike="noStrike">
              <a:solidFill>
                <a:srgbClr val="000000"/>
              </a:solidFill>
              <a:latin typeface="Arial"/>
              <a:ea typeface="Arial"/>
              <a:cs typeface="Arial"/>
              <a:sym typeface="Arial"/>
            </a:endParaRPr>
          </a:p>
        </p:txBody>
      </p:sp>
      <p:sp>
        <p:nvSpPr>
          <p:cNvPr id="757" name="Google Shape;757;p32"/>
          <p:cNvSpPr/>
          <p:nvPr/>
        </p:nvSpPr>
        <p:spPr>
          <a:xfrm>
            <a:off x="4663440" y="2103120"/>
            <a:ext cx="4069080" cy="411480"/>
          </a:xfrm>
          <a:prstGeom prst="roundRect">
            <a:avLst>
              <a:gd fmla="val 8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Within MCT: ETF applies</a:t>
            </a:r>
            <a:endParaRPr b="0" i="0" spc="0" sz="1400" u="none" cap="none" strike="noStrike">
              <a:solidFill>
                <a:srgbClr val="000000"/>
              </a:solidFill>
              <a:latin typeface="Arial"/>
              <a:ea typeface="Arial"/>
              <a:cs typeface="Arial"/>
              <a:sym typeface="Arial"/>
            </a:endParaRPr>
          </a:p>
        </p:txBody>
      </p:sp>
      <p:cxnSp>
        <p:nvCxnSpPr>
          <p:cNvPr id="758" name="Google Shape;758;p32"/>
          <p:cNvCxnSpPr/>
          <p:nvPr/>
        </p:nvCxnSpPr>
        <p:spPr>
          <a:xfrm>
            <a:off x="6697980" y="2514600"/>
            <a:ext cx="0" cy="137160"/>
          </a:xfrm>
          <a:prstGeom prst="straightConnector1">
            <a:avLst/>
          </a:prstGeom>
          <a:noFill/>
          <a:ln cap="flat" cmpd="sng" w="12700">
            <a:solidFill>
              <a:srgbClr val="6E6E73"/>
            </a:solidFill>
            <a:prstDash val="solid"/>
            <a:round/>
            <a:headEnd len="sm" w="sm" type="none"/>
            <a:tailEnd len="med" w="med" type="triangle"/>
          </a:ln>
        </p:spPr>
      </p:cxnSp>
      <p:sp>
        <p:nvSpPr>
          <p:cNvPr id="759" name="Google Shape;759;p32"/>
          <p:cNvSpPr/>
          <p:nvPr/>
        </p:nvSpPr>
        <p:spPr>
          <a:xfrm>
            <a:off x="4663440" y="2651760"/>
            <a:ext cx="4069080" cy="36576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Retention attempt first</a:t>
            </a:r>
            <a:endParaRPr b="0" i="0" spc="0" sz="1400" u="none" cap="none" strike="noStrike">
              <a:solidFill>
                <a:srgbClr val="000000"/>
              </a:solidFill>
              <a:latin typeface="Arial"/>
              <a:ea typeface="Arial"/>
              <a:cs typeface="Arial"/>
              <a:sym typeface="Arial"/>
            </a:endParaRPr>
          </a:p>
        </p:txBody>
      </p:sp>
      <p:cxnSp>
        <p:nvCxnSpPr>
          <p:cNvPr id="760" name="Google Shape;760;p32"/>
          <p:cNvCxnSpPr/>
          <p:nvPr/>
        </p:nvCxnSpPr>
        <p:spPr>
          <a:xfrm>
            <a:off x="2446020" y="2523744"/>
            <a:ext cx="0" cy="173736"/>
          </a:xfrm>
          <a:prstGeom prst="straightConnector1">
            <a:avLst/>
          </a:prstGeom>
          <a:noFill/>
          <a:ln cap="flat" cmpd="sng" w="12700">
            <a:solidFill>
              <a:srgbClr val="6E6E73"/>
            </a:solidFill>
            <a:prstDash val="solid"/>
            <a:round/>
            <a:headEnd len="sm" w="sm" type="none"/>
            <a:tailEnd len="med" w="med" type="triangle"/>
          </a:ln>
        </p:spPr>
      </p:cxnSp>
      <p:sp>
        <p:nvSpPr>
          <p:cNvPr id="761" name="Google Shape;761;p32"/>
          <p:cNvSpPr/>
          <p:nvPr/>
        </p:nvSpPr>
        <p:spPr>
          <a:xfrm>
            <a:off x="411480" y="2697480"/>
            <a:ext cx="4069080" cy="1847088"/>
          </a:xfrm>
          <a:prstGeom prst="roundRect">
            <a:avLst>
              <a:gd fmla="val 6000" name="adj"/>
            </a:avLst>
          </a:prstGeom>
          <a:solidFill>
            <a:srgbClr val="E3F4F1"/>
          </a:solidFill>
          <a:ln cap="flat" cmpd="sng" w="12700">
            <a:solidFill>
              <a:srgbClr val="0B7A6F"/>
            </a:solidFill>
            <a:prstDash val="solid"/>
            <a:round/>
            <a:headEnd len="sm" w="sm" type="none"/>
            <a:tailEnd len="sm" w="sm" type="none"/>
          </a:ln>
        </p:spPr>
        <p:txBody>
          <a:bodyPr anchorCtr="0" anchor="ctr" bIns="73150" lIns="182875" spcFirstLastPara="1" rIns="182875" wrap="square" tIns="7315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0B7A6F"/>
                </a:solidFill>
                <a:latin typeface="Play"/>
                <a:ea typeface="Play"/>
                <a:cs typeface="Play"/>
                <a:sym typeface="Play"/>
              </a:rPr>
              <a:t>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Offer free months + $20 credit to get them back in for a cleaning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Value back for months already paid and can't use. Not a discount.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100"/>
              <a:buFont typeface="Arial"/>
              <a:buNone/>
            </a:pPr>
            <a:r>
              <a:rPr b="1" i="0" lang="en-US" spc="0" sz="1100" u="none" cap="none" strike="noStrike">
                <a:solidFill>
                  <a:srgbClr val="0B7A6F"/>
                </a:solidFill>
                <a:latin typeface="Play"/>
                <a:ea typeface="Play"/>
                <a:cs typeface="Play"/>
                <a:sym typeface="Play"/>
              </a:rPr>
              <a:t>Not retainable?  </a:t>
            </a:r>
            <a:r>
              <a:rPr b="1" i="0" lang="en-US" spc="0" sz="1050" u="none" cap="none" strike="noStrike">
                <a:solidFill>
                  <a:srgbClr val="1D1D1F"/>
                </a:solidFill>
                <a:latin typeface="Play"/>
                <a:ea typeface="Play"/>
                <a:cs typeface="Play"/>
                <a:sym typeface="Play"/>
              </a:rPr>
              <a:t>Cancel FC</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Refund request?  </a:t>
            </a:r>
            <a:r>
              <a:rPr b="0" i="0" lang="en-US" spc="0" sz="950" u="none" cap="none" strike="noStrike">
                <a:solidFill>
                  <a:srgbClr val="1D1D1F"/>
                </a:solidFill>
                <a:latin typeface="Arial"/>
                <a:ea typeface="Arial"/>
                <a:cs typeface="Arial"/>
                <a:sym typeface="Arial"/>
              </a:rPr>
              <a:t>Follow the standard refund policy.</a:t>
            </a:r>
            <a:endParaRPr b="0" i="0" spc="0" sz="1400" u="none" cap="none" strike="noStrike">
              <a:solidFill>
                <a:srgbClr val="000000"/>
              </a:solidFill>
              <a:latin typeface="Arial"/>
              <a:ea typeface="Arial"/>
              <a:cs typeface="Arial"/>
              <a:sym typeface="Arial"/>
            </a:endParaRPr>
          </a:p>
        </p:txBody>
      </p:sp>
      <p:cxnSp>
        <p:nvCxnSpPr>
          <p:cNvPr id="762" name="Google Shape;762;p32"/>
          <p:cNvCxnSpPr/>
          <p:nvPr/>
        </p:nvCxnSpPr>
        <p:spPr>
          <a:xfrm>
            <a:off x="6697980" y="3017520"/>
            <a:ext cx="0" cy="137160"/>
          </a:xfrm>
          <a:prstGeom prst="straightConnector1">
            <a:avLst/>
          </a:prstGeom>
          <a:noFill/>
          <a:ln cap="flat" cmpd="sng" w="12700">
            <a:solidFill>
              <a:srgbClr val="6E6E73"/>
            </a:solidFill>
            <a:prstDash val="solid"/>
            <a:round/>
            <a:headEnd len="sm" w="sm" type="none"/>
            <a:tailEnd len="med" w="med" type="triangle"/>
          </a:ln>
        </p:spPr>
      </p:cxnSp>
      <p:sp>
        <p:nvSpPr>
          <p:cNvPr id="763" name="Google Shape;763;p32"/>
          <p:cNvSpPr/>
          <p:nvPr/>
        </p:nvSpPr>
        <p:spPr>
          <a:xfrm>
            <a:off x="4663440" y="3154680"/>
            <a:ext cx="4069080" cy="914400"/>
          </a:xfrm>
          <a:prstGeom prst="roundRect">
            <a:avLst>
              <a:gd fmla="val 6000" name="adj"/>
            </a:avLst>
          </a:prstGeom>
          <a:solidFill>
            <a:srgbClr val="FFFFFF"/>
          </a:solidFill>
          <a:ln cap="flat" cmpd="sng" w="12700">
            <a:solidFill>
              <a:srgbClr val="DCE1E7"/>
            </a:solidFill>
            <a:prstDash val="solid"/>
            <a:round/>
            <a:headEnd len="sm" w="sm" type="none"/>
            <a:tailEnd len="sm" w="sm" type="none"/>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Offer free months = the unused bulk MF charges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Explain the FC / ETF terms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Tailor further if other pain points exist </a:t>
            </a:r>
            <a:r>
              <a:rPr b="0" i="0" lang="en-US" spc="0" sz="850" u="none" cap="none" strike="noStrike">
                <a:solidFill>
                  <a:srgbClr val="6E6E73"/>
                </a:solidFill>
                <a:latin typeface="Arial"/>
                <a:ea typeface="Arial"/>
                <a:cs typeface="Arial"/>
                <a:sym typeface="Arial"/>
              </a:rPr>
              <a:t>(cost complaint → reduce MF + free months; PCQ → add a voucher + resolution)</a:t>
            </a:r>
            <a:endParaRPr b="0" i="0" spc="0" sz="1400" u="none" cap="none" strike="noStrike">
              <a:solidFill>
                <a:srgbClr val="000000"/>
              </a:solidFill>
              <a:latin typeface="Arial"/>
              <a:ea typeface="Arial"/>
              <a:cs typeface="Arial"/>
              <a:sym typeface="Arial"/>
            </a:endParaRPr>
          </a:p>
        </p:txBody>
      </p:sp>
      <p:cxnSp>
        <p:nvCxnSpPr>
          <p:cNvPr id="764" name="Google Shape;764;p32"/>
          <p:cNvCxnSpPr/>
          <p:nvPr/>
        </p:nvCxnSpPr>
        <p:spPr>
          <a:xfrm>
            <a:off x="6697980" y="4069080"/>
            <a:ext cx="0" cy="109728"/>
          </a:xfrm>
          <a:prstGeom prst="straightConnector1">
            <a:avLst/>
          </a:prstGeom>
          <a:noFill/>
          <a:ln cap="flat" cmpd="sng" w="12700">
            <a:solidFill>
              <a:srgbClr val="6E6E73"/>
            </a:solidFill>
            <a:prstDash val="solid"/>
            <a:round/>
            <a:headEnd len="sm" w="sm" type="none"/>
            <a:tailEnd len="med" w="med" type="triangle"/>
          </a:ln>
        </p:spPr>
      </p:cxnSp>
      <p:sp>
        <p:nvSpPr>
          <p:cNvPr id="765" name="Google Shape;765;p32">
            <a:hlinkClick action="ppaction://hlinksldjump" r:id="rId3"/>
          </p:cNvPr>
          <p:cNvSpPr/>
          <p:nvPr/>
        </p:nvSpPr>
        <p:spPr>
          <a:xfrm>
            <a:off x="5463540" y="4178808"/>
            <a:ext cx="2468880" cy="365760"/>
          </a:xfrm>
          <a:prstGeom prst="roundRect">
            <a:avLst>
              <a:gd fmla="val 2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  C responds to the offer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72" name="Google Shape;772;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Within MCT: did C accept the offer?</a:t>
            </a:r>
            <a:endParaRPr b="0" i="0" spc="0" sz="2400" u="none" cap="none" strike="noStrike">
              <a:solidFill>
                <a:schemeClr val="dk1"/>
              </a:solidFill>
              <a:latin typeface="Calibri"/>
              <a:ea typeface="Calibri"/>
              <a:cs typeface="Calibri"/>
              <a:sym typeface="Calibri"/>
            </a:endParaRPr>
          </a:p>
        </p:txBody>
      </p:sp>
      <p:sp>
        <p:nvSpPr>
          <p:cNvPr id="773" name="Google Shape;773;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Accepted? Apply it. If not, exit at the lowest cost to C.</a:t>
            </a:r>
            <a:endParaRPr b="0" i="0" spc="0" sz="1200" u="none" cap="none" strike="noStrike">
              <a:solidFill>
                <a:schemeClr val="dk1"/>
              </a:solidFill>
              <a:latin typeface="Calibri"/>
              <a:ea typeface="Calibri"/>
              <a:cs typeface="Calibri"/>
              <a:sym typeface="Calibri"/>
            </a:endParaRPr>
          </a:p>
        </p:txBody>
      </p:sp>
      <p:sp>
        <p:nvSpPr>
          <p:cNvPr id="774" name="Google Shape;774;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75" name="Google Shape;775;p33"/>
          <p:cNvSpPr/>
          <p:nvPr/>
        </p:nvSpPr>
        <p:spPr>
          <a:xfrm>
            <a:off x="3108960" y="1280160"/>
            <a:ext cx="3291840" cy="36576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Did C accept the offer?</a:t>
            </a:r>
            <a:endParaRPr b="0" i="0" spc="0" sz="1400" u="none" cap="none" strike="noStrike">
              <a:solidFill>
                <a:srgbClr val="000000"/>
              </a:solidFill>
              <a:latin typeface="Arial"/>
              <a:ea typeface="Arial"/>
              <a:cs typeface="Arial"/>
              <a:sym typeface="Arial"/>
            </a:endParaRPr>
          </a:p>
        </p:txBody>
      </p:sp>
      <p:cxnSp>
        <p:nvCxnSpPr>
          <p:cNvPr id="776" name="Google Shape;776;p33"/>
          <p:cNvCxnSpPr/>
          <p:nvPr/>
        </p:nvCxnSpPr>
        <p:spPr>
          <a:xfrm>
            <a:off x="4754880" y="1645920"/>
            <a:ext cx="0" cy="91440"/>
          </a:xfrm>
          <a:prstGeom prst="straightConnector1">
            <a:avLst/>
          </a:prstGeom>
          <a:noFill/>
          <a:ln cap="flat" cmpd="sng" w="12700">
            <a:solidFill>
              <a:srgbClr val="6E6E73"/>
            </a:solidFill>
            <a:prstDash val="solid"/>
            <a:round/>
            <a:headEnd len="sm" w="sm" type="none"/>
            <a:tailEnd len="sm" w="sm" type="none"/>
          </a:ln>
        </p:spPr>
      </p:cxnSp>
      <p:cxnSp>
        <p:nvCxnSpPr>
          <p:cNvPr id="777" name="Google Shape;777;p33"/>
          <p:cNvCxnSpPr/>
          <p:nvPr/>
        </p:nvCxnSpPr>
        <p:spPr>
          <a:xfrm>
            <a:off x="1600200" y="1737360"/>
            <a:ext cx="3154680" cy="0"/>
          </a:xfrm>
          <a:prstGeom prst="straightConnector1">
            <a:avLst/>
          </a:prstGeom>
          <a:noFill/>
          <a:ln cap="flat" cmpd="sng" w="12700">
            <a:solidFill>
              <a:srgbClr val="6E6E73"/>
            </a:solidFill>
            <a:prstDash val="solid"/>
            <a:round/>
            <a:headEnd len="sm" w="sm" type="none"/>
            <a:tailEnd len="sm" w="sm" type="none"/>
          </a:ln>
        </p:spPr>
      </p:cxnSp>
      <p:cxnSp>
        <p:nvCxnSpPr>
          <p:cNvPr id="778" name="Google Shape;778;p33"/>
          <p:cNvCxnSpPr/>
          <p:nvPr/>
        </p:nvCxnSpPr>
        <p:spPr>
          <a:xfrm>
            <a:off x="1600200" y="1737360"/>
            <a:ext cx="0" cy="109728"/>
          </a:xfrm>
          <a:prstGeom prst="straightConnector1">
            <a:avLst/>
          </a:prstGeom>
          <a:noFill/>
          <a:ln cap="flat" cmpd="sng" w="12700">
            <a:solidFill>
              <a:srgbClr val="6E6E73"/>
            </a:solidFill>
            <a:prstDash val="solid"/>
            <a:round/>
            <a:headEnd len="sm" w="sm" type="none"/>
            <a:tailEnd len="med" w="med" type="triangle"/>
          </a:ln>
        </p:spPr>
      </p:cxnSp>
      <p:cxnSp>
        <p:nvCxnSpPr>
          <p:cNvPr id="779" name="Google Shape;779;p33"/>
          <p:cNvCxnSpPr/>
          <p:nvPr/>
        </p:nvCxnSpPr>
        <p:spPr>
          <a:xfrm>
            <a:off x="4754880" y="1737360"/>
            <a:ext cx="0" cy="109728"/>
          </a:xfrm>
          <a:prstGeom prst="straightConnector1">
            <a:avLst/>
          </a:prstGeom>
          <a:noFill/>
          <a:ln cap="flat" cmpd="sng" w="12700">
            <a:solidFill>
              <a:srgbClr val="6E6E73"/>
            </a:solidFill>
            <a:prstDash val="solid"/>
            <a:round/>
            <a:headEnd len="sm" w="sm" type="none"/>
            <a:tailEnd len="med" w="med" type="triangle"/>
          </a:ln>
        </p:spPr>
      </p:cxnSp>
      <p:sp>
        <p:nvSpPr>
          <p:cNvPr id="780" name="Google Shape;780;p33"/>
          <p:cNvSpPr txBox="1"/>
          <p:nvPr/>
        </p:nvSpPr>
        <p:spPr>
          <a:xfrm>
            <a:off x="1673352" y="1719072"/>
            <a:ext cx="54864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781" name="Google Shape;781;p33"/>
          <p:cNvSpPr txBox="1"/>
          <p:nvPr/>
        </p:nvSpPr>
        <p:spPr>
          <a:xfrm>
            <a:off x="4828032" y="1719072"/>
            <a:ext cx="54864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782" name="Google Shape;782;p33"/>
          <p:cNvSpPr/>
          <p:nvPr/>
        </p:nvSpPr>
        <p:spPr>
          <a:xfrm>
            <a:off x="411480" y="1847088"/>
            <a:ext cx="2377440" cy="594360"/>
          </a:xfrm>
          <a:prstGeom prst="roundRect">
            <a:avLst>
              <a:gd fmla="val 8000" name="adj"/>
            </a:avLst>
          </a:prstGeom>
          <a:solidFill>
            <a:srgbClr val="E4F2E1"/>
          </a:solidFill>
          <a:ln cap="flat" cmpd="sng" w="12700">
            <a:solidFill>
              <a:srgbClr val="2E7D32"/>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2E7D32"/>
                </a:solidFill>
                <a:latin typeface="Play"/>
                <a:ea typeface="Play"/>
                <a:cs typeface="Play"/>
                <a:sym typeface="Play"/>
              </a:rPr>
              <a:t>Acknowledge and apply the offers</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if not yet issued</a:t>
            </a:r>
            <a:endParaRPr b="0" i="0" spc="0" sz="1400" u="none" cap="none" strike="noStrike">
              <a:solidFill>
                <a:srgbClr val="000000"/>
              </a:solidFill>
              <a:latin typeface="Arial"/>
              <a:ea typeface="Arial"/>
              <a:cs typeface="Arial"/>
              <a:sym typeface="Arial"/>
            </a:endParaRPr>
          </a:p>
        </p:txBody>
      </p:sp>
      <p:sp>
        <p:nvSpPr>
          <p:cNvPr id="783" name="Google Shape;783;p33"/>
          <p:cNvSpPr/>
          <p:nvPr/>
        </p:nvSpPr>
        <p:spPr>
          <a:xfrm>
            <a:off x="3291840" y="1847088"/>
            <a:ext cx="2926080" cy="41148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FCF, no completed cleaning yet?</a:t>
            </a:r>
            <a:endParaRPr b="0" i="0" spc="0" sz="1400" u="none" cap="none" strike="noStrike">
              <a:solidFill>
                <a:srgbClr val="000000"/>
              </a:solidFill>
              <a:latin typeface="Arial"/>
              <a:ea typeface="Arial"/>
              <a:cs typeface="Arial"/>
              <a:sym typeface="Arial"/>
            </a:endParaRPr>
          </a:p>
        </p:txBody>
      </p:sp>
      <p:cxnSp>
        <p:nvCxnSpPr>
          <p:cNvPr id="784" name="Google Shape;784;p33"/>
          <p:cNvCxnSpPr/>
          <p:nvPr/>
        </p:nvCxnSpPr>
        <p:spPr>
          <a:xfrm>
            <a:off x="6217920" y="2052828"/>
            <a:ext cx="457200" cy="0"/>
          </a:xfrm>
          <a:prstGeom prst="straightConnector1">
            <a:avLst/>
          </a:prstGeom>
          <a:noFill/>
          <a:ln cap="flat" cmpd="sng" w="12700">
            <a:solidFill>
              <a:srgbClr val="6E6E73"/>
            </a:solidFill>
            <a:prstDash val="solid"/>
            <a:round/>
            <a:headEnd len="sm" w="sm" type="none"/>
            <a:tailEnd len="med" w="med" type="triangle"/>
          </a:ln>
        </p:spPr>
      </p:cxnSp>
      <p:sp>
        <p:nvSpPr>
          <p:cNvPr id="785" name="Google Shape;785;p33"/>
          <p:cNvSpPr txBox="1"/>
          <p:nvPr/>
        </p:nvSpPr>
        <p:spPr>
          <a:xfrm>
            <a:off x="6291072" y="1856231"/>
            <a:ext cx="365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786" name="Google Shape;786;p33"/>
          <p:cNvSpPr/>
          <p:nvPr/>
        </p:nvSpPr>
        <p:spPr>
          <a:xfrm>
            <a:off x="6675120" y="1847088"/>
            <a:ext cx="2057400" cy="41148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No ETF. Cancel FC.</a:t>
            </a:r>
            <a:endParaRPr b="0" i="0" spc="0" sz="1400" u="none" cap="none" strike="noStrike">
              <a:solidFill>
                <a:srgbClr val="000000"/>
              </a:solidFill>
              <a:latin typeface="Arial"/>
              <a:ea typeface="Arial"/>
              <a:cs typeface="Arial"/>
              <a:sym typeface="Arial"/>
            </a:endParaRPr>
          </a:p>
        </p:txBody>
      </p:sp>
      <p:cxnSp>
        <p:nvCxnSpPr>
          <p:cNvPr id="787" name="Google Shape;787;p33"/>
          <p:cNvCxnSpPr/>
          <p:nvPr/>
        </p:nvCxnSpPr>
        <p:spPr>
          <a:xfrm>
            <a:off x="4754880" y="2258568"/>
            <a:ext cx="0" cy="192024"/>
          </a:xfrm>
          <a:prstGeom prst="straightConnector1">
            <a:avLst/>
          </a:prstGeom>
          <a:noFill/>
          <a:ln cap="flat" cmpd="sng" w="12700">
            <a:solidFill>
              <a:srgbClr val="6E6E73"/>
            </a:solidFill>
            <a:prstDash val="solid"/>
            <a:round/>
            <a:headEnd len="sm" w="sm" type="none"/>
            <a:tailEnd len="med" w="med" type="triangle"/>
          </a:ln>
        </p:spPr>
      </p:cxnSp>
      <p:sp>
        <p:nvSpPr>
          <p:cNvPr id="788" name="Google Shape;788;p33"/>
          <p:cNvSpPr txBox="1"/>
          <p:nvPr/>
        </p:nvSpPr>
        <p:spPr>
          <a:xfrm>
            <a:off x="4828032" y="2258568"/>
            <a:ext cx="365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789" name="Google Shape;789;p33"/>
          <p:cNvSpPr/>
          <p:nvPr/>
        </p:nvSpPr>
        <p:spPr>
          <a:xfrm>
            <a:off x="3154680" y="2450592"/>
            <a:ext cx="3200400" cy="50292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Exit offers: Reduce the MCT or the ETF,</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whichever is most cost-effective for C</a:t>
            </a:r>
            <a:endParaRPr b="0" i="0" spc="0" sz="1400" u="none" cap="none" strike="noStrike">
              <a:solidFill>
                <a:srgbClr val="000000"/>
              </a:solidFill>
              <a:latin typeface="Arial"/>
              <a:ea typeface="Arial"/>
              <a:cs typeface="Arial"/>
              <a:sym typeface="Arial"/>
            </a:endParaRPr>
          </a:p>
        </p:txBody>
      </p:sp>
      <p:cxnSp>
        <p:nvCxnSpPr>
          <p:cNvPr id="790" name="Google Shape;790;p33"/>
          <p:cNvCxnSpPr/>
          <p:nvPr/>
        </p:nvCxnSpPr>
        <p:spPr>
          <a:xfrm>
            <a:off x="4754880" y="2953512"/>
            <a:ext cx="0" cy="82296"/>
          </a:xfrm>
          <a:prstGeom prst="straightConnector1">
            <a:avLst/>
          </a:prstGeom>
          <a:noFill/>
          <a:ln cap="flat" cmpd="sng" w="12700">
            <a:solidFill>
              <a:srgbClr val="6E6E73"/>
            </a:solidFill>
            <a:prstDash val="solid"/>
            <a:round/>
            <a:headEnd len="sm" w="sm" type="none"/>
            <a:tailEnd len="sm" w="sm" type="none"/>
          </a:ln>
        </p:spPr>
      </p:cxnSp>
      <p:cxnSp>
        <p:nvCxnSpPr>
          <p:cNvPr id="791" name="Google Shape;791;p33"/>
          <p:cNvCxnSpPr/>
          <p:nvPr/>
        </p:nvCxnSpPr>
        <p:spPr>
          <a:xfrm>
            <a:off x="3200400" y="3035808"/>
            <a:ext cx="3108960" cy="0"/>
          </a:xfrm>
          <a:prstGeom prst="straightConnector1">
            <a:avLst/>
          </a:prstGeom>
          <a:noFill/>
          <a:ln cap="flat" cmpd="sng" w="12700">
            <a:solidFill>
              <a:srgbClr val="6E6E73"/>
            </a:solidFill>
            <a:prstDash val="solid"/>
            <a:round/>
            <a:headEnd len="sm" w="sm" type="none"/>
            <a:tailEnd len="sm" w="sm" type="none"/>
          </a:ln>
        </p:spPr>
      </p:cxnSp>
      <p:cxnSp>
        <p:nvCxnSpPr>
          <p:cNvPr id="792" name="Google Shape;792;p33"/>
          <p:cNvCxnSpPr/>
          <p:nvPr/>
        </p:nvCxnSpPr>
        <p:spPr>
          <a:xfrm>
            <a:off x="3200400" y="3035808"/>
            <a:ext cx="0" cy="91440"/>
          </a:xfrm>
          <a:prstGeom prst="straightConnector1">
            <a:avLst/>
          </a:prstGeom>
          <a:noFill/>
          <a:ln cap="flat" cmpd="sng" w="12700">
            <a:solidFill>
              <a:srgbClr val="6E6E73"/>
            </a:solidFill>
            <a:prstDash val="solid"/>
            <a:round/>
            <a:headEnd len="sm" w="sm" type="none"/>
            <a:tailEnd len="med" w="med" type="triangle"/>
          </a:ln>
        </p:spPr>
      </p:cxnSp>
      <p:cxnSp>
        <p:nvCxnSpPr>
          <p:cNvPr id="793" name="Google Shape;793;p33"/>
          <p:cNvCxnSpPr/>
          <p:nvPr/>
        </p:nvCxnSpPr>
        <p:spPr>
          <a:xfrm>
            <a:off x="6309360" y="3035808"/>
            <a:ext cx="0" cy="91440"/>
          </a:xfrm>
          <a:prstGeom prst="straightConnector1">
            <a:avLst/>
          </a:prstGeom>
          <a:noFill/>
          <a:ln cap="flat" cmpd="sng" w="12700">
            <a:solidFill>
              <a:srgbClr val="6E6E73"/>
            </a:solidFill>
            <a:prstDash val="solid"/>
            <a:round/>
            <a:headEnd len="sm" w="sm" type="none"/>
            <a:tailEnd len="med" w="med" type="triangle"/>
          </a:ln>
        </p:spPr>
      </p:cxnSp>
      <p:sp>
        <p:nvSpPr>
          <p:cNvPr id="794" name="Google Shape;794;p33"/>
          <p:cNvSpPr/>
          <p:nvPr/>
        </p:nvSpPr>
        <p:spPr>
          <a:xfrm>
            <a:off x="1828800" y="3127248"/>
            <a:ext cx="2743200" cy="502920"/>
          </a:xfrm>
          <a:prstGeom prst="roundRect">
            <a:avLst>
              <a:gd fmla="val 8000" name="adj"/>
            </a:avLst>
          </a:prstGeom>
          <a:solidFill>
            <a:srgbClr val="FCEADF"/>
          </a:solidFill>
          <a:ln cap="flat" cmpd="sng" w="12700">
            <a:solidFill>
              <a:srgbClr val="C0612B"/>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C0612B"/>
                </a:solidFill>
                <a:latin typeface="Play"/>
                <a:ea typeface="Play"/>
                <a:cs typeface="Play"/>
                <a:sym typeface="Play"/>
              </a:rPr>
              <a:t>MCT reduction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Up to 2 months off the original MCT</a:t>
            </a:r>
            <a:endParaRPr b="0" i="0" spc="0" sz="1400" u="none" cap="none" strike="noStrike">
              <a:solidFill>
                <a:srgbClr val="000000"/>
              </a:solidFill>
              <a:latin typeface="Arial"/>
              <a:ea typeface="Arial"/>
              <a:cs typeface="Arial"/>
              <a:sym typeface="Arial"/>
            </a:endParaRPr>
          </a:p>
        </p:txBody>
      </p:sp>
      <p:sp>
        <p:nvSpPr>
          <p:cNvPr id="795" name="Google Shape;795;p33"/>
          <p:cNvSpPr/>
          <p:nvPr/>
        </p:nvSpPr>
        <p:spPr>
          <a:xfrm>
            <a:off x="4937760" y="3127248"/>
            <a:ext cx="27432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ETF reduction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Apply the unused bulk MFs to the ETF</a:t>
            </a:r>
            <a:endParaRPr b="0" i="0" spc="0" sz="1400" u="none" cap="none" strike="noStrike">
              <a:solidFill>
                <a:srgbClr val="000000"/>
              </a:solidFill>
              <a:latin typeface="Arial"/>
              <a:ea typeface="Arial"/>
              <a:cs typeface="Arial"/>
              <a:sym typeface="Arial"/>
            </a:endParaRPr>
          </a:p>
        </p:txBody>
      </p:sp>
      <p:cxnSp>
        <p:nvCxnSpPr>
          <p:cNvPr id="796" name="Google Shape;796;p33"/>
          <p:cNvCxnSpPr/>
          <p:nvPr/>
        </p:nvCxnSpPr>
        <p:spPr>
          <a:xfrm>
            <a:off x="6309360" y="3630168"/>
            <a:ext cx="0" cy="73152"/>
          </a:xfrm>
          <a:prstGeom prst="straightConnector1">
            <a:avLst/>
          </a:prstGeom>
          <a:noFill/>
          <a:ln cap="flat" cmpd="sng" w="12700">
            <a:solidFill>
              <a:srgbClr val="6E6E73"/>
            </a:solidFill>
            <a:prstDash val="solid"/>
            <a:round/>
            <a:headEnd len="sm" w="sm" type="none"/>
            <a:tailEnd len="sm" w="sm" type="none"/>
          </a:ln>
        </p:spPr>
      </p:cxnSp>
      <p:cxnSp>
        <p:nvCxnSpPr>
          <p:cNvPr id="797" name="Google Shape;797;p33"/>
          <p:cNvCxnSpPr/>
          <p:nvPr/>
        </p:nvCxnSpPr>
        <p:spPr>
          <a:xfrm>
            <a:off x="5303520" y="3703320"/>
            <a:ext cx="2331720" cy="0"/>
          </a:xfrm>
          <a:prstGeom prst="straightConnector1">
            <a:avLst/>
          </a:prstGeom>
          <a:noFill/>
          <a:ln cap="flat" cmpd="sng" w="12700">
            <a:solidFill>
              <a:srgbClr val="6E6E73"/>
            </a:solidFill>
            <a:prstDash val="solid"/>
            <a:round/>
            <a:headEnd len="sm" w="sm" type="none"/>
            <a:tailEnd len="sm" w="sm" type="none"/>
          </a:ln>
        </p:spPr>
      </p:cxnSp>
      <p:cxnSp>
        <p:nvCxnSpPr>
          <p:cNvPr id="798" name="Google Shape;798;p33"/>
          <p:cNvCxnSpPr/>
          <p:nvPr/>
        </p:nvCxnSpPr>
        <p:spPr>
          <a:xfrm>
            <a:off x="5303520" y="3703320"/>
            <a:ext cx="0" cy="82295"/>
          </a:xfrm>
          <a:prstGeom prst="straightConnector1">
            <a:avLst/>
          </a:prstGeom>
          <a:noFill/>
          <a:ln cap="flat" cmpd="sng" w="12700">
            <a:solidFill>
              <a:srgbClr val="6E6E73"/>
            </a:solidFill>
            <a:prstDash val="solid"/>
            <a:round/>
            <a:headEnd len="sm" w="sm" type="none"/>
            <a:tailEnd len="med" w="med" type="triangle"/>
          </a:ln>
        </p:spPr>
      </p:cxnSp>
      <p:cxnSp>
        <p:nvCxnSpPr>
          <p:cNvPr id="799" name="Google Shape;799;p33"/>
          <p:cNvCxnSpPr/>
          <p:nvPr/>
        </p:nvCxnSpPr>
        <p:spPr>
          <a:xfrm>
            <a:off x="7635240" y="3703320"/>
            <a:ext cx="0" cy="82295"/>
          </a:xfrm>
          <a:prstGeom prst="straightConnector1">
            <a:avLst/>
          </a:prstGeom>
          <a:noFill/>
          <a:ln cap="flat" cmpd="sng" w="12700">
            <a:solidFill>
              <a:srgbClr val="6E6E73"/>
            </a:solidFill>
            <a:prstDash val="solid"/>
            <a:round/>
            <a:headEnd len="sm" w="sm" type="none"/>
            <a:tailEnd len="med" w="med" type="triangle"/>
          </a:ln>
        </p:spPr>
      </p:cxnSp>
      <p:sp>
        <p:nvSpPr>
          <p:cNvPr id="800" name="Google Shape;800;p33"/>
          <p:cNvSpPr/>
          <p:nvPr/>
        </p:nvSpPr>
        <p:spPr>
          <a:xfrm>
            <a:off x="4251960" y="3785615"/>
            <a:ext cx="2148840" cy="685800"/>
          </a:xfrm>
          <a:prstGeom prst="roundRect">
            <a:avLst>
              <a:gd fmla="val 8000" name="adj"/>
            </a:avLst>
          </a:prstGeom>
          <a:solidFill>
            <a:srgbClr val="E4F2E1"/>
          </a:solidFill>
          <a:ln cap="flat" cmpd="sng" w="12700">
            <a:solidFill>
              <a:srgbClr val="2E7D32"/>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2E7D32"/>
                </a:solidFill>
                <a:latin typeface="Play"/>
                <a:ea typeface="Play"/>
                <a:cs typeface="Play"/>
                <a:sym typeface="Play"/>
              </a:rPr>
              <a:t>Paid MFs &lt; ETF</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Reduce the ETF by the paid, unused MF amount</a:t>
            </a:r>
            <a:endParaRPr b="0" i="0" spc="0" sz="1400" u="none" cap="none" strike="noStrike">
              <a:solidFill>
                <a:srgbClr val="000000"/>
              </a:solidFill>
              <a:latin typeface="Arial"/>
              <a:ea typeface="Arial"/>
              <a:cs typeface="Arial"/>
              <a:sym typeface="Arial"/>
            </a:endParaRPr>
          </a:p>
        </p:txBody>
      </p:sp>
      <p:sp>
        <p:nvSpPr>
          <p:cNvPr id="801" name="Google Shape;801;p33"/>
          <p:cNvSpPr/>
          <p:nvPr/>
        </p:nvSpPr>
        <p:spPr>
          <a:xfrm>
            <a:off x="6537960" y="3785615"/>
            <a:ext cx="2194560" cy="68580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Paid MFs ≥ ETF</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Waive the ETF, cancel FC</a:t>
            </a:r>
            <a:endParaRPr b="0" i="0" spc="0" sz="1400" u="none" cap="none" strike="noStrike">
              <a:solidFill>
                <a:srgbClr val="000000"/>
              </a:solidFill>
              <a:latin typeface="Arial"/>
              <a:ea typeface="Arial"/>
              <a:cs typeface="Arial"/>
              <a:sym typeface="Arial"/>
            </a:endParaRPr>
          </a:p>
        </p:txBody>
      </p:sp>
      <p:sp>
        <p:nvSpPr>
          <p:cNvPr id="802" name="Google Shape;802;p33"/>
          <p:cNvSpPr/>
          <p:nvPr/>
        </p:nvSpPr>
        <p:spPr>
          <a:xfrm>
            <a:off x="411480" y="3785615"/>
            <a:ext cx="3657600" cy="685800"/>
          </a:xfrm>
          <a:prstGeom prst="roundRect">
            <a:avLst>
              <a:gd fmla="val 8000" name="adj"/>
            </a:avLst>
          </a:prstGeom>
          <a:solidFill>
            <a:srgbClr val="FFF3D6"/>
          </a:solidFill>
          <a:ln>
            <a:noFill/>
          </a:ln>
        </p:spPr>
        <p:txBody>
          <a:bodyPr anchorCtr="0" anchor="ctr" bIns="0" lIns="137150" spcFirstLastPara="1" rIns="1371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Near the end of the term? Compare both.</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1 month left, $150 ETF, $100 unused MFs: ETF credit leaves $50; reducing the last month = $0</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KNOWLEDGE CHECK</a:t>
            </a:r>
            <a:endParaRPr b="0" i="0" spc="0" sz="800" u="none" cap="none" strike="noStrike">
              <a:solidFill>
                <a:schemeClr val="dk1"/>
              </a:solidFill>
              <a:latin typeface="Calibri"/>
              <a:ea typeface="Calibri"/>
              <a:cs typeface="Calibri"/>
              <a:sym typeface="Calibri"/>
            </a:endParaRPr>
          </a:p>
        </p:txBody>
      </p:sp>
      <p:sp>
        <p:nvSpPr>
          <p:cNvPr id="809" name="Google Shape;809;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810" name="Google Shape;810;p3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1" name="Google Shape;811;p3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2" name="Google Shape;812;p3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13" name="Google Shape;813;p3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sees four MF charges on one day. Duplicates?</a:t>
            </a:r>
            <a:endParaRPr b="0" i="0" spc="0" sz="1000" u="none" cap="none" strike="noStrike">
              <a:solidFill>
                <a:schemeClr val="dk1"/>
              </a:solidFill>
              <a:latin typeface="Calibri"/>
              <a:ea typeface="Calibri"/>
              <a:cs typeface="Calibri"/>
              <a:sym typeface="Calibri"/>
            </a:endParaRPr>
          </a:p>
        </p:txBody>
      </p:sp>
      <p:sp>
        <p:nvSpPr>
          <p:cNvPr id="814" name="Google Shape;814;p3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5" name="Google Shape;815;p3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Each is a different missed month, billed at once.</a:t>
            </a:r>
            <a:endParaRPr b="0" i="0" spc="0" sz="900" u="none" cap="none" strike="noStrike">
              <a:solidFill>
                <a:schemeClr val="dk1"/>
              </a:solidFill>
              <a:latin typeface="Calibri"/>
              <a:ea typeface="Calibri"/>
              <a:cs typeface="Calibri"/>
              <a:sym typeface="Calibri"/>
            </a:endParaRPr>
          </a:p>
        </p:txBody>
      </p:sp>
      <p:sp>
        <p:nvSpPr>
          <p:cNvPr id="816" name="Google Shape;816;p3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7" name="Google Shape;817;p3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8" name="Google Shape;818;p3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19" name="Google Shape;819;p3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Unrelated ticket: FC overdue by 1 MF, next charge in 5 days. Action?</a:t>
            </a:r>
            <a:endParaRPr b="0" i="0" spc="0" sz="1000" u="none" cap="none" strike="noStrike">
              <a:solidFill>
                <a:schemeClr val="dk1"/>
              </a:solidFill>
              <a:latin typeface="Calibri"/>
              <a:ea typeface="Calibri"/>
              <a:cs typeface="Calibri"/>
              <a:sym typeface="Calibri"/>
            </a:endParaRPr>
          </a:p>
        </p:txBody>
      </p:sp>
      <p:sp>
        <p:nvSpPr>
          <p:cNvPr id="820" name="Google Shape;820;p3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Issue 1 free month.</a:t>
            </a:r>
            <a:endParaRPr b="0" i="0" spc="0" sz="900" u="none" cap="none" strike="noStrike">
              <a:solidFill>
                <a:schemeClr val="dk1"/>
              </a:solidFill>
              <a:latin typeface="Calibri"/>
              <a:ea typeface="Calibri"/>
              <a:cs typeface="Calibri"/>
              <a:sym typeface="Calibri"/>
            </a:endParaRPr>
          </a:p>
        </p:txBody>
      </p:sp>
      <p:sp>
        <p:nvSpPr>
          <p:cNvPr id="822" name="Google Shape;822;p3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3" name="Google Shape;823;p3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4" name="Google Shape;824;p3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25" name="Google Shape;825;p3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Overdue July 10 and Aug 10, today is Aug 24. Free months? New next MF?</a:t>
            </a:r>
            <a:endParaRPr b="0" i="0" spc="0" sz="1000" u="none" cap="none" strike="noStrike">
              <a:solidFill>
                <a:schemeClr val="dk1"/>
              </a:solidFill>
              <a:latin typeface="Calibri"/>
              <a:ea typeface="Calibri"/>
              <a:cs typeface="Calibri"/>
              <a:sym typeface="Calibri"/>
            </a:endParaRPr>
          </a:p>
        </p:txBody>
      </p:sp>
      <p:sp>
        <p:nvSpPr>
          <p:cNvPr id="826" name="Google Shape;826;p3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 free months. Paid-through Aug 10, next MF Sept 10.</a:t>
            </a:r>
            <a:endParaRPr b="0" i="0" spc="0" sz="900" u="none" cap="none" strike="noStrike">
              <a:solidFill>
                <a:schemeClr val="dk1"/>
              </a:solidFill>
              <a:latin typeface="Calibri"/>
              <a:ea typeface="Calibri"/>
              <a:cs typeface="Calibri"/>
              <a:sym typeface="Calibri"/>
            </a:endParaRPr>
          </a:p>
        </p:txBody>
      </p:sp>
      <p:sp>
        <p:nvSpPr>
          <p:cNvPr id="828" name="Google Shape;828;p3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9" name="Google Shape;829;p3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0" name="Google Shape;830;p3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31" name="Google Shape;831;p3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1 month left on MCT, $150 ETF, $100 unused bulk MFs. Best exit?</a:t>
            </a:r>
            <a:endParaRPr b="0" i="0" spc="0" sz="1000" u="none" cap="none" strike="noStrike">
              <a:solidFill>
                <a:schemeClr val="dk1"/>
              </a:solidFill>
              <a:latin typeface="Calibri"/>
              <a:ea typeface="Calibri"/>
              <a:cs typeface="Calibri"/>
              <a:sym typeface="Calibri"/>
            </a:endParaRPr>
          </a:p>
        </p:txBody>
      </p:sp>
      <p:sp>
        <p:nvSpPr>
          <p:cNvPr id="832" name="Google Shape;832;p3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MCT: ETF waived, $0 owed (vs $50).</a:t>
            </a:r>
            <a:endParaRPr b="0" i="0" spc="0" sz="900" u="none" cap="none" strike="noStrike">
              <a:solidFill>
                <a:schemeClr val="dk1"/>
              </a:solidFill>
              <a:latin typeface="Calibri"/>
              <a:ea typeface="Calibri"/>
              <a:cs typeface="Calibri"/>
              <a:sym typeface="Calibri"/>
            </a:endParaRPr>
          </a:p>
        </p:txBody>
      </p:sp>
      <p:sp>
        <p:nvSpPr>
          <p:cNvPr id="834" name="Google Shape;834;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5"/>
                                        </p:tgtEl>
                                        <p:attrNameLst>
                                          <p:attrName>style.visibility</p:attrName>
                                        </p:attrNameLst>
                                      </p:cBhvr>
                                      <p:to>
                                        <p:strVal val="visible"/>
                                      </p:to>
                                    </p:set>
                                    <p:animEffect filter="fade" transition="in">
                                      <p:cBhvr>
                                        <p:cTn dur="600"/>
                                        <p:tgtEl>
                                          <p:spTgt spid="81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1"/>
                                        </p:tgtEl>
                                        <p:attrNameLst>
                                          <p:attrName>style.visibility</p:attrName>
                                        </p:attrNameLst>
                                      </p:cBhvr>
                                      <p:to>
                                        <p:strVal val="visible"/>
                                      </p:to>
                                    </p:set>
                                    <p:animEffect filter="fade" transition="in">
                                      <p:cBhvr>
                                        <p:cTn dur="600"/>
                                        <p:tgtEl>
                                          <p:spTgt spid="82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7"/>
                                        </p:tgtEl>
                                        <p:attrNameLst>
                                          <p:attrName>style.visibility</p:attrName>
                                        </p:attrNameLst>
                                      </p:cBhvr>
                                      <p:to>
                                        <p:strVal val="visible"/>
                                      </p:to>
                                    </p:set>
                                    <p:animEffect filter="fade" transition="in">
                                      <p:cBhvr>
                                        <p:cTn dur="600"/>
                                        <p:tgtEl>
                                          <p:spTgt spid="8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33"/>
                                        </p:tgtEl>
                                        <p:attrNameLst>
                                          <p:attrName>style.visibility</p:attrName>
                                        </p:attrNameLst>
                                      </p:cBhvr>
                                      <p:to>
                                        <p:strVal val="visible"/>
                                      </p:to>
                                    </p:set>
                                    <p:animEffect filter="fade" transition="in">
                                      <p:cBhvr>
                                        <p:cTn dur="600"/>
                                        <p:tgtEl>
                                          <p:spTgt spid="8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9" name="Shape 839"/>
        <p:cNvGrpSpPr/>
        <p:nvPr/>
      </p:nvGrpSpPr>
      <p:grpSpPr>
        <a:xfrm>
          <a:off x="0" y="0"/>
          <a:ext cx="0" cy="0"/>
          <a:chOff x="0" y="0"/>
          <a:chExt cx="0" cy="0"/>
        </a:xfrm>
      </p:grpSpPr>
      <p:sp>
        <p:nvSpPr>
          <p:cNvPr id="840" name="Google Shape;840;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PRACTICE</a:t>
            </a:r>
            <a:endParaRPr b="0" i="0" spc="0" sz="800" u="none" cap="none" strike="noStrike">
              <a:solidFill>
                <a:schemeClr val="dk1"/>
              </a:solidFill>
              <a:latin typeface="Calibri"/>
              <a:ea typeface="Calibri"/>
              <a:cs typeface="Calibri"/>
              <a:sym typeface="Calibri"/>
            </a:endParaRPr>
          </a:p>
        </p:txBody>
      </p:sp>
      <p:sp>
        <p:nvSpPr>
          <p:cNvPr id="841" name="Google Shape;841;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842" name="Google Shape;842;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843" name="Google Shape;843;p3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4" name="Google Shape;844;p3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45" name="Google Shape;845;p3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46" name="Google Shape;846;p3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847" name="Google Shape;847;p3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848" name="Google Shape;848;p3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849" name="Google Shape;849;p3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0" name="Google Shape;850;p3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1" name="Google Shape;851;p3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branch is it?</a:t>
            </a:r>
            <a:endParaRPr b="0" i="0" spc="0" sz="1250" u="none" cap="none" strike="noStrike">
              <a:solidFill>
                <a:schemeClr val="dk1"/>
              </a:solidFill>
              <a:latin typeface="Calibri"/>
              <a:ea typeface="Calibri"/>
              <a:cs typeface="Calibri"/>
              <a:sym typeface="Calibri"/>
            </a:endParaRPr>
          </a:p>
        </p:txBody>
      </p:sp>
      <p:sp>
        <p:nvSpPr>
          <p:cNvPr id="853" name="Google Shape;853;p3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 B or C? Still overdue? Within MCT?</a:t>
            </a:r>
            <a:endParaRPr b="0" i="0" spc="0" sz="1000" u="none" cap="none" strike="noStrike">
              <a:solidFill>
                <a:schemeClr val="dk1"/>
              </a:solidFill>
              <a:latin typeface="Calibri"/>
              <a:ea typeface="Calibri"/>
              <a:cs typeface="Calibri"/>
              <a:sym typeface="Calibri"/>
            </a:endParaRPr>
          </a:p>
        </p:txBody>
      </p:sp>
      <p:sp>
        <p:nvSpPr>
          <p:cNvPr id="854" name="Google Shape;854;p3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57" name="Google Shape;857;p3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858" name="Google Shape;858;p3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Free months, refund, $20 credit, ETF vs MCT.</a:t>
            </a:r>
            <a:endParaRPr b="0" i="0" spc="0" sz="1000" u="none" cap="none" strike="noStrike">
              <a:solidFill>
                <a:schemeClr val="dk1"/>
              </a:solidFill>
              <a:latin typeface="Calibri"/>
              <a:ea typeface="Calibri"/>
              <a:cs typeface="Calibri"/>
              <a:sym typeface="Calibri"/>
            </a:endParaRPr>
          </a:p>
        </p:txBody>
      </p:sp>
      <p:sp>
        <p:nvSpPr>
          <p:cNvPr id="859" name="Google Shape;859;p3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0" name="Google Shape;860;p3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1" name="Google Shape;861;p3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62" name="Google Shape;862;p3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863" name="Google Shape;863;p3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Explain the charges and your offer.</a:t>
            </a:r>
            <a:endParaRPr b="0" i="0" spc="0" sz="1000" u="none" cap="none" strike="noStrike">
              <a:solidFill>
                <a:schemeClr val="dk1"/>
              </a:solidFill>
              <a:latin typeface="Calibri"/>
              <a:ea typeface="Calibri"/>
              <a:cs typeface="Calibri"/>
              <a:sym typeface="Calibri"/>
            </a:endParaRPr>
          </a:p>
        </p:txBody>
      </p:sp>
      <p:sp>
        <p:nvSpPr>
          <p:cNvPr id="864" name="Google Shape;864;p3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866" name="Google Shape;866;p3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867" name="Google Shape;867;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3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rgbClr val="000000"/>
              </a:solidFill>
              <a:latin typeface="Arial"/>
              <a:ea typeface="Arial"/>
              <a:cs typeface="Arial"/>
              <a:sym typeface="Arial"/>
            </a:endParaRPr>
          </a:p>
        </p:txBody>
      </p:sp>
      <p:sp>
        <p:nvSpPr>
          <p:cNvPr id="874" name="Google Shape;874;p3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pc="0" sz="2800" u="none" cap="none" strike="noStrike">
                <a:solidFill>
                  <a:srgbClr val="1D1D1F"/>
                </a:solidFill>
                <a:latin typeface="Play"/>
                <a:ea typeface="Play"/>
                <a:cs typeface="Play"/>
                <a:sym typeface="Play"/>
              </a:rPr>
              <a:t>ETF Charge Declined</a:t>
            </a:r>
            <a:endParaRPr b="0" i="0" spc="0" sz="2800" u="none" cap="none" strike="noStrike">
              <a:solidFill>
                <a:srgbClr val="000000"/>
              </a:solidFill>
              <a:latin typeface="Arial"/>
              <a:ea typeface="Arial"/>
              <a:cs typeface="Arial"/>
              <a:sym typeface="Arial"/>
            </a:endParaRPr>
          </a:p>
        </p:txBody>
      </p:sp>
      <p:sp>
        <p:nvSpPr>
          <p:cNvPr id="875" name="Google Shape;875;p3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0" i="0" lang="en-US" spc="0" sz="1150" u="none" cap="none" strike="noStrike">
                <a:solidFill>
                  <a:srgbClr val="6E6E73"/>
                </a:solidFill>
                <a:latin typeface="Arial"/>
                <a:ea typeface="Arial"/>
                <a:cs typeface="Arial"/>
                <a:sym typeface="Arial"/>
              </a:rPr>
              <a:t>C agreed to cancel and pay the ETF, but the charge was declined.</a:t>
            </a:r>
            <a:endParaRPr b="0" i="0" spc="0" sz="1150" u="none" cap="none" strike="noStrike">
              <a:solidFill>
                <a:srgbClr val="000000"/>
              </a:solidFill>
              <a:latin typeface="Arial"/>
              <a:ea typeface="Arial"/>
              <a:cs typeface="Arial"/>
              <a:sym typeface="Arial"/>
            </a:endParaRPr>
          </a:p>
        </p:txBody>
      </p:sp>
      <p:sp>
        <p:nvSpPr>
          <p:cNvPr id="876" name="Google Shape;876;p3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rgbClr val="000000"/>
              </a:solidFill>
              <a:latin typeface="Arial"/>
              <a:ea typeface="Arial"/>
              <a:cs typeface="Arial"/>
              <a:sym typeface="Arial"/>
            </a:endParaRPr>
          </a:p>
        </p:txBody>
      </p:sp>
      <p:sp>
        <p:nvSpPr>
          <p:cNvPr id="877" name="Google Shape;877;p3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8" name="Google Shape;878;p3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879" name="Google Shape;879;p3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Why the membership is still active</a:t>
            </a:r>
            <a:endParaRPr b="0" i="0" spc="0" sz="1050" u="none" cap="none" strike="noStrike">
              <a:solidFill>
                <a:srgbClr val="000000"/>
              </a:solidFill>
              <a:latin typeface="Arial"/>
              <a:ea typeface="Arial"/>
              <a:cs typeface="Arial"/>
              <a:sym typeface="Arial"/>
            </a:endParaRPr>
          </a:p>
        </p:txBody>
      </p:sp>
      <p:sp>
        <p:nvSpPr>
          <p:cNvPr id="880" name="Google Shape;880;p3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1" name="Google Shape;881;p3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882" name="Google Shape;882;p3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Protecting C from a surprise MF</a:t>
            </a:r>
            <a:endParaRPr b="0" i="0" spc="0" sz="1050" u="none" cap="none" strike="noStrike">
              <a:solidFill>
                <a:srgbClr val="000000"/>
              </a:solidFill>
              <a:latin typeface="Arial"/>
              <a:ea typeface="Arial"/>
              <a:cs typeface="Arial"/>
              <a:sym typeface="Arial"/>
            </a:endParaRPr>
          </a:p>
        </p:txBody>
      </p:sp>
      <p:sp>
        <p:nvSpPr>
          <p:cNvPr id="883" name="Google Shape;883;p3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4" name="Google Shape;884;p3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85" name="Google Shape;885;p3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Retrying with a Timed Reminder</a:t>
            </a:r>
            <a:endParaRPr b="0" i="0" spc="0" sz="1050" u="none" cap="none" strike="noStrike">
              <a:solidFill>
                <a:srgbClr val="000000"/>
              </a:solidFill>
              <a:latin typeface="Arial"/>
              <a:ea typeface="Arial"/>
              <a:cs typeface="Arial"/>
              <a:sym typeface="Arial"/>
            </a:endParaRPr>
          </a:p>
        </p:txBody>
      </p:sp>
      <p:sp>
        <p:nvSpPr>
          <p:cNvPr id="886" name="Google Shape;886;p3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7" name="Google Shape;887;p3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88" name="Google Shape;888;p3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What to do if it fails again</a:t>
            </a:r>
            <a:endParaRPr b="0" i="0" spc="0" sz="1050" u="none" cap="none" strike="noStrike">
              <a:solidFill>
                <a:srgbClr val="000000"/>
              </a:solidFill>
              <a:latin typeface="Arial"/>
              <a:ea typeface="Arial"/>
              <a:cs typeface="Arial"/>
              <a:sym typeface="Arial"/>
            </a:endParaRPr>
          </a:p>
        </p:txBody>
      </p:sp>
      <p:sp>
        <p:nvSpPr>
          <p:cNvPr id="889" name="Google Shape;889;p3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_pay.png" id="891" name="Google Shape;891;p36"/>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892" name="Google Shape;892;p3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3" name="Google Shape;893;p3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4" name="Google Shape;894;p3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5" name="Google Shape;895;p3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6" name="Google Shape;896;p3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7" name="Google Shape;897;p3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8" name="Google Shape;898;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899" name="Google Shape;899;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4" name="Shape 904"/>
        <p:cNvGrpSpPr/>
        <p:nvPr/>
      </p:nvGrpSpPr>
      <p:grpSpPr>
        <a:xfrm>
          <a:off x="0" y="0"/>
          <a:ext cx="0" cy="0"/>
          <a:chOff x="0" y="0"/>
          <a:chExt cx="0" cy="0"/>
        </a:xfrm>
      </p:grpSpPr>
      <p:sp>
        <p:nvSpPr>
          <p:cNvPr id="905" name="Google Shape;905;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a:t>
            </a:r>
            <a:endParaRPr b="0" i="0" spc="0" sz="800" u="none" cap="none" strike="noStrike">
              <a:solidFill>
                <a:srgbClr val="000000"/>
              </a:solidFill>
              <a:latin typeface="Arial"/>
              <a:ea typeface="Arial"/>
              <a:cs typeface="Arial"/>
              <a:sym typeface="Arial"/>
            </a:endParaRPr>
          </a:p>
        </p:txBody>
      </p:sp>
      <p:sp>
        <p:nvSpPr>
          <p:cNvPr id="906" name="Google Shape;906;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rgbClr val="000000"/>
              </a:solidFill>
              <a:latin typeface="Arial"/>
              <a:ea typeface="Arial"/>
              <a:cs typeface="Arial"/>
              <a:sym typeface="Arial"/>
            </a:endParaRPr>
          </a:p>
        </p:txBody>
      </p:sp>
      <p:sp>
        <p:nvSpPr>
          <p:cNvPr id="907" name="Google Shape;907;p3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The cancellation isn't complete until the ETF goes through.</a:t>
            </a:r>
            <a:endParaRPr b="0" i="0" spc="0" sz="1200" u="none" cap="none" strike="noStrike">
              <a:solidFill>
                <a:srgbClr val="000000"/>
              </a:solidFill>
              <a:latin typeface="Arial"/>
              <a:ea typeface="Arial"/>
              <a:cs typeface="Arial"/>
              <a:sym typeface="Arial"/>
            </a:endParaRPr>
          </a:p>
        </p:txBody>
      </p:sp>
      <p:sp>
        <p:nvSpPr>
          <p:cNvPr id="908" name="Google Shape;908;p37"/>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9" name="Google Shape;909;p37"/>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0" name="Google Shape;910;p37"/>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11" name="Google Shape;911;p37"/>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Still active</a:t>
            </a:r>
            <a:endParaRPr b="0" i="0" spc="0" sz="1200" u="none" cap="none" strike="noStrike">
              <a:solidFill>
                <a:srgbClr val="000000"/>
              </a:solidFill>
              <a:latin typeface="Arial"/>
              <a:ea typeface="Arial"/>
              <a:cs typeface="Arial"/>
              <a:sym typeface="Arial"/>
            </a:endParaRPr>
          </a:p>
        </p:txBody>
      </p:sp>
      <p:sp>
        <p:nvSpPr>
          <p:cNvPr id="912" name="Google Shape;912;p37"/>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The ETF was declined, so FC stays active until it goes through.</a:t>
            </a:r>
            <a:endParaRPr b="0" i="0" spc="0" sz="950" u="none" cap="none" strike="noStrike">
              <a:solidFill>
                <a:srgbClr val="000000"/>
              </a:solidFill>
              <a:latin typeface="Arial"/>
              <a:ea typeface="Arial"/>
              <a:cs typeface="Arial"/>
              <a:sym typeface="Arial"/>
            </a:endParaRPr>
          </a:p>
        </p:txBody>
      </p:sp>
      <p:sp>
        <p:nvSpPr>
          <p:cNvPr id="913" name="Google Shape;913;p37"/>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4" name="Google Shape;914;p37"/>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5" name="Google Shape;915;p37"/>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916" name="Google Shape;916;p37"/>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Avoid the surprise</a:t>
            </a:r>
            <a:endParaRPr b="0" i="0" spc="0" sz="1200" u="none" cap="none" strike="noStrike">
              <a:solidFill>
                <a:srgbClr val="000000"/>
              </a:solidFill>
              <a:latin typeface="Arial"/>
              <a:ea typeface="Arial"/>
              <a:cs typeface="Arial"/>
              <a:sym typeface="Arial"/>
            </a:endParaRPr>
          </a:p>
        </p:txBody>
      </p:sp>
      <p:sp>
        <p:nvSpPr>
          <p:cNvPr id="917" name="Google Shape;917;p37"/>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C agreed to leave, not to keep paying. Don't let an MF blindside them.</a:t>
            </a:r>
            <a:endParaRPr b="0" i="0" spc="0" sz="950" u="none" cap="none" strike="noStrike">
              <a:solidFill>
                <a:srgbClr val="000000"/>
              </a:solidFill>
              <a:latin typeface="Arial"/>
              <a:ea typeface="Arial"/>
              <a:cs typeface="Arial"/>
              <a:sym typeface="Arial"/>
            </a:endParaRPr>
          </a:p>
        </p:txBody>
      </p:sp>
      <p:sp>
        <p:nvSpPr>
          <p:cNvPr id="918" name="Google Shape;918;p37"/>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9" name="Google Shape;919;p37"/>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0" name="Google Shape;920;p37"/>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921" name="Google Shape;921;p37"/>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Give it a real chance</a:t>
            </a:r>
            <a:endParaRPr b="0" i="0" spc="0" sz="1200" u="none" cap="none" strike="noStrike">
              <a:solidFill>
                <a:srgbClr val="000000"/>
              </a:solidFill>
              <a:latin typeface="Arial"/>
              <a:ea typeface="Arial"/>
              <a:cs typeface="Arial"/>
              <a:sym typeface="Arial"/>
            </a:endParaRPr>
          </a:p>
        </p:txBody>
      </p:sp>
      <p:sp>
        <p:nvSpPr>
          <p:cNvPr id="922" name="Google Shape;922;p37"/>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Retry the ETF before the next MF date.</a:t>
            </a:r>
            <a:endParaRPr b="0" i="0" spc="0" sz="950" u="none" cap="none" strike="noStrike">
              <a:solidFill>
                <a:srgbClr val="000000"/>
              </a:solidFill>
              <a:latin typeface="Arial"/>
              <a:ea typeface="Arial"/>
              <a:cs typeface="Arial"/>
              <a:sym typeface="Arial"/>
            </a:endParaRPr>
          </a:p>
        </p:txBody>
      </p:sp>
      <p:sp>
        <p:nvSpPr>
          <p:cNvPr id="923" name="Google Shape;923;p37"/>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4" name="Google Shape;924;p37"/>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925" name="Google Shape;925;p37"/>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Arial"/>
                <a:ea typeface="Arial"/>
                <a:cs typeface="Arial"/>
                <a:sym typeface="Arial"/>
              </a:rPr>
              <a:t>Related:  </a:t>
            </a:r>
            <a:r>
              <a:rPr b="0" i="0" lang="en-US" spc="0" sz="1000" u="none" cap="none" strike="noStrike">
                <a:solidFill>
                  <a:srgbClr val="1D1D1F"/>
                </a:solidFill>
                <a:latin typeface="Arial"/>
                <a:ea typeface="Arial"/>
                <a:cs typeface="Arial"/>
                <a:sym typeface="Arial"/>
              </a:rPr>
              <a:t>ForeverClean Membership, ETF Waivers, MF &amp; ETF Refund Requests.</a:t>
            </a:r>
            <a:endParaRPr b="0" i="0" spc="0" sz="1000" u="none" cap="none" strike="noStrike">
              <a:solidFill>
                <a:srgbClr val="000000"/>
              </a:solidFill>
              <a:latin typeface="Arial"/>
              <a:ea typeface="Arial"/>
              <a:cs typeface="Arial"/>
              <a:sym typeface="Arial"/>
            </a:endParaRPr>
          </a:p>
        </p:txBody>
      </p:sp>
      <p:sp>
        <p:nvSpPr>
          <p:cNvPr id="926" name="Google Shape;926;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927" name="Google Shape;92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2" name="Shape 932"/>
        <p:cNvGrpSpPr/>
        <p:nvPr/>
      </p:nvGrpSpPr>
      <p:grpSpPr>
        <a:xfrm>
          <a:off x="0" y="0"/>
          <a:ext cx="0" cy="0"/>
          <a:chOff x="0" y="0"/>
          <a:chExt cx="0" cy="0"/>
        </a:xfrm>
      </p:grpSpPr>
      <p:sp>
        <p:nvSpPr>
          <p:cNvPr id="933" name="Google Shape;93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a:t>
            </a:r>
            <a:endParaRPr b="0" i="0" spc="0" sz="800" u="none" cap="none" strike="noStrike">
              <a:solidFill>
                <a:srgbClr val="000000"/>
              </a:solidFill>
              <a:latin typeface="Arial"/>
              <a:ea typeface="Arial"/>
              <a:cs typeface="Arial"/>
              <a:sym typeface="Arial"/>
            </a:endParaRPr>
          </a:p>
        </p:txBody>
      </p:sp>
      <p:sp>
        <p:nvSpPr>
          <p:cNvPr id="934" name="Google Shape;93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rgbClr val="000000"/>
              </a:solidFill>
              <a:latin typeface="Arial"/>
              <a:ea typeface="Arial"/>
              <a:cs typeface="Arial"/>
              <a:sym typeface="Arial"/>
            </a:endParaRPr>
          </a:p>
        </p:txBody>
      </p:sp>
      <p:sp>
        <p:nvSpPr>
          <p:cNvPr id="935" name="Google Shape;93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Tell C, set a TR, retry. Then confirm, or follow up.</a:t>
            </a:r>
            <a:endParaRPr b="0" i="0" spc="0" sz="1200" u="none" cap="none" strike="noStrike">
              <a:solidFill>
                <a:srgbClr val="000000"/>
              </a:solidFill>
              <a:latin typeface="Arial"/>
              <a:ea typeface="Arial"/>
              <a:cs typeface="Arial"/>
              <a:sym typeface="Arial"/>
            </a:endParaRPr>
          </a:p>
        </p:txBody>
      </p:sp>
      <p:sp>
        <p:nvSpPr>
          <p:cNvPr id="936" name="Google Shape;936;p38"/>
          <p:cNvSpPr/>
          <p:nvPr/>
        </p:nvSpPr>
        <p:spPr>
          <a:xfrm>
            <a:off x="411480" y="1298448"/>
            <a:ext cx="2606040" cy="731520"/>
          </a:xfrm>
          <a:prstGeom prst="roundRect">
            <a:avLst>
              <a:gd fmla="val 10000"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7" name="Google Shape;937;p38"/>
          <p:cNvSpPr txBox="1"/>
          <p:nvPr/>
        </p:nvSpPr>
        <p:spPr>
          <a:xfrm>
            <a:off x="484632" y="1298448"/>
            <a:ext cx="2459736"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Tell C</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FC is still active. Next MF charges if the ETF doesn't go through first</a:t>
            </a:r>
            <a:endParaRPr b="0" i="0" spc="0" sz="950" u="none" cap="none" strike="noStrike">
              <a:solidFill>
                <a:srgbClr val="000000"/>
              </a:solidFill>
              <a:latin typeface="Arial"/>
              <a:ea typeface="Arial"/>
              <a:cs typeface="Arial"/>
              <a:sym typeface="Arial"/>
            </a:endParaRPr>
          </a:p>
        </p:txBody>
      </p:sp>
      <p:cxnSp>
        <p:nvCxnSpPr>
          <p:cNvPr id="938" name="Google Shape;938;p38"/>
          <p:cNvCxnSpPr/>
          <p:nvPr/>
        </p:nvCxnSpPr>
        <p:spPr>
          <a:xfrm>
            <a:off x="3017520" y="1664208"/>
            <a:ext cx="251460" cy="0"/>
          </a:xfrm>
          <a:prstGeom prst="straightConnector1">
            <a:avLst/>
          </a:prstGeom>
          <a:noFill/>
          <a:ln cap="flat" cmpd="sng" w="12700">
            <a:solidFill>
              <a:srgbClr val="6E6E73"/>
            </a:solidFill>
            <a:prstDash val="solid"/>
            <a:round/>
            <a:headEnd len="sm" w="sm" type="none"/>
            <a:tailEnd len="med" w="med" type="triangle"/>
          </a:ln>
        </p:spPr>
      </p:cxnSp>
      <p:sp>
        <p:nvSpPr>
          <p:cNvPr id="939" name="Google Shape;939;p38"/>
          <p:cNvSpPr/>
          <p:nvPr/>
        </p:nvSpPr>
        <p:spPr>
          <a:xfrm>
            <a:off x="3268980" y="1298448"/>
            <a:ext cx="2606040" cy="731520"/>
          </a:xfrm>
          <a:prstGeom prst="roundRect">
            <a:avLst>
              <a:gd fmla="val 10000"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38"/>
          <p:cNvSpPr txBox="1"/>
          <p:nvPr/>
        </p:nvSpPr>
        <p:spPr>
          <a:xfrm>
            <a:off x="3342132" y="1298448"/>
            <a:ext cx="2459736"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Set a TR</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At least 3 days before the next MF date</a:t>
            </a:r>
            <a:endParaRPr b="0" i="0" spc="0" sz="950" u="none" cap="none" strike="noStrike">
              <a:solidFill>
                <a:srgbClr val="000000"/>
              </a:solidFill>
              <a:latin typeface="Arial"/>
              <a:ea typeface="Arial"/>
              <a:cs typeface="Arial"/>
              <a:sym typeface="Arial"/>
            </a:endParaRPr>
          </a:p>
        </p:txBody>
      </p:sp>
      <p:cxnSp>
        <p:nvCxnSpPr>
          <p:cNvPr id="941" name="Google Shape;941;p38"/>
          <p:cNvCxnSpPr/>
          <p:nvPr/>
        </p:nvCxnSpPr>
        <p:spPr>
          <a:xfrm>
            <a:off x="5875020" y="1664208"/>
            <a:ext cx="251460" cy="0"/>
          </a:xfrm>
          <a:prstGeom prst="straightConnector1">
            <a:avLst/>
          </a:prstGeom>
          <a:noFill/>
          <a:ln cap="flat" cmpd="sng" w="12700">
            <a:solidFill>
              <a:srgbClr val="6E6E73"/>
            </a:solidFill>
            <a:prstDash val="solid"/>
            <a:round/>
            <a:headEnd len="sm" w="sm" type="none"/>
            <a:tailEnd len="med" w="med" type="triangle"/>
          </a:ln>
        </p:spPr>
      </p:cxnSp>
      <p:sp>
        <p:nvSpPr>
          <p:cNvPr id="942" name="Google Shape;942;p38"/>
          <p:cNvSpPr/>
          <p:nvPr/>
        </p:nvSpPr>
        <p:spPr>
          <a:xfrm>
            <a:off x="6126480" y="1298448"/>
            <a:ext cx="2606040" cy="731520"/>
          </a:xfrm>
          <a:prstGeom prst="roundRect">
            <a:avLst>
              <a:gd fmla="val 10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3" name="Google Shape;943;p38"/>
          <p:cNvSpPr txBox="1"/>
          <p:nvPr/>
        </p:nvSpPr>
        <p:spPr>
          <a:xfrm>
            <a:off x="6199632" y="1298448"/>
            <a:ext cx="2459736"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TR triggers</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Retry the cancellation and the ETF charge</a:t>
            </a:r>
            <a:endParaRPr b="0" i="0" spc="0" sz="950" u="none" cap="none" strike="noStrike">
              <a:solidFill>
                <a:srgbClr val="000000"/>
              </a:solidFill>
              <a:latin typeface="Arial"/>
              <a:ea typeface="Arial"/>
              <a:cs typeface="Arial"/>
              <a:sym typeface="Arial"/>
            </a:endParaRPr>
          </a:p>
        </p:txBody>
      </p:sp>
      <p:cxnSp>
        <p:nvCxnSpPr>
          <p:cNvPr id="944" name="Google Shape;944;p38"/>
          <p:cNvCxnSpPr/>
          <p:nvPr/>
        </p:nvCxnSpPr>
        <p:spPr>
          <a:xfrm>
            <a:off x="7429500" y="2029968"/>
            <a:ext cx="0" cy="164592"/>
          </a:xfrm>
          <a:prstGeom prst="straightConnector1">
            <a:avLst/>
          </a:prstGeom>
          <a:noFill/>
          <a:ln cap="flat" cmpd="sng" w="12700">
            <a:solidFill>
              <a:srgbClr val="6E6E73"/>
            </a:solidFill>
            <a:prstDash val="solid"/>
            <a:round/>
            <a:headEnd len="sm" w="sm" type="none"/>
            <a:tailEnd len="sm" w="sm" type="none"/>
          </a:ln>
        </p:spPr>
      </p:cxnSp>
      <p:cxnSp>
        <p:nvCxnSpPr>
          <p:cNvPr id="945" name="Google Shape;945;p38"/>
          <p:cNvCxnSpPr/>
          <p:nvPr/>
        </p:nvCxnSpPr>
        <p:spPr>
          <a:xfrm>
            <a:off x="2446020" y="2194560"/>
            <a:ext cx="4983480" cy="0"/>
          </a:xfrm>
          <a:prstGeom prst="straightConnector1">
            <a:avLst/>
          </a:prstGeom>
          <a:noFill/>
          <a:ln cap="flat" cmpd="sng" w="12700">
            <a:solidFill>
              <a:srgbClr val="6E6E73"/>
            </a:solidFill>
            <a:prstDash val="solid"/>
            <a:round/>
            <a:headEnd len="sm" w="sm" type="none"/>
            <a:tailEnd len="sm" w="sm" type="none"/>
          </a:ln>
        </p:spPr>
      </p:cxnSp>
      <p:cxnSp>
        <p:nvCxnSpPr>
          <p:cNvPr id="946" name="Google Shape;946;p38"/>
          <p:cNvCxnSpPr/>
          <p:nvPr/>
        </p:nvCxnSpPr>
        <p:spPr>
          <a:xfrm>
            <a:off x="2446020" y="2194560"/>
            <a:ext cx="0" cy="164592"/>
          </a:xfrm>
          <a:prstGeom prst="straightConnector1">
            <a:avLst/>
          </a:prstGeom>
          <a:noFill/>
          <a:ln cap="flat" cmpd="sng" w="12700">
            <a:solidFill>
              <a:srgbClr val="6E6E73"/>
            </a:solidFill>
            <a:prstDash val="solid"/>
            <a:round/>
            <a:headEnd len="sm" w="sm" type="none"/>
            <a:tailEnd len="med" w="med" type="triangle"/>
          </a:ln>
        </p:spPr>
      </p:cxnSp>
      <p:cxnSp>
        <p:nvCxnSpPr>
          <p:cNvPr id="947" name="Google Shape;947;p38"/>
          <p:cNvCxnSpPr/>
          <p:nvPr/>
        </p:nvCxnSpPr>
        <p:spPr>
          <a:xfrm>
            <a:off x="6697980" y="2194560"/>
            <a:ext cx="0" cy="164592"/>
          </a:xfrm>
          <a:prstGeom prst="straightConnector1">
            <a:avLst/>
          </a:prstGeom>
          <a:noFill/>
          <a:ln cap="flat" cmpd="sng" w="12700">
            <a:solidFill>
              <a:srgbClr val="6E6E73"/>
            </a:solidFill>
            <a:prstDash val="solid"/>
            <a:round/>
            <a:headEnd len="sm" w="sm" type="none"/>
            <a:tailEnd len="med" w="med" type="triangle"/>
          </a:ln>
        </p:spPr>
      </p:cxnSp>
      <p:sp>
        <p:nvSpPr>
          <p:cNvPr id="948" name="Google Shape;948;p38"/>
          <p:cNvSpPr txBox="1"/>
          <p:nvPr/>
        </p:nvSpPr>
        <p:spPr>
          <a:xfrm>
            <a:off x="2514600" y="217627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Succeeds</a:t>
            </a:r>
            <a:endParaRPr b="0" i="0" spc="0" sz="850" u="none" cap="none" strike="noStrike">
              <a:solidFill>
                <a:srgbClr val="000000"/>
              </a:solidFill>
              <a:latin typeface="Arial"/>
              <a:ea typeface="Arial"/>
              <a:cs typeface="Arial"/>
              <a:sym typeface="Arial"/>
            </a:endParaRPr>
          </a:p>
        </p:txBody>
      </p:sp>
      <p:sp>
        <p:nvSpPr>
          <p:cNvPr id="949" name="Google Shape;949;p38"/>
          <p:cNvSpPr txBox="1"/>
          <p:nvPr/>
        </p:nvSpPr>
        <p:spPr>
          <a:xfrm>
            <a:off x="6766560" y="217627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Still fails</a:t>
            </a:r>
            <a:endParaRPr b="0" i="0" spc="0" sz="850" u="none" cap="none" strike="noStrike">
              <a:solidFill>
                <a:srgbClr val="000000"/>
              </a:solidFill>
              <a:latin typeface="Arial"/>
              <a:ea typeface="Arial"/>
              <a:cs typeface="Arial"/>
              <a:sym typeface="Arial"/>
            </a:endParaRPr>
          </a:p>
        </p:txBody>
      </p:sp>
      <p:sp>
        <p:nvSpPr>
          <p:cNvPr id="950" name="Google Shape;950;p38"/>
          <p:cNvSpPr/>
          <p:nvPr/>
        </p:nvSpPr>
        <p:spPr>
          <a:xfrm>
            <a:off x="411480" y="2359152"/>
            <a:ext cx="4069080" cy="1691640"/>
          </a:xfrm>
          <a:prstGeom prst="roundRect">
            <a:avLst>
              <a:gd fmla="val 4324"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1" name="Google Shape;951;p38"/>
          <p:cNvSpPr/>
          <p:nvPr/>
        </p:nvSpPr>
        <p:spPr>
          <a:xfrm>
            <a:off x="411480" y="2359152"/>
            <a:ext cx="4069080" cy="329184"/>
          </a:xfrm>
          <a:prstGeom prst="roundRect">
            <a:avLst>
              <a:gd fmla="val 16667" name="adj"/>
            </a:avLst>
          </a:prstGeom>
          <a:solidFill>
            <a:srgbClr val="2E7D32"/>
          </a:solidFill>
          <a:ln cap="flat" cmpd="sng" w="12700">
            <a:solidFill>
              <a:srgbClr val="2E7D32"/>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Confirm and close</a:t>
            </a:r>
            <a:endParaRPr b="0" i="0" spc="0" sz="1050" u="none" cap="none" strike="noStrike">
              <a:solidFill>
                <a:srgbClr val="000000"/>
              </a:solidFill>
              <a:latin typeface="Arial"/>
              <a:ea typeface="Arial"/>
              <a:cs typeface="Arial"/>
              <a:sym typeface="Arial"/>
            </a:endParaRPr>
          </a:p>
        </p:txBody>
      </p:sp>
      <p:sp>
        <p:nvSpPr>
          <p:cNvPr id="952" name="Google Shape;952;p38"/>
          <p:cNvSpPr txBox="1"/>
          <p:nvPr/>
        </p:nvSpPr>
        <p:spPr>
          <a:xfrm>
            <a:off x="576072" y="2798064"/>
            <a:ext cx="3739896" cy="11795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Confirm the cancellation with C</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Close out the ticket</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Don't leave it assumed: a quick confirmation closes the loop</a:t>
            </a:r>
            <a:endParaRPr b="0" i="0" spc="0" sz="950" u="none" cap="none" strike="noStrike">
              <a:solidFill>
                <a:srgbClr val="000000"/>
              </a:solidFill>
              <a:latin typeface="Arial"/>
              <a:ea typeface="Arial"/>
              <a:cs typeface="Arial"/>
              <a:sym typeface="Arial"/>
            </a:endParaRPr>
          </a:p>
        </p:txBody>
      </p:sp>
      <p:sp>
        <p:nvSpPr>
          <p:cNvPr id="953" name="Google Shape;953;p38"/>
          <p:cNvSpPr/>
          <p:nvPr/>
        </p:nvSpPr>
        <p:spPr>
          <a:xfrm>
            <a:off x="4663440" y="2359152"/>
            <a:ext cx="4069080" cy="1691640"/>
          </a:xfrm>
          <a:prstGeom prst="roundRect">
            <a:avLst>
              <a:gd fmla="val 432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4" name="Google Shape;954;p38"/>
          <p:cNvSpPr/>
          <p:nvPr/>
        </p:nvSpPr>
        <p:spPr>
          <a:xfrm>
            <a:off x="4663440" y="2359152"/>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Follow up</a:t>
            </a:r>
            <a:endParaRPr b="0" i="0" spc="0" sz="1050" u="none" cap="none" strike="noStrike">
              <a:solidFill>
                <a:srgbClr val="000000"/>
              </a:solidFill>
              <a:latin typeface="Arial"/>
              <a:ea typeface="Arial"/>
              <a:cs typeface="Arial"/>
              <a:sym typeface="Arial"/>
            </a:endParaRPr>
          </a:p>
        </p:txBody>
      </p:sp>
      <p:sp>
        <p:nvSpPr>
          <p:cNvPr id="955" name="Google Shape;955;p38"/>
          <p:cNvSpPr txBox="1"/>
          <p:nvPr/>
        </p:nvSpPr>
        <p:spPr>
          <a:xfrm>
            <a:off x="4828032" y="2798064"/>
            <a:ext cx="3739896" cy="11795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Consider calling C (business hours) to explain</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Consider a free week or two as goodwill</a:t>
            </a:r>
            <a:endParaRPr b="0" i="0" spc="0" sz="95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50"/>
              <a:buFont typeface="Arial"/>
              <a:buChar char="•"/>
            </a:pPr>
            <a:r>
              <a:rPr b="0" i="0" lang="en-US" spc="0" sz="950" u="none" cap="none" strike="noStrike">
                <a:solidFill>
                  <a:srgbClr val="1D1D1F"/>
                </a:solidFill>
                <a:latin typeface="Arial"/>
                <a:ea typeface="Arial"/>
                <a:cs typeface="Arial"/>
                <a:sym typeface="Arial"/>
              </a:rPr>
              <a:t>Be explicit about when the next MF will be charged</a:t>
            </a:r>
            <a:endParaRPr b="0" i="0" spc="0" sz="950" u="none" cap="none" strike="noStrike">
              <a:solidFill>
                <a:srgbClr val="000000"/>
              </a:solidFill>
              <a:latin typeface="Arial"/>
              <a:ea typeface="Arial"/>
              <a:cs typeface="Arial"/>
              <a:sym typeface="Arial"/>
            </a:endParaRPr>
          </a:p>
        </p:txBody>
      </p:sp>
      <p:sp>
        <p:nvSpPr>
          <p:cNvPr id="956" name="Google Shape;956;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957" name="Google Shape;957;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  ·  KNOWLEDGE CHECK</a:t>
            </a:r>
            <a:endParaRPr b="0" i="0" spc="0" sz="800" u="none" cap="none" strike="noStrike">
              <a:solidFill>
                <a:srgbClr val="000000"/>
              </a:solidFill>
              <a:latin typeface="Arial"/>
              <a:ea typeface="Arial"/>
              <a:cs typeface="Arial"/>
              <a:sym typeface="Arial"/>
            </a:endParaRPr>
          </a:p>
        </p:txBody>
      </p:sp>
      <p:sp>
        <p:nvSpPr>
          <p:cNvPr id="964" name="Google Shape;964;p3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rgbClr val="000000"/>
              </a:solidFill>
              <a:latin typeface="Arial"/>
              <a:ea typeface="Arial"/>
              <a:cs typeface="Arial"/>
              <a:sym typeface="Arial"/>
            </a:endParaRPr>
          </a:p>
        </p:txBody>
      </p:sp>
      <p:sp>
        <p:nvSpPr>
          <p:cNvPr id="965" name="Google Shape;965;p39"/>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6" name="Google Shape;966;p39"/>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9"/>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968" name="Google Shape;968;p39"/>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C agreed to cancel, but the ETF was declined. Is FC cancelled?</a:t>
            </a:r>
            <a:endParaRPr b="0" i="0" spc="0" sz="1000" u="none" cap="none" strike="noStrike">
              <a:solidFill>
                <a:srgbClr val="000000"/>
              </a:solidFill>
              <a:latin typeface="Arial"/>
              <a:ea typeface="Arial"/>
              <a:cs typeface="Arial"/>
              <a:sym typeface="Arial"/>
            </a:endParaRPr>
          </a:p>
        </p:txBody>
      </p:sp>
      <p:sp>
        <p:nvSpPr>
          <p:cNvPr id="969" name="Google Shape;969;p39"/>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0" name="Google Shape;970;p39"/>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It stays active until the ETF successfully processes.</a:t>
            </a:r>
            <a:endParaRPr b="0" i="0" spc="0" sz="900" u="none" cap="none" strike="noStrike">
              <a:solidFill>
                <a:srgbClr val="000000"/>
              </a:solidFill>
              <a:latin typeface="Arial"/>
              <a:ea typeface="Arial"/>
              <a:cs typeface="Arial"/>
              <a:sym typeface="Arial"/>
            </a:endParaRPr>
          </a:p>
        </p:txBody>
      </p:sp>
      <p:sp>
        <p:nvSpPr>
          <p:cNvPr id="971" name="Google Shape;971;p39"/>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2" name="Google Shape;972;p39"/>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9"/>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974" name="Google Shape;974;p39"/>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When should the Timed Reminder fire?</a:t>
            </a:r>
            <a:endParaRPr b="0" i="0" spc="0" sz="1000" u="none" cap="none" strike="noStrike">
              <a:solidFill>
                <a:srgbClr val="000000"/>
              </a:solidFill>
              <a:latin typeface="Arial"/>
              <a:ea typeface="Arial"/>
              <a:cs typeface="Arial"/>
              <a:sym typeface="Arial"/>
            </a:endParaRPr>
          </a:p>
        </p:txBody>
      </p:sp>
      <p:sp>
        <p:nvSpPr>
          <p:cNvPr id="975" name="Google Shape;975;p39"/>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6" name="Google Shape;976;p39"/>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At least 3 days before the next MF date.</a:t>
            </a:r>
            <a:endParaRPr b="0" i="0" spc="0" sz="900" u="none" cap="none" strike="noStrike">
              <a:solidFill>
                <a:srgbClr val="000000"/>
              </a:solidFill>
              <a:latin typeface="Arial"/>
              <a:ea typeface="Arial"/>
              <a:cs typeface="Arial"/>
              <a:sym typeface="Arial"/>
            </a:endParaRPr>
          </a:p>
        </p:txBody>
      </p:sp>
      <p:sp>
        <p:nvSpPr>
          <p:cNvPr id="977" name="Google Shape;977;p39"/>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9"/>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9"/>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980" name="Google Shape;980;p39"/>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The retry succeeds. What's left to do?</a:t>
            </a:r>
            <a:endParaRPr b="0" i="0" spc="0" sz="1000" u="none" cap="none" strike="noStrike">
              <a:solidFill>
                <a:srgbClr val="000000"/>
              </a:solidFill>
              <a:latin typeface="Arial"/>
              <a:ea typeface="Arial"/>
              <a:cs typeface="Arial"/>
              <a:sym typeface="Arial"/>
            </a:endParaRPr>
          </a:p>
        </p:txBody>
      </p:sp>
      <p:sp>
        <p:nvSpPr>
          <p:cNvPr id="981" name="Google Shape;981;p39"/>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2" name="Google Shape;982;p39"/>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Confirm the cancellation with C and close the ticket.</a:t>
            </a:r>
            <a:endParaRPr b="0" i="0" spc="0" sz="900" u="none" cap="none" strike="noStrike">
              <a:solidFill>
                <a:srgbClr val="000000"/>
              </a:solidFill>
              <a:latin typeface="Arial"/>
              <a:ea typeface="Arial"/>
              <a:cs typeface="Arial"/>
              <a:sym typeface="Arial"/>
            </a:endParaRPr>
          </a:p>
        </p:txBody>
      </p:sp>
      <p:sp>
        <p:nvSpPr>
          <p:cNvPr id="983" name="Google Shape;983;p39"/>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39"/>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5" name="Google Shape;985;p39"/>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986" name="Google Shape;986;p39"/>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The retry fails again. Options?</a:t>
            </a:r>
            <a:endParaRPr b="0" i="0" spc="0" sz="1000" u="none" cap="none" strike="noStrike">
              <a:solidFill>
                <a:srgbClr val="000000"/>
              </a:solidFill>
              <a:latin typeface="Arial"/>
              <a:ea typeface="Arial"/>
              <a:cs typeface="Arial"/>
              <a:sym typeface="Arial"/>
            </a:endParaRPr>
          </a:p>
        </p:txBody>
      </p:sp>
      <p:sp>
        <p:nvSpPr>
          <p:cNvPr id="987" name="Google Shape;987;p39"/>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8" name="Google Shape;988;p39"/>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Call C (business hours); consider a free week or two, and say when the next MF charges.</a:t>
            </a:r>
            <a:endParaRPr b="0" i="0" spc="0" sz="900" u="none" cap="none" strike="noStrike">
              <a:solidFill>
                <a:srgbClr val="000000"/>
              </a:solidFill>
              <a:latin typeface="Arial"/>
              <a:ea typeface="Arial"/>
              <a:cs typeface="Arial"/>
              <a:sym typeface="Arial"/>
            </a:endParaRPr>
          </a:p>
        </p:txBody>
      </p:sp>
      <p:sp>
        <p:nvSpPr>
          <p:cNvPr id="989" name="Google Shape;989;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990" name="Google Shape;990;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0"/>
                                        </p:tgtEl>
                                        <p:attrNameLst>
                                          <p:attrName>style.visibility</p:attrName>
                                        </p:attrNameLst>
                                      </p:cBhvr>
                                      <p:to>
                                        <p:strVal val="visible"/>
                                      </p:to>
                                    </p:set>
                                    <p:animEffect filter="fade" transition="in">
                                      <p:cBhvr>
                                        <p:cTn dur="600"/>
                                        <p:tgtEl>
                                          <p:spTgt spid="97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76"/>
                                        </p:tgtEl>
                                        <p:attrNameLst>
                                          <p:attrName>style.visibility</p:attrName>
                                        </p:attrNameLst>
                                      </p:cBhvr>
                                      <p:to>
                                        <p:strVal val="visible"/>
                                      </p:to>
                                    </p:set>
                                    <p:animEffect filter="fade" transition="in">
                                      <p:cBhvr>
                                        <p:cTn dur="600"/>
                                        <p:tgtEl>
                                          <p:spTgt spid="97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82"/>
                                        </p:tgtEl>
                                        <p:attrNameLst>
                                          <p:attrName>style.visibility</p:attrName>
                                        </p:attrNameLst>
                                      </p:cBhvr>
                                      <p:to>
                                        <p:strVal val="visible"/>
                                      </p:to>
                                    </p:set>
                                    <p:animEffect filter="fade" transition="in">
                                      <p:cBhvr>
                                        <p:cTn dur="600"/>
                                        <p:tgtEl>
                                          <p:spTgt spid="98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88"/>
                                        </p:tgtEl>
                                        <p:attrNameLst>
                                          <p:attrName>style.visibility</p:attrName>
                                        </p:attrNameLst>
                                      </p:cBhvr>
                                      <p:to>
                                        <p:strVal val="visible"/>
                                      </p:to>
                                    </p:set>
                                    <p:animEffect filter="fade" transition="in">
                                      <p:cBhvr>
                                        <p:cTn dur="600"/>
                                        <p:tgtEl>
                                          <p:spTgt spid="98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ETF CHARGE DECLINED  ·  PRACTICE</a:t>
            </a:r>
            <a:endParaRPr b="0" i="0" spc="0" sz="800" u="none" cap="none" strike="noStrike">
              <a:solidFill>
                <a:srgbClr val="000000"/>
              </a:solidFill>
              <a:latin typeface="Arial"/>
              <a:ea typeface="Arial"/>
              <a:cs typeface="Arial"/>
              <a:sym typeface="Arial"/>
            </a:endParaRPr>
          </a:p>
        </p:txBody>
      </p:sp>
      <p:sp>
        <p:nvSpPr>
          <p:cNvPr id="997" name="Google Shape;997;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rgbClr val="000000"/>
              </a:solidFill>
              <a:latin typeface="Arial"/>
              <a:ea typeface="Arial"/>
              <a:cs typeface="Arial"/>
              <a:sym typeface="Arial"/>
            </a:endParaRPr>
          </a:p>
        </p:txBody>
      </p:sp>
      <p:sp>
        <p:nvSpPr>
          <p:cNvPr id="998" name="Google Shape;998;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rgbClr val="000000"/>
              </a:solidFill>
              <a:latin typeface="Arial"/>
              <a:ea typeface="Arial"/>
              <a:cs typeface="Arial"/>
              <a:sym typeface="Arial"/>
            </a:endParaRPr>
          </a:p>
        </p:txBody>
      </p:sp>
      <p:sp>
        <p:nvSpPr>
          <p:cNvPr id="999" name="Google Shape;999;p40"/>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0" name="Google Shape;1000;p40"/>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1" name="Google Shape;1001;p40"/>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002" name="Google Shape;1002;p40"/>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rgbClr val="000000"/>
              </a:solidFill>
              <a:latin typeface="Arial"/>
              <a:ea typeface="Arial"/>
              <a:cs typeface="Arial"/>
              <a:sym typeface="Arial"/>
            </a:endParaRPr>
          </a:p>
        </p:txBody>
      </p:sp>
      <p:sp>
        <p:nvSpPr>
          <p:cNvPr id="1003" name="Google Shape;1003;p40"/>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rgbClr val="000000"/>
              </a:solidFill>
              <a:latin typeface="Arial"/>
              <a:ea typeface="Arial"/>
              <a:cs typeface="Arial"/>
              <a:sym typeface="Arial"/>
            </a:endParaRPr>
          </a:p>
        </p:txBody>
      </p:sp>
      <p:sp>
        <p:nvSpPr>
          <p:cNvPr id="1004" name="Google Shape;1004;p40"/>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rgbClr val="000000"/>
              </a:solidFill>
              <a:latin typeface="Arial"/>
              <a:ea typeface="Arial"/>
              <a:cs typeface="Arial"/>
              <a:sym typeface="Arial"/>
            </a:endParaRPr>
          </a:p>
        </p:txBody>
      </p:sp>
      <p:sp>
        <p:nvSpPr>
          <p:cNvPr id="1005" name="Google Shape;1005;p40"/>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6" name="Google Shape;1006;p40"/>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7" name="Google Shape;1007;p40"/>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008" name="Google Shape;1008;p40"/>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Is the cancellation complete?</a:t>
            </a:r>
            <a:endParaRPr b="0" i="0" spc="0" sz="1250" u="none" cap="none" strike="noStrike">
              <a:solidFill>
                <a:srgbClr val="000000"/>
              </a:solidFill>
              <a:latin typeface="Arial"/>
              <a:ea typeface="Arial"/>
              <a:cs typeface="Arial"/>
              <a:sym typeface="Arial"/>
            </a:endParaRPr>
          </a:p>
        </p:txBody>
      </p:sp>
      <p:sp>
        <p:nvSpPr>
          <p:cNvPr id="1009" name="Google Shape;1009;p40"/>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Was the ETF actually charged?</a:t>
            </a:r>
            <a:endParaRPr b="0" i="0" spc="0" sz="1000" u="none" cap="none" strike="noStrike">
              <a:solidFill>
                <a:srgbClr val="000000"/>
              </a:solidFill>
              <a:latin typeface="Arial"/>
              <a:ea typeface="Arial"/>
              <a:cs typeface="Arial"/>
              <a:sym typeface="Arial"/>
            </a:endParaRPr>
          </a:p>
        </p:txBody>
      </p:sp>
      <p:sp>
        <p:nvSpPr>
          <p:cNvPr id="1010" name="Google Shape;1010;p40"/>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1" name="Google Shape;1011;p40"/>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2" name="Google Shape;1012;p40"/>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013" name="Google Shape;1013;p40"/>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rgbClr val="000000"/>
              </a:solidFill>
              <a:latin typeface="Arial"/>
              <a:ea typeface="Arial"/>
              <a:cs typeface="Arial"/>
              <a:sym typeface="Arial"/>
            </a:endParaRPr>
          </a:p>
        </p:txBody>
      </p:sp>
      <p:sp>
        <p:nvSpPr>
          <p:cNvPr id="1014" name="Google Shape;1014;p40"/>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Tell C, TR timing, retry, follow-up.</a:t>
            </a:r>
            <a:endParaRPr b="0" i="0" spc="0" sz="1000" u="none" cap="none" strike="noStrike">
              <a:solidFill>
                <a:srgbClr val="000000"/>
              </a:solidFill>
              <a:latin typeface="Arial"/>
              <a:ea typeface="Arial"/>
              <a:cs typeface="Arial"/>
              <a:sym typeface="Arial"/>
            </a:endParaRPr>
          </a:p>
        </p:txBody>
      </p:sp>
      <p:sp>
        <p:nvSpPr>
          <p:cNvPr id="1015" name="Google Shape;1015;p40"/>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40"/>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40"/>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018" name="Google Shape;1018;p40"/>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rgbClr val="000000"/>
              </a:solidFill>
              <a:latin typeface="Arial"/>
              <a:ea typeface="Arial"/>
              <a:cs typeface="Arial"/>
              <a:sym typeface="Arial"/>
            </a:endParaRPr>
          </a:p>
        </p:txBody>
      </p:sp>
      <p:sp>
        <p:nvSpPr>
          <p:cNvPr id="1019" name="Google Shape;1019;p40"/>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Explain the declined ETF to C.</a:t>
            </a:r>
            <a:endParaRPr b="0" i="0" spc="0" sz="1000" u="none" cap="none" strike="noStrike">
              <a:solidFill>
                <a:srgbClr val="000000"/>
              </a:solidFill>
              <a:latin typeface="Arial"/>
              <a:ea typeface="Arial"/>
              <a:cs typeface="Arial"/>
              <a:sym typeface="Arial"/>
            </a:endParaRPr>
          </a:p>
        </p:txBody>
      </p:sp>
      <p:sp>
        <p:nvSpPr>
          <p:cNvPr id="1020" name="Google Shape;1020;p40"/>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21" name="Google Shape;1021;p40"/>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022" name="Google Shape;1022;p40"/>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rgbClr val="000000"/>
              </a:solidFill>
              <a:latin typeface="Arial"/>
              <a:ea typeface="Arial"/>
              <a:cs typeface="Arial"/>
              <a:sym typeface="Arial"/>
            </a:endParaRPr>
          </a:p>
        </p:txBody>
      </p:sp>
      <p:sp>
        <p:nvSpPr>
          <p:cNvPr id="1023" name="Google Shape;1023;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024" name="Google Shape;1024;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9" name="Shape 1029"/>
        <p:cNvGrpSpPr/>
        <p:nvPr/>
      </p:nvGrpSpPr>
      <p:grpSpPr>
        <a:xfrm>
          <a:off x="0" y="0"/>
          <a:ext cx="0" cy="0"/>
          <a:chOff x="0" y="0"/>
          <a:chExt cx="0" cy="0"/>
        </a:xfrm>
      </p:grpSpPr>
      <p:sp>
        <p:nvSpPr>
          <p:cNvPr id="1030" name="Google Shape;1030;p41"/>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rgbClr val="000000"/>
              </a:solidFill>
              <a:latin typeface="Arial"/>
              <a:ea typeface="Arial"/>
              <a:cs typeface="Arial"/>
              <a:sym typeface="Arial"/>
            </a:endParaRPr>
          </a:p>
        </p:txBody>
      </p:sp>
      <p:sp>
        <p:nvSpPr>
          <p:cNvPr id="1031" name="Google Shape;1031;p41"/>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pc="0" sz="2800" u="none" cap="none" strike="noStrike">
                <a:solidFill>
                  <a:srgbClr val="1D1D1F"/>
                </a:solidFill>
                <a:latin typeface="Play"/>
                <a:ea typeface="Play"/>
                <a:cs typeface="Play"/>
                <a:sym typeface="Play"/>
              </a:rPr>
              <a:t>Failed Charge or Overdue MF</a:t>
            </a:r>
            <a:endParaRPr b="0" i="0" spc="0" sz="2800" u="none" cap="none" strike="noStrike">
              <a:solidFill>
                <a:srgbClr val="000000"/>
              </a:solidFill>
              <a:latin typeface="Arial"/>
              <a:ea typeface="Arial"/>
              <a:cs typeface="Arial"/>
              <a:sym typeface="Arial"/>
            </a:endParaRPr>
          </a:p>
        </p:txBody>
      </p:sp>
      <p:sp>
        <p:nvSpPr>
          <p:cNvPr id="1032" name="Google Shape;1032;p41"/>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0" i="0" lang="en-US" spc="0" sz="1150" u="none" cap="none" strike="noStrike">
                <a:solidFill>
                  <a:srgbClr val="6E6E73"/>
                </a:solidFill>
                <a:latin typeface="Arial"/>
                <a:ea typeface="Arial"/>
                <a:cs typeface="Arial"/>
                <a:sym typeface="Arial"/>
              </a:rPr>
              <a:t>What to check first, before you ask C to update their card.</a:t>
            </a:r>
            <a:endParaRPr b="0" i="0" spc="0" sz="1150" u="none" cap="none" strike="noStrike">
              <a:solidFill>
                <a:srgbClr val="000000"/>
              </a:solidFill>
              <a:latin typeface="Arial"/>
              <a:ea typeface="Arial"/>
              <a:cs typeface="Arial"/>
              <a:sym typeface="Arial"/>
            </a:endParaRPr>
          </a:p>
        </p:txBody>
      </p:sp>
      <p:sp>
        <p:nvSpPr>
          <p:cNvPr id="1033" name="Google Shape;1033;p41"/>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rgbClr val="000000"/>
              </a:solidFill>
              <a:latin typeface="Arial"/>
              <a:ea typeface="Arial"/>
              <a:cs typeface="Arial"/>
              <a:sym typeface="Arial"/>
            </a:endParaRPr>
          </a:p>
        </p:txBody>
      </p:sp>
      <p:sp>
        <p:nvSpPr>
          <p:cNvPr id="1034" name="Google Shape;1034;p41"/>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5" name="Google Shape;1035;p41"/>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36" name="Google Shape;1036;p41"/>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When it comes up</a:t>
            </a:r>
            <a:endParaRPr b="0" i="0" spc="0" sz="1050" u="none" cap="none" strike="noStrike">
              <a:solidFill>
                <a:srgbClr val="000000"/>
              </a:solidFill>
              <a:latin typeface="Arial"/>
              <a:ea typeface="Arial"/>
              <a:cs typeface="Arial"/>
              <a:sym typeface="Arial"/>
            </a:endParaRPr>
          </a:p>
        </p:txBody>
      </p:sp>
      <p:sp>
        <p:nvSpPr>
          <p:cNvPr id="1037" name="Google Shape;1037;p41"/>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8" name="Google Shape;1038;p41"/>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39" name="Google Shape;1039;p41"/>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Rule 1: don't chase payment while an issue is open</a:t>
            </a:r>
            <a:endParaRPr b="0" i="0" spc="0" sz="1050" u="none" cap="none" strike="noStrike">
              <a:solidFill>
                <a:srgbClr val="000000"/>
              </a:solidFill>
              <a:latin typeface="Arial"/>
              <a:ea typeface="Arial"/>
              <a:cs typeface="Arial"/>
              <a:sym typeface="Arial"/>
            </a:endParaRPr>
          </a:p>
        </p:txBody>
      </p:sp>
      <p:sp>
        <p:nvSpPr>
          <p:cNvPr id="1040" name="Google Shape;1040;p41"/>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41" name="Google Shape;1041;p41"/>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42" name="Google Shape;1042;p41"/>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Rule 2: the upcoming-appointment exception</a:t>
            </a:r>
            <a:endParaRPr b="0" i="0" spc="0" sz="1050" u="none" cap="none" strike="noStrike">
              <a:solidFill>
                <a:srgbClr val="000000"/>
              </a:solidFill>
              <a:latin typeface="Arial"/>
              <a:ea typeface="Arial"/>
              <a:cs typeface="Arial"/>
              <a:sym typeface="Arial"/>
            </a:endParaRPr>
          </a:p>
        </p:txBody>
      </p:sp>
      <p:sp>
        <p:nvSpPr>
          <p:cNvPr id="1043" name="Google Shape;1043;p41"/>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44" name="Google Shape;1044;p41"/>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45" name="Google Shape;1045;p41"/>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What counts as "resolved"</a:t>
            </a:r>
            <a:endParaRPr b="0" i="0" spc="0" sz="1050" u="none" cap="none" strike="noStrike">
              <a:solidFill>
                <a:srgbClr val="000000"/>
              </a:solidFill>
              <a:latin typeface="Arial"/>
              <a:ea typeface="Arial"/>
              <a:cs typeface="Arial"/>
              <a:sym typeface="Arial"/>
            </a:endParaRPr>
          </a:p>
        </p:txBody>
      </p:sp>
      <p:sp>
        <p:nvSpPr>
          <p:cNvPr id="1046" name="Google Shape;1046;p41"/>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7" name="Google Shape;1047;p41"/>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12.png" id="1048" name="Google Shape;1048;p41"/>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1049" name="Google Shape;1049;p41"/>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0" name="Google Shape;1050;p41"/>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1" name="Google Shape;1051;p41"/>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2" name="Google Shape;1052;p41"/>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3" name="Google Shape;1053;p41"/>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4" name="Google Shape;1054;p41"/>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5" name="Google Shape;1055;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056" name="Google Shape;1056;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1" name="Shape 1061"/>
        <p:cNvGrpSpPr/>
        <p:nvPr/>
      </p:nvGrpSpPr>
      <p:grpSpPr>
        <a:xfrm>
          <a:off x="0" y="0"/>
          <a:ext cx="0" cy="0"/>
          <a:chOff x="0" y="0"/>
          <a:chExt cx="0" cy="0"/>
        </a:xfrm>
      </p:grpSpPr>
      <p:sp>
        <p:nvSpPr>
          <p:cNvPr id="1062" name="Google Shape;1062;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a:t>
            </a:r>
            <a:endParaRPr b="0" i="0" spc="0" sz="800" u="none" cap="none" strike="noStrike">
              <a:solidFill>
                <a:srgbClr val="000000"/>
              </a:solidFill>
              <a:latin typeface="Arial"/>
              <a:ea typeface="Arial"/>
              <a:cs typeface="Arial"/>
              <a:sym typeface="Arial"/>
            </a:endParaRPr>
          </a:p>
        </p:txBody>
      </p:sp>
      <p:sp>
        <p:nvSpPr>
          <p:cNvPr id="1063" name="Google Shape;1063;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rgbClr val="000000"/>
              </a:solidFill>
              <a:latin typeface="Arial"/>
              <a:ea typeface="Arial"/>
              <a:cs typeface="Arial"/>
              <a:sym typeface="Arial"/>
            </a:endParaRPr>
          </a:p>
        </p:txBody>
      </p:sp>
      <p:sp>
        <p:nvSpPr>
          <p:cNvPr id="1064" name="Google Shape;1064;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You spot money owed. Should you bring it up right now?</a:t>
            </a:r>
            <a:endParaRPr b="0" i="0" spc="0" sz="1200" u="none" cap="none" strike="noStrike">
              <a:solidFill>
                <a:srgbClr val="000000"/>
              </a:solidFill>
              <a:latin typeface="Arial"/>
              <a:ea typeface="Arial"/>
              <a:cs typeface="Arial"/>
              <a:sym typeface="Arial"/>
            </a:endParaRPr>
          </a:p>
        </p:txBody>
      </p:sp>
      <p:sp>
        <p:nvSpPr>
          <p:cNvPr id="1065" name="Google Shape;1065;p42"/>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6" name="Google Shape;1066;p4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7" name="Google Shape;1067;p4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068" name="Google Shape;1068;p42"/>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When it comes up</a:t>
            </a:r>
            <a:endParaRPr b="0" i="0" spc="0" sz="1200" u="none" cap="none" strike="noStrike">
              <a:solidFill>
                <a:srgbClr val="000000"/>
              </a:solidFill>
              <a:latin typeface="Arial"/>
              <a:ea typeface="Arial"/>
              <a:cs typeface="Arial"/>
              <a:sym typeface="Arial"/>
            </a:endParaRPr>
          </a:p>
        </p:txBody>
      </p:sp>
      <p:sp>
        <p:nvSpPr>
          <p:cNvPr id="1069" name="Google Shape;1069;p42"/>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Why C contacted us, or spotted while working on something else.</a:t>
            </a:r>
            <a:endParaRPr b="0" i="0" spc="0" sz="950" u="none" cap="none" strike="noStrike">
              <a:solidFill>
                <a:srgbClr val="000000"/>
              </a:solidFill>
              <a:latin typeface="Arial"/>
              <a:ea typeface="Arial"/>
              <a:cs typeface="Arial"/>
              <a:sym typeface="Arial"/>
            </a:endParaRPr>
          </a:p>
        </p:txBody>
      </p:sp>
      <p:sp>
        <p:nvSpPr>
          <p:cNvPr id="1070" name="Google Shape;1070;p42"/>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1" name="Google Shape;1071;p42"/>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72" name="Google Shape;1072;p4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073" name="Google Shape;1073;p42"/>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Timing matters</a:t>
            </a:r>
            <a:endParaRPr b="0" i="0" spc="0" sz="1200" u="none" cap="none" strike="noStrike">
              <a:solidFill>
                <a:srgbClr val="000000"/>
              </a:solidFill>
              <a:latin typeface="Arial"/>
              <a:ea typeface="Arial"/>
              <a:cs typeface="Arial"/>
              <a:sym typeface="Arial"/>
            </a:endParaRPr>
          </a:p>
        </p:txBody>
      </p:sp>
      <p:sp>
        <p:nvSpPr>
          <p:cNvPr id="1074" name="Google Shape;1074;p42"/>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At the wrong moment it feels like chasing payment, not taking care of C.</a:t>
            </a:r>
            <a:endParaRPr b="0" i="0" spc="0" sz="950" u="none" cap="none" strike="noStrike">
              <a:solidFill>
                <a:srgbClr val="000000"/>
              </a:solidFill>
              <a:latin typeface="Arial"/>
              <a:ea typeface="Arial"/>
              <a:cs typeface="Arial"/>
              <a:sym typeface="Arial"/>
            </a:endParaRPr>
          </a:p>
        </p:txBody>
      </p:sp>
      <p:sp>
        <p:nvSpPr>
          <p:cNvPr id="1075" name="Google Shape;1075;p42"/>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6" name="Google Shape;1076;p42"/>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77" name="Google Shape;1077;p4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078" name="Google Shape;1078;p42"/>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A gate first</a:t>
            </a:r>
            <a:endParaRPr b="0" i="0" spc="0" sz="1200" u="none" cap="none" strike="noStrike">
              <a:solidFill>
                <a:srgbClr val="000000"/>
              </a:solidFill>
              <a:latin typeface="Arial"/>
              <a:ea typeface="Arial"/>
              <a:cs typeface="Arial"/>
              <a:sym typeface="Arial"/>
            </a:endParaRPr>
          </a:p>
        </p:txBody>
      </p:sp>
      <p:sp>
        <p:nvSpPr>
          <p:cNvPr id="1079" name="Google Shape;1079;p42"/>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Then Understanding Offer Logic › Free Months (Job 2) for the counts.</a:t>
            </a:r>
            <a:endParaRPr b="0" i="0" spc="0" sz="950" u="none" cap="none" strike="noStrike">
              <a:solidFill>
                <a:srgbClr val="000000"/>
              </a:solidFill>
              <a:latin typeface="Arial"/>
              <a:ea typeface="Arial"/>
              <a:cs typeface="Arial"/>
              <a:sym typeface="Arial"/>
            </a:endParaRPr>
          </a:p>
        </p:txBody>
      </p:sp>
      <p:sp>
        <p:nvSpPr>
          <p:cNvPr id="1080" name="Google Shape;108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081" name="Google Shape;1081;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6" name="Shape 1086"/>
        <p:cNvGrpSpPr/>
        <p:nvPr/>
      </p:nvGrpSpPr>
      <p:grpSpPr>
        <a:xfrm>
          <a:off x="0" y="0"/>
          <a:ext cx="0" cy="0"/>
          <a:chOff x="0" y="0"/>
          <a:chExt cx="0" cy="0"/>
        </a:xfrm>
      </p:grpSpPr>
      <p:sp>
        <p:nvSpPr>
          <p:cNvPr id="1087" name="Google Shape;1087;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a:t>
            </a:r>
            <a:endParaRPr b="0" i="0" spc="0" sz="800" u="none" cap="none" strike="noStrike">
              <a:solidFill>
                <a:srgbClr val="000000"/>
              </a:solidFill>
              <a:latin typeface="Arial"/>
              <a:ea typeface="Arial"/>
              <a:cs typeface="Arial"/>
              <a:sym typeface="Arial"/>
            </a:endParaRPr>
          </a:p>
        </p:txBody>
      </p:sp>
      <p:sp>
        <p:nvSpPr>
          <p:cNvPr id="1088" name="Google Shape;1088;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to check first</a:t>
            </a:r>
            <a:endParaRPr b="0" i="0" spc="0" sz="2400" u="none" cap="none" strike="noStrike">
              <a:solidFill>
                <a:srgbClr val="000000"/>
              </a:solidFill>
              <a:latin typeface="Arial"/>
              <a:ea typeface="Arial"/>
              <a:cs typeface="Arial"/>
              <a:sym typeface="Arial"/>
            </a:endParaRPr>
          </a:p>
        </p:txBody>
      </p:sp>
      <p:sp>
        <p:nvSpPr>
          <p:cNvPr id="1089" name="Google Shape;1089;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Protect the upcoming job. Otherwise, resolve the issue before the card.</a:t>
            </a:r>
            <a:endParaRPr b="0" i="0" spc="0" sz="1200" u="none" cap="none" strike="noStrike">
              <a:solidFill>
                <a:srgbClr val="000000"/>
              </a:solidFill>
              <a:latin typeface="Arial"/>
              <a:ea typeface="Arial"/>
              <a:cs typeface="Arial"/>
              <a:sym typeface="Arial"/>
            </a:endParaRPr>
          </a:p>
        </p:txBody>
      </p:sp>
      <p:sp>
        <p:nvSpPr>
          <p:cNvPr id="1090" name="Google Shape;1090;p43"/>
          <p:cNvSpPr/>
          <p:nvPr/>
        </p:nvSpPr>
        <p:spPr>
          <a:xfrm>
            <a:off x="2926080" y="1298448"/>
            <a:ext cx="3291840" cy="411480"/>
          </a:xfrm>
          <a:prstGeom prst="roundRect">
            <a:avLst>
              <a:gd fmla="val 17778"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2999232" y="1298448"/>
            <a:ext cx="3145536"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Failed job charge or overdue MF spotted</a:t>
            </a:r>
            <a:endParaRPr b="0" i="0" spc="0" sz="950" u="none" cap="none" strike="noStrike">
              <a:solidFill>
                <a:srgbClr val="000000"/>
              </a:solidFill>
              <a:latin typeface="Arial"/>
              <a:ea typeface="Arial"/>
              <a:cs typeface="Arial"/>
              <a:sym typeface="Arial"/>
            </a:endParaRPr>
          </a:p>
        </p:txBody>
      </p:sp>
      <p:cxnSp>
        <p:nvCxnSpPr>
          <p:cNvPr id="1092" name="Google Shape;1092;p43"/>
          <p:cNvCxnSpPr/>
          <p:nvPr/>
        </p:nvCxnSpPr>
        <p:spPr>
          <a:xfrm>
            <a:off x="4572000" y="1709928"/>
            <a:ext cx="0" cy="137160"/>
          </a:xfrm>
          <a:prstGeom prst="straightConnector1">
            <a:avLst/>
          </a:prstGeom>
          <a:noFill/>
          <a:ln cap="flat" cmpd="sng" w="12700">
            <a:solidFill>
              <a:srgbClr val="6E6E73"/>
            </a:solidFill>
            <a:prstDash val="solid"/>
            <a:round/>
            <a:headEnd len="sm" w="sm" type="none"/>
            <a:tailEnd len="med" w="med" type="triangle"/>
          </a:ln>
        </p:spPr>
      </p:cxnSp>
      <p:sp>
        <p:nvSpPr>
          <p:cNvPr id="1093" name="Google Shape;1093;p43"/>
          <p:cNvSpPr/>
          <p:nvPr/>
        </p:nvSpPr>
        <p:spPr>
          <a:xfrm>
            <a:off x="2743200" y="1847088"/>
            <a:ext cx="365760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4" name="Google Shape;1094;p43"/>
          <p:cNvSpPr txBox="1"/>
          <p:nvPr/>
        </p:nvSpPr>
        <p:spPr>
          <a:xfrm>
            <a:off x="2816352" y="1847088"/>
            <a:ext cx="351129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Upcoming appointment + invalid card?</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Rule 2</a:t>
            </a:r>
            <a:endParaRPr b="0" i="0" spc="0" sz="950" u="none" cap="none" strike="noStrike">
              <a:solidFill>
                <a:srgbClr val="000000"/>
              </a:solidFill>
              <a:latin typeface="Arial"/>
              <a:ea typeface="Arial"/>
              <a:cs typeface="Arial"/>
              <a:sym typeface="Arial"/>
            </a:endParaRPr>
          </a:p>
        </p:txBody>
      </p:sp>
      <p:cxnSp>
        <p:nvCxnSpPr>
          <p:cNvPr id="1095" name="Google Shape;1095;p43"/>
          <p:cNvCxnSpPr/>
          <p:nvPr/>
        </p:nvCxnSpPr>
        <p:spPr>
          <a:xfrm>
            <a:off x="6400800" y="2075688"/>
            <a:ext cx="320040" cy="0"/>
          </a:xfrm>
          <a:prstGeom prst="straightConnector1">
            <a:avLst/>
          </a:prstGeom>
          <a:noFill/>
          <a:ln cap="flat" cmpd="sng" w="12700">
            <a:solidFill>
              <a:srgbClr val="6E6E73"/>
            </a:solidFill>
            <a:prstDash val="solid"/>
            <a:round/>
            <a:headEnd len="sm" w="sm" type="none"/>
            <a:tailEnd len="med" w="med" type="triangle"/>
          </a:ln>
        </p:spPr>
      </p:cxnSp>
      <p:sp>
        <p:nvSpPr>
          <p:cNvPr id="1096" name="Google Shape;1096;p43"/>
          <p:cNvSpPr txBox="1"/>
          <p:nvPr/>
        </p:nvSpPr>
        <p:spPr>
          <a:xfrm>
            <a:off x="6428232" y="187452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097" name="Google Shape;1097;p43"/>
          <p:cNvSpPr/>
          <p:nvPr/>
        </p:nvSpPr>
        <p:spPr>
          <a:xfrm>
            <a:off x="6720840" y="1783080"/>
            <a:ext cx="2011680" cy="594360"/>
          </a:xfrm>
          <a:prstGeom prst="roundRect">
            <a:avLst>
              <a:gd fmla="val 12308" name="adj"/>
            </a:avLst>
          </a:prstGeom>
          <a:solidFill>
            <a:srgbClr val="E4F2E1"/>
          </a:solidFill>
          <a:ln cap="flat" cmpd="sng" w="12700">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8" name="Google Shape;1098;p43"/>
          <p:cNvSpPr txBox="1"/>
          <p:nvPr/>
        </p:nvSpPr>
        <p:spPr>
          <a:xfrm>
            <a:off x="6793992" y="1783080"/>
            <a:ext cx="1865376" cy="5943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2E7D32"/>
                </a:solidFill>
                <a:latin typeface="Play"/>
                <a:ea typeface="Play"/>
                <a:cs typeface="Play"/>
                <a:sym typeface="Play"/>
              </a:rPr>
              <a:t>Advise C to update the card now</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Protect the job</a:t>
            </a:r>
            <a:endParaRPr b="0" i="0" spc="0" sz="950" u="none" cap="none" strike="noStrike">
              <a:solidFill>
                <a:srgbClr val="000000"/>
              </a:solidFill>
              <a:latin typeface="Arial"/>
              <a:ea typeface="Arial"/>
              <a:cs typeface="Arial"/>
              <a:sym typeface="Arial"/>
            </a:endParaRPr>
          </a:p>
        </p:txBody>
      </p:sp>
      <p:cxnSp>
        <p:nvCxnSpPr>
          <p:cNvPr id="1099" name="Google Shape;1099;p43"/>
          <p:cNvCxnSpPr/>
          <p:nvPr/>
        </p:nvCxnSpPr>
        <p:spPr>
          <a:xfrm>
            <a:off x="4572000" y="2304288"/>
            <a:ext cx="0" cy="164592"/>
          </a:xfrm>
          <a:prstGeom prst="straightConnector1">
            <a:avLst/>
          </a:prstGeom>
          <a:noFill/>
          <a:ln cap="flat" cmpd="sng" w="12700">
            <a:solidFill>
              <a:srgbClr val="6E6E73"/>
            </a:solidFill>
            <a:prstDash val="solid"/>
            <a:round/>
            <a:headEnd len="sm" w="sm" type="none"/>
            <a:tailEnd len="med" w="med" type="triangle"/>
          </a:ln>
        </p:spPr>
      </p:cxnSp>
      <p:sp>
        <p:nvSpPr>
          <p:cNvPr id="1100" name="Google Shape;1100;p43"/>
          <p:cNvSpPr txBox="1"/>
          <p:nvPr/>
        </p:nvSpPr>
        <p:spPr>
          <a:xfrm>
            <a:off x="4645152" y="228600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101" name="Google Shape;1101;p43"/>
          <p:cNvSpPr/>
          <p:nvPr/>
        </p:nvSpPr>
        <p:spPr>
          <a:xfrm>
            <a:off x="2743200" y="2468880"/>
            <a:ext cx="365760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2" name="Google Shape;1102;p43"/>
          <p:cNvSpPr txBox="1"/>
          <p:nvPr/>
        </p:nvSpPr>
        <p:spPr>
          <a:xfrm>
            <a:off x="2816352" y="2468880"/>
            <a:ext cx="351129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Unresolved issue on the account?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Rule 1</a:t>
            </a:r>
            <a:endParaRPr b="0" i="0" spc="0" sz="950" u="none" cap="none" strike="noStrike">
              <a:solidFill>
                <a:srgbClr val="000000"/>
              </a:solidFill>
              <a:latin typeface="Arial"/>
              <a:ea typeface="Arial"/>
              <a:cs typeface="Arial"/>
              <a:sym typeface="Arial"/>
            </a:endParaRPr>
          </a:p>
        </p:txBody>
      </p:sp>
      <p:cxnSp>
        <p:nvCxnSpPr>
          <p:cNvPr id="1103" name="Google Shape;1103;p43"/>
          <p:cNvCxnSpPr/>
          <p:nvPr/>
        </p:nvCxnSpPr>
        <p:spPr>
          <a:xfrm>
            <a:off x="2423160" y="2697480"/>
            <a:ext cx="320040" cy="0"/>
          </a:xfrm>
          <a:prstGeom prst="straightConnector1">
            <a:avLst/>
          </a:prstGeom>
          <a:noFill/>
          <a:ln cap="flat" cmpd="sng" w="12700">
            <a:solidFill>
              <a:srgbClr val="6E6E73"/>
            </a:solidFill>
            <a:prstDash val="solid"/>
            <a:round/>
            <a:headEnd len="sm" w="sm" type="none"/>
            <a:tailEnd len="med" w="med" type="triangle"/>
          </a:ln>
        </p:spPr>
      </p:cxnSp>
      <p:sp>
        <p:nvSpPr>
          <p:cNvPr id="1104" name="Google Shape;1104;p43"/>
          <p:cNvSpPr txBox="1"/>
          <p:nvPr/>
        </p:nvSpPr>
        <p:spPr>
          <a:xfrm>
            <a:off x="2450592" y="249631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105" name="Google Shape;1105;p43"/>
          <p:cNvSpPr/>
          <p:nvPr/>
        </p:nvSpPr>
        <p:spPr>
          <a:xfrm>
            <a:off x="411480" y="2377440"/>
            <a:ext cx="2011680" cy="640080"/>
          </a:xfrm>
          <a:prstGeom prst="roundRect">
            <a:avLst>
              <a:gd fmla="val 11429" name="adj"/>
            </a:avLst>
          </a:prstGeom>
          <a:solidFill>
            <a:srgbClr val="FCEBEA"/>
          </a:solidFill>
          <a:ln cap="flat" cmpd="sng" w="12700">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6" name="Google Shape;1106;p43"/>
          <p:cNvSpPr txBox="1"/>
          <p:nvPr/>
        </p:nvSpPr>
        <p:spPr>
          <a:xfrm>
            <a:off x="484632" y="2377440"/>
            <a:ext cx="1865376"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Resolve the issue first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No card talk, no update link yet</a:t>
            </a:r>
            <a:endParaRPr b="0" i="0" spc="0" sz="950" u="none" cap="none" strike="noStrike">
              <a:solidFill>
                <a:srgbClr val="000000"/>
              </a:solidFill>
              <a:latin typeface="Arial"/>
              <a:ea typeface="Arial"/>
              <a:cs typeface="Arial"/>
              <a:sym typeface="Arial"/>
            </a:endParaRPr>
          </a:p>
        </p:txBody>
      </p:sp>
      <p:cxnSp>
        <p:nvCxnSpPr>
          <p:cNvPr id="1107" name="Google Shape;1107;p43"/>
          <p:cNvCxnSpPr/>
          <p:nvPr/>
        </p:nvCxnSpPr>
        <p:spPr>
          <a:xfrm>
            <a:off x="4572000" y="2926080"/>
            <a:ext cx="0" cy="164592"/>
          </a:xfrm>
          <a:prstGeom prst="straightConnector1">
            <a:avLst/>
          </a:prstGeom>
          <a:noFill/>
          <a:ln cap="flat" cmpd="sng" w="12700">
            <a:solidFill>
              <a:srgbClr val="6E6E73"/>
            </a:solidFill>
            <a:prstDash val="solid"/>
            <a:round/>
            <a:headEnd len="sm" w="sm" type="none"/>
            <a:tailEnd len="med" w="med" type="triangle"/>
          </a:ln>
        </p:spPr>
      </p:cxnSp>
      <p:sp>
        <p:nvSpPr>
          <p:cNvPr id="1108" name="Google Shape;1108;p43"/>
          <p:cNvSpPr txBox="1"/>
          <p:nvPr/>
        </p:nvSpPr>
        <p:spPr>
          <a:xfrm>
            <a:off x="4645152" y="2907792"/>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109" name="Google Shape;1109;p43"/>
          <p:cNvSpPr/>
          <p:nvPr/>
        </p:nvSpPr>
        <p:spPr>
          <a:xfrm>
            <a:off x="2743200" y="3090672"/>
            <a:ext cx="3657600" cy="502920"/>
          </a:xfrm>
          <a:prstGeom prst="roundRect">
            <a:avLst>
              <a:gd fmla="val 14545" name="adj"/>
            </a:avLst>
          </a:prstGeom>
          <a:solidFill>
            <a:srgbClr val="E3F4F1"/>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0" name="Google Shape;1110;p43"/>
          <p:cNvSpPr txBox="1"/>
          <p:nvPr/>
        </p:nvSpPr>
        <p:spPr>
          <a:xfrm>
            <a:off x="2816352" y="3090672"/>
            <a:ext cx="351129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OK to bring up the card / payment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Then: Offer Logic › Free Months (Job 2)</a:t>
            </a:r>
            <a:endParaRPr b="0" i="0" spc="0" sz="950" u="none" cap="none" strike="noStrike">
              <a:solidFill>
                <a:srgbClr val="000000"/>
              </a:solidFill>
              <a:latin typeface="Arial"/>
              <a:ea typeface="Arial"/>
              <a:cs typeface="Arial"/>
              <a:sym typeface="Arial"/>
            </a:endParaRPr>
          </a:p>
        </p:txBody>
      </p:sp>
      <p:sp>
        <p:nvSpPr>
          <p:cNvPr id="1111" name="Google Shape;1111;p43"/>
          <p:cNvSpPr/>
          <p:nvPr/>
        </p:nvSpPr>
        <p:spPr>
          <a:xfrm>
            <a:off x="411480" y="3749040"/>
            <a:ext cx="8321040" cy="731520"/>
          </a:xfrm>
          <a:prstGeom prst="roundRect">
            <a:avLst>
              <a:gd fmla="val 10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2" name="Google Shape;1112;p43"/>
          <p:cNvSpPr txBox="1"/>
          <p:nvPr/>
        </p:nvSpPr>
        <p:spPr>
          <a:xfrm>
            <a:off x="594360" y="3749040"/>
            <a:ext cx="795528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"Resolved" means:  </a:t>
            </a:r>
            <a:r>
              <a:rPr b="0" i="0" lang="en-US" spc="0" sz="950" u="none" cap="none" strike="noStrike">
                <a:solidFill>
                  <a:srgbClr val="1D1D1F"/>
                </a:solidFill>
                <a:latin typeface="Arial"/>
                <a:ea typeface="Arial"/>
                <a:cs typeface="Arial"/>
                <a:sym typeface="Arial"/>
              </a:rPr>
              <a:t>we did what C asked, or C explicitly accepted our resolution. Neither? It's still open.</a:t>
            </a:r>
            <a:endParaRPr b="0" i="0" spc="0" sz="95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Example:  </a:t>
            </a:r>
            <a:r>
              <a:rPr b="0" i="0" lang="en-US" spc="0" sz="950" u="none" cap="none" strike="noStrike">
                <a:solidFill>
                  <a:srgbClr val="6E6E73"/>
                </a:solidFill>
                <a:latin typeface="Arial"/>
                <a:ea typeface="Arial"/>
                <a:cs typeface="Arial"/>
                <a:sym typeface="Arial"/>
              </a:rPr>
              <a:t>PCQ complaint + failed job charge: handle the PCQ first, the card after.</a:t>
            </a:r>
            <a:endParaRPr b="0" i="0" spc="0" sz="950" u="none" cap="none" strike="noStrike">
              <a:solidFill>
                <a:srgbClr val="000000"/>
              </a:solidFill>
              <a:latin typeface="Arial"/>
              <a:ea typeface="Arial"/>
              <a:cs typeface="Arial"/>
              <a:sym typeface="Arial"/>
            </a:endParaRPr>
          </a:p>
        </p:txBody>
      </p:sp>
      <p:sp>
        <p:nvSpPr>
          <p:cNvPr id="1113" name="Google Shape;111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114" name="Google Shape;1114;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9" name="Shape 1119"/>
        <p:cNvGrpSpPr/>
        <p:nvPr/>
      </p:nvGrpSpPr>
      <p:grpSpPr>
        <a:xfrm>
          <a:off x="0" y="0"/>
          <a:ext cx="0" cy="0"/>
          <a:chOff x="0" y="0"/>
          <a:chExt cx="0" cy="0"/>
        </a:xfrm>
      </p:grpSpPr>
      <p:sp>
        <p:nvSpPr>
          <p:cNvPr id="1120" name="Google Shape;1120;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  ·  KNOWLEDGE CHECK</a:t>
            </a:r>
            <a:endParaRPr b="0" i="0" spc="0" sz="800" u="none" cap="none" strike="noStrike">
              <a:solidFill>
                <a:srgbClr val="000000"/>
              </a:solidFill>
              <a:latin typeface="Arial"/>
              <a:ea typeface="Arial"/>
              <a:cs typeface="Arial"/>
              <a:sym typeface="Arial"/>
            </a:endParaRPr>
          </a:p>
        </p:txBody>
      </p:sp>
      <p:sp>
        <p:nvSpPr>
          <p:cNvPr id="1121" name="Google Shape;1121;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rgbClr val="000000"/>
              </a:solidFill>
              <a:latin typeface="Arial"/>
              <a:ea typeface="Arial"/>
              <a:cs typeface="Arial"/>
              <a:sym typeface="Arial"/>
            </a:endParaRPr>
          </a:p>
        </p:txBody>
      </p:sp>
      <p:sp>
        <p:nvSpPr>
          <p:cNvPr id="1122" name="Google Shape;1122;p4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3" name="Google Shape;1123;p4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4" name="Google Shape;1124;p4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125" name="Google Shape;1125;p4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PCQ complaint still open + failed job charge. Ask C to update their card?</a:t>
            </a:r>
            <a:endParaRPr b="0" i="0" spc="0" sz="1000" u="none" cap="none" strike="noStrike">
              <a:solidFill>
                <a:srgbClr val="000000"/>
              </a:solidFill>
              <a:latin typeface="Arial"/>
              <a:ea typeface="Arial"/>
              <a:cs typeface="Arial"/>
              <a:sym typeface="Arial"/>
            </a:endParaRPr>
          </a:p>
        </p:txBody>
      </p:sp>
      <p:sp>
        <p:nvSpPr>
          <p:cNvPr id="1126" name="Google Shape;1126;p4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7" name="Google Shape;1127;p4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Resolve the PCQ first, then bring up the card.</a:t>
            </a:r>
            <a:endParaRPr b="0" i="0" spc="0" sz="900" u="none" cap="none" strike="noStrike">
              <a:solidFill>
                <a:srgbClr val="000000"/>
              </a:solidFill>
              <a:latin typeface="Arial"/>
              <a:ea typeface="Arial"/>
              <a:cs typeface="Arial"/>
              <a:sym typeface="Arial"/>
            </a:endParaRPr>
          </a:p>
        </p:txBody>
      </p:sp>
      <p:sp>
        <p:nvSpPr>
          <p:cNvPr id="1128" name="Google Shape;1128;p4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9" name="Google Shape;1129;p4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0" name="Google Shape;1130;p4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131" name="Google Shape;1131;p4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What counts as "resolved"?</a:t>
            </a:r>
            <a:endParaRPr b="0" i="0" spc="0" sz="1000" u="none" cap="none" strike="noStrike">
              <a:solidFill>
                <a:srgbClr val="000000"/>
              </a:solidFill>
              <a:latin typeface="Arial"/>
              <a:ea typeface="Arial"/>
              <a:cs typeface="Arial"/>
              <a:sym typeface="Arial"/>
            </a:endParaRPr>
          </a:p>
        </p:txBody>
      </p:sp>
      <p:sp>
        <p:nvSpPr>
          <p:cNvPr id="1132" name="Google Shape;1132;p4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3" name="Google Shape;1133;p4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We did what C asked, or C explicitly accepted our resolution.</a:t>
            </a:r>
            <a:endParaRPr b="0" i="0" spc="0" sz="900" u="none" cap="none" strike="noStrike">
              <a:solidFill>
                <a:srgbClr val="000000"/>
              </a:solidFill>
              <a:latin typeface="Arial"/>
              <a:ea typeface="Arial"/>
              <a:cs typeface="Arial"/>
              <a:sym typeface="Arial"/>
            </a:endParaRPr>
          </a:p>
        </p:txBody>
      </p:sp>
      <p:sp>
        <p:nvSpPr>
          <p:cNvPr id="1134" name="Google Shape;1134;p4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5" name="Google Shape;1135;p4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6" name="Google Shape;1136;p4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137" name="Google Shape;1137;p4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Open complaint, but C has a cleaning tomorrow and an invalid card. Raise it?</a:t>
            </a:r>
            <a:endParaRPr b="0" i="0" spc="0" sz="1000" u="none" cap="none" strike="noStrike">
              <a:solidFill>
                <a:srgbClr val="000000"/>
              </a:solidFill>
              <a:latin typeface="Arial"/>
              <a:ea typeface="Arial"/>
              <a:cs typeface="Arial"/>
              <a:sym typeface="Arial"/>
            </a:endParaRPr>
          </a:p>
        </p:txBody>
      </p:sp>
      <p:sp>
        <p:nvSpPr>
          <p:cNvPr id="1138" name="Google Shape;1138;p4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9" name="Google Shape;1139;p4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Yes. Rule 2: protecting the upcoming job takes priority.</a:t>
            </a:r>
            <a:endParaRPr b="0" i="0" spc="0" sz="900" u="none" cap="none" strike="noStrike">
              <a:solidFill>
                <a:srgbClr val="000000"/>
              </a:solidFill>
              <a:latin typeface="Arial"/>
              <a:ea typeface="Arial"/>
              <a:cs typeface="Arial"/>
              <a:sym typeface="Arial"/>
            </a:endParaRPr>
          </a:p>
        </p:txBody>
      </p:sp>
      <p:sp>
        <p:nvSpPr>
          <p:cNvPr id="1140" name="Google Shape;1140;p4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1" name="Google Shape;1141;p4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2" name="Google Shape;1142;p4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1143" name="Google Shape;1143;p4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Where do you check how many overdue MFs to bring current?</a:t>
            </a:r>
            <a:endParaRPr b="0" i="0" spc="0" sz="1000" u="none" cap="none" strike="noStrike">
              <a:solidFill>
                <a:srgbClr val="000000"/>
              </a:solidFill>
              <a:latin typeface="Arial"/>
              <a:ea typeface="Arial"/>
              <a:cs typeface="Arial"/>
              <a:sym typeface="Arial"/>
            </a:endParaRPr>
          </a:p>
        </p:txBody>
      </p:sp>
      <p:sp>
        <p:nvSpPr>
          <p:cNvPr id="1144" name="Google Shape;1144;p4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5" name="Google Shape;1145;p4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Understanding Offer Logic › Free Months (Job 2).</a:t>
            </a:r>
            <a:endParaRPr b="0" i="0" spc="0" sz="900" u="none" cap="none" strike="noStrike">
              <a:solidFill>
                <a:srgbClr val="000000"/>
              </a:solidFill>
              <a:latin typeface="Arial"/>
              <a:ea typeface="Arial"/>
              <a:cs typeface="Arial"/>
              <a:sym typeface="Arial"/>
            </a:endParaRPr>
          </a:p>
        </p:txBody>
      </p:sp>
      <p:sp>
        <p:nvSpPr>
          <p:cNvPr id="1146" name="Google Shape;1146;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147" name="Google Shape;1147;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27"/>
                                        </p:tgtEl>
                                        <p:attrNameLst>
                                          <p:attrName>style.visibility</p:attrName>
                                        </p:attrNameLst>
                                      </p:cBhvr>
                                      <p:to>
                                        <p:strVal val="visible"/>
                                      </p:to>
                                    </p:set>
                                    <p:animEffect filter="fade" transition="in">
                                      <p:cBhvr>
                                        <p:cTn dur="600"/>
                                        <p:tgtEl>
                                          <p:spTgt spid="112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33"/>
                                        </p:tgtEl>
                                        <p:attrNameLst>
                                          <p:attrName>style.visibility</p:attrName>
                                        </p:attrNameLst>
                                      </p:cBhvr>
                                      <p:to>
                                        <p:strVal val="visible"/>
                                      </p:to>
                                    </p:set>
                                    <p:animEffect filter="fade" transition="in">
                                      <p:cBhvr>
                                        <p:cTn dur="600"/>
                                        <p:tgtEl>
                                          <p:spTgt spid="113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39"/>
                                        </p:tgtEl>
                                        <p:attrNameLst>
                                          <p:attrName>style.visibility</p:attrName>
                                        </p:attrNameLst>
                                      </p:cBhvr>
                                      <p:to>
                                        <p:strVal val="visible"/>
                                      </p:to>
                                    </p:set>
                                    <p:animEffect filter="fade" transition="in">
                                      <p:cBhvr>
                                        <p:cTn dur="600"/>
                                        <p:tgtEl>
                                          <p:spTgt spid="11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145"/>
                                        </p:tgtEl>
                                        <p:attrNameLst>
                                          <p:attrName>style.visibility</p:attrName>
                                        </p:attrNameLst>
                                      </p:cBhvr>
                                      <p:to>
                                        <p:strVal val="visible"/>
                                      </p:to>
                                    </p:set>
                                    <p:animEffect filter="fade" transition="in">
                                      <p:cBhvr>
                                        <p:cTn dur="600"/>
                                        <p:tgtEl>
                                          <p:spTgt spid="114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2" name="Shape 1152"/>
        <p:cNvGrpSpPr/>
        <p:nvPr/>
      </p:nvGrpSpPr>
      <p:grpSpPr>
        <a:xfrm>
          <a:off x="0" y="0"/>
          <a:ext cx="0" cy="0"/>
          <a:chOff x="0" y="0"/>
          <a:chExt cx="0" cy="0"/>
        </a:xfrm>
      </p:grpSpPr>
      <p:sp>
        <p:nvSpPr>
          <p:cNvPr id="1153" name="Google Shape;1153;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FAILED CHARGE / OVERDUE MF  ·  PRACTICE</a:t>
            </a:r>
            <a:endParaRPr b="0" i="0" spc="0" sz="800" u="none" cap="none" strike="noStrike">
              <a:solidFill>
                <a:srgbClr val="000000"/>
              </a:solidFill>
              <a:latin typeface="Arial"/>
              <a:ea typeface="Arial"/>
              <a:cs typeface="Arial"/>
              <a:sym typeface="Arial"/>
            </a:endParaRPr>
          </a:p>
        </p:txBody>
      </p:sp>
      <p:sp>
        <p:nvSpPr>
          <p:cNvPr id="1154" name="Google Shape;1154;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rgbClr val="000000"/>
              </a:solidFill>
              <a:latin typeface="Arial"/>
              <a:ea typeface="Arial"/>
              <a:cs typeface="Arial"/>
              <a:sym typeface="Arial"/>
            </a:endParaRPr>
          </a:p>
        </p:txBody>
      </p:sp>
      <p:sp>
        <p:nvSpPr>
          <p:cNvPr id="1155" name="Google Shape;1155;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rgbClr val="000000"/>
              </a:solidFill>
              <a:latin typeface="Arial"/>
              <a:ea typeface="Arial"/>
              <a:cs typeface="Arial"/>
              <a:sym typeface="Arial"/>
            </a:endParaRPr>
          </a:p>
        </p:txBody>
      </p:sp>
      <p:sp>
        <p:nvSpPr>
          <p:cNvPr id="1156" name="Google Shape;1156;p4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7" name="Google Shape;1157;p4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58" name="Google Shape;1158;p4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159" name="Google Shape;1159;p4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rgbClr val="000000"/>
              </a:solidFill>
              <a:latin typeface="Arial"/>
              <a:ea typeface="Arial"/>
              <a:cs typeface="Arial"/>
              <a:sym typeface="Arial"/>
            </a:endParaRPr>
          </a:p>
        </p:txBody>
      </p:sp>
      <p:sp>
        <p:nvSpPr>
          <p:cNvPr id="1160" name="Google Shape;1160;p4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rgbClr val="000000"/>
              </a:solidFill>
              <a:latin typeface="Arial"/>
              <a:ea typeface="Arial"/>
              <a:cs typeface="Arial"/>
              <a:sym typeface="Arial"/>
            </a:endParaRPr>
          </a:p>
        </p:txBody>
      </p:sp>
      <p:sp>
        <p:nvSpPr>
          <p:cNvPr id="1161" name="Google Shape;1161;p4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rgbClr val="000000"/>
              </a:solidFill>
              <a:latin typeface="Arial"/>
              <a:ea typeface="Arial"/>
              <a:cs typeface="Arial"/>
              <a:sym typeface="Arial"/>
            </a:endParaRPr>
          </a:p>
        </p:txBody>
      </p:sp>
      <p:sp>
        <p:nvSpPr>
          <p:cNvPr id="1162" name="Google Shape;1162;p4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3" name="Google Shape;1163;p4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4" name="Google Shape;1164;p4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165" name="Google Shape;1165;p4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Is there an upcoming job + invalid card?</a:t>
            </a:r>
            <a:endParaRPr b="0" i="0" spc="0" sz="1250" u="none" cap="none" strike="noStrike">
              <a:solidFill>
                <a:srgbClr val="000000"/>
              </a:solidFill>
              <a:latin typeface="Arial"/>
              <a:ea typeface="Arial"/>
              <a:cs typeface="Arial"/>
              <a:sym typeface="Arial"/>
            </a:endParaRPr>
          </a:p>
        </p:txBody>
      </p:sp>
      <p:sp>
        <p:nvSpPr>
          <p:cNvPr id="1166" name="Google Shape;1166;p4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Rule 2 comes first.</a:t>
            </a:r>
            <a:endParaRPr b="0" i="0" spc="0" sz="1000" u="none" cap="none" strike="noStrike">
              <a:solidFill>
                <a:srgbClr val="000000"/>
              </a:solidFill>
              <a:latin typeface="Arial"/>
              <a:ea typeface="Arial"/>
              <a:cs typeface="Arial"/>
              <a:sym typeface="Arial"/>
            </a:endParaRPr>
          </a:p>
        </p:txBody>
      </p:sp>
      <p:sp>
        <p:nvSpPr>
          <p:cNvPr id="1167" name="Google Shape;1167;p4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9" name="Google Shape;1169;p4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170" name="Google Shape;1170;p4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Is an issue still unresolved?</a:t>
            </a:r>
            <a:endParaRPr b="0" i="0" spc="0" sz="1250" u="none" cap="none" strike="noStrike">
              <a:solidFill>
                <a:srgbClr val="000000"/>
              </a:solidFill>
              <a:latin typeface="Arial"/>
              <a:ea typeface="Arial"/>
              <a:cs typeface="Arial"/>
              <a:sym typeface="Arial"/>
            </a:endParaRPr>
          </a:p>
        </p:txBody>
      </p:sp>
      <p:sp>
        <p:nvSpPr>
          <p:cNvPr id="1171" name="Google Shape;1171;p4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Did we do what C asked, or did C accept?</a:t>
            </a:r>
            <a:endParaRPr b="0" i="0" spc="0" sz="1000" u="none" cap="none" strike="noStrike">
              <a:solidFill>
                <a:srgbClr val="000000"/>
              </a:solidFill>
              <a:latin typeface="Arial"/>
              <a:ea typeface="Arial"/>
              <a:cs typeface="Arial"/>
              <a:sym typeface="Arial"/>
            </a:endParaRPr>
          </a:p>
        </p:txBody>
      </p:sp>
      <p:sp>
        <p:nvSpPr>
          <p:cNvPr id="1172" name="Google Shape;1172;p4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3" name="Google Shape;1173;p4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175" name="Google Shape;1175;p4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rgbClr val="000000"/>
              </a:solidFill>
              <a:latin typeface="Arial"/>
              <a:ea typeface="Arial"/>
              <a:cs typeface="Arial"/>
              <a:sym typeface="Arial"/>
            </a:endParaRPr>
          </a:p>
        </p:txBody>
      </p:sp>
      <p:sp>
        <p:nvSpPr>
          <p:cNvPr id="1176" name="Google Shape;1176;p4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And when do you raise the payment?</a:t>
            </a:r>
            <a:endParaRPr b="0" i="0" spc="0" sz="1000" u="none" cap="none" strike="noStrike">
              <a:solidFill>
                <a:srgbClr val="000000"/>
              </a:solidFill>
              <a:latin typeface="Arial"/>
              <a:ea typeface="Arial"/>
              <a:cs typeface="Arial"/>
              <a:sym typeface="Arial"/>
            </a:endParaRPr>
          </a:p>
        </p:txBody>
      </p:sp>
      <p:sp>
        <p:nvSpPr>
          <p:cNvPr id="1177" name="Google Shape;1177;p4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8" name="Google Shape;1178;p4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179" name="Google Shape;1179;p4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rgbClr val="000000"/>
              </a:solidFill>
              <a:latin typeface="Arial"/>
              <a:ea typeface="Arial"/>
              <a:cs typeface="Arial"/>
              <a:sym typeface="Arial"/>
            </a:endParaRPr>
          </a:p>
        </p:txBody>
      </p:sp>
      <p:sp>
        <p:nvSpPr>
          <p:cNvPr id="1180" name="Google Shape;1180;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181" name="Google Shape;1181;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6" name="Shape 1186"/>
        <p:cNvGrpSpPr/>
        <p:nvPr/>
      </p:nvGrpSpPr>
      <p:grpSpPr>
        <a:xfrm>
          <a:off x="0" y="0"/>
          <a:ext cx="0" cy="0"/>
          <a:chOff x="0" y="0"/>
          <a:chExt cx="0" cy="0"/>
        </a:xfrm>
      </p:grpSpPr>
      <p:sp>
        <p:nvSpPr>
          <p:cNvPr id="1187" name="Google Shape;1187;p4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rgbClr val="000000"/>
              </a:solidFill>
              <a:latin typeface="Arial"/>
              <a:ea typeface="Arial"/>
              <a:cs typeface="Arial"/>
              <a:sym typeface="Arial"/>
            </a:endParaRPr>
          </a:p>
        </p:txBody>
      </p:sp>
      <p:sp>
        <p:nvSpPr>
          <p:cNvPr id="1188" name="Google Shape;1188;p4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2800"/>
              <a:buFont typeface="Arial"/>
              <a:buNone/>
            </a:pPr>
            <a:r>
              <a:rPr b="1" i="0" lang="en-US" spc="0" sz="2800" u="none" cap="none" strike="noStrike">
                <a:solidFill>
                  <a:srgbClr val="1D1D1F"/>
                </a:solidFill>
                <a:latin typeface="Play"/>
                <a:ea typeface="Play"/>
                <a:cs typeface="Play"/>
                <a:sym typeface="Play"/>
              </a:rPr>
              <a:t>Graceful Closure</a:t>
            </a:r>
            <a:endParaRPr b="0" i="0" spc="0" sz="2800" u="none" cap="none" strike="noStrike">
              <a:solidFill>
                <a:srgbClr val="000000"/>
              </a:solidFill>
              <a:latin typeface="Arial"/>
              <a:ea typeface="Arial"/>
              <a:cs typeface="Arial"/>
              <a:sym typeface="Arial"/>
            </a:endParaRPr>
          </a:p>
        </p:txBody>
      </p:sp>
      <p:sp>
        <p:nvSpPr>
          <p:cNvPr id="1189" name="Google Shape;1189;p4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0" i="0" lang="en-US" spc="0" sz="1150" u="none" cap="none" strike="noStrike">
                <a:solidFill>
                  <a:srgbClr val="6E6E73"/>
                </a:solidFill>
                <a:latin typeface="Arial"/>
                <a:ea typeface="Arial"/>
                <a:cs typeface="Arial"/>
                <a:sym typeface="Arial"/>
              </a:rPr>
              <a:t>When the answer is no, and C keeps pushing.</a:t>
            </a:r>
            <a:endParaRPr b="0" i="0" spc="0" sz="1150" u="none" cap="none" strike="noStrike">
              <a:solidFill>
                <a:srgbClr val="000000"/>
              </a:solidFill>
              <a:latin typeface="Arial"/>
              <a:ea typeface="Arial"/>
              <a:cs typeface="Arial"/>
              <a:sym typeface="Arial"/>
            </a:endParaRPr>
          </a:p>
        </p:txBody>
      </p:sp>
      <p:sp>
        <p:nvSpPr>
          <p:cNvPr id="1190" name="Google Shape;1190;p4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rgbClr val="000000"/>
              </a:solidFill>
              <a:latin typeface="Arial"/>
              <a:ea typeface="Arial"/>
              <a:cs typeface="Arial"/>
              <a:sym typeface="Arial"/>
            </a:endParaRPr>
          </a:p>
        </p:txBody>
      </p:sp>
      <p:sp>
        <p:nvSpPr>
          <p:cNvPr id="1191" name="Google Shape;1191;p4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92" name="Google Shape;1192;p4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193" name="Google Shape;1193;p4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The two entry-gate questions</a:t>
            </a:r>
            <a:endParaRPr b="0" i="0" spc="0" sz="1050" u="none" cap="none" strike="noStrike">
              <a:solidFill>
                <a:srgbClr val="000000"/>
              </a:solidFill>
              <a:latin typeface="Arial"/>
              <a:ea typeface="Arial"/>
              <a:cs typeface="Arial"/>
              <a:sym typeface="Arial"/>
            </a:endParaRPr>
          </a:p>
        </p:txBody>
      </p:sp>
      <p:sp>
        <p:nvSpPr>
          <p:cNvPr id="1194" name="Google Shape;1194;p4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95" name="Google Shape;1195;p4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196" name="Google Shape;1196;p4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The 4 steps</a:t>
            </a:r>
            <a:endParaRPr b="0" i="0" spc="0" sz="1050" u="none" cap="none" strike="noStrike">
              <a:solidFill>
                <a:srgbClr val="000000"/>
              </a:solidFill>
              <a:latin typeface="Arial"/>
              <a:ea typeface="Arial"/>
              <a:cs typeface="Arial"/>
              <a:sym typeface="Arial"/>
            </a:endParaRPr>
          </a:p>
        </p:txBody>
      </p:sp>
      <p:sp>
        <p:nvSpPr>
          <p:cNvPr id="1197" name="Google Shape;1197;p4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98" name="Google Shape;1198;p4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199" name="Google Shape;1199;p4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The No Re-Opening Rule</a:t>
            </a:r>
            <a:endParaRPr b="0" i="0" spc="0" sz="1050" u="none" cap="none" strike="noStrike">
              <a:solidFill>
                <a:srgbClr val="000000"/>
              </a:solidFill>
              <a:latin typeface="Arial"/>
              <a:ea typeface="Arial"/>
              <a:cs typeface="Arial"/>
              <a:sym typeface="Arial"/>
            </a:endParaRPr>
          </a:p>
        </p:txBody>
      </p:sp>
      <p:sp>
        <p:nvSpPr>
          <p:cNvPr id="1200" name="Google Shape;1200;p4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1" name="Google Shape;1201;p4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202" name="Google Shape;1202;p4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When to stop: legal threats and ETF waivers</a:t>
            </a:r>
            <a:endParaRPr b="0" i="0" spc="0" sz="1050" u="none" cap="none" strike="noStrike">
              <a:solidFill>
                <a:srgbClr val="000000"/>
              </a:solidFill>
              <a:latin typeface="Arial"/>
              <a:ea typeface="Arial"/>
              <a:cs typeface="Arial"/>
              <a:sym typeface="Arial"/>
            </a:endParaRPr>
          </a:p>
        </p:txBody>
      </p:sp>
      <p:sp>
        <p:nvSpPr>
          <p:cNvPr id="1203" name="Google Shape;1203;p4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9.png" id="1205" name="Google Shape;1205;p46"/>
          <p:cNvPicPr preferRelativeResize="0"/>
          <p:nvPr/>
        </p:nvPicPr>
        <p:blipFill rotWithShape="1">
          <a:blip r:embed="rId4">
            <a:alphaModFix/>
          </a:blip>
          <a:srcRect b="0" l="0" r="0" t="0"/>
          <a:stretch/>
        </p:blipFill>
        <p:spPr>
          <a:xfrm>
            <a:off x="5541264" y="1695208"/>
            <a:ext cx="2926080" cy="1748511"/>
          </a:xfrm>
          <a:prstGeom prst="rect">
            <a:avLst/>
          </a:prstGeom>
          <a:noFill/>
          <a:ln>
            <a:noFill/>
          </a:ln>
        </p:spPr>
      </p:pic>
      <p:sp>
        <p:nvSpPr>
          <p:cNvPr id="1206" name="Google Shape;1206;p4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7" name="Google Shape;1207;p4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9" name="Google Shape;1209;p4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0" name="Google Shape;1210;p4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1" name="Google Shape;1211;p4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213" name="Google Shape;1213;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8" name="Shape 1218"/>
        <p:cNvGrpSpPr/>
        <p:nvPr/>
      </p:nvGrpSpPr>
      <p:grpSpPr>
        <a:xfrm>
          <a:off x="0" y="0"/>
          <a:ext cx="0" cy="0"/>
          <a:chOff x="0" y="0"/>
          <a:chExt cx="0" cy="0"/>
        </a:xfrm>
      </p:grpSpPr>
      <p:sp>
        <p:nvSpPr>
          <p:cNvPr id="1219" name="Google Shape;1219;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220" name="Google Shape;1220;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rgbClr val="000000"/>
              </a:solidFill>
              <a:latin typeface="Arial"/>
              <a:ea typeface="Arial"/>
              <a:cs typeface="Arial"/>
              <a:sym typeface="Arial"/>
            </a:endParaRPr>
          </a:p>
        </p:txBody>
      </p:sp>
      <p:sp>
        <p:nvSpPr>
          <p:cNvPr id="1221" name="Google Shape;1221;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The last step, once C has heard the final answer and keeps pushing.</a:t>
            </a:r>
            <a:endParaRPr b="0" i="0" spc="0" sz="1200" u="none" cap="none" strike="noStrike">
              <a:solidFill>
                <a:srgbClr val="000000"/>
              </a:solidFill>
              <a:latin typeface="Arial"/>
              <a:ea typeface="Arial"/>
              <a:cs typeface="Arial"/>
              <a:sym typeface="Arial"/>
            </a:endParaRPr>
          </a:p>
        </p:txBody>
      </p:sp>
      <p:sp>
        <p:nvSpPr>
          <p:cNvPr id="1222" name="Google Shape;1222;p47"/>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3" name="Google Shape;1223;p47"/>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4" name="Google Shape;1224;p47"/>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225" name="Google Shape;1225;p47"/>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The last step</a:t>
            </a:r>
            <a:endParaRPr b="0" i="0" spc="0" sz="1200" u="none" cap="none" strike="noStrike">
              <a:solidFill>
                <a:srgbClr val="000000"/>
              </a:solidFill>
              <a:latin typeface="Arial"/>
              <a:ea typeface="Arial"/>
              <a:cs typeface="Arial"/>
              <a:sym typeface="Arial"/>
            </a:endParaRPr>
          </a:p>
        </p:txBody>
      </p:sp>
      <p:sp>
        <p:nvSpPr>
          <p:cNvPr id="1226" name="Google Shape;1226;p47"/>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Not an easy out, and not after the first pushback.</a:t>
            </a:r>
            <a:endParaRPr b="0" i="0" spc="0" sz="950" u="none" cap="none" strike="noStrike">
              <a:solidFill>
                <a:srgbClr val="000000"/>
              </a:solidFill>
              <a:latin typeface="Arial"/>
              <a:ea typeface="Arial"/>
              <a:cs typeface="Arial"/>
              <a:sym typeface="Arial"/>
            </a:endParaRPr>
          </a:p>
        </p:txBody>
      </p:sp>
      <p:sp>
        <p:nvSpPr>
          <p:cNvPr id="1227" name="Google Shape;1227;p47"/>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8" name="Google Shape;1228;p47"/>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9" name="Google Shape;1229;p47"/>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230" name="Google Shape;1230;p47"/>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A one-way door</a:t>
            </a:r>
            <a:endParaRPr b="0" i="0" spc="0" sz="1200" u="none" cap="none" strike="noStrike">
              <a:solidFill>
                <a:srgbClr val="000000"/>
              </a:solidFill>
              <a:latin typeface="Arial"/>
              <a:ea typeface="Arial"/>
              <a:cs typeface="Arial"/>
              <a:sym typeface="Arial"/>
            </a:endParaRPr>
          </a:p>
        </p:txBody>
      </p:sp>
      <p:sp>
        <p:nvSpPr>
          <p:cNvPr id="1231" name="Google Shape;1231;p47"/>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Once you're in it: no re-opening, no new concessions.</a:t>
            </a:r>
            <a:endParaRPr b="0" i="0" spc="0" sz="950" u="none" cap="none" strike="noStrike">
              <a:solidFill>
                <a:srgbClr val="000000"/>
              </a:solidFill>
              <a:latin typeface="Arial"/>
              <a:ea typeface="Arial"/>
              <a:cs typeface="Arial"/>
              <a:sym typeface="Arial"/>
            </a:endParaRPr>
          </a:p>
        </p:txBody>
      </p:sp>
      <p:sp>
        <p:nvSpPr>
          <p:cNvPr id="1232" name="Google Shape;1232;p47"/>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3" name="Google Shape;1233;p47"/>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4" name="Google Shape;1234;p47"/>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235" name="Google Shape;1235;p47"/>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Calm and clear</a:t>
            </a:r>
            <a:endParaRPr b="0" i="0" spc="0" sz="1200" u="none" cap="none" strike="noStrike">
              <a:solidFill>
                <a:srgbClr val="000000"/>
              </a:solidFill>
              <a:latin typeface="Arial"/>
              <a:ea typeface="Arial"/>
              <a:cs typeface="Arial"/>
              <a:sym typeface="Arial"/>
            </a:endParaRPr>
          </a:p>
        </p:txBody>
      </p:sp>
      <p:sp>
        <p:nvSpPr>
          <p:cNvPr id="1236" name="Google Shape;1236;p47"/>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6E6E73"/>
                </a:solidFill>
                <a:latin typeface="Arial"/>
                <a:ea typeface="Arial"/>
                <a:cs typeface="Arial"/>
                <a:sym typeface="Arial"/>
              </a:rPr>
              <a:t>Restate, acknowledge, set expectations, close professionally.</a:t>
            </a:r>
            <a:endParaRPr b="0" i="0" spc="0" sz="950" u="none" cap="none" strike="noStrike">
              <a:solidFill>
                <a:srgbClr val="000000"/>
              </a:solidFill>
              <a:latin typeface="Arial"/>
              <a:ea typeface="Arial"/>
              <a:cs typeface="Arial"/>
              <a:sym typeface="Arial"/>
            </a:endParaRPr>
          </a:p>
        </p:txBody>
      </p:sp>
      <p:sp>
        <p:nvSpPr>
          <p:cNvPr id="1237" name="Google Shape;1237;p47"/>
          <p:cNvSpPr/>
          <p:nvPr/>
        </p:nvSpPr>
        <p:spPr>
          <a:xfrm>
            <a:off x="411480" y="315468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8" name="Google Shape;1238;p47"/>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1239" name="Google Shape;1239;p47"/>
          <p:cNvSpPr txBox="1"/>
          <p:nvPr/>
        </p:nvSpPr>
        <p:spPr>
          <a:xfrm>
            <a:off x="822960" y="315468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B3261E"/>
                </a:solidFill>
                <a:latin typeface="Arial"/>
                <a:ea typeface="Arial"/>
                <a:cs typeface="Arial"/>
                <a:sym typeface="Arial"/>
              </a:rPr>
              <a:t>Two bad ways:  </a:t>
            </a:r>
            <a:r>
              <a:rPr b="0" i="0" lang="en-US" spc="0" sz="1000" u="none" cap="none" strike="noStrike">
                <a:solidFill>
                  <a:srgbClr val="1D1D1F"/>
                </a:solidFill>
                <a:latin typeface="Arial"/>
                <a:ea typeface="Arial"/>
                <a:cs typeface="Arial"/>
                <a:sym typeface="Arial"/>
              </a:rPr>
              <a:t>negotiating forever, or closing before you know what C actually wants.</a:t>
            </a:r>
            <a:endParaRPr b="0" i="0" spc="0" sz="1000" u="none" cap="none" strike="noStrike">
              <a:solidFill>
                <a:srgbClr val="000000"/>
              </a:solidFill>
              <a:latin typeface="Arial"/>
              <a:ea typeface="Arial"/>
              <a:cs typeface="Arial"/>
              <a:sym typeface="Arial"/>
            </a:endParaRPr>
          </a:p>
        </p:txBody>
      </p:sp>
      <p:sp>
        <p:nvSpPr>
          <p:cNvPr id="1240" name="Google Shape;1240;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241" name="Google Shape;1241;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6" name="Shape 1246"/>
        <p:cNvGrpSpPr/>
        <p:nvPr/>
      </p:nvGrpSpPr>
      <p:grpSpPr>
        <a:xfrm>
          <a:off x="0" y="0"/>
          <a:ext cx="0" cy="0"/>
          <a:chOff x="0" y="0"/>
          <a:chExt cx="0" cy="0"/>
        </a:xfrm>
      </p:grpSpPr>
      <p:sp>
        <p:nvSpPr>
          <p:cNvPr id="1247" name="Google Shape;1247;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248" name="Google Shape;1248;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Before you enter: two questions</a:t>
            </a:r>
            <a:endParaRPr b="0" i="0" spc="0" sz="2400" u="none" cap="none" strike="noStrike">
              <a:solidFill>
                <a:srgbClr val="000000"/>
              </a:solidFill>
              <a:latin typeface="Arial"/>
              <a:ea typeface="Arial"/>
              <a:cs typeface="Arial"/>
              <a:sym typeface="Arial"/>
            </a:endParaRPr>
          </a:p>
        </p:txBody>
      </p:sp>
      <p:sp>
        <p:nvSpPr>
          <p:cNvPr id="1249" name="Google Shape;1249;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Both must be "yes" before Step 1.</a:t>
            </a:r>
            <a:endParaRPr b="0" i="0" spc="0" sz="1200" u="none" cap="none" strike="noStrike">
              <a:solidFill>
                <a:srgbClr val="000000"/>
              </a:solidFill>
              <a:latin typeface="Arial"/>
              <a:ea typeface="Arial"/>
              <a:cs typeface="Arial"/>
              <a:sym typeface="Arial"/>
            </a:endParaRPr>
          </a:p>
        </p:txBody>
      </p:sp>
      <p:sp>
        <p:nvSpPr>
          <p:cNvPr id="1250" name="Google Shape;1250;p48"/>
          <p:cNvSpPr/>
          <p:nvPr/>
        </p:nvSpPr>
        <p:spPr>
          <a:xfrm>
            <a:off x="1828800" y="1298448"/>
            <a:ext cx="4206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1" name="Google Shape;1251;p48"/>
          <p:cNvSpPr txBox="1"/>
          <p:nvPr/>
        </p:nvSpPr>
        <p:spPr>
          <a:xfrm>
            <a:off x="1901952" y="1298448"/>
            <a:ext cx="40599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Offered everything based on the root cause?</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Gate 1</a:t>
            </a:r>
            <a:endParaRPr b="0" i="0" spc="0" sz="950" u="none" cap="none" strike="noStrike">
              <a:solidFill>
                <a:srgbClr val="000000"/>
              </a:solidFill>
              <a:latin typeface="Arial"/>
              <a:ea typeface="Arial"/>
              <a:cs typeface="Arial"/>
              <a:sym typeface="Arial"/>
            </a:endParaRPr>
          </a:p>
        </p:txBody>
      </p:sp>
      <p:cxnSp>
        <p:nvCxnSpPr>
          <p:cNvPr id="1252" name="Google Shape;1252;p48"/>
          <p:cNvCxnSpPr/>
          <p:nvPr/>
        </p:nvCxnSpPr>
        <p:spPr>
          <a:xfrm>
            <a:off x="6035040" y="1549908"/>
            <a:ext cx="320040" cy="0"/>
          </a:xfrm>
          <a:prstGeom prst="straightConnector1">
            <a:avLst/>
          </a:prstGeom>
          <a:noFill/>
          <a:ln cap="flat" cmpd="sng" w="12700">
            <a:solidFill>
              <a:srgbClr val="6E6E73"/>
            </a:solidFill>
            <a:prstDash val="solid"/>
            <a:round/>
            <a:headEnd len="sm" w="sm" type="none"/>
            <a:tailEnd len="med" w="med" type="triangle"/>
          </a:ln>
        </p:spPr>
      </p:cxnSp>
      <p:sp>
        <p:nvSpPr>
          <p:cNvPr id="1253" name="Google Shape;1253;p48"/>
          <p:cNvSpPr txBox="1"/>
          <p:nvPr/>
        </p:nvSpPr>
        <p:spPr>
          <a:xfrm>
            <a:off x="6062472" y="1344168"/>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254" name="Google Shape;1254;p48"/>
          <p:cNvSpPr/>
          <p:nvPr/>
        </p:nvSpPr>
        <p:spPr>
          <a:xfrm>
            <a:off x="6355080" y="1298448"/>
            <a:ext cx="2377440" cy="502920"/>
          </a:xfrm>
          <a:prstGeom prst="roundRect">
            <a:avLst>
              <a:gd fmla="val 14545" name="adj"/>
            </a:avLst>
          </a:prstGeom>
          <a:solidFill>
            <a:srgbClr val="FCEBEA"/>
          </a:solidFill>
          <a:ln cap="flat" cmpd="sng" w="12700">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5" name="Google Shape;1255;p48"/>
          <p:cNvSpPr txBox="1"/>
          <p:nvPr/>
        </p:nvSpPr>
        <p:spPr>
          <a:xfrm>
            <a:off x="6428232" y="1298448"/>
            <a:ext cx="22311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Make the right offer first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See Understanding Offer Logic</a:t>
            </a:r>
            <a:endParaRPr b="0" i="0" spc="0" sz="950" u="none" cap="none" strike="noStrike">
              <a:solidFill>
                <a:srgbClr val="000000"/>
              </a:solidFill>
              <a:latin typeface="Arial"/>
              <a:ea typeface="Arial"/>
              <a:cs typeface="Arial"/>
              <a:sym typeface="Arial"/>
            </a:endParaRPr>
          </a:p>
        </p:txBody>
      </p:sp>
      <p:cxnSp>
        <p:nvCxnSpPr>
          <p:cNvPr id="1256" name="Google Shape;1256;p48"/>
          <p:cNvCxnSpPr/>
          <p:nvPr/>
        </p:nvCxnSpPr>
        <p:spPr>
          <a:xfrm>
            <a:off x="3931920" y="1801368"/>
            <a:ext cx="0" cy="182880"/>
          </a:xfrm>
          <a:prstGeom prst="straightConnector1">
            <a:avLst/>
          </a:prstGeom>
          <a:noFill/>
          <a:ln cap="flat" cmpd="sng" w="12700">
            <a:solidFill>
              <a:srgbClr val="6E6E73"/>
            </a:solidFill>
            <a:prstDash val="solid"/>
            <a:round/>
            <a:headEnd len="sm" w="sm" type="none"/>
            <a:tailEnd len="med" w="med" type="triangle"/>
          </a:ln>
        </p:spPr>
      </p:cxnSp>
      <p:sp>
        <p:nvSpPr>
          <p:cNvPr id="1257" name="Google Shape;1257;p48"/>
          <p:cNvSpPr txBox="1"/>
          <p:nvPr/>
        </p:nvSpPr>
        <p:spPr>
          <a:xfrm>
            <a:off x="4005072" y="178308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258" name="Google Shape;1258;p48"/>
          <p:cNvSpPr/>
          <p:nvPr/>
        </p:nvSpPr>
        <p:spPr>
          <a:xfrm>
            <a:off x="1828800" y="1984248"/>
            <a:ext cx="4206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9" name="Google Shape;1259;p48"/>
          <p:cNvSpPr txBox="1"/>
          <p:nvPr/>
        </p:nvSpPr>
        <p:spPr>
          <a:xfrm>
            <a:off x="1901952" y="1984248"/>
            <a:ext cx="40599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Know why C wants to cancel / won't accept?</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Gate 2</a:t>
            </a:r>
            <a:endParaRPr b="0" i="0" spc="0" sz="950" u="none" cap="none" strike="noStrike">
              <a:solidFill>
                <a:srgbClr val="000000"/>
              </a:solidFill>
              <a:latin typeface="Arial"/>
              <a:ea typeface="Arial"/>
              <a:cs typeface="Arial"/>
              <a:sym typeface="Arial"/>
            </a:endParaRPr>
          </a:p>
        </p:txBody>
      </p:sp>
      <p:cxnSp>
        <p:nvCxnSpPr>
          <p:cNvPr id="1260" name="Google Shape;1260;p48"/>
          <p:cNvCxnSpPr/>
          <p:nvPr/>
        </p:nvCxnSpPr>
        <p:spPr>
          <a:xfrm>
            <a:off x="6035040" y="2235708"/>
            <a:ext cx="320040" cy="0"/>
          </a:xfrm>
          <a:prstGeom prst="straightConnector1">
            <a:avLst/>
          </a:prstGeom>
          <a:noFill/>
          <a:ln cap="flat" cmpd="sng" w="12700">
            <a:solidFill>
              <a:srgbClr val="6E6E73"/>
            </a:solidFill>
            <a:prstDash val="solid"/>
            <a:round/>
            <a:headEnd len="sm" w="sm" type="none"/>
            <a:tailEnd len="med" w="med" type="triangle"/>
          </a:ln>
        </p:spPr>
      </p:cxnSp>
      <p:sp>
        <p:nvSpPr>
          <p:cNvPr id="1261" name="Google Shape;1261;p48"/>
          <p:cNvSpPr txBox="1"/>
          <p:nvPr/>
        </p:nvSpPr>
        <p:spPr>
          <a:xfrm>
            <a:off x="6062472" y="2029968"/>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rgbClr val="000000"/>
              </a:solidFill>
              <a:latin typeface="Arial"/>
              <a:ea typeface="Arial"/>
              <a:cs typeface="Arial"/>
              <a:sym typeface="Arial"/>
            </a:endParaRPr>
          </a:p>
        </p:txBody>
      </p:sp>
      <p:sp>
        <p:nvSpPr>
          <p:cNvPr id="1262" name="Google Shape;1262;p48"/>
          <p:cNvSpPr/>
          <p:nvPr/>
        </p:nvSpPr>
        <p:spPr>
          <a:xfrm>
            <a:off x="6355080" y="1984248"/>
            <a:ext cx="2377440" cy="502920"/>
          </a:xfrm>
          <a:prstGeom prst="roundRect">
            <a:avLst>
              <a:gd fmla="val 14545" name="adj"/>
            </a:avLst>
          </a:prstGeom>
          <a:solidFill>
            <a:srgbClr val="FCEBEA"/>
          </a:solidFill>
          <a:ln cap="flat" cmpd="sng" w="12700">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3" name="Google Shape;1263;p48"/>
          <p:cNvSpPr txBox="1"/>
          <p:nvPr/>
        </p:nvSpPr>
        <p:spPr>
          <a:xfrm>
            <a:off x="6428232" y="1984248"/>
            <a:ext cx="2231136"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Keep digging</a:t>
            </a:r>
            <a:endParaRPr b="0" i="0" spc="0" sz="95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Ask again, differently</a:t>
            </a:r>
            <a:endParaRPr b="0" i="0" spc="0" sz="950" u="none" cap="none" strike="noStrike">
              <a:solidFill>
                <a:srgbClr val="000000"/>
              </a:solidFill>
              <a:latin typeface="Arial"/>
              <a:ea typeface="Arial"/>
              <a:cs typeface="Arial"/>
              <a:sym typeface="Arial"/>
            </a:endParaRPr>
          </a:p>
        </p:txBody>
      </p:sp>
      <p:cxnSp>
        <p:nvCxnSpPr>
          <p:cNvPr id="1264" name="Google Shape;1264;p48"/>
          <p:cNvCxnSpPr/>
          <p:nvPr/>
        </p:nvCxnSpPr>
        <p:spPr>
          <a:xfrm>
            <a:off x="3931920" y="2487168"/>
            <a:ext cx="0" cy="182880"/>
          </a:xfrm>
          <a:prstGeom prst="straightConnector1">
            <a:avLst/>
          </a:prstGeom>
          <a:noFill/>
          <a:ln cap="flat" cmpd="sng" w="12700">
            <a:solidFill>
              <a:srgbClr val="6E6E73"/>
            </a:solidFill>
            <a:prstDash val="solid"/>
            <a:round/>
            <a:headEnd len="sm" w="sm" type="none"/>
            <a:tailEnd len="med" w="med" type="triangle"/>
          </a:ln>
        </p:spPr>
      </p:cxnSp>
      <p:sp>
        <p:nvSpPr>
          <p:cNvPr id="1265" name="Google Shape;1265;p48"/>
          <p:cNvSpPr txBox="1"/>
          <p:nvPr/>
        </p:nvSpPr>
        <p:spPr>
          <a:xfrm>
            <a:off x="4005072" y="2468880"/>
            <a:ext cx="73152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rgbClr val="000000"/>
              </a:solidFill>
              <a:latin typeface="Arial"/>
              <a:ea typeface="Arial"/>
              <a:cs typeface="Arial"/>
              <a:sym typeface="Arial"/>
            </a:endParaRPr>
          </a:p>
        </p:txBody>
      </p:sp>
      <p:sp>
        <p:nvSpPr>
          <p:cNvPr id="1266" name="Google Shape;1266;p48"/>
          <p:cNvSpPr/>
          <p:nvPr/>
        </p:nvSpPr>
        <p:spPr>
          <a:xfrm>
            <a:off x="1828800" y="2670048"/>
            <a:ext cx="4206240" cy="457200"/>
          </a:xfrm>
          <a:prstGeom prst="roundRect">
            <a:avLst>
              <a:gd fmla="val 16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7" name="Google Shape;1267;p48"/>
          <p:cNvSpPr txBox="1"/>
          <p:nvPr/>
        </p:nvSpPr>
        <p:spPr>
          <a:xfrm>
            <a:off x="1901952" y="2670048"/>
            <a:ext cx="4059936"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Graceful Closure: Step 1</a:t>
            </a:r>
            <a:endParaRPr b="0" i="0" spc="0" sz="950" u="none" cap="none" strike="noStrike">
              <a:solidFill>
                <a:srgbClr val="000000"/>
              </a:solidFill>
              <a:latin typeface="Arial"/>
              <a:ea typeface="Arial"/>
              <a:cs typeface="Arial"/>
              <a:sym typeface="Arial"/>
            </a:endParaRPr>
          </a:p>
        </p:txBody>
      </p:sp>
      <p:sp>
        <p:nvSpPr>
          <p:cNvPr id="1268" name="Google Shape;1268;p48"/>
          <p:cNvSpPr/>
          <p:nvPr/>
        </p:nvSpPr>
        <p:spPr>
          <a:xfrm>
            <a:off x="411480" y="338328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9" name="Google Shape;1269;p48"/>
          <p:cNvPicPr preferRelativeResize="0"/>
          <p:nvPr/>
        </p:nvPicPr>
        <p:blipFill rotWithShape="1">
          <a:blip r:embed="rId3">
            <a:alphaModFix/>
          </a:blip>
          <a:srcRect b="0" l="0" r="0" t="0"/>
          <a:stretch/>
        </p:blipFill>
        <p:spPr>
          <a:xfrm>
            <a:off x="566928" y="3529584"/>
            <a:ext cx="164592" cy="164592"/>
          </a:xfrm>
          <a:prstGeom prst="rect">
            <a:avLst/>
          </a:prstGeom>
          <a:noFill/>
          <a:ln>
            <a:noFill/>
          </a:ln>
        </p:spPr>
      </p:pic>
      <p:sp>
        <p:nvSpPr>
          <p:cNvPr id="1270" name="Google Shape;1270;p48"/>
          <p:cNvSpPr txBox="1"/>
          <p:nvPr/>
        </p:nvSpPr>
        <p:spPr>
          <a:xfrm>
            <a:off x="822960" y="338328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B3261E"/>
                </a:solidFill>
                <a:latin typeface="Arial"/>
                <a:ea typeface="Arial"/>
                <a:cs typeface="Arial"/>
                <a:sym typeface="Arial"/>
              </a:rPr>
              <a:t>Silence isn't a green light.  </a:t>
            </a:r>
            <a:r>
              <a:rPr b="0" i="0" lang="en-US" spc="0" sz="1000" u="none" cap="none" strike="noStrike">
                <a:solidFill>
                  <a:srgbClr val="1D1D1F"/>
                </a:solidFill>
                <a:latin typeface="Arial"/>
                <a:ea typeface="Arial"/>
                <a:cs typeface="Arial"/>
                <a:sym typeface="Arial"/>
              </a:rPr>
              <a:t>No answer = not enough information yet. Ask again, in a different way.</a:t>
            </a:r>
            <a:endParaRPr b="0" i="0" spc="0" sz="1000" u="none" cap="none" strike="noStrike">
              <a:solidFill>
                <a:srgbClr val="000000"/>
              </a:solidFill>
              <a:latin typeface="Arial"/>
              <a:ea typeface="Arial"/>
              <a:cs typeface="Arial"/>
              <a:sym typeface="Arial"/>
            </a:endParaRPr>
          </a:p>
        </p:txBody>
      </p:sp>
      <p:sp>
        <p:nvSpPr>
          <p:cNvPr id="1271" name="Google Shape;1271;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272" name="Google Shape;1272;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7" name="Shape 1277"/>
        <p:cNvGrpSpPr/>
        <p:nvPr/>
      </p:nvGrpSpPr>
      <p:grpSpPr>
        <a:xfrm>
          <a:off x="0" y="0"/>
          <a:ext cx="0" cy="0"/>
          <a:chOff x="0" y="0"/>
          <a:chExt cx="0" cy="0"/>
        </a:xfrm>
      </p:grpSpPr>
      <p:sp>
        <p:nvSpPr>
          <p:cNvPr id="1278" name="Google Shape;1278;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279" name="Google Shape;1279;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The 4 steps</a:t>
            </a:r>
            <a:endParaRPr b="0" i="0" spc="0" sz="2400" u="none" cap="none" strike="noStrike">
              <a:solidFill>
                <a:srgbClr val="000000"/>
              </a:solidFill>
              <a:latin typeface="Arial"/>
              <a:ea typeface="Arial"/>
              <a:cs typeface="Arial"/>
              <a:sym typeface="Arial"/>
            </a:endParaRPr>
          </a:p>
        </p:txBody>
      </p:sp>
      <p:sp>
        <p:nvSpPr>
          <p:cNvPr id="1280" name="Google Shape;1280;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Clarify, Educate, Offer, Protect.</a:t>
            </a:r>
            <a:endParaRPr b="0" i="0" spc="0" sz="1200" u="none" cap="none" strike="noStrike">
              <a:solidFill>
                <a:srgbClr val="000000"/>
              </a:solidFill>
              <a:latin typeface="Arial"/>
              <a:ea typeface="Arial"/>
              <a:cs typeface="Arial"/>
              <a:sym typeface="Arial"/>
            </a:endParaRPr>
          </a:p>
        </p:txBody>
      </p:sp>
      <p:sp>
        <p:nvSpPr>
          <p:cNvPr id="1281" name="Google Shape;1281;p49"/>
          <p:cNvSpPr/>
          <p:nvPr/>
        </p:nvSpPr>
        <p:spPr>
          <a:xfrm>
            <a:off x="41148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2" name="Google Shape;1282;p49"/>
          <p:cNvSpPr/>
          <p:nvPr/>
        </p:nvSpPr>
        <p:spPr>
          <a:xfrm>
            <a:off x="54864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3" name="Google Shape;1283;p49"/>
          <p:cNvSpPr txBox="1"/>
          <p:nvPr/>
        </p:nvSpPr>
        <p:spPr>
          <a:xfrm>
            <a:off x="54864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284" name="Google Shape;1284;p49"/>
          <p:cNvSpPr txBox="1"/>
          <p:nvPr/>
        </p:nvSpPr>
        <p:spPr>
          <a:xfrm>
            <a:off x="91440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Clarify</a:t>
            </a:r>
            <a:endParaRPr b="0" i="0" spc="0" sz="1200" u="none" cap="none" strike="noStrike">
              <a:solidFill>
                <a:srgbClr val="000000"/>
              </a:solidFill>
              <a:latin typeface="Arial"/>
              <a:ea typeface="Arial"/>
              <a:cs typeface="Arial"/>
              <a:sym typeface="Arial"/>
            </a:endParaRPr>
          </a:p>
        </p:txBody>
      </p:sp>
      <p:sp>
        <p:nvSpPr>
          <p:cNvPr id="1285" name="Google Shape;1285;p49"/>
          <p:cNvSpPr txBox="1"/>
          <p:nvPr/>
        </p:nvSpPr>
        <p:spPr>
          <a:xfrm>
            <a:off x="54864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State the final decision. Direct, neutral, unambiguous.</a:t>
            </a:r>
            <a:endParaRPr b="0" i="0" spc="0" sz="900" u="none" cap="none" strike="noStrike">
              <a:solidFill>
                <a:srgbClr val="000000"/>
              </a:solidFill>
              <a:latin typeface="Arial"/>
              <a:ea typeface="Arial"/>
              <a:cs typeface="Arial"/>
              <a:sym typeface="Arial"/>
            </a:endParaRPr>
          </a:p>
        </p:txBody>
      </p:sp>
      <p:sp>
        <p:nvSpPr>
          <p:cNvPr id="1286" name="Google Shape;1286;p49"/>
          <p:cNvSpPr/>
          <p:nvPr/>
        </p:nvSpPr>
        <p:spPr>
          <a:xfrm>
            <a:off x="52120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7" name="Google Shape;1287;p49"/>
          <p:cNvSpPr txBox="1"/>
          <p:nvPr/>
        </p:nvSpPr>
        <p:spPr>
          <a:xfrm>
            <a:off x="61264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“I'm not able to waive the cancellation fee.”</a:t>
            </a:r>
            <a:endParaRPr b="0" i="0" spc="0" sz="900" u="none" cap="none" strike="noStrike">
              <a:solidFill>
                <a:srgbClr val="000000"/>
              </a:solidFill>
              <a:latin typeface="Arial"/>
              <a:ea typeface="Arial"/>
              <a:cs typeface="Arial"/>
              <a:sym typeface="Arial"/>
            </a:endParaRPr>
          </a:p>
        </p:txBody>
      </p:sp>
      <p:sp>
        <p:nvSpPr>
          <p:cNvPr id="1288" name="Google Shape;1288;p49"/>
          <p:cNvSpPr/>
          <p:nvPr/>
        </p:nvSpPr>
        <p:spPr>
          <a:xfrm>
            <a:off x="252603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9" name="Google Shape;1289;p49"/>
          <p:cNvSpPr/>
          <p:nvPr/>
        </p:nvSpPr>
        <p:spPr>
          <a:xfrm>
            <a:off x="266319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0" name="Google Shape;1290;p49"/>
          <p:cNvSpPr txBox="1"/>
          <p:nvPr/>
        </p:nvSpPr>
        <p:spPr>
          <a:xfrm>
            <a:off x="266319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291" name="Google Shape;1291;p49"/>
          <p:cNvSpPr txBox="1"/>
          <p:nvPr/>
        </p:nvSpPr>
        <p:spPr>
          <a:xfrm>
            <a:off x="302895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Educate</a:t>
            </a:r>
            <a:endParaRPr b="0" i="0" spc="0" sz="1200" u="none" cap="none" strike="noStrike">
              <a:solidFill>
                <a:srgbClr val="000000"/>
              </a:solidFill>
              <a:latin typeface="Arial"/>
              <a:ea typeface="Arial"/>
              <a:cs typeface="Arial"/>
              <a:sym typeface="Arial"/>
            </a:endParaRPr>
          </a:p>
        </p:txBody>
      </p:sp>
      <p:sp>
        <p:nvSpPr>
          <p:cNvPr id="1292" name="Google Shape;1292;p49"/>
          <p:cNvSpPr txBox="1"/>
          <p:nvPr/>
        </p:nvSpPr>
        <p:spPr>
          <a:xfrm>
            <a:off x="266319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Explain the policy and what happens next.</a:t>
            </a:r>
            <a:endParaRPr b="0" i="0" spc="0" sz="900" u="none" cap="none" strike="noStrike">
              <a:solidFill>
                <a:srgbClr val="000000"/>
              </a:solidFill>
              <a:latin typeface="Arial"/>
              <a:ea typeface="Arial"/>
              <a:cs typeface="Arial"/>
              <a:sym typeface="Arial"/>
            </a:endParaRPr>
          </a:p>
        </p:txBody>
      </p:sp>
      <p:sp>
        <p:nvSpPr>
          <p:cNvPr id="1293" name="Google Shape;1293;p49"/>
          <p:cNvSpPr/>
          <p:nvPr/>
        </p:nvSpPr>
        <p:spPr>
          <a:xfrm>
            <a:off x="263575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4" name="Google Shape;1294;p49"/>
          <p:cNvSpPr txBox="1"/>
          <p:nvPr/>
        </p:nvSpPr>
        <p:spPr>
          <a:xfrm>
            <a:off x="272719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“Your membership will remain active and the monthly fees will continue unless it's cancelled.”</a:t>
            </a:r>
            <a:endParaRPr b="0" i="0" spc="0" sz="900" u="none" cap="none" strike="noStrike">
              <a:solidFill>
                <a:srgbClr val="000000"/>
              </a:solidFill>
              <a:latin typeface="Arial"/>
              <a:ea typeface="Arial"/>
              <a:cs typeface="Arial"/>
              <a:sym typeface="Arial"/>
            </a:endParaRPr>
          </a:p>
        </p:txBody>
      </p:sp>
      <p:sp>
        <p:nvSpPr>
          <p:cNvPr id="1295" name="Google Shape;1295;p49"/>
          <p:cNvSpPr/>
          <p:nvPr/>
        </p:nvSpPr>
        <p:spPr>
          <a:xfrm>
            <a:off x="464058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6" name="Google Shape;1296;p49"/>
          <p:cNvSpPr/>
          <p:nvPr/>
        </p:nvSpPr>
        <p:spPr>
          <a:xfrm>
            <a:off x="477774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7" name="Google Shape;1297;p49"/>
          <p:cNvSpPr txBox="1"/>
          <p:nvPr/>
        </p:nvSpPr>
        <p:spPr>
          <a:xfrm>
            <a:off x="477774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298" name="Google Shape;1298;p49"/>
          <p:cNvSpPr txBox="1"/>
          <p:nvPr/>
        </p:nvSpPr>
        <p:spPr>
          <a:xfrm>
            <a:off x="514350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Offer</a:t>
            </a:r>
            <a:endParaRPr b="0" i="0" spc="0" sz="1200" u="none" cap="none" strike="noStrike">
              <a:solidFill>
                <a:srgbClr val="000000"/>
              </a:solidFill>
              <a:latin typeface="Arial"/>
              <a:ea typeface="Arial"/>
              <a:cs typeface="Arial"/>
              <a:sym typeface="Arial"/>
            </a:endParaRPr>
          </a:p>
        </p:txBody>
      </p:sp>
      <p:sp>
        <p:nvSpPr>
          <p:cNvPr id="1299" name="Google Shape;1299;p49"/>
          <p:cNvSpPr txBox="1"/>
          <p:nvPr/>
        </p:nvSpPr>
        <p:spPr>
          <a:xfrm>
            <a:off x="477774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Present pre-approved options.</a:t>
            </a:r>
            <a:endParaRPr b="0" i="0" spc="0" sz="900" u="none" cap="none" strike="noStrike">
              <a:solidFill>
                <a:srgbClr val="000000"/>
              </a:solidFill>
              <a:latin typeface="Arial"/>
              <a:ea typeface="Arial"/>
              <a:cs typeface="Arial"/>
              <a:sym typeface="Arial"/>
            </a:endParaRPr>
          </a:p>
        </p:txBody>
      </p:sp>
      <p:sp>
        <p:nvSpPr>
          <p:cNvPr id="1300" name="Google Shape;1300;p49"/>
          <p:cNvSpPr/>
          <p:nvPr/>
        </p:nvSpPr>
        <p:spPr>
          <a:xfrm>
            <a:off x="475030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1" name="Google Shape;1301;p49"/>
          <p:cNvSpPr txBox="1"/>
          <p:nvPr/>
        </p:nvSpPr>
        <p:spPr>
          <a:xfrm>
            <a:off x="484174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“I can apply what you've already paid as a credit against the ETF.”</a:t>
            </a:r>
            <a:endParaRPr b="0" i="0" spc="0" sz="900" u="none" cap="none" strike="noStrike">
              <a:solidFill>
                <a:srgbClr val="000000"/>
              </a:solidFill>
              <a:latin typeface="Arial"/>
              <a:ea typeface="Arial"/>
              <a:cs typeface="Arial"/>
              <a:sym typeface="Arial"/>
            </a:endParaRPr>
          </a:p>
        </p:txBody>
      </p:sp>
      <p:sp>
        <p:nvSpPr>
          <p:cNvPr id="1302" name="Google Shape;1302;p49"/>
          <p:cNvSpPr/>
          <p:nvPr/>
        </p:nvSpPr>
        <p:spPr>
          <a:xfrm>
            <a:off x="6755130" y="1325880"/>
            <a:ext cx="1977390" cy="2788920"/>
          </a:xfrm>
          <a:prstGeom prst="roundRect">
            <a:avLst>
              <a:gd fmla="val 369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3" name="Google Shape;1303;p49"/>
          <p:cNvSpPr/>
          <p:nvPr/>
        </p:nvSpPr>
        <p:spPr>
          <a:xfrm>
            <a:off x="6892290" y="14630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4" name="Google Shape;1304;p49"/>
          <p:cNvSpPr txBox="1"/>
          <p:nvPr/>
        </p:nvSpPr>
        <p:spPr>
          <a:xfrm>
            <a:off x="6892290" y="14630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1305" name="Google Shape;1305;p49"/>
          <p:cNvSpPr txBox="1"/>
          <p:nvPr/>
        </p:nvSpPr>
        <p:spPr>
          <a:xfrm>
            <a:off x="7258050" y="1463040"/>
            <a:ext cx="138303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Protect</a:t>
            </a:r>
            <a:endParaRPr b="0" i="0" spc="0" sz="1200" u="none" cap="none" strike="noStrike">
              <a:solidFill>
                <a:srgbClr val="000000"/>
              </a:solidFill>
              <a:latin typeface="Arial"/>
              <a:ea typeface="Arial"/>
              <a:cs typeface="Arial"/>
              <a:sym typeface="Arial"/>
            </a:endParaRPr>
          </a:p>
        </p:txBody>
      </p:sp>
      <p:sp>
        <p:nvSpPr>
          <p:cNvPr id="1306" name="Google Shape;1306;p49"/>
          <p:cNvSpPr txBox="1"/>
          <p:nvPr/>
        </p:nvSpPr>
        <p:spPr>
          <a:xfrm>
            <a:off x="6892290" y="1847088"/>
            <a:ext cx="170307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Close professionally. Hold the boundary.</a:t>
            </a:r>
            <a:endParaRPr b="0" i="0" spc="0" sz="900" u="none" cap="none" strike="noStrike">
              <a:solidFill>
                <a:srgbClr val="000000"/>
              </a:solidFill>
              <a:latin typeface="Arial"/>
              <a:ea typeface="Arial"/>
              <a:cs typeface="Arial"/>
              <a:sym typeface="Arial"/>
            </a:endParaRPr>
          </a:p>
        </p:txBody>
      </p:sp>
      <p:sp>
        <p:nvSpPr>
          <p:cNvPr id="1307" name="Google Shape;1307;p49"/>
          <p:cNvSpPr/>
          <p:nvPr/>
        </p:nvSpPr>
        <p:spPr>
          <a:xfrm>
            <a:off x="6864858" y="2560320"/>
            <a:ext cx="1757934" cy="1417320"/>
          </a:xfrm>
          <a:prstGeom prst="roundRect">
            <a:avLst>
              <a:gd fmla="val 516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8" name="Google Shape;1308;p49"/>
          <p:cNvSpPr txBox="1"/>
          <p:nvPr/>
        </p:nvSpPr>
        <p:spPr>
          <a:xfrm>
            <a:off x="6956298" y="2606040"/>
            <a:ext cx="1575054"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1" lang="en-US" spc="0" sz="900" u="none" cap="none" strike="noStrike">
                <a:solidFill>
                  <a:srgbClr val="1D1D1F"/>
                </a:solidFill>
                <a:latin typeface="Arial"/>
                <a:ea typeface="Arial"/>
                <a:cs typeface="Arial"/>
                <a:sym typeface="Arial"/>
              </a:rPr>
              <a:t>“We've reviewed all available options, and this is the final resolution we can provide.”</a:t>
            </a:r>
            <a:endParaRPr b="0" i="0" spc="0" sz="900" u="none" cap="none" strike="noStrike">
              <a:solidFill>
                <a:srgbClr val="000000"/>
              </a:solidFill>
              <a:latin typeface="Arial"/>
              <a:ea typeface="Arial"/>
              <a:cs typeface="Arial"/>
              <a:sym typeface="Arial"/>
            </a:endParaRPr>
          </a:p>
        </p:txBody>
      </p:sp>
      <p:sp>
        <p:nvSpPr>
          <p:cNvPr id="1309" name="Google Shape;1309;p49"/>
          <p:cNvSpPr/>
          <p:nvPr/>
        </p:nvSpPr>
        <p:spPr>
          <a:xfrm>
            <a:off x="411480" y="42519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10" name="Google Shape;1310;p49"/>
          <p:cNvPicPr preferRelativeResize="0"/>
          <p:nvPr/>
        </p:nvPicPr>
        <p:blipFill rotWithShape="1">
          <a:blip r:embed="rId3">
            <a:alphaModFix/>
          </a:blip>
          <a:srcRect b="0" l="0" r="0" t="0"/>
          <a:stretch/>
        </p:blipFill>
        <p:spPr>
          <a:xfrm>
            <a:off x="566928" y="4361688"/>
            <a:ext cx="164592" cy="164592"/>
          </a:xfrm>
          <a:prstGeom prst="rect">
            <a:avLst/>
          </a:prstGeom>
          <a:noFill/>
          <a:ln>
            <a:noFill/>
          </a:ln>
        </p:spPr>
      </p:pic>
      <p:sp>
        <p:nvSpPr>
          <p:cNvPr id="1311" name="Google Shape;1311;p49"/>
          <p:cNvSpPr txBox="1"/>
          <p:nvPr/>
        </p:nvSpPr>
        <p:spPr>
          <a:xfrm>
            <a:off x="822960" y="43525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Arial"/>
                <a:ea typeface="Arial"/>
                <a:cs typeface="Arial"/>
                <a:sym typeface="Arial"/>
              </a:rPr>
              <a:t>Still disappointed?  </a:t>
            </a:r>
            <a:r>
              <a:rPr b="0" i="0" lang="en-US" spc="0" sz="1000" u="none" cap="none" strike="noStrike">
                <a:solidFill>
                  <a:srgbClr val="1D1D1F"/>
                </a:solidFill>
                <a:latin typeface="Arial"/>
                <a:ea typeface="Arial"/>
                <a:cs typeface="Arial"/>
                <a:sym typeface="Arial"/>
              </a:rPr>
              <a:t>that's okay when the decision is correct and clearly communicated.</a:t>
            </a:r>
            <a:endParaRPr b="0" i="0" spc="0" sz="1000" u="none" cap="none" strike="noStrike">
              <a:solidFill>
                <a:srgbClr val="000000"/>
              </a:solidFill>
              <a:latin typeface="Arial"/>
              <a:ea typeface="Arial"/>
              <a:cs typeface="Arial"/>
              <a:sym typeface="Arial"/>
            </a:endParaRPr>
          </a:p>
        </p:txBody>
      </p:sp>
      <p:sp>
        <p:nvSpPr>
          <p:cNvPr id="1312" name="Google Shape;1312;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313" name="Google Shape;1313;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8" name="Shape 1318"/>
        <p:cNvGrpSpPr/>
        <p:nvPr/>
      </p:nvGrpSpPr>
      <p:grpSpPr>
        <a:xfrm>
          <a:off x="0" y="0"/>
          <a:ext cx="0" cy="0"/>
          <a:chOff x="0" y="0"/>
          <a:chExt cx="0" cy="0"/>
        </a:xfrm>
      </p:grpSpPr>
      <p:sp>
        <p:nvSpPr>
          <p:cNvPr id="1319" name="Google Shape;1319;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320" name="Google Shape;1320;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The No Re-Opening Rule</a:t>
            </a:r>
            <a:endParaRPr b="0" i="0" spc="0" sz="2400" u="none" cap="none" strike="noStrike">
              <a:solidFill>
                <a:srgbClr val="000000"/>
              </a:solidFill>
              <a:latin typeface="Arial"/>
              <a:ea typeface="Arial"/>
              <a:cs typeface="Arial"/>
              <a:sym typeface="Arial"/>
            </a:endParaRPr>
          </a:p>
        </p:txBody>
      </p:sp>
      <p:sp>
        <p:nvSpPr>
          <p:cNvPr id="1321" name="Google Shape;1321;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Once all final options are on the table.</a:t>
            </a:r>
            <a:endParaRPr b="0" i="0" spc="0" sz="1200" u="none" cap="none" strike="noStrike">
              <a:solidFill>
                <a:srgbClr val="000000"/>
              </a:solidFill>
              <a:latin typeface="Arial"/>
              <a:ea typeface="Arial"/>
              <a:cs typeface="Arial"/>
              <a:sym typeface="Arial"/>
            </a:endParaRPr>
          </a:p>
        </p:txBody>
      </p:sp>
      <p:graphicFrame>
        <p:nvGraphicFramePr>
          <p:cNvPr id="1322" name="Google Shape;1322;p50"/>
          <p:cNvGraphicFramePr/>
          <p:nvPr/>
        </p:nvGraphicFramePr>
        <p:xfrm>
          <a:off x="411480" y="1325880"/>
          <a:ext cx="3000000" cy="3000000"/>
        </p:xfrm>
        <a:graphic>
          <a:graphicData uri="http://schemas.openxmlformats.org/drawingml/2006/table">
            <a:tbl>
              <a:tblPr>
                <a:noFill/>
                <a:tableStyleId>{B11CD2B3-61C3-4F20-B420-420BFCFC9075}</a:tableStyleId>
              </a:tblPr>
              <a:tblGrid>
                <a:gridCol w="2011675"/>
                <a:gridCol w="2377450"/>
                <a:gridCol w="3931925"/>
              </a:tblGrid>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0B7A6F"/>
                          </a:solidFill>
                          <a:latin typeface="Play"/>
                          <a:ea typeface="Play"/>
                          <a:cs typeface="Play"/>
                          <a:sym typeface="Play"/>
                        </a:rPr>
                        <a:t>Don't</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0B7A6F"/>
                          </a:solidFill>
                          <a:latin typeface="Play"/>
                          <a:ea typeface="Play"/>
                          <a:cs typeface="Play"/>
                          <a:sym typeface="Play"/>
                        </a:rPr>
                        <a:t>Why</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0B7A6F"/>
                          </a:solidFill>
                          <a:latin typeface="Play"/>
                          <a:ea typeface="Play"/>
                          <a:cs typeface="Play"/>
                          <a:sym typeface="Play"/>
                        </a:rPr>
                        <a:t>Example reply</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1D1D1F"/>
                          </a:solidFill>
                          <a:latin typeface="Arial"/>
                          <a:ea typeface="Arial"/>
                          <a:cs typeface="Arial"/>
                          <a:sym typeface="Arial"/>
                        </a:rPr>
                        <a:t>Introduce new concessions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Sets the expectation agents will always offer more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"We've already reviewed all available options, and we cannot provide additional refunds beyond what was offered."</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1D1D1F"/>
                          </a:solidFill>
                          <a:latin typeface="Arial"/>
                          <a:ea typeface="Arial"/>
                          <a:cs typeface="Arial"/>
                          <a:sym typeface="Arial"/>
                        </a:rPr>
                        <a:t>Reframe repeatedly</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Confusing, inconsistent, drags it out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"Our company does not allow waiving this fee to make sure cleaners are paid fairly. This is the final resolution."</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640075">
                <a:tc>
                  <a:txBody>
                    <a:bodyPr/>
                    <a:lstStyle/>
                    <a:p>
                      <a:pPr indent="0" lvl="0" marL="0" marR="0" rtl="0" algn="l">
                        <a:lnSpc>
                          <a:spcPct val="100000"/>
                        </a:lnSpc>
                        <a:spcBef>
                          <a:spcPts val="0"/>
                        </a:spcBef>
                        <a:spcAft>
                          <a:spcPts val="0"/>
                        </a:spcAft>
                        <a:buClr>
                          <a:srgbClr val="000000"/>
                        </a:buClr>
                        <a:buSzPts val="900"/>
                        <a:buFont typeface="Arial"/>
                        <a:buNone/>
                      </a:pPr>
                      <a:r>
                        <a:rPr b="1" lang="en-US" spc="0" sz="900" u="none" cap="none" strike="noStrike">
                          <a:solidFill>
                            <a:srgbClr val="1D1D1F"/>
                          </a:solidFill>
                          <a:latin typeface="Arial"/>
                          <a:ea typeface="Arial"/>
                          <a:cs typeface="Arial"/>
                          <a:sym typeface="Arial"/>
                        </a:rPr>
                        <a:t>Re-enter the negotiation loop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Frustrating, inconsistent outcomes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900"/>
                        <a:buFont typeface="Arial"/>
                        <a:buNone/>
                      </a:pPr>
                      <a:r>
                        <a:rPr lang="en-US" spc="0" sz="900" u="none" cap="none" strike="noStrike">
                          <a:solidFill>
                            <a:srgbClr val="6E6E73"/>
                          </a:solidFill>
                          <a:latin typeface="Arial"/>
                          <a:ea typeface="Arial"/>
                          <a:cs typeface="Arial"/>
                          <a:sym typeface="Arial"/>
                        </a:rPr>
                        <a:t>"We've looked at all the options we can offer, and this is the final resolution. I can't make any more changes."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323" name="Google Shape;1323;p5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24" name="Google Shape;1324;p50"/>
          <p:cNvPicPr preferRelativeResize="0"/>
          <p:nvPr/>
        </p:nvPicPr>
        <p:blipFill rotWithShape="1">
          <a:blip r:embed="rId3">
            <a:alphaModFix/>
          </a:blip>
          <a:srcRect b="0" l="0" r="0" t="0"/>
          <a:stretch/>
        </p:blipFill>
        <p:spPr>
          <a:xfrm>
            <a:off x="566928" y="4178808"/>
            <a:ext cx="164592" cy="164592"/>
          </a:xfrm>
          <a:prstGeom prst="rect">
            <a:avLst/>
          </a:prstGeom>
          <a:noFill/>
          <a:ln>
            <a:noFill/>
          </a:ln>
        </p:spPr>
      </p:pic>
      <p:sp>
        <p:nvSpPr>
          <p:cNvPr id="1325" name="Google Shape;1325;p5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Arial"/>
                <a:ea typeface="Arial"/>
                <a:cs typeface="Arial"/>
                <a:sym typeface="Arial"/>
              </a:rPr>
              <a:t>Two Attempts Rule:  </a:t>
            </a:r>
            <a:r>
              <a:rPr b="0" i="0" lang="en-US" spc="0" sz="1000" u="none" cap="none" strike="noStrike">
                <a:solidFill>
                  <a:srgbClr val="1D1D1F"/>
                </a:solidFill>
                <a:latin typeface="Arial"/>
                <a:ea typeface="Arial"/>
                <a:cs typeface="Arial"/>
                <a:sym typeface="Arial"/>
              </a:rPr>
              <a:t>two clear closure statements. Same concern, nothing new after the 2nd? Mark it complete.</a:t>
            </a:r>
            <a:endParaRPr b="0" i="0" spc="0" sz="1000" u="none" cap="none" strike="noStrike">
              <a:solidFill>
                <a:srgbClr val="000000"/>
              </a:solidFill>
              <a:latin typeface="Arial"/>
              <a:ea typeface="Arial"/>
              <a:cs typeface="Arial"/>
              <a:sym typeface="Arial"/>
            </a:endParaRPr>
          </a:p>
        </p:txBody>
      </p:sp>
      <p:sp>
        <p:nvSpPr>
          <p:cNvPr id="1326" name="Google Shape;1326;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327" name="Google Shape;1327;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2" name="Shape 1332"/>
        <p:cNvGrpSpPr/>
        <p:nvPr/>
      </p:nvGrpSpPr>
      <p:grpSpPr>
        <a:xfrm>
          <a:off x="0" y="0"/>
          <a:ext cx="0" cy="0"/>
          <a:chOff x="0" y="0"/>
          <a:chExt cx="0" cy="0"/>
        </a:xfrm>
      </p:grpSpPr>
      <p:sp>
        <p:nvSpPr>
          <p:cNvPr id="1333" name="Google Shape;1333;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a:t>
            </a:r>
            <a:endParaRPr b="0" i="0" spc="0" sz="800" u="none" cap="none" strike="noStrike">
              <a:solidFill>
                <a:srgbClr val="000000"/>
              </a:solidFill>
              <a:latin typeface="Arial"/>
              <a:ea typeface="Arial"/>
              <a:cs typeface="Arial"/>
              <a:sym typeface="Arial"/>
            </a:endParaRPr>
          </a:p>
        </p:txBody>
      </p:sp>
      <p:sp>
        <p:nvSpPr>
          <p:cNvPr id="1334" name="Google Shape;1334;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Exceptions: when Graceful Closure stops</a:t>
            </a:r>
            <a:endParaRPr b="0" i="0" spc="0" sz="2400" u="none" cap="none" strike="noStrike">
              <a:solidFill>
                <a:srgbClr val="000000"/>
              </a:solidFill>
              <a:latin typeface="Arial"/>
              <a:ea typeface="Arial"/>
              <a:cs typeface="Arial"/>
              <a:sym typeface="Arial"/>
            </a:endParaRPr>
          </a:p>
        </p:txBody>
      </p:sp>
      <p:sp>
        <p:nvSpPr>
          <p:cNvPr id="1335" name="Google Shape;1335;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Closed in error, a legal threat, or an ETF waiver reason.</a:t>
            </a:r>
            <a:endParaRPr b="0" i="0" spc="0" sz="1200" u="none" cap="none" strike="noStrike">
              <a:solidFill>
                <a:srgbClr val="000000"/>
              </a:solidFill>
              <a:latin typeface="Arial"/>
              <a:ea typeface="Arial"/>
              <a:cs typeface="Arial"/>
              <a:sym typeface="Arial"/>
            </a:endParaRPr>
          </a:p>
        </p:txBody>
      </p:sp>
      <p:sp>
        <p:nvSpPr>
          <p:cNvPr id="1336" name="Google Shape;1336;p51"/>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A PREVIOUS CLOSURE</a:t>
            </a:r>
            <a:endParaRPr b="0" i="0" spc="0" sz="800" u="none" cap="none" strike="noStrike">
              <a:solidFill>
                <a:srgbClr val="000000"/>
              </a:solidFill>
              <a:latin typeface="Arial"/>
              <a:ea typeface="Arial"/>
              <a:cs typeface="Arial"/>
              <a:sym typeface="Arial"/>
            </a:endParaRPr>
          </a:p>
        </p:txBody>
      </p:sp>
      <p:sp>
        <p:nvSpPr>
          <p:cNvPr id="1337" name="Google Shape;1337;p51"/>
          <p:cNvSpPr/>
          <p:nvPr/>
        </p:nvSpPr>
        <p:spPr>
          <a:xfrm>
            <a:off x="411480" y="1508760"/>
            <a:ext cx="4572000" cy="713232"/>
          </a:xfrm>
          <a:prstGeom prst="roundRect">
            <a:avLst>
              <a:gd fmla="val 1025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8" name="Google Shape;1338;p51"/>
          <p:cNvSpPr/>
          <p:nvPr/>
        </p:nvSpPr>
        <p:spPr>
          <a:xfrm>
            <a:off x="539496" y="172821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9" name="Google Shape;1339;p51"/>
          <p:cNvSpPr txBox="1"/>
          <p:nvPr/>
        </p:nvSpPr>
        <p:spPr>
          <a:xfrm>
            <a:off x="539496" y="172821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340" name="Google Shape;1340;p51"/>
          <p:cNvSpPr txBox="1"/>
          <p:nvPr/>
        </p:nvSpPr>
        <p:spPr>
          <a:xfrm>
            <a:off x="923544" y="1508760"/>
            <a:ext cx="39319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Valid offer never presented?</a:t>
            </a:r>
            <a:r>
              <a:rPr b="0" i="0" lang="en-US" spc="0" sz="950" u="none" cap="none" strike="noStrike">
                <a:solidFill>
                  <a:srgbClr val="6E6E73"/>
                </a:solidFill>
                <a:latin typeface="Arial"/>
                <a:ea typeface="Arial"/>
                <a:cs typeface="Arial"/>
                <a:sym typeface="Arial"/>
              </a:rPr>
              <a:t>  Offer it now. It's the missed one, not a new concession.</a:t>
            </a:r>
            <a:endParaRPr b="0" i="0" spc="0" sz="950" u="none" cap="none" strike="noStrike">
              <a:solidFill>
                <a:srgbClr val="000000"/>
              </a:solidFill>
              <a:latin typeface="Arial"/>
              <a:ea typeface="Arial"/>
              <a:cs typeface="Arial"/>
              <a:sym typeface="Arial"/>
            </a:endParaRPr>
          </a:p>
        </p:txBody>
      </p:sp>
      <p:sp>
        <p:nvSpPr>
          <p:cNvPr id="1341" name="Google Shape;1341;p51"/>
          <p:cNvSpPr/>
          <p:nvPr/>
        </p:nvSpPr>
        <p:spPr>
          <a:xfrm>
            <a:off x="411480" y="2313432"/>
            <a:ext cx="4572000" cy="713232"/>
          </a:xfrm>
          <a:prstGeom prst="roundRect">
            <a:avLst>
              <a:gd fmla="val 1025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2" name="Google Shape;1342;p51"/>
          <p:cNvSpPr/>
          <p:nvPr/>
        </p:nvSpPr>
        <p:spPr>
          <a:xfrm>
            <a:off x="539496" y="253288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3" name="Google Shape;1343;p51"/>
          <p:cNvSpPr txBox="1"/>
          <p:nvPr/>
        </p:nvSpPr>
        <p:spPr>
          <a:xfrm>
            <a:off x="539496" y="253288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344" name="Google Shape;1344;p51"/>
          <p:cNvSpPr txBox="1"/>
          <p:nvPr/>
        </p:nvSpPr>
        <p:spPr>
          <a:xfrm>
            <a:off x="923544" y="2313432"/>
            <a:ext cx="39319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Closed after C didn't answer?</a:t>
            </a:r>
            <a:r>
              <a:rPr b="0" i="0" lang="en-US" spc="0" sz="950" u="none" cap="none" strike="noStrike">
                <a:solidFill>
                  <a:srgbClr val="6E6E73"/>
                </a:solidFill>
                <a:latin typeface="Arial"/>
                <a:ea typeface="Arial"/>
                <a:cs typeface="Arial"/>
                <a:sym typeface="Arial"/>
              </a:rPr>
              <a:t>  Re-open: probe again, then normal offer logic.</a:t>
            </a:r>
            <a:endParaRPr b="0" i="0" spc="0" sz="950" u="none" cap="none" strike="noStrike">
              <a:solidFill>
                <a:srgbClr val="000000"/>
              </a:solidFill>
              <a:latin typeface="Arial"/>
              <a:ea typeface="Arial"/>
              <a:cs typeface="Arial"/>
              <a:sym typeface="Arial"/>
            </a:endParaRPr>
          </a:p>
        </p:txBody>
      </p:sp>
      <p:sp>
        <p:nvSpPr>
          <p:cNvPr id="1345" name="Google Shape;1345;p51"/>
          <p:cNvSpPr/>
          <p:nvPr/>
        </p:nvSpPr>
        <p:spPr>
          <a:xfrm>
            <a:off x="411480" y="3118104"/>
            <a:ext cx="4572000" cy="713232"/>
          </a:xfrm>
          <a:prstGeom prst="roundRect">
            <a:avLst>
              <a:gd fmla="val 1025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6" name="Google Shape;1346;p51"/>
          <p:cNvSpPr/>
          <p:nvPr/>
        </p:nvSpPr>
        <p:spPr>
          <a:xfrm>
            <a:off x="539496" y="33375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7" name="Google Shape;1347;p51"/>
          <p:cNvSpPr txBox="1"/>
          <p:nvPr/>
        </p:nvSpPr>
        <p:spPr>
          <a:xfrm>
            <a:off x="539496" y="33375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348" name="Google Shape;1348;p51"/>
          <p:cNvSpPr txBox="1"/>
          <p:nvPr/>
        </p:nvSpPr>
        <p:spPr>
          <a:xfrm>
            <a:off x="923544" y="3118104"/>
            <a:ext cx="3931920" cy="7132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Closed correctly, C pushing again?</a:t>
            </a:r>
            <a:r>
              <a:rPr b="0" i="0" lang="en-US" spc="0" sz="950" u="none" cap="none" strike="noStrike">
                <a:solidFill>
                  <a:srgbClr val="6E6E73"/>
                </a:solidFill>
                <a:latin typeface="Arial"/>
                <a:ea typeface="Arial"/>
                <a:cs typeface="Arial"/>
                <a:sym typeface="Arial"/>
              </a:rPr>
              <a:t>  Stand firm. Don't reopen.</a:t>
            </a:r>
            <a:endParaRPr b="0" i="0" spc="0" sz="950" u="none" cap="none" strike="noStrike">
              <a:solidFill>
                <a:srgbClr val="000000"/>
              </a:solidFill>
              <a:latin typeface="Arial"/>
              <a:ea typeface="Arial"/>
              <a:cs typeface="Arial"/>
              <a:sym typeface="Arial"/>
            </a:endParaRPr>
          </a:p>
        </p:txBody>
      </p:sp>
      <p:sp>
        <p:nvSpPr>
          <p:cNvPr id="1349" name="Google Shape;1349;p51"/>
          <p:cNvSpPr/>
          <p:nvPr/>
        </p:nvSpPr>
        <p:spPr>
          <a:xfrm>
            <a:off x="5120640" y="1325880"/>
            <a:ext cx="3611880" cy="1417320"/>
          </a:xfrm>
          <a:prstGeom prst="roundRect">
            <a:avLst>
              <a:gd fmla="val 516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0" name="Google Shape;1350;p51"/>
          <p:cNvSpPr/>
          <p:nvPr/>
        </p:nvSpPr>
        <p:spPr>
          <a:xfrm>
            <a:off x="5120640" y="1325880"/>
            <a:ext cx="36118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Material legal threat</a:t>
            </a:r>
            <a:endParaRPr b="0" i="0" spc="0" sz="1050" u="none" cap="none" strike="noStrike">
              <a:solidFill>
                <a:srgbClr val="000000"/>
              </a:solidFill>
              <a:latin typeface="Arial"/>
              <a:ea typeface="Arial"/>
              <a:cs typeface="Arial"/>
              <a:sym typeface="Arial"/>
            </a:endParaRPr>
          </a:p>
        </p:txBody>
      </p:sp>
      <p:sp>
        <p:nvSpPr>
          <p:cNvPr id="1351" name="Google Shape;1351;p51"/>
          <p:cNvSpPr txBox="1"/>
          <p:nvPr/>
        </p:nvSpPr>
        <p:spPr>
          <a:xfrm>
            <a:off x="5285232" y="1764792"/>
            <a:ext cx="32826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Stop Graceful Closure, even after it's reached</a:t>
            </a:r>
            <a:endParaRPr b="0" i="0" spc="0" sz="90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Cancel and refund. No retention</a:t>
            </a:r>
            <a:endParaRPr b="0" i="0" spc="0" sz="90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Over 120 days? Legal &amp; Compliance via TL</a:t>
            </a:r>
            <a:endParaRPr b="0" i="0" spc="0" sz="900" u="none" cap="none" strike="noStrike">
              <a:solidFill>
                <a:srgbClr val="000000"/>
              </a:solidFill>
              <a:latin typeface="Arial"/>
              <a:ea typeface="Arial"/>
              <a:cs typeface="Arial"/>
              <a:sym typeface="Arial"/>
            </a:endParaRPr>
          </a:p>
        </p:txBody>
      </p:sp>
      <p:sp>
        <p:nvSpPr>
          <p:cNvPr id="1352" name="Google Shape;1352;p51"/>
          <p:cNvSpPr/>
          <p:nvPr/>
        </p:nvSpPr>
        <p:spPr>
          <a:xfrm>
            <a:off x="5120640" y="2880360"/>
            <a:ext cx="3611880" cy="1234440"/>
          </a:xfrm>
          <a:prstGeom prst="roundRect">
            <a:avLst>
              <a:gd fmla="val 5926"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3" name="Google Shape;1353;p51"/>
          <p:cNvSpPr/>
          <p:nvPr/>
        </p:nvSpPr>
        <p:spPr>
          <a:xfrm>
            <a:off x="5120640" y="2880360"/>
            <a:ext cx="36118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ETF waiver reason</a:t>
            </a:r>
            <a:endParaRPr b="0" i="0" spc="0" sz="1050" u="none" cap="none" strike="noStrike">
              <a:solidFill>
                <a:srgbClr val="000000"/>
              </a:solidFill>
              <a:latin typeface="Arial"/>
              <a:ea typeface="Arial"/>
              <a:cs typeface="Arial"/>
              <a:sym typeface="Arial"/>
            </a:endParaRPr>
          </a:p>
        </p:txBody>
      </p:sp>
      <p:sp>
        <p:nvSpPr>
          <p:cNvPr id="1354" name="Google Shape;1354;p51"/>
          <p:cNvSpPr txBox="1"/>
          <p:nvPr/>
        </p:nvSpPr>
        <p:spPr>
          <a:xfrm>
            <a:off x="5285232" y="3319272"/>
            <a:ext cx="3282696" cy="722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Stops Graceful Closure at any point</a:t>
            </a:r>
            <a:endParaRPr b="0" i="0" spc="0" sz="900" u="none" cap="none" strike="noStrike">
              <a:solidFill>
                <a:srgbClr val="000000"/>
              </a:solidFill>
              <a:latin typeface="Arial"/>
              <a:ea typeface="Arial"/>
              <a:cs typeface="Arial"/>
              <a:sym typeface="Arial"/>
            </a:endParaRPr>
          </a:p>
          <a:p>
            <a:pPr indent="-127000" lvl="0" marL="127000" marR="0" rtl="0" algn="l">
              <a:lnSpc>
                <a:spcPct val="100000"/>
              </a:lnSpc>
              <a:spcBef>
                <a:spcPts val="400"/>
              </a:spcBef>
              <a:spcAft>
                <a:spcPts val="0"/>
              </a:spcAft>
              <a:buClr>
                <a:srgbClr val="000000"/>
              </a:buClr>
              <a:buSzPts val="900"/>
              <a:buFont typeface="Arial"/>
              <a:buChar char="•"/>
            </a:pPr>
            <a:r>
              <a:rPr b="0" i="0" lang="en-US" spc="0" sz="900" u="none" cap="none" strike="noStrike">
                <a:solidFill>
                  <a:srgbClr val="1D1D1F"/>
                </a:solidFill>
                <a:latin typeface="Arial"/>
                <a:ea typeface="Arial"/>
                <a:cs typeface="Arial"/>
                <a:sym typeface="Arial"/>
              </a:rPr>
              <a:t>Cancel under the waiver. No second "no" needed</a:t>
            </a:r>
            <a:endParaRPr b="0" i="0" spc="0" sz="900" u="none" cap="none" strike="noStrike">
              <a:solidFill>
                <a:srgbClr val="000000"/>
              </a:solidFill>
              <a:latin typeface="Arial"/>
              <a:ea typeface="Arial"/>
              <a:cs typeface="Arial"/>
              <a:sym typeface="Arial"/>
            </a:endParaRPr>
          </a:p>
        </p:txBody>
      </p:sp>
      <p:sp>
        <p:nvSpPr>
          <p:cNvPr id="1355" name="Google Shape;1355;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356" name="Google Shape;1356;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1" name="Shape 1361"/>
        <p:cNvGrpSpPr/>
        <p:nvPr/>
      </p:nvGrpSpPr>
      <p:grpSpPr>
        <a:xfrm>
          <a:off x="0" y="0"/>
          <a:ext cx="0" cy="0"/>
          <a:chOff x="0" y="0"/>
          <a:chExt cx="0" cy="0"/>
        </a:xfrm>
      </p:grpSpPr>
      <p:sp>
        <p:nvSpPr>
          <p:cNvPr id="1362" name="Google Shape;1362;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  ·  KNOWLEDGE CHECK</a:t>
            </a:r>
            <a:endParaRPr b="0" i="0" spc="0" sz="800" u="none" cap="none" strike="noStrike">
              <a:solidFill>
                <a:srgbClr val="000000"/>
              </a:solidFill>
              <a:latin typeface="Arial"/>
              <a:ea typeface="Arial"/>
              <a:cs typeface="Arial"/>
              <a:sym typeface="Arial"/>
            </a:endParaRPr>
          </a:p>
        </p:txBody>
      </p:sp>
      <p:sp>
        <p:nvSpPr>
          <p:cNvPr id="1363" name="Google Shape;1363;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rgbClr val="000000"/>
              </a:solidFill>
              <a:latin typeface="Arial"/>
              <a:ea typeface="Arial"/>
              <a:cs typeface="Arial"/>
              <a:sym typeface="Arial"/>
            </a:endParaRPr>
          </a:p>
        </p:txBody>
      </p:sp>
      <p:sp>
        <p:nvSpPr>
          <p:cNvPr id="1364" name="Google Shape;1364;p5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5" name="Google Shape;1365;p5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6" name="Google Shape;1366;p5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367" name="Google Shape;1367;p5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C declined your first offer. Move to Graceful Closure?</a:t>
            </a:r>
            <a:endParaRPr b="0" i="0" spc="0" sz="1000" u="none" cap="none" strike="noStrike">
              <a:solidFill>
                <a:srgbClr val="000000"/>
              </a:solidFill>
              <a:latin typeface="Arial"/>
              <a:ea typeface="Arial"/>
              <a:cs typeface="Arial"/>
              <a:sym typeface="Arial"/>
            </a:endParaRPr>
          </a:p>
        </p:txBody>
      </p:sp>
      <p:sp>
        <p:nvSpPr>
          <p:cNvPr id="1368" name="Google Shape;1368;p5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9" name="Google Shape;1369;p5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 yet. Check both gates: offered everything? Know why?</a:t>
            </a:r>
            <a:endParaRPr b="0" i="0" spc="0" sz="900" u="none" cap="none" strike="noStrike">
              <a:solidFill>
                <a:srgbClr val="000000"/>
              </a:solidFill>
              <a:latin typeface="Arial"/>
              <a:ea typeface="Arial"/>
              <a:cs typeface="Arial"/>
              <a:sym typeface="Arial"/>
            </a:endParaRPr>
          </a:p>
        </p:txBody>
      </p:sp>
      <p:sp>
        <p:nvSpPr>
          <p:cNvPr id="1370" name="Google Shape;1370;p5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1" name="Google Shape;1371;p5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2" name="Google Shape;1372;p5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373" name="Google Shape;1373;p5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C didn't answer your probing question. Close?</a:t>
            </a:r>
            <a:endParaRPr b="0" i="0" spc="0" sz="1000" u="none" cap="none" strike="noStrike">
              <a:solidFill>
                <a:srgbClr val="000000"/>
              </a:solidFill>
              <a:latin typeface="Arial"/>
              <a:ea typeface="Arial"/>
              <a:cs typeface="Arial"/>
              <a:sym typeface="Arial"/>
            </a:endParaRPr>
          </a:p>
        </p:txBody>
      </p:sp>
      <p:sp>
        <p:nvSpPr>
          <p:cNvPr id="1374" name="Google Shape;1374;p5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5" name="Google Shape;1375;p5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Silence isn't a green light. Ask again, differently.</a:t>
            </a:r>
            <a:endParaRPr b="0" i="0" spc="0" sz="900" u="none" cap="none" strike="noStrike">
              <a:solidFill>
                <a:srgbClr val="000000"/>
              </a:solidFill>
              <a:latin typeface="Arial"/>
              <a:ea typeface="Arial"/>
              <a:cs typeface="Arial"/>
              <a:sym typeface="Arial"/>
            </a:endParaRPr>
          </a:p>
        </p:txBody>
      </p:sp>
      <p:sp>
        <p:nvSpPr>
          <p:cNvPr id="1376" name="Google Shape;1376;p5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8" name="Google Shape;1378;p5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379" name="Google Shape;1379;p5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After closure: "Can you also refund last month?" Reply?</a:t>
            </a:r>
            <a:endParaRPr b="0" i="0" spc="0" sz="1000" u="none" cap="none" strike="noStrike">
              <a:solidFill>
                <a:srgbClr val="000000"/>
              </a:solidFill>
              <a:latin typeface="Arial"/>
              <a:ea typeface="Arial"/>
              <a:cs typeface="Arial"/>
              <a:sym typeface="Arial"/>
            </a:endParaRPr>
          </a:p>
        </p:txBody>
      </p:sp>
      <p:sp>
        <p:nvSpPr>
          <p:cNvPr id="1380" name="Google Shape;1380;p5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1" name="Google Shape;1381;p5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new concessions: all options were reviewed; this is the final resolution.</a:t>
            </a:r>
            <a:endParaRPr b="0" i="0" spc="0" sz="900" u="none" cap="none" strike="noStrike">
              <a:solidFill>
                <a:srgbClr val="000000"/>
              </a:solidFill>
              <a:latin typeface="Arial"/>
              <a:ea typeface="Arial"/>
              <a:cs typeface="Arial"/>
              <a:sym typeface="Arial"/>
            </a:endParaRPr>
          </a:p>
        </p:txBody>
      </p:sp>
      <p:sp>
        <p:nvSpPr>
          <p:cNvPr id="1382" name="Google Shape;1382;p5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4" name="Google Shape;1384;p5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4</a:t>
            </a:r>
            <a:endParaRPr b="0" i="0" spc="0" sz="900" u="none" cap="none" strike="noStrike">
              <a:solidFill>
                <a:srgbClr val="000000"/>
              </a:solidFill>
              <a:latin typeface="Arial"/>
              <a:ea typeface="Arial"/>
              <a:cs typeface="Arial"/>
              <a:sym typeface="Arial"/>
            </a:endParaRPr>
          </a:p>
        </p:txBody>
      </p:sp>
      <p:sp>
        <p:nvSpPr>
          <p:cNvPr id="1385" name="Google Shape;1385;p5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After closure, C threatens a class action. What now?</a:t>
            </a:r>
            <a:endParaRPr b="0" i="0" spc="0" sz="1000" u="none" cap="none" strike="noStrike">
              <a:solidFill>
                <a:srgbClr val="000000"/>
              </a:solidFill>
              <a:latin typeface="Arial"/>
              <a:ea typeface="Arial"/>
              <a:cs typeface="Arial"/>
              <a:sym typeface="Arial"/>
            </a:endParaRPr>
          </a:p>
        </p:txBody>
      </p:sp>
      <p:sp>
        <p:nvSpPr>
          <p:cNvPr id="1386" name="Google Shape;1386;p5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7" name="Google Shape;1387;p5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Stop Graceful Closure. Cancel and refund (over 120 days: TL for Legal).</a:t>
            </a:r>
            <a:endParaRPr b="0" i="0" spc="0" sz="900" u="none" cap="none" strike="noStrike">
              <a:solidFill>
                <a:srgbClr val="000000"/>
              </a:solidFill>
              <a:latin typeface="Arial"/>
              <a:ea typeface="Arial"/>
              <a:cs typeface="Arial"/>
              <a:sym typeface="Arial"/>
            </a:endParaRPr>
          </a:p>
        </p:txBody>
      </p:sp>
      <p:sp>
        <p:nvSpPr>
          <p:cNvPr id="1388" name="Google Shape;1388;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389" name="Google Shape;1389;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69"/>
                                        </p:tgtEl>
                                        <p:attrNameLst>
                                          <p:attrName>style.visibility</p:attrName>
                                        </p:attrNameLst>
                                      </p:cBhvr>
                                      <p:to>
                                        <p:strVal val="visible"/>
                                      </p:to>
                                    </p:set>
                                    <p:animEffect filter="fade" transition="in">
                                      <p:cBhvr>
                                        <p:cTn dur="600"/>
                                        <p:tgtEl>
                                          <p:spTgt spid="136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5"/>
                                        </p:tgtEl>
                                        <p:attrNameLst>
                                          <p:attrName>style.visibility</p:attrName>
                                        </p:attrNameLst>
                                      </p:cBhvr>
                                      <p:to>
                                        <p:strVal val="visible"/>
                                      </p:to>
                                    </p:set>
                                    <p:animEffect filter="fade" transition="in">
                                      <p:cBhvr>
                                        <p:cTn dur="600"/>
                                        <p:tgtEl>
                                          <p:spTgt spid="137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1"/>
                                        </p:tgtEl>
                                        <p:attrNameLst>
                                          <p:attrName>style.visibility</p:attrName>
                                        </p:attrNameLst>
                                      </p:cBhvr>
                                      <p:to>
                                        <p:strVal val="visible"/>
                                      </p:to>
                                    </p:set>
                                    <p:animEffect filter="fade" transition="in">
                                      <p:cBhvr>
                                        <p:cTn dur="600"/>
                                        <p:tgtEl>
                                          <p:spTgt spid="138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7"/>
                                        </p:tgtEl>
                                        <p:attrNameLst>
                                          <p:attrName>style.visibility</p:attrName>
                                        </p:attrNameLst>
                                      </p:cBhvr>
                                      <p:to>
                                        <p:strVal val="visible"/>
                                      </p:to>
                                    </p:set>
                                    <p:animEffect filter="fade" transition="in">
                                      <p:cBhvr>
                                        <p:cTn dur="600"/>
                                        <p:tgtEl>
                                          <p:spTgt spid="13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4" name="Shape 1394"/>
        <p:cNvGrpSpPr/>
        <p:nvPr/>
      </p:nvGrpSpPr>
      <p:grpSpPr>
        <a:xfrm>
          <a:off x="0" y="0"/>
          <a:ext cx="0" cy="0"/>
          <a:chOff x="0" y="0"/>
          <a:chExt cx="0" cy="0"/>
        </a:xfrm>
      </p:grpSpPr>
      <p:sp>
        <p:nvSpPr>
          <p:cNvPr id="1395" name="Google Shape;1395;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US" spc="50" sz="800" u="none" cap="none" strike="noStrike">
                <a:solidFill>
                  <a:srgbClr val="0B7A6F"/>
                </a:solidFill>
                <a:latin typeface="Play"/>
                <a:ea typeface="Play"/>
                <a:cs typeface="Play"/>
                <a:sym typeface="Play"/>
              </a:rPr>
              <a:t>GRACEFUL CLOSURE  ·  PRACTICE</a:t>
            </a:r>
            <a:endParaRPr b="0" i="0" spc="0" sz="800" u="none" cap="none" strike="noStrike">
              <a:solidFill>
                <a:srgbClr val="000000"/>
              </a:solidFill>
              <a:latin typeface="Arial"/>
              <a:ea typeface="Arial"/>
              <a:cs typeface="Arial"/>
              <a:sym typeface="Arial"/>
            </a:endParaRPr>
          </a:p>
        </p:txBody>
      </p:sp>
      <p:sp>
        <p:nvSpPr>
          <p:cNvPr id="1396" name="Google Shape;1396;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400"/>
              <a:buFont typeface="Arial"/>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rgbClr val="000000"/>
              </a:solidFill>
              <a:latin typeface="Arial"/>
              <a:ea typeface="Arial"/>
              <a:cs typeface="Arial"/>
              <a:sym typeface="Arial"/>
            </a:endParaRPr>
          </a:p>
        </p:txBody>
      </p:sp>
      <p:sp>
        <p:nvSpPr>
          <p:cNvPr id="1397" name="Google Shape;1397;p5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rgbClr val="000000"/>
              </a:solidFill>
              <a:latin typeface="Arial"/>
              <a:ea typeface="Arial"/>
              <a:cs typeface="Arial"/>
              <a:sym typeface="Arial"/>
            </a:endParaRPr>
          </a:p>
        </p:txBody>
      </p:sp>
      <p:sp>
        <p:nvSpPr>
          <p:cNvPr id="1398" name="Google Shape;1398;p5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9" name="Google Shape;1399;p5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00" name="Google Shape;1400;p5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01" name="Google Shape;1401;p5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rgbClr val="000000"/>
              </a:solidFill>
              <a:latin typeface="Arial"/>
              <a:ea typeface="Arial"/>
              <a:cs typeface="Arial"/>
              <a:sym typeface="Arial"/>
            </a:endParaRPr>
          </a:p>
        </p:txBody>
      </p:sp>
      <p:sp>
        <p:nvSpPr>
          <p:cNvPr id="1402" name="Google Shape;1402;p5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rgbClr val="000000"/>
              </a:solidFill>
              <a:latin typeface="Arial"/>
              <a:ea typeface="Arial"/>
              <a:cs typeface="Arial"/>
              <a:sym typeface="Arial"/>
            </a:endParaRPr>
          </a:p>
        </p:txBody>
      </p:sp>
      <p:sp>
        <p:nvSpPr>
          <p:cNvPr id="1403" name="Google Shape;1403;p5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rgbClr val="000000"/>
              </a:solidFill>
              <a:latin typeface="Arial"/>
              <a:ea typeface="Arial"/>
              <a:cs typeface="Arial"/>
              <a:sym typeface="Arial"/>
            </a:endParaRPr>
          </a:p>
        </p:txBody>
      </p:sp>
      <p:sp>
        <p:nvSpPr>
          <p:cNvPr id="1404" name="Google Shape;1404;p5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5" name="Google Shape;1405;p5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6" name="Google Shape;1406;p5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900" u="none" cap="none" strike="noStrike">
              <a:solidFill>
                <a:srgbClr val="000000"/>
              </a:solidFill>
              <a:latin typeface="Arial"/>
              <a:ea typeface="Arial"/>
              <a:cs typeface="Arial"/>
              <a:sym typeface="Arial"/>
            </a:endParaRPr>
          </a:p>
        </p:txBody>
      </p:sp>
      <p:sp>
        <p:nvSpPr>
          <p:cNvPr id="1407" name="Google Shape;1407;p5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Are both gates cleared?</a:t>
            </a:r>
            <a:endParaRPr b="0" i="0" spc="0" sz="1250" u="none" cap="none" strike="noStrike">
              <a:solidFill>
                <a:srgbClr val="000000"/>
              </a:solidFill>
              <a:latin typeface="Arial"/>
              <a:ea typeface="Arial"/>
              <a:cs typeface="Arial"/>
              <a:sym typeface="Arial"/>
            </a:endParaRPr>
          </a:p>
        </p:txBody>
      </p:sp>
      <p:sp>
        <p:nvSpPr>
          <p:cNvPr id="1408" name="Google Shape;1408;p5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Everything offered? Root cause known?</a:t>
            </a:r>
            <a:endParaRPr b="0" i="0" spc="0" sz="1000" u="none" cap="none" strike="noStrike">
              <a:solidFill>
                <a:srgbClr val="000000"/>
              </a:solidFill>
              <a:latin typeface="Arial"/>
              <a:ea typeface="Arial"/>
              <a:cs typeface="Arial"/>
              <a:sym typeface="Arial"/>
            </a:endParaRPr>
          </a:p>
        </p:txBody>
      </p:sp>
      <p:sp>
        <p:nvSpPr>
          <p:cNvPr id="1409" name="Google Shape;1409;p5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0" name="Google Shape;1410;p5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1" name="Google Shape;1411;p5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900" u="none" cap="none" strike="noStrike">
              <a:solidFill>
                <a:srgbClr val="000000"/>
              </a:solidFill>
              <a:latin typeface="Arial"/>
              <a:ea typeface="Arial"/>
              <a:cs typeface="Arial"/>
              <a:sym typeface="Arial"/>
            </a:endParaRPr>
          </a:p>
        </p:txBody>
      </p:sp>
      <p:sp>
        <p:nvSpPr>
          <p:cNvPr id="1412" name="Google Shape;1412;p5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Which step are you on?</a:t>
            </a:r>
            <a:endParaRPr b="0" i="0" spc="0" sz="1250" u="none" cap="none" strike="noStrike">
              <a:solidFill>
                <a:srgbClr val="000000"/>
              </a:solidFill>
              <a:latin typeface="Arial"/>
              <a:ea typeface="Arial"/>
              <a:cs typeface="Arial"/>
              <a:sym typeface="Arial"/>
            </a:endParaRPr>
          </a:p>
        </p:txBody>
      </p:sp>
      <p:sp>
        <p:nvSpPr>
          <p:cNvPr id="1413" name="Google Shape;1413;p5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Clarify, Educate, Offer, Protect.</a:t>
            </a:r>
            <a:endParaRPr b="0" i="0" spc="0" sz="1000" u="none" cap="none" strike="noStrike">
              <a:solidFill>
                <a:srgbClr val="000000"/>
              </a:solidFill>
              <a:latin typeface="Arial"/>
              <a:ea typeface="Arial"/>
              <a:cs typeface="Arial"/>
              <a:sym typeface="Arial"/>
            </a:endParaRPr>
          </a:p>
        </p:txBody>
      </p:sp>
      <p:sp>
        <p:nvSpPr>
          <p:cNvPr id="1414" name="Google Shape;1414;p5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900" u="none" cap="none" strike="noStrike">
              <a:solidFill>
                <a:srgbClr val="000000"/>
              </a:solidFill>
              <a:latin typeface="Arial"/>
              <a:ea typeface="Arial"/>
              <a:cs typeface="Arial"/>
              <a:sym typeface="Arial"/>
            </a:endParaRPr>
          </a:p>
        </p:txBody>
      </p:sp>
      <p:sp>
        <p:nvSpPr>
          <p:cNvPr id="1417" name="Google Shape;1417;p5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rgbClr val="000000"/>
              </a:solidFill>
              <a:latin typeface="Arial"/>
              <a:ea typeface="Arial"/>
              <a:cs typeface="Arial"/>
              <a:sym typeface="Arial"/>
            </a:endParaRPr>
          </a:p>
        </p:txBody>
      </p:sp>
      <p:sp>
        <p:nvSpPr>
          <p:cNvPr id="1418" name="Google Shape;1418;p5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rgbClr val="6E6E73"/>
                </a:solidFill>
                <a:latin typeface="Arial"/>
                <a:ea typeface="Arial"/>
                <a:cs typeface="Arial"/>
                <a:sym typeface="Arial"/>
              </a:rPr>
              <a:t>Write your closure message.</a:t>
            </a:r>
            <a:endParaRPr b="0" i="0" spc="0" sz="1000" u="none" cap="none" strike="noStrike">
              <a:solidFill>
                <a:srgbClr val="000000"/>
              </a:solidFill>
              <a:latin typeface="Arial"/>
              <a:ea typeface="Arial"/>
              <a:cs typeface="Arial"/>
              <a:sym typeface="Arial"/>
            </a:endParaRPr>
          </a:p>
        </p:txBody>
      </p:sp>
      <p:sp>
        <p:nvSpPr>
          <p:cNvPr id="1419" name="Google Shape;1419;p5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20" name="Google Shape;1420;p5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21" name="Google Shape;1421;p5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rgbClr val="000000"/>
              </a:solidFill>
              <a:latin typeface="Arial"/>
              <a:ea typeface="Arial"/>
              <a:cs typeface="Arial"/>
              <a:sym typeface="Arial"/>
            </a:endParaRPr>
          </a:p>
        </p:txBody>
      </p:sp>
      <p:sp>
        <p:nvSpPr>
          <p:cNvPr id="1422" name="Google Shape;1422;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700"/>
              <a:buFont typeface="Arial"/>
              <a:buNone/>
            </a:pPr>
            <a:fld id="{00000000-1234-1234-1234-123412341234}" type="slidenum">
              <a:rPr b="0" i="0" lang="en-US" spc="0" sz="700" u="none" cap="none" strike="noStrike">
                <a:solidFill>
                  <a:srgbClr val="6E6E73"/>
                </a:solidFill>
                <a:latin typeface="Arial"/>
                <a:ea typeface="Arial"/>
                <a:cs typeface="Arial"/>
                <a:sym typeface="Arial"/>
              </a:rPr>
              <a:t>‹#›</a:t>
            </a:fld>
            <a:endParaRPr b="0" i="0" spc="0" sz="700" u="none" cap="none" strike="noStrike">
              <a:solidFill>
                <a:srgbClr val="6E6E73"/>
              </a:solidFill>
              <a:latin typeface="Arial"/>
              <a:ea typeface="Arial"/>
              <a:cs typeface="Arial"/>
              <a:sym typeface="Arial"/>
            </a:endParaRPr>
          </a:p>
        </p:txBody>
      </p:sp>
      <p:sp>
        <p:nvSpPr>
          <p:cNvPr id="1423" name="Google Shape;1423;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8" name="Shape 1428"/>
        <p:cNvGrpSpPr/>
        <p:nvPr/>
      </p:nvGrpSpPr>
      <p:grpSpPr>
        <a:xfrm>
          <a:off x="0" y="0"/>
          <a:ext cx="0" cy="0"/>
          <a:chOff x="0" y="0"/>
          <a:chExt cx="0" cy="0"/>
        </a:xfrm>
      </p:grpSpPr>
      <p:sp>
        <p:nvSpPr>
          <p:cNvPr id="1429" name="Google Shape;1429;p54"/>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1430" name="Google Shape;1430;p54"/>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1431" name="Google Shape;1431;p54"/>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1432" name="Google Shape;1432;p5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3" name="Google Shape;1433;p5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9.png" id="1434" name="Google Shape;1434;p54"/>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435" name="Google Shape;1435;p5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6" name="Google Shape;1436;p5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7" name="Google Shape;1437;p5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8" name="Google Shape;1438;p5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9" name="Google Shape;1439;p5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0" name="Google Shape;1440;p5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1" name="Google Shape;1441;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