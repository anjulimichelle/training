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5143500" cx="9144000"/>
  <p:notesSz cx="5143500" cy="9144000"/>
  <p:embeddedFontLst>
    <p:embeddedFont>
      <p:font typeface="Play"/>
      <p:regular r:id="rId38"/>
      <p:bold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0931992-1EF9-4AE2-9FA4-9B17B514BBD0}">
  <a:tblStyle styleId="{00931992-1EF9-4AE2-9FA4-9B17B514BBD0}"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font" Target="fonts/Play-bold.fntdata"/><Relationship Id="rId16" Type="http://schemas.openxmlformats.org/officeDocument/2006/relationships/slide" Target="slides/slide11.xml"/><Relationship Id="rId38" Type="http://schemas.openxmlformats.org/officeDocument/2006/relationships/font" Target="fonts/Play-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16" name="Google Shape;11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44" name="Google Shape;14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65" name="Google Shape;1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78" name="Google Shape;17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196" name="Google Shape;19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14" name="Google Shape;21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1" name="Google Shape;24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73" name="Google Shape;27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06" name="Google Shape;30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37" name="Google Shape;33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64" name="Google Shape;36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0" name="Google Shape;38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0" name="Google Shape;41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42" name="Google Shape;44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75" name="Google Shape;47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5" name="Google Shape;50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06" name="Google Shape;50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4" name="Google Shape;53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IMPORTANT: before you touch anything on the ticket, check whether the duplicate account is associated with Thumbtack. Thumbtack customers have their own handling process. How to check: Legacy CRM &gt; View &gt; Flag &gt; look for project_thumbtack. If the flag is present: reassign the ticket to the Thumbtack queue, and stop. If not: continue. Step 1, confirm the duplicate and stop it from recurring: cancel the FC membership on the duplicate account immediately, regardless of which branch applies; it stops a third charge while you sort out the rest. Cancel any upcoming appointments or recurring cleaning plan on the duplicate account too, unless the customer has given you a reason to keep them. Leave an internal note on both accounts with the ticket link or C ID of the duplicate/main account. Steps 2–3: whether the customer is paying two MFs, unaware and not contesting, or actively contesting, present the choice: refund the duplicate charges, or apply them as free months on the main account (max 3), adjusting the MCT. If they contest and choose free months, add 1 bonus month on top as a goodwill gesture; if total paid months reach 6, explain they've effectively fulfilled the MCT. If they choose a refund: no bonus month. Customer insists on a refund and rejects free months: refund the duplicate within 120 days; beyond 120 days only if the duplicate was caused by a system/agent error. Why the asymmetry: a free month costs Homeaglow far less than a refund, so the goodwill gesture comes only with the cheaper option. Tiering: count the customer's history across both accounts wherever it matters (e.g. lockout customer category): 22 paid months and 8 jobs split across two accounts = Very High-Value.</a:t>
            </a:r>
            <a:endParaRPr/>
          </a:p>
        </p:txBody>
      </p:sp>
      <p:sp>
        <p:nvSpPr>
          <p:cNvPr id="535" name="Google Shape;53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65" name="Google Shape;56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597" name="Google Shape;597;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30" name="Google Shape;63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Bulk charges happen when a customer's ForeverClean (FC) monthly fee has been overdue for multiple billing cycles, and a payment attempt finally goes through. Instead of billing one overdue month at a time, the system charges all the past-due months in a single transaction. The customer ends up seeing several MF charges posted on the same day or within the same month: each one for a different month they missed, not a duplicate of the same charge. Screenshot (sample Payment history): four $59 MF charges on Oct 1, each with a different foreverclean_paid_through date (1/27, 2/27, 3/27, 4/27): four missed months, not duplicates. This applies to both DHJ and FCF memberships. Since September 12, 2024, the system no longer auto-issues free months to true up overdue accounts, so the proactive true-up (Branch A) falls to agents. A wall of same-day charges reads as a billing error to the customer, even when every dollar was owed. Your job is to figure out whether the customer got real value for those months (using the service, or didn't know they were billed) and let that drive how much you fix. Three reasons it reaches you: A) FC overdue, but that's not why C wrote in; B) FC already cancelled and C wants a refund; C) FC active and C wants to cancel because of the bulk charge.</a:t>
            </a:r>
            <a:endParaRPr/>
          </a:p>
        </p:txBody>
      </p:sp>
      <p:sp>
        <p:nvSpPr>
          <p:cNvPr id="661" name="Google Shape;661;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9" name="Google Shape;71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TRAINER: the button jumps to the "MF refunds by root cause" table.</a:t>
            </a:r>
            <a:endParaRPr/>
          </a:p>
        </p:txBody>
      </p:sp>
      <p:sp>
        <p:nvSpPr>
          <p:cNvPr id="720" name="Google Shape;72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C: FC is still active, and the bulk charge is why the customer wants to cancel. First, check whether the account is still overdue even after the bulk charge landed, then check MCT status, because that determines whether you're in save mode or exit mode. Beyond MCT: the ETF does not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Not retainable: cancel FC. If the customer has a refund request, follow the standard refund policy (MF &amp; ETF Refund Requests). Within MCT: the ETF applies, and the retention attempt happens first: offer free months equal to the unused bulk MF charges, explain the FC/ETF terms, and tailor further if other pain points exist (e.g. a cost complaint: reduce the MF + free months; PCQ: add a voucher + resolution). TRAINER: click "C responds to the offer" to go to the next slide (did C accept or not).</a:t>
            </a:r>
            <a:endParaRPr/>
          </a:p>
        </p:txBody>
      </p:sp>
      <p:sp>
        <p:nvSpPr>
          <p:cNvPr id="733" name="Google Shape;73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0" name="Google Shape;76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Within MCT, after the retention attempt. Did the customer accept the offer? Yes: acknowledge and apply the offers if they haven't been issued yet. No: FCF customers who haven't had a first completed cleaning have no ETF at all (FCF's ETF only kicks in after the first completed cleaning): cancel FC. For everyone else, reduce the MCT or the ETF, whichever is most cost-effective for the customer. MCT reduction: up to 2 months off the original MCT, and only when it's cheaper than a reduced ETF. ETF reduction: apply the unused bulk MFs to the ETF. If the paid MFs are less than the ETF, reduce the ETF by the paid-unused-MF amount; if the paid MFs are equal to or more than the ETF, waive the ETF and cancel FC. Worked example: the customer has 1 month left on MCT, owes a $150 ETF, and has $100 in unused bulk MFs. ETF credit path: $100 credit, $50 ETF still owed. MCT reduction path: reduce the last month, MCT complete, ETF waived, $0 owed. MCT reduction wins here. Run this comparison whenever the customer is close to the end of their term; don't default to the ETF credit just because it's the more familiar move.</a:t>
            </a:r>
            <a:endParaRPr/>
          </a:p>
        </p:txBody>
      </p:sp>
      <p:sp>
        <p:nvSpPr>
          <p:cNvPr id="761" name="Google Shape;76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798" name="Google Shape;798;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9" name="Google Shape;829;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30" name="Google Shape;830;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863" name="Google Shape;863;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1" Type="http://schemas.openxmlformats.org/officeDocument/2006/relationships/slide" Target="/ppt/slides/slide19.xml"/><Relationship Id="rId10" Type="http://schemas.openxmlformats.org/officeDocument/2006/relationships/slide" Target="/ppt/slides/slide19.xml"/><Relationship Id="rId13" Type="http://schemas.openxmlformats.org/officeDocument/2006/relationships/slide" Target="/ppt/slides/slide24.xml"/><Relationship Id="rId12" Type="http://schemas.openxmlformats.org/officeDocument/2006/relationships/slide" Target="/ppt/slides/slide24.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4" Type="http://schemas.openxmlformats.org/officeDocument/2006/relationships/slide" Target="/ppt/slides/slide24.xml"/><Relationship Id="rId5" Type="http://schemas.openxmlformats.org/officeDocument/2006/relationships/slide" Target="/ppt/slides/slide3.xml"/><Relationship Id="rId6" Type="http://schemas.openxmlformats.org/officeDocument/2006/relationships/slide" Target="/ppt/slides/slide13.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4.png"/><Relationship Id="rId4" Type="http://schemas.openxmlformats.org/officeDocument/2006/relationships/image" Target="../media/image4.png"/><Relationship Id="rId5" Type="http://schemas.openxmlformats.org/officeDocument/2006/relationships/image" Target="../media/image29.png"/><Relationship Id="rId6"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8.pn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slide" Target="/ppt/slid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slide" Target="/ppt/slid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6405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47320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83484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6405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47320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83484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04</a:t>
            </a:r>
            <a:endParaRPr b="0" i="0" spc="0" sz="800" u="none" cap="none" strike="noStrike">
              <a:solidFill>
                <a:schemeClr val="dk1"/>
              </a:solidFill>
              <a:latin typeface="Calibri"/>
              <a:ea typeface="Calibri"/>
              <a:cs typeface="Calibri"/>
              <a:sym typeface="Calibri"/>
            </a:endParaRPr>
          </a:p>
        </p:txBody>
      </p:sp>
      <p:sp>
        <p:nvSpPr>
          <p:cNvPr id="61" name="Google Shape;61;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62" name="Google Shape;62;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63" name="Google Shape;63;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 name="Google Shape;64;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 name="Google Shape;65;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 name="Google Shape;66;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67" name="Google Shape;67;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 name="Google Shape;68;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9" name="Google Shape;69;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0" name="Google Shape;70;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 name="Google Shape;71;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2" name="Google Shape;72;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73" name="Google Shape;73;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5" name="Google Shape;75;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 name="Google Shape;77;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78" name="Google Shape;78;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79" name="Google Shape;79;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 name="Google Shape;80;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 name="Google Shape;81;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 name="Google Shape;82;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 name="Google Shape;84;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 name="Google Shape;85;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92" name="Google Shape;92;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93" name="Google Shape;93;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94" name="Google Shape;94;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 name="Google Shape;95;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 name="Google Shape;96;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7" name="Google Shape;97;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98" name="Google Shape;98;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99" name="Google Shape;99;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 name="Google Shape;100;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 name="Google Shape;101;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2" name="Google Shape;102;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03" name="Google Shape;103;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04" name="Google Shape;104;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 name="Google Shape;105;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 name="Google Shape;106;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 name="Google Shape;107;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08" name="Google Shape;108;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09" name="Google Shape;109;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11" name="Google Shape;111;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12" name="Google Shape;112;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19" name="Google Shape;119;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0" name="Google Shape;120;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21" name="Google Shape;121;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 name="Google Shape;122;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23" name="Google Shape;123;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24" name="Google Shape;124;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 name="Google Shape;125;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26" name="Google Shape;126;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27" name="Google Shape;127;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28" name="Google Shape;128;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 name="Google Shape;129;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0" name="Google Shape;130;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31" name="Google Shape;131;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 name="Google Shape;132;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33" name="Google Shape;133;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34" name="Google Shape;134;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 name="Google Shape;135;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36" name="Google Shape;136;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37" name="Google Shape;137;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0" name="Google Shape;140;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47" name="Google Shape;147;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48" name="Google Shape;148;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49" name="Google Shape;149;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0" name="Google Shape;150;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rgbClr val="FFFFFF"/>
                </a:solidFill>
                <a:latin typeface="Play"/>
                <a:ea typeface="Play"/>
                <a:cs typeface="Play"/>
                <a:sym typeface="Play"/>
              </a:rPr>
              <a:t>MF refund request</a:t>
            </a:r>
            <a:endParaRPr b="0" i="0" spc="0" sz="1400" u="none" cap="none" strike="noStrike">
              <a:solidFill>
                <a:srgbClr val="000000"/>
              </a:solidFill>
              <a:latin typeface="Arial"/>
              <a:ea typeface="Arial"/>
              <a:cs typeface="Arial"/>
              <a:sym typeface="Arial"/>
            </a:endParaRPr>
          </a:p>
        </p:txBody>
      </p:sp>
      <p:cxnSp>
        <p:nvCxnSpPr>
          <p:cNvPr id="151" name="Google Shape;151;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52" name="Google Shape;152;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53" name="Google Shape;153;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54" name="Google Shape;154;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55" name="Google Shape;155;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b="0" i="0" spc="0" sz="1400" u="none" cap="none" strike="noStrike">
              <a:solidFill>
                <a:srgbClr val="000000"/>
              </a:solidFill>
              <a:latin typeface="Arial"/>
              <a:ea typeface="Arial"/>
              <a:cs typeface="Arial"/>
              <a:sym typeface="Arial"/>
            </a:endParaRPr>
          </a:p>
        </p:txBody>
      </p:sp>
      <p:sp>
        <p:nvSpPr>
          <p:cNvPr id="156" name="Google Shape;156;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b="0" i="0" spc="0" sz="1400" u="none" cap="none" strike="noStrike">
              <a:solidFill>
                <a:srgbClr val="000000"/>
              </a:solidFill>
              <a:latin typeface="Arial"/>
              <a:ea typeface="Arial"/>
              <a:cs typeface="Arial"/>
              <a:sym typeface="Arial"/>
            </a:endParaRPr>
          </a:p>
        </p:txBody>
      </p:sp>
      <p:sp>
        <p:nvSpPr>
          <p:cNvPr id="157" name="Google Shape;157;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 name="Google Shape;158;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Active and 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Lead with free months equal to the eligible amount (max 3).</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Exception: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b="0" i="0" spc="0" sz="1400" u="none" cap="none" strike="noStrike">
              <a:solidFill>
                <a:srgbClr val="000000"/>
              </a:solidFill>
              <a:latin typeface="Arial"/>
              <a:ea typeface="Arial"/>
              <a:cs typeface="Arial"/>
              <a:sym typeface="Arial"/>
            </a:endParaRPr>
          </a:p>
        </p:txBody>
      </p:sp>
      <p:sp>
        <p:nvSpPr>
          <p:cNvPr id="159" name="Google Shape;159;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5E4A9C"/>
                </a:solidFill>
                <a:latin typeface="Play"/>
                <a:ea typeface="Play"/>
                <a:cs typeface="Play"/>
                <a:sym typeface="Play"/>
              </a:rPr>
              <a:t>Follow the root cause table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b="0" i="0" spc="0" sz="1400" u="none" cap="none" strike="noStrike">
              <a:solidFill>
                <a:srgbClr val="000000"/>
              </a:solidFill>
              <a:latin typeface="Arial"/>
              <a:ea typeface="Arial"/>
              <a:cs typeface="Arial"/>
              <a:sym typeface="Arial"/>
            </a:endParaRPr>
          </a:p>
        </p:txBody>
      </p:sp>
      <p:sp>
        <p:nvSpPr>
          <p:cNvPr id="161" name="Google Shape;161;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Root cause table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68" name="Google Shape;168;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69" name="Google Shape;169;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0" name="Google Shape;170;p11"/>
          <p:cNvGraphicFramePr/>
          <p:nvPr/>
        </p:nvGraphicFramePr>
        <p:xfrm>
          <a:off x="411480" y="1325880"/>
          <a:ext cx="3000000" cy="3000000"/>
        </p:xfrm>
        <a:graphic>
          <a:graphicData uri="http://schemas.openxmlformats.org/drawingml/2006/table">
            <a:tbl>
              <a:tblPr>
                <a:noFill/>
                <a:tableStyleId>{00931992-1EF9-4AE2-9FA4-9B17B514BBD0}</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71" name="Google Shape;171;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 name="Google Shape;172;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73" name="Google Shape;173;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74" name="Google Shape;17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81" name="Google Shape;18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82" name="Google Shape;18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83" name="Google Shape;183;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 name="Google Shape;184;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85" name="Google Shape;185;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86" name="Google Shape;186;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 name="Google Shape;187;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88" name="Google Shape;188;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89" name="Google Shape;189;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 name="Google Shape;190;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191" name="Google Shape;191;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192" name="Google Shape;192;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9" name="Google Shape;199;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0" name="Google Shape;200;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01" name="Google Shape;201;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03" name="Google Shape;203;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04" name="Google Shape;204;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 name="Google Shape;205;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06" name="Google Shape;206;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07" name="Google Shape;207;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 name="Google Shape;208;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09" name="Google Shape;209;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0" name="Google Shape;210;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17" name="Google Shape;217;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18" name="Google Shape;218;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19" name="Google Shape;219;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 name="Google Shape;220;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 name="Google Shape;221;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2" name="Google Shape;222;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23" name="Google Shape;223;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24" name="Google Shape;224;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 name="Google Shape;225;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6" name="Google Shape;226;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27" name="Google Shape;227;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28" name="Google Shape;228;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29" name="Google Shape;229;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 name="Google Shape;230;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1" name="Google Shape;231;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2" name="Google Shape;232;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33" name="Google Shape;233;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34" name="Google Shape;234;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36" name="Google Shape;236;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37" name="Google Shape;237;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44" name="Google Shape;244;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5" name="Google Shape;245;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8" name="Google Shape;248;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49" name="Google Shape;249;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 name="Google Shape;250;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51" name="Google Shape;251;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 name="Google Shape;253;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4" name="Google Shape;254;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55" name="Google Shape;255;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57" name="Google Shape;257;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0" name="Google Shape;260;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61" name="Google Shape;261;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63" name="Google Shape;263;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6" name="Google Shape;266;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67" name="Google Shape;267;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0"/>
                                        </p:tgtEl>
                                        <p:attrNameLst>
                                          <p:attrName>style.visibility</p:attrName>
                                        </p:attrNameLst>
                                      </p:cBhvr>
                                      <p:to>
                                        <p:strVal val="visible"/>
                                      </p:to>
                                    </p:set>
                                    <p:animEffect filter="fade" transition="in">
                                      <p:cBhvr>
                                        <p:cTn dur="600"/>
                                        <p:tgtEl>
                                          <p:spTgt spid="2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6"/>
                                        </p:tgtEl>
                                        <p:attrNameLst>
                                          <p:attrName>style.visibility</p:attrName>
                                        </p:attrNameLst>
                                      </p:cBhvr>
                                      <p:to>
                                        <p:strVal val="visible"/>
                                      </p:to>
                                    </p:set>
                                    <p:animEffect filter="fade" transition="in">
                                      <p:cBhvr>
                                        <p:cTn dur="600"/>
                                        <p:tgtEl>
                                          <p:spTgt spid="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2"/>
                                        </p:tgtEl>
                                        <p:attrNameLst>
                                          <p:attrName>style.visibility</p:attrName>
                                        </p:attrNameLst>
                                      </p:cBhvr>
                                      <p:to>
                                        <p:strVal val="visible"/>
                                      </p:to>
                                    </p:set>
                                    <p:animEffect filter="fade" transition="in">
                                      <p:cBhvr>
                                        <p:cTn dur="600"/>
                                        <p:tgtEl>
                                          <p:spTgt spid="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8"/>
                                        </p:tgtEl>
                                        <p:attrNameLst>
                                          <p:attrName>style.visibility</p:attrName>
                                        </p:attrNameLst>
                                      </p:cBhvr>
                                      <p:to>
                                        <p:strVal val="visible"/>
                                      </p:to>
                                    </p:set>
                                    <p:animEffect filter="fade" transition="in">
                                      <p:cBhvr>
                                        <p:cTn dur="600"/>
                                        <p:tgtEl>
                                          <p:spTgt spid="2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76" name="Google Shape;276;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7" name="Google Shape;277;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8" name="Google Shape;278;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 name="Google Shape;279;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0" name="Google Shape;280;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1" name="Google Shape;281;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2" name="Google Shape;282;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3" name="Google Shape;283;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4" name="Google Shape;284;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7" name="Google Shape;287;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88" name="Google Shape;288;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89" name="Google Shape;289;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2" name="Google Shape;292;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3" name="Google Shape;293;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294" name="Google Shape;294;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8" name="Google Shape;298;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299" name="Google Shape;299;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0" name="Google Shape;300;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1" name="Google Shape;301;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2" name="Google Shape;30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04</a:t>
            </a:r>
            <a:endParaRPr b="0" i="0" spc="0" sz="800" u="none" cap="none" strike="noStrike">
              <a:solidFill>
                <a:schemeClr val="dk1"/>
              </a:solidFill>
              <a:latin typeface="Calibri"/>
              <a:ea typeface="Calibri"/>
              <a:cs typeface="Calibri"/>
              <a:sym typeface="Calibri"/>
            </a:endParaRPr>
          </a:p>
        </p:txBody>
      </p:sp>
      <p:sp>
        <p:nvSpPr>
          <p:cNvPr id="309" name="Google Shape;309;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0" name="Google Shape;310;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11" name="Google Shape;311;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2" name="Google Shape;312;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3" name="Google Shape;313;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4" name="Google Shape;314;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15" name="Google Shape;315;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6" name="Google Shape;316;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7" name="Google Shape;317;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18" name="Google Shape;318;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9" name="Google Shape;319;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0" name="Google Shape;320;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21" name="Google Shape;321;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3" name="Google Shape;323;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26" name="Google Shape;326;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27" name="Google Shape;327;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0" name="Google Shape;34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41" name="Google Shape;34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42" name="Google Shape;342;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4" name="Google Shape;344;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45" name="Google Shape;345;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46" name="Google Shape;346;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47" name="Google Shape;347;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9" name="Google Shape;349;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0" name="Google Shape;350;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51" name="Google Shape;351;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52" name="Google Shape;352;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55" name="Google Shape;355;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56" name="Google Shape;356;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57" name="Google Shape;357;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59" name="Google Shape;359;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0" name="Google Shape;360;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67" name="Google Shape;367;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68" name="Google Shape;368;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69" name="Google Shape;369;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71" name="Google Shape;371;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73" name="Google Shape;373;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4" name="Google Shape;374;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75" name="Google Shape;375;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76" name="Google Shape;376;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83" name="Google Shape;383;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84" name="Google Shape;384;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85" name="Google Shape;385;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6" name="Google Shape;386;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7" name="Google Shape;387;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88" name="Google Shape;388;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89" name="Google Shape;389;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0" name="Google Shape;390;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1" name="Google Shape;391;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92" name="Google Shape;392;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393" name="Google Shape;393;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4" name="Google Shape;394;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96" name="Google Shape;396;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397" name="Google Shape;397;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399" name="Google Shape;399;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0" name="Google Shape;400;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1" name="Google Shape;401;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02" name="Google Shape;402;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03" name="Google Shape;403;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4" name="Google Shape;404;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05" name="Google Shape;405;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06" name="Google Shape;406;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13" name="Google Shape;413;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14" name="Google Shape;414;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18" name="Google Shape;418;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0" name="Google Shape;420;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1" name="Google Shape;421;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2" name="Google Shape;422;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3" name="Google Shape;423;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24" name="Google Shape;424;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26" name="Google Shape;426;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7" name="Google Shape;427;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9" name="Google Shape;429;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0" name="Google Shape;430;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32" name="Google Shape;432;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3" name="Google Shape;433;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35" name="Google Shape;435;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36" name="Google Shape;436;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600"/>
                                        <p:tgtEl>
                                          <p:spTgt spid="4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5"/>
                                        </p:tgtEl>
                                        <p:attrNameLst>
                                          <p:attrName>style.visibility</p:attrName>
                                        </p:attrNameLst>
                                      </p:cBhvr>
                                      <p:to>
                                        <p:strVal val="visible"/>
                                      </p:to>
                                    </p:set>
                                    <p:animEffect filter="fade" transition="in">
                                      <p:cBhvr>
                                        <p:cTn dur="600"/>
                                        <p:tgtEl>
                                          <p:spTgt spid="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1"/>
                                        </p:tgtEl>
                                        <p:attrNameLst>
                                          <p:attrName>style.visibility</p:attrName>
                                        </p:attrNameLst>
                                      </p:cBhvr>
                                      <p:to>
                                        <p:strVal val="visible"/>
                                      </p:to>
                                    </p:set>
                                    <p:animEffect filter="fade" transition="in">
                                      <p:cBhvr>
                                        <p:cTn dur="600"/>
                                        <p:tgtEl>
                                          <p:spTgt spid="4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7"/>
                                        </p:tgtEl>
                                        <p:attrNameLst>
                                          <p:attrName>style.visibility</p:attrName>
                                        </p:attrNameLst>
                                      </p:cBhvr>
                                      <p:to>
                                        <p:strVal val="visible"/>
                                      </p:to>
                                    </p:set>
                                    <p:animEffect filter="fade" transition="in">
                                      <p:cBhvr>
                                        <p:cTn dur="600"/>
                                        <p:tgtEl>
                                          <p:spTgt spid="4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45" name="Google Shape;445;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46" name="Google Shape;446;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47" name="Google Shape;447;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8" name="Google Shape;448;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9" name="Google Shape;449;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0" name="Google Shape;450;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51" name="Google Shape;451;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52" name="Google Shape;452;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53" name="Google Shape;453;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56" name="Google Shape;456;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57" name="Google Shape;457;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58" name="Google Shape;458;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9" name="Google Shape;459;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0" name="Google Shape;460;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61" name="Google Shape;461;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62" name="Google Shape;462;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63" name="Google Shape;463;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5" name="Google Shape;465;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67" name="Google Shape;467;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68" name="Google Shape;468;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69" name="Google Shape;469;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0" name="Google Shape;470;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71" name="Google Shape;471;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04</a:t>
            </a:r>
            <a:endParaRPr b="0" i="0" spc="0" sz="800" u="none" cap="none" strike="noStrike">
              <a:solidFill>
                <a:schemeClr val="dk1"/>
              </a:solidFill>
              <a:latin typeface="Calibri"/>
              <a:ea typeface="Calibri"/>
              <a:cs typeface="Calibri"/>
              <a:sym typeface="Calibri"/>
            </a:endParaRPr>
          </a:p>
        </p:txBody>
      </p:sp>
      <p:sp>
        <p:nvSpPr>
          <p:cNvPr id="478" name="Google Shape;478;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79" name="Google Shape;479;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0" name="Google Shape;480;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81" name="Google Shape;481;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2" name="Google Shape;482;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83" name="Google Shape;483;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84" name="Google Shape;484;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5" name="Google Shape;485;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86" name="Google Shape;486;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87" name="Google Shape;487;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8" name="Google Shape;488;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89" name="Google Shape;489;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0" name="Google Shape;490;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492" name="Google Shape;492;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4" name="Google Shape;494;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495" name="Google Shape;495;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496" name="Google Shape;496;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7" name="Google Shape;497;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8" name="Google Shape;498;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0" name="Google Shape;500;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1" name="Google Shape;501;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2" name="Google Shape;502;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09" name="Google Shape;509;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0" name="Google Shape;510;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11" name="Google Shape;511;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2" name="Google Shape;512;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3" name="Google Shape;513;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14" name="Google Shape;514;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15" name="Google Shape;515;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16" name="Google Shape;516;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7" name="Google Shape;517;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8" name="Google Shape;518;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19" name="Google Shape;519;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0" name="Google Shape;520;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p:txBody>
      </p:sp>
      <p:sp>
        <p:nvSpPr>
          <p:cNvPr id="521" name="Google Shape;521;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2" name="Google Shape;522;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3" name="Google Shape;523;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24" name="Google Shape;524;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25" name="Google Shape;525;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26" name="Google Shape;526;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28" name="Google Shape;528;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0" name="Google Shape;530;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31" name="Google Shape;531;p24"/>
          <p:cNvSpPr/>
          <p:nvPr/>
        </p:nvSpPr>
        <p:spPr>
          <a:xfrm>
            <a:off x="3395475" y="2578550"/>
            <a:ext cx="2468700" cy="2013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US" spc="0" sz="1200" u="none" cap="none" strike="noStrike">
                <a:solidFill>
                  <a:srgbClr val="0D0D0D"/>
                </a:solidFill>
                <a:highlight>
                  <a:srgbClr val="FCFCFC"/>
                </a:highlight>
                <a:latin typeface="Arial"/>
                <a:ea typeface="Arial"/>
                <a:cs typeface="Arial"/>
                <a:sym typeface="Arial"/>
              </a:rPr>
              <a:t>🖥️</a:t>
            </a:r>
            <a:r>
              <a:rPr b="0" i="0" lang="en-US" spc="0" sz="1100" u="none" cap="none" strike="noStrike">
                <a:solidFill>
                  <a:schemeClr val="dk1"/>
                </a:solidFill>
                <a:latin typeface="Arial"/>
                <a:ea typeface="Arial"/>
                <a:cs typeface="Arial"/>
                <a:sym typeface="Arial"/>
              </a:rPr>
              <a:t> </a:t>
            </a:r>
            <a:r>
              <a:rPr b="1" i="0" lang="en-US" spc="0" sz="700" u="none" cap="none" strike="noStrike">
                <a:solidFill>
                  <a:schemeClr val="dk1"/>
                </a:solidFill>
                <a:latin typeface="Play"/>
                <a:ea typeface="Play"/>
                <a:cs typeface="Play"/>
                <a:sym typeface="Play"/>
              </a:rPr>
              <a:t>Trainer walkthrough: how to search duplicates</a:t>
            </a:r>
            <a:endParaRPr b="1" i="0" spc="0" sz="700" u="none" cap="none" strike="noStrike">
              <a:solidFill>
                <a:srgbClr val="000000"/>
              </a:solidFill>
              <a:latin typeface="Play"/>
              <a:ea typeface="Play"/>
              <a:cs typeface="Play"/>
              <a:sym typeface="Play"/>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sp>
        <p:nvSpPr>
          <p:cNvPr id="537" name="Google Shape;537;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38" name="Google Shape;538;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539" name="Google Shape;539;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Thumbtack, stop the next charge, then let C choose.</a:t>
            </a:r>
            <a:endParaRPr b="0" i="0" spc="0" sz="1200" u="none" cap="none" strike="noStrike">
              <a:solidFill>
                <a:schemeClr val="dk1"/>
              </a:solidFill>
              <a:latin typeface="Calibri"/>
              <a:ea typeface="Calibri"/>
              <a:cs typeface="Calibri"/>
              <a:sym typeface="Calibri"/>
            </a:endParaRPr>
          </a:p>
        </p:txBody>
      </p:sp>
      <p:sp>
        <p:nvSpPr>
          <p:cNvPr id="540" name="Google Shape;540;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41" name="Google Shape;541;p25"/>
          <p:cNvSpPr/>
          <p:nvPr/>
        </p:nvSpPr>
        <p:spPr>
          <a:xfrm>
            <a:off x="411480" y="1298448"/>
            <a:ext cx="219456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Duplicate account found</a:t>
            </a:r>
            <a:endParaRPr b="0" i="0" spc="0" sz="1400" u="none" cap="none" strike="noStrike">
              <a:solidFill>
                <a:srgbClr val="000000"/>
              </a:solidFill>
              <a:latin typeface="Arial"/>
              <a:ea typeface="Arial"/>
              <a:cs typeface="Arial"/>
              <a:sym typeface="Arial"/>
            </a:endParaRPr>
          </a:p>
        </p:txBody>
      </p:sp>
      <p:cxnSp>
        <p:nvCxnSpPr>
          <p:cNvPr id="542" name="Google Shape;542;p25"/>
          <p:cNvCxnSpPr/>
          <p:nvPr/>
        </p:nvCxnSpPr>
        <p:spPr>
          <a:xfrm>
            <a:off x="260604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3" name="Google Shape;543;p25"/>
          <p:cNvSpPr/>
          <p:nvPr/>
        </p:nvSpPr>
        <p:spPr>
          <a:xfrm>
            <a:off x="2971800" y="1298448"/>
            <a:ext cx="2743200" cy="4572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project_thumbtack flag?</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Legacy CRM › View › Flag</a:t>
            </a:r>
            <a:endParaRPr b="0" i="0" spc="0" sz="1400" u="none" cap="none" strike="noStrike">
              <a:solidFill>
                <a:srgbClr val="000000"/>
              </a:solidFill>
              <a:latin typeface="Arial"/>
              <a:ea typeface="Arial"/>
              <a:cs typeface="Arial"/>
              <a:sym typeface="Arial"/>
            </a:endParaRPr>
          </a:p>
        </p:txBody>
      </p:sp>
      <p:cxnSp>
        <p:nvCxnSpPr>
          <p:cNvPr id="544" name="Google Shape;544;p25"/>
          <p:cNvCxnSpPr/>
          <p:nvPr/>
        </p:nvCxnSpPr>
        <p:spPr>
          <a:xfrm>
            <a:off x="571500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5" name="Google Shape;545;p25"/>
          <p:cNvSpPr txBox="1"/>
          <p:nvPr/>
        </p:nvSpPr>
        <p:spPr>
          <a:xfrm>
            <a:off x="5760720" y="1325880"/>
            <a:ext cx="36576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546" name="Google Shape;546;p25"/>
          <p:cNvSpPr/>
          <p:nvPr/>
        </p:nvSpPr>
        <p:spPr>
          <a:xfrm>
            <a:off x="6080760" y="1298448"/>
            <a:ext cx="2651760" cy="45720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Reassign to the Thumbtack queue. Stop.</a:t>
            </a:r>
            <a:endParaRPr b="0" i="0" spc="0" sz="1400" u="none" cap="none" strike="noStrike">
              <a:solidFill>
                <a:srgbClr val="000000"/>
              </a:solidFill>
              <a:latin typeface="Arial"/>
              <a:ea typeface="Arial"/>
              <a:cs typeface="Arial"/>
              <a:sym typeface="Arial"/>
            </a:endParaRPr>
          </a:p>
        </p:txBody>
      </p:sp>
      <p:cxnSp>
        <p:nvCxnSpPr>
          <p:cNvPr id="547" name="Google Shape;547;p25"/>
          <p:cNvCxnSpPr/>
          <p:nvPr/>
        </p:nvCxnSpPr>
        <p:spPr>
          <a:xfrm>
            <a:off x="4343400" y="1755648"/>
            <a:ext cx="0" cy="182880"/>
          </a:xfrm>
          <a:prstGeom prst="straightConnector1">
            <a:avLst/>
          </a:prstGeom>
          <a:noFill/>
          <a:ln cap="flat" cmpd="sng" w="12700">
            <a:solidFill>
              <a:srgbClr val="6E6E73"/>
            </a:solidFill>
            <a:prstDash val="solid"/>
            <a:round/>
            <a:headEnd len="sm" w="sm" type="none"/>
            <a:tailEnd len="med" w="med" type="triangle"/>
          </a:ln>
        </p:spPr>
      </p:cxnSp>
      <p:sp>
        <p:nvSpPr>
          <p:cNvPr id="548" name="Google Shape;548;p25"/>
          <p:cNvSpPr txBox="1"/>
          <p:nvPr/>
        </p:nvSpPr>
        <p:spPr>
          <a:xfrm>
            <a:off x="4416552" y="1755648"/>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549" name="Google Shape;549;p25"/>
          <p:cNvSpPr/>
          <p:nvPr/>
        </p:nvSpPr>
        <p:spPr>
          <a:xfrm>
            <a:off x="411480" y="1938528"/>
            <a:ext cx="8321040" cy="566928"/>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Step 1, on the duplicate:  cancel the FC right away</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0" i="0" lang="en-US" spc="0" sz="900" u="none" cap="none" strike="noStrike">
                <a:solidFill>
                  <a:srgbClr val="FFFFFF"/>
                </a:solidFill>
                <a:latin typeface="Arial"/>
                <a:ea typeface="Arial"/>
                <a:cs typeface="Arial"/>
                <a:sym typeface="Arial"/>
              </a:rPr>
              <a:t>Cancel upcoming jobs and the RC (unless C wants them)  ·  internal note on both accounts with the other ticket link / C ID</a:t>
            </a:r>
            <a:endParaRPr b="0" i="0" spc="0" sz="1400" u="none" cap="none" strike="noStrike">
              <a:solidFill>
                <a:srgbClr val="000000"/>
              </a:solidFill>
              <a:latin typeface="Arial"/>
              <a:ea typeface="Arial"/>
              <a:cs typeface="Arial"/>
              <a:sym typeface="Arial"/>
            </a:endParaRPr>
          </a:p>
        </p:txBody>
      </p:sp>
      <p:cxnSp>
        <p:nvCxnSpPr>
          <p:cNvPr id="550" name="Google Shape;550;p25"/>
          <p:cNvCxnSpPr/>
          <p:nvPr/>
        </p:nvCxnSpPr>
        <p:spPr>
          <a:xfrm>
            <a:off x="4343400" y="2505456"/>
            <a:ext cx="0" cy="164592"/>
          </a:xfrm>
          <a:prstGeom prst="straightConnector1">
            <a:avLst/>
          </a:prstGeom>
          <a:noFill/>
          <a:ln cap="flat" cmpd="sng" w="12700">
            <a:solidFill>
              <a:srgbClr val="6E6E73"/>
            </a:solidFill>
            <a:prstDash val="solid"/>
            <a:round/>
            <a:headEnd len="sm" w="sm" type="none"/>
            <a:tailEnd len="med" w="med" type="triangle"/>
          </a:ln>
        </p:spPr>
      </p:cxnSp>
      <p:sp>
        <p:nvSpPr>
          <p:cNvPr id="551" name="Google Shape;551;p25"/>
          <p:cNvSpPr/>
          <p:nvPr/>
        </p:nvSpPr>
        <p:spPr>
          <a:xfrm>
            <a:off x="2743200" y="2670048"/>
            <a:ext cx="320040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Let C choose</a:t>
            </a:r>
            <a:endParaRPr b="0" i="0" spc="0" sz="1400" u="none" cap="none" strike="noStrike">
              <a:solidFill>
                <a:srgbClr val="000000"/>
              </a:solidFill>
              <a:latin typeface="Arial"/>
              <a:ea typeface="Arial"/>
              <a:cs typeface="Arial"/>
              <a:sym typeface="Arial"/>
            </a:endParaRPr>
          </a:p>
        </p:txBody>
      </p:sp>
      <p:cxnSp>
        <p:nvCxnSpPr>
          <p:cNvPr id="552" name="Google Shape;552;p25"/>
          <p:cNvCxnSpPr/>
          <p:nvPr/>
        </p:nvCxnSpPr>
        <p:spPr>
          <a:xfrm>
            <a:off x="4343400" y="3035808"/>
            <a:ext cx="0" cy="118872"/>
          </a:xfrm>
          <a:prstGeom prst="straightConnector1">
            <a:avLst/>
          </a:prstGeom>
          <a:noFill/>
          <a:ln cap="flat" cmpd="sng" w="12700">
            <a:solidFill>
              <a:srgbClr val="6E6E73"/>
            </a:solidFill>
            <a:prstDash val="solid"/>
            <a:round/>
            <a:headEnd len="sm" w="sm" type="none"/>
            <a:tailEnd len="sm" w="sm" type="none"/>
          </a:ln>
        </p:spPr>
      </p:cxnSp>
      <p:cxnSp>
        <p:nvCxnSpPr>
          <p:cNvPr id="553" name="Google Shape;553;p25"/>
          <p:cNvCxnSpPr/>
          <p:nvPr/>
        </p:nvCxnSpPr>
        <p:spPr>
          <a:xfrm>
            <a:off x="2446020" y="3154680"/>
            <a:ext cx="4251960" cy="0"/>
          </a:xfrm>
          <a:prstGeom prst="straightConnector1">
            <a:avLst/>
          </a:prstGeom>
          <a:noFill/>
          <a:ln cap="flat" cmpd="sng" w="12700">
            <a:solidFill>
              <a:srgbClr val="6E6E73"/>
            </a:solidFill>
            <a:prstDash val="solid"/>
            <a:round/>
            <a:headEnd len="sm" w="sm" type="none"/>
            <a:tailEnd len="sm" w="sm" type="none"/>
          </a:ln>
        </p:spPr>
      </p:cxnSp>
      <p:cxnSp>
        <p:nvCxnSpPr>
          <p:cNvPr id="554" name="Google Shape;554;p25"/>
          <p:cNvCxnSpPr/>
          <p:nvPr/>
        </p:nvCxnSpPr>
        <p:spPr>
          <a:xfrm>
            <a:off x="2446020" y="315468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555" name="Google Shape;555;p25"/>
          <p:cNvCxnSpPr/>
          <p:nvPr/>
        </p:nvCxnSpPr>
        <p:spPr>
          <a:xfrm>
            <a:off x="6697980" y="3154680"/>
            <a:ext cx="0" cy="137160"/>
          </a:xfrm>
          <a:prstGeom prst="straightConnector1">
            <a:avLst/>
          </a:prstGeom>
          <a:noFill/>
          <a:ln cap="flat" cmpd="sng" w="12700">
            <a:solidFill>
              <a:srgbClr val="6E6E73"/>
            </a:solidFill>
            <a:prstDash val="solid"/>
            <a:round/>
            <a:headEnd len="sm" w="sm" type="none"/>
            <a:tailEnd len="med" w="med" type="triangle"/>
          </a:ln>
        </p:spPr>
      </p:cxnSp>
      <p:sp>
        <p:nvSpPr>
          <p:cNvPr id="556" name="Google Shape;556;p25"/>
          <p:cNvSpPr/>
          <p:nvPr/>
        </p:nvSpPr>
        <p:spPr>
          <a:xfrm>
            <a:off x="411480" y="3291840"/>
            <a:ext cx="4069080" cy="141732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7" name="Google Shape;557;p25"/>
          <p:cNvSpPr/>
          <p:nvPr/>
        </p:nvSpPr>
        <p:spPr>
          <a:xfrm>
            <a:off x="411480" y="3291840"/>
            <a:ext cx="4069080" cy="310896"/>
          </a:xfrm>
          <a:prstGeom prst="roundRect">
            <a:avLst>
              <a:gd fmla="val 1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Offer duplicates MF as Free months</a:t>
            </a:r>
            <a:endParaRPr b="0" i="0" spc="0" sz="1400" u="none" cap="none" strike="noStrike">
              <a:solidFill>
                <a:srgbClr val="000000"/>
              </a:solidFill>
              <a:latin typeface="Arial"/>
              <a:ea typeface="Arial"/>
              <a:cs typeface="Arial"/>
              <a:sym typeface="Arial"/>
            </a:endParaRPr>
          </a:p>
        </p:txBody>
      </p:sp>
      <p:sp>
        <p:nvSpPr>
          <p:cNvPr id="558" name="Google Shape;558;p25"/>
          <p:cNvSpPr txBox="1"/>
          <p:nvPr/>
        </p:nvSpPr>
        <p:spPr>
          <a:xfrm>
            <a:off x="548640" y="3675888"/>
            <a:ext cx="3794700" cy="51570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Up to 3 free months on the main account; adjust the MCT</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Contests the charge and chooses free months? +1 bonus month.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Paid months reach 6? MCT effectively fulfilled</a:t>
            </a:r>
            <a:endParaRPr b="0" i="0" spc="0" sz="1400" u="none" cap="none" strike="noStrike">
              <a:solidFill>
                <a:srgbClr val="000000"/>
              </a:solidFill>
              <a:latin typeface="Arial"/>
              <a:ea typeface="Arial"/>
              <a:cs typeface="Arial"/>
              <a:sym typeface="Arial"/>
            </a:endParaRPr>
          </a:p>
        </p:txBody>
      </p:sp>
      <p:sp>
        <p:nvSpPr>
          <p:cNvPr id="559" name="Google Shape;559;p25"/>
          <p:cNvSpPr/>
          <p:nvPr/>
        </p:nvSpPr>
        <p:spPr>
          <a:xfrm>
            <a:off x="4663440" y="3291840"/>
            <a:ext cx="4069080" cy="14173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0" name="Google Shape;560;p25"/>
          <p:cNvSpPr/>
          <p:nvPr/>
        </p:nvSpPr>
        <p:spPr>
          <a:xfrm>
            <a:off x="4663440" y="3291840"/>
            <a:ext cx="4069080" cy="310896"/>
          </a:xfrm>
          <a:prstGeom prst="roundRect">
            <a:avLst>
              <a:gd fmla="val 15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Refund</a:t>
            </a:r>
            <a:endParaRPr b="0" i="0" spc="0" sz="1400" u="none" cap="none" strike="noStrike">
              <a:solidFill>
                <a:srgbClr val="000000"/>
              </a:solidFill>
              <a:latin typeface="Arial"/>
              <a:ea typeface="Arial"/>
              <a:cs typeface="Arial"/>
              <a:sym typeface="Arial"/>
            </a:endParaRPr>
          </a:p>
        </p:txBody>
      </p:sp>
      <p:sp>
        <p:nvSpPr>
          <p:cNvPr id="561" name="Google Shape;561;p25"/>
          <p:cNvSpPr txBox="1"/>
          <p:nvPr/>
        </p:nvSpPr>
        <p:spPr>
          <a:xfrm>
            <a:off x="480060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Duplicate charges within 120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Beyond 120 days: only for a system or agent error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No bonus month</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68" name="Google Shape;568;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69" name="Google Shape;569;p2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0" name="Google Shape;570;p2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72" name="Google Shape;572;p2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73" name="Google Shape;573;p2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75" name="Google Shape;575;p2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7" name="Google Shape;577;p2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78" name="Google Shape;578;p2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579" name="Google Shape;579;p2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0" name="Google Shape;580;p2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581" name="Google Shape;581;p2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2" name="Google Shape;582;p2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84" name="Google Shape;584;p2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585" name="Google Shape;585;p2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6" name="Google Shape;586;p2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587" name="Google Shape;587;p2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8" name="Google Shape;588;p2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590" name="Google Shape;590;p2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591" name="Google Shape;591;p2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2" name="Google Shape;592;p2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593" name="Google Shape;593;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4"/>
                                        </p:tgtEl>
                                        <p:attrNameLst>
                                          <p:attrName>style.visibility</p:attrName>
                                        </p:attrNameLst>
                                      </p:cBhvr>
                                      <p:to>
                                        <p:strVal val="visible"/>
                                      </p:to>
                                    </p:set>
                                    <p:animEffect filter="fade" transition="in">
                                      <p:cBhvr>
                                        <p:cTn dur="600"/>
                                        <p:tgtEl>
                                          <p:spTgt spid="5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0"/>
                                        </p:tgtEl>
                                        <p:attrNameLst>
                                          <p:attrName>style.visibility</p:attrName>
                                        </p:attrNameLst>
                                      </p:cBhvr>
                                      <p:to>
                                        <p:strVal val="visible"/>
                                      </p:to>
                                    </p:set>
                                    <p:animEffect filter="fade" transition="in">
                                      <p:cBhvr>
                                        <p:cTn dur="600"/>
                                        <p:tgtEl>
                                          <p:spTgt spid="5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6"/>
                                        </p:tgtEl>
                                        <p:attrNameLst>
                                          <p:attrName>style.visibility</p:attrName>
                                        </p:attrNameLst>
                                      </p:cBhvr>
                                      <p:to>
                                        <p:strVal val="visible"/>
                                      </p:to>
                                    </p:set>
                                    <p:animEffect filter="fade" transition="in">
                                      <p:cBhvr>
                                        <p:cTn dur="600"/>
                                        <p:tgtEl>
                                          <p:spTgt spid="5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2"/>
                                        </p:tgtEl>
                                        <p:attrNameLst>
                                          <p:attrName>style.visibility</p:attrName>
                                        </p:attrNameLst>
                                      </p:cBhvr>
                                      <p:to>
                                        <p:strVal val="visible"/>
                                      </p:to>
                                    </p:set>
                                    <p:animEffect filter="fade" transition="in">
                                      <p:cBhvr>
                                        <p:cTn dur="600"/>
                                        <p:tgtEl>
                                          <p:spTgt spid="59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600" name="Google Shape;600;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01" name="Google Shape;601;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02" name="Google Shape;602;p2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3" name="Google Shape;603;p2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4" name="Google Shape;604;p2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05" name="Google Shape;605;p2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06" name="Google Shape;606;p2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07" name="Google Shape;607;p2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08" name="Google Shape;608;p2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9" name="Google Shape;609;p2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0" name="Google Shape;610;p2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11" name="Google Shape;611;p2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12" name="Google Shape;612;p2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13" name="Google Shape;613;p2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4" name="Google Shape;614;p2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5" name="Google Shape;615;p2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16" name="Google Shape;616;p2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17" name="Google Shape;617;p2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18" name="Google Shape;618;p2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2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0" name="Google Shape;620;p2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21" name="Google Shape;621;p2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22" name="Google Shape;622;p2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23" name="Google Shape;623;p2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24" name="Google Shape;624;p2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25" name="Google Shape;625;p2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26" name="Google Shape;626;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2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04</a:t>
            </a:r>
            <a:endParaRPr b="0" i="0" spc="0" sz="800" u="none" cap="none" strike="noStrike">
              <a:solidFill>
                <a:schemeClr val="dk1"/>
              </a:solidFill>
              <a:latin typeface="Calibri"/>
              <a:ea typeface="Calibri"/>
              <a:cs typeface="Calibri"/>
              <a:sym typeface="Calibri"/>
            </a:endParaRPr>
          </a:p>
        </p:txBody>
      </p:sp>
      <p:sp>
        <p:nvSpPr>
          <p:cNvPr id="633" name="Google Shape;633;p2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34" name="Google Shape;634;p2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35" name="Google Shape;635;p2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36" name="Google Shape;636;p2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7" name="Google Shape;637;p2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38" name="Google Shape;638;p2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39" name="Google Shape;639;p2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0" name="Google Shape;640;p2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41" name="Google Shape;641;p2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42" name="Google Shape;642;p2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3" name="Google Shape;643;p2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44" name="Google Shape;644;p2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45" name="Google Shape;645;p2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6" name="Google Shape;646;p2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47" name="Google Shape;647;p2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48" name="Google Shape;648;p2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9" name="Google Shape;649;p2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50" name="Google Shape;650;p2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51" name="Google Shape;651;p2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2" name="Google Shape;652;p2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5" name="Google Shape;655;p2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64" name="Google Shape;664;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65" name="Google Shape;665;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66" name="Google Shape;666;p29"/>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667" name="Google Shape;667;p29"/>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8" name="Google Shape;668;p29"/>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9" name="Google Shape;669;p29"/>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670" name="Google Shape;670;p29"/>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671" name="Google Shape;671;p29"/>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2" name="Google Shape;672;p29"/>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3" name="Google Shape;673;p29"/>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674" name="Google Shape;674;p29"/>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675" name="Google Shape;675;p29"/>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6" name="Google Shape;676;p29"/>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678" name="Google Shape;678;p29"/>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679" name="Google Shape;679;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80" name="Google Shape;680;p29"/>
          <p:cNvSpPr/>
          <p:nvPr/>
        </p:nvSpPr>
        <p:spPr>
          <a:xfrm>
            <a:off x="411480" y="132588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1" name="Google Shape;681;p29"/>
          <p:cNvSpPr/>
          <p:nvPr/>
        </p:nvSpPr>
        <p:spPr>
          <a:xfrm>
            <a:off x="521207" y="142646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682" name="Google Shape;682;p29"/>
          <p:cNvSpPr txBox="1"/>
          <p:nvPr/>
        </p:nvSpPr>
        <p:spPr>
          <a:xfrm>
            <a:off x="914400" y="132588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MF overdue</a:t>
            </a:r>
            <a:r>
              <a:rPr b="0" i="0" lang="en-US" spc="0" sz="950" u="none" cap="none" strike="noStrike">
                <a:solidFill>
                  <a:srgbClr val="6E6E73"/>
                </a:solidFill>
                <a:latin typeface="Arial"/>
                <a:ea typeface="Arial"/>
                <a:cs typeface="Arial"/>
                <a:sym typeface="Arial"/>
              </a:rPr>
              <a:t> for several billing cycles</a:t>
            </a:r>
            <a:endParaRPr b="0" i="0" spc="0" sz="1400" u="none" cap="none" strike="noStrike">
              <a:solidFill>
                <a:srgbClr val="000000"/>
              </a:solidFill>
              <a:latin typeface="Arial"/>
              <a:ea typeface="Arial"/>
              <a:cs typeface="Arial"/>
              <a:sym typeface="Arial"/>
            </a:endParaRPr>
          </a:p>
        </p:txBody>
      </p:sp>
      <p:sp>
        <p:nvSpPr>
          <p:cNvPr id="683" name="Google Shape;683;p29"/>
          <p:cNvSpPr/>
          <p:nvPr/>
        </p:nvSpPr>
        <p:spPr>
          <a:xfrm>
            <a:off x="411480" y="1874519"/>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4" name="Google Shape;684;p29"/>
          <p:cNvSpPr/>
          <p:nvPr/>
        </p:nvSpPr>
        <p:spPr>
          <a:xfrm>
            <a:off x="521207" y="1975103"/>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685" name="Google Shape;685;p29"/>
          <p:cNvSpPr txBox="1"/>
          <p:nvPr/>
        </p:nvSpPr>
        <p:spPr>
          <a:xfrm>
            <a:off x="914400" y="1874519"/>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A payment finally goes through</a:t>
            </a:r>
            <a:endParaRPr b="0" i="0" spc="0" sz="1400" u="none" cap="none" strike="noStrike">
              <a:solidFill>
                <a:srgbClr val="000000"/>
              </a:solidFill>
              <a:latin typeface="Arial"/>
              <a:ea typeface="Arial"/>
              <a:cs typeface="Arial"/>
              <a:sym typeface="Arial"/>
            </a:endParaRPr>
          </a:p>
        </p:txBody>
      </p:sp>
      <p:sp>
        <p:nvSpPr>
          <p:cNvPr id="686" name="Google Shape;686;p29"/>
          <p:cNvSpPr/>
          <p:nvPr/>
        </p:nvSpPr>
        <p:spPr>
          <a:xfrm>
            <a:off x="411480" y="242316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7" name="Google Shape;687;p29"/>
          <p:cNvSpPr/>
          <p:nvPr/>
        </p:nvSpPr>
        <p:spPr>
          <a:xfrm>
            <a:off x="521207" y="252374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688" name="Google Shape;688;p29"/>
          <p:cNvSpPr txBox="1"/>
          <p:nvPr/>
        </p:nvSpPr>
        <p:spPr>
          <a:xfrm>
            <a:off x="914400" y="242316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Every missed month is charged at once</a:t>
            </a:r>
            <a:r>
              <a:rPr b="0" i="0" lang="en-US" spc="0" sz="950" u="none" cap="none" strike="noStrike">
                <a:solidFill>
                  <a:srgbClr val="6E6E73"/>
                </a:solidFill>
                <a:latin typeface="Arial"/>
                <a:ea typeface="Arial"/>
                <a:cs typeface="Arial"/>
                <a:sym typeface="Arial"/>
              </a:rPr>
              <a:t>: same day or same month</a:t>
            </a:r>
            <a:endParaRPr b="0" i="0" spc="0" sz="1400" u="none" cap="none" strike="noStrike">
              <a:solidFill>
                <a:srgbClr val="000000"/>
              </a:solidFill>
              <a:latin typeface="Arial"/>
              <a:ea typeface="Arial"/>
              <a:cs typeface="Arial"/>
              <a:sym typeface="Arial"/>
            </a:endParaRPr>
          </a:p>
        </p:txBody>
      </p:sp>
      <p:sp>
        <p:nvSpPr>
          <p:cNvPr id="689" name="Google Shape;689;p29"/>
          <p:cNvSpPr/>
          <p:nvPr/>
        </p:nvSpPr>
        <p:spPr>
          <a:xfrm>
            <a:off x="4069080" y="1325880"/>
            <a:ext cx="4754879" cy="1387179"/>
          </a:xfrm>
          <a:prstGeom prst="roundRect">
            <a:avLst>
              <a:gd fmla="val 3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bulk_payment_history.png" id="690" name="Google Shape;690;p29"/>
          <p:cNvPicPr preferRelativeResize="0"/>
          <p:nvPr/>
        </p:nvPicPr>
        <p:blipFill rotWithShape="1">
          <a:blip r:embed="rId3">
            <a:alphaModFix/>
          </a:blip>
          <a:srcRect b="0" l="0" r="0" t="0"/>
          <a:stretch/>
        </p:blipFill>
        <p:spPr>
          <a:xfrm>
            <a:off x="4114800" y="1371600"/>
            <a:ext cx="4663440" cy="1295739"/>
          </a:xfrm>
          <a:prstGeom prst="rect">
            <a:avLst/>
          </a:prstGeom>
          <a:noFill/>
          <a:ln>
            <a:noFill/>
          </a:ln>
        </p:spPr>
      </p:pic>
      <p:sp>
        <p:nvSpPr>
          <p:cNvPr id="691" name="Google Shape;691;p29"/>
          <p:cNvSpPr txBox="1"/>
          <p:nvPr/>
        </p:nvSpPr>
        <p:spPr>
          <a:xfrm>
            <a:off x="4069080" y="2758779"/>
            <a:ext cx="4754879" cy="274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Four $59 MFs, one day: </a:t>
            </a:r>
            <a:r>
              <a:rPr b="0" i="0" lang="en-US" spc="0" sz="900" u="none" cap="none" strike="noStrike">
                <a:solidFill>
                  <a:srgbClr val="1D1D1F"/>
                </a:solidFill>
                <a:latin typeface="Arial"/>
                <a:ea typeface="Arial"/>
                <a:cs typeface="Arial"/>
                <a:sym typeface="Arial"/>
              </a:rPr>
              <a:t>Jan, Feb, Mar and Apr paid-through. Different months, not duplicates.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699" name="Google Shape;699;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00" name="Google Shape;700;p30"/>
          <p:cNvGraphicFramePr/>
          <p:nvPr/>
        </p:nvGraphicFramePr>
        <p:xfrm>
          <a:off x="411480" y="1325880"/>
          <a:ext cx="3000000" cy="3000000"/>
        </p:xfrm>
        <a:graphic>
          <a:graphicData uri="http://schemas.openxmlformats.org/drawingml/2006/table">
            <a:tbl>
              <a:tblPr>
                <a:noFill/>
                <a:tableStyleId>{00931992-1EF9-4AE2-9FA4-9B17B514BBD0}</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01" name="Google Shape;701;p30"/>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Oct 15, MF BILLS ON THE 20TH</a:t>
            </a:r>
            <a:endParaRPr b="0" i="0" spc="0" sz="800" u="none" cap="none" strike="noStrike">
              <a:solidFill>
                <a:schemeClr val="dk1"/>
              </a:solidFill>
              <a:latin typeface="Calibri"/>
              <a:ea typeface="Calibri"/>
              <a:cs typeface="Calibri"/>
              <a:sym typeface="Calibri"/>
            </a:endParaRPr>
          </a:p>
        </p:txBody>
      </p:sp>
      <p:sp>
        <p:nvSpPr>
          <p:cNvPr id="702" name="Google Shape;702;p30"/>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3" name="Google Shape;703;p30"/>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Aug 20 + Sep 20 failed</a:t>
            </a:r>
            <a:endParaRPr b="0" i="0" spc="0" sz="1000" u="none" cap="none" strike="noStrike">
              <a:solidFill>
                <a:schemeClr val="dk1"/>
              </a:solidFill>
              <a:latin typeface="Calibri"/>
              <a:ea typeface="Calibri"/>
              <a:cs typeface="Calibri"/>
              <a:sym typeface="Calibri"/>
            </a:endParaRPr>
          </a:p>
        </p:txBody>
      </p:sp>
      <p:cxnSp>
        <p:nvCxnSpPr>
          <p:cNvPr id="704" name="Google Shape;704;p30"/>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05" name="Google Shape;705;p30"/>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Aug 20</a:t>
            </a:r>
            <a:endParaRPr b="0" i="0" spc="0" sz="1000" u="none" cap="none" strike="noStrike">
              <a:solidFill>
                <a:schemeClr val="dk1"/>
              </a:solidFill>
              <a:latin typeface="Calibri"/>
              <a:ea typeface="Calibri"/>
              <a:cs typeface="Calibri"/>
              <a:sym typeface="Calibri"/>
            </a:endParaRPr>
          </a:p>
        </p:txBody>
      </p:sp>
      <p:cxnSp>
        <p:nvCxnSpPr>
          <p:cNvPr id="707" name="Google Shape;707;p30"/>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08" name="Google Shape;708;p30"/>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9" name="Google Shape;709;p30"/>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10" name="Google Shape;710;p30"/>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1" name="Google Shape;711;p30"/>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Oct 20. Next MF Oct 20</a:t>
            </a:r>
            <a:endParaRPr b="0" i="0" spc="0" sz="1000" u="none" cap="none" strike="noStrike">
              <a:solidFill>
                <a:schemeClr val="dk1"/>
              </a:solidFill>
              <a:latin typeface="Calibri"/>
              <a:ea typeface="Calibri"/>
              <a:cs typeface="Calibri"/>
              <a:sym typeface="Calibri"/>
            </a:endParaRPr>
          </a:p>
        </p:txBody>
      </p:sp>
      <p:sp>
        <p:nvSpPr>
          <p:cNvPr id="713" name="Google Shape;713;p3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4" name="Google Shape;714;p30"/>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15" name="Google Shape;715;p3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16" name="Google Shape;716;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1" name="Shape 721"/>
        <p:cNvGrpSpPr/>
        <p:nvPr/>
      </p:nvGrpSpPr>
      <p:grpSpPr>
        <a:xfrm>
          <a:off x="0" y="0"/>
          <a:ext cx="0" cy="0"/>
          <a:chOff x="0" y="0"/>
          <a:chExt cx="0" cy="0"/>
        </a:xfrm>
      </p:grpSpPr>
      <p:sp>
        <p:nvSpPr>
          <p:cNvPr id="722" name="Google Shape;722;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23" name="Google Shape;723;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B: FC already cancelled</a:t>
            </a:r>
            <a:endParaRPr b="0" i="0" spc="0" sz="2400" u="none" cap="none" strike="noStrike">
              <a:solidFill>
                <a:schemeClr val="dk1"/>
              </a:solidFill>
              <a:latin typeface="Calibri"/>
              <a:ea typeface="Calibri"/>
              <a:cs typeface="Calibri"/>
              <a:sym typeface="Calibri"/>
            </a:endParaRPr>
          </a:p>
        </p:txBody>
      </p:sp>
      <p:sp>
        <p:nvSpPr>
          <p:cNvPr id="724" name="Google Shape;724;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 wants a refund for the bulk charge. Nothing bulk-specific here.</a:t>
            </a:r>
            <a:endParaRPr b="0" i="0" spc="0" sz="1200" u="none" cap="none" strike="noStrike">
              <a:solidFill>
                <a:schemeClr val="dk1"/>
              </a:solidFill>
              <a:latin typeface="Calibri"/>
              <a:ea typeface="Calibri"/>
              <a:cs typeface="Calibri"/>
              <a:sym typeface="Calibri"/>
            </a:endParaRPr>
          </a:p>
        </p:txBody>
      </p:sp>
      <p:sp>
        <p:nvSpPr>
          <p:cNvPr id="725" name="Google Shape;725;p31"/>
          <p:cNvSpPr/>
          <p:nvPr/>
        </p:nvSpPr>
        <p:spPr>
          <a:xfrm>
            <a:off x="411480" y="1325880"/>
            <a:ext cx="8321040" cy="169164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6" name="Google Shape;726;p31"/>
          <p:cNvSpPr/>
          <p:nvPr/>
        </p:nvSpPr>
        <p:spPr>
          <a:xfrm>
            <a:off x="411480" y="1325880"/>
            <a:ext cx="832104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 FC already cancelled</a:t>
            </a:r>
            <a:endParaRPr b="0" i="0" spc="0" sz="1050" u="none" cap="none" strike="noStrike">
              <a:solidFill>
                <a:schemeClr val="dk1"/>
              </a:solidFill>
              <a:latin typeface="Calibri"/>
              <a:ea typeface="Calibri"/>
              <a:cs typeface="Calibri"/>
              <a:sym typeface="Calibri"/>
            </a:endParaRPr>
          </a:p>
        </p:txBody>
      </p:sp>
      <p:sp>
        <p:nvSpPr>
          <p:cNvPr id="727" name="Google Shape;727;p31"/>
          <p:cNvSpPr txBox="1"/>
          <p:nvPr/>
        </p:nvSpPr>
        <p:spPr>
          <a:xfrm>
            <a:off x="576072" y="1764792"/>
            <a:ext cx="7991856" cy="91440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Standard refund policy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Refund: Unused MFs beyond MCT, within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See MF &amp; ETF Refund Requests</a:t>
            </a:r>
            <a:endParaRPr b="0" i="0" spc="0" sz="900" u="none" cap="none" strike="noStrike">
              <a:solidFill>
                <a:schemeClr val="dk1"/>
              </a:solidFill>
              <a:latin typeface="Calibri"/>
              <a:ea typeface="Calibri"/>
              <a:cs typeface="Calibri"/>
              <a:sym typeface="Calibri"/>
            </a:endParaRPr>
          </a:p>
        </p:txBody>
      </p:sp>
      <p:sp>
        <p:nvSpPr>
          <p:cNvPr id="728" name="Google Shape;728;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29" name="Google Shape;729;p31">
            <a:hlinkClick action="ppaction://hlinksldjump" r:id="rId3"/>
          </p:cNvPr>
          <p:cNvSpPr/>
          <p:nvPr/>
        </p:nvSpPr>
        <p:spPr>
          <a:xfrm>
            <a:off x="3383280" y="2450592"/>
            <a:ext cx="2377440" cy="384048"/>
          </a:xfrm>
          <a:prstGeom prst="roundRect">
            <a:avLst>
              <a:gd fmla="val 2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  MF refunds by root cause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sp>
        <p:nvSpPr>
          <p:cNvPr id="735" name="Google Shape;735;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36" name="Google Shape;736;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C: FC active, cancelling over it</a:t>
            </a:r>
            <a:endParaRPr b="0" i="0" spc="0" sz="2400" u="none" cap="none" strike="noStrike">
              <a:solidFill>
                <a:schemeClr val="dk1"/>
              </a:solidFill>
              <a:latin typeface="Calibri"/>
              <a:ea typeface="Calibri"/>
              <a:cs typeface="Calibri"/>
              <a:sym typeface="Calibri"/>
            </a:endParaRPr>
          </a:p>
        </p:txBody>
      </p:sp>
      <p:sp>
        <p:nvSpPr>
          <p:cNvPr id="737" name="Google Shape;737;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if it's still overdue, then the MCT: save mode or exit mode.</a:t>
            </a:r>
            <a:endParaRPr b="0" i="0" spc="0" sz="1200" u="none" cap="none" strike="noStrike">
              <a:solidFill>
                <a:schemeClr val="dk1"/>
              </a:solidFill>
              <a:latin typeface="Calibri"/>
              <a:ea typeface="Calibri"/>
              <a:cs typeface="Calibri"/>
              <a:sym typeface="Calibri"/>
            </a:endParaRPr>
          </a:p>
        </p:txBody>
      </p:sp>
      <p:sp>
        <p:nvSpPr>
          <p:cNvPr id="738" name="Google Shape;738;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39" name="Google Shape;739;p32"/>
          <p:cNvSpPr/>
          <p:nvPr/>
        </p:nvSpPr>
        <p:spPr>
          <a:xfrm>
            <a:off x="411480" y="1298448"/>
            <a:ext cx="2514600" cy="50292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FC active. C wants to cancel over the bulk charge</a:t>
            </a:r>
            <a:endParaRPr b="0" i="0" spc="0" sz="1400" u="none" cap="none" strike="noStrike">
              <a:solidFill>
                <a:srgbClr val="000000"/>
              </a:solidFill>
              <a:latin typeface="Arial"/>
              <a:ea typeface="Arial"/>
              <a:cs typeface="Arial"/>
              <a:sym typeface="Arial"/>
            </a:endParaRPr>
          </a:p>
        </p:txBody>
      </p:sp>
      <p:cxnSp>
        <p:nvCxnSpPr>
          <p:cNvPr id="740" name="Google Shape;740;p32"/>
          <p:cNvCxnSpPr/>
          <p:nvPr/>
        </p:nvCxnSpPr>
        <p:spPr>
          <a:xfrm>
            <a:off x="292608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1" name="Google Shape;741;p32"/>
          <p:cNvSpPr/>
          <p:nvPr/>
        </p:nvSpPr>
        <p:spPr>
          <a:xfrm>
            <a:off x="3200400" y="1298448"/>
            <a:ext cx="25146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Still overdue after the bulk charge?</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make up to date </a:t>
            </a:r>
            <a:endParaRPr b="0" i="0" spc="0" sz="1400" u="none" cap="none" strike="noStrike">
              <a:solidFill>
                <a:srgbClr val="000000"/>
              </a:solidFill>
              <a:latin typeface="Arial"/>
              <a:ea typeface="Arial"/>
              <a:cs typeface="Arial"/>
              <a:sym typeface="Arial"/>
            </a:endParaRPr>
          </a:p>
        </p:txBody>
      </p:sp>
      <p:cxnSp>
        <p:nvCxnSpPr>
          <p:cNvPr id="742" name="Google Shape;742;p32"/>
          <p:cNvCxnSpPr/>
          <p:nvPr/>
        </p:nvCxnSpPr>
        <p:spPr>
          <a:xfrm>
            <a:off x="571500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3" name="Google Shape;743;p32"/>
          <p:cNvSpPr/>
          <p:nvPr/>
        </p:nvSpPr>
        <p:spPr>
          <a:xfrm>
            <a:off x="5989320" y="12984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Within or beyond the MCT?</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Decides save mode or exit mode</a:t>
            </a:r>
            <a:endParaRPr b="0" i="0" spc="0" sz="1400" u="none" cap="none" strike="noStrike">
              <a:solidFill>
                <a:srgbClr val="000000"/>
              </a:solidFill>
              <a:latin typeface="Arial"/>
              <a:ea typeface="Arial"/>
              <a:cs typeface="Arial"/>
              <a:sym typeface="Arial"/>
            </a:endParaRPr>
          </a:p>
        </p:txBody>
      </p:sp>
      <p:cxnSp>
        <p:nvCxnSpPr>
          <p:cNvPr id="744" name="Google Shape;744;p32"/>
          <p:cNvCxnSpPr/>
          <p:nvPr/>
        </p:nvCxnSpPr>
        <p:spPr>
          <a:xfrm>
            <a:off x="7360920" y="1801368"/>
            <a:ext cx="0" cy="137160"/>
          </a:xfrm>
          <a:prstGeom prst="straightConnector1">
            <a:avLst/>
          </a:prstGeom>
          <a:noFill/>
          <a:ln cap="flat" cmpd="sng" w="12700">
            <a:solidFill>
              <a:srgbClr val="6E6E73"/>
            </a:solidFill>
            <a:prstDash val="solid"/>
            <a:round/>
            <a:headEnd len="sm" w="sm" type="none"/>
            <a:tailEnd len="sm" w="sm" type="none"/>
          </a:ln>
        </p:spPr>
      </p:cxnSp>
      <p:cxnSp>
        <p:nvCxnSpPr>
          <p:cNvPr id="745" name="Google Shape;745;p32"/>
          <p:cNvCxnSpPr/>
          <p:nvPr/>
        </p:nvCxnSpPr>
        <p:spPr>
          <a:xfrm>
            <a:off x="2446020" y="1938528"/>
            <a:ext cx="4914900" cy="0"/>
          </a:xfrm>
          <a:prstGeom prst="straightConnector1">
            <a:avLst/>
          </a:prstGeom>
          <a:noFill/>
          <a:ln cap="flat" cmpd="sng" w="12700">
            <a:solidFill>
              <a:srgbClr val="6E6E73"/>
            </a:solidFill>
            <a:prstDash val="solid"/>
            <a:round/>
            <a:headEnd len="sm" w="sm" type="none"/>
            <a:tailEnd len="sm" w="sm" type="none"/>
          </a:ln>
        </p:spPr>
      </p:cxnSp>
      <p:cxnSp>
        <p:nvCxnSpPr>
          <p:cNvPr id="746" name="Google Shape;746;p32"/>
          <p:cNvCxnSpPr/>
          <p:nvPr/>
        </p:nvCxnSpPr>
        <p:spPr>
          <a:xfrm>
            <a:off x="2446020" y="1938528"/>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747" name="Google Shape;747;p32"/>
          <p:cNvCxnSpPr/>
          <p:nvPr/>
        </p:nvCxnSpPr>
        <p:spPr>
          <a:xfrm>
            <a:off x="6697980" y="1938528"/>
            <a:ext cx="0" cy="164592"/>
          </a:xfrm>
          <a:prstGeom prst="straightConnector1">
            <a:avLst/>
          </a:prstGeom>
          <a:noFill/>
          <a:ln cap="flat" cmpd="sng" w="12700">
            <a:solidFill>
              <a:srgbClr val="6E6E73"/>
            </a:solidFill>
            <a:prstDash val="solid"/>
            <a:round/>
            <a:headEnd len="sm" w="sm" type="none"/>
            <a:tailEnd len="med" w="med" type="triangle"/>
          </a:ln>
        </p:spPr>
      </p:cxnSp>
      <p:sp>
        <p:nvSpPr>
          <p:cNvPr id="748" name="Google Shape;748;p32"/>
          <p:cNvSpPr/>
          <p:nvPr/>
        </p:nvSpPr>
        <p:spPr>
          <a:xfrm>
            <a:off x="411480" y="2112258"/>
            <a:ext cx="4069200" cy="411600"/>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Beyond MCT: no ETF. C is free to leave</a:t>
            </a:r>
            <a:endParaRPr b="0" i="0" spc="0" sz="1400" u="none" cap="none" strike="noStrike">
              <a:solidFill>
                <a:srgbClr val="000000"/>
              </a:solidFill>
              <a:latin typeface="Arial"/>
              <a:ea typeface="Arial"/>
              <a:cs typeface="Arial"/>
              <a:sym typeface="Arial"/>
            </a:endParaRPr>
          </a:p>
        </p:txBody>
      </p:sp>
      <p:sp>
        <p:nvSpPr>
          <p:cNvPr id="749" name="Google Shape;749;p32"/>
          <p:cNvSpPr/>
          <p:nvPr/>
        </p:nvSpPr>
        <p:spPr>
          <a:xfrm>
            <a:off x="4663440" y="2103120"/>
            <a:ext cx="4069080" cy="411480"/>
          </a:xfrm>
          <a:prstGeom prst="roundRect">
            <a:avLst>
              <a:gd fmla="val 8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Within MCT: ETF applies</a:t>
            </a:r>
            <a:endParaRPr b="0" i="0" spc="0" sz="1400" u="none" cap="none" strike="noStrike">
              <a:solidFill>
                <a:srgbClr val="000000"/>
              </a:solidFill>
              <a:latin typeface="Arial"/>
              <a:ea typeface="Arial"/>
              <a:cs typeface="Arial"/>
              <a:sym typeface="Arial"/>
            </a:endParaRPr>
          </a:p>
        </p:txBody>
      </p:sp>
      <p:cxnSp>
        <p:nvCxnSpPr>
          <p:cNvPr id="750" name="Google Shape;750;p32"/>
          <p:cNvCxnSpPr/>
          <p:nvPr/>
        </p:nvCxnSpPr>
        <p:spPr>
          <a:xfrm>
            <a:off x="6697980" y="2514600"/>
            <a:ext cx="0" cy="137160"/>
          </a:xfrm>
          <a:prstGeom prst="straightConnector1">
            <a:avLst/>
          </a:prstGeom>
          <a:noFill/>
          <a:ln cap="flat" cmpd="sng" w="12700">
            <a:solidFill>
              <a:srgbClr val="6E6E73"/>
            </a:solidFill>
            <a:prstDash val="solid"/>
            <a:round/>
            <a:headEnd len="sm" w="sm" type="none"/>
            <a:tailEnd len="med" w="med" type="triangle"/>
          </a:ln>
        </p:spPr>
      </p:cxnSp>
      <p:sp>
        <p:nvSpPr>
          <p:cNvPr id="751" name="Google Shape;751;p32"/>
          <p:cNvSpPr/>
          <p:nvPr/>
        </p:nvSpPr>
        <p:spPr>
          <a:xfrm>
            <a:off x="4663440" y="2651760"/>
            <a:ext cx="4069080" cy="36576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Retention attempt first</a:t>
            </a:r>
            <a:endParaRPr b="0" i="0" spc="0" sz="1400" u="none" cap="none" strike="noStrike">
              <a:solidFill>
                <a:srgbClr val="000000"/>
              </a:solidFill>
              <a:latin typeface="Arial"/>
              <a:ea typeface="Arial"/>
              <a:cs typeface="Arial"/>
              <a:sym typeface="Arial"/>
            </a:endParaRPr>
          </a:p>
        </p:txBody>
      </p:sp>
      <p:cxnSp>
        <p:nvCxnSpPr>
          <p:cNvPr id="752" name="Google Shape;752;p32"/>
          <p:cNvCxnSpPr/>
          <p:nvPr/>
        </p:nvCxnSpPr>
        <p:spPr>
          <a:xfrm>
            <a:off x="2446020" y="2523744"/>
            <a:ext cx="0" cy="173736"/>
          </a:xfrm>
          <a:prstGeom prst="straightConnector1">
            <a:avLst/>
          </a:prstGeom>
          <a:noFill/>
          <a:ln cap="flat" cmpd="sng" w="12700">
            <a:solidFill>
              <a:srgbClr val="6E6E73"/>
            </a:solidFill>
            <a:prstDash val="solid"/>
            <a:round/>
            <a:headEnd len="sm" w="sm" type="none"/>
            <a:tailEnd len="med" w="med" type="triangle"/>
          </a:ln>
        </p:spPr>
      </p:cxnSp>
      <p:sp>
        <p:nvSpPr>
          <p:cNvPr id="753" name="Google Shape;753;p32"/>
          <p:cNvSpPr/>
          <p:nvPr/>
        </p:nvSpPr>
        <p:spPr>
          <a:xfrm>
            <a:off x="411480" y="2697480"/>
            <a:ext cx="4069080" cy="1847088"/>
          </a:xfrm>
          <a:prstGeom prst="roundRect">
            <a:avLst>
              <a:gd fmla="val 6000" name="adj"/>
            </a:avLst>
          </a:prstGeom>
          <a:solidFill>
            <a:srgbClr val="E3F4F1"/>
          </a:solidFill>
          <a:ln cap="flat" cmpd="sng" w="12700">
            <a:solidFill>
              <a:srgbClr val="0B7A6F"/>
            </a:solidFill>
            <a:prstDash val="solid"/>
            <a:round/>
            <a:headEnd len="sm" w="sm" type="none"/>
            <a:tailEnd len="sm" w="sm" type="none"/>
          </a:ln>
        </p:spPr>
        <p:txBody>
          <a:bodyPr anchorCtr="0" anchor="ctr" bIns="73150" lIns="182875" spcFirstLastPara="1" rIns="182875" wrap="square" tIns="7315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Offer free months + $20 credit to get them back in for a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Value back for months already paid and can't use. Not a discount.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Not retainable?  </a:t>
            </a:r>
            <a:r>
              <a:rPr b="1" i="0" lang="en-US" spc="0" sz="1050" u="none" cap="none" strike="noStrike">
                <a:solidFill>
                  <a:srgbClr val="1D1D1F"/>
                </a:solidFill>
                <a:latin typeface="Play"/>
                <a:ea typeface="Play"/>
                <a:cs typeface="Play"/>
                <a:sym typeface="Play"/>
              </a:rPr>
              <a:t>Cancel 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None/>
            </a:pPr>
            <a:r>
              <a:rPr b="1" i="0" lang="en-US" spc="0" sz="1000" u="none" cap="none" strike="noStrike">
                <a:solidFill>
                  <a:srgbClr val="0B7A6F"/>
                </a:solidFill>
                <a:latin typeface="Play"/>
                <a:ea typeface="Play"/>
                <a:cs typeface="Play"/>
                <a:sym typeface="Play"/>
              </a:rPr>
              <a:t>Refund request?  </a:t>
            </a:r>
            <a:r>
              <a:rPr b="0" i="0" lang="en-US" spc="0" sz="950" u="none" cap="none" strike="noStrike">
                <a:solidFill>
                  <a:srgbClr val="1D1D1F"/>
                </a:solidFill>
                <a:latin typeface="Arial"/>
                <a:ea typeface="Arial"/>
                <a:cs typeface="Arial"/>
                <a:sym typeface="Arial"/>
              </a:rPr>
              <a:t>Follow the standard refund policy.</a:t>
            </a:r>
            <a:endParaRPr/>
          </a:p>
        </p:txBody>
      </p:sp>
      <p:cxnSp>
        <p:nvCxnSpPr>
          <p:cNvPr id="754" name="Google Shape;754;p32"/>
          <p:cNvCxnSpPr/>
          <p:nvPr/>
        </p:nvCxnSpPr>
        <p:spPr>
          <a:xfrm>
            <a:off x="6697980" y="3017520"/>
            <a:ext cx="0" cy="137160"/>
          </a:xfrm>
          <a:prstGeom prst="straightConnector1">
            <a:avLst/>
          </a:prstGeom>
          <a:noFill/>
          <a:ln cap="flat" cmpd="sng" w="12700">
            <a:solidFill>
              <a:srgbClr val="6E6E73"/>
            </a:solidFill>
            <a:prstDash val="solid"/>
            <a:round/>
            <a:headEnd len="sm" w="sm" type="none"/>
            <a:tailEnd len="med" w="med" type="triangle"/>
          </a:ln>
        </p:spPr>
      </p:cxnSp>
      <p:sp>
        <p:nvSpPr>
          <p:cNvPr id="755" name="Google Shape;755;p32"/>
          <p:cNvSpPr/>
          <p:nvPr/>
        </p:nvSpPr>
        <p:spPr>
          <a:xfrm>
            <a:off x="4663440" y="3154680"/>
            <a:ext cx="4069080" cy="914400"/>
          </a:xfrm>
          <a:prstGeom prst="roundRect">
            <a:avLst>
              <a:gd fmla="val 6000" name="adj"/>
            </a:avLst>
          </a:prstGeom>
          <a:solidFill>
            <a:srgbClr val="FFFFFF"/>
          </a:solidFill>
          <a:ln cap="flat" cmpd="sng" w="12700">
            <a:solidFill>
              <a:srgbClr val="DCE1E7"/>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None/>
            </a:pPr>
            <a:r>
              <a:rPr b="1" i="0" lang="en-US" spc="0" sz="950" u="none" cap="none" strike="noStrike">
                <a:solidFill>
                  <a:srgbClr val="1D1D1F"/>
                </a:solidFill>
                <a:latin typeface="Play"/>
                <a:ea typeface="Play"/>
                <a:cs typeface="Play"/>
                <a:sym typeface="Play"/>
              </a:rPr>
              <a:t>Offer free months = the unused bulk MF charges</a:t>
            </a:r>
            <a:endParaRPr/>
          </a:p>
          <a:p>
            <a:pPr indent="0" lvl="0" marL="0" marR="0" rtl="0" algn="l">
              <a:lnSpc>
                <a:spcPct val="100000"/>
              </a:lnSpc>
              <a:spcBef>
                <a:spcPts val="300"/>
              </a:spcBef>
              <a:spcAft>
                <a:spcPts val="0"/>
              </a:spcAft>
              <a:buNone/>
            </a:pPr>
            <a:r>
              <a:rPr b="1" i="0" lang="en-US" spc="0" sz="950" u="none" cap="none" strike="noStrike">
                <a:solidFill>
                  <a:srgbClr val="1D1D1F"/>
                </a:solidFill>
                <a:latin typeface="Play"/>
                <a:ea typeface="Play"/>
                <a:cs typeface="Play"/>
                <a:sym typeface="Play"/>
              </a:rPr>
              <a:t>Explain the FC / ETF terms</a:t>
            </a:r>
            <a:endParaRPr/>
          </a:p>
          <a:p>
            <a:pPr indent="0" lvl="0" marL="0" marR="0" rtl="0" algn="l">
              <a:lnSpc>
                <a:spcPct val="100000"/>
              </a:lnSpc>
              <a:spcBef>
                <a:spcPts val="300"/>
              </a:spcBef>
              <a:spcAft>
                <a:spcPts val="0"/>
              </a:spcAft>
              <a:buNone/>
            </a:pPr>
            <a:r>
              <a:rPr b="1" i="0" lang="en-US" spc="0" sz="950" u="none" cap="none" strike="noStrike">
                <a:solidFill>
                  <a:srgbClr val="1D1D1F"/>
                </a:solidFill>
                <a:latin typeface="Play"/>
                <a:ea typeface="Play"/>
                <a:cs typeface="Play"/>
                <a:sym typeface="Play"/>
              </a:rPr>
              <a:t>Tailor further if other pain points exist </a:t>
            </a:r>
            <a:r>
              <a:rPr b="0" i="0" lang="en-US" spc="0" sz="850" u="none" cap="none" strike="noStrike">
                <a:solidFill>
                  <a:srgbClr val="6E6E73"/>
                </a:solidFill>
                <a:latin typeface="Arial"/>
                <a:ea typeface="Arial"/>
                <a:cs typeface="Arial"/>
                <a:sym typeface="Arial"/>
              </a:rPr>
              <a:t>(cost complaint → reduce MF + free months; PCQ → add a voucher + resolution)</a:t>
            </a:r>
            <a:endParaRPr/>
          </a:p>
        </p:txBody>
      </p:sp>
      <p:cxnSp>
        <p:nvCxnSpPr>
          <p:cNvPr id="756" name="Google Shape;756;p32"/>
          <p:cNvCxnSpPr/>
          <p:nvPr/>
        </p:nvCxnSpPr>
        <p:spPr>
          <a:xfrm>
            <a:off x="6697980" y="4069080"/>
            <a:ext cx="0" cy="109728"/>
          </a:xfrm>
          <a:prstGeom prst="straightConnector1">
            <a:avLst/>
          </a:prstGeom>
          <a:noFill/>
          <a:ln cap="flat" cmpd="sng" w="12700">
            <a:solidFill>
              <a:srgbClr val="6E6E73"/>
            </a:solidFill>
            <a:prstDash val="solid"/>
            <a:round/>
            <a:headEnd len="sm" w="sm" type="none"/>
            <a:tailEnd len="med" w="med" type="triangle"/>
          </a:ln>
        </p:spPr>
      </p:cxnSp>
      <p:sp>
        <p:nvSpPr>
          <p:cNvPr id="757" name="Google Shape;757;p32">
            <a:hlinkClick action="ppaction://hlinksldjump" r:id="rId3"/>
          </p:cNvPr>
          <p:cNvSpPr/>
          <p:nvPr/>
        </p:nvSpPr>
        <p:spPr>
          <a:xfrm>
            <a:off x="5463540" y="4178808"/>
            <a:ext cx="2468880" cy="365760"/>
          </a:xfrm>
          <a:prstGeom prst="roundRect">
            <a:avLst>
              <a:gd fmla="val 2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  C responds to the offer</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2" name="Shape 762"/>
        <p:cNvGrpSpPr/>
        <p:nvPr/>
      </p:nvGrpSpPr>
      <p:grpSpPr>
        <a:xfrm>
          <a:off x="0" y="0"/>
          <a:ext cx="0" cy="0"/>
          <a:chOff x="0" y="0"/>
          <a:chExt cx="0" cy="0"/>
        </a:xfrm>
      </p:grpSpPr>
      <p:sp>
        <p:nvSpPr>
          <p:cNvPr id="763" name="Google Shape;76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64" name="Google Shape;76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did C accept the offer?</a:t>
            </a:r>
            <a:endParaRPr b="0" i="0" spc="0" sz="2400" u="none" cap="none" strike="noStrike">
              <a:solidFill>
                <a:schemeClr val="dk1"/>
              </a:solidFill>
              <a:latin typeface="Calibri"/>
              <a:ea typeface="Calibri"/>
              <a:cs typeface="Calibri"/>
              <a:sym typeface="Calibri"/>
            </a:endParaRPr>
          </a:p>
        </p:txBody>
      </p:sp>
      <p:sp>
        <p:nvSpPr>
          <p:cNvPr id="765" name="Google Shape;76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Accepted? Apply it. If not, exit at the lowest cost to C.</a:t>
            </a:r>
            <a:endParaRPr b="0" i="0" spc="0" sz="1200" u="none" cap="none" strike="noStrike">
              <a:solidFill>
                <a:schemeClr val="dk1"/>
              </a:solidFill>
              <a:latin typeface="Calibri"/>
              <a:ea typeface="Calibri"/>
              <a:cs typeface="Calibri"/>
              <a:sym typeface="Calibri"/>
            </a:endParaRPr>
          </a:p>
        </p:txBody>
      </p:sp>
      <p:sp>
        <p:nvSpPr>
          <p:cNvPr id="766" name="Google Shape;766;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67" name="Google Shape;767;p33"/>
          <p:cNvSpPr/>
          <p:nvPr/>
        </p:nvSpPr>
        <p:spPr>
          <a:xfrm>
            <a:off x="3108960" y="1280160"/>
            <a:ext cx="3291840" cy="36576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Did C accept the offer?</a:t>
            </a:r>
            <a:endParaRPr/>
          </a:p>
        </p:txBody>
      </p:sp>
      <p:cxnSp>
        <p:nvCxnSpPr>
          <p:cNvPr id="768" name="Google Shape;768;p33"/>
          <p:cNvCxnSpPr/>
          <p:nvPr/>
        </p:nvCxnSpPr>
        <p:spPr>
          <a:xfrm>
            <a:off x="4754880" y="1645920"/>
            <a:ext cx="0" cy="91440"/>
          </a:xfrm>
          <a:prstGeom prst="straightConnector1">
            <a:avLst/>
          </a:prstGeom>
          <a:noFill/>
          <a:ln cap="flat" cmpd="sng" w="12700">
            <a:solidFill>
              <a:srgbClr val="6E6E73"/>
            </a:solidFill>
            <a:prstDash val="solid"/>
            <a:round/>
            <a:headEnd len="sm" w="sm" type="none"/>
            <a:tailEnd len="sm" w="sm" type="none"/>
          </a:ln>
        </p:spPr>
      </p:cxnSp>
      <p:cxnSp>
        <p:nvCxnSpPr>
          <p:cNvPr id="769" name="Google Shape;769;p33"/>
          <p:cNvCxnSpPr/>
          <p:nvPr/>
        </p:nvCxnSpPr>
        <p:spPr>
          <a:xfrm>
            <a:off x="1600200" y="1737360"/>
            <a:ext cx="3154680" cy="0"/>
          </a:xfrm>
          <a:prstGeom prst="straightConnector1">
            <a:avLst/>
          </a:prstGeom>
          <a:noFill/>
          <a:ln cap="flat" cmpd="sng" w="12700">
            <a:solidFill>
              <a:srgbClr val="6E6E73"/>
            </a:solidFill>
            <a:prstDash val="solid"/>
            <a:round/>
            <a:headEnd len="sm" w="sm" type="none"/>
            <a:tailEnd len="sm" w="sm" type="none"/>
          </a:ln>
        </p:spPr>
      </p:cxnSp>
      <p:cxnSp>
        <p:nvCxnSpPr>
          <p:cNvPr id="770" name="Google Shape;770;p33"/>
          <p:cNvCxnSpPr/>
          <p:nvPr/>
        </p:nvCxnSpPr>
        <p:spPr>
          <a:xfrm>
            <a:off x="1600200" y="1737360"/>
            <a:ext cx="0" cy="109728"/>
          </a:xfrm>
          <a:prstGeom prst="straightConnector1">
            <a:avLst/>
          </a:prstGeom>
          <a:noFill/>
          <a:ln cap="flat" cmpd="sng" w="12700">
            <a:solidFill>
              <a:srgbClr val="6E6E73"/>
            </a:solidFill>
            <a:prstDash val="solid"/>
            <a:round/>
            <a:headEnd len="sm" w="sm" type="none"/>
            <a:tailEnd len="med" w="med" type="triangle"/>
          </a:ln>
        </p:spPr>
      </p:cxnSp>
      <p:cxnSp>
        <p:nvCxnSpPr>
          <p:cNvPr id="771" name="Google Shape;771;p33"/>
          <p:cNvCxnSpPr/>
          <p:nvPr/>
        </p:nvCxnSpPr>
        <p:spPr>
          <a:xfrm>
            <a:off x="4754880" y="1737360"/>
            <a:ext cx="0" cy="109728"/>
          </a:xfrm>
          <a:prstGeom prst="straightConnector1">
            <a:avLst/>
          </a:prstGeom>
          <a:noFill/>
          <a:ln cap="flat" cmpd="sng" w="12700">
            <a:solidFill>
              <a:srgbClr val="6E6E73"/>
            </a:solidFill>
            <a:prstDash val="solid"/>
            <a:round/>
            <a:headEnd len="sm" w="sm" type="none"/>
            <a:tailEnd len="med" w="med" type="triangle"/>
          </a:ln>
        </p:spPr>
      </p:cxnSp>
      <p:sp>
        <p:nvSpPr>
          <p:cNvPr id="772" name="Google Shape;772;p33"/>
          <p:cNvSpPr txBox="1"/>
          <p:nvPr/>
        </p:nvSpPr>
        <p:spPr>
          <a:xfrm>
            <a:off x="167335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Yes</a:t>
            </a:r>
            <a:endParaRPr/>
          </a:p>
        </p:txBody>
      </p:sp>
      <p:sp>
        <p:nvSpPr>
          <p:cNvPr id="773" name="Google Shape;773;p33"/>
          <p:cNvSpPr txBox="1"/>
          <p:nvPr/>
        </p:nvSpPr>
        <p:spPr>
          <a:xfrm>
            <a:off x="482803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No</a:t>
            </a:r>
            <a:endParaRPr/>
          </a:p>
        </p:txBody>
      </p:sp>
      <p:sp>
        <p:nvSpPr>
          <p:cNvPr id="774" name="Google Shape;774;p33"/>
          <p:cNvSpPr/>
          <p:nvPr/>
        </p:nvSpPr>
        <p:spPr>
          <a:xfrm>
            <a:off x="411480" y="1847088"/>
            <a:ext cx="2377440" cy="59436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2E7D32"/>
                </a:solidFill>
                <a:latin typeface="Play"/>
                <a:ea typeface="Play"/>
                <a:cs typeface="Play"/>
                <a:sym typeface="Play"/>
              </a:rPr>
              <a:t>Acknowledge and apply the offers</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if not yet issued</a:t>
            </a:r>
            <a:endParaRPr/>
          </a:p>
        </p:txBody>
      </p:sp>
      <p:sp>
        <p:nvSpPr>
          <p:cNvPr id="775" name="Google Shape;775;p33"/>
          <p:cNvSpPr/>
          <p:nvPr/>
        </p:nvSpPr>
        <p:spPr>
          <a:xfrm>
            <a:off x="3291840" y="1847088"/>
            <a:ext cx="2926080" cy="41148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9A6410"/>
                </a:solidFill>
                <a:latin typeface="Play"/>
                <a:ea typeface="Play"/>
                <a:cs typeface="Play"/>
                <a:sym typeface="Play"/>
              </a:rPr>
              <a:t>FCF, no completed cleaning yet?</a:t>
            </a:r>
            <a:endParaRPr/>
          </a:p>
        </p:txBody>
      </p:sp>
      <p:cxnSp>
        <p:nvCxnSpPr>
          <p:cNvPr id="776" name="Google Shape;776;p33"/>
          <p:cNvCxnSpPr/>
          <p:nvPr/>
        </p:nvCxnSpPr>
        <p:spPr>
          <a:xfrm>
            <a:off x="6217920" y="2052828"/>
            <a:ext cx="457200" cy="0"/>
          </a:xfrm>
          <a:prstGeom prst="straightConnector1">
            <a:avLst/>
          </a:prstGeom>
          <a:noFill/>
          <a:ln cap="flat" cmpd="sng" w="12700">
            <a:solidFill>
              <a:srgbClr val="6E6E73"/>
            </a:solidFill>
            <a:prstDash val="solid"/>
            <a:round/>
            <a:headEnd len="sm" w="sm" type="none"/>
            <a:tailEnd len="med" w="med" type="triangle"/>
          </a:ln>
        </p:spPr>
      </p:cxnSp>
      <p:sp>
        <p:nvSpPr>
          <p:cNvPr id="777" name="Google Shape;777;p33"/>
          <p:cNvSpPr txBox="1"/>
          <p:nvPr/>
        </p:nvSpPr>
        <p:spPr>
          <a:xfrm>
            <a:off x="6291072" y="1856231"/>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Yes</a:t>
            </a:r>
            <a:endParaRPr/>
          </a:p>
        </p:txBody>
      </p:sp>
      <p:sp>
        <p:nvSpPr>
          <p:cNvPr id="778" name="Google Shape;778;p33"/>
          <p:cNvSpPr/>
          <p:nvPr/>
        </p:nvSpPr>
        <p:spPr>
          <a:xfrm>
            <a:off x="6675120" y="1847088"/>
            <a:ext cx="2057400" cy="41148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FFFFFF"/>
                </a:solidFill>
                <a:latin typeface="Play"/>
                <a:ea typeface="Play"/>
                <a:cs typeface="Play"/>
                <a:sym typeface="Play"/>
              </a:rPr>
              <a:t>No ETF. Cancel FC.</a:t>
            </a:r>
            <a:endParaRPr/>
          </a:p>
        </p:txBody>
      </p:sp>
      <p:cxnSp>
        <p:nvCxnSpPr>
          <p:cNvPr id="779" name="Google Shape;779;p33"/>
          <p:cNvCxnSpPr/>
          <p:nvPr/>
        </p:nvCxnSpPr>
        <p:spPr>
          <a:xfrm>
            <a:off x="4754880" y="2258568"/>
            <a:ext cx="0" cy="192024"/>
          </a:xfrm>
          <a:prstGeom prst="straightConnector1">
            <a:avLst/>
          </a:prstGeom>
          <a:noFill/>
          <a:ln cap="flat" cmpd="sng" w="12700">
            <a:solidFill>
              <a:srgbClr val="6E6E73"/>
            </a:solidFill>
            <a:prstDash val="solid"/>
            <a:round/>
            <a:headEnd len="sm" w="sm" type="none"/>
            <a:tailEnd len="med" w="med" type="triangle"/>
          </a:ln>
        </p:spPr>
      </p:cxnSp>
      <p:sp>
        <p:nvSpPr>
          <p:cNvPr id="780" name="Google Shape;780;p33"/>
          <p:cNvSpPr txBox="1"/>
          <p:nvPr/>
        </p:nvSpPr>
        <p:spPr>
          <a:xfrm>
            <a:off x="4828032" y="2258568"/>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No</a:t>
            </a:r>
            <a:endParaRPr/>
          </a:p>
        </p:txBody>
      </p:sp>
      <p:sp>
        <p:nvSpPr>
          <p:cNvPr id="781" name="Google Shape;781;p33"/>
          <p:cNvSpPr/>
          <p:nvPr/>
        </p:nvSpPr>
        <p:spPr>
          <a:xfrm>
            <a:off x="3154680" y="2450592"/>
            <a:ext cx="3200400" cy="50292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B3261E"/>
                </a:solidFill>
                <a:latin typeface="Play"/>
                <a:ea typeface="Play"/>
                <a:cs typeface="Play"/>
                <a:sym typeface="Play"/>
              </a:rPr>
              <a:t>Reduce the MCT or the ETF,</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whichever is most cost-effective for C</a:t>
            </a:r>
            <a:endParaRPr/>
          </a:p>
        </p:txBody>
      </p:sp>
      <p:cxnSp>
        <p:nvCxnSpPr>
          <p:cNvPr id="782" name="Google Shape;782;p33"/>
          <p:cNvCxnSpPr/>
          <p:nvPr/>
        </p:nvCxnSpPr>
        <p:spPr>
          <a:xfrm>
            <a:off x="4754880" y="2953512"/>
            <a:ext cx="0" cy="82296"/>
          </a:xfrm>
          <a:prstGeom prst="straightConnector1">
            <a:avLst/>
          </a:prstGeom>
          <a:noFill/>
          <a:ln cap="flat" cmpd="sng" w="12700">
            <a:solidFill>
              <a:srgbClr val="6E6E73"/>
            </a:solidFill>
            <a:prstDash val="solid"/>
            <a:round/>
            <a:headEnd len="sm" w="sm" type="none"/>
            <a:tailEnd len="sm" w="sm" type="none"/>
          </a:ln>
        </p:spPr>
      </p:cxnSp>
      <p:cxnSp>
        <p:nvCxnSpPr>
          <p:cNvPr id="783" name="Google Shape;783;p33"/>
          <p:cNvCxnSpPr/>
          <p:nvPr/>
        </p:nvCxnSpPr>
        <p:spPr>
          <a:xfrm>
            <a:off x="3200400" y="3035808"/>
            <a:ext cx="3108960" cy="0"/>
          </a:xfrm>
          <a:prstGeom prst="straightConnector1">
            <a:avLst/>
          </a:prstGeom>
          <a:noFill/>
          <a:ln cap="flat" cmpd="sng" w="12700">
            <a:solidFill>
              <a:srgbClr val="6E6E73"/>
            </a:solidFill>
            <a:prstDash val="solid"/>
            <a:round/>
            <a:headEnd len="sm" w="sm" type="none"/>
            <a:tailEnd len="sm" w="sm" type="none"/>
          </a:ln>
        </p:spPr>
      </p:cxnSp>
      <p:cxnSp>
        <p:nvCxnSpPr>
          <p:cNvPr id="784" name="Google Shape;784;p33"/>
          <p:cNvCxnSpPr/>
          <p:nvPr/>
        </p:nvCxnSpPr>
        <p:spPr>
          <a:xfrm>
            <a:off x="3200400" y="3035808"/>
            <a:ext cx="0" cy="91440"/>
          </a:xfrm>
          <a:prstGeom prst="straightConnector1">
            <a:avLst/>
          </a:prstGeom>
          <a:noFill/>
          <a:ln cap="flat" cmpd="sng" w="12700">
            <a:solidFill>
              <a:srgbClr val="6E6E73"/>
            </a:solidFill>
            <a:prstDash val="solid"/>
            <a:round/>
            <a:headEnd len="sm" w="sm" type="none"/>
            <a:tailEnd len="med" w="med" type="triangle"/>
          </a:ln>
        </p:spPr>
      </p:cxnSp>
      <p:cxnSp>
        <p:nvCxnSpPr>
          <p:cNvPr id="785" name="Google Shape;785;p33"/>
          <p:cNvCxnSpPr/>
          <p:nvPr/>
        </p:nvCxnSpPr>
        <p:spPr>
          <a:xfrm>
            <a:off x="6309360" y="3035808"/>
            <a:ext cx="0" cy="91440"/>
          </a:xfrm>
          <a:prstGeom prst="straightConnector1">
            <a:avLst/>
          </a:prstGeom>
          <a:noFill/>
          <a:ln cap="flat" cmpd="sng" w="12700">
            <a:solidFill>
              <a:srgbClr val="6E6E73"/>
            </a:solidFill>
            <a:prstDash val="solid"/>
            <a:round/>
            <a:headEnd len="sm" w="sm" type="none"/>
            <a:tailEnd len="med" w="med" type="triangle"/>
          </a:ln>
        </p:spPr>
      </p:cxnSp>
      <p:sp>
        <p:nvSpPr>
          <p:cNvPr id="786" name="Google Shape;786;p33"/>
          <p:cNvSpPr/>
          <p:nvPr/>
        </p:nvSpPr>
        <p:spPr>
          <a:xfrm>
            <a:off x="1828800" y="3127248"/>
            <a:ext cx="2743200" cy="502920"/>
          </a:xfrm>
          <a:prstGeom prst="roundRect">
            <a:avLst>
              <a:gd fmla="val 8000" name="adj"/>
            </a:avLst>
          </a:prstGeom>
          <a:solidFill>
            <a:srgbClr val="FCEADF"/>
          </a:solidFill>
          <a:ln cap="flat" cmpd="sng" w="12700">
            <a:solidFill>
              <a:srgbClr val="C0612B"/>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C0612B"/>
                </a:solidFill>
                <a:latin typeface="Play"/>
                <a:ea typeface="Play"/>
                <a:cs typeface="Play"/>
                <a:sym typeface="Play"/>
              </a:rPr>
              <a:t>MCT reduction</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Up to 2 months off the original MCT</a:t>
            </a:r>
            <a:endParaRPr/>
          </a:p>
        </p:txBody>
      </p:sp>
      <p:sp>
        <p:nvSpPr>
          <p:cNvPr id="787" name="Google Shape;787;p33"/>
          <p:cNvSpPr/>
          <p:nvPr/>
        </p:nvSpPr>
        <p:spPr>
          <a:xfrm>
            <a:off x="4937760" y="31272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9A6410"/>
                </a:solidFill>
                <a:latin typeface="Play"/>
                <a:ea typeface="Play"/>
                <a:cs typeface="Play"/>
                <a:sym typeface="Play"/>
              </a:rPr>
              <a:t>ETF reduction</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Apply the unused bulk MFs to the ETF</a:t>
            </a:r>
            <a:endParaRPr/>
          </a:p>
        </p:txBody>
      </p:sp>
      <p:cxnSp>
        <p:nvCxnSpPr>
          <p:cNvPr id="788" name="Google Shape;788;p33"/>
          <p:cNvCxnSpPr/>
          <p:nvPr/>
        </p:nvCxnSpPr>
        <p:spPr>
          <a:xfrm>
            <a:off x="6309360" y="3630168"/>
            <a:ext cx="0" cy="73152"/>
          </a:xfrm>
          <a:prstGeom prst="straightConnector1">
            <a:avLst/>
          </a:prstGeom>
          <a:noFill/>
          <a:ln cap="flat" cmpd="sng" w="12700">
            <a:solidFill>
              <a:srgbClr val="6E6E73"/>
            </a:solidFill>
            <a:prstDash val="solid"/>
            <a:round/>
            <a:headEnd len="sm" w="sm" type="none"/>
            <a:tailEnd len="sm" w="sm" type="none"/>
          </a:ln>
        </p:spPr>
      </p:cxnSp>
      <p:cxnSp>
        <p:nvCxnSpPr>
          <p:cNvPr id="789" name="Google Shape;789;p33"/>
          <p:cNvCxnSpPr/>
          <p:nvPr/>
        </p:nvCxnSpPr>
        <p:spPr>
          <a:xfrm>
            <a:off x="5303520" y="3703320"/>
            <a:ext cx="2331720" cy="0"/>
          </a:xfrm>
          <a:prstGeom prst="straightConnector1">
            <a:avLst/>
          </a:prstGeom>
          <a:noFill/>
          <a:ln cap="flat" cmpd="sng" w="12700">
            <a:solidFill>
              <a:srgbClr val="6E6E73"/>
            </a:solidFill>
            <a:prstDash val="solid"/>
            <a:round/>
            <a:headEnd len="sm" w="sm" type="none"/>
            <a:tailEnd len="sm" w="sm" type="none"/>
          </a:ln>
        </p:spPr>
      </p:cxnSp>
      <p:cxnSp>
        <p:nvCxnSpPr>
          <p:cNvPr id="790" name="Google Shape;790;p33"/>
          <p:cNvCxnSpPr/>
          <p:nvPr/>
        </p:nvCxnSpPr>
        <p:spPr>
          <a:xfrm>
            <a:off x="5303520" y="3703320"/>
            <a:ext cx="0" cy="82295"/>
          </a:xfrm>
          <a:prstGeom prst="straightConnector1">
            <a:avLst/>
          </a:prstGeom>
          <a:noFill/>
          <a:ln cap="flat" cmpd="sng" w="12700">
            <a:solidFill>
              <a:srgbClr val="6E6E73"/>
            </a:solidFill>
            <a:prstDash val="solid"/>
            <a:round/>
            <a:headEnd len="sm" w="sm" type="none"/>
            <a:tailEnd len="med" w="med" type="triangle"/>
          </a:ln>
        </p:spPr>
      </p:cxnSp>
      <p:cxnSp>
        <p:nvCxnSpPr>
          <p:cNvPr id="791" name="Google Shape;791;p33"/>
          <p:cNvCxnSpPr/>
          <p:nvPr/>
        </p:nvCxnSpPr>
        <p:spPr>
          <a:xfrm>
            <a:off x="7635240" y="3703320"/>
            <a:ext cx="0" cy="82295"/>
          </a:xfrm>
          <a:prstGeom prst="straightConnector1">
            <a:avLst/>
          </a:prstGeom>
          <a:noFill/>
          <a:ln cap="flat" cmpd="sng" w="12700">
            <a:solidFill>
              <a:srgbClr val="6E6E73"/>
            </a:solidFill>
            <a:prstDash val="solid"/>
            <a:round/>
            <a:headEnd len="sm" w="sm" type="none"/>
            <a:tailEnd len="med" w="med" type="triangle"/>
          </a:ln>
        </p:spPr>
      </p:cxnSp>
      <p:sp>
        <p:nvSpPr>
          <p:cNvPr id="792" name="Google Shape;792;p33"/>
          <p:cNvSpPr/>
          <p:nvPr/>
        </p:nvSpPr>
        <p:spPr>
          <a:xfrm>
            <a:off x="4251960" y="3785615"/>
            <a:ext cx="2148840" cy="68580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2E7D32"/>
                </a:solidFill>
                <a:latin typeface="Play"/>
                <a:ea typeface="Play"/>
                <a:cs typeface="Play"/>
                <a:sym typeface="Play"/>
              </a:rPr>
              <a:t>Paid MFs &lt; ETF</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Reduce the ETF by the paid, unused MF amount</a:t>
            </a:r>
            <a:endParaRPr/>
          </a:p>
        </p:txBody>
      </p:sp>
      <p:sp>
        <p:nvSpPr>
          <p:cNvPr id="793" name="Google Shape;793;p33"/>
          <p:cNvSpPr/>
          <p:nvPr/>
        </p:nvSpPr>
        <p:spPr>
          <a:xfrm>
            <a:off x="6537960" y="3785615"/>
            <a:ext cx="2194560" cy="68580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B3261E"/>
                </a:solidFill>
                <a:latin typeface="Play"/>
                <a:ea typeface="Play"/>
                <a:cs typeface="Play"/>
                <a:sym typeface="Play"/>
              </a:rPr>
              <a:t>Paid MFs ≥ ETF</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Waive the ETF, cancel FC</a:t>
            </a:r>
            <a:endParaRPr/>
          </a:p>
        </p:txBody>
      </p:sp>
      <p:sp>
        <p:nvSpPr>
          <p:cNvPr id="794" name="Google Shape;794;p33"/>
          <p:cNvSpPr/>
          <p:nvPr/>
        </p:nvSpPr>
        <p:spPr>
          <a:xfrm>
            <a:off x="411480" y="3785615"/>
            <a:ext cx="3657600" cy="685800"/>
          </a:xfrm>
          <a:prstGeom prst="roundRect">
            <a:avLst>
              <a:gd fmla="val 8000" name="adj"/>
            </a:avLst>
          </a:prstGeom>
          <a:solidFill>
            <a:srgbClr val="FFF3D6"/>
          </a:solidFill>
          <a:ln>
            <a:noFill/>
          </a:ln>
        </p:spPr>
        <p:txBody>
          <a:bodyPr anchorCtr="0" anchor="ctr" bIns="0" lIns="137150" spcFirstLastPara="1" rIns="137150" wrap="square" tIns="0">
            <a:noAutofit/>
          </a:bodyPr>
          <a:lstStyle/>
          <a:p>
            <a:pPr indent="0" lvl="0" marL="0" marR="0" rtl="0" algn="l">
              <a:lnSpc>
                <a:spcPct val="100000"/>
              </a:lnSpc>
              <a:spcBef>
                <a:spcPts val="0"/>
              </a:spcBef>
              <a:spcAft>
                <a:spcPts val="0"/>
              </a:spcAft>
              <a:buNone/>
            </a:pPr>
            <a:r>
              <a:rPr b="1" i="0" lang="en-US" spc="0" sz="900" u="none" cap="none" strike="noStrike">
                <a:solidFill>
                  <a:srgbClr val="9A6410"/>
                </a:solidFill>
                <a:latin typeface="Play"/>
                <a:ea typeface="Play"/>
                <a:cs typeface="Play"/>
                <a:sym typeface="Play"/>
              </a:rPr>
              <a:t>Near the end of the term? Compare both.</a:t>
            </a:r>
            <a:endParaRPr/>
          </a:p>
          <a:p>
            <a:pPr indent="0" lvl="0" marL="0" marR="0" rtl="0" algn="l">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1 month left, $150 ETF, $100 unused MFs: ETF credit leaves $50; reducing the last month = $0</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9" name="Shape 799"/>
        <p:cNvGrpSpPr/>
        <p:nvPr/>
      </p:nvGrpSpPr>
      <p:grpSpPr>
        <a:xfrm>
          <a:off x="0" y="0"/>
          <a:ext cx="0" cy="0"/>
          <a:chOff x="0" y="0"/>
          <a:chExt cx="0" cy="0"/>
        </a:xfrm>
      </p:grpSpPr>
      <p:sp>
        <p:nvSpPr>
          <p:cNvPr id="800" name="Google Shape;800;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801" name="Google Shape;801;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802" name="Google Shape;802;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4" name="Google Shape;804;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05" name="Google Shape;805;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806" name="Google Shape;806;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7" name="Google Shape;807;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808" name="Google Shape;808;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9" name="Google Shape;809;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0" name="Google Shape;810;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11" name="Google Shape;811;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812" name="Google Shape;812;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3" name="Google Shape;813;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814" name="Google Shape;814;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5" name="Google Shape;815;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6" name="Google Shape;816;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17" name="Google Shape;817;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818" name="Google Shape;818;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9" name="Google Shape;819;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2" name="Google Shape;822;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23" name="Google Shape;823;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824" name="Google Shape;824;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5" name="Google Shape;825;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826" name="Google Shape;826;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7"/>
                                        </p:tgtEl>
                                        <p:attrNameLst>
                                          <p:attrName>style.visibility</p:attrName>
                                        </p:attrNameLst>
                                      </p:cBhvr>
                                      <p:to>
                                        <p:strVal val="visible"/>
                                      </p:to>
                                    </p:set>
                                    <p:animEffect filter="fade" transition="in">
                                      <p:cBhvr>
                                        <p:cTn dur="600"/>
                                        <p:tgtEl>
                                          <p:spTgt spid="8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3"/>
                                        </p:tgtEl>
                                        <p:attrNameLst>
                                          <p:attrName>style.visibility</p:attrName>
                                        </p:attrNameLst>
                                      </p:cBhvr>
                                      <p:to>
                                        <p:strVal val="visible"/>
                                      </p:to>
                                    </p:set>
                                    <p:animEffect filter="fade" transition="in">
                                      <p:cBhvr>
                                        <p:cTn dur="600"/>
                                        <p:tgtEl>
                                          <p:spTgt spid="8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9"/>
                                        </p:tgtEl>
                                        <p:attrNameLst>
                                          <p:attrName>style.visibility</p:attrName>
                                        </p:attrNameLst>
                                      </p:cBhvr>
                                      <p:to>
                                        <p:strVal val="visible"/>
                                      </p:to>
                                    </p:set>
                                    <p:animEffect filter="fade" transition="in">
                                      <p:cBhvr>
                                        <p:cTn dur="600"/>
                                        <p:tgtEl>
                                          <p:spTgt spid="8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5"/>
                                        </p:tgtEl>
                                        <p:attrNameLst>
                                          <p:attrName>style.visibility</p:attrName>
                                        </p:attrNameLst>
                                      </p:cBhvr>
                                      <p:to>
                                        <p:strVal val="visible"/>
                                      </p:to>
                                    </p:set>
                                    <p:animEffect filter="fade" transition="in">
                                      <p:cBhvr>
                                        <p:cTn dur="600"/>
                                        <p:tgtEl>
                                          <p:spTgt spid="82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33" name="Google Shape;833;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34" name="Google Shape;834;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35" name="Google Shape;835;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6" name="Google Shape;836;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7" name="Google Shape;837;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38" name="Google Shape;838;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39" name="Google Shape;839;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40" name="Google Shape;840;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41" name="Google Shape;841;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3" name="Google Shape;843;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44" name="Google Shape;844;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45" name="Google Shape;845;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46" name="Google Shape;846;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7" name="Google Shape;847;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8" name="Google Shape;848;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49" name="Google Shape;849;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50" name="Google Shape;850;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51" name="Google Shape;851;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2" name="Google Shape;852;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3" name="Google Shape;853;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54" name="Google Shape;854;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55" name="Google Shape;855;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56" name="Google Shape;856;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7" name="Google Shape;857;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58" name="Google Shape;858;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59" name="Google Shape;859;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4" name="Shape 864"/>
        <p:cNvGrpSpPr/>
        <p:nvPr/>
      </p:nvGrpSpPr>
      <p:grpSpPr>
        <a:xfrm>
          <a:off x="0" y="0"/>
          <a:ext cx="0" cy="0"/>
          <a:chOff x="0" y="0"/>
          <a:chExt cx="0" cy="0"/>
        </a:xfrm>
      </p:grpSpPr>
      <p:sp>
        <p:nvSpPr>
          <p:cNvPr id="865" name="Google Shape;865;p3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866" name="Google Shape;866;p3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867" name="Google Shape;867;p3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868" name="Google Shape;868;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870" name="Google Shape;870;p3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71" name="Google Shape;871;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2" name="Google Shape;872;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3" name="Google Shape;873;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4" name="Google Shape;874;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5" name="Google Shape;875;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